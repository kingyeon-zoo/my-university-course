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61" r:id="rId4"/>
    <p:sldId id="273" r:id="rId6"/>
    <p:sldId id="297" r:id="rId7"/>
    <p:sldId id="430" r:id="rId8"/>
    <p:sldId id="443" r:id="rId9"/>
    <p:sldId id="389" r:id="rId10"/>
    <p:sldId id="444" r:id="rId11"/>
    <p:sldId id="417" r:id="rId12"/>
    <p:sldId id="470" r:id="rId13"/>
    <p:sldId id="390" r:id="rId14"/>
    <p:sldId id="457" r:id="rId15"/>
    <p:sldId id="458" r:id="rId16"/>
    <p:sldId id="391" r:id="rId17"/>
    <p:sldId id="465" r:id="rId18"/>
    <p:sldId id="479" r:id="rId19"/>
    <p:sldId id="467" r:id="rId20"/>
    <p:sldId id="468" r:id="rId21"/>
    <p:sldId id="483" r:id="rId22"/>
    <p:sldId id="272" r:id="rId23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1" userDrawn="1">
          <p15:clr>
            <a:srgbClr val="A4A3A4"/>
          </p15:clr>
        </p15:guide>
        <p15:guide id="2" pos="37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w" initials="w" lastIdx="3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D5FF"/>
    <a:srgbClr val="FFFFFF"/>
    <a:srgbClr val="45DB77"/>
    <a:srgbClr val="E2EDDF"/>
    <a:srgbClr val="F0F0DD"/>
    <a:srgbClr val="98F5F2"/>
    <a:srgbClr val="FFFFEA"/>
    <a:srgbClr val="FBFEA0"/>
    <a:srgbClr val="48A088"/>
    <a:srgbClr val="C9F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31"/>
        <p:guide pos="37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259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问题空间：这是“做什么”的领域。它包含了待解决的问题本身、用户的需求、目标、期望以及问题所处的业务环境和约束条件。它关注的是问题域。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解空间：这是“怎么做”的领域。它包含了所有可能的解决方案、技术选型、架构设计、算法、编程语言、框架等。它关注的是解决方案域。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简单来说：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问题空间 = 需求、痛点、目标（What &amp; Why）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解空间 = 设计、代码、技术（How）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endParaRPr lang="zh-CN" altLang="en-US" dirty="0">
              <a:latin typeface="Bodoni MT Black" panose="02070A03080606020203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endParaRPr lang="zh-CN" altLang="en-US" dirty="0">
              <a:latin typeface="Bodoni MT Black" panose="02070A03080606020203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实力重用：打印机管理器（假设我们有一个 Printer（打印机）类，它有一个 print(document) 方法。打印机的初始化（new Printer()）非常昂贵，因为它需要建立物理连接、加载驱动程序、检查状态等。）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无重用问题：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eaLnBrk="1" hangingPunct="1">
              <a:lnSpc>
                <a:spcPct val="125000"/>
              </a:lnSpc>
              <a:defRPr/>
            </a:pP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性能极差：每次打印都要经历昂贵的初始化过程。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资源浪费：创建了大量短命对象，增加了垃圾回收（GC）的压力。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逻辑错误：现实中，我们应该是让一台物理打印机打印多份文档，而不是为每份文档配一台新打印机。）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indent="0" eaLnBrk="1" hangingPunct="1">
              <a:lnSpc>
                <a:spcPct val="125000"/>
              </a:lnSpc>
              <a:buFont typeface="+mj-ea"/>
              <a:buNone/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有重用：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高性能：昂贵的打印机初始化过程只发生了一次。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低开销：只创建了一个 Printer 对象，内存占用小，GC压力轻。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endParaRPr lang="zh-CN" altLang="en-US" dirty="0">
              <a:latin typeface="Bodoni MT Black" panose="02070A03080606020203" pitchFamily="18" charset="0"/>
              <a:sym typeface="+mn-ea"/>
            </a:endParaRPr>
          </a:p>
          <a:p>
            <a:pPr marL="228600" indent="-228600" eaLnBrk="1" hangingPunct="1">
              <a:lnSpc>
                <a:spcPct val="125000"/>
              </a:lnSpc>
              <a:buFont typeface="+mj-ea"/>
              <a:buAutoNum type="circleNumDbPlain"/>
              <a:defRPr/>
            </a:pP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符合现实：模拟了现实中一台打印机处理多份作业的真实场景。</a:t>
            </a:r>
            <a:endParaRPr lang="zh-CN" altLang="en-US" dirty="0">
              <a:latin typeface="Bodoni MT Black" panose="02070A03080606020203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例如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，谈到电话时通常把“拨号”当作动词，当构造电话模型时确实应该把它作为一个操作，而不是一个类。但是，在开发电话的自动记账系统时，“拨号”需要有自己的</a:t>
            </a: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属性（例如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日期、时间、受话地点</a:t>
            </a:r>
            <a:r>
              <a:rPr lang="zh-CN" altLang="en-US" dirty="0" smtClean="0">
                <a:latin typeface="Bodoni MT Black" panose="02070A03080606020203" pitchFamily="18" charset="0"/>
                <a:sym typeface="+mn-ea"/>
              </a:rPr>
              <a:t>等），</a:t>
            </a:r>
            <a:r>
              <a:rPr lang="zh-CN" altLang="en-US" dirty="0">
                <a:latin typeface="Bodoni MT Black" panose="02070A03080606020203" pitchFamily="18" charset="0"/>
                <a:sym typeface="+mn-ea"/>
              </a:rPr>
              <a:t>因此应该把它作为一个类。</a:t>
            </a:r>
            <a:endParaRPr lang="zh-CN" altLang="en-US" dirty="0">
              <a:latin typeface="Bodoni MT Black" panose="02070A03080606020203" pitchFamily="18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提取外部事件：</a:t>
            </a:r>
            <a:endParaRPr lang="zh-CN" altLang="en-US"/>
          </a:p>
          <a:p>
            <a:r>
              <a:rPr lang="zh-CN" altLang="en-US"/>
              <a:t>我们现在来分析，哪些步骤是“外部参与者主动触发的、要求系统立刻做出响应的刺激”。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	</a:t>
            </a:r>
            <a:r>
              <a:rPr lang="en-US" altLang="zh-CN"/>
              <a:t>                                      </a:t>
            </a:r>
            <a:r>
              <a:rPr lang="zh-CN" altLang="en-US"/>
              <a:t>分析	</a:t>
            </a:r>
            <a:r>
              <a:rPr lang="en-US" altLang="zh-CN"/>
              <a:t>                                                        </a:t>
            </a:r>
            <a:r>
              <a:rPr lang="zh-CN" altLang="en-US"/>
              <a:t>是否是外部事件？	</a:t>
            </a:r>
            <a:r>
              <a:rPr lang="en-US" altLang="zh-CN"/>
              <a:t>                                    </a:t>
            </a:r>
            <a:r>
              <a:rPr lang="zh-CN" altLang="en-US"/>
              <a:t>外部事件描述</a:t>
            </a:r>
            <a:endParaRPr lang="zh-CN" altLang="en-US"/>
          </a:p>
          <a:p>
            <a:r>
              <a:rPr lang="zh-CN" altLang="en-US"/>
              <a:t>1. 储户走到ATM前	尚未与系统交互	否	</a:t>
            </a:r>
            <a:endParaRPr lang="zh-CN" altLang="en-US"/>
          </a:p>
          <a:p>
            <a:r>
              <a:rPr lang="zh-CN" altLang="en-US"/>
              <a:t>2. 储户插入银行卡	储户（外部参与者）主动执行了一个动作，触发了系统的响应（读卡、提示输入密码）。	是	卡已插入（cardInserted）</a:t>
            </a:r>
            <a:endParaRPr lang="zh-CN" altLang="en-US"/>
          </a:p>
          <a:p>
            <a:r>
              <a:rPr lang="zh-CN" altLang="en-US"/>
              <a:t>3. ATM提示输入密码	这是系统对事件2的响应，不是外部刺激。	否	</a:t>
            </a:r>
            <a:endParaRPr lang="zh-CN" altLang="en-US"/>
          </a:p>
          <a:p>
            <a:r>
              <a:rPr lang="zh-CN" altLang="en-US"/>
              <a:t>4. 储户输入密码“1234”	储户提供了完成认证所必需的信息。这是一个明确的输入刺激。	是	PIN码已输入（pinEntered）</a:t>
            </a:r>
            <a:endParaRPr lang="zh-CN" altLang="en-US"/>
          </a:p>
          <a:p>
            <a:r>
              <a:rPr lang="zh-CN" altLang="en-US"/>
              <a:t>5. 系统验证并显示菜单	系统对事件4的内部处理和响应。	否	</a:t>
            </a:r>
            <a:endParaRPr lang="zh-CN" altLang="en-US"/>
          </a:p>
          <a:p>
            <a:r>
              <a:rPr lang="zh-CN" altLang="en-US"/>
              <a:t>6. 储户选择“取款”	储户发出了一个交易指令，要求系统开始处理取款流程。	是	交易已选择（transactionSelected）</a:t>
            </a:r>
            <a:endParaRPr lang="zh-CN" altLang="en-US"/>
          </a:p>
          <a:p>
            <a:r>
              <a:rPr lang="zh-CN" altLang="en-US"/>
              <a:t>7. 储户输入金额“500”	储户提供了完成交易所必需的关键参数。	是	金额已输入（amountEntered）</a:t>
            </a:r>
            <a:endParaRPr lang="zh-CN" altLang="en-US"/>
          </a:p>
          <a:p>
            <a:r>
              <a:rPr lang="zh-CN" altLang="en-US"/>
              <a:t>8. ATM吐出现金	系统对事件7的响应和动作。	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“传递信息的对象”是指什么？</a:t>
            </a:r>
            <a:endParaRPr lang="zh-CN" altLang="en-US"/>
          </a:p>
          <a:p>
            <a:r>
              <a:rPr lang="zh-CN" altLang="en-US"/>
              <a:t>“传递信息的对象” 指的是在完成一个特定事件时，作为信息载体或媒介的那个事物（Object）。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它不是事件的发起者（Actor），也不是事件的接收者（System），而是在事件中被传递、被操作、被使用的那个“东西”。这个“东西”本身包含了信息或价值。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用ATM的例子详细说明：</a:t>
            </a:r>
            <a:endParaRPr lang="zh-CN" altLang="en-US"/>
          </a:p>
          <a:p>
            <a:r>
              <a:rPr lang="zh-CN" altLang="en-US"/>
              <a:t>让我们用您提到的例子，来分析每个事件中的“传递信息的对象”。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事件：储户插入现金兑换卡</a:t>
            </a:r>
            <a:endParaRPr lang="zh-CN" altLang="en-US"/>
          </a:p>
          <a:p>
            <a:r>
              <a:rPr lang="zh-CN" altLang="en-US"/>
              <a:t>事件描述：储户（Actor）执行了一个“插入”的动作。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传递信息的对象：现金兑换卡（The ATM Card）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解释：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这个动作的核心是“卡”被传递了。从储户的手里（外部），传递到了ATM机的读卡器里（系统内部）。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“卡”不是一个普通的物体，它是一个信息载体。它的磁条或芯片上包含着关键信息（如卡号、银行标识等），这些信息是系统启动会话所必需的。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因此，这个事件的焦点是“卡”的移动和它所承载信息的传递。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2. 识别问题域的关键概念（对象/类）</a:t>
            </a:r>
            <a:endParaRPr lang="zh-CN" altLang="en-US"/>
          </a:p>
          <a:p>
            <a:r>
              <a:rPr lang="zh-CN" altLang="en-US"/>
              <a:t>通过和图书馆管理员、读者交流，我们可以抽象出问题域中的核心概念（名词往往是候选的类）：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图书（Book）：有 ISBN、书名、作者、出版社、出版日期、类别、总副本数、可借副本数等。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读者（Reader）：有借阅卡号、姓名、联系方式、可借数量上限、当前借阅列表等。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借阅记录（BorrowRecord）：某读者借阅某本图书（某一具体副本）的记录，包括借出日期、应还日期、实际归还日期。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图书副本（BookCopy）：每一本物理书是一个副本，有独立的编号、状态（在馆、借出、损坏）。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管理员（Librarian）：负责图书入库、下架等操作。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罚款记录（Fine）：读者逾期归还时产生。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图书类别（Category）：对图书的分类。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2. 识别问题域的关键概念（对象/类）</a:t>
            </a:r>
            <a:endParaRPr lang="zh-CN" altLang="en-US"/>
          </a:p>
          <a:p>
            <a:r>
              <a:rPr lang="zh-CN" altLang="en-US"/>
              <a:t>通过和图书馆管理员、读者交流，我们可以抽象出问题域中的核心概念（名词往往是候选的类）：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图书（Book）：有 ISBN、书名、作者、出版社、出版日期、类别、总副本数、可借副本数等。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读者（Reader）：有借阅卡号、姓名、联系方式、可借数量上限、当前借阅列表等。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借阅记录（BorrowRecord）：某读者借阅某本图书（某一具体副本）的记录，包括借出日期、应还日期、实际归还日期。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图书副本（BookCopy）：每一本物理书是一个副本，有独立的编号、状态（在馆、借出、损坏）。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管理员（Librarian）：负责图书入库、下架等操作。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罚款记录（Fine）：读者逾期归还时产生。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图书类别（Category）：对图书的分类。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提取外部事件：</a:t>
            </a:r>
            <a:endParaRPr lang="zh-CN" altLang="en-US"/>
          </a:p>
          <a:p>
            <a:r>
              <a:rPr lang="zh-CN" altLang="en-US"/>
              <a:t>我们现在来分析，哪些步骤是“外部参与者主动触发的、要求系统立刻做出响应的刺激”。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	</a:t>
            </a:r>
            <a:r>
              <a:rPr lang="en-US" altLang="zh-CN"/>
              <a:t>                                      </a:t>
            </a:r>
            <a:r>
              <a:rPr lang="zh-CN" altLang="en-US"/>
              <a:t>分析	</a:t>
            </a:r>
            <a:r>
              <a:rPr lang="en-US" altLang="zh-CN"/>
              <a:t>                                                        </a:t>
            </a:r>
            <a:r>
              <a:rPr lang="zh-CN" altLang="en-US"/>
              <a:t>是否是外部事件？	</a:t>
            </a:r>
            <a:r>
              <a:rPr lang="en-US" altLang="zh-CN"/>
              <a:t>                                    </a:t>
            </a:r>
            <a:r>
              <a:rPr lang="zh-CN" altLang="en-US"/>
              <a:t>外部事件描述</a:t>
            </a:r>
            <a:endParaRPr lang="zh-CN" altLang="en-US"/>
          </a:p>
          <a:p>
            <a:r>
              <a:rPr lang="zh-CN" altLang="en-US"/>
              <a:t>1. 储户走到ATM前	尚未与系统交互	否	</a:t>
            </a:r>
            <a:endParaRPr lang="zh-CN" altLang="en-US"/>
          </a:p>
          <a:p>
            <a:r>
              <a:rPr lang="zh-CN" altLang="en-US"/>
              <a:t>2. 储户插入银行卡	储户（外部参与者）主动执行了一个动作，触发了系统的响应（读卡、提示输入密码）。	是	卡已插入（cardInserted）</a:t>
            </a:r>
            <a:endParaRPr lang="zh-CN" altLang="en-US"/>
          </a:p>
          <a:p>
            <a:r>
              <a:rPr lang="zh-CN" altLang="en-US"/>
              <a:t>3. ATM提示输入密码	这是系统对事件2的响应，不是外部刺激。	否	</a:t>
            </a:r>
            <a:endParaRPr lang="zh-CN" altLang="en-US"/>
          </a:p>
          <a:p>
            <a:r>
              <a:rPr lang="zh-CN" altLang="en-US"/>
              <a:t>4. 储户输入密码“1234”	储户提供了完成认证所必需的信息。这是一个明确的输入刺激。	是	PIN码已输入（pinEntered）</a:t>
            </a:r>
            <a:endParaRPr lang="zh-CN" altLang="en-US"/>
          </a:p>
          <a:p>
            <a:r>
              <a:rPr lang="zh-CN" altLang="en-US"/>
              <a:t>5. 系统验证并显示菜单	系统对事件4的内部处理和响应。	否	</a:t>
            </a:r>
            <a:endParaRPr lang="zh-CN" altLang="en-US"/>
          </a:p>
          <a:p>
            <a:r>
              <a:rPr lang="zh-CN" altLang="en-US"/>
              <a:t>6. 储户选择“取款”	储户发出了一个交易指令，要求系统开始处理取款流程。	是	交易已选择（transactionSelected）</a:t>
            </a:r>
            <a:endParaRPr lang="zh-CN" altLang="en-US"/>
          </a:p>
          <a:p>
            <a:r>
              <a:rPr lang="zh-CN" altLang="en-US"/>
              <a:t>7. 储户输入金额“500”	储户提供了完成交易所必需的关键参数。	是	金额已输入（amountEntered）</a:t>
            </a:r>
            <a:endParaRPr lang="zh-CN" altLang="en-US"/>
          </a:p>
          <a:p>
            <a:r>
              <a:rPr lang="zh-CN" altLang="en-US"/>
              <a:t>8. ATM吐出现金	系统对事件7的响应和动作。	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“传递信息的对象”是指什么？</a:t>
            </a:r>
            <a:endParaRPr lang="zh-CN" altLang="en-US"/>
          </a:p>
          <a:p>
            <a:r>
              <a:rPr lang="zh-CN" altLang="en-US"/>
              <a:t>“传递信息的对象” 指的是在完成一个特定事件时，作为信息载体或媒介的那个事物（Object）。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它不是事件的发起者（Actor），也不是事件的接收者（System），而是在事件中被传递、被操作、被使用的那个“东西”。这个“东西”本身包含了信息或价值。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用ATM的例子详细说明：</a:t>
            </a:r>
            <a:endParaRPr lang="zh-CN" altLang="en-US"/>
          </a:p>
          <a:p>
            <a:r>
              <a:rPr lang="zh-CN" altLang="en-US"/>
              <a:t>让我们用您提到的例子，来分析每个事件中的“传递信息的对象”。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事件：储户插入现金兑换卡</a:t>
            </a:r>
            <a:endParaRPr lang="zh-CN" altLang="en-US"/>
          </a:p>
          <a:p>
            <a:r>
              <a:rPr lang="zh-CN" altLang="en-US"/>
              <a:t>事件描述：储户（Actor）执行了一个“插入”的动作。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传递信息的对象：现金兑换卡（The ATM Card）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解释：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这个动作的核心是“卡”被传递了。从储户的手里（外部），传递到了ATM机的读卡器里（系统内部）。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“卡”不是一个普通的物体，它是一个信息载体。它的磁条或芯片上包含着关键信息（如卡号、银行标识等），这些信息是系统启动会话所必需的。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因此，这个事件的焦点是“卡”的移动和它所承载信息的传递。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数据管理子系统 是任何软件系统（或企业IT架构）中，专门负责数据的定义、存储、获取、操作、完整性、安全性与生命周期管理的一组协同工作的模块、服务和工具的集合。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它不仅仅是数据库，而是涵盖数据从产生到归档/销毁的全流程治理体系。可以把它看作是整个系统的 “数据中枢神经系统”。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文件管理系统的典型场景：</a:t>
            </a:r>
            <a:endParaRPr lang="zh-CN" altLang="en-US"/>
          </a:p>
          <a:p>
            <a:r>
              <a:rPr lang="zh-CN" altLang="en-US"/>
              <a:t>非结构化数据：图片、视频、音频、文档（如用户上传的头像、产品手册PDF）。</a:t>
            </a:r>
            <a:endParaRPr lang="zh-CN" altLang="en-US"/>
          </a:p>
          <a:p>
            <a:r>
              <a:rPr lang="zh-CN" altLang="en-US"/>
              <a:t>日志文件：应用程序、服务器产生的原始日志。</a:t>
            </a:r>
            <a:endParaRPr lang="zh-CN" altLang="en-US"/>
          </a:p>
          <a:p>
            <a:r>
              <a:rPr lang="zh-CN" altLang="en-US"/>
              <a:t>备份归档：数据库备份、历史数据归档。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关系数据库管理系统典型场景：</a:t>
            </a:r>
            <a:endParaRPr lang="zh-CN" altLang="en-US"/>
          </a:p>
          <a:p>
            <a:r>
              <a:rPr lang="zh-CN" altLang="en-US"/>
              <a:t>核心业务系统（OLTP）：银行交易系统、电商订单系统、CRM/ERP系统。需要强一致性和复杂关联查询的场景。</a:t>
            </a:r>
            <a:endParaRPr lang="zh-CN" altLang="en-US"/>
          </a:p>
          <a:p>
            <a:r>
              <a:rPr lang="zh-CN" altLang="en-US"/>
              <a:t>内容管理系统：博客、新闻网站，内容间存在关联。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面向对象数据库管理系统（OODBMS）是一种旨在存储复杂对象（而不仅仅是原始数据）的数据库，这些对象是使用面向对象编程语言（如 Java, C++, Python）定义和操作的。它试图弥合对象模型和数据库模型之间的“阻抗失配”问题。这是最核心的优势。 在传统</a:t>
            </a:r>
            <a:r>
              <a:rPr lang="en-US" altLang="zh-CN"/>
              <a:t>(ORM（Object-Relational Mapping，对象关系映射）是一种编程技术，用于在面向对象的编程语言和关系型数据库之间建立一个映射桥梁。)</a:t>
            </a:r>
            <a:r>
              <a:rPr lang="zh-CN" altLang="en-US"/>
              <a:t>中，开发者需要在内存中的对象和数据库中的表/行之间进行繁琐的映射、转换（称为“对象-关系阻抗失配”）。OODBMS直接存储对象本身，避免了这种转换，极大简化了代码，提高了开发效率。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提取外部事件：</a:t>
            </a:r>
            <a:endParaRPr lang="zh-CN" altLang="en-US"/>
          </a:p>
          <a:p>
            <a:r>
              <a:rPr lang="zh-CN" altLang="en-US"/>
              <a:t>我们现在来分析，哪些步骤是“外部参与者主动触发的、要求系统立刻做出响应的刺激”。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	</a:t>
            </a:r>
            <a:r>
              <a:rPr lang="en-US" altLang="zh-CN"/>
              <a:t>                                      </a:t>
            </a:r>
            <a:r>
              <a:rPr lang="zh-CN" altLang="en-US"/>
              <a:t>分析	</a:t>
            </a:r>
            <a:r>
              <a:rPr lang="en-US" altLang="zh-CN"/>
              <a:t>                                                        </a:t>
            </a:r>
            <a:r>
              <a:rPr lang="zh-CN" altLang="en-US"/>
              <a:t>是否是外部事件？	</a:t>
            </a:r>
            <a:r>
              <a:rPr lang="en-US" altLang="zh-CN"/>
              <a:t>                                    </a:t>
            </a:r>
            <a:r>
              <a:rPr lang="zh-CN" altLang="en-US"/>
              <a:t>外部事件描述</a:t>
            </a:r>
            <a:endParaRPr lang="zh-CN" altLang="en-US"/>
          </a:p>
          <a:p>
            <a:r>
              <a:rPr lang="zh-CN" altLang="en-US"/>
              <a:t>1. 储户走到ATM前	尚未与系统交互	否	</a:t>
            </a:r>
            <a:endParaRPr lang="zh-CN" altLang="en-US"/>
          </a:p>
          <a:p>
            <a:r>
              <a:rPr lang="zh-CN" altLang="en-US"/>
              <a:t>2. 储户插入银行卡	储户（外部参与者）主动执行了一个动作，触发了系统的响应（读卡、提示输入密码）。	是	卡已插入（cardInserted）</a:t>
            </a:r>
            <a:endParaRPr lang="zh-CN" altLang="en-US"/>
          </a:p>
          <a:p>
            <a:r>
              <a:rPr lang="zh-CN" altLang="en-US"/>
              <a:t>3. ATM提示输入密码	这是系统对事件2的响应，不是外部刺激。	否	</a:t>
            </a:r>
            <a:endParaRPr lang="zh-CN" altLang="en-US"/>
          </a:p>
          <a:p>
            <a:r>
              <a:rPr lang="zh-CN" altLang="en-US"/>
              <a:t>4. 储户输入密码“1234”	储户提供了完成认证所必需的信息。这是一个明确的输入刺激。	是	PIN码已输入（pinEntered）</a:t>
            </a:r>
            <a:endParaRPr lang="zh-CN" altLang="en-US"/>
          </a:p>
          <a:p>
            <a:r>
              <a:rPr lang="zh-CN" altLang="en-US"/>
              <a:t>5. 系统验证并显示菜单	系统对事件4的内部处理和响应。	否	</a:t>
            </a:r>
            <a:endParaRPr lang="zh-CN" altLang="en-US"/>
          </a:p>
          <a:p>
            <a:r>
              <a:rPr lang="zh-CN" altLang="en-US"/>
              <a:t>6. 储户选择“取款”	储户发出了一个交易指令，要求系统开始处理取款流程。	是	交易已选择（transactionSelected）</a:t>
            </a:r>
            <a:endParaRPr lang="zh-CN" altLang="en-US"/>
          </a:p>
          <a:p>
            <a:r>
              <a:rPr lang="zh-CN" altLang="en-US"/>
              <a:t>7. 储户输入金额“500”	储户提供了完成交易所必需的关键参数。	是	金额已输入（amountEntered）</a:t>
            </a:r>
            <a:endParaRPr lang="zh-CN" altLang="en-US"/>
          </a:p>
          <a:p>
            <a:r>
              <a:rPr lang="zh-CN" altLang="en-US"/>
              <a:t>8. ATM吐出现金	系统对事件7的响应和动作。	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“传递信息的对象”是指什么？</a:t>
            </a:r>
            <a:endParaRPr lang="zh-CN" altLang="en-US"/>
          </a:p>
          <a:p>
            <a:r>
              <a:rPr lang="zh-CN" altLang="en-US"/>
              <a:t>“传递信息的对象” 指的是在完成一个特定事件时，作为信息载体或媒介的那个事物（Object）。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它不是事件的发起者（Actor），也不是事件的接收者（System），而是在事件中被传递、被操作、被使用的那个“东西”。这个“东西”本身包含了信息或价值。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用ATM的例子详细说明：</a:t>
            </a:r>
            <a:endParaRPr lang="zh-CN" altLang="en-US"/>
          </a:p>
          <a:p>
            <a:r>
              <a:rPr lang="zh-CN" altLang="en-US"/>
              <a:t>让我们用您提到的例子，来分析每个事件中的“传递信息的对象”。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事件：储户插入现金兑换卡</a:t>
            </a:r>
            <a:endParaRPr lang="zh-CN" altLang="en-US"/>
          </a:p>
          <a:p>
            <a:r>
              <a:rPr lang="zh-CN" altLang="en-US"/>
              <a:t>事件描述：储户（Actor）执行了一个“插入”的动作。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传递信息的对象：现金兑换卡（The ATM Card）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解释：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这个动作的核心是“卡”被传递了。从储户的手里（外部），传递到了ATM机的读卡器里（系统内部）。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“卡”不是一个普通的物体，它是一个信息载体。它的磁条或芯片上包含着关键信息（如卡号、银行标识等），这些信息是系统启动会话所必需的。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因此，这个事件的焦点是“卡”的移动和它所承载信息的传递。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数据管理子系统 是任何软件系统（或企业IT架构）中，专门负责数据的定义、存储、获取、操作、完整性、安全性与生命周期管理的一组协同工作的模块、服务和工具的集合。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它不仅仅是数据库，而是涵盖数据从产生到归档/销毁的全流程治理体系。可以把它看作是整个系统的 “数据中枢神经系统”。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文件管理系统的典型场景：</a:t>
            </a:r>
            <a:endParaRPr lang="zh-CN" altLang="en-US"/>
          </a:p>
          <a:p>
            <a:r>
              <a:rPr lang="zh-CN" altLang="en-US"/>
              <a:t>非结构化数据：图片、视频、音频、文档（如用户上传的头像、产品手册PDF）。</a:t>
            </a:r>
            <a:endParaRPr lang="zh-CN" altLang="en-US"/>
          </a:p>
          <a:p>
            <a:r>
              <a:rPr lang="zh-CN" altLang="en-US"/>
              <a:t>日志文件：应用程序、服务器产生的原始日志。</a:t>
            </a:r>
            <a:endParaRPr lang="zh-CN" altLang="en-US"/>
          </a:p>
          <a:p>
            <a:r>
              <a:rPr lang="zh-CN" altLang="en-US"/>
              <a:t>备份归档：数据库备份、历史数据归档。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关系数据库管理系统典型场景：</a:t>
            </a:r>
            <a:endParaRPr lang="zh-CN" altLang="en-US"/>
          </a:p>
          <a:p>
            <a:r>
              <a:rPr lang="zh-CN" altLang="en-US"/>
              <a:t>核心业务系统（OLTP）：银行交易系统、电商订单系统、CRM/ERP系统。需要强一致性和复杂关联查询的场景。</a:t>
            </a:r>
            <a:endParaRPr lang="zh-CN" altLang="en-US"/>
          </a:p>
          <a:p>
            <a:r>
              <a:rPr lang="zh-CN" altLang="en-US"/>
              <a:t>内容管理系统：博客、新闻网站，内容间存在关联。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面向对象数据库管理系统（OODBMS）是一种旨在存储复杂对象（而不仅仅是原始数据）的数据库，这些对象是使用面向对象编程语言（如 Java, C++, Python）定义和操作的。它试图弥合对象模型和数据库模型之间的“阻抗失配”问题。这是最核心的优势。 在传统</a:t>
            </a:r>
            <a:r>
              <a:rPr lang="en-US" altLang="zh-CN"/>
              <a:t>(ORM（Object-Relational Mapping，对象关系映射）是一种编程技术，用于在面向对象的编程语言和关系型数据库之间建立一个映射桥梁。)</a:t>
            </a:r>
            <a:r>
              <a:rPr lang="zh-CN" altLang="en-US"/>
              <a:t>中，开发者需要在内存中的对象和数据库中的表/行之间进行繁琐的映射、转换（称为“对象-关系阻抗失配”）。OODBMS直接存储对象本身，避免了这种转换，极大简化了代码，提高了开发效率。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31AE1-35FC-457E-B04E-2B4CFC7B56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提取外部事件：</a:t>
            </a:r>
            <a:endParaRPr lang="zh-CN" altLang="en-US"/>
          </a:p>
          <a:p>
            <a:r>
              <a:rPr lang="zh-CN" altLang="en-US"/>
              <a:t>我们现在来分析，哪些步骤是“外部参与者主动触发的、要求系统立刻做出响应的刺激”。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	</a:t>
            </a:r>
            <a:r>
              <a:rPr lang="en-US" altLang="zh-CN"/>
              <a:t>                                      </a:t>
            </a:r>
            <a:r>
              <a:rPr lang="zh-CN" altLang="en-US"/>
              <a:t>分析	</a:t>
            </a:r>
            <a:r>
              <a:rPr lang="en-US" altLang="zh-CN"/>
              <a:t>                                                        </a:t>
            </a:r>
            <a:r>
              <a:rPr lang="zh-CN" altLang="en-US"/>
              <a:t>是否是外部事件？	</a:t>
            </a:r>
            <a:r>
              <a:rPr lang="en-US" altLang="zh-CN"/>
              <a:t>                                    </a:t>
            </a:r>
            <a:r>
              <a:rPr lang="zh-CN" altLang="en-US"/>
              <a:t>外部事件描述</a:t>
            </a:r>
            <a:endParaRPr lang="zh-CN" altLang="en-US"/>
          </a:p>
          <a:p>
            <a:r>
              <a:rPr lang="zh-CN" altLang="en-US"/>
              <a:t>1. 储户走到ATM前	尚未与系统交互	否	</a:t>
            </a:r>
            <a:endParaRPr lang="zh-CN" altLang="en-US"/>
          </a:p>
          <a:p>
            <a:r>
              <a:rPr lang="zh-CN" altLang="en-US"/>
              <a:t>2. 储户插入银行卡	储户（外部参与者）主动执行了一个动作，触发了系统的响应（读卡、提示输入密码）。	是	卡已插入（cardInserted）</a:t>
            </a:r>
            <a:endParaRPr lang="zh-CN" altLang="en-US"/>
          </a:p>
          <a:p>
            <a:r>
              <a:rPr lang="zh-CN" altLang="en-US"/>
              <a:t>3. ATM提示输入密码	这是系统对事件2的响应，不是外部刺激。	否	</a:t>
            </a:r>
            <a:endParaRPr lang="zh-CN" altLang="en-US"/>
          </a:p>
          <a:p>
            <a:r>
              <a:rPr lang="zh-CN" altLang="en-US"/>
              <a:t>4. 储户输入密码“1234”	储户提供了完成认证所必需的信息。这是一个明确的输入刺激。	是	PIN码已输入（pinEntered）</a:t>
            </a:r>
            <a:endParaRPr lang="zh-CN" altLang="en-US"/>
          </a:p>
          <a:p>
            <a:r>
              <a:rPr lang="zh-CN" altLang="en-US"/>
              <a:t>5. 系统验证并显示菜单	系统对事件4的内部处理和响应。	否	</a:t>
            </a:r>
            <a:endParaRPr lang="zh-CN" altLang="en-US"/>
          </a:p>
          <a:p>
            <a:r>
              <a:rPr lang="zh-CN" altLang="en-US"/>
              <a:t>6. 储户选择“取款”	储户发出了一个交易指令，要求系统开始处理取款流程。	是	交易已选择（transactionSelected）</a:t>
            </a:r>
            <a:endParaRPr lang="zh-CN" altLang="en-US"/>
          </a:p>
          <a:p>
            <a:r>
              <a:rPr lang="zh-CN" altLang="en-US"/>
              <a:t>7. 储户输入金额“500”	储户提供了完成交易所必需的关键参数。	是	金额已输入（amountEntered）</a:t>
            </a:r>
            <a:endParaRPr lang="zh-CN" altLang="en-US"/>
          </a:p>
          <a:p>
            <a:r>
              <a:rPr lang="zh-CN" altLang="en-US"/>
              <a:t>8. ATM吐出现金	系统对事件7的响应和动作。	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“传递信息的对象”是指什么？</a:t>
            </a:r>
            <a:endParaRPr lang="zh-CN" altLang="en-US"/>
          </a:p>
          <a:p>
            <a:r>
              <a:rPr lang="zh-CN" altLang="en-US"/>
              <a:t>“传递信息的对象” 指的是在完成一个特定事件时，作为信息载体或媒介的那个事物（Object）。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它不是事件的发起者（Actor），也不是事件的接收者（System），而是在事件中被传递、被操作、被使用的那个“东西”。这个“东西”本身包含了信息或价值。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用ATM的例子详细说明：</a:t>
            </a:r>
            <a:endParaRPr lang="zh-CN" altLang="en-US"/>
          </a:p>
          <a:p>
            <a:r>
              <a:rPr lang="zh-CN" altLang="en-US"/>
              <a:t>让我们用您提到的例子，来分析每个事件中的“传递信息的对象”。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事件：储户插入现金兑换卡</a:t>
            </a:r>
            <a:endParaRPr lang="zh-CN" altLang="en-US"/>
          </a:p>
          <a:p>
            <a:r>
              <a:rPr lang="zh-CN" altLang="en-US"/>
              <a:t>事件描述：储户（Actor）执行了一个“插入”的动作。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传递信息的对象：现金兑换卡（The ATM Card）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解释：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这个动作的核心是“卡”被传递了。从储户的手里（外部），传递到了ATM机的读卡器里（系统内部）。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“卡”不是一个普通的物体，它是一个信息载体。它的磁条或芯片上包含着关键信息（如卡号、银行标识等），这些信息是系统启动会话所必需的。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因此，这个事件的焦点是“卡”的移动和它所承载信息的传递。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55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3" Type="http://schemas.openxmlformats.org/officeDocument/2006/relationships/notesSlide" Target="../notesSlides/notesSlide2.xml"/><Relationship Id="rId62" Type="http://schemas.openxmlformats.org/officeDocument/2006/relationships/slideLayout" Target="../slideLayouts/slideLayout6.xml"/><Relationship Id="rId61" Type="http://schemas.openxmlformats.org/officeDocument/2006/relationships/tags" Target="../tags/tag230.xml"/><Relationship Id="rId60" Type="http://schemas.openxmlformats.org/officeDocument/2006/relationships/tags" Target="../tags/tag229.xml"/><Relationship Id="rId6" Type="http://schemas.openxmlformats.org/officeDocument/2006/relationships/tags" Target="../tags/tag175.xml"/><Relationship Id="rId59" Type="http://schemas.openxmlformats.org/officeDocument/2006/relationships/tags" Target="../tags/tag228.xml"/><Relationship Id="rId58" Type="http://schemas.openxmlformats.org/officeDocument/2006/relationships/tags" Target="../tags/tag227.xml"/><Relationship Id="rId57" Type="http://schemas.openxmlformats.org/officeDocument/2006/relationships/tags" Target="../tags/tag226.xml"/><Relationship Id="rId56" Type="http://schemas.openxmlformats.org/officeDocument/2006/relationships/tags" Target="../tags/tag225.xml"/><Relationship Id="rId55" Type="http://schemas.openxmlformats.org/officeDocument/2006/relationships/tags" Target="../tags/tag224.xml"/><Relationship Id="rId54" Type="http://schemas.openxmlformats.org/officeDocument/2006/relationships/tags" Target="../tags/tag223.xml"/><Relationship Id="rId53" Type="http://schemas.openxmlformats.org/officeDocument/2006/relationships/tags" Target="../tags/tag222.xml"/><Relationship Id="rId52" Type="http://schemas.openxmlformats.org/officeDocument/2006/relationships/tags" Target="../tags/tag221.xml"/><Relationship Id="rId51" Type="http://schemas.openxmlformats.org/officeDocument/2006/relationships/tags" Target="../tags/tag220.xml"/><Relationship Id="rId50" Type="http://schemas.openxmlformats.org/officeDocument/2006/relationships/tags" Target="../tags/tag219.xml"/><Relationship Id="rId5" Type="http://schemas.openxmlformats.org/officeDocument/2006/relationships/tags" Target="../tags/tag174.xml"/><Relationship Id="rId49" Type="http://schemas.openxmlformats.org/officeDocument/2006/relationships/tags" Target="../tags/tag218.xml"/><Relationship Id="rId48" Type="http://schemas.openxmlformats.org/officeDocument/2006/relationships/tags" Target="../tags/tag217.xml"/><Relationship Id="rId47" Type="http://schemas.openxmlformats.org/officeDocument/2006/relationships/tags" Target="../tags/tag216.xml"/><Relationship Id="rId46" Type="http://schemas.openxmlformats.org/officeDocument/2006/relationships/tags" Target="../tags/tag215.xml"/><Relationship Id="rId45" Type="http://schemas.openxmlformats.org/officeDocument/2006/relationships/tags" Target="../tags/tag214.xml"/><Relationship Id="rId44" Type="http://schemas.openxmlformats.org/officeDocument/2006/relationships/tags" Target="../tags/tag213.xml"/><Relationship Id="rId43" Type="http://schemas.openxmlformats.org/officeDocument/2006/relationships/tags" Target="../tags/tag212.xml"/><Relationship Id="rId42" Type="http://schemas.openxmlformats.org/officeDocument/2006/relationships/tags" Target="../tags/tag211.xml"/><Relationship Id="rId41" Type="http://schemas.openxmlformats.org/officeDocument/2006/relationships/tags" Target="../tags/tag210.xml"/><Relationship Id="rId40" Type="http://schemas.openxmlformats.org/officeDocument/2006/relationships/tags" Target="../tags/tag209.xml"/><Relationship Id="rId4" Type="http://schemas.openxmlformats.org/officeDocument/2006/relationships/tags" Target="../tags/tag173.xml"/><Relationship Id="rId39" Type="http://schemas.openxmlformats.org/officeDocument/2006/relationships/tags" Target="../tags/tag208.xml"/><Relationship Id="rId38" Type="http://schemas.openxmlformats.org/officeDocument/2006/relationships/tags" Target="../tags/tag207.xml"/><Relationship Id="rId37" Type="http://schemas.openxmlformats.org/officeDocument/2006/relationships/tags" Target="../tags/tag206.xml"/><Relationship Id="rId36" Type="http://schemas.openxmlformats.org/officeDocument/2006/relationships/tags" Target="../tags/tag205.xml"/><Relationship Id="rId35" Type="http://schemas.openxmlformats.org/officeDocument/2006/relationships/tags" Target="../tags/tag204.xml"/><Relationship Id="rId34" Type="http://schemas.openxmlformats.org/officeDocument/2006/relationships/tags" Target="../tags/tag203.xml"/><Relationship Id="rId33" Type="http://schemas.openxmlformats.org/officeDocument/2006/relationships/tags" Target="../tags/tag202.xml"/><Relationship Id="rId32" Type="http://schemas.openxmlformats.org/officeDocument/2006/relationships/tags" Target="../tags/tag201.xml"/><Relationship Id="rId31" Type="http://schemas.openxmlformats.org/officeDocument/2006/relationships/tags" Target="../tags/tag200.xml"/><Relationship Id="rId30" Type="http://schemas.openxmlformats.org/officeDocument/2006/relationships/tags" Target="../tags/tag199.xml"/><Relationship Id="rId3" Type="http://schemas.openxmlformats.org/officeDocument/2006/relationships/tags" Target="../tags/tag172.xml"/><Relationship Id="rId29" Type="http://schemas.openxmlformats.org/officeDocument/2006/relationships/tags" Target="../tags/tag198.xml"/><Relationship Id="rId28" Type="http://schemas.openxmlformats.org/officeDocument/2006/relationships/tags" Target="../tags/tag197.xml"/><Relationship Id="rId27" Type="http://schemas.openxmlformats.org/officeDocument/2006/relationships/tags" Target="../tags/tag196.xml"/><Relationship Id="rId26" Type="http://schemas.openxmlformats.org/officeDocument/2006/relationships/tags" Target="../tags/tag195.xml"/><Relationship Id="rId25" Type="http://schemas.openxmlformats.org/officeDocument/2006/relationships/tags" Target="../tags/tag194.xml"/><Relationship Id="rId24" Type="http://schemas.openxmlformats.org/officeDocument/2006/relationships/tags" Target="../tags/tag193.xml"/><Relationship Id="rId23" Type="http://schemas.openxmlformats.org/officeDocument/2006/relationships/tags" Target="../tags/tag192.xml"/><Relationship Id="rId22" Type="http://schemas.openxmlformats.org/officeDocument/2006/relationships/tags" Target="../tags/tag191.xml"/><Relationship Id="rId21" Type="http://schemas.openxmlformats.org/officeDocument/2006/relationships/tags" Target="../tags/tag190.xml"/><Relationship Id="rId20" Type="http://schemas.openxmlformats.org/officeDocument/2006/relationships/tags" Target="../tags/tag189.xml"/><Relationship Id="rId2" Type="http://schemas.openxmlformats.org/officeDocument/2006/relationships/tags" Target="../tags/tag171.xml"/><Relationship Id="rId19" Type="http://schemas.openxmlformats.org/officeDocument/2006/relationships/tags" Target="../tags/tag188.xml"/><Relationship Id="rId18" Type="http://schemas.openxmlformats.org/officeDocument/2006/relationships/tags" Target="../tags/tag187.xml"/><Relationship Id="rId17" Type="http://schemas.openxmlformats.org/officeDocument/2006/relationships/tags" Target="../tags/tag186.xml"/><Relationship Id="rId16" Type="http://schemas.openxmlformats.org/officeDocument/2006/relationships/tags" Target="../tags/tag185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0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32.xml"/><Relationship Id="rId2" Type="http://schemas.openxmlformats.org/officeDocument/2006/relationships/image" Target="../media/image1.png"/><Relationship Id="rId1" Type="http://schemas.openxmlformats.org/officeDocument/2006/relationships/tags" Target="../tags/tag23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3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233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3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3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3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4.xml"/><Relationship Id="rId6" Type="http://schemas.openxmlformats.org/officeDocument/2006/relationships/tags" Target="../tags/tag239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tags" Target="../tags/tag23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40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4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tags" Target="../tags/tag243.xml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0" Type="http://schemas.openxmlformats.org/officeDocument/2006/relationships/notesSlide" Target="../notesSlides/notesSlide10.xml"/><Relationship Id="rId1" Type="http://schemas.openxmlformats.org/officeDocument/2006/relationships/tags" Target="../tags/tag24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45.xml"/><Relationship Id="rId2" Type="http://schemas.openxmlformats.org/officeDocument/2006/relationships/image" Target="../media/image28.png"/><Relationship Id="rId1" Type="http://schemas.openxmlformats.org/officeDocument/2006/relationships/tags" Target="../tags/tag24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4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24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48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50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tags" Target="../tags/tag24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1.xml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253.xml"/><Relationship Id="rId2" Type="http://schemas.openxmlformats.org/officeDocument/2006/relationships/image" Target="../media/image36.png"/><Relationship Id="rId1" Type="http://schemas.openxmlformats.org/officeDocument/2006/relationships/tags" Target="../tags/tag252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4.xml"/><Relationship Id="rId5" Type="http://schemas.openxmlformats.org/officeDocument/2006/relationships/tags" Target="../tags/tag255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tags" Target="../tags/tag254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256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58.xml"/><Relationship Id="rId1" Type="http://schemas.openxmlformats.org/officeDocument/2006/relationships/tags" Target="../tags/tag2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984375" y="3632835"/>
            <a:ext cx="8977630" cy="1118235"/>
          </a:xfrm>
        </p:spPr>
        <p:txBody>
          <a:bodyPr>
            <a:normAutofit fontScale="90000"/>
          </a:bodyPr>
          <a:p>
            <a:r>
              <a:rPr lang="zh-CN" altLang="en-US" dirty="0">
                <a:solidFill>
                  <a:schemeClr val="accent1"/>
                </a:solidFill>
                <a:sym typeface="+mn-lt"/>
              </a:rPr>
              <a:t>软件工程导论（第</a:t>
            </a:r>
            <a:r>
              <a:rPr lang="en-US" altLang="zh-CN" dirty="0">
                <a:solidFill>
                  <a:schemeClr val="accent1"/>
                </a:solidFill>
                <a:sym typeface="+mn-lt"/>
              </a:rPr>
              <a:t>6</a:t>
            </a:r>
            <a:r>
              <a:rPr lang="zh-CN" altLang="en-US" dirty="0">
                <a:solidFill>
                  <a:schemeClr val="accent1"/>
                </a:solidFill>
                <a:sym typeface="+mn-lt"/>
              </a:rPr>
              <a:t>版）</a:t>
            </a:r>
            <a:endParaRPr lang="zh-CN" altLang="en-US" dirty="0">
              <a:solidFill>
                <a:schemeClr val="accent1"/>
              </a:solidFill>
              <a:sym typeface="+mn-lt"/>
            </a:endParaRPr>
          </a:p>
        </p:txBody>
      </p:sp>
      <p:sp>
        <p:nvSpPr>
          <p:cNvPr id="2" name="副标题 1"/>
          <p:cNvSpPr/>
          <p:nvPr>
            <p:ph type="subTitle" idx="1"/>
          </p:nvPr>
        </p:nvSpPr>
        <p:spPr>
          <a:xfrm>
            <a:off x="2574744" y="2752574"/>
            <a:ext cx="7117545" cy="676319"/>
          </a:xfrm>
        </p:spPr>
        <p:txBody>
          <a:bodyPr/>
          <a:p>
            <a:r>
              <a:rPr lang="en-US" altLang="zh-CN">
                <a:solidFill>
                  <a:srgbClr val="FF0000"/>
                </a:solidFill>
              </a:rPr>
              <a:t>21</a:t>
            </a:r>
            <a:r>
              <a:rPr lang="zh-CN" altLang="en-US">
                <a:solidFill>
                  <a:srgbClr val="FF0000"/>
                </a:solidFill>
              </a:rPr>
              <a:t>世纪软件工程专业规划教材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"/>
          <p:cNvSpPr/>
          <p:nvPr userDrawn="1">
            <p:custDataLst>
              <p:tags r:id="rId1"/>
            </p:custDataLst>
          </p:nvPr>
        </p:nvSpPr>
        <p:spPr>
          <a:xfrm rot="10800000" flipH="1">
            <a:off x="-1" y="-1"/>
            <a:ext cx="3309257" cy="6858001"/>
          </a:xfrm>
          <a:custGeom>
            <a:avLst/>
            <a:gdLst>
              <a:gd name="connsiteX0" fmla="*/ 0 w 3309257"/>
              <a:gd name="connsiteY0" fmla="*/ 6858001 h 6858001"/>
              <a:gd name="connsiteX1" fmla="*/ 3309257 w 3309257"/>
              <a:gd name="connsiteY1" fmla="*/ 6858001 h 6858001"/>
              <a:gd name="connsiteX2" fmla="*/ 1718889 w 3309257"/>
              <a:gd name="connsiteY2" fmla="*/ 0 h 6858001"/>
              <a:gd name="connsiteX3" fmla="*/ 0 w 3309257"/>
              <a:gd name="connsiteY3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9257" h="6858001">
                <a:moveTo>
                  <a:pt x="0" y="6858001"/>
                </a:moveTo>
                <a:lnTo>
                  <a:pt x="3309257" y="6858001"/>
                </a:lnTo>
                <a:lnTo>
                  <a:pt x="171888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6"/>
          <p:cNvSpPr/>
          <p:nvPr userDrawn="1">
            <p:custDataLst>
              <p:tags r:id="rId2"/>
            </p:custDataLst>
          </p:nvPr>
        </p:nvSpPr>
        <p:spPr>
          <a:xfrm rot="11574254">
            <a:off x="2509618" y="-200140"/>
            <a:ext cx="971535" cy="7258276"/>
          </a:xfrm>
          <a:custGeom>
            <a:avLst/>
            <a:gdLst>
              <a:gd name="connsiteX0" fmla="*/ 0 w 971535"/>
              <a:gd name="connsiteY0" fmla="*/ 7258276 h 7258276"/>
              <a:gd name="connsiteX1" fmla="*/ 932891 w 971535"/>
              <a:gd name="connsiteY1" fmla="*/ 8853 h 7258276"/>
              <a:gd name="connsiteX2" fmla="*/ 971535 w 971535"/>
              <a:gd name="connsiteY2" fmla="*/ 0 h 7258276"/>
              <a:gd name="connsiteX3" fmla="*/ 971535 w 971535"/>
              <a:gd name="connsiteY3" fmla="*/ 7035689 h 725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535" h="7258276">
                <a:moveTo>
                  <a:pt x="0" y="7258276"/>
                </a:moveTo>
                <a:lnTo>
                  <a:pt x="932891" y="8853"/>
                </a:lnTo>
                <a:lnTo>
                  <a:pt x="971535" y="0"/>
                </a:lnTo>
                <a:lnTo>
                  <a:pt x="971535" y="703568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1743317" y="3937000"/>
            <a:ext cx="1393003" cy="2921000"/>
          </a:xfrm>
          <a:custGeom>
            <a:avLst/>
            <a:gdLst>
              <a:gd name="connsiteX0" fmla="*/ 1089482 w 1393003"/>
              <a:gd name="connsiteY0" fmla="*/ 0 h 2921000"/>
              <a:gd name="connsiteX1" fmla="*/ 1393003 w 1393003"/>
              <a:gd name="connsiteY1" fmla="*/ 2921000 h 2921000"/>
              <a:gd name="connsiteX2" fmla="*/ 0 w 1393003"/>
              <a:gd name="connsiteY2" fmla="*/ 2921000 h 292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3003" h="2921000">
                <a:moveTo>
                  <a:pt x="1089482" y="0"/>
                </a:moveTo>
                <a:lnTo>
                  <a:pt x="1393003" y="2921000"/>
                </a:lnTo>
                <a:lnTo>
                  <a:pt x="0" y="2921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20065" y="653415"/>
            <a:ext cx="1967230" cy="400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华光彩云_CNKI" panose="02000500000000000000" charset="-122"/>
                <a:ea typeface="华光彩云_CNKI" panose="02000500000000000000" charset="-122"/>
                <a:cs typeface="Arial" panose="020B0604020202020204" pitchFamily="34" charset="0"/>
              </a:rPr>
              <a:t>overview</a:t>
            </a:r>
            <a:endParaRPr lang="en-US" altLang="zh-CN" sz="2800">
              <a:solidFill>
                <a:schemeClr val="bg1"/>
              </a:solidFill>
              <a:latin typeface="华光彩云_CNKI" panose="02000500000000000000" charset="-122"/>
              <a:ea typeface="华光彩云_CNKI" panose="02000500000000000000" charset="-122"/>
              <a:cs typeface="Arial" panose="020B060402020202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3436620" y="506730"/>
            <a:ext cx="8755380" cy="1118235"/>
          </a:xfrm>
        </p:spPr>
        <p:txBody>
          <a:bodyPr>
            <a:normAutofit/>
          </a:bodyPr>
          <a:p>
            <a:r>
              <a:rPr lang="zh-CN" altLang="en-US" sz="4000" dirty="0">
                <a:sym typeface="+mn-lt"/>
              </a:rPr>
              <a:t>第</a:t>
            </a:r>
            <a:r>
              <a:rPr lang="en-US" altLang="zh-CN" sz="4000" dirty="0">
                <a:solidFill>
                  <a:srgbClr val="FF0000"/>
                </a:solidFill>
                <a:latin typeface="华光彩云_CNKI" panose="02000500000000000000" charset="-122"/>
                <a:ea typeface="华光彩云_CNKI" panose="02000500000000000000" charset="-122"/>
                <a:sym typeface="+mn-lt"/>
              </a:rPr>
              <a:t>8</a:t>
            </a:r>
            <a:r>
              <a:rPr lang="zh-CN" altLang="en-US" sz="4000" dirty="0">
                <a:sym typeface="+mn-lt"/>
              </a:rPr>
              <a:t>章</a:t>
            </a:r>
            <a:r>
              <a:rPr lang="en-US" altLang="zh-CN" sz="4000" dirty="0">
                <a:sym typeface="+mn-lt"/>
              </a:rPr>
              <a:t>  </a:t>
            </a:r>
            <a:r>
              <a:rPr lang="zh-CN" altLang="en-US" sz="4000" dirty="0">
                <a:sym typeface="+mn-lt"/>
              </a:rPr>
              <a:t>面向对象设计</a:t>
            </a:r>
            <a:endParaRPr lang="zh-CN" altLang="en-US" sz="4000" dirty="0">
              <a:sym typeface="+mn-lt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3436620" y="2370455"/>
            <a:ext cx="8314055" cy="3473450"/>
          </a:xfrm>
        </p:spPr>
        <p:txBody>
          <a:bodyPr>
            <a:normAutofit lnSpcReduction="10000"/>
          </a:bodyPr>
          <a:p>
            <a:pPr marL="0" indent="0" eaLnBrk="1" hangingPunct="1">
              <a:lnSpc>
                <a:spcPct val="170000"/>
              </a:lnSpc>
              <a:buNone/>
            </a:pPr>
            <a:r>
              <a:rPr lang="zh-CN" altLang="en-US" sz="20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分</a:t>
            </a:r>
            <a:r>
              <a:rPr lang="zh-CN" altLang="en-US" sz="20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析</a:t>
            </a:r>
            <a:r>
              <a:rPr lang="zh-CN" altLang="en-US" sz="2000" dirty="0">
                <a:latin typeface="Bodoni MT Black" panose="02070A03080606020203" pitchFamily="18" charset="0"/>
                <a:sym typeface="+mn-ea"/>
              </a:rPr>
              <a:t>是提取和整理用户需求，并建立问题域精确模型的过程。</a:t>
            </a:r>
            <a:r>
              <a:rPr lang="zh-CN" altLang="en-US" sz="20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设计</a:t>
            </a:r>
            <a:r>
              <a:rPr lang="zh-CN" altLang="en-US" sz="2000" dirty="0">
                <a:latin typeface="Bodoni MT Black" panose="02070A03080606020203" pitchFamily="18" charset="0"/>
                <a:sym typeface="+mn-ea"/>
              </a:rPr>
              <a:t>则是把分析阶段得到的需求转变成</a:t>
            </a:r>
            <a:r>
              <a:rPr lang="zh-CN" altLang="en-US" sz="2000" dirty="0">
                <a:solidFill>
                  <a:srgbClr val="00B0F0"/>
                </a:solidFill>
                <a:effectLst/>
                <a:latin typeface="Bodoni MT Black" panose="02070A03080606020203" pitchFamily="18" charset="0"/>
                <a:sym typeface="+mn-ea"/>
              </a:rPr>
              <a:t>符合成本和质量要求的、抽象的系统实现方案</a:t>
            </a:r>
            <a:r>
              <a:rPr lang="zh-CN" altLang="en-US" sz="2000" dirty="0">
                <a:latin typeface="Bodoni MT Black" panose="02070A03080606020203" pitchFamily="18" charset="0"/>
                <a:sym typeface="+mn-ea"/>
              </a:rPr>
              <a:t>的过程。</a:t>
            </a:r>
            <a:endParaRPr lang="zh-CN" altLang="en-US" sz="2000" dirty="0">
              <a:latin typeface="Bodoni MT Black" panose="02070A03080606020203" pitchFamily="18" charset="0"/>
              <a:sym typeface="+mn-ea"/>
            </a:endParaRPr>
          </a:p>
          <a:p>
            <a:pPr marL="0" indent="0" eaLnBrk="1" hangingPunct="1">
              <a:lnSpc>
                <a:spcPct val="170000"/>
              </a:lnSpc>
              <a:buNone/>
            </a:pPr>
            <a:r>
              <a:rPr lang="zh-CN" altLang="en-US" sz="2000" dirty="0" smtClean="0">
                <a:latin typeface="Bodoni MT Black" panose="02070A03080606020203" pitchFamily="18" charset="0"/>
                <a:sym typeface="+mn-ea"/>
              </a:rPr>
              <a:t>从</a:t>
            </a:r>
            <a:r>
              <a:rPr lang="zh-CN" altLang="en-US" sz="2000" dirty="0">
                <a:latin typeface="Bodoni MT Black" panose="02070A03080606020203" pitchFamily="18" charset="0"/>
                <a:sym typeface="+mn-ea"/>
              </a:rPr>
              <a:t>面向对象分析到</a:t>
            </a:r>
            <a:r>
              <a:rPr lang="zh-CN" altLang="en-US" sz="20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面向对象设</a:t>
            </a:r>
            <a:r>
              <a:rPr lang="zh-CN" altLang="en-US" sz="20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计（</a:t>
            </a:r>
            <a:r>
              <a:rPr lang="en-US" altLang="zh-CN" sz="20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OOD</a:t>
            </a:r>
            <a:r>
              <a:rPr lang="zh-CN" altLang="en-US" sz="20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）</a:t>
            </a:r>
            <a:r>
              <a:rPr lang="zh-CN" altLang="en-US" sz="2000" dirty="0" smtClean="0">
                <a:latin typeface="Bodoni MT Black" panose="02070A03080606020203" pitchFamily="18" charset="0"/>
                <a:sym typeface="+mn-ea"/>
              </a:rPr>
              <a:t>，</a:t>
            </a:r>
            <a:r>
              <a:rPr lang="zh-CN" altLang="en-US" sz="2000" dirty="0">
                <a:latin typeface="Bodoni MT Black" panose="02070A03080606020203" pitchFamily="18" charset="0"/>
                <a:sym typeface="+mn-ea"/>
              </a:rPr>
              <a:t>是一个逐渐扩充模型的过程。或者说，面向对象设计就是用面向对象观点建立</a:t>
            </a:r>
            <a:r>
              <a:rPr lang="zh-CN" altLang="en-US" sz="20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求解域</a:t>
            </a:r>
            <a:r>
              <a:rPr lang="zh-CN" altLang="en-US" sz="2000" dirty="0">
                <a:latin typeface="Bodoni MT Black" panose="02070A03080606020203" pitchFamily="18" charset="0"/>
                <a:sym typeface="+mn-ea"/>
              </a:rPr>
              <a:t>模型的过程。</a:t>
            </a:r>
            <a:endParaRPr lang="en-US" altLang="zh-CN" sz="2000" dirty="0">
              <a:latin typeface="Bodoni MT Black" panose="02070A03080606020203" pitchFamily="18" charset="0"/>
            </a:endParaRPr>
          </a:p>
          <a:p>
            <a:pPr eaLnBrk="1" hangingPunct="1"/>
            <a:endParaRPr lang="zh-CN" altLang="zh-CN" sz="2000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5"/>
          <p:cNvSpPr/>
          <p:nvPr userDrawn="1">
            <p:custDataLst>
              <p:tags r:id="rId1"/>
            </p:custDataLst>
          </p:nvPr>
        </p:nvSpPr>
        <p:spPr>
          <a:xfrm rot="10800000" flipH="1">
            <a:off x="-1" y="-1"/>
            <a:ext cx="3309257" cy="6858001"/>
          </a:xfrm>
          <a:custGeom>
            <a:avLst/>
            <a:gdLst>
              <a:gd name="connsiteX0" fmla="*/ 0 w 3309257"/>
              <a:gd name="connsiteY0" fmla="*/ 6858001 h 6858001"/>
              <a:gd name="connsiteX1" fmla="*/ 3309257 w 3309257"/>
              <a:gd name="connsiteY1" fmla="*/ 6858001 h 6858001"/>
              <a:gd name="connsiteX2" fmla="*/ 1718889 w 3309257"/>
              <a:gd name="connsiteY2" fmla="*/ 0 h 6858001"/>
              <a:gd name="connsiteX3" fmla="*/ 0 w 3309257"/>
              <a:gd name="connsiteY3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9257" h="6858001">
                <a:moveTo>
                  <a:pt x="0" y="6858001"/>
                </a:moveTo>
                <a:lnTo>
                  <a:pt x="3309257" y="6858001"/>
                </a:lnTo>
                <a:lnTo>
                  <a:pt x="171888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6"/>
          <p:cNvSpPr/>
          <p:nvPr userDrawn="1">
            <p:custDataLst>
              <p:tags r:id="rId2"/>
            </p:custDataLst>
          </p:nvPr>
        </p:nvSpPr>
        <p:spPr>
          <a:xfrm rot="11574254">
            <a:off x="2509618" y="-200140"/>
            <a:ext cx="971535" cy="7258276"/>
          </a:xfrm>
          <a:custGeom>
            <a:avLst/>
            <a:gdLst>
              <a:gd name="connsiteX0" fmla="*/ 0 w 971535"/>
              <a:gd name="connsiteY0" fmla="*/ 7258276 h 7258276"/>
              <a:gd name="connsiteX1" fmla="*/ 932891 w 971535"/>
              <a:gd name="connsiteY1" fmla="*/ 8853 h 7258276"/>
              <a:gd name="connsiteX2" fmla="*/ 971535 w 971535"/>
              <a:gd name="connsiteY2" fmla="*/ 0 h 7258276"/>
              <a:gd name="connsiteX3" fmla="*/ 971535 w 971535"/>
              <a:gd name="connsiteY3" fmla="*/ 7035689 h 725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535" h="7258276">
                <a:moveTo>
                  <a:pt x="0" y="7258276"/>
                </a:moveTo>
                <a:lnTo>
                  <a:pt x="932891" y="8853"/>
                </a:lnTo>
                <a:lnTo>
                  <a:pt x="971535" y="0"/>
                </a:lnTo>
                <a:lnTo>
                  <a:pt x="971535" y="703568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1743317" y="3937000"/>
            <a:ext cx="1393003" cy="2921000"/>
          </a:xfrm>
          <a:custGeom>
            <a:avLst/>
            <a:gdLst>
              <a:gd name="connsiteX0" fmla="*/ 1089482 w 1393003"/>
              <a:gd name="connsiteY0" fmla="*/ 0 h 2921000"/>
              <a:gd name="connsiteX1" fmla="*/ 1393003 w 1393003"/>
              <a:gd name="connsiteY1" fmla="*/ 2921000 h 2921000"/>
              <a:gd name="connsiteX2" fmla="*/ 0 w 1393003"/>
              <a:gd name="connsiteY2" fmla="*/ 2921000 h 292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3003" h="2921000">
                <a:moveTo>
                  <a:pt x="1089482" y="0"/>
                </a:moveTo>
                <a:lnTo>
                  <a:pt x="1393003" y="2921000"/>
                </a:lnTo>
                <a:lnTo>
                  <a:pt x="0" y="2921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82295" y="457200"/>
            <a:ext cx="1402080" cy="82994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480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rPr>
              <a:t>目录</a:t>
            </a:r>
            <a:endParaRPr lang="zh-CN" altLang="en-US" sz="4800">
              <a:solidFill>
                <a:schemeClr val="bg1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645795" y="1224915"/>
            <a:ext cx="1598295" cy="4000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CONTENTS</a:t>
            </a:r>
            <a:endParaRPr lang="en-US" altLang="zh-CN" sz="200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3675380" y="1788160"/>
            <a:ext cx="3927489" cy="3490595"/>
            <a:chOff x="8623" y="225"/>
            <a:chExt cx="6231" cy="5497"/>
          </a:xfrm>
        </p:grpSpPr>
        <p:grpSp>
          <p:nvGrpSpPr>
            <p:cNvPr id="7" name="组合 6"/>
            <p:cNvGrpSpPr/>
            <p:nvPr/>
          </p:nvGrpSpPr>
          <p:grpSpPr>
            <a:xfrm>
              <a:off x="8623" y="225"/>
              <a:ext cx="6227" cy="746"/>
              <a:chOff x="7393" y="1479"/>
              <a:chExt cx="6227" cy="746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28" name="文本框 27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1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" name="组合 4"/>
                <p:cNvGrpSpPr/>
                <p:nvPr>
                  <p:custDataLst>
                    <p:tags r:id="rId7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34" name="任意多边形: 形状 33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35" name="等腰三角形 34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13" name="文本框 1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013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面向对象设计的准则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8624" y="1110"/>
              <a:ext cx="6227" cy="746"/>
              <a:chOff x="7393" y="1479"/>
              <a:chExt cx="6227" cy="746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12" name="文本框 11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2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4" name="组合 13"/>
                <p:cNvGrpSpPr/>
                <p:nvPr>
                  <p:custDataLst>
                    <p:tags r:id="rId12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15" name="任意多边形: 形状 33"/>
                  <p:cNvSpPr/>
                  <p:nvPr>
                    <p:custDataLst>
                      <p:tags r:id="rId13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16" name="等腰三角形 15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17" name="文本框 1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9013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启发规则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8624" y="2077"/>
              <a:ext cx="6227" cy="746"/>
              <a:chOff x="7393" y="1479"/>
              <a:chExt cx="6227" cy="746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20" name="文本框 19"/>
                <p:cNvSpPr txBox="1"/>
                <p:nvPr>
                  <p:custDataLst>
                    <p:tags r:id="rId16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3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1" name="组合 20"/>
                <p:cNvGrpSpPr/>
                <p:nvPr>
                  <p:custDataLst>
                    <p:tags r:id="rId17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22" name="任意多边形: 形状 33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23" name="等腰三角形 22"/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2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013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软件重用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8625" y="3044"/>
              <a:ext cx="6227" cy="746"/>
              <a:chOff x="7393" y="1479"/>
              <a:chExt cx="6227" cy="746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27" name="文本框 26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4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9" name="组合 28"/>
                <p:cNvGrpSpPr/>
                <p:nvPr>
                  <p:custDataLst>
                    <p:tags r:id="rId22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30" name="任意多边形: 形状 33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31" name="等腰三角形 30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32" name="文本框 31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9013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系统分解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8626" y="4010"/>
              <a:ext cx="6227" cy="746"/>
              <a:chOff x="7393" y="1479"/>
              <a:chExt cx="6227" cy="746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37" name="文本框 36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5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组合 37"/>
                <p:cNvGrpSpPr/>
                <p:nvPr>
                  <p:custDataLst>
                    <p:tags r:id="rId27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39" name="任意多边形: 形状 33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0" name="等腰三角形 39"/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41" name="文本框 40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9013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设计问题域子系统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8627" y="4976"/>
              <a:ext cx="6227" cy="746"/>
              <a:chOff x="7393" y="1479"/>
              <a:chExt cx="6227" cy="746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44" name="文本框 43"/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6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5" name="组合 44"/>
                <p:cNvGrpSpPr/>
                <p:nvPr>
                  <p:custDataLst>
                    <p:tags r:id="rId32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46" name="任意多边形: 形状 33"/>
                  <p:cNvSpPr/>
                  <p:nvPr>
                    <p:custDataLst>
                      <p:tags r:id="rId33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47" name="等腰三角形 46"/>
                  <p:cNvSpPr/>
                  <p:nvPr>
                    <p:custDataLst>
                      <p:tags r:id="rId34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48" name="文本框 47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9013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设计人机交互系统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</p:grpSp>
      <p:grpSp>
        <p:nvGrpSpPr>
          <p:cNvPr id="84" name="组合 83"/>
          <p:cNvGrpSpPr/>
          <p:nvPr/>
        </p:nvGrpSpPr>
        <p:grpSpPr>
          <a:xfrm>
            <a:off x="7979410" y="1783080"/>
            <a:ext cx="3972560" cy="2844800"/>
            <a:chOff x="8628" y="6025"/>
            <a:chExt cx="6256" cy="4480"/>
          </a:xfrm>
        </p:grpSpPr>
        <p:grpSp>
          <p:nvGrpSpPr>
            <p:cNvPr id="49" name="组合 48"/>
            <p:cNvGrpSpPr/>
            <p:nvPr/>
          </p:nvGrpSpPr>
          <p:grpSpPr>
            <a:xfrm>
              <a:off x="8628" y="6025"/>
              <a:ext cx="6253" cy="746"/>
              <a:chOff x="7393" y="1479"/>
              <a:chExt cx="6253" cy="746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51" name="文本框 50"/>
                <p:cNvSpPr txBox="1"/>
                <p:nvPr>
                  <p:custDataLst>
                    <p:tags r:id="rId36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7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2" name="组合 51"/>
                <p:cNvGrpSpPr/>
                <p:nvPr>
                  <p:custDataLst>
                    <p:tags r:id="rId37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53" name="任意多边形: 形状 33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54" name="等腰三角形 53"/>
                  <p:cNvSpPr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55" name="文本框 54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9039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设计任务管理子系统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8629" y="6992"/>
              <a:ext cx="6253" cy="746"/>
              <a:chOff x="7393" y="1479"/>
              <a:chExt cx="6253" cy="746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58" name="文本框 57"/>
                <p:cNvSpPr txBox="1"/>
                <p:nvPr>
                  <p:custDataLst>
                    <p:tags r:id="rId41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8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9" name="组合 58"/>
                <p:cNvGrpSpPr/>
                <p:nvPr>
                  <p:custDataLst>
                    <p:tags r:id="rId42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60" name="任意多边形: 形状 33"/>
                  <p:cNvSpPr/>
                  <p:nvPr>
                    <p:custDataLst>
                      <p:tags r:id="rId43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61" name="等腰三角形 60"/>
                  <p:cNvSpPr/>
                  <p:nvPr>
                    <p:custDataLst>
                      <p:tags r:id="rId44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62" name="文本框 61"/>
              <p:cNvSpPr txBox="1"/>
              <p:nvPr>
                <p:custDataLst>
                  <p:tags r:id="rId45"/>
                </p:custDataLst>
              </p:nvPr>
            </p:nvSpPr>
            <p:spPr>
              <a:xfrm>
                <a:off x="9039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设计数据管理子系统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8629" y="7959"/>
              <a:ext cx="6253" cy="746"/>
              <a:chOff x="7393" y="1479"/>
              <a:chExt cx="6253" cy="746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65" name="文本框 64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9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6" name="组合 65"/>
                <p:cNvGrpSpPr/>
                <p:nvPr>
                  <p:custDataLst>
                    <p:tags r:id="rId47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67" name="任意多边形: 形状 33"/>
                  <p:cNvSpPr/>
                  <p:nvPr>
                    <p:custDataLst>
                      <p:tags r:id="rId48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68" name="等腰三角形 67"/>
                  <p:cNvSpPr/>
                  <p:nvPr>
                    <p:custDataLst>
                      <p:tags r:id="rId49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69" name="文本框 68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9039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设计类中的服务</a:t>
                </a:r>
                <a:endParaRPr lang="zh-CN" altLang="en-US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8630" y="8874"/>
              <a:ext cx="6253" cy="746"/>
              <a:chOff x="7393" y="1479"/>
              <a:chExt cx="6253" cy="746"/>
            </a:xfrm>
          </p:grpSpPr>
          <p:grpSp>
            <p:nvGrpSpPr>
              <p:cNvPr id="71" name="组合 70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72" name="文本框 71"/>
                <p:cNvSpPr txBox="1"/>
                <p:nvPr>
                  <p:custDataLst>
                    <p:tags r:id="rId51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10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73" name="组合 72"/>
                <p:cNvGrpSpPr/>
                <p:nvPr>
                  <p:custDataLst>
                    <p:tags r:id="rId52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74" name="任意多边形: 形状 33"/>
                  <p:cNvSpPr/>
                  <p:nvPr>
                    <p:custDataLst>
                      <p:tags r:id="rId53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75" name="等腰三角形 74"/>
                  <p:cNvSpPr/>
                  <p:nvPr>
                    <p:custDataLst>
                      <p:tags r:id="rId54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76" name="文本框 75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9039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设计关联</a:t>
                </a:r>
                <a:endParaRPr lang="en-US" altLang="zh-CN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8631" y="9759"/>
              <a:ext cx="6253" cy="746"/>
              <a:chOff x="7393" y="1479"/>
              <a:chExt cx="6253" cy="746"/>
            </a:xfrm>
          </p:grpSpPr>
          <p:grpSp>
            <p:nvGrpSpPr>
              <p:cNvPr id="78" name="组合 77"/>
              <p:cNvGrpSpPr/>
              <p:nvPr/>
            </p:nvGrpSpPr>
            <p:grpSpPr>
              <a:xfrm>
                <a:off x="7393" y="1560"/>
                <a:ext cx="1656" cy="664"/>
                <a:chOff x="7393" y="1560"/>
                <a:chExt cx="1656" cy="664"/>
              </a:xfrm>
            </p:grpSpPr>
            <p:sp>
              <p:nvSpPr>
                <p:cNvPr id="79" name="文本框 78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8205" y="1560"/>
                  <a:ext cx="844" cy="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p>
                  <a:r>
                    <a:rPr lang="en-US" altLang="zh-CN" sz="2000" b="1" dirty="0">
                      <a:solidFill>
                        <a:schemeClr val="accent2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11</a:t>
                  </a:r>
                  <a:endParaRPr lang="en-US" altLang="zh-CN" sz="2000" b="1" dirty="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0" name="组合 79"/>
                <p:cNvGrpSpPr/>
                <p:nvPr>
                  <p:custDataLst>
                    <p:tags r:id="rId57"/>
                  </p:custDataLst>
                </p:nvPr>
              </p:nvGrpSpPr>
              <p:grpSpPr>
                <a:xfrm>
                  <a:off x="7393" y="1595"/>
                  <a:ext cx="447" cy="557"/>
                  <a:chOff x="9072" y="2431"/>
                  <a:chExt cx="440" cy="548"/>
                </a:xfrm>
              </p:grpSpPr>
              <p:sp>
                <p:nvSpPr>
                  <p:cNvPr id="81" name="任意多边形: 形状 33"/>
                  <p:cNvSpPr/>
                  <p:nvPr>
                    <p:custDataLst>
                      <p:tags r:id="rId58"/>
                    </p:custDataLst>
                  </p:nvPr>
                </p:nvSpPr>
                <p:spPr>
                  <a:xfrm rot="697528">
                    <a:off x="9072" y="2431"/>
                    <a:ext cx="390" cy="548"/>
                  </a:xfrm>
                  <a:custGeom>
                    <a:avLst/>
                    <a:gdLst>
                      <a:gd name="connsiteX0" fmla="*/ 1399913 w 1399913"/>
                      <a:gd name="connsiteY0" fmla="*/ 0 h 1966165"/>
                      <a:gd name="connsiteX1" fmla="*/ 1399913 w 1399913"/>
                      <a:gd name="connsiteY1" fmla="*/ 1678156 h 1966165"/>
                      <a:gd name="connsiteX2" fmla="*/ 0 w 1399913"/>
                      <a:gd name="connsiteY2" fmla="*/ 1966165 h 19661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99913" h="1966165">
                        <a:moveTo>
                          <a:pt x="1399913" y="0"/>
                        </a:moveTo>
                        <a:lnTo>
                          <a:pt x="1399913" y="1678156"/>
                        </a:lnTo>
                        <a:lnTo>
                          <a:pt x="0" y="1966165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p>
                    <a:pPr algn="ctr"/>
                    <a:endParaRPr lang="zh-CN" alt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  <p:sp>
                <p:nvSpPr>
                  <p:cNvPr id="82" name="等腰三角形 81"/>
                  <p:cNvSpPr/>
                  <p:nvPr>
                    <p:custDataLst>
                      <p:tags r:id="rId59"/>
                    </p:custDataLst>
                  </p:nvPr>
                </p:nvSpPr>
                <p:spPr>
                  <a:xfrm>
                    <a:off x="9170" y="2474"/>
                    <a:ext cx="343" cy="460"/>
                  </a:xfrm>
                  <a:prstGeom prst="triangle">
                    <a:avLst>
                      <a:gd name="adj" fmla="val 10000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rmAutofit/>
                  </a:bodyPr>
                  <a:p>
                    <a:pPr algn="ctr"/>
                    <a:endParaRPr lang="zh-CN" altLang="en-US" sz="2000" b="1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83" name="文本框 82"/>
              <p:cNvSpPr txBox="1"/>
              <p:nvPr>
                <p:custDataLst>
                  <p:tags r:id="rId60"/>
                </p:custDataLst>
              </p:nvPr>
            </p:nvSpPr>
            <p:spPr>
              <a:xfrm>
                <a:off x="9039" y="1479"/>
                <a:ext cx="4607" cy="746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p>
                <a:r>
                  <a:rPr lang="zh-CN" altLang="en-US" sz="2000" b="1" spc="150">
                    <a:solidFill>
                      <a:schemeClr val="accent2"/>
                    </a:solidFill>
                    <a:latin typeface="Arial" panose="020B0604020202020204" pitchFamily="34" charset="0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设计优化</a:t>
                </a:r>
                <a:endParaRPr lang="en-US" altLang="zh-CN" sz="2000" b="1" spc="150">
                  <a:solidFill>
                    <a:schemeClr val="accent2"/>
                  </a:solidFill>
                  <a:latin typeface="Arial" panose="020B0604020202020204" pitchFamily="34" charset="0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</p:grpSp>
      </p:grpSp>
    </p:spTree>
    <p:custDataLst>
      <p:tags r:id="rId6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+mj-ea"/>
                <a:ea typeface="+mj-ea"/>
              </a:rPr>
              <a:t>面向对象设计的准则</a:t>
            </a:r>
            <a:endParaRPr lang="zh-CN" altLang="en-US" sz="2400" spc="200" dirty="0">
              <a:solidFill>
                <a:srgbClr val="55D5FF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8750" y="1256030"/>
            <a:ext cx="4549140" cy="143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 algn="l">
              <a:lnSpc>
                <a:spcPct val="160000"/>
              </a:lnSpc>
              <a:buClrTx/>
              <a:buSzTx/>
              <a:buFontTx/>
              <a:defRPr/>
            </a:pPr>
            <a:r>
              <a:rPr lang="zh-CN" sz="1400" b="1" dirty="0" smtClean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所谓优秀设计</a:t>
            </a:r>
            <a:r>
              <a:rPr lang="zh-CN" sz="1400" b="1" dirty="0" smtClean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就是权衡了各种因素，从而使得系统在其整个生命周期中的</a:t>
            </a:r>
            <a:r>
              <a:rPr lang="zh-CN" sz="1400" b="1" dirty="0" smtClean="0">
                <a:solidFill>
                  <a:srgbClr val="FFFF00"/>
                </a:solidFill>
                <a:latin typeface="+mj-ea"/>
                <a:ea typeface="+mj-ea"/>
                <a:cs typeface="+mj-ea"/>
                <a:sym typeface="+mn-ea"/>
              </a:rPr>
              <a:t>总开销最小</a:t>
            </a:r>
            <a:r>
              <a:rPr lang="zh-CN" sz="1400" b="1" dirty="0" smtClean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的设计，对大多数软件系统而言，</a:t>
            </a:r>
            <a:r>
              <a:rPr lang="en-US" altLang="zh-CN" sz="1400" b="1" dirty="0" smtClean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60%</a:t>
            </a:r>
            <a:r>
              <a:rPr lang="zh-CN" altLang="en-US" sz="1400" b="1" dirty="0" smtClean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以上的软件费用都用于软件维护，因此优秀软件设计的一个主要特点就是</a:t>
            </a:r>
            <a:r>
              <a:rPr lang="zh-CN" altLang="en-US" sz="1400" b="1" dirty="0" smtClean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容易维护</a:t>
            </a:r>
            <a:r>
              <a:rPr lang="zh-CN" altLang="en-US" sz="1400" b="1" dirty="0" smtClean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。</a:t>
            </a:r>
            <a:endParaRPr lang="zh-CN" altLang="en-US" sz="1400" b="1" dirty="0" smtClean="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" y="2949575"/>
            <a:ext cx="4819015" cy="1549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椭圆 3"/>
          <p:cNvSpPr/>
          <p:nvPr/>
        </p:nvSpPr>
        <p:spPr>
          <a:xfrm>
            <a:off x="869315" y="4638040"/>
            <a:ext cx="923290" cy="9023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模块化</a:t>
            </a:r>
            <a:endParaRPr lang="zh-CN" altLang="en-US" sz="1200" b="1"/>
          </a:p>
        </p:txBody>
      </p:sp>
      <p:sp>
        <p:nvSpPr>
          <p:cNvPr id="5" name="椭圆 4"/>
          <p:cNvSpPr/>
          <p:nvPr/>
        </p:nvSpPr>
        <p:spPr>
          <a:xfrm>
            <a:off x="2479040" y="5294630"/>
            <a:ext cx="714375" cy="6680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200" b="1"/>
              <a:t>抽象</a:t>
            </a:r>
            <a:endParaRPr lang="zh-CN" altLang="en-US" sz="1200" b="1"/>
          </a:p>
        </p:txBody>
      </p:sp>
      <p:sp>
        <p:nvSpPr>
          <p:cNvPr id="6" name="椭圆 5"/>
          <p:cNvSpPr/>
          <p:nvPr/>
        </p:nvSpPr>
        <p:spPr>
          <a:xfrm>
            <a:off x="1947545" y="4625340"/>
            <a:ext cx="921385" cy="8775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强内聚</a:t>
            </a:r>
            <a:endParaRPr lang="zh-CN" altLang="en-US" sz="1200" b="1"/>
          </a:p>
        </p:txBody>
      </p:sp>
      <p:sp>
        <p:nvSpPr>
          <p:cNvPr id="8" name="椭圆 7"/>
          <p:cNvSpPr/>
          <p:nvPr/>
        </p:nvSpPr>
        <p:spPr>
          <a:xfrm>
            <a:off x="3317875" y="5426710"/>
            <a:ext cx="923290" cy="90233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弱耦合</a:t>
            </a:r>
            <a:endParaRPr lang="en-US" altLang="zh-CN" sz="1200" b="1"/>
          </a:p>
        </p:txBody>
      </p:sp>
      <p:sp>
        <p:nvSpPr>
          <p:cNvPr id="10" name="椭圆 9"/>
          <p:cNvSpPr/>
          <p:nvPr/>
        </p:nvSpPr>
        <p:spPr>
          <a:xfrm>
            <a:off x="1681480" y="5593715"/>
            <a:ext cx="1165860" cy="1147445"/>
          </a:xfrm>
          <a:prstGeom prst="ellipse">
            <a:avLst/>
          </a:prstGeom>
          <a:solidFill>
            <a:srgbClr val="45DB7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信息隐藏</a:t>
            </a:r>
            <a:endParaRPr lang="en-US" altLang="zh-CN" sz="1200" b="1"/>
          </a:p>
        </p:txBody>
      </p:sp>
      <p:sp>
        <p:nvSpPr>
          <p:cNvPr id="11" name="矩形 10"/>
          <p:cNvSpPr/>
          <p:nvPr/>
        </p:nvSpPr>
        <p:spPr>
          <a:xfrm>
            <a:off x="2321560" y="2854325"/>
            <a:ext cx="1685925" cy="11430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574040" y="5762625"/>
            <a:ext cx="923290" cy="90233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/>
              <a:t>可重用</a:t>
            </a:r>
            <a:endParaRPr lang="zh-CN" altLang="en-US" sz="1200" b="1"/>
          </a:p>
        </p:txBody>
      </p:sp>
      <p:sp>
        <p:nvSpPr>
          <p:cNvPr id="25" name="文本框 24"/>
          <p:cNvSpPr txBox="1"/>
          <p:nvPr/>
        </p:nvSpPr>
        <p:spPr>
          <a:xfrm>
            <a:off x="4917440" y="298450"/>
            <a:ext cx="7105015" cy="936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28600" indent="-228600">
              <a:lnSpc>
                <a:spcPct val="210000"/>
              </a:lnSpc>
              <a:buFont typeface="+mj-ea"/>
              <a:buAutoNum type="circleNumDbPlain"/>
            </a:pPr>
            <a:r>
              <a:rPr lang="zh-CN" altLang="en-US" sz="1200" b="1">
                <a:solidFill>
                  <a:srgbClr val="FF0000"/>
                </a:solidFill>
                <a:highlight>
                  <a:srgbClr val="00FF00"/>
                </a:highlight>
                <a:latin typeface="+mn-ea"/>
              </a:rPr>
              <a:t>模块化</a:t>
            </a:r>
            <a:endParaRPr lang="zh-CN" altLang="en-US" sz="1200" b="1">
              <a:solidFill>
                <a:srgbClr val="FF0000"/>
              </a:solidFill>
              <a:highlight>
                <a:srgbClr val="00FF00"/>
              </a:highlight>
              <a:latin typeface="+mn-ea"/>
            </a:endParaRPr>
          </a:p>
          <a:p>
            <a:pPr indent="0">
              <a:lnSpc>
                <a:spcPct val="210000"/>
              </a:lnSpc>
              <a:buFont typeface="+mj-ea"/>
              <a:buNone/>
            </a:pPr>
            <a:r>
              <a:rPr lang="en-US" altLang="zh-CN" sz="1200" dirty="0">
                <a:solidFill>
                  <a:schemeClr val="tx1"/>
                </a:solidFill>
                <a:latin typeface="+mn-ea"/>
                <a:sym typeface="+mn-ea"/>
              </a:rPr>
              <a:t>    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+mn-ea"/>
              </a:rPr>
              <a:t>对象就是模块，它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把数据结构和操作这些数据的方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法紧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密地结合在一起。</a:t>
            </a:r>
            <a:endParaRPr lang="zh-CN" altLang="en-US" sz="12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 startAt="2"/>
            </a:pPr>
            <a:r>
              <a:rPr lang="zh-CN" altLang="en-US" sz="1200" b="1">
                <a:solidFill>
                  <a:srgbClr val="FF0000"/>
                </a:solidFill>
                <a:highlight>
                  <a:srgbClr val="00FF00"/>
                </a:highlight>
                <a:latin typeface="+mn-ea"/>
                <a:sym typeface="+mn-ea"/>
              </a:rPr>
              <a:t>抽象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+mn-ea"/>
              </a:rPr>
              <a:t>：</a:t>
            </a:r>
            <a:endParaRPr lang="zh-CN" altLang="en-US" sz="1200" dirty="0">
              <a:solidFill>
                <a:schemeClr val="tx1"/>
              </a:solidFill>
              <a:latin typeface="+mn-ea"/>
              <a:sym typeface="+mn-ea"/>
            </a:endParaRPr>
          </a:p>
          <a:p>
            <a:pPr indent="0">
              <a:lnSpc>
                <a:spcPct val="210000"/>
              </a:lnSpc>
              <a:buFont typeface="+mj-ea"/>
              <a:buNone/>
            </a:pPr>
            <a:r>
              <a:rPr lang="en-US" altLang="zh-CN" sz="1200" dirty="0">
                <a:solidFill>
                  <a:schemeClr val="tx1"/>
                </a:solidFill>
                <a:latin typeface="+mn-ea"/>
                <a:sym typeface="+mn-ea"/>
              </a:rPr>
              <a:t>    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+mn-ea"/>
              </a:rPr>
              <a:t>过程抽象、数据抽象（类）、参数化抽象（</a:t>
            </a:r>
            <a:r>
              <a:rPr lang="en-US" altLang="zh-CN" sz="1200" dirty="0">
                <a:solidFill>
                  <a:schemeClr val="tx1"/>
                </a:solidFill>
                <a:latin typeface="+mn-ea"/>
                <a:sym typeface="+mn-ea"/>
              </a:rPr>
              <a:t>C++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+mn-ea"/>
              </a:rPr>
              <a:t>模版）。</a:t>
            </a:r>
            <a:endParaRPr lang="zh-CN" altLang="en-US" sz="1200" dirty="0">
              <a:solidFill>
                <a:schemeClr val="tx1"/>
              </a:solidFill>
              <a:latin typeface="+mn-ea"/>
              <a:sym typeface="+mn-ea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 startAt="3"/>
            </a:pPr>
            <a:r>
              <a:rPr lang="zh-CN" altLang="en-US" sz="1200" b="1">
                <a:solidFill>
                  <a:srgbClr val="FF0000"/>
                </a:solidFill>
                <a:highlight>
                  <a:srgbClr val="00FF00"/>
                </a:highlight>
                <a:latin typeface="+mn-ea"/>
                <a:sym typeface="+mn-ea"/>
              </a:rPr>
              <a:t>信息隐藏</a:t>
            </a:r>
            <a:r>
              <a:rPr lang="zh-CN" altLang="en-US" sz="1200" dirty="0">
                <a:solidFill>
                  <a:schemeClr val="tx1"/>
                </a:solidFill>
                <a:latin typeface="+mn-ea"/>
                <a:sym typeface="+mn-ea"/>
              </a:rPr>
              <a:t>：</a:t>
            </a:r>
            <a:endParaRPr lang="zh-CN" altLang="en-US" sz="1200" dirty="0">
              <a:solidFill>
                <a:schemeClr val="tx1"/>
              </a:solidFill>
              <a:latin typeface="+mn-ea"/>
              <a:sym typeface="+mn-ea"/>
            </a:endParaRPr>
          </a:p>
          <a:p>
            <a:pPr indent="0">
              <a:lnSpc>
                <a:spcPct val="210000"/>
              </a:lnSpc>
              <a:buFont typeface="+mj-ea"/>
              <a:buNone/>
            </a:pPr>
            <a:r>
              <a:rPr lang="en-US" altLang="zh-CN" sz="1200">
                <a:latin typeface="Bodoni MT Black" panose="02070A03080606020203" pitchFamily="18" charset="0"/>
                <a:sym typeface="+mn-ea"/>
              </a:rPr>
              <a:t>    </a:t>
            </a:r>
            <a:r>
              <a:rPr lang="zh-CN" altLang="en-US" sz="1200">
                <a:latin typeface="Bodoni MT Black" panose="02070A03080606020203" pitchFamily="18" charset="0"/>
                <a:sym typeface="+mn-ea"/>
              </a:rPr>
              <a:t>通过对象的封装性实现，</a:t>
            </a:r>
            <a:r>
              <a:rPr lang="zh-CN" altLang="zh-CN" sz="1200">
                <a:latin typeface="Bodoni MT Black" panose="02070A03080606020203" pitchFamily="18" charset="0"/>
                <a:sym typeface="+mn-ea"/>
              </a:rPr>
              <a:t>类分离了接口与实现，支持信息隐藏。</a:t>
            </a:r>
            <a:endParaRPr lang="zh-CN" altLang="zh-CN" sz="1200">
              <a:latin typeface="Bodoni MT Black" panose="02070A03080606020203" pitchFamily="18" charset="0"/>
              <a:sym typeface="+mn-ea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 startAt="4"/>
            </a:pPr>
            <a:r>
              <a:rPr lang="zh-CN" altLang="en-US" sz="1200" b="1">
                <a:solidFill>
                  <a:srgbClr val="FF0000"/>
                </a:solidFill>
                <a:highlight>
                  <a:srgbClr val="00FF00"/>
                </a:highlight>
                <a:latin typeface="+mn-ea"/>
                <a:sym typeface="+mn-ea"/>
              </a:rPr>
              <a:t>弱耦合</a:t>
            </a:r>
            <a:r>
              <a:rPr lang="zh-CN" altLang="zh-CN" sz="1200">
                <a:latin typeface="Bodoni MT Black" panose="02070A03080606020203" pitchFamily="18" charset="0"/>
                <a:sym typeface="+mn-ea"/>
              </a:rPr>
              <a:t>：</a:t>
            </a:r>
            <a:endParaRPr lang="zh-CN" altLang="zh-CN" sz="1200">
              <a:latin typeface="Bodoni MT Black" panose="02070A03080606020203" pitchFamily="18" charset="0"/>
              <a:sym typeface="+mn-ea"/>
            </a:endParaRPr>
          </a:p>
          <a:p>
            <a:pPr indent="0">
              <a:lnSpc>
                <a:spcPct val="210000"/>
              </a:lnSpc>
              <a:buFont typeface="+mj-ea"/>
              <a:buNone/>
            </a:pPr>
            <a:r>
              <a:rPr lang="en-US" altLang="zh-CN" sz="1200">
                <a:latin typeface="Bodoni MT Black" panose="02070A03080606020203" pitchFamily="18" charset="0"/>
                <a:sym typeface="+mn-ea"/>
              </a:rPr>
              <a:t>    </a:t>
            </a:r>
            <a:r>
              <a:rPr lang="zh-CN" altLang="zh-CN" sz="1200">
                <a:latin typeface="Bodoni MT Black" panose="02070A03080606020203" pitchFamily="18" charset="0"/>
                <a:sym typeface="+mn-ea"/>
              </a:rPr>
              <a:t>耦合是指</a:t>
            </a:r>
            <a:r>
              <a:rPr lang="zh-CN" altLang="zh-CN" sz="1200" dirty="0">
                <a:latin typeface="Bodoni MT Black" panose="02070A03080606020203" pitchFamily="18" charset="0"/>
                <a:sym typeface="+mn-ea"/>
              </a:rPr>
              <a:t>一个软件结构内不同模块之间互连的紧密程度。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弱耦合：</a:t>
            </a:r>
            <a:r>
              <a:rPr lang="zh-CN" altLang="zh-CN" sz="1200" dirty="0">
                <a:latin typeface="Bodoni MT Black" panose="02070A03080606020203" pitchFamily="18" charset="0"/>
                <a:sym typeface="+mn-ea"/>
              </a:rPr>
              <a:t>系统中某一部分的变化对其他部分的影响降到最低程度，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对象之间的耦合包括</a:t>
            </a:r>
            <a:r>
              <a:rPr lang="zh-CN" altLang="zh-CN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交互耦合</a:t>
            </a:r>
            <a:r>
              <a:rPr lang="en-US" altLang="zh-CN" sz="1200" dirty="0">
                <a:latin typeface="Bodoni MT Black" panose="02070A03080606020203" pitchFamily="18" charset="0"/>
                <a:sym typeface="+mn-ea"/>
              </a:rPr>
              <a:t>&amp;</a:t>
            </a:r>
            <a:r>
              <a:rPr lang="zh-CN" altLang="zh-CN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继承耦合</a:t>
            </a:r>
            <a:endParaRPr lang="zh-CN" altLang="zh-CN" sz="1200" dirty="0">
              <a:solidFill>
                <a:srgbClr val="FF0000"/>
              </a:solidFill>
              <a:latin typeface="Bodoni MT Black" panose="02070A03080606020203" pitchFamily="18" charset="0"/>
              <a:sym typeface="+mn-ea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 startAt="5"/>
            </a:pPr>
            <a:r>
              <a:rPr lang="zh-CN" altLang="en-US" sz="1200" b="1">
                <a:solidFill>
                  <a:srgbClr val="FF0000"/>
                </a:solidFill>
                <a:highlight>
                  <a:srgbClr val="00FF00"/>
                </a:highlight>
                <a:latin typeface="+mn-ea"/>
                <a:sym typeface="+mn-ea"/>
              </a:rPr>
              <a:t>强内聚</a:t>
            </a:r>
            <a:r>
              <a:rPr lang="zh-CN" altLang="zh-CN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：</a:t>
            </a:r>
            <a:endParaRPr lang="zh-CN" altLang="zh-CN" sz="1200" dirty="0">
              <a:solidFill>
                <a:srgbClr val="FF0000"/>
              </a:solidFill>
              <a:latin typeface="Bodoni MT Black" panose="02070A03080606020203" pitchFamily="18" charset="0"/>
              <a:sym typeface="+mn-ea"/>
            </a:endParaRPr>
          </a:p>
          <a:p>
            <a:pPr indent="0">
              <a:lnSpc>
                <a:spcPct val="210000"/>
              </a:lnSpc>
              <a:buFont typeface="+mj-ea"/>
              <a:buNone/>
            </a:pPr>
            <a:r>
              <a:rPr lang="en-US" altLang="zh-CN" sz="1200" dirty="0">
                <a:latin typeface="Bodoni MT Black" panose="02070A03080606020203" pitchFamily="18" charset="0"/>
                <a:sym typeface="+mn-ea"/>
              </a:rPr>
              <a:t>    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内聚衡量一个模块内各个元素彼此结合的紧密程度，在设计时应该力求做到高内聚。</a:t>
            </a:r>
            <a:r>
              <a:rPr lang="zh-CN" altLang="zh-CN" sz="1200" dirty="0">
                <a:latin typeface="Bodoni MT Black" panose="02070A03080606020203" pitchFamily="18" charset="0"/>
                <a:sym typeface="+mn-ea"/>
              </a:rPr>
              <a:t>面向对象设计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的</a:t>
            </a:r>
            <a:r>
              <a:rPr lang="en-US" altLang="zh-CN" sz="1200" dirty="0">
                <a:latin typeface="Bodoni MT Black" panose="02070A03080606020203" pitchFamily="18" charset="0"/>
                <a:sym typeface="+mn-ea"/>
              </a:rPr>
              <a:t>3</a:t>
            </a:r>
            <a:r>
              <a:rPr lang="zh-CN" altLang="zh-CN" sz="1200" dirty="0">
                <a:latin typeface="Bodoni MT Black" panose="02070A03080606020203" pitchFamily="18" charset="0"/>
                <a:sym typeface="+mn-ea"/>
              </a:rPr>
              <a:t>种内聚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：</a:t>
            </a:r>
            <a:r>
              <a:rPr lang="zh-CN" altLang="zh-CN" sz="12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服务内聚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、</a:t>
            </a:r>
            <a:r>
              <a:rPr lang="zh-CN" altLang="zh-CN" sz="12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类内聚</a:t>
            </a:r>
            <a:r>
              <a:rPr lang="zh-CN" altLang="en-US" sz="1200" dirty="0" smtClean="0">
                <a:latin typeface="Bodoni MT Black" panose="02070A03080606020203" pitchFamily="18" charset="0"/>
                <a:sym typeface="+mn-ea"/>
              </a:rPr>
              <a:t>、</a:t>
            </a:r>
            <a:r>
              <a:rPr lang="zh-CN" altLang="zh-CN" sz="12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一般</a:t>
            </a:r>
            <a:r>
              <a:rPr lang="en-US" altLang="zh-CN" sz="12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\</a:t>
            </a:r>
            <a:r>
              <a:rPr lang="zh-CN" altLang="zh-CN" sz="12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特殊内聚</a:t>
            </a:r>
            <a:endParaRPr lang="zh-CN" altLang="zh-CN" sz="1200" dirty="0" smtClean="0">
              <a:solidFill>
                <a:srgbClr val="FF0000"/>
              </a:solidFill>
              <a:latin typeface="Bodoni MT Black" panose="02070A03080606020203" pitchFamily="18" charset="0"/>
              <a:sym typeface="+mn-ea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 startAt="6"/>
            </a:pPr>
            <a:r>
              <a:rPr lang="zh-CN" altLang="en-US" sz="1200" b="1">
                <a:solidFill>
                  <a:srgbClr val="FF0000"/>
                </a:solidFill>
                <a:highlight>
                  <a:srgbClr val="00FF00"/>
                </a:highlight>
                <a:latin typeface="+mn-ea"/>
                <a:sym typeface="+mn-ea"/>
              </a:rPr>
              <a:t>可重用</a:t>
            </a:r>
            <a:r>
              <a:rPr lang="zh-CN" altLang="zh-CN" sz="1200" dirty="0" smtClean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：</a:t>
            </a:r>
            <a:endParaRPr lang="zh-CN" altLang="zh-CN" sz="1200" dirty="0" smtClean="0">
              <a:solidFill>
                <a:srgbClr val="FF0000"/>
              </a:solidFill>
              <a:latin typeface="Bodoni MT Black" panose="02070A03080606020203" pitchFamily="18" charset="0"/>
              <a:sym typeface="+mn-ea"/>
            </a:endParaRPr>
          </a:p>
          <a:p>
            <a:pPr indent="0">
              <a:lnSpc>
                <a:spcPct val="210000"/>
              </a:lnSpc>
              <a:buFont typeface="+mj-ea"/>
              <a:buNone/>
            </a:pPr>
            <a:r>
              <a:rPr lang="en-US" altLang="zh-CN" sz="1200">
                <a:latin typeface="Bodoni MT Black" panose="02070A03080606020203" pitchFamily="18" charset="0"/>
                <a:sym typeface="+mn-ea"/>
              </a:rPr>
              <a:t>    </a:t>
            </a:r>
            <a:r>
              <a:rPr lang="zh-CN" altLang="en-US" sz="1200">
                <a:latin typeface="Bodoni MT Black" panose="02070A03080606020203" pitchFamily="18" charset="0"/>
                <a:sym typeface="+mn-ea"/>
              </a:rPr>
              <a:t>尽量使用已有的类，如果确实需要创建新类，则在设计这些新类的协议时，应该考虑将来的可重复使用性。</a:t>
            </a:r>
            <a:endParaRPr lang="zh-CN" altLang="en-US" sz="1200">
              <a:latin typeface="Bodoni MT Black" panose="02070A03080606020203" pitchFamily="18" charset="0"/>
            </a:endParaRPr>
          </a:p>
          <a:p>
            <a:pPr indent="0">
              <a:lnSpc>
                <a:spcPct val="210000"/>
              </a:lnSpc>
              <a:buFont typeface="+mj-ea"/>
              <a:buNone/>
            </a:pPr>
            <a:endParaRPr lang="en-US" altLang="zh-CN" sz="1200">
              <a:latin typeface="Bodoni MT Black" panose="02070A03080606020203" pitchFamily="18" charset="0"/>
            </a:endParaRPr>
          </a:p>
          <a:p>
            <a:pPr indent="0">
              <a:lnSpc>
                <a:spcPct val="210000"/>
              </a:lnSpc>
              <a:buFont typeface="+mj-ea"/>
              <a:buNone/>
            </a:pPr>
            <a:endParaRPr lang="zh-CN" altLang="zh-CN" sz="1200" dirty="0" smtClean="0">
              <a:solidFill>
                <a:srgbClr val="FF0000"/>
              </a:solidFill>
              <a:latin typeface="Bodoni MT Black" panose="02070A03080606020203" pitchFamily="18" charset="0"/>
              <a:sym typeface="+mn-ea"/>
            </a:endParaRPr>
          </a:p>
          <a:p>
            <a:pPr eaLnBrk="1" hangingPunct="1">
              <a:defRPr/>
            </a:pPr>
            <a:endParaRPr lang="zh-CN" altLang="en-US" sz="1200" dirty="0">
              <a:solidFill>
                <a:srgbClr val="FF0000"/>
              </a:solidFill>
              <a:latin typeface="Bodoni MT Black" panose="02070A03080606020203" pitchFamily="18" charset="0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/>
            </a:pPr>
            <a:endParaRPr lang="en-US" altLang="zh-CN" sz="1200" dirty="0">
              <a:latin typeface="Bodoni MT Black" panose="02070A03080606020203" pitchFamily="18" charset="0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/>
            </a:pPr>
            <a:endParaRPr lang="zh-CN" altLang="en-US" sz="1200" dirty="0">
              <a:solidFill>
                <a:srgbClr val="FF0000"/>
              </a:solidFill>
              <a:latin typeface="Bodoni MT Black" panose="02070A03080606020203" pitchFamily="18" charset="0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/>
            </a:pPr>
            <a:endParaRPr lang="en-US" altLang="zh-CN" sz="1200" dirty="0">
              <a:latin typeface="Bodoni MT Black" panose="02070A03080606020203" pitchFamily="18" charset="0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/>
            </a:pPr>
            <a:endParaRPr lang="en-US" altLang="zh-CN" sz="1200" dirty="0">
              <a:latin typeface="Bodoni MT Black" panose="02070A03080606020203" pitchFamily="18" charset="0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/>
            </a:pPr>
            <a:endParaRPr lang="zh-CN" altLang="en-US" sz="1200">
              <a:latin typeface="Bodoni MT Black" panose="02070A03080606020203" pitchFamily="18" charset="0"/>
            </a:endParaRPr>
          </a:p>
          <a:p>
            <a:pPr marL="228600" indent="-228600">
              <a:lnSpc>
                <a:spcPct val="210000"/>
              </a:lnSpc>
              <a:buFont typeface="+mj-ea"/>
              <a:buAutoNum type="circleNumDbPlain"/>
            </a:pPr>
            <a:endParaRPr lang="en-US" altLang="zh-CN" sz="1200" dirty="0">
              <a:solidFill>
                <a:srgbClr val="FF0000"/>
              </a:solidFill>
              <a:latin typeface="+mn-ea"/>
            </a:endParaRPr>
          </a:p>
          <a:p>
            <a:endParaRPr lang="zh-CN" altLang="en-US" sz="120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2747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rPr>
              <a:t>启发规则</a:t>
            </a:r>
            <a:endParaRPr lang="zh-CN" altLang="en-US" sz="2400" spc="200" dirty="0">
              <a:solidFill>
                <a:srgbClr val="55D5FF"/>
              </a:solidFill>
              <a:latin typeface="汉仪旗黑-85S" panose="00020600040101010101" pitchFamily="18" charset="-122"/>
              <a:ea typeface="汉仪旗黑-85S" panose="00020600040101010101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69840" y="534035"/>
            <a:ext cx="6855460" cy="4132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eaLnBrk="1" hangingPunct="1">
              <a:lnSpc>
                <a:spcPct val="255000"/>
              </a:lnSpc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  <a:sym typeface="+mn-ea"/>
              </a:rPr>
              <a:t>设计结果应该清晰易懂</a:t>
            </a:r>
            <a:r>
              <a:rPr lang="zh-CN" altLang="en-US" sz="1400" b="1" dirty="0" smtClean="0">
                <a:latin typeface="+mn-ea"/>
                <a:sym typeface="+mn-ea"/>
              </a:rPr>
              <a:t>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  <a:sym typeface="+mn-ea"/>
              </a:rPr>
              <a:t>看不懂就不会重用</a:t>
            </a:r>
            <a:r>
              <a:rPr lang="zh-CN" altLang="en-US" sz="1400" b="1" dirty="0" smtClean="0">
                <a:latin typeface="+mn-ea"/>
                <a:sym typeface="+mn-ea"/>
              </a:rPr>
              <a:t>）</a:t>
            </a:r>
            <a:endParaRPr lang="zh-CN" altLang="en-US" sz="1400" b="1" dirty="0" smtClean="0">
              <a:latin typeface="+mn-ea"/>
              <a:sym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一般-特殊结构的深度应适当（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</a:rPr>
              <a:t>查族谱好麻烦，导致认知负荷极高</a:t>
            </a:r>
            <a:r>
              <a:rPr lang="zh-CN" altLang="en-US" sz="1400" b="1" dirty="0" smtClean="0">
                <a:latin typeface="+mn-ea"/>
              </a:rPr>
              <a:t>）</a:t>
            </a:r>
            <a:endParaRPr lang="zh-CN" altLang="en-US" sz="1400" b="1" dirty="0" smtClean="0">
              <a:latin typeface="+mn-ea"/>
            </a:endParaRPr>
          </a:p>
          <a:p>
            <a:pPr marL="342900" indent="-342900" algn="l" eaLnBrk="1" hangingPunct="1">
              <a:lnSpc>
                <a:spcPct val="230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设计简单的类（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</a:rPr>
              <a:t>不能既要、又要、还要</a:t>
            </a:r>
            <a:r>
              <a:rPr lang="zh-CN" altLang="en-US" sz="1400" b="1" dirty="0" smtClean="0">
                <a:latin typeface="+mn-ea"/>
              </a:rPr>
              <a:t>）</a:t>
            </a:r>
            <a:endParaRPr lang="zh-CN" altLang="en-US" sz="1400" b="1" dirty="0" smtClean="0">
              <a:latin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使用简单的协议（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</a:rPr>
              <a:t>牵一发而动全身是不行的</a:t>
            </a:r>
            <a:r>
              <a:rPr lang="zh-CN" altLang="en-US" sz="1400" b="1" dirty="0" smtClean="0">
                <a:latin typeface="+mn-ea"/>
              </a:rPr>
              <a:t>）</a:t>
            </a:r>
            <a:endParaRPr lang="zh-CN" altLang="en-US" sz="1400" b="1" dirty="0" smtClean="0">
              <a:latin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使用简单的服务</a:t>
            </a:r>
            <a:r>
              <a:rPr lang="zh-CN" altLang="en-US" sz="1400" b="1" dirty="0" smtClean="0">
                <a:latin typeface="+mn-ea"/>
                <a:sym typeface="+mn-ea"/>
              </a:rPr>
              <a:t>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  <a:sym typeface="+mn-ea"/>
              </a:rPr>
              <a:t>想苟，只提供有限服务</a:t>
            </a:r>
            <a:r>
              <a:rPr lang="zh-CN" altLang="en-US" sz="1400" b="1" dirty="0" smtClean="0">
                <a:latin typeface="+mn-ea"/>
                <a:sym typeface="+mn-ea"/>
              </a:rPr>
              <a:t>）</a:t>
            </a:r>
            <a:endParaRPr lang="zh-CN" altLang="en-US" sz="1400" b="1" dirty="0" smtClean="0">
              <a:latin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把设计变动减至最小</a:t>
            </a:r>
            <a:endParaRPr lang="zh-CN" altLang="en-US" sz="1400" b="1" dirty="0" smtClean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" y="2746375"/>
            <a:ext cx="4784725" cy="26219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765" y="1018540"/>
            <a:ext cx="4665345" cy="1727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90000"/>
              </a:lnSpc>
            </a:pPr>
            <a:r>
              <a:rPr lang="zh-CN" altLang="en-US" sz="1400" b="1">
                <a:solidFill>
                  <a:srgbClr val="FF0000"/>
                </a:solidFill>
              </a:rPr>
              <a:t>启发式规则</a:t>
            </a:r>
            <a:r>
              <a:rPr lang="zh-CN" altLang="en-US" sz="1400" b="1">
                <a:solidFill>
                  <a:schemeClr val="bg1"/>
                </a:solidFill>
                <a:sym typeface="+mn-ea"/>
              </a:rPr>
              <a:t>也称为经验法则，是在软件设计和架构中，通过长期实践总结出来的一套非正式、指导性的建议，</a:t>
            </a:r>
            <a:r>
              <a:rPr lang="zh-CN" altLang="en-US" sz="1400" b="1">
                <a:solidFill>
                  <a:schemeClr val="bg1"/>
                </a:solidFill>
              </a:rPr>
              <a:t>是一种基于</a:t>
            </a:r>
            <a:r>
              <a:rPr lang="zh-CN" altLang="en-US" sz="1400" b="1">
                <a:solidFill>
                  <a:srgbClr val="FFFF00"/>
                </a:solidFill>
              </a:rPr>
              <a:t>经验判断</a:t>
            </a:r>
            <a:r>
              <a:rPr lang="zh-CN" altLang="en-US" sz="1400" b="1">
                <a:solidFill>
                  <a:schemeClr val="bg1"/>
                </a:solidFill>
              </a:rPr>
              <a:t>的决策技术，通过简化模型或规则快速生成可行解。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 rot="21180000">
            <a:off x="133350" y="5533390"/>
            <a:ext cx="4665345" cy="909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90000"/>
              </a:lnSpc>
            </a:pPr>
            <a:r>
              <a:rPr lang="zh-CN" altLang="en-US" sz="2800">
                <a:solidFill>
                  <a:schemeClr val="bg1"/>
                </a:solidFill>
                <a:latin typeface="华光胖头鱼_CNKI" panose="02000500000000000000" charset="-122"/>
                <a:ea typeface="华光胖头鱼_CNKI" panose="02000500000000000000" charset="-122"/>
              </a:rPr>
              <a:t>没什么好说的了！！</a:t>
            </a:r>
            <a:endParaRPr lang="zh-CN" altLang="en-US" sz="2800">
              <a:solidFill>
                <a:schemeClr val="bg1"/>
              </a:solidFill>
              <a:latin typeface="华光胖头鱼_CNKI" panose="02000500000000000000" charset="-122"/>
              <a:ea typeface="华光胖头鱼_CNKI" panose="020005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 rot="300000">
            <a:off x="6296660" y="4530725"/>
            <a:ext cx="4665345" cy="1727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90000"/>
              </a:lnSpc>
            </a:pPr>
            <a:r>
              <a:rPr lang="zh-CN" altLang="en-US" sz="2800">
                <a:solidFill>
                  <a:schemeClr val="tx1"/>
                </a:solidFill>
                <a:latin typeface="华光胖头鱼_CNKI" panose="02000500000000000000" charset="-122"/>
                <a:ea typeface="华光胖头鱼_CNKI" panose="02000500000000000000" charset="-122"/>
              </a:rPr>
              <a:t>广大人民群众看得懂的设计才是最好的设计！！</a:t>
            </a:r>
            <a:endParaRPr lang="zh-CN" altLang="en-US" sz="2800">
              <a:solidFill>
                <a:schemeClr val="tx1"/>
              </a:solidFill>
              <a:latin typeface="华光胖头鱼_CNKI" panose="02000500000000000000" charset="-122"/>
              <a:ea typeface="华光胖头鱼_CNKI" panose="020005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0" y="1922780"/>
            <a:ext cx="2700655" cy="27438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rPr>
              <a:t>软件重用</a:t>
            </a:r>
            <a:endParaRPr lang="zh-CN" altLang="en-US" sz="2400" spc="200" dirty="0">
              <a:solidFill>
                <a:srgbClr val="55D5FF"/>
              </a:solidFill>
              <a:latin typeface="汉仪旗黑-85S" panose="00020600040101010101" pitchFamily="18" charset="-122"/>
              <a:ea typeface="汉仪旗黑-85S" panose="00020600040101010101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36490" y="124460"/>
            <a:ext cx="6855460" cy="83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eaLnBrk="1" hangingPunct="1">
              <a:lnSpc>
                <a:spcPct val="255000"/>
              </a:lnSpc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  <a:sym typeface="+mn-ea"/>
              </a:rPr>
              <a:t>软件成分的重用级别</a:t>
            </a:r>
            <a:endParaRPr lang="zh-CN" altLang="en-US" sz="1400" b="1" dirty="0" smtClean="0">
              <a:latin typeface="+mn-ea"/>
              <a:sym typeface="+mn-ea"/>
            </a:endParaRPr>
          </a:p>
          <a:p>
            <a:pPr indent="0" eaLnBrk="1" hangingPunct="1">
              <a:lnSpc>
                <a:spcPct val="255000"/>
              </a:lnSpc>
              <a:buFont typeface="+mj-ea"/>
              <a:buNone/>
            </a:pPr>
            <a:endParaRPr lang="zh-CN" altLang="en-US" sz="1400" b="1" dirty="0" smtClean="0">
              <a:latin typeface="+mn-ea"/>
            </a:endParaRPr>
          </a:p>
          <a:p>
            <a:pPr indent="0" eaLnBrk="1" hangingPunct="1">
              <a:lnSpc>
                <a:spcPct val="255000"/>
              </a:lnSpc>
              <a:buFont typeface="+mj-ea"/>
              <a:buNone/>
            </a:pPr>
            <a:endParaRPr lang="zh-CN" altLang="en-US" sz="1400" b="1" dirty="0" smtClean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250" y="961390"/>
            <a:ext cx="4665345" cy="1318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90000"/>
              </a:lnSpc>
            </a:pPr>
            <a:r>
              <a:rPr lang="zh-CN" altLang="zh-CN" sz="1400" b="1" dirty="0">
                <a:solidFill>
                  <a:schemeClr val="bg2"/>
                </a:solidFill>
                <a:latin typeface="Bodoni MT Black" panose="02070A03080606020203" pitchFamily="18" charset="0"/>
                <a:sym typeface="+mn-ea"/>
              </a:rPr>
              <a:t>重用是指同一事物不作修改或稍加改动就多次重复使用，</a:t>
            </a:r>
            <a:r>
              <a:rPr lang="zh-CN" altLang="en-US" sz="1400" b="1">
                <a:solidFill>
                  <a:srgbClr val="FF0000"/>
                </a:solidFill>
              </a:rPr>
              <a:t>软件重用</a:t>
            </a:r>
            <a:r>
              <a:rPr lang="zh-CN" altLang="en-US" sz="1400" b="1">
                <a:solidFill>
                  <a:schemeClr val="bg2"/>
                </a:solidFill>
              </a:rPr>
              <a:t>（SoftWare Reuse）是一种通过</a:t>
            </a:r>
            <a:r>
              <a:rPr lang="zh-CN" altLang="en-US" sz="1400" b="1">
                <a:solidFill>
                  <a:srgbClr val="FFFF00"/>
                </a:solidFill>
              </a:rPr>
              <a:t>重复使用现有软件成分</a:t>
            </a:r>
            <a:r>
              <a:rPr lang="zh-CN" altLang="en-US" sz="1400" b="1">
                <a:solidFill>
                  <a:schemeClr val="bg2"/>
                </a:solidFill>
              </a:rPr>
              <a:t>构建新系统的计算机工程方法。</a:t>
            </a:r>
            <a:endParaRPr lang="zh-CN" altLang="en-US" sz="1400" b="1">
              <a:solidFill>
                <a:schemeClr val="bg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12152" b="5752"/>
          <a:stretch>
            <a:fillRect/>
          </a:stretch>
        </p:blipFill>
        <p:spPr>
          <a:xfrm>
            <a:off x="17780" y="2425065"/>
            <a:ext cx="4809490" cy="24104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4980940"/>
            <a:ext cx="4836795" cy="1612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eaLnBrk="1" hangingPunct="1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zh-CN" sz="1400" dirty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广义地说，软件重用可分为以下</a:t>
            </a:r>
            <a:r>
              <a:rPr lang="en-US" altLang="zh-CN" sz="14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3</a:t>
            </a:r>
            <a:r>
              <a:rPr lang="zh-CN" altLang="zh-CN" sz="1400" b="1" dirty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个层次</a:t>
            </a:r>
            <a:r>
              <a:rPr lang="zh-CN" altLang="zh-CN" sz="1400" dirty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：</a:t>
            </a:r>
            <a:endParaRPr lang="zh-CN" altLang="zh-CN" sz="1400" dirty="0">
              <a:solidFill>
                <a:schemeClr val="bg2"/>
              </a:solidFill>
              <a:latin typeface="+mn-ea"/>
              <a:cs typeface="+mn-ea"/>
            </a:endParaRPr>
          </a:p>
          <a:p>
            <a:pPr marL="800100" lvl="1" indent="-342900" eaLnBrk="1" hangingPunct="1">
              <a:lnSpc>
                <a:spcPct val="170000"/>
              </a:lnSpc>
              <a:buFont typeface="+mj-ea"/>
              <a:buAutoNum type="circleNumDbPlain"/>
            </a:pPr>
            <a:r>
              <a:rPr lang="zh-CN" altLang="zh-CN" sz="1400" dirty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知识重用</a:t>
            </a:r>
            <a:endParaRPr lang="en-US" altLang="zh-CN" sz="1400" dirty="0">
              <a:solidFill>
                <a:schemeClr val="bg2"/>
              </a:solidFill>
              <a:latin typeface="+mn-ea"/>
              <a:cs typeface="+mn-ea"/>
            </a:endParaRPr>
          </a:p>
          <a:p>
            <a:pPr marL="800100" lvl="1" indent="-342900" eaLnBrk="1" hangingPunct="1">
              <a:lnSpc>
                <a:spcPct val="170000"/>
              </a:lnSpc>
              <a:buFont typeface="+mj-ea"/>
              <a:buAutoNum type="circleNumDbPlain"/>
            </a:pPr>
            <a:r>
              <a:rPr lang="zh-CN" altLang="zh-CN" sz="1400" dirty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方法和标准的重用</a:t>
            </a:r>
            <a:endParaRPr lang="en-US" altLang="zh-CN" sz="1400" dirty="0">
              <a:solidFill>
                <a:schemeClr val="bg2"/>
              </a:solidFill>
              <a:latin typeface="+mn-ea"/>
              <a:cs typeface="+mn-ea"/>
            </a:endParaRPr>
          </a:p>
          <a:p>
            <a:pPr marL="800100" lvl="1" indent="-342900" eaLnBrk="1" hangingPunct="1">
              <a:lnSpc>
                <a:spcPct val="170000"/>
              </a:lnSpc>
              <a:buFont typeface="+mj-ea"/>
              <a:buAutoNum type="circleNumDbPlain"/>
            </a:pPr>
            <a:r>
              <a:rPr lang="zh-CN" altLang="zh-CN" sz="14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软件成分的重用</a:t>
            </a:r>
            <a:endParaRPr lang="zh-CN" altLang="zh-CN" sz="1400" b="1" dirty="0">
              <a:solidFill>
                <a:srgbClr val="FF0000"/>
              </a:solidFill>
              <a:latin typeface="+mn-ea"/>
              <a:cs typeface="+mn-ea"/>
            </a:endParaRPr>
          </a:p>
          <a:p>
            <a:pPr marL="285750" indent="-285750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zh-CN" altLang="zh-CN" sz="1400" b="1" dirty="0">
              <a:solidFill>
                <a:srgbClr val="FF0000"/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956810" y="913765"/>
            <a:ext cx="3117850" cy="1626870"/>
            <a:chOff x="8183" y="1439"/>
            <a:chExt cx="4910" cy="2562"/>
          </a:xfrm>
        </p:grpSpPr>
        <p:sp>
          <p:nvSpPr>
            <p:cNvPr id="8" name="文本框 7"/>
            <p:cNvSpPr txBox="1"/>
            <p:nvPr/>
          </p:nvSpPr>
          <p:spPr>
            <a:xfrm>
              <a:off x="10145" y="1445"/>
              <a:ext cx="2948" cy="2556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000" b="1" dirty="0">
                  <a:solidFill>
                    <a:schemeClr val="bg1"/>
                  </a:solidFill>
                  <a:latin typeface="+mn-ea"/>
                  <a:sym typeface="+mn-ea"/>
                </a:rPr>
                <a:t>源代码片段复用</a:t>
              </a:r>
              <a:endParaRPr lang="zh-CN" altLang="zh-CN" sz="1000" b="1" dirty="0">
                <a:solidFill>
                  <a:schemeClr val="bg1"/>
                </a:solidFill>
                <a:latin typeface="+mn-ea"/>
                <a:sym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000" b="1" dirty="0">
                  <a:solidFill>
                    <a:schemeClr val="bg1"/>
                  </a:solidFill>
                  <a:latin typeface="+mn-ea"/>
                  <a:sym typeface="+mn-ea"/>
                </a:rPr>
                <a:t>函数/类复用</a:t>
              </a:r>
              <a:endParaRPr lang="zh-CN" altLang="zh-CN" sz="1000" b="1" dirty="0">
                <a:solidFill>
                  <a:schemeClr val="bg1"/>
                </a:solidFill>
                <a:latin typeface="+mn-ea"/>
                <a:sym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000" b="1" dirty="0">
                  <a:solidFill>
                    <a:schemeClr val="bg1"/>
                  </a:solidFill>
                  <a:latin typeface="+mn-ea"/>
                  <a:sym typeface="+mn-ea"/>
                </a:rPr>
                <a:t>库/模块复用</a:t>
              </a:r>
              <a:endParaRPr lang="zh-CN" altLang="zh-CN" sz="1000" b="1" dirty="0">
                <a:solidFill>
                  <a:schemeClr val="bg1"/>
                </a:solidFill>
                <a:latin typeface="+mn-ea"/>
                <a:sym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000" b="1" dirty="0">
                  <a:solidFill>
                    <a:schemeClr val="bg1"/>
                  </a:solidFill>
                  <a:latin typeface="+mn-ea"/>
                  <a:sym typeface="+mn-ea"/>
                </a:rPr>
                <a:t>组件/框架复用</a:t>
              </a:r>
              <a:endParaRPr lang="zh-CN" altLang="zh-CN" sz="1000" b="1" dirty="0">
                <a:solidFill>
                  <a:schemeClr val="bg1"/>
                </a:solidFill>
                <a:latin typeface="+mn-ea"/>
                <a:sym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000" b="1" dirty="0">
                  <a:solidFill>
                    <a:schemeClr val="bg1"/>
                  </a:solidFill>
                  <a:latin typeface="+mn-ea"/>
                  <a:sym typeface="+mn-ea"/>
                </a:rPr>
                <a:t>服务/API复用</a:t>
              </a:r>
              <a:endParaRPr lang="zh-CN" altLang="zh-CN" sz="1000" b="1" dirty="0">
                <a:solidFill>
                  <a:schemeClr val="bg1"/>
                </a:solidFill>
                <a:latin typeface="+mn-ea"/>
                <a:sym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000" b="1" dirty="0">
                  <a:solidFill>
                    <a:schemeClr val="bg1"/>
                  </a:solidFill>
                  <a:latin typeface="+mn-ea"/>
                  <a:sym typeface="+mn-ea"/>
                </a:rPr>
                <a:t>设计模式与架构模式复用</a:t>
              </a:r>
              <a:endParaRPr lang="zh-CN" altLang="zh-CN" sz="1000" b="1" dirty="0">
                <a:solidFill>
                  <a:schemeClr val="bg1"/>
                </a:solidFill>
                <a:latin typeface="+mn-ea"/>
                <a:sym typeface="+mn-ea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8183" y="1439"/>
              <a:ext cx="1962" cy="2562"/>
              <a:chOff x="8362" y="1439"/>
              <a:chExt cx="3254" cy="2476"/>
            </a:xfrm>
          </p:grpSpPr>
          <p:sp>
            <p:nvSpPr>
              <p:cNvPr id="6" name="圆角矩形 5"/>
              <p:cNvSpPr/>
              <p:nvPr/>
            </p:nvSpPr>
            <p:spPr>
              <a:xfrm>
                <a:off x="8363" y="2250"/>
                <a:ext cx="3253" cy="842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zh-CN" altLang="en-US" sz="1200" b="1">
                    <a:solidFill>
                      <a:srgbClr val="FFFF00"/>
                    </a:solidFill>
                  </a:rPr>
                  <a:t>设计结果</a:t>
                </a:r>
                <a:r>
                  <a:rPr lang="zh-CN" altLang="en-US" sz="1200" b="1"/>
                  <a:t>重用</a:t>
                </a:r>
                <a:endParaRPr lang="zh-CN" altLang="en-US" sz="1200" b="1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8362" y="1439"/>
                <a:ext cx="3254" cy="796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 anchorCtr="1"/>
              <a:p>
                <a:pPr algn="l"/>
                <a:r>
                  <a:rPr lang="zh-CN" altLang="en-US" sz="1200" b="1">
                    <a:solidFill>
                      <a:srgbClr val="FFFF00"/>
                    </a:solidFill>
                  </a:rPr>
                  <a:t>代码</a:t>
                </a:r>
                <a:r>
                  <a:rPr lang="zh-CN" altLang="en-US" sz="1200" b="1">
                    <a:solidFill>
                      <a:schemeClr val="bg1"/>
                    </a:solidFill>
                  </a:rPr>
                  <a:t>重用</a:t>
                </a:r>
                <a:endParaRPr lang="zh-CN" altLang="en-US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8363" y="3107"/>
                <a:ext cx="3253" cy="808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l"/>
                <a:r>
                  <a:rPr lang="zh-CN" altLang="en-US" sz="1200" b="1">
                    <a:solidFill>
                      <a:srgbClr val="FFFF00"/>
                    </a:solidFill>
                  </a:rPr>
                  <a:t>分析结果</a:t>
                </a:r>
                <a:r>
                  <a:rPr lang="zh-CN" altLang="en-US" sz="1200" b="1"/>
                  <a:t>重用</a:t>
                </a:r>
                <a:endParaRPr lang="zh-CN" altLang="en-US" sz="1200" b="1"/>
              </a:p>
            </p:txBody>
          </p:sp>
        </p:grpSp>
      </p:grpSp>
      <p:sp>
        <p:nvSpPr>
          <p:cNvPr id="17" name="文本框 16"/>
          <p:cNvSpPr txBox="1"/>
          <p:nvPr/>
        </p:nvSpPr>
        <p:spPr>
          <a:xfrm>
            <a:off x="8527415" y="298450"/>
            <a:ext cx="2439670" cy="465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eaLnBrk="1" hangingPunct="1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en-US" sz="1400" b="1" dirty="0" smtClean="0">
                <a:latin typeface="+mn-ea"/>
                <a:sym typeface="+mn-ea"/>
              </a:rPr>
              <a:t>典型的可重用软件成分</a:t>
            </a:r>
            <a:endParaRPr lang="zh-CN" altLang="en-US" sz="1400" b="1" dirty="0" smtClean="0">
              <a:latin typeface="+mn-ea"/>
              <a:sym typeface="+mn-ea"/>
            </a:endParaRPr>
          </a:p>
          <a:p>
            <a:pPr indent="0" eaLnBrk="1" hangingPunct="1">
              <a:lnSpc>
                <a:spcPct val="255000"/>
              </a:lnSpc>
              <a:buFont typeface="+mj-ea"/>
              <a:buNone/>
            </a:pPr>
            <a:endParaRPr lang="zh-CN" altLang="en-US" sz="1400" b="1" dirty="0" smtClean="0">
              <a:latin typeface="+mn-ea"/>
              <a:sym typeface="+mn-ea"/>
            </a:endParaRPr>
          </a:p>
          <a:p>
            <a:pPr indent="0" eaLnBrk="1" hangingPunct="1">
              <a:lnSpc>
                <a:spcPct val="255000"/>
              </a:lnSpc>
              <a:buFont typeface="+mj-ea"/>
              <a:buNone/>
            </a:pPr>
            <a:endParaRPr lang="zh-CN" altLang="en-US" sz="1400" b="1" dirty="0" smtClean="0">
              <a:latin typeface="+mn-ea"/>
            </a:endParaRPr>
          </a:p>
          <a:p>
            <a:pPr indent="0" eaLnBrk="1" hangingPunct="1">
              <a:lnSpc>
                <a:spcPct val="255000"/>
              </a:lnSpc>
              <a:buFont typeface="+mj-ea"/>
              <a:buNone/>
            </a:pPr>
            <a:endParaRPr lang="zh-CN" altLang="en-US" sz="1400" b="1" dirty="0" smtClean="0">
              <a:latin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85715" y="2693670"/>
            <a:ext cx="6962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类构件</a:t>
            </a:r>
            <a:r>
              <a:rPr lang="zh-CN" altLang="en-US" sz="1200" b="1"/>
              <a:t>：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 </a:t>
            </a:r>
            <a:r>
              <a:rPr lang="zh-CN" altLang="en-US" sz="1200" b="1" dirty="0" smtClean="0">
                <a:latin typeface="Bodoni MT Black" panose="02070A03080606020203" pitchFamily="18" charset="0"/>
                <a:sym typeface="+mn-ea"/>
              </a:rPr>
              <a:t>面</a:t>
            </a: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向对象技术中的“类”，是比较理想的可重用软构件，不妨称之为</a:t>
            </a:r>
            <a:r>
              <a:rPr lang="zh-CN" altLang="en-US" sz="12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类构件</a:t>
            </a:r>
            <a:r>
              <a:rPr lang="zh-CN" altLang="en-US" sz="1200" b="1" dirty="0">
                <a:latin typeface="Bodoni MT Black" panose="02070A03080606020203" pitchFamily="18" charset="0"/>
                <a:sym typeface="+mn-ea"/>
              </a:rPr>
              <a:t>。</a:t>
            </a:r>
            <a:endParaRPr lang="en-US" altLang="zh-CN" sz="1400" dirty="0">
              <a:latin typeface="Bodoni MT Black" panose="02070A03080606020203" pitchFamily="18" charset="0"/>
            </a:endParaRPr>
          </a:p>
          <a:p>
            <a:endParaRPr lang="en-US" altLang="zh-CN" sz="1400" b="1"/>
          </a:p>
        </p:txBody>
      </p:sp>
      <p:sp>
        <p:nvSpPr>
          <p:cNvPr id="25" name="文本框 24"/>
          <p:cNvSpPr txBox="1"/>
          <p:nvPr/>
        </p:nvSpPr>
        <p:spPr>
          <a:xfrm>
            <a:off x="5000625" y="2924175"/>
            <a:ext cx="6857365" cy="9302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lnSpc>
                <a:spcPct val="210000"/>
              </a:lnSpc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rgbClr val="FF0000"/>
                </a:solidFill>
              </a:rPr>
              <a:t>实例重用：</a:t>
            </a:r>
            <a:r>
              <a:rPr lang="zh-CN" altLang="en-US" sz="1200"/>
              <a:t>实例重用指的是：不创建新的对象，而是使用一个已经存在的、合适的对象来完成工作。 它的核心目的是</a:t>
            </a:r>
            <a:r>
              <a:rPr lang="zh-CN" altLang="en-US" sz="1200" b="1"/>
              <a:t>避免不必要的对象创建开销</a:t>
            </a:r>
            <a:r>
              <a:rPr lang="zh-CN" altLang="en-US" sz="1200"/>
              <a:t>（节省内存和CPU），或者是为了共享状态。</a:t>
            </a:r>
            <a:endParaRPr lang="zh-CN" altLang="en-US" sz="120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595" y="4149090"/>
            <a:ext cx="3426460" cy="23939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130" y="4140835"/>
            <a:ext cx="3641090" cy="240157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6" name="组合 25"/>
          <p:cNvGrpSpPr/>
          <p:nvPr/>
        </p:nvGrpSpPr>
        <p:grpSpPr>
          <a:xfrm>
            <a:off x="8214995" y="916940"/>
            <a:ext cx="3830320" cy="1623060"/>
            <a:chOff x="12239" y="1403"/>
            <a:chExt cx="6032" cy="2556"/>
          </a:xfrm>
          <a:solidFill>
            <a:schemeClr val="accent3"/>
          </a:solidFill>
        </p:grpSpPr>
        <p:sp>
          <p:nvSpPr>
            <p:cNvPr id="29" name="文本框 28"/>
            <p:cNvSpPr txBox="1"/>
            <p:nvPr/>
          </p:nvSpPr>
          <p:spPr>
            <a:xfrm>
              <a:off x="12239" y="1403"/>
              <a:ext cx="3016" cy="255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+mn-ea"/>
                  <a:sym typeface="+mn-ea"/>
                </a:rPr>
                <a:t>项目计划</a:t>
              </a:r>
              <a:endParaRPr lang="en-US" altLang="zh-CN" sz="1200" b="1" dirty="0">
                <a:solidFill>
                  <a:schemeClr val="bg1"/>
                </a:solidFill>
                <a:latin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+mn-ea"/>
                  <a:sym typeface="+mn-ea"/>
                </a:rPr>
                <a:t>成本估计</a:t>
              </a:r>
              <a:endParaRPr lang="en-US" altLang="zh-CN" sz="1200" b="1" dirty="0">
                <a:solidFill>
                  <a:schemeClr val="bg1"/>
                </a:solidFill>
                <a:latin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+mn-ea"/>
                  <a:sym typeface="+mn-ea"/>
                </a:rPr>
                <a:t>体系结构</a:t>
              </a:r>
              <a:endParaRPr lang="en-US" altLang="zh-CN" sz="1200" b="1" dirty="0">
                <a:solidFill>
                  <a:schemeClr val="bg1"/>
                </a:solidFill>
                <a:latin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+mn-ea"/>
                  <a:sym typeface="+mn-ea"/>
                </a:rPr>
                <a:t>需求模型和规格说明</a:t>
              </a:r>
              <a:endParaRPr lang="en-US" altLang="zh-CN" sz="1200" b="1" dirty="0">
                <a:solidFill>
                  <a:schemeClr val="bg1"/>
                </a:solidFill>
                <a:latin typeface="+mn-ea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+mn-ea"/>
                  <a:sym typeface="+mn-ea"/>
                </a:rPr>
                <a:t>设计</a:t>
              </a:r>
              <a:endParaRPr lang="en-US" altLang="zh-CN" sz="1200" b="1" dirty="0">
                <a:solidFill>
                  <a:schemeClr val="bg1"/>
                </a:solidFill>
                <a:latin typeface="+mn-ea"/>
              </a:endParaRPr>
            </a:p>
            <a:p>
              <a:endParaRPr lang="en-US" altLang="zh-CN" sz="12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255" y="1403"/>
              <a:ext cx="3016" cy="2556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Bodoni MT Black" panose="02070A03080606020203" pitchFamily="18" charset="0"/>
                  <a:sym typeface="+mn-ea"/>
                </a:rPr>
                <a:t>源代码</a:t>
              </a:r>
              <a:endParaRPr lang="en-US" altLang="zh-CN" sz="1200" b="1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Bodoni MT Black" panose="02070A03080606020203" pitchFamily="18" charset="0"/>
                  <a:sym typeface="+mn-ea"/>
                </a:rPr>
                <a:t>用户文档和技术文档</a:t>
              </a:r>
              <a:endParaRPr lang="en-US" altLang="zh-CN" sz="1200" b="1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Bodoni MT Black" panose="02070A03080606020203" pitchFamily="18" charset="0"/>
                  <a:sym typeface="+mn-ea"/>
                </a:rPr>
                <a:t>用户界面</a:t>
              </a:r>
              <a:endParaRPr lang="en-US" altLang="zh-CN" sz="1200" b="1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>
                  <a:solidFill>
                    <a:schemeClr val="bg1"/>
                  </a:solidFill>
                  <a:latin typeface="Bodoni MT Black" panose="02070A03080606020203" pitchFamily="18" charset="0"/>
                  <a:sym typeface="+mn-ea"/>
                </a:rPr>
                <a:t>数据</a:t>
              </a:r>
              <a:endParaRPr lang="en-US" altLang="zh-CN" sz="1200" b="1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pPr marL="285750" lvl="0" indent="-285750" eaLnBrk="1" hangingPunct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zh-CN" sz="1200" b="1" dirty="0" smtClean="0">
                  <a:solidFill>
                    <a:schemeClr val="bg1"/>
                  </a:solidFill>
                  <a:latin typeface="Bodoni MT Black" panose="02070A03080606020203" pitchFamily="18" charset="0"/>
                  <a:sym typeface="+mn-ea"/>
                </a:rPr>
                <a:t>测</a:t>
              </a:r>
              <a:r>
                <a:rPr lang="zh-CN" altLang="zh-CN" sz="1200" b="1" dirty="0">
                  <a:solidFill>
                    <a:schemeClr val="bg1"/>
                  </a:solidFill>
                  <a:latin typeface="Bodoni MT Black" panose="02070A03080606020203" pitchFamily="18" charset="0"/>
                  <a:sym typeface="+mn-ea"/>
                </a:rPr>
                <a:t>试用例</a:t>
              </a:r>
              <a:endParaRPr lang="zh-CN" altLang="zh-CN" sz="1200" b="1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  <a:p>
              <a:endParaRPr lang="zh-CN" altLang="zh-CN" sz="1200" b="1" dirty="0">
                <a:solidFill>
                  <a:schemeClr val="bg1"/>
                </a:solidFill>
                <a:latin typeface="Bodoni MT Black" panose="02070A03080606020203" pitchFamily="18" charset="0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50190" y="5819775"/>
            <a:ext cx="1082675" cy="7785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01789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-635"/>
            <a:ext cx="59563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软件重用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017260" y="-10160"/>
            <a:ext cx="6174740" cy="1379220"/>
            <a:chOff x="9476" y="-16"/>
            <a:chExt cx="9724" cy="2172"/>
          </a:xfrm>
        </p:grpSpPr>
        <p:sp>
          <p:nvSpPr>
            <p:cNvPr id="31" name="文本框 30"/>
            <p:cNvSpPr txBox="1"/>
            <p:nvPr/>
          </p:nvSpPr>
          <p:spPr>
            <a:xfrm>
              <a:off x="17001" y="690"/>
              <a:ext cx="1969" cy="146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476" y="-16"/>
              <a:ext cx="9724" cy="71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 anchorCtr="0">
              <a:noAutofit/>
            </a:bodyPr>
            <a:p>
              <a:pPr marL="0" algn="l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bg2"/>
                  </a:solidFill>
                </a:rPr>
                <a:t> </a:t>
              </a:r>
              <a:r>
                <a:rPr lang="zh-CN" altLang="en-US" b="1">
                  <a:solidFill>
                    <a:schemeClr val="bg2"/>
                  </a:solidFill>
                  <a:sym typeface="+mn-ea"/>
                </a:rPr>
                <a:t>建立对象模型</a:t>
              </a:r>
              <a:endParaRPr lang="zh-CN" altLang="en-US" b="1">
                <a:solidFill>
                  <a:schemeClr val="bg2"/>
                </a:solidFill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167640" y="600075"/>
            <a:ext cx="5584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rgbClr val="FF0000"/>
                </a:solidFill>
                <a:sym typeface="+mn-ea"/>
              </a:rPr>
              <a:t>继承重用</a:t>
            </a:r>
            <a:endParaRPr lang="zh-CN" sz="1400" b="1" dirty="0" smtClean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7640" y="971550"/>
            <a:ext cx="5685155" cy="2712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eaLnBrk="1" hangingPunct="1">
              <a:lnSpc>
                <a:spcPct val="165000"/>
              </a:lnSpc>
              <a:buSzPct val="100000"/>
              <a:buFont typeface="+mj-ea"/>
              <a:buNone/>
              <a:defRPr/>
            </a:pPr>
            <a:r>
              <a:rPr lang="zh-CN" altLang="en-US" sz="1200"/>
              <a:t>继承重用：创建一个新的类（派生类/子类）来继承一个已存在的类（基类/父类），从而直接获得父类的属性和方法，无需重新编写它们。 它的核心是 “是一个（Is-a）” 的关系和 代码复用。</a:t>
            </a:r>
            <a:endParaRPr lang="zh-CN" altLang="en-US" sz="1200"/>
          </a:p>
          <a:p>
            <a:pPr marL="685800" lvl="1" indent="-228600" eaLnBrk="1" hangingPunct="1">
              <a:lnSpc>
                <a:spcPct val="165000"/>
              </a:lnSpc>
              <a:buSzPct val="100000"/>
              <a:buFont typeface="+mj-lt"/>
              <a:buAutoNum type="alphaLcPeriod"/>
              <a:defRPr/>
            </a:pPr>
            <a:r>
              <a:rPr lang="zh-CN" altLang="en-US" sz="1200"/>
              <a:t>直接重用父类的代码（字段和方法）。</a:t>
            </a:r>
            <a:endParaRPr lang="zh-CN" altLang="en-US" sz="1200"/>
          </a:p>
          <a:p>
            <a:pPr marL="685800" lvl="1" indent="-228600" eaLnBrk="1" hangingPunct="1">
              <a:lnSpc>
                <a:spcPct val="165000"/>
              </a:lnSpc>
              <a:buSzPct val="100000"/>
              <a:buFont typeface="+mj-lt"/>
              <a:buAutoNum type="alphaLcPeriod"/>
              <a:defRPr/>
            </a:pPr>
            <a:r>
              <a:rPr lang="zh-CN" altLang="en-US" sz="1200"/>
              <a:t>扩展父类的功能（添加新的字段和方法）。</a:t>
            </a:r>
            <a:endParaRPr lang="zh-CN" altLang="en-US" sz="1200"/>
          </a:p>
          <a:p>
            <a:pPr marL="685800" lvl="1" indent="-228600" eaLnBrk="1" hangingPunct="1">
              <a:lnSpc>
                <a:spcPct val="165000"/>
              </a:lnSpc>
              <a:buSzPct val="100000"/>
              <a:buFont typeface="+mj-lt"/>
              <a:buAutoNum type="alphaLcPeriod"/>
              <a:defRPr/>
            </a:pPr>
            <a:r>
              <a:rPr lang="zh-CN" altLang="en-US" sz="1200"/>
              <a:t>修改父类的行为（重写/Override 父类的方法）</a:t>
            </a:r>
            <a:endParaRPr lang="zh-CN" altLang="en-US" sz="12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31160"/>
            <a:ext cx="3006725" cy="3771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795" y="2921635"/>
            <a:ext cx="2907030" cy="37820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本框 15"/>
          <p:cNvSpPr txBox="1"/>
          <p:nvPr/>
        </p:nvSpPr>
        <p:spPr>
          <a:xfrm>
            <a:off x="6283325" y="600075"/>
            <a:ext cx="5584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>
                <a:solidFill>
                  <a:srgbClr val="FF0000"/>
                </a:solidFill>
                <a:sym typeface="+mn-ea"/>
              </a:rPr>
              <a:t>多态重用</a:t>
            </a:r>
            <a:endParaRPr lang="zh-CN" sz="1400" b="1" dirty="0" smtClean="0">
              <a:solidFill>
                <a:srgbClr val="FF0000"/>
              </a:solidFill>
              <a:highlight>
                <a:srgbClr val="FFFF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11240" y="971550"/>
            <a:ext cx="5824855" cy="1045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eaLnBrk="1" hangingPunct="1">
              <a:lnSpc>
                <a:spcPct val="165000"/>
              </a:lnSpc>
              <a:buSzPct val="100000"/>
              <a:buFont typeface="+mj-ea"/>
              <a:buNone/>
              <a:defRPr/>
            </a:pPr>
            <a:r>
              <a:rPr lang="zh-CN" altLang="en-US" sz="1200"/>
              <a:t>多态重用：编写一段通用的、基于父类/接口的代码，这段代码不需要修改，就能自动适用于所有子类对象。 当你添加新的子类时，这段通用代码依然能正常工作。这就实现了代码的“重用”——通用逻辑只写一次，多处适用。</a:t>
            </a:r>
            <a:endParaRPr lang="zh-CN" altLang="en-US" sz="12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445" y="2372360"/>
            <a:ext cx="3297555" cy="11830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文本框 19"/>
          <p:cNvSpPr txBox="1"/>
          <p:nvPr/>
        </p:nvSpPr>
        <p:spPr>
          <a:xfrm>
            <a:off x="6069965" y="2017395"/>
            <a:ext cx="37496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1. </a:t>
            </a:r>
            <a:r>
              <a:rPr lang="zh-CN" altLang="en-US" sz="800"/>
              <a:t>定义一个父类 Shape（图形），它声明了一个所有图形都必须要有的方法 draw()（绘制）</a:t>
            </a:r>
            <a:endParaRPr lang="zh-CN" altLang="en-US" sz="800"/>
          </a:p>
        </p:txBody>
      </p:sp>
      <p:sp>
        <p:nvSpPr>
          <p:cNvPr id="21" name="文本框 20"/>
          <p:cNvSpPr txBox="1"/>
          <p:nvPr/>
        </p:nvSpPr>
        <p:spPr>
          <a:xfrm>
            <a:off x="10036810" y="2017395"/>
            <a:ext cx="1882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2. </a:t>
            </a:r>
            <a:r>
              <a:rPr lang="zh-CN" altLang="en-US" sz="800"/>
              <a:t>创建几个具体的图形类来继承它</a:t>
            </a:r>
            <a:endParaRPr lang="zh-CN" altLang="en-US" sz="800"/>
          </a:p>
        </p:txBody>
      </p:sp>
      <p:sp>
        <p:nvSpPr>
          <p:cNvPr id="22" name="文本框 21"/>
          <p:cNvSpPr txBox="1"/>
          <p:nvPr/>
        </p:nvSpPr>
        <p:spPr>
          <a:xfrm>
            <a:off x="6127115" y="3788410"/>
            <a:ext cx="188277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3 .</a:t>
            </a:r>
            <a:r>
              <a:rPr sz="800"/>
              <a:t>编写“可重用”的通用代码</a:t>
            </a:r>
            <a:endParaRPr sz="8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490" y="4155440"/>
            <a:ext cx="3925570" cy="25482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2620" y="2280920"/>
            <a:ext cx="2604770" cy="22332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895" y="2017395"/>
            <a:ext cx="6164580" cy="48412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rPr>
              <a:t>系统分解</a:t>
            </a:r>
            <a:endParaRPr lang="zh-CN" altLang="en-US" sz="2400" spc="200" dirty="0">
              <a:solidFill>
                <a:srgbClr val="55D5FF"/>
              </a:solidFill>
              <a:latin typeface="汉仪旗黑-85S" panose="00020600040101010101" pitchFamily="18" charset="-122"/>
              <a:ea typeface="汉仪旗黑-85S" panose="00020600040101010101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250" y="961390"/>
            <a:ext cx="4665345" cy="1318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90000"/>
              </a:lnSpc>
            </a:pPr>
            <a:r>
              <a:rPr lang="en-US" altLang="zh-CN" sz="1400" b="1" dirty="0">
                <a:solidFill>
                  <a:srgbClr val="FFFF00"/>
                </a:solidFill>
                <a:latin typeface="+mj-ea"/>
                <a:ea typeface="+mj-ea"/>
                <a:cs typeface="+mj-ea"/>
                <a:sym typeface="+mn-ea"/>
              </a:rPr>
              <a:t>“</a:t>
            </a:r>
            <a:r>
              <a:rPr lang="zh-CN" altLang="en-US" sz="1400" b="1" dirty="0">
                <a:solidFill>
                  <a:srgbClr val="FFFF00"/>
                </a:solidFill>
                <a:latin typeface="+mj-ea"/>
                <a:ea typeface="+mj-ea"/>
                <a:cs typeface="+mj-ea"/>
                <a:sym typeface="+mn-ea"/>
              </a:rPr>
              <a:t>分而治之，各个击破</a:t>
            </a:r>
            <a:r>
              <a:rPr lang="en-US" altLang="zh-CN" sz="1400" b="1" dirty="0">
                <a:solidFill>
                  <a:srgbClr val="FFFF00"/>
                </a:solidFill>
                <a:latin typeface="+mj-ea"/>
                <a:ea typeface="+mj-ea"/>
                <a:cs typeface="+mj-ea"/>
                <a:sym typeface="+mn-ea"/>
              </a:rPr>
              <a:t>”</a:t>
            </a:r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——</a:t>
            </a:r>
            <a:r>
              <a:rPr lang="zh-CN" altLang="zh-CN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在设计比较复杂的应用系统时普遍采用的策略，也是首先把系统分解成若干个比较小的部分，然后再分别设计每个部分。</a:t>
            </a:r>
            <a:endParaRPr lang="zh-CN" altLang="zh-CN" sz="1400" b="1" dirty="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895350" y="2388870"/>
            <a:ext cx="3141345" cy="2677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5250" y="5306695"/>
            <a:ext cx="4665345" cy="1318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系统的主要组成部分称为</a:t>
            </a:r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“</a:t>
            </a:r>
            <a:r>
              <a:rPr lang="zh-CN" altLang="en-US" sz="1400" b="1" dirty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子系统</a:t>
            </a:r>
            <a:r>
              <a:rPr lang="en-US" altLang="zh-CN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”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，子系统之间应该具有尽可能</a:t>
            </a:r>
            <a:r>
              <a:rPr lang="zh-CN" altLang="en-US" sz="1400" b="1" dirty="0">
                <a:solidFill>
                  <a:srgbClr val="FFFF00"/>
                </a:solidFill>
                <a:latin typeface="+mj-ea"/>
                <a:ea typeface="+mj-ea"/>
                <a:cs typeface="+mj-ea"/>
                <a:sym typeface="+mn-ea"/>
              </a:rPr>
              <a:t>简单明确的接口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。</a:t>
            </a:r>
            <a:endParaRPr lang="zh-CN" altLang="en-US" sz="1400" b="1" dirty="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pPr>
              <a:lnSpc>
                <a:spcPct val="190000"/>
              </a:lnSpc>
            </a:pP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应尽量减少子系统彼此间的</a:t>
            </a:r>
            <a:r>
              <a:rPr lang="zh-CN" altLang="en-US" sz="1400" b="1" dirty="0">
                <a:solidFill>
                  <a:srgbClr val="00B0F0"/>
                </a:solidFill>
                <a:latin typeface="+mj-ea"/>
                <a:ea typeface="+mj-ea"/>
                <a:cs typeface="+mj-ea"/>
                <a:sym typeface="+mn-ea"/>
              </a:rPr>
              <a:t>依赖性</a:t>
            </a:r>
            <a:r>
              <a:rPr lang="zh-CN" altLang="en-US" sz="1400" b="1" dirty="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。</a:t>
            </a:r>
            <a:endParaRPr lang="zh-CN" altLang="en-US" sz="1400" b="1" dirty="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52365" y="141605"/>
            <a:ext cx="6671945" cy="1189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70000"/>
              </a:lnSpc>
            </a:pPr>
            <a:r>
              <a:rPr lang="zh-CN" altLang="en-US" sz="1400">
                <a:latin typeface="+mj-ea"/>
                <a:ea typeface="+mj-ea"/>
                <a:cs typeface="+mj-ea"/>
              </a:rPr>
              <a:t>大多数系统的面向对象设计模型，在逻辑上都由</a:t>
            </a:r>
            <a:r>
              <a:rPr lang="zh-CN" altLang="en-US" sz="1400" b="1">
                <a:solidFill>
                  <a:srgbClr val="00B0F0"/>
                </a:solidFill>
                <a:latin typeface="+mj-ea"/>
                <a:ea typeface="+mj-ea"/>
                <a:cs typeface="+mj-ea"/>
              </a:rPr>
              <a:t>问题域子系统</a:t>
            </a:r>
            <a:r>
              <a:rPr lang="zh-CN" altLang="en-US" sz="1400">
                <a:latin typeface="+mj-ea"/>
                <a:ea typeface="+mj-ea"/>
                <a:cs typeface="+mj-ea"/>
              </a:rPr>
              <a:t>、</a:t>
            </a:r>
            <a:r>
              <a:rPr lang="zh-CN" altLang="en-US" sz="1400" b="1">
                <a:solidFill>
                  <a:srgbClr val="00B0F0"/>
                </a:solidFill>
                <a:latin typeface="+mj-ea"/>
                <a:ea typeface="+mj-ea"/>
                <a:cs typeface="+mj-ea"/>
              </a:rPr>
              <a:t>人机交互子系统</a:t>
            </a:r>
            <a:r>
              <a:rPr lang="zh-CN" altLang="en-US" sz="1400">
                <a:latin typeface="+mj-ea"/>
                <a:ea typeface="+mj-ea"/>
                <a:cs typeface="+mj-ea"/>
              </a:rPr>
              <a:t>、</a:t>
            </a:r>
            <a:r>
              <a:rPr lang="zh-CN" altLang="en-US" sz="1400" b="1">
                <a:solidFill>
                  <a:srgbClr val="00B0F0"/>
                </a:solidFill>
                <a:latin typeface="+mj-ea"/>
                <a:ea typeface="+mj-ea"/>
                <a:cs typeface="+mj-ea"/>
              </a:rPr>
              <a:t>任务管理子系统</a:t>
            </a:r>
            <a:r>
              <a:rPr lang="zh-CN" altLang="en-US" sz="1400">
                <a:latin typeface="+mj-ea"/>
                <a:ea typeface="+mj-ea"/>
                <a:cs typeface="+mj-ea"/>
              </a:rPr>
              <a:t>和</a:t>
            </a:r>
            <a:r>
              <a:rPr lang="zh-CN" altLang="en-US" sz="1400" b="1">
                <a:solidFill>
                  <a:srgbClr val="00B0F0"/>
                </a:solidFill>
                <a:latin typeface="+mj-ea"/>
                <a:ea typeface="+mj-ea"/>
                <a:cs typeface="+mj-ea"/>
              </a:rPr>
              <a:t>数据管理子系统</a:t>
            </a:r>
            <a:r>
              <a:rPr lang="zh-CN" altLang="en-US" sz="1400">
                <a:latin typeface="+mj-ea"/>
                <a:ea typeface="+mj-ea"/>
                <a:cs typeface="+mj-ea"/>
              </a:rPr>
              <a:t>构成。</a:t>
            </a:r>
            <a:r>
              <a:rPr lang="zh-CN" altLang="zh-CN" sz="1400" dirty="0" smtClean="0">
                <a:latin typeface="+mj-ea"/>
                <a:ea typeface="+mj-ea"/>
                <a:cs typeface="+mj-ea"/>
                <a:sym typeface="+mn-ea"/>
              </a:rPr>
              <a:t>面</a:t>
            </a:r>
            <a:r>
              <a:rPr lang="zh-CN" altLang="zh-CN" sz="1400" dirty="0">
                <a:latin typeface="+mj-ea"/>
                <a:ea typeface="+mj-ea"/>
                <a:cs typeface="+mj-ea"/>
                <a:sym typeface="+mn-ea"/>
              </a:rPr>
              <a:t>向对象设计模型的</a:t>
            </a:r>
            <a:r>
              <a:rPr lang="en-US" altLang="zh-CN" sz="1400" dirty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4</a:t>
            </a:r>
            <a:r>
              <a:rPr lang="zh-CN" altLang="zh-CN" sz="1400" dirty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大组成部分</a:t>
            </a:r>
            <a:r>
              <a:rPr lang="zh-CN" altLang="en-US" sz="1400" dirty="0">
                <a:latin typeface="+mj-ea"/>
                <a:ea typeface="+mj-ea"/>
                <a:cs typeface="+mj-ea"/>
                <a:sym typeface="+mn-ea"/>
              </a:rPr>
              <a:t>可以</a:t>
            </a:r>
            <a:r>
              <a:rPr lang="zh-CN" altLang="zh-CN" sz="1400" dirty="0">
                <a:latin typeface="+mj-ea"/>
                <a:ea typeface="+mj-ea"/>
                <a:cs typeface="+mj-ea"/>
                <a:sym typeface="+mn-ea"/>
              </a:rPr>
              <a:t>想象成整个模型的</a:t>
            </a:r>
            <a:r>
              <a:rPr lang="en-US" altLang="zh-CN" sz="1400" dirty="0">
                <a:latin typeface="+mj-ea"/>
                <a:ea typeface="+mj-ea"/>
                <a:cs typeface="+mj-ea"/>
                <a:sym typeface="+mn-ea"/>
              </a:rPr>
              <a:t>4</a:t>
            </a:r>
            <a:r>
              <a:rPr lang="zh-CN" altLang="zh-CN" sz="1400" dirty="0">
                <a:latin typeface="+mj-ea"/>
                <a:ea typeface="+mj-ea"/>
                <a:cs typeface="+mj-ea"/>
                <a:sym typeface="+mn-ea"/>
              </a:rPr>
              <a:t>个垂直切片。</a:t>
            </a:r>
            <a:endParaRPr lang="zh-CN" altLang="en-US" sz="1400">
              <a:latin typeface="+mj-ea"/>
              <a:ea typeface="+mj-ea"/>
              <a:cs typeface="+mj-ea"/>
            </a:endParaRPr>
          </a:p>
        </p:txBody>
      </p:sp>
      <p:pic>
        <p:nvPicPr>
          <p:cNvPr id="7" name="图片 8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04585" y="1330960"/>
            <a:ext cx="4363085" cy="1092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本框 7"/>
          <p:cNvSpPr txBox="1"/>
          <p:nvPr/>
        </p:nvSpPr>
        <p:spPr>
          <a:xfrm>
            <a:off x="5050155" y="2616835"/>
            <a:ext cx="4656455" cy="3742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70000"/>
              </a:lnSpc>
              <a:buFont typeface="+mj-ea"/>
              <a:buAutoNum type="circleNumDbPlain"/>
            </a:pPr>
            <a:r>
              <a:rPr lang="zh-CN" altLang="en-US" sz="1400" b="1">
                <a:solidFill>
                  <a:srgbClr val="FF0000"/>
                </a:solidFill>
                <a:latin typeface="+mj-ea"/>
                <a:ea typeface="+mj-ea"/>
                <a:cs typeface="+mj-ea"/>
              </a:rPr>
              <a:t>子系统之间的两种交互方式</a:t>
            </a:r>
            <a:endParaRPr lang="zh-CN" altLang="en-US" sz="1400" b="1">
              <a:solidFill>
                <a:srgbClr val="FF0000"/>
              </a:solidFill>
              <a:latin typeface="+mj-ea"/>
              <a:ea typeface="+mj-ea"/>
              <a:cs typeface="+mj-ea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b="1">
                <a:latin typeface="+mj-ea"/>
                <a:ea typeface="+mj-ea"/>
                <a:cs typeface="+mj-ea"/>
              </a:rPr>
              <a:t>客户</a:t>
            </a:r>
            <a:r>
              <a:rPr lang="en-US" altLang="zh-CN" sz="1400" b="1">
                <a:latin typeface="+mj-ea"/>
                <a:ea typeface="+mj-ea"/>
                <a:cs typeface="+mj-ea"/>
              </a:rPr>
              <a:t>-</a:t>
            </a:r>
            <a:r>
              <a:rPr lang="zh-CN" altLang="en-US" sz="1400" b="1">
                <a:latin typeface="+mj-ea"/>
                <a:ea typeface="+mj-ea"/>
                <a:cs typeface="+mj-ea"/>
              </a:rPr>
              <a:t>供应商关系：</a:t>
            </a:r>
            <a:r>
              <a:rPr lang="zh-CN" altLang="en-US" sz="14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作为“客户”的子系统调用作为“供应商”的子系统，后者完成某些服务工作并返回结果。前者必须了解后者的接口，然而后者却无须了解前者的接口，因为任何交互行为都是</a:t>
            </a:r>
            <a:r>
              <a:rPr lang="zh-CN" altLang="en-US" sz="1400" b="1" dirty="0">
                <a:solidFill>
                  <a:srgbClr val="00B05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由前者驱动</a:t>
            </a:r>
            <a:r>
              <a:rPr lang="zh-CN" altLang="en-US" sz="14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的。</a:t>
            </a:r>
            <a:endParaRPr lang="zh-CN" altLang="en-US" sz="1400" dirty="0">
              <a:latin typeface="Bodoni MT Black" panose="02070A03080606020203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 sz="1400" b="1">
                <a:latin typeface="+mj-ea"/>
                <a:ea typeface="+mj-ea"/>
                <a:cs typeface="+mj-ea"/>
                <a:sym typeface="+mn-ea"/>
              </a:rPr>
              <a:t>平等伙伴关系：</a:t>
            </a:r>
            <a:r>
              <a:rPr lang="zh-CN" altLang="en-US" sz="1400" dirty="0">
                <a:latin typeface="Bodoni MT Black" panose="02070A03080606020203" pitchFamily="18" charset="0"/>
                <a:sym typeface="+mn-ea"/>
              </a:rPr>
              <a:t>每个子系统都可能调用其他子系统，每个子系统都必须了解其他子系统的接口。子系统之间的交互更复杂，这种交互方式还可能存在通信环路</a:t>
            </a:r>
            <a:endParaRPr lang="en-US" altLang="zh-CN" sz="1400" dirty="0">
              <a:latin typeface="Bodoni MT Black" panose="02070A03080606020203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70000"/>
              </a:lnSpc>
              <a:buFont typeface="+mj-ea"/>
              <a:buNone/>
            </a:pPr>
            <a:endParaRPr lang="zh-CN" altLang="en-US" sz="1400">
              <a:latin typeface="+mj-ea"/>
              <a:ea typeface="+mj-ea"/>
              <a:cs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6605" y="2616835"/>
            <a:ext cx="2065655" cy="2502535"/>
          </a:xfrm>
          <a:prstGeom prst="rect">
            <a:avLst/>
          </a:prstGeom>
        </p:spPr>
      </p:pic>
      <p:pic>
        <p:nvPicPr>
          <p:cNvPr id="102" name="图片 101"/>
          <p:cNvPicPr/>
          <p:nvPr/>
        </p:nvPicPr>
        <p:blipFill>
          <a:blip r:embed="rId5"/>
          <a:stretch>
            <a:fillRect/>
          </a:stretch>
        </p:blipFill>
        <p:spPr>
          <a:xfrm>
            <a:off x="9956800" y="5119370"/>
            <a:ext cx="1987550" cy="14585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8" name="矩形 10"/>
          <p:cNvSpPr>
            <a:spLocks noChangeArrowheads="1"/>
          </p:cNvSpPr>
          <p:nvPr/>
        </p:nvSpPr>
        <p:spPr bwMode="auto">
          <a:xfrm>
            <a:off x="5049520" y="5786755"/>
            <a:ext cx="4656455" cy="790575"/>
          </a:xfrm>
          <a:prstGeom prst="rect">
            <a:avLst/>
          </a:prstGeom>
          <a:solidFill>
            <a:srgbClr val="00B0F0"/>
          </a:solidFill>
          <a:ln w="9525">
            <a:solidFill>
              <a:srgbClr val="FF0000"/>
            </a:solidFill>
            <a:miter lim="800000"/>
          </a:ln>
        </p:spPr>
        <p:txBody>
          <a:bodyPr>
            <a:no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1200" b="1" dirty="0">
                <a:solidFill>
                  <a:srgbClr val="FFFF00"/>
                </a:solidFill>
                <a:latin typeface="+mj-ea"/>
                <a:ea typeface="+mj-ea"/>
                <a:cs typeface="+mj-ea"/>
              </a:rPr>
              <a:t>     </a:t>
            </a:r>
            <a:r>
              <a:rPr lang="zh-CN" altLang="zh-CN" sz="1200" b="1" dirty="0" smtClean="0">
                <a:solidFill>
                  <a:srgbClr val="FFFF00"/>
                </a:solidFill>
                <a:latin typeface="+mj-ea"/>
                <a:ea typeface="+mj-ea"/>
                <a:cs typeface="+mj-ea"/>
              </a:rPr>
              <a:t>总</a:t>
            </a:r>
            <a:r>
              <a:rPr lang="zh-CN" altLang="zh-CN" sz="1200" b="1" dirty="0">
                <a:solidFill>
                  <a:srgbClr val="FFFF00"/>
                </a:solidFill>
                <a:latin typeface="+mj-ea"/>
                <a:ea typeface="+mj-ea"/>
                <a:cs typeface="+mj-ea"/>
              </a:rPr>
              <a:t>地说来，单向交互比双向交互更容易理解，也更容易设计和修改，因此应该尽量使用</a:t>
            </a:r>
            <a:r>
              <a:rPr lang="zh-CN" altLang="zh-CN" sz="1200" b="1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客户</a:t>
            </a:r>
            <a:r>
              <a:rPr lang="en-US" altLang="zh-CN" sz="1200" b="1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-</a:t>
            </a:r>
            <a:r>
              <a:rPr lang="zh-CN" altLang="zh-CN" sz="1200" b="1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供应商关系</a:t>
            </a:r>
            <a:endParaRPr lang="zh-CN" altLang="zh-CN" sz="1200" b="1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>
            <a:off x="601789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0" y="-635"/>
            <a:ext cx="59563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系统分解</a:t>
            </a:r>
            <a:endParaRPr lang="zh-CN" altLang="en-US" b="1">
              <a:solidFill>
                <a:schemeClr val="bg2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6017260" y="-10160"/>
            <a:ext cx="6174740" cy="1379220"/>
            <a:chOff x="9476" y="-16"/>
            <a:chExt cx="9724" cy="2172"/>
          </a:xfrm>
        </p:grpSpPr>
        <p:sp>
          <p:nvSpPr>
            <p:cNvPr id="31" name="文本框 30"/>
            <p:cNvSpPr txBox="1"/>
            <p:nvPr/>
          </p:nvSpPr>
          <p:spPr>
            <a:xfrm>
              <a:off x="17001" y="690"/>
              <a:ext cx="1969" cy="1466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476" y="-16"/>
              <a:ext cx="9724" cy="71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 anchorCtr="0">
              <a:noAutofit/>
            </a:bodyPr>
            <a:p>
              <a:pPr marL="0" algn="l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b="1">
                  <a:solidFill>
                    <a:schemeClr val="bg2"/>
                  </a:solidFill>
                </a:rPr>
                <a:t> </a:t>
              </a:r>
              <a:r>
                <a:rPr lang="zh-CN" altLang="en-US" b="1">
                  <a:solidFill>
                    <a:schemeClr val="bg2"/>
                  </a:solidFill>
                </a:rPr>
                <a:t>系统分解</a:t>
              </a:r>
              <a:endParaRPr lang="zh-CN" altLang="en-US" b="1">
                <a:solidFill>
                  <a:schemeClr val="bg2"/>
                </a:solidFill>
                <a:sym typeface="+mn-ea"/>
              </a:endParaRPr>
            </a:p>
          </p:txBody>
        </p:sp>
      </p:grpSp>
      <p:sp>
        <p:nvSpPr>
          <p:cNvPr id="75778" name="文本框 3"/>
          <p:cNvSpPr txBox="1">
            <a:spLocks noChangeArrowheads="1"/>
          </p:cNvSpPr>
          <p:nvPr/>
        </p:nvSpPr>
        <p:spPr bwMode="auto">
          <a:xfrm>
            <a:off x="78105" y="603250"/>
            <a:ext cx="5878195" cy="865505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marL="342900" indent="-342900" algn="l" eaLnBrk="1" hangingPunct="1">
              <a:lnSpc>
                <a:spcPct val="180000"/>
              </a:lnSpc>
              <a:buClrTx/>
              <a:buSzTx/>
              <a:buFont typeface="+mj-ea"/>
              <a:buAutoNum type="circleNumDbPlain" startAt="2"/>
            </a:pPr>
            <a:r>
              <a:rPr lang="zh-CN" altLang="en-US" sz="1400" b="1">
                <a:solidFill>
                  <a:srgbClr val="FF0000"/>
                </a:solidFill>
                <a:latin typeface="+mj-ea"/>
                <a:ea typeface="+mj-ea"/>
                <a:cs typeface="+mj-ea"/>
              </a:rPr>
              <a:t>组织系统的两种方案</a:t>
            </a:r>
            <a:endParaRPr lang="zh-CN" altLang="en-US" sz="1400" b="1">
              <a:solidFill>
                <a:srgbClr val="FF0000"/>
              </a:solidFill>
              <a:latin typeface="+mj-ea"/>
              <a:ea typeface="+mj-ea"/>
              <a:cs typeface="+mj-ea"/>
            </a:endParaRPr>
          </a:p>
          <a:p>
            <a:pPr indent="0" algn="l" eaLnBrk="1" hangingPunct="1">
              <a:lnSpc>
                <a:spcPct val="180000"/>
              </a:lnSpc>
              <a:buClrTx/>
              <a:buSzTx/>
              <a:buFont typeface="+mj-ea"/>
              <a:buNone/>
            </a:pPr>
            <a:r>
              <a:rPr lang="zh-CN" altLang="en-US" sz="14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把子系统组织成完整的系统时，有</a:t>
            </a:r>
            <a:r>
              <a:rPr lang="zh-CN" altLang="en-US" sz="1400" b="1">
                <a:solidFill>
                  <a:srgbClr val="00B0F0"/>
                </a:solidFill>
                <a:latin typeface="+mj-ea"/>
                <a:ea typeface="+mj-ea"/>
                <a:cs typeface="+mj-ea"/>
              </a:rPr>
              <a:t>水平层次组织</a:t>
            </a:r>
            <a:r>
              <a:rPr lang="zh-CN" altLang="en-US" sz="14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和</a:t>
            </a:r>
            <a:r>
              <a:rPr lang="zh-CN" altLang="en-US" sz="1400" b="1">
                <a:solidFill>
                  <a:srgbClr val="00B0F0"/>
                </a:solidFill>
                <a:latin typeface="+mj-ea"/>
                <a:ea typeface="+mj-ea"/>
                <a:cs typeface="+mj-ea"/>
              </a:rPr>
              <a:t>垂直块组织</a:t>
            </a:r>
            <a:r>
              <a:rPr lang="zh-CN" altLang="en-US" sz="1400">
                <a:solidFill>
                  <a:schemeClr val="tx1"/>
                </a:solidFill>
                <a:latin typeface="+mj-ea"/>
                <a:ea typeface="+mj-ea"/>
                <a:cs typeface="+mj-ea"/>
              </a:rPr>
              <a:t>两种方案</a:t>
            </a:r>
            <a:endParaRPr lang="zh-CN" altLang="en-US" sz="1400">
              <a:solidFill>
                <a:schemeClr val="tx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8545" y="1123950"/>
            <a:ext cx="5932170" cy="474154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274320" y="1468755"/>
            <a:ext cx="5622290" cy="2190750"/>
            <a:chOff x="432" y="2558"/>
            <a:chExt cx="8854" cy="3450"/>
          </a:xfrm>
        </p:grpSpPr>
        <p:sp>
          <p:nvSpPr>
            <p:cNvPr id="13" name="文本框 12"/>
            <p:cNvSpPr txBox="1"/>
            <p:nvPr/>
          </p:nvSpPr>
          <p:spPr>
            <a:xfrm>
              <a:off x="432" y="2558"/>
              <a:ext cx="8855" cy="3451"/>
            </a:xfrm>
            <a:prstGeom prst="rect">
              <a:avLst/>
            </a:prstGeom>
            <a:solidFill>
              <a:srgbClr val="98F5F2"/>
            </a:solidFill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p>
              <a:pPr marL="171450" lvl="1" indent="-171450" algn="l" eaLnBrk="1" hangingPunct="1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lang="zh-CN" altLang="en-US" sz="1200">
                <a:sym typeface="+mn-ea"/>
              </a:endParaRPr>
            </a:p>
            <a:p>
              <a:pPr marL="171450" lvl="1" indent="-171450" algn="l" eaLnBrk="1" hangingPunct="1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ym typeface="+mn-ea"/>
                </a:rPr>
                <a:t>把软件系统组织成一个层次系统，每层是一个子系统。</a:t>
              </a:r>
              <a:endParaRPr lang="zh-CN" altLang="en-US" sz="1200"/>
            </a:p>
            <a:p>
              <a:pPr marL="171450" lvl="1" indent="-171450" algn="l" eaLnBrk="1" hangingPunct="1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ym typeface="+mn-ea"/>
                </a:rPr>
                <a:t>上层在下层的基础上建立，下层为实现上层功能而提供必要的服务。</a:t>
              </a:r>
              <a:endParaRPr lang="zh-CN" altLang="en-US" sz="1200"/>
            </a:p>
            <a:p>
              <a:pPr marL="171450" lvl="1" indent="-171450" algn="l" eaLnBrk="1" hangingPunct="1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ym typeface="+mn-ea"/>
                </a:rPr>
                <a:t>每一层内所包含的对象，彼此间相互独立，而处于不同层次上的对象，彼此间往往有关联。</a:t>
              </a:r>
              <a:endParaRPr lang="zh-CN" altLang="en-US" sz="1200"/>
            </a:p>
            <a:p>
              <a:pPr marL="171450" lvl="1" indent="-171450" algn="l" eaLnBrk="1" hangingPunct="1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ym typeface="+mn-ea"/>
                </a:rPr>
                <a:t>在上、下层之间存在客户-供应商关系。低层相当于供应商，上层相当于客户。</a:t>
              </a:r>
              <a:endParaRPr lang="zh-CN" altLang="en-US" sz="1200"/>
            </a:p>
            <a:p>
              <a:endParaRPr lang="zh-CN" altLang="en-US" sz="120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32" y="2558"/>
              <a:ext cx="2251" cy="483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rgbClr val="FFFF00"/>
                  </a:solidFill>
                </a:rPr>
                <a:t>水平层次组织</a:t>
              </a:r>
              <a:endParaRPr lang="zh-CN" altLang="en-US" sz="1400" b="1">
                <a:solidFill>
                  <a:srgbClr val="FFFF00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74320" y="3728085"/>
            <a:ext cx="5622925" cy="1141730"/>
            <a:chOff x="328" y="2225"/>
            <a:chExt cx="8855" cy="1798"/>
          </a:xfrm>
        </p:grpSpPr>
        <p:sp>
          <p:nvSpPr>
            <p:cNvPr id="21" name="文本框 20"/>
            <p:cNvSpPr txBox="1"/>
            <p:nvPr/>
          </p:nvSpPr>
          <p:spPr>
            <a:xfrm>
              <a:off x="328" y="2225"/>
              <a:ext cx="8855" cy="1798"/>
            </a:xfrm>
            <a:prstGeom prst="rect">
              <a:avLst/>
            </a:prstGeom>
            <a:solidFill>
              <a:srgbClr val="C9FBA3"/>
            </a:solidFill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p>
              <a:pPr marL="171450" lvl="1" indent="-171450" algn="l" eaLnBrk="1" hangingPunct="1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endParaRPr lang="zh-CN" altLang="en-US" sz="1200">
                <a:sym typeface="+mn-ea"/>
              </a:endParaRPr>
            </a:p>
            <a:p>
              <a:pPr marL="171450" lvl="1" indent="-171450" algn="l" eaLnBrk="1" hangingPunct="1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ym typeface="+mn-ea"/>
                </a:rPr>
                <a:t>把软件系统垂直地分解成若干个相对独立的、弱耦合的子系统。</a:t>
              </a:r>
              <a:endParaRPr lang="zh-CN" altLang="en-US" sz="1200"/>
            </a:p>
            <a:p>
              <a:pPr marL="171450" lvl="1" indent="-171450" algn="l" eaLnBrk="1" hangingPunct="1">
                <a:lnSpc>
                  <a:spcPct val="180000"/>
                </a:lnSpc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zh-CN" altLang="en-US" sz="1200">
                  <a:sym typeface="+mn-ea"/>
                </a:rPr>
                <a:t>一个子系统相当于一块，每块提供一种类型的服务。</a:t>
              </a:r>
              <a:endParaRPr lang="zh-CN" altLang="en-US" sz="12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28" y="2225"/>
              <a:ext cx="2251" cy="483"/>
            </a:xfrm>
            <a:prstGeom prst="rect">
              <a:avLst/>
            </a:prstGeom>
            <a:solidFill>
              <a:srgbClr val="48A088"/>
            </a:solidFill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rgbClr val="FFFF00"/>
                  </a:solidFill>
                </a:rPr>
                <a:t>垂直块组织</a:t>
              </a:r>
              <a:endParaRPr lang="zh-CN" altLang="en-US" sz="1400" b="1">
                <a:solidFill>
                  <a:srgbClr val="FFFF00"/>
                </a:solidFill>
              </a:endParaRPr>
            </a:p>
          </p:txBody>
        </p:sp>
      </p:grpSp>
      <p:pic>
        <p:nvPicPr>
          <p:cNvPr id="61445" name="图片 9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7755" y="5038725"/>
            <a:ext cx="3547745" cy="153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4" name="矩形 5"/>
          <p:cNvSpPr>
            <a:spLocks noChangeArrowheads="1"/>
          </p:cNvSpPr>
          <p:nvPr/>
        </p:nvSpPr>
        <p:spPr bwMode="auto">
          <a:xfrm>
            <a:off x="159385" y="5063490"/>
            <a:ext cx="2190115" cy="1503045"/>
          </a:xfrm>
          <a:prstGeom prst="rect">
            <a:avLst/>
          </a:prstGeom>
          <a:solidFill>
            <a:srgbClr val="FFC000"/>
          </a:solidFill>
          <a:ln w="9525">
            <a:solidFill>
              <a:schemeClr val="accent1"/>
            </a:solidFill>
            <a:miter lim="800000"/>
          </a:ln>
        </p:spPr>
        <p:txBody>
          <a:bodyPr wrap="square">
            <a:noAutofit/>
          </a:bodyPr>
          <a:p>
            <a:pPr eaLnBrk="1" hangingPunct="1">
              <a:lnSpc>
                <a:spcPct val="150000"/>
              </a:lnSpc>
            </a:pPr>
            <a:r>
              <a:rPr sz="1100" dirty="0">
                <a:latin typeface="+mj-ea"/>
                <a:ea typeface="+mj-ea"/>
                <a:cs typeface="+mj-ea"/>
              </a:rPr>
              <a:t>现代系统通常采用</a:t>
            </a:r>
            <a:r>
              <a:rPr sz="1100" b="1" dirty="0">
                <a:latin typeface="+mj-ea"/>
                <a:ea typeface="+mj-ea"/>
                <a:cs typeface="+mj-ea"/>
              </a:rPr>
              <a:t>混合模式</a:t>
            </a:r>
            <a:r>
              <a:rPr sz="1100" dirty="0">
                <a:latin typeface="+mj-ea"/>
                <a:ea typeface="+mj-ea"/>
                <a:cs typeface="+mj-ea"/>
              </a:rPr>
              <a:t>：在业务层面垂直切分（</a:t>
            </a:r>
            <a:r>
              <a:rPr sz="1100" b="1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领域驱动</a:t>
            </a:r>
            <a:r>
              <a:rPr sz="1100" dirty="0">
                <a:latin typeface="+mj-ea"/>
                <a:ea typeface="+mj-ea"/>
                <a:cs typeface="+mj-ea"/>
              </a:rPr>
              <a:t>），在技术层面水平分层（</a:t>
            </a:r>
            <a:r>
              <a:rPr sz="1100" b="1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基础设施共享</a:t>
            </a:r>
            <a:r>
              <a:rPr sz="1100" dirty="0">
                <a:latin typeface="+mj-ea"/>
                <a:ea typeface="+mj-ea"/>
                <a:cs typeface="+mj-ea"/>
              </a:rPr>
              <a:t>），通过清晰的边界和契约保持系统的可维护性和可演进性。</a:t>
            </a:r>
            <a:endParaRPr sz="1100" dirty="0">
              <a:latin typeface="+mj-ea"/>
              <a:ea typeface="+mj-ea"/>
              <a:cs typeface="+mj-ea"/>
            </a:endParaRPr>
          </a:p>
          <a:p>
            <a:pPr eaLnBrk="1" hangingPunct="1">
              <a:lnSpc>
                <a:spcPct val="150000"/>
              </a:lnSpc>
            </a:pPr>
            <a:endParaRPr sz="1100" dirty="0">
              <a:latin typeface="+mj-ea"/>
              <a:ea typeface="+mj-ea"/>
              <a:cs typeface="+mj-ea"/>
            </a:endParaRPr>
          </a:p>
        </p:txBody>
      </p:sp>
      <p:pic>
        <p:nvPicPr>
          <p:cNvPr id="3" name="图片 2" descr="deepseek_mermaid_20260114_9bc3e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675" y="450850"/>
            <a:ext cx="6148705" cy="57378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901045" y="273050"/>
            <a:ext cx="1121410" cy="11004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2" name="图片 1" descr="deepseek_mermaid_20260114_3a3b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025" y="2305050"/>
            <a:ext cx="9095105" cy="1915795"/>
          </a:xfrm>
          <a:prstGeom prst="rect">
            <a:avLst/>
          </a:prstGeom>
        </p:spPr>
      </p:pic>
      <p:pic>
        <p:nvPicPr>
          <p:cNvPr id="3" name="图片 2" descr="deepseek_mermaid_20260114_6822a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25" y="0"/>
            <a:ext cx="9911715" cy="6858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23825" y="5586095"/>
            <a:ext cx="1121410" cy="11004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rPr>
              <a:t>设计问题域子系统</a:t>
            </a:r>
            <a:endParaRPr lang="zh-CN" altLang="en-US" sz="2400" spc="200" dirty="0">
              <a:solidFill>
                <a:srgbClr val="55D5FF"/>
              </a:solidFill>
              <a:latin typeface="汉仪旗黑-85S" panose="00020600040101010101" pitchFamily="18" charset="-122"/>
              <a:ea typeface="汉仪旗黑-85S" panose="00020600040101010101" pitchFamily="18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8750" y="1041400"/>
            <a:ext cx="454914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>
              <a:lnSpc>
                <a:spcPct val="160000"/>
              </a:lnSpc>
              <a:defRPr/>
            </a:pPr>
            <a:r>
              <a:rPr lang="zh-CN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什么是问题域？</a:t>
            </a:r>
            <a:r>
              <a:rPr lang="zh-CN" sz="12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https://www.bilibili.com/video/BV1wG4y167vj?t=353.7</a:t>
            </a:r>
            <a:endParaRPr lang="zh-CN" sz="1200" dirty="0" smtClean="0"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5425" y="4296410"/>
            <a:ext cx="4482465" cy="700405"/>
          </a:xfrm>
          <a:prstGeom prst="rect">
            <a:avLst/>
          </a:prstGeom>
          <a:noFill/>
          <a:ln w="15875">
            <a:noFill/>
          </a:ln>
        </p:spPr>
        <p:txBody>
          <a:bodyPr wrap="square">
            <a:spAutoFit/>
          </a:bodyPr>
          <a:p>
            <a:pPr algn="ctr">
              <a:lnSpc>
                <a:spcPct val="165000"/>
              </a:lnSpc>
              <a:buSzPct val="75000"/>
              <a:defRPr/>
            </a:pPr>
            <a:r>
              <a:rPr lang="zh-CN" sz="1200" b="1" dirty="0" smtClean="0">
                <a:solidFill>
                  <a:srgbClr val="FFFF00"/>
                </a:solidFill>
                <a:latin typeface="+mn-ea"/>
                <a:cs typeface="+mn-ea"/>
              </a:rPr>
              <a:t>分析工作可以而且应该与具体实现无关</a:t>
            </a:r>
            <a:endParaRPr lang="zh-CN" sz="1200" b="1" dirty="0" smtClean="0">
              <a:solidFill>
                <a:srgbClr val="FFFF00"/>
              </a:solidFill>
              <a:latin typeface="+mn-ea"/>
              <a:cs typeface="+mn-ea"/>
            </a:endParaRPr>
          </a:p>
          <a:p>
            <a:pPr algn="ctr">
              <a:lnSpc>
                <a:spcPct val="165000"/>
              </a:lnSpc>
              <a:buClrTx/>
              <a:buSzPct val="75000"/>
              <a:buFontTx/>
              <a:defRPr/>
            </a:pPr>
            <a:r>
              <a:rPr lang="zh-CN" sz="1200" b="1" dirty="0" smtClean="0">
                <a:solidFill>
                  <a:srgbClr val="FFFF00"/>
                </a:solidFill>
                <a:latin typeface="+mn-ea"/>
                <a:cs typeface="+mn-ea"/>
              </a:rPr>
              <a:t>设计工作则在很大程度上受具体实现环境的约束</a:t>
            </a:r>
            <a:endParaRPr lang="zh-CN" sz="1200" b="1" dirty="0" smtClean="0">
              <a:solidFill>
                <a:srgbClr val="FFFF00"/>
              </a:solidFill>
              <a:latin typeface="+mn-ea"/>
              <a:cs typeface="+mn-ea"/>
            </a:endParaRPr>
          </a:p>
        </p:txBody>
      </p:sp>
      <p:sp>
        <p:nvSpPr>
          <p:cNvPr id="151557" name="文本框 4"/>
          <p:cNvSpPr txBox="1">
            <a:spLocks noChangeArrowheads="1"/>
          </p:cNvSpPr>
          <p:nvPr/>
        </p:nvSpPr>
        <p:spPr bwMode="auto">
          <a:xfrm>
            <a:off x="4718869" y="2840360"/>
            <a:ext cx="8280920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anose="02070A03080606020203" pitchFamily="18" charset="0"/>
              </a:rPr>
              <a:t>   </a:t>
            </a:r>
            <a:r>
              <a:rPr lang="zh-CN" altLang="en-US" sz="2400" dirty="0">
                <a:latin typeface="Bodoni MT Black" panose="02070A03080606020203" pitchFamily="18" charset="0"/>
              </a:rPr>
              <a:t>  </a:t>
            </a:r>
            <a:endParaRPr lang="zh-CN" altLang="en-US" sz="2400" dirty="0">
              <a:latin typeface="Bodoni MT Black" panose="02070A03080606020203" pitchFamily="18" charset="0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840105" y="2129155"/>
            <a:ext cx="3400425" cy="21672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17170" y="5130165"/>
            <a:ext cx="4482465" cy="1455420"/>
          </a:xfrm>
          <a:prstGeom prst="rect">
            <a:avLst/>
          </a:prstGeom>
          <a:noFill/>
          <a:ln w="15875">
            <a:noFill/>
          </a:ln>
        </p:spPr>
        <p:txBody>
          <a:bodyPr wrap="square">
            <a:spAutoFit/>
          </a:bodyPr>
          <a:p>
            <a:pPr algn="l">
              <a:lnSpc>
                <a:spcPct val="185000"/>
              </a:lnSpc>
              <a:buSzPct val="75000"/>
              <a:defRPr/>
            </a:pPr>
            <a:r>
              <a:rPr lang="zh-CN" altLang="en-US" sz="1200" b="1" dirty="0" smtClean="0">
                <a:solidFill>
                  <a:schemeClr val="bg2"/>
                </a:solidFill>
                <a:latin typeface="+mn-ea"/>
                <a:cs typeface="+mn-ea"/>
              </a:rPr>
              <a:t>通过面向对象分析所得出的问题域精确模型，为设计问题域子系统奠定了良好的基础，建立了完整框架。应该保持面向对象分析所建立的问题域结构。通常，</a:t>
            </a:r>
            <a:r>
              <a:rPr lang="zh-CN" altLang="en-US" sz="1200" b="1" dirty="0" smtClean="0">
                <a:solidFill>
                  <a:srgbClr val="FF0000"/>
                </a:solidFill>
                <a:latin typeface="+mn-ea"/>
                <a:cs typeface="+mn-ea"/>
              </a:rPr>
              <a:t>面向对象设计进需要从实现角度对问题域模型做一些补充或修改。</a:t>
            </a:r>
            <a:endParaRPr lang="zh-CN" altLang="en-US" sz="1200" b="1" dirty="0" smtClean="0">
              <a:solidFill>
                <a:srgbClr val="FF0000"/>
              </a:solidFill>
              <a:latin typeface="+mn-ea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69840" y="298450"/>
            <a:ext cx="6855460" cy="295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eaLnBrk="1" hangingPunct="1">
              <a:lnSpc>
                <a:spcPct val="255000"/>
              </a:lnSpc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  <a:sym typeface="+mn-ea"/>
              </a:rPr>
              <a:t>调整需求（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  <a:sym typeface="+mn-ea"/>
              </a:rPr>
              <a:t>用户需求或外部条件变化；分析结果不能准确反映用户需求</a:t>
            </a:r>
            <a:r>
              <a:rPr lang="zh-CN" altLang="en-US" sz="1400" b="1" dirty="0" smtClean="0">
                <a:latin typeface="+mn-ea"/>
                <a:sym typeface="+mn-ea"/>
              </a:rPr>
              <a:t>）</a:t>
            </a:r>
            <a:endParaRPr lang="zh-CN" altLang="en-US" sz="1400" b="1" dirty="0" smtClean="0">
              <a:latin typeface="+mn-ea"/>
              <a:sym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重用已有的类（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</a:rPr>
              <a:t>尽量重用哪些使无用属性和服务降到最低的类</a:t>
            </a:r>
            <a:r>
              <a:rPr lang="zh-CN" altLang="en-US" sz="1400" b="1" dirty="0" smtClean="0">
                <a:latin typeface="+mn-ea"/>
              </a:rPr>
              <a:t>）</a:t>
            </a:r>
            <a:endParaRPr lang="zh-CN" altLang="en-US" sz="1400" b="1" dirty="0" smtClean="0">
              <a:latin typeface="+mn-ea"/>
            </a:endParaRPr>
          </a:p>
          <a:p>
            <a:pPr marL="342900" indent="-342900" algn="l" eaLnBrk="1" hangingPunct="1">
              <a:lnSpc>
                <a:spcPct val="230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把问题域类组合在一起（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</a:rPr>
              <a:t> 套装 </a:t>
            </a:r>
            <a:r>
              <a:rPr lang="zh-CN" altLang="en-US" sz="1400" b="1" dirty="0" smtClean="0">
                <a:latin typeface="+mn-ea"/>
              </a:rPr>
              <a:t>）</a:t>
            </a:r>
            <a:endParaRPr lang="zh-CN" altLang="en-US" sz="1400" b="1" dirty="0" smtClean="0">
              <a:latin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添加一般化类以建立协议（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</a:rPr>
              <a:t>建立公共协议</a:t>
            </a:r>
            <a:r>
              <a:rPr lang="zh-CN" altLang="en-US" sz="1400" b="1" dirty="0" smtClean="0">
                <a:latin typeface="+mn-ea"/>
              </a:rPr>
              <a:t>）</a:t>
            </a:r>
            <a:endParaRPr lang="zh-CN" altLang="en-US" sz="1400" b="1" dirty="0" smtClean="0">
              <a:latin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r>
              <a:rPr lang="zh-CN" altLang="en-US" sz="1400" b="1" dirty="0" smtClean="0">
                <a:latin typeface="+mn-ea"/>
              </a:rPr>
              <a:t>调整继承层次</a:t>
            </a:r>
            <a:r>
              <a:rPr lang="zh-CN" altLang="en-US" sz="1400" b="1" dirty="0" smtClean="0">
                <a:latin typeface="+mn-ea"/>
                <a:sym typeface="+mn-ea"/>
              </a:rPr>
              <a:t>（</a:t>
            </a:r>
            <a:r>
              <a:rPr lang="zh-CN" altLang="en-US" sz="1400" b="1" dirty="0" smtClean="0">
                <a:solidFill>
                  <a:srgbClr val="FF0000"/>
                </a:solidFill>
                <a:latin typeface="+mn-ea"/>
                <a:sym typeface="+mn-ea"/>
              </a:rPr>
              <a:t>多重继承关系</a:t>
            </a:r>
            <a:r>
              <a:rPr lang="zh-CN" altLang="en-US" sz="1400" b="1" dirty="0" smtClean="0">
                <a:latin typeface="+mn-ea"/>
                <a:sym typeface="+mn-ea"/>
              </a:rPr>
              <a:t>）</a:t>
            </a:r>
            <a:endParaRPr lang="zh-CN" altLang="en-US" sz="1400" b="1" dirty="0" smtClean="0">
              <a:latin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endParaRPr lang="zh-CN" altLang="en-US" sz="1400" b="1" dirty="0" smtClean="0">
              <a:latin typeface="+mn-ea"/>
            </a:endParaRPr>
          </a:p>
        </p:txBody>
      </p:sp>
      <p:pic>
        <p:nvPicPr>
          <p:cNvPr id="75781" name="图片 8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005" y="3540125"/>
            <a:ext cx="2289175" cy="2999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2" name="图片 9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63795" y="3249930"/>
            <a:ext cx="3326765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77" name="图片 5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411335" y="1477010"/>
            <a:ext cx="2513965" cy="177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83" name="矩形 12"/>
          <p:cNvSpPr>
            <a:spLocks noChangeArrowheads="1"/>
          </p:cNvSpPr>
          <p:nvPr/>
        </p:nvSpPr>
        <p:spPr bwMode="auto">
          <a:xfrm>
            <a:off x="10507662" y="6034723"/>
            <a:ext cx="817880" cy="245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pPr eaLnBrk="1" hangingPunct="1"/>
            <a:r>
              <a:rPr lang="zh-CN" altLang="zh-CN" sz="1000" b="1">
                <a:latin typeface="Bodoni MT Black" panose="02070A03080606020203" pitchFamily="18" charset="0"/>
                <a:cs typeface="Times New Roman" panose="02020603050405020304" pitchFamily="18" charset="0"/>
              </a:rPr>
              <a:t>窄菱形模式</a:t>
            </a:r>
            <a:endParaRPr lang="zh-CN" altLang="zh-CN" sz="1000" b="1">
              <a:latin typeface="Bodoni MT Black" panose="02070A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12"/>
          <p:cNvSpPr>
            <a:spLocks noChangeArrowheads="1"/>
          </p:cNvSpPr>
          <p:nvPr/>
        </p:nvSpPr>
        <p:spPr bwMode="auto">
          <a:xfrm>
            <a:off x="7639367" y="6126798"/>
            <a:ext cx="817880" cy="245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pPr eaLnBrk="1" hangingPunct="1"/>
            <a:r>
              <a:rPr lang="zh-CN" altLang="zh-CN" sz="1000" b="1">
                <a:latin typeface="Bodoni MT Black" panose="02070A03080606020203" pitchFamily="18" charset="0"/>
                <a:cs typeface="Times New Roman" panose="02020603050405020304" pitchFamily="18" charset="0"/>
              </a:rPr>
              <a:t>阔菱形模式</a:t>
            </a:r>
            <a:endParaRPr lang="zh-CN" altLang="zh-CN" sz="1000" b="1">
              <a:latin typeface="Bodoni MT Black" panose="02070A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12"/>
          <p:cNvSpPr>
            <a:spLocks noChangeArrowheads="1"/>
          </p:cNvSpPr>
          <p:nvPr/>
        </p:nvSpPr>
        <p:spPr bwMode="auto">
          <a:xfrm>
            <a:off x="11211242" y="1811338"/>
            <a:ext cx="817880" cy="245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p>
            <a:pPr eaLnBrk="1" hangingPunct="1"/>
            <a:r>
              <a:rPr lang="zh-CN" altLang="zh-CN" sz="1000" b="1">
                <a:latin typeface="Bodoni MT Black" panose="02070A03080606020203" pitchFamily="18" charset="0"/>
                <a:cs typeface="Times New Roman" panose="02020603050405020304" pitchFamily="18" charset="0"/>
              </a:rPr>
              <a:t>单继承模式</a:t>
            </a:r>
            <a:endParaRPr lang="zh-CN" altLang="zh-CN" sz="1000" b="1">
              <a:latin typeface="Bodoni MT Black" panose="02070A03080606020203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7093" y="0"/>
            <a:ext cx="2672715" cy="2277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440" y="-13970"/>
            <a:ext cx="4474210" cy="43929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+mj-ea"/>
                <a:ea typeface="+mj-ea"/>
              </a:rPr>
              <a:t>设计人机交互子系统</a:t>
            </a:r>
            <a:endParaRPr lang="zh-CN" altLang="en-US" sz="2400" spc="200" dirty="0">
              <a:solidFill>
                <a:srgbClr val="55D5FF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8750" y="1181100"/>
            <a:ext cx="4549140" cy="1658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>
              <a:lnSpc>
                <a:spcPct val="200000"/>
              </a:lnSpc>
              <a:defRPr/>
            </a:pPr>
            <a:r>
              <a:rPr lang="zh-CN" sz="14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人机交互</a:t>
            </a:r>
            <a:r>
              <a:rPr lang="zh-CN" sz="14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是一门研究系统与用户之间的交互关系的学问。系统可以是各种各样的机器，也可以是计算机化的系统和软件。人机交互界面通常是指</a:t>
            </a:r>
            <a:r>
              <a:rPr lang="zh-CN" sz="1400" b="1" dirty="0" smtClean="0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用户可见的部分</a:t>
            </a:r>
            <a:r>
              <a:rPr lang="zh-CN" sz="14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。用户通过人机交互界面与系统交流，并进行操作。</a:t>
            </a:r>
            <a:endParaRPr lang="zh-CN" sz="1400" b="1" dirty="0" smtClean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1557" name="文本框 4"/>
          <p:cNvSpPr txBox="1">
            <a:spLocks noChangeArrowheads="1"/>
          </p:cNvSpPr>
          <p:nvPr/>
        </p:nvSpPr>
        <p:spPr bwMode="auto">
          <a:xfrm>
            <a:off x="4718869" y="2840360"/>
            <a:ext cx="8280920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anose="02070A03080606020203" pitchFamily="18" charset="0"/>
              </a:rPr>
              <a:t>   </a:t>
            </a:r>
            <a:r>
              <a:rPr lang="zh-CN" altLang="en-US" sz="2400" dirty="0">
                <a:latin typeface="Bodoni MT Black" panose="02070A03080606020203" pitchFamily="18" charset="0"/>
              </a:rPr>
              <a:t>  </a:t>
            </a:r>
            <a:endParaRPr lang="zh-CN" altLang="en-US" sz="2400" dirty="0">
              <a:latin typeface="Bodoni MT Black" panose="02070A03080606020203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" y="3393440"/>
            <a:ext cx="4633595" cy="294386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824095" y="0"/>
            <a:ext cx="3526155" cy="213233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indent="0" algn="l" eaLnBrk="1" hangingPunct="1">
              <a:lnSpc>
                <a:spcPct val="215000"/>
              </a:lnSpc>
              <a:buClrTx/>
              <a:buSzTx/>
              <a:buFont typeface="+mj-ea"/>
              <a:buNone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sym typeface="+mn-ea"/>
              </a:rPr>
              <a:t>用户研究与需求分析</a:t>
            </a:r>
            <a:endParaRPr lang="zh-CN" altLang="en-US" sz="1200" b="1" dirty="0" smtClean="0">
              <a:solidFill>
                <a:srgbClr val="FFFF00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15000"/>
              </a:lnSpc>
              <a:buClrTx/>
              <a:buSzTx/>
              <a:buFont typeface="+mj-lt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明确使用人群（年龄、技能、文化背景等）。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15000"/>
              </a:lnSpc>
              <a:buClrTx/>
              <a:buSzTx/>
              <a:buFont typeface="+mj-lt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分析用户在什么环境下使用系统（办公、户外等）。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15000"/>
              </a:lnSpc>
              <a:buClrTx/>
              <a:buSzTx/>
              <a:buFont typeface="+mj-lt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通过访谈、问卷、观察等方法，挖掘用户真实需求。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15000"/>
              </a:lnSpc>
              <a:buClrTx/>
              <a:buSzTx/>
              <a:buFont typeface="+mj-lt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竞品分析：研究类似系统的优缺点。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342900" indent="-342900" algn="l" eaLnBrk="1" hangingPunct="1">
              <a:lnSpc>
                <a:spcPct val="215000"/>
              </a:lnSpc>
              <a:buClrTx/>
              <a:buSzTx/>
              <a:buFont typeface="+mj-ea"/>
              <a:buAutoNum type="circleNumDbPlain" startAt="4"/>
            </a:pP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algn="l" eaLnBrk="1" hangingPunct="1">
              <a:lnSpc>
                <a:spcPct val="215000"/>
              </a:lnSpc>
              <a:buClrTx/>
              <a:buSzTx/>
              <a:buFont typeface="+mj-ea"/>
            </a:pPr>
            <a:endParaRPr lang="zh-CN" altLang="en-US" sz="12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algn="l" eaLnBrk="1" hangingPunct="1">
              <a:lnSpc>
                <a:spcPct val="215000"/>
              </a:lnSpc>
              <a:buClrTx/>
              <a:buSzTx/>
              <a:buFont typeface="+mj-ea"/>
              <a:buNone/>
            </a:pPr>
            <a:endParaRPr lang="zh-CN" altLang="en-US" sz="1200" b="1" dirty="0" smtClean="0">
              <a:solidFill>
                <a:schemeClr val="bg2"/>
              </a:solidFill>
              <a:latin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50250" y="0"/>
            <a:ext cx="3841750" cy="2132330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l" eaLnBrk="1" hangingPunct="1">
              <a:lnSpc>
                <a:spcPct val="215000"/>
              </a:lnSpc>
              <a:buClrTx/>
              <a:buSzTx/>
              <a:buFont typeface="+mj-ea"/>
              <a:buNone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sym typeface="+mn-ea"/>
              </a:rPr>
              <a:t>概念设计与信息架构</a:t>
            </a:r>
            <a:endParaRPr lang="zh-CN" altLang="en-US" sz="1200" b="1" dirty="0" smtClean="0">
              <a:solidFill>
                <a:srgbClr val="FFFF00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0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核心功能定义：确定系统必须支持的关键任务。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0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信息架构：组织内容与功能，设计清晰的导航和菜单结构（如树状、卡片式）。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0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交互流程设计：绘制任务流程图，确保操作路径简洁。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indent="0" algn="l" eaLnBrk="1" hangingPunct="1">
              <a:lnSpc>
                <a:spcPct val="205000"/>
              </a:lnSpc>
              <a:buClrTx/>
              <a:buSzTx/>
              <a:buFont typeface="+mj-ea"/>
              <a:buNone/>
            </a:pP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24095" y="2132330"/>
            <a:ext cx="3526790" cy="2384425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l" eaLnBrk="1" hangingPunct="1">
              <a:lnSpc>
                <a:spcPct val="215000"/>
              </a:lnSpc>
              <a:buClrTx/>
              <a:buSzTx/>
              <a:buFont typeface="+mj-ea"/>
              <a:buNone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sym typeface="+mn-ea"/>
              </a:rPr>
              <a:t>交互设计</a:t>
            </a:r>
            <a:endParaRPr lang="zh-CN" altLang="en-US" sz="1200" b="1" dirty="0" smtClean="0">
              <a:solidFill>
                <a:srgbClr val="FFFF00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2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交互模式选择：根据场景选择自然交互（语音、手势）或传统交互（键鼠、触摸）。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2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原型设计：制作低保真线框图或高保真可交互原型。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2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反馈与响应：确保用户操作后系统有即时反馈（如动画、声音）。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342900" indent="-342900" algn="l" eaLnBrk="1" hangingPunct="1">
              <a:lnSpc>
                <a:spcPct val="225000"/>
              </a:lnSpc>
              <a:buClrTx/>
              <a:buSzTx/>
              <a:buFont typeface="+mj-ea"/>
              <a:buAutoNum type="circleNumDbPlain" startAt="4"/>
            </a:pP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342900" indent="-342900" algn="l" eaLnBrk="1" hangingPunct="1">
              <a:lnSpc>
                <a:spcPct val="225000"/>
              </a:lnSpc>
              <a:buClrTx/>
              <a:buSzTx/>
              <a:buFont typeface="+mj-ea"/>
              <a:buAutoNum type="circleNumDbPlain" startAt="4"/>
            </a:pP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50250" y="2132330"/>
            <a:ext cx="3841750" cy="23844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l" eaLnBrk="1" hangingPunct="1">
              <a:lnSpc>
                <a:spcPct val="215000"/>
              </a:lnSpc>
              <a:buClrTx/>
              <a:buSzTx/>
              <a:buFont typeface="+mj-ea"/>
              <a:buNone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sym typeface="+mn-ea"/>
              </a:rPr>
              <a:t>界面设计（UI）</a:t>
            </a:r>
            <a:endParaRPr lang="zh-CN" altLang="en-US" sz="1200" b="1" dirty="0" smtClean="0">
              <a:solidFill>
                <a:srgbClr val="FFFF00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视觉层次：通过色彩、排版、对比度突出重要信息。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可访问性：考虑色盲、视力障碍用户。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响应式设计：适配不同屏幕尺寸（桌面、移动、穿戴设备）。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24095" y="4516755"/>
            <a:ext cx="3526790" cy="234061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l" eaLnBrk="1" hangingPunct="1">
              <a:lnSpc>
                <a:spcPct val="215000"/>
              </a:lnSpc>
              <a:buClrTx/>
              <a:buSzTx/>
              <a:buFont typeface="+mj-ea"/>
              <a:buNone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sym typeface="+mn-ea"/>
              </a:rPr>
              <a:t>原型测试与迭代</a:t>
            </a:r>
            <a:endParaRPr lang="zh-CN" altLang="en-US" sz="1200" b="1" dirty="0" smtClean="0">
              <a:solidFill>
                <a:srgbClr val="FFFF00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</a:rPr>
              <a:t>可用性测试：邀请真实用户测试原型，观察操作难点。</a:t>
            </a:r>
            <a:endParaRPr lang="zh-CN" altLang="en-US" sz="1000" b="1" dirty="0" smtClean="0">
              <a:solidFill>
                <a:schemeClr val="bg2"/>
              </a:solidFill>
              <a:latin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</a:rPr>
              <a:t>A/B测试：对比不同设计方案的效率。</a:t>
            </a:r>
            <a:endParaRPr lang="zh-CN" altLang="en-US" sz="1000" b="1" dirty="0" smtClean="0">
              <a:solidFill>
                <a:schemeClr val="bg2"/>
              </a:solidFill>
              <a:latin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</a:rPr>
              <a:t>数据驱动优化：通过用户行为数据（如点击热图）持续改进。</a:t>
            </a:r>
            <a:endParaRPr lang="zh-CN" altLang="en-US" sz="1000" b="1" dirty="0" smtClean="0">
              <a:solidFill>
                <a:schemeClr val="bg2"/>
              </a:solidFill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50885" y="4516755"/>
            <a:ext cx="3841750" cy="2331720"/>
          </a:xfrm>
          <a:prstGeom prst="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l" eaLnBrk="1" hangingPunct="1">
              <a:lnSpc>
                <a:spcPct val="215000"/>
              </a:lnSpc>
              <a:buClrTx/>
              <a:buSzTx/>
              <a:buFont typeface="+mj-ea"/>
              <a:buNone/>
            </a:pPr>
            <a:r>
              <a:rPr lang="zh-CN" altLang="en-US" sz="1200" b="1" dirty="0" smtClean="0">
                <a:solidFill>
                  <a:srgbClr val="FFFF00"/>
                </a:solidFill>
                <a:latin typeface="+mn-ea"/>
                <a:sym typeface="+mn-ea"/>
              </a:rPr>
              <a:t>开发与部署</a:t>
            </a:r>
            <a:endParaRPr lang="zh-CN" altLang="en-US" sz="1200" b="1" dirty="0" smtClean="0">
              <a:solidFill>
                <a:srgbClr val="FFFF00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技术选型：选择适合的前端框架（如React、Vue）和交互库。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性能优化：确保交互响应延迟低于100毫秒（符合尼尔森准则）。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marL="228600" indent="-228600" algn="l" eaLnBrk="1" hangingPunct="1">
              <a:lnSpc>
                <a:spcPct val="255000"/>
              </a:lnSpc>
              <a:buClrTx/>
              <a:buSzTx/>
              <a:buFont typeface="+mj-ea"/>
              <a:buAutoNum type="arabicPeriod"/>
            </a:pPr>
            <a:r>
              <a:rPr lang="zh-CN" altLang="en-US" sz="1000" b="1" dirty="0" smtClean="0">
                <a:solidFill>
                  <a:schemeClr val="bg2"/>
                </a:solidFill>
                <a:latin typeface="+mn-ea"/>
                <a:sym typeface="+mn-ea"/>
              </a:rPr>
              <a:t>多平台适配：确保跨平台体验一致性。</a:t>
            </a: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000" b="1" dirty="0" smtClean="0">
              <a:solidFill>
                <a:schemeClr val="bg2"/>
              </a:solidFill>
              <a:latin typeface="+mn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+mn-ea"/>
                <a:ea typeface="+mn-ea"/>
              </a:rPr>
              <a:t>设计任务管理子系统</a:t>
            </a:r>
            <a:endParaRPr lang="zh-CN" altLang="en-US" sz="2400" spc="200" dirty="0">
              <a:solidFill>
                <a:srgbClr val="55D5FF"/>
              </a:solidFill>
              <a:latin typeface="+mn-ea"/>
              <a:ea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9545" y="1145540"/>
            <a:ext cx="4549140" cy="131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>
              <a:lnSpc>
                <a:spcPct val="170000"/>
              </a:lnSpc>
              <a:defRPr/>
            </a:pPr>
            <a:r>
              <a:rPr lang="zh-CN" sz="14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任务管理子系统</a:t>
            </a:r>
            <a:r>
              <a:rPr lang="zh-CN" sz="14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是一个专门设计用于帮助组织和管理任务、项目及其相关工作的工具或软件模块。 它通常是更大系统的一部分。这个子系统的核心功能包括</a:t>
            </a:r>
            <a:r>
              <a:rPr lang="zh-CN" sz="1400" b="1" dirty="0" smtClean="0">
                <a:solidFill>
                  <a:srgbClr val="55D5FF"/>
                </a:solidFill>
                <a:latin typeface="+mn-ea"/>
                <a:cs typeface="+mn-ea"/>
                <a:sym typeface="+mn-ea"/>
              </a:rPr>
              <a:t>任务分配、进度追踪、优先级设置、资源管理以及报告生成等</a:t>
            </a:r>
            <a:r>
              <a:rPr lang="zh-CN" sz="1400" b="1" dirty="0" smtClean="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。</a:t>
            </a:r>
            <a:endParaRPr lang="zh-CN" sz="1400" b="1" dirty="0" smtClean="0">
              <a:solidFill>
                <a:schemeClr val="bg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1557" name="文本框 4"/>
          <p:cNvSpPr txBox="1">
            <a:spLocks noChangeArrowheads="1"/>
          </p:cNvSpPr>
          <p:nvPr/>
        </p:nvSpPr>
        <p:spPr bwMode="auto">
          <a:xfrm>
            <a:off x="4718869" y="2840360"/>
            <a:ext cx="8280920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anose="02070A03080606020203" pitchFamily="18" charset="0"/>
              </a:rPr>
              <a:t>   </a:t>
            </a:r>
            <a:r>
              <a:rPr lang="zh-CN" altLang="en-US" sz="2400" dirty="0">
                <a:latin typeface="Bodoni MT Black" panose="02070A03080606020203" pitchFamily="18" charset="0"/>
              </a:rPr>
              <a:t>  </a:t>
            </a:r>
            <a:endParaRPr lang="zh-CN" altLang="en-US" sz="2400" dirty="0">
              <a:latin typeface="Bodoni MT Black" panose="02070A03080606020203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47590" y="0"/>
            <a:ext cx="7343775" cy="2464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r>
              <a:rPr lang="zh-CN" sz="1400" b="1" dirty="0" smtClean="0">
                <a:latin typeface="+mn-ea"/>
                <a:cs typeface="+mn-ea"/>
                <a:sym typeface="+mn-ea"/>
              </a:rPr>
              <a:t>分析并发性（</a:t>
            </a:r>
            <a:r>
              <a:rPr lang="zh-CN" sz="14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动态模型是分析系统并发性的主要依据</a:t>
            </a:r>
            <a:r>
              <a:rPr lang="zh-CN" sz="1400" b="1" dirty="0" smtClean="0">
                <a:latin typeface="+mn-ea"/>
                <a:cs typeface="+mn-ea"/>
                <a:sym typeface="+mn-ea"/>
              </a:rPr>
              <a:t>）</a:t>
            </a:r>
            <a:endParaRPr lang="zh-CN" sz="1400" b="1" dirty="0" smtClean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marL="171450" indent="-17145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200" dirty="0" smtClean="0">
                <a:latin typeface="+mn-ea"/>
                <a:cs typeface="+mn-ea"/>
                <a:sym typeface="+mn-ea"/>
              </a:rPr>
              <a:t>如果两个对象彼此间不存在交互，或者它们同时接受事件，则这两个对象在本质上是</a:t>
            </a:r>
            <a:r>
              <a:rPr lang="zh-CN" sz="1200" b="1" dirty="0" smtClean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  <a:sym typeface="+mn-ea"/>
              </a:rPr>
              <a:t>并发</a:t>
            </a:r>
            <a:r>
              <a:rPr lang="zh-CN" sz="1200" dirty="0" smtClean="0">
                <a:latin typeface="+mn-ea"/>
                <a:cs typeface="+mn-ea"/>
                <a:sym typeface="+mn-ea"/>
              </a:rPr>
              <a:t>的。</a:t>
            </a:r>
            <a:endParaRPr lang="zh-CN" sz="1200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200" dirty="0" smtClean="0">
                <a:latin typeface="+mn-ea"/>
                <a:cs typeface="+mn-ea"/>
                <a:sym typeface="+mn-ea"/>
              </a:rPr>
              <a:t>通过检查各个对象的状态图及它们之间交换的事件，能够把若干个非并发的对象归并到一条</a:t>
            </a:r>
            <a:r>
              <a:rPr lang="zh-CN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控制线</a:t>
            </a:r>
            <a:r>
              <a:rPr lang="zh-CN" sz="1200" dirty="0" smtClean="0">
                <a:latin typeface="+mn-ea"/>
                <a:cs typeface="+mn-ea"/>
                <a:sym typeface="+mn-ea"/>
              </a:rPr>
              <a:t>中。在这条路径上，</a:t>
            </a:r>
            <a:r>
              <a:rPr lang="zh-CN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每次只有一个任务是活的，</a:t>
            </a:r>
            <a:endParaRPr lang="zh-CN" sz="1200" dirty="0" smtClean="0">
              <a:solidFill>
                <a:schemeClr val="tx1"/>
              </a:solidFill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200" dirty="0" smtClean="0">
                <a:latin typeface="+mn-ea"/>
                <a:cs typeface="+mn-ea"/>
                <a:sym typeface="+mn-ea"/>
              </a:rPr>
              <a:t>在计算机系统中用</a:t>
            </a:r>
            <a:r>
              <a:rPr lang="zh-CN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任务（task）</a:t>
            </a:r>
            <a:r>
              <a:rPr lang="zh-CN" sz="1200" dirty="0" smtClean="0">
                <a:latin typeface="+mn-ea"/>
                <a:cs typeface="+mn-ea"/>
                <a:sym typeface="+mn-ea"/>
              </a:rPr>
              <a:t>实现控制线，一般认为任务是</a:t>
            </a:r>
            <a:r>
              <a:rPr lang="zh-CN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进程</a:t>
            </a:r>
            <a:r>
              <a:rPr lang="zh-CN" sz="1200" dirty="0" smtClean="0">
                <a:latin typeface="+mn-ea"/>
                <a:cs typeface="+mn-ea"/>
                <a:sym typeface="+mn-ea"/>
              </a:rPr>
              <a:t>（process）的别名。通常把多个任务的并发执行称为</a:t>
            </a:r>
            <a:r>
              <a:rPr lang="zh-CN" sz="12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多任务</a:t>
            </a:r>
            <a:r>
              <a:rPr lang="zh-CN" sz="1200" dirty="0" smtClean="0">
                <a:latin typeface="+mn-ea"/>
                <a:cs typeface="+mn-ea"/>
                <a:sym typeface="+mn-ea"/>
              </a:rPr>
              <a:t>。</a:t>
            </a: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marL="171450" indent="-17145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400" b="1" dirty="0" smtClean="0">
                <a:latin typeface="+mn-ea"/>
                <a:cs typeface="+mn-ea"/>
                <a:sym typeface="+mn-ea"/>
              </a:rPr>
              <a:t>设计任务管理子系统（</a:t>
            </a:r>
            <a:r>
              <a:rPr lang="zh-CN" sz="14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确定各类任务并把任务分配给适当的硬件或软件去执行</a:t>
            </a:r>
            <a:r>
              <a:rPr lang="zh-CN" sz="1400" b="1" dirty="0" smtClean="0">
                <a:latin typeface="+mn-ea"/>
                <a:cs typeface="+mn-ea"/>
                <a:sym typeface="+mn-ea"/>
              </a:rPr>
              <a:t>）</a:t>
            </a:r>
            <a:endParaRPr lang="zh-CN" sz="1400" b="1" dirty="0" smtClean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marL="171450" indent="-17145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endParaRPr lang="zh-CN" sz="1400" b="1" dirty="0" smtClean="0"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400" b="1" dirty="0" smtClean="0">
              <a:latin typeface="+mn-ea"/>
              <a:sym typeface="+mn-ea"/>
            </a:endParaRPr>
          </a:p>
          <a:p>
            <a:pPr marL="171450" lvl="1" indent="-171450" algn="l" eaLnBrk="1" hangingPunct="1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endParaRPr lang="zh-CN" altLang="en-US" sz="1400" b="1" dirty="0" smtClean="0">
              <a:solidFill>
                <a:srgbClr val="FF0000"/>
              </a:solidFill>
              <a:latin typeface="+mn-ea"/>
              <a:sym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endParaRPr lang="zh-CN" altLang="en-US" sz="1400" b="1" dirty="0" smtClean="0">
              <a:latin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400" b="1" dirty="0" smtClean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2618105"/>
            <a:ext cx="3707130" cy="2846070"/>
          </a:xfrm>
          <a:prstGeom prst="rect">
            <a:avLst/>
          </a:prstGeom>
        </p:spPr>
      </p:pic>
      <p:sp>
        <p:nvSpPr>
          <p:cNvPr id="99332" name="文本框 7"/>
          <p:cNvSpPr txBox="1">
            <a:spLocks noChangeArrowheads="1"/>
          </p:cNvSpPr>
          <p:nvPr/>
        </p:nvSpPr>
        <p:spPr bwMode="auto">
          <a:xfrm>
            <a:off x="188595" y="5560695"/>
            <a:ext cx="4338955" cy="10604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FFFF00"/>
                </a:solidFill>
                <a:latin typeface="+mj-ea"/>
                <a:ea typeface="+mj-ea"/>
                <a:cs typeface="+mj-ea"/>
              </a:rPr>
              <a:t>     </a:t>
            </a:r>
            <a:r>
              <a:rPr lang="zh-CN" altLang="zh-CN" sz="1400" b="1" dirty="0" smtClean="0">
                <a:solidFill>
                  <a:srgbClr val="FFFF00"/>
                </a:solidFill>
                <a:latin typeface="+mj-ea"/>
                <a:ea typeface="+mj-ea"/>
                <a:cs typeface="+mj-ea"/>
              </a:rPr>
              <a:t>设计</a:t>
            </a:r>
            <a:r>
              <a:rPr lang="zh-CN" altLang="zh-CN" sz="1400" b="1" dirty="0">
                <a:solidFill>
                  <a:srgbClr val="FFFF00"/>
                </a:solidFill>
                <a:latin typeface="+mj-ea"/>
                <a:ea typeface="+mj-ea"/>
                <a:cs typeface="+mj-ea"/>
              </a:rPr>
              <a:t>工作的一项重要内容就是，确定哪些是必须同时动作的对象，哪些是相互排斥的对象。然后进一步设计任务管理子系统。</a:t>
            </a:r>
            <a:endParaRPr lang="zh-CN" altLang="zh-CN" sz="1400" b="1" dirty="0">
              <a:solidFill>
                <a:srgbClr val="FFFF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530" y="3028950"/>
            <a:ext cx="4180840" cy="32346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77740" y="2840355"/>
            <a:ext cx="2947035" cy="3790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确定事件驱动型任务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——事件驱动是一种以</a:t>
            </a:r>
            <a:r>
              <a:rPr lang="en-US" altLang="zh-CN" sz="1200" b="1" dirty="0" smtClean="0">
                <a:latin typeface="+mn-ea"/>
                <a:cs typeface="+mn-ea"/>
                <a:sym typeface="+mn-ea"/>
              </a:rPr>
              <a:t>事件触发为核心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的系统设计模式，指程序或系统通过收集、分发、处理事件实现任务响应的运作机制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。</a:t>
            </a:r>
            <a:r>
              <a:rPr sz="1200" dirty="0" smtClean="0">
                <a:latin typeface="+mn-ea"/>
                <a:cs typeface="+mn-ea"/>
                <a:sym typeface="+mn-ea"/>
              </a:rPr>
              <a:t>任务的执行完全由外部或内部的特定事件触发，它的</a:t>
            </a:r>
            <a:r>
              <a:rPr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核心逻辑是 “等待事件→响应事件→执行任务”</a:t>
            </a:r>
            <a:r>
              <a:rPr lang="zh-CN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。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这种方式广泛应用于现代软件开发中，尤其是在用户界面、分布式系统和高并发场景中。</a:t>
            </a:r>
            <a:endParaRPr lang="en-US" altLang="zh-CN" sz="1200" dirty="0" smtClean="0">
              <a:latin typeface="+mn-ea"/>
              <a:cs typeface="+mn-ea"/>
              <a:sym typeface="+mn-ea"/>
            </a:endParaRPr>
          </a:p>
          <a:p>
            <a:endParaRPr lang="zh-CN" altLang="en-US" sz="1200"/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0774045" y="247015"/>
            <a:ext cx="1265555" cy="11741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6690" y="5527675"/>
            <a:ext cx="1054100" cy="10102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5922645" y="0"/>
            <a:ext cx="0" cy="686689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0" y="-635"/>
            <a:ext cx="591947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设计任务管理子系统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56300" y="0"/>
            <a:ext cx="6235065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设计任务管理子系统</a:t>
            </a:r>
            <a:endParaRPr lang="en-US" altLang="zh-CN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157700" name="文本框 8"/>
          <p:cNvSpPr txBox="1">
            <a:spLocks noChangeArrowheads="1"/>
          </p:cNvSpPr>
          <p:nvPr/>
        </p:nvSpPr>
        <p:spPr bwMode="auto">
          <a:xfrm>
            <a:off x="31115" y="403860"/>
            <a:ext cx="5800725" cy="83058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marL="171450" indent="-171450" algn="l" eaLnBrk="1" hangingPunct="1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</a:rPr>
              <a:t>  确定时钟驱动型任务</a:t>
            </a:r>
            <a:r>
              <a:rPr lang="en-US" altLang="zh-CN" sz="1200" dirty="0" smtClean="0">
                <a:latin typeface="+mn-ea"/>
                <a:cs typeface="+mn-ea"/>
              </a:rPr>
              <a:t>——时钟驱动型任务是一种由系统时钟或时间信号触发执行的任务，它不依赖于外部事件或请求，而是按照预定的时间计划自动运行。</a:t>
            </a:r>
            <a:endParaRPr lang="en-US" altLang="zh-CN" sz="1200" dirty="0" smtClean="0">
              <a:latin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6028"/>
          <a:stretch>
            <a:fillRect/>
          </a:stretch>
        </p:blipFill>
        <p:spPr>
          <a:xfrm>
            <a:off x="377825" y="1184275"/>
            <a:ext cx="5385435" cy="2225675"/>
          </a:xfrm>
          <a:prstGeom prst="rect">
            <a:avLst/>
          </a:prstGeom>
        </p:spPr>
      </p:pic>
      <p:sp>
        <p:nvSpPr>
          <p:cNvPr id="8" name="文本框 8"/>
          <p:cNvSpPr txBox="1">
            <a:spLocks noChangeArrowheads="1"/>
          </p:cNvSpPr>
          <p:nvPr/>
        </p:nvSpPr>
        <p:spPr bwMode="auto">
          <a:xfrm>
            <a:off x="127000" y="3318510"/>
            <a:ext cx="5800725" cy="83058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spAutoFit/>
          </a:bodyPr>
          <a:p>
            <a:pPr marL="171450" indent="-171450" algn="l" eaLnBrk="1" hangingPunct="1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</a:rPr>
              <a:t>  确定优先任务</a:t>
            </a:r>
            <a:r>
              <a:rPr lang="en-US" altLang="zh-CN" sz="1200" dirty="0" smtClean="0">
                <a:latin typeface="+mn-ea"/>
                <a:cs typeface="+mn-ea"/>
              </a:rPr>
              <a:t>——优先任务是指对项目目标、业务价值或时间约束具有关键影响，需要</a:t>
            </a:r>
            <a:r>
              <a:rPr lang="en-US" altLang="zh-CN" sz="1200" b="1" dirty="0" smtClean="0">
                <a:latin typeface="+mn-ea"/>
                <a:cs typeface="+mn-ea"/>
              </a:rPr>
              <a:t>优先分配资源、优先推进执行</a:t>
            </a:r>
            <a:r>
              <a:rPr lang="en-US" altLang="zh-CN" sz="1200" dirty="0" smtClean="0">
                <a:latin typeface="+mn-ea"/>
                <a:cs typeface="+mn-ea"/>
              </a:rPr>
              <a:t>的任务。</a:t>
            </a:r>
            <a:endParaRPr lang="en-US" altLang="zh-CN" sz="1200" dirty="0" smtClean="0">
              <a:latin typeface="+mn-ea"/>
              <a:cs typeface="+mn-ea"/>
            </a:endParaRPr>
          </a:p>
        </p:txBody>
      </p:sp>
      <p:sp>
        <p:nvSpPr>
          <p:cNvPr id="107525" name="矩形 5"/>
          <p:cNvSpPr>
            <a:spLocks noChangeArrowheads="1"/>
          </p:cNvSpPr>
          <p:nvPr/>
        </p:nvSpPr>
        <p:spPr bwMode="auto">
          <a:xfrm>
            <a:off x="189865" y="4168140"/>
            <a:ext cx="5671185" cy="1345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marL="342900" indent="-342900" eaLnBrk="1" hangingPunct="1">
              <a:lnSpc>
                <a:spcPct val="170000"/>
              </a:lnSpc>
              <a:buFont typeface="Wingdings" panose="05000000000000000000" charset="0"/>
              <a:buChar char="ü"/>
            </a:pPr>
            <a:r>
              <a:rPr lang="zh-CN" altLang="en-US" sz="1200" b="1" dirty="0">
                <a:latin typeface="Bodoni MT Black" panose="02070A03080606020203" pitchFamily="18" charset="0"/>
              </a:rPr>
              <a:t>高优先级：</a:t>
            </a:r>
            <a:r>
              <a:rPr lang="zh-CN" altLang="en-US" sz="1200" dirty="0">
                <a:latin typeface="Bodoni MT Black" panose="02070A03080606020203" pitchFamily="18" charset="0"/>
              </a:rPr>
              <a:t>某些服务具有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</a:rPr>
              <a:t>很高的优先级</a:t>
            </a:r>
            <a:r>
              <a:rPr lang="zh-CN" altLang="en-US" sz="1200" dirty="0">
                <a:latin typeface="Bodoni MT Black" panose="02070A03080606020203" pitchFamily="18" charset="0"/>
              </a:rPr>
              <a:t>，为了在严格限定的时间内完成这种服务，可能需要把这类服务分离成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</a:rPr>
              <a:t>独立的任务</a:t>
            </a:r>
            <a:r>
              <a:rPr lang="zh-CN" altLang="en-US" sz="1200" dirty="0">
                <a:latin typeface="Bodoni MT Black" panose="02070A03080606020203" pitchFamily="18" charset="0"/>
              </a:rPr>
              <a:t>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marL="342900" indent="-342900" eaLnBrk="1" hangingPunct="1">
              <a:lnSpc>
                <a:spcPct val="170000"/>
              </a:lnSpc>
              <a:buFont typeface="Wingdings" panose="05000000000000000000" charset="0"/>
              <a:buChar char="ü"/>
            </a:pPr>
            <a:r>
              <a:rPr lang="zh-CN" altLang="en-US" sz="1200" b="1" dirty="0">
                <a:latin typeface="Bodoni MT Black" panose="02070A03080606020203" pitchFamily="18" charset="0"/>
              </a:rPr>
              <a:t>低优先级：</a:t>
            </a:r>
            <a:r>
              <a:rPr lang="zh-CN" altLang="en-US" sz="1200" dirty="0">
                <a:latin typeface="Bodoni MT Black" panose="02070A03080606020203" pitchFamily="18" charset="0"/>
              </a:rPr>
              <a:t>与高优先级相反，有些服务是低优先级的，属于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</a:rPr>
              <a:t>低优先级</a:t>
            </a:r>
            <a:r>
              <a:rPr lang="zh-CN" altLang="en-US" sz="1200" dirty="0" smtClean="0">
                <a:solidFill>
                  <a:schemeClr val="tx1"/>
                </a:solidFill>
                <a:latin typeface="Bodoni MT Black" panose="02070A03080606020203" pitchFamily="18" charset="0"/>
              </a:rPr>
              <a:t>处理（通常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</a:rPr>
              <a:t>指那些背景</a:t>
            </a:r>
            <a:r>
              <a:rPr lang="zh-CN" altLang="en-US" sz="1200" dirty="0" smtClean="0">
                <a:solidFill>
                  <a:schemeClr val="tx1"/>
                </a:solidFill>
                <a:latin typeface="Bodoni MT Black" panose="02070A03080606020203" pitchFamily="18" charset="0"/>
              </a:rPr>
              <a:t>处理）。</a:t>
            </a:r>
            <a:r>
              <a:rPr lang="zh-CN" altLang="en-US" sz="1200" dirty="0">
                <a:solidFill>
                  <a:schemeClr val="tx1"/>
                </a:solidFill>
                <a:latin typeface="Bodoni MT Black" panose="02070A03080606020203" pitchFamily="18" charset="0"/>
              </a:rPr>
              <a:t>设计时可能用额外的任务把这样的处理分离出来</a:t>
            </a:r>
            <a:r>
              <a:rPr lang="zh-CN" altLang="en-US" sz="1200" dirty="0">
                <a:latin typeface="Bodoni MT Black" panose="02070A03080606020203" pitchFamily="18" charset="0"/>
              </a:rPr>
              <a:t>。</a:t>
            </a:r>
            <a:endParaRPr lang="zh-CN" altLang="en-US" sz="1200" dirty="0">
              <a:latin typeface="Bodoni MT Black" panose="02070A03080606020203" pitchFamily="18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6082030" y="447675"/>
            <a:ext cx="5881370" cy="109220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noAutofit/>
          </a:bodyPr>
          <a:p>
            <a:pPr marL="342900" indent="-342900" algn="l" eaLnBrk="1" hangingPunct="1">
              <a:lnSpc>
                <a:spcPct val="17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在设计过程中可能用额外的任务把这样的关键处理分离出来，以满足高可靠性处理的要求。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marL="342900" indent="-342900" algn="l" eaLnBrk="1" hangingPunct="1">
              <a:lnSpc>
                <a:spcPct val="170000"/>
              </a:lnSpc>
              <a:buClrTx/>
              <a:buSzTx/>
              <a:buFont typeface="Wingdings" panose="05000000000000000000" charset="0"/>
              <a:buChar char="ü"/>
            </a:pP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对高可靠性处理应该精心设计和编码，并且应该严格测试。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indent="0" algn="l" eaLnBrk="1" hangingPunct="1">
              <a:lnSpc>
                <a:spcPct val="185000"/>
              </a:lnSpc>
              <a:buClrTx/>
              <a:buSzTx/>
              <a:buFont typeface="Arial" panose="020B0604020202020204" pitchFamily="34" charset="0"/>
              <a:buNone/>
            </a:pPr>
            <a:endParaRPr lang="en-US" altLang="zh-CN" sz="1200" dirty="0" smtClean="0">
              <a:latin typeface="+mn-ea"/>
              <a:cs typeface="+mn-ea"/>
            </a:endParaRPr>
          </a:p>
        </p:txBody>
      </p:sp>
      <p:sp>
        <p:nvSpPr>
          <p:cNvPr id="13" name="文本框 12"/>
          <p:cNvSpPr txBox="1">
            <a:spLocks noChangeArrowheads="1"/>
          </p:cNvSpPr>
          <p:nvPr/>
        </p:nvSpPr>
        <p:spPr bwMode="auto">
          <a:xfrm>
            <a:off x="5984240" y="1421130"/>
            <a:ext cx="5881370" cy="147574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noAutofit/>
          </a:bodyPr>
          <a:p>
            <a:pPr marL="171450" indent="-171450" algn="l" eaLnBrk="1" hangingPunct="1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</a:rPr>
              <a:t>  确定协调任务</a:t>
            </a:r>
            <a:r>
              <a:rPr lang="en-US" altLang="zh-CN" sz="1200" dirty="0" smtClean="0">
                <a:latin typeface="+mn-ea"/>
                <a:cs typeface="+mn-ea"/>
              </a:rPr>
              <a:t>——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当系统中存在</a:t>
            </a:r>
            <a:r>
              <a:rPr lang="en-US" altLang="zh-CN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3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个以上任务</a:t>
            </a:r>
            <a:r>
              <a:rPr lang="zh-CN" altLang="en-US" sz="1200" dirty="0">
                <a:latin typeface="Bodoni MT Black" panose="02070A03080606020203" pitchFamily="18" charset="0"/>
                <a:sym typeface="+mn-ea"/>
              </a:rPr>
              <a:t>时，就应该增加一个任务，用它作为</a:t>
            </a:r>
            <a:r>
              <a:rPr lang="zh-CN" altLang="en-US" sz="1200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协调任务</a:t>
            </a:r>
            <a:r>
              <a:rPr lang="zh-CN" altLang="zh-CN" sz="1200" dirty="0">
                <a:latin typeface="Bodoni MT Black" panose="02070A03080606020203" pitchFamily="18" charset="0"/>
                <a:sym typeface="+mn-ea"/>
              </a:rPr>
              <a:t>。是一种专门负责组织、管理和协调其他任务执行流程的特殊任务。它本身不执行具体的业务逻辑，而是作为“指挥者”或“编排者”，确保多个相关任务按照正确的顺序、依赖关系和策略执行。</a:t>
            </a:r>
            <a:endParaRPr lang="zh-CN" altLang="zh-CN" sz="1200" dirty="0">
              <a:latin typeface="Bodoni MT Black" panose="02070A03080606020203" pitchFamily="18" charset="0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3053080"/>
            <a:ext cx="4991100" cy="229489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7000" y="5382260"/>
            <a:ext cx="5636260" cy="965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l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确定关键任务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——关键任务往往是</a:t>
            </a:r>
            <a:r>
              <a:rPr lang="en-US" altLang="zh-CN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多个后续任务的唯一前置条件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，后续任务无法绕开它独立开展。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是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系统成功或失败的关键处理，这类处理通常都有严格的可靠性要求。</a:t>
            </a:r>
            <a:endParaRPr lang="en-US" altLang="zh-CN" sz="1200" dirty="0" smtClean="0">
              <a:latin typeface="+mn-ea"/>
              <a:cs typeface="+mn-ea"/>
              <a:sym typeface="+mn-ea"/>
            </a:endParaRPr>
          </a:p>
          <a:p>
            <a:pPr marL="171450" indent="-171450" algn="l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1200" dirty="0" smtClean="0">
              <a:latin typeface="+mn-ea"/>
              <a:cs typeface="+mn-ea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6226175" y="5382260"/>
            <a:ext cx="5881370" cy="1475740"/>
          </a:xfrm>
          <a:prstGeom prst="rect">
            <a:avLst/>
          </a:prstGeom>
          <a:noFill/>
          <a:ln w="15875">
            <a:noFill/>
            <a:miter lim="800000"/>
          </a:ln>
        </p:spPr>
        <p:txBody>
          <a:bodyPr wrap="square">
            <a:noAutofit/>
          </a:bodyPr>
          <a:p>
            <a:pPr marL="171450" indent="-171450" algn="l" eaLnBrk="1" hangingPunct="1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</a:rPr>
              <a:t>  尽量减少任务数</a:t>
            </a:r>
            <a:r>
              <a:rPr lang="en-US" altLang="zh-CN" sz="1200" dirty="0" smtClean="0">
                <a:latin typeface="+mn-ea"/>
                <a:cs typeface="+mn-ea"/>
              </a:rPr>
              <a:t>——</a:t>
            </a:r>
            <a:r>
              <a:rPr lang="zh-CN" altLang="en-US" sz="1200" dirty="0" smtClean="0">
                <a:latin typeface="+mn-ea"/>
                <a:cs typeface="+mn-ea"/>
              </a:rPr>
              <a:t>使系统中包含的任务数尽量少</a:t>
            </a:r>
            <a:endParaRPr lang="en-US" altLang="zh-CN" sz="1200" dirty="0" smtClean="0">
              <a:latin typeface="+mn-ea"/>
              <a:cs typeface="+mn-ea"/>
            </a:endParaRPr>
          </a:p>
          <a:p>
            <a:pPr marL="171450" indent="-171450" algn="l" eaLnBrk="1" hangingPunct="1">
              <a:lnSpc>
                <a:spcPct val="185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确定资源需求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——通过计算机系统载荷估算所需要的CPU（或其他固件）的处理能力。</a:t>
            </a:r>
            <a:endParaRPr lang="zh-CN" altLang="en-US" sz="1200" dirty="0" smtClean="0">
              <a:latin typeface="+mn-ea"/>
              <a:cs typeface="+mn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+mj-ea"/>
                <a:ea typeface="+mj-ea"/>
              </a:rPr>
              <a:t>设计数据管理子系统</a:t>
            </a:r>
            <a:endParaRPr lang="zh-CN" altLang="en-US" sz="2400" spc="200" dirty="0">
              <a:solidFill>
                <a:srgbClr val="55D5FF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9545" y="1145540"/>
            <a:ext cx="4549140" cy="149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>
              <a:lnSpc>
                <a:spcPct val="170000"/>
              </a:lnSpc>
              <a:defRPr/>
            </a:pPr>
            <a:r>
              <a:rPr lang="zh-CN" sz="14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数据管理子系统</a:t>
            </a:r>
            <a:r>
              <a:rPr lang="zh-CN" sz="1400" dirty="0" smtClean="0">
                <a:solidFill>
                  <a:schemeClr val="bg2"/>
                </a:solidFill>
                <a:latin typeface="+mn-ea"/>
                <a:cs typeface="+mn-ea"/>
                <a:sym typeface="+mn-ea"/>
              </a:rPr>
              <a:t>是系统存储或检索对象的基本设施，建立在某种数据存储管理系统之上，并且隔离了数据存储管理模式的影响。https://www.bilibili.com/video/BV1HP41157Hh?t=601.3</a:t>
            </a:r>
            <a:endParaRPr lang="zh-CN" sz="1400" dirty="0" smtClean="0"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1557" name="文本框 4"/>
          <p:cNvSpPr txBox="1">
            <a:spLocks noChangeArrowheads="1"/>
          </p:cNvSpPr>
          <p:nvPr/>
        </p:nvSpPr>
        <p:spPr bwMode="auto">
          <a:xfrm>
            <a:off x="4718869" y="2840360"/>
            <a:ext cx="8280920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anose="02070A03080606020203" pitchFamily="18" charset="0"/>
              </a:rPr>
              <a:t>   </a:t>
            </a:r>
            <a:r>
              <a:rPr lang="zh-CN" altLang="en-US" sz="2400" dirty="0">
                <a:latin typeface="Bodoni MT Black" panose="02070A03080606020203" pitchFamily="18" charset="0"/>
              </a:rPr>
              <a:t>  </a:t>
            </a:r>
            <a:endParaRPr lang="zh-CN" altLang="en-US" sz="2400" dirty="0">
              <a:latin typeface="Bodoni MT Black" panose="02070A03080606020203" pitchFamily="18" charset="0"/>
            </a:endParaRPr>
          </a:p>
        </p:txBody>
      </p:sp>
      <p:sp>
        <p:nvSpPr>
          <p:cNvPr id="99332" name="文本框 7"/>
          <p:cNvSpPr txBox="1">
            <a:spLocks noChangeArrowheads="1"/>
          </p:cNvSpPr>
          <p:nvPr/>
        </p:nvSpPr>
        <p:spPr bwMode="auto">
          <a:xfrm>
            <a:off x="188595" y="5560695"/>
            <a:ext cx="4338955" cy="10604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1400" b="1" dirty="0">
                <a:solidFill>
                  <a:srgbClr val="FFFF00"/>
                </a:solidFill>
                <a:latin typeface="+mj-ea"/>
                <a:ea typeface="+mj-ea"/>
                <a:cs typeface="+mj-ea"/>
              </a:rPr>
              <a:t>     </a:t>
            </a:r>
            <a:r>
              <a:rPr lang="zh-CN" altLang="en-US" sz="1400" b="1">
                <a:solidFill>
                  <a:srgbClr val="FFFF00"/>
                </a:solidFill>
                <a:latin typeface="+mj-ea"/>
                <a:ea typeface="+mj-ea"/>
                <a:cs typeface="+mj-ea"/>
                <a:sym typeface="+mn-ea"/>
              </a:rPr>
              <a:t>它不仅仅是数据库，而是涵盖数据从产生到归档/销毁的全流程治理体系。可以把它看作是整个系统的 “数据中枢神经系统”。</a:t>
            </a:r>
            <a:endParaRPr lang="zh-CN" altLang="en-US" sz="1400" b="1" dirty="0">
              <a:solidFill>
                <a:srgbClr val="FFFF00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48460" y="2636520"/>
            <a:ext cx="1397000" cy="5886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问题域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48460" y="3681095"/>
            <a:ext cx="1397000" cy="5886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数据管理</a:t>
            </a:r>
            <a:endParaRPr lang="zh-CN" altLang="en-US" b="1"/>
          </a:p>
        </p:txBody>
      </p:sp>
      <p:sp>
        <p:nvSpPr>
          <p:cNvPr id="8" name="圆柱形 7"/>
          <p:cNvSpPr/>
          <p:nvPr/>
        </p:nvSpPr>
        <p:spPr>
          <a:xfrm>
            <a:off x="1647190" y="4725670"/>
            <a:ext cx="1397000" cy="619760"/>
          </a:xfrm>
          <a:prstGeom prst="ca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数据库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5" idx="2"/>
            <a:endCxn id="7" idx="0"/>
          </p:cNvCxnSpPr>
          <p:nvPr/>
        </p:nvCxnSpPr>
        <p:spPr>
          <a:xfrm>
            <a:off x="2346960" y="3225165"/>
            <a:ext cx="0" cy="455930"/>
          </a:xfrm>
          <a:prstGeom prst="straightConnector1">
            <a:avLst/>
          </a:prstGeom>
          <a:ln>
            <a:solidFill>
              <a:srgbClr val="FFFF00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" idx="2"/>
            <a:endCxn id="8" idx="1"/>
          </p:cNvCxnSpPr>
          <p:nvPr/>
        </p:nvCxnSpPr>
        <p:spPr>
          <a:xfrm flipH="1">
            <a:off x="2345690" y="4269740"/>
            <a:ext cx="1270" cy="455930"/>
          </a:xfrm>
          <a:prstGeom prst="straightConnector1">
            <a:avLst/>
          </a:prstGeom>
          <a:ln>
            <a:solidFill>
              <a:srgbClr val="FFFF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 descr="deepseek_mermaid_20260116_a620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866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25" y="1876425"/>
            <a:ext cx="7356475" cy="49917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0815" y="5575300"/>
            <a:ext cx="1211580" cy="95377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777220" y="353060"/>
            <a:ext cx="1211580" cy="95377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384290" y="346075"/>
            <a:ext cx="5807710" cy="640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选择数据存储管理模式</a:t>
            </a: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200" b="1" dirty="0" smtClean="0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文件管理系统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——最基础的模式，以文件和目录的形式组织数据，由操作系统提供接口。</a:t>
            </a:r>
            <a:endParaRPr lang="en-US" altLang="zh-CN" sz="1200" dirty="0" smtClean="0"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200" dirty="0" smtClean="0">
                <a:latin typeface="+mn-ea"/>
                <a:cs typeface="+mn-ea"/>
                <a:sym typeface="+mn-ea"/>
              </a:rPr>
              <a:t>       </a:t>
            </a:r>
            <a:r>
              <a:rPr lang="en-US" altLang="zh-CN" sz="1200" b="1" dirty="0" smtClean="0">
                <a:latin typeface="+mn-ea"/>
                <a:cs typeface="+mn-ea"/>
                <a:sym typeface="+mn-ea"/>
              </a:rPr>
              <a:t> 优点：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简单通用，适合海量非结构化数据，成本低。</a:t>
            </a:r>
            <a:endParaRPr lang="en-US" altLang="zh-CN" sz="1200" dirty="0" smtClean="0"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200" dirty="0" smtClean="0">
                <a:latin typeface="+mn-ea"/>
                <a:cs typeface="+mn-ea"/>
                <a:sym typeface="+mn-ea"/>
              </a:rPr>
              <a:t>       </a:t>
            </a:r>
            <a:r>
              <a:rPr lang="en-US" altLang="zh-CN" sz="1200" b="1" dirty="0" smtClean="0">
                <a:latin typeface="+mn-ea"/>
                <a:cs typeface="+mn-ea"/>
                <a:sym typeface="+mn-ea"/>
              </a:rPr>
              <a:t> 缺点：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难以处理复杂查询和事务，元数据管理能力弱。</a:t>
            </a:r>
            <a:endParaRPr lang="en-US" altLang="zh-CN" sz="1200" dirty="0" smtClean="0"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200" b="1" dirty="0" smtClean="0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关系数据库管理系统</a:t>
            </a:r>
            <a:endParaRPr lang="zh-CN" sz="1200" b="1" dirty="0" smtClean="0">
              <a:solidFill>
                <a:srgbClr val="00B050"/>
              </a:solidFill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200" dirty="0" smtClean="0">
                <a:latin typeface="+mn-ea"/>
                <a:cs typeface="+mn-ea"/>
                <a:sym typeface="+mn-ea"/>
              </a:rPr>
              <a:t>       </a:t>
            </a:r>
            <a:r>
              <a:rPr lang="en-US" altLang="zh-CN" sz="1200" b="1" dirty="0" smtClean="0">
                <a:latin typeface="+mn-ea"/>
                <a:cs typeface="+mn-ea"/>
                <a:sym typeface="+mn-ea"/>
              </a:rPr>
              <a:t> 优点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：强一致性、丰富的查询能力（JOIN、事务）、技术成熟、生态完善。</a:t>
            </a:r>
            <a:endParaRPr lang="en-US" altLang="zh-CN" sz="1200" dirty="0" smtClean="0"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200" dirty="0" smtClean="0">
                <a:latin typeface="+mn-ea"/>
                <a:cs typeface="+mn-ea"/>
                <a:sym typeface="+mn-ea"/>
              </a:rPr>
              <a:t>   </a:t>
            </a:r>
            <a:r>
              <a:rPr lang="en-US" altLang="zh-CN" sz="1200" b="1" dirty="0" smtClean="0">
                <a:latin typeface="+mn-ea"/>
                <a:cs typeface="+mn-ea"/>
                <a:sym typeface="+mn-ea"/>
              </a:rPr>
              <a:t>     </a:t>
            </a:r>
            <a:r>
              <a:rPr lang="zh-CN" sz="1200" b="1" dirty="0" smtClean="0">
                <a:latin typeface="+mn-ea"/>
                <a:cs typeface="+mn-ea"/>
                <a:sym typeface="+mn-ea"/>
              </a:rPr>
              <a:t>缺点：</a:t>
            </a:r>
            <a:r>
              <a:rPr lang="zh-CN" sz="1200" dirty="0" smtClean="0">
                <a:latin typeface="+mn-ea"/>
                <a:cs typeface="+mn-ea"/>
                <a:sym typeface="+mn-ea"/>
              </a:rPr>
              <a:t>水平扩展困难（分库分表复杂）、不适合海量非结构化数据。</a:t>
            </a: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200" b="1" dirty="0" smtClean="0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 面向对象数据库管理系统（</a:t>
            </a:r>
            <a:r>
              <a:rPr lang="zh-CN" sz="1200" dirty="0" smtClean="0">
                <a:latin typeface="+mn-ea"/>
                <a:cs typeface="+mn-ea"/>
                <a:sym typeface="+mn-ea"/>
              </a:rPr>
              <a:t>扩展的关系数据库管理系统、扩展的面向对象程序设计语言）</a:t>
            </a: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 startAt="2"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设计数据管理子系统</a:t>
            </a: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200" dirty="0" smtClean="0">
                <a:latin typeface="+mn-ea"/>
                <a:cs typeface="+mn-ea"/>
                <a:sym typeface="+mn-ea"/>
              </a:rPr>
              <a:t>设计数据格式</a:t>
            </a: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200" dirty="0" smtClean="0">
                <a:latin typeface="+mn-ea"/>
                <a:cs typeface="+mn-ea"/>
                <a:sym typeface="+mn-ea"/>
              </a:rPr>
              <a:t>        </a:t>
            </a:r>
            <a:r>
              <a:rPr lang="zh-CN" sz="1200" dirty="0" smtClean="0">
                <a:latin typeface="+mn-ea"/>
                <a:cs typeface="+mn-ea"/>
                <a:sym typeface="+mn-ea"/>
              </a:rPr>
              <a:t>文件管理系统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——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定义第一范式表，为每个第一范式表定义一个文件；</a:t>
            </a:r>
            <a:endParaRPr lang="zh-CN" altLang="en-US" sz="1200" dirty="0" smtClean="0"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200" dirty="0" smtClean="0">
                <a:latin typeface="+mn-ea"/>
                <a:cs typeface="+mn-ea"/>
                <a:sym typeface="+mn-ea"/>
              </a:rPr>
              <a:t>        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关系数据库管理系统</a:t>
            </a:r>
            <a:r>
              <a:rPr lang="en-US" altLang="zh-CN" sz="1200" dirty="0" smtClean="0">
                <a:latin typeface="+mn-ea"/>
                <a:cs typeface="+mn-ea"/>
                <a:sym typeface="+mn-ea"/>
              </a:rPr>
              <a:t>——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列出每个类的属性表并规范为定义第三范式表，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为每个第三范式表定义一个数据库表；</a:t>
            </a:r>
            <a:endParaRPr lang="zh-CN" altLang="en-US" sz="1200" dirty="0" smtClean="0"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200" dirty="0" smtClean="0">
                <a:latin typeface="+mn-ea"/>
                <a:cs typeface="+mn-ea"/>
                <a:sym typeface="+mn-ea"/>
              </a:rPr>
              <a:t>        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面向对象数据库管理系统</a:t>
            </a: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sz="1200" dirty="0" smtClean="0">
                <a:latin typeface="+mn-ea"/>
                <a:cs typeface="+mn-ea"/>
                <a:sym typeface="+mn-ea"/>
              </a:rPr>
              <a:t>设计相应服务</a:t>
            </a: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marL="171450" lvl="1" indent="-171450" algn="l" eaLnBrk="1" hangingPunct="1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endParaRPr lang="zh-CN" altLang="en-US" sz="1400" b="1" dirty="0" smtClean="0">
              <a:solidFill>
                <a:srgbClr val="FF0000"/>
              </a:solidFill>
              <a:latin typeface="+mn-ea"/>
              <a:sym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endParaRPr lang="zh-CN" altLang="en-US" sz="1400" b="1" dirty="0" smtClean="0">
              <a:latin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400" b="1" dirty="0" smtClean="0"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-635"/>
            <a:ext cx="121920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设计数据管理子系统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pic>
        <p:nvPicPr>
          <p:cNvPr id="18" name="图片 17" descr="deepseek_mermaid_20260116_630fe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0215"/>
            <a:ext cx="6423025" cy="64077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136670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+mn-ea"/>
                <a:ea typeface="+mn-ea"/>
              </a:rPr>
              <a:t>设计类中的服务</a:t>
            </a:r>
            <a:endParaRPr lang="zh-CN" altLang="en-US" sz="2400" spc="200" dirty="0">
              <a:solidFill>
                <a:srgbClr val="55D5FF"/>
              </a:solidFill>
              <a:latin typeface="+mn-ea"/>
              <a:ea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9545" y="1061085"/>
            <a:ext cx="454914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>
              <a:lnSpc>
                <a:spcPct val="170000"/>
              </a:lnSpc>
              <a:defRPr/>
            </a:pPr>
            <a:r>
              <a:rPr lang="en-US" altLang="zh-CN" sz="1400" b="1" dirty="0">
                <a:solidFill>
                  <a:schemeClr val="bg2"/>
                </a:solidFill>
                <a:latin typeface="+mj-ea"/>
                <a:ea typeface="+mj-ea"/>
                <a:cs typeface="+mj-ea"/>
                <a:sym typeface="+mn-ea"/>
              </a:rPr>
              <a:t> </a:t>
            </a:r>
            <a:r>
              <a:rPr lang="zh-CN" altLang="zh-CN" sz="1400" b="1" dirty="0" smtClean="0">
                <a:solidFill>
                  <a:schemeClr val="bg2"/>
                </a:solidFill>
                <a:latin typeface="+mj-ea"/>
                <a:ea typeface="+mj-ea"/>
                <a:cs typeface="+mj-ea"/>
                <a:sym typeface="+mn-ea"/>
              </a:rPr>
              <a:t>面向对象分析</a:t>
            </a:r>
            <a:r>
              <a:rPr lang="zh-CN" altLang="zh-CN" sz="1400" b="1" dirty="0">
                <a:solidFill>
                  <a:schemeClr val="bg2"/>
                </a:solidFill>
                <a:latin typeface="+mj-ea"/>
                <a:ea typeface="+mj-ea"/>
                <a:cs typeface="+mj-ea"/>
                <a:sym typeface="+mn-ea"/>
              </a:rPr>
              <a:t>得出的对象模型，通常并不详细描述类中的服务。面向对象设计则是</a:t>
            </a:r>
            <a:r>
              <a:rPr lang="zh-CN" altLang="zh-CN" sz="1400" b="1" dirty="0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扩充、完善和细化</a:t>
            </a:r>
            <a:r>
              <a:rPr lang="zh-CN" altLang="zh-CN" sz="1400" b="1" dirty="0">
                <a:solidFill>
                  <a:schemeClr val="bg2"/>
                </a:solidFill>
                <a:latin typeface="+mj-ea"/>
                <a:ea typeface="+mj-ea"/>
                <a:cs typeface="+mj-ea"/>
                <a:sym typeface="+mn-ea"/>
              </a:rPr>
              <a:t>面向对象分析模型的过程，设计类中的服务是它的一项重要工作内容。</a:t>
            </a:r>
            <a:endParaRPr lang="zh-CN" altLang="en-US" sz="1400" b="1" dirty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>
              <a:lnSpc>
                <a:spcPct val="170000"/>
              </a:lnSpc>
              <a:defRPr/>
            </a:pPr>
            <a:endParaRPr lang="zh-CN" sz="1400" b="1" dirty="0" smtClean="0"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1557" name="文本框 4"/>
          <p:cNvSpPr txBox="1">
            <a:spLocks noChangeArrowheads="1"/>
          </p:cNvSpPr>
          <p:nvPr/>
        </p:nvSpPr>
        <p:spPr bwMode="auto">
          <a:xfrm>
            <a:off x="4718869" y="2840360"/>
            <a:ext cx="8280920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anose="02070A03080606020203" pitchFamily="18" charset="0"/>
              </a:rPr>
              <a:t>   </a:t>
            </a:r>
            <a:r>
              <a:rPr lang="zh-CN" altLang="en-US" sz="2400" dirty="0">
                <a:latin typeface="Bodoni MT Black" panose="02070A03080606020203" pitchFamily="18" charset="0"/>
              </a:rPr>
              <a:t>  </a:t>
            </a:r>
            <a:endParaRPr lang="zh-CN" altLang="en-US" sz="2400" dirty="0">
              <a:latin typeface="Bodoni MT Black" panose="02070A03080606020203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79035" y="0"/>
            <a:ext cx="3768725" cy="268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indent="0" algn="l" eaLnBrk="1" hangingPunct="1">
              <a:lnSpc>
                <a:spcPct val="180000"/>
              </a:lnSpc>
              <a:buClrTx/>
              <a:buSzTx/>
              <a:buFont typeface="+mj-ea"/>
              <a:buNone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确定类中应有的服务</a:t>
            </a: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180000"/>
              </a:lnSpc>
              <a:buClrTx/>
              <a:buSzTx/>
              <a:buFont typeface="+mj-ea"/>
              <a:buNone/>
              <a:defRPr/>
            </a:pPr>
            <a:r>
              <a:rPr lang="zh-CN" altLang="en-US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状态图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描绘了一类对象的生命周期，图中的状态转换是执行对象服务的结果。接收到消息的对象必然有由消息选择符指定的服务。</a:t>
            </a:r>
            <a:endParaRPr lang="zh-CN" altLang="en-US" sz="1200" dirty="0" smtClean="0"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180000"/>
              </a:lnSpc>
              <a:buClrTx/>
              <a:buSzTx/>
              <a:buFont typeface="+mj-ea"/>
              <a:buNone/>
              <a:defRPr/>
            </a:pPr>
            <a:r>
              <a:rPr lang="zh-CN" altLang="en-US" sz="12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功能模型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指明了系统必须提供的服务。状态图中状态转换所触发的动作，在功能模型中有时可能扩展成一张</a:t>
            </a:r>
            <a:r>
              <a:rPr lang="zh-CN" altLang="en-US" sz="12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数据流图</a:t>
            </a:r>
            <a:r>
              <a:rPr lang="zh-CN" altLang="en-US" sz="1200" dirty="0" smtClean="0">
                <a:latin typeface="+mn-ea"/>
                <a:cs typeface="+mn-ea"/>
                <a:sym typeface="+mn-ea"/>
              </a:rPr>
              <a:t>。数据流图中的某些处理可能与对象提供的服务相对应。</a:t>
            </a:r>
            <a:endParaRPr lang="zh-CN" altLang="en-US" sz="1400" b="1" dirty="0" smtClean="0">
              <a:solidFill>
                <a:srgbClr val="FF0000"/>
              </a:solidFill>
              <a:latin typeface="+mn-ea"/>
              <a:sym typeface="+mn-ea"/>
            </a:endParaRPr>
          </a:p>
          <a:p>
            <a:pPr algn="l" eaLnBrk="1" hangingPunct="1">
              <a:lnSpc>
                <a:spcPct val="180000"/>
              </a:lnSpc>
              <a:buClrTx/>
              <a:buSzTx/>
              <a:buFont typeface="+mj-ea"/>
              <a:buNone/>
              <a:defRPr/>
            </a:pP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400" b="1" dirty="0" smtClean="0">
              <a:latin typeface="+mn-ea"/>
            </a:endParaRPr>
          </a:p>
        </p:txBody>
      </p:sp>
      <p:sp>
        <p:nvSpPr>
          <p:cNvPr id="99332" name="文本框 7"/>
          <p:cNvSpPr txBox="1">
            <a:spLocks noChangeArrowheads="1"/>
          </p:cNvSpPr>
          <p:nvPr/>
        </p:nvSpPr>
        <p:spPr bwMode="auto">
          <a:xfrm>
            <a:off x="188595" y="5692775"/>
            <a:ext cx="4338955" cy="10604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1400" b="1" kern="100" dirty="0" smtClean="0">
                <a:solidFill>
                  <a:srgbClr val="FFFF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确定</a:t>
            </a:r>
            <a:r>
              <a:rPr lang="zh-CN" altLang="en-US" sz="1400" b="1" kern="100" dirty="0">
                <a:solidFill>
                  <a:srgbClr val="FFFF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类中应有的服务</a:t>
            </a:r>
            <a:r>
              <a:rPr lang="zh-CN" altLang="zh-CN" sz="1400" b="1" kern="100" dirty="0">
                <a:solidFill>
                  <a:srgbClr val="FFFF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需要综合考虑</a:t>
            </a:r>
            <a:r>
              <a:rPr lang="zh-CN" altLang="zh-CN" sz="1400" b="1" kern="100" dirty="0">
                <a:solidFill>
                  <a:srgbClr val="00B0F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对象模型、动态模型和功能模型</a:t>
            </a:r>
            <a:r>
              <a:rPr lang="zh-CN" altLang="zh-CN" sz="1400" b="1" kern="100" dirty="0">
                <a:solidFill>
                  <a:srgbClr val="FFFF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，才能正确确定类中应有的服务。</a:t>
            </a:r>
            <a:r>
              <a:rPr lang="zh-CN" altLang="zh-CN" sz="1400" b="1" kern="100" dirty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对象模型</a:t>
            </a:r>
            <a:r>
              <a:rPr lang="zh-CN" altLang="zh-CN" sz="1400" b="1" kern="100" dirty="0">
                <a:solidFill>
                  <a:srgbClr val="FFFF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是进行对象设计的基本框架。</a:t>
            </a:r>
            <a:endParaRPr lang="zh-CN" altLang="zh-CN" sz="1400" b="1" kern="100" dirty="0">
              <a:solidFill>
                <a:srgbClr val="FFFF00"/>
              </a:solidFill>
              <a:latin typeface="Bodoni MT Black" panose="02070A03080606020203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5685" y="2366010"/>
            <a:ext cx="2643505" cy="1486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endParaRPr lang="zh-CN" altLang="en-US" sz="1000" b="1">
              <a:latin typeface="+mn-ea"/>
              <a:cs typeface="+mn-ea"/>
            </a:endParaRPr>
          </a:p>
          <a:p>
            <a:endParaRPr lang="zh-CN" altLang="en-US" sz="1000" b="1">
              <a:latin typeface="+mn-ea"/>
              <a:cs typeface="+mn-ea"/>
            </a:endParaRPr>
          </a:p>
          <a:p>
            <a:pPr>
              <a:lnSpc>
                <a:spcPct val="142000"/>
              </a:lnSpc>
            </a:pPr>
            <a:r>
              <a:rPr lang="zh-CN" altLang="en-US" sz="1000" b="1">
                <a:latin typeface="+mn-ea"/>
                <a:cs typeface="+mn-ea"/>
              </a:rPr>
              <a:t>定义服务：</a:t>
            </a:r>
            <a:endParaRPr lang="zh-CN" altLang="en-US" sz="1000" b="1">
              <a:latin typeface="+mn-ea"/>
              <a:cs typeface="+mn-ea"/>
            </a:endParaRPr>
          </a:p>
          <a:p>
            <a:pPr marL="0" indent="0">
              <a:lnSpc>
                <a:spcPct val="142000"/>
              </a:lnSpc>
              <a:defRPr/>
            </a:pPr>
            <a:r>
              <a:rPr lang="en-US" altLang="zh-CN" sz="1000" b="1" dirty="0">
                <a:latin typeface="+mn-ea"/>
                <a:cs typeface="+mn-ea"/>
                <a:sym typeface="+mn-ea"/>
              </a:rPr>
              <a:t>UML</a:t>
            </a:r>
            <a:r>
              <a:rPr lang="zh-CN" altLang="zh-CN" sz="1000" b="1" dirty="0">
                <a:latin typeface="+mn-ea"/>
                <a:cs typeface="+mn-ea"/>
                <a:sym typeface="+mn-ea"/>
              </a:rPr>
              <a:t>描述操作的语法格式如下</a:t>
            </a:r>
            <a:r>
              <a:rPr lang="zh-CN" altLang="zh-CN" sz="1000" b="1" dirty="0" smtClean="0">
                <a:latin typeface="+mn-ea"/>
                <a:cs typeface="+mn-ea"/>
                <a:sym typeface="+mn-ea"/>
              </a:rPr>
              <a:t>：</a:t>
            </a:r>
            <a:endParaRPr lang="en-US" altLang="zh-CN" sz="1000" b="1" dirty="0" smtClean="0">
              <a:latin typeface="+mn-ea"/>
              <a:cs typeface="+mn-ea"/>
            </a:endParaRPr>
          </a:p>
          <a:p>
            <a:pPr marL="0" indent="0">
              <a:lnSpc>
                <a:spcPct val="142000"/>
              </a:lnSpc>
              <a:spcAft>
                <a:spcPts val="1200"/>
              </a:spcAft>
              <a:defRPr/>
            </a:pPr>
            <a:r>
              <a:rPr lang="en-US" altLang="zh-CN" sz="1000" b="1" dirty="0">
                <a:latin typeface="+mn-ea"/>
                <a:cs typeface="+mn-ea"/>
                <a:sym typeface="+mn-ea"/>
              </a:rPr>
              <a:t> </a:t>
            </a:r>
            <a:r>
              <a:rPr lang="zh-CN" altLang="zh-CN" sz="10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可见性</a:t>
            </a:r>
            <a:r>
              <a:rPr lang="en-US" altLang="zh-CN" sz="10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zh-CN" sz="1000" b="1" dirty="0" smtClean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操作</a:t>
            </a:r>
            <a:r>
              <a:rPr lang="zh-CN" altLang="zh-CN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名（参数表）： 返回值类型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{</a:t>
            </a:r>
            <a:r>
              <a:rPr lang="zh-CN" altLang="zh-CN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性质串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}</a:t>
            </a:r>
            <a:r>
              <a:rPr lang="zh-CN" altLang="zh-CN" sz="1000" b="1" dirty="0">
                <a:solidFill>
                  <a:schemeClr val="tx1"/>
                </a:solidFill>
                <a:latin typeface="+mn-ea"/>
                <a:cs typeface="+mn-ea"/>
              </a:rPr>
              <a:t>例如（银行账户取款）：</a:t>
            </a:r>
            <a:endParaRPr lang="zh-CN" altLang="zh-CN" sz="1000" b="1" dirty="0">
              <a:solidFill>
                <a:schemeClr val="tx1"/>
              </a:solidFill>
              <a:latin typeface="+mn-ea"/>
              <a:cs typeface="+mn-ea"/>
            </a:endParaRPr>
          </a:p>
          <a:p>
            <a:pPr marL="0" indent="0">
              <a:lnSpc>
                <a:spcPct val="142000"/>
              </a:lnSpc>
              <a:spcAft>
                <a:spcPts val="1200"/>
              </a:spcAft>
              <a:defRPr/>
            </a:pPr>
            <a:r>
              <a:rPr lang="zh-CN" altLang="zh-CN" sz="1000" b="1" dirty="0">
                <a:solidFill>
                  <a:srgbClr val="FF0000"/>
                </a:solidFill>
                <a:latin typeface="+mn-ea"/>
                <a:cs typeface="+mn-ea"/>
              </a:rPr>
              <a:t>+ withdraw(amount: double = 0.0): boolean</a:t>
            </a:r>
            <a:endParaRPr lang="zh-CN" altLang="zh-CN" sz="10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lang="zh-CN" altLang="en-US" sz="1000" b="1">
              <a:latin typeface="+mn-ea"/>
              <a:cs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85" y="3879850"/>
            <a:ext cx="2644775" cy="179260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组合 18"/>
          <p:cNvGrpSpPr/>
          <p:nvPr/>
        </p:nvGrpSpPr>
        <p:grpSpPr>
          <a:xfrm>
            <a:off x="4826635" y="3248025"/>
            <a:ext cx="7365365" cy="3602355"/>
            <a:chOff x="7951" y="4819"/>
            <a:chExt cx="10753" cy="5817"/>
          </a:xfrm>
        </p:grpSpPr>
        <p:sp>
          <p:nvSpPr>
            <p:cNvPr id="4" name="文本框 3"/>
            <p:cNvSpPr txBox="1"/>
            <p:nvPr/>
          </p:nvSpPr>
          <p:spPr>
            <a:xfrm>
              <a:off x="7951" y="4819"/>
              <a:ext cx="3134" cy="85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noAutofit/>
            </a:bodyPr>
            <a:p>
              <a:r>
                <a:rPr lang="zh-CN" altLang="en-US" sz="1400" b="1">
                  <a:solidFill>
                    <a:schemeClr val="bg2"/>
                  </a:solidFill>
                </a:rPr>
                <a:t>设计实现服务的算法</a:t>
              </a:r>
              <a:endParaRPr lang="zh-CN" altLang="en-US" sz="1400" b="1">
                <a:solidFill>
                  <a:schemeClr val="bg2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951" y="5676"/>
              <a:ext cx="3134" cy="496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pPr marL="228600" indent="-228600" algn="just" eaLnBrk="1" hangingPunct="1">
                <a:lnSpc>
                  <a:spcPct val="120000"/>
                </a:lnSpc>
                <a:spcAft>
                  <a:spcPts val="0"/>
                </a:spcAft>
                <a:buFont typeface="+mj-ea"/>
                <a:buAutoNum type="circleNumDbPlain"/>
                <a:defRPr/>
              </a:pPr>
              <a:r>
                <a:rPr lang="zh-CN" altLang="zh-CN" sz="1200" kern="100" dirty="0" smtClean="0">
                  <a:solidFill>
                    <a:srgbClr val="FF0000"/>
                  </a:solidFill>
                  <a:latin typeface="+mj-ea"/>
                  <a:ea typeface="+mj-ea"/>
                  <a:cs typeface="+mj-ea"/>
                  <a:sym typeface="+mn-ea"/>
                </a:rPr>
                <a:t>算法</a:t>
              </a:r>
              <a:r>
                <a:rPr lang="zh-CN" altLang="zh-CN" sz="1200" kern="100" dirty="0">
                  <a:solidFill>
                    <a:srgbClr val="FF0000"/>
                  </a:solidFill>
                  <a:latin typeface="+mj-ea"/>
                  <a:ea typeface="+mj-ea"/>
                  <a:cs typeface="+mj-ea"/>
                  <a:sym typeface="+mn-ea"/>
                </a:rPr>
                <a:t>复杂度</a:t>
              </a:r>
              <a:r>
                <a:rPr lang="zh-CN" altLang="zh-CN" sz="1200" kern="100" dirty="0">
                  <a:latin typeface="+mj-ea"/>
                  <a:ea typeface="+mj-ea"/>
                  <a:cs typeface="+mj-ea"/>
                  <a:sym typeface="+mn-ea"/>
                </a:rPr>
                <a:t>：</a:t>
              </a:r>
              <a:r>
                <a:rPr lang="zh-CN" altLang="zh-CN" sz="1200" kern="100" dirty="0" smtClean="0">
                  <a:latin typeface="+mj-ea"/>
                  <a:ea typeface="+mj-ea"/>
                  <a:cs typeface="+mj-ea"/>
                  <a:sym typeface="+mn-ea"/>
                </a:rPr>
                <a:t>通常</a:t>
              </a:r>
              <a:r>
                <a:rPr lang="zh-CN" altLang="zh-CN" sz="1200" kern="100" dirty="0">
                  <a:latin typeface="+mj-ea"/>
                  <a:ea typeface="+mj-ea"/>
                  <a:cs typeface="+mj-ea"/>
                  <a:sym typeface="+mn-ea"/>
                </a:rPr>
                <a:t>选用复杂度</a:t>
              </a:r>
              <a:r>
                <a:rPr lang="zh-CN" altLang="zh-CN" sz="1200" kern="100" dirty="0" smtClean="0">
                  <a:latin typeface="+mj-ea"/>
                  <a:ea typeface="+mj-ea"/>
                  <a:cs typeface="+mj-ea"/>
                  <a:sym typeface="+mn-ea"/>
                </a:rPr>
                <a:t>较低</a:t>
              </a:r>
              <a:r>
                <a:rPr lang="zh-CN" altLang="en-US" sz="1200" kern="100" dirty="0" smtClean="0">
                  <a:latin typeface="+mj-ea"/>
                  <a:ea typeface="+mj-ea"/>
                  <a:cs typeface="+mj-ea"/>
                  <a:sym typeface="+mn-ea"/>
                </a:rPr>
                <a:t>（</a:t>
              </a:r>
              <a:r>
                <a:rPr lang="zh-CN" altLang="zh-CN" sz="1200" kern="100" dirty="0" smtClean="0">
                  <a:latin typeface="+mj-ea"/>
                  <a:ea typeface="+mj-ea"/>
                  <a:cs typeface="+mj-ea"/>
                  <a:sym typeface="+mn-ea"/>
                </a:rPr>
                <a:t>即</a:t>
              </a:r>
              <a:r>
                <a:rPr lang="zh-CN" altLang="zh-CN" sz="1200" kern="100" dirty="0">
                  <a:latin typeface="+mj-ea"/>
                  <a:ea typeface="+mj-ea"/>
                  <a:cs typeface="+mj-ea"/>
                  <a:sym typeface="+mn-ea"/>
                </a:rPr>
                <a:t>效率</a:t>
              </a:r>
              <a:r>
                <a:rPr lang="zh-CN" altLang="zh-CN" sz="1200" kern="100" dirty="0" smtClean="0">
                  <a:latin typeface="+mj-ea"/>
                  <a:ea typeface="+mj-ea"/>
                  <a:cs typeface="+mj-ea"/>
                  <a:sym typeface="+mn-ea"/>
                </a:rPr>
                <a:t>较高</a:t>
              </a:r>
              <a:r>
                <a:rPr lang="zh-CN" altLang="en-US" sz="1200" kern="100" dirty="0" smtClean="0">
                  <a:latin typeface="+mj-ea"/>
                  <a:ea typeface="+mj-ea"/>
                  <a:cs typeface="+mj-ea"/>
                  <a:sym typeface="+mn-ea"/>
                </a:rPr>
                <a:t>）</a:t>
              </a:r>
              <a:r>
                <a:rPr lang="zh-CN" altLang="zh-CN" sz="1200" kern="100" dirty="0" smtClean="0">
                  <a:latin typeface="+mj-ea"/>
                  <a:ea typeface="+mj-ea"/>
                  <a:cs typeface="+mj-ea"/>
                  <a:sym typeface="+mn-ea"/>
                </a:rPr>
                <a:t>的</a:t>
              </a:r>
              <a:r>
                <a:rPr lang="zh-CN" altLang="zh-CN" sz="1200" kern="100" dirty="0">
                  <a:latin typeface="+mj-ea"/>
                  <a:ea typeface="+mj-ea"/>
                  <a:cs typeface="+mj-ea"/>
                  <a:sym typeface="+mn-ea"/>
                </a:rPr>
                <a:t>算法，但也不要过分追求高效率，应以能满足用户需求为准。</a:t>
              </a:r>
              <a:endParaRPr lang="zh-CN" altLang="zh-CN" sz="1200" kern="100" dirty="0">
                <a:latin typeface="+mj-ea"/>
                <a:ea typeface="+mj-ea"/>
                <a:cs typeface="+mj-ea"/>
              </a:endParaRPr>
            </a:p>
            <a:p>
              <a:pPr marL="228600" indent="-228600" algn="just" eaLnBrk="1" hangingPunct="1">
                <a:lnSpc>
                  <a:spcPct val="120000"/>
                </a:lnSpc>
                <a:spcAft>
                  <a:spcPts val="0"/>
                </a:spcAft>
                <a:buFont typeface="+mj-ea"/>
                <a:buAutoNum type="circleNumDbPlain"/>
                <a:defRPr/>
              </a:pPr>
              <a:r>
                <a:rPr lang="zh-CN" altLang="zh-CN" sz="1200" kern="100" dirty="0">
                  <a:solidFill>
                    <a:srgbClr val="FF0000"/>
                  </a:solidFill>
                  <a:latin typeface="+mj-ea"/>
                  <a:ea typeface="+mj-ea"/>
                  <a:cs typeface="+mj-ea"/>
                  <a:sym typeface="+mn-ea"/>
                </a:rPr>
                <a:t>容易理解与容易实现</a:t>
              </a:r>
              <a:r>
                <a:rPr lang="zh-CN" altLang="zh-CN" sz="1200" kern="100" dirty="0">
                  <a:latin typeface="+mj-ea"/>
                  <a:ea typeface="+mj-ea"/>
                  <a:cs typeface="+mj-ea"/>
                  <a:sym typeface="+mn-ea"/>
                </a:rPr>
                <a:t>：</a:t>
              </a:r>
              <a:r>
                <a:rPr lang="zh-CN" altLang="zh-CN" sz="1200" kern="100" dirty="0" smtClean="0">
                  <a:latin typeface="+mj-ea"/>
                  <a:ea typeface="+mj-ea"/>
                  <a:cs typeface="+mj-ea"/>
                  <a:sym typeface="+mn-ea"/>
                </a:rPr>
                <a:t>容易</a:t>
              </a:r>
              <a:r>
                <a:rPr lang="zh-CN" altLang="zh-CN" sz="1200" kern="100" dirty="0">
                  <a:latin typeface="+mj-ea"/>
                  <a:ea typeface="+mj-ea"/>
                  <a:cs typeface="+mj-ea"/>
                  <a:sym typeface="+mn-ea"/>
                </a:rPr>
                <a:t>理解与容易实现的要求往往与高效率有矛盾，设计者应该对这两个因素适当折衷。</a:t>
              </a:r>
              <a:endParaRPr lang="zh-CN" altLang="zh-CN" sz="1200" kern="100" dirty="0">
                <a:latin typeface="+mj-ea"/>
                <a:ea typeface="+mj-ea"/>
                <a:cs typeface="+mj-ea"/>
              </a:endParaRPr>
            </a:p>
            <a:p>
              <a:pPr marL="228600" indent="-228600" algn="just" eaLnBrk="1" hangingPunct="1">
                <a:lnSpc>
                  <a:spcPct val="120000"/>
                </a:lnSpc>
                <a:spcAft>
                  <a:spcPts val="0"/>
                </a:spcAft>
                <a:buFont typeface="+mj-ea"/>
                <a:buAutoNum type="circleNumDbPlain"/>
                <a:defRPr/>
              </a:pPr>
              <a:r>
                <a:rPr lang="zh-CN" altLang="zh-CN" sz="1200" kern="100" dirty="0">
                  <a:solidFill>
                    <a:srgbClr val="FF0000"/>
                  </a:solidFill>
                  <a:latin typeface="+mj-ea"/>
                  <a:ea typeface="+mj-ea"/>
                  <a:cs typeface="+mj-ea"/>
                  <a:sym typeface="+mn-ea"/>
                </a:rPr>
                <a:t>易修改</a:t>
              </a:r>
              <a:r>
                <a:rPr lang="zh-CN" sz="1200" kern="100" dirty="0">
                  <a:latin typeface="+mj-ea"/>
                  <a:ea typeface="+mj-ea"/>
                  <a:cs typeface="+mj-ea"/>
                  <a:sym typeface="+mn-ea"/>
                </a:rPr>
                <a:t>：</a:t>
              </a:r>
              <a:r>
                <a:rPr lang="zh-CN" altLang="zh-CN" sz="1200" kern="100" dirty="0" smtClean="0">
                  <a:latin typeface="+mj-ea"/>
                  <a:ea typeface="+mj-ea"/>
                  <a:cs typeface="+mj-ea"/>
                  <a:sym typeface="+mn-ea"/>
                </a:rPr>
                <a:t>应该</a:t>
              </a:r>
              <a:r>
                <a:rPr lang="zh-CN" altLang="zh-CN" sz="1200" kern="100" dirty="0">
                  <a:latin typeface="+mj-ea"/>
                  <a:ea typeface="+mj-ea"/>
                  <a:cs typeface="+mj-ea"/>
                  <a:sym typeface="+mn-ea"/>
                </a:rPr>
                <a:t>尽可能预测将来可能做的修改，并在设计时预先做些准备。</a:t>
              </a:r>
              <a:endParaRPr lang="zh-CN" altLang="zh-CN" sz="1200" kern="100" dirty="0">
                <a:latin typeface="+mj-ea"/>
                <a:ea typeface="+mj-ea"/>
                <a:cs typeface="+mj-ea"/>
              </a:endParaRPr>
            </a:p>
            <a:p>
              <a:endParaRPr lang="zh-CN" altLang="en-US" sz="1200">
                <a:latin typeface="+mj-ea"/>
                <a:ea typeface="+mj-ea"/>
                <a:cs typeface="+mj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1085" y="4819"/>
              <a:ext cx="2243" cy="85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noAutofit/>
            </a:bodyPr>
            <a:p>
              <a:r>
                <a:rPr lang="zh-CN" altLang="en-US" sz="1400" b="1">
                  <a:solidFill>
                    <a:schemeClr val="bg2"/>
                  </a:solidFill>
                </a:rPr>
                <a:t>选择数据结构</a:t>
              </a:r>
              <a:endParaRPr lang="zh-CN" altLang="en-US" sz="1400" b="1">
                <a:solidFill>
                  <a:schemeClr val="bg2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085" y="5676"/>
              <a:ext cx="2243" cy="496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pPr eaLnBrk="1" hangingPunct="1">
                <a:lnSpc>
                  <a:spcPct val="120000"/>
                </a:lnSpc>
              </a:pPr>
              <a:r>
                <a:rPr lang="zh-CN" altLang="en-US" sz="1200" dirty="0" smtClean="0">
                  <a:latin typeface="Bodoni MT Black" panose="02070A03080606020203" pitchFamily="18" charset="0"/>
                  <a:sym typeface="+mn-ea"/>
                </a:rPr>
                <a:t>在</a:t>
              </a:r>
              <a:r>
                <a:rPr lang="zh-CN" altLang="en-US" sz="1200" dirty="0">
                  <a:solidFill>
                    <a:srgbClr val="FF0000"/>
                  </a:solidFill>
                  <a:latin typeface="Bodoni MT Black" panose="02070A03080606020203" pitchFamily="18" charset="0"/>
                  <a:sym typeface="+mn-ea"/>
                </a:rPr>
                <a:t>分析</a:t>
              </a:r>
              <a:r>
                <a:rPr lang="zh-CN" altLang="en-US" sz="1200" dirty="0">
                  <a:latin typeface="Bodoni MT Black" panose="02070A03080606020203" pitchFamily="18" charset="0"/>
                  <a:sym typeface="+mn-ea"/>
                </a:rPr>
                <a:t>阶段，仅需考虑系统中需要的</a:t>
              </a:r>
              <a:r>
                <a:rPr lang="zh-CN" altLang="en-US" sz="1200" dirty="0">
                  <a:solidFill>
                    <a:srgbClr val="FF0000"/>
                  </a:solidFill>
                  <a:latin typeface="Bodoni MT Black" panose="02070A03080606020203" pitchFamily="18" charset="0"/>
                  <a:sym typeface="+mn-ea"/>
                </a:rPr>
                <a:t>信息的逻辑结构</a:t>
              </a:r>
              <a:r>
                <a:rPr lang="zh-CN" altLang="en-US" sz="1200" dirty="0">
                  <a:latin typeface="Bodoni MT Black" panose="02070A03080606020203" pitchFamily="18" charset="0"/>
                  <a:sym typeface="+mn-ea"/>
                </a:rPr>
                <a:t>，在面向对象</a:t>
              </a:r>
              <a:r>
                <a:rPr lang="zh-CN" altLang="en-US" sz="1200" dirty="0">
                  <a:solidFill>
                    <a:srgbClr val="FF0000"/>
                  </a:solidFill>
                  <a:latin typeface="Bodoni MT Black" panose="02070A03080606020203" pitchFamily="18" charset="0"/>
                  <a:sym typeface="+mn-ea"/>
                </a:rPr>
                <a:t>设计</a:t>
              </a:r>
              <a:r>
                <a:rPr lang="zh-CN" altLang="en-US" sz="1200" dirty="0">
                  <a:latin typeface="Bodoni MT Black" panose="02070A03080606020203" pitchFamily="18" charset="0"/>
                  <a:sym typeface="+mn-ea"/>
                </a:rPr>
                <a:t>过程中，则需要选择能够方便、有效地实现算法的</a:t>
              </a:r>
              <a:r>
                <a:rPr lang="zh-CN" altLang="en-US" sz="1200" dirty="0">
                  <a:solidFill>
                    <a:srgbClr val="FF0000"/>
                  </a:solidFill>
                  <a:latin typeface="Bodoni MT Black" panose="02070A03080606020203" pitchFamily="18" charset="0"/>
                  <a:sym typeface="+mn-ea"/>
                </a:rPr>
                <a:t>物理数据结构</a:t>
              </a:r>
              <a:r>
                <a:rPr lang="zh-CN" altLang="en-US" sz="1200" dirty="0">
                  <a:latin typeface="Bodoni MT Black" panose="02070A03080606020203" pitchFamily="18" charset="0"/>
                  <a:sym typeface="+mn-ea"/>
                </a:rPr>
                <a:t>。</a:t>
              </a:r>
              <a:endParaRPr lang="zh-CN" altLang="en-US" sz="1200">
                <a:latin typeface="+mj-ea"/>
                <a:ea typeface="+mj-ea"/>
                <a:cs typeface="+mj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3328" y="4819"/>
              <a:ext cx="3134" cy="85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noAutofit/>
            </a:bodyPr>
            <a:p>
              <a:r>
                <a:rPr lang="zh-CN" altLang="en-US" sz="1400" b="1">
                  <a:solidFill>
                    <a:schemeClr val="bg2"/>
                  </a:solidFill>
                </a:rPr>
                <a:t>算法与数据结构关系</a:t>
              </a:r>
              <a:endParaRPr lang="zh-CN" altLang="en-US" sz="1400" b="1">
                <a:solidFill>
                  <a:schemeClr val="bg2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328" y="5676"/>
              <a:ext cx="3134" cy="496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pPr marL="228600" indent="-228600" algn="just" eaLnBrk="1" hangingPunct="1">
                <a:lnSpc>
                  <a:spcPct val="120000"/>
                </a:lnSpc>
                <a:spcAft>
                  <a:spcPts val="0"/>
                </a:spcAft>
                <a:buClrTx/>
                <a:buSzTx/>
                <a:buFont typeface="+mj-ea"/>
                <a:buAutoNum type="circleNumDbPlain"/>
                <a:defRPr/>
              </a:pPr>
              <a:r>
                <a:rPr lang="zh-CN" altLang="zh-CN" sz="1200" kern="100" dirty="0" smtClean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分析问题寻找数据特点，提炼出所有可行有效的算法；</a:t>
              </a:r>
              <a:endParaRPr lang="zh-CN" altLang="zh-CN" sz="1200" kern="100" dirty="0" smtClean="0">
                <a:latin typeface="Bodoni MT Black" panose="02070A03080606020203" pitchFamily="18" charset="0"/>
                <a:cs typeface="Times New Roman" panose="02020603050405020304" pitchFamily="18" charset="0"/>
              </a:endParaRPr>
            </a:p>
            <a:p>
              <a:pPr marL="228600" indent="-228600" algn="just" eaLnBrk="1" hangingPunct="1">
                <a:lnSpc>
                  <a:spcPct val="120000"/>
                </a:lnSpc>
                <a:spcAft>
                  <a:spcPts val="0"/>
                </a:spcAft>
                <a:buClrTx/>
                <a:buSzTx/>
                <a:buFont typeface="+mj-ea"/>
                <a:buAutoNum type="circleNumDbPlain"/>
                <a:defRPr/>
              </a:pPr>
              <a:r>
                <a:rPr lang="zh-CN" altLang="zh-CN" sz="1200" kern="100" dirty="0" smtClean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 定义与所提炼算法相关联的数据结构；</a:t>
              </a:r>
              <a:endParaRPr lang="zh-CN" altLang="zh-CN" sz="1200" kern="1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endParaRPr>
            </a:p>
            <a:p>
              <a:pPr marL="228600" indent="-228600" algn="just" eaLnBrk="1" hangingPunct="1">
                <a:lnSpc>
                  <a:spcPct val="120000"/>
                </a:lnSpc>
                <a:spcAft>
                  <a:spcPts val="0"/>
                </a:spcAft>
                <a:buClrTx/>
                <a:buSzTx/>
                <a:buFont typeface="+mj-ea"/>
                <a:buAutoNum type="circleNumDbPlain"/>
                <a:defRPr/>
              </a:pPr>
              <a:r>
                <a:rPr lang="zh-CN" altLang="zh-CN" sz="1200" kern="100" dirty="0" smtClean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依据此数据结构进行算法的详细设计；</a:t>
              </a:r>
              <a:endParaRPr lang="zh-CN" altLang="zh-CN" sz="1200" kern="1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endParaRPr>
            </a:p>
            <a:p>
              <a:pPr marL="228600" indent="-228600" algn="just" eaLnBrk="1" hangingPunct="1">
                <a:lnSpc>
                  <a:spcPct val="120000"/>
                </a:lnSpc>
                <a:spcAft>
                  <a:spcPts val="0"/>
                </a:spcAft>
                <a:buClrTx/>
                <a:buSzTx/>
                <a:buFont typeface="+mj-ea"/>
                <a:buAutoNum type="circleNumDbPlain"/>
                <a:defRPr/>
              </a:pPr>
              <a:r>
                <a:rPr lang="zh-CN" altLang="zh-CN" sz="1200" kern="100" dirty="0" smtClean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进行一定规模的实验与评测；</a:t>
              </a:r>
              <a:endParaRPr lang="zh-CN" altLang="zh-CN" sz="1200" kern="1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endParaRPr>
            </a:p>
            <a:p>
              <a:pPr marL="228600" indent="-228600" algn="just" eaLnBrk="1" hangingPunct="1">
                <a:lnSpc>
                  <a:spcPct val="120000"/>
                </a:lnSpc>
                <a:spcAft>
                  <a:spcPts val="0"/>
                </a:spcAft>
                <a:buClrTx/>
                <a:buSzTx/>
                <a:buFont typeface="+mj-ea"/>
                <a:buAutoNum type="circleNumDbPlain"/>
                <a:defRPr/>
              </a:pPr>
              <a:r>
                <a:rPr lang="zh-CN" altLang="zh-CN" sz="1200" kern="100" dirty="0" smtClean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确定最佳设计。</a:t>
              </a:r>
              <a:endParaRPr lang="zh-CN" altLang="zh-CN" sz="1200" kern="100" dirty="0" smtClean="0">
                <a:latin typeface="Bodoni MT Black" panose="02070A03080606020203" pitchFamily="18" charset="0"/>
                <a:cs typeface="Times New Roman" panose="02020603050405020304" pitchFamily="18" charset="0"/>
              </a:endParaRPr>
            </a:p>
            <a:p>
              <a:endParaRPr lang="zh-CN" altLang="en-US" sz="1200">
                <a:latin typeface="+mj-ea"/>
                <a:ea typeface="+mj-ea"/>
                <a:cs typeface="+mj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6462" y="4819"/>
              <a:ext cx="2243" cy="857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txBody>
            <a:bodyPr wrap="square" rtlCol="0" anchor="ctr" anchorCtr="0">
              <a:noAutofit/>
            </a:bodyPr>
            <a:p>
              <a:r>
                <a:rPr lang="zh-CN" altLang="en-US" sz="1400" b="1">
                  <a:solidFill>
                    <a:schemeClr val="bg2"/>
                  </a:solidFill>
                </a:rPr>
                <a:t>定义内部类和</a:t>
              </a:r>
              <a:r>
                <a:rPr lang="en-US" altLang="zh-CN" sz="1400" b="1">
                  <a:solidFill>
                    <a:schemeClr val="bg2"/>
                  </a:solidFill>
                </a:rPr>
                <a:t>  </a:t>
              </a:r>
              <a:r>
                <a:rPr lang="zh-CN" altLang="en-US" sz="1400" b="1">
                  <a:solidFill>
                    <a:schemeClr val="bg2"/>
                  </a:solidFill>
                </a:rPr>
                <a:t>内部操作</a:t>
              </a:r>
              <a:endParaRPr lang="zh-CN" altLang="en-US" sz="1400" b="1">
                <a:solidFill>
                  <a:schemeClr val="bg2"/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6462" y="5676"/>
              <a:ext cx="2243" cy="496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pPr algn="just" eaLnBrk="1" hangingPunct="1">
                <a:lnSpc>
                  <a:spcPct val="130000"/>
                </a:lnSpc>
                <a:spcAft>
                  <a:spcPts val="0"/>
                </a:spcAft>
                <a:defRPr/>
              </a:pPr>
              <a:r>
                <a:rPr lang="zh-CN" altLang="zh-CN" sz="1200" kern="100" dirty="0" smtClean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在</a:t>
              </a:r>
              <a:r>
                <a:rPr lang="zh-CN" altLang="zh-CN" sz="1200" kern="100" dirty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面向对象设计过程中，可能需要增添一些</a:t>
              </a:r>
              <a:r>
                <a:rPr lang="zh-CN" altLang="zh-CN" sz="1200" kern="100" dirty="0">
                  <a:solidFill>
                    <a:srgbClr val="FF0000"/>
                  </a:solidFill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在需求陈述中没有提到的类</a:t>
              </a:r>
              <a:r>
                <a:rPr lang="zh-CN" altLang="zh-CN" sz="1200" kern="100" dirty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，这些新增加的类，主要用来存放在执行算法过程中所得出的某些</a:t>
              </a:r>
              <a:r>
                <a:rPr lang="zh-CN" altLang="zh-CN" sz="1200" kern="100" dirty="0">
                  <a:solidFill>
                    <a:srgbClr val="FF0000"/>
                  </a:solidFill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中间结果</a:t>
              </a:r>
              <a:r>
                <a:rPr lang="zh-CN" altLang="zh-CN" sz="1200" kern="100" dirty="0">
                  <a:latin typeface="Bodoni MT Black" panose="02070A03080606020203" pitchFamily="18" charset="0"/>
                  <a:cs typeface="Times New Roman" panose="02020603050405020304" pitchFamily="18" charset="0"/>
                  <a:sym typeface="+mn-ea"/>
                </a:rPr>
                <a:t>。</a:t>
              </a:r>
              <a:endParaRPr lang="zh-CN" altLang="en-US" sz="1200">
                <a:latin typeface="+mj-ea"/>
                <a:ea typeface="+mj-ea"/>
                <a:cs typeface="+mj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848090" y="27305"/>
            <a:ext cx="3171825" cy="2462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Font typeface="+mj-ea"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</a:rPr>
              <a:t>何时需要为一个类设计服务方法？</a:t>
            </a:r>
            <a:endParaRPr lang="zh-CN" sz="1400" b="1" dirty="0" smtClean="0">
              <a:solidFill>
                <a:srgbClr val="00B0F0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</a:rPr>
              <a:t>响应外部事件</a:t>
            </a:r>
            <a:r>
              <a:rPr lang="zh-CN" altLang="en-US" sz="1200"/>
              <a:t>：如用户操作、系统事件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 b="1">
                <a:solidFill>
                  <a:srgbClr val="FF0000"/>
                </a:solidFill>
              </a:rPr>
              <a:t>改变对象状态：</a:t>
            </a:r>
            <a:r>
              <a:rPr lang="zh-CN" altLang="en-US" sz="1200"/>
              <a:t>状态图中的状态转换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 b="1">
                <a:solidFill>
                  <a:srgbClr val="FF0000"/>
                </a:solidFill>
              </a:rPr>
              <a:t>与其他对象协作：</a:t>
            </a:r>
            <a:r>
              <a:rPr lang="zh-CN" altLang="en-US" sz="1200"/>
              <a:t>完成跨对象的业务逻辑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 b="1">
                <a:solidFill>
                  <a:srgbClr val="FF0000"/>
                </a:solidFill>
              </a:rPr>
              <a:t>执行计算或处理：</a:t>
            </a:r>
            <a:r>
              <a:rPr lang="zh-CN" altLang="en-US" sz="1200"/>
              <a:t>需要复杂算法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 b="1">
                <a:solidFill>
                  <a:srgbClr val="FF0000"/>
                </a:solidFill>
              </a:rPr>
              <a:t>访问或修改数据：</a:t>
            </a:r>
            <a:r>
              <a:rPr lang="zh-CN" altLang="en-US" sz="1200"/>
              <a:t>但需保持封装性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 b="1">
                <a:solidFill>
                  <a:srgbClr val="FF0000"/>
                </a:solidFill>
              </a:rPr>
              <a:t>实现接口契约：</a:t>
            </a:r>
            <a:r>
              <a:rPr lang="zh-CN" altLang="en-US" sz="1200"/>
              <a:t>实现某个接口定义的行为</a:t>
            </a:r>
            <a:endParaRPr lang="zh-CN" altLang="en-US" sz="1200"/>
          </a:p>
        </p:txBody>
      </p:sp>
      <p:sp>
        <p:nvSpPr>
          <p:cNvPr id="7" name="文本框 6"/>
          <p:cNvSpPr txBox="1"/>
          <p:nvPr/>
        </p:nvSpPr>
        <p:spPr>
          <a:xfrm>
            <a:off x="4939030" y="2837815"/>
            <a:ext cx="2807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00B0F0"/>
                </a:solidFill>
              </a:rPr>
              <a:t>设计实现服务的方法</a:t>
            </a:r>
            <a:endParaRPr lang="zh-CN" altLang="en-US" sz="1400" b="1">
              <a:solidFill>
                <a:srgbClr val="00B0F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6045" y="298595"/>
            <a:ext cx="3960000" cy="882000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spc="200" dirty="0">
                <a:solidFill>
                  <a:srgbClr val="55D5FF"/>
                </a:solidFill>
                <a:latin typeface="+mj-ea"/>
                <a:ea typeface="+mj-ea"/>
              </a:rPr>
              <a:t>设计关联</a:t>
            </a:r>
            <a:endParaRPr lang="zh-CN" altLang="en-US" sz="2400" spc="200" dirty="0">
              <a:solidFill>
                <a:srgbClr val="55D5FF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9545" y="976630"/>
            <a:ext cx="4549140" cy="149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9FBA3"/>
                </a:solidFill>
              </a14:hiddenFill>
            </a:ext>
          </a:extLst>
        </p:spPr>
        <p:txBody>
          <a:bodyPr wrap="square" rtlCol="0" anchor="ctr" anchorCtr="0">
            <a:noAutofit/>
          </a:bodyPr>
          <a:p>
            <a:pPr>
              <a:lnSpc>
                <a:spcPct val="170000"/>
              </a:lnSpc>
              <a:defRPr/>
            </a:pPr>
            <a:r>
              <a:rPr lang="zh-CN" altLang="zh-CN" sz="1400" b="1" dirty="0" smtClean="0">
                <a:solidFill>
                  <a:schemeClr val="bg2"/>
                </a:solidFill>
                <a:latin typeface="Bodoni MT Black" panose="02070A03080606020203" pitchFamily="18" charset="0"/>
                <a:sym typeface="+mn-ea"/>
              </a:rPr>
              <a:t>在</a:t>
            </a:r>
            <a:r>
              <a:rPr lang="zh-CN" altLang="zh-CN" sz="1400" b="1" dirty="0">
                <a:solidFill>
                  <a:schemeClr val="bg2"/>
                </a:solidFill>
                <a:latin typeface="Bodoni MT Black" panose="02070A03080606020203" pitchFamily="18" charset="0"/>
                <a:sym typeface="+mn-ea"/>
              </a:rPr>
              <a:t>对象模型中，</a:t>
            </a:r>
            <a:r>
              <a:rPr lang="zh-CN" altLang="zh-CN" sz="1400" b="1" dirty="0">
                <a:solidFill>
                  <a:srgbClr val="FF0000"/>
                </a:solidFill>
                <a:latin typeface="Bodoni MT Black" panose="02070A03080606020203" pitchFamily="18" charset="0"/>
                <a:sym typeface="+mn-ea"/>
              </a:rPr>
              <a:t>关联是联结不同对象的纽带</a:t>
            </a:r>
            <a:r>
              <a:rPr lang="zh-CN" altLang="zh-CN" sz="1400" b="1" dirty="0">
                <a:solidFill>
                  <a:schemeClr val="bg2"/>
                </a:solidFill>
                <a:latin typeface="Bodoni MT Black" panose="02070A03080606020203" pitchFamily="18" charset="0"/>
                <a:sym typeface="+mn-ea"/>
              </a:rPr>
              <a:t>，它指定了对象相互间的</a:t>
            </a:r>
            <a:r>
              <a:rPr lang="zh-CN" altLang="zh-CN" sz="1400" b="1" dirty="0">
                <a:solidFill>
                  <a:srgbClr val="FFFF00"/>
                </a:solidFill>
                <a:latin typeface="Bodoni MT Black" panose="02070A03080606020203" pitchFamily="18" charset="0"/>
                <a:sym typeface="+mn-ea"/>
              </a:rPr>
              <a:t>访问路径</a:t>
            </a:r>
            <a:r>
              <a:rPr lang="zh-CN" altLang="zh-CN" sz="1400" b="1" dirty="0">
                <a:solidFill>
                  <a:schemeClr val="bg2"/>
                </a:solidFill>
                <a:latin typeface="Bodoni MT Black" panose="02070A03080606020203" pitchFamily="18" charset="0"/>
                <a:sym typeface="+mn-ea"/>
              </a:rPr>
              <a:t>。在面向对象设计过程中，设计人员必须确定实现关联的具体策略。</a:t>
            </a:r>
            <a:endParaRPr lang="zh-CN" sz="1400" b="1" dirty="0" smtClean="0">
              <a:solidFill>
                <a:schemeClr val="bg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1557" name="文本框 4"/>
          <p:cNvSpPr txBox="1">
            <a:spLocks noChangeArrowheads="1"/>
          </p:cNvSpPr>
          <p:nvPr/>
        </p:nvSpPr>
        <p:spPr bwMode="auto">
          <a:xfrm>
            <a:off x="4718869" y="2840360"/>
            <a:ext cx="8280920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Bodoni MT Black" panose="02070A03080606020203" pitchFamily="18" charset="0"/>
              </a:rPr>
              <a:t>   </a:t>
            </a:r>
            <a:r>
              <a:rPr lang="zh-CN" altLang="en-US" sz="2400" dirty="0">
                <a:latin typeface="Bodoni MT Black" panose="02070A03080606020203" pitchFamily="18" charset="0"/>
              </a:rPr>
              <a:t>  </a:t>
            </a:r>
            <a:endParaRPr lang="zh-CN" altLang="en-US" sz="2400" dirty="0">
              <a:latin typeface="Bodoni MT Black" panose="02070A03080606020203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47590" y="0"/>
            <a:ext cx="7343775" cy="653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关联的遍历</a:t>
            </a: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285750" indent="-285750" eaLnBrk="1" hangingPunct="1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应用系统使用</a:t>
            </a:r>
            <a:r>
              <a:rPr lang="zh-CN" altLang="zh-CN" sz="12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关联有</a:t>
            </a:r>
            <a:r>
              <a:rPr lang="zh-CN" altLang="zh-CN" sz="12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两种方式</a:t>
            </a:r>
            <a:r>
              <a:rPr lang="zh-CN" altLang="zh-CN" sz="12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：单向遍历和双向遍历。</a:t>
            </a:r>
            <a:endParaRPr lang="en-US" altLang="zh-CN" sz="1200" dirty="0">
              <a:latin typeface="Bodoni MT Black" panose="02070A03080606020203" pitchFamily="18" charset="0"/>
              <a:cs typeface="Times New Roman" panose="02020603050405020304" pitchFamily="18" charset="0"/>
            </a:endParaRPr>
          </a:p>
          <a:p>
            <a:pPr marL="285750" indent="-285750" eaLnBrk="1" hangingPunct="1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zh-CN" sz="12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使用</a:t>
            </a:r>
            <a:r>
              <a:rPr lang="zh-CN" altLang="zh-CN" sz="1200" dirty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原型法</a:t>
            </a:r>
            <a:r>
              <a:rPr lang="zh-CN" altLang="zh-CN" sz="12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开发</a:t>
            </a:r>
            <a:r>
              <a:rPr lang="zh-CN" altLang="zh-CN" sz="12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软件时，</a:t>
            </a:r>
            <a:r>
              <a:rPr lang="zh-CN" altLang="zh-CN" sz="12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原型中所有关联都应该是</a:t>
            </a:r>
            <a:r>
              <a:rPr lang="zh-CN" altLang="zh-CN" sz="1200" dirty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双向的</a:t>
            </a:r>
            <a:r>
              <a:rPr lang="zh-CN" altLang="zh-CN" sz="12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，以便于增加新的行为，快速地扩充和修改原型。</a:t>
            </a:r>
            <a:endParaRPr lang="zh-CN" altLang="en-US" sz="1200" dirty="0">
              <a:latin typeface="Bodoni MT Black" panose="02070A03080606020203" pitchFamily="18" charset="0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实现单向关联</a:t>
            </a: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r>
              <a:rPr lang="zh-CN" altLang="zh-CN" sz="1400" dirty="0" smtClean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指针</a:t>
            </a:r>
            <a:r>
              <a:rPr lang="zh-CN" altLang="zh-CN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可方便实现</a:t>
            </a:r>
            <a:r>
              <a:rPr lang="zh-CN" altLang="zh-CN" sz="1400" dirty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单向关联</a:t>
            </a:r>
            <a:r>
              <a:rPr lang="zh-CN" altLang="zh-CN" sz="14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。如果</a:t>
            </a:r>
            <a:r>
              <a:rPr lang="zh-CN" altLang="zh-CN" sz="1400" dirty="0" smtClean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关联重</a:t>
            </a:r>
            <a:r>
              <a:rPr lang="zh-CN" altLang="zh-CN" sz="1400" dirty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数是一元</a:t>
            </a:r>
            <a:r>
              <a:rPr lang="zh-CN" altLang="zh-CN" sz="1400" dirty="0" smtClean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zh-CN" altLang="en-US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zh-CN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图</a:t>
            </a:r>
            <a:r>
              <a:rPr lang="en-US" altLang="zh-CN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zh-CN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zh-CN" sz="14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则实现关联的指针</a:t>
            </a:r>
            <a:r>
              <a:rPr lang="zh-CN" altLang="zh-CN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是</a:t>
            </a:r>
            <a:r>
              <a:rPr lang="zh-CN" altLang="zh-CN" sz="1400" dirty="0" smtClean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简单</a:t>
            </a:r>
            <a:r>
              <a:rPr lang="zh-CN" altLang="zh-CN" sz="1400" dirty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指针</a:t>
            </a:r>
            <a:r>
              <a:rPr lang="zh-CN" altLang="zh-CN" sz="14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；如果</a:t>
            </a:r>
            <a:r>
              <a:rPr lang="zh-CN" altLang="zh-CN" sz="1400" dirty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重数是多元的</a:t>
            </a:r>
            <a:r>
              <a:rPr lang="zh-CN" altLang="zh-CN" sz="14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，则需要用一个</a:t>
            </a:r>
            <a:r>
              <a:rPr lang="zh-CN" altLang="zh-CN" sz="1400" dirty="0">
                <a:solidFill>
                  <a:srgbClr val="FF0000"/>
                </a:solidFill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指针集合</a:t>
            </a:r>
            <a:r>
              <a:rPr lang="zh-CN" altLang="zh-CN" sz="1400" dirty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实现</a:t>
            </a:r>
            <a:r>
              <a:rPr lang="zh-CN" altLang="zh-CN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关联</a:t>
            </a:r>
            <a:r>
              <a:rPr lang="zh-CN" altLang="en-US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zh-CN" sz="1400" dirty="0" smtClean="0">
                <a:latin typeface="Bodoni MT Black" panose="02070A03080606020203" pitchFamily="18" charset="0"/>
                <a:sym typeface="+mn-ea"/>
              </a:rPr>
              <a:t>图</a:t>
            </a:r>
            <a:r>
              <a:rPr lang="en-US" altLang="zh-CN" sz="1400" dirty="0" smtClean="0">
                <a:latin typeface="Bodoni MT Black" panose="02070A03080606020203" pitchFamily="18" charset="0"/>
                <a:sym typeface="+mn-ea"/>
              </a:rPr>
              <a:t>b</a:t>
            </a:r>
            <a:r>
              <a:rPr lang="zh-CN" altLang="en-US" sz="1400" dirty="0" smtClean="0">
                <a:latin typeface="Bodoni MT Black" panose="02070A03080606020203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1400" dirty="0" smtClean="0">
                <a:latin typeface="Bodoni MT Black" panose="02070A03080606020203" pitchFamily="18" charset="0"/>
                <a:sym typeface="+mn-ea"/>
              </a:rPr>
              <a:t>。</a:t>
            </a:r>
            <a:endParaRPr lang="zh-CN" altLang="en-US" sz="1400" dirty="0">
              <a:latin typeface="Bodoni MT Black" panose="02070A03080606020203" pitchFamily="18" charset="0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+mj-ea"/>
              <a:buNone/>
              <a:defRPr/>
            </a:pP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实现双向关联</a:t>
            </a: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indent="0" algn="l" eaLnBrk="1" hangingPunct="1">
              <a:lnSpc>
                <a:spcPct val="200000"/>
              </a:lnSpc>
              <a:buClrTx/>
              <a:buSzTx/>
              <a:buFont typeface="+mj-ea"/>
              <a:buNone/>
              <a:defRPr/>
            </a:pP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00000"/>
              </a:lnSpc>
              <a:buClrTx/>
              <a:buSzTx/>
              <a:buFont typeface="+mj-ea"/>
              <a:buAutoNum type="circleNumDbPlain"/>
              <a:defRPr/>
            </a:pPr>
            <a:r>
              <a:rPr lang="zh-CN" sz="1400" b="1" dirty="0" smtClean="0">
                <a:solidFill>
                  <a:srgbClr val="00B0F0"/>
                </a:solidFill>
                <a:latin typeface="+mn-ea"/>
                <a:cs typeface="+mn-ea"/>
                <a:sym typeface="+mn-ea"/>
              </a:rPr>
              <a:t>关联对象的实现</a:t>
            </a:r>
            <a:endParaRPr lang="zh-CN" sz="1400" b="1" dirty="0" smtClean="0">
              <a:solidFill>
                <a:srgbClr val="00B0F0"/>
              </a:solidFill>
              <a:latin typeface="+mn-ea"/>
              <a:cs typeface="+mn-ea"/>
              <a:sym typeface="+mn-ea"/>
            </a:endParaRPr>
          </a:p>
          <a:p>
            <a:pPr marL="171450" lvl="1" indent="-171450" algn="l" eaLnBrk="1" hangingPunct="1">
              <a:lnSpc>
                <a:spcPct val="170000"/>
              </a:lnSpc>
              <a:buClrTx/>
              <a:buSzTx/>
              <a:buFont typeface="Arial" panose="020B0604020202020204" pitchFamily="34" charset="0"/>
              <a:buChar char="•"/>
              <a:defRPr/>
            </a:pPr>
            <a:endParaRPr lang="zh-CN" sz="1200" dirty="0" smtClean="0">
              <a:latin typeface="+mn-ea"/>
              <a:cs typeface="+mn-ea"/>
              <a:sym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endParaRPr lang="zh-CN" altLang="en-US" sz="1400" b="1" dirty="0" smtClean="0">
              <a:solidFill>
                <a:srgbClr val="FF0000"/>
              </a:solidFill>
              <a:latin typeface="+mn-ea"/>
              <a:sym typeface="+mn-ea"/>
            </a:endParaRPr>
          </a:p>
          <a:p>
            <a:pPr marL="342900" indent="-342900" algn="l" eaLnBrk="1" hangingPunct="1">
              <a:lnSpc>
                <a:spcPct val="255000"/>
              </a:lnSpc>
              <a:buClrTx/>
              <a:buSzTx/>
              <a:buFont typeface="+mj-ea"/>
              <a:buAutoNum type="circleNumDbPlain"/>
            </a:pPr>
            <a:endParaRPr lang="zh-CN" altLang="en-US" sz="1400" b="1" dirty="0" smtClean="0">
              <a:latin typeface="+mn-ea"/>
              <a:sym typeface="+mn-ea"/>
            </a:endParaRPr>
          </a:p>
          <a:p>
            <a:pPr indent="0" algn="l" eaLnBrk="1" hangingPunct="1">
              <a:lnSpc>
                <a:spcPct val="255000"/>
              </a:lnSpc>
              <a:buClrTx/>
              <a:buSzTx/>
              <a:buFont typeface="+mj-ea"/>
              <a:buNone/>
            </a:pPr>
            <a:endParaRPr lang="zh-CN" altLang="en-US" sz="1400" b="1" dirty="0" smtClean="0">
              <a:latin typeface="+mn-ea"/>
            </a:endParaRPr>
          </a:p>
        </p:txBody>
      </p:sp>
      <p:sp>
        <p:nvSpPr>
          <p:cNvPr id="99332" name="文本框 7"/>
          <p:cNvSpPr txBox="1">
            <a:spLocks noChangeArrowheads="1"/>
          </p:cNvSpPr>
          <p:nvPr/>
        </p:nvSpPr>
        <p:spPr bwMode="auto">
          <a:xfrm>
            <a:off x="188595" y="5560695"/>
            <a:ext cx="4338955" cy="10604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zh-CN" sz="1400" dirty="0">
                <a:solidFill>
                  <a:schemeClr val="bg1"/>
                </a:solidFill>
                <a:latin typeface="Bodoni MT Black" panose="02070A03080606020203" pitchFamily="18" charset="0"/>
                <a:sym typeface="+mn-ea"/>
              </a:rPr>
              <a:t>既可以选定一个全局性的策略统一实现所有关联，也可以分别为每个关联选择具体的实现策略，以与它在应用系统中的使用方式相适应</a:t>
            </a:r>
            <a:r>
              <a:rPr lang="zh-CN" altLang="en-US" sz="1400" dirty="0">
                <a:solidFill>
                  <a:schemeClr val="bg1"/>
                </a:solidFill>
                <a:latin typeface="Bodoni MT Black" panose="02070A03080606020203" pitchFamily="18" charset="0"/>
                <a:sym typeface="+mn-ea"/>
              </a:rPr>
              <a:t>。</a:t>
            </a:r>
            <a:endParaRPr lang="zh-CN" altLang="en-US" sz="1400" b="1" dirty="0">
              <a:solidFill>
                <a:schemeClr val="bg1"/>
              </a:solidFill>
              <a:latin typeface="Bodoni MT Black" panose="02070A03080606020203" pitchFamily="18" charset="0"/>
              <a:ea typeface="+mj-ea"/>
              <a:cs typeface="+mj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2506345"/>
            <a:ext cx="3869690" cy="2730500"/>
          </a:xfrm>
          <a:prstGeom prst="rect">
            <a:avLst/>
          </a:prstGeom>
        </p:spPr>
      </p:pic>
      <p:pic>
        <p:nvPicPr>
          <p:cNvPr id="139271" name="图片 1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73750" y="2987040"/>
            <a:ext cx="5009515" cy="88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1320" name="图片 14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65035" y="4286885"/>
            <a:ext cx="468693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5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0815" y="5575300"/>
            <a:ext cx="1211580" cy="95377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777220" y="353060"/>
            <a:ext cx="1211580" cy="95377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0" y="-635"/>
            <a:ext cx="12192000" cy="45148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Autofit/>
          </a:bodyPr>
          <a:p>
            <a:pPr marL="0" algn="l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b="1">
                <a:solidFill>
                  <a:schemeClr val="bg2"/>
                </a:solidFill>
                <a:sym typeface="+mn-ea"/>
              </a:rPr>
              <a:t>结构化程序设计方法与面向对象方法的比较</a:t>
            </a:r>
            <a:endParaRPr lang="zh-CN" altLang="en-US" b="1">
              <a:solidFill>
                <a:schemeClr val="bg2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1450" y="504825"/>
            <a:ext cx="5321935" cy="909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90000"/>
              </a:lnSpc>
            </a:pPr>
            <a:r>
              <a:rPr lang="zh-CN" altLang="en-US" sz="1400" b="1"/>
              <a:t>这两种范式是软件开发史上两个里程碑，分别代表了不同时代的</a:t>
            </a:r>
            <a:r>
              <a:rPr lang="zh-CN" altLang="en-US" sz="1400" b="1">
                <a:solidFill>
                  <a:srgbClr val="FF0000"/>
                </a:solidFill>
              </a:rPr>
              <a:t>核心思想</a:t>
            </a:r>
            <a:r>
              <a:rPr lang="zh-CN" altLang="en-US" sz="1400" b="1"/>
              <a:t>，而不是简单的</a:t>
            </a:r>
            <a:r>
              <a:rPr lang="zh-CN" altLang="en-US" sz="1400" b="1">
                <a:solidFill>
                  <a:srgbClr val="FF0000"/>
                </a:solidFill>
              </a:rPr>
              <a:t>优劣关系</a:t>
            </a:r>
            <a:r>
              <a:rPr lang="zh-CN" altLang="en-US" sz="1400" b="1"/>
              <a:t>。</a:t>
            </a:r>
            <a:endParaRPr lang="zh-CN" altLang="en-US" sz="1400" b="1"/>
          </a:p>
        </p:txBody>
      </p:sp>
      <p:pic>
        <p:nvPicPr>
          <p:cNvPr id="42" name="图片 1"/>
          <p:cNvPicPr>
            <a:picLocks noChangeAspect="1"/>
          </p:cNvPicPr>
          <p:nvPr/>
        </p:nvPicPr>
        <p:blipFill>
          <a:blip r:embed="rId1"/>
          <a:srcRect b="12431"/>
          <a:stretch>
            <a:fillRect/>
          </a:stretch>
        </p:blipFill>
        <p:spPr>
          <a:xfrm>
            <a:off x="5709920" y="882650"/>
            <a:ext cx="6482080" cy="292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89535" y="1575435"/>
            <a:ext cx="5403850" cy="909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90000"/>
              </a:lnSpc>
            </a:pPr>
            <a:r>
              <a:rPr lang="zh-CN" altLang="en-US" sz="1400" b="1">
                <a:solidFill>
                  <a:srgbClr val="FF0000"/>
                </a:solidFill>
              </a:rPr>
              <a:t>结构化方法：“程序 = 数据结构 + 算法”</a:t>
            </a:r>
            <a:r>
              <a:rPr lang="en-US" altLang="zh-CN" sz="1400" b="1">
                <a:solidFill>
                  <a:srgbClr val="FF0000"/>
                </a:solidFill>
              </a:rPr>
              <a:t>               </a:t>
            </a:r>
            <a:endParaRPr lang="en-US" altLang="zh-CN" sz="1400" b="1">
              <a:solidFill>
                <a:srgbClr val="FF0000"/>
              </a:solidFill>
            </a:endParaRPr>
          </a:p>
          <a:p>
            <a:pPr algn="ctr">
              <a:lnSpc>
                <a:spcPct val="190000"/>
              </a:lnSpc>
            </a:pPr>
            <a:r>
              <a:rPr lang="en-US" altLang="zh-CN" sz="1400" b="1">
                <a:solidFill>
                  <a:srgbClr val="FF0000"/>
                </a:solidFill>
              </a:rPr>
              <a:t>   </a:t>
            </a:r>
            <a:r>
              <a:rPr lang="zh-CN" altLang="en-US" sz="1400" b="1">
                <a:solidFill>
                  <a:srgbClr val="FF0000"/>
                </a:solidFill>
              </a:rPr>
              <a:t>面向对象方法：“程序 = 对象 + 交互”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920" y="3848735"/>
            <a:ext cx="6482080" cy="29552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65" y="2866390"/>
            <a:ext cx="5165090" cy="29133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noProof="0" dirty="0">
                <a:sym typeface="+mn-lt"/>
              </a:rPr>
              <a:t>THANKS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62.xml><?xml version="1.0" encoding="utf-8"?>
<p:tagLst xmlns:p="http://schemas.openxmlformats.org/presentationml/2006/main">
  <p:tag name="KSO_WM_SLIDE_ID" val="custom2020254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545"/>
  <p:tag name="KSO_WM_SLIDE_LAYOUT" val="a_b"/>
  <p:tag name="KSO_WM_SLIDE_LAYOUT_CNT" val="1_3"/>
  <p:tag name="KSO_WM_UNIT_SHOW_EDIT_AREA_INDICATION" val="1"/>
  <p:tag name="KSO_WM_TEMPLATE_THUMBS_INDEX" val="1、2、6、7、9、11、14、15"/>
  <p:tag name="KSO_WM_TEMPLATE_MASTER_THUMB_INDEX" val="1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02545_4*i*5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02545_4*i*6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7"/>
  <p:tag name="KSO_WM_UNIT_ID" val="custom20202545_4*i*7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2545_4*b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本具体内容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45_7*b*1"/>
  <p:tag name="KSO_WM_TEMPLATE_CATEGORY" val="custom"/>
  <p:tag name="KSO_WM_TEMPLATE_INDEX" val="20202545"/>
  <p:tag name="KSO_WM_UNIT_LAYERLEVEL" val="1"/>
  <p:tag name="KSO_WM_TAG_VERSION" val="1.0"/>
  <p:tag name="KSO_WM_BEAUTIFY_FLAG" val=""/>
</p:tagLst>
</file>

<file path=ppt/tags/tag169.xml><?xml version="1.0" encoding="utf-8"?>
<p:tagLst xmlns:p="http://schemas.openxmlformats.org/presentationml/2006/main">
  <p:tag name="KSO_WM_SLIDE_ID" val="custom20202545_4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2545"/>
  <p:tag name="KSO_WM_SLIDE_LAYOUT" val="a_b_l"/>
  <p:tag name="KSO_WM_SLIDE_LAYOUT_CNT" val="1_1_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02545_4*i*5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02545_4*i*6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7"/>
  <p:tag name="KSO_WM_UNIT_ID" val="custom20202545_4*i*7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2545_4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2545_4*b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79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4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89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4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199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4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09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4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19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4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2545_4*l_h_i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02545_4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2545_4*l_h_i*1_1_2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custom20202545_4*l_h_i*1_1_3"/>
  <p:tag name="KSO_WM_TEMPLATE_CATEGORY" val="custom"/>
  <p:tag name="KSO_WM_TEMPLATE_INDEX" val="20202545"/>
  <p:tag name="KSO_WM_UNIT_LAYERLEVEL" val="1_1_1"/>
  <p:tag name="KSO_WM_TAG_VERSION" val="1.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29.xml><?xml version="1.0" encoding="utf-8"?>
<p:tagLst xmlns:p="http://schemas.openxmlformats.org/presentationml/2006/main">
  <p:tag name="KSO_WM_UNIT_SUBTYPE" val="a"/>
  <p:tag name="KSO_WM_UNIT_PRESET_TEXT" val="单击此处添加文本具体内容，简明扼要的阐述您的观点。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2545_4*l_h_f*1_1_1"/>
  <p:tag name="KSO_WM_TEMPLATE_CATEGORY" val="custom"/>
  <p:tag name="KSO_WM_TEMPLATE_INDEX" val="20202545"/>
  <p:tag name="KSO_WM_UNIT_LAYERLEVEL" val="1_1_1"/>
  <p:tag name="KSO_WM_TAG_VERSION" val="1.0"/>
  <p:tag name="KSO_WM_UNIT_TEXT_FILL_FORE_SCHEMECOLOR_INDEX" val="13"/>
  <p:tag name="KSO_WM_UNIT_TEXT_FILL_TYPE" val="1"/>
  <p:tag name="KSO_WM_UNIT_USESOURCEFORMAT_APPLY" val="1"/>
  <p:tag name="KSO_WM_DIAGRAM_VIRTUALLY_FRAME" val="{&quot;height&quot;:436.6500000000002,&quot;left&quot;:367.05,&quot;top&quot;:55.30007874015748,&quot;width&quot;:429.95}"/>
</p:tagLst>
</file>

<file path=ppt/tags/tag230.xml><?xml version="1.0" encoding="utf-8"?>
<p:tagLst xmlns:p="http://schemas.openxmlformats.org/presentationml/2006/main">
  <p:tag name="KSO_WM_SLIDE_ID" val="custom20202545_4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2545"/>
  <p:tag name="KSO_WM_SLIDE_LAYOUT" val="a_b_l"/>
  <p:tag name="KSO_WM_SLIDE_LAYOUT_CNT" val="1_1_1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37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40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41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48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51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0*a*1"/>
  <p:tag name="KSO_WM_TEMPLATE_CATEGORY" val="custom"/>
  <p:tag name="KSO_WM_TEMPLATE_INDEX" val="20202545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SLIDE_ID" val="custom20202545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2545"/>
  <p:tag name="KSO_WM_SLIDE_LAYOUT" val="a_d_f"/>
  <p:tag name="KSO_WM_SLIDE_LAYOUT_CNT" val="1_1_1"/>
</p:tagLst>
</file>

<file path=ppt/tags/tag256.xml><?xml version="1.0" encoding="utf-8"?>
<p:tagLst xmlns:p="http://schemas.openxmlformats.org/presentationml/2006/main">
  <p:tag name="KSO_WM_SLIDE_ID" val="custom20202545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545"/>
  <p:tag name="KSO_WM_SLIDE_LAYOUT" val="a_f"/>
  <p:tag name="KSO_WM_SLIDE_LAYOUT_CNT" val="1_1"/>
</p:tagLst>
</file>

<file path=ppt/tags/tag257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5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PRESET_TEXT" val="THANKS"/>
</p:tagLst>
</file>

<file path=ppt/tags/tag258.xml><?xml version="1.0" encoding="utf-8"?>
<p:tagLst xmlns:p="http://schemas.openxmlformats.org/presentationml/2006/main">
  <p:tag name="KSO_WM_SLIDE_ID" val="custom20202545_15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545"/>
  <p:tag name="KSO_WM_SLIDE_LAYOUT" val="a"/>
  <p:tag name="KSO_WM_SLIDE_LAYOUT_CNT" val="1"/>
</p:tagLst>
</file>

<file path=ppt/tags/tag259.xml><?xml version="1.0" encoding="utf-8"?>
<p:tagLst xmlns:p="http://schemas.openxmlformats.org/presentationml/2006/main">
  <p:tag name="commondata" val="eyJoZGlkIjoiZjAxMDMxNTc0NmE5YzRlNTQ4ZmI5MzlkYzI5NmM5MGYifQ==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6380</Words>
  <Application>WPS 演示</Application>
  <PresentationFormat>宽屏</PresentationFormat>
  <Paragraphs>471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汉仪旗黑-85S</vt:lpstr>
      <vt:lpstr>黑体</vt:lpstr>
      <vt:lpstr>Viner Hand ITC</vt:lpstr>
      <vt:lpstr>华光彩云_CNKI</vt:lpstr>
      <vt:lpstr>Bodoni MT Black</vt:lpstr>
      <vt:lpstr>华光胖头鱼_CNKI</vt:lpstr>
      <vt:lpstr>Times New Roman</vt:lpstr>
      <vt:lpstr>Wingdings</vt:lpstr>
      <vt:lpstr>Arial Unicode MS</vt:lpstr>
      <vt:lpstr>Calibri</vt:lpstr>
      <vt:lpstr>2_Office 主题​​</vt:lpstr>
      <vt:lpstr>软件工程导论（第6版）</vt:lpstr>
      <vt:lpstr>第8章  面向对象设计</vt:lpstr>
      <vt:lpstr>PowerPoint 演示文稿</vt:lpstr>
      <vt:lpstr>面向对象设计的准则</vt:lpstr>
      <vt:lpstr>启发规则</vt:lpstr>
      <vt:lpstr>软件重用</vt:lpstr>
      <vt:lpstr>PowerPoint 演示文稿</vt:lpstr>
      <vt:lpstr>系统分解</vt:lpstr>
      <vt:lpstr>PowerPoint 演示文稿</vt:lpstr>
      <vt:lpstr>PowerPoint 演示文稿</vt:lpstr>
      <vt:lpstr>设计问题域子系统</vt:lpstr>
      <vt:lpstr>设计人机交互子系统</vt:lpstr>
      <vt:lpstr>设计任务管理子系统</vt:lpstr>
      <vt:lpstr>PowerPoint 演示文稿</vt:lpstr>
      <vt:lpstr>设计数据管理子系统</vt:lpstr>
      <vt:lpstr>PowerPoint 演示文稿</vt:lpstr>
      <vt:lpstr>设计类中的服务</vt:lpstr>
      <vt:lpstr>设计关联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半湖柳色</cp:lastModifiedBy>
  <cp:revision>503</cp:revision>
  <dcterms:created xsi:type="dcterms:W3CDTF">2019-06-19T02:08:00Z</dcterms:created>
  <dcterms:modified xsi:type="dcterms:W3CDTF">2026-02-02T08:42:29Z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A20EDFBD9A084226A8E4C1750C8D7C83_13</vt:lpwstr>
  </property>
</Properties>
</file>