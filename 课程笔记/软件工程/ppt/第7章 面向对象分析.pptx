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61" r:id="rId4"/>
    <p:sldId id="273" r:id="rId6"/>
    <p:sldId id="297" r:id="rId7"/>
    <p:sldId id="430" r:id="rId8"/>
    <p:sldId id="389" r:id="rId9"/>
    <p:sldId id="417" r:id="rId10"/>
    <p:sldId id="427" r:id="rId11"/>
    <p:sldId id="428" r:id="rId12"/>
    <p:sldId id="429" r:id="rId13"/>
    <p:sldId id="390" r:id="rId14"/>
    <p:sldId id="391" r:id="rId15"/>
    <p:sldId id="392" r:id="rId16"/>
    <p:sldId id="393" r:id="rId17"/>
    <p:sldId id="365" r:id="rId18"/>
    <p:sldId id="432" r:id="rId19"/>
    <p:sldId id="272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7" userDrawn="1">
          <p15:clr>
            <a:srgbClr val="A4A3A4"/>
          </p15:clr>
        </p15:guide>
        <p15:guide id="2" pos="375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w" initials="w" lastIdx="3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5D5FF"/>
    <a:srgbClr val="45DB77"/>
    <a:srgbClr val="E2EDDF"/>
    <a:srgbClr val="F0F0DD"/>
    <a:srgbClr val="98F5F2"/>
    <a:srgbClr val="FFFFEA"/>
    <a:srgbClr val="FBFEA0"/>
    <a:srgbClr val="48A088"/>
    <a:srgbClr val="C9FB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997"/>
        <p:guide pos="375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228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AADB7F-6A8A-4062-BC57-B8152CA1D6BF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F4A4A82-2F8D-4B5C-96AF-9FF67A76A19E}">
      <dgm:prSet phldrT="[文本]"/>
      <dgm:spPr>
        <a:solidFill>
          <a:srgbClr val="CC9900"/>
        </a:solidFill>
      </dgm:spPr>
      <dgm:t>
        <a:bodyPr/>
        <a:lstStyle/>
        <a:p>
          <a:r>
            <a:rPr lang="zh-CN" altLang="en-US" dirty="0" smtClean="0"/>
            <a:t>读者</a:t>
          </a:r>
          <a:endParaRPr lang="zh-CN" altLang="en-US" dirty="0"/>
        </a:p>
      </dgm:t>
    </dgm:pt>
    <dgm:pt modelId="{DDDF1601-2667-4E79-9CB6-10769D05022E}" cxnId="{E3798BE1-DFF4-40A4-BDF4-8D05B4E1589D}" type="parTrans">
      <dgm:prSet/>
      <dgm:spPr/>
      <dgm:t>
        <a:bodyPr/>
        <a:lstStyle/>
        <a:p>
          <a:endParaRPr lang="zh-CN" altLang="en-US"/>
        </a:p>
      </dgm:t>
    </dgm:pt>
    <dgm:pt modelId="{D0EE3EAB-074B-404F-932D-F89AF45A87CA}" cxnId="{E3798BE1-DFF4-40A4-BDF4-8D05B4E1589D}" type="sibTrans">
      <dgm:prSet/>
      <dgm:spPr/>
      <dgm:t>
        <a:bodyPr/>
        <a:lstStyle/>
        <a:p>
          <a:endParaRPr lang="zh-CN" altLang="en-US"/>
        </a:p>
      </dgm:t>
    </dgm:pt>
    <dgm:pt modelId="{5EAABD90-853F-4A45-ABD2-9216E3004CF7}">
      <dgm:prSet phldrT="[文本]"/>
      <dgm:spPr>
        <a:solidFill>
          <a:schemeClr val="accent2"/>
        </a:solidFill>
      </dgm:spPr>
      <dgm:t>
        <a:bodyPr/>
        <a:lstStyle/>
        <a:p>
          <a:r>
            <a:rPr lang="zh-CN" altLang="en-US" dirty="0" smtClean="0"/>
            <a:t>系统分析员</a:t>
          </a:r>
          <a:endParaRPr lang="zh-CN" altLang="en-US" dirty="0"/>
        </a:p>
      </dgm:t>
    </dgm:pt>
    <dgm:pt modelId="{EB8EB9FC-C150-46E6-9C0D-075E08503ED8}" cxnId="{91BF3820-1BC0-425C-ADE9-69B0339BE680}" type="parTrans">
      <dgm:prSet/>
      <dgm:spPr/>
      <dgm:t>
        <a:bodyPr/>
        <a:lstStyle/>
        <a:p>
          <a:endParaRPr lang="zh-CN" altLang="en-US"/>
        </a:p>
      </dgm:t>
    </dgm:pt>
    <dgm:pt modelId="{4BDABB98-8F24-49A1-9FE6-741163CF0250}" cxnId="{91BF3820-1BC0-425C-ADE9-69B0339BE680}" type="sibTrans">
      <dgm:prSet/>
      <dgm:spPr/>
      <dgm:t>
        <a:bodyPr/>
        <a:lstStyle/>
        <a:p>
          <a:endParaRPr lang="zh-CN" altLang="en-US"/>
        </a:p>
      </dgm:t>
    </dgm:pt>
    <dgm:pt modelId="{C0C7CFC6-DE5B-442F-9233-250A5B4B7CCA}">
      <dgm:prSet phldrT="[文本]"/>
      <dgm:spPr>
        <a:solidFill>
          <a:schemeClr val="accent6"/>
        </a:solidFill>
      </dgm:spPr>
      <dgm:t>
        <a:bodyPr/>
        <a:lstStyle/>
        <a:p>
          <a:r>
            <a:rPr lang="zh-CN" altLang="en-US" dirty="0" smtClean="0"/>
            <a:t>软件设计人员</a:t>
          </a:r>
          <a:endParaRPr lang="zh-CN" altLang="en-US" dirty="0"/>
        </a:p>
      </dgm:t>
    </dgm:pt>
    <dgm:pt modelId="{0D706C75-A1DE-40AA-A8E2-E7BB8DD3120C}" cxnId="{D23635C6-4ADE-4D99-8A49-7DC83927040C}" type="parTrans">
      <dgm:prSet/>
      <dgm:spPr/>
      <dgm:t>
        <a:bodyPr/>
        <a:lstStyle/>
        <a:p>
          <a:endParaRPr lang="zh-CN" altLang="en-US"/>
        </a:p>
      </dgm:t>
    </dgm:pt>
    <dgm:pt modelId="{8ADFA153-B13F-41AD-B7A1-59FF5254F327}" cxnId="{D23635C6-4ADE-4D99-8A49-7DC83927040C}" type="sibTrans">
      <dgm:prSet/>
      <dgm:spPr/>
      <dgm:t>
        <a:bodyPr/>
        <a:lstStyle/>
        <a:p>
          <a:endParaRPr lang="zh-CN" altLang="en-US"/>
        </a:p>
      </dgm:t>
    </dgm:pt>
    <dgm:pt modelId="{A33DA1AD-E52F-4CEB-AB33-2147618E5833}">
      <dgm:prSet phldrT="[文本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zh-CN" altLang="en-US" dirty="0" smtClean="0"/>
            <a:t>领域专家</a:t>
          </a:r>
          <a:endParaRPr lang="zh-CN" altLang="en-US" dirty="0"/>
        </a:p>
      </dgm:t>
    </dgm:pt>
    <dgm:pt modelId="{8CDE8A5B-3921-48ED-81F0-EBC9F1360719}" cxnId="{20DF12A0-1C2A-416D-AB03-416358132416}" type="parTrans">
      <dgm:prSet/>
      <dgm:spPr/>
      <dgm:t>
        <a:bodyPr/>
        <a:lstStyle/>
        <a:p>
          <a:endParaRPr lang="zh-CN" altLang="en-US"/>
        </a:p>
      </dgm:t>
    </dgm:pt>
    <dgm:pt modelId="{7CB95C1A-B259-4AEB-B593-3B695B284614}" cxnId="{20DF12A0-1C2A-416D-AB03-416358132416}" type="sibTrans">
      <dgm:prSet/>
      <dgm:spPr/>
      <dgm:t>
        <a:bodyPr/>
        <a:lstStyle/>
        <a:p>
          <a:endParaRPr lang="zh-CN" altLang="en-US"/>
        </a:p>
      </dgm:t>
    </dgm:pt>
    <dgm:pt modelId="{32AC2C71-E86B-4367-B801-725374EF900C}">
      <dgm:prSet phldrT="[文本]"/>
      <dgm:spPr>
        <a:solidFill>
          <a:schemeClr val="accent3"/>
        </a:solidFill>
      </dgm:spPr>
      <dgm:t>
        <a:bodyPr/>
        <a:lstStyle/>
        <a:p>
          <a:r>
            <a:rPr lang="zh-CN" altLang="en-US" dirty="0" smtClean="0"/>
            <a:t>管理人员</a:t>
          </a:r>
          <a:endParaRPr lang="zh-CN" altLang="en-US" dirty="0"/>
        </a:p>
      </dgm:t>
    </dgm:pt>
    <dgm:pt modelId="{8681B540-EACC-472E-BD7B-D235E9231759}" cxnId="{7181FC9C-F159-41CB-B536-B856622474E0}" type="parTrans">
      <dgm:prSet/>
      <dgm:spPr/>
      <dgm:t>
        <a:bodyPr/>
        <a:lstStyle/>
        <a:p>
          <a:endParaRPr lang="zh-CN" altLang="en-US"/>
        </a:p>
      </dgm:t>
    </dgm:pt>
    <dgm:pt modelId="{746C35AB-B893-4161-BEB6-41F89476E55E}" cxnId="{7181FC9C-F159-41CB-B536-B856622474E0}" type="sibTrans">
      <dgm:prSet/>
      <dgm:spPr/>
      <dgm:t>
        <a:bodyPr/>
        <a:lstStyle/>
        <a:p>
          <a:endParaRPr lang="zh-CN" altLang="en-US"/>
        </a:p>
      </dgm:t>
    </dgm:pt>
    <dgm:pt modelId="{4C232CE2-B92B-44A7-81E9-C0661B3E0D83}">
      <dgm:prSet phldrT="[文本]"/>
      <dgm:spPr/>
      <dgm:t>
        <a:bodyPr/>
        <a:lstStyle/>
        <a:p>
          <a:endParaRPr lang="zh-CN" altLang="en-US"/>
        </a:p>
      </dgm:t>
    </dgm:pt>
    <dgm:pt modelId="{13EFB94A-C6C5-413B-BD1C-46F478972F92}" cxnId="{694E5AF1-2720-4243-8EE1-765E7A8618B2}" type="parTrans">
      <dgm:prSet/>
      <dgm:spPr/>
      <dgm:t>
        <a:bodyPr/>
        <a:lstStyle/>
        <a:p>
          <a:endParaRPr lang="zh-CN" altLang="en-US"/>
        </a:p>
      </dgm:t>
    </dgm:pt>
    <dgm:pt modelId="{F6E41615-1EBF-4265-956E-9D3D816ADFB2}" cxnId="{694E5AF1-2720-4243-8EE1-765E7A8618B2}" type="sibTrans">
      <dgm:prSet/>
      <dgm:spPr/>
      <dgm:t>
        <a:bodyPr/>
        <a:lstStyle/>
        <a:p>
          <a:endParaRPr lang="zh-CN" altLang="en-US"/>
        </a:p>
      </dgm:t>
    </dgm:pt>
    <dgm:pt modelId="{AF8C9E6E-39A9-4613-B667-E2D45CB994B8}">
      <dgm:prSet phldrT="[文本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zh-CN" altLang="en-US" dirty="0" smtClean="0"/>
            <a:t>用户等</a:t>
          </a:r>
          <a:endParaRPr lang="zh-CN" altLang="en-US" dirty="0"/>
        </a:p>
      </dgm:t>
    </dgm:pt>
    <dgm:pt modelId="{ED23A543-09E0-4CE8-BEEB-8106F4EC7134}" cxnId="{D9F92C7C-00BF-417B-88D5-0D21CCE475BB}" type="parTrans">
      <dgm:prSet/>
      <dgm:spPr/>
      <dgm:t>
        <a:bodyPr/>
        <a:lstStyle/>
        <a:p>
          <a:endParaRPr lang="zh-CN" altLang="en-US"/>
        </a:p>
      </dgm:t>
    </dgm:pt>
    <dgm:pt modelId="{FA786DBA-DC99-4461-8292-1E04CE36395B}" cxnId="{D9F92C7C-00BF-417B-88D5-0D21CCE475BB}" type="sibTrans">
      <dgm:prSet/>
      <dgm:spPr/>
      <dgm:t>
        <a:bodyPr/>
        <a:lstStyle/>
        <a:p>
          <a:endParaRPr lang="zh-CN" altLang="en-US"/>
        </a:p>
      </dgm:t>
    </dgm:pt>
    <dgm:pt modelId="{7302B6B3-AD0F-4AA5-8C33-E6B85029351B}" type="pres">
      <dgm:prSet presAssocID="{69AADB7F-6A8A-4062-BC57-B8152CA1D6BF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30B7A355-4478-4383-AFD0-24F8C5D7299F}" type="pres">
      <dgm:prSet presAssocID="{1F4A4A82-2F8D-4B5C-96AF-9FF67A76A19E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40B08679-50C2-4475-81FA-BB186201C002}" type="pres">
      <dgm:prSet presAssocID="{EB8EB9FC-C150-46E6-9C0D-075E08503ED8}" presName="parTrans" presStyleLbl="sibTrans2D1" presStyleIdx="0" presStyleCnt="5"/>
      <dgm:spPr/>
      <dgm:t>
        <a:bodyPr/>
        <a:lstStyle/>
        <a:p>
          <a:endParaRPr lang="zh-CN" altLang="en-US"/>
        </a:p>
      </dgm:t>
    </dgm:pt>
    <dgm:pt modelId="{87C8382C-15B0-4957-904C-821F1EF26266}" type="pres">
      <dgm:prSet presAssocID="{EB8EB9FC-C150-46E6-9C0D-075E08503ED8}" presName="connectorText" presStyleLbl="sibTrans2D1" presStyleIdx="0" presStyleCnt="5"/>
      <dgm:spPr/>
      <dgm:t>
        <a:bodyPr/>
        <a:lstStyle/>
        <a:p>
          <a:endParaRPr lang="zh-CN" altLang="en-US"/>
        </a:p>
      </dgm:t>
    </dgm:pt>
    <dgm:pt modelId="{045AE9A6-951E-49E2-B21F-616D4215893A}" type="pres">
      <dgm:prSet presAssocID="{5EAABD90-853F-4A45-ABD2-9216E3004CF7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F3592BD-0381-4D44-87DA-D6470F153D16}" type="pres">
      <dgm:prSet presAssocID="{0D706C75-A1DE-40AA-A8E2-E7BB8DD3120C}" presName="parTrans" presStyleLbl="sibTrans2D1" presStyleIdx="1" presStyleCnt="5"/>
      <dgm:spPr/>
      <dgm:t>
        <a:bodyPr/>
        <a:lstStyle/>
        <a:p>
          <a:endParaRPr lang="zh-CN" altLang="en-US"/>
        </a:p>
      </dgm:t>
    </dgm:pt>
    <dgm:pt modelId="{CB091521-5903-4A09-8012-C8B9B9DBE771}" type="pres">
      <dgm:prSet presAssocID="{0D706C75-A1DE-40AA-A8E2-E7BB8DD3120C}" presName="connectorText" presStyleLbl="sibTrans2D1" presStyleIdx="1" presStyleCnt="5"/>
      <dgm:spPr/>
      <dgm:t>
        <a:bodyPr/>
        <a:lstStyle/>
        <a:p>
          <a:endParaRPr lang="zh-CN" altLang="en-US"/>
        </a:p>
      </dgm:t>
    </dgm:pt>
    <dgm:pt modelId="{5CD2964D-BC05-4721-B869-677E4AF85885}" type="pres">
      <dgm:prSet presAssocID="{C0C7CFC6-DE5B-442F-9233-250A5B4B7CCA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1B90349-F581-4FE4-8BBF-B17203BCE24A}" type="pres">
      <dgm:prSet presAssocID="{8CDE8A5B-3921-48ED-81F0-EBC9F1360719}" presName="parTrans" presStyleLbl="sibTrans2D1" presStyleIdx="2" presStyleCnt="5"/>
      <dgm:spPr/>
      <dgm:t>
        <a:bodyPr/>
        <a:lstStyle/>
        <a:p>
          <a:endParaRPr lang="zh-CN" altLang="en-US"/>
        </a:p>
      </dgm:t>
    </dgm:pt>
    <dgm:pt modelId="{7B91EF37-B002-4A06-9572-C6314C8FBBCA}" type="pres">
      <dgm:prSet presAssocID="{8CDE8A5B-3921-48ED-81F0-EBC9F1360719}" presName="connectorText" presStyleLbl="sibTrans2D1" presStyleIdx="2" presStyleCnt="5"/>
      <dgm:spPr/>
      <dgm:t>
        <a:bodyPr/>
        <a:lstStyle/>
        <a:p>
          <a:endParaRPr lang="zh-CN" altLang="en-US"/>
        </a:p>
      </dgm:t>
    </dgm:pt>
    <dgm:pt modelId="{36B69093-F239-4D12-910D-E0B0D407FC7D}" type="pres">
      <dgm:prSet presAssocID="{A33DA1AD-E52F-4CEB-AB33-2147618E5833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1E02F64-5EA4-4101-9550-F0B874488EF2}" type="pres">
      <dgm:prSet presAssocID="{8681B540-EACC-472E-BD7B-D235E9231759}" presName="parTrans" presStyleLbl="sibTrans2D1" presStyleIdx="3" presStyleCnt="5"/>
      <dgm:spPr/>
      <dgm:t>
        <a:bodyPr/>
        <a:lstStyle/>
        <a:p>
          <a:endParaRPr lang="zh-CN" altLang="en-US"/>
        </a:p>
      </dgm:t>
    </dgm:pt>
    <dgm:pt modelId="{A10A24D9-FF57-4A16-9BC0-8D3D2D30AC77}" type="pres">
      <dgm:prSet presAssocID="{8681B540-EACC-472E-BD7B-D235E9231759}" presName="connectorText" presStyleLbl="sibTrans2D1" presStyleIdx="3" presStyleCnt="5"/>
      <dgm:spPr/>
      <dgm:t>
        <a:bodyPr/>
        <a:lstStyle/>
        <a:p>
          <a:endParaRPr lang="zh-CN" altLang="en-US"/>
        </a:p>
      </dgm:t>
    </dgm:pt>
    <dgm:pt modelId="{B85B9AA8-22AE-4EDE-8353-2C3EADBA54E3}" type="pres">
      <dgm:prSet presAssocID="{32AC2C71-E86B-4367-B801-725374EF900C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4A64276-0093-4FEB-BD1F-245D3D1BC0EE}" type="pres">
      <dgm:prSet presAssocID="{ED23A543-09E0-4CE8-BEEB-8106F4EC7134}" presName="parTrans" presStyleLbl="sibTrans2D1" presStyleIdx="4" presStyleCnt="5"/>
      <dgm:spPr/>
      <dgm:t>
        <a:bodyPr/>
        <a:lstStyle/>
        <a:p>
          <a:endParaRPr lang="zh-CN" altLang="en-US"/>
        </a:p>
      </dgm:t>
    </dgm:pt>
    <dgm:pt modelId="{FC0D5156-3011-4592-A901-AFDA1ED9E687}" type="pres">
      <dgm:prSet presAssocID="{ED23A543-09E0-4CE8-BEEB-8106F4EC7134}" presName="connectorText" presStyleLbl="sibTrans2D1" presStyleIdx="4" presStyleCnt="5"/>
      <dgm:spPr/>
      <dgm:t>
        <a:bodyPr/>
        <a:lstStyle/>
        <a:p>
          <a:endParaRPr lang="zh-CN" altLang="en-US"/>
        </a:p>
      </dgm:t>
    </dgm:pt>
    <dgm:pt modelId="{4D57665B-05FC-4427-A582-6D93646A0E73}" type="pres">
      <dgm:prSet presAssocID="{AF8C9E6E-39A9-4613-B667-E2D45CB994B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7EBB2EC-4420-4FAB-947F-7D2B1C51DF20}" type="presOf" srcId="{8681B540-EACC-472E-BD7B-D235E9231759}" destId="{81E02F64-5EA4-4101-9550-F0B874488EF2}" srcOrd="0" destOrd="0" presId="urn:microsoft.com/office/officeart/2005/8/layout/radial5"/>
    <dgm:cxn modelId="{23B27798-A2AA-4F75-890B-71B115893ACD}" type="presOf" srcId="{ED23A543-09E0-4CE8-BEEB-8106F4EC7134}" destId="{FC0D5156-3011-4592-A901-AFDA1ED9E687}" srcOrd="1" destOrd="0" presId="urn:microsoft.com/office/officeart/2005/8/layout/radial5"/>
    <dgm:cxn modelId="{01BC541D-342F-438F-BACA-627F1F254CC2}" type="presOf" srcId="{32AC2C71-E86B-4367-B801-725374EF900C}" destId="{B85B9AA8-22AE-4EDE-8353-2C3EADBA54E3}" srcOrd="0" destOrd="0" presId="urn:microsoft.com/office/officeart/2005/8/layout/radial5"/>
    <dgm:cxn modelId="{D23635C6-4ADE-4D99-8A49-7DC83927040C}" srcId="{1F4A4A82-2F8D-4B5C-96AF-9FF67A76A19E}" destId="{C0C7CFC6-DE5B-442F-9233-250A5B4B7CCA}" srcOrd="1" destOrd="0" parTransId="{0D706C75-A1DE-40AA-A8E2-E7BB8DD3120C}" sibTransId="{8ADFA153-B13F-41AD-B7A1-59FF5254F327}"/>
    <dgm:cxn modelId="{694E5AF1-2720-4243-8EE1-765E7A8618B2}" srcId="{69AADB7F-6A8A-4062-BC57-B8152CA1D6BF}" destId="{4C232CE2-B92B-44A7-81E9-C0661B3E0D83}" srcOrd="1" destOrd="0" parTransId="{13EFB94A-C6C5-413B-BD1C-46F478972F92}" sibTransId="{F6E41615-1EBF-4265-956E-9D3D816ADFB2}"/>
    <dgm:cxn modelId="{644A2CFF-9179-41A9-B6BD-8650F4D0D8B6}" type="presOf" srcId="{ED23A543-09E0-4CE8-BEEB-8106F4EC7134}" destId="{F4A64276-0093-4FEB-BD1F-245D3D1BC0EE}" srcOrd="0" destOrd="0" presId="urn:microsoft.com/office/officeart/2005/8/layout/radial5"/>
    <dgm:cxn modelId="{E6AEDD06-7464-4218-9A19-B17B8C564325}" type="presOf" srcId="{0D706C75-A1DE-40AA-A8E2-E7BB8DD3120C}" destId="{CB091521-5903-4A09-8012-C8B9B9DBE771}" srcOrd="1" destOrd="0" presId="urn:microsoft.com/office/officeart/2005/8/layout/radial5"/>
    <dgm:cxn modelId="{7F08CDF8-B3CF-480A-BDD0-D7A1CA4D34D7}" type="presOf" srcId="{1F4A4A82-2F8D-4B5C-96AF-9FF67A76A19E}" destId="{30B7A355-4478-4383-AFD0-24F8C5D7299F}" srcOrd="0" destOrd="0" presId="urn:microsoft.com/office/officeart/2005/8/layout/radial5"/>
    <dgm:cxn modelId="{C928A9D6-A95F-4A6F-9EF3-48939E6596BE}" type="presOf" srcId="{EB8EB9FC-C150-46E6-9C0D-075E08503ED8}" destId="{40B08679-50C2-4475-81FA-BB186201C002}" srcOrd="0" destOrd="0" presId="urn:microsoft.com/office/officeart/2005/8/layout/radial5"/>
    <dgm:cxn modelId="{E3BE8CEE-F3E0-4F1C-96BF-DFA2CE3584AE}" type="presOf" srcId="{A33DA1AD-E52F-4CEB-AB33-2147618E5833}" destId="{36B69093-F239-4D12-910D-E0B0D407FC7D}" srcOrd="0" destOrd="0" presId="urn:microsoft.com/office/officeart/2005/8/layout/radial5"/>
    <dgm:cxn modelId="{BA63EBFB-C984-49CB-9ADF-F1CB40A84DD6}" type="presOf" srcId="{0D706C75-A1DE-40AA-A8E2-E7BB8DD3120C}" destId="{2F3592BD-0381-4D44-87DA-D6470F153D16}" srcOrd="0" destOrd="0" presId="urn:microsoft.com/office/officeart/2005/8/layout/radial5"/>
    <dgm:cxn modelId="{B4A679E2-1090-443D-8D46-A1F0F7C8DF70}" type="presOf" srcId="{EB8EB9FC-C150-46E6-9C0D-075E08503ED8}" destId="{87C8382C-15B0-4957-904C-821F1EF26266}" srcOrd="1" destOrd="0" presId="urn:microsoft.com/office/officeart/2005/8/layout/radial5"/>
    <dgm:cxn modelId="{F2B43565-715F-40F5-9424-D194143791C8}" type="presOf" srcId="{AF8C9E6E-39A9-4613-B667-E2D45CB994B8}" destId="{4D57665B-05FC-4427-A582-6D93646A0E73}" srcOrd="0" destOrd="0" presId="urn:microsoft.com/office/officeart/2005/8/layout/radial5"/>
    <dgm:cxn modelId="{0B4170A5-7071-425F-BC33-A77661447EE3}" type="presOf" srcId="{5EAABD90-853F-4A45-ABD2-9216E3004CF7}" destId="{045AE9A6-951E-49E2-B21F-616D4215893A}" srcOrd="0" destOrd="0" presId="urn:microsoft.com/office/officeart/2005/8/layout/radial5"/>
    <dgm:cxn modelId="{D9F92C7C-00BF-417B-88D5-0D21CCE475BB}" srcId="{1F4A4A82-2F8D-4B5C-96AF-9FF67A76A19E}" destId="{AF8C9E6E-39A9-4613-B667-E2D45CB994B8}" srcOrd="4" destOrd="0" parTransId="{ED23A543-09E0-4CE8-BEEB-8106F4EC7134}" sibTransId="{FA786DBA-DC99-4461-8292-1E04CE36395B}"/>
    <dgm:cxn modelId="{BF8558A8-ABD0-4377-9C8F-472995B17161}" type="presOf" srcId="{8CDE8A5B-3921-48ED-81F0-EBC9F1360719}" destId="{61B90349-F581-4FE4-8BBF-B17203BCE24A}" srcOrd="0" destOrd="0" presId="urn:microsoft.com/office/officeart/2005/8/layout/radial5"/>
    <dgm:cxn modelId="{20DF12A0-1C2A-416D-AB03-416358132416}" srcId="{1F4A4A82-2F8D-4B5C-96AF-9FF67A76A19E}" destId="{A33DA1AD-E52F-4CEB-AB33-2147618E5833}" srcOrd="2" destOrd="0" parTransId="{8CDE8A5B-3921-48ED-81F0-EBC9F1360719}" sibTransId="{7CB95C1A-B259-4AEB-B593-3B695B284614}"/>
    <dgm:cxn modelId="{17C24761-B17A-440E-B249-EEE3EE5976C3}" type="presOf" srcId="{8CDE8A5B-3921-48ED-81F0-EBC9F1360719}" destId="{7B91EF37-B002-4A06-9572-C6314C8FBBCA}" srcOrd="1" destOrd="0" presId="urn:microsoft.com/office/officeart/2005/8/layout/radial5"/>
    <dgm:cxn modelId="{CBCF18BC-1116-4C87-B11D-D8D4AF203712}" type="presOf" srcId="{8681B540-EACC-472E-BD7B-D235E9231759}" destId="{A10A24D9-FF57-4A16-9BC0-8D3D2D30AC77}" srcOrd="1" destOrd="0" presId="urn:microsoft.com/office/officeart/2005/8/layout/radial5"/>
    <dgm:cxn modelId="{E3798BE1-DFF4-40A4-BDF4-8D05B4E1589D}" srcId="{69AADB7F-6A8A-4062-BC57-B8152CA1D6BF}" destId="{1F4A4A82-2F8D-4B5C-96AF-9FF67A76A19E}" srcOrd="0" destOrd="0" parTransId="{DDDF1601-2667-4E79-9CB6-10769D05022E}" sibTransId="{D0EE3EAB-074B-404F-932D-F89AF45A87CA}"/>
    <dgm:cxn modelId="{14B8DF4C-238A-4177-A370-A369CC66C7B8}" type="presOf" srcId="{69AADB7F-6A8A-4062-BC57-B8152CA1D6BF}" destId="{7302B6B3-AD0F-4AA5-8C33-E6B85029351B}" srcOrd="0" destOrd="0" presId="urn:microsoft.com/office/officeart/2005/8/layout/radial5"/>
    <dgm:cxn modelId="{7181FC9C-F159-41CB-B536-B856622474E0}" srcId="{1F4A4A82-2F8D-4B5C-96AF-9FF67A76A19E}" destId="{32AC2C71-E86B-4367-B801-725374EF900C}" srcOrd="3" destOrd="0" parTransId="{8681B540-EACC-472E-BD7B-D235E9231759}" sibTransId="{746C35AB-B893-4161-BEB6-41F89476E55E}"/>
    <dgm:cxn modelId="{91BF3820-1BC0-425C-ADE9-69B0339BE680}" srcId="{1F4A4A82-2F8D-4B5C-96AF-9FF67A76A19E}" destId="{5EAABD90-853F-4A45-ABD2-9216E3004CF7}" srcOrd="0" destOrd="0" parTransId="{EB8EB9FC-C150-46E6-9C0D-075E08503ED8}" sibTransId="{4BDABB98-8F24-49A1-9FE6-741163CF0250}"/>
    <dgm:cxn modelId="{9957E0F7-2DCD-4D67-A6F1-18664DEE8D0A}" type="presOf" srcId="{C0C7CFC6-DE5B-442F-9233-250A5B4B7CCA}" destId="{5CD2964D-BC05-4721-B869-677E4AF85885}" srcOrd="0" destOrd="0" presId="urn:microsoft.com/office/officeart/2005/8/layout/radial5"/>
    <dgm:cxn modelId="{3981F53A-22EB-429F-86FE-A96C57AADC93}" type="presParOf" srcId="{7302B6B3-AD0F-4AA5-8C33-E6B85029351B}" destId="{30B7A355-4478-4383-AFD0-24F8C5D7299F}" srcOrd="0" destOrd="0" presId="urn:microsoft.com/office/officeart/2005/8/layout/radial5"/>
    <dgm:cxn modelId="{CBB7861C-DB2E-4BF9-A342-BBE034786728}" type="presParOf" srcId="{7302B6B3-AD0F-4AA5-8C33-E6B85029351B}" destId="{40B08679-50C2-4475-81FA-BB186201C002}" srcOrd="1" destOrd="0" presId="urn:microsoft.com/office/officeart/2005/8/layout/radial5"/>
    <dgm:cxn modelId="{4901B093-F30D-4E70-9E71-E8A76366504E}" type="presParOf" srcId="{40B08679-50C2-4475-81FA-BB186201C002}" destId="{87C8382C-15B0-4957-904C-821F1EF26266}" srcOrd="0" destOrd="0" presId="urn:microsoft.com/office/officeart/2005/8/layout/radial5"/>
    <dgm:cxn modelId="{7707D2AC-5EB5-40CF-8D6D-F76BFA8E0631}" type="presParOf" srcId="{7302B6B3-AD0F-4AA5-8C33-E6B85029351B}" destId="{045AE9A6-951E-49E2-B21F-616D4215893A}" srcOrd="2" destOrd="0" presId="urn:microsoft.com/office/officeart/2005/8/layout/radial5"/>
    <dgm:cxn modelId="{E9596108-242C-4F2B-93EA-49968F3F748C}" type="presParOf" srcId="{7302B6B3-AD0F-4AA5-8C33-E6B85029351B}" destId="{2F3592BD-0381-4D44-87DA-D6470F153D16}" srcOrd="3" destOrd="0" presId="urn:microsoft.com/office/officeart/2005/8/layout/radial5"/>
    <dgm:cxn modelId="{E83CE6D6-04D7-4E1C-8416-15B1E25B1128}" type="presParOf" srcId="{2F3592BD-0381-4D44-87DA-D6470F153D16}" destId="{CB091521-5903-4A09-8012-C8B9B9DBE771}" srcOrd="0" destOrd="0" presId="urn:microsoft.com/office/officeart/2005/8/layout/radial5"/>
    <dgm:cxn modelId="{70CB4D35-D867-444C-9310-3F78DFB005B3}" type="presParOf" srcId="{7302B6B3-AD0F-4AA5-8C33-E6B85029351B}" destId="{5CD2964D-BC05-4721-B869-677E4AF85885}" srcOrd="4" destOrd="0" presId="urn:microsoft.com/office/officeart/2005/8/layout/radial5"/>
    <dgm:cxn modelId="{4035F344-CDBD-49A1-8E6C-31F8B2B1B2BA}" type="presParOf" srcId="{7302B6B3-AD0F-4AA5-8C33-E6B85029351B}" destId="{61B90349-F581-4FE4-8BBF-B17203BCE24A}" srcOrd="5" destOrd="0" presId="urn:microsoft.com/office/officeart/2005/8/layout/radial5"/>
    <dgm:cxn modelId="{00DCC2A9-3800-4A3F-BD7D-C0E6CEB6E0C7}" type="presParOf" srcId="{61B90349-F581-4FE4-8BBF-B17203BCE24A}" destId="{7B91EF37-B002-4A06-9572-C6314C8FBBCA}" srcOrd="0" destOrd="0" presId="urn:microsoft.com/office/officeart/2005/8/layout/radial5"/>
    <dgm:cxn modelId="{59896A62-858D-4726-B1D1-1EC3ACD9BCD0}" type="presParOf" srcId="{7302B6B3-AD0F-4AA5-8C33-E6B85029351B}" destId="{36B69093-F239-4D12-910D-E0B0D407FC7D}" srcOrd="6" destOrd="0" presId="urn:microsoft.com/office/officeart/2005/8/layout/radial5"/>
    <dgm:cxn modelId="{A90ABF47-D2D3-451A-8724-CD202B810540}" type="presParOf" srcId="{7302B6B3-AD0F-4AA5-8C33-E6B85029351B}" destId="{81E02F64-5EA4-4101-9550-F0B874488EF2}" srcOrd="7" destOrd="0" presId="urn:microsoft.com/office/officeart/2005/8/layout/radial5"/>
    <dgm:cxn modelId="{B0DBBC2F-61C8-44B7-90FF-E185C06FDBB7}" type="presParOf" srcId="{81E02F64-5EA4-4101-9550-F0B874488EF2}" destId="{A10A24D9-FF57-4A16-9BC0-8D3D2D30AC77}" srcOrd="0" destOrd="0" presId="urn:microsoft.com/office/officeart/2005/8/layout/radial5"/>
    <dgm:cxn modelId="{655EAF2E-09A9-4C30-92E0-4E40A2B4D6C6}" type="presParOf" srcId="{7302B6B3-AD0F-4AA5-8C33-E6B85029351B}" destId="{B85B9AA8-22AE-4EDE-8353-2C3EADBA54E3}" srcOrd="8" destOrd="0" presId="urn:microsoft.com/office/officeart/2005/8/layout/radial5"/>
    <dgm:cxn modelId="{0E42B4C9-B7A6-440C-B492-7BB3EDD85CAF}" type="presParOf" srcId="{7302B6B3-AD0F-4AA5-8C33-E6B85029351B}" destId="{F4A64276-0093-4FEB-BD1F-245D3D1BC0EE}" srcOrd="9" destOrd="0" presId="urn:microsoft.com/office/officeart/2005/8/layout/radial5"/>
    <dgm:cxn modelId="{BF5966EF-0FDD-47E9-872C-D6C4A7F4F0DD}" type="presParOf" srcId="{F4A64276-0093-4FEB-BD1F-245D3D1BC0EE}" destId="{FC0D5156-3011-4592-A901-AFDA1ED9E687}" srcOrd="0" destOrd="0" presId="urn:microsoft.com/office/officeart/2005/8/layout/radial5"/>
    <dgm:cxn modelId="{AD5F1F12-A884-499D-BDC4-9D197DBE6704}" type="presParOf" srcId="{7302B6B3-AD0F-4AA5-8C33-E6B85029351B}" destId="{4D57665B-05FC-4427-A582-6D93646A0E73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482850" cy="1805940"/>
        <a:chOff x="0" y="0"/>
        <a:chExt cx="2482850" cy="1805940"/>
      </a:xfrm>
    </dsp:grpSpPr>
    <dsp:sp modelId="{30B7A355-4478-4383-AFD0-24F8C5D7299F}">
      <dsp:nvSpPr>
        <dsp:cNvPr id="3" name="椭圆 2"/>
        <dsp:cNvSpPr/>
      </dsp:nvSpPr>
      <dsp:spPr bwMode="white">
        <a:xfrm>
          <a:off x="985816" y="715705"/>
          <a:ext cx="511218" cy="511218"/>
        </a:xfrm>
        <a:prstGeom prst="ellipse">
          <a:avLst/>
        </a:prstGeom>
        <a:solidFill>
          <a:srgbClr val="CC9900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5240" tIns="15240" rIns="15240" bIns="1524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读者</a:t>
          </a:r>
          <a:endParaRPr lang="zh-CN" altLang="en-US" dirty="0"/>
        </a:p>
      </dsp:txBody>
      <dsp:txXfrm>
        <a:off x="985816" y="715705"/>
        <a:ext cx="511218" cy="511218"/>
      </dsp:txXfrm>
    </dsp:sp>
    <dsp:sp modelId="{40B08679-50C2-4475-81FA-BB186201C002}">
      <dsp:nvSpPr>
        <dsp:cNvPr id="4" name="右箭头 3"/>
        <dsp:cNvSpPr/>
      </dsp:nvSpPr>
      <dsp:spPr bwMode="white">
        <a:xfrm rot="16199999">
          <a:off x="1187236" y="526554"/>
          <a:ext cx="108378" cy="173814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6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16199999">
        <a:off x="1187236" y="526554"/>
        <a:ext cx="108378" cy="173814"/>
      </dsp:txXfrm>
    </dsp:sp>
    <dsp:sp modelId="{045AE9A6-951E-49E2-B21F-616D4215893A}">
      <dsp:nvSpPr>
        <dsp:cNvPr id="5" name="椭圆 4"/>
        <dsp:cNvSpPr/>
      </dsp:nvSpPr>
      <dsp:spPr bwMode="white">
        <a:xfrm>
          <a:off x="985816" y="0"/>
          <a:ext cx="511218" cy="511218"/>
        </a:xfrm>
        <a:prstGeom prst="ellipse">
          <a:avLst/>
        </a:prstGeom>
        <a:solidFill>
          <a:schemeClr val="accent2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160" tIns="10160" rIns="10160" bIns="1016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系统分析员</a:t>
          </a:r>
          <a:endParaRPr lang="zh-CN" altLang="en-US" dirty="0"/>
        </a:p>
      </dsp:txBody>
      <dsp:txXfrm>
        <a:off x="985816" y="0"/>
        <a:ext cx="511218" cy="511218"/>
      </dsp:txXfrm>
    </dsp:sp>
    <dsp:sp modelId="{2F3592BD-0381-4D44-87DA-D6470F153D16}">
      <dsp:nvSpPr>
        <dsp:cNvPr id="6" name="右箭头 5"/>
        <dsp:cNvSpPr/>
      </dsp:nvSpPr>
      <dsp:spPr bwMode="white">
        <a:xfrm rot="-1080000">
          <a:off x="1527574" y="773824"/>
          <a:ext cx="108378" cy="173814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6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-1080000">
        <a:off x="1527574" y="773824"/>
        <a:ext cx="108378" cy="173814"/>
      </dsp:txXfrm>
    </dsp:sp>
    <dsp:sp modelId="{5CD2964D-BC05-4721-B869-677E4AF85885}">
      <dsp:nvSpPr>
        <dsp:cNvPr id="7" name="椭圆 6"/>
        <dsp:cNvSpPr/>
      </dsp:nvSpPr>
      <dsp:spPr bwMode="white">
        <a:xfrm>
          <a:off x="1666492" y="494540"/>
          <a:ext cx="511218" cy="511218"/>
        </a:xfrm>
        <a:prstGeom prst="ellipse">
          <a:avLst/>
        </a:prstGeom>
        <a:solidFill>
          <a:schemeClr val="accent6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160" tIns="10160" rIns="10160" bIns="1016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软件设计人员</a:t>
          </a:r>
          <a:endParaRPr lang="zh-CN" altLang="en-US" dirty="0"/>
        </a:p>
      </dsp:txBody>
      <dsp:txXfrm>
        <a:off x="1666492" y="494540"/>
        <a:ext cx="511218" cy="511218"/>
      </dsp:txXfrm>
    </dsp:sp>
    <dsp:sp modelId="{61B90349-F581-4FE4-8BBF-B17203BCE24A}">
      <dsp:nvSpPr>
        <dsp:cNvPr id="8" name="右箭头 7"/>
        <dsp:cNvSpPr/>
      </dsp:nvSpPr>
      <dsp:spPr bwMode="white">
        <a:xfrm rot="3239999">
          <a:off x="1397576" y="1173915"/>
          <a:ext cx="108378" cy="173814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6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3239999">
        <a:off x="1397576" y="1173915"/>
        <a:ext cx="108378" cy="173814"/>
      </dsp:txXfrm>
    </dsp:sp>
    <dsp:sp modelId="{36B69093-F239-4D12-910D-E0B0D407FC7D}">
      <dsp:nvSpPr>
        <dsp:cNvPr id="9" name="椭圆 8"/>
        <dsp:cNvSpPr/>
      </dsp:nvSpPr>
      <dsp:spPr bwMode="white">
        <a:xfrm>
          <a:off x="1406497" y="1294722"/>
          <a:ext cx="511218" cy="511218"/>
        </a:xfrm>
        <a:prstGeom prst="ellipse">
          <a:avLst/>
        </a:prstGeom>
        <a:solidFill>
          <a:schemeClr val="accent4">
            <a:lumMod val="75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160" tIns="10160" rIns="10160" bIns="1016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领域专家</a:t>
          </a:r>
          <a:endParaRPr lang="zh-CN" altLang="en-US" dirty="0"/>
        </a:p>
      </dsp:txBody>
      <dsp:txXfrm>
        <a:off x="1406497" y="1294722"/>
        <a:ext cx="511218" cy="511218"/>
      </dsp:txXfrm>
    </dsp:sp>
    <dsp:sp modelId="{81E02F64-5EA4-4101-9550-F0B874488EF2}">
      <dsp:nvSpPr>
        <dsp:cNvPr id="10" name="右箭头 9"/>
        <dsp:cNvSpPr/>
      </dsp:nvSpPr>
      <dsp:spPr bwMode="white">
        <a:xfrm rot="7560000">
          <a:off x="976896" y="1173915"/>
          <a:ext cx="108378" cy="173814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10800000" lIns="0" tIns="0" rIns="0" bIns="0" anchor="ctr"/>
        <a:lstStyle>
          <a:lvl1pPr algn="ctr">
            <a:defRPr sz="6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7560000">
        <a:off x="976896" y="1173915"/>
        <a:ext cx="108378" cy="173814"/>
      </dsp:txXfrm>
    </dsp:sp>
    <dsp:sp modelId="{B85B9AA8-22AE-4EDE-8353-2C3EADBA54E3}">
      <dsp:nvSpPr>
        <dsp:cNvPr id="11" name="椭圆 10"/>
        <dsp:cNvSpPr/>
      </dsp:nvSpPr>
      <dsp:spPr bwMode="white">
        <a:xfrm>
          <a:off x="565135" y="1294722"/>
          <a:ext cx="511218" cy="511218"/>
        </a:xfrm>
        <a:prstGeom prst="ellipse">
          <a:avLst/>
        </a:prstGeom>
        <a:solidFill>
          <a:schemeClr val="accent3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160" tIns="10160" rIns="10160" bIns="1016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管理人员</a:t>
          </a:r>
          <a:endParaRPr lang="zh-CN" altLang="en-US" dirty="0"/>
        </a:p>
      </dsp:txBody>
      <dsp:txXfrm>
        <a:off x="565135" y="1294722"/>
        <a:ext cx="511218" cy="511218"/>
      </dsp:txXfrm>
    </dsp:sp>
    <dsp:sp modelId="{F4A64276-0093-4FEB-BD1F-245D3D1BC0EE}">
      <dsp:nvSpPr>
        <dsp:cNvPr id="12" name="右箭头 11"/>
        <dsp:cNvSpPr/>
      </dsp:nvSpPr>
      <dsp:spPr bwMode="white">
        <a:xfrm rot="11880000">
          <a:off x="846898" y="773824"/>
          <a:ext cx="108378" cy="173814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10800000" lIns="0" tIns="0" rIns="0" bIns="0" anchor="ctr"/>
        <a:lstStyle>
          <a:lvl1pPr algn="ctr">
            <a:defRPr sz="600"/>
          </a:lvl1pPr>
          <a:lvl2pPr marL="57150" indent="-57150" algn="ctr">
            <a:defRPr sz="500"/>
          </a:lvl2pPr>
          <a:lvl3pPr marL="114300" indent="-57150" algn="ctr">
            <a:defRPr sz="500"/>
          </a:lvl3pPr>
          <a:lvl4pPr marL="171450" indent="-57150" algn="ctr">
            <a:defRPr sz="500"/>
          </a:lvl4pPr>
          <a:lvl5pPr marL="228600" indent="-57150" algn="ctr">
            <a:defRPr sz="500"/>
          </a:lvl5pPr>
          <a:lvl6pPr marL="285750" indent="-57150" algn="ctr">
            <a:defRPr sz="500"/>
          </a:lvl6pPr>
          <a:lvl7pPr marL="342900" indent="-57150" algn="ctr">
            <a:defRPr sz="500"/>
          </a:lvl7pPr>
          <a:lvl8pPr marL="400050" indent="-57150" algn="ctr">
            <a:defRPr sz="500"/>
          </a:lvl8pPr>
          <a:lvl9pPr marL="457200" indent="-57150" algn="ctr">
            <a:defRPr sz="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11880000">
        <a:off x="846898" y="773824"/>
        <a:ext cx="108378" cy="173814"/>
      </dsp:txXfrm>
    </dsp:sp>
    <dsp:sp modelId="{4D57665B-05FC-4427-A582-6D93646A0E73}">
      <dsp:nvSpPr>
        <dsp:cNvPr id="13" name="椭圆 12"/>
        <dsp:cNvSpPr/>
      </dsp:nvSpPr>
      <dsp:spPr bwMode="white">
        <a:xfrm>
          <a:off x="305140" y="494540"/>
          <a:ext cx="511218" cy="511218"/>
        </a:xfrm>
        <a:prstGeom prst="ellipse">
          <a:avLst/>
        </a:prstGeom>
        <a:solidFill>
          <a:schemeClr val="accent5">
            <a:lumMod val="75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160" tIns="10160" rIns="10160" bIns="1016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用户等</a:t>
          </a:r>
          <a:endParaRPr lang="zh-CN" altLang="en-US" dirty="0"/>
        </a:p>
      </dsp:txBody>
      <dsp:txXfrm>
        <a:off x="305140" y="494540"/>
        <a:ext cx="511218" cy="5112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问题空间：这是“做什么”的领域。它包含了待解决的问题本身、用户的需求、目标、期望以及问题所处的业务环境和约束条件。它关注的是问题域。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解空间：这是“怎么做”的领域。它包含了所有可能的解决方案、技术选型、架构设计、算法、编程语言、框架等。它关注的是解决方案域。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简单来说：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问题空间 = 需求、痛点、目标（What &amp; Why）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解空间 = 设计、代码、技术（How）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在</a:t>
            </a: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概念上可以认为，面向对象分析大体上按照下列顺序进行：</a:t>
            </a:r>
            <a:endParaRPr lang="en-US" altLang="zh-CN" dirty="0">
              <a:latin typeface="Bodoni MT Black" panose="02070A03080606020203" pitchFamily="18" charset="0"/>
            </a:endParaRPr>
          </a:p>
          <a:p>
            <a:pPr lvl="1" eaLnBrk="1" hangingPunct="1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寻找类与</a:t>
            </a:r>
            <a:r>
              <a:rPr lang="zh-CN" altLang="en-US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对象 → 识别结构 → 识别主题 → 定义属性 →</a:t>
            </a:r>
            <a:endParaRPr lang="en-US" altLang="zh-CN" dirty="0">
              <a:solidFill>
                <a:srgbClr val="FF0000"/>
              </a:solidFill>
              <a:latin typeface="Bodoni MT Black" panose="02070A03080606020203" pitchFamily="18" charset="0"/>
            </a:endParaRPr>
          </a:p>
          <a:p>
            <a:pPr lvl="1" eaLnBrk="1" hangingPunct="1">
              <a:lnSpc>
                <a:spcPct val="125000"/>
              </a:lnSpc>
              <a:spcAft>
                <a:spcPts val="1200"/>
              </a:spcAft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→ 建立动态模型 → 建立功能模型 → 定义服务</a:t>
            </a:r>
            <a:endParaRPr lang="en-US" altLang="zh-CN" dirty="0">
              <a:solidFill>
                <a:srgbClr val="FF0000"/>
              </a:solidFill>
              <a:latin typeface="Bodoni MT Black" panose="02070A03080606020203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但分析</a:t>
            </a: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不可能严格地按照预定顺序进行，大型、复杂系统的模型需要反复构造多遍才能建成</a:t>
            </a:r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。</a:t>
            </a:r>
            <a:endParaRPr lang="en-US" altLang="zh-CN" dirty="0">
              <a:latin typeface="Bodoni MT Black" panose="02070A03080606020203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分析</a:t>
            </a: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也不是一个机械的过程。系统分析员必须与领域专家及用户反复交流，以便澄清二义性，改正错误的概念，补足缺少的信息。</a:t>
            </a:r>
            <a:endParaRPr lang="zh-CN" altLang="en-US" dirty="0">
              <a:latin typeface="Bodoni MT Black" panose="02070A03080606020203" pitchFamily="18" charset="0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1AE1-35FC-457E-B04E-2B4CFC7B56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在</a:t>
            </a: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概念上可以认为，面向对象分析大体上按照下列顺序进行：</a:t>
            </a:r>
            <a:endParaRPr lang="en-US" altLang="zh-CN" dirty="0">
              <a:latin typeface="Bodoni MT Black" panose="02070A03080606020203" pitchFamily="18" charset="0"/>
            </a:endParaRPr>
          </a:p>
          <a:p>
            <a:pPr lvl="1" eaLnBrk="1" hangingPunct="1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寻找类与</a:t>
            </a:r>
            <a:r>
              <a:rPr lang="zh-CN" altLang="en-US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对象 → 识别结构 → 识别主题 → 定义属性 →</a:t>
            </a:r>
            <a:endParaRPr lang="en-US" altLang="zh-CN" dirty="0">
              <a:solidFill>
                <a:srgbClr val="FF0000"/>
              </a:solidFill>
              <a:latin typeface="Bodoni MT Black" panose="02070A03080606020203" pitchFamily="18" charset="0"/>
            </a:endParaRPr>
          </a:p>
          <a:p>
            <a:pPr lvl="1" eaLnBrk="1" hangingPunct="1">
              <a:lnSpc>
                <a:spcPct val="125000"/>
              </a:lnSpc>
              <a:spcAft>
                <a:spcPts val="1200"/>
              </a:spcAft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→ 建立动态模型 → 建立功能模型 → 定义服务</a:t>
            </a:r>
            <a:endParaRPr lang="en-US" altLang="zh-CN" dirty="0">
              <a:solidFill>
                <a:srgbClr val="FF0000"/>
              </a:solidFill>
              <a:latin typeface="Bodoni MT Black" panose="02070A03080606020203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但分析</a:t>
            </a: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不可能严格地按照预定顺序进行，大型、复杂系统的模型需要反复构造多遍才能建成</a:t>
            </a:r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。</a:t>
            </a:r>
            <a:endParaRPr lang="en-US" altLang="zh-CN" dirty="0">
              <a:latin typeface="Bodoni MT Black" panose="02070A03080606020203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分析</a:t>
            </a: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也不是一个机械的过程。系统分析员必须与领域专家及用户反复交流，以便澄清二义性，改正错误的概念，补足缺少的信息。</a:t>
            </a:r>
            <a:endParaRPr lang="zh-CN" altLang="en-US" dirty="0">
              <a:latin typeface="Bodoni MT Black" panose="02070A03080606020203" pitchFamily="18" charset="0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1AE1-35FC-457E-B04E-2B4CFC7B56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例如</a:t>
            </a: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，谈到电话时通常把“拨号”当作动词，当构造电话模型时确实应该把它作为一个操作，而不是一个类。但是，在开发电话的自动记账系统时，“拨号”需要有自己的</a:t>
            </a:r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属性（例如</a:t>
            </a: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日期、时间、受话地点</a:t>
            </a:r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等），</a:t>
            </a: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因此应该把它作为一个类。</a:t>
            </a:r>
            <a:endParaRPr lang="zh-CN" altLang="en-US" dirty="0">
              <a:latin typeface="Bodoni MT Black" panose="02070A03080606020203" pitchFamily="18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例如</a:t>
            </a: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，谈到电话时通常把“拨号”当作动词，当构造电话模型时确实应该把它作为一个操作，而不是一个类。但是，在开发电话的自动记账系统时，“拨号”需要有自己的</a:t>
            </a:r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属性（例如</a:t>
            </a: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日期、时间、受话地点</a:t>
            </a:r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等），</a:t>
            </a: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因此应该把它作为一个类。</a:t>
            </a:r>
            <a:endParaRPr lang="zh-CN" altLang="en-US" dirty="0">
              <a:latin typeface="Bodoni MT Black" panose="02070A03080606020203" pitchFamily="18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总结一下</a:t>
            </a:r>
            <a:endParaRPr lang="zh-CN" altLang="en-US"/>
          </a:p>
          <a:p>
            <a:r>
              <a:rPr lang="en-US" altLang="zh-CN"/>
              <a:t>                                    </a:t>
            </a:r>
            <a:r>
              <a:rPr lang="zh-CN" altLang="en-US"/>
              <a:t>数据 (Data)	</a:t>
            </a:r>
            <a:r>
              <a:rPr lang="en-US" altLang="zh-CN"/>
              <a:t>                            </a:t>
            </a:r>
            <a:r>
              <a:rPr lang="zh-CN" altLang="en-US"/>
              <a:t>数据结构 (Data Structure)</a:t>
            </a:r>
            <a:endParaRPr lang="zh-CN" altLang="en-US"/>
          </a:p>
          <a:p>
            <a:r>
              <a:rPr lang="zh-CN" altLang="en-US"/>
              <a:t>是什么	原始的、未经加工的事实或数值。	存储、组织和管理数据的方式。</a:t>
            </a:r>
            <a:endParaRPr lang="zh-CN" altLang="en-US"/>
          </a:p>
          <a:p>
            <a:r>
              <a:rPr lang="zh-CN" altLang="en-US"/>
              <a:t>例子中	一本本杂乱无章的书。	装箱、贴标签、上书架的方法。</a:t>
            </a:r>
            <a:endParaRPr lang="zh-CN" altLang="en-US"/>
          </a:p>
          <a:p>
            <a:r>
              <a:rPr lang="zh-CN" altLang="en-US"/>
              <a:t>核心	“是什么” （书的内容）	“怎么放” （整理和查找的策略）</a:t>
            </a:r>
            <a:endParaRPr lang="zh-CN" altLang="en-US"/>
          </a:p>
          <a:p>
            <a:r>
              <a:rPr lang="zh-CN" altLang="en-US"/>
              <a:t>关系	数据是结构要处理的原材料。	数据结构是为了更高效地使用数据而设计的工具或模型。</a:t>
            </a:r>
            <a:endParaRPr lang="zh-CN" altLang="en-US"/>
          </a:p>
          <a:p>
            <a:r>
              <a:rPr lang="zh-CN" altLang="en-US"/>
              <a:t>所以，数据是信息本身，而数据结构是如何高效地组织和操作这些信息的蓝图或方法。 没有好的数据结构，再多的数据也可能是一团乱麻，无法有效利用。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1AE1-35FC-457E-B04E-2B4CFC7B56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提取外部事件：</a:t>
            </a:r>
            <a:endParaRPr lang="zh-CN" altLang="en-US"/>
          </a:p>
          <a:p>
            <a:r>
              <a:rPr lang="zh-CN" altLang="en-US"/>
              <a:t>我们现在来分析，哪些步骤是“外部参与者主动触发的、要求系统立刻做出响应的刺激”。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步骤	</a:t>
            </a:r>
            <a:r>
              <a:rPr lang="en-US" altLang="zh-CN"/>
              <a:t>                                      </a:t>
            </a:r>
            <a:r>
              <a:rPr lang="zh-CN" altLang="en-US"/>
              <a:t>分析	</a:t>
            </a:r>
            <a:r>
              <a:rPr lang="en-US" altLang="zh-CN"/>
              <a:t>                                                        </a:t>
            </a:r>
            <a:r>
              <a:rPr lang="zh-CN" altLang="en-US"/>
              <a:t>是否是外部事件？	</a:t>
            </a:r>
            <a:r>
              <a:rPr lang="en-US" altLang="zh-CN"/>
              <a:t>                                    </a:t>
            </a:r>
            <a:r>
              <a:rPr lang="zh-CN" altLang="en-US"/>
              <a:t>外部事件描述</a:t>
            </a:r>
            <a:endParaRPr lang="zh-CN" altLang="en-US"/>
          </a:p>
          <a:p>
            <a:r>
              <a:rPr lang="zh-CN" altLang="en-US"/>
              <a:t>1. 储户走到ATM前	尚未与系统交互	否	</a:t>
            </a:r>
            <a:endParaRPr lang="zh-CN" altLang="en-US"/>
          </a:p>
          <a:p>
            <a:r>
              <a:rPr lang="zh-CN" altLang="en-US"/>
              <a:t>2. 储户插入银行卡	储户（外部参与者）主动执行了一个动作，触发了系统的响应（读卡、提示输入密码）。	是	卡已插入（cardInserted）</a:t>
            </a:r>
            <a:endParaRPr lang="zh-CN" altLang="en-US"/>
          </a:p>
          <a:p>
            <a:r>
              <a:rPr lang="zh-CN" altLang="en-US"/>
              <a:t>3. ATM提示输入密码	这是系统对事件2的响应，不是外部刺激。	否	</a:t>
            </a:r>
            <a:endParaRPr lang="zh-CN" altLang="en-US"/>
          </a:p>
          <a:p>
            <a:r>
              <a:rPr lang="zh-CN" altLang="en-US"/>
              <a:t>4. 储户输入密码“1234”	储户提供了完成认证所必需的信息。这是一个明确的输入刺激。	是	PIN码已输入（pinEntered）</a:t>
            </a:r>
            <a:endParaRPr lang="zh-CN" altLang="en-US"/>
          </a:p>
          <a:p>
            <a:r>
              <a:rPr lang="zh-CN" altLang="en-US"/>
              <a:t>5. 系统验证并显示菜单	系统对事件4的内部处理和响应。	否	</a:t>
            </a:r>
            <a:endParaRPr lang="zh-CN" altLang="en-US"/>
          </a:p>
          <a:p>
            <a:r>
              <a:rPr lang="zh-CN" altLang="en-US"/>
              <a:t>6. 储户选择“取款”	储户发出了一个交易指令，要求系统开始处理取款流程。	是	交易已选择（transactionSelected）</a:t>
            </a:r>
            <a:endParaRPr lang="zh-CN" altLang="en-US"/>
          </a:p>
          <a:p>
            <a:r>
              <a:rPr lang="zh-CN" altLang="en-US"/>
              <a:t>7. 储户输入金额“500”	储户提供了完成交易所必需的关键参数。	是	金额已输入（amountEntered）</a:t>
            </a:r>
            <a:endParaRPr lang="zh-CN" altLang="en-US"/>
          </a:p>
          <a:p>
            <a:r>
              <a:rPr lang="zh-CN" altLang="en-US"/>
              <a:t>8. ATM吐出现金	系统对事件7的响应和动作。	否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“传递信息的对象”是指什么？</a:t>
            </a:r>
            <a:endParaRPr lang="zh-CN" altLang="en-US"/>
          </a:p>
          <a:p>
            <a:r>
              <a:rPr lang="zh-CN" altLang="en-US"/>
              <a:t>“传递信息的对象” 指的是在完成一个特定事件时，作为信息载体或媒介的那个事物（Object）。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它不是事件的发起者（Actor），也不是事件的接收者（System），而是在事件中被传递、被操作、被使用的那个“东西”。这个“东西”本身包含了信息或价值。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用ATM的例子详细说明：</a:t>
            </a:r>
            <a:endParaRPr lang="zh-CN" altLang="en-US"/>
          </a:p>
          <a:p>
            <a:r>
              <a:rPr lang="zh-CN" altLang="en-US"/>
              <a:t>让我们用您提到的例子，来分析每个事件中的“传递信息的对象”。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1. 事件：储户插入现金兑换卡</a:t>
            </a:r>
            <a:endParaRPr lang="zh-CN" altLang="en-US"/>
          </a:p>
          <a:p>
            <a:r>
              <a:rPr lang="zh-CN" altLang="en-US"/>
              <a:t>事件描述：储户（Actor）执行了一个“插入”的动作。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传递信息的对象：现金兑换卡（The ATM Card）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解释：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这个动作的核心是“卡”被传递了。从储户的手里（外部），传递到了ATM机的读卡器里（系统内部）。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“卡”不是一个普通的物体，它是一个信息载体。它的磁条或芯片上包含着关键信息（如卡号、银行标识等），这些信息是系统启动会话所必需的。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因此，这个事件的焦点是“卡”的移动和它所承载信息的传递。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‌‌实例与对象的区别‌在于：实例特指某个类创建的具体实体，而对象是面向对象编程中所有可操作实体的统称，实例是对象的子集。</a:t>
            </a:r>
            <a:endParaRPr lang="zh-CN" altLang="en-US"/>
          </a:p>
          <a:p>
            <a:r>
              <a:rPr lang="zh-CN" altLang="en-US"/>
              <a:t>抽象层级‌：对象是抽象概念，实例是具体化的实现。例如"动物"是抽象对象，而"一只名为Tom的猫"是Animal类的实例。‌‌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“实例”是“对象”的更具体、更精确的说法。所有实例都是对象，但并非所有对象都特指为实例。</a:t>
            </a:r>
            <a:endParaRPr lang="zh-CN" altLang="en-US"/>
          </a:p>
          <a:p>
            <a:r>
              <a:rPr lang="zh-CN" altLang="en-US"/>
              <a:t>对象 (Object)：这是一个广义的、总称的术语。它指的是任何基于类（或原型）在内存中创建出来的数据实体。它拥有该类定义的属性和方法。你可以把它想象成“东西”或“物品”。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例如：new String("hello") 创建了一个字符串对象；new Array() 创建了一个数组对象。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实例 (Instance)：这是一个狭义的、更精确的术语。它特指一个对象与创建它的类之间的归属关系。它强调“这个对象是哪个类的具体例子？”。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例如：tom 这个对象是 Cat 类的一个实例。"hello" 是 String 类的一个实例。</a:t>
            </a:r>
            <a:endParaRPr lang="zh-CN" altLang="en-US"/>
          </a:p>
          <a:p>
            <a:r>
              <a:rPr lang="zh-CN" altLang="en-US"/>
              <a:t>一个很好的类比：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“对象” 就像 “水果”。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“实例” 就像 “一个苹果”。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你可以说“一个苹果是一种水果”（一个实例是一个对象），但如果你说“请给我一个水果”，别人不知道你要什么。但如果你说“请给我一个苹果（Apple类的一个实例）”，就非常明确。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编程中，当我们讨论一个对象本身的状态和行为时（例如，修改它的属性、调用它的方法），我们通常称它为“对象”。当我们需要强调它是由哪个类构造出来的，或者讨论类与类之间的关系（如继承）时，我们更倾向于使用“实例”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多态性例子总结</a:t>
            </a:r>
            <a:endParaRPr lang="zh-CN" altLang="en-US"/>
          </a:p>
          <a:p>
            <a:r>
              <a:rPr lang="zh-CN" altLang="en-US"/>
              <a:t>概念	在例子中的体现</a:t>
            </a:r>
            <a:endParaRPr lang="zh-CN" altLang="en-US"/>
          </a:p>
          <a:p>
            <a:r>
              <a:rPr lang="zh-CN" altLang="en-US"/>
              <a:t>同一个行为	所有动物都有 makeSound() 这个行为</a:t>
            </a:r>
            <a:endParaRPr lang="zh-CN" altLang="en-US"/>
          </a:p>
          <a:p>
            <a:r>
              <a:rPr lang="zh-CN" altLang="en-US"/>
              <a:t>多种实现	狗、猫、鸭子分别用不同的方式实现了 makeSound()</a:t>
            </a:r>
            <a:endParaRPr lang="zh-CN" altLang="en-US"/>
          </a:p>
          <a:p>
            <a:r>
              <a:rPr lang="zh-CN" altLang="en-US"/>
              <a:t>统一接口	管理员 ZooKeeper 的 makeSound 方法只接收 Animal 类型参数</a:t>
            </a:r>
            <a:endParaRPr lang="zh-CN" altLang="en-US"/>
          </a:p>
          <a:p>
            <a:r>
              <a:rPr lang="zh-CN" altLang="en-US"/>
              <a:t>无需关心具体类型	管理员不需要写一堆 if-else 来判断动物类型，他只需统一调用 makeSound()</a:t>
            </a:r>
            <a:endParaRPr lang="zh-CN" altLang="en-US"/>
          </a:p>
          <a:p>
            <a:r>
              <a:rPr lang="zh-CN" altLang="en-US"/>
              <a:t>运行时决定	具体调用哪个 makeSound()（是狗的还是猫的），是由程序在运行时根据实际传入的对象类型（new Dog()还是new Cat()）来决定的。这叫做动态绑定或晚期绑定。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实际例子：一个 BankAccount (银行账户) 类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假设我们正在设计一个简单的银行系统，其中有一个 BankAccount 类。这个类有一些属性和操作。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1. 首先，定义它的属性（为了上下文完整）：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- accountNumber: String (私有属性，账号)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- balance: double (私有属性，余额)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- interestRate: double (私有属性，利率，这是一个类作用域属性，即静态变量，所有账户共享同一个利率)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# owner: String (受保护属性，账户持有人姓名)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2. 现在，我们来定义它的操作（方法）：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a. 构造函数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操作名: BankAccount (与类名相同)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参数: 需要账号和持有人姓名来初始化一个新账户，初始余额默认为0。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可见性: + (公有，因为外部需要调用它来创建对象)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返回值: 构造函数不声明返回值类型。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UML表示: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+ BankAccount(accNum: String, own: String)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b. 存款方法 deposit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操作名: deposit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参数: 一个表示存款金额的参数 amount，类型为 double。没有默认值，必须提供。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可见性: + (公有，外部可以调用)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返回值: boolean (存款成功返回 true，失败返回 false，例如金额为负数时失败)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UML表示: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+ deposit(amount: double): boolean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c. 取款方法 withdraw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操作名: withdraw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参数: 一个表示取款金额的参数 amount，类型为 double。我们给它加一个默认值 0.0。虽然这看起来有点奇怪（取款0元），但这只是为了演示默认值的语法。更实用的例子可能是手续费参数默认为0。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可见性: + (公有)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返回值: boolean (取款成功返回 true，余额不足等原因失败则返回 false)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UML表示: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+ withdraw(amount: double = 0.0): boolean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d. 查询余额方法 getBalance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操作名: getBalance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参数: 无参数。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可见性: + (公有)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返回值: double (返回当前余额)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UML表示: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+ getBalance(): double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e. 计算利息方法 calculateInterest (类作用域操作)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操作名: calculateInterest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参数: 一个参数 principal (本金)，类型为 double。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可见性: + (公有)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返回值: double (返回计算出的利息)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性质: 这是一个类作用域操作（静态方法）。它不依赖于某个特定的账户实例，而是使用类作用域属性 interestRate 来计算利息。在UML图中，这条操作会带下划线。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UML表示: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&lt;u&gt;+ calculateInterest(principal: double): double&lt;/u&gt;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f. 私有辅助方法 logTransaction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操作名: logTransaction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参数: 一个参数 message，类型为 String，记录交易日志。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可见性: - (私有，只在类内部被其他方法调用，外部无法访问)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返回值: void (没有返回值)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UML表示: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- logTransaction(message: String): void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1AE1-35FC-457E-B04E-2B4CFC7B56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结论： 当我们在讨论一个孤立对象的行为和功能时，我们称之为“方法”。当我们在设计一个系统，将一系列相关功能组合成一个独立的、可复用的业务单元时，我们称之为“服务”。所以，不能简单地说方法就是服务，但服务通常通过方法来具体实现。</a:t>
            </a:r>
            <a:endParaRPr lang="zh-CN" altLang="en-US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1AE1-35FC-457E-B04E-2B4CFC7B56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127311" y="5"/>
            <a:ext cx="12429370" cy="2108195"/>
            <a:chOff x="-127311" y="5"/>
            <a:chExt cx="12429370" cy="2108195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 rot="4971377">
              <a:off x="5633770" y="-4560088"/>
              <a:ext cx="907207" cy="12429370"/>
            </a:xfrm>
            <a:custGeom>
              <a:avLst/>
              <a:gdLst>
                <a:gd name="connsiteX0" fmla="*/ 0 w 1132861"/>
                <a:gd name="connsiteY0" fmla="*/ 0 h 12429370"/>
                <a:gd name="connsiteX1" fmla="*/ 421422 w 1132861"/>
                <a:gd name="connsiteY1" fmla="*/ 52817 h 12429370"/>
                <a:gd name="connsiteX2" fmla="*/ 1132861 w 1132861"/>
                <a:gd name="connsiteY2" fmla="*/ 12429370 h 12429370"/>
                <a:gd name="connsiteX3" fmla="*/ 0 w 1132861"/>
                <a:gd name="connsiteY3" fmla="*/ 12287388 h 124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61" h="12429370">
                  <a:moveTo>
                    <a:pt x="0" y="0"/>
                  </a:moveTo>
                  <a:lnTo>
                    <a:pt x="421422" y="52817"/>
                  </a:lnTo>
                  <a:lnTo>
                    <a:pt x="1132861" y="12429370"/>
                  </a:lnTo>
                  <a:lnTo>
                    <a:pt x="0" y="1228738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>
              <p:custDataLst>
                <p:tags r:id="rId4"/>
              </p:custDataLst>
            </p:nvPr>
          </p:nvSpPr>
          <p:spPr>
            <a:xfrm rot="5400000">
              <a:off x="5215200" y="-5215203"/>
              <a:ext cx="1761592" cy="12192007"/>
            </a:xfrm>
            <a:custGeom>
              <a:avLst/>
              <a:gdLst>
                <a:gd name="connsiteX0" fmla="*/ 0 w 1930397"/>
                <a:gd name="connsiteY0" fmla="*/ 12192007 h 12192007"/>
                <a:gd name="connsiteX1" fmla="*/ 0 w 1930397"/>
                <a:gd name="connsiteY1" fmla="*/ 0 h 12192007"/>
                <a:gd name="connsiteX2" fmla="*/ 758239 w 1930397"/>
                <a:gd name="connsiteY2" fmla="*/ 0 h 12192007"/>
                <a:gd name="connsiteX3" fmla="*/ 1930397 w 1930397"/>
                <a:gd name="connsiteY3" fmla="*/ 12192007 h 121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0397" h="12192007">
                  <a:moveTo>
                    <a:pt x="0" y="12192007"/>
                  </a:moveTo>
                  <a:lnTo>
                    <a:pt x="0" y="0"/>
                  </a:lnTo>
                  <a:lnTo>
                    <a:pt x="758239" y="0"/>
                  </a:lnTo>
                  <a:lnTo>
                    <a:pt x="1930397" y="121920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>
              <p:custDataLst>
                <p:tags r:id="rId5"/>
              </p:custDataLst>
            </p:nvPr>
          </p:nvSpPr>
          <p:spPr>
            <a:xfrm rot="5107084">
              <a:off x="4552342" y="-3275210"/>
              <a:ext cx="536239" cy="9742831"/>
            </a:xfrm>
            <a:custGeom>
              <a:avLst/>
              <a:gdLst>
                <a:gd name="connsiteX0" fmla="*/ 0 w 587624"/>
                <a:gd name="connsiteY0" fmla="*/ 0 h 9742831"/>
                <a:gd name="connsiteX1" fmla="*/ 587624 w 587624"/>
                <a:gd name="connsiteY1" fmla="*/ 9742831 h 9742831"/>
                <a:gd name="connsiteX2" fmla="*/ 0 w 587624"/>
                <a:gd name="connsiteY2" fmla="*/ 9685968 h 974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7624" h="9742831">
                  <a:moveTo>
                    <a:pt x="0" y="0"/>
                  </a:moveTo>
                  <a:lnTo>
                    <a:pt x="587624" y="9742831"/>
                  </a:lnTo>
                  <a:lnTo>
                    <a:pt x="0" y="968596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15897560">
              <a:off x="9001004" y="-1390393"/>
              <a:ext cx="846410" cy="5663579"/>
            </a:xfrm>
            <a:custGeom>
              <a:avLst/>
              <a:gdLst>
                <a:gd name="connsiteX0" fmla="*/ 927517 w 927517"/>
                <a:gd name="connsiteY0" fmla="*/ 5663579 h 5663579"/>
                <a:gd name="connsiteX1" fmla="*/ 0 w 927517"/>
                <a:gd name="connsiteY1" fmla="*/ 5577535 h 5663579"/>
                <a:gd name="connsiteX2" fmla="*/ 419317 w 927517"/>
                <a:gd name="connsiteY2" fmla="*/ 0 h 566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517" h="5663579">
                  <a:moveTo>
                    <a:pt x="927517" y="5663579"/>
                  </a:moveTo>
                  <a:lnTo>
                    <a:pt x="0" y="5577535"/>
                  </a:lnTo>
                  <a:lnTo>
                    <a:pt x="419317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16200000">
            <a:off x="7826138" y="2492134"/>
            <a:ext cx="997432" cy="77343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730319" y="2702794"/>
            <a:ext cx="7117545" cy="111853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730319" y="3886684"/>
            <a:ext cx="7117545" cy="676319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3630542" y="4681986"/>
            <a:ext cx="2523129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  <p:custDataLst>
              <p:tags r:id="rId14"/>
            </p:custDataLst>
          </p:nvPr>
        </p:nvSpPr>
        <p:spPr>
          <a:xfrm>
            <a:off x="6402188" y="4681986"/>
            <a:ext cx="2523127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4001597" y="5613400"/>
            <a:ext cx="8190403" cy="1244600"/>
            <a:chOff x="4001597" y="5613400"/>
            <a:chExt cx="8190403" cy="1244600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 userDrawn="1">
            <p:custDataLst>
              <p:tags r:id="rId5"/>
            </p:custDataLst>
          </p:nvPr>
        </p:nvGrpSpPr>
        <p:grpSpPr>
          <a:xfrm>
            <a:off x="5187002" y="2377388"/>
            <a:ext cx="570170" cy="707886"/>
            <a:chOff x="10608342" y="5053054"/>
            <a:chExt cx="1583658" cy="1966165"/>
          </a:xfrm>
        </p:grpSpPr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>
              <p:custDataLst>
                <p:tags r:id="rId7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10000"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>
            <p:custDataLst>
              <p:tags r:id="rId8"/>
            </p:custDataLst>
          </p:nvPr>
        </p:nvGrpSpPr>
        <p:grpSpPr>
          <a:xfrm rot="10800000">
            <a:off x="-1" y="0"/>
            <a:ext cx="12192000" cy="1244600"/>
            <a:chOff x="4001597" y="5613400"/>
            <a:chExt cx="8190403" cy="1244600"/>
          </a:xfrm>
        </p:grpSpPr>
        <p:sp>
          <p:nvSpPr>
            <p:cNvPr id="15" name="任意多边形: 形状 14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500907" y="3090044"/>
            <a:ext cx="5190185" cy="740727"/>
          </a:xfrm>
        </p:spPr>
        <p:txBody>
          <a:bodyPr lIns="90170" tIns="46990" rIns="90170" bIns="0" anchor="b" anchorCtr="0">
            <a:normAutofit/>
          </a:bodyPr>
          <a:lstStyle>
            <a:lvl1pPr algn="ctr">
              <a:defRPr sz="4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3500907" y="3883113"/>
            <a:ext cx="5190185" cy="1477027"/>
          </a:xfrm>
        </p:spPr>
        <p:txBody>
          <a:bodyPr lIns="90170" tIns="0" rIns="90170" bIns="4699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08342" y="5053054"/>
            <a:ext cx="1583658" cy="1966165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>
              <p:custDataLst>
                <p:tags r:id="rId4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588374" y="2588654"/>
            <a:ext cx="5015250" cy="1519707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 flipH="1">
            <a:off x="8603626" y="3112882"/>
            <a:ext cx="436739" cy="542227"/>
            <a:chOff x="10608342" y="5053054"/>
            <a:chExt cx="1583658" cy="1966165"/>
          </a:xfrm>
        </p:grpSpPr>
        <p:sp>
          <p:nvSpPr>
            <p:cNvPr id="7" name="任意多边形: 形状 6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3151635" y="3119499"/>
            <a:ext cx="436739" cy="542227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10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11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>
            <a:off x="11009630" y="351790"/>
            <a:ext cx="737870" cy="916305"/>
            <a:chOff x="10608342" y="5053054"/>
            <a:chExt cx="1583658" cy="1966165"/>
          </a:xfrm>
        </p:grpSpPr>
        <p:sp>
          <p:nvSpPr>
            <p:cNvPr id="12" name="任意多边形: 形状 11"/>
            <p:cNvSpPr/>
            <p:nvPr>
              <p:custDataLst>
                <p:tags r:id="rId4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>
              <p:custDataLst>
                <p:tags r:id="rId5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6"/>
            </p:custDataLst>
          </p:nvPr>
        </p:nvGrpSpPr>
        <p:grpSpPr>
          <a:xfrm rot="5400000">
            <a:off x="443865" y="5584825"/>
            <a:ext cx="737870" cy="916305"/>
            <a:chOff x="10608342" y="5053054"/>
            <a:chExt cx="1583658" cy="1966165"/>
          </a:xfrm>
        </p:grpSpPr>
        <p:sp>
          <p:nvSpPr>
            <p:cNvPr id="16" name="任意多边形: 形状 15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0" indent="0"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11" name="组合 10"/>
          <p:cNvGrpSpPr/>
          <p:nvPr userDrawn="1">
            <p:custDataLst>
              <p:tags r:id="rId9"/>
            </p:custDataLst>
          </p:nvPr>
        </p:nvGrpSpPr>
        <p:grpSpPr>
          <a:xfrm>
            <a:off x="-1" y="0"/>
            <a:ext cx="4823460" cy="769938"/>
            <a:chOff x="-1" y="0"/>
            <a:chExt cx="4823460" cy="769938"/>
          </a:xfrm>
        </p:grpSpPr>
        <p:sp>
          <p:nvSpPr>
            <p:cNvPr id="12" name="任意多边形: 形状 11"/>
            <p:cNvSpPr/>
            <p:nvPr>
              <p:custDataLst>
                <p:tags r:id="rId10"/>
              </p:custDataLst>
            </p:nvPr>
          </p:nvSpPr>
          <p:spPr>
            <a:xfrm rot="10800000">
              <a:off x="0" y="0"/>
              <a:ext cx="4823459" cy="769938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11"/>
              </p:custDataLst>
            </p:nvPr>
          </p:nvSpPr>
          <p:spPr>
            <a:xfrm rot="10800000">
              <a:off x="-1" y="0"/>
              <a:ext cx="3754576" cy="56217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9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10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11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5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04520" y="669290"/>
            <a:ext cx="10976610" cy="565150"/>
          </a:xfrm>
        </p:spPr>
        <p:txBody>
          <a:bodyPr anchor="ctr"/>
          <a:lstStyle>
            <a:lvl1pPr algn="ctr">
              <a:lnSpc>
                <a:spcPct val="100000"/>
              </a:lnSpc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0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1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17" name="任意多边形: 形状 16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8" name="等腰三角形 17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bg1"/>
              </a:solidFill>
              <a:latin typeface="Viner Hand ITC" panose="03070502030502020203" charset="0"/>
              <a:ea typeface="微软雅黑" panose="020B0503020204020204" charset="-122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>
            <a:off x="0" y="0"/>
            <a:ext cx="5457825" cy="1529715"/>
            <a:chOff x="4001597" y="5613400"/>
            <a:chExt cx="8190403" cy="1244600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5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 userDrawn="1">
            <p:custDataLst>
              <p:tags r:id="rId6"/>
            </p:custDataLst>
          </p:nvPr>
        </p:nvGrpSpPr>
        <p:grpSpPr>
          <a:xfrm>
            <a:off x="6734175" y="5323840"/>
            <a:ext cx="5457825" cy="1529715"/>
            <a:chOff x="4001597" y="5613400"/>
            <a:chExt cx="8190403" cy="1244600"/>
          </a:xfrm>
        </p:grpSpPr>
        <p:sp>
          <p:nvSpPr>
            <p:cNvPr id="19" name="任意多边形: 形状 18"/>
            <p:cNvSpPr/>
            <p:nvPr>
              <p:custDataLst>
                <p:tags r:id="rId7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20" name="等腰三角形 19"/>
            <p:cNvSpPr/>
            <p:nvPr>
              <p:custDataLst>
                <p:tags r:id="rId8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160.xml"/><Relationship Id="rId23" Type="http://schemas.openxmlformats.org/officeDocument/2006/relationships/tags" Target="../tags/tag159.xml"/><Relationship Id="rId22" Type="http://schemas.openxmlformats.org/officeDocument/2006/relationships/tags" Target="../tags/tag158.xml"/><Relationship Id="rId21" Type="http://schemas.openxmlformats.org/officeDocument/2006/relationships/tags" Target="../tags/tag157.xml"/><Relationship Id="rId20" Type="http://schemas.openxmlformats.org/officeDocument/2006/relationships/tags" Target="../tags/tag156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55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6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0" Type="http://schemas.openxmlformats.org/officeDocument/2006/relationships/notesSlide" Target="../notesSlides/notesSlide2.xml"/><Relationship Id="rId4" Type="http://schemas.openxmlformats.org/officeDocument/2006/relationships/tags" Target="../tags/tag173.xml"/><Relationship Id="rId39" Type="http://schemas.openxmlformats.org/officeDocument/2006/relationships/slideLayout" Target="../slideLayouts/slideLayout6.xml"/><Relationship Id="rId38" Type="http://schemas.openxmlformats.org/officeDocument/2006/relationships/tags" Target="../tags/tag207.xml"/><Relationship Id="rId37" Type="http://schemas.openxmlformats.org/officeDocument/2006/relationships/tags" Target="../tags/tag206.xml"/><Relationship Id="rId36" Type="http://schemas.openxmlformats.org/officeDocument/2006/relationships/tags" Target="../tags/tag205.xml"/><Relationship Id="rId35" Type="http://schemas.openxmlformats.org/officeDocument/2006/relationships/tags" Target="../tags/tag204.xml"/><Relationship Id="rId34" Type="http://schemas.openxmlformats.org/officeDocument/2006/relationships/tags" Target="../tags/tag203.xml"/><Relationship Id="rId33" Type="http://schemas.openxmlformats.org/officeDocument/2006/relationships/tags" Target="../tags/tag202.xml"/><Relationship Id="rId32" Type="http://schemas.openxmlformats.org/officeDocument/2006/relationships/tags" Target="../tags/tag201.xml"/><Relationship Id="rId31" Type="http://schemas.openxmlformats.org/officeDocument/2006/relationships/tags" Target="../tags/tag200.xml"/><Relationship Id="rId30" Type="http://schemas.openxmlformats.org/officeDocument/2006/relationships/tags" Target="../tags/tag199.xml"/><Relationship Id="rId3" Type="http://schemas.openxmlformats.org/officeDocument/2006/relationships/tags" Target="../tags/tag172.xml"/><Relationship Id="rId29" Type="http://schemas.openxmlformats.org/officeDocument/2006/relationships/tags" Target="../tags/tag198.xml"/><Relationship Id="rId28" Type="http://schemas.openxmlformats.org/officeDocument/2006/relationships/tags" Target="../tags/tag197.xml"/><Relationship Id="rId27" Type="http://schemas.openxmlformats.org/officeDocument/2006/relationships/tags" Target="../tags/tag196.xml"/><Relationship Id="rId26" Type="http://schemas.openxmlformats.org/officeDocument/2006/relationships/tags" Target="../tags/tag195.xml"/><Relationship Id="rId25" Type="http://schemas.openxmlformats.org/officeDocument/2006/relationships/tags" Target="../tags/tag194.xml"/><Relationship Id="rId24" Type="http://schemas.openxmlformats.org/officeDocument/2006/relationships/tags" Target="../tags/tag193.xml"/><Relationship Id="rId23" Type="http://schemas.openxmlformats.org/officeDocument/2006/relationships/tags" Target="../tags/tag192.xml"/><Relationship Id="rId22" Type="http://schemas.openxmlformats.org/officeDocument/2006/relationships/tags" Target="../tags/tag191.xml"/><Relationship Id="rId21" Type="http://schemas.openxmlformats.org/officeDocument/2006/relationships/tags" Target="../tags/tag190.xml"/><Relationship Id="rId20" Type="http://schemas.openxmlformats.org/officeDocument/2006/relationships/tags" Target="../tags/tag189.xml"/><Relationship Id="rId2" Type="http://schemas.openxmlformats.org/officeDocument/2006/relationships/tags" Target="../tags/tag171.xml"/><Relationship Id="rId19" Type="http://schemas.openxmlformats.org/officeDocument/2006/relationships/tags" Target="../tags/tag188.xml"/><Relationship Id="rId18" Type="http://schemas.openxmlformats.org/officeDocument/2006/relationships/tags" Target="../tags/tag187.xml"/><Relationship Id="rId17" Type="http://schemas.openxmlformats.org/officeDocument/2006/relationships/tags" Target="../tags/tag186.xml"/><Relationship Id="rId16" Type="http://schemas.openxmlformats.org/officeDocument/2006/relationships/tags" Target="../tags/tag18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tags" Target="../tags/tag17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1.xml"/><Relationship Id="rId8" Type="http://schemas.openxmlformats.org/officeDocument/2006/relationships/diagramQuickStyle" Target="../diagrams/quickStyle1.xml"/><Relationship Id="rId7" Type="http://schemas.openxmlformats.org/officeDocument/2006/relationships/diagramLayout" Target="../diagrams/layout1.xml"/><Relationship Id="rId6" Type="http://schemas.openxmlformats.org/officeDocument/2006/relationships/diagramData" Target="../diagrams/data1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4.xml"/><Relationship Id="rId12" Type="http://schemas.openxmlformats.org/officeDocument/2006/relationships/tags" Target="../tags/tag209.xml"/><Relationship Id="rId11" Type="http://schemas.openxmlformats.org/officeDocument/2006/relationships/image" Target="../media/image5.png"/><Relationship Id="rId10" Type="http://schemas.microsoft.com/office/2007/relationships/diagramDrawing" Target="../diagrams/drawing1.xml"/><Relationship Id="rId1" Type="http://schemas.openxmlformats.org/officeDocument/2006/relationships/tags" Target="../tags/tag20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11.xml"/><Relationship Id="rId2" Type="http://schemas.openxmlformats.org/officeDocument/2006/relationships/image" Target="../media/image6.png"/><Relationship Id="rId1" Type="http://schemas.openxmlformats.org/officeDocument/2006/relationships/tags" Target="../tags/tag2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14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15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16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18.xml"/><Relationship Id="rId2" Type="http://schemas.openxmlformats.org/officeDocument/2006/relationships/image" Target="../media/image11.png"/><Relationship Id="rId1" Type="http://schemas.openxmlformats.org/officeDocument/2006/relationships/tags" Target="../tags/tag2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20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2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223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22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25.xml"/><Relationship Id="rId2" Type="http://schemas.openxmlformats.org/officeDocument/2006/relationships/image" Target="../media/image19.png"/><Relationship Id="rId1" Type="http://schemas.openxmlformats.org/officeDocument/2006/relationships/tags" Target="../tags/tag2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27.xml"/><Relationship Id="rId1" Type="http://schemas.openxmlformats.org/officeDocument/2006/relationships/tags" Target="../tags/tag2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984375" y="3632835"/>
            <a:ext cx="8977630" cy="1118235"/>
          </a:xfrm>
        </p:spPr>
        <p:txBody>
          <a:bodyPr>
            <a:normAutofit fontScale="90000"/>
          </a:bodyPr>
          <a:p>
            <a:r>
              <a:rPr lang="zh-CN" altLang="en-US" dirty="0">
                <a:solidFill>
                  <a:schemeClr val="accent1"/>
                </a:solidFill>
                <a:sym typeface="+mn-lt"/>
              </a:rPr>
              <a:t>软件工程导论（第</a:t>
            </a:r>
            <a:r>
              <a:rPr lang="en-US" altLang="zh-CN" dirty="0">
                <a:solidFill>
                  <a:schemeClr val="accent1"/>
                </a:solidFill>
                <a:sym typeface="+mn-lt"/>
              </a:rPr>
              <a:t>6</a:t>
            </a:r>
            <a:r>
              <a:rPr lang="zh-CN" altLang="en-US" dirty="0">
                <a:solidFill>
                  <a:schemeClr val="accent1"/>
                </a:solidFill>
                <a:sym typeface="+mn-lt"/>
              </a:rPr>
              <a:t>版）</a:t>
            </a:r>
            <a:endParaRPr lang="zh-CN" altLang="en-US" dirty="0">
              <a:solidFill>
                <a:schemeClr val="accent1"/>
              </a:solidFill>
              <a:sym typeface="+mn-lt"/>
            </a:endParaRPr>
          </a:p>
        </p:txBody>
      </p:sp>
      <p:sp>
        <p:nvSpPr>
          <p:cNvPr id="2" name="副标题 1"/>
          <p:cNvSpPr/>
          <p:nvPr>
            <p:ph type="subTitle" idx="1"/>
          </p:nvPr>
        </p:nvSpPr>
        <p:spPr>
          <a:xfrm>
            <a:off x="2574744" y="2752574"/>
            <a:ext cx="7117545" cy="676319"/>
          </a:xfrm>
        </p:spPr>
        <p:txBody>
          <a:bodyPr/>
          <a:p>
            <a:r>
              <a:rPr lang="en-US" altLang="zh-CN">
                <a:solidFill>
                  <a:srgbClr val="FF0000"/>
                </a:solidFill>
              </a:rPr>
              <a:t>21</a:t>
            </a:r>
            <a:r>
              <a:rPr lang="zh-CN" altLang="en-US">
                <a:solidFill>
                  <a:srgbClr val="FF0000"/>
                </a:solidFill>
              </a:rPr>
              <a:t>世纪软件工程专业规划教材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5"/>
          <p:cNvSpPr/>
          <p:nvPr userDrawn="1">
            <p:custDataLst>
              <p:tags r:id="rId1"/>
            </p:custDataLst>
          </p:nvPr>
        </p:nvSpPr>
        <p:spPr>
          <a:xfrm rot="10800000" flipH="1">
            <a:off x="-1" y="-1"/>
            <a:ext cx="3309257" cy="6858001"/>
          </a:xfrm>
          <a:custGeom>
            <a:avLst/>
            <a:gdLst>
              <a:gd name="connsiteX0" fmla="*/ 0 w 3309257"/>
              <a:gd name="connsiteY0" fmla="*/ 6858001 h 6858001"/>
              <a:gd name="connsiteX1" fmla="*/ 3309257 w 3309257"/>
              <a:gd name="connsiteY1" fmla="*/ 6858001 h 6858001"/>
              <a:gd name="connsiteX2" fmla="*/ 1718889 w 3309257"/>
              <a:gd name="connsiteY2" fmla="*/ 0 h 6858001"/>
              <a:gd name="connsiteX3" fmla="*/ 0 w 3309257"/>
              <a:gd name="connsiteY3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09257" h="6858001">
                <a:moveTo>
                  <a:pt x="0" y="6858001"/>
                </a:moveTo>
                <a:lnTo>
                  <a:pt x="3309257" y="6858001"/>
                </a:lnTo>
                <a:lnTo>
                  <a:pt x="171888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6"/>
          <p:cNvSpPr/>
          <p:nvPr userDrawn="1">
            <p:custDataLst>
              <p:tags r:id="rId2"/>
            </p:custDataLst>
          </p:nvPr>
        </p:nvSpPr>
        <p:spPr>
          <a:xfrm rot="11574254">
            <a:off x="2509618" y="-200140"/>
            <a:ext cx="971535" cy="7258276"/>
          </a:xfrm>
          <a:custGeom>
            <a:avLst/>
            <a:gdLst>
              <a:gd name="connsiteX0" fmla="*/ 0 w 971535"/>
              <a:gd name="connsiteY0" fmla="*/ 7258276 h 7258276"/>
              <a:gd name="connsiteX1" fmla="*/ 932891 w 971535"/>
              <a:gd name="connsiteY1" fmla="*/ 8853 h 7258276"/>
              <a:gd name="connsiteX2" fmla="*/ 971535 w 971535"/>
              <a:gd name="connsiteY2" fmla="*/ 0 h 7258276"/>
              <a:gd name="connsiteX3" fmla="*/ 971535 w 971535"/>
              <a:gd name="connsiteY3" fmla="*/ 7035689 h 725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1535" h="7258276">
                <a:moveTo>
                  <a:pt x="0" y="7258276"/>
                </a:moveTo>
                <a:lnTo>
                  <a:pt x="932891" y="8853"/>
                </a:lnTo>
                <a:lnTo>
                  <a:pt x="971535" y="0"/>
                </a:lnTo>
                <a:lnTo>
                  <a:pt x="971535" y="703568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1743317" y="3937000"/>
            <a:ext cx="1393003" cy="2921000"/>
          </a:xfrm>
          <a:custGeom>
            <a:avLst/>
            <a:gdLst>
              <a:gd name="connsiteX0" fmla="*/ 1089482 w 1393003"/>
              <a:gd name="connsiteY0" fmla="*/ 0 h 2921000"/>
              <a:gd name="connsiteX1" fmla="*/ 1393003 w 1393003"/>
              <a:gd name="connsiteY1" fmla="*/ 2921000 h 2921000"/>
              <a:gd name="connsiteX2" fmla="*/ 0 w 1393003"/>
              <a:gd name="connsiteY2" fmla="*/ 2921000 h 292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3003" h="2921000">
                <a:moveTo>
                  <a:pt x="1089482" y="0"/>
                </a:moveTo>
                <a:lnTo>
                  <a:pt x="1393003" y="2921000"/>
                </a:lnTo>
                <a:lnTo>
                  <a:pt x="0" y="2921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20065" y="653415"/>
            <a:ext cx="1967230" cy="400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solidFill>
                  <a:schemeClr val="bg1"/>
                </a:solidFill>
                <a:latin typeface="华光彩云_CNKI" panose="02000500000000000000" charset="-122"/>
                <a:ea typeface="华光彩云_CNKI" panose="02000500000000000000" charset="-122"/>
                <a:cs typeface="Arial" panose="020B0604020202020204" pitchFamily="34" charset="0"/>
              </a:rPr>
              <a:t>overview</a:t>
            </a:r>
            <a:endParaRPr lang="en-US" altLang="zh-CN" sz="2800">
              <a:solidFill>
                <a:schemeClr val="bg1"/>
              </a:solidFill>
              <a:latin typeface="华光彩云_CNKI" panose="02000500000000000000" charset="-122"/>
              <a:ea typeface="华光彩云_CNKI" panose="02000500000000000000" charset="-122"/>
              <a:cs typeface="Arial" panose="020B0604020202020204" pitchFamily="34" charset="0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/>
            <p:custDataLst>
              <p:tags r:id="rId5"/>
            </p:custDataLst>
          </p:nvPr>
        </p:nvSpPr>
        <p:spPr>
          <a:xfrm>
            <a:off x="3436620" y="506730"/>
            <a:ext cx="8755380" cy="1118235"/>
          </a:xfrm>
        </p:spPr>
        <p:txBody>
          <a:bodyPr>
            <a:normAutofit/>
          </a:bodyPr>
          <a:p>
            <a:r>
              <a:rPr lang="zh-CN" altLang="en-US" sz="4000" dirty="0">
                <a:sym typeface="+mn-lt"/>
              </a:rPr>
              <a:t>第</a:t>
            </a:r>
            <a:r>
              <a:rPr lang="en-US" altLang="zh-CN" sz="4000" dirty="0">
                <a:solidFill>
                  <a:srgbClr val="FF0000"/>
                </a:solidFill>
                <a:latin typeface="华光彩云_CNKI" panose="02000500000000000000" charset="-122"/>
                <a:ea typeface="华光彩云_CNKI" panose="02000500000000000000" charset="-122"/>
                <a:sym typeface="+mn-lt"/>
              </a:rPr>
              <a:t>8</a:t>
            </a:r>
            <a:r>
              <a:rPr lang="zh-CN" altLang="en-US" sz="4000" dirty="0">
                <a:sym typeface="+mn-lt"/>
              </a:rPr>
              <a:t>章</a:t>
            </a:r>
            <a:r>
              <a:rPr lang="en-US" altLang="zh-CN" sz="4000" dirty="0">
                <a:sym typeface="+mn-lt"/>
              </a:rPr>
              <a:t>  </a:t>
            </a:r>
            <a:r>
              <a:rPr lang="zh-CN" altLang="en-US" sz="4000" dirty="0">
                <a:sym typeface="+mn-lt"/>
              </a:rPr>
              <a:t>面向对象分析</a:t>
            </a:r>
            <a:endParaRPr lang="zh-CN" altLang="en-US" sz="4000" dirty="0">
              <a:sym typeface="+mn-lt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3436620" y="2546985"/>
            <a:ext cx="8314055" cy="2900045"/>
          </a:xfrm>
        </p:spPr>
        <p:txBody>
          <a:bodyPr>
            <a:normAutofit/>
          </a:bodyPr>
          <a:p>
            <a:pPr marL="0" indent="0" eaLnBrk="1" hangingPunct="1">
              <a:lnSpc>
                <a:spcPct val="195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zh-CN" altLang="en-US" sz="2000" kern="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面向对象分析（</a:t>
            </a:r>
            <a:r>
              <a:rPr lang="en-US" altLang="zh-CN" sz="2000" kern="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OOA</a:t>
            </a:r>
            <a:r>
              <a:rPr lang="zh-CN" altLang="en-US" sz="2000" kern="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）</a:t>
            </a:r>
            <a:r>
              <a:rPr lang="zh-CN" altLang="en-US" sz="2000" kern="0" dirty="0" smtClean="0">
                <a:latin typeface="Bodoni MT Black" panose="02070A03080606020203" pitchFamily="18" charset="0"/>
                <a:sym typeface="+mn-ea"/>
              </a:rPr>
              <a:t>的</a:t>
            </a:r>
            <a:r>
              <a:rPr lang="zh-CN" altLang="en-US" sz="2000" kern="0" dirty="0">
                <a:latin typeface="Bodoni MT Black" panose="02070A03080606020203" pitchFamily="18" charset="0"/>
                <a:sym typeface="+mn-ea"/>
              </a:rPr>
              <a:t>关键是识别出</a:t>
            </a:r>
            <a:r>
              <a:rPr lang="zh-CN" altLang="en-US" sz="2000" kern="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问题域内的类与对象，并分析它们相互间的关系</a:t>
            </a:r>
            <a:r>
              <a:rPr lang="zh-CN" altLang="en-US" sz="2000" kern="0" dirty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，最终建立起问题域的简洁、精确、可理解的正确模型。在用面向对象观点建立起的</a:t>
            </a:r>
            <a:r>
              <a:rPr lang="en-US" altLang="zh-CN" sz="2000" kern="0" dirty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3</a:t>
            </a:r>
            <a:r>
              <a:rPr lang="zh-CN" altLang="en-US" sz="2000" kern="0" dirty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种模型中，</a:t>
            </a:r>
            <a:r>
              <a:rPr lang="zh-CN" altLang="en-US" sz="2000" kern="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对象模型</a:t>
            </a:r>
            <a:r>
              <a:rPr lang="zh-CN" altLang="en-US" sz="2000" kern="0" dirty="0">
                <a:latin typeface="Bodoni MT Black" panose="02070A03080606020203" pitchFamily="18" charset="0"/>
                <a:sym typeface="+mn-ea"/>
              </a:rPr>
              <a:t>是最基本、最重要、最核心的</a:t>
            </a:r>
            <a:r>
              <a:rPr lang="zh-CN" altLang="en-US" sz="2000" kern="0" dirty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。</a:t>
            </a:r>
            <a:endParaRPr lang="zh-CN" altLang="zh-CN" sz="2000" dirty="0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5"/>
          <p:cNvSpPr/>
          <p:nvPr userDrawn="1">
            <p:custDataLst>
              <p:tags r:id="rId1"/>
            </p:custDataLst>
          </p:nvPr>
        </p:nvSpPr>
        <p:spPr>
          <a:xfrm rot="10800000" flipH="1">
            <a:off x="-1" y="-1"/>
            <a:ext cx="3309257" cy="6858001"/>
          </a:xfrm>
          <a:custGeom>
            <a:avLst/>
            <a:gdLst>
              <a:gd name="connsiteX0" fmla="*/ 0 w 3309257"/>
              <a:gd name="connsiteY0" fmla="*/ 6858001 h 6858001"/>
              <a:gd name="connsiteX1" fmla="*/ 3309257 w 3309257"/>
              <a:gd name="connsiteY1" fmla="*/ 6858001 h 6858001"/>
              <a:gd name="connsiteX2" fmla="*/ 1718889 w 3309257"/>
              <a:gd name="connsiteY2" fmla="*/ 0 h 6858001"/>
              <a:gd name="connsiteX3" fmla="*/ 0 w 3309257"/>
              <a:gd name="connsiteY3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09257" h="6858001">
                <a:moveTo>
                  <a:pt x="0" y="6858001"/>
                </a:moveTo>
                <a:lnTo>
                  <a:pt x="3309257" y="6858001"/>
                </a:lnTo>
                <a:lnTo>
                  <a:pt x="171888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6"/>
          <p:cNvSpPr/>
          <p:nvPr userDrawn="1">
            <p:custDataLst>
              <p:tags r:id="rId2"/>
            </p:custDataLst>
          </p:nvPr>
        </p:nvSpPr>
        <p:spPr>
          <a:xfrm rot="11574254">
            <a:off x="2509618" y="-200140"/>
            <a:ext cx="971535" cy="7258276"/>
          </a:xfrm>
          <a:custGeom>
            <a:avLst/>
            <a:gdLst>
              <a:gd name="connsiteX0" fmla="*/ 0 w 971535"/>
              <a:gd name="connsiteY0" fmla="*/ 7258276 h 7258276"/>
              <a:gd name="connsiteX1" fmla="*/ 932891 w 971535"/>
              <a:gd name="connsiteY1" fmla="*/ 8853 h 7258276"/>
              <a:gd name="connsiteX2" fmla="*/ 971535 w 971535"/>
              <a:gd name="connsiteY2" fmla="*/ 0 h 7258276"/>
              <a:gd name="connsiteX3" fmla="*/ 971535 w 971535"/>
              <a:gd name="connsiteY3" fmla="*/ 7035689 h 725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1535" h="7258276">
                <a:moveTo>
                  <a:pt x="0" y="7258276"/>
                </a:moveTo>
                <a:lnTo>
                  <a:pt x="932891" y="8853"/>
                </a:lnTo>
                <a:lnTo>
                  <a:pt x="971535" y="0"/>
                </a:lnTo>
                <a:lnTo>
                  <a:pt x="971535" y="703568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1743317" y="3937000"/>
            <a:ext cx="1393003" cy="2921000"/>
          </a:xfrm>
          <a:custGeom>
            <a:avLst/>
            <a:gdLst>
              <a:gd name="connsiteX0" fmla="*/ 1089482 w 1393003"/>
              <a:gd name="connsiteY0" fmla="*/ 0 h 2921000"/>
              <a:gd name="connsiteX1" fmla="*/ 1393003 w 1393003"/>
              <a:gd name="connsiteY1" fmla="*/ 2921000 h 2921000"/>
              <a:gd name="connsiteX2" fmla="*/ 0 w 1393003"/>
              <a:gd name="connsiteY2" fmla="*/ 2921000 h 292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3003" h="2921000">
                <a:moveTo>
                  <a:pt x="1089482" y="0"/>
                </a:moveTo>
                <a:lnTo>
                  <a:pt x="1393003" y="2921000"/>
                </a:lnTo>
                <a:lnTo>
                  <a:pt x="0" y="2921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4"/>
            </p:custDataLst>
          </p:nvPr>
        </p:nvSpPr>
        <p:spPr>
          <a:xfrm>
            <a:off x="5174814" y="937785"/>
            <a:ext cx="530481" cy="8356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40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1</a:t>
            </a:r>
            <a:endParaRPr lang="en-US" altLang="zh-CN" sz="40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>
            <p:custDataLst>
              <p:tags r:id="rId5"/>
            </p:custDataLst>
          </p:nvPr>
        </p:nvGrpSpPr>
        <p:grpSpPr>
          <a:xfrm>
            <a:off x="4664761" y="1145254"/>
            <a:ext cx="280881" cy="349824"/>
            <a:chOff x="9072" y="2431"/>
            <a:chExt cx="440" cy="548"/>
          </a:xfrm>
        </p:grpSpPr>
        <p:sp>
          <p:nvSpPr>
            <p:cNvPr id="34" name="任意多边形: 形状 33"/>
            <p:cNvSpPr/>
            <p:nvPr>
              <p:custDataLst>
                <p:tags r:id="rId6"/>
              </p:custDataLst>
            </p:nvPr>
          </p:nvSpPr>
          <p:spPr>
            <a:xfrm rot="697528">
              <a:off x="9072" y="2431"/>
              <a:ext cx="390" cy="548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5" name="等腰三角形 34"/>
            <p:cNvSpPr/>
            <p:nvPr>
              <p:custDataLst>
                <p:tags r:id="rId7"/>
              </p:custDataLst>
            </p:nvPr>
          </p:nvSpPr>
          <p:spPr>
            <a:xfrm>
              <a:off x="9170" y="2474"/>
              <a:ext cx="343" cy="46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endParaRPr lang="zh-CN" altLang="en-US" sz="11200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5174814" y="1691582"/>
            <a:ext cx="530481" cy="8356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4000" b="1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</a:t>
            </a:r>
            <a:endParaRPr lang="en-US" altLang="zh-CN" sz="4000" b="1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>
            <p:custDataLst>
              <p:tags r:id="rId9"/>
            </p:custDataLst>
          </p:nvPr>
        </p:nvGrpSpPr>
        <p:grpSpPr>
          <a:xfrm>
            <a:off x="4664761" y="1934800"/>
            <a:ext cx="280881" cy="349824"/>
            <a:chOff x="9072" y="4347"/>
            <a:chExt cx="440" cy="548"/>
          </a:xfrm>
        </p:grpSpPr>
        <p:sp>
          <p:nvSpPr>
            <p:cNvPr id="37" name="任意多边形: 形状 36"/>
            <p:cNvSpPr/>
            <p:nvPr>
              <p:custDataLst>
                <p:tags r:id="rId10"/>
              </p:custDataLst>
            </p:nvPr>
          </p:nvSpPr>
          <p:spPr>
            <a:xfrm rot="697528">
              <a:off x="9072" y="4347"/>
              <a:ext cx="390" cy="548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8" name="等腰三角形 37"/>
            <p:cNvSpPr/>
            <p:nvPr>
              <p:custDataLst>
                <p:tags r:id="rId11"/>
              </p:custDataLst>
            </p:nvPr>
          </p:nvSpPr>
          <p:spPr>
            <a:xfrm>
              <a:off x="9170" y="4390"/>
              <a:ext cx="343" cy="46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endParaRPr lang="zh-CN" altLang="en-US" sz="11200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2"/>
            </p:custDataLst>
          </p:nvPr>
        </p:nvSpPr>
        <p:spPr>
          <a:xfrm>
            <a:off x="5174814" y="2482443"/>
            <a:ext cx="530481" cy="8356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4000" b="1">
                <a:solidFill>
                  <a:schemeClr val="accent2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3</a:t>
            </a:r>
            <a:endParaRPr lang="en-US" altLang="zh-CN" sz="4000" b="1">
              <a:solidFill>
                <a:schemeClr val="accent2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>
            <p:custDataLst>
              <p:tags r:id="rId13"/>
            </p:custDataLst>
          </p:nvPr>
        </p:nvGrpSpPr>
        <p:grpSpPr>
          <a:xfrm>
            <a:off x="4664761" y="2725660"/>
            <a:ext cx="280881" cy="349824"/>
            <a:chOff x="9072" y="6206"/>
            <a:chExt cx="440" cy="548"/>
          </a:xfrm>
        </p:grpSpPr>
        <p:sp>
          <p:nvSpPr>
            <p:cNvPr id="40" name="任意多边形: 形状 39"/>
            <p:cNvSpPr/>
            <p:nvPr>
              <p:custDataLst>
                <p:tags r:id="rId14"/>
              </p:custDataLst>
            </p:nvPr>
          </p:nvSpPr>
          <p:spPr>
            <a:xfrm rot="697528">
              <a:off x="9072" y="6206"/>
              <a:ext cx="390" cy="548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1" name="等腰三角形 40"/>
            <p:cNvSpPr/>
            <p:nvPr>
              <p:custDataLst>
                <p:tags r:id="rId15"/>
              </p:custDataLst>
            </p:nvPr>
          </p:nvSpPr>
          <p:spPr>
            <a:xfrm>
              <a:off x="9170" y="6249"/>
              <a:ext cx="343" cy="46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endParaRPr lang="zh-CN" altLang="en-US" sz="11200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1" name="文本框 30"/>
          <p:cNvSpPr txBox="1"/>
          <p:nvPr>
            <p:custDataLst>
              <p:tags r:id="rId16"/>
            </p:custDataLst>
          </p:nvPr>
        </p:nvSpPr>
        <p:spPr>
          <a:xfrm>
            <a:off x="5174814" y="3348705"/>
            <a:ext cx="530481" cy="8356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4000" b="1">
                <a:solidFill>
                  <a:schemeClr val="accent2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4</a:t>
            </a:r>
            <a:endParaRPr lang="en-US" altLang="zh-CN" sz="4000" b="1">
              <a:solidFill>
                <a:schemeClr val="accent2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>
            <p:custDataLst>
              <p:tags r:id="rId17"/>
            </p:custDataLst>
          </p:nvPr>
        </p:nvGrpSpPr>
        <p:grpSpPr>
          <a:xfrm>
            <a:off x="4664761" y="3591922"/>
            <a:ext cx="280881" cy="349824"/>
            <a:chOff x="9072" y="8065"/>
            <a:chExt cx="440" cy="548"/>
          </a:xfrm>
        </p:grpSpPr>
        <p:sp>
          <p:nvSpPr>
            <p:cNvPr id="43" name="任意多边形: 形状 42"/>
            <p:cNvSpPr/>
            <p:nvPr>
              <p:custDataLst>
                <p:tags r:id="rId18"/>
              </p:custDataLst>
            </p:nvPr>
          </p:nvSpPr>
          <p:spPr>
            <a:xfrm rot="697528">
              <a:off x="9072" y="8065"/>
              <a:ext cx="390" cy="548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4" name="等腰三角形 43"/>
            <p:cNvSpPr/>
            <p:nvPr>
              <p:custDataLst>
                <p:tags r:id="rId19"/>
              </p:custDataLst>
            </p:nvPr>
          </p:nvSpPr>
          <p:spPr>
            <a:xfrm>
              <a:off x="9170" y="8108"/>
              <a:ext cx="343" cy="46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endParaRPr lang="zh-CN" altLang="en-US" sz="11200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20"/>
            </p:custDataLst>
          </p:nvPr>
        </p:nvSpPr>
        <p:spPr>
          <a:xfrm>
            <a:off x="5998854" y="913765"/>
            <a:ext cx="3679622" cy="865867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r>
              <a:rPr lang="en-US" altLang="zh-CN" sz="2800" b="1" spc="15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lt"/>
              </a:rPr>
              <a:t> </a:t>
            </a:r>
            <a:r>
              <a:rPr lang="zh-CN" altLang="en-US" sz="2800" b="1" spc="15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lt"/>
              </a:rPr>
              <a:t>分析的基本过程</a:t>
            </a:r>
            <a:endParaRPr lang="zh-CN" altLang="en-US" sz="2800" b="1" spc="15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66" name="文本框 65"/>
          <p:cNvSpPr txBox="1"/>
          <p:nvPr>
            <p:custDataLst>
              <p:tags r:id="rId21"/>
            </p:custDataLst>
          </p:nvPr>
        </p:nvSpPr>
        <p:spPr>
          <a:xfrm>
            <a:off x="6120234" y="1604162"/>
            <a:ext cx="3116499" cy="86562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 b="1" spc="15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lt"/>
              </a:rPr>
              <a:t>需求陈述</a:t>
            </a:r>
            <a:endParaRPr lang="zh-CN" altLang="en-US" sz="2800" b="1" spc="15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68" name="文本框 67"/>
          <p:cNvSpPr txBox="1"/>
          <p:nvPr>
            <p:custDataLst>
              <p:tags r:id="rId22"/>
            </p:custDataLst>
          </p:nvPr>
        </p:nvSpPr>
        <p:spPr>
          <a:xfrm>
            <a:off x="6120139" y="2444088"/>
            <a:ext cx="2894812" cy="77098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 b="1" spc="15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lt"/>
              </a:rPr>
              <a:t>建立对象模型</a:t>
            </a:r>
            <a:endParaRPr lang="zh-CN" altLang="en-US" sz="2800" b="1" spc="15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70" name="文本框 69"/>
          <p:cNvSpPr txBox="1"/>
          <p:nvPr>
            <p:custDataLst>
              <p:tags r:id="rId23"/>
            </p:custDataLst>
          </p:nvPr>
        </p:nvSpPr>
        <p:spPr>
          <a:xfrm>
            <a:off x="6120139" y="3293619"/>
            <a:ext cx="4281582" cy="865867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r>
              <a:rPr lang="zh-CN" altLang="en-US" sz="2800" b="1" spc="15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lt"/>
              </a:rPr>
              <a:t>建立动态模型</a:t>
            </a:r>
            <a:endParaRPr lang="zh-CN" altLang="en-US" sz="2800" b="1" spc="15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4"/>
            </p:custDataLst>
          </p:nvPr>
        </p:nvSpPr>
        <p:spPr>
          <a:xfrm>
            <a:off x="582295" y="457200"/>
            <a:ext cx="1402080" cy="82994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480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rPr>
              <a:t>目录</a:t>
            </a:r>
            <a:endParaRPr lang="zh-CN" altLang="en-US" sz="4800">
              <a:solidFill>
                <a:schemeClr val="bg1"/>
              </a:solidFill>
              <a:uFillTx/>
              <a:latin typeface="Arial" panose="020B0604020202020204" pitchFamily="34" charset="0"/>
              <a:ea typeface="汉仪旗黑-85S" panose="00020600040101010101" pitchFamily="18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5"/>
            </p:custDataLst>
          </p:nvPr>
        </p:nvSpPr>
        <p:spPr>
          <a:xfrm>
            <a:off x="645795" y="1224915"/>
            <a:ext cx="1598295" cy="4000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CONTENTS</a:t>
            </a:r>
            <a:endParaRPr lang="en-US" altLang="zh-CN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17" name="组合 16"/>
          <p:cNvGrpSpPr/>
          <p:nvPr>
            <p:custDataLst>
              <p:tags r:id="rId26"/>
            </p:custDataLst>
          </p:nvPr>
        </p:nvGrpSpPr>
        <p:grpSpPr>
          <a:xfrm>
            <a:off x="4698181" y="4132643"/>
            <a:ext cx="1040549" cy="835707"/>
            <a:chOff x="7341" y="5734"/>
            <a:chExt cx="1656" cy="1330"/>
          </a:xfrm>
        </p:grpSpPr>
        <p:sp>
          <p:nvSpPr>
            <p:cNvPr id="10" name="文本框 9"/>
            <p:cNvSpPr txBox="1"/>
            <p:nvPr>
              <p:custDataLst>
                <p:tags r:id="rId27"/>
              </p:custDataLst>
            </p:nvPr>
          </p:nvSpPr>
          <p:spPr>
            <a:xfrm>
              <a:off x="8153" y="5734"/>
              <a:ext cx="844" cy="133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r>
                <a:rPr lang="en-US" altLang="zh-CN" sz="4000" b="1" dirty="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5</a:t>
              </a:r>
              <a:endParaRPr lang="en-US" altLang="zh-CN" sz="40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grpSp>
          <p:nvGrpSpPr>
            <p:cNvPr id="11" name="组合 10"/>
            <p:cNvGrpSpPr/>
            <p:nvPr>
              <p:custDataLst>
                <p:tags r:id="rId28"/>
              </p:custDataLst>
            </p:nvPr>
          </p:nvGrpSpPr>
          <p:grpSpPr>
            <a:xfrm>
              <a:off x="7341" y="6064"/>
              <a:ext cx="447" cy="557"/>
              <a:chOff x="9072" y="2431"/>
              <a:chExt cx="440" cy="548"/>
            </a:xfrm>
          </p:grpSpPr>
          <p:sp>
            <p:nvSpPr>
              <p:cNvPr id="12" name="任意多边形: 形状 33"/>
              <p:cNvSpPr/>
              <p:nvPr>
                <p:custDataLst>
                  <p:tags r:id="rId29"/>
                </p:custDataLst>
              </p:nvPr>
            </p:nvSpPr>
            <p:spPr>
              <a:xfrm rot="697528">
                <a:off x="9072" y="2431"/>
                <a:ext cx="390" cy="548"/>
              </a:xfrm>
              <a:custGeom>
                <a:avLst/>
                <a:gdLst>
                  <a:gd name="connsiteX0" fmla="*/ 1399913 w 1399913"/>
                  <a:gd name="connsiteY0" fmla="*/ 0 h 1966165"/>
                  <a:gd name="connsiteX1" fmla="*/ 1399913 w 1399913"/>
                  <a:gd name="connsiteY1" fmla="*/ 1678156 h 1966165"/>
                  <a:gd name="connsiteX2" fmla="*/ 0 w 1399913"/>
                  <a:gd name="connsiteY2" fmla="*/ 1966165 h 1966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99913" h="1966165">
                    <a:moveTo>
                      <a:pt x="1399913" y="0"/>
                    </a:moveTo>
                    <a:lnTo>
                      <a:pt x="1399913" y="1678156"/>
                    </a:lnTo>
                    <a:lnTo>
                      <a:pt x="0" y="1966165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p>
                <a:pPr algn="ctr"/>
                <a:endPara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5" name="等腰三角形 14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70" y="2474"/>
                <a:ext cx="343" cy="460"/>
              </a:xfrm>
              <a:prstGeom prst="triangle">
                <a:avLst>
                  <a:gd name="adj" fmla="val 10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p>
                <a:pPr algn="ctr"/>
                <a:endParaRPr lang="zh-CN" altLang="en-US" sz="11200" b="1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6" name="文本框 15"/>
          <p:cNvSpPr txBox="1"/>
          <p:nvPr>
            <p:custDataLst>
              <p:tags r:id="rId31"/>
            </p:custDataLst>
          </p:nvPr>
        </p:nvSpPr>
        <p:spPr>
          <a:xfrm>
            <a:off x="6120139" y="4090544"/>
            <a:ext cx="2664836" cy="865867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p>
            <a:r>
              <a:rPr lang="zh-CN" altLang="en-US" sz="2800" b="1" spc="15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lt"/>
              </a:rPr>
              <a:t>建立功能模型</a:t>
            </a:r>
            <a:endParaRPr lang="zh-CN" altLang="en-US" sz="2800" b="1" spc="15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pSp>
        <p:nvGrpSpPr>
          <p:cNvPr id="18" name="组合 17"/>
          <p:cNvGrpSpPr/>
          <p:nvPr>
            <p:custDataLst>
              <p:tags r:id="rId32"/>
            </p:custDataLst>
          </p:nvPr>
        </p:nvGrpSpPr>
        <p:grpSpPr>
          <a:xfrm>
            <a:off x="4698181" y="4999767"/>
            <a:ext cx="1040549" cy="835707"/>
            <a:chOff x="7341" y="5734"/>
            <a:chExt cx="1656" cy="1330"/>
          </a:xfrm>
        </p:grpSpPr>
        <p:sp>
          <p:nvSpPr>
            <p:cNvPr id="19" name="文本框 18"/>
            <p:cNvSpPr txBox="1"/>
            <p:nvPr>
              <p:custDataLst>
                <p:tags r:id="rId33"/>
              </p:custDataLst>
            </p:nvPr>
          </p:nvSpPr>
          <p:spPr>
            <a:xfrm>
              <a:off x="8153" y="5734"/>
              <a:ext cx="844" cy="133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r>
                <a:rPr lang="en-US" altLang="zh-CN" sz="4000" b="1" dirty="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6</a:t>
              </a:r>
              <a:endParaRPr lang="en-US" altLang="zh-CN" sz="40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grpSp>
          <p:nvGrpSpPr>
            <p:cNvPr id="20" name="组合 19"/>
            <p:cNvGrpSpPr/>
            <p:nvPr>
              <p:custDataLst>
                <p:tags r:id="rId34"/>
              </p:custDataLst>
            </p:nvPr>
          </p:nvGrpSpPr>
          <p:grpSpPr>
            <a:xfrm>
              <a:off x="7341" y="6064"/>
              <a:ext cx="447" cy="557"/>
              <a:chOff x="9072" y="2431"/>
              <a:chExt cx="440" cy="548"/>
            </a:xfrm>
          </p:grpSpPr>
          <p:sp>
            <p:nvSpPr>
              <p:cNvPr id="21" name="任意多边形: 形状 33"/>
              <p:cNvSpPr/>
              <p:nvPr>
                <p:custDataLst>
                  <p:tags r:id="rId35"/>
                </p:custDataLst>
              </p:nvPr>
            </p:nvSpPr>
            <p:spPr>
              <a:xfrm rot="697528">
                <a:off x="9072" y="2431"/>
                <a:ext cx="390" cy="548"/>
              </a:xfrm>
              <a:custGeom>
                <a:avLst/>
                <a:gdLst>
                  <a:gd name="connsiteX0" fmla="*/ 1399913 w 1399913"/>
                  <a:gd name="connsiteY0" fmla="*/ 0 h 1966165"/>
                  <a:gd name="connsiteX1" fmla="*/ 1399913 w 1399913"/>
                  <a:gd name="connsiteY1" fmla="*/ 1678156 h 1966165"/>
                  <a:gd name="connsiteX2" fmla="*/ 0 w 1399913"/>
                  <a:gd name="connsiteY2" fmla="*/ 1966165 h 1966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99913" h="1966165">
                    <a:moveTo>
                      <a:pt x="1399913" y="0"/>
                    </a:moveTo>
                    <a:lnTo>
                      <a:pt x="1399913" y="1678156"/>
                    </a:lnTo>
                    <a:lnTo>
                      <a:pt x="0" y="1966165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p>
                <a:pPr algn="ctr"/>
                <a:endPara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2" name="等腰三角形 21"/>
              <p:cNvSpPr/>
              <p:nvPr>
                <p:custDataLst>
                  <p:tags r:id="rId36"/>
                </p:custDataLst>
              </p:nvPr>
            </p:nvSpPr>
            <p:spPr>
              <a:xfrm>
                <a:off x="9170" y="2474"/>
                <a:ext cx="343" cy="460"/>
              </a:xfrm>
              <a:prstGeom prst="triangle">
                <a:avLst>
                  <a:gd name="adj" fmla="val 10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p>
                <a:pPr algn="ctr"/>
                <a:endParaRPr lang="zh-CN" altLang="en-US" sz="11200" b="1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45" name="文本框 44"/>
          <p:cNvSpPr txBox="1"/>
          <p:nvPr>
            <p:custDataLst>
              <p:tags r:id="rId37"/>
            </p:custDataLst>
          </p:nvPr>
        </p:nvSpPr>
        <p:spPr>
          <a:xfrm>
            <a:off x="6120139" y="4897346"/>
            <a:ext cx="2664836" cy="865867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p>
            <a:r>
              <a:rPr lang="zh-CN" altLang="en-US" sz="2800" b="1" spc="15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lt"/>
              </a:rPr>
              <a:t>定义服务</a:t>
            </a:r>
            <a:endParaRPr lang="zh-CN" altLang="en-US" sz="2800" b="1" spc="15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  <p:custDataLst>
      <p:tags r:id="rId3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6045" y="298595"/>
            <a:ext cx="3960000" cy="882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spc="200" dirty="0">
                <a:solidFill>
                  <a:srgbClr val="55D5FF"/>
                </a:solidFill>
                <a:latin typeface="+mn-ea"/>
                <a:ea typeface="+mn-ea"/>
              </a:rPr>
              <a:t>分析的基本过程</a:t>
            </a:r>
            <a:endParaRPr lang="zh-CN" altLang="en-US" sz="2400" spc="200" dirty="0">
              <a:solidFill>
                <a:srgbClr val="55D5FF"/>
              </a:solidFill>
              <a:latin typeface="+mn-ea"/>
              <a:ea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8750" y="1256030"/>
            <a:ext cx="4549140" cy="143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BA3"/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p>
            <a:pPr algn="l">
              <a:lnSpc>
                <a:spcPct val="160000"/>
              </a:lnSpc>
              <a:buClrTx/>
              <a:buSzTx/>
              <a:buFontTx/>
              <a:defRPr/>
            </a:pPr>
            <a:r>
              <a:rPr lang="zh-CN" sz="1400" b="1" dirty="0" smtClean="0">
                <a:solidFill>
                  <a:srgbClr val="FF0000"/>
                </a:solidFill>
                <a:latin typeface="+mj-ea"/>
                <a:ea typeface="+mj-ea"/>
                <a:cs typeface="+mj-ea"/>
                <a:sym typeface="+mn-ea"/>
              </a:rPr>
              <a:t>面向对象分析</a:t>
            </a:r>
            <a:r>
              <a:rPr lang="zh-CN" sz="1400" b="1" dirty="0" smtClean="0">
                <a:solidFill>
                  <a:schemeClr val="bg2"/>
                </a:solidFill>
                <a:latin typeface="+mj-ea"/>
                <a:ea typeface="+mj-ea"/>
                <a:cs typeface="+mj-ea"/>
                <a:sym typeface="+mn-ea"/>
              </a:rPr>
              <a:t>：就是抽取和整理用户需求</a:t>
            </a:r>
            <a:r>
              <a:rPr lang="zh-CN" sz="1400" b="1" dirty="0" smtClean="0">
                <a:solidFill>
                  <a:schemeClr val="bg2"/>
                </a:solidFill>
                <a:latin typeface="+mj-ea"/>
                <a:ea typeface="+mj-ea"/>
                <a:cs typeface="+mj-ea"/>
                <a:sym typeface="+mn-ea"/>
              </a:rPr>
              <a:t>，将问题域中的事物抽象为系统中的对象，识别对象的特征和各类对象之间的关系，建立一个映射问题域并能满足用户需求的面向对象分析模型，即OOA模型。</a:t>
            </a:r>
            <a:endParaRPr lang="zh-CN" sz="1400" b="1" dirty="0" smtClean="0">
              <a:solidFill>
                <a:schemeClr val="bg2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613775" y="3091180"/>
            <a:ext cx="2962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 dirty="0" smtClean="0">
                <a:solidFill>
                  <a:schemeClr val="bg2"/>
                </a:solidFill>
                <a:latin typeface="+mj-ea"/>
                <a:ea typeface="+mj-ea"/>
                <a:sym typeface="+mn-ea"/>
              </a:rPr>
              <a:t>程序设计语言选择的实用标准：</a:t>
            </a:r>
            <a:endParaRPr lang="en-US" altLang="zh-CN" sz="1400" b="1" dirty="0" smtClean="0">
              <a:solidFill>
                <a:schemeClr val="bg2"/>
              </a:solidFill>
              <a:latin typeface="+mj-ea"/>
              <a:ea typeface="+mj-ea"/>
            </a:endParaRPr>
          </a:p>
          <a:p>
            <a:endParaRPr lang="zh-CN" altLang="en-US" sz="1400"/>
          </a:p>
        </p:txBody>
      </p:sp>
      <p:sp>
        <p:nvSpPr>
          <p:cNvPr id="18" name="文本框 17"/>
          <p:cNvSpPr txBox="1"/>
          <p:nvPr/>
        </p:nvSpPr>
        <p:spPr>
          <a:xfrm>
            <a:off x="4809490" y="0"/>
            <a:ext cx="7376160" cy="39560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b="1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3</a:t>
            </a:r>
            <a:r>
              <a:rPr lang="zh-CN" altLang="en-US" b="1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个子模型与</a:t>
            </a:r>
            <a:r>
              <a:rPr lang="en-US" altLang="zh-CN" b="1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5</a:t>
            </a:r>
            <a:r>
              <a:rPr lang="zh-CN" altLang="en-US" b="1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个层次</a:t>
            </a:r>
            <a:endParaRPr lang="zh-CN" altLang="en-US" b="1" dirty="0" smtClean="0">
              <a:solidFill>
                <a:schemeClr val="bg2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05" y="3148965"/>
            <a:ext cx="4332605" cy="31489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275" y="777875"/>
            <a:ext cx="4878705" cy="1823085"/>
          </a:xfrm>
          <a:prstGeom prst="rect">
            <a:avLst/>
          </a:prstGeom>
        </p:spPr>
      </p:pic>
      <p:pic>
        <p:nvPicPr>
          <p:cNvPr id="19" name="图片 1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87775" y="2975708"/>
            <a:ext cx="1016883" cy="1256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线形标注 2(带边框和强调线) 19"/>
          <p:cNvSpPr/>
          <p:nvPr/>
        </p:nvSpPr>
        <p:spPr>
          <a:xfrm>
            <a:off x="9225915" y="473710"/>
            <a:ext cx="1056005" cy="304165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1336"/>
              <a:gd name="adj6" fmla="val -4762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rgbClr val="FFFF00"/>
                </a:solidFill>
              </a:rPr>
              <a:t>数据变换</a:t>
            </a:r>
            <a:endParaRPr lang="zh-CN" altLang="en-US" sz="1000" b="1">
              <a:solidFill>
                <a:srgbClr val="FFFF00"/>
              </a:solidFill>
            </a:endParaRPr>
          </a:p>
        </p:txBody>
      </p:sp>
      <p:sp>
        <p:nvSpPr>
          <p:cNvPr id="21" name="线形标注 2(带边框和强调线) 20"/>
          <p:cNvSpPr/>
          <p:nvPr/>
        </p:nvSpPr>
        <p:spPr>
          <a:xfrm>
            <a:off x="9225915" y="1354455"/>
            <a:ext cx="1056005" cy="284480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5312"/>
              <a:gd name="adj6" fmla="val -46662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000" b="1">
                <a:solidFill>
                  <a:srgbClr val="FFFF00"/>
                </a:solidFill>
              </a:rPr>
              <a:t>静态结构</a:t>
            </a:r>
            <a:endParaRPr lang="zh-CN" altLang="en-US" sz="1000" b="1">
              <a:solidFill>
                <a:srgbClr val="FFFF00"/>
              </a:solidFill>
            </a:endParaRPr>
          </a:p>
        </p:txBody>
      </p:sp>
      <p:sp>
        <p:nvSpPr>
          <p:cNvPr id="22" name="线形标注 2(带边框和强调线) 21"/>
          <p:cNvSpPr/>
          <p:nvPr/>
        </p:nvSpPr>
        <p:spPr>
          <a:xfrm>
            <a:off x="9225915" y="1934210"/>
            <a:ext cx="1056005" cy="274320"/>
          </a:xfrm>
          <a:prstGeom prst="accentBorderCallout2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000" b="1">
                <a:solidFill>
                  <a:srgbClr val="FFFF00"/>
                </a:solidFill>
              </a:rPr>
              <a:t>交互次序</a:t>
            </a:r>
            <a:endParaRPr lang="zh-CN" altLang="en-US" sz="1000" b="1">
              <a:solidFill>
                <a:srgbClr val="FFFF00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5020310" y="4498975"/>
            <a:ext cx="7001510" cy="2159000"/>
            <a:chOff x="7906" y="6665"/>
            <a:chExt cx="11026" cy="3400"/>
          </a:xfrm>
        </p:grpSpPr>
        <p:grpSp>
          <p:nvGrpSpPr>
            <p:cNvPr id="30723" name="组合 8"/>
            <p:cNvGrpSpPr/>
            <p:nvPr/>
          </p:nvGrpSpPr>
          <p:grpSpPr bwMode="auto">
            <a:xfrm>
              <a:off x="7906" y="7271"/>
              <a:ext cx="6168" cy="2753"/>
              <a:chOff x="1259632" y="3028310"/>
              <a:chExt cx="4896544" cy="2141486"/>
            </a:xfrm>
          </p:grpSpPr>
          <p:cxnSp>
            <p:nvCxnSpPr>
              <p:cNvPr id="13" name="直接连接符 12"/>
              <p:cNvCxnSpPr/>
              <p:nvPr/>
            </p:nvCxnSpPr>
            <p:spPr>
              <a:xfrm>
                <a:off x="1259632" y="5012497"/>
                <a:ext cx="3311994" cy="0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727" name="组合 5"/>
              <p:cNvGrpSpPr/>
              <p:nvPr/>
            </p:nvGrpSpPr>
            <p:grpSpPr bwMode="auto">
              <a:xfrm>
                <a:off x="1259632" y="3028310"/>
                <a:ext cx="4896544" cy="2141486"/>
                <a:chOff x="1259632" y="3028310"/>
                <a:chExt cx="4896544" cy="2141486"/>
              </a:xfrm>
            </p:grpSpPr>
            <p:cxnSp>
              <p:nvCxnSpPr>
                <p:cNvPr id="12" name="直接连接符 11"/>
                <p:cNvCxnSpPr/>
                <p:nvPr/>
              </p:nvCxnSpPr>
              <p:spPr>
                <a:xfrm>
                  <a:off x="1259632" y="3212590"/>
                  <a:ext cx="3311994" cy="0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1259632" y="3644694"/>
                  <a:ext cx="3311994" cy="0"/>
                </a:xfrm>
                <a:prstGeom prst="line">
                  <a:avLst/>
                </a:prstGeom>
                <a:ln w="38100"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1259632" y="4148287"/>
                  <a:ext cx="3311994" cy="0"/>
                </a:xfrm>
                <a:prstGeom prst="line">
                  <a:avLst/>
                </a:prstGeom>
                <a:ln w="381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1259632" y="4580392"/>
                  <a:ext cx="3311994" cy="0"/>
                </a:xfrm>
                <a:prstGeom prst="line">
                  <a:avLst/>
                </a:prstGeom>
                <a:ln w="381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732" name="文本框 4"/>
                <p:cNvSpPr txBox="1">
                  <a:spLocks noChangeArrowheads="1"/>
                </p:cNvSpPr>
                <p:nvPr/>
              </p:nvSpPr>
              <p:spPr bwMode="auto">
                <a:xfrm>
                  <a:off x="4804719" y="3028310"/>
                  <a:ext cx="936104" cy="3757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p>
                  <a:pPr eaLnBrk="1" hangingPunct="1"/>
                  <a:r>
                    <a:rPr lang="zh-CN" altLang="en-US" sz="1400" b="1">
                      <a:latin typeface="+mn-ea"/>
                    </a:rPr>
                    <a:t>主题层</a:t>
                  </a:r>
                  <a:endParaRPr lang="zh-CN" altLang="en-US" sz="1400" b="1">
                    <a:latin typeface="+mn-ea"/>
                  </a:endParaRPr>
                </a:p>
              </p:txBody>
            </p:sp>
            <p:sp>
              <p:nvSpPr>
                <p:cNvPr id="30733" name="文本框 14"/>
                <p:cNvSpPr txBox="1">
                  <a:spLocks noChangeArrowheads="1"/>
                </p:cNvSpPr>
                <p:nvPr/>
              </p:nvSpPr>
              <p:spPr bwMode="auto">
                <a:xfrm>
                  <a:off x="4804719" y="3483922"/>
                  <a:ext cx="1351457" cy="6394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p>
                  <a:pPr eaLnBrk="1" hangingPunct="1"/>
                  <a:r>
                    <a:rPr lang="zh-CN" altLang="en-US" sz="1400" b="1">
                      <a:latin typeface="+mn-ea"/>
                    </a:rPr>
                    <a:t>类与对象层</a:t>
                  </a:r>
                  <a:endParaRPr lang="zh-CN" altLang="en-US" sz="1400" b="1">
                    <a:latin typeface="+mn-ea"/>
                  </a:endParaRPr>
                </a:p>
              </p:txBody>
            </p:sp>
            <p:sp>
              <p:nvSpPr>
                <p:cNvPr id="30734" name="文本框 15"/>
                <p:cNvSpPr txBox="1">
                  <a:spLocks noChangeArrowheads="1"/>
                </p:cNvSpPr>
                <p:nvPr/>
              </p:nvSpPr>
              <p:spPr bwMode="auto">
                <a:xfrm>
                  <a:off x="4788024" y="3941927"/>
                  <a:ext cx="936104" cy="3757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p>
                  <a:pPr eaLnBrk="1" hangingPunct="1"/>
                  <a:r>
                    <a:rPr lang="zh-CN" altLang="en-US" sz="1400" b="1">
                      <a:latin typeface="+mn-ea"/>
                    </a:rPr>
                    <a:t>结构层</a:t>
                  </a:r>
                  <a:endParaRPr lang="zh-CN" altLang="en-US" sz="1400" b="1">
                    <a:latin typeface="+mn-ea"/>
                  </a:endParaRPr>
                </a:p>
              </p:txBody>
            </p:sp>
            <p:sp>
              <p:nvSpPr>
                <p:cNvPr id="30735" name="文本框 16"/>
                <p:cNvSpPr txBox="1">
                  <a:spLocks noChangeArrowheads="1"/>
                </p:cNvSpPr>
                <p:nvPr/>
              </p:nvSpPr>
              <p:spPr bwMode="auto">
                <a:xfrm>
                  <a:off x="4788024" y="4385089"/>
                  <a:ext cx="936104" cy="3757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p>
                  <a:pPr eaLnBrk="1" hangingPunct="1"/>
                  <a:r>
                    <a:rPr lang="zh-CN" altLang="en-US" sz="1400" b="1">
                      <a:latin typeface="+mn-ea"/>
                    </a:rPr>
                    <a:t>属性层</a:t>
                  </a:r>
                  <a:endParaRPr lang="zh-CN" altLang="en-US" sz="1400" b="1">
                    <a:latin typeface="+mn-ea"/>
                  </a:endParaRPr>
                </a:p>
              </p:txBody>
            </p:sp>
            <p:sp>
              <p:nvSpPr>
                <p:cNvPr id="30736" name="文本框 18"/>
                <p:cNvSpPr txBox="1">
                  <a:spLocks noChangeArrowheads="1"/>
                </p:cNvSpPr>
                <p:nvPr/>
              </p:nvSpPr>
              <p:spPr bwMode="auto">
                <a:xfrm>
                  <a:off x="4788024" y="4794083"/>
                  <a:ext cx="936104" cy="3757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p>
                  <a:pPr eaLnBrk="1" hangingPunct="1"/>
                  <a:r>
                    <a:rPr lang="zh-CN" altLang="en-US" sz="1400" b="1">
                      <a:latin typeface="+mn-ea"/>
                    </a:rPr>
                    <a:t>服务层</a:t>
                  </a:r>
                  <a:endParaRPr lang="zh-CN" altLang="en-US" sz="1400" b="1">
                    <a:latin typeface="+mn-ea"/>
                  </a:endParaRPr>
                </a:p>
              </p:txBody>
            </p:sp>
          </p:grpSp>
        </p:grpSp>
        <p:pic>
          <p:nvPicPr>
            <p:cNvPr id="23" name="图片 1"/>
            <p:cNvPicPr>
              <a:picLocks noChangeAspect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4702" y="6665"/>
              <a:ext cx="4230" cy="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8" name="直接箭头连接符 27"/>
            <p:cNvCxnSpPr/>
            <p:nvPr/>
          </p:nvCxnSpPr>
          <p:spPr>
            <a:xfrm flipH="1">
              <a:off x="13341" y="8702"/>
              <a:ext cx="1536" cy="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1" name="文本框 30"/>
          <p:cNvSpPr txBox="1"/>
          <p:nvPr/>
        </p:nvSpPr>
        <p:spPr>
          <a:xfrm>
            <a:off x="10126345" y="6391275"/>
            <a:ext cx="1105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类的层次结构</a:t>
            </a:r>
            <a:endParaRPr lang="zh-CN" altLang="en-US" sz="1200"/>
          </a:p>
        </p:txBody>
      </p:sp>
      <p:cxnSp>
        <p:nvCxnSpPr>
          <p:cNvPr id="32" name="曲线连接符 31"/>
          <p:cNvCxnSpPr/>
          <p:nvPr/>
        </p:nvCxnSpPr>
        <p:spPr>
          <a:xfrm rot="5400000" flipV="1">
            <a:off x="6191885" y="3514090"/>
            <a:ext cx="2017395" cy="1311910"/>
          </a:xfrm>
          <a:prstGeom prst="curved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曲线连接符 32"/>
          <p:cNvCxnSpPr/>
          <p:nvPr/>
        </p:nvCxnSpPr>
        <p:spPr>
          <a:xfrm rot="5400000" flipV="1">
            <a:off x="6014720" y="4049395"/>
            <a:ext cx="2171065" cy="1485265"/>
          </a:xfrm>
          <a:prstGeom prst="curved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曲线连接符 33"/>
          <p:cNvCxnSpPr>
            <a:endCxn id="30736" idx="1"/>
          </p:cNvCxnSpPr>
          <p:nvPr/>
        </p:nvCxnSpPr>
        <p:spPr>
          <a:xfrm rot="5400000" flipV="1">
            <a:off x="5970905" y="4606925"/>
            <a:ext cx="2085340" cy="1658620"/>
          </a:xfrm>
          <a:prstGeom prst="curved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6" name="图示 35"/>
          <p:cNvGraphicFramePr/>
          <p:nvPr/>
        </p:nvGraphicFramePr>
        <p:xfrm>
          <a:off x="7880350" y="2885440"/>
          <a:ext cx="2482850" cy="1805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cxnSp>
        <p:nvCxnSpPr>
          <p:cNvPr id="38" name="曲线连接符 37"/>
          <p:cNvCxnSpPr/>
          <p:nvPr/>
        </p:nvCxnSpPr>
        <p:spPr>
          <a:xfrm rot="5400000">
            <a:off x="8656955" y="4638675"/>
            <a:ext cx="346075" cy="450215"/>
          </a:xfrm>
          <a:prstGeom prst="curvedConnector2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流程图: 可选过程 38"/>
          <p:cNvSpPr/>
          <p:nvPr/>
        </p:nvSpPr>
        <p:spPr>
          <a:xfrm>
            <a:off x="10193020" y="2825115"/>
            <a:ext cx="1828800" cy="1057275"/>
          </a:xfrm>
          <a:prstGeom prst="flowChartAlternateProcess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>
              <a:lnSpc>
                <a:spcPct val="120000"/>
              </a:lnSpc>
            </a:pPr>
            <a:r>
              <a:rPr lang="zh-CN" altLang="en-US" sz="100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主</a:t>
            </a:r>
            <a:r>
              <a:rPr lang="zh-CN" altLang="en-US" sz="100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题</a:t>
            </a: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是指导读者理解大型、复杂模型的一种机制</a:t>
            </a:r>
            <a:r>
              <a:rPr lang="zh-CN" altLang="en-US" sz="1000" dirty="0" smtClean="0">
                <a:latin typeface="Bodoni MT Black" panose="02070A03080606020203" pitchFamily="18" charset="0"/>
                <a:sym typeface="+mn-ea"/>
              </a:rPr>
              <a:t>。通过</a:t>
            </a: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划分主题把一个大型、复杂的对象模型分解成几个不同的概念范畴。</a:t>
            </a:r>
            <a:endParaRPr lang="zh-CN" altLang="en-US" sz="1000"/>
          </a:p>
        </p:txBody>
      </p:sp>
      <p:cxnSp>
        <p:nvCxnSpPr>
          <p:cNvPr id="40" name="曲线连接符 39"/>
          <p:cNvCxnSpPr/>
          <p:nvPr/>
        </p:nvCxnSpPr>
        <p:spPr>
          <a:xfrm rot="5400000">
            <a:off x="10178415" y="3865880"/>
            <a:ext cx="346075" cy="450215"/>
          </a:xfrm>
          <a:prstGeom prst="curvedConnector2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8540" y="-22225"/>
            <a:ext cx="7357745" cy="302196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6045" y="298595"/>
            <a:ext cx="3960000" cy="882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spc="200" dirty="0">
                <a:solidFill>
                  <a:srgbClr val="55D5FF"/>
                </a:solidFill>
                <a:latin typeface="+mn-ea"/>
                <a:ea typeface="+mn-ea"/>
              </a:rPr>
              <a:t>需求陈述</a:t>
            </a:r>
            <a:endParaRPr lang="zh-CN" altLang="en-US" sz="2400" spc="200" dirty="0">
              <a:solidFill>
                <a:srgbClr val="55D5FF"/>
              </a:solidFill>
              <a:latin typeface="+mn-ea"/>
              <a:ea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809490" y="0"/>
            <a:ext cx="7376160" cy="39560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b="1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3</a:t>
            </a:r>
            <a:r>
              <a:rPr lang="zh-CN" altLang="en-US" b="1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个子模型与</a:t>
            </a:r>
            <a:r>
              <a:rPr lang="en-US" altLang="zh-CN" b="1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5</a:t>
            </a:r>
            <a:r>
              <a:rPr lang="zh-CN" altLang="en-US" b="1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个层次</a:t>
            </a:r>
            <a:endParaRPr lang="zh-CN" altLang="en-US" b="1" dirty="0" smtClean="0">
              <a:solidFill>
                <a:schemeClr val="bg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0" y="1101090"/>
            <a:ext cx="4808855" cy="368935"/>
          </a:xfrm>
          <a:prstGeom prst="round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defRPr/>
            </a:pPr>
            <a:r>
              <a:rPr lang="zh-CN" altLang="en-US" sz="1400" b="1" dirty="0">
                <a:solidFill>
                  <a:srgbClr val="FF0000"/>
                </a:solidFill>
                <a:highlight>
                  <a:srgbClr val="FFFF00"/>
                </a:highlight>
                <a:latin typeface="Bodoni MT Black" panose="02070A03080606020203" pitchFamily="18" charset="0"/>
              </a:rPr>
              <a:t>需求陈述应该阐明“做什么”而不是“怎样做”！</a:t>
            </a:r>
            <a:endParaRPr lang="zh-CN" altLang="en-US" sz="1400" b="1" dirty="0">
              <a:solidFill>
                <a:srgbClr val="FF0000"/>
              </a:solidFill>
              <a:highlight>
                <a:srgbClr val="FFFF00"/>
              </a:highlight>
              <a:latin typeface="Bodoni MT Black" panose="02070A03080606020203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3185" y="1561465"/>
            <a:ext cx="4733290" cy="2419350"/>
            <a:chOff x="1204" y="1844"/>
            <a:chExt cx="7454" cy="3810"/>
          </a:xfrm>
        </p:grpSpPr>
        <p:pic>
          <p:nvPicPr>
            <p:cNvPr id="47108" name="图片 1"/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04" y="1844"/>
              <a:ext cx="7454" cy="38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4" name="直接箭头连接符 3"/>
            <p:cNvCxnSpPr/>
            <p:nvPr/>
          </p:nvCxnSpPr>
          <p:spPr>
            <a:xfrm>
              <a:off x="5464" y="2746"/>
              <a:ext cx="765" cy="669"/>
            </a:xfrm>
            <a:prstGeom prst="straightConnector1">
              <a:avLst/>
            </a:prstGeom>
            <a:ln w="57150" cap="rnd">
              <a:solidFill>
                <a:srgbClr val="FF0000"/>
              </a:solidFill>
              <a:round/>
              <a:headEnd type="none" w="med" len="med"/>
              <a:tailEnd type="triangle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" name="直接箭头连接符 4"/>
            <p:cNvCxnSpPr/>
            <p:nvPr/>
          </p:nvCxnSpPr>
          <p:spPr>
            <a:xfrm flipV="1">
              <a:off x="7169" y="3670"/>
              <a:ext cx="510" cy="175"/>
            </a:xfrm>
            <a:prstGeom prst="straightConnector1">
              <a:avLst/>
            </a:prstGeom>
            <a:ln w="57150" cap="rnd">
              <a:solidFill>
                <a:srgbClr val="FF0000"/>
              </a:solidFill>
              <a:round/>
              <a:headEnd type="none"/>
              <a:tailEnd type="triangle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flipH="1">
              <a:off x="7121" y="3351"/>
              <a:ext cx="494" cy="223"/>
            </a:xfrm>
            <a:prstGeom prst="straightConnector1">
              <a:avLst/>
            </a:prstGeom>
            <a:ln w="57150" cap="rnd">
              <a:solidFill>
                <a:schemeClr val="accent1"/>
              </a:solidFill>
              <a:round/>
              <a:headEnd type="none"/>
              <a:tailEnd type="triangle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 flipH="1" flipV="1">
              <a:off x="6102" y="2746"/>
              <a:ext cx="716" cy="637"/>
            </a:xfrm>
            <a:prstGeom prst="straightConnector1">
              <a:avLst/>
            </a:prstGeom>
            <a:ln w="57150" cap="rnd">
              <a:solidFill>
                <a:schemeClr val="accent1"/>
              </a:solidFill>
              <a:round/>
              <a:headEnd type="none"/>
              <a:tailEnd type="triangle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88900" y="3917950"/>
            <a:ext cx="4622800" cy="2857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28600" indent="-228600">
              <a:lnSpc>
                <a:spcPct val="180000"/>
              </a:lnSpc>
              <a:buFont typeface="+mj-ea"/>
              <a:buAutoNum type="circleNumDbPlain"/>
            </a:pPr>
            <a:r>
              <a:rPr lang="zh-CN" altLang="en-US" sz="1400" dirty="0" smtClean="0">
                <a:solidFill>
                  <a:schemeClr val="bg1"/>
                </a:solidFill>
                <a:latin typeface="+mn-ea"/>
                <a:sym typeface="+mn-ea"/>
              </a:rPr>
              <a:t>储户和柜员交互：</a:t>
            </a:r>
            <a:r>
              <a:rPr lang="zh-CN" altLang="en-US" sz="1200" dirty="0">
                <a:solidFill>
                  <a:srgbClr val="00B0F0"/>
                </a:solidFill>
                <a:latin typeface="+mn-ea"/>
                <a:sym typeface="+mn-ea"/>
              </a:rPr>
              <a:t>银行柜员使用柜员终端处理储户提交的储蓄事务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sym typeface="+mn-ea"/>
              </a:rPr>
              <a:t>。</a:t>
            </a:r>
            <a:endParaRPr lang="zh-CN" altLang="en-US" sz="1400" dirty="0" smtClean="0">
              <a:solidFill>
                <a:schemeClr val="bg1"/>
              </a:solidFill>
              <a:latin typeface="Bodoni MT Black" panose="02070A03080606020203" pitchFamily="18" charset="0"/>
              <a:sym typeface="+mn-ea"/>
            </a:endParaRPr>
          </a:p>
          <a:p>
            <a:pPr marL="171450" indent="-171450" algn="l" eaLnBrk="1" hangingPunct="1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储户可用现金或支票向自己拥有的某个账户内存款或开新账户，也可从自己账户中取款。</a:t>
            </a:r>
            <a:endParaRPr lang="zh-CN" altLang="en-US" sz="1200" dirty="0" smtClean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algn="l" eaLnBrk="1" hangingPunct="1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柜员负责把储户提交的存款或取款事务输进柜员终端。</a:t>
            </a:r>
            <a:endParaRPr lang="zh-CN" altLang="en-US" sz="1200" dirty="0" smtClean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algn="l" eaLnBrk="1" hangingPunct="1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柜员终端与相应的分行计算机通信，分行计算机处理针对某个账户的事务并且维护账户。</a:t>
            </a:r>
            <a:endParaRPr lang="zh-CN" altLang="en-US" sz="1200" dirty="0" smtClean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algn="l" eaLnBrk="1" hangingPunct="1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接收储户交来的现金或支票，或付给储户现金。</a:t>
            </a:r>
            <a:endParaRPr lang="zh-CN" altLang="en-US" sz="1200" dirty="0" smtClean="0">
              <a:solidFill>
                <a:schemeClr val="bg1"/>
              </a:solidFill>
              <a:latin typeface="+mn-ea"/>
              <a:cs typeface="+mn-ea"/>
            </a:endParaRPr>
          </a:p>
          <a:p>
            <a:pPr indent="0">
              <a:lnSpc>
                <a:spcPct val="180000"/>
              </a:lnSpc>
              <a:buFont typeface="+mj-ea"/>
              <a:buNone/>
            </a:pPr>
            <a:endParaRPr lang="zh-CN" altLang="en-US" sz="1200" dirty="0" smtClean="0">
              <a:latin typeface="Bodoni MT Black" panose="02070A03080606020203" pitchFamily="18" charset="0"/>
            </a:endParaRPr>
          </a:p>
          <a:p>
            <a:endParaRPr lang="zh-CN" altLang="en-US" sz="1200"/>
          </a:p>
        </p:txBody>
      </p:sp>
      <p:sp>
        <p:nvSpPr>
          <p:cNvPr id="24" name="文本框 23"/>
          <p:cNvSpPr txBox="1"/>
          <p:nvPr/>
        </p:nvSpPr>
        <p:spPr>
          <a:xfrm>
            <a:off x="5121910" y="514985"/>
            <a:ext cx="6855460" cy="3075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l">
              <a:lnSpc>
                <a:spcPct val="180000"/>
              </a:lnSpc>
              <a:buClrTx/>
              <a:buSzTx/>
              <a:buFont typeface="+mj-ea"/>
              <a:buAutoNum type="circleNumDbPlain" startAt="2"/>
            </a:pPr>
            <a:r>
              <a:rPr lang="zh-CN" altLang="en-US" sz="1400" b="1" dirty="0" smtClean="0">
                <a:latin typeface="+mn-ea"/>
                <a:sym typeface="+mn-ea"/>
              </a:rPr>
              <a:t>储户和ATM交互</a:t>
            </a:r>
            <a:endParaRPr lang="zh-CN" altLang="en-US" sz="1400" b="1" dirty="0" smtClean="0">
              <a:latin typeface="+mn-ea"/>
            </a:endParaRPr>
          </a:p>
          <a:p>
            <a:pPr marL="171450" indent="-171450" algn="l" eaLnBrk="1" hangingPunct="1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dirty="0" smtClean="0">
                <a:latin typeface="+mn-ea"/>
                <a:cs typeface="+mn-ea"/>
                <a:sym typeface="+mn-ea"/>
              </a:rPr>
              <a:t>ATM要求用户输入密码。</a:t>
            </a:r>
            <a:endParaRPr lang="zh-CN" altLang="en-US" sz="1200" dirty="0" smtClean="0">
              <a:latin typeface="+mn-ea"/>
              <a:cs typeface="+mn-ea"/>
            </a:endParaRPr>
          </a:p>
          <a:p>
            <a:pPr marL="171450" indent="-171450" algn="l" eaLnBrk="1" hangingPunct="1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dirty="0" smtClean="0">
                <a:latin typeface="+mn-ea"/>
                <a:cs typeface="+mn-ea"/>
                <a:sym typeface="+mn-ea"/>
              </a:rPr>
              <a:t>ATM把从这张卡上读到的信息以及用户输入的密码传给中央计算机，请求中央计算机核对这些信息并处理这次事务</a:t>
            </a:r>
            <a:endParaRPr lang="zh-CN" altLang="en-US" sz="1200" dirty="0" smtClean="0">
              <a:latin typeface="+mn-ea"/>
              <a:cs typeface="+mn-ea"/>
              <a:sym typeface="+mn-ea"/>
            </a:endParaRPr>
          </a:p>
          <a:p>
            <a:pPr marL="171450" indent="-171450" algn="l" eaLnBrk="1" hangingPunct="1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dirty="0" smtClean="0">
                <a:latin typeface="+mn-ea"/>
                <a:cs typeface="+mn-ea"/>
                <a:sym typeface="+mn-ea"/>
              </a:rPr>
              <a:t>中央计算机根据卡上的分行代码确定这次事务与分行的对应关系，并且委托相应的分行计算机验证用户密码。</a:t>
            </a:r>
            <a:endParaRPr lang="zh-CN" altLang="en-US" sz="1200" dirty="0" smtClean="0">
              <a:latin typeface="+mn-ea"/>
              <a:cs typeface="+mn-ea"/>
            </a:endParaRPr>
          </a:p>
          <a:p>
            <a:pPr marL="171450" indent="-171450" algn="l" eaLnBrk="1" hangingPunct="1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dirty="0" smtClean="0">
                <a:latin typeface="+mn-ea"/>
                <a:cs typeface="+mn-ea"/>
                <a:sym typeface="+mn-ea"/>
              </a:rPr>
              <a:t>用户输入的密码是正确的，ATM就要求用户选择事务类型（取款、查询等）。当用户选择取款时，ATM请求用户输入取款额。</a:t>
            </a:r>
            <a:endParaRPr lang="zh-CN" altLang="en-US" sz="1200" dirty="0" smtClean="0">
              <a:latin typeface="+mn-ea"/>
              <a:cs typeface="+mn-ea"/>
            </a:endParaRPr>
          </a:p>
          <a:p>
            <a:pPr marL="171450" indent="-171450" algn="l" eaLnBrk="1" hangingPunct="1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dirty="0" smtClean="0">
                <a:latin typeface="+mn-ea"/>
                <a:cs typeface="+mn-ea"/>
                <a:sym typeface="+mn-ea"/>
              </a:rPr>
              <a:t>ATM从现金出口吐出现金，并且打印出账单交给用户。</a:t>
            </a:r>
            <a:endParaRPr lang="zh-CN" altLang="en-US" sz="1200" dirty="0" smtClean="0">
              <a:latin typeface="+mn-ea"/>
              <a:cs typeface="+mn-ea"/>
            </a:endParaRPr>
          </a:p>
          <a:p>
            <a:pPr marL="342900" indent="-342900" eaLnBrk="1" hangingPunct="1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zh-CN" altLang="en-US" sz="1200">
              <a:latin typeface="+mn-ea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6095365" y="3851910"/>
            <a:ext cx="5013325" cy="2652395"/>
            <a:chOff x="10531" y="6066"/>
            <a:chExt cx="7548" cy="3860"/>
          </a:xfrm>
        </p:grpSpPr>
        <p:pic>
          <p:nvPicPr>
            <p:cNvPr id="26" name="图片 1"/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531" y="6066"/>
              <a:ext cx="7549" cy="38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" name="椭圆 26"/>
            <p:cNvSpPr/>
            <p:nvPr/>
          </p:nvSpPr>
          <p:spPr>
            <a:xfrm>
              <a:off x="10531" y="7142"/>
              <a:ext cx="2045" cy="278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30" name="直接箭头连接符 29"/>
            <p:cNvCxnSpPr/>
            <p:nvPr/>
          </p:nvCxnSpPr>
          <p:spPr>
            <a:xfrm flipV="1">
              <a:off x="12318" y="8701"/>
              <a:ext cx="840" cy="4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>
              <a:off x="14690" y="8795"/>
              <a:ext cx="849" cy="52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 flipV="1">
              <a:off x="16505" y="8823"/>
              <a:ext cx="572" cy="366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 flipH="1">
              <a:off x="16552" y="8570"/>
              <a:ext cx="497" cy="36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flipH="1" flipV="1">
              <a:off x="14690" y="8518"/>
              <a:ext cx="812" cy="49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 flipH="1" flipV="1">
              <a:off x="12318" y="8436"/>
              <a:ext cx="868" cy="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50190" y="5819775"/>
            <a:ext cx="1082675" cy="7785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6017895" y="0"/>
            <a:ext cx="0" cy="6866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0" y="-635"/>
            <a:ext cx="5956300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建立对象模型</a:t>
            </a:r>
            <a:endParaRPr lang="zh-CN" altLang="en-US" b="1">
              <a:solidFill>
                <a:schemeClr val="bg2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6017260" y="-10160"/>
            <a:ext cx="6174740" cy="1379220"/>
            <a:chOff x="9476" y="-16"/>
            <a:chExt cx="9724" cy="2172"/>
          </a:xfrm>
        </p:grpSpPr>
        <p:sp>
          <p:nvSpPr>
            <p:cNvPr id="31" name="文本框 30"/>
            <p:cNvSpPr txBox="1"/>
            <p:nvPr/>
          </p:nvSpPr>
          <p:spPr>
            <a:xfrm>
              <a:off x="17001" y="690"/>
              <a:ext cx="1969" cy="1466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476" y="-16"/>
              <a:ext cx="9724" cy="71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 anchorCtr="0">
              <a:noAutofit/>
            </a:bodyPr>
            <a:p>
              <a:pPr marL="0" algn="l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bg2"/>
                  </a:solidFill>
                </a:rPr>
                <a:t> </a:t>
              </a:r>
              <a:r>
                <a:rPr lang="zh-CN" altLang="en-US" b="1">
                  <a:solidFill>
                    <a:schemeClr val="bg2"/>
                  </a:solidFill>
                  <a:sym typeface="+mn-ea"/>
                </a:rPr>
                <a:t>建立对象模型</a:t>
              </a:r>
              <a:endParaRPr lang="zh-CN" altLang="en-US" b="1">
                <a:solidFill>
                  <a:schemeClr val="bg2"/>
                </a:solidFill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192405" y="600075"/>
            <a:ext cx="5584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lt"/>
              <a:buAutoNum type="arabicPeriod"/>
            </a:pPr>
            <a:r>
              <a:rPr lang="zh-CN" sz="1400" b="1" dirty="0" smtClean="0">
                <a:solidFill>
                  <a:srgbClr val="FF0000"/>
                </a:solidFill>
                <a:highlight>
                  <a:srgbClr val="FFFF00"/>
                </a:highlight>
                <a:latin typeface="+mn-ea"/>
                <a:cs typeface="+mn-ea"/>
                <a:sym typeface="+mn-ea"/>
              </a:rPr>
              <a:t>确定类与对象</a:t>
            </a:r>
            <a:endParaRPr lang="zh-CN" sz="1400" b="1" dirty="0" smtClean="0">
              <a:solidFill>
                <a:srgbClr val="FF0000"/>
              </a:solidFill>
              <a:highlight>
                <a:srgbClr val="FFFF00"/>
              </a:highlight>
              <a:latin typeface="+mn-ea"/>
              <a:cs typeface="+mn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7640" y="971550"/>
            <a:ext cx="5685155" cy="941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28600" indent="-228600" eaLnBrk="1" hangingPunct="1">
              <a:lnSpc>
                <a:spcPct val="165000"/>
              </a:lnSpc>
              <a:buSzPct val="100000"/>
              <a:buFont typeface="+mj-ea"/>
              <a:buAutoNum type="circleNumDbPlain"/>
              <a:defRPr/>
            </a:pPr>
            <a:r>
              <a:rPr lang="zh-CN" altLang="en-US" sz="1200"/>
              <a:t>找出候选的类与对象：</a:t>
            </a:r>
            <a:r>
              <a:rPr lang="zh-CN" altLang="en-US" sz="1200" b="1">
                <a:solidFill>
                  <a:srgbClr val="00B0F0"/>
                </a:solidFill>
                <a:latin typeface="Bodoni MT Black" panose="02070A03080606020203" pitchFamily="18" charset="0"/>
                <a:sym typeface="+mn-ea"/>
              </a:rPr>
              <a:t>非正式分析</a:t>
            </a:r>
            <a:r>
              <a:rPr lang="zh-CN" altLang="en-US" sz="120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（</a:t>
            </a:r>
            <a:r>
              <a:rPr lang="zh-CN" altLang="en-US" sz="1200" dirty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用自然语言书写的需求陈述为</a:t>
            </a:r>
            <a:r>
              <a:rPr lang="zh-CN" altLang="en-US" sz="1200" dirty="0" smtClean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依据，把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名词</a:t>
            </a:r>
            <a:r>
              <a:rPr lang="zh-CN" altLang="en-US" sz="1200" dirty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作为类与对象的候选</a:t>
            </a:r>
            <a:r>
              <a:rPr lang="zh-CN" altLang="en-US" sz="1200" dirty="0" smtClean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者；用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形容词</a:t>
            </a:r>
            <a:r>
              <a:rPr lang="zh-CN" altLang="en-US" sz="1200" dirty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作为确定属性的</a:t>
            </a:r>
            <a:r>
              <a:rPr lang="zh-CN" altLang="en-US" sz="1200" dirty="0" smtClean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线索；把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动词</a:t>
            </a:r>
            <a:r>
              <a:rPr lang="zh-CN" altLang="en-US" sz="1200" dirty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作为</a:t>
            </a:r>
            <a:r>
              <a:rPr lang="zh-CN" altLang="en-US" sz="1200" dirty="0" smtClean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服务（操作）的</a:t>
            </a:r>
            <a:r>
              <a:rPr lang="zh-CN" altLang="en-US" sz="1200" dirty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候选者。</a:t>
            </a:r>
            <a:r>
              <a:rPr lang="zh-CN" altLang="en-US" sz="120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）</a:t>
            </a:r>
            <a:endParaRPr lang="en-US" altLang="zh-CN" sz="1200">
              <a:solidFill>
                <a:srgbClr val="000000"/>
              </a:solidFill>
              <a:latin typeface="Bodoni MT Black" panose="02070A03080606020203" pitchFamily="18" charset="0"/>
            </a:endParaRPr>
          </a:p>
          <a:p>
            <a:pPr marL="228600" indent="-228600">
              <a:buFont typeface="+mj-ea"/>
              <a:buAutoNum type="circleNumDbPlain"/>
            </a:pPr>
            <a:endParaRPr lang="zh-CN" altLang="en-US" sz="1200"/>
          </a:p>
        </p:txBody>
      </p:sp>
      <p:sp>
        <p:nvSpPr>
          <p:cNvPr id="65538" name="文本框 1"/>
          <p:cNvSpPr txBox="1">
            <a:spLocks noChangeArrowheads="1"/>
          </p:cNvSpPr>
          <p:nvPr/>
        </p:nvSpPr>
        <p:spPr bwMode="auto">
          <a:xfrm>
            <a:off x="101600" y="2087245"/>
            <a:ext cx="5854065" cy="1955165"/>
          </a:xfrm>
          <a:prstGeom prst="rect">
            <a:avLst/>
          </a:prstGeom>
          <a:solidFill>
            <a:srgbClr val="98F5F2"/>
          </a:solidFill>
          <a:ln w="9525">
            <a:solidFill>
              <a:schemeClr val="tx1"/>
            </a:solidFill>
            <a:miter lim="800000"/>
          </a:ln>
        </p:spPr>
        <p:txBody>
          <a:bodyPr>
            <a:noAutofit/>
          </a:bodyPr>
          <a:p>
            <a:pPr indent="0" algn="l" eaLnBrk="1" hangingPunct="1">
              <a:lnSpc>
                <a:spcPct val="165000"/>
              </a:lnSpc>
              <a:buClrTx/>
              <a:buSzTx/>
              <a:buFont typeface="+mj-ea"/>
              <a:buNone/>
              <a:defRPr/>
            </a:pPr>
            <a:r>
              <a:rPr lang="zh-CN" altLang="en-US" sz="1000" dirty="0">
                <a:latin typeface="+mn-ea"/>
                <a:cs typeface="+mn-ea"/>
              </a:rPr>
              <a:t>阅读10.2.2节给出的需求陈述，从陈述中找出下列名词，可以把它们作为类与对象的初步的候选者：</a:t>
            </a:r>
            <a:endParaRPr lang="zh-CN" altLang="en-US" sz="1000" dirty="0">
              <a:latin typeface="+mn-ea"/>
              <a:cs typeface="+mn-ea"/>
            </a:endParaRPr>
          </a:p>
          <a:p>
            <a:pPr indent="0" algn="l" eaLnBrk="1" hangingPunct="1">
              <a:lnSpc>
                <a:spcPct val="165000"/>
              </a:lnSpc>
              <a:buClrTx/>
              <a:buSzTx/>
              <a:buFont typeface="+mj-ea"/>
              <a:buNone/>
              <a:defRPr/>
            </a:pPr>
            <a:r>
              <a:rPr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      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银行，自动取款机ATM，系统，中央计算机，分行计算机，柜员终端，网络，总行，分行，软件，成本，市，街道，营业厅，储蓄所，柜员，储户，现金，支票，账户，事务，现金兑换卡，余额，磁卡，分行代码，卡号，用户，副本，信息，密码，类型，取款额，账单，访问。</a:t>
            </a:r>
            <a:endParaRPr lang="zh-CN" altLang="en-US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pPr indent="0" algn="l" eaLnBrk="1" hangingPunct="1">
              <a:lnSpc>
                <a:spcPct val="165000"/>
              </a:lnSpc>
              <a:buClrTx/>
              <a:buSzTx/>
              <a:buFont typeface="+mj-ea"/>
              <a:buNone/>
              <a:defRPr/>
            </a:pPr>
            <a:r>
              <a:rPr lang="en-US" altLang="zh-CN" sz="1000" dirty="0">
                <a:latin typeface="+mn-ea"/>
                <a:cs typeface="+mn-ea"/>
              </a:rPr>
              <a:t>     </a:t>
            </a:r>
            <a:r>
              <a:rPr lang="zh-CN" altLang="en-US" sz="1000" dirty="0">
                <a:latin typeface="+mn-ea"/>
                <a:cs typeface="+mn-ea"/>
              </a:rPr>
              <a:t>通常，在需求陈述中不会一个不漏地写出问题域中所有有关的类与对象，因此，分析员应该根据领域知识或常识进一步把</a:t>
            </a:r>
            <a:r>
              <a:rPr lang="zh-CN" altLang="en-US" sz="10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  <a:cs typeface="+mn-ea"/>
              </a:rPr>
              <a:t>隐含的类与对象</a:t>
            </a:r>
            <a:r>
              <a:rPr lang="zh-CN" altLang="en-US" sz="1000" dirty="0">
                <a:latin typeface="+mn-ea"/>
                <a:cs typeface="+mn-ea"/>
              </a:rPr>
              <a:t>提取出来。例如，在ATM系统的需求陈述中虽然没写“通信链路”和“事务日志”，但是，根据领域知识和常识可以知道，在ATM系统中应该包含这两个实体。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2075" y="4034790"/>
            <a:ext cx="5685155" cy="723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28600" indent="-228600" algn="l">
              <a:lnSpc>
                <a:spcPct val="165000"/>
              </a:lnSpc>
              <a:buClrTx/>
              <a:buSzTx/>
              <a:buFont typeface="+mj-ea"/>
              <a:buAutoNum type="circleNumDbPlain" startAt="2"/>
              <a:defRPr/>
            </a:pPr>
            <a:r>
              <a:rPr lang="zh-CN" altLang="en-US" sz="1200">
                <a:sym typeface="+mn-ea"/>
              </a:rPr>
              <a:t>筛选出正确的类与对象</a:t>
            </a:r>
            <a:r>
              <a:rPr lang="en-US" altLang="zh-CN" sz="1200">
                <a:sym typeface="+mn-ea"/>
              </a:rPr>
              <a:t>: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严格考察每个候选对象，从中去掉不正确的或不必要的，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仅保留确实应该记录其信息或需要其提供服务的那些对象。</a:t>
            </a:r>
            <a:endParaRPr lang="zh-CN" altLang="en-US" sz="1200" dirty="0">
              <a:solidFill>
                <a:srgbClr val="FF0000"/>
              </a:solidFill>
              <a:latin typeface="Bodoni MT Black" panose="02070A03080606020203" pitchFamily="18" charset="0"/>
            </a:endParaRPr>
          </a:p>
          <a:p>
            <a:pPr indent="0" algn="l">
              <a:lnSpc>
                <a:spcPct val="165000"/>
              </a:lnSpc>
              <a:buClrTx/>
              <a:buSzTx/>
              <a:buFont typeface="+mj-ea"/>
              <a:buNone/>
              <a:defRPr/>
            </a:pPr>
            <a:endParaRPr lang="zh-CN" altLang="en-US" sz="1200"/>
          </a:p>
          <a:p>
            <a:pPr indent="0">
              <a:buFont typeface="+mj-ea"/>
              <a:buNone/>
            </a:pP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114300" y="4629150"/>
            <a:ext cx="5883910" cy="5803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 algn="l" eaLnBrk="1" hangingPunct="1">
              <a:lnSpc>
                <a:spcPct val="165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 </a:t>
            </a:r>
            <a:r>
              <a:rPr lang="zh-CN" altLang="en-US" sz="1200" b="1" dirty="0">
                <a:latin typeface="Bodoni MT Black" panose="02070A03080606020203" pitchFamily="18" charset="0"/>
                <a:sym typeface="+mn-ea"/>
              </a:rPr>
              <a:t>冗余:</a:t>
            </a:r>
            <a:r>
              <a:rPr lang="en-US" altLang="zh-CN" sz="1200" b="1" dirty="0">
                <a:latin typeface="Bodoni MT Black" panose="02070A03080606020203" pitchFamily="18" charset="0"/>
                <a:sym typeface="+mn-ea"/>
              </a:rPr>
              <a:t> 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两个类表达了同样的信息，则应该保留在此问题域中最富于描述力的名称。</a:t>
            </a:r>
            <a:endParaRPr lang="zh-CN" altLang="en-US" sz="1200" dirty="0">
              <a:latin typeface="Bodoni MT Black" panose="02070A03080606020203" pitchFamily="18" charset="0"/>
            </a:endParaRPr>
          </a:p>
          <a:p>
            <a:endParaRPr lang="zh-CN" altLang="en-US" sz="1200">
              <a:latin typeface="+mn-ea"/>
              <a:cs typeface="+mn-ea"/>
            </a:endParaRPr>
          </a:p>
        </p:txBody>
      </p:sp>
      <p:sp>
        <p:nvSpPr>
          <p:cNvPr id="69635" name="文本框 2"/>
          <p:cNvSpPr txBox="1">
            <a:spLocks noChangeArrowheads="1"/>
          </p:cNvSpPr>
          <p:nvPr/>
        </p:nvSpPr>
        <p:spPr bwMode="auto">
          <a:xfrm>
            <a:off x="101600" y="5090795"/>
            <a:ext cx="5845175" cy="598805"/>
          </a:xfrm>
          <a:prstGeom prst="rect">
            <a:avLst/>
          </a:prstGeom>
          <a:solidFill>
            <a:srgbClr val="9AE73D"/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dirty="0">
                <a:latin typeface="+mn-ea"/>
                <a:cs typeface="+mn-ea"/>
              </a:rPr>
              <a:t>ATM系统的储户与用户，现金兑换卡与磁卡及副本分别描述了相同的两类信息，因此，应该去掉“</a:t>
            </a:r>
            <a:r>
              <a:rPr lang="zh-CN" altLang="en-US" sz="1000" dirty="0">
                <a:solidFill>
                  <a:srgbClr val="FF0000"/>
                </a:solidFill>
                <a:latin typeface="+mn-ea"/>
                <a:cs typeface="+mn-ea"/>
              </a:rPr>
              <a:t>用户”、“磁卡”、“副本”</a:t>
            </a:r>
            <a:r>
              <a:rPr lang="zh-CN" altLang="en-US" sz="1000" dirty="0">
                <a:latin typeface="+mn-ea"/>
                <a:cs typeface="+mn-ea"/>
              </a:rPr>
              <a:t>等冗余的类，仅保留“储户”和“现金兑换卡”这两个类。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2075" y="5678805"/>
            <a:ext cx="5854700" cy="852805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dirty="0">
                <a:latin typeface="+mn-ea"/>
                <a:cs typeface="+mn-ea"/>
              </a:rPr>
              <a:t>银行，自动取款机ATM，系统，中央计算机，分行计算机，柜员终端，网络，总行，分行，软件，成本，市，街道，营业厅，储蓄所，柜员，储户，现金，支票，账户，事务，现金兑换卡，余额，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磁卡</a:t>
            </a:r>
            <a:r>
              <a:rPr lang="zh-CN" altLang="en-US" sz="1000" dirty="0">
                <a:latin typeface="+mn-ea"/>
                <a:cs typeface="+mn-ea"/>
              </a:rPr>
              <a:t>，分行代码，卡号，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用户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副本</a:t>
            </a:r>
            <a:r>
              <a:rPr lang="zh-CN" altLang="en-US" sz="1000" dirty="0">
                <a:latin typeface="+mn-ea"/>
                <a:cs typeface="+mn-ea"/>
              </a:rPr>
              <a:t>，信息，密码，类型，取款额，账单，访问。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80125" y="450850"/>
            <a:ext cx="5960110" cy="700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 algn="l" eaLnBrk="1" hangingPunct="1">
              <a:lnSpc>
                <a:spcPct val="165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dirty="0">
                <a:latin typeface="Bodoni MT Black" panose="02070A03080606020203" pitchFamily="18" charset="0"/>
                <a:sym typeface="+mn-ea"/>
              </a:rPr>
              <a:t> </a:t>
            </a:r>
            <a:r>
              <a:rPr lang="zh-CN" altLang="en-US" sz="1200" b="1" dirty="0">
                <a:latin typeface="Bodoni MT Black" panose="02070A03080606020203" pitchFamily="18" charset="0"/>
                <a:sym typeface="+mn-ea"/>
              </a:rPr>
              <a:t>无关：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仅需要把</a:t>
            </a:r>
            <a:r>
              <a:rPr lang="zh-CN" altLang="en-US" sz="120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与本问题密切相关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的类与对象放进目标系统中。有些类在其他问题中可能很重要，但与当前要解决的问题无关，同样也应该把它们删掉。</a:t>
            </a:r>
            <a:endParaRPr lang="zh-CN" altLang="en-US" sz="1200" dirty="0">
              <a:latin typeface="Bodoni MT Black" panose="02070A03080606020203" pitchFamily="18" charset="0"/>
            </a:endParaRPr>
          </a:p>
        </p:txBody>
      </p:sp>
      <p:sp>
        <p:nvSpPr>
          <p:cNvPr id="71683" name="文本框 1"/>
          <p:cNvSpPr txBox="1">
            <a:spLocks noChangeArrowheads="1"/>
          </p:cNvSpPr>
          <p:nvPr/>
        </p:nvSpPr>
        <p:spPr bwMode="auto">
          <a:xfrm>
            <a:off x="6136640" y="1189355"/>
            <a:ext cx="5981700" cy="732155"/>
          </a:xfrm>
          <a:prstGeom prst="rect">
            <a:avLst/>
          </a:prstGeom>
          <a:solidFill>
            <a:srgbClr val="9AE73D"/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dirty="0">
                <a:latin typeface="+mn-ea"/>
                <a:cs typeface="+mn-ea"/>
              </a:rPr>
              <a:t>以ATM系统为例，这个系统并不处理分摊软件开发成本的问题，而且ATM和柜员终端放置的地点与本软件的关系也不大。因此，应该去掉候选类</a:t>
            </a:r>
            <a:r>
              <a:rPr lang="zh-CN" altLang="en-US" sz="1000" dirty="0">
                <a:solidFill>
                  <a:srgbClr val="FF0000"/>
                </a:solidFill>
                <a:latin typeface="+mn-ea"/>
                <a:cs typeface="+mn-ea"/>
              </a:rPr>
              <a:t>“成本”、“市”、“街道”、“营业厅”和“储蓄所”</a:t>
            </a:r>
            <a:r>
              <a:rPr lang="zh-CN" altLang="en-US" sz="1000" dirty="0"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136640" y="1925955"/>
            <a:ext cx="5977890" cy="1059180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dirty="0">
                <a:latin typeface="+mn-ea"/>
                <a:cs typeface="+mn-ea"/>
              </a:rPr>
              <a:t>银行，自动取款机ATM，系统，中央计算机，分行计算机，柜员终端，网络，总行，分行，软件，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成本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市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街道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营业厅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储蓄所</a:t>
            </a:r>
            <a:r>
              <a:rPr lang="zh-CN" altLang="en-US" sz="1000" dirty="0">
                <a:latin typeface="+mn-ea"/>
                <a:cs typeface="+mn-ea"/>
              </a:rPr>
              <a:t>，柜员，储户，现金，支票，账户，事务，现金兑换卡，余额，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磁卡</a:t>
            </a:r>
            <a:r>
              <a:rPr lang="zh-CN" altLang="en-US" sz="1000" dirty="0">
                <a:latin typeface="+mn-ea"/>
                <a:cs typeface="+mn-ea"/>
              </a:rPr>
              <a:t>，分行代码，卡号，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用户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副本</a:t>
            </a:r>
            <a:r>
              <a:rPr lang="zh-CN" altLang="en-US" sz="1000" dirty="0">
                <a:latin typeface="+mn-ea"/>
                <a:cs typeface="+mn-ea"/>
              </a:rPr>
              <a:t>，信息，密码，类型，取款额，账单，访问。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36640" y="3054350"/>
            <a:ext cx="5960110" cy="10045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 algn="l" eaLnBrk="1" hangingPunct="1">
              <a:lnSpc>
                <a:spcPct val="165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dirty="0">
                <a:latin typeface="Bodoni MT Black" panose="02070A03080606020203" pitchFamily="18" charset="0"/>
                <a:sym typeface="+mn-ea"/>
              </a:rPr>
              <a:t>笼统：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在需求陈述中常常使用一些笼统的、泛指的名词，要么系统无须记忆有关它们的信息，要么在需求陈述中有更明确更具体的名词对应它们所暗示的事务，因此，通常把这些笼统的或模糊的类去掉。</a:t>
            </a:r>
            <a:endParaRPr lang="zh-CN" altLang="en-US" sz="1200" dirty="0">
              <a:latin typeface="Bodoni MT Black" panose="02070A03080606020203" pitchFamily="18" charset="0"/>
            </a:endParaRPr>
          </a:p>
        </p:txBody>
      </p:sp>
      <p:sp>
        <p:nvSpPr>
          <p:cNvPr id="73731" name="文本框 2"/>
          <p:cNvSpPr txBox="1">
            <a:spLocks noChangeArrowheads="1"/>
          </p:cNvSpPr>
          <p:nvPr/>
        </p:nvSpPr>
        <p:spPr bwMode="auto">
          <a:xfrm>
            <a:off x="6122670" y="4081780"/>
            <a:ext cx="5992495" cy="956945"/>
          </a:xfrm>
          <a:prstGeom prst="rect">
            <a:avLst/>
          </a:prstGeom>
          <a:solidFill>
            <a:srgbClr val="9AE73D"/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dirty="0">
                <a:latin typeface="+mn-ea"/>
                <a:cs typeface="+mn-ea"/>
              </a:rPr>
              <a:t>以ATM系统为例，“银行”实际指总行或分行，“访问”在这里实际指事务，“信息”的具体内容在需求陈述中随后就指明了。总之，在本例中应该去掉</a:t>
            </a:r>
            <a:r>
              <a:rPr lang="zh-CN" altLang="en-US" sz="1000" dirty="0">
                <a:solidFill>
                  <a:srgbClr val="FF0000"/>
                </a:solidFill>
                <a:latin typeface="+mn-ea"/>
                <a:cs typeface="+mn-ea"/>
              </a:rPr>
              <a:t>“银行”、“网络”、“系统”、“软件”、“信息”、“访问”</a:t>
            </a:r>
            <a:r>
              <a:rPr lang="zh-CN" altLang="en-US" sz="1000" dirty="0">
                <a:latin typeface="+mn-ea"/>
                <a:cs typeface="+mn-ea"/>
              </a:rPr>
              <a:t>等候选类。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127115" y="5039360"/>
            <a:ext cx="5987415" cy="947420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银行</a:t>
            </a:r>
            <a:r>
              <a:rPr lang="zh-CN" altLang="en-US" sz="1000" dirty="0">
                <a:latin typeface="+mn-ea"/>
                <a:cs typeface="+mn-ea"/>
              </a:rPr>
              <a:t>，自动取款机ATM，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系统，</a:t>
            </a:r>
            <a:r>
              <a:rPr lang="zh-CN" altLang="en-US" sz="1000" dirty="0">
                <a:latin typeface="+mn-ea"/>
                <a:cs typeface="+mn-ea"/>
              </a:rPr>
              <a:t>中央计算机，分行计算机，柜员终端，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网络</a:t>
            </a:r>
            <a:r>
              <a:rPr lang="zh-CN" altLang="en-US" sz="1000" dirty="0">
                <a:latin typeface="+mn-ea"/>
                <a:cs typeface="+mn-ea"/>
              </a:rPr>
              <a:t>，总行，分行，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软件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成本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市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街道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营业厅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储蓄所</a:t>
            </a:r>
            <a:r>
              <a:rPr lang="zh-CN" altLang="en-US" sz="1000" dirty="0">
                <a:latin typeface="+mn-ea"/>
                <a:cs typeface="+mn-ea"/>
              </a:rPr>
              <a:t>，柜员，储户，现金，支票，账户，事务，现金兑换卡，余额，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磁卡</a:t>
            </a:r>
            <a:r>
              <a:rPr lang="zh-CN" altLang="en-US" sz="1000" dirty="0">
                <a:latin typeface="+mn-ea"/>
                <a:cs typeface="+mn-ea"/>
              </a:rPr>
              <a:t>，分行代码，卡号，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用户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副本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信息</a:t>
            </a:r>
            <a:r>
              <a:rPr lang="zh-CN" altLang="en-US" sz="1000" dirty="0">
                <a:latin typeface="+mn-ea"/>
                <a:cs typeface="+mn-ea"/>
              </a:rPr>
              <a:t>，密码，类型，取款额，账单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，访问</a:t>
            </a:r>
            <a:r>
              <a:rPr lang="zh-CN" altLang="en-US" sz="1000" dirty="0"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185420" y="5739765"/>
            <a:ext cx="1200150" cy="101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5991225" y="-8890"/>
            <a:ext cx="0" cy="6866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0" y="-635"/>
            <a:ext cx="5956300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建立对象模型</a:t>
            </a:r>
            <a:endParaRPr lang="zh-CN" altLang="en-US" b="1">
              <a:solidFill>
                <a:schemeClr val="bg2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6017260" y="-10160"/>
            <a:ext cx="6174740" cy="1379220"/>
            <a:chOff x="9476" y="-16"/>
            <a:chExt cx="9724" cy="2172"/>
          </a:xfrm>
        </p:grpSpPr>
        <p:sp>
          <p:nvSpPr>
            <p:cNvPr id="31" name="文本框 30"/>
            <p:cNvSpPr txBox="1"/>
            <p:nvPr/>
          </p:nvSpPr>
          <p:spPr>
            <a:xfrm>
              <a:off x="17001" y="690"/>
              <a:ext cx="1969" cy="1466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476" y="-16"/>
              <a:ext cx="9724" cy="71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 anchorCtr="0">
              <a:noAutofit/>
            </a:bodyPr>
            <a:p>
              <a:pPr marL="0" algn="l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bg2"/>
                  </a:solidFill>
                </a:rPr>
                <a:t> </a:t>
              </a:r>
              <a:r>
                <a:rPr lang="zh-CN" altLang="en-US" b="1">
                  <a:solidFill>
                    <a:schemeClr val="bg2"/>
                  </a:solidFill>
                  <a:sym typeface="+mn-ea"/>
                </a:rPr>
                <a:t>建立对象模型</a:t>
              </a:r>
              <a:endParaRPr lang="zh-CN" altLang="en-US" b="1">
                <a:solidFill>
                  <a:schemeClr val="bg2"/>
                </a:solidFill>
              </a:endParaRPr>
            </a:p>
          </p:txBody>
        </p:sp>
      </p:grpSp>
      <p:sp>
        <p:nvSpPr>
          <p:cNvPr id="75778" name="文本框 3"/>
          <p:cNvSpPr txBox="1">
            <a:spLocks noChangeArrowheads="1"/>
          </p:cNvSpPr>
          <p:nvPr/>
        </p:nvSpPr>
        <p:spPr bwMode="auto">
          <a:xfrm>
            <a:off x="78105" y="523875"/>
            <a:ext cx="5878195" cy="1004570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p>
            <a:pPr marL="171450" indent="-171450" algn="l" eaLnBrk="1" hangingPunct="1">
              <a:lnSpc>
                <a:spcPct val="165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dirty="0">
                <a:latin typeface="Bodoni MT Black" panose="02070A03080606020203" pitchFamily="18" charset="0"/>
              </a:rPr>
              <a:t>属性:</a:t>
            </a:r>
            <a:r>
              <a:rPr lang="zh-CN" altLang="en-US" sz="1200" dirty="0">
                <a:latin typeface="Bodoni MT Black" panose="02070A03080606020203" pitchFamily="18" charset="0"/>
              </a:rPr>
              <a:t> 在需求陈述中有些名词实际上描述的是其他对象的属性，应该把这些名词从候选类与对象中去掉。当然，如果某个性质具有很强的独立性，则应把它作为类而不是作为属性。</a:t>
            </a:r>
            <a:endParaRPr lang="zh-CN" altLang="en-US" sz="1200" dirty="0">
              <a:latin typeface="Bodoni MT Black" panose="02070A03080606020203" pitchFamily="18" charset="0"/>
            </a:endParaRPr>
          </a:p>
        </p:txBody>
      </p:sp>
      <p:sp>
        <p:nvSpPr>
          <p:cNvPr id="75779" name="文本框 2"/>
          <p:cNvSpPr txBox="1">
            <a:spLocks noChangeArrowheads="1"/>
          </p:cNvSpPr>
          <p:nvPr/>
        </p:nvSpPr>
        <p:spPr bwMode="auto">
          <a:xfrm>
            <a:off x="78105" y="1502410"/>
            <a:ext cx="5877560" cy="598805"/>
          </a:xfrm>
          <a:prstGeom prst="rect">
            <a:avLst/>
          </a:prstGeom>
          <a:solidFill>
            <a:srgbClr val="9AE73D"/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dirty="0">
                <a:latin typeface="+mn-ea"/>
                <a:cs typeface="+mn-ea"/>
              </a:rPr>
              <a:t>以ATM系统为例，“现金”、“支票”、“取款额”、“账单”、“余额”、“分行代码”、“卡号”、“密码”、“类型”等，都应该作为属性对待。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105" y="2101215"/>
            <a:ext cx="5878195" cy="947420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银行</a:t>
            </a:r>
            <a:r>
              <a:rPr lang="zh-CN" altLang="en-US" sz="1000" dirty="0">
                <a:latin typeface="+mn-ea"/>
                <a:cs typeface="+mn-ea"/>
              </a:rPr>
              <a:t>，自动取款机ATM，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系统，</a:t>
            </a:r>
            <a:r>
              <a:rPr lang="zh-CN" altLang="en-US" sz="1000" dirty="0">
                <a:latin typeface="+mn-ea"/>
                <a:cs typeface="+mn-ea"/>
              </a:rPr>
              <a:t>中央计算机，分行计算机，柜员终端，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网络</a:t>
            </a:r>
            <a:r>
              <a:rPr lang="zh-CN" altLang="en-US" sz="1000" dirty="0">
                <a:latin typeface="+mn-ea"/>
                <a:cs typeface="+mn-ea"/>
              </a:rPr>
              <a:t>，总行，分行，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软件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成本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市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街道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营业厅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储蓄所</a:t>
            </a:r>
            <a:r>
              <a:rPr lang="zh-CN" altLang="en-US" sz="1000" dirty="0">
                <a:latin typeface="+mn-ea"/>
                <a:cs typeface="+mn-ea"/>
              </a:rPr>
              <a:t>，柜员，储户，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现金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支票</a:t>
            </a:r>
            <a:r>
              <a:rPr lang="zh-CN" altLang="en-US" sz="1000" dirty="0">
                <a:latin typeface="+mn-ea"/>
                <a:cs typeface="+mn-ea"/>
              </a:rPr>
              <a:t>，账户，事务，现金兑换卡，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余额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磁卡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分行代码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卡号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用户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副本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信息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密码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类型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取款额</a:t>
            </a:r>
            <a:r>
              <a:rPr lang="zh-CN" altLang="en-US" sz="1000" dirty="0">
                <a:latin typeface="+mn-ea"/>
                <a:cs typeface="+mn-ea"/>
              </a:rPr>
              <a:t>，账单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，访问</a:t>
            </a:r>
            <a:r>
              <a:rPr lang="zh-CN" altLang="en-US" sz="1000" dirty="0"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2" name="文本框 3"/>
          <p:cNvSpPr txBox="1">
            <a:spLocks noChangeArrowheads="1"/>
          </p:cNvSpPr>
          <p:nvPr/>
        </p:nvSpPr>
        <p:spPr bwMode="auto">
          <a:xfrm>
            <a:off x="77470" y="3057525"/>
            <a:ext cx="5878195" cy="1004570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p>
            <a:pPr marL="171450" indent="-171450" algn="l" eaLnBrk="1" hangingPunct="1">
              <a:lnSpc>
                <a:spcPct val="165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dirty="0">
                <a:latin typeface="Bodoni MT Black" panose="02070A03080606020203" pitchFamily="18" charset="0"/>
                <a:sym typeface="+mn-ea"/>
              </a:rPr>
              <a:t>实现</a:t>
            </a:r>
            <a:r>
              <a:rPr lang="en-US" altLang="zh-CN" sz="1200" b="1" dirty="0">
                <a:latin typeface="Bodoni MT Black" panose="02070A03080606020203" pitchFamily="18" charset="0"/>
                <a:sym typeface="+mn-ea"/>
              </a:rPr>
              <a:t>: 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在分析阶段不应该过早地考虑怎样实现目标系统，应该去掉仅和实现有关的候选的类与对象。在设计和实现阶段，这些类与对象可能是重要的，但在分析阶段过早地考虑它们反而会分散人们的注意力。</a:t>
            </a:r>
            <a:endParaRPr lang="zh-CN" altLang="en-US" sz="1200" dirty="0">
              <a:latin typeface="Bodoni MT Black" panose="02070A03080606020203" pitchFamily="18" charset="0"/>
            </a:endParaRPr>
          </a:p>
        </p:txBody>
      </p:sp>
      <p:sp>
        <p:nvSpPr>
          <p:cNvPr id="79875" name="文本框 2"/>
          <p:cNvSpPr txBox="1">
            <a:spLocks noChangeArrowheads="1"/>
          </p:cNvSpPr>
          <p:nvPr/>
        </p:nvSpPr>
        <p:spPr bwMode="auto">
          <a:xfrm>
            <a:off x="78105" y="4051935"/>
            <a:ext cx="5877560" cy="852805"/>
          </a:xfrm>
          <a:prstGeom prst="rect">
            <a:avLst/>
          </a:prstGeom>
          <a:solidFill>
            <a:srgbClr val="9AE73D"/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dirty="0">
                <a:latin typeface="+mn-ea"/>
                <a:cs typeface="+mn-ea"/>
              </a:rPr>
              <a:t>在ATM系统中，“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事务日志</a:t>
            </a:r>
            <a:r>
              <a:rPr lang="zh-CN" altLang="en-US" sz="1000" dirty="0">
                <a:latin typeface="+mn-ea"/>
                <a:cs typeface="+mn-ea"/>
              </a:rPr>
              <a:t>”无非是对一系列事务的记录，它的确切表示方式是面向对象设计的议题；“通信链路”在逻辑上是一种联系，在系统实现时它是关联类的物理实现。应该暂时去掉 “事务日志”和“通信链路”这两个类，在设计或实现时再考虑它们。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7470" y="4904740"/>
            <a:ext cx="5878195" cy="947420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银行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自动取款机ATM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系统，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中央计算机，分行计算机，柜员终端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网络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总行，分行</a:t>
            </a:r>
            <a:r>
              <a:rPr lang="zh-CN" altLang="en-US" sz="1000" dirty="0">
                <a:solidFill>
                  <a:srgbClr val="FF0000"/>
                </a:solidFill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软件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成本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市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街道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营业厅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储蓄所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柜员，储户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现金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支票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账户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事务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现金兑换卡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余额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磁卡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分行代码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卡号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用户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副本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信息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密码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类型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取款额</a:t>
            </a:r>
            <a:r>
              <a:rPr lang="zh-CN" altLang="en-US" sz="1000" dirty="0">
                <a:latin typeface="+mn-ea"/>
                <a:cs typeface="+mn-ea"/>
              </a:rPr>
              <a:t>，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账单</a:t>
            </a:r>
            <a:r>
              <a:rPr lang="zh-CN" altLang="en-US" sz="1000" b="1" strike="sngStrike" dirty="0">
                <a:solidFill>
                  <a:srgbClr val="00B0F0"/>
                </a:solidFill>
                <a:latin typeface="+mn-ea"/>
                <a:cs typeface="+mn-ea"/>
              </a:rPr>
              <a:t>，访问</a:t>
            </a:r>
            <a:r>
              <a:rPr lang="zh-CN" altLang="en-US" sz="1000" dirty="0"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8105" y="5852160"/>
            <a:ext cx="5887720" cy="9963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71450" indent="-171450" algn="l" eaLnBrk="1" hangingPunct="1">
              <a:lnSpc>
                <a:spcPct val="165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操作</a:t>
            </a:r>
            <a:r>
              <a:rPr lang="en-US" altLang="zh-CN" sz="1200" dirty="0">
                <a:latin typeface="Bodoni MT Black" panose="02070A03080606020203" pitchFamily="18" charset="0"/>
                <a:sym typeface="+mn-ea"/>
              </a:rPr>
              <a:t>: 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在需求陈述中有时可能使用一些既可作为名词，又可作为动词的词，应该慎重考虑它们在本问题中的含义，以便正确地决定把它们作为类还是作为类中定义的操作。</a:t>
            </a:r>
            <a:endParaRPr lang="zh-CN" altLang="en-US" sz="1200" dirty="0">
              <a:latin typeface="Bodoni MT Black" panose="02070A03080606020203" pitchFamily="18" charset="0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97905" y="600075"/>
            <a:ext cx="5584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lt"/>
              <a:buAutoNum type="arabicPeriod" startAt="2"/>
            </a:pPr>
            <a:r>
              <a:rPr lang="zh-CN" sz="1400" b="1" dirty="0" smtClean="0">
                <a:solidFill>
                  <a:srgbClr val="FF0000"/>
                </a:solidFill>
                <a:highlight>
                  <a:srgbClr val="FFFF00"/>
                </a:highlight>
                <a:latin typeface="+mn-ea"/>
                <a:cs typeface="+mn-ea"/>
                <a:sym typeface="+mn-ea"/>
              </a:rPr>
              <a:t>确定关联</a:t>
            </a:r>
            <a:endParaRPr lang="en-US" altLang="zh-CN" sz="1400" b="1" dirty="0" smtClean="0">
              <a:solidFill>
                <a:srgbClr val="FF0000"/>
              </a:solidFill>
              <a:highlight>
                <a:srgbClr val="FFFF00"/>
              </a:highlight>
              <a:latin typeface="+mn-ea"/>
              <a:cs typeface="+mn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64580" y="953135"/>
            <a:ext cx="5622290" cy="21031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65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b="1" dirty="0">
                <a:solidFill>
                  <a:srgbClr val="FF0000"/>
                </a:solidFill>
                <a:highlight>
                  <a:srgbClr val="00FFFF"/>
                </a:highlight>
                <a:latin typeface="Bodoni MT Black" panose="02070A03080606020203" pitchFamily="18" charset="0"/>
                <a:sym typeface="+mn-ea"/>
              </a:rPr>
              <a:t>两个或多个对象之间的相互依赖、相互作用关系就是关联。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分析确定关联，能促使分析员考虑问题域的边缘情况，有助于发现那些尚未被发现的类与对象。</a:t>
            </a:r>
            <a:endParaRPr lang="zh-CN" altLang="en-US" sz="1200" dirty="0">
              <a:latin typeface="Bodoni MT Black" panose="02070A03080606020203" pitchFamily="18" charset="0"/>
              <a:sym typeface="+mn-ea"/>
            </a:endParaRPr>
          </a:p>
          <a:p>
            <a:pPr marL="228600" indent="-228600" algn="l">
              <a:lnSpc>
                <a:spcPct val="165000"/>
              </a:lnSpc>
              <a:buClrTx/>
              <a:buSzTx/>
              <a:buFont typeface="+mj-ea"/>
              <a:buAutoNum type="circleNumDbPlain"/>
              <a:defRPr/>
            </a:pPr>
            <a:r>
              <a:rPr lang="zh-CN" altLang="en-US" sz="1200" b="1" dirty="0" smtClean="0">
                <a:latin typeface="Bodoni MT Black" panose="02070A03080606020203" pitchFamily="18" charset="0"/>
                <a:sym typeface="+mn-ea"/>
              </a:rPr>
              <a:t>初步确定关联</a:t>
            </a:r>
            <a:endParaRPr lang="zh-CN" altLang="en-US" sz="1200" b="1" dirty="0" smtClean="0">
              <a:latin typeface="Bodoni MT Black" panose="02070A03080606020203" pitchFamily="18" charset="0"/>
              <a:sym typeface="+mn-ea"/>
            </a:endParaRPr>
          </a:p>
          <a:p>
            <a:pPr indent="0" algn="l">
              <a:lnSpc>
                <a:spcPct val="165000"/>
              </a:lnSpc>
              <a:buClrTx/>
              <a:buSzTx/>
              <a:buFont typeface="+mj-ea"/>
              <a:buNone/>
              <a:defRPr/>
            </a:pP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在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需求陈述中使用的描述性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动词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或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动词词组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，通常表示关联关系。</a:t>
            </a:r>
            <a:endParaRPr lang="en-US" altLang="zh-CN" sz="1200" dirty="0">
              <a:latin typeface="Bodoni MT Black" panose="02070A03080606020203" pitchFamily="18" charset="0"/>
            </a:endParaRPr>
          </a:p>
          <a:p>
            <a:pPr indent="0" algn="l">
              <a:lnSpc>
                <a:spcPct val="165000"/>
              </a:lnSpc>
              <a:buClrTx/>
              <a:buSzTx/>
              <a:buFont typeface="+mj-ea"/>
              <a:buNone/>
              <a:defRPr/>
            </a:pPr>
            <a:endParaRPr lang="zh-CN" altLang="en-US" sz="1200" b="1" dirty="0" smtClean="0">
              <a:latin typeface="Bodoni MT Black" panose="02070A03080606020203" pitchFamily="18" charset="0"/>
            </a:endParaRPr>
          </a:p>
          <a:p>
            <a:pPr indent="0" algn="l">
              <a:lnSpc>
                <a:spcPct val="165000"/>
              </a:lnSpc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sz="1200" dirty="0">
              <a:latin typeface="Bodoni MT Black" panose="02070A03080606020203" pitchFamily="18" charset="0"/>
            </a:endParaRPr>
          </a:p>
          <a:p>
            <a:endParaRPr lang="zh-CN" altLang="en-US" sz="1200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53150" y="2305685"/>
            <a:ext cx="3333115" cy="438277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txBody>
          <a:bodyPr>
            <a:noAutofit/>
          </a:bodyPr>
          <a:p>
            <a:pPr indent="0" eaLnBrk="1" hangingPunct="1">
              <a:lnSpc>
                <a:spcPct val="125000"/>
              </a:lnSpc>
              <a:buNone/>
              <a:defRPr/>
            </a:pPr>
            <a:r>
              <a:rPr lang="en-US" altLang="zh-CN" sz="1000" dirty="0" smtClean="0">
                <a:solidFill>
                  <a:srgbClr val="FFFF00"/>
                </a:solidFill>
                <a:latin typeface="+mn-ea"/>
                <a:cs typeface="+mn-ea"/>
              </a:rPr>
              <a:t> 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</a:rPr>
              <a:t>直接提取动词短语得出的关联</a:t>
            </a:r>
            <a:endParaRPr lang="zh-CN" altLang="en-US" sz="1000" b="1" dirty="0">
              <a:solidFill>
                <a:srgbClr val="FFFF00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</a:rPr>
              <a:t>ATM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、中央计算机、分行计算机及柜员终端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组成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网络。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总行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拥有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多台</a:t>
            </a: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</a:rPr>
              <a:t>ATM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</a:rPr>
              <a:t>ATM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设在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主要街道上。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分行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提供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分行计算机和柜员终端。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柜员终端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设在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分行营业厅及储蓄所内。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分行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分摊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软件开发成本。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储户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拥有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账户。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分行计算机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处理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针对账户的事务。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分行计算机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维护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账户。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 柜员终端与分行计算机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通信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 柜员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输入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针对账户的事务。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 ATM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与中央计算机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交换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关于事务的信息。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 中央计算机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确定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事务与分行的对应关系。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 ATM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读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现金兑换卡。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 ATM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与用户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交互。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 ATM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吐出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现金。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 ATM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打印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账单。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 系统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处理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并发的访问。</a:t>
            </a:r>
            <a:endParaRPr lang="en-US" altLang="zh-CN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indent="0" eaLnBrk="1" hangingPunct="1">
              <a:lnSpc>
                <a:spcPct val="125000"/>
              </a:lnSpc>
              <a:buFont typeface="+mj-ea"/>
              <a:buNone/>
              <a:defRPr/>
            </a:pPr>
            <a:endParaRPr lang="en-US" altLang="zh-CN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481820" y="2297430"/>
            <a:ext cx="2611120" cy="1868805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bg2"/>
            </a:solidFill>
          </a:ln>
        </p:spPr>
        <p:txBody>
          <a:bodyPr wrap="square">
            <a:spAutoFit/>
          </a:bodyPr>
          <a:p>
            <a:pPr indent="0" algn="l" eaLnBrk="1" hangingPunct="1">
              <a:lnSpc>
                <a:spcPct val="165000"/>
              </a:lnSpc>
              <a:buClrTx/>
              <a:buSzTx/>
              <a:buNone/>
              <a:defRPr/>
            </a:pP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</a:rPr>
              <a:t>需求陈述中隐含的关联</a:t>
            </a:r>
            <a:endParaRPr lang="zh-CN" altLang="en-US" sz="1000" b="1" dirty="0">
              <a:solidFill>
                <a:srgbClr val="FFFF00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6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总行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由</a:t>
            </a: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各个分行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组成</a:t>
            </a: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。</a:t>
            </a:r>
            <a:endParaRPr lang="zh-CN" altLang="en-US" sz="1000" dirty="0">
              <a:solidFill>
                <a:schemeClr val="bg1"/>
              </a:solidFill>
              <a:latin typeface="Bodoni MT Black" panose="02070A03080606020203" pitchFamily="18" charset="0"/>
            </a:endParaRPr>
          </a:p>
          <a:p>
            <a:pPr marL="171450" indent="-171450" eaLnBrk="1" hangingPunct="1">
              <a:lnSpc>
                <a:spcPct val="16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分行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保管</a:t>
            </a: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账户。</a:t>
            </a:r>
            <a:endParaRPr lang="zh-CN" altLang="en-US" sz="1000" dirty="0">
              <a:solidFill>
                <a:schemeClr val="bg1"/>
              </a:solidFill>
              <a:latin typeface="Bodoni MT Black" panose="02070A03080606020203" pitchFamily="18" charset="0"/>
            </a:endParaRPr>
          </a:p>
          <a:p>
            <a:pPr marL="171450" indent="-171450" eaLnBrk="1" hangingPunct="1">
              <a:lnSpc>
                <a:spcPct val="16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总行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拥有</a:t>
            </a: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中央计算机。</a:t>
            </a:r>
            <a:endParaRPr lang="zh-CN" altLang="en-US" sz="1000" dirty="0">
              <a:solidFill>
                <a:schemeClr val="bg1"/>
              </a:solidFill>
              <a:latin typeface="Bodoni MT Black" panose="02070A03080606020203" pitchFamily="18" charset="0"/>
            </a:endParaRPr>
          </a:p>
          <a:p>
            <a:pPr marL="171450" indent="-171450" eaLnBrk="1" hangingPunct="1">
              <a:lnSpc>
                <a:spcPct val="16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系统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维护</a:t>
            </a: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事务日志。</a:t>
            </a:r>
            <a:endParaRPr lang="zh-CN" altLang="en-US" sz="1000" dirty="0">
              <a:solidFill>
                <a:schemeClr val="bg1"/>
              </a:solidFill>
              <a:latin typeface="Bodoni MT Black" panose="02070A03080606020203" pitchFamily="18" charset="0"/>
            </a:endParaRPr>
          </a:p>
          <a:p>
            <a:pPr marL="171450" indent="-171450" eaLnBrk="1" hangingPunct="1">
              <a:lnSpc>
                <a:spcPct val="16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系统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提供</a:t>
            </a: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必要的安全性。</a:t>
            </a:r>
            <a:endParaRPr lang="zh-CN" altLang="en-US" sz="1000" dirty="0">
              <a:solidFill>
                <a:schemeClr val="bg1"/>
              </a:solidFill>
              <a:latin typeface="Bodoni MT Black" panose="02070A03080606020203" pitchFamily="18" charset="0"/>
            </a:endParaRPr>
          </a:p>
          <a:p>
            <a:pPr marL="171450" indent="-171450" eaLnBrk="1" hangingPunct="1">
              <a:lnSpc>
                <a:spcPct val="16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储户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拥有</a:t>
            </a: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现金兑换卡。</a:t>
            </a:r>
            <a:endParaRPr lang="zh-CN" altLang="en-US" sz="1000" dirty="0">
              <a:solidFill>
                <a:schemeClr val="bg1"/>
              </a:solidFill>
              <a:latin typeface="Bodoni MT Black" panose="02070A03080606020203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486265" y="4172585"/>
            <a:ext cx="2606040" cy="80645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bg2"/>
            </a:solidFill>
          </a:ln>
        </p:spPr>
        <p:txBody>
          <a:bodyPr wrap="square">
            <a:spAutoFit/>
          </a:bodyPr>
          <a:p>
            <a:pPr algn="l" eaLnBrk="1" hangingPunct="1">
              <a:lnSpc>
                <a:spcPct val="155000"/>
              </a:lnSpc>
              <a:buClrTx/>
              <a:buSzTx/>
              <a:buFontTx/>
              <a:defRPr/>
            </a:pP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</a:rPr>
              <a:t>根据问题域知识得出的关联</a:t>
            </a:r>
            <a:endParaRPr lang="zh-CN" altLang="en-US" sz="1000" b="1" dirty="0">
              <a:solidFill>
                <a:srgbClr val="FFFF00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5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现金兑换卡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访问</a:t>
            </a: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账户。</a:t>
            </a:r>
            <a:endParaRPr lang="zh-CN" altLang="en-US" sz="1000" dirty="0">
              <a:solidFill>
                <a:schemeClr val="bg1"/>
              </a:solidFill>
              <a:latin typeface="Bodoni MT Black" panose="02070A03080606020203" pitchFamily="18" charset="0"/>
            </a:endParaRPr>
          </a:p>
          <a:p>
            <a:pPr marL="171450" indent="-171450" eaLnBrk="1" hangingPunct="1">
              <a:lnSpc>
                <a:spcPct val="15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分行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雇用</a:t>
            </a:r>
            <a:r>
              <a:rPr lang="zh-CN" altLang="en-US" sz="1000" dirty="0">
                <a:solidFill>
                  <a:schemeClr val="bg1"/>
                </a:solidFill>
                <a:latin typeface="Bodoni MT Black" panose="02070A03080606020203" pitchFamily="18" charset="0"/>
              </a:rPr>
              <a:t>柜员。</a:t>
            </a:r>
            <a:endParaRPr lang="zh-CN" altLang="en-US" sz="1000" dirty="0">
              <a:solidFill>
                <a:schemeClr val="bg1"/>
              </a:solidFill>
              <a:latin typeface="Bodoni MT Black" panose="02070A03080606020203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185420" y="5739765"/>
            <a:ext cx="1200150" cy="101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6017895" y="0"/>
            <a:ext cx="0" cy="6866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0" y="-635"/>
            <a:ext cx="5956300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建立对象模型</a:t>
            </a:r>
            <a:endParaRPr lang="zh-CN" altLang="en-US" b="1">
              <a:solidFill>
                <a:schemeClr val="bg2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6017260" y="-10160"/>
            <a:ext cx="6174740" cy="1379220"/>
            <a:chOff x="9476" y="-16"/>
            <a:chExt cx="9724" cy="2172"/>
          </a:xfrm>
        </p:grpSpPr>
        <p:sp>
          <p:nvSpPr>
            <p:cNvPr id="31" name="文本框 30"/>
            <p:cNvSpPr txBox="1"/>
            <p:nvPr/>
          </p:nvSpPr>
          <p:spPr>
            <a:xfrm>
              <a:off x="17001" y="690"/>
              <a:ext cx="1969" cy="1466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476" y="-16"/>
              <a:ext cx="9724" cy="71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 anchorCtr="0">
              <a:noAutofit/>
            </a:bodyPr>
            <a:p>
              <a:pPr marL="0" algn="l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bg2"/>
                  </a:solidFill>
                </a:rPr>
                <a:t> </a:t>
              </a:r>
              <a:r>
                <a:rPr lang="zh-CN" altLang="en-US" b="1">
                  <a:solidFill>
                    <a:schemeClr val="bg2"/>
                  </a:solidFill>
                  <a:sym typeface="+mn-ea"/>
                </a:rPr>
                <a:t>建立对象模型</a:t>
              </a:r>
              <a:endParaRPr lang="zh-CN" altLang="en-US" b="1">
                <a:solidFill>
                  <a:schemeClr val="bg2"/>
                </a:solidFill>
              </a:endParaRPr>
            </a:p>
          </p:txBody>
        </p:sp>
      </p:grpSp>
      <p:sp>
        <p:nvSpPr>
          <p:cNvPr id="75778" name="文本框 3"/>
          <p:cNvSpPr txBox="1">
            <a:spLocks noChangeArrowheads="1"/>
          </p:cNvSpPr>
          <p:nvPr/>
        </p:nvSpPr>
        <p:spPr bwMode="auto">
          <a:xfrm>
            <a:off x="78105" y="523875"/>
            <a:ext cx="5878195" cy="700405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p>
            <a:pPr marL="228600" indent="-228600" algn="l" eaLnBrk="1" hangingPunct="1">
              <a:lnSpc>
                <a:spcPct val="165000"/>
              </a:lnSpc>
              <a:buClrTx/>
              <a:buSzTx/>
              <a:buFont typeface="+mj-ea"/>
              <a:buAutoNum type="circleNumDbPlain" startAt="2"/>
              <a:defRPr/>
            </a:pPr>
            <a:r>
              <a:rPr lang="zh-CN" altLang="en-US" sz="1200" b="1" dirty="0">
                <a:latin typeface="Bodoni MT Black" panose="02070A03080606020203" pitchFamily="18" charset="0"/>
              </a:rPr>
              <a:t>筛选</a:t>
            </a:r>
            <a:endParaRPr lang="zh-CN" altLang="en-US" sz="1200" b="1" dirty="0">
              <a:latin typeface="Bodoni MT Black" panose="02070A03080606020203" pitchFamily="18" charset="0"/>
            </a:endParaRPr>
          </a:p>
          <a:p>
            <a:pPr indent="0" algn="l" eaLnBrk="1" hangingPunct="1">
              <a:lnSpc>
                <a:spcPct val="165000"/>
              </a:lnSpc>
              <a:buClrTx/>
              <a:buSzTx/>
              <a:buFont typeface="+mj-ea"/>
              <a:buNone/>
              <a:defRPr/>
            </a:pPr>
            <a:endParaRPr lang="zh-CN" altLang="en-US" sz="1200" dirty="0">
              <a:latin typeface="Bodoni MT Black" panose="02070A03080606020203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5420" y="865505"/>
            <a:ext cx="5752465" cy="1004570"/>
          </a:xfrm>
          <a:prstGeom prst="rect">
            <a:avLst/>
          </a:prstGeom>
          <a:noFill/>
          <a:ln w="15875">
            <a:noFill/>
          </a:ln>
        </p:spPr>
        <p:txBody>
          <a:bodyPr wrap="square">
            <a:spAutoFit/>
          </a:bodyPr>
          <a:p>
            <a:pPr indent="0" algn="l" eaLnBrk="1" hangingPunct="1">
              <a:lnSpc>
                <a:spcPct val="165000"/>
              </a:lnSpc>
              <a:buClrTx/>
              <a:buSzTx/>
              <a:buNone/>
              <a:defRPr/>
            </a:pPr>
            <a:r>
              <a:rPr lang="zh-CN" altLang="en-US" sz="1200" b="1" dirty="0">
                <a:solidFill>
                  <a:srgbClr val="FF0000"/>
                </a:solidFill>
                <a:highlight>
                  <a:srgbClr val="00FFFF"/>
                </a:highlight>
                <a:latin typeface="Bodoni MT Black" panose="02070A03080606020203" pitchFamily="18" charset="0"/>
                <a:ea typeface="+mn-ea"/>
              </a:rPr>
              <a:t>已删去的类之间的关联</a:t>
            </a:r>
            <a:endParaRPr lang="zh-CN" altLang="en-US" sz="1200" b="1" dirty="0">
              <a:solidFill>
                <a:srgbClr val="FF0000"/>
              </a:solidFill>
              <a:highlight>
                <a:srgbClr val="00FFFF"/>
              </a:highlight>
              <a:latin typeface="Bodoni MT Black" panose="02070A03080606020203" pitchFamily="18" charset="0"/>
              <a:ea typeface="+mn-ea"/>
            </a:endParaRPr>
          </a:p>
          <a:p>
            <a:pPr indent="0" algn="l" eaLnBrk="1" hangingPunct="1">
              <a:lnSpc>
                <a:spcPct val="165000"/>
              </a:lnSpc>
              <a:buClrTx/>
              <a:buSzTx/>
              <a:buNone/>
              <a:defRPr/>
            </a:pPr>
            <a:r>
              <a:rPr lang="zh-CN" altLang="en-US" sz="1200" dirty="0">
                <a:latin typeface="Bodoni MT Black" panose="02070A03080606020203" pitchFamily="18" charset="0"/>
              </a:rPr>
              <a:t>如果在分析确定类与对象的过程中已经删掉了某个候选类，则与这个类有关的关联也应该删去，或用其他类重新表达这个关联。</a:t>
            </a:r>
            <a:endParaRPr lang="zh-CN" altLang="en-US" sz="1200" dirty="0">
              <a:latin typeface="Bodoni MT Black" panose="02070A03080606020203" pitchFamily="18" charset="0"/>
            </a:endParaRPr>
          </a:p>
        </p:txBody>
      </p:sp>
      <p:sp>
        <p:nvSpPr>
          <p:cNvPr id="94213" name="文本框 3"/>
          <p:cNvSpPr txBox="1">
            <a:spLocks noChangeArrowheads="1"/>
          </p:cNvSpPr>
          <p:nvPr/>
        </p:nvSpPr>
        <p:spPr bwMode="auto">
          <a:xfrm>
            <a:off x="185420" y="1878330"/>
            <a:ext cx="2002790" cy="1629410"/>
          </a:xfrm>
          <a:prstGeom prst="rect">
            <a:avLst/>
          </a:prstGeom>
          <a:solidFill>
            <a:srgbClr val="55D5FF"/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p>
            <a:pPr algn="l" eaLnBrk="1" hangingPunct="1">
              <a:lnSpc>
                <a:spcPct val="145000"/>
              </a:lnSpc>
              <a:buClrTx/>
              <a:buSzTx/>
              <a:buFont typeface="+mj-ea"/>
              <a:defRPr/>
            </a:pPr>
            <a:r>
              <a:rPr lang="zh-CN" altLang="en-US" sz="1000" dirty="0">
                <a:latin typeface="+mn-ea"/>
                <a:cs typeface="+mn-ea"/>
              </a:rPr>
              <a:t>以ATM系统为例，由于已经删去了“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系统”、“网络”、“市”、“街道”、“成本”、“软件”、“事务日志”、“现金”、“营业厅”、“储蓄所”、“账单”</a:t>
            </a:r>
            <a:r>
              <a:rPr lang="zh-CN" altLang="en-US" sz="1000" dirty="0">
                <a:latin typeface="+mn-ea"/>
                <a:cs typeface="+mn-ea"/>
              </a:rPr>
              <a:t>等候选类，因此与这些类有关的下列8个关联也应该删去。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94211" name="文本框 1"/>
          <p:cNvSpPr txBox="1">
            <a:spLocks noChangeArrowheads="1"/>
          </p:cNvSpPr>
          <p:nvPr/>
        </p:nvSpPr>
        <p:spPr bwMode="auto">
          <a:xfrm>
            <a:off x="2188210" y="1878330"/>
            <a:ext cx="3749675" cy="1630045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p>
            <a:pPr marL="171450" indent="-171450"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</a:rPr>
              <a:t>ATM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、中央计算机、分行计算机及柜员终端组成网络。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总行拥有多台</a:t>
            </a: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</a:rPr>
              <a:t>ATM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</a:rPr>
              <a:t>ATM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设在主要街道上。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分行提供分行计算机和柜员终端。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柜员终端设在分行营业厅及储蓄所内。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分行分摊软件开发成本。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储户拥有账户。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分行计算机处理针对账户的事务。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10" name="文本框 3"/>
          <p:cNvSpPr txBox="1">
            <a:spLocks noChangeArrowheads="1"/>
          </p:cNvSpPr>
          <p:nvPr/>
        </p:nvSpPr>
        <p:spPr bwMode="auto">
          <a:xfrm>
            <a:off x="185420" y="3524885"/>
            <a:ext cx="2002790" cy="6680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p>
            <a:pPr algn="l" eaLnBrk="1" hangingPunct="1">
              <a:lnSpc>
                <a:spcPct val="155000"/>
              </a:lnSpc>
              <a:buClrTx/>
              <a:buSzTx/>
              <a:buFont typeface="+mj-ea"/>
              <a:defRPr/>
            </a:pPr>
            <a:r>
              <a:rPr lang="zh-CN" altLang="en-US" sz="1000" dirty="0" smtClean="0">
                <a:latin typeface="Bodoni MT Black" panose="02070A03080606020203" pitchFamily="18" charset="0"/>
                <a:sym typeface="+mn-ea"/>
              </a:rPr>
              <a:t>应该</a:t>
            </a: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把处在</a:t>
            </a:r>
            <a:r>
              <a:rPr lang="zh-CN" altLang="en-US" sz="1000" b="1" dirty="0">
                <a:latin typeface="Bodoni MT Black" panose="02070A03080606020203" pitchFamily="18" charset="0"/>
                <a:sym typeface="+mn-ea"/>
              </a:rPr>
              <a:t>本问题域之外</a:t>
            </a: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的关联或与</a:t>
            </a:r>
            <a:r>
              <a:rPr lang="zh-CN" altLang="en-US" sz="10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实现</a:t>
            </a: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密切相关的关联删去。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3" name="文本框 1"/>
          <p:cNvSpPr txBox="1">
            <a:spLocks noChangeArrowheads="1"/>
          </p:cNvSpPr>
          <p:nvPr/>
        </p:nvSpPr>
        <p:spPr bwMode="auto">
          <a:xfrm>
            <a:off x="2188210" y="3524885"/>
            <a:ext cx="3749675" cy="6680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p>
            <a:pPr marL="171450" indent="-171450" algn="l" eaLnBrk="1" hangingPunct="1">
              <a:lnSpc>
                <a:spcPct val="12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在ATM系统的例子中，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“系统处理并发的访问”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并没有标明对象之间的新关联，它只不过提醒人们在实现阶段需要使用实现并发访问的算法，以处理并发事务。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14" name="文本框 3"/>
          <p:cNvSpPr txBox="1">
            <a:spLocks noChangeArrowheads="1"/>
          </p:cNvSpPr>
          <p:nvPr/>
        </p:nvSpPr>
        <p:spPr bwMode="auto">
          <a:xfrm>
            <a:off x="185420" y="4209415"/>
            <a:ext cx="2002790" cy="861695"/>
          </a:xfrm>
          <a:prstGeom prst="rect">
            <a:avLst/>
          </a:prstGeom>
          <a:solidFill>
            <a:srgbClr val="55D5FF"/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p>
            <a:pPr algn="l" eaLnBrk="1" hangingPunct="1">
              <a:lnSpc>
                <a:spcPct val="155000"/>
              </a:lnSpc>
              <a:buClrTx/>
              <a:buSzTx/>
              <a:buFont typeface="+mj-ea"/>
              <a:defRPr/>
            </a:pP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关联应该描述问题域的</a:t>
            </a:r>
            <a:r>
              <a:rPr lang="zh-CN" altLang="en-US" sz="10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静态结构</a:t>
            </a: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，而不应该是一个瞬时事件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5" name="文本框 1"/>
          <p:cNvSpPr txBox="1">
            <a:spLocks noChangeArrowheads="1"/>
          </p:cNvSpPr>
          <p:nvPr/>
        </p:nvSpPr>
        <p:spPr bwMode="auto">
          <a:xfrm>
            <a:off x="2188210" y="4209415"/>
            <a:ext cx="3749675" cy="860425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p>
            <a:pPr marL="171450" indent="-171450" algn="l" eaLnBrk="1" hangingPunct="1">
              <a:lnSpc>
                <a:spcPct val="12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以ATM系统为例，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“ATM读现金兑换卡”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描述了ATM与用户交互周期中的一个动作，它并不是ATM与现金兑换卡之间的固有关系，因此应该删去。类似地，还应该删去“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ATM与用户交互”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这个候选的关联。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16" name="文本框 3"/>
          <p:cNvSpPr txBox="1">
            <a:spLocks noChangeArrowheads="1"/>
          </p:cNvSpPr>
          <p:nvPr/>
        </p:nvSpPr>
        <p:spPr bwMode="auto">
          <a:xfrm>
            <a:off x="185420" y="5086350"/>
            <a:ext cx="2002790" cy="12890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dirty="0" smtClean="0">
                <a:latin typeface="Bodoni MT Black" panose="02070A03080606020203" pitchFamily="18" charset="0"/>
                <a:sym typeface="+mn-ea"/>
              </a:rPr>
              <a:t>三</a:t>
            </a: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个或三个以上对象之间的关联，大多可以分解为</a:t>
            </a:r>
            <a:r>
              <a:rPr lang="zh-CN" altLang="en-US" sz="10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二元关联</a:t>
            </a: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或用词组描述成限定的关联。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21" name="文本框 1"/>
          <p:cNvSpPr txBox="1">
            <a:spLocks noChangeArrowheads="1"/>
          </p:cNvSpPr>
          <p:nvPr/>
        </p:nvSpPr>
        <p:spPr bwMode="auto">
          <a:xfrm>
            <a:off x="2188210" y="5086350"/>
            <a:ext cx="3749675" cy="129159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p>
            <a:pPr marL="171450" indent="-171450" algn="l" eaLnBrk="1" hangingPunct="1">
              <a:lnSpc>
                <a:spcPct val="12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“</a:t>
            </a:r>
            <a:r>
              <a:rPr lang="zh-CN" altLang="en-US" sz="1000" b="1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柜员输入针对账户的事务”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可以分解成“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柜员输入事务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”和“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事务修改账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户”这样两个二元关联。而且“分行计算机处理针对账户的事务”也可以做类似的分解。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  <a:p>
            <a:pPr marL="171450" indent="-171450" algn="l" eaLnBrk="1" hangingPunct="1">
              <a:lnSpc>
                <a:spcPct val="12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“ATM与中央计算机交换关于事务的信息”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这个候选的关联，实际上隐含了“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ATM与中央计算机通信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”和“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在ATM上输入事务”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这两个二元关联。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22" name="文本框 3"/>
          <p:cNvSpPr txBox="1">
            <a:spLocks noChangeArrowheads="1"/>
          </p:cNvSpPr>
          <p:nvPr/>
        </p:nvSpPr>
        <p:spPr bwMode="auto">
          <a:xfrm>
            <a:off x="6240145" y="581660"/>
            <a:ext cx="2002790" cy="992505"/>
          </a:xfrm>
          <a:prstGeom prst="rect">
            <a:avLst/>
          </a:prstGeom>
          <a:solidFill>
            <a:srgbClr val="55D5FF"/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应该去掉那些可以用其他关联定义的冗余关联。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23" name="文本框 1"/>
          <p:cNvSpPr txBox="1">
            <a:spLocks noChangeArrowheads="1"/>
          </p:cNvSpPr>
          <p:nvPr/>
        </p:nvSpPr>
        <p:spPr bwMode="auto">
          <a:xfrm>
            <a:off x="8242935" y="581660"/>
            <a:ext cx="3749675" cy="99187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p>
            <a:pPr marL="171450" indent="-171450" eaLnBrk="1" hangingPunct="1">
              <a:lnSpc>
                <a:spcPct val="14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“</a:t>
            </a:r>
            <a:r>
              <a:rPr lang="zh-CN" altLang="en-US" sz="1000" b="1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总行拥有多台</a:t>
            </a:r>
            <a:r>
              <a:rPr lang="en-US" altLang="zh-CN" sz="1000" b="1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ATM</a:t>
            </a:r>
            <a:r>
              <a:rPr lang="zh-CN" altLang="en-US" sz="1000" b="1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1000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”实质上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是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“总行拥有中央计算机”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和“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ATM与中央计算机通信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”这两个关联组合的结果。</a:t>
            </a:r>
            <a:endParaRPr lang="en-US" altLang="zh-CN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marL="171450" indent="-171450" eaLnBrk="1" hangingPunct="1">
              <a:lnSpc>
                <a:spcPct val="145000"/>
              </a:lnSpc>
              <a:buSzPct val="70000"/>
              <a:buFont typeface="Arial" panose="020B0604020202020204" pitchFamily="34" charset="0"/>
              <a:buChar char="•"/>
              <a:defRPr/>
            </a:pPr>
            <a:r>
              <a:rPr lang="zh-CN" altLang="en-US" sz="1000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“</a:t>
            </a:r>
            <a:r>
              <a:rPr lang="zh-CN" altLang="en-US" sz="1000" b="1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分行计算机维护账户”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的实际含义是“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分行保管账户”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和“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事务修改账户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”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文本框 3"/>
          <p:cNvSpPr txBox="1">
            <a:spLocks noChangeArrowheads="1"/>
          </p:cNvSpPr>
          <p:nvPr/>
        </p:nvSpPr>
        <p:spPr bwMode="auto">
          <a:xfrm>
            <a:off x="6240145" y="1608455"/>
            <a:ext cx="2002790" cy="2136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dirty="0" smtClean="0">
                <a:latin typeface="Bodoni MT Black" panose="02070A03080606020203" pitchFamily="18" charset="0"/>
                <a:sym typeface="+mn-ea"/>
              </a:rPr>
              <a:t>进一步</a:t>
            </a: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完善经筛选后余下的</a:t>
            </a:r>
            <a:r>
              <a:rPr lang="zh-CN" altLang="en-US" sz="1000" dirty="0" smtClean="0">
                <a:latin typeface="Bodoni MT Black" panose="02070A03080606020203" pitchFamily="18" charset="0"/>
                <a:sym typeface="+mn-ea"/>
              </a:rPr>
              <a:t>关联，</a:t>
            </a:r>
            <a:r>
              <a:rPr lang="zh-CN" altLang="en-US" sz="1000" dirty="0" smtClean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从</a:t>
            </a:r>
            <a:r>
              <a:rPr lang="zh-CN" altLang="en-US" sz="1000" dirty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下述</a:t>
            </a:r>
            <a:r>
              <a:rPr lang="zh-CN" altLang="en-US" sz="1000" dirty="0" smtClean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几方面进行改进：</a:t>
            </a:r>
            <a:endParaRPr lang="zh-CN" altLang="en-US" sz="1000" dirty="0" smtClean="0">
              <a:solidFill>
                <a:srgbClr val="000000"/>
              </a:solidFill>
              <a:latin typeface="Bodoni MT Black" panose="02070A03080606020203" pitchFamily="18" charset="0"/>
              <a:sym typeface="+mn-ea"/>
            </a:endParaRPr>
          </a:p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b="1" dirty="0">
                <a:solidFill>
                  <a:srgbClr val="0070C0"/>
                </a:solidFill>
                <a:latin typeface="Bodoni MT Black" panose="02070A03080606020203" pitchFamily="18" charset="0"/>
                <a:sym typeface="+mn-ea"/>
              </a:rPr>
              <a:t>正</a:t>
            </a:r>
            <a:r>
              <a:rPr lang="zh-CN" altLang="en-US" sz="1000" b="1" dirty="0" smtClean="0">
                <a:solidFill>
                  <a:srgbClr val="0070C0"/>
                </a:solidFill>
                <a:latin typeface="Bodoni MT Black" panose="02070A03080606020203" pitchFamily="18" charset="0"/>
                <a:sym typeface="+mn-ea"/>
              </a:rPr>
              <a:t>名：</a:t>
            </a:r>
            <a:r>
              <a:rPr lang="zh-CN" altLang="en-US" sz="1000" dirty="0" smtClean="0">
                <a:latin typeface="Bodoni MT Black" panose="02070A03080606020203" pitchFamily="18" charset="0"/>
                <a:sym typeface="+mn-ea"/>
              </a:rPr>
              <a:t>仔细</a:t>
            </a: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选择含义更明确的名字作为关联名</a:t>
            </a:r>
            <a:endParaRPr lang="zh-CN" altLang="en-US" sz="1000" dirty="0">
              <a:latin typeface="Bodoni MT Black" panose="02070A03080606020203" pitchFamily="18" charset="0"/>
              <a:sym typeface="+mn-ea"/>
            </a:endParaRPr>
          </a:p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b="1" dirty="0" smtClean="0">
                <a:solidFill>
                  <a:srgbClr val="0070C0"/>
                </a:solidFill>
                <a:latin typeface="Bodoni MT Black" panose="02070A03080606020203" pitchFamily="18" charset="0"/>
                <a:sym typeface="+mn-ea"/>
              </a:rPr>
              <a:t>分解：</a:t>
            </a:r>
            <a:r>
              <a:rPr lang="zh-CN" altLang="en-US" sz="1000" dirty="0" smtClean="0">
                <a:latin typeface="Bodoni MT Black" panose="02070A03080606020203" pitchFamily="18" charset="0"/>
                <a:sym typeface="+mn-ea"/>
              </a:rPr>
              <a:t>为适用于</a:t>
            </a: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不同的</a:t>
            </a:r>
            <a:r>
              <a:rPr lang="zh-CN" altLang="en-US" sz="1000" dirty="0" smtClean="0">
                <a:latin typeface="Bodoni MT Black" panose="02070A03080606020203" pitchFamily="18" charset="0"/>
                <a:sym typeface="+mn-ea"/>
              </a:rPr>
              <a:t>关联</a:t>
            </a: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，</a:t>
            </a:r>
            <a:r>
              <a:rPr lang="zh-CN" altLang="en-US" sz="1000" dirty="0" smtClean="0">
                <a:latin typeface="Bodoni MT Black" panose="02070A03080606020203" pitchFamily="18" charset="0"/>
                <a:sym typeface="+mn-ea"/>
              </a:rPr>
              <a:t>应分解</a:t>
            </a: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以前确定的类与对象</a:t>
            </a:r>
            <a:r>
              <a:rPr lang="zh-CN" altLang="en-US" sz="1000" dirty="0" smtClean="0">
                <a:latin typeface="Bodoni MT Black" panose="02070A03080606020203" pitchFamily="18" charset="0"/>
                <a:sym typeface="+mn-ea"/>
              </a:rPr>
              <a:t>。</a:t>
            </a:r>
            <a:endParaRPr lang="zh-CN" altLang="en-US" sz="1000" dirty="0" smtClean="0">
              <a:latin typeface="Bodoni MT Black" panose="02070A03080606020203" pitchFamily="18" charset="0"/>
              <a:sym typeface="+mn-ea"/>
            </a:endParaRPr>
          </a:p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b="1" dirty="0" smtClean="0">
                <a:solidFill>
                  <a:srgbClr val="0070C0"/>
                </a:solidFill>
                <a:latin typeface="Bodoni MT Black" panose="02070A03080606020203" pitchFamily="18" charset="0"/>
                <a:sym typeface="+mn-ea"/>
              </a:rPr>
              <a:t>补充：</a:t>
            </a:r>
            <a:r>
              <a:rPr lang="zh-CN" altLang="en-US" sz="1000" dirty="0" smtClean="0">
                <a:latin typeface="Bodoni MT Black" panose="02070A03080606020203" pitchFamily="18" charset="0"/>
                <a:sym typeface="+mn-ea"/>
              </a:rPr>
              <a:t>发现</a:t>
            </a: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了遗漏的关联就应该及时补上</a:t>
            </a:r>
            <a:r>
              <a:rPr lang="zh-CN" altLang="en-US" sz="1000" dirty="0" smtClean="0">
                <a:latin typeface="Bodoni MT Black" panose="02070A03080606020203" pitchFamily="18" charset="0"/>
                <a:sym typeface="+mn-ea"/>
              </a:rPr>
              <a:t>。</a:t>
            </a:r>
            <a:endParaRPr lang="zh-CN" altLang="en-US" sz="1000" dirty="0" smtClean="0">
              <a:latin typeface="Bodoni MT Black" panose="02070A03080606020203" pitchFamily="18" charset="0"/>
              <a:sym typeface="+mn-ea"/>
            </a:endParaRPr>
          </a:p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endParaRPr lang="zh-CN" altLang="en-US" sz="1000" dirty="0">
              <a:latin typeface="Bodoni MT Black" panose="02070A03080606020203" pitchFamily="18" charset="0"/>
            </a:endParaRPr>
          </a:p>
        </p:txBody>
      </p:sp>
      <p:sp>
        <p:nvSpPr>
          <p:cNvPr id="25" name="文本框 1"/>
          <p:cNvSpPr txBox="1">
            <a:spLocks noChangeArrowheads="1"/>
          </p:cNvSpPr>
          <p:nvPr/>
        </p:nvSpPr>
        <p:spPr bwMode="auto">
          <a:xfrm>
            <a:off x="8242935" y="1608455"/>
            <a:ext cx="3749675" cy="213614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p>
            <a:pPr eaLnBrk="1" hangingPunct="1">
              <a:lnSpc>
                <a:spcPct val="145000"/>
              </a:lnSpc>
              <a:defRPr/>
            </a:pPr>
            <a:r>
              <a:rPr lang="zh-CN" altLang="en-US" sz="1000" b="1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正名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：“分行提供分行计算机和柜员终端”不如改为“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分行拥有分行计算机”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和“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分行拥有柜员终端”。</a:t>
            </a:r>
            <a:endParaRPr lang="zh-CN" altLang="en-US" sz="1000" b="1" dirty="0">
              <a:solidFill>
                <a:srgbClr val="FFFF00"/>
              </a:solidFill>
              <a:latin typeface="+mn-ea"/>
              <a:cs typeface="+mn-ea"/>
              <a:sym typeface="+mn-ea"/>
            </a:endParaRPr>
          </a:p>
          <a:p>
            <a:pPr eaLnBrk="1" hangingPunct="1">
              <a:lnSpc>
                <a:spcPct val="145000"/>
              </a:lnSpc>
              <a:defRPr/>
            </a:pPr>
            <a:r>
              <a:rPr lang="zh-CN" altLang="en-US" sz="1000" b="1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分解：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例如，在</a:t>
            </a: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ATM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系统中，应该把“事务”分解成“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远程事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务”和“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柜员事务”。</a:t>
            </a:r>
            <a:endParaRPr lang="zh-CN" altLang="en-US" sz="1000" b="1" dirty="0">
              <a:solidFill>
                <a:srgbClr val="FFFF00"/>
              </a:solidFill>
              <a:latin typeface="+mn-ea"/>
              <a:cs typeface="+mn-ea"/>
            </a:endParaRPr>
          </a:p>
          <a:p>
            <a:pPr eaLnBrk="1" hangingPunct="1">
              <a:lnSpc>
                <a:spcPct val="145000"/>
              </a:lnSpc>
              <a:defRPr/>
            </a:pPr>
            <a:r>
              <a:rPr lang="zh-CN" altLang="en-US" sz="1000" b="1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补充: </a:t>
            </a:r>
            <a:r>
              <a:rPr lang="zh-CN" altLang="en-US" sz="1000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例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如，在</a:t>
            </a: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ATM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系统中把“事务”分解成上述两类之后，需要补充“柜员输入柜员事务”、“柜员事务输进柜员终端”、“在</a:t>
            </a: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ATM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上输入远程事务”和“远程事务由现金兑换卡授权”等关联。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eaLnBrk="1" hangingPunct="1">
              <a:lnSpc>
                <a:spcPct val="125000"/>
              </a:lnSpc>
              <a:defRPr/>
            </a:pP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26" name="文本框 3"/>
          <p:cNvSpPr txBox="1">
            <a:spLocks noChangeArrowheads="1"/>
          </p:cNvSpPr>
          <p:nvPr/>
        </p:nvSpPr>
        <p:spPr bwMode="auto">
          <a:xfrm>
            <a:off x="6240145" y="3780155"/>
            <a:ext cx="2002790" cy="621665"/>
          </a:xfrm>
          <a:prstGeom prst="rect">
            <a:avLst/>
          </a:prstGeom>
          <a:solidFill>
            <a:srgbClr val="55D5FF"/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p>
            <a:pPr algn="l" eaLnBrk="1" hangingPunct="1">
              <a:lnSpc>
                <a:spcPct val="165000"/>
              </a:lnSpc>
              <a:buClrTx/>
              <a:buSzTx/>
              <a:buFont typeface="+mj-ea"/>
              <a:defRPr/>
            </a:pPr>
            <a:r>
              <a:rPr lang="zh-CN" altLang="en-US" sz="1000" dirty="0" smtClean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表明重数</a:t>
            </a:r>
            <a:endParaRPr lang="zh-CN" altLang="en-US" sz="1000" dirty="0" smtClean="0">
              <a:solidFill>
                <a:srgbClr val="0000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27" name="文本框 1"/>
          <p:cNvSpPr txBox="1">
            <a:spLocks noChangeArrowheads="1"/>
          </p:cNvSpPr>
          <p:nvPr/>
        </p:nvSpPr>
        <p:spPr bwMode="auto">
          <a:xfrm>
            <a:off x="8242935" y="3779520"/>
            <a:ext cx="3749675" cy="62230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p>
            <a:pPr algn="l" eaLnBrk="1" hangingPunct="1">
              <a:lnSpc>
                <a:spcPct val="145000"/>
              </a:lnSpc>
              <a:buClrTx/>
              <a:buSzTx/>
              <a:buFontTx/>
              <a:defRPr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 应该初步判定各个关联的类型，并粗略地确定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关联的重数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，在分析过程中随着认识的逐渐深入，重数也会经常改动。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108547" name="图片 2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469380" y="3414395"/>
            <a:ext cx="5261610" cy="334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294640" y="5439410"/>
            <a:ext cx="902970" cy="59817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50190" y="5819775"/>
            <a:ext cx="1082675" cy="7785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6017895" y="0"/>
            <a:ext cx="0" cy="6866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0" y="-635"/>
            <a:ext cx="5956300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建立对象模型</a:t>
            </a:r>
            <a:endParaRPr lang="zh-CN" altLang="en-US" b="1">
              <a:solidFill>
                <a:schemeClr val="bg2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6017260" y="-10160"/>
            <a:ext cx="6174740" cy="1379220"/>
            <a:chOff x="9476" y="-16"/>
            <a:chExt cx="9724" cy="2172"/>
          </a:xfrm>
        </p:grpSpPr>
        <p:sp>
          <p:nvSpPr>
            <p:cNvPr id="31" name="文本框 30"/>
            <p:cNvSpPr txBox="1"/>
            <p:nvPr/>
          </p:nvSpPr>
          <p:spPr>
            <a:xfrm>
              <a:off x="17001" y="690"/>
              <a:ext cx="1969" cy="1466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476" y="-16"/>
              <a:ext cx="9724" cy="71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 anchorCtr="0">
              <a:noAutofit/>
            </a:bodyPr>
            <a:p>
              <a:pPr marL="0" algn="l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bg2"/>
                  </a:solidFill>
                </a:rPr>
                <a:t> </a:t>
              </a:r>
              <a:r>
                <a:rPr lang="zh-CN" altLang="en-US" b="1">
                  <a:solidFill>
                    <a:schemeClr val="bg2"/>
                  </a:solidFill>
                  <a:sym typeface="+mn-ea"/>
                </a:rPr>
                <a:t>建立对象模型</a:t>
              </a:r>
              <a:endParaRPr lang="zh-CN" altLang="en-US" b="1">
                <a:solidFill>
                  <a:schemeClr val="bg2"/>
                </a:solidFill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192405" y="600075"/>
            <a:ext cx="5584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lt"/>
              <a:buAutoNum type="arabicPeriod" startAt="3"/>
            </a:pPr>
            <a:r>
              <a:rPr lang="zh-CN" altLang="en-US" sz="1400" b="1" dirty="0" smtClean="0">
                <a:solidFill>
                  <a:srgbClr val="FF0000"/>
                </a:solidFill>
                <a:highlight>
                  <a:srgbClr val="FFFF00"/>
                </a:highlight>
                <a:latin typeface="+mn-ea"/>
                <a:cs typeface="+mn-ea"/>
                <a:sym typeface="+mn-ea"/>
              </a:rPr>
              <a:t>划分主题</a:t>
            </a:r>
            <a:endParaRPr lang="zh-CN" altLang="en-US" sz="1400" b="1" dirty="0" smtClean="0">
              <a:solidFill>
                <a:srgbClr val="FF0000"/>
              </a:solidFill>
              <a:highlight>
                <a:srgbClr val="FFFF00"/>
              </a:highlight>
              <a:latin typeface="+mn-ea"/>
              <a:cs typeface="+mn-ea"/>
              <a:sym typeface="+mn-ea"/>
            </a:endParaRPr>
          </a:p>
        </p:txBody>
      </p:sp>
      <p:sp>
        <p:nvSpPr>
          <p:cNvPr id="110596" name="文本框 2"/>
          <p:cNvSpPr txBox="1">
            <a:spLocks noChangeArrowheads="1"/>
          </p:cNvSpPr>
          <p:nvPr/>
        </p:nvSpPr>
        <p:spPr bwMode="auto">
          <a:xfrm>
            <a:off x="229235" y="906780"/>
            <a:ext cx="5669915" cy="1264285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noAutofit/>
          </a:bodyPr>
          <a:p>
            <a:pPr algn="l" eaLnBrk="1" hangingPunct="1">
              <a:lnSpc>
                <a:spcPct val="155000"/>
              </a:lnSpc>
              <a:buClrTx/>
              <a:buSzTx/>
              <a:buFontTx/>
            </a:pPr>
            <a:r>
              <a:rPr lang="zh-CN" altLang="en-US" sz="1200" dirty="0">
                <a:latin typeface="Bodoni MT Black" panose="02070A03080606020203" pitchFamily="18" charset="0"/>
              </a:rPr>
              <a:t>在开发大型、复杂系统的过程中，为了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降低复杂程度</a:t>
            </a:r>
            <a:r>
              <a:rPr lang="zh-CN" altLang="en-US" sz="1200" dirty="0">
                <a:latin typeface="Bodoni MT Black" panose="02070A03080606020203" pitchFamily="18" charset="0"/>
              </a:rPr>
              <a:t>，人们习惯于把系统再进一步划分成几个不同的主题，也就是在概念上把系统包含的内容分解成若干个范畴。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应该按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问题领域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而不是用</a:t>
            </a:r>
            <a:r>
              <a:rPr lang="zh-CN" altLang="en-US" sz="1200" b="1" dirty="0">
                <a:solidFill>
                  <a:srgbClr val="00B050"/>
                </a:solidFill>
                <a:latin typeface="Bodoni MT Black" panose="02070A03080606020203" pitchFamily="18" charset="0"/>
                <a:sym typeface="+mn-ea"/>
              </a:rPr>
              <a:t>功能分解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方法来确定主题。此外，应该按照使不同主题内的对象相互间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依赖和交互最少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的原则来确定主题。</a:t>
            </a:r>
            <a:endParaRPr lang="zh-CN" altLang="en-US" sz="1200" dirty="0">
              <a:latin typeface="Bodoni MT Black" panose="02070A03080606020203" pitchFamily="18" charset="0"/>
            </a:endParaRPr>
          </a:p>
          <a:p>
            <a:pPr algn="l" eaLnBrk="1" hangingPunct="1">
              <a:lnSpc>
                <a:spcPct val="155000"/>
              </a:lnSpc>
              <a:buClrTx/>
              <a:buSzTx/>
              <a:buFontTx/>
            </a:pPr>
            <a:endParaRPr lang="zh-CN" altLang="en-US" sz="1200" dirty="0">
              <a:latin typeface="Bodoni MT Black" panose="02070A03080606020203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2260" y="2171065"/>
            <a:ext cx="5596890" cy="109664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noAutofit/>
          </a:bodyPr>
          <a:p>
            <a:pPr indent="0" eaLnBrk="1" hangingPunct="1">
              <a:lnSpc>
                <a:spcPct val="155000"/>
              </a:lnSpc>
              <a:buNone/>
              <a:defRPr/>
            </a:pP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以</a:t>
            </a: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</a:rPr>
              <a:t>ATM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系统为例，可以把它划分</a:t>
            </a:r>
            <a:r>
              <a:rPr lang="zh-CN" altLang="en-US" sz="1000" dirty="0" smtClean="0">
                <a:solidFill>
                  <a:schemeClr val="bg1"/>
                </a:solidFill>
                <a:latin typeface="+mn-ea"/>
                <a:cs typeface="+mn-ea"/>
              </a:rPr>
              <a:t>成</a:t>
            </a: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</a:rPr>
              <a:t>3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个主题：</a:t>
            </a:r>
            <a:endParaRPr lang="en-US" altLang="zh-CN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indent="0" eaLnBrk="1" hangingPunct="1">
              <a:lnSpc>
                <a:spcPct val="155000"/>
              </a:lnSpc>
              <a:buNone/>
              <a:defRPr/>
            </a:pP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</a:rPr>
              <a:t>总行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（包含总行和中央计算机这两个类）</a:t>
            </a:r>
            <a:endParaRPr lang="en-US" altLang="zh-CN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indent="0" eaLnBrk="1" hangingPunct="1">
              <a:lnSpc>
                <a:spcPct val="155000"/>
              </a:lnSpc>
              <a:buNone/>
              <a:defRPr/>
            </a:pP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</a:rPr>
              <a:t>分行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（包含分行、分行计算机、柜员终端、柜员事务、柜员和账户等类）</a:t>
            </a:r>
            <a:endParaRPr lang="en-US" altLang="zh-CN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indent="0" eaLnBrk="1" hangingPunct="1">
              <a:lnSpc>
                <a:spcPct val="155000"/>
              </a:lnSpc>
              <a:buNone/>
              <a:defRPr/>
            </a:pP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</a:rPr>
              <a:t>ATM（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包含</a:t>
            </a:r>
            <a:r>
              <a:rPr lang="en-US" altLang="zh-CN" sz="1000" dirty="0">
                <a:solidFill>
                  <a:schemeClr val="bg1"/>
                </a:solidFill>
                <a:latin typeface="+mn-ea"/>
                <a:cs typeface="+mn-ea"/>
              </a:rPr>
              <a:t>ATM</a:t>
            </a:r>
            <a:r>
              <a:rPr lang="zh-CN" altLang="en-US" sz="1000" dirty="0">
                <a:solidFill>
                  <a:schemeClr val="bg1"/>
                </a:solidFill>
                <a:latin typeface="+mn-ea"/>
                <a:cs typeface="+mn-ea"/>
              </a:rPr>
              <a:t>、远程事务、现金兑换卡和储户等类</a:t>
            </a:r>
            <a:r>
              <a:rPr lang="zh-CN" altLang="en-US" sz="1000" dirty="0" smtClean="0">
                <a:solidFill>
                  <a:schemeClr val="bg1"/>
                </a:solidFill>
                <a:latin typeface="+mn-ea"/>
                <a:cs typeface="+mn-ea"/>
              </a:rPr>
              <a:t>）</a:t>
            </a:r>
            <a:endParaRPr lang="en-US" altLang="zh-CN" sz="1000" dirty="0">
              <a:solidFill>
                <a:schemeClr val="bg1"/>
              </a:solidFill>
              <a:latin typeface="+mn-ea"/>
              <a:cs typeface="+mn-ea"/>
            </a:endParaRPr>
          </a:p>
          <a:p>
            <a:pPr indent="0" eaLnBrk="1" hangingPunct="1">
              <a:lnSpc>
                <a:spcPct val="125000"/>
              </a:lnSpc>
              <a:buNone/>
              <a:defRPr/>
            </a:pPr>
            <a:endParaRPr lang="en-US" altLang="zh-CN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9235" y="3350260"/>
            <a:ext cx="5584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lt"/>
              <a:buAutoNum type="arabicPeriod" startAt="4"/>
            </a:pPr>
            <a:r>
              <a:rPr lang="zh-CN" altLang="en-US" sz="1400" b="1" dirty="0" smtClean="0">
                <a:solidFill>
                  <a:srgbClr val="FF0000"/>
                </a:solidFill>
                <a:highlight>
                  <a:srgbClr val="FFFF00"/>
                </a:highlight>
                <a:latin typeface="+mn-ea"/>
                <a:cs typeface="+mn-ea"/>
                <a:sym typeface="+mn-ea"/>
              </a:rPr>
              <a:t>确定属性</a:t>
            </a:r>
            <a:endParaRPr lang="zh-CN" altLang="en-US" sz="1400" b="1" dirty="0" smtClean="0">
              <a:solidFill>
                <a:srgbClr val="FF0000"/>
              </a:solidFill>
              <a:highlight>
                <a:srgbClr val="FFFF00"/>
              </a:highlight>
              <a:latin typeface="+mn-ea"/>
              <a:cs typeface="+mn-ea"/>
              <a:sym typeface="+mn-ea"/>
            </a:endParaRPr>
          </a:p>
        </p:txBody>
      </p:sp>
      <p:sp>
        <p:nvSpPr>
          <p:cNvPr id="12" name="文本框 2"/>
          <p:cNvSpPr txBox="1">
            <a:spLocks noChangeArrowheads="1"/>
          </p:cNvSpPr>
          <p:nvPr/>
        </p:nvSpPr>
        <p:spPr bwMode="auto">
          <a:xfrm>
            <a:off x="266065" y="3656965"/>
            <a:ext cx="5669915" cy="425450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noAutofit/>
          </a:bodyPr>
          <a:p>
            <a:pPr algn="l" eaLnBrk="1" hangingPunct="1">
              <a:lnSpc>
                <a:spcPct val="155000"/>
              </a:lnSpc>
              <a:buClrTx/>
              <a:buSzTx/>
              <a:buFontTx/>
            </a:pP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一般说来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，确定属性的过程包括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分析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和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选择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两个步骤</a:t>
            </a: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。</a:t>
            </a:r>
            <a:endParaRPr lang="en-US" altLang="zh-CN" sz="1200" dirty="0">
              <a:latin typeface="Bodoni MT Black" panose="02070A03080606020203" pitchFamily="18" charset="0"/>
            </a:endParaRPr>
          </a:p>
          <a:p>
            <a:pPr algn="l" eaLnBrk="1" hangingPunct="1">
              <a:lnSpc>
                <a:spcPct val="155000"/>
              </a:lnSpc>
              <a:buClrTx/>
              <a:buSzTx/>
              <a:buFontTx/>
            </a:pPr>
            <a:endParaRPr lang="zh-CN" altLang="en-US" sz="1200" b="1" dirty="0">
              <a:solidFill>
                <a:srgbClr val="FF00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116739" name="文本框 2"/>
          <p:cNvSpPr txBox="1">
            <a:spLocks noChangeArrowheads="1"/>
          </p:cNvSpPr>
          <p:nvPr/>
        </p:nvSpPr>
        <p:spPr bwMode="auto">
          <a:xfrm>
            <a:off x="116205" y="4058920"/>
            <a:ext cx="5792470" cy="2539365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noAutofit/>
          </a:bodyPr>
          <a:p>
            <a:pPr marL="228600" indent="-228600" eaLnBrk="1" hangingPunct="1">
              <a:lnSpc>
                <a:spcPct val="135000"/>
              </a:lnSpc>
              <a:buFont typeface="+mj-ea"/>
              <a:buAutoNum type="circleNumDbPlain"/>
            </a:pPr>
            <a:r>
              <a:rPr lang="zh-CN" altLang="en-US" sz="1200" b="1" dirty="0" smtClean="0">
                <a:solidFill>
                  <a:srgbClr val="FF0000"/>
                </a:solidFill>
                <a:latin typeface="Bodoni MT Black" panose="02070A03080606020203" pitchFamily="18" charset="0"/>
              </a:rPr>
              <a:t>分析：</a:t>
            </a:r>
            <a:r>
              <a:rPr lang="zh-CN" altLang="en-US" sz="1200" dirty="0" smtClean="0">
                <a:latin typeface="Bodoni MT Black" panose="02070A03080606020203" pitchFamily="18" charset="0"/>
              </a:rPr>
              <a:t>通常</a:t>
            </a:r>
            <a:r>
              <a:rPr lang="zh-CN" altLang="en-US" sz="1200" dirty="0">
                <a:latin typeface="Bodoni MT Black" panose="02070A03080606020203" pitchFamily="18" charset="0"/>
              </a:rPr>
              <a:t>需求陈述中用</a:t>
            </a:r>
            <a:r>
              <a:rPr lang="zh-CN" altLang="en-US" sz="1200" b="1" dirty="0">
                <a:solidFill>
                  <a:srgbClr val="00B0F0"/>
                </a:solidFill>
                <a:latin typeface="Bodoni MT Black" panose="02070A03080606020203" pitchFamily="18" charset="0"/>
              </a:rPr>
              <a:t>名词词组</a:t>
            </a:r>
            <a:r>
              <a:rPr lang="zh-CN" altLang="en-US" sz="1200" dirty="0">
                <a:latin typeface="Bodoni MT Black" panose="02070A03080606020203" pitchFamily="18" charset="0"/>
              </a:rPr>
              <a:t>表示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属性</a:t>
            </a:r>
            <a:r>
              <a:rPr lang="zh-CN" altLang="en-US" sz="1200" dirty="0">
                <a:latin typeface="Bodoni MT Black" panose="02070A03080606020203" pitchFamily="18" charset="0"/>
              </a:rPr>
              <a:t>，例如，“汽车的颜色”或“光标的位置”</a:t>
            </a:r>
            <a:r>
              <a:rPr lang="zh-CN" altLang="en-US" sz="1200" dirty="0" smtClean="0">
                <a:latin typeface="Bodoni MT Black" panose="02070A03080606020203" pitchFamily="18" charset="0"/>
              </a:rPr>
              <a:t>。往往</a:t>
            </a:r>
            <a:r>
              <a:rPr lang="zh-CN" altLang="en-US" sz="1200" dirty="0">
                <a:latin typeface="Bodoni MT Black" panose="02070A03080606020203" pitchFamily="18" charset="0"/>
              </a:rPr>
              <a:t>用</a:t>
            </a:r>
            <a:r>
              <a:rPr lang="zh-CN" altLang="en-US" sz="1200" b="1" dirty="0">
                <a:solidFill>
                  <a:srgbClr val="00B0F0"/>
                </a:solidFill>
                <a:latin typeface="Bodoni MT Black" panose="02070A03080606020203" pitchFamily="18" charset="0"/>
              </a:rPr>
              <a:t>形容词</a:t>
            </a:r>
            <a:r>
              <a:rPr lang="zh-CN" altLang="en-US" sz="1200" dirty="0">
                <a:latin typeface="Bodoni MT Black" panose="02070A03080606020203" pitchFamily="18" charset="0"/>
              </a:rPr>
              <a:t>表示可枚举的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具体属性</a:t>
            </a:r>
            <a:r>
              <a:rPr lang="zh-CN" altLang="en-US" sz="1200" dirty="0">
                <a:latin typeface="Bodoni MT Black" panose="02070A03080606020203" pitchFamily="18" charset="0"/>
              </a:rPr>
              <a:t>，例如，“红色的”、“打开的”。</a:t>
            </a:r>
            <a:endParaRPr lang="zh-CN" altLang="en-US" sz="1200" dirty="0">
              <a:latin typeface="Bodoni MT Black" panose="02070A03080606020203" pitchFamily="18" charset="0"/>
            </a:endParaRPr>
          </a:p>
          <a:p>
            <a:pPr marL="228600" indent="-228600" eaLnBrk="1" hangingPunct="1">
              <a:lnSpc>
                <a:spcPct val="135000"/>
              </a:lnSpc>
              <a:buFont typeface="+mj-ea"/>
              <a:buAutoNum type="circleNumDbPlain"/>
            </a:pPr>
            <a:r>
              <a:rPr lang="zh-CN" altLang="en-US" sz="1200" b="1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选择：</a:t>
            </a: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认真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考察经初步分析而确定下来的那些属性，从中删掉不正确的或不必要的属性。通常有以下几种常见</a:t>
            </a: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情况：</a:t>
            </a:r>
            <a:endParaRPr lang="zh-CN" altLang="en-US" sz="1200" dirty="0" smtClean="0">
              <a:latin typeface="Bodoni MT Black" panose="02070A03080606020203" pitchFamily="18" charset="0"/>
              <a:sym typeface="+mn-ea"/>
            </a:endParaRPr>
          </a:p>
          <a:p>
            <a:pPr marL="628650" lvl="1" indent="-171450" eaLnBrk="1" hangingPunct="1">
              <a:lnSpc>
                <a:spcPct val="155000"/>
              </a:lnSpc>
              <a:buFont typeface="Arial" panose="020B0604020202020204" pitchFamily="34" charset="0"/>
              <a:buChar char="•"/>
            </a:pPr>
            <a:r>
              <a:rPr lang="zh-CN" altLang="en-US" sz="1000" dirty="0" smtClean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误</a:t>
            </a:r>
            <a:r>
              <a:rPr lang="zh-CN" altLang="en-US" sz="1000" dirty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把对象当作属性</a:t>
            </a:r>
            <a:endParaRPr lang="zh-CN" altLang="en-US" sz="1000" dirty="0">
              <a:solidFill>
                <a:schemeClr val="tx1"/>
              </a:solidFill>
              <a:latin typeface="Bodoni MT Black" panose="02070A03080606020203" pitchFamily="18" charset="0"/>
              <a:sym typeface="+mn-ea"/>
            </a:endParaRPr>
          </a:p>
          <a:p>
            <a:pPr marL="628650" lvl="1" indent="-171450" eaLnBrk="1" hangingPunct="1">
              <a:lnSpc>
                <a:spcPct val="155000"/>
              </a:lnSpc>
              <a:buFont typeface="Arial" panose="020B0604020202020204" pitchFamily="34" charset="0"/>
              <a:buChar char="•"/>
            </a:pPr>
            <a:r>
              <a:rPr lang="zh-CN" altLang="en-US" sz="1000" dirty="0" smtClean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误</a:t>
            </a:r>
            <a:r>
              <a:rPr lang="zh-CN" altLang="en-US" sz="1000" dirty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把关联类的属性当作一般对象的属性</a:t>
            </a:r>
            <a:endParaRPr lang="zh-CN" altLang="en-US" sz="1000" dirty="0">
              <a:solidFill>
                <a:schemeClr val="tx1"/>
              </a:solidFill>
              <a:latin typeface="Bodoni MT Black" panose="02070A03080606020203" pitchFamily="18" charset="0"/>
              <a:sym typeface="+mn-ea"/>
            </a:endParaRPr>
          </a:p>
          <a:p>
            <a:pPr marL="628650" lvl="1" indent="-171450" eaLnBrk="1" hangingPunct="1">
              <a:lnSpc>
                <a:spcPct val="155000"/>
              </a:lnSpc>
              <a:buFont typeface="Arial" panose="020B0604020202020204" pitchFamily="34" charset="0"/>
              <a:buChar char="•"/>
            </a:pPr>
            <a:r>
              <a:rPr lang="zh-CN" altLang="en-US" sz="1000" dirty="0" smtClean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把</a:t>
            </a:r>
            <a:r>
              <a:rPr lang="zh-CN" altLang="en-US" sz="1000" dirty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限定误当成属性</a:t>
            </a:r>
            <a:endParaRPr lang="zh-CN" altLang="en-US" sz="1000" dirty="0">
              <a:solidFill>
                <a:schemeClr val="tx1"/>
              </a:solidFill>
              <a:latin typeface="Bodoni MT Black" panose="02070A03080606020203" pitchFamily="18" charset="0"/>
              <a:sym typeface="+mn-ea"/>
            </a:endParaRPr>
          </a:p>
          <a:p>
            <a:pPr marL="628650" lvl="1" indent="-171450" eaLnBrk="1" hangingPunct="1">
              <a:lnSpc>
                <a:spcPct val="155000"/>
              </a:lnSpc>
              <a:buFont typeface="Arial" panose="020B0604020202020204" pitchFamily="34" charset="0"/>
              <a:buChar char="•"/>
            </a:pPr>
            <a:r>
              <a:rPr lang="zh-CN" altLang="en-US" sz="1000" dirty="0" smtClean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误</a:t>
            </a:r>
            <a:r>
              <a:rPr lang="zh-CN" altLang="en-US" sz="1000" dirty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把内部状态当成了属性</a:t>
            </a:r>
            <a:endParaRPr lang="zh-CN" altLang="en-US" sz="1000" dirty="0">
              <a:solidFill>
                <a:schemeClr val="tx1"/>
              </a:solidFill>
              <a:latin typeface="Bodoni MT Black" panose="02070A03080606020203" pitchFamily="18" charset="0"/>
              <a:sym typeface="+mn-ea"/>
            </a:endParaRPr>
          </a:p>
          <a:p>
            <a:pPr marL="628650" lvl="1" indent="-171450" eaLnBrk="1" hangingPunct="1">
              <a:lnSpc>
                <a:spcPct val="155000"/>
              </a:lnSpc>
              <a:buFont typeface="Arial" panose="020B0604020202020204" pitchFamily="34" charset="0"/>
              <a:buChar char="•"/>
            </a:pPr>
            <a:r>
              <a:rPr lang="zh-CN" altLang="en-US" sz="1000" dirty="0" smtClean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过于</a:t>
            </a:r>
            <a:r>
              <a:rPr lang="zh-CN" altLang="en-US" sz="1000" dirty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细化</a:t>
            </a:r>
            <a:endParaRPr lang="zh-CN" altLang="en-US" sz="1000" dirty="0">
              <a:solidFill>
                <a:schemeClr val="tx1"/>
              </a:solidFill>
              <a:latin typeface="Bodoni MT Black" panose="02070A03080606020203" pitchFamily="18" charset="0"/>
              <a:sym typeface="+mn-ea"/>
            </a:endParaRPr>
          </a:p>
          <a:p>
            <a:pPr marL="628650" lvl="1" indent="-171450" eaLnBrk="1" hangingPunct="1">
              <a:lnSpc>
                <a:spcPct val="155000"/>
              </a:lnSpc>
              <a:buFont typeface="Arial" panose="020B0604020202020204" pitchFamily="34" charset="0"/>
              <a:buChar char="•"/>
            </a:pPr>
            <a:r>
              <a:rPr lang="zh-CN" altLang="en-US" sz="1000" dirty="0" smtClean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存在</a:t>
            </a:r>
            <a:r>
              <a:rPr lang="zh-CN" altLang="en-US" sz="1000" dirty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不一致的属性</a:t>
            </a:r>
            <a:endParaRPr lang="zh-CN" altLang="en-US" sz="1000" dirty="0">
              <a:solidFill>
                <a:schemeClr val="tx1"/>
              </a:solidFill>
              <a:latin typeface="Bodoni MT Black" panose="02070A03080606020203" pitchFamily="18" charset="0"/>
              <a:sym typeface="+mn-ea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6485890" y="450850"/>
            <a:ext cx="5167630" cy="5527040"/>
            <a:chOff x="10339" y="1268"/>
            <a:chExt cx="8138" cy="8704"/>
          </a:xfrm>
        </p:grpSpPr>
        <p:pic>
          <p:nvPicPr>
            <p:cNvPr id="23" name="图片 3"/>
            <p:cNvPicPr>
              <a:picLocks noChangeAspect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10339" y="1268"/>
              <a:ext cx="8138" cy="87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" name="椭圆 23"/>
            <p:cNvSpPr/>
            <p:nvPr/>
          </p:nvSpPr>
          <p:spPr>
            <a:xfrm>
              <a:off x="15539" y="2185"/>
              <a:ext cx="1125" cy="1013"/>
            </a:xfrm>
            <a:prstGeom prst="ellips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17227" y="2185"/>
              <a:ext cx="1125" cy="1013"/>
            </a:xfrm>
            <a:prstGeom prst="ellips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639" y="6910"/>
              <a:ext cx="1125" cy="1013"/>
            </a:xfrm>
            <a:prstGeom prst="ellips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10364" y="8935"/>
              <a:ext cx="1125" cy="1013"/>
            </a:xfrm>
            <a:prstGeom prst="ellips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11181" y="1822"/>
              <a:ext cx="864" cy="1393"/>
            </a:xfrm>
            <a:prstGeom prst="ellipse">
              <a:avLst/>
            </a:prstGeom>
            <a:noFill/>
            <a:ln w="19050">
              <a:solidFill>
                <a:srgbClr val="00B0F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11181" y="4163"/>
              <a:ext cx="864" cy="1393"/>
            </a:xfrm>
            <a:prstGeom prst="ellipse">
              <a:avLst/>
            </a:prstGeom>
            <a:noFill/>
            <a:ln w="19050">
              <a:solidFill>
                <a:srgbClr val="00B0F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10665" y="5341"/>
              <a:ext cx="683" cy="65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2857" y="5341"/>
              <a:ext cx="683" cy="65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3219" y="3027"/>
              <a:ext cx="683" cy="65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3860" y="1822"/>
              <a:ext cx="683" cy="655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60" y="2543"/>
              <a:ext cx="683" cy="655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3039" y="1428"/>
              <a:ext cx="863" cy="655"/>
            </a:xfrm>
            <a:prstGeom prst="ellipse">
              <a:avLst/>
            </a:prstGeom>
            <a:noFill/>
            <a:ln w="19050">
              <a:solidFill>
                <a:schemeClr val="accent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4" name="文本框 2"/>
          <p:cNvSpPr txBox="1">
            <a:spLocks noChangeArrowheads="1"/>
          </p:cNvSpPr>
          <p:nvPr/>
        </p:nvSpPr>
        <p:spPr bwMode="auto">
          <a:xfrm>
            <a:off x="6099810" y="5988050"/>
            <a:ext cx="6042025" cy="855345"/>
          </a:xfrm>
          <a:prstGeom prst="rect">
            <a:avLst/>
          </a:prstGeom>
          <a:noFill/>
          <a:ln w="1587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50000"/>
                  </a:schemeClr>
                </a:solidFill>
              </a14:hiddenFill>
            </a:ext>
          </a:extLst>
        </p:spPr>
        <p:txBody>
          <a:bodyPr wrap="square">
            <a:noAutofit/>
          </a:bodyPr>
          <a:p>
            <a:pPr algn="l" eaLnBrk="1" hangingPunct="1">
              <a:lnSpc>
                <a:spcPct val="125000"/>
              </a:lnSpc>
              <a:buClrTx/>
              <a:buSzTx/>
              <a:buFontTx/>
            </a:pPr>
            <a:r>
              <a:rPr lang="zh-CN" altLang="en-US" sz="800" b="1" dirty="0">
                <a:solidFill>
                  <a:schemeClr val="accent6"/>
                </a:solidFill>
                <a:latin typeface="+mn-ea"/>
                <a:cs typeface="+mn-ea"/>
                <a:sym typeface="+mn-ea"/>
              </a:rPr>
              <a:t>“卡号”“分行发放现金兑换卡”这个关联的限定词</a:t>
            </a:r>
            <a:endParaRPr lang="zh-CN" altLang="en-US" sz="800" b="1" dirty="0">
              <a:solidFill>
                <a:schemeClr val="accent6"/>
              </a:solidFill>
              <a:latin typeface="+mn-ea"/>
              <a:cs typeface="+mn-ea"/>
              <a:sym typeface="+mn-ea"/>
            </a:endParaRPr>
          </a:p>
          <a:p>
            <a:pPr algn="l" eaLnBrk="1" hangingPunct="1">
              <a:lnSpc>
                <a:spcPct val="125000"/>
              </a:lnSpc>
              <a:buClrTx/>
              <a:buSzTx/>
              <a:buFontTx/>
            </a:pPr>
            <a:r>
              <a:rPr lang="zh-CN" altLang="en-US" sz="800" b="1" dirty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“分行代码”是关联“分行组成总行”上的限定词。</a:t>
            </a:r>
            <a:endParaRPr lang="zh-CN" altLang="en-US" sz="800" b="1" dirty="0">
              <a:solidFill>
                <a:srgbClr val="00B0F0"/>
              </a:solidFill>
              <a:latin typeface="+mn-ea"/>
              <a:cs typeface="+mn-ea"/>
              <a:sym typeface="+mn-ea"/>
            </a:endParaRPr>
          </a:p>
          <a:p>
            <a:pPr algn="l" eaLnBrk="1" hangingPunct="1">
              <a:lnSpc>
                <a:spcPct val="125000"/>
              </a:lnSpc>
              <a:buClrTx/>
              <a:buSzTx/>
              <a:buFontTx/>
            </a:pPr>
            <a:r>
              <a:rPr lang="zh-CN" altLang="en-US" sz="800" b="1" dirty="0">
                <a:solidFill>
                  <a:srgbClr val="FFC000"/>
                </a:solidFill>
                <a:latin typeface="+mn-ea"/>
                <a:cs typeface="+mn-ea"/>
                <a:sym typeface="+mn-ea"/>
              </a:rPr>
              <a:t>“账号”是关联“分行保管账户”上的限定词。</a:t>
            </a:r>
            <a:endParaRPr lang="zh-CN" altLang="en-US" sz="800" b="1" dirty="0">
              <a:solidFill>
                <a:srgbClr val="00B050"/>
              </a:solidFill>
              <a:latin typeface="+mn-ea"/>
              <a:cs typeface="+mn-ea"/>
              <a:sym typeface="+mn-ea"/>
            </a:endParaRPr>
          </a:p>
          <a:p>
            <a:pPr algn="l" eaLnBrk="1" hangingPunct="1">
              <a:lnSpc>
                <a:spcPct val="125000"/>
              </a:lnSpc>
              <a:buClrTx/>
              <a:buSzTx/>
              <a:buFontTx/>
            </a:pPr>
            <a:r>
              <a:rPr lang="zh-CN" altLang="en-US" sz="800" b="1" dirty="0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“雇员号”是“分行雇用柜员”上的限定词。</a:t>
            </a:r>
            <a:endParaRPr lang="zh-CN" altLang="en-US" sz="800" b="1" dirty="0">
              <a:solidFill>
                <a:srgbClr val="00B050"/>
              </a:solidFill>
              <a:latin typeface="+mn-ea"/>
              <a:cs typeface="+mn-ea"/>
              <a:sym typeface="+mn-ea"/>
            </a:endParaRPr>
          </a:p>
          <a:p>
            <a:pPr algn="l" eaLnBrk="1" hangingPunct="1">
              <a:lnSpc>
                <a:spcPct val="125000"/>
              </a:lnSpc>
              <a:buClrTx/>
              <a:buSzTx/>
              <a:buFontTx/>
            </a:pPr>
            <a:r>
              <a:rPr lang="zh-CN" altLang="en-US" sz="8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“站号”是“分行拥有柜员终端”、“柜员终端与分行计算机通信”及“中央计算机与</a:t>
            </a:r>
            <a:r>
              <a:rPr lang="en-US" altLang="zh-CN" sz="8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ATM</a:t>
            </a:r>
            <a:r>
              <a:rPr lang="zh-CN" altLang="en-US" sz="8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通信”</a:t>
            </a:r>
            <a:r>
              <a:rPr lang="en-US" altLang="zh-CN" sz="8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3</a:t>
            </a:r>
            <a:r>
              <a:rPr lang="zh-CN" altLang="en-US" sz="8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个关联上的限定词。</a:t>
            </a:r>
            <a:endParaRPr lang="zh-CN" altLang="en-US" sz="800" b="1" dirty="0">
              <a:solidFill>
                <a:srgbClr val="FF0000"/>
              </a:solidFill>
              <a:latin typeface="+mn-ea"/>
              <a:cs typeface="+mn-ea"/>
            </a:endParaRPr>
          </a:p>
          <a:p>
            <a:pPr algn="l" eaLnBrk="1" hangingPunct="1">
              <a:lnSpc>
                <a:spcPct val="125000"/>
              </a:lnSpc>
              <a:buClrTx/>
              <a:buSzTx/>
              <a:buFontTx/>
            </a:pPr>
            <a:endParaRPr lang="zh-CN" altLang="en-US" sz="800" b="1" dirty="0">
              <a:solidFill>
                <a:srgbClr val="FF0000"/>
              </a:solidFill>
              <a:latin typeface="+mn-ea"/>
              <a:cs typeface="+mn-ea"/>
            </a:endParaRPr>
          </a:p>
          <a:p>
            <a:pPr algn="l" eaLnBrk="1" hangingPunct="1">
              <a:lnSpc>
                <a:spcPct val="155000"/>
              </a:lnSpc>
              <a:buClrTx/>
              <a:buSzTx/>
              <a:buFontTx/>
            </a:pPr>
            <a:endParaRPr lang="zh-CN" altLang="en-US" sz="800" b="1" dirty="0">
              <a:solidFill>
                <a:srgbClr val="FF0000"/>
              </a:solidFill>
              <a:latin typeface="+mn-ea"/>
              <a:cs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294640" y="5439410"/>
            <a:ext cx="902970" cy="59817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50190" y="5819775"/>
            <a:ext cx="1082675" cy="7785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6017895" y="0"/>
            <a:ext cx="0" cy="6866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0" y="-635"/>
            <a:ext cx="5956300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建立对象模型</a:t>
            </a:r>
            <a:endParaRPr lang="zh-CN" altLang="en-US" b="1">
              <a:solidFill>
                <a:schemeClr val="bg2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6017260" y="-10160"/>
            <a:ext cx="6174740" cy="1379220"/>
            <a:chOff x="9476" y="-16"/>
            <a:chExt cx="9724" cy="2172"/>
          </a:xfrm>
        </p:grpSpPr>
        <p:sp>
          <p:nvSpPr>
            <p:cNvPr id="31" name="文本框 30"/>
            <p:cNvSpPr txBox="1"/>
            <p:nvPr/>
          </p:nvSpPr>
          <p:spPr>
            <a:xfrm>
              <a:off x="17001" y="690"/>
              <a:ext cx="1969" cy="1466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476" y="-16"/>
              <a:ext cx="9724" cy="71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 anchorCtr="0">
              <a:noAutofit/>
            </a:bodyPr>
            <a:p>
              <a:pPr marL="0" algn="l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bg2"/>
                  </a:solidFill>
                </a:rPr>
                <a:t> </a:t>
              </a:r>
              <a:r>
                <a:rPr lang="zh-CN" altLang="en-US" b="1">
                  <a:solidFill>
                    <a:schemeClr val="bg2"/>
                  </a:solidFill>
                  <a:sym typeface="+mn-ea"/>
                </a:rPr>
                <a:t>建立对象模型</a:t>
              </a:r>
              <a:endParaRPr lang="zh-CN" altLang="en-US" b="1">
                <a:solidFill>
                  <a:schemeClr val="bg2"/>
                </a:solidFill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192405" y="600075"/>
            <a:ext cx="5584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lt"/>
              <a:buAutoNum type="arabicPeriod" startAt="5"/>
            </a:pPr>
            <a:r>
              <a:rPr lang="zh-CN" altLang="en-US" sz="1400" b="1" dirty="0" smtClean="0">
                <a:solidFill>
                  <a:srgbClr val="FF0000"/>
                </a:solidFill>
                <a:highlight>
                  <a:srgbClr val="FFFF00"/>
                </a:highlight>
                <a:latin typeface="+mn-ea"/>
                <a:cs typeface="+mn-ea"/>
                <a:sym typeface="+mn-ea"/>
              </a:rPr>
              <a:t>识别继承关系</a:t>
            </a:r>
            <a:endParaRPr lang="zh-CN" altLang="en-US" sz="1400" b="1" dirty="0" smtClean="0">
              <a:solidFill>
                <a:srgbClr val="FF0000"/>
              </a:solidFill>
              <a:highlight>
                <a:srgbClr val="FFFF00"/>
              </a:highlight>
              <a:latin typeface="+mn-ea"/>
              <a:cs typeface="+mn-ea"/>
              <a:sym typeface="+mn-ea"/>
            </a:endParaRPr>
          </a:p>
        </p:txBody>
      </p:sp>
      <p:sp>
        <p:nvSpPr>
          <p:cNvPr id="110596" name="文本框 2"/>
          <p:cNvSpPr txBox="1">
            <a:spLocks noChangeArrowheads="1"/>
          </p:cNvSpPr>
          <p:nvPr/>
        </p:nvSpPr>
        <p:spPr bwMode="auto">
          <a:xfrm>
            <a:off x="229235" y="906780"/>
            <a:ext cx="5706745" cy="1264285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noAutofit/>
          </a:bodyPr>
          <a:p>
            <a:pPr algn="l" eaLnBrk="1" hangingPunct="1">
              <a:lnSpc>
                <a:spcPct val="155000"/>
              </a:lnSpc>
              <a:buClrTx/>
              <a:buSzTx/>
              <a:buFontTx/>
            </a:pPr>
            <a:r>
              <a:rPr lang="zh-CN" altLang="en-US" sz="1200" dirty="0" smtClean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确定</a:t>
            </a:r>
            <a:r>
              <a:rPr lang="zh-CN" altLang="en-US" sz="1200" dirty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了类中应该定义的属性之后，就可以利用</a:t>
            </a:r>
            <a:r>
              <a:rPr lang="zh-CN" altLang="en-US" sz="120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继承机制</a:t>
            </a:r>
            <a:r>
              <a:rPr lang="zh-CN" altLang="en-US" sz="1200" dirty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共享公共性质，并对系统中众多的类加以组织。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例如，在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ATM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系统中，“远程事务”和“柜员事务”是类似的，可以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自底向上地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泛化出父类“事务”；类似地，可以从“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ATM</a:t>
            </a:r>
            <a:r>
              <a:rPr lang="zh-CN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和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“柜员终端”泛化出父类“输入站”。</a:t>
            </a:r>
            <a:endParaRPr lang="zh-CN" altLang="en-US" sz="1200" dirty="0">
              <a:latin typeface="Bodoni MT Black" panose="02070A03080606020203" pitchFamily="18" charset="0"/>
              <a:sym typeface="+mn-ea"/>
            </a:endParaRPr>
          </a:p>
          <a:p>
            <a:pPr algn="l" eaLnBrk="1" hangingPunct="1">
              <a:lnSpc>
                <a:spcPct val="155000"/>
              </a:lnSpc>
              <a:buClrTx/>
              <a:buSzTx/>
              <a:buFontTx/>
            </a:pPr>
            <a:endParaRPr lang="zh-CN" altLang="en-US" sz="1200" dirty="0">
              <a:latin typeface="Bodoni MT Black" panose="02070A03080606020203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66090" y="678815"/>
            <a:ext cx="5144770" cy="6167755"/>
            <a:chOff x="686" y="4998"/>
            <a:chExt cx="7728" cy="9713"/>
          </a:xfrm>
        </p:grpSpPr>
        <p:pic>
          <p:nvPicPr>
            <p:cNvPr id="137218" name="图片 2"/>
            <p:cNvPicPr>
              <a:picLocks noChangeAspect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686" y="5167"/>
              <a:ext cx="7728" cy="9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" name="圆角矩形 2"/>
            <p:cNvSpPr/>
            <p:nvPr/>
          </p:nvSpPr>
          <p:spPr>
            <a:xfrm>
              <a:off x="1607" y="4998"/>
              <a:ext cx="1590" cy="1529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5910" y="4998"/>
              <a:ext cx="1590" cy="1529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6312535" y="600075"/>
            <a:ext cx="5584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lt"/>
              <a:buAutoNum type="arabicPeriod" startAt="6"/>
            </a:pPr>
            <a:r>
              <a:rPr lang="zh-CN" altLang="en-US" sz="1400" b="1" dirty="0" smtClean="0">
                <a:solidFill>
                  <a:srgbClr val="FF0000"/>
                </a:solidFill>
                <a:highlight>
                  <a:srgbClr val="FFFF00"/>
                </a:highlight>
                <a:latin typeface="+mn-ea"/>
                <a:cs typeface="+mn-ea"/>
                <a:sym typeface="+mn-ea"/>
              </a:rPr>
              <a:t>反复修改</a:t>
            </a:r>
            <a:endParaRPr lang="zh-CN" altLang="en-US" sz="1400" b="1" dirty="0" smtClean="0">
              <a:solidFill>
                <a:srgbClr val="FF0000"/>
              </a:solidFill>
              <a:highlight>
                <a:srgbClr val="FFFF00"/>
              </a:highlight>
              <a:latin typeface="+mn-ea"/>
              <a:cs typeface="+mn-ea"/>
              <a:sym typeface="+mn-ea"/>
            </a:endParaRPr>
          </a:p>
        </p:txBody>
      </p:sp>
      <p:sp>
        <p:nvSpPr>
          <p:cNvPr id="13" name="文本框 2"/>
          <p:cNvSpPr txBox="1">
            <a:spLocks noChangeArrowheads="1"/>
          </p:cNvSpPr>
          <p:nvPr/>
        </p:nvSpPr>
        <p:spPr bwMode="auto">
          <a:xfrm>
            <a:off x="6190615" y="906780"/>
            <a:ext cx="5706745" cy="387985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noAutofit/>
          </a:bodyPr>
          <a:p>
            <a:pPr marL="228600" indent="-228600" algn="l" eaLnBrk="1" hangingPunct="1">
              <a:lnSpc>
                <a:spcPct val="155000"/>
              </a:lnSpc>
              <a:buClrTx/>
              <a:buSzTx/>
              <a:buFont typeface="+mj-ea"/>
              <a:buAutoNum type="circleNumDbPlain"/>
            </a:pPr>
            <a:endParaRPr lang="zh-CN" altLang="en-US" sz="1200" dirty="0" smtClean="0">
              <a:latin typeface="Bodoni MT Black" panose="02070A03080606020203" pitchFamily="18" charset="0"/>
            </a:endParaRPr>
          </a:p>
          <a:p>
            <a:pPr algn="l" eaLnBrk="1" hangingPunct="1">
              <a:lnSpc>
                <a:spcPct val="155000"/>
              </a:lnSpc>
              <a:buClrTx/>
              <a:buSzTx/>
              <a:buFontTx/>
            </a:pPr>
            <a:endParaRPr lang="zh-CN" altLang="en-US" sz="1200" dirty="0">
              <a:latin typeface="Bodoni MT Black" panose="02070A03080606020203" pitchFamily="18" charset="0"/>
            </a:endParaRPr>
          </a:p>
        </p:txBody>
      </p:sp>
      <p:sp>
        <p:nvSpPr>
          <p:cNvPr id="141315" name="文本框 7"/>
          <p:cNvSpPr txBox="1">
            <a:spLocks noChangeArrowheads="1"/>
          </p:cNvSpPr>
          <p:nvPr/>
        </p:nvSpPr>
        <p:spPr bwMode="auto">
          <a:xfrm>
            <a:off x="6312535" y="1002665"/>
            <a:ext cx="5734050" cy="4846320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p>
            <a:pPr marL="228600" indent="-228600" eaLnBrk="1" hangingPunct="1">
              <a:lnSpc>
                <a:spcPct val="175000"/>
              </a:lnSpc>
              <a:buFont typeface="+mj-ea"/>
              <a:buAutoNum type="circleNumDbPlain"/>
            </a:pPr>
            <a:r>
              <a:rPr lang="zh-CN" altLang="en-US" sz="1200" b="1" dirty="0" smtClean="0">
                <a:latin typeface="Bodoni MT Black" panose="02070A03080606020203" pitchFamily="18" charset="0"/>
                <a:sym typeface="+mn-ea"/>
              </a:rPr>
              <a:t>分解“现金兑换卡”类</a:t>
            </a:r>
            <a:endParaRPr lang="zh-CN" altLang="en-US" sz="1200" b="1" dirty="0" smtClean="0">
              <a:latin typeface="Bodoni MT Black" panose="02070A03080606020203" pitchFamily="18" charset="0"/>
              <a:sym typeface="+mn-ea"/>
            </a:endParaRPr>
          </a:p>
          <a:p>
            <a:pPr eaLnBrk="1" hangingPunct="1">
              <a:lnSpc>
                <a:spcPct val="175000"/>
              </a:lnSpc>
            </a:pPr>
            <a:r>
              <a:rPr lang="zh-CN" altLang="en-US" sz="1200" dirty="0" smtClean="0">
                <a:solidFill>
                  <a:srgbClr val="FF0000"/>
                </a:solidFill>
                <a:latin typeface="+mn-ea"/>
                <a:cs typeface="+mn-ea"/>
              </a:rPr>
              <a:t>“现金兑换卡”</a:t>
            </a:r>
            <a:r>
              <a:rPr lang="zh-CN" altLang="en-US" sz="1200" dirty="0">
                <a:solidFill>
                  <a:srgbClr val="000000"/>
                </a:solidFill>
                <a:latin typeface="+mn-ea"/>
                <a:cs typeface="+mn-ea"/>
              </a:rPr>
              <a:t>有两个相对独立的功能，它既是鉴别储户使用</a:t>
            </a:r>
            <a:r>
              <a:rPr lang="en-US" altLang="zh-CN" sz="1200" dirty="0">
                <a:solidFill>
                  <a:srgbClr val="000000"/>
                </a:solidFill>
                <a:latin typeface="+mn-ea"/>
                <a:cs typeface="+mn-ea"/>
              </a:rPr>
              <a:t>ATM</a:t>
            </a:r>
            <a:r>
              <a:rPr lang="zh-CN" altLang="en-US" sz="1200" dirty="0">
                <a:solidFill>
                  <a:srgbClr val="000000"/>
                </a:solidFill>
                <a:latin typeface="+mn-ea"/>
                <a:cs typeface="+mn-ea"/>
              </a:rPr>
              <a:t>的权限的卡，又是</a:t>
            </a:r>
            <a:r>
              <a:rPr lang="en-US" altLang="zh-CN" sz="1200" dirty="0">
                <a:solidFill>
                  <a:srgbClr val="000000"/>
                </a:solidFill>
                <a:latin typeface="+mn-ea"/>
                <a:cs typeface="+mn-ea"/>
              </a:rPr>
              <a:t>ATM</a:t>
            </a:r>
            <a:r>
              <a:rPr lang="zh-CN" altLang="en-US" sz="1200" dirty="0">
                <a:solidFill>
                  <a:srgbClr val="000000"/>
                </a:solidFill>
                <a:latin typeface="+mn-ea"/>
                <a:cs typeface="+mn-ea"/>
              </a:rPr>
              <a:t>获得分行代码和卡号等数据的数据载体。因此，把“现金兑换卡”类分解为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cs typeface="+mn-ea"/>
              </a:rPr>
              <a:t>“卡权限”</a:t>
            </a:r>
            <a:r>
              <a:rPr lang="zh-CN" altLang="en-US" sz="1200" dirty="0">
                <a:solidFill>
                  <a:srgbClr val="000000"/>
                </a:solidFill>
                <a:latin typeface="+mn-ea"/>
                <a:cs typeface="+mn-ea"/>
              </a:rPr>
              <a:t>和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cs typeface="+mn-ea"/>
              </a:rPr>
              <a:t>“现金兑换卡”</a:t>
            </a:r>
            <a:r>
              <a:rPr lang="zh-CN" altLang="en-US" sz="1200" dirty="0">
                <a:solidFill>
                  <a:srgbClr val="000000"/>
                </a:solidFill>
                <a:latin typeface="+mn-ea"/>
                <a:cs typeface="+mn-ea"/>
              </a:rPr>
              <a:t>两个类，将使每个类的功能更单一：前一个类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cs typeface="+mn-ea"/>
              </a:rPr>
              <a:t>标志储户访问账户的权限</a:t>
            </a:r>
            <a:r>
              <a:rPr lang="zh-CN" altLang="en-US" sz="1200" dirty="0">
                <a:solidFill>
                  <a:srgbClr val="000000"/>
                </a:solidFill>
                <a:latin typeface="+mn-ea"/>
                <a:cs typeface="+mn-ea"/>
              </a:rPr>
              <a:t>，后一个类是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cs typeface="+mn-ea"/>
              </a:rPr>
              <a:t>含有分行代码和卡号的数据载体</a:t>
            </a:r>
            <a:r>
              <a:rPr lang="zh-CN" altLang="en-US" sz="1200" dirty="0">
                <a:solidFill>
                  <a:srgbClr val="000000"/>
                </a:solidFill>
                <a:latin typeface="+mn-ea"/>
                <a:cs typeface="+mn-ea"/>
              </a:rPr>
              <a:t>。多张现金兑换卡可能对应着相同的访问权限。</a:t>
            </a:r>
            <a:endParaRPr lang="zh-CN" altLang="en-US" sz="1200" dirty="0">
              <a:solidFill>
                <a:srgbClr val="000000"/>
              </a:solidFill>
              <a:latin typeface="+mn-ea"/>
              <a:cs typeface="+mn-ea"/>
            </a:endParaRPr>
          </a:p>
          <a:p>
            <a:pPr marL="228600" indent="-228600" algn="l" eaLnBrk="1" hangingPunct="1">
              <a:lnSpc>
                <a:spcPct val="175000"/>
              </a:lnSpc>
              <a:buClrTx/>
              <a:buSzTx/>
              <a:buFont typeface="+mj-ea"/>
              <a:buAutoNum type="circleNumDbPlain" startAt="2"/>
            </a:pPr>
            <a:r>
              <a:rPr lang="zh-CN" altLang="en-US" sz="1200" b="1" dirty="0" smtClean="0">
                <a:latin typeface="Bodoni MT Black" panose="02070A03080606020203" pitchFamily="18" charset="0"/>
                <a:sym typeface="+mn-ea"/>
              </a:rPr>
              <a:t>“事务”由“更新”组成</a:t>
            </a:r>
            <a:endParaRPr lang="zh-CN" altLang="en-US" sz="1200" b="1" dirty="0" smtClean="0">
              <a:latin typeface="Bodoni MT Black" panose="02070A03080606020203" pitchFamily="18" charset="0"/>
            </a:endParaRPr>
          </a:p>
          <a:p>
            <a:pPr eaLnBrk="1" hangingPunct="1">
              <a:lnSpc>
                <a:spcPct val="175000"/>
              </a:lnSpc>
            </a:pPr>
            <a:r>
              <a:rPr lang="zh-CN" altLang="en-US" sz="120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一</a:t>
            </a:r>
            <a:r>
              <a:rPr lang="zh-CN" altLang="en-US" sz="120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个事务包含对账户的若干次更新</a:t>
            </a:r>
            <a:r>
              <a:rPr lang="zh-CN" altLang="en-US" sz="1200" dirty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，这里所说的更新，指的是对账户所做的一个</a:t>
            </a:r>
            <a:r>
              <a:rPr lang="zh-CN" altLang="en-US" sz="1200" dirty="0" smtClean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动作（取款</a:t>
            </a:r>
            <a:r>
              <a:rPr lang="zh-CN" altLang="en-US" sz="1200" dirty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、存款或</a:t>
            </a:r>
            <a:r>
              <a:rPr lang="zh-CN" altLang="en-US" sz="1200" dirty="0" smtClean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查询）。</a:t>
            </a:r>
            <a:r>
              <a:rPr lang="zh-CN" altLang="en-US" sz="120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“更新”虽然代表一个动作，但是它有自己的</a:t>
            </a:r>
            <a:r>
              <a:rPr lang="zh-CN" altLang="en-US" sz="120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属性</a:t>
            </a:r>
            <a:r>
              <a:rPr lang="zh-CN" altLang="en-US" sz="1200" dirty="0" smtClean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（类型</a:t>
            </a:r>
            <a:r>
              <a:rPr lang="zh-CN" altLang="en-US" sz="1200" dirty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、金额</a:t>
            </a:r>
            <a:r>
              <a:rPr lang="zh-CN" altLang="en-US" sz="1200" dirty="0" smtClean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等），</a:t>
            </a:r>
            <a:r>
              <a:rPr lang="zh-CN" altLang="en-US" sz="1200" dirty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应该独立存在，因此应该把它</a:t>
            </a:r>
            <a:r>
              <a:rPr lang="zh-CN" altLang="en-US" sz="120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作为类</a:t>
            </a:r>
            <a:r>
              <a:rPr lang="zh-CN" altLang="en-US" sz="1200" dirty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。</a:t>
            </a:r>
            <a:endParaRPr lang="zh-CN" altLang="en-US" sz="1200" dirty="0">
              <a:solidFill>
                <a:srgbClr val="000000"/>
              </a:solidFill>
              <a:latin typeface="Bodoni MT Black" panose="02070A03080606020203" pitchFamily="18" charset="0"/>
              <a:sym typeface="+mn-ea"/>
            </a:endParaRPr>
          </a:p>
          <a:p>
            <a:pPr marL="228600" indent="-228600" algn="l" eaLnBrk="1" hangingPunct="1">
              <a:lnSpc>
                <a:spcPct val="175000"/>
              </a:lnSpc>
              <a:buClrTx/>
              <a:buSzTx/>
              <a:buFont typeface="+mj-ea"/>
              <a:buAutoNum type="circleNumDbPlain" startAt="3"/>
            </a:pPr>
            <a:r>
              <a:rPr lang="zh-CN" altLang="en-US" sz="1200" b="1" dirty="0" smtClean="0">
                <a:latin typeface="Bodoni MT Black" panose="02070A03080606020203" pitchFamily="18" charset="0"/>
                <a:sym typeface="+mn-ea"/>
              </a:rPr>
              <a:t>把“分行”与“分行计算机”合并</a:t>
            </a:r>
            <a:endParaRPr lang="zh-CN" altLang="en-US" sz="1200" b="1" dirty="0" smtClean="0">
              <a:latin typeface="Bodoni MT Black" panose="02070A03080606020203" pitchFamily="18" charset="0"/>
            </a:endParaRPr>
          </a:p>
          <a:p>
            <a:pPr eaLnBrk="1" hangingPunct="1">
              <a:lnSpc>
                <a:spcPct val="175000"/>
              </a:lnSpc>
            </a:pPr>
            <a:r>
              <a:rPr lang="zh-CN" altLang="en-US" sz="1200" dirty="0" smtClean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区分</a:t>
            </a:r>
            <a:r>
              <a:rPr lang="zh-CN" altLang="en-US" sz="1200" dirty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“分行”与“分行计算机”，对于分析这个系统来说，并没有多大意义，为简单起见，应该把它们合并。类似地，应该合并“总行”和“中央计算机”。</a:t>
            </a:r>
            <a:endParaRPr lang="zh-CN" altLang="en-US" sz="1200" dirty="0">
              <a:solidFill>
                <a:srgbClr val="000000"/>
              </a:solidFill>
              <a:latin typeface="Bodoni MT Black" panose="02070A03080606020203" pitchFamily="18" charset="0"/>
            </a:endParaRPr>
          </a:p>
          <a:p>
            <a:pPr eaLnBrk="1" hangingPunct="1">
              <a:lnSpc>
                <a:spcPct val="175000"/>
              </a:lnSpc>
            </a:pPr>
            <a:endParaRPr lang="zh-CN" altLang="en-US" sz="1200" dirty="0">
              <a:solidFill>
                <a:srgbClr val="000000"/>
              </a:solidFill>
              <a:latin typeface="Bodoni MT Black" panose="02070A03080606020203" pitchFamily="18" charset="0"/>
            </a:endParaRPr>
          </a:p>
          <a:p>
            <a:pPr eaLnBrk="1" hangingPunct="1">
              <a:lnSpc>
                <a:spcPct val="125000"/>
              </a:lnSpc>
            </a:pPr>
            <a:endParaRPr lang="zh-CN" altLang="en-US" sz="1200" dirty="0">
              <a:solidFill>
                <a:srgbClr val="000000"/>
              </a:solidFill>
              <a:latin typeface="+mn-ea"/>
              <a:cs typeface="+mn-ea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408420" y="438150"/>
            <a:ext cx="5987422" cy="6291263"/>
            <a:chOff x="10118" y="690"/>
            <a:chExt cx="9319" cy="9908"/>
          </a:xfrm>
        </p:grpSpPr>
        <p:pic>
          <p:nvPicPr>
            <p:cNvPr id="145411" name="图片 1"/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118" y="690"/>
              <a:ext cx="8543" cy="99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圆角矩形 13"/>
            <p:cNvSpPr/>
            <p:nvPr/>
          </p:nvSpPr>
          <p:spPr>
            <a:xfrm>
              <a:off x="16643" y="2218"/>
              <a:ext cx="2063" cy="2118"/>
            </a:xfrm>
            <a:prstGeom prst="roundRect">
              <a:avLst/>
            </a:prstGeom>
            <a:ln w="19050">
              <a:solidFill>
                <a:srgbClr val="00B0F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16598" y="5730"/>
              <a:ext cx="2063" cy="2118"/>
            </a:xfrm>
            <a:prstGeom prst="roundRect">
              <a:avLst/>
            </a:prstGeom>
            <a:ln w="19050"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12361" y="7235"/>
              <a:ext cx="2063" cy="2118"/>
            </a:xfrm>
            <a:prstGeom prst="roundRect">
              <a:avLst/>
            </a:prstGeom>
            <a:ln w="19050">
              <a:solidFill>
                <a:srgbClr val="00B05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6344" y="1428"/>
              <a:ext cx="309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solidFill>
                    <a:srgbClr val="00B0F0"/>
                  </a:solidFill>
                  <a:latin typeface="+mn-ea"/>
                  <a:cs typeface="+mn-ea"/>
                </a:rPr>
                <a:t>“</a:t>
              </a:r>
              <a:r>
                <a:rPr lang="zh-CN" altLang="en-US" sz="1200" b="1">
                  <a:solidFill>
                    <a:srgbClr val="00B0F0"/>
                  </a:solidFill>
                  <a:latin typeface="+mn-ea"/>
                  <a:cs typeface="+mn-ea"/>
                </a:rPr>
                <a:t>事务</a:t>
              </a:r>
              <a:r>
                <a:rPr lang="en-US" altLang="zh-CN" sz="1200" b="1">
                  <a:solidFill>
                    <a:srgbClr val="00B0F0"/>
                  </a:solidFill>
                  <a:latin typeface="+mn-ea"/>
                  <a:cs typeface="+mn-ea"/>
                </a:rPr>
                <a:t>”</a:t>
              </a:r>
              <a:r>
                <a:rPr lang="zh-CN" altLang="en-US" sz="1200" b="1">
                  <a:solidFill>
                    <a:srgbClr val="00B0F0"/>
                  </a:solidFill>
                  <a:latin typeface="+mn-ea"/>
                  <a:cs typeface="+mn-ea"/>
                </a:rPr>
                <a:t>由</a:t>
              </a:r>
              <a:r>
                <a:rPr lang="en-US" altLang="zh-CN" sz="1200" b="1">
                  <a:solidFill>
                    <a:srgbClr val="00B0F0"/>
                  </a:solidFill>
                  <a:latin typeface="+mn-ea"/>
                  <a:cs typeface="+mn-ea"/>
                  <a:sym typeface="+mn-ea"/>
                </a:rPr>
                <a:t>“</a:t>
              </a:r>
              <a:r>
                <a:rPr lang="zh-CN" altLang="en-US" sz="1200" b="1">
                  <a:solidFill>
                    <a:srgbClr val="00B0F0"/>
                  </a:solidFill>
                  <a:latin typeface="+mn-ea"/>
                  <a:cs typeface="+mn-ea"/>
                  <a:sym typeface="+mn-ea"/>
                </a:rPr>
                <a:t>更新</a:t>
              </a:r>
              <a:r>
                <a:rPr lang="en-US" altLang="zh-CN" sz="1200" b="1">
                  <a:solidFill>
                    <a:srgbClr val="00B0F0"/>
                  </a:solidFill>
                  <a:latin typeface="+mn-ea"/>
                  <a:cs typeface="+mn-ea"/>
                  <a:sym typeface="+mn-ea"/>
                </a:rPr>
                <a:t>”</a:t>
              </a:r>
              <a:r>
                <a:rPr lang="zh-CN" altLang="en-US" sz="1200" b="1">
                  <a:solidFill>
                    <a:srgbClr val="00B0F0"/>
                  </a:solidFill>
                  <a:latin typeface="+mn-ea"/>
                  <a:cs typeface="+mn-ea"/>
                  <a:sym typeface="+mn-ea"/>
                </a:rPr>
                <a:t>组成</a:t>
              </a:r>
              <a:endParaRPr lang="zh-CN" altLang="en-US" sz="1200" b="1">
                <a:solidFill>
                  <a:srgbClr val="00B0F0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083" y="5190"/>
              <a:ext cx="309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zh-CN" altLang="en-US" sz="1200" b="1">
                  <a:solidFill>
                    <a:srgbClr val="FF0000"/>
                  </a:solidFill>
                  <a:latin typeface="+mn-ea"/>
                  <a:cs typeface="+mn-ea"/>
                  <a:sym typeface="+mn-ea"/>
                </a:rPr>
                <a:t>分解“现金兑换卡”类</a:t>
              </a:r>
              <a:endParaRPr lang="zh-CN" altLang="en-US" sz="1200" b="1">
                <a:solidFill>
                  <a:srgbClr val="FF0000"/>
                </a:solidFill>
                <a:latin typeface="+mn-ea"/>
                <a:cs typeface="+mn-ea"/>
              </a:endParaRPr>
            </a:p>
            <a:p>
              <a:pPr algn="l">
                <a:buClrTx/>
                <a:buSzTx/>
                <a:buFontTx/>
              </a:pPr>
              <a:endParaRPr lang="zh-CN" altLang="en-US" sz="1200" b="1">
                <a:solidFill>
                  <a:srgbClr val="FF0000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1659" y="6677"/>
              <a:ext cx="3635" cy="5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>
                <a:buClrTx/>
                <a:buSzTx/>
                <a:buFontTx/>
              </a:pPr>
              <a:r>
                <a:rPr lang="zh-CN" altLang="en-US" sz="1200" b="1" dirty="0" smtClean="0">
                  <a:solidFill>
                    <a:srgbClr val="00B050"/>
                  </a:solidFill>
                  <a:latin typeface="Bodoni MT Black" panose="02070A03080606020203" pitchFamily="18" charset="0"/>
                  <a:sym typeface="+mn-ea"/>
                </a:rPr>
                <a:t>合并</a:t>
              </a:r>
              <a:r>
                <a:rPr lang="zh-CN" altLang="en-US" sz="1200" b="1" dirty="0">
                  <a:solidFill>
                    <a:srgbClr val="00B050"/>
                  </a:solidFill>
                  <a:latin typeface="Bodoni MT Black" panose="02070A03080606020203" pitchFamily="18" charset="0"/>
                  <a:sym typeface="+mn-ea"/>
                </a:rPr>
                <a:t>“分行”与“分行计算机”</a:t>
              </a:r>
              <a:endParaRPr lang="zh-CN" altLang="en-US" sz="1200" b="1" dirty="0" smtClean="0">
                <a:solidFill>
                  <a:srgbClr val="00B050"/>
                </a:solidFill>
                <a:latin typeface="Bodoni MT Black" panose="02070A03080606020203" pitchFamily="18" charset="0"/>
              </a:endParaRPr>
            </a:p>
            <a:p>
              <a:pPr algn="l">
                <a:buClrTx/>
                <a:buSzTx/>
                <a:buFontTx/>
              </a:pPr>
              <a:endParaRPr lang="zh-CN" altLang="en-US" sz="1200" b="1" dirty="0" smtClean="0">
                <a:solidFill>
                  <a:srgbClr val="00B050"/>
                </a:solidFill>
                <a:latin typeface="Bodoni MT Black" panose="02070A03080606020203" pitchFamily="18" charset="0"/>
                <a:cs typeface="+mn-ea"/>
                <a:sym typeface="+mn-ea"/>
              </a:endParaRPr>
            </a:p>
          </p:txBody>
        </p:sp>
      </p:grp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6045" y="298595"/>
            <a:ext cx="3960000" cy="882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spc="200" dirty="0">
                <a:solidFill>
                  <a:srgbClr val="55D5FF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</a:rPr>
              <a:t>建立动态模型</a:t>
            </a:r>
            <a:endParaRPr lang="en-US" altLang="zh-CN" sz="2400" spc="200" dirty="0">
              <a:solidFill>
                <a:srgbClr val="55D5FF"/>
              </a:solidFill>
              <a:latin typeface="汉仪旗黑-85S" panose="00020600040101010101" pitchFamily="18" charset="-122"/>
              <a:ea typeface="汉仪旗黑-85S" panose="00020600040101010101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8750" y="1041400"/>
            <a:ext cx="454914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BA3"/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p>
            <a:pPr>
              <a:lnSpc>
                <a:spcPct val="160000"/>
              </a:lnSpc>
              <a:defRPr/>
            </a:pPr>
            <a:r>
              <a:rPr lang="zh-CN" sz="1200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在开发</a:t>
            </a:r>
            <a:r>
              <a:rPr lang="zh-CN" sz="12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交互式系统</a:t>
            </a:r>
            <a:r>
              <a:rPr lang="zh-CN" sz="1200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时，动态模型起着非常重要的作用。如果收集输入信息是目标系统的一项重要工作，则在开发此类应用系统时建立正确的动态模型至关重要。</a:t>
            </a:r>
            <a:endParaRPr lang="zh-CN" sz="1200" dirty="0" smtClean="0">
              <a:solidFill>
                <a:schemeClr val="bg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22825" y="0"/>
            <a:ext cx="7368540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chemeClr val="bg2"/>
                </a:solidFill>
                <a:sym typeface="+mn-ea"/>
              </a:rPr>
              <a:t>  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编写脚本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7170" y="4137025"/>
            <a:ext cx="4482465" cy="2527935"/>
          </a:xfrm>
          <a:prstGeom prst="rect">
            <a:avLst/>
          </a:prstGeom>
          <a:noFill/>
          <a:ln w="1587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65000"/>
              </a:lnSpc>
              <a:buSzPct val="75000"/>
              <a:defRPr/>
            </a:pPr>
            <a:r>
              <a:rPr lang="zh-CN" altLang="en-US" sz="1200" b="1" dirty="0" smtClean="0">
                <a:solidFill>
                  <a:srgbClr val="FFFF00"/>
                </a:solidFill>
                <a:latin typeface="+mn-ea"/>
                <a:cs typeface="+mn-ea"/>
              </a:rPr>
              <a:t>① 编写</a:t>
            </a:r>
            <a:r>
              <a:rPr lang="zh-CN" altLang="en-US" sz="1200" b="1" dirty="0">
                <a:solidFill>
                  <a:srgbClr val="FFFF00"/>
                </a:solidFill>
                <a:latin typeface="+mn-ea"/>
                <a:cs typeface="+mn-ea"/>
              </a:rPr>
              <a:t>典型交互行为的脚本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+mn-ea"/>
              </a:rPr>
              <a:t>。虽然脚本中不可能包括每个偶然事件，但是，至少必须保证不遗漏常见的交互行为。</a:t>
            </a:r>
            <a:endParaRPr lang="en-US" altLang="zh-CN" sz="1200" dirty="0">
              <a:solidFill>
                <a:schemeClr val="bg1"/>
              </a:solidFill>
              <a:latin typeface="+mn-ea"/>
              <a:cs typeface="+mn-ea"/>
            </a:endParaRPr>
          </a:p>
          <a:p>
            <a:pPr eaLnBrk="1" hangingPunct="1">
              <a:lnSpc>
                <a:spcPct val="165000"/>
              </a:lnSpc>
              <a:buSzPct val="75000"/>
              <a:defRPr/>
            </a:pPr>
            <a:r>
              <a:rPr lang="zh-CN" altLang="en-US" sz="1200" b="1" dirty="0" smtClean="0">
                <a:solidFill>
                  <a:srgbClr val="FFFF00"/>
                </a:solidFill>
                <a:latin typeface="+mn-ea"/>
                <a:cs typeface="+mn-ea"/>
              </a:rPr>
              <a:t>② 从脚本中提取出事件，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+mn-ea"/>
              </a:rPr>
              <a:t>确定触发每个事件的动作对象以及接受事件的目标对象。</a:t>
            </a:r>
            <a:endParaRPr lang="en-US" altLang="zh-CN" sz="1200" dirty="0">
              <a:solidFill>
                <a:schemeClr val="bg1"/>
              </a:solidFill>
              <a:latin typeface="+mn-ea"/>
              <a:cs typeface="+mn-ea"/>
            </a:endParaRPr>
          </a:p>
          <a:p>
            <a:pPr eaLnBrk="1" hangingPunct="1">
              <a:lnSpc>
                <a:spcPct val="165000"/>
              </a:lnSpc>
              <a:buSzPct val="75000"/>
              <a:defRPr/>
            </a:pPr>
            <a:r>
              <a:rPr lang="zh-CN" altLang="en-US" sz="1200" b="1" dirty="0" smtClean="0">
                <a:solidFill>
                  <a:srgbClr val="FFFF00"/>
                </a:solidFill>
                <a:latin typeface="+mn-ea"/>
                <a:cs typeface="+mn-ea"/>
              </a:rPr>
              <a:t>③ 排列事件发生的次序，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+mn-ea"/>
              </a:rPr>
              <a:t>确定每个对象可能有的状态及状态间的转换关系，并用状态图描绘它们。</a:t>
            </a:r>
            <a:endParaRPr lang="en-US" altLang="zh-CN" sz="1200" dirty="0">
              <a:solidFill>
                <a:schemeClr val="bg1"/>
              </a:solidFill>
              <a:latin typeface="+mn-ea"/>
              <a:cs typeface="+mn-ea"/>
            </a:endParaRPr>
          </a:p>
          <a:p>
            <a:pPr eaLnBrk="1" hangingPunct="1">
              <a:lnSpc>
                <a:spcPct val="165000"/>
              </a:lnSpc>
              <a:buSzPct val="75000"/>
              <a:defRPr/>
            </a:pPr>
            <a:r>
              <a:rPr lang="zh-CN" altLang="en-US" sz="1200" b="1" dirty="0" smtClean="0">
                <a:solidFill>
                  <a:srgbClr val="FFFF00"/>
                </a:solidFill>
                <a:latin typeface="+mn-ea"/>
                <a:cs typeface="+mn-ea"/>
              </a:rPr>
              <a:t>④ 比较各个对象的状态图，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+mn-ea"/>
              </a:rPr>
              <a:t>检查它们之间的一致性，确保事件之间的匹配。</a:t>
            </a:r>
            <a:endParaRPr lang="zh-CN" altLang="en-US" sz="12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60" y="2091055"/>
            <a:ext cx="4416425" cy="1936750"/>
          </a:xfrm>
          <a:prstGeom prst="rect">
            <a:avLst/>
          </a:prstGeom>
        </p:spPr>
      </p:pic>
      <p:sp>
        <p:nvSpPr>
          <p:cNvPr id="151556" name="文本框 2"/>
          <p:cNvSpPr txBox="1">
            <a:spLocks noChangeArrowheads="1"/>
          </p:cNvSpPr>
          <p:nvPr/>
        </p:nvSpPr>
        <p:spPr bwMode="auto">
          <a:xfrm>
            <a:off x="4901565" y="537210"/>
            <a:ext cx="6975475" cy="1114425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p>
            <a:pPr eaLnBrk="1" hangingPunct="1">
              <a:lnSpc>
                <a:spcPct val="185000"/>
              </a:lnSpc>
            </a:pPr>
            <a:r>
              <a:rPr lang="zh-CN" altLang="en-US" sz="1200" dirty="0">
                <a:latin typeface="Bodoni MT Black" panose="02070A03080606020203" pitchFamily="18" charset="0"/>
              </a:rPr>
              <a:t>  </a:t>
            </a:r>
            <a:r>
              <a:rPr lang="en-US" altLang="zh-CN" sz="1200" dirty="0">
                <a:latin typeface="Bodoni MT Black" panose="02070A03080606020203" pitchFamily="18" charset="0"/>
              </a:rPr>
              <a:t>  </a:t>
            </a:r>
            <a:r>
              <a:rPr lang="zh-CN" altLang="en-US" sz="1200" dirty="0" smtClean="0">
                <a:latin typeface="Bodoni MT Black" panose="02070A03080606020203" pitchFamily="18" charset="0"/>
              </a:rPr>
              <a:t>在</a:t>
            </a:r>
            <a:r>
              <a:rPr lang="zh-CN" altLang="en-US" sz="1200" dirty="0">
                <a:latin typeface="Bodoni MT Black" panose="02070A03080606020203" pitchFamily="18" charset="0"/>
              </a:rPr>
              <a:t>建立动态模型的过程中，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脚本</a:t>
            </a:r>
            <a:r>
              <a:rPr lang="zh-CN" altLang="en-US" sz="1200" dirty="0">
                <a:latin typeface="Bodoni MT Black" panose="02070A03080606020203" pitchFamily="18" charset="0"/>
              </a:rPr>
              <a:t>是指</a:t>
            </a:r>
            <a:r>
              <a:rPr lang="zh-CN" altLang="en-US" sz="1200" dirty="0">
                <a:solidFill>
                  <a:schemeClr val="tx1"/>
                </a:solidFill>
                <a:latin typeface="Bodoni MT Black" panose="02070A03080606020203" pitchFamily="18" charset="0"/>
              </a:rPr>
              <a:t>系统</a:t>
            </a:r>
            <a:r>
              <a:rPr lang="zh-CN" altLang="en-US" sz="1200" b="1" dirty="0">
                <a:solidFill>
                  <a:srgbClr val="00B0F0"/>
                </a:solidFill>
                <a:latin typeface="Bodoni MT Black" panose="02070A03080606020203" pitchFamily="18" charset="0"/>
              </a:rPr>
              <a:t>在某一执行期间内出现的一系列事件</a:t>
            </a:r>
            <a:r>
              <a:rPr lang="zh-CN" altLang="en-US" sz="1200" dirty="0">
                <a:latin typeface="Bodoni MT Black" panose="02070A03080606020203" pitchFamily="18" charset="0"/>
              </a:rPr>
              <a:t>。脚本描述</a:t>
            </a:r>
            <a:r>
              <a:rPr lang="zh-CN" altLang="en-US" sz="1200" dirty="0" smtClean="0">
                <a:latin typeface="Bodoni MT Black" panose="02070A03080606020203" pitchFamily="18" charset="0"/>
              </a:rPr>
              <a:t>用户（或</a:t>
            </a:r>
            <a:r>
              <a:rPr lang="zh-CN" altLang="en-US" sz="1200" dirty="0">
                <a:latin typeface="Bodoni MT Black" panose="02070A03080606020203" pitchFamily="18" charset="0"/>
              </a:rPr>
              <a:t>其他</a:t>
            </a:r>
            <a:r>
              <a:rPr lang="zh-CN" altLang="en-US" sz="1200" dirty="0" smtClean="0">
                <a:latin typeface="Bodoni MT Black" panose="02070A03080606020203" pitchFamily="18" charset="0"/>
              </a:rPr>
              <a:t>外部设备）与</a:t>
            </a:r>
            <a:r>
              <a:rPr lang="zh-CN" altLang="en-US" sz="1200" dirty="0">
                <a:latin typeface="Bodoni MT Black" panose="02070A03080606020203" pitchFamily="18" charset="0"/>
              </a:rPr>
              <a:t>目标系统之间的一个或多个典型的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交互过程</a:t>
            </a:r>
            <a:r>
              <a:rPr lang="zh-CN" altLang="en-US" sz="1200" dirty="0">
                <a:latin typeface="Bodoni MT Black" panose="02070A03080606020203" pitchFamily="18" charset="0"/>
              </a:rPr>
              <a:t>（事件序列），以便对目标系统的行为有更具体的认识。</a:t>
            </a:r>
            <a:r>
              <a:rPr lang="zh-CN" altLang="en-US" sz="1200" b="1" dirty="0" smtClean="0">
                <a:solidFill>
                  <a:srgbClr val="FF0000"/>
                </a:solidFill>
                <a:highlight>
                  <a:srgbClr val="FFFF00"/>
                </a:highlight>
                <a:latin typeface="Bodoni MT Black" panose="02070A03080606020203" pitchFamily="18" charset="0"/>
                <a:sym typeface="+mn-ea"/>
              </a:rPr>
              <a:t>目的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保证</a:t>
            </a:r>
            <a:r>
              <a:rPr lang="zh-CN" altLang="en-US" sz="1200" b="1" dirty="0">
                <a:solidFill>
                  <a:srgbClr val="00B0F0"/>
                </a:solidFill>
                <a:latin typeface="Bodoni MT Black" panose="02070A03080606020203" pitchFamily="18" charset="0"/>
                <a:sym typeface="+mn-ea"/>
              </a:rPr>
              <a:t>不遗漏重要的交互步骤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，有助于确保整个交互过程的正确性和清晰性。</a:t>
            </a:r>
            <a:endParaRPr lang="zh-CN" altLang="en-US" sz="1200" dirty="0">
              <a:latin typeface="Bodoni MT Black" panose="02070A03080606020203" pitchFamily="18" charset="0"/>
            </a:endParaRPr>
          </a:p>
        </p:txBody>
      </p:sp>
      <p:sp>
        <p:nvSpPr>
          <p:cNvPr id="151557" name="文本框 4"/>
          <p:cNvSpPr txBox="1">
            <a:spLocks noChangeArrowheads="1"/>
          </p:cNvSpPr>
          <p:nvPr/>
        </p:nvSpPr>
        <p:spPr bwMode="auto">
          <a:xfrm>
            <a:off x="4718869" y="2840360"/>
            <a:ext cx="8280920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Bodoni MT Black" panose="02070A03080606020203" pitchFamily="18" charset="0"/>
              </a:rPr>
              <a:t>   </a:t>
            </a:r>
            <a:r>
              <a:rPr lang="zh-CN" altLang="en-US" sz="2400" dirty="0">
                <a:latin typeface="Bodoni MT Black" panose="02070A03080606020203" pitchFamily="18" charset="0"/>
              </a:rPr>
              <a:t>  </a:t>
            </a:r>
            <a:endParaRPr lang="zh-CN" altLang="en-US" sz="2400" dirty="0">
              <a:latin typeface="Bodoni MT Black" panose="02070A03080606020203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60315" y="2091055"/>
            <a:ext cx="3292475" cy="4494530"/>
          </a:xfrm>
          <a:prstGeom prst="rect">
            <a:avLst/>
          </a:prstGeom>
          <a:solidFill>
            <a:srgbClr val="55D5FF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ATM请储户插卡；储户插入一张现金兑换卡。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ATM接受该卡并读它上面的分行代码和卡号。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ATM要求储户输入密码；储户输入自己的密码“1234”等数字。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ATM请求总行验证卡号和密码；总行要求“39”号分行核对储户密码，然后通知ATM说这张卡有效。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ATM要求储户选择事务类型（取款、转账、查询等）；储户选择“取款”。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ATM要求储户输入取款额；储户输入“880”。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ATM确认取款额在预先规定的限额内，然后要求总行处理这个事务；总行把请求转给分行， 该分行成功地处理完这项事务并返回该账户的新金额。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ATM吐出现金并请储户拿走这些现金；储户拿走现金。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ATM问储户是否继续这项事务；储户回答“不”。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ATM打印账单，退出现金兑换卡，请储户拿走它们；储户取走账单和卡。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ATM请储户插卡。</a:t>
            </a:r>
            <a:endParaRPr lang="zh-CN" altLang="en-US" sz="1000"/>
          </a:p>
        </p:txBody>
      </p:sp>
      <p:sp>
        <p:nvSpPr>
          <p:cNvPr id="11" name="矩形 10"/>
          <p:cNvSpPr/>
          <p:nvPr/>
        </p:nvSpPr>
        <p:spPr>
          <a:xfrm>
            <a:off x="6054725" y="1742440"/>
            <a:ext cx="1303655" cy="313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/>
              <a:t>正常情况的脚本</a:t>
            </a:r>
            <a:endParaRPr lang="zh-CN" altLang="en-US" sz="1000" b="1"/>
          </a:p>
        </p:txBody>
      </p:sp>
      <p:sp>
        <p:nvSpPr>
          <p:cNvPr id="17" name="矩形 16"/>
          <p:cNvSpPr/>
          <p:nvPr/>
        </p:nvSpPr>
        <p:spPr>
          <a:xfrm>
            <a:off x="9635490" y="1737360"/>
            <a:ext cx="1303655" cy="313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/>
              <a:t>异常情况的脚本</a:t>
            </a:r>
            <a:endParaRPr lang="zh-CN" altLang="en-US" sz="1000" b="1"/>
          </a:p>
        </p:txBody>
      </p:sp>
      <p:sp>
        <p:nvSpPr>
          <p:cNvPr id="18" name="文本框 17"/>
          <p:cNvSpPr txBox="1"/>
          <p:nvPr/>
        </p:nvSpPr>
        <p:spPr>
          <a:xfrm>
            <a:off x="8505190" y="2091055"/>
            <a:ext cx="3292475" cy="32880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ATM请储户插卡，储户插入一张现金兑换卡。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ATM接受该卡并顺序读它上面的数字。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ATM要求密码:储户误输入“888等数字。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ATM请求总行验证卡号和密码:总行在向有关分行咨询后拒绝这张卡。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ATM显示“密码错”，并请储户输入密码:储户输入“1234”等数字: ATM请求总行验证后知道输入密码正确.。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ATM要求储户选择事务类型:储户选择“取款”。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ATM询问取教额:储户改变主意不想取款了，按“取消”。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ATM退出现金兑换卡，请储户拿走它们:储户取走卡。</a:t>
            </a:r>
            <a:endParaRPr lang="zh-CN" altLang="en-US" sz="1000"/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ATM请储户插卡。</a:t>
            </a:r>
            <a:endParaRPr lang="zh-CN" altLang="en-US" sz="1000"/>
          </a:p>
        </p:txBody>
      </p:sp>
      <p:sp>
        <p:nvSpPr>
          <p:cNvPr id="19" name="文本框 18"/>
          <p:cNvSpPr txBox="1"/>
          <p:nvPr/>
        </p:nvSpPr>
        <p:spPr>
          <a:xfrm>
            <a:off x="8514715" y="5494020"/>
            <a:ext cx="3303270" cy="975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60000"/>
              </a:lnSpc>
            </a:pPr>
            <a:r>
              <a:rPr lang="zh-CN" altLang="en-US" sz="1200"/>
              <a:t>脚本描述</a:t>
            </a:r>
            <a:r>
              <a:rPr lang="zh-CN" altLang="en-US" sz="1200" b="1">
                <a:solidFill>
                  <a:srgbClr val="FF0000"/>
                </a:solidFill>
              </a:rPr>
              <a:t>事件序列</a:t>
            </a:r>
            <a:r>
              <a:rPr lang="zh-CN" altLang="en-US" sz="1200"/>
              <a:t>，对于每个事件都应指明出发该事件的</a:t>
            </a:r>
            <a:r>
              <a:rPr lang="zh-CN" altLang="en-US" sz="1200" b="1">
                <a:solidFill>
                  <a:srgbClr val="00B0F0"/>
                </a:solidFill>
              </a:rPr>
              <a:t>动作对象</a:t>
            </a:r>
            <a:r>
              <a:rPr lang="zh-CN" altLang="en-US" sz="1200"/>
              <a:t>、接受事件的</a:t>
            </a:r>
            <a:r>
              <a:rPr lang="zh-CN" altLang="en-US" sz="1200" b="1">
                <a:solidFill>
                  <a:srgbClr val="00B0F0"/>
                </a:solidFill>
              </a:rPr>
              <a:t>目标对象</a:t>
            </a:r>
            <a:r>
              <a:rPr lang="zh-CN" altLang="en-US" sz="1200"/>
              <a:t>以及改</a:t>
            </a:r>
            <a:r>
              <a:rPr lang="zh-CN" altLang="en-US" sz="1200" b="1">
                <a:solidFill>
                  <a:srgbClr val="00B0F0"/>
                </a:solidFill>
              </a:rPr>
              <a:t>事件的参数</a:t>
            </a:r>
            <a:r>
              <a:rPr lang="zh-CN" altLang="en-US" sz="1200"/>
              <a:t>。</a:t>
            </a:r>
            <a:endParaRPr lang="zh-CN" altLang="en-US" sz="1200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0774045" y="247015"/>
            <a:ext cx="1265555" cy="11741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6690" y="5527675"/>
            <a:ext cx="1054100" cy="10102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5922645" y="0"/>
            <a:ext cx="0" cy="6866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-635"/>
            <a:ext cx="5919470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设想用户界面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56300" y="0"/>
            <a:ext cx="6235065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画事件跟踪图</a:t>
            </a:r>
            <a:endParaRPr lang="en-US" altLang="zh-CN" b="1">
              <a:solidFill>
                <a:schemeClr val="bg2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04255" y="609600"/>
            <a:ext cx="15176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ea"/>
              <a:buAutoNum type="circleNumDbPlain"/>
            </a:pPr>
            <a:r>
              <a:rPr lang="zh-CN" sz="1400" b="1">
                <a:solidFill>
                  <a:srgbClr val="FF0000"/>
                </a:solidFill>
                <a:highlight>
                  <a:srgbClr val="00FFFF"/>
                </a:highlight>
              </a:rPr>
              <a:t>确定事件</a:t>
            </a:r>
            <a:r>
              <a:rPr lang="en-US" altLang="zh-CN" sz="1400" b="1">
                <a:solidFill>
                  <a:srgbClr val="FF0000"/>
                </a:solidFill>
                <a:highlight>
                  <a:srgbClr val="00FFFF"/>
                </a:highlight>
              </a:rPr>
              <a:t>     </a:t>
            </a:r>
            <a:endParaRPr lang="en-US" altLang="zh-CN" sz="1400" b="1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157700" name="文本框 8"/>
          <p:cNvSpPr txBox="1">
            <a:spLocks noChangeArrowheads="1"/>
          </p:cNvSpPr>
          <p:nvPr/>
        </p:nvSpPr>
        <p:spPr bwMode="auto">
          <a:xfrm>
            <a:off x="131445" y="670560"/>
            <a:ext cx="5700395" cy="2027555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p>
            <a:pPr algn="l" eaLnBrk="1" hangingPunct="1">
              <a:lnSpc>
                <a:spcPct val="185000"/>
              </a:lnSpc>
              <a:buClrTx/>
              <a:buSzTx/>
              <a:buFontTx/>
            </a:pPr>
            <a:r>
              <a:rPr lang="zh-CN" altLang="en-US" sz="1200" dirty="0">
                <a:latin typeface="Bodoni MT Black" panose="02070A03080606020203" pitchFamily="18" charset="0"/>
              </a:rPr>
              <a:t>     </a:t>
            </a:r>
            <a:r>
              <a:rPr lang="zh-CN" altLang="en-US" sz="1200" dirty="0" smtClean="0">
                <a:latin typeface="Bodoni MT Black" panose="02070A03080606020203" pitchFamily="18" charset="0"/>
              </a:rPr>
              <a:t>大多数</a:t>
            </a:r>
            <a:r>
              <a:rPr lang="zh-CN" altLang="en-US" sz="1200" dirty="0">
                <a:latin typeface="Bodoni MT Black" panose="02070A03080606020203" pitchFamily="18" charset="0"/>
              </a:rPr>
              <a:t>交互行为都可以分为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应用逻辑</a:t>
            </a:r>
            <a:r>
              <a:rPr lang="zh-CN" altLang="en-US" sz="1200" dirty="0">
                <a:latin typeface="Bodoni MT Black" panose="02070A03080606020203" pitchFamily="18" charset="0"/>
              </a:rPr>
              <a:t>和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用户界面</a:t>
            </a:r>
            <a:r>
              <a:rPr lang="zh-CN" altLang="en-US" sz="1200" dirty="0">
                <a:latin typeface="Bodoni MT Black" panose="02070A03080606020203" pitchFamily="18" charset="0"/>
              </a:rPr>
              <a:t>两部分。通常，系统分析员首先集中精力考虑系统的</a:t>
            </a:r>
            <a:r>
              <a:rPr lang="zh-CN" altLang="en-US" sz="1200" b="1" dirty="0">
                <a:solidFill>
                  <a:srgbClr val="00B0F0"/>
                </a:solidFill>
                <a:highlight>
                  <a:srgbClr val="FFFF00"/>
                </a:highlight>
                <a:latin typeface="Bodoni MT Black" panose="02070A03080606020203" pitchFamily="18" charset="0"/>
              </a:rPr>
              <a:t>信息流</a:t>
            </a:r>
            <a:r>
              <a:rPr lang="zh-CN" altLang="en-US" sz="1200" dirty="0">
                <a:latin typeface="Bodoni MT Black" panose="02070A03080606020203" pitchFamily="18" charset="0"/>
              </a:rPr>
              <a:t>和</a:t>
            </a:r>
            <a:r>
              <a:rPr lang="zh-CN" altLang="en-US" sz="1200" b="1" dirty="0">
                <a:solidFill>
                  <a:srgbClr val="00B0F0"/>
                </a:solidFill>
                <a:highlight>
                  <a:srgbClr val="FFFF00"/>
                </a:highlight>
                <a:latin typeface="Bodoni MT Black" panose="02070A03080606020203" pitchFamily="18" charset="0"/>
              </a:rPr>
              <a:t>控制流</a:t>
            </a:r>
            <a:r>
              <a:rPr lang="zh-CN" altLang="en-US" sz="1200" dirty="0">
                <a:latin typeface="Bodoni MT Black" panose="02070A03080606020203" pitchFamily="18" charset="0"/>
              </a:rPr>
              <a:t>，而不是首先考虑用户界面。</a:t>
            </a:r>
            <a:endParaRPr lang="zh-CN" altLang="en-US" sz="1200" dirty="0">
              <a:latin typeface="Bodoni MT Black" panose="02070A03080606020203" pitchFamily="18" charset="0"/>
            </a:endParaRPr>
          </a:p>
          <a:p>
            <a:pPr algn="l" eaLnBrk="1" hangingPunct="1">
              <a:lnSpc>
                <a:spcPct val="185000"/>
              </a:lnSpc>
              <a:buClrTx/>
              <a:buSzTx/>
              <a:buFontTx/>
            </a:pP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    采用不同界面（如命令行或图形用户界面），可以实现同样的程序逻辑。应用逻辑是内在的、本质的内容，用户界面是外在的表现形式。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Bodoni MT Black" panose="02070A03080606020203" pitchFamily="18" charset="0"/>
                <a:sym typeface="+mn-ea"/>
              </a:rPr>
              <a:t>动态模型着重表示应用系统的控制逻辑。</a:t>
            </a:r>
            <a:endParaRPr lang="zh-CN" altLang="en-US" sz="1200" b="1" dirty="0">
              <a:solidFill>
                <a:srgbClr val="FF0000"/>
              </a:solidFill>
              <a:highlight>
                <a:srgbClr val="FFFF00"/>
              </a:highlight>
              <a:latin typeface="Bodoni MT Black" panose="02070A03080606020203" pitchFamily="18" charset="0"/>
            </a:endParaRPr>
          </a:p>
          <a:p>
            <a:pPr eaLnBrk="1" hangingPunct="1">
              <a:lnSpc>
                <a:spcPct val="125000"/>
              </a:lnSpc>
            </a:pPr>
            <a:endParaRPr lang="zh-CN" altLang="en-US" sz="1200" b="1" dirty="0">
              <a:solidFill>
                <a:srgbClr val="FF0000"/>
              </a:solidFill>
              <a:highlight>
                <a:srgbClr val="FFFF00"/>
              </a:highlight>
              <a:latin typeface="Bodoni MT Black" panose="02070A03080606020203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64565" y="2698115"/>
            <a:ext cx="4001770" cy="3411202"/>
            <a:chOff x="4108" y="2823"/>
            <a:chExt cx="6380" cy="5525"/>
          </a:xfrm>
        </p:grpSpPr>
        <p:sp>
          <p:nvSpPr>
            <p:cNvPr id="3" name="矩形 2"/>
            <p:cNvSpPr/>
            <p:nvPr/>
          </p:nvSpPr>
          <p:spPr>
            <a:xfrm>
              <a:off x="4108" y="2823"/>
              <a:ext cx="6380" cy="5525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/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4108" y="3660"/>
              <a:ext cx="63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4108" y="6610"/>
              <a:ext cx="63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/>
            <p:cNvSpPr/>
            <p:nvPr/>
          </p:nvSpPr>
          <p:spPr>
            <a:xfrm>
              <a:off x="4708" y="6835"/>
              <a:ext cx="2235" cy="68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850" y="6835"/>
              <a:ext cx="2235" cy="68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593" y="3888"/>
              <a:ext cx="762" cy="46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695" y="3875"/>
              <a:ext cx="763" cy="46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6835" y="3888"/>
              <a:ext cx="760" cy="46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7893" y="3865"/>
              <a:ext cx="760" cy="46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8983" y="3880"/>
              <a:ext cx="762" cy="46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4625" y="4673"/>
              <a:ext cx="763" cy="4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5728" y="4663"/>
              <a:ext cx="762" cy="46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6868" y="4673"/>
              <a:ext cx="760" cy="4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7925" y="4650"/>
              <a:ext cx="760" cy="46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9015" y="4665"/>
              <a:ext cx="763" cy="46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4643" y="5545"/>
              <a:ext cx="1280" cy="53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6570" y="5568"/>
              <a:ext cx="1280" cy="5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8488" y="5568"/>
              <a:ext cx="1280" cy="5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61813" name="文本框 25"/>
            <p:cNvSpPr txBox="1">
              <a:spLocks noChangeArrowheads="1"/>
            </p:cNvSpPr>
            <p:nvPr/>
          </p:nvSpPr>
          <p:spPr bwMode="auto">
            <a:xfrm>
              <a:off x="5685" y="2943"/>
              <a:ext cx="3298" cy="5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/>
                <a:t>向储户显示的信息</a:t>
              </a:r>
              <a:endParaRPr lang="zh-CN" altLang="en-US"/>
            </a:p>
          </p:txBody>
        </p:sp>
        <p:sp>
          <p:nvSpPr>
            <p:cNvPr id="161814" name="文本框 26"/>
            <p:cNvSpPr txBox="1">
              <a:spLocks noChangeArrowheads="1"/>
            </p:cNvSpPr>
            <p:nvPr/>
          </p:nvSpPr>
          <p:spPr bwMode="auto">
            <a:xfrm>
              <a:off x="4745" y="3838"/>
              <a:ext cx="610" cy="5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/>
                <a:t>0</a:t>
              </a:r>
              <a:endParaRPr lang="zh-CN" altLang="en-US"/>
            </a:p>
          </p:txBody>
        </p:sp>
        <p:sp>
          <p:nvSpPr>
            <p:cNvPr id="161815" name="文本框 37"/>
            <p:cNvSpPr txBox="1">
              <a:spLocks noChangeArrowheads="1"/>
            </p:cNvSpPr>
            <p:nvPr/>
          </p:nvSpPr>
          <p:spPr bwMode="auto">
            <a:xfrm>
              <a:off x="5845" y="3815"/>
              <a:ext cx="613" cy="5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/>
                <a:t>1</a:t>
              </a:r>
              <a:endParaRPr lang="zh-CN" altLang="en-US"/>
            </a:p>
          </p:txBody>
        </p:sp>
        <p:sp>
          <p:nvSpPr>
            <p:cNvPr id="161816" name="文本框 38"/>
            <p:cNvSpPr txBox="1">
              <a:spLocks noChangeArrowheads="1"/>
            </p:cNvSpPr>
            <p:nvPr/>
          </p:nvSpPr>
          <p:spPr bwMode="auto">
            <a:xfrm>
              <a:off x="6983" y="3808"/>
              <a:ext cx="610" cy="5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/>
                <a:t>2</a:t>
              </a:r>
              <a:endParaRPr lang="zh-CN" altLang="en-US"/>
            </a:p>
          </p:txBody>
        </p:sp>
        <p:sp>
          <p:nvSpPr>
            <p:cNvPr id="161817" name="文本框 39"/>
            <p:cNvSpPr txBox="1">
              <a:spLocks noChangeArrowheads="1"/>
            </p:cNvSpPr>
            <p:nvPr/>
          </p:nvSpPr>
          <p:spPr bwMode="auto">
            <a:xfrm>
              <a:off x="8075" y="3815"/>
              <a:ext cx="610" cy="5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/>
                <a:t>3</a:t>
              </a:r>
              <a:endParaRPr lang="zh-CN" altLang="en-US"/>
            </a:p>
          </p:txBody>
        </p:sp>
        <p:sp>
          <p:nvSpPr>
            <p:cNvPr id="161818" name="文本框 40"/>
            <p:cNvSpPr txBox="1">
              <a:spLocks noChangeArrowheads="1"/>
            </p:cNvSpPr>
            <p:nvPr/>
          </p:nvSpPr>
          <p:spPr bwMode="auto">
            <a:xfrm>
              <a:off x="9128" y="3838"/>
              <a:ext cx="612" cy="5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/>
                <a:t>4</a:t>
              </a:r>
              <a:endParaRPr lang="zh-CN" altLang="en-US"/>
            </a:p>
          </p:txBody>
        </p:sp>
        <p:sp>
          <p:nvSpPr>
            <p:cNvPr id="161819" name="文本框 41"/>
            <p:cNvSpPr txBox="1">
              <a:spLocks noChangeArrowheads="1"/>
            </p:cNvSpPr>
            <p:nvPr/>
          </p:nvSpPr>
          <p:spPr bwMode="auto">
            <a:xfrm>
              <a:off x="4745" y="4600"/>
              <a:ext cx="610" cy="5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/>
                <a:t>5</a:t>
              </a:r>
              <a:endParaRPr lang="zh-CN" altLang="en-US"/>
            </a:p>
          </p:txBody>
        </p:sp>
        <p:sp>
          <p:nvSpPr>
            <p:cNvPr id="161820" name="文本框 42"/>
            <p:cNvSpPr txBox="1">
              <a:spLocks noChangeArrowheads="1"/>
            </p:cNvSpPr>
            <p:nvPr/>
          </p:nvSpPr>
          <p:spPr bwMode="auto">
            <a:xfrm>
              <a:off x="5840" y="4595"/>
              <a:ext cx="610" cy="5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/>
                <a:t>6</a:t>
              </a:r>
              <a:endParaRPr lang="zh-CN" altLang="en-US"/>
            </a:p>
          </p:txBody>
        </p:sp>
        <p:sp>
          <p:nvSpPr>
            <p:cNvPr id="161821" name="文本框 43"/>
            <p:cNvSpPr txBox="1">
              <a:spLocks noChangeArrowheads="1"/>
            </p:cNvSpPr>
            <p:nvPr/>
          </p:nvSpPr>
          <p:spPr bwMode="auto">
            <a:xfrm>
              <a:off x="7018" y="4600"/>
              <a:ext cx="610" cy="5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/>
                <a:t>7</a:t>
              </a:r>
              <a:endParaRPr lang="zh-CN" altLang="en-US"/>
            </a:p>
          </p:txBody>
        </p:sp>
        <p:sp>
          <p:nvSpPr>
            <p:cNvPr id="161822" name="文本框 44"/>
            <p:cNvSpPr txBox="1">
              <a:spLocks noChangeArrowheads="1"/>
            </p:cNvSpPr>
            <p:nvPr/>
          </p:nvSpPr>
          <p:spPr bwMode="auto">
            <a:xfrm>
              <a:off x="8043" y="4600"/>
              <a:ext cx="610" cy="5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/>
                <a:t>8</a:t>
              </a:r>
              <a:endParaRPr lang="zh-CN" altLang="en-US"/>
            </a:p>
          </p:txBody>
        </p:sp>
        <p:sp>
          <p:nvSpPr>
            <p:cNvPr id="161823" name="文本框 45"/>
            <p:cNvSpPr txBox="1">
              <a:spLocks noChangeArrowheads="1"/>
            </p:cNvSpPr>
            <p:nvPr/>
          </p:nvSpPr>
          <p:spPr bwMode="auto">
            <a:xfrm>
              <a:off x="9178" y="4623"/>
              <a:ext cx="610" cy="5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/>
                <a:t>9</a:t>
              </a:r>
              <a:endParaRPr lang="zh-CN" altLang="en-US"/>
            </a:p>
          </p:txBody>
        </p:sp>
        <p:sp>
          <p:nvSpPr>
            <p:cNvPr id="161824" name="文本框 32"/>
            <p:cNvSpPr txBox="1">
              <a:spLocks noChangeArrowheads="1"/>
            </p:cNvSpPr>
            <p:nvPr/>
          </p:nvSpPr>
          <p:spPr bwMode="auto">
            <a:xfrm>
              <a:off x="4668" y="5598"/>
              <a:ext cx="1450" cy="4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1400"/>
                <a:t>ENTER</a:t>
              </a:r>
              <a:endParaRPr lang="zh-CN" altLang="en-US" sz="1400"/>
            </a:p>
          </p:txBody>
        </p:sp>
        <p:sp>
          <p:nvSpPr>
            <p:cNvPr id="161825" name="文本框 48"/>
            <p:cNvSpPr txBox="1">
              <a:spLocks noChangeArrowheads="1"/>
            </p:cNvSpPr>
            <p:nvPr/>
          </p:nvSpPr>
          <p:spPr bwMode="auto">
            <a:xfrm>
              <a:off x="6625" y="5600"/>
              <a:ext cx="1450" cy="4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1400"/>
                <a:t>CLEAR</a:t>
              </a:r>
              <a:endParaRPr lang="zh-CN" altLang="en-US" sz="1400"/>
            </a:p>
          </p:txBody>
        </p:sp>
        <p:sp>
          <p:nvSpPr>
            <p:cNvPr id="161826" name="文本框 49"/>
            <p:cNvSpPr txBox="1">
              <a:spLocks noChangeArrowheads="1"/>
            </p:cNvSpPr>
            <p:nvPr/>
          </p:nvSpPr>
          <p:spPr bwMode="auto">
            <a:xfrm>
              <a:off x="8435" y="5600"/>
              <a:ext cx="1453" cy="4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1400"/>
                <a:t>CANCEL</a:t>
              </a:r>
              <a:endParaRPr lang="zh-CN" altLang="en-US" sz="1400"/>
            </a:p>
          </p:txBody>
        </p:sp>
        <p:sp>
          <p:nvSpPr>
            <p:cNvPr id="161827" name="文本框 35"/>
            <p:cNvSpPr txBox="1">
              <a:spLocks noChangeArrowheads="1"/>
            </p:cNvSpPr>
            <p:nvPr/>
          </p:nvSpPr>
          <p:spPr bwMode="auto">
            <a:xfrm>
              <a:off x="4975" y="7680"/>
              <a:ext cx="1973" cy="5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/>
                <a:t>账单出口</a:t>
              </a:r>
              <a:endParaRPr lang="zh-CN" altLang="en-US"/>
            </a:p>
          </p:txBody>
        </p:sp>
        <p:sp>
          <p:nvSpPr>
            <p:cNvPr id="161828" name="文本框 51"/>
            <p:cNvSpPr txBox="1">
              <a:spLocks noChangeArrowheads="1"/>
            </p:cNvSpPr>
            <p:nvPr/>
          </p:nvSpPr>
          <p:spPr bwMode="auto">
            <a:xfrm>
              <a:off x="8075" y="7638"/>
              <a:ext cx="1973" cy="5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/>
                <a:t>现金出口</a:t>
              </a:r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1508125" y="6244590"/>
            <a:ext cx="28384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+mn-ea"/>
                <a:cs typeface="+mn-ea"/>
              </a:rPr>
              <a:t>ATM</a:t>
            </a:r>
            <a:r>
              <a:rPr lang="zh-CN" altLang="en-US" sz="1000" b="1">
                <a:latin typeface="+mn-ea"/>
                <a:cs typeface="+mn-ea"/>
              </a:rPr>
              <a:t>的界面格式</a:t>
            </a:r>
            <a:endParaRPr lang="zh-CN" altLang="en-US" sz="1000" b="1">
              <a:latin typeface="+mn-ea"/>
              <a:cs typeface="+mn-ea"/>
            </a:endParaRPr>
          </a:p>
        </p:txBody>
      </p:sp>
      <p:sp>
        <p:nvSpPr>
          <p:cNvPr id="165891" name="文本框 1"/>
          <p:cNvSpPr txBox="1">
            <a:spLocks noChangeArrowheads="1"/>
          </p:cNvSpPr>
          <p:nvPr/>
        </p:nvSpPr>
        <p:spPr bwMode="auto">
          <a:xfrm>
            <a:off x="6104255" y="965835"/>
            <a:ext cx="5935345" cy="7004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eaLnBrk="1" hangingPunct="1">
              <a:lnSpc>
                <a:spcPct val="165000"/>
              </a:lnSpc>
            </a:pPr>
            <a:r>
              <a:rPr lang="zh-CN" altLang="en-US" sz="1200" dirty="0" smtClean="0">
                <a:latin typeface="Bodoni MT Black" panose="02070A03080606020203" pitchFamily="18" charset="0"/>
              </a:rPr>
              <a:t>事件</a:t>
            </a:r>
            <a:r>
              <a:rPr lang="zh-CN" altLang="en-US" sz="1200" dirty="0">
                <a:latin typeface="Bodoni MT Black" panose="02070A03080606020203" pitchFamily="18" charset="0"/>
              </a:rPr>
              <a:t>包括系统与</a:t>
            </a:r>
            <a:r>
              <a:rPr lang="zh-CN" altLang="en-US" sz="1200" dirty="0" smtClean="0">
                <a:latin typeface="Bodoni MT Black" panose="02070A03080606020203" pitchFamily="18" charset="0"/>
              </a:rPr>
              <a:t>用户（或外部设备）交互</a:t>
            </a:r>
            <a:r>
              <a:rPr lang="zh-CN" altLang="en-US" sz="1200" dirty="0">
                <a:latin typeface="Bodoni MT Black" panose="02070A03080606020203" pitchFamily="18" charset="0"/>
              </a:rPr>
              <a:t>的所有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信号、输入、输出、中断、动作</a:t>
            </a:r>
            <a:r>
              <a:rPr lang="zh-CN" altLang="en-US" sz="1200" dirty="0">
                <a:latin typeface="Bodoni MT Black" panose="02070A03080606020203" pitchFamily="18" charset="0"/>
              </a:rPr>
              <a:t>等。从脚本中容易找出</a:t>
            </a:r>
            <a:r>
              <a:rPr lang="zh-CN" altLang="en-US" sz="1200" b="1" dirty="0">
                <a:solidFill>
                  <a:srgbClr val="00B0F0"/>
                </a:solidFill>
                <a:latin typeface="Bodoni MT Black" panose="02070A03080606020203" pitchFamily="18" charset="0"/>
              </a:rPr>
              <a:t>正常事件</a:t>
            </a:r>
            <a:r>
              <a:rPr lang="zh-CN" altLang="en-US" sz="1200" dirty="0">
                <a:latin typeface="Bodoni MT Black" panose="02070A03080606020203" pitchFamily="18" charset="0"/>
              </a:rPr>
              <a:t>，</a:t>
            </a:r>
            <a:r>
              <a:rPr lang="zh-CN" altLang="en-US" sz="1200" dirty="0" smtClean="0">
                <a:latin typeface="Bodoni MT Black" panose="02070A03080606020203" pitchFamily="18" charset="0"/>
              </a:rPr>
              <a:t>但不</a:t>
            </a:r>
            <a:r>
              <a:rPr lang="zh-CN" altLang="en-US" sz="1200" dirty="0">
                <a:latin typeface="Bodoni MT Black" panose="02070A03080606020203" pitchFamily="18" charset="0"/>
              </a:rPr>
              <a:t>要遗漏了</a:t>
            </a:r>
            <a:r>
              <a:rPr lang="zh-CN" altLang="en-US" sz="1200" b="1" dirty="0">
                <a:solidFill>
                  <a:srgbClr val="00B0F0"/>
                </a:solidFill>
                <a:latin typeface="Bodoni MT Black" panose="02070A03080606020203" pitchFamily="18" charset="0"/>
              </a:rPr>
              <a:t>异常事件</a:t>
            </a:r>
            <a:r>
              <a:rPr lang="zh-CN" altLang="en-US" sz="1200" dirty="0">
                <a:latin typeface="Bodoni MT Black" panose="02070A03080606020203" pitchFamily="18" charset="0"/>
              </a:rPr>
              <a:t>和</a:t>
            </a:r>
            <a:r>
              <a:rPr lang="zh-CN" altLang="en-US" sz="1200" b="1" dirty="0">
                <a:solidFill>
                  <a:srgbClr val="00B0F0"/>
                </a:solidFill>
                <a:latin typeface="Bodoni MT Black" panose="02070A03080606020203" pitchFamily="18" charset="0"/>
              </a:rPr>
              <a:t>出错条件</a:t>
            </a:r>
            <a:r>
              <a:rPr lang="zh-CN" altLang="en-US" sz="1200" dirty="0">
                <a:latin typeface="Bodoni MT Black" panose="02070A03080606020203" pitchFamily="18" charset="0"/>
              </a:rPr>
              <a:t>。</a:t>
            </a:r>
            <a:endParaRPr lang="en-US" altLang="zh-CN" sz="1200" dirty="0">
              <a:latin typeface="Bodoni MT Black" panose="02070A03080606020203" pitchFamily="18" charset="0"/>
            </a:endParaRPr>
          </a:p>
        </p:txBody>
      </p:sp>
      <p:sp>
        <p:nvSpPr>
          <p:cNvPr id="165893" name="文本框 2"/>
          <p:cNvSpPr txBox="1">
            <a:spLocks noChangeArrowheads="1"/>
          </p:cNvSpPr>
          <p:nvPr/>
        </p:nvSpPr>
        <p:spPr bwMode="auto">
          <a:xfrm>
            <a:off x="6033770" y="1666240"/>
            <a:ext cx="6077585" cy="1309370"/>
          </a:xfrm>
          <a:prstGeom prst="rect">
            <a:avLst/>
          </a:prstGeom>
          <a:noFill/>
          <a:ln w="1587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107950">
            <a:spAutoFit/>
          </a:bodyPr>
          <a:p>
            <a:pPr marL="342900" indent="-342900" eaLnBrk="1" hangingPunct="1">
              <a:lnSpc>
                <a:spcPct val="165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+mn-ea"/>
                <a:cs typeface="+mn-ea"/>
              </a:rPr>
              <a:t>从每个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+mn-ea"/>
              </a:rPr>
              <a:t>脚本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cs typeface="+mn-ea"/>
              </a:rPr>
              <a:t>中提取出所有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+mn-ea"/>
              </a:rPr>
              <a:t>外部事件</a:t>
            </a:r>
            <a:r>
              <a:rPr lang="zh-CN" altLang="en-US" sz="1200" dirty="0" smtClean="0">
                <a:solidFill>
                  <a:schemeClr val="tx1"/>
                </a:solidFill>
                <a:latin typeface="+mn-ea"/>
                <a:cs typeface="+mn-ea"/>
              </a:rPr>
              <a:t>。</a:t>
            </a:r>
            <a:endParaRPr lang="en-US" altLang="zh-CN" sz="1200" dirty="0">
              <a:solidFill>
                <a:schemeClr val="tx1"/>
              </a:solidFill>
              <a:latin typeface="+mn-ea"/>
              <a:cs typeface="+mn-ea"/>
            </a:endParaRPr>
          </a:p>
          <a:p>
            <a:pPr marL="342900" indent="-342900" eaLnBrk="1" hangingPunct="1">
              <a:lnSpc>
                <a:spcPct val="165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 b="1" dirty="0" smtClean="0">
                <a:solidFill>
                  <a:schemeClr val="tx1"/>
                </a:solidFill>
                <a:latin typeface="+mn-ea"/>
                <a:cs typeface="+mn-ea"/>
              </a:rPr>
              <a:t>传递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+mn-ea"/>
              </a:rPr>
              <a:t>信息的对象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cs typeface="+mn-ea"/>
              </a:rPr>
              <a:t>的动作也是事件。例如，储户插入现金兑换卡、储户输入密码、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cs typeface="+mn-ea"/>
              </a:rPr>
              <a:t>ATM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cs typeface="+mn-ea"/>
              </a:rPr>
              <a:t>吐出现金等都是事件</a:t>
            </a:r>
            <a:r>
              <a:rPr lang="zh-CN" altLang="en-US" sz="1200" dirty="0" smtClean="0">
                <a:solidFill>
                  <a:schemeClr val="tx1"/>
                </a:solidFill>
                <a:latin typeface="+mn-ea"/>
                <a:cs typeface="+mn-ea"/>
              </a:rPr>
              <a:t>。</a:t>
            </a:r>
            <a:endParaRPr lang="en-US" altLang="zh-CN" sz="1200" dirty="0">
              <a:solidFill>
                <a:schemeClr val="tx1"/>
              </a:solidFill>
              <a:latin typeface="+mn-ea"/>
              <a:cs typeface="+mn-ea"/>
            </a:endParaRPr>
          </a:p>
          <a:p>
            <a:pPr marL="342900" indent="-342900" eaLnBrk="1" hangingPunct="1">
              <a:lnSpc>
                <a:spcPct val="165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 b="1" dirty="0" smtClean="0">
                <a:solidFill>
                  <a:schemeClr val="tx1"/>
                </a:solidFill>
                <a:latin typeface="+mn-ea"/>
                <a:cs typeface="+mn-ea"/>
              </a:rPr>
              <a:t>大多数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+mn-ea"/>
              </a:rPr>
              <a:t>对象到对象的交互行为都对应着事件。</a:t>
            </a:r>
            <a:endParaRPr lang="zh-CN" altLang="en-US" sz="12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67939" name="文本框 1"/>
          <p:cNvSpPr txBox="1">
            <a:spLocks noChangeArrowheads="1"/>
          </p:cNvSpPr>
          <p:nvPr/>
        </p:nvSpPr>
        <p:spPr bwMode="auto">
          <a:xfrm>
            <a:off x="6163310" y="3072765"/>
            <a:ext cx="5627370" cy="321945"/>
          </a:xfrm>
          <a:prstGeom prst="rect">
            <a:avLst/>
          </a:prstGeom>
          <a:solidFill>
            <a:srgbClr val="FBFEA0"/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p>
            <a:pPr eaLnBrk="1" hangingPunct="1">
              <a:lnSpc>
                <a:spcPct val="125000"/>
              </a:lnSpc>
            </a:pPr>
            <a:r>
              <a:rPr lang="zh-CN" altLang="en-US" sz="1200" b="1" dirty="0">
                <a:latin typeface="Bodoni MT Black" panose="02070A03080606020203" pitchFamily="18" charset="0"/>
              </a:rPr>
              <a:t>对控制流产生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相同效果</a:t>
            </a:r>
            <a:r>
              <a:rPr lang="zh-CN" altLang="en-US" sz="1200" b="1" dirty="0">
                <a:latin typeface="Bodoni MT Black" panose="02070A03080606020203" pitchFamily="18" charset="0"/>
              </a:rPr>
              <a:t>的事件</a:t>
            </a:r>
            <a:r>
              <a:rPr lang="zh-CN" altLang="en-US" sz="1200" b="1" dirty="0">
                <a:solidFill>
                  <a:srgbClr val="00B0F0"/>
                </a:solidFill>
                <a:latin typeface="Bodoni MT Black" panose="02070A03080606020203" pitchFamily="18" charset="0"/>
              </a:rPr>
              <a:t>组合</a:t>
            </a:r>
            <a:r>
              <a:rPr lang="zh-CN" altLang="en-US" sz="1200" b="1" dirty="0">
                <a:latin typeface="Bodoni MT Black" panose="02070A03080606020203" pitchFamily="18" charset="0"/>
              </a:rPr>
              <a:t>在一起作为一类事件，并给它们取唯一的名字。</a:t>
            </a:r>
            <a:endParaRPr lang="en-US" altLang="zh-CN" sz="1200" b="1" dirty="0">
              <a:latin typeface="Bodoni MT Black" panose="02070A03080606020203" pitchFamily="18" charset="0"/>
            </a:endParaRPr>
          </a:p>
        </p:txBody>
      </p:sp>
      <p:sp>
        <p:nvSpPr>
          <p:cNvPr id="167942" name="文本框 4"/>
          <p:cNvSpPr txBox="1">
            <a:spLocks noChangeArrowheads="1"/>
          </p:cNvSpPr>
          <p:nvPr/>
        </p:nvSpPr>
        <p:spPr bwMode="auto">
          <a:xfrm>
            <a:off x="6163310" y="3402965"/>
            <a:ext cx="5628005" cy="628650"/>
          </a:xfrm>
          <a:prstGeom prst="rect">
            <a:avLst/>
          </a:prstGeom>
          <a:solidFill>
            <a:srgbClr val="9AE73D"/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p>
            <a:pPr eaLnBrk="1" hangingPunct="1">
              <a:lnSpc>
                <a:spcPct val="145000"/>
              </a:lnSpc>
            </a:pPr>
            <a:r>
              <a:rPr lang="zh-CN" altLang="en-US" sz="1000" dirty="0">
                <a:latin typeface="Bodoni MT Black" panose="02070A03080606020203" pitchFamily="18" charset="0"/>
              </a:rPr>
              <a:t>例如，</a:t>
            </a:r>
            <a:r>
              <a:rPr lang="zh-CN" altLang="en-US" sz="1000" dirty="0">
                <a:solidFill>
                  <a:srgbClr val="0070C0"/>
                </a:solidFill>
                <a:latin typeface="Bodoni MT Black" panose="02070A03080606020203" pitchFamily="18" charset="0"/>
              </a:rPr>
              <a:t>“吐出现金”</a:t>
            </a:r>
            <a:r>
              <a:rPr lang="zh-CN" altLang="en-US" sz="1000" dirty="0">
                <a:latin typeface="Bodoni MT Black" panose="02070A03080606020203" pitchFamily="18" charset="0"/>
              </a:rPr>
              <a:t>是一个事件类，尽管这类事件中的每个个别事件的参数值</a:t>
            </a:r>
            <a:r>
              <a:rPr lang="zh-CN" altLang="en-US" sz="1000" dirty="0" smtClean="0">
                <a:latin typeface="Bodoni MT Black" panose="02070A03080606020203" pitchFamily="18" charset="0"/>
              </a:rPr>
              <a:t>不同（吐出</a:t>
            </a:r>
            <a:r>
              <a:rPr lang="zh-CN" altLang="en-US" sz="1000" dirty="0">
                <a:latin typeface="Bodoni MT Black" panose="02070A03080606020203" pitchFamily="18" charset="0"/>
              </a:rPr>
              <a:t>的现金数额</a:t>
            </a:r>
            <a:r>
              <a:rPr lang="zh-CN" altLang="en-US" sz="1000" dirty="0" smtClean="0">
                <a:latin typeface="Bodoni MT Black" panose="02070A03080606020203" pitchFamily="18" charset="0"/>
              </a:rPr>
              <a:t>不同），</a:t>
            </a:r>
            <a:r>
              <a:rPr lang="zh-CN" altLang="en-US" sz="1000" dirty="0">
                <a:latin typeface="Bodoni MT Black" panose="02070A03080606020203" pitchFamily="18" charset="0"/>
              </a:rPr>
              <a:t>然而这并不影响控制流。</a:t>
            </a:r>
            <a:endParaRPr lang="zh-CN" altLang="en-US" sz="1000" dirty="0">
              <a:latin typeface="Bodoni MT Black" panose="02070A03080606020203" pitchFamily="18" charset="0"/>
            </a:endParaRPr>
          </a:p>
        </p:txBody>
      </p:sp>
      <p:sp>
        <p:nvSpPr>
          <p:cNvPr id="37" name="文本框 1"/>
          <p:cNvSpPr txBox="1">
            <a:spLocks noChangeArrowheads="1"/>
          </p:cNvSpPr>
          <p:nvPr/>
        </p:nvSpPr>
        <p:spPr bwMode="auto">
          <a:xfrm>
            <a:off x="6163945" y="4090670"/>
            <a:ext cx="5627370" cy="321945"/>
          </a:xfrm>
          <a:prstGeom prst="rect">
            <a:avLst/>
          </a:prstGeom>
          <a:solidFill>
            <a:srgbClr val="FBFEA0"/>
          </a:solidFill>
          <a:ln w="635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p>
            <a:pPr algn="l" eaLnBrk="1" hangingPunct="1">
              <a:lnSpc>
                <a:spcPct val="125000"/>
              </a:lnSpc>
              <a:buClrTx/>
              <a:buSzTx/>
              <a:buFontTx/>
            </a:pP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     </a:t>
            </a: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 </a:t>
            </a:r>
            <a:r>
              <a:rPr lang="zh-CN" altLang="en-US" sz="1200" b="1" dirty="0">
                <a:latin typeface="Bodoni MT Black" panose="02070A03080606020203" pitchFamily="18" charset="0"/>
                <a:sym typeface="+mn-ea"/>
              </a:rPr>
              <a:t>应把对控制流有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不同影响</a:t>
            </a:r>
            <a:r>
              <a:rPr lang="zh-CN" altLang="en-US" sz="1200" b="1" dirty="0">
                <a:latin typeface="Bodoni MT Black" panose="02070A03080606020203" pitchFamily="18" charset="0"/>
                <a:sym typeface="+mn-ea"/>
              </a:rPr>
              <a:t>的那些事件</a:t>
            </a:r>
            <a:r>
              <a:rPr lang="zh-CN" altLang="en-US" sz="1200" b="1" dirty="0">
                <a:solidFill>
                  <a:srgbClr val="00B0F0"/>
                </a:solidFill>
                <a:latin typeface="Bodoni MT Black" panose="02070A03080606020203" pitchFamily="18" charset="0"/>
                <a:sym typeface="+mn-ea"/>
              </a:rPr>
              <a:t>区分</a:t>
            </a:r>
            <a:r>
              <a:rPr lang="zh-CN" altLang="en-US" sz="1200" b="1" dirty="0">
                <a:latin typeface="Bodoni MT Black" panose="02070A03080606020203" pitchFamily="18" charset="0"/>
                <a:sym typeface="+mn-ea"/>
              </a:rPr>
              <a:t>开来，不要误把它们组合在一起。</a:t>
            </a:r>
            <a:endParaRPr lang="zh-CN" altLang="en-US" sz="1200" b="1" dirty="0">
              <a:latin typeface="Bodoni MT Black" panose="02070A03080606020203" pitchFamily="18" charset="0"/>
            </a:endParaRPr>
          </a:p>
        </p:txBody>
      </p:sp>
      <p:sp>
        <p:nvSpPr>
          <p:cNvPr id="38" name="文本框 4"/>
          <p:cNvSpPr txBox="1">
            <a:spLocks noChangeArrowheads="1"/>
          </p:cNvSpPr>
          <p:nvPr/>
        </p:nvSpPr>
        <p:spPr bwMode="auto">
          <a:xfrm>
            <a:off x="6163945" y="4412615"/>
            <a:ext cx="5628005" cy="404495"/>
          </a:xfrm>
          <a:prstGeom prst="rect">
            <a:avLst/>
          </a:prstGeom>
          <a:solidFill>
            <a:srgbClr val="9AE73D"/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noAutofit/>
          </a:bodyPr>
          <a:p>
            <a:pPr eaLnBrk="1" hangingPunct="1">
              <a:lnSpc>
                <a:spcPct val="155000"/>
              </a:lnSpc>
            </a:pPr>
            <a:r>
              <a:rPr lang="zh-CN" altLang="en-US" sz="1000" dirty="0" smtClean="0">
                <a:latin typeface="Bodoni MT Black" panose="02070A03080606020203" pitchFamily="18" charset="0"/>
                <a:sym typeface="+mn-ea"/>
              </a:rPr>
              <a:t>例如，</a:t>
            </a:r>
            <a:r>
              <a:rPr lang="zh-CN" altLang="en-US" sz="1000" dirty="0" smtClean="0">
                <a:solidFill>
                  <a:srgbClr val="0070C0"/>
                </a:solidFill>
                <a:latin typeface="Bodoni MT Black" panose="02070A03080606020203" pitchFamily="18" charset="0"/>
                <a:sym typeface="+mn-ea"/>
              </a:rPr>
              <a:t>“账户有效”</a:t>
            </a:r>
            <a:r>
              <a:rPr lang="zh-CN" altLang="en-US" sz="1000" dirty="0">
                <a:solidFill>
                  <a:srgbClr val="0070C0"/>
                </a:solidFill>
                <a:latin typeface="Bodoni MT Black" panose="02070A03080606020203" pitchFamily="18" charset="0"/>
                <a:sym typeface="+mn-ea"/>
              </a:rPr>
              <a:t>、“账户无效”、“密码错”</a:t>
            </a:r>
            <a:r>
              <a:rPr lang="zh-CN" altLang="en-US" sz="1000" dirty="0">
                <a:latin typeface="Bodoni MT Black" panose="02070A03080606020203" pitchFamily="18" charset="0"/>
                <a:sym typeface="+mn-ea"/>
              </a:rPr>
              <a:t>等都是不同的事件。</a:t>
            </a:r>
            <a:endParaRPr lang="zh-CN" altLang="en-US" sz="1000" dirty="0">
              <a:latin typeface="Bodoni MT Black" panose="02070A03080606020203" pitchFamily="18" charset="0"/>
            </a:endParaRPr>
          </a:p>
        </p:txBody>
      </p:sp>
      <p:sp>
        <p:nvSpPr>
          <p:cNvPr id="169987" name="文本框 3"/>
          <p:cNvSpPr txBox="1">
            <a:spLocks noChangeArrowheads="1"/>
          </p:cNvSpPr>
          <p:nvPr/>
        </p:nvSpPr>
        <p:spPr bwMode="auto">
          <a:xfrm>
            <a:off x="6182360" y="5024755"/>
            <a:ext cx="5608320" cy="1114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eaLnBrk="1" hangingPunct="1">
              <a:lnSpc>
                <a:spcPct val="185000"/>
              </a:lnSpc>
            </a:pPr>
            <a:r>
              <a:rPr lang="zh-CN" altLang="en-US" sz="1200" dirty="0">
                <a:latin typeface="Bodoni MT Black" panose="02070A03080606020203" pitchFamily="18" charset="0"/>
              </a:rPr>
              <a:t>    </a:t>
            </a:r>
            <a:r>
              <a:rPr lang="zh-CN" altLang="en-US" sz="1200" dirty="0" smtClean="0">
                <a:latin typeface="Bodoni MT Black" panose="02070A03080606020203" pitchFamily="18" charset="0"/>
              </a:rPr>
              <a:t> 经过</a:t>
            </a:r>
            <a:r>
              <a:rPr lang="zh-CN" altLang="en-US" sz="1200" dirty="0">
                <a:latin typeface="Bodoni MT Black" panose="02070A03080606020203" pitchFamily="18" charset="0"/>
              </a:rPr>
              <a:t>分析，应该区分出每类事件的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发送对象</a:t>
            </a:r>
            <a:r>
              <a:rPr lang="zh-CN" altLang="en-US" sz="1200" dirty="0">
                <a:latin typeface="Bodoni MT Black" panose="02070A03080606020203" pitchFamily="18" charset="0"/>
              </a:rPr>
              <a:t>和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接受对象</a:t>
            </a:r>
            <a:r>
              <a:rPr lang="zh-CN" altLang="en-US" sz="1200" dirty="0">
                <a:latin typeface="Bodoni MT Black" panose="02070A03080606020203" pitchFamily="18" charset="0"/>
              </a:rPr>
              <a:t>。一类事件相对它的发送对象来说是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输出事件</a:t>
            </a:r>
            <a:r>
              <a:rPr lang="zh-CN" altLang="en-US" sz="1200" dirty="0">
                <a:latin typeface="Bodoni MT Black" panose="02070A03080606020203" pitchFamily="18" charset="0"/>
              </a:rPr>
              <a:t>，但是相对它的接受对象来说则是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输入事件</a:t>
            </a:r>
            <a:r>
              <a:rPr lang="zh-CN" altLang="en-US" sz="1200" dirty="0">
                <a:latin typeface="Bodoni MT Black" panose="02070A03080606020203" pitchFamily="18" charset="0"/>
              </a:rPr>
              <a:t>。有时一个对象把事件发送给自己，在这种情况下，该事件既是输出事件又是输入事件。</a:t>
            </a:r>
            <a:endParaRPr lang="zh-CN" altLang="en-US" sz="1200" dirty="0">
              <a:latin typeface="Bodoni MT Black" panose="02070A03080606020203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0774045" y="247015"/>
            <a:ext cx="1265555" cy="11741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6690" y="5527675"/>
            <a:ext cx="1054100" cy="10102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5922645" y="0"/>
            <a:ext cx="0" cy="6866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-635"/>
            <a:ext cx="5919470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画出事件跟踪图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56300" y="0"/>
            <a:ext cx="6235065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画状态图</a:t>
            </a:r>
            <a:endParaRPr lang="en-US" altLang="zh-CN" b="1">
              <a:solidFill>
                <a:schemeClr val="bg2"/>
              </a:solidFill>
              <a:sym typeface="+mn-ea"/>
            </a:endParaRPr>
          </a:p>
        </p:txBody>
      </p:sp>
      <p:sp>
        <p:nvSpPr>
          <p:cNvPr id="172036" name="文本框 1"/>
          <p:cNvSpPr txBox="1">
            <a:spLocks noChangeArrowheads="1"/>
          </p:cNvSpPr>
          <p:nvPr/>
        </p:nvSpPr>
        <p:spPr bwMode="auto">
          <a:xfrm>
            <a:off x="137160" y="609600"/>
            <a:ext cx="5751830" cy="321945"/>
          </a:xfrm>
          <a:prstGeom prst="rect">
            <a:avLst/>
          </a:prstGeom>
          <a:solidFill>
            <a:srgbClr val="FBFEA0"/>
          </a:solidFill>
          <a:ln w="15875">
            <a:noFill/>
            <a:miter lim="800000"/>
          </a:ln>
        </p:spPr>
        <p:txBody>
          <a:bodyPr wrap="square">
            <a:spAutoFit/>
          </a:bodyPr>
          <a:p>
            <a:pPr eaLnBrk="1" hangingPunct="1">
              <a:lnSpc>
                <a:spcPct val="125000"/>
              </a:lnSpc>
            </a:pPr>
            <a:r>
              <a:rPr lang="zh-CN" altLang="en-US" sz="1200" dirty="0">
                <a:latin typeface="+mn-ea"/>
                <a:cs typeface="+mn-ea"/>
              </a:rPr>
              <a:t>   </a:t>
            </a:r>
            <a:r>
              <a:rPr lang="zh-CN" altLang="en-US" sz="1200" b="1" dirty="0">
                <a:latin typeface="+mn-ea"/>
                <a:cs typeface="+mn-ea"/>
              </a:rPr>
              <a:t>  </a:t>
            </a:r>
            <a:r>
              <a:rPr lang="zh-CN" altLang="en-US" sz="1200" b="1" dirty="0" smtClean="0">
                <a:solidFill>
                  <a:srgbClr val="FF0000"/>
                </a:solidFill>
                <a:latin typeface="+mn-ea"/>
                <a:cs typeface="+mn-ea"/>
              </a:rPr>
              <a:t>事件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+mn-ea"/>
              </a:rPr>
              <a:t>跟踪图</a:t>
            </a:r>
            <a:r>
              <a:rPr lang="zh-CN" altLang="en-US" sz="1200" dirty="0">
                <a:latin typeface="+mn-ea"/>
                <a:cs typeface="+mn-ea"/>
              </a:rPr>
              <a:t>实质上是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cs typeface="+mn-ea"/>
              </a:rPr>
              <a:t>扩充的脚本</a:t>
            </a:r>
            <a:r>
              <a:rPr lang="zh-CN" altLang="en-US" sz="1200" dirty="0">
                <a:latin typeface="+mn-ea"/>
                <a:cs typeface="+mn-ea"/>
              </a:rPr>
              <a:t>，可以认为事件跟踪图是</a:t>
            </a:r>
            <a:r>
              <a:rPr lang="zh-CN" altLang="en-US" sz="1200" b="1" dirty="0">
                <a:solidFill>
                  <a:srgbClr val="00B0F0"/>
                </a:solidFill>
                <a:latin typeface="+mn-ea"/>
                <a:cs typeface="+mn-ea"/>
              </a:rPr>
              <a:t>简化的</a:t>
            </a:r>
            <a:r>
              <a:rPr lang="en-US" altLang="zh-CN" sz="1200" b="1" dirty="0">
                <a:solidFill>
                  <a:srgbClr val="00B0F0"/>
                </a:solidFill>
                <a:latin typeface="+mn-ea"/>
                <a:cs typeface="+mn-ea"/>
              </a:rPr>
              <a:t>UML</a:t>
            </a:r>
            <a:r>
              <a:rPr lang="zh-CN" altLang="en-US" sz="1200" b="1" dirty="0">
                <a:solidFill>
                  <a:srgbClr val="00B0F0"/>
                </a:solidFill>
                <a:latin typeface="+mn-ea"/>
                <a:cs typeface="+mn-ea"/>
              </a:rPr>
              <a:t>顺序图</a:t>
            </a:r>
            <a:r>
              <a:rPr lang="zh-CN" altLang="en-US" sz="1200" dirty="0">
                <a:latin typeface="+mn-ea"/>
                <a:cs typeface="+mn-ea"/>
              </a:rPr>
              <a:t>。</a:t>
            </a:r>
            <a:endParaRPr lang="zh-CN" altLang="en-US" sz="1200" dirty="0">
              <a:latin typeface="+mn-ea"/>
              <a:cs typeface="+mn-ea"/>
            </a:endParaRPr>
          </a:p>
        </p:txBody>
      </p:sp>
      <p:sp>
        <p:nvSpPr>
          <p:cNvPr id="172037" name="文本框 2"/>
          <p:cNvSpPr txBox="1">
            <a:spLocks noChangeArrowheads="1"/>
          </p:cNvSpPr>
          <p:nvPr/>
        </p:nvSpPr>
        <p:spPr bwMode="auto">
          <a:xfrm>
            <a:off x="198120" y="982980"/>
            <a:ext cx="5542915" cy="662940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p>
            <a:pPr eaLnBrk="1" hangingPunct="1">
              <a:lnSpc>
                <a:spcPct val="155000"/>
              </a:lnSpc>
            </a:pPr>
            <a:r>
              <a:rPr lang="zh-CN" altLang="en-US" sz="1200" dirty="0" smtClean="0">
                <a:latin typeface="Bodoni MT Black" panose="02070A03080606020203" pitchFamily="18" charset="0"/>
              </a:rPr>
              <a:t>在</a:t>
            </a:r>
            <a:r>
              <a:rPr lang="zh-CN" altLang="en-US" sz="1200" dirty="0">
                <a:latin typeface="Bodoni MT Black" panose="02070A03080606020203" pitchFamily="18" charset="0"/>
              </a:rPr>
              <a:t>事件跟踪图中，一条</a:t>
            </a:r>
            <a:r>
              <a:rPr lang="zh-CN" altLang="en-US" sz="1200" dirty="0">
                <a:solidFill>
                  <a:srgbClr val="0070C0"/>
                </a:solidFill>
                <a:latin typeface="Bodoni MT Black" panose="02070A03080606020203" pitchFamily="18" charset="0"/>
              </a:rPr>
              <a:t>竖线</a:t>
            </a:r>
            <a:r>
              <a:rPr lang="zh-CN" altLang="en-US" sz="1200" dirty="0">
                <a:latin typeface="Bodoni MT Black" panose="02070A03080606020203" pitchFamily="18" charset="0"/>
              </a:rPr>
              <a:t>代表一个对象，每个事件用一条</a:t>
            </a:r>
            <a:r>
              <a:rPr lang="zh-CN" altLang="en-US" sz="1200" dirty="0">
                <a:solidFill>
                  <a:srgbClr val="0070C0"/>
                </a:solidFill>
                <a:latin typeface="Bodoni MT Black" panose="02070A03080606020203" pitchFamily="18" charset="0"/>
              </a:rPr>
              <a:t>水平的箭头线</a:t>
            </a:r>
            <a:r>
              <a:rPr lang="zh-CN" altLang="en-US" sz="1200" dirty="0">
                <a:latin typeface="Bodoni MT Black" panose="02070A03080606020203" pitchFamily="18" charset="0"/>
              </a:rPr>
              <a:t>表示，</a:t>
            </a:r>
            <a:r>
              <a:rPr lang="zh-CN" altLang="en-US" sz="1200" dirty="0">
                <a:solidFill>
                  <a:srgbClr val="0070C0"/>
                </a:solidFill>
                <a:latin typeface="Bodoni MT Black" panose="02070A03080606020203" pitchFamily="18" charset="0"/>
              </a:rPr>
              <a:t>箭头方向</a:t>
            </a:r>
            <a:r>
              <a:rPr lang="zh-CN" altLang="en-US" sz="1200" dirty="0">
                <a:latin typeface="Bodoni MT Black" panose="02070A03080606020203" pitchFamily="18" charset="0"/>
              </a:rPr>
              <a:t>从事件的发送对象指向接受对象。</a:t>
            </a:r>
            <a:r>
              <a:rPr lang="zh-CN" altLang="en-US" sz="1200" dirty="0">
                <a:solidFill>
                  <a:srgbClr val="0070C0"/>
                </a:solidFill>
                <a:latin typeface="Bodoni MT Black" panose="02070A03080606020203" pitchFamily="18" charset="0"/>
              </a:rPr>
              <a:t>时间</a:t>
            </a:r>
            <a:r>
              <a:rPr lang="zh-CN" altLang="en-US" sz="1200" dirty="0">
                <a:latin typeface="Bodoni MT Black" panose="02070A03080606020203" pitchFamily="18" charset="0"/>
              </a:rPr>
              <a:t>从上向下递增，</a:t>
            </a:r>
            <a:endParaRPr lang="zh-CN" altLang="en-US" sz="1200" dirty="0">
              <a:latin typeface="Bodoni MT Black" panose="02070A03080606020203" pitchFamily="18" charset="0"/>
            </a:endParaRPr>
          </a:p>
        </p:txBody>
      </p:sp>
      <p:pic>
        <p:nvPicPr>
          <p:cNvPr id="174083" name="图片 3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40790" y="1697355"/>
            <a:ext cx="3846195" cy="5022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6132" name="文本框 3"/>
          <p:cNvSpPr txBox="1">
            <a:spLocks noChangeArrowheads="1"/>
          </p:cNvSpPr>
          <p:nvPr/>
        </p:nvSpPr>
        <p:spPr bwMode="auto">
          <a:xfrm>
            <a:off x="6007735" y="514985"/>
            <a:ext cx="5996940" cy="1383665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p>
            <a:pPr eaLnBrk="1" hangingPunct="1">
              <a:lnSpc>
                <a:spcPct val="175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Bodoni MT Black" panose="02070A03080606020203" pitchFamily="18" charset="0"/>
              </a:rPr>
              <a:t>     </a:t>
            </a:r>
            <a:r>
              <a:rPr lang="zh-CN" altLang="en-US" sz="1200" b="1" dirty="0" smtClean="0">
                <a:solidFill>
                  <a:srgbClr val="000000"/>
                </a:solidFill>
                <a:latin typeface="Bodoni MT Black" panose="02070A03080606020203" pitchFamily="18" charset="0"/>
              </a:rPr>
              <a:t>状态图</a:t>
            </a:r>
            <a:r>
              <a:rPr lang="zh-CN" altLang="en-US" sz="1200" b="1" dirty="0">
                <a:solidFill>
                  <a:srgbClr val="000000"/>
                </a:solidFill>
                <a:latin typeface="Bodoni MT Black" panose="02070A03080606020203" pitchFamily="18" charset="0"/>
              </a:rPr>
              <a:t>描绘事件与对象状态的关系</a:t>
            </a:r>
            <a:r>
              <a:rPr lang="zh-CN" altLang="en-US" sz="1200" dirty="0">
                <a:solidFill>
                  <a:srgbClr val="000000"/>
                </a:solidFill>
                <a:latin typeface="Bodoni MT Black" panose="02070A03080606020203" pitchFamily="18" charset="0"/>
              </a:rPr>
              <a:t>。当对象接受了一个事件以后，它的下个状态取决于当前状态及所接受的事件。由事件引起的状态改变称为“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转换</a:t>
            </a:r>
            <a:r>
              <a:rPr lang="zh-CN" altLang="en-US" sz="1200" dirty="0">
                <a:solidFill>
                  <a:srgbClr val="000000"/>
                </a:solidFill>
                <a:latin typeface="Bodoni MT Black" panose="02070A03080606020203" pitchFamily="18" charset="0"/>
              </a:rPr>
              <a:t>”。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 </a:t>
            </a: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通常用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一张状态图描绘</a:t>
            </a:r>
            <a:r>
              <a:rPr lang="zh-CN" altLang="en-US" sz="1200" b="1" dirty="0">
                <a:solidFill>
                  <a:srgbClr val="00B0F0"/>
                </a:solidFill>
                <a:latin typeface="Bodoni MT Black" panose="02070A03080606020203" pitchFamily="18" charset="0"/>
                <a:sym typeface="+mn-ea"/>
              </a:rPr>
              <a:t>一类对象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的行为，它确定了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由事件序列引出的状态序列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。我们需要且</a:t>
            </a:r>
            <a:r>
              <a:rPr lang="zh-CN" altLang="en-US" sz="120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仅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Bodoni MT Black" panose="02070A03080606020203" pitchFamily="18" charset="0"/>
                <a:sym typeface="+mn-ea"/>
              </a:rPr>
              <a:t>考虑事件跟踪图中指向某条竖线的那些箭头线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。</a:t>
            </a:r>
            <a:endParaRPr lang="zh-CN" altLang="en-US" sz="1200" dirty="0">
              <a:solidFill>
                <a:srgbClr val="0000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180227" name="文本框 2"/>
          <p:cNvSpPr txBox="1">
            <a:spLocks noChangeArrowheads="1"/>
          </p:cNvSpPr>
          <p:nvPr/>
        </p:nvSpPr>
        <p:spPr bwMode="auto">
          <a:xfrm>
            <a:off x="6008370" y="1958340"/>
            <a:ext cx="6043930" cy="1688465"/>
          </a:xfrm>
          <a:prstGeom prst="rect">
            <a:avLst/>
          </a:prstGeom>
          <a:noFill/>
          <a:ln w="22225">
            <a:noFill/>
            <a:miter lim="800000"/>
          </a:ln>
        </p:spPr>
        <p:txBody>
          <a:bodyPr wrap="square">
            <a:spAutoFit/>
          </a:bodyPr>
          <a:p>
            <a:pPr marL="228600" indent="-228600" algn="l" eaLnBrk="1" hangingPunct="1">
              <a:lnSpc>
                <a:spcPct val="165000"/>
              </a:lnSpc>
              <a:buClrTx/>
              <a:buSzTx/>
              <a:buFont typeface="+mj-ea"/>
              <a:buAutoNum type="circleNumDbPlain"/>
            </a:pPr>
            <a:r>
              <a:rPr lang="zh-CN" altLang="en-US" sz="1200" b="1" dirty="0">
                <a:latin typeface="Bodoni MT Black" panose="02070A03080606020203" pitchFamily="18" charset="0"/>
              </a:rPr>
              <a:t>考虑正常事件</a:t>
            </a:r>
            <a:endParaRPr lang="zh-CN" altLang="en-US" sz="1200" b="1" dirty="0">
              <a:latin typeface="Bodoni MT Black" panose="02070A03080606020203" pitchFamily="18" charset="0"/>
            </a:endParaRPr>
          </a:p>
          <a:p>
            <a:pPr eaLnBrk="1" hangingPunct="1">
              <a:lnSpc>
                <a:spcPct val="175000"/>
              </a:lnSpc>
            </a:pPr>
            <a:r>
              <a:rPr lang="zh-CN" altLang="en-US" sz="1200" b="1" dirty="0" smtClean="0">
                <a:solidFill>
                  <a:srgbClr val="FF0000"/>
                </a:solidFill>
                <a:latin typeface="Bodoni MT Black" panose="02070A03080606020203" pitchFamily="18" charset="0"/>
              </a:rPr>
              <a:t>根据一张事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件跟踪图画出状态图之后，再把其他脚本的事件跟踪图合并到已画出的状态图中</a:t>
            </a:r>
            <a:r>
              <a:rPr lang="zh-CN" altLang="en-US" sz="1200" b="1" dirty="0">
                <a:latin typeface="Bodoni MT Black" panose="02070A03080606020203" pitchFamily="18" charset="0"/>
              </a:rPr>
              <a:t>。</a:t>
            </a:r>
            <a:r>
              <a:rPr lang="zh-CN" altLang="en-US" sz="1200" dirty="0">
                <a:latin typeface="Bodoni MT Black" panose="02070A03080606020203" pitchFamily="18" charset="0"/>
              </a:rPr>
              <a:t>为此需在事件跟踪图中找出以前考虑过的脚本的</a:t>
            </a:r>
            <a:r>
              <a:rPr lang="zh-CN" altLang="en-US" sz="1200" dirty="0" smtClean="0">
                <a:latin typeface="Bodoni MT Black" panose="02070A03080606020203" pitchFamily="18" charset="0"/>
              </a:rPr>
              <a:t>分支点（例如</a:t>
            </a:r>
            <a:r>
              <a:rPr lang="zh-CN" altLang="en-US" sz="1200" dirty="0">
                <a:latin typeface="Bodoni MT Black" panose="02070A03080606020203" pitchFamily="18" charset="0"/>
              </a:rPr>
              <a:t>“验证账户”就是一个分支点，因为验证的结果可能是“账户有效”，也可能是</a:t>
            </a:r>
            <a:r>
              <a:rPr lang="zh-CN" altLang="en-US" sz="1200" dirty="0" smtClean="0">
                <a:latin typeface="Bodoni MT Black" panose="02070A03080606020203" pitchFamily="18" charset="0"/>
              </a:rPr>
              <a:t>“无效账户”），</a:t>
            </a:r>
            <a:r>
              <a:rPr lang="zh-CN" altLang="en-US" sz="1200" dirty="0">
                <a:latin typeface="Bodoni MT Black" panose="02070A03080606020203" pitchFamily="18" charset="0"/>
              </a:rPr>
              <a:t>然后把其他脚本中的事件序列并入已有的状态图中，作为一条可选的路径。</a:t>
            </a:r>
            <a:endParaRPr lang="zh-CN" altLang="en-US" sz="1200" dirty="0">
              <a:latin typeface="Bodoni MT Black" panose="02070A03080606020203" pitchFamily="18" charset="0"/>
            </a:endParaRPr>
          </a:p>
        </p:txBody>
      </p:sp>
      <p:sp>
        <p:nvSpPr>
          <p:cNvPr id="182275" name="文本框 2"/>
          <p:cNvSpPr txBox="1">
            <a:spLocks noChangeArrowheads="1"/>
          </p:cNvSpPr>
          <p:nvPr/>
        </p:nvSpPr>
        <p:spPr bwMode="auto">
          <a:xfrm>
            <a:off x="6090920" y="3724275"/>
            <a:ext cx="5905500" cy="1807845"/>
          </a:xfrm>
          <a:prstGeom prst="rect">
            <a:avLst/>
          </a:prstGeom>
          <a:noFill/>
          <a:ln w="22225">
            <a:noFill/>
            <a:miter lim="800000"/>
          </a:ln>
        </p:spPr>
        <p:txBody>
          <a:bodyPr wrap="square">
            <a:noAutofit/>
          </a:bodyPr>
          <a:p>
            <a:pPr marL="228600" indent="-228600" eaLnBrk="1" hangingPunct="1">
              <a:lnSpc>
                <a:spcPct val="165000"/>
              </a:lnSpc>
              <a:buFont typeface="+mj-ea"/>
              <a:buAutoNum type="circleNumDbPlain" startAt="2"/>
            </a:pPr>
            <a:r>
              <a:rPr lang="zh-CN" altLang="en-US" sz="1200" b="1" dirty="0">
                <a:latin typeface="Bodoni MT Black" panose="02070A03080606020203" pitchFamily="18" charset="0"/>
                <a:sym typeface="+mn-ea"/>
              </a:rPr>
              <a:t>考虑完正常事件之后再考虑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边界情况</a:t>
            </a:r>
            <a:r>
              <a:rPr lang="zh-CN" altLang="en-US" sz="1200" b="1" dirty="0">
                <a:latin typeface="Bodoni MT Black" panose="02070A03080606020203" pitchFamily="18" charset="0"/>
                <a:sym typeface="+mn-ea"/>
              </a:rPr>
              <a:t>和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特殊情况</a:t>
            </a:r>
            <a:endParaRPr lang="en-US" altLang="zh-CN" sz="1200" b="1" dirty="0">
              <a:solidFill>
                <a:srgbClr val="FF0000"/>
              </a:solidFill>
              <a:latin typeface="Bodoni MT Black" panose="02070A03080606020203" pitchFamily="18" charset="0"/>
            </a:endParaRPr>
          </a:p>
          <a:p>
            <a:pPr eaLnBrk="1" hangingPunct="1">
              <a:lnSpc>
                <a:spcPct val="165000"/>
              </a:lnSpc>
            </a:pPr>
            <a:r>
              <a:rPr lang="zh-CN" altLang="en-US" sz="1200" dirty="0" smtClean="0">
                <a:latin typeface="Bodoni MT Black" panose="02070A03080606020203" pitchFamily="18" charset="0"/>
              </a:rPr>
              <a:t>其中</a:t>
            </a:r>
            <a:r>
              <a:rPr lang="zh-CN" altLang="en-US" sz="1200" dirty="0">
                <a:latin typeface="Bodoni MT Black" panose="02070A03080606020203" pitchFamily="18" charset="0"/>
              </a:rPr>
              <a:t>包括在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不适当时候发生的</a:t>
            </a:r>
            <a:r>
              <a:rPr lang="zh-CN" altLang="en-US" sz="1200" b="1" dirty="0" smtClean="0">
                <a:solidFill>
                  <a:srgbClr val="FF0000"/>
                </a:solidFill>
                <a:latin typeface="Bodoni MT Black" panose="02070A03080606020203" pitchFamily="18" charset="0"/>
              </a:rPr>
              <a:t>事件</a:t>
            </a:r>
            <a:r>
              <a:rPr lang="zh-CN" altLang="en-US" sz="1200" dirty="0" smtClean="0">
                <a:latin typeface="Bodoni MT Black" panose="02070A03080606020203" pitchFamily="18" charset="0"/>
              </a:rPr>
              <a:t>（例如</a:t>
            </a:r>
            <a:r>
              <a:rPr lang="zh-CN" altLang="en-US" sz="1200" dirty="0">
                <a:latin typeface="Bodoni MT Black" panose="02070A03080606020203" pitchFamily="18" charset="0"/>
              </a:rPr>
              <a:t>系统正在处理某个事务时，用户要求取消该</a:t>
            </a:r>
            <a:r>
              <a:rPr lang="zh-CN" altLang="en-US" sz="1200" dirty="0" smtClean="0">
                <a:latin typeface="Bodoni MT Black" panose="02070A03080606020203" pitchFamily="18" charset="0"/>
              </a:rPr>
              <a:t>事务）。</a:t>
            </a:r>
            <a:r>
              <a:rPr lang="zh-CN" altLang="en-US" sz="1200" dirty="0">
                <a:latin typeface="Bodoni MT Black" panose="02070A03080606020203" pitchFamily="18" charset="0"/>
              </a:rPr>
              <a:t>有时</a:t>
            </a:r>
            <a:r>
              <a:rPr lang="zh-CN" altLang="en-US" sz="1200" dirty="0" smtClean="0">
                <a:latin typeface="Bodoni MT Black" panose="02070A03080606020203" pitchFamily="18" charset="0"/>
              </a:rPr>
              <a:t>用户（或外部设备）不能</a:t>
            </a:r>
            <a:r>
              <a:rPr lang="zh-CN" altLang="en-US" sz="1200" dirty="0">
                <a:latin typeface="Bodoni MT Black" panose="02070A03080606020203" pitchFamily="18" charset="0"/>
              </a:rPr>
              <a:t>做出快速响应，然而某些资源又必须及时收回，于是在一定间隔后就产生了</a:t>
            </a:r>
            <a:r>
              <a:rPr lang="zh-CN" altLang="en-US" sz="1200" dirty="0">
                <a:solidFill>
                  <a:srgbClr val="FF0000"/>
                </a:solidFill>
                <a:latin typeface="Bodoni MT Black" panose="02070A03080606020203" pitchFamily="18" charset="0"/>
              </a:rPr>
              <a:t>“</a:t>
            </a:r>
            <a:r>
              <a:rPr lang="zh-CN" altLang="en-US" sz="1200" b="1" dirty="0">
                <a:solidFill>
                  <a:srgbClr val="00B0F0"/>
                </a:solidFill>
                <a:latin typeface="Bodoni MT Black" panose="02070A03080606020203" pitchFamily="18" charset="0"/>
              </a:rPr>
              <a:t>超时</a:t>
            </a:r>
            <a:r>
              <a:rPr lang="zh-CN" altLang="en-US" sz="1200" dirty="0">
                <a:solidFill>
                  <a:srgbClr val="FF0000"/>
                </a:solidFill>
                <a:latin typeface="Bodoni MT Black" panose="02070A03080606020203" pitchFamily="18" charset="0"/>
              </a:rPr>
              <a:t>”</a:t>
            </a:r>
            <a:r>
              <a:rPr lang="zh-CN" altLang="en-US" sz="1200" dirty="0">
                <a:latin typeface="Bodoni MT Black" panose="02070A03080606020203" pitchFamily="18" charset="0"/>
              </a:rPr>
              <a:t>事件。对用户出错情况往往需要花费很多精力处理，并且会使原来清晰、紧凑的程序结构变得复杂、繁琐，</a:t>
            </a:r>
            <a:r>
              <a:rPr lang="zh-CN" altLang="en-US" sz="1200" b="1" dirty="0" smtClean="0">
                <a:solidFill>
                  <a:srgbClr val="FF0000"/>
                </a:solidFill>
                <a:latin typeface="Bodoni MT Black" panose="02070A03080606020203" pitchFamily="18" charset="0"/>
              </a:rPr>
              <a:t>但出错处理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是不能省略的</a:t>
            </a:r>
            <a:r>
              <a:rPr lang="zh-CN" altLang="en-US" sz="1200" dirty="0">
                <a:latin typeface="Bodoni MT Black" panose="02070A03080606020203" pitchFamily="18" charset="0"/>
              </a:rPr>
              <a:t>。</a:t>
            </a:r>
            <a:endParaRPr lang="zh-CN" altLang="en-US" sz="1200" dirty="0">
              <a:latin typeface="Bodoni MT Black" panose="02070A03080606020203" pitchFamily="18" charset="0"/>
            </a:endParaRPr>
          </a:p>
        </p:txBody>
      </p:sp>
      <p:sp>
        <p:nvSpPr>
          <p:cNvPr id="186371" name="文本框 7"/>
          <p:cNvSpPr txBox="1">
            <a:spLocks noChangeArrowheads="1"/>
          </p:cNvSpPr>
          <p:nvPr/>
        </p:nvSpPr>
        <p:spPr bwMode="auto">
          <a:xfrm>
            <a:off x="6064885" y="5492750"/>
            <a:ext cx="6039485" cy="110680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square">
            <a:spAutoFit/>
          </a:bodyPr>
          <a:p>
            <a:pPr eaLnBrk="1" hangingPunct="1">
              <a:lnSpc>
                <a:spcPct val="165000"/>
              </a:lnSpc>
            </a:pPr>
            <a:r>
              <a:rPr lang="zh-CN" altLang="en-US" sz="1000" b="1" dirty="0">
                <a:solidFill>
                  <a:schemeClr val="bg2"/>
                </a:solidFill>
                <a:latin typeface="+mn-ea"/>
                <a:cs typeface="+mn-ea"/>
              </a:rPr>
              <a:t>   </a:t>
            </a:r>
            <a:r>
              <a:rPr lang="zh-CN" altLang="en-US" sz="1000" b="1" dirty="0" smtClean="0">
                <a:solidFill>
                  <a:schemeClr val="bg2"/>
                </a:solidFill>
                <a:latin typeface="+mn-ea"/>
                <a:cs typeface="+mn-ea"/>
              </a:rPr>
              <a:t>“</a:t>
            </a:r>
            <a:r>
              <a:rPr lang="en-US" altLang="zh-CN" sz="1000" b="1" dirty="0" smtClean="0">
                <a:solidFill>
                  <a:schemeClr val="bg2"/>
                </a:solidFill>
                <a:latin typeface="+mn-ea"/>
                <a:cs typeface="+mn-ea"/>
              </a:rPr>
              <a:t>ATM</a:t>
            </a:r>
            <a:r>
              <a:rPr lang="zh-CN" altLang="en-US" sz="1000" b="1" dirty="0" smtClean="0">
                <a:solidFill>
                  <a:schemeClr val="bg2"/>
                </a:solidFill>
                <a:latin typeface="+mn-ea"/>
                <a:cs typeface="+mn-ea"/>
              </a:rPr>
              <a:t>”、</a:t>
            </a:r>
            <a:r>
              <a:rPr lang="zh-CN" altLang="en-US" sz="1000" b="1" dirty="0">
                <a:solidFill>
                  <a:schemeClr val="bg2"/>
                </a:solidFill>
                <a:latin typeface="+mn-ea"/>
                <a:cs typeface="+mn-ea"/>
              </a:rPr>
              <a:t>“</a:t>
            </a:r>
            <a:r>
              <a:rPr lang="en-US" altLang="zh-CN" sz="1000" b="1" dirty="0" smtClean="0">
                <a:solidFill>
                  <a:schemeClr val="bg2"/>
                </a:solidFill>
                <a:latin typeface="+mn-ea"/>
                <a:cs typeface="+mn-ea"/>
              </a:rPr>
              <a:t>柜员终端</a:t>
            </a:r>
            <a:r>
              <a:rPr lang="zh-CN" altLang="en-US" sz="1000" b="1" dirty="0">
                <a:solidFill>
                  <a:schemeClr val="bg2"/>
                </a:solidFill>
                <a:latin typeface="+mn-ea"/>
                <a:cs typeface="+mn-ea"/>
              </a:rPr>
              <a:t>”、“</a:t>
            </a:r>
            <a:r>
              <a:rPr lang="en-US" altLang="zh-CN" sz="1000" b="1" dirty="0" smtClean="0">
                <a:solidFill>
                  <a:schemeClr val="bg2"/>
                </a:solidFill>
                <a:latin typeface="+mn-ea"/>
                <a:cs typeface="+mn-ea"/>
              </a:rPr>
              <a:t>总行</a:t>
            </a:r>
            <a:r>
              <a:rPr lang="zh-CN" altLang="en-US" sz="1000" b="1" dirty="0">
                <a:solidFill>
                  <a:schemeClr val="bg2"/>
                </a:solidFill>
                <a:latin typeface="+mn-ea"/>
                <a:cs typeface="+mn-ea"/>
              </a:rPr>
              <a:t>”和“</a:t>
            </a:r>
            <a:r>
              <a:rPr lang="en-US" altLang="zh-CN" sz="1000" b="1" dirty="0" smtClean="0">
                <a:solidFill>
                  <a:schemeClr val="bg2"/>
                </a:solidFill>
                <a:latin typeface="+mn-ea"/>
                <a:cs typeface="+mn-ea"/>
              </a:rPr>
              <a:t>分行</a:t>
            </a:r>
            <a:r>
              <a:rPr lang="zh-CN" altLang="en-US" sz="1000" b="1" dirty="0">
                <a:solidFill>
                  <a:schemeClr val="bg2"/>
                </a:solidFill>
                <a:latin typeface="+mn-ea"/>
                <a:cs typeface="+mn-ea"/>
              </a:rPr>
              <a:t>”都是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主动对象</a:t>
            </a:r>
            <a:r>
              <a:rPr lang="zh-CN" altLang="en-US" sz="1000" b="1" dirty="0">
                <a:solidFill>
                  <a:schemeClr val="bg2"/>
                </a:solidFill>
                <a:latin typeface="+mn-ea"/>
                <a:cs typeface="+mn-ea"/>
              </a:rPr>
              <a:t>，它们</a:t>
            </a:r>
            <a:r>
              <a:rPr lang="zh-CN" altLang="en-US" sz="1000" b="1" dirty="0">
                <a:solidFill>
                  <a:srgbClr val="FFFF00"/>
                </a:solidFill>
                <a:latin typeface="+mn-ea"/>
                <a:cs typeface="+mn-ea"/>
              </a:rPr>
              <a:t>相互发送事件</a:t>
            </a:r>
            <a:r>
              <a:rPr lang="zh-CN" altLang="en-US" sz="1000" b="1" dirty="0">
                <a:solidFill>
                  <a:schemeClr val="bg2"/>
                </a:solidFill>
                <a:latin typeface="+mn-ea"/>
                <a:cs typeface="+mn-ea"/>
              </a:rPr>
              <a:t>；而</a:t>
            </a:r>
            <a:r>
              <a:rPr lang="zh-CN" altLang="en-US" sz="1000" b="1" dirty="0">
                <a:solidFill>
                  <a:schemeClr val="bg2"/>
                </a:solidFill>
                <a:latin typeface="+mn-ea"/>
                <a:cs typeface="+mn-ea"/>
              </a:rPr>
              <a:t>“现金兑换卡”、“事务”和“</a:t>
            </a:r>
            <a:r>
              <a:rPr lang="zh-CN" altLang="en-US" sz="1000" b="1" dirty="0">
                <a:solidFill>
                  <a:schemeClr val="bg2"/>
                </a:solidFill>
                <a:latin typeface="+mn-ea"/>
                <a:cs typeface="+mn-ea"/>
              </a:rPr>
              <a:t>账户”是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被动对象</a:t>
            </a:r>
            <a:r>
              <a:rPr lang="zh-CN" altLang="en-US" sz="1000" b="1" dirty="0">
                <a:solidFill>
                  <a:schemeClr val="bg2"/>
                </a:solidFill>
                <a:latin typeface="+mn-ea"/>
                <a:cs typeface="+mn-ea"/>
              </a:rPr>
              <a:t>，并不发送事件。“</a:t>
            </a:r>
            <a:r>
              <a:rPr lang="zh-CN" altLang="en-US" sz="1000" b="1" dirty="0">
                <a:solidFill>
                  <a:schemeClr val="bg2"/>
                </a:solidFill>
                <a:latin typeface="+mn-ea"/>
                <a:cs typeface="+mn-ea"/>
              </a:rPr>
              <a:t>储户”和“</a:t>
            </a:r>
            <a:r>
              <a:rPr lang="zh-CN" altLang="en-US" sz="1000" b="1" dirty="0">
                <a:solidFill>
                  <a:schemeClr val="bg2"/>
                </a:solidFill>
                <a:latin typeface="+mn-ea"/>
                <a:cs typeface="+mn-ea"/>
              </a:rPr>
              <a:t>柜员”虽然也是动作对象，但是，它们都是系统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外部的因素</a:t>
            </a:r>
            <a:r>
              <a:rPr lang="zh-CN" altLang="en-US" sz="1000" b="1" dirty="0">
                <a:solidFill>
                  <a:schemeClr val="bg2"/>
                </a:solidFill>
                <a:latin typeface="+mn-ea"/>
                <a:cs typeface="+mn-ea"/>
              </a:rPr>
              <a:t>，无须在系统内实现它们。因此，只需要考虑</a:t>
            </a:r>
            <a:r>
              <a:rPr lang="zh-CN" altLang="en-US" sz="1000" b="1" dirty="0">
                <a:solidFill>
                  <a:srgbClr val="FFC000"/>
                </a:solidFill>
                <a:latin typeface="+mn-ea"/>
                <a:cs typeface="+mn-ea"/>
              </a:rPr>
              <a:t>“</a:t>
            </a:r>
            <a:r>
              <a:rPr lang="en-US" altLang="zh-CN" sz="1000" b="1" dirty="0" smtClean="0">
                <a:solidFill>
                  <a:srgbClr val="FFC000"/>
                </a:solidFill>
                <a:latin typeface="+mn-ea"/>
                <a:cs typeface="+mn-ea"/>
              </a:rPr>
              <a:t>ATM</a:t>
            </a:r>
            <a:r>
              <a:rPr lang="zh-CN" altLang="en-US" sz="1000" b="1" dirty="0" smtClean="0">
                <a:solidFill>
                  <a:srgbClr val="FFC000"/>
                </a:solidFill>
                <a:latin typeface="+mn-ea"/>
                <a:cs typeface="+mn-ea"/>
              </a:rPr>
              <a:t> ” 、</a:t>
            </a:r>
            <a:r>
              <a:rPr lang="zh-CN" altLang="en-US" sz="1000" b="1" dirty="0">
                <a:solidFill>
                  <a:srgbClr val="FFC000"/>
                </a:solidFill>
                <a:latin typeface="+mn-ea"/>
                <a:cs typeface="+mn-ea"/>
              </a:rPr>
              <a:t>“总行”、“柜员终端”</a:t>
            </a:r>
            <a:r>
              <a:rPr lang="zh-CN" altLang="en-US" sz="1000" b="1" dirty="0">
                <a:solidFill>
                  <a:schemeClr val="bg2"/>
                </a:solidFill>
                <a:latin typeface="+mn-ea"/>
                <a:cs typeface="+mn-ea"/>
              </a:rPr>
              <a:t>和“</a:t>
            </a:r>
            <a:r>
              <a:rPr lang="zh-CN" altLang="en-US" sz="1000" b="1" dirty="0">
                <a:solidFill>
                  <a:srgbClr val="FFC000"/>
                </a:solidFill>
                <a:latin typeface="+mn-ea"/>
                <a:cs typeface="+mn-ea"/>
              </a:rPr>
              <a:t>分行”</a:t>
            </a:r>
            <a:r>
              <a:rPr lang="zh-CN" altLang="en-US" sz="1000" b="1" dirty="0">
                <a:solidFill>
                  <a:schemeClr val="bg2"/>
                </a:solidFill>
                <a:latin typeface="+mn-ea"/>
                <a:cs typeface="+mn-ea"/>
              </a:rPr>
              <a:t>的状态图</a:t>
            </a:r>
            <a:r>
              <a:rPr lang="zh-CN" altLang="en-US" sz="1000" b="1" dirty="0" smtClean="0">
                <a:solidFill>
                  <a:schemeClr val="bg2"/>
                </a:solidFill>
                <a:latin typeface="+mn-ea"/>
                <a:cs typeface="+mn-ea"/>
              </a:rPr>
              <a:t>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cs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0774045" y="247015"/>
            <a:ext cx="1265555" cy="11741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5922645" y="0"/>
            <a:ext cx="0" cy="6866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-635"/>
            <a:ext cx="5919470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画状态图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56300" y="0"/>
            <a:ext cx="6235065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画状态图</a:t>
            </a:r>
            <a:endParaRPr lang="en-US" altLang="zh-CN" b="1">
              <a:solidFill>
                <a:schemeClr val="bg2"/>
              </a:solidFill>
              <a:sym typeface="+mn-ea"/>
            </a:endParaRPr>
          </a:p>
        </p:txBody>
      </p:sp>
      <p:pic>
        <p:nvPicPr>
          <p:cNvPr id="188419" name="图片 2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30307" y="805860"/>
            <a:ext cx="5328592" cy="5624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8420" name="文本框 3"/>
          <p:cNvSpPr txBox="1">
            <a:spLocks noChangeArrowheads="1"/>
          </p:cNvSpPr>
          <p:nvPr/>
        </p:nvSpPr>
        <p:spPr bwMode="auto">
          <a:xfrm rot="16200000">
            <a:off x="1884680" y="4479925"/>
            <a:ext cx="495300" cy="340423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eaVert" wrap="square">
            <a:noAutofit/>
          </a:bodyPr>
          <a:p>
            <a:pPr eaLnBrk="1" hangingPunct="1"/>
            <a:r>
              <a:rPr lang="en-US" altLang="zh-CN" sz="1400" b="1" dirty="0">
                <a:latin typeface="+mn-ea"/>
                <a:cs typeface="+mn-ea"/>
              </a:rPr>
              <a:t>	</a:t>
            </a:r>
            <a:r>
              <a:rPr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ATM</a:t>
            </a:r>
            <a:r>
              <a:rPr lang="zh-CN" altLang="en-US" sz="1400" b="1" dirty="0">
                <a:solidFill>
                  <a:srgbClr val="FF0000"/>
                </a:solidFill>
                <a:latin typeface="+mn-ea"/>
                <a:cs typeface="+mn-ea"/>
              </a:rPr>
              <a:t>类</a:t>
            </a:r>
            <a:r>
              <a:rPr lang="zh-CN" altLang="en-US" sz="1400" b="1" dirty="0">
                <a:latin typeface="+mn-ea"/>
                <a:cs typeface="+mn-ea"/>
              </a:rPr>
              <a:t>的状态图</a:t>
            </a:r>
            <a:endParaRPr lang="zh-CN" altLang="en-US" sz="1400" b="1" dirty="0">
              <a:latin typeface="+mn-ea"/>
              <a:cs typeface="+mn-ea"/>
            </a:endParaRPr>
          </a:p>
        </p:txBody>
      </p:sp>
      <p:pic>
        <p:nvPicPr>
          <p:cNvPr id="190468" name="图片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13550" y="545465"/>
            <a:ext cx="3785870" cy="245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2516" name="图片 2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72300" y="3548380"/>
            <a:ext cx="4011930" cy="254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本框 3"/>
          <p:cNvSpPr txBox="1">
            <a:spLocks noChangeArrowheads="1"/>
          </p:cNvSpPr>
          <p:nvPr/>
        </p:nvSpPr>
        <p:spPr bwMode="auto">
          <a:xfrm rot="16200000">
            <a:off x="8745855" y="1555750"/>
            <a:ext cx="495300" cy="340423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eaVert" wrap="square">
            <a:noAutofit/>
          </a:bodyPr>
          <a:p>
            <a:pPr eaLnBrk="1" hangingPunct="1"/>
            <a:r>
              <a:rPr lang="en-US" altLang="zh-CN" sz="1400" b="1" dirty="0">
                <a:latin typeface="+mn-ea"/>
                <a:cs typeface="+mn-ea"/>
              </a:rPr>
              <a:t>	</a:t>
            </a:r>
            <a:r>
              <a:rPr lang="zh-CN" altLang="en-US" sz="1400" b="1" dirty="0">
                <a:solidFill>
                  <a:srgbClr val="FF0000"/>
                </a:solidFill>
                <a:latin typeface="+mn-ea"/>
                <a:cs typeface="+mn-ea"/>
              </a:rPr>
              <a:t>总行类</a:t>
            </a:r>
            <a:r>
              <a:rPr lang="zh-CN" altLang="en-US" sz="1400" b="1" dirty="0">
                <a:latin typeface="+mn-ea"/>
                <a:cs typeface="+mn-ea"/>
              </a:rPr>
              <a:t>的状态图</a:t>
            </a:r>
            <a:endParaRPr lang="zh-CN" altLang="en-US" sz="1400" b="1" dirty="0">
              <a:latin typeface="+mn-ea"/>
              <a:cs typeface="+mn-ea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 rot="16200000">
            <a:off x="8863965" y="4702810"/>
            <a:ext cx="495300" cy="340423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eaVert" wrap="square">
            <a:noAutofit/>
          </a:bodyPr>
          <a:p>
            <a:pPr eaLnBrk="1" hangingPunct="1"/>
            <a:r>
              <a:rPr lang="en-US" altLang="zh-CN" sz="1400" b="1" dirty="0">
                <a:latin typeface="+mn-ea"/>
                <a:cs typeface="+mn-ea"/>
              </a:rPr>
              <a:t>	</a:t>
            </a:r>
            <a:r>
              <a:rPr lang="zh-CN" altLang="en-US" sz="1400" b="1" dirty="0">
                <a:solidFill>
                  <a:srgbClr val="FF0000"/>
                </a:solidFill>
                <a:latin typeface="+mn-ea"/>
                <a:cs typeface="+mn-ea"/>
              </a:rPr>
              <a:t>分行类</a:t>
            </a:r>
            <a:r>
              <a:rPr lang="zh-CN" altLang="en-US" sz="1400" b="1" dirty="0">
                <a:latin typeface="+mn-ea"/>
                <a:cs typeface="+mn-ea"/>
              </a:rPr>
              <a:t>的状态图</a:t>
            </a:r>
            <a:endParaRPr lang="zh-CN" altLang="en-US" sz="1400" b="1" dirty="0">
              <a:latin typeface="+mn-ea"/>
              <a:cs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5410" y="274465"/>
            <a:ext cx="3960000" cy="882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spc="200" dirty="0">
                <a:solidFill>
                  <a:srgbClr val="55D5FF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</a:rPr>
              <a:t>建立功能模型</a:t>
            </a:r>
            <a:endParaRPr lang="zh-CN" altLang="en-US" sz="2400" spc="200" dirty="0">
              <a:solidFill>
                <a:srgbClr val="55D5FF"/>
              </a:solidFill>
              <a:latin typeface="汉仪旗黑-85S" panose="00020600040101010101" pitchFamily="18" charset="-122"/>
              <a:ea typeface="汉仪旗黑-85S" panose="00020600040101010101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9855" y="1156335"/>
            <a:ext cx="474091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BA3"/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p>
            <a:pPr algn="l">
              <a:lnSpc>
                <a:spcPts val="3200"/>
              </a:lnSpc>
              <a:spcBef>
                <a:spcPts val="600"/>
              </a:spcBef>
              <a:buClrTx/>
              <a:buSzTx/>
              <a:buFontTx/>
              <a:buNone/>
              <a:defRPr/>
            </a:pPr>
            <a:r>
              <a:rPr lang="zh-CN" altLang="en-US" sz="14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功能模型</a:t>
            </a:r>
            <a:r>
              <a:rPr lang="zh-CN" altLang="en-US" sz="1400" b="1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表明了系统中数据之间的依赖关系，以及有关的数据处理功能，它由一组</a:t>
            </a:r>
            <a:r>
              <a:rPr lang="zh-CN" altLang="en-US" sz="1400" b="1" dirty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数据流图</a:t>
            </a:r>
            <a:r>
              <a:rPr lang="zh-CN" altLang="en-US" sz="1400" b="1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组成。其中的处理功能可以用</a:t>
            </a:r>
            <a:r>
              <a:rPr lang="en-US" altLang="zh-CN" sz="1400" b="1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IPO</a:t>
            </a:r>
            <a:r>
              <a:rPr lang="zh-CN" altLang="en-US" sz="1400" b="1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图（或表）、</a:t>
            </a:r>
            <a:r>
              <a:rPr lang="zh-CN" altLang="en-US" sz="1400" b="1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伪码等多种方式进一步描述。</a:t>
            </a:r>
            <a:endParaRPr lang="en-US" altLang="zh-CN" sz="1400" b="1" dirty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32350" y="0"/>
            <a:ext cx="7360285" cy="4184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p>
            <a:r>
              <a:rPr lang="zh-CN" b="1">
                <a:solidFill>
                  <a:schemeClr val="bg2"/>
                </a:solidFill>
              </a:rPr>
              <a:t>画出基本系统模型图</a:t>
            </a:r>
            <a:endParaRPr lang="zh-CN" b="1">
              <a:solidFill>
                <a:schemeClr val="bg2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32350" y="554990"/>
            <a:ext cx="7024370" cy="12166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70000"/>
              </a:lnSpc>
            </a:pP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 </a:t>
            </a: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基本系统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模型由若干个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数据源点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终点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，及一个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处理框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组成，这个处理框代表了系统加工、变换数据的整体功能。</a:t>
            </a: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基本系统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模型指明了</a:t>
            </a:r>
            <a:r>
              <a:rPr lang="zh-CN" altLang="en-US" sz="1200" b="1" dirty="0">
                <a:solidFill>
                  <a:srgbClr val="00B0F0"/>
                </a:solidFill>
                <a:latin typeface="Bodoni MT Black" panose="02070A03080606020203" pitchFamily="18" charset="0"/>
                <a:sym typeface="+mn-ea"/>
              </a:rPr>
              <a:t>目标系统的边界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。由数据源点输入的数据和输出到数据终点的数据，是系统与外部世界之间的交互事件的参数。</a:t>
            </a:r>
            <a:endParaRPr lang="zh-CN" altLang="en-US" sz="1200" dirty="0">
              <a:latin typeface="Bodoni MT Black" panose="02070A03080606020203" pitchFamily="18" charset="0"/>
            </a:endParaRPr>
          </a:p>
          <a:p>
            <a:endParaRPr lang="zh-CN" altLang="en-US" sz="1200">
              <a:latin typeface="+mn-ea"/>
              <a:cs typeface="+mn-ea"/>
            </a:endParaRPr>
          </a:p>
        </p:txBody>
      </p:sp>
      <p:sp>
        <p:nvSpPr>
          <p:cNvPr id="200709" name="文本框 5"/>
          <p:cNvSpPr txBox="1">
            <a:spLocks noChangeArrowheads="1"/>
          </p:cNvSpPr>
          <p:nvPr/>
        </p:nvSpPr>
        <p:spPr bwMode="auto">
          <a:xfrm>
            <a:off x="109855" y="2668905"/>
            <a:ext cx="4847590" cy="501650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p>
            <a:pPr algn="l" eaLnBrk="1" hangingPunct="1">
              <a:lnSpc>
                <a:spcPts val="3200"/>
              </a:lnSpc>
              <a:spcBef>
                <a:spcPts val="600"/>
              </a:spcBef>
              <a:buClrTx/>
              <a:buSzTx/>
              <a:buFontTx/>
              <a:defRPr/>
            </a:pPr>
            <a:r>
              <a:rPr lang="zh-CN" altLang="en-US" sz="14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  <a:cs typeface="+mn-ea"/>
              </a:rPr>
              <a:t>通常在建立了对象模型和动态模型之后再建立功能模型。</a:t>
            </a:r>
            <a:endParaRPr lang="zh-CN" altLang="en-US" sz="1400" b="1" dirty="0">
              <a:solidFill>
                <a:srgbClr val="FF0000"/>
              </a:solidFill>
              <a:highlight>
                <a:srgbClr val="FFFF00"/>
              </a:highlight>
              <a:latin typeface="+mn-ea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" y="3429000"/>
            <a:ext cx="3945890" cy="3135630"/>
          </a:xfrm>
          <a:prstGeom prst="rect">
            <a:avLst/>
          </a:prstGeom>
        </p:spPr>
      </p:pic>
      <p:sp>
        <p:nvSpPr>
          <p:cNvPr id="204802" name="文本框 1"/>
          <p:cNvSpPr txBox="1">
            <a:spLocks noChangeArrowheads="1"/>
          </p:cNvSpPr>
          <p:nvPr/>
        </p:nvSpPr>
        <p:spPr bwMode="auto">
          <a:xfrm>
            <a:off x="4832350" y="1580515"/>
            <a:ext cx="3420745" cy="2472690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p>
            <a:pPr eaLnBrk="1" hangingPunct="1">
              <a:lnSpc>
                <a:spcPct val="215000"/>
              </a:lnSpc>
            </a:pPr>
            <a:r>
              <a:rPr lang="zh-CN" altLang="en-US" sz="1200" dirty="0">
                <a:latin typeface="+mn-ea"/>
                <a:cs typeface="+mn-ea"/>
              </a:rPr>
              <a:t>下图是</a:t>
            </a:r>
            <a:r>
              <a:rPr lang="en-US" altLang="zh-CN" sz="1200" dirty="0">
                <a:latin typeface="+mn-ea"/>
                <a:cs typeface="+mn-ea"/>
              </a:rPr>
              <a:t>ATM</a:t>
            </a:r>
            <a:r>
              <a:rPr lang="zh-CN" altLang="en-US" sz="1200" dirty="0">
                <a:latin typeface="+mn-ea"/>
                <a:cs typeface="+mn-ea"/>
              </a:rPr>
              <a:t>系统的基本系统模型。尽管在储蓄所内储户的事务是由柜员通过柜员终端提交给系统的，但是信息的来源和最终接受者都是储户，因此，本系统的数据源点</a:t>
            </a:r>
            <a:r>
              <a:rPr lang="en-US" altLang="zh-CN" sz="1200" dirty="0">
                <a:latin typeface="+mn-ea"/>
                <a:cs typeface="+mn-ea"/>
              </a:rPr>
              <a:t>/</a:t>
            </a:r>
            <a:r>
              <a:rPr lang="zh-CN" altLang="en-US" sz="1200" dirty="0">
                <a:latin typeface="+mn-ea"/>
                <a:cs typeface="+mn-ea"/>
              </a:rPr>
              <a:t>终点为储户。另一个数据源点是现金兑换卡，因为系统从它上面读取分行代码和卡号等信息。</a:t>
            </a:r>
            <a:endParaRPr lang="zh-CN" altLang="en-US" sz="1200" dirty="0">
              <a:latin typeface="+mn-ea"/>
              <a:cs typeface="+mn-ea"/>
            </a:endParaRPr>
          </a:p>
        </p:txBody>
      </p:sp>
      <p:pic>
        <p:nvPicPr>
          <p:cNvPr id="204803" name="图片 2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2520" y="4043045"/>
            <a:ext cx="3371215" cy="1534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852" name="图片 4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72475" y="1444625"/>
            <a:ext cx="380111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6851" name="文本框 3"/>
          <p:cNvSpPr txBox="1">
            <a:spLocks noChangeArrowheads="1"/>
          </p:cNvSpPr>
          <p:nvPr/>
        </p:nvSpPr>
        <p:spPr bwMode="auto">
          <a:xfrm>
            <a:off x="4956810" y="5535295"/>
            <a:ext cx="3508375" cy="1170305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p>
            <a:pPr algn="l" eaLnBrk="1" hangingPunct="1">
              <a:lnSpc>
                <a:spcPct val="195000"/>
              </a:lnSpc>
              <a:buClrTx/>
              <a:buSzTx/>
              <a:buFontTx/>
            </a:pPr>
            <a:r>
              <a:rPr lang="zh-CN" altLang="en-US" sz="1200" dirty="0">
                <a:latin typeface="+mn-ea"/>
                <a:cs typeface="+mn-ea"/>
              </a:rPr>
              <a:t>把基本系统模型中单一的处理框分解成若干个处理框，以描述系统加工、变换数据的基本功能，就得到功能级数据流图。</a:t>
            </a:r>
            <a:endParaRPr lang="zh-CN" altLang="en-US" sz="1200" dirty="0">
              <a:latin typeface="+mn-ea"/>
              <a:cs typeface="+mn-ea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6957695" y="6311265"/>
            <a:ext cx="755015" cy="25336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839835" y="1444625"/>
            <a:ext cx="2585085" cy="360680"/>
          </a:xfrm>
          <a:prstGeom prst="rect">
            <a:avLst/>
          </a:prstGeom>
        </p:spPr>
        <p:txBody>
          <a:bodyPr wrap="square">
            <a:spAutoFit/>
          </a:bodyPr>
          <a:p>
            <a:pPr eaLnBrk="1" hangingPunct="1">
              <a:lnSpc>
                <a:spcPct val="125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ATM</a:t>
            </a:r>
            <a:r>
              <a:rPr lang="zh-CN" altLang="en-US" sz="1400" b="1" dirty="0">
                <a:solidFill>
                  <a:srgbClr val="FF0000"/>
                </a:solidFill>
                <a:latin typeface="+mn-ea"/>
                <a:cs typeface="+mn-ea"/>
              </a:rPr>
              <a:t>系统的功能级数据流图</a:t>
            </a:r>
            <a:endParaRPr lang="zh-CN" altLang="en-US" sz="1400" b="1" dirty="0">
              <a:solidFill>
                <a:srgbClr val="FF0000"/>
              </a:solidFill>
              <a:latin typeface="+mn-ea"/>
              <a:cs typeface="+mn-ea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901565" y="1320800"/>
            <a:ext cx="7279640" cy="4254500"/>
            <a:chOff x="7719" y="2080"/>
            <a:chExt cx="11464" cy="6700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13155" y="2095"/>
              <a:ext cx="6029" cy="0"/>
            </a:xfrm>
            <a:prstGeom prst="line">
              <a:avLst/>
            </a:prstGeom>
            <a:ln w="15875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13168" y="2080"/>
              <a:ext cx="0" cy="6700"/>
            </a:xfrm>
            <a:prstGeom prst="line">
              <a:avLst/>
            </a:prstGeom>
            <a:ln w="22225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7719" y="8780"/>
              <a:ext cx="5434" cy="0"/>
            </a:xfrm>
            <a:prstGeom prst="line">
              <a:avLst/>
            </a:prstGeom>
            <a:ln w="15875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5410" y="274465"/>
            <a:ext cx="3960000" cy="882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spc="200" dirty="0">
                <a:solidFill>
                  <a:srgbClr val="55D5FF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</a:rPr>
              <a:t>定义服务</a:t>
            </a:r>
            <a:endParaRPr lang="zh-CN" altLang="en-US" sz="2400" spc="200" dirty="0">
              <a:solidFill>
                <a:srgbClr val="55D5FF"/>
              </a:solidFill>
              <a:latin typeface="汉仪旗黑-85S" panose="00020600040101010101" pitchFamily="18" charset="-122"/>
              <a:ea typeface="汉仪旗黑-85S" panose="00020600040101010101" pitchFamily="18" charset="-122"/>
            </a:endParaRPr>
          </a:p>
        </p:txBody>
      </p:sp>
      <p:sp>
        <p:nvSpPr>
          <p:cNvPr id="212996" name="文本框 1"/>
          <p:cNvSpPr txBox="1">
            <a:spLocks noChangeArrowheads="1"/>
          </p:cNvSpPr>
          <p:nvPr/>
        </p:nvSpPr>
        <p:spPr bwMode="auto">
          <a:xfrm>
            <a:off x="115570" y="1081405"/>
            <a:ext cx="4573905" cy="1468755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</a:pPr>
            <a:r>
              <a:rPr lang="zh-CN" altLang="en-US" sz="1400" b="1" dirty="0">
                <a:solidFill>
                  <a:schemeClr val="bg2"/>
                </a:solidFill>
                <a:latin typeface="Bodoni MT Black" panose="02070A03080606020203" pitchFamily="18" charset="0"/>
              </a:rPr>
              <a:t>    </a:t>
            </a:r>
            <a:r>
              <a:rPr lang="zh-CN" altLang="en-US" sz="1400" b="1" dirty="0" smtClean="0">
                <a:solidFill>
                  <a:srgbClr val="FF0000"/>
                </a:solidFill>
                <a:latin typeface="Bodoni MT Black" panose="02070A03080606020203" pitchFamily="18" charset="0"/>
              </a:rPr>
              <a:t>“对象”</a:t>
            </a:r>
            <a:r>
              <a:rPr lang="zh-CN" altLang="en-US" sz="1400" b="1" dirty="0">
                <a:solidFill>
                  <a:schemeClr val="bg2"/>
                </a:solidFill>
                <a:latin typeface="Bodoni MT Black" panose="02070A03080606020203" pitchFamily="18" charset="0"/>
              </a:rPr>
              <a:t>是由</a:t>
            </a:r>
            <a:r>
              <a:rPr lang="zh-CN" altLang="en-US" sz="1400" b="1" dirty="0">
                <a:solidFill>
                  <a:srgbClr val="55D5FF"/>
                </a:solidFill>
                <a:latin typeface="Bodoni MT Black" panose="02070A03080606020203" pitchFamily="18" charset="0"/>
              </a:rPr>
              <a:t>描述其属性的数据</a:t>
            </a:r>
            <a:r>
              <a:rPr lang="zh-CN" altLang="en-US" sz="1400" b="1" dirty="0">
                <a:solidFill>
                  <a:schemeClr val="bg2"/>
                </a:solidFill>
                <a:latin typeface="Bodoni MT Black" panose="02070A03080606020203" pitchFamily="18" charset="0"/>
              </a:rPr>
              <a:t>，及可以对这些数据</a:t>
            </a:r>
            <a:r>
              <a:rPr lang="zh-CN" altLang="en-US" sz="1400" b="1" dirty="0">
                <a:solidFill>
                  <a:srgbClr val="55D5FF"/>
                </a:solidFill>
                <a:latin typeface="Bodoni MT Black" panose="02070A03080606020203" pitchFamily="18" charset="0"/>
              </a:rPr>
              <a:t>施加的操作（即服务）</a:t>
            </a:r>
            <a:r>
              <a:rPr lang="zh-CN" altLang="en-US" sz="1400" b="1" dirty="0" smtClean="0">
                <a:solidFill>
                  <a:schemeClr val="bg2"/>
                </a:solidFill>
                <a:latin typeface="Bodoni MT Black" panose="02070A03080606020203" pitchFamily="18" charset="0"/>
              </a:rPr>
              <a:t>，</a:t>
            </a:r>
            <a:r>
              <a:rPr lang="zh-CN" altLang="en-US" sz="1400" b="1" dirty="0">
                <a:solidFill>
                  <a:schemeClr val="bg2"/>
                </a:solidFill>
                <a:latin typeface="Bodoni MT Black" panose="02070A03080606020203" pitchFamily="18" charset="0"/>
              </a:rPr>
              <a:t>封装在一起构成的独立单元。因此，为建立完整的对象模型，既要确定类中应该定义的属性，又要确定类中应该定义的服务。</a:t>
            </a:r>
            <a:endParaRPr lang="zh-CN" altLang="en-US" sz="1400" b="1" dirty="0">
              <a:solidFill>
                <a:schemeClr val="bg2"/>
              </a:solidFill>
              <a:latin typeface="Bodoni MT Black" panose="02070A03080606020203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2759075"/>
            <a:ext cx="4810125" cy="1826895"/>
          </a:xfrm>
          <a:prstGeom prst="rect">
            <a:avLst/>
          </a:prstGeom>
        </p:spPr>
      </p:pic>
      <p:sp>
        <p:nvSpPr>
          <p:cNvPr id="212997" name="文本框 2"/>
          <p:cNvSpPr txBox="1">
            <a:spLocks noChangeArrowheads="1"/>
          </p:cNvSpPr>
          <p:nvPr/>
        </p:nvSpPr>
        <p:spPr bwMode="auto">
          <a:xfrm>
            <a:off x="114935" y="4585970"/>
            <a:ext cx="4575175" cy="2027555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p>
            <a:pPr algn="l" eaLnBrk="1" hangingPunct="1">
              <a:lnSpc>
                <a:spcPct val="180000"/>
              </a:lnSpc>
              <a:buClrTx/>
              <a:buSzTx/>
              <a:buFontTx/>
            </a:pPr>
            <a:r>
              <a:rPr lang="zh-CN" altLang="en-US" sz="1400" b="1" dirty="0">
                <a:solidFill>
                  <a:schemeClr val="bg2"/>
                </a:solidFill>
                <a:latin typeface="Bodoni MT Black" panose="02070A03080606020203" pitchFamily="18" charset="0"/>
              </a:rPr>
              <a:t>     需要等到建立了</a:t>
            </a:r>
            <a:r>
              <a:rPr lang="zh-CN" altLang="en-US" sz="1400" b="1" dirty="0">
                <a:solidFill>
                  <a:srgbClr val="55D5FF"/>
                </a:solidFill>
                <a:latin typeface="Bodoni MT Black" panose="02070A03080606020203" pitchFamily="18" charset="0"/>
              </a:rPr>
              <a:t>动态模型</a:t>
            </a:r>
            <a:r>
              <a:rPr lang="zh-CN" altLang="en-US" sz="1400" b="1" dirty="0">
                <a:solidFill>
                  <a:schemeClr val="bg2"/>
                </a:solidFill>
                <a:latin typeface="Bodoni MT Black" panose="02070A03080606020203" pitchFamily="18" charset="0"/>
              </a:rPr>
              <a:t>和</a:t>
            </a:r>
            <a:r>
              <a:rPr lang="zh-CN" altLang="en-US" sz="1400" b="1" dirty="0">
                <a:solidFill>
                  <a:srgbClr val="55D5FF"/>
                </a:solidFill>
                <a:latin typeface="Bodoni MT Black" panose="02070A03080606020203" pitchFamily="18" charset="0"/>
              </a:rPr>
              <a:t>功能模型</a:t>
            </a:r>
            <a:r>
              <a:rPr lang="zh-CN" altLang="en-US" sz="1400" b="1" dirty="0">
                <a:solidFill>
                  <a:schemeClr val="bg2"/>
                </a:solidFill>
                <a:latin typeface="Bodoni MT Black" panose="02070A03080606020203" pitchFamily="18" charset="0"/>
              </a:rPr>
              <a:t>之后，才能最终确定类中应有的</a:t>
            </a:r>
            <a:r>
              <a:rPr lang="zh-CN" altLang="en-US" sz="14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服务</a:t>
            </a:r>
            <a:r>
              <a:rPr lang="zh-CN" altLang="en-US" sz="1400" b="1" dirty="0">
                <a:solidFill>
                  <a:schemeClr val="bg2"/>
                </a:solidFill>
                <a:latin typeface="Bodoni MT Black" panose="02070A03080606020203" pitchFamily="18" charset="0"/>
              </a:rPr>
              <a:t>，因为这两个子模型更明确地描述了每个类中应该提供哪些服务。事实上，在确定类中应有的服务时，既要考虑该类实体的</a:t>
            </a:r>
            <a:r>
              <a:rPr lang="zh-CN" altLang="en-US" sz="14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常规行为</a:t>
            </a:r>
            <a:r>
              <a:rPr lang="zh-CN" altLang="en-US" sz="1400" b="1" dirty="0">
                <a:solidFill>
                  <a:schemeClr val="bg2"/>
                </a:solidFill>
                <a:latin typeface="Bodoni MT Black" panose="02070A03080606020203" pitchFamily="18" charset="0"/>
              </a:rPr>
              <a:t>，又要考虑在本系统中</a:t>
            </a:r>
            <a:r>
              <a:rPr lang="zh-CN" altLang="en-US" sz="1400" b="1" dirty="0">
                <a:solidFill>
                  <a:srgbClr val="FF0000"/>
                </a:solidFill>
                <a:latin typeface="Bodoni MT Black" panose="02070A03080606020203" pitchFamily="18" charset="0"/>
              </a:rPr>
              <a:t>特殊需要的服务。</a:t>
            </a:r>
            <a:endParaRPr lang="zh-CN" altLang="en-US" sz="1400" b="1" dirty="0">
              <a:solidFill>
                <a:srgbClr val="FF00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4" name="左箭头 3"/>
          <p:cNvSpPr/>
          <p:nvPr/>
        </p:nvSpPr>
        <p:spPr>
          <a:xfrm>
            <a:off x="3822700" y="4208780"/>
            <a:ext cx="407670" cy="145415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5044" name="文本框 4"/>
          <p:cNvSpPr txBox="1">
            <a:spLocks noChangeArrowheads="1"/>
          </p:cNvSpPr>
          <p:nvPr/>
        </p:nvSpPr>
        <p:spPr bwMode="auto">
          <a:xfrm>
            <a:off x="4905375" y="325755"/>
            <a:ext cx="6936740" cy="22250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p>
            <a:pPr marL="228600" indent="-228600" eaLnBrk="1" hangingPunct="1">
              <a:lnSpc>
                <a:spcPct val="180000"/>
              </a:lnSpc>
              <a:buFont typeface="+mj-ea"/>
              <a:buAutoNum type="circleNumDbPlain"/>
            </a:pPr>
            <a:r>
              <a:rPr lang="zh-CN" altLang="en-US" sz="1200" b="1" dirty="0">
                <a:solidFill>
                  <a:srgbClr val="FF0000"/>
                </a:solidFill>
                <a:highlight>
                  <a:srgbClr val="00FFFF"/>
                </a:highlight>
                <a:latin typeface="Bodoni MT Black" panose="02070A03080606020203" pitchFamily="18" charset="0"/>
              </a:rPr>
              <a:t>常规行为</a:t>
            </a:r>
            <a:endParaRPr lang="zh-CN" altLang="en-US" sz="1200" b="1" dirty="0">
              <a:solidFill>
                <a:srgbClr val="FF0000"/>
              </a:solidFill>
              <a:highlight>
                <a:srgbClr val="00FFFF"/>
              </a:highlight>
              <a:latin typeface="Bodoni MT Black" panose="02070A03080606020203" pitchFamily="18" charset="0"/>
            </a:endParaRPr>
          </a:p>
          <a:p>
            <a:pPr eaLnBrk="1" hangingPunct="1">
              <a:lnSpc>
                <a:spcPct val="180000"/>
              </a:lnSpc>
            </a:pPr>
            <a:r>
              <a:rPr lang="zh-CN" altLang="en-US" sz="1200" dirty="0">
                <a:latin typeface="Bodoni MT Black" panose="02070A03080606020203" pitchFamily="18" charset="0"/>
              </a:rPr>
              <a:t>在分析阶段可以认为，类中定义的每个属性都是可以访问的，也就是说，假设在每个类中都定义了</a:t>
            </a:r>
            <a:r>
              <a:rPr lang="zh-CN" altLang="en-US" sz="1200" dirty="0">
                <a:solidFill>
                  <a:srgbClr val="FF0000"/>
                </a:solidFill>
                <a:latin typeface="Bodoni MT Black" panose="02070A03080606020203" pitchFamily="18" charset="0"/>
              </a:rPr>
              <a:t>读、写</a:t>
            </a:r>
            <a:r>
              <a:rPr lang="zh-CN" altLang="en-US" sz="1200" dirty="0">
                <a:latin typeface="Bodoni MT Black" panose="02070A03080606020203" pitchFamily="18" charset="0"/>
              </a:rPr>
              <a:t>该类每个属性的</a:t>
            </a:r>
            <a:r>
              <a:rPr lang="zh-CN" altLang="en-US" sz="1200" dirty="0">
                <a:solidFill>
                  <a:srgbClr val="FF0000"/>
                </a:solidFill>
                <a:latin typeface="Bodoni MT Black" panose="02070A03080606020203" pitchFamily="18" charset="0"/>
              </a:rPr>
              <a:t>操作</a:t>
            </a:r>
            <a:r>
              <a:rPr lang="zh-CN" altLang="en-US" sz="1200" dirty="0">
                <a:latin typeface="Bodoni MT Black" panose="02070A03080606020203" pitchFamily="18" charset="0"/>
              </a:rPr>
              <a:t>。但是，通常无须在类图中显式表示这些常规操作。</a:t>
            </a:r>
            <a:endParaRPr lang="zh-CN" altLang="en-US" sz="1200" dirty="0">
              <a:latin typeface="Bodoni MT Black" panose="02070A03080606020203" pitchFamily="18" charset="0"/>
            </a:endParaRPr>
          </a:p>
          <a:p>
            <a:pPr marL="228600" indent="-228600" algn="l" eaLnBrk="1" hangingPunct="1">
              <a:lnSpc>
                <a:spcPct val="180000"/>
              </a:lnSpc>
              <a:buClrTx/>
              <a:buSzTx/>
              <a:buFont typeface="+mj-ea"/>
              <a:buAutoNum type="circleNumDbPlain" startAt="2"/>
            </a:pPr>
            <a:r>
              <a:rPr lang="zh-CN" altLang="en-US" sz="1200" b="1" dirty="0">
                <a:solidFill>
                  <a:srgbClr val="FF0000"/>
                </a:solidFill>
                <a:highlight>
                  <a:srgbClr val="00FFFF"/>
                </a:highlight>
                <a:latin typeface="Bodoni MT Black" panose="02070A03080606020203" pitchFamily="18" charset="0"/>
                <a:sym typeface="+mn-ea"/>
              </a:rPr>
              <a:t>从事件导出的操作</a:t>
            </a:r>
            <a:endParaRPr lang="zh-CN" altLang="en-US" sz="1200" b="1" dirty="0">
              <a:solidFill>
                <a:srgbClr val="FF0000"/>
              </a:solidFill>
              <a:highlight>
                <a:srgbClr val="00FFFF"/>
              </a:highlight>
              <a:latin typeface="Bodoni MT Black" panose="02070A03080606020203" pitchFamily="18" charset="0"/>
            </a:endParaRPr>
          </a:p>
          <a:p>
            <a:pPr eaLnBrk="1" hangingPunct="1">
              <a:lnSpc>
                <a:spcPct val="180000"/>
              </a:lnSpc>
            </a:pPr>
            <a:r>
              <a:rPr lang="zh-CN" altLang="en-US" sz="1200" dirty="0" smtClean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状态图</a:t>
            </a:r>
            <a:r>
              <a:rPr lang="zh-CN" altLang="en-US" sz="1200" dirty="0">
                <a:solidFill>
                  <a:schemeClr val="tx1"/>
                </a:solidFill>
                <a:latin typeface="Bodoni MT Black" panose="02070A03080606020203" pitchFamily="18" charset="0"/>
                <a:sym typeface="+mn-ea"/>
              </a:rPr>
              <a:t>中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发往对象的事件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也就是该对象接收到的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消息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，因此该对象必须有由消息选择符指定的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操作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，这个操作修改对象</a:t>
            </a: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状态（即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属性</a:t>
            </a: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值）并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启动相应的服务。</a:t>
            </a: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可以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看出，所启动的这些服务通常就是</a:t>
            </a:r>
            <a:r>
              <a:rPr lang="zh-CN" altLang="en-US" sz="1200" b="1" dirty="0">
                <a:solidFill>
                  <a:srgbClr val="00B0F0"/>
                </a:solidFill>
                <a:latin typeface="Bodoni MT Black" panose="02070A03080606020203" pitchFamily="18" charset="0"/>
                <a:sym typeface="+mn-ea"/>
              </a:rPr>
              <a:t>接受事件的对象在相应状态的行为。</a:t>
            </a:r>
            <a:endParaRPr lang="zh-CN" altLang="en-US" sz="1200" dirty="0">
              <a:latin typeface="Bodoni MT Black" panose="02070A03080606020203" pitchFamily="18" charset="0"/>
            </a:endParaRPr>
          </a:p>
          <a:p>
            <a:pPr eaLnBrk="1" hangingPunct="1">
              <a:lnSpc>
                <a:spcPct val="180000"/>
              </a:lnSpc>
            </a:pPr>
            <a:endParaRPr lang="zh-CN" altLang="en-US" sz="1200" dirty="0">
              <a:latin typeface="Bodoni MT Black" panose="02070A03080606020203" pitchFamily="18" charset="0"/>
            </a:endParaRPr>
          </a:p>
          <a:p>
            <a:pPr eaLnBrk="1" hangingPunct="1">
              <a:lnSpc>
                <a:spcPct val="180000"/>
              </a:lnSpc>
            </a:pPr>
            <a:endParaRPr lang="zh-CN" altLang="en-US" sz="1200" dirty="0">
              <a:latin typeface="Bodoni MT Black" panose="02070A03080606020203" pitchFamily="18" charset="0"/>
            </a:endParaRPr>
          </a:p>
        </p:txBody>
      </p:sp>
      <p:sp>
        <p:nvSpPr>
          <p:cNvPr id="217093" name="文本框 1"/>
          <p:cNvSpPr txBox="1">
            <a:spLocks noChangeArrowheads="1"/>
          </p:cNvSpPr>
          <p:nvPr/>
        </p:nvSpPr>
        <p:spPr bwMode="auto">
          <a:xfrm>
            <a:off x="4929505" y="2759075"/>
            <a:ext cx="6924040" cy="58356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</a:ln>
        </p:spPr>
        <p:txBody>
          <a:bodyPr wrap="square">
            <a:spAutoFit/>
          </a:bodyPr>
          <a:p>
            <a:pPr eaLnBrk="1" hangingPunct="1">
              <a:lnSpc>
                <a:spcPct val="160000"/>
              </a:lnSpc>
            </a:pPr>
            <a:r>
              <a:rPr lang="zh-CN" altLang="en-US" sz="1000">
                <a:solidFill>
                  <a:schemeClr val="bg2"/>
                </a:solidFill>
                <a:latin typeface="+mn-ea"/>
                <a:cs typeface="+mn-ea"/>
              </a:rPr>
              <a:t>例如，在</a:t>
            </a:r>
            <a:r>
              <a:rPr lang="en-US" altLang="zh-CN" sz="1000">
                <a:solidFill>
                  <a:schemeClr val="bg2"/>
                </a:solidFill>
                <a:latin typeface="+mn-ea"/>
                <a:cs typeface="+mn-ea"/>
              </a:rPr>
              <a:t>ATM</a:t>
            </a:r>
            <a:r>
              <a:rPr lang="zh-CN" altLang="en-US" sz="1000">
                <a:solidFill>
                  <a:schemeClr val="bg2"/>
                </a:solidFill>
                <a:latin typeface="+mn-ea"/>
                <a:cs typeface="+mn-ea"/>
              </a:rPr>
              <a:t>系统中，发往</a:t>
            </a:r>
            <a:r>
              <a:rPr lang="en-US" altLang="zh-CN" sz="1000">
                <a:solidFill>
                  <a:schemeClr val="bg2"/>
                </a:solidFill>
                <a:latin typeface="+mn-ea"/>
                <a:cs typeface="+mn-ea"/>
              </a:rPr>
              <a:t>ATM</a:t>
            </a:r>
            <a:r>
              <a:rPr lang="zh-CN" altLang="en-US" sz="1000">
                <a:solidFill>
                  <a:schemeClr val="bg2"/>
                </a:solidFill>
                <a:latin typeface="+mn-ea"/>
                <a:cs typeface="+mn-ea"/>
              </a:rPr>
              <a:t>对象的事件“中止”，启动该对象的服务“打印账单”；发往分行的事件“请分行验卡”启动该对象的服务“验证卡号”；而事件“处理分行事务”启动分行对象的服务“更新账户”。</a:t>
            </a:r>
            <a:endParaRPr lang="zh-CN" altLang="en-US" sz="1000">
              <a:solidFill>
                <a:schemeClr val="bg2"/>
              </a:solidFill>
              <a:latin typeface="+mn-ea"/>
              <a:cs typeface="+mn-ea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4905375" y="3342640"/>
            <a:ext cx="6936740" cy="1163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p>
            <a:pPr marL="228600" indent="-228600" algn="l" eaLnBrk="1" hangingPunct="1">
              <a:lnSpc>
                <a:spcPct val="180000"/>
              </a:lnSpc>
              <a:buClrTx/>
              <a:buSzTx/>
              <a:buFont typeface="+mj-ea"/>
              <a:buAutoNum type="circleNumDbPlain" startAt="3"/>
            </a:pPr>
            <a:r>
              <a:rPr lang="zh-CN" altLang="en-US" sz="1200" b="1" dirty="0">
                <a:solidFill>
                  <a:srgbClr val="FF0000"/>
                </a:solidFill>
                <a:highlight>
                  <a:srgbClr val="00FFFF"/>
                </a:highlight>
                <a:latin typeface="Bodoni MT Black" panose="02070A03080606020203" pitchFamily="18" charset="0"/>
                <a:sym typeface="+mn-ea"/>
              </a:rPr>
              <a:t>与数据流图中处理框对应的操作</a:t>
            </a:r>
            <a:endParaRPr lang="zh-CN" altLang="en-US" sz="1200" b="1" dirty="0">
              <a:solidFill>
                <a:srgbClr val="FF0000"/>
              </a:solidFill>
              <a:highlight>
                <a:srgbClr val="00FFFF"/>
              </a:highlight>
              <a:latin typeface="Bodoni MT Black" panose="02070A03080606020203" pitchFamily="18" charset="0"/>
              <a:sym typeface="+mn-ea"/>
            </a:endParaRPr>
          </a:p>
          <a:p>
            <a:pPr indent="0" algn="l" eaLnBrk="1" hangingPunct="1">
              <a:lnSpc>
                <a:spcPct val="180000"/>
              </a:lnSpc>
              <a:buClrTx/>
              <a:buSzTx/>
              <a:buFont typeface="+mj-ea"/>
              <a:buNone/>
            </a:pP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 数据流图中的每个处理框都与一个对象（也可能是若干个对象）上的操作相对应。应该仔细对照状态图和数据流图，以便更正确地确定对象应该提供的服务。</a:t>
            </a:r>
            <a:endParaRPr lang="zh-CN" altLang="en-US" sz="1200" dirty="0">
              <a:latin typeface="Bodoni MT Black" panose="02070A03080606020203" pitchFamily="18" charset="0"/>
            </a:endParaRPr>
          </a:p>
          <a:p>
            <a:pPr indent="0" eaLnBrk="1" hangingPunct="1">
              <a:lnSpc>
                <a:spcPct val="180000"/>
              </a:lnSpc>
              <a:buFont typeface="+mj-ea"/>
              <a:buNone/>
            </a:pPr>
            <a:endParaRPr lang="zh-CN" altLang="en-US" sz="1200" dirty="0">
              <a:latin typeface="Bodoni MT Black" panose="02070A03080606020203" pitchFamily="18" charset="0"/>
            </a:endParaRPr>
          </a:p>
          <a:p>
            <a:pPr eaLnBrk="1" hangingPunct="1">
              <a:lnSpc>
                <a:spcPct val="180000"/>
              </a:lnSpc>
            </a:pPr>
            <a:endParaRPr lang="zh-CN" altLang="en-US" sz="1200" dirty="0">
              <a:latin typeface="Bodoni MT Black" panose="02070A03080606020203" pitchFamily="18" charset="0"/>
            </a:endParaRPr>
          </a:p>
        </p:txBody>
      </p:sp>
      <p:sp>
        <p:nvSpPr>
          <p:cNvPr id="7" name="文本框 1"/>
          <p:cNvSpPr txBox="1">
            <a:spLocks noChangeArrowheads="1"/>
          </p:cNvSpPr>
          <p:nvPr/>
        </p:nvSpPr>
        <p:spPr bwMode="auto">
          <a:xfrm>
            <a:off x="4929505" y="4418965"/>
            <a:ext cx="6924040" cy="58356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</a:ln>
        </p:spPr>
        <p:txBody>
          <a:bodyPr wrap="square">
            <a:spAutoFit/>
          </a:bodyPr>
          <a:p>
            <a:pPr algn="l" eaLnBrk="1" hangingPunct="1">
              <a:lnSpc>
                <a:spcPct val="160000"/>
              </a:lnSpc>
              <a:buClrTx/>
              <a:buSzTx/>
              <a:buFontTx/>
            </a:pPr>
            <a:r>
              <a:rPr lang="zh-CN" altLang="en-US" sz="100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例如，在ATM系统中，从状态图上看出分行对象应该提供“验证卡号”服务，而在数据流图上与之对应的处理框是“验卡”，根据实际应该完成的功能看，该对象提供的这个服务应该是“验卡”。</a:t>
            </a:r>
            <a:endParaRPr lang="zh-CN" altLang="en-US" sz="1000">
              <a:solidFill>
                <a:schemeClr val="bg2"/>
              </a:solidFill>
              <a:latin typeface="+mn-ea"/>
              <a:cs typeface="+mn-ea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4929505" y="5129530"/>
            <a:ext cx="6936740" cy="1163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p>
            <a:pPr marL="228600" indent="-228600" algn="l" eaLnBrk="1" hangingPunct="1">
              <a:lnSpc>
                <a:spcPct val="180000"/>
              </a:lnSpc>
              <a:buClrTx/>
              <a:buSzTx/>
              <a:buFont typeface="+mj-ea"/>
              <a:buAutoNum type="circleNumDbPlain" startAt="4"/>
            </a:pPr>
            <a:r>
              <a:rPr lang="zh-CN" altLang="en-US" sz="1200" b="1" dirty="0">
                <a:solidFill>
                  <a:srgbClr val="FF0000"/>
                </a:solidFill>
                <a:highlight>
                  <a:srgbClr val="00FFFF"/>
                </a:highlight>
                <a:latin typeface="Bodoni MT Black" panose="02070A03080606020203" pitchFamily="18" charset="0"/>
                <a:sym typeface="+mn-ea"/>
              </a:rPr>
              <a:t>利用继承减少冗余操作</a:t>
            </a:r>
            <a:endParaRPr lang="zh-CN" altLang="en-US" sz="1200" b="1" dirty="0">
              <a:solidFill>
                <a:srgbClr val="FF0000"/>
              </a:solidFill>
              <a:highlight>
                <a:srgbClr val="00FFFF"/>
              </a:highlight>
              <a:latin typeface="Bodoni MT Black" panose="02070A03080606020203" pitchFamily="18" charset="0"/>
            </a:endParaRPr>
          </a:p>
          <a:p>
            <a:pPr indent="0" eaLnBrk="1" hangingPunct="1">
              <a:lnSpc>
                <a:spcPct val="180000"/>
              </a:lnSpc>
              <a:buFont typeface="+mj-ea"/>
              <a:buNone/>
            </a:pPr>
            <a:r>
              <a:rPr lang="zh-CN" altLang="en-US" sz="1200" dirty="0" smtClean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应该</a:t>
            </a:r>
            <a:r>
              <a:rPr lang="zh-CN" altLang="en-US" sz="1200" dirty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尽量利用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继承机制</a:t>
            </a:r>
            <a:r>
              <a:rPr lang="zh-CN" altLang="en-US" sz="1200" dirty="0">
                <a:solidFill>
                  <a:srgbClr val="000000"/>
                </a:solidFill>
                <a:latin typeface="Bodoni MT Black" panose="02070A03080606020203" pitchFamily="18" charset="0"/>
                <a:sym typeface="+mn-ea"/>
              </a:rPr>
              <a:t>以减少所需定义的服务数目。只要不违背领域知识和常识，就尽量抽取出相似类的公共属性和操作，以建立这些类的新父类，并在类等级的不同层次中正确地定义各个服务。</a:t>
            </a:r>
            <a:endParaRPr lang="zh-CN" altLang="en-US" sz="1200" dirty="0">
              <a:solidFill>
                <a:srgbClr val="000000"/>
              </a:solidFill>
              <a:latin typeface="Bodoni MT Black" panose="02070A03080606020203" pitchFamily="18" charset="0"/>
            </a:endParaRPr>
          </a:p>
          <a:p>
            <a:pPr indent="0" eaLnBrk="1" hangingPunct="1">
              <a:lnSpc>
                <a:spcPct val="180000"/>
              </a:lnSpc>
              <a:buFont typeface="+mj-ea"/>
              <a:buNone/>
            </a:pPr>
            <a:endParaRPr lang="zh-CN" altLang="en-US" sz="1200" dirty="0">
              <a:latin typeface="Bodoni MT Black" panose="02070A03080606020203" pitchFamily="18" charset="0"/>
            </a:endParaRPr>
          </a:p>
          <a:p>
            <a:pPr eaLnBrk="1" hangingPunct="1">
              <a:lnSpc>
                <a:spcPct val="180000"/>
              </a:lnSpc>
            </a:pPr>
            <a:endParaRPr lang="zh-CN" altLang="en-US" sz="1200" dirty="0">
              <a:latin typeface="Bodoni MT Black" panose="02070A03080606020203" pitchFamily="18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 noProof="0" dirty="0">
                <a:sym typeface="+mn-lt"/>
              </a:rPr>
              <a:t>THANKS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6*i*6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1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1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1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1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2"/>
</p:tagLst>
</file>

<file path=ppt/tags/tag14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1"/>
</p:tagLst>
</file>

<file path=ppt/tags/tag14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UNIT_SHOW_EDIT_AREA_INDICATION" val="0"/>
  <p:tag name="KSO_WM_TEMPLATE_THUMBS_INDEX" val="1、2、3、11、14"/>
  <p:tag name="KSO_WM_TAG_VERSION" val="1.0"/>
  <p:tag name="KSO_WM_BEAUTIFY_FLAG" val="#wm#"/>
  <p:tag name="KSO_WM_TEMPLATE_CATEGORY" val="custom"/>
  <p:tag name="KSO_WM_TEMPLATE_INDEX" val="20202545"/>
  <p:tag name="KSO_WM_TEMPLATE_MASTER_TYPE" val="1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PRESET_TEXT" val="极简大气通用模板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62.xml><?xml version="1.0" encoding="utf-8"?>
<p:tagLst xmlns:p="http://schemas.openxmlformats.org/presentationml/2006/main">
  <p:tag name="KSO_WM_SLIDE_ID" val="custom2020254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2545"/>
  <p:tag name="KSO_WM_SLIDE_LAYOUT" val="a_b"/>
  <p:tag name="KSO_WM_SLIDE_LAYOUT_CNT" val="1_3"/>
  <p:tag name="KSO_WM_UNIT_SHOW_EDIT_AREA_INDICATION" val="1"/>
  <p:tag name="KSO_WM_TEMPLATE_THUMBS_INDEX" val="1、2、6、7、9、11、14、15"/>
  <p:tag name="KSO_WM_TEMPLATE_MASTER_THUMB_INDEX" val="1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5"/>
  <p:tag name="KSO_WM_UNIT_ID" val="custom20202545_4*i*5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6"/>
  <p:tag name="KSO_WM_UNIT_ID" val="custom20202545_4*i*6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7"/>
  <p:tag name="KSO_WM_UNIT_ID" val="custom20202545_4*i*7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custom20202545_4*b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67.xml><?xml version="1.0" encoding="utf-8"?>
<p:tagLst xmlns:p="http://schemas.openxmlformats.org/presentationml/2006/main">
  <p:tag name="KSO_WM_UNIT_ISCONTENTSTITLE" val="0"/>
  <p:tag name="KSO_WM_UNIT_ISNUMDGMTITLE" val="0"/>
  <p:tag name="KSO_WM_UNIT_PRESET_TEXT" val="极简大气通用模板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*a*1"/>
  <p:tag name="KSO_WM_TEMPLATE_CATEGORY" val="custom"/>
  <p:tag name="KSO_WM_TEMPLATE_INDEX" val="20202545"/>
  <p:tag name="KSO_WM_UNIT_LAYERLEVEL" val="1"/>
  <p:tag name="KSO_WM_TAG_VERSION" val="1.0"/>
  <p:tag name="KSO_WM_BEAUTIFY_FLAG" val=""/>
</p:tagLst>
</file>

<file path=ppt/tags/tag1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本具体内容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545_7*b*1"/>
  <p:tag name="KSO_WM_TEMPLATE_CATEGORY" val="custom"/>
  <p:tag name="KSO_WM_TEMPLATE_INDEX" val="20202545"/>
  <p:tag name="KSO_WM_UNIT_LAYERLEVEL" val="1"/>
  <p:tag name="KSO_WM_TAG_VERSION" val="1.0"/>
  <p:tag name="KSO_WM_BEAUTIFY_FLAG" val=""/>
</p:tagLst>
</file>

<file path=ppt/tags/tag169.xml><?xml version="1.0" encoding="utf-8"?>
<p:tagLst xmlns:p="http://schemas.openxmlformats.org/presentationml/2006/main">
  <p:tag name="KSO_WM_SLIDE_ID" val="custom20202545_4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2545"/>
  <p:tag name="KSO_WM_SLIDE_LAYOUT" val="a_b_l"/>
  <p:tag name="KSO_WM_SLIDE_LAYOUT_CNT" val="1_1_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5"/>
  <p:tag name="KSO_WM_UNIT_ID" val="custom20202545_4*i*5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6"/>
  <p:tag name="KSO_WM_UNIT_ID" val="custom20202545_4*i*6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7"/>
  <p:tag name="KSO_WM_UNIT_ID" val="custom20202545_4*i*7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545_4*l_h_i*1_1_1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2545_4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2545_4*l_h_i*1_1_2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02545_4*l_h_i*1_1_3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202545_4*l_h_i*1_2_1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02545_4*i*2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custom20202545_4*l_h_i*1_2_2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custom20202545_4*l_h_i*1_2_3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custom20202545_4*l_h_i*1_3_3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02545_4*i*3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custom20202545_4*l_h_i*1_3_2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202545_4*l_h_i*1_3_1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custom20202545_4*l_h_i*1_4_1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4"/>
  <p:tag name="KSO_WM_UNIT_ID" val="custom20202545_4*i*4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custom20202545_4*l_h_i*1_4_2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custom20202545_4*l_h_i*1_4_3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89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2545_4*l_h_f*1_1_1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90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02545_4*l_h_f*1_2_1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91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02545_4*l_h_f*1_3_1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92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02545_4*l_h_f*1_4_1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9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2545_4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94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custom20202545_4*b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95.xml><?xml version="1.0" encoding="utf-8"?>
<p:tagLst xmlns:p="http://schemas.openxmlformats.org/presentationml/2006/main">
  <p:tag name="KSO_WM_DIAGRAM_VIRTUALLY_FRAME" val="{&quot;height&quot;:412.1500000000001,&quot;left&quot;:361.9,&quot;top&quot;:66,&quot;width&quot;:507.1}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545_4*l_h_i*1_1_1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2545_4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82.4000000000002,&quot;left&quot;:367.05,&quot;top&quot;:9.550078740157488,&quot;width&quot;:484.85}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2545_4*l_h_i*1_1_2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02545_4*l_h_i*1_1_3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200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02545_4*l_h_f*1_4_1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201.xml><?xml version="1.0" encoding="utf-8"?>
<p:tagLst xmlns:p="http://schemas.openxmlformats.org/presentationml/2006/main">
  <p:tag name="KSO_WM_DIAGRAM_VIRTUALLY_FRAME" val="{&quot;height&quot;:412.1500000000001,&quot;left&quot;:361.9,&quot;top&quot;:66,&quot;width&quot;:507.1}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545_4*l_h_i*1_1_1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2545_4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82.4000000000002,&quot;left&quot;:367.05,&quot;top&quot;:9.550078740157488,&quot;width&quot;:484.85}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2545_4*l_h_i*1_1_2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02545_4*l_h_i*1_1_3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206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02545_4*l_h_f*1_4_1"/>
  <p:tag name="KSO_WM_TEMPLATE_CATEGORY" val="custom"/>
  <p:tag name="KSO_WM_TEMPLATE_INDEX" val="2020254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12.1500000000001,&quot;left&quot;:361.9,&quot;top&quot;:66,&quot;width&quot;:507.1}"/>
</p:tagLst>
</file>

<file path=ppt/tags/tag207.xml><?xml version="1.0" encoding="utf-8"?>
<p:tagLst xmlns:p="http://schemas.openxmlformats.org/presentationml/2006/main">
  <p:tag name="KSO_WM_SLIDE_ID" val="custom20202545_4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2545"/>
  <p:tag name="KSO_WM_SLIDE_LAYOUT" val="a_b_l"/>
  <p:tag name="KSO_WM_SLIDE_LAYOUT_CNT" val="1_1_1"/>
</p:tagLst>
</file>

<file path=ppt/tags/tag20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0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SLIDE_ID" val="custom20202545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2545"/>
  <p:tag name="KSO_WM_SLIDE_LAYOUT" val="a_d_f"/>
  <p:tag name="KSO_WM_SLIDE_LAYOUT_CNT" val="1_1_1"/>
</p:tagLst>
</file>

<file path=ppt/tags/tag2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0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SLIDE_ID" val="custom20202545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2545"/>
  <p:tag name="KSO_WM_SLIDE_LAYOUT" val="a_d_f"/>
  <p:tag name="KSO_WM_SLIDE_LAYOUT_CNT" val="1_1_1"/>
</p:tagLst>
</file>

<file path=ppt/tags/tag212.xml><?xml version="1.0" encoding="utf-8"?>
<p:tagLst xmlns:p="http://schemas.openxmlformats.org/presentationml/2006/main">
  <p:tag name="KSO_WM_SLIDE_ID" val="custom20202545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545"/>
  <p:tag name="KSO_WM_SLIDE_LAYOUT" val="a_f"/>
  <p:tag name="KSO_WM_SLIDE_LAYOUT_CNT" val="1_1"/>
</p:tagLst>
</file>

<file path=ppt/tags/tag213.xml><?xml version="1.0" encoding="utf-8"?>
<p:tagLst xmlns:p="http://schemas.openxmlformats.org/presentationml/2006/main">
  <p:tag name="KSO_WM_SLIDE_ID" val="custom20202545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545"/>
  <p:tag name="KSO_WM_SLIDE_LAYOUT" val="a_f"/>
  <p:tag name="KSO_WM_SLIDE_LAYOUT_CNT" val="1_1"/>
</p:tagLst>
</file>

<file path=ppt/tags/tag214.xml><?xml version="1.0" encoding="utf-8"?>
<p:tagLst xmlns:p="http://schemas.openxmlformats.org/presentationml/2006/main">
  <p:tag name="KSO_WM_SLIDE_ID" val="custom20202545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545"/>
  <p:tag name="KSO_WM_SLIDE_LAYOUT" val="a_f"/>
  <p:tag name="KSO_WM_SLIDE_LAYOUT_CNT" val="1_1"/>
</p:tagLst>
</file>

<file path=ppt/tags/tag215.xml><?xml version="1.0" encoding="utf-8"?>
<p:tagLst xmlns:p="http://schemas.openxmlformats.org/presentationml/2006/main">
  <p:tag name="KSO_WM_SLIDE_ID" val="custom20202545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545"/>
  <p:tag name="KSO_WM_SLIDE_LAYOUT" val="a_f"/>
  <p:tag name="KSO_WM_SLIDE_LAYOUT_CNT" val="1_1"/>
</p:tagLst>
</file>

<file path=ppt/tags/tag216.xml><?xml version="1.0" encoding="utf-8"?>
<p:tagLst xmlns:p="http://schemas.openxmlformats.org/presentationml/2006/main">
  <p:tag name="KSO_WM_SLIDE_ID" val="custom20202545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545"/>
  <p:tag name="KSO_WM_SLIDE_LAYOUT" val="a_f"/>
  <p:tag name="KSO_WM_SLIDE_LAYOUT_CNT" val="1_1"/>
</p:tagLst>
</file>

<file path=ppt/tags/tag2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0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SLIDE_ID" val="custom20202545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2545"/>
  <p:tag name="KSO_WM_SLIDE_LAYOUT" val="a_d_f"/>
  <p:tag name="KSO_WM_SLIDE_LAYOUT_CNT" val="1_1_1"/>
</p:tagLst>
</file>

<file path=ppt/tags/tag219.xml><?xml version="1.0" encoding="utf-8"?>
<p:tagLst xmlns:p="http://schemas.openxmlformats.org/presentationml/2006/main">
  <p:tag name="KSO_WM_SLIDE_ID" val="custom20202545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545"/>
  <p:tag name="KSO_WM_SLIDE_LAYOUT" val="a_f"/>
  <p:tag name="KSO_WM_SLIDE_LAYOUT_CNT" val="1_1"/>
</p:tagLst>
</file>

<file path=ppt/tags/tag220.xml><?xml version="1.0" encoding="utf-8"?>
<p:tagLst xmlns:p="http://schemas.openxmlformats.org/presentationml/2006/main">
  <p:tag name="KSO_WM_SLIDE_ID" val="custom20202545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545"/>
  <p:tag name="KSO_WM_SLIDE_LAYOUT" val="a_f"/>
  <p:tag name="KSO_WM_SLIDE_LAYOUT_CNT" val="1_1"/>
</p:tagLst>
</file>

<file path=ppt/tags/tag221.xml><?xml version="1.0" encoding="utf-8"?>
<p:tagLst xmlns:p="http://schemas.openxmlformats.org/presentationml/2006/main">
  <p:tag name="KSO_WM_SLIDE_ID" val="custom20202545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545"/>
  <p:tag name="KSO_WM_SLIDE_LAYOUT" val="a_f"/>
  <p:tag name="KSO_WM_SLIDE_LAYOUT_CNT" val="1_1"/>
</p:tagLst>
</file>

<file path=ppt/tags/tag2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0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SLIDE_ID" val="custom20202545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2545"/>
  <p:tag name="KSO_WM_SLIDE_LAYOUT" val="a_d_f"/>
  <p:tag name="KSO_WM_SLIDE_LAYOUT_CNT" val="1_1_1"/>
</p:tagLst>
</file>

<file path=ppt/tags/tag2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0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SLIDE_ID" val="custom20202545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2545"/>
  <p:tag name="KSO_WM_SLIDE_LAYOUT" val="a_d_f"/>
  <p:tag name="KSO_WM_SLIDE_LAYOUT_CNT" val="1_1_1"/>
</p:tagLst>
</file>

<file path=ppt/tags/tag226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5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PRESET_TEXT" val="THANKS"/>
</p:tagLst>
</file>

<file path=ppt/tags/tag227.xml><?xml version="1.0" encoding="utf-8"?>
<p:tagLst xmlns:p="http://schemas.openxmlformats.org/presentationml/2006/main">
  <p:tag name="KSO_WM_SLIDE_ID" val="custom20202545_15"/>
  <p:tag name="KSO_WM_TEMPLATE_SUBCATEGORY" val="0"/>
  <p:tag name="KSO_WM_TEMPLATE_MASTER_TYPE" val="1"/>
  <p:tag name="KSO_WM_TEMPLATE_COLOR_TYPE" val="1"/>
  <p:tag name="KSO_WM_SLIDE_TYPE" val="endPage"/>
  <p:tag name="KSO_WM_SLIDE_SUBTYPE" val="pureTxt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545"/>
  <p:tag name="KSO_WM_SLIDE_LAYOUT" val="a"/>
  <p:tag name="KSO_WM_SLIDE_LAYOUT_CNT" val="1"/>
</p:tagLst>
</file>

<file path=ppt/tags/tag228.xml><?xml version="1.0" encoding="utf-8"?>
<p:tagLst xmlns:p="http://schemas.openxmlformats.org/presentationml/2006/main">
  <p:tag name="commondata" val="eyJoZGlkIjoiZjAxMDMxNTc0NmE5YzRlNTQ4ZmI5MzlkYzI5NmM5MGYifQ=="/>
</p:tagLst>
</file>

<file path=ppt/theme/theme1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5C8FC7"/>
      </a:accent1>
      <a:accent2>
        <a:srgbClr val="6E82BA"/>
      </a:accent2>
      <a:accent3>
        <a:srgbClr val="8376B0"/>
      </a:accent3>
      <a:accent4>
        <a:srgbClr val="9868A3"/>
      </a:accent4>
      <a:accent5>
        <a:srgbClr val="AE5B97"/>
      </a:accent5>
      <a:accent6>
        <a:srgbClr val="C44B8A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9090</Words>
  <Application>WPS 演示</Application>
  <PresentationFormat>宽屏</PresentationFormat>
  <Paragraphs>483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汉仪旗黑-85S</vt:lpstr>
      <vt:lpstr>黑体</vt:lpstr>
      <vt:lpstr>Viner Hand ITC</vt:lpstr>
      <vt:lpstr>华光彩云_CNKI</vt:lpstr>
      <vt:lpstr>Bodoni MT Black</vt:lpstr>
      <vt:lpstr>Times New Roman</vt:lpstr>
      <vt:lpstr>Arial Unicode MS</vt:lpstr>
      <vt:lpstr>Calibri</vt:lpstr>
      <vt:lpstr>2_Office 主题​​</vt:lpstr>
      <vt:lpstr>软件工程导论（第6版）</vt:lpstr>
      <vt:lpstr>第8章  面向对象分析</vt:lpstr>
      <vt:lpstr>PowerPoint 演示文稿</vt:lpstr>
      <vt:lpstr>分析的基本过程</vt:lpstr>
      <vt:lpstr>需求陈述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建立动态模型</vt:lpstr>
      <vt:lpstr>PowerPoint 演示文稿</vt:lpstr>
      <vt:lpstr>PowerPoint 演示文稿</vt:lpstr>
      <vt:lpstr>PowerPoint 演示文稿</vt:lpstr>
      <vt:lpstr>建立功能模型</vt:lpstr>
      <vt:lpstr>定义服务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半湖柳色</cp:lastModifiedBy>
  <cp:revision>447</cp:revision>
  <dcterms:created xsi:type="dcterms:W3CDTF">2019-06-19T02:08:00Z</dcterms:created>
  <dcterms:modified xsi:type="dcterms:W3CDTF">2026-01-11T07:50:17Z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438D8319457E4179A7E3E877523DBF17_13</vt:lpwstr>
  </property>
</Properties>
</file>