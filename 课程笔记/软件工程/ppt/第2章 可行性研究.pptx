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61" r:id="rId4"/>
    <p:sldId id="273" r:id="rId5"/>
    <p:sldId id="267" r:id="rId6"/>
    <p:sldId id="297" r:id="rId8"/>
    <p:sldId id="266" r:id="rId9"/>
    <p:sldId id="320" r:id="rId10"/>
    <p:sldId id="321" r:id="rId11"/>
    <p:sldId id="268" r:id="rId12"/>
    <p:sldId id="327" r:id="rId13"/>
    <p:sldId id="275" r:id="rId14"/>
    <p:sldId id="329" r:id="rId15"/>
    <p:sldId id="276" r:id="rId16"/>
    <p:sldId id="272" r:id="rId17"/>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F8FA"/>
    <a:srgbClr val="FFFFFF"/>
    <a:srgbClr val="9DDA46"/>
    <a:srgbClr val="71CA52"/>
    <a:srgbClr val="C2E277"/>
    <a:srgbClr val="CEEC72"/>
    <a:srgbClr val="E6F882"/>
    <a:srgbClr val="F7FD9D"/>
    <a:srgbClr val="C3E59D"/>
    <a:srgbClr val="45D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227.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7" Type="http://schemas.openxmlformats.org/officeDocument/2006/relationships/slideLayout" Target="../slideLayouts/slideLayout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1.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0.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4.xml"/><Relationship Id="rId4" Type="http://schemas.openxmlformats.org/officeDocument/2006/relationships/tags" Target="../tags/tag198.xml"/><Relationship Id="rId3" Type="http://schemas.openxmlformats.org/officeDocument/2006/relationships/image" Target="../media/image1.png"/><Relationship Id="rId2" Type="http://schemas.openxmlformats.org/officeDocument/2006/relationships/tags" Target="../tags/tag197.xml"/><Relationship Id="rId1" Type="http://schemas.openxmlformats.org/officeDocument/2006/relationships/tags" Target="../tags/tag196.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4.xml"/><Relationship Id="rId4" Type="http://schemas.openxmlformats.org/officeDocument/2006/relationships/tags" Target="../tags/tag201.xml"/><Relationship Id="rId3" Type="http://schemas.openxmlformats.org/officeDocument/2006/relationships/image" Target="../media/image2.png"/><Relationship Id="rId2" Type="http://schemas.openxmlformats.org/officeDocument/2006/relationships/tags" Target="../tags/tag200.xml"/><Relationship Id="rId1" Type="http://schemas.openxmlformats.org/officeDocument/2006/relationships/tags" Target="../tags/tag19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2" Type="http://schemas.openxmlformats.org/officeDocument/2006/relationships/slideLayout" Target="../slideLayouts/slideLayout4.xml"/><Relationship Id="rId11" Type="http://schemas.openxmlformats.org/officeDocument/2006/relationships/tags" Target="../tags/tag210.xml"/><Relationship Id="rId10" Type="http://schemas.openxmlformats.org/officeDocument/2006/relationships/image" Target="../media/image6.png"/><Relationship Id="rId1" Type="http://schemas.openxmlformats.org/officeDocument/2006/relationships/tags" Target="../tags/tag20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4.xml"/><Relationship Id="rId6" Type="http://schemas.openxmlformats.org/officeDocument/2006/relationships/tags" Target="../tags/tag2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212.xml"/><Relationship Id="rId1" Type="http://schemas.openxmlformats.org/officeDocument/2006/relationships/tags" Target="../tags/tag21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218.xml"/><Relationship Id="rId5" Type="http://schemas.openxmlformats.org/officeDocument/2006/relationships/image" Target="../media/image10.png"/><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19.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4.xml"/><Relationship Id="rId5" Type="http://schemas.openxmlformats.org/officeDocument/2006/relationships/tags" Target="../tags/tag22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221.xml"/><Relationship Id="rId1" Type="http://schemas.openxmlformats.org/officeDocument/2006/relationships/tags" Target="../tags/tag22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3.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24.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26.xml"/><Relationship Id="rId1" Type="http://schemas.openxmlformats.org/officeDocument/2006/relationships/tags" Target="../tags/tag2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2</a:t>
            </a:r>
            <a:r>
              <a:rPr lang="zh-CN" altLang="en-US" sz="4000" dirty="0">
                <a:sym typeface="+mn-lt"/>
              </a:rPr>
              <a:t>章</a:t>
            </a:r>
            <a:r>
              <a:rPr lang="en-US" altLang="zh-CN" sz="4000" dirty="0">
                <a:sym typeface="+mn-lt"/>
              </a:rPr>
              <a:t>  </a:t>
            </a:r>
            <a:r>
              <a:rPr lang="zh-CN" altLang="en-US" sz="4000" dirty="0">
                <a:sym typeface="+mn-lt"/>
              </a:rPr>
              <a:t>可行性研究</a:t>
            </a:r>
            <a:endParaRPr lang="zh-CN" altLang="en-US" sz="4000" dirty="0">
              <a:sym typeface="+mn-lt"/>
            </a:endParaRPr>
          </a:p>
        </p:txBody>
      </p:sp>
      <p:sp>
        <p:nvSpPr>
          <p:cNvPr id="12" name="文本占位符 11"/>
          <p:cNvSpPr>
            <a:spLocks noGrp="1"/>
          </p:cNvSpPr>
          <p:nvPr>
            <p:ph type="body" idx="1"/>
            <p:custDataLst>
              <p:tags r:id="rId6"/>
            </p:custDataLst>
          </p:nvPr>
        </p:nvSpPr>
        <p:spPr>
          <a:xfrm>
            <a:off x="3136265" y="2273935"/>
            <a:ext cx="8485505" cy="1903730"/>
          </a:xfrm>
        </p:spPr>
        <p:txBody>
          <a:bodyPr>
            <a:normAutofit fontScale="25000"/>
          </a:bodyPr>
          <a:p>
            <a:pPr indent="457200" eaLnBrk="1" hangingPunct="1">
              <a:lnSpc>
                <a:spcPts val="3500"/>
              </a:lnSpc>
              <a:defRPr/>
            </a:pPr>
            <a:r>
              <a:rPr lang="zh-CN" sz="7200" dirty="0">
                <a:latin typeface="Bodoni MT Black" panose="02070A03080606020203" pitchFamily="18" charset="0"/>
                <a:ea typeface="+mn-ea"/>
                <a:sym typeface="+mn-ea"/>
              </a:rPr>
              <a:t>可行性研究的</a:t>
            </a:r>
            <a:r>
              <a:rPr lang="zh-CN" sz="7200" b="1" dirty="0">
                <a:solidFill>
                  <a:srgbClr val="FF0000"/>
                </a:solidFill>
                <a:latin typeface="Bodoni MT Black" panose="02070A03080606020203" pitchFamily="18" charset="0"/>
                <a:ea typeface="+mn-ea"/>
                <a:sym typeface="+mn-ea"/>
              </a:rPr>
              <a:t>目的</a:t>
            </a:r>
            <a:r>
              <a:rPr lang="zh-CN" sz="7200" dirty="0">
                <a:latin typeface="Bodoni MT Black" panose="02070A03080606020203" pitchFamily="18" charset="0"/>
                <a:ea typeface="+mn-ea"/>
                <a:sym typeface="+mn-ea"/>
              </a:rPr>
              <a:t>，是用</a:t>
            </a:r>
            <a:r>
              <a:rPr lang="zh-CN" sz="7200" dirty="0">
                <a:solidFill>
                  <a:schemeClr val="accent1"/>
                </a:solidFill>
                <a:latin typeface="Bodoni MT Black" panose="02070A03080606020203" pitchFamily="18" charset="0"/>
                <a:ea typeface="+mn-ea"/>
                <a:sym typeface="+mn-ea"/>
              </a:rPr>
              <a:t>最小的代价在尽可能短的时间内确定问题</a:t>
            </a:r>
            <a:r>
              <a:rPr lang="zh-CN" sz="7200" dirty="0">
                <a:solidFill>
                  <a:srgbClr val="FF0000"/>
                </a:solidFill>
                <a:latin typeface="Bodoni MT Black" panose="02070A03080606020203" pitchFamily="18" charset="0"/>
                <a:ea typeface="+mn-ea"/>
                <a:sym typeface="+mn-ea"/>
              </a:rPr>
              <a:t>是否能够解决</a:t>
            </a:r>
            <a:r>
              <a:rPr altLang="zh-CN" sz="7200" dirty="0">
                <a:latin typeface="Bodoni MT Black" panose="02070A03080606020203" pitchFamily="18" charset="0"/>
                <a:ea typeface="+mn-ea"/>
                <a:sym typeface="+mn-ea"/>
              </a:rPr>
              <a:t>。</a:t>
            </a:r>
            <a:r>
              <a:rPr lang="zh-CN" sz="7200" dirty="0">
                <a:latin typeface="Bodoni MT Black" panose="02070A03080606020203" pitchFamily="18" charset="0"/>
                <a:ea typeface="+mn-ea"/>
                <a:sym typeface="+mn-ea"/>
              </a:rPr>
              <a:t>其方法是分析集中主要的可能解法的</a:t>
            </a:r>
            <a:r>
              <a:rPr lang="zh-CN" sz="7200" b="1" dirty="0">
                <a:solidFill>
                  <a:srgbClr val="00B050"/>
                </a:solidFill>
                <a:latin typeface="Bodoni MT Black" panose="02070A03080606020203" pitchFamily="18" charset="0"/>
                <a:ea typeface="+mn-ea"/>
                <a:sym typeface="+mn-ea"/>
              </a:rPr>
              <a:t>利弊</a:t>
            </a:r>
            <a:r>
              <a:rPr lang="zh-CN" sz="7200" dirty="0">
                <a:latin typeface="Bodoni MT Black" panose="02070A03080606020203" pitchFamily="18" charset="0"/>
                <a:ea typeface="+mn-ea"/>
                <a:sym typeface="+mn-ea"/>
              </a:rPr>
              <a:t>来判断待开发系统的规模和目标是否能够实现，以及所带来的效益是否合乎预期。</a:t>
            </a:r>
            <a:endParaRPr lang="zh-CN" altLang="zh-CN" sz="7200" dirty="0">
              <a:latin typeface="Bodoni MT Black" panose="02070A03080606020203" pitchFamily="18" charset="0"/>
              <a:ea typeface="+mn-ea"/>
            </a:endParaRPr>
          </a:p>
          <a:p>
            <a:pPr indent="457200" eaLnBrk="1" hangingPunct="1">
              <a:lnSpc>
                <a:spcPts val="3500"/>
              </a:lnSpc>
              <a:defRPr/>
            </a:pPr>
            <a:r>
              <a:rPr lang="zh-CN" sz="7200" dirty="0">
                <a:latin typeface="Bodoni MT Black" panose="02070A03080606020203" pitchFamily="18" charset="0"/>
                <a:ea typeface="+mn-ea"/>
                <a:sym typeface="+mn-ea"/>
              </a:rPr>
              <a:t>因此，可行性研究是指是进行一次大大</a:t>
            </a:r>
            <a:r>
              <a:rPr lang="zh-CN" sz="7200" dirty="0">
                <a:solidFill>
                  <a:srgbClr val="FF0000"/>
                </a:solidFill>
                <a:latin typeface="Bodoni MT Black" panose="02070A03080606020203" pitchFamily="18" charset="0"/>
                <a:ea typeface="+mn-ea"/>
                <a:sym typeface="+mn-ea"/>
              </a:rPr>
              <a:t>压缩和简化</a:t>
            </a:r>
            <a:r>
              <a:rPr lang="zh-CN" sz="7200" dirty="0">
                <a:latin typeface="Bodoni MT Black" panose="02070A03080606020203" pitchFamily="18" charset="0"/>
                <a:ea typeface="+mn-ea"/>
                <a:sym typeface="+mn-ea"/>
              </a:rPr>
              <a:t>了的</a:t>
            </a:r>
            <a:r>
              <a:rPr lang="zh-CN" sz="7200" dirty="0">
                <a:solidFill>
                  <a:schemeClr val="accent1"/>
                </a:solidFill>
                <a:latin typeface="Bodoni MT Black" panose="02070A03080606020203" pitchFamily="18" charset="0"/>
                <a:ea typeface="+mn-ea"/>
                <a:sym typeface="+mn-ea"/>
              </a:rPr>
              <a:t>系统分析和设计过程</a:t>
            </a:r>
            <a:r>
              <a:rPr lang="zh-CN" sz="7200" dirty="0">
                <a:latin typeface="Bodoni MT Black" panose="02070A03080606020203" pitchFamily="18" charset="0"/>
                <a:ea typeface="+mn-ea"/>
                <a:sym typeface="+mn-ea"/>
              </a:rPr>
              <a:t>，在较高层次上以较抽象的方式进行系统的分析和设计过程</a:t>
            </a:r>
            <a:r>
              <a:rPr sz="7200" dirty="0">
                <a:latin typeface="Bodoni MT Black" panose="02070A03080606020203" pitchFamily="18" charset="0"/>
                <a:ea typeface="+mn-ea"/>
                <a:sym typeface="+mn-ea"/>
              </a:rPr>
              <a:t>。</a:t>
            </a:r>
            <a:endParaRPr lang="zh-CN" altLang="en-US" sz="7200" dirty="0">
              <a:sym typeface="Arial" panose="020B0604020202020204" pitchFamily="34" charset="0"/>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201285" y="1403985"/>
            <a:ext cx="527685" cy="831215"/>
          </a:xfrm>
          <a:prstGeom prst="rect">
            <a:avLst/>
          </a:prstGeom>
          <a:noFill/>
        </p:spPr>
        <p:txBody>
          <a:bodyPr wrap="square" rtlCol="0">
            <a:normAutofit/>
          </a:bodyPr>
          <a:lstStyle/>
          <a:p>
            <a:r>
              <a:rPr lang="en-US" altLang="zh-CN" sz="48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8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93920" y="1610360"/>
            <a:ext cx="279400" cy="347980"/>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29" name="文本框 28"/>
          <p:cNvSpPr txBox="1"/>
          <p:nvPr>
            <p:custDataLst>
              <p:tags r:id="rId8"/>
            </p:custDataLst>
          </p:nvPr>
        </p:nvSpPr>
        <p:spPr>
          <a:xfrm>
            <a:off x="5201285" y="2585085"/>
            <a:ext cx="527685" cy="831215"/>
          </a:xfrm>
          <a:prstGeom prst="rect">
            <a:avLst/>
          </a:prstGeom>
          <a:noFill/>
        </p:spPr>
        <p:txBody>
          <a:bodyPr wrap="square" rtlCol="0">
            <a:normAutofit/>
          </a:bodyPr>
          <a:lstStyle/>
          <a:p>
            <a:r>
              <a:rPr lang="en-US" altLang="zh-CN" sz="48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8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93920" y="2827020"/>
            <a:ext cx="279400" cy="347980"/>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30" name="文本框 29"/>
          <p:cNvSpPr txBox="1"/>
          <p:nvPr>
            <p:custDataLst>
              <p:tags r:id="rId12"/>
            </p:custDataLst>
          </p:nvPr>
        </p:nvSpPr>
        <p:spPr>
          <a:xfrm>
            <a:off x="5201285" y="3765550"/>
            <a:ext cx="527685" cy="831215"/>
          </a:xfrm>
          <a:prstGeom prst="rect">
            <a:avLst/>
          </a:prstGeom>
          <a:noFill/>
        </p:spPr>
        <p:txBody>
          <a:bodyPr wrap="square" rtlCol="0">
            <a:normAutofit/>
          </a:bodyPr>
          <a:lstStyle/>
          <a:p>
            <a:r>
              <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93920" y="4007485"/>
            <a:ext cx="279400" cy="347980"/>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31" name="文本框 30"/>
          <p:cNvSpPr txBox="1"/>
          <p:nvPr>
            <p:custDataLst>
              <p:tags r:id="rId16"/>
            </p:custDataLst>
          </p:nvPr>
        </p:nvSpPr>
        <p:spPr>
          <a:xfrm>
            <a:off x="5201285" y="4946015"/>
            <a:ext cx="527685" cy="831215"/>
          </a:xfrm>
          <a:prstGeom prst="rect">
            <a:avLst/>
          </a:prstGeom>
          <a:noFill/>
        </p:spPr>
        <p:txBody>
          <a:bodyPr wrap="square" rtlCol="0">
            <a:normAutofit/>
          </a:bodyPr>
          <a:lstStyle/>
          <a:p>
            <a:r>
              <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8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93920" y="5187950"/>
            <a:ext cx="279400" cy="347980"/>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zh-CN" altLang="en-US"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b="1">
                <a:solidFill>
                  <a:schemeClr val="tx1">
                    <a:lumMod val="85000"/>
                    <a:lumOff val="15000"/>
                  </a:schemeClr>
                </a:solidFill>
              </a:endParaRPr>
            </a:p>
          </p:txBody>
        </p:sp>
      </p:grpSp>
      <p:sp>
        <p:nvSpPr>
          <p:cNvPr id="13" name="文本框 12"/>
          <p:cNvSpPr txBox="1"/>
          <p:nvPr>
            <p:custDataLst>
              <p:tags r:id="rId20"/>
            </p:custDataLst>
          </p:nvPr>
        </p:nvSpPr>
        <p:spPr>
          <a:xfrm>
            <a:off x="6141720" y="1403985"/>
            <a:ext cx="3399790" cy="861060"/>
          </a:xfrm>
          <a:prstGeom prst="rect">
            <a:avLst/>
          </a:prstGeom>
          <a:noFill/>
        </p:spPr>
        <p:txBody>
          <a:bodyPr wrap="square" rtlCol="0" anchor="ctr">
            <a:no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可行性研究过程</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41720" y="25850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系统流程图</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41720" y="37661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数据流程图</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41720" y="4947286"/>
            <a:ext cx="2879725" cy="861060"/>
          </a:xfrm>
          <a:prstGeom prst="rect">
            <a:avLst/>
          </a:prstGeom>
          <a:noFill/>
        </p:spPr>
        <p:txBody>
          <a:bodyPr wrap="square" rtlCol="0" anchor="ctr">
            <a:normAutofit/>
          </a:bodyPr>
          <a:lstStyle/>
          <a:p>
            <a:r>
              <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rPr>
              <a:t>数据字典</a:t>
            </a:r>
            <a:endParaRPr lang="zh-CN" altLang="en-US" sz="32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spTree>
    <p:custDataLst>
      <p:tags r:id="rId2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83835" y="55831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可行性研究过程</a:t>
            </a:r>
            <a:endParaRPr lang="zh-CN" altLang="en-US" sz="2800" spc="200" dirty="0">
              <a:latin typeface="汉仪旗黑-85S" panose="00020600040101010101" pitchFamily="18" charset="-122"/>
              <a:ea typeface="汉仪旗黑-85S" panose="00020600040101010101" pitchFamily="18" charset="-122"/>
            </a:endParaRPr>
          </a:p>
        </p:txBody>
      </p:sp>
      <p:sp>
        <p:nvSpPr>
          <p:cNvPr id="2" name="文本占位符 1"/>
          <p:cNvSpPr>
            <a:spLocks noGrp="1"/>
          </p:cNvSpPr>
          <p:nvPr>
            <p:ph type="body" sz="quarter" idx="13"/>
            <p:custDataLst>
              <p:tags r:id="rId2"/>
            </p:custDataLst>
          </p:nvPr>
        </p:nvSpPr>
        <p:spPr>
          <a:xfrm>
            <a:off x="588645" y="1760220"/>
            <a:ext cx="3956685" cy="4123690"/>
          </a:xfrm>
        </p:spPr>
        <p:txBody>
          <a:bodyPr>
            <a:noAutofit/>
          </a:bodyPr>
          <a:lstStyle/>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复查系统</a:t>
            </a:r>
            <a:r>
              <a:rPr lang="zh-CN" altLang="en-US" b="1">
                <a:solidFill>
                  <a:srgbClr val="FFFF00"/>
                </a:solidFill>
                <a:latin typeface="+mn-ea"/>
                <a:ea typeface="+mn-ea"/>
                <a:cs typeface="+mn-ea"/>
              </a:rPr>
              <a:t>规模</a:t>
            </a:r>
            <a:r>
              <a:rPr lang="zh-CN" altLang="en-US" b="1">
                <a:solidFill>
                  <a:schemeClr val="bg1"/>
                </a:solidFill>
                <a:latin typeface="+mn-ea"/>
                <a:ea typeface="+mn-ea"/>
                <a:cs typeface="+mn-ea"/>
              </a:rPr>
              <a:t>和</a:t>
            </a:r>
            <a:r>
              <a:rPr lang="zh-CN" altLang="en-US" b="1">
                <a:solidFill>
                  <a:srgbClr val="FFFF00"/>
                </a:solidFill>
                <a:latin typeface="+mn-ea"/>
                <a:ea typeface="+mn-ea"/>
                <a:cs typeface="+mn-ea"/>
              </a:rPr>
              <a:t>目标</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sym typeface="+mn-ea"/>
              </a:rPr>
              <a:t> </a:t>
            </a:r>
            <a:r>
              <a:rPr lang="zh-CN" altLang="en-US" b="1">
                <a:solidFill>
                  <a:schemeClr val="bg1"/>
                </a:solidFill>
                <a:latin typeface="+mn-ea"/>
                <a:ea typeface="+mn-ea"/>
                <a:cs typeface="+mn-ea"/>
                <a:sym typeface="+mn-ea"/>
              </a:rPr>
              <a:t>研究目前正在使用的系统</a:t>
            </a:r>
            <a:endParaRPr lang="zh-CN" altLang="en-US" b="1">
              <a:solidFill>
                <a:schemeClr val="bg1"/>
              </a:solidFill>
              <a:latin typeface="+mn-ea"/>
              <a:ea typeface="+mn-ea"/>
              <a:cs typeface="+mn-ea"/>
              <a:sym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导出新系统的高级逻辑模型</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进一步定义问题</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导出评价供选择的算法</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推荐行动方针</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草拟开发计划</a:t>
            </a:r>
            <a:endParaRPr lang="zh-CN" altLang="en-US" b="1">
              <a:solidFill>
                <a:schemeClr val="bg1"/>
              </a:solidFill>
              <a:latin typeface="+mn-ea"/>
              <a:ea typeface="+mn-ea"/>
              <a:cs typeface="+mn-ea"/>
            </a:endParaRPr>
          </a:p>
          <a:p>
            <a:pPr marL="228600" indent="-228600" algn="l">
              <a:lnSpc>
                <a:spcPct val="170000"/>
              </a:lnSpc>
              <a:spcBef>
                <a:spcPts val="0"/>
              </a:spcBef>
              <a:buClrTx/>
              <a:buSzTx/>
              <a:buFont typeface="+mj-lt"/>
              <a:buAutoNum type="arabicPeriod"/>
            </a:pPr>
            <a:r>
              <a:rPr lang="en-US" altLang="zh-CN" b="1">
                <a:solidFill>
                  <a:schemeClr val="bg1"/>
                </a:solidFill>
                <a:latin typeface="+mn-ea"/>
                <a:ea typeface="+mn-ea"/>
                <a:cs typeface="+mn-ea"/>
              </a:rPr>
              <a:t> </a:t>
            </a:r>
            <a:r>
              <a:rPr lang="zh-CN" altLang="en-US" b="1">
                <a:solidFill>
                  <a:schemeClr val="bg1"/>
                </a:solidFill>
                <a:latin typeface="+mn-ea"/>
                <a:ea typeface="+mn-ea"/>
                <a:cs typeface="+mn-ea"/>
              </a:rPr>
              <a:t>书写文档提交审查</a:t>
            </a:r>
            <a:endParaRPr lang="zh-CN" altLang="en-US" b="1">
              <a:solidFill>
                <a:schemeClr val="bg1"/>
              </a:solidFill>
              <a:latin typeface="+mn-ea"/>
              <a:ea typeface="+mn-ea"/>
              <a:cs typeface="+mn-ea"/>
            </a:endParaRPr>
          </a:p>
        </p:txBody>
      </p:sp>
      <p:grpSp>
        <p:nvGrpSpPr>
          <p:cNvPr id="32" name="组合 31"/>
          <p:cNvGrpSpPr/>
          <p:nvPr/>
        </p:nvGrpSpPr>
        <p:grpSpPr>
          <a:xfrm>
            <a:off x="4952365" y="356870"/>
            <a:ext cx="7147560" cy="6074410"/>
            <a:chOff x="7799" y="832"/>
            <a:chExt cx="11256" cy="9566"/>
          </a:xfrm>
        </p:grpSpPr>
        <p:grpSp>
          <p:nvGrpSpPr>
            <p:cNvPr id="24" name="组合 23"/>
            <p:cNvGrpSpPr/>
            <p:nvPr/>
          </p:nvGrpSpPr>
          <p:grpSpPr>
            <a:xfrm>
              <a:off x="7799" y="832"/>
              <a:ext cx="11256" cy="9567"/>
              <a:chOff x="7799" y="1237"/>
              <a:chExt cx="11256" cy="9567"/>
            </a:xfrm>
          </p:grpSpPr>
          <p:pic>
            <p:nvPicPr>
              <p:cNvPr id="5" name="图片 4"/>
              <p:cNvPicPr>
                <a:picLocks noChangeAspect="1"/>
              </p:cNvPicPr>
              <p:nvPr/>
            </p:nvPicPr>
            <p:blipFill>
              <a:blip r:embed="rId3"/>
              <a:stretch>
                <a:fillRect/>
              </a:stretch>
            </p:blipFill>
            <p:spPr>
              <a:xfrm>
                <a:off x="7799" y="1702"/>
                <a:ext cx="11256" cy="7163"/>
              </a:xfrm>
              <a:prstGeom prst="rect">
                <a:avLst/>
              </a:prstGeom>
            </p:spPr>
          </p:pic>
          <p:grpSp>
            <p:nvGrpSpPr>
              <p:cNvPr id="14" name="组合 13"/>
              <p:cNvGrpSpPr/>
              <p:nvPr/>
            </p:nvGrpSpPr>
            <p:grpSpPr>
              <a:xfrm>
                <a:off x="8362" y="1802"/>
                <a:ext cx="388" cy="2593"/>
                <a:chOff x="8362" y="1802"/>
                <a:chExt cx="388" cy="2593"/>
              </a:xfrm>
            </p:grpSpPr>
            <p:cxnSp>
              <p:nvCxnSpPr>
                <p:cNvPr id="10" name="直接连接符 9"/>
                <p:cNvCxnSpPr/>
                <p:nvPr/>
              </p:nvCxnSpPr>
              <p:spPr>
                <a:xfrm flipH="1" flipV="1">
                  <a:off x="8368" y="4389"/>
                  <a:ext cx="383" cy="6"/>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flipV="1">
                  <a:off x="8362" y="1802"/>
                  <a:ext cx="0" cy="2587"/>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grpSp>
          <p:sp>
            <p:nvSpPr>
              <p:cNvPr id="12" name="矩形 11"/>
              <p:cNvSpPr/>
              <p:nvPr/>
            </p:nvSpPr>
            <p:spPr>
              <a:xfrm>
                <a:off x="8217" y="1237"/>
                <a:ext cx="2404" cy="595"/>
              </a:xfrm>
              <a:prstGeom prst="rect">
                <a:avLst/>
              </a:prstGeom>
              <a:solidFill>
                <a:srgbClr val="FFFF0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系统流程图</a:t>
                </a:r>
                <a:endParaRPr lang="zh-CN" altLang="en-US" sz="1600" b="1">
                  <a:solidFill>
                    <a:srgbClr val="FF0000"/>
                  </a:solidFill>
                </a:endParaRPr>
              </a:p>
            </p:txBody>
          </p:sp>
          <p:grpSp>
            <p:nvGrpSpPr>
              <p:cNvPr id="18" name="组合 17"/>
              <p:cNvGrpSpPr/>
              <p:nvPr/>
            </p:nvGrpSpPr>
            <p:grpSpPr>
              <a:xfrm>
                <a:off x="8274" y="5980"/>
                <a:ext cx="800" cy="3750"/>
                <a:chOff x="8274" y="5980"/>
                <a:chExt cx="800" cy="3400"/>
              </a:xfrm>
            </p:grpSpPr>
            <p:cxnSp>
              <p:nvCxnSpPr>
                <p:cNvPr id="15" name="直接连接符 14"/>
                <p:cNvCxnSpPr/>
                <p:nvPr/>
              </p:nvCxnSpPr>
              <p:spPr>
                <a:xfrm flipH="1" flipV="1">
                  <a:off x="8288" y="5980"/>
                  <a:ext cx="350" cy="8"/>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a:off x="8281" y="5988"/>
                  <a:ext cx="0" cy="3392"/>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a:off x="8274" y="9380"/>
                  <a:ext cx="800" cy="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grpSp>
          <p:grpSp>
            <p:nvGrpSpPr>
              <p:cNvPr id="22" name="组合 21"/>
              <p:cNvGrpSpPr/>
              <p:nvPr/>
            </p:nvGrpSpPr>
            <p:grpSpPr>
              <a:xfrm>
                <a:off x="9468" y="8865"/>
                <a:ext cx="6071" cy="1939"/>
                <a:chOff x="9575" y="8702"/>
                <a:chExt cx="6071" cy="1939"/>
              </a:xfrm>
            </p:grpSpPr>
            <p:sp>
              <p:nvSpPr>
                <p:cNvPr id="19" name="矩形 18"/>
                <p:cNvSpPr/>
                <p:nvPr/>
              </p:nvSpPr>
              <p:spPr>
                <a:xfrm>
                  <a:off x="9575" y="8865"/>
                  <a:ext cx="2404" cy="595"/>
                </a:xfrm>
                <a:prstGeom prst="rect">
                  <a:avLst/>
                </a:prstGeom>
                <a:solidFill>
                  <a:srgbClr val="FFC00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数据流程图</a:t>
                  </a:r>
                  <a:endParaRPr lang="zh-CN" altLang="en-US" sz="1600" b="1">
                    <a:solidFill>
                      <a:srgbClr val="FF0000"/>
                    </a:solidFill>
                  </a:endParaRPr>
                </a:p>
              </p:txBody>
            </p:sp>
            <p:sp>
              <p:nvSpPr>
                <p:cNvPr id="20" name="矩形 19"/>
                <p:cNvSpPr/>
                <p:nvPr/>
              </p:nvSpPr>
              <p:spPr>
                <a:xfrm>
                  <a:off x="9575" y="9672"/>
                  <a:ext cx="2404" cy="595"/>
                </a:xfrm>
                <a:prstGeom prst="rect">
                  <a:avLst/>
                </a:prstGeom>
                <a:solidFill>
                  <a:srgbClr val="FFC00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数据字典</a:t>
                  </a:r>
                  <a:endParaRPr lang="en-US" altLang="zh-CN" sz="1600" b="1">
                    <a:solidFill>
                      <a:srgbClr val="FF0000"/>
                    </a:solidFill>
                  </a:endParaRPr>
                </a:p>
              </p:txBody>
            </p:sp>
            <p:cxnSp>
              <p:nvCxnSpPr>
                <p:cNvPr id="21" name="肘形连接符 20"/>
                <p:cNvCxnSpPr>
                  <a:stCxn id="19" idx="1"/>
                  <a:endCxn id="20" idx="1"/>
                </p:cNvCxnSpPr>
                <p:nvPr/>
              </p:nvCxnSpPr>
              <p:spPr>
                <a:xfrm rot="10800000" flipH="1" flipV="1">
                  <a:off x="9575" y="9162"/>
                  <a:ext cx="5" cy="807"/>
                </a:xfrm>
                <a:prstGeom prst="bentConnector3">
                  <a:avLst>
                    <a:gd name="adj1" fmla="val -7500000"/>
                  </a:avLst>
                </a:prstGeom>
                <a:ln w="19050"/>
              </p:spPr>
              <p:style>
                <a:lnRef idx="2">
                  <a:schemeClr val="accent1"/>
                </a:lnRef>
                <a:fillRef idx="0">
                  <a:srgbClr val="FFFFFF"/>
                </a:fillRef>
                <a:effectRef idx="0">
                  <a:srgbClr val="FFFFFF"/>
                </a:effectRef>
                <a:fontRef idx="minor">
                  <a:schemeClr val="tx1"/>
                </a:fontRef>
              </p:style>
            </p:cxnSp>
            <p:sp>
              <p:nvSpPr>
                <p:cNvPr id="27" name="矩形 26"/>
                <p:cNvSpPr/>
                <p:nvPr/>
              </p:nvSpPr>
              <p:spPr>
                <a:xfrm>
                  <a:off x="13242" y="8702"/>
                  <a:ext cx="2404" cy="595"/>
                </a:xfrm>
                <a:prstGeom prst="rect">
                  <a:avLst/>
                </a:prstGeom>
                <a:solidFill>
                  <a:srgbClr val="92D05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技术角度</a:t>
                  </a:r>
                  <a:endParaRPr lang="zh-CN" altLang="en-US" sz="1600" b="1">
                    <a:solidFill>
                      <a:srgbClr val="FF0000"/>
                    </a:solidFill>
                  </a:endParaRPr>
                </a:p>
              </p:txBody>
            </p:sp>
            <p:sp>
              <p:nvSpPr>
                <p:cNvPr id="28" name="矩形 27"/>
                <p:cNvSpPr/>
                <p:nvPr/>
              </p:nvSpPr>
              <p:spPr>
                <a:xfrm>
                  <a:off x="13242" y="9374"/>
                  <a:ext cx="2404" cy="595"/>
                </a:xfrm>
                <a:prstGeom prst="rect">
                  <a:avLst/>
                </a:prstGeom>
                <a:solidFill>
                  <a:srgbClr val="92D05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经济方面</a:t>
                  </a:r>
                  <a:endParaRPr lang="zh-CN" altLang="en-US" sz="1600" b="1">
                    <a:solidFill>
                      <a:srgbClr val="FF0000"/>
                    </a:solidFill>
                  </a:endParaRPr>
                </a:p>
              </p:txBody>
            </p:sp>
            <p:sp>
              <p:nvSpPr>
                <p:cNvPr id="29" name="矩形 28"/>
                <p:cNvSpPr/>
                <p:nvPr/>
              </p:nvSpPr>
              <p:spPr>
                <a:xfrm>
                  <a:off x="13242" y="10046"/>
                  <a:ext cx="2404" cy="595"/>
                </a:xfrm>
                <a:prstGeom prst="rect">
                  <a:avLst/>
                </a:prstGeom>
                <a:solidFill>
                  <a:srgbClr val="92D050"/>
                </a:solidFill>
              </p:spPr>
              <p:style>
                <a:lnRef idx="3">
                  <a:schemeClr val="accent1"/>
                </a:lnRef>
                <a:fillRef idx="0">
                  <a:srgbClr val="FFFFFF"/>
                </a:fillRef>
                <a:effectRef idx="0">
                  <a:srgbClr val="FFFFFF"/>
                </a:effectRef>
                <a:fontRef idx="minor">
                  <a:schemeClr val="tx1"/>
                </a:fontRef>
              </p:style>
              <p:txBody>
                <a:bodyPr rtlCol="0" anchor="ctr"/>
                <a:p>
                  <a:pPr algn="ctr"/>
                  <a:r>
                    <a:rPr lang="zh-CN" altLang="en-US" sz="1600" b="1">
                      <a:solidFill>
                        <a:srgbClr val="FF0000"/>
                      </a:solidFill>
                    </a:rPr>
                    <a:t>操作方面</a:t>
                  </a:r>
                  <a:endParaRPr lang="zh-CN" altLang="en-US" sz="1600" b="1">
                    <a:solidFill>
                      <a:srgbClr val="FF0000"/>
                    </a:solidFill>
                  </a:endParaRPr>
                </a:p>
              </p:txBody>
            </p:sp>
          </p:grpSp>
          <p:sp>
            <p:nvSpPr>
              <p:cNvPr id="23" name="文本框 22"/>
              <p:cNvSpPr txBox="1"/>
              <p:nvPr/>
            </p:nvSpPr>
            <p:spPr>
              <a:xfrm>
                <a:off x="15649" y="8153"/>
                <a:ext cx="3345" cy="580"/>
              </a:xfrm>
              <a:prstGeom prst="rect">
                <a:avLst/>
              </a:prstGeom>
              <a:solidFill>
                <a:schemeClr val="bg2"/>
              </a:solidFill>
            </p:spPr>
            <p:txBody>
              <a:bodyPr wrap="square" rtlCol="0">
                <a:spAutoFit/>
              </a:bodyPr>
              <a:p>
                <a:endParaRPr lang="zh-CN" altLang="en-US"/>
              </a:p>
            </p:txBody>
          </p:sp>
        </p:grpSp>
        <p:grpSp>
          <p:nvGrpSpPr>
            <p:cNvPr id="31" name="组合 30"/>
            <p:cNvGrpSpPr/>
            <p:nvPr/>
          </p:nvGrpSpPr>
          <p:grpSpPr>
            <a:xfrm>
              <a:off x="12101" y="7485"/>
              <a:ext cx="726" cy="1847"/>
              <a:chOff x="12101" y="7485"/>
              <a:chExt cx="726" cy="1847"/>
            </a:xfrm>
          </p:grpSpPr>
          <p:cxnSp>
            <p:nvCxnSpPr>
              <p:cNvPr id="25" name="直接连接符 24"/>
              <p:cNvCxnSpPr/>
              <p:nvPr/>
            </p:nvCxnSpPr>
            <p:spPr>
              <a:xfrm>
                <a:off x="12101" y="7485"/>
                <a:ext cx="0" cy="1847"/>
              </a:xfrm>
              <a:prstGeom prst="line">
                <a:avLst/>
              </a:prstGeom>
              <a:ln w="28575">
                <a:solidFill>
                  <a:srgbClr val="FF0000"/>
                </a:solidFill>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a:off x="12101" y="9332"/>
                <a:ext cx="727" cy="0"/>
              </a:xfrm>
              <a:prstGeom prst="straightConnector1">
                <a:avLst/>
              </a:prstGeom>
              <a:ln w="28575">
                <a:solidFill>
                  <a:srgbClr val="FF0000"/>
                </a:solidFill>
                <a:tailEnd type="arrow"/>
              </a:ln>
            </p:spPr>
            <p:style>
              <a:lnRef idx="2">
                <a:schemeClr val="accent1"/>
              </a:lnRef>
              <a:fillRef idx="0">
                <a:srgbClr val="FFFFFF"/>
              </a:fillRef>
              <a:effectRef idx="0">
                <a:srgbClr val="FFFFFF"/>
              </a:effectRef>
              <a:fontRef idx="minor">
                <a:schemeClr val="tx1"/>
              </a:fontRef>
            </p:style>
          </p:cxnSp>
        </p:grpSp>
        <p:cxnSp>
          <p:nvCxnSpPr>
            <p:cNvPr id="30" name="肘形连接符 29"/>
            <p:cNvCxnSpPr>
              <a:stCxn id="27" idx="1"/>
              <a:endCxn id="29" idx="1"/>
            </p:cNvCxnSpPr>
            <p:nvPr/>
          </p:nvCxnSpPr>
          <p:spPr>
            <a:xfrm rot="10800000" flipH="1" flipV="1">
              <a:off x="13135" y="8758"/>
              <a:ext cx="5" cy="1344"/>
            </a:xfrm>
            <a:prstGeom prst="bentConnector3">
              <a:avLst>
                <a:gd name="adj1" fmla="val -5800000"/>
              </a:avLst>
            </a:prstGeom>
            <a:ln w="19050"/>
          </p:spPr>
          <p:style>
            <a:lnRef idx="2">
              <a:schemeClr val="accent1"/>
            </a:lnRef>
            <a:fillRef idx="0">
              <a:srgbClr val="FFFFFF"/>
            </a:fillRef>
            <a:effectRef idx="0">
              <a:srgbClr val="FFFFFF"/>
            </a:effectRef>
            <a:fontRef idx="minor">
              <a:schemeClr val="tx1"/>
            </a:fontRef>
          </p:style>
        </p:cxnSp>
      </p:gr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77155" y="77040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系统流程图</a:t>
            </a:r>
            <a:endParaRPr lang="zh-CN" altLang="en-US" sz="2800" spc="200" dirty="0">
              <a:latin typeface="汉仪旗黑-85S" panose="00020600040101010101" pitchFamily="18" charset="-122"/>
              <a:ea typeface="汉仪旗黑-85S" panose="00020600040101010101" pitchFamily="18" charset="-122"/>
            </a:endParaRPr>
          </a:p>
        </p:txBody>
      </p:sp>
      <p:sp>
        <p:nvSpPr>
          <p:cNvPr id="2" name="文本占位符 1"/>
          <p:cNvSpPr>
            <a:spLocks noGrp="1"/>
          </p:cNvSpPr>
          <p:nvPr>
            <p:ph type="body" sz="quarter" idx="13"/>
            <p:custDataLst>
              <p:tags r:id="rId2"/>
            </p:custDataLst>
          </p:nvPr>
        </p:nvSpPr>
        <p:spPr>
          <a:xfrm>
            <a:off x="288290" y="1652270"/>
            <a:ext cx="4279900" cy="4284345"/>
          </a:xfrm>
        </p:spPr>
        <p:txBody>
          <a:bodyPr>
            <a:noAutofit/>
          </a:bodyPr>
          <a:lstStyle/>
          <a:p>
            <a:pPr marL="228600" indent="-228600" algn="l">
              <a:lnSpc>
                <a:spcPct val="190000"/>
              </a:lnSpc>
              <a:spcBef>
                <a:spcPts val="0"/>
              </a:spcBef>
              <a:buClrTx/>
              <a:buSzTx/>
              <a:buFont typeface="+mj-lt"/>
              <a:buAutoNum type="arabicPeriod"/>
            </a:pPr>
            <a:r>
              <a:rPr lang="zh-CN" b="1">
                <a:solidFill>
                  <a:srgbClr val="FF0000"/>
                </a:solidFill>
              </a:rPr>
              <a:t>系统流程图</a:t>
            </a:r>
            <a:r>
              <a:rPr lang="zh-CN">
                <a:solidFill>
                  <a:schemeClr val="bg1"/>
                </a:solidFill>
              </a:rPr>
              <a:t>是概括描述</a:t>
            </a:r>
            <a:r>
              <a:rPr lang="zh-CN" b="1">
                <a:solidFill>
                  <a:srgbClr val="FFFF00"/>
                </a:solidFill>
              </a:rPr>
              <a:t>物理系统</a:t>
            </a:r>
            <a:r>
              <a:rPr lang="zh-CN">
                <a:solidFill>
                  <a:schemeClr val="bg1"/>
                </a:solidFill>
              </a:rPr>
              <a:t>的传统工具，是用图形符号以</a:t>
            </a:r>
            <a:r>
              <a:rPr lang="zh-CN" b="1">
                <a:solidFill>
                  <a:srgbClr val="FF0000"/>
                </a:solidFill>
              </a:rPr>
              <a:t>黑盒子形式</a:t>
            </a:r>
            <a:r>
              <a:rPr lang="zh-CN">
                <a:solidFill>
                  <a:schemeClr val="bg1"/>
                </a:solidFill>
              </a:rPr>
              <a:t>描述系统中数据流动所经过的物理介质（如文档、设备、人工处理） 以及涉及的处理步骤。它连接了系统的</a:t>
            </a:r>
            <a:r>
              <a:rPr lang="zh-CN" b="1">
                <a:solidFill>
                  <a:srgbClr val="B5F8FA"/>
                </a:solidFill>
              </a:rPr>
              <a:t>输入、处理、存储和输出</a:t>
            </a:r>
            <a:r>
              <a:rPr lang="zh-CN">
                <a:solidFill>
                  <a:schemeClr val="bg1"/>
                </a:solidFill>
              </a:rPr>
              <a:t>。</a:t>
            </a:r>
            <a:endParaRPr lang="zh-CN">
              <a:solidFill>
                <a:schemeClr val="bg1"/>
              </a:solidFill>
            </a:endParaRPr>
          </a:p>
          <a:p>
            <a:pPr marL="228600" indent="-228600" algn="l">
              <a:lnSpc>
                <a:spcPct val="190000"/>
              </a:lnSpc>
              <a:spcBef>
                <a:spcPts val="0"/>
              </a:spcBef>
              <a:buClrTx/>
              <a:buSzTx/>
              <a:buFont typeface="+mj-lt"/>
              <a:buAutoNum type="arabicPeriod"/>
            </a:pPr>
            <a:r>
              <a:rPr lang="zh-CN">
                <a:solidFill>
                  <a:schemeClr val="bg1"/>
                </a:solidFill>
              </a:rPr>
              <a:t>系统流程图表达</a:t>
            </a:r>
            <a:r>
              <a:rPr lang="zh-CN" b="1">
                <a:solidFill>
                  <a:srgbClr val="FFFF00"/>
                </a:solidFill>
              </a:rPr>
              <a:t>数据</a:t>
            </a:r>
            <a:r>
              <a:rPr lang="zh-CN">
                <a:solidFill>
                  <a:schemeClr val="bg1"/>
                </a:solidFill>
              </a:rPr>
              <a:t>在系统各部件之间</a:t>
            </a:r>
            <a:r>
              <a:rPr lang="zh-CN" b="1">
                <a:solidFill>
                  <a:srgbClr val="FFFF00"/>
                </a:solidFill>
              </a:rPr>
              <a:t>流动</a:t>
            </a:r>
            <a:r>
              <a:rPr lang="zh-CN">
                <a:solidFill>
                  <a:schemeClr val="bg1"/>
                </a:solidFill>
              </a:rPr>
              <a:t>的情况，而不是对数据进行加工处理，因此</a:t>
            </a:r>
            <a:r>
              <a:rPr lang="zh-CN" b="1" u="sng">
                <a:solidFill>
                  <a:srgbClr val="00B0F0"/>
                </a:solidFill>
              </a:rPr>
              <a:t>它是物理数据流程图而不是程序流程图。</a:t>
            </a:r>
            <a:endParaRPr lang="zh-CN" b="1" u="sng">
              <a:solidFill>
                <a:srgbClr val="00B0F0"/>
              </a:solidFill>
            </a:endParaRPr>
          </a:p>
        </p:txBody>
      </p:sp>
      <p:pic>
        <p:nvPicPr>
          <p:cNvPr id="43011" name="图片 1"/>
          <p:cNvPicPr>
            <a:picLocks noChangeAspect="1"/>
          </p:cNvPicPr>
          <p:nvPr/>
        </p:nvPicPr>
        <p:blipFill>
          <a:blip r:embed="rId3"/>
          <a:srcRect/>
          <a:stretch>
            <a:fillRect/>
          </a:stretch>
        </p:blipFill>
        <p:spPr bwMode="auto">
          <a:xfrm>
            <a:off x="5003165" y="2070100"/>
            <a:ext cx="7050405" cy="3292475"/>
          </a:xfrm>
          <a:prstGeom prst="rect">
            <a:avLst/>
          </a:prstGeom>
          <a:noFill/>
          <a:ln w="9525">
            <a:noFill/>
            <a:miter lim="800000"/>
            <a:headEnd/>
            <a:tailEnd/>
          </a:ln>
        </p:spPr>
      </p:pic>
      <p:sp>
        <p:nvSpPr>
          <p:cNvPr id="4" name="矩形标注 3"/>
          <p:cNvSpPr/>
          <p:nvPr/>
        </p:nvSpPr>
        <p:spPr>
          <a:xfrm>
            <a:off x="8124825" y="842645"/>
            <a:ext cx="3600450" cy="809625"/>
          </a:xfrm>
          <a:prstGeom prst="wedgeRectCallout">
            <a:avLst>
              <a:gd name="adj1" fmla="val -28289"/>
              <a:gd name="adj2" fmla="val 10219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eaLnBrk="1" fontAlgn="auto" hangingPunct="1">
              <a:spcBef>
                <a:spcPts val="0"/>
              </a:spcBef>
              <a:spcAft>
                <a:spcPts val="0"/>
              </a:spcAft>
              <a:defRPr/>
            </a:pPr>
            <a:r>
              <a:rPr lang="zh-CN" altLang="zh-CN" sz="1600" b="1" dirty="0">
                <a:solidFill>
                  <a:srgbClr val="0070C0"/>
                </a:solidFill>
                <a:latin typeface="Bodoni MT Black" panose="02070A03080606020203" pitchFamily="18" charset="0"/>
              </a:rPr>
              <a:t>以概括的方式抽象地描绘一个实际系统时，仅仅使用</a:t>
            </a:r>
            <a:r>
              <a:rPr lang="zh-CN" altLang="en-US" sz="1600" b="1" dirty="0">
                <a:solidFill>
                  <a:srgbClr val="0070C0"/>
                </a:solidFill>
                <a:latin typeface="Bodoni MT Black" panose="02070A03080606020203" pitchFamily="18" charset="0"/>
              </a:rPr>
              <a:t>下图</a:t>
            </a:r>
            <a:r>
              <a:rPr lang="zh-CN" altLang="zh-CN" sz="1600" b="1" dirty="0">
                <a:solidFill>
                  <a:srgbClr val="0070C0"/>
                </a:solidFill>
                <a:latin typeface="Bodoni MT Black" panose="02070A03080606020203" pitchFamily="18" charset="0"/>
              </a:rPr>
              <a:t>中列出的基本符号就足够了</a:t>
            </a:r>
            <a:endParaRPr lang="zh-CN" altLang="en-US" sz="1600" b="1" dirty="0">
              <a:solidFill>
                <a:srgbClr val="0070C0"/>
              </a:solidFill>
              <a:latin typeface="Bodoni MT Black" panose="02070A03080606020203" pitchFamily="18"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5059" name="图片 3"/>
          <p:cNvPicPr>
            <a:picLocks noChangeAspect="1"/>
          </p:cNvPicPr>
          <p:nvPr/>
        </p:nvPicPr>
        <p:blipFill>
          <a:blip r:embed="rId1"/>
          <a:srcRect/>
          <a:stretch>
            <a:fillRect/>
          </a:stretch>
        </p:blipFill>
        <p:spPr bwMode="auto">
          <a:xfrm>
            <a:off x="4183063" y="414972"/>
            <a:ext cx="6559550" cy="6029326"/>
          </a:xfrm>
          <a:prstGeom prst="rect">
            <a:avLst/>
          </a:prstGeom>
          <a:noFill/>
          <a:ln w="9525">
            <a:noFill/>
            <a:miter lim="800000"/>
            <a:headEnd/>
            <a:tailEnd/>
          </a:ln>
        </p:spPr>
      </p:pic>
      <p:sp>
        <p:nvSpPr>
          <p:cNvPr id="4" name="矩形标注 3"/>
          <p:cNvSpPr/>
          <p:nvPr/>
        </p:nvSpPr>
        <p:spPr>
          <a:xfrm>
            <a:off x="1026478" y="1844675"/>
            <a:ext cx="1908175" cy="1584325"/>
          </a:xfrm>
          <a:prstGeom prst="wedgeRectCallout">
            <a:avLst>
              <a:gd name="adj1" fmla="val 115440"/>
              <a:gd name="adj2" fmla="val 6026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p>
            <a:pPr algn="ctr" eaLnBrk="1" fontAlgn="auto" hangingPunct="1">
              <a:spcBef>
                <a:spcPts val="0"/>
              </a:spcBef>
              <a:spcAft>
                <a:spcPts val="0"/>
              </a:spcAft>
              <a:defRPr/>
            </a:pPr>
            <a:r>
              <a:rPr lang="zh-CN" altLang="en-US" dirty="0">
                <a:solidFill>
                  <a:schemeClr val="tx2"/>
                </a:solidFill>
                <a:latin typeface="Bodoni MT Black" panose="02070A03080606020203" pitchFamily="18" charset="0"/>
              </a:rPr>
              <a:t>需要更具体地描绘一个物理系统时还需要使用右图中列出的系统符号</a:t>
            </a:r>
            <a:endParaRPr lang="zh-CN" altLang="en-US" dirty="0">
              <a:solidFill>
                <a:schemeClr val="tx2"/>
              </a:solidFill>
              <a:latin typeface="Bodoni MT Black" panose="02070A03080606020203" pitchFamily="18" charset="0"/>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custDataLst>
              <p:tags r:id="rId1"/>
            </p:custDataLst>
          </p:nvPr>
        </p:nvGrpSpPr>
        <p:grpSpPr>
          <a:xfrm rot="16200000">
            <a:off x="11442069" y="-87887"/>
            <a:ext cx="738165" cy="916458"/>
            <a:chOff x="10608342" y="5053054"/>
            <a:chExt cx="1583658" cy="1966165"/>
          </a:xfrm>
        </p:grpSpPr>
        <p:sp>
          <p:nvSpPr>
            <p:cNvPr id="10" name="任意多边形: 形状 9"/>
            <p:cNvSpPr/>
            <p:nvPr>
              <p:custDataLst>
                <p:tags r:id="rId2"/>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3"/>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4"/>
            </p:custDataLst>
          </p:nvPr>
        </p:nvGrpSpPr>
        <p:grpSpPr>
          <a:xfrm rot="5400000">
            <a:off x="11893" y="6030689"/>
            <a:ext cx="738165" cy="916458"/>
            <a:chOff x="10608342" y="5053054"/>
            <a:chExt cx="1583658" cy="1966165"/>
          </a:xfrm>
        </p:grpSpPr>
        <p:sp>
          <p:nvSpPr>
            <p:cNvPr id="16" name="任意多边形: 形状 15"/>
            <p:cNvSpPr/>
            <p:nvPr>
              <p:custDataLst>
                <p:tags r:id="rId5"/>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custDataLst>
                <p:tags r:id="rId6"/>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内容占位符 3"/>
          <p:cNvSpPr/>
          <p:nvPr/>
        </p:nvSpPr>
        <p:spPr>
          <a:xfrm>
            <a:off x="5884550" y="952508"/>
            <a:ext cx="5283242" cy="5388907"/>
          </a:xfrm>
          <a:prstGeom prst="rect">
            <a:avLst/>
          </a:prstGeo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cxnSp>
        <p:nvCxnSpPr>
          <p:cNvPr id="12" name="直接连接符 11"/>
          <p:cNvCxnSpPr/>
          <p:nvPr/>
        </p:nvCxnSpPr>
        <p:spPr>
          <a:xfrm>
            <a:off x="6028055" y="12065"/>
            <a:ext cx="0" cy="6842125"/>
          </a:xfrm>
          <a:prstGeom prst="line">
            <a:avLst/>
          </a:prstGeom>
          <a:ln w="38100"/>
        </p:spPr>
        <p:style>
          <a:lnRef idx="3">
            <a:schemeClr val="accent1"/>
          </a:lnRef>
          <a:fillRef idx="0">
            <a:srgbClr val="FFFFFF"/>
          </a:fillRef>
          <a:effectRef idx="0">
            <a:srgbClr val="FFFFFF"/>
          </a:effectRef>
          <a:fontRef idx="minor">
            <a:schemeClr val="tx1"/>
          </a:fontRef>
        </p:style>
      </p:cxnSp>
      <p:sp>
        <p:nvSpPr>
          <p:cNvPr id="13" name="文本框 12"/>
          <p:cNvSpPr txBox="1"/>
          <p:nvPr>
            <p:custDataLst>
              <p:tags r:id="rId7"/>
            </p:custDataLst>
          </p:nvPr>
        </p:nvSpPr>
        <p:spPr>
          <a:xfrm>
            <a:off x="635" y="0"/>
            <a:ext cx="6027420" cy="6854190"/>
          </a:xfrm>
          <a:prstGeom prst="rect">
            <a:avLst/>
          </a:prstGeom>
          <a:solidFill>
            <a:schemeClr val="accent1"/>
          </a:solidFill>
        </p:spPr>
        <p:txBody>
          <a:bodyPr wrap="square" rtlCol="0">
            <a:noAutofit/>
          </a:bodyPr>
          <a:p>
            <a:pPr algn="ctr">
              <a:lnSpc>
                <a:spcPct val="190000"/>
              </a:lnSpc>
            </a:pPr>
            <a:r>
              <a:rPr lang="en-US" altLang="zh-CN" sz="1400" dirty="0" smtClean="0">
                <a:latin typeface="Bodoni MT Black" panose="02070A03080606020203" pitchFamily="18" charset="0"/>
                <a:sym typeface="+mn-ea"/>
              </a:rPr>
              <a:t>   </a:t>
            </a:r>
            <a:r>
              <a:rPr sz="2400" b="1" dirty="0">
                <a:solidFill>
                  <a:srgbClr val="FFFF00"/>
                </a:solidFill>
                <a:latin typeface="+mj-ea"/>
                <a:ea typeface="+mj-ea"/>
                <a:cs typeface="+mj-ea"/>
                <a:sym typeface="+mn-ea"/>
              </a:rPr>
              <a:t>系统流程图的例子</a:t>
            </a:r>
            <a:endParaRPr sz="2400" b="1" dirty="0">
              <a:solidFill>
                <a:schemeClr val="bg1"/>
              </a:solidFill>
              <a:latin typeface="+mj-ea"/>
              <a:ea typeface="+mj-ea"/>
              <a:cs typeface="+mj-ea"/>
            </a:endParaRPr>
          </a:p>
          <a:p>
            <a:pPr>
              <a:lnSpc>
                <a:spcPct val="190000"/>
              </a:lnSpc>
            </a:pPr>
            <a:r>
              <a:rPr lang="en-US" altLang="zh-CN" sz="1400" b="1" dirty="0" smtClean="0">
                <a:solidFill>
                  <a:schemeClr val="bg1"/>
                </a:solidFill>
                <a:latin typeface="+mn-ea"/>
                <a:cs typeface="+mn-ea"/>
                <a:sym typeface="+mn-ea"/>
              </a:rPr>
              <a:t>       </a:t>
            </a:r>
            <a:r>
              <a:rPr lang="zh-CN" altLang="zh-CN" sz="1400" b="1" dirty="0" smtClean="0">
                <a:solidFill>
                  <a:schemeClr val="bg1"/>
                </a:solidFill>
                <a:latin typeface="+mn-ea"/>
                <a:cs typeface="+mn-ea"/>
                <a:sym typeface="+mn-ea"/>
              </a:rPr>
              <a:t>某</a:t>
            </a:r>
            <a:r>
              <a:rPr lang="zh-CN" altLang="zh-CN" sz="1400" b="1" dirty="0">
                <a:solidFill>
                  <a:schemeClr val="bg1"/>
                </a:solidFill>
                <a:latin typeface="+mn-ea"/>
                <a:cs typeface="+mn-ea"/>
                <a:sym typeface="+mn-ea"/>
              </a:rPr>
              <a:t>装配厂有一座存放零件的仓库，仓库中现有的各种</a:t>
            </a:r>
            <a:r>
              <a:rPr lang="zh-CN" altLang="zh-CN" sz="1400" b="1" dirty="0">
                <a:solidFill>
                  <a:srgbClr val="B5F8FA"/>
                </a:solidFill>
                <a:latin typeface="+mn-ea"/>
                <a:cs typeface="+mn-ea"/>
                <a:sym typeface="+mn-ea"/>
              </a:rPr>
              <a:t>零件的数量</a:t>
            </a:r>
            <a:r>
              <a:rPr lang="zh-CN" altLang="zh-CN" sz="1400" b="1" dirty="0">
                <a:solidFill>
                  <a:schemeClr val="bg1"/>
                </a:solidFill>
                <a:latin typeface="+mn-ea"/>
                <a:cs typeface="+mn-ea"/>
                <a:sym typeface="+mn-ea"/>
              </a:rPr>
              <a:t>以及每种</a:t>
            </a:r>
            <a:r>
              <a:rPr lang="zh-CN" altLang="zh-CN" sz="1400" b="1" dirty="0">
                <a:solidFill>
                  <a:srgbClr val="B5F8FA"/>
                </a:solidFill>
                <a:latin typeface="+mn-ea"/>
                <a:cs typeface="+mn-ea"/>
                <a:sym typeface="+mn-ea"/>
              </a:rPr>
              <a:t>零件的库存量临界值</a:t>
            </a:r>
            <a:r>
              <a:rPr lang="zh-CN" altLang="zh-CN" sz="1400" b="1" dirty="0">
                <a:solidFill>
                  <a:schemeClr val="bg1"/>
                </a:solidFill>
                <a:latin typeface="+mn-ea"/>
                <a:cs typeface="+mn-ea"/>
                <a:sym typeface="+mn-ea"/>
              </a:rPr>
              <a:t>等数据记录在</a:t>
            </a:r>
            <a:r>
              <a:rPr lang="zh-CN" altLang="zh-CN" sz="1400" b="1" dirty="0">
                <a:solidFill>
                  <a:srgbClr val="FF0000"/>
                </a:solidFill>
                <a:latin typeface="+mn-ea"/>
                <a:cs typeface="+mn-ea"/>
                <a:sym typeface="+mn-ea"/>
              </a:rPr>
              <a:t>库存清单主文件</a:t>
            </a:r>
            <a:r>
              <a:rPr lang="zh-CN" altLang="zh-CN" sz="1400" b="1" dirty="0">
                <a:solidFill>
                  <a:schemeClr val="bg1"/>
                </a:solidFill>
                <a:latin typeface="+mn-ea"/>
                <a:cs typeface="+mn-ea"/>
                <a:sym typeface="+mn-ea"/>
              </a:rPr>
              <a:t>中。当仓库中零件数量有变化时，应该及时修改库存清单主文件，如果哪种零件的库存量少于它的库存量临界值，则应该报告给采购部门以便订货，规定每天向采购部门送</a:t>
            </a:r>
            <a:r>
              <a:rPr lang="zh-CN" altLang="zh-CN" sz="1400" b="1" dirty="0">
                <a:solidFill>
                  <a:srgbClr val="FFFF00"/>
                </a:solidFill>
                <a:latin typeface="+mn-ea"/>
                <a:cs typeface="+mn-ea"/>
                <a:sym typeface="+mn-ea"/>
              </a:rPr>
              <a:t>一次订货报</a:t>
            </a:r>
            <a:r>
              <a:rPr lang="zh-CN" altLang="zh-CN" sz="1400" b="1" dirty="0">
                <a:solidFill>
                  <a:schemeClr val="bg1"/>
                </a:solidFill>
                <a:latin typeface="+mn-ea"/>
                <a:cs typeface="+mn-ea"/>
                <a:sym typeface="+mn-ea"/>
              </a:rPr>
              <a:t>告。</a:t>
            </a:r>
            <a:endParaRPr lang="zh-CN" altLang="zh-CN" sz="1400" b="1" dirty="0">
              <a:solidFill>
                <a:schemeClr val="bg1"/>
              </a:solidFill>
              <a:latin typeface="+mn-ea"/>
              <a:cs typeface="+mn-ea"/>
              <a:sym typeface="+mn-ea"/>
            </a:endParaRPr>
          </a:p>
          <a:p>
            <a:pPr>
              <a:lnSpc>
                <a:spcPct val="190000"/>
              </a:lnSpc>
            </a:pPr>
            <a:r>
              <a:rPr lang="en-US" altLang="zh-CN" sz="1400" b="1" dirty="0">
                <a:solidFill>
                  <a:schemeClr val="bg1"/>
                </a:solidFill>
                <a:latin typeface="+mn-ea"/>
                <a:cs typeface="+mn-ea"/>
                <a:sym typeface="+mn-ea"/>
              </a:rPr>
              <a:t>      </a:t>
            </a:r>
            <a:r>
              <a:rPr lang="zh-CN" altLang="en-US" sz="1400" b="1" dirty="0">
                <a:solidFill>
                  <a:schemeClr val="bg1"/>
                </a:solidFill>
                <a:latin typeface="+mn-ea"/>
                <a:cs typeface="+mn-ea"/>
                <a:sym typeface="+mn-ea"/>
              </a:rPr>
              <a:t>该装配厂使用一台小型计算机处理更新库存清单主文件和产生订货报告的任务。零件库存量的每一次变化称为一个</a:t>
            </a:r>
            <a:r>
              <a:rPr lang="zh-CN" altLang="en-US" sz="1400" b="1" dirty="0">
                <a:solidFill>
                  <a:srgbClr val="FF0000"/>
                </a:solidFill>
                <a:latin typeface="+mn-ea"/>
                <a:cs typeface="+mn-ea"/>
                <a:sym typeface="+mn-ea"/>
              </a:rPr>
              <a:t>事务</a:t>
            </a:r>
            <a:r>
              <a:rPr lang="zh-CN" altLang="en-US" sz="1400" b="1" dirty="0">
                <a:solidFill>
                  <a:schemeClr val="bg1"/>
                </a:solidFill>
                <a:latin typeface="+mn-ea"/>
                <a:cs typeface="+mn-ea"/>
                <a:sym typeface="+mn-ea"/>
              </a:rPr>
              <a:t>，由放在仓库中的</a:t>
            </a:r>
            <a:r>
              <a:rPr lang="en-US" altLang="zh-CN" sz="1400" b="1" dirty="0">
                <a:solidFill>
                  <a:srgbClr val="FFFF00"/>
                </a:solidFill>
                <a:latin typeface="+mn-ea"/>
                <a:cs typeface="+mn-ea"/>
                <a:sym typeface="+mn-ea"/>
              </a:rPr>
              <a:t>CRT</a:t>
            </a:r>
            <a:r>
              <a:rPr lang="zh-CN" altLang="en-US" sz="1400" b="1" dirty="0">
                <a:solidFill>
                  <a:srgbClr val="FFFF00"/>
                </a:solidFill>
                <a:latin typeface="+mn-ea"/>
                <a:cs typeface="+mn-ea"/>
                <a:sym typeface="+mn-ea"/>
              </a:rPr>
              <a:t>终端</a:t>
            </a:r>
            <a:r>
              <a:rPr lang="zh-CN" altLang="en-US" sz="1400" b="1" dirty="0">
                <a:solidFill>
                  <a:schemeClr val="bg1"/>
                </a:solidFill>
                <a:latin typeface="+mn-ea"/>
                <a:cs typeface="+mn-ea"/>
                <a:sym typeface="+mn-ea"/>
              </a:rPr>
              <a:t>输入到计算机中；系统中的库存清单程序对事务进行处理，更新存储在</a:t>
            </a:r>
            <a:r>
              <a:rPr lang="zh-CN" altLang="en-US" sz="1400" b="1" dirty="0">
                <a:solidFill>
                  <a:srgbClr val="FFFF00"/>
                </a:solidFill>
                <a:latin typeface="+mn-ea"/>
                <a:cs typeface="+mn-ea"/>
                <a:sym typeface="+mn-ea"/>
              </a:rPr>
              <a:t>磁盘</a:t>
            </a:r>
            <a:r>
              <a:rPr lang="zh-CN" altLang="en-US" sz="1400" b="1" dirty="0">
                <a:solidFill>
                  <a:schemeClr val="bg1"/>
                </a:solidFill>
                <a:latin typeface="+mn-ea"/>
                <a:cs typeface="+mn-ea"/>
                <a:sym typeface="+mn-ea"/>
              </a:rPr>
              <a:t>上的库存清单主文件，并且把必要的订货信息写在磁带上。最后，每天由报告生成程序读一次磁带，并且打印出</a:t>
            </a:r>
            <a:r>
              <a:rPr lang="zh-CN" altLang="en-US" sz="1400" b="1" dirty="0">
                <a:solidFill>
                  <a:srgbClr val="B5F8FA"/>
                </a:solidFill>
                <a:latin typeface="+mn-ea"/>
                <a:cs typeface="+mn-ea"/>
                <a:sym typeface="+mn-ea"/>
              </a:rPr>
              <a:t>订货报告</a:t>
            </a:r>
            <a:r>
              <a:rPr lang="zh-CN" altLang="en-US" sz="1400" b="1" dirty="0">
                <a:solidFill>
                  <a:schemeClr val="bg1"/>
                </a:solidFill>
                <a:latin typeface="+mn-ea"/>
                <a:cs typeface="+mn-ea"/>
                <a:sym typeface="+mn-ea"/>
              </a:rPr>
              <a:t>。</a:t>
            </a:r>
            <a:endParaRPr lang="zh-CN" altLang="en-US" sz="1400" b="1" dirty="0">
              <a:solidFill>
                <a:schemeClr val="bg1"/>
              </a:solidFill>
              <a:latin typeface="+mn-ea"/>
              <a:cs typeface="+mn-ea"/>
            </a:endParaRPr>
          </a:p>
          <a:p>
            <a:pPr>
              <a:lnSpc>
                <a:spcPct val="130000"/>
              </a:lnSpc>
            </a:pPr>
            <a:endParaRPr lang="en-US" altLang="zh-CN" sz="1400" b="1" dirty="0">
              <a:latin typeface="微软雅黑" panose="020B0503020204020204" charset="-122"/>
              <a:ea typeface="微软雅黑" panose="020B0503020204020204" charset="-122"/>
              <a:cs typeface="微软雅黑" panose="020B0503020204020204" charset="-122"/>
            </a:endParaRPr>
          </a:p>
          <a:p>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52730" y="5330825"/>
            <a:ext cx="5523865" cy="953135"/>
          </a:xfrm>
          <a:prstGeom prst="rect">
            <a:avLst/>
          </a:prstGeom>
          <a:solidFill>
            <a:srgbClr val="C3E59D"/>
          </a:solidFill>
          <a:ln w="38100">
            <a:solidFill>
              <a:srgbClr val="FF0000"/>
            </a:solidFill>
          </a:ln>
        </p:spPr>
        <p:txBody>
          <a:bodyPr wrap="square" rtlCol="0">
            <a:spAutoFit/>
          </a:bodyPr>
          <a:p>
            <a:pPr>
              <a:lnSpc>
                <a:spcPct val="200000"/>
              </a:lnSpc>
            </a:pPr>
            <a:r>
              <a:rPr lang="zh-CN" altLang="en-US" sz="1400" b="1"/>
              <a:t>‌CRT终端是一种显示终端设备，主要用于计算机系统的信息</a:t>
            </a:r>
            <a:r>
              <a:rPr lang="zh-CN" altLang="en-US" sz="1400" b="1">
                <a:solidFill>
                  <a:srgbClr val="FF0000"/>
                </a:solidFill>
              </a:rPr>
              <a:t>输入</a:t>
            </a:r>
            <a:r>
              <a:rPr lang="zh-CN" altLang="en-US" sz="1400" b="1"/>
              <a:t>和</a:t>
            </a:r>
            <a:r>
              <a:rPr lang="zh-CN" altLang="en-US" sz="1400" b="1">
                <a:solidFill>
                  <a:srgbClr val="FF0000"/>
                </a:solidFill>
              </a:rPr>
              <a:t>输出</a:t>
            </a:r>
            <a:r>
              <a:rPr lang="zh-CN" altLang="en-US" sz="1400" b="1"/>
              <a:t>，不具备计算能力。</a:t>
            </a:r>
            <a:endParaRPr lang="zh-CN" altLang="en-US" sz="1400" b="1"/>
          </a:p>
        </p:txBody>
      </p:sp>
      <p:pic>
        <p:nvPicPr>
          <p:cNvPr id="7" name="图片 6"/>
          <p:cNvPicPr>
            <a:picLocks noChangeAspect="1"/>
          </p:cNvPicPr>
          <p:nvPr/>
        </p:nvPicPr>
        <p:blipFill>
          <a:blip r:embed="rId8"/>
          <a:stretch>
            <a:fillRect/>
          </a:stretch>
        </p:blipFill>
        <p:spPr>
          <a:xfrm>
            <a:off x="9091295" y="12065"/>
            <a:ext cx="3101340" cy="6842125"/>
          </a:xfrm>
          <a:prstGeom prst="rect">
            <a:avLst/>
          </a:prstGeom>
        </p:spPr>
      </p:pic>
      <p:pic>
        <p:nvPicPr>
          <p:cNvPr id="8" name="图片 7"/>
          <p:cNvPicPr>
            <a:picLocks noChangeAspect="1"/>
          </p:cNvPicPr>
          <p:nvPr/>
        </p:nvPicPr>
        <p:blipFill>
          <a:blip r:embed="rId9"/>
          <a:stretch>
            <a:fillRect/>
          </a:stretch>
        </p:blipFill>
        <p:spPr>
          <a:xfrm>
            <a:off x="6058535" y="2709545"/>
            <a:ext cx="1819275" cy="4152900"/>
          </a:xfrm>
          <a:prstGeom prst="rect">
            <a:avLst/>
          </a:prstGeom>
        </p:spPr>
      </p:pic>
      <p:cxnSp>
        <p:nvCxnSpPr>
          <p:cNvPr id="21" name="曲线连接符 20"/>
          <p:cNvCxnSpPr/>
          <p:nvPr/>
        </p:nvCxnSpPr>
        <p:spPr>
          <a:xfrm rot="10800000">
            <a:off x="7418070" y="3255010"/>
            <a:ext cx="2540635" cy="2328545"/>
          </a:xfrm>
          <a:prstGeom prst="curvedConnector3">
            <a:avLst>
              <a:gd name="adj1" fmla="val 49988"/>
            </a:avLst>
          </a:prstGeom>
          <a:ln w="6350" cap="flat" cmpd="sng" algn="ctr">
            <a:solidFill>
              <a:schemeClr val="accent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pic>
        <p:nvPicPr>
          <p:cNvPr id="23" name="图片 22"/>
          <p:cNvPicPr>
            <a:picLocks noChangeAspect="1"/>
          </p:cNvPicPr>
          <p:nvPr/>
        </p:nvPicPr>
        <p:blipFill>
          <a:blip r:embed="rId10"/>
          <a:stretch>
            <a:fillRect/>
          </a:stretch>
        </p:blipFill>
        <p:spPr>
          <a:xfrm>
            <a:off x="6090285" y="575310"/>
            <a:ext cx="2939415" cy="1788795"/>
          </a:xfrm>
          <a:prstGeom prst="rect">
            <a:avLst/>
          </a:prstGeom>
        </p:spPr>
      </p:pic>
    </p:spTree>
    <p:custDataLst>
      <p:tags r:id="rId1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80330" y="46306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数据流图</a:t>
            </a:r>
            <a:endParaRPr lang="zh-CN" altLang="en-US" sz="2800" spc="200" dirty="0">
              <a:latin typeface="汉仪旗黑-85S" panose="00020600040101010101" pitchFamily="18" charset="-122"/>
              <a:ea typeface="汉仪旗黑-85S" panose="00020600040101010101" pitchFamily="18" charset="-122"/>
            </a:endParaRPr>
          </a:p>
        </p:txBody>
      </p:sp>
      <p:sp>
        <p:nvSpPr>
          <p:cNvPr id="2" name="文本占位符 1"/>
          <p:cNvSpPr>
            <a:spLocks noGrp="1"/>
          </p:cNvSpPr>
          <p:nvPr>
            <p:ph type="body" sz="quarter" idx="13"/>
            <p:custDataLst>
              <p:tags r:id="rId2"/>
            </p:custDataLst>
          </p:nvPr>
        </p:nvSpPr>
        <p:spPr>
          <a:xfrm>
            <a:off x="146050" y="1344930"/>
            <a:ext cx="4526915" cy="4563745"/>
          </a:xfrm>
        </p:spPr>
        <p:txBody>
          <a:bodyPr>
            <a:noAutofit/>
          </a:bodyPr>
          <a:lstStyle/>
          <a:p>
            <a:pPr algn="l">
              <a:lnSpc>
                <a:spcPct val="170000"/>
              </a:lnSpc>
              <a:spcBef>
                <a:spcPts val="0"/>
              </a:spcBef>
              <a:buClrTx/>
              <a:buSzTx/>
              <a:buFont typeface="+mj-lt"/>
            </a:pPr>
            <a:r>
              <a:rPr lang="zh-CN" altLang="zh-CN" b="1" dirty="0" smtClean="0">
                <a:solidFill>
                  <a:srgbClr val="FF0000"/>
                </a:solidFill>
                <a:latin typeface="Bodoni MT Black" panose="02070A03080606020203" pitchFamily="18" charset="0"/>
                <a:sym typeface="+mn-ea"/>
              </a:rPr>
              <a:t>数据流图</a:t>
            </a:r>
            <a:r>
              <a:rPr lang="zh-CN" altLang="zh-CN" b="1" dirty="0" smtClean="0">
                <a:solidFill>
                  <a:schemeClr val="bg1"/>
                </a:solidFill>
                <a:latin typeface="Bodoni MT Black" panose="02070A03080606020203" pitchFamily="18" charset="0"/>
                <a:sym typeface="+mn-ea"/>
              </a:rPr>
              <a:t>是结构化系统分析的核心工具。它与系统流程图有</a:t>
            </a:r>
            <a:r>
              <a:rPr lang="zh-CN" altLang="zh-CN" b="1" dirty="0" smtClean="0">
                <a:solidFill>
                  <a:srgbClr val="FFFF00"/>
                </a:solidFill>
                <a:latin typeface="Bodoni MT Black" panose="02070A03080606020203" pitchFamily="18" charset="0"/>
                <a:sym typeface="+mn-ea"/>
              </a:rPr>
              <a:t>本质区别</a:t>
            </a:r>
            <a:r>
              <a:rPr lang="zh-CN" altLang="zh-CN" b="1" dirty="0" smtClean="0">
                <a:solidFill>
                  <a:schemeClr val="bg1"/>
                </a:solidFill>
                <a:latin typeface="Bodoni MT Black" panose="02070A03080606020203" pitchFamily="18" charset="0"/>
                <a:sym typeface="+mn-ea"/>
              </a:rPr>
              <a:t>：DFD关注</a:t>
            </a:r>
            <a:r>
              <a:rPr lang="zh-CN" altLang="zh-CN" b="1" dirty="0" smtClean="0">
                <a:solidFill>
                  <a:srgbClr val="B5F8FA"/>
                </a:solidFill>
                <a:latin typeface="Bodoni MT Black" panose="02070A03080606020203" pitchFamily="18" charset="0"/>
                <a:sym typeface="+mn-ea"/>
              </a:rPr>
              <a:t>数据的逻辑流动和变换</a:t>
            </a:r>
            <a:r>
              <a:rPr lang="zh-CN" altLang="zh-CN" b="1" dirty="0" smtClean="0">
                <a:solidFill>
                  <a:schemeClr val="bg1"/>
                </a:solidFill>
                <a:latin typeface="Bodoni MT Black" panose="02070A03080606020203" pitchFamily="18" charset="0"/>
                <a:sym typeface="+mn-ea"/>
              </a:rPr>
              <a:t>，而非物理实现。</a:t>
            </a:r>
            <a:endParaRPr lang="zh-CN" altLang="zh-CN" b="1" dirty="0" smtClean="0">
              <a:solidFill>
                <a:schemeClr val="bg1"/>
              </a:solidFill>
              <a:latin typeface="Bodoni MT Black" panose="02070A03080606020203" pitchFamily="18" charset="0"/>
              <a:sym typeface="+mn-ea"/>
            </a:endParaRPr>
          </a:p>
          <a:p>
            <a:pPr algn="l">
              <a:lnSpc>
                <a:spcPct val="170000"/>
              </a:lnSpc>
              <a:spcBef>
                <a:spcPts val="0"/>
              </a:spcBef>
              <a:buClrTx/>
              <a:buSzTx/>
              <a:buFont typeface="+mj-lt"/>
            </a:pPr>
            <a:r>
              <a:rPr lang="zh-CN" altLang="zh-CN" b="1" dirty="0" smtClean="0">
                <a:solidFill>
                  <a:srgbClr val="FF0000"/>
                </a:solidFill>
                <a:latin typeface="Bodoni MT Black" panose="02070A03080606020203" pitchFamily="18" charset="0"/>
                <a:sym typeface="+mn-ea"/>
              </a:rPr>
              <a:t>数据流图</a:t>
            </a:r>
            <a:r>
              <a:rPr lang="zh-CN" altLang="en-US" dirty="0" smtClean="0">
                <a:solidFill>
                  <a:schemeClr val="bg1"/>
                </a:solidFill>
                <a:latin typeface="Bodoni MT Black" panose="02070A03080606020203" pitchFamily="18" charset="0"/>
                <a:sym typeface="+mn-ea"/>
              </a:rPr>
              <a:t>（</a:t>
            </a:r>
            <a:r>
              <a:rPr lang="en-US" altLang="zh-CN" dirty="0" smtClean="0">
                <a:solidFill>
                  <a:schemeClr val="bg1"/>
                </a:solidFill>
                <a:latin typeface="Bodoni MT Black" panose="02070A03080606020203" pitchFamily="18" charset="0"/>
                <a:sym typeface="+mn-ea"/>
              </a:rPr>
              <a:t>DFD</a:t>
            </a:r>
            <a:r>
              <a:rPr lang="zh-CN" altLang="en-US" dirty="0" smtClean="0">
                <a:solidFill>
                  <a:schemeClr val="bg1"/>
                </a:solidFill>
                <a:latin typeface="Bodoni MT Black" panose="02070A03080606020203" pitchFamily="18" charset="0"/>
                <a:sym typeface="+mn-ea"/>
              </a:rPr>
              <a:t>）</a:t>
            </a:r>
            <a:r>
              <a:rPr lang="zh-CN" altLang="zh-CN" dirty="0" smtClean="0">
                <a:solidFill>
                  <a:schemeClr val="bg1"/>
                </a:solidFill>
                <a:latin typeface="Bodoni MT Black" panose="02070A03080606020203" pitchFamily="18" charset="0"/>
                <a:sym typeface="+mn-ea"/>
              </a:rPr>
              <a:t>是</a:t>
            </a:r>
            <a:r>
              <a:rPr lang="zh-CN" altLang="zh-CN" dirty="0">
                <a:solidFill>
                  <a:schemeClr val="bg1"/>
                </a:solidFill>
                <a:latin typeface="Bodoni MT Black" panose="02070A03080606020203" pitchFamily="18" charset="0"/>
                <a:sym typeface="+mn-ea"/>
              </a:rPr>
              <a:t>一种图形化技术，它描绘信息流和数据从输入移动到输出的过程中所经受的</a:t>
            </a:r>
            <a:r>
              <a:rPr lang="zh-CN" altLang="zh-CN" b="1" dirty="0">
                <a:solidFill>
                  <a:srgbClr val="00B0F0"/>
                </a:solidFill>
                <a:latin typeface="Bodoni MT Black" panose="02070A03080606020203" pitchFamily="18" charset="0"/>
                <a:sym typeface="+mn-ea"/>
              </a:rPr>
              <a:t>变换</a:t>
            </a:r>
            <a:r>
              <a:rPr lang="zh-CN" altLang="zh-CN" dirty="0">
                <a:solidFill>
                  <a:schemeClr val="bg1"/>
                </a:solidFill>
                <a:latin typeface="Bodoni MT Black" panose="02070A03080606020203" pitchFamily="18" charset="0"/>
                <a:sym typeface="+mn-ea"/>
              </a:rPr>
              <a:t>。</a:t>
            </a:r>
            <a:r>
              <a:rPr lang="zh-CN">
                <a:solidFill>
                  <a:schemeClr val="bg1"/>
                </a:solidFill>
              </a:rPr>
              <a:t>系统流程图表达</a:t>
            </a:r>
            <a:r>
              <a:rPr lang="zh-CN" b="1">
                <a:solidFill>
                  <a:schemeClr val="bg1"/>
                </a:solidFill>
              </a:rPr>
              <a:t>数据</a:t>
            </a:r>
            <a:r>
              <a:rPr lang="zh-CN">
                <a:solidFill>
                  <a:schemeClr val="bg1"/>
                </a:solidFill>
              </a:rPr>
              <a:t>在系统各部件之间</a:t>
            </a:r>
            <a:r>
              <a:rPr lang="zh-CN" b="1">
                <a:solidFill>
                  <a:srgbClr val="00B0F0"/>
                </a:solidFill>
              </a:rPr>
              <a:t>流动</a:t>
            </a:r>
            <a:r>
              <a:rPr lang="zh-CN">
                <a:solidFill>
                  <a:schemeClr val="bg1"/>
                </a:solidFill>
              </a:rPr>
              <a:t>的情况。</a:t>
            </a:r>
            <a:endParaRPr lang="zh-CN">
              <a:solidFill>
                <a:schemeClr val="bg1"/>
              </a:solidFill>
            </a:endParaRPr>
          </a:p>
          <a:p>
            <a:pPr algn="l">
              <a:lnSpc>
                <a:spcPct val="170000"/>
              </a:lnSpc>
              <a:spcBef>
                <a:spcPts val="0"/>
              </a:spcBef>
              <a:buClrTx/>
              <a:buSzTx/>
              <a:buFont typeface="+mj-lt"/>
            </a:pPr>
            <a:r>
              <a:rPr lang="zh-CN" b="1"/>
              <a:t>数据流图述系统的</a:t>
            </a:r>
            <a:r>
              <a:rPr lang="zh-CN" b="1">
                <a:solidFill>
                  <a:srgbClr val="FF0000"/>
                </a:solidFill>
              </a:rPr>
              <a:t>逻辑功能</a:t>
            </a:r>
            <a:r>
              <a:rPr lang="zh-CN" b="1"/>
              <a:t>，展示系统</a:t>
            </a:r>
            <a:r>
              <a:rPr lang="zh-CN" b="1">
                <a:solidFill>
                  <a:srgbClr val="FFFF00"/>
                </a:solidFill>
              </a:rPr>
              <a:t>做什么</a:t>
            </a:r>
            <a:r>
              <a:rPr lang="zh-CN" b="1"/>
              <a:t>，而</a:t>
            </a:r>
            <a:r>
              <a:rPr lang="zh-CN" b="1">
                <a:solidFill>
                  <a:srgbClr val="B5F8FA"/>
                </a:solidFill>
              </a:rPr>
              <a:t>不关心如何做、由谁做、在哪里做</a:t>
            </a:r>
            <a:r>
              <a:rPr lang="zh-CN" b="1"/>
              <a:t>（这些是系统流程图关注的</a:t>
            </a:r>
            <a:r>
              <a:rPr lang="zh-CN" b="1">
                <a:solidFill>
                  <a:srgbClr val="FFFF00"/>
                </a:solidFill>
              </a:rPr>
              <a:t>。</a:t>
            </a:r>
            <a:endParaRPr lang="zh-CN" b="1">
              <a:solidFill>
                <a:srgbClr val="FFFF00"/>
              </a:solidFill>
            </a:endParaRPr>
          </a:p>
        </p:txBody>
      </p:sp>
      <p:sp>
        <p:nvSpPr>
          <p:cNvPr id="5" name="矩形 4"/>
          <p:cNvSpPr/>
          <p:nvPr/>
        </p:nvSpPr>
        <p:spPr>
          <a:xfrm>
            <a:off x="5784850" y="2163445"/>
            <a:ext cx="1363345" cy="485140"/>
          </a:xfrm>
          <a:prstGeom prst="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a:t>基本符号</a:t>
            </a:r>
            <a:endParaRPr lang="zh-CN" altLang="en-US"/>
          </a:p>
        </p:txBody>
      </p:sp>
      <p:sp>
        <p:nvSpPr>
          <p:cNvPr id="6" name="矩形 5"/>
          <p:cNvSpPr/>
          <p:nvPr/>
        </p:nvSpPr>
        <p:spPr>
          <a:xfrm>
            <a:off x="5784850" y="4798695"/>
            <a:ext cx="1363345" cy="495300"/>
          </a:xfrm>
          <a:prstGeom prst="rect">
            <a:avLst/>
          </a:prstGeom>
        </p:spPr>
        <p:style>
          <a:lnRef idx="0">
            <a:srgbClr val="FFFFFF"/>
          </a:lnRef>
          <a:fillRef idx="1">
            <a:schemeClr val="accent1"/>
          </a:fillRef>
          <a:effectRef idx="1">
            <a:schemeClr val="accent1"/>
          </a:effectRef>
          <a:fontRef idx="minor">
            <a:schemeClr val="lt1"/>
          </a:fontRef>
        </p:style>
        <p:txBody>
          <a:bodyPr rtlCol="0" anchor="ctr"/>
          <a:p>
            <a:pPr algn="ctr"/>
            <a:r>
              <a:rPr lang="zh-CN" altLang="en-US"/>
              <a:t>附加符号</a:t>
            </a:r>
            <a:endParaRPr lang="zh-CN" altLang="en-US"/>
          </a:p>
        </p:txBody>
      </p:sp>
      <p:pic>
        <p:nvPicPr>
          <p:cNvPr id="7" name="图片 6"/>
          <p:cNvPicPr>
            <a:picLocks noChangeAspect="1"/>
          </p:cNvPicPr>
          <p:nvPr/>
        </p:nvPicPr>
        <p:blipFill>
          <a:blip r:embed="rId3"/>
          <a:stretch>
            <a:fillRect/>
          </a:stretch>
        </p:blipFill>
        <p:spPr>
          <a:xfrm>
            <a:off x="8695055" y="1723390"/>
            <a:ext cx="2834005" cy="1825625"/>
          </a:xfrm>
          <a:prstGeom prst="rect">
            <a:avLst/>
          </a:prstGeom>
        </p:spPr>
      </p:pic>
      <p:pic>
        <p:nvPicPr>
          <p:cNvPr id="8" name="图片 7"/>
          <p:cNvPicPr>
            <a:picLocks noChangeAspect="1"/>
          </p:cNvPicPr>
          <p:nvPr/>
        </p:nvPicPr>
        <p:blipFill>
          <a:blip r:embed="rId4"/>
          <a:srcRect r="1254"/>
          <a:stretch>
            <a:fillRect/>
          </a:stretch>
        </p:blipFill>
        <p:spPr>
          <a:xfrm>
            <a:off x="8032115" y="3549015"/>
            <a:ext cx="4159885" cy="3266440"/>
          </a:xfrm>
          <a:prstGeom prst="rect">
            <a:avLst/>
          </a:prstGeom>
        </p:spPr>
      </p:pic>
      <p:pic>
        <p:nvPicPr>
          <p:cNvPr id="9" name="图片 8"/>
          <p:cNvPicPr>
            <a:picLocks noChangeAspect="1"/>
          </p:cNvPicPr>
          <p:nvPr/>
        </p:nvPicPr>
        <p:blipFill>
          <a:blip r:embed="rId5"/>
          <a:srcRect r="13912"/>
          <a:stretch>
            <a:fillRect/>
          </a:stretch>
        </p:blipFill>
        <p:spPr>
          <a:xfrm>
            <a:off x="4820285" y="0"/>
            <a:ext cx="7371715" cy="1428750"/>
          </a:xfrm>
          <a:prstGeom prst="rect">
            <a:avLst/>
          </a:prstGeom>
          <a:ln>
            <a:solidFill>
              <a:schemeClr val="accent1"/>
            </a:solidFill>
          </a:ln>
        </p:spPr>
      </p:pic>
    </p:spTree>
    <p:custDataLst>
      <p:tags r:id="rId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5"/>
          <p:cNvSpPr txBox="1"/>
          <p:nvPr>
            <p:custDataLst>
              <p:tags r:id="rId1"/>
            </p:custDataLst>
          </p:nvPr>
        </p:nvSpPr>
        <p:spPr>
          <a:xfrm>
            <a:off x="1868805" y="588010"/>
            <a:ext cx="9752965" cy="10179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fontAlgn="auto" hangingPunct="1">
              <a:lnSpc>
                <a:spcPct val="200000"/>
              </a:lnSpc>
              <a:spcBef>
                <a:spcPts val="0"/>
              </a:spcBef>
              <a:spcAft>
                <a:spcPts val="0"/>
              </a:spcAft>
              <a:buNone/>
              <a:defRPr/>
            </a:pPr>
            <a:r>
              <a:rPr lang="zh-CN" altLang="zh-CN" sz="1200" dirty="0">
                <a:latin typeface="Bodoni MT Black" panose="02070A03080606020203" pitchFamily="18" charset="0"/>
                <a:sym typeface="+mn-ea"/>
              </a:rPr>
              <a:t>假设一家工厂的采购部每天需要</a:t>
            </a:r>
            <a:r>
              <a:rPr lang="zh-CN" altLang="zh-CN" sz="1200" b="1" dirty="0">
                <a:solidFill>
                  <a:srgbClr val="FF0000"/>
                </a:solidFill>
                <a:latin typeface="Bodoni MT Black" panose="02070A03080606020203" pitchFamily="18" charset="0"/>
                <a:sym typeface="+mn-ea"/>
              </a:rPr>
              <a:t>一张订货报表</a:t>
            </a:r>
            <a:r>
              <a:rPr lang="zh-CN" altLang="zh-CN" sz="1200" dirty="0">
                <a:latin typeface="Bodoni MT Black" panose="02070A03080606020203" pitchFamily="18" charset="0"/>
                <a:sym typeface="+mn-ea"/>
              </a:rPr>
              <a:t>，报表按</a:t>
            </a:r>
            <a:r>
              <a:rPr lang="zh-CN" altLang="zh-CN" sz="1200" b="1" dirty="0">
                <a:solidFill>
                  <a:srgbClr val="FF0000"/>
                </a:solidFill>
                <a:latin typeface="Bodoni MT Black" panose="02070A03080606020203" pitchFamily="18" charset="0"/>
                <a:sym typeface="+mn-ea"/>
              </a:rPr>
              <a:t>零件编号</a:t>
            </a:r>
            <a:r>
              <a:rPr lang="zh-CN" altLang="zh-CN" sz="1200" dirty="0">
                <a:latin typeface="Bodoni MT Black" panose="02070A03080606020203" pitchFamily="18" charset="0"/>
                <a:sym typeface="+mn-ea"/>
              </a:rPr>
              <a:t>排序，表中列出所有需要再次订货的零件。对于每个需要再次订货的零件应该列出下述数据：零件编号，零件名称，订货数量，目前价格，主要供应者，次要供应者。零件入库或出库称为</a:t>
            </a:r>
            <a:r>
              <a:rPr lang="zh-CN" altLang="zh-CN" sz="1200" b="1" dirty="0">
                <a:solidFill>
                  <a:srgbClr val="FF0000"/>
                </a:solidFill>
                <a:latin typeface="Bodoni MT Black" panose="02070A03080606020203" pitchFamily="18" charset="0"/>
                <a:sym typeface="+mn-ea"/>
              </a:rPr>
              <a:t>事务</a:t>
            </a:r>
            <a:r>
              <a:rPr lang="zh-CN" altLang="zh-CN" sz="1200" dirty="0">
                <a:latin typeface="Bodoni MT Black" panose="02070A03080606020203" pitchFamily="18" charset="0"/>
                <a:sym typeface="+mn-ea"/>
              </a:rPr>
              <a:t>，通过放在仓库中的</a:t>
            </a:r>
            <a:r>
              <a:rPr lang="en-US" altLang="zh-CN" sz="1200" b="1" dirty="0">
                <a:solidFill>
                  <a:srgbClr val="FF0000"/>
                </a:solidFill>
                <a:latin typeface="Bodoni MT Black" panose="02070A03080606020203" pitchFamily="18" charset="0"/>
                <a:sym typeface="+mn-ea"/>
              </a:rPr>
              <a:t>CRT</a:t>
            </a:r>
            <a:r>
              <a:rPr lang="zh-CN" altLang="zh-CN" sz="1200" b="1" dirty="0">
                <a:solidFill>
                  <a:srgbClr val="FF0000"/>
                </a:solidFill>
                <a:latin typeface="Bodoni MT Black" panose="02070A03080606020203" pitchFamily="18" charset="0"/>
                <a:sym typeface="+mn-ea"/>
              </a:rPr>
              <a:t>终端</a:t>
            </a:r>
            <a:r>
              <a:rPr lang="zh-CN" altLang="zh-CN" sz="1200" dirty="0">
                <a:latin typeface="Bodoni MT Black" panose="02070A03080606020203" pitchFamily="18" charset="0"/>
                <a:sym typeface="+mn-ea"/>
              </a:rPr>
              <a:t>把</a:t>
            </a:r>
            <a:r>
              <a:rPr lang="zh-CN" altLang="zh-CN" sz="1200" b="1" dirty="0">
                <a:solidFill>
                  <a:srgbClr val="FF0000"/>
                </a:solidFill>
                <a:latin typeface="Bodoni MT Black" panose="02070A03080606020203" pitchFamily="18" charset="0"/>
                <a:sym typeface="+mn-ea"/>
              </a:rPr>
              <a:t>事务报告</a:t>
            </a:r>
            <a:r>
              <a:rPr lang="zh-CN" altLang="zh-CN" sz="1200" dirty="0">
                <a:latin typeface="Bodoni MT Black" panose="02070A03080606020203" pitchFamily="18" charset="0"/>
                <a:sym typeface="+mn-ea"/>
              </a:rPr>
              <a:t>给</a:t>
            </a:r>
            <a:r>
              <a:rPr lang="zh-CN" altLang="zh-CN" sz="1200" b="1" dirty="0">
                <a:solidFill>
                  <a:srgbClr val="FF0000"/>
                </a:solidFill>
                <a:latin typeface="Bodoni MT Black" panose="02070A03080606020203" pitchFamily="18" charset="0"/>
                <a:sym typeface="+mn-ea"/>
              </a:rPr>
              <a:t>订货系统</a:t>
            </a:r>
            <a:r>
              <a:rPr lang="zh-CN" altLang="zh-CN" sz="1200" dirty="0">
                <a:latin typeface="Bodoni MT Black" panose="02070A03080606020203" pitchFamily="18" charset="0"/>
                <a:sym typeface="+mn-ea"/>
              </a:rPr>
              <a:t>。当某种零件的库存数量少于库存量临界值时就应该再次订货。</a:t>
            </a:r>
            <a:endParaRPr lang="zh-CN" altLang="zh-CN" sz="1200" b="1" spc="150" dirty="0">
              <a:solidFill>
                <a:schemeClr val="tx1">
                  <a:lumMod val="85000"/>
                  <a:lumOff val="15000"/>
                </a:schemeClr>
              </a:solidFill>
              <a:latin typeface="Bodoni MT Black" panose="02070A03080606020203" pitchFamily="18" charset="0"/>
              <a:ea typeface="微软雅黑" panose="020B0503020204020204" charset="-122"/>
              <a:sym typeface="+mn-ea"/>
            </a:endParaRPr>
          </a:p>
        </p:txBody>
      </p:sp>
      <p:grpSp>
        <p:nvGrpSpPr>
          <p:cNvPr id="7" name="组合 6"/>
          <p:cNvGrpSpPr/>
          <p:nvPr>
            <p:custDataLst>
              <p:tags r:id="rId2"/>
            </p:custDataLst>
          </p:nvPr>
        </p:nvGrpSpPr>
        <p:grpSpPr>
          <a:xfrm flipV="1">
            <a:off x="5921829" y="0"/>
            <a:ext cx="6270171" cy="8128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20000"/>
            </a:bodyPr>
            <a:lstStyle/>
            <a:p>
              <a:pPr algn="ctr"/>
              <a:endParaRPr lang="zh-CN" altLang="en-US"/>
            </a:p>
          </p:txBody>
        </p:sp>
      </p:grpSp>
      <p:sp>
        <p:nvSpPr>
          <p:cNvPr id="14" name="文本框 13"/>
          <p:cNvSpPr txBox="1"/>
          <p:nvPr/>
        </p:nvSpPr>
        <p:spPr>
          <a:xfrm>
            <a:off x="443865" y="746760"/>
            <a:ext cx="1141730" cy="920115"/>
          </a:xfrm>
          <a:prstGeom prst="rect">
            <a:avLst/>
          </a:prstGeom>
          <a:solidFill>
            <a:srgbClr val="00B050"/>
          </a:solidFill>
        </p:spPr>
        <p:txBody>
          <a:bodyPr wrap="square" rtlCol="0">
            <a:noAutofit/>
          </a:bodyPr>
          <a:p>
            <a:pPr algn="ctr"/>
            <a:endParaRPr lang="en-US" altLang="zh-CN"/>
          </a:p>
          <a:p>
            <a:pPr algn="ctr"/>
            <a:r>
              <a:rPr lang="en-US" altLang="zh-CN" b="1">
                <a:solidFill>
                  <a:schemeClr val="accent6">
                    <a:lumMod val="20000"/>
                    <a:lumOff val="80000"/>
                  </a:schemeClr>
                </a:solidFill>
              </a:rPr>
              <a:t>example</a:t>
            </a:r>
            <a:endParaRPr lang="en-US" altLang="zh-CN" b="1">
              <a:solidFill>
                <a:schemeClr val="accent6">
                  <a:lumMod val="20000"/>
                  <a:lumOff val="80000"/>
                </a:schemeClr>
              </a:solidFill>
            </a:endParaRPr>
          </a:p>
        </p:txBody>
      </p:sp>
      <p:grpSp>
        <p:nvGrpSpPr>
          <p:cNvPr id="16" name="组合 15"/>
          <p:cNvGrpSpPr/>
          <p:nvPr/>
        </p:nvGrpSpPr>
        <p:grpSpPr>
          <a:xfrm>
            <a:off x="633095" y="1923415"/>
            <a:ext cx="11341735" cy="4532630"/>
            <a:chOff x="997" y="2834"/>
            <a:chExt cx="17861" cy="7138"/>
          </a:xfrm>
        </p:grpSpPr>
        <p:sp>
          <p:nvSpPr>
            <p:cNvPr id="4" name="文本框 3"/>
            <p:cNvSpPr txBox="1"/>
            <p:nvPr/>
          </p:nvSpPr>
          <p:spPr>
            <a:xfrm>
              <a:off x="997" y="7128"/>
              <a:ext cx="9864" cy="1127"/>
            </a:xfrm>
            <a:prstGeom prst="rect">
              <a:avLst/>
            </a:prstGeom>
            <a:solidFill>
              <a:srgbClr val="92D050"/>
            </a:solidFill>
            <a:ln w="12700">
              <a:solidFill>
                <a:schemeClr val="tx2"/>
              </a:solidFill>
            </a:ln>
          </p:spPr>
          <p:txBody>
            <a:bodyPr wrap="square" rtlCol="0">
              <a:noAutofit/>
            </a:bodyPr>
            <a:p>
              <a:pPr>
                <a:lnSpc>
                  <a:spcPct val="160000"/>
                </a:lnSpc>
              </a:pPr>
              <a:r>
                <a:rPr lang="zh-CN" altLang="zh-CN" sz="1200" b="1" dirty="0">
                  <a:highlight>
                    <a:srgbClr val="00FF00"/>
                  </a:highlight>
                  <a:latin typeface="+mj-ea"/>
                  <a:ea typeface="+mj-ea"/>
                  <a:cs typeface="+mj-ea"/>
                  <a:sym typeface="+mn-ea"/>
                </a:rPr>
                <a:t>第三：考虑</a:t>
              </a:r>
              <a:r>
                <a:rPr lang="zh-CN" altLang="zh-CN" sz="1200" b="1" dirty="0">
                  <a:solidFill>
                    <a:srgbClr val="FF0000"/>
                  </a:solidFill>
                  <a:highlight>
                    <a:srgbClr val="00FF00"/>
                  </a:highlight>
                  <a:latin typeface="+mj-ea"/>
                  <a:ea typeface="+mj-ea"/>
                  <a:cs typeface="+mj-ea"/>
                  <a:sym typeface="+mn-ea"/>
                </a:rPr>
                <a:t>数据流</a:t>
              </a:r>
              <a:r>
                <a:rPr lang="zh-CN" altLang="zh-CN" sz="1200" b="1" dirty="0">
                  <a:highlight>
                    <a:srgbClr val="00FF00"/>
                  </a:highlight>
                  <a:latin typeface="+mj-ea"/>
                  <a:ea typeface="+mj-ea"/>
                  <a:cs typeface="+mj-ea"/>
                  <a:sym typeface="+mn-ea"/>
                </a:rPr>
                <a:t>。</a:t>
              </a:r>
              <a:r>
                <a:rPr lang="zh-CN" altLang="en-US" sz="1200" dirty="0">
                  <a:solidFill>
                    <a:srgbClr val="FF0000"/>
                  </a:solidFill>
                  <a:latin typeface="Bodoni MT Black" panose="02070A03080606020203" pitchFamily="18" charset="0"/>
                  <a:sym typeface="+mn-ea"/>
                </a:rPr>
                <a:t>系统把订货报表送给采购部</a:t>
              </a:r>
              <a:r>
                <a:rPr lang="zh-CN" altLang="en-US" sz="1200" dirty="0">
                  <a:latin typeface="Bodoni MT Black" panose="02070A03080606020203" pitchFamily="18" charset="0"/>
                  <a:sym typeface="+mn-ea"/>
                </a:rPr>
                <a:t>，因此订货报表是一个数据流；</a:t>
              </a:r>
              <a:r>
                <a:rPr lang="zh-CN" altLang="en-US" sz="1200" dirty="0">
                  <a:solidFill>
                    <a:srgbClr val="FF0000"/>
                  </a:solidFill>
                  <a:latin typeface="Bodoni MT Black" panose="02070A03080606020203" pitchFamily="18" charset="0"/>
                  <a:sym typeface="+mn-ea"/>
                </a:rPr>
                <a:t>事务需要从仓库送到系统中</a:t>
              </a:r>
              <a:r>
                <a:rPr lang="zh-CN" altLang="en-US" sz="1200" dirty="0">
                  <a:latin typeface="Bodoni MT Black" panose="02070A03080606020203" pitchFamily="18" charset="0"/>
                  <a:sym typeface="+mn-ea"/>
                </a:rPr>
                <a:t>，显然事务是另一个数据流。</a:t>
              </a:r>
              <a:endParaRPr lang="zh-CN" altLang="en-US" sz="1200" b="1">
                <a:latin typeface="+mj-ea"/>
                <a:ea typeface="+mj-ea"/>
                <a:cs typeface="+mj-ea"/>
              </a:endParaRPr>
            </a:p>
          </p:txBody>
        </p:sp>
        <p:sp>
          <p:nvSpPr>
            <p:cNvPr id="2" name="文本框 1"/>
            <p:cNvSpPr txBox="1"/>
            <p:nvPr/>
          </p:nvSpPr>
          <p:spPr>
            <a:xfrm>
              <a:off x="997" y="2834"/>
              <a:ext cx="9865" cy="1817"/>
            </a:xfrm>
            <a:prstGeom prst="rect">
              <a:avLst/>
            </a:prstGeom>
            <a:solidFill>
              <a:srgbClr val="E6F882"/>
            </a:solidFill>
            <a:ln>
              <a:solidFill>
                <a:schemeClr val="tx2"/>
              </a:solidFill>
            </a:ln>
          </p:spPr>
          <p:txBody>
            <a:bodyPr wrap="square" rtlCol="0">
              <a:noAutofit/>
            </a:bodyPr>
            <a:p>
              <a:pPr>
                <a:lnSpc>
                  <a:spcPct val="180000"/>
                </a:lnSpc>
              </a:pPr>
              <a:r>
                <a:rPr lang="zh-CN" altLang="zh-CN" sz="1200" b="1" dirty="0">
                  <a:highlight>
                    <a:srgbClr val="00FF00"/>
                  </a:highlight>
                  <a:latin typeface="+mj-ea"/>
                  <a:ea typeface="+mj-ea"/>
                  <a:cs typeface="+mj-ea"/>
                  <a:sym typeface="+mn-ea"/>
                </a:rPr>
                <a:t>第一：考虑数据的</a:t>
              </a:r>
              <a:r>
                <a:rPr lang="zh-CN" altLang="zh-CN" sz="1200" b="1" dirty="0">
                  <a:solidFill>
                    <a:srgbClr val="FF0000"/>
                  </a:solidFill>
                  <a:highlight>
                    <a:srgbClr val="00FF00"/>
                  </a:highlight>
                  <a:latin typeface="+mj-ea"/>
                  <a:ea typeface="+mj-ea"/>
                  <a:cs typeface="+mj-ea"/>
                  <a:sym typeface="+mn-ea"/>
                </a:rPr>
                <a:t>源点和终点</a:t>
              </a:r>
              <a:r>
                <a:rPr lang="zh-CN" altLang="zh-CN" sz="1200" b="1" dirty="0">
                  <a:highlight>
                    <a:srgbClr val="00FF00"/>
                  </a:highlight>
                  <a:latin typeface="+mj-ea"/>
                  <a:ea typeface="+mj-ea"/>
                  <a:cs typeface="+mj-ea"/>
                  <a:sym typeface="+mn-ea"/>
                </a:rPr>
                <a:t>。</a:t>
              </a:r>
              <a:r>
                <a:rPr lang="zh-CN" altLang="zh-CN" sz="1200" dirty="0">
                  <a:latin typeface="+mj-ea"/>
                  <a:ea typeface="+mj-ea"/>
                  <a:cs typeface="+mj-ea"/>
                  <a:sym typeface="+mn-ea"/>
                </a:rPr>
                <a:t>从上面对系统的描述可以知道“采购部每天需要一张订货报表”，“通过放在仓库中的</a:t>
              </a:r>
              <a:r>
                <a:rPr lang="en-US" altLang="zh-CN" sz="1200" dirty="0">
                  <a:latin typeface="+mj-ea"/>
                  <a:ea typeface="+mj-ea"/>
                  <a:cs typeface="+mj-ea"/>
                  <a:sym typeface="+mn-ea"/>
                </a:rPr>
                <a:t>CRT</a:t>
              </a:r>
              <a:r>
                <a:rPr lang="zh-CN" altLang="zh-CN" sz="1200" dirty="0">
                  <a:latin typeface="+mj-ea"/>
                  <a:ea typeface="+mj-ea"/>
                  <a:cs typeface="+mj-ea"/>
                  <a:sym typeface="+mn-ea"/>
                </a:rPr>
                <a:t>终端把事务报告给订货系统”，所以</a:t>
              </a:r>
              <a:r>
                <a:rPr lang="zh-CN" altLang="zh-CN" sz="1200" dirty="0">
                  <a:solidFill>
                    <a:srgbClr val="FF0000"/>
                  </a:solidFill>
                  <a:latin typeface="+mj-ea"/>
                  <a:ea typeface="+mj-ea"/>
                  <a:cs typeface="+mj-ea"/>
                  <a:sym typeface="+mn-ea"/>
                </a:rPr>
                <a:t>采购员</a:t>
              </a:r>
              <a:r>
                <a:rPr lang="zh-CN" altLang="zh-CN" sz="1200" dirty="0">
                  <a:latin typeface="+mj-ea"/>
                  <a:ea typeface="+mj-ea"/>
                  <a:cs typeface="+mj-ea"/>
                  <a:sym typeface="+mn-ea"/>
                </a:rPr>
                <a:t>是</a:t>
              </a:r>
              <a:r>
                <a:rPr lang="zh-CN" altLang="zh-CN" sz="1200" dirty="0">
                  <a:solidFill>
                    <a:srgbClr val="FF0000"/>
                  </a:solidFill>
                  <a:latin typeface="+mj-ea"/>
                  <a:ea typeface="+mj-ea"/>
                  <a:cs typeface="+mj-ea"/>
                  <a:sym typeface="+mn-ea"/>
                </a:rPr>
                <a:t>数据终点</a:t>
              </a:r>
              <a:r>
                <a:rPr lang="zh-CN" altLang="zh-CN" sz="1200" dirty="0">
                  <a:latin typeface="+mj-ea"/>
                  <a:ea typeface="+mj-ea"/>
                  <a:cs typeface="+mj-ea"/>
                  <a:sym typeface="+mn-ea"/>
                </a:rPr>
                <a:t>，而</a:t>
              </a:r>
              <a:r>
                <a:rPr lang="zh-CN" altLang="zh-CN" sz="1200" dirty="0">
                  <a:solidFill>
                    <a:srgbClr val="FF0000"/>
                  </a:solidFill>
                  <a:latin typeface="+mj-ea"/>
                  <a:ea typeface="+mj-ea"/>
                  <a:cs typeface="+mj-ea"/>
                  <a:sym typeface="+mn-ea"/>
                </a:rPr>
                <a:t>仓库管理员</a:t>
              </a:r>
              <a:r>
                <a:rPr lang="zh-CN" altLang="zh-CN" sz="1200" dirty="0">
                  <a:latin typeface="+mj-ea"/>
                  <a:ea typeface="+mj-ea"/>
                  <a:cs typeface="+mj-ea"/>
                  <a:sym typeface="+mn-ea"/>
                </a:rPr>
                <a:t>是</a:t>
              </a:r>
              <a:r>
                <a:rPr lang="zh-CN" altLang="zh-CN" sz="1200" dirty="0">
                  <a:solidFill>
                    <a:srgbClr val="FF0000"/>
                  </a:solidFill>
                  <a:latin typeface="+mj-ea"/>
                  <a:ea typeface="+mj-ea"/>
                  <a:cs typeface="+mj-ea"/>
                  <a:sym typeface="+mn-ea"/>
                </a:rPr>
                <a:t>数据源点</a:t>
              </a:r>
              <a:r>
                <a:rPr lang="zh-CN" altLang="zh-CN" sz="1200" dirty="0">
                  <a:latin typeface="+mj-ea"/>
                  <a:ea typeface="+mj-ea"/>
                  <a:cs typeface="+mj-ea"/>
                  <a:sym typeface="+mn-ea"/>
                </a:rPr>
                <a:t>。</a:t>
              </a:r>
              <a:endParaRPr lang="zh-CN" altLang="zh-CN" sz="1200" b="1" dirty="0">
                <a:latin typeface="+mj-ea"/>
                <a:ea typeface="+mj-ea"/>
                <a:cs typeface="+mj-ea"/>
                <a:sym typeface="+mn-ea"/>
              </a:endParaRPr>
            </a:p>
            <a:p>
              <a:pPr>
                <a:lnSpc>
                  <a:spcPct val="120000"/>
                </a:lnSpc>
              </a:pPr>
              <a:endParaRPr lang="zh-CN" altLang="en-US" sz="1200" b="1">
                <a:latin typeface="+mj-ea"/>
                <a:ea typeface="+mj-ea"/>
                <a:cs typeface="+mj-ea"/>
              </a:endParaRPr>
            </a:p>
            <a:p>
              <a:pPr>
                <a:lnSpc>
                  <a:spcPct val="120000"/>
                </a:lnSpc>
              </a:pPr>
              <a:endParaRPr lang="zh-CN" altLang="en-US" sz="1200" b="1">
                <a:latin typeface="+mj-ea"/>
                <a:ea typeface="+mj-ea"/>
                <a:cs typeface="+mj-ea"/>
              </a:endParaRPr>
            </a:p>
            <a:p>
              <a:pPr>
                <a:lnSpc>
                  <a:spcPct val="120000"/>
                </a:lnSpc>
              </a:pPr>
              <a:endParaRPr lang="zh-CN" altLang="en-US" sz="1200" b="1">
                <a:latin typeface="+mj-ea"/>
                <a:ea typeface="+mj-ea"/>
                <a:cs typeface="+mj-ea"/>
              </a:endParaRPr>
            </a:p>
          </p:txBody>
        </p:sp>
        <p:pic>
          <p:nvPicPr>
            <p:cNvPr id="3" name="图片 2"/>
            <p:cNvPicPr>
              <a:picLocks noChangeAspect="1"/>
            </p:cNvPicPr>
            <p:nvPr/>
          </p:nvPicPr>
          <p:blipFill>
            <a:blip r:embed="rId5"/>
            <a:srcRect l="3494" t="1721" r="28134" b="4021"/>
            <a:stretch>
              <a:fillRect/>
            </a:stretch>
          </p:blipFill>
          <p:spPr bwMode="auto">
            <a:xfrm>
              <a:off x="11158" y="2834"/>
              <a:ext cx="7700" cy="7139"/>
            </a:xfrm>
            <a:prstGeom prst="rect">
              <a:avLst/>
            </a:prstGeom>
            <a:noFill/>
            <a:ln w="9525">
              <a:solidFill>
                <a:schemeClr val="tx2"/>
              </a:solidFill>
              <a:miter lim="800000"/>
              <a:headEnd/>
              <a:tailEnd/>
            </a:ln>
          </p:spPr>
        </p:pic>
        <p:sp>
          <p:nvSpPr>
            <p:cNvPr id="12" name="文本框 11"/>
            <p:cNvSpPr txBox="1"/>
            <p:nvPr/>
          </p:nvSpPr>
          <p:spPr>
            <a:xfrm>
              <a:off x="997" y="4784"/>
              <a:ext cx="9865" cy="2198"/>
            </a:xfrm>
            <a:prstGeom prst="rect">
              <a:avLst/>
            </a:prstGeom>
            <a:solidFill>
              <a:srgbClr val="C2E277"/>
            </a:solidFill>
            <a:ln w="12700">
              <a:solidFill>
                <a:schemeClr val="tx2"/>
              </a:solidFill>
            </a:ln>
          </p:spPr>
          <p:txBody>
            <a:bodyPr wrap="square" rtlCol="0">
              <a:noAutofit/>
            </a:bodyPr>
            <a:p>
              <a:pPr>
                <a:lnSpc>
                  <a:spcPct val="170000"/>
                </a:lnSpc>
              </a:pPr>
              <a:r>
                <a:rPr lang="zh-CN" altLang="zh-CN" sz="1200" b="1" dirty="0">
                  <a:highlight>
                    <a:srgbClr val="00FF00"/>
                  </a:highlight>
                  <a:latin typeface="+mj-ea"/>
                  <a:ea typeface="+mj-ea"/>
                  <a:cs typeface="+mj-ea"/>
                  <a:sym typeface="+mn-ea"/>
                </a:rPr>
                <a:t>第二：考虑</a:t>
              </a:r>
              <a:r>
                <a:rPr lang="zh-CN" altLang="zh-CN" sz="1200" b="1" dirty="0">
                  <a:solidFill>
                    <a:srgbClr val="FF0000"/>
                  </a:solidFill>
                  <a:highlight>
                    <a:srgbClr val="00FF00"/>
                  </a:highlight>
                  <a:latin typeface="+mj-ea"/>
                  <a:ea typeface="+mj-ea"/>
                  <a:cs typeface="+mj-ea"/>
                  <a:sym typeface="+mn-ea"/>
                </a:rPr>
                <a:t>处理</a:t>
              </a:r>
              <a:r>
                <a:rPr lang="zh-CN" altLang="zh-CN" sz="1200" b="1" dirty="0">
                  <a:highlight>
                    <a:srgbClr val="00FF00"/>
                  </a:highlight>
                  <a:latin typeface="+mj-ea"/>
                  <a:ea typeface="+mj-ea"/>
                  <a:cs typeface="+mj-ea"/>
                  <a:sym typeface="+mn-ea"/>
                </a:rPr>
                <a:t>。</a:t>
              </a:r>
              <a:r>
                <a:rPr lang="zh-CN" altLang="zh-CN" sz="1200" dirty="0">
                  <a:latin typeface="Bodoni MT Black" panose="02070A03080606020203" pitchFamily="18" charset="0"/>
                  <a:sym typeface="+mn-ea"/>
                </a:rPr>
                <a:t>阅读问题描述，“采购部需要报表”，因此必须有一个用于</a:t>
              </a:r>
              <a:r>
                <a:rPr lang="zh-CN" altLang="zh-CN" sz="1200" dirty="0">
                  <a:solidFill>
                    <a:srgbClr val="FF0000"/>
                  </a:solidFill>
                  <a:latin typeface="Bodoni MT Black" panose="02070A03080606020203" pitchFamily="18" charset="0"/>
                  <a:sym typeface="+mn-ea"/>
                </a:rPr>
                <a:t>产生报表</a:t>
              </a:r>
              <a:r>
                <a:rPr lang="zh-CN" altLang="zh-CN" sz="1200" dirty="0">
                  <a:latin typeface="Bodoni MT Black" panose="02070A03080606020203" pitchFamily="18" charset="0"/>
                  <a:sym typeface="+mn-ea"/>
                </a:rPr>
                <a:t>的处理。事务的后果是改变零件库存量，然而任何改变数据的操作都是处理，因此对</a:t>
              </a:r>
              <a:r>
                <a:rPr lang="zh-CN" altLang="zh-CN" sz="1200" dirty="0">
                  <a:solidFill>
                    <a:srgbClr val="FF0000"/>
                  </a:solidFill>
                  <a:latin typeface="Bodoni MT Black" panose="02070A03080606020203" pitchFamily="18" charset="0"/>
                  <a:sym typeface="+mn-ea"/>
                </a:rPr>
                <a:t>事务进行的加工</a:t>
              </a:r>
              <a:r>
                <a:rPr lang="zh-CN" altLang="zh-CN" sz="1200" dirty="0">
                  <a:latin typeface="Bodoni MT Black" panose="02070A03080606020203" pitchFamily="18" charset="0"/>
                  <a:sym typeface="+mn-ea"/>
                </a:rPr>
                <a:t>是另一个处理。注意，在问题描述中并没有明显地提到需要对事务进行处理，但是通过分析可以看出这种需要。</a:t>
              </a:r>
              <a:endParaRPr lang="zh-CN" altLang="zh-CN" sz="1200" b="1" dirty="0">
                <a:latin typeface="Bodoni MT Black" panose="02070A03080606020203" pitchFamily="18" charset="0"/>
                <a:ea typeface="+mj-ea"/>
                <a:cs typeface="+mj-ea"/>
                <a:sym typeface="+mn-ea"/>
              </a:endParaRPr>
            </a:p>
          </p:txBody>
        </p:sp>
        <p:sp>
          <p:nvSpPr>
            <p:cNvPr id="15" name="文本框 14"/>
            <p:cNvSpPr txBox="1"/>
            <p:nvPr/>
          </p:nvSpPr>
          <p:spPr>
            <a:xfrm>
              <a:off x="997" y="8401"/>
              <a:ext cx="9864" cy="1571"/>
            </a:xfrm>
            <a:prstGeom prst="rect">
              <a:avLst/>
            </a:prstGeom>
            <a:solidFill>
              <a:srgbClr val="71CA52"/>
            </a:solidFill>
            <a:ln w="12700">
              <a:solidFill>
                <a:schemeClr val="tx2"/>
              </a:solidFill>
            </a:ln>
          </p:spPr>
          <p:txBody>
            <a:bodyPr wrap="square" rtlCol="0">
              <a:noAutofit/>
            </a:bodyPr>
            <a:p>
              <a:pPr>
                <a:lnSpc>
                  <a:spcPct val="160000"/>
                </a:lnSpc>
              </a:pPr>
              <a:r>
                <a:rPr lang="zh-CN" altLang="zh-CN" sz="1200" b="1" dirty="0">
                  <a:highlight>
                    <a:srgbClr val="00FF00"/>
                  </a:highlight>
                  <a:latin typeface="+mj-ea"/>
                  <a:ea typeface="+mj-ea"/>
                  <a:cs typeface="+mj-ea"/>
                  <a:sym typeface="+mn-ea"/>
                </a:rPr>
                <a:t>第四：考虑</a:t>
              </a:r>
              <a:r>
                <a:rPr lang="zh-CN" altLang="zh-CN" sz="1200" b="1" dirty="0">
                  <a:solidFill>
                    <a:srgbClr val="FF0000"/>
                  </a:solidFill>
                  <a:highlight>
                    <a:srgbClr val="00FF00"/>
                  </a:highlight>
                  <a:latin typeface="+mj-ea"/>
                  <a:ea typeface="+mj-ea"/>
                  <a:cs typeface="+mj-ea"/>
                  <a:sym typeface="+mn-ea"/>
                </a:rPr>
                <a:t>数据存储</a:t>
              </a:r>
              <a:r>
                <a:rPr lang="zh-CN" altLang="zh-CN" sz="1200" b="1" dirty="0">
                  <a:highlight>
                    <a:srgbClr val="00FF00"/>
                  </a:highlight>
                  <a:latin typeface="+mj-ea"/>
                  <a:ea typeface="+mj-ea"/>
                  <a:cs typeface="+mj-ea"/>
                  <a:sym typeface="+mn-ea"/>
                </a:rPr>
                <a:t>。</a:t>
              </a:r>
              <a:r>
                <a:rPr lang="zh-CN" altLang="en-US" sz="1200" dirty="0">
                  <a:latin typeface="Bodoni MT Black" panose="02070A03080606020203" pitchFamily="18" charset="0"/>
                  <a:sym typeface="+mn-ea"/>
                </a:rPr>
                <a:t>产生报表和处理事务这两个处理在时间上明显不匹配</a:t>
              </a:r>
              <a:r>
                <a:rPr lang="en-US" altLang="zh-CN" sz="1200" dirty="0">
                  <a:latin typeface="Bodoni MT Black" panose="02070A03080606020203" pitchFamily="18" charset="0"/>
                  <a:sym typeface="+mn-ea"/>
                </a:rPr>
                <a:t>——</a:t>
              </a:r>
              <a:r>
                <a:rPr lang="zh-CN" altLang="en-US" sz="1200" dirty="0">
                  <a:latin typeface="Bodoni MT Black" panose="02070A03080606020203" pitchFamily="18" charset="0"/>
                  <a:sym typeface="+mn-ea"/>
                </a:rPr>
                <a:t>每当有一个事务发生时立即处理它，然而每天只产生一次订货报表。因此，用来产生订货报表的数据必须存放一段时间，也就是应该有一个</a:t>
              </a:r>
              <a:r>
                <a:rPr lang="zh-CN" altLang="en-US" sz="1200" dirty="0">
                  <a:solidFill>
                    <a:srgbClr val="FF0000"/>
                  </a:solidFill>
                  <a:latin typeface="Bodoni MT Black" panose="02070A03080606020203" pitchFamily="18" charset="0"/>
                  <a:sym typeface="+mn-ea"/>
                </a:rPr>
                <a:t>数据存储</a:t>
              </a:r>
              <a:r>
                <a:rPr lang="zh-CN" altLang="en-US" sz="1200" dirty="0">
                  <a:latin typeface="Bodoni MT Black" panose="02070A03080606020203" pitchFamily="18" charset="0"/>
                  <a:sym typeface="+mn-ea"/>
                </a:rPr>
                <a:t>。</a:t>
              </a:r>
              <a:endParaRPr lang="zh-CN" altLang="en-US" sz="1200" b="1">
                <a:latin typeface="+mj-ea"/>
                <a:ea typeface="+mj-ea"/>
                <a:cs typeface="+mj-ea"/>
              </a:endParaRPr>
            </a:p>
          </p:txBody>
        </p:sp>
      </p:grpSp>
    </p:spTree>
    <p:custDataLst>
      <p:tags r:id="rId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136900" y="0"/>
            <a:ext cx="1561465" cy="4060825"/>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8498205" y="0"/>
            <a:ext cx="3693795" cy="6873240"/>
          </a:xfrm>
          <a:prstGeom prst="rect">
            <a:avLst/>
          </a:prstGeom>
          <a:ln>
            <a:solidFill>
              <a:schemeClr val="accent1"/>
            </a:solidFill>
          </a:ln>
        </p:spPr>
      </p:pic>
      <p:pic>
        <p:nvPicPr>
          <p:cNvPr id="5" name="图片 4"/>
          <p:cNvPicPr>
            <a:picLocks noChangeAspect="1"/>
          </p:cNvPicPr>
          <p:nvPr/>
        </p:nvPicPr>
        <p:blipFill>
          <a:blip r:embed="rId3"/>
          <a:stretch>
            <a:fillRect/>
          </a:stretch>
        </p:blipFill>
        <p:spPr>
          <a:xfrm>
            <a:off x="4829810" y="0"/>
            <a:ext cx="3557270" cy="5570220"/>
          </a:xfrm>
          <a:prstGeom prst="rect">
            <a:avLst/>
          </a:prstGeom>
          <a:ln>
            <a:solidFill>
              <a:schemeClr val="accent1"/>
            </a:solidFill>
          </a:ln>
        </p:spPr>
      </p:pic>
      <p:sp>
        <p:nvSpPr>
          <p:cNvPr id="8" name="燕尾形箭头 7"/>
          <p:cNvSpPr/>
          <p:nvPr/>
        </p:nvSpPr>
        <p:spPr>
          <a:xfrm>
            <a:off x="8255000" y="2653030"/>
            <a:ext cx="381635" cy="26416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燕尾形箭头 8"/>
          <p:cNvSpPr/>
          <p:nvPr/>
        </p:nvSpPr>
        <p:spPr>
          <a:xfrm>
            <a:off x="4616450" y="1017905"/>
            <a:ext cx="413385" cy="264160"/>
          </a:xfrm>
          <a:prstGeom prst="notched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092450" y="4060825"/>
            <a:ext cx="1598295" cy="306705"/>
          </a:xfrm>
          <a:prstGeom prst="rect">
            <a:avLst/>
          </a:prstGeom>
          <a:noFill/>
        </p:spPr>
        <p:txBody>
          <a:bodyPr wrap="square" rtlCol="0">
            <a:spAutoFit/>
          </a:bodyPr>
          <a:p>
            <a:pPr algn="ctr"/>
            <a:r>
              <a:rPr lang="zh-CN" altLang="en-US" sz="1400" b="1"/>
              <a:t>顶层图</a:t>
            </a:r>
            <a:endParaRPr lang="zh-CN" altLang="en-US" sz="1400" b="1"/>
          </a:p>
        </p:txBody>
      </p:sp>
      <p:sp>
        <p:nvSpPr>
          <p:cNvPr id="11" name="文本框 10"/>
          <p:cNvSpPr txBox="1"/>
          <p:nvPr/>
        </p:nvSpPr>
        <p:spPr>
          <a:xfrm>
            <a:off x="5768975" y="5653405"/>
            <a:ext cx="1598295" cy="306705"/>
          </a:xfrm>
          <a:prstGeom prst="rect">
            <a:avLst/>
          </a:prstGeom>
          <a:noFill/>
        </p:spPr>
        <p:txBody>
          <a:bodyPr wrap="square" rtlCol="0">
            <a:spAutoFit/>
          </a:bodyPr>
          <a:p>
            <a:pPr algn="ctr"/>
            <a:r>
              <a:rPr lang="zh-CN" altLang="en-US" sz="1400" b="1">
                <a:latin typeface="+mn-ea"/>
                <a:cs typeface="+mn-ea"/>
              </a:rPr>
              <a:t>第</a:t>
            </a:r>
            <a:r>
              <a:rPr lang="en-US" altLang="zh-CN" sz="1400" b="1">
                <a:latin typeface="+mn-ea"/>
                <a:cs typeface="+mn-ea"/>
              </a:rPr>
              <a:t>0</a:t>
            </a:r>
            <a:r>
              <a:rPr lang="zh-CN" altLang="en-US" sz="1400" b="1">
                <a:latin typeface="+mn-ea"/>
                <a:cs typeface="+mn-ea"/>
              </a:rPr>
              <a:t>层图</a:t>
            </a:r>
            <a:endParaRPr lang="zh-CN" altLang="en-US" sz="1400" b="1">
              <a:latin typeface="+mn-ea"/>
              <a:cs typeface="+mn-ea"/>
            </a:endParaRPr>
          </a:p>
        </p:txBody>
      </p:sp>
      <p:sp>
        <p:nvSpPr>
          <p:cNvPr id="12" name="文本框 11"/>
          <p:cNvSpPr txBox="1"/>
          <p:nvPr/>
        </p:nvSpPr>
        <p:spPr>
          <a:xfrm>
            <a:off x="11015980" y="6405245"/>
            <a:ext cx="1090295" cy="306705"/>
          </a:xfrm>
          <a:prstGeom prst="rect">
            <a:avLst/>
          </a:prstGeom>
          <a:noFill/>
        </p:spPr>
        <p:txBody>
          <a:bodyPr wrap="square" rtlCol="0">
            <a:spAutoFit/>
          </a:bodyPr>
          <a:p>
            <a:pPr algn="ctr">
              <a:buClrTx/>
              <a:buSzTx/>
              <a:buFontTx/>
            </a:pPr>
            <a:r>
              <a:rPr lang="en-US" altLang="zh-CN" sz="1400" b="1">
                <a:latin typeface="+mn-ea"/>
                <a:cs typeface="+mn-ea"/>
              </a:rPr>
              <a:t>第1层图</a:t>
            </a:r>
            <a:endParaRPr lang="en-US" altLang="zh-CN" sz="1400" b="1">
              <a:latin typeface="+mn-ea"/>
              <a:cs typeface="+mn-ea"/>
            </a:endParaRPr>
          </a:p>
        </p:txBody>
      </p:sp>
      <p:sp>
        <p:nvSpPr>
          <p:cNvPr id="13" name="文本框 12"/>
          <p:cNvSpPr txBox="1"/>
          <p:nvPr/>
        </p:nvSpPr>
        <p:spPr>
          <a:xfrm>
            <a:off x="635" y="0"/>
            <a:ext cx="3092450" cy="1781175"/>
          </a:xfrm>
          <a:prstGeom prst="rect">
            <a:avLst/>
          </a:prstGeom>
          <a:solidFill>
            <a:schemeClr val="accent3">
              <a:lumMod val="20000"/>
              <a:lumOff val="80000"/>
            </a:schemeClr>
          </a:solidFill>
          <a:ln>
            <a:solidFill>
              <a:schemeClr val="accent1"/>
            </a:solidFill>
          </a:ln>
        </p:spPr>
        <p:txBody>
          <a:bodyPr wrap="square" rtlCol="0">
            <a:noAutofit/>
          </a:bodyPr>
          <a:p>
            <a:pPr>
              <a:lnSpc>
                <a:spcPct val="160000"/>
              </a:lnSpc>
            </a:pPr>
            <a:r>
              <a:rPr lang="zh-CN" altLang="en-US" sz="1400" b="1">
                <a:solidFill>
                  <a:srgbClr val="FF0000"/>
                </a:solidFill>
              </a:rPr>
              <a:t>顶层图的目的</a:t>
            </a:r>
            <a:r>
              <a:rPr lang="zh-CN" altLang="en-US" sz="1400"/>
              <a:t>：</a:t>
            </a:r>
            <a:r>
              <a:rPr lang="zh-CN" altLang="en-US" sz="1400" b="1"/>
              <a:t>确定系统边界和与外部实体的交互。</a:t>
            </a:r>
            <a:endParaRPr lang="zh-CN" altLang="en-US" sz="1400" b="1"/>
          </a:p>
          <a:p>
            <a:pPr marL="285750" indent="-285750">
              <a:lnSpc>
                <a:spcPct val="160000"/>
              </a:lnSpc>
              <a:buFont typeface="Wingdings" panose="05000000000000000000" charset="0"/>
              <a:buChar char="ü"/>
            </a:pPr>
            <a:r>
              <a:rPr lang="zh-CN" altLang="en-US" sz="1200"/>
              <a:t>一个过程，代表整个系统。</a:t>
            </a:r>
            <a:endParaRPr lang="zh-CN" altLang="en-US" sz="1200"/>
          </a:p>
          <a:p>
            <a:pPr marL="285750" indent="-285750">
              <a:lnSpc>
                <a:spcPct val="160000"/>
              </a:lnSpc>
              <a:buFont typeface="Wingdings" panose="05000000000000000000" charset="0"/>
              <a:buChar char="ü"/>
            </a:pPr>
            <a:r>
              <a:rPr lang="zh-CN" altLang="en-US" sz="1200"/>
              <a:t>两个外部实体：仓库管理员、采购部门。</a:t>
            </a:r>
            <a:endParaRPr lang="zh-CN" altLang="en-US" sz="1200"/>
          </a:p>
          <a:p>
            <a:pPr marL="285750" indent="-285750">
              <a:lnSpc>
                <a:spcPct val="160000"/>
              </a:lnSpc>
              <a:buFont typeface="Wingdings" panose="05000000000000000000" charset="0"/>
              <a:buChar char="ü"/>
            </a:pPr>
            <a:r>
              <a:rPr lang="zh-CN" altLang="en-US" sz="1200"/>
              <a:t>两条数据流：输入事务、输出报告。</a:t>
            </a:r>
            <a:endParaRPr lang="zh-CN" altLang="en-US" sz="1200"/>
          </a:p>
        </p:txBody>
      </p:sp>
      <p:sp>
        <p:nvSpPr>
          <p:cNvPr id="14" name="文本框 13"/>
          <p:cNvSpPr txBox="1"/>
          <p:nvPr/>
        </p:nvSpPr>
        <p:spPr>
          <a:xfrm>
            <a:off x="0" y="1821815"/>
            <a:ext cx="3092450" cy="3265805"/>
          </a:xfrm>
          <a:prstGeom prst="rect">
            <a:avLst/>
          </a:prstGeom>
          <a:solidFill>
            <a:schemeClr val="accent4">
              <a:lumMod val="20000"/>
              <a:lumOff val="80000"/>
            </a:schemeClr>
          </a:solidFill>
          <a:ln>
            <a:solidFill>
              <a:schemeClr val="accent1"/>
            </a:solidFill>
          </a:ln>
        </p:spPr>
        <p:txBody>
          <a:bodyPr wrap="square" rtlCol="0">
            <a:noAutofit/>
          </a:bodyPr>
          <a:p>
            <a:pPr>
              <a:lnSpc>
                <a:spcPct val="160000"/>
              </a:lnSpc>
            </a:pPr>
            <a:r>
              <a:rPr lang="zh-CN" altLang="en-US" sz="1400" b="1">
                <a:solidFill>
                  <a:srgbClr val="FF0000"/>
                </a:solidFill>
                <a:latin typeface="+mn-ea"/>
                <a:cs typeface="+mn-ea"/>
              </a:rPr>
              <a:t>第</a:t>
            </a:r>
            <a:r>
              <a:rPr lang="en-US" altLang="zh-CN" sz="1400" b="1">
                <a:solidFill>
                  <a:srgbClr val="FF0000"/>
                </a:solidFill>
                <a:latin typeface="+mn-ea"/>
                <a:cs typeface="+mn-ea"/>
              </a:rPr>
              <a:t>0</a:t>
            </a:r>
            <a:r>
              <a:rPr lang="zh-CN" altLang="en-US" sz="1400" b="1">
                <a:solidFill>
                  <a:srgbClr val="FF0000"/>
                </a:solidFill>
                <a:latin typeface="+mn-ea"/>
                <a:cs typeface="+mn-ea"/>
              </a:rPr>
              <a:t>层图的目的</a:t>
            </a:r>
            <a:r>
              <a:rPr lang="zh-CN" altLang="en-US" sz="1400">
                <a:latin typeface="+mn-ea"/>
                <a:cs typeface="+mn-ea"/>
              </a:rPr>
              <a:t>：</a:t>
            </a:r>
            <a:r>
              <a:rPr lang="zh-CN" altLang="en-US" sz="1400" b="1">
                <a:latin typeface="+mn-ea"/>
                <a:cs typeface="+mn-ea"/>
              </a:rPr>
              <a:t>展示系统的主要功能和数据存储。</a:t>
            </a:r>
            <a:endParaRPr lang="zh-CN" altLang="en-US" sz="1400" b="1">
              <a:latin typeface="+mn-ea"/>
              <a:cs typeface="+mn-ea"/>
            </a:endParaRPr>
          </a:p>
          <a:p>
            <a:pPr marL="285750" indent="-285750">
              <a:lnSpc>
                <a:spcPct val="160000"/>
              </a:lnSpc>
              <a:buFont typeface="Wingdings" panose="05000000000000000000" charset="0"/>
              <a:buChar char="ü"/>
            </a:pPr>
            <a:r>
              <a:rPr lang="zh-CN" altLang="en-US" sz="1200">
                <a:latin typeface="+mn-ea"/>
                <a:cs typeface="+mn-ea"/>
              </a:rPr>
              <a:t>两个主要过程：处理库存事务</a:t>
            </a:r>
            <a:r>
              <a:rPr lang="en-US" altLang="zh-CN" sz="1200">
                <a:latin typeface="+mn-ea"/>
                <a:cs typeface="+mn-ea"/>
              </a:rPr>
              <a:t>1.0</a:t>
            </a:r>
            <a:r>
              <a:rPr lang="zh-CN" altLang="en-US" sz="1200">
                <a:latin typeface="+mn-ea"/>
                <a:cs typeface="+mn-ea"/>
              </a:rPr>
              <a:t>，生成订货报告</a:t>
            </a:r>
            <a:r>
              <a:rPr lang="en-US" altLang="zh-CN" sz="1200">
                <a:latin typeface="+mn-ea"/>
                <a:cs typeface="+mn-ea"/>
              </a:rPr>
              <a:t>2.0</a:t>
            </a:r>
            <a:r>
              <a:rPr lang="zh-CN" altLang="en-US" sz="1200">
                <a:latin typeface="+mn-ea"/>
                <a:cs typeface="+mn-ea"/>
              </a:rPr>
              <a:t>。</a:t>
            </a:r>
            <a:endParaRPr lang="zh-CN" altLang="en-US" sz="1200">
              <a:latin typeface="+mn-ea"/>
              <a:cs typeface="+mn-ea"/>
            </a:endParaRPr>
          </a:p>
          <a:p>
            <a:pPr marL="285750" indent="-285750">
              <a:lnSpc>
                <a:spcPct val="160000"/>
              </a:lnSpc>
              <a:buFont typeface="Wingdings" panose="05000000000000000000" charset="0"/>
              <a:buChar char="ü"/>
            </a:pPr>
            <a:r>
              <a:rPr lang="zh-CN" altLang="en-US" sz="1200">
                <a:latin typeface="+mn-ea"/>
                <a:cs typeface="+mn-ea"/>
              </a:rPr>
              <a:t>两个数据存储：D1 库存主文件；D2 订货信息文件。</a:t>
            </a:r>
            <a:endParaRPr lang="zh-CN" altLang="en-US" sz="1200">
              <a:latin typeface="+mn-ea"/>
              <a:cs typeface="+mn-ea"/>
            </a:endParaRPr>
          </a:p>
          <a:p>
            <a:pPr marL="285750" indent="-285750">
              <a:lnSpc>
                <a:spcPct val="160000"/>
              </a:lnSpc>
              <a:buFont typeface="Wingdings" panose="05000000000000000000" charset="0"/>
              <a:buChar char="ü"/>
            </a:pPr>
            <a:r>
              <a:rPr lang="zh-CN" altLang="en-US" sz="1200">
                <a:latin typeface="+mn-ea"/>
                <a:cs typeface="+mn-ea"/>
              </a:rPr>
              <a:t>数据流：事务数据从仓库管理员流向过程1.0。过程1.0更新D1，并向D2写入订货信息。过程2.0从D2读取信息，生成报告给采购部门。</a:t>
            </a:r>
            <a:endParaRPr lang="zh-CN" altLang="en-US" sz="1200">
              <a:latin typeface="+mn-ea"/>
              <a:cs typeface="+mn-ea"/>
            </a:endParaRPr>
          </a:p>
        </p:txBody>
      </p:sp>
      <p:sp>
        <p:nvSpPr>
          <p:cNvPr id="15" name="文本框 14"/>
          <p:cNvSpPr txBox="1"/>
          <p:nvPr/>
        </p:nvSpPr>
        <p:spPr>
          <a:xfrm>
            <a:off x="635" y="5119370"/>
            <a:ext cx="3091815" cy="1738630"/>
          </a:xfrm>
          <a:prstGeom prst="rect">
            <a:avLst/>
          </a:prstGeom>
          <a:solidFill>
            <a:schemeClr val="accent6">
              <a:lumMod val="20000"/>
              <a:lumOff val="80000"/>
            </a:schemeClr>
          </a:solidFill>
          <a:ln>
            <a:solidFill>
              <a:schemeClr val="accent1"/>
            </a:solidFill>
          </a:ln>
        </p:spPr>
        <p:txBody>
          <a:bodyPr wrap="square" rtlCol="0">
            <a:noAutofit/>
          </a:bodyPr>
          <a:p>
            <a:pPr>
              <a:lnSpc>
                <a:spcPct val="160000"/>
              </a:lnSpc>
            </a:pPr>
            <a:r>
              <a:rPr lang="zh-CN" altLang="en-US" sz="1400" b="1">
                <a:solidFill>
                  <a:srgbClr val="FF0000"/>
                </a:solidFill>
                <a:latin typeface="+mn-ea"/>
                <a:cs typeface="+mn-ea"/>
              </a:rPr>
              <a:t>第</a:t>
            </a:r>
            <a:r>
              <a:rPr lang="en-US" altLang="zh-CN" sz="1400" b="1">
                <a:solidFill>
                  <a:srgbClr val="FF0000"/>
                </a:solidFill>
                <a:latin typeface="+mn-ea"/>
                <a:cs typeface="+mn-ea"/>
              </a:rPr>
              <a:t>1</a:t>
            </a:r>
            <a:r>
              <a:rPr lang="zh-CN" altLang="en-US" sz="1400" b="1">
                <a:solidFill>
                  <a:srgbClr val="FF0000"/>
                </a:solidFill>
                <a:latin typeface="+mn-ea"/>
                <a:cs typeface="+mn-ea"/>
              </a:rPr>
              <a:t>层图的目的</a:t>
            </a:r>
            <a:r>
              <a:rPr lang="zh-CN" altLang="en-US" sz="1400">
                <a:latin typeface="+mn-ea"/>
                <a:cs typeface="+mn-ea"/>
              </a:rPr>
              <a:t>：</a:t>
            </a:r>
            <a:r>
              <a:rPr lang="zh-CN" altLang="en-US" sz="1400" b="1">
                <a:latin typeface="+mn-ea"/>
                <a:cs typeface="+mn-ea"/>
              </a:rPr>
              <a:t>详细展开“1.0 处理库存事务”过程</a:t>
            </a:r>
            <a:r>
              <a:rPr lang="zh-CN" altLang="en-US" sz="1400" b="1">
                <a:latin typeface="+mn-ea"/>
                <a:cs typeface="+mn-ea"/>
              </a:rPr>
              <a:t>。</a:t>
            </a:r>
            <a:endParaRPr lang="zh-CN" altLang="en-US" sz="1400" b="1">
              <a:latin typeface="+mn-ea"/>
              <a:cs typeface="+mn-ea"/>
            </a:endParaRPr>
          </a:p>
          <a:p>
            <a:pPr marL="285750" indent="-285750">
              <a:lnSpc>
                <a:spcPct val="160000"/>
              </a:lnSpc>
              <a:buFont typeface="Wingdings" panose="05000000000000000000" charset="0"/>
              <a:buChar char="ü"/>
            </a:pPr>
            <a:r>
              <a:rPr lang="zh-CN" altLang="en-US" sz="1200">
                <a:latin typeface="+mn-ea"/>
                <a:cs typeface="+mn-ea"/>
              </a:rPr>
              <a:t>验证事务。</a:t>
            </a:r>
            <a:endParaRPr lang="zh-CN" altLang="en-US" sz="1200">
              <a:latin typeface="+mn-ea"/>
              <a:cs typeface="+mn-ea"/>
            </a:endParaRPr>
          </a:p>
          <a:p>
            <a:pPr marL="285750" indent="-285750">
              <a:lnSpc>
                <a:spcPct val="160000"/>
              </a:lnSpc>
              <a:buFont typeface="Wingdings" panose="05000000000000000000" charset="0"/>
              <a:buChar char="ü"/>
            </a:pPr>
            <a:r>
              <a:rPr lang="zh-CN" altLang="en-US" sz="1200">
                <a:latin typeface="+mn-ea"/>
                <a:cs typeface="+mn-ea"/>
              </a:rPr>
              <a:t>更新库存记录。</a:t>
            </a:r>
            <a:endParaRPr lang="zh-CN" altLang="en-US" sz="1200">
              <a:latin typeface="+mn-ea"/>
              <a:cs typeface="+mn-ea"/>
            </a:endParaRPr>
          </a:p>
          <a:p>
            <a:pPr marL="285750" indent="-285750">
              <a:lnSpc>
                <a:spcPct val="160000"/>
              </a:lnSpc>
              <a:buFont typeface="Wingdings" panose="05000000000000000000" charset="0"/>
              <a:buChar char="ü"/>
            </a:pPr>
            <a:r>
              <a:rPr lang="zh-CN" altLang="en-US" sz="1200">
                <a:latin typeface="+mn-ea"/>
                <a:cs typeface="+mn-ea"/>
              </a:rPr>
              <a:t>检查库存临界值。</a:t>
            </a:r>
            <a:endParaRPr lang="zh-CN" altLang="en-US" sz="1200">
              <a:latin typeface="+mn-ea"/>
              <a:cs typeface="+mn-ea"/>
            </a:endParaRPr>
          </a:p>
        </p:txBody>
      </p:sp>
      <p:sp>
        <p:nvSpPr>
          <p:cNvPr id="16" name="文本框 15"/>
          <p:cNvSpPr txBox="1"/>
          <p:nvPr/>
        </p:nvSpPr>
        <p:spPr>
          <a:xfrm>
            <a:off x="3087370" y="6108700"/>
            <a:ext cx="5407660" cy="306705"/>
          </a:xfrm>
          <a:prstGeom prst="rect">
            <a:avLst/>
          </a:prstGeom>
          <a:noFill/>
        </p:spPr>
        <p:txBody>
          <a:bodyPr wrap="square" rtlCol="0">
            <a:spAutoFit/>
          </a:bodyPr>
          <a:p>
            <a:pPr algn="ctr"/>
            <a:r>
              <a:rPr lang="zh-CN" altLang="en-US" sz="1400" b="1">
                <a:solidFill>
                  <a:srgbClr val="FF0000"/>
                </a:solidFill>
                <a:highlight>
                  <a:srgbClr val="FFFF00"/>
                </a:highlight>
              </a:rPr>
              <a:t>数据流图是分层绘制的，这是其最重要的特性之一</a:t>
            </a:r>
            <a:endParaRPr lang="zh-CN" altLang="en-US" sz="1400" b="1">
              <a:solidFill>
                <a:srgbClr val="FF0000"/>
              </a:solidFill>
              <a:highlight>
                <a:srgbClr val="FFFF00"/>
              </a:highlight>
            </a:endParaRPr>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24450" y="452900"/>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数据字典</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173355" y="1334770"/>
            <a:ext cx="4570095" cy="321056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en-US" altLang="zh-CN" b="1" dirty="0" smtClean="0">
                <a:solidFill>
                  <a:srgbClr val="FF0000"/>
                </a:solidFill>
                <a:highlight>
                  <a:srgbClr val="FFFF00"/>
                </a:highlight>
                <a:latin typeface="Bodoni MT Black" panose="02070A03080606020203" pitchFamily="18" charset="0"/>
                <a:sym typeface="+mn-ea"/>
              </a:rPr>
              <a:t>数据字典是数据流图的核心配套文档，它提供了DFD中所有数据元素的精确、无歧义的定义  </a:t>
            </a:r>
            <a:r>
              <a:rPr lang="en-US" altLang="zh-CN" b="1" dirty="0" smtClean="0">
                <a:solidFill>
                  <a:srgbClr val="FF0000"/>
                </a:solidFill>
                <a:latin typeface="Bodoni MT Black" panose="02070A03080606020203" pitchFamily="18" charset="0"/>
                <a:sym typeface="+mn-ea"/>
              </a:rPr>
              <a:t>   </a:t>
            </a:r>
            <a:endParaRPr lang="en-US" altLang="zh-CN" b="1" dirty="0" smtClean="0">
              <a:solidFill>
                <a:srgbClr val="FF0000"/>
              </a:solidFill>
              <a:latin typeface="Bodoni MT Black" panose="02070A03080606020203" pitchFamily="18" charset="0"/>
              <a:sym typeface="+mn-ea"/>
            </a:endParaRPr>
          </a:p>
          <a:p>
            <a:pPr marL="0" indent="0">
              <a:lnSpc>
                <a:spcPct val="180000"/>
              </a:lnSpc>
              <a:spcBef>
                <a:spcPts val="0"/>
              </a:spcBef>
              <a:buNone/>
            </a:pPr>
            <a:r>
              <a:rPr lang="zh-CN" altLang="zh-CN" b="1" dirty="0" smtClean="0">
                <a:solidFill>
                  <a:srgbClr val="FF0000"/>
                </a:solidFill>
                <a:latin typeface="Bodoni MT Black" panose="02070A03080606020203" pitchFamily="18" charset="0"/>
                <a:sym typeface="+mn-ea"/>
              </a:rPr>
              <a:t>数据字典</a:t>
            </a:r>
            <a:r>
              <a:rPr lang="zh-CN" altLang="zh-CN" dirty="0">
                <a:solidFill>
                  <a:schemeClr val="bg1"/>
                </a:solidFill>
                <a:latin typeface="Bodoni MT Black" panose="02070A03080606020203" pitchFamily="18" charset="0"/>
                <a:sym typeface="+mn-ea"/>
              </a:rPr>
              <a:t>是关于数据的</a:t>
            </a:r>
            <a:r>
              <a:rPr lang="zh-CN" altLang="zh-CN" dirty="0">
                <a:solidFill>
                  <a:srgbClr val="FFFF00"/>
                </a:solidFill>
                <a:latin typeface="Bodoni MT Black" panose="02070A03080606020203" pitchFamily="18" charset="0"/>
                <a:sym typeface="+mn-ea"/>
              </a:rPr>
              <a:t>信息的集合</a:t>
            </a:r>
            <a:r>
              <a:rPr lang="zh-CN" altLang="zh-CN" dirty="0">
                <a:solidFill>
                  <a:schemeClr val="bg1"/>
                </a:solidFill>
                <a:latin typeface="Bodoni MT Black" panose="02070A03080606020203" pitchFamily="18" charset="0"/>
                <a:sym typeface="+mn-ea"/>
              </a:rPr>
              <a:t>，也就是对数据流图中包含的所有元素的定义的集合。</a:t>
            </a:r>
            <a:r>
              <a:rPr lang="zh-CN" altLang="zh-CN" b="1" dirty="0">
                <a:solidFill>
                  <a:srgbClr val="FFFF00"/>
                </a:solidFill>
                <a:latin typeface="Bodoni MT Black" panose="02070A03080606020203" pitchFamily="18" charset="0"/>
                <a:sym typeface="+mn-ea"/>
              </a:rPr>
              <a:t>详细描述</a:t>
            </a:r>
            <a:r>
              <a:rPr lang="zh-CN" altLang="zh-CN" dirty="0">
                <a:solidFill>
                  <a:schemeClr val="bg1"/>
                </a:solidFill>
                <a:latin typeface="Bodoni MT Black" panose="02070A03080606020203" pitchFamily="18" charset="0"/>
                <a:sym typeface="+mn-ea"/>
              </a:rPr>
              <a:t>了数据的数据项、数据结构、数据流、数据存储、处理逻辑等，帮助用户理解和使用数据。</a:t>
            </a:r>
            <a:endParaRPr lang="zh-CN" altLang="zh-CN" dirty="0">
              <a:solidFill>
                <a:schemeClr val="bg1"/>
              </a:solidFill>
              <a:latin typeface="Bodoni MT Black" panose="02070A03080606020203" pitchFamily="18" charset="0"/>
              <a:sym typeface="+mn-ea"/>
            </a:endParaRPr>
          </a:p>
          <a:p>
            <a:pPr marL="0" indent="0">
              <a:lnSpc>
                <a:spcPct val="180000"/>
              </a:lnSpc>
              <a:spcBef>
                <a:spcPts val="0"/>
              </a:spcBef>
              <a:buNone/>
            </a:pPr>
            <a:r>
              <a:rPr lang="en-US" altLang="zh-CN" b="1" dirty="0">
                <a:solidFill>
                  <a:srgbClr val="FF0000"/>
                </a:solidFill>
                <a:highlight>
                  <a:srgbClr val="00FF00"/>
                </a:highlight>
                <a:latin typeface="Bodoni MT Black" panose="02070A03080606020203" pitchFamily="18" charset="0"/>
                <a:sym typeface="+mn-ea"/>
              </a:rPr>
              <a:t>   </a:t>
            </a:r>
            <a:r>
              <a:rPr lang="zh-CN" altLang="zh-CN" b="1" dirty="0">
                <a:solidFill>
                  <a:srgbClr val="FF0000"/>
                </a:solidFill>
                <a:highlight>
                  <a:srgbClr val="00FF00"/>
                </a:highlight>
                <a:latin typeface="Bodoni MT Black" panose="02070A03080606020203" pitchFamily="18" charset="0"/>
                <a:sym typeface="+mn-ea"/>
              </a:rPr>
              <a:t>帮助我们更好地理解和使用数据，提高数据的一致性和准确性。</a:t>
            </a:r>
            <a:endParaRPr lang="zh-CN" altLang="zh-CN" b="1" dirty="0">
              <a:solidFill>
                <a:srgbClr val="FF0000"/>
              </a:solidFill>
              <a:highlight>
                <a:srgbClr val="00FF00"/>
              </a:highlight>
              <a:latin typeface="Bodoni MT Black" panose="02070A03080606020203" pitchFamily="18" charset="0"/>
              <a:sym typeface="+mn-ea"/>
            </a:endParaRPr>
          </a:p>
          <a:p>
            <a:pPr marL="0" indent="0">
              <a:lnSpc>
                <a:spcPct val="180000"/>
              </a:lnSpc>
              <a:spcBef>
                <a:spcPts val="0"/>
              </a:spcBef>
              <a:buNone/>
            </a:pPr>
            <a:r>
              <a:rPr lang="en-US" altLang="zh-CN" b="1" dirty="0">
                <a:solidFill>
                  <a:srgbClr val="00B0F0"/>
                </a:solidFill>
                <a:latin typeface="Bodoni MT Black" panose="02070A03080606020203" pitchFamily="18" charset="0"/>
                <a:sym typeface="+mn-ea"/>
              </a:rPr>
              <a:t> </a:t>
            </a:r>
            <a:r>
              <a:rPr lang="en-US" altLang="zh-CN" b="1" dirty="0">
                <a:solidFill>
                  <a:srgbClr val="FF0000"/>
                </a:solidFill>
                <a:latin typeface="Bodoni MT Black" panose="02070A03080606020203" pitchFamily="18" charset="0"/>
                <a:sym typeface="+mn-ea"/>
              </a:rPr>
              <a:t> </a:t>
            </a:r>
            <a:r>
              <a:rPr lang="zh-CN" altLang="zh-CN" b="1" dirty="0">
                <a:solidFill>
                  <a:srgbClr val="FF0000"/>
                </a:solidFill>
                <a:latin typeface="Bodoni MT Black" panose="02070A03080606020203" pitchFamily="18" charset="0"/>
                <a:sym typeface="+mn-ea"/>
              </a:rPr>
              <a:t>数据流图</a:t>
            </a:r>
            <a:r>
              <a:rPr lang="zh-CN" altLang="zh-CN" dirty="0">
                <a:solidFill>
                  <a:schemeClr val="bg1"/>
                </a:solidFill>
                <a:latin typeface="Bodoni MT Black" panose="02070A03080606020203" pitchFamily="18" charset="0"/>
                <a:sym typeface="+mn-ea"/>
              </a:rPr>
              <a:t>和</a:t>
            </a:r>
            <a:r>
              <a:rPr lang="zh-CN" altLang="zh-CN" b="1" dirty="0">
                <a:solidFill>
                  <a:srgbClr val="FF0000"/>
                </a:solidFill>
                <a:latin typeface="Bodoni MT Black" panose="02070A03080606020203" pitchFamily="18" charset="0"/>
                <a:sym typeface="+mn-ea"/>
              </a:rPr>
              <a:t>数据字典</a:t>
            </a:r>
            <a:r>
              <a:rPr lang="zh-CN" altLang="zh-CN" dirty="0">
                <a:solidFill>
                  <a:schemeClr val="bg1"/>
                </a:solidFill>
                <a:latin typeface="Bodoni MT Black" panose="02070A03080606020203" pitchFamily="18" charset="0"/>
                <a:sym typeface="+mn-ea"/>
              </a:rPr>
              <a:t>共同构成系统的</a:t>
            </a:r>
            <a:r>
              <a:rPr lang="zh-CN" altLang="zh-CN" b="1" dirty="0">
                <a:solidFill>
                  <a:srgbClr val="FFFF00"/>
                </a:solidFill>
                <a:latin typeface="Bodoni MT Black" panose="02070A03080606020203" pitchFamily="18" charset="0"/>
                <a:sym typeface="+mn-ea"/>
              </a:rPr>
              <a:t>逻辑模型</a:t>
            </a:r>
            <a:r>
              <a:rPr lang="zh-CN" altLang="en-US" sz="1500" b="1" dirty="0">
                <a:solidFill>
                  <a:srgbClr val="FFFF00"/>
                </a:solidFill>
                <a:latin typeface="Bodoni MT Black" panose="02070A03080606020203" pitchFamily="18" charset="0"/>
              </a:rPr>
              <a:t>。</a:t>
            </a:r>
            <a:endParaRPr lang="zh-CN" altLang="en-US" sz="1500" b="1" dirty="0">
              <a:solidFill>
                <a:srgbClr val="FFFF00"/>
              </a:solidFill>
              <a:latin typeface="Bodoni MT Black" panose="02070A03080606020203" pitchFamily="18" charset="0"/>
            </a:endParaRPr>
          </a:p>
        </p:txBody>
      </p:sp>
      <p:pic>
        <p:nvPicPr>
          <p:cNvPr id="5" name="内容占位符 4"/>
          <p:cNvPicPr>
            <a:picLocks noChangeAspect="1"/>
          </p:cNvPicPr>
          <p:nvPr>
            <p:ph sz="quarter" idx="14"/>
          </p:nvPr>
        </p:nvPicPr>
        <p:blipFill>
          <a:blip r:embed="rId3"/>
          <a:stretch>
            <a:fillRect/>
          </a:stretch>
        </p:blipFill>
        <p:spPr>
          <a:xfrm>
            <a:off x="4829810" y="0"/>
            <a:ext cx="7362825" cy="3211195"/>
          </a:xfrm>
          <a:prstGeom prst="rect">
            <a:avLst/>
          </a:prstGeom>
          <a:ln>
            <a:solidFill>
              <a:schemeClr val="accent1"/>
            </a:solidFill>
          </a:ln>
        </p:spPr>
      </p:pic>
      <p:pic>
        <p:nvPicPr>
          <p:cNvPr id="2" name="图片 1"/>
          <p:cNvPicPr>
            <a:picLocks noChangeAspect="1"/>
          </p:cNvPicPr>
          <p:nvPr/>
        </p:nvPicPr>
        <p:blipFill>
          <a:blip r:embed="rId4"/>
          <a:stretch>
            <a:fillRect/>
          </a:stretch>
        </p:blipFill>
        <p:spPr>
          <a:xfrm>
            <a:off x="4829810" y="3211195"/>
            <a:ext cx="7361555" cy="3646805"/>
          </a:xfrm>
          <a:prstGeom prst="rect">
            <a:avLst/>
          </a:prstGeom>
          <a:ln>
            <a:solidFill>
              <a:schemeClr val="accent1"/>
            </a:solidFill>
          </a:ln>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1074420" y="0"/>
            <a:ext cx="10285730" cy="5090795"/>
          </a:xfrm>
          <a:prstGeom prst="rect">
            <a:avLst/>
          </a:prstGeom>
        </p:spPr>
      </p:pic>
      <p:grpSp>
        <p:nvGrpSpPr>
          <p:cNvPr id="16" name="组合 15"/>
          <p:cNvGrpSpPr/>
          <p:nvPr/>
        </p:nvGrpSpPr>
        <p:grpSpPr>
          <a:xfrm>
            <a:off x="0" y="5187950"/>
            <a:ext cx="6028055" cy="1451610"/>
            <a:chOff x="0" y="8170"/>
            <a:chExt cx="10626" cy="2286"/>
          </a:xfrm>
        </p:grpSpPr>
        <p:sp>
          <p:nvSpPr>
            <p:cNvPr id="3" name="文本框 2"/>
            <p:cNvSpPr txBox="1"/>
            <p:nvPr/>
          </p:nvSpPr>
          <p:spPr>
            <a:xfrm>
              <a:off x="0" y="8170"/>
              <a:ext cx="10626" cy="658"/>
            </a:xfrm>
            <a:prstGeom prst="rect">
              <a:avLst/>
            </a:prstGeom>
            <a:solidFill>
              <a:srgbClr val="F7FD9D"/>
            </a:solidFill>
          </p:spPr>
          <p:txBody>
            <a:bodyPr wrap="square" rtlCol="0" anchor="ctr" anchorCtr="0">
              <a:noAutofit/>
            </a:bodyPr>
            <a:p>
              <a:r>
                <a:rPr lang="zh-CN" altLang="en-US" sz="1400" b="1"/>
                <a:t>数据项</a:t>
              </a:r>
              <a:r>
                <a:rPr lang="zh-CN" altLang="en-US" sz="1400"/>
                <a:t>：描述了数据的名称、类型、长度、取值范围及其他属性。</a:t>
              </a:r>
              <a:endParaRPr lang="zh-CN" altLang="en-US" sz="1400"/>
            </a:p>
          </p:txBody>
        </p:sp>
        <p:sp>
          <p:nvSpPr>
            <p:cNvPr id="5" name="文本框 4"/>
            <p:cNvSpPr txBox="1"/>
            <p:nvPr/>
          </p:nvSpPr>
          <p:spPr>
            <a:xfrm>
              <a:off x="0" y="8984"/>
              <a:ext cx="10626" cy="658"/>
            </a:xfrm>
            <a:prstGeom prst="rect">
              <a:avLst/>
            </a:prstGeom>
            <a:solidFill>
              <a:srgbClr val="E6F882"/>
            </a:solidFill>
          </p:spPr>
          <p:txBody>
            <a:bodyPr wrap="square" rtlCol="0" anchor="ctr" anchorCtr="0">
              <a:noAutofit/>
            </a:bodyPr>
            <a:p>
              <a:r>
                <a:rPr lang="zh-CN" altLang="en-US" sz="1400" b="1"/>
                <a:t>数据结构</a:t>
              </a:r>
              <a:r>
                <a:rPr lang="zh-CN" altLang="en-US" sz="1400"/>
                <a:t>：描述了数据的组织方式和联系。</a:t>
              </a:r>
              <a:endParaRPr lang="zh-CN" altLang="en-US" sz="1400"/>
            </a:p>
          </p:txBody>
        </p:sp>
        <p:sp>
          <p:nvSpPr>
            <p:cNvPr id="7" name="文本框 6"/>
            <p:cNvSpPr txBox="1"/>
            <p:nvPr/>
          </p:nvSpPr>
          <p:spPr>
            <a:xfrm>
              <a:off x="0" y="9798"/>
              <a:ext cx="10626" cy="658"/>
            </a:xfrm>
            <a:prstGeom prst="rect">
              <a:avLst/>
            </a:prstGeom>
            <a:solidFill>
              <a:srgbClr val="CEEC72"/>
            </a:solidFill>
          </p:spPr>
          <p:txBody>
            <a:bodyPr wrap="square" rtlCol="0" anchor="ctr" anchorCtr="0">
              <a:noAutofit/>
            </a:bodyPr>
            <a:p>
              <a:r>
                <a:rPr lang="zh-CN" altLang="en-US" sz="1400" b="1"/>
                <a:t>数据流</a:t>
              </a:r>
              <a:r>
                <a:rPr lang="zh-CN" altLang="en-US" sz="1400"/>
                <a:t>：描述了数据在系统中的流动方向和过程。</a:t>
              </a:r>
              <a:endParaRPr lang="zh-CN" altLang="en-US" sz="1400"/>
            </a:p>
          </p:txBody>
        </p:sp>
      </p:grpSp>
      <p:grpSp>
        <p:nvGrpSpPr>
          <p:cNvPr id="17" name="组合 16"/>
          <p:cNvGrpSpPr/>
          <p:nvPr/>
        </p:nvGrpSpPr>
        <p:grpSpPr>
          <a:xfrm>
            <a:off x="6153150" y="5187950"/>
            <a:ext cx="6038215" cy="911860"/>
            <a:chOff x="11790" y="8659"/>
            <a:chExt cx="10626" cy="1436"/>
          </a:xfrm>
        </p:grpSpPr>
        <p:sp>
          <p:nvSpPr>
            <p:cNvPr id="8" name="文本框 7"/>
            <p:cNvSpPr txBox="1"/>
            <p:nvPr/>
          </p:nvSpPr>
          <p:spPr>
            <a:xfrm>
              <a:off x="11790" y="8659"/>
              <a:ext cx="10626" cy="658"/>
            </a:xfrm>
            <a:prstGeom prst="rect">
              <a:avLst/>
            </a:prstGeom>
            <a:solidFill>
              <a:srgbClr val="9DDA46"/>
            </a:solidFill>
          </p:spPr>
          <p:txBody>
            <a:bodyPr wrap="square" rtlCol="0" anchor="ctr" anchorCtr="0">
              <a:noAutofit/>
            </a:bodyPr>
            <a:p>
              <a:r>
                <a:rPr lang="zh-CN" altLang="en-US" sz="1400" b="1"/>
                <a:t>数据存储</a:t>
              </a:r>
              <a:r>
                <a:rPr lang="zh-CN" altLang="en-US" sz="1400"/>
                <a:t>：描述了数据在系统中的存储方法及位置。</a:t>
              </a:r>
              <a:endParaRPr lang="zh-CN" altLang="en-US" sz="1400"/>
            </a:p>
          </p:txBody>
        </p:sp>
        <p:sp>
          <p:nvSpPr>
            <p:cNvPr id="14" name="文本框 13"/>
            <p:cNvSpPr txBox="1"/>
            <p:nvPr/>
          </p:nvSpPr>
          <p:spPr>
            <a:xfrm>
              <a:off x="11790" y="9437"/>
              <a:ext cx="10626" cy="658"/>
            </a:xfrm>
            <a:prstGeom prst="rect">
              <a:avLst/>
            </a:prstGeom>
            <a:solidFill>
              <a:srgbClr val="71CA52"/>
            </a:solidFill>
          </p:spPr>
          <p:txBody>
            <a:bodyPr wrap="square" rtlCol="0" anchor="ctr" anchorCtr="0">
              <a:noAutofit/>
            </a:bodyPr>
            <a:p>
              <a:r>
                <a:rPr lang="zh-CN" altLang="en-US" sz="1400" b="1"/>
                <a:t>处理过程</a:t>
              </a:r>
              <a:r>
                <a:rPr lang="zh-CN" altLang="en-US" sz="1400"/>
                <a:t>：描述了对数据的各种操作和处理。</a:t>
              </a:r>
              <a:endParaRPr lang="zh-CN" altLang="en-US" sz="1400"/>
            </a:p>
          </p:txBody>
        </p:sp>
      </p:gr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rcRect r="12546"/>
          <a:stretch>
            <a:fillRect/>
          </a:stretch>
        </p:blipFill>
        <p:spPr>
          <a:xfrm>
            <a:off x="0" y="0"/>
            <a:ext cx="5147945" cy="4505325"/>
          </a:xfrm>
          <a:prstGeom prst="rect">
            <a:avLst/>
          </a:prstGeom>
          <a:ln>
            <a:solidFill>
              <a:schemeClr val="accent1"/>
            </a:solidFill>
          </a:ln>
        </p:spPr>
      </p:pic>
      <p:pic>
        <p:nvPicPr>
          <p:cNvPr id="5" name="图片 4"/>
          <p:cNvPicPr>
            <a:picLocks noChangeAspect="1"/>
          </p:cNvPicPr>
          <p:nvPr/>
        </p:nvPicPr>
        <p:blipFill>
          <a:blip r:embed="rId2"/>
          <a:stretch>
            <a:fillRect/>
          </a:stretch>
        </p:blipFill>
        <p:spPr>
          <a:xfrm>
            <a:off x="3627755" y="635000"/>
            <a:ext cx="4724400" cy="5057775"/>
          </a:xfrm>
          <a:prstGeom prst="rect">
            <a:avLst/>
          </a:prstGeom>
          <a:ln>
            <a:solidFill>
              <a:schemeClr val="accent1"/>
            </a:solidFill>
          </a:ln>
        </p:spPr>
      </p:pic>
      <p:pic>
        <p:nvPicPr>
          <p:cNvPr id="7" name="图片 6"/>
          <p:cNvPicPr>
            <a:picLocks noChangeAspect="1"/>
          </p:cNvPicPr>
          <p:nvPr/>
        </p:nvPicPr>
        <p:blipFill>
          <a:blip r:embed="rId3"/>
          <a:stretch>
            <a:fillRect/>
          </a:stretch>
        </p:blipFill>
        <p:spPr>
          <a:xfrm>
            <a:off x="6886575" y="1504950"/>
            <a:ext cx="5305425" cy="5353050"/>
          </a:xfrm>
          <a:prstGeom prst="rect">
            <a:avLst/>
          </a:prstGeom>
          <a:ln>
            <a:solidFill>
              <a:schemeClr val="accent1"/>
            </a:solidFill>
          </a:ln>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68.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69.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8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9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9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9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346.80007874015746,&quot;left&quot;:369.6,&quot;top&quot;:110.55,&quot;width&quot;:381.7}"/>
</p:tagLst>
</file>

<file path=ppt/tags/tag19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96.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19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198.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199.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0.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1.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2*i*1"/>
  <p:tag name="KSO_WM_TEMPLATE_CATEGORY" val="custom"/>
  <p:tag name="KSO_WM_TEMPLATE_INDEX" val="20202545"/>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2*i*2"/>
  <p:tag name="KSO_WM_TEMPLATE_CATEGORY" val="custom"/>
  <p:tag name="KSO_WM_TEMPLATE_INDEX" val="20202545"/>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2*i*3"/>
  <p:tag name="KSO_WM_TEMPLATE_CATEGORY" val="custom"/>
  <p:tag name="KSO_WM_TEMPLATE_INDEX" val="20202545"/>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02545_12*i*4"/>
  <p:tag name="KSO_WM_TEMPLATE_CATEGORY" val="custom"/>
  <p:tag name="KSO_WM_TEMPLATE_INDEX" val="20202545"/>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02545_12*i*5"/>
  <p:tag name="KSO_WM_TEMPLATE_CATEGORY" val="custom"/>
  <p:tag name="KSO_WM_TEMPLATE_INDEX" val="20202545"/>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02545_12*i*6"/>
  <p:tag name="KSO_WM_TEMPLATE_CATEGORY" val="custom"/>
  <p:tag name="KSO_WM_TEMPLATE_INDEX" val="20202545"/>
  <p:tag name="KSO_WM_UNIT_LAYERLEVEL" val="1"/>
  <p:tag name="KSO_WM_TAG_VERSION" val="1.0"/>
  <p:tag name="KSO_WM_BEAUTIFY_FLAG" val="#wm#"/>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SLIDE_ID" val="custom20202545_12"/>
  <p:tag name="KSO_WM_TEMPLATE_SUBCATEGORY" val="0"/>
  <p:tag name="KSO_WM_TEMPLATE_MASTER_TYPE" val="1"/>
  <p:tag name="KSO_WM_TEMPLATE_COLOR_TYPE" val="1"/>
  <p:tag name="KSO_WM_SLIDE_TYPE" val="text"/>
  <p:tag name="KSO_WM_SLIDE_SUBTYPE" val="pureTxt"/>
  <p:tag name="KSO_WM_SLIDE_ITEM_CNT" val="0"/>
  <p:tag name="KSO_WM_SLIDE_INDEX" val="12"/>
  <p:tag name="KSO_WM_SLIDE_SIZE" val="958*554"/>
  <p:tag name="KSO_WM_SLIDE_POSITION" val="0*-7"/>
  <p:tag name="KSO_WM_TAG_VERSION" val="1.0"/>
  <p:tag name="KSO_WM_BEAUTIFY_FLAG" val="#wm#"/>
  <p:tag name="KSO_WM_TEMPLATE_CATEGORY" val="custom"/>
  <p:tag name="KSO_WM_TEMPLATE_INDEX" val="20202545"/>
  <p:tag name="KSO_WM_SLIDE_LAYOUT" val="a_f"/>
  <p:tag name="KSO_WM_SLIDE_LAYOUT_CNT" val="1_2"/>
</p:tagLst>
</file>

<file path=ppt/tags/tag211.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1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13.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14.xml><?xml version="1.0" encoding="utf-8"?>
<p:tagLst xmlns:p="http://schemas.openxmlformats.org/presentationml/2006/main">
  <p:tag name="KSO_WM_UNIT_SUBTYPE" val="a"/>
  <p:tag name="KSO_WM_UNIT_PRESET_TEXT" val="单击此处添加文本具体内容，简明扼要的阐述您的观点。根据需要可酌情增减文字，以便观者准确的理解您传达的思想。"/>
  <p:tag name="KSO_WM_UNIT_NOCLEAR" val="0"/>
  <p:tag name="KSO_WM_UNIT_VALUE" val="106"/>
  <p:tag name="KSO_WM_UNIT_HIGHLIGHT" val="0"/>
  <p:tag name="KSO_WM_UNIT_COMPATIBLE" val="0"/>
  <p:tag name="KSO_WM_UNIT_DIAGRAM_ISNUMVISUAL" val="0"/>
  <p:tag name="KSO_WM_UNIT_DIAGRAM_ISREFERUNIT" val="0"/>
  <p:tag name="KSO_WM_UNIT_TYPE" val="f"/>
  <p:tag name="KSO_WM_UNIT_INDEX" val="1"/>
  <p:tag name="KSO_WM_UNIT_ID" val="custom20202545_11*f*1"/>
  <p:tag name="KSO_WM_TEMPLATE_CATEGORY" val="custom"/>
  <p:tag name="KSO_WM_TEMPLATE_INDEX" val="20202545"/>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545_11*i*1"/>
  <p:tag name="KSO_WM_TEMPLATE_CATEGORY" val="custom"/>
  <p:tag name="KSO_WM_TEMPLATE_INDEX" val="20202545"/>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545_11*i*2"/>
  <p:tag name="KSO_WM_TEMPLATE_CATEGORY" val="custom"/>
  <p:tag name="KSO_WM_TEMPLATE_INDEX" val="20202545"/>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02545_11*i*3"/>
  <p:tag name="KSO_WM_TEMPLATE_CATEGORY" val="custom"/>
  <p:tag name="KSO_WM_TEMPLATE_INDEX" val="20202545"/>
  <p:tag name="KSO_WM_UNIT_LAYERLEVEL" val="1"/>
  <p:tag name="KSO_WM_TAG_VERSION" val="1.0"/>
  <p:tag name="KSO_WM_BEAUTIFY_FLAG" val="#wm#"/>
</p:tagLst>
</file>

<file path=ppt/tags/tag218.xml><?xml version="1.0" encoding="utf-8"?>
<p:tagLst xmlns:p="http://schemas.openxmlformats.org/presentationml/2006/main">
  <p:tag name="KSO_WM_SLIDE_ID" val="custom20202545_11"/>
  <p:tag name="KSO_WM_TEMPLATE_SUBCATEGORY" val="0"/>
  <p:tag name="KSO_WM_TEMPLATE_MASTER_TYPE" val="1"/>
  <p:tag name="KSO_WM_TEMPLATE_COLOR_TYPE" val="1"/>
  <p:tag name="KSO_WM_SLIDE_TYPE" val="text"/>
  <p:tag name="KSO_WM_SLIDE_SUBTYPE" val="picTxt"/>
  <p:tag name="KSO_WM_SLIDE_ITEM_CNT" val="0"/>
  <p:tag name="KSO_WM_SLIDE_INDEX" val="11"/>
  <p:tag name="KSO_WM_SLIDE_SIZE" val="912*489"/>
  <p:tag name="KSO_WM_SLIDE_POSITION" val="47*0"/>
  <p:tag name="KSO_WM_TAG_VERSION" val="1.0"/>
  <p:tag name="KSO_WM_BEAUTIFY_FLAG" val="#wm#"/>
  <p:tag name="KSO_WM_TEMPLATE_CATEGORY" val="custom"/>
  <p:tag name="KSO_WM_TEMPLATE_INDEX" val="20202545"/>
  <p:tag name="KSO_WM_SLIDE_LAYOUT" val="a_d_f"/>
  <p:tag name="KSO_WM_SLIDE_LAYOUT_CNT" val="1_1_1"/>
</p:tagLst>
</file>

<file path=ppt/tags/tag219.xml><?xml version="1.0" encoding="utf-8"?>
<p:tagLst xmlns:p="http://schemas.openxmlformats.org/presentationml/2006/main">
  <p:tag name="KSO_WM_BEAUTIFY_FLAG" val="#wm#"/>
  <p:tag name="KSO_WM_TEMPLATE_CATEGORY" val="custom"/>
  <p:tag name="KSO_WM_TEMPLATE_INDEX" val="20202545"/>
</p:tagLst>
</file>

<file path=ppt/tags/tag220.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2.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3.xml><?xml version="1.0" encoding="utf-8"?>
<p:tagLst xmlns:p="http://schemas.openxmlformats.org/presentationml/2006/main">
  <p:tag name="KSO_WM_SLIDE_ID" val="custom20202545_11"/>
  <p:tag name="KSO_WM_TEMPLATE_SUBCATEGORY" val="0"/>
  <p:tag name="KSO_WM_TEMPLATE_MASTER_TYPE" val="1"/>
  <p:tag name="KSO_WM_TEMPLATE_COLOR_TYPE" val="1"/>
  <p:tag name="KSO_WM_SLIDE_TYPE" val="text"/>
  <p:tag name="KSO_WM_SLIDE_SUBTYPE" val="picTxt"/>
  <p:tag name="KSO_WM_SLIDE_ITEM_CNT" val="0"/>
  <p:tag name="KSO_WM_SLIDE_INDEX" val="11"/>
  <p:tag name="KSO_WM_SLIDE_SIZE" val="912*489"/>
  <p:tag name="KSO_WM_SLIDE_POSITION" val="47*0"/>
  <p:tag name="KSO_WM_TAG_VERSION" val="1.0"/>
  <p:tag name="KSO_WM_BEAUTIFY_FLAG" val="#wm#"/>
  <p:tag name="KSO_WM_TEMPLATE_CATEGORY" val="custom"/>
  <p:tag name="KSO_WM_TEMPLATE_INDEX" val="20202545"/>
  <p:tag name="KSO_WM_SLIDE_LAYOUT" val="a_d_f"/>
  <p:tag name="KSO_WM_SLIDE_LAYOUT_CNT" val="1_1_1"/>
</p:tagLst>
</file>

<file path=ppt/tags/tag224.xml><?xml version="1.0" encoding="utf-8"?>
<p:tagLst xmlns:p="http://schemas.openxmlformats.org/presentationml/2006/main">
  <p:tag name="KSO_WM_SLIDE_ID" val="custom20202545_11"/>
  <p:tag name="KSO_WM_TEMPLATE_SUBCATEGORY" val="0"/>
  <p:tag name="KSO_WM_TEMPLATE_MASTER_TYPE" val="1"/>
  <p:tag name="KSO_WM_TEMPLATE_COLOR_TYPE" val="1"/>
  <p:tag name="KSO_WM_SLIDE_TYPE" val="text"/>
  <p:tag name="KSO_WM_SLIDE_SUBTYPE" val="picTxt"/>
  <p:tag name="KSO_WM_SLIDE_ITEM_CNT" val="0"/>
  <p:tag name="KSO_WM_SLIDE_INDEX" val="11"/>
  <p:tag name="KSO_WM_SLIDE_SIZE" val="912*489"/>
  <p:tag name="KSO_WM_SLIDE_POSITION" val="47*0"/>
  <p:tag name="KSO_WM_TAG_VERSION" val="1.0"/>
  <p:tag name="KSO_WM_BEAUTIFY_FLAG" val="#wm#"/>
  <p:tag name="KSO_WM_TEMPLATE_CATEGORY" val="custom"/>
  <p:tag name="KSO_WM_TEMPLATE_INDEX" val="20202545"/>
  <p:tag name="KSO_WM_SLIDE_LAYOUT" val="a_d_f"/>
  <p:tag name="KSO_WM_SLIDE_LAYOUT_CNT" val="1_1_1"/>
</p:tagLst>
</file>

<file path=ppt/tags/tag225.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226.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27.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2250</Words>
  <Application>WPS 演示</Application>
  <PresentationFormat>宽屏</PresentationFormat>
  <Paragraphs>138</Paragraphs>
  <Slides>14</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宋体</vt:lpstr>
      <vt:lpstr>Wingdings</vt:lpstr>
      <vt:lpstr>微软雅黑</vt:lpstr>
      <vt:lpstr>汉仪旗黑-85S</vt:lpstr>
      <vt:lpstr>黑体</vt:lpstr>
      <vt:lpstr>Viner Hand ITC</vt:lpstr>
      <vt:lpstr>华光彩云_CNKI</vt:lpstr>
      <vt:lpstr>Bodoni MT Black</vt:lpstr>
      <vt:lpstr>Arial Unicode MS</vt:lpstr>
      <vt:lpstr>Calibri</vt:lpstr>
      <vt:lpstr>Wingdings</vt:lpstr>
      <vt:lpstr>2_Office 主题​​</vt:lpstr>
      <vt:lpstr>软件工程导论（第6版）</vt:lpstr>
      <vt:lpstr>第1章  软件工程学概述</vt:lpstr>
      <vt:lpstr>PowerPoint 演示文稿</vt:lpstr>
      <vt:lpstr>可行性研究过程</vt:lpstr>
      <vt:lpstr>系统流程图</vt:lpstr>
      <vt:lpstr>PowerPoint 演示文稿</vt:lpstr>
      <vt:lpstr>         系统流程图的例子</vt:lpstr>
      <vt:lpstr>数据流程图</vt:lpstr>
      <vt:lpstr>PowerPoint 演示文稿</vt:lpstr>
      <vt:lpstr>PowerPoint 演示文稿</vt:lpstr>
      <vt:lpstr>数据字典</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半湖柳色</cp:lastModifiedBy>
  <cp:revision>210</cp:revision>
  <dcterms:created xsi:type="dcterms:W3CDTF">2019-06-19T02:08:00Z</dcterms:created>
  <dcterms:modified xsi:type="dcterms:W3CDTF">2025-12-18T08:00:09Z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1C1FE30B9DF44DBB9F6B258044696B23_13</vt:lpwstr>
  </property>
</Properties>
</file>