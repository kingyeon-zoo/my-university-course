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61" r:id="rId4"/>
    <p:sldId id="273" r:id="rId6"/>
    <p:sldId id="297" r:id="rId7"/>
    <p:sldId id="333" r:id="rId8"/>
    <p:sldId id="389" r:id="rId9"/>
    <p:sldId id="390" r:id="rId10"/>
    <p:sldId id="391" r:id="rId11"/>
    <p:sldId id="392" r:id="rId12"/>
    <p:sldId id="393" r:id="rId13"/>
    <p:sldId id="365" r:id="rId14"/>
    <p:sldId id="334" r:id="rId15"/>
    <p:sldId id="394" r:id="rId16"/>
    <p:sldId id="400" r:id="rId17"/>
    <p:sldId id="395" r:id="rId18"/>
    <p:sldId id="402" r:id="rId19"/>
    <p:sldId id="401" r:id="rId20"/>
    <p:sldId id="403" r:id="rId21"/>
    <p:sldId id="404" r:id="rId22"/>
    <p:sldId id="272" r:id="rId23"/>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2"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w" initials="w" lastIdx="3"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A703"/>
    <a:srgbClr val="98F5F2"/>
    <a:srgbClr val="45DB77"/>
    <a:srgbClr val="FFFFFF"/>
    <a:srgbClr val="E2EDDF"/>
    <a:srgbClr val="F0F0DD"/>
    <a:srgbClr val="55D5FF"/>
    <a:srgbClr val="FFFFEA"/>
    <a:srgbClr val="FBFEA0"/>
    <a:srgbClr val="48A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1982"/>
        <p:guide pos="386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253.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问题空间：这是“做什么”的领域。它包含了待解决的问题本身、用户的需求、目标、期望以及问题所处的业务环境和约束条件。它关注的是问题域。</a:t>
            </a:r>
            <a:endParaRPr lang="zh-CN" altLang="en-US"/>
          </a:p>
          <a:p>
            <a:endParaRPr lang="zh-CN" altLang="en-US"/>
          </a:p>
          <a:p>
            <a:r>
              <a:rPr lang="zh-CN" altLang="en-US"/>
              <a:t>解空间：这是“怎么做”的领域。它包含了所有可能的解决方案、技术选型、架构设计、算法、编程语言、框架等。它关注的是解决方案域。</a:t>
            </a:r>
            <a:endParaRPr lang="zh-CN" altLang="en-US"/>
          </a:p>
          <a:p>
            <a:endParaRPr lang="zh-CN" altLang="en-US"/>
          </a:p>
          <a:p>
            <a:r>
              <a:rPr lang="zh-CN" altLang="en-US"/>
              <a:t>简单来说：</a:t>
            </a:r>
            <a:endParaRPr lang="zh-CN" altLang="en-US"/>
          </a:p>
          <a:p>
            <a:endParaRPr lang="zh-CN" altLang="en-US"/>
          </a:p>
          <a:p>
            <a:r>
              <a:rPr lang="zh-CN" altLang="en-US"/>
              <a:t>问题空间 = 需求、痛点、目标（What &amp; Why）</a:t>
            </a:r>
            <a:endParaRPr lang="zh-CN" altLang="en-US"/>
          </a:p>
          <a:p>
            <a:endParaRPr lang="zh-CN" altLang="en-US"/>
          </a:p>
          <a:p>
            <a:r>
              <a:rPr lang="zh-CN" altLang="en-US"/>
              <a:t>解空间 = 设计、代码、技术（How）</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总结一下</a:t>
            </a:r>
            <a:endParaRPr lang="zh-CN" altLang="en-US"/>
          </a:p>
          <a:p>
            <a:r>
              <a:rPr lang="en-US" altLang="zh-CN"/>
              <a:t>                                    </a:t>
            </a:r>
            <a:r>
              <a:rPr lang="zh-CN" altLang="en-US"/>
              <a:t>数据 (Data)	</a:t>
            </a:r>
            <a:r>
              <a:rPr lang="en-US" altLang="zh-CN"/>
              <a:t>                            </a:t>
            </a:r>
            <a:r>
              <a:rPr lang="zh-CN" altLang="en-US"/>
              <a:t>数据结构 (Data Structure)</a:t>
            </a:r>
            <a:endParaRPr lang="zh-CN" altLang="en-US"/>
          </a:p>
          <a:p>
            <a:r>
              <a:rPr lang="zh-CN" altLang="en-US"/>
              <a:t>是什么	原始的、未经加工的事实或数值。	存储、组织和管理数据的方式。</a:t>
            </a:r>
            <a:endParaRPr lang="zh-CN" altLang="en-US"/>
          </a:p>
          <a:p>
            <a:r>
              <a:rPr lang="zh-CN" altLang="en-US"/>
              <a:t>例子中	一本本杂乱无章的书。	装箱、贴标签、上书架的方法。</a:t>
            </a:r>
            <a:endParaRPr lang="zh-CN" altLang="en-US"/>
          </a:p>
          <a:p>
            <a:r>
              <a:rPr lang="zh-CN" altLang="en-US"/>
              <a:t>核心	“是什么” （书的内容）	“怎么放” （整理和查找的策略）</a:t>
            </a:r>
            <a:endParaRPr lang="zh-CN" altLang="en-US"/>
          </a:p>
          <a:p>
            <a:r>
              <a:rPr lang="zh-CN" altLang="en-US"/>
              <a:t>关系	数据是结构要处理的原材料。	数据结构是为了更高效地使用数据而设计的工具或模型。</a:t>
            </a:r>
            <a:endParaRPr lang="zh-CN" altLang="en-US"/>
          </a:p>
          <a:p>
            <a:r>
              <a:rPr lang="zh-CN" altLang="en-US"/>
              <a:t>所以，数据是信息本身，而数据结构是如何高效地组织和操作这些信息的蓝图或方法。 没有好的数据结构，再多的数据也可能是一团乱麻，无法有效利用。</a:t>
            </a:r>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‌‌实例与对象的区别‌在于：实例特指某个类创建的具体实体，而对象是面向对象编程中所有可操作实体的统称，实例是对象的子集。</a:t>
            </a:r>
            <a:endParaRPr lang="zh-CN" altLang="en-US"/>
          </a:p>
          <a:p>
            <a:r>
              <a:rPr lang="zh-CN" altLang="en-US"/>
              <a:t>抽象层级‌：对象是抽象概念，实例是具体化的实现。例如"动物"是抽象对象，而"一只名为Tom的猫"是Animal类的实例。‌‌</a:t>
            </a:r>
            <a:endParaRPr lang="zh-CN" altLang="en-US"/>
          </a:p>
          <a:p>
            <a:endParaRPr lang="zh-CN" altLang="en-US"/>
          </a:p>
          <a:p>
            <a:r>
              <a:rPr lang="zh-CN" altLang="en-US"/>
              <a:t>“实例”是“对象”的更具体、更精确的说法。所有实例都是对象，但并非所有对象都特指为实例。</a:t>
            </a:r>
            <a:endParaRPr lang="zh-CN" altLang="en-US"/>
          </a:p>
          <a:p>
            <a:r>
              <a:rPr lang="zh-CN" altLang="en-US"/>
              <a:t>对象 (Object)：这是一个广义的、总称的术语。它指的是任何基于类（或原型）在内存中创建出来的数据实体。它拥有该类定义的属性和方法。你可以把它想象成“东西”或“物品”。</a:t>
            </a:r>
            <a:endParaRPr lang="zh-CN" altLang="en-US"/>
          </a:p>
          <a:p>
            <a:endParaRPr lang="zh-CN" altLang="en-US"/>
          </a:p>
          <a:p>
            <a:r>
              <a:rPr lang="zh-CN" altLang="en-US"/>
              <a:t>例如：new String("hello") 创建了一个字符串对象；new Array() 创建了一个数组对象。</a:t>
            </a:r>
            <a:endParaRPr lang="zh-CN" altLang="en-US"/>
          </a:p>
          <a:p>
            <a:endParaRPr lang="zh-CN" altLang="en-US"/>
          </a:p>
          <a:p>
            <a:r>
              <a:rPr lang="zh-CN" altLang="en-US"/>
              <a:t>实例 (Instance)：这是一个狭义的、更精确的术语。它特指一个对象与创建它的类之间的归属关系。它强调“这个对象是哪个类的具体例子？”。</a:t>
            </a:r>
            <a:endParaRPr lang="zh-CN" altLang="en-US"/>
          </a:p>
          <a:p>
            <a:endParaRPr lang="zh-CN" altLang="en-US"/>
          </a:p>
          <a:p>
            <a:r>
              <a:rPr lang="zh-CN" altLang="en-US"/>
              <a:t>例如：tom 这个对象是 Cat 类的一个实例。"hello" 是 String 类的一个实例。</a:t>
            </a:r>
            <a:endParaRPr lang="zh-CN" altLang="en-US"/>
          </a:p>
          <a:p>
            <a:r>
              <a:rPr lang="zh-CN" altLang="en-US"/>
              <a:t>一个很好的类比：</a:t>
            </a:r>
            <a:endParaRPr lang="zh-CN" altLang="en-US"/>
          </a:p>
          <a:p>
            <a:endParaRPr lang="zh-CN" altLang="en-US"/>
          </a:p>
          <a:p>
            <a:r>
              <a:rPr lang="zh-CN" altLang="en-US"/>
              <a:t>“对象” 就像 “水果”。</a:t>
            </a:r>
            <a:endParaRPr lang="zh-CN" altLang="en-US"/>
          </a:p>
          <a:p>
            <a:endParaRPr lang="zh-CN" altLang="en-US"/>
          </a:p>
          <a:p>
            <a:r>
              <a:rPr lang="zh-CN" altLang="en-US"/>
              <a:t>“实例” 就像 “一个苹果”。</a:t>
            </a:r>
            <a:endParaRPr lang="zh-CN" altLang="en-US"/>
          </a:p>
          <a:p>
            <a:endParaRPr lang="zh-CN" altLang="en-US"/>
          </a:p>
          <a:p>
            <a:r>
              <a:rPr lang="zh-CN" altLang="en-US"/>
              <a:t>你可以说“一个苹果是一种水果”（一个实例是一个对象），但如果你说“请给我一个水果”，别人不知道你要什么。但如果你说“请给我一个苹果（Apple类的一个实例）”，就非常明确。</a:t>
            </a:r>
            <a:endParaRPr lang="zh-CN" altLang="en-US"/>
          </a:p>
          <a:p>
            <a:endParaRPr lang="zh-CN" altLang="en-US"/>
          </a:p>
          <a:p>
            <a:r>
              <a:rPr lang="zh-CN" altLang="en-US"/>
              <a:t>在编程中，当我们讨论一个对象本身的状态和行为时（例如，修改它的属性、调用它的方法），我们通常称它为“对象”。当我们需要强调它是由哪个类构造出来的，或者讨论类与类之间的关系（如继承）时，我们更倾向于使用“实例”。</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‌‌实例与对象的区别‌在于：实例特指某个类创建的具体实体，而对象是面向对象编程中所有可操作实体的统称，实例是对象的子集。</a:t>
            </a:r>
            <a:endParaRPr lang="zh-CN" altLang="en-US"/>
          </a:p>
          <a:p>
            <a:r>
              <a:rPr lang="zh-CN" altLang="en-US"/>
              <a:t>抽象层级‌：对象是抽象概念，实例是具体化的实现。例如"动物"是抽象对象，而"一只名为Tom的猫"是Animal类的实例。‌‌</a:t>
            </a:r>
            <a:endParaRPr lang="zh-CN" altLang="en-US"/>
          </a:p>
          <a:p>
            <a:endParaRPr lang="zh-CN" altLang="en-US"/>
          </a:p>
          <a:p>
            <a:r>
              <a:rPr lang="zh-CN" altLang="en-US"/>
              <a:t>“实例”是“对象”的更具体、更精确的说法。所有实例都是对象，但并非所有对象都特指为实例。</a:t>
            </a:r>
            <a:endParaRPr lang="zh-CN" altLang="en-US"/>
          </a:p>
          <a:p>
            <a:r>
              <a:rPr lang="zh-CN" altLang="en-US"/>
              <a:t>对象 (Object)：这是一个广义的、总称的术语。它指的是任何基于类（或原型）在内存中创建出来的数据实体。它拥有该类定义的属性和方法。你可以把它想象成“东西”或“物品”。</a:t>
            </a:r>
            <a:endParaRPr lang="zh-CN" altLang="en-US"/>
          </a:p>
          <a:p>
            <a:endParaRPr lang="zh-CN" altLang="en-US"/>
          </a:p>
          <a:p>
            <a:r>
              <a:rPr lang="zh-CN" altLang="en-US"/>
              <a:t>例如：new String("hello") 创建了一个字符串对象；new Array() 创建了一个数组对象。</a:t>
            </a:r>
            <a:endParaRPr lang="zh-CN" altLang="en-US"/>
          </a:p>
          <a:p>
            <a:endParaRPr lang="zh-CN" altLang="en-US"/>
          </a:p>
          <a:p>
            <a:r>
              <a:rPr lang="zh-CN" altLang="en-US"/>
              <a:t>实例 (Instance)：这是一个狭义的、更精确的术语。它特指一个对象与创建它的类之间的归属关系。它强调“这个对象是哪个类的具体例子？”。</a:t>
            </a:r>
            <a:endParaRPr lang="zh-CN" altLang="en-US"/>
          </a:p>
          <a:p>
            <a:endParaRPr lang="zh-CN" altLang="en-US"/>
          </a:p>
          <a:p>
            <a:r>
              <a:rPr lang="zh-CN" altLang="en-US"/>
              <a:t>例如：tom 这个对象是 Cat 类的一个实例。"hello" 是 String 类的一个实例。</a:t>
            </a:r>
            <a:endParaRPr lang="zh-CN" altLang="en-US"/>
          </a:p>
          <a:p>
            <a:r>
              <a:rPr lang="zh-CN" altLang="en-US"/>
              <a:t>一个很好的类比：</a:t>
            </a:r>
            <a:endParaRPr lang="zh-CN" altLang="en-US"/>
          </a:p>
          <a:p>
            <a:endParaRPr lang="zh-CN" altLang="en-US"/>
          </a:p>
          <a:p>
            <a:r>
              <a:rPr lang="zh-CN" altLang="en-US"/>
              <a:t>“对象” 就像 “水果”。</a:t>
            </a:r>
            <a:endParaRPr lang="zh-CN" altLang="en-US"/>
          </a:p>
          <a:p>
            <a:endParaRPr lang="zh-CN" altLang="en-US"/>
          </a:p>
          <a:p>
            <a:r>
              <a:rPr lang="zh-CN" altLang="en-US"/>
              <a:t>“实例” 就像 “一个苹果”。</a:t>
            </a:r>
            <a:endParaRPr lang="zh-CN" altLang="en-US"/>
          </a:p>
          <a:p>
            <a:endParaRPr lang="zh-CN" altLang="en-US"/>
          </a:p>
          <a:p>
            <a:r>
              <a:rPr lang="zh-CN" altLang="en-US"/>
              <a:t>你可以说“一个苹果是一种水果”（一个实例是一个对象），但如果你说“请给我一个水果”，别人不知道你要什么。但如果你说“请给我一个苹果（Apple类的一个实例）”，就非常明确。</a:t>
            </a:r>
            <a:endParaRPr lang="zh-CN" altLang="en-US"/>
          </a:p>
          <a:p>
            <a:endParaRPr lang="zh-CN" altLang="en-US"/>
          </a:p>
          <a:p>
            <a:r>
              <a:rPr lang="zh-CN" altLang="en-US"/>
              <a:t>在编程中，当我们讨论一个对象本身的状态和行为时（例如，修改它的属性、调用它的方法），我们通常称它为“对象”。当我们需要强调它是由哪个类构造出来的，或者讨论类与类之间的关系（如继承）时，我们更倾向于使用“实例”。</a:t>
            </a:r>
            <a:endParaRPr lang="zh-CN" altLang="en-US"/>
          </a:p>
          <a:p>
            <a:endParaRPr lang="zh-CN" altLang="en-US"/>
          </a:p>
          <a:p>
            <a:endParaRPr lang="zh-CN" altLang="en-US"/>
          </a:p>
          <a:p>
            <a:r>
              <a:rPr lang="zh-CN" altLang="en-US"/>
              <a:t>多态性例子总结</a:t>
            </a:r>
            <a:endParaRPr lang="zh-CN" altLang="en-US"/>
          </a:p>
          <a:p>
            <a:r>
              <a:rPr lang="zh-CN" altLang="en-US"/>
              <a:t>概念	在例子中的体现</a:t>
            </a:r>
            <a:endParaRPr lang="zh-CN" altLang="en-US"/>
          </a:p>
          <a:p>
            <a:r>
              <a:rPr lang="zh-CN" altLang="en-US"/>
              <a:t>同一个行为	所有动物都有 makeSound() 这个行为</a:t>
            </a:r>
            <a:endParaRPr lang="zh-CN" altLang="en-US"/>
          </a:p>
          <a:p>
            <a:r>
              <a:rPr lang="zh-CN" altLang="en-US"/>
              <a:t>多种实现	狗、猫、鸭子分别用不同的方式实现了 makeSound()</a:t>
            </a:r>
            <a:endParaRPr lang="zh-CN" altLang="en-US"/>
          </a:p>
          <a:p>
            <a:r>
              <a:rPr lang="zh-CN" altLang="en-US"/>
              <a:t>统一接口	管理员 ZooKeeper 的 makeSound 方法只接收 Animal 类型参数</a:t>
            </a:r>
            <a:endParaRPr lang="zh-CN" altLang="en-US"/>
          </a:p>
          <a:p>
            <a:r>
              <a:rPr lang="zh-CN" altLang="en-US"/>
              <a:t>无需关心具体类型	管理员不需要写一堆 if-else 来判断动物类型，他只需统一调用 makeSound()</a:t>
            </a:r>
            <a:endParaRPr lang="zh-CN" altLang="en-US"/>
          </a:p>
          <a:p>
            <a:r>
              <a:rPr lang="zh-CN" altLang="en-US"/>
              <a:t>运行时决定	具体调用哪个 makeSound()（是狗的还是猫的），是由程序在运行时根据实际传入的对象类型（new Dog()还是new Cat()）来决定的。这叫做动态绑定或晚期绑定。</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实际例子：一个 BankAccount (银行账户) 类</a:t>
            </a:r>
            <a:endParaRPr lang="zh-CN" altLang="en-US">
              <a:sym typeface="+mn-ea"/>
            </a:endParaRPr>
          </a:p>
          <a:p>
            <a:r>
              <a:rPr lang="zh-CN" altLang="en-US">
                <a:sym typeface="+mn-ea"/>
              </a:rPr>
              <a:t>假设我们正在设计一个简单的银行系统，其中有一个 BankAccount 类。这个类有一些属性和操作。</a:t>
            </a:r>
            <a:endParaRPr lang="zh-CN" altLang="en-US">
              <a:sym typeface="+mn-ea"/>
            </a:endParaRPr>
          </a:p>
          <a:p>
            <a:endParaRPr lang="zh-CN" altLang="en-US">
              <a:sym typeface="+mn-ea"/>
            </a:endParaRPr>
          </a:p>
          <a:p>
            <a:r>
              <a:rPr lang="zh-CN" altLang="en-US">
                <a:sym typeface="+mn-ea"/>
              </a:rPr>
              <a:t>1. 首先，定义它的属性（为了上下文完整）：</a:t>
            </a:r>
            <a:endParaRPr lang="zh-CN" altLang="en-US">
              <a:sym typeface="+mn-ea"/>
            </a:endParaRPr>
          </a:p>
          <a:p>
            <a:r>
              <a:rPr lang="zh-CN" altLang="en-US">
                <a:sym typeface="+mn-ea"/>
              </a:rPr>
              <a:t>- accountNumber: String (私有属性，账号)</a:t>
            </a:r>
            <a:endParaRPr lang="zh-CN" altLang="en-US">
              <a:sym typeface="+mn-ea"/>
            </a:endParaRPr>
          </a:p>
          <a:p>
            <a:endParaRPr lang="zh-CN" altLang="en-US">
              <a:sym typeface="+mn-ea"/>
            </a:endParaRPr>
          </a:p>
          <a:p>
            <a:r>
              <a:rPr lang="zh-CN" altLang="en-US">
                <a:sym typeface="+mn-ea"/>
              </a:rPr>
              <a:t>- balance: double (私有属性，余额)</a:t>
            </a:r>
            <a:endParaRPr lang="zh-CN" altLang="en-US">
              <a:sym typeface="+mn-ea"/>
            </a:endParaRPr>
          </a:p>
          <a:p>
            <a:endParaRPr lang="zh-CN" altLang="en-US">
              <a:sym typeface="+mn-ea"/>
            </a:endParaRPr>
          </a:p>
          <a:p>
            <a:r>
              <a:rPr lang="zh-CN" altLang="en-US">
                <a:sym typeface="+mn-ea"/>
              </a:rPr>
              <a:t>- interestRate: double (私有属性，利率，这是一个类作用域属性，即静态变量，所有账户共享同一个利率)</a:t>
            </a:r>
            <a:endParaRPr lang="zh-CN" altLang="en-US">
              <a:sym typeface="+mn-ea"/>
            </a:endParaRPr>
          </a:p>
          <a:p>
            <a:endParaRPr lang="zh-CN" altLang="en-US">
              <a:sym typeface="+mn-ea"/>
            </a:endParaRPr>
          </a:p>
          <a:p>
            <a:r>
              <a:rPr lang="zh-CN" altLang="en-US">
                <a:sym typeface="+mn-ea"/>
              </a:rPr>
              <a:t># owner: String (受保护属性，账户持有人姓名)</a:t>
            </a:r>
            <a:endParaRPr lang="zh-CN" altLang="en-US">
              <a:sym typeface="+mn-ea"/>
            </a:endParaRPr>
          </a:p>
          <a:p>
            <a:endParaRPr lang="zh-CN" altLang="en-US">
              <a:sym typeface="+mn-ea"/>
            </a:endParaRPr>
          </a:p>
          <a:p>
            <a:r>
              <a:rPr lang="zh-CN" altLang="en-US">
                <a:sym typeface="+mn-ea"/>
              </a:rPr>
              <a:t>2. 现在，我们来定义它的操作（方法）：</a:t>
            </a:r>
            <a:endParaRPr lang="zh-CN" altLang="en-US">
              <a:sym typeface="+mn-ea"/>
            </a:endParaRPr>
          </a:p>
          <a:p>
            <a:r>
              <a:rPr lang="zh-CN" altLang="en-US">
                <a:sym typeface="+mn-ea"/>
              </a:rPr>
              <a:t>a. 构造函数</a:t>
            </a:r>
            <a:endParaRPr lang="zh-CN" altLang="en-US">
              <a:sym typeface="+mn-ea"/>
            </a:endParaRPr>
          </a:p>
          <a:p>
            <a:endParaRPr lang="zh-CN" altLang="en-US">
              <a:sym typeface="+mn-ea"/>
            </a:endParaRPr>
          </a:p>
          <a:p>
            <a:r>
              <a:rPr lang="zh-CN" altLang="en-US">
                <a:sym typeface="+mn-ea"/>
              </a:rPr>
              <a:t>操作名: BankAccount (与类名相同)</a:t>
            </a:r>
            <a:endParaRPr lang="zh-CN" altLang="en-US">
              <a:sym typeface="+mn-ea"/>
            </a:endParaRPr>
          </a:p>
          <a:p>
            <a:endParaRPr lang="zh-CN" altLang="en-US">
              <a:sym typeface="+mn-ea"/>
            </a:endParaRPr>
          </a:p>
          <a:p>
            <a:r>
              <a:rPr lang="zh-CN" altLang="en-US">
                <a:sym typeface="+mn-ea"/>
              </a:rPr>
              <a:t>参数: 需要账号和持有人姓名来初始化一个新账户，初始余额默认为0。</a:t>
            </a:r>
            <a:endParaRPr lang="zh-CN" altLang="en-US">
              <a:sym typeface="+mn-ea"/>
            </a:endParaRPr>
          </a:p>
          <a:p>
            <a:endParaRPr lang="zh-CN" altLang="en-US">
              <a:sym typeface="+mn-ea"/>
            </a:endParaRPr>
          </a:p>
          <a:p>
            <a:r>
              <a:rPr lang="zh-CN" altLang="en-US">
                <a:sym typeface="+mn-ea"/>
              </a:rPr>
              <a:t>可见性: + (公有，因为外部需要调用它来创建对象)</a:t>
            </a:r>
            <a:endParaRPr lang="zh-CN" altLang="en-US">
              <a:sym typeface="+mn-ea"/>
            </a:endParaRPr>
          </a:p>
          <a:p>
            <a:endParaRPr lang="zh-CN" altLang="en-US">
              <a:sym typeface="+mn-ea"/>
            </a:endParaRPr>
          </a:p>
          <a:p>
            <a:r>
              <a:rPr lang="zh-CN" altLang="en-US">
                <a:sym typeface="+mn-ea"/>
              </a:rPr>
              <a:t>返回值: 构造函数不声明返回值类型。</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 BankAccount(accNum: String, own: String)</a:t>
            </a:r>
            <a:endParaRPr lang="zh-CN" altLang="en-US">
              <a:sym typeface="+mn-ea"/>
            </a:endParaRPr>
          </a:p>
          <a:p>
            <a:endParaRPr lang="zh-CN" altLang="en-US">
              <a:sym typeface="+mn-ea"/>
            </a:endParaRPr>
          </a:p>
          <a:p>
            <a:r>
              <a:rPr lang="zh-CN" altLang="en-US">
                <a:sym typeface="+mn-ea"/>
              </a:rPr>
              <a:t>b. 存款方法 deposit</a:t>
            </a:r>
            <a:endParaRPr lang="zh-CN" altLang="en-US">
              <a:sym typeface="+mn-ea"/>
            </a:endParaRPr>
          </a:p>
          <a:p>
            <a:endParaRPr lang="zh-CN" altLang="en-US">
              <a:sym typeface="+mn-ea"/>
            </a:endParaRPr>
          </a:p>
          <a:p>
            <a:r>
              <a:rPr lang="zh-CN" altLang="en-US">
                <a:sym typeface="+mn-ea"/>
              </a:rPr>
              <a:t>操作名: deposit</a:t>
            </a:r>
            <a:endParaRPr lang="zh-CN" altLang="en-US">
              <a:sym typeface="+mn-ea"/>
            </a:endParaRPr>
          </a:p>
          <a:p>
            <a:endParaRPr lang="zh-CN" altLang="en-US">
              <a:sym typeface="+mn-ea"/>
            </a:endParaRPr>
          </a:p>
          <a:p>
            <a:r>
              <a:rPr lang="zh-CN" altLang="en-US">
                <a:sym typeface="+mn-ea"/>
              </a:rPr>
              <a:t>参数: 一个表示存款金额的参数 amount，类型为 double。没有默认值，必须提供。</a:t>
            </a:r>
            <a:endParaRPr lang="zh-CN" altLang="en-US">
              <a:sym typeface="+mn-ea"/>
            </a:endParaRPr>
          </a:p>
          <a:p>
            <a:endParaRPr lang="zh-CN" altLang="en-US">
              <a:sym typeface="+mn-ea"/>
            </a:endParaRPr>
          </a:p>
          <a:p>
            <a:r>
              <a:rPr lang="zh-CN" altLang="en-US">
                <a:sym typeface="+mn-ea"/>
              </a:rPr>
              <a:t>可见性: + (公有，外部可以调用)</a:t>
            </a:r>
            <a:endParaRPr lang="zh-CN" altLang="en-US">
              <a:sym typeface="+mn-ea"/>
            </a:endParaRPr>
          </a:p>
          <a:p>
            <a:endParaRPr lang="zh-CN" altLang="en-US">
              <a:sym typeface="+mn-ea"/>
            </a:endParaRPr>
          </a:p>
          <a:p>
            <a:r>
              <a:rPr lang="zh-CN" altLang="en-US">
                <a:sym typeface="+mn-ea"/>
              </a:rPr>
              <a:t>返回值: boolean (存款成功返回 true，失败返回 false，例如金额为负数时失败)</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 deposit(amount: double): boolean</a:t>
            </a:r>
            <a:endParaRPr lang="zh-CN" altLang="en-US">
              <a:sym typeface="+mn-ea"/>
            </a:endParaRPr>
          </a:p>
          <a:p>
            <a:endParaRPr lang="zh-CN" altLang="en-US">
              <a:sym typeface="+mn-ea"/>
            </a:endParaRPr>
          </a:p>
          <a:p>
            <a:r>
              <a:rPr lang="zh-CN" altLang="en-US">
                <a:sym typeface="+mn-ea"/>
              </a:rPr>
              <a:t>c. 取款方法 withdraw</a:t>
            </a:r>
            <a:endParaRPr lang="zh-CN" altLang="en-US">
              <a:sym typeface="+mn-ea"/>
            </a:endParaRPr>
          </a:p>
          <a:p>
            <a:endParaRPr lang="zh-CN" altLang="en-US">
              <a:sym typeface="+mn-ea"/>
            </a:endParaRPr>
          </a:p>
          <a:p>
            <a:r>
              <a:rPr lang="zh-CN" altLang="en-US">
                <a:sym typeface="+mn-ea"/>
              </a:rPr>
              <a:t>操作名: withdraw</a:t>
            </a:r>
            <a:endParaRPr lang="zh-CN" altLang="en-US">
              <a:sym typeface="+mn-ea"/>
            </a:endParaRPr>
          </a:p>
          <a:p>
            <a:endParaRPr lang="zh-CN" altLang="en-US">
              <a:sym typeface="+mn-ea"/>
            </a:endParaRPr>
          </a:p>
          <a:p>
            <a:r>
              <a:rPr lang="zh-CN" altLang="en-US">
                <a:sym typeface="+mn-ea"/>
              </a:rPr>
              <a:t>参数: 一个表示取款金额的参数 amount，类型为 double。我们给它加一个默认值 0.0。虽然这看起来有点奇怪（取款0元），但这只是为了演示默认值的语法。更实用的例子可能是手续费参数默认为0。</a:t>
            </a:r>
            <a:endParaRPr lang="zh-CN" altLang="en-US">
              <a:sym typeface="+mn-ea"/>
            </a:endParaRPr>
          </a:p>
          <a:p>
            <a:endParaRPr lang="zh-CN" altLang="en-US">
              <a:sym typeface="+mn-ea"/>
            </a:endParaRPr>
          </a:p>
          <a:p>
            <a:r>
              <a:rPr lang="zh-CN" altLang="en-US">
                <a:sym typeface="+mn-ea"/>
              </a:rPr>
              <a:t>可见性: + (公有)</a:t>
            </a:r>
            <a:endParaRPr lang="zh-CN" altLang="en-US">
              <a:sym typeface="+mn-ea"/>
            </a:endParaRPr>
          </a:p>
          <a:p>
            <a:endParaRPr lang="zh-CN" altLang="en-US">
              <a:sym typeface="+mn-ea"/>
            </a:endParaRPr>
          </a:p>
          <a:p>
            <a:r>
              <a:rPr lang="zh-CN" altLang="en-US">
                <a:sym typeface="+mn-ea"/>
              </a:rPr>
              <a:t>返回值: boolean (取款成功返回 true，余额不足等原因失败则返回 false)</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 withdraw(amount: double = 0.0): boolean</a:t>
            </a:r>
            <a:endParaRPr lang="zh-CN" altLang="en-US">
              <a:sym typeface="+mn-ea"/>
            </a:endParaRPr>
          </a:p>
          <a:p>
            <a:endParaRPr lang="zh-CN" altLang="en-US">
              <a:sym typeface="+mn-ea"/>
            </a:endParaRPr>
          </a:p>
          <a:p>
            <a:r>
              <a:rPr lang="zh-CN" altLang="en-US">
                <a:sym typeface="+mn-ea"/>
              </a:rPr>
              <a:t>d. 查询余额方法 getBalance</a:t>
            </a:r>
            <a:endParaRPr lang="zh-CN" altLang="en-US">
              <a:sym typeface="+mn-ea"/>
            </a:endParaRPr>
          </a:p>
          <a:p>
            <a:endParaRPr lang="zh-CN" altLang="en-US">
              <a:sym typeface="+mn-ea"/>
            </a:endParaRPr>
          </a:p>
          <a:p>
            <a:r>
              <a:rPr lang="zh-CN" altLang="en-US">
                <a:sym typeface="+mn-ea"/>
              </a:rPr>
              <a:t>操作名: getBalance</a:t>
            </a:r>
            <a:endParaRPr lang="zh-CN" altLang="en-US">
              <a:sym typeface="+mn-ea"/>
            </a:endParaRPr>
          </a:p>
          <a:p>
            <a:endParaRPr lang="zh-CN" altLang="en-US">
              <a:sym typeface="+mn-ea"/>
            </a:endParaRPr>
          </a:p>
          <a:p>
            <a:r>
              <a:rPr lang="zh-CN" altLang="en-US">
                <a:sym typeface="+mn-ea"/>
              </a:rPr>
              <a:t>参数: 无参数。</a:t>
            </a:r>
            <a:endParaRPr lang="zh-CN" altLang="en-US">
              <a:sym typeface="+mn-ea"/>
            </a:endParaRPr>
          </a:p>
          <a:p>
            <a:endParaRPr lang="zh-CN" altLang="en-US">
              <a:sym typeface="+mn-ea"/>
            </a:endParaRPr>
          </a:p>
          <a:p>
            <a:r>
              <a:rPr lang="zh-CN" altLang="en-US">
                <a:sym typeface="+mn-ea"/>
              </a:rPr>
              <a:t>可见性: + (公有)</a:t>
            </a:r>
            <a:endParaRPr lang="zh-CN" altLang="en-US">
              <a:sym typeface="+mn-ea"/>
            </a:endParaRPr>
          </a:p>
          <a:p>
            <a:endParaRPr lang="zh-CN" altLang="en-US">
              <a:sym typeface="+mn-ea"/>
            </a:endParaRPr>
          </a:p>
          <a:p>
            <a:r>
              <a:rPr lang="zh-CN" altLang="en-US">
                <a:sym typeface="+mn-ea"/>
              </a:rPr>
              <a:t>返回值: double (返回当前余额)</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 getBalance(): double</a:t>
            </a:r>
            <a:endParaRPr lang="zh-CN" altLang="en-US">
              <a:sym typeface="+mn-ea"/>
            </a:endParaRPr>
          </a:p>
          <a:p>
            <a:endParaRPr lang="zh-CN" altLang="en-US">
              <a:sym typeface="+mn-ea"/>
            </a:endParaRPr>
          </a:p>
          <a:p>
            <a:r>
              <a:rPr lang="zh-CN" altLang="en-US">
                <a:sym typeface="+mn-ea"/>
              </a:rPr>
              <a:t>e. 计算利息方法 calculateInterest (类作用域操作)</a:t>
            </a:r>
            <a:endParaRPr lang="zh-CN" altLang="en-US">
              <a:sym typeface="+mn-ea"/>
            </a:endParaRPr>
          </a:p>
          <a:p>
            <a:endParaRPr lang="zh-CN" altLang="en-US">
              <a:sym typeface="+mn-ea"/>
            </a:endParaRPr>
          </a:p>
          <a:p>
            <a:r>
              <a:rPr lang="zh-CN" altLang="en-US">
                <a:sym typeface="+mn-ea"/>
              </a:rPr>
              <a:t>操作名: calculateInterest</a:t>
            </a:r>
            <a:endParaRPr lang="zh-CN" altLang="en-US">
              <a:sym typeface="+mn-ea"/>
            </a:endParaRPr>
          </a:p>
          <a:p>
            <a:endParaRPr lang="zh-CN" altLang="en-US">
              <a:sym typeface="+mn-ea"/>
            </a:endParaRPr>
          </a:p>
          <a:p>
            <a:r>
              <a:rPr lang="zh-CN" altLang="en-US">
                <a:sym typeface="+mn-ea"/>
              </a:rPr>
              <a:t>参数: 一个参数 principal (本金)，类型为 double。</a:t>
            </a:r>
            <a:endParaRPr lang="zh-CN" altLang="en-US">
              <a:sym typeface="+mn-ea"/>
            </a:endParaRPr>
          </a:p>
          <a:p>
            <a:endParaRPr lang="zh-CN" altLang="en-US">
              <a:sym typeface="+mn-ea"/>
            </a:endParaRPr>
          </a:p>
          <a:p>
            <a:r>
              <a:rPr lang="zh-CN" altLang="en-US">
                <a:sym typeface="+mn-ea"/>
              </a:rPr>
              <a:t>可见性: + (公有)</a:t>
            </a:r>
            <a:endParaRPr lang="zh-CN" altLang="en-US">
              <a:sym typeface="+mn-ea"/>
            </a:endParaRPr>
          </a:p>
          <a:p>
            <a:endParaRPr lang="zh-CN" altLang="en-US">
              <a:sym typeface="+mn-ea"/>
            </a:endParaRPr>
          </a:p>
          <a:p>
            <a:r>
              <a:rPr lang="zh-CN" altLang="en-US">
                <a:sym typeface="+mn-ea"/>
              </a:rPr>
              <a:t>返回值: double (返回计算出的利息)</a:t>
            </a:r>
            <a:endParaRPr lang="zh-CN" altLang="en-US">
              <a:sym typeface="+mn-ea"/>
            </a:endParaRPr>
          </a:p>
          <a:p>
            <a:endParaRPr lang="zh-CN" altLang="en-US">
              <a:sym typeface="+mn-ea"/>
            </a:endParaRPr>
          </a:p>
          <a:p>
            <a:r>
              <a:rPr lang="zh-CN" altLang="en-US">
                <a:sym typeface="+mn-ea"/>
              </a:rPr>
              <a:t>性质: 这是一个类作用域操作（静态方法）。它不依赖于某个特定的账户实例，而是使用类作用域属性 interestRate 来计算利息。在UML图中，这条操作会带下划线。</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&lt;u&gt;+ calculateInterest(principal: double): double&lt;/u&gt;</a:t>
            </a:r>
            <a:endParaRPr lang="zh-CN" altLang="en-US">
              <a:sym typeface="+mn-ea"/>
            </a:endParaRPr>
          </a:p>
          <a:p>
            <a:endParaRPr lang="zh-CN" altLang="en-US">
              <a:sym typeface="+mn-ea"/>
            </a:endParaRPr>
          </a:p>
          <a:p>
            <a:r>
              <a:rPr lang="zh-CN" altLang="en-US">
                <a:sym typeface="+mn-ea"/>
              </a:rPr>
              <a:t>f. 私有辅助方法 logTransaction</a:t>
            </a:r>
            <a:endParaRPr lang="zh-CN" altLang="en-US">
              <a:sym typeface="+mn-ea"/>
            </a:endParaRPr>
          </a:p>
          <a:p>
            <a:endParaRPr lang="zh-CN" altLang="en-US">
              <a:sym typeface="+mn-ea"/>
            </a:endParaRPr>
          </a:p>
          <a:p>
            <a:r>
              <a:rPr lang="zh-CN" altLang="en-US">
                <a:sym typeface="+mn-ea"/>
              </a:rPr>
              <a:t>操作名: logTransaction</a:t>
            </a:r>
            <a:endParaRPr lang="zh-CN" altLang="en-US">
              <a:sym typeface="+mn-ea"/>
            </a:endParaRPr>
          </a:p>
          <a:p>
            <a:endParaRPr lang="zh-CN" altLang="en-US">
              <a:sym typeface="+mn-ea"/>
            </a:endParaRPr>
          </a:p>
          <a:p>
            <a:r>
              <a:rPr lang="zh-CN" altLang="en-US">
                <a:sym typeface="+mn-ea"/>
              </a:rPr>
              <a:t>参数: 一个参数 message，类型为 String，记录交易日志。</a:t>
            </a:r>
            <a:endParaRPr lang="zh-CN" altLang="en-US">
              <a:sym typeface="+mn-ea"/>
            </a:endParaRPr>
          </a:p>
          <a:p>
            <a:endParaRPr lang="zh-CN" altLang="en-US">
              <a:sym typeface="+mn-ea"/>
            </a:endParaRPr>
          </a:p>
          <a:p>
            <a:r>
              <a:rPr lang="zh-CN" altLang="en-US">
                <a:sym typeface="+mn-ea"/>
              </a:rPr>
              <a:t>可见性: - (私有，只在类内部被其他方法调用，外部无法访问)</a:t>
            </a:r>
            <a:endParaRPr lang="zh-CN" altLang="en-US">
              <a:sym typeface="+mn-ea"/>
            </a:endParaRPr>
          </a:p>
          <a:p>
            <a:endParaRPr lang="zh-CN" altLang="en-US">
              <a:sym typeface="+mn-ea"/>
            </a:endParaRPr>
          </a:p>
          <a:p>
            <a:r>
              <a:rPr lang="zh-CN" altLang="en-US">
                <a:sym typeface="+mn-ea"/>
              </a:rPr>
              <a:t>返回值: void (没有返回值)</a:t>
            </a:r>
            <a:endParaRPr lang="zh-CN" altLang="en-US">
              <a:sym typeface="+mn-ea"/>
            </a:endParaRPr>
          </a:p>
          <a:p>
            <a:endParaRPr lang="zh-CN" altLang="en-US">
              <a:sym typeface="+mn-ea"/>
            </a:endParaRPr>
          </a:p>
          <a:p>
            <a:r>
              <a:rPr lang="zh-CN" altLang="en-US">
                <a:sym typeface="+mn-ea"/>
              </a:rPr>
              <a:t>UML表示:</a:t>
            </a:r>
            <a:endParaRPr lang="zh-CN" altLang="en-US">
              <a:sym typeface="+mn-ea"/>
            </a:endParaRPr>
          </a:p>
          <a:p>
            <a:r>
              <a:rPr lang="zh-CN" altLang="en-US">
                <a:sym typeface="+mn-ea"/>
              </a:rPr>
              <a:t>- logTransaction(message: String): void</a:t>
            </a:r>
            <a:endParaRPr lang="zh-CN" altLang="en-US">
              <a:sym typeface="+mn-ea"/>
            </a:endParaRPr>
          </a:p>
          <a:p>
            <a:endParaRPr lang="zh-CN" altLang="en-US">
              <a:sym typeface="+mn-ea"/>
            </a:endParaRPr>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0" indent="0">
              <a:lnSpc>
                <a:spcPct val="125000"/>
              </a:lnSpc>
              <a:defRPr/>
            </a:pPr>
            <a:r>
              <a:rPr lang="zh-CN" altLang="zh-CN" b="1" dirty="0" smtClean="0">
                <a:latin typeface="Bodoni MT Black" panose="02070A03080606020203" pitchFamily="18" charset="0"/>
                <a:sym typeface="+mn-ea"/>
              </a:rPr>
              <a:t>注意</a:t>
            </a:r>
            <a:r>
              <a:rPr lang="zh-CN" altLang="zh-CN" dirty="0">
                <a:latin typeface="Bodoni MT Black" panose="02070A03080606020203" pitchFamily="18" charset="0"/>
                <a:sym typeface="+mn-ea"/>
              </a:rPr>
              <a:t>，</a:t>
            </a:r>
            <a:r>
              <a:rPr lang="zh-CN" altLang="zh-CN" dirty="0">
                <a:solidFill>
                  <a:srgbClr val="FF0000"/>
                </a:solidFill>
                <a:latin typeface="Bodoni MT Black" panose="02070A03080606020203" pitchFamily="18" charset="0"/>
                <a:sym typeface="+mn-ea"/>
              </a:rPr>
              <a:t>用例是一个类</a:t>
            </a:r>
            <a:r>
              <a:rPr lang="zh-CN" altLang="zh-CN" dirty="0">
                <a:latin typeface="Bodoni MT Black" panose="02070A03080606020203" pitchFamily="18" charset="0"/>
                <a:sym typeface="+mn-ea"/>
              </a:rPr>
              <a:t>，它代表</a:t>
            </a:r>
            <a:r>
              <a:rPr lang="zh-CN" altLang="zh-CN" dirty="0">
                <a:solidFill>
                  <a:srgbClr val="FF0000"/>
                </a:solidFill>
                <a:latin typeface="Bodoni MT Black" panose="02070A03080606020203" pitchFamily="18" charset="0"/>
                <a:sym typeface="+mn-ea"/>
              </a:rPr>
              <a:t>一类功能</a:t>
            </a:r>
            <a:r>
              <a:rPr lang="zh-CN" altLang="zh-CN" dirty="0">
                <a:latin typeface="Bodoni MT Black" panose="02070A03080606020203" pitchFamily="18" charset="0"/>
                <a:sym typeface="+mn-ea"/>
              </a:rPr>
              <a:t>而不是使用该功能的某个具体实例。用例的实例是系统的一种实际使用方法，通常把</a:t>
            </a:r>
            <a:r>
              <a:rPr lang="zh-CN" altLang="zh-CN" dirty="0">
                <a:solidFill>
                  <a:srgbClr val="FF0000"/>
                </a:solidFill>
                <a:latin typeface="Bodoni MT Black" panose="02070A03080606020203" pitchFamily="18" charset="0"/>
                <a:sym typeface="+mn-ea"/>
              </a:rPr>
              <a:t>用例的实例</a:t>
            </a:r>
            <a:r>
              <a:rPr lang="zh-CN" altLang="zh-CN" dirty="0">
                <a:latin typeface="Bodoni MT Black" panose="02070A03080606020203" pitchFamily="18" charset="0"/>
                <a:sym typeface="+mn-ea"/>
              </a:rPr>
              <a:t>称为</a:t>
            </a:r>
            <a:r>
              <a:rPr lang="zh-CN" altLang="zh-CN" b="1" dirty="0">
                <a:solidFill>
                  <a:srgbClr val="FF0000"/>
                </a:solidFill>
                <a:latin typeface="Bodoni MT Black" panose="02070A03080606020203" pitchFamily="18" charset="0"/>
                <a:sym typeface="+mn-ea"/>
              </a:rPr>
              <a:t>脚本</a:t>
            </a:r>
            <a:r>
              <a:rPr lang="zh-CN" altLang="zh-CN" dirty="0">
                <a:latin typeface="Bodoni MT Black" panose="02070A03080606020203" pitchFamily="18" charset="0"/>
                <a:sym typeface="+mn-ea"/>
              </a:rPr>
              <a:t>。脚本是系统的一次具体执行</a:t>
            </a:r>
            <a:r>
              <a:rPr lang="zh-CN" altLang="zh-CN" dirty="0" smtClean="0">
                <a:latin typeface="Bodoni MT Black" panose="02070A03080606020203" pitchFamily="18" charset="0"/>
                <a:sym typeface="+mn-ea"/>
              </a:rPr>
              <a:t>过程</a:t>
            </a:r>
            <a:r>
              <a:rPr lang="zh-CN" altLang="en-US" dirty="0" smtClean="0">
                <a:latin typeface="Bodoni MT Black" panose="02070A03080606020203" pitchFamily="18" charset="0"/>
                <a:sym typeface="+mn-ea"/>
              </a:rPr>
              <a:t>。</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6.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6" Type="http://schemas.openxmlformats.org/officeDocument/2006/relationships/notesSlide" Target="../notesSlides/notesSlide2.xml"/><Relationship Id="rId45" Type="http://schemas.openxmlformats.org/officeDocument/2006/relationships/slideLayout" Target="../slideLayouts/slideLayout6.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3.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tags" Target="../tags/tag172.xml"/><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1.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0.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4.xml"/><Relationship Id="rId6" Type="http://schemas.openxmlformats.org/officeDocument/2006/relationships/tags" Target="../tags/tag215.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214.xml"/></Relationships>
</file>

<file path=ppt/slides/_rels/slide5.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tags" Target="../tags/tag21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tags" Target="../tags/tag217.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4.xml"/><Relationship Id="rId5" Type="http://schemas.openxmlformats.org/officeDocument/2006/relationships/tags" Target="../tags/tag219.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218.xml"/></Relationships>
</file>

<file path=ppt/slides/_rels/slide8.xml.rels><?xml version="1.0" encoding="UTF-8" standalone="yes"?>
<Relationships xmlns="http://schemas.openxmlformats.org/package/2006/relationships"><Relationship Id="rId6" Type="http://schemas.openxmlformats.org/officeDocument/2006/relationships/comments" Target="../comments/comment3.xml"/><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tags" Target="../tags/tag220.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6" Type="http://schemas.openxmlformats.org/officeDocument/2006/relationships/comments" Target="../comments/comment4.xml"/><Relationship Id="rId5" Type="http://schemas.openxmlformats.org/officeDocument/2006/relationships/notesSlide" Target="../notesSlides/notesSlide8.xml"/><Relationship Id="rId4" Type="http://schemas.openxmlformats.org/officeDocument/2006/relationships/slideLayout" Target="../slideLayouts/slideLayout13.xml"/><Relationship Id="rId3" Type="http://schemas.openxmlformats.org/officeDocument/2006/relationships/tags" Target="../tags/tag221.xml"/><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6" Type="http://schemas.openxmlformats.org/officeDocument/2006/relationships/comments" Target="../comments/comment5.xml"/><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tags" Target="../tags/tag222.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225.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tags" Target="../tags/tag224.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0" Type="http://schemas.openxmlformats.org/officeDocument/2006/relationships/notesSlide" Target="../notesSlides/notesSlide10.xml"/><Relationship Id="rId1" Type="http://schemas.openxmlformats.org/officeDocument/2006/relationships/tags" Target="../tags/tag223.xml"/></Relationships>
</file>

<file path=ppt/slides/_rels/slide12.xml.rels><?xml version="1.0" encoding="UTF-8" standalone="yes"?>
<Relationships xmlns="http://schemas.openxmlformats.org/package/2006/relationships"><Relationship Id="rId8" Type="http://schemas.openxmlformats.org/officeDocument/2006/relationships/comments" Target="../comments/comment6.xml"/><Relationship Id="rId7" Type="http://schemas.openxmlformats.org/officeDocument/2006/relationships/notesSlide" Target="../notesSlides/notesSlide11.xml"/><Relationship Id="rId6" Type="http://schemas.openxmlformats.org/officeDocument/2006/relationships/slideLayout" Target="../slideLayouts/slideLayout13.xml"/><Relationship Id="rId5" Type="http://schemas.openxmlformats.org/officeDocument/2006/relationships/tags" Target="../tags/tag226.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tags" Target="../tags/tag233.xml"/><Relationship Id="rId7" Type="http://schemas.openxmlformats.org/officeDocument/2006/relationships/image" Target="../media/image27.png"/><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5" Type="http://schemas.openxmlformats.org/officeDocument/2006/relationships/comments" Target="../comments/comment7.xml"/><Relationship Id="rId24" Type="http://schemas.openxmlformats.org/officeDocument/2006/relationships/notesSlide" Target="../notesSlides/notesSlide12.xml"/><Relationship Id="rId23" Type="http://schemas.openxmlformats.org/officeDocument/2006/relationships/slideLayout" Target="../slideLayouts/slideLayout13.xml"/><Relationship Id="rId22" Type="http://schemas.openxmlformats.org/officeDocument/2006/relationships/tags" Target="../tags/tag241.xml"/><Relationship Id="rId21" Type="http://schemas.openxmlformats.org/officeDocument/2006/relationships/image" Target="../media/image33.png"/><Relationship Id="rId20" Type="http://schemas.openxmlformats.org/officeDocument/2006/relationships/tags" Target="../tags/tag240.xml"/><Relationship Id="rId2" Type="http://schemas.openxmlformats.org/officeDocument/2006/relationships/tags" Target="../tags/tag228.xml"/><Relationship Id="rId19" Type="http://schemas.openxmlformats.org/officeDocument/2006/relationships/image" Target="../media/image32.png"/><Relationship Id="rId18" Type="http://schemas.openxmlformats.org/officeDocument/2006/relationships/tags" Target="../tags/tag239.xml"/><Relationship Id="rId17" Type="http://schemas.openxmlformats.org/officeDocument/2006/relationships/tags" Target="../tags/tag238.xml"/><Relationship Id="rId16" Type="http://schemas.openxmlformats.org/officeDocument/2006/relationships/image" Target="../media/image31.png"/><Relationship Id="rId15" Type="http://schemas.openxmlformats.org/officeDocument/2006/relationships/tags" Target="../tags/tag237.xml"/><Relationship Id="rId14" Type="http://schemas.openxmlformats.org/officeDocument/2006/relationships/image" Target="../media/image30.png"/><Relationship Id="rId13" Type="http://schemas.openxmlformats.org/officeDocument/2006/relationships/tags" Target="../tags/tag236.xml"/><Relationship Id="rId12" Type="http://schemas.openxmlformats.org/officeDocument/2006/relationships/tags" Target="../tags/tag235.xml"/><Relationship Id="rId11" Type="http://schemas.openxmlformats.org/officeDocument/2006/relationships/image" Target="../media/image29.png"/><Relationship Id="rId10" Type="http://schemas.openxmlformats.org/officeDocument/2006/relationships/tags" Target="../tags/tag234.xml"/><Relationship Id="rId1" Type="http://schemas.openxmlformats.org/officeDocument/2006/relationships/tags" Target="../tags/tag227.xml"/></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3.xml"/><Relationship Id="rId7" Type="http://schemas.openxmlformats.org/officeDocument/2006/relationships/tags" Target="../tags/tag245.xml"/><Relationship Id="rId6" Type="http://schemas.openxmlformats.org/officeDocument/2006/relationships/image" Target="../media/image36.png"/><Relationship Id="rId5" Type="http://schemas.openxmlformats.org/officeDocument/2006/relationships/tags" Target="../tags/tag244.xml"/><Relationship Id="rId4" Type="http://schemas.openxmlformats.org/officeDocument/2006/relationships/image" Target="../media/image35.png"/><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image" Target="../media/image3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3.xml"/><Relationship Id="rId3" Type="http://schemas.openxmlformats.org/officeDocument/2006/relationships/tags" Target="../tags/tag246.xml"/><Relationship Id="rId2" Type="http://schemas.openxmlformats.org/officeDocument/2006/relationships/image" Target="../media/image38.png"/><Relationship Id="rId1" Type="http://schemas.openxmlformats.org/officeDocument/2006/relationships/image" Target="../media/image37.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47.xml"/><Relationship Id="rId2" Type="http://schemas.openxmlformats.org/officeDocument/2006/relationships/image" Target="../media/image40.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48.xml"/><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249.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50.xml"/><Relationship Id="rId2" Type="http://schemas.openxmlformats.org/officeDocument/2006/relationships/image" Target="../media/image45.png"/><Relationship Id="rId1"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52.xml"/><Relationship Id="rId1" Type="http://schemas.openxmlformats.org/officeDocument/2006/relationships/tags" Target="../tags/tag2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7</a:t>
            </a:r>
            <a:r>
              <a:rPr lang="zh-CN" altLang="en-US" sz="4000" dirty="0">
                <a:sym typeface="+mn-lt"/>
              </a:rPr>
              <a:t>章</a:t>
            </a:r>
            <a:r>
              <a:rPr lang="en-US" altLang="zh-CN" sz="4000" dirty="0">
                <a:sym typeface="+mn-lt"/>
              </a:rPr>
              <a:t>  </a:t>
            </a:r>
            <a:r>
              <a:rPr lang="zh-CN" altLang="en-US" sz="4000" dirty="0">
                <a:sym typeface="+mn-lt"/>
              </a:rPr>
              <a:t>面向对象方法学引论</a:t>
            </a:r>
            <a:endParaRPr lang="zh-CN" altLang="en-US" sz="4000" dirty="0">
              <a:sym typeface="+mn-lt"/>
            </a:endParaRPr>
          </a:p>
        </p:txBody>
      </p:sp>
      <p:sp>
        <p:nvSpPr>
          <p:cNvPr id="12" name="文本占位符 11"/>
          <p:cNvSpPr>
            <a:spLocks noGrp="1"/>
          </p:cNvSpPr>
          <p:nvPr>
            <p:ph type="body" idx="1"/>
            <p:custDataLst>
              <p:tags r:id="rId6"/>
            </p:custDataLst>
          </p:nvPr>
        </p:nvSpPr>
        <p:spPr>
          <a:xfrm>
            <a:off x="3436620" y="2546985"/>
            <a:ext cx="8314055" cy="2900045"/>
          </a:xfrm>
        </p:spPr>
        <p:txBody>
          <a:bodyPr>
            <a:normAutofit/>
          </a:bodyPr>
          <a:p>
            <a:pPr marL="0" indent="0" eaLnBrk="1" hangingPunct="1">
              <a:lnSpc>
                <a:spcPct val="175000"/>
              </a:lnSpc>
              <a:buNone/>
            </a:pPr>
            <a:r>
              <a:rPr lang="zh-CN" altLang="zh-CN" sz="2000" dirty="0">
                <a:latin typeface="+mj-ea"/>
                <a:ea typeface="+mj-ea"/>
                <a:cs typeface="+mj-ea"/>
                <a:sym typeface="+mn-ea"/>
              </a:rPr>
              <a:t>面向对象方法学是另一种编程范式，其出发点和基本原则是尽可能模拟人类习惯的</a:t>
            </a:r>
            <a:r>
              <a:rPr lang="zh-CN" altLang="zh-CN" sz="2000" dirty="0">
                <a:solidFill>
                  <a:srgbClr val="FF0000"/>
                </a:solidFill>
                <a:latin typeface="+mj-ea"/>
                <a:ea typeface="+mj-ea"/>
                <a:cs typeface="+mj-ea"/>
                <a:sym typeface="+mn-ea"/>
              </a:rPr>
              <a:t>思维方式</a:t>
            </a:r>
            <a:r>
              <a:rPr lang="zh-CN" altLang="zh-CN" sz="2000" dirty="0">
                <a:latin typeface="+mj-ea"/>
                <a:ea typeface="+mj-ea"/>
                <a:cs typeface="+mj-ea"/>
                <a:sym typeface="+mn-ea"/>
              </a:rPr>
              <a:t>，使开发软件的方法与过程尽可能接近人类认识世界解决问题的方法与过程，也就是使描述问题的</a:t>
            </a:r>
            <a:r>
              <a:rPr lang="zh-CN" altLang="zh-CN" sz="2000" dirty="0" smtClean="0">
                <a:solidFill>
                  <a:srgbClr val="00B0F0"/>
                </a:solidFill>
                <a:latin typeface="+mj-ea"/>
                <a:ea typeface="+mj-ea"/>
                <a:cs typeface="+mj-ea"/>
                <a:sym typeface="+mn-ea"/>
              </a:rPr>
              <a:t>问题空间</a:t>
            </a:r>
            <a:r>
              <a:rPr lang="zh-CN" altLang="en-US" sz="2000" dirty="0" smtClean="0">
                <a:latin typeface="+mj-ea"/>
                <a:ea typeface="+mj-ea"/>
                <a:cs typeface="+mj-ea"/>
                <a:sym typeface="+mn-ea"/>
              </a:rPr>
              <a:t>（</a:t>
            </a:r>
            <a:r>
              <a:rPr lang="zh-CN" altLang="zh-CN" sz="2000" dirty="0" smtClean="0">
                <a:latin typeface="+mj-ea"/>
                <a:ea typeface="+mj-ea"/>
                <a:cs typeface="+mj-ea"/>
                <a:sym typeface="+mn-ea"/>
              </a:rPr>
              <a:t>也</a:t>
            </a:r>
            <a:r>
              <a:rPr lang="zh-CN" altLang="zh-CN" sz="2000" dirty="0">
                <a:latin typeface="+mj-ea"/>
                <a:ea typeface="+mj-ea"/>
                <a:cs typeface="+mj-ea"/>
                <a:sym typeface="+mn-ea"/>
              </a:rPr>
              <a:t>称为问题</a:t>
            </a:r>
            <a:r>
              <a:rPr lang="zh-CN" altLang="zh-CN" sz="2000" dirty="0" smtClean="0">
                <a:latin typeface="+mj-ea"/>
                <a:ea typeface="+mj-ea"/>
                <a:cs typeface="+mj-ea"/>
                <a:sym typeface="+mn-ea"/>
              </a:rPr>
              <a:t>域</a:t>
            </a:r>
            <a:r>
              <a:rPr lang="zh-CN" altLang="en-US" sz="2000" dirty="0" smtClean="0">
                <a:latin typeface="+mj-ea"/>
                <a:ea typeface="+mj-ea"/>
                <a:cs typeface="+mj-ea"/>
                <a:sym typeface="+mn-ea"/>
              </a:rPr>
              <a:t>）</a:t>
            </a:r>
            <a:r>
              <a:rPr lang="zh-CN" altLang="zh-CN" sz="2000" dirty="0" smtClean="0">
                <a:latin typeface="+mj-ea"/>
                <a:ea typeface="+mj-ea"/>
                <a:cs typeface="+mj-ea"/>
                <a:sym typeface="+mn-ea"/>
              </a:rPr>
              <a:t>与</a:t>
            </a:r>
            <a:r>
              <a:rPr lang="zh-CN" altLang="zh-CN" sz="2000" dirty="0">
                <a:latin typeface="+mj-ea"/>
                <a:ea typeface="+mj-ea"/>
                <a:cs typeface="+mj-ea"/>
                <a:sym typeface="+mn-ea"/>
              </a:rPr>
              <a:t>实现解法的</a:t>
            </a:r>
            <a:r>
              <a:rPr lang="zh-CN" altLang="zh-CN" sz="2000" dirty="0" smtClean="0">
                <a:solidFill>
                  <a:srgbClr val="00B0F0"/>
                </a:solidFill>
                <a:latin typeface="+mj-ea"/>
                <a:ea typeface="+mj-ea"/>
                <a:cs typeface="+mj-ea"/>
                <a:sym typeface="+mn-ea"/>
              </a:rPr>
              <a:t>解空间</a:t>
            </a:r>
            <a:r>
              <a:rPr lang="zh-CN" altLang="en-US" sz="2000" dirty="0" smtClean="0">
                <a:latin typeface="+mj-ea"/>
                <a:ea typeface="+mj-ea"/>
                <a:cs typeface="+mj-ea"/>
                <a:sym typeface="+mn-ea"/>
              </a:rPr>
              <a:t>（</a:t>
            </a:r>
            <a:r>
              <a:rPr lang="zh-CN" altLang="zh-CN" sz="2000" dirty="0" smtClean="0">
                <a:latin typeface="+mj-ea"/>
                <a:ea typeface="+mj-ea"/>
                <a:cs typeface="+mj-ea"/>
                <a:sym typeface="+mn-ea"/>
              </a:rPr>
              <a:t>也</a:t>
            </a:r>
            <a:r>
              <a:rPr lang="zh-CN" altLang="zh-CN" sz="2000" dirty="0">
                <a:latin typeface="+mj-ea"/>
                <a:ea typeface="+mj-ea"/>
                <a:cs typeface="+mj-ea"/>
                <a:sym typeface="+mn-ea"/>
              </a:rPr>
              <a:t>称为求解</a:t>
            </a:r>
            <a:r>
              <a:rPr lang="zh-CN" altLang="zh-CN" sz="2000" dirty="0" smtClean="0">
                <a:latin typeface="+mj-ea"/>
                <a:ea typeface="+mj-ea"/>
                <a:cs typeface="+mj-ea"/>
                <a:sym typeface="+mn-ea"/>
              </a:rPr>
              <a:t>域</a:t>
            </a:r>
            <a:r>
              <a:rPr lang="zh-CN" altLang="en-US" sz="2000" dirty="0" smtClean="0">
                <a:latin typeface="+mj-ea"/>
                <a:ea typeface="+mj-ea"/>
                <a:cs typeface="+mj-ea"/>
                <a:sym typeface="+mn-ea"/>
              </a:rPr>
              <a:t>）</a:t>
            </a:r>
            <a:r>
              <a:rPr lang="zh-CN" altLang="zh-CN" sz="2000" dirty="0" smtClean="0">
                <a:solidFill>
                  <a:schemeClr val="tx1"/>
                </a:solidFill>
                <a:latin typeface="+mj-ea"/>
                <a:ea typeface="+mj-ea"/>
                <a:cs typeface="+mj-ea"/>
                <a:sym typeface="+mn-ea"/>
              </a:rPr>
              <a:t>在</a:t>
            </a:r>
            <a:r>
              <a:rPr lang="zh-CN" altLang="zh-CN" sz="2000" dirty="0">
                <a:solidFill>
                  <a:schemeClr val="tx1"/>
                </a:solidFill>
                <a:latin typeface="+mj-ea"/>
                <a:ea typeface="+mj-ea"/>
                <a:cs typeface="+mj-ea"/>
                <a:sym typeface="+mn-ea"/>
              </a:rPr>
              <a:t>结构上尽可能一致。</a:t>
            </a:r>
            <a:endParaRPr lang="zh-CN" altLang="zh-CN" sz="2000" dirty="0">
              <a:solidFill>
                <a:schemeClr val="tx1"/>
              </a:solidFill>
              <a:latin typeface="+mj-ea"/>
              <a:ea typeface="+mj-ea"/>
              <a:cs typeface="+mj-ea"/>
              <a:sym typeface="+mn-ea"/>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174814" y="937785"/>
            <a:ext cx="530481" cy="835620"/>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64761" y="1145254"/>
            <a:ext cx="280881" cy="349824"/>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29" name="文本框 28"/>
          <p:cNvSpPr txBox="1"/>
          <p:nvPr>
            <p:custDataLst>
              <p:tags r:id="rId8"/>
            </p:custDataLst>
          </p:nvPr>
        </p:nvSpPr>
        <p:spPr>
          <a:xfrm>
            <a:off x="5174814" y="1691582"/>
            <a:ext cx="530481" cy="835620"/>
          </a:xfrm>
          <a:prstGeom prst="rect">
            <a:avLst/>
          </a:prstGeom>
          <a:noFill/>
        </p:spPr>
        <p:txBody>
          <a:bodyPr wrap="square" rtlCol="0">
            <a:normAutofit/>
          </a:bodyPr>
          <a:lstStyle/>
          <a:p>
            <a:r>
              <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64761" y="1934800"/>
            <a:ext cx="280881" cy="349824"/>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0" name="文本框 29"/>
          <p:cNvSpPr txBox="1"/>
          <p:nvPr>
            <p:custDataLst>
              <p:tags r:id="rId12"/>
            </p:custDataLst>
          </p:nvPr>
        </p:nvSpPr>
        <p:spPr>
          <a:xfrm>
            <a:off x="5174814" y="2482443"/>
            <a:ext cx="530481" cy="835620"/>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64761" y="2725660"/>
            <a:ext cx="280881" cy="349824"/>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1" name="文本框 30"/>
          <p:cNvSpPr txBox="1"/>
          <p:nvPr>
            <p:custDataLst>
              <p:tags r:id="rId16"/>
            </p:custDataLst>
          </p:nvPr>
        </p:nvSpPr>
        <p:spPr>
          <a:xfrm>
            <a:off x="5174814" y="3348705"/>
            <a:ext cx="530481" cy="835620"/>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64761" y="3591922"/>
            <a:ext cx="280881" cy="349824"/>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13" name="文本框 12"/>
          <p:cNvSpPr txBox="1"/>
          <p:nvPr>
            <p:custDataLst>
              <p:tags r:id="rId20"/>
            </p:custDataLst>
          </p:nvPr>
        </p:nvSpPr>
        <p:spPr>
          <a:xfrm>
            <a:off x="5998854" y="913765"/>
            <a:ext cx="3679622" cy="865867"/>
          </a:xfrm>
          <a:prstGeom prst="rect">
            <a:avLst/>
          </a:prstGeom>
          <a:noFill/>
        </p:spPr>
        <p:txBody>
          <a:bodyPr wrap="square" rtlCol="0" anchor="ctr">
            <a:normAutofit lnSpcReduction="20000"/>
          </a:bodyPr>
          <a:lstStyle/>
          <a:p>
            <a:r>
              <a:rPr lang="en-US" altLang="zh-CN"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 </a:t>
            </a: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面向对象方法学概述</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20234" y="1604162"/>
            <a:ext cx="3116499" cy="865623"/>
          </a:xfrm>
          <a:prstGeom prst="rect">
            <a:avLst/>
          </a:prstGeom>
          <a:noFill/>
        </p:spPr>
        <p:txBody>
          <a:bodyPr wrap="square" rtlCol="0" anchor="ctr">
            <a:no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面向对象的概念</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20139" y="2444088"/>
            <a:ext cx="2894812" cy="770986"/>
          </a:xfrm>
          <a:prstGeom prst="rect">
            <a:avLst/>
          </a:prstGeom>
          <a:noFill/>
        </p:spPr>
        <p:txBody>
          <a:bodyPr wrap="square" rtlCol="0" anchor="ctr">
            <a:norm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面向对象建模</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20139" y="3293619"/>
            <a:ext cx="4281582" cy="865867"/>
          </a:xfrm>
          <a:prstGeom prst="rect">
            <a:avLst/>
          </a:prstGeom>
          <a:noFill/>
        </p:spPr>
        <p:txBody>
          <a:bodyPr wrap="square" rtlCol="0" anchor="ctr">
            <a:normAutofit lnSpcReduction="20000"/>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对象模型</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grpSp>
        <p:nvGrpSpPr>
          <p:cNvPr id="17" name="组合 16"/>
          <p:cNvGrpSpPr/>
          <p:nvPr>
            <p:custDataLst>
              <p:tags r:id="rId26"/>
            </p:custDataLst>
          </p:nvPr>
        </p:nvGrpSpPr>
        <p:grpSpPr>
          <a:xfrm>
            <a:off x="4698181" y="4132643"/>
            <a:ext cx="1040549" cy="835707"/>
            <a:chOff x="7341" y="5734"/>
            <a:chExt cx="1656" cy="1330"/>
          </a:xfrm>
        </p:grpSpPr>
        <p:sp>
          <p:nvSpPr>
            <p:cNvPr id="10" name="文本框 9"/>
            <p:cNvSpPr txBox="1"/>
            <p:nvPr>
              <p:custDataLst>
                <p:tags r:id="rId27"/>
              </p:custDataLst>
            </p:nvPr>
          </p:nvSpPr>
          <p:spPr>
            <a:xfrm>
              <a:off x="8153" y="5734"/>
              <a:ext cx="844" cy="1330"/>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5</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11" name="组合 10"/>
            <p:cNvGrpSpPr/>
            <p:nvPr>
              <p:custDataLst>
                <p:tags r:id="rId28"/>
              </p:custDataLst>
            </p:nvPr>
          </p:nvGrpSpPr>
          <p:grpSpPr>
            <a:xfrm>
              <a:off x="7341" y="6064"/>
              <a:ext cx="447" cy="557"/>
              <a:chOff x="9072" y="2431"/>
              <a:chExt cx="440" cy="548"/>
            </a:xfrm>
          </p:grpSpPr>
          <p:sp>
            <p:nvSpPr>
              <p:cNvPr id="12" name="任意多边形: 形状 33"/>
              <p:cNvSpPr/>
              <p:nvPr>
                <p:custDataLst>
                  <p:tags r:id="rId29"/>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15" name="等腰三角形 14"/>
              <p:cNvSpPr/>
              <p:nvPr>
                <p:custDataLst>
                  <p:tags r:id="rId30"/>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grpSp>
      <p:sp>
        <p:nvSpPr>
          <p:cNvPr id="16" name="文本框 15"/>
          <p:cNvSpPr txBox="1"/>
          <p:nvPr>
            <p:custDataLst>
              <p:tags r:id="rId31"/>
            </p:custDataLst>
          </p:nvPr>
        </p:nvSpPr>
        <p:spPr>
          <a:xfrm>
            <a:off x="6120139" y="4090544"/>
            <a:ext cx="2664836" cy="865867"/>
          </a:xfrm>
          <a:prstGeom prst="rect">
            <a:avLst/>
          </a:prstGeom>
          <a:noFill/>
        </p:spPr>
        <p:txBody>
          <a:bodyPr wrap="square" rtlCol="0" anchor="ctr">
            <a:normAutofit lnSpcReduction="20000"/>
          </a:bodyPr>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动态模型</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grpSp>
        <p:nvGrpSpPr>
          <p:cNvPr id="18" name="组合 17"/>
          <p:cNvGrpSpPr/>
          <p:nvPr>
            <p:custDataLst>
              <p:tags r:id="rId32"/>
            </p:custDataLst>
          </p:nvPr>
        </p:nvGrpSpPr>
        <p:grpSpPr>
          <a:xfrm>
            <a:off x="4698181" y="4999767"/>
            <a:ext cx="1040549" cy="835707"/>
            <a:chOff x="7341" y="5734"/>
            <a:chExt cx="1656" cy="1330"/>
          </a:xfrm>
        </p:grpSpPr>
        <p:sp>
          <p:nvSpPr>
            <p:cNvPr id="19" name="文本框 18"/>
            <p:cNvSpPr txBox="1"/>
            <p:nvPr>
              <p:custDataLst>
                <p:tags r:id="rId33"/>
              </p:custDataLst>
            </p:nvPr>
          </p:nvSpPr>
          <p:spPr>
            <a:xfrm>
              <a:off x="8153" y="5734"/>
              <a:ext cx="844" cy="1330"/>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6</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20" name="组合 19"/>
            <p:cNvGrpSpPr/>
            <p:nvPr>
              <p:custDataLst>
                <p:tags r:id="rId34"/>
              </p:custDataLst>
            </p:nvPr>
          </p:nvGrpSpPr>
          <p:grpSpPr>
            <a:xfrm>
              <a:off x="7341" y="6064"/>
              <a:ext cx="447" cy="557"/>
              <a:chOff x="9072" y="2431"/>
              <a:chExt cx="440" cy="548"/>
            </a:xfrm>
          </p:grpSpPr>
          <p:sp>
            <p:nvSpPr>
              <p:cNvPr id="21" name="任意多边形: 形状 33"/>
              <p:cNvSpPr/>
              <p:nvPr>
                <p:custDataLst>
                  <p:tags r:id="rId35"/>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22" name="等腰三角形 21"/>
              <p:cNvSpPr/>
              <p:nvPr>
                <p:custDataLst>
                  <p:tags r:id="rId36"/>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grpSp>
      <p:grpSp>
        <p:nvGrpSpPr>
          <p:cNvPr id="23" name="组合 22"/>
          <p:cNvGrpSpPr/>
          <p:nvPr>
            <p:custDataLst>
              <p:tags r:id="rId37"/>
            </p:custDataLst>
          </p:nvPr>
        </p:nvGrpSpPr>
        <p:grpSpPr>
          <a:xfrm>
            <a:off x="4698181" y="5763213"/>
            <a:ext cx="1040549" cy="835707"/>
            <a:chOff x="7341" y="5734"/>
            <a:chExt cx="1656" cy="1330"/>
          </a:xfrm>
        </p:grpSpPr>
        <p:sp>
          <p:nvSpPr>
            <p:cNvPr id="24" name="文本框 23"/>
            <p:cNvSpPr txBox="1"/>
            <p:nvPr>
              <p:custDataLst>
                <p:tags r:id="rId38"/>
              </p:custDataLst>
            </p:nvPr>
          </p:nvSpPr>
          <p:spPr>
            <a:xfrm>
              <a:off x="8153" y="5734"/>
              <a:ext cx="844" cy="1330"/>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7</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25" name="组合 24"/>
            <p:cNvGrpSpPr/>
            <p:nvPr>
              <p:custDataLst>
                <p:tags r:id="rId39"/>
              </p:custDataLst>
            </p:nvPr>
          </p:nvGrpSpPr>
          <p:grpSpPr>
            <a:xfrm>
              <a:off x="7341" y="6064"/>
              <a:ext cx="447" cy="557"/>
              <a:chOff x="9072" y="2431"/>
              <a:chExt cx="440" cy="548"/>
            </a:xfrm>
          </p:grpSpPr>
          <p:sp>
            <p:nvSpPr>
              <p:cNvPr id="26" name="任意多边形: 形状 33"/>
              <p:cNvSpPr/>
              <p:nvPr>
                <p:custDataLst>
                  <p:tags r:id="rId40"/>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27" name="等腰三角形 26"/>
              <p:cNvSpPr/>
              <p:nvPr>
                <p:custDataLst>
                  <p:tags r:id="rId41"/>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grpSp>
      <p:sp>
        <p:nvSpPr>
          <p:cNvPr id="45" name="文本框 44"/>
          <p:cNvSpPr txBox="1"/>
          <p:nvPr>
            <p:custDataLst>
              <p:tags r:id="rId42"/>
            </p:custDataLst>
          </p:nvPr>
        </p:nvSpPr>
        <p:spPr>
          <a:xfrm>
            <a:off x="6120139" y="4897346"/>
            <a:ext cx="2664836" cy="865867"/>
          </a:xfrm>
          <a:prstGeom prst="rect">
            <a:avLst/>
          </a:prstGeom>
          <a:noFill/>
        </p:spPr>
        <p:txBody>
          <a:bodyPr wrap="square" rtlCol="0" anchor="ctr">
            <a:normAutofit lnSpcReduction="20000"/>
          </a:bodyPr>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功能模型</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46" name="文本框 45"/>
          <p:cNvSpPr txBox="1"/>
          <p:nvPr>
            <p:custDataLst>
              <p:tags r:id="rId43"/>
            </p:custDataLst>
          </p:nvPr>
        </p:nvSpPr>
        <p:spPr>
          <a:xfrm>
            <a:off x="6120139" y="5733053"/>
            <a:ext cx="3783300" cy="865867"/>
          </a:xfrm>
          <a:prstGeom prst="rect">
            <a:avLst/>
          </a:prstGeom>
          <a:noFill/>
        </p:spPr>
        <p:txBody>
          <a:bodyPr wrap="square" rtlCol="0" anchor="ctr">
            <a:normAutofit lnSpcReduction="20000"/>
          </a:bodyPr>
          <a:p>
            <a:r>
              <a:rPr lang="en-US" altLang="zh-CN"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3</a:t>
            </a: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种模型之间的关系</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Tree>
    <p:custDataLst>
      <p:tags r:id="rId4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86045" y="298595"/>
            <a:ext cx="3960000" cy="882000"/>
          </a:xfrm>
        </p:spPr>
        <p:txBody>
          <a:bodyPr>
            <a:normAutofit/>
          </a:bodyPr>
          <a:lstStyle/>
          <a:p>
            <a:pPr algn="ctr"/>
            <a:r>
              <a:rPr lang="zh-CN" altLang="en-US" sz="2400" spc="200" dirty="0">
                <a:solidFill>
                  <a:srgbClr val="55D5FF"/>
                </a:solidFill>
                <a:latin typeface="+mn-ea"/>
                <a:ea typeface="+mn-ea"/>
              </a:rPr>
              <a:t>面向对象方法学概述</a:t>
            </a:r>
            <a:endParaRPr lang="zh-CN" altLang="en-US" sz="2400" spc="200" dirty="0">
              <a:solidFill>
                <a:srgbClr val="55D5FF"/>
              </a:solidFill>
              <a:latin typeface="+mn-ea"/>
              <a:ea typeface="+mn-ea"/>
            </a:endParaRPr>
          </a:p>
        </p:txBody>
      </p:sp>
      <p:sp>
        <p:nvSpPr>
          <p:cNvPr id="14" name="文本框 13"/>
          <p:cNvSpPr txBox="1"/>
          <p:nvPr/>
        </p:nvSpPr>
        <p:spPr>
          <a:xfrm>
            <a:off x="158750" y="1256030"/>
            <a:ext cx="4549140" cy="101600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a:lnSpc>
                <a:spcPct val="160000"/>
              </a:lnSpc>
              <a:defRPr/>
            </a:pPr>
            <a:r>
              <a:rPr lang="zh-CN" altLang="en-US" sz="1400" b="1" dirty="0" smtClean="0">
                <a:solidFill>
                  <a:schemeClr val="bg2"/>
                </a:solidFill>
                <a:latin typeface="+mn-ea"/>
                <a:cs typeface="+mn-ea"/>
                <a:sym typeface="+mn-ea"/>
              </a:rPr>
              <a:t>客观世界的问题都是由客观世界中的</a:t>
            </a:r>
            <a:r>
              <a:rPr lang="zh-CN" altLang="en-US" sz="1400" b="1" dirty="0" smtClean="0">
                <a:solidFill>
                  <a:srgbClr val="FFFF00"/>
                </a:solidFill>
                <a:latin typeface="+mn-ea"/>
                <a:cs typeface="+mn-ea"/>
                <a:sym typeface="+mn-ea"/>
              </a:rPr>
              <a:t>实体</a:t>
            </a:r>
            <a:r>
              <a:rPr lang="zh-CN" altLang="en-US" sz="1400" b="1" dirty="0" smtClean="0">
                <a:solidFill>
                  <a:schemeClr val="bg2"/>
                </a:solidFill>
                <a:latin typeface="+mn-ea"/>
                <a:cs typeface="+mn-ea"/>
                <a:sym typeface="+mn-ea"/>
              </a:rPr>
              <a:t>及实体相互间的</a:t>
            </a:r>
            <a:r>
              <a:rPr lang="zh-CN" altLang="en-US" sz="1400" b="1" dirty="0" smtClean="0">
                <a:solidFill>
                  <a:srgbClr val="FFFF00"/>
                </a:solidFill>
                <a:latin typeface="+mn-ea"/>
                <a:cs typeface="+mn-ea"/>
                <a:sym typeface="+mn-ea"/>
              </a:rPr>
              <a:t>关系</a:t>
            </a:r>
            <a:r>
              <a:rPr lang="zh-CN" altLang="en-US" sz="1400" b="1" dirty="0" smtClean="0">
                <a:solidFill>
                  <a:schemeClr val="bg2"/>
                </a:solidFill>
                <a:latin typeface="+mn-ea"/>
                <a:cs typeface="+mn-ea"/>
                <a:sym typeface="+mn-ea"/>
              </a:rPr>
              <a:t>构成的。人们把客观世界中的实体抽象为问题域中的</a:t>
            </a:r>
            <a:r>
              <a:rPr lang="en-US" altLang="zh-CN" sz="1400" b="1" dirty="0" smtClean="0">
                <a:solidFill>
                  <a:schemeClr val="bg2"/>
                </a:solidFill>
                <a:latin typeface="+mn-ea"/>
                <a:cs typeface="+mn-ea"/>
                <a:sym typeface="+mn-ea"/>
              </a:rPr>
              <a:t>“</a:t>
            </a:r>
            <a:r>
              <a:rPr lang="zh-CN" altLang="en-US" sz="1400" b="1" dirty="0" smtClean="0">
                <a:solidFill>
                  <a:srgbClr val="FF0000"/>
                </a:solidFill>
                <a:latin typeface="+mn-ea"/>
                <a:cs typeface="+mn-ea"/>
                <a:sym typeface="+mn-ea"/>
              </a:rPr>
              <a:t>对象</a:t>
            </a:r>
            <a:r>
              <a:rPr lang="en-US" altLang="zh-CN" sz="1400" b="1" dirty="0" smtClean="0">
                <a:solidFill>
                  <a:srgbClr val="FF0000"/>
                </a:solidFill>
                <a:latin typeface="+mn-ea"/>
                <a:cs typeface="+mn-ea"/>
                <a:sym typeface="+mn-ea"/>
              </a:rPr>
              <a:t>(object)</a:t>
            </a:r>
            <a:r>
              <a:rPr lang="en-US" altLang="zh-CN" sz="1400" b="1" dirty="0" smtClean="0">
                <a:solidFill>
                  <a:schemeClr val="bg2"/>
                </a:solidFill>
                <a:latin typeface="+mn-ea"/>
                <a:cs typeface="+mn-ea"/>
                <a:sym typeface="+mn-ea"/>
              </a:rPr>
              <a:t>”</a:t>
            </a:r>
            <a:r>
              <a:rPr lang="zh-CN" altLang="en-US" sz="1400" b="1" dirty="0" smtClean="0">
                <a:solidFill>
                  <a:schemeClr val="bg2"/>
                </a:solidFill>
                <a:latin typeface="+mn-ea"/>
                <a:cs typeface="+mn-ea"/>
                <a:sym typeface="+mn-ea"/>
              </a:rPr>
              <a:t>，因为所要解决的问题具有特殊性，所以对象是不固定的。</a:t>
            </a:r>
            <a:endParaRPr lang="zh-CN" altLang="en-US" sz="1400" b="1" dirty="0" smtClean="0">
              <a:solidFill>
                <a:schemeClr val="bg2"/>
              </a:solidFill>
              <a:latin typeface="+mn-ea"/>
              <a:cs typeface="+mn-ea"/>
              <a:sym typeface="+mn-ea"/>
            </a:endParaRPr>
          </a:p>
        </p:txBody>
      </p:sp>
      <p:sp>
        <p:nvSpPr>
          <p:cNvPr id="4" name="文本框 3"/>
          <p:cNvSpPr txBox="1"/>
          <p:nvPr/>
        </p:nvSpPr>
        <p:spPr>
          <a:xfrm>
            <a:off x="140970" y="4518025"/>
            <a:ext cx="4556125" cy="201676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a:lnSpc>
                <a:spcPct val="180000"/>
              </a:lnSpc>
              <a:defRPr/>
            </a:pPr>
            <a:r>
              <a:rPr lang="zh-CN" sz="1400" b="1" dirty="0" smtClean="0">
                <a:solidFill>
                  <a:schemeClr val="bg2"/>
                </a:solidFill>
                <a:latin typeface="+mj-ea"/>
                <a:ea typeface="+mj-ea"/>
                <a:cs typeface="+mj-ea"/>
                <a:sym typeface="+mn-ea"/>
              </a:rPr>
              <a:t>客观世界中的实体既有</a:t>
            </a:r>
            <a:r>
              <a:rPr lang="zh-CN" sz="1400" b="1" dirty="0" smtClean="0">
                <a:solidFill>
                  <a:srgbClr val="FFC000"/>
                </a:solidFill>
                <a:latin typeface="+mj-ea"/>
                <a:ea typeface="+mj-ea"/>
                <a:cs typeface="+mj-ea"/>
                <a:sym typeface="+mn-ea"/>
              </a:rPr>
              <a:t>静态的属性</a:t>
            </a:r>
            <a:r>
              <a:rPr lang="zh-CN" sz="1400" b="1" dirty="0" smtClean="0">
                <a:solidFill>
                  <a:schemeClr val="bg2"/>
                </a:solidFill>
                <a:latin typeface="+mj-ea"/>
                <a:ea typeface="+mj-ea"/>
                <a:cs typeface="+mj-ea"/>
                <a:sym typeface="+mn-ea"/>
              </a:rPr>
              <a:t>又具有</a:t>
            </a:r>
            <a:r>
              <a:rPr lang="zh-CN" sz="1400" b="1" dirty="0" smtClean="0">
                <a:solidFill>
                  <a:srgbClr val="FFC000"/>
                </a:solidFill>
                <a:latin typeface="+mj-ea"/>
                <a:ea typeface="+mj-ea"/>
                <a:cs typeface="+mj-ea"/>
                <a:sym typeface="+mn-ea"/>
              </a:rPr>
              <a:t>动态的行为</a:t>
            </a:r>
            <a:r>
              <a:rPr lang="zh-CN" sz="1400" b="1" dirty="0" smtClean="0">
                <a:solidFill>
                  <a:schemeClr val="bg2"/>
                </a:solidFill>
                <a:latin typeface="+mj-ea"/>
                <a:ea typeface="+mj-ea"/>
                <a:cs typeface="+mj-ea"/>
                <a:sym typeface="+mn-ea"/>
              </a:rPr>
              <a:t>，传统语言提供的解空间对象实质上仅是描述</a:t>
            </a:r>
            <a:r>
              <a:rPr lang="zh-CN" sz="1400" b="1" dirty="0" smtClean="0">
                <a:solidFill>
                  <a:srgbClr val="FF0000"/>
                </a:solidFill>
                <a:latin typeface="+mj-ea"/>
                <a:ea typeface="+mj-ea"/>
                <a:cs typeface="+mj-ea"/>
                <a:sym typeface="+mn-ea"/>
              </a:rPr>
              <a:t>实体属性</a:t>
            </a:r>
            <a:r>
              <a:rPr lang="zh-CN" sz="1400" b="1" dirty="0" smtClean="0">
                <a:solidFill>
                  <a:schemeClr val="bg2"/>
                </a:solidFill>
                <a:latin typeface="+mj-ea"/>
                <a:ea typeface="+mj-ea"/>
                <a:cs typeface="+mj-ea"/>
                <a:sym typeface="+mn-ea"/>
              </a:rPr>
              <a:t>的数据，必须在程序中从外部对它施加操作才能模拟它的行为，</a:t>
            </a:r>
            <a:r>
              <a:rPr lang="zh-CN" sz="1400" b="1" dirty="0" smtClean="0">
                <a:solidFill>
                  <a:srgbClr val="00B0F0"/>
                </a:solidFill>
                <a:latin typeface="+mj-ea"/>
                <a:ea typeface="+mj-ea"/>
                <a:cs typeface="+mj-ea"/>
                <a:sym typeface="+mn-ea"/>
              </a:rPr>
              <a:t>数据与处理的人为分离</a:t>
            </a:r>
            <a:r>
              <a:rPr lang="zh-CN" sz="1400" b="1" dirty="0" smtClean="0">
                <a:solidFill>
                  <a:schemeClr val="bg2"/>
                </a:solidFill>
                <a:latin typeface="+mj-ea"/>
                <a:ea typeface="+mj-ea"/>
                <a:cs typeface="+mj-ea"/>
                <a:sym typeface="+mn-ea"/>
              </a:rPr>
              <a:t>，会增加软件开发的难度。</a:t>
            </a:r>
            <a:endParaRPr lang="zh-CN" sz="1400" b="1" dirty="0" smtClean="0">
              <a:solidFill>
                <a:schemeClr val="bg2"/>
              </a:solidFill>
              <a:latin typeface="+mj-ea"/>
              <a:ea typeface="+mj-ea"/>
              <a:cs typeface="+mj-ea"/>
              <a:sym typeface="+mn-ea"/>
            </a:endParaRPr>
          </a:p>
        </p:txBody>
      </p:sp>
      <p:sp>
        <p:nvSpPr>
          <p:cNvPr id="29" name="文本框 28"/>
          <p:cNvSpPr txBox="1"/>
          <p:nvPr/>
        </p:nvSpPr>
        <p:spPr>
          <a:xfrm>
            <a:off x="8613775" y="3091180"/>
            <a:ext cx="2962275" cy="521970"/>
          </a:xfrm>
          <a:prstGeom prst="rect">
            <a:avLst/>
          </a:prstGeom>
          <a:noFill/>
        </p:spPr>
        <p:txBody>
          <a:bodyPr wrap="square" rtlCol="0">
            <a:spAutoFit/>
          </a:bodyPr>
          <a:p>
            <a:r>
              <a:rPr lang="zh-CN" altLang="en-US" sz="1400" b="1" dirty="0" smtClean="0">
                <a:solidFill>
                  <a:schemeClr val="bg2"/>
                </a:solidFill>
                <a:latin typeface="+mj-ea"/>
                <a:ea typeface="+mj-ea"/>
                <a:sym typeface="+mn-ea"/>
              </a:rPr>
              <a:t>程序设计语言选择的实用标准：</a:t>
            </a:r>
            <a:endParaRPr lang="en-US" altLang="zh-CN" sz="1400" b="1" dirty="0" smtClean="0">
              <a:solidFill>
                <a:schemeClr val="bg2"/>
              </a:solidFill>
              <a:latin typeface="+mj-ea"/>
              <a:ea typeface="+mj-ea"/>
            </a:endParaRPr>
          </a:p>
          <a:p>
            <a:endParaRPr lang="zh-CN" altLang="en-US" sz="1400"/>
          </a:p>
        </p:txBody>
      </p:sp>
      <p:grpSp>
        <p:nvGrpSpPr>
          <p:cNvPr id="10" name="组合 9"/>
          <p:cNvGrpSpPr/>
          <p:nvPr/>
        </p:nvGrpSpPr>
        <p:grpSpPr>
          <a:xfrm>
            <a:off x="-635" y="2726055"/>
            <a:ext cx="4809490" cy="1615440"/>
            <a:chOff x="0" y="4238"/>
            <a:chExt cx="7608" cy="2544"/>
          </a:xfrm>
        </p:grpSpPr>
        <p:pic>
          <p:nvPicPr>
            <p:cNvPr id="2" name="图片 1"/>
            <p:cNvPicPr>
              <a:picLocks noChangeAspect="1"/>
            </p:cNvPicPr>
            <p:nvPr/>
          </p:nvPicPr>
          <p:blipFill>
            <a:blip r:embed="rId2"/>
            <a:stretch>
              <a:fillRect/>
            </a:stretch>
          </p:blipFill>
          <p:spPr>
            <a:xfrm>
              <a:off x="0" y="4238"/>
              <a:ext cx="4724" cy="2545"/>
            </a:xfrm>
            <a:prstGeom prst="rect">
              <a:avLst/>
            </a:prstGeom>
            <a:ln>
              <a:solidFill>
                <a:schemeClr val="tx1"/>
              </a:solidFill>
            </a:ln>
          </p:spPr>
        </p:pic>
        <p:pic>
          <p:nvPicPr>
            <p:cNvPr id="5" name="图片 4"/>
            <p:cNvPicPr>
              <a:picLocks noChangeAspect="1"/>
            </p:cNvPicPr>
            <p:nvPr/>
          </p:nvPicPr>
          <p:blipFill>
            <a:blip r:embed="rId3"/>
            <a:stretch>
              <a:fillRect/>
            </a:stretch>
          </p:blipFill>
          <p:spPr>
            <a:xfrm>
              <a:off x="4724" y="4238"/>
              <a:ext cx="2885" cy="2544"/>
            </a:xfrm>
            <a:prstGeom prst="rect">
              <a:avLst/>
            </a:prstGeom>
            <a:ln>
              <a:solidFill>
                <a:schemeClr val="tx1"/>
              </a:solidFill>
            </a:ln>
          </p:spPr>
        </p:pic>
      </p:grpSp>
      <p:pic>
        <p:nvPicPr>
          <p:cNvPr id="11" name="图片 10"/>
          <p:cNvPicPr>
            <a:picLocks noChangeAspect="1"/>
          </p:cNvPicPr>
          <p:nvPr/>
        </p:nvPicPr>
        <p:blipFill>
          <a:blip r:embed="rId4"/>
          <a:stretch>
            <a:fillRect/>
          </a:stretch>
        </p:blipFill>
        <p:spPr>
          <a:xfrm>
            <a:off x="4973320" y="1866900"/>
            <a:ext cx="3566160" cy="2754630"/>
          </a:xfrm>
          <a:prstGeom prst="rect">
            <a:avLst/>
          </a:prstGeom>
          <a:ln>
            <a:noFill/>
          </a:ln>
        </p:spPr>
      </p:pic>
      <p:sp>
        <p:nvSpPr>
          <p:cNvPr id="18" name="文本框 17"/>
          <p:cNvSpPr txBox="1"/>
          <p:nvPr/>
        </p:nvSpPr>
        <p:spPr>
          <a:xfrm>
            <a:off x="4809490" y="0"/>
            <a:ext cx="7376160" cy="1791970"/>
          </a:xfrm>
          <a:prstGeom prst="rect">
            <a:avLst/>
          </a:prstGeom>
          <a:solidFill>
            <a:schemeClr val="accent1"/>
          </a:solidFill>
          <a:ln>
            <a:solidFill>
              <a:schemeClr val="tx1"/>
            </a:solidFill>
          </a:ln>
        </p:spPr>
        <p:txBody>
          <a:bodyPr wrap="square" rtlCol="0">
            <a:noAutofit/>
          </a:bodyPr>
          <a:p>
            <a:pPr>
              <a:lnSpc>
                <a:spcPct val="170000"/>
              </a:lnSpc>
            </a:pPr>
            <a:r>
              <a:rPr lang="en-US" altLang="zh-CN" sz="1400" dirty="0" smtClean="0">
                <a:latin typeface="+mn-ea"/>
                <a:cs typeface="+mn-ea"/>
                <a:sym typeface="+mn-ea"/>
              </a:rPr>
              <a:t> </a:t>
            </a:r>
            <a:r>
              <a:rPr lang="en-US" altLang="zh-CN" sz="1400" b="1" dirty="0" smtClean="0">
                <a:solidFill>
                  <a:schemeClr val="bg1"/>
                </a:solidFill>
                <a:latin typeface="+mn-ea"/>
                <a:cs typeface="+mn-ea"/>
                <a:sym typeface="+mn-ea"/>
              </a:rPr>
              <a:t>     </a:t>
            </a:r>
            <a:r>
              <a:rPr lang="zh-CN" altLang="en-US" sz="1400" b="1" dirty="0" smtClean="0">
                <a:solidFill>
                  <a:schemeClr val="bg1"/>
                </a:solidFill>
                <a:latin typeface="+mn-ea"/>
                <a:cs typeface="+mn-ea"/>
                <a:sym typeface="+mn-ea"/>
              </a:rPr>
              <a:t>面向对象方法把对象作为由数据及可以施加在这些数据上的操作所构成的</a:t>
            </a:r>
            <a:r>
              <a:rPr lang="zh-CN" altLang="en-US" sz="1400" b="1" dirty="0" smtClean="0">
                <a:solidFill>
                  <a:srgbClr val="FFC000"/>
                </a:solidFill>
                <a:latin typeface="+mn-ea"/>
                <a:cs typeface="+mn-ea"/>
                <a:sym typeface="+mn-ea"/>
              </a:rPr>
              <a:t>统一体</a:t>
            </a:r>
            <a:r>
              <a:rPr lang="zh-CN" altLang="en-US" sz="1400" b="1" dirty="0" smtClean="0">
                <a:solidFill>
                  <a:schemeClr val="bg1"/>
                </a:solidFill>
                <a:latin typeface="+mn-ea"/>
                <a:cs typeface="+mn-ea"/>
                <a:sym typeface="+mn-ea"/>
              </a:rPr>
              <a:t>。对象与传统的数据有本质区别，它不是被动地等待外界对它施加操作，相反，它是进行处理的主体。必须发消息</a:t>
            </a:r>
            <a:r>
              <a:rPr lang="zh-CN" altLang="en-US" sz="1400" b="1" dirty="0" smtClean="0">
                <a:solidFill>
                  <a:srgbClr val="FF0000"/>
                </a:solidFill>
                <a:latin typeface="+mn-ea"/>
                <a:cs typeface="+mn-ea"/>
                <a:sym typeface="+mn-ea"/>
              </a:rPr>
              <a:t>请求对象主动地执行</a:t>
            </a:r>
            <a:r>
              <a:rPr lang="zh-CN" altLang="en-US" sz="1400" b="1" dirty="0" smtClean="0">
                <a:solidFill>
                  <a:schemeClr val="bg1"/>
                </a:solidFill>
                <a:latin typeface="+mn-ea"/>
                <a:cs typeface="+mn-ea"/>
                <a:sym typeface="+mn-ea"/>
              </a:rPr>
              <a:t>它的某些操作，处理它的私有数据，而</a:t>
            </a:r>
            <a:r>
              <a:rPr lang="zh-CN" altLang="en-US" sz="1400" b="1" dirty="0" smtClean="0">
                <a:solidFill>
                  <a:srgbClr val="FFFF00"/>
                </a:solidFill>
                <a:latin typeface="+mn-ea"/>
                <a:cs typeface="+mn-ea"/>
                <a:sym typeface="+mn-ea"/>
              </a:rPr>
              <a:t>不能从外界直接对它的私有数据进行操作。</a:t>
            </a:r>
            <a:endParaRPr lang="zh-CN" altLang="en-US" sz="1400" dirty="0" smtClean="0">
              <a:solidFill>
                <a:srgbClr val="FFFF00"/>
              </a:solidFill>
              <a:latin typeface="+mn-ea"/>
              <a:cs typeface="+mn-ea"/>
              <a:sym typeface="+mn-ea"/>
            </a:endParaRPr>
          </a:p>
          <a:p>
            <a:endParaRPr lang="zh-CN" altLang="en-US" sz="1400" dirty="0" smtClean="0">
              <a:solidFill>
                <a:srgbClr val="FFFF00"/>
              </a:solidFill>
              <a:latin typeface="+mn-ea"/>
              <a:cs typeface="+mn-ea"/>
              <a:sym typeface="+mn-ea"/>
            </a:endParaRPr>
          </a:p>
        </p:txBody>
      </p:sp>
      <p:sp>
        <p:nvSpPr>
          <p:cNvPr id="26" name="文本框 25"/>
          <p:cNvSpPr txBox="1"/>
          <p:nvPr/>
        </p:nvSpPr>
        <p:spPr>
          <a:xfrm>
            <a:off x="4809490" y="4695825"/>
            <a:ext cx="7394575" cy="2162175"/>
          </a:xfrm>
          <a:prstGeom prst="rect">
            <a:avLst/>
          </a:prstGeom>
          <a:solidFill>
            <a:schemeClr val="accent1"/>
          </a:solidFill>
          <a:ln>
            <a:solidFill>
              <a:schemeClr val="tx1"/>
            </a:solidFill>
          </a:ln>
        </p:spPr>
        <p:txBody>
          <a:bodyPr wrap="square" rtlCol="0">
            <a:noAutofit/>
          </a:bodyPr>
          <a:p>
            <a:pPr algn="l">
              <a:lnSpc>
                <a:spcPct val="170000"/>
              </a:lnSpc>
              <a:buClrTx/>
              <a:buSzTx/>
              <a:buFontTx/>
            </a:pPr>
            <a:r>
              <a:rPr lang="en-US" altLang="zh-CN" sz="1400" b="1" dirty="0" smtClean="0">
                <a:solidFill>
                  <a:schemeClr val="bg1"/>
                </a:solidFill>
                <a:latin typeface="+mn-ea"/>
                <a:cs typeface="+mn-ea"/>
              </a:rPr>
              <a:t>     </a:t>
            </a:r>
            <a:r>
              <a:rPr lang="zh-CN" altLang="en-US" sz="1400" b="1" dirty="0" smtClean="0">
                <a:solidFill>
                  <a:schemeClr val="bg1"/>
                </a:solidFill>
                <a:latin typeface="+mn-ea"/>
                <a:cs typeface="+mn-ea"/>
              </a:rPr>
              <a:t>面向对象方法学让开发者自己定义或选取解空间对象，把软件系统作为一系列离散的解空间集合。这些解空间对象彼此间通过发送消息而相互作用，从而得出问题的解。</a:t>
            </a:r>
            <a:endParaRPr lang="zh-CN" altLang="en-US" sz="1400" b="1" dirty="0" smtClean="0">
              <a:solidFill>
                <a:schemeClr val="bg1"/>
              </a:solidFill>
              <a:latin typeface="+mn-ea"/>
              <a:cs typeface="+mn-ea"/>
            </a:endParaRPr>
          </a:p>
          <a:p>
            <a:pPr algn="l">
              <a:lnSpc>
                <a:spcPct val="170000"/>
              </a:lnSpc>
              <a:buClrTx/>
              <a:buSzTx/>
              <a:buFontTx/>
            </a:pPr>
            <a:r>
              <a:rPr lang="en-US" altLang="zh-CN" sz="1400" b="1" dirty="0" smtClean="0">
                <a:solidFill>
                  <a:srgbClr val="FF0000"/>
                </a:solidFill>
                <a:latin typeface="+mn-ea"/>
                <a:cs typeface="+mn-ea"/>
              </a:rPr>
              <a:t>     </a:t>
            </a:r>
            <a:r>
              <a:rPr lang="zh-CN" altLang="en-US" sz="1400" b="1" dirty="0" smtClean="0">
                <a:solidFill>
                  <a:srgbClr val="FF0000"/>
                </a:solidFill>
                <a:latin typeface="+mn-ea"/>
                <a:cs typeface="+mn-ea"/>
              </a:rPr>
              <a:t>面向对象的方法是一种新的思维方法，</a:t>
            </a:r>
            <a:r>
              <a:rPr lang="zh-CN" altLang="en-US" sz="1400" b="1" dirty="0" smtClean="0">
                <a:solidFill>
                  <a:schemeClr val="bg1"/>
                </a:solidFill>
                <a:latin typeface="+mn-ea"/>
                <a:cs typeface="+mn-ea"/>
              </a:rPr>
              <a:t>它不是把程序看做是工作在数据上的一些列工程或函数的集合，而是相互协作又彼此独立的对象的集合，每个对象都想一个微型程序，有自己的</a:t>
            </a:r>
            <a:r>
              <a:rPr lang="zh-CN" altLang="en-US" sz="1400" b="1" dirty="0" smtClean="0">
                <a:solidFill>
                  <a:srgbClr val="FFFF00"/>
                </a:solidFill>
                <a:latin typeface="+mn-ea"/>
                <a:cs typeface="+mn-ea"/>
              </a:rPr>
              <a:t>数据、操作、功能和目的</a:t>
            </a:r>
            <a:r>
              <a:rPr lang="zh-CN" altLang="en-US" sz="1400" b="1" dirty="0" smtClean="0">
                <a:solidFill>
                  <a:schemeClr val="bg1"/>
                </a:solidFill>
                <a:latin typeface="+mn-ea"/>
                <a:cs typeface="+mn-ea"/>
              </a:rPr>
              <a:t>。</a:t>
            </a:r>
            <a:endParaRPr lang="zh-CN" altLang="en-US" sz="1400" b="1" dirty="0" smtClean="0">
              <a:solidFill>
                <a:schemeClr val="bg1"/>
              </a:solidFill>
              <a:latin typeface="+mn-ea"/>
              <a:cs typeface="+mn-ea"/>
            </a:endParaRPr>
          </a:p>
        </p:txBody>
      </p:sp>
      <p:pic>
        <p:nvPicPr>
          <p:cNvPr id="30" name="图片 29"/>
          <p:cNvPicPr>
            <a:picLocks noChangeAspect="1"/>
          </p:cNvPicPr>
          <p:nvPr/>
        </p:nvPicPr>
        <p:blipFill>
          <a:blip r:embed="rId5"/>
          <a:stretch>
            <a:fillRect/>
          </a:stretch>
        </p:blipFill>
        <p:spPr>
          <a:xfrm>
            <a:off x="8924290" y="1827530"/>
            <a:ext cx="2831465" cy="2758440"/>
          </a:xfrm>
          <a:prstGeom prst="rect">
            <a:avLst/>
          </a:prstGeom>
        </p:spPr>
      </p:pic>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10774045" y="247015"/>
            <a:ext cx="1265555" cy="1174115"/>
          </a:xfrm>
          <a:prstGeom prst="rect">
            <a:avLst/>
          </a:prstGeom>
          <a:solidFill>
            <a:schemeClr val="bg1"/>
          </a:solidFill>
        </p:spPr>
        <p:txBody>
          <a:bodyPr wrap="square" rtlCol="0">
            <a:noAutofit/>
          </a:bodyPr>
          <a:p>
            <a:endParaRPr lang="zh-CN" altLang="en-US"/>
          </a:p>
        </p:txBody>
      </p:sp>
      <p:sp>
        <p:nvSpPr>
          <p:cNvPr id="5" name="文本框 4"/>
          <p:cNvSpPr txBox="1"/>
          <p:nvPr/>
        </p:nvSpPr>
        <p:spPr>
          <a:xfrm>
            <a:off x="186690" y="5527675"/>
            <a:ext cx="1054100" cy="1010285"/>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8" name="文本框 7"/>
          <p:cNvSpPr txBox="1"/>
          <p:nvPr/>
        </p:nvSpPr>
        <p:spPr>
          <a:xfrm>
            <a:off x="297815" y="451485"/>
            <a:ext cx="5340985" cy="2713355"/>
          </a:xfrm>
          <a:prstGeom prst="rect">
            <a:avLst/>
          </a:prstGeom>
          <a:solidFill>
            <a:schemeClr val="bg2"/>
          </a:solidFill>
        </p:spPr>
        <p:txBody>
          <a:bodyPr wrap="square" rtlCol="0">
            <a:noAutofit/>
          </a:bodyPr>
          <a:p>
            <a:pPr marL="342900" indent="-342900" algn="l" eaLnBrk="1" hangingPunct="1">
              <a:lnSpc>
                <a:spcPct val="170000"/>
              </a:lnSpc>
              <a:buClrTx/>
              <a:buSzTx/>
              <a:buFont typeface="+mj-ea"/>
              <a:buAutoNum type="circleNumDbPlain"/>
              <a:defRPr/>
            </a:pPr>
            <a:r>
              <a:rPr lang="zh-CN" altLang="en-US" sz="1200" b="1" dirty="0" smtClean="0">
                <a:solidFill>
                  <a:schemeClr val="tx1"/>
                </a:solidFill>
                <a:latin typeface="+mn-ea"/>
                <a:cs typeface="+mn-ea"/>
                <a:sym typeface="+mn-ea"/>
              </a:rPr>
              <a:t>面向对象的软件系统是由</a:t>
            </a:r>
            <a:r>
              <a:rPr lang="zh-CN" altLang="en-US" sz="1200" b="1" dirty="0" smtClean="0">
                <a:solidFill>
                  <a:srgbClr val="FF0000"/>
                </a:solidFill>
                <a:latin typeface="+mn-ea"/>
                <a:cs typeface="+mn-ea"/>
                <a:sym typeface="+mn-ea"/>
              </a:rPr>
              <a:t>对象</a:t>
            </a:r>
            <a:r>
              <a:rPr lang="zh-CN" altLang="en-US" sz="1200" b="1" dirty="0" smtClean="0">
                <a:solidFill>
                  <a:schemeClr val="tx1"/>
                </a:solidFill>
                <a:latin typeface="+mn-ea"/>
                <a:cs typeface="+mn-ea"/>
                <a:sym typeface="+mn-ea"/>
              </a:rPr>
              <a:t>组成的，软件中的任何元素都是对象，复杂的软件对象由比较简单的对象组合而成。面向对象的方法用</a:t>
            </a:r>
            <a:r>
              <a:rPr lang="en-US" altLang="zh-CN" sz="1200" b="1" dirty="0" smtClean="0">
                <a:solidFill>
                  <a:schemeClr val="tx1"/>
                </a:solidFill>
                <a:latin typeface="+mn-ea"/>
                <a:cs typeface="+mn-ea"/>
                <a:sym typeface="+mn-ea"/>
              </a:rPr>
              <a:t>“</a:t>
            </a:r>
            <a:r>
              <a:rPr lang="zh-CN" altLang="en-US" sz="1200" b="1" dirty="0" smtClean="0">
                <a:solidFill>
                  <a:schemeClr val="tx1"/>
                </a:solidFill>
                <a:latin typeface="+mn-ea"/>
                <a:cs typeface="+mn-ea"/>
                <a:sym typeface="+mn-ea"/>
              </a:rPr>
              <a:t>对象分解</a:t>
            </a:r>
            <a:r>
              <a:rPr lang="en-US" altLang="zh-CN" sz="1200" b="1" dirty="0" smtClean="0">
                <a:solidFill>
                  <a:schemeClr val="tx1"/>
                </a:solidFill>
                <a:latin typeface="+mn-ea"/>
                <a:cs typeface="+mn-ea"/>
                <a:sym typeface="+mn-ea"/>
              </a:rPr>
              <a:t>”</a:t>
            </a:r>
            <a:r>
              <a:rPr lang="zh-CN" altLang="en-US" sz="1200" b="1" dirty="0" smtClean="0">
                <a:solidFill>
                  <a:schemeClr val="tx1"/>
                </a:solidFill>
                <a:latin typeface="+mn-ea"/>
                <a:cs typeface="+mn-ea"/>
                <a:sym typeface="+mn-ea"/>
              </a:rPr>
              <a:t>取代了传统的</a:t>
            </a:r>
            <a:r>
              <a:rPr lang="en-US" altLang="zh-CN" sz="1200" b="1" dirty="0" smtClean="0">
                <a:solidFill>
                  <a:schemeClr val="tx1"/>
                </a:solidFill>
                <a:latin typeface="+mn-ea"/>
                <a:cs typeface="+mn-ea"/>
                <a:sym typeface="+mn-ea"/>
              </a:rPr>
              <a:t>“</a:t>
            </a:r>
            <a:r>
              <a:rPr lang="zh-CN" altLang="en-US" sz="1200" b="1" dirty="0" smtClean="0">
                <a:solidFill>
                  <a:schemeClr val="tx1"/>
                </a:solidFill>
                <a:latin typeface="+mn-ea"/>
                <a:cs typeface="+mn-ea"/>
                <a:sym typeface="+mn-ea"/>
              </a:rPr>
              <a:t>功能分解</a:t>
            </a:r>
            <a:r>
              <a:rPr lang="en-US" altLang="zh-CN" sz="1200" b="1" dirty="0" smtClean="0">
                <a:solidFill>
                  <a:schemeClr val="tx1"/>
                </a:solidFill>
                <a:latin typeface="+mn-ea"/>
                <a:cs typeface="+mn-ea"/>
                <a:sym typeface="+mn-ea"/>
              </a:rPr>
              <a:t>”</a:t>
            </a:r>
            <a:r>
              <a:rPr lang="zh-CN" altLang="en-US" sz="1200" b="1" dirty="0" smtClean="0">
                <a:solidFill>
                  <a:schemeClr val="tx1"/>
                </a:solidFill>
                <a:latin typeface="+mn-ea"/>
                <a:cs typeface="+mn-ea"/>
                <a:sym typeface="+mn-ea"/>
              </a:rPr>
              <a:t>。</a:t>
            </a:r>
            <a:endParaRPr lang="zh-CN" altLang="en-US" sz="1200" b="1" dirty="0" smtClean="0">
              <a:solidFill>
                <a:schemeClr val="tx1"/>
              </a:solidFill>
              <a:latin typeface="+mn-ea"/>
              <a:ea typeface="+mn-ea"/>
              <a:cs typeface="+mn-ea"/>
            </a:endParaRPr>
          </a:p>
          <a:p>
            <a:pPr marL="342900" indent="-342900" algn="l">
              <a:lnSpc>
                <a:spcPct val="170000"/>
              </a:lnSpc>
              <a:buClrTx/>
              <a:buSzTx/>
              <a:buFont typeface="+mj-ea"/>
              <a:buAutoNum type="circleNumDbPlain"/>
              <a:defRPr/>
            </a:pPr>
            <a:r>
              <a:rPr lang="zh-CN" altLang="en-US" sz="1200" b="1" dirty="0" smtClean="0">
                <a:solidFill>
                  <a:schemeClr val="tx1"/>
                </a:solidFill>
                <a:latin typeface="+mn-ea"/>
                <a:cs typeface="+mn-ea"/>
                <a:sym typeface="+mn-ea"/>
              </a:rPr>
              <a:t>把所有对象都划分成各种</a:t>
            </a:r>
            <a:r>
              <a:rPr lang="zh-CN" altLang="en-US" sz="1200" b="1" dirty="0" smtClean="0">
                <a:solidFill>
                  <a:srgbClr val="FF0000"/>
                </a:solidFill>
                <a:latin typeface="+mn-ea"/>
                <a:cs typeface="+mn-ea"/>
                <a:sym typeface="+mn-ea"/>
              </a:rPr>
              <a:t>对象类</a:t>
            </a:r>
            <a:r>
              <a:rPr lang="zh-CN" altLang="en-US" sz="1200" b="1" dirty="0" smtClean="0">
                <a:solidFill>
                  <a:schemeClr val="tx1"/>
                </a:solidFill>
                <a:latin typeface="+mn-ea"/>
                <a:cs typeface="+mn-ea"/>
                <a:sym typeface="+mn-ea"/>
              </a:rPr>
              <a:t>（简称为类，class），每个对象类都定义了一组数据和一组方法。</a:t>
            </a:r>
            <a:r>
              <a:rPr lang="zh-CN" altLang="en-US" sz="1200" b="1" dirty="0" smtClean="0">
                <a:solidFill>
                  <a:srgbClr val="00B0F0"/>
                </a:solidFill>
                <a:latin typeface="+mn-ea"/>
                <a:cs typeface="+mn-ea"/>
                <a:sym typeface="+mn-ea"/>
              </a:rPr>
              <a:t>数据用于表示对象的静态属性</a:t>
            </a:r>
            <a:r>
              <a:rPr lang="zh-CN" altLang="en-US" sz="1200" b="1" dirty="0" smtClean="0">
                <a:solidFill>
                  <a:schemeClr val="tx1"/>
                </a:solidFill>
                <a:latin typeface="+mn-ea"/>
                <a:cs typeface="+mn-ea"/>
                <a:sym typeface="+mn-ea"/>
              </a:rPr>
              <a:t>，是对象的状态信息。</a:t>
            </a:r>
            <a:r>
              <a:rPr lang="zh-CN" altLang="en-US" sz="1200" b="1" dirty="0" smtClean="0">
                <a:solidFill>
                  <a:srgbClr val="00B0F0"/>
                </a:solidFill>
                <a:latin typeface="+mn-ea"/>
                <a:cs typeface="+mn-ea"/>
                <a:sym typeface="+mn-ea"/>
              </a:rPr>
              <a:t>方法是允许施加于该类对象上的操作</a:t>
            </a:r>
            <a:r>
              <a:rPr lang="zh-CN" altLang="en-US" sz="1200" b="1" dirty="0" smtClean="0">
                <a:solidFill>
                  <a:schemeClr val="tx1"/>
                </a:solidFill>
                <a:latin typeface="+mn-ea"/>
                <a:cs typeface="+mn-ea"/>
                <a:sym typeface="+mn-ea"/>
              </a:rPr>
              <a:t>，</a:t>
            </a:r>
            <a:r>
              <a:rPr lang="zh-CN" altLang="en-US" sz="1200" b="1" dirty="0" smtClean="0">
                <a:solidFill>
                  <a:srgbClr val="FF0000"/>
                </a:solidFill>
                <a:highlight>
                  <a:srgbClr val="FFFF00"/>
                </a:highlight>
                <a:latin typeface="+mn-ea"/>
                <a:cs typeface="+mn-ea"/>
                <a:sym typeface="+mn-ea"/>
              </a:rPr>
              <a:t>该类对象共享</a:t>
            </a:r>
            <a:r>
              <a:rPr lang="zh-CN" altLang="en-US" sz="1200" b="1" dirty="0" smtClean="0">
                <a:solidFill>
                  <a:schemeClr val="tx1"/>
                </a:solidFill>
                <a:latin typeface="+mn-ea"/>
                <a:cs typeface="+mn-ea"/>
                <a:sym typeface="+mn-ea"/>
              </a:rPr>
              <a:t>。</a:t>
            </a:r>
            <a:endParaRPr lang="zh-CN" altLang="en-US" sz="1200" b="1" dirty="0" smtClean="0">
              <a:solidFill>
                <a:schemeClr val="tx1"/>
              </a:solidFill>
              <a:latin typeface="+mn-ea"/>
              <a:ea typeface="+mn-ea"/>
              <a:cs typeface="+mn-ea"/>
            </a:endParaRPr>
          </a:p>
          <a:p>
            <a:pPr marL="342900" indent="-342900" algn="l">
              <a:lnSpc>
                <a:spcPct val="170000"/>
              </a:lnSpc>
              <a:buClrTx/>
              <a:buSzTx/>
              <a:buFont typeface="+mj-ea"/>
              <a:buAutoNum type="circleNumDbPlain"/>
              <a:defRPr/>
            </a:pPr>
            <a:r>
              <a:rPr lang="zh-CN" altLang="en-US" sz="1200" b="1" dirty="0" smtClean="0">
                <a:solidFill>
                  <a:schemeClr val="tx1"/>
                </a:solidFill>
                <a:latin typeface="+mn-ea"/>
                <a:cs typeface="+mn-ea"/>
                <a:sym typeface="+mn-ea"/>
              </a:rPr>
              <a:t>按照子类（或派生类）与父类（或基类）的关系，把若干个对象类组成一个层次结构的系统（也称为类等级）。</a:t>
            </a:r>
            <a:endParaRPr lang="zh-CN" altLang="en-US" sz="1200" b="1" dirty="0" smtClean="0">
              <a:solidFill>
                <a:schemeClr val="tx1"/>
              </a:solidFill>
              <a:latin typeface="+mn-ea"/>
              <a:ea typeface="+mn-ea"/>
              <a:cs typeface="+mn-ea"/>
            </a:endParaRPr>
          </a:p>
          <a:p>
            <a:pPr marL="342900" indent="-342900" algn="l">
              <a:lnSpc>
                <a:spcPct val="170000"/>
              </a:lnSpc>
              <a:buClrTx/>
              <a:buSzTx/>
              <a:buFont typeface="+mj-ea"/>
              <a:buAutoNum type="circleNumDbPlain"/>
              <a:defRPr/>
            </a:pPr>
            <a:r>
              <a:rPr lang="zh-CN" altLang="en-US" sz="1200" b="1" dirty="0" smtClean="0">
                <a:solidFill>
                  <a:schemeClr val="tx1"/>
                </a:solidFill>
                <a:latin typeface="+mn-ea"/>
                <a:cs typeface="+mn-ea"/>
                <a:sym typeface="+mn-ea"/>
              </a:rPr>
              <a:t>对象彼此之间仅能通过</a:t>
            </a:r>
            <a:r>
              <a:rPr lang="zh-CN" altLang="en-US" sz="1200" b="1" dirty="0" smtClean="0">
                <a:solidFill>
                  <a:srgbClr val="FF0000"/>
                </a:solidFill>
                <a:highlight>
                  <a:srgbClr val="FFFF00"/>
                </a:highlight>
                <a:latin typeface="+mn-ea"/>
                <a:cs typeface="+mn-ea"/>
                <a:sym typeface="+mn-ea"/>
              </a:rPr>
              <a:t>传递消息</a:t>
            </a:r>
            <a:r>
              <a:rPr lang="zh-CN" altLang="en-US" sz="1200" b="1" dirty="0" smtClean="0">
                <a:solidFill>
                  <a:schemeClr val="tx1"/>
                </a:solidFill>
                <a:latin typeface="+mn-ea"/>
                <a:cs typeface="+mn-ea"/>
                <a:sym typeface="+mn-ea"/>
              </a:rPr>
              <a:t>互相联系。</a:t>
            </a:r>
            <a:endParaRPr lang="zh-CN" altLang="en-US" sz="1200" b="1" dirty="0" smtClean="0">
              <a:solidFill>
                <a:schemeClr val="tx1"/>
              </a:solidFill>
              <a:latin typeface="+mn-ea"/>
              <a:ea typeface="+mn-ea"/>
              <a:cs typeface="+mn-ea"/>
            </a:endParaRPr>
          </a:p>
          <a:p>
            <a:pPr marL="228600" indent="-228600" algn="l">
              <a:lnSpc>
                <a:spcPct val="170000"/>
              </a:lnSpc>
              <a:spcBef>
                <a:spcPts val="0"/>
              </a:spcBef>
              <a:spcAft>
                <a:spcPts val="1000"/>
              </a:spcAft>
              <a:buClrTx/>
              <a:buSzTx/>
              <a:buFont typeface="+mj-ea"/>
              <a:buAutoNum type="circleNumDbPlain"/>
            </a:pPr>
            <a:endParaRPr lang="zh-CN" altLang="en-US" sz="1200" b="1" dirty="0">
              <a:latin typeface="Bodoni MT Black" panose="02070A03080606020203" pitchFamily="18" charset="0"/>
            </a:endParaRPr>
          </a:p>
          <a:p>
            <a:endParaRPr lang="zh-CN" altLang="en-US" sz="1200" b="1"/>
          </a:p>
        </p:txBody>
      </p:sp>
      <p:pic>
        <p:nvPicPr>
          <p:cNvPr id="4" name="内容占位符 3"/>
          <p:cNvPicPr>
            <a:picLocks noChangeAspect="1"/>
          </p:cNvPicPr>
          <p:nvPr>
            <p:ph sz="quarter" idx="13"/>
          </p:nvPr>
        </p:nvPicPr>
        <p:blipFill>
          <a:blip r:embed="rId1"/>
          <a:srcRect t="8093"/>
          <a:stretch>
            <a:fillRect/>
          </a:stretch>
        </p:blipFill>
        <p:spPr>
          <a:xfrm>
            <a:off x="890905" y="3415665"/>
            <a:ext cx="4281170" cy="2264410"/>
          </a:xfrm>
          <a:prstGeom prst="rect">
            <a:avLst/>
          </a:prstGeom>
        </p:spPr>
      </p:pic>
      <p:sp>
        <p:nvSpPr>
          <p:cNvPr id="3" name="文本框 2"/>
          <p:cNvSpPr txBox="1"/>
          <p:nvPr/>
        </p:nvSpPr>
        <p:spPr>
          <a:xfrm>
            <a:off x="273050" y="5760085"/>
            <a:ext cx="5467985" cy="736600"/>
          </a:xfrm>
          <a:prstGeom prst="rect">
            <a:avLst/>
          </a:prstGeom>
          <a:solidFill>
            <a:schemeClr val="accent5"/>
          </a:solidFill>
          <a:ln w="25400">
            <a:solidFill>
              <a:srgbClr val="C00000"/>
            </a:solidFill>
          </a:ln>
        </p:spPr>
        <p:txBody>
          <a:bodyPr>
            <a:noAutofit/>
          </a:bodyPr>
          <a:p>
            <a:pPr algn="l" fontAlgn="auto">
              <a:lnSpc>
                <a:spcPct val="130000"/>
              </a:lnSpc>
              <a:buClrTx/>
              <a:buSzTx/>
              <a:buFontTx/>
            </a:pPr>
            <a:r>
              <a:rPr lang="zh-CN" altLang="en-US" sz="1000" b="1" dirty="0">
                <a:solidFill>
                  <a:schemeClr val="bg1"/>
                </a:solidFill>
                <a:latin typeface="+mn-ea"/>
                <a:cs typeface="+mn-ea"/>
              </a:rPr>
              <a:t> 面向对象的方法学可以用下列方程来概括：</a:t>
            </a:r>
            <a:endParaRPr lang="zh-CN" altLang="en-US" sz="1000" b="1" dirty="0">
              <a:solidFill>
                <a:schemeClr val="bg1"/>
              </a:solidFill>
              <a:latin typeface="+mn-ea"/>
              <a:cs typeface="+mn-ea"/>
            </a:endParaRPr>
          </a:p>
          <a:p>
            <a:pPr algn="ctr" fontAlgn="auto">
              <a:lnSpc>
                <a:spcPct val="130000"/>
              </a:lnSpc>
              <a:buClrTx/>
              <a:buSzTx/>
              <a:buFontTx/>
            </a:pPr>
            <a:r>
              <a:rPr lang="zh-CN" altLang="en-US" sz="1000" b="1" dirty="0">
                <a:solidFill>
                  <a:srgbClr val="FFFF00"/>
                </a:solidFill>
                <a:latin typeface="+mn-ea"/>
                <a:cs typeface="+mn-ea"/>
              </a:rPr>
              <a:t>OO=objects+classes+inheritance+communication with messages</a:t>
            </a:r>
            <a:endParaRPr lang="zh-CN" altLang="en-US" sz="1000" b="1" dirty="0">
              <a:solidFill>
                <a:srgbClr val="FFFF00"/>
              </a:solidFill>
              <a:latin typeface="+mn-ea"/>
              <a:cs typeface="+mn-ea"/>
            </a:endParaRPr>
          </a:p>
          <a:p>
            <a:pPr algn="l" fontAlgn="auto">
              <a:lnSpc>
                <a:spcPct val="130000"/>
              </a:lnSpc>
              <a:buClrTx/>
              <a:buSzTx/>
              <a:buFontTx/>
            </a:pPr>
            <a:r>
              <a:rPr lang="zh-CN" altLang="en-US" sz="1000" b="1" dirty="0">
                <a:solidFill>
                  <a:schemeClr val="bg1"/>
                </a:solidFill>
                <a:latin typeface="+mn-ea"/>
                <a:cs typeface="+mn-ea"/>
              </a:rPr>
              <a:t>既使用对象又使用类和继承等机制，且对象之间仅能通过传递消息实现彼此通信。</a:t>
            </a:r>
            <a:endParaRPr lang="zh-CN" altLang="en-US" sz="1000" b="1" dirty="0">
              <a:solidFill>
                <a:schemeClr val="bg1"/>
              </a:solidFill>
              <a:latin typeface="+mn-ea"/>
              <a:cs typeface="+mn-ea"/>
            </a:endParaRPr>
          </a:p>
        </p:txBody>
      </p:sp>
      <p:sp>
        <p:nvSpPr>
          <p:cNvPr id="7" name="文本框 6"/>
          <p:cNvSpPr txBox="1"/>
          <p:nvPr/>
        </p:nvSpPr>
        <p:spPr>
          <a:xfrm>
            <a:off x="0" y="-635"/>
            <a:ext cx="591947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sz="1400" b="1">
                <a:solidFill>
                  <a:schemeClr val="bg2"/>
                </a:solidFill>
                <a:sym typeface="+mn-ea"/>
              </a:rPr>
              <a:t>面向对象方法的4个要点</a:t>
            </a:r>
            <a:endParaRPr lang="zh-CN" altLang="en-US" sz="1400" b="1">
              <a:solidFill>
                <a:schemeClr val="bg2"/>
              </a:solidFill>
            </a:endParaRPr>
          </a:p>
        </p:txBody>
      </p:sp>
      <p:sp>
        <p:nvSpPr>
          <p:cNvPr id="10" name="文本框 9"/>
          <p:cNvSpPr txBox="1"/>
          <p:nvPr/>
        </p:nvSpPr>
        <p:spPr>
          <a:xfrm>
            <a:off x="5956300" y="0"/>
            <a:ext cx="6235065"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sz="1400" b="1">
                <a:solidFill>
                  <a:schemeClr val="bg2"/>
                </a:solidFill>
                <a:sym typeface="+mn-ea"/>
              </a:rPr>
              <a:t>面向对象方法学的优点</a:t>
            </a:r>
            <a:endParaRPr lang="en-US" altLang="zh-CN" sz="1400" b="1">
              <a:solidFill>
                <a:schemeClr val="bg2"/>
              </a:solidFill>
              <a:sym typeface="+mn-ea"/>
            </a:endParaRPr>
          </a:p>
        </p:txBody>
      </p:sp>
      <p:sp>
        <p:nvSpPr>
          <p:cNvPr id="16" name="文本框 15"/>
          <p:cNvSpPr txBox="1"/>
          <p:nvPr/>
        </p:nvSpPr>
        <p:spPr>
          <a:xfrm>
            <a:off x="6104255" y="609600"/>
            <a:ext cx="2338705" cy="306705"/>
          </a:xfrm>
          <a:prstGeom prst="rect">
            <a:avLst/>
          </a:prstGeom>
          <a:noFill/>
        </p:spPr>
        <p:txBody>
          <a:bodyPr wrap="square" rtlCol="0">
            <a:spAutoFit/>
          </a:bodyPr>
          <a:p>
            <a:r>
              <a:rPr lang="zh-CN" altLang="en-US" sz="1400" b="1">
                <a:solidFill>
                  <a:srgbClr val="FF0000"/>
                </a:solidFill>
                <a:highlight>
                  <a:srgbClr val="00FFFF"/>
                </a:highlight>
              </a:rPr>
              <a:t>与人类习惯的思维方式一致</a:t>
            </a:r>
            <a:endParaRPr lang="zh-CN" altLang="en-US" sz="1400" b="1">
              <a:solidFill>
                <a:srgbClr val="FF0000"/>
              </a:solidFill>
              <a:highlight>
                <a:srgbClr val="00FFFF"/>
              </a:highlight>
            </a:endParaRPr>
          </a:p>
        </p:txBody>
      </p:sp>
      <p:sp>
        <p:nvSpPr>
          <p:cNvPr id="17" name="文本框 16"/>
          <p:cNvSpPr txBox="1"/>
          <p:nvPr/>
        </p:nvSpPr>
        <p:spPr>
          <a:xfrm>
            <a:off x="6104255" y="962660"/>
            <a:ext cx="5873115" cy="2527935"/>
          </a:xfrm>
          <a:prstGeom prst="rect">
            <a:avLst/>
          </a:prstGeom>
          <a:noFill/>
        </p:spPr>
        <p:txBody>
          <a:bodyPr wrap="square" rtlCol="0">
            <a:noAutofit/>
          </a:bodyPr>
          <a:p>
            <a:pPr indent="0" algn="l" eaLnBrk="1" hangingPunct="1">
              <a:lnSpc>
                <a:spcPct val="170000"/>
              </a:lnSpc>
              <a:buClrTx/>
              <a:buSzTx/>
              <a:buFont typeface="Arial" panose="020B0604020202020204" pitchFamily="34" charset="0"/>
              <a:buNone/>
              <a:defRPr/>
            </a:pPr>
            <a:r>
              <a:rPr lang="en-US" altLang="zh-CN" sz="1200" b="1" dirty="0" smtClean="0">
                <a:latin typeface="+mn-ea"/>
                <a:cs typeface="+mn-ea"/>
                <a:sym typeface="+mn-ea"/>
              </a:rPr>
              <a:t>     </a:t>
            </a:r>
            <a:r>
              <a:rPr lang="zh-CN" altLang="en-US" sz="1200" b="1" dirty="0" smtClean="0">
                <a:latin typeface="+mn-ea"/>
                <a:cs typeface="+mn-ea"/>
                <a:sym typeface="+mn-ea"/>
              </a:rPr>
              <a:t>人类在认识复杂世界时，本能地采用以下方式：</a:t>
            </a:r>
            <a:r>
              <a:rPr lang="zh-CN" altLang="en-US" sz="1200" b="1" dirty="0" smtClean="0">
                <a:solidFill>
                  <a:srgbClr val="00B0F0"/>
                </a:solidFill>
                <a:latin typeface="+mn-ea"/>
                <a:cs typeface="+mn-ea"/>
                <a:sym typeface="+mn-ea"/>
              </a:rPr>
              <a:t>分类归纳、对象识别、整体-部分关系、抽象与关注点分离、通过联系和互动</a:t>
            </a:r>
            <a:r>
              <a:rPr lang="zh-CN" altLang="en-US" sz="1200" b="1" dirty="0" smtClean="0">
                <a:latin typeface="+mn-ea"/>
                <a:cs typeface="+mn-ea"/>
                <a:sym typeface="+mn-ea"/>
              </a:rPr>
              <a:t>理解系统。OO的四大基本特性（或三大特性+基本思想）完美地模拟了上述认知过程：</a:t>
            </a:r>
            <a:endParaRPr lang="zh-CN" altLang="en-US" sz="1200" b="1" dirty="0" smtClean="0">
              <a:latin typeface="+mn-ea"/>
              <a:cs typeface="+mn-ea"/>
              <a:sym typeface="+mn-ea"/>
            </a:endParaRPr>
          </a:p>
          <a:p>
            <a:pPr marL="228600" lvl="0" indent="-228600" algn="l" eaLnBrk="1" hangingPunct="1">
              <a:lnSpc>
                <a:spcPct val="170000"/>
              </a:lnSpc>
              <a:buClrTx/>
              <a:buSzTx/>
              <a:buFont typeface="+mj-ea"/>
              <a:buAutoNum type="circleNumDbPlain"/>
              <a:defRPr/>
            </a:pPr>
            <a:r>
              <a:rPr lang="zh-CN" altLang="en-US" sz="1200" b="1" dirty="0" smtClean="0">
                <a:solidFill>
                  <a:srgbClr val="FF0000"/>
                </a:solidFill>
                <a:latin typeface="+mn-ea"/>
                <a:cs typeface="+mn-ea"/>
                <a:sym typeface="+mn-ea"/>
              </a:rPr>
              <a:t>对象与类 </a:t>
            </a:r>
            <a:r>
              <a:rPr lang="zh-CN" altLang="en-US" sz="1200" b="1" dirty="0" smtClean="0">
                <a:latin typeface="+mn-ea"/>
                <a:cs typeface="+mn-ea"/>
                <a:sym typeface="+mn-ea"/>
              </a:rPr>
              <a:t>—— 对应“分类与具体事物”</a:t>
            </a:r>
            <a:endParaRPr lang="zh-CN" altLang="en-US" sz="1200" b="1" dirty="0" smtClean="0">
              <a:latin typeface="+mn-ea"/>
              <a:cs typeface="+mn-ea"/>
              <a:sym typeface="+mn-ea"/>
            </a:endParaRPr>
          </a:p>
          <a:p>
            <a:pPr marL="228600" lvl="0" indent="-228600" algn="l" eaLnBrk="1" hangingPunct="1">
              <a:lnSpc>
                <a:spcPct val="170000"/>
              </a:lnSpc>
              <a:buClrTx/>
              <a:buSzTx/>
              <a:buFont typeface="+mj-ea"/>
              <a:buAutoNum type="circleNumDbPlain"/>
              <a:defRPr/>
            </a:pPr>
            <a:r>
              <a:rPr lang="zh-CN" altLang="en-US" sz="1200" b="1" dirty="0" smtClean="0">
                <a:solidFill>
                  <a:srgbClr val="FF0000"/>
                </a:solidFill>
                <a:latin typeface="+mn-ea"/>
                <a:cs typeface="+mn-ea"/>
                <a:sym typeface="+mn-ea"/>
              </a:rPr>
              <a:t>封装 </a:t>
            </a:r>
            <a:r>
              <a:rPr lang="zh-CN" altLang="en-US" sz="1200" b="1" dirty="0" smtClean="0">
                <a:latin typeface="+mn-ea"/>
                <a:cs typeface="+mn-ea"/>
                <a:sym typeface="+mn-ea"/>
              </a:rPr>
              <a:t>—— 对应“关注点分离”和“边界”</a:t>
            </a:r>
            <a:endParaRPr lang="zh-CN" altLang="en-US" sz="1200" b="1" dirty="0" smtClean="0">
              <a:latin typeface="+mn-ea"/>
              <a:cs typeface="+mn-ea"/>
              <a:sym typeface="+mn-ea"/>
            </a:endParaRPr>
          </a:p>
          <a:p>
            <a:pPr marL="228600" lvl="0" indent="-228600" algn="l" eaLnBrk="1" hangingPunct="1">
              <a:lnSpc>
                <a:spcPct val="170000"/>
              </a:lnSpc>
              <a:buClrTx/>
              <a:buSzTx/>
              <a:buFont typeface="+mj-ea"/>
              <a:buAutoNum type="circleNumDbPlain"/>
              <a:defRPr/>
            </a:pPr>
            <a:r>
              <a:rPr lang="zh-CN" altLang="en-US" sz="1200" b="1" dirty="0" smtClean="0">
                <a:solidFill>
                  <a:srgbClr val="FF0000"/>
                </a:solidFill>
                <a:latin typeface="+mn-ea"/>
                <a:cs typeface="+mn-ea"/>
                <a:sym typeface="+mn-ea"/>
              </a:rPr>
              <a:t>继承 </a:t>
            </a:r>
            <a:r>
              <a:rPr lang="zh-CN" altLang="en-US" sz="1200" b="1" dirty="0" smtClean="0">
                <a:latin typeface="+mn-ea"/>
                <a:cs typeface="+mn-ea"/>
                <a:sym typeface="+mn-ea"/>
              </a:rPr>
              <a:t>—— 对应“分类与泛化-特化”关系</a:t>
            </a:r>
            <a:endParaRPr lang="zh-CN" altLang="en-US" sz="1200" b="1" dirty="0" smtClean="0">
              <a:latin typeface="+mn-ea"/>
              <a:cs typeface="+mn-ea"/>
              <a:sym typeface="+mn-ea"/>
            </a:endParaRPr>
          </a:p>
          <a:p>
            <a:pPr marL="228600" lvl="0" indent="-228600" algn="l" eaLnBrk="1" hangingPunct="1">
              <a:lnSpc>
                <a:spcPct val="170000"/>
              </a:lnSpc>
              <a:buClrTx/>
              <a:buSzTx/>
              <a:buFont typeface="+mj-ea"/>
              <a:buAutoNum type="circleNumDbPlain"/>
              <a:defRPr/>
            </a:pPr>
            <a:r>
              <a:rPr lang="zh-CN" altLang="en-US" sz="1200" b="1" dirty="0" smtClean="0">
                <a:solidFill>
                  <a:srgbClr val="FF0000"/>
                </a:solidFill>
                <a:latin typeface="+mn-ea"/>
                <a:cs typeface="+mn-ea"/>
                <a:sym typeface="+mn-ea"/>
              </a:rPr>
              <a:t>多态 </a:t>
            </a:r>
            <a:r>
              <a:rPr lang="zh-CN" altLang="en-US" sz="1200" b="1" dirty="0" smtClean="0">
                <a:latin typeface="+mn-ea"/>
                <a:cs typeface="+mn-ea"/>
                <a:sym typeface="+mn-ea"/>
              </a:rPr>
              <a:t>—— 对应“同一接口，不同表现”</a:t>
            </a:r>
            <a:endParaRPr lang="zh-CN" altLang="en-US" sz="1200" b="1" dirty="0" smtClean="0">
              <a:latin typeface="+mn-ea"/>
              <a:cs typeface="+mn-ea"/>
              <a:sym typeface="+mn-ea"/>
            </a:endParaRPr>
          </a:p>
        </p:txBody>
      </p:sp>
      <p:pic>
        <p:nvPicPr>
          <p:cNvPr id="18" name="图片 17"/>
          <p:cNvPicPr>
            <a:picLocks noChangeAspect="1"/>
          </p:cNvPicPr>
          <p:nvPr/>
        </p:nvPicPr>
        <p:blipFill>
          <a:blip r:embed="rId2"/>
          <a:stretch>
            <a:fillRect/>
          </a:stretch>
        </p:blipFill>
        <p:spPr>
          <a:xfrm>
            <a:off x="6396355" y="3415665"/>
            <a:ext cx="2183765" cy="3303270"/>
          </a:xfrm>
          <a:prstGeom prst="rect">
            <a:avLst/>
          </a:prstGeom>
        </p:spPr>
      </p:pic>
      <p:pic>
        <p:nvPicPr>
          <p:cNvPr id="19" name="图片 18"/>
          <p:cNvPicPr>
            <a:picLocks noChangeAspect="1"/>
          </p:cNvPicPr>
          <p:nvPr/>
        </p:nvPicPr>
        <p:blipFill>
          <a:blip r:embed="rId3"/>
          <a:srcRect t="6574" b="5510"/>
          <a:stretch>
            <a:fillRect/>
          </a:stretch>
        </p:blipFill>
        <p:spPr>
          <a:xfrm>
            <a:off x="9500235" y="3415665"/>
            <a:ext cx="2249805" cy="3303270"/>
          </a:xfrm>
          <a:prstGeom prst="rect">
            <a:avLst/>
          </a:prstGeom>
        </p:spPr>
      </p:pic>
      <p:sp>
        <p:nvSpPr>
          <p:cNvPr id="20" name="右箭头 19"/>
          <p:cNvSpPr/>
          <p:nvPr/>
        </p:nvSpPr>
        <p:spPr>
          <a:xfrm>
            <a:off x="8648700" y="4824095"/>
            <a:ext cx="815975"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5" name="图片 34"/>
          <p:cNvPicPr>
            <a:picLocks noChangeAspect="1"/>
          </p:cNvPicPr>
          <p:nvPr/>
        </p:nvPicPr>
        <p:blipFill>
          <a:blip r:embed="rId1"/>
          <a:stretch>
            <a:fillRect/>
          </a:stretch>
        </p:blipFill>
        <p:spPr>
          <a:xfrm>
            <a:off x="6257290" y="4183380"/>
            <a:ext cx="5378450" cy="2437130"/>
          </a:xfrm>
          <a:prstGeom prst="rect">
            <a:avLst/>
          </a:prstGeom>
        </p:spPr>
      </p:pic>
      <p:sp>
        <p:nvSpPr>
          <p:cNvPr id="15" name="文本框 14"/>
          <p:cNvSpPr txBox="1"/>
          <p:nvPr/>
        </p:nvSpPr>
        <p:spPr>
          <a:xfrm>
            <a:off x="250190" y="5819775"/>
            <a:ext cx="1082675" cy="778510"/>
          </a:xfrm>
          <a:prstGeom prst="rect">
            <a:avLst/>
          </a:prstGeom>
          <a:solidFill>
            <a:schemeClr val="bg2"/>
          </a:solidFill>
        </p:spPr>
        <p:txBody>
          <a:bodyPr wrap="square" rtlCol="0">
            <a:noAutofit/>
          </a:bodyPr>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5630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面向对象方法学的优点</a:t>
            </a:r>
            <a:endParaRPr lang="zh-CN" altLang="en-US" b="1">
              <a:solidFill>
                <a:schemeClr val="bg2"/>
              </a:solidFill>
            </a:endParaRPr>
          </a:p>
        </p:txBody>
      </p:sp>
      <p:grpSp>
        <p:nvGrpSpPr>
          <p:cNvPr id="32" name="组合 31"/>
          <p:cNvGrpSpPr/>
          <p:nvPr/>
        </p:nvGrpSpPr>
        <p:grpSpPr>
          <a:xfrm>
            <a:off x="6017260" y="-10160"/>
            <a:ext cx="6174740" cy="1379220"/>
            <a:chOff x="9476" y="-16"/>
            <a:chExt cx="9724" cy="2172"/>
          </a:xfrm>
        </p:grpSpPr>
        <p:sp>
          <p:nvSpPr>
            <p:cNvPr id="31" name="文本框 30"/>
            <p:cNvSpPr txBox="1"/>
            <p:nvPr/>
          </p:nvSpPr>
          <p:spPr>
            <a:xfrm>
              <a:off x="17001" y="690"/>
              <a:ext cx="1969" cy="1466"/>
            </a:xfrm>
            <a:prstGeom prst="rect">
              <a:avLst/>
            </a:prstGeom>
            <a:solidFill>
              <a:schemeClr val="bg2"/>
            </a:solidFill>
          </p:spPr>
          <p:txBody>
            <a:bodyPr wrap="square" rtlCol="0">
              <a:noAutofit/>
            </a:bodyPr>
            <a:p>
              <a:endParaRPr lang="zh-CN" altLang="en-US"/>
            </a:p>
          </p:txBody>
        </p:sp>
        <p:sp>
          <p:nvSpPr>
            <p:cNvPr id="4" name="文本框 3"/>
            <p:cNvSpPr txBox="1"/>
            <p:nvPr/>
          </p:nvSpPr>
          <p:spPr>
            <a:xfrm>
              <a:off x="9476" y="-16"/>
              <a:ext cx="9724" cy="711"/>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en-US" altLang="zh-CN" b="1">
                  <a:solidFill>
                    <a:schemeClr val="bg2"/>
                  </a:solidFill>
                </a:rPr>
                <a:t> </a:t>
              </a:r>
              <a:r>
                <a:rPr lang="zh-CN" altLang="en-US" b="1">
                  <a:solidFill>
                    <a:schemeClr val="bg2"/>
                  </a:solidFill>
                  <a:sym typeface="+mn-ea"/>
                </a:rPr>
                <a:t>面向对象方法学的优点</a:t>
              </a:r>
              <a:endParaRPr lang="zh-CN" altLang="en-US" b="1">
                <a:solidFill>
                  <a:schemeClr val="bg2"/>
                </a:solidFill>
              </a:endParaRPr>
            </a:p>
          </p:txBody>
        </p:sp>
      </p:grpSp>
      <p:sp>
        <p:nvSpPr>
          <p:cNvPr id="16" name="文本框 15"/>
          <p:cNvSpPr txBox="1"/>
          <p:nvPr/>
        </p:nvSpPr>
        <p:spPr>
          <a:xfrm>
            <a:off x="250190" y="616585"/>
            <a:ext cx="2338705" cy="306705"/>
          </a:xfrm>
          <a:prstGeom prst="rect">
            <a:avLst/>
          </a:prstGeom>
          <a:noFill/>
        </p:spPr>
        <p:txBody>
          <a:bodyPr wrap="square" rtlCol="0">
            <a:spAutoFit/>
          </a:bodyPr>
          <a:p>
            <a:r>
              <a:rPr lang="zh-CN" altLang="en-US" sz="1400" b="1">
                <a:solidFill>
                  <a:srgbClr val="FF0000"/>
                </a:solidFill>
                <a:highlight>
                  <a:srgbClr val="00FFFF"/>
                </a:highlight>
              </a:rPr>
              <a:t>稳定性好</a:t>
            </a:r>
            <a:endParaRPr lang="zh-CN" altLang="en-US" sz="1400" b="1">
              <a:solidFill>
                <a:srgbClr val="FF0000"/>
              </a:solidFill>
              <a:highlight>
                <a:srgbClr val="00FFFF"/>
              </a:highlight>
            </a:endParaRPr>
          </a:p>
        </p:txBody>
      </p:sp>
      <p:grpSp>
        <p:nvGrpSpPr>
          <p:cNvPr id="21" name="组合 20"/>
          <p:cNvGrpSpPr/>
          <p:nvPr/>
        </p:nvGrpSpPr>
        <p:grpSpPr>
          <a:xfrm>
            <a:off x="162560" y="1097280"/>
            <a:ext cx="5614035" cy="1921510"/>
            <a:chOff x="836" y="1728"/>
            <a:chExt cx="7848" cy="3026"/>
          </a:xfrm>
        </p:grpSpPr>
        <p:grpSp>
          <p:nvGrpSpPr>
            <p:cNvPr id="18" name="组合 17"/>
            <p:cNvGrpSpPr/>
            <p:nvPr/>
          </p:nvGrpSpPr>
          <p:grpSpPr>
            <a:xfrm>
              <a:off x="837" y="1728"/>
              <a:ext cx="7846" cy="652"/>
              <a:chOff x="1356" y="1942"/>
              <a:chExt cx="7758" cy="759"/>
            </a:xfrm>
          </p:grpSpPr>
          <p:sp>
            <p:nvSpPr>
              <p:cNvPr id="7" name="文本框 6"/>
              <p:cNvSpPr txBox="1"/>
              <p:nvPr/>
            </p:nvSpPr>
            <p:spPr>
              <a:xfrm>
                <a:off x="1356" y="1942"/>
                <a:ext cx="3890" cy="759"/>
              </a:xfrm>
              <a:prstGeom prst="rect">
                <a:avLst/>
              </a:prstGeom>
              <a:solidFill>
                <a:schemeClr val="accent1"/>
              </a:solidFill>
              <a:ln>
                <a:solidFill>
                  <a:schemeClr val="tx1"/>
                </a:solidFill>
              </a:ln>
            </p:spPr>
            <p:txBody>
              <a:bodyPr wrap="square" rtlCol="0" anchor="t" anchorCtr="0">
                <a:noAutofit/>
              </a:bodyPr>
              <a:p>
                <a:pPr algn="ctr">
                  <a:lnSpc>
                    <a:spcPct val="130000"/>
                  </a:lnSpc>
                  <a:buClrTx/>
                  <a:buSzTx/>
                  <a:buFontTx/>
                </a:pPr>
                <a:r>
                  <a:rPr lang="zh-CN" sz="1400" b="1" dirty="0" smtClean="0">
                    <a:solidFill>
                      <a:schemeClr val="bg2"/>
                    </a:solidFill>
                    <a:latin typeface="+mn-ea"/>
                    <a:cs typeface="+mn-ea"/>
                    <a:sym typeface="+mn-ea"/>
                  </a:rPr>
                  <a:t>传统方法</a:t>
                </a:r>
                <a:endParaRPr lang="zh-CN" sz="1400" b="1" dirty="0" smtClean="0">
                  <a:solidFill>
                    <a:schemeClr val="bg2"/>
                  </a:solidFill>
                  <a:highlight>
                    <a:srgbClr val="FFFF00"/>
                  </a:highlight>
                  <a:latin typeface="+mn-ea"/>
                  <a:cs typeface="+mn-ea"/>
                  <a:sym typeface="+mn-ea"/>
                </a:endParaRPr>
              </a:p>
            </p:txBody>
          </p:sp>
          <p:sp>
            <p:nvSpPr>
              <p:cNvPr id="17" name="文本框 16"/>
              <p:cNvSpPr txBox="1"/>
              <p:nvPr/>
            </p:nvSpPr>
            <p:spPr>
              <a:xfrm>
                <a:off x="5246" y="1942"/>
                <a:ext cx="3868" cy="759"/>
              </a:xfrm>
              <a:prstGeom prst="rect">
                <a:avLst/>
              </a:prstGeom>
              <a:solidFill>
                <a:schemeClr val="accent1"/>
              </a:solidFill>
              <a:ln>
                <a:solidFill>
                  <a:schemeClr val="tx1"/>
                </a:solidFill>
              </a:ln>
            </p:spPr>
            <p:txBody>
              <a:bodyPr wrap="square" rtlCol="0" anchor="t" anchorCtr="0">
                <a:noAutofit/>
              </a:bodyPr>
              <a:p>
                <a:pPr algn="ctr">
                  <a:lnSpc>
                    <a:spcPct val="130000"/>
                  </a:lnSpc>
                  <a:buClrTx/>
                  <a:buSzTx/>
                  <a:buFontTx/>
                </a:pPr>
                <a:r>
                  <a:rPr lang="zh-CN" altLang="en-US" sz="1400" b="1" dirty="0" smtClean="0">
                    <a:solidFill>
                      <a:schemeClr val="bg2"/>
                    </a:solidFill>
                    <a:latin typeface="+mn-ea"/>
                    <a:cs typeface="+mn-ea"/>
                    <a:sym typeface="+mn-ea"/>
                  </a:rPr>
                  <a:t>面向对象方法</a:t>
                </a:r>
                <a:endParaRPr lang="zh-CN" altLang="en-US" sz="1400" b="1" dirty="0" smtClean="0">
                  <a:solidFill>
                    <a:schemeClr val="bg2"/>
                  </a:solidFill>
                  <a:latin typeface="+mn-ea"/>
                  <a:cs typeface="+mn-ea"/>
                  <a:sym typeface="+mn-ea"/>
                </a:endParaRPr>
              </a:p>
            </p:txBody>
          </p:sp>
        </p:grpSp>
        <p:sp>
          <p:nvSpPr>
            <p:cNvPr id="19" name="文本框 18"/>
            <p:cNvSpPr txBox="1"/>
            <p:nvPr/>
          </p:nvSpPr>
          <p:spPr>
            <a:xfrm>
              <a:off x="836" y="2401"/>
              <a:ext cx="3936" cy="2353"/>
            </a:xfrm>
            <a:prstGeom prst="rect">
              <a:avLst/>
            </a:prstGeom>
            <a:solidFill>
              <a:schemeClr val="accent3">
                <a:lumMod val="20000"/>
                <a:lumOff val="80000"/>
              </a:schemeClr>
            </a:solidFill>
            <a:ln>
              <a:solidFill>
                <a:schemeClr val="tx1"/>
              </a:solidFill>
            </a:ln>
          </p:spPr>
          <p:txBody>
            <a:bodyPr wrap="square" rtlCol="0">
              <a:spAutoFit/>
            </a:bodyPr>
            <a:p>
              <a:pPr marL="171450" indent="-171450" algn="l">
                <a:lnSpc>
                  <a:spcPct val="190000"/>
                </a:lnSpc>
                <a:buClrTx/>
                <a:buSzTx/>
                <a:buFont typeface="Arial" panose="020B0604020202020204" pitchFamily="34" charset="0"/>
                <a:buChar char="•"/>
              </a:pPr>
              <a:r>
                <a:rPr lang="zh-CN" altLang="en-US" sz="1200" dirty="0" smtClean="0">
                  <a:latin typeface="+mn-ea"/>
                  <a:cs typeface="+mn-ea"/>
                </a:rPr>
                <a:t> 以</a:t>
              </a:r>
              <a:r>
                <a:rPr lang="zh-CN" altLang="en-US" sz="1200" b="1" dirty="0" smtClean="0">
                  <a:solidFill>
                    <a:srgbClr val="FF0000"/>
                  </a:solidFill>
                  <a:highlight>
                    <a:srgbClr val="00FF00"/>
                  </a:highlight>
                  <a:latin typeface="+mn-ea"/>
                  <a:cs typeface="+mn-ea"/>
                </a:rPr>
                <a:t>算法</a:t>
              </a:r>
              <a:r>
                <a:rPr lang="zh-CN" altLang="en-US" sz="1200" dirty="0" smtClean="0">
                  <a:latin typeface="+mn-ea"/>
                  <a:cs typeface="+mn-ea"/>
                </a:rPr>
                <a:t>为核心</a:t>
              </a:r>
              <a:endParaRPr lang="zh-CN" altLang="en-US" sz="1200" dirty="0" smtClean="0">
                <a:latin typeface="+mn-ea"/>
                <a:cs typeface="+mn-ea"/>
              </a:endParaRPr>
            </a:p>
            <a:p>
              <a:pPr marL="171450" indent="-171450" algn="l">
                <a:lnSpc>
                  <a:spcPct val="190000"/>
                </a:lnSpc>
                <a:buClrTx/>
                <a:buSzTx/>
                <a:buFont typeface="Arial" panose="020B0604020202020204" pitchFamily="34" charset="0"/>
                <a:buChar char="•"/>
              </a:pPr>
              <a:r>
                <a:rPr lang="zh-CN" altLang="en-US" sz="1200" dirty="0" smtClean="0">
                  <a:latin typeface="+mn-ea"/>
                  <a:cs typeface="+mn-ea"/>
                </a:rPr>
                <a:t>开发过程基于功能分析和功能分解</a:t>
              </a:r>
              <a:endParaRPr lang="zh-CN" altLang="en-US" sz="1200" dirty="0" smtClean="0">
                <a:latin typeface="+mn-ea"/>
                <a:cs typeface="+mn-ea"/>
              </a:endParaRPr>
            </a:p>
            <a:p>
              <a:pPr marL="171450" indent="-171450" algn="l">
                <a:lnSpc>
                  <a:spcPct val="190000"/>
                </a:lnSpc>
                <a:buClrTx/>
                <a:buSzTx/>
                <a:buFont typeface="Arial" panose="020B0604020202020204" pitchFamily="34" charset="0"/>
                <a:buChar char="•"/>
              </a:pPr>
              <a:r>
                <a:rPr lang="zh-CN" altLang="en-US" sz="1200" dirty="0" smtClean="0">
                  <a:latin typeface="+mn-ea"/>
                  <a:cs typeface="+mn-ea"/>
                </a:rPr>
                <a:t>系统结构紧密依赖于功能，功能发生变化则会引起</a:t>
              </a:r>
              <a:r>
                <a:rPr lang="zh-CN" altLang="en-US" sz="1200" b="1" dirty="0" smtClean="0">
                  <a:solidFill>
                    <a:srgbClr val="FF0000"/>
                  </a:solidFill>
                  <a:highlight>
                    <a:srgbClr val="FFFF00"/>
                  </a:highlight>
                  <a:latin typeface="+mn-ea"/>
                  <a:cs typeface="+mn-ea"/>
                </a:rPr>
                <a:t>结构的整体修改</a:t>
              </a:r>
              <a:endParaRPr lang="zh-CN" altLang="en-US" sz="1200" b="1" dirty="0" smtClean="0">
                <a:solidFill>
                  <a:srgbClr val="FF0000"/>
                </a:solidFill>
                <a:highlight>
                  <a:srgbClr val="FFFF00"/>
                </a:highlight>
                <a:latin typeface="+mn-ea"/>
                <a:cs typeface="+mn-ea"/>
              </a:endParaRPr>
            </a:p>
          </p:txBody>
        </p:sp>
        <p:sp>
          <p:nvSpPr>
            <p:cNvPr id="20" name="文本框 19"/>
            <p:cNvSpPr txBox="1"/>
            <p:nvPr/>
          </p:nvSpPr>
          <p:spPr>
            <a:xfrm>
              <a:off x="4773" y="2401"/>
              <a:ext cx="3911" cy="2353"/>
            </a:xfrm>
            <a:prstGeom prst="rect">
              <a:avLst/>
            </a:prstGeom>
            <a:solidFill>
              <a:schemeClr val="accent3">
                <a:lumMod val="20000"/>
                <a:lumOff val="80000"/>
              </a:schemeClr>
            </a:solidFill>
            <a:ln>
              <a:solidFill>
                <a:schemeClr val="tx1"/>
              </a:solidFill>
            </a:ln>
          </p:spPr>
          <p:txBody>
            <a:bodyPr wrap="square" rtlCol="0">
              <a:noAutofit/>
            </a:bodyPr>
            <a:p>
              <a:pPr marL="171450" indent="-171450" algn="l">
                <a:lnSpc>
                  <a:spcPct val="180000"/>
                </a:lnSpc>
                <a:buClrTx/>
                <a:buSzTx/>
                <a:buFont typeface="Arial" panose="020B0604020202020204" pitchFamily="34" charset="0"/>
                <a:buChar char="•"/>
              </a:pPr>
              <a:r>
                <a:rPr lang="zh-CN" altLang="en-US" sz="1200" dirty="0" smtClean="0">
                  <a:latin typeface="+mn-ea"/>
                  <a:cs typeface="+mn-ea"/>
                </a:rPr>
                <a:t> 以对象为中心</a:t>
              </a:r>
              <a:endParaRPr lang="zh-CN" altLang="en-US" sz="1200" dirty="0" smtClean="0">
                <a:latin typeface="+mn-ea"/>
                <a:cs typeface="+mn-ea"/>
              </a:endParaRPr>
            </a:p>
            <a:p>
              <a:pPr marL="171450" indent="-171450" algn="l">
                <a:lnSpc>
                  <a:spcPct val="180000"/>
                </a:lnSpc>
                <a:buClrTx/>
                <a:buSzTx/>
                <a:buFont typeface="Arial" panose="020B0604020202020204" pitchFamily="34" charset="0"/>
                <a:buChar char="•"/>
              </a:pPr>
              <a:r>
                <a:rPr lang="zh-CN" altLang="en-US" sz="1200" dirty="0" smtClean="0">
                  <a:latin typeface="+mn-ea"/>
                  <a:cs typeface="+mn-ea"/>
                </a:rPr>
                <a:t>根据问题域的模型建立软件结构</a:t>
              </a:r>
              <a:endParaRPr lang="zh-CN" altLang="en-US" sz="1200" dirty="0" smtClean="0">
                <a:latin typeface="+mn-ea"/>
                <a:cs typeface="+mn-ea"/>
              </a:endParaRPr>
            </a:p>
            <a:p>
              <a:pPr marL="171450" indent="-171450" algn="l">
                <a:lnSpc>
                  <a:spcPct val="180000"/>
                </a:lnSpc>
                <a:buClrTx/>
                <a:buSzTx/>
                <a:buFont typeface="Arial" panose="020B0604020202020204" pitchFamily="34" charset="0"/>
                <a:buChar char="•"/>
              </a:pPr>
              <a:r>
                <a:rPr lang="zh-CN" altLang="en-US" sz="1200" dirty="0" smtClean="0">
                  <a:latin typeface="+mn-ea"/>
                  <a:cs typeface="+mn-ea"/>
                  <a:sym typeface="+mn-ea"/>
                </a:rPr>
                <a:t>功能发生变化进需要进行</a:t>
              </a:r>
              <a:r>
                <a:rPr lang="zh-CN" altLang="en-US" sz="1200" b="1" dirty="0" smtClean="0">
                  <a:solidFill>
                    <a:srgbClr val="FF0000"/>
                  </a:solidFill>
                  <a:highlight>
                    <a:srgbClr val="FFFF00"/>
                  </a:highlight>
                  <a:latin typeface="+mn-ea"/>
                  <a:cs typeface="+mn-ea"/>
                  <a:sym typeface="+mn-ea"/>
                </a:rPr>
                <a:t>局部性修改</a:t>
              </a:r>
              <a:r>
                <a:rPr lang="zh-CN" altLang="en-US" sz="1200" dirty="0" smtClean="0">
                  <a:latin typeface="+mn-ea"/>
                  <a:cs typeface="+mn-ea"/>
                  <a:sym typeface="+mn-ea"/>
                </a:rPr>
                <a:t>，不会引起结构的整体修改</a:t>
              </a:r>
              <a:endParaRPr lang="zh-CN" altLang="en-US" sz="1200" dirty="0" smtClean="0">
                <a:latin typeface="+mn-ea"/>
                <a:cs typeface="+mn-ea"/>
              </a:endParaRPr>
            </a:p>
          </p:txBody>
        </p:sp>
      </p:grpSp>
      <p:sp>
        <p:nvSpPr>
          <p:cNvPr id="22" name="文本框 21"/>
          <p:cNvSpPr txBox="1"/>
          <p:nvPr/>
        </p:nvSpPr>
        <p:spPr>
          <a:xfrm>
            <a:off x="250190" y="3138805"/>
            <a:ext cx="2338705" cy="306705"/>
          </a:xfrm>
          <a:prstGeom prst="rect">
            <a:avLst/>
          </a:prstGeom>
          <a:noFill/>
        </p:spPr>
        <p:txBody>
          <a:bodyPr wrap="square" rtlCol="0">
            <a:spAutoFit/>
          </a:bodyPr>
          <a:p>
            <a:r>
              <a:rPr lang="zh-CN" altLang="en-US" sz="1400" b="1">
                <a:solidFill>
                  <a:srgbClr val="FF0000"/>
                </a:solidFill>
                <a:highlight>
                  <a:srgbClr val="00FFFF"/>
                </a:highlight>
              </a:rPr>
              <a:t>可重用性好</a:t>
            </a:r>
            <a:endParaRPr lang="zh-CN" altLang="en-US" sz="1400" b="1">
              <a:solidFill>
                <a:srgbClr val="FF0000"/>
              </a:solidFill>
              <a:highlight>
                <a:srgbClr val="00FFFF"/>
              </a:highlight>
            </a:endParaRPr>
          </a:p>
        </p:txBody>
      </p:sp>
      <p:grpSp>
        <p:nvGrpSpPr>
          <p:cNvPr id="23" name="组合 22"/>
          <p:cNvGrpSpPr/>
          <p:nvPr/>
        </p:nvGrpSpPr>
        <p:grpSpPr>
          <a:xfrm>
            <a:off x="163195" y="3582670"/>
            <a:ext cx="5614035" cy="2688590"/>
            <a:chOff x="836" y="1728"/>
            <a:chExt cx="7848" cy="4234"/>
          </a:xfrm>
        </p:grpSpPr>
        <p:grpSp>
          <p:nvGrpSpPr>
            <p:cNvPr id="24" name="组合 23"/>
            <p:cNvGrpSpPr/>
            <p:nvPr/>
          </p:nvGrpSpPr>
          <p:grpSpPr>
            <a:xfrm>
              <a:off x="837" y="1728"/>
              <a:ext cx="7846" cy="652"/>
              <a:chOff x="1356" y="1942"/>
              <a:chExt cx="7758" cy="759"/>
            </a:xfrm>
          </p:grpSpPr>
          <p:sp>
            <p:nvSpPr>
              <p:cNvPr id="25" name="文本框 24"/>
              <p:cNvSpPr txBox="1"/>
              <p:nvPr/>
            </p:nvSpPr>
            <p:spPr>
              <a:xfrm>
                <a:off x="1356" y="1942"/>
                <a:ext cx="3890" cy="759"/>
              </a:xfrm>
              <a:prstGeom prst="rect">
                <a:avLst/>
              </a:prstGeom>
              <a:solidFill>
                <a:schemeClr val="accent1"/>
              </a:solidFill>
              <a:ln>
                <a:solidFill>
                  <a:schemeClr val="tx1"/>
                </a:solidFill>
              </a:ln>
            </p:spPr>
            <p:txBody>
              <a:bodyPr wrap="square" rtlCol="0" anchor="t" anchorCtr="0">
                <a:noAutofit/>
              </a:bodyPr>
              <a:p>
                <a:pPr algn="ctr">
                  <a:lnSpc>
                    <a:spcPct val="130000"/>
                  </a:lnSpc>
                  <a:buClrTx/>
                  <a:buSzTx/>
                  <a:buFontTx/>
                </a:pPr>
                <a:r>
                  <a:rPr lang="zh-CN" sz="1400" b="1" dirty="0" smtClean="0">
                    <a:solidFill>
                      <a:schemeClr val="bg2"/>
                    </a:solidFill>
                    <a:latin typeface="+mn-ea"/>
                    <a:cs typeface="+mn-ea"/>
                    <a:sym typeface="+mn-ea"/>
                  </a:rPr>
                  <a:t>传统方法</a:t>
                </a:r>
                <a:endParaRPr lang="zh-CN" sz="1400" b="1" dirty="0" smtClean="0">
                  <a:solidFill>
                    <a:schemeClr val="bg2"/>
                  </a:solidFill>
                  <a:highlight>
                    <a:srgbClr val="FFFF00"/>
                  </a:highlight>
                  <a:latin typeface="+mn-ea"/>
                  <a:cs typeface="+mn-ea"/>
                  <a:sym typeface="+mn-ea"/>
                </a:endParaRPr>
              </a:p>
            </p:txBody>
          </p:sp>
          <p:sp>
            <p:nvSpPr>
              <p:cNvPr id="26" name="文本框 25"/>
              <p:cNvSpPr txBox="1"/>
              <p:nvPr/>
            </p:nvSpPr>
            <p:spPr>
              <a:xfrm>
                <a:off x="5246" y="1942"/>
                <a:ext cx="3868" cy="759"/>
              </a:xfrm>
              <a:prstGeom prst="rect">
                <a:avLst/>
              </a:prstGeom>
              <a:solidFill>
                <a:schemeClr val="accent1"/>
              </a:solidFill>
              <a:ln>
                <a:solidFill>
                  <a:schemeClr val="tx1"/>
                </a:solidFill>
              </a:ln>
            </p:spPr>
            <p:txBody>
              <a:bodyPr wrap="square" rtlCol="0" anchor="t" anchorCtr="0">
                <a:noAutofit/>
              </a:bodyPr>
              <a:p>
                <a:pPr algn="ctr">
                  <a:lnSpc>
                    <a:spcPct val="130000"/>
                  </a:lnSpc>
                  <a:buClrTx/>
                  <a:buSzTx/>
                  <a:buFontTx/>
                </a:pPr>
                <a:r>
                  <a:rPr lang="zh-CN" altLang="en-US" sz="1400" b="1" dirty="0" smtClean="0">
                    <a:solidFill>
                      <a:schemeClr val="bg2"/>
                    </a:solidFill>
                    <a:latin typeface="+mn-ea"/>
                    <a:cs typeface="+mn-ea"/>
                    <a:sym typeface="+mn-ea"/>
                  </a:rPr>
                  <a:t>面向对象方法</a:t>
                </a:r>
                <a:endParaRPr lang="zh-CN" altLang="en-US" sz="1400" b="1" dirty="0" smtClean="0">
                  <a:solidFill>
                    <a:schemeClr val="bg2"/>
                  </a:solidFill>
                  <a:latin typeface="+mn-ea"/>
                  <a:cs typeface="+mn-ea"/>
                  <a:sym typeface="+mn-ea"/>
                </a:endParaRPr>
              </a:p>
            </p:txBody>
          </p:sp>
        </p:grpSp>
        <p:sp>
          <p:nvSpPr>
            <p:cNvPr id="27" name="文本框 26"/>
            <p:cNvSpPr txBox="1"/>
            <p:nvPr/>
          </p:nvSpPr>
          <p:spPr>
            <a:xfrm>
              <a:off x="836" y="2416"/>
              <a:ext cx="3936" cy="3545"/>
            </a:xfrm>
            <a:prstGeom prst="rect">
              <a:avLst/>
            </a:prstGeom>
            <a:solidFill>
              <a:schemeClr val="accent3">
                <a:lumMod val="20000"/>
                <a:lumOff val="80000"/>
              </a:schemeClr>
            </a:solidFill>
            <a:ln>
              <a:solidFill>
                <a:schemeClr val="tx1"/>
              </a:solidFill>
            </a:ln>
          </p:spPr>
          <p:txBody>
            <a:bodyPr wrap="square" rtlCol="0">
              <a:noAutofit/>
            </a:bodyPr>
            <a:p>
              <a:pPr marL="171450" indent="-171450" algn="l">
                <a:lnSpc>
                  <a:spcPct val="190000"/>
                </a:lnSpc>
                <a:buClrTx/>
                <a:buSzTx/>
                <a:buFont typeface="Arial" panose="020B0604020202020204" pitchFamily="34" charset="0"/>
                <a:buChar char="•"/>
              </a:pPr>
              <a:r>
                <a:rPr lang="zh-CN" altLang="en-US" sz="1200" dirty="0" smtClean="0">
                  <a:latin typeface="+mn-ea"/>
                  <a:cs typeface="+mn-ea"/>
                </a:rPr>
                <a:t>利用</a:t>
              </a:r>
              <a:r>
                <a:rPr lang="zh-CN" altLang="en-US" sz="1200" b="1" dirty="0" smtClean="0">
                  <a:solidFill>
                    <a:srgbClr val="FF0000"/>
                  </a:solidFill>
                  <a:latin typeface="+mn-ea"/>
                  <a:cs typeface="+mn-ea"/>
                </a:rPr>
                <a:t>标准函数库</a:t>
              </a:r>
              <a:r>
                <a:rPr lang="zh-CN" altLang="en-US" sz="1200" dirty="0" smtClean="0">
                  <a:latin typeface="+mn-ea"/>
                  <a:cs typeface="+mn-ea"/>
                </a:rPr>
                <a:t>中的函数构建软件系统，仅能提供最基本、最常用功能，函数往往需要自己编写。</a:t>
              </a:r>
              <a:endParaRPr lang="zh-CN" altLang="en-US" sz="1200" dirty="0" smtClean="0">
                <a:latin typeface="+mn-ea"/>
                <a:cs typeface="+mn-ea"/>
              </a:endParaRPr>
            </a:p>
            <a:p>
              <a:pPr marL="171450" indent="-171450" algn="l">
                <a:lnSpc>
                  <a:spcPct val="190000"/>
                </a:lnSpc>
                <a:buClrTx/>
                <a:buSzTx/>
                <a:buFont typeface="Arial" panose="020B0604020202020204" pitchFamily="34" charset="0"/>
                <a:buChar char="•"/>
              </a:pPr>
              <a:r>
                <a:rPr lang="zh-CN" altLang="en-US" sz="1200" dirty="0" smtClean="0">
                  <a:latin typeface="+mn-ea"/>
                  <a:cs typeface="+mn-ea"/>
                </a:rPr>
                <a:t>标准函数库中的函数必须运行在相应的</a:t>
              </a:r>
              <a:r>
                <a:rPr lang="zh-CN" altLang="en-US" sz="1200" b="1" dirty="0" smtClean="0">
                  <a:solidFill>
                    <a:srgbClr val="FF0000"/>
                  </a:solidFill>
                  <a:latin typeface="+mn-ea"/>
                  <a:cs typeface="+mn-ea"/>
                </a:rPr>
                <a:t>数据结构</a:t>
              </a:r>
              <a:r>
                <a:rPr lang="zh-CN" altLang="en-US" sz="1200" dirty="0" smtClean="0">
                  <a:latin typeface="+mn-ea"/>
                  <a:cs typeface="+mn-ea"/>
                </a:rPr>
                <a:t>上，如重用此模块则相应数据必须重用。</a:t>
              </a:r>
              <a:endParaRPr lang="zh-CN" altLang="en-US" sz="1200" b="1" dirty="0" smtClean="0">
                <a:solidFill>
                  <a:srgbClr val="FF0000"/>
                </a:solidFill>
                <a:highlight>
                  <a:srgbClr val="FFFF00"/>
                </a:highlight>
                <a:latin typeface="+mn-ea"/>
                <a:cs typeface="+mn-ea"/>
              </a:endParaRPr>
            </a:p>
          </p:txBody>
        </p:sp>
        <p:sp>
          <p:nvSpPr>
            <p:cNvPr id="28" name="文本框 27"/>
            <p:cNvSpPr txBox="1"/>
            <p:nvPr/>
          </p:nvSpPr>
          <p:spPr>
            <a:xfrm>
              <a:off x="4773" y="2416"/>
              <a:ext cx="3911" cy="3546"/>
            </a:xfrm>
            <a:prstGeom prst="rect">
              <a:avLst/>
            </a:prstGeom>
            <a:solidFill>
              <a:schemeClr val="accent3">
                <a:lumMod val="20000"/>
                <a:lumOff val="80000"/>
              </a:schemeClr>
            </a:solidFill>
            <a:ln>
              <a:solidFill>
                <a:schemeClr val="tx1"/>
              </a:solidFill>
            </a:ln>
          </p:spPr>
          <p:txBody>
            <a:bodyPr wrap="square" rtlCol="0">
              <a:noAutofit/>
            </a:bodyPr>
            <a:p>
              <a:pPr marL="171450" indent="-171450" algn="l">
                <a:lnSpc>
                  <a:spcPct val="190000"/>
                </a:lnSpc>
                <a:buClrTx/>
                <a:buSzTx/>
                <a:buFont typeface="Arial" panose="020B0604020202020204" pitchFamily="34" charset="0"/>
                <a:buChar char="•"/>
              </a:pPr>
              <a:r>
                <a:rPr lang="zh-CN" altLang="en-US" sz="1200" dirty="0" smtClean="0">
                  <a:latin typeface="+mn-ea"/>
                  <a:cs typeface="+mn-ea"/>
                </a:rPr>
                <a:t>对象包含</a:t>
              </a:r>
              <a:r>
                <a:rPr lang="zh-CN" altLang="en-US" sz="1200" b="1" dirty="0" smtClean="0">
                  <a:solidFill>
                    <a:srgbClr val="FF0000"/>
                  </a:solidFill>
                  <a:highlight>
                    <a:srgbClr val="FFFF00"/>
                  </a:highlight>
                  <a:latin typeface="+mn-ea"/>
                  <a:cs typeface="+mn-ea"/>
                </a:rPr>
                <a:t>数据及操作</a:t>
              </a:r>
              <a:r>
                <a:rPr lang="zh-CN" altLang="en-US" sz="1200" dirty="0" smtClean="0">
                  <a:latin typeface="+mn-ea"/>
                  <a:cs typeface="+mn-ea"/>
                </a:rPr>
                <a:t>，具有很强的自含性。</a:t>
              </a:r>
              <a:endParaRPr lang="zh-CN" altLang="en-US" sz="1200" dirty="0" smtClean="0">
                <a:latin typeface="+mn-ea"/>
                <a:cs typeface="+mn-ea"/>
              </a:endParaRPr>
            </a:p>
            <a:p>
              <a:pPr marL="171450" indent="-171450" algn="l">
                <a:lnSpc>
                  <a:spcPct val="190000"/>
                </a:lnSpc>
                <a:buClrTx/>
                <a:buSzTx/>
                <a:buFont typeface="Arial" panose="020B0604020202020204" pitchFamily="34" charset="0"/>
                <a:buChar char="•"/>
              </a:pPr>
              <a:r>
                <a:rPr lang="zh-CN" altLang="en-US" sz="1200" b="1" dirty="0" smtClean="0">
                  <a:solidFill>
                    <a:srgbClr val="FF0000"/>
                  </a:solidFill>
                  <a:latin typeface="+mn-ea"/>
                  <a:cs typeface="+mn-ea"/>
                </a:rPr>
                <a:t>封装性</a:t>
              </a:r>
              <a:r>
                <a:rPr lang="zh-CN" altLang="en-US" sz="1200" dirty="0" smtClean="0">
                  <a:latin typeface="+mn-ea"/>
                  <a:cs typeface="+mn-ea"/>
                </a:rPr>
                <a:t>和</a:t>
              </a:r>
              <a:r>
                <a:rPr lang="zh-CN" altLang="en-US" sz="1200" b="1" dirty="0" smtClean="0">
                  <a:solidFill>
                    <a:srgbClr val="FF0000"/>
                  </a:solidFill>
                  <a:latin typeface="+mn-ea"/>
                  <a:cs typeface="+mn-ea"/>
                </a:rPr>
                <a:t>信息隐蔽机制</a:t>
              </a:r>
              <a:r>
                <a:rPr lang="zh-CN" altLang="en-US" sz="1200" dirty="0" smtClean="0">
                  <a:latin typeface="+mn-ea"/>
                  <a:cs typeface="+mn-ea"/>
                </a:rPr>
                <a:t>使对象具有较强的独立性。</a:t>
              </a:r>
              <a:endParaRPr lang="zh-CN" altLang="en-US" sz="1200" dirty="0" smtClean="0">
                <a:latin typeface="+mn-ea"/>
                <a:cs typeface="+mn-ea"/>
              </a:endParaRPr>
            </a:p>
            <a:p>
              <a:pPr marL="171450" indent="-171450" algn="l">
                <a:lnSpc>
                  <a:spcPct val="190000"/>
                </a:lnSpc>
                <a:buClrTx/>
                <a:buSzTx/>
                <a:buFont typeface="Arial" panose="020B0604020202020204" pitchFamily="34" charset="0"/>
                <a:buChar char="•"/>
              </a:pPr>
              <a:r>
                <a:rPr lang="zh-CN" altLang="en-US" sz="1200" b="1" dirty="0" smtClean="0">
                  <a:solidFill>
                    <a:srgbClr val="FF0000"/>
                  </a:solidFill>
                  <a:latin typeface="+mn-ea"/>
                  <a:cs typeface="+mn-ea"/>
                </a:rPr>
                <a:t>继承</a:t>
              </a:r>
              <a:r>
                <a:rPr lang="zh-CN" altLang="en-US" sz="1200" dirty="0" smtClean="0">
                  <a:latin typeface="+mn-ea"/>
                  <a:cs typeface="+mn-ea"/>
                </a:rPr>
                <a:t>本身就是OO最强大、最直接的复用机制。</a:t>
              </a:r>
              <a:endParaRPr lang="zh-CN" altLang="en-US" sz="1200" dirty="0" smtClean="0">
                <a:latin typeface="+mn-ea"/>
                <a:cs typeface="+mn-ea"/>
              </a:endParaRPr>
            </a:p>
            <a:p>
              <a:pPr algn="l">
                <a:lnSpc>
                  <a:spcPct val="160000"/>
                </a:lnSpc>
                <a:buClrTx/>
                <a:buSzTx/>
                <a:buFontTx/>
              </a:pPr>
              <a:endParaRPr lang="zh-CN" altLang="en-US" sz="1200" dirty="0" smtClean="0">
                <a:latin typeface="+mn-ea"/>
                <a:cs typeface="+mn-ea"/>
              </a:endParaRPr>
            </a:p>
          </p:txBody>
        </p:sp>
      </p:grpSp>
      <p:sp>
        <p:nvSpPr>
          <p:cNvPr id="29" name="文本框 28"/>
          <p:cNvSpPr txBox="1"/>
          <p:nvPr/>
        </p:nvSpPr>
        <p:spPr>
          <a:xfrm>
            <a:off x="6355715" y="616585"/>
            <a:ext cx="2338705" cy="306705"/>
          </a:xfrm>
          <a:prstGeom prst="rect">
            <a:avLst/>
          </a:prstGeom>
          <a:noFill/>
        </p:spPr>
        <p:txBody>
          <a:bodyPr wrap="square" rtlCol="0">
            <a:spAutoFit/>
          </a:bodyPr>
          <a:p>
            <a:r>
              <a:rPr lang="zh-CN" altLang="en-US" sz="1400" b="1">
                <a:solidFill>
                  <a:srgbClr val="FF0000"/>
                </a:solidFill>
                <a:highlight>
                  <a:srgbClr val="00FFFF"/>
                </a:highlight>
              </a:rPr>
              <a:t>较易开发大型软件产品</a:t>
            </a:r>
            <a:endParaRPr lang="zh-CN" altLang="en-US" sz="1400" b="1">
              <a:solidFill>
                <a:srgbClr val="FF0000"/>
              </a:solidFill>
              <a:highlight>
                <a:srgbClr val="00FFFF"/>
              </a:highlight>
            </a:endParaRPr>
          </a:p>
        </p:txBody>
      </p:sp>
      <p:sp>
        <p:nvSpPr>
          <p:cNvPr id="30" name="文本框 29"/>
          <p:cNvSpPr txBox="1"/>
          <p:nvPr/>
        </p:nvSpPr>
        <p:spPr>
          <a:xfrm>
            <a:off x="6258560" y="1000125"/>
            <a:ext cx="5584825" cy="1529715"/>
          </a:xfrm>
          <a:prstGeom prst="rect">
            <a:avLst/>
          </a:prstGeom>
          <a:noFill/>
        </p:spPr>
        <p:txBody>
          <a:bodyPr wrap="square" rtlCol="0">
            <a:spAutoFit/>
          </a:bodyPr>
          <a:p>
            <a:pPr>
              <a:lnSpc>
                <a:spcPct val="170000"/>
              </a:lnSpc>
            </a:pPr>
            <a:r>
              <a:rPr lang="en-US" altLang="zh-CN" sz="1200" dirty="0" smtClean="0">
                <a:latin typeface="+mn-ea"/>
                <a:cs typeface="+mn-ea"/>
                <a:sym typeface="+mn-ea"/>
              </a:rPr>
              <a:t>     </a:t>
            </a:r>
            <a:r>
              <a:rPr lang="zh-CN" altLang="zh-CN" sz="1200" dirty="0" smtClean="0">
                <a:latin typeface="+mn-ea"/>
                <a:cs typeface="+mn-ea"/>
                <a:sym typeface="+mn-ea"/>
              </a:rPr>
              <a:t>用</a:t>
            </a:r>
            <a:r>
              <a:rPr lang="zh-CN" altLang="zh-CN" sz="1200" dirty="0">
                <a:latin typeface="+mn-ea"/>
                <a:cs typeface="+mn-ea"/>
                <a:sym typeface="+mn-ea"/>
              </a:rPr>
              <a:t>面向对象方法学开发软件时，构成软件系统的每个对象就像一个</a:t>
            </a:r>
            <a:r>
              <a:rPr lang="zh-CN" altLang="zh-CN" sz="1200" b="1" dirty="0">
                <a:solidFill>
                  <a:srgbClr val="FF0000"/>
                </a:solidFill>
                <a:highlight>
                  <a:srgbClr val="FFFF00"/>
                </a:highlight>
                <a:latin typeface="+mn-ea"/>
                <a:cs typeface="+mn-ea"/>
                <a:sym typeface="+mn-ea"/>
              </a:rPr>
              <a:t>微型程序</a:t>
            </a:r>
            <a:r>
              <a:rPr lang="zh-CN" altLang="zh-CN" sz="1200" dirty="0">
                <a:latin typeface="+mn-ea"/>
                <a:cs typeface="+mn-ea"/>
                <a:sym typeface="+mn-ea"/>
              </a:rPr>
              <a:t>，有自己的数据、操作、功能和用途，因此，可以把一个大型软件产品分解成一系列本质上相互独立的小产品来处理，这就不仅降低了开发的技术难度，而且也使得对开发工作的</a:t>
            </a:r>
            <a:r>
              <a:rPr lang="zh-CN" altLang="zh-CN" sz="1200" dirty="0" smtClean="0">
                <a:latin typeface="+mn-ea"/>
                <a:cs typeface="+mn-ea"/>
                <a:sym typeface="+mn-ea"/>
              </a:rPr>
              <a:t>管理</a:t>
            </a:r>
            <a:r>
              <a:rPr lang="zh-CN" altLang="en-US" sz="1200" dirty="0" smtClean="0">
                <a:latin typeface="+mn-ea"/>
                <a:cs typeface="+mn-ea"/>
                <a:sym typeface="+mn-ea"/>
              </a:rPr>
              <a:t>比较</a:t>
            </a:r>
            <a:r>
              <a:rPr lang="zh-CN" altLang="zh-CN" sz="1200" dirty="0" smtClean="0">
                <a:latin typeface="+mn-ea"/>
                <a:cs typeface="+mn-ea"/>
                <a:sym typeface="+mn-ea"/>
              </a:rPr>
              <a:t>容易。</a:t>
            </a:r>
            <a:endParaRPr lang="en-US" altLang="zh-CN" sz="1200" dirty="0" smtClean="0">
              <a:latin typeface="+mn-ea"/>
              <a:cs typeface="+mn-ea"/>
            </a:endParaRPr>
          </a:p>
          <a:p>
            <a:endParaRPr lang="zh-CN" altLang="en-US" sz="1200">
              <a:latin typeface="+mn-ea"/>
              <a:cs typeface="+mn-ea"/>
            </a:endParaRPr>
          </a:p>
        </p:txBody>
      </p:sp>
      <p:sp>
        <p:nvSpPr>
          <p:cNvPr id="33" name="文本框 32"/>
          <p:cNvSpPr txBox="1"/>
          <p:nvPr/>
        </p:nvSpPr>
        <p:spPr>
          <a:xfrm>
            <a:off x="6355715" y="2606675"/>
            <a:ext cx="2338705" cy="306705"/>
          </a:xfrm>
          <a:prstGeom prst="rect">
            <a:avLst/>
          </a:prstGeom>
          <a:noFill/>
        </p:spPr>
        <p:txBody>
          <a:bodyPr wrap="square" rtlCol="0">
            <a:spAutoFit/>
          </a:bodyPr>
          <a:p>
            <a:r>
              <a:rPr lang="zh-CN" altLang="en-US" sz="1400" b="1">
                <a:solidFill>
                  <a:srgbClr val="FF0000"/>
                </a:solidFill>
                <a:highlight>
                  <a:srgbClr val="00FFFF"/>
                </a:highlight>
              </a:rPr>
              <a:t>可维护性好</a:t>
            </a:r>
            <a:endParaRPr lang="zh-CN" altLang="en-US" sz="1400" b="1">
              <a:solidFill>
                <a:srgbClr val="FF0000"/>
              </a:solidFill>
              <a:highlight>
                <a:srgbClr val="00FFFF"/>
              </a:highlight>
            </a:endParaRPr>
          </a:p>
        </p:txBody>
      </p:sp>
      <p:sp>
        <p:nvSpPr>
          <p:cNvPr id="34" name="文本框 33"/>
          <p:cNvSpPr txBox="1"/>
          <p:nvPr/>
        </p:nvSpPr>
        <p:spPr>
          <a:xfrm>
            <a:off x="6258560" y="2879725"/>
            <a:ext cx="5584825" cy="2029460"/>
          </a:xfrm>
          <a:prstGeom prst="rect">
            <a:avLst/>
          </a:prstGeom>
          <a:noFill/>
        </p:spPr>
        <p:txBody>
          <a:bodyPr wrap="square" rtlCol="0">
            <a:spAutoFit/>
          </a:bodyPr>
          <a:p>
            <a:pPr marL="171450" indent="-171450" algn="l" eaLnBrk="1" hangingPunct="1">
              <a:lnSpc>
                <a:spcPct val="190000"/>
              </a:lnSpc>
              <a:buClrTx/>
              <a:buSzTx/>
              <a:buFont typeface="Arial" panose="020B0604020202020204" pitchFamily="34" charset="0"/>
              <a:buChar char="•"/>
            </a:pPr>
            <a:r>
              <a:rPr lang="zh-CN" altLang="zh-CN" sz="1200" dirty="0">
                <a:latin typeface="+mn-ea"/>
                <a:cs typeface="+mn-ea"/>
                <a:sym typeface="+mn-ea"/>
              </a:rPr>
              <a:t>面向对象的软件稳定性比较好。</a:t>
            </a:r>
            <a:endParaRPr lang="zh-CN" altLang="zh-CN" sz="1200" dirty="0">
              <a:latin typeface="+mn-ea"/>
              <a:ea typeface="+mn-ea"/>
              <a:cs typeface="+mn-ea"/>
            </a:endParaRPr>
          </a:p>
          <a:p>
            <a:pPr marL="171450" indent="-171450" algn="l" eaLnBrk="1" hangingPunct="1">
              <a:lnSpc>
                <a:spcPct val="190000"/>
              </a:lnSpc>
              <a:buClrTx/>
              <a:buSzTx/>
              <a:buFont typeface="Arial" panose="020B0604020202020204" pitchFamily="34" charset="0"/>
              <a:buChar char="•"/>
            </a:pPr>
            <a:r>
              <a:rPr lang="zh-CN" altLang="zh-CN" sz="1200" dirty="0">
                <a:latin typeface="+mn-ea"/>
                <a:cs typeface="+mn-ea"/>
                <a:sym typeface="+mn-ea"/>
              </a:rPr>
              <a:t>面向对象的软件比较容易修改。</a:t>
            </a:r>
            <a:endParaRPr lang="zh-CN" altLang="zh-CN" sz="1200" dirty="0">
              <a:latin typeface="+mn-ea"/>
              <a:ea typeface="+mn-ea"/>
              <a:cs typeface="+mn-ea"/>
            </a:endParaRPr>
          </a:p>
          <a:p>
            <a:pPr marL="171450" indent="-171450" algn="l" eaLnBrk="1" hangingPunct="1">
              <a:lnSpc>
                <a:spcPct val="190000"/>
              </a:lnSpc>
              <a:buClrTx/>
              <a:buSzTx/>
              <a:buFont typeface="Arial" panose="020B0604020202020204" pitchFamily="34" charset="0"/>
              <a:buChar char="•"/>
            </a:pPr>
            <a:r>
              <a:rPr lang="zh-CN" altLang="zh-CN" sz="1200" dirty="0">
                <a:latin typeface="+mn-ea"/>
                <a:cs typeface="+mn-ea"/>
                <a:sym typeface="+mn-ea"/>
              </a:rPr>
              <a:t>面向对象的软件比较容易理解。</a:t>
            </a:r>
            <a:endParaRPr lang="zh-CN" altLang="zh-CN" sz="1200" dirty="0">
              <a:latin typeface="+mn-ea"/>
              <a:ea typeface="+mn-ea"/>
              <a:cs typeface="+mn-ea"/>
            </a:endParaRPr>
          </a:p>
          <a:p>
            <a:pPr marL="171450" indent="-171450" algn="l" eaLnBrk="1" hangingPunct="1">
              <a:lnSpc>
                <a:spcPct val="190000"/>
              </a:lnSpc>
              <a:buClrTx/>
              <a:buSzTx/>
              <a:buFont typeface="Arial" panose="020B0604020202020204" pitchFamily="34" charset="0"/>
              <a:buChar char="•"/>
            </a:pPr>
            <a:r>
              <a:rPr lang="zh-CN" altLang="zh-CN" sz="1200" dirty="0">
                <a:latin typeface="+mn-ea"/>
                <a:cs typeface="+mn-ea"/>
                <a:sym typeface="+mn-ea"/>
              </a:rPr>
              <a:t>易于测试和调试。</a:t>
            </a:r>
            <a:endParaRPr lang="zh-CN" altLang="zh-CN" sz="1200" dirty="0">
              <a:latin typeface="+mn-ea"/>
              <a:ea typeface="+mn-ea"/>
              <a:cs typeface="+mn-ea"/>
            </a:endParaRPr>
          </a:p>
          <a:p>
            <a:pPr>
              <a:lnSpc>
                <a:spcPct val="190000"/>
              </a:lnSpc>
            </a:pPr>
            <a:endParaRPr lang="en-US" altLang="zh-CN" sz="1200" dirty="0" smtClean="0">
              <a:latin typeface="+mn-ea"/>
              <a:cs typeface="+mn-ea"/>
            </a:endParaRPr>
          </a:p>
          <a:p>
            <a:endParaRPr lang="zh-CN" altLang="en-US" sz="1200">
              <a:latin typeface="+mn-ea"/>
              <a:cs typeface="+mn-ea"/>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86045" y="29859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面向对象的概念</a:t>
            </a:r>
            <a:endParaRPr lang="en-US" altLang="zh-CN" sz="2400" spc="200" dirty="0">
              <a:solidFill>
                <a:srgbClr val="55D5FF"/>
              </a:solidFill>
              <a:latin typeface="汉仪旗黑-85S" panose="00020600040101010101" pitchFamily="18" charset="-122"/>
              <a:ea typeface="汉仪旗黑-85S" panose="00020600040101010101" pitchFamily="18" charset="-122"/>
            </a:endParaRPr>
          </a:p>
        </p:txBody>
      </p:sp>
      <p:sp>
        <p:nvSpPr>
          <p:cNvPr id="14" name="文本框 13"/>
          <p:cNvSpPr txBox="1"/>
          <p:nvPr/>
        </p:nvSpPr>
        <p:spPr>
          <a:xfrm>
            <a:off x="158750" y="1208405"/>
            <a:ext cx="4549140" cy="101600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a:lnSpc>
                <a:spcPct val="160000"/>
              </a:lnSpc>
              <a:defRPr/>
            </a:pPr>
            <a:r>
              <a:rPr lang="zh-CN" sz="1400" b="1" dirty="0" smtClean="0">
                <a:solidFill>
                  <a:srgbClr val="FF0000"/>
                </a:solidFill>
                <a:latin typeface="+mn-ea"/>
                <a:cs typeface="+mn-ea"/>
                <a:sym typeface="+mn-ea"/>
              </a:rPr>
              <a:t>对象</a:t>
            </a:r>
            <a:r>
              <a:rPr lang="zh-CN" sz="1400" b="1" dirty="0" smtClean="0">
                <a:solidFill>
                  <a:schemeClr val="bg2"/>
                </a:solidFill>
                <a:latin typeface="+mn-ea"/>
                <a:cs typeface="+mn-ea"/>
                <a:sym typeface="+mn-ea"/>
              </a:rPr>
              <a:t>是对问题域中某个</a:t>
            </a:r>
            <a:r>
              <a:rPr lang="zh-CN" sz="1400" b="1" dirty="0" smtClean="0">
                <a:solidFill>
                  <a:srgbClr val="FFFF00"/>
                </a:solidFill>
                <a:latin typeface="+mn-ea"/>
                <a:cs typeface="+mn-ea"/>
                <a:sym typeface="+mn-ea"/>
              </a:rPr>
              <a:t>实体的抽象</a:t>
            </a:r>
            <a:r>
              <a:rPr lang="zh-CN" sz="1400" b="1" dirty="0" smtClean="0">
                <a:solidFill>
                  <a:schemeClr val="bg2"/>
                </a:solidFill>
                <a:latin typeface="+mn-ea"/>
                <a:cs typeface="+mn-ea"/>
                <a:sym typeface="+mn-ea"/>
              </a:rPr>
              <a:t>，设立某个对象就反映了软件系统具有保存有关它的信息并且与它进行交互的能力。</a:t>
            </a:r>
            <a:endParaRPr lang="zh-CN" sz="1400" b="1" dirty="0" smtClean="0">
              <a:solidFill>
                <a:schemeClr val="bg2"/>
              </a:solidFill>
              <a:latin typeface="+mn-ea"/>
              <a:cs typeface="+mn-ea"/>
              <a:sym typeface="+mn-ea"/>
            </a:endParaRPr>
          </a:p>
        </p:txBody>
      </p:sp>
      <p:sp>
        <p:nvSpPr>
          <p:cNvPr id="4" name="文本框 3"/>
          <p:cNvSpPr txBox="1"/>
          <p:nvPr/>
        </p:nvSpPr>
        <p:spPr>
          <a:xfrm>
            <a:off x="140970" y="4584700"/>
            <a:ext cx="4556125" cy="201676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marL="0" indent="0" eaLnBrk="1" hangingPunct="1">
              <a:lnSpc>
                <a:spcPts val="3000"/>
              </a:lnSpc>
              <a:spcAft>
                <a:spcPts val="600"/>
              </a:spcAft>
              <a:defRPr/>
            </a:pPr>
            <a:r>
              <a:rPr lang="zh-CN" altLang="zh-CN" sz="1400" b="1" dirty="0" smtClean="0">
                <a:solidFill>
                  <a:schemeClr val="bg1"/>
                </a:solidFill>
                <a:latin typeface="Bodoni MT Black" panose="02070A03080606020203" pitchFamily="18" charset="0"/>
                <a:sym typeface="+mn-ea"/>
              </a:rPr>
              <a:t>面向对象</a:t>
            </a:r>
            <a:r>
              <a:rPr lang="zh-CN" altLang="zh-CN" sz="1400" b="1" dirty="0">
                <a:solidFill>
                  <a:schemeClr val="bg1"/>
                </a:solidFill>
                <a:latin typeface="Bodoni MT Black" panose="02070A03080606020203" pitchFamily="18" charset="0"/>
                <a:sym typeface="+mn-ea"/>
              </a:rPr>
              <a:t>方法学中的</a:t>
            </a:r>
            <a:r>
              <a:rPr lang="zh-CN" altLang="zh-CN" sz="1400" b="1" dirty="0">
                <a:solidFill>
                  <a:srgbClr val="FF0000"/>
                </a:solidFill>
                <a:latin typeface="Bodoni MT Black" panose="02070A03080606020203" pitchFamily="18" charset="0"/>
                <a:sym typeface="+mn-ea"/>
              </a:rPr>
              <a:t>对象</a:t>
            </a:r>
            <a:r>
              <a:rPr lang="zh-CN" altLang="zh-CN" sz="1400" b="1" dirty="0">
                <a:solidFill>
                  <a:schemeClr val="bg1"/>
                </a:solidFill>
                <a:latin typeface="Bodoni MT Black" panose="02070A03080606020203" pitchFamily="18" charset="0"/>
                <a:sym typeface="+mn-ea"/>
              </a:rPr>
              <a:t>是由描述该对象属性的</a:t>
            </a:r>
            <a:r>
              <a:rPr lang="zh-CN" altLang="zh-CN" sz="1400" b="1" dirty="0">
                <a:solidFill>
                  <a:srgbClr val="00B0F0"/>
                </a:solidFill>
                <a:latin typeface="Bodoni MT Black" panose="02070A03080606020203" pitchFamily="18" charset="0"/>
                <a:sym typeface="+mn-ea"/>
              </a:rPr>
              <a:t>数据</a:t>
            </a:r>
            <a:r>
              <a:rPr lang="zh-CN" altLang="zh-CN" sz="1400" b="1" dirty="0">
                <a:solidFill>
                  <a:schemeClr val="bg1"/>
                </a:solidFill>
                <a:latin typeface="Bodoni MT Black" panose="02070A03080606020203" pitchFamily="18" charset="0"/>
                <a:sym typeface="+mn-ea"/>
              </a:rPr>
              <a:t>以及可以对这些数据施加的所有</a:t>
            </a:r>
            <a:r>
              <a:rPr lang="zh-CN" altLang="zh-CN" sz="1400" b="1" dirty="0">
                <a:solidFill>
                  <a:srgbClr val="00B0F0"/>
                </a:solidFill>
                <a:latin typeface="Bodoni MT Black" panose="02070A03080606020203" pitchFamily="18" charset="0"/>
                <a:sym typeface="+mn-ea"/>
              </a:rPr>
              <a:t>操作</a:t>
            </a:r>
            <a:r>
              <a:rPr lang="zh-CN" altLang="zh-CN" sz="1400" b="1" dirty="0">
                <a:solidFill>
                  <a:schemeClr val="bg1"/>
                </a:solidFill>
                <a:latin typeface="Bodoni MT Black" panose="02070A03080606020203" pitchFamily="18" charset="0"/>
                <a:sym typeface="+mn-ea"/>
              </a:rPr>
              <a:t>封装在一起构成的统一体。对象可以作的操作表示它的动态行为，在面向对象分析和面向对象设计中，通常把对象的操作称为</a:t>
            </a:r>
            <a:r>
              <a:rPr lang="zh-CN" altLang="zh-CN" sz="1400" b="1" dirty="0">
                <a:solidFill>
                  <a:srgbClr val="FF0000"/>
                </a:solidFill>
                <a:highlight>
                  <a:srgbClr val="FFFF00"/>
                </a:highlight>
                <a:latin typeface="Bodoni MT Black" panose="02070A03080606020203" pitchFamily="18" charset="0"/>
                <a:sym typeface="+mn-ea"/>
              </a:rPr>
              <a:t>服务</a:t>
            </a:r>
            <a:r>
              <a:rPr lang="zh-CN" altLang="zh-CN" sz="1400" b="1" dirty="0">
                <a:solidFill>
                  <a:schemeClr val="bg1"/>
                </a:solidFill>
                <a:latin typeface="Bodoni MT Black" panose="02070A03080606020203" pitchFamily="18" charset="0"/>
                <a:sym typeface="+mn-ea"/>
              </a:rPr>
              <a:t>或</a:t>
            </a:r>
            <a:r>
              <a:rPr lang="zh-CN" altLang="zh-CN" sz="1400" b="1" dirty="0">
                <a:solidFill>
                  <a:srgbClr val="FF0000"/>
                </a:solidFill>
                <a:highlight>
                  <a:srgbClr val="FFFF00"/>
                </a:highlight>
                <a:latin typeface="Bodoni MT Black" panose="02070A03080606020203" pitchFamily="18" charset="0"/>
                <a:sym typeface="+mn-ea"/>
              </a:rPr>
              <a:t>方法</a:t>
            </a:r>
            <a:r>
              <a:rPr lang="zh-CN" altLang="zh-CN" sz="1400" b="1" dirty="0" smtClean="0">
                <a:solidFill>
                  <a:schemeClr val="bg1"/>
                </a:solidFill>
                <a:latin typeface="Bodoni MT Black" panose="02070A03080606020203" pitchFamily="18" charset="0"/>
                <a:sym typeface="+mn-ea"/>
              </a:rPr>
              <a:t>。</a:t>
            </a:r>
            <a:endParaRPr lang="zh-CN" altLang="zh-CN" sz="1400" b="1" dirty="0" smtClean="0">
              <a:solidFill>
                <a:schemeClr val="bg1"/>
              </a:solidFill>
              <a:latin typeface="Bodoni MT Black" panose="02070A03080606020203" pitchFamily="18" charset="0"/>
              <a:ea typeface="+mj-ea"/>
              <a:cs typeface="+mj-ea"/>
              <a:sym typeface="+mn-ea"/>
            </a:endParaRPr>
          </a:p>
        </p:txBody>
      </p:sp>
      <p:pic>
        <p:nvPicPr>
          <p:cNvPr id="6" name="图片 5"/>
          <p:cNvPicPr>
            <a:picLocks noChangeAspect="1"/>
          </p:cNvPicPr>
          <p:nvPr/>
        </p:nvPicPr>
        <p:blipFill>
          <a:blip r:embed="rId2"/>
          <a:stretch>
            <a:fillRect/>
          </a:stretch>
        </p:blipFill>
        <p:spPr>
          <a:xfrm>
            <a:off x="558165" y="2308225"/>
            <a:ext cx="3797935" cy="2298065"/>
          </a:xfrm>
          <a:prstGeom prst="rect">
            <a:avLst/>
          </a:prstGeom>
        </p:spPr>
      </p:pic>
      <p:sp>
        <p:nvSpPr>
          <p:cNvPr id="7" name="文本框 6"/>
          <p:cNvSpPr txBox="1"/>
          <p:nvPr/>
        </p:nvSpPr>
        <p:spPr>
          <a:xfrm>
            <a:off x="4822825" y="0"/>
            <a:ext cx="736854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en-US" altLang="zh-CN" b="1">
                <a:solidFill>
                  <a:schemeClr val="bg2"/>
                </a:solidFill>
                <a:sym typeface="+mn-ea"/>
              </a:rPr>
              <a:t>  </a:t>
            </a:r>
            <a:r>
              <a:rPr lang="zh-CN" altLang="en-US" b="1">
                <a:solidFill>
                  <a:schemeClr val="bg2"/>
                </a:solidFill>
                <a:sym typeface="+mn-ea"/>
              </a:rPr>
              <a:t>对象的形象表示及定义</a:t>
            </a:r>
            <a:endParaRPr lang="zh-CN" altLang="en-US" b="1">
              <a:solidFill>
                <a:schemeClr val="bg2"/>
              </a:solidFill>
              <a:sym typeface="+mn-ea"/>
            </a:endParaRPr>
          </a:p>
        </p:txBody>
      </p:sp>
      <p:pic>
        <p:nvPicPr>
          <p:cNvPr id="24582" name="图片 1"/>
          <p:cNvPicPr>
            <a:picLocks noChangeAspect="1"/>
          </p:cNvPicPr>
          <p:nvPr/>
        </p:nvPicPr>
        <p:blipFill>
          <a:blip r:embed="rId3" cstate="print"/>
          <a:srcRect/>
          <a:stretch>
            <a:fillRect/>
          </a:stretch>
        </p:blipFill>
        <p:spPr bwMode="auto">
          <a:xfrm>
            <a:off x="8711565" y="753745"/>
            <a:ext cx="3335020" cy="1303655"/>
          </a:xfrm>
          <a:prstGeom prst="rect">
            <a:avLst/>
          </a:prstGeom>
          <a:noFill/>
          <a:ln w="9525">
            <a:noFill/>
            <a:miter lim="800000"/>
            <a:headEnd/>
            <a:tailEnd/>
          </a:ln>
        </p:spPr>
      </p:pic>
      <p:sp>
        <p:nvSpPr>
          <p:cNvPr id="8" name="文本框 7"/>
          <p:cNvSpPr txBox="1"/>
          <p:nvPr/>
        </p:nvSpPr>
        <p:spPr>
          <a:xfrm>
            <a:off x="4822190" y="557530"/>
            <a:ext cx="3889375" cy="1630045"/>
          </a:xfrm>
          <a:prstGeom prst="rect">
            <a:avLst/>
          </a:prstGeom>
          <a:noFill/>
        </p:spPr>
        <p:txBody>
          <a:bodyPr wrap="square" rtlCol="0">
            <a:spAutoFit/>
            <a:scene3d>
              <a:camera prst="orthographicFront"/>
              <a:lightRig rig="threePt" dir="t"/>
            </a:scene3d>
          </a:bodyPr>
          <a:p>
            <a:pPr marL="0" indent="0" eaLnBrk="1" hangingPunct="1">
              <a:lnSpc>
                <a:spcPts val="3000"/>
              </a:lnSpc>
              <a:spcAft>
                <a:spcPts val="600"/>
              </a:spcAft>
              <a:defRPr/>
            </a:pPr>
            <a:r>
              <a:rPr lang="zh-CN" altLang="en-US" sz="1200" dirty="0" smtClean="0">
                <a:solidFill>
                  <a:schemeClr val="tx1"/>
                </a:solidFill>
                <a:latin typeface="+mn-ea"/>
                <a:cs typeface="+mn-ea"/>
                <a:sym typeface="+mn-ea"/>
              </a:rPr>
              <a:t>实现对象操作的代码和数据是隐藏在对象内部的，一个对象好像是一个</a:t>
            </a:r>
            <a:r>
              <a:rPr lang="zh-CN" altLang="en-US" sz="1200" b="1" dirty="0" smtClean="0">
                <a:solidFill>
                  <a:srgbClr val="00B0F0"/>
                </a:solidFill>
                <a:latin typeface="+mn-ea"/>
                <a:cs typeface="+mn-ea"/>
                <a:sym typeface="+mn-ea"/>
              </a:rPr>
              <a:t>黑盒子</a:t>
            </a:r>
            <a:r>
              <a:rPr lang="zh-CN" altLang="en-US" sz="1200" dirty="0" smtClean="0">
                <a:solidFill>
                  <a:schemeClr val="tx1"/>
                </a:solidFill>
                <a:latin typeface="+mn-ea"/>
                <a:cs typeface="+mn-ea"/>
                <a:sym typeface="+mn-ea"/>
              </a:rPr>
              <a:t>，表示它内部状态的数据和实现各个操作的代码及局部数据，都被封装在这个黑盒子内部，在外面是看不见的，更不能从外面去访问或修改这</a:t>
            </a:r>
            <a:endParaRPr lang="zh-CN" altLang="en-US" sz="1200" dirty="0" smtClean="0">
              <a:solidFill>
                <a:schemeClr val="tx1"/>
              </a:solidFill>
              <a:latin typeface="+mn-ea"/>
              <a:cs typeface="+mn-ea"/>
              <a:sym typeface="+mn-ea"/>
            </a:endParaRPr>
          </a:p>
        </p:txBody>
      </p:sp>
      <p:sp>
        <p:nvSpPr>
          <p:cNvPr id="9" name="文本框 8"/>
          <p:cNvSpPr txBox="1"/>
          <p:nvPr/>
        </p:nvSpPr>
        <p:spPr>
          <a:xfrm>
            <a:off x="4822825" y="2091055"/>
            <a:ext cx="7223760" cy="924560"/>
          </a:xfrm>
          <a:prstGeom prst="rect">
            <a:avLst/>
          </a:prstGeom>
          <a:noFill/>
        </p:spPr>
        <p:txBody>
          <a:bodyPr wrap="square" rtlCol="0">
            <a:noAutofit/>
          </a:bodyPr>
          <a:p>
            <a:pPr algn="l">
              <a:lnSpc>
                <a:spcPts val="3000"/>
              </a:lnSpc>
              <a:spcAft>
                <a:spcPts val="600"/>
              </a:spcAft>
              <a:buClrTx/>
              <a:buSzTx/>
              <a:buFontTx/>
              <a:defRPr/>
            </a:pPr>
            <a:r>
              <a:rPr lang="zh-CN" altLang="en-US" sz="1200" dirty="0" smtClean="0">
                <a:latin typeface="+mn-ea"/>
                <a:cs typeface="+mn-ea"/>
                <a:sym typeface="+mn-ea"/>
              </a:rPr>
              <a:t>些数据或代码。 使用对象时只需知道它向外界提供的</a:t>
            </a:r>
            <a:r>
              <a:rPr lang="zh-CN" altLang="en-US" sz="1200" b="1" dirty="0" smtClean="0">
                <a:solidFill>
                  <a:srgbClr val="FF0000"/>
                </a:solidFill>
                <a:highlight>
                  <a:srgbClr val="FFFF00"/>
                </a:highlight>
                <a:latin typeface="+mn-ea"/>
                <a:cs typeface="+mn-ea"/>
                <a:sym typeface="+mn-ea"/>
              </a:rPr>
              <a:t>接口形式</a:t>
            </a:r>
            <a:r>
              <a:rPr lang="zh-CN" altLang="en-US" sz="1200" dirty="0" smtClean="0">
                <a:latin typeface="+mn-ea"/>
                <a:cs typeface="+mn-ea"/>
                <a:sym typeface="+mn-ea"/>
              </a:rPr>
              <a:t>而无须知道它的内部实现算法，不仅使得对象的使用变得非常简单、方便，而且具有很高的安全性和可靠性。</a:t>
            </a:r>
            <a:endParaRPr lang="zh-CN" altLang="en-US" sz="1200" dirty="0" smtClean="0">
              <a:solidFill>
                <a:schemeClr val="tx1"/>
              </a:solidFill>
              <a:latin typeface="+mn-ea"/>
              <a:cs typeface="+mn-ea"/>
              <a:sym typeface="+mn-ea"/>
            </a:endParaRPr>
          </a:p>
          <a:p>
            <a:endParaRPr lang="zh-CN" altLang="en-US"/>
          </a:p>
          <a:p>
            <a:endParaRPr lang="zh-CN" altLang="en-US"/>
          </a:p>
          <a:p>
            <a:endParaRPr lang="zh-CN" altLang="en-US"/>
          </a:p>
          <a:p>
            <a:endParaRPr lang="zh-CN" altLang="en-US"/>
          </a:p>
          <a:p>
            <a:endParaRPr lang="zh-CN" altLang="en-US"/>
          </a:p>
          <a:p>
            <a:endParaRPr lang="zh-CN" altLang="en-US"/>
          </a:p>
          <a:p>
            <a:endParaRPr lang="zh-CN" altLang="en-US"/>
          </a:p>
        </p:txBody>
      </p:sp>
      <p:pic>
        <p:nvPicPr>
          <p:cNvPr id="30724" name="图片 1"/>
          <p:cNvPicPr>
            <a:picLocks noChangeAspect="1"/>
          </p:cNvPicPr>
          <p:nvPr/>
        </p:nvPicPr>
        <p:blipFill>
          <a:blip r:embed="rId4" cstate="print"/>
          <a:srcRect/>
          <a:stretch>
            <a:fillRect/>
          </a:stretch>
        </p:blipFill>
        <p:spPr bwMode="auto">
          <a:xfrm>
            <a:off x="8933180" y="4979670"/>
            <a:ext cx="3258185" cy="1621790"/>
          </a:xfrm>
          <a:prstGeom prst="rect">
            <a:avLst/>
          </a:prstGeom>
          <a:noFill/>
          <a:ln w="9525">
            <a:noFill/>
            <a:miter lim="800000"/>
            <a:headEnd/>
            <a:tailEnd/>
          </a:ln>
        </p:spPr>
      </p:pic>
      <p:sp>
        <p:nvSpPr>
          <p:cNvPr id="13" name="文本框 12"/>
          <p:cNvSpPr txBox="1"/>
          <p:nvPr/>
        </p:nvSpPr>
        <p:spPr>
          <a:xfrm>
            <a:off x="8806180" y="3049270"/>
            <a:ext cx="3385185" cy="1753235"/>
          </a:xfrm>
          <a:prstGeom prst="rect">
            <a:avLst/>
          </a:prstGeom>
          <a:noFill/>
        </p:spPr>
        <p:txBody>
          <a:bodyPr wrap="square" rtlCol="0">
            <a:spAutoFit/>
          </a:bodyPr>
          <a:p>
            <a:pPr>
              <a:lnSpc>
                <a:spcPct val="200000"/>
              </a:lnSpc>
            </a:pPr>
            <a:r>
              <a:rPr lang="zh-CN" altLang="zh-CN" sz="1200" dirty="0">
                <a:latin typeface="+mn-ea"/>
                <a:cs typeface="+mn-ea"/>
                <a:sym typeface="+mn-ea"/>
              </a:rPr>
              <a:t>从动态角度或对象的实现机制来看，对象是一台自动机。具有内部状态</a:t>
            </a:r>
            <a:r>
              <a:rPr lang="en-US" altLang="zh-CN" sz="1200" i="1" dirty="0">
                <a:latin typeface="+mn-ea"/>
                <a:cs typeface="+mn-ea"/>
                <a:sym typeface="+mn-ea"/>
              </a:rPr>
              <a:t>S</a:t>
            </a:r>
            <a:r>
              <a:rPr lang="zh-CN" altLang="zh-CN" sz="1200" dirty="0">
                <a:latin typeface="+mn-ea"/>
                <a:cs typeface="+mn-ea"/>
                <a:sym typeface="+mn-ea"/>
              </a:rPr>
              <a:t>，</a:t>
            </a:r>
            <a:r>
              <a:rPr lang="zh-CN" altLang="zh-CN" sz="1200" dirty="0">
                <a:solidFill>
                  <a:srgbClr val="FF0000"/>
                </a:solidFill>
                <a:latin typeface="+mn-ea"/>
                <a:cs typeface="+mn-ea"/>
                <a:sym typeface="+mn-ea"/>
              </a:rPr>
              <a:t>操作</a:t>
            </a:r>
            <a:r>
              <a:rPr lang="en-US" altLang="zh-CN" sz="1200" i="1" dirty="0" err="1" smtClean="0">
                <a:solidFill>
                  <a:srgbClr val="FF0000"/>
                </a:solidFill>
                <a:latin typeface="+mn-ea"/>
                <a:cs typeface="+mn-ea"/>
                <a:sym typeface="+mn-ea"/>
              </a:rPr>
              <a:t>f</a:t>
            </a:r>
            <a:r>
              <a:rPr lang="en-US" altLang="zh-CN" sz="1200" i="1" baseline="-25000" dirty="0" err="1" smtClean="0">
                <a:solidFill>
                  <a:srgbClr val="FF0000"/>
                </a:solidFill>
                <a:latin typeface="+mn-ea"/>
                <a:cs typeface="+mn-ea"/>
                <a:sym typeface="+mn-ea"/>
              </a:rPr>
              <a:t>i</a:t>
            </a:r>
            <a:r>
              <a:rPr lang="en-US" altLang="zh-CN" sz="1200" i="1" baseline="-25000" dirty="0" smtClean="0">
                <a:solidFill>
                  <a:srgbClr val="FF0000"/>
                </a:solidFill>
                <a:latin typeface="+mn-ea"/>
                <a:cs typeface="+mn-ea"/>
                <a:sym typeface="+mn-ea"/>
              </a:rPr>
              <a:t> </a:t>
            </a:r>
            <a:r>
              <a:rPr lang="en-US" altLang="zh-CN" sz="1200" dirty="0" smtClean="0">
                <a:latin typeface="+mn-ea"/>
                <a:cs typeface="+mn-ea"/>
                <a:sym typeface="+mn-ea"/>
              </a:rPr>
              <a:t>(</a:t>
            </a:r>
            <a:r>
              <a:rPr lang="en-US" altLang="zh-CN" sz="1200" i="1" dirty="0" err="1">
                <a:latin typeface="+mn-ea"/>
                <a:cs typeface="+mn-ea"/>
                <a:sym typeface="+mn-ea"/>
              </a:rPr>
              <a:t>i</a:t>
            </a:r>
            <a:r>
              <a:rPr lang="en-US" altLang="zh-CN" sz="1200" i="1" dirty="0">
                <a:latin typeface="+mn-ea"/>
                <a:cs typeface="+mn-ea"/>
                <a:sym typeface="+mn-ea"/>
              </a:rPr>
              <a:t>=1,2,</a:t>
            </a:r>
            <a:r>
              <a:rPr lang="zh-CN" altLang="zh-CN" sz="1200" i="1" dirty="0">
                <a:latin typeface="+mn-ea"/>
                <a:cs typeface="+mn-ea"/>
                <a:sym typeface="+mn-ea"/>
              </a:rPr>
              <a:t>…</a:t>
            </a:r>
            <a:r>
              <a:rPr lang="en-US" altLang="zh-CN" sz="1200" i="1" dirty="0">
                <a:latin typeface="+mn-ea"/>
                <a:cs typeface="+mn-ea"/>
                <a:sym typeface="+mn-ea"/>
              </a:rPr>
              <a:t>,n</a:t>
            </a:r>
            <a:r>
              <a:rPr lang="en-US" altLang="zh-CN" sz="1200" dirty="0">
                <a:latin typeface="+mn-ea"/>
                <a:cs typeface="+mn-ea"/>
                <a:sym typeface="+mn-ea"/>
              </a:rPr>
              <a:t>)</a:t>
            </a:r>
            <a:r>
              <a:rPr lang="zh-CN" altLang="zh-CN" sz="1200" dirty="0">
                <a:latin typeface="+mn-ea"/>
                <a:cs typeface="+mn-ea"/>
                <a:sym typeface="+mn-ea"/>
              </a:rPr>
              <a:t>，且与操作</a:t>
            </a:r>
            <a:r>
              <a:rPr lang="en-US" altLang="zh-CN" sz="1200" i="1" dirty="0">
                <a:latin typeface="+mn-ea"/>
                <a:cs typeface="+mn-ea"/>
                <a:sym typeface="+mn-ea"/>
              </a:rPr>
              <a:t>f</a:t>
            </a:r>
            <a:r>
              <a:rPr lang="en-US" altLang="zh-CN" sz="1200" i="1" baseline="-25000" dirty="0">
                <a:latin typeface="+mn-ea"/>
                <a:cs typeface="+mn-ea"/>
                <a:sym typeface="+mn-ea"/>
              </a:rPr>
              <a:t>i</a:t>
            </a:r>
            <a:r>
              <a:rPr lang="zh-CN" altLang="zh-CN" sz="1200" dirty="0">
                <a:latin typeface="+mn-ea"/>
                <a:cs typeface="+mn-ea"/>
                <a:sym typeface="+mn-ea"/>
              </a:rPr>
              <a:t>对应的</a:t>
            </a:r>
            <a:r>
              <a:rPr lang="zh-CN" altLang="zh-CN" sz="1200" dirty="0">
                <a:solidFill>
                  <a:srgbClr val="FF0000"/>
                </a:solidFill>
                <a:latin typeface="+mn-ea"/>
                <a:cs typeface="+mn-ea"/>
                <a:sym typeface="+mn-ea"/>
              </a:rPr>
              <a:t>状态转换函数</a:t>
            </a:r>
            <a:r>
              <a:rPr lang="zh-CN" altLang="zh-CN" sz="1200" dirty="0">
                <a:latin typeface="+mn-ea"/>
                <a:cs typeface="+mn-ea"/>
                <a:sym typeface="+mn-ea"/>
              </a:rPr>
              <a:t>为</a:t>
            </a:r>
            <a:r>
              <a:rPr lang="en-US" altLang="zh-CN" sz="1200" i="1" dirty="0" err="1" smtClean="0">
                <a:solidFill>
                  <a:srgbClr val="FF0000"/>
                </a:solidFill>
                <a:latin typeface="+mn-ea"/>
                <a:cs typeface="+mn-ea"/>
                <a:sym typeface="+mn-ea"/>
              </a:rPr>
              <a:t>g</a:t>
            </a:r>
            <a:r>
              <a:rPr lang="en-US" altLang="zh-CN" sz="1200" i="1" baseline="-25000" dirty="0" err="1" smtClean="0">
                <a:solidFill>
                  <a:srgbClr val="FF0000"/>
                </a:solidFill>
                <a:latin typeface="+mn-ea"/>
                <a:cs typeface="+mn-ea"/>
                <a:sym typeface="+mn-ea"/>
              </a:rPr>
              <a:t>i</a:t>
            </a:r>
            <a:r>
              <a:rPr lang="en-US" altLang="zh-CN" sz="1200" i="1" baseline="-25000" dirty="0" smtClean="0">
                <a:solidFill>
                  <a:srgbClr val="FF0000"/>
                </a:solidFill>
                <a:latin typeface="+mn-ea"/>
                <a:cs typeface="+mn-ea"/>
                <a:sym typeface="+mn-ea"/>
              </a:rPr>
              <a:t> </a:t>
            </a:r>
            <a:r>
              <a:rPr lang="en-US" altLang="zh-CN" sz="1200" dirty="0" smtClean="0">
                <a:latin typeface="+mn-ea"/>
                <a:cs typeface="+mn-ea"/>
                <a:sym typeface="+mn-ea"/>
              </a:rPr>
              <a:t>(</a:t>
            </a:r>
            <a:r>
              <a:rPr lang="en-US" altLang="zh-CN" sz="1200" i="1" dirty="0" err="1">
                <a:latin typeface="+mn-ea"/>
                <a:cs typeface="+mn-ea"/>
                <a:sym typeface="+mn-ea"/>
              </a:rPr>
              <a:t>i</a:t>
            </a:r>
            <a:r>
              <a:rPr lang="en-US" altLang="zh-CN" sz="1200" i="1" dirty="0">
                <a:latin typeface="+mn-ea"/>
                <a:cs typeface="+mn-ea"/>
                <a:sym typeface="+mn-ea"/>
              </a:rPr>
              <a:t>=1,2,</a:t>
            </a:r>
            <a:r>
              <a:rPr lang="zh-CN" altLang="zh-CN" sz="1200" i="1" dirty="0">
                <a:latin typeface="+mn-ea"/>
                <a:cs typeface="+mn-ea"/>
                <a:sym typeface="+mn-ea"/>
              </a:rPr>
              <a:t>…</a:t>
            </a:r>
            <a:r>
              <a:rPr lang="en-US" altLang="zh-CN" sz="1200" i="1" dirty="0">
                <a:latin typeface="+mn-ea"/>
                <a:cs typeface="+mn-ea"/>
                <a:sym typeface="+mn-ea"/>
              </a:rPr>
              <a:t>,n</a:t>
            </a:r>
            <a:r>
              <a:rPr lang="en-US" altLang="zh-CN" sz="1200" dirty="0">
                <a:latin typeface="+mn-ea"/>
                <a:cs typeface="+mn-ea"/>
                <a:sym typeface="+mn-ea"/>
              </a:rPr>
              <a:t>)</a:t>
            </a:r>
            <a:r>
              <a:rPr lang="zh-CN" altLang="zh-CN" sz="1200" dirty="0">
                <a:latin typeface="+mn-ea"/>
                <a:cs typeface="+mn-ea"/>
                <a:sym typeface="+mn-ea"/>
              </a:rPr>
              <a:t>的一个对象，可用</a:t>
            </a:r>
            <a:r>
              <a:rPr lang="zh-CN" altLang="en-US" sz="1200" dirty="0">
                <a:latin typeface="+mn-ea"/>
                <a:cs typeface="+mn-ea"/>
                <a:sym typeface="+mn-ea"/>
              </a:rPr>
              <a:t>右图</a:t>
            </a:r>
            <a:r>
              <a:rPr lang="zh-CN" altLang="zh-CN" sz="1200" dirty="0">
                <a:latin typeface="+mn-ea"/>
                <a:cs typeface="+mn-ea"/>
                <a:sym typeface="+mn-ea"/>
              </a:rPr>
              <a:t>所示的自动机来模拟。</a:t>
            </a:r>
            <a:endParaRPr lang="zh-CN" altLang="en-US" sz="1200" dirty="0">
              <a:latin typeface="+mn-ea"/>
              <a:cs typeface="+mn-ea"/>
            </a:endParaRPr>
          </a:p>
          <a:p>
            <a:endParaRPr lang="zh-CN" altLang="en-US" sz="1200">
              <a:latin typeface="+mn-ea"/>
              <a:cs typeface="+mn-ea"/>
            </a:endParaRPr>
          </a:p>
        </p:txBody>
      </p:sp>
      <p:sp>
        <p:nvSpPr>
          <p:cNvPr id="15" name="文本框 14"/>
          <p:cNvSpPr txBox="1"/>
          <p:nvPr/>
        </p:nvSpPr>
        <p:spPr>
          <a:xfrm>
            <a:off x="4823460" y="2955290"/>
            <a:ext cx="3982085" cy="2403475"/>
          </a:xfrm>
          <a:prstGeom prst="rect">
            <a:avLst/>
          </a:prstGeom>
          <a:solidFill>
            <a:schemeClr val="accent1">
              <a:lumMod val="20000"/>
              <a:lumOff val="80000"/>
            </a:schemeClr>
          </a:solidFill>
          <a:ln>
            <a:solidFill>
              <a:schemeClr val="tx1"/>
            </a:solidFill>
          </a:ln>
        </p:spPr>
        <p:txBody>
          <a:bodyPr wrap="square" rtlCol="0">
            <a:noAutofit/>
          </a:bodyPr>
          <a:p>
            <a:pPr indent="0" fontAlgn="auto">
              <a:lnSpc>
                <a:spcPct val="160000"/>
              </a:lnSpc>
              <a:spcAft>
                <a:spcPts val="0"/>
              </a:spcAft>
              <a:defRPr/>
            </a:pPr>
            <a:r>
              <a:rPr lang="zh-CN" altLang="zh-CN" sz="1000" dirty="0" smtClean="0">
                <a:latin typeface="+mn-ea"/>
                <a:cs typeface="+mn-ea"/>
                <a:sym typeface="+mn-ea"/>
              </a:rPr>
              <a:t>人们</a:t>
            </a:r>
            <a:r>
              <a:rPr lang="zh-CN" altLang="zh-CN" sz="1000" dirty="0">
                <a:latin typeface="+mn-ea"/>
                <a:cs typeface="+mn-ea"/>
                <a:sym typeface="+mn-ea"/>
              </a:rPr>
              <a:t>从不同角度给出对象的不同</a:t>
            </a:r>
            <a:r>
              <a:rPr lang="zh-CN" altLang="zh-CN" sz="1000" dirty="0" smtClean="0">
                <a:latin typeface="+mn-ea"/>
                <a:cs typeface="+mn-ea"/>
                <a:sym typeface="+mn-ea"/>
              </a:rPr>
              <a:t>定义</a:t>
            </a:r>
            <a:r>
              <a:rPr lang="zh-CN" altLang="en-US" sz="1000" dirty="0" smtClean="0">
                <a:latin typeface="+mn-ea"/>
                <a:cs typeface="+mn-ea"/>
                <a:sym typeface="+mn-ea"/>
              </a:rPr>
              <a:t>如下：（</a:t>
            </a:r>
            <a:r>
              <a:rPr lang="zh-CN" altLang="en-US" sz="1000" dirty="0" smtClean="0">
                <a:latin typeface="+mn-ea"/>
                <a:cs typeface="+mn-ea"/>
                <a:sym typeface="Wingdings" panose="05000000000000000000" pitchFamily="2" charset="2"/>
              </a:rPr>
              <a:t>含义相同</a:t>
            </a:r>
            <a:r>
              <a:rPr lang="zh-CN" altLang="en-US" sz="1000" dirty="0" smtClean="0">
                <a:latin typeface="+mn-ea"/>
                <a:cs typeface="+mn-ea"/>
                <a:sym typeface="+mn-ea"/>
              </a:rPr>
              <a:t>）</a:t>
            </a:r>
            <a:endParaRPr lang="en-US" altLang="zh-CN" sz="1000" dirty="0" smtClean="0">
              <a:latin typeface="+mn-ea"/>
              <a:cs typeface="+mn-ea"/>
            </a:endParaRPr>
          </a:p>
          <a:p>
            <a:pPr indent="0" fontAlgn="auto">
              <a:lnSpc>
                <a:spcPct val="160000"/>
              </a:lnSpc>
              <a:defRPr/>
            </a:pPr>
            <a:r>
              <a:rPr lang="zh-CN" altLang="zh-CN" sz="1000" b="1" dirty="0" smtClean="0">
                <a:latin typeface="+mn-ea"/>
                <a:cs typeface="+mn-ea"/>
                <a:sym typeface="+mn-ea"/>
              </a:rPr>
              <a:t>定义</a:t>
            </a:r>
            <a:r>
              <a:rPr lang="en-US" altLang="zh-CN" sz="1000" b="1" dirty="0">
                <a:latin typeface="+mn-ea"/>
                <a:cs typeface="+mn-ea"/>
                <a:sym typeface="+mn-ea"/>
              </a:rPr>
              <a:t>1</a:t>
            </a:r>
            <a:r>
              <a:rPr lang="zh-CN" altLang="zh-CN" sz="1000" dirty="0" smtClean="0">
                <a:latin typeface="+mn-ea"/>
                <a:cs typeface="+mn-ea"/>
                <a:sym typeface="+mn-ea"/>
              </a:rPr>
              <a:t>：</a:t>
            </a:r>
            <a:r>
              <a:rPr lang="zh-CN" altLang="zh-CN" sz="1000" dirty="0" smtClean="0">
                <a:solidFill>
                  <a:srgbClr val="FF0000"/>
                </a:solidFill>
                <a:latin typeface="+mn-ea"/>
                <a:cs typeface="+mn-ea"/>
                <a:sym typeface="+mn-ea"/>
              </a:rPr>
              <a:t>对象</a:t>
            </a:r>
            <a:r>
              <a:rPr lang="zh-CN" altLang="zh-CN" sz="1000" dirty="0">
                <a:solidFill>
                  <a:srgbClr val="FF0000"/>
                </a:solidFill>
                <a:latin typeface="+mn-ea"/>
                <a:cs typeface="+mn-ea"/>
                <a:sym typeface="+mn-ea"/>
              </a:rPr>
              <a:t>是具有相同状态的一组操作的集合</a:t>
            </a:r>
            <a:r>
              <a:rPr lang="zh-CN" altLang="zh-CN" sz="1000" dirty="0">
                <a:latin typeface="+mn-ea"/>
                <a:cs typeface="+mn-ea"/>
                <a:sym typeface="+mn-ea"/>
              </a:rPr>
              <a:t>。</a:t>
            </a:r>
            <a:r>
              <a:rPr lang="zh-CN" altLang="zh-CN" sz="1000" dirty="0" smtClean="0">
                <a:latin typeface="+mn-ea"/>
                <a:cs typeface="+mn-ea"/>
                <a:sym typeface="+mn-ea"/>
              </a:rPr>
              <a:t>这个</a:t>
            </a:r>
            <a:r>
              <a:rPr lang="zh-CN" altLang="zh-CN" sz="1000" dirty="0">
                <a:latin typeface="+mn-ea"/>
                <a:cs typeface="+mn-ea"/>
                <a:sym typeface="+mn-ea"/>
              </a:rPr>
              <a:t>定义主要是从</a:t>
            </a:r>
            <a:r>
              <a:rPr lang="zh-CN" altLang="zh-CN" sz="1000" dirty="0">
                <a:solidFill>
                  <a:srgbClr val="FF0000"/>
                </a:solidFill>
                <a:latin typeface="+mn-ea"/>
                <a:cs typeface="+mn-ea"/>
                <a:sym typeface="+mn-ea"/>
              </a:rPr>
              <a:t>面向对象程序设计</a:t>
            </a:r>
            <a:r>
              <a:rPr lang="zh-CN" altLang="zh-CN" sz="1000" dirty="0">
                <a:latin typeface="+mn-ea"/>
                <a:cs typeface="+mn-ea"/>
                <a:sym typeface="+mn-ea"/>
              </a:rPr>
              <a:t>的角度看“对象”。</a:t>
            </a:r>
            <a:endParaRPr lang="zh-CN" altLang="zh-CN" sz="1000" dirty="0">
              <a:latin typeface="+mn-ea"/>
              <a:cs typeface="+mn-ea"/>
            </a:endParaRPr>
          </a:p>
          <a:p>
            <a:pPr indent="0" fontAlgn="auto">
              <a:lnSpc>
                <a:spcPct val="160000"/>
              </a:lnSpc>
              <a:defRPr/>
            </a:pPr>
            <a:r>
              <a:rPr lang="zh-CN" altLang="zh-CN" sz="1000" b="1" dirty="0" smtClean="0">
                <a:latin typeface="+mn-ea"/>
                <a:cs typeface="+mn-ea"/>
                <a:sym typeface="+mn-ea"/>
              </a:rPr>
              <a:t>定义</a:t>
            </a:r>
            <a:r>
              <a:rPr lang="en-US" altLang="zh-CN" sz="1000" b="1" dirty="0">
                <a:latin typeface="+mn-ea"/>
                <a:cs typeface="+mn-ea"/>
                <a:sym typeface="+mn-ea"/>
              </a:rPr>
              <a:t>2</a:t>
            </a:r>
            <a:r>
              <a:rPr lang="zh-CN" altLang="zh-CN" sz="1000" dirty="0" smtClean="0">
                <a:latin typeface="+mn-ea"/>
                <a:cs typeface="+mn-ea"/>
                <a:sym typeface="+mn-ea"/>
              </a:rPr>
              <a:t>：</a:t>
            </a:r>
            <a:r>
              <a:rPr lang="zh-CN" altLang="zh-CN" sz="1000" dirty="0" smtClean="0">
                <a:solidFill>
                  <a:srgbClr val="FF0000"/>
                </a:solidFill>
                <a:latin typeface="+mn-ea"/>
                <a:cs typeface="+mn-ea"/>
                <a:sym typeface="+mn-ea"/>
              </a:rPr>
              <a:t>对象</a:t>
            </a:r>
            <a:r>
              <a:rPr lang="zh-CN" altLang="zh-CN" sz="1000" dirty="0">
                <a:solidFill>
                  <a:srgbClr val="FF0000"/>
                </a:solidFill>
                <a:latin typeface="+mn-ea"/>
                <a:cs typeface="+mn-ea"/>
                <a:sym typeface="+mn-ea"/>
              </a:rPr>
              <a:t>是对问题域中某个东西的抽象</a:t>
            </a:r>
            <a:r>
              <a:rPr lang="zh-CN" altLang="zh-CN" sz="1000" dirty="0">
                <a:latin typeface="+mn-ea"/>
                <a:cs typeface="+mn-ea"/>
                <a:sym typeface="+mn-ea"/>
              </a:rPr>
              <a:t>，这种抽象反映了系统保存有关这个东西的信息或与它交互的能力。也就是说，对象是对</a:t>
            </a:r>
            <a:r>
              <a:rPr lang="zh-CN" altLang="zh-CN" sz="1000" dirty="0">
                <a:solidFill>
                  <a:srgbClr val="FF0000"/>
                </a:solidFill>
                <a:latin typeface="+mn-ea"/>
                <a:cs typeface="+mn-ea"/>
                <a:sym typeface="+mn-ea"/>
              </a:rPr>
              <a:t>属性值</a:t>
            </a:r>
            <a:r>
              <a:rPr lang="zh-CN" altLang="zh-CN" sz="1000" dirty="0">
                <a:latin typeface="+mn-ea"/>
                <a:cs typeface="+mn-ea"/>
                <a:sym typeface="+mn-ea"/>
              </a:rPr>
              <a:t>和</a:t>
            </a:r>
            <a:r>
              <a:rPr lang="zh-CN" altLang="zh-CN" sz="1000" dirty="0">
                <a:solidFill>
                  <a:srgbClr val="FF0000"/>
                </a:solidFill>
                <a:latin typeface="+mn-ea"/>
                <a:cs typeface="+mn-ea"/>
                <a:sym typeface="+mn-ea"/>
              </a:rPr>
              <a:t>操作</a:t>
            </a:r>
            <a:r>
              <a:rPr lang="zh-CN" altLang="zh-CN" sz="1000" dirty="0">
                <a:latin typeface="+mn-ea"/>
                <a:cs typeface="+mn-ea"/>
                <a:sym typeface="+mn-ea"/>
              </a:rPr>
              <a:t>的封装。</a:t>
            </a:r>
            <a:r>
              <a:rPr lang="zh-CN" altLang="zh-CN" sz="1000" dirty="0" smtClean="0">
                <a:latin typeface="+mn-ea"/>
                <a:cs typeface="+mn-ea"/>
                <a:sym typeface="+mn-ea"/>
              </a:rPr>
              <a:t>这个</a:t>
            </a:r>
            <a:r>
              <a:rPr lang="zh-CN" altLang="zh-CN" sz="1000" dirty="0">
                <a:latin typeface="+mn-ea"/>
                <a:cs typeface="+mn-ea"/>
                <a:sym typeface="+mn-ea"/>
              </a:rPr>
              <a:t>定义着重从</a:t>
            </a:r>
            <a:r>
              <a:rPr lang="zh-CN" altLang="zh-CN" sz="1000" dirty="0">
                <a:solidFill>
                  <a:srgbClr val="FF0000"/>
                </a:solidFill>
                <a:latin typeface="+mn-ea"/>
                <a:cs typeface="+mn-ea"/>
                <a:sym typeface="+mn-ea"/>
              </a:rPr>
              <a:t>信息模拟</a:t>
            </a:r>
            <a:r>
              <a:rPr lang="zh-CN" altLang="zh-CN" sz="1000" dirty="0">
                <a:latin typeface="+mn-ea"/>
                <a:cs typeface="+mn-ea"/>
                <a:sym typeface="+mn-ea"/>
              </a:rPr>
              <a:t>的角度看待“对象”。</a:t>
            </a:r>
            <a:endParaRPr lang="zh-CN" altLang="zh-CN" sz="1000" dirty="0">
              <a:latin typeface="+mn-ea"/>
              <a:cs typeface="+mn-ea"/>
            </a:endParaRPr>
          </a:p>
          <a:p>
            <a:pPr indent="0" fontAlgn="auto">
              <a:lnSpc>
                <a:spcPct val="160000"/>
              </a:lnSpc>
              <a:defRPr/>
            </a:pPr>
            <a:r>
              <a:rPr lang="zh-CN" altLang="zh-CN" sz="1000" b="1" dirty="0" smtClean="0">
                <a:latin typeface="+mn-ea"/>
                <a:cs typeface="+mn-ea"/>
                <a:sym typeface="+mn-ea"/>
              </a:rPr>
              <a:t>定义</a:t>
            </a:r>
            <a:r>
              <a:rPr lang="en-US" altLang="zh-CN" sz="1000" b="1" dirty="0">
                <a:latin typeface="+mn-ea"/>
                <a:cs typeface="+mn-ea"/>
                <a:sym typeface="+mn-ea"/>
              </a:rPr>
              <a:t>3</a:t>
            </a:r>
            <a:r>
              <a:rPr lang="zh-CN" altLang="zh-CN" sz="1000" dirty="0" smtClean="0">
                <a:latin typeface="+mn-ea"/>
                <a:cs typeface="+mn-ea"/>
                <a:sym typeface="+mn-ea"/>
              </a:rPr>
              <a:t>：</a:t>
            </a:r>
            <a:r>
              <a:rPr lang="zh-CN" altLang="zh-CN" sz="1000" dirty="0" smtClean="0">
                <a:solidFill>
                  <a:srgbClr val="FF0000"/>
                </a:solidFill>
                <a:latin typeface="+mn-ea"/>
                <a:cs typeface="+mn-ea"/>
                <a:sym typeface="+mn-ea"/>
              </a:rPr>
              <a:t>对象</a:t>
            </a:r>
            <a:r>
              <a:rPr lang="zh-CN" altLang="zh-CN" sz="1000" dirty="0">
                <a:solidFill>
                  <a:srgbClr val="FF0000"/>
                </a:solidFill>
                <a:latin typeface="+mn-ea"/>
                <a:cs typeface="+mn-ea"/>
                <a:sym typeface="+mn-ea"/>
              </a:rPr>
              <a:t>∷</a:t>
            </a:r>
            <a:r>
              <a:rPr lang="en-US" altLang="zh-CN" sz="1000" dirty="0" smtClean="0">
                <a:solidFill>
                  <a:srgbClr val="FF0000"/>
                </a:solidFill>
                <a:latin typeface="+mn-ea"/>
                <a:cs typeface="+mn-ea"/>
                <a:sym typeface="+mn-ea"/>
              </a:rPr>
              <a:t>=&lt;ID,MS,DS,MI&gt;</a:t>
            </a:r>
            <a:r>
              <a:rPr lang="zh-CN" altLang="zh-CN" sz="1000" dirty="0" smtClean="0">
                <a:latin typeface="+mn-ea"/>
                <a:cs typeface="+mn-ea"/>
                <a:sym typeface="+mn-ea"/>
              </a:rPr>
              <a:t>。</a:t>
            </a:r>
            <a:r>
              <a:rPr lang="zh-CN" altLang="zh-CN" sz="1000" dirty="0">
                <a:latin typeface="+mn-ea"/>
                <a:cs typeface="+mn-ea"/>
                <a:sym typeface="+mn-ea"/>
              </a:rPr>
              <a:t>其中，</a:t>
            </a:r>
            <a:r>
              <a:rPr lang="en-US" altLang="zh-CN" sz="1000" dirty="0">
                <a:latin typeface="+mn-ea"/>
                <a:cs typeface="+mn-ea"/>
                <a:sym typeface="+mn-ea"/>
              </a:rPr>
              <a:t>ID</a:t>
            </a:r>
            <a:r>
              <a:rPr lang="zh-CN" altLang="zh-CN" sz="1000" dirty="0">
                <a:latin typeface="+mn-ea"/>
                <a:cs typeface="+mn-ea"/>
                <a:sym typeface="+mn-ea"/>
              </a:rPr>
              <a:t>是对象的标识或名字，</a:t>
            </a:r>
            <a:r>
              <a:rPr lang="en-US" altLang="zh-CN" sz="1000" dirty="0">
                <a:latin typeface="+mn-ea"/>
                <a:cs typeface="+mn-ea"/>
                <a:sym typeface="+mn-ea"/>
              </a:rPr>
              <a:t>MS</a:t>
            </a:r>
            <a:r>
              <a:rPr lang="zh-CN" altLang="zh-CN" sz="1000" dirty="0">
                <a:latin typeface="+mn-ea"/>
                <a:cs typeface="+mn-ea"/>
                <a:sym typeface="+mn-ea"/>
              </a:rPr>
              <a:t>是对象中的操作集合，</a:t>
            </a:r>
            <a:r>
              <a:rPr lang="en-US" altLang="zh-CN" sz="1000" dirty="0">
                <a:latin typeface="+mn-ea"/>
                <a:cs typeface="+mn-ea"/>
                <a:sym typeface="+mn-ea"/>
              </a:rPr>
              <a:t>DS</a:t>
            </a:r>
            <a:r>
              <a:rPr lang="zh-CN" altLang="zh-CN" sz="1000" dirty="0">
                <a:latin typeface="+mn-ea"/>
                <a:cs typeface="+mn-ea"/>
                <a:sym typeface="+mn-ea"/>
              </a:rPr>
              <a:t>是对象的数据结构，</a:t>
            </a:r>
            <a:r>
              <a:rPr lang="en-US" altLang="zh-CN" sz="1000" dirty="0">
                <a:latin typeface="+mn-ea"/>
                <a:cs typeface="+mn-ea"/>
                <a:sym typeface="+mn-ea"/>
              </a:rPr>
              <a:t>MI</a:t>
            </a:r>
            <a:r>
              <a:rPr lang="zh-CN" altLang="zh-CN" sz="1000" dirty="0">
                <a:latin typeface="+mn-ea"/>
                <a:cs typeface="+mn-ea"/>
                <a:sym typeface="+mn-ea"/>
              </a:rPr>
              <a:t>是对象受理的消息名</a:t>
            </a:r>
            <a:r>
              <a:rPr lang="zh-CN" altLang="zh-CN" sz="1000" dirty="0" smtClean="0">
                <a:latin typeface="+mn-ea"/>
                <a:cs typeface="+mn-ea"/>
                <a:sym typeface="+mn-ea"/>
              </a:rPr>
              <a:t>集合</a:t>
            </a:r>
            <a:r>
              <a:rPr lang="zh-CN" altLang="en-US" sz="1000" dirty="0" smtClean="0">
                <a:latin typeface="+mn-ea"/>
                <a:cs typeface="+mn-ea"/>
                <a:sym typeface="+mn-ea"/>
              </a:rPr>
              <a:t>（</a:t>
            </a:r>
            <a:r>
              <a:rPr lang="zh-CN" altLang="zh-CN" sz="1000" dirty="0" smtClean="0">
                <a:latin typeface="+mn-ea"/>
                <a:cs typeface="+mn-ea"/>
                <a:sym typeface="+mn-ea"/>
              </a:rPr>
              <a:t>即</a:t>
            </a:r>
            <a:r>
              <a:rPr lang="zh-CN" altLang="zh-CN" sz="1000" dirty="0">
                <a:latin typeface="+mn-ea"/>
                <a:cs typeface="+mn-ea"/>
                <a:sym typeface="+mn-ea"/>
              </a:rPr>
              <a:t>对外</a:t>
            </a:r>
            <a:r>
              <a:rPr lang="zh-CN" altLang="zh-CN" sz="1000" dirty="0" smtClean="0">
                <a:latin typeface="+mn-ea"/>
                <a:cs typeface="+mn-ea"/>
                <a:sym typeface="+mn-ea"/>
              </a:rPr>
              <a:t>接口</a:t>
            </a:r>
            <a:r>
              <a:rPr lang="zh-CN" altLang="en-US" sz="1000" dirty="0" smtClean="0">
                <a:latin typeface="+mn-ea"/>
                <a:cs typeface="+mn-ea"/>
                <a:sym typeface="+mn-ea"/>
              </a:rPr>
              <a:t>）</a:t>
            </a:r>
            <a:r>
              <a:rPr lang="zh-CN" altLang="zh-CN" sz="1000" dirty="0" smtClean="0">
                <a:latin typeface="+mn-ea"/>
                <a:cs typeface="+mn-ea"/>
                <a:sym typeface="+mn-ea"/>
              </a:rPr>
              <a:t>。</a:t>
            </a:r>
            <a:endParaRPr lang="zh-CN" altLang="zh-CN" sz="1000" dirty="0">
              <a:latin typeface="+mn-ea"/>
              <a:cs typeface="+mn-ea"/>
            </a:endParaRPr>
          </a:p>
          <a:p>
            <a:endParaRPr lang="zh-CN" altLang="en-US" sz="1000">
              <a:latin typeface="+mn-ea"/>
              <a:cs typeface="+mn-ea"/>
            </a:endParaRPr>
          </a:p>
        </p:txBody>
      </p:sp>
      <p:sp>
        <p:nvSpPr>
          <p:cNvPr id="16" name="文本框 15"/>
          <p:cNvSpPr txBox="1"/>
          <p:nvPr/>
        </p:nvSpPr>
        <p:spPr>
          <a:xfrm>
            <a:off x="4826635" y="5358765"/>
            <a:ext cx="3979545" cy="1499870"/>
          </a:xfrm>
          <a:prstGeom prst="rect">
            <a:avLst/>
          </a:prstGeom>
          <a:solidFill>
            <a:schemeClr val="accent1"/>
          </a:solidFill>
          <a:ln>
            <a:solidFill>
              <a:schemeClr val="tx1"/>
            </a:solidFill>
          </a:ln>
        </p:spPr>
        <p:txBody>
          <a:bodyPr wrap="square" rtlCol="0">
            <a:noAutofit/>
          </a:bodyPr>
          <a:p>
            <a:pPr>
              <a:lnSpc>
                <a:spcPct val="140000"/>
              </a:lnSpc>
            </a:pPr>
            <a:r>
              <a:rPr lang="zh-CN" altLang="zh-CN" sz="1200" b="1" dirty="0" smtClean="0">
                <a:solidFill>
                  <a:srgbClr val="FF0000"/>
                </a:solidFill>
                <a:latin typeface="Bodoni MT Black" panose="02070A03080606020203" pitchFamily="18" charset="0"/>
                <a:sym typeface="+mn-ea"/>
              </a:rPr>
              <a:t>对象</a:t>
            </a:r>
            <a:r>
              <a:rPr lang="zh-CN" altLang="zh-CN" sz="1200" b="1" dirty="0">
                <a:solidFill>
                  <a:schemeClr val="bg1"/>
                </a:solidFill>
                <a:latin typeface="Bodoni MT Black" panose="02070A03080606020203" pitchFamily="18" charset="0"/>
                <a:sym typeface="+mn-ea"/>
              </a:rPr>
              <a:t>是封装了</a:t>
            </a:r>
            <a:r>
              <a:rPr lang="zh-CN" altLang="zh-CN" sz="1200" b="1" dirty="0">
                <a:solidFill>
                  <a:srgbClr val="FFFF00"/>
                </a:solidFill>
                <a:latin typeface="Bodoni MT Black" panose="02070A03080606020203" pitchFamily="18" charset="0"/>
                <a:sym typeface="+mn-ea"/>
              </a:rPr>
              <a:t>数据结构</a:t>
            </a:r>
            <a:r>
              <a:rPr lang="zh-CN" altLang="zh-CN" sz="1200" b="1" dirty="0">
                <a:solidFill>
                  <a:schemeClr val="bg1"/>
                </a:solidFill>
                <a:latin typeface="Bodoni MT Black" panose="02070A03080606020203" pitchFamily="18" charset="0"/>
                <a:sym typeface="+mn-ea"/>
              </a:rPr>
              <a:t>及可以施加在这些数据结构上的</a:t>
            </a:r>
            <a:r>
              <a:rPr lang="zh-CN" altLang="zh-CN" sz="1200" b="1" dirty="0">
                <a:solidFill>
                  <a:srgbClr val="FFFF00"/>
                </a:solidFill>
                <a:latin typeface="Bodoni MT Black" panose="02070A03080606020203" pitchFamily="18" charset="0"/>
                <a:sym typeface="+mn-ea"/>
              </a:rPr>
              <a:t>操作</a:t>
            </a:r>
            <a:r>
              <a:rPr lang="zh-CN" altLang="zh-CN" sz="1200" b="1" dirty="0">
                <a:solidFill>
                  <a:schemeClr val="bg1"/>
                </a:solidFill>
                <a:latin typeface="Bodoni MT Black" panose="02070A03080606020203" pitchFamily="18" charset="0"/>
                <a:sym typeface="+mn-ea"/>
              </a:rPr>
              <a:t>的</a:t>
            </a:r>
            <a:r>
              <a:rPr lang="zh-CN" altLang="zh-CN" sz="1200" b="1" dirty="0">
                <a:solidFill>
                  <a:srgbClr val="FF0000"/>
                </a:solidFill>
                <a:highlight>
                  <a:srgbClr val="00FFFF"/>
                </a:highlight>
                <a:latin typeface="Bodoni MT Black" panose="02070A03080606020203" pitchFamily="18" charset="0"/>
                <a:sym typeface="+mn-ea"/>
              </a:rPr>
              <a:t>封装体</a:t>
            </a:r>
            <a:r>
              <a:rPr lang="zh-CN" altLang="zh-CN" sz="1200" b="1" dirty="0">
                <a:solidFill>
                  <a:schemeClr val="bg1"/>
                </a:solidFill>
                <a:latin typeface="Bodoni MT Black" panose="02070A03080606020203" pitchFamily="18" charset="0"/>
                <a:sym typeface="+mn-ea"/>
              </a:rPr>
              <a:t>，这个封装体有可以唯一地标识它的名字，而且向外界提供一组</a:t>
            </a:r>
            <a:r>
              <a:rPr lang="zh-CN" altLang="zh-CN" sz="1200" b="1" dirty="0" smtClean="0">
                <a:solidFill>
                  <a:schemeClr val="bg1"/>
                </a:solidFill>
                <a:latin typeface="Bodoni MT Black" panose="02070A03080606020203" pitchFamily="18" charset="0"/>
                <a:sym typeface="+mn-ea"/>
              </a:rPr>
              <a:t>服务</a:t>
            </a:r>
            <a:r>
              <a:rPr lang="zh-CN" altLang="en-US" sz="1200" b="1" dirty="0" smtClean="0">
                <a:solidFill>
                  <a:schemeClr val="bg1"/>
                </a:solidFill>
                <a:latin typeface="Bodoni MT Black" panose="02070A03080606020203" pitchFamily="18" charset="0"/>
                <a:sym typeface="+mn-ea"/>
              </a:rPr>
              <a:t>（</a:t>
            </a:r>
            <a:r>
              <a:rPr lang="zh-CN" altLang="zh-CN" sz="1200" b="1" dirty="0" smtClean="0">
                <a:solidFill>
                  <a:schemeClr val="bg1"/>
                </a:solidFill>
                <a:latin typeface="Bodoni MT Black" panose="02070A03080606020203" pitchFamily="18" charset="0"/>
                <a:sym typeface="+mn-ea"/>
              </a:rPr>
              <a:t>即公有操作</a:t>
            </a:r>
            <a:r>
              <a:rPr lang="zh-CN" altLang="en-US" sz="1200" b="1" dirty="0" smtClean="0">
                <a:solidFill>
                  <a:schemeClr val="bg1"/>
                </a:solidFill>
                <a:latin typeface="Bodoni MT Black" panose="02070A03080606020203" pitchFamily="18" charset="0"/>
                <a:sym typeface="+mn-ea"/>
              </a:rPr>
              <a:t>）</a:t>
            </a:r>
            <a:r>
              <a:rPr lang="zh-CN" altLang="zh-CN" sz="1200" b="1" dirty="0" smtClean="0">
                <a:solidFill>
                  <a:schemeClr val="bg1"/>
                </a:solidFill>
                <a:latin typeface="Bodoni MT Black" panose="02070A03080606020203" pitchFamily="18" charset="0"/>
                <a:sym typeface="+mn-ea"/>
              </a:rPr>
              <a:t>。</a:t>
            </a:r>
            <a:r>
              <a:rPr lang="zh-CN" altLang="zh-CN" sz="1200" b="1" dirty="0">
                <a:solidFill>
                  <a:schemeClr val="bg1"/>
                </a:solidFill>
                <a:latin typeface="Bodoni MT Black" panose="02070A03080606020203" pitchFamily="18" charset="0"/>
                <a:sym typeface="+mn-ea"/>
              </a:rPr>
              <a:t>对象中的数据表示对象的状态</a:t>
            </a:r>
            <a:r>
              <a:rPr lang="zh-CN" altLang="zh-CN" sz="1200" b="1" dirty="0" smtClean="0">
                <a:solidFill>
                  <a:schemeClr val="bg1"/>
                </a:solidFill>
                <a:latin typeface="Bodoni MT Black" panose="02070A03080606020203" pitchFamily="18" charset="0"/>
                <a:sym typeface="+mn-ea"/>
              </a:rPr>
              <a:t>，一</a:t>
            </a:r>
            <a:r>
              <a:rPr lang="zh-CN" altLang="zh-CN" sz="1200" b="1" dirty="0">
                <a:solidFill>
                  <a:schemeClr val="bg1"/>
                </a:solidFill>
                <a:latin typeface="Bodoni MT Black" panose="02070A03080606020203" pitchFamily="18" charset="0"/>
                <a:sym typeface="+mn-ea"/>
              </a:rPr>
              <a:t>个对象的状态只能由该对象的操作来改变</a:t>
            </a:r>
            <a:r>
              <a:rPr lang="zh-CN" altLang="zh-CN" sz="1200" b="1" dirty="0" smtClean="0">
                <a:solidFill>
                  <a:schemeClr val="bg1"/>
                </a:solidFill>
                <a:latin typeface="Bodoni MT Black" panose="02070A03080606020203" pitchFamily="18" charset="0"/>
                <a:sym typeface="+mn-ea"/>
              </a:rPr>
              <a:t>。</a:t>
            </a:r>
            <a:endParaRPr lang="zh-CN" altLang="zh-CN" sz="1200" b="1" dirty="0" smtClean="0">
              <a:solidFill>
                <a:schemeClr val="bg1"/>
              </a:solidFill>
              <a:latin typeface="Bodoni MT Black" panose="02070A03080606020203" pitchFamily="18" charset="0"/>
              <a:sym typeface="+mn-ea"/>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10774045" y="247015"/>
            <a:ext cx="1265555" cy="1174115"/>
          </a:xfrm>
          <a:prstGeom prst="rect">
            <a:avLst/>
          </a:prstGeom>
          <a:solidFill>
            <a:schemeClr val="bg1"/>
          </a:solidFill>
        </p:spPr>
        <p:txBody>
          <a:bodyPr wrap="square" rtlCol="0">
            <a:noAutofit/>
          </a:bodyPr>
          <a:p>
            <a:endParaRPr lang="zh-CN" altLang="en-US"/>
          </a:p>
        </p:txBody>
      </p:sp>
      <p:sp>
        <p:nvSpPr>
          <p:cNvPr id="5" name="文本框 4"/>
          <p:cNvSpPr txBox="1"/>
          <p:nvPr/>
        </p:nvSpPr>
        <p:spPr>
          <a:xfrm>
            <a:off x="186690" y="5527675"/>
            <a:ext cx="1054100" cy="1010285"/>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8" name="文本框 7"/>
          <p:cNvSpPr txBox="1"/>
          <p:nvPr/>
        </p:nvSpPr>
        <p:spPr>
          <a:xfrm>
            <a:off x="297815" y="609600"/>
            <a:ext cx="5505450" cy="6017260"/>
          </a:xfrm>
          <a:prstGeom prst="rect">
            <a:avLst/>
          </a:prstGeom>
          <a:solidFill>
            <a:schemeClr val="bg2"/>
          </a:solidFill>
        </p:spPr>
        <p:txBody>
          <a:bodyPr wrap="square" rtlCol="0">
            <a:noAutofit/>
          </a:bodyPr>
          <a:p>
            <a:pPr marL="342900" indent="-342900" algn="l">
              <a:lnSpc>
                <a:spcPct val="210000"/>
              </a:lnSpc>
              <a:buClrTx/>
              <a:buSzTx/>
              <a:buFont typeface="+mj-ea"/>
              <a:buAutoNum type="circleNumDbPlain"/>
            </a:pPr>
            <a:r>
              <a:rPr lang="zh-CN" altLang="en-US" sz="1200" b="1">
                <a:solidFill>
                  <a:srgbClr val="FF0000"/>
                </a:solidFill>
                <a:highlight>
                  <a:srgbClr val="00FF00"/>
                </a:highlight>
                <a:latin typeface="+mn-ea"/>
                <a:cs typeface="+mn-ea"/>
                <a:sym typeface="+mn-ea"/>
              </a:rPr>
              <a:t>以数据为中心</a:t>
            </a:r>
            <a:r>
              <a:rPr lang="zh-CN" altLang="en-US" sz="1200">
                <a:latin typeface="+mn-ea"/>
                <a:cs typeface="+mn-ea"/>
                <a:sym typeface="+mn-ea"/>
              </a:rPr>
              <a:t>。操作围绕对其数据所需要做的处理来设置，不设置与这些数据无关的操作，而且操作的结果往往与当时所处的状态（数据的值）有关。</a:t>
            </a:r>
            <a:endParaRPr lang="zh-CN" altLang="en-US" sz="1200">
              <a:latin typeface="+mn-ea"/>
              <a:cs typeface="+mn-ea"/>
              <a:sym typeface="+mn-ea"/>
            </a:endParaRPr>
          </a:p>
          <a:p>
            <a:pPr marL="342900" indent="-342900" algn="l">
              <a:lnSpc>
                <a:spcPct val="210000"/>
              </a:lnSpc>
              <a:buClrTx/>
              <a:buSzTx/>
              <a:buFont typeface="+mj-ea"/>
              <a:buAutoNum type="circleNumDbPlain"/>
            </a:pPr>
            <a:r>
              <a:rPr lang="zh-CN" altLang="en-US" sz="1200" b="1">
                <a:solidFill>
                  <a:srgbClr val="FF0000"/>
                </a:solidFill>
                <a:highlight>
                  <a:srgbClr val="00FF00"/>
                </a:highlight>
                <a:latin typeface="+mn-ea"/>
                <a:cs typeface="+mn-ea"/>
                <a:sym typeface="+mn-ea"/>
              </a:rPr>
              <a:t>对象是主动的</a:t>
            </a:r>
            <a:r>
              <a:rPr lang="zh-CN" altLang="en-US" sz="1200">
                <a:latin typeface="+mn-ea"/>
                <a:cs typeface="+mn-ea"/>
                <a:sym typeface="+mn-ea"/>
              </a:rPr>
              <a:t>。它是进行处理的主体。</a:t>
            </a:r>
            <a:r>
              <a:rPr lang="zh-CN" altLang="en-US" sz="1200" b="1">
                <a:solidFill>
                  <a:srgbClr val="FF0000"/>
                </a:solidFill>
                <a:latin typeface="+mn-ea"/>
                <a:cs typeface="+mn-ea"/>
                <a:sym typeface="+mn-ea"/>
              </a:rPr>
              <a:t>不能从外部直接加工它的私有数据，</a:t>
            </a:r>
            <a:r>
              <a:rPr lang="zh-CN" altLang="en-US" sz="1200">
                <a:latin typeface="+mn-ea"/>
                <a:cs typeface="+mn-ea"/>
                <a:sym typeface="+mn-ea"/>
              </a:rPr>
              <a:t>必须通过它的</a:t>
            </a:r>
            <a:r>
              <a:rPr lang="zh-CN" altLang="en-US" sz="1200" b="1">
                <a:solidFill>
                  <a:srgbClr val="FF0000"/>
                </a:solidFill>
                <a:latin typeface="+mn-ea"/>
                <a:cs typeface="+mn-ea"/>
                <a:sym typeface="+mn-ea"/>
              </a:rPr>
              <a:t>公有接口</a:t>
            </a:r>
            <a:r>
              <a:rPr lang="zh-CN" altLang="en-US" sz="1200">
                <a:latin typeface="+mn-ea"/>
                <a:cs typeface="+mn-ea"/>
                <a:sym typeface="+mn-ea"/>
              </a:rPr>
              <a:t>向对象发消息，请求它执行它的某个操作，处理它的私有数据。</a:t>
            </a:r>
            <a:endParaRPr lang="zh-CN" altLang="en-US" sz="1200">
              <a:latin typeface="+mn-ea"/>
              <a:cs typeface="+mn-ea"/>
              <a:sym typeface="+mn-ea"/>
            </a:endParaRPr>
          </a:p>
          <a:p>
            <a:pPr marL="342900" indent="-342900" algn="l">
              <a:lnSpc>
                <a:spcPct val="210000"/>
              </a:lnSpc>
              <a:buClrTx/>
              <a:buSzTx/>
              <a:buFont typeface="+mj-ea"/>
              <a:buAutoNum type="circleNumDbPlain"/>
            </a:pPr>
            <a:r>
              <a:rPr lang="zh-CN" altLang="en-US" sz="1200" b="1">
                <a:solidFill>
                  <a:srgbClr val="FF0000"/>
                </a:solidFill>
                <a:highlight>
                  <a:srgbClr val="00FF00"/>
                </a:highlight>
                <a:latin typeface="+mn-ea"/>
                <a:cs typeface="+mn-ea"/>
                <a:sym typeface="+mn-ea"/>
              </a:rPr>
              <a:t>实现了数据封装</a:t>
            </a:r>
            <a:r>
              <a:rPr lang="zh-CN" altLang="en-US" sz="1200">
                <a:latin typeface="+mn-ea"/>
                <a:cs typeface="+mn-ea"/>
                <a:sym typeface="+mn-ea"/>
              </a:rPr>
              <a:t>。对象好像是一只黑盒子，它的私有数据完全被封装在盒子内部，对外是隐藏的、不可见的，对私有数据的访问或处理只能通过公有的操作进行。</a:t>
            </a:r>
            <a:endParaRPr lang="zh-CN" altLang="en-US" sz="1200">
              <a:latin typeface="+mn-ea"/>
              <a:cs typeface="+mn-ea"/>
              <a:sym typeface="+mn-ea"/>
            </a:endParaRPr>
          </a:p>
          <a:p>
            <a:pPr marL="342900" indent="-342900" algn="l">
              <a:lnSpc>
                <a:spcPct val="210000"/>
              </a:lnSpc>
              <a:buClrTx/>
              <a:buSzTx/>
              <a:buFont typeface="+mj-ea"/>
              <a:buAutoNum type="circleNumDbPlain"/>
            </a:pPr>
            <a:r>
              <a:rPr lang="zh-CN" altLang="en-US" sz="1200" b="1">
                <a:solidFill>
                  <a:srgbClr val="FF0000"/>
                </a:solidFill>
                <a:highlight>
                  <a:srgbClr val="00FF00"/>
                </a:highlight>
                <a:latin typeface="+mn-ea"/>
                <a:cs typeface="+mn-ea"/>
                <a:sym typeface="+mn-ea"/>
              </a:rPr>
              <a:t>本质上具有并行性</a:t>
            </a:r>
            <a:r>
              <a:rPr lang="zh-CN" altLang="en-US" sz="1200">
                <a:latin typeface="+mn-ea"/>
                <a:cs typeface="+mn-ea"/>
                <a:sym typeface="+mn-ea"/>
              </a:rPr>
              <a:t>。对象是描述其内部状态的数据及可以对这些数据施加的全部操作的集合。不同对象各自独立地处理自身的数据，彼此通过发消息传递信息完成通信。</a:t>
            </a:r>
            <a:endParaRPr lang="zh-CN" altLang="en-US" sz="1200">
              <a:latin typeface="+mn-ea"/>
              <a:cs typeface="+mn-ea"/>
              <a:sym typeface="+mn-ea"/>
            </a:endParaRPr>
          </a:p>
          <a:p>
            <a:pPr marL="342900" indent="-342900" algn="l">
              <a:lnSpc>
                <a:spcPct val="210000"/>
              </a:lnSpc>
              <a:buClrTx/>
              <a:buSzTx/>
              <a:buFont typeface="+mj-ea"/>
              <a:buAutoNum type="circleNumDbPlain"/>
            </a:pPr>
            <a:r>
              <a:rPr lang="zh-CN" altLang="en-US" sz="1200" b="1">
                <a:solidFill>
                  <a:srgbClr val="FF0000"/>
                </a:solidFill>
                <a:highlight>
                  <a:srgbClr val="00FF00"/>
                </a:highlight>
                <a:latin typeface="+mn-ea"/>
                <a:cs typeface="+mn-ea"/>
                <a:sym typeface="+mn-ea"/>
              </a:rPr>
              <a:t>模块独立性好</a:t>
            </a:r>
            <a:r>
              <a:rPr lang="zh-CN" altLang="en-US" sz="1200">
                <a:latin typeface="+mn-ea"/>
                <a:cs typeface="+mn-ea"/>
                <a:sym typeface="+mn-ea"/>
              </a:rPr>
              <a:t>。对象内部各种元素彼此结合得很紧密，</a:t>
            </a:r>
            <a:r>
              <a:rPr lang="zh-CN" altLang="en-US" sz="1200" b="1">
                <a:solidFill>
                  <a:srgbClr val="FF0000"/>
                </a:solidFill>
                <a:latin typeface="+mn-ea"/>
                <a:cs typeface="+mn-ea"/>
                <a:sym typeface="+mn-ea"/>
              </a:rPr>
              <a:t>内聚性相当强</a:t>
            </a:r>
            <a:r>
              <a:rPr lang="zh-CN" altLang="en-US" sz="1200">
                <a:latin typeface="+mn-ea"/>
                <a:cs typeface="+mn-ea"/>
                <a:sym typeface="+mn-ea"/>
              </a:rPr>
              <a:t>。由于完成对象功能所需要的元素（数据和方法）基本上都被封装在对象内部，它与外界的联系自然就比较少，因此，对象之间的</a:t>
            </a:r>
            <a:r>
              <a:rPr lang="zh-CN" altLang="en-US" sz="1200" b="1">
                <a:solidFill>
                  <a:srgbClr val="FF0000"/>
                </a:solidFill>
                <a:latin typeface="+mn-ea"/>
                <a:cs typeface="+mn-ea"/>
                <a:sym typeface="+mn-ea"/>
              </a:rPr>
              <a:t>耦合通常比较松</a:t>
            </a:r>
            <a:r>
              <a:rPr lang="zh-CN" altLang="en-US" sz="1200">
                <a:latin typeface="+mn-ea"/>
                <a:cs typeface="+mn-ea"/>
                <a:sym typeface="+mn-ea"/>
              </a:rPr>
              <a:t>。</a:t>
            </a:r>
            <a:endParaRPr lang="zh-CN" altLang="en-US" sz="1200">
              <a:latin typeface="+mn-ea"/>
              <a:ea typeface="+mn-ea"/>
              <a:cs typeface="+mn-ea"/>
            </a:endParaRPr>
          </a:p>
          <a:p>
            <a:pPr marL="228600" indent="-228600" algn="l">
              <a:lnSpc>
                <a:spcPct val="210000"/>
              </a:lnSpc>
              <a:spcBef>
                <a:spcPts val="0"/>
              </a:spcBef>
              <a:spcAft>
                <a:spcPts val="1000"/>
              </a:spcAft>
              <a:buClrTx/>
              <a:buSzTx/>
              <a:buFont typeface="+mj-ea"/>
              <a:buAutoNum type="circleNumDbPlain"/>
            </a:pPr>
            <a:endParaRPr lang="zh-CN" altLang="en-US" sz="1200" dirty="0">
              <a:latin typeface="Bodoni MT Black" panose="02070A03080606020203" pitchFamily="18" charset="0"/>
            </a:endParaRPr>
          </a:p>
          <a:p>
            <a:pPr>
              <a:lnSpc>
                <a:spcPct val="90000"/>
              </a:lnSpc>
            </a:pPr>
            <a:endParaRPr lang="zh-CN" altLang="en-US" sz="1200"/>
          </a:p>
        </p:txBody>
      </p:sp>
      <p:sp>
        <p:nvSpPr>
          <p:cNvPr id="7" name="文本框 6"/>
          <p:cNvSpPr txBox="1"/>
          <p:nvPr/>
        </p:nvSpPr>
        <p:spPr>
          <a:xfrm>
            <a:off x="0" y="-635"/>
            <a:ext cx="591947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对象的特点</a:t>
            </a:r>
            <a:endParaRPr lang="zh-CN" altLang="en-US" b="1">
              <a:solidFill>
                <a:schemeClr val="bg2"/>
              </a:solidFill>
              <a:sym typeface="+mn-ea"/>
            </a:endParaRPr>
          </a:p>
        </p:txBody>
      </p:sp>
      <p:sp>
        <p:nvSpPr>
          <p:cNvPr id="10" name="文本框 9"/>
          <p:cNvSpPr txBox="1"/>
          <p:nvPr/>
        </p:nvSpPr>
        <p:spPr>
          <a:xfrm>
            <a:off x="5956300" y="0"/>
            <a:ext cx="6235065"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其他概念</a:t>
            </a:r>
            <a:endParaRPr lang="en-US" altLang="zh-CN" b="1">
              <a:solidFill>
                <a:schemeClr val="bg2"/>
              </a:solidFill>
              <a:sym typeface="+mn-ea"/>
            </a:endParaRPr>
          </a:p>
        </p:txBody>
      </p:sp>
      <p:sp>
        <p:nvSpPr>
          <p:cNvPr id="16" name="文本框 15"/>
          <p:cNvSpPr txBox="1"/>
          <p:nvPr/>
        </p:nvSpPr>
        <p:spPr>
          <a:xfrm>
            <a:off x="6104255" y="609600"/>
            <a:ext cx="1021715" cy="306705"/>
          </a:xfrm>
          <a:prstGeom prst="rect">
            <a:avLst/>
          </a:prstGeom>
          <a:noFill/>
        </p:spPr>
        <p:txBody>
          <a:bodyPr wrap="square" rtlCol="0">
            <a:spAutoFit/>
          </a:bodyPr>
          <a:p>
            <a:r>
              <a:rPr lang="zh-CN" altLang="en-US" sz="1400" b="1">
                <a:solidFill>
                  <a:srgbClr val="FF0000"/>
                </a:solidFill>
                <a:highlight>
                  <a:srgbClr val="00FFFF"/>
                </a:highlight>
              </a:rPr>
              <a:t>类（</a:t>
            </a:r>
            <a:r>
              <a:rPr lang="en-US" altLang="zh-CN" sz="1400" b="1">
                <a:solidFill>
                  <a:srgbClr val="FF0000"/>
                </a:solidFill>
                <a:highlight>
                  <a:srgbClr val="00FFFF"/>
                </a:highlight>
              </a:rPr>
              <a:t>class</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17" name="文本框 16"/>
          <p:cNvSpPr txBox="1"/>
          <p:nvPr/>
        </p:nvSpPr>
        <p:spPr>
          <a:xfrm>
            <a:off x="6104255" y="962660"/>
            <a:ext cx="5873115" cy="1442720"/>
          </a:xfrm>
          <a:prstGeom prst="rect">
            <a:avLst/>
          </a:prstGeom>
          <a:noFill/>
        </p:spPr>
        <p:txBody>
          <a:bodyPr wrap="square" rtlCol="0">
            <a:noAutofit/>
          </a:bodyPr>
          <a:p>
            <a:pPr indent="0" algn="l">
              <a:lnSpc>
                <a:spcPct val="220000"/>
              </a:lnSpc>
              <a:buClrTx/>
              <a:buSzTx/>
              <a:buFont typeface="+mj-ea"/>
              <a:buNone/>
            </a:pPr>
            <a:r>
              <a:rPr lang="zh-CN" altLang="en-US" sz="1200">
                <a:latin typeface="+mn-ea"/>
                <a:cs typeface="+mn-ea"/>
                <a:sym typeface="+mn-ea"/>
              </a:rPr>
              <a:t>在面向对象的软件技术中，“类”就是对具有</a:t>
            </a:r>
            <a:r>
              <a:rPr lang="zh-CN" altLang="en-US" sz="1200" b="1">
                <a:solidFill>
                  <a:srgbClr val="FF0000"/>
                </a:solidFill>
                <a:latin typeface="+mn-ea"/>
                <a:cs typeface="+mn-ea"/>
                <a:sym typeface="+mn-ea"/>
              </a:rPr>
              <a:t>相同数据</a:t>
            </a:r>
            <a:r>
              <a:rPr lang="zh-CN" altLang="en-US" sz="1200">
                <a:latin typeface="+mn-ea"/>
                <a:cs typeface="+mn-ea"/>
                <a:sym typeface="+mn-ea"/>
              </a:rPr>
              <a:t>和</a:t>
            </a:r>
            <a:r>
              <a:rPr lang="zh-CN" altLang="en-US" sz="1200" b="1">
                <a:solidFill>
                  <a:srgbClr val="FF0000"/>
                </a:solidFill>
                <a:latin typeface="+mn-ea"/>
                <a:cs typeface="+mn-ea"/>
                <a:sym typeface="+mn-ea"/>
              </a:rPr>
              <a:t>相同操作</a:t>
            </a:r>
            <a:r>
              <a:rPr lang="zh-CN" altLang="en-US" sz="1200">
                <a:latin typeface="+mn-ea"/>
                <a:cs typeface="+mn-ea"/>
                <a:sym typeface="+mn-ea"/>
              </a:rPr>
              <a:t>的一组相似对象的定义，也就是说，</a:t>
            </a:r>
            <a:r>
              <a:rPr lang="zh-CN" altLang="en-US" sz="1200" b="1">
                <a:solidFill>
                  <a:srgbClr val="FF0000"/>
                </a:solidFill>
                <a:highlight>
                  <a:srgbClr val="FFFF00"/>
                </a:highlight>
                <a:latin typeface="+mn-ea"/>
                <a:cs typeface="+mn-ea"/>
                <a:sym typeface="+mn-ea"/>
              </a:rPr>
              <a:t>类是对具有相同属性和行为的一个或多个对象的描述</a:t>
            </a:r>
            <a:r>
              <a:rPr lang="zh-CN" altLang="en-US" sz="1200">
                <a:latin typeface="+mn-ea"/>
                <a:cs typeface="+mn-ea"/>
                <a:sym typeface="+mn-ea"/>
              </a:rPr>
              <a:t>，通常在这种描述中也包括对怎样创建该类的新对象的说明。</a:t>
            </a:r>
            <a:endParaRPr lang="zh-CN" altLang="en-US" sz="1200">
              <a:latin typeface="+mn-ea"/>
              <a:ea typeface="+mn-ea"/>
              <a:cs typeface="+mn-ea"/>
            </a:endParaRPr>
          </a:p>
          <a:p>
            <a:endParaRPr lang="zh-CN" altLang="en-US" sz="1200">
              <a:latin typeface="+mn-ea"/>
            </a:endParaRPr>
          </a:p>
        </p:txBody>
      </p:sp>
      <p:pic>
        <p:nvPicPr>
          <p:cNvPr id="6" name="图片 5"/>
          <p:cNvPicPr>
            <a:picLocks noChangeAspect="1"/>
          </p:cNvPicPr>
          <p:nvPr/>
        </p:nvPicPr>
        <p:blipFill>
          <a:blip r:embed="rId1"/>
          <a:stretch>
            <a:fillRect/>
          </a:stretch>
        </p:blipFill>
        <p:spPr>
          <a:xfrm>
            <a:off x="5944870" y="4527550"/>
            <a:ext cx="3237230" cy="2113915"/>
          </a:xfrm>
          <a:prstGeom prst="rect">
            <a:avLst/>
          </a:prstGeom>
          <a:ln>
            <a:solidFill>
              <a:schemeClr val="accent1"/>
            </a:solidFill>
          </a:ln>
        </p:spPr>
      </p:pic>
      <p:pic>
        <p:nvPicPr>
          <p:cNvPr id="9" name="图片 8"/>
          <p:cNvPicPr>
            <a:picLocks noChangeAspect="1"/>
          </p:cNvPicPr>
          <p:nvPr/>
        </p:nvPicPr>
        <p:blipFill>
          <a:blip r:embed="rId2"/>
          <a:stretch>
            <a:fillRect/>
          </a:stretch>
        </p:blipFill>
        <p:spPr>
          <a:xfrm>
            <a:off x="9204960" y="4528185"/>
            <a:ext cx="2974975" cy="2113280"/>
          </a:xfrm>
          <a:prstGeom prst="rect">
            <a:avLst/>
          </a:prstGeom>
          <a:ln>
            <a:solidFill>
              <a:schemeClr val="accent1"/>
            </a:solidFill>
          </a:ln>
        </p:spPr>
      </p:pic>
      <p:grpSp>
        <p:nvGrpSpPr>
          <p:cNvPr id="21" name="组合 20"/>
          <p:cNvGrpSpPr/>
          <p:nvPr/>
        </p:nvGrpSpPr>
        <p:grpSpPr>
          <a:xfrm>
            <a:off x="6272530" y="2547620"/>
            <a:ext cx="2221865" cy="1480185"/>
            <a:chOff x="10489" y="3972"/>
            <a:chExt cx="4904" cy="3049"/>
          </a:xfrm>
        </p:grpSpPr>
        <p:sp>
          <p:nvSpPr>
            <p:cNvPr id="13" name="流程图: 联系 12"/>
            <p:cNvSpPr/>
            <p:nvPr/>
          </p:nvSpPr>
          <p:spPr>
            <a:xfrm>
              <a:off x="10489" y="3987"/>
              <a:ext cx="1475" cy="1475"/>
            </a:xfrm>
            <a:prstGeom prst="flowChartConnector">
              <a:avLst/>
            </a:prstGeom>
            <a:ln>
              <a:no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a:latin typeface="Bodoni MT Black" panose="02070A03080606020203" pitchFamily="18" charset="0"/>
              </a:endParaRPr>
            </a:p>
          </p:txBody>
        </p:sp>
        <p:sp>
          <p:nvSpPr>
            <p:cNvPr id="14" name="流程图: 联系 13"/>
            <p:cNvSpPr/>
            <p:nvPr/>
          </p:nvSpPr>
          <p:spPr>
            <a:xfrm>
              <a:off x="11652" y="5037"/>
              <a:ext cx="2040" cy="1985"/>
            </a:xfrm>
            <a:prstGeom prst="flowChartConnector">
              <a:avLst/>
            </a:prstGeom>
            <a:solidFill>
              <a:schemeClr val="accent3"/>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a:solidFill>
                  <a:srgbClr val="9AE73D"/>
                </a:solidFill>
                <a:latin typeface="Bodoni MT Black" panose="02070A03080606020203" pitchFamily="18" charset="0"/>
              </a:endParaRPr>
            </a:p>
          </p:txBody>
        </p:sp>
        <p:sp>
          <p:nvSpPr>
            <p:cNvPr id="15" name="流程图: 联系 14"/>
            <p:cNvSpPr/>
            <p:nvPr/>
          </p:nvSpPr>
          <p:spPr>
            <a:xfrm>
              <a:off x="13467" y="3972"/>
              <a:ext cx="1927" cy="1815"/>
            </a:xfrm>
            <a:prstGeom prst="flowChartConnector">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p>
              <a:pPr algn="ctr" eaLnBrk="1" hangingPunct="1">
                <a:defRPr/>
              </a:pPr>
              <a:endParaRPr lang="zh-CN" altLang="en-US">
                <a:solidFill>
                  <a:srgbClr val="9AE73D"/>
                </a:solidFill>
                <a:latin typeface="Bodoni MT Black" panose="02070A03080606020203" pitchFamily="18" charset="0"/>
              </a:endParaRPr>
            </a:p>
          </p:txBody>
        </p:sp>
      </p:grpSp>
      <p:sp>
        <p:nvSpPr>
          <p:cNvPr id="22" name="文本框 21"/>
          <p:cNvSpPr txBox="1"/>
          <p:nvPr/>
        </p:nvSpPr>
        <p:spPr>
          <a:xfrm>
            <a:off x="8719185" y="2318385"/>
            <a:ext cx="3234690" cy="1886585"/>
          </a:xfrm>
          <a:prstGeom prst="rect">
            <a:avLst/>
          </a:prstGeom>
          <a:noFill/>
        </p:spPr>
        <p:txBody>
          <a:bodyPr wrap="square">
            <a:spAutoFit/>
          </a:bodyPr>
          <a:p>
            <a:pPr eaLnBrk="1" hangingPunct="1">
              <a:lnSpc>
                <a:spcPts val="2800"/>
              </a:lnSpc>
              <a:defRPr/>
            </a:pPr>
            <a:r>
              <a:rPr lang="zh-CN" altLang="en-US" sz="1200" dirty="0">
                <a:latin typeface="+mn-ea"/>
                <a:cs typeface="+mn-ea"/>
              </a:rPr>
              <a:t>    左图是</a:t>
            </a:r>
            <a:r>
              <a:rPr lang="en-US" altLang="zh-CN" sz="1200" dirty="0">
                <a:latin typeface="+mn-ea"/>
                <a:cs typeface="+mn-ea"/>
              </a:rPr>
              <a:t>3</a:t>
            </a:r>
            <a:r>
              <a:rPr lang="zh-CN" altLang="zh-CN" sz="1200" dirty="0">
                <a:latin typeface="+mn-ea"/>
                <a:cs typeface="+mn-ea"/>
              </a:rPr>
              <a:t>个圆心位置、半径大小和颜色均不相同的圆，是</a:t>
            </a:r>
            <a:r>
              <a:rPr lang="en-US" altLang="zh-CN" sz="1200" dirty="0">
                <a:latin typeface="+mn-ea"/>
                <a:cs typeface="+mn-ea"/>
              </a:rPr>
              <a:t>3</a:t>
            </a:r>
            <a:r>
              <a:rPr lang="zh-CN" altLang="zh-CN" sz="1200" dirty="0">
                <a:latin typeface="+mn-ea"/>
                <a:cs typeface="+mn-ea"/>
              </a:rPr>
              <a:t>个不同的对象。但是，它们都有相同的</a:t>
            </a:r>
            <a:r>
              <a:rPr lang="zh-CN" altLang="zh-CN" sz="1200" dirty="0" smtClean="0">
                <a:latin typeface="+mn-ea"/>
                <a:cs typeface="+mn-ea"/>
              </a:rPr>
              <a:t>数据</a:t>
            </a:r>
            <a:r>
              <a:rPr lang="zh-CN" altLang="en-US" sz="1200" b="1" dirty="0">
                <a:latin typeface="+mn-ea"/>
                <a:cs typeface="+mn-ea"/>
              </a:rPr>
              <a:t>（</a:t>
            </a:r>
            <a:r>
              <a:rPr lang="zh-CN" altLang="zh-CN" sz="1200" dirty="0" smtClean="0">
                <a:latin typeface="+mn-ea"/>
                <a:cs typeface="+mn-ea"/>
              </a:rPr>
              <a:t>圆心</a:t>
            </a:r>
            <a:r>
              <a:rPr lang="zh-CN" altLang="zh-CN" sz="1200" dirty="0">
                <a:latin typeface="+mn-ea"/>
                <a:cs typeface="+mn-ea"/>
              </a:rPr>
              <a:t>坐标、半径、</a:t>
            </a:r>
            <a:r>
              <a:rPr lang="zh-CN" altLang="zh-CN" sz="1200" dirty="0" smtClean="0">
                <a:latin typeface="+mn-ea"/>
                <a:cs typeface="+mn-ea"/>
              </a:rPr>
              <a:t>颜色</a:t>
            </a:r>
            <a:r>
              <a:rPr lang="zh-CN" altLang="en-US" sz="1200" b="1" dirty="0">
                <a:latin typeface="+mn-ea"/>
                <a:cs typeface="+mn-ea"/>
              </a:rPr>
              <a:t>）</a:t>
            </a:r>
            <a:r>
              <a:rPr lang="zh-CN" altLang="zh-CN" sz="1200" dirty="0" smtClean="0">
                <a:latin typeface="+mn-ea"/>
                <a:cs typeface="+mn-ea"/>
              </a:rPr>
              <a:t>和</a:t>
            </a:r>
            <a:r>
              <a:rPr lang="zh-CN" altLang="zh-CN" sz="1200" dirty="0">
                <a:latin typeface="+mn-ea"/>
                <a:cs typeface="+mn-ea"/>
              </a:rPr>
              <a:t>相同的操作。因此，它们是同一类事物，可以用</a:t>
            </a:r>
            <a:r>
              <a:rPr lang="zh-CN" altLang="zh-CN" sz="1200" b="1" dirty="0">
                <a:solidFill>
                  <a:srgbClr val="FF0000"/>
                </a:solidFill>
                <a:latin typeface="+mn-ea"/>
                <a:cs typeface="+mn-ea"/>
              </a:rPr>
              <a:t>“</a:t>
            </a:r>
            <a:r>
              <a:rPr lang="en-US" altLang="zh-CN" sz="1200" b="1" dirty="0">
                <a:solidFill>
                  <a:srgbClr val="FF0000"/>
                </a:solidFill>
                <a:latin typeface="+mn-ea"/>
                <a:cs typeface="+mn-ea"/>
              </a:rPr>
              <a:t>Circle</a:t>
            </a:r>
            <a:r>
              <a:rPr lang="zh-CN" altLang="zh-CN" sz="1200" b="1" dirty="0">
                <a:solidFill>
                  <a:srgbClr val="FF0000"/>
                </a:solidFill>
                <a:latin typeface="+mn-ea"/>
                <a:cs typeface="+mn-ea"/>
              </a:rPr>
              <a:t>类”</a:t>
            </a:r>
            <a:r>
              <a:rPr lang="zh-CN" altLang="zh-CN" sz="1200" dirty="0">
                <a:latin typeface="+mn-ea"/>
                <a:cs typeface="+mn-ea"/>
              </a:rPr>
              <a:t>来定义。</a:t>
            </a:r>
            <a:endParaRPr lang="zh-CN" altLang="en-US" sz="1200" dirty="0">
              <a:latin typeface="+mn-ea"/>
              <a:cs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10774045" y="247015"/>
            <a:ext cx="1265555" cy="1174115"/>
          </a:xfrm>
          <a:prstGeom prst="rect">
            <a:avLst/>
          </a:prstGeom>
          <a:solidFill>
            <a:schemeClr val="bg1"/>
          </a:solidFill>
        </p:spPr>
        <p:txBody>
          <a:bodyPr wrap="square" rtlCol="0">
            <a:noAutofit/>
          </a:bodyPr>
          <a:p>
            <a:endParaRPr lang="zh-CN" altLang="en-US"/>
          </a:p>
        </p:txBody>
      </p:sp>
      <p:sp>
        <p:nvSpPr>
          <p:cNvPr id="5" name="文本框 4"/>
          <p:cNvSpPr txBox="1"/>
          <p:nvPr/>
        </p:nvSpPr>
        <p:spPr>
          <a:xfrm>
            <a:off x="186690" y="5527675"/>
            <a:ext cx="1054100" cy="1010285"/>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7" name="文本框 6"/>
          <p:cNvSpPr txBox="1"/>
          <p:nvPr/>
        </p:nvSpPr>
        <p:spPr>
          <a:xfrm>
            <a:off x="0" y="-635"/>
            <a:ext cx="591947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其他概念</a:t>
            </a:r>
            <a:endParaRPr lang="zh-CN" altLang="en-US" b="1">
              <a:solidFill>
                <a:schemeClr val="bg2"/>
              </a:solidFill>
              <a:sym typeface="+mn-ea"/>
            </a:endParaRPr>
          </a:p>
        </p:txBody>
      </p:sp>
      <p:sp>
        <p:nvSpPr>
          <p:cNvPr id="10" name="文本框 9"/>
          <p:cNvSpPr txBox="1"/>
          <p:nvPr/>
        </p:nvSpPr>
        <p:spPr>
          <a:xfrm>
            <a:off x="5956300" y="0"/>
            <a:ext cx="6235065"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其他概念</a:t>
            </a:r>
            <a:endParaRPr lang="en-US" altLang="zh-CN" b="1">
              <a:solidFill>
                <a:schemeClr val="bg2"/>
              </a:solidFill>
              <a:sym typeface="+mn-ea"/>
            </a:endParaRPr>
          </a:p>
        </p:txBody>
      </p:sp>
      <p:sp>
        <p:nvSpPr>
          <p:cNvPr id="16" name="文本框 15"/>
          <p:cNvSpPr txBox="1"/>
          <p:nvPr/>
        </p:nvSpPr>
        <p:spPr>
          <a:xfrm>
            <a:off x="6104255" y="609600"/>
            <a:ext cx="2620010" cy="306705"/>
          </a:xfrm>
          <a:prstGeom prst="rect">
            <a:avLst/>
          </a:prstGeom>
          <a:noFill/>
        </p:spPr>
        <p:txBody>
          <a:bodyPr wrap="square" rtlCol="0">
            <a:spAutoFit/>
          </a:bodyPr>
          <a:p>
            <a:r>
              <a:rPr lang="zh-CN" altLang="en-US" sz="1400" b="1">
                <a:solidFill>
                  <a:srgbClr val="FF0000"/>
                </a:solidFill>
                <a:highlight>
                  <a:srgbClr val="00FFFF"/>
                </a:highlight>
              </a:rPr>
              <a:t>方法（</a:t>
            </a:r>
            <a:r>
              <a:rPr lang="en-US" altLang="zh-CN" sz="1400" b="1">
                <a:solidFill>
                  <a:srgbClr val="FF0000"/>
                </a:solidFill>
                <a:highlight>
                  <a:srgbClr val="00FFFF"/>
                </a:highlight>
              </a:rPr>
              <a:t>method</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17" name="文本框 16"/>
          <p:cNvSpPr txBox="1"/>
          <p:nvPr/>
        </p:nvSpPr>
        <p:spPr>
          <a:xfrm>
            <a:off x="6104255" y="890270"/>
            <a:ext cx="5873115" cy="848360"/>
          </a:xfrm>
          <a:prstGeom prst="rect">
            <a:avLst/>
          </a:prstGeom>
          <a:noFill/>
        </p:spPr>
        <p:txBody>
          <a:bodyPr wrap="square" rtlCol="0">
            <a:noAutofit/>
          </a:bodyPr>
          <a:p>
            <a:pPr algn="l">
              <a:lnSpc>
                <a:spcPts val="2800"/>
              </a:lnSpc>
              <a:buClrTx/>
              <a:buSzTx/>
              <a:buFontTx/>
              <a:defRPr/>
            </a:pPr>
            <a:r>
              <a:rPr lang="en-US" altLang="zh-CN" sz="1200" dirty="0">
                <a:latin typeface="+mn-ea"/>
                <a:cs typeface="+mn-ea"/>
                <a:sym typeface="+mn-ea"/>
              </a:rPr>
              <a:t>方法就是对象所能执行的操作，也就是类中所定义的服务。方法描述了对象执行操作的算法，响应消息的方法。在C++语言中把方法称为成员函数。</a:t>
            </a:r>
            <a:endParaRPr lang="en-US" altLang="zh-CN" sz="1200" dirty="0">
              <a:latin typeface="+mn-ea"/>
              <a:cs typeface="+mn-ea"/>
            </a:endParaRPr>
          </a:p>
        </p:txBody>
      </p:sp>
      <p:sp>
        <p:nvSpPr>
          <p:cNvPr id="2" name="文本框 1"/>
          <p:cNvSpPr txBox="1"/>
          <p:nvPr/>
        </p:nvSpPr>
        <p:spPr>
          <a:xfrm>
            <a:off x="219075" y="609600"/>
            <a:ext cx="1903730" cy="306705"/>
          </a:xfrm>
          <a:prstGeom prst="rect">
            <a:avLst/>
          </a:prstGeom>
          <a:noFill/>
        </p:spPr>
        <p:txBody>
          <a:bodyPr wrap="square" rtlCol="0">
            <a:spAutoFit/>
          </a:bodyPr>
          <a:p>
            <a:r>
              <a:rPr lang="zh-CN" altLang="en-US" sz="1400" b="1">
                <a:solidFill>
                  <a:srgbClr val="FF0000"/>
                </a:solidFill>
                <a:highlight>
                  <a:srgbClr val="00FFFF"/>
                </a:highlight>
              </a:rPr>
              <a:t>实例（</a:t>
            </a:r>
            <a:r>
              <a:rPr lang="en-US" altLang="zh-CN" sz="1400" b="1" dirty="0" smtClean="0">
                <a:solidFill>
                  <a:srgbClr val="FF0000"/>
                </a:solidFill>
                <a:highlight>
                  <a:srgbClr val="00FFFF"/>
                </a:highlight>
                <a:latin typeface="+mn-ea"/>
                <a:cs typeface="+mn-ea"/>
                <a:sym typeface="+mn-ea"/>
              </a:rPr>
              <a:t>instance</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32775" name="TextBox 7"/>
          <p:cNvSpPr txBox="1">
            <a:spLocks noChangeArrowheads="1"/>
          </p:cNvSpPr>
          <p:nvPr/>
        </p:nvSpPr>
        <p:spPr bwMode="auto">
          <a:xfrm>
            <a:off x="219075" y="909320"/>
            <a:ext cx="558863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spcAft>
                <a:spcPts val="1200"/>
              </a:spcAft>
              <a:defRPr/>
            </a:pPr>
            <a:r>
              <a:rPr lang="zh-CN" altLang="zh-CN" sz="1200" b="1" dirty="0">
                <a:solidFill>
                  <a:srgbClr val="C00000"/>
                </a:solidFill>
                <a:latin typeface="+mn-ea"/>
                <a:ea typeface="+mn-ea"/>
                <a:cs typeface="+mn-ea"/>
              </a:rPr>
              <a:t>实例</a:t>
            </a:r>
            <a:r>
              <a:rPr lang="zh-CN" altLang="zh-CN" sz="1200" dirty="0">
                <a:latin typeface="+mn-ea"/>
                <a:ea typeface="+mn-ea"/>
                <a:cs typeface="+mn-ea"/>
              </a:rPr>
              <a:t>就是由某个特定的类所描述的一个具体的对象</a:t>
            </a:r>
            <a:r>
              <a:rPr lang="zh-CN" altLang="zh-CN" sz="1200" dirty="0" smtClean="0">
                <a:latin typeface="+mn-ea"/>
                <a:ea typeface="+mn-ea"/>
                <a:cs typeface="+mn-ea"/>
              </a:rPr>
              <a:t>。对象” 既</a:t>
            </a:r>
            <a:r>
              <a:rPr lang="zh-CN" altLang="zh-CN" sz="1200" dirty="0">
                <a:latin typeface="+mn-ea"/>
                <a:ea typeface="+mn-ea"/>
                <a:cs typeface="+mn-ea"/>
              </a:rPr>
              <a:t>可以指一个具体的对象，也可以泛指一般的对象，但是</a:t>
            </a:r>
            <a:r>
              <a:rPr lang="zh-CN" altLang="zh-CN" sz="1200" dirty="0" smtClean="0">
                <a:latin typeface="+mn-ea"/>
                <a:ea typeface="+mn-ea"/>
                <a:cs typeface="+mn-ea"/>
              </a:rPr>
              <a:t>，</a:t>
            </a:r>
            <a:r>
              <a:rPr lang="zh-CN" altLang="zh-CN" sz="1200" b="1" dirty="0" smtClean="0">
                <a:solidFill>
                  <a:srgbClr val="FF0000"/>
                </a:solidFill>
                <a:latin typeface="+mn-ea"/>
                <a:ea typeface="+mn-ea"/>
                <a:cs typeface="+mn-ea"/>
              </a:rPr>
              <a:t>“实例”必然</a:t>
            </a:r>
            <a:r>
              <a:rPr lang="zh-CN" altLang="zh-CN" sz="1200" b="1" dirty="0">
                <a:solidFill>
                  <a:srgbClr val="FF0000"/>
                </a:solidFill>
                <a:latin typeface="+mn-ea"/>
                <a:ea typeface="+mn-ea"/>
                <a:cs typeface="+mn-ea"/>
              </a:rPr>
              <a:t>是指一个具体的对象</a:t>
            </a:r>
            <a:r>
              <a:rPr lang="zh-CN" altLang="zh-CN" sz="1200" b="1" dirty="0" smtClean="0">
                <a:solidFill>
                  <a:srgbClr val="FF0000"/>
                </a:solidFill>
                <a:latin typeface="+mn-ea"/>
                <a:ea typeface="+mn-ea"/>
                <a:cs typeface="+mn-ea"/>
              </a:rPr>
              <a:t>。</a:t>
            </a:r>
            <a:endParaRPr lang="en-US" altLang="zh-CN" sz="1200" b="1" dirty="0">
              <a:latin typeface="+mn-ea"/>
              <a:ea typeface="+mn-ea"/>
              <a:cs typeface="+mn-ea"/>
            </a:endParaRPr>
          </a:p>
          <a:p>
            <a:pPr marL="0" indent="0" eaLnBrk="1" hangingPunct="1">
              <a:lnSpc>
                <a:spcPts val="3000"/>
              </a:lnSpc>
              <a:spcBef>
                <a:spcPts val="600"/>
              </a:spcBef>
              <a:spcAft>
                <a:spcPts val="1200"/>
              </a:spcAft>
              <a:defRPr/>
            </a:pPr>
            <a:endParaRPr lang="en-US" altLang="zh-CN" sz="1200" dirty="0" smtClean="0">
              <a:latin typeface="+mn-ea"/>
              <a:ea typeface="+mn-ea"/>
              <a:cs typeface="+mn-ea"/>
            </a:endParaRPr>
          </a:p>
        </p:txBody>
      </p:sp>
      <p:grpSp>
        <p:nvGrpSpPr>
          <p:cNvPr id="24" name="组合 23"/>
          <p:cNvGrpSpPr/>
          <p:nvPr/>
        </p:nvGrpSpPr>
        <p:grpSpPr>
          <a:xfrm>
            <a:off x="1064260" y="1793875"/>
            <a:ext cx="3810000" cy="1585595"/>
            <a:chOff x="1676" y="3125"/>
            <a:chExt cx="6000" cy="2497"/>
          </a:xfrm>
        </p:grpSpPr>
        <p:pic>
          <p:nvPicPr>
            <p:cNvPr id="3" name="图片 2"/>
            <p:cNvPicPr>
              <a:picLocks noChangeAspect="1"/>
            </p:cNvPicPr>
            <p:nvPr/>
          </p:nvPicPr>
          <p:blipFill>
            <a:blip r:embed="rId1"/>
            <a:stretch>
              <a:fillRect/>
            </a:stretch>
          </p:blipFill>
          <p:spPr>
            <a:xfrm>
              <a:off x="1676" y="3290"/>
              <a:ext cx="2360" cy="2332"/>
            </a:xfrm>
            <a:prstGeom prst="rect">
              <a:avLst/>
            </a:prstGeom>
          </p:spPr>
        </p:pic>
        <p:pic>
          <p:nvPicPr>
            <p:cNvPr id="4" name="图片 3"/>
            <p:cNvPicPr>
              <a:picLocks noChangeAspect="1"/>
            </p:cNvPicPr>
            <p:nvPr/>
          </p:nvPicPr>
          <p:blipFill>
            <a:blip r:embed="rId2"/>
            <a:stretch>
              <a:fillRect/>
            </a:stretch>
          </p:blipFill>
          <p:spPr>
            <a:xfrm>
              <a:off x="5214" y="3125"/>
              <a:ext cx="2462" cy="2456"/>
            </a:xfrm>
            <a:prstGeom prst="rect">
              <a:avLst/>
            </a:prstGeom>
          </p:spPr>
        </p:pic>
        <p:cxnSp>
          <p:nvCxnSpPr>
            <p:cNvPr id="18" name="直接箭头连接符 17"/>
            <p:cNvCxnSpPr/>
            <p:nvPr/>
          </p:nvCxnSpPr>
          <p:spPr>
            <a:xfrm flipV="1">
              <a:off x="4165" y="4422"/>
              <a:ext cx="901" cy="1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grpSp>
      <p:sp>
        <p:nvSpPr>
          <p:cNvPr id="19" name="文本框 18"/>
          <p:cNvSpPr txBox="1"/>
          <p:nvPr/>
        </p:nvSpPr>
        <p:spPr>
          <a:xfrm>
            <a:off x="186690" y="3552825"/>
            <a:ext cx="1903730" cy="306705"/>
          </a:xfrm>
          <a:prstGeom prst="rect">
            <a:avLst/>
          </a:prstGeom>
          <a:noFill/>
        </p:spPr>
        <p:txBody>
          <a:bodyPr wrap="square" rtlCol="0">
            <a:spAutoFit/>
          </a:bodyPr>
          <a:p>
            <a:r>
              <a:rPr lang="zh-CN" altLang="en-US" sz="1400" b="1">
                <a:solidFill>
                  <a:srgbClr val="FF0000"/>
                </a:solidFill>
                <a:highlight>
                  <a:srgbClr val="00FFFF"/>
                </a:highlight>
              </a:rPr>
              <a:t>消息（</a:t>
            </a:r>
            <a:r>
              <a:rPr lang="en-US" altLang="zh-CN" sz="1400" b="1" dirty="0" smtClean="0">
                <a:solidFill>
                  <a:srgbClr val="FF0000"/>
                </a:solidFill>
                <a:highlight>
                  <a:srgbClr val="00FFFF"/>
                </a:highlight>
                <a:latin typeface="+mn-ea"/>
                <a:cs typeface="+mn-ea"/>
                <a:sym typeface="+mn-ea"/>
              </a:rPr>
              <a:t>message</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20" name="TextBox 7"/>
          <p:cNvSpPr txBox="1">
            <a:spLocks noChangeArrowheads="1"/>
          </p:cNvSpPr>
          <p:nvPr/>
        </p:nvSpPr>
        <p:spPr bwMode="auto">
          <a:xfrm>
            <a:off x="152400" y="3820795"/>
            <a:ext cx="5588635"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ts val="2800"/>
              </a:lnSpc>
              <a:spcBef>
                <a:spcPts val="600"/>
              </a:spcBef>
              <a:buClrTx/>
              <a:buSzTx/>
              <a:buFontTx/>
              <a:defRPr/>
            </a:pPr>
            <a:r>
              <a:rPr lang="zh-CN" altLang="en-US" sz="1200" dirty="0">
                <a:latin typeface="+mn-ea"/>
                <a:ea typeface="+mn-ea"/>
                <a:cs typeface="+mn-ea"/>
                <a:sym typeface="+mn-ea"/>
              </a:rPr>
              <a:t>消息就是要求某个对象执行在定义它的那个类中所定义的某个操作的规格说明。通常，一个消息由接收消息的对象、消息选择符（也称消息名）、 零个或多个变元3部分组成。</a:t>
            </a:r>
            <a:endParaRPr lang="zh-CN" altLang="en-US" sz="1200" dirty="0">
              <a:latin typeface="+mn-ea"/>
              <a:ea typeface="+mn-ea"/>
              <a:cs typeface="+mn-ea"/>
              <a:sym typeface="+mn-ea"/>
            </a:endParaRPr>
          </a:p>
          <a:p>
            <a:pPr marL="0" indent="0" eaLnBrk="1" hangingPunct="1">
              <a:lnSpc>
                <a:spcPts val="3000"/>
              </a:lnSpc>
              <a:spcBef>
                <a:spcPts val="600"/>
              </a:spcBef>
              <a:spcAft>
                <a:spcPts val="1200"/>
              </a:spcAft>
              <a:defRPr/>
            </a:pPr>
            <a:endParaRPr lang="zh-CN" altLang="en-US" sz="1200" dirty="0" smtClean="0">
              <a:latin typeface="+mn-ea"/>
              <a:ea typeface="+mn-ea"/>
              <a:cs typeface="+mn-ea"/>
              <a:sym typeface="+mn-ea"/>
            </a:endParaRPr>
          </a:p>
        </p:txBody>
      </p:sp>
      <p:sp>
        <p:nvSpPr>
          <p:cNvPr id="23" name="文本框 22"/>
          <p:cNvSpPr txBox="1"/>
          <p:nvPr/>
        </p:nvSpPr>
        <p:spPr>
          <a:xfrm>
            <a:off x="76200" y="5055235"/>
            <a:ext cx="5768340" cy="1676400"/>
          </a:xfrm>
          <a:prstGeom prst="rect">
            <a:avLst/>
          </a:prstGeom>
          <a:solidFill>
            <a:schemeClr val="accent1"/>
          </a:solidFill>
        </p:spPr>
        <p:txBody>
          <a:bodyPr wrap="square" rtlCol="0">
            <a:spAutoFit/>
          </a:bodyPr>
          <a:p>
            <a:pPr marL="0" algn="l">
              <a:lnSpc>
                <a:spcPct val="170000"/>
              </a:lnSpc>
              <a:buClrTx/>
              <a:buSzTx/>
              <a:buFontTx/>
            </a:pPr>
            <a:r>
              <a:rPr lang="zh-CN" altLang="en-US" sz="1000" b="1" dirty="0">
                <a:solidFill>
                  <a:schemeClr val="bg1"/>
                </a:solidFill>
                <a:latin typeface="Bodoni MT Black" panose="02070A03080606020203" pitchFamily="18" charset="0"/>
                <a:sym typeface="+mn-ea"/>
              </a:rPr>
              <a:t>例如，MyCircle是一个半径为4cm、圆心位于(100，200)的Circle类的对象，也就是Circle类的一个实例，当要求它以绿颜色在屏幕上显示自己时，在C++语言中应该向它发下列消息：</a:t>
            </a:r>
            <a:endParaRPr lang="zh-CN" altLang="en-US" sz="1000" b="1" dirty="0">
              <a:solidFill>
                <a:schemeClr val="bg1"/>
              </a:solidFill>
              <a:latin typeface="Bodoni MT Black" panose="02070A03080606020203" pitchFamily="18" charset="0"/>
              <a:ea typeface="+mn-ea"/>
            </a:endParaRPr>
          </a:p>
          <a:p>
            <a:pPr marL="0" algn="l">
              <a:lnSpc>
                <a:spcPct val="170000"/>
              </a:lnSpc>
              <a:buClrTx/>
              <a:buSzTx/>
              <a:buFontTx/>
            </a:pPr>
            <a:r>
              <a:rPr lang="zh-CN" altLang="en-US" sz="1000" b="1" dirty="0">
                <a:solidFill>
                  <a:schemeClr val="bg1"/>
                </a:solidFill>
                <a:latin typeface="Bodoni MT Black" panose="02070A03080606020203" pitchFamily="18" charset="0"/>
                <a:sym typeface="+mn-ea"/>
              </a:rPr>
              <a:t>              </a:t>
            </a:r>
            <a:r>
              <a:rPr lang="en-US" altLang="zh-CN" sz="1000" b="1" dirty="0">
                <a:solidFill>
                  <a:schemeClr val="bg1"/>
                </a:solidFill>
                <a:latin typeface="Bodoni MT Black" panose="02070A03080606020203" pitchFamily="18" charset="0"/>
                <a:sym typeface="+mn-ea"/>
              </a:rPr>
              <a:t>                          </a:t>
            </a:r>
            <a:r>
              <a:rPr lang="en-US" altLang="zh-CN" sz="1000" dirty="0">
                <a:solidFill>
                  <a:srgbClr val="FFFF00"/>
                </a:solidFill>
                <a:latin typeface="Bodoni MT Black" panose="02070A03080606020203" pitchFamily="18" charset="0"/>
                <a:sym typeface="+mn-ea"/>
              </a:rPr>
              <a:t>   </a:t>
            </a:r>
            <a:r>
              <a:rPr lang="zh-CN" altLang="en-US" sz="1000" dirty="0">
                <a:solidFill>
                  <a:srgbClr val="FFFF00"/>
                </a:solidFill>
                <a:latin typeface="Bodoni MT Black" panose="02070A03080606020203" pitchFamily="18" charset="0"/>
                <a:sym typeface="+mn-ea"/>
              </a:rPr>
              <a:t>MyCircle.Show(GREEN)；</a:t>
            </a:r>
            <a:endParaRPr lang="zh-CN" altLang="en-US" sz="1000" b="1" dirty="0">
              <a:solidFill>
                <a:schemeClr val="bg1"/>
              </a:solidFill>
              <a:latin typeface="Bodoni MT Black" panose="02070A03080606020203" pitchFamily="18" charset="0"/>
              <a:ea typeface="+mn-ea"/>
            </a:endParaRPr>
          </a:p>
          <a:p>
            <a:pPr marL="0" algn="l">
              <a:lnSpc>
                <a:spcPct val="170000"/>
              </a:lnSpc>
              <a:buClrTx/>
              <a:buSzTx/>
              <a:buFontTx/>
            </a:pPr>
            <a:r>
              <a:rPr lang="zh-CN" altLang="en-US" sz="1000" b="1" dirty="0">
                <a:solidFill>
                  <a:schemeClr val="bg1"/>
                </a:solidFill>
                <a:latin typeface="Bodoni MT Black" panose="02070A03080606020203" pitchFamily="18" charset="0"/>
                <a:sym typeface="+mn-ea"/>
              </a:rPr>
              <a:t>    其中，MyCircle是接收消息的对象的名字，Show是消息选择符（即消息名），圆括号内的GREEN是消息的变元。当MyCircle接收到这个消息后，将执行在Circle类中所定义的Show操作。</a:t>
            </a:r>
            <a:endParaRPr lang="zh-CN" altLang="en-US" sz="1000" b="1" dirty="0">
              <a:solidFill>
                <a:schemeClr val="bg1"/>
              </a:solidFill>
              <a:latin typeface="Bodoni MT Black" panose="02070A03080606020203" pitchFamily="18" charset="0"/>
              <a:ea typeface="+mn-ea"/>
            </a:endParaRPr>
          </a:p>
          <a:p>
            <a:endParaRPr lang="zh-CN" altLang="en-US"/>
          </a:p>
        </p:txBody>
      </p:sp>
      <p:sp>
        <p:nvSpPr>
          <p:cNvPr id="25" name="文本框 24"/>
          <p:cNvSpPr txBox="1"/>
          <p:nvPr/>
        </p:nvSpPr>
        <p:spPr>
          <a:xfrm>
            <a:off x="6104255" y="1795145"/>
            <a:ext cx="2620010" cy="306705"/>
          </a:xfrm>
          <a:prstGeom prst="rect">
            <a:avLst/>
          </a:prstGeom>
          <a:noFill/>
        </p:spPr>
        <p:txBody>
          <a:bodyPr wrap="square" rtlCol="0">
            <a:spAutoFit/>
          </a:bodyPr>
          <a:p>
            <a:r>
              <a:rPr lang="zh-CN" altLang="en-US" sz="1400" b="1">
                <a:solidFill>
                  <a:srgbClr val="FF0000"/>
                </a:solidFill>
                <a:highlight>
                  <a:srgbClr val="00FFFF"/>
                </a:highlight>
              </a:rPr>
              <a:t>属性（</a:t>
            </a:r>
            <a:r>
              <a:rPr lang="en-US" altLang="zh-CN" sz="1400" b="1">
                <a:solidFill>
                  <a:srgbClr val="FF0000"/>
                </a:solidFill>
                <a:highlight>
                  <a:srgbClr val="00FFFF"/>
                </a:highlight>
              </a:rPr>
              <a:t>attribute</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26" name="文本框 25"/>
          <p:cNvSpPr txBox="1"/>
          <p:nvPr/>
        </p:nvSpPr>
        <p:spPr>
          <a:xfrm>
            <a:off x="6104255" y="2059940"/>
            <a:ext cx="5873115" cy="1319530"/>
          </a:xfrm>
          <a:prstGeom prst="rect">
            <a:avLst/>
          </a:prstGeom>
          <a:noFill/>
        </p:spPr>
        <p:txBody>
          <a:bodyPr wrap="square" rtlCol="0">
            <a:noAutofit/>
          </a:bodyPr>
          <a:p>
            <a:pPr marL="0" indent="0">
              <a:lnSpc>
                <a:spcPts val="3000"/>
              </a:lnSpc>
              <a:defRPr/>
            </a:pPr>
            <a:r>
              <a:rPr lang="zh-CN" altLang="zh-CN" sz="1200" b="1" dirty="0" smtClean="0">
                <a:solidFill>
                  <a:srgbClr val="C00000"/>
                </a:solidFill>
                <a:latin typeface="Bodoni MT Black" panose="02070A03080606020203" pitchFamily="18" charset="0"/>
                <a:sym typeface="+mn-ea"/>
              </a:rPr>
              <a:t>属性</a:t>
            </a:r>
            <a:r>
              <a:rPr lang="zh-CN" altLang="zh-CN" sz="1200" dirty="0">
                <a:latin typeface="Bodoni MT Black" panose="02070A03080606020203" pitchFamily="18" charset="0"/>
                <a:sym typeface="+mn-ea"/>
              </a:rPr>
              <a:t>就是类中所定义的数据，它是对客观世界实体所具有的性质的抽象。类的每个实例都有自己特有的属性值</a:t>
            </a:r>
            <a:r>
              <a:rPr lang="zh-CN" altLang="zh-CN" sz="1200" dirty="0" smtClean="0">
                <a:latin typeface="Bodoni MT Black" panose="02070A03080606020203" pitchFamily="18" charset="0"/>
                <a:sym typeface="+mn-ea"/>
              </a:rPr>
              <a:t>。在</a:t>
            </a:r>
            <a:r>
              <a:rPr lang="en-US" altLang="zh-CN" sz="1200" dirty="0">
                <a:latin typeface="Bodoni MT Black" panose="02070A03080606020203" pitchFamily="18" charset="0"/>
                <a:sym typeface="+mn-ea"/>
              </a:rPr>
              <a:t>C++</a:t>
            </a:r>
            <a:r>
              <a:rPr lang="zh-CN" altLang="zh-CN" sz="1200" dirty="0">
                <a:latin typeface="Bodoni MT Black" panose="02070A03080606020203" pitchFamily="18" charset="0"/>
                <a:sym typeface="+mn-ea"/>
              </a:rPr>
              <a:t>语言中把属性称为</a:t>
            </a:r>
            <a:r>
              <a:rPr lang="zh-CN" altLang="zh-CN" sz="1200" dirty="0">
                <a:solidFill>
                  <a:srgbClr val="FF0000"/>
                </a:solidFill>
                <a:latin typeface="Bodoni MT Black" panose="02070A03080606020203" pitchFamily="18" charset="0"/>
                <a:sym typeface="+mn-ea"/>
              </a:rPr>
              <a:t>数据成员</a:t>
            </a:r>
            <a:r>
              <a:rPr lang="zh-CN" altLang="zh-CN" sz="1200" dirty="0" smtClean="0">
                <a:latin typeface="Bodoni MT Black" panose="02070A03080606020203" pitchFamily="18" charset="0"/>
                <a:sym typeface="+mn-ea"/>
              </a:rPr>
              <a:t>。例如</a:t>
            </a:r>
            <a:r>
              <a:rPr lang="zh-CN" altLang="zh-CN" sz="1200" dirty="0">
                <a:latin typeface="Bodoni MT Black" panose="02070A03080606020203" pitchFamily="18" charset="0"/>
                <a:sym typeface="+mn-ea"/>
              </a:rPr>
              <a:t>，</a:t>
            </a:r>
            <a:r>
              <a:rPr lang="en-US" altLang="zh-CN" sz="1200" dirty="0">
                <a:latin typeface="Bodoni MT Black" panose="02070A03080606020203" pitchFamily="18" charset="0"/>
                <a:sym typeface="+mn-ea"/>
              </a:rPr>
              <a:t>Circle</a:t>
            </a:r>
            <a:r>
              <a:rPr lang="zh-CN" altLang="zh-CN" sz="1200" dirty="0">
                <a:latin typeface="Bodoni MT Black" panose="02070A03080606020203" pitchFamily="18" charset="0"/>
                <a:sym typeface="+mn-ea"/>
              </a:rPr>
              <a:t>类中定义的代表圆心坐标、半径、颜色等的数据成员，就是圆的属性。</a:t>
            </a:r>
            <a:endParaRPr lang="en-US" altLang="zh-CN" sz="1200" dirty="0">
              <a:latin typeface="+mn-ea"/>
              <a:cs typeface="+mn-ea"/>
            </a:endParaRPr>
          </a:p>
        </p:txBody>
      </p:sp>
      <p:sp>
        <p:nvSpPr>
          <p:cNvPr id="27" name="文本框 26"/>
          <p:cNvSpPr txBox="1"/>
          <p:nvPr/>
        </p:nvSpPr>
        <p:spPr>
          <a:xfrm>
            <a:off x="6146800" y="3379470"/>
            <a:ext cx="2620010" cy="306705"/>
          </a:xfrm>
          <a:prstGeom prst="rect">
            <a:avLst/>
          </a:prstGeom>
          <a:noFill/>
        </p:spPr>
        <p:txBody>
          <a:bodyPr wrap="square" rtlCol="0">
            <a:spAutoFit/>
          </a:bodyPr>
          <a:p>
            <a:r>
              <a:rPr lang="zh-CN" altLang="en-US" sz="1400" b="1">
                <a:solidFill>
                  <a:srgbClr val="FF0000"/>
                </a:solidFill>
                <a:highlight>
                  <a:srgbClr val="00FFFF"/>
                </a:highlight>
              </a:rPr>
              <a:t>封装（</a:t>
            </a:r>
            <a:r>
              <a:rPr lang="en-US" altLang="zh-CN" sz="1400" b="1">
                <a:solidFill>
                  <a:srgbClr val="FF0000"/>
                </a:solidFill>
                <a:highlight>
                  <a:srgbClr val="00FFFF"/>
                </a:highlight>
              </a:rPr>
              <a:t>encapsulation</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28" name="文本框 27"/>
          <p:cNvSpPr txBox="1"/>
          <p:nvPr/>
        </p:nvSpPr>
        <p:spPr>
          <a:xfrm>
            <a:off x="6037580" y="3744595"/>
            <a:ext cx="6001385" cy="2896870"/>
          </a:xfrm>
          <a:prstGeom prst="rect">
            <a:avLst/>
          </a:prstGeom>
          <a:noFill/>
        </p:spPr>
        <p:txBody>
          <a:bodyPr wrap="square" rtlCol="0">
            <a:spAutoFit/>
          </a:bodyPr>
          <a:p>
            <a:pPr indent="0" fontAlgn="auto">
              <a:lnSpc>
                <a:spcPct val="190000"/>
              </a:lnSpc>
              <a:defRPr/>
            </a:pPr>
            <a:r>
              <a:rPr lang="zh-CN" altLang="zh-CN" sz="1200" dirty="0" smtClean="0">
                <a:latin typeface="+mn-ea"/>
                <a:cs typeface="+mn-ea"/>
                <a:sym typeface="+mn-ea"/>
              </a:rPr>
              <a:t>在</a:t>
            </a:r>
            <a:r>
              <a:rPr lang="zh-CN" altLang="zh-CN" sz="1200" dirty="0">
                <a:latin typeface="+mn-ea"/>
                <a:cs typeface="+mn-ea"/>
                <a:sym typeface="+mn-ea"/>
              </a:rPr>
              <a:t>面向对象的程序中</a:t>
            </a:r>
            <a:r>
              <a:rPr lang="zh-CN" altLang="zh-CN" sz="1200" dirty="0" smtClean="0">
                <a:latin typeface="+mn-ea"/>
                <a:cs typeface="+mn-ea"/>
                <a:sym typeface="+mn-ea"/>
              </a:rPr>
              <a:t>，</a:t>
            </a:r>
            <a:r>
              <a:rPr lang="zh-CN" altLang="en-US" sz="1200" b="1" dirty="0" smtClean="0">
                <a:solidFill>
                  <a:srgbClr val="C00000"/>
                </a:solidFill>
                <a:latin typeface="+mn-ea"/>
                <a:cs typeface="+mn-ea"/>
                <a:sym typeface="+mn-ea"/>
              </a:rPr>
              <a:t>封装</a:t>
            </a:r>
            <a:r>
              <a:rPr lang="zh-CN" altLang="en-US" sz="1200" dirty="0" smtClean="0">
                <a:latin typeface="+mn-ea"/>
                <a:cs typeface="+mn-ea"/>
                <a:sym typeface="+mn-ea"/>
              </a:rPr>
              <a:t>是指</a:t>
            </a:r>
            <a:r>
              <a:rPr lang="zh-CN" altLang="zh-CN" sz="1200" dirty="0" smtClean="0">
                <a:latin typeface="+mn-ea"/>
                <a:cs typeface="+mn-ea"/>
                <a:sym typeface="+mn-ea"/>
              </a:rPr>
              <a:t>把</a:t>
            </a:r>
            <a:r>
              <a:rPr lang="zh-CN" altLang="zh-CN" sz="1200" dirty="0">
                <a:latin typeface="+mn-ea"/>
                <a:cs typeface="+mn-ea"/>
                <a:sym typeface="+mn-ea"/>
              </a:rPr>
              <a:t>数据和实现操作的代码集中起来放在对象内部</a:t>
            </a:r>
            <a:r>
              <a:rPr lang="zh-CN" altLang="zh-CN" sz="1200" dirty="0" smtClean="0">
                <a:latin typeface="+mn-ea"/>
                <a:cs typeface="+mn-ea"/>
                <a:sym typeface="+mn-ea"/>
              </a:rPr>
              <a:t>。</a:t>
            </a:r>
            <a:endParaRPr lang="en-US" altLang="zh-CN" sz="1200" dirty="0" smtClean="0">
              <a:latin typeface="+mn-ea"/>
              <a:cs typeface="+mn-ea"/>
            </a:endParaRPr>
          </a:p>
          <a:p>
            <a:pPr indent="0" fontAlgn="auto">
              <a:lnSpc>
                <a:spcPct val="190000"/>
              </a:lnSpc>
              <a:defRPr/>
            </a:pPr>
            <a:r>
              <a:rPr lang="en-US" altLang="zh-CN" sz="1200" dirty="0" smtClean="0">
                <a:latin typeface="+mn-ea"/>
                <a:cs typeface="+mn-ea"/>
                <a:sym typeface="+mn-ea"/>
              </a:rPr>
              <a:t>    </a:t>
            </a:r>
            <a:r>
              <a:rPr lang="en-US" altLang="zh-CN" sz="1200" b="1" dirty="0" smtClean="0">
                <a:latin typeface="+mn-ea"/>
                <a:cs typeface="+mn-ea"/>
                <a:sym typeface="+mn-ea"/>
              </a:rPr>
              <a:t>(1) </a:t>
            </a:r>
            <a:r>
              <a:rPr lang="zh-CN" altLang="zh-CN" sz="1200" b="1" dirty="0" smtClean="0">
                <a:solidFill>
                  <a:srgbClr val="FF0000"/>
                </a:solidFill>
                <a:latin typeface="+mn-ea"/>
                <a:cs typeface="+mn-ea"/>
                <a:sym typeface="+mn-ea"/>
              </a:rPr>
              <a:t>有</a:t>
            </a:r>
            <a:r>
              <a:rPr lang="zh-CN" altLang="zh-CN" sz="1200" b="1" dirty="0">
                <a:solidFill>
                  <a:srgbClr val="FF0000"/>
                </a:solidFill>
                <a:latin typeface="+mn-ea"/>
                <a:cs typeface="+mn-ea"/>
                <a:sym typeface="+mn-ea"/>
              </a:rPr>
              <a:t>一个清晰的边界</a:t>
            </a:r>
            <a:r>
              <a:rPr lang="zh-CN" altLang="zh-CN" sz="1200" dirty="0">
                <a:solidFill>
                  <a:srgbClr val="FF0000"/>
                </a:solidFill>
                <a:latin typeface="+mn-ea"/>
                <a:cs typeface="+mn-ea"/>
                <a:sym typeface="+mn-ea"/>
              </a:rPr>
              <a:t>。</a:t>
            </a:r>
            <a:r>
              <a:rPr lang="zh-CN" altLang="zh-CN" sz="1200" dirty="0">
                <a:latin typeface="+mn-ea"/>
                <a:cs typeface="+mn-ea"/>
                <a:sym typeface="+mn-ea"/>
              </a:rPr>
              <a:t>所有私有数据和实现操作的代码都被封装在这个边界内，从外面看不见更不能直接访问。</a:t>
            </a:r>
            <a:endParaRPr lang="zh-CN" altLang="zh-CN" sz="1200" dirty="0">
              <a:latin typeface="+mn-ea"/>
              <a:cs typeface="+mn-ea"/>
            </a:endParaRPr>
          </a:p>
          <a:p>
            <a:pPr indent="0" fontAlgn="auto">
              <a:lnSpc>
                <a:spcPct val="190000"/>
              </a:lnSpc>
              <a:defRPr/>
            </a:pPr>
            <a:r>
              <a:rPr lang="en-US" altLang="zh-CN" sz="1200" dirty="0" smtClean="0">
                <a:latin typeface="+mn-ea"/>
                <a:cs typeface="+mn-ea"/>
                <a:sym typeface="+mn-ea"/>
              </a:rPr>
              <a:t>    </a:t>
            </a:r>
            <a:r>
              <a:rPr lang="en-US" altLang="zh-CN" sz="1200" b="1" dirty="0" smtClean="0">
                <a:latin typeface="+mn-ea"/>
                <a:cs typeface="+mn-ea"/>
                <a:sym typeface="+mn-ea"/>
              </a:rPr>
              <a:t>(2) </a:t>
            </a:r>
            <a:r>
              <a:rPr lang="zh-CN" altLang="zh-CN" sz="1200" b="1" dirty="0" smtClean="0">
                <a:solidFill>
                  <a:srgbClr val="FF0000"/>
                </a:solidFill>
                <a:latin typeface="+mn-ea"/>
                <a:cs typeface="+mn-ea"/>
                <a:sym typeface="+mn-ea"/>
              </a:rPr>
              <a:t>有</a:t>
            </a:r>
            <a:r>
              <a:rPr lang="zh-CN" altLang="zh-CN" sz="1200" b="1" dirty="0">
                <a:solidFill>
                  <a:srgbClr val="FF0000"/>
                </a:solidFill>
                <a:latin typeface="+mn-ea"/>
                <a:cs typeface="+mn-ea"/>
                <a:sym typeface="+mn-ea"/>
              </a:rPr>
              <a:t>确定的接口（即协议）</a:t>
            </a:r>
            <a:r>
              <a:rPr lang="zh-CN" altLang="zh-CN" sz="1200" dirty="0">
                <a:solidFill>
                  <a:srgbClr val="FF0000"/>
                </a:solidFill>
                <a:latin typeface="+mn-ea"/>
                <a:cs typeface="+mn-ea"/>
                <a:sym typeface="+mn-ea"/>
              </a:rPr>
              <a:t>。</a:t>
            </a:r>
            <a:r>
              <a:rPr lang="zh-CN" altLang="zh-CN" sz="1200" dirty="0">
                <a:latin typeface="+mn-ea"/>
                <a:cs typeface="+mn-ea"/>
                <a:sym typeface="+mn-ea"/>
              </a:rPr>
              <a:t>这些接口就是对象可以接受的消息，只能通过向对象发送消息来使用它。</a:t>
            </a:r>
            <a:endParaRPr lang="zh-CN" altLang="zh-CN" sz="1200" dirty="0">
              <a:latin typeface="+mn-ea"/>
              <a:cs typeface="+mn-ea"/>
            </a:endParaRPr>
          </a:p>
          <a:p>
            <a:pPr indent="0" fontAlgn="auto">
              <a:lnSpc>
                <a:spcPct val="190000"/>
              </a:lnSpc>
              <a:defRPr/>
            </a:pPr>
            <a:r>
              <a:rPr lang="en-US" altLang="zh-CN" sz="1200" dirty="0" smtClean="0">
                <a:latin typeface="+mn-ea"/>
                <a:cs typeface="+mn-ea"/>
                <a:sym typeface="+mn-ea"/>
              </a:rPr>
              <a:t>    </a:t>
            </a:r>
            <a:r>
              <a:rPr lang="en-US" altLang="zh-CN" sz="1200" b="1" dirty="0" smtClean="0">
                <a:latin typeface="+mn-ea"/>
                <a:cs typeface="+mn-ea"/>
                <a:sym typeface="+mn-ea"/>
              </a:rPr>
              <a:t>(3) </a:t>
            </a:r>
            <a:r>
              <a:rPr lang="zh-CN" altLang="zh-CN" sz="1200" b="1" dirty="0" smtClean="0">
                <a:solidFill>
                  <a:srgbClr val="FF0000"/>
                </a:solidFill>
                <a:latin typeface="+mn-ea"/>
                <a:cs typeface="+mn-ea"/>
                <a:sym typeface="+mn-ea"/>
              </a:rPr>
              <a:t>受</a:t>
            </a:r>
            <a:r>
              <a:rPr lang="zh-CN" altLang="zh-CN" sz="1200" b="1" dirty="0">
                <a:solidFill>
                  <a:srgbClr val="FF0000"/>
                </a:solidFill>
                <a:latin typeface="+mn-ea"/>
                <a:cs typeface="+mn-ea"/>
                <a:sym typeface="+mn-ea"/>
              </a:rPr>
              <a:t>保护的内部实现</a:t>
            </a:r>
            <a:r>
              <a:rPr lang="zh-CN" altLang="zh-CN" sz="1200" dirty="0">
                <a:solidFill>
                  <a:srgbClr val="FF0000"/>
                </a:solidFill>
                <a:latin typeface="+mn-ea"/>
                <a:cs typeface="+mn-ea"/>
                <a:sym typeface="+mn-ea"/>
              </a:rPr>
              <a:t>。</a:t>
            </a:r>
            <a:r>
              <a:rPr lang="zh-CN" altLang="zh-CN" sz="1200" dirty="0">
                <a:latin typeface="+mn-ea"/>
                <a:cs typeface="+mn-ea"/>
                <a:sym typeface="+mn-ea"/>
              </a:rPr>
              <a:t>实现对象功能的细节（私有数据和代码）不能在定义该对象的类的范围外访问</a:t>
            </a:r>
            <a:r>
              <a:rPr lang="zh-CN" altLang="zh-CN" sz="1200" dirty="0" smtClean="0">
                <a:latin typeface="+mn-ea"/>
                <a:cs typeface="+mn-ea"/>
                <a:sym typeface="+mn-ea"/>
              </a:rPr>
              <a:t>。</a:t>
            </a:r>
            <a:endParaRPr lang="en-US" altLang="zh-CN" sz="1200" dirty="0" smtClean="0">
              <a:latin typeface="+mn-ea"/>
              <a:cs typeface="+mn-ea"/>
            </a:endParaRPr>
          </a:p>
          <a:p>
            <a:pPr indent="0" fontAlgn="auto">
              <a:lnSpc>
                <a:spcPct val="190000"/>
              </a:lnSpc>
              <a:defRPr/>
            </a:pPr>
            <a:r>
              <a:rPr lang="en-US" altLang="zh-CN" sz="1200" dirty="0" smtClean="0">
                <a:latin typeface="+mn-ea"/>
                <a:cs typeface="+mn-ea"/>
                <a:sym typeface="+mn-ea"/>
              </a:rPr>
              <a:t>    </a:t>
            </a:r>
            <a:r>
              <a:rPr lang="zh-CN" altLang="zh-CN" sz="1200" dirty="0" smtClean="0">
                <a:latin typeface="+mn-ea"/>
                <a:cs typeface="+mn-ea"/>
                <a:sym typeface="+mn-ea"/>
              </a:rPr>
              <a:t>封装</a:t>
            </a:r>
            <a:r>
              <a:rPr lang="zh-CN" altLang="en-US" sz="1200" dirty="0" smtClean="0">
                <a:latin typeface="+mn-ea"/>
                <a:cs typeface="+mn-ea"/>
                <a:sym typeface="+mn-ea"/>
              </a:rPr>
              <a:t>就是</a:t>
            </a:r>
            <a:r>
              <a:rPr lang="zh-CN" altLang="zh-CN" sz="1200" dirty="0" smtClean="0">
                <a:latin typeface="+mn-ea"/>
                <a:cs typeface="+mn-ea"/>
                <a:sym typeface="+mn-ea"/>
              </a:rPr>
              <a:t>信息</a:t>
            </a:r>
            <a:r>
              <a:rPr lang="zh-CN" altLang="zh-CN" sz="1200" dirty="0">
                <a:latin typeface="+mn-ea"/>
                <a:cs typeface="+mn-ea"/>
                <a:sym typeface="+mn-ea"/>
              </a:rPr>
              <a:t>隐藏，通过封装对外界</a:t>
            </a:r>
            <a:r>
              <a:rPr lang="zh-CN" altLang="zh-CN" sz="1200" dirty="0" smtClean="0">
                <a:latin typeface="+mn-ea"/>
                <a:cs typeface="+mn-ea"/>
                <a:sym typeface="+mn-ea"/>
              </a:rPr>
              <a:t>隐藏对象实现</a:t>
            </a:r>
            <a:r>
              <a:rPr lang="zh-CN" altLang="zh-CN" sz="1200" dirty="0">
                <a:latin typeface="+mn-ea"/>
                <a:cs typeface="+mn-ea"/>
                <a:sym typeface="+mn-ea"/>
              </a:rPr>
              <a:t>细节。</a:t>
            </a:r>
            <a:endParaRPr lang="zh-CN" altLang="en-US" sz="1200">
              <a:latin typeface="+mn-ea"/>
              <a:cs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1"/>
          <a:srcRect r="727"/>
          <a:stretch>
            <a:fillRect/>
          </a:stretch>
        </p:blipFill>
        <p:spPr>
          <a:xfrm>
            <a:off x="5114925" y="854710"/>
            <a:ext cx="6877050" cy="5683250"/>
          </a:xfrm>
          <a:prstGeom prst="rect">
            <a:avLst/>
          </a:prstGeom>
        </p:spPr>
      </p:pic>
      <p:sp>
        <p:nvSpPr>
          <p:cNvPr id="12" name="文本框 11"/>
          <p:cNvSpPr txBox="1"/>
          <p:nvPr/>
        </p:nvSpPr>
        <p:spPr>
          <a:xfrm>
            <a:off x="10774045" y="247015"/>
            <a:ext cx="1265555" cy="1174115"/>
          </a:xfrm>
          <a:prstGeom prst="rect">
            <a:avLst/>
          </a:prstGeom>
          <a:solidFill>
            <a:schemeClr val="bg1"/>
          </a:solidFill>
        </p:spPr>
        <p:txBody>
          <a:bodyPr wrap="square" rtlCol="0">
            <a:noAutofit/>
          </a:bodyPr>
          <a:p>
            <a:endParaRPr lang="zh-CN" altLang="en-US"/>
          </a:p>
        </p:txBody>
      </p:sp>
      <p:sp>
        <p:nvSpPr>
          <p:cNvPr id="5" name="文本框 4"/>
          <p:cNvSpPr txBox="1"/>
          <p:nvPr/>
        </p:nvSpPr>
        <p:spPr>
          <a:xfrm>
            <a:off x="186690" y="5527675"/>
            <a:ext cx="1054100" cy="1010285"/>
          </a:xfrm>
          <a:prstGeom prst="rect">
            <a:avLst/>
          </a:prstGeom>
          <a:solidFill>
            <a:schemeClr val="bg1"/>
          </a:solidFill>
        </p:spPr>
        <p:txBody>
          <a:bodyPr wrap="square" rtlCol="0">
            <a:noAutofit/>
          </a:bodyPr>
          <a:p>
            <a:endParaRPr lang="zh-CN" altLang="en-US"/>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7" name="文本框 6"/>
          <p:cNvSpPr txBox="1"/>
          <p:nvPr/>
        </p:nvSpPr>
        <p:spPr>
          <a:xfrm>
            <a:off x="0" y="-635"/>
            <a:ext cx="5919470"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其他概念</a:t>
            </a:r>
            <a:endParaRPr lang="zh-CN" altLang="en-US" b="1">
              <a:solidFill>
                <a:schemeClr val="bg2"/>
              </a:solidFill>
              <a:sym typeface="+mn-ea"/>
            </a:endParaRPr>
          </a:p>
        </p:txBody>
      </p:sp>
      <p:sp>
        <p:nvSpPr>
          <p:cNvPr id="10" name="文本框 9"/>
          <p:cNvSpPr txBox="1"/>
          <p:nvPr/>
        </p:nvSpPr>
        <p:spPr>
          <a:xfrm>
            <a:off x="5956300" y="0"/>
            <a:ext cx="6235065" cy="4514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2"/>
                </a:solidFill>
                <a:sym typeface="+mn-ea"/>
              </a:rPr>
              <a:t>其他概念</a:t>
            </a:r>
            <a:endParaRPr lang="en-US" altLang="zh-CN" b="1">
              <a:solidFill>
                <a:schemeClr val="bg2"/>
              </a:solidFill>
              <a:sym typeface="+mn-ea"/>
            </a:endParaRPr>
          </a:p>
        </p:txBody>
      </p:sp>
      <p:sp>
        <p:nvSpPr>
          <p:cNvPr id="2" name="文本框 1"/>
          <p:cNvSpPr txBox="1"/>
          <p:nvPr/>
        </p:nvSpPr>
        <p:spPr>
          <a:xfrm>
            <a:off x="219075" y="609600"/>
            <a:ext cx="1903730" cy="306705"/>
          </a:xfrm>
          <a:prstGeom prst="rect">
            <a:avLst/>
          </a:prstGeom>
          <a:noFill/>
        </p:spPr>
        <p:txBody>
          <a:bodyPr wrap="square" rtlCol="0">
            <a:spAutoFit/>
          </a:bodyPr>
          <a:p>
            <a:r>
              <a:rPr lang="zh-CN" altLang="en-US" sz="1400" b="1">
                <a:solidFill>
                  <a:srgbClr val="FF0000"/>
                </a:solidFill>
                <a:highlight>
                  <a:srgbClr val="00FFFF"/>
                </a:highlight>
              </a:rPr>
              <a:t>继承（</a:t>
            </a:r>
            <a:r>
              <a:rPr lang="en-US" altLang="zh-CN" sz="1400" b="1" dirty="0" smtClean="0">
                <a:solidFill>
                  <a:srgbClr val="FF0000"/>
                </a:solidFill>
                <a:highlight>
                  <a:srgbClr val="00FFFF"/>
                </a:highlight>
                <a:latin typeface="+mn-ea"/>
                <a:cs typeface="+mn-ea"/>
                <a:sym typeface="+mn-ea"/>
              </a:rPr>
              <a:t>inheritance</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32775" name="TextBox 7"/>
          <p:cNvSpPr txBox="1">
            <a:spLocks noChangeArrowheads="1"/>
          </p:cNvSpPr>
          <p:nvPr/>
        </p:nvSpPr>
        <p:spPr bwMode="auto">
          <a:xfrm>
            <a:off x="153035" y="909320"/>
            <a:ext cx="302768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defRPr/>
            </a:pPr>
            <a:r>
              <a:rPr lang="zh-CN" altLang="zh-CN" sz="1200" b="1" dirty="0">
                <a:solidFill>
                  <a:srgbClr val="C00000"/>
                </a:solidFill>
                <a:latin typeface="Bodoni MT Black" panose="02070A03080606020203" pitchFamily="18" charset="0"/>
                <a:ea typeface="+mn-ea"/>
                <a:sym typeface="+mn-ea"/>
              </a:rPr>
              <a:t>继承</a:t>
            </a:r>
            <a:r>
              <a:rPr lang="zh-CN" altLang="zh-CN" sz="1200" dirty="0">
                <a:latin typeface="Bodoni MT Black" panose="02070A03080606020203" pitchFamily="18" charset="0"/>
                <a:ea typeface="+mn-ea"/>
                <a:sym typeface="+mn-ea"/>
              </a:rPr>
              <a:t>是</a:t>
            </a:r>
            <a:r>
              <a:rPr lang="zh-CN" altLang="zh-CN" sz="1200" b="1" dirty="0">
                <a:solidFill>
                  <a:srgbClr val="FF0000"/>
                </a:solidFill>
                <a:latin typeface="Bodoni MT Black" panose="02070A03080606020203" pitchFamily="18" charset="0"/>
                <a:ea typeface="+mn-ea"/>
                <a:sym typeface="+mn-ea"/>
              </a:rPr>
              <a:t>子类自动地共享基类中定义的数据和方法的机制</a:t>
            </a:r>
            <a:r>
              <a:rPr lang="zh-CN" altLang="zh-CN" sz="1200" dirty="0" smtClean="0">
                <a:latin typeface="Bodoni MT Black" panose="02070A03080606020203" pitchFamily="18" charset="0"/>
                <a:ea typeface="+mn-ea"/>
                <a:sym typeface="+mn-ea"/>
              </a:rPr>
              <a:t>。</a:t>
            </a:r>
            <a:r>
              <a:rPr lang="en-US" altLang="zh-CN" sz="1200" dirty="0" smtClean="0">
                <a:latin typeface="Bodoni MT Black" panose="02070A03080606020203" pitchFamily="18" charset="0"/>
                <a:ea typeface="+mn-ea"/>
                <a:sym typeface="+mn-ea"/>
              </a:rPr>
              <a:t> </a:t>
            </a:r>
            <a:r>
              <a:rPr lang="zh-CN" altLang="zh-CN" sz="1200" dirty="0" smtClean="0">
                <a:latin typeface="Bodoni MT Black" panose="02070A03080606020203" pitchFamily="18" charset="0"/>
                <a:ea typeface="+mn-ea"/>
                <a:sym typeface="+mn-ea"/>
              </a:rPr>
              <a:t>面向对象</a:t>
            </a:r>
            <a:r>
              <a:rPr lang="zh-CN" altLang="zh-CN" sz="1200" dirty="0">
                <a:latin typeface="Bodoni MT Black" panose="02070A03080606020203" pitchFamily="18" charset="0"/>
                <a:ea typeface="+mn-ea"/>
                <a:sym typeface="+mn-ea"/>
              </a:rPr>
              <a:t>软件</a:t>
            </a:r>
            <a:r>
              <a:rPr lang="zh-CN" altLang="zh-CN" sz="1200" dirty="0" smtClean="0">
                <a:latin typeface="Bodoni MT Black" panose="02070A03080606020203" pitchFamily="18" charset="0"/>
                <a:ea typeface="+mn-ea"/>
                <a:sym typeface="+mn-ea"/>
              </a:rPr>
              <a:t>技术把</a:t>
            </a:r>
            <a:r>
              <a:rPr lang="zh-CN" altLang="zh-CN" sz="1200" dirty="0">
                <a:latin typeface="Bodoni MT Black" panose="02070A03080606020203" pitchFamily="18" charset="0"/>
                <a:ea typeface="+mn-ea"/>
                <a:sym typeface="+mn-ea"/>
              </a:rPr>
              <a:t>类组成一个</a:t>
            </a:r>
            <a:r>
              <a:rPr lang="zh-CN" altLang="zh-CN" sz="1200" b="1" dirty="0">
                <a:solidFill>
                  <a:srgbClr val="00B0F0"/>
                </a:solidFill>
                <a:latin typeface="Bodoni MT Black" panose="02070A03080606020203" pitchFamily="18" charset="0"/>
                <a:ea typeface="+mn-ea"/>
                <a:sym typeface="+mn-ea"/>
              </a:rPr>
              <a:t>层次结构</a:t>
            </a:r>
            <a:r>
              <a:rPr lang="zh-CN" altLang="zh-CN" sz="1200" dirty="0">
                <a:latin typeface="Bodoni MT Black" panose="02070A03080606020203" pitchFamily="18" charset="0"/>
                <a:ea typeface="+mn-ea"/>
                <a:sym typeface="+mn-ea"/>
              </a:rPr>
              <a:t>的</a:t>
            </a:r>
            <a:r>
              <a:rPr lang="zh-CN" altLang="zh-CN" sz="1200" dirty="0" smtClean="0">
                <a:latin typeface="Bodoni MT Black" panose="02070A03080606020203" pitchFamily="18" charset="0"/>
                <a:ea typeface="+mn-ea"/>
                <a:sym typeface="+mn-ea"/>
              </a:rPr>
              <a:t>系统</a:t>
            </a:r>
            <a:r>
              <a:rPr lang="zh-CN" altLang="en-US" sz="1200" dirty="0" smtClean="0">
                <a:latin typeface="Bodoni MT Black" panose="02070A03080606020203" pitchFamily="18" charset="0"/>
                <a:ea typeface="+mn-ea"/>
                <a:sym typeface="+mn-ea"/>
              </a:rPr>
              <a:t>（</a:t>
            </a:r>
            <a:r>
              <a:rPr lang="zh-CN" altLang="zh-CN" sz="1200" dirty="0" smtClean="0">
                <a:latin typeface="Bodoni MT Black" panose="02070A03080606020203" pitchFamily="18" charset="0"/>
                <a:ea typeface="+mn-ea"/>
                <a:sym typeface="+mn-ea"/>
              </a:rPr>
              <a:t>类等级</a:t>
            </a:r>
            <a:r>
              <a:rPr lang="zh-CN" altLang="en-US" sz="1200" dirty="0" smtClean="0">
                <a:latin typeface="Bodoni MT Black" panose="02070A03080606020203" pitchFamily="18" charset="0"/>
                <a:sym typeface="+mn-ea"/>
              </a:rPr>
              <a:t>）</a:t>
            </a:r>
            <a:r>
              <a:rPr lang="zh-CN" altLang="zh-CN" sz="1200" dirty="0" smtClean="0">
                <a:latin typeface="Bodoni MT Black" panose="02070A03080606020203" pitchFamily="18" charset="0"/>
                <a:ea typeface="+mn-ea"/>
                <a:sym typeface="+mn-ea"/>
              </a:rPr>
              <a:t>：</a:t>
            </a:r>
            <a:r>
              <a:rPr lang="zh-CN" altLang="zh-CN" sz="1200" dirty="0">
                <a:latin typeface="Bodoni MT Black" panose="02070A03080606020203" pitchFamily="18" charset="0"/>
                <a:ea typeface="+mn-ea"/>
                <a:sym typeface="+mn-ea"/>
              </a:rPr>
              <a:t>一个类的上层可以有父类，下层可以有子类。这种层次结构系统的一个重要性质是继承性，一个类直接继承其父类的全部</a:t>
            </a:r>
            <a:r>
              <a:rPr lang="zh-CN" altLang="zh-CN" sz="1200" dirty="0" smtClean="0">
                <a:latin typeface="Bodoni MT Black" panose="02070A03080606020203" pitchFamily="18" charset="0"/>
                <a:ea typeface="+mn-ea"/>
                <a:sym typeface="+mn-ea"/>
              </a:rPr>
              <a:t>描述</a:t>
            </a:r>
            <a:r>
              <a:rPr lang="zh-CN" altLang="en-US" sz="1200" dirty="0" smtClean="0">
                <a:latin typeface="Bodoni MT Black" panose="02070A03080606020203" pitchFamily="18" charset="0"/>
                <a:sym typeface="+mn-ea"/>
              </a:rPr>
              <a:t>（</a:t>
            </a:r>
            <a:r>
              <a:rPr lang="zh-CN" altLang="zh-CN" sz="1200" dirty="0" smtClean="0">
                <a:latin typeface="Bodoni MT Black" panose="02070A03080606020203" pitchFamily="18" charset="0"/>
                <a:ea typeface="+mn-ea"/>
                <a:sym typeface="+mn-ea"/>
              </a:rPr>
              <a:t>数据</a:t>
            </a:r>
            <a:r>
              <a:rPr lang="zh-CN" altLang="zh-CN" sz="1200" dirty="0">
                <a:latin typeface="Bodoni MT Black" panose="02070A03080606020203" pitchFamily="18" charset="0"/>
                <a:ea typeface="+mn-ea"/>
                <a:sym typeface="+mn-ea"/>
              </a:rPr>
              <a:t>和</a:t>
            </a:r>
            <a:r>
              <a:rPr lang="zh-CN" altLang="zh-CN" sz="1200" dirty="0" smtClean="0">
                <a:latin typeface="Bodoni MT Black" panose="02070A03080606020203" pitchFamily="18" charset="0"/>
                <a:ea typeface="+mn-ea"/>
                <a:sym typeface="+mn-ea"/>
              </a:rPr>
              <a:t>操作</a:t>
            </a:r>
            <a:r>
              <a:rPr lang="zh-CN" altLang="en-US" sz="1200" dirty="0" smtClean="0">
                <a:latin typeface="Bodoni MT Black" panose="02070A03080606020203" pitchFamily="18" charset="0"/>
                <a:sym typeface="+mn-ea"/>
              </a:rPr>
              <a:t>） </a:t>
            </a:r>
            <a:r>
              <a:rPr lang="zh-CN" altLang="zh-CN" sz="1200" dirty="0" smtClean="0">
                <a:latin typeface="Bodoni MT Black" panose="02070A03080606020203" pitchFamily="18" charset="0"/>
                <a:ea typeface="+mn-ea"/>
                <a:sym typeface="+mn-ea"/>
              </a:rPr>
              <a:t>。</a:t>
            </a:r>
            <a:endParaRPr lang="en-US" altLang="zh-CN" sz="1200" b="1" dirty="0" smtClean="0">
              <a:latin typeface="Bodoni MT Black" panose="02070A03080606020203" pitchFamily="18" charset="0"/>
              <a:ea typeface="+mn-ea"/>
            </a:endParaRPr>
          </a:p>
          <a:p>
            <a:pPr marL="0" indent="0" eaLnBrk="1" hangingPunct="1">
              <a:lnSpc>
                <a:spcPts val="3000"/>
              </a:lnSpc>
              <a:spcBef>
                <a:spcPts val="600"/>
              </a:spcBef>
              <a:spcAft>
                <a:spcPts val="1200"/>
              </a:spcAft>
              <a:defRPr/>
            </a:pPr>
            <a:endParaRPr lang="en-US" altLang="zh-CN" sz="1200" dirty="0" smtClean="0">
              <a:latin typeface="+mn-ea"/>
              <a:ea typeface="+mn-ea"/>
              <a:cs typeface="+mn-ea"/>
            </a:endParaRPr>
          </a:p>
        </p:txBody>
      </p:sp>
      <p:sp>
        <p:nvSpPr>
          <p:cNvPr id="19" name="文本框 18"/>
          <p:cNvSpPr txBox="1"/>
          <p:nvPr/>
        </p:nvSpPr>
        <p:spPr>
          <a:xfrm>
            <a:off x="267970" y="4090670"/>
            <a:ext cx="2796540" cy="306705"/>
          </a:xfrm>
          <a:prstGeom prst="rect">
            <a:avLst/>
          </a:prstGeom>
          <a:noFill/>
        </p:spPr>
        <p:txBody>
          <a:bodyPr wrap="square" rtlCol="0">
            <a:spAutoFit/>
          </a:bodyPr>
          <a:p>
            <a:r>
              <a:rPr lang="zh-CN" altLang="en-US" sz="1400" b="1">
                <a:solidFill>
                  <a:srgbClr val="FF0000"/>
                </a:solidFill>
                <a:highlight>
                  <a:srgbClr val="00FFFF"/>
                </a:highlight>
              </a:rPr>
              <a:t>多态性（</a:t>
            </a:r>
            <a:r>
              <a:rPr lang="en-US" altLang="zh-CN" sz="1400" b="1" dirty="0" smtClean="0">
                <a:solidFill>
                  <a:srgbClr val="FF0000"/>
                </a:solidFill>
                <a:highlight>
                  <a:srgbClr val="00FFFF"/>
                </a:highlight>
                <a:latin typeface="+mn-ea"/>
                <a:cs typeface="+mn-ea"/>
                <a:sym typeface="+mn-ea"/>
              </a:rPr>
              <a:t>polymorphism</a:t>
            </a:r>
            <a:r>
              <a:rPr lang="zh-CN" altLang="en-US" sz="1400" b="1">
                <a:solidFill>
                  <a:srgbClr val="FF0000"/>
                </a:solidFill>
                <a:highlight>
                  <a:srgbClr val="00FFFF"/>
                </a:highlight>
              </a:rPr>
              <a:t>）</a:t>
            </a:r>
            <a:r>
              <a:rPr lang="en-US" altLang="zh-CN" sz="1400" b="1">
                <a:solidFill>
                  <a:srgbClr val="FF0000"/>
                </a:solidFill>
                <a:highlight>
                  <a:srgbClr val="00FFFF"/>
                </a:highlight>
              </a:rPr>
              <a:t>     </a:t>
            </a:r>
            <a:endParaRPr lang="en-US" altLang="zh-CN" sz="1400" b="1">
              <a:solidFill>
                <a:srgbClr val="FF0000"/>
              </a:solidFill>
              <a:highlight>
                <a:srgbClr val="00FFFF"/>
              </a:highlight>
            </a:endParaRPr>
          </a:p>
        </p:txBody>
      </p:sp>
      <p:sp>
        <p:nvSpPr>
          <p:cNvPr id="20" name="TextBox 7"/>
          <p:cNvSpPr txBox="1">
            <a:spLocks noChangeArrowheads="1"/>
          </p:cNvSpPr>
          <p:nvPr/>
        </p:nvSpPr>
        <p:spPr bwMode="auto">
          <a:xfrm>
            <a:off x="219075" y="4463415"/>
            <a:ext cx="5588635"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800"/>
              </a:lnSpc>
              <a:defRPr/>
            </a:pPr>
            <a:r>
              <a:rPr lang="zh-CN" altLang="zh-CN" sz="1200" b="1" dirty="0">
                <a:solidFill>
                  <a:srgbClr val="C00000"/>
                </a:solidFill>
                <a:latin typeface="Bodoni MT Black" panose="02070A03080606020203" pitchFamily="18" charset="0"/>
                <a:ea typeface="+mn-ea"/>
                <a:sym typeface="+mn-ea"/>
              </a:rPr>
              <a:t>多态性</a:t>
            </a:r>
            <a:r>
              <a:rPr lang="zh-CN" altLang="zh-CN" sz="1200" b="1" dirty="0">
                <a:latin typeface="Bodoni MT Black" panose="02070A03080606020203" pitchFamily="18" charset="0"/>
                <a:ea typeface="+mn-ea"/>
                <a:sym typeface="+mn-ea"/>
              </a:rPr>
              <a:t>是指</a:t>
            </a:r>
            <a:r>
              <a:rPr lang="zh-CN" altLang="en-US" sz="1200" b="1" dirty="0" smtClean="0">
                <a:solidFill>
                  <a:srgbClr val="00B0F0"/>
                </a:solidFill>
                <a:latin typeface="Bodoni MT Black" panose="02070A03080606020203" pitchFamily="18" charset="0"/>
                <a:ea typeface="+mn-ea"/>
                <a:sym typeface="+mn-ea"/>
              </a:rPr>
              <a:t>父类引用指向子类对象</a:t>
            </a:r>
            <a:r>
              <a:rPr lang="zh-CN" altLang="en-US" sz="1200" b="1" dirty="0" smtClean="0">
                <a:latin typeface="Bodoni MT Black" panose="02070A03080606020203" pitchFamily="18" charset="0"/>
                <a:ea typeface="+mn-ea"/>
                <a:sym typeface="+mn-ea"/>
              </a:rPr>
              <a:t>，并通过该引用调用方法时，实际执行的是子类重写的方法。</a:t>
            </a:r>
            <a:r>
              <a:rPr lang="zh-CN" altLang="zh-CN" sz="1200" b="1" dirty="0">
                <a:solidFill>
                  <a:srgbClr val="FF0000"/>
                </a:solidFill>
                <a:latin typeface="Bodoni MT Black" panose="02070A03080606020203" pitchFamily="18" charset="0"/>
                <a:ea typeface="+mn-ea"/>
                <a:sym typeface="+mn-ea"/>
              </a:rPr>
              <a:t>在类等级的不同层次中可以</a:t>
            </a:r>
            <a:r>
              <a:rPr lang="zh-CN" altLang="zh-CN" sz="1200" b="1" dirty="0" smtClean="0">
                <a:solidFill>
                  <a:srgbClr val="FF0000"/>
                </a:solidFill>
                <a:latin typeface="Bodoni MT Black" panose="02070A03080606020203" pitchFamily="18" charset="0"/>
                <a:ea typeface="+mn-ea"/>
                <a:sym typeface="+mn-ea"/>
              </a:rPr>
              <a:t>共享</a:t>
            </a:r>
            <a:r>
              <a:rPr lang="zh-CN" altLang="en-US" sz="1200" b="1" dirty="0" smtClean="0">
                <a:solidFill>
                  <a:srgbClr val="FF0000"/>
                </a:solidFill>
                <a:latin typeface="Bodoni MT Black" panose="02070A03080606020203" pitchFamily="18" charset="0"/>
                <a:ea typeface="+mn-ea"/>
                <a:sym typeface="+mn-ea"/>
              </a:rPr>
              <a:t>（</a:t>
            </a:r>
            <a:r>
              <a:rPr lang="zh-CN" altLang="zh-CN" sz="1200" b="1" dirty="0" smtClean="0">
                <a:solidFill>
                  <a:srgbClr val="FF0000"/>
                </a:solidFill>
                <a:latin typeface="Bodoni MT Black" panose="02070A03080606020203" pitchFamily="18" charset="0"/>
                <a:ea typeface="+mn-ea"/>
                <a:sym typeface="+mn-ea"/>
              </a:rPr>
              <a:t>公用</a:t>
            </a:r>
            <a:r>
              <a:rPr lang="zh-CN" altLang="en-US" sz="1200" b="1" dirty="0" smtClean="0">
                <a:solidFill>
                  <a:srgbClr val="FF0000"/>
                </a:solidFill>
                <a:latin typeface="Bodoni MT Black" panose="02070A03080606020203" pitchFamily="18" charset="0"/>
                <a:sym typeface="+mn-ea"/>
              </a:rPr>
              <a:t>）</a:t>
            </a:r>
            <a:r>
              <a:rPr lang="zh-CN" altLang="zh-CN" sz="1200" b="1" dirty="0" smtClean="0">
                <a:solidFill>
                  <a:srgbClr val="FF0000"/>
                </a:solidFill>
                <a:latin typeface="Bodoni MT Black" panose="02070A03080606020203" pitchFamily="18" charset="0"/>
                <a:ea typeface="+mn-ea"/>
                <a:sym typeface="+mn-ea"/>
              </a:rPr>
              <a:t>一</a:t>
            </a:r>
            <a:r>
              <a:rPr lang="zh-CN" altLang="zh-CN" sz="1200" b="1" dirty="0">
                <a:solidFill>
                  <a:srgbClr val="FF0000"/>
                </a:solidFill>
                <a:latin typeface="Bodoni MT Black" panose="02070A03080606020203" pitchFamily="18" charset="0"/>
                <a:ea typeface="+mn-ea"/>
                <a:sym typeface="+mn-ea"/>
              </a:rPr>
              <a:t>个</a:t>
            </a:r>
            <a:r>
              <a:rPr lang="zh-CN" altLang="zh-CN" sz="1200" b="1" dirty="0" smtClean="0">
                <a:solidFill>
                  <a:srgbClr val="FF0000"/>
                </a:solidFill>
                <a:latin typeface="Bodoni MT Black" panose="02070A03080606020203" pitchFamily="18" charset="0"/>
                <a:ea typeface="+mn-ea"/>
                <a:sym typeface="+mn-ea"/>
              </a:rPr>
              <a:t>行为</a:t>
            </a:r>
            <a:r>
              <a:rPr lang="zh-CN" altLang="en-US" sz="1200" b="1" dirty="0" smtClean="0">
                <a:solidFill>
                  <a:srgbClr val="FF0000"/>
                </a:solidFill>
                <a:latin typeface="Bodoni MT Black" panose="02070A03080606020203" pitchFamily="18" charset="0"/>
                <a:ea typeface="+mn-ea"/>
                <a:sym typeface="+mn-ea"/>
              </a:rPr>
              <a:t>（</a:t>
            </a:r>
            <a:r>
              <a:rPr lang="zh-CN" altLang="zh-CN" sz="1200" b="1" dirty="0" smtClean="0">
                <a:solidFill>
                  <a:srgbClr val="FF0000"/>
                </a:solidFill>
                <a:latin typeface="Bodoni MT Black" panose="02070A03080606020203" pitchFamily="18" charset="0"/>
                <a:ea typeface="+mn-ea"/>
                <a:sym typeface="+mn-ea"/>
              </a:rPr>
              <a:t>方法</a:t>
            </a:r>
            <a:r>
              <a:rPr lang="zh-CN" altLang="en-US" sz="1200" b="1" dirty="0" smtClean="0">
                <a:solidFill>
                  <a:srgbClr val="FF0000"/>
                </a:solidFill>
                <a:latin typeface="Bodoni MT Black" panose="02070A03080606020203" pitchFamily="18" charset="0"/>
                <a:sym typeface="+mn-ea"/>
              </a:rPr>
              <a:t>）</a:t>
            </a:r>
            <a:r>
              <a:rPr lang="zh-CN" altLang="zh-CN" sz="1200" b="1" dirty="0" smtClean="0">
                <a:solidFill>
                  <a:srgbClr val="FF0000"/>
                </a:solidFill>
                <a:latin typeface="Bodoni MT Black" panose="02070A03080606020203" pitchFamily="18" charset="0"/>
                <a:ea typeface="+mn-ea"/>
                <a:sym typeface="+mn-ea"/>
              </a:rPr>
              <a:t>的</a:t>
            </a:r>
            <a:r>
              <a:rPr lang="zh-CN" altLang="zh-CN" sz="1200" b="1" dirty="0">
                <a:solidFill>
                  <a:srgbClr val="FF0000"/>
                </a:solidFill>
                <a:latin typeface="Bodoni MT Black" panose="02070A03080606020203" pitchFamily="18" charset="0"/>
                <a:ea typeface="+mn-ea"/>
                <a:sym typeface="+mn-ea"/>
              </a:rPr>
              <a:t>名字，然而不同层次中的每个类却各自按自己的需要来实现这个行为</a:t>
            </a:r>
            <a:r>
              <a:rPr lang="zh-CN" altLang="zh-CN" sz="1200" b="1" dirty="0" smtClean="0">
                <a:latin typeface="Bodoni MT Black" panose="02070A03080606020203" pitchFamily="18" charset="0"/>
                <a:ea typeface="+mn-ea"/>
                <a:sym typeface="+mn-ea"/>
              </a:rPr>
              <a:t>。</a:t>
            </a:r>
            <a:r>
              <a:rPr lang="zh-CN" altLang="zh-CN" sz="1200" dirty="0" smtClean="0">
                <a:latin typeface="Bodoni MT Black" panose="02070A03080606020203" pitchFamily="18" charset="0"/>
                <a:ea typeface="+mn-ea"/>
                <a:sym typeface="+mn-ea"/>
              </a:rPr>
              <a:t>多态性</a:t>
            </a:r>
            <a:r>
              <a:rPr lang="zh-CN" altLang="zh-CN" sz="1200" dirty="0">
                <a:latin typeface="Bodoni MT Black" panose="02070A03080606020203" pitchFamily="18" charset="0"/>
                <a:ea typeface="+mn-ea"/>
                <a:sym typeface="+mn-ea"/>
              </a:rPr>
              <a:t>机制不仅增加了面向对象软件系统的灵活性，进一步减少了信息冗余，而且显著提高了软件的可重用性和可扩充性</a:t>
            </a:r>
            <a:r>
              <a:rPr lang="zh-CN" altLang="zh-CN" sz="1200" dirty="0" smtClean="0">
                <a:latin typeface="Bodoni MT Black" panose="02070A03080606020203" pitchFamily="18" charset="0"/>
                <a:ea typeface="+mn-ea"/>
                <a:sym typeface="+mn-ea"/>
              </a:rPr>
              <a:t>。</a:t>
            </a:r>
            <a:endParaRPr lang="zh-CN" altLang="en-US" sz="1200" dirty="0" smtClean="0">
              <a:latin typeface="+mn-ea"/>
              <a:ea typeface="+mn-ea"/>
              <a:cs typeface="+mn-ea"/>
              <a:sym typeface="+mn-ea"/>
            </a:endParaRPr>
          </a:p>
        </p:txBody>
      </p:sp>
      <p:pic>
        <p:nvPicPr>
          <p:cNvPr id="47108" name="图片 1"/>
          <p:cNvPicPr>
            <a:picLocks noChangeAspect="1"/>
          </p:cNvPicPr>
          <p:nvPr/>
        </p:nvPicPr>
        <p:blipFill>
          <a:blip r:embed="rId2" cstate="print"/>
          <a:srcRect/>
          <a:stretch>
            <a:fillRect/>
          </a:stretch>
        </p:blipFill>
        <p:spPr bwMode="auto">
          <a:xfrm>
            <a:off x="3136900" y="1160145"/>
            <a:ext cx="2752725" cy="1744345"/>
          </a:xfrm>
          <a:prstGeom prst="rect">
            <a:avLst/>
          </a:prstGeom>
          <a:noFill/>
          <a:ln w="9525">
            <a:noFill/>
            <a:miter lim="800000"/>
            <a:headEnd/>
            <a:tailEnd/>
          </a:ln>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85410" y="274465"/>
            <a:ext cx="3960000" cy="882000"/>
          </a:xfrm>
        </p:spPr>
        <p:txBody>
          <a:bodyPr>
            <a:normAutofit/>
          </a:bodyPr>
          <a:lstStyle/>
          <a:p>
            <a:pPr algn="ctr"/>
            <a:r>
              <a:rPr lang="zh-CN" altLang="en-US" sz="2400" spc="200" dirty="0">
                <a:solidFill>
                  <a:srgbClr val="55D5FF"/>
                </a:solidFill>
                <a:latin typeface="+mn-ea"/>
                <a:ea typeface="+mn-ea"/>
              </a:rPr>
              <a:t>面向对象建模</a:t>
            </a:r>
            <a:endParaRPr lang="zh-CN" altLang="en-US" sz="2400" spc="200" dirty="0">
              <a:solidFill>
                <a:srgbClr val="55D5FF"/>
              </a:solidFill>
              <a:latin typeface="+mn-ea"/>
              <a:ea typeface="+mn-ea"/>
            </a:endParaRPr>
          </a:p>
        </p:txBody>
      </p:sp>
      <p:sp>
        <p:nvSpPr>
          <p:cNvPr id="14" name="文本框 13"/>
          <p:cNvSpPr txBox="1"/>
          <p:nvPr/>
        </p:nvSpPr>
        <p:spPr>
          <a:xfrm>
            <a:off x="91440" y="1420495"/>
            <a:ext cx="4740910" cy="315214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p>
            <a:pPr algn="l">
              <a:lnSpc>
                <a:spcPts val="3200"/>
              </a:lnSpc>
              <a:spcBef>
                <a:spcPts val="600"/>
              </a:spcBef>
              <a:buClrTx/>
              <a:buSzTx/>
              <a:buFontTx/>
              <a:buNone/>
              <a:defRPr/>
            </a:pPr>
            <a:r>
              <a:rPr lang="zh-CN" altLang="zh-CN" sz="1400" b="1" dirty="0">
                <a:solidFill>
                  <a:schemeClr val="bg1"/>
                </a:solidFill>
                <a:latin typeface="Bodoni MT Black" panose="02070A03080606020203" pitchFamily="18" charset="0"/>
                <a:sym typeface="+mn-ea"/>
              </a:rPr>
              <a:t>面向对象方法最基本的原则，是按照人们习惯的思维方式，用面向对象观点建立</a:t>
            </a:r>
            <a:r>
              <a:rPr lang="zh-CN" altLang="zh-CN" sz="1400" b="1" dirty="0">
                <a:solidFill>
                  <a:srgbClr val="00B0F0"/>
                </a:solidFill>
                <a:latin typeface="Bodoni MT Black" panose="02070A03080606020203" pitchFamily="18" charset="0"/>
                <a:sym typeface="+mn-ea"/>
              </a:rPr>
              <a:t>问题域的模型</a:t>
            </a:r>
            <a:r>
              <a:rPr lang="zh-CN" altLang="zh-CN" sz="1400" b="1" dirty="0">
                <a:solidFill>
                  <a:schemeClr val="bg1"/>
                </a:solidFill>
                <a:latin typeface="Bodoni MT Black" panose="02070A03080606020203" pitchFamily="18" charset="0"/>
                <a:sym typeface="+mn-ea"/>
              </a:rPr>
              <a:t>，开发出尽可能自然地表现求解方法的软件。</a:t>
            </a:r>
            <a:endParaRPr lang="zh-CN" altLang="zh-CN" sz="1400" b="1" dirty="0">
              <a:solidFill>
                <a:schemeClr val="bg1"/>
              </a:solidFill>
              <a:latin typeface="Bodoni MT Black" panose="02070A03080606020203" pitchFamily="18" charset="0"/>
              <a:sym typeface="+mn-ea"/>
            </a:endParaRPr>
          </a:p>
          <a:p>
            <a:pPr algn="l" eaLnBrk="1" hangingPunct="1">
              <a:lnSpc>
                <a:spcPts val="3200"/>
              </a:lnSpc>
              <a:spcBef>
                <a:spcPts val="600"/>
              </a:spcBef>
              <a:buClrTx/>
              <a:buSzTx/>
              <a:buFontTx/>
              <a:defRPr/>
            </a:pPr>
            <a:r>
              <a:rPr lang="zh-CN" altLang="zh-CN" sz="1400" b="1" dirty="0">
                <a:solidFill>
                  <a:schemeClr val="bg1"/>
                </a:solidFill>
                <a:latin typeface="Bodoni MT Black" panose="02070A03080606020203" pitchFamily="18" charset="0"/>
                <a:sym typeface="+mn-ea"/>
              </a:rPr>
              <a:t>一个典型的软件系统使用数据结构（</a:t>
            </a:r>
            <a:r>
              <a:rPr lang="zh-CN" altLang="zh-CN" sz="1400" b="1" dirty="0">
                <a:solidFill>
                  <a:srgbClr val="FF0000"/>
                </a:solidFill>
                <a:latin typeface="Bodoni MT Black" panose="02070A03080606020203" pitchFamily="18" charset="0"/>
                <a:sym typeface="+mn-ea"/>
              </a:rPr>
              <a:t>对象模型</a:t>
            </a:r>
            <a:r>
              <a:rPr lang="zh-CN" altLang="zh-CN" sz="1400" b="1" dirty="0">
                <a:solidFill>
                  <a:schemeClr val="bg1"/>
                </a:solidFill>
                <a:latin typeface="Bodoni MT Black" panose="02070A03080606020203" pitchFamily="18" charset="0"/>
                <a:sym typeface="+mn-ea"/>
              </a:rPr>
              <a:t>），执行操作（</a:t>
            </a:r>
            <a:r>
              <a:rPr lang="zh-CN" altLang="zh-CN" sz="1400" b="1" dirty="0">
                <a:solidFill>
                  <a:srgbClr val="FF0000"/>
                </a:solidFill>
                <a:latin typeface="Bodoni MT Black" panose="02070A03080606020203" pitchFamily="18" charset="0"/>
                <a:sym typeface="+mn-ea"/>
              </a:rPr>
              <a:t>动态模型</a:t>
            </a:r>
            <a:r>
              <a:rPr lang="zh-CN" altLang="zh-CN" sz="1400" b="1" dirty="0">
                <a:solidFill>
                  <a:schemeClr val="bg1"/>
                </a:solidFill>
                <a:latin typeface="Bodoni MT Black" panose="02070A03080606020203" pitchFamily="18" charset="0"/>
                <a:sym typeface="+mn-ea"/>
              </a:rPr>
              <a:t>），并且完成数据值的变化（</a:t>
            </a:r>
            <a:r>
              <a:rPr lang="zh-CN" altLang="zh-CN" sz="1400" b="1" dirty="0">
                <a:solidFill>
                  <a:srgbClr val="FF0000"/>
                </a:solidFill>
                <a:latin typeface="Bodoni MT Black" panose="02070A03080606020203" pitchFamily="18" charset="0"/>
                <a:sym typeface="+mn-ea"/>
              </a:rPr>
              <a:t>功能模型</a:t>
            </a:r>
            <a:r>
              <a:rPr lang="zh-CN" altLang="zh-CN" sz="1400" b="1" dirty="0">
                <a:solidFill>
                  <a:schemeClr val="bg1"/>
                </a:solidFill>
                <a:latin typeface="Bodoni MT Black" panose="02070A03080606020203" pitchFamily="18" charset="0"/>
                <a:sym typeface="+mn-ea"/>
              </a:rPr>
              <a:t>）。</a:t>
            </a:r>
            <a:endParaRPr lang="zh-CN" altLang="zh-CN" sz="1400" b="1" dirty="0">
              <a:solidFill>
                <a:schemeClr val="bg1"/>
              </a:solidFill>
              <a:latin typeface="Bodoni MT Black" panose="02070A03080606020203" pitchFamily="18" charset="0"/>
              <a:ea typeface="+mn-ea"/>
            </a:endParaRPr>
          </a:p>
          <a:p>
            <a:pPr algn="l" eaLnBrk="1" hangingPunct="1">
              <a:lnSpc>
                <a:spcPts val="3200"/>
              </a:lnSpc>
              <a:spcBef>
                <a:spcPts val="600"/>
              </a:spcBef>
              <a:buClrTx/>
              <a:buSzTx/>
              <a:buFontTx/>
              <a:defRPr/>
            </a:pPr>
            <a:r>
              <a:rPr lang="zh-CN" altLang="zh-CN" sz="1400" b="1" dirty="0">
                <a:solidFill>
                  <a:schemeClr val="bg1"/>
                </a:solidFill>
                <a:latin typeface="Bodoni MT Black" panose="02070A03080606020203" pitchFamily="18" charset="0"/>
                <a:sym typeface="+mn-ea"/>
              </a:rPr>
              <a:t>对任何大系统来说，上述3种模型都是必不可少的。用面向对象方法开发软件，在任何情况下，</a:t>
            </a:r>
            <a:r>
              <a:rPr lang="zh-CN" altLang="zh-CN" sz="1400" b="1" dirty="0">
                <a:solidFill>
                  <a:srgbClr val="00B0F0"/>
                </a:solidFill>
                <a:highlight>
                  <a:srgbClr val="FFFF00"/>
                </a:highlight>
                <a:latin typeface="Bodoni MT Black" panose="02070A03080606020203" pitchFamily="18" charset="0"/>
                <a:sym typeface="+mn-ea"/>
              </a:rPr>
              <a:t>对象模型始终都是最重要、最基本、最核心的。</a:t>
            </a:r>
            <a:endParaRPr lang="zh-CN" altLang="zh-CN" sz="1400" b="1" dirty="0">
              <a:solidFill>
                <a:schemeClr val="bg1"/>
              </a:solidFill>
              <a:latin typeface="Bodoni MT Black" panose="02070A03080606020203" pitchFamily="18" charset="0"/>
              <a:ea typeface="+mn-ea"/>
            </a:endParaRPr>
          </a:p>
          <a:p>
            <a:pPr algn="l">
              <a:lnSpc>
                <a:spcPts val="3200"/>
              </a:lnSpc>
              <a:spcBef>
                <a:spcPts val="600"/>
              </a:spcBef>
              <a:buClrTx/>
              <a:buSzTx/>
              <a:buFontTx/>
              <a:buNone/>
              <a:defRPr/>
            </a:pPr>
            <a:endParaRPr lang="zh-CN" altLang="zh-CN" sz="1400" b="1" dirty="0">
              <a:solidFill>
                <a:schemeClr val="bg1"/>
              </a:solidFill>
              <a:latin typeface="Bodoni MT Black" panose="02070A03080606020203" pitchFamily="18" charset="0"/>
              <a:sym typeface="+mn-ea"/>
            </a:endParaRPr>
          </a:p>
        </p:txBody>
      </p:sp>
      <p:sp>
        <p:nvSpPr>
          <p:cNvPr id="8" name="文本框 7"/>
          <p:cNvSpPr txBox="1"/>
          <p:nvPr/>
        </p:nvSpPr>
        <p:spPr>
          <a:xfrm>
            <a:off x="4832350" y="0"/>
            <a:ext cx="7360285" cy="418465"/>
          </a:xfrm>
          <a:prstGeom prst="rect">
            <a:avLst/>
          </a:prstGeom>
          <a:solidFill>
            <a:schemeClr val="accent1"/>
          </a:solidFill>
        </p:spPr>
        <p:txBody>
          <a:bodyPr wrap="square" rtlCol="0">
            <a:noAutofit/>
          </a:bodyPr>
          <a:p>
            <a:r>
              <a:rPr lang="en-US" altLang="zh-CN" b="1">
                <a:solidFill>
                  <a:schemeClr val="bg2"/>
                </a:solidFill>
              </a:rPr>
              <a:t> </a:t>
            </a:r>
            <a:r>
              <a:rPr lang="zh-CN" altLang="en-US" b="1">
                <a:solidFill>
                  <a:schemeClr val="bg2"/>
                </a:solidFill>
              </a:rPr>
              <a:t>对象模型</a:t>
            </a:r>
            <a:endParaRPr lang="zh-CN" altLang="en-US" b="1">
              <a:solidFill>
                <a:schemeClr val="bg2"/>
              </a:solidFill>
            </a:endParaRPr>
          </a:p>
        </p:txBody>
      </p:sp>
      <p:pic>
        <p:nvPicPr>
          <p:cNvPr id="2" name="图片 1"/>
          <p:cNvPicPr>
            <a:picLocks noChangeAspect="1"/>
          </p:cNvPicPr>
          <p:nvPr/>
        </p:nvPicPr>
        <p:blipFill>
          <a:blip r:embed="rId2"/>
          <a:stretch>
            <a:fillRect/>
          </a:stretch>
        </p:blipFill>
        <p:spPr>
          <a:xfrm>
            <a:off x="431800" y="4872990"/>
            <a:ext cx="4013835" cy="1758950"/>
          </a:xfrm>
          <a:prstGeom prst="rect">
            <a:avLst/>
          </a:prstGeom>
        </p:spPr>
      </p:pic>
      <p:sp>
        <p:nvSpPr>
          <p:cNvPr id="4" name="文本框 3"/>
          <p:cNvSpPr txBox="1"/>
          <p:nvPr/>
        </p:nvSpPr>
        <p:spPr>
          <a:xfrm>
            <a:off x="5015865" y="431165"/>
            <a:ext cx="7024370" cy="902970"/>
          </a:xfrm>
          <a:prstGeom prst="rect">
            <a:avLst/>
          </a:prstGeom>
          <a:noFill/>
        </p:spPr>
        <p:txBody>
          <a:bodyPr wrap="square" rtlCol="0">
            <a:spAutoFit/>
          </a:bodyPr>
          <a:p>
            <a:pPr>
              <a:lnSpc>
                <a:spcPct val="170000"/>
              </a:lnSpc>
            </a:pPr>
            <a:r>
              <a:rPr lang="zh-CN" altLang="zh-CN" sz="1200" b="1" dirty="0">
                <a:solidFill>
                  <a:srgbClr val="FF0000"/>
                </a:solidFill>
                <a:latin typeface="+mn-ea"/>
                <a:cs typeface="+mn-ea"/>
                <a:sym typeface="+mn-ea"/>
              </a:rPr>
              <a:t>对象模型</a:t>
            </a:r>
            <a:r>
              <a:rPr lang="zh-CN" altLang="zh-CN" sz="1200" b="1" dirty="0">
                <a:latin typeface="+mn-ea"/>
                <a:cs typeface="+mn-ea"/>
                <a:sym typeface="+mn-ea"/>
              </a:rPr>
              <a:t>表示静态的、结构化的系统的</a:t>
            </a:r>
            <a:r>
              <a:rPr lang="zh-CN" altLang="zh-CN" sz="1200" b="1" dirty="0">
                <a:solidFill>
                  <a:srgbClr val="00B0F0"/>
                </a:solidFill>
                <a:highlight>
                  <a:srgbClr val="FFFF00"/>
                </a:highlight>
                <a:latin typeface="+mn-ea"/>
                <a:cs typeface="+mn-ea"/>
                <a:sym typeface="+mn-ea"/>
              </a:rPr>
              <a:t>“数据”</a:t>
            </a:r>
            <a:r>
              <a:rPr lang="zh-CN" altLang="zh-CN" sz="1200" b="1" dirty="0">
                <a:latin typeface="+mn-ea"/>
                <a:cs typeface="+mn-ea"/>
                <a:sym typeface="+mn-ea"/>
              </a:rPr>
              <a:t>性质。它是对模拟客观世界实体的对象以及对象彼此间的关系的映射，描述了系统的</a:t>
            </a:r>
            <a:r>
              <a:rPr lang="zh-CN" altLang="zh-CN" sz="1200" b="1" dirty="0">
                <a:solidFill>
                  <a:srgbClr val="FF0000"/>
                </a:solidFill>
                <a:highlight>
                  <a:srgbClr val="FFFF00"/>
                </a:highlight>
                <a:latin typeface="+mn-ea"/>
                <a:cs typeface="+mn-ea"/>
                <a:sym typeface="+mn-ea"/>
              </a:rPr>
              <a:t>静态结构</a:t>
            </a:r>
            <a:r>
              <a:rPr lang="zh-CN" altLang="zh-CN" sz="1200" b="1" dirty="0" smtClean="0">
                <a:latin typeface="+mn-ea"/>
                <a:cs typeface="+mn-ea"/>
                <a:sym typeface="+mn-ea"/>
              </a:rPr>
              <a:t>。通常使用</a:t>
            </a:r>
            <a:r>
              <a:rPr lang="en-US" altLang="zh-CN" sz="1200" b="1" dirty="0">
                <a:solidFill>
                  <a:srgbClr val="FF0000"/>
                </a:solidFill>
                <a:latin typeface="+mn-ea"/>
                <a:cs typeface="+mn-ea"/>
                <a:sym typeface="+mn-ea"/>
              </a:rPr>
              <a:t>UML</a:t>
            </a:r>
            <a:r>
              <a:rPr lang="zh-CN" altLang="zh-CN" sz="1200" b="1" dirty="0">
                <a:latin typeface="+mn-ea"/>
                <a:cs typeface="+mn-ea"/>
                <a:sym typeface="+mn-ea"/>
              </a:rPr>
              <a:t>提供的</a:t>
            </a:r>
            <a:r>
              <a:rPr lang="zh-CN" altLang="zh-CN" sz="1200" b="1" dirty="0">
                <a:solidFill>
                  <a:srgbClr val="FF0000"/>
                </a:solidFill>
                <a:highlight>
                  <a:srgbClr val="FFFF00"/>
                </a:highlight>
                <a:latin typeface="+mn-ea"/>
                <a:cs typeface="+mn-ea"/>
                <a:sym typeface="+mn-ea"/>
              </a:rPr>
              <a:t>类图</a:t>
            </a:r>
            <a:r>
              <a:rPr lang="zh-CN" altLang="zh-CN" sz="1200" b="1" dirty="0">
                <a:latin typeface="+mn-ea"/>
                <a:cs typeface="+mn-ea"/>
                <a:sym typeface="+mn-ea"/>
              </a:rPr>
              <a:t>来建立对象模型。</a:t>
            </a:r>
            <a:endParaRPr lang="en-US" altLang="zh-CN" sz="1200" b="1" dirty="0" smtClean="0">
              <a:latin typeface="+mn-ea"/>
              <a:cs typeface="+mn-ea"/>
            </a:endParaRPr>
          </a:p>
          <a:p>
            <a:endParaRPr lang="zh-CN" altLang="en-US" sz="1200" b="1">
              <a:latin typeface="+mn-ea"/>
              <a:cs typeface="+mn-ea"/>
            </a:endParaRPr>
          </a:p>
        </p:txBody>
      </p:sp>
      <p:sp>
        <p:nvSpPr>
          <p:cNvPr id="5" name="文本框 4"/>
          <p:cNvSpPr txBox="1"/>
          <p:nvPr/>
        </p:nvSpPr>
        <p:spPr>
          <a:xfrm>
            <a:off x="5083175" y="1262380"/>
            <a:ext cx="2644775" cy="821690"/>
          </a:xfrm>
          <a:prstGeom prst="rect">
            <a:avLst/>
          </a:prstGeom>
          <a:solidFill>
            <a:schemeClr val="bg2">
              <a:lumMod val="95000"/>
            </a:schemeClr>
          </a:solidFill>
          <a:ln>
            <a:solidFill>
              <a:schemeClr val="tx1"/>
            </a:solidFill>
          </a:ln>
        </p:spPr>
        <p:txBody>
          <a:bodyPr wrap="square" rtlCol="0">
            <a:noAutofit/>
          </a:bodyPr>
          <a:p>
            <a:r>
              <a:rPr lang="zh-CN" altLang="en-US" sz="1000" b="1"/>
              <a:t>定义类：</a:t>
            </a:r>
            <a:endParaRPr lang="zh-CN" altLang="en-US" sz="1000" b="1"/>
          </a:p>
        </p:txBody>
      </p:sp>
      <p:sp>
        <p:nvSpPr>
          <p:cNvPr id="7" name="文本框 6"/>
          <p:cNvSpPr txBox="1"/>
          <p:nvPr/>
        </p:nvSpPr>
        <p:spPr>
          <a:xfrm>
            <a:off x="5083175" y="2109470"/>
            <a:ext cx="2644775" cy="1395095"/>
          </a:xfrm>
          <a:prstGeom prst="rect">
            <a:avLst/>
          </a:prstGeom>
          <a:solidFill>
            <a:schemeClr val="accent2">
              <a:lumMod val="20000"/>
              <a:lumOff val="80000"/>
            </a:schemeClr>
          </a:solidFill>
          <a:ln>
            <a:solidFill>
              <a:schemeClr val="tx1"/>
            </a:solidFill>
          </a:ln>
        </p:spPr>
        <p:txBody>
          <a:bodyPr wrap="square" rtlCol="0" anchor="ctr" anchorCtr="0">
            <a:noAutofit/>
          </a:bodyPr>
          <a:p>
            <a:pPr>
              <a:lnSpc>
                <a:spcPct val="190000"/>
              </a:lnSpc>
            </a:pPr>
            <a:r>
              <a:rPr lang="zh-CN" altLang="en-US" sz="1000" b="1">
                <a:latin typeface="+mn-ea"/>
                <a:cs typeface="+mn-ea"/>
              </a:rPr>
              <a:t>定义属性：</a:t>
            </a:r>
            <a:endParaRPr lang="zh-CN" altLang="en-US" sz="1000" b="1">
              <a:latin typeface="+mn-ea"/>
              <a:cs typeface="+mn-ea"/>
            </a:endParaRPr>
          </a:p>
          <a:p>
            <a:pPr>
              <a:lnSpc>
                <a:spcPct val="190000"/>
              </a:lnSpc>
            </a:pPr>
            <a:r>
              <a:rPr lang="en-US" altLang="zh-CN" sz="1000" b="1" dirty="0" smtClean="0">
                <a:latin typeface="+mn-ea"/>
                <a:cs typeface="+mn-ea"/>
                <a:sym typeface="+mn-ea"/>
              </a:rPr>
              <a:t>UML</a:t>
            </a:r>
            <a:r>
              <a:rPr lang="zh-CN" altLang="zh-CN" sz="1000" b="1" dirty="0">
                <a:latin typeface="+mn-ea"/>
                <a:cs typeface="+mn-ea"/>
                <a:sym typeface="+mn-ea"/>
              </a:rPr>
              <a:t>描述属性的语法格式如下：</a:t>
            </a:r>
            <a:endParaRPr lang="zh-CN" altLang="zh-CN" sz="1000" b="1" dirty="0">
              <a:latin typeface="+mn-ea"/>
              <a:cs typeface="+mn-ea"/>
              <a:sym typeface="+mn-ea"/>
            </a:endParaRPr>
          </a:p>
          <a:p>
            <a:pPr>
              <a:lnSpc>
                <a:spcPct val="190000"/>
              </a:lnSpc>
            </a:pPr>
            <a:endParaRPr lang="zh-CN" altLang="zh-CN" sz="1000" b="1" dirty="0">
              <a:latin typeface="+mn-ea"/>
              <a:cs typeface="+mn-ea"/>
              <a:sym typeface="+mn-ea"/>
            </a:endParaRPr>
          </a:p>
          <a:p>
            <a:pPr>
              <a:lnSpc>
                <a:spcPct val="190000"/>
              </a:lnSpc>
            </a:pPr>
            <a:endParaRPr lang="zh-CN" altLang="zh-CN" sz="1000" b="1" dirty="0">
              <a:latin typeface="+mn-ea"/>
              <a:cs typeface="+mn-ea"/>
              <a:sym typeface="+mn-ea"/>
            </a:endParaRPr>
          </a:p>
          <a:p>
            <a:pPr>
              <a:lnSpc>
                <a:spcPct val="190000"/>
              </a:lnSpc>
            </a:pPr>
            <a:endParaRPr lang="zh-CN" altLang="zh-CN" sz="1000" b="1" dirty="0">
              <a:latin typeface="+mn-ea"/>
              <a:cs typeface="+mn-ea"/>
            </a:endParaRPr>
          </a:p>
          <a:p>
            <a:endParaRPr lang="zh-CN" altLang="en-US" sz="1000" b="1">
              <a:latin typeface="+mn-ea"/>
              <a:cs typeface="+mn-ea"/>
            </a:endParaRPr>
          </a:p>
        </p:txBody>
      </p:sp>
      <p:sp>
        <p:nvSpPr>
          <p:cNvPr id="9" name="文本框 8"/>
          <p:cNvSpPr txBox="1"/>
          <p:nvPr/>
        </p:nvSpPr>
        <p:spPr>
          <a:xfrm>
            <a:off x="5083175" y="3529965"/>
            <a:ext cx="2643505" cy="1486535"/>
          </a:xfrm>
          <a:prstGeom prst="rect">
            <a:avLst/>
          </a:prstGeom>
          <a:solidFill>
            <a:schemeClr val="accent1">
              <a:lumMod val="20000"/>
              <a:lumOff val="80000"/>
            </a:schemeClr>
          </a:solidFill>
          <a:ln>
            <a:solidFill>
              <a:schemeClr val="tx1"/>
            </a:solidFill>
          </a:ln>
        </p:spPr>
        <p:txBody>
          <a:bodyPr wrap="square" rtlCol="0" anchor="ctr" anchorCtr="0">
            <a:noAutofit/>
          </a:bodyPr>
          <a:p>
            <a:endParaRPr lang="zh-CN" altLang="en-US" sz="1000" b="1">
              <a:latin typeface="+mn-ea"/>
              <a:cs typeface="+mn-ea"/>
            </a:endParaRPr>
          </a:p>
          <a:p>
            <a:endParaRPr lang="zh-CN" altLang="en-US" sz="1000" b="1">
              <a:latin typeface="+mn-ea"/>
              <a:cs typeface="+mn-ea"/>
            </a:endParaRPr>
          </a:p>
          <a:p>
            <a:pPr>
              <a:lnSpc>
                <a:spcPct val="142000"/>
              </a:lnSpc>
            </a:pPr>
            <a:r>
              <a:rPr lang="zh-CN" altLang="en-US" sz="1000" b="1">
                <a:latin typeface="+mn-ea"/>
                <a:cs typeface="+mn-ea"/>
              </a:rPr>
              <a:t>定义服务：</a:t>
            </a:r>
            <a:endParaRPr lang="zh-CN" altLang="en-US" sz="1000" b="1">
              <a:latin typeface="+mn-ea"/>
              <a:cs typeface="+mn-ea"/>
            </a:endParaRPr>
          </a:p>
          <a:p>
            <a:pPr marL="0" indent="0">
              <a:lnSpc>
                <a:spcPct val="142000"/>
              </a:lnSpc>
              <a:defRPr/>
            </a:pPr>
            <a:r>
              <a:rPr lang="en-US" altLang="zh-CN" sz="1000" b="1" dirty="0">
                <a:latin typeface="+mn-ea"/>
                <a:cs typeface="+mn-ea"/>
                <a:sym typeface="+mn-ea"/>
              </a:rPr>
              <a:t>UML</a:t>
            </a:r>
            <a:r>
              <a:rPr lang="zh-CN" altLang="zh-CN" sz="1000" b="1" dirty="0">
                <a:latin typeface="+mn-ea"/>
                <a:cs typeface="+mn-ea"/>
                <a:sym typeface="+mn-ea"/>
              </a:rPr>
              <a:t>描述操作的语法格式如下</a:t>
            </a:r>
            <a:r>
              <a:rPr lang="zh-CN" altLang="zh-CN" sz="1000" b="1" dirty="0" smtClean="0">
                <a:latin typeface="+mn-ea"/>
                <a:cs typeface="+mn-ea"/>
                <a:sym typeface="+mn-ea"/>
              </a:rPr>
              <a:t>：</a:t>
            </a:r>
            <a:endParaRPr lang="en-US" altLang="zh-CN" sz="1000" b="1" dirty="0" smtClean="0">
              <a:latin typeface="+mn-ea"/>
              <a:cs typeface="+mn-ea"/>
            </a:endParaRPr>
          </a:p>
          <a:p>
            <a:pPr marL="0" indent="0">
              <a:lnSpc>
                <a:spcPct val="142000"/>
              </a:lnSpc>
              <a:spcAft>
                <a:spcPts val="1200"/>
              </a:spcAft>
              <a:defRPr/>
            </a:pPr>
            <a:r>
              <a:rPr lang="en-US" altLang="zh-CN" sz="1000" b="1" dirty="0">
                <a:latin typeface="+mn-ea"/>
                <a:cs typeface="+mn-ea"/>
                <a:sym typeface="+mn-ea"/>
              </a:rPr>
              <a:t> </a:t>
            </a:r>
            <a:r>
              <a:rPr lang="zh-CN" altLang="zh-CN" sz="1000" b="1" dirty="0" smtClean="0">
                <a:solidFill>
                  <a:srgbClr val="FF0000"/>
                </a:solidFill>
                <a:latin typeface="+mn-ea"/>
                <a:cs typeface="+mn-ea"/>
                <a:sym typeface="+mn-ea"/>
              </a:rPr>
              <a:t>可见性</a:t>
            </a:r>
            <a:r>
              <a:rPr lang="en-US" altLang="zh-CN" sz="1000" b="1" dirty="0" smtClean="0">
                <a:solidFill>
                  <a:srgbClr val="FF0000"/>
                </a:solidFill>
                <a:latin typeface="+mn-ea"/>
                <a:cs typeface="+mn-ea"/>
                <a:sym typeface="+mn-ea"/>
              </a:rPr>
              <a:t> </a:t>
            </a:r>
            <a:r>
              <a:rPr lang="zh-CN" altLang="zh-CN" sz="1000" b="1" dirty="0" smtClean="0">
                <a:solidFill>
                  <a:srgbClr val="FF0000"/>
                </a:solidFill>
                <a:latin typeface="+mn-ea"/>
                <a:cs typeface="+mn-ea"/>
                <a:sym typeface="+mn-ea"/>
              </a:rPr>
              <a:t>操作</a:t>
            </a:r>
            <a:r>
              <a:rPr lang="zh-CN" altLang="zh-CN" sz="1000" b="1" dirty="0">
                <a:solidFill>
                  <a:srgbClr val="FF0000"/>
                </a:solidFill>
                <a:latin typeface="+mn-ea"/>
                <a:cs typeface="+mn-ea"/>
                <a:sym typeface="+mn-ea"/>
              </a:rPr>
              <a:t>名（参数表）： 返回值类型</a:t>
            </a:r>
            <a:r>
              <a:rPr lang="en-US" altLang="zh-CN" sz="1000" b="1" dirty="0">
                <a:solidFill>
                  <a:srgbClr val="FF0000"/>
                </a:solidFill>
                <a:latin typeface="+mn-ea"/>
                <a:cs typeface="+mn-ea"/>
                <a:sym typeface="+mn-ea"/>
              </a:rPr>
              <a:t>{</a:t>
            </a:r>
            <a:r>
              <a:rPr lang="zh-CN" altLang="zh-CN" sz="1000" b="1" dirty="0">
                <a:solidFill>
                  <a:srgbClr val="FF0000"/>
                </a:solidFill>
                <a:latin typeface="+mn-ea"/>
                <a:cs typeface="+mn-ea"/>
                <a:sym typeface="+mn-ea"/>
              </a:rPr>
              <a:t>性质串</a:t>
            </a:r>
            <a:r>
              <a:rPr lang="en-US" altLang="zh-CN" sz="1000" b="1" dirty="0">
                <a:solidFill>
                  <a:srgbClr val="FF0000"/>
                </a:solidFill>
                <a:latin typeface="+mn-ea"/>
                <a:cs typeface="+mn-ea"/>
                <a:sym typeface="+mn-ea"/>
              </a:rPr>
              <a:t>}  </a:t>
            </a:r>
            <a:r>
              <a:rPr lang="zh-CN" altLang="zh-CN" sz="1000" b="1" dirty="0">
                <a:solidFill>
                  <a:schemeClr val="tx1"/>
                </a:solidFill>
                <a:latin typeface="+mn-ea"/>
                <a:cs typeface="+mn-ea"/>
              </a:rPr>
              <a:t>例如（银行账户取款）：</a:t>
            </a:r>
            <a:endParaRPr lang="zh-CN" altLang="zh-CN" sz="1000" b="1" dirty="0">
              <a:solidFill>
                <a:schemeClr val="tx1"/>
              </a:solidFill>
              <a:latin typeface="+mn-ea"/>
              <a:cs typeface="+mn-ea"/>
            </a:endParaRPr>
          </a:p>
          <a:p>
            <a:pPr marL="0" indent="0">
              <a:lnSpc>
                <a:spcPct val="142000"/>
              </a:lnSpc>
              <a:spcAft>
                <a:spcPts val="1200"/>
              </a:spcAft>
              <a:defRPr/>
            </a:pPr>
            <a:r>
              <a:rPr lang="zh-CN" altLang="zh-CN" sz="1000" b="1" dirty="0">
                <a:solidFill>
                  <a:srgbClr val="FF0000"/>
                </a:solidFill>
                <a:latin typeface="+mn-ea"/>
                <a:cs typeface="+mn-ea"/>
              </a:rPr>
              <a:t>+ withdraw(amount: double = 0.0): boolean</a:t>
            </a:r>
            <a:endParaRPr lang="zh-CN" altLang="zh-CN" sz="1000" b="1" dirty="0">
              <a:solidFill>
                <a:srgbClr val="FF0000"/>
              </a:solidFill>
              <a:latin typeface="+mn-ea"/>
              <a:cs typeface="+mn-ea"/>
            </a:endParaRPr>
          </a:p>
          <a:p>
            <a:endParaRPr lang="zh-CN" altLang="en-US" sz="1000" b="1">
              <a:latin typeface="+mn-ea"/>
              <a:cs typeface="+mn-ea"/>
            </a:endParaRPr>
          </a:p>
        </p:txBody>
      </p:sp>
      <p:pic>
        <p:nvPicPr>
          <p:cNvPr id="63493" name="图片 1"/>
          <p:cNvPicPr>
            <a:picLocks noChangeAspect="1"/>
          </p:cNvPicPr>
          <p:nvPr/>
        </p:nvPicPr>
        <p:blipFill>
          <a:blip r:embed="rId3" cstate="print"/>
          <a:srcRect/>
          <a:stretch>
            <a:fillRect/>
          </a:stretch>
        </p:blipFill>
        <p:spPr bwMode="auto">
          <a:xfrm>
            <a:off x="6063615" y="1262380"/>
            <a:ext cx="664210" cy="805815"/>
          </a:xfrm>
          <a:prstGeom prst="rect">
            <a:avLst/>
          </a:prstGeom>
          <a:noFill/>
          <a:ln w="9525">
            <a:noFill/>
            <a:miter lim="800000"/>
            <a:headEnd/>
            <a:tailEnd/>
          </a:ln>
        </p:spPr>
      </p:pic>
      <p:grpSp>
        <p:nvGrpSpPr>
          <p:cNvPr id="21" name="组合 20"/>
          <p:cNvGrpSpPr/>
          <p:nvPr/>
        </p:nvGrpSpPr>
        <p:grpSpPr>
          <a:xfrm>
            <a:off x="5083129" y="2666365"/>
            <a:ext cx="2643551" cy="753745"/>
            <a:chOff x="12769" y="7929"/>
            <a:chExt cx="5745" cy="1811"/>
          </a:xfrm>
        </p:grpSpPr>
        <p:sp>
          <p:nvSpPr>
            <p:cNvPr id="11" name="文本框 10"/>
            <p:cNvSpPr txBox="1"/>
            <p:nvPr/>
          </p:nvSpPr>
          <p:spPr>
            <a:xfrm>
              <a:off x="12769" y="8567"/>
              <a:ext cx="5444" cy="577"/>
            </a:xfrm>
            <a:prstGeom prst="rect">
              <a:avLst/>
            </a:prstGeom>
            <a:noFill/>
          </p:spPr>
          <p:txBody>
            <a:bodyPr wrap="square" rtlCol="0">
              <a:noAutofit/>
            </a:bodyPr>
            <a:p>
              <a:r>
                <a:rPr lang="zh-CN" altLang="zh-CN" sz="1000" b="1" dirty="0" smtClean="0">
                  <a:solidFill>
                    <a:srgbClr val="FF0000"/>
                  </a:solidFill>
                  <a:latin typeface="+mn-ea"/>
                  <a:cs typeface="+mn-ea"/>
                  <a:sym typeface="+mn-ea"/>
                </a:rPr>
                <a:t>可见性</a:t>
              </a:r>
              <a:r>
                <a:rPr lang="en-US" altLang="zh-CN" sz="1000" b="1" dirty="0" smtClean="0">
                  <a:solidFill>
                    <a:srgbClr val="FF0000"/>
                  </a:solidFill>
                  <a:latin typeface="+mn-ea"/>
                  <a:cs typeface="+mn-ea"/>
                  <a:sym typeface="+mn-ea"/>
                </a:rPr>
                <a:t> </a:t>
              </a:r>
              <a:r>
                <a:rPr lang="zh-CN" altLang="zh-CN" sz="1000" b="1" dirty="0" smtClean="0">
                  <a:solidFill>
                    <a:srgbClr val="FF0000"/>
                  </a:solidFill>
                  <a:latin typeface="+mn-ea"/>
                  <a:cs typeface="+mn-ea"/>
                  <a:sym typeface="+mn-ea"/>
                </a:rPr>
                <a:t>属性</a:t>
              </a:r>
              <a:r>
                <a:rPr lang="zh-CN" altLang="zh-CN" sz="1000" b="1" dirty="0">
                  <a:solidFill>
                    <a:srgbClr val="FF0000"/>
                  </a:solidFill>
                  <a:latin typeface="+mn-ea"/>
                  <a:cs typeface="+mn-ea"/>
                  <a:sym typeface="+mn-ea"/>
                </a:rPr>
                <a:t>名</a:t>
              </a:r>
              <a:r>
                <a:rPr lang="zh-CN" altLang="zh-CN" sz="1000" b="1" dirty="0" smtClean="0">
                  <a:solidFill>
                    <a:srgbClr val="FF0000"/>
                  </a:solidFill>
                  <a:latin typeface="+mn-ea"/>
                  <a:cs typeface="+mn-ea"/>
                  <a:sym typeface="+mn-ea"/>
                </a:rPr>
                <a:t>：类型</a:t>
              </a:r>
              <a:r>
                <a:rPr lang="zh-CN" altLang="zh-CN" sz="1000" b="1" dirty="0">
                  <a:solidFill>
                    <a:srgbClr val="FF0000"/>
                  </a:solidFill>
                  <a:latin typeface="+mn-ea"/>
                  <a:cs typeface="+mn-ea"/>
                  <a:sym typeface="+mn-ea"/>
                </a:rPr>
                <a:t>名</a:t>
              </a:r>
              <a:r>
                <a:rPr lang="en-US" altLang="zh-CN" sz="1000" b="1" dirty="0">
                  <a:solidFill>
                    <a:srgbClr val="FF0000"/>
                  </a:solidFill>
                  <a:latin typeface="+mn-ea"/>
                  <a:cs typeface="+mn-ea"/>
                  <a:sym typeface="+mn-ea"/>
                </a:rPr>
                <a:t>=</a:t>
              </a:r>
              <a:r>
                <a:rPr lang="zh-CN" altLang="zh-CN" sz="1000" b="1" dirty="0">
                  <a:solidFill>
                    <a:srgbClr val="FF0000"/>
                  </a:solidFill>
                  <a:latin typeface="+mn-ea"/>
                  <a:cs typeface="+mn-ea"/>
                  <a:sym typeface="+mn-ea"/>
                </a:rPr>
                <a:t>初值</a:t>
              </a:r>
              <a:r>
                <a:rPr lang="en-US" altLang="zh-CN" sz="1000" b="1" dirty="0">
                  <a:solidFill>
                    <a:srgbClr val="FF0000"/>
                  </a:solidFill>
                  <a:latin typeface="+mn-ea"/>
                  <a:cs typeface="+mn-ea"/>
                  <a:sym typeface="+mn-ea"/>
                </a:rPr>
                <a:t>{</a:t>
              </a:r>
              <a:r>
                <a:rPr lang="zh-CN" altLang="zh-CN" sz="1000" b="1" dirty="0">
                  <a:solidFill>
                    <a:srgbClr val="FF0000"/>
                  </a:solidFill>
                  <a:latin typeface="+mn-ea"/>
                  <a:cs typeface="+mn-ea"/>
                  <a:sym typeface="+mn-ea"/>
                </a:rPr>
                <a:t>性质串</a:t>
              </a:r>
              <a:r>
                <a:rPr lang="en-US" altLang="zh-CN" sz="1000" b="1" dirty="0">
                  <a:solidFill>
                    <a:srgbClr val="FF0000"/>
                  </a:solidFill>
                  <a:latin typeface="+mn-ea"/>
                  <a:cs typeface="+mn-ea"/>
                  <a:sym typeface="+mn-ea"/>
                </a:rPr>
                <a:t>}</a:t>
              </a:r>
              <a:endParaRPr lang="en-US" altLang="zh-CN" sz="1000" b="1" dirty="0">
                <a:solidFill>
                  <a:srgbClr val="FF0000"/>
                </a:solidFill>
                <a:latin typeface="+mn-ea"/>
                <a:cs typeface="+mn-ea"/>
                <a:sym typeface="+mn-ea"/>
              </a:endParaRPr>
            </a:p>
            <a:p>
              <a:endParaRPr lang="zh-CN" altLang="en-US" sz="1000"/>
            </a:p>
          </p:txBody>
        </p:sp>
        <p:sp>
          <p:nvSpPr>
            <p:cNvPr id="18" name="线形标注 1(带强调线) 17"/>
            <p:cNvSpPr/>
            <p:nvPr/>
          </p:nvSpPr>
          <p:spPr>
            <a:xfrm>
              <a:off x="12914" y="7929"/>
              <a:ext cx="4209" cy="403"/>
            </a:xfrm>
            <a:prstGeom prst="accentCallout1">
              <a:avLst>
                <a:gd name="adj1" fmla="val 96539"/>
                <a:gd name="adj2" fmla="val 13344"/>
                <a:gd name="adj3" fmla="val 184749"/>
                <a:gd name="adj4" fmla="val 13278"/>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900"/>
                <a:t>public(+),private(-),protected(#)</a:t>
              </a:r>
              <a:endParaRPr lang="en-US" altLang="zh-CN" sz="900"/>
            </a:p>
          </p:txBody>
        </p:sp>
        <p:sp>
          <p:nvSpPr>
            <p:cNvPr id="20" name="线形标注 1(带强调线) 19"/>
            <p:cNvSpPr/>
            <p:nvPr/>
          </p:nvSpPr>
          <p:spPr>
            <a:xfrm>
              <a:off x="15554" y="9337"/>
              <a:ext cx="2960" cy="403"/>
            </a:xfrm>
            <a:prstGeom prst="accentCallout1">
              <a:avLst>
                <a:gd name="adj1" fmla="val 102233"/>
                <a:gd name="adj2" fmla="val 48885"/>
                <a:gd name="adj3" fmla="val -88337"/>
                <a:gd name="adj4" fmla="val 4929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t>属性可能的取值</a:t>
              </a:r>
              <a:endParaRPr lang="zh-CN" altLang="en-US" sz="900"/>
            </a:p>
          </p:txBody>
        </p:sp>
      </p:grpSp>
      <p:sp>
        <p:nvSpPr>
          <p:cNvPr id="22" name="文本框 21"/>
          <p:cNvSpPr txBox="1"/>
          <p:nvPr/>
        </p:nvSpPr>
        <p:spPr>
          <a:xfrm>
            <a:off x="7906385" y="1485265"/>
            <a:ext cx="4134485" cy="407035"/>
          </a:xfrm>
          <a:prstGeom prst="rect">
            <a:avLst/>
          </a:prstGeom>
          <a:solidFill>
            <a:schemeClr val="bg2">
              <a:lumMod val="95000"/>
            </a:schemeClr>
          </a:solidFill>
          <a:ln>
            <a:solidFill>
              <a:schemeClr val="tx1"/>
            </a:solidFill>
          </a:ln>
        </p:spPr>
        <p:txBody>
          <a:bodyPr wrap="square" rtlCol="0">
            <a:noAutofit/>
          </a:bodyPr>
          <a:p>
            <a:pPr>
              <a:lnSpc>
                <a:spcPct val="160000"/>
              </a:lnSpc>
            </a:pPr>
            <a:r>
              <a:rPr lang="zh-CN" altLang="en-US" sz="1200" b="1">
                <a:solidFill>
                  <a:srgbClr val="FF0000"/>
                </a:solidFill>
              </a:rPr>
              <a:t>关联</a:t>
            </a:r>
            <a:r>
              <a:rPr lang="zh-CN" altLang="en-US" sz="1200" b="1"/>
              <a:t>：</a:t>
            </a:r>
            <a:r>
              <a:rPr lang="zh-CN" altLang="zh-CN" sz="1200" b="1" dirty="0" smtClean="0">
                <a:solidFill>
                  <a:srgbClr val="C00000"/>
                </a:solidFill>
                <a:latin typeface="Bodoni MT Black" panose="02070A03080606020203" pitchFamily="18" charset="0"/>
                <a:sym typeface="+mn-ea"/>
              </a:rPr>
              <a:t>关联</a:t>
            </a:r>
            <a:r>
              <a:rPr lang="zh-CN" altLang="zh-CN" sz="1200" b="1" dirty="0">
                <a:latin typeface="Bodoni MT Black" panose="02070A03080606020203" pitchFamily="18" charset="0"/>
                <a:sym typeface="+mn-ea"/>
              </a:rPr>
              <a:t>表示两个类的对象之间存在某种语义上的联系</a:t>
            </a:r>
            <a:r>
              <a:rPr lang="zh-CN" altLang="zh-CN" sz="1200" b="1" dirty="0" smtClean="0">
                <a:latin typeface="Bodoni MT Black" panose="02070A03080606020203" pitchFamily="18" charset="0"/>
                <a:sym typeface="+mn-ea"/>
              </a:rPr>
              <a:t>。</a:t>
            </a:r>
            <a:endParaRPr lang="zh-CN" altLang="en-US" sz="1200" b="1"/>
          </a:p>
        </p:txBody>
      </p:sp>
      <p:pic>
        <p:nvPicPr>
          <p:cNvPr id="71686" name="图片 2"/>
          <p:cNvPicPr>
            <a:picLocks noChangeAspect="1"/>
          </p:cNvPicPr>
          <p:nvPr/>
        </p:nvPicPr>
        <p:blipFill>
          <a:blip r:embed="rId4" cstate="print"/>
          <a:srcRect/>
          <a:stretch>
            <a:fillRect/>
          </a:stretch>
        </p:blipFill>
        <p:spPr bwMode="auto">
          <a:xfrm>
            <a:off x="8081010" y="3114040"/>
            <a:ext cx="3668395" cy="522605"/>
          </a:xfrm>
          <a:prstGeom prst="rect">
            <a:avLst/>
          </a:prstGeom>
          <a:noFill/>
          <a:ln w="9525">
            <a:noFill/>
            <a:miter lim="800000"/>
            <a:headEnd/>
            <a:tailEnd/>
          </a:ln>
        </p:spPr>
      </p:pic>
      <p:sp>
        <p:nvSpPr>
          <p:cNvPr id="23" name="文本框 22"/>
          <p:cNvSpPr txBox="1"/>
          <p:nvPr/>
        </p:nvSpPr>
        <p:spPr>
          <a:xfrm>
            <a:off x="7901940" y="2008505"/>
            <a:ext cx="3856990" cy="554990"/>
          </a:xfrm>
          <a:prstGeom prst="rect">
            <a:avLst/>
          </a:prstGeom>
          <a:noFill/>
        </p:spPr>
        <p:txBody>
          <a:bodyPr wrap="square" rtlCol="0">
            <a:noAutofit/>
          </a:bodyPr>
          <a:p>
            <a:pPr algn="l" fontAlgn="auto">
              <a:lnSpc>
                <a:spcPct val="170000"/>
              </a:lnSpc>
              <a:buClrTx/>
              <a:buSzTx/>
              <a:buFontTx/>
            </a:pPr>
            <a:r>
              <a:rPr lang="zh-CN" altLang="zh-CN" sz="1200" b="1" dirty="0">
                <a:solidFill>
                  <a:srgbClr val="FF0000"/>
                </a:solidFill>
                <a:latin typeface="+mn-ea"/>
                <a:cs typeface="+mn-ea"/>
                <a:sym typeface="+mn-ea"/>
              </a:rPr>
              <a:t>普通关联：</a:t>
            </a:r>
            <a:r>
              <a:rPr lang="zh-CN" altLang="zh-CN" sz="1200" dirty="0">
                <a:latin typeface="+mn-ea"/>
                <a:cs typeface="+mn-ea"/>
                <a:sym typeface="+mn-ea"/>
              </a:rPr>
              <a:t>只要在类与类之间存在连接关系就可以用普通关联表示。普通关联的图示符号是连接两个类之间的直线，如下图所示。</a:t>
            </a:r>
            <a:endParaRPr lang="zh-CN" altLang="zh-CN" sz="1200" dirty="0">
              <a:latin typeface="+mn-ea"/>
              <a:cs typeface="+mn-ea"/>
            </a:endParaRPr>
          </a:p>
        </p:txBody>
      </p:sp>
      <p:graphicFrame>
        <p:nvGraphicFramePr>
          <p:cNvPr id="24" name="表格 23"/>
          <p:cNvGraphicFramePr>
            <a:graphicFrameLocks noGrp="1"/>
          </p:cNvGraphicFramePr>
          <p:nvPr>
            <p:custDataLst>
              <p:tags r:id="rId5"/>
            </p:custDataLst>
          </p:nvPr>
        </p:nvGraphicFramePr>
        <p:xfrm>
          <a:off x="7977505" y="5005705"/>
          <a:ext cx="3851910" cy="1629410"/>
        </p:xfrm>
        <a:graphic>
          <a:graphicData uri="http://schemas.openxmlformats.org/drawingml/2006/table">
            <a:tbl>
              <a:tblPr firstRow="1" bandRow="1">
                <a:tableStyleId>{5C22544A-7EE6-4342-B048-85BDC9FD1C3A}</a:tableStyleId>
              </a:tblPr>
              <a:tblGrid>
                <a:gridCol w="1925955"/>
                <a:gridCol w="1925955"/>
              </a:tblGrid>
              <a:tr h="273050">
                <a:tc>
                  <a:txBody>
                    <a:bodyPr/>
                    <a:p>
                      <a:pPr algn="ctr"/>
                      <a:r>
                        <a:rPr lang="zh-CN" altLang="en-US" sz="1000" dirty="0" smtClean="0">
                          <a:latin typeface="+mn-ea"/>
                        </a:rPr>
                        <a:t>重数</a:t>
                      </a:r>
                      <a:endParaRPr lang="zh-CN" altLang="en-US" sz="1000" dirty="0" smtClean="0">
                        <a:latin typeface="+mn-ea"/>
                      </a:endParaRPr>
                    </a:p>
                  </a:txBody>
                  <a:tcPr/>
                </a:tc>
                <a:tc>
                  <a:txBody>
                    <a:bodyPr/>
                    <a:p>
                      <a:pPr algn="ctr"/>
                      <a:r>
                        <a:rPr lang="zh-CN" altLang="en-US" sz="1000" dirty="0" smtClean="0">
                          <a:latin typeface="+mn-ea"/>
                        </a:rPr>
                        <a:t>表示</a:t>
                      </a:r>
                      <a:endParaRPr lang="zh-CN" altLang="en-US" sz="1000" dirty="0" smtClean="0">
                        <a:latin typeface="+mn-ea"/>
                      </a:endParaRPr>
                    </a:p>
                  </a:txBody>
                  <a:tcPr/>
                </a:tc>
              </a:tr>
              <a:tr h="273685">
                <a:tc>
                  <a:txBody>
                    <a:bodyPr/>
                    <a:p>
                      <a:pPr algn="ctr"/>
                      <a:r>
                        <a:rPr lang="en-US" altLang="zh-CN" sz="1000" kern="1200" dirty="0" smtClean="0">
                          <a:solidFill>
                            <a:schemeClr val="dk1"/>
                          </a:solidFill>
                          <a:effectLst/>
                          <a:latin typeface="+mn-ea"/>
                          <a:cs typeface="+mn-cs"/>
                        </a:rPr>
                        <a:t>0 </a:t>
                      </a:r>
                      <a:r>
                        <a:rPr lang="zh-CN" altLang="zh-CN" sz="1000" kern="1200" dirty="0" smtClean="0">
                          <a:solidFill>
                            <a:schemeClr val="dk1"/>
                          </a:solidFill>
                          <a:effectLst/>
                          <a:latin typeface="+mn-ea"/>
                          <a:cs typeface="+mn-cs"/>
                        </a:rPr>
                        <a:t>··</a:t>
                      </a:r>
                      <a:r>
                        <a:rPr lang="en-US" altLang="zh-CN" sz="1000" kern="1200" dirty="0" smtClean="0">
                          <a:solidFill>
                            <a:schemeClr val="dk1"/>
                          </a:solidFill>
                          <a:effectLst/>
                          <a:latin typeface="+mn-ea"/>
                          <a:cs typeface="+mn-cs"/>
                        </a:rPr>
                        <a:t> 1</a:t>
                      </a:r>
                      <a:endParaRPr lang="zh-CN" altLang="zh-CN" sz="1000" kern="1200" dirty="0" smtClean="0">
                        <a:solidFill>
                          <a:schemeClr val="dk1"/>
                        </a:solidFill>
                        <a:effectLst/>
                        <a:latin typeface="+mn-ea"/>
                        <a:cs typeface="+mn-cs"/>
                      </a:endParaRPr>
                    </a:p>
                  </a:txBody>
                  <a:tcPr/>
                </a:tc>
                <a:tc>
                  <a:txBody>
                    <a:bodyPr/>
                    <a:p>
                      <a:pPr algn="ctr"/>
                      <a:r>
                        <a:rPr lang="en-US" altLang="zh-CN" sz="1000" kern="1200" dirty="0" smtClean="0">
                          <a:solidFill>
                            <a:schemeClr val="dk1"/>
                          </a:solidFill>
                          <a:effectLst/>
                          <a:latin typeface="+mn-ea"/>
                          <a:cs typeface="+mn-ea"/>
                        </a:rPr>
                        <a:t>0</a:t>
                      </a:r>
                      <a:r>
                        <a:rPr lang="zh-CN" altLang="zh-CN" sz="1000" kern="1200" dirty="0" smtClean="0">
                          <a:solidFill>
                            <a:schemeClr val="dk1"/>
                          </a:solidFill>
                          <a:effectLst/>
                          <a:latin typeface="+mn-ea"/>
                          <a:cs typeface="+mn-ea"/>
                        </a:rPr>
                        <a:t>到</a:t>
                      </a:r>
                      <a:r>
                        <a:rPr lang="en-US" altLang="zh-CN" sz="1000" kern="1200" dirty="0" smtClean="0">
                          <a:solidFill>
                            <a:schemeClr val="dk1"/>
                          </a:solidFill>
                          <a:effectLst/>
                          <a:latin typeface="+mn-ea"/>
                          <a:cs typeface="+mn-ea"/>
                        </a:rPr>
                        <a:t>1</a:t>
                      </a:r>
                      <a:r>
                        <a:rPr lang="zh-CN" altLang="zh-CN" sz="1000" kern="1200" dirty="0" smtClean="0">
                          <a:solidFill>
                            <a:schemeClr val="dk1"/>
                          </a:solidFill>
                          <a:effectLst/>
                          <a:latin typeface="+mn-ea"/>
                          <a:cs typeface="+mn-ea"/>
                        </a:rPr>
                        <a:t>个对象</a:t>
                      </a:r>
                      <a:endParaRPr lang="zh-CN" altLang="zh-CN" sz="1000" kern="1200" dirty="0" smtClean="0">
                        <a:solidFill>
                          <a:schemeClr val="dk1"/>
                        </a:solidFill>
                        <a:effectLst/>
                        <a:latin typeface="+mn-ea"/>
                        <a:cs typeface="+mn-ea"/>
                      </a:endParaRPr>
                    </a:p>
                  </a:txBody>
                  <a:tcPr/>
                </a:tc>
              </a:tr>
              <a:tr h="269875">
                <a:tc>
                  <a:txBody>
                    <a:bodyPr/>
                    <a:p>
                      <a:pPr algn="ctr"/>
                      <a:r>
                        <a:rPr lang="en-US" altLang="zh-CN" sz="1000" kern="1200" dirty="0" smtClean="0">
                          <a:solidFill>
                            <a:schemeClr val="dk1"/>
                          </a:solidFill>
                          <a:effectLst/>
                          <a:latin typeface="+mn-ea"/>
                          <a:cs typeface="+mn-ea"/>
                        </a:rPr>
                        <a:t>0 </a:t>
                      </a:r>
                      <a:r>
                        <a:rPr lang="zh-CN" altLang="zh-CN" sz="1000" kern="1200" dirty="0" smtClean="0">
                          <a:solidFill>
                            <a:schemeClr val="dk1"/>
                          </a:solidFill>
                          <a:effectLst/>
                          <a:latin typeface="+mn-ea"/>
                          <a:cs typeface="+mn-ea"/>
                        </a:rPr>
                        <a:t>··</a:t>
                      </a:r>
                      <a:r>
                        <a:rPr lang="en-US" altLang="zh-CN" sz="1000" kern="1200" dirty="0" smtClean="0">
                          <a:solidFill>
                            <a:schemeClr val="dk1"/>
                          </a:solidFill>
                          <a:effectLst/>
                          <a:latin typeface="+mn-ea"/>
                          <a:cs typeface="+mn-ea"/>
                        </a:rPr>
                        <a:t>  </a:t>
                      </a:r>
                      <a:r>
                        <a:rPr lang="zh-CN" altLang="en-US" sz="1000" kern="1200" dirty="0" smtClean="0">
                          <a:solidFill>
                            <a:schemeClr val="dk1"/>
                          </a:solidFill>
                          <a:effectLst/>
                          <a:latin typeface="+mn-ea"/>
                          <a:cs typeface="+mn-ea"/>
                        </a:rPr>
                        <a:t>*</a:t>
                      </a:r>
                      <a:r>
                        <a:rPr lang="zh-CN" altLang="zh-CN" sz="1000" kern="1200" dirty="0" smtClean="0">
                          <a:solidFill>
                            <a:schemeClr val="dk1"/>
                          </a:solidFill>
                          <a:effectLst/>
                          <a:latin typeface="+mn-ea"/>
                          <a:cs typeface="+mn-ea"/>
                        </a:rPr>
                        <a:t>或</a:t>
                      </a:r>
                      <a:r>
                        <a:rPr lang="en-US" altLang="zh-CN" sz="1000" kern="1200" baseline="0" dirty="0" smtClean="0">
                          <a:solidFill>
                            <a:schemeClr val="dk1"/>
                          </a:solidFill>
                          <a:effectLst/>
                          <a:latin typeface="+mn-ea"/>
                          <a:cs typeface="+mn-ea"/>
                        </a:rPr>
                        <a:t> </a:t>
                      </a:r>
                      <a:r>
                        <a:rPr lang="zh-CN" altLang="en-US" sz="1000" kern="1200" baseline="0" dirty="0" smtClean="0">
                          <a:solidFill>
                            <a:schemeClr val="dk1"/>
                          </a:solidFill>
                          <a:effectLst/>
                          <a:latin typeface="+mn-ea"/>
                          <a:cs typeface="+mn-ea"/>
                        </a:rPr>
                        <a:t>*</a:t>
                      </a:r>
                      <a:endParaRPr lang="zh-CN" altLang="en-US" sz="1000" kern="1200" dirty="0" smtClean="0">
                        <a:solidFill>
                          <a:schemeClr val="dk1"/>
                        </a:solidFill>
                        <a:effectLst/>
                        <a:latin typeface="+mn-ea"/>
                        <a:cs typeface="+mn-ea"/>
                      </a:endParaRPr>
                    </a:p>
                  </a:txBody>
                  <a:tcPr/>
                </a:tc>
                <a:tc>
                  <a:txBody>
                    <a:bodyPr/>
                    <a:p>
                      <a:pPr algn="ctr"/>
                      <a:r>
                        <a:rPr lang="en-US" altLang="zh-CN" sz="1000" kern="1200" dirty="0" smtClean="0">
                          <a:solidFill>
                            <a:schemeClr val="dk1"/>
                          </a:solidFill>
                          <a:effectLst/>
                          <a:latin typeface="+mn-ea"/>
                          <a:cs typeface="+mn-ea"/>
                        </a:rPr>
                        <a:t>0</a:t>
                      </a:r>
                      <a:r>
                        <a:rPr lang="zh-CN" altLang="zh-CN" sz="1000" kern="1200" dirty="0" smtClean="0">
                          <a:solidFill>
                            <a:schemeClr val="dk1"/>
                          </a:solidFill>
                          <a:effectLst/>
                          <a:latin typeface="+mn-ea"/>
                          <a:cs typeface="+mn-ea"/>
                        </a:rPr>
                        <a:t>到多个对象</a:t>
                      </a:r>
                      <a:endParaRPr lang="zh-CN" altLang="zh-CN" sz="1000" kern="1200" dirty="0" smtClean="0">
                        <a:solidFill>
                          <a:schemeClr val="dk1"/>
                        </a:solidFill>
                        <a:effectLst/>
                        <a:latin typeface="+mn-ea"/>
                        <a:cs typeface="+mn-ea"/>
                      </a:endParaRPr>
                    </a:p>
                  </a:txBody>
                  <a:tcPr/>
                </a:tc>
              </a:tr>
              <a:tr h="269875">
                <a:tc>
                  <a:txBody>
                    <a:bodyPr/>
                    <a:p>
                      <a:pPr algn="ctr"/>
                      <a:r>
                        <a:rPr lang="en-US" altLang="zh-CN" sz="1000" kern="1200" dirty="0" smtClean="0">
                          <a:solidFill>
                            <a:schemeClr val="dk1"/>
                          </a:solidFill>
                          <a:effectLst/>
                          <a:latin typeface="+mn-ea"/>
                          <a:cs typeface="+mn-ea"/>
                        </a:rPr>
                        <a:t>1 + </a:t>
                      </a:r>
                      <a:r>
                        <a:rPr lang="zh-CN" altLang="zh-CN" sz="1000" kern="1200" dirty="0" smtClean="0">
                          <a:solidFill>
                            <a:schemeClr val="dk1"/>
                          </a:solidFill>
                          <a:effectLst/>
                          <a:latin typeface="+mn-ea"/>
                          <a:cs typeface="+mn-ea"/>
                        </a:rPr>
                        <a:t>或</a:t>
                      </a:r>
                      <a:r>
                        <a:rPr lang="en-US" altLang="zh-CN" sz="1000" kern="1200" dirty="0" smtClean="0">
                          <a:solidFill>
                            <a:schemeClr val="dk1"/>
                          </a:solidFill>
                          <a:effectLst/>
                          <a:latin typeface="+mn-ea"/>
                          <a:cs typeface="+mn-ea"/>
                        </a:rPr>
                        <a:t>1 </a:t>
                      </a:r>
                      <a:r>
                        <a:rPr lang="zh-CN" altLang="zh-CN" sz="1000" kern="1200" dirty="0" smtClean="0">
                          <a:solidFill>
                            <a:schemeClr val="dk1"/>
                          </a:solidFill>
                          <a:effectLst/>
                          <a:latin typeface="+mn-ea"/>
                          <a:cs typeface="+mn-ea"/>
                        </a:rPr>
                        <a:t>··</a:t>
                      </a:r>
                      <a:r>
                        <a:rPr lang="en-US" altLang="zh-CN" sz="1000" kern="1200" dirty="0" smtClean="0">
                          <a:solidFill>
                            <a:schemeClr val="dk1"/>
                          </a:solidFill>
                          <a:effectLst/>
                          <a:latin typeface="+mn-ea"/>
                          <a:cs typeface="+mn-ea"/>
                        </a:rPr>
                        <a:t> </a:t>
                      </a:r>
                      <a:r>
                        <a:rPr lang="zh-CN" altLang="en-US" sz="1000" kern="1200" dirty="0" smtClean="0">
                          <a:solidFill>
                            <a:schemeClr val="dk1"/>
                          </a:solidFill>
                          <a:effectLst/>
                          <a:latin typeface="+mn-ea"/>
                          <a:cs typeface="+mn-ea"/>
                        </a:rPr>
                        <a:t>*</a:t>
                      </a:r>
                      <a:endParaRPr lang="zh-CN" altLang="en-US" sz="1000" kern="1200" dirty="0" smtClean="0">
                        <a:solidFill>
                          <a:schemeClr val="dk1"/>
                        </a:solidFill>
                        <a:effectLst/>
                        <a:latin typeface="+mn-ea"/>
                        <a:cs typeface="+mn-ea"/>
                      </a:endParaRPr>
                    </a:p>
                  </a:txBody>
                  <a:tcPr/>
                </a:tc>
                <a:tc>
                  <a:txBody>
                    <a:bodyPr/>
                    <a:p>
                      <a:pPr algn="ctr"/>
                      <a:r>
                        <a:rPr lang="en-US" altLang="zh-CN" sz="1000" kern="1200" dirty="0" smtClean="0">
                          <a:solidFill>
                            <a:schemeClr val="dk1"/>
                          </a:solidFill>
                          <a:effectLst/>
                          <a:latin typeface="+mn-ea"/>
                          <a:cs typeface="+mn-ea"/>
                        </a:rPr>
                        <a:t>1</a:t>
                      </a:r>
                      <a:r>
                        <a:rPr lang="zh-CN" altLang="zh-CN" sz="1000" kern="1200" dirty="0" smtClean="0">
                          <a:solidFill>
                            <a:schemeClr val="dk1"/>
                          </a:solidFill>
                          <a:effectLst/>
                          <a:latin typeface="+mn-ea"/>
                          <a:cs typeface="+mn-ea"/>
                        </a:rPr>
                        <a:t>到多个对象</a:t>
                      </a:r>
                      <a:endParaRPr lang="zh-CN" altLang="zh-CN" sz="1000" kern="1200" dirty="0" smtClean="0">
                        <a:solidFill>
                          <a:schemeClr val="dk1"/>
                        </a:solidFill>
                        <a:effectLst/>
                        <a:latin typeface="+mn-ea"/>
                        <a:cs typeface="+mn-ea"/>
                      </a:endParaRPr>
                    </a:p>
                  </a:txBody>
                  <a:tcPr/>
                </a:tc>
              </a:tr>
              <a:tr h="269875">
                <a:tc>
                  <a:txBody>
                    <a:bodyPr/>
                    <a:p>
                      <a:pPr algn="ctr"/>
                      <a:r>
                        <a:rPr lang="en-US" altLang="zh-CN" sz="1000" kern="1200" dirty="0" smtClean="0">
                          <a:solidFill>
                            <a:schemeClr val="dk1"/>
                          </a:solidFill>
                          <a:effectLst/>
                          <a:latin typeface="+mn-ea"/>
                          <a:cs typeface="+mn-cs"/>
                        </a:rPr>
                        <a:t>1 </a:t>
                      </a:r>
                      <a:r>
                        <a:rPr lang="zh-CN" altLang="zh-CN" sz="1000" kern="1200" dirty="0" smtClean="0">
                          <a:solidFill>
                            <a:schemeClr val="dk1"/>
                          </a:solidFill>
                          <a:effectLst/>
                          <a:latin typeface="+mn-ea"/>
                          <a:cs typeface="+mn-cs"/>
                        </a:rPr>
                        <a:t>··</a:t>
                      </a:r>
                      <a:r>
                        <a:rPr lang="en-US" altLang="zh-CN" sz="1000" kern="1200" dirty="0" smtClean="0">
                          <a:solidFill>
                            <a:schemeClr val="dk1"/>
                          </a:solidFill>
                          <a:effectLst/>
                          <a:latin typeface="+mn-ea"/>
                          <a:cs typeface="+mn-cs"/>
                        </a:rPr>
                        <a:t> 15</a:t>
                      </a:r>
                      <a:endParaRPr lang="zh-CN" altLang="zh-CN" sz="1000" kern="1200" dirty="0" smtClean="0">
                        <a:solidFill>
                          <a:schemeClr val="dk1"/>
                        </a:solidFill>
                        <a:effectLst/>
                        <a:latin typeface="+mn-ea"/>
                        <a:cs typeface="+mn-cs"/>
                      </a:endParaRPr>
                    </a:p>
                  </a:txBody>
                  <a:tcPr/>
                </a:tc>
                <a:tc>
                  <a:txBody>
                    <a:bodyPr/>
                    <a:p>
                      <a:pPr algn="ctr"/>
                      <a:r>
                        <a:rPr lang="en-US" altLang="zh-CN" sz="1000" kern="1200" dirty="0" smtClean="0">
                          <a:solidFill>
                            <a:schemeClr val="dk1"/>
                          </a:solidFill>
                          <a:effectLst/>
                          <a:latin typeface="+mn-ea"/>
                          <a:cs typeface="+mn-ea"/>
                        </a:rPr>
                        <a:t>1</a:t>
                      </a:r>
                      <a:r>
                        <a:rPr lang="zh-CN" altLang="zh-CN" sz="1000" kern="1200" dirty="0" smtClean="0">
                          <a:solidFill>
                            <a:schemeClr val="dk1"/>
                          </a:solidFill>
                          <a:effectLst/>
                          <a:latin typeface="+mn-ea"/>
                          <a:cs typeface="+mn-ea"/>
                        </a:rPr>
                        <a:t>到</a:t>
                      </a:r>
                      <a:r>
                        <a:rPr lang="en-US" altLang="zh-CN" sz="1000" kern="1200" dirty="0" smtClean="0">
                          <a:solidFill>
                            <a:schemeClr val="dk1"/>
                          </a:solidFill>
                          <a:effectLst/>
                          <a:latin typeface="+mn-ea"/>
                          <a:cs typeface="+mn-ea"/>
                        </a:rPr>
                        <a:t>15</a:t>
                      </a:r>
                      <a:r>
                        <a:rPr lang="zh-CN" altLang="zh-CN" sz="1000" kern="1200" dirty="0" smtClean="0">
                          <a:solidFill>
                            <a:schemeClr val="dk1"/>
                          </a:solidFill>
                          <a:effectLst/>
                          <a:latin typeface="+mn-ea"/>
                          <a:cs typeface="+mn-ea"/>
                        </a:rPr>
                        <a:t>个对象</a:t>
                      </a:r>
                      <a:endParaRPr lang="zh-CN" altLang="zh-CN" sz="1000" kern="1200" dirty="0" smtClean="0">
                        <a:solidFill>
                          <a:schemeClr val="dk1"/>
                        </a:solidFill>
                        <a:effectLst/>
                        <a:latin typeface="+mn-ea"/>
                        <a:cs typeface="+mn-ea"/>
                      </a:endParaRPr>
                    </a:p>
                  </a:txBody>
                  <a:tcPr/>
                </a:tc>
              </a:tr>
              <a:tr h="273050">
                <a:tc>
                  <a:txBody>
                    <a:bodyPr/>
                    <a:p>
                      <a:pPr algn="ctr"/>
                      <a:r>
                        <a:rPr lang="en-US" altLang="zh-CN" sz="1000" kern="1200" dirty="0" smtClean="0">
                          <a:solidFill>
                            <a:schemeClr val="dk1"/>
                          </a:solidFill>
                          <a:effectLst/>
                          <a:latin typeface="+mn-ea"/>
                          <a:cs typeface="+mn-cs"/>
                        </a:rPr>
                        <a:t>3</a:t>
                      </a:r>
                      <a:endParaRPr lang="en-US" altLang="zh-CN" sz="1000" kern="1200" dirty="0" smtClean="0">
                        <a:solidFill>
                          <a:schemeClr val="dk1"/>
                        </a:solidFill>
                        <a:effectLst/>
                        <a:latin typeface="+mn-ea"/>
                        <a:cs typeface="+mn-cs"/>
                      </a:endParaRPr>
                    </a:p>
                  </a:txBody>
                  <a:tcPr/>
                </a:tc>
                <a:tc>
                  <a:txBody>
                    <a:bodyPr/>
                    <a:p>
                      <a:pPr algn="ctr"/>
                      <a:r>
                        <a:rPr lang="en-US" altLang="zh-CN" sz="1000" kern="1200" dirty="0" smtClean="0">
                          <a:solidFill>
                            <a:schemeClr val="dk1"/>
                          </a:solidFill>
                          <a:effectLst/>
                          <a:latin typeface="+mn-ea"/>
                          <a:cs typeface="+mn-ea"/>
                        </a:rPr>
                        <a:t>3</a:t>
                      </a:r>
                      <a:r>
                        <a:rPr lang="zh-CN" altLang="zh-CN" sz="1000" kern="1200" dirty="0" smtClean="0">
                          <a:solidFill>
                            <a:schemeClr val="dk1"/>
                          </a:solidFill>
                          <a:effectLst/>
                          <a:latin typeface="+mn-ea"/>
                          <a:cs typeface="+mn-ea"/>
                        </a:rPr>
                        <a:t>个对象</a:t>
                      </a:r>
                      <a:endParaRPr lang="zh-CN" altLang="zh-CN" sz="1000" kern="1200" dirty="0" smtClean="0">
                        <a:solidFill>
                          <a:schemeClr val="dk1"/>
                        </a:solidFill>
                        <a:effectLst/>
                        <a:latin typeface="+mn-ea"/>
                        <a:cs typeface="+mn-ea"/>
                      </a:endParaRPr>
                    </a:p>
                  </a:txBody>
                  <a:tcPr/>
                </a:tc>
              </a:tr>
            </a:tbl>
          </a:graphicData>
        </a:graphic>
      </p:graphicFrame>
      <p:sp>
        <p:nvSpPr>
          <p:cNvPr id="25" name="文本框 24"/>
          <p:cNvSpPr txBox="1"/>
          <p:nvPr/>
        </p:nvSpPr>
        <p:spPr>
          <a:xfrm>
            <a:off x="7906385" y="3620770"/>
            <a:ext cx="3853815" cy="1271270"/>
          </a:xfrm>
          <a:prstGeom prst="rect">
            <a:avLst/>
          </a:prstGeom>
          <a:noFill/>
        </p:spPr>
        <p:txBody>
          <a:bodyPr wrap="square" rtlCol="0">
            <a:noAutofit/>
          </a:bodyPr>
          <a:p>
            <a:pPr algn="l">
              <a:lnSpc>
                <a:spcPct val="170000"/>
              </a:lnSpc>
              <a:buClrTx/>
              <a:buSzTx/>
              <a:buFontTx/>
            </a:pPr>
            <a:r>
              <a:rPr lang="zh-CN" altLang="zh-CN" sz="1200" dirty="0">
                <a:latin typeface="+mn-ea"/>
                <a:cs typeface="+mn-ea"/>
                <a:sym typeface="+mn-ea"/>
              </a:rPr>
              <a:t>在表示关联的直线两端可以写上</a:t>
            </a:r>
            <a:r>
              <a:rPr lang="zh-CN" altLang="zh-CN" sz="1200" b="1" dirty="0">
                <a:solidFill>
                  <a:srgbClr val="00B0F0"/>
                </a:solidFill>
                <a:highlight>
                  <a:srgbClr val="FFFF00"/>
                </a:highlight>
                <a:latin typeface="+mn-ea"/>
                <a:cs typeface="+mn-ea"/>
                <a:sym typeface="+mn-ea"/>
              </a:rPr>
              <a:t>重数</a:t>
            </a:r>
            <a:r>
              <a:rPr lang="zh-CN" altLang="zh-CN" sz="1200" dirty="0">
                <a:latin typeface="+mn-ea"/>
                <a:cs typeface="+mn-ea"/>
                <a:sym typeface="+mn-ea"/>
              </a:rPr>
              <a:t>（multiplicity），它表示</a:t>
            </a:r>
            <a:r>
              <a:rPr lang="zh-CN" altLang="zh-CN" sz="1200" b="1" dirty="0">
                <a:latin typeface="+mn-ea"/>
                <a:cs typeface="+mn-ea"/>
                <a:sym typeface="+mn-ea"/>
              </a:rPr>
              <a:t>该类有多少个对象与对方的一个对象连接</a:t>
            </a:r>
            <a:r>
              <a:rPr lang="zh-CN" altLang="zh-CN" sz="1200" dirty="0">
                <a:latin typeface="+mn-ea"/>
                <a:cs typeface="+mn-ea"/>
                <a:sym typeface="+mn-ea"/>
              </a:rPr>
              <a:t>。 如果图中未明确标出关联的重数，则默认重数是1。重数的表示方法通常有：</a:t>
            </a:r>
            <a:endParaRPr lang="zh-CN" altLang="zh-CN" sz="1200" dirty="0">
              <a:latin typeface="+mn-ea"/>
              <a:ea typeface="+mn-ea"/>
              <a:cs typeface="+mn-ea"/>
            </a:endParaRPr>
          </a:p>
          <a:p>
            <a:endParaRPr lang="zh-CN" altLang="en-US"/>
          </a:p>
        </p:txBody>
      </p:sp>
      <p:pic>
        <p:nvPicPr>
          <p:cNvPr id="26" name="图片 25"/>
          <p:cNvPicPr>
            <a:picLocks noChangeAspect="1"/>
          </p:cNvPicPr>
          <p:nvPr/>
        </p:nvPicPr>
        <p:blipFill>
          <a:blip r:embed="rId6"/>
          <a:stretch>
            <a:fillRect/>
          </a:stretch>
        </p:blipFill>
        <p:spPr>
          <a:xfrm>
            <a:off x="5083175" y="5043805"/>
            <a:ext cx="2644775" cy="1792605"/>
          </a:xfrm>
          <a:prstGeom prst="rect">
            <a:avLst/>
          </a:prstGeom>
          <a:ln>
            <a:solidFill>
              <a:schemeClr val="tx1"/>
            </a:solidFill>
          </a:ln>
        </p:spPr>
      </p:pic>
      <p:pic>
        <p:nvPicPr>
          <p:cNvPr id="6" name="图片 5" descr="deepseek_mermaid_20260105_ac3ae4"/>
          <p:cNvPicPr>
            <a:picLocks noChangeAspect="1"/>
          </p:cNvPicPr>
          <p:nvPr/>
        </p:nvPicPr>
        <p:blipFill>
          <a:blip r:embed="rId7"/>
          <a:stretch>
            <a:fillRect/>
          </a:stretch>
        </p:blipFill>
        <p:spPr>
          <a:xfrm>
            <a:off x="7901940" y="4972685"/>
            <a:ext cx="4098925" cy="1662430"/>
          </a:xfrm>
          <a:prstGeom prst="rect">
            <a:avLst/>
          </a:prstGeom>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0116" name="图片 3"/>
          <p:cNvPicPr>
            <a:picLocks noChangeAspect="1"/>
          </p:cNvPicPr>
          <p:nvPr/>
        </p:nvPicPr>
        <p:blipFill>
          <a:blip r:embed="rId1" cstate="print"/>
          <a:srcRect/>
          <a:stretch>
            <a:fillRect/>
          </a:stretch>
        </p:blipFill>
        <p:spPr bwMode="auto">
          <a:xfrm>
            <a:off x="6136005" y="4113530"/>
            <a:ext cx="5838825" cy="2529840"/>
          </a:xfrm>
          <a:prstGeom prst="rect">
            <a:avLst/>
          </a:prstGeom>
          <a:noFill/>
          <a:ln w="9525">
            <a:noFill/>
            <a:miter lim="800000"/>
            <a:headEnd/>
            <a:tailEnd/>
          </a:ln>
        </p:spPr>
      </p:pic>
      <p:sp>
        <p:nvSpPr>
          <p:cNvPr id="15" name="文本框 14"/>
          <p:cNvSpPr txBox="1"/>
          <p:nvPr/>
        </p:nvSpPr>
        <p:spPr>
          <a:xfrm>
            <a:off x="190500" y="5542915"/>
            <a:ext cx="1082675" cy="942975"/>
          </a:xfrm>
          <a:prstGeom prst="rect">
            <a:avLst/>
          </a:prstGeom>
          <a:solidFill>
            <a:schemeClr val="bg2"/>
          </a:solidFill>
        </p:spPr>
        <p:txBody>
          <a:bodyPr wrap="square" rtlCol="0">
            <a:noAutofit/>
          </a:bodyPr>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p>
            <a:r>
              <a:rPr lang="en-US" altLang="zh-CN" b="1">
                <a:solidFill>
                  <a:schemeClr val="bg2"/>
                </a:solidFill>
              </a:rPr>
              <a:t> </a:t>
            </a:r>
            <a:r>
              <a:rPr lang="zh-CN" altLang="en-US" b="1">
                <a:solidFill>
                  <a:schemeClr val="bg2"/>
                </a:solidFill>
              </a:rPr>
              <a:t>对象模型</a:t>
            </a:r>
            <a:endParaRPr lang="zh-CN" altLang="en-US" b="1">
              <a:solidFill>
                <a:schemeClr val="bg2"/>
              </a:solidFill>
            </a:endParaRPr>
          </a:p>
        </p:txBody>
      </p:sp>
      <p:sp>
        <p:nvSpPr>
          <p:cNvPr id="5" name="文本框 4"/>
          <p:cNvSpPr txBox="1"/>
          <p:nvPr/>
        </p:nvSpPr>
        <p:spPr>
          <a:xfrm>
            <a:off x="153670" y="1628775"/>
            <a:ext cx="5746115" cy="788035"/>
          </a:xfrm>
          <a:prstGeom prst="rect">
            <a:avLst/>
          </a:prstGeom>
          <a:noFill/>
        </p:spPr>
        <p:txBody>
          <a:bodyPr wrap="square" rtlCol="0">
            <a:noAutofit/>
          </a:bodyPr>
          <a:p>
            <a:pPr>
              <a:lnSpc>
                <a:spcPct val="190000"/>
              </a:lnSpc>
            </a:pPr>
            <a:r>
              <a:rPr lang="zh-CN" altLang="zh-CN" sz="1200" b="1" dirty="0" smtClean="0">
                <a:solidFill>
                  <a:srgbClr val="FF0000"/>
                </a:solidFill>
                <a:highlight>
                  <a:srgbClr val="00FF00"/>
                </a:highlight>
                <a:latin typeface="Bodoni MT Black" panose="02070A03080606020203" pitchFamily="18" charset="0"/>
                <a:sym typeface="+mn-ea"/>
              </a:rPr>
              <a:t>共享聚集：</a:t>
            </a:r>
            <a:r>
              <a:rPr lang="zh-CN" altLang="zh-CN" sz="1200" dirty="0" smtClean="0">
                <a:latin typeface="Bodoni MT Black" panose="02070A03080606020203" pitchFamily="18" charset="0"/>
                <a:sym typeface="+mn-ea"/>
              </a:rPr>
              <a:t>如果</a:t>
            </a:r>
            <a:r>
              <a:rPr lang="zh-CN" altLang="zh-CN" sz="1200" dirty="0">
                <a:latin typeface="Bodoni MT Black" panose="02070A03080606020203" pitchFamily="18" charset="0"/>
                <a:sym typeface="+mn-ea"/>
              </a:rPr>
              <a:t>在聚集关系中处于部分方的对象可同时参与多个处于整体方对象的构成，则该聚集称为</a:t>
            </a:r>
            <a:r>
              <a:rPr lang="zh-CN" altLang="zh-CN" sz="1200" b="1" dirty="0">
                <a:solidFill>
                  <a:srgbClr val="C00000"/>
                </a:solidFill>
                <a:latin typeface="Bodoni MT Black" panose="02070A03080606020203" pitchFamily="18" charset="0"/>
                <a:sym typeface="+mn-ea"/>
              </a:rPr>
              <a:t>共享聚集</a:t>
            </a:r>
            <a:r>
              <a:rPr lang="zh-CN" altLang="zh-CN" sz="1200" dirty="0" smtClean="0">
                <a:latin typeface="Bodoni MT Black" panose="02070A03080606020203" pitchFamily="18" charset="0"/>
                <a:sym typeface="+mn-ea"/>
              </a:rPr>
              <a:t>。</a:t>
            </a:r>
            <a:endParaRPr lang="zh-CN" altLang="en-US" sz="1200">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p>
            <a:r>
              <a:rPr lang="zh-CN" b="1">
                <a:solidFill>
                  <a:schemeClr val="bg2"/>
                </a:solidFill>
              </a:rPr>
              <a:t>对象模型</a:t>
            </a:r>
            <a:endParaRPr lang="zh-CN" b="1">
              <a:solidFill>
                <a:schemeClr val="bg2"/>
              </a:solidFill>
            </a:endParaRPr>
          </a:p>
        </p:txBody>
      </p:sp>
      <p:sp>
        <p:nvSpPr>
          <p:cNvPr id="22" name="文本框 21"/>
          <p:cNvSpPr txBox="1"/>
          <p:nvPr/>
        </p:nvSpPr>
        <p:spPr>
          <a:xfrm>
            <a:off x="153670" y="583565"/>
            <a:ext cx="5801360" cy="958850"/>
          </a:xfrm>
          <a:prstGeom prst="rect">
            <a:avLst/>
          </a:prstGeom>
          <a:solidFill>
            <a:schemeClr val="bg2">
              <a:lumMod val="95000"/>
            </a:schemeClr>
          </a:solidFill>
          <a:ln>
            <a:solidFill>
              <a:schemeClr val="tx1"/>
            </a:solidFill>
          </a:ln>
        </p:spPr>
        <p:txBody>
          <a:bodyPr wrap="square" rtlCol="0">
            <a:noAutofit/>
          </a:bodyPr>
          <a:p>
            <a:pPr>
              <a:lnSpc>
                <a:spcPct val="160000"/>
              </a:lnSpc>
            </a:pPr>
            <a:r>
              <a:rPr lang="zh-CN" altLang="en-US" sz="1200" b="1">
                <a:solidFill>
                  <a:srgbClr val="FF0000"/>
                </a:solidFill>
              </a:rPr>
              <a:t>聚集：</a:t>
            </a:r>
            <a:r>
              <a:rPr lang="zh-CN" altLang="zh-CN" sz="1200" b="1" dirty="0">
                <a:latin typeface="Bodoni MT Black" panose="02070A03080606020203" pitchFamily="18" charset="0"/>
                <a:sym typeface="+mn-ea"/>
              </a:rPr>
              <a:t>也称为聚合，是关联的特例。聚集表示类与类之间的关系是整体与部分的关系</a:t>
            </a:r>
            <a:r>
              <a:rPr lang="zh-CN" altLang="zh-CN" sz="1200" b="1" dirty="0" smtClean="0">
                <a:latin typeface="Bodoni MT Black" panose="02070A03080606020203" pitchFamily="18" charset="0"/>
                <a:sym typeface="+mn-ea"/>
              </a:rPr>
              <a:t>。使用</a:t>
            </a:r>
            <a:r>
              <a:rPr lang="zh-CN" altLang="zh-CN" sz="1200" b="1" dirty="0">
                <a:latin typeface="Bodoni MT Black" panose="02070A03080606020203" pitchFamily="18" charset="0"/>
                <a:sym typeface="+mn-ea"/>
              </a:rPr>
              <a:t>的“包含”、“组成”、“分为……部分”等字句</a:t>
            </a:r>
            <a:r>
              <a:rPr lang="zh-CN" altLang="zh-CN" sz="1200" b="1" dirty="0" smtClean="0">
                <a:latin typeface="Bodoni MT Black" panose="02070A03080606020203" pitchFamily="18" charset="0"/>
                <a:sym typeface="+mn-ea"/>
              </a:rPr>
              <a:t>，意味着</a:t>
            </a:r>
            <a:r>
              <a:rPr lang="zh-CN" altLang="zh-CN" sz="1200" b="1" dirty="0">
                <a:latin typeface="Bodoni MT Black" panose="02070A03080606020203" pitchFamily="18" charset="0"/>
                <a:sym typeface="+mn-ea"/>
              </a:rPr>
              <a:t>存在聚集关系</a:t>
            </a:r>
            <a:r>
              <a:rPr lang="zh-CN" altLang="zh-CN" sz="1200" b="1" dirty="0" smtClean="0">
                <a:latin typeface="Bodoni MT Black" panose="02070A03080606020203" pitchFamily="18" charset="0"/>
                <a:sym typeface="+mn-ea"/>
              </a:rPr>
              <a:t>。有</a:t>
            </a:r>
            <a:r>
              <a:rPr lang="zh-CN" altLang="zh-CN" sz="1200" b="1" dirty="0">
                <a:solidFill>
                  <a:srgbClr val="FF0000"/>
                </a:solidFill>
                <a:latin typeface="Bodoni MT Black" panose="02070A03080606020203" pitchFamily="18" charset="0"/>
                <a:sym typeface="+mn-ea"/>
              </a:rPr>
              <a:t>共享聚集</a:t>
            </a:r>
            <a:r>
              <a:rPr lang="zh-CN" altLang="zh-CN" sz="1200" b="1" dirty="0">
                <a:latin typeface="Bodoni MT Black" panose="02070A03080606020203" pitchFamily="18" charset="0"/>
                <a:sym typeface="+mn-ea"/>
              </a:rPr>
              <a:t>和</a:t>
            </a:r>
            <a:r>
              <a:rPr lang="zh-CN" altLang="zh-CN" sz="1200" b="1" dirty="0">
                <a:solidFill>
                  <a:srgbClr val="FF0000"/>
                </a:solidFill>
                <a:latin typeface="Bodoni MT Black" panose="02070A03080606020203" pitchFamily="18" charset="0"/>
                <a:sym typeface="+mn-ea"/>
              </a:rPr>
              <a:t>组合聚集</a:t>
            </a:r>
            <a:r>
              <a:rPr lang="zh-CN" altLang="zh-CN" sz="1200" b="1" dirty="0" smtClean="0">
                <a:latin typeface="Bodoni MT Black" panose="02070A03080606020203" pitchFamily="18" charset="0"/>
                <a:sym typeface="+mn-ea"/>
              </a:rPr>
              <a:t>两种</a:t>
            </a:r>
            <a:r>
              <a:rPr lang="zh-CN" altLang="zh-CN" sz="1200" b="1" dirty="0">
                <a:latin typeface="Bodoni MT Black" panose="02070A03080606020203" pitchFamily="18" charset="0"/>
                <a:sym typeface="+mn-ea"/>
              </a:rPr>
              <a:t>特殊的聚集</a:t>
            </a:r>
            <a:r>
              <a:rPr lang="zh-CN" altLang="zh-CN" sz="1200" b="1" dirty="0" smtClean="0">
                <a:latin typeface="Bodoni MT Black" panose="02070A03080606020203" pitchFamily="18" charset="0"/>
                <a:sym typeface="+mn-ea"/>
              </a:rPr>
              <a:t>关系。</a:t>
            </a:r>
            <a:endParaRPr lang="zh-CN" altLang="en-US" sz="1200" b="1"/>
          </a:p>
        </p:txBody>
      </p:sp>
      <p:pic>
        <p:nvPicPr>
          <p:cNvPr id="81924" name="图片 1"/>
          <p:cNvPicPr>
            <a:picLocks noChangeAspect="1"/>
          </p:cNvPicPr>
          <p:nvPr/>
        </p:nvPicPr>
        <p:blipFill>
          <a:blip r:embed="rId2" cstate="print"/>
          <a:srcRect/>
          <a:stretch>
            <a:fillRect/>
          </a:stretch>
        </p:blipFill>
        <p:spPr bwMode="auto">
          <a:xfrm>
            <a:off x="762000" y="2586355"/>
            <a:ext cx="4432935" cy="541020"/>
          </a:xfrm>
          <a:prstGeom prst="rect">
            <a:avLst/>
          </a:prstGeom>
          <a:noFill/>
          <a:ln w="9525">
            <a:noFill/>
            <a:miter lim="800000"/>
            <a:headEnd/>
            <a:tailEnd/>
          </a:ln>
        </p:spPr>
      </p:pic>
      <p:sp>
        <p:nvSpPr>
          <p:cNvPr id="16" name="文本框 15"/>
          <p:cNvSpPr txBox="1"/>
          <p:nvPr/>
        </p:nvSpPr>
        <p:spPr>
          <a:xfrm>
            <a:off x="171450" y="3325495"/>
            <a:ext cx="5746115" cy="788035"/>
          </a:xfrm>
          <a:prstGeom prst="rect">
            <a:avLst/>
          </a:prstGeom>
          <a:noFill/>
        </p:spPr>
        <p:txBody>
          <a:bodyPr wrap="square" rtlCol="0">
            <a:noAutofit/>
          </a:bodyPr>
          <a:p>
            <a:pPr>
              <a:lnSpc>
                <a:spcPct val="200000"/>
              </a:lnSpc>
            </a:pPr>
            <a:r>
              <a:rPr lang="zh-CN" altLang="zh-CN" sz="1200" b="1" dirty="0" smtClean="0">
                <a:solidFill>
                  <a:srgbClr val="FF0000"/>
                </a:solidFill>
                <a:highlight>
                  <a:srgbClr val="00FF00"/>
                </a:highlight>
                <a:latin typeface="Bodoni MT Black" panose="02070A03080606020203" pitchFamily="18" charset="0"/>
                <a:sym typeface="+mn-ea"/>
              </a:rPr>
              <a:t>组合聚集：</a:t>
            </a:r>
            <a:r>
              <a:rPr lang="zh-CN" altLang="zh-CN" sz="1200" dirty="0" smtClean="0">
                <a:latin typeface="Bodoni MT Black" panose="02070A03080606020203" pitchFamily="18" charset="0"/>
                <a:sym typeface="+mn-ea"/>
              </a:rPr>
              <a:t>如果</a:t>
            </a:r>
            <a:r>
              <a:rPr lang="zh-CN" altLang="zh-CN" sz="1200" dirty="0">
                <a:latin typeface="Bodoni MT Black" panose="02070A03080606020203" pitchFamily="18" charset="0"/>
                <a:sym typeface="+mn-ea"/>
              </a:rPr>
              <a:t>部分类完全隶属于整体类，部分与整体共存，整体不存在了部分也会随之消失（或失去存在价值了），则该聚集称为</a:t>
            </a:r>
            <a:r>
              <a:rPr lang="zh-CN" altLang="zh-CN" sz="1200" b="1" dirty="0">
                <a:solidFill>
                  <a:srgbClr val="C00000"/>
                </a:solidFill>
                <a:latin typeface="Bodoni MT Black" panose="02070A03080606020203" pitchFamily="18" charset="0"/>
                <a:sym typeface="+mn-ea"/>
              </a:rPr>
              <a:t>组合聚集</a:t>
            </a:r>
            <a:r>
              <a:rPr lang="zh-CN" altLang="zh-CN" sz="1200" dirty="0">
                <a:latin typeface="Bodoni MT Black" panose="02070A03080606020203" pitchFamily="18" charset="0"/>
                <a:sym typeface="+mn-ea"/>
              </a:rPr>
              <a:t>（简称为组成）。</a:t>
            </a:r>
            <a:endParaRPr lang="zh-CN" altLang="en-US" sz="1200">
              <a:latin typeface="+mn-ea"/>
              <a:cs typeface="+mn-ea"/>
            </a:endParaRPr>
          </a:p>
        </p:txBody>
      </p:sp>
      <p:pic>
        <p:nvPicPr>
          <p:cNvPr id="83972" name="图片 2"/>
          <p:cNvPicPr>
            <a:picLocks noChangeAspect="1"/>
          </p:cNvPicPr>
          <p:nvPr/>
        </p:nvPicPr>
        <p:blipFill>
          <a:blip r:embed="rId3" cstate="print"/>
          <a:srcRect/>
          <a:stretch>
            <a:fillRect/>
          </a:stretch>
        </p:blipFill>
        <p:spPr bwMode="auto">
          <a:xfrm>
            <a:off x="1273175" y="4244023"/>
            <a:ext cx="3409950" cy="2241550"/>
          </a:xfrm>
          <a:prstGeom prst="rect">
            <a:avLst/>
          </a:prstGeom>
          <a:noFill/>
          <a:ln w="9525">
            <a:noFill/>
            <a:miter lim="800000"/>
            <a:headEnd/>
            <a:tailEnd/>
          </a:ln>
        </p:spPr>
      </p:pic>
      <p:sp>
        <p:nvSpPr>
          <p:cNvPr id="18" name="文本框 17"/>
          <p:cNvSpPr txBox="1"/>
          <p:nvPr/>
        </p:nvSpPr>
        <p:spPr>
          <a:xfrm>
            <a:off x="10948670" y="441325"/>
            <a:ext cx="1082675" cy="942975"/>
          </a:xfrm>
          <a:prstGeom prst="rect">
            <a:avLst/>
          </a:prstGeom>
          <a:solidFill>
            <a:schemeClr val="bg2"/>
          </a:solidFill>
        </p:spPr>
        <p:txBody>
          <a:bodyPr wrap="square" rtlCol="0">
            <a:noAutofit/>
          </a:bodyPr>
          <a:p>
            <a:endParaRPr lang="zh-CN" altLang="en-US"/>
          </a:p>
        </p:txBody>
      </p:sp>
      <p:sp>
        <p:nvSpPr>
          <p:cNvPr id="19" name="文本框 18"/>
          <p:cNvSpPr txBox="1"/>
          <p:nvPr/>
        </p:nvSpPr>
        <p:spPr>
          <a:xfrm>
            <a:off x="6094730" y="583565"/>
            <a:ext cx="5951220" cy="724535"/>
          </a:xfrm>
          <a:prstGeom prst="rect">
            <a:avLst/>
          </a:prstGeom>
          <a:solidFill>
            <a:schemeClr val="bg2">
              <a:lumMod val="95000"/>
            </a:schemeClr>
          </a:solidFill>
          <a:ln>
            <a:solidFill>
              <a:schemeClr val="tx1"/>
            </a:solidFill>
          </a:ln>
        </p:spPr>
        <p:txBody>
          <a:bodyPr wrap="square" rtlCol="0">
            <a:noAutofit/>
          </a:bodyPr>
          <a:p>
            <a:pPr>
              <a:lnSpc>
                <a:spcPct val="160000"/>
              </a:lnSpc>
            </a:pPr>
            <a:r>
              <a:rPr lang="zh-CN" altLang="en-US" sz="1200" b="1">
                <a:solidFill>
                  <a:srgbClr val="FF0000"/>
                </a:solidFill>
              </a:rPr>
              <a:t>泛化：</a:t>
            </a:r>
            <a:r>
              <a:rPr lang="en-US" altLang="zh-CN" sz="1200" b="1" dirty="0" smtClean="0">
                <a:latin typeface="Bodoni MT Black" panose="02070A03080606020203" pitchFamily="18" charset="0"/>
                <a:sym typeface="+mn-ea"/>
              </a:rPr>
              <a:t>UML</a:t>
            </a:r>
            <a:r>
              <a:rPr lang="zh-CN" altLang="zh-CN" sz="1200" b="1" dirty="0">
                <a:latin typeface="Bodoni MT Black" panose="02070A03080606020203" pitchFamily="18" charset="0"/>
                <a:sym typeface="+mn-ea"/>
              </a:rPr>
              <a:t>中的泛化关系就是通常所说的</a:t>
            </a:r>
            <a:r>
              <a:rPr lang="zh-CN" altLang="zh-CN" sz="1200" b="1" dirty="0">
                <a:solidFill>
                  <a:srgbClr val="FF0000"/>
                </a:solidFill>
                <a:highlight>
                  <a:srgbClr val="FFFF00"/>
                </a:highlight>
                <a:latin typeface="Bodoni MT Black" panose="02070A03080606020203" pitchFamily="18" charset="0"/>
                <a:sym typeface="+mn-ea"/>
              </a:rPr>
              <a:t>继承关系</a:t>
            </a:r>
            <a:r>
              <a:rPr lang="zh-CN" altLang="zh-CN" sz="1200" b="1" dirty="0">
                <a:latin typeface="Bodoni MT Black" panose="02070A03080606020203" pitchFamily="18" charset="0"/>
                <a:sym typeface="+mn-ea"/>
              </a:rPr>
              <a:t>，它是</a:t>
            </a:r>
            <a:r>
              <a:rPr lang="zh-CN" altLang="zh-CN" sz="1200" b="1" dirty="0">
                <a:solidFill>
                  <a:srgbClr val="00B0F0"/>
                </a:solidFill>
                <a:latin typeface="Bodoni MT Black" panose="02070A03080606020203" pitchFamily="18" charset="0"/>
                <a:sym typeface="+mn-ea"/>
              </a:rPr>
              <a:t>通用元素</a:t>
            </a:r>
            <a:r>
              <a:rPr lang="zh-CN" altLang="zh-CN" sz="1200" b="1" dirty="0">
                <a:latin typeface="Bodoni MT Black" panose="02070A03080606020203" pitchFamily="18" charset="0"/>
                <a:sym typeface="+mn-ea"/>
              </a:rPr>
              <a:t>和</a:t>
            </a:r>
            <a:r>
              <a:rPr lang="zh-CN" altLang="zh-CN" sz="1200" b="1" dirty="0">
                <a:solidFill>
                  <a:srgbClr val="00B0F0"/>
                </a:solidFill>
                <a:latin typeface="Bodoni MT Black" panose="02070A03080606020203" pitchFamily="18" charset="0"/>
                <a:sym typeface="+mn-ea"/>
              </a:rPr>
              <a:t>具体元素</a:t>
            </a:r>
            <a:r>
              <a:rPr lang="zh-CN" altLang="zh-CN" sz="1200" b="1" dirty="0">
                <a:latin typeface="Bodoni MT Black" panose="02070A03080606020203" pitchFamily="18" charset="0"/>
                <a:sym typeface="+mn-ea"/>
              </a:rPr>
              <a:t>之间的一种分类关系。具体元素完全拥有通用元素的信息，并且还可以附加一些其他信息。</a:t>
            </a:r>
            <a:endParaRPr lang="zh-CN" altLang="en-US" sz="1200" b="1"/>
          </a:p>
        </p:txBody>
      </p:sp>
      <p:pic>
        <p:nvPicPr>
          <p:cNvPr id="88068" name="图片 1"/>
          <p:cNvPicPr>
            <a:picLocks noChangeAspect="1"/>
          </p:cNvPicPr>
          <p:nvPr/>
        </p:nvPicPr>
        <p:blipFill>
          <a:blip r:embed="rId4" cstate="print"/>
          <a:srcRect/>
          <a:stretch>
            <a:fillRect/>
          </a:stretch>
        </p:blipFill>
        <p:spPr bwMode="auto">
          <a:xfrm>
            <a:off x="8952230" y="2376805"/>
            <a:ext cx="3239770" cy="2604770"/>
          </a:xfrm>
          <a:prstGeom prst="rect">
            <a:avLst/>
          </a:prstGeom>
          <a:noFill/>
          <a:ln w="9525">
            <a:noFill/>
            <a:miter lim="800000"/>
            <a:headEnd/>
            <a:tailEnd/>
          </a:ln>
        </p:spPr>
      </p:pic>
      <p:sp>
        <p:nvSpPr>
          <p:cNvPr id="20" name="文本框 19"/>
          <p:cNvSpPr txBox="1"/>
          <p:nvPr/>
        </p:nvSpPr>
        <p:spPr>
          <a:xfrm>
            <a:off x="6080760" y="2048510"/>
            <a:ext cx="2966720" cy="788035"/>
          </a:xfrm>
          <a:prstGeom prst="rect">
            <a:avLst/>
          </a:prstGeom>
          <a:noFill/>
        </p:spPr>
        <p:txBody>
          <a:bodyPr wrap="square" rtlCol="0">
            <a:noAutofit/>
          </a:bodyPr>
          <a:p>
            <a:pPr marL="0" indent="0" eaLnBrk="1" hangingPunct="1">
              <a:lnSpc>
                <a:spcPts val="3000"/>
              </a:lnSpc>
              <a:spcAft>
                <a:spcPts val="0"/>
              </a:spcAft>
              <a:defRPr/>
            </a:pPr>
            <a:r>
              <a:rPr lang="zh-CN" altLang="zh-CN" sz="1200" b="1" dirty="0">
                <a:solidFill>
                  <a:srgbClr val="FF0000"/>
                </a:solidFill>
                <a:highlight>
                  <a:srgbClr val="FFFF00"/>
                </a:highlight>
                <a:latin typeface="Bodoni MT Black" panose="02070A03080606020203" pitchFamily="18" charset="0"/>
                <a:sym typeface="+mn-ea"/>
              </a:rPr>
              <a:t>普通泛化：</a:t>
            </a:r>
            <a:endParaRPr lang="zh-CN" altLang="zh-CN" sz="1200" b="1" dirty="0">
              <a:solidFill>
                <a:srgbClr val="FF0000"/>
              </a:solidFill>
              <a:highlight>
                <a:srgbClr val="FFFF00"/>
              </a:highlight>
              <a:latin typeface="Bodoni MT Black" panose="02070A03080606020203" pitchFamily="18" charset="0"/>
              <a:sym typeface="+mn-ea"/>
            </a:endParaRPr>
          </a:p>
          <a:p>
            <a:pPr marL="0" indent="0" eaLnBrk="1" hangingPunct="1">
              <a:lnSpc>
                <a:spcPts val="3000"/>
              </a:lnSpc>
              <a:spcAft>
                <a:spcPts val="0"/>
              </a:spcAft>
              <a:defRPr/>
            </a:pPr>
            <a:r>
              <a:rPr lang="zh-CN" altLang="zh-CN" sz="1200" dirty="0">
                <a:latin typeface="Bodoni MT Black" panose="02070A03080606020203" pitchFamily="18" charset="0"/>
                <a:sym typeface="+mn-ea"/>
              </a:rPr>
              <a:t>没有具体对象的类称为</a:t>
            </a:r>
            <a:r>
              <a:rPr lang="zh-CN" altLang="zh-CN" sz="1200" b="1" dirty="0">
                <a:solidFill>
                  <a:srgbClr val="FF0000"/>
                </a:solidFill>
                <a:latin typeface="Bodoni MT Black" panose="02070A03080606020203" pitchFamily="18" charset="0"/>
                <a:sym typeface="+mn-ea"/>
              </a:rPr>
              <a:t>抽象类</a:t>
            </a:r>
            <a:r>
              <a:rPr lang="zh-CN" altLang="zh-CN" sz="1200" dirty="0">
                <a:latin typeface="Bodoni MT Black" panose="02070A03080606020203" pitchFamily="18" charset="0"/>
                <a:sym typeface="+mn-ea"/>
              </a:rPr>
              <a:t>。抽象类通常作为父类，用于描述其他类（子类）的</a:t>
            </a:r>
            <a:r>
              <a:rPr lang="zh-CN" altLang="zh-CN" sz="1200" b="1" dirty="0">
                <a:latin typeface="Bodoni MT Black" panose="02070A03080606020203" pitchFamily="18" charset="0"/>
                <a:sym typeface="+mn-ea"/>
              </a:rPr>
              <a:t>公共属性和行为。</a:t>
            </a:r>
            <a:r>
              <a:rPr lang="zh-CN" altLang="zh-CN" sz="1200" dirty="0">
                <a:latin typeface="Bodoni MT Black" panose="02070A03080606020203" pitchFamily="18" charset="0"/>
                <a:sym typeface="+mn-ea"/>
              </a:rPr>
              <a:t>图示抽象类时，在类名下方附加一个标记值</a:t>
            </a:r>
            <a:r>
              <a:rPr lang="en-US" altLang="zh-CN" sz="1200" b="1" dirty="0" smtClean="0">
                <a:solidFill>
                  <a:srgbClr val="FF0000"/>
                </a:solidFill>
                <a:highlight>
                  <a:srgbClr val="00FF00"/>
                </a:highlight>
                <a:latin typeface="黑体" panose="02010609060101010101" charset="-122"/>
                <a:ea typeface="黑体" panose="02010609060101010101" charset="-122"/>
                <a:cs typeface="黑体" panose="02010609060101010101" charset="-122"/>
                <a:sym typeface="+mn-ea"/>
              </a:rPr>
              <a:t>{abstract}</a:t>
            </a:r>
            <a:r>
              <a:rPr lang="zh-CN" altLang="en-US" sz="1200" b="1" dirty="0" smtClean="0">
                <a:highlight>
                  <a:srgbClr val="00FF00"/>
                </a:highlight>
                <a:latin typeface="黑体" panose="02010609060101010101" charset="-122"/>
                <a:ea typeface="黑体" panose="02010609060101010101" charset="-122"/>
                <a:cs typeface="黑体" panose="02010609060101010101" charset="-122"/>
                <a:sym typeface="+mn-ea"/>
              </a:rPr>
              <a:t>。</a:t>
            </a:r>
            <a:endParaRPr lang="zh-CN" altLang="en-US" sz="1200" b="1">
              <a:latin typeface="黑体" panose="02010609060101010101" charset="-122"/>
              <a:ea typeface="黑体" panose="02010609060101010101" charset="-122"/>
              <a:cs typeface="黑体" panose="02010609060101010101" charset="-122"/>
            </a:endParaRPr>
          </a:p>
        </p:txBody>
      </p:sp>
      <p:sp>
        <p:nvSpPr>
          <p:cNvPr id="21" name="文本框 20"/>
          <p:cNvSpPr txBox="1"/>
          <p:nvPr/>
        </p:nvSpPr>
        <p:spPr>
          <a:xfrm>
            <a:off x="6380480" y="1315720"/>
            <a:ext cx="5299075" cy="725170"/>
          </a:xfrm>
          <a:prstGeom prst="rect">
            <a:avLst/>
          </a:prstGeom>
          <a:noFill/>
        </p:spPr>
        <p:txBody>
          <a:bodyPr wrap="square" rtlCol="0">
            <a:noAutofit/>
          </a:bodyPr>
          <a:p>
            <a:pPr marL="0" algn="ctr" eaLnBrk="1" hangingPunct="1">
              <a:lnSpc>
                <a:spcPct val="190000"/>
              </a:lnSpc>
              <a:buClrTx/>
              <a:buSzTx/>
              <a:buFontTx/>
            </a:pPr>
            <a:r>
              <a:rPr lang="zh-CN" altLang="zh-CN" sz="1200" b="1" dirty="0">
                <a:solidFill>
                  <a:srgbClr val="FF0000"/>
                </a:solidFill>
                <a:highlight>
                  <a:srgbClr val="00FFFF"/>
                </a:highlight>
                <a:latin typeface="Bodoni MT Black" panose="02070A03080606020203" pitchFamily="18" charset="0"/>
              </a:rPr>
              <a:t>泛化针对类型而不针对实例，</a:t>
            </a:r>
            <a:endParaRPr lang="zh-CN" altLang="zh-CN" sz="1200" b="1" dirty="0">
              <a:solidFill>
                <a:srgbClr val="FF0000"/>
              </a:solidFill>
              <a:highlight>
                <a:srgbClr val="00FFFF"/>
              </a:highlight>
              <a:latin typeface="Bodoni MT Black" panose="02070A03080606020203" pitchFamily="18" charset="0"/>
            </a:endParaRPr>
          </a:p>
          <a:p>
            <a:pPr marL="0" algn="ctr" eaLnBrk="1" hangingPunct="1">
              <a:lnSpc>
                <a:spcPct val="190000"/>
              </a:lnSpc>
              <a:buClrTx/>
              <a:buSzTx/>
              <a:buFontTx/>
            </a:pPr>
            <a:r>
              <a:rPr lang="zh-CN" altLang="zh-CN" sz="1200" b="1" dirty="0">
                <a:solidFill>
                  <a:srgbClr val="FF0000"/>
                </a:solidFill>
                <a:highlight>
                  <a:srgbClr val="00FFFF"/>
                </a:highlight>
                <a:latin typeface="Bodoni MT Black" panose="02070A03080606020203" pitchFamily="18" charset="0"/>
              </a:rPr>
              <a:t>一个类可以继承另一个类，但一个对象不能继承另一个对象。</a:t>
            </a:r>
            <a:endParaRPr lang="zh-CN" altLang="zh-CN" sz="1200" b="1" dirty="0">
              <a:solidFill>
                <a:srgbClr val="FF0000"/>
              </a:solidFill>
              <a:highlight>
                <a:srgbClr val="00FFFF"/>
              </a:highlight>
              <a:latin typeface="Bodoni MT Black" panose="02070A03080606020203" pitchFamily="18" charset="0"/>
            </a:endParaRPr>
          </a:p>
        </p:txBody>
      </p:sp>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文本框 14"/>
          <p:cNvSpPr txBox="1"/>
          <p:nvPr>
            <p:custDataLst>
              <p:tags r:id="rId1"/>
            </p:custDataLst>
          </p:nvPr>
        </p:nvSpPr>
        <p:spPr>
          <a:xfrm>
            <a:off x="190500" y="5542915"/>
            <a:ext cx="1082675" cy="942975"/>
          </a:xfrm>
          <a:prstGeom prst="rect">
            <a:avLst/>
          </a:prstGeom>
          <a:solidFill>
            <a:schemeClr val="bg2"/>
          </a:solidFill>
        </p:spPr>
        <p:txBody>
          <a:bodyPr wrap="square" rtlCol="0">
            <a:noAutofit/>
          </a:bodyPr>
          <a:p>
            <a:endParaRPr lang="zh-CN" altLang="en-US"/>
          </a:p>
        </p:txBody>
      </p:sp>
      <p:cxnSp>
        <p:nvCxnSpPr>
          <p:cNvPr id="11" name="直接连接符 10"/>
          <p:cNvCxnSpPr/>
          <p:nvPr>
            <p:custDataLst>
              <p:tags r:id="rId2"/>
            </p:custDataLst>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custDataLst>
              <p:tags r:id="rId3"/>
            </p:custDataLst>
          </p:nvPr>
        </p:nvSpPr>
        <p:spPr>
          <a:xfrm>
            <a:off x="0" y="-635"/>
            <a:ext cx="5989320" cy="451485"/>
          </a:xfrm>
          <a:prstGeom prst="rect">
            <a:avLst/>
          </a:prstGeom>
          <a:solidFill>
            <a:schemeClr val="accent1"/>
          </a:solidFill>
        </p:spPr>
        <p:txBody>
          <a:bodyPr wrap="square" rtlCol="0" anchor="ctr" anchorCtr="0">
            <a:noAutofit/>
          </a:bodyPr>
          <a:p>
            <a:r>
              <a:rPr lang="en-US" altLang="zh-CN" b="1">
                <a:solidFill>
                  <a:schemeClr val="bg2"/>
                </a:solidFill>
              </a:rPr>
              <a:t> </a:t>
            </a:r>
            <a:r>
              <a:rPr lang="zh-CN" altLang="en-US" b="1">
                <a:solidFill>
                  <a:schemeClr val="bg2"/>
                </a:solidFill>
              </a:rPr>
              <a:t>对象模型</a:t>
            </a:r>
            <a:endParaRPr lang="zh-CN" altLang="en-US" b="1">
              <a:solidFill>
                <a:schemeClr val="bg2"/>
              </a:solidFill>
            </a:endParaRPr>
          </a:p>
        </p:txBody>
      </p:sp>
      <p:sp>
        <p:nvSpPr>
          <p:cNvPr id="4" name="文本框 3"/>
          <p:cNvSpPr txBox="1"/>
          <p:nvPr>
            <p:custDataLst>
              <p:tags r:id="rId4"/>
            </p:custDataLst>
          </p:nvPr>
        </p:nvSpPr>
        <p:spPr>
          <a:xfrm>
            <a:off x="6017260" y="-10160"/>
            <a:ext cx="6174740" cy="451485"/>
          </a:xfrm>
          <a:prstGeom prst="rect">
            <a:avLst/>
          </a:prstGeom>
          <a:solidFill>
            <a:schemeClr val="accent1"/>
          </a:solidFill>
        </p:spPr>
        <p:txBody>
          <a:bodyPr wrap="square" rtlCol="0" anchor="ctr" anchorCtr="0">
            <a:noAutofit/>
          </a:bodyPr>
          <a:p>
            <a:r>
              <a:rPr lang="zh-CN" b="1">
                <a:solidFill>
                  <a:schemeClr val="bg2"/>
                </a:solidFill>
              </a:rPr>
              <a:t>动态模型</a:t>
            </a:r>
            <a:endParaRPr lang="zh-CN" b="1">
              <a:solidFill>
                <a:schemeClr val="bg2"/>
              </a:solidFill>
            </a:endParaRPr>
          </a:p>
        </p:txBody>
      </p:sp>
      <p:sp>
        <p:nvSpPr>
          <p:cNvPr id="18" name="文本框 17"/>
          <p:cNvSpPr txBox="1"/>
          <p:nvPr>
            <p:custDataLst>
              <p:tags r:id="rId5"/>
            </p:custDataLst>
          </p:nvPr>
        </p:nvSpPr>
        <p:spPr>
          <a:xfrm>
            <a:off x="10948670" y="441325"/>
            <a:ext cx="1082675" cy="942975"/>
          </a:xfrm>
          <a:prstGeom prst="rect">
            <a:avLst/>
          </a:prstGeom>
          <a:solidFill>
            <a:schemeClr val="bg2"/>
          </a:solidFill>
        </p:spPr>
        <p:txBody>
          <a:bodyPr wrap="square" rtlCol="0">
            <a:noAutofit/>
          </a:bodyPr>
          <a:p>
            <a:endParaRPr lang="zh-CN" altLang="en-US"/>
          </a:p>
        </p:txBody>
      </p:sp>
      <p:sp>
        <p:nvSpPr>
          <p:cNvPr id="6" name="文本框 5"/>
          <p:cNvSpPr txBox="1"/>
          <p:nvPr/>
        </p:nvSpPr>
        <p:spPr>
          <a:xfrm>
            <a:off x="143510" y="2409190"/>
            <a:ext cx="5811520" cy="1228725"/>
          </a:xfrm>
          <a:prstGeom prst="rect">
            <a:avLst/>
          </a:prstGeom>
          <a:solidFill>
            <a:schemeClr val="bg2">
              <a:lumMod val="95000"/>
            </a:schemeClr>
          </a:solidFill>
          <a:ln>
            <a:solidFill>
              <a:schemeClr val="tx1"/>
            </a:solidFill>
          </a:ln>
        </p:spPr>
        <p:txBody>
          <a:bodyPr wrap="square" rtlCol="0">
            <a:noAutofit/>
          </a:bodyPr>
          <a:p>
            <a:pPr marL="0" indent="0" eaLnBrk="1" hangingPunct="1">
              <a:lnSpc>
                <a:spcPts val="3000"/>
              </a:lnSpc>
              <a:spcBef>
                <a:spcPts val="0"/>
              </a:spcBef>
              <a:spcAft>
                <a:spcPts val="0"/>
              </a:spcAft>
              <a:defRPr/>
            </a:pPr>
            <a:r>
              <a:rPr lang="zh-CN" altLang="en-US" sz="1200" b="1">
                <a:solidFill>
                  <a:srgbClr val="FF0000"/>
                </a:solidFill>
              </a:rPr>
              <a:t>依赖：</a:t>
            </a:r>
            <a:r>
              <a:rPr lang="zh-CN" altLang="zh-CN" sz="1200" b="1" dirty="0" smtClean="0">
                <a:solidFill>
                  <a:srgbClr val="C00000"/>
                </a:solidFill>
                <a:latin typeface="Bodoni MT Black" panose="02070A03080606020203" pitchFamily="18" charset="0"/>
                <a:sym typeface="+mn-ea"/>
              </a:rPr>
              <a:t>依赖</a:t>
            </a:r>
            <a:r>
              <a:rPr lang="zh-CN" altLang="zh-CN" sz="1200" b="1" dirty="0">
                <a:solidFill>
                  <a:srgbClr val="C00000"/>
                </a:solidFill>
                <a:latin typeface="Bodoni MT Black" panose="02070A03080606020203" pitchFamily="18" charset="0"/>
                <a:sym typeface="+mn-ea"/>
              </a:rPr>
              <a:t>关系</a:t>
            </a:r>
            <a:r>
              <a:rPr lang="zh-CN" altLang="zh-CN" sz="1200" b="1" dirty="0">
                <a:latin typeface="Bodoni MT Black" panose="02070A03080606020203" pitchFamily="18" charset="0"/>
                <a:sym typeface="+mn-ea"/>
              </a:rPr>
              <a:t>描述两个模型元素（类、用例等）之间的语义连接关系： 其中一个模型元素是独立的，另一个模型元素不是独立的，它依赖于独立的模型元素，如果独立的模型元素改变了，将影响依赖于它的模型元素</a:t>
            </a:r>
            <a:r>
              <a:rPr lang="zh-CN" altLang="zh-CN" sz="1200" b="1" dirty="0" smtClean="0">
                <a:latin typeface="Bodoni MT Black" panose="02070A03080606020203" pitchFamily="18" charset="0"/>
                <a:sym typeface="+mn-ea"/>
              </a:rPr>
              <a:t>。</a:t>
            </a:r>
            <a:endParaRPr lang="zh-CN" altLang="en-US" sz="1200" b="1"/>
          </a:p>
        </p:txBody>
      </p:sp>
      <p:pic>
        <p:nvPicPr>
          <p:cNvPr id="96260" name="图片 1"/>
          <p:cNvPicPr>
            <a:picLocks noChangeAspect="1"/>
          </p:cNvPicPr>
          <p:nvPr>
            <p:custDataLst>
              <p:tags r:id="rId6"/>
            </p:custDataLst>
          </p:nvPr>
        </p:nvPicPr>
        <p:blipFill>
          <a:blip r:embed="rId7" cstate="print"/>
          <a:srcRect/>
          <a:stretch>
            <a:fillRect/>
          </a:stretch>
        </p:blipFill>
        <p:spPr bwMode="auto">
          <a:xfrm>
            <a:off x="1212850" y="3736975"/>
            <a:ext cx="3657600" cy="516890"/>
          </a:xfrm>
          <a:prstGeom prst="rect">
            <a:avLst/>
          </a:prstGeom>
          <a:noFill/>
          <a:ln w="9525">
            <a:noFill/>
            <a:miter lim="800000"/>
            <a:headEnd/>
            <a:tailEnd/>
          </a:ln>
        </p:spPr>
      </p:pic>
      <p:sp>
        <p:nvSpPr>
          <p:cNvPr id="7" name="文本框 6"/>
          <p:cNvSpPr txBox="1"/>
          <p:nvPr/>
        </p:nvSpPr>
        <p:spPr>
          <a:xfrm>
            <a:off x="279400" y="4232910"/>
            <a:ext cx="5661660" cy="561975"/>
          </a:xfrm>
          <a:prstGeom prst="rect">
            <a:avLst/>
          </a:prstGeom>
          <a:noFill/>
        </p:spPr>
        <p:txBody>
          <a:bodyPr wrap="square" rtlCol="0">
            <a:noAutofit/>
          </a:bodyPr>
          <a:p>
            <a:pPr>
              <a:lnSpc>
                <a:spcPct val="130000"/>
              </a:lnSpc>
            </a:pPr>
            <a:r>
              <a:rPr lang="zh-CN" altLang="en-US" sz="1200" dirty="0" smtClean="0">
                <a:latin typeface="+mn-ea"/>
                <a:cs typeface="+mn-ea"/>
                <a:sym typeface="+mn-ea"/>
              </a:rPr>
              <a:t>上</a:t>
            </a:r>
            <a:r>
              <a:rPr lang="zh-CN" altLang="en-US" sz="1200" dirty="0">
                <a:latin typeface="+mn-ea"/>
                <a:cs typeface="+mn-ea"/>
                <a:sym typeface="+mn-ea"/>
              </a:rPr>
              <a:t>图</a:t>
            </a:r>
            <a:r>
              <a:rPr lang="zh-CN" altLang="zh-CN" sz="1200" dirty="0">
                <a:latin typeface="+mn-ea"/>
                <a:cs typeface="+mn-ea"/>
                <a:sym typeface="+mn-ea"/>
              </a:rPr>
              <a:t>表示一个友元依赖关系，该关系使得</a:t>
            </a:r>
            <a:r>
              <a:rPr lang="en-US" altLang="zh-CN" sz="1200" dirty="0">
                <a:latin typeface="+mn-ea"/>
                <a:cs typeface="+mn-ea"/>
                <a:sym typeface="+mn-ea"/>
              </a:rPr>
              <a:t>B</a:t>
            </a:r>
            <a:r>
              <a:rPr lang="zh-CN" altLang="zh-CN" sz="1200" dirty="0">
                <a:latin typeface="+mn-ea"/>
                <a:cs typeface="+mn-ea"/>
                <a:sym typeface="+mn-ea"/>
              </a:rPr>
              <a:t>类的操作可以使用</a:t>
            </a:r>
            <a:r>
              <a:rPr lang="en-US" altLang="zh-CN" sz="1200" dirty="0">
                <a:latin typeface="+mn-ea"/>
                <a:cs typeface="+mn-ea"/>
                <a:sym typeface="+mn-ea"/>
              </a:rPr>
              <a:t>A</a:t>
            </a:r>
            <a:r>
              <a:rPr lang="zh-CN" altLang="zh-CN" sz="1200" dirty="0">
                <a:latin typeface="+mn-ea"/>
                <a:cs typeface="+mn-ea"/>
                <a:sym typeface="+mn-ea"/>
              </a:rPr>
              <a:t>类中私有的或保护的成员。</a:t>
            </a:r>
            <a:endParaRPr lang="zh-CN" altLang="en-US" sz="1200" dirty="0">
              <a:latin typeface="+mn-ea"/>
              <a:cs typeface="+mn-ea"/>
            </a:endParaRPr>
          </a:p>
          <a:p>
            <a:endParaRPr lang="zh-CN" altLang="en-US" sz="1200">
              <a:latin typeface="+mn-ea"/>
              <a:cs typeface="+mn-ea"/>
            </a:endParaRPr>
          </a:p>
        </p:txBody>
      </p:sp>
      <p:sp>
        <p:nvSpPr>
          <p:cNvPr id="8" name="文本框 7"/>
          <p:cNvSpPr txBox="1"/>
          <p:nvPr/>
        </p:nvSpPr>
        <p:spPr>
          <a:xfrm>
            <a:off x="143510" y="4813935"/>
            <a:ext cx="5811520" cy="1228725"/>
          </a:xfrm>
          <a:prstGeom prst="rect">
            <a:avLst/>
          </a:prstGeom>
          <a:solidFill>
            <a:schemeClr val="bg2">
              <a:lumMod val="95000"/>
            </a:schemeClr>
          </a:solidFill>
          <a:ln>
            <a:solidFill>
              <a:schemeClr val="tx1"/>
            </a:solidFill>
          </a:ln>
        </p:spPr>
        <p:txBody>
          <a:bodyPr wrap="square" rtlCol="0">
            <a:noAutofit/>
          </a:bodyPr>
          <a:p>
            <a:pPr marL="0" indent="0" eaLnBrk="1" hangingPunct="1">
              <a:lnSpc>
                <a:spcPts val="3000"/>
              </a:lnSpc>
              <a:spcBef>
                <a:spcPts val="0"/>
              </a:spcBef>
              <a:spcAft>
                <a:spcPts val="0"/>
              </a:spcAft>
              <a:defRPr/>
            </a:pPr>
            <a:r>
              <a:rPr lang="zh-CN" altLang="en-US" sz="1200" b="1">
                <a:solidFill>
                  <a:srgbClr val="FF0000"/>
                </a:solidFill>
              </a:rPr>
              <a:t>细化：</a:t>
            </a:r>
            <a:r>
              <a:rPr lang="zh-CN" altLang="zh-CN" sz="1200" b="1" dirty="0" smtClean="0">
                <a:latin typeface="Bodoni MT Black" panose="02070A03080606020203" pitchFamily="18" charset="0"/>
                <a:sym typeface="+mn-ea"/>
              </a:rPr>
              <a:t>当</a:t>
            </a:r>
            <a:r>
              <a:rPr lang="zh-CN" altLang="zh-CN" sz="1200" b="1" dirty="0">
                <a:latin typeface="Bodoni MT Black" panose="02070A03080606020203" pitchFamily="18" charset="0"/>
                <a:sym typeface="+mn-ea"/>
              </a:rPr>
              <a:t>对同一个事物在不同抽象层次上描述时，这些描述之间具有</a:t>
            </a:r>
            <a:r>
              <a:rPr lang="zh-CN" altLang="zh-CN" sz="1200" b="1" dirty="0">
                <a:solidFill>
                  <a:srgbClr val="C00000"/>
                </a:solidFill>
                <a:latin typeface="Bodoni MT Black" panose="02070A03080606020203" pitchFamily="18" charset="0"/>
                <a:sym typeface="+mn-ea"/>
              </a:rPr>
              <a:t>细化关系</a:t>
            </a:r>
            <a:r>
              <a:rPr lang="zh-CN" altLang="zh-CN" sz="1200" b="1" dirty="0" smtClean="0">
                <a:latin typeface="Bodoni MT Black" panose="02070A03080606020203" pitchFamily="18" charset="0"/>
                <a:sym typeface="+mn-ea"/>
              </a:rPr>
              <a:t>。</a:t>
            </a:r>
            <a:endParaRPr lang="en-US" altLang="zh-CN" sz="1200" b="1" dirty="0" smtClean="0">
              <a:latin typeface="Bodoni MT Black" panose="02070A03080606020203" pitchFamily="18" charset="0"/>
              <a:ea typeface="+mn-ea"/>
            </a:endParaRPr>
          </a:p>
          <a:p>
            <a:pPr marL="0" indent="0" eaLnBrk="1" hangingPunct="1">
              <a:lnSpc>
                <a:spcPts val="3000"/>
              </a:lnSpc>
              <a:spcBef>
                <a:spcPts val="0"/>
              </a:spcBef>
              <a:spcAft>
                <a:spcPts val="0"/>
              </a:spcAft>
              <a:defRPr/>
            </a:pPr>
            <a:r>
              <a:rPr lang="zh-CN" altLang="zh-CN" sz="1200" b="1" dirty="0" smtClean="0">
                <a:latin typeface="Bodoni MT Black" panose="02070A03080606020203" pitchFamily="18" charset="0"/>
                <a:sym typeface="+mn-ea"/>
              </a:rPr>
              <a:t>假设</a:t>
            </a:r>
            <a:r>
              <a:rPr lang="zh-CN" altLang="zh-CN" sz="1200" b="1" dirty="0">
                <a:latin typeface="Bodoni MT Black" panose="02070A03080606020203" pitchFamily="18" charset="0"/>
                <a:sym typeface="+mn-ea"/>
              </a:rPr>
              <a:t>两个模型元素</a:t>
            </a:r>
            <a:r>
              <a:rPr lang="en-US" altLang="zh-CN" sz="1200" b="1" dirty="0">
                <a:latin typeface="Bodoni MT Black" panose="02070A03080606020203" pitchFamily="18" charset="0"/>
                <a:sym typeface="+mn-ea"/>
              </a:rPr>
              <a:t>A</a:t>
            </a:r>
            <a:r>
              <a:rPr lang="zh-CN" altLang="zh-CN" sz="1200" b="1" dirty="0">
                <a:latin typeface="Bodoni MT Black" panose="02070A03080606020203" pitchFamily="18" charset="0"/>
                <a:sym typeface="+mn-ea"/>
              </a:rPr>
              <a:t>和</a:t>
            </a:r>
            <a:r>
              <a:rPr lang="en-US" altLang="zh-CN" sz="1200" b="1" dirty="0">
                <a:latin typeface="Bodoni MT Black" panose="02070A03080606020203" pitchFamily="18" charset="0"/>
                <a:sym typeface="+mn-ea"/>
              </a:rPr>
              <a:t>B</a:t>
            </a:r>
            <a:r>
              <a:rPr lang="zh-CN" altLang="zh-CN" sz="1200" b="1" dirty="0">
                <a:latin typeface="Bodoni MT Black" panose="02070A03080606020203" pitchFamily="18" charset="0"/>
                <a:sym typeface="+mn-ea"/>
              </a:rPr>
              <a:t>描述同一个事物，它们的区别是抽象层次不同，如果</a:t>
            </a:r>
            <a:r>
              <a:rPr lang="en-US" altLang="zh-CN" sz="1200" b="1" dirty="0">
                <a:latin typeface="Bodoni MT Black" panose="02070A03080606020203" pitchFamily="18" charset="0"/>
                <a:sym typeface="+mn-ea"/>
              </a:rPr>
              <a:t>B</a:t>
            </a:r>
            <a:r>
              <a:rPr lang="zh-CN" altLang="zh-CN" sz="1200" b="1" dirty="0">
                <a:latin typeface="Bodoni MT Black" panose="02070A03080606020203" pitchFamily="18" charset="0"/>
                <a:sym typeface="+mn-ea"/>
              </a:rPr>
              <a:t>是在</a:t>
            </a:r>
            <a:r>
              <a:rPr lang="en-US" altLang="zh-CN" sz="1200" b="1" dirty="0">
                <a:latin typeface="Bodoni MT Black" panose="02070A03080606020203" pitchFamily="18" charset="0"/>
                <a:sym typeface="+mn-ea"/>
              </a:rPr>
              <a:t>A</a:t>
            </a:r>
            <a:r>
              <a:rPr lang="zh-CN" altLang="zh-CN" sz="1200" b="1" dirty="0">
                <a:latin typeface="Bodoni MT Black" panose="02070A03080606020203" pitchFamily="18" charset="0"/>
                <a:sym typeface="+mn-ea"/>
              </a:rPr>
              <a:t>的基础上的更详细的描述，则称</a:t>
            </a:r>
            <a:r>
              <a:rPr lang="en-US" altLang="zh-CN" sz="1200" b="1" dirty="0">
                <a:latin typeface="Bodoni MT Black" panose="02070A03080606020203" pitchFamily="18" charset="0"/>
                <a:sym typeface="+mn-ea"/>
              </a:rPr>
              <a:t>B</a:t>
            </a:r>
            <a:r>
              <a:rPr lang="zh-CN" altLang="zh-CN" sz="1200" b="1" dirty="0">
                <a:latin typeface="Bodoni MT Black" panose="02070A03080606020203" pitchFamily="18" charset="0"/>
                <a:sym typeface="+mn-ea"/>
              </a:rPr>
              <a:t>细化了</a:t>
            </a:r>
            <a:r>
              <a:rPr lang="en-US" altLang="zh-CN" sz="1200" b="1" dirty="0">
                <a:latin typeface="Bodoni MT Black" panose="02070A03080606020203" pitchFamily="18" charset="0"/>
                <a:sym typeface="+mn-ea"/>
              </a:rPr>
              <a:t>A</a:t>
            </a:r>
            <a:r>
              <a:rPr lang="zh-CN" altLang="zh-CN" sz="1200" b="1" dirty="0">
                <a:latin typeface="Bodoni MT Black" panose="02070A03080606020203" pitchFamily="18" charset="0"/>
                <a:sym typeface="+mn-ea"/>
              </a:rPr>
              <a:t>，或称</a:t>
            </a:r>
            <a:r>
              <a:rPr lang="en-US" altLang="zh-CN" sz="1200" b="1" dirty="0">
                <a:latin typeface="Bodoni MT Black" panose="02070A03080606020203" pitchFamily="18" charset="0"/>
                <a:sym typeface="+mn-ea"/>
              </a:rPr>
              <a:t>A</a:t>
            </a:r>
            <a:r>
              <a:rPr lang="zh-CN" altLang="zh-CN" sz="1200" b="1" dirty="0">
                <a:latin typeface="Bodoni MT Black" panose="02070A03080606020203" pitchFamily="18" charset="0"/>
                <a:sym typeface="+mn-ea"/>
              </a:rPr>
              <a:t>细化成了</a:t>
            </a:r>
            <a:r>
              <a:rPr lang="en-US" altLang="zh-CN" sz="1200" b="1" dirty="0">
                <a:latin typeface="Bodoni MT Black" panose="02070A03080606020203" pitchFamily="18" charset="0"/>
                <a:sym typeface="+mn-ea"/>
              </a:rPr>
              <a:t>B</a:t>
            </a:r>
            <a:r>
              <a:rPr lang="zh-CN" altLang="zh-CN" sz="1200" b="1" dirty="0">
                <a:latin typeface="Bodoni MT Black" panose="02070A03080606020203" pitchFamily="18" charset="0"/>
                <a:sym typeface="+mn-ea"/>
              </a:rPr>
              <a:t>。</a:t>
            </a:r>
            <a:endParaRPr lang="zh-CN" altLang="en-US" sz="1200" b="1"/>
          </a:p>
        </p:txBody>
      </p:sp>
      <p:pic>
        <p:nvPicPr>
          <p:cNvPr id="98308" name="图片 3"/>
          <p:cNvPicPr>
            <a:picLocks noChangeAspect="1"/>
          </p:cNvPicPr>
          <p:nvPr>
            <p:custDataLst>
              <p:tags r:id="rId8"/>
            </p:custDataLst>
          </p:nvPr>
        </p:nvPicPr>
        <p:blipFill>
          <a:blip r:embed="rId9" cstate="print"/>
          <a:srcRect/>
          <a:stretch>
            <a:fillRect/>
          </a:stretch>
        </p:blipFill>
        <p:spPr bwMode="auto">
          <a:xfrm>
            <a:off x="1125855" y="6071235"/>
            <a:ext cx="3743960" cy="574040"/>
          </a:xfrm>
          <a:prstGeom prst="rect">
            <a:avLst/>
          </a:prstGeom>
          <a:noFill/>
          <a:ln w="9525">
            <a:noFill/>
            <a:miter lim="800000"/>
            <a:headEnd/>
            <a:tailEnd/>
          </a:ln>
        </p:spPr>
      </p:pic>
      <p:pic>
        <p:nvPicPr>
          <p:cNvPr id="92164" name="图片 3"/>
          <p:cNvPicPr>
            <a:picLocks noChangeAspect="1"/>
          </p:cNvPicPr>
          <p:nvPr>
            <p:custDataLst>
              <p:tags r:id="rId10"/>
            </p:custDataLst>
          </p:nvPr>
        </p:nvPicPr>
        <p:blipFill>
          <a:blip r:embed="rId11" cstate="print"/>
          <a:srcRect/>
          <a:stretch>
            <a:fillRect/>
          </a:stretch>
        </p:blipFill>
        <p:spPr bwMode="auto">
          <a:xfrm>
            <a:off x="2480310" y="516255"/>
            <a:ext cx="3403600" cy="1860550"/>
          </a:xfrm>
          <a:prstGeom prst="rect">
            <a:avLst/>
          </a:prstGeom>
          <a:noFill/>
          <a:ln w="9525">
            <a:noFill/>
            <a:miter lim="800000"/>
            <a:headEnd/>
            <a:tailEnd/>
          </a:ln>
        </p:spPr>
      </p:pic>
      <p:sp>
        <p:nvSpPr>
          <p:cNvPr id="9" name="文本框 8"/>
          <p:cNvSpPr txBox="1"/>
          <p:nvPr/>
        </p:nvSpPr>
        <p:spPr>
          <a:xfrm>
            <a:off x="279400" y="669925"/>
            <a:ext cx="2171700" cy="1630045"/>
          </a:xfrm>
          <a:prstGeom prst="rect">
            <a:avLst/>
          </a:prstGeom>
          <a:noFill/>
        </p:spPr>
        <p:txBody>
          <a:bodyPr wrap="square">
            <a:spAutoFit/>
          </a:bodyPr>
          <a:p>
            <a:pPr eaLnBrk="1" hangingPunct="1">
              <a:lnSpc>
                <a:spcPts val="3000"/>
              </a:lnSpc>
              <a:defRPr/>
            </a:pPr>
            <a:r>
              <a:rPr lang="zh-CN" altLang="zh-CN" sz="1200" b="1" dirty="0">
                <a:solidFill>
                  <a:srgbClr val="FF0000"/>
                </a:solidFill>
                <a:highlight>
                  <a:srgbClr val="FFFF00"/>
                </a:highlight>
                <a:latin typeface="+mn-ea"/>
                <a:cs typeface="+mn-ea"/>
              </a:rPr>
              <a:t>多重继承</a:t>
            </a:r>
            <a:r>
              <a:rPr lang="en-US" altLang="zh-CN" sz="1200" b="1" dirty="0">
                <a:solidFill>
                  <a:srgbClr val="FF0000"/>
                </a:solidFill>
                <a:highlight>
                  <a:srgbClr val="FFFF00"/>
                </a:highlight>
                <a:latin typeface="+mn-ea"/>
                <a:cs typeface="+mn-ea"/>
              </a:rPr>
              <a:t>: </a:t>
            </a:r>
            <a:r>
              <a:rPr lang="zh-CN" altLang="zh-CN" sz="1200" dirty="0">
                <a:latin typeface="+mn-ea"/>
                <a:cs typeface="+mn-ea"/>
              </a:rPr>
              <a:t>指的是一个子类可以</a:t>
            </a:r>
            <a:r>
              <a:rPr lang="zh-CN" altLang="zh-CN" sz="1200" b="1" dirty="0">
                <a:solidFill>
                  <a:srgbClr val="FF0000"/>
                </a:solidFill>
                <a:latin typeface="+mn-ea"/>
                <a:cs typeface="+mn-ea"/>
              </a:rPr>
              <a:t>同时多次继承同一个上层基类</a:t>
            </a:r>
            <a:r>
              <a:rPr lang="zh-CN" altLang="zh-CN" sz="1200" dirty="0">
                <a:latin typeface="+mn-ea"/>
                <a:cs typeface="+mn-ea"/>
              </a:rPr>
              <a:t>，</a:t>
            </a:r>
            <a:r>
              <a:rPr lang="zh-CN" altLang="en-US" sz="1200" dirty="0">
                <a:latin typeface="+mn-ea"/>
                <a:cs typeface="+mn-ea"/>
              </a:rPr>
              <a:t>右图</a:t>
            </a:r>
            <a:r>
              <a:rPr lang="zh-CN" altLang="zh-CN" sz="1200" dirty="0">
                <a:latin typeface="+mn-ea"/>
                <a:cs typeface="+mn-ea"/>
              </a:rPr>
              <a:t>中的水陆两用类继承了两次交通工具类。</a:t>
            </a:r>
            <a:endParaRPr lang="zh-CN" altLang="en-US" sz="1200" dirty="0">
              <a:latin typeface="+mn-ea"/>
              <a:cs typeface="+mn-ea"/>
            </a:endParaRPr>
          </a:p>
        </p:txBody>
      </p:sp>
      <p:sp>
        <p:nvSpPr>
          <p:cNvPr id="32775" name="TextBox 7"/>
          <p:cNvSpPr txBox="1">
            <a:spLocks noChangeArrowheads="1"/>
          </p:cNvSpPr>
          <p:nvPr/>
        </p:nvSpPr>
        <p:spPr bwMode="auto">
          <a:xfrm>
            <a:off x="6035675" y="516255"/>
            <a:ext cx="6073140" cy="5148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200"/>
              </a:lnSpc>
              <a:spcBef>
                <a:spcPts val="600"/>
              </a:spcBef>
              <a:spcAft>
                <a:spcPts val="600"/>
              </a:spcAft>
              <a:defRPr/>
            </a:pPr>
            <a:r>
              <a:rPr lang="zh-CN" altLang="zh-CN" sz="1200" b="1" dirty="0" smtClean="0">
                <a:solidFill>
                  <a:srgbClr val="FF0000"/>
                </a:solidFill>
                <a:highlight>
                  <a:srgbClr val="FFFF00"/>
                </a:highlight>
                <a:latin typeface="+mn-ea"/>
                <a:ea typeface="+mn-ea"/>
                <a:cs typeface="+mn-ea"/>
              </a:rPr>
              <a:t>动态模型</a:t>
            </a:r>
            <a:r>
              <a:rPr lang="zh-CN" altLang="zh-CN" sz="1200" dirty="0">
                <a:latin typeface="+mn-ea"/>
                <a:ea typeface="+mn-ea"/>
                <a:cs typeface="+mn-ea"/>
              </a:rPr>
              <a:t>表示</a:t>
            </a:r>
            <a:r>
              <a:rPr lang="zh-CN" altLang="zh-CN" sz="1200" b="1" dirty="0">
                <a:solidFill>
                  <a:srgbClr val="FF0000"/>
                </a:solidFill>
                <a:latin typeface="+mn-ea"/>
                <a:ea typeface="+mn-ea"/>
                <a:cs typeface="+mn-ea"/>
              </a:rPr>
              <a:t>瞬时的、行为化</a:t>
            </a:r>
            <a:r>
              <a:rPr lang="zh-CN" altLang="zh-CN" sz="1200" dirty="0">
                <a:latin typeface="+mn-ea"/>
                <a:ea typeface="+mn-ea"/>
                <a:cs typeface="+mn-ea"/>
              </a:rPr>
              <a:t>的系统的“控制”性质，它规定了对象模型中的对象的</a:t>
            </a:r>
            <a:r>
              <a:rPr lang="zh-CN" altLang="zh-CN" sz="1200" b="1" dirty="0">
                <a:solidFill>
                  <a:srgbClr val="FF0000"/>
                </a:solidFill>
                <a:latin typeface="+mn-ea"/>
                <a:ea typeface="+mn-ea"/>
                <a:cs typeface="+mn-ea"/>
              </a:rPr>
              <a:t>合法变化序列</a:t>
            </a:r>
            <a:r>
              <a:rPr lang="zh-CN" altLang="zh-CN" sz="1200" dirty="0" smtClean="0">
                <a:latin typeface="+mn-ea"/>
                <a:ea typeface="+mn-ea"/>
                <a:cs typeface="+mn-ea"/>
              </a:rPr>
              <a:t>。所有</a:t>
            </a:r>
            <a:r>
              <a:rPr lang="zh-CN" altLang="zh-CN" sz="1200" dirty="0">
                <a:latin typeface="+mn-ea"/>
                <a:ea typeface="+mn-ea"/>
                <a:cs typeface="+mn-ea"/>
              </a:rPr>
              <a:t>对象都具有自己的生命周期（或称为运行周期）</a:t>
            </a:r>
            <a:r>
              <a:rPr lang="zh-CN" altLang="zh-CN" sz="1200" dirty="0" smtClean="0">
                <a:latin typeface="+mn-ea"/>
                <a:ea typeface="+mn-ea"/>
                <a:cs typeface="+mn-ea"/>
              </a:rPr>
              <a:t>，生命周期</a:t>
            </a:r>
            <a:r>
              <a:rPr lang="zh-CN" altLang="zh-CN" sz="1200" dirty="0">
                <a:latin typeface="+mn-ea"/>
                <a:ea typeface="+mn-ea"/>
                <a:cs typeface="+mn-ea"/>
              </a:rPr>
              <a:t>中的</a:t>
            </a:r>
            <a:r>
              <a:rPr lang="zh-CN" altLang="zh-CN" sz="1200" dirty="0" smtClean="0">
                <a:latin typeface="+mn-ea"/>
                <a:ea typeface="+mn-ea"/>
                <a:cs typeface="+mn-ea"/>
              </a:rPr>
              <a:t>阶段就是</a:t>
            </a:r>
            <a:r>
              <a:rPr lang="zh-CN" altLang="zh-CN" sz="1200" dirty="0">
                <a:latin typeface="+mn-ea"/>
                <a:ea typeface="+mn-ea"/>
                <a:cs typeface="+mn-ea"/>
              </a:rPr>
              <a:t>对象的状态</a:t>
            </a:r>
            <a:r>
              <a:rPr lang="zh-CN" altLang="zh-CN" sz="1200" dirty="0" smtClean="0">
                <a:latin typeface="+mn-ea"/>
                <a:ea typeface="+mn-ea"/>
                <a:cs typeface="+mn-ea"/>
              </a:rPr>
              <a:t>。</a:t>
            </a:r>
            <a:r>
              <a:rPr lang="zh-CN" altLang="zh-CN" sz="1200" b="1" dirty="0" smtClean="0">
                <a:solidFill>
                  <a:srgbClr val="FF0000"/>
                </a:solidFill>
                <a:latin typeface="+mn-ea"/>
                <a:ea typeface="+mn-ea"/>
                <a:cs typeface="+mn-ea"/>
              </a:rPr>
              <a:t>状态</a:t>
            </a:r>
            <a:r>
              <a:rPr lang="zh-CN" altLang="zh-CN" sz="1200" dirty="0" smtClean="0">
                <a:latin typeface="+mn-ea"/>
                <a:ea typeface="+mn-ea"/>
                <a:cs typeface="+mn-ea"/>
              </a:rPr>
              <a:t>是</a:t>
            </a:r>
            <a:r>
              <a:rPr lang="zh-CN" altLang="zh-CN" sz="1200" dirty="0">
                <a:latin typeface="+mn-ea"/>
                <a:ea typeface="+mn-ea"/>
                <a:cs typeface="+mn-ea"/>
              </a:rPr>
              <a:t>对对象属性值的一种抽象</a:t>
            </a:r>
            <a:r>
              <a:rPr lang="zh-CN" altLang="zh-CN" sz="1200" dirty="0" smtClean="0">
                <a:latin typeface="+mn-ea"/>
                <a:ea typeface="+mn-ea"/>
                <a:cs typeface="+mn-ea"/>
              </a:rPr>
              <a:t>。各</a:t>
            </a:r>
            <a:r>
              <a:rPr lang="zh-CN" altLang="zh-CN" sz="1200" dirty="0">
                <a:latin typeface="+mn-ea"/>
                <a:ea typeface="+mn-ea"/>
                <a:cs typeface="+mn-ea"/>
              </a:rPr>
              <a:t>对象之间相互触发（即作用）就形成了一系列的</a:t>
            </a:r>
            <a:r>
              <a:rPr lang="zh-CN" altLang="zh-CN" sz="1200" b="1" dirty="0">
                <a:solidFill>
                  <a:srgbClr val="FF0000"/>
                </a:solidFill>
                <a:latin typeface="+mn-ea"/>
                <a:ea typeface="+mn-ea"/>
                <a:cs typeface="+mn-ea"/>
              </a:rPr>
              <a:t>状态变化</a:t>
            </a:r>
            <a:r>
              <a:rPr lang="zh-CN" altLang="zh-CN" sz="1200" dirty="0">
                <a:latin typeface="+mn-ea"/>
                <a:ea typeface="+mn-ea"/>
                <a:cs typeface="+mn-ea"/>
              </a:rPr>
              <a:t>。</a:t>
            </a:r>
            <a:r>
              <a:rPr lang="zh-CN" altLang="zh-CN" sz="1200" b="1" dirty="0">
                <a:latin typeface="+mn-ea"/>
                <a:ea typeface="+mn-ea"/>
                <a:cs typeface="+mn-ea"/>
              </a:rPr>
              <a:t>人们把一个</a:t>
            </a:r>
            <a:r>
              <a:rPr lang="zh-CN" altLang="zh-CN" sz="1200" b="1" dirty="0">
                <a:solidFill>
                  <a:srgbClr val="FF0000"/>
                </a:solidFill>
                <a:latin typeface="+mn-ea"/>
                <a:ea typeface="+mn-ea"/>
                <a:cs typeface="+mn-ea"/>
              </a:rPr>
              <a:t>触发行为</a:t>
            </a:r>
            <a:r>
              <a:rPr lang="zh-CN" altLang="zh-CN" sz="1200" b="1" dirty="0">
                <a:latin typeface="+mn-ea"/>
                <a:ea typeface="+mn-ea"/>
                <a:cs typeface="+mn-ea"/>
              </a:rPr>
              <a:t>称作一个</a:t>
            </a:r>
            <a:r>
              <a:rPr lang="zh-CN" altLang="zh-CN" sz="1200" b="1" dirty="0">
                <a:solidFill>
                  <a:srgbClr val="FF0000"/>
                </a:solidFill>
                <a:latin typeface="+mn-ea"/>
                <a:ea typeface="+mn-ea"/>
                <a:cs typeface="+mn-ea"/>
              </a:rPr>
              <a:t>事件</a:t>
            </a:r>
            <a:r>
              <a:rPr lang="zh-CN" altLang="zh-CN" sz="1200" dirty="0">
                <a:latin typeface="+mn-ea"/>
                <a:ea typeface="+mn-ea"/>
                <a:cs typeface="+mn-ea"/>
              </a:rPr>
              <a:t>。对象对事件的响应，取决于接受该触发的对象当时所处的状态，响应包括改变自己的状态或者又形成一个新的触发行为</a:t>
            </a:r>
            <a:r>
              <a:rPr lang="zh-CN" altLang="zh-CN" sz="1200" dirty="0" smtClean="0">
                <a:latin typeface="+mn-ea"/>
                <a:ea typeface="+mn-ea"/>
                <a:cs typeface="+mn-ea"/>
              </a:rPr>
              <a:t>。</a:t>
            </a:r>
            <a:endParaRPr lang="zh-CN" altLang="zh-CN" sz="1200" dirty="0" smtClean="0">
              <a:latin typeface="+mn-ea"/>
              <a:ea typeface="+mn-ea"/>
              <a:cs typeface="+mn-ea"/>
            </a:endParaRPr>
          </a:p>
          <a:p>
            <a:pPr marL="0" indent="0" eaLnBrk="1" hangingPunct="1">
              <a:lnSpc>
                <a:spcPts val="3200"/>
              </a:lnSpc>
              <a:spcBef>
                <a:spcPts val="600"/>
              </a:spcBef>
              <a:spcAft>
                <a:spcPts val="600"/>
              </a:spcAft>
              <a:defRPr/>
            </a:pPr>
            <a:r>
              <a:rPr lang="zh-CN" altLang="zh-CN" sz="1200" dirty="0" smtClean="0">
                <a:latin typeface="Bodoni MT Black" panose="02070A03080606020203" pitchFamily="18" charset="0"/>
                <a:ea typeface="+mn-ea"/>
                <a:sym typeface="+mn-ea"/>
              </a:rPr>
              <a:t>通常</a:t>
            </a:r>
            <a:r>
              <a:rPr lang="zh-CN" altLang="zh-CN" sz="1200" dirty="0">
                <a:latin typeface="Bodoni MT Black" panose="02070A03080606020203" pitchFamily="18" charset="0"/>
                <a:ea typeface="+mn-ea"/>
                <a:sym typeface="+mn-ea"/>
              </a:rPr>
              <a:t>，</a:t>
            </a:r>
            <a:r>
              <a:rPr lang="zh-CN" altLang="zh-CN" sz="1200" b="1" dirty="0">
                <a:latin typeface="Bodoni MT Black" panose="02070A03080606020203" pitchFamily="18" charset="0"/>
                <a:ea typeface="+mn-ea"/>
                <a:sym typeface="+mn-ea"/>
              </a:rPr>
              <a:t>用</a:t>
            </a:r>
            <a:r>
              <a:rPr lang="en-US" altLang="zh-CN" sz="1200" b="1" dirty="0">
                <a:solidFill>
                  <a:srgbClr val="FF0000"/>
                </a:solidFill>
                <a:latin typeface="Bodoni MT Black" panose="02070A03080606020203" pitchFamily="18" charset="0"/>
                <a:ea typeface="+mn-ea"/>
                <a:sym typeface="+mn-ea"/>
              </a:rPr>
              <a:t>UML</a:t>
            </a:r>
            <a:r>
              <a:rPr lang="zh-CN" altLang="zh-CN" sz="1200" b="1" dirty="0">
                <a:latin typeface="Bodoni MT Black" panose="02070A03080606020203" pitchFamily="18" charset="0"/>
                <a:ea typeface="+mn-ea"/>
                <a:sym typeface="+mn-ea"/>
              </a:rPr>
              <a:t>提供的</a:t>
            </a:r>
            <a:r>
              <a:rPr lang="zh-CN" altLang="zh-CN" sz="1200" b="1" dirty="0">
                <a:solidFill>
                  <a:srgbClr val="FF0000"/>
                </a:solidFill>
                <a:latin typeface="Bodoni MT Black" panose="02070A03080606020203" pitchFamily="18" charset="0"/>
                <a:ea typeface="+mn-ea"/>
                <a:sym typeface="+mn-ea"/>
              </a:rPr>
              <a:t>状态图</a:t>
            </a:r>
            <a:r>
              <a:rPr lang="zh-CN" altLang="zh-CN" sz="1200" b="1" dirty="0">
                <a:latin typeface="Bodoni MT Black" panose="02070A03080606020203" pitchFamily="18" charset="0"/>
                <a:ea typeface="+mn-ea"/>
                <a:sym typeface="+mn-ea"/>
              </a:rPr>
              <a:t>来描绘对象的状态、触发状态转换的事件以及对象的行为（对事件的响应）。</a:t>
            </a:r>
            <a:r>
              <a:rPr lang="zh-CN" altLang="zh-CN" sz="1200" dirty="0" smtClean="0">
                <a:latin typeface="Bodoni MT Black" panose="02070A03080606020203" pitchFamily="18" charset="0"/>
                <a:ea typeface="+mn-ea"/>
                <a:sym typeface="+mn-ea"/>
              </a:rPr>
              <a:t>每个</a:t>
            </a:r>
            <a:r>
              <a:rPr lang="zh-CN" altLang="zh-CN" sz="1200" dirty="0">
                <a:latin typeface="Bodoni MT Black" panose="02070A03080606020203" pitchFamily="18" charset="0"/>
                <a:ea typeface="+mn-ea"/>
                <a:sym typeface="+mn-ea"/>
              </a:rPr>
              <a:t>类的动态行为用一张状态图来描绘，各个类的状态图通过共享事件合并起来，从而构成系统的动态模型。也就是说，</a:t>
            </a:r>
            <a:r>
              <a:rPr lang="zh-CN" altLang="zh-CN" sz="1200" b="1" dirty="0">
                <a:solidFill>
                  <a:srgbClr val="FF0000"/>
                </a:solidFill>
                <a:latin typeface="Bodoni MT Black" panose="02070A03080606020203" pitchFamily="18" charset="0"/>
                <a:ea typeface="+mn-ea"/>
                <a:sym typeface="+mn-ea"/>
              </a:rPr>
              <a:t>动态模型是基于事件共享而互相关联的一组状态图的集合。</a:t>
            </a:r>
            <a:endParaRPr lang="zh-CN" altLang="zh-CN" sz="1200" b="1" dirty="0">
              <a:solidFill>
                <a:srgbClr val="FF0000"/>
              </a:solidFill>
              <a:latin typeface="Bodoni MT Black" panose="02070A03080606020203" pitchFamily="18" charset="0"/>
              <a:ea typeface="+mn-ea"/>
            </a:endParaRPr>
          </a:p>
          <a:p>
            <a:pPr marL="0" indent="0" eaLnBrk="1" hangingPunct="1">
              <a:lnSpc>
                <a:spcPts val="3200"/>
              </a:lnSpc>
              <a:spcBef>
                <a:spcPts val="600"/>
              </a:spcBef>
              <a:spcAft>
                <a:spcPts val="600"/>
              </a:spcAft>
              <a:defRPr/>
            </a:pPr>
            <a:endParaRPr lang="zh-CN" altLang="zh-CN" sz="1200" b="1" dirty="0">
              <a:latin typeface="+mn-ea"/>
              <a:ea typeface="+mn-ea"/>
              <a:cs typeface="+mn-ea"/>
            </a:endParaRPr>
          </a:p>
        </p:txBody>
      </p:sp>
      <p:grpSp>
        <p:nvGrpSpPr>
          <p:cNvPr id="28" name="组合 27"/>
          <p:cNvGrpSpPr/>
          <p:nvPr>
            <p:custDataLst>
              <p:tags r:id="rId12"/>
            </p:custDataLst>
          </p:nvPr>
        </p:nvGrpSpPr>
        <p:grpSpPr>
          <a:xfrm>
            <a:off x="17145" y="440690"/>
            <a:ext cx="12185015" cy="6427470"/>
            <a:chOff x="27" y="694"/>
            <a:chExt cx="19189" cy="10122"/>
          </a:xfrm>
        </p:grpSpPr>
        <p:grpSp>
          <p:nvGrpSpPr>
            <p:cNvPr id="12" name="组合 11"/>
            <p:cNvGrpSpPr/>
            <p:nvPr/>
          </p:nvGrpSpPr>
          <p:grpSpPr>
            <a:xfrm rot="0">
              <a:off x="27" y="710"/>
              <a:ext cx="9363" cy="10106"/>
              <a:chOff x="9455" y="695"/>
              <a:chExt cx="9632" cy="10106"/>
            </a:xfrm>
          </p:grpSpPr>
          <p:pic>
            <p:nvPicPr>
              <p:cNvPr id="3" name="图片 2"/>
              <p:cNvPicPr>
                <a:picLocks noChangeAspect="1"/>
              </p:cNvPicPr>
              <p:nvPr>
                <p:custDataLst>
                  <p:tags r:id="rId13"/>
                </p:custDataLst>
              </p:nvPr>
            </p:nvPicPr>
            <p:blipFill>
              <a:blip r:embed="rId14"/>
              <a:srcRect l="5649" r="3407"/>
              <a:stretch>
                <a:fillRect/>
              </a:stretch>
            </p:blipFill>
            <p:spPr>
              <a:xfrm>
                <a:off x="9455" y="695"/>
                <a:ext cx="5022" cy="10106"/>
              </a:xfrm>
              <a:prstGeom prst="rect">
                <a:avLst/>
              </a:prstGeom>
              <a:ln>
                <a:solidFill>
                  <a:schemeClr val="accent1"/>
                </a:solidFill>
              </a:ln>
            </p:spPr>
          </p:pic>
          <p:pic>
            <p:nvPicPr>
              <p:cNvPr id="5" name="图片 4"/>
              <p:cNvPicPr>
                <a:picLocks noChangeAspect="1"/>
              </p:cNvPicPr>
              <p:nvPr>
                <p:custDataLst>
                  <p:tags r:id="rId15"/>
                </p:custDataLst>
              </p:nvPr>
            </p:nvPicPr>
            <p:blipFill>
              <a:blip r:embed="rId16"/>
              <a:stretch>
                <a:fillRect/>
              </a:stretch>
            </p:blipFill>
            <p:spPr>
              <a:xfrm>
                <a:off x="14481" y="695"/>
                <a:ext cx="4606" cy="10106"/>
              </a:xfrm>
              <a:prstGeom prst="rect">
                <a:avLst/>
              </a:prstGeom>
              <a:ln>
                <a:solidFill>
                  <a:schemeClr val="accent1"/>
                </a:solidFill>
              </a:ln>
            </p:spPr>
          </p:pic>
        </p:grpSp>
        <p:sp>
          <p:nvSpPr>
            <p:cNvPr id="16" name="文本框 15"/>
            <p:cNvSpPr txBox="1"/>
            <p:nvPr>
              <p:custDataLst>
                <p:tags r:id="rId17"/>
              </p:custDataLst>
            </p:nvPr>
          </p:nvSpPr>
          <p:spPr>
            <a:xfrm>
              <a:off x="3180" y="1619"/>
              <a:ext cx="1251" cy="483"/>
            </a:xfrm>
            <a:prstGeom prst="rect">
              <a:avLst/>
            </a:prstGeom>
            <a:noFill/>
          </p:spPr>
          <p:txBody>
            <a:bodyPr wrap="square" rtlCol="0">
              <a:spAutoFit/>
            </a:bodyPr>
            <a:p>
              <a:r>
                <a:rPr lang="zh-CN" altLang="en-US" sz="1400" b="1">
                  <a:solidFill>
                    <a:srgbClr val="FF0000"/>
                  </a:solidFill>
                </a:rPr>
                <a:t>状态图</a:t>
              </a:r>
              <a:endParaRPr lang="zh-CN" altLang="en-US" sz="1400" b="1">
                <a:solidFill>
                  <a:srgbClr val="FF0000"/>
                </a:solidFill>
              </a:endParaRPr>
            </a:p>
          </p:txBody>
        </p:sp>
        <p:pic>
          <p:nvPicPr>
            <p:cNvPr id="24" name="图片 23"/>
            <p:cNvPicPr>
              <a:picLocks noChangeAspect="1"/>
            </p:cNvPicPr>
            <p:nvPr>
              <p:custDataLst>
                <p:tags r:id="rId18"/>
              </p:custDataLst>
            </p:nvPr>
          </p:nvPicPr>
          <p:blipFill>
            <a:blip r:embed="rId19"/>
            <a:stretch>
              <a:fillRect/>
            </a:stretch>
          </p:blipFill>
          <p:spPr>
            <a:xfrm>
              <a:off x="9399" y="710"/>
              <a:ext cx="5061" cy="10106"/>
            </a:xfrm>
            <a:prstGeom prst="rect">
              <a:avLst/>
            </a:prstGeom>
            <a:ln>
              <a:solidFill>
                <a:schemeClr val="accent1"/>
              </a:solidFill>
            </a:ln>
          </p:spPr>
        </p:pic>
        <p:pic>
          <p:nvPicPr>
            <p:cNvPr id="26" name="图片 25"/>
            <p:cNvPicPr>
              <a:picLocks noChangeAspect="1"/>
            </p:cNvPicPr>
            <p:nvPr>
              <p:custDataLst>
                <p:tags r:id="rId20"/>
              </p:custDataLst>
            </p:nvPr>
          </p:nvPicPr>
          <p:blipFill>
            <a:blip r:embed="rId21"/>
            <a:srcRect l="5752"/>
            <a:stretch>
              <a:fillRect/>
            </a:stretch>
          </p:blipFill>
          <p:spPr>
            <a:xfrm>
              <a:off x="14460" y="694"/>
              <a:ext cx="4757" cy="10121"/>
            </a:xfrm>
            <a:prstGeom prst="rect">
              <a:avLst/>
            </a:prstGeom>
            <a:ln>
              <a:solidFill>
                <a:schemeClr val="accent1"/>
              </a:solidFill>
            </a:ln>
          </p:spPr>
        </p:pic>
      </p:grpSp>
    </p:spTree>
    <p:custDataLst>
      <p:tags r:id="rId2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6142990"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grpSp>
        <p:nvGrpSpPr>
          <p:cNvPr id="9" name="组合 8"/>
          <p:cNvGrpSpPr/>
          <p:nvPr/>
        </p:nvGrpSpPr>
        <p:grpSpPr>
          <a:xfrm>
            <a:off x="6190615" y="333375"/>
            <a:ext cx="5883910" cy="6163310"/>
            <a:chOff x="9749" y="525"/>
            <a:chExt cx="9266" cy="9706"/>
          </a:xfrm>
        </p:grpSpPr>
        <p:pic>
          <p:nvPicPr>
            <p:cNvPr id="6" name="图片 5"/>
            <p:cNvPicPr>
              <a:picLocks noChangeAspect="1"/>
            </p:cNvPicPr>
            <p:nvPr/>
          </p:nvPicPr>
          <p:blipFill>
            <a:blip r:embed="rId1"/>
            <a:stretch>
              <a:fillRect/>
            </a:stretch>
          </p:blipFill>
          <p:spPr>
            <a:xfrm>
              <a:off x="9749" y="525"/>
              <a:ext cx="9266" cy="9706"/>
            </a:xfrm>
            <a:prstGeom prst="rect">
              <a:avLst/>
            </a:prstGeom>
            <a:ln>
              <a:solidFill>
                <a:schemeClr val="accent1"/>
              </a:solidFill>
            </a:ln>
          </p:spPr>
        </p:pic>
        <p:sp>
          <p:nvSpPr>
            <p:cNvPr id="7" name="文本框 6"/>
            <p:cNvSpPr txBox="1"/>
            <p:nvPr>
              <p:custDataLst>
                <p:tags r:id="rId2"/>
              </p:custDataLst>
            </p:nvPr>
          </p:nvSpPr>
          <p:spPr>
            <a:xfrm>
              <a:off x="10016" y="792"/>
              <a:ext cx="1251" cy="483"/>
            </a:xfrm>
            <a:prstGeom prst="rect">
              <a:avLst/>
            </a:prstGeom>
            <a:noFill/>
          </p:spPr>
          <p:txBody>
            <a:bodyPr wrap="square" rtlCol="0">
              <a:spAutoFit/>
            </a:bodyPr>
            <a:p>
              <a:r>
                <a:rPr lang="zh-CN" altLang="en-US" sz="1400" b="1">
                  <a:solidFill>
                    <a:srgbClr val="FF0000"/>
                  </a:solidFill>
                </a:rPr>
                <a:t>活动图</a:t>
              </a:r>
              <a:endParaRPr lang="zh-CN" altLang="en-US" sz="1400" b="1">
                <a:solidFill>
                  <a:srgbClr val="FF0000"/>
                </a:solidFill>
              </a:endParaRPr>
            </a:p>
          </p:txBody>
        </p:sp>
      </p:grpSp>
      <p:grpSp>
        <p:nvGrpSpPr>
          <p:cNvPr id="12" name="组合 11"/>
          <p:cNvGrpSpPr/>
          <p:nvPr/>
        </p:nvGrpSpPr>
        <p:grpSpPr>
          <a:xfrm>
            <a:off x="0" y="230505"/>
            <a:ext cx="6133465" cy="6465570"/>
            <a:chOff x="0" y="363"/>
            <a:chExt cx="9659" cy="10182"/>
          </a:xfrm>
        </p:grpSpPr>
        <p:grpSp>
          <p:nvGrpSpPr>
            <p:cNvPr id="8" name="组合 7"/>
            <p:cNvGrpSpPr/>
            <p:nvPr/>
          </p:nvGrpSpPr>
          <p:grpSpPr>
            <a:xfrm>
              <a:off x="0" y="885"/>
              <a:ext cx="9600" cy="9660"/>
              <a:chOff x="0" y="570"/>
              <a:chExt cx="9600" cy="9660"/>
            </a:xfrm>
          </p:grpSpPr>
          <p:pic>
            <p:nvPicPr>
              <p:cNvPr id="14" name="图片 13"/>
              <p:cNvPicPr>
                <a:picLocks noChangeAspect="1"/>
              </p:cNvPicPr>
              <p:nvPr>
                <p:custDataLst>
                  <p:tags r:id="rId3"/>
                </p:custDataLst>
              </p:nvPr>
            </p:nvPicPr>
            <p:blipFill>
              <a:blip r:embed="rId4"/>
              <a:srcRect r="1933"/>
              <a:stretch>
                <a:fillRect/>
              </a:stretch>
            </p:blipFill>
            <p:spPr>
              <a:xfrm>
                <a:off x="0" y="570"/>
                <a:ext cx="9600" cy="9660"/>
              </a:xfrm>
              <a:prstGeom prst="rect">
                <a:avLst/>
              </a:prstGeom>
              <a:ln>
                <a:solidFill>
                  <a:schemeClr val="accent1"/>
                </a:solidFill>
              </a:ln>
            </p:spPr>
          </p:pic>
          <p:sp>
            <p:nvSpPr>
              <p:cNvPr id="17" name="文本框 16"/>
              <p:cNvSpPr txBox="1"/>
              <p:nvPr>
                <p:custDataLst>
                  <p:tags r:id="rId5"/>
                </p:custDataLst>
              </p:nvPr>
            </p:nvSpPr>
            <p:spPr>
              <a:xfrm>
                <a:off x="296" y="1587"/>
                <a:ext cx="1251" cy="483"/>
              </a:xfrm>
              <a:prstGeom prst="rect">
                <a:avLst/>
              </a:prstGeom>
              <a:noFill/>
            </p:spPr>
            <p:txBody>
              <a:bodyPr wrap="square" rtlCol="0">
                <a:spAutoFit/>
              </a:bodyPr>
              <a:p>
                <a:r>
                  <a:rPr lang="zh-CN" altLang="en-US" sz="1400" b="1">
                    <a:solidFill>
                      <a:srgbClr val="FF0000"/>
                    </a:solidFill>
                  </a:rPr>
                  <a:t>顺序图</a:t>
                </a:r>
                <a:endParaRPr lang="zh-CN" altLang="en-US" sz="1400" b="1">
                  <a:solidFill>
                    <a:srgbClr val="FF0000"/>
                  </a:solidFill>
                </a:endParaRPr>
              </a:p>
            </p:txBody>
          </p:sp>
        </p:grpSp>
        <p:pic>
          <p:nvPicPr>
            <p:cNvPr id="10" name="图片 9"/>
            <p:cNvPicPr>
              <a:picLocks noChangeAspect="1"/>
            </p:cNvPicPr>
            <p:nvPr/>
          </p:nvPicPr>
          <p:blipFill>
            <a:blip r:embed="rId6"/>
            <a:stretch>
              <a:fillRect/>
            </a:stretch>
          </p:blipFill>
          <p:spPr>
            <a:xfrm>
              <a:off x="37" y="363"/>
              <a:ext cx="9622" cy="559"/>
            </a:xfrm>
            <a:prstGeom prst="rect">
              <a:avLst/>
            </a:prstGeom>
          </p:spPr>
        </p:pic>
      </p:grpSp>
    </p:spTree>
    <p:custDataLst>
      <p:tags r:id="rId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文本框 14"/>
          <p:cNvSpPr txBox="1"/>
          <p:nvPr/>
        </p:nvSpPr>
        <p:spPr>
          <a:xfrm>
            <a:off x="190500" y="5542915"/>
            <a:ext cx="1082675" cy="942975"/>
          </a:xfrm>
          <a:prstGeom prst="rect">
            <a:avLst/>
          </a:prstGeom>
          <a:solidFill>
            <a:schemeClr val="bg2"/>
          </a:solidFill>
        </p:spPr>
        <p:txBody>
          <a:bodyPr wrap="square" rtlCol="0">
            <a:noAutofit/>
          </a:bodyPr>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83605" cy="451485"/>
          </a:xfrm>
          <a:prstGeom prst="rect">
            <a:avLst/>
          </a:prstGeom>
          <a:solidFill>
            <a:schemeClr val="accent1"/>
          </a:solidFill>
        </p:spPr>
        <p:txBody>
          <a:bodyPr wrap="square" rtlCol="0" anchor="ctr" anchorCtr="0">
            <a:noAutofit/>
          </a:bodyPr>
          <a:p>
            <a:r>
              <a:rPr lang="en-US" altLang="zh-CN" b="1">
                <a:solidFill>
                  <a:schemeClr val="bg2"/>
                </a:solidFill>
              </a:rPr>
              <a:t> </a:t>
            </a:r>
            <a:r>
              <a:rPr lang="zh-CN" altLang="en-US" b="1">
                <a:solidFill>
                  <a:schemeClr val="bg2"/>
                </a:solidFill>
              </a:rPr>
              <a:t>功能模型</a:t>
            </a:r>
            <a:endParaRPr lang="zh-CN" altLang="en-US" b="1">
              <a:solidFill>
                <a:schemeClr val="bg2"/>
              </a:solidFill>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p>
            <a:r>
              <a:rPr lang="zh-CN" b="1">
                <a:solidFill>
                  <a:schemeClr val="bg2"/>
                </a:solidFill>
              </a:rPr>
              <a:t>功能模型</a:t>
            </a:r>
            <a:endParaRPr lang="zh-CN" b="1">
              <a:solidFill>
                <a:schemeClr val="bg2"/>
              </a:solidFill>
            </a:endParaRPr>
          </a:p>
        </p:txBody>
      </p:sp>
      <p:sp>
        <p:nvSpPr>
          <p:cNvPr id="18" name="文本框 17"/>
          <p:cNvSpPr txBox="1"/>
          <p:nvPr/>
        </p:nvSpPr>
        <p:spPr>
          <a:xfrm>
            <a:off x="10948670" y="441325"/>
            <a:ext cx="1082675" cy="942975"/>
          </a:xfrm>
          <a:prstGeom prst="rect">
            <a:avLst/>
          </a:prstGeom>
          <a:solidFill>
            <a:schemeClr val="bg2"/>
          </a:solidFill>
        </p:spPr>
        <p:txBody>
          <a:bodyPr wrap="square" rtlCol="0">
            <a:noAutofit/>
          </a:bodyPr>
          <a:p>
            <a:endParaRPr lang="zh-CN" altLang="en-US"/>
          </a:p>
        </p:txBody>
      </p:sp>
      <p:sp>
        <p:nvSpPr>
          <p:cNvPr id="3" name="TextBox 7"/>
          <p:cNvSpPr txBox="1">
            <a:spLocks noChangeArrowheads="1"/>
          </p:cNvSpPr>
          <p:nvPr/>
        </p:nvSpPr>
        <p:spPr bwMode="auto">
          <a:xfrm>
            <a:off x="24130" y="450850"/>
            <a:ext cx="5932170" cy="1390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ts val="3200"/>
              </a:lnSpc>
              <a:spcBef>
                <a:spcPts val="600"/>
              </a:spcBef>
              <a:spcAft>
                <a:spcPts val="600"/>
              </a:spcAft>
              <a:buClrTx/>
              <a:buSzTx/>
              <a:buFontTx/>
              <a:defRPr/>
            </a:pPr>
            <a:r>
              <a:rPr lang="zh-CN" altLang="zh-CN" sz="1400" b="1" dirty="0" smtClean="0">
                <a:solidFill>
                  <a:srgbClr val="FF0000"/>
                </a:solidFill>
                <a:highlight>
                  <a:srgbClr val="FFFF00"/>
                </a:highlight>
                <a:latin typeface="+mn-ea"/>
                <a:ea typeface="+mn-ea"/>
                <a:cs typeface="+mn-ea"/>
              </a:rPr>
              <a:t>功能模型</a:t>
            </a:r>
            <a:r>
              <a:rPr lang="zh-CN" altLang="zh-CN" sz="1400" b="1" dirty="0">
                <a:latin typeface="+mn-ea"/>
                <a:ea typeface="+mn-ea"/>
                <a:cs typeface="+mn-ea"/>
                <a:sym typeface="+mn-ea"/>
              </a:rPr>
              <a:t>表示变化的系统的“功能”性质，它指明系统应该“做什么”，因此更直接地反映了用户对目标系统的需求。功能模型可以用</a:t>
            </a:r>
            <a:r>
              <a:rPr lang="zh-CN" altLang="zh-CN" sz="1400" b="1" dirty="0">
                <a:solidFill>
                  <a:srgbClr val="00B0F0"/>
                </a:solidFill>
                <a:latin typeface="+mn-ea"/>
                <a:ea typeface="+mn-ea"/>
                <a:cs typeface="+mn-ea"/>
                <a:sym typeface="+mn-ea"/>
              </a:rPr>
              <a:t>数据流图</a:t>
            </a:r>
            <a:r>
              <a:rPr lang="zh-CN" altLang="zh-CN" sz="1400" b="1" dirty="0">
                <a:latin typeface="+mn-ea"/>
                <a:ea typeface="+mn-ea"/>
                <a:cs typeface="+mn-ea"/>
                <a:sym typeface="+mn-ea"/>
              </a:rPr>
              <a:t>、</a:t>
            </a:r>
            <a:r>
              <a:rPr lang="zh-CN" altLang="zh-CN" sz="1400" b="1" dirty="0">
                <a:solidFill>
                  <a:srgbClr val="00B0F0"/>
                </a:solidFill>
                <a:latin typeface="+mn-ea"/>
                <a:ea typeface="+mn-ea"/>
                <a:cs typeface="+mn-ea"/>
                <a:sym typeface="+mn-ea"/>
              </a:rPr>
              <a:t>用例图</a:t>
            </a:r>
            <a:r>
              <a:rPr lang="zh-CN" altLang="zh-CN" sz="1400" b="1" dirty="0">
                <a:latin typeface="+mn-ea"/>
                <a:ea typeface="+mn-ea"/>
                <a:cs typeface="+mn-ea"/>
                <a:sym typeface="+mn-ea"/>
              </a:rPr>
              <a:t>和</a:t>
            </a:r>
            <a:r>
              <a:rPr lang="zh-CN" altLang="zh-CN" sz="1400" b="1" dirty="0">
                <a:solidFill>
                  <a:srgbClr val="00B0F0"/>
                </a:solidFill>
                <a:latin typeface="+mn-ea"/>
                <a:ea typeface="+mn-ea"/>
                <a:cs typeface="+mn-ea"/>
                <a:sym typeface="+mn-ea"/>
              </a:rPr>
              <a:t>活动图</a:t>
            </a:r>
            <a:r>
              <a:rPr lang="zh-CN" altLang="zh-CN" sz="1400" b="1" dirty="0">
                <a:latin typeface="+mn-ea"/>
                <a:ea typeface="+mn-ea"/>
                <a:cs typeface="+mn-ea"/>
                <a:sym typeface="+mn-ea"/>
              </a:rPr>
              <a:t>来表示。</a:t>
            </a:r>
            <a:endParaRPr lang="zh-CN" altLang="zh-CN" sz="1400" dirty="0">
              <a:latin typeface="+mn-ea"/>
              <a:ea typeface="+mn-ea"/>
              <a:cs typeface="+mn-ea"/>
              <a:sym typeface="+mn-ea"/>
            </a:endParaRPr>
          </a:p>
          <a:p>
            <a:pPr marL="0" indent="0">
              <a:lnSpc>
                <a:spcPts val="3200"/>
              </a:lnSpc>
              <a:defRPr/>
            </a:pPr>
            <a:endParaRPr lang="en-US" altLang="zh-CN" sz="1400" dirty="0" smtClean="0">
              <a:latin typeface="+mn-ea"/>
              <a:ea typeface="+mn-ea"/>
              <a:cs typeface="+mn-ea"/>
              <a:sym typeface="+mn-ea"/>
            </a:endParaRPr>
          </a:p>
          <a:p>
            <a:pPr marL="0" indent="0">
              <a:lnSpc>
                <a:spcPts val="3200"/>
              </a:lnSpc>
              <a:defRPr/>
            </a:pPr>
            <a:endParaRPr lang="en-US" altLang="zh-CN" sz="1400" dirty="0" smtClean="0">
              <a:latin typeface="+mn-ea"/>
              <a:ea typeface="+mn-ea"/>
              <a:cs typeface="+mn-ea"/>
              <a:sym typeface="+mn-ea"/>
            </a:endParaRPr>
          </a:p>
          <a:p>
            <a:pPr marL="0" indent="0">
              <a:lnSpc>
                <a:spcPts val="3200"/>
              </a:lnSpc>
              <a:defRPr/>
            </a:pPr>
            <a:endParaRPr lang="en-US" altLang="zh-CN" sz="1400" dirty="0" smtClean="0">
              <a:latin typeface="+mn-ea"/>
              <a:ea typeface="+mn-ea"/>
              <a:cs typeface="+mn-ea"/>
              <a:sym typeface="+mn-ea"/>
            </a:endParaRPr>
          </a:p>
          <a:p>
            <a:pPr marL="0" indent="0" eaLnBrk="1" hangingPunct="1">
              <a:lnSpc>
                <a:spcPts val="3200"/>
              </a:lnSpc>
              <a:spcBef>
                <a:spcPts val="600"/>
              </a:spcBef>
              <a:spcAft>
                <a:spcPts val="600"/>
              </a:spcAft>
              <a:defRPr/>
            </a:pPr>
            <a:endParaRPr lang="zh-CN" altLang="zh-CN" sz="1400" dirty="0">
              <a:latin typeface="+mn-ea"/>
              <a:ea typeface="+mn-ea"/>
              <a:cs typeface="+mn-ea"/>
            </a:endParaRPr>
          </a:p>
        </p:txBody>
      </p:sp>
      <p:sp>
        <p:nvSpPr>
          <p:cNvPr id="5" name="文本框 4"/>
          <p:cNvSpPr txBox="1"/>
          <p:nvPr/>
        </p:nvSpPr>
        <p:spPr>
          <a:xfrm>
            <a:off x="107315" y="1712595"/>
            <a:ext cx="5848350" cy="1184275"/>
          </a:xfrm>
          <a:prstGeom prst="rect">
            <a:avLst/>
          </a:prstGeom>
          <a:noFill/>
        </p:spPr>
        <p:txBody>
          <a:bodyPr wrap="square" rtlCol="0">
            <a:noAutofit/>
          </a:bodyPr>
          <a:p>
            <a:pPr marL="228600" indent="-228600">
              <a:lnSpc>
                <a:spcPct val="190000"/>
              </a:lnSpc>
              <a:buFont typeface="+mj-ea"/>
              <a:buAutoNum type="circleNumDbPlain"/>
            </a:pPr>
            <a:r>
              <a:rPr lang="zh-CN" altLang="en-US" sz="1200" b="1">
                <a:solidFill>
                  <a:srgbClr val="FF0000"/>
                </a:solidFill>
                <a:latin typeface="+mn-ea"/>
                <a:cs typeface="+mn-ea"/>
              </a:rPr>
              <a:t>用例图：</a:t>
            </a:r>
            <a:r>
              <a:rPr lang="en-US" altLang="zh-CN" sz="1200" b="1" dirty="0" smtClean="0">
                <a:solidFill>
                  <a:srgbClr val="FF0000"/>
                </a:solidFill>
                <a:latin typeface="+mn-ea"/>
                <a:cs typeface="+mn-ea"/>
                <a:sym typeface="+mn-ea"/>
              </a:rPr>
              <a:t>UML</a:t>
            </a:r>
            <a:r>
              <a:rPr lang="zh-CN" altLang="zh-CN" sz="1200" dirty="0">
                <a:latin typeface="+mn-ea"/>
                <a:cs typeface="+mn-ea"/>
                <a:sym typeface="+mn-ea"/>
              </a:rPr>
              <a:t>提供的</a:t>
            </a:r>
            <a:r>
              <a:rPr lang="zh-CN" altLang="zh-CN" sz="1200" b="1" dirty="0">
                <a:solidFill>
                  <a:srgbClr val="FF0000"/>
                </a:solidFill>
                <a:latin typeface="+mn-ea"/>
                <a:cs typeface="+mn-ea"/>
                <a:sym typeface="+mn-ea"/>
              </a:rPr>
              <a:t>用</a:t>
            </a:r>
            <a:r>
              <a:rPr lang="zh-CN" altLang="zh-CN" sz="1200" b="1" dirty="0" smtClean="0">
                <a:solidFill>
                  <a:srgbClr val="FF0000"/>
                </a:solidFill>
                <a:latin typeface="+mn-ea"/>
                <a:cs typeface="+mn-ea"/>
                <a:sym typeface="+mn-ea"/>
              </a:rPr>
              <a:t>例图</a:t>
            </a:r>
            <a:r>
              <a:rPr lang="zh-CN" altLang="zh-CN" sz="1200" dirty="0" smtClean="0">
                <a:latin typeface="+mn-ea"/>
                <a:cs typeface="+mn-ea"/>
                <a:sym typeface="+mn-ea"/>
              </a:rPr>
              <a:t>是</a:t>
            </a:r>
            <a:r>
              <a:rPr lang="zh-CN" altLang="zh-CN" sz="1200" dirty="0">
                <a:latin typeface="+mn-ea"/>
                <a:cs typeface="+mn-ea"/>
                <a:sym typeface="+mn-ea"/>
              </a:rPr>
              <a:t>进行需求分析和建立功能模型的强有力工具</a:t>
            </a:r>
            <a:r>
              <a:rPr lang="zh-CN" altLang="zh-CN" sz="1200" dirty="0" smtClean="0">
                <a:latin typeface="+mn-ea"/>
                <a:cs typeface="+mn-ea"/>
                <a:sym typeface="+mn-ea"/>
              </a:rPr>
              <a:t>。把</a:t>
            </a:r>
            <a:r>
              <a:rPr lang="zh-CN" altLang="zh-CN" sz="1200" dirty="0">
                <a:latin typeface="+mn-ea"/>
                <a:cs typeface="+mn-ea"/>
                <a:sym typeface="+mn-ea"/>
              </a:rPr>
              <a:t>用用例图建立起来的系统模型称为</a:t>
            </a:r>
            <a:r>
              <a:rPr lang="zh-CN" altLang="zh-CN" sz="1200" b="1" dirty="0">
                <a:solidFill>
                  <a:srgbClr val="FF0000"/>
                </a:solidFill>
                <a:latin typeface="+mn-ea"/>
                <a:cs typeface="+mn-ea"/>
                <a:sym typeface="+mn-ea"/>
              </a:rPr>
              <a:t>用例模型</a:t>
            </a:r>
            <a:r>
              <a:rPr lang="zh-CN" altLang="zh-CN" sz="1200" dirty="0" smtClean="0">
                <a:latin typeface="+mn-ea"/>
                <a:cs typeface="+mn-ea"/>
                <a:sym typeface="+mn-ea"/>
              </a:rPr>
              <a:t>。</a:t>
            </a:r>
            <a:r>
              <a:rPr lang="zh-CN" altLang="zh-CN" sz="1200" b="1" dirty="0" smtClean="0">
                <a:solidFill>
                  <a:srgbClr val="FF0000"/>
                </a:solidFill>
                <a:latin typeface="Bodoni MT Black" panose="02070A03080606020203" pitchFamily="18" charset="0"/>
                <a:sym typeface="+mn-ea"/>
              </a:rPr>
              <a:t>用例</a:t>
            </a:r>
            <a:r>
              <a:rPr lang="zh-CN" altLang="zh-CN" sz="1200" b="1" dirty="0">
                <a:solidFill>
                  <a:srgbClr val="FF0000"/>
                </a:solidFill>
                <a:latin typeface="Bodoni MT Black" panose="02070A03080606020203" pitchFamily="18" charset="0"/>
                <a:sym typeface="+mn-ea"/>
              </a:rPr>
              <a:t>模型</a:t>
            </a:r>
            <a:r>
              <a:rPr lang="zh-CN" altLang="zh-CN" sz="1200" dirty="0">
                <a:latin typeface="Bodoni MT Black" panose="02070A03080606020203" pitchFamily="18" charset="0"/>
                <a:sym typeface="+mn-ea"/>
              </a:rPr>
              <a:t>描述的是</a:t>
            </a:r>
            <a:r>
              <a:rPr lang="zh-CN" altLang="zh-CN" sz="1200" b="1" dirty="0">
                <a:solidFill>
                  <a:srgbClr val="00B0F0"/>
                </a:solidFill>
                <a:latin typeface="Bodoni MT Black" panose="02070A03080606020203" pitchFamily="18" charset="0"/>
                <a:sym typeface="+mn-ea"/>
              </a:rPr>
              <a:t>外部行为</a:t>
            </a:r>
            <a:r>
              <a:rPr lang="zh-CN" altLang="zh-CN" sz="1200" b="1" dirty="0" smtClean="0">
                <a:solidFill>
                  <a:srgbClr val="00B0F0"/>
                </a:solidFill>
                <a:latin typeface="Bodoni MT Black" panose="02070A03080606020203" pitchFamily="18" charset="0"/>
                <a:sym typeface="+mn-ea"/>
              </a:rPr>
              <a:t>者</a:t>
            </a:r>
            <a:r>
              <a:rPr lang="zh-CN" altLang="en-US" sz="1200" b="1" dirty="0" smtClean="0">
                <a:solidFill>
                  <a:srgbClr val="00B0F0"/>
                </a:solidFill>
                <a:latin typeface="Bodoni MT Black" panose="02070A03080606020203" pitchFamily="18" charset="0"/>
                <a:sym typeface="+mn-ea"/>
              </a:rPr>
              <a:t>（</a:t>
            </a:r>
            <a:r>
              <a:rPr lang="en-US" altLang="zh-CN" sz="1200" b="1" dirty="0" smtClean="0">
                <a:solidFill>
                  <a:srgbClr val="00B0F0"/>
                </a:solidFill>
                <a:latin typeface="Bodoni MT Black" panose="02070A03080606020203" pitchFamily="18" charset="0"/>
                <a:sym typeface="+mn-ea"/>
              </a:rPr>
              <a:t>actor</a:t>
            </a:r>
            <a:r>
              <a:rPr lang="zh-CN" altLang="zh-CN" sz="1200" b="1" dirty="0">
                <a:solidFill>
                  <a:srgbClr val="00B0F0"/>
                </a:solidFill>
                <a:latin typeface="Bodoni MT Black" panose="02070A03080606020203" pitchFamily="18" charset="0"/>
                <a:sym typeface="+mn-ea"/>
              </a:rPr>
              <a:t>）所理解的系统功能</a:t>
            </a:r>
            <a:r>
              <a:rPr lang="zh-CN" altLang="zh-CN" sz="1200" dirty="0">
                <a:latin typeface="Bodoni MT Black" panose="02070A03080606020203" pitchFamily="18" charset="0"/>
                <a:sym typeface="+mn-ea"/>
              </a:rPr>
              <a:t>。</a:t>
            </a:r>
            <a:endParaRPr lang="en-US" altLang="zh-CN" sz="1200" dirty="0" smtClean="0">
              <a:latin typeface="+mn-ea"/>
              <a:cs typeface="+mn-ea"/>
            </a:endParaRPr>
          </a:p>
          <a:p>
            <a:endParaRPr lang="zh-CN" altLang="en-US" sz="1200">
              <a:latin typeface="+mn-ea"/>
              <a:cs typeface="+mn-ea"/>
            </a:endParaRPr>
          </a:p>
        </p:txBody>
      </p:sp>
      <p:pic>
        <p:nvPicPr>
          <p:cNvPr id="110598" name="图片 2"/>
          <p:cNvPicPr>
            <a:picLocks noChangeAspect="1"/>
          </p:cNvPicPr>
          <p:nvPr/>
        </p:nvPicPr>
        <p:blipFill>
          <a:blip r:embed="rId1" cstate="print"/>
          <a:srcRect/>
          <a:stretch>
            <a:fillRect/>
          </a:stretch>
        </p:blipFill>
        <p:spPr bwMode="auto">
          <a:xfrm>
            <a:off x="197485" y="3070225"/>
            <a:ext cx="2696845" cy="3516630"/>
          </a:xfrm>
          <a:prstGeom prst="rect">
            <a:avLst/>
          </a:prstGeom>
          <a:noFill/>
          <a:ln w="9525">
            <a:noFill/>
            <a:miter lim="800000"/>
            <a:headEnd/>
            <a:tailEnd/>
          </a:ln>
        </p:spPr>
      </p:pic>
      <p:sp>
        <p:nvSpPr>
          <p:cNvPr id="7" name="线形标注 2(带边框和强调线) 6"/>
          <p:cNvSpPr/>
          <p:nvPr/>
        </p:nvSpPr>
        <p:spPr>
          <a:xfrm>
            <a:off x="3187065" y="2619375"/>
            <a:ext cx="2767965" cy="1054100"/>
          </a:xfrm>
          <a:prstGeom prst="accentBorderCallout2">
            <a:avLst>
              <a:gd name="adj1" fmla="val 18709"/>
              <a:gd name="adj2" fmla="val -1422"/>
              <a:gd name="adj3" fmla="val 17771"/>
              <a:gd name="adj4" fmla="val -10461"/>
              <a:gd name="adj5" fmla="val 46506"/>
              <a:gd name="adj6" fmla="val -21816"/>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30000"/>
              </a:lnSpc>
              <a:buClrTx/>
              <a:buSzTx/>
              <a:buFontTx/>
            </a:pPr>
            <a:r>
              <a:rPr lang="zh-CN" altLang="en-US" sz="1200" b="1">
                <a:solidFill>
                  <a:srgbClr val="FFFF00"/>
                </a:solidFill>
              </a:rPr>
              <a:t>系统：</a:t>
            </a:r>
            <a:r>
              <a:rPr lang="zh-CN" altLang="zh-CN" sz="1200" dirty="0">
                <a:latin typeface="Bodoni MT Black" panose="02070A03080606020203" pitchFamily="18" charset="0"/>
                <a:sym typeface="+mn-ea"/>
              </a:rPr>
              <a:t>系统被看作是一个提供用例的黑盒子，代表系统的方框的边线表示</a:t>
            </a:r>
            <a:r>
              <a:rPr lang="zh-CN" altLang="zh-CN" sz="1200" b="1" dirty="0">
                <a:solidFill>
                  <a:srgbClr val="FFC000"/>
                </a:solidFill>
                <a:latin typeface="Bodoni MT Black" panose="02070A03080606020203" pitchFamily="18" charset="0"/>
                <a:sym typeface="+mn-ea"/>
              </a:rPr>
              <a:t>系统的边界</a:t>
            </a:r>
            <a:r>
              <a:rPr lang="zh-CN" altLang="zh-CN" sz="1200" dirty="0">
                <a:latin typeface="Bodoni MT Black" panose="02070A03080606020203" pitchFamily="18" charset="0"/>
                <a:sym typeface="+mn-ea"/>
              </a:rPr>
              <a:t>，用于划定系统的</a:t>
            </a:r>
            <a:r>
              <a:rPr lang="zh-CN" altLang="zh-CN" sz="1200" b="1" dirty="0">
                <a:solidFill>
                  <a:srgbClr val="FFC000"/>
                </a:solidFill>
                <a:latin typeface="Bodoni MT Black" panose="02070A03080606020203" pitchFamily="18" charset="0"/>
                <a:sym typeface="+mn-ea"/>
              </a:rPr>
              <a:t>功能范围</a:t>
            </a:r>
            <a:r>
              <a:rPr lang="zh-CN" altLang="zh-CN" sz="1200" dirty="0">
                <a:latin typeface="Bodoni MT Black" panose="02070A03080606020203" pitchFamily="18" charset="0"/>
                <a:sym typeface="+mn-ea"/>
              </a:rPr>
              <a:t>，定义了系统所具有的功能。</a:t>
            </a:r>
            <a:endParaRPr lang="zh-CN" altLang="zh-CN" sz="1200" dirty="0">
              <a:latin typeface="Bodoni MT Black" panose="02070A03080606020203" pitchFamily="18" charset="0"/>
            </a:endParaRPr>
          </a:p>
        </p:txBody>
      </p:sp>
      <p:sp>
        <p:nvSpPr>
          <p:cNvPr id="9" name="线形标注 2(带边框和强调线) 8"/>
          <p:cNvSpPr/>
          <p:nvPr/>
        </p:nvSpPr>
        <p:spPr>
          <a:xfrm>
            <a:off x="3187065" y="3743325"/>
            <a:ext cx="2767965" cy="1121410"/>
          </a:xfrm>
          <a:prstGeom prst="accentBorderCallout2">
            <a:avLst>
              <a:gd name="adj1" fmla="val 18709"/>
              <a:gd name="adj2" fmla="val -1422"/>
              <a:gd name="adj3" fmla="val 18649"/>
              <a:gd name="adj4" fmla="val -10461"/>
              <a:gd name="adj5" fmla="val 87938"/>
              <a:gd name="adj6" fmla="val -2668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30000"/>
              </a:lnSpc>
            </a:pPr>
            <a:r>
              <a:rPr lang="zh-CN" altLang="en-US" sz="1200" b="1">
                <a:solidFill>
                  <a:srgbClr val="FFFF00"/>
                </a:solidFill>
                <a:sym typeface="+mn-ea"/>
              </a:rPr>
              <a:t>用例：</a:t>
            </a:r>
            <a:r>
              <a:rPr lang="zh-CN" altLang="zh-CN" sz="1200" dirty="0">
                <a:latin typeface="Bodoni MT Black" panose="02070A03080606020203" pitchFamily="18" charset="0"/>
                <a:sym typeface="+mn-ea"/>
              </a:rPr>
              <a:t>是可以</a:t>
            </a:r>
            <a:r>
              <a:rPr lang="zh-CN" altLang="zh-CN" sz="1200" dirty="0">
                <a:solidFill>
                  <a:srgbClr val="FFC000"/>
                </a:solidFill>
                <a:latin typeface="Bodoni MT Black" panose="02070A03080606020203" pitchFamily="18" charset="0"/>
                <a:sym typeface="+mn-ea"/>
              </a:rPr>
              <a:t>被行为者感受到的、系统的一个完整的功能。</a:t>
            </a:r>
            <a:r>
              <a:rPr lang="zh-CN" altLang="zh-CN" sz="1200" b="1" dirty="0">
                <a:solidFill>
                  <a:srgbClr val="FF0000"/>
                </a:solidFill>
                <a:latin typeface="Bodoni MT Black" panose="02070A03080606020203" pitchFamily="18" charset="0"/>
                <a:sym typeface="+mn-ea"/>
              </a:rPr>
              <a:t>用例通过</a:t>
            </a:r>
            <a:r>
              <a:rPr lang="zh-CN" altLang="zh-CN" sz="1200" b="1" dirty="0">
                <a:solidFill>
                  <a:srgbClr val="FF0000"/>
                </a:solidFill>
                <a:latin typeface="Bodoni MT Black" panose="02070A03080606020203" pitchFamily="18" charset="0"/>
                <a:sym typeface="+mn-ea"/>
              </a:rPr>
              <a:t>关联与行为者连接</a:t>
            </a:r>
            <a:r>
              <a:rPr lang="zh-CN" altLang="zh-CN" sz="1200" dirty="0">
                <a:latin typeface="Bodoni MT Black" panose="02070A03080606020203" pitchFamily="18" charset="0"/>
                <a:sym typeface="+mn-ea"/>
              </a:rPr>
              <a:t>，</a:t>
            </a:r>
            <a:r>
              <a:rPr lang="zh-CN" altLang="zh-CN" sz="1200" b="1" dirty="0">
                <a:latin typeface="Bodoni MT Black" panose="02070A03080606020203" pitchFamily="18" charset="0"/>
                <a:sym typeface="+mn-ea"/>
              </a:rPr>
              <a:t>关联</a:t>
            </a:r>
            <a:r>
              <a:rPr lang="zh-CN" altLang="zh-CN" sz="1200" dirty="0">
                <a:latin typeface="Bodoni MT Black" panose="02070A03080606020203" pitchFamily="18" charset="0"/>
                <a:sym typeface="+mn-ea"/>
              </a:rPr>
              <a:t>指出一个用例与哪些行为者交互，这种交互是双向的。</a:t>
            </a:r>
            <a:endParaRPr lang="zh-CN" altLang="en-US" sz="1200"/>
          </a:p>
        </p:txBody>
      </p:sp>
      <p:sp>
        <p:nvSpPr>
          <p:cNvPr id="12" name="线形标注 2(带边框和强调线) 11"/>
          <p:cNvSpPr/>
          <p:nvPr/>
        </p:nvSpPr>
        <p:spPr>
          <a:xfrm>
            <a:off x="3176270" y="4934585"/>
            <a:ext cx="2767965" cy="1021080"/>
          </a:xfrm>
          <a:prstGeom prst="accentBorderCallout2">
            <a:avLst>
              <a:gd name="adj1" fmla="val 47395"/>
              <a:gd name="adj2" fmla="val -1032"/>
              <a:gd name="adj3" fmla="val 48301"/>
              <a:gd name="adj4" fmla="val -11654"/>
              <a:gd name="adj5" fmla="val 12748"/>
              <a:gd name="adj6" fmla="val -9415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indent="0">
              <a:lnSpc>
                <a:spcPct val="125000"/>
              </a:lnSpc>
              <a:defRPr/>
            </a:pPr>
            <a:r>
              <a:rPr lang="zh-CN" altLang="en-US" sz="1200" b="1">
                <a:solidFill>
                  <a:srgbClr val="FFFF00"/>
                </a:solidFill>
                <a:sym typeface="+mn-ea"/>
              </a:rPr>
              <a:t>行为者：</a:t>
            </a:r>
            <a:r>
              <a:rPr lang="zh-CN" altLang="zh-CN" sz="1200" dirty="0">
                <a:latin typeface="Bodoni MT Black" panose="02070A03080606020203" pitchFamily="18" charset="0"/>
                <a:sym typeface="+mn-ea"/>
              </a:rPr>
              <a:t>行为者</a:t>
            </a:r>
            <a:r>
              <a:rPr lang="zh-CN" altLang="zh-CN" sz="1200" dirty="0" smtClean="0">
                <a:latin typeface="Bodoni MT Black" panose="02070A03080606020203" pitchFamily="18" charset="0"/>
                <a:sym typeface="+mn-ea"/>
              </a:rPr>
              <a:t>指</a:t>
            </a:r>
            <a:r>
              <a:rPr lang="zh-CN" altLang="zh-CN" sz="1200" dirty="0">
                <a:latin typeface="Bodoni MT Black" panose="02070A03080606020203" pitchFamily="18" charset="0"/>
                <a:sym typeface="+mn-ea"/>
              </a:rPr>
              <a:t>与系统交互的人或其他系统，它代表外部实体。使用</a:t>
            </a:r>
            <a:r>
              <a:rPr lang="zh-CN" altLang="zh-CN" sz="1200" dirty="0" smtClean="0">
                <a:latin typeface="Bodoni MT Black" panose="02070A03080606020203" pitchFamily="18" charset="0"/>
                <a:sym typeface="+mn-ea"/>
              </a:rPr>
              <a:t>用例且</a:t>
            </a:r>
            <a:r>
              <a:rPr lang="zh-CN" altLang="zh-CN" sz="1200" dirty="0">
                <a:latin typeface="Bodoni MT Black" panose="02070A03080606020203" pitchFamily="18" charset="0"/>
                <a:sym typeface="+mn-ea"/>
              </a:rPr>
              <a:t>与系统交互的任何人或物都是行为者。</a:t>
            </a:r>
            <a:endParaRPr lang="zh-CN" altLang="en-US" sz="1200"/>
          </a:p>
        </p:txBody>
      </p:sp>
      <p:sp>
        <p:nvSpPr>
          <p:cNvPr id="13" name="线形标注 2(带边框和强调线) 12"/>
          <p:cNvSpPr/>
          <p:nvPr/>
        </p:nvSpPr>
        <p:spPr>
          <a:xfrm>
            <a:off x="3176270" y="6025515"/>
            <a:ext cx="2767965" cy="721360"/>
          </a:xfrm>
          <a:prstGeom prst="accentBorderCallout2">
            <a:avLst>
              <a:gd name="adj1" fmla="val 47395"/>
              <a:gd name="adj2" fmla="val -1032"/>
              <a:gd name="adj3" fmla="val 86795"/>
              <a:gd name="adj4" fmla="val -8442"/>
              <a:gd name="adj5" fmla="val -7658"/>
              <a:gd name="adj6" fmla="val -6203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algn="l">
              <a:lnSpc>
                <a:spcPct val="130000"/>
              </a:lnSpc>
              <a:buClrTx/>
              <a:buSzTx/>
              <a:buFontTx/>
            </a:pPr>
            <a:r>
              <a:rPr lang="zh-CN" altLang="en-US" sz="1200" b="1">
                <a:solidFill>
                  <a:srgbClr val="FFFF00"/>
                </a:solidFill>
                <a:sym typeface="+mn-ea"/>
              </a:rPr>
              <a:t>关联：</a:t>
            </a:r>
            <a:r>
              <a:rPr lang="zh-CN" altLang="zh-CN" sz="1200" dirty="0">
                <a:solidFill>
                  <a:schemeClr val="bg2"/>
                </a:solidFill>
                <a:latin typeface="Bodoni MT Black" panose="02070A03080606020203" pitchFamily="18" charset="0"/>
                <a:sym typeface="+mn-ea"/>
              </a:rPr>
              <a:t>用例通过直线与行为者连接，表示两者之间交换信息，称为</a:t>
            </a:r>
            <a:r>
              <a:rPr lang="zh-CN" altLang="zh-CN" sz="1200" b="1" dirty="0">
                <a:solidFill>
                  <a:srgbClr val="FFC000"/>
                </a:solidFill>
                <a:latin typeface="Bodoni MT Black" panose="02070A03080606020203" pitchFamily="18" charset="0"/>
                <a:sym typeface="+mn-ea"/>
              </a:rPr>
              <a:t>通信联系。</a:t>
            </a:r>
            <a:endParaRPr lang="zh-CN" altLang="zh-CN" sz="1200" b="1" dirty="0">
              <a:solidFill>
                <a:srgbClr val="FFC000"/>
              </a:solidFill>
              <a:latin typeface="Bodoni MT Black" panose="02070A03080606020203" pitchFamily="18" charset="0"/>
            </a:endParaRPr>
          </a:p>
        </p:txBody>
      </p:sp>
      <p:pic>
        <p:nvPicPr>
          <p:cNvPr id="14" name="图片 13"/>
          <p:cNvPicPr>
            <a:picLocks noChangeAspect="1"/>
          </p:cNvPicPr>
          <p:nvPr/>
        </p:nvPicPr>
        <p:blipFill>
          <a:blip r:embed="rId2"/>
          <a:stretch>
            <a:fillRect/>
          </a:stretch>
        </p:blipFill>
        <p:spPr>
          <a:xfrm>
            <a:off x="6051550" y="2390140"/>
            <a:ext cx="4088765" cy="4347845"/>
          </a:xfrm>
          <a:prstGeom prst="rect">
            <a:avLst/>
          </a:prstGeom>
        </p:spPr>
      </p:pic>
      <p:sp>
        <p:nvSpPr>
          <p:cNvPr id="16" name="文本框 15"/>
          <p:cNvSpPr txBox="1"/>
          <p:nvPr/>
        </p:nvSpPr>
        <p:spPr>
          <a:xfrm>
            <a:off x="6080760" y="450850"/>
            <a:ext cx="6104255" cy="832485"/>
          </a:xfrm>
          <a:prstGeom prst="rect">
            <a:avLst/>
          </a:prstGeom>
          <a:noFill/>
        </p:spPr>
        <p:txBody>
          <a:bodyPr wrap="square" rtlCol="0">
            <a:noAutofit/>
          </a:bodyPr>
          <a:p>
            <a:pPr marL="228600" indent="-228600" algn="l">
              <a:lnSpc>
                <a:spcPct val="190000"/>
              </a:lnSpc>
              <a:buClrTx/>
              <a:buSzTx/>
              <a:buFont typeface="+mj-ea"/>
              <a:buAutoNum type="circleNumDbPlain" startAt="2"/>
            </a:pPr>
            <a:r>
              <a:rPr lang="zh-CN" altLang="en-US" sz="1200">
                <a:latin typeface="+mn-ea"/>
                <a:cs typeface="+mn-ea"/>
              </a:rPr>
              <a:t>用例之间的关系：</a:t>
            </a:r>
            <a:r>
              <a:rPr lang="en-US" altLang="zh-CN" sz="1200" dirty="0" smtClean="0">
                <a:latin typeface="Bodoni MT Black" panose="02070A03080606020203" pitchFamily="18" charset="0"/>
                <a:sym typeface="+mn-ea"/>
              </a:rPr>
              <a:t>UML</a:t>
            </a:r>
            <a:r>
              <a:rPr lang="zh-CN" altLang="zh-CN" sz="1200" dirty="0">
                <a:latin typeface="Bodoni MT Black" panose="02070A03080606020203" pitchFamily="18" charset="0"/>
                <a:sym typeface="+mn-ea"/>
              </a:rPr>
              <a:t>用例之间主要有</a:t>
            </a:r>
            <a:r>
              <a:rPr lang="zh-CN" altLang="zh-CN" sz="1200" dirty="0">
                <a:solidFill>
                  <a:srgbClr val="FF0000"/>
                </a:solidFill>
                <a:latin typeface="Bodoni MT Black" panose="02070A03080606020203" pitchFamily="18" charset="0"/>
                <a:sym typeface="+mn-ea"/>
              </a:rPr>
              <a:t>扩展</a:t>
            </a:r>
            <a:r>
              <a:rPr lang="zh-CN" altLang="zh-CN" sz="1200" dirty="0">
                <a:latin typeface="Bodoni MT Black" panose="02070A03080606020203" pitchFamily="18" charset="0"/>
                <a:sym typeface="+mn-ea"/>
              </a:rPr>
              <a:t>和</a:t>
            </a:r>
            <a:r>
              <a:rPr lang="zh-CN" altLang="zh-CN" sz="1200" dirty="0">
                <a:solidFill>
                  <a:srgbClr val="FF0000"/>
                </a:solidFill>
                <a:latin typeface="Bodoni MT Black" panose="02070A03080606020203" pitchFamily="18" charset="0"/>
                <a:sym typeface="+mn-ea"/>
              </a:rPr>
              <a:t>使用</a:t>
            </a:r>
            <a:r>
              <a:rPr lang="zh-CN" altLang="zh-CN" sz="1200" dirty="0">
                <a:latin typeface="Bodoni MT Black" panose="02070A03080606020203" pitchFamily="18" charset="0"/>
                <a:sym typeface="+mn-ea"/>
              </a:rPr>
              <a:t>两种关系，它们是泛化关系的两种不同形式</a:t>
            </a:r>
            <a:r>
              <a:rPr lang="zh-CN" altLang="zh-CN" sz="1200" dirty="0" smtClean="0">
                <a:latin typeface="Bodoni MT Black" panose="02070A03080606020203" pitchFamily="18" charset="0"/>
                <a:sym typeface="+mn-ea"/>
              </a:rPr>
              <a:t>。</a:t>
            </a:r>
            <a:endParaRPr lang="zh-CN" altLang="zh-CN" sz="1200" dirty="0" smtClean="0">
              <a:latin typeface="Bodoni MT Black" panose="02070A03080606020203" pitchFamily="18" charset="0"/>
              <a:sym typeface="+mn-ea"/>
            </a:endParaRPr>
          </a:p>
          <a:p>
            <a:pPr indent="0">
              <a:lnSpc>
                <a:spcPct val="175000"/>
              </a:lnSpc>
              <a:spcAft>
                <a:spcPts val="0"/>
              </a:spcAft>
              <a:buFont typeface="Arial" panose="020B0604020202020204" pitchFamily="34" charset="0"/>
              <a:buNone/>
              <a:defRPr/>
            </a:pPr>
            <a:endParaRPr lang="zh-CN" altLang="en-US" sz="1200" dirty="0"/>
          </a:p>
          <a:p>
            <a:pPr marL="228600" indent="-228600" algn="l">
              <a:lnSpc>
                <a:spcPct val="190000"/>
              </a:lnSpc>
              <a:buClrTx/>
              <a:buSzTx/>
              <a:buFont typeface="+mj-ea"/>
              <a:buAutoNum type="circleNumDbPlain" startAt="2"/>
            </a:pPr>
            <a:endParaRPr lang="zh-CN" altLang="en-US" sz="1200">
              <a:latin typeface="+mn-ea"/>
              <a:cs typeface="+mn-ea"/>
            </a:endParaRPr>
          </a:p>
          <a:p>
            <a:endParaRPr lang="zh-CN" altLang="en-US"/>
          </a:p>
        </p:txBody>
      </p:sp>
      <p:sp>
        <p:nvSpPr>
          <p:cNvPr id="17" name="文本框 16"/>
          <p:cNvSpPr txBox="1"/>
          <p:nvPr/>
        </p:nvSpPr>
        <p:spPr>
          <a:xfrm>
            <a:off x="6091555" y="1290955"/>
            <a:ext cx="5941060" cy="1032510"/>
          </a:xfrm>
          <a:prstGeom prst="rect">
            <a:avLst/>
          </a:prstGeom>
          <a:noFill/>
        </p:spPr>
        <p:txBody>
          <a:bodyPr wrap="square" rtlCol="0">
            <a:spAutoFit/>
          </a:bodyPr>
          <a:p>
            <a:pPr marL="171450" indent="-171450">
              <a:lnSpc>
                <a:spcPct val="205000"/>
              </a:lnSpc>
              <a:spcAft>
                <a:spcPts val="0"/>
              </a:spcAft>
              <a:buFont typeface="Arial" panose="020B0604020202020204" pitchFamily="34" charset="0"/>
              <a:buChar char="•"/>
              <a:defRPr/>
            </a:pPr>
            <a:r>
              <a:rPr lang="zh-CN" altLang="en-US" sz="1200" b="1" dirty="0">
                <a:solidFill>
                  <a:srgbClr val="FF0000"/>
                </a:solidFill>
                <a:highlight>
                  <a:srgbClr val="00FF00"/>
                </a:highlight>
                <a:latin typeface="Bodoni MT Black" panose="02070A03080606020203" pitchFamily="18" charset="0"/>
                <a:sym typeface="+mn-ea"/>
              </a:rPr>
              <a:t>扩展关系：</a:t>
            </a:r>
            <a:r>
              <a:rPr lang="zh-CN" altLang="zh-CN" sz="1200" b="1" dirty="0" smtClean="0">
                <a:solidFill>
                  <a:srgbClr val="FF0000"/>
                </a:solidFill>
                <a:latin typeface="Bodoni MT Black" panose="02070A03080606020203" pitchFamily="18" charset="0"/>
                <a:sym typeface="+mn-ea"/>
              </a:rPr>
              <a:t>向</a:t>
            </a:r>
            <a:r>
              <a:rPr lang="zh-CN" altLang="zh-CN" sz="1200" b="1" dirty="0">
                <a:solidFill>
                  <a:srgbClr val="FF0000"/>
                </a:solidFill>
                <a:latin typeface="Bodoni MT Black" panose="02070A03080606020203" pitchFamily="18" charset="0"/>
                <a:sym typeface="+mn-ea"/>
              </a:rPr>
              <a:t>一个用例中添加一些动作后构成了另一个用例</a:t>
            </a:r>
            <a:r>
              <a:rPr lang="zh-CN" altLang="zh-CN" sz="1200" b="1" dirty="0">
                <a:latin typeface="Bodoni MT Black" panose="02070A03080606020203" pitchFamily="18" charset="0"/>
                <a:sym typeface="+mn-ea"/>
              </a:rPr>
              <a:t>，</a:t>
            </a:r>
            <a:r>
              <a:rPr lang="zh-CN" altLang="zh-CN" sz="1200" dirty="0">
                <a:latin typeface="Bodoni MT Black" panose="02070A03080606020203" pitchFamily="18" charset="0"/>
                <a:sym typeface="+mn-ea"/>
              </a:rPr>
              <a:t>这两个用例之间的</a:t>
            </a:r>
            <a:r>
              <a:rPr lang="zh-CN" altLang="zh-CN" sz="1200" dirty="0" smtClean="0">
                <a:latin typeface="Bodoni MT Black" panose="02070A03080606020203" pitchFamily="18" charset="0"/>
                <a:sym typeface="+mn-ea"/>
              </a:rPr>
              <a:t>关系是</a:t>
            </a:r>
            <a:r>
              <a:rPr lang="zh-CN" altLang="zh-CN" sz="1200" dirty="0">
                <a:latin typeface="Bodoni MT Black" panose="02070A03080606020203" pitchFamily="18" charset="0"/>
                <a:sym typeface="+mn-ea"/>
              </a:rPr>
              <a:t>扩展关系，后者继承前者的一些行为</a:t>
            </a:r>
            <a:r>
              <a:rPr lang="zh-CN" altLang="zh-CN" sz="1200" dirty="0" smtClean="0">
                <a:latin typeface="Bodoni MT Black" panose="02070A03080606020203" pitchFamily="18" charset="0"/>
                <a:sym typeface="+mn-ea"/>
              </a:rPr>
              <a:t>，把</a:t>
            </a:r>
            <a:r>
              <a:rPr lang="zh-CN" altLang="zh-CN" sz="1200" dirty="0">
                <a:latin typeface="Bodoni MT Black" panose="02070A03080606020203" pitchFamily="18" charset="0"/>
                <a:sym typeface="+mn-ea"/>
              </a:rPr>
              <a:t>后者称为</a:t>
            </a:r>
            <a:r>
              <a:rPr lang="zh-CN" altLang="zh-CN" sz="1200" dirty="0">
                <a:solidFill>
                  <a:srgbClr val="FF0000"/>
                </a:solidFill>
                <a:latin typeface="Bodoni MT Black" panose="02070A03080606020203" pitchFamily="18" charset="0"/>
                <a:sym typeface="+mn-ea"/>
              </a:rPr>
              <a:t>扩展用例</a:t>
            </a:r>
            <a:r>
              <a:rPr lang="zh-CN" altLang="zh-CN" sz="1200" dirty="0">
                <a:latin typeface="Bodoni MT Black" panose="02070A03080606020203" pitchFamily="18" charset="0"/>
                <a:sym typeface="+mn-ea"/>
              </a:rPr>
              <a:t>。</a:t>
            </a:r>
            <a:endParaRPr lang="zh-CN" altLang="zh-CN" sz="1200" dirty="0">
              <a:latin typeface="Bodoni MT Black" panose="02070A03080606020203" pitchFamily="18" charset="0"/>
              <a:sym typeface="+mn-ea"/>
            </a:endParaRPr>
          </a:p>
          <a:p>
            <a:endParaRPr lang="zh-CN" altLang="en-US" sz="1200"/>
          </a:p>
        </p:txBody>
      </p:sp>
      <p:sp>
        <p:nvSpPr>
          <p:cNvPr id="19" name="文本框 18"/>
          <p:cNvSpPr txBox="1"/>
          <p:nvPr/>
        </p:nvSpPr>
        <p:spPr>
          <a:xfrm>
            <a:off x="10081260" y="2248535"/>
            <a:ext cx="2103755" cy="4844415"/>
          </a:xfrm>
          <a:prstGeom prst="rect">
            <a:avLst/>
          </a:prstGeom>
          <a:noFill/>
        </p:spPr>
        <p:txBody>
          <a:bodyPr wrap="square" rtlCol="0">
            <a:spAutoFit/>
          </a:bodyPr>
          <a:p>
            <a:pPr marL="171450" indent="-171450" algn="l">
              <a:lnSpc>
                <a:spcPct val="205000"/>
              </a:lnSpc>
              <a:spcAft>
                <a:spcPts val="0"/>
              </a:spcAft>
              <a:buClrTx/>
              <a:buSzTx/>
              <a:buFont typeface="Arial" panose="020B0604020202020204" pitchFamily="34" charset="0"/>
              <a:buChar char="•"/>
              <a:defRPr/>
            </a:pPr>
            <a:r>
              <a:rPr lang="zh-CN" altLang="en-US" sz="1200" b="1" dirty="0">
                <a:solidFill>
                  <a:srgbClr val="FF0000"/>
                </a:solidFill>
                <a:highlight>
                  <a:srgbClr val="00FF00"/>
                </a:highlight>
                <a:latin typeface="Bodoni MT Black" panose="02070A03080606020203" pitchFamily="18" charset="0"/>
                <a:sym typeface="+mn-ea"/>
              </a:rPr>
              <a:t>使用关系</a:t>
            </a:r>
            <a:endParaRPr lang="zh-CN" altLang="en-US" sz="1200" b="1" dirty="0">
              <a:solidFill>
                <a:srgbClr val="FF0000"/>
              </a:solidFill>
              <a:highlight>
                <a:srgbClr val="00FF00"/>
              </a:highlight>
              <a:latin typeface="Bodoni MT Black" panose="02070A03080606020203" pitchFamily="18" charset="0"/>
            </a:endParaRPr>
          </a:p>
          <a:p>
            <a:pPr marL="0" indent="0">
              <a:lnSpc>
                <a:spcPct val="240000"/>
              </a:lnSpc>
              <a:spcAft>
                <a:spcPts val="0"/>
              </a:spcAft>
              <a:defRPr/>
            </a:pPr>
            <a:r>
              <a:rPr lang="zh-CN" altLang="zh-CN" sz="1200" b="1" dirty="0" smtClean="0">
                <a:latin typeface="Bodoni MT Black" panose="02070A03080606020203" pitchFamily="18" charset="0"/>
                <a:sym typeface="+mn-ea"/>
              </a:rPr>
              <a:t>当</a:t>
            </a:r>
            <a:r>
              <a:rPr lang="zh-CN" altLang="zh-CN" sz="1200" b="1" dirty="0">
                <a:solidFill>
                  <a:srgbClr val="FF0000"/>
                </a:solidFill>
                <a:latin typeface="Bodoni MT Black" panose="02070A03080606020203" pitchFamily="18" charset="0"/>
                <a:sym typeface="+mn-ea"/>
              </a:rPr>
              <a:t>一个用例使用另一个用例</a:t>
            </a:r>
            <a:r>
              <a:rPr lang="zh-CN" altLang="zh-CN" sz="1200" b="1" dirty="0">
                <a:latin typeface="Bodoni MT Black" panose="02070A03080606020203" pitchFamily="18" charset="0"/>
                <a:sym typeface="+mn-ea"/>
              </a:rPr>
              <a:t>时，这两个用例</a:t>
            </a:r>
            <a:r>
              <a:rPr lang="zh-CN" altLang="zh-CN" sz="1200" b="1" dirty="0" smtClean="0">
                <a:latin typeface="Bodoni MT Black" panose="02070A03080606020203" pitchFamily="18" charset="0"/>
                <a:sym typeface="+mn-ea"/>
              </a:rPr>
              <a:t>之间构成</a:t>
            </a:r>
            <a:r>
              <a:rPr lang="zh-CN" altLang="zh-CN" sz="1200" b="1" dirty="0" smtClean="0">
                <a:solidFill>
                  <a:srgbClr val="FF0000"/>
                </a:solidFill>
                <a:latin typeface="Bodoni MT Black" panose="02070A03080606020203" pitchFamily="18" charset="0"/>
                <a:sym typeface="+mn-ea"/>
              </a:rPr>
              <a:t>使用</a:t>
            </a:r>
            <a:r>
              <a:rPr lang="zh-CN" altLang="zh-CN" sz="1200" b="1" dirty="0">
                <a:solidFill>
                  <a:srgbClr val="FF0000"/>
                </a:solidFill>
                <a:latin typeface="Bodoni MT Black" panose="02070A03080606020203" pitchFamily="18" charset="0"/>
                <a:sym typeface="+mn-ea"/>
              </a:rPr>
              <a:t>关系</a:t>
            </a:r>
            <a:r>
              <a:rPr lang="zh-CN" altLang="zh-CN" sz="1200" b="1" dirty="0" smtClean="0">
                <a:latin typeface="Bodoni MT Black" panose="02070A03080606020203" pitchFamily="18" charset="0"/>
                <a:sym typeface="+mn-ea"/>
              </a:rPr>
              <a:t>。</a:t>
            </a:r>
            <a:r>
              <a:rPr lang="zh-CN" altLang="en-US" sz="1200" dirty="0" smtClean="0">
                <a:latin typeface="Bodoni MT Black" panose="02070A03080606020203" pitchFamily="18" charset="0"/>
                <a:sym typeface="+mn-ea"/>
              </a:rPr>
              <a:t>若</a:t>
            </a:r>
            <a:r>
              <a:rPr lang="zh-CN" altLang="zh-CN" sz="1200" dirty="0" smtClean="0">
                <a:latin typeface="Bodoni MT Black" panose="02070A03080606020203" pitchFamily="18" charset="0"/>
                <a:sym typeface="+mn-ea"/>
              </a:rPr>
              <a:t>在</a:t>
            </a:r>
            <a:r>
              <a:rPr lang="zh-CN" altLang="zh-CN" sz="1200" dirty="0">
                <a:latin typeface="Bodoni MT Black" panose="02070A03080606020203" pitchFamily="18" charset="0"/>
                <a:sym typeface="+mn-ea"/>
              </a:rPr>
              <a:t>若干个用例中有某些</a:t>
            </a:r>
            <a:r>
              <a:rPr lang="zh-CN" altLang="zh-CN" sz="1200" dirty="0" smtClean="0">
                <a:latin typeface="Bodoni MT Black" panose="02070A03080606020203" pitchFamily="18" charset="0"/>
                <a:sym typeface="+mn-ea"/>
              </a:rPr>
              <a:t>相同动作</a:t>
            </a:r>
            <a:r>
              <a:rPr lang="zh-CN" altLang="zh-CN" sz="1200" dirty="0">
                <a:latin typeface="Bodoni MT Black" panose="02070A03080606020203" pitchFamily="18" charset="0"/>
                <a:sym typeface="+mn-ea"/>
              </a:rPr>
              <a:t>，则可以把这些</a:t>
            </a:r>
            <a:r>
              <a:rPr lang="zh-CN" altLang="zh-CN" sz="1200" dirty="0" smtClean="0">
                <a:latin typeface="Bodoni MT Black" panose="02070A03080606020203" pitchFamily="18" charset="0"/>
                <a:sym typeface="+mn-ea"/>
              </a:rPr>
              <a:t>相同动作</a:t>
            </a:r>
            <a:r>
              <a:rPr lang="zh-CN" altLang="zh-CN" sz="1200" dirty="0">
                <a:latin typeface="Bodoni MT Black" panose="02070A03080606020203" pitchFamily="18" charset="0"/>
                <a:sym typeface="+mn-ea"/>
              </a:rPr>
              <a:t>提取出来单独构成一</a:t>
            </a:r>
            <a:r>
              <a:rPr lang="zh-CN" altLang="zh-CN" sz="1200" dirty="0" smtClean="0">
                <a:latin typeface="Bodoni MT Black" panose="02070A03080606020203" pitchFamily="18" charset="0"/>
                <a:sym typeface="+mn-ea"/>
              </a:rPr>
              <a:t>个</a:t>
            </a:r>
            <a:r>
              <a:rPr lang="zh-CN" altLang="zh-CN" sz="1200" b="1" dirty="0">
                <a:solidFill>
                  <a:srgbClr val="FF0000"/>
                </a:solidFill>
                <a:latin typeface="Bodoni MT Black" panose="02070A03080606020203" pitchFamily="18" charset="0"/>
                <a:sym typeface="+mn-ea"/>
              </a:rPr>
              <a:t>抽象</a:t>
            </a:r>
            <a:r>
              <a:rPr lang="zh-CN" altLang="zh-CN" sz="1200" b="1" dirty="0" smtClean="0">
                <a:solidFill>
                  <a:srgbClr val="FF0000"/>
                </a:solidFill>
                <a:latin typeface="Bodoni MT Black" panose="02070A03080606020203" pitchFamily="18" charset="0"/>
                <a:sym typeface="+mn-ea"/>
              </a:rPr>
              <a:t>用例</a:t>
            </a:r>
            <a:r>
              <a:rPr lang="zh-CN" altLang="zh-CN" sz="1200" dirty="0" smtClean="0">
                <a:latin typeface="Bodoni MT Black" panose="02070A03080606020203" pitchFamily="18" charset="0"/>
                <a:sym typeface="+mn-ea"/>
              </a:rPr>
              <a:t>。当某用例</a:t>
            </a:r>
            <a:r>
              <a:rPr lang="zh-CN" altLang="zh-CN" sz="1200" dirty="0">
                <a:latin typeface="Bodoni MT Black" panose="02070A03080606020203" pitchFamily="18" charset="0"/>
                <a:sym typeface="+mn-ea"/>
              </a:rPr>
              <a:t>使用该抽象用例时</a:t>
            </a:r>
            <a:r>
              <a:rPr lang="zh-CN" altLang="zh-CN" sz="1200" dirty="0" smtClean="0">
                <a:latin typeface="Bodoni MT Black" panose="02070A03080606020203" pitchFamily="18" charset="0"/>
                <a:sym typeface="+mn-ea"/>
              </a:rPr>
              <a:t>，</a:t>
            </a:r>
            <a:r>
              <a:rPr lang="zh-CN" altLang="en-US" sz="1200" dirty="0">
                <a:latin typeface="Bodoni MT Black" panose="02070A03080606020203" pitchFamily="18" charset="0"/>
                <a:sym typeface="+mn-ea"/>
              </a:rPr>
              <a:t>此</a:t>
            </a:r>
            <a:r>
              <a:rPr lang="zh-CN" altLang="zh-CN" sz="1200" dirty="0" smtClean="0">
                <a:latin typeface="Bodoni MT Black" panose="02070A03080606020203" pitchFamily="18" charset="0"/>
                <a:sym typeface="+mn-ea"/>
              </a:rPr>
              <a:t>用例</a:t>
            </a:r>
            <a:r>
              <a:rPr lang="zh-CN" altLang="zh-CN" sz="1200" dirty="0">
                <a:latin typeface="Bodoni MT Black" panose="02070A03080606020203" pitchFamily="18" charset="0"/>
                <a:sym typeface="+mn-ea"/>
              </a:rPr>
              <a:t>包含了抽象用例</a:t>
            </a:r>
            <a:r>
              <a:rPr lang="zh-CN" altLang="zh-CN" sz="1200" dirty="0" smtClean="0">
                <a:latin typeface="Bodoni MT Black" panose="02070A03080606020203" pitchFamily="18" charset="0"/>
                <a:sym typeface="+mn-ea"/>
              </a:rPr>
              <a:t>中所有</a:t>
            </a:r>
            <a:r>
              <a:rPr lang="zh-CN" altLang="zh-CN" sz="1200" dirty="0">
                <a:latin typeface="Bodoni MT Black" panose="02070A03080606020203" pitchFamily="18" charset="0"/>
                <a:sym typeface="+mn-ea"/>
              </a:rPr>
              <a:t>动作。</a:t>
            </a:r>
            <a:endParaRPr lang="en-US" altLang="zh-CN" sz="1200" b="1" dirty="0">
              <a:latin typeface="Bodoni MT Black" panose="02070A03080606020203" pitchFamily="18" charset="0"/>
            </a:endParaRPr>
          </a:p>
          <a:p>
            <a:pPr>
              <a:lnSpc>
                <a:spcPct val="210000"/>
              </a:lnSpc>
            </a:pPr>
            <a:endParaRPr lang="zh-CN" altLang="en-US" sz="1200"/>
          </a:p>
        </p:txBody>
      </p:sp>
      <p:sp>
        <p:nvSpPr>
          <p:cNvPr id="20" name="矩形 19"/>
          <p:cNvSpPr/>
          <p:nvPr/>
        </p:nvSpPr>
        <p:spPr>
          <a:xfrm>
            <a:off x="8112760" y="2947035"/>
            <a:ext cx="1700530" cy="67818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矩形 20"/>
          <p:cNvSpPr/>
          <p:nvPr/>
        </p:nvSpPr>
        <p:spPr>
          <a:xfrm>
            <a:off x="8112760" y="3964940"/>
            <a:ext cx="1700530" cy="2520315"/>
          </a:xfrm>
          <a:prstGeom prst="rect">
            <a:avLst/>
          </a:prstGeom>
          <a:ln w="19050">
            <a:solidFill>
              <a:srgbClr val="00B0F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eepseek_mermaid_20260106_712139"/>
          <p:cNvPicPr>
            <a:picLocks noChangeAspect="1"/>
          </p:cNvPicPr>
          <p:nvPr/>
        </p:nvPicPr>
        <p:blipFill>
          <a:blip r:embed="rId1"/>
          <a:srcRect l="1645" t="4593" r="1751" b="3629"/>
          <a:stretch>
            <a:fillRect/>
          </a:stretch>
        </p:blipFill>
        <p:spPr>
          <a:xfrm>
            <a:off x="623570" y="0"/>
            <a:ext cx="11334115" cy="3855720"/>
          </a:xfrm>
          <a:prstGeom prst="rect">
            <a:avLst/>
          </a:prstGeom>
          <a:ln>
            <a:solidFill>
              <a:schemeClr val="accent1"/>
            </a:solidFill>
          </a:ln>
        </p:spPr>
      </p:pic>
      <p:pic>
        <p:nvPicPr>
          <p:cNvPr id="4" name="图片 3" descr="deepseek_mermaid_20260106_d67f19"/>
          <p:cNvPicPr>
            <a:picLocks noChangeAspect="1"/>
          </p:cNvPicPr>
          <p:nvPr/>
        </p:nvPicPr>
        <p:blipFill>
          <a:blip r:embed="rId2"/>
          <a:stretch>
            <a:fillRect/>
          </a:stretch>
        </p:blipFill>
        <p:spPr>
          <a:xfrm>
            <a:off x="0" y="3961130"/>
            <a:ext cx="7992110" cy="2896870"/>
          </a:xfrm>
          <a:prstGeom prst="rect">
            <a:avLst/>
          </a:prstGeom>
          <a:ln>
            <a:solidFill>
              <a:schemeClr val="accent1"/>
            </a:solidFill>
          </a:ln>
        </p:spPr>
      </p:pic>
      <p:sp>
        <p:nvSpPr>
          <p:cNvPr id="5" name="文本框 4"/>
          <p:cNvSpPr txBox="1"/>
          <p:nvPr/>
        </p:nvSpPr>
        <p:spPr>
          <a:xfrm>
            <a:off x="4726305" y="185420"/>
            <a:ext cx="2286000" cy="306705"/>
          </a:xfrm>
          <a:prstGeom prst="rect">
            <a:avLst/>
          </a:prstGeom>
          <a:noFill/>
        </p:spPr>
        <p:txBody>
          <a:bodyPr wrap="square" rtlCol="0">
            <a:spAutoFit/>
          </a:bodyPr>
          <a:p>
            <a:pPr algn="ctr"/>
            <a:r>
              <a:rPr lang="zh-CN" altLang="en-US" sz="1400" b="1">
                <a:solidFill>
                  <a:srgbClr val="FF0000"/>
                </a:solidFill>
              </a:rPr>
              <a:t>用例之间的扩展关系</a:t>
            </a:r>
            <a:endParaRPr lang="zh-CN" altLang="en-US" sz="1400" b="1">
              <a:solidFill>
                <a:srgbClr val="FF0000"/>
              </a:solidFill>
            </a:endParaRPr>
          </a:p>
        </p:txBody>
      </p:sp>
      <p:sp>
        <p:nvSpPr>
          <p:cNvPr id="6" name="文本框 5"/>
          <p:cNvSpPr txBox="1"/>
          <p:nvPr/>
        </p:nvSpPr>
        <p:spPr>
          <a:xfrm>
            <a:off x="7717155" y="6242685"/>
            <a:ext cx="2286000" cy="306705"/>
          </a:xfrm>
          <a:prstGeom prst="rect">
            <a:avLst/>
          </a:prstGeom>
          <a:noFill/>
        </p:spPr>
        <p:txBody>
          <a:bodyPr wrap="square" rtlCol="0">
            <a:spAutoFit/>
          </a:bodyPr>
          <a:p>
            <a:pPr algn="ctr"/>
            <a:r>
              <a:rPr lang="zh-CN" altLang="en-US" sz="1400" b="1">
                <a:solidFill>
                  <a:srgbClr val="FF0000"/>
                </a:solidFill>
              </a:rPr>
              <a:t>用例之间的使用关系</a:t>
            </a:r>
            <a:endParaRPr lang="zh-CN" altLang="en-US" sz="1400" b="1">
              <a:solidFill>
                <a:srgbClr val="FF0000"/>
              </a:solidFill>
            </a:endParaRPr>
          </a:p>
        </p:txBody>
      </p:sp>
      <p:sp>
        <p:nvSpPr>
          <p:cNvPr id="7" name="文本框 6"/>
          <p:cNvSpPr txBox="1"/>
          <p:nvPr/>
        </p:nvSpPr>
        <p:spPr>
          <a:xfrm>
            <a:off x="706755" y="2166620"/>
            <a:ext cx="3009900" cy="1658620"/>
          </a:xfrm>
          <a:prstGeom prst="rect">
            <a:avLst/>
          </a:prstGeom>
          <a:noFill/>
        </p:spPr>
        <p:txBody>
          <a:bodyPr wrap="square" rtlCol="0">
            <a:spAutoFit/>
          </a:bodyPr>
          <a:p>
            <a:pPr>
              <a:lnSpc>
                <a:spcPct val="170000"/>
              </a:lnSpc>
            </a:pPr>
            <a:r>
              <a:rPr lang="zh-CN" altLang="en-US" sz="1200" b="1">
                <a:solidFill>
                  <a:srgbClr val="FF0000"/>
                </a:solidFill>
              </a:rPr>
              <a:t>扩展关系的核心要点：</a:t>
            </a:r>
            <a:endParaRPr lang="zh-CN" altLang="en-US" sz="1200" b="1">
              <a:solidFill>
                <a:srgbClr val="FF0000"/>
              </a:solidFill>
            </a:endParaRPr>
          </a:p>
          <a:p>
            <a:pPr>
              <a:lnSpc>
                <a:spcPct val="170000"/>
              </a:lnSpc>
            </a:pPr>
            <a:r>
              <a:rPr lang="zh-CN" altLang="en-US" sz="1200" b="1">
                <a:solidFill>
                  <a:srgbClr val="00B0F0"/>
                </a:solidFill>
              </a:rPr>
              <a:t>条件性：</a:t>
            </a:r>
            <a:r>
              <a:rPr lang="zh-CN" altLang="en-US" sz="1200" b="1"/>
              <a:t>不是每次支付都会执行所有扩展</a:t>
            </a:r>
            <a:endParaRPr lang="zh-CN" altLang="en-US" sz="1200" b="1"/>
          </a:p>
          <a:p>
            <a:pPr>
              <a:lnSpc>
                <a:spcPct val="170000"/>
              </a:lnSpc>
            </a:pPr>
            <a:r>
              <a:rPr lang="zh-CN" altLang="en-US" sz="1200" b="1">
                <a:solidFill>
                  <a:srgbClr val="00B0F0"/>
                </a:solidFill>
              </a:rPr>
              <a:t>增强性：</a:t>
            </a:r>
            <a:r>
              <a:rPr lang="zh-CN" altLang="en-US" sz="1200" b="1"/>
              <a:t>为基础用例添加额外功能</a:t>
            </a:r>
            <a:endParaRPr lang="zh-CN" altLang="en-US" sz="1200" b="1"/>
          </a:p>
          <a:p>
            <a:pPr>
              <a:lnSpc>
                <a:spcPct val="170000"/>
              </a:lnSpc>
            </a:pPr>
            <a:r>
              <a:rPr lang="zh-CN" altLang="en-US" sz="1200" b="1">
                <a:solidFill>
                  <a:srgbClr val="00B0F0"/>
                </a:solidFill>
              </a:rPr>
              <a:t>解耦性：</a:t>
            </a:r>
            <a:r>
              <a:rPr lang="zh-CN" altLang="en-US" sz="1200" b="1"/>
              <a:t>基础用例不依赖扩展用例的存在</a:t>
            </a:r>
            <a:endParaRPr lang="zh-CN" altLang="en-US" sz="1200" b="1"/>
          </a:p>
          <a:p>
            <a:pPr>
              <a:lnSpc>
                <a:spcPct val="170000"/>
              </a:lnSpc>
            </a:pPr>
            <a:r>
              <a:rPr lang="zh-CN" altLang="en-US" sz="1200" b="1">
                <a:solidFill>
                  <a:srgbClr val="00B0F0"/>
                </a:solidFill>
              </a:rPr>
              <a:t>明确性：</a:t>
            </a:r>
            <a:r>
              <a:rPr lang="zh-CN" altLang="en-US" sz="1200" b="1"/>
              <a:t>每个扩展都有清晰的触发条件</a:t>
            </a:r>
            <a:endParaRPr lang="zh-CN" altLang="en-US" sz="1200" b="1"/>
          </a:p>
        </p:txBody>
      </p:sp>
      <p:sp>
        <p:nvSpPr>
          <p:cNvPr id="8" name="文本框 7"/>
          <p:cNvSpPr txBox="1"/>
          <p:nvPr/>
        </p:nvSpPr>
        <p:spPr>
          <a:xfrm>
            <a:off x="7992110" y="4108450"/>
            <a:ext cx="3819525" cy="1972310"/>
          </a:xfrm>
          <a:prstGeom prst="rect">
            <a:avLst/>
          </a:prstGeom>
          <a:noFill/>
        </p:spPr>
        <p:txBody>
          <a:bodyPr wrap="square" rtlCol="0">
            <a:spAutoFit/>
          </a:bodyPr>
          <a:p>
            <a:pPr algn="l">
              <a:lnSpc>
                <a:spcPct val="170000"/>
              </a:lnSpc>
              <a:buClrTx/>
              <a:buSzTx/>
              <a:buFontTx/>
            </a:pPr>
            <a:r>
              <a:rPr lang="zh-CN" altLang="en-US" sz="1200" b="1">
                <a:solidFill>
                  <a:srgbClr val="FF0000"/>
                </a:solidFill>
              </a:rPr>
              <a:t>使用关系的核心要点：</a:t>
            </a:r>
            <a:endParaRPr lang="zh-CN" altLang="en-US" sz="1200" b="1">
              <a:solidFill>
                <a:srgbClr val="FF0000"/>
              </a:solidFill>
            </a:endParaRPr>
          </a:p>
          <a:p>
            <a:pPr algn="l">
              <a:lnSpc>
                <a:spcPct val="170000"/>
              </a:lnSpc>
              <a:buClrTx/>
              <a:buSzTx/>
              <a:buFontTx/>
            </a:pPr>
            <a:r>
              <a:rPr lang="zh-CN" altLang="en-US" sz="1200" b="1">
                <a:solidFill>
                  <a:srgbClr val="00B0F0"/>
                </a:solidFill>
                <a:latin typeface="+mn-ea"/>
                <a:cs typeface="+mn-ea"/>
              </a:rPr>
              <a:t>无条件执行：</a:t>
            </a:r>
            <a:r>
              <a:rPr lang="zh-CN" altLang="en-US" sz="1200" b="1">
                <a:latin typeface="+mn-ea"/>
                <a:cs typeface="+mn-ea"/>
              </a:rPr>
              <a:t>基础用例执行时，被包含用例总是执行</a:t>
            </a:r>
            <a:r>
              <a:rPr lang="en-US" altLang="zh-CN" sz="1200" b="1">
                <a:latin typeface="+mn-ea"/>
                <a:cs typeface="+mn-ea"/>
              </a:rPr>
              <a:t>(</a:t>
            </a:r>
            <a:r>
              <a:rPr lang="zh-CN" altLang="en-US" sz="1200" b="1">
                <a:latin typeface="+mn-ea"/>
                <a:cs typeface="+mn-ea"/>
              </a:rPr>
              <a:t>必须包含</a:t>
            </a:r>
            <a:r>
              <a:rPr lang="en-US" altLang="zh-CN" sz="1200" b="1">
                <a:latin typeface="+mn-ea"/>
                <a:cs typeface="+mn-ea"/>
              </a:rPr>
              <a:t>)</a:t>
            </a:r>
            <a:endParaRPr lang="zh-CN" altLang="en-US" sz="1200" b="1">
              <a:latin typeface="+mn-ea"/>
              <a:cs typeface="+mn-ea"/>
            </a:endParaRPr>
          </a:p>
          <a:p>
            <a:pPr algn="l">
              <a:lnSpc>
                <a:spcPct val="170000"/>
              </a:lnSpc>
              <a:buClrTx/>
              <a:buSzTx/>
              <a:buFontTx/>
            </a:pPr>
            <a:r>
              <a:rPr lang="zh-CN" altLang="en-US" sz="1200" b="1">
                <a:solidFill>
                  <a:srgbClr val="00B0F0"/>
                </a:solidFill>
                <a:latin typeface="+mn-ea"/>
                <a:cs typeface="+mn-ea"/>
              </a:rPr>
              <a:t>单向依赖：</a:t>
            </a:r>
            <a:r>
              <a:rPr lang="zh-CN" altLang="en-US" sz="1200" b="1">
                <a:latin typeface="+mn-ea"/>
                <a:cs typeface="+mn-ea"/>
              </a:rPr>
              <a:t>基础用例依赖被包含用例</a:t>
            </a:r>
            <a:endParaRPr lang="zh-CN" altLang="en-US" sz="1200" b="1">
              <a:latin typeface="+mn-ea"/>
              <a:cs typeface="+mn-ea"/>
            </a:endParaRPr>
          </a:p>
          <a:p>
            <a:pPr algn="l">
              <a:lnSpc>
                <a:spcPct val="170000"/>
              </a:lnSpc>
              <a:buClrTx/>
              <a:buSzTx/>
              <a:buFontTx/>
            </a:pPr>
            <a:r>
              <a:rPr lang="zh-CN" altLang="en-US" sz="1200" b="1">
                <a:solidFill>
                  <a:srgbClr val="00B0F0"/>
                </a:solidFill>
                <a:latin typeface="+mn-ea"/>
                <a:cs typeface="+mn-ea"/>
              </a:rPr>
              <a:t>功能复用：</a:t>
            </a:r>
            <a:r>
              <a:rPr lang="zh-CN" altLang="en-US" sz="1200" b="1">
                <a:latin typeface="+mn-ea"/>
                <a:cs typeface="+mn-ea"/>
              </a:rPr>
              <a:t>多个用例可以包含相同的子用例</a:t>
            </a:r>
            <a:endParaRPr lang="zh-CN" altLang="en-US" sz="1200" b="1">
              <a:latin typeface="+mn-ea"/>
              <a:cs typeface="+mn-ea"/>
            </a:endParaRPr>
          </a:p>
          <a:p>
            <a:pPr algn="l">
              <a:lnSpc>
                <a:spcPct val="170000"/>
              </a:lnSpc>
              <a:buClrTx/>
              <a:buSzTx/>
              <a:buFontTx/>
            </a:pPr>
            <a:r>
              <a:rPr lang="zh-CN" altLang="en-US" sz="1200" b="1">
                <a:solidFill>
                  <a:srgbClr val="00B0F0"/>
                </a:solidFill>
                <a:latin typeface="+mn-ea"/>
                <a:cs typeface="+mn-ea"/>
              </a:rPr>
              <a:t>执行顺序：</a:t>
            </a:r>
            <a:r>
              <a:rPr lang="zh-CN" altLang="en-US" sz="1200" b="1">
                <a:latin typeface="+mn-ea"/>
                <a:cs typeface="+mn-ea"/>
              </a:rPr>
              <a:t>通常在基础用例执行过程中的某个点调用</a:t>
            </a:r>
            <a:endParaRPr lang="zh-CN" altLang="en-US" sz="1200" b="1">
              <a:latin typeface="+mn-ea"/>
              <a:cs typeface="+mn-ea"/>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eepseek_mermaid_20260106_dcd303"/>
          <p:cNvPicPr>
            <a:picLocks noChangeAspect="1"/>
          </p:cNvPicPr>
          <p:nvPr/>
        </p:nvPicPr>
        <p:blipFill>
          <a:blip r:embed="rId1"/>
          <a:srcRect l="4365" t="4788" r="4115" b="4816"/>
          <a:stretch>
            <a:fillRect/>
          </a:stretch>
        </p:blipFill>
        <p:spPr>
          <a:xfrm>
            <a:off x="0" y="499110"/>
            <a:ext cx="6522085" cy="6258560"/>
          </a:xfrm>
          <a:prstGeom prst="rect">
            <a:avLst/>
          </a:prstGeom>
        </p:spPr>
      </p:pic>
      <p:sp>
        <p:nvSpPr>
          <p:cNvPr id="5" name="文本框 4"/>
          <p:cNvSpPr txBox="1"/>
          <p:nvPr/>
        </p:nvSpPr>
        <p:spPr>
          <a:xfrm>
            <a:off x="0" y="-635"/>
            <a:ext cx="12192635" cy="404495"/>
          </a:xfrm>
          <a:prstGeom prst="rect">
            <a:avLst/>
          </a:prstGeom>
          <a:solidFill>
            <a:schemeClr val="accent1"/>
          </a:solidFill>
        </p:spPr>
        <p:txBody>
          <a:bodyPr wrap="square" rtlCol="0" anchor="ctr" anchorCtr="0">
            <a:noAutofit/>
          </a:bodyPr>
          <a:p>
            <a:r>
              <a:rPr lang="en-US" altLang="zh-CN" b="1">
                <a:solidFill>
                  <a:schemeClr val="bg2"/>
                </a:solidFill>
              </a:rPr>
              <a:t> 3</a:t>
            </a:r>
            <a:r>
              <a:rPr lang="zh-CN" altLang="en-US" b="1">
                <a:solidFill>
                  <a:schemeClr val="bg2"/>
                </a:solidFill>
              </a:rPr>
              <a:t>种模型之间的关系</a:t>
            </a:r>
            <a:endParaRPr lang="zh-CN" altLang="en-US" b="1">
              <a:solidFill>
                <a:schemeClr val="bg2"/>
              </a:solidFill>
            </a:endParaRPr>
          </a:p>
        </p:txBody>
      </p:sp>
      <p:sp>
        <p:nvSpPr>
          <p:cNvPr id="7" name="文本框 6"/>
          <p:cNvSpPr txBox="1"/>
          <p:nvPr/>
        </p:nvSpPr>
        <p:spPr>
          <a:xfrm>
            <a:off x="6523355" y="423545"/>
            <a:ext cx="5669280" cy="2117725"/>
          </a:xfrm>
          <a:prstGeom prst="rect">
            <a:avLst/>
          </a:prstGeom>
          <a:solidFill>
            <a:schemeClr val="accent1"/>
          </a:solidFill>
        </p:spPr>
        <p:txBody>
          <a:bodyPr wrap="square" rtlCol="0">
            <a:noAutofit/>
          </a:bodyPr>
          <a:p>
            <a:pPr>
              <a:lnSpc>
                <a:spcPct val="160000"/>
              </a:lnSpc>
            </a:pPr>
            <a:r>
              <a:rPr lang="zh-CN" altLang="en-US" sz="1200" b="1">
                <a:solidFill>
                  <a:srgbClr val="45DB77"/>
                </a:solidFill>
              </a:rPr>
              <a:t>对象模型为动态模型提供"演员"：</a:t>
            </a:r>
            <a:endParaRPr lang="zh-CN" altLang="en-US" sz="1200" b="1">
              <a:solidFill>
                <a:srgbClr val="FBA703"/>
              </a:solidFill>
            </a:endParaRPr>
          </a:p>
          <a:p>
            <a:pPr>
              <a:lnSpc>
                <a:spcPct val="160000"/>
              </a:lnSpc>
            </a:pPr>
            <a:r>
              <a:rPr lang="zh-CN" altLang="en-US" sz="1200" b="1">
                <a:solidFill>
                  <a:schemeClr val="bg1"/>
                </a:solidFill>
              </a:rPr>
              <a:t>  - 动态模型中的消息发送者和接收者都是对象</a:t>
            </a:r>
            <a:endParaRPr lang="zh-CN" altLang="en-US" sz="1200" b="1">
              <a:solidFill>
                <a:schemeClr val="bg1"/>
              </a:solidFill>
            </a:endParaRPr>
          </a:p>
          <a:p>
            <a:pPr>
              <a:lnSpc>
                <a:spcPct val="160000"/>
              </a:lnSpc>
            </a:pPr>
            <a:r>
              <a:rPr lang="zh-CN" altLang="en-US" sz="1200" b="1">
                <a:solidFill>
                  <a:schemeClr val="bg1"/>
                </a:solidFill>
              </a:rPr>
              <a:t>  - 状态变化的主体是对象</a:t>
            </a:r>
            <a:endParaRPr lang="zh-CN" altLang="en-US" sz="1200" b="1">
              <a:solidFill>
                <a:schemeClr val="bg1"/>
              </a:solidFill>
            </a:endParaRPr>
          </a:p>
          <a:p>
            <a:pPr algn="l">
              <a:lnSpc>
                <a:spcPct val="160000"/>
              </a:lnSpc>
              <a:buClrTx/>
              <a:buSzTx/>
              <a:buFontTx/>
            </a:pPr>
            <a:r>
              <a:rPr lang="zh-CN" altLang="en-US" sz="1200" b="1">
                <a:solidFill>
                  <a:srgbClr val="45DB77"/>
                </a:solidFill>
              </a:rPr>
              <a:t>动态模型验证和优化对象模型：</a:t>
            </a:r>
            <a:endParaRPr lang="zh-CN" altLang="en-US" sz="1200" b="1">
              <a:solidFill>
                <a:srgbClr val="45DB77"/>
              </a:solidFill>
            </a:endParaRPr>
          </a:p>
          <a:p>
            <a:pPr>
              <a:lnSpc>
                <a:spcPct val="160000"/>
              </a:lnSpc>
            </a:pPr>
            <a:r>
              <a:rPr lang="zh-CN" altLang="en-US" sz="1200" b="1">
                <a:solidFill>
                  <a:schemeClr val="bg1"/>
                </a:solidFill>
              </a:rPr>
              <a:t>  - 如果某些对象在动态模型中从不交互，可能需要重构</a:t>
            </a:r>
            <a:endParaRPr lang="zh-CN" altLang="en-US" sz="1200" b="1">
              <a:solidFill>
                <a:schemeClr val="bg1"/>
              </a:solidFill>
            </a:endParaRPr>
          </a:p>
          <a:p>
            <a:pPr>
              <a:lnSpc>
                <a:spcPct val="160000"/>
              </a:lnSpc>
            </a:pPr>
            <a:r>
              <a:rPr lang="zh-CN" altLang="en-US" sz="1200" b="1">
                <a:solidFill>
                  <a:schemeClr val="bg1"/>
                </a:solidFill>
              </a:rPr>
              <a:t>  - 如果消息传递过于复杂，可能需要调整对象职责</a:t>
            </a:r>
            <a:endParaRPr lang="zh-CN" altLang="en-US" sz="1200" b="1">
              <a:solidFill>
                <a:schemeClr val="bg1"/>
              </a:solidFill>
            </a:endParaRPr>
          </a:p>
        </p:txBody>
      </p:sp>
      <p:sp>
        <p:nvSpPr>
          <p:cNvPr id="8" name="文本框 7"/>
          <p:cNvSpPr txBox="1"/>
          <p:nvPr/>
        </p:nvSpPr>
        <p:spPr>
          <a:xfrm>
            <a:off x="6522720" y="2562225"/>
            <a:ext cx="5669280" cy="2085340"/>
          </a:xfrm>
          <a:prstGeom prst="rect">
            <a:avLst/>
          </a:prstGeom>
          <a:solidFill>
            <a:schemeClr val="accent3"/>
          </a:solidFill>
        </p:spPr>
        <p:txBody>
          <a:bodyPr wrap="square" rtlCol="0">
            <a:noAutofit/>
          </a:bodyPr>
          <a:p>
            <a:pPr algn="l">
              <a:lnSpc>
                <a:spcPct val="160000"/>
              </a:lnSpc>
              <a:buClrTx/>
              <a:buSzTx/>
              <a:buFontTx/>
            </a:pPr>
            <a:r>
              <a:rPr lang="zh-CN" altLang="en-US" sz="1200" b="1">
                <a:solidFill>
                  <a:srgbClr val="98F5F2"/>
                </a:solidFill>
              </a:rPr>
              <a:t>功能模型需要对象模型来实现：</a:t>
            </a:r>
            <a:endParaRPr lang="zh-CN" altLang="en-US" sz="1200" b="1">
              <a:solidFill>
                <a:srgbClr val="98F5F2"/>
              </a:solidFill>
            </a:endParaRPr>
          </a:p>
          <a:p>
            <a:pPr algn="l">
              <a:lnSpc>
                <a:spcPct val="160000"/>
              </a:lnSpc>
              <a:buClrTx/>
              <a:buSzTx/>
              <a:buFontTx/>
            </a:pPr>
            <a:r>
              <a:rPr lang="zh-CN" altLang="en-US" sz="1200" b="1">
                <a:solidFill>
                  <a:schemeClr val="bg1"/>
                </a:solidFill>
              </a:rPr>
              <a:t>  - 每个功能都需要分配给具体的对象来执行</a:t>
            </a:r>
            <a:endParaRPr lang="zh-CN" altLang="en-US" sz="1200" b="1">
              <a:solidFill>
                <a:schemeClr val="bg1"/>
              </a:solidFill>
            </a:endParaRPr>
          </a:p>
          <a:p>
            <a:pPr algn="l">
              <a:lnSpc>
                <a:spcPct val="160000"/>
              </a:lnSpc>
              <a:buClrTx/>
              <a:buSzTx/>
              <a:buFontTx/>
            </a:pPr>
            <a:r>
              <a:rPr lang="zh-CN" altLang="en-US" sz="1200" b="1">
                <a:solidFill>
                  <a:schemeClr val="bg1"/>
                </a:solidFill>
              </a:rPr>
              <a:t>  - 数据的输入输出需要对象的属性来存储</a:t>
            </a:r>
            <a:endParaRPr lang="zh-CN" altLang="en-US" sz="1200" b="1">
              <a:solidFill>
                <a:schemeClr val="bg1"/>
              </a:solidFill>
            </a:endParaRPr>
          </a:p>
          <a:p>
            <a:pPr algn="l">
              <a:lnSpc>
                <a:spcPct val="160000"/>
              </a:lnSpc>
              <a:buClrTx/>
              <a:buSzTx/>
              <a:buFontTx/>
            </a:pPr>
            <a:r>
              <a:rPr lang="zh-CN" altLang="en-US" sz="1200" b="1">
                <a:solidFill>
                  <a:srgbClr val="98F5F2"/>
                </a:solidFill>
              </a:rPr>
              <a:t>功能模型指导对象模型设计：</a:t>
            </a:r>
            <a:endParaRPr lang="zh-CN" altLang="en-US" sz="1200" b="1">
              <a:solidFill>
                <a:srgbClr val="98F5F2"/>
              </a:solidFill>
            </a:endParaRPr>
          </a:p>
          <a:p>
            <a:pPr algn="l">
              <a:lnSpc>
                <a:spcPct val="160000"/>
              </a:lnSpc>
              <a:buClrTx/>
              <a:buSzTx/>
              <a:buFontTx/>
            </a:pPr>
            <a:r>
              <a:rPr lang="zh-CN" altLang="en-US" sz="1200" b="1">
                <a:solidFill>
                  <a:schemeClr val="bg1"/>
                </a:solidFill>
              </a:rPr>
              <a:t>  - 如果某个功能找不到合适的对象来实现，需要增加新类</a:t>
            </a:r>
            <a:endParaRPr lang="zh-CN" altLang="en-US" sz="1200" b="1">
              <a:solidFill>
                <a:schemeClr val="bg1"/>
              </a:solidFill>
            </a:endParaRPr>
          </a:p>
          <a:p>
            <a:pPr algn="l">
              <a:lnSpc>
                <a:spcPct val="160000"/>
              </a:lnSpc>
              <a:buClrTx/>
              <a:buSzTx/>
              <a:buFontTx/>
            </a:pPr>
            <a:r>
              <a:rPr lang="zh-CN" altLang="en-US" sz="1200" b="1">
                <a:solidFill>
                  <a:schemeClr val="bg1"/>
                </a:solidFill>
              </a:rPr>
              <a:t>  - 功能复杂度影响对象方法的复杂度</a:t>
            </a:r>
            <a:endParaRPr lang="zh-CN" altLang="en-US" sz="1200" b="1">
              <a:solidFill>
                <a:schemeClr val="bg1"/>
              </a:solidFill>
            </a:endParaRPr>
          </a:p>
        </p:txBody>
      </p:sp>
      <p:sp>
        <p:nvSpPr>
          <p:cNvPr id="9" name="文本框 8"/>
          <p:cNvSpPr txBox="1"/>
          <p:nvPr/>
        </p:nvSpPr>
        <p:spPr>
          <a:xfrm>
            <a:off x="6522085" y="4669155"/>
            <a:ext cx="5669280" cy="2188845"/>
          </a:xfrm>
          <a:prstGeom prst="rect">
            <a:avLst/>
          </a:prstGeom>
          <a:solidFill>
            <a:schemeClr val="accent5"/>
          </a:solidFill>
        </p:spPr>
        <p:txBody>
          <a:bodyPr wrap="square" rtlCol="0">
            <a:noAutofit/>
          </a:bodyPr>
          <a:p>
            <a:pPr algn="l">
              <a:lnSpc>
                <a:spcPct val="160000"/>
              </a:lnSpc>
              <a:buClrTx/>
              <a:buSzTx/>
              <a:buFontTx/>
            </a:pPr>
            <a:r>
              <a:rPr lang="zh-CN" altLang="en-US" sz="1200" b="1">
                <a:solidFill>
                  <a:srgbClr val="FBA703"/>
                </a:solidFill>
              </a:rPr>
              <a:t>动态模型实现功能模型的功能：</a:t>
            </a:r>
            <a:endParaRPr lang="zh-CN" altLang="en-US" sz="1200" b="1">
              <a:solidFill>
                <a:srgbClr val="FBA703"/>
              </a:solidFill>
            </a:endParaRPr>
          </a:p>
          <a:p>
            <a:pPr algn="l">
              <a:lnSpc>
                <a:spcPct val="160000"/>
              </a:lnSpc>
              <a:buClrTx/>
              <a:buSzTx/>
              <a:buFontTx/>
            </a:pPr>
            <a:r>
              <a:rPr lang="zh-CN" altLang="en-US" sz="1200" b="1">
                <a:solidFill>
                  <a:schemeClr val="bg1"/>
                </a:solidFill>
              </a:rPr>
              <a:t>  - 每个功能需求都需要通过一系列对象交互来实现</a:t>
            </a:r>
            <a:endParaRPr lang="zh-CN" altLang="en-US" sz="1200" b="1">
              <a:solidFill>
                <a:schemeClr val="bg1"/>
              </a:solidFill>
            </a:endParaRPr>
          </a:p>
          <a:p>
            <a:pPr algn="l">
              <a:lnSpc>
                <a:spcPct val="160000"/>
              </a:lnSpc>
              <a:buClrTx/>
              <a:buSzTx/>
              <a:buFontTx/>
            </a:pPr>
            <a:r>
              <a:rPr lang="zh-CN" altLang="en-US" sz="1200" b="1">
                <a:solidFill>
                  <a:schemeClr val="bg1"/>
                </a:solidFill>
              </a:rPr>
              <a:t>  - 功能流程对应着动态模型的时序</a:t>
            </a:r>
            <a:endParaRPr lang="zh-CN" altLang="en-US" sz="1200" b="1">
              <a:solidFill>
                <a:schemeClr val="bg1"/>
              </a:solidFill>
            </a:endParaRPr>
          </a:p>
          <a:p>
            <a:pPr algn="l">
              <a:lnSpc>
                <a:spcPct val="160000"/>
              </a:lnSpc>
              <a:buClrTx/>
              <a:buSzTx/>
              <a:buFontTx/>
            </a:pPr>
            <a:r>
              <a:rPr lang="zh-CN" altLang="en-US" sz="1200" b="1">
                <a:solidFill>
                  <a:srgbClr val="FBA703"/>
                </a:solidFill>
              </a:rPr>
              <a:t>功能模型约束动态模型的设计：</a:t>
            </a:r>
            <a:endParaRPr lang="zh-CN" altLang="en-US" sz="1200" b="1">
              <a:solidFill>
                <a:srgbClr val="FBA703"/>
              </a:solidFill>
            </a:endParaRPr>
          </a:p>
          <a:p>
            <a:pPr algn="l">
              <a:lnSpc>
                <a:spcPct val="160000"/>
              </a:lnSpc>
              <a:buClrTx/>
              <a:buSzTx/>
              <a:buFontTx/>
            </a:pPr>
            <a:r>
              <a:rPr lang="zh-CN" altLang="en-US" sz="1200" b="1">
                <a:solidFill>
                  <a:schemeClr val="bg1"/>
                </a:solidFill>
              </a:rPr>
              <a:t>  - 动态模型必须满足功能模型的输入输出要求</a:t>
            </a:r>
            <a:endParaRPr lang="zh-CN" altLang="en-US" sz="1200" b="1">
              <a:solidFill>
                <a:schemeClr val="bg1"/>
              </a:solidFill>
            </a:endParaRPr>
          </a:p>
          <a:p>
            <a:pPr algn="l">
              <a:lnSpc>
                <a:spcPct val="160000"/>
              </a:lnSpc>
              <a:buClrTx/>
              <a:buSzTx/>
              <a:buFontTx/>
            </a:pPr>
            <a:r>
              <a:rPr lang="zh-CN" altLang="en-US" sz="1200" b="1">
                <a:solidFill>
                  <a:schemeClr val="bg1"/>
                </a:solidFill>
              </a:rPr>
              <a:t>  - 功能性能要求影响动态模型的并发设计</a:t>
            </a:r>
            <a:endParaRPr lang="zh-CN" altLang="en-US" sz="1200" b="1">
              <a:solidFill>
                <a:schemeClr val="bg1"/>
              </a:solidFill>
            </a:endParaRPr>
          </a:p>
        </p:txBody>
      </p:sp>
      <p:sp>
        <p:nvSpPr>
          <p:cNvPr id="10" name="文本框 9"/>
          <p:cNvSpPr txBox="1"/>
          <p:nvPr/>
        </p:nvSpPr>
        <p:spPr>
          <a:xfrm>
            <a:off x="10263505" y="575945"/>
            <a:ext cx="1762125" cy="306705"/>
          </a:xfrm>
          <a:prstGeom prst="rect">
            <a:avLst/>
          </a:prstGeom>
          <a:noFill/>
        </p:spPr>
        <p:txBody>
          <a:bodyPr wrap="square" rtlCol="0">
            <a:spAutoFit/>
          </a:bodyPr>
          <a:p>
            <a:r>
              <a:rPr lang="zh-CN" altLang="en-US" sz="1400" b="1">
                <a:solidFill>
                  <a:srgbClr val="FFFF00"/>
                </a:solidFill>
                <a:latin typeface="+mn-ea"/>
                <a:cs typeface="+mn-ea"/>
              </a:rPr>
              <a:t>对象模型</a:t>
            </a:r>
            <a:r>
              <a:rPr lang="en-US" altLang="zh-CN" sz="1400" b="1">
                <a:solidFill>
                  <a:srgbClr val="FFFF00"/>
                </a:solidFill>
                <a:latin typeface="+mn-ea"/>
                <a:cs typeface="+mn-ea"/>
              </a:rPr>
              <a:t>--</a:t>
            </a:r>
            <a:r>
              <a:rPr lang="zh-CN" altLang="en-US" sz="1400" b="1">
                <a:solidFill>
                  <a:srgbClr val="FFFF00"/>
                </a:solidFill>
                <a:latin typeface="+mn-ea"/>
                <a:cs typeface="+mn-ea"/>
              </a:rPr>
              <a:t>动态模型</a:t>
            </a:r>
            <a:endParaRPr lang="zh-CN" altLang="en-US" sz="1400" b="1">
              <a:solidFill>
                <a:srgbClr val="FFFF00"/>
              </a:solidFill>
              <a:latin typeface="+mn-ea"/>
              <a:cs typeface="+mn-ea"/>
            </a:endParaRPr>
          </a:p>
        </p:txBody>
      </p:sp>
      <p:sp>
        <p:nvSpPr>
          <p:cNvPr id="11" name="文本框 10"/>
          <p:cNvSpPr txBox="1"/>
          <p:nvPr/>
        </p:nvSpPr>
        <p:spPr>
          <a:xfrm>
            <a:off x="10263505" y="2738120"/>
            <a:ext cx="1762125" cy="306705"/>
          </a:xfrm>
          <a:prstGeom prst="rect">
            <a:avLst/>
          </a:prstGeom>
          <a:noFill/>
        </p:spPr>
        <p:txBody>
          <a:bodyPr wrap="square" rtlCol="0">
            <a:spAutoFit/>
          </a:bodyPr>
          <a:p>
            <a:r>
              <a:rPr lang="zh-CN" altLang="en-US" sz="1400" b="1">
                <a:solidFill>
                  <a:srgbClr val="FFFF00"/>
                </a:solidFill>
                <a:latin typeface="+mn-ea"/>
                <a:cs typeface="+mn-ea"/>
              </a:rPr>
              <a:t>对象模型</a:t>
            </a:r>
            <a:r>
              <a:rPr lang="en-US" altLang="zh-CN" sz="1400" b="1">
                <a:solidFill>
                  <a:srgbClr val="FFFF00"/>
                </a:solidFill>
                <a:latin typeface="+mn-ea"/>
                <a:cs typeface="+mn-ea"/>
              </a:rPr>
              <a:t>--</a:t>
            </a:r>
            <a:r>
              <a:rPr lang="zh-CN" altLang="en-US" sz="1400" b="1">
                <a:solidFill>
                  <a:srgbClr val="FFFF00"/>
                </a:solidFill>
                <a:latin typeface="+mn-ea"/>
                <a:cs typeface="+mn-ea"/>
              </a:rPr>
              <a:t>功能</a:t>
            </a:r>
            <a:r>
              <a:rPr lang="zh-CN" altLang="en-US" sz="1400" b="1">
                <a:solidFill>
                  <a:srgbClr val="FFFF00"/>
                </a:solidFill>
                <a:latin typeface="+mn-ea"/>
                <a:cs typeface="+mn-ea"/>
              </a:rPr>
              <a:t>模型</a:t>
            </a:r>
            <a:endParaRPr lang="zh-CN" altLang="en-US" sz="1400" b="1">
              <a:solidFill>
                <a:srgbClr val="FFFF00"/>
              </a:solidFill>
              <a:latin typeface="+mn-ea"/>
              <a:cs typeface="+mn-ea"/>
            </a:endParaRPr>
          </a:p>
        </p:txBody>
      </p:sp>
      <p:sp>
        <p:nvSpPr>
          <p:cNvPr id="12" name="文本框 11"/>
          <p:cNvSpPr txBox="1"/>
          <p:nvPr/>
        </p:nvSpPr>
        <p:spPr>
          <a:xfrm>
            <a:off x="10263505" y="4795520"/>
            <a:ext cx="1762125" cy="306705"/>
          </a:xfrm>
          <a:prstGeom prst="rect">
            <a:avLst/>
          </a:prstGeom>
          <a:noFill/>
        </p:spPr>
        <p:txBody>
          <a:bodyPr wrap="square" rtlCol="0">
            <a:spAutoFit/>
          </a:bodyPr>
          <a:p>
            <a:r>
              <a:rPr lang="zh-CN" altLang="en-US" sz="1400" b="1">
                <a:solidFill>
                  <a:srgbClr val="FFFF00"/>
                </a:solidFill>
                <a:latin typeface="+mn-ea"/>
                <a:cs typeface="+mn-ea"/>
              </a:rPr>
              <a:t>动态模型</a:t>
            </a:r>
            <a:r>
              <a:rPr lang="en-US" altLang="zh-CN" sz="1400" b="1">
                <a:solidFill>
                  <a:srgbClr val="FFFF00"/>
                </a:solidFill>
                <a:latin typeface="+mn-ea"/>
                <a:cs typeface="+mn-ea"/>
              </a:rPr>
              <a:t>--</a:t>
            </a:r>
            <a:r>
              <a:rPr lang="zh-CN" altLang="en-US" sz="1400" b="1">
                <a:solidFill>
                  <a:srgbClr val="FFFF00"/>
                </a:solidFill>
                <a:latin typeface="+mn-ea"/>
                <a:cs typeface="+mn-ea"/>
              </a:rPr>
              <a:t>功能</a:t>
            </a:r>
            <a:r>
              <a:rPr lang="zh-CN" altLang="en-US" sz="1400" b="1">
                <a:solidFill>
                  <a:srgbClr val="FFFF00"/>
                </a:solidFill>
                <a:latin typeface="+mn-ea"/>
                <a:cs typeface="+mn-ea"/>
              </a:rPr>
              <a:t>模型</a:t>
            </a:r>
            <a:endParaRPr lang="zh-CN" altLang="en-US" sz="1400" b="1">
              <a:solidFill>
                <a:srgbClr val="FFFF00"/>
              </a:solidFill>
              <a:latin typeface="+mn-ea"/>
              <a:cs typeface="+mn-ea"/>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deepseek_mermaid_20260106_82b05e"/>
          <p:cNvPicPr>
            <a:picLocks noChangeAspect="1"/>
          </p:cNvPicPr>
          <p:nvPr/>
        </p:nvPicPr>
        <p:blipFill>
          <a:blip r:embed="rId1"/>
          <a:srcRect l="4495" t="4641" r="4329" b="4503"/>
          <a:stretch>
            <a:fillRect/>
          </a:stretch>
        </p:blipFill>
        <p:spPr>
          <a:xfrm>
            <a:off x="5117465" y="0"/>
            <a:ext cx="7074535" cy="6324600"/>
          </a:xfrm>
          <a:prstGeom prst="rect">
            <a:avLst/>
          </a:prstGeom>
        </p:spPr>
      </p:pic>
      <p:pic>
        <p:nvPicPr>
          <p:cNvPr id="4" name="图片 3" descr="deepseek_mermaid_20260106_9c3e6c"/>
          <p:cNvPicPr>
            <a:picLocks noChangeAspect="1"/>
          </p:cNvPicPr>
          <p:nvPr/>
        </p:nvPicPr>
        <p:blipFill>
          <a:blip r:embed="rId2"/>
          <a:stretch>
            <a:fillRect/>
          </a:stretch>
        </p:blipFill>
        <p:spPr>
          <a:xfrm>
            <a:off x="0" y="0"/>
            <a:ext cx="2458085" cy="6858000"/>
          </a:xfrm>
          <a:prstGeom prst="rect">
            <a:avLst/>
          </a:prstGeom>
          <a:ln>
            <a:solidFill>
              <a:schemeClr val="accent1"/>
            </a:solidFill>
          </a:ln>
        </p:spPr>
      </p:pic>
      <p:pic>
        <p:nvPicPr>
          <p:cNvPr id="5" name="图片 4" descr="deepseek_mermaid_20260106_e33e27"/>
          <p:cNvPicPr>
            <a:picLocks noChangeAspect="1"/>
          </p:cNvPicPr>
          <p:nvPr/>
        </p:nvPicPr>
        <p:blipFill>
          <a:blip r:embed="rId3"/>
          <a:stretch>
            <a:fillRect/>
          </a:stretch>
        </p:blipFill>
        <p:spPr>
          <a:xfrm>
            <a:off x="2705735" y="0"/>
            <a:ext cx="10137140" cy="6858000"/>
          </a:xfrm>
          <a:prstGeom prst="rect">
            <a:avLst/>
          </a:prstGeom>
          <a:ln>
            <a:noFill/>
          </a:ln>
        </p:spPr>
      </p:pic>
      <p:sp>
        <p:nvSpPr>
          <p:cNvPr id="6" name="文本框 5"/>
          <p:cNvSpPr txBox="1"/>
          <p:nvPr/>
        </p:nvSpPr>
        <p:spPr>
          <a:xfrm>
            <a:off x="2453640" y="42545"/>
            <a:ext cx="2486025" cy="306705"/>
          </a:xfrm>
          <a:prstGeom prst="rect">
            <a:avLst/>
          </a:prstGeom>
          <a:noFill/>
        </p:spPr>
        <p:txBody>
          <a:bodyPr wrap="square" rtlCol="0">
            <a:spAutoFit/>
          </a:bodyPr>
          <a:p>
            <a:r>
              <a:rPr lang="zh-CN" altLang="en-US" sz="1400" b="1">
                <a:solidFill>
                  <a:srgbClr val="FF0000"/>
                </a:solidFill>
              </a:rPr>
              <a:t>银行转账系统的实例</a:t>
            </a:r>
            <a:endParaRPr lang="zh-CN" altLang="en-US" sz="1400" b="1">
              <a:solidFill>
                <a:srgbClr val="FF0000"/>
              </a:solidFill>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deepseek_mermaid_20260106_82b05e"/>
          <p:cNvPicPr>
            <a:picLocks noChangeAspect="1"/>
          </p:cNvPicPr>
          <p:nvPr/>
        </p:nvPicPr>
        <p:blipFill>
          <a:blip r:embed="rId1"/>
          <a:srcRect l="4495" t="4641" r="4329" b="4503"/>
          <a:stretch>
            <a:fillRect/>
          </a:stretch>
        </p:blipFill>
        <p:spPr>
          <a:xfrm>
            <a:off x="5117465" y="200025"/>
            <a:ext cx="7074535" cy="6324600"/>
          </a:xfrm>
          <a:prstGeom prst="rect">
            <a:avLst/>
          </a:prstGeom>
        </p:spPr>
      </p:pic>
      <p:pic>
        <p:nvPicPr>
          <p:cNvPr id="6" name="图片 5" descr="deepseek_mermaid_20260106_c13720"/>
          <p:cNvPicPr>
            <a:picLocks noChangeAspect="1"/>
          </p:cNvPicPr>
          <p:nvPr/>
        </p:nvPicPr>
        <p:blipFill>
          <a:blip r:embed="rId2"/>
          <a:stretch>
            <a:fillRect/>
          </a:stretch>
        </p:blipFill>
        <p:spPr>
          <a:xfrm>
            <a:off x="161925" y="0"/>
            <a:ext cx="3665220" cy="6858000"/>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68.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69.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8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DIAGRAM_VIRTUALLY_FRAME" val="{&quot;height&quot;:453.6000000000001,&quot;left&quot;:361.9,&quot;top&quot;:66,&quot;width&quot;:507.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1.xml><?xml version="1.0" encoding="utf-8"?>
<p:tagLst xmlns:p="http://schemas.openxmlformats.org/presentationml/2006/main">
  <p:tag name="KSO_WM_DIAGRAM_VIRTUALLY_FRAME" val="{&quot;height&quot;:453.6000000000001,&quot;left&quot;:361.9,&quot;top&quot;:66,&quot;width&quot;:507.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6.xml><?xml version="1.0" encoding="utf-8"?>
<p:tagLst xmlns:p="http://schemas.openxmlformats.org/presentationml/2006/main">
  <p:tag name="KSO_WM_DIAGRAM_VIRTUALLY_FRAME" val="{&quot;height&quot;:453.6000000000001,&quot;left&quot;:361.9,&quot;top&quot;:66,&quot;width&quot;:507.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1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1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53.6000000000001,&quot;left&quot;:361.9,&quot;top&quot;:66,&quot;width&quot;:507.1}"/>
</p:tagLst>
</file>

<file path=ppt/tags/tag213.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214.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5.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1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7.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8.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9.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0.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3.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4.xml><?xml version="1.0" encoding="utf-8"?>
<p:tagLst xmlns:p="http://schemas.openxmlformats.org/presentationml/2006/main">
  <p:tag name="TABLE_ENDDRAG_ORIGIN_RECT" val="303*128"/>
  <p:tag name="TABLE_ENDDRAG_RECT" val="628*360*303*128"/>
</p:tagLst>
</file>

<file path=ppt/tags/tag225.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7.xml><?xml version="1.0" encoding="utf-8"?>
<p:tagLst xmlns:p="http://schemas.openxmlformats.org/presentationml/2006/main">
  <p:tag name="KSO_WM_DIAGRAM_VIRTUALLY_FRAME" val="{&quot;height&quot;:541.6,&quot;left&quot;:0,&quot;top&quot;:-0.8,&quot;width&quot;:968.1}"/>
</p:tagLst>
</file>

<file path=ppt/tags/tag228.xml><?xml version="1.0" encoding="utf-8"?>
<p:tagLst xmlns:p="http://schemas.openxmlformats.org/presentationml/2006/main">
  <p:tag name="KSO_WM_DIAGRAM_VIRTUALLY_FRAME" val="{&quot;height&quot;:541.6,&quot;left&quot;:0,&quot;top&quot;:-0.8,&quot;width&quot;:968.1}"/>
</p:tagLst>
</file>

<file path=ppt/tags/tag229.xml><?xml version="1.0" encoding="utf-8"?>
<p:tagLst xmlns:p="http://schemas.openxmlformats.org/presentationml/2006/main">
  <p:tag name="KSO_WM_DIAGRAM_VIRTUALLY_FRAME" val="{&quot;height&quot;:541.6,&quot;left&quot;:0,&quot;top&quot;:-0.8,&quot;width&quot;:968.1}"/>
</p:tagLst>
</file>

<file path=ppt/tags/tag230.xml><?xml version="1.0" encoding="utf-8"?>
<p:tagLst xmlns:p="http://schemas.openxmlformats.org/presentationml/2006/main">
  <p:tag name="KSO_WM_DIAGRAM_VIRTUALLY_FRAME" val="{&quot;height&quot;:541.6,&quot;left&quot;:0,&quot;top&quot;:-0.8,&quot;width&quot;:968.1}"/>
</p:tagLst>
</file>

<file path=ppt/tags/tag231.xml><?xml version="1.0" encoding="utf-8"?>
<p:tagLst xmlns:p="http://schemas.openxmlformats.org/presentationml/2006/main">
  <p:tag name="KSO_WM_DIAGRAM_VIRTUALLY_FRAME" val="{&quot;height&quot;:541.6,&quot;left&quot;:0,&quot;top&quot;:-0.8,&quot;width&quot;:968.1}"/>
</p:tagLst>
</file>

<file path=ppt/tags/tag232.xml><?xml version="1.0" encoding="utf-8"?>
<p:tagLst xmlns:p="http://schemas.openxmlformats.org/presentationml/2006/main">
  <p:tag name="KSO_WM_DIAGRAM_VIRTUALLY_FRAME" val="{&quot;height&quot;:541.6,&quot;left&quot;:0,&quot;top&quot;:-0.8,&quot;width&quot;:968.1}"/>
</p:tagLst>
</file>

<file path=ppt/tags/tag233.xml><?xml version="1.0" encoding="utf-8"?>
<p:tagLst xmlns:p="http://schemas.openxmlformats.org/presentationml/2006/main">
  <p:tag name="KSO_WM_DIAGRAM_VIRTUALLY_FRAME" val="{&quot;height&quot;:541.6,&quot;left&quot;:0,&quot;top&quot;:-0.8,&quot;width&quot;:968.1}"/>
</p:tagLst>
</file>

<file path=ppt/tags/tag234.xml><?xml version="1.0" encoding="utf-8"?>
<p:tagLst xmlns:p="http://schemas.openxmlformats.org/presentationml/2006/main">
  <p:tag name="KSO_WM_DIAGRAM_VIRTUALLY_FRAME" val="{&quot;height&quot;:541.6,&quot;left&quot;:0,&quot;top&quot;:-0.8,&quot;width&quot;:968.1}"/>
</p:tagLst>
</file>

<file path=ppt/tags/tag235.xml><?xml version="1.0" encoding="utf-8"?>
<p:tagLst xmlns:p="http://schemas.openxmlformats.org/presentationml/2006/main">
  <p:tag name="KSO_WM_DIAGRAM_VIRTUALLY_FRAME" val="{&quot;height&quot;:541.6,&quot;left&quot;:0,&quot;top&quot;:-0.8,&quot;width&quot;:968.1}"/>
</p:tagLst>
</file>

<file path=ppt/tags/tag236.xml><?xml version="1.0" encoding="utf-8"?>
<p:tagLst xmlns:p="http://schemas.openxmlformats.org/presentationml/2006/main">
  <p:tag name="KSO_WM_DIAGRAM_VIRTUALLY_FRAME" val="{&quot;height&quot;:541.6,&quot;left&quot;:0,&quot;top&quot;:-0.8,&quot;width&quot;:968.1}"/>
</p:tagLst>
</file>

<file path=ppt/tags/tag237.xml><?xml version="1.0" encoding="utf-8"?>
<p:tagLst xmlns:p="http://schemas.openxmlformats.org/presentationml/2006/main">
  <p:tag name="KSO_WM_DIAGRAM_VIRTUALLY_FRAME" val="{&quot;height&quot;:541.6,&quot;left&quot;:0,&quot;top&quot;:-0.8,&quot;width&quot;:968.1}"/>
</p:tagLst>
</file>

<file path=ppt/tags/tag238.xml><?xml version="1.0" encoding="utf-8"?>
<p:tagLst xmlns:p="http://schemas.openxmlformats.org/presentationml/2006/main">
  <p:tag name="KSO_WM_DIAGRAM_VIRTUALLY_FRAME" val="{&quot;height&quot;:541.6,&quot;left&quot;:0,&quot;top&quot;:-0.8,&quot;width&quot;:968.1}"/>
</p:tagLst>
</file>

<file path=ppt/tags/tag239.xml><?xml version="1.0" encoding="utf-8"?>
<p:tagLst xmlns:p="http://schemas.openxmlformats.org/presentationml/2006/main">
  <p:tag name="KSO_WM_DIAGRAM_VIRTUALLY_FRAME" val="{&quot;height&quot;:541.6,&quot;left&quot;:0,&quot;top&quot;:-0.8,&quot;width&quot;:968.1}"/>
</p:tagLst>
</file>

<file path=ppt/tags/tag240.xml><?xml version="1.0" encoding="utf-8"?>
<p:tagLst xmlns:p="http://schemas.openxmlformats.org/presentationml/2006/main">
  <p:tag name="KSO_WM_DIAGRAM_VIRTUALLY_FRAME" val="{&quot;height&quot;:541.6,&quot;left&quot;:0,&quot;top&quot;:-0.8,&quot;width&quot;:968.1}"/>
</p:tagLst>
</file>

<file path=ppt/tags/tag24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2.xml><?xml version="1.0" encoding="utf-8"?>
<p:tagLst xmlns:p="http://schemas.openxmlformats.org/presentationml/2006/main">
  <p:tag name="KSO_WM_DIAGRAM_VIRTUALLY_FRAME" val="{&quot;height&quot;:541.6,&quot;left&quot;:0,&quot;top&quot;:-0.8,&quot;width&quot;:968.1}"/>
</p:tagLst>
</file>

<file path=ppt/tags/tag243.xml><?xml version="1.0" encoding="utf-8"?>
<p:tagLst xmlns:p="http://schemas.openxmlformats.org/presentationml/2006/main">
  <p:tag name="KSO_WM_DIAGRAM_VIRTUALLY_FRAME" val="{&quot;height&quot;:541.6,&quot;left&quot;:0,&quot;top&quot;:-0.8,&quot;width&quot;:968.1}"/>
</p:tagLst>
</file>

<file path=ppt/tags/tag244.xml><?xml version="1.0" encoding="utf-8"?>
<p:tagLst xmlns:p="http://schemas.openxmlformats.org/presentationml/2006/main">
  <p:tag name="KSO_WM_DIAGRAM_VIRTUALLY_FRAME" val="{&quot;height&quot;:541.6,&quot;left&quot;:0,&quot;top&quot;:-0.8,&quot;width&quot;:968.1}"/>
</p:tagLst>
</file>

<file path=ppt/tags/tag245.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7.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48.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49.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50.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51.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252.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53.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7317</Words>
  <Application>WPS 演示</Application>
  <PresentationFormat>宽屏</PresentationFormat>
  <Paragraphs>413</Paragraphs>
  <Slides>20</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20</vt:i4>
      </vt:variant>
    </vt:vector>
  </HeadingPairs>
  <TitlesOfParts>
    <vt:vector size="34" baseType="lpstr">
      <vt:lpstr>Arial</vt:lpstr>
      <vt:lpstr>宋体</vt:lpstr>
      <vt:lpstr>Wingdings</vt:lpstr>
      <vt:lpstr>微软雅黑</vt:lpstr>
      <vt:lpstr>汉仪旗黑-85S</vt:lpstr>
      <vt:lpstr>黑体</vt:lpstr>
      <vt:lpstr>Viner Hand ITC</vt:lpstr>
      <vt:lpstr>华光彩云_CNKI</vt:lpstr>
      <vt:lpstr>Bodoni MT Black</vt:lpstr>
      <vt:lpstr>Arial Unicode MS</vt:lpstr>
      <vt:lpstr>Calibri</vt:lpstr>
      <vt:lpstr>仿宋</vt:lpstr>
      <vt:lpstr>华光胖头鱼_CNKI</vt:lpstr>
      <vt:lpstr>2_Office 主题​​</vt:lpstr>
      <vt:lpstr>软件工程导论（第6版）</vt:lpstr>
      <vt:lpstr>第7章  面向对象方法学引论</vt:lpstr>
      <vt:lpstr>PowerPoint 演示文稿</vt:lpstr>
      <vt:lpstr>面向对象方法学概述</vt:lpstr>
      <vt:lpstr>PowerPoint 演示文稿</vt:lpstr>
      <vt:lpstr>PowerPoint 演示文稿</vt:lpstr>
      <vt:lpstr>面向对象的概念</vt:lpstr>
      <vt:lpstr>PowerPoint 演示文稿</vt:lpstr>
      <vt:lpstr>PowerPoint 演示文稿</vt:lpstr>
      <vt:lpstr>PowerPoint 演示文稿</vt:lpstr>
      <vt:lpstr>面向对象建模</vt:lpstr>
      <vt:lpstr>PowerPoint 演示文稿</vt:lpstr>
      <vt:lpstr>PowerPoint 演示文稿</vt:lpstr>
      <vt:lpstr>PowerPoint 演示文稿</vt:lpstr>
      <vt:lpstr>PowerPoint 演示文稿</vt:lpstr>
      <vt:lpstr>PowerPoint 演示文稿</vt:lpstr>
      <vt:lpstr>THANKS</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半湖柳色</cp:lastModifiedBy>
  <cp:revision>424</cp:revision>
  <dcterms:created xsi:type="dcterms:W3CDTF">2019-06-19T02:08:00Z</dcterms:created>
  <dcterms:modified xsi:type="dcterms:W3CDTF">2026-01-06T10:13:11Z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56425DB37219483ABF9AE34DDB9ED443_13</vt:lpwstr>
  </property>
</Properties>
</file>