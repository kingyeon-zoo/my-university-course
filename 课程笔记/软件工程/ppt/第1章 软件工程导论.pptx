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73" r:id="rId4"/>
    <p:sldId id="261" r:id="rId5"/>
    <p:sldId id="267" r:id="rId6"/>
    <p:sldId id="266" r:id="rId8"/>
    <p:sldId id="274" r:id="rId9"/>
    <p:sldId id="275" r:id="rId10"/>
    <p:sldId id="276" r:id="rId11"/>
    <p:sldId id="277" r:id="rId12"/>
    <p:sldId id="278" r:id="rId13"/>
    <p:sldId id="279" r:id="rId14"/>
    <p:sldId id="280" r:id="rId15"/>
    <p:sldId id="269" r:id="rId16"/>
    <p:sldId id="282" r:id="rId17"/>
    <p:sldId id="283" r:id="rId18"/>
    <p:sldId id="284" r:id="rId19"/>
    <p:sldId id="285" r:id="rId20"/>
    <p:sldId id="286" r:id="rId21"/>
    <p:sldId id="287" r:id="rId22"/>
    <p:sldId id="288" r:id="rId23"/>
    <p:sldId id="289" r:id="rId24"/>
    <p:sldId id="290" r:id="rId25"/>
    <p:sldId id="292" r:id="rId26"/>
    <p:sldId id="272"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5D5FF"/>
    <a:srgbClr val="5C8FC7"/>
    <a:srgbClr val="F9FAFB"/>
    <a:srgbClr val="D1F2E3"/>
    <a:srgbClr val="75AD50"/>
    <a:srgbClr val="E47E39"/>
    <a:srgbClr val="45DB77"/>
    <a:srgbClr val="91DA9D"/>
    <a:srgbClr val="DCF1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2"/>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324.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8093E7D-72E2-469F-AD38-E195A6CB2294}"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893613D5-DE85-407F-B216-C92194E21B10}">
      <dgm:prSet phldrT="[文本]" phldr="0" custT="1"/>
      <dgm:spPr/>
      <dgm:t>
        <a:bodyPr vert="horz" wrap="square"/>
        <a:p>
          <a:pPr>
            <a:lnSpc>
              <a:spcPct val="100000"/>
            </a:lnSpc>
            <a:spcBef>
              <a:spcPct val="0"/>
            </a:spcBef>
            <a:spcAft>
              <a:spcPct val="35000"/>
            </a:spcAft>
          </a:pPr>
          <a:r>
            <a:rPr lang="zh-CN" altLang="en-US" sz="1800" smtClean="0">
              <a:latin typeface="+mj-ea"/>
              <a:ea typeface="+mj-ea"/>
            </a:rPr>
            <a:t>软件工程关注于</a:t>
          </a:r>
          <a:r>
            <a:rPr lang="zh-CN" altLang="en-US" sz="1800" smtClean="0">
              <a:solidFill>
                <a:srgbClr val="FFFF00"/>
              </a:solidFill>
              <a:latin typeface="+mj-ea"/>
              <a:ea typeface="+mj-ea"/>
            </a:rPr>
            <a:t>大型程序</a:t>
          </a:r>
          <a:r>
            <a:rPr lang="zh-CN" altLang="en-US" sz="1800" smtClean="0">
              <a:latin typeface="+mj-ea"/>
              <a:ea typeface="+mj-ea"/>
            </a:rPr>
            <a:t>的构造</a:t>
          </a:r>
          <a:r>
            <a:rPr lang="zh-CN" altLang="en-US" sz="1800" dirty="0">
              <a:latin typeface="+mj-ea"/>
              <a:ea typeface="+mj-ea"/>
            </a:rPr>
            <a:t/>
          </a:r>
          <a:endParaRPr lang="zh-CN" altLang="en-US" sz="1800" dirty="0">
            <a:latin typeface="+mj-ea"/>
            <a:ea typeface="+mj-ea"/>
          </a:endParaRPr>
        </a:p>
      </dgm:t>
    </dgm:pt>
    <dgm:pt modelId="{8896E1D1-25BD-43BD-8A8B-D6EE239520C9}" cxnId="{0A2C97BA-5CAB-4DA8-AB38-9B06576F6C00}" type="parTrans">
      <dgm:prSet/>
      <dgm:spPr/>
      <dgm:t>
        <a:bodyPr/>
        <a:lstStyle/>
        <a:p>
          <a:endParaRPr lang="zh-CN" altLang="en-US"/>
        </a:p>
      </dgm:t>
    </dgm:pt>
    <dgm:pt modelId="{45A0ECF1-4573-45DA-9FA0-B181CC4CC582}" cxnId="{0A2C97BA-5CAB-4DA8-AB38-9B06576F6C00}" type="sibTrans">
      <dgm:prSet/>
      <dgm:spPr/>
      <dgm:t>
        <a:bodyPr/>
        <a:lstStyle/>
        <a:p>
          <a:endParaRPr lang="zh-CN" altLang="en-US"/>
        </a:p>
      </dgm:t>
    </dgm:pt>
    <dgm:pt modelId="{8E51EFB7-93B6-469B-8B2C-7EFEBA948EF2}">
      <dgm:prSet phldr="0" custT="0"/>
      <dgm:spPr/>
      <dgm:t>
        <a:bodyPr vert="horz" wrap="square"/>
        <a:p>
          <a:r>
            <a:rPr>
              <a:latin typeface="+mj-ea"/>
              <a:ea typeface="+mj-ea"/>
            </a:rPr>
            <a:t/>
          </a:r>
          <a:endParaRPr>
            <a:latin typeface="+mj-ea"/>
            <a:ea typeface="+mj-ea"/>
          </a:endParaRPr>
        </a:p>
      </dgm:t>
    </dgm:pt>
    <dgm:pt modelId="{1FC7598D-5CCC-425D-94E5-23AEEE49B5F7}" cxnId="{5D899142-63ED-4F74-A052-6C1EF691866C}" type="parTrans">
      <dgm:prSet/>
      <dgm:spPr/>
    </dgm:pt>
    <dgm:pt modelId="{E471B3DE-DB6A-40B7-B451-E331734168EC}" cxnId="{5D899142-63ED-4F74-A052-6C1EF691866C}" type="sibTrans">
      <dgm:prSet/>
      <dgm:spPr/>
    </dgm:pt>
    <dgm:pt modelId="{0E77F695-092A-4633-9249-8CE5D5AA43DF}">
      <dgm:prSet phldrT="[文本]" phldr="0" custT="1"/>
      <dgm:spPr/>
      <dgm:t>
        <a:bodyPr vert="horz" wrap="square"/>
        <a:p>
          <a:pPr>
            <a:lnSpc>
              <a:spcPct val="100000"/>
            </a:lnSpc>
            <a:spcBef>
              <a:spcPct val="0"/>
            </a:spcBef>
            <a:spcAft>
              <a:spcPct val="35000"/>
            </a:spcAft>
          </a:pPr>
          <a:r>
            <a:rPr lang="zh-CN" altLang="en-US" sz="1800" smtClean="0">
              <a:latin typeface="+mj-ea"/>
              <a:ea typeface="+mj-ea"/>
            </a:rPr>
            <a:t>软件工程的中心课题是</a:t>
          </a:r>
          <a:r>
            <a:rPr lang="zh-CN" altLang="en-US" sz="1800" smtClean="0">
              <a:solidFill>
                <a:srgbClr val="FFFF00"/>
              </a:solidFill>
              <a:latin typeface="+mj-ea"/>
              <a:ea typeface="+mj-ea"/>
            </a:rPr>
            <a:t>控制复杂性</a:t>
          </a:r>
          <a:r>
            <a:rPr lang="zh-CN" altLang="en-US" sz="1800" dirty="0" smtClean="0">
              <a:solidFill>
                <a:srgbClr val="FFFF00"/>
              </a:solidFill>
              <a:latin typeface="+mj-ea"/>
              <a:ea typeface="+mj-ea"/>
            </a:rPr>
            <a:t/>
          </a:r>
          <a:endParaRPr lang="zh-CN" altLang="en-US" sz="1800" dirty="0" smtClean="0">
            <a:solidFill>
              <a:srgbClr val="FFFF00"/>
            </a:solidFill>
            <a:latin typeface="+mj-ea"/>
            <a:ea typeface="+mj-ea"/>
          </a:endParaRPr>
        </a:p>
      </dgm:t>
    </dgm:pt>
    <dgm:pt modelId="{C8AB02A5-257C-4A82-BD73-7B1E29257A9F}" cxnId="{94E4C965-B9DA-433B-B3A5-73FA4987B534}" type="parTrans">
      <dgm:prSet/>
      <dgm:spPr/>
      <dgm:t>
        <a:bodyPr/>
        <a:lstStyle/>
        <a:p>
          <a:endParaRPr lang="zh-CN" altLang="en-US"/>
        </a:p>
      </dgm:t>
    </dgm:pt>
    <dgm:pt modelId="{4D934B84-7468-482B-8CAD-A5282EEAB222}" cxnId="{94E4C965-B9DA-433B-B3A5-73FA4987B534}" type="sibTrans">
      <dgm:prSet/>
      <dgm:spPr/>
      <dgm:t>
        <a:bodyPr/>
        <a:lstStyle/>
        <a:p>
          <a:endParaRPr lang="zh-CN" altLang="en-US"/>
        </a:p>
      </dgm:t>
    </dgm:pt>
    <dgm:pt modelId="{68A2DBA3-73CD-42FC-9886-5F859707CEEF}">
      <dgm:prSet phldr="0" custT="0"/>
      <dgm:spPr/>
      <dgm:t>
        <a:bodyPr vert="horz" wrap="square"/>
        <a:p>
          <a:r>
            <a:rPr>
              <a:latin typeface="+mj-ea"/>
              <a:ea typeface="+mj-ea"/>
            </a:rPr>
            <a:t/>
          </a:r>
          <a:endParaRPr>
            <a:latin typeface="+mj-ea"/>
            <a:ea typeface="+mj-ea"/>
          </a:endParaRPr>
        </a:p>
      </dgm:t>
    </dgm:pt>
    <dgm:pt modelId="{4859E55E-A7D7-42C6-85E6-9F82F4311F97}" cxnId="{907C00A0-9E55-4EB5-96C0-53AB59431489}" type="parTrans">
      <dgm:prSet/>
      <dgm:spPr/>
    </dgm:pt>
    <dgm:pt modelId="{AFCFAA0B-37D9-420C-B964-3A0A927D712E}" cxnId="{907C00A0-9E55-4EB5-96C0-53AB59431489}" type="sibTrans">
      <dgm:prSet/>
      <dgm:spPr/>
    </dgm:pt>
    <dgm:pt modelId="{2332ECA6-8F5E-4F3A-9A27-062ABEC60810}">
      <dgm:prSet phldrT="[文本]" phldr="0" custT="1"/>
      <dgm:spPr/>
      <dgm:t>
        <a:bodyPr vert="horz" wrap="square"/>
        <a:p>
          <a:pPr>
            <a:lnSpc>
              <a:spcPct val="100000"/>
            </a:lnSpc>
            <a:spcBef>
              <a:spcPct val="0"/>
            </a:spcBef>
            <a:spcAft>
              <a:spcPct val="35000"/>
            </a:spcAft>
          </a:pPr>
          <a:r>
            <a:rPr lang="zh-CN" altLang="en-US" sz="1800" smtClean="0">
              <a:latin typeface="+mj-ea"/>
              <a:ea typeface="+mj-ea"/>
            </a:rPr>
            <a:t>软件经常</a:t>
          </a:r>
          <a:r>
            <a:rPr lang="zh-CN" altLang="en-US" sz="1800" smtClean="0">
              <a:solidFill>
                <a:srgbClr val="FFFF00"/>
              </a:solidFill>
              <a:latin typeface="+mj-ea"/>
              <a:ea typeface="+mj-ea"/>
            </a:rPr>
            <a:t>变化</a:t>
          </a:r>
          <a:r>
            <a:rPr lang="zh-CN" altLang="en-US" sz="1800" dirty="0" smtClean="0">
              <a:solidFill>
                <a:srgbClr val="FFFF00"/>
              </a:solidFill>
              <a:latin typeface="+mj-ea"/>
              <a:ea typeface="+mj-ea"/>
            </a:rPr>
            <a:t/>
          </a:r>
          <a:endParaRPr lang="zh-CN" altLang="en-US" sz="1800" dirty="0" smtClean="0">
            <a:solidFill>
              <a:srgbClr val="FFFF00"/>
            </a:solidFill>
            <a:latin typeface="+mj-ea"/>
            <a:ea typeface="+mj-ea"/>
          </a:endParaRPr>
        </a:p>
      </dgm:t>
    </dgm:pt>
    <dgm:pt modelId="{3D834634-C1D9-444E-BF48-0790AE39DAA1}" cxnId="{37A1795E-1F37-4DE4-BE53-0DBD5064BB60}" type="parTrans">
      <dgm:prSet/>
      <dgm:spPr/>
      <dgm:t>
        <a:bodyPr/>
        <a:lstStyle/>
        <a:p>
          <a:endParaRPr lang="zh-CN" altLang="en-US"/>
        </a:p>
      </dgm:t>
    </dgm:pt>
    <dgm:pt modelId="{44786B1D-F429-4F75-85BC-D106C18B2E51}" cxnId="{37A1795E-1F37-4DE4-BE53-0DBD5064BB60}" type="sibTrans">
      <dgm:prSet/>
      <dgm:spPr/>
      <dgm:t>
        <a:bodyPr/>
        <a:lstStyle/>
        <a:p>
          <a:endParaRPr lang="zh-CN" altLang="en-US"/>
        </a:p>
      </dgm:t>
    </dgm:pt>
    <dgm:pt modelId="{DECB6981-7AE2-4621-AF9B-2069617D3D95}">
      <dgm:prSet phldr="0" custT="0"/>
      <dgm:spPr/>
      <dgm:t>
        <a:bodyPr vert="horz" wrap="square"/>
        <a:p>
          <a:r>
            <a:rPr>
              <a:latin typeface="+mj-ea"/>
              <a:ea typeface="+mj-ea"/>
            </a:rPr>
            <a:t/>
          </a:r>
          <a:endParaRPr>
            <a:latin typeface="+mj-ea"/>
            <a:ea typeface="+mj-ea"/>
          </a:endParaRPr>
        </a:p>
      </dgm:t>
    </dgm:pt>
    <dgm:pt modelId="{91E04803-7C37-4540-81BC-1EDD591E4866}" cxnId="{EDEB6BBE-F38A-4F28-B0F8-24D6D2A43344}" type="parTrans">
      <dgm:prSet/>
      <dgm:spPr/>
    </dgm:pt>
    <dgm:pt modelId="{33025E7C-CC01-4007-9F49-02730DFEAB66}" cxnId="{EDEB6BBE-F38A-4F28-B0F8-24D6D2A43344}" type="sibTrans">
      <dgm:prSet/>
      <dgm:spPr/>
    </dgm:pt>
    <dgm:pt modelId="{9A02DFF9-72F5-4DE8-9CFE-FA4439AE892C}">
      <dgm:prSet phldrT="[文本]" phldr="0" custT="1"/>
      <dgm:spPr/>
      <dgm:t>
        <a:bodyPr vert="horz" wrap="square"/>
        <a:p>
          <a:pPr>
            <a:lnSpc>
              <a:spcPct val="100000"/>
            </a:lnSpc>
            <a:spcBef>
              <a:spcPct val="0"/>
            </a:spcBef>
            <a:spcAft>
              <a:spcPct val="35000"/>
            </a:spcAft>
          </a:pPr>
          <a:r>
            <a:rPr lang="zh-CN" altLang="en-US" sz="1800" smtClean="0">
              <a:latin typeface="+mj-ea"/>
              <a:ea typeface="+mj-ea"/>
            </a:rPr>
            <a:t>开发软件的</a:t>
          </a:r>
          <a:r>
            <a:rPr lang="zh-CN" altLang="en-US" sz="1800" smtClean="0">
              <a:solidFill>
                <a:srgbClr val="FFFF00"/>
              </a:solidFill>
              <a:latin typeface="+mj-ea"/>
              <a:ea typeface="+mj-ea"/>
            </a:rPr>
            <a:t>效率</a:t>
          </a:r>
          <a:r>
            <a:rPr lang="zh-CN" altLang="en-US" sz="1800" smtClean="0">
              <a:latin typeface="+mj-ea"/>
              <a:ea typeface="+mj-ea"/>
            </a:rPr>
            <a:t>非常重要</a:t>
          </a:r>
          <a:r>
            <a:rPr lang="zh-CN" altLang="en-US" sz="1800" dirty="0">
              <a:latin typeface="+mj-ea"/>
              <a:ea typeface="+mj-ea"/>
            </a:rPr>
            <a:t/>
          </a:r>
          <a:endParaRPr lang="zh-CN" altLang="en-US" sz="1800" dirty="0">
            <a:latin typeface="+mj-ea"/>
            <a:ea typeface="+mj-ea"/>
          </a:endParaRPr>
        </a:p>
      </dgm:t>
    </dgm:pt>
    <dgm:pt modelId="{2ABAC83E-72D4-4C1F-A5D8-BEF6BA7E3D91}" cxnId="{380E980A-6EFF-4BAC-82C9-4583D2B1B31E}" type="parTrans">
      <dgm:prSet/>
      <dgm:spPr/>
      <dgm:t>
        <a:bodyPr/>
        <a:lstStyle/>
        <a:p>
          <a:endParaRPr lang="zh-CN" altLang="en-US"/>
        </a:p>
      </dgm:t>
    </dgm:pt>
    <dgm:pt modelId="{96AC31D9-5AF0-47F5-BD87-C0C74540F3A8}" cxnId="{380E980A-6EFF-4BAC-82C9-4583D2B1B31E}" type="sibTrans">
      <dgm:prSet/>
      <dgm:spPr/>
      <dgm:t>
        <a:bodyPr/>
        <a:lstStyle/>
        <a:p>
          <a:endParaRPr lang="zh-CN" altLang="en-US"/>
        </a:p>
      </dgm:t>
    </dgm:pt>
    <dgm:pt modelId="{BB93DF74-4D2C-4815-AC2B-B3437FA2AC61}">
      <dgm:prSet phldr="0" custT="0"/>
      <dgm:spPr/>
      <dgm:t>
        <a:bodyPr vert="horz" wrap="square"/>
        <a:p>
          <a:r>
            <a:rPr>
              <a:latin typeface="+mj-ea"/>
              <a:ea typeface="+mj-ea"/>
            </a:rPr>
            <a:t/>
          </a:r>
          <a:endParaRPr>
            <a:latin typeface="+mj-ea"/>
            <a:ea typeface="+mj-ea"/>
          </a:endParaRPr>
        </a:p>
      </dgm:t>
    </dgm:pt>
    <dgm:pt modelId="{EC14EFEE-27B9-422D-989F-D65956745D5F}" cxnId="{3F53A9AB-5615-4F7B-908B-18861559E5E6}" type="parTrans">
      <dgm:prSet/>
      <dgm:spPr/>
    </dgm:pt>
    <dgm:pt modelId="{3905201B-6FF1-4C35-A5C2-605ED3530F63}" cxnId="{3F53A9AB-5615-4F7B-908B-18861559E5E6}" type="sibTrans">
      <dgm:prSet/>
      <dgm:spPr/>
    </dgm:pt>
    <dgm:pt modelId="{41E1A765-E429-4C13-A543-C0C33787D7B6}">
      <dgm:prSet phldrT="[文本]" phldr="0" custT="1"/>
      <dgm:spPr/>
      <dgm:t>
        <a:bodyPr vert="horz" wrap="square"/>
        <a:p>
          <a:pPr>
            <a:lnSpc>
              <a:spcPct val="100000"/>
            </a:lnSpc>
            <a:spcBef>
              <a:spcPct val="0"/>
            </a:spcBef>
            <a:spcAft>
              <a:spcPct val="35000"/>
            </a:spcAft>
          </a:pPr>
          <a:r>
            <a:rPr lang="zh-CN" altLang="en-US" sz="1800" smtClean="0">
              <a:latin typeface="+mj-ea"/>
              <a:ea typeface="+mj-ea"/>
            </a:rPr>
            <a:t>和谐地</a:t>
          </a:r>
          <a:r>
            <a:rPr lang="zh-CN" altLang="en-US" sz="1800" smtClean="0">
              <a:solidFill>
                <a:srgbClr val="FFFF00"/>
              </a:solidFill>
              <a:latin typeface="+mj-ea"/>
              <a:ea typeface="+mj-ea"/>
            </a:rPr>
            <a:t>合作</a:t>
          </a:r>
          <a:r>
            <a:rPr lang="zh-CN" altLang="en-US" sz="1800" smtClean="0">
              <a:latin typeface="+mj-ea"/>
              <a:ea typeface="+mj-ea"/>
            </a:rPr>
            <a:t>是开发软件的关键</a:t>
          </a:r>
          <a:r>
            <a:rPr lang="zh-CN" altLang="en-US" sz="1800" dirty="0">
              <a:latin typeface="+mj-ea"/>
              <a:ea typeface="+mj-ea"/>
            </a:rPr>
            <a:t/>
          </a:r>
          <a:endParaRPr lang="zh-CN" altLang="en-US" sz="1800" dirty="0">
            <a:latin typeface="+mj-ea"/>
            <a:ea typeface="+mj-ea"/>
          </a:endParaRPr>
        </a:p>
      </dgm:t>
    </dgm:pt>
    <dgm:pt modelId="{0C313F76-B21A-482B-BF23-F0BB504E6CAC}" cxnId="{FE58866B-D6B9-4B14-8118-322996D7404A}" type="parTrans">
      <dgm:prSet/>
      <dgm:spPr/>
      <dgm:t>
        <a:bodyPr/>
        <a:lstStyle/>
        <a:p>
          <a:endParaRPr lang="zh-CN" altLang="en-US"/>
        </a:p>
      </dgm:t>
    </dgm:pt>
    <dgm:pt modelId="{CCA518DA-8ADA-408C-B241-3B21225F2CEA}" cxnId="{FE58866B-D6B9-4B14-8118-322996D7404A}" type="sibTrans">
      <dgm:prSet/>
      <dgm:spPr/>
      <dgm:t>
        <a:bodyPr/>
        <a:lstStyle/>
        <a:p>
          <a:endParaRPr lang="zh-CN" altLang="en-US"/>
        </a:p>
      </dgm:t>
    </dgm:pt>
    <dgm:pt modelId="{3C8A110B-A1F0-4BD0-B87B-3E6AE7132EF2}">
      <dgm:prSet phldr="0" custT="0"/>
      <dgm:spPr/>
      <dgm:t>
        <a:bodyPr vert="horz" wrap="square"/>
        <a:p>
          <a:r>
            <a:rPr>
              <a:latin typeface="+mj-ea"/>
              <a:ea typeface="+mj-ea"/>
            </a:rPr>
            <a:t/>
          </a:r>
          <a:endParaRPr>
            <a:latin typeface="+mj-ea"/>
            <a:ea typeface="+mj-ea"/>
          </a:endParaRPr>
        </a:p>
      </dgm:t>
    </dgm:pt>
    <dgm:pt modelId="{29E0BB99-F216-400C-B52F-C806032C3768}" cxnId="{7B766506-A3C7-4E62-B8C6-6CD98B63A6DD}" type="parTrans">
      <dgm:prSet/>
      <dgm:spPr/>
    </dgm:pt>
    <dgm:pt modelId="{D169DE58-223D-4B94-9A5F-BD1E43E82C55}" cxnId="{7B766506-A3C7-4E62-B8C6-6CD98B63A6DD}" type="sibTrans">
      <dgm:prSet/>
      <dgm:spPr/>
    </dgm:pt>
    <dgm:pt modelId="{FA65A191-E448-4681-A474-3055221B9BCC}">
      <dgm:prSet phldrT="[文本]" phldr="0" custT="1"/>
      <dgm:spPr/>
      <dgm:t>
        <a:bodyPr vert="horz" wrap="square"/>
        <a:p>
          <a:pPr>
            <a:lnSpc>
              <a:spcPct val="100000"/>
            </a:lnSpc>
            <a:spcBef>
              <a:spcPct val="0"/>
            </a:spcBef>
            <a:spcAft>
              <a:spcPct val="35000"/>
            </a:spcAft>
          </a:pPr>
          <a:r>
            <a:rPr lang="zh-CN" altLang="en-US" sz="1800" smtClean="0">
              <a:latin typeface="+mj-ea"/>
              <a:ea typeface="+mj-ea"/>
            </a:rPr>
            <a:t>必须有效地支持它的</a:t>
          </a:r>
          <a:r>
            <a:rPr lang="zh-CN" altLang="en-US" sz="1800" smtClean="0">
              <a:solidFill>
                <a:srgbClr val="FFFF00"/>
              </a:solidFill>
              <a:latin typeface="+mj-ea"/>
              <a:ea typeface="+mj-ea"/>
            </a:rPr>
            <a:t>用户</a:t>
          </a:r>
          <a:r>
            <a:rPr lang="zh-CN" altLang="en-US" sz="1800" dirty="0" smtClean="0">
              <a:solidFill>
                <a:srgbClr val="FFFF00"/>
              </a:solidFill>
              <a:latin typeface="+mj-ea"/>
              <a:ea typeface="+mj-ea"/>
            </a:rPr>
            <a:t/>
          </a:r>
          <a:endParaRPr lang="zh-CN" altLang="en-US" sz="1800" dirty="0" smtClean="0">
            <a:solidFill>
              <a:srgbClr val="FFFF00"/>
            </a:solidFill>
            <a:latin typeface="+mj-ea"/>
            <a:ea typeface="+mj-ea"/>
          </a:endParaRPr>
        </a:p>
      </dgm:t>
    </dgm:pt>
    <dgm:pt modelId="{FA26E1A8-3050-48DF-A913-503DB511467B}" cxnId="{8A0491CC-6E11-4EB8-BB9B-85B451F21BC1}" type="parTrans">
      <dgm:prSet/>
      <dgm:spPr/>
      <dgm:t>
        <a:bodyPr/>
        <a:lstStyle/>
        <a:p>
          <a:endParaRPr lang="zh-CN" altLang="en-US"/>
        </a:p>
      </dgm:t>
    </dgm:pt>
    <dgm:pt modelId="{E29D1E1C-712F-4359-8AFE-A46DEF5721AC}" cxnId="{8A0491CC-6E11-4EB8-BB9B-85B451F21BC1}" type="sibTrans">
      <dgm:prSet/>
      <dgm:spPr/>
      <dgm:t>
        <a:bodyPr/>
        <a:lstStyle/>
        <a:p>
          <a:endParaRPr lang="zh-CN" altLang="en-US"/>
        </a:p>
      </dgm:t>
    </dgm:pt>
    <dgm:pt modelId="{043E1E77-376C-49B6-AE41-0033555AB98A}">
      <dgm:prSet phldr="0" custT="0"/>
      <dgm:spPr/>
      <dgm:t>
        <a:bodyPr vert="horz" wrap="square"/>
        <a:p>
          <a:r>
            <a:rPr>
              <a:latin typeface="+mj-ea"/>
              <a:ea typeface="+mj-ea"/>
            </a:rPr>
            <a:t/>
          </a:r>
          <a:endParaRPr>
            <a:latin typeface="+mj-ea"/>
            <a:ea typeface="+mj-ea"/>
          </a:endParaRPr>
        </a:p>
      </dgm:t>
    </dgm:pt>
    <dgm:pt modelId="{0CAB6079-BF7B-43A4-8FEE-0BB04ECD5008}" cxnId="{584A21FC-9810-4149-A6BF-7A8B347FD58E}" type="parTrans">
      <dgm:prSet/>
      <dgm:spPr/>
    </dgm:pt>
    <dgm:pt modelId="{497CBBDA-5F52-4307-9207-C5820747251A}" cxnId="{584A21FC-9810-4149-A6BF-7A8B347FD58E}" type="sibTrans">
      <dgm:prSet/>
      <dgm:spPr/>
    </dgm:pt>
    <dgm:pt modelId="{8855E401-21F6-49DE-965D-C4765BEF879F}">
      <dgm:prSet phldrT="[文本]" phldr="0" custT="1"/>
      <dgm:spPr/>
      <dgm:t>
        <a:bodyPr vert="horz" wrap="square"/>
        <a:p>
          <a:pPr>
            <a:lnSpc>
              <a:spcPct val="100000"/>
            </a:lnSpc>
            <a:spcBef>
              <a:spcPct val="0"/>
            </a:spcBef>
            <a:spcAft>
              <a:spcPct val="35000"/>
            </a:spcAft>
          </a:pPr>
          <a:r>
            <a:rPr lang="zh-CN" altLang="en-US" sz="1800" dirty="0" smtClean="0">
              <a:latin typeface="+mj-ea"/>
              <a:ea typeface="+mj-ea"/>
            </a:rPr>
            <a:t>为不同文化背景的人创造产品</a:t>
          </a:r>
          <a:r>
            <a:rPr lang="zh-CN" altLang="en-US" sz="1800" dirty="0">
              <a:latin typeface="+mj-ea"/>
              <a:ea typeface="+mj-ea"/>
            </a:rPr>
            <a:t/>
          </a:r>
          <a:endParaRPr lang="zh-CN" altLang="en-US" sz="1800" dirty="0">
            <a:latin typeface="+mj-ea"/>
            <a:ea typeface="+mj-ea"/>
          </a:endParaRPr>
        </a:p>
      </dgm:t>
    </dgm:pt>
    <dgm:pt modelId="{EAE2458E-CD23-48F2-97C0-AB7F302E068A}" cxnId="{F862797B-738E-4E0D-9A2A-438AF50C6C9D}" type="parTrans">
      <dgm:prSet/>
      <dgm:spPr/>
      <dgm:t>
        <a:bodyPr/>
        <a:lstStyle/>
        <a:p>
          <a:endParaRPr lang="zh-CN" altLang="en-US"/>
        </a:p>
      </dgm:t>
    </dgm:pt>
    <dgm:pt modelId="{69BDB185-547F-40E9-AA2C-AECB55B0FA45}" cxnId="{F862797B-738E-4E0D-9A2A-438AF50C6C9D}" type="sibTrans">
      <dgm:prSet/>
      <dgm:spPr/>
      <dgm:t>
        <a:bodyPr/>
        <a:lstStyle/>
        <a:p>
          <a:endParaRPr lang="zh-CN" altLang="en-US"/>
        </a:p>
      </dgm:t>
    </dgm:pt>
    <dgm:pt modelId="{2E2D3E01-18F1-4EC9-9CE3-5877B43F05DD}">
      <dgm:prSet phldr="0" custT="0"/>
      <dgm:spPr/>
      <dgm:t>
        <a:bodyPr vert="horz" wrap="square"/>
        <a:p>
          <a:r>
            <a:rPr>
              <a:latin typeface="+mj-ea"/>
              <a:ea typeface="+mj-ea"/>
            </a:rPr>
            <a:t/>
          </a:r>
          <a:endParaRPr>
            <a:latin typeface="+mj-ea"/>
            <a:ea typeface="+mj-ea"/>
          </a:endParaRPr>
        </a:p>
      </dgm:t>
    </dgm:pt>
    <dgm:pt modelId="{1A700D6C-5A73-45A9-905E-1E5AA93EB9AC}" cxnId="{91ACC8CB-A782-4454-BF44-D8C755B456B3}" type="parTrans">
      <dgm:prSet/>
      <dgm:spPr/>
    </dgm:pt>
    <dgm:pt modelId="{CE983689-E009-4C19-86D3-8B27282DC8A8}" cxnId="{91ACC8CB-A782-4454-BF44-D8C755B456B3}" type="sibTrans">
      <dgm:prSet/>
      <dgm:spPr/>
    </dgm:pt>
    <dgm:pt modelId="{D235DD8F-B3B5-47B8-948C-D60CEF8DBF57}" type="pres">
      <dgm:prSet presAssocID="{A8093E7D-72E2-469F-AD38-E195A6CB2294}" presName="linear" presStyleCnt="0">
        <dgm:presLayoutVars>
          <dgm:dir/>
          <dgm:animLvl val="lvl"/>
          <dgm:resizeHandles val="exact"/>
        </dgm:presLayoutVars>
      </dgm:prSet>
      <dgm:spPr/>
      <dgm:t>
        <a:bodyPr/>
        <a:lstStyle/>
        <a:p>
          <a:endParaRPr lang="zh-CN" altLang="en-US"/>
        </a:p>
      </dgm:t>
    </dgm:pt>
    <dgm:pt modelId="{A493F55B-06CE-47C3-A13F-9BAE78E53102}" type="pres">
      <dgm:prSet presAssocID="{893613D5-DE85-407F-B216-C92194E21B10}" presName="parentLin" presStyleCnt="0"/>
      <dgm:spPr/>
      <dgm:t>
        <a:bodyPr/>
        <a:lstStyle/>
        <a:p>
          <a:endParaRPr lang="zh-CN" altLang="en-US"/>
        </a:p>
      </dgm:t>
    </dgm:pt>
    <dgm:pt modelId="{787C6EE1-56A1-4212-B3AD-02A8D00C6834}" type="pres">
      <dgm:prSet presAssocID="{893613D5-DE85-407F-B216-C92194E21B10}" presName="parentLeftMargin" presStyleCnt="0"/>
      <dgm:spPr/>
      <dgm:t>
        <a:bodyPr/>
        <a:lstStyle/>
        <a:p>
          <a:endParaRPr lang="zh-CN" altLang="en-US"/>
        </a:p>
      </dgm:t>
    </dgm:pt>
    <dgm:pt modelId="{7FBB601F-231A-4F93-AA47-F369C36A6E25}" type="pres">
      <dgm:prSet presAssocID="{893613D5-DE85-407F-B216-C92194E21B10}" presName="parentText" presStyleLbl="node1" presStyleIdx="0" presStyleCnt="7">
        <dgm:presLayoutVars>
          <dgm:chMax val="0"/>
          <dgm:bulletEnabled val="1"/>
        </dgm:presLayoutVars>
      </dgm:prSet>
      <dgm:spPr/>
      <dgm:t>
        <a:bodyPr/>
        <a:lstStyle/>
        <a:p>
          <a:endParaRPr lang="zh-CN" altLang="en-US"/>
        </a:p>
      </dgm:t>
    </dgm:pt>
    <dgm:pt modelId="{6A8D621E-5602-4760-996A-C20A89BFA18C}" type="pres">
      <dgm:prSet presAssocID="{893613D5-DE85-407F-B216-C92194E21B10}" presName="negativeSpace" presStyleCnt="0"/>
      <dgm:spPr/>
      <dgm:t>
        <a:bodyPr/>
        <a:lstStyle/>
        <a:p>
          <a:endParaRPr lang="zh-CN" altLang="en-US"/>
        </a:p>
      </dgm:t>
    </dgm:pt>
    <dgm:pt modelId="{8C311B6F-26F2-4023-AB98-895867431223}" type="pres">
      <dgm:prSet presAssocID="{893613D5-DE85-407F-B216-C92194E21B10}" presName="childText" presStyleLbl="conFgAcc1" presStyleIdx="0" presStyleCnt="7">
        <dgm:presLayoutVars>
          <dgm:bulletEnabled val="1"/>
        </dgm:presLayoutVars>
      </dgm:prSet>
      <dgm:spPr/>
      <dgm:t>
        <a:bodyPr/>
        <a:lstStyle/>
        <a:p>
          <a:endParaRPr lang="zh-CN" altLang="en-US"/>
        </a:p>
      </dgm:t>
    </dgm:pt>
    <dgm:pt modelId="{FD139902-3B73-4EF5-8FFE-E5EEC1525C49}" type="pres">
      <dgm:prSet presAssocID="{45A0ECF1-4573-45DA-9FA0-B181CC4CC582}" presName="spaceBetweenRectangles" presStyleCnt="0"/>
      <dgm:spPr/>
      <dgm:t>
        <a:bodyPr/>
        <a:lstStyle/>
        <a:p>
          <a:endParaRPr lang="zh-CN" altLang="en-US"/>
        </a:p>
      </dgm:t>
    </dgm:pt>
    <dgm:pt modelId="{AA116C8A-7F24-4797-94F4-4B0324267609}" type="pres">
      <dgm:prSet presAssocID="{0E77F695-092A-4633-9249-8CE5D5AA43DF}" presName="parentLin" presStyleCnt="0"/>
      <dgm:spPr/>
      <dgm:t>
        <a:bodyPr/>
        <a:lstStyle/>
        <a:p>
          <a:endParaRPr lang="zh-CN" altLang="en-US"/>
        </a:p>
      </dgm:t>
    </dgm:pt>
    <dgm:pt modelId="{5B16B0DA-6AED-41BF-BF51-607CF2DA3F79}" type="pres">
      <dgm:prSet presAssocID="{0E77F695-092A-4633-9249-8CE5D5AA43DF}" presName="parentLeftMargin" presStyleCnt="0"/>
      <dgm:spPr/>
      <dgm:t>
        <a:bodyPr/>
        <a:lstStyle/>
        <a:p>
          <a:endParaRPr lang="zh-CN" altLang="en-US"/>
        </a:p>
      </dgm:t>
    </dgm:pt>
    <dgm:pt modelId="{0F5DC670-EAE8-4CC8-9BC9-F42CF6419799}" type="pres">
      <dgm:prSet presAssocID="{0E77F695-092A-4633-9249-8CE5D5AA43DF}" presName="parentText" presStyleLbl="node1" presStyleIdx="1" presStyleCnt="7">
        <dgm:presLayoutVars>
          <dgm:chMax val="0"/>
          <dgm:bulletEnabled val="1"/>
        </dgm:presLayoutVars>
      </dgm:prSet>
      <dgm:spPr/>
      <dgm:t>
        <a:bodyPr/>
        <a:lstStyle/>
        <a:p>
          <a:endParaRPr lang="zh-CN" altLang="en-US"/>
        </a:p>
      </dgm:t>
    </dgm:pt>
    <dgm:pt modelId="{02798272-13F2-477B-BEE5-8E0134720BF4}" type="pres">
      <dgm:prSet presAssocID="{0E77F695-092A-4633-9249-8CE5D5AA43DF}" presName="negativeSpace" presStyleCnt="0"/>
      <dgm:spPr/>
      <dgm:t>
        <a:bodyPr/>
        <a:lstStyle/>
        <a:p>
          <a:endParaRPr lang="zh-CN" altLang="en-US"/>
        </a:p>
      </dgm:t>
    </dgm:pt>
    <dgm:pt modelId="{B210E9C6-A884-4FE1-BCBA-498078D4C67A}" type="pres">
      <dgm:prSet presAssocID="{0E77F695-092A-4633-9249-8CE5D5AA43DF}" presName="childText" presStyleLbl="conFgAcc1" presStyleIdx="1" presStyleCnt="7">
        <dgm:presLayoutVars>
          <dgm:bulletEnabled val="1"/>
        </dgm:presLayoutVars>
      </dgm:prSet>
      <dgm:spPr/>
      <dgm:t>
        <a:bodyPr/>
        <a:lstStyle/>
        <a:p>
          <a:endParaRPr lang="zh-CN" altLang="en-US"/>
        </a:p>
      </dgm:t>
    </dgm:pt>
    <dgm:pt modelId="{3E67455A-6ABD-465E-A82E-4D3FF110C85D}" type="pres">
      <dgm:prSet presAssocID="{4D934B84-7468-482B-8CAD-A5282EEAB222}" presName="spaceBetweenRectangles" presStyleCnt="0"/>
      <dgm:spPr/>
      <dgm:t>
        <a:bodyPr/>
        <a:lstStyle/>
        <a:p>
          <a:endParaRPr lang="zh-CN" altLang="en-US"/>
        </a:p>
      </dgm:t>
    </dgm:pt>
    <dgm:pt modelId="{DBF23079-3277-4E78-8337-0D4E62AF5B78}" type="pres">
      <dgm:prSet presAssocID="{2332ECA6-8F5E-4F3A-9A27-062ABEC60810}" presName="parentLin" presStyleCnt="0"/>
      <dgm:spPr/>
      <dgm:t>
        <a:bodyPr/>
        <a:lstStyle/>
        <a:p>
          <a:endParaRPr lang="zh-CN" altLang="en-US"/>
        </a:p>
      </dgm:t>
    </dgm:pt>
    <dgm:pt modelId="{8043515F-EF42-418B-A71C-098D98124D11}" type="pres">
      <dgm:prSet presAssocID="{2332ECA6-8F5E-4F3A-9A27-062ABEC60810}" presName="parentLeftMargin" presStyleCnt="0"/>
      <dgm:spPr/>
      <dgm:t>
        <a:bodyPr/>
        <a:lstStyle/>
        <a:p>
          <a:endParaRPr lang="zh-CN" altLang="en-US"/>
        </a:p>
      </dgm:t>
    </dgm:pt>
    <dgm:pt modelId="{D42E587D-3EA7-4843-AFA6-222C414348C5}" type="pres">
      <dgm:prSet presAssocID="{2332ECA6-8F5E-4F3A-9A27-062ABEC60810}" presName="parentText" presStyleLbl="node1" presStyleIdx="2" presStyleCnt="7">
        <dgm:presLayoutVars>
          <dgm:chMax val="0"/>
          <dgm:bulletEnabled val="1"/>
        </dgm:presLayoutVars>
      </dgm:prSet>
      <dgm:spPr/>
      <dgm:t>
        <a:bodyPr/>
        <a:lstStyle/>
        <a:p>
          <a:endParaRPr lang="zh-CN" altLang="en-US"/>
        </a:p>
      </dgm:t>
    </dgm:pt>
    <dgm:pt modelId="{7E7150B7-0DF1-4A3E-BD9A-E5068C76B305}" type="pres">
      <dgm:prSet presAssocID="{2332ECA6-8F5E-4F3A-9A27-062ABEC60810}" presName="negativeSpace" presStyleCnt="0"/>
      <dgm:spPr/>
      <dgm:t>
        <a:bodyPr/>
        <a:lstStyle/>
        <a:p>
          <a:endParaRPr lang="zh-CN" altLang="en-US"/>
        </a:p>
      </dgm:t>
    </dgm:pt>
    <dgm:pt modelId="{8C56A8EE-F841-4692-8AC7-363875350A1C}" type="pres">
      <dgm:prSet presAssocID="{2332ECA6-8F5E-4F3A-9A27-062ABEC60810}" presName="childText" presStyleLbl="conFgAcc1" presStyleIdx="2" presStyleCnt="7">
        <dgm:presLayoutVars>
          <dgm:bulletEnabled val="1"/>
        </dgm:presLayoutVars>
      </dgm:prSet>
      <dgm:spPr/>
      <dgm:t>
        <a:bodyPr/>
        <a:lstStyle/>
        <a:p>
          <a:endParaRPr lang="zh-CN" altLang="en-US"/>
        </a:p>
      </dgm:t>
    </dgm:pt>
    <dgm:pt modelId="{839E7AB8-239F-4BEC-B9C3-74FFAFEA9D8D}" type="pres">
      <dgm:prSet presAssocID="{44786B1D-F429-4F75-85BC-D106C18B2E51}" presName="spaceBetweenRectangles" presStyleCnt="0"/>
      <dgm:spPr/>
      <dgm:t>
        <a:bodyPr/>
        <a:lstStyle/>
        <a:p>
          <a:endParaRPr lang="zh-CN" altLang="en-US"/>
        </a:p>
      </dgm:t>
    </dgm:pt>
    <dgm:pt modelId="{D4CAEC3A-BF49-4F56-8967-15CD2CBF619E}" type="pres">
      <dgm:prSet presAssocID="{9A02DFF9-72F5-4DE8-9CFE-FA4439AE892C}" presName="parentLin" presStyleCnt="0"/>
      <dgm:spPr/>
      <dgm:t>
        <a:bodyPr/>
        <a:lstStyle/>
        <a:p>
          <a:endParaRPr lang="zh-CN" altLang="en-US"/>
        </a:p>
      </dgm:t>
    </dgm:pt>
    <dgm:pt modelId="{2FC827A2-6066-4D98-8A25-C614FDED5E04}" type="pres">
      <dgm:prSet presAssocID="{9A02DFF9-72F5-4DE8-9CFE-FA4439AE892C}" presName="parentLeftMargin" presStyleCnt="0"/>
      <dgm:spPr/>
      <dgm:t>
        <a:bodyPr/>
        <a:lstStyle/>
        <a:p>
          <a:endParaRPr lang="zh-CN" altLang="en-US"/>
        </a:p>
      </dgm:t>
    </dgm:pt>
    <dgm:pt modelId="{670749B7-8F70-4B19-AF42-E8B76911F258}" type="pres">
      <dgm:prSet presAssocID="{9A02DFF9-72F5-4DE8-9CFE-FA4439AE892C}" presName="parentText" presStyleLbl="node1" presStyleIdx="3" presStyleCnt="7">
        <dgm:presLayoutVars>
          <dgm:chMax val="0"/>
          <dgm:bulletEnabled val="1"/>
        </dgm:presLayoutVars>
      </dgm:prSet>
      <dgm:spPr/>
      <dgm:t>
        <a:bodyPr/>
        <a:lstStyle/>
        <a:p>
          <a:endParaRPr lang="zh-CN" altLang="en-US"/>
        </a:p>
      </dgm:t>
    </dgm:pt>
    <dgm:pt modelId="{A2993F0E-54BC-4208-9968-51777FACC9BA}" type="pres">
      <dgm:prSet presAssocID="{9A02DFF9-72F5-4DE8-9CFE-FA4439AE892C}" presName="negativeSpace" presStyleCnt="0"/>
      <dgm:spPr/>
      <dgm:t>
        <a:bodyPr/>
        <a:lstStyle/>
        <a:p>
          <a:endParaRPr lang="zh-CN" altLang="en-US"/>
        </a:p>
      </dgm:t>
    </dgm:pt>
    <dgm:pt modelId="{29ECCE60-0C8C-45A3-896A-0FCA6E731E2C}" type="pres">
      <dgm:prSet presAssocID="{9A02DFF9-72F5-4DE8-9CFE-FA4439AE892C}" presName="childText" presStyleLbl="conFgAcc1" presStyleIdx="3" presStyleCnt="7">
        <dgm:presLayoutVars>
          <dgm:bulletEnabled val="1"/>
        </dgm:presLayoutVars>
      </dgm:prSet>
      <dgm:spPr/>
      <dgm:t>
        <a:bodyPr/>
        <a:lstStyle/>
        <a:p>
          <a:endParaRPr lang="zh-CN" altLang="en-US"/>
        </a:p>
      </dgm:t>
    </dgm:pt>
    <dgm:pt modelId="{D3D4B502-78B4-45E9-BC42-0B4813534ED6}" type="pres">
      <dgm:prSet presAssocID="{96AC31D9-5AF0-47F5-BD87-C0C74540F3A8}" presName="spaceBetweenRectangles" presStyleCnt="0"/>
      <dgm:spPr/>
      <dgm:t>
        <a:bodyPr/>
        <a:lstStyle/>
        <a:p>
          <a:endParaRPr lang="zh-CN" altLang="en-US"/>
        </a:p>
      </dgm:t>
    </dgm:pt>
    <dgm:pt modelId="{1B3B9CCC-8EF5-4CBD-A6CD-70A8AB3CF8D7}" type="pres">
      <dgm:prSet presAssocID="{41E1A765-E429-4C13-A543-C0C33787D7B6}" presName="parentLin" presStyleCnt="0"/>
      <dgm:spPr/>
      <dgm:t>
        <a:bodyPr/>
        <a:lstStyle/>
        <a:p>
          <a:endParaRPr lang="zh-CN" altLang="en-US"/>
        </a:p>
      </dgm:t>
    </dgm:pt>
    <dgm:pt modelId="{DE25FAB9-6568-4ED8-8913-989975BDC555}" type="pres">
      <dgm:prSet presAssocID="{41E1A765-E429-4C13-A543-C0C33787D7B6}" presName="parentLeftMargin" presStyleCnt="0"/>
      <dgm:spPr/>
      <dgm:t>
        <a:bodyPr/>
        <a:lstStyle/>
        <a:p>
          <a:endParaRPr lang="zh-CN" altLang="en-US"/>
        </a:p>
      </dgm:t>
    </dgm:pt>
    <dgm:pt modelId="{08D91DA3-0689-4947-AB01-6512F16DBA7D}" type="pres">
      <dgm:prSet presAssocID="{41E1A765-E429-4C13-A543-C0C33787D7B6}" presName="parentText" presStyleLbl="node1" presStyleIdx="4" presStyleCnt="7">
        <dgm:presLayoutVars>
          <dgm:chMax val="0"/>
          <dgm:bulletEnabled val="1"/>
        </dgm:presLayoutVars>
      </dgm:prSet>
      <dgm:spPr/>
      <dgm:t>
        <a:bodyPr/>
        <a:lstStyle/>
        <a:p>
          <a:endParaRPr lang="zh-CN" altLang="en-US"/>
        </a:p>
      </dgm:t>
    </dgm:pt>
    <dgm:pt modelId="{D022404A-C911-457B-B705-F3C776B3BB28}" type="pres">
      <dgm:prSet presAssocID="{41E1A765-E429-4C13-A543-C0C33787D7B6}" presName="negativeSpace" presStyleCnt="0"/>
      <dgm:spPr/>
      <dgm:t>
        <a:bodyPr/>
        <a:lstStyle/>
        <a:p>
          <a:endParaRPr lang="zh-CN" altLang="en-US"/>
        </a:p>
      </dgm:t>
    </dgm:pt>
    <dgm:pt modelId="{3A6E8B2B-698B-4684-9086-7322BA4B0410}" type="pres">
      <dgm:prSet presAssocID="{41E1A765-E429-4C13-A543-C0C33787D7B6}" presName="childText" presStyleLbl="conFgAcc1" presStyleIdx="4" presStyleCnt="7">
        <dgm:presLayoutVars>
          <dgm:bulletEnabled val="1"/>
        </dgm:presLayoutVars>
      </dgm:prSet>
      <dgm:spPr/>
      <dgm:t>
        <a:bodyPr/>
        <a:lstStyle/>
        <a:p>
          <a:endParaRPr lang="zh-CN" altLang="en-US"/>
        </a:p>
      </dgm:t>
    </dgm:pt>
    <dgm:pt modelId="{C34B7203-01FE-41C2-A1BE-A2C5A4D4ED1D}" type="pres">
      <dgm:prSet presAssocID="{CCA518DA-8ADA-408C-B241-3B21225F2CEA}" presName="spaceBetweenRectangles" presStyleCnt="0"/>
      <dgm:spPr/>
      <dgm:t>
        <a:bodyPr/>
        <a:lstStyle/>
        <a:p>
          <a:endParaRPr lang="zh-CN" altLang="en-US"/>
        </a:p>
      </dgm:t>
    </dgm:pt>
    <dgm:pt modelId="{D5D02BF7-E702-4CF0-B30B-85498CD3C089}" type="pres">
      <dgm:prSet presAssocID="{FA65A191-E448-4681-A474-3055221B9BCC}" presName="parentLin" presStyleCnt="0"/>
      <dgm:spPr/>
      <dgm:t>
        <a:bodyPr/>
        <a:lstStyle/>
        <a:p>
          <a:endParaRPr lang="zh-CN" altLang="en-US"/>
        </a:p>
      </dgm:t>
    </dgm:pt>
    <dgm:pt modelId="{2E9EA71B-B115-4435-A8B4-391264E4E4DB}" type="pres">
      <dgm:prSet presAssocID="{FA65A191-E448-4681-A474-3055221B9BCC}" presName="parentLeftMargin" presStyleCnt="0"/>
      <dgm:spPr/>
      <dgm:t>
        <a:bodyPr/>
        <a:lstStyle/>
        <a:p>
          <a:endParaRPr lang="zh-CN" altLang="en-US"/>
        </a:p>
      </dgm:t>
    </dgm:pt>
    <dgm:pt modelId="{295E4C56-E244-49C1-AF95-CDBDB4A62C1E}" type="pres">
      <dgm:prSet presAssocID="{FA65A191-E448-4681-A474-3055221B9BCC}" presName="parentText" presStyleLbl="node1" presStyleIdx="5" presStyleCnt="7">
        <dgm:presLayoutVars>
          <dgm:chMax val="0"/>
          <dgm:bulletEnabled val="1"/>
        </dgm:presLayoutVars>
      </dgm:prSet>
      <dgm:spPr/>
      <dgm:t>
        <a:bodyPr/>
        <a:lstStyle/>
        <a:p>
          <a:endParaRPr lang="zh-CN" altLang="en-US"/>
        </a:p>
      </dgm:t>
    </dgm:pt>
    <dgm:pt modelId="{507C4024-C4DD-48E5-AD23-5D8420D6D034}" type="pres">
      <dgm:prSet presAssocID="{FA65A191-E448-4681-A474-3055221B9BCC}" presName="negativeSpace" presStyleCnt="0"/>
      <dgm:spPr/>
      <dgm:t>
        <a:bodyPr/>
        <a:lstStyle/>
        <a:p>
          <a:endParaRPr lang="zh-CN" altLang="en-US"/>
        </a:p>
      </dgm:t>
    </dgm:pt>
    <dgm:pt modelId="{93F7EC4B-BF0A-425B-8C02-BBA0C30F72A0}" type="pres">
      <dgm:prSet presAssocID="{FA65A191-E448-4681-A474-3055221B9BCC}" presName="childText" presStyleLbl="conFgAcc1" presStyleIdx="5" presStyleCnt="7">
        <dgm:presLayoutVars>
          <dgm:bulletEnabled val="1"/>
        </dgm:presLayoutVars>
      </dgm:prSet>
      <dgm:spPr/>
      <dgm:t>
        <a:bodyPr/>
        <a:lstStyle/>
        <a:p>
          <a:endParaRPr lang="zh-CN" altLang="en-US"/>
        </a:p>
      </dgm:t>
    </dgm:pt>
    <dgm:pt modelId="{D7022A97-4AA4-46C9-8B35-EFDF91A38A6A}" type="pres">
      <dgm:prSet presAssocID="{E29D1E1C-712F-4359-8AFE-A46DEF5721AC}" presName="spaceBetweenRectangles" presStyleCnt="0"/>
      <dgm:spPr/>
      <dgm:t>
        <a:bodyPr/>
        <a:lstStyle/>
        <a:p>
          <a:endParaRPr lang="zh-CN" altLang="en-US"/>
        </a:p>
      </dgm:t>
    </dgm:pt>
    <dgm:pt modelId="{A41E938B-218D-44CC-B69D-AE6B2A5E28FF}" type="pres">
      <dgm:prSet presAssocID="{8855E401-21F6-49DE-965D-C4765BEF879F}" presName="parentLin" presStyleCnt="0"/>
      <dgm:spPr/>
      <dgm:t>
        <a:bodyPr/>
        <a:lstStyle/>
        <a:p>
          <a:endParaRPr lang="zh-CN" altLang="en-US"/>
        </a:p>
      </dgm:t>
    </dgm:pt>
    <dgm:pt modelId="{814E8494-C557-4EDA-9600-7F488B4C9F27}" type="pres">
      <dgm:prSet presAssocID="{8855E401-21F6-49DE-965D-C4765BEF879F}" presName="parentLeftMargin" presStyleCnt="0"/>
      <dgm:spPr/>
      <dgm:t>
        <a:bodyPr/>
        <a:lstStyle/>
        <a:p>
          <a:endParaRPr lang="zh-CN" altLang="en-US"/>
        </a:p>
      </dgm:t>
    </dgm:pt>
    <dgm:pt modelId="{3DD5D1FF-BDBA-4E3F-B591-AA3E8C8259A1}" type="pres">
      <dgm:prSet presAssocID="{8855E401-21F6-49DE-965D-C4765BEF879F}" presName="parentText" presStyleLbl="node1" presStyleIdx="6" presStyleCnt="7">
        <dgm:presLayoutVars>
          <dgm:chMax val="0"/>
          <dgm:bulletEnabled val="1"/>
        </dgm:presLayoutVars>
      </dgm:prSet>
      <dgm:spPr/>
      <dgm:t>
        <a:bodyPr/>
        <a:lstStyle/>
        <a:p>
          <a:endParaRPr lang="zh-CN" altLang="en-US"/>
        </a:p>
      </dgm:t>
    </dgm:pt>
    <dgm:pt modelId="{F6F630B2-1F15-43A0-B214-FE5C14142B2D}" type="pres">
      <dgm:prSet presAssocID="{8855E401-21F6-49DE-965D-C4765BEF879F}" presName="negativeSpace" presStyleCnt="0"/>
      <dgm:spPr/>
      <dgm:t>
        <a:bodyPr/>
        <a:lstStyle/>
        <a:p>
          <a:endParaRPr lang="zh-CN" altLang="en-US"/>
        </a:p>
      </dgm:t>
    </dgm:pt>
    <dgm:pt modelId="{97DE0F63-DC63-46CC-9C0B-328313469902}" type="pres">
      <dgm:prSet presAssocID="{8855E401-21F6-49DE-965D-C4765BEF879F}" presName="childText" presStyleLbl="conFgAcc1" presStyleIdx="6" presStyleCnt="7">
        <dgm:presLayoutVars>
          <dgm:bulletEnabled val="1"/>
        </dgm:presLayoutVars>
      </dgm:prSet>
      <dgm:spPr/>
      <dgm:t>
        <a:bodyPr/>
        <a:lstStyle/>
        <a:p>
          <a:endParaRPr lang="zh-CN" altLang="en-US"/>
        </a:p>
      </dgm:t>
    </dgm:pt>
  </dgm:ptLst>
  <dgm:cxnLst>
    <dgm:cxn modelId="{0A2C97BA-5CAB-4DA8-AB38-9B06576F6C00}" srcId="{A8093E7D-72E2-469F-AD38-E195A6CB2294}" destId="{893613D5-DE85-407F-B216-C92194E21B10}" srcOrd="0" destOrd="0" parTransId="{8896E1D1-25BD-43BD-8A8B-D6EE239520C9}" sibTransId="{45A0ECF1-4573-45DA-9FA0-B181CC4CC582}"/>
    <dgm:cxn modelId="{5D899142-63ED-4F74-A052-6C1EF691866C}" srcId="{893613D5-DE85-407F-B216-C92194E21B10}" destId="{8E51EFB7-93B6-469B-8B2C-7EFEBA948EF2}" srcOrd="0" destOrd="0" parTransId="{1FC7598D-5CCC-425D-94E5-23AEEE49B5F7}" sibTransId="{E471B3DE-DB6A-40B7-B451-E331734168EC}"/>
    <dgm:cxn modelId="{94E4C965-B9DA-433B-B3A5-73FA4987B534}" srcId="{A8093E7D-72E2-469F-AD38-E195A6CB2294}" destId="{0E77F695-092A-4633-9249-8CE5D5AA43DF}" srcOrd="1" destOrd="0" parTransId="{C8AB02A5-257C-4A82-BD73-7B1E29257A9F}" sibTransId="{4D934B84-7468-482B-8CAD-A5282EEAB222}"/>
    <dgm:cxn modelId="{907C00A0-9E55-4EB5-96C0-53AB59431489}" srcId="{0E77F695-092A-4633-9249-8CE5D5AA43DF}" destId="{68A2DBA3-73CD-42FC-9886-5F859707CEEF}" srcOrd="0" destOrd="1" parTransId="{4859E55E-A7D7-42C6-85E6-9F82F4311F97}" sibTransId="{AFCFAA0B-37D9-420C-B964-3A0A927D712E}"/>
    <dgm:cxn modelId="{37A1795E-1F37-4DE4-BE53-0DBD5064BB60}" srcId="{A8093E7D-72E2-469F-AD38-E195A6CB2294}" destId="{2332ECA6-8F5E-4F3A-9A27-062ABEC60810}" srcOrd="2" destOrd="0" parTransId="{3D834634-C1D9-444E-BF48-0790AE39DAA1}" sibTransId="{44786B1D-F429-4F75-85BC-D106C18B2E51}"/>
    <dgm:cxn modelId="{EDEB6BBE-F38A-4F28-B0F8-24D6D2A43344}" srcId="{2332ECA6-8F5E-4F3A-9A27-062ABEC60810}" destId="{DECB6981-7AE2-4621-AF9B-2069617D3D95}" srcOrd="0" destOrd="2" parTransId="{91E04803-7C37-4540-81BC-1EDD591E4866}" sibTransId="{33025E7C-CC01-4007-9F49-02730DFEAB66}"/>
    <dgm:cxn modelId="{380E980A-6EFF-4BAC-82C9-4583D2B1B31E}" srcId="{A8093E7D-72E2-469F-AD38-E195A6CB2294}" destId="{9A02DFF9-72F5-4DE8-9CFE-FA4439AE892C}" srcOrd="3" destOrd="0" parTransId="{2ABAC83E-72D4-4C1F-A5D8-BEF6BA7E3D91}" sibTransId="{96AC31D9-5AF0-47F5-BD87-C0C74540F3A8}"/>
    <dgm:cxn modelId="{3F53A9AB-5615-4F7B-908B-18861559E5E6}" srcId="{9A02DFF9-72F5-4DE8-9CFE-FA4439AE892C}" destId="{BB93DF74-4D2C-4815-AC2B-B3437FA2AC61}" srcOrd="0" destOrd="3" parTransId="{EC14EFEE-27B9-422D-989F-D65956745D5F}" sibTransId="{3905201B-6FF1-4C35-A5C2-605ED3530F63}"/>
    <dgm:cxn modelId="{FE58866B-D6B9-4B14-8118-322996D7404A}" srcId="{A8093E7D-72E2-469F-AD38-E195A6CB2294}" destId="{41E1A765-E429-4C13-A543-C0C33787D7B6}" srcOrd="4" destOrd="0" parTransId="{0C313F76-B21A-482B-BF23-F0BB504E6CAC}" sibTransId="{CCA518DA-8ADA-408C-B241-3B21225F2CEA}"/>
    <dgm:cxn modelId="{7B766506-A3C7-4E62-B8C6-6CD98B63A6DD}" srcId="{41E1A765-E429-4C13-A543-C0C33787D7B6}" destId="{3C8A110B-A1F0-4BD0-B87B-3E6AE7132EF2}" srcOrd="0" destOrd="4" parTransId="{29E0BB99-F216-400C-B52F-C806032C3768}" sibTransId="{D169DE58-223D-4B94-9A5F-BD1E43E82C55}"/>
    <dgm:cxn modelId="{8A0491CC-6E11-4EB8-BB9B-85B451F21BC1}" srcId="{A8093E7D-72E2-469F-AD38-E195A6CB2294}" destId="{FA65A191-E448-4681-A474-3055221B9BCC}" srcOrd="5" destOrd="0" parTransId="{FA26E1A8-3050-48DF-A913-503DB511467B}" sibTransId="{E29D1E1C-712F-4359-8AFE-A46DEF5721AC}"/>
    <dgm:cxn modelId="{584A21FC-9810-4149-A6BF-7A8B347FD58E}" srcId="{FA65A191-E448-4681-A474-3055221B9BCC}" destId="{043E1E77-376C-49B6-AE41-0033555AB98A}" srcOrd="0" destOrd="5" parTransId="{0CAB6079-BF7B-43A4-8FEE-0BB04ECD5008}" sibTransId="{497CBBDA-5F52-4307-9207-C5820747251A}"/>
    <dgm:cxn modelId="{F862797B-738E-4E0D-9A2A-438AF50C6C9D}" srcId="{A8093E7D-72E2-469F-AD38-E195A6CB2294}" destId="{8855E401-21F6-49DE-965D-C4765BEF879F}" srcOrd="6" destOrd="0" parTransId="{EAE2458E-CD23-48F2-97C0-AB7F302E068A}" sibTransId="{69BDB185-547F-40E9-AA2C-AECB55B0FA45}"/>
    <dgm:cxn modelId="{91ACC8CB-A782-4454-BF44-D8C755B456B3}" srcId="{8855E401-21F6-49DE-965D-C4765BEF879F}" destId="{2E2D3E01-18F1-4EC9-9CE3-5877B43F05DD}" srcOrd="0" destOrd="6" parTransId="{1A700D6C-5A73-45A9-905E-1E5AA93EB9AC}" sibTransId="{CE983689-E009-4C19-86D3-8B27282DC8A8}"/>
    <dgm:cxn modelId="{D6EC9648-7A0C-44B1-9298-89E266940ACF}" type="presOf" srcId="{A8093E7D-72E2-469F-AD38-E195A6CB2294}" destId="{D235DD8F-B3B5-47B8-948C-D60CEF8DBF57}" srcOrd="0" destOrd="0" presId="urn:microsoft.com/office/officeart/2005/8/layout/list1"/>
    <dgm:cxn modelId="{29BDEEE1-5FE4-4205-97E6-CE26DB50F13C}" type="presParOf" srcId="{D235DD8F-B3B5-47B8-948C-D60CEF8DBF57}" destId="{A493F55B-06CE-47C3-A13F-9BAE78E53102}" srcOrd="0" destOrd="0" presId="urn:microsoft.com/office/officeart/2005/8/layout/list1"/>
    <dgm:cxn modelId="{FDDB79DE-8D5B-461F-BCD6-A593F4957DC7}" type="presParOf" srcId="{A493F55B-06CE-47C3-A13F-9BAE78E53102}" destId="{787C6EE1-56A1-4212-B3AD-02A8D00C6834}" srcOrd="0" destOrd="0" presId="urn:microsoft.com/office/officeart/2005/8/layout/list1"/>
    <dgm:cxn modelId="{D9FCAE6A-CB62-4662-B498-C6991B648B5A}" type="presOf" srcId="{893613D5-DE85-407F-B216-C92194E21B10}" destId="{787C6EE1-56A1-4212-B3AD-02A8D00C6834}" srcOrd="0" destOrd="0" presId="urn:microsoft.com/office/officeart/2005/8/layout/list1"/>
    <dgm:cxn modelId="{5E9EFF33-4C92-439D-9D23-E79C785C6421}" type="presParOf" srcId="{A493F55B-06CE-47C3-A13F-9BAE78E53102}" destId="{7FBB601F-231A-4F93-AA47-F369C36A6E25}" srcOrd="1" destOrd="0" presId="urn:microsoft.com/office/officeart/2005/8/layout/list1"/>
    <dgm:cxn modelId="{CF9EBCD9-66BD-489F-93A0-782565F98FA2}" type="presOf" srcId="{893613D5-DE85-407F-B216-C92194E21B10}" destId="{7FBB601F-231A-4F93-AA47-F369C36A6E25}" srcOrd="0" destOrd="0" presId="urn:microsoft.com/office/officeart/2005/8/layout/list1"/>
    <dgm:cxn modelId="{603C1DDB-1B96-4CA2-9AA9-B2774FEA59BD}" type="presParOf" srcId="{D235DD8F-B3B5-47B8-948C-D60CEF8DBF57}" destId="{6A8D621E-5602-4760-996A-C20A89BFA18C}" srcOrd="1" destOrd="0" presId="urn:microsoft.com/office/officeart/2005/8/layout/list1"/>
    <dgm:cxn modelId="{F344F981-2303-4BD6-A138-85CB8B7B844D}" type="presParOf" srcId="{D235DD8F-B3B5-47B8-948C-D60CEF8DBF57}" destId="{8C311B6F-26F2-4023-AB98-895867431223}" srcOrd="2" destOrd="0" presId="urn:microsoft.com/office/officeart/2005/8/layout/list1"/>
    <dgm:cxn modelId="{2E4C9AEE-8234-4CAD-84E3-959B30FC4A12}" type="presOf" srcId="{8E51EFB7-93B6-469B-8B2C-7EFEBA948EF2}" destId="{8C311B6F-26F2-4023-AB98-895867431223}" srcOrd="0" destOrd="0" presId="urn:microsoft.com/office/officeart/2005/8/layout/list1"/>
    <dgm:cxn modelId="{63B70952-F7B4-469C-888E-3AF4D10C3C3E}" type="presParOf" srcId="{D235DD8F-B3B5-47B8-948C-D60CEF8DBF57}" destId="{FD139902-3B73-4EF5-8FFE-E5EEC1525C49}" srcOrd="3" destOrd="0" presId="urn:microsoft.com/office/officeart/2005/8/layout/list1"/>
    <dgm:cxn modelId="{916471EB-8FBF-41DF-AFF8-F4BB0AD35747}" type="presParOf" srcId="{D235DD8F-B3B5-47B8-948C-D60CEF8DBF57}" destId="{AA116C8A-7F24-4797-94F4-4B0324267609}" srcOrd="4" destOrd="0" presId="urn:microsoft.com/office/officeart/2005/8/layout/list1"/>
    <dgm:cxn modelId="{1A0925A6-FC07-470F-8FCE-1A052108BB0A}" type="presParOf" srcId="{AA116C8A-7F24-4797-94F4-4B0324267609}" destId="{5B16B0DA-6AED-41BF-BF51-607CF2DA3F79}" srcOrd="0" destOrd="4" presId="urn:microsoft.com/office/officeart/2005/8/layout/list1"/>
    <dgm:cxn modelId="{3C59D831-B810-4FE4-BF8E-A2202DAF24FC}" type="presOf" srcId="{0E77F695-092A-4633-9249-8CE5D5AA43DF}" destId="{5B16B0DA-6AED-41BF-BF51-607CF2DA3F79}" srcOrd="0" destOrd="0" presId="urn:microsoft.com/office/officeart/2005/8/layout/list1"/>
    <dgm:cxn modelId="{C6F89904-A8F9-494D-BCC2-513BD0DC3408}" type="presParOf" srcId="{AA116C8A-7F24-4797-94F4-4B0324267609}" destId="{0F5DC670-EAE8-4CC8-9BC9-F42CF6419799}" srcOrd="1" destOrd="4" presId="urn:microsoft.com/office/officeart/2005/8/layout/list1"/>
    <dgm:cxn modelId="{5E771017-EFAB-4B7F-899A-7CA741E01F8C}" type="presOf" srcId="{0E77F695-092A-4633-9249-8CE5D5AA43DF}" destId="{0F5DC670-EAE8-4CC8-9BC9-F42CF6419799}" srcOrd="0" destOrd="0" presId="urn:microsoft.com/office/officeart/2005/8/layout/list1"/>
    <dgm:cxn modelId="{72033812-2534-4BBD-ABE4-3782DEA3907A}" type="presParOf" srcId="{D235DD8F-B3B5-47B8-948C-D60CEF8DBF57}" destId="{02798272-13F2-477B-BEE5-8E0134720BF4}" srcOrd="5" destOrd="0" presId="urn:microsoft.com/office/officeart/2005/8/layout/list1"/>
    <dgm:cxn modelId="{48E725A4-CF0A-4C69-85EC-1AE72F67F414}" type="presParOf" srcId="{D235DD8F-B3B5-47B8-948C-D60CEF8DBF57}" destId="{B210E9C6-A884-4FE1-BCBA-498078D4C67A}" srcOrd="6" destOrd="0" presId="urn:microsoft.com/office/officeart/2005/8/layout/list1"/>
    <dgm:cxn modelId="{95D4629B-37FC-4CE9-86F0-032FEBCA8337}" type="presOf" srcId="{68A2DBA3-73CD-42FC-9886-5F859707CEEF}" destId="{B210E9C6-A884-4FE1-BCBA-498078D4C67A}" srcOrd="0" destOrd="0" presId="urn:microsoft.com/office/officeart/2005/8/layout/list1"/>
    <dgm:cxn modelId="{32785247-D1AA-4B9F-B735-91F8E2D0C2FB}" type="presParOf" srcId="{D235DD8F-B3B5-47B8-948C-D60CEF8DBF57}" destId="{3E67455A-6ABD-465E-A82E-4D3FF110C85D}" srcOrd="7" destOrd="0" presId="urn:microsoft.com/office/officeart/2005/8/layout/list1"/>
    <dgm:cxn modelId="{6686A219-3095-484F-A0C8-3BC4B364B96E}" type="presParOf" srcId="{D235DD8F-B3B5-47B8-948C-D60CEF8DBF57}" destId="{DBF23079-3277-4E78-8337-0D4E62AF5B78}" srcOrd="8" destOrd="0" presId="urn:microsoft.com/office/officeart/2005/8/layout/list1"/>
    <dgm:cxn modelId="{E37CC02F-4712-41A4-B889-D0E06CCD44EE}" type="presParOf" srcId="{DBF23079-3277-4E78-8337-0D4E62AF5B78}" destId="{8043515F-EF42-418B-A71C-098D98124D11}" srcOrd="0" destOrd="8" presId="urn:microsoft.com/office/officeart/2005/8/layout/list1"/>
    <dgm:cxn modelId="{5C2D7D0C-183E-4A92-8289-4603E2D3785E}" type="presOf" srcId="{2332ECA6-8F5E-4F3A-9A27-062ABEC60810}" destId="{8043515F-EF42-418B-A71C-098D98124D11}" srcOrd="0" destOrd="0" presId="urn:microsoft.com/office/officeart/2005/8/layout/list1"/>
    <dgm:cxn modelId="{3DDB1F34-A86D-475E-9013-243D4EC5E266}" type="presParOf" srcId="{DBF23079-3277-4E78-8337-0D4E62AF5B78}" destId="{D42E587D-3EA7-4843-AFA6-222C414348C5}" srcOrd="1" destOrd="8" presId="urn:microsoft.com/office/officeart/2005/8/layout/list1"/>
    <dgm:cxn modelId="{E97C3D6E-7805-4635-B679-C5E887C873D9}" type="presOf" srcId="{2332ECA6-8F5E-4F3A-9A27-062ABEC60810}" destId="{D42E587D-3EA7-4843-AFA6-222C414348C5}" srcOrd="0" destOrd="0" presId="urn:microsoft.com/office/officeart/2005/8/layout/list1"/>
    <dgm:cxn modelId="{9607A0C0-61B8-478D-B875-10B01D90C2DE}" type="presParOf" srcId="{D235DD8F-B3B5-47B8-948C-D60CEF8DBF57}" destId="{7E7150B7-0DF1-4A3E-BD9A-E5068C76B305}" srcOrd="9" destOrd="0" presId="urn:microsoft.com/office/officeart/2005/8/layout/list1"/>
    <dgm:cxn modelId="{CBF232FC-3266-4AC4-9E33-62740EB63EF8}" type="presParOf" srcId="{D235DD8F-B3B5-47B8-948C-D60CEF8DBF57}" destId="{8C56A8EE-F841-4692-8AC7-363875350A1C}" srcOrd="10" destOrd="0" presId="urn:microsoft.com/office/officeart/2005/8/layout/list1"/>
    <dgm:cxn modelId="{1BF2D31A-3962-46FC-83CE-1FA7A880882F}" type="presOf" srcId="{DECB6981-7AE2-4621-AF9B-2069617D3D95}" destId="{8C56A8EE-F841-4692-8AC7-363875350A1C}" srcOrd="0" destOrd="0" presId="urn:microsoft.com/office/officeart/2005/8/layout/list1"/>
    <dgm:cxn modelId="{D03C1C88-30B8-4B54-95F5-5572B1F8E74B}" type="presParOf" srcId="{D235DD8F-B3B5-47B8-948C-D60CEF8DBF57}" destId="{839E7AB8-239F-4BEC-B9C3-74FFAFEA9D8D}" srcOrd="11" destOrd="0" presId="urn:microsoft.com/office/officeart/2005/8/layout/list1"/>
    <dgm:cxn modelId="{ECF61633-48C6-42F7-A4D3-F9A38720CD73}" type="presParOf" srcId="{D235DD8F-B3B5-47B8-948C-D60CEF8DBF57}" destId="{D4CAEC3A-BF49-4F56-8967-15CD2CBF619E}" srcOrd="12" destOrd="0" presId="urn:microsoft.com/office/officeart/2005/8/layout/list1"/>
    <dgm:cxn modelId="{62D29FF8-A4EB-4C8B-8776-6FD5B3C27C50}" type="presParOf" srcId="{D4CAEC3A-BF49-4F56-8967-15CD2CBF619E}" destId="{2FC827A2-6066-4D98-8A25-C614FDED5E04}" srcOrd="0" destOrd="12" presId="urn:microsoft.com/office/officeart/2005/8/layout/list1"/>
    <dgm:cxn modelId="{59BABD04-7285-4839-BF20-CEDCF3459591}" type="presOf" srcId="{9A02DFF9-72F5-4DE8-9CFE-FA4439AE892C}" destId="{2FC827A2-6066-4D98-8A25-C614FDED5E04}" srcOrd="0" destOrd="0" presId="urn:microsoft.com/office/officeart/2005/8/layout/list1"/>
    <dgm:cxn modelId="{DAC1C2F8-FF30-4EF7-8CDD-C3A3D208A9C5}" type="presParOf" srcId="{D4CAEC3A-BF49-4F56-8967-15CD2CBF619E}" destId="{670749B7-8F70-4B19-AF42-E8B76911F258}" srcOrd="1" destOrd="12" presId="urn:microsoft.com/office/officeart/2005/8/layout/list1"/>
    <dgm:cxn modelId="{DB49F8DD-686E-4240-B64A-6F7E661E7BF6}" type="presOf" srcId="{9A02DFF9-72F5-4DE8-9CFE-FA4439AE892C}" destId="{670749B7-8F70-4B19-AF42-E8B76911F258}" srcOrd="0" destOrd="0" presId="urn:microsoft.com/office/officeart/2005/8/layout/list1"/>
    <dgm:cxn modelId="{0402685E-0B19-4B79-8C82-AD47E9B87B04}" type="presParOf" srcId="{D235DD8F-B3B5-47B8-948C-D60CEF8DBF57}" destId="{A2993F0E-54BC-4208-9968-51777FACC9BA}" srcOrd="13" destOrd="0" presId="urn:microsoft.com/office/officeart/2005/8/layout/list1"/>
    <dgm:cxn modelId="{D07D3883-5EDD-4035-A409-88D23BD40AB0}" type="presParOf" srcId="{D235DD8F-B3B5-47B8-948C-D60CEF8DBF57}" destId="{29ECCE60-0C8C-45A3-896A-0FCA6E731E2C}" srcOrd="14" destOrd="0" presId="urn:microsoft.com/office/officeart/2005/8/layout/list1"/>
    <dgm:cxn modelId="{EFA63958-5DB2-4429-972E-4A374CAF10E3}" type="presOf" srcId="{BB93DF74-4D2C-4815-AC2B-B3437FA2AC61}" destId="{29ECCE60-0C8C-45A3-896A-0FCA6E731E2C}" srcOrd="0" destOrd="0" presId="urn:microsoft.com/office/officeart/2005/8/layout/list1"/>
    <dgm:cxn modelId="{217DC937-8979-4529-8871-BA4DB94055EA}" type="presParOf" srcId="{D235DD8F-B3B5-47B8-948C-D60CEF8DBF57}" destId="{D3D4B502-78B4-45E9-BC42-0B4813534ED6}" srcOrd="15" destOrd="0" presId="urn:microsoft.com/office/officeart/2005/8/layout/list1"/>
    <dgm:cxn modelId="{55E1273B-6FF5-401E-9174-DD24D1E63D41}" type="presParOf" srcId="{D235DD8F-B3B5-47B8-948C-D60CEF8DBF57}" destId="{1B3B9CCC-8EF5-4CBD-A6CD-70A8AB3CF8D7}" srcOrd="16" destOrd="0" presId="urn:microsoft.com/office/officeart/2005/8/layout/list1"/>
    <dgm:cxn modelId="{65C1DAD3-C209-4B13-801B-D035B6063546}" type="presParOf" srcId="{1B3B9CCC-8EF5-4CBD-A6CD-70A8AB3CF8D7}" destId="{DE25FAB9-6568-4ED8-8913-989975BDC555}" srcOrd="0" destOrd="16" presId="urn:microsoft.com/office/officeart/2005/8/layout/list1"/>
    <dgm:cxn modelId="{5BA3E5C5-B2D7-4CD7-95FE-082D6F743B54}" type="presOf" srcId="{41E1A765-E429-4C13-A543-C0C33787D7B6}" destId="{DE25FAB9-6568-4ED8-8913-989975BDC555}" srcOrd="0" destOrd="0" presId="urn:microsoft.com/office/officeart/2005/8/layout/list1"/>
    <dgm:cxn modelId="{662E9556-AF9A-4FE9-89A1-4852ED6659F8}" type="presParOf" srcId="{1B3B9CCC-8EF5-4CBD-A6CD-70A8AB3CF8D7}" destId="{08D91DA3-0689-4947-AB01-6512F16DBA7D}" srcOrd="1" destOrd="16" presId="urn:microsoft.com/office/officeart/2005/8/layout/list1"/>
    <dgm:cxn modelId="{D057A1AA-0A54-4CFA-954C-29C6B541D493}" type="presOf" srcId="{41E1A765-E429-4C13-A543-C0C33787D7B6}" destId="{08D91DA3-0689-4947-AB01-6512F16DBA7D}" srcOrd="0" destOrd="0" presId="urn:microsoft.com/office/officeart/2005/8/layout/list1"/>
    <dgm:cxn modelId="{137BAA2A-220F-4C4A-9F29-4B30656A647F}" type="presParOf" srcId="{D235DD8F-B3B5-47B8-948C-D60CEF8DBF57}" destId="{D022404A-C911-457B-B705-F3C776B3BB28}" srcOrd="17" destOrd="0" presId="urn:microsoft.com/office/officeart/2005/8/layout/list1"/>
    <dgm:cxn modelId="{D0CF6639-A5A9-4F54-9EE4-6A1A7BBF5DF0}" type="presParOf" srcId="{D235DD8F-B3B5-47B8-948C-D60CEF8DBF57}" destId="{3A6E8B2B-698B-4684-9086-7322BA4B0410}" srcOrd="18" destOrd="0" presId="urn:microsoft.com/office/officeart/2005/8/layout/list1"/>
    <dgm:cxn modelId="{57C42199-2D00-4B1E-8674-D7A46EC0695D}" type="presOf" srcId="{3C8A110B-A1F0-4BD0-B87B-3E6AE7132EF2}" destId="{3A6E8B2B-698B-4684-9086-7322BA4B0410}" srcOrd="0" destOrd="0" presId="urn:microsoft.com/office/officeart/2005/8/layout/list1"/>
    <dgm:cxn modelId="{DD4F94C8-0775-415E-9EB3-5DF708BB73AD}" type="presParOf" srcId="{D235DD8F-B3B5-47B8-948C-D60CEF8DBF57}" destId="{C34B7203-01FE-41C2-A1BE-A2C5A4D4ED1D}" srcOrd="19" destOrd="0" presId="urn:microsoft.com/office/officeart/2005/8/layout/list1"/>
    <dgm:cxn modelId="{1EACA62A-EDE7-455E-8AFE-3A6C18C65749}" type="presParOf" srcId="{D235DD8F-B3B5-47B8-948C-D60CEF8DBF57}" destId="{D5D02BF7-E702-4CF0-B30B-85498CD3C089}" srcOrd="20" destOrd="0" presId="urn:microsoft.com/office/officeart/2005/8/layout/list1"/>
    <dgm:cxn modelId="{633F38D8-A4DE-4E8F-BCE9-83E60D7B35F1}" type="presParOf" srcId="{D5D02BF7-E702-4CF0-B30B-85498CD3C089}" destId="{2E9EA71B-B115-4435-A8B4-391264E4E4DB}" srcOrd="0" destOrd="20" presId="urn:microsoft.com/office/officeart/2005/8/layout/list1"/>
    <dgm:cxn modelId="{2858E8CA-23A4-4C01-AE6E-9CEC5FBAB52C}" type="presOf" srcId="{FA65A191-E448-4681-A474-3055221B9BCC}" destId="{2E9EA71B-B115-4435-A8B4-391264E4E4DB}" srcOrd="0" destOrd="0" presId="urn:microsoft.com/office/officeart/2005/8/layout/list1"/>
    <dgm:cxn modelId="{33AAA65A-431F-4445-91AE-00E81A5DDE22}" type="presParOf" srcId="{D5D02BF7-E702-4CF0-B30B-85498CD3C089}" destId="{295E4C56-E244-49C1-AF95-CDBDB4A62C1E}" srcOrd="1" destOrd="20" presId="urn:microsoft.com/office/officeart/2005/8/layout/list1"/>
    <dgm:cxn modelId="{84161993-40F6-4613-AB91-CB74C1412A7B}" type="presOf" srcId="{FA65A191-E448-4681-A474-3055221B9BCC}" destId="{295E4C56-E244-49C1-AF95-CDBDB4A62C1E}" srcOrd="0" destOrd="0" presId="urn:microsoft.com/office/officeart/2005/8/layout/list1"/>
    <dgm:cxn modelId="{2B650A5D-C531-47B0-AACE-988498EE1820}" type="presParOf" srcId="{D235DD8F-B3B5-47B8-948C-D60CEF8DBF57}" destId="{507C4024-C4DD-48E5-AD23-5D8420D6D034}" srcOrd="21" destOrd="0" presId="urn:microsoft.com/office/officeart/2005/8/layout/list1"/>
    <dgm:cxn modelId="{4538675B-5B13-4B83-9FCA-3FBDDD29D13E}" type="presParOf" srcId="{D235DD8F-B3B5-47B8-948C-D60CEF8DBF57}" destId="{93F7EC4B-BF0A-425B-8C02-BBA0C30F72A0}" srcOrd="22" destOrd="0" presId="urn:microsoft.com/office/officeart/2005/8/layout/list1"/>
    <dgm:cxn modelId="{F0BA957C-5184-4B14-8C6C-59E592DFFBDA}" type="presOf" srcId="{043E1E77-376C-49B6-AE41-0033555AB98A}" destId="{93F7EC4B-BF0A-425B-8C02-BBA0C30F72A0}" srcOrd="0" destOrd="0" presId="urn:microsoft.com/office/officeart/2005/8/layout/list1"/>
    <dgm:cxn modelId="{FFBA59D4-B3DB-41BE-9990-8D0BC75BF227}" type="presParOf" srcId="{D235DD8F-B3B5-47B8-948C-D60CEF8DBF57}" destId="{D7022A97-4AA4-46C9-8B35-EFDF91A38A6A}" srcOrd="23" destOrd="0" presId="urn:microsoft.com/office/officeart/2005/8/layout/list1"/>
    <dgm:cxn modelId="{361ED772-ADD9-404C-ACF0-0EC70BE47E83}" type="presParOf" srcId="{D235DD8F-B3B5-47B8-948C-D60CEF8DBF57}" destId="{A41E938B-218D-44CC-B69D-AE6B2A5E28FF}" srcOrd="24" destOrd="0" presId="urn:microsoft.com/office/officeart/2005/8/layout/list1"/>
    <dgm:cxn modelId="{911E99DC-DE02-4117-860F-3E84E2367EEE}" type="presParOf" srcId="{A41E938B-218D-44CC-B69D-AE6B2A5E28FF}" destId="{814E8494-C557-4EDA-9600-7F488B4C9F27}" srcOrd="0" destOrd="24" presId="urn:microsoft.com/office/officeart/2005/8/layout/list1"/>
    <dgm:cxn modelId="{1DAB6AC5-87E5-4450-AD19-C320C661E83F}" type="presOf" srcId="{8855E401-21F6-49DE-965D-C4765BEF879F}" destId="{814E8494-C557-4EDA-9600-7F488B4C9F27}" srcOrd="0" destOrd="0" presId="urn:microsoft.com/office/officeart/2005/8/layout/list1"/>
    <dgm:cxn modelId="{38A0D007-6787-4620-B438-22B7B2C4EE83}" type="presParOf" srcId="{A41E938B-218D-44CC-B69D-AE6B2A5E28FF}" destId="{3DD5D1FF-BDBA-4E3F-B591-AA3E8C8259A1}" srcOrd="1" destOrd="24" presId="urn:microsoft.com/office/officeart/2005/8/layout/list1"/>
    <dgm:cxn modelId="{EAC1991E-B91B-4BA7-B875-4E91EE4A1C5E}" type="presOf" srcId="{8855E401-21F6-49DE-965D-C4765BEF879F}" destId="{3DD5D1FF-BDBA-4E3F-B591-AA3E8C8259A1}" srcOrd="0" destOrd="0" presId="urn:microsoft.com/office/officeart/2005/8/layout/list1"/>
    <dgm:cxn modelId="{C6BD6FF3-CB08-461F-96EC-BA1E28C8EC39}" type="presParOf" srcId="{D235DD8F-B3B5-47B8-948C-D60CEF8DBF57}" destId="{F6F630B2-1F15-43A0-B214-FE5C14142B2D}" srcOrd="25" destOrd="0" presId="urn:microsoft.com/office/officeart/2005/8/layout/list1"/>
    <dgm:cxn modelId="{3E85E4D6-B0BA-4925-B986-5323A9256F3C}" type="presParOf" srcId="{D235DD8F-B3B5-47B8-948C-D60CEF8DBF57}" destId="{97DE0F63-DC63-46CC-9C0B-328313469902}" srcOrd="26" destOrd="0" presId="urn:microsoft.com/office/officeart/2005/8/layout/list1"/>
    <dgm:cxn modelId="{F7D89723-80B3-4578-B161-C986BF15D879}" type="presOf" srcId="{2E2D3E01-18F1-4EC9-9CE3-5877B43F05DD}" destId="{97DE0F63-DC63-46CC-9C0B-328313469902}" srcOrd="0"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093E7D-72E2-469F-AD38-E195A6CB2294}"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893613D5-DE85-407F-B216-C92194E21B10}">
      <dgm:prSet phldrT="[文本]" custT="1"/>
      <dgm:spPr/>
      <dgm:t>
        <a:bodyPr/>
        <a:lstStyle/>
        <a:p>
          <a:r>
            <a:rPr lang="en-US" altLang="zh-CN" sz="2000" dirty="0" smtClean="0"/>
            <a:t>1</a:t>
          </a:r>
          <a:r>
            <a:rPr lang="zh-CN" altLang="en-US" sz="2000" dirty="0" smtClean="0"/>
            <a:t>、</a:t>
          </a:r>
          <a:r>
            <a:rPr lang="zh-CN" altLang="zh-CN" sz="2000" dirty="0" smtClean="0"/>
            <a:t>用</a:t>
          </a:r>
          <a:r>
            <a:rPr lang="zh-CN" altLang="zh-CN" sz="2000" dirty="0" smtClean="0">
              <a:solidFill>
                <a:srgbClr val="FF0000"/>
              </a:solidFill>
            </a:rPr>
            <a:t>分阶段的生命周期计划</a:t>
          </a:r>
          <a:r>
            <a:rPr lang="zh-CN" altLang="zh-CN" sz="2000" dirty="0" smtClean="0"/>
            <a:t>严格管理</a:t>
          </a:r>
          <a:endParaRPr lang="zh-CN" altLang="en-US" sz="2000" dirty="0"/>
        </a:p>
      </dgm:t>
    </dgm:pt>
    <dgm:pt modelId="{8896E1D1-25BD-43BD-8A8B-D6EE239520C9}" cxnId="{5C826EB7-54F4-4BFB-BB63-311091908095}" type="parTrans">
      <dgm:prSet/>
      <dgm:spPr/>
      <dgm:t>
        <a:bodyPr/>
        <a:lstStyle/>
        <a:p>
          <a:endParaRPr lang="zh-CN" altLang="en-US"/>
        </a:p>
      </dgm:t>
    </dgm:pt>
    <dgm:pt modelId="{45A0ECF1-4573-45DA-9FA0-B181CC4CC582}" cxnId="{5C826EB7-54F4-4BFB-BB63-311091908095}" type="sibTrans">
      <dgm:prSet/>
      <dgm:spPr/>
      <dgm:t>
        <a:bodyPr/>
        <a:lstStyle/>
        <a:p>
          <a:endParaRPr lang="zh-CN" altLang="en-US"/>
        </a:p>
      </dgm:t>
    </dgm:pt>
    <dgm:pt modelId="{C8B9C874-7D41-4BC4-98E8-F32A68ED976F}">
      <dgm:prSet custT="1"/>
      <dgm:spPr/>
      <dgm:t>
        <a:bodyPr/>
        <a:lstStyle/>
        <a:p>
          <a:r>
            <a:rPr lang="en-US" altLang="zh-CN" sz="2000" dirty="0" smtClean="0"/>
            <a:t>2</a:t>
          </a:r>
          <a:r>
            <a:rPr lang="zh-CN" altLang="en-US" sz="2000" dirty="0" smtClean="0"/>
            <a:t>、</a:t>
          </a:r>
          <a:r>
            <a:rPr lang="zh-CN" altLang="zh-CN" sz="2000" dirty="0" smtClean="0"/>
            <a:t>坚持进行</a:t>
          </a:r>
          <a:r>
            <a:rPr lang="zh-CN" altLang="zh-CN" sz="2000" dirty="0" smtClean="0">
              <a:solidFill>
                <a:srgbClr val="FF0000"/>
              </a:solidFill>
            </a:rPr>
            <a:t>阶段评审</a:t>
          </a:r>
          <a:endParaRPr lang="en-US" altLang="zh-CN" sz="2000" dirty="0" smtClean="0">
            <a:solidFill>
              <a:srgbClr val="FF0000"/>
            </a:solidFill>
          </a:endParaRPr>
        </a:p>
      </dgm:t>
    </dgm:pt>
    <dgm:pt modelId="{955352F7-5202-460D-B214-DBED382966A9}" cxnId="{DDF66671-45E2-42BF-9871-379569914DAA}" type="parTrans">
      <dgm:prSet/>
      <dgm:spPr/>
      <dgm:t>
        <a:bodyPr/>
        <a:lstStyle/>
        <a:p>
          <a:endParaRPr lang="zh-CN" altLang="en-US"/>
        </a:p>
      </dgm:t>
    </dgm:pt>
    <dgm:pt modelId="{932DA253-0651-41A5-874E-38BA0E9E6394}" cxnId="{DDF66671-45E2-42BF-9871-379569914DAA}" type="sibTrans">
      <dgm:prSet/>
      <dgm:spPr/>
      <dgm:t>
        <a:bodyPr/>
        <a:lstStyle/>
        <a:p>
          <a:endParaRPr lang="zh-CN" altLang="en-US"/>
        </a:p>
      </dgm:t>
    </dgm:pt>
    <dgm:pt modelId="{3AFB3B09-40F8-4FE1-AA2D-D0F7BF1DDD0D}">
      <dgm:prSet custT="1"/>
      <dgm:spPr/>
      <dgm:t>
        <a:bodyPr/>
        <a:lstStyle/>
        <a:p>
          <a:r>
            <a:rPr lang="en-US" altLang="zh-CN" sz="2000" dirty="0" smtClean="0"/>
            <a:t>3</a:t>
          </a:r>
          <a:r>
            <a:rPr lang="zh-CN" altLang="en-US" sz="2000" dirty="0" smtClean="0"/>
            <a:t>、</a:t>
          </a:r>
          <a:r>
            <a:rPr lang="zh-CN" altLang="zh-CN" sz="2000" dirty="0" smtClean="0"/>
            <a:t>实行严格的产品控制</a:t>
          </a:r>
          <a:endParaRPr lang="en-US" altLang="zh-CN" sz="2000" dirty="0" smtClean="0"/>
        </a:p>
      </dgm:t>
    </dgm:pt>
    <dgm:pt modelId="{8CDD8211-160B-40B4-8196-39954AA3BC1B}" cxnId="{9CFF8018-26BD-43D8-B520-6DDBFEAC7DAB}" type="parTrans">
      <dgm:prSet/>
      <dgm:spPr/>
      <dgm:t>
        <a:bodyPr/>
        <a:lstStyle/>
        <a:p>
          <a:endParaRPr lang="zh-CN" altLang="en-US"/>
        </a:p>
      </dgm:t>
    </dgm:pt>
    <dgm:pt modelId="{38AFCB26-3D0E-4AD8-8FF8-671B783870B6}" cxnId="{9CFF8018-26BD-43D8-B520-6DDBFEAC7DAB}" type="sibTrans">
      <dgm:prSet/>
      <dgm:spPr/>
      <dgm:t>
        <a:bodyPr/>
        <a:lstStyle/>
        <a:p>
          <a:endParaRPr lang="zh-CN" altLang="en-US"/>
        </a:p>
      </dgm:t>
    </dgm:pt>
    <dgm:pt modelId="{DD45C5EC-0CF9-41B3-A39A-3C08069086FF}">
      <dgm:prSet custT="1"/>
      <dgm:spPr/>
      <dgm:t>
        <a:bodyPr/>
        <a:lstStyle/>
        <a:p>
          <a:r>
            <a:rPr lang="en-US" altLang="zh-CN" sz="2000" dirty="0" smtClean="0"/>
            <a:t>4</a:t>
          </a:r>
          <a:r>
            <a:rPr lang="zh-CN" altLang="en-US" sz="2000" dirty="0" smtClean="0"/>
            <a:t>、</a:t>
          </a:r>
          <a:r>
            <a:rPr lang="zh-CN" altLang="zh-CN" sz="2000" dirty="0" smtClean="0"/>
            <a:t>采用</a:t>
          </a:r>
          <a:r>
            <a:rPr lang="zh-CN" altLang="zh-CN" sz="2000" dirty="0" smtClean="0">
              <a:solidFill>
                <a:srgbClr val="FF0000"/>
              </a:solidFill>
            </a:rPr>
            <a:t>现代程序设计技术</a:t>
          </a:r>
          <a:endParaRPr lang="en-US" altLang="zh-CN" sz="2000" dirty="0" smtClean="0">
            <a:solidFill>
              <a:srgbClr val="FF0000"/>
            </a:solidFill>
          </a:endParaRPr>
        </a:p>
      </dgm:t>
    </dgm:pt>
    <dgm:pt modelId="{6E63A58F-E7D7-41E8-BB67-ACE93E559F93}" cxnId="{22ACB9E7-54A3-428D-B2C3-4FD470308745}" type="parTrans">
      <dgm:prSet/>
      <dgm:spPr/>
      <dgm:t>
        <a:bodyPr/>
        <a:lstStyle/>
        <a:p>
          <a:endParaRPr lang="zh-CN" altLang="en-US"/>
        </a:p>
      </dgm:t>
    </dgm:pt>
    <dgm:pt modelId="{26D86662-4A94-4C44-808E-668423FEE33C}" cxnId="{22ACB9E7-54A3-428D-B2C3-4FD470308745}" type="sibTrans">
      <dgm:prSet/>
      <dgm:spPr/>
      <dgm:t>
        <a:bodyPr/>
        <a:lstStyle/>
        <a:p>
          <a:endParaRPr lang="zh-CN" altLang="en-US"/>
        </a:p>
      </dgm:t>
    </dgm:pt>
    <dgm:pt modelId="{68917575-150E-4C07-85DF-D30C4894D29B}">
      <dgm:prSet custT="1"/>
      <dgm:spPr/>
      <dgm:t>
        <a:bodyPr/>
        <a:lstStyle/>
        <a:p>
          <a:r>
            <a:rPr lang="en-US" altLang="zh-CN" sz="2000" dirty="0" smtClean="0"/>
            <a:t>5</a:t>
          </a:r>
          <a:r>
            <a:rPr lang="zh-CN" altLang="en-US" sz="2000" dirty="0" smtClean="0"/>
            <a:t>、</a:t>
          </a:r>
          <a:r>
            <a:rPr lang="zh-CN" altLang="zh-CN" sz="2000" dirty="0" smtClean="0"/>
            <a:t>结果应能清楚地</a:t>
          </a:r>
          <a:r>
            <a:rPr lang="zh-CN" altLang="zh-CN" sz="2000" dirty="0" smtClean="0">
              <a:solidFill>
                <a:srgbClr val="FF0000"/>
              </a:solidFill>
            </a:rPr>
            <a:t>审查</a:t>
          </a:r>
          <a:endParaRPr lang="en-US" altLang="zh-CN" sz="2000" dirty="0">
            <a:solidFill>
              <a:srgbClr val="FF0000"/>
            </a:solidFill>
          </a:endParaRPr>
        </a:p>
      </dgm:t>
    </dgm:pt>
    <dgm:pt modelId="{242F17C5-4014-45A4-BE4B-CED1C9E77F19}" cxnId="{27B87D01-B3CD-4B60-B242-DFE637BB60B1}" type="parTrans">
      <dgm:prSet/>
      <dgm:spPr/>
      <dgm:t>
        <a:bodyPr/>
        <a:lstStyle/>
        <a:p>
          <a:endParaRPr lang="zh-CN" altLang="en-US"/>
        </a:p>
      </dgm:t>
    </dgm:pt>
    <dgm:pt modelId="{3D2FE4DF-1F73-4452-B66A-C01D45A9AB32}" cxnId="{27B87D01-B3CD-4B60-B242-DFE637BB60B1}" type="sibTrans">
      <dgm:prSet/>
      <dgm:spPr/>
      <dgm:t>
        <a:bodyPr/>
        <a:lstStyle/>
        <a:p>
          <a:endParaRPr lang="zh-CN" altLang="en-US"/>
        </a:p>
      </dgm:t>
    </dgm:pt>
    <dgm:pt modelId="{F7203C07-6072-48CE-AC0E-48E6426F4EC0}">
      <dgm:prSet custT="1"/>
      <dgm:spPr/>
      <dgm:t>
        <a:bodyPr/>
        <a:lstStyle/>
        <a:p>
          <a:r>
            <a:rPr lang="en-US" altLang="zh-CN" sz="2000" dirty="0" smtClean="0"/>
            <a:t>6</a:t>
          </a:r>
          <a:r>
            <a:rPr lang="zh-CN" altLang="en-US" sz="2000" dirty="0" smtClean="0"/>
            <a:t>、</a:t>
          </a:r>
          <a:r>
            <a:rPr lang="zh-CN" altLang="zh-CN" sz="2000" dirty="0" smtClean="0"/>
            <a:t>开发小组的人员应该少而精</a:t>
          </a:r>
          <a:endParaRPr lang="en-US" altLang="zh-CN" sz="2000" dirty="0"/>
        </a:p>
      </dgm:t>
    </dgm:pt>
    <dgm:pt modelId="{88FC3A42-C1C1-414F-A7A3-845D9CDFEE11}" cxnId="{A36FB33C-0E71-4199-96EC-F32205E6FD2E}" type="parTrans">
      <dgm:prSet/>
      <dgm:spPr/>
      <dgm:t>
        <a:bodyPr/>
        <a:lstStyle/>
        <a:p>
          <a:endParaRPr lang="zh-CN" altLang="en-US"/>
        </a:p>
      </dgm:t>
    </dgm:pt>
    <dgm:pt modelId="{8F4456AA-2BEE-4AEC-8A91-23C70E55E082}" cxnId="{A36FB33C-0E71-4199-96EC-F32205E6FD2E}" type="sibTrans">
      <dgm:prSet/>
      <dgm:spPr/>
      <dgm:t>
        <a:bodyPr/>
        <a:lstStyle/>
        <a:p>
          <a:endParaRPr lang="zh-CN" altLang="en-US"/>
        </a:p>
      </dgm:t>
    </dgm:pt>
    <dgm:pt modelId="{80C8E214-719F-4559-A64A-CC0F10CB0FEA}">
      <dgm:prSet custT="1"/>
      <dgm:spPr/>
      <dgm:t>
        <a:bodyPr/>
        <a:lstStyle/>
        <a:p>
          <a:r>
            <a:rPr lang="en-US" altLang="zh-CN" sz="2000" dirty="0" smtClean="0"/>
            <a:t>7</a:t>
          </a:r>
          <a:r>
            <a:rPr lang="zh-CN" altLang="en-US" sz="2000" dirty="0" smtClean="0"/>
            <a:t>、</a:t>
          </a:r>
          <a:r>
            <a:rPr lang="zh-CN" altLang="zh-CN" sz="2000" dirty="0" smtClean="0"/>
            <a:t>承认不断</a:t>
          </a:r>
          <a:r>
            <a:rPr lang="zh-CN" altLang="zh-CN" sz="2000" dirty="0" smtClean="0">
              <a:solidFill>
                <a:srgbClr val="FF0000"/>
              </a:solidFill>
            </a:rPr>
            <a:t>改进</a:t>
          </a:r>
          <a:r>
            <a:rPr lang="zh-CN" altLang="zh-CN" sz="2000" dirty="0" smtClean="0"/>
            <a:t>软件工程实践的必要性</a:t>
          </a:r>
          <a:endParaRPr lang="en-US" altLang="zh-CN" sz="2000" b="1" dirty="0" smtClean="0"/>
        </a:p>
      </dgm:t>
    </dgm:pt>
    <dgm:pt modelId="{C70EB0BD-E7ED-4097-9643-A95AA830DD40}" cxnId="{C746B5C9-936F-4DD4-A403-A131692C0AC5}" type="parTrans">
      <dgm:prSet/>
      <dgm:spPr/>
      <dgm:t>
        <a:bodyPr/>
        <a:lstStyle/>
        <a:p>
          <a:endParaRPr lang="zh-CN" altLang="en-US"/>
        </a:p>
      </dgm:t>
    </dgm:pt>
    <dgm:pt modelId="{528F0914-6E56-4547-BAFB-373CC03F1009}" cxnId="{C746B5C9-936F-4DD4-A403-A131692C0AC5}" type="sibTrans">
      <dgm:prSet/>
      <dgm:spPr/>
      <dgm:t>
        <a:bodyPr/>
        <a:lstStyle/>
        <a:p>
          <a:endParaRPr lang="zh-CN" altLang="en-US"/>
        </a:p>
      </dgm:t>
    </dgm:pt>
    <dgm:pt modelId="{D235DD8F-B3B5-47B8-948C-D60CEF8DBF57}" type="pres">
      <dgm:prSet presAssocID="{A8093E7D-72E2-469F-AD38-E195A6CB2294}" presName="linear" presStyleCnt="0">
        <dgm:presLayoutVars>
          <dgm:dir/>
          <dgm:animLvl val="lvl"/>
          <dgm:resizeHandles val="exact"/>
        </dgm:presLayoutVars>
      </dgm:prSet>
      <dgm:spPr/>
      <dgm:t>
        <a:bodyPr/>
        <a:lstStyle/>
        <a:p>
          <a:endParaRPr lang="zh-CN" altLang="en-US"/>
        </a:p>
      </dgm:t>
    </dgm:pt>
    <dgm:pt modelId="{A493F55B-06CE-47C3-A13F-9BAE78E53102}" type="pres">
      <dgm:prSet presAssocID="{893613D5-DE85-407F-B216-C92194E21B10}" presName="parentLin" presStyleCnt="0"/>
      <dgm:spPr/>
      <dgm:t>
        <a:bodyPr/>
        <a:lstStyle/>
        <a:p>
          <a:endParaRPr lang="zh-CN" altLang="en-US"/>
        </a:p>
      </dgm:t>
    </dgm:pt>
    <dgm:pt modelId="{787C6EE1-56A1-4212-B3AD-02A8D00C6834}" type="pres">
      <dgm:prSet presAssocID="{893613D5-DE85-407F-B216-C92194E21B10}" presName="parentLeftMargin" presStyleLbl="node1" presStyleIdx="0" presStyleCnt="7"/>
      <dgm:spPr/>
      <dgm:t>
        <a:bodyPr/>
        <a:lstStyle/>
        <a:p>
          <a:endParaRPr lang="zh-CN" altLang="en-US"/>
        </a:p>
      </dgm:t>
    </dgm:pt>
    <dgm:pt modelId="{7FBB601F-231A-4F93-AA47-F369C36A6E25}" type="pres">
      <dgm:prSet presAssocID="{893613D5-DE85-407F-B216-C92194E21B10}" presName="parentText" presStyleLbl="node1" presStyleIdx="0" presStyleCnt="7">
        <dgm:presLayoutVars>
          <dgm:chMax val="0"/>
          <dgm:bulletEnabled val="1"/>
        </dgm:presLayoutVars>
      </dgm:prSet>
      <dgm:spPr/>
      <dgm:t>
        <a:bodyPr/>
        <a:lstStyle/>
        <a:p>
          <a:endParaRPr lang="zh-CN" altLang="en-US"/>
        </a:p>
      </dgm:t>
    </dgm:pt>
    <dgm:pt modelId="{6A8D621E-5602-4760-996A-C20A89BFA18C}" type="pres">
      <dgm:prSet presAssocID="{893613D5-DE85-407F-B216-C92194E21B10}" presName="negativeSpace" presStyleCnt="0"/>
      <dgm:spPr/>
      <dgm:t>
        <a:bodyPr/>
        <a:lstStyle/>
        <a:p>
          <a:endParaRPr lang="zh-CN" altLang="en-US"/>
        </a:p>
      </dgm:t>
    </dgm:pt>
    <dgm:pt modelId="{8C311B6F-26F2-4023-AB98-895867431223}" type="pres">
      <dgm:prSet presAssocID="{893613D5-DE85-407F-B216-C92194E21B10}" presName="childText" presStyleLbl="conFgAcc1" presStyleIdx="0" presStyleCnt="7">
        <dgm:presLayoutVars>
          <dgm:bulletEnabled val="1"/>
        </dgm:presLayoutVars>
      </dgm:prSet>
      <dgm:spPr/>
      <dgm:t>
        <a:bodyPr/>
        <a:lstStyle/>
        <a:p>
          <a:endParaRPr lang="zh-CN" altLang="en-US"/>
        </a:p>
      </dgm:t>
    </dgm:pt>
    <dgm:pt modelId="{FD139902-3B73-4EF5-8FFE-E5EEC1525C49}" type="pres">
      <dgm:prSet presAssocID="{45A0ECF1-4573-45DA-9FA0-B181CC4CC582}" presName="spaceBetweenRectangles" presStyleCnt="0"/>
      <dgm:spPr/>
      <dgm:t>
        <a:bodyPr/>
        <a:lstStyle/>
        <a:p>
          <a:endParaRPr lang="zh-CN" altLang="en-US"/>
        </a:p>
      </dgm:t>
    </dgm:pt>
    <dgm:pt modelId="{9320613B-F3AB-4047-A492-18502706E490}" type="pres">
      <dgm:prSet presAssocID="{C8B9C874-7D41-4BC4-98E8-F32A68ED976F}" presName="parentLin" presStyleCnt="0"/>
      <dgm:spPr/>
      <dgm:t>
        <a:bodyPr/>
        <a:lstStyle/>
        <a:p>
          <a:endParaRPr lang="zh-CN" altLang="en-US"/>
        </a:p>
      </dgm:t>
    </dgm:pt>
    <dgm:pt modelId="{5A123B7F-97C5-4809-B87B-4819449E542B}" type="pres">
      <dgm:prSet presAssocID="{C8B9C874-7D41-4BC4-98E8-F32A68ED976F}" presName="parentLeftMargin" presStyleLbl="node1" presStyleIdx="0" presStyleCnt="7"/>
      <dgm:spPr/>
      <dgm:t>
        <a:bodyPr/>
        <a:lstStyle/>
        <a:p>
          <a:endParaRPr lang="zh-CN" altLang="en-US"/>
        </a:p>
      </dgm:t>
    </dgm:pt>
    <dgm:pt modelId="{83E5B62E-53D8-4201-A94B-807C6EEBD4A6}" type="pres">
      <dgm:prSet presAssocID="{C8B9C874-7D41-4BC4-98E8-F32A68ED976F}" presName="parentText" presStyleLbl="node1" presStyleIdx="1" presStyleCnt="7">
        <dgm:presLayoutVars>
          <dgm:chMax val="0"/>
          <dgm:bulletEnabled val="1"/>
        </dgm:presLayoutVars>
      </dgm:prSet>
      <dgm:spPr/>
      <dgm:t>
        <a:bodyPr/>
        <a:lstStyle/>
        <a:p>
          <a:endParaRPr lang="zh-CN" altLang="en-US"/>
        </a:p>
      </dgm:t>
    </dgm:pt>
    <dgm:pt modelId="{41611200-B33F-4161-AB55-D03633918186}" type="pres">
      <dgm:prSet presAssocID="{C8B9C874-7D41-4BC4-98E8-F32A68ED976F}" presName="negativeSpace" presStyleCnt="0"/>
      <dgm:spPr/>
      <dgm:t>
        <a:bodyPr/>
        <a:lstStyle/>
        <a:p>
          <a:endParaRPr lang="zh-CN" altLang="en-US"/>
        </a:p>
      </dgm:t>
    </dgm:pt>
    <dgm:pt modelId="{E591B38A-C324-4CCE-823C-467EB06F69ED}" type="pres">
      <dgm:prSet presAssocID="{C8B9C874-7D41-4BC4-98E8-F32A68ED976F}" presName="childText" presStyleLbl="conFgAcc1" presStyleIdx="1" presStyleCnt="7">
        <dgm:presLayoutVars>
          <dgm:bulletEnabled val="1"/>
        </dgm:presLayoutVars>
      </dgm:prSet>
      <dgm:spPr/>
      <dgm:t>
        <a:bodyPr/>
        <a:lstStyle/>
        <a:p>
          <a:endParaRPr lang="zh-CN" altLang="en-US"/>
        </a:p>
      </dgm:t>
    </dgm:pt>
    <dgm:pt modelId="{69C1D6EF-EF43-4FDC-A656-6559C53FC66E}" type="pres">
      <dgm:prSet presAssocID="{932DA253-0651-41A5-874E-38BA0E9E6394}" presName="spaceBetweenRectangles" presStyleCnt="0"/>
      <dgm:spPr/>
      <dgm:t>
        <a:bodyPr/>
        <a:lstStyle/>
        <a:p>
          <a:endParaRPr lang="zh-CN" altLang="en-US"/>
        </a:p>
      </dgm:t>
    </dgm:pt>
    <dgm:pt modelId="{2FA35146-7690-40EF-9D3C-8A8A19A0A221}" type="pres">
      <dgm:prSet presAssocID="{3AFB3B09-40F8-4FE1-AA2D-D0F7BF1DDD0D}" presName="parentLin" presStyleCnt="0"/>
      <dgm:spPr/>
      <dgm:t>
        <a:bodyPr/>
        <a:lstStyle/>
        <a:p>
          <a:endParaRPr lang="zh-CN" altLang="en-US"/>
        </a:p>
      </dgm:t>
    </dgm:pt>
    <dgm:pt modelId="{64C7198E-8559-40C4-AFB4-0266B648F30C}" type="pres">
      <dgm:prSet presAssocID="{3AFB3B09-40F8-4FE1-AA2D-D0F7BF1DDD0D}" presName="parentLeftMargin" presStyleLbl="node1" presStyleIdx="1" presStyleCnt="7"/>
      <dgm:spPr/>
      <dgm:t>
        <a:bodyPr/>
        <a:lstStyle/>
        <a:p>
          <a:endParaRPr lang="zh-CN" altLang="en-US"/>
        </a:p>
      </dgm:t>
    </dgm:pt>
    <dgm:pt modelId="{A9692D7E-66B7-447A-BEA8-2807723CBB68}" type="pres">
      <dgm:prSet presAssocID="{3AFB3B09-40F8-4FE1-AA2D-D0F7BF1DDD0D}" presName="parentText" presStyleLbl="node1" presStyleIdx="2" presStyleCnt="7">
        <dgm:presLayoutVars>
          <dgm:chMax val="0"/>
          <dgm:bulletEnabled val="1"/>
        </dgm:presLayoutVars>
      </dgm:prSet>
      <dgm:spPr/>
      <dgm:t>
        <a:bodyPr/>
        <a:lstStyle/>
        <a:p>
          <a:endParaRPr lang="zh-CN" altLang="en-US"/>
        </a:p>
      </dgm:t>
    </dgm:pt>
    <dgm:pt modelId="{C0EC3D5A-D33B-43B7-A089-77008B94B00C}" type="pres">
      <dgm:prSet presAssocID="{3AFB3B09-40F8-4FE1-AA2D-D0F7BF1DDD0D}" presName="negativeSpace" presStyleCnt="0"/>
      <dgm:spPr/>
      <dgm:t>
        <a:bodyPr/>
        <a:lstStyle/>
        <a:p>
          <a:endParaRPr lang="zh-CN" altLang="en-US"/>
        </a:p>
      </dgm:t>
    </dgm:pt>
    <dgm:pt modelId="{072C5C12-EE83-43CF-9762-83729545A7BA}" type="pres">
      <dgm:prSet presAssocID="{3AFB3B09-40F8-4FE1-AA2D-D0F7BF1DDD0D}" presName="childText" presStyleLbl="conFgAcc1" presStyleIdx="2" presStyleCnt="7">
        <dgm:presLayoutVars>
          <dgm:bulletEnabled val="1"/>
        </dgm:presLayoutVars>
      </dgm:prSet>
      <dgm:spPr/>
      <dgm:t>
        <a:bodyPr/>
        <a:lstStyle/>
        <a:p>
          <a:endParaRPr lang="zh-CN" altLang="en-US"/>
        </a:p>
      </dgm:t>
    </dgm:pt>
    <dgm:pt modelId="{44612FCB-B0DE-4E27-BAAE-FD9875298A3D}" type="pres">
      <dgm:prSet presAssocID="{38AFCB26-3D0E-4AD8-8FF8-671B783870B6}" presName="spaceBetweenRectangles" presStyleCnt="0"/>
      <dgm:spPr/>
      <dgm:t>
        <a:bodyPr/>
        <a:lstStyle/>
        <a:p>
          <a:endParaRPr lang="zh-CN" altLang="en-US"/>
        </a:p>
      </dgm:t>
    </dgm:pt>
    <dgm:pt modelId="{42750CA4-32AC-4266-837F-239F2D1E9D6D}" type="pres">
      <dgm:prSet presAssocID="{DD45C5EC-0CF9-41B3-A39A-3C08069086FF}" presName="parentLin" presStyleCnt="0"/>
      <dgm:spPr/>
      <dgm:t>
        <a:bodyPr/>
        <a:lstStyle/>
        <a:p>
          <a:endParaRPr lang="zh-CN" altLang="en-US"/>
        </a:p>
      </dgm:t>
    </dgm:pt>
    <dgm:pt modelId="{8EDB6617-41D6-497B-A869-5D4B7B2813AB}" type="pres">
      <dgm:prSet presAssocID="{DD45C5EC-0CF9-41B3-A39A-3C08069086FF}" presName="parentLeftMargin" presStyleLbl="node1" presStyleIdx="2" presStyleCnt="7"/>
      <dgm:spPr/>
      <dgm:t>
        <a:bodyPr/>
        <a:lstStyle/>
        <a:p>
          <a:endParaRPr lang="zh-CN" altLang="en-US"/>
        </a:p>
      </dgm:t>
    </dgm:pt>
    <dgm:pt modelId="{87E0C51F-F214-4C7E-AE1A-FDB1CD1022B2}" type="pres">
      <dgm:prSet presAssocID="{DD45C5EC-0CF9-41B3-A39A-3C08069086FF}" presName="parentText" presStyleLbl="node1" presStyleIdx="3" presStyleCnt="7">
        <dgm:presLayoutVars>
          <dgm:chMax val="0"/>
          <dgm:bulletEnabled val="1"/>
        </dgm:presLayoutVars>
      </dgm:prSet>
      <dgm:spPr/>
      <dgm:t>
        <a:bodyPr/>
        <a:lstStyle/>
        <a:p>
          <a:endParaRPr lang="zh-CN" altLang="en-US"/>
        </a:p>
      </dgm:t>
    </dgm:pt>
    <dgm:pt modelId="{56CC0A6D-F2C7-476B-9D96-9BABBF4B2619}" type="pres">
      <dgm:prSet presAssocID="{DD45C5EC-0CF9-41B3-A39A-3C08069086FF}" presName="negativeSpace" presStyleCnt="0"/>
      <dgm:spPr/>
      <dgm:t>
        <a:bodyPr/>
        <a:lstStyle/>
        <a:p>
          <a:endParaRPr lang="zh-CN" altLang="en-US"/>
        </a:p>
      </dgm:t>
    </dgm:pt>
    <dgm:pt modelId="{5F0E010F-3F59-4247-9065-FBBB6B5E2A52}" type="pres">
      <dgm:prSet presAssocID="{DD45C5EC-0CF9-41B3-A39A-3C08069086FF}" presName="childText" presStyleLbl="conFgAcc1" presStyleIdx="3" presStyleCnt="7">
        <dgm:presLayoutVars>
          <dgm:bulletEnabled val="1"/>
        </dgm:presLayoutVars>
      </dgm:prSet>
      <dgm:spPr/>
      <dgm:t>
        <a:bodyPr/>
        <a:lstStyle/>
        <a:p>
          <a:endParaRPr lang="zh-CN" altLang="en-US"/>
        </a:p>
      </dgm:t>
    </dgm:pt>
    <dgm:pt modelId="{94EB9087-E9DB-42E3-8728-EF0EE201B29D}" type="pres">
      <dgm:prSet presAssocID="{26D86662-4A94-4C44-808E-668423FEE33C}" presName="spaceBetweenRectangles" presStyleCnt="0"/>
      <dgm:spPr/>
      <dgm:t>
        <a:bodyPr/>
        <a:lstStyle/>
        <a:p>
          <a:endParaRPr lang="zh-CN" altLang="en-US"/>
        </a:p>
      </dgm:t>
    </dgm:pt>
    <dgm:pt modelId="{1ABAE8E0-F3E2-467D-ADDE-7047E0E6216A}" type="pres">
      <dgm:prSet presAssocID="{68917575-150E-4C07-85DF-D30C4894D29B}" presName="parentLin" presStyleCnt="0"/>
      <dgm:spPr/>
      <dgm:t>
        <a:bodyPr/>
        <a:lstStyle/>
        <a:p>
          <a:endParaRPr lang="zh-CN" altLang="en-US"/>
        </a:p>
      </dgm:t>
    </dgm:pt>
    <dgm:pt modelId="{749F0567-767D-4AE3-8293-1C785097D866}" type="pres">
      <dgm:prSet presAssocID="{68917575-150E-4C07-85DF-D30C4894D29B}" presName="parentLeftMargin" presStyleLbl="node1" presStyleIdx="3" presStyleCnt="7"/>
      <dgm:spPr/>
      <dgm:t>
        <a:bodyPr/>
        <a:lstStyle/>
        <a:p>
          <a:endParaRPr lang="zh-CN" altLang="en-US"/>
        </a:p>
      </dgm:t>
    </dgm:pt>
    <dgm:pt modelId="{5B0D6E38-B266-4723-9DF0-8865950FD46B}" type="pres">
      <dgm:prSet presAssocID="{68917575-150E-4C07-85DF-D30C4894D29B}" presName="parentText" presStyleLbl="node1" presStyleIdx="4" presStyleCnt="7">
        <dgm:presLayoutVars>
          <dgm:chMax val="0"/>
          <dgm:bulletEnabled val="1"/>
        </dgm:presLayoutVars>
      </dgm:prSet>
      <dgm:spPr/>
      <dgm:t>
        <a:bodyPr/>
        <a:lstStyle/>
        <a:p>
          <a:endParaRPr lang="zh-CN" altLang="en-US"/>
        </a:p>
      </dgm:t>
    </dgm:pt>
    <dgm:pt modelId="{641B40E2-3175-4356-A395-C658C0ACBCFC}" type="pres">
      <dgm:prSet presAssocID="{68917575-150E-4C07-85DF-D30C4894D29B}" presName="negativeSpace" presStyleCnt="0"/>
      <dgm:spPr/>
      <dgm:t>
        <a:bodyPr/>
        <a:lstStyle/>
        <a:p>
          <a:endParaRPr lang="zh-CN" altLang="en-US"/>
        </a:p>
      </dgm:t>
    </dgm:pt>
    <dgm:pt modelId="{44467D13-63C7-44A1-8D83-69FE39799831}" type="pres">
      <dgm:prSet presAssocID="{68917575-150E-4C07-85DF-D30C4894D29B}" presName="childText" presStyleLbl="conFgAcc1" presStyleIdx="4" presStyleCnt="7">
        <dgm:presLayoutVars>
          <dgm:bulletEnabled val="1"/>
        </dgm:presLayoutVars>
      </dgm:prSet>
      <dgm:spPr/>
      <dgm:t>
        <a:bodyPr/>
        <a:lstStyle/>
        <a:p>
          <a:endParaRPr lang="zh-CN" altLang="en-US"/>
        </a:p>
      </dgm:t>
    </dgm:pt>
    <dgm:pt modelId="{8EB84663-08C7-44FC-AFC4-A1DDD63279AF}" type="pres">
      <dgm:prSet presAssocID="{3D2FE4DF-1F73-4452-B66A-C01D45A9AB32}" presName="spaceBetweenRectangles" presStyleCnt="0"/>
      <dgm:spPr/>
      <dgm:t>
        <a:bodyPr/>
        <a:lstStyle/>
        <a:p>
          <a:endParaRPr lang="zh-CN" altLang="en-US"/>
        </a:p>
      </dgm:t>
    </dgm:pt>
    <dgm:pt modelId="{50160590-5CED-4EDA-AF2D-778FB8FDB238}" type="pres">
      <dgm:prSet presAssocID="{F7203C07-6072-48CE-AC0E-48E6426F4EC0}" presName="parentLin" presStyleCnt="0"/>
      <dgm:spPr/>
      <dgm:t>
        <a:bodyPr/>
        <a:lstStyle/>
        <a:p>
          <a:endParaRPr lang="zh-CN" altLang="en-US"/>
        </a:p>
      </dgm:t>
    </dgm:pt>
    <dgm:pt modelId="{8F5192BD-EDBD-4ED5-91AE-DA9178F3985A}" type="pres">
      <dgm:prSet presAssocID="{F7203C07-6072-48CE-AC0E-48E6426F4EC0}" presName="parentLeftMargin" presStyleLbl="node1" presStyleIdx="4" presStyleCnt="7"/>
      <dgm:spPr/>
      <dgm:t>
        <a:bodyPr/>
        <a:lstStyle/>
        <a:p>
          <a:endParaRPr lang="zh-CN" altLang="en-US"/>
        </a:p>
      </dgm:t>
    </dgm:pt>
    <dgm:pt modelId="{AE07AE78-BEFB-47E6-A454-43683A31D937}" type="pres">
      <dgm:prSet presAssocID="{F7203C07-6072-48CE-AC0E-48E6426F4EC0}" presName="parentText" presStyleLbl="node1" presStyleIdx="5" presStyleCnt="7">
        <dgm:presLayoutVars>
          <dgm:chMax val="0"/>
          <dgm:bulletEnabled val="1"/>
        </dgm:presLayoutVars>
      </dgm:prSet>
      <dgm:spPr/>
      <dgm:t>
        <a:bodyPr/>
        <a:lstStyle/>
        <a:p>
          <a:endParaRPr lang="zh-CN" altLang="en-US"/>
        </a:p>
      </dgm:t>
    </dgm:pt>
    <dgm:pt modelId="{4690BBAB-E541-413E-8D91-789FC3AEAEBA}" type="pres">
      <dgm:prSet presAssocID="{F7203C07-6072-48CE-AC0E-48E6426F4EC0}" presName="negativeSpace" presStyleCnt="0"/>
      <dgm:spPr/>
      <dgm:t>
        <a:bodyPr/>
        <a:lstStyle/>
        <a:p>
          <a:endParaRPr lang="zh-CN" altLang="en-US"/>
        </a:p>
      </dgm:t>
    </dgm:pt>
    <dgm:pt modelId="{1CC84B8F-BA53-4563-AE33-4883E285DD1A}" type="pres">
      <dgm:prSet presAssocID="{F7203C07-6072-48CE-AC0E-48E6426F4EC0}" presName="childText" presStyleLbl="conFgAcc1" presStyleIdx="5" presStyleCnt="7">
        <dgm:presLayoutVars>
          <dgm:bulletEnabled val="1"/>
        </dgm:presLayoutVars>
      </dgm:prSet>
      <dgm:spPr/>
      <dgm:t>
        <a:bodyPr/>
        <a:lstStyle/>
        <a:p>
          <a:endParaRPr lang="zh-CN" altLang="en-US"/>
        </a:p>
      </dgm:t>
    </dgm:pt>
    <dgm:pt modelId="{DD0BCCFC-19FB-43B6-9B6C-E8E512E205EF}" type="pres">
      <dgm:prSet presAssocID="{8F4456AA-2BEE-4AEC-8A91-23C70E55E082}" presName="spaceBetweenRectangles" presStyleCnt="0"/>
      <dgm:spPr/>
      <dgm:t>
        <a:bodyPr/>
        <a:lstStyle/>
        <a:p>
          <a:endParaRPr lang="zh-CN" altLang="en-US"/>
        </a:p>
      </dgm:t>
    </dgm:pt>
    <dgm:pt modelId="{7354C0E7-8C5C-4560-9A13-51AB8A749DAB}" type="pres">
      <dgm:prSet presAssocID="{80C8E214-719F-4559-A64A-CC0F10CB0FEA}" presName="parentLin" presStyleCnt="0"/>
      <dgm:spPr/>
      <dgm:t>
        <a:bodyPr/>
        <a:lstStyle/>
        <a:p>
          <a:endParaRPr lang="zh-CN" altLang="en-US"/>
        </a:p>
      </dgm:t>
    </dgm:pt>
    <dgm:pt modelId="{8D7B4417-5154-4FD9-B7D2-6A14C0EFC2F8}" type="pres">
      <dgm:prSet presAssocID="{80C8E214-719F-4559-A64A-CC0F10CB0FEA}" presName="parentLeftMargin" presStyleLbl="node1" presStyleIdx="5" presStyleCnt="7"/>
      <dgm:spPr/>
      <dgm:t>
        <a:bodyPr/>
        <a:lstStyle/>
        <a:p>
          <a:endParaRPr lang="zh-CN" altLang="en-US"/>
        </a:p>
      </dgm:t>
    </dgm:pt>
    <dgm:pt modelId="{47E7E1FB-B24F-43FF-977F-5231D8E03EC8}" type="pres">
      <dgm:prSet presAssocID="{80C8E214-719F-4559-A64A-CC0F10CB0FEA}" presName="parentText" presStyleLbl="node1" presStyleIdx="6" presStyleCnt="7">
        <dgm:presLayoutVars>
          <dgm:chMax val="0"/>
          <dgm:bulletEnabled val="1"/>
        </dgm:presLayoutVars>
      </dgm:prSet>
      <dgm:spPr/>
      <dgm:t>
        <a:bodyPr/>
        <a:lstStyle/>
        <a:p>
          <a:endParaRPr lang="zh-CN" altLang="en-US"/>
        </a:p>
      </dgm:t>
    </dgm:pt>
    <dgm:pt modelId="{4EA665D5-D454-436A-A9EA-2E4070E6A45E}" type="pres">
      <dgm:prSet presAssocID="{80C8E214-719F-4559-A64A-CC0F10CB0FEA}" presName="negativeSpace" presStyleCnt="0"/>
      <dgm:spPr/>
      <dgm:t>
        <a:bodyPr/>
        <a:lstStyle/>
        <a:p>
          <a:endParaRPr lang="zh-CN" altLang="en-US"/>
        </a:p>
      </dgm:t>
    </dgm:pt>
    <dgm:pt modelId="{68B7EC07-D4A1-422D-8A17-9DC0D254D348}" type="pres">
      <dgm:prSet presAssocID="{80C8E214-719F-4559-A64A-CC0F10CB0FEA}" presName="childText" presStyleLbl="conFgAcc1" presStyleIdx="6" presStyleCnt="7">
        <dgm:presLayoutVars>
          <dgm:bulletEnabled val="1"/>
        </dgm:presLayoutVars>
      </dgm:prSet>
      <dgm:spPr/>
      <dgm:t>
        <a:bodyPr/>
        <a:lstStyle/>
        <a:p>
          <a:endParaRPr lang="zh-CN" altLang="en-US"/>
        </a:p>
      </dgm:t>
    </dgm:pt>
  </dgm:ptLst>
  <dgm:cxnLst>
    <dgm:cxn modelId="{706E2EF8-C4EE-4EEF-BB36-C5D1921913F5}" type="presOf" srcId="{80C8E214-719F-4559-A64A-CC0F10CB0FEA}" destId="{47E7E1FB-B24F-43FF-977F-5231D8E03EC8}" srcOrd="1" destOrd="0" presId="urn:microsoft.com/office/officeart/2005/8/layout/list1"/>
    <dgm:cxn modelId="{34BC17A6-D55A-46FA-94D3-A0BADDDB15E2}" type="presOf" srcId="{C8B9C874-7D41-4BC4-98E8-F32A68ED976F}" destId="{5A123B7F-97C5-4809-B87B-4819449E542B}" srcOrd="0" destOrd="0" presId="urn:microsoft.com/office/officeart/2005/8/layout/list1"/>
    <dgm:cxn modelId="{541C45B6-0CD2-4F0C-B86B-74E37AD4683C}" type="presOf" srcId="{C8B9C874-7D41-4BC4-98E8-F32A68ED976F}" destId="{83E5B62E-53D8-4201-A94B-807C6EEBD4A6}" srcOrd="1" destOrd="0" presId="urn:microsoft.com/office/officeart/2005/8/layout/list1"/>
    <dgm:cxn modelId="{9CFF8018-26BD-43D8-B520-6DDBFEAC7DAB}" srcId="{A8093E7D-72E2-469F-AD38-E195A6CB2294}" destId="{3AFB3B09-40F8-4FE1-AA2D-D0F7BF1DDD0D}" srcOrd="2" destOrd="0" parTransId="{8CDD8211-160B-40B4-8196-39954AA3BC1B}" sibTransId="{38AFCB26-3D0E-4AD8-8FF8-671B783870B6}"/>
    <dgm:cxn modelId="{1A2FD486-80D5-4EE0-8EE1-DEF3B4115F42}" type="presOf" srcId="{DD45C5EC-0CF9-41B3-A39A-3C08069086FF}" destId="{8EDB6617-41D6-497B-A869-5D4B7B2813AB}" srcOrd="0" destOrd="0" presId="urn:microsoft.com/office/officeart/2005/8/layout/list1"/>
    <dgm:cxn modelId="{8E884E5A-58DA-46D2-843D-0726E6E2681F}" type="presOf" srcId="{A8093E7D-72E2-469F-AD38-E195A6CB2294}" destId="{D235DD8F-B3B5-47B8-948C-D60CEF8DBF57}" srcOrd="0" destOrd="0" presId="urn:microsoft.com/office/officeart/2005/8/layout/list1"/>
    <dgm:cxn modelId="{5C826EB7-54F4-4BFB-BB63-311091908095}" srcId="{A8093E7D-72E2-469F-AD38-E195A6CB2294}" destId="{893613D5-DE85-407F-B216-C92194E21B10}" srcOrd="0" destOrd="0" parTransId="{8896E1D1-25BD-43BD-8A8B-D6EE239520C9}" sibTransId="{45A0ECF1-4573-45DA-9FA0-B181CC4CC582}"/>
    <dgm:cxn modelId="{37EC1174-D75F-4AB7-BF65-9334370625CF}" type="presOf" srcId="{DD45C5EC-0CF9-41B3-A39A-3C08069086FF}" destId="{87E0C51F-F214-4C7E-AE1A-FDB1CD1022B2}" srcOrd="1" destOrd="0" presId="urn:microsoft.com/office/officeart/2005/8/layout/list1"/>
    <dgm:cxn modelId="{DDF66671-45E2-42BF-9871-379569914DAA}" srcId="{A8093E7D-72E2-469F-AD38-E195A6CB2294}" destId="{C8B9C874-7D41-4BC4-98E8-F32A68ED976F}" srcOrd="1" destOrd="0" parTransId="{955352F7-5202-460D-B214-DBED382966A9}" sibTransId="{932DA253-0651-41A5-874E-38BA0E9E6394}"/>
    <dgm:cxn modelId="{C746B5C9-936F-4DD4-A403-A131692C0AC5}" srcId="{A8093E7D-72E2-469F-AD38-E195A6CB2294}" destId="{80C8E214-719F-4559-A64A-CC0F10CB0FEA}" srcOrd="6" destOrd="0" parTransId="{C70EB0BD-E7ED-4097-9643-A95AA830DD40}" sibTransId="{528F0914-6E56-4547-BAFB-373CC03F1009}"/>
    <dgm:cxn modelId="{42E8C59C-F148-420E-B962-60EA6943D13A}" type="presOf" srcId="{893613D5-DE85-407F-B216-C92194E21B10}" destId="{787C6EE1-56A1-4212-B3AD-02A8D00C6834}" srcOrd="0" destOrd="0" presId="urn:microsoft.com/office/officeart/2005/8/layout/list1"/>
    <dgm:cxn modelId="{89CFA1C0-175E-4A6C-9434-8B30405658D8}" type="presOf" srcId="{80C8E214-719F-4559-A64A-CC0F10CB0FEA}" destId="{8D7B4417-5154-4FD9-B7D2-6A14C0EFC2F8}" srcOrd="0" destOrd="0" presId="urn:microsoft.com/office/officeart/2005/8/layout/list1"/>
    <dgm:cxn modelId="{E3A9BFC5-E8BD-47D3-8B82-E1146098057C}" type="presOf" srcId="{F7203C07-6072-48CE-AC0E-48E6426F4EC0}" destId="{AE07AE78-BEFB-47E6-A454-43683A31D937}" srcOrd="1" destOrd="0" presId="urn:microsoft.com/office/officeart/2005/8/layout/list1"/>
    <dgm:cxn modelId="{5E186BA3-A444-4C7F-85E3-8227DE5FCB42}" type="presOf" srcId="{3AFB3B09-40F8-4FE1-AA2D-D0F7BF1DDD0D}" destId="{A9692D7E-66B7-447A-BEA8-2807723CBB68}" srcOrd="1" destOrd="0" presId="urn:microsoft.com/office/officeart/2005/8/layout/list1"/>
    <dgm:cxn modelId="{F5815357-4635-44F5-B695-17E022EE97F6}" type="presOf" srcId="{68917575-150E-4C07-85DF-D30C4894D29B}" destId="{749F0567-767D-4AE3-8293-1C785097D866}" srcOrd="0" destOrd="0" presId="urn:microsoft.com/office/officeart/2005/8/layout/list1"/>
    <dgm:cxn modelId="{13073F97-0523-41A4-84B0-F7A6ACAAA2CE}" type="presOf" srcId="{F7203C07-6072-48CE-AC0E-48E6426F4EC0}" destId="{8F5192BD-EDBD-4ED5-91AE-DA9178F3985A}" srcOrd="0" destOrd="0" presId="urn:microsoft.com/office/officeart/2005/8/layout/list1"/>
    <dgm:cxn modelId="{A6691A1F-4814-4089-A5B0-5CF1E60882C7}" type="presOf" srcId="{68917575-150E-4C07-85DF-D30C4894D29B}" destId="{5B0D6E38-B266-4723-9DF0-8865950FD46B}" srcOrd="1" destOrd="0" presId="urn:microsoft.com/office/officeart/2005/8/layout/list1"/>
    <dgm:cxn modelId="{22ACB9E7-54A3-428D-B2C3-4FD470308745}" srcId="{A8093E7D-72E2-469F-AD38-E195A6CB2294}" destId="{DD45C5EC-0CF9-41B3-A39A-3C08069086FF}" srcOrd="3" destOrd="0" parTransId="{6E63A58F-E7D7-41E8-BB67-ACE93E559F93}" sibTransId="{26D86662-4A94-4C44-808E-668423FEE33C}"/>
    <dgm:cxn modelId="{72573431-A42B-4705-9865-BFDDD21FB2A7}" type="presOf" srcId="{893613D5-DE85-407F-B216-C92194E21B10}" destId="{7FBB601F-231A-4F93-AA47-F369C36A6E25}" srcOrd="1" destOrd="0" presId="urn:microsoft.com/office/officeart/2005/8/layout/list1"/>
    <dgm:cxn modelId="{BC80D93E-5861-4B59-9F06-D3F0454C5BED}" type="presOf" srcId="{3AFB3B09-40F8-4FE1-AA2D-D0F7BF1DDD0D}" destId="{64C7198E-8559-40C4-AFB4-0266B648F30C}" srcOrd="0" destOrd="0" presId="urn:microsoft.com/office/officeart/2005/8/layout/list1"/>
    <dgm:cxn modelId="{A36FB33C-0E71-4199-96EC-F32205E6FD2E}" srcId="{A8093E7D-72E2-469F-AD38-E195A6CB2294}" destId="{F7203C07-6072-48CE-AC0E-48E6426F4EC0}" srcOrd="5" destOrd="0" parTransId="{88FC3A42-C1C1-414F-A7A3-845D9CDFEE11}" sibTransId="{8F4456AA-2BEE-4AEC-8A91-23C70E55E082}"/>
    <dgm:cxn modelId="{27B87D01-B3CD-4B60-B242-DFE637BB60B1}" srcId="{A8093E7D-72E2-469F-AD38-E195A6CB2294}" destId="{68917575-150E-4C07-85DF-D30C4894D29B}" srcOrd="4" destOrd="0" parTransId="{242F17C5-4014-45A4-BE4B-CED1C9E77F19}" sibTransId="{3D2FE4DF-1F73-4452-B66A-C01D45A9AB32}"/>
    <dgm:cxn modelId="{1F99EFB1-6BB6-473B-A155-12D5A703D6ED}" type="presParOf" srcId="{D235DD8F-B3B5-47B8-948C-D60CEF8DBF57}" destId="{A493F55B-06CE-47C3-A13F-9BAE78E53102}" srcOrd="0" destOrd="0" presId="urn:microsoft.com/office/officeart/2005/8/layout/list1"/>
    <dgm:cxn modelId="{AB4AC260-0F83-49F0-BCF5-7CE33C2A134F}" type="presParOf" srcId="{A493F55B-06CE-47C3-A13F-9BAE78E53102}" destId="{787C6EE1-56A1-4212-B3AD-02A8D00C6834}" srcOrd="0" destOrd="0" presId="urn:microsoft.com/office/officeart/2005/8/layout/list1"/>
    <dgm:cxn modelId="{F3B7B341-438E-4274-980F-DC2D0B28B625}" type="presParOf" srcId="{A493F55B-06CE-47C3-A13F-9BAE78E53102}" destId="{7FBB601F-231A-4F93-AA47-F369C36A6E25}" srcOrd="1" destOrd="0" presId="urn:microsoft.com/office/officeart/2005/8/layout/list1"/>
    <dgm:cxn modelId="{85F9242E-E841-4B42-A32E-6AFCC0CCAAFB}" type="presParOf" srcId="{D235DD8F-B3B5-47B8-948C-D60CEF8DBF57}" destId="{6A8D621E-5602-4760-996A-C20A89BFA18C}" srcOrd="1" destOrd="0" presId="urn:microsoft.com/office/officeart/2005/8/layout/list1"/>
    <dgm:cxn modelId="{454FE496-5042-4D94-8318-557BF6E8B390}" type="presParOf" srcId="{D235DD8F-B3B5-47B8-948C-D60CEF8DBF57}" destId="{8C311B6F-26F2-4023-AB98-895867431223}" srcOrd="2" destOrd="0" presId="urn:microsoft.com/office/officeart/2005/8/layout/list1"/>
    <dgm:cxn modelId="{0DBD9C59-5944-4C65-8FDE-611ADC6FBB9C}" type="presParOf" srcId="{D235DD8F-B3B5-47B8-948C-D60CEF8DBF57}" destId="{FD139902-3B73-4EF5-8FFE-E5EEC1525C49}" srcOrd="3" destOrd="0" presId="urn:microsoft.com/office/officeart/2005/8/layout/list1"/>
    <dgm:cxn modelId="{B1A2BFD2-05F0-4668-9A1A-C84805AAC9D5}" type="presParOf" srcId="{D235DD8F-B3B5-47B8-948C-D60CEF8DBF57}" destId="{9320613B-F3AB-4047-A492-18502706E490}" srcOrd="4" destOrd="0" presId="urn:microsoft.com/office/officeart/2005/8/layout/list1"/>
    <dgm:cxn modelId="{9B047C2E-5BAD-4B3A-8852-1F83B7C427F2}" type="presParOf" srcId="{9320613B-F3AB-4047-A492-18502706E490}" destId="{5A123B7F-97C5-4809-B87B-4819449E542B}" srcOrd="0" destOrd="0" presId="urn:microsoft.com/office/officeart/2005/8/layout/list1"/>
    <dgm:cxn modelId="{C8797289-313B-4D6A-95FA-D7C8030050D6}" type="presParOf" srcId="{9320613B-F3AB-4047-A492-18502706E490}" destId="{83E5B62E-53D8-4201-A94B-807C6EEBD4A6}" srcOrd="1" destOrd="0" presId="urn:microsoft.com/office/officeart/2005/8/layout/list1"/>
    <dgm:cxn modelId="{016FA46E-E54B-438D-AF6B-888596EEDE7A}" type="presParOf" srcId="{D235DD8F-B3B5-47B8-948C-D60CEF8DBF57}" destId="{41611200-B33F-4161-AB55-D03633918186}" srcOrd="5" destOrd="0" presId="urn:microsoft.com/office/officeart/2005/8/layout/list1"/>
    <dgm:cxn modelId="{785AFB4A-5A21-463F-B9B1-ACF18A8156FB}" type="presParOf" srcId="{D235DD8F-B3B5-47B8-948C-D60CEF8DBF57}" destId="{E591B38A-C324-4CCE-823C-467EB06F69ED}" srcOrd="6" destOrd="0" presId="urn:microsoft.com/office/officeart/2005/8/layout/list1"/>
    <dgm:cxn modelId="{F42B30F3-FF05-4409-9CB7-82EA615F5568}" type="presParOf" srcId="{D235DD8F-B3B5-47B8-948C-D60CEF8DBF57}" destId="{69C1D6EF-EF43-4FDC-A656-6559C53FC66E}" srcOrd="7" destOrd="0" presId="urn:microsoft.com/office/officeart/2005/8/layout/list1"/>
    <dgm:cxn modelId="{B4B4D460-0D74-41D9-B071-D2CB723CB8E6}" type="presParOf" srcId="{D235DD8F-B3B5-47B8-948C-D60CEF8DBF57}" destId="{2FA35146-7690-40EF-9D3C-8A8A19A0A221}" srcOrd="8" destOrd="0" presId="urn:microsoft.com/office/officeart/2005/8/layout/list1"/>
    <dgm:cxn modelId="{CAA3FD91-0635-4226-8E3A-3D4B2EC503E9}" type="presParOf" srcId="{2FA35146-7690-40EF-9D3C-8A8A19A0A221}" destId="{64C7198E-8559-40C4-AFB4-0266B648F30C}" srcOrd="0" destOrd="0" presId="urn:microsoft.com/office/officeart/2005/8/layout/list1"/>
    <dgm:cxn modelId="{1D699B27-BE0C-4CB7-BDD9-52D26E1CCA97}" type="presParOf" srcId="{2FA35146-7690-40EF-9D3C-8A8A19A0A221}" destId="{A9692D7E-66B7-447A-BEA8-2807723CBB68}" srcOrd="1" destOrd="0" presId="urn:microsoft.com/office/officeart/2005/8/layout/list1"/>
    <dgm:cxn modelId="{21FACE63-5E8C-47DD-BA37-E27EFA4ED7D7}" type="presParOf" srcId="{D235DD8F-B3B5-47B8-948C-D60CEF8DBF57}" destId="{C0EC3D5A-D33B-43B7-A089-77008B94B00C}" srcOrd="9" destOrd="0" presId="urn:microsoft.com/office/officeart/2005/8/layout/list1"/>
    <dgm:cxn modelId="{0740E018-1285-466D-901A-1067A04E8A1A}" type="presParOf" srcId="{D235DD8F-B3B5-47B8-948C-D60CEF8DBF57}" destId="{072C5C12-EE83-43CF-9762-83729545A7BA}" srcOrd="10" destOrd="0" presId="urn:microsoft.com/office/officeart/2005/8/layout/list1"/>
    <dgm:cxn modelId="{249B094E-E15F-4634-A32D-9AD0C616AA5F}" type="presParOf" srcId="{D235DD8F-B3B5-47B8-948C-D60CEF8DBF57}" destId="{44612FCB-B0DE-4E27-BAAE-FD9875298A3D}" srcOrd="11" destOrd="0" presId="urn:microsoft.com/office/officeart/2005/8/layout/list1"/>
    <dgm:cxn modelId="{C1886F43-1DC0-445E-A660-9F26CF3A7223}" type="presParOf" srcId="{D235DD8F-B3B5-47B8-948C-D60CEF8DBF57}" destId="{42750CA4-32AC-4266-837F-239F2D1E9D6D}" srcOrd="12" destOrd="0" presId="urn:microsoft.com/office/officeart/2005/8/layout/list1"/>
    <dgm:cxn modelId="{6F043102-201C-429C-8BEE-BBFD501673C5}" type="presParOf" srcId="{42750CA4-32AC-4266-837F-239F2D1E9D6D}" destId="{8EDB6617-41D6-497B-A869-5D4B7B2813AB}" srcOrd="0" destOrd="0" presId="urn:microsoft.com/office/officeart/2005/8/layout/list1"/>
    <dgm:cxn modelId="{5DFF9DC7-6C79-41CD-BE49-D2038BABCE85}" type="presParOf" srcId="{42750CA4-32AC-4266-837F-239F2D1E9D6D}" destId="{87E0C51F-F214-4C7E-AE1A-FDB1CD1022B2}" srcOrd="1" destOrd="0" presId="urn:microsoft.com/office/officeart/2005/8/layout/list1"/>
    <dgm:cxn modelId="{5CCF5E38-9E9F-4038-94BB-65CA27163E46}" type="presParOf" srcId="{D235DD8F-B3B5-47B8-948C-D60CEF8DBF57}" destId="{56CC0A6D-F2C7-476B-9D96-9BABBF4B2619}" srcOrd="13" destOrd="0" presId="urn:microsoft.com/office/officeart/2005/8/layout/list1"/>
    <dgm:cxn modelId="{D4BDC2E3-5FB1-4019-82D1-1A5D9B0CF376}" type="presParOf" srcId="{D235DD8F-B3B5-47B8-948C-D60CEF8DBF57}" destId="{5F0E010F-3F59-4247-9065-FBBB6B5E2A52}" srcOrd="14" destOrd="0" presId="urn:microsoft.com/office/officeart/2005/8/layout/list1"/>
    <dgm:cxn modelId="{F68D44C3-6841-45E4-9C9D-D4E3EBED0643}" type="presParOf" srcId="{D235DD8F-B3B5-47B8-948C-D60CEF8DBF57}" destId="{94EB9087-E9DB-42E3-8728-EF0EE201B29D}" srcOrd="15" destOrd="0" presId="urn:microsoft.com/office/officeart/2005/8/layout/list1"/>
    <dgm:cxn modelId="{8E534AF5-8285-43B9-9538-8DAD8AAD79B3}" type="presParOf" srcId="{D235DD8F-B3B5-47B8-948C-D60CEF8DBF57}" destId="{1ABAE8E0-F3E2-467D-ADDE-7047E0E6216A}" srcOrd="16" destOrd="0" presId="urn:microsoft.com/office/officeart/2005/8/layout/list1"/>
    <dgm:cxn modelId="{58B5E8E9-045E-4059-8807-E7B7805D54BF}" type="presParOf" srcId="{1ABAE8E0-F3E2-467D-ADDE-7047E0E6216A}" destId="{749F0567-767D-4AE3-8293-1C785097D866}" srcOrd="0" destOrd="0" presId="urn:microsoft.com/office/officeart/2005/8/layout/list1"/>
    <dgm:cxn modelId="{2D904D70-7FEF-4327-A831-7926752B01B6}" type="presParOf" srcId="{1ABAE8E0-F3E2-467D-ADDE-7047E0E6216A}" destId="{5B0D6E38-B266-4723-9DF0-8865950FD46B}" srcOrd="1" destOrd="0" presId="urn:microsoft.com/office/officeart/2005/8/layout/list1"/>
    <dgm:cxn modelId="{5B60FF02-5B05-4FC6-8F59-B945733F6F32}" type="presParOf" srcId="{D235DD8F-B3B5-47B8-948C-D60CEF8DBF57}" destId="{641B40E2-3175-4356-A395-C658C0ACBCFC}" srcOrd="17" destOrd="0" presId="urn:microsoft.com/office/officeart/2005/8/layout/list1"/>
    <dgm:cxn modelId="{D72C3D2A-7791-4996-BD63-208EEAB713A0}" type="presParOf" srcId="{D235DD8F-B3B5-47B8-948C-D60CEF8DBF57}" destId="{44467D13-63C7-44A1-8D83-69FE39799831}" srcOrd="18" destOrd="0" presId="urn:microsoft.com/office/officeart/2005/8/layout/list1"/>
    <dgm:cxn modelId="{71E71F8D-6D9B-465C-AF36-0A7C366F0D97}" type="presParOf" srcId="{D235DD8F-B3B5-47B8-948C-D60CEF8DBF57}" destId="{8EB84663-08C7-44FC-AFC4-A1DDD63279AF}" srcOrd="19" destOrd="0" presId="urn:microsoft.com/office/officeart/2005/8/layout/list1"/>
    <dgm:cxn modelId="{5BA0F90C-F5F3-403D-82AA-36F79F081C63}" type="presParOf" srcId="{D235DD8F-B3B5-47B8-948C-D60CEF8DBF57}" destId="{50160590-5CED-4EDA-AF2D-778FB8FDB238}" srcOrd="20" destOrd="0" presId="urn:microsoft.com/office/officeart/2005/8/layout/list1"/>
    <dgm:cxn modelId="{3076EBD3-4FF0-48ED-833F-B377693405D1}" type="presParOf" srcId="{50160590-5CED-4EDA-AF2D-778FB8FDB238}" destId="{8F5192BD-EDBD-4ED5-91AE-DA9178F3985A}" srcOrd="0" destOrd="0" presId="urn:microsoft.com/office/officeart/2005/8/layout/list1"/>
    <dgm:cxn modelId="{23B053F2-9409-4211-8949-07F92026469A}" type="presParOf" srcId="{50160590-5CED-4EDA-AF2D-778FB8FDB238}" destId="{AE07AE78-BEFB-47E6-A454-43683A31D937}" srcOrd="1" destOrd="0" presId="urn:microsoft.com/office/officeart/2005/8/layout/list1"/>
    <dgm:cxn modelId="{F42B0ABE-4207-4504-9BE0-401C44C8039D}" type="presParOf" srcId="{D235DD8F-B3B5-47B8-948C-D60CEF8DBF57}" destId="{4690BBAB-E541-413E-8D91-789FC3AEAEBA}" srcOrd="21" destOrd="0" presId="urn:microsoft.com/office/officeart/2005/8/layout/list1"/>
    <dgm:cxn modelId="{DDEE8D57-D84C-44D7-BCB3-13864104084D}" type="presParOf" srcId="{D235DD8F-B3B5-47B8-948C-D60CEF8DBF57}" destId="{1CC84B8F-BA53-4563-AE33-4883E285DD1A}" srcOrd="22" destOrd="0" presId="urn:microsoft.com/office/officeart/2005/8/layout/list1"/>
    <dgm:cxn modelId="{D73F79C2-226B-47EA-AB55-03BCCF84D61C}" type="presParOf" srcId="{D235DD8F-B3B5-47B8-948C-D60CEF8DBF57}" destId="{DD0BCCFC-19FB-43B6-9B6C-E8E512E205EF}" srcOrd="23" destOrd="0" presId="urn:microsoft.com/office/officeart/2005/8/layout/list1"/>
    <dgm:cxn modelId="{9DA6AC48-00C1-4A23-B7E2-A3937F74707F}" type="presParOf" srcId="{D235DD8F-B3B5-47B8-948C-D60CEF8DBF57}" destId="{7354C0E7-8C5C-4560-9A13-51AB8A749DAB}" srcOrd="24" destOrd="0" presId="urn:microsoft.com/office/officeart/2005/8/layout/list1"/>
    <dgm:cxn modelId="{3919D63D-4ABD-4767-B926-FA0E1F9ED358}" type="presParOf" srcId="{7354C0E7-8C5C-4560-9A13-51AB8A749DAB}" destId="{8D7B4417-5154-4FD9-B7D2-6A14C0EFC2F8}" srcOrd="0" destOrd="0" presId="urn:microsoft.com/office/officeart/2005/8/layout/list1"/>
    <dgm:cxn modelId="{844C5DE4-C508-4D77-9BCC-814E021FEA83}" type="presParOf" srcId="{7354C0E7-8C5C-4560-9A13-51AB8A749DAB}" destId="{47E7E1FB-B24F-43FF-977F-5231D8E03EC8}" srcOrd="1" destOrd="0" presId="urn:microsoft.com/office/officeart/2005/8/layout/list1"/>
    <dgm:cxn modelId="{CD56717B-E659-4ED3-B38D-B0862C350F9C}" type="presParOf" srcId="{D235DD8F-B3B5-47B8-948C-D60CEF8DBF57}" destId="{4EA665D5-D454-436A-A9EA-2E4070E6A45E}" srcOrd="25" destOrd="0" presId="urn:microsoft.com/office/officeart/2005/8/layout/list1"/>
    <dgm:cxn modelId="{2662126C-B43D-4F57-953F-C6E0B94E4021}" type="presParOf" srcId="{D235DD8F-B3B5-47B8-948C-D60CEF8DBF57}" destId="{68B7EC07-D4A1-422D-8A17-9DC0D254D348}" srcOrd="26" destOrd="0" presId="urn:microsoft.com/office/officeart/2005/8/layout/lis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573260" cy="4540885"/>
        <a:chOff x="0" y="0"/>
        <a:chExt cx="9573260" cy="4540885"/>
      </a:xfrm>
    </dsp:grpSpPr>
    <dsp:sp modelId="{8C311B6F-26F2-4023-AB98-895867431223}">
      <dsp:nvSpPr>
        <dsp:cNvPr id="5" name="矩形 4"/>
        <dsp:cNvSpPr/>
      </dsp:nvSpPr>
      <dsp:spPr bwMode="white">
        <a:xfrm>
          <a:off x="0" y="292242"/>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292242"/>
        <a:ext cx="9573260" cy="352800"/>
      </dsp:txXfrm>
    </dsp:sp>
    <dsp:sp modelId="{7FBB601F-231A-4F93-AA47-F369C36A6E25}">
      <dsp:nvSpPr>
        <dsp:cNvPr id="4" name="圆角矩形 3"/>
        <dsp:cNvSpPr/>
      </dsp:nvSpPr>
      <dsp:spPr bwMode="white">
        <a:xfrm>
          <a:off x="478663" y="85602"/>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软件工程关注于</a:t>
          </a:r>
          <a:r>
            <a:rPr lang="zh-CN" altLang="en-US" sz="1800" smtClean="0">
              <a:solidFill>
                <a:srgbClr val="FFFF00"/>
              </a:solidFill>
              <a:latin typeface="+mj-ea"/>
              <a:ea typeface="+mj-ea"/>
            </a:rPr>
            <a:t>大型程序</a:t>
          </a:r>
          <a:r>
            <a:rPr lang="zh-CN" altLang="en-US" sz="1800" smtClean="0">
              <a:latin typeface="+mj-ea"/>
              <a:ea typeface="+mj-ea"/>
            </a:rPr>
            <a:t>的构造</a:t>
          </a:r>
          <a:endParaRPr lang="zh-CN" altLang="en-US" sz="1800" dirty="0">
            <a:latin typeface="+mj-ea"/>
            <a:ea typeface="+mj-ea"/>
          </a:endParaRPr>
        </a:p>
      </dsp:txBody>
      <dsp:txXfrm>
        <a:off x="478663" y="85602"/>
        <a:ext cx="6701282" cy="413280"/>
      </dsp:txXfrm>
    </dsp:sp>
    <dsp:sp modelId="{B210E9C6-A884-4FE1-BCBA-498078D4C67A}">
      <dsp:nvSpPr>
        <dsp:cNvPr id="8" name="矩形 7"/>
        <dsp:cNvSpPr/>
      </dsp:nvSpPr>
      <dsp:spPr bwMode="white">
        <a:xfrm>
          <a:off x="0" y="927282"/>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927282"/>
        <a:ext cx="9573260" cy="352800"/>
      </dsp:txXfrm>
    </dsp:sp>
    <dsp:sp modelId="{0F5DC670-EAE8-4CC8-9BC9-F42CF6419799}">
      <dsp:nvSpPr>
        <dsp:cNvPr id="7" name="圆角矩形 6"/>
        <dsp:cNvSpPr/>
      </dsp:nvSpPr>
      <dsp:spPr bwMode="white">
        <a:xfrm>
          <a:off x="478663" y="720642"/>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软件工程的中心课题是</a:t>
          </a:r>
          <a:r>
            <a:rPr lang="zh-CN" altLang="en-US" sz="1800" smtClean="0">
              <a:solidFill>
                <a:srgbClr val="FFFF00"/>
              </a:solidFill>
              <a:latin typeface="+mj-ea"/>
              <a:ea typeface="+mj-ea"/>
            </a:rPr>
            <a:t>控制复杂性</a:t>
          </a:r>
          <a:endParaRPr lang="zh-CN" altLang="en-US" sz="1800" dirty="0" smtClean="0">
            <a:solidFill>
              <a:srgbClr val="FFFF00"/>
            </a:solidFill>
            <a:latin typeface="+mj-ea"/>
            <a:ea typeface="+mj-ea"/>
          </a:endParaRPr>
        </a:p>
      </dsp:txBody>
      <dsp:txXfrm>
        <a:off x="478663" y="720642"/>
        <a:ext cx="6701282" cy="413280"/>
      </dsp:txXfrm>
    </dsp:sp>
    <dsp:sp modelId="{8C56A8EE-F841-4692-8AC7-363875350A1C}">
      <dsp:nvSpPr>
        <dsp:cNvPr id="11" name="矩形 10"/>
        <dsp:cNvSpPr/>
      </dsp:nvSpPr>
      <dsp:spPr bwMode="white">
        <a:xfrm>
          <a:off x="0" y="1562322"/>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1562322"/>
        <a:ext cx="9573260" cy="352800"/>
      </dsp:txXfrm>
    </dsp:sp>
    <dsp:sp modelId="{D42E587D-3EA7-4843-AFA6-222C414348C5}">
      <dsp:nvSpPr>
        <dsp:cNvPr id="10" name="圆角矩形 9"/>
        <dsp:cNvSpPr/>
      </dsp:nvSpPr>
      <dsp:spPr bwMode="white">
        <a:xfrm>
          <a:off x="478663" y="1355682"/>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软件经常</a:t>
          </a:r>
          <a:r>
            <a:rPr lang="zh-CN" altLang="en-US" sz="1800" smtClean="0">
              <a:solidFill>
                <a:srgbClr val="FFFF00"/>
              </a:solidFill>
              <a:latin typeface="+mj-ea"/>
              <a:ea typeface="+mj-ea"/>
            </a:rPr>
            <a:t>变化</a:t>
          </a:r>
          <a:endParaRPr lang="zh-CN" altLang="en-US" sz="1800" dirty="0" smtClean="0">
            <a:solidFill>
              <a:srgbClr val="FFFF00"/>
            </a:solidFill>
            <a:latin typeface="+mj-ea"/>
            <a:ea typeface="+mj-ea"/>
          </a:endParaRPr>
        </a:p>
      </dsp:txBody>
      <dsp:txXfrm>
        <a:off x="478663" y="1355682"/>
        <a:ext cx="6701282" cy="413280"/>
      </dsp:txXfrm>
    </dsp:sp>
    <dsp:sp modelId="{29ECCE60-0C8C-45A3-896A-0FCA6E731E2C}">
      <dsp:nvSpPr>
        <dsp:cNvPr id="14" name="矩形 13"/>
        <dsp:cNvSpPr/>
      </dsp:nvSpPr>
      <dsp:spPr bwMode="white">
        <a:xfrm>
          <a:off x="0" y="2197362"/>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2197362"/>
        <a:ext cx="9573260" cy="352800"/>
      </dsp:txXfrm>
    </dsp:sp>
    <dsp:sp modelId="{670749B7-8F70-4B19-AF42-E8B76911F258}">
      <dsp:nvSpPr>
        <dsp:cNvPr id="13" name="圆角矩形 12"/>
        <dsp:cNvSpPr/>
      </dsp:nvSpPr>
      <dsp:spPr bwMode="white">
        <a:xfrm>
          <a:off x="478663" y="1990722"/>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开发软件的</a:t>
          </a:r>
          <a:r>
            <a:rPr lang="zh-CN" altLang="en-US" sz="1800" smtClean="0">
              <a:solidFill>
                <a:srgbClr val="FFFF00"/>
              </a:solidFill>
              <a:latin typeface="+mj-ea"/>
              <a:ea typeface="+mj-ea"/>
            </a:rPr>
            <a:t>效率</a:t>
          </a:r>
          <a:r>
            <a:rPr lang="zh-CN" altLang="en-US" sz="1800" smtClean="0">
              <a:latin typeface="+mj-ea"/>
              <a:ea typeface="+mj-ea"/>
            </a:rPr>
            <a:t>非常重要</a:t>
          </a:r>
          <a:endParaRPr lang="zh-CN" altLang="en-US" sz="1800" dirty="0">
            <a:latin typeface="+mj-ea"/>
            <a:ea typeface="+mj-ea"/>
          </a:endParaRPr>
        </a:p>
      </dsp:txBody>
      <dsp:txXfrm>
        <a:off x="478663" y="1990722"/>
        <a:ext cx="6701282" cy="413280"/>
      </dsp:txXfrm>
    </dsp:sp>
    <dsp:sp modelId="{3A6E8B2B-698B-4684-9086-7322BA4B0410}">
      <dsp:nvSpPr>
        <dsp:cNvPr id="17" name="矩形 16"/>
        <dsp:cNvSpPr/>
      </dsp:nvSpPr>
      <dsp:spPr bwMode="white">
        <a:xfrm>
          <a:off x="0" y="2832403"/>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2832403"/>
        <a:ext cx="9573260" cy="352800"/>
      </dsp:txXfrm>
    </dsp:sp>
    <dsp:sp modelId="{08D91DA3-0689-4947-AB01-6512F16DBA7D}">
      <dsp:nvSpPr>
        <dsp:cNvPr id="16" name="圆角矩形 15"/>
        <dsp:cNvSpPr/>
      </dsp:nvSpPr>
      <dsp:spPr bwMode="white">
        <a:xfrm>
          <a:off x="478663" y="2625762"/>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和谐地</a:t>
          </a:r>
          <a:r>
            <a:rPr lang="zh-CN" altLang="en-US" sz="1800" smtClean="0">
              <a:solidFill>
                <a:srgbClr val="FFFF00"/>
              </a:solidFill>
              <a:latin typeface="+mj-ea"/>
              <a:ea typeface="+mj-ea"/>
            </a:rPr>
            <a:t>合作</a:t>
          </a:r>
          <a:r>
            <a:rPr lang="zh-CN" altLang="en-US" sz="1800" smtClean="0">
              <a:latin typeface="+mj-ea"/>
              <a:ea typeface="+mj-ea"/>
            </a:rPr>
            <a:t>是开发软件的关键</a:t>
          </a:r>
          <a:endParaRPr lang="zh-CN" altLang="en-US" sz="1800" dirty="0">
            <a:latin typeface="+mj-ea"/>
            <a:ea typeface="+mj-ea"/>
          </a:endParaRPr>
        </a:p>
      </dsp:txBody>
      <dsp:txXfrm>
        <a:off x="478663" y="2625762"/>
        <a:ext cx="6701282" cy="413280"/>
      </dsp:txXfrm>
    </dsp:sp>
    <dsp:sp modelId="{93F7EC4B-BF0A-425B-8C02-BBA0C30F72A0}">
      <dsp:nvSpPr>
        <dsp:cNvPr id="20" name="矩形 19"/>
        <dsp:cNvSpPr/>
      </dsp:nvSpPr>
      <dsp:spPr bwMode="white">
        <a:xfrm>
          <a:off x="0" y="3467443"/>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3467443"/>
        <a:ext cx="9573260" cy="352800"/>
      </dsp:txXfrm>
    </dsp:sp>
    <dsp:sp modelId="{295E4C56-E244-49C1-AF95-CDBDB4A62C1E}">
      <dsp:nvSpPr>
        <dsp:cNvPr id="19" name="圆角矩形 18"/>
        <dsp:cNvSpPr/>
      </dsp:nvSpPr>
      <dsp:spPr bwMode="white">
        <a:xfrm>
          <a:off x="478663" y="3260803"/>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smtClean="0">
              <a:latin typeface="+mj-ea"/>
              <a:ea typeface="+mj-ea"/>
            </a:rPr>
            <a:t>必须有效地支持它的</a:t>
          </a:r>
          <a:r>
            <a:rPr lang="zh-CN" altLang="en-US" sz="1800" smtClean="0">
              <a:solidFill>
                <a:srgbClr val="FFFF00"/>
              </a:solidFill>
              <a:latin typeface="+mj-ea"/>
              <a:ea typeface="+mj-ea"/>
            </a:rPr>
            <a:t>用户</a:t>
          </a:r>
          <a:endParaRPr lang="zh-CN" altLang="en-US" sz="1800" dirty="0" smtClean="0">
            <a:solidFill>
              <a:srgbClr val="FFFF00"/>
            </a:solidFill>
            <a:latin typeface="+mj-ea"/>
            <a:ea typeface="+mj-ea"/>
          </a:endParaRPr>
        </a:p>
      </dsp:txBody>
      <dsp:txXfrm>
        <a:off x="478663" y="3260803"/>
        <a:ext cx="6701282" cy="413280"/>
      </dsp:txXfrm>
    </dsp:sp>
    <dsp:sp modelId="{97DE0F63-DC63-46CC-9C0B-328313469902}">
      <dsp:nvSpPr>
        <dsp:cNvPr id="23" name="矩形 22"/>
        <dsp:cNvSpPr/>
      </dsp:nvSpPr>
      <dsp:spPr bwMode="white">
        <a:xfrm>
          <a:off x="0" y="4102483"/>
          <a:ext cx="9573260" cy="352800"/>
        </a:xfrm>
        <a:prstGeom prst="rect">
          <a:avLst/>
        </a:prstGeom>
      </dsp:spPr>
      <dsp:style>
        <a:lnRef idx="1">
          <a:schemeClr val="accent1"/>
        </a:lnRef>
        <a:fillRef idx="1">
          <a:schemeClr val="lt1">
            <a:alpha val="90000"/>
          </a:schemeClr>
        </a:fillRef>
        <a:effectRef idx="0">
          <a:scrgbClr r="0" g="0" b="0"/>
        </a:effectRef>
        <a:fontRef idx="minor"/>
      </dsp:style>
      <dsp:txBody>
        <a:bodyPr vert="horz" wrap="square" lIns="742991" tIns="291591" rIns="742991"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endParaRPr>
            <a:solidFill>
              <a:schemeClr val="dk1"/>
            </a:solidFill>
            <a:latin typeface="+mj-ea"/>
            <a:ea typeface="+mj-ea"/>
          </a:endParaRPr>
        </a:p>
      </dsp:txBody>
      <dsp:txXfrm>
        <a:off x="0" y="4102483"/>
        <a:ext cx="9573260" cy="352800"/>
      </dsp:txXfrm>
    </dsp:sp>
    <dsp:sp modelId="{3DD5D1FF-BDBA-4E3F-B591-AA3E8C8259A1}">
      <dsp:nvSpPr>
        <dsp:cNvPr id="22" name="圆角矩形 21"/>
        <dsp:cNvSpPr/>
      </dsp:nvSpPr>
      <dsp:spPr bwMode="white">
        <a:xfrm>
          <a:off x="478663" y="3895843"/>
          <a:ext cx="6701282"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vert="horz" wrap="square" lIns="253292" tIns="0" rIns="253292"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sz="1800" dirty="0" smtClean="0">
              <a:latin typeface="+mj-ea"/>
              <a:ea typeface="+mj-ea"/>
            </a:rPr>
            <a:t>为不同文化背景的人创造产品</a:t>
          </a:r>
          <a:endParaRPr lang="zh-CN" altLang="en-US" sz="1800" dirty="0">
            <a:latin typeface="+mj-ea"/>
            <a:ea typeface="+mj-ea"/>
          </a:endParaRPr>
        </a:p>
      </dsp:txBody>
      <dsp:txXfrm>
        <a:off x="478663" y="3895843"/>
        <a:ext cx="6701282" cy="413280"/>
      </dsp:txXfrm>
    </dsp:sp>
    <dsp:sp modelId="{787C6EE1-56A1-4212-B3AD-02A8D00C6834}">
      <dsp:nvSpPr>
        <dsp:cNvPr id="3" name="矩形 2" hidden="1"/>
        <dsp:cNvSpPr/>
      </dsp:nvSpPr>
      <dsp:spPr>
        <a:xfrm>
          <a:off x="0" y="85602"/>
          <a:ext cx="478663" cy="413280"/>
        </a:xfrm>
        <a:prstGeom prst="rect">
          <a:avLst/>
        </a:prstGeom>
      </dsp:spPr>
      <dsp:txXfrm>
        <a:off x="0" y="85602"/>
        <a:ext cx="478663" cy="413280"/>
      </dsp:txXfrm>
    </dsp:sp>
    <dsp:sp modelId="{5B16B0DA-6AED-41BF-BF51-607CF2DA3F79}">
      <dsp:nvSpPr>
        <dsp:cNvPr id="6" name="矩形 5" hidden="1"/>
        <dsp:cNvSpPr/>
      </dsp:nvSpPr>
      <dsp:spPr>
        <a:xfrm>
          <a:off x="0" y="720642"/>
          <a:ext cx="478663" cy="413280"/>
        </a:xfrm>
        <a:prstGeom prst="rect">
          <a:avLst/>
        </a:prstGeom>
      </dsp:spPr>
      <dsp:txXfrm>
        <a:off x="0" y="720642"/>
        <a:ext cx="478663" cy="413280"/>
      </dsp:txXfrm>
    </dsp:sp>
    <dsp:sp modelId="{8043515F-EF42-418B-A71C-098D98124D11}">
      <dsp:nvSpPr>
        <dsp:cNvPr id="9" name="矩形 8" hidden="1"/>
        <dsp:cNvSpPr/>
      </dsp:nvSpPr>
      <dsp:spPr>
        <a:xfrm>
          <a:off x="0" y="1355682"/>
          <a:ext cx="478663" cy="413280"/>
        </a:xfrm>
        <a:prstGeom prst="rect">
          <a:avLst/>
        </a:prstGeom>
      </dsp:spPr>
      <dsp:txXfrm>
        <a:off x="0" y="1355682"/>
        <a:ext cx="478663" cy="413280"/>
      </dsp:txXfrm>
    </dsp:sp>
    <dsp:sp modelId="{2FC827A2-6066-4D98-8A25-C614FDED5E04}">
      <dsp:nvSpPr>
        <dsp:cNvPr id="12" name="矩形 11" hidden="1"/>
        <dsp:cNvSpPr/>
      </dsp:nvSpPr>
      <dsp:spPr>
        <a:xfrm>
          <a:off x="0" y="1990722"/>
          <a:ext cx="478663" cy="413280"/>
        </a:xfrm>
        <a:prstGeom prst="rect">
          <a:avLst/>
        </a:prstGeom>
      </dsp:spPr>
      <dsp:txXfrm>
        <a:off x="0" y="1990722"/>
        <a:ext cx="478663" cy="413280"/>
      </dsp:txXfrm>
    </dsp:sp>
    <dsp:sp modelId="{DE25FAB9-6568-4ED8-8913-989975BDC555}">
      <dsp:nvSpPr>
        <dsp:cNvPr id="15" name="矩形 14" hidden="1"/>
        <dsp:cNvSpPr/>
      </dsp:nvSpPr>
      <dsp:spPr>
        <a:xfrm>
          <a:off x="0" y="2625762"/>
          <a:ext cx="478663" cy="413280"/>
        </a:xfrm>
        <a:prstGeom prst="rect">
          <a:avLst/>
        </a:prstGeom>
      </dsp:spPr>
      <dsp:txXfrm>
        <a:off x="0" y="2625762"/>
        <a:ext cx="478663" cy="413280"/>
      </dsp:txXfrm>
    </dsp:sp>
    <dsp:sp modelId="{2E9EA71B-B115-4435-A8B4-391264E4E4DB}">
      <dsp:nvSpPr>
        <dsp:cNvPr id="18" name="矩形 17" hidden="1"/>
        <dsp:cNvSpPr/>
      </dsp:nvSpPr>
      <dsp:spPr>
        <a:xfrm>
          <a:off x="0" y="3260803"/>
          <a:ext cx="478663" cy="413280"/>
        </a:xfrm>
        <a:prstGeom prst="rect">
          <a:avLst/>
        </a:prstGeom>
      </dsp:spPr>
      <dsp:txXfrm>
        <a:off x="0" y="3260803"/>
        <a:ext cx="478663" cy="413280"/>
      </dsp:txXfrm>
    </dsp:sp>
    <dsp:sp modelId="{814E8494-C557-4EDA-9600-7F488B4C9F27}">
      <dsp:nvSpPr>
        <dsp:cNvPr id="21" name="矩形 20" hidden="1"/>
        <dsp:cNvSpPr/>
      </dsp:nvSpPr>
      <dsp:spPr>
        <a:xfrm>
          <a:off x="0" y="3895843"/>
          <a:ext cx="478663" cy="413280"/>
        </a:xfrm>
        <a:prstGeom prst="rect">
          <a:avLst/>
        </a:prstGeom>
      </dsp:spPr>
      <dsp:txXfrm>
        <a:off x="0" y="3895843"/>
        <a:ext cx="478663" cy="413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892665" cy="4572000"/>
        <a:chOff x="0" y="0"/>
        <a:chExt cx="9892665" cy="4572000"/>
      </a:xfrm>
    </dsp:grpSpPr>
    <dsp:sp modelId="{8C311B6F-26F2-4023-AB98-895867431223}">
      <dsp:nvSpPr>
        <dsp:cNvPr id="5" name="矩形 4"/>
        <dsp:cNvSpPr/>
      </dsp:nvSpPr>
      <dsp:spPr bwMode="white">
        <a:xfrm>
          <a:off x="0" y="30780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307800"/>
        <a:ext cx="9892665" cy="352800"/>
      </dsp:txXfrm>
    </dsp:sp>
    <dsp:sp modelId="{7FBB601F-231A-4F93-AA47-F369C36A6E25}">
      <dsp:nvSpPr>
        <dsp:cNvPr id="4" name="圆角矩形 3"/>
        <dsp:cNvSpPr/>
      </dsp:nvSpPr>
      <dsp:spPr bwMode="white">
        <a:xfrm>
          <a:off x="494633" y="10116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1</a:t>
          </a:r>
          <a:r>
            <a:rPr lang="zh-CN" altLang="en-US" sz="2000" dirty="0" smtClean="0"/>
            <a:t>、</a:t>
          </a:r>
          <a:r>
            <a:rPr lang="zh-CN" altLang="zh-CN" sz="2000" dirty="0" smtClean="0"/>
            <a:t>用</a:t>
          </a:r>
          <a:r>
            <a:rPr lang="zh-CN" altLang="zh-CN" sz="2000" dirty="0" smtClean="0">
              <a:solidFill>
                <a:srgbClr val="FF0000"/>
              </a:solidFill>
            </a:rPr>
            <a:t>分阶段的生命周期计划</a:t>
          </a:r>
          <a:r>
            <a:rPr lang="zh-CN" altLang="zh-CN" sz="2000" dirty="0" smtClean="0"/>
            <a:t>严格管理</a:t>
          </a:r>
          <a:endParaRPr lang="zh-CN" altLang="en-US" sz="2000" dirty="0"/>
        </a:p>
      </dsp:txBody>
      <dsp:txXfrm>
        <a:off x="494633" y="101160"/>
        <a:ext cx="6924866" cy="413280"/>
      </dsp:txXfrm>
    </dsp:sp>
    <dsp:sp modelId="{E591B38A-C324-4CCE-823C-467EB06F69ED}">
      <dsp:nvSpPr>
        <dsp:cNvPr id="8" name="矩形 7"/>
        <dsp:cNvSpPr/>
      </dsp:nvSpPr>
      <dsp:spPr bwMode="white">
        <a:xfrm>
          <a:off x="0" y="94284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942840"/>
        <a:ext cx="9892665" cy="352800"/>
      </dsp:txXfrm>
    </dsp:sp>
    <dsp:sp modelId="{83E5B62E-53D8-4201-A94B-807C6EEBD4A6}">
      <dsp:nvSpPr>
        <dsp:cNvPr id="7" name="圆角矩形 6"/>
        <dsp:cNvSpPr/>
      </dsp:nvSpPr>
      <dsp:spPr bwMode="white">
        <a:xfrm>
          <a:off x="494633" y="73620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2</a:t>
          </a:r>
          <a:r>
            <a:rPr lang="zh-CN" altLang="en-US" sz="2000" dirty="0" smtClean="0"/>
            <a:t>、</a:t>
          </a:r>
          <a:r>
            <a:rPr lang="zh-CN" altLang="zh-CN" sz="2000" dirty="0" smtClean="0"/>
            <a:t>坚持进行</a:t>
          </a:r>
          <a:r>
            <a:rPr lang="zh-CN" altLang="zh-CN" sz="2000" dirty="0" smtClean="0">
              <a:solidFill>
                <a:srgbClr val="FF0000"/>
              </a:solidFill>
            </a:rPr>
            <a:t>阶段评审</a:t>
          </a:r>
          <a:endParaRPr lang="en-US" altLang="zh-CN" sz="2000" dirty="0" smtClean="0">
            <a:solidFill>
              <a:srgbClr val="FF0000"/>
            </a:solidFill>
          </a:endParaRPr>
        </a:p>
      </dsp:txBody>
      <dsp:txXfrm>
        <a:off x="494633" y="736200"/>
        <a:ext cx="6924866" cy="413280"/>
      </dsp:txXfrm>
    </dsp:sp>
    <dsp:sp modelId="{072C5C12-EE83-43CF-9762-83729545A7BA}">
      <dsp:nvSpPr>
        <dsp:cNvPr id="11" name="矩形 10"/>
        <dsp:cNvSpPr/>
      </dsp:nvSpPr>
      <dsp:spPr bwMode="white">
        <a:xfrm>
          <a:off x="0" y="157788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1577880"/>
        <a:ext cx="9892665" cy="352800"/>
      </dsp:txXfrm>
    </dsp:sp>
    <dsp:sp modelId="{A9692D7E-66B7-447A-BEA8-2807723CBB68}">
      <dsp:nvSpPr>
        <dsp:cNvPr id="10" name="圆角矩形 9"/>
        <dsp:cNvSpPr/>
      </dsp:nvSpPr>
      <dsp:spPr bwMode="white">
        <a:xfrm>
          <a:off x="494633" y="137124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3</a:t>
          </a:r>
          <a:r>
            <a:rPr lang="zh-CN" altLang="en-US" sz="2000" dirty="0" smtClean="0"/>
            <a:t>、</a:t>
          </a:r>
          <a:r>
            <a:rPr lang="zh-CN" altLang="zh-CN" sz="2000" dirty="0" smtClean="0"/>
            <a:t>实行严格的产品控制</a:t>
          </a:r>
          <a:endParaRPr lang="en-US" altLang="zh-CN" sz="2000" dirty="0" smtClean="0"/>
        </a:p>
      </dsp:txBody>
      <dsp:txXfrm>
        <a:off x="494633" y="1371240"/>
        <a:ext cx="6924866" cy="413280"/>
      </dsp:txXfrm>
    </dsp:sp>
    <dsp:sp modelId="{5F0E010F-3F59-4247-9065-FBBB6B5E2A52}">
      <dsp:nvSpPr>
        <dsp:cNvPr id="14" name="矩形 13"/>
        <dsp:cNvSpPr/>
      </dsp:nvSpPr>
      <dsp:spPr bwMode="white">
        <a:xfrm>
          <a:off x="0" y="221292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2212920"/>
        <a:ext cx="9892665" cy="352800"/>
      </dsp:txXfrm>
    </dsp:sp>
    <dsp:sp modelId="{87E0C51F-F214-4C7E-AE1A-FDB1CD1022B2}">
      <dsp:nvSpPr>
        <dsp:cNvPr id="13" name="圆角矩形 12"/>
        <dsp:cNvSpPr/>
      </dsp:nvSpPr>
      <dsp:spPr bwMode="white">
        <a:xfrm>
          <a:off x="494633" y="200628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4</a:t>
          </a:r>
          <a:r>
            <a:rPr lang="zh-CN" altLang="en-US" sz="2000" dirty="0" smtClean="0"/>
            <a:t>、</a:t>
          </a:r>
          <a:r>
            <a:rPr lang="zh-CN" altLang="zh-CN" sz="2000" dirty="0" smtClean="0"/>
            <a:t>采用</a:t>
          </a:r>
          <a:r>
            <a:rPr lang="zh-CN" altLang="zh-CN" sz="2000" dirty="0" smtClean="0">
              <a:solidFill>
                <a:srgbClr val="FF0000"/>
              </a:solidFill>
            </a:rPr>
            <a:t>现代程序设计技术</a:t>
          </a:r>
          <a:endParaRPr lang="en-US" altLang="zh-CN" sz="2000" dirty="0" smtClean="0">
            <a:solidFill>
              <a:srgbClr val="FF0000"/>
            </a:solidFill>
          </a:endParaRPr>
        </a:p>
      </dsp:txBody>
      <dsp:txXfrm>
        <a:off x="494633" y="2006280"/>
        <a:ext cx="6924866" cy="413280"/>
      </dsp:txXfrm>
    </dsp:sp>
    <dsp:sp modelId="{44467D13-63C7-44A1-8D83-69FE39799831}">
      <dsp:nvSpPr>
        <dsp:cNvPr id="17" name="矩形 16"/>
        <dsp:cNvSpPr/>
      </dsp:nvSpPr>
      <dsp:spPr bwMode="white">
        <a:xfrm>
          <a:off x="0" y="284796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2847960"/>
        <a:ext cx="9892665" cy="352800"/>
      </dsp:txXfrm>
    </dsp:sp>
    <dsp:sp modelId="{5B0D6E38-B266-4723-9DF0-8865950FD46B}">
      <dsp:nvSpPr>
        <dsp:cNvPr id="16" name="圆角矩形 15"/>
        <dsp:cNvSpPr/>
      </dsp:nvSpPr>
      <dsp:spPr bwMode="white">
        <a:xfrm>
          <a:off x="494633" y="264132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5</a:t>
          </a:r>
          <a:r>
            <a:rPr lang="zh-CN" altLang="en-US" sz="2000" dirty="0" smtClean="0"/>
            <a:t>、</a:t>
          </a:r>
          <a:r>
            <a:rPr lang="zh-CN" altLang="zh-CN" sz="2000" dirty="0" smtClean="0"/>
            <a:t>结果应能清楚地</a:t>
          </a:r>
          <a:r>
            <a:rPr lang="zh-CN" altLang="zh-CN" sz="2000" dirty="0" smtClean="0">
              <a:solidFill>
                <a:srgbClr val="FF0000"/>
              </a:solidFill>
            </a:rPr>
            <a:t>审查</a:t>
          </a:r>
          <a:endParaRPr lang="en-US" altLang="zh-CN" sz="2000" dirty="0">
            <a:solidFill>
              <a:srgbClr val="FF0000"/>
            </a:solidFill>
          </a:endParaRPr>
        </a:p>
      </dsp:txBody>
      <dsp:txXfrm>
        <a:off x="494633" y="2641320"/>
        <a:ext cx="6924866" cy="413280"/>
      </dsp:txXfrm>
    </dsp:sp>
    <dsp:sp modelId="{1CC84B8F-BA53-4563-AE33-4883E285DD1A}">
      <dsp:nvSpPr>
        <dsp:cNvPr id="20" name="矩形 19"/>
        <dsp:cNvSpPr/>
      </dsp:nvSpPr>
      <dsp:spPr bwMode="white">
        <a:xfrm>
          <a:off x="0" y="348300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3483000"/>
        <a:ext cx="9892665" cy="352800"/>
      </dsp:txXfrm>
    </dsp:sp>
    <dsp:sp modelId="{AE07AE78-BEFB-47E6-A454-43683A31D937}">
      <dsp:nvSpPr>
        <dsp:cNvPr id="19" name="圆角矩形 18"/>
        <dsp:cNvSpPr/>
      </dsp:nvSpPr>
      <dsp:spPr bwMode="white">
        <a:xfrm>
          <a:off x="494633" y="327636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6</a:t>
          </a:r>
          <a:r>
            <a:rPr lang="zh-CN" altLang="en-US" sz="2000" dirty="0" smtClean="0"/>
            <a:t>、</a:t>
          </a:r>
          <a:r>
            <a:rPr lang="zh-CN" altLang="zh-CN" sz="2000" dirty="0" smtClean="0"/>
            <a:t>开发小组的人员应该少而精</a:t>
          </a:r>
          <a:endParaRPr lang="en-US" altLang="zh-CN" sz="2000" dirty="0"/>
        </a:p>
      </dsp:txBody>
      <dsp:txXfrm>
        <a:off x="494633" y="3276360"/>
        <a:ext cx="6924866" cy="413280"/>
      </dsp:txXfrm>
    </dsp:sp>
    <dsp:sp modelId="{68B7EC07-D4A1-422D-8A17-9DC0D254D348}">
      <dsp:nvSpPr>
        <dsp:cNvPr id="23" name="矩形 22"/>
        <dsp:cNvSpPr/>
      </dsp:nvSpPr>
      <dsp:spPr bwMode="white">
        <a:xfrm>
          <a:off x="0" y="4118040"/>
          <a:ext cx="9892665" cy="352800"/>
        </a:xfrm>
        <a:prstGeom prst="rect">
          <a:avLst/>
        </a:prstGeom>
      </dsp:spPr>
      <dsp:style>
        <a:lnRef idx="1">
          <a:schemeClr val="accent1"/>
        </a:lnRef>
        <a:fillRef idx="1">
          <a:schemeClr val="lt1">
            <a:alpha val="90000"/>
          </a:schemeClr>
        </a:fillRef>
        <a:effectRef idx="0">
          <a:scrgbClr r="0" g="0" b="0"/>
        </a:effectRef>
        <a:fontRef idx="minor"/>
      </dsp:style>
      <dsp:txBody>
        <a:bodyPr lIns="767780" tIns="291591" rIns="767780"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endParaRPr>
            <a:solidFill>
              <a:schemeClr val="dk1"/>
            </a:solidFill>
          </a:endParaRPr>
        </a:p>
      </dsp:txBody>
      <dsp:txXfrm>
        <a:off x="0" y="4118040"/>
        <a:ext cx="9892665" cy="352800"/>
      </dsp:txXfrm>
    </dsp:sp>
    <dsp:sp modelId="{47E7E1FB-B24F-43FF-977F-5231D8E03EC8}">
      <dsp:nvSpPr>
        <dsp:cNvPr id="22" name="圆角矩形 21"/>
        <dsp:cNvSpPr/>
      </dsp:nvSpPr>
      <dsp:spPr bwMode="white">
        <a:xfrm>
          <a:off x="494633" y="3911400"/>
          <a:ext cx="6924866" cy="413280"/>
        </a:xfrm>
        <a:prstGeom prst="roundRect">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261743" tIns="0" rIns="261743" bIns="0" anchor="ctr"/>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altLang="zh-CN" sz="2000" dirty="0" smtClean="0"/>
            <a:t>7</a:t>
          </a:r>
          <a:r>
            <a:rPr lang="zh-CN" altLang="en-US" sz="2000" dirty="0" smtClean="0"/>
            <a:t>、</a:t>
          </a:r>
          <a:r>
            <a:rPr lang="zh-CN" altLang="zh-CN" sz="2000" dirty="0" smtClean="0"/>
            <a:t>承认不断</a:t>
          </a:r>
          <a:r>
            <a:rPr lang="zh-CN" altLang="zh-CN" sz="2000" dirty="0" smtClean="0">
              <a:solidFill>
                <a:srgbClr val="FF0000"/>
              </a:solidFill>
            </a:rPr>
            <a:t>改进</a:t>
          </a:r>
          <a:r>
            <a:rPr lang="zh-CN" altLang="zh-CN" sz="2000" dirty="0" smtClean="0"/>
            <a:t>软件工程实践的必要性</a:t>
          </a:r>
          <a:endParaRPr lang="en-US" altLang="zh-CN" sz="2000" b="1" dirty="0" smtClean="0"/>
        </a:p>
      </dsp:txBody>
      <dsp:txXfrm>
        <a:off x="494633" y="3911400"/>
        <a:ext cx="6924866" cy="413280"/>
      </dsp:txXfrm>
    </dsp:sp>
    <dsp:sp modelId="{787C6EE1-56A1-4212-B3AD-02A8D00C6834}">
      <dsp:nvSpPr>
        <dsp:cNvPr id="3" name="矩形 2" hidden="1"/>
        <dsp:cNvSpPr/>
      </dsp:nvSpPr>
      <dsp:spPr>
        <a:xfrm>
          <a:off x="0" y="101160"/>
          <a:ext cx="494633" cy="413280"/>
        </a:xfrm>
        <a:prstGeom prst="rect">
          <a:avLst/>
        </a:prstGeom>
      </dsp:spPr>
      <dsp:txXfrm>
        <a:off x="0" y="101160"/>
        <a:ext cx="494633" cy="413280"/>
      </dsp:txXfrm>
    </dsp:sp>
    <dsp:sp modelId="{5A123B7F-97C5-4809-B87B-4819449E542B}">
      <dsp:nvSpPr>
        <dsp:cNvPr id="6" name="矩形 5" hidden="1"/>
        <dsp:cNvSpPr/>
      </dsp:nvSpPr>
      <dsp:spPr>
        <a:xfrm>
          <a:off x="0" y="736200"/>
          <a:ext cx="494633" cy="413280"/>
        </a:xfrm>
        <a:prstGeom prst="rect">
          <a:avLst/>
        </a:prstGeom>
      </dsp:spPr>
      <dsp:txXfrm>
        <a:off x="0" y="736200"/>
        <a:ext cx="494633" cy="413280"/>
      </dsp:txXfrm>
    </dsp:sp>
    <dsp:sp modelId="{64C7198E-8559-40C4-AFB4-0266B648F30C}">
      <dsp:nvSpPr>
        <dsp:cNvPr id="9" name="矩形 8" hidden="1"/>
        <dsp:cNvSpPr/>
      </dsp:nvSpPr>
      <dsp:spPr>
        <a:xfrm>
          <a:off x="0" y="1371240"/>
          <a:ext cx="494633" cy="413280"/>
        </a:xfrm>
        <a:prstGeom prst="rect">
          <a:avLst/>
        </a:prstGeom>
      </dsp:spPr>
      <dsp:txXfrm>
        <a:off x="0" y="1371240"/>
        <a:ext cx="494633" cy="413280"/>
      </dsp:txXfrm>
    </dsp:sp>
    <dsp:sp modelId="{8EDB6617-41D6-497B-A869-5D4B7B2813AB}">
      <dsp:nvSpPr>
        <dsp:cNvPr id="12" name="矩形 11" hidden="1"/>
        <dsp:cNvSpPr/>
      </dsp:nvSpPr>
      <dsp:spPr>
        <a:xfrm>
          <a:off x="0" y="2006280"/>
          <a:ext cx="494633" cy="413280"/>
        </a:xfrm>
        <a:prstGeom prst="rect">
          <a:avLst/>
        </a:prstGeom>
      </dsp:spPr>
      <dsp:txXfrm>
        <a:off x="0" y="2006280"/>
        <a:ext cx="494633" cy="413280"/>
      </dsp:txXfrm>
    </dsp:sp>
    <dsp:sp modelId="{749F0567-767D-4AE3-8293-1C785097D866}">
      <dsp:nvSpPr>
        <dsp:cNvPr id="15" name="矩形 14" hidden="1"/>
        <dsp:cNvSpPr/>
      </dsp:nvSpPr>
      <dsp:spPr>
        <a:xfrm>
          <a:off x="0" y="2641320"/>
          <a:ext cx="494633" cy="413280"/>
        </a:xfrm>
        <a:prstGeom prst="rect">
          <a:avLst/>
        </a:prstGeom>
      </dsp:spPr>
      <dsp:txXfrm>
        <a:off x="0" y="2641320"/>
        <a:ext cx="494633" cy="413280"/>
      </dsp:txXfrm>
    </dsp:sp>
    <dsp:sp modelId="{8F5192BD-EDBD-4ED5-91AE-DA9178F3985A}">
      <dsp:nvSpPr>
        <dsp:cNvPr id="18" name="矩形 17" hidden="1"/>
        <dsp:cNvSpPr/>
      </dsp:nvSpPr>
      <dsp:spPr>
        <a:xfrm>
          <a:off x="0" y="3276360"/>
          <a:ext cx="494633" cy="413280"/>
        </a:xfrm>
        <a:prstGeom prst="rect">
          <a:avLst/>
        </a:prstGeom>
      </dsp:spPr>
      <dsp:txXfrm>
        <a:off x="0" y="3276360"/>
        <a:ext cx="494633" cy="413280"/>
      </dsp:txXfrm>
    </dsp:sp>
    <dsp:sp modelId="{8D7B4417-5154-4FD9-B7D2-6A14C0EFC2F8}">
      <dsp:nvSpPr>
        <dsp:cNvPr id="21" name="矩形 20" hidden="1"/>
        <dsp:cNvSpPr/>
      </dsp:nvSpPr>
      <dsp:spPr>
        <a:xfrm>
          <a:off x="0" y="3911400"/>
          <a:ext cx="494633" cy="413280"/>
        </a:xfrm>
        <a:prstGeom prst="rect">
          <a:avLst/>
        </a:prstGeom>
      </dsp:spPr>
      <dsp:txXfrm>
        <a:off x="0" y="3911400"/>
        <a:ext cx="494633" cy="4132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关注点转移：</a:t>
            </a:r>
            <a:endParaRPr lang="zh-CN" altLang="en-US"/>
          </a:p>
          <a:p>
            <a:pPr marL="228600" indent="-228600">
              <a:buFont typeface="+mj-lt"/>
              <a:buAutoNum type="arabicPeriod"/>
            </a:pPr>
            <a:r>
              <a:rPr lang="zh-CN" altLang="en-US"/>
              <a:t>结构化：关注 “如何做” (How) —— 强调算法和逻辑流程。</a:t>
            </a:r>
            <a:endParaRPr lang="zh-CN" altLang="en-US"/>
          </a:p>
          <a:p>
            <a:pPr marL="228600" indent="-228600">
              <a:buFont typeface="+mj-lt"/>
              <a:buAutoNum type="arabicPeriod"/>
            </a:pPr>
            <a:r>
              <a:rPr lang="zh-CN" altLang="en-US"/>
              <a:t>面向对象：关注 “谁来做” (Who) 和 “做什么” (What) —— 强调对象的职责和交互。</a:t>
            </a:r>
            <a:endParaRPr lang="zh-CN" altLang="en-US"/>
          </a:p>
          <a:p>
            <a:r>
              <a:rPr lang="zh-CN" altLang="en-US"/>
              <a:t>应对复杂性的能力：</a:t>
            </a:r>
            <a:endParaRPr lang="zh-CN" altLang="en-US"/>
          </a:p>
          <a:p>
            <a:pPr marL="228600" indent="-228600">
              <a:buFont typeface="+mj-lt"/>
              <a:buAutoNum type="arabicPeriod"/>
            </a:pPr>
            <a:r>
              <a:rPr lang="zh-CN" altLang="en-US"/>
              <a:t>结构化程序设计在解决中等规模、算法明确的系统（如科学计算、操作系统内核）时非常有效。</a:t>
            </a:r>
            <a:endParaRPr lang="zh-CN" altLang="en-US"/>
          </a:p>
          <a:p>
            <a:pPr marL="228600" indent="-228600">
              <a:buFont typeface="+mj-lt"/>
              <a:buAutoNum type="arabicPeriod"/>
            </a:pPr>
            <a:r>
              <a:rPr lang="zh-CN" altLang="en-US"/>
              <a:t>但当系统规模巨大、需求多变时（如企业应用、GUI程序），数据和函数间的网状关系会变得极其混乱，难以维护。这就是所谓的“软件危机”主要表现之一。</a:t>
            </a:r>
            <a:endParaRPr lang="zh-CN" altLang="en-US"/>
          </a:p>
          <a:p>
            <a:pPr marL="228600" indent="-228600">
              <a:buFont typeface="+mj-lt"/>
              <a:buAutoNum type="arabicPeriod"/>
            </a:pPr>
            <a:r>
              <a:rPr lang="zh-CN" altLang="en-US"/>
              <a:t>面向对象通过封装、继承、多态，能更好地建模现实世界、管理复杂度、提高代码的复用性、可扩展性和可维护性。它更适合开发大型、复杂的业务系统。</a:t>
            </a:r>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7" Type="http://schemas.openxmlformats.org/officeDocument/2006/relationships/slideLayout" Target="../slideLayouts/slideLayout6.xml"/><Relationship Id="rId26" Type="http://schemas.openxmlformats.org/officeDocument/2006/relationships/tags" Target="../tags/tag188.xml"/><Relationship Id="rId25" Type="http://schemas.openxmlformats.org/officeDocument/2006/relationships/tags" Target="../tags/tag187.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4.xml"/><Relationship Id="rId5" Type="http://schemas.openxmlformats.org/officeDocument/2006/relationships/tags" Target="../tags/tag198.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197.xml"/><Relationship Id="rId1" Type="http://schemas.openxmlformats.org/officeDocument/2006/relationships/tags" Target="../tags/tag19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99.xml"/></Relationships>
</file>

<file path=ppt/slides/_rels/slide6.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image" Target="../media/image6.png"/><Relationship Id="rId7" Type="http://schemas.openxmlformats.org/officeDocument/2006/relationships/tags" Target="../tags/tag203.xml"/><Relationship Id="rId6" Type="http://schemas.openxmlformats.org/officeDocument/2006/relationships/image" Target="../media/image5.png"/><Relationship Id="rId5" Type="http://schemas.openxmlformats.org/officeDocument/2006/relationships/tags" Target="../tags/tag202.xml"/><Relationship Id="rId4" Type="http://schemas.openxmlformats.org/officeDocument/2006/relationships/image" Target="../media/image4.png"/><Relationship Id="rId3" Type="http://schemas.openxmlformats.org/officeDocument/2006/relationships/tags" Target="../tags/tag201.xml"/><Relationship Id="rId21" Type="http://schemas.openxmlformats.org/officeDocument/2006/relationships/notesSlide" Target="../notesSlides/notesSlide3.xml"/><Relationship Id="rId20" Type="http://schemas.openxmlformats.org/officeDocument/2006/relationships/slideLayout" Target="../slideLayouts/slideLayout13.xml"/><Relationship Id="rId2" Type="http://schemas.openxmlformats.org/officeDocument/2006/relationships/image" Target="../media/image3.png"/><Relationship Id="rId19" Type="http://schemas.openxmlformats.org/officeDocument/2006/relationships/tags" Target="../tags/tag209.xml"/><Relationship Id="rId18" Type="http://schemas.openxmlformats.org/officeDocument/2006/relationships/image" Target="../media/image11.png"/><Relationship Id="rId17" Type="http://schemas.openxmlformats.org/officeDocument/2006/relationships/tags" Target="../tags/tag208.xml"/><Relationship Id="rId16" Type="http://schemas.openxmlformats.org/officeDocument/2006/relationships/image" Target="../media/image10.png"/><Relationship Id="rId15" Type="http://schemas.openxmlformats.org/officeDocument/2006/relationships/tags" Target="../tags/tag207.xml"/><Relationship Id="rId14" Type="http://schemas.openxmlformats.org/officeDocument/2006/relationships/image" Target="../media/image9.png"/><Relationship Id="rId13" Type="http://schemas.openxmlformats.org/officeDocument/2006/relationships/tags" Target="../tags/tag206.xml"/><Relationship Id="rId12" Type="http://schemas.openxmlformats.org/officeDocument/2006/relationships/image" Target="../media/image8.png"/><Relationship Id="rId11" Type="http://schemas.openxmlformats.org/officeDocument/2006/relationships/tags" Target="../tags/tag205.xml"/><Relationship Id="rId10" Type="http://schemas.openxmlformats.org/officeDocument/2006/relationships/image" Target="../media/image7.png"/><Relationship Id="rId1" Type="http://schemas.openxmlformats.org/officeDocument/2006/relationships/tags" Target="../tags/tag200.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4.xml"/><Relationship Id="rId6" Type="http://schemas.openxmlformats.org/officeDocument/2006/relationships/tags" Target="../tags/tag213.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8.xml.rels><?xml version="1.0" encoding="UTF-8" standalone="yes"?>
<Relationships xmlns="http://schemas.openxmlformats.org/package/2006/relationships"><Relationship Id="rId9" Type="http://schemas.openxmlformats.org/officeDocument/2006/relationships/diagramColors" Target="../diagrams/colors1.xml"/><Relationship Id="rId8" Type="http://schemas.openxmlformats.org/officeDocument/2006/relationships/diagramQuickStyle" Target="../diagrams/quickStyle1.xml"/><Relationship Id="rId7" Type="http://schemas.openxmlformats.org/officeDocument/2006/relationships/diagramLayout" Target="../diagrams/layout1.xml"/><Relationship Id="rId6" Type="http://schemas.openxmlformats.org/officeDocument/2006/relationships/diagramData" Target="../diagrams/data1.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2" Type="http://schemas.openxmlformats.org/officeDocument/2006/relationships/slideLayout" Target="../slideLayouts/slideLayout7.xml"/><Relationship Id="rId11" Type="http://schemas.openxmlformats.org/officeDocument/2006/relationships/tags" Target="../tags/tag219.xml"/><Relationship Id="rId10" Type="http://schemas.microsoft.com/office/2007/relationships/diagramDrawing" Target="../diagrams/drawing1.xml"/><Relationship Id="rId1" Type="http://schemas.openxmlformats.org/officeDocument/2006/relationships/tags" Target="../tags/tag214.xml"/></Relationships>
</file>

<file path=ppt/slides/_rels/slide9.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2" Type="http://schemas.openxmlformats.org/officeDocument/2006/relationships/slideLayout" Target="../slideLayouts/slideLayout7.xml"/><Relationship Id="rId11" Type="http://schemas.openxmlformats.org/officeDocument/2006/relationships/tags" Target="../tags/tag225.xml"/><Relationship Id="rId10" Type="http://schemas.microsoft.com/office/2007/relationships/diagramDrawing" Target="../diagrams/drawing2.xml"/><Relationship Id="rId1" Type="http://schemas.openxmlformats.org/officeDocument/2006/relationships/tags" Target="../tags/tag22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4.xml"/><Relationship Id="rId4" Type="http://schemas.openxmlformats.org/officeDocument/2006/relationships/tags" Target="../tags/tag228.xml"/><Relationship Id="rId3" Type="http://schemas.openxmlformats.org/officeDocument/2006/relationships/image" Target="../media/image14.png"/><Relationship Id="rId2" Type="http://schemas.openxmlformats.org/officeDocument/2006/relationships/tags" Target="../tags/tag227.xml"/><Relationship Id="rId1" Type="http://schemas.openxmlformats.org/officeDocument/2006/relationships/tags" Target="../tags/tag226.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4.xml"/><Relationship Id="rId5" Type="http://schemas.openxmlformats.org/officeDocument/2006/relationships/tags" Target="../tags/tag23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230.xml"/><Relationship Id="rId1" Type="http://schemas.openxmlformats.org/officeDocument/2006/relationships/tags" Target="../tags/tag229.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4.xml"/><Relationship Id="rId6" Type="http://schemas.openxmlformats.org/officeDocument/2006/relationships/tags" Target="../tags/tag235.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1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1" Type="http://schemas.openxmlformats.org/officeDocument/2006/relationships/slideLayout" Target="../slideLayouts/slideLayout4.xml"/><Relationship Id="rId10" Type="http://schemas.openxmlformats.org/officeDocument/2006/relationships/tags" Target="../tags/tag244.xml"/><Relationship Id="rId1" Type="http://schemas.openxmlformats.org/officeDocument/2006/relationships/tags" Target="../tags/tag236.xml"/></Relationships>
</file>

<file path=ppt/slides/_rels/slide1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2" Type="http://schemas.openxmlformats.org/officeDocument/2006/relationships/slideLayout" Target="../slideLayouts/slideLayout4.xml"/><Relationship Id="rId11" Type="http://schemas.openxmlformats.org/officeDocument/2006/relationships/tags" Target="../tags/tag253.xml"/><Relationship Id="rId10" Type="http://schemas.openxmlformats.org/officeDocument/2006/relationships/tags" Target="../tags/tag252.xml"/><Relationship Id="rId1" Type="http://schemas.openxmlformats.org/officeDocument/2006/relationships/tags" Target="../tags/tag245.xml"/></Relationships>
</file>

<file path=ppt/slides/_rels/slide15.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2" Type="http://schemas.openxmlformats.org/officeDocument/2006/relationships/slideLayout" Target="../slideLayouts/slideLayout4.xml"/><Relationship Id="rId11" Type="http://schemas.openxmlformats.org/officeDocument/2006/relationships/tags" Target="../tags/tag262.xml"/><Relationship Id="rId10" Type="http://schemas.openxmlformats.org/officeDocument/2006/relationships/image" Target="../media/image23.png"/><Relationship Id="rId1" Type="http://schemas.openxmlformats.org/officeDocument/2006/relationships/tags" Target="../tags/tag254.xml"/></Relationships>
</file>

<file path=ppt/slides/_rels/slide16.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tags" Target="../tags/tag270.xml"/><Relationship Id="rId7" Type="http://schemas.openxmlformats.org/officeDocument/2006/relationships/tags" Target="../tags/tag269.xml"/><Relationship Id="rId6" Type="http://schemas.openxmlformats.org/officeDocument/2006/relationships/tags" Target="../tags/tag268.xml"/><Relationship Id="rId5" Type="http://schemas.openxmlformats.org/officeDocument/2006/relationships/tags" Target="../tags/tag267.xml"/><Relationship Id="rId4" Type="http://schemas.openxmlformats.org/officeDocument/2006/relationships/tags" Target="../tags/tag266.xml"/><Relationship Id="rId3" Type="http://schemas.openxmlformats.org/officeDocument/2006/relationships/tags" Target="../tags/tag265.xml"/><Relationship Id="rId2" Type="http://schemas.openxmlformats.org/officeDocument/2006/relationships/tags" Target="../tags/tag264.xml"/><Relationship Id="rId12" Type="http://schemas.openxmlformats.org/officeDocument/2006/relationships/slideLayout" Target="../slideLayouts/slideLayout4.xml"/><Relationship Id="rId11" Type="http://schemas.openxmlformats.org/officeDocument/2006/relationships/tags" Target="../tags/tag271.xml"/><Relationship Id="rId10" Type="http://schemas.openxmlformats.org/officeDocument/2006/relationships/image" Target="../media/image25.png"/><Relationship Id="rId1" Type="http://schemas.openxmlformats.org/officeDocument/2006/relationships/tags" Target="../tags/tag263.xml"/></Relationships>
</file>

<file path=ppt/slides/_rels/slide17.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2" Type="http://schemas.openxmlformats.org/officeDocument/2006/relationships/slideLayout" Target="../slideLayouts/slideLayout4.xml"/><Relationship Id="rId11" Type="http://schemas.openxmlformats.org/officeDocument/2006/relationships/tags" Target="../tags/tag280.xml"/><Relationship Id="rId10" Type="http://schemas.openxmlformats.org/officeDocument/2006/relationships/image" Target="../media/image27.png"/><Relationship Id="rId1" Type="http://schemas.openxmlformats.org/officeDocument/2006/relationships/tags" Target="../tags/tag272.xml"/></Relationships>
</file>

<file path=ppt/slides/_rels/slide18.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image" Target="../media/image28.png"/><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1" Type="http://schemas.openxmlformats.org/officeDocument/2006/relationships/slideLayout" Target="../slideLayouts/slideLayout4.xml"/><Relationship Id="rId10" Type="http://schemas.openxmlformats.org/officeDocument/2006/relationships/tags" Target="../tags/tag289.xml"/><Relationship Id="rId1" Type="http://schemas.openxmlformats.org/officeDocument/2006/relationships/tags" Target="../tags/tag28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90.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9" Type="http://schemas.openxmlformats.org/officeDocument/2006/relationships/tags" Target="../tags/tag298.xml"/><Relationship Id="rId8" Type="http://schemas.openxmlformats.org/officeDocument/2006/relationships/image" Target="../media/image30.png"/><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0" Type="http://schemas.openxmlformats.org/officeDocument/2006/relationships/slideLayout" Target="../slideLayouts/slideLayout4.xml"/><Relationship Id="rId1" Type="http://schemas.openxmlformats.org/officeDocument/2006/relationships/tags" Target="../tags/tag291.xml"/></Relationships>
</file>

<file path=ppt/slides/_rels/slide21.xml.rels><?xml version="1.0" encoding="UTF-8" standalone="yes"?>
<Relationships xmlns="http://schemas.openxmlformats.org/package/2006/relationships"><Relationship Id="rId9" Type="http://schemas.openxmlformats.org/officeDocument/2006/relationships/tags" Target="../tags/tag306.xml"/><Relationship Id="rId8" Type="http://schemas.openxmlformats.org/officeDocument/2006/relationships/image" Target="../media/image31.png"/><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1" Type="http://schemas.openxmlformats.org/officeDocument/2006/relationships/notesSlide" Target="../notesSlides/notesSlide8.xml"/><Relationship Id="rId10" Type="http://schemas.openxmlformats.org/officeDocument/2006/relationships/slideLayout" Target="../slideLayouts/slideLayout4.xml"/><Relationship Id="rId1" Type="http://schemas.openxmlformats.org/officeDocument/2006/relationships/tags" Target="../tags/tag299.xml"/></Relationships>
</file>

<file path=ppt/slides/_rels/slide22.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 Type="http://schemas.openxmlformats.org/officeDocument/2006/relationships/tags" Target="../tags/tag307.xml"/><Relationship Id="rId12" Type="http://schemas.openxmlformats.org/officeDocument/2006/relationships/slideLayout" Target="../slideLayouts/slideLayout4.xml"/><Relationship Id="rId11" Type="http://schemas.openxmlformats.org/officeDocument/2006/relationships/tags" Target="../tags/tag314.xml"/><Relationship Id="rId10" Type="http://schemas.openxmlformats.org/officeDocument/2006/relationships/image" Target="../media/image34.png"/><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tags" Target="../tags/tag320.xml"/><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2" Type="http://schemas.openxmlformats.org/officeDocument/2006/relationships/slideLayout" Target="../slideLayouts/slideLayout4.xml"/><Relationship Id="rId11" Type="http://schemas.openxmlformats.org/officeDocument/2006/relationships/tags" Target="../tags/tag321.xml"/><Relationship Id="rId10" Type="http://schemas.openxmlformats.org/officeDocument/2006/relationships/image" Target="../media/image38.png"/><Relationship Id="rId1" Type="http://schemas.openxmlformats.org/officeDocument/2006/relationships/tags" Target="../tags/tag31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323.xml"/><Relationship Id="rId1" Type="http://schemas.openxmlformats.org/officeDocument/2006/relationships/tags" Target="../tags/tag3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201285" y="1403985"/>
            <a:ext cx="527685" cy="831215"/>
          </a:xfrm>
          <a:prstGeom prst="rect">
            <a:avLst/>
          </a:prstGeom>
          <a:noFill/>
        </p:spPr>
        <p:txBody>
          <a:bodyPr wrap="square" rtlCol="0">
            <a:normAutofit/>
          </a:bodyPr>
          <a:lstStyle/>
          <a:p>
            <a:r>
              <a:rPr lang="en-US" altLang="zh-CN" sz="48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8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93920" y="1610360"/>
            <a:ext cx="279400" cy="347980"/>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29" name="文本框 28"/>
          <p:cNvSpPr txBox="1"/>
          <p:nvPr>
            <p:custDataLst>
              <p:tags r:id="rId8"/>
            </p:custDataLst>
          </p:nvPr>
        </p:nvSpPr>
        <p:spPr>
          <a:xfrm>
            <a:off x="5201285" y="2585085"/>
            <a:ext cx="527685" cy="831215"/>
          </a:xfrm>
          <a:prstGeom prst="rect">
            <a:avLst/>
          </a:prstGeom>
          <a:noFill/>
        </p:spPr>
        <p:txBody>
          <a:bodyPr wrap="square" rtlCol="0">
            <a:normAutofit/>
          </a:bodyPr>
          <a:lstStyle/>
          <a:p>
            <a:r>
              <a:rPr lang="en-US" altLang="zh-CN" sz="48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8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93920" y="2827020"/>
            <a:ext cx="279400" cy="347980"/>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30" name="文本框 29"/>
          <p:cNvSpPr txBox="1"/>
          <p:nvPr>
            <p:custDataLst>
              <p:tags r:id="rId12"/>
            </p:custDataLst>
          </p:nvPr>
        </p:nvSpPr>
        <p:spPr>
          <a:xfrm>
            <a:off x="5201285" y="3765550"/>
            <a:ext cx="527685" cy="831215"/>
          </a:xfrm>
          <a:prstGeom prst="rect">
            <a:avLst/>
          </a:prstGeom>
          <a:noFill/>
        </p:spPr>
        <p:txBody>
          <a:bodyPr wrap="square" rtlCol="0">
            <a:normAutofit/>
          </a:bodyPr>
          <a:lstStyle/>
          <a:p>
            <a:r>
              <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93920" y="4007485"/>
            <a:ext cx="279400" cy="347980"/>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31" name="文本框 30"/>
          <p:cNvSpPr txBox="1"/>
          <p:nvPr>
            <p:custDataLst>
              <p:tags r:id="rId16"/>
            </p:custDataLst>
          </p:nvPr>
        </p:nvSpPr>
        <p:spPr>
          <a:xfrm>
            <a:off x="5201285" y="4946015"/>
            <a:ext cx="527685" cy="831215"/>
          </a:xfrm>
          <a:prstGeom prst="rect">
            <a:avLst/>
          </a:prstGeom>
          <a:noFill/>
        </p:spPr>
        <p:txBody>
          <a:bodyPr wrap="square" rtlCol="0">
            <a:normAutofit/>
          </a:bodyPr>
          <a:lstStyle/>
          <a:p>
            <a:r>
              <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93920" y="5187950"/>
            <a:ext cx="279400" cy="347980"/>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13" name="文本框 12"/>
          <p:cNvSpPr txBox="1"/>
          <p:nvPr>
            <p:custDataLst>
              <p:tags r:id="rId20"/>
            </p:custDataLst>
          </p:nvPr>
        </p:nvSpPr>
        <p:spPr>
          <a:xfrm>
            <a:off x="6141720" y="14039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软件危机</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41720" y="25850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软件工程</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41720" y="37661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软件生命周期</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41720" y="49472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软件过程</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spTree>
    <p:custDataLst>
      <p:tags r:id="rId2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1</a:t>
            </a:r>
            <a:r>
              <a:rPr lang="zh-CN" altLang="en-US" sz="4000" dirty="0">
                <a:sym typeface="+mn-lt"/>
              </a:rPr>
              <a:t>章</a:t>
            </a:r>
            <a:r>
              <a:rPr lang="en-US" altLang="zh-CN" sz="4000" dirty="0">
                <a:sym typeface="+mn-lt"/>
              </a:rPr>
              <a:t>  </a:t>
            </a:r>
            <a:r>
              <a:rPr lang="zh-CN" altLang="en-US" sz="4000" dirty="0">
                <a:sym typeface="+mn-lt"/>
              </a:rPr>
              <a:t>软件工程学概述</a:t>
            </a:r>
            <a:endParaRPr lang="zh-CN" altLang="en-US" sz="4000" dirty="0">
              <a:sym typeface="+mn-lt"/>
            </a:endParaRPr>
          </a:p>
        </p:txBody>
      </p:sp>
      <p:sp>
        <p:nvSpPr>
          <p:cNvPr id="12" name="文本占位符 11"/>
          <p:cNvSpPr>
            <a:spLocks noGrp="1"/>
          </p:cNvSpPr>
          <p:nvPr>
            <p:ph type="body" idx="1"/>
            <p:custDataLst>
              <p:tags r:id="rId6"/>
            </p:custDataLst>
          </p:nvPr>
        </p:nvSpPr>
        <p:spPr>
          <a:xfrm>
            <a:off x="3136265" y="2273935"/>
            <a:ext cx="8485505" cy="1903730"/>
          </a:xfrm>
        </p:spPr>
        <p:txBody>
          <a:bodyPr>
            <a:normAutofit fontScale="25000"/>
          </a:bodyPr>
          <a:p>
            <a:pPr indent="457200" eaLnBrk="1" hangingPunct="1">
              <a:lnSpc>
                <a:spcPts val="3500"/>
              </a:lnSpc>
              <a:defRPr/>
            </a:pPr>
            <a:r>
              <a:rPr altLang="zh-CN" sz="7200" dirty="0">
                <a:latin typeface="Bodoni MT Black" panose="02070A03080606020203" pitchFamily="18" charset="0"/>
                <a:ea typeface="+mn-ea"/>
                <a:sym typeface="+mn-ea"/>
              </a:rPr>
              <a:t>迄今为止，计算机系统已经经历了</a:t>
            </a:r>
            <a:r>
              <a:rPr lang="en-US" altLang="zh-CN" sz="7200" dirty="0">
                <a:solidFill>
                  <a:srgbClr val="FF0000"/>
                </a:solidFill>
                <a:latin typeface="Bodoni MT Black" panose="02070A03080606020203" pitchFamily="18" charset="0"/>
                <a:ea typeface="+mn-ea"/>
                <a:sym typeface="+mn-ea"/>
              </a:rPr>
              <a:t>4</a:t>
            </a:r>
            <a:r>
              <a:rPr altLang="zh-CN" sz="7200" dirty="0">
                <a:latin typeface="Bodoni MT Black" panose="02070A03080606020203" pitchFamily="18" charset="0"/>
                <a:ea typeface="+mn-ea"/>
                <a:sym typeface="+mn-ea"/>
              </a:rPr>
              <a:t>个不同的发展阶段，但是，人们仍然没有彻底摆脱“</a:t>
            </a:r>
            <a:r>
              <a:rPr altLang="zh-CN" sz="7200" dirty="0">
                <a:solidFill>
                  <a:srgbClr val="FF0000"/>
                </a:solidFill>
                <a:latin typeface="Bodoni MT Black" panose="02070A03080606020203" pitchFamily="18" charset="0"/>
                <a:ea typeface="+mn-ea"/>
                <a:sym typeface="+mn-ea"/>
              </a:rPr>
              <a:t>软件危机</a:t>
            </a:r>
            <a:r>
              <a:rPr altLang="zh-CN" sz="7200" dirty="0">
                <a:latin typeface="Bodoni MT Black" panose="02070A03080606020203" pitchFamily="18" charset="0"/>
                <a:ea typeface="+mn-ea"/>
                <a:sym typeface="+mn-ea"/>
              </a:rPr>
              <a:t>”的困扰，软件已经成为限制计算机系统发展的瓶颈。</a:t>
            </a:r>
            <a:endParaRPr lang="zh-CN" altLang="zh-CN" sz="7200" dirty="0">
              <a:latin typeface="Bodoni MT Black" panose="02070A03080606020203" pitchFamily="18" charset="0"/>
              <a:ea typeface="+mn-ea"/>
            </a:endParaRPr>
          </a:p>
          <a:p>
            <a:pPr indent="457200" eaLnBrk="1" hangingPunct="1">
              <a:lnSpc>
                <a:spcPts val="3500"/>
              </a:lnSpc>
              <a:defRPr/>
            </a:pPr>
            <a:r>
              <a:rPr altLang="zh-CN" sz="7200" dirty="0">
                <a:latin typeface="Bodoni MT Black" panose="02070A03080606020203" pitchFamily="18" charset="0"/>
                <a:ea typeface="+mn-ea"/>
                <a:sym typeface="+mn-ea"/>
              </a:rPr>
              <a:t>为了更有效地开发与维护软件，软件工作者在</a:t>
            </a:r>
            <a:r>
              <a:rPr lang="en-US" altLang="zh-CN" sz="7200" dirty="0">
                <a:latin typeface="Bodoni MT Black" panose="02070A03080606020203" pitchFamily="18" charset="0"/>
                <a:ea typeface="+mn-ea"/>
                <a:sym typeface="+mn-ea"/>
              </a:rPr>
              <a:t>20</a:t>
            </a:r>
            <a:r>
              <a:rPr altLang="zh-CN" sz="7200" dirty="0">
                <a:latin typeface="Bodoni MT Black" panose="02070A03080606020203" pitchFamily="18" charset="0"/>
                <a:ea typeface="+mn-ea"/>
                <a:sym typeface="+mn-ea"/>
              </a:rPr>
              <a:t>世纪</a:t>
            </a:r>
            <a:r>
              <a:rPr lang="en-US" altLang="zh-CN" sz="7200" dirty="0">
                <a:latin typeface="Bodoni MT Black" panose="02070A03080606020203" pitchFamily="18" charset="0"/>
                <a:ea typeface="+mn-ea"/>
                <a:sym typeface="+mn-ea"/>
              </a:rPr>
              <a:t>60</a:t>
            </a:r>
            <a:r>
              <a:rPr altLang="zh-CN" sz="7200" dirty="0">
                <a:latin typeface="Bodoni MT Black" panose="02070A03080606020203" pitchFamily="18" charset="0"/>
                <a:ea typeface="+mn-ea"/>
                <a:sym typeface="+mn-ea"/>
              </a:rPr>
              <a:t>年代后期开始认真研究消除软件危机的途径，从而逐渐形成了一门新兴的工程学科——</a:t>
            </a:r>
            <a:r>
              <a:rPr altLang="zh-CN" sz="7200" dirty="0">
                <a:solidFill>
                  <a:srgbClr val="FF0000"/>
                </a:solidFill>
                <a:latin typeface="Bodoni MT Black" panose="02070A03080606020203" pitchFamily="18" charset="0"/>
                <a:ea typeface="+mn-ea"/>
                <a:sym typeface="+mn-ea"/>
              </a:rPr>
              <a:t>计算机软件工程学</a:t>
            </a:r>
            <a:r>
              <a:rPr sz="7200" dirty="0">
                <a:latin typeface="Bodoni MT Black" panose="02070A03080606020203" pitchFamily="18" charset="0"/>
                <a:ea typeface="+mn-ea"/>
                <a:sym typeface="+mn-ea"/>
              </a:rPr>
              <a:t>。</a:t>
            </a:r>
            <a:endParaRPr lang="zh-CN" altLang="en-US" sz="7200" dirty="0">
              <a:sym typeface="Arial" panose="020B0604020202020204" pitchFamily="34" charset="0"/>
            </a:endParaRPr>
          </a:p>
        </p:txBody>
      </p:sp>
    </p:spTree>
    <p:custDataLst>
      <p:tags r:id="rId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84470" y="466870"/>
            <a:ext cx="3960000" cy="882000"/>
          </a:xfrm>
        </p:spPr>
        <p:txBody>
          <a:bodyPr>
            <a:normAutofit/>
          </a:bodyPr>
          <a:lstStyle/>
          <a:p>
            <a:pPr algn="ctr"/>
            <a:r>
              <a:rPr lang="zh-CN" altLang="en-US" sz="2400" spc="200" dirty="0">
                <a:latin typeface="汉仪旗黑-85S" panose="00020600040101010101" pitchFamily="18" charset="-122"/>
                <a:ea typeface="汉仪旗黑-85S" panose="00020600040101010101" pitchFamily="18" charset="-122"/>
              </a:rPr>
              <a:t>什么是软件危机？</a:t>
            </a:r>
            <a:endParaRPr lang="zh-CN" altLang="en-US" sz="24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635" y="1260475"/>
            <a:ext cx="4817745" cy="1236980"/>
          </a:xfrm>
          <a:prstGeom prst="rect">
            <a:avLst/>
          </a:prstGeom>
        </p:spPr>
        <p:txBody>
          <a:bodyPr vert="horz" lIns="101600" tIns="0" rIns="82550" bIns="0" rtlCol="0">
            <a:normAutofit fontScale="25000"/>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zh-CN" altLang="en-US" sz="6000" b="1" dirty="0">
                <a:solidFill>
                  <a:srgbClr val="FF0000"/>
                </a:solidFill>
                <a:latin typeface="+mn-ea"/>
                <a:ea typeface="+mn-ea"/>
                <a:cs typeface="+mn-ea"/>
                <a:sym typeface="+mn-ea"/>
              </a:rPr>
              <a:t>在计算机软件的开发和维护过程中</a:t>
            </a:r>
            <a:endParaRPr lang="zh-CN" altLang="en-US" sz="6000" b="1" dirty="0">
              <a:solidFill>
                <a:srgbClr val="FF0000"/>
              </a:solidFill>
              <a:latin typeface="+mn-ea"/>
              <a:ea typeface="+mn-ea"/>
              <a:cs typeface="+mn-ea"/>
              <a:sym typeface="+mn-ea"/>
            </a:endParaRPr>
          </a:p>
          <a:p>
            <a:pPr marL="0" indent="0" algn="ctr">
              <a:spcBef>
                <a:spcPts val="0"/>
              </a:spcBef>
              <a:buNone/>
            </a:pPr>
            <a:r>
              <a:rPr lang="zh-CN" altLang="en-US" sz="6000" b="1" dirty="0">
                <a:solidFill>
                  <a:srgbClr val="FF0000"/>
                </a:solidFill>
                <a:latin typeface="+mn-ea"/>
                <a:ea typeface="+mn-ea"/>
                <a:cs typeface="+mn-ea"/>
                <a:sym typeface="+mn-ea"/>
              </a:rPr>
              <a:t>所遇到的一系列严重问题。</a:t>
            </a:r>
            <a:endParaRPr lang="zh-CN" altLang="en-US" sz="6000" b="1" dirty="0">
              <a:solidFill>
                <a:srgbClr val="FF0000"/>
              </a:solidFill>
              <a:latin typeface="+mn-ea"/>
              <a:ea typeface="+mn-ea"/>
              <a:cs typeface="+mn-ea"/>
              <a:sym typeface="+mn-ea"/>
            </a:endParaRPr>
          </a:p>
          <a:p>
            <a:pPr marL="0" indent="0">
              <a:spcBef>
                <a:spcPts val="0"/>
              </a:spcBef>
              <a:buNone/>
            </a:pPr>
            <a:r>
              <a:rPr lang="en-US" altLang="zh-CN" sz="2000" dirty="0">
                <a:solidFill>
                  <a:srgbClr val="FFFF00"/>
                </a:solidFill>
                <a:latin typeface="+mn-ea"/>
                <a:ea typeface="+mn-ea"/>
                <a:cs typeface="+mn-ea"/>
              </a:rPr>
              <a:t>   </a:t>
            </a:r>
            <a:r>
              <a:rPr lang="en-US" altLang="zh-CN" sz="4000" dirty="0">
                <a:solidFill>
                  <a:srgbClr val="FFFF00"/>
                </a:solidFill>
                <a:latin typeface="+mn-ea"/>
                <a:ea typeface="+mn-ea"/>
                <a:cs typeface="+mn-ea"/>
              </a:rPr>
              <a:t> </a:t>
            </a:r>
            <a:r>
              <a:rPr lang="zh-CN" altLang="en-US" sz="4000" dirty="0">
                <a:solidFill>
                  <a:srgbClr val="FFFF00"/>
                </a:solidFill>
                <a:latin typeface="+mn-ea"/>
                <a:ea typeface="+mn-ea"/>
                <a:cs typeface="+mn-ea"/>
              </a:rPr>
              <a:t>https://haokan.baidu.com/v?pd=wisenatural&amp;vid=7966465441268709275</a:t>
            </a:r>
            <a:endParaRPr lang="zh-CN" altLang="en-US" sz="2000" dirty="0">
              <a:solidFill>
                <a:srgbClr val="FFFF00"/>
              </a:solidFill>
              <a:latin typeface="+mn-ea"/>
              <a:ea typeface="+mn-ea"/>
              <a:cs typeface="+mn-ea"/>
            </a:endParaRPr>
          </a:p>
          <a:p>
            <a:pPr marL="0" indent="0">
              <a:spcBef>
                <a:spcPts val="0"/>
              </a:spcBef>
              <a:buNone/>
            </a:pPr>
            <a:endParaRPr lang="zh-CN" altLang="en-US" sz="2000" dirty="0">
              <a:solidFill>
                <a:srgbClr val="FFFF00"/>
              </a:solidFill>
              <a:latin typeface="+mn-ea"/>
              <a:ea typeface="+mn-ea"/>
              <a:cs typeface="+mn-ea"/>
            </a:endParaRPr>
          </a:p>
        </p:txBody>
      </p:sp>
      <p:pic>
        <p:nvPicPr>
          <p:cNvPr id="7" name="图片 6"/>
          <p:cNvPicPr>
            <a:picLocks noChangeAspect="1"/>
          </p:cNvPicPr>
          <p:nvPr/>
        </p:nvPicPr>
        <p:blipFill>
          <a:blip r:embed="rId3"/>
          <a:stretch>
            <a:fillRect/>
          </a:stretch>
        </p:blipFill>
        <p:spPr>
          <a:xfrm>
            <a:off x="4819015" y="0"/>
            <a:ext cx="7372985" cy="3281045"/>
          </a:xfrm>
          <a:prstGeom prst="rect">
            <a:avLst/>
          </a:prstGeom>
        </p:spPr>
      </p:pic>
      <p:pic>
        <p:nvPicPr>
          <p:cNvPr id="9" name="图片 8"/>
          <p:cNvPicPr>
            <a:picLocks noChangeAspect="1"/>
          </p:cNvPicPr>
          <p:nvPr/>
        </p:nvPicPr>
        <p:blipFill>
          <a:blip r:embed="rId4"/>
          <a:stretch>
            <a:fillRect/>
          </a:stretch>
        </p:blipFill>
        <p:spPr>
          <a:xfrm>
            <a:off x="635" y="2546985"/>
            <a:ext cx="4819015" cy="2719070"/>
          </a:xfrm>
          <a:prstGeom prst="rect">
            <a:avLst/>
          </a:prstGeom>
        </p:spPr>
      </p:pic>
      <p:sp>
        <p:nvSpPr>
          <p:cNvPr id="11" name="文本框 10"/>
          <p:cNvSpPr txBox="1"/>
          <p:nvPr/>
        </p:nvSpPr>
        <p:spPr>
          <a:xfrm>
            <a:off x="88265" y="5464175"/>
            <a:ext cx="4573270" cy="1198880"/>
          </a:xfrm>
          <a:prstGeom prst="rect">
            <a:avLst/>
          </a:prstGeom>
          <a:noFill/>
        </p:spPr>
        <p:txBody>
          <a:bodyPr wrap="square" rtlCol="0">
            <a:spAutoFit/>
          </a:bodyPr>
          <a:p>
            <a:pPr>
              <a:lnSpc>
                <a:spcPct val="150000"/>
              </a:lnSpc>
            </a:pPr>
            <a:r>
              <a:rPr lang="zh-CN" altLang="en-US" sz="1200" b="1">
                <a:solidFill>
                  <a:schemeClr val="bg1"/>
                </a:solidFill>
              </a:rPr>
              <a:t>它并非指软件本身无法运行，而是指软件开发的</a:t>
            </a:r>
            <a:r>
              <a:rPr lang="zh-CN" altLang="en-US" sz="1200" b="1">
                <a:solidFill>
                  <a:srgbClr val="55D5FF"/>
                </a:solidFill>
              </a:rPr>
              <a:t>速度、质量、成本和管理</a:t>
            </a:r>
            <a:r>
              <a:rPr lang="zh-CN" altLang="en-US" sz="1200" b="1">
                <a:solidFill>
                  <a:schemeClr val="bg1"/>
                </a:solidFill>
              </a:rPr>
              <a:t>严重落后于硬件发展及社会对软件需求增长的矛盾状态。</a:t>
            </a:r>
            <a:endParaRPr lang="zh-CN" altLang="en-US" sz="1200" b="1">
              <a:solidFill>
                <a:schemeClr val="bg1"/>
              </a:solidFill>
            </a:endParaRPr>
          </a:p>
          <a:p>
            <a:pPr>
              <a:lnSpc>
                <a:spcPct val="150000"/>
              </a:lnSpc>
            </a:pPr>
            <a:r>
              <a:rPr lang="zh-CN" altLang="en-US" sz="1200" b="1">
                <a:solidFill>
                  <a:schemeClr val="bg1"/>
                </a:solidFill>
              </a:rPr>
              <a:t>这个概念在20世纪60年代末至80年代被明确提出和广泛讨论，其核心是：</a:t>
            </a:r>
            <a:r>
              <a:rPr lang="zh-CN" altLang="en-US" sz="1200" b="1">
                <a:solidFill>
                  <a:srgbClr val="FF0000"/>
                </a:solidFill>
              </a:rPr>
              <a:t>我们无法高效、可靠地生产出满足需求的复杂软件。</a:t>
            </a:r>
            <a:endParaRPr lang="zh-CN" altLang="en-US" sz="1200" b="1">
              <a:solidFill>
                <a:srgbClr val="FF0000"/>
              </a:solidFill>
            </a:endParaRPr>
          </a:p>
        </p:txBody>
      </p:sp>
      <p:sp>
        <p:nvSpPr>
          <p:cNvPr id="12" name="文本框 11"/>
          <p:cNvSpPr txBox="1"/>
          <p:nvPr/>
        </p:nvSpPr>
        <p:spPr>
          <a:xfrm>
            <a:off x="4819650" y="3281045"/>
            <a:ext cx="7372350" cy="3576320"/>
          </a:xfrm>
          <a:prstGeom prst="rect">
            <a:avLst/>
          </a:prstGeom>
          <a:solidFill>
            <a:schemeClr val="accent2">
              <a:lumMod val="50000"/>
            </a:schemeClr>
          </a:solidFill>
        </p:spPr>
        <p:txBody>
          <a:bodyPr wrap="square" rtlCol="0" anchor="ctr" anchorCtr="0">
            <a:noAutofit/>
          </a:bodyPr>
          <a:p>
            <a:pPr marL="342900" indent="-342900">
              <a:lnSpc>
                <a:spcPct val="120000"/>
              </a:lnSpc>
              <a:buFont typeface="+mj-ea"/>
              <a:buAutoNum type="circleNumDbPlain"/>
            </a:pPr>
            <a:r>
              <a:rPr lang="zh-CN" altLang="en-US" sz="1400" b="1">
                <a:solidFill>
                  <a:schemeClr val="bg1"/>
                </a:solidFill>
              </a:rPr>
              <a:t>进度难以预测：</a:t>
            </a:r>
            <a:r>
              <a:rPr lang="zh-CN" altLang="en-US" sz="1400">
                <a:solidFill>
                  <a:schemeClr val="bg1"/>
                </a:solidFill>
              </a:rPr>
              <a:t>软件开发经常不能按时完成，延期数月甚至数年。</a:t>
            </a:r>
            <a:endParaRPr lang="zh-CN" altLang="en-US" sz="1400">
              <a:solidFill>
                <a:schemeClr val="bg1"/>
              </a:solidFill>
            </a:endParaRPr>
          </a:p>
          <a:p>
            <a:pPr marL="342900" indent="-342900">
              <a:lnSpc>
                <a:spcPct val="120000"/>
              </a:lnSpc>
              <a:buFont typeface="+mj-ea"/>
              <a:buAutoNum type="circleNumDbPlain"/>
            </a:pPr>
            <a:endParaRPr lang="zh-CN" altLang="en-US" sz="1400">
              <a:solidFill>
                <a:schemeClr val="bg1"/>
              </a:solidFill>
            </a:endParaRPr>
          </a:p>
          <a:p>
            <a:pPr marL="342900" indent="-342900">
              <a:lnSpc>
                <a:spcPct val="120000"/>
              </a:lnSpc>
              <a:buFont typeface="+mj-ea"/>
              <a:buAutoNum type="circleNumDbPlain"/>
            </a:pPr>
            <a:r>
              <a:rPr lang="zh-CN" altLang="en-US" sz="1400" b="1">
                <a:solidFill>
                  <a:schemeClr val="bg1"/>
                </a:solidFill>
              </a:rPr>
              <a:t>成本难以控制：</a:t>
            </a:r>
            <a:r>
              <a:rPr lang="zh-CN" altLang="en-US" sz="1400">
                <a:solidFill>
                  <a:schemeClr val="bg1"/>
                </a:solidFill>
              </a:rPr>
              <a:t>实际花费远远超出预算。</a:t>
            </a:r>
            <a:endParaRPr lang="zh-CN" altLang="en-US" sz="1400">
              <a:solidFill>
                <a:schemeClr val="bg1"/>
              </a:solidFill>
            </a:endParaRPr>
          </a:p>
          <a:p>
            <a:pPr marL="342900" indent="-342900">
              <a:lnSpc>
                <a:spcPct val="120000"/>
              </a:lnSpc>
              <a:buFont typeface="+mj-ea"/>
              <a:buAutoNum type="circleNumDbPlain"/>
            </a:pPr>
            <a:endParaRPr lang="zh-CN" altLang="en-US" sz="1400">
              <a:solidFill>
                <a:schemeClr val="bg1"/>
              </a:solidFill>
            </a:endParaRPr>
          </a:p>
          <a:p>
            <a:pPr marL="342900" indent="-342900">
              <a:lnSpc>
                <a:spcPct val="120000"/>
              </a:lnSpc>
              <a:buFont typeface="+mj-ea"/>
              <a:buAutoNum type="circleNumDbPlain"/>
            </a:pPr>
            <a:r>
              <a:rPr lang="zh-CN" altLang="en-US" sz="1400" b="1">
                <a:solidFill>
                  <a:schemeClr val="bg1"/>
                </a:solidFill>
              </a:rPr>
              <a:t>质量无法保证：</a:t>
            </a:r>
            <a:r>
              <a:rPr lang="zh-CN" altLang="en-US" sz="1400">
                <a:solidFill>
                  <a:schemeClr val="bg1"/>
                </a:solidFill>
              </a:rPr>
              <a:t>完成的软件漏洞百出（Bug多），不稳定，经常崩溃，难以使用。</a:t>
            </a:r>
            <a:endParaRPr lang="zh-CN" altLang="en-US" sz="1400">
              <a:solidFill>
                <a:schemeClr val="bg1"/>
              </a:solidFill>
            </a:endParaRPr>
          </a:p>
          <a:p>
            <a:pPr marL="342900" indent="-342900">
              <a:lnSpc>
                <a:spcPct val="120000"/>
              </a:lnSpc>
              <a:buFont typeface="+mj-ea"/>
              <a:buAutoNum type="circleNumDbPlain"/>
            </a:pPr>
            <a:endParaRPr lang="zh-CN" altLang="en-US" sz="1400">
              <a:solidFill>
                <a:schemeClr val="bg1"/>
              </a:solidFill>
            </a:endParaRPr>
          </a:p>
          <a:p>
            <a:pPr marL="342900" indent="-342900">
              <a:lnSpc>
                <a:spcPct val="120000"/>
              </a:lnSpc>
              <a:buFont typeface="+mj-ea"/>
              <a:buAutoNum type="circleNumDbPlain"/>
            </a:pPr>
            <a:r>
              <a:rPr lang="zh-CN" altLang="en-US" sz="1400" b="1">
                <a:solidFill>
                  <a:schemeClr val="bg1"/>
                </a:solidFill>
              </a:rPr>
              <a:t>需求难以满足：</a:t>
            </a:r>
            <a:r>
              <a:rPr lang="zh-CN" altLang="en-US" sz="1400">
                <a:solidFill>
                  <a:schemeClr val="bg1"/>
                </a:solidFill>
              </a:rPr>
              <a:t>开发出的软件与用户想要的功能相差甚远，无法满足实际需要。</a:t>
            </a:r>
            <a:endParaRPr lang="zh-CN" altLang="en-US" sz="1400">
              <a:solidFill>
                <a:schemeClr val="bg1"/>
              </a:solidFill>
            </a:endParaRPr>
          </a:p>
          <a:p>
            <a:pPr marL="342900" indent="-342900">
              <a:lnSpc>
                <a:spcPct val="120000"/>
              </a:lnSpc>
              <a:buFont typeface="+mj-ea"/>
              <a:buAutoNum type="circleNumDbPlain"/>
            </a:pPr>
            <a:endParaRPr lang="zh-CN" altLang="en-US" sz="1400">
              <a:solidFill>
                <a:schemeClr val="bg1"/>
              </a:solidFill>
            </a:endParaRPr>
          </a:p>
          <a:p>
            <a:pPr marL="342900" indent="-342900">
              <a:lnSpc>
                <a:spcPct val="120000"/>
              </a:lnSpc>
              <a:buFont typeface="+mj-ea"/>
              <a:buAutoNum type="circleNumDbPlain"/>
            </a:pPr>
            <a:r>
              <a:rPr lang="zh-CN" altLang="en-US" sz="1400" b="1">
                <a:solidFill>
                  <a:schemeClr val="bg1"/>
                </a:solidFill>
              </a:rPr>
              <a:t>产品难以维护：</a:t>
            </a:r>
            <a:r>
              <a:rPr lang="zh-CN" altLang="en-US" sz="1400">
                <a:solidFill>
                  <a:schemeClr val="bg1"/>
                </a:solidFill>
              </a:rPr>
              <a:t>软件结构混乱，修改一个错误可能引入更多错误，升级和扩展极其困难。</a:t>
            </a:r>
            <a:endParaRPr lang="zh-CN" altLang="en-US" sz="1400">
              <a:solidFill>
                <a:schemeClr val="bg1"/>
              </a:solidFill>
            </a:endParaRPr>
          </a:p>
          <a:p>
            <a:pPr marL="342900" indent="-342900">
              <a:lnSpc>
                <a:spcPct val="120000"/>
              </a:lnSpc>
              <a:buFont typeface="+mj-ea"/>
              <a:buAutoNum type="circleNumDbPlain"/>
            </a:pPr>
            <a:endParaRPr lang="zh-CN" altLang="en-US" sz="1400">
              <a:solidFill>
                <a:schemeClr val="bg1"/>
              </a:solidFill>
            </a:endParaRPr>
          </a:p>
          <a:p>
            <a:pPr marL="342900" indent="-342900">
              <a:lnSpc>
                <a:spcPct val="120000"/>
              </a:lnSpc>
              <a:buFont typeface="+mj-ea"/>
              <a:buAutoNum type="circleNumDbPlain"/>
            </a:pPr>
            <a:r>
              <a:rPr lang="zh-CN" altLang="en-US" sz="1400" b="1">
                <a:solidFill>
                  <a:schemeClr val="bg1"/>
                </a:solidFill>
              </a:rPr>
              <a:t>缺少数据与文档：</a:t>
            </a:r>
            <a:r>
              <a:rPr lang="zh-CN" altLang="en-US" sz="1400">
                <a:solidFill>
                  <a:schemeClr val="bg1"/>
                </a:solidFill>
              </a:rPr>
              <a:t>缺乏文档资料会带来一系列严重且深远的问题，影响项目的短期效率和长期健康。</a:t>
            </a:r>
            <a:endParaRPr lang="zh-CN" altLang="en-US" sz="1400">
              <a:solidFill>
                <a:schemeClr val="bg1"/>
              </a:solidFill>
            </a:endParaRPr>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框 2"/>
          <p:cNvSpPr txBox="1"/>
          <p:nvPr/>
        </p:nvSpPr>
        <p:spPr>
          <a:xfrm>
            <a:off x="-15240" y="4445"/>
            <a:ext cx="12206605" cy="368300"/>
          </a:xfrm>
          <a:prstGeom prst="rect">
            <a:avLst/>
          </a:prstGeom>
          <a:solidFill>
            <a:schemeClr val="accent1">
              <a:lumMod val="75000"/>
            </a:schemeClr>
          </a:solidFill>
        </p:spPr>
        <p:txBody>
          <a:bodyPr wrap="square" rtlCol="0">
            <a:spAutoFit/>
          </a:bodyPr>
          <a:p>
            <a:r>
              <a:rPr lang="zh-CN" altLang="en-US" b="1">
                <a:solidFill>
                  <a:schemeClr val="bg1"/>
                </a:solidFill>
              </a:rPr>
              <a:t>产生软件危机的原因</a:t>
            </a:r>
            <a:endParaRPr lang="zh-CN" altLang="en-US" b="1">
              <a:solidFill>
                <a:schemeClr val="bg1"/>
              </a:solidFill>
            </a:endParaRPr>
          </a:p>
        </p:txBody>
      </p:sp>
      <p:grpSp>
        <p:nvGrpSpPr>
          <p:cNvPr id="2" name="组合 1"/>
          <p:cNvGrpSpPr/>
          <p:nvPr/>
        </p:nvGrpSpPr>
        <p:grpSpPr>
          <a:xfrm rot="0">
            <a:off x="113030" y="1392555"/>
            <a:ext cx="11969115" cy="3270250"/>
            <a:chOff x="218" y="2629"/>
            <a:chExt cx="18849" cy="5150"/>
          </a:xfrm>
        </p:grpSpPr>
        <p:grpSp>
          <p:nvGrpSpPr>
            <p:cNvPr id="37" name="组合 36"/>
            <p:cNvGrpSpPr/>
            <p:nvPr/>
          </p:nvGrpSpPr>
          <p:grpSpPr>
            <a:xfrm>
              <a:off x="218" y="2629"/>
              <a:ext cx="18849" cy="5150"/>
              <a:chOff x="218" y="2629"/>
              <a:chExt cx="18849" cy="5150"/>
            </a:xfrm>
          </p:grpSpPr>
          <p:grpSp>
            <p:nvGrpSpPr>
              <p:cNvPr id="23" name="组合 22"/>
              <p:cNvGrpSpPr/>
              <p:nvPr/>
            </p:nvGrpSpPr>
            <p:grpSpPr>
              <a:xfrm>
                <a:off x="6638" y="2856"/>
                <a:ext cx="5185" cy="4922"/>
                <a:chOff x="5426" y="2415"/>
                <a:chExt cx="7154" cy="6676"/>
              </a:xfrm>
            </p:grpSpPr>
            <p:sp>
              <p:nvSpPr>
                <p:cNvPr id="8" name="椭圆 7"/>
                <p:cNvSpPr/>
                <p:nvPr/>
              </p:nvSpPr>
              <p:spPr>
                <a:xfrm>
                  <a:off x="7364" y="4289"/>
                  <a:ext cx="3278" cy="3153"/>
                </a:xfrm>
                <a:prstGeom prst="ellipse">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FFF00"/>
                      </a:solidFill>
                    </a:rPr>
                    <a:t>软件危机</a:t>
                  </a:r>
                  <a:endParaRPr lang="zh-CN" altLang="en-US" sz="1600" b="1">
                    <a:solidFill>
                      <a:srgbClr val="FFFF00"/>
                    </a:solidFill>
                  </a:endParaRPr>
                </a:p>
                <a:p>
                  <a:pPr algn="ctr"/>
                  <a:r>
                    <a:rPr lang="zh-CN" altLang="en-US" sz="1600" b="1">
                      <a:solidFill>
                        <a:srgbClr val="FFFF00"/>
                      </a:solidFill>
                    </a:rPr>
                    <a:t>产生原因</a:t>
                  </a:r>
                  <a:endParaRPr lang="zh-CN" altLang="en-US" sz="1600" b="1">
                    <a:solidFill>
                      <a:srgbClr val="FFFF00"/>
                    </a:solidFill>
                  </a:endParaRPr>
                </a:p>
              </p:txBody>
            </p:sp>
            <p:grpSp>
              <p:nvGrpSpPr>
                <p:cNvPr id="21" name="组合 20"/>
                <p:cNvGrpSpPr/>
                <p:nvPr/>
              </p:nvGrpSpPr>
              <p:grpSpPr>
                <a:xfrm>
                  <a:off x="5426" y="2415"/>
                  <a:ext cx="7155" cy="6677"/>
                  <a:chOff x="5028" y="1820"/>
                  <a:chExt cx="7980" cy="7485"/>
                </a:xfrm>
              </p:grpSpPr>
              <p:sp>
                <p:nvSpPr>
                  <p:cNvPr id="7" name="椭圆 6"/>
                  <p:cNvSpPr/>
                  <p:nvPr/>
                </p:nvSpPr>
                <p:spPr>
                  <a:xfrm>
                    <a:off x="5271" y="2042"/>
                    <a:ext cx="7493" cy="7263"/>
                  </a:xfrm>
                  <a:prstGeom prst="ellips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椭圆 9"/>
                  <p:cNvSpPr/>
                  <p:nvPr/>
                </p:nvSpPr>
                <p:spPr>
                  <a:xfrm>
                    <a:off x="11314" y="275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nvSpPr>
                <p:spPr>
                  <a:xfrm>
                    <a:off x="12596" y="4803"/>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12092" y="7262"/>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7469" y="8907"/>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5742" y="7522"/>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5028" y="5201"/>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6264" y="275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8812" y="1820"/>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椭圆 19"/>
                  <p:cNvSpPr/>
                  <p:nvPr/>
                </p:nvSpPr>
                <p:spPr>
                  <a:xfrm>
                    <a:off x="10231" y="8816"/>
                    <a:ext cx="412" cy="39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sp>
            <p:nvSpPr>
              <p:cNvPr id="27" name="文本框 26"/>
              <p:cNvSpPr txBox="1"/>
              <p:nvPr/>
            </p:nvSpPr>
            <p:spPr>
              <a:xfrm>
                <a:off x="11665" y="2629"/>
                <a:ext cx="5831" cy="1008"/>
              </a:xfrm>
              <a:prstGeom prst="rect">
                <a:avLst/>
              </a:prstGeom>
              <a:solidFill>
                <a:schemeClr val="bg1"/>
              </a:solidFill>
            </p:spPr>
            <p:txBody>
              <a:bodyPr wrap="square" rtlCol="0">
                <a:noAutofit/>
              </a:bodyPr>
              <a:p>
                <a:pPr algn="l">
                  <a:lnSpc>
                    <a:spcPct val="70000"/>
                  </a:lnSpc>
                </a:pPr>
                <a:r>
                  <a:rPr lang="zh-CN" altLang="en-US" sz="1600" b="1">
                    <a:solidFill>
                      <a:schemeClr val="accent3"/>
                    </a:solidFill>
                    <a:sym typeface="+mn-ea"/>
                  </a:rPr>
                  <a:t>软件是逻辑部件而非物理部件</a:t>
                </a:r>
                <a:endParaRPr lang="zh-CN" altLang="en-US" sz="1600" b="1">
                  <a:solidFill>
                    <a:schemeClr val="accent3"/>
                  </a:solidFill>
                  <a:sym typeface="+mn-ea"/>
                </a:endParaRPr>
              </a:p>
              <a:p>
                <a:pPr algn="l">
                  <a:lnSpc>
                    <a:spcPct val="70000"/>
                  </a:lnSpc>
                </a:pPr>
                <a:endParaRPr lang="zh-CN" altLang="en-US" sz="1600" b="1">
                  <a:solidFill>
                    <a:schemeClr val="tx1"/>
                  </a:solidFill>
                  <a:sym typeface="+mn-ea"/>
                </a:endParaRPr>
              </a:p>
              <a:p>
                <a:pPr algn="l">
                  <a:lnSpc>
                    <a:spcPct val="70000"/>
                  </a:lnSpc>
                </a:pPr>
                <a:r>
                  <a:rPr lang="zh-CN" altLang="en-US" sz="1400" b="1">
                    <a:solidFill>
                      <a:schemeClr val="tx1"/>
                    </a:solidFill>
                    <a:sym typeface="+mn-ea"/>
                  </a:rPr>
                  <a:t>缺乏</a:t>
                </a:r>
                <a:r>
                  <a:rPr lang="en-US" altLang="zh-CN" sz="1400" b="1">
                    <a:solidFill>
                      <a:schemeClr val="tx1"/>
                    </a:solidFill>
                    <a:sym typeface="+mn-ea"/>
                  </a:rPr>
                  <a:t>“</a:t>
                </a:r>
                <a:r>
                  <a:rPr lang="zh-CN" altLang="en-US" sz="1400" b="1">
                    <a:solidFill>
                      <a:schemeClr val="tx1"/>
                    </a:solidFill>
                    <a:sym typeface="+mn-ea"/>
                  </a:rPr>
                  <a:t>可见性</a:t>
                </a:r>
                <a:r>
                  <a:rPr lang="en-US" altLang="zh-CN" sz="1400" b="1">
                    <a:solidFill>
                      <a:schemeClr val="tx1"/>
                    </a:solidFill>
                    <a:sym typeface="+mn-ea"/>
                  </a:rPr>
                  <a:t>”</a:t>
                </a:r>
                <a:r>
                  <a:rPr lang="zh-CN" altLang="en-US" sz="1400" b="1">
                    <a:solidFill>
                      <a:schemeClr val="tx1"/>
                    </a:solidFill>
                    <a:sym typeface="+mn-ea"/>
                  </a:rPr>
                  <a:t>，管理和控制过程相当困难</a:t>
                </a:r>
                <a:endParaRPr lang="zh-CN" altLang="en-US" sz="1600" b="1">
                  <a:solidFill>
                    <a:schemeClr val="tx1"/>
                  </a:solidFill>
                </a:endParaRPr>
              </a:p>
              <a:p>
                <a:pPr algn="l"/>
                <a:endParaRPr lang="zh-CN" altLang="en-US" sz="1600" b="1">
                  <a:solidFill>
                    <a:schemeClr val="tx1"/>
                  </a:solidFill>
                </a:endParaRPr>
              </a:p>
            </p:txBody>
          </p:sp>
          <p:sp>
            <p:nvSpPr>
              <p:cNvPr id="30" name="文本框 29"/>
              <p:cNvSpPr txBox="1"/>
              <p:nvPr/>
            </p:nvSpPr>
            <p:spPr>
              <a:xfrm>
                <a:off x="12275" y="4392"/>
                <a:ext cx="6792" cy="1008"/>
              </a:xfrm>
              <a:prstGeom prst="rect">
                <a:avLst/>
              </a:prstGeom>
              <a:solidFill>
                <a:schemeClr val="bg1"/>
              </a:solidFill>
            </p:spPr>
            <p:txBody>
              <a:bodyPr wrap="square" rtlCol="0">
                <a:noAutofit/>
              </a:bodyPr>
              <a:p>
                <a:pPr algn="l">
                  <a:lnSpc>
                    <a:spcPct val="70000"/>
                  </a:lnSpc>
                </a:pPr>
                <a:r>
                  <a:rPr lang="zh-CN" altLang="en-US" sz="1600" b="1">
                    <a:solidFill>
                      <a:srgbClr val="C00000"/>
                    </a:solidFill>
                    <a:sym typeface="+mn-ea"/>
                  </a:rPr>
                  <a:t>重开发、请轻维护，软件</a:t>
                </a:r>
                <a:r>
                  <a:rPr lang="zh-CN" sz="1600" b="1">
                    <a:solidFill>
                      <a:srgbClr val="C00000"/>
                    </a:solidFill>
                    <a:sym typeface="+mn-ea"/>
                  </a:rPr>
                  <a:t>维护困难</a:t>
                </a:r>
                <a:endParaRPr lang="zh-CN" altLang="en-US" sz="1600" b="1">
                  <a:solidFill>
                    <a:srgbClr val="C00000"/>
                  </a:solidFill>
                  <a:sym typeface="+mn-ea"/>
                </a:endParaRPr>
              </a:p>
              <a:p>
                <a:pPr algn="l">
                  <a:lnSpc>
                    <a:spcPct val="70000"/>
                  </a:lnSpc>
                </a:pPr>
                <a:endParaRPr lang="zh-CN" altLang="en-US" sz="1600" b="1">
                  <a:solidFill>
                    <a:schemeClr val="tx1"/>
                  </a:solidFill>
                  <a:sym typeface="+mn-ea"/>
                </a:endParaRPr>
              </a:p>
              <a:p>
                <a:pPr algn="l">
                  <a:lnSpc>
                    <a:spcPct val="110000"/>
                  </a:lnSpc>
                </a:pPr>
                <a:r>
                  <a:rPr lang="zh-CN" sz="1400" b="1">
                    <a:solidFill>
                      <a:schemeClr val="tx1"/>
                    </a:solidFill>
                    <a:sym typeface="+mn-ea"/>
                  </a:rPr>
                  <a:t>软件在使用过程中不会因为使用过程时间过长而被用坏，如果在运行中发现错误，很可能是在开发阶段引入的在测试阶段未被检测出的错误</a:t>
                </a:r>
                <a:endParaRPr lang="zh-CN" altLang="en-US" sz="1600" b="1">
                  <a:solidFill>
                    <a:schemeClr val="tx1"/>
                  </a:solidFill>
                </a:endParaRPr>
              </a:p>
              <a:p>
                <a:pPr algn="l">
                  <a:lnSpc>
                    <a:spcPct val="110000"/>
                  </a:lnSpc>
                </a:pPr>
                <a:endParaRPr lang="zh-CN" altLang="en-US" sz="1600" b="1">
                  <a:solidFill>
                    <a:schemeClr val="tx1"/>
                  </a:solidFill>
                </a:endParaRPr>
              </a:p>
            </p:txBody>
          </p:sp>
          <p:sp>
            <p:nvSpPr>
              <p:cNvPr id="31" name="文本框 30"/>
              <p:cNvSpPr txBox="1"/>
              <p:nvPr/>
            </p:nvSpPr>
            <p:spPr>
              <a:xfrm>
                <a:off x="11982" y="6771"/>
                <a:ext cx="6792" cy="1008"/>
              </a:xfrm>
              <a:prstGeom prst="rect">
                <a:avLst/>
              </a:prstGeom>
              <a:solidFill>
                <a:schemeClr val="bg1"/>
              </a:solidFill>
            </p:spPr>
            <p:txBody>
              <a:bodyPr wrap="square" rtlCol="0">
                <a:noAutofit/>
              </a:bodyPr>
              <a:p>
                <a:pPr algn="l">
                  <a:lnSpc>
                    <a:spcPct val="110000"/>
                  </a:lnSpc>
                </a:pPr>
                <a:r>
                  <a:rPr lang="zh-CN" altLang="en-US" sz="1600" b="1">
                    <a:solidFill>
                      <a:srgbClr val="FFC000"/>
                    </a:solidFill>
                    <a:sym typeface="+mn-ea"/>
                  </a:rPr>
                  <a:t>软件功能庞大，复杂性强</a:t>
                </a:r>
                <a:endParaRPr lang="zh-CN" altLang="en-US" sz="1600" b="1">
                  <a:solidFill>
                    <a:schemeClr val="tx1"/>
                  </a:solidFill>
                  <a:sym typeface="+mn-ea"/>
                </a:endParaRPr>
              </a:p>
              <a:p>
                <a:pPr algn="l">
                  <a:lnSpc>
                    <a:spcPct val="110000"/>
                  </a:lnSpc>
                </a:pPr>
                <a:r>
                  <a:rPr lang="zh-CN" altLang="en-US" sz="1400" b="1">
                    <a:solidFill>
                      <a:schemeClr val="tx1"/>
                    </a:solidFill>
                  </a:rPr>
                  <a:t>不仅设计技术问题，还涉及到科学严格的管理</a:t>
                </a:r>
                <a:endParaRPr lang="zh-CN" altLang="en-US" sz="1400" b="1">
                  <a:solidFill>
                    <a:schemeClr val="tx1"/>
                  </a:solidFill>
                </a:endParaRPr>
              </a:p>
            </p:txBody>
          </p:sp>
          <p:sp>
            <p:nvSpPr>
              <p:cNvPr id="32" name="文本框 31"/>
              <p:cNvSpPr txBox="1"/>
              <p:nvPr/>
            </p:nvSpPr>
            <p:spPr>
              <a:xfrm>
                <a:off x="218" y="6623"/>
                <a:ext cx="6656" cy="1008"/>
              </a:xfrm>
              <a:prstGeom prst="rect">
                <a:avLst/>
              </a:prstGeom>
              <a:solidFill>
                <a:schemeClr val="bg1"/>
              </a:solidFill>
            </p:spPr>
            <p:txBody>
              <a:bodyPr wrap="square" rtlCol="0">
                <a:noAutofit/>
              </a:bodyPr>
              <a:p>
                <a:pPr algn="r">
                  <a:lnSpc>
                    <a:spcPct val="130000"/>
                  </a:lnSpc>
                </a:pPr>
                <a:r>
                  <a:rPr lang="zh-CN" altLang="en-US" sz="1600" b="1">
                    <a:gradFill>
                      <a:gsLst>
                        <a:gs pos="50000">
                          <a:schemeClr val="accent3"/>
                        </a:gs>
                        <a:gs pos="0">
                          <a:schemeClr val="accent3">
                            <a:lumMod val="25000"/>
                            <a:lumOff val="75000"/>
                          </a:schemeClr>
                        </a:gs>
                        <a:gs pos="100000">
                          <a:schemeClr val="accent3">
                            <a:lumMod val="85000"/>
                          </a:schemeClr>
                        </a:gs>
                      </a:gsLst>
                      <a:lin ang="5400000" scaled="1"/>
                    </a:gradFill>
                    <a:sym typeface="+mn-ea"/>
                  </a:rPr>
                  <a:t>修改代价不同</a:t>
                </a:r>
                <a:endParaRPr lang="zh-CN" altLang="en-US" sz="1600" b="1">
                  <a:gradFill>
                    <a:gsLst>
                      <a:gs pos="50000">
                        <a:schemeClr val="accent3"/>
                      </a:gs>
                      <a:gs pos="0">
                        <a:schemeClr val="accent3">
                          <a:lumMod val="25000"/>
                          <a:lumOff val="75000"/>
                        </a:schemeClr>
                      </a:gs>
                      <a:gs pos="100000">
                        <a:schemeClr val="accent3">
                          <a:lumMod val="85000"/>
                        </a:schemeClr>
                      </a:gs>
                    </a:gsLst>
                    <a:lin ang="5400000" scaled="1"/>
                  </a:gradFill>
                  <a:sym typeface="+mn-ea"/>
                </a:endParaRPr>
              </a:p>
              <a:p>
                <a:pPr algn="r">
                  <a:lnSpc>
                    <a:spcPct val="130000"/>
                  </a:lnSpc>
                </a:pPr>
                <a:r>
                  <a:rPr lang="zh-CN" altLang="en-US" sz="1400" b="1">
                    <a:solidFill>
                      <a:schemeClr val="tx1"/>
                    </a:solidFill>
                  </a:rPr>
                  <a:t>在软件开发的不同阶段进行修改的代价很不相同</a:t>
                </a:r>
                <a:endParaRPr lang="zh-CN" altLang="en-US" sz="1400" b="1">
                  <a:solidFill>
                    <a:schemeClr val="tx1"/>
                  </a:solidFill>
                </a:endParaRPr>
              </a:p>
            </p:txBody>
          </p:sp>
        </p:grpSp>
        <p:sp>
          <p:nvSpPr>
            <p:cNvPr id="34" name="文本框 33"/>
            <p:cNvSpPr txBox="1"/>
            <p:nvPr/>
          </p:nvSpPr>
          <p:spPr>
            <a:xfrm>
              <a:off x="286" y="2684"/>
              <a:ext cx="6352" cy="1008"/>
            </a:xfrm>
            <a:prstGeom prst="rect">
              <a:avLst/>
            </a:prstGeom>
            <a:solidFill>
              <a:schemeClr val="bg1"/>
            </a:solidFill>
          </p:spPr>
          <p:txBody>
            <a:bodyPr wrap="square" rtlCol="0">
              <a:noAutofit/>
            </a:bodyPr>
            <a:p>
              <a:pPr algn="r">
                <a:lnSpc>
                  <a:spcPct val="130000"/>
                </a:lnSpc>
              </a:pPr>
              <a:r>
                <a:rPr lang="zh-CN" altLang="en-US" sz="1600" b="1">
                  <a:solidFill>
                    <a:srgbClr val="FFC000"/>
                  </a:solidFill>
                  <a:sym typeface="+mn-ea"/>
                </a:rPr>
                <a:t>软件缺乏完整配置</a:t>
              </a:r>
              <a:endParaRPr lang="zh-CN" altLang="en-US" sz="1600" b="1">
                <a:solidFill>
                  <a:srgbClr val="FFC000"/>
                </a:solidFill>
                <a:sym typeface="+mn-ea"/>
              </a:endParaRPr>
            </a:p>
            <a:p>
              <a:pPr algn="r">
                <a:lnSpc>
                  <a:spcPct val="130000"/>
                </a:lnSpc>
              </a:pPr>
              <a:r>
                <a:rPr lang="zh-CN" altLang="en-US" sz="1400" b="1">
                  <a:solidFill>
                    <a:schemeClr val="tx1"/>
                  </a:solidFill>
                </a:rPr>
                <a:t>软件缺乏包括程序、数据、文档在内的完整配置</a:t>
              </a:r>
              <a:endParaRPr lang="zh-CN" altLang="en-US" sz="1400" b="1">
                <a:solidFill>
                  <a:schemeClr val="tx1"/>
                </a:solidFill>
              </a:endParaRPr>
            </a:p>
          </p:txBody>
        </p:sp>
        <p:sp>
          <p:nvSpPr>
            <p:cNvPr id="35" name="文本框 34"/>
            <p:cNvSpPr txBox="1"/>
            <p:nvPr/>
          </p:nvSpPr>
          <p:spPr>
            <a:xfrm>
              <a:off x="287" y="4607"/>
              <a:ext cx="6192" cy="1008"/>
            </a:xfrm>
            <a:prstGeom prst="rect">
              <a:avLst/>
            </a:prstGeom>
            <a:solidFill>
              <a:schemeClr val="bg1"/>
            </a:solidFill>
          </p:spPr>
          <p:txBody>
            <a:bodyPr wrap="square" rtlCol="0">
              <a:noAutofit/>
            </a:bodyPr>
            <a:p>
              <a:pPr algn="r">
                <a:lnSpc>
                  <a:spcPct val="130000"/>
                </a:lnSpc>
              </a:pPr>
              <a:r>
                <a:rPr lang="zh-CN" altLang="en-US" sz="1600" b="1">
                  <a:solidFill>
                    <a:srgbClr val="C00000"/>
                  </a:solidFill>
                  <a:sym typeface="+mn-ea"/>
                </a:rPr>
                <a:t>对用户需求认识不全面</a:t>
              </a:r>
              <a:endParaRPr lang="zh-CN" altLang="en-US" sz="1600" b="1">
                <a:solidFill>
                  <a:srgbClr val="00B050"/>
                </a:solidFill>
                <a:sym typeface="+mn-ea"/>
              </a:endParaRPr>
            </a:p>
            <a:p>
              <a:pPr algn="r">
                <a:lnSpc>
                  <a:spcPct val="130000"/>
                </a:lnSpc>
              </a:pPr>
              <a:r>
                <a:rPr lang="zh-CN" altLang="en-US" sz="1400" b="1">
                  <a:solidFill>
                    <a:schemeClr val="tx1"/>
                  </a:solidFill>
                </a:rPr>
                <a:t>对用户要求没有完整准确的认识就匆忙编写程序</a:t>
              </a:r>
              <a:endParaRPr lang="zh-CN" altLang="en-US" sz="1400" b="1">
                <a:solidFill>
                  <a:schemeClr val="tx1"/>
                </a:solidFill>
              </a:endParaRPr>
            </a:p>
            <a:p>
              <a:pPr algn="r">
                <a:lnSpc>
                  <a:spcPct val="130000"/>
                </a:lnSpc>
              </a:pPr>
              <a:endParaRPr lang="zh-CN" altLang="en-US" sz="1400" b="1">
                <a:solidFill>
                  <a:schemeClr val="tx1"/>
                </a:solidFill>
              </a:endParaRPr>
            </a:p>
          </p:txBody>
        </p:sp>
      </p:grpSp>
      <p:sp>
        <p:nvSpPr>
          <p:cNvPr id="4" name="文本框 3"/>
          <p:cNvSpPr txBox="1"/>
          <p:nvPr/>
        </p:nvSpPr>
        <p:spPr>
          <a:xfrm>
            <a:off x="10872470" y="412115"/>
            <a:ext cx="1209675" cy="940435"/>
          </a:xfrm>
          <a:prstGeom prst="rect">
            <a:avLst/>
          </a:prstGeom>
          <a:solidFill>
            <a:schemeClr val="bg1"/>
          </a:solidFill>
        </p:spPr>
        <p:txBody>
          <a:bodyPr wrap="square" rtlCol="0">
            <a:noAutofit/>
          </a:bodyPr>
          <a:p>
            <a:endParaRPr lang="zh-CN" altLang="en-US"/>
          </a:p>
        </p:txBody>
      </p:sp>
      <p:sp>
        <p:nvSpPr>
          <p:cNvPr id="5" name="文本框 4"/>
          <p:cNvSpPr txBox="1"/>
          <p:nvPr/>
        </p:nvSpPr>
        <p:spPr>
          <a:xfrm>
            <a:off x="234950" y="5583555"/>
            <a:ext cx="1209675" cy="940435"/>
          </a:xfrm>
          <a:prstGeom prst="rect">
            <a:avLst/>
          </a:prstGeom>
          <a:solidFill>
            <a:schemeClr val="bg1"/>
          </a:solidFill>
        </p:spPr>
        <p:txBody>
          <a:bodyPr wrap="square" rtlCol="0">
            <a:noAutofit/>
          </a:bodyPr>
          <a:p>
            <a:endParaRPr lang="zh-CN" altLang="en-US"/>
          </a:p>
        </p:txBody>
      </p:sp>
      <p:sp>
        <p:nvSpPr>
          <p:cNvPr id="22" name="文本框 21"/>
          <p:cNvSpPr txBox="1"/>
          <p:nvPr/>
        </p:nvSpPr>
        <p:spPr>
          <a:xfrm>
            <a:off x="0" y="5401945"/>
            <a:ext cx="12191365" cy="1447800"/>
          </a:xfrm>
          <a:prstGeom prst="rect">
            <a:avLst/>
          </a:prstGeom>
          <a:solidFill>
            <a:schemeClr val="accent1">
              <a:lumMod val="75000"/>
            </a:schemeClr>
          </a:solidFill>
        </p:spPr>
        <p:txBody>
          <a:bodyPr wrap="square" rtlCol="0">
            <a:noAutofit/>
          </a:bodyPr>
          <a:p>
            <a:r>
              <a:rPr lang="zh-CN" altLang="en-US" sz="1400" b="1">
                <a:solidFill>
                  <a:srgbClr val="FFFF00"/>
                </a:solidFill>
                <a:sym typeface="+mn-ea"/>
              </a:rPr>
              <a:t>在新兴领域：</a:t>
            </a:r>
            <a:endParaRPr lang="zh-CN" altLang="en-US" sz="1400" b="1">
              <a:solidFill>
                <a:srgbClr val="FFFF00"/>
              </a:solidFill>
            </a:endParaRPr>
          </a:p>
          <a:p>
            <a:pPr marL="228600" indent="-228600">
              <a:lnSpc>
                <a:spcPct val="150000"/>
              </a:lnSpc>
              <a:buFont typeface="+mj-lt"/>
              <a:buAutoNum type="arabicPeriod"/>
            </a:pPr>
            <a:r>
              <a:rPr lang="zh-CN" altLang="en-US" sz="1200">
                <a:solidFill>
                  <a:schemeClr val="bg1"/>
                </a:solidFill>
                <a:sym typeface="+mn-ea"/>
              </a:rPr>
              <a:t>技术债务：为了快速上线而牺牲代码质量，导致后期维护成本飙升。</a:t>
            </a:r>
            <a:endParaRPr lang="zh-CN" altLang="en-US" sz="1200">
              <a:solidFill>
                <a:schemeClr val="bg1"/>
              </a:solidFill>
            </a:endParaRPr>
          </a:p>
          <a:p>
            <a:pPr marL="228600" indent="-228600">
              <a:lnSpc>
                <a:spcPct val="150000"/>
              </a:lnSpc>
              <a:buFont typeface="+mj-lt"/>
              <a:buAutoNum type="arabicPeriod"/>
            </a:pPr>
            <a:r>
              <a:rPr lang="zh-CN" altLang="en-US" sz="1200">
                <a:solidFill>
                  <a:schemeClr val="bg1"/>
                </a:solidFill>
                <a:sym typeface="+mn-ea"/>
              </a:rPr>
              <a:t>安全和隐私危机：随着软件渗透到社会各个角落，安全漏洞和隐私泄露成为新的全球性危机。</a:t>
            </a:r>
            <a:endParaRPr lang="zh-CN" altLang="en-US" sz="1200">
              <a:solidFill>
                <a:schemeClr val="bg1"/>
              </a:solidFill>
            </a:endParaRPr>
          </a:p>
          <a:p>
            <a:pPr marL="228600" indent="-228600">
              <a:lnSpc>
                <a:spcPct val="150000"/>
              </a:lnSpc>
              <a:buFont typeface="+mj-lt"/>
              <a:buAutoNum type="arabicPeriod"/>
            </a:pPr>
            <a:r>
              <a:rPr lang="zh-CN" altLang="en-US" sz="1200">
                <a:solidFill>
                  <a:schemeClr val="bg1"/>
                </a:solidFill>
                <a:sym typeface="+mn-ea"/>
              </a:rPr>
              <a:t>AI伦理与可靠性：人工智能软件的不可解释性和偏见问题，构成了新的“智能软件危机”。</a:t>
            </a:r>
            <a:endParaRPr lang="zh-CN" altLang="en-US" sz="1200">
              <a:solidFill>
                <a:schemeClr val="bg1"/>
              </a:solidFill>
            </a:endParaRPr>
          </a:p>
          <a:p>
            <a:pPr marL="228600" indent="-228600">
              <a:lnSpc>
                <a:spcPct val="150000"/>
              </a:lnSpc>
              <a:buFont typeface="+mj-lt"/>
              <a:buAutoNum type="arabicPeriod"/>
            </a:pPr>
            <a:r>
              <a:rPr lang="zh-CN" altLang="en-US" sz="1200">
                <a:solidFill>
                  <a:schemeClr val="bg1"/>
                </a:solidFill>
                <a:sym typeface="+mn-ea"/>
              </a:rPr>
              <a:t>超大规模分布式系统的复杂性：云计算、微服务架构带来了新的运维和监控挑战。</a:t>
            </a:r>
            <a:endParaRPr lang="zh-CN" altLang="en-US" sz="1200">
              <a:solidFill>
                <a:schemeClr val="bg1"/>
              </a:solidFill>
            </a:endParaRPr>
          </a:p>
          <a:p>
            <a:endParaRPr lang="zh-CN" altLang="en-US" sz="1200">
              <a:solidFill>
                <a:schemeClr val="bg1"/>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 name="组合 5"/>
          <p:cNvGrpSpPr/>
          <p:nvPr/>
        </p:nvGrpSpPr>
        <p:grpSpPr>
          <a:xfrm>
            <a:off x="1210945" y="801370"/>
            <a:ext cx="9641205" cy="5113655"/>
            <a:chOff x="1204" y="1118"/>
            <a:chExt cx="16055" cy="8225"/>
          </a:xfrm>
        </p:grpSpPr>
        <p:sp>
          <p:nvSpPr>
            <p:cNvPr id="8" name="椭圆 7"/>
            <p:cNvSpPr/>
            <p:nvPr/>
          </p:nvSpPr>
          <p:spPr>
            <a:xfrm>
              <a:off x="7837" y="3909"/>
              <a:ext cx="2789" cy="2759"/>
            </a:xfrm>
            <a:prstGeom prst="ellipse">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FFF00"/>
                  </a:solidFill>
                </a:rPr>
                <a:t>消除软件危机的途径</a:t>
              </a:r>
              <a:endParaRPr lang="zh-CN" altLang="en-US" sz="1600" b="1">
                <a:solidFill>
                  <a:srgbClr val="FFFF00"/>
                </a:solidFill>
              </a:endParaRPr>
            </a:p>
          </p:txBody>
        </p:sp>
        <p:sp>
          <p:nvSpPr>
            <p:cNvPr id="7" name="椭圆 6"/>
            <p:cNvSpPr/>
            <p:nvPr/>
          </p:nvSpPr>
          <p:spPr>
            <a:xfrm>
              <a:off x="6790" y="2904"/>
              <a:ext cx="4870" cy="4777"/>
            </a:xfrm>
            <a:prstGeom prst="ellips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椭圆 9"/>
            <p:cNvSpPr/>
            <p:nvPr/>
          </p:nvSpPr>
          <p:spPr>
            <a:xfrm>
              <a:off x="10717" y="3370"/>
              <a:ext cx="268" cy="262"/>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10985" y="6668"/>
              <a:ext cx="268" cy="262"/>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7167" y="6673"/>
              <a:ext cx="268" cy="262"/>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7435" y="3370"/>
              <a:ext cx="268" cy="262"/>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圆角矩形标注 1"/>
            <p:cNvSpPr/>
            <p:nvPr/>
          </p:nvSpPr>
          <p:spPr>
            <a:xfrm>
              <a:off x="12164" y="1118"/>
              <a:ext cx="5095" cy="3112"/>
            </a:xfrm>
            <a:prstGeom prst="wedgeRoundRectCallout">
              <a:avLst>
                <a:gd name="adj1" fmla="val -73415"/>
                <a:gd name="adj2" fmla="val 27410"/>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60000"/>
                </a:lnSpc>
              </a:pPr>
              <a:r>
                <a:rPr lang="zh-CN" altLang="en-US" sz="1600" b="1">
                  <a:solidFill>
                    <a:schemeClr val="accent6">
                      <a:lumMod val="40000"/>
                      <a:lumOff val="60000"/>
                    </a:schemeClr>
                  </a:solidFill>
                </a:rPr>
                <a:t>对计算机软件有正确认识</a:t>
              </a:r>
              <a:endParaRPr lang="zh-CN" altLang="en-US" sz="1600" b="1">
                <a:solidFill>
                  <a:schemeClr val="accent6">
                    <a:lumMod val="40000"/>
                    <a:lumOff val="60000"/>
                  </a:schemeClr>
                </a:solidFill>
              </a:endParaRPr>
            </a:p>
            <a:p>
              <a:pPr algn="ctr">
                <a:lnSpc>
                  <a:spcPct val="160000"/>
                </a:lnSpc>
              </a:pPr>
              <a:r>
                <a:rPr lang="zh-CN" altLang="en-US" sz="1600" b="1"/>
                <a:t>消除</a:t>
              </a:r>
              <a:r>
                <a:rPr lang="en-US" altLang="zh-CN" sz="1600" b="1"/>
                <a:t>“</a:t>
              </a:r>
              <a:r>
                <a:rPr lang="zh-CN" altLang="en-US" sz="1600" b="1"/>
                <a:t>软件就是程序</a:t>
              </a:r>
              <a:r>
                <a:rPr lang="en-US" altLang="zh-CN" sz="1600" b="1"/>
                <a:t>”</a:t>
              </a:r>
              <a:r>
                <a:rPr lang="zh-CN" altLang="en-US" sz="1600" b="1"/>
                <a:t>的错误观念</a:t>
              </a:r>
              <a:endParaRPr lang="zh-CN" altLang="en-US" sz="1600" b="1"/>
            </a:p>
            <a:p>
              <a:pPr algn="ctr">
                <a:lnSpc>
                  <a:spcPct val="160000"/>
                </a:lnSpc>
              </a:pPr>
              <a:endParaRPr lang="zh-CN" altLang="en-US" sz="1600" b="1"/>
            </a:p>
          </p:txBody>
        </p:sp>
        <p:pic>
          <p:nvPicPr>
            <p:cNvPr id="3" name="图片 2"/>
            <p:cNvPicPr>
              <a:picLocks noChangeAspect="1"/>
            </p:cNvPicPr>
            <p:nvPr>
              <p:custDataLst>
                <p:tags r:id="rId1"/>
              </p:custDataLst>
            </p:nvPr>
          </p:nvPicPr>
          <p:blipFill>
            <a:blip r:embed="rId2"/>
            <a:stretch>
              <a:fillRect/>
            </a:stretch>
          </p:blipFill>
          <p:spPr>
            <a:xfrm>
              <a:off x="12465" y="2890"/>
              <a:ext cx="720" cy="719"/>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13418" y="2884"/>
              <a:ext cx="727" cy="72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15403" y="2890"/>
              <a:ext cx="755" cy="764"/>
            </a:xfrm>
            <a:prstGeom prst="rect">
              <a:avLst/>
            </a:prstGeom>
          </p:spPr>
        </p:pic>
        <p:sp>
          <p:nvSpPr>
            <p:cNvPr id="9" name="圆角矩形标注 8"/>
            <p:cNvSpPr/>
            <p:nvPr/>
          </p:nvSpPr>
          <p:spPr>
            <a:xfrm>
              <a:off x="12164" y="6018"/>
              <a:ext cx="5095" cy="3325"/>
            </a:xfrm>
            <a:prstGeom prst="wedgeRoundRectCallout">
              <a:avLst>
                <a:gd name="adj1" fmla="val -68017"/>
                <a:gd name="adj2" fmla="val -24582"/>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60000"/>
                </a:lnSpc>
              </a:pPr>
              <a:r>
                <a:rPr lang="zh-CN" altLang="en-US" sz="1600" b="1">
                  <a:solidFill>
                    <a:srgbClr val="C9FBA3"/>
                  </a:solidFill>
                </a:rPr>
                <a:t>软件开发不是个体劳动</a:t>
              </a:r>
              <a:endParaRPr lang="zh-CN" altLang="en-US" sz="1600" b="1">
                <a:solidFill>
                  <a:srgbClr val="C9FBA3"/>
                </a:solidFill>
              </a:endParaRPr>
            </a:p>
            <a:p>
              <a:pPr algn="ctr">
                <a:lnSpc>
                  <a:spcPct val="160000"/>
                </a:lnSpc>
              </a:pPr>
              <a:r>
                <a:rPr lang="zh-CN" altLang="en-US" sz="1600" b="1">
                  <a:solidFill>
                    <a:schemeClr val="bg2"/>
                  </a:solidFill>
                </a:rPr>
                <a:t>软件开发是各类人员协同配合，共同完成的工程项目</a:t>
              </a:r>
              <a:endParaRPr lang="zh-CN" altLang="en-US" sz="1600" b="1">
                <a:solidFill>
                  <a:schemeClr val="bg2"/>
                </a:solidFill>
              </a:endParaRPr>
            </a:p>
            <a:p>
              <a:pPr algn="ctr">
                <a:lnSpc>
                  <a:spcPct val="160000"/>
                </a:lnSpc>
              </a:pPr>
              <a:endParaRPr lang="zh-CN" altLang="en-US" sz="1600" b="1">
                <a:solidFill>
                  <a:schemeClr val="bg2"/>
                </a:solidFill>
              </a:endParaRPr>
            </a:p>
            <a:p>
              <a:pPr algn="ctr">
                <a:lnSpc>
                  <a:spcPct val="160000"/>
                </a:lnSpc>
              </a:pPr>
              <a:endParaRPr lang="zh-CN" altLang="en-US" sz="1600" b="1">
                <a:solidFill>
                  <a:schemeClr val="bg2"/>
                </a:solidFill>
              </a:endParaRPr>
            </a:p>
          </p:txBody>
        </p:sp>
        <p:grpSp>
          <p:nvGrpSpPr>
            <p:cNvPr id="42" name="组合 41"/>
            <p:cNvGrpSpPr/>
            <p:nvPr/>
          </p:nvGrpSpPr>
          <p:grpSpPr>
            <a:xfrm>
              <a:off x="12709" y="8272"/>
              <a:ext cx="3554" cy="787"/>
              <a:chOff x="12709" y="8272"/>
              <a:chExt cx="3554" cy="787"/>
            </a:xfrm>
          </p:grpSpPr>
          <p:pic>
            <p:nvPicPr>
              <p:cNvPr id="24" name="图片 23"/>
              <p:cNvPicPr>
                <a:picLocks noChangeAspect="1"/>
              </p:cNvPicPr>
              <p:nvPr>
                <p:custDataLst>
                  <p:tags r:id="rId7"/>
                </p:custDataLst>
              </p:nvPr>
            </p:nvPicPr>
            <p:blipFill>
              <a:blip r:embed="rId8"/>
              <a:stretch>
                <a:fillRect/>
              </a:stretch>
            </p:blipFill>
            <p:spPr>
              <a:xfrm>
                <a:off x="13357" y="8272"/>
                <a:ext cx="788" cy="768"/>
              </a:xfrm>
              <a:prstGeom prst="rect">
                <a:avLst/>
              </a:prstGeom>
            </p:spPr>
          </p:pic>
          <p:pic>
            <p:nvPicPr>
              <p:cNvPr id="25" name="图片 24"/>
              <p:cNvPicPr>
                <a:picLocks noChangeAspect="1"/>
              </p:cNvPicPr>
              <p:nvPr>
                <p:custDataLst>
                  <p:tags r:id="rId9"/>
                </p:custDataLst>
              </p:nvPr>
            </p:nvPicPr>
            <p:blipFill>
              <a:blip r:embed="rId10"/>
              <a:stretch>
                <a:fillRect/>
              </a:stretch>
            </p:blipFill>
            <p:spPr>
              <a:xfrm>
                <a:off x="15516" y="8272"/>
                <a:ext cx="747" cy="754"/>
              </a:xfrm>
              <a:prstGeom prst="rect">
                <a:avLst/>
              </a:prstGeom>
            </p:spPr>
          </p:pic>
          <p:sp>
            <p:nvSpPr>
              <p:cNvPr id="28" name="文本框 27"/>
              <p:cNvSpPr txBox="1"/>
              <p:nvPr/>
            </p:nvSpPr>
            <p:spPr>
              <a:xfrm>
                <a:off x="14868" y="8446"/>
                <a:ext cx="648" cy="592"/>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a:t>
                </a:r>
                <a:endParaRPr lang="zh-CN" altLang="en-US">
                  <a:latin typeface="微软雅黑" panose="020B0503020204020204" charset="-122"/>
                  <a:ea typeface="微软雅黑" panose="020B0503020204020204" charset="-122"/>
                </a:endParaRPr>
              </a:p>
            </p:txBody>
          </p:sp>
          <p:sp>
            <p:nvSpPr>
              <p:cNvPr id="29" name="文本框 28"/>
              <p:cNvSpPr txBox="1"/>
              <p:nvPr/>
            </p:nvSpPr>
            <p:spPr>
              <a:xfrm>
                <a:off x="12709" y="8467"/>
                <a:ext cx="648" cy="592"/>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a:t>
                </a:r>
                <a:endParaRPr lang="zh-CN" altLang="en-US">
                  <a:latin typeface="微软雅黑" panose="020B0503020204020204" charset="-122"/>
                  <a:ea typeface="微软雅黑" panose="020B0503020204020204" charset="-122"/>
                </a:endParaRPr>
              </a:p>
            </p:txBody>
          </p:sp>
        </p:grpSp>
        <p:sp>
          <p:nvSpPr>
            <p:cNvPr id="38" name="圆角矩形标注 37"/>
            <p:cNvSpPr/>
            <p:nvPr/>
          </p:nvSpPr>
          <p:spPr>
            <a:xfrm>
              <a:off x="1204" y="1118"/>
              <a:ext cx="5095" cy="3112"/>
            </a:xfrm>
            <a:prstGeom prst="wedgeRoundRectCallout">
              <a:avLst>
                <a:gd name="adj1" fmla="val 71452"/>
                <a:gd name="adj2" fmla="val 26992"/>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60000"/>
                </a:lnSpc>
              </a:pPr>
              <a:endParaRPr lang="zh-CN" altLang="en-US" sz="1600" b="1">
                <a:solidFill>
                  <a:schemeClr val="accent6">
                    <a:lumMod val="40000"/>
                    <a:lumOff val="60000"/>
                  </a:schemeClr>
                </a:solidFill>
              </a:endParaRPr>
            </a:p>
            <a:p>
              <a:pPr algn="ctr">
                <a:lnSpc>
                  <a:spcPct val="160000"/>
                </a:lnSpc>
              </a:pPr>
              <a:r>
                <a:rPr lang="zh-CN" altLang="en-US" sz="1600" b="1">
                  <a:solidFill>
                    <a:srgbClr val="FFFF00"/>
                  </a:solidFill>
                </a:rPr>
                <a:t>使用成功的技术和方法</a:t>
              </a:r>
              <a:endParaRPr lang="zh-CN" altLang="en-US" sz="1600" b="1">
                <a:solidFill>
                  <a:srgbClr val="FFFF00"/>
                </a:solidFill>
              </a:endParaRPr>
            </a:p>
            <a:p>
              <a:pPr algn="ctr">
                <a:lnSpc>
                  <a:spcPct val="160000"/>
                </a:lnSpc>
              </a:pPr>
              <a:r>
                <a:rPr lang="zh-CN" sz="1600" b="1">
                  <a:solidFill>
                    <a:srgbClr val="FFFF00"/>
                  </a:solidFill>
                </a:rPr>
                <a:t>消除错误概念和做法</a:t>
              </a:r>
              <a:endParaRPr lang="zh-CN" sz="1600" b="1">
                <a:solidFill>
                  <a:srgbClr val="FFFF00"/>
                </a:solidFill>
              </a:endParaRPr>
            </a:p>
            <a:p>
              <a:pPr algn="ctr">
                <a:lnSpc>
                  <a:spcPct val="160000"/>
                </a:lnSpc>
              </a:pPr>
              <a:r>
                <a:rPr lang="zh-CN" sz="1200" b="1">
                  <a:solidFill>
                    <a:schemeClr val="lt1"/>
                  </a:solidFill>
                </a:rPr>
                <a:t>结构化开发方法、可视化开发方法</a:t>
              </a:r>
              <a:endParaRPr lang="zh-CN" sz="1200" b="1">
                <a:solidFill>
                  <a:schemeClr val="lt1"/>
                </a:solidFill>
              </a:endParaRPr>
            </a:p>
            <a:p>
              <a:pPr algn="ctr">
                <a:lnSpc>
                  <a:spcPct val="160000"/>
                </a:lnSpc>
              </a:pPr>
              <a:r>
                <a:rPr lang="zh-CN" sz="1200" b="1">
                  <a:solidFill>
                    <a:schemeClr val="lt1"/>
                  </a:solidFill>
                </a:rPr>
                <a:t>面向对象开发方法、软件重用技术</a:t>
              </a:r>
              <a:endParaRPr lang="zh-CN" sz="1200" b="1">
                <a:solidFill>
                  <a:schemeClr val="lt1"/>
                </a:solidFill>
              </a:endParaRPr>
            </a:p>
            <a:p>
              <a:pPr algn="ctr">
                <a:lnSpc>
                  <a:spcPct val="160000"/>
                </a:lnSpc>
              </a:pPr>
              <a:endParaRPr lang="zh-CN" sz="1600" b="1"/>
            </a:p>
            <a:p>
              <a:pPr algn="ctr">
                <a:lnSpc>
                  <a:spcPct val="160000"/>
                </a:lnSpc>
              </a:pPr>
              <a:endParaRPr lang="zh-CN" sz="1600" b="1"/>
            </a:p>
          </p:txBody>
        </p:sp>
        <p:sp>
          <p:nvSpPr>
            <p:cNvPr id="43" name="圆角矩形标注 42"/>
            <p:cNvSpPr/>
            <p:nvPr/>
          </p:nvSpPr>
          <p:spPr>
            <a:xfrm>
              <a:off x="1204" y="6231"/>
              <a:ext cx="5095" cy="3112"/>
            </a:xfrm>
            <a:prstGeom prst="wedgeRoundRectCallout">
              <a:avLst>
                <a:gd name="adj1" fmla="val 63817"/>
                <a:gd name="adj2" fmla="val -29723"/>
                <a:gd name="adj3" fmla="val 16667"/>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60000"/>
                </a:lnSpc>
              </a:pPr>
              <a:endParaRPr lang="zh-CN" altLang="en-US" sz="1600" b="1">
                <a:solidFill>
                  <a:schemeClr val="accent6">
                    <a:lumMod val="40000"/>
                    <a:lumOff val="60000"/>
                  </a:schemeClr>
                </a:solidFill>
              </a:endParaRPr>
            </a:p>
            <a:p>
              <a:pPr algn="ctr">
                <a:lnSpc>
                  <a:spcPct val="160000"/>
                </a:lnSpc>
              </a:pPr>
              <a:r>
                <a:rPr lang="zh-CN" altLang="en-US" sz="1600" b="1">
                  <a:solidFill>
                    <a:srgbClr val="55D5FF"/>
                  </a:solidFill>
                </a:rPr>
                <a:t>开发和使用更好的软件工具</a:t>
              </a:r>
              <a:endParaRPr lang="zh-CN" altLang="en-US" sz="1600" b="1">
                <a:solidFill>
                  <a:srgbClr val="55D5FF"/>
                </a:solidFill>
              </a:endParaRPr>
            </a:p>
            <a:p>
              <a:pPr algn="ctr">
                <a:lnSpc>
                  <a:spcPct val="160000"/>
                </a:lnSpc>
              </a:pPr>
              <a:r>
                <a:rPr lang="zh-CN" sz="1200" b="1">
                  <a:solidFill>
                    <a:schemeClr val="lt1"/>
                  </a:solidFill>
                </a:rPr>
                <a:t>MySQL、Spring Boot</a:t>
              </a:r>
              <a:endParaRPr lang="zh-CN" sz="1200" b="1">
                <a:solidFill>
                  <a:schemeClr val="lt1"/>
                </a:solidFill>
              </a:endParaRPr>
            </a:p>
            <a:p>
              <a:pPr algn="ctr">
                <a:lnSpc>
                  <a:spcPct val="160000"/>
                </a:lnSpc>
              </a:pPr>
              <a:r>
                <a:rPr lang="zh-CN" sz="1200" b="1">
                  <a:solidFill>
                    <a:schemeClr val="lt1"/>
                  </a:solidFill>
                </a:rPr>
                <a:t>Vue.js、Visual Studio等</a:t>
              </a:r>
              <a:endParaRPr lang="zh-CN" sz="1200" b="1">
                <a:solidFill>
                  <a:schemeClr val="lt1"/>
                </a:solidFill>
              </a:endParaRPr>
            </a:p>
            <a:p>
              <a:pPr algn="ctr">
                <a:lnSpc>
                  <a:spcPct val="160000"/>
                </a:lnSpc>
              </a:pPr>
              <a:endParaRPr lang="zh-CN" sz="1600" b="1"/>
            </a:p>
            <a:p>
              <a:pPr algn="ctr">
                <a:lnSpc>
                  <a:spcPct val="160000"/>
                </a:lnSpc>
              </a:pPr>
              <a:endParaRPr lang="zh-CN" sz="1600" b="1"/>
            </a:p>
          </p:txBody>
        </p:sp>
        <p:pic>
          <p:nvPicPr>
            <p:cNvPr id="44" name="图片 43"/>
            <p:cNvPicPr>
              <a:picLocks noChangeAspect="1"/>
            </p:cNvPicPr>
            <p:nvPr>
              <p:custDataLst>
                <p:tags r:id="rId11"/>
              </p:custDataLst>
            </p:nvPr>
          </p:nvPicPr>
          <p:blipFill>
            <a:blip r:embed="rId12"/>
            <a:stretch>
              <a:fillRect/>
            </a:stretch>
          </p:blipFill>
          <p:spPr>
            <a:xfrm>
              <a:off x="1486" y="8460"/>
              <a:ext cx="856" cy="751"/>
            </a:xfrm>
            <a:prstGeom prst="rect">
              <a:avLst/>
            </a:prstGeom>
          </p:spPr>
        </p:pic>
        <p:pic>
          <p:nvPicPr>
            <p:cNvPr id="45" name="图片 44"/>
            <p:cNvPicPr>
              <a:picLocks noChangeAspect="1"/>
            </p:cNvPicPr>
            <p:nvPr>
              <p:custDataLst>
                <p:tags r:id="rId13"/>
              </p:custDataLst>
            </p:nvPr>
          </p:nvPicPr>
          <p:blipFill>
            <a:blip r:embed="rId14"/>
            <a:stretch>
              <a:fillRect/>
            </a:stretch>
          </p:blipFill>
          <p:spPr>
            <a:xfrm>
              <a:off x="2702" y="8459"/>
              <a:ext cx="728" cy="738"/>
            </a:xfrm>
            <a:prstGeom prst="rect">
              <a:avLst/>
            </a:prstGeom>
          </p:spPr>
        </p:pic>
        <p:pic>
          <p:nvPicPr>
            <p:cNvPr id="46" name="图片 45"/>
            <p:cNvPicPr>
              <a:picLocks noChangeAspect="1"/>
            </p:cNvPicPr>
            <p:nvPr>
              <p:custDataLst>
                <p:tags r:id="rId15"/>
              </p:custDataLst>
            </p:nvPr>
          </p:nvPicPr>
          <p:blipFill>
            <a:blip r:embed="rId16"/>
            <a:stretch>
              <a:fillRect/>
            </a:stretch>
          </p:blipFill>
          <p:spPr>
            <a:xfrm>
              <a:off x="3801" y="8459"/>
              <a:ext cx="981" cy="737"/>
            </a:xfrm>
            <a:prstGeom prst="rect">
              <a:avLst/>
            </a:prstGeom>
          </p:spPr>
        </p:pic>
        <p:pic>
          <p:nvPicPr>
            <p:cNvPr id="47" name="图片 46"/>
            <p:cNvPicPr>
              <a:picLocks noChangeAspect="1"/>
            </p:cNvPicPr>
            <p:nvPr>
              <p:custDataLst>
                <p:tags r:id="rId17"/>
              </p:custDataLst>
            </p:nvPr>
          </p:nvPicPr>
          <p:blipFill>
            <a:blip r:embed="rId18"/>
            <a:stretch>
              <a:fillRect/>
            </a:stretch>
          </p:blipFill>
          <p:spPr>
            <a:xfrm>
              <a:off x="5039" y="8459"/>
              <a:ext cx="990" cy="737"/>
            </a:xfrm>
            <a:prstGeom prst="rect">
              <a:avLst/>
            </a:prstGeom>
          </p:spPr>
        </p:pic>
      </p:grpSp>
      <p:sp>
        <p:nvSpPr>
          <p:cNvPr id="11" name="文本框 10"/>
          <p:cNvSpPr txBox="1"/>
          <p:nvPr/>
        </p:nvSpPr>
        <p:spPr>
          <a:xfrm>
            <a:off x="-15240" y="4445"/>
            <a:ext cx="12206605" cy="368300"/>
          </a:xfrm>
          <a:prstGeom prst="rect">
            <a:avLst/>
          </a:prstGeom>
          <a:solidFill>
            <a:schemeClr val="accent1">
              <a:lumMod val="75000"/>
            </a:schemeClr>
          </a:solidFill>
        </p:spPr>
        <p:txBody>
          <a:bodyPr wrap="square" rtlCol="0">
            <a:spAutoFit/>
          </a:bodyPr>
          <a:p>
            <a:r>
              <a:rPr lang="zh-CN" altLang="en-US" b="1">
                <a:solidFill>
                  <a:schemeClr val="bg1"/>
                </a:solidFill>
              </a:rPr>
              <a:t>消除软件危机的途径</a:t>
            </a:r>
            <a:endParaRPr lang="zh-CN" altLang="en-US" b="1">
              <a:solidFill>
                <a:schemeClr val="bg1"/>
              </a:solidFill>
            </a:endParaRPr>
          </a:p>
        </p:txBody>
      </p:sp>
      <p:sp>
        <p:nvSpPr>
          <p:cNvPr id="12" name="文本框 11"/>
          <p:cNvSpPr txBox="1"/>
          <p:nvPr/>
        </p:nvSpPr>
        <p:spPr>
          <a:xfrm>
            <a:off x="10831830" y="379095"/>
            <a:ext cx="1129665" cy="1029335"/>
          </a:xfrm>
          <a:prstGeom prst="rect">
            <a:avLst/>
          </a:prstGeom>
          <a:solidFill>
            <a:schemeClr val="bg1"/>
          </a:solidFill>
        </p:spPr>
        <p:txBody>
          <a:bodyPr wrap="square" rtlCol="0">
            <a:noAutofit/>
          </a:bodyPr>
          <a:p>
            <a:endParaRPr lang="zh-CN" altLang="en-US"/>
          </a:p>
        </p:txBody>
      </p:sp>
      <p:sp>
        <p:nvSpPr>
          <p:cNvPr id="13" name="文本框 12"/>
          <p:cNvSpPr txBox="1"/>
          <p:nvPr/>
        </p:nvSpPr>
        <p:spPr>
          <a:xfrm>
            <a:off x="81280" y="5551170"/>
            <a:ext cx="1129665" cy="1029335"/>
          </a:xfrm>
          <a:prstGeom prst="rect">
            <a:avLst/>
          </a:prstGeom>
          <a:solidFill>
            <a:schemeClr val="bg1"/>
          </a:solidFill>
        </p:spPr>
        <p:txBody>
          <a:bodyPr wrap="square" rtlCol="0">
            <a:noAutofit/>
          </a:bodyPr>
          <a:p>
            <a:endParaRPr lang="zh-CN" altLang="en-US"/>
          </a:p>
        </p:txBody>
      </p:sp>
      <p:sp>
        <p:nvSpPr>
          <p:cNvPr id="15" name="文本框 14"/>
          <p:cNvSpPr txBox="1"/>
          <p:nvPr/>
        </p:nvSpPr>
        <p:spPr>
          <a:xfrm>
            <a:off x="8055610" y="2486025"/>
            <a:ext cx="2279015" cy="607695"/>
          </a:xfrm>
          <a:prstGeom prst="rect">
            <a:avLst/>
          </a:prstGeom>
          <a:solidFill>
            <a:srgbClr val="FF0000"/>
          </a:solidFill>
        </p:spPr>
        <p:txBody>
          <a:bodyPr wrap="square" rtlCol="0">
            <a:spAutoFit/>
          </a:bodyPr>
          <a:p>
            <a:pPr>
              <a:lnSpc>
                <a:spcPct val="120000"/>
              </a:lnSpc>
            </a:pPr>
            <a:r>
              <a:rPr lang="zh-CN" altLang="en-US" sz="1400" b="1">
                <a:solidFill>
                  <a:srgbClr val="FFFF00"/>
                </a:solidFill>
              </a:rPr>
              <a:t>软件是由程序、数据及相关文档的完整集合</a:t>
            </a:r>
            <a:endParaRPr lang="zh-CN" altLang="en-US" sz="1400" b="1">
              <a:solidFill>
                <a:srgbClr val="FFFF00"/>
              </a:solidFill>
            </a:endParaRPr>
          </a:p>
        </p:txBody>
      </p:sp>
      <p:sp>
        <p:nvSpPr>
          <p:cNvPr id="17" name="文本框 16"/>
          <p:cNvSpPr txBox="1"/>
          <p:nvPr/>
        </p:nvSpPr>
        <p:spPr>
          <a:xfrm>
            <a:off x="8265795" y="5738495"/>
            <a:ext cx="2279015" cy="866140"/>
          </a:xfrm>
          <a:prstGeom prst="rect">
            <a:avLst/>
          </a:prstGeom>
          <a:solidFill>
            <a:srgbClr val="FF0000"/>
          </a:solidFill>
        </p:spPr>
        <p:txBody>
          <a:bodyPr wrap="square" rtlCol="0">
            <a:spAutoFit/>
          </a:bodyPr>
          <a:p>
            <a:pPr>
              <a:lnSpc>
                <a:spcPct val="120000"/>
              </a:lnSpc>
            </a:pPr>
            <a:r>
              <a:rPr lang="zh-CN" altLang="en-US" sz="1400" b="1">
                <a:solidFill>
                  <a:srgbClr val="FFFF00"/>
                </a:solidFill>
              </a:rPr>
              <a:t>软件是组织良好、管理严密、各类人员协同配合共同完成的工程项目</a:t>
            </a:r>
            <a:endParaRPr lang="en-US" altLang="zh-CN" sz="1400" b="1">
              <a:solidFill>
                <a:srgbClr val="FFFF00"/>
              </a:solidFill>
            </a:endParaRPr>
          </a:p>
        </p:txBody>
      </p:sp>
      <p:sp>
        <p:nvSpPr>
          <p:cNvPr id="19" name="文本框 18"/>
          <p:cNvSpPr txBox="1"/>
          <p:nvPr/>
        </p:nvSpPr>
        <p:spPr>
          <a:xfrm>
            <a:off x="1601470" y="5915025"/>
            <a:ext cx="2279015" cy="349250"/>
          </a:xfrm>
          <a:prstGeom prst="rect">
            <a:avLst/>
          </a:prstGeom>
          <a:solidFill>
            <a:srgbClr val="FF0000"/>
          </a:solidFill>
        </p:spPr>
        <p:txBody>
          <a:bodyPr wrap="square" rtlCol="0">
            <a:spAutoFit/>
          </a:bodyPr>
          <a:p>
            <a:pPr algn="ctr">
              <a:lnSpc>
                <a:spcPct val="120000"/>
              </a:lnSpc>
            </a:pPr>
            <a:r>
              <a:rPr lang="zh-CN" altLang="en-US" sz="1400" b="1">
                <a:solidFill>
                  <a:srgbClr val="FFFF00"/>
                </a:solidFill>
              </a:rPr>
              <a:t>建设软件工程支撑环境</a:t>
            </a:r>
            <a:endParaRPr lang="zh-CN" altLang="en-US" sz="1400" b="1">
              <a:solidFill>
                <a:srgbClr val="FFFF00"/>
              </a:solidFill>
            </a:endParaRPr>
          </a:p>
        </p:txBody>
      </p:sp>
      <p:sp>
        <p:nvSpPr>
          <p:cNvPr id="20" name="文本框 19"/>
          <p:cNvSpPr txBox="1"/>
          <p:nvPr/>
        </p:nvSpPr>
        <p:spPr>
          <a:xfrm>
            <a:off x="1485265" y="2378075"/>
            <a:ext cx="2346325" cy="607695"/>
          </a:xfrm>
          <a:prstGeom prst="rect">
            <a:avLst/>
          </a:prstGeom>
          <a:solidFill>
            <a:srgbClr val="FF0000"/>
          </a:solidFill>
        </p:spPr>
        <p:txBody>
          <a:bodyPr wrap="square" rtlCol="0">
            <a:spAutoFit/>
          </a:bodyPr>
          <a:p>
            <a:pPr algn="ctr">
              <a:lnSpc>
                <a:spcPct val="120000"/>
              </a:lnSpc>
            </a:pPr>
            <a:r>
              <a:rPr lang="zh-CN" altLang="en-US" sz="1400" b="1">
                <a:solidFill>
                  <a:srgbClr val="FFFF00"/>
                </a:solidFill>
              </a:rPr>
              <a:t>消除计算机系统早期发展阶段形成的错误概念和做法</a:t>
            </a:r>
            <a:endParaRPr lang="zh-CN" altLang="en-US" sz="1400" b="1">
              <a:solidFill>
                <a:srgbClr val="FFFF00"/>
              </a:solidFill>
            </a:endParaRPr>
          </a:p>
        </p:txBody>
      </p:sp>
    </p:spTree>
    <p:custDataLst>
      <p:tags r:id="rId19"/>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654685" y="250190"/>
            <a:ext cx="3559810" cy="882015"/>
          </a:xfrm>
        </p:spPr>
        <p:txBody>
          <a:bodyPr>
            <a:normAutofit/>
          </a:bodyPr>
          <a:lstStyle/>
          <a:p>
            <a:r>
              <a:rPr lang="zh-CN" altLang="en-US" sz="2800" spc="200" dirty="0">
                <a:latin typeface="汉仪旗黑-85S" panose="00020600040101010101" pitchFamily="18" charset="-122"/>
                <a:ea typeface="汉仪旗黑-85S" panose="00020600040101010101" pitchFamily="18" charset="-122"/>
              </a:rPr>
              <a:t>什么是软件工程？</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151130" y="1000760"/>
            <a:ext cx="4566920" cy="567563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zh-CN" altLang="zh-CN" sz="1500" b="1" dirty="0">
                <a:solidFill>
                  <a:schemeClr val="bg1"/>
                </a:solidFill>
                <a:latin typeface="Bodoni MT Black" panose="02070A03080606020203" pitchFamily="18" charset="0"/>
                <a:sym typeface="+mn-ea"/>
              </a:rPr>
              <a:t>为了应对软件危机，在1968年的NATO会议上，提出了“</a:t>
            </a:r>
            <a:r>
              <a:rPr lang="zh-CN" altLang="zh-CN" sz="1500" b="1" dirty="0">
                <a:solidFill>
                  <a:srgbClr val="FF0000"/>
                </a:solidFill>
                <a:latin typeface="Bodoni MT Black" panose="02070A03080606020203" pitchFamily="18" charset="0"/>
                <a:sym typeface="+mn-ea"/>
              </a:rPr>
              <a:t>软件工程</a:t>
            </a:r>
            <a:r>
              <a:rPr lang="zh-CN" altLang="zh-CN" sz="1500" b="1" dirty="0">
                <a:solidFill>
                  <a:schemeClr val="bg1"/>
                </a:solidFill>
                <a:latin typeface="Bodoni MT Black" panose="02070A03080606020203" pitchFamily="18" charset="0"/>
                <a:sym typeface="+mn-ea"/>
              </a:rPr>
              <a:t>”的概念。其核心思想是：</a:t>
            </a:r>
            <a:r>
              <a:rPr lang="zh-CN" altLang="zh-CN" sz="1500" b="1" dirty="0">
                <a:solidFill>
                  <a:srgbClr val="55D5FF"/>
                </a:solidFill>
                <a:latin typeface="Bodoni MT Black" panose="02070A03080606020203" pitchFamily="18" charset="0"/>
                <a:sym typeface="+mn-ea"/>
              </a:rPr>
              <a:t>像管理建筑工程、机械工程一样，用系统化、规范化、可量化的工程原则和方法来指导软件开发的全过程。</a:t>
            </a:r>
            <a:endParaRPr lang="zh-CN" altLang="zh-CN" sz="1500" b="1" dirty="0">
              <a:solidFill>
                <a:srgbClr val="55D5FF"/>
              </a:solidFill>
              <a:latin typeface="Bodoni MT Black" panose="02070A03080606020203" pitchFamily="18" charset="0"/>
              <a:sym typeface="+mn-ea"/>
            </a:endParaRPr>
          </a:p>
          <a:p>
            <a:pPr marL="0" indent="0">
              <a:lnSpc>
                <a:spcPct val="160000"/>
              </a:lnSpc>
              <a:spcBef>
                <a:spcPts val="0"/>
              </a:spcBef>
              <a:buNone/>
            </a:pPr>
            <a:endParaRPr lang="zh-CN" altLang="zh-CN" sz="1500" b="1" dirty="0">
              <a:solidFill>
                <a:srgbClr val="55D5FF"/>
              </a:solidFill>
              <a:latin typeface="Bodoni MT Black" panose="02070A03080606020203" pitchFamily="18" charset="0"/>
              <a:sym typeface="+mn-ea"/>
            </a:endParaRPr>
          </a:p>
          <a:p>
            <a:pPr marL="0" indent="0">
              <a:lnSpc>
                <a:spcPct val="160000"/>
              </a:lnSpc>
              <a:spcBef>
                <a:spcPts val="0"/>
              </a:spcBef>
              <a:buNone/>
            </a:pPr>
            <a:endParaRPr lang="zh-CN" altLang="zh-CN" sz="1500" b="1" dirty="0">
              <a:solidFill>
                <a:schemeClr val="bg1"/>
              </a:solidFill>
              <a:latin typeface="Bodoni MT Black" panose="02070A03080606020203" pitchFamily="18" charset="0"/>
              <a:sym typeface="+mn-ea"/>
            </a:endParaRPr>
          </a:p>
          <a:p>
            <a:pPr marL="0" indent="0">
              <a:spcBef>
                <a:spcPts val="0"/>
              </a:spcBef>
              <a:buNone/>
            </a:pP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en-US" sz="700" dirty="0">
              <a:solidFill>
                <a:srgbClr val="FFFF00"/>
              </a:solidFill>
              <a:latin typeface="Bodoni MT Black" panose="02070A03080606020203" pitchFamily="18" charset="0"/>
            </a:endParaRPr>
          </a:p>
        </p:txBody>
      </p:sp>
      <p:pic>
        <p:nvPicPr>
          <p:cNvPr id="5" name="图片 4"/>
          <p:cNvPicPr>
            <a:picLocks noChangeAspect="1"/>
          </p:cNvPicPr>
          <p:nvPr>
            <p:custDataLst>
              <p:tags r:id="rId3"/>
            </p:custDataLst>
          </p:nvPr>
        </p:nvPicPr>
        <p:blipFill>
          <a:blip r:embed="rId4"/>
          <a:stretch>
            <a:fillRect/>
          </a:stretch>
        </p:blipFill>
        <p:spPr>
          <a:xfrm>
            <a:off x="184785" y="2835910"/>
            <a:ext cx="4394835" cy="3408680"/>
          </a:xfrm>
          <a:prstGeom prst="rect">
            <a:avLst/>
          </a:prstGeom>
        </p:spPr>
      </p:pic>
      <p:pic>
        <p:nvPicPr>
          <p:cNvPr id="2" name="图片 1"/>
          <p:cNvPicPr>
            <a:picLocks noChangeAspect="1"/>
          </p:cNvPicPr>
          <p:nvPr/>
        </p:nvPicPr>
        <p:blipFill>
          <a:blip r:embed="rId5"/>
          <a:stretch>
            <a:fillRect/>
          </a:stretch>
        </p:blipFill>
        <p:spPr>
          <a:xfrm>
            <a:off x="4832985" y="2047875"/>
            <a:ext cx="7359650" cy="4810125"/>
          </a:xfrm>
          <a:prstGeom prst="rect">
            <a:avLst/>
          </a:prstGeom>
        </p:spPr>
      </p:pic>
      <p:sp>
        <p:nvSpPr>
          <p:cNvPr id="4" name="文本框 3"/>
          <p:cNvSpPr txBox="1"/>
          <p:nvPr/>
        </p:nvSpPr>
        <p:spPr>
          <a:xfrm>
            <a:off x="4832985" y="0"/>
            <a:ext cx="7358380" cy="1986915"/>
          </a:xfrm>
          <a:prstGeom prst="rect">
            <a:avLst/>
          </a:prstGeom>
          <a:solidFill>
            <a:srgbClr val="D1F2E3"/>
          </a:solidFill>
          <a:ln>
            <a:solidFill>
              <a:schemeClr val="tx1"/>
            </a:solidFill>
          </a:ln>
        </p:spPr>
        <p:txBody>
          <a:bodyPr wrap="square" rtlCol="0" anchor="ctr" anchorCtr="0">
            <a:noAutofit/>
          </a:bodyPr>
          <a:p>
            <a:pPr>
              <a:lnSpc>
                <a:spcPct val="210000"/>
              </a:lnSpc>
            </a:pPr>
            <a:r>
              <a:rPr lang="zh-CN" altLang="zh-CN" sz="1500" b="1" dirty="0">
                <a:solidFill>
                  <a:srgbClr val="FF0000"/>
                </a:solidFill>
                <a:latin typeface="Bodoni MT Black" panose="02070A03080606020203" pitchFamily="18" charset="0"/>
                <a:sym typeface="+mn-ea"/>
              </a:rPr>
              <a:t>软件工程</a:t>
            </a:r>
            <a:r>
              <a:rPr lang="zh-CN" altLang="zh-CN" sz="1500" dirty="0">
                <a:solidFill>
                  <a:schemeClr val="tx1"/>
                </a:solidFill>
                <a:latin typeface="Bodoni MT Black" panose="02070A03080606020203" pitchFamily="18" charset="0"/>
                <a:sym typeface="+mn-ea"/>
              </a:rPr>
              <a:t>是指导计算机软件</a:t>
            </a:r>
            <a:r>
              <a:rPr lang="zh-CN" altLang="zh-CN" sz="1500" b="1" dirty="0">
                <a:solidFill>
                  <a:schemeClr val="tx1"/>
                </a:solidFill>
                <a:latin typeface="Bodoni MT Black" panose="02070A03080606020203" pitchFamily="18" charset="0"/>
                <a:sym typeface="+mn-ea"/>
              </a:rPr>
              <a:t>开发</a:t>
            </a:r>
            <a:r>
              <a:rPr lang="zh-CN" altLang="zh-CN" sz="1500" dirty="0">
                <a:solidFill>
                  <a:schemeClr val="tx1"/>
                </a:solidFill>
                <a:latin typeface="Bodoni MT Black" panose="02070A03080606020203" pitchFamily="18" charset="0"/>
                <a:sym typeface="+mn-ea"/>
              </a:rPr>
              <a:t>和</a:t>
            </a:r>
            <a:r>
              <a:rPr lang="zh-CN" altLang="zh-CN" sz="1500" b="1" dirty="0">
                <a:solidFill>
                  <a:schemeClr val="tx1"/>
                </a:solidFill>
                <a:latin typeface="Bodoni MT Black" panose="02070A03080606020203" pitchFamily="18" charset="0"/>
                <a:sym typeface="+mn-ea"/>
              </a:rPr>
              <a:t>维护</a:t>
            </a:r>
            <a:r>
              <a:rPr lang="zh-CN" altLang="zh-CN" sz="1500" dirty="0">
                <a:solidFill>
                  <a:schemeClr val="tx1"/>
                </a:solidFill>
                <a:latin typeface="Bodoni MT Black" panose="02070A03080606020203" pitchFamily="18" charset="0"/>
                <a:sym typeface="+mn-ea"/>
              </a:rPr>
              <a:t>的一门</a:t>
            </a:r>
            <a:r>
              <a:rPr lang="zh-CN" altLang="zh-CN" sz="1500" b="1" dirty="0">
                <a:solidFill>
                  <a:srgbClr val="FF0000"/>
                </a:solidFill>
                <a:latin typeface="Bodoni MT Black" panose="02070A03080606020203" pitchFamily="18" charset="0"/>
                <a:sym typeface="+mn-ea"/>
              </a:rPr>
              <a:t>工程学科</a:t>
            </a:r>
            <a:r>
              <a:rPr lang="zh-CN" altLang="zh-CN" sz="1500" dirty="0">
                <a:solidFill>
                  <a:schemeClr val="tx1"/>
                </a:solidFill>
                <a:latin typeface="Bodoni MT Black" panose="02070A03080606020203" pitchFamily="18" charset="0"/>
                <a:sym typeface="+mn-ea"/>
              </a:rPr>
              <a:t>。采用工程的概念、原理、技术和方法来开发与维护软件，把经过时间考验而证明正确的</a:t>
            </a:r>
            <a:r>
              <a:rPr lang="zh-CN" altLang="zh-CN" sz="1500" b="1" dirty="0">
                <a:solidFill>
                  <a:srgbClr val="00B0F0"/>
                </a:solidFill>
                <a:latin typeface="Bodoni MT Black" panose="02070A03080606020203" pitchFamily="18" charset="0"/>
                <a:sym typeface="+mn-ea"/>
              </a:rPr>
              <a:t>管理技术</a:t>
            </a:r>
            <a:r>
              <a:rPr lang="zh-CN" altLang="zh-CN" sz="1500" dirty="0">
                <a:solidFill>
                  <a:schemeClr val="tx1"/>
                </a:solidFill>
                <a:latin typeface="Bodoni MT Black" panose="02070A03080606020203" pitchFamily="18" charset="0"/>
                <a:sym typeface="+mn-ea"/>
              </a:rPr>
              <a:t>和当前能够得到的最</a:t>
            </a:r>
            <a:r>
              <a:rPr lang="zh-CN" altLang="zh-CN" sz="1500" dirty="0" smtClean="0">
                <a:solidFill>
                  <a:schemeClr val="tx1"/>
                </a:solidFill>
                <a:latin typeface="Bodoni MT Black" panose="02070A03080606020203" pitchFamily="18" charset="0"/>
                <a:sym typeface="+mn-ea"/>
              </a:rPr>
              <a:t>好</a:t>
            </a:r>
            <a:r>
              <a:rPr lang="zh-CN" altLang="zh-CN" sz="1500" b="1" dirty="0" smtClean="0">
                <a:solidFill>
                  <a:srgbClr val="00B0F0"/>
                </a:solidFill>
                <a:latin typeface="Bodoni MT Black" panose="02070A03080606020203" pitchFamily="18" charset="0"/>
                <a:sym typeface="+mn-ea"/>
              </a:rPr>
              <a:t>技</a:t>
            </a:r>
            <a:r>
              <a:rPr lang="zh-CN" altLang="zh-CN" sz="1500" b="1" dirty="0">
                <a:solidFill>
                  <a:srgbClr val="00B0F0"/>
                </a:solidFill>
                <a:latin typeface="Bodoni MT Black" panose="02070A03080606020203" pitchFamily="18" charset="0"/>
                <a:sym typeface="+mn-ea"/>
              </a:rPr>
              <a:t>术方法</a:t>
            </a:r>
            <a:r>
              <a:rPr lang="zh-CN" altLang="zh-CN" sz="1500" dirty="0">
                <a:solidFill>
                  <a:schemeClr val="tx1"/>
                </a:solidFill>
                <a:latin typeface="Bodoni MT Black" panose="02070A03080606020203" pitchFamily="18" charset="0"/>
                <a:sym typeface="+mn-ea"/>
              </a:rPr>
              <a:t>结合起来，以经济地开发出</a:t>
            </a:r>
            <a:r>
              <a:rPr lang="zh-CN" altLang="zh-CN" sz="1500" b="1" dirty="0">
                <a:solidFill>
                  <a:schemeClr val="tx1"/>
                </a:solidFill>
                <a:latin typeface="Bodoni MT Black" panose="02070A03080606020203" pitchFamily="18" charset="0"/>
                <a:sym typeface="+mn-ea"/>
              </a:rPr>
              <a:t>高质量</a:t>
            </a:r>
            <a:r>
              <a:rPr lang="zh-CN" altLang="zh-CN" sz="1500" dirty="0">
                <a:solidFill>
                  <a:schemeClr val="tx1"/>
                </a:solidFill>
                <a:latin typeface="Bodoni MT Black" panose="02070A03080606020203" pitchFamily="18" charset="0"/>
                <a:sym typeface="+mn-ea"/>
              </a:rPr>
              <a:t>的软件并有效地维护它。</a:t>
            </a:r>
            <a:endParaRPr lang="zh-CN" altLang="en-US" sz="1500" dirty="0">
              <a:solidFill>
                <a:schemeClr val="tx1"/>
              </a:solidFill>
              <a:latin typeface="Bodoni MT Black" panose="02070A03080606020203" pitchFamily="18" charset="0"/>
            </a:endParaRPr>
          </a:p>
          <a:p>
            <a:endParaRPr lang="zh-CN" altLang="en-US" sz="1500" dirty="0">
              <a:solidFill>
                <a:schemeClr val="tx1"/>
              </a:solidFill>
              <a:latin typeface="Bodoni MT Black" panose="02070A03080606020203" pitchFamily="18" charset="0"/>
            </a:endParaRPr>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5"/>
          <p:cNvSpPr txBox="1"/>
          <p:nvPr>
            <p:custDataLst>
              <p:tags r:id="rId1"/>
            </p:custDataLst>
          </p:nvPr>
        </p:nvSpPr>
        <p:spPr>
          <a:xfrm>
            <a:off x="736460" y="548350"/>
            <a:ext cx="10975975" cy="828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spcBef>
                <a:spcPts val="0"/>
              </a:spcBef>
              <a:spcAft>
                <a:spcPts val="1000"/>
              </a:spcAft>
              <a:buFont typeface="Arial" panose="020B0604020202020204" pitchFamily="34" charset="0"/>
              <a:buNone/>
            </a:pPr>
            <a:r>
              <a:rPr lang="zh-CN" altLang="en-US" sz="3200" b="1" spc="150">
                <a:solidFill>
                  <a:schemeClr val="tx1">
                    <a:lumMod val="85000"/>
                    <a:lumOff val="15000"/>
                  </a:schemeClr>
                </a:solidFill>
                <a:latin typeface="Arial" panose="020B0604020202020204" pitchFamily="34" charset="0"/>
                <a:ea typeface="微软雅黑" panose="020B0503020204020204" charset="-122"/>
              </a:rPr>
              <a:t>软件工程的本质特性</a:t>
            </a:r>
            <a:endParaRPr lang="zh-CN" altLang="en-US" sz="3200" b="1" spc="150">
              <a:solidFill>
                <a:schemeClr val="tx1">
                  <a:lumMod val="85000"/>
                  <a:lumOff val="15000"/>
                </a:schemeClr>
              </a:solidFill>
              <a:latin typeface="Arial" panose="020B0604020202020204" pitchFamily="34" charset="0"/>
              <a:ea typeface="微软雅黑" panose="020B0503020204020204" charset="-122"/>
            </a:endParaRPr>
          </a:p>
        </p:txBody>
      </p:sp>
      <p:grpSp>
        <p:nvGrpSpPr>
          <p:cNvPr id="7" name="组合 6"/>
          <p:cNvGrpSpPr/>
          <p:nvPr>
            <p:custDataLst>
              <p:tags r:id="rId2"/>
            </p:custDataLst>
          </p:nvPr>
        </p:nvGrpSpPr>
        <p:grpSpPr>
          <a:xfrm flipV="1">
            <a:off x="5921829" y="0"/>
            <a:ext cx="6270171" cy="8128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p>
          </p:txBody>
        </p:sp>
      </p:grpSp>
      <p:graphicFrame>
        <p:nvGraphicFramePr>
          <p:cNvPr id="3" name="图示 2"/>
          <p:cNvGraphicFramePr/>
          <p:nvPr>
            <p:custDataLst>
              <p:tags r:id="rId5"/>
            </p:custDataLst>
          </p:nvPr>
        </p:nvGraphicFramePr>
        <p:xfrm>
          <a:off x="631825" y="1496695"/>
          <a:ext cx="9573260" cy="454088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5"/>
          <p:cNvSpPr txBox="1"/>
          <p:nvPr>
            <p:custDataLst>
              <p:tags r:id="rId1"/>
            </p:custDataLst>
          </p:nvPr>
        </p:nvSpPr>
        <p:spPr>
          <a:xfrm>
            <a:off x="736460" y="548350"/>
            <a:ext cx="10975975" cy="828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spcBef>
                <a:spcPts val="0"/>
              </a:spcBef>
              <a:spcAft>
                <a:spcPts val="1000"/>
              </a:spcAft>
              <a:buFont typeface="Arial" panose="020B0604020202020204" pitchFamily="34" charset="0"/>
              <a:buNone/>
            </a:pPr>
            <a:r>
              <a:rPr lang="zh-CN" altLang="en-US" sz="3200" b="1" spc="150">
                <a:solidFill>
                  <a:schemeClr val="tx1">
                    <a:lumMod val="85000"/>
                    <a:lumOff val="15000"/>
                  </a:schemeClr>
                </a:solidFill>
                <a:latin typeface="Arial" panose="020B0604020202020204" pitchFamily="34" charset="0"/>
                <a:ea typeface="微软雅黑" panose="020B0503020204020204" charset="-122"/>
              </a:rPr>
              <a:t>软件工程的基本原理</a:t>
            </a:r>
            <a:endParaRPr lang="zh-CN" altLang="en-US" sz="3200" b="1" spc="150">
              <a:solidFill>
                <a:schemeClr val="tx1">
                  <a:lumMod val="85000"/>
                  <a:lumOff val="15000"/>
                </a:schemeClr>
              </a:solidFill>
              <a:latin typeface="Arial" panose="020B0604020202020204" pitchFamily="34" charset="0"/>
              <a:ea typeface="微软雅黑" panose="020B0503020204020204" charset="-122"/>
            </a:endParaRPr>
          </a:p>
        </p:txBody>
      </p:sp>
      <p:grpSp>
        <p:nvGrpSpPr>
          <p:cNvPr id="7" name="组合 6"/>
          <p:cNvGrpSpPr/>
          <p:nvPr>
            <p:custDataLst>
              <p:tags r:id="rId2"/>
            </p:custDataLst>
          </p:nvPr>
        </p:nvGrpSpPr>
        <p:grpSpPr>
          <a:xfrm flipV="1">
            <a:off x="5921829" y="0"/>
            <a:ext cx="6270171" cy="8128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p>
          </p:txBody>
        </p:sp>
      </p:grpSp>
      <p:graphicFrame>
        <p:nvGraphicFramePr>
          <p:cNvPr id="6" name="图示 5"/>
          <p:cNvGraphicFramePr/>
          <p:nvPr>
            <p:custDataLst>
              <p:tags r:id="rId5"/>
            </p:custDataLst>
          </p:nvPr>
        </p:nvGraphicFramePr>
        <p:xfrm>
          <a:off x="736600" y="1695450"/>
          <a:ext cx="9892665" cy="4572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ustDataLst>
      <p:tags r:id="rId1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674640" y="544340"/>
            <a:ext cx="3960000" cy="882000"/>
          </a:xfrm>
        </p:spPr>
        <p:txBody>
          <a:bodyPr>
            <a:normAutofit/>
          </a:bodyPr>
          <a:lstStyle/>
          <a:p>
            <a:r>
              <a:rPr lang="en-US" altLang="zh-CN" sz="2800" spc="200" dirty="0">
                <a:latin typeface="汉仪旗黑-85S" panose="00020600040101010101" pitchFamily="18" charset="-122"/>
                <a:ea typeface="汉仪旗黑-85S" panose="00020600040101010101" pitchFamily="18" charset="-122"/>
              </a:rPr>
              <a:t> </a:t>
            </a:r>
            <a:r>
              <a:rPr lang="zh-CN" altLang="en-US" sz="2800" spc="200" dirty="0">
                <a:latin typeface="汉仪旗黑-85S" panose="00020600040101010101" pitchFamily="18" charset="-122"/>
                <a:ea typeface="汉仪旗黑-85S" panose="00020600040101010101" pitchFamily="18" charset="-122"/>
              </a:rPr>
              <a:t>软件工程方法学</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211455" y="3697605"/>
            <a:ext cx="4513580" cy="525081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gn="l" defTabSz="914400">
              <a:lnSpc>
                <a:spcPct val="170000"/>
              </a:lnSpc>
              <a:spcBef>
                <a:spcPts val="0"/>
              </a:spcBef>
              <a:buClrTx/>
              <a:buSzTx/>
              <a:buNone/>
              <a:tabLst>
                <a:tab pos="1609725" algn="l"/>
              </a:tabLst>
            </a:pPr>
            <a:r>
              <a:rPr lang="zh-CN" altLang="zh-CN" sz="1400" b="1" dirty="0">
                <a:solidFill>
                  <a:srgbClr val="FF0000"/>
                </a:solidFill>
                <a:latin typeface="Bodoni MT Black" panose="02070A03080606020203" pitchFamily="18" charset="0"/>
                <a:sym typeface="+mn-ea"/>
              </a:rPr>
              <a:t>方法：</a:t>
            </a:r>
            <a:r>
              <a:rPr lang="zh-CN" altLang="zh-CN" sz="1400" b="1" dirty="0">
                <a:solidFill>
                  <a:schemeClr val="bg1"/>
                </a:solidFill>
                <a:latin typeface="Bodoni MT Black" panose="02070A03080606020203" pitchFamily="18" charset="0"/>
                <a:sym typeface="+mn-ea"/>
              </a:rPr>
              <a:t>完成软件开发的各项任务的技术方法，回答</a:t>
            </a:r>
            <a:r>
              <a:rPr lang="zh-CN" altLang="zh-CN" sz="1400" b="1" dirty="0">
                <a:solidFill>
                  <a:srgbClr val="00B0F0"/>
                </a:solidFill>
                <a:latin typeface="Bodoni MT Black" panose="02070A03080606020203" pitchFamily="18" charset="0"/>
                <a:sym typeface="+mn-ea"/>
              </a:rPr>
              <a:t>“怎样做”</a:t>
            </a:r>
            <a:r>
              <a:rPr lang="zh-CN" altLang="zh-CN" sz="1400" b="1" dirty="0">
                <a:solidFill>
                  <a:schemeClr val="bg1"/>
                </a:solidFill>
                <a:latin typeface="Bodoni MT Black" panose="02070A03080606020203" pitchFamily="18" charset="0"/>
                <a:sym typeface="+mn-ea"/>
              </a:rPr>
              <a:t>的问题；</a:t>
            </a:r>
            <a:endParaRPr lang="zh-CN" altLang="zh-CN" sz="1400" b="1" dirty="0">
              <a:solidFill>
                <a:srgbClr val="FF0000"/>
              </a:solidFill>
              <a:latin typeface="Bodoni MT Black" panose="02070A03080606020203" pitchFamily="18" charset="0"/>
            </a:endParaRPr>
          </a:p>
          <a:p>
            <a:pPr marL="0" indent="0">
              <a:lnSpc>
                <a:spcPct val="170000"/>
              </a:lnSpc>
              <a:spcBef>
                <a:spcPts val="0"/>
              </a:spcBef>
              <a:buNone/>
            </a:pPr>
            <a:r>
              <a:rPr lang="zh-CN" altLang="zh-CN" sz="1400" b="1" dirty="0">
                <a:solidFill>
                  <a:srgbClr val="FF0000"/>
                </a:solidFill>
                <a:latin typeface="Bodoni MT Black" panose="02070A03080606020203" pitchFamily="18" charset="0"/>
                <a:sym typeface="+mn-ea"/>
              </a:rPr>
              <a:t>工具：</a:t>
            </a:r>
            <a:r>
              <a:rPr lang="zh-CN" altLang="zh-CN" sz="1400" b="1" dirty="0">
                <a:latin typeface="Bodoni MT Black" panose="02070A03080606020203" pitchFamily="18" charset="0"/>
                <a:sym typeface="+mn-ea"/>
              </a:rPr>
              <a:t>为运用方法而提供的自动的或半自动的软件工程</a:t>
            </a:r>
            <a:r>
              <a:rPr lang="zh-CN" altLang="zh-CN" sz="1400" b="1" dirty="0">
                <a:solidFill>
                  <a:srgbClr val="00B0F0"/>
                </a:solidFill>
                <a:latin typeface="Bodoni MT Black" panose="02070A03080606020203" pitchFamily="18" charset="0"/>
                <a:sym typeface="+mn-ea"/>
              </a:rPr>
              <a:t>支撑环境</a:t>
            </a:r>
            <a:r>
              <a:rPr lang="zh-CN" altLang="zh-CN" sz="1400" b="1" dirty="0">
                <a:latin typeface="Bodoni MT Black" panose="02070A03080606020203" pitchFamily="18" charset="0"/>
                <a:sym typeface="+mn-ea"/>
              </a:rPr>
              <a:t>；</a:t>
            </a:r>
            <a:endParaRPr lang="zh-CN" altLang="zh-CN" sz="1400" b="1" dirty="0">
              <a:latin typeface="Bodoni MT Black" panose="02070A03080606020203" pitchFamily="18" charset="0"/>
            </a:endParaRPr>
          </a:p>
          <a:p>
            <a:pPr marL="0" indent="0">
              <a:lnSpc>
                <a:spcPct val="170000"/>
              </a:lnSpc>
              <a:spcBef>
                <a:spcPts val="0"/>
              </a:spcBef>
              <a:buNone/>
            </a:pPr>
            <a:r>
              <a:rPr lang="zh-CN" altLang="zh-CN" sz="1400" b="1" dirty="0">
                <a:solidFill>
                  <a:srgbClr val="FF0000"/>
                </a:solidFill>
                <a:latin typeface="Bodoni MT Black" panose="02070A03080606020203" pitchFamily="18" charset="0"/>
                <a:sym typeface="+mn-ea"/>
              </a:rPr>
              <a:t>过程：</a:t>
            </a:r>
            <a:r>
              <a:rPr lang="zh-CN" altLang="zh-CN" sz="1400" b="1" dirty="0">
                <a:latin typeface="Bodoni MT Black" panose="02070A03080606020203" pitchFamily="18" charset="0"/>
                <a:sym typeface="+mn-ea"/>
              </a:rPr>
              <a:t>为了获得高质量的软件所需要完成的一系列</a:t>
            </a:r>
            <a:r>
              <a:rPr lang="zh-CN" altLang="zh-CN" sz="1400" b="1" dirty="0">
                <a:solidFill>
                  <a:srgbClr val="00B0F0"/>
                </a:solidFill>
                <a:latin typeface="Bodoni MT Black" panose="02070A03080606020203" pitchFamily="18" charset="0"/>
                <a:sym typeface="+mn-ea"/>
              </a:rPr>
              <a:t>任务的框架</a:t>
            </a:r>
            <a:r>
              <a:rPr lang="zh-CN" altLang="zh-CN" sz="1400" b="1" dirty="0">
                <a:latin typeface="Bodoni MT Black" panose="02070A03080606020203" pitchFamily="18" charset="0"/>
                <a:sym typeface="+mn-ea"/>
              </a:rPr>
              <a:t>，它规定了完成各项任务的</a:t>
            </a:r>
            <a:r>
              <a:rPr lang="zh-CN" altLang="zh-CN" sz="1400" b="1" dirty="0">
                <a:solidFill>
                  <a:srgbClr val="00B0F0"/>
                </a:solidFill>
                <a:latin typeface="Bodoni MT Black" panose="02070A03080606020203" pitchFamily="18" charset="0"/>
                <a:sym typeface="+mn-ea"/>
              </a:rPr>
              <a:t>工作步骤</a:t>
            </a:r>
            <a:r>
              <a:rPr lang="zh-CN" altLang="zh-CN" sz="1400" b="1" dirty="0">
                <a:latin typeface="Bodoni MT Black" panose="02070A03080606020203" pitchFamily="18" charset="0"/>
                <a:sym typeface="+mn-ea"/>
              </a:rPr>
              <a:t>。</a:t>
            </a:r>
            <a:endParaRPr lang="zh-CN" altLang="zh-CN" sz="1400" b="1" dirty="0">
              <a:latin typeface="Bodoni MT Black" panose="02070A03080606020203" pitchFamily="18" charset="0"/>
            </a:endParaRPr>
          </a:p>
          <a:p>
            <a:pPr marL="0" indent="0">
              <a:lnSpc>
                <a:spcPct val="110000"/>
              </a:lnSpc>
              <a:spcBef>
                <a:spcPts val="0"/>
              </a:spcBef>
              <a:buNone/>
            </a:pPr>
            <a:endParaRPr lang="zh-CN" altLang="zh-CN" sz="1500" b="1" dirty="0">
              <a:solidFill>
                <a:srgbClr val="FF0000"/>
              </a:solidFill>
              <a:latin typeface="Bodoni MT Black" panose="02070A03080606020203" pitchFamily="18" charset="0"/>
              <a:sym typeface="+mn-ea"/>
            </a:endParaRPr>
          </a:p>
          <a:p>
            <a:pPr marL="0" indent="0">
              <a:spcBef>
                <a:spcPts val="0"/>
              </a:spcBef>
              <a:buNone/>
            </a:pPr>
            <a:endParaRPr lang="zh-CN" altLang="en-US" sz="700" dirty="0">
              <a:solidFill>
                <a:srgbClr val="FFFF00"/>
              </a:solidFill>
              <a:latin typeface="Bodoni MT Black" panose="02070A03080606020203" pitchFamily="18" charset="0"/>
            </a:endParaRPr>
          </a:p>
        </p:txBody>
      </p:sp>
      <p:sp>
        <p:nvSpPr>
          <p:cNvPr id="2" name="矩形 1"/>
          <p:cNvSpPr/>
          <p:nvPr/>
        </p:nvSpPr>
        <p:spPr>
          <a:xfrm>
            <a:off x="4836160" y="635"/>
            <a:ext cx="7355840" cy="3495675"/>
          </a:xfrm>
          <a:prstGeom prst="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a:p>
            <a:pPr algn="ctr"/>
            <a:endParaRPr lang="zh-CN" altLang="en-US"/>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lnSpc>
                <a:spcPct val="130000"/>
              </a:lnSpc>
            </a:pPr>
            <a:endParaRPr lang="zh-CN" altLang="en-US" b="1">
              <a:solidFill>
                <a:srgbClr val="FFFF00"/>
              </a:solidFill>
            </a:endParaRPr>
          </a:p>
          <a:p>
            <a:pPr algn="ctr">
              <a:lnSpc>
                <a:spcPct val="160000"/>
              </a:lnSpc>
            </a:pPr>
            <a:r>
              <a:rPr lang="zh-CN" altLang="en-US" b="1">
                <a:solidFill>
                  <a:srgbClr val="FFFF00"/>
                </a:solidFill>
              </a:rPr>
              <a:t>传统方法学</a:t>
            </a:r>
            <a:endParaRPr lang="zh-CN" altLang="en-US" b="1">
              <a:solidFill>
                <a:srgbClr val="FFFF00"/>
              </a:solidFill>
            </a:endParaRPr>
          </a:p>
          <a:p>
            <a:pPr algn="ctr">
              <a:lnSpc>
                <a:spcPct val="160000"/>
              </a:lnSpc>
            </a:pPr>
            <a:r>
              <a:rPr lang="zh-CN" altLang="zh-CN" sz="1500" b="1" dirty="0" smtClean="0">
                <a:solidFill>
                  <a:schemeClr val="tx1"/>
                </a:solidFill>
                <a:latin typeface="微软雅黑" panose="020B0503020204020204" charset="-122"/>
                <a:ea typeface="微软雅黑" panose="020B0503020204020204" charset="-122"/>
                <a:sym typeface="+mn-ea"/>
              </a:rPr>
              <a:t>也称</a:t>
            </a:r>
            <a:r>
              <a:rPr lang="zh-CN" altLang="zh-CN" sz="1500" b="1" dirty="0" smtClean="0">
                <a:solidFill>
                  <a:srgbClr val="FF0000"/>
                </a:solidFill>
                <a:latin typeface="微软雅黑" panose="020B0503020204020204" charset="-122"/>
                <a:ea typeface="微软雅黑" panose="020B0503020204020204" charset="-122"/>
                <a:sym typeface="+mn-ea"/>
              </a:rPr>
              <a:t>结构化范型</a:t>
            </a:r>
            <a:r>
              <a:rPr lang="zh-CN" altLang="zh-CN" sz="1500" b="1" dirty="0" smtClean="0">
                <a:solidFill>
                  <a:schemeClr val="tx1"/>
                </a:solidFill>
                <a:latin typeface="微软雅黑" panose="020B0503020204020204" charset="-122"/>
                <a:ea typeface="微软雅黑" panose="020B0503020204020204" charset="-122"/>
                <a:sym typeface="+mn-ea"/>
              </a:rPr>
              <a:t>，采用</a:t>
            </a:r>
            <a:r>
              <a:rPr lang="zh-CN" altLang="zh-CN" sz="1500" b="1" dirty="0" smtClean="0">
                <a:solidFill>
                  <a:schemeClr val="bg1"/>
                </a:solidFill>
                <a:latin typeface="微软雅黑" panose="020B0503020204020204" charset="-122"/>
                <a:ea typeface="微软雅黑" panose="020B0503020204020204" charset="-122"/>
                <a:sym typeface="+mn-ea"/>
              </a:rPr>
              <a:t>结构化技术</a:t>
            </a:r>
            <a:r>
              <a:rPr lang="zh-CN" altLang="en-US" sz="1500" b="1" dirty="0" smtClean="0">
                <a:solidFill>
                  <a:schemeClr val="tx1"/>
                </a:solidFill>
                <a:latin typeface="微软雅黑" panose="020B0503020204020204" charset="-122"/>
                <a:ea typeface="微软雅黑" panose="020B0503020204020204" charset="-122"/>
                <a:sym typeface="+mn-ea"/>
              </a:rPr>
              <a:t>（</a:t>
            </a:r>
            <a:r>
              <a:rPr lang="zh-CN" altLang="zh-CN" sz="1500" b="1" dirty="0" smtClean="0">
                <a:solidFill>
                  <a:schemeClr val="tx1"/>
                </a:solidFill>
                <a:latin typeface="微软雅黑" panose="020B0503020204020204" charset="-122"/>
                <a:ea typeface="微软雅黑" panose="020B0503020204020204" charset="-122"/>
                <a:sym typeface="+mn-ea"/>
              </a:rPr>
              <a:t>结构化分析、结构化设计和结构化实现</a:t>
            </a:r>
            <a:r>
              <a:rPr lang="zh-CN" altLang="en-US" sz="1500" b="1" dirty="0" smtClean="0">
                <a:solidFill>
                  <a:schemeClr val="tx1"/>
                </a:solidFill>
                <a:latin typeface="微软雅黑" panose="020B0503020204020204" charset="-122"/>
                <a:ea typeface="微软雅黑" panose="020B0503020204020204" charset="-122"/>
                <a:sym typeface="+mn-ea"/>
              </a:rPr>
              <a:t>）</a:t>
            </a:r>
            <a:r>
              <a:rPr lang="zh-CN" altLang="zh-CN" sz="1500" b="1" dirty="0" smtClean="0">
                <a:solidFill>
                  <a:schemeClr val="tx1"/>
                </a:solidFill>
                <a:latin typeface="微软雅黑" panose="020B0503020204020204" charset="-122"/>
                <a:ea typeface="微软雅黑" panose="020B0503020204020204" charset="-122"/>
                <a:sym typeface="+mn-ea"/>
              </a:rPr>
              <a:t>完成软件开发的各项任务，并使用适当的软件工具或软件工程环境来支持结构化技术的运用。</a:t>
            </a:r>
            <a:endParaRPr lang="zh-CN" altLang="zh-CN" sz="1500" b="1" dirty="0" smtClean="0">
              <a:solidFill>
                <a:schemeClr val="tx1"/>
              </a:solidFill>
              <a:latin typeface="微软雅黑" panose="020B0503020204020204" charset="-122"/>
              <a:ea typeface="微软雅黑" panose="020B0503020204020204" charset="-122"/>
              <a:sym typeface="+mn-ea"/>
            </a:endParaRPr>
          </a:p>
          <a:p>
            <a:pPr marL="0" lvl="1" algn="l">
              <a:lnSpc>
                <a:spcPct val="160000"/>
              </a:lnSpc>
              <a:buClrTx/>
              <a:buSzTx/>
              <a:buFontTx/>
            </a:pPr>
            <a:r>
              <a:rPr lang="zh-CN" altLang="zh-CN" sz="1500" b="1" dirty="0" smtClean="0">
                <a:solidFill>
                  <a:srgbClr val="FFFF00"/>
                </a:solidFill>
                <a:latin typeface="微软雅黑" panose="020B0503020204020204" charset="-122"/>
                <a:ea typeface="微软雅黑" panose="020B0503020204020204" charset="-122"/>
                <a:sym typeface="+mn-ea"/>
              </a:rPr>
              <a:t>特点：</a:t>
            </a:r>
            <a:endParaRPr lang="zh-CN" altLang="zh-CN" sz="1500" b="1" dirty="0" smtClean="0">
              <a:solidFill>
                <a:srgbClr val="FFFF00"/>
              </a:solidFill>
              <a:latin typeface="微软雅黑" panose="020B0503020204020204" charset="-122"/>
              <a:ea typeface="微软雅黑" panose="020B0503020204020204" charset="-122"/>
              <a:sym typeface="+mn-ea"/>
            </a:endParaRPr>
          </a:p>
          <a:p>
            <a:pPr marL="628650" lvl="2" indent="-171450" algn="l">
              <a:lnSpc>
                <a:spcPct val="160000"/>
              </a:lnSpc>
              <a:buClrTx/>
              <a:buSzTx/>
              <a:buFont typeface="Arial" panose="020B0604020202020204" pitchFamily="34" charset="0"/>
              <a:buChar char="•"/>
            </a:pPr>
            <a:r>
              <a:rPr lang="zh-CN" altLang="zh-CN" sz="1200" dirty="0">
                <a:latin typeface="Bodoni MT Black" panose="02070A03080606020203" pitchFamily="18" charset="0"/>
                <a:sym typeface="+mn-ea"/>
              </a:rPr>
              <a:t>把软件生命周期的全过程依次划分为</a:t>
            </a:r>
            <a:r>
              <a:rPr lang="zh-CN" altLang="zh-CN" sz="1200" dirty="0">
                <a:solidFill>
                  <a:srgbClr val="FF0000"/>
                </a:solidFill>
                <a:latin typeface="Bodoni MT Black" panose="02070A03080606020203" pitchFamily="18" charset="0"/>
                <a:sym typeface="+mn-ea"/>
              </a:rPr>
              <a:t>若干个阶段</a:t>
            </a:r>
            <a:r>
              <a:rPr lang="zh-CN" altLang="zh-CN" sz="1200" dirty="0">
                <a:latin typeface="Bodoni MT Black" panose="02070A03080606020203" pitchFamily="18" charset="0"/>
                <a:sym typeface="+mn-ea"/>
              </a:rPr>
              <a:t>，并顺序地完成每个阶段的任务。</a:t>
            </a:r>
            <a:endParaRPr lang="zh-CN" altLang="zh-CN" sz="1200" dirty="0">
              <a:latin typeface="Bodoni MT Black" panose="02070A03080606020203" pitchFamily="18" charset="0"/>
            </a:endParaRPr>
          </a:p>
          <a:p>
            <a:pPr marL="628650" lvl="2" indent="-171450" algn="l">
              <a:lnSpc>
                <a:spcPct val="160000"/>
              </a:lnSpc>
              <a:buClrTx/>
              <a:buSzTx/>
              <a:buFont typeface="Arial" panose="020B0604020202020204" pitchFamily="34" charset="0"/>
              <a:buChar char="•"/>
            </a:pPr>
            <a:r>
              <a:rPr lang="zh-CN" altLang="zh-CN" sz="1200" dirty="0">
                <a:latin typeface="Bodoni MT Black" panose="02070A03080606020203" pitchFamily="18" charset="0"/>
                <a:sym typeface="+mn-ea"/>
              </a:rPr>
              <a:t>每个阶段的开始和结束都有严格标准，前一阶段的结束标准就是后一阶段的开始标准。每一个阶段结束之前都必须进行正式严格的</a:t>
            </a:r>
            <a:r>
              <a:rPr lang="zh-CN" altLang="zh-CN" sz="1200" dirty="0">
                <a:solidFill>
                  <a:srgbClr val="FF0000"/>
                </a:solidFill>
                <a:latin typeface="Bodoni MT Black" panose="02070A03080606020203" pitchFamily="18" charset="0"/>
                <a:sym typeface="+mn-ea"/>
              </a:rPr>
              <a:t>技术审查</a:t>
            </a:r>
            <a:r>
              <a:rPr lang="zh-CN" altLang="zh-CN" sz="1200" dirty="0">
                <a:latin typeface="Bodoni MT Black" panose="02070A03080606020203" pitchFamily="18" charset="0"/>
                <a:sym typeface="+mn-ea"/>
              </a:rPr>
              <a:t>和</a:t>
            </a:r>
            <a:r>
              <a:rPr lang="zh-CN" altLang="zh-CN" sz="1200" dirty="0">
                <a:solidFill>
                  <a:srgbClr val="FF0000"/>
                </a:solidFill>
                <a:latin typeface="Bodoni MT Black" panose="02070A03080606020203" pitchFamily="18" charset="0"/>
                <a:sym typeface="+mn-ea"/>
              </a:rPr>
              <a:t>管理</a:t>
            </a:r>
            <a:r>
              <a:rPr lang="zh-CN" altLang="zh-CN" sz="1200" dirty="0" smtClean="0">
                <a:solidFill>
                  <a:srgbClr val="FF0000"/>
                </a:solidFill>
                <a:latin typeface="Bodoni MT Black" panose="02070A03080606020203" pitchFamily="18" charset="0"/>
                <a:sym typeface="+mn-ea"/>
              </a:rPr>
              <a:t>复审</a:t>
            </a:r>
            <a:r>
              <a:rPr lang="zh-CN" altLang="en-US" sz="1200" dirty="0" smtClean="0">
                <a:latin typeface="Bodoni MT Black" panose="02070A03080606020203" pitchFamily="18" charset="0"/>
                <a:sym typeface="+mn-ea"/>
              </a:rPr>
              <a:t>。</a:t>
            </a:r>
            <a:endParaRPr lang="zh-CN" altLang="en-US" sz="1200" dirty="0" smtClean="0">
              <a:latin typeface="Bodoni MT Black" panose="02070A03080606020203" pitchFamily="18" charset="0"/>
              <a:sym typeface="+mn-ea"/>
            </a:endParaRPr>
          </a:p>
          <a:p>
            <a:pPr marL="628650" lvl="2" indent="-171450" algn="l">
              <a:lnSpc>
                <a:spcPct val="160000"/>
              </a:lnSpc>
              <a:buClrTx/>
              <a:buSzTx/>
              <a:buFont typeface="Arial" panose="020B0604020202020204" pitchFamily="34" charset="0"/>
              <a:buChar char="•"/>
            </a:pPr>
            <a:r>
              <a:rPr lang="zh-CN" altLang="zh-CN" sz="1200" dirty="0">
                <a:latin typeface="Bodoni MT Black" panose="02070A03080606020203" pitchFamily="18" charset="0"/>
                <a:sym typeface="+mn-ea"/>
              </a:rPr>
              <a:t>每个阶段都应交出“最新式的</a:t>
            </a:r>
            <a:r>
              <a:rPr lang="zh-CN" altLang="zh-CN" sz="1200" dirty="0" smtClean="0">
                <a:latin typeface="Bodoni MT Black" panose="02070A03080606020203" pitchFamily="18" charset="0"/>
                <a:sym typeface="+mn-ea"/>
              </a:rPr>
              <a:t>”</a:t>
            </a:r>
            <a:r>
              <a:rPr lang="zh-CN" altLang="en-US" sz="1200" dirty="0" smtClean="0">
                <a:latin typeface="Bodoni MT Black" panose="02070A03080606020203" pitchFamily="18" charset="0"/>
                <a:sym typeface="+mn-ea"/>
              </a:rPr>
              <a:t>（</a:t>
            </a:r>
            <a:r>
              <a:rPr lang="zh-CN" altLang="zh-CN" sz="1200" dirty="0" smtClean="0">
                <a:latin typeface="Bodoni MT Black" panose="02070A03080606020203" pitchFamily="18" charset="0"/>
                <a:sym typeface="+mn-ea"/>
              </a:rPr>
              <a:t>即和所开发的软件完全一致的</a:t>
            </a:r>
            <a:r>
              <a:rPr lang="zh-CN" altLang="en-US" sz="1200" dirty="0" smtClean="0">
                <a:latin typeface="Bodoni MT Black" panose="02070A03080606020203" pitchFamily="18" charset="0"/>
                <a:sym typeface="+mn-ea"/>
              </a:rPr>
              <a:t>）</a:t>
            </a:r>
            <a:r>
              <a:rPr lang="zh-CN" altLang="zh-CN" sz="1200" dirty="0" smtClean="0">
                <a:latin typeface="Bodoni MT Black" panose="02070A03080606020203" pitchFamily="18" charset="0"/>
                <a:sym typeface="+mn-ea"/>
              </a:rPr>
              <a:t>高</a:t>
            </a:r>
            <a:r>
              <a:rPr lang="zh-CN" altLang="zh-CN" sz="1200" dirty="0">
                <a:latin typeface="Bodoni MT Black" panose="02070A03080606020203" pitchFamily="18" charset="0"/>
                <a:sym typeface="+mn-ea"/>
              </a:rPr>
              <a:t>质量的</a:t>
            </a:r>
            <a:r>
              <a:rPr lang="zh-CN" altLang="zh-CN" sz="1200" dirty="0">
                <a:solidFill>
                  <a:srgbClr val="FF0000"/>
                </a:solidFill>
                <a:latin typeface="Bodoni MT Black" panose="02070A03080606020203" pitchFamily="18" charset="0"/>
                <a:sym typeface="+mn-ea"/>
              </a:rPr>
              <a:t>文档资料</a:t>
            </a:r>
            <a:r>
              <a:rPr lang="zh-CN" altLang="zh-CN" sz="1200" dirty="0">
                <a:latin typeface="Bodoni MT Black" panose="02070A03080606020203" pitchFamily="18" charset="0"/>
                <a:sym typeface="+mn-ea"/>
              </a:rPr>
              <a:t>，从而保证在软件开发工程结束时有一个完整准确的软件配置交付使用</a:t>
            </a:r>
            <a:r>
              <a:rPr lang="zh-CN" altLang="zh-CN" sz="1200" dirty="0" smtClean="0">
                <a:latin typeface="Bodoni MT Black" panose="02070A03080606020203" pitchFamily="18" charset="0"/>
                <a:sym typeface="+mn-ea"/>
              </a:rPr>
              <a:t>。</a:t>
            </a:r>
            <a:endParaRPr lang="zh-CN" altLang="zh-CN" sz="1200" dirty="0" smtClean="0">
              <a:latin typeface="Bodoni MT Black" panose="02070A03080606020203" pitchFamily="18" charset="0"/>
              <a:sym typeface="+mn-ea"/>
            </a:endParaRPr>
          </a:p>
          <a:p>
            <a:pPr marL="628650" lvl="2" indent="-171450" algn="l">
              <a:lnSpc>
                <a:spcPct val="160000"/>
              </a:lnSpc>
              <a:buClrTx/>
              <a:buSzTx/>
              <a:buFont typeface="Arial" panose="020B0604020202020204" pitchFamily="34" charset="0"/>
              <a:buChar char="•"/>
            </a:pPr>
            <a:r>
              <a:rPr lang="zh-CN" altLang="zh-CN" sz="1200" dirty="0" smtClean="0">
                <a:latin typeface="Bodoni MT Black" panose="02070A03080606020203" pitchFamily="18" charset="0"/>
                <a:sym typeface="+mn-ea"/>
              </a:rPr>
              <a:t>采用</a:t>
            </a:r>
            <a:r>
              <a:rPr lang="zh-CN" altLang="zh-CN" sz="1200" dirty="0" smtClean="0">
                <a:solidFill>
                  <a:srgbClr val="FF0000"/>
                </a:solidFill>
                <a:latin typeface="Bodoni MT Black" panose="02070A03080606020203" pitchFamily="18" charset="0"/>
                <a:sym typeface="+mn-ea"/>
              </a:rPr>
              <a:t>生命周期方法学</a:t>
            </a:r>
            <a:r>
              <a:rPr lang="zh-CN" altLang="zh-CN" sz="1200" dirty="0" smtClean="0">
                <a:latin typeface="Bodoni MT Black" panose="02070A03080606020203" pitchFamily="18" charset="0"/>
                <a:sym typeface="+mn-ea"/>
              </a:rPr>
              <a:t>大大提高软件开发的成功率，软件开发的生产率也能明显提高</a:t>
            </a:r>
            <a:r>
              <a:rPr lang="zh-CN" altLang="en-US" sz="1200" dirty="0" smtClean="0">
                <a:latin typeface="Bodoni MT Black" panose="02070A03080606020203" pitchFamily="18" charset="0"/>
                <a:sym typeface="+mn-ea"/>
              </a:rPr>
              <a:t>。</a:t>
            </a:r>
            <a:endParaRPr lang="en-US" altLang="zh-CN" sz="1200" dirty="0" smtClean="0">
              <a:latin typeface="Bodoni MT Black" panose="02070A03080606020203" pitchFamily="18" charset="0"/>
            </a:endParaRPr>
          </a:p>
          <a:p>
            <a:pPr marL="0" indent="457200">
              <a:lnSpc>
                <a:spcPct val="110000"/>
              </a:lnSpc>
              <a:defRPr/>
            </a:pPr>
            <a:endParaRPr lang="en-US" altLang="zh-CN" sz="1500" dirty="0" smtClean="0">
              <a:latin typeface="Bodoni MT Black" panose="02070A03080606020203" pitchFamily="18" charset="0"/>
            </a:endParaRPr>
          </a:p>
          <a:p>
            <a:pPr marL="0" indent="457200">
              <a:lnSpc>
                <a:spcPct val="110000"/>
              </a:lnSpc>
              <a:defRPr/>
            </a:pPr>
            <a:r>
              <a:rPr lang="en-US" altLang="zh-CN" sz="1200" b="1" dirty="0">
                <a:solidFill>
                  <a:srgbClr val="FF0000"/>
                </a:solidFill>
                <a:latin typeface="Bodoni MT Black" panose="02070A03080606020203" pitchFamily="18" charset="0"/>
                <a:sym typeface="+mn-ea"/>
              </a:rPr>
              <a:t> </a:t>
            </a:r>
            <a:endParaRPr lang="en-US" altLang="zh-CN" sz="1500" b="1" dirty="0" smtClean="0">
              <a:solidFill>
                <a:prstClr val="black"/>
              </a:solidFill>
              <a:latin typeface="Bodoni MT Black" panose="02070A03080606020203" pitchFamily="18" charset="0"/>
            </a:endParaRPr>
          </a:p>
          <a:p>
            <a:pPr marL="0" indent="457200">
              <a:defRPr/>
            </a:pPr>
            <a:endParaRPr lang="en-US" altLang="zh-CN" sz="1500" dirty="0" smtClean="0">
              <a:latin typeface="Bodoni MT Black" panose="02070A03080606020203" pitchFamily="18" charset="0"/>
            </a:endParaRPr>
          </a:p>
          <a:p>
            <a:pPr marL="0" lvl="1" algn="l">
              <a:lnSpc>
                <a:spcPct val="140000"/>
              </a:lnSpc>
              <a:buClrTx/>
              <a:buSzTx/>
              <a:buFontTx/>
            </a:pPr>
            <a:endParaRPr lang="zh-CN" altLang="zh-CN" sz="1500" b="1" dirty="0" smtClean="0">
              <a:solidFill>
                <a:schemeClr val="tx1"/>
              </a:solidFill>
              <a:latin typeface="微软雅黑" panose="020B0503020204020204" charset="-122"/>
              <a:ea typeface="微软雅黑" panose="020B0503020204020204" charset="-122"/>
            </a:endParaRPr>
          </a:p>
          <a:p>
            <a:pPr marL="0" lvl="1" algn="l">
              <a:lnSpc>
                <a:spcPct val="140000"/>
              </a:lnSpc>
            </a:pPr>
            <a:endParaRPr lang="zh-CN" altLang="en-US" sz="1500" b="1" dirty="0">
              <a:solidFill>
                <a:schemeClr val="tx1"/>
              </a:solidFill>
              <a:latin typeface="微软雅黑" panose="020B0503020204020204" charset="-122"/>
              <a:ea typeface="微软雅黑" panose="020B0503020204020204" charset="-122"/>
            </a:endParaRPr>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buClrTx/>
              <a:buSzTx/>
              <a:buFontTx/>
            </a:pPr>
            <a:endParaRPr lang="zh-CN" altLang="en-US" b="1">
              <a:solidFill>
                <a:srgbClr val="FFFF00"/>
              </a:solidFill>
            </a:endParaRPr>
          </a:p>
        </p:txBody>
      </p:sp>
      <p:sp>
        <p:nvSpPr>
          <p:cNvPr id="4" name="矩形 3"/>
          <p:cNvSpPr/>
          <p:nvPr/>
        </p:nvSpPr>
        <p:spPr>
          <a:xfrm>
            <a:off x="4836160" y="3496310"/>
            <a:ext cx="7355840" cy="336105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a:p>
            <a:pPr algn="ctr"/>
            <a:endParaRPr lang="zh-CN" altLang="en-US"/>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endParaRPr lang="zh-CN" altLang="en-US" b="1">
              <a:solidFill>
                <a:srgbClr val="FFFF00"/>
              </a:solidFill>
            </a:endParaRPr>
          </a:p>
          <a:p>
            <a:pPr algn="ctr">
              <a:lnSpc>
                <a:spcPct val="130000"/>
              </a:lnSpc>
            </a:pPr>
            <a:endParaRPr lang="zh-CN" altLang="en-US" b="1">
              <a:solidFill>
                <a:srgbClr val="FFFF00"/>
              </a:solidFill>
            </a:endParaRPr>
          </a:p>
          <a:p>
            <a:pPr algn="ctr">
              <a:lnSpc>
                <a:spcPct val="130000"/>
              </a:lnSpc>
            </a:pPr>
            <a:r>
              <a:rPr lang="zh-CN" altLang="en-US" b="1">
                <a:solidFill>
                  <a:srgbClr val="FFFF00"/>
                </a:solidFill>
              </a:rPr>
              <a:t>面向对象方法学</a:t>
            </a:r>
            <a:endParaRPr lang="zh-CN" altLang="en-US" b="1">
              <a:solidFill>
                <a:srgbClr val="FFFF00"/>
              </a:solidFill>
            </a:endParaRPr>
          </a:p>
          <a:p>
            <a:pPr algn="l">
              <a:lnSpc>
                <a:spcPct val="140000"/>
              </a:lnSpc>
            </a:pPr>
            <a:r>
              <a:rPr lang="zh-CN" altLang="zh-CN" sz="1500" b="1" dirty="0" smtClean="0">
                <a:solidFill>
                  <a:schemeClr val="tx1"/>
                </a:solidFill>
                <a:latin typeface="微软雅黑" panose="020B0503020204020204" charset="-122"/>
                <a:ea typeface="微软雅黑" panose="020B0503020204020204" charset="-122"/>
              </a:rPr>
              <a:t>与传</a:t>
            </a:r>
            <a:r>
              <a:rPr lang="zh-CN" altLang="zh-CN" sz="1500" b="1" dirty="0" smtClean="0">
                <a:solidFill>
                  <a:schemeClr val="tx1"/>
                </a:solidFill>
                <a:latin typeface="微软雅黑" panose="020B0503020204020204" charset="-122"/>
                <a:ea typeface="微软雅黑" panose="020B0503020204020204" charset="-122"/>
                <a:sym typeface="+mn-ea"/>
              </a:rPr>
              <a:t>统方法</a:t>
            </a:r>
            <a:r>
              <a:rPr lang="zh-CN" altLang="zh-CN" sz="1500" b="1" dirty="0" smtClean="0">
                <a:solidFill>
                  <a:srgbClr val="FF0000"/>
                </a:solidFill>
                <a:latin typeface="微软雅黑" panose="020B0503020204020204" charset="-122"/>
                <a:ea typeface="微软雅黑" panose="020B0503020204020204" charset="-122"/>
                <a:sym typeface="+mn-ea"/>
              </a:rPr>
              <a:t>相反</a:t>
            </a:r>
            <a:r>
              <a:rPr lang="zh-CN" altLang="zh-CN" sz="1500" b="1" dirty="0" smtClean="0">
                <a:solidFill>
                  <a:schemeClr val="tx1"/>
                </a:solidFill>
                <a:latin typeface="微软雅黑" panose="020B0503020204020204" charset="-122"/>
                <a:ea typeface="微软雅黑" panose="020B0503020204020204" charset="-122"/>
                <a:sym typeface="+mn-ea"/>
              </a:rPr>
              <a:t>，</a:t>
            </a:r>
            <a:r>
              <a:rPr lang="zh-CN" altLang="zh-CN" sz="1500" b="1" dirty="0" smtClean="0">
                <a:solidFill>
                  <a:srgbClr val="FF0000"/>
                </a:solidFill>
                <a:latin typeface="微软雅黑" panose="020B0503020204020204" charset="-122"/>
                <a:ea typeface="微软雅黑" panose="020B0503020204020204" charset="-122"/>
                <a:sym typeface="+mn-ea"/>
              </a:rPr>
              <a:t>面向对象方法</a:t>
            </a:r>
            <a:r>
              <a:rPr lang="zh-CN" altLang="zh-CN" sz="1500" b="1" dirty="0" smtClean="0">
                <a:solidFill>
                  <a:schemeClr val="tx1"/>
                </a:solidFill>
                <a:latin typeface="微软雅黑" panose="020B0503020204020204" charset="-122"/>
                <a:ea typeface="微软雅黑" panose="020B0503020204020204" charset="-122"/>
                <a:sym typeface="+mn-ea"/>
              </a:rPr>
              <a:t>把</a:t>
            </a:r>
            <a:r>
              <a:rPr lang="zh-CN" altLang="zh-CN" sz="1500" b="1" dirty="0" smtClean="0">
                <a:solidFill>
                  <a:schemeClr val="bg1"/>
                </a:solidFill>
                <a:latin typeface="微软雅黑" panose="020B0503020204020204" charset="-122"/>
                <a:ea typeface="微软雅黑" panose="020B0503020204020204" charset="-122"/>
                <a:sym typeface="+mn-ea"/>
              </a:rPr>
              <a:t>数据</a:t>
            </a:r>
            <a:r>
              <a:rPr lang="zh-CN" altLang="zh-CN" sz="1500" b="1" dirty="0" smtClean="0">
                <a:solidFill>
                  <a:schemeClr val="tx1"/>
                </a:solidFill>
                <a:latin typeface="微软雅黑" panose="020B0503020204020204" charset="-122"/>
                <a:ea typeface="微软雅黑" panose="020B0503020204020204" charset="-122"/>
                <a:sym typeface="+mn-ea"/>
              </a:rPr>
              <a:t>和</a:t>
            </a:r>
            <a:r>
              <a:rPr lang="zh-CN" altLang="zh-CN" sz="1500" b="1" dirty="0" smtClean="0">
                <a:solidFill>
                  <a:schemeClr val="bg1"/>
                </a:solidFill>
                <a:latin typeface="微软雅黑" panose="020B0503020204020204" charset="-122"/>
                <a:ea typeface="微软雅黑" panose="020B0503020204020204" charset="-122"/>
                <a:sym typeface="+mn-ea"/>
              </a:rPr>
              <a:t>行为</a:t>
            </a:r>
            <a:r>
              <a:rPr lang="zh-CN" altLang="zh-CN" sz="1500" b="1" dirty="0" smtClean="0">
                <a:solidFill>
                  <a:schemeClr val="tx1"/>
                </a:solidFill>
                <a:latin typeface="微软雅黑" panose="020B0503020204020204" charset="-122"/>
                <a:ea typeface="微软雅黑" panose="020B0503020204020204" charset="-122"/>
                <a:sym typeface="+mn-ea"/>
              </a:rPr>
              <a:t>看成是同等重要的，它是一种以</a:t>
            </a:r>
            <a:r>
              <a:rPr lang="zh-CN" altLang="zh-CN" sz="1500" b="1" dirty="0" smtClean="0">
                <a:solidFill>
                  <a:schemeClr val="bg1"/>
                </a:solidFill>
                <a:latin typeface="微软雅黑" panose="020B0503020204020204" charset="-122"/>
                <a:ea typeface="微软雅黑" panose="020B0503020204020204" charset="-122"/>
                <a:sym typeface="+mn-ea"/>
              </a:rPr>
              <a:t>数据</a:t>
            </a:r>
            <a:r>
              <a:rPr lang="zh-CN" altLang="zh-CN" sz="1500" b="1" dirty="0" smtClean="0">
                <a:solidFill>
                  <a:schemeClr val="tx1"/>
                </a:solidFill>
                <a:latin typeface="微软雅黑" panose="020B0503020204020204" charset="-122"/>
                <a:ea typeface="微软雅黑" panose="020B0503020204020204" charset="-122"/>
                <a:sym typeface="+mn-ea"/>
              </a:rPr>
              <a:t>为主线，把数据和对数据的操作紧密地结合起来的方法。</a:t>
            </a:r>
            <a:endParaRPr lang="zh-CN" altLang="zh-CN" sz="1500" b="1" dirty="0" smtClean="0">
              <a:solidFill>
                <a:schemeClr val="tx1"/>
              </a:solidFill>
              <a:latin typeface="微软雅黑" panose="020B0503020204020204" charset="-122"/>
              <a:ea typeface="微软雅黑" panose="020B0503020204020204" charset="-122"/>
              <a:sym typeface="+mn-ea"/>
            </a:endParaRPr>
          </a:p>
          <a:p>
            <a:pPr algn="l">
              <a:lnSpc>
                <a:spcPct val="140000"/>
              </a:lnSpc>
            </a:pPr>
            <a:r>
              <a:rPr lang="en-US" altLang="zh-CN" sz="1500" b="1" dirty="0" smtClean="0">
                <a:solidFill>
                  <a:srgbClr val="FFFF00"/>
                </a:solidFill>
                <a:latin typeface="微软雅黑" panose="020B0503020204020204" charset="-122"/>
                <a:ea typeface="微软雅黑" panose="020B0503020204020204" charset="-122"/>
                <a:sym typeface="+mn-ea"/>
              </a:rPr>
              <a:t>4</a:t>
            </a:r>
            <a:r>
              <a:rPr lang="zh-CN" altLang="zh-CN" sz="1500" b="1" dirty="0" smtClean="0">
                <a:solidFill>
                  <a:srgbClr val="FFFF00"/>
                </a:solidFill>
                <a:latin typeface="微软雅黑" panose="020B0503020204020204" charset="-122"/>
                <a:ea typeface="微软雅黑" panose="020B0503020204020204" charset="-122"/>
                <a:sym typeface="+mn-ea"/>
              </a:rPr>
              <a:t>个要点：</a:t>
            </a:r>
            <a:endParaRPr lang="zh-CN" altLang="zh-CN" sz="1500" b="1" dirty="0" smtClean="0">
              <a:solidFill>
                <a:srgbClr val="FFFF00"/>
              </a:solidFill>
              <a:latin typeface="微软雅黑" panose="020B0503020204020204" charset="-122"/>
              <a:ea typeface="微软雅黑" panose="020B0503020204020204" charset="-122"/>
              <a:sym typeface="+mn-ea"/>
            </a:endParaRPr>
          </a:p>
          <a:p>
            <a:pPr marL="628650" lvl="1" indent="-171450" algn="l">
              <a:lnSpc>
                <a:spcPct val="140000"/>
              </a:lnSpc>
              <a:buFont typeface="Arial" panose="020B0604020202020204" pitchFamily="34" charset="0"/>
              <a:buChar char="•"/>
            </a:pPr>
            <a:r>
              <a:rPr lang="zh-CN" altLang="zh-CN" sz="1200" dirty="0" smtClean="0">
                <a:latin typeface="微软雅黑" panose="020B0503020204020204" charset="-122"/>
                <a:ea typeface="微软雅黑" panose="020B0503020204020204" charset="-122"/>
                <a:cs typeface="微软雅黑" panose="020B0503020204020204" charset="-122"/>
                <a:sym typeface="+mn-ea"/>
              </a:rPr>
              <a:t>把</a:t>
            </a:r>
            <a:r>
              <a:rPr lang="zh-CN"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对象</a:t>
            </a:r>
            <a:r>
              <a:rPr lang="en-US"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(object)</a:t>
            </a:r>
            <a:r>
              <a:rPr lang="zh-CN" altLang="zh-CN" sz="1200" dirty="0" smtClean="0">
                <a:latin typeface="微软雅黑" panose="020B0503020204020204" charset="-122"/>
                <a:ea typeface="微软雅黑" panose="020B0503020204020204" charset="-122"/>
                <a:cs typeface="微软雅黑" panose="020B0503020204020204" charset="-122"/>
                <a:sym typeface="+mn-ea"/>
              </a:rPr>
              <a:t>作为融合了数据及在数据上的操作行为的统一的软件构件</a:t>
            </a:r>
            <a:endParaRPr lang="zh-CN" altLang="zh-CN" sz="1200" b="1" dirty="0" smtClean="0">
              <a:solidFill>
                <a:schemeClr val="tx1"/>
              </a:solidFill>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40000"/>
              </a:lnSpc>
              <a:buFont typeface="Arial" panose="020B0604020202020204" pitchFamily="34" charset="0"/>
              <a:buChar char="•"/>
            </a:pPr>
            <a:r>
              <a:rPr lang="zh-CN" altLang="zh-CN" sz="1200" dirty="0" smtClean="0">
                <a:latin typeface="微软雅黑" panose="020B0503020204020204" charset="-122"/>
                <a:ea typeface="微软雅黑" panose="020B0503020204020204" charset="-122"/>
                <a:cs typeface="微软雅黑" panose="020B0503020204020204" charset="-122"/>
                <a:sym typeface="+mn-ea"/>
              </a:rPr>
              <a:t>把所有对象都划分成</a:t>
            </a:r>
            <a:r>
              <a:rPr lang="zh-CN"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类</a:t>
            </a:r>
            <a:r>
              <a:rPr lang="en-US"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(class)</a:t>
            </a:r>
            <a:r>
              <a:rPr lang="zh-CN" altLang="zh-CN" sz="1200" dirty="0" smtClean="0">
                <a:latin typeface="微软雅黑" panose="020B0503020204020204" charset="-122"/>
                <a:ea typeface="微软雅黑" panose="020B0503020204020204" charset="-122"/>
                <a:cs typeface="微软雅黑" panose="020B0503020204020204" charset="-122"/>
                <a:sym typeface="+mn-ea"/>
              </a:rPr>
              <a:t>。</a:t>
            </a:r>
            <a:endParaRPr lang="zh-CN" altLang="zh-CN" sz="1200" dirty="0" smtClean="0">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40000"/>
              </a:lnSpc>
              <a:buFont typeface="Arial" panose="020B0604020202020204" pitchFamily="34" charset="0"/>
              <a:buChar char="•"/>
            </a:pPr>
            <a:r>
              <a:rPr lang="zh-CN" altLang="zh-CN" sz="1200" dirty="0" smtClean="0">
                <a:latin typeface="微软雅黑" panose="020B0503020204020204" charset="-122"/>
                <a:ea typeface="微软雅黑" panose="020B0503020204020204" charset="-122"/>
                <a:cs typeface="微软雅黑" panose="020B0503020204020204" charset="-122"/>
                <a:sym typeface="+mn-ea"/>
              </a:rPr>
              <a:t>按照父类与子类的关系，把若干个相关类组成一个</a:t>
            </a:r>
            <a:r>
              <a:rPr lang="zh-CN"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层次</a:t>
            </a:r>
            <a:r>
              <a:rPr lang="zh-CN" altLang="zh-CN" sz="1200" dirty="0" smtClean="0">
                <a:latin typeface="微软雅黑" panose="020B0503020204020204" charset="-122"/>
                <a:ea typeface="微软雅黑" panose="020B0503020204020204" charset="-122"/>
                <a:cs typeface="微软雅黑" panose="020B0503020204020204" charset="-122"/>
                <a:sym typeface="+mn-ea"/>
              </a:rPr>
              <a:t>结构的系统。</a:t>
            </a:r>
            <a:endParaRPr lang="zh-CN" altLang="zh-CN" sz="1200" dirty="0" smtClean="0">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40000"/>
              </a:lnSpc>
              <a:buFont typeface="Arial" panose="020B0604020202020204" pitchFamily="34" charset="0"/>
              <a:buChar char="•"/>
            </a:pPr>
            <a:r>
              <a:rPr lang="zh-CN" altLang="zh-CN" sz="1200" dirty="0" smtClean="0">
                <a:latin typeface="微软雅黑" panose="020B0503020204020204" charset="-122"/>
                <a:ea typeface="微软雅黑" panose="020B0503020204020204" charset="-122"/>
                <a:cs typeface="微软雅黑" panose="020B0503020204020204" charset="-122"/>
                <a:sym typeface="+mn-ea"/>
              </a:rPr>
              <a:t>对象彼此间仅能通过发送</a:t>
            </a:r>
            <a:r>
              <a:rPr lang="zh-CN" altLang="zh-CN" sz="1200" dirty="0" smtClean="0">
                <a:solidFill>
                  <a:srgbClr val="FF0000"/>
                </a:solidFill>
                <a:latin typeface="微软雅黑" panose="020B0503020204020204" charset="-122"/>
                <a:ea typeface="微软雅黑" panose="020B0503020204020204" charset="-122"/>
                <a:cs typeface="微软雅黑" panose="020B0503020204020204" charset="-122"/>
                <a:sym typeface="+mn-ea"/>
              </a:rPr>
              <a:t>消息</a:t>
            </a:r>
            <a:r>
              <a:rPr lang="zh-CN" altLang="zh-CN" sz="1200" dirty="0" smtClean="0">
                <a:latin typeface="微软雅黑" panose="020B0503020204020204" charset="-122"/>
                <a:ea typeface="微软雅黑" panose="020B0503020204020204" charset="-122"/>
                <a:cs typeface="微软雅黑" panose="020B0503020204020204" charset="-122"/>
                <a:sym typeface="+mn-ea"/>
              </a:rPr>
              <a:t>互相联系</a:t>
            </a:r>
            <a:endParaRPr lang="zh-CN" altLang="zh-CN" sz="1200" dirty="0" smtClean="0">
              <a:latin typeface="微软雅黑" panose="020B0503020204020204" charset="-122"/>
              <a:ea typeface="微软雅黑" panose="020B0503020204020204" charset="-122"/>
              <a:cs typeface="微软雅黑" panose="020B0503020204020204" charset="-122"/>
              <a:sym typeface="+mn-ea"/>
            </a:endParaRPr>
          </a:p>
          <a:p>
            <a:pPr marL="0" lvl="1" algn="l">
              <a:lnSpc>
                <a:spcPct val="140000"/>
              </a:lnSpc>
              <a:buClrTx/>
              <a:buSzTx/>
              <a:buFontTx/>
              <a:buNone/>
            </a:pPr>
            <a:r>
              <a:rPr lang="zh-CN" altLang="zh-CN" sz="1500" b="1" dirty="0" smtClean="0">
                <a:solidFill>
                  <a:srgbClr val="FFFF00"/>
                </a:solidFill>
                <a:latin typeface="微软雅黑" panose="020B0503020204020204" charset="-122"/>
                <a:ea typeface="微软雅黑" panose="020B0503020204020204" charset="-122"/>
                <a:sym typeface="+mn-ea"/>
              </a:rPr>
              <a:t>优点：</a:t>
            </a:r>
            <a:endParaRPr lang="zh-CN" altLang="zh-CN" sz="1500" b="1" dirty="0" smtClean="0">
              <a:solidFill>
                <a:srgbClr val="FFFF00"/>
              </a:solidFill>
              <a:latin typeface="微软雅黑" panose="020B0503020204020204" charset="-122"/>
              <a:ea typeface="微软雅黑" panose="020B0503020204020204" charset="-122"/>
              <a:sym typeface="+mn-ea"/>
            </a:endParaRPr>
          </a:p>
          <a:p>
            <a:pPr lvl="1" indent="0" algn="l">
              <a:lnSpc>
                <a:spcPct val="140000"/>
              </a:lnSpc>
              <a:buNone/>
              <a:defRPr/>
            </a:pPr>
            <a:r>
              <a:rPr lang="zh-CN" altLang="zh-CN" sz="1200" dirty="0">
                <a:latin typeface="微软雅黑" panose="020B0503020204020204" charset="-122"/>
                <a:ea typeface="微软雅黑" panose="020B0503020204020204" charset="-122"/>
                <a:cs typeface="微软雅黑" panose="020B0503020204020204" charset="-122"/>
                <a:sym typeface="+mn-ea"/>
              </a:rPr>
              <a:t>降低了软件产品的复杂性，提高了软件的可理解性，简化了软件的开发和维护</a:t>
            </a:r>
            <a:r>
              <a:rPr lang="zh-CN" altLang="zh-CN" sz="1200" dirty="0" smtClean="0">
                <a:latin typeface="微软雅黑" panose="020B0503020204020204" charset="-122"/>
                <a:ea typeface="微软雅黑" panose="020B0503020204020204" charset="-122"/>
                <a:cs typeface="微软雅黑" panose="020B0503020204020204" charset="-122"/>
                <a:sym typeface="+mn-ea"/>
              </a:rPr>
              <a:t>工作</a:t>
            </a:r>
            <a:r>
              <a:rPr lang="zh-CN" altLang="en-US" sz="1200" dirty="0" smtClean="0">
                <a:latin typeface="微软雅黑" panose="020B0503020204020204" charset="-122"/>
                <a:ea typeface="微软雅黑" panose="020B0503020204020204" charset="-122"/>
                <a:cs typeface="微软雅黑" panose="020B0503020204020204" charset="-122"/>
                <a:sym typeface="+mn-ea"/>
              </a:rPr>
              <a:t>。</a:t>
            </a:r>
            <a:endParaRPr lang="en-US" altLang="zh-CN" sz="1200" b="1" dirty="0">
              <a:latin typeface="微软雅黑" panose="020B0503020204020204" charset="-122"/>
              <a:ea typeface="微软雅黑" panose="020B0503020204020204" charset="-122"/>
              <a:cs typeface="微软雅黑" panose="020B0503020204020204" charset="-122"/>
            </a:endParaRPr>
          </a:p>
          <a:p>
            <a:pPr lvl="1" indent="0" algn="l">
              <a:lnSpc>
                <a:spcPct val="140000"/>
              </a:lnSpc>
              <a:buNone/>
              <a:defRPr/>
            </a:pPr>
            <a:r>
              <a:rPr lang="zh-CN" altLang="zh-CN" sz="1200" dirty="0" smtClean="0">
                <a:latin typeface="微软雅黑" panose="020B0503020204020204" charset="-122"/>
                <a:ea typeface="微软雅黑" panose="020B0503020204020204" charset="-122"/>
                <a:cs typeface="微软雅黑" panose="020B0503020204020204" charset="-122"/>
                <a:sym typeface="+mn-ea"/>
              </a:rPr>
              <a:t>面向对象</a:t>
            </a:r>
            <a:r>
              <a:rPr lang="zh-CN" altLang="zh-CN" sz="1200" dirty="0">
                <a:latin typeface="微软雅黑" panose="020B0503020204020204" charset="-122"/>
                <a:ea typeface="微软雅黑" panose="020B0503020204020204" charset="-122"/>
                <a:cs typeface="微软雅黑" panose="020B0503020204020204" charset="-122"/>
                <a:sym typeface="+mn-ea"/>
              </a:rPr>
              <a:t>方法特有的</a:t>
            </a:r>
            <a:r>
              <a:rPr lang="zh-CN"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继承性</a:t>
            </a:r>
            <a:r>
              <a:rPr lang="zh-CN" altLang="zh-CN" sz="1200" dirty="0">
                <a:latin typeface="微软雅黑" panose="020B0503020204020204" charset="-122"/>
                <a:ea typeface="微软雅黑" panose="020B0503020204020204" charset="-122"/>
                <a:cs typeface="微软雅黑" panose="020B0503020204020204" charset="-122"/>
                <a:sym typeface="+mn-ea"/>
              </a:rPr>
              <a:t>和</a:t>
            </a:r>
            <a:r>
              <a:rPr lang="zh-CN"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多态性</a:t>
            </a:r>
            <a:r>
              <a:rPr lang="zh-CN" altLang="zh-CN" sz="1200" dirty="0">
                <a:latin typeface="微软雅黑" panose="020B0503020204020204" charset="-122"/>
                <a:ea typeface="微软雅黑" panose="020B0503020204020204" charset="-122"/>
                <a:cs typeface="微软雅黑" panose="020B0503020204020204" charset="-122"/>
                <a:sym typeface="+mn-ea"/>
              </a:rPr>
              <a:t>，进一步提高了面向对象软件的</a:t>
            </a:r>
            <a:r>
              <a:rPr lang="zh-CN" altLang="zh-CN" sz="1200" dirty="0">
                <a:solidFill>
                  <a:srgbClr val="FF0000"/>
                </a:solidFill>
                <a:latin typeface="微软雅黑" panose="020B0503020204020204" charset="-122"/>
                <a:ea typeface="微软雅黑" panose="020B0503020204020204" charset="-122"/>
                <a:cs typeface="微软雅黑" panose="020B0503020204020204" charset="-122"/>
                <a:sym typeface="+mn-ea"/>
              </a:rPr>
              <a:t>可重用性</a:t>
            </a:r>
            <a:r>
              <a:rPr lang="zh-CN" altLang="zh-CN" sz="1200" dirty="0" smtClean="0">
                <a:latin typeface="微软雅黑" panose="020B0503020204020204" charset="-122"/>
                <a:ea typeface="微软雅黑" panose="020B0503020204020204" charset="-122"/>
                <a:cs typeface="微软雅黑" panose="020B0503020204020204" charset="-122"/>
                <a:sym typeface="+mn-ea"/>
              </a:rPr>
              <a:t>。</a:t>
            </a:r>
            <a:endParaRPr lang="zh-CN" altLang="zh-CN" sz="1200" dirty="0">
              <a:latin typeface="微软雅黑" panose="020B0503020204020204" charset="-122"/>
              <a:ea typeface="微软雅黑" panose="020B0503020204020204" charset="-122"/>
              <a:cs typeface="微软雅黑" panose="020B0503020204020204" charset="-122"/>
            </a:endParaRPr>
          </a:p>
          <a:p>
            <a:pPr algn="ctr"/>
            <a:endParaRPr lang="en-US" altLang="zh-CN" sz="1500" dirty="0">
              <a:latin typeface="+mn-ea"/>
              <a:ea typeface="+mn-ea"/>
            </a:endParaRPr>
          </a:p>
          <a:p>
            <a:pPr algn="ctr"/>
            <a:endParaRPr lang="en-US" altLang="zh-CN" sz="1500" dirty="0" smtClean="0">
              <a:latin typeface="+mn-ea"/>
              <a:ea typeface="+mn-ea"/>
            </a:endParaRPr>
          </a:p>
          <a:p>
            <a:pPr algn="ctr"/>
            <a:endParaRPr lang="zh-CN" altLang="zh-CN" sz="1500" b="1" dirty="0" smtClean="0">
              <a:solidFill>
                <a:schemeClr val="tx1"/>
              </a:solidFill>
              <a:latin typeface="微软雅黑" panose="020B0503020204020204" charset="-122"/>
              <a:ea typeface="微软雅黑" panose="020B0503020204020204" charset="-122"/>
            </a:endParaRPr>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p:txBody>
      </p:sp>
      <p:pic>
        <p:nvPicPr>
          <p:cNvPr id="5" name="图片 4"/>
          <p:cNvPicPr>
            <a:picLocks noChangeAspect="1"/>
          </p:cNvPicPr>
          <p:nvPr/>
        </p:nvPicPr>
        <p:blipFill>
          <a:blip r:embed="rId3"/>
          <a:stretch>
            <a:fillRect/>
          </a:stretch>
        </p:blipFill>
        <p:spPr>
          <a:xfrm>
            <a:off x="0" y="1521460"/>
            <a:ext cx="4836160" cy="197485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08575" y="42750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软件生命周期</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167005" y="1214120"/>
            <a:ext cx="4587240" cy="102616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zh-CN" altLang="zh-CN" sz="1400" b="1" dirty="0">
                <a:solidFill>
                  <a:srgbClr val="FF0000"/>
                </a:solidFill>
                <a:latin typeface="Bodoni MT Black" panose="02070A03080606020203" pitchFamily="18" charset="0"/>
                <a:sym typeface="+mn-ea"/>
              </a:rPr>
              <a:t>软件生命周期</a:t>
            </a:r>
            <a:r>
              <a:rPr lang="zh-CN" altLang="zh-CN" sz="1400" b="1" dirty="0">
                <a:latin typeface="Bodoni MT Black" panose="02070A03080606020203" pitchFamily="18" charset="0"/>
                <a:sym typeface="+mn-ea"/>
              </a:rPr>
              <a:t>又称为软件生存周期或系统开发生命周期，是软件的</a:t>
            </a:r>
            <a:r>
              <a:rPr lang="zh-CN" altLang="zh-CN" sz="1400" b="1" dirty="0">
                <a:solidFill>
                  <a:srgbClr val="FFFF00"/>
                </a:solidFill>
                <a:latin typeface="Bodoni MT Black" panose="02070A03080606020203" pitchFamily="18" charset="0"/>
                <a:sym typeface="+mn-ea"/>
              </a:rPr>
              <a:t>产生</a:t>
            </a:r>
            <a:r>
              <a:rPr lang="zh-CN" altLang="zh-CN" sz="1400" b="1" dirty="0">
                <a:latin typeface="Bodoni MT Black" panose="02070A03080606020203" pitchFamily="18" charset="0"/>
                <a:sym typeface="+mn-ea"/>
              </a:rPr>
              <a:t>直到</a:t>
            </a:r>
            <a:r>
              <a:rPr lang="zh-CN" altLang="zh-CN" sz="1400" b="1" dirty="0">
                <a:solidFill>
                  <a:srgbClr val="FFFF00"/>
                </a:solidFill>
                <a:latin typeface="Bodoni MT Black" panose="02070A03080606020203" pitchFamily="18" charset="0"/>
                <a:sym typeface="+mn-ea"/>
              </a:rPr>
              <a:t>报废</a:t>
            </a:r>
            <a:r>
              <a:rPr lang="zh-CN" altLang="zh-CN" sz="1400" b="1" dirty="0">
                <a:latin typeface="Bodoni MT Black" panose="02070A03080606020203" pitchFamily="18" charset="0"/>
                <a:sym typeface="+mn-ea"/>
              </a:rPr>
              <a:t>的生命周期。</a:t>
            </a:r>
            <a:endParaRPr lang="zh-CN" altLang="zh-CN" sz="1400" b="1" dirty="0">
              <a:latin typeface="Bodoni MT Black" panose="02070A03080606020203" pitchFamily="18" charset="0"/>
              <a:sym typeface="+mn-ea"/>
            </a:endParaRPr>
          </a:p>
          <a:p>
            <a:pPr marL="0" indent="0">
              <a:spcBef>
                <a:spcPts val="0"/>
              </a:spcBef>
              <a:buNone/>
            </a:pPr>
            <a:endParaRPr lang="zh-CN" altLang="zh-CN" sz="1500" dirty="0">
              <a:latin typeface="Bodoni MT Black" panose="02070A03080606020203" pitchFamily="18" charset="0"/>
              <a:sym typeface="+mn-ea"/>
            </a:endParaRPr>
          </a:p>
          <a:p>
            <a:pPr marL="0" indent="0">
              <a:spcBef>
                <a:spcPts val="0"/>
              </a:spcBef>
              <a:buNone/>
            </a:pPr>
            <a:endParaRPr lang="zh-CN" altLang="zh-CN" sz="1500" dirty="0">
              <a:latin typeface="Bodoni MT Black" panose="02070A03080606020203" pitchFamily="18" charset="0"/>
              <a:sym typeface="+mn-ea"/>
            </a:endParaRPr>
          </a:p>
          <a:p>
            <a:pPr marL="0" indent="0">
              <a:spcBef>
                <a:spcPts val="0"/>
              </a:spcBef>
              <a:buNone/>
            </a:pPr>
            <a:endParaRPr lang="zh-CN" altLang="zh-CN" sz="1500" dirty="0">
              <a:latin typeface="Bodoni MT Black" panose="02070A03080606020203" pitchFamily="18" charset="0"/>
              <a:sym typeface="+mn-ea"/>
            </a:endParaRPr>
          </a:p>
          <a:p>
            <a:pPr marL="0" indent="0">
              <a:spcBef>
                <a:spcPts val="0"/>
              </a:spcBef>
              <a:buNone/>
            </a:pPr>
            <a:endParaRPr lang="zh-CN" altLang="zh-CN" sz="1500" dirty="0">
              <a:latin typeface="Bodoni MT Black" panose="02070A03080606020203" pitchFamily="18" charset="0"/>
              <a:sym typeface="+mn-ea"/>
            </a:endParaRPr>
          </a:p>
        </p:txBody>
      </p:sp>
      <p:sp>
        <p:nvSpPr>
          <p:cNvPr id="2" name="文本框 1"/>
          <p:cNvSpPr txBox="1"/>
          <p:nvPr/>
        </p:nvSpPr>
        <p:spPr>
          <a:xfrm>
            <a:off x="167005" y="4878705"/>
            <a:ext cx="4493260" cy="2028190"/>
          </a:xfrm>
          <a:prstGeom prst="rect">
            <a:avLst/>
          </a:prstGeom>
          <a:noFill/>
        </p:spPr>
        <p:txBody>
          <a:bodyPr wrap="square" rtlCol="0">
            <a:spAutoFit/>
          </a:bodyPr>
          <a:p>
            <a:pPr>
              <a:lnSpc>
                <a:spcPct val="160000"/>
              </a:lnSpc>
            </a:pPr>
            <a:r>
              <a:rPr lang="zh-CN" altLang="zh-CN" sz="1400" dirty="0">
                <a:solidFill>
                  <a:schemeClr val="bg1"/>
                </a:solidFill>
                <a:latin typeface="Bodoni MT Black" panose="02070A03080606020203" pitchFamily="18" charset="0"/>
                <a:sym typeface="+mn-ea"/>
              </a:rPr>
              <a:t>这种按</a:t>
            </a:r>
            <a:r>
              <a:rPr lang="zh-CN" altLang="zh-CN" sz="1400" b="1" dirty="0">
                <a:solidFill>
                  <a:srgbClr val="FFFF00"/>
                </a:solidFill>
                <a:latin typeface="Bodoni MT Black" panose="02070A03080606020203" pitchFamily="18" charset="0"/>
                <a:sym typeface="+mn-ea"/>
              </a:rPr>
              <a:t>时间分程</a:t>
            </a:r>
            <a:r>
              <a:rPr lang="zh-CN" altLang="zh-CN" sz="1400" dirty="0">
                <a:solidFill>
                  <a:schemeClr val="bg1"/>
                </a:solidFill>
                <a:latin typeface="Bodoni MT Black" panose="02070A03080606020203" pitchFamily="18" charset="0"/>
                <a:sym typeface="+mn-ea"/>
              </a:rPr>
              <a:t>的思想方法是软件工程中的一种思想原则，即按部就班、逐步推进，每个阶段都要有定义、工作、审查、形成文档以供交流或备查，以提高软件的质量。但随着新的面向对象的设计方法和技术的成熟，软件生命周期设计方法的指导意义正在逐步减少。</a:t>
            </a:r>
            <a:endParaRPr lang="zh-CN" altLang="zh-CN" sz="1400" dirty="0">
              <a:solidFill>
                <a:schemeClr val="bg1"/>
              </a:solidFill>
              <a:latin typeface="Bodoni MT Black" panose="02070A03080606020203" pitchFamily="18" charset="0"/>
              <a:sym typeface="+mn-ea"/>
            </a:endParaRPr>
          </a:p>
          <a:p>
            <a:endParaRPr lang="zh-CN" altLang="zh-CN" sz="1400" dirty="0">
              <a:solidFill>
                <a:schemeClr val="bg1"/>
              </a:solidFill>
              <a:latin typeface="Bodoni MT Black" panose="02070A03080606020203" pitchFamily="18" charset="0"/>
              <a:sym typeface="+mn-ea"/>
            </a:endParaRPr>
          </a:p>
        </p:txBody>
      </p:sp>
      <p:pic>
        <p:nvPicPr>
          <p:cNvPr id="5" name="图片 4"/>
          <p:cNvPicPr>
            <a:picLocks noChangeAspect="1"/>
          </p:cNvPicPr>
          <p:nvPr/>
        </p:nvPicPr>
        <p:blipFill>
          <a:blip r:embed="rId3"/>
          <a:stretch>
            <a:fillRect/>
          </a:stretch>
        </p:blipFill>
        <p:spPr>
          <a:xfrm>
            <a:off x="4832350" y="0"/>
            <a:ext cx="7340600" cy="3323590"/>
          </a:xfrm>
          <a:prstGeom prst="rect">
            <a:avLst/>
          </a:prstGeom>
        </p:spPr>
      </p:pic>
      <p:pic>
        <p:nvPicPr>
          <p:cNvPr id="12" name="图片 11"/>
          <p:cNvPicPr>
            <a:picLocks noChangeAspect="1"/>
          </p:cNvPicPr>
          <p:nvPr/>
        </p:nvPicPr>
        <p:blipFill>
          <a:blip r:embed="rId4"/>
          <a:stretch>
            <a:fillRect/>
          </a:stretch>
        </p:blipFill>
        <p:spPr>
          <a:xfrm>
            <a:off x="0" y="2037715"/>
            <a:ext cx="4831715" cy="2726690"/>
          </a:xfrm>
          <a:prstGeom prst="rect">
            <a:avLst/>
          </a:prstGeom>
        </p:spPr>
      </p:pic>
      <p:sp>
        <p:nvSpPr>
          <p:cNvPr id="13" name="文本框 12"/>
          <p:cNvSpPr txBox="1"/>
          <p:nvPr/>
        </p:nvSpPr>
        <p:spPr>
          <a:xfrm>
            <a:off x="4831715" y="3413125"/>
            <a:ext cx="7360285" cy="1189355"/>
          </a:xfrm>
          <a:prstGeom prst="rect">
            <a:avLst/>
          </a:prstGeom>
          <a:solidFill>
            <a:srgbClr val="0070C0"/>
          </a:solidFill>
        </p:spPr>
        <p:txBody>
          <a:bodyPr wrap="square" rtlCol="0">
            <a:spAutoFit/>
          </a:bodyPr>
          <a:p>
            <a:pPr marL="342900" indent="-342900">
              <a:lnSpc>
                <a:spcPct val="170000"/>
              </a:lnSpc>
              <a:buFont typeface="+mj-ea"/>
              <a:buAutoNum type="circleNumDbPlain"/>
            </a:pPr>
            <a:r>
              <a:rPr lang="zh-CN" altLang="en-US" sz="1400" b="1">
                <a:solidFill>
                  <a:schemeClr val="bg1"/>
                </a:solidFill>
              </a:rPr>
              <a:t>问题定义：</a:t>
            </a:r>
            <a:r>
              <a:rPr lang="zh-CN" altLang="en-US" sz="1400">
                <a:solidFill>
                  <a:schemeClr val="bg1"/>
                </a:solidFill>
              </a:rPr>
              <a:t>要解决的问题是什么？</a:t>
            </a:r>
            <a:endParaRPr lang="zh-CN" altLang="en-US" sz="1400">
              <a:solidFill>
                <a:schemeClr val="bg1"/>
              </a:solidFill>
            </a:endParaRPr>
          </a:p>
          <a:p>
            <a:pPr marL="342900" indent="-342900">
              <a:lnSpc>
                <a:spcPct val="170000"/>
              </a:lnSpc>
              <a:buFont typeface="+mj-ea"/>
              <a:buAutoNum type="circleNumDbPlain"/>
            </a:pPr>
            <a:r>
              <a:rPr lang="zh-CN" altLang="en-US" sz="1400" b="1">
                <a:solidFill>
                  <a:schemeClr val="bg1"/>
                </a:solidFill>
              </a:rPr>
              <a:t>可行性研究：</a:t>
            </a:r>
            <a:r>
              <a:rPr lang="zh-CN" altLang="en-US" sz="1400">
                <a:solidFill>
                  <a:schemeClr val="bg1"/>
                </a:solidFill>
              </a:rPr>
              <a:t>问题是否值得去解决，是否有可行的解决办法？</a:t>
            </a:r>
            <a:endParaRPr lang="zh-CN" altLang="en-US" sz="1400">
              <a:solidFill>
                <a:schemeClr val="bg1"/>
              </a:solidFill>
            </a:endParaRPr>
          </a:p>
          <a:p>
            <a:pPr marL="342900" indent="-342900">
              <a:lnSpc>
                <a:spcPct val="170000"/>
              </a:lnSpc>
              <a:buFont typeface="+mj-ea"/>
              <a:buAutoNum type="circleNumDbPlain"/>
            </a:pPr>
            <a:r>
              <a:rPr lang="zh-CN" altLang="en-US" sz="1400" b="1">
                <a:solidFill>
                  <a:schemeClr val="bg1"/>
                </a:solidFill>
              </a:rPr>
              <a:t>需求分析：</a:t>
            </a:r>
            <a:r>
              <a:rPr lang="zh-CN" altLang="en-US" sz="1400">
                <a:solidFill>
                  <a:schemeClr val="bg1"/>
                </a:solidFill>
              </a:rPr>
              <a:t>未解决上述问题，目标系统必须做什么？</a:t>
            </a:r>
            <a:endParaRPr lang="zh-CN" altLang="en-US" sz="1400">
              <a:solidFill>
                <a:schemeClr val="bg1"/>
              </a:solidFill>
            </a:endParaRPr>
          </a:p>
        </p:txBody>
      </p:sp>
      <p:sp>
        <p:nvSpPr>
          <p:cNvPr id="14" name="文本框 13"/>
          <p:cNvSpPr txBox="1"/>
          <p:nvPr/>
        </p:nvSpPr>
        <p:spPr>
          <a:xfrm>
            <a:off x="4831715" y="4632960"/>
            <a:ext cx="7360285" cy="1640205"/>
          </a:xfrm>
          <a:prstGeom prst="rect">
            <a:avLst/>
          </a:prstGeom>
          <a:solidFill>
            <a:srgbClr val="E47E39"/>
          </a:solidFill>
        </p:spPr>
        <p:txBody>
          <a:bodyPr wrap="square" rtlCol="0">
            <a:spAutoFit/>
          </a:bodyPr>
          <a:p>
            <a:pPr marL="342900" indent="-342900">
              <a:lnSpc>
                <a:spcPct val="180000"/>
              </a:lnSpc>
              <a:buFont typeface="+mj-ea"/>
              <a:buAutoNum type="circleNumDbPlain"/>
            </a:pPr>
            <a:r>
              <a:rPr lang="zh-CN" altLang="en-US" sz="1400" b="1">
                <a:solidFill>
                  <a:schemeClr val="bg1"/>
                </a:solidFill>
              </a:rPr>
              <a:t>总体设计（概要设计）：</a:t>
            </a:r>
            <a:r>
              <a:rPr lang="zh-CN" altLang="en-US" sz="1400">
                <a:solidFill>
                  <a:schemeClr val="bg1"/>
                </a:solidFill>
              </a:rPr>
              <a:t>概括来，说应该怎样实现目标系统？</a:t>
            </a:r>
            <a:endParaRPr lang="zh-CN" altLang="en-US" sz="1400">
              <a:solidFill>
                <a:schemeClr val="bg1"/>
              </a:solidFill>
            </a:endParaRPr>
          </a:p>
          <a:p>
            <a:pPr marL="342900" indent="-342900">
              <a:lnSpc>
                <a:spcPct val="180000"/>
              </a:lnSpc>
              <a:buFont typeface="+mj-ea"/>
              <a:buAutoNum type="circleNumDbPlain"/>
            </a:pPr>
            <a:r>
              <a:rPr lang="zh-CN" altLang="en-US" sz="1400" b="1">
                <a:solidFill>
                  <a:schemeClr val="bg1"/>
                </a:solidFill>
              </a:rPr>
              <a:t>详细设计：</a:t>
            </a:r>
            <a:r>
              <a:rPr lang="zh-CN" altLang="en-US" sz="1400">
                <a:solidFill>
                  <a:schemeClr val="bg1"/>
                </a:solidFill>
              </a:rPr>
              <a:t>具体来，说应该怎样实现目标系统？</a:t>
            </a:r>
            <a:endParaRPr lang="zh-CN" altLang="en-US" sz="1400">
              <a:solidFill>
                <a:schemeClr val="bg1"/>
              </a:solidFill>
            </a:endParaRPr>
          </a:p>
          <a:p>
            <a:pPr marL="342900" indent="-342900">
              <a:lnSpc>
                <a:spcPct val="180000"/>
              </a:lnSpc>
              <a:buFont typeface="+mj-ea"/>
              <a:buAutoNum type="circleNumDbPlain"/>
            </a:pPr>
            <a:r>
              <a:rPr lang="zh-CN" altLang="en-US" sz="1400" b="1">
                <a:solidFill>
                  <a:schemeClr val="bg1"/>
                </a:solidFill>
              </a:rPr>
              <a:t>编码和单元测试：</a:t>
            </a:r>
            <a:r>
              <a:rPr lang="zh-CN" altLang="en-US" sz="1400">
                <a:solidFill>
                  <a:schemeClr val="bg1"/>
                </a:solidFill>
              </a:rPr>
              <a:t>写出正确且容易理解的程序模块</a:t>
            </a:r>
            <a:endParaRPr lang="zh-CN" altLang="en-US" sz="1400">
              <a:solidFill>
                <a:schemeClr val="bg1"/>
              </a:solidFill>
            </a:endParaRPr>
          </a:p>
          <a:p>
            <a:pPr marL="342900" indent="-342900">
              <a:lnSpc>
                <a:spcPct val="180000"/>
              </a:lnSpc>
              <a:buFont typeface="+mj-ea"/>
              <a:buAutoNum type="circleNumDbPlain"/>
            </a:pPr>
            <a:r>
              <a:rPr lang="zh-CN" altLang="en-US" sz="1400" b="1">
                <a:solidFill>
                  <a:schemeClr val="bg1"/>
                </a:solidFill>
              </a:rPr>
              <a:t>综合测试：</a:t>
            </a:r>
            <a:r>
              <a:rPr lang="zh-CN" altLang="en-US" sz="1400">
                <a:solidFill>
                  <a:schemeClr val="bg1"/>
                </a:solidFill>
              </a:rPr>
              <a:t>预测软件的可靠性，包括集成测试和验收测试。</a:t>
            </a:r>
            <a:endParaRPr lang="zh-CN" altLang="en-US" sz="1400">
              <a:solidFill>
                <a:schemeClr val="bg1"/>
              </a:solidFill>
            </a:endParaRPr>
          </a:p>
        </p:txBody>
      </p:sp>
      <p:sp>
        <p:nvSpPr>
          <p:cNvPr id="18" name="文本框 17"/>
          <p:cNvSpPr txBox="1"/>
          <p:nvPr/>
        </p:nvSpPr>
        <p:spPr>
          <a:xfrm>
            <a:off x="4821555" y="6301105"/>
            <a:ext cx="7370445" cy="555625"/>
          </a:xfrm>
          <a:prstGeom prst="rect">
            <a:avLst/>
          </a:prstGeom>
          <a:solidFill>
            <a:srgbClr val="75AD50"/>
          </a:solidFill>
        </p:spPr>
        <p:txBody>
          <a:bodyPr wrap="square" rtlCol="0">
            <a:noAutofit/>
          </a:bodyPr>
          <a:p>
            <a:pPr indent="0">
              <a:lnSpc>
                <a:spcPct val="140000"/>
              </a:lnSpc>
              <a:buFont typeface="+mj-ea"/>
              <a:buNone/>
            </a:pPr>
            <a:r>
              <a:rPr lang="zh-CN" altLang="en-US" sz="1400" b="1">
                <a:solidFill>
                  <a:schemeClr val="bg1"/>
                </a:solidFill>
              </a:rPr>
              <a:t>通过各种必要的维护活动使系统持久地满足用户的需求</a:t>
            </a:r>
            <a:endParaRPr lang="zh-CN" altLang="en-US" sz="1400" b="1">
              <a:solidFill>
                <a:schemeClr val="bg1"/>
              </a:solidFill>
            </a:endParaRPr>
          </a:p>
          <a:p>
            <a:pPr indent="0">
              <a:lnSpc>
                <a:spcPct val="140000"/>
              </a:lnSpc>
              <a:buFont typeface="+mj-ea"/>
              <a:buNone/>
            </a:pPr>
            <a:endParaRPr lang="zh-CN" altLang="en-US" sz="1400">
              <a:solidFill>
                <a:schemeClr val="bg1"/>
              </a:solidFill>
            </a:endParaRPr>
          </a:p>
        </p:txBody>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361585" y="36273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软件过程</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102235" y="1244600"/>
            <a:ext cx="4662805" cy="96202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zh-CN" altLang="zh-CN" sz="1400" b="1" dirty="0" smtClean="0">
                <a:solidFill>
                  <a:srgbClr val="FF0000"/>
                </a:solidFill>
                <a:latin typeface="微软雅黑" panose="020B0503020204020204" charset="-122"/>
                <a:cs typeface="微软雅黑" panose="020B0503020204020204" charset="-122"/>
                <a:sym typeface="+mn-ea"/>
              </a:rPr>
              <a:t>软件</a:t>
            </a:r>
            <a:r>
              <a:rPr lang="zh-CN" altLang="zh-CN" sz="1400" b="1" dirty="0">
                <a:solidFill>
                  <a:srgbClr val="FF0000"/>
                </a:solidFill>
                <a:latin typeface="微软雅黑" panose="020B0503020204020204" charset="-122"/>
                <a:cs typeface="微软雅黑" panose="020B0503020204020204" charset="-122"/>
                <a:sym typeface="+mn-ea"/>
              </a:rPr>
              <a:t>过程</a:t>
            </a:r>
            <a:r>
              <a:rPr lang="zh-CN" altLang="zh-CN" sz="1400" b="1" dirty="0">
                <a:latin typeface="微软雅黑" panose="020B0503020204020204" charset="-122"/>
                <a:cs typeface="微软雅黑" panose="020B0503020204020204" charset="-122"/>
                <a:sym typeface="+mn-ea"/>
              </a:rPr>
              <a:t>是为了获得高质量软件所需要完成的</a:t>
            </a:r>
            <a:r>
              <a:rPr lang="zh-CN" altLang="zh-CN" sz="1400" b="1" dirty="0">
                <a:solidFill>
                  <a:srgbClr val="FFFF00"/>
                </a:solidFill>
                <a:latin typeface="微软雅黑" panose="020B0503020204020204" charset="-122"/>
                <a:cs typeface="微软雅黑" panose="020B0503020204020204" charset="-122"/>
                <a:sym typeface="+mn-ea"/>
              </a:rPr>
              <a:t>一系列任务的框架</a:t>
            </a:r>
            <a:r>
              <a:rPr lang="zh-CN" altLang="zh-CN" sz="1400" b="1" dirty="0">
                <a:latin typeface="微软雅黑" panose="020B0503020204020204" charset="-122"/>
                <a:cs typeface="微软雅黑" panose="020B0503020204020204" charset="-122"/>
                <a:sym typeface="+mn-ea"/>
              </a:rPr>
              <a:t>，它规定了完成各项任务的</a:t>
            </a:r>
            <a:r>
              <a:rPr lang="zh-CN" altLang="zh-CN" sz="1400" b="1" dirty="0">
                <a:solidFill>
                  <a:srgbClr val="FFFF00"/>
                </a:solidFill>
                <a:latin typeface="微软雅黑" panose="020B0503020204020204" charset="-122"/>
                <a:cs typeface="微软雅黑" panose="020B0503020204020204" charset="-122"/>
                <a:sym typeface="+mn-ea"/>
              </a:rPr>
              <a:t>工作步骤</a:t>
            </a:r>
            <a:r>
              <a:rPr lang="zh-CN" altLang="zh-CN" sz="1400" b="1" dirty="0">
                <a:latin typeface="微软雅黑" panose="020B0503020204020204" charset="-122"/>
                <a:cs typeface="微软雅黑" panose="020B0503020204020204" charset="-122"/>
                <a:sym typeface="+mn-ea"/>
              </a:rPr>
              <a:t>。</a:t>
            </a:r>
            <a:endParaRPr lang="zh-CN" altLang="zh-CN" sz="1400" b="1" dirty="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endParaRPr lang="zh-CN" altLang="zh-CN" sz="1500" dirty="0" smtClean="0">
              <a:latin typeface="微软雅黑" panose="020B0503020204020204" charset="-122"/>
              <a:cs typeface="微软雅黑" panose="020B0503020204020204" charset="-122"/>
              <a:sym typeface="+mn-ea"/>
            </a:endParaRPr>
          </a:p>
          <a:p>
            <a:pPr marL="0" indent="0">
              <a:lnSpc>
                <a:spcPct val="150000"/>
              </a:lnSpc>
              <a:spcBef>
                <a:spcPts val="0"/>
              </a:spcBef>
              <a:buNone/>
            </a:pPr>
            <a:r>
              <a:rPr altLang="zh-CN" sz="1400" b="1" dirty="0">
                <a:latin typeface="微软雅黑" panose="020B0503020204020204" charset="-122"/>
                <a:cs typeface="微软雅黑" panose="020B0503020204020204" charset="-122"/>
                <a:sym typeface="+mn-ea"/>
              </a:rPr>
              <a:t>软件过程定义了谁（</a:t>
            </a:r>
            <a:r>
              <a:rPr altLang="zh-CN" sz="1400" b="1" dirty="0">
                <a:solidFill>
                  <a:srgbClr val="FF0000"/>
                </a:solidFill>
                <a:latin typeface="微软雅黑" panose="020B0503020204020204" charset="-122"/>
                <a:cs typeface="微软雅黑" panose="020B0503020204020204" charset="-122"/>
                <a:sym typeface="+mn-ea"/>
              </a:rPr>
              <a:t>角色</a:t>
            </a:r>
            <a:r>
              <a:rPr altLang="zh-CN" sz="1400" b="1" dirty="0">
                <a:latin typeface="微软雅黑" panose="020B0503020204020204" charset="-122"/>
                <a:cs typeface="微软雅黑" panose="020B0503020204020204" charset="-122"/>
                <a:sym typeface="+mn-ea"/>
              </a:rPr>
              <a:t>）、在什么时候（</a:t>
            </a:r>
            <a:r>
              <a:rPr altLang="zh-CN" sz="1400" b="1" dirty="0">
                <a:solidFill>
                  <a:srgbClr val="FF0000"/>
                </a:solidFill>
                <a:latin typeface="微软雅黑" panose="020B0503020204020204" charset="-122"/>
                <a:cs typeface="微软雅黑" panose="020B0503020204020204" charset="-122"/>
                <a:sym typeface="+mn-ea"/>
              </a:rPr>
              <a:t>阶段</a:t>
            </a:r>
            <a:r>
              <a:rPr altLang="zh-CN" sz="1400" b="1" dirty="0">
                <a:latin typeface="微软雅黑" panose="020B0503020204020204" charset="-122"/>
                <a:cs typeface="微软雅黑" panose="020B0503020204020204" charset="-122"/>
                <a:sym typeface="+mn-ea"/>
              </a:rPr>
              <a:t>）、用什么方法（</a:t>
            </a:r>
            <a:r>
              <a:rPr altLang="zh-CN" sz="1400" b="1" dirty="0">
                <a:solidFill>
                  <a:srgbClr val="FF0000"/>
                </a:solidFill>
                <a:latin typeface="微软雅黑" panose="020B0503020204020204" charset="-122"/>
                <a:cs typeface="微软雅黑" panose="020B0503020204020204" charset="-122"/>
                <a:sym typeface="+mn-ea"/>
              </a:rPr>
              <a:t>活动</a:t>
            </a:r>
            <a:r>
              <a:rPr altLang="zh-CN" sz="1400" b="1" dirty="0">
                <a:latin typeface="微软雅黑" panose="020B0503020204020204" charset="-122"/>
                <a:cs typeface="微软雅黑" panose="020B0503020204020204" charset="-122"/>
                <a:sym typeface="+mn-ea"/>
              </a:rPr>
              <a:t>）、做什么工作（</a:t>
            </a:r>
            <a:r>
              <a:rPr altLang="zh-CN" sz="1400" b="1" dirty="0">
                <a:solidFill>
                  <a:srgbClr val="FF0000"/>
                </a:solidFill>
                <a:latin typeface="微软雅黑" panose="020B0503020204020204" charset="-122"/>
                <a:cs typeface="微软雅黑" panose="020B0503020204020204" charset="-122"/>
                <a:sym typeface="+mn-ea"/>
              </a:rPr>
              <a:t>任务</a:t>
            </a:r>
            <a:r>
              <a:rPr altLang="zh-CN" sz="1400" b="1" dirty="0">
                <a:latin typeface="微软雅黑" panose="020B0503020204020204" charset="-122"/>
                <a:cs typeface="微软雅黑" panose="020B0503020204020204" charset="-122"/>
                <a:sym typeface="+mn-ea"/>
              </a:rPr>
              <a:t>）、产出什么成果（</a:t>
            </a:r>
            <a:r>
              <a:rPr altLang="zh-CN" sz="1400" b="1" dirty="0">
                <a:solidFill>
                  <a:srgbClr val="FF0000"/>
                </a:solidFill>
                <a:latin typeface="微软雅黑" panose="020B0503020204020204" charset="-122"/>
                <a:cs typeface="微软雅黑" panose="020B0503020204020204" charset="-122"/>
                <a:sym typeface="+mn-ea"/>
              </a:rPr>
              <a:t>制品</a:t>
            </a:r>
            <a:r>
              <a:rPr altLang="zh-CN" sz="1400" b="1" dirty="0">
                <a:latin typeface="微软雅黑" panose="020B0503020204020204" charset="-122"/>
                <a:cs typeface="微软雅黑" panose="020B0503020204020204" charset="-122"/>
                <a:sym typeface="+mn-ea"/>
              </a:rPr>
              <a:t>），并如何保证质量。</a:t>
            </a:r>
            <a:endParaRPr altLang="zh-CN" sz="1400" b="1" dirty="0">
              <a:latin typeface="微软雅黑" panose="020B0503020204020204" charset="-122"/>
              <a:cs typeface="微软雅黑" panose="020B0503020204020204" charset="-122"/>
              <a:sym typeface="+mn-ea"/>
            </a:endParaRPr>
          </a:p>
          <a:p>
            <a:pPr marL="0" indent="0">
              <a:lnSpc>
                <a:spcPct val="180000"/>
              </a:lnSpc>
              <a:spcBef>
                <a:spcPts val="0"/>
              </a:spcBef>
              <a:buNone/>
            </a:pPr>
            <a:endParaRPr lang="zh-CN" altLang="zh-CN" sz="1400" b="1" dirty="0">
              <a:latin typeface="微软雅黑" panose="020B0503020204020204" charset="-122"/>
              <a:cs typeface="微软雅黑" panose="020B0503020204020204" charset="-122"/>
              <a:sym typeface="+mn-ea"/>
            </a:endParaRPr>
          </a:p>
        </p:txBody>
      </p:sp>
      <p:pic>
        <p:nvPicPr>
          <p:cNvPr id="12" name="图片 11"/>
          <p:cNvPicPr>
            <a:picLocks noChangeAspect="1"/>
          </p:cNvPicPr>
          <p:nvPr>
            <p:custDataLst>
              <p:tags r:id="rId3"/>
            </p:custDataLst>
          </p:nvPr>
        </p:nvPicPr>
        <p:blipFill>
          <a:blip r:embed="rId4"/>
          <a:srcRect r="56103" b="16787"/>
          <a:stretch>
            <a:fillRect/>
          </a:stretch>
        </p:blipFill>
        <p:spPr>
          <a:xfrm>
            <a:off x="965835" y="2105660"/>
            <a:ext cx="3244850" cy="3088640"/>
          </a:xfrm>
          <a:prstGeom prst="rect">
            <a:avLst/>
          </a:prstGeom>
        </p:spPr>
      </p:pic>
      <p:sp>
        <p:nvSpPr>
          <p:cNvPr id="2" name="文本框 1"/>
          <p:cNvSpPr txBox="1"/>
          <p:nvPr/>
        </p:nvSpPr>
        <p:spPr>
          <a:xfrm>
            <a:off x="4858385" y="201295"/>
            <a:ext cx="7161530" cy="1696085"/>
          </a:xfrm>
          <a:prstGeom prst="rect">
            <a:avLst/>
          </a:prstGeom>
          <a:noFill/>
        </p:spPr>
        <p:txBody>
          <a:bodyPr wrap="square" rtlCol="0">
            <a:spAutoFit/>
          </a:bodyPr>
          <a:p>
            <a:pPr algn="ctr">
              <a:lnSpc>
                <a:spcPct val="180000"/>
              </a:lnSpc>
            </a:pPr>
            <a:r>
              <a:rPr lang="zh-CN" altLang="en-US" sz="1600" b="1">
                <a:solidFill>
                  <a:srgbClr val="FF0000"/>
                </a:solidFill>
                <a:highlight>
                  <a:srgbClr val="FFFF00"/>
                </a:highlight>
              </a:rPr>
              <a:t>“我们如何从零开始，一步步地做出一个高质量的软件？”</a:t>
            </a:r>
            <a:endParaRPr lang="zh-CN" altLang="en-US" sz="1600" b="1">
              <a:solidFill>
                <a:srgbClr val="FF0000"/>
              </a:solidFill>
              <a:highlight>
                <a:srgbClr val="FFFF00"/>
              </a:highlight>
            </a:endParaRPr>
          </a:p>
          <a:p>
            <a:pPr>
              <a:lnSpc>
                <a:spcPct val="180000"/>
              </a:lnSpc>
            </a:pPr>
            <a:endParaRPr lang="zh-CN" altLang="en-US" sz="1400" b="1"/>
          </a:p>
          <a:p>
            <a:pPr>
              <a:lnSpc>
                <a:spcPct val="180000"/>
              </a:lnSpc>
            </a:pPr>
            <a:r>
              <a:rPr lang="zh-CN" altLang="en-US" sz="1400" b="1"/>
              <a:t>软件过程是软件工程的“</a:t>
            </a:r>
            <a:r>
              <a:rPr lang="zh-CN" altLang="en-US" sz="1400" b="1">
                <a:solidFill>
                  <a:srgbClr val="FF0000"/>
                </a:solidFill>
              </a:rPr>
              <a:t>方法论</a:t>
            </a:r>
            <a:r>
              <a:rPr lang="zh-CN" altLang="en-US" sz="1400" b="1"/>
              <a:t>”和“</a:t>
            </a:r>
            <a:r>
              <a:rPr lang="zh-CN" altLang="en-US" sz="1400" b="1">
                <a:solidFill>
                  <a:srgbClr val="FF0000"/>
                </a:solidFill>
              </a:rPr>
              <a:t>操作手册</a:t>
            </a:r>
            <a:r>
              <a:rPr lang="zh-CN" altLang="en-US" sz="1400" b="1"/>
              <a:t>”。它是在软件开发领域，将“最佳实践”制度化、系统化，以实现从混乱的“艺术创作”走向有序的“工程学科”的关键桥梁。</a:t>
            </a:r>
            <a:endParaRPr lang="zh-CN" altLang="en-US" sz="1400" b="1"/>
          </a:p>
        </p:txBody>
      </p:sp>
      <p:pic>
        <p:nvPicPr>
          <p:cNvPr id="7" name="图片 6"/>
          <p:cNvPicPr>
            <a:picLocks noChangeAspect="1"/>
          </p:cNvPicPr>
          <p:nvPr/>
        </p:nvPicPr>
        <p:blipFill>
          <a:blip r:embed="rId5"/>
          <a:stretch>
            <a:fillRect/>
          </a:stretch>
        </p:blipFill>
        <p:spPr>
          <a:xfrm>
            <a:off x="4886960" y="2105660"/>
            <a:ext cx="7132955" cy="4050030"/>
          </a:xfrm>
          <a:prstGeom prst="rect">
            <a:avLst/>
          </a:prstGeom>
        </p:spPr>
      </p:pic>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custDataLst>
              <p:tags r:id="rId1"/>
            </p:custDataLst>
          </p:nvPr>
        </p:nvSpPr>
        <p:spPr>
          <a:xfrm>
            <a:off x="264160" y="697230"/>
            <a:ext cx="4309745" cy="5973445"/>
          </a:xfrm>
        </p:spPr>
        <p:txBody>
          <a:bodyPr>
            <a:normAutofit fontScale="70000"/>
          </a:bodyPr>
          <a:lstStyle/>
          <a:p>
            <a:pPr marL="0" indent="0">
              <a:buNone/>
              <a:defRPr/>
            </a:pPr>
            <a:r>
              <a:rPr altLang="zh-CN" sz="1715" b="1">
                <a:solidFill>
                  <a:srgbClr val="FF0000"/>
                </a:solidFill>
                <a:latin typeface="Bodoni MT Black" panose="02070A03080606020203" pitchFamily="18" charset="0"/>
                <a:sym typeface="+mn-ea"/>
              </a:rPr>
              <a:t>瀑布模型</a:t>
            </a:r>
            <a:r>
              <a:rPr altLang="zh-CN" sz="1715" b="1">
                <a:latin typeface="Bodoni MT Black" panose="02070A03080606020203" pitchFamily="18" charset="0"/>
                <a:sym typeface="+mn-ea"/>
              </a:rPr>
              <a:t>一直是唯一被广泛采用的生命周期模型，现在它仍然是软件工程中应用得最广泛的过程模型</a:t>
            </a:r>
            <a:r>
              <a:rPr altLang="zh-CN" sz="1715" b="1" smtClean="0">
                <a:latin typeface="Bodoni MT Black" panose="02070A03080606020203" pitchFamily="18" charset="0"/>
                <a:sym typeface="+mn-ea"/>
              </a:rPr>
              <a:t>。</a:t>
            </a:r>
            <a:endParaRPr altLang="zh-CN" sz="1715" b="1" smtClean="0">
              <a:latin typeface="Bodoni MT Black" panose="02070A03080606020203" pitchFamily="18" charset="0"/>
              <a:sym typeface="+mn-ea"/>
            </a:endParaRPr>
          </a:p>
          <a:p>
            <a:pPr marL="0" indent="0">
              <a:buNone/>
              <a:defRPr/>
            </a:pPr>
            <a:r>
              <a:rPr altLang="zh-CN" sz="1715" b="1">
                <a:latin typeface="+mn-ea"/>
                <a:ea typeface="+mn-ea"/>
                <a:cs typeface="+mn-ea"/>
                <a:sym typeface="+mn-ea"/>
              </a:rPr>
              <a:t>阶段间具有</a:t>
            </a:r>
            <a:r>
              <a:rPr altLang="zh-CN" sz="1715" b="1">
                <a:solidFill>
                  <a:srgbClr val="FF0000"/>
                </a:solidFill>
                <a:latin typeface="+mn-ea"/>
                <a:ea typeface="+mn-ea"/>
                <a:cs typeface="+mn-ea"/>
                <a:sym typeface="+mn-ea"/>
              </a:rPr>
              <a:t>顺序性</a:t>
            </a:r>
            <a:r>
              <a:rPr altLang="zh-CN" sz="1715" b="1">
                <a:latin typeface="+mn-ea"/>
                <a:ea typeface="+mn-ea"/>
                <a:cs typeface="+mn-ea"/>
                <a:sym typeface="+mn-ea"/>
              </a:rPr>
              <a:t>和</a:t>
            </a:r>
            <a:r>
              <a:rPr altLang="zh-CN" sz="1715" b="1" smtClean="0">
                <a:solidFill>
                  <a:srgbClr val="FF0000"/>
                </a:solidFill>
                <a:latin typeface="+mn-ea"/>
                <a:ea typeface="+mn-ea"/>
                <a:cs typeface="+mn-ea"/>
                <a:sym typeface="+mn-ea"/>
              </a:rPr>
              <a:t>依赖性</a:t>
            </a:r>
            <a:r>
              <a:rPr sz="1715" b="1" smtClean="0">
                <a:latin typeface="+mn-ea"/>
                <a:ea typeface="+mn-ea"/>
                <a:cs typeface="+mn-ea"/>
                <a:sym typeface="+mn-ea"/>
              </a:rPr>
              <a:t>：</a:t>
            </a:r>
            <a:endParaRPr lang="zh-CN" altLang="zh-CN" sz="1715" b="1" dirty="0">
              <a:latin typeface="+mn-ea"/>
              <a:ea typeface="+mn-ea"/>
              <a:cs typeface="+mn-ea"/>
            </a:endParaRPr>
          </a:p>
          <a:p>
            <a:pPr marL="0" indent="0">
              <a:buNone/>
              <a:defRPr/>
            </a:pPr>
            <a:r>
              <a:rPr altLang="zh-CN" sz="1715">
                <a:latin typeface="+mn-ea"/>
                <a:ea typeface="+mn-ea"/>
                <a:cs typeface="+mn-ea"/>
                <a:sym typeface="+mn-ea"/>
              </a:rPr>
              <a:t>①必须等前一阶段的工作完成之后，才能开始后一阶段的工作； ②前一阶段的输出</a:t>
            </a:r>
            <a:r>
              <a:rPr altLang="zh-CN" sz="1715">
                <a:solidFill>
                  <a:srgbClr val="FF0000"/>
                </a:solidFill>
                <a:latin typeface="+mn-ea"/>
                <a:ea typeface="+mn-ea"/>
                <a:cs typeface="+mn-ea"/>
                <a:sym typeface="+mn-ea"/>
              </a:rPr>
              <a:t>文档</a:t>
            </a:r>
            <a:r>
              <a:rPr altLang="zh-CN" sz="1715">
                <a:latin typeface="+mn-ea"/>
                <a:ea typeface="+mn-ea"/>
                <a:cs typeface="+mn-ea"/>
                <a:sym typeface="+mn-ea"/>
              </a:rPr>
              <a:t>就是后一阶段的输入文档，因此，只有前一阶段的输出文档正确，后一阶段的工作才能获得正确的结果</a:t>
            </a:r>
            <a:r>
              <a:rPr altLang="zh-CN" sz="1715" smtClean="0">
                <a:latin typeface="+mn-ea"/>
                <a:ea typeface="+mn-ea"/>
                <a:cs typeface="+mn-ea"/>
                <a:sym typeface="+mn-ea"/>
              </a:rPr>
              <a:t>。</a:t>
            </a:r>
            <a:endParaRPr altLang="zh-CN" sz="1715" smtClean="0">
              <a:latin typeface="+mn-ea"/>
              <a:ea typeface="+mn-ea"/>
              <a:cs typeface="+mn-ea"/>
              <a:sym typeface="+mn-ea"/>
            </a:endParaRPr>
          </a:p>
          <a:p>
            <a:pPr marL="0" indent="0">
              <a:buNone/>
              <a:defRPr/>
            </a:pPr>
            <a:r>
              <a:rPr altLang="zh-CN" sz="1715" b="1" smtClean="0">
                <a:solidFill>
                  <a:srgbClr val="FF0000"/>
                </a:solidFill>
                <a:latin typeface="+mn-ea"/>
                <a:ea typeface="+mn-ea"/>
                <a:cs typeface="+mn-ea"/>
                <a:sym typeface="+mn-ea"/>
              </a:rPr>
              <a:t>推迟</a:t>
            </a:r>
            <a:r>
              <a:rPr altLang="zh-CN" sz="1715" b="1">
                <a:solidFill>
                  <a:srgbClr val="FF0000"/>
                </a:solidFill>
                <a:latin typeface="+mn-ea"/>
                <a:ea typeface="+mn-ea"/>
                <a:cs typeface="+mn-ea"/>
                <a:sym typeface="+mn-ea"/>
              </a:rPr>
              <a:t>实现</a:t>
            </a:r>
            <a:r>
              <a:rPr altLang="zh-CN" sz="1715" b="1">
                <a:latin typeface="+mn-ea"/>
                <a:ea typeface="+mn-ea"/>
                <a:cs typeface="+mn-ea"/>
                <a:sym typeface="+mn-ea"/>
              </a:rPr>
              <a:t>的观点：</a:t>
            </a:r>
            <a:endParaRPr lang="en-US" altLang="zh-CN" sz="1715" b="1" dirty="0">
              <a:latin typeface="+mn-ea"/>
              <a:ea typeface="+mn-ea"/>
              <a:cs typeface="+mn-ea"/>
            </a:endParaRPr>
          </a:p>
          <a:p>
            <a:pPr marL="0" indent="0">
              <a:buNone/>
              <a:defRPr/>
            </a:pPr>
            <a:r>
              <a:rPr altLang="zh-CN" sz="1715">
                <a:latin typeface="+mn-ea"/>
                <a:ea typeface="+mn-ea"/>
                <a:cs typeface="+mn-ea"/>
                <a:sym typeface="+mn-ea"/>
              </a:rPr>
              <a:t>在编码之前设置了系统分析与系统设计的各个阶段，分析与设计阶段的基本任务规定，在这两个阶段主要考虑目标系统的</a:t>
            </a:r>
            <a:r>
              <a:rPr altLang="zh-CN" sz="1715">
                <a:solidFill>
                  <a:srgbClr val="FF0000"/>
                </a:solidFill>
                <a:latin typeface="+mn-ea"/>
                <a:ea typeface="+mn-ea"/>
                <a:cs typeface="+mn-ea"/>
                <a:sym typeface="+mn-ea"/>
              </a:rPr>
              <a:t>逻辑模型</a:t>
            </a:r>
            <a:r>
              <a:rPr altLang="zh-CN" sz="1715">
                <a:latin typeface="+mn-ea"/>
                <a:ea typeface="+mn-ea"/>
                <a:cs typeface="+mn-ea"/>
                <a:sym typeface="+mn-ea"/>
              </a:rPr>
              <a:t>，不涉及软件的</a:t>
            </a:r>
            <a:r>
              <a:rPr altLang="zh-CN" sz="1715">
                <a:solidFill>
                  <a:srgbClr val="FF0000"/>
                </a:solidFill>
                <a:latin typeface="+mn-ea"/>
                <a:ea typeface="+mn-ea"/>
                <a:cs typeface="+mn-ea"/>
                <a:sym typeface="+mn-ea"/>
              </a:rPr>
              <a:t>物理实现</a:t>
            </a:r>
            <a:r>
              <a:rPr altLang="zh-CN" sz="1715">
                <a:latin typeface="+mn-ea"/>
                <a:ea typeface="+mn-ea"/>
                <a:cs typeface="+mn-ea"/>
                <a:sym typeface="+mn-ea"/>
              </a:rPr>
              <a:t>。</a:t>
            </a:r>
            <a:endParaRPr altLang="zh-CN" sz="1715">
              <a:latin typeface="+mn-ea"/>
              <a:ea typeface="+mn-ea"/>
              <a:cs typeface="+mn-ea"/>
              <a:sym typeface="+mn-ea"/>
            </a:endParaRPr>
          </a:p>
          <a:p>
            <a:pPr marL="0" indent="0">
              <a:buNone/>
              <a:defRPr/>
            </a:pPr>
            <a:r>
              <a:rPr sz="1715" b="1" smtClean="0">
                <a:solidFill>
                  <a:srgbClr val="FF0000"/>
                </a:solidFill>
                <a:latin typeface="+mn-ea"/>
                <a:ea typeface="+mn-ea"/>
                <a:cs typeface="+mn-ea"/>
                <a:sym typeface="+mn-ea"/>
              </a:rPr>
              <a:t>质量</a:t>
            </a:r>
            <a:r>
              <a:rPr altLang="zh-CN" sz="1715" b="1" smtClean="0">
                <a:solidFill>
                  <a:srgbClr val="FF0000"/>
                </a:solidFill>
                <a:latin typeface="+mn-ea"/>
                <a:ea typeface="+mn-ea"/>
                <a:cs typeface="+mn-ea"/>
                <a:sym typeface="+mn-ea"/>
              </a:rPr>
              <a:t>保证</a:t>
            </a:r>
            <a:r>
              <a:rPr altLang="zh-CN" sz="1715" b="1">
                <a:latin typeface="+mn-ea"/>
                <a:ea typeface="+mn-ea"/>
                <a:cs typeface="+mn-ea"/>
                <a:sym typeface="+mn-ea"/>
              </a:rPr>
              <a:t>的观点</a:t>
            </a:r>
            <a:r>
              <a:rPr sz="1715" b="1">
                <a:latin typeface="+mn-ea"/>
                <a:ea typeface="+mn-ea"/>
                <a:cs typeface="+mn-ea"/>
                <a:sym typeface="+mn-ea"/>
              </a:rPr>
              <a:t>：</a:t>
            </a:r>
            <a:endParaRPr lang="en-US" altLang="zh-CN" sz="1715" b="1" dirty="0">
              <a:latin typeface="+mn-ea"/>
              <a:ea typeface="+mn-ea"/>
              <a:cs typeface="+mn-ea"/>
            </a:endParaRPr>
          </a:p>
          <a:p>
            <a:pPr marL="0" indent="0">
              <a:buNone/>
              <a:defRPr/>
            </a:pPr>
            <a:r>
              <a:rPr altLang="zh-CN" sz="1715">
                <a:latin typeface="+mn-ea"/>
                <a:ea typeface="+mn-ea"/>
                <a:cs typeface="+mn-ea"/>
                <a:sym typeface="+mn-ea"/>
              </a:rPr>
              <a:t>软件工程的基本目标是优质、高产。为了保证所开发的软件的质量，在瀑布模型的每个阶段都应坚持：</a:t>
            </a:r>
            <a:endParaRPr altLang="zh-CN" sz="1715">
              <a:latin typeface="+mn-ea"/>
              <a:ea typeface="+mn-ea"/>
              <a:cs typeface="+mn-ea"/>
              <a:sym typeface="+mn-ea"/>
            </a:endParaRPr>
          </a:p>
          <a:p>
            <a:pPr marL="0" indent="0">
              <a:buNone/>
              <a:defRPr/>
            </a:pPr>
            <a:r>
              <a:rPr altLang="zh-CN" sz="1715">
                <a:latin typeface="+mn-ea"/>
                <a:ea typeface="+mn-ea"/>
                <a:cs typeface="+mn-ea"/>
                <a:sym typeface="+mn-ea"/>
              </a:rPr>
              <a:t>每个阶段都</a:t>
            </a:r>
            <a:r>
              <a:rPr altLang="zh-CN" sz="1715">
                <a:solidFill>
                  <a:srgbClr val="FF0000"/>
                </a:solidFill>
                <a:latin typeface="+mn-ea"/>
                <a:ea typeface="+mn-ea"/>
                <a:cs typeface="+mn-ea"/>
                <a:sym typeface="+mn-ea"/>
              </a:rPr>
              <a:t>必须完成规定的文档</a:t>
            </a:r>
            <a:r>
              <a:rPr altLang="zh-CN" sz="1715">
                <a:latin typeface="+mn-ea"/>
                <a:ea typeface="+mn-ea"/>
                <a:cs typeface="+mn-ea"/>
                <a:sym typeface="+mn-ea"/>
              </a:rPr>
              <a:t>，没有交出合格的文档就是没有完成该阶段的任务</a:t>
            </a:r>
            <a:r>
              <a:rPr altLang="zh-CN" sz="1715" smtClean="0">
                <a:latin typeface="+mn-ea"/>
                <a:ea typeface="+mn-ea"/>
                <a:cs typeface="+mn-ea"/>
                <a:sym typeface="+mn-ea"/>
              </a:rPr>
              <a:t>。</a:t>
            </a:r>
            <a:endParaRPr altLang="zh-CN" sz="1715" smtClean="0">
              <a:latin typeface="+mn-ea"/>
              <a:ea typeface="+mn-ea"/>
              <a:cs typeface="+mn-ea"/>
              <a:sym typeface="+mn-ea"/>
            </a:endParaRPr>
          </a:p>
          <a:p>
            <a:pPr marL="0" indent="0">
              <a:buNone/>
              <a:defRPr/>
            </a:pPr>
            <a:r>
              <a:rPr altLang="zh-CN" sz="1715">
                <a:latin typeface="+mn-ea"/>
                <a:ea typeface="+mn-ea"/>
                <a:cs typeface="+mn-ea"/>
                <a:sym typeface="+mn-ea"/>
              </a:rPr>
              <a:t>每个阶段结束前都要</a:t>
            </a:r>
            <a:r>
              <a:rPr altLang="zh-CN" sz="1715">
                <a:solidFill>
                  <a:srgbClr val="FF0000"/>
                </a:solidFill>
                <a:latin typeface="+mn-ea"/>
                <a:ea typeface="+mn-ea"/>
                <a:cs typeface="+mn-ea"/>
                <a:sym typeface="+mn-ea"/>
              </a:rPr>
              <a:t>对所完成的文档进行评审</a:t>
            </a:r>
            <a:r>
              <a:rPr altLang="zh-CN" sz="1715">
                <a:latin typeface="+mn-ea"/>
                <a:ea typeface="+mn-ea"/>
                <a:cs typeface="+mn-ea"/>
                <a:sym typeface="+mn-ea"/>
              </a:rPr>
              <a:t>，以便尽早发现问题，改正错误</a:t>
            </a:r>
            <a:r>
              <a:rPr altLang="zh-CN" sz="1715" smtClean="0">
                <a:latin typeface="+mn-ea"/>
                <a:ea typeface="+mn-ea"/>
                <a:cs typeface="+mn-ea"/>
                <a:sym typeface="+mn-ea"/>
              </a:rPr>
              <a:t>。</a:t>
            </a:r>
            <a:endParaRPr lang="en-US" altLang="zh-CN" sz="1715" b="1" dirty="0" smtClean="0">
              <a:latin typeface="+mn-ea"/>
              <a:ea typeface="+mn-ea"/>
              <a:cs typeface="+mn-ea"/>
            </a:endParaRPr>
          </a:p>
          <a:p>
            <a:pPr marL="0" indent="457200">
              <a:defRPr/>
            </a:pPr>
            <a:endParaRPr lang="en-US" altLang="zh-CN" dirty="0" smtClean="0">
              <a:latin typeface="Bodoni MT Black" panose="02070A03080606020203" pitchFamily="18" charset="0"/>
              <a:ea typeface="+mn-ea"/>
            </a:endParaRPr>
          </a:p>
          <a:p>
            <a:pPr marL="0" indent="342900">
              <a:defRPr/>
            </a:pPr>
            <a:endParaRPr lang="zh-CN" altLang="en-US" dirty="0">
              <a:solidFill>
                <a:schemeClr val="tx2"/>
              </a:solidFill>
            </a:endParaRPr>
          </a:p>
        </p:txBody>
      </p:sp>
      <p:grpSp>
        <p:nvGrpSpPr>
          <p:cNvPr id="9" name="组合 8"/>
          <p:cNvGrpSpPr/>
          <p:nvPr>
            <p:custDataLst>
              <p:tags r:id="rId2"/>
            </p:custDataLst>
          </p:nvPr>
        </p:nvGrpSpPr>
        <p:grpSpPr>
          <a:xfrm rot="16200000">
            <a:off x="11442069" y="-87887"/>
            <a:ext cx="738165" cy="916458"/>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5"/>
            </p:custDataLst>
          </p:nvPr>
        </p:nvGrpSpPr>
        <p:grpSpPr>
          <a:xfrm rot="5400000">
            <a:off x="11893" y="6030689"/>
            <a:ext cx="738165" cy="916458"/>
            <a:chOff x="10608342" y="5053054"/>
            <a:chExt cx="1583658" cy="1966165"/>
          </a:xfrm>
        </p:grpSpPr>
        <p:sp>
          <p:nvSpPr>
            <p:cNvPr id="16" name="任意多边形: 形状 15"/>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内容占位符 6"/>
          <p:cNvPicPr>
            <a:picLocks noChangeAspect="1"/>
          </p:cNvPicPr>
          <p:nvPr>
            <p:ph sz="half" idx="2"/>
            <p:custDataLst>
              <p:tags r:id="rId8"/>
            </p:custDataLst>
          </p:nvPr>
        </p:nvPicPr>
        <p:blipFill>
          <a:blip r:embed="rId9"/>
          <a:stretch>
            <a:fillRect/>
          </a:stretch>
        </p:blipFill>
        <p:spPr>
          <a:xfrm>
            <a:off x="4831715" y="697230"/>
            <a:ext cx="7115810" cy="5337175"/>
          </a:xfrm>
          <a:prstGeom prst="rect">
            <a:avLst/>
          </a:prstGeom>
        </p:spPr>
      </p:pic>
      <p:sp>
        <p:nvSpPr>
          <p:cNvPr id="2" name="文本框 1"/>
          <p:cNvSpPr txBox="1"/>
          <p:nvPr/>
        </p:nvSpPr>
        <p:spPr>
          <a:xfrm>
            <a:off x="6985" y="635"/>
            <a:ext cx="12101195" cy="368300"/>
          </a:xfrm>
          <a:prstGeom prst="rect">
            <a:avLst/>
          </a:prstGeom>
          <a:solidFill>
            <a:schemeClr val="accent1"/>
          </a:solidFill>
        </p:spPr>
        <p:txBody>
          <a:bodyPr wrap="square" rtlCol="0">
            <a:spAutoFit/>
          </a:bodyPr>
          <a:p>
            <a:r>
              <a:rPr lang="zh-CN" altLang="en-US" b="1">
                <a:solidFill>
                  <a:schemeClr val="bg1"/>
                </a:solidFill>
              </a:rPr>
              <a:t>瀑布模型</a:t>
            </a:r>
            <a:endParaRPr lang="zh-CN" altLang="en-US" b="1">
              <a:solidFill>
                <a:schemeClr val="bg1"/>
              </a:solidFill>
            </a:endParaRPr>
          </a:p>
        </p:txBody>
      </p:sp>
    </p:spTree>
    <p:custDataLst>
      <p:tags r:id="rId1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custDataLst>
              <p:tags r:id="rId1"/>
            </p:custDataLst>
          </p:nvPr>
        </p:nvSpPr>
        <p:spPr>
          <a:xfrm>
            <a:off x="8228330" y="2990215"/>
            <a:ext cx="3544570" cy="1816735"/>
          </a:xfrm>
          <a:solidFill>
            <a:schemeClr val="accent1"/>
          </a:solidFill>
          <a:ln>
            <a:solidFill>
              <a:schemeClr val="tx1"/>
            </a:solidFill>
          </a:ln>
        </p:spPr>
        <p:txBody>
          <a:bodyPr anchor="ctr" anchorCtr="0">
            <a:normAutofit fontScale="40000"/>
          </a:bodyPr>
          <a:lstStyle/>
          <a:p>
            <a:pPr marL="0" algn="l">
              <a:lnSpc>
                <a:spcPct val="120000"/>
              </a:lnSpc>
              <a:buClrTx/>
              <a:buSzTx/>
              <a:buNone/>
              <a:defRPr/>
            </a:pPr>
            <a:r>
              <a:rPr altLang="zh-CN" sz="3000" b="1">
                <a:solidFill>
                  <a:schemeClr val="bg1"/>
                </a:solidFill>
                <a:latin typeface="Bodoni MT Black" panose="02070A03080606020203" pitchFamily="18" charset="0"/>
                <a:ea typeface="+mn-ea"/>
                <a:sym typeface="+mn-ea"/>
              </a:rPr>
              <a:t>“</a:t>
            </a:r>
            <a:r>
              <a:rPr altLang="zh-CN" sz="3000" b="1">
                <a:solidFill>
                  <a:srgbClr val="FF0000"/>
                </a:solidFill>
                <a:latin typeface="Bodoni MT Black" panose="02070A03080606020203" pitchFamily="18" charset="0"/>
                <a:ea typeface="+mn-ea"/>
                <a:sym typeface="+mn-ea"/>
              </a:rPr>
              <a:t>反馈环</a:t>
            </a:r>
            <a:r>
              <a:rPr altLang="zh-CN" sz="3000" b="1">
                <a:solidFill>
                  <a:schemeClr val="bg1"/>
                </a:solidFill>
                <a:latin typeface="Bodoni MT Black" panose="02070A03080606020203" pitchFamily="18" charset="0"/>
                <a:ea typeface="+mn-ea"/>
                <a:sym typeface="+mn-ea"/>
              </a:rPr>
              <a:t>”就是指：允许从后面阶段返回到前面任何一个阶段，进行</a:t>
            </a:r>
            <a:r>
              <a:rPr altLang="zh-CN" sz="3000" b="1">
                <a:solidFill>
                  <a:srgbClr val="FFFF00"/>
                </a:solidFill>
                <a:latin typeface="Bodoni MT Black" panose="02070A03080606020203" pitchFamily="18" charset="0"/>
                <a:ea typeface="+mn-ea"/>
                <a:sym typeface="+mn-ea"/>
              </a:rPr>
              <a:t>修正和迭代</a:t>
            </a:r>
            <a:r>
              <a:rPr altLang="zh-CN" sz="3000" b="1">
                <a:solidFill>
                  <a:schemeClr val="bg1"/>
                </a:solidFill>
                <a:latin typeface="Bodoni MT Black" panose="02070A03080606020203" pitchFamily="18" charset="0"/>
                <a:ea typeface="+mn-ea"/>
                <a:sym typeface="+mn-ea"/>
              </a:rPr>
              <a:t>。在每个阶段结束后，或者在后继阶段发现问题时，可以沿着箭头反向回溯，回到出问题的那个阶段，进行修改。修改完成后，再重新顺序执行后续阶段。</a:t>
            </a:r>
            <a:endParaRPr altLang="zh-CN" sz="3000" b="1">
              <a:solidFill>
                <a:schemeClr val="bg1"/>
              </a:solidFill>
              <a:latin typeface="Bodoni MT Black" panose="02070A03080606020203" pitchFamily="18" charset="0"/>
              <a:ea typeface="+mn-ea"/>
              <a:sym typeface="+mn-ea"/>
            </a:endParaRPr>
          </a:p>
          <a:p>
            <a:pPr marL="0" indent="342900">
              <a:defRPr/>
            </a:pPr>
            <a:endParaRPr lang="zh-CN" altLang="zh-CN" sz="3000" b="1" dirty="0">
              <a:solidFill>
                <a:schemeClr val="bg1"/>
              </a:solidFill>
              <a:latin typeface="Bodoni MT Black" panose="02070A03080606020203" pitchFamily="18" charset="0"/>
              <a:ea typeface="+mn-ea"/>
              <a:sym typeface="+mn-ea"/>
            </a:endParaRPr>
          </a:p>
        </p:txBody>
      </p:sp>
      <p:grpSp>
        <p:nvGrpSpPr>
          <p:cNvPr id="9" name="组合 8"/>
          <p:cNvGrpSpPr/>
          <p:nvPr>
            <p:custDataLst>
              <p:tags r:id="rId2"/>
            </p:custDataLst>
          </p:nvPr>
        </p:nvGrpSpPr>
        <p:grpSpPr>
          <a:xfrm rot="16200000">
            <a:off x="11442069" y="-87887"/>
            <a:ext cx="738165" cy="916458"/>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5"/>
            </p:custDataLst>
          </p:nvPr>
        </p:nvGrpSpPr>
        <p:grpSpPr>
          <a:xfrm rot="5400000">
            <a:off x="11893" y="6030689"/>
            <a:ext cx="738165" cy="916458"/>
            <a:chOff x="10608342" y="5053054"/>
            <a:chExt cx="1583658" cy="1966165"/>
          </a:xfrm>
        </p:grpSpPr>
        <p:sp>
          <p:nvSpPr>
            <p:cNvPr id="16" name="任意多边形: 形状 15"/>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p:cNvPicPr>
            <a:picLocks noChangeAspect="1"/>
          </p:cNvPicPr>
          <p:nvPr/>
        </p:nvPicPr>
        <p:blipFill>
          <a:blip r:embed="rId8"/>
          <a:stretch>
            <a:fillRect/>
          </a:stretch>
        </p:blipFill>
        <p:spPr>
          <a:xfrm>
            <a:off x="767715" y="2999740"/>
            <a:ext cx="7460615" cy="1798320"/>
          </a:xfrm>
          <a:prstGeom prst="rect">
            <a:avLst/>
          </a:prstGeom>
          <a:ln>
            <a:solidFill>
              <a:schemeClr val="tx1"/>
            </a:solidFill>
          </a:ln>
        </p:spPr>
      </p:pic>
      <p:sp>
        <p:nvSpPr>
          <p:cNvPr id="8" name="文本框 7"/>
          <p:cNvSpPr txBox="1"/>
          <p:nvPr/>
        </p:nvSpPr>
        <p:spPr>
          <a:xfrm>
            <a:off x="767715" y="1972310"/>
            <a:ext cx="7872730" cy="903605"/>
          </a:xfrm>
          <a:prstGeom prst="rect">
            <a:avLst/>
          </a:prstGeom>
          <a:noFill/>
        </p:spPr>
        <p:txBody>
          <a:bodyPr wrap="square" rtlCol="0">
            <a:noAutofit/>
          </a:bodyPr>
          <a:p>
            <a:pPr algn="l">
              <a:lnSpc>
                <a:spcPct val="90000"/>
              </a:lnSpc>
              <a:spcBef>
                <a:spcPts val="0"/>
              </a:spcBef>
              <a:spcAft>
                <a:spcPts val="1000"/>
              </a:spcAft>
              <a:buClrTx/>
              <a:buSzTx/>
              <a:buFont typeface="Arial" panose="020B0604020202020204" pitchFamily="34" charset="0"/>
              <a:defRPr/>
            </a:pPr>
            <a:r>
              <a:rPr lang="zh-CN" altLang="zh-CN" sz="1200" spc="150">
                <a:solidFill>
                  <a:schemeClr val="tx1">
                    <a:lumMod val="85000"/>
                    <a:lumOff val="15000"/>
                  </a:schemeClr>
                </a:solidFill>
                <a:uFillTx/>
                <a:latin typeface="Bodoni MT Black" panose="02070A03080606020203" pitchFamily="18" charset="0"/>
              </a:rPr>
              <a:t>需求变更灾难：如果在测试阶段发现需求理解有误，必须“推倒重来”，成本极高。</a:t>
            </a:r>
            <a:endParaRPr lang="zh-CN" altLang="zh-CN" sz="1200" spc="150">
              <a:solidFill>
                <a:schemeClr val="tx1">
                  <a:lumMod val="85000"/>
                  <a:lumOff val="15000"/>
                </a:schemeClr>
              </a:solidFill>
              <a:uFillTx/>
              <a:latin typeface="Bodoni MT Black" panose="02070A03080606020203" pitchFamily="18" charset="0"/>
            </a:endParaRPr>
          </a:p>
          <a:p>
            <a:pPr algn="l">
              <a:lnSpc>
                <a:spcPct val="90000"/>
              </a:lnSpc>
              <a:spcBef>
                <a:spcPts val="0"/>
              </a:spcBef>
              <a:spcAft>
                <a:spcPts val="1000"/>
              </a:spcAft>
              <a:buClrTx/>
              <a:buSzTx/>
              <a:buFont typeface="Arial" panose="020B0604020202020204" pitchFamily="34" charset="0"/>
              <a:defRPr/>
            </a:pPr>
            <a:r>
              <a:rPr lang="zh-CN" altLang="zh-CN" sz="1200" spc="150">
                <a:solidFill>
                  <a:schemeClr val="tx1">
                    <a:lumMod val="85000"/>
                    <a:lumOff val="15000"/>
                  </a:schemeClr>
                </a:solidFill>
                <a:uFillTx/>
                <a:latin typeface="Bodoni MT Black" panose="02070A03080606020203" pitchFamily="18" charset="0"/>
              </a:rPr>
              <a:t>缺陷堆积：前期错误到后期才发现，修复代价呈指数级增长。</a:t>
            </a:r>
            <a:endParaRPr lang="zh-CN" altLang="zh-CN" sz="1200" spc="150">
              <a:solidFill>
                <a:schemeClr val="tx1">
                  <a:lumMod val="85000"/>
                  <a:lumOff val="15000"/>
                </a:schemeClr>
              </a:solidFill>
              <a:uFillTx/>
              <a:latin typeface="Bodoni MT Black" panose="02070A03080606020203" pitchFamily="18" charset="0"/>
            </a:endParaRPr>
          </a:p>
          <a:p>
            <a:pPr algn="l">
              <a:lnSpc>
                <a:spcPct val="90000"/>
              </a:lnSpc>
              <a:spcBef>
                <a:spcPts val="0"/>
              </a:spcBef>
              <a:spcAft>
                <a:spcPts val="1000"/>
              </a:spcAft>
              <a:buClrTx/>
              <a:buSzTx/>
              <a:buFont typeface="Arial" panose="020B0604020202020204" pitchFamily="34" charset="0"/>
              <a:defRPr/>
            </a:pPr>
            <a:r>
              <a:rPr lang="zh-CN" altLang="zh-CN" sz="1200" spc="150">
                <a:solidFill>
                  <a:schemeClr val="tx1">
                    <a:lumMod val="85000"/>
                    <a:lumOff val="15000"/>
                  </a:schemeClr>
                </a:solidFill>
                <a:uFillTx/>
                <a:latin typeface="Bodoni MT Black" panose="02070A03080606020203" pitchFamily="18" charset="0"/>
              </a:rPr>
              <a:t>僵化不灵活：无法适应变化（牵一发而动全身）。</a:t>
            </a:r>
            <a:endParaRPr lang="zh-CN" altLang="zh-CN" sz="1200" spc="150">
              <a:solidFill>
                <a:schemeClr val="tx1">
                  <a:lumMod val="85000"/>
                  <a:lumOff val="15000"/>
                </a:schemeClr>
              </a:solidFill>
              <a:uFillTx/>
              <a:latin typeface="Bodoni MT Black" panose="02070A03080606020203" pitchFamily="18" charset="0"/>
            </a:endParaRPr>
          </a:p>
        </p:txBody>
      </p:sp>
      <p:grpSp>
        <p:nvGrpSpPr>
          <p:cNvPr id="19" name="组合 18"/>
          <p:cNvGrpSpPr/>
          <p:nvPr/>
        </p:nvGrpSpPr>
        <p:grpSpPr>
          <a:xfrm>
            <a:off x="767715" y="713105"/>
            <a:ext cx="11072495" cy="1073150"/>
            <a:chOff x="1209" y="1528"/>
            <a:chExt cx="17437" cy="1690"/>
          </a:xfrm>
        </p:grpSpPr>
        <p:pic>
          <p:nvPicPr>
            <p:cNvPr id="7" name="图片 6"/>
            <p:cNvPicPr>
              <a:picLocks noChangeAspect="1"/>
            </p:cNvPicPr>
            <p:nvPr/>
          </p:nvPicPr>
          <p:blipFill>
            <a:blip r:embed="rId9"/>
            <a:stretch>
              <a:fillRect/>
            </a:stretch>
          </p:blipFill>
          <p:spPr>
            <a:xfrm>
              <a:off x="5630" y="1528"/>
              <a:ext cx="13016" cy="1676"/>
            </a:xfrm>
            <a:prstGeom prst="rect">
              <a:avLst/>
            </a:prstGeom>
            <a:ln>
              <a:solidFill>
                <a:schemeClr val="tx1"/>
              </a:solidFill>
            </a:ln>
          </p:spPr>
        </p:pic>
        <p:sp>
          <p:nvSpPr>
            <p:cNvPr id="12" name="文本框 11"/>
            <p:cNvSpPr txBox="1"/>
            <p:nvPr/>
          </p:nvSpPr>
          <p:spPr>
            <a:xfrm>
              <a:off x="1209" y="1528"/>
              <a:ext cx="4421" cy="1690"/>
            </a:xfrm>
            <a:prstGeom prst="rect">
              <a:avLst/>
            </a:prstGeom>
            <a:solidFill>
              <a:schemeClr val="accent1"/>
            </a:solidFill>
            <a:ln>
              <a:solidFill>
                <a:schemeClr val="tx1"/>
              </a:solidFill>
            </a:ln>
          </p:spPr>
          <p:txBody>
            <a:bodyPr wrap="square" rtlCol="0">
              <a:noAutofit/>
            </a:bodyPr>
            <a:p>
              <a:pPr>
                <a:lnSpc>
                  <a:spcPct val="130000"/>
                </a:lnSpc>
              </a:pPr>
              <a:r>
                <a:rPr lang="zh-CN" altLang="zh-CN" sz="1200" b="1" spc="150">
                  <a:solidFill>
                    <a:schemeClr val="bg2"/>
                  </a:solidFill>
                  <a:uFillTx/>
                  <a:latin typeface="Bodoni MT Black" panose="02070A03080606020203" pitchFamily="18" charset="0"/>
                  <a:sym typeface="+mn-ea"/>
                </a:rPr>
                <a:t>经典的瀑布模型</a:t>
              </a:r>
              <a:r>
                <a:rPr lang="zh-CN" altLang="zh-CN" sz="1200" b="1" spc="150">
                  <a:solidFill>
                    <a:srgbClr val="FF0000"/>
                  </a:solidFill>
                  <a:uFillTx/>
                  <a:latin typeface="Bodoni MT Black" panose="02070A03080606020203" pitchFamily="18" charset="0"/>
                  <a:sym typeface="+mn-ea"/>
                </a:rPr>
                <a:t>是线性、顺序、无回溯的</a:t>
              </a:r>
              <a:r>
                <a:rPr lang="zh-CN" altLang="zh-CN" sz="1200" b="1" spc="150">
                  <a:solidFill>
                    <a:schemeClr val="bg2"/>
                  </a:solidFill>
                  <a:uFillTx/>
                  <a:latin typeface="Bodoni MT Black" panose="02070A03080606020203" pitchFamily="18" charset="0"/>
                  <a:sym typeface="+mn-ea"/>
                </a:rPr>
                <a:t>：假设每个阶段都是完美的，一旦进入下一阶段，就不能返回修改前一阶段的成果。</a:t>
              </a:r>
              <a:endParaRPr lang="zh-CN" altLang="zh-CN" sz="1200" b="1" spc="150">
                <a:solidFill>
                  <a:schemeClr val="bg2"/>
                </a:solidFill>
                <a:uFillTx/>
                <a:latin typeface="Bodoni MT Black" panose="02070A03080606020203" pitchFamily="18" charset="0"/>
              </a:endParaRPr>
            </a:p>
            <a:p>
              <a:pPr>
                <a:lnSpc>
                  <a:spcPct val="130000"/>
                </a:lnSpc>
              </a:pPr>
              <a:endParaRPr lang="zh-CN" altLang="zh-CN" sz="1200" b="1" spc="150">
                <a:solidFill>
                  <a:schemeClr val="tx1">
                    <a:lumMod val="85000"/>
                    <a:lumOff val="15000"/>
                  </a:schemeClr>
                </a:solidFill>
                <a:uFillTx/>
                <a:latin typeface="Bodoni MT Black" panose="02070A03080606020203" pitchFamily="18" charset="0"/>
              </a:endParaRPr>
            </a:p>
            <a:p>
              <a:endParaRPr lang="zh-CN" altLang="en-US" sz="1200" b="1"/>
            </a:p>
          </p:txBody>
        </p:sp>
      </p:grpSp>
      <p:sp>
        <p:nvSpPr>
          <p:cNvPr id="13" name="内容占位符 4"/>
          <p:cNvSpPr>
            <a:spLocks noGrp="1"/>
          </p:cNvSpPr>
          <p:nvPr>
            <p:custDataLst>
              <p:tags r:id="rId10"/>
            </p:custDataLst>
          </p:nvPr>
        </p:nvSpPr>
        <p:spPr>
          <a:xfrm>
            <a:off x="767715" y="4959350"/>
            <a:ext cx="7460615" cy="1511300"/>
          </a:xfrm>
          <a:prstGeom prst="rect">
            <a:avLst/>
          </a:prstGeom>
        </p:spPr>
        <p:txBody>
          <a:bodyPr vert="horz" lIns="90170" tIns="46990" rIns="90170" bIns="46990" rtlCol="0">
            <a:normAutofit fontScale="45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90000"/>
              </a:lnSpc>
              <a:buClrTx/>
              <a:buSzTx/>
              <a:buNone/>
              <a:defRPr/>
            </a:pPr>
            <a:r>
              <a:rPr altLang="zh-CN" sz="2665" b="1">
                <a:latin typeface="Bodoni MT Black" panose="02070A03080606020203" pitchFamily="18" charset="0"/>
                <a:ea typeface="+mn-ea"/>
                <a:sym typeface="+mn-ea"/>
              </a:rPr>
              <a:t>瀑布模型有许多优点：</a:t>
            </a:r>
            <a:endParaRPr altLang="zh-CN" sz="2665" b="1">
              <a:latin typeface="Bodoni MT Black" panose="02070A03080606020203" pitchFamily="18" charset="0"/>
              <a:ea typeface="+mn-ea"/>
            </a:endParaRPr>
          </a:p>
          <a:p>
            <a:pPr marL="0" algn="l">
              <a:lnSpc>
                <a:spcPct val="90000"/>
              </a:lnSpc>
              <a:buClrTx/>
              <a:buSzTx/>
              <a:buFont typeface="+mj-lt"/>
              <a:buAutoNum type="arabicPeriod"/>
              <a:defRPr/>
            </a:pPr>
            <a:r>
              <a:rPr altLang="zh-CN" sz="2665">
                <a:latin typeface="Bodoni MT Black" panose="02070A03080606020203" pitchFamily="18" charset="0"/>
                <a:ea typeface="+mn-ea"/>
                <a:sym typeface="+mn-ea"/>
              </a:rPr>
              <a:t>可强迫开发人员采用规范的方法（例如，结构化技术）；</a:t>
            </a:r>
            <a:endParaRPr altLang="zh-CN" sz="2665">
              <a:latin typeface="Bodoni MT Black" panose="02070A03080606020203" pitchFamily="18" charset="0"/>
              <a:ea typeface="+mn-ea"/>
            </a:endParaRPr>
          </a:p>
          <a:p>
            <a:pPr marL="0" algn="l">
              <a:lnSpc>
                <a:spcPct val="90000"/>
              </a:lnSpc>
              <a:buClrTx/>
              <a:buSzTx/>
              <a:buFont typeface="+mj-lt"/>
              <a:buAutoNum type="arabicPeriod"/>
              <a:defRPr/>
            </a:pPr>
            <a:r>
              <a:rPr altLang="zh-CN" sz="2665">
                <a:latin typeface="Bodoni MT Black" panose="02070A03080606020203" pitchFamily="18" charset="0"/>
                <a:ea typeface="+mn-ea"/>
                <a:sym typeface="+mn-ea"/>
              </a:rPr>
              <a:t>严格地规定了每个阶段必须提交的文档，基本上是一种</a:t>
            </a:r>
            <a:r>
              <a:rPr altLang="zh-CN" sz="2665" b="1">
                <a:latin typeface="Bodoni MT Black" panose="02070A03080606020203" pitchFamily="18" charset="0"/>
                <a:ea typeface="+mn-ea"/>
                <a:sym typeface="+mn-ea"/>
              </a:rPr>
              <a:t>文档驱动的模型</a:t>
            </a:r>
            <a:r>
              <a:rPr altLang="zh-CN" sz="2665">
                <a:latin typeface="Bodoni MT Black" panose="02070A03080606020203" pitchFamily="18" charset="0"/>
                <a:ea typeface="+mn-ea"/>
                <a:sym typeface="+mn-ea"/>
              </a:rPr>
              <a:t>；</a:t>
            </a:r>
            <a:endParaRPr altLang="zh-CN" sz="2665">
              <a:latin typeface="Bodoni MT Black" panose="02070A03080606020203" pitchFamily="18" charset="0"/>
              <a:ea typeface="+mn-ea"/>
            </a:endParaRPr>
          </a:p>
          <a:p>
            <a:pPr marL="0" algn="l">
              <a:lnSpc>
                <a:spcPct val="90000"/>
              </a:lnSpc>
              <a:buClrTx/>
              <a:buSzTx/>
              <a:buFont typeface="+mj-lt"/>
              <a:buAutoNum type="arabicPeriod"/>
              <a:defRPr/>
            </a:pPr>
            <a:r>
              <a:rPr altLang="zh-CN" sz="2665">
                <a:latin typeface="Bodoni MT Black" panose="02070A03080606020203" pitchFamily="18" charset="0"/>
                <a:ea typeface="+mn-ea"/>
                <a:sym typeface="+mn-ea"/>
              </a:rPr>
              <a:t>要求每个阶段交出的所有产品都必须经过质量保证小组的仔细验证。</a:t>
            </a:r>
            <a:endParaRPr altLang="zh-CN" sz="2665">
              <a:latin typeface="Bodoni MT Black" panose="02070A03080606020203" pitchFamily="18" charset="0"/>
              <a:ea typeface="+mn-ea"/>
            </a:endParaRPr>
          </a:p>
          <a:p>
            <a:pPr marL="0" indent="0">
              <a:buNone/>
              <a:defRPr/>
            </a:pPr>
            <a:endParaRPr lang="en-US" altLang="zh-CN" dirty="0" smtClean="0">
              <a:latin typeface="Bodoni MT Black" panose="02070A03080606020203" pitchFamily="18" charset="0"/>
              <a:ea typeface="+mn-ea"/>
            </a:endParaRPr>
          </a:p>
          <a:p>
            <a:pPr marL="0" indent="342900">
              <a:defRPr/>
            </a:pPr>
            <a:endParaRPr lang="zh-CN" altLang="en-US" dirty="0">
              <a:solidFill>
                <a:schemeClr val="tx2"/>
              </a:solidFill>
            </a:endParaRPr>
          </a:p>
        </p:txBody>
      </p:sp>
      <p:sp>
        <p:nvSpPr>
          <p:cNvPr id="14" name="文本框 13"/>
          <p:cNvSpPr txBox="1"/>
          <p:nvPr/>
        </p:nvSpPr>
        <p:spPr>
          <a:xfrm>
            <a:off x="6985" y="635"/>
            <a:ext cx="12101195" cy="368300"/>
          </a:xfrm>
          <a:prstGeom prst="rect">
            <a:avLst/>
          </a:prstGeom>
          <a:solidFill>
            <a:schemeClr val="accent1"/>
          </a:solidFill>
        </p:spPr>
        <p:txBody>
          <a:bodyPr wrap="square" rtlCol="0">
            <a:spAutoFit/>
          </a:bodyPr>
          <a:p>
            <a:r>
              <a:rPr lang="zh-CN" altLang="en-US" b="1">
                <a:solidFill>
                  <a:schemeClr val="bg1"/>
                </a:solidFill>
              </a:rPr>
              <a:t>带有</a:t>
            </a:r>
            <a:r>
              <a:rPr lang="en-US" altLang="zh-CN" b="1">
                <a:solidFill>
                  <a:schemeClr val="bg1"/>
                </a:solidFill>
              </a:rPr>
              <a:t>“</a:t>
            </a:r>
            <a:r>
              <a:rPr lang="zh-CN" altLang="en-US" b="1">
                <a:solidFill>
                  <a:schemeClr val="bg1"/>
                </a:solidFill>
              </a:rPr>
              <a:t>反馈环</a:t>
            </a:r>
            <a:r>
              <a:rPr lang="en-US" altLang="zh-CN" b="1">
                <a:solidFill>
                  <a:schemeClr val="bg1"/>
                </a:solidFill>
              </a:rPr>
              <a:t>”</a:t>
            </a:r>
            <a:r>
              <a:rPr lang="zh-CN" altLang="en-US" b="1">
                <a:solidFill>
                  <a:schemeClr val="bg1"/>
                </a:solidFill>
              </a:rPr>
              <a:t>的瀑布模型</a:t>
            </a:r>
            <a:endParaRPr lang="zh-CN" altLang="en-US" b="1">
              <a:solidFill>
                <a:schemeClr val="bg1"/>
              </a:solidFill>
            </a:endParaRPr>
          </a:p>
        </p:txBody>
      </p:sp>
    </p:spTree>
    <p:custDataLst>
      <p:tags r:id="rId1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custDataLst>
              <p:tags r:id="rId1"/>
            </p:custDataLst>
          </p:nvPr>
        </p:nvSpPr>
        <p:spPr>
          <a:xfrm>
            <a:off x="361315" y="565785"/>
            <a:ext cx="4784725" cy="5718175"/>
          </a:xfrm>
        </p:spPr>
        <p:txBody>
          <a:bodyPr>
            <a:normAutofit fontScale="80000"/>
          </a:bodyPr>
          <a:lstStyle/>
          <a:p>
            <a:pPr marL="0" indent="0">
              <a:lnSpc>
                <a:spcPct val="170000"/>
              </a:lnSpc>
              <a:buNone/>
              <a:defRPr/>
            </a:pPr>
            <a:r>
              <a:rPr altLang="zh-CN" sz="1555" b="1">
                <a:solidFill>
                  <a:srgbClr val="FF0000"/>
                </a:solidFill>
                <a:latin typeface="+mn-ea"/>
                <a:ea typeface="+mn-ea"/>
                <a:cs typeface="+mn-ea"/>
                <a:sym typeface="+mn-ea"/>
              </a:rPr>
              <a:t>概念：</a:t>
            </a:r>
            <a:r>
              <a:rPr altLang="zh-CN" sz="1555" smtClean="0">
                <a:latin typeface="+mn-ea"/>
                <a:ea typeface="+mn-ea"/>
                <a:cs typeface="+mn-ea"/>
                <a:sym typeface="+mn-ea"/>
              </a:rPr>
              <a:t>快速原型模型是应对传统瀑布模型（特别是</a:t>
            </a:r>
            <a:r>
              <a:rPr altLang="zh-CN" sz="1555" b="1" smtClean="0">
                <a:latin typeface="+mn-ea"/>
                <a:ea typeface="+mn-ea"/>
                <a:cs typeface="+mn-ea"/>
                <a:sym typeface="+mn-ea"/>
              </a:rPr>
              <a:t>需求不明确场景</a:t>
            </a:r>
            <a:r>
              <a:rPr altLang="zh-CN" sz="1555" smtClean="0">
                <a:latin typeface="+mn-ea"/>
                <a:ea typeface="+mn-ea"/>
                <a:cs typeface="+mn-ea"/>
                <a:sym typeface="+mn-ea"/>
              </a:rPr>
              <a:t>）缺陷的一种重要软件开发模型。它的核心思想是：</a:t>
            </a:r>
            <a:r>
              <a:rPr altLang="zh-CN" sz="1555" b="1" smtClean="0">
                <a:solidFill>
                  <a:srgbClr val="FF0000"/>
                </a:solidFill>
                <a:latin typeface="+mn-ea"/>
                <a:ea typeface="+mn-ea"/>
                <a:cs typeface="+mn-ea"/>
                <a:sym typeface="+mn-ea"/>
              </a:rPr>
              <a:t>快速构建一个简化、可运行的“原型”，让用户尽早看到并体验，从而快速澄清和精化需求。</a:t>
            </a:r>
            <a:r>
              <a:rPr altLang="zh-CN" sz="1555">
                <a:latin typeface="+mn-ea"/>
                <a:ea typeface="+mn-ea"/>
                <a:cs typeface="+mn-ea"/>
                <a:sym typeface="+mn-ea"/>
              </a:rPr>
              <a:t>它所能完成的功能往往是最终产品能完成的功能的一个</a:t>
            </a:r>
            <a:r>
              <a:rPr altLang="zh-CN" sz="1555" b="1">
                <a:solidFill>
                  <a:srgbClr val="00B0F0"/>
                </a:solidFill>
                <a:latin typeface="+mn-ea"/>
                <a:ea typeface="+mn-ea"/>
                <a:cs typeface="+mn-ea"/>
                <a:sym typeface="+mn-ea"/>
              </a:rPr>
              <a:t>子集</a:t>
            </a:r>
            <a:r>
              <a:rPr altLang="zh-CN" sz="1555" smtClean="0">
                <a:latin typeface="+mn-ea"/>
                <a:ea typeface="+mn-ea"/>
                <a:cs typeface="+mn-ea"/>
                <a:sym typeface="+mn-ea"/>
              </a:rPr>
              <a:t>。</a:t>
            </a:r>
            <a:endParaRPr altLang="zh-CN" sz="1555" smtClean="0">
              <a:latin typeface="+mn-ea"/>
              <a:ea typeface="+mn-ea"/>
              <a:cs typeface="+mn-ea"/>
              <a:sym typeface="+mn-ea"/>
            </a:endParaRPr>
          </a:p>
          <a:p>
            <a:pPr marL="0" indent="0">
              <a:lnSpc>
                <a:spcPct val="170000"/>
              </a:lnSpc>
              <a:buNone/>
              <a:defRPr/>
            </a:pPr>
            <a:r>
              <a:rPr altLang="zh-CN" sz="1555" b="1">
                <a:solidFill>
                  <a:srgbClr val="FF0000"/>
                </a:solidFill>
                <a:latin typeface="+mn-ea"/>
                <a:ea typeface="+mn-ea"/>
                <a:cs typeface="+mn-ea"/>
                <a:sym typeface="+mn-ea"/>
              </a:rPr>
              <a:t>特点：</a:t>
            </a:r>
            <a:r>
              <a:rPr altLang="zh-CN" sz="1555">
                <a:latin typeface="+mn-ea"/>
                <a:ea typeface="+mn-ea"/>
                <a:cs typeface="+mn-ea"/>
                <a:sym typeface="+mn-ea"/>
              </a:rPr>
              <a:t>快速原型模型是</a:t>
            </a:r>
            <a:r>
              <a:rPr altLang="zh-CN" sz="1555" b="1">
                <a:solidFill>
                  <a:srgbClr val="FF0000"/>
                </a:solidFill>
                <a:latin typeface="+mn-ea"/>
                <a:ea typeface="+mn-ea"/>
                <a:cs typeface="+mn-ea"/>
                <a:sym typeface="+mn-ea"/>
              </a:rPr>
              <a:t>不带反馈环</a:t>
            </a:r>
            <a:r>
              <a:rPr altLang="zh-CN" sz="1555">
                <a:latin typeface="+mn-ea"/>
                <a:ea typeface="+mn-ea"/>
                <a:cs typeface="+mn-ea"/>
                <a:sym typeface="+mn-ea"/>
              </a:rPr>
              <a:t>的，这正是这种过程模型的主要优点： 软件产品的开发基本上是</a:t>
            </a:r>
            <a:r>
              <a:rPr altLang="zh-CN" sz="1555" b="1">
                <a:solidFill>
                  <a:srgbClr val="FF0000"/>
                </a:solidFill>
                <a:latin typeface="+mn-ea"/>
                <a:ea typeface="+mn-ea"/>
                <a:cs typeface="+mn-ea"/>
                <a:sym typeface="+mn-ea"/>
              </a:rPr>
              <a:t>线性</a:t>
            </a:r>
            <a:r>
              <a:rPr altLang="zh-CN" sz="1555" b="1">
                <a:latin typeface="+mn-ea"/>
                <a:ea typeface="+mn-ea"/>
                <a:cs typeface="+mn-ea"/>
                <a:sym typeface="+mn-ea"/>
              </a:rPr>
              <a:t>顺序</a:t>
            </a:r>
            <a:r>
              <a:rPr altLang="zh-CN" sz="1555">
                <a:latin typeface="+mn-ea"/>
                <a:ea typeface="+mn-ea"/>
                <a:cs typeface="+mn-ea"/>
                <a:sym typeface="+mn-ea"/>
              </a:rPr>
              <a:t>进行的</a:t>
            </a:r>
            <a:r>
              <a:rPr altLang="zh-CN" sz="1555" smtClean="0">
                <a:latin typeface="+mn-ea"/>
                <a:ea typeface="+mn-ea"/>
                <a:cs typeface="+mn-ea"/>
                <a:sym typeface="+mn-ea"/>
              </a:rPr>
              <a:t>。</a:t>
            </a:r>
            <a:endParaRPr lang="en-US" altLang="zh-CN" sz="1555" dirty="0" smtClean="0">
              <a:latin typeface="+mn-ea"/>
              <a:ea typeface="+mn-ea"/>
              <a:cs typeface="+mn-ea"/>
            </a:endParaRPr>
          </a:p>
          <a:p>
            <a:pPr marL="0" indent="0">
              <a:lnSpc>
                <a:spcPct val="170000"/>
              </a:lnSpc>
              <a:buNone/>
              <a:defRPr/>
            </a:pPr>
            <a:r>
              <a:rPr altLang="zh-CN" sz="1555" smtClean="0">
                <a:latin typeface="+mn-ea"/>
                <a:ea typeface="+mn-ea"/>
                <a:cs typeface="+mn-ea"/>
                <a:sym typeface="+mn-ea"/>
              </a:rPr>
              <a:t>能</a:t>
            </a:r>
            <a:r>
              <a:rPr altLang="zh-CN" sz="1555">
                <a:latin typeface="+mn-ea"/>
                <a:ea typeface="+mn-ea"/>
                <a:cs typeface="+mn-ea"/>
                <a:sym typeface="+mn-ea"/>
              </a:rPr>
              <a:t>基本上做到线性顺序开发的主要原因如下</a:t>
            </a:r>
            <a:r>
              <a:rPr altLang="zh-CN" sz="1555" smtClean="0">
                <a:latin typeface="+mn-ea"/>
                <a:ea typeface="+mn-ea"/>
                <a:cs typeface="+mn-ea"/>
                <a:sym typeface="+mn-ea"/>
              </a:rPr>
              <a:t>：</a:t>
            </a:r>
            <a:endParaRPr lang="en-US" altLang="zh-CN" sz="1555" dirty="0" smtClean="0">
              <a:latin typeface="+mn-ea"/>
              <a:ea typeface="+mn-ea"/>
              <a:cs typeface="+mn-ea"/>
            </a:endParaRPr>
          </a:p>
          <a:p>
            <a:pPr marL="0" indent="0">
              <a:lnSpc>
                <a:spcPct val="170000"/>
              </a:lnSpc>
              <a:buNone/>
              <a:defRPr/>
            </a:pPr>
            <a:r>
              <a:rPr altLang="zh-CN" sz="1555" smtClean="0">
                <a:latin typeface="+mn-ea"/>
                <a:ea typeface="+mn-ea"/>
                <a:cs typeface="+mn-ea"/>
                <a:sym typeface="+mn-ea"/>
              </a:rPr>
              <a:t>（</a:t>
            </a:r>
            <a:r>
              <a:rPr lang="en-US" altLang="zh-CN" sz="1555" smtClean="0">
                <a:latin typeface="+mn-ea"/>
                <a:ea typeface="+mn-ea"/>
                <a:cs typeface="+mn-ea"/>
                <a:sym typeface="+mn-ea"/>
              </a:rPr>
              <a:t>1</a:t>
            </a:r>
            <a:r>
              <a:rPr altLang="zh-CN" sz="1555" smtClean="0">
                <a:latin typeface="+mn-ea"/>
                <a:ea typeface="+mn-ea"/>
                <a:cs typeface="+mn-ea"/>
                <a:sym typeface="+mn-ea"/>
              </a:rPr>
              <a:t>） 原型系统已经通过与用户交互而得到验证，据此产生的规格说明文档正确地描述了用户需求，因此，在开发过程的后续阶段不会因为发现了规格说明文档的错误而进行较大的返工。</a:t>
            </a:r>
            <a:endParaRPr lang="zh-CN" altLang="en-US" sz="1555" dirty="0">
              <a:latin typeface="+mn-ea"/>
              <a:ea typeface="+mn-ea"/>
              <a:cs typeface="+mn-ea"/>
            </a:endParaRPr>
          </a:p>
          <a:p>
            <a:pPr marL="0" indent="0">
              <a:lnSpc>
                <a:spcPct val="170000"/>
              </a:lnSpc>
              <a:buNone/>
              <a:defRPr/>
            </a:pPr>
            <a:r>
              <a:rPr altLang="zh-CN" sz="1555" smtClean="0">
                <a:latin typeface="+mn-ea"/>
                <a:ea typeface="+mn-ea"/>
                <a:cs typeface="+mn-ea"/>
                <a:sym typeface="+mn-ea"/>
              </a:rPr>
              <a:t>（</a:t>
            </a:r>
            <a:r>
              <a:rPr lang="en-US" altLang="zh-CN" sz="1555" smtClean="0">
                <a:latin typeface="+mn-ea"/>
                <a:ea typeface="+mn-ea"/>
                <a:cs typeface="+mn-ea"/>
                <a:sym typeface="+mn-ea"/>
              </a:rPr>
              <a:t>2</a:t>
            </a:r>
            <a:r>
              <a:rPr altLang="zh-CN" sz="1555" smtClean="0">
                <a:latin typeface="+mn-ea"/>
                <a:ea typeface="+mn-ea"/>
                <a:cs typeface="+mn-ea"/>
                <a:sym typeface="+mn-ea"/>
              </a:rPr>
              <a:t>） 开发人员通过建立原型系统已经学到了许多东西，因此在设计和编码阶段发生错误的可能性也比较小，这自然减少了在后续阶段需要改正前面阶段所犯错误的可能性。</a:t>
            </a:r>
            <a:endParaRPr lang="zh-CN" altLang="zh-CN" sz="1555" dirty="0">
              <a:latin typeface="+mn-ea"/>
              <a:ea typeface="+mn-ea"/>
              <a:cs typeface="+mn-ea"/>
            </a:endParaRPr>
          </a:p>
          <a:p>
            <a:pPr marL="0" indent="0">
              <a:lnSpc>
                <a:spcPct val="170000"/>
              </a:lnSpc>
              <a:buNone/>
              <a:defRPr/>
            </a:pPr>
            <a:endParaRPr lang="en-US" altLang="zh-CN" sz="1715" dirty="0" smtClean="0">
              <a:latin typeface="+mn-ea"/>
              <a:ea typeface="+mn-ea"/>
              <a:cs typeface="+mn-ea"/>
            </a:endParaRPr>
          </a:p>
          <a:p>
            <a:pPr marL="0" indent="0">
              <a:lnSpc>
                <a:spcPct val="170000"/>
              </a:lnSpc>
              <a:buNone/>
              <a:defRPr/>
            </a:pPr>
            <a:endParaRPr lang="en-US" altLang="zh-CN" dirty="0" smtClean="0">
              <a:latin typeface="+mn-ea"/>
              <a:ea typeface="+mn-ea"/>
              <a:cs typeface="+mn-ea"/>
            </a:endParaRPr>
          </a:p>
          <a:p>
            <a:pPr marL="0" indent="342900">
              <a:defRPr/>
            </a:pPr>
            <a:endParaRPr lang="zh-CN" altLang="en-US" dirty="0">
              <a:solidFill>
                <a:schemeClr val="tx2"/>
              </a:solidFill>
              <a:latin typeface="+mn-ea"/>
              <a:ea typeface="+mn-ea"/>
              <a:cs typeface="+mn-ea"/>
            </a:endParaRPr>
          </a:p>
        </p:txBody>
      </p:sp>
      <p:grpSp>
        <p:nvGrpSpPr>
          <p:cNvPr id="9" name="组合 8"/>
          <p:cNvGrpSpPr/>
          <p:nvPr>
            <p:custDataLst>
              <p:tags r:id="rId2"/>
            </p:custDataLst>
          </p:nvPr>
        </p:nvGrpSpPr>
        <p:grpSpPr>
          <a:xfrm rot="16200000">
            <a:off x="11442069" y="-87887"/>
            <a:ext cx="738165" cy="916458"/>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5"/>
            </p:custDataLst>
          </p:nvPr>
        </p:nvGrpSpPr>
        <p:grpSpPr>
          <a:xfrm rot="5400000">
            <a:off x="11893" y="6030689"/>
            <a:ext cx="738165" cy="916458"/>
            <a:chOff x="10608342" y="5053054"/>
            <a:chExt cx="1583658" cy="1966165"/>
          </a:xfrm>
        </p:grpSpPr>
        <p:sp>
          <p:nvSpPr>
            <p:cNvPr id="16" name="任意多边形: 形状 15"/>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0114" name="图片 3"/>
          <p:cNvPicPr>
            <a:picLocks noChangeAspect="1"/>
          </p:cNvPicPr>
          <p:nvPr>
            <p:ph sz="half" idx="2"/>
            <p:custDataLst>
              <p:tags r:id="rId8"/>
            </p:custDataLst>
          </p:nvPr>
        </p:nvPicPr>
        <p:blipFill>
          <a:blip r:embed="rId9" cstate="print"/>
          <a:srcRect/>
          <a:stretch>
            <a:fillRect/>
          </a:stretch>
        </p:blipFill>
        <p:spPr bwMode="auto">
          <a:xfrm>
            <a:off x="7578090" y="514985"/>
            <a:ext cx="3960495" cy="5741035"/>
          </a:xfrm>
          <a:prstGeom prst="rect">
            <a:avLst/>
          </a:prstGeom>
          <a:noFill/>
          <a:ln w="9525">
            <a:solidFill>
              <a:schemeClr val="tx1"/>
            </a:solidFill>
            <a:miter lim="800000"/>
            <a:headEnd/>
            <a:tailEnd/>
          </a:ln>
        </p:spPr>
      </p:pic>
      <p:pic>
        <p:nvPicPr>
          <p:cNvPr id="2" name="图片 1"/>
          <p:cNvPicPr>
            <a:picLocks noChangeAspect="1"/>
          </p:cNvPicPr>
          <p:nvPr/>
        </p:nvPicPr>
        <p:blipFill>
          <a:blip r:embed="rId10"/>
          <a:stretch>
            <a:fillRect/>
          </a:stretch>
        </p:blipFill>
        <p:spPr>
          <a:xfrm>
            <a:off x="5385435" y="514985"/>
            <a:ext cx="2092325" cy="5741035"/>
          </a:xfrm>
          <a:prstGeom prst="rect">
            <a:avLst/>
          </a:prstGeom>
          <a:ln>
            <a:solidFill>
              <a:schemeClr val="tx1"/>
            </a:solidFill>
          </a:ln>
        </p:spPr>
      </p:pic>
      <p:sp>
        <p:nvSpPr>
          <p:cNvPr id="4" name="文本框 3"/>
          <p:cNvSpPr txBox="1"/>
          <p:nvPr/>
        </p:nvSpPr>
        <p:spPr>
          <a:xfrm>
            <a:off x="6567805" y="6355080"/>
            <a:ext cx="4330700" cy="275590"/>
          </a:xfrm>
          <a:prstGeom prst="rect">
            <a:avLst/>
          </a:prstGeom>
          <a:noFill/>
        </p:spPr>
        <p:txBody>
          <a:bodyPr wrap="square" rtlCol="0">
            <a:spAutoFit/>
          </a:bodyPr>
          <a:p>
            <a:r>
              <a:rPr lang="zh-CN" altLang="en-US" sz="1200" b="1"/>
              <a:t>“构建原型 → 用户评估 → 快速修改”</a:t>
            </a:r>
            <a:r>
              <a:rPr lang="zh-CN" altLang="en-US" sz="1200" b="1">
                <a:solidFill>
                  <a:srgbClr val="FF0000"/>
                </a:solidFill>
              </a:rPr>
              <a:t>极大降低了风险</a:t>
            </a:r>
            <a:endParaRPr lang="zh-CN" altLang="en-US" sz="1200" b="1">
              <a:solidFill>
                <a:srgbClr val="FF0000"/>
              </a:solidFill>
            </a:endParaRPr>
          </a:p>
        </p:txBody>
      </p:sp>
      <p:sp>
        <p:nvSpPr>
          <p:cNvPr id="6" name="文本框 5"/>
          <p:cNvSpPr txBox="1"/>
          <p:nvPr/>
        </p:nvSpPr>
        <p:spPr>
          <a:xfrm>
            <a:off x="6985" y="635"/>
            <a:ext cx="12101195" cy="368300"/>
          </a:xfrm>
          <a:prstGeom prst="rect">
            <a:avLst/>
          </a:prstGeom>
          <a:solidFill>
            <a:schemeClr val="accent1"/>
          </a:solidFill>
        </p:spPr>
        <p:txBody>
          <a:bodyPr wrap="square" rtlCol="0">
            <a:spAutoFit/>
          </a:bodyPr>
          <a:p>
            <a:r>
              <a:rPr lang="zh-CN" altLang="en-US" b="1">
                <a:solidFill>
                  <a:schemeClr val="bg1"/>
                </a:solidFill>
              </a:rPr>
              <a:t>快速原型模型</a:t>
            </a:r>
            <a:endParaRPr lang="zh-CN" altLang="en-US" b="1">
              <a:solidFill>
                <a:schemeClr val="bg1"/>
              </a:solidFill>
            </a:endParaRPr>
          </a:p>
        </p:txBody>
      </p:sp>
    </p:spTree>
    <p:custDataLst>
      <p:tags r:id="rId1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custDataLst>
              <p:tags r:id="rId1"/>
            </p:custDataLst>
          </p:nvPr>
        </p:nvGrpSpPr>
        <p:grpSpPr>
          <a:xfrm rot="5400000">
            <a:off x="11893" y="6030689"/>
            <a:ext cx="738165" cy="916458"/>
            <a:chOff x="10608342" y="5053054"/>
            <a:chExt cx="1583658" cy="1966165"/>
          </a:xfrm>
        </p:grpSpPr>
        <p:sp>
          <p:nvSpPr>
            <p:cNvPr id="16" name="任意多边形: 形状 15"/>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内容占位符 4"/>
          <p:cNvSpPr>
            <a:spLocks noGrp="1"/>
          </p:cNvSpPr>
          <p:nvPr>
            <p:ph sz="half" idx="1"/>
            <p:custDataLst>
              <p:tags r:id="rId4"/>
            </p:custDataLst>
          </p:nvPr>
        </p:nvSpPr>
        <p:spPr>
          <a:xfrm>
            <a:off x="-2540" y="1989455"/>
            <a:ext cx="6190615" cy="4868545"/>
          </a:xfrm>
          <a:solidFill>
            <a:srgbClr val="5C8FC7"/>
          </a:solidFill>
        </p:spPr>
        <p:txBody>
          <a:bodyPr>
            <a:normAutofit/>
          </a:bodyPr>
          <a:lstStyle/>
          <a:p>
            <a:pPr marL="0" indent="0">
              <a:lnSpc>
                <a:spcPct val="150000"/>
              </a:lnSpc>
              <a:buNone/>
              <a:defRPr/>
            </a:pPr>
            <a:r>
              <a:rPr altLang="zh-CN" sz="1400" b="1">
                <a:solidFill>
                  <a:srgbClr val="FF0000"/>
                </a:solidFill>
                <a:latin typeface="+mn-ea"/>
                <a:ea typeface="+mn-ea"/>
                <a:sym typeface="+mn-ea"/>
              </a:rPr>
              <a:t>概念</a:t>
            </a:r>
            <a:r>
              <a:rPr altLang="zh-CN" sz="1400" b="1">
                <a:solidFill>
                  <a:schemeClr val="bg1"/>
                </a:solidFill>
                <a:latin typeface="+mn-ea"/>
                <a:ea typeface="+mn-ea"/>
                <a:sym typeface="+mn-ea"/>
              </a:rPr>
              <a:t>：增量模型也称为</a:t>
            </a:r>
            <a:r>
              <a:rPr altLang="zh-CN" sz="1400" b="1">
                <a:solidFill>
                  <a:srgbClr val="FF0000"/>
                </a:solidFill>
                <a:latin typeface="+mn-ea"/>
                <a:ea typeface="+mn-ea"/>
                <a:sym typeface="+mn-ea"/>
              </a:rPr>
              <a:t>渐增</a:t>
            </a:r>
            <a:r>
              <a:rPr altLang="zh-CN" sz="1400" b="1" smtClean="0">
                <a:solidFill>
                  <a:srgbClr val="FF0000"/>
                </a:solidFill>
                <a:latin typeface="+mn-ea"/>
                <a:ea typeface="+mn-ea"/>
                <a:sym typeface="+mn-ea"/>
              </a:rPr>
              <a:t>模型</a:t>
            </a:r>
            <a:r>
              <a:rPr altLang="zh-CN" sz="1400" b="1" smtClean="0">
                <a:solidFill>
                  <a:schemeClr val="bg1"/>
                </a:solidFill>
                <a:latin typeface="+mn-ea"/>
                <a:ea typeface="+mn-ea"/>
                <a:sym typeface="+mn-ea"/>
              </a:rPr>
              <a:t>。它的</a:t>
            </a:r>
            <a:r>
              <a:rPr altLang="zh-CN" sz="1400" b="1" smtClean="0">
                <a:solidFill>
                  <a:srgbClr val="FFFF00"/>
                </a:solidFill>
                <a:latin typeface="+mn-ea"/>
                <a:ea typeface="+mn-ea"/>
                <a:sym typeface="+mn-ea"/>
              </a:rPr>
              <a:t>核心思想不是一次性交付整个系统，而是分批次、渐进式地交付</a:t>
            </a:r>
            <a:r>
              <a:rPr altLang="zh-CN" sz="1400" b="1" smtClean="0">
                <a:solidFill>
                  <a:schemeClr val="bg1"/>
                </a:solidFill>
                <a:latin typeface="+mn-ea"/>
                <a:ea typeface="+mn-ea"/>
                <a:sym typeface="+mn-ea"/>
              </a:rPr>
              <a:t>。</a:t>
            </a:r>
            <a:r>
              <a:rPr altLang="zh-CN" sz="1400" b="1">
                <a:solidFill>
                  <a:schemeClr val="bg1"/>
                </a:solidFill>
                <a:latin typeface="+mn-ea"/>
                <a:ea typeface="+mn-ea"/>
                <a:sym typeface="+mn-ea"/>
              </a:rPr>
              <a:t>使用增量模型开发软件时，把软件产品作为一系列的增量构件来设计、编码、集成和测试。使用增量模型时，第一个增量构件往往实现软件的基本需求，提供</a:t>
            </a:r>
            <a:r>
              <a:rPr altLang="zh-CN" sz="1400" b="1">
                <a:solidFill>
                  <a:srgbClr val="FF0000"/>
                </a:solidFill>
                <a:latin typeface="+mn-ea"/>
                <a:ea typeface="+mn-ea"/>
                <a:sym typeface="+mn-ea"/>
              </a:rPr>
              <a:t>最核心</a:t>
            </a:r>
            <a:r>
              <a:rPr altLang="zh-CN" sz="1400" b="1">
                <a:solidFill>
                  <a:schemeClr val="bg1"/>
                </a:solidFill>
                <a:latin typeface="+mn-ea"/>
                <a:ea typeface="+mn-ea"/>
                <a:sym typeface="+mn-ea"/>
              </a:rPr>
              <a:t>的功能</a:t>
            </a:r>
            <a:r>
              <a:rPr altLang="zh-CN" sz="1400" b="1" smtClean="0">
                <a:solidFill>
                  <a:schemeClr val="bg1"/>
                </a:solidFill>
                <a:latin typeface="+mn-ea"/>
                <a:ea typeface="+mn-ea"/>
                <a:sym typeface="+mn-ea"/>
              </a:rPr>
              <a:t>。</a:t>
            </a:r>
            <a:endParaRPr altLang="zh-CN" sz="1400" b="1" smtClean="0">
              <a:solidFill>
                <a:schemeClr val="bg1"/>
              </a:solidFill>
              <a:latin typeface="+mn-ea"/>
              <a:ea typeface="+mn-ea"/>
              <a:sym typeface="+mn-ea"/>
            </a:endParaRPr>
          </a:p>
          <a:p>
            <a:pPr marL="0" indent="0">
              <a:lnSpc>
                <a:spcPct val="150000"/>
              </a:lnSpc>
              <a:buNone/>
              <a:defRPr/>
            </a:pPr>
            <a:r>
              <a:rPr altLang="zh-CN" sz="1400" b="1">
                <a:solidFill>
                  <a:srgbClr val="FF0000"/>
                </a:solidFill>
                <a:latin typeface="+mn-ea"/>
                <a:ea typeface="+mn-ea"/>
                <a:sym typeface="+mn-ea"/>
              </a:rPr>
              <a:t>优点：</a:t>
            </a:r>
            <a:r>
              <a:rPr sz="1400" b="1" smtClean="0">
                <a:solidFill>
                  <a:schemeClr val="bg1"/>
                </a:solidFill>
                <a:latin typeface="+mn-ea"/>
                <a:ea typeface="+mn-ea"/>
                <a:sym typeface="+mn-ea"/>
              </a:rPr>
              <a:t>能在较短时间内向用户提交可完成部分工作的产品；</a:t>
            </a:r>
            <a:r>
              <a:rPr altLang="zh-CN" sz="1400" b="1" smtClean="0">
                <a:solidFill>
                  <a:schemeClr val="bg1"/>
                </a:solidFill>
                <a:latin typeface="+mn-ea"/>
                <a:ea typeface="+mn-ea"/>
                <a:sym typeface="+mn-ea"/>
              </a:rPr>
              <a:t>逐步增加产品功能可以使用户有较充裕的时间学习和适应新产品，从而减少一个全新的软件可能给客户组织带来的冲击</a:t>
            </a:r>
            <a:r>
              <a:rPr sz="1400" b="1" smtClean="0">
                <a:solidFill>
                  <a:schemeClr val="bg1"/>
                </a:solidFill>
                <a:latin typeface="+mn-ea"/>
                <a:ea typeface="+mn-ea"/>
                <a:sym typeface="+mn-ea"/>
              </a:rPr>
              <a:t>。</a:t>
            </a:r>
            <a:endParaRPr lang="en-US" altLang="zh-CN" sz="1400" b="1" dirty="0" smtClean="0">
              <a:solidFill>
                <a:schemeClr val="bg1"/>
              </a:solidFill>
              <a:latin typeface="+mn-ea"/>
              <a:ea typeface="+mn-ea"/>
            </a:endParaRPr>
          </a:p>
          <a:p>
            <a:pPr marL="0" indent="0">
              <a:lnSpc>
                <a:spcPct val="150000"/>
              </a:lnSpc>
              <a:buNone/>
              <a:defRPr/>
            </a:pPr>
            <a:r>
              <a:rPr altLang="zh-CN" sz="1400" b="1">
                <a:solidFill>
                  <a:srgbClr val="FF0000"/>
                </a:solidFill>
                <a:latin typeface="+mn-ea"/>
                <a:ea typeface="+mn-ea"/>
                <a:sym typeface="+mn-ea"/>
              </a:rPr>
              <a:t>难点：</a:t>
            </a:r>
            <a:r>
              <a:rPr altLang="zh-CN" sz="1400" b="1" smtClean="0">
                <a:solidFill>
                  <a:schemeClr val="bg1"/>
                </a:solidFill>
                <a:latin typeface="+mn-ea"/>
                <a:ea typeface="+mn-ea"/>
                <a:sym typeface="+mn-ea"/>
              </a:rPr>
              <a:t>在把每个新的增量构件集成到现有软件体系结构中时，必须不破坏原来已经开发出的产品。必须把软件的体系结构设计得便于按这种方式进行扩充，向现有产品中加入新构件的过程必须简单、方便，也就是说，软件体系结构必须是开放的。</a:t>
            </a:r>
            <a:endParaRPr lang="zh-CN" altLang="zh-CN" sz="1400" b="1" dirty="0" smtClean="0">
              <a:solidFill>
                <a:schemeClr val="bg1"/>
              </a:solidFill>
              <a:latin typeface="+mn-ea"/>
              <a:ea typeface="+mn-ea"/>
              <a:sym typeface="+mn-ea"/>
            </a:endParaRPr>
          </a:p>
        </p:txBody>
      </p:sp>
      <p:grpSp>
        <p:nvGrpSpPr>
          <p:cNvPr id="9" name="组合 8"/>
          <p:cNvGrpSpPr/>
          <p:nvPr>
            <p:custDataLst>
              <p:tags r:id="rId5"/>
            </p:custDataLst>
          </p:nvPr>
        </p:nvGrpSpPr>
        <p:grpSpPr>
          <a:xfrm rot="16200000">
            <a:off x="11442069" y="-87887"/>
            <a:ext cx="738165" cy="916458"/>
            <a:chOff x="10608342" y="5053054"/>
            <a:chExt cx="1583658" cy="1966165"/>
          </a:xfrm>
        </p:grpSpPr>
        <p:sp>
          <p:nvSpPr>
            <p:cNvPr id="10" name="任意多边形: 形状 9"/>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p:cNvPicPr>
            <a:picLocks noChangeAspect="1"/>
          </p:cNvPicPr>
          <p:nvPr>
            <p:custDataLst>
              <p:tags r:id="rId8"/>
            </p:custDataLst>
          </p:nvPr>
        </p:nvPicPr>
        <p:blipFill>
          <a:blip r:embed="rId9"/>
          <a:srcRect r="678"/>
          <a:stretch>
            <a:fillRect/>
          </a:stretch>
        </p:blipFill>
        <p:spPr>
          <a:xfrm>
            <a:off x="6372225" y="2580640"/>
            <a:ext cx="5593080" cy="2442845"/>
          </a:xfrm>
          <a:prstGeom prst="rect">
            <a:avLst/>
          </a:prstGeom>
        </p:spPr>
      </p:pic>
      <p:sp>
        <p:nvSpPr>
          <p:cNvPr id="13" name="线形标注 1(带强调线) 12"/>
          <p:cNvSpPr/>
          <p:nvPr/>
        </p:nvSpPr>
        <p:spPr>
          <a:xfrm>
            <a:off x="7362190" y="5434330"/>
            <a:ext cx="3226435" cy="358140"/>
          </a:xfrm>
          <a:prstGeom prst="accentCallout1">
            <a:avLst>
              <a:gd name="adj1" fmla="val 35106"/>
              <a:gd name="adj2" fmla="val 101869"/>
              <a:gd name="adj3" fmla="val 34219"/>
              <a:gd name="adj4" fmla="val 120310"/>
            </a:avLst>
          </a:prstGeom>
          <a:solidFill>
            <a:schemeClr val="tx1"/>
          </a:solidFill>
          <a:ln w="2540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风险更大的增量模型</a:t>
            </a:r>
            <a:endParaRPr lang="zh-CN" altLang="en-US" sz="1600" b="1"/>
          </a:p>
        </p:txBody>
      </p:sp>
      <p:pic>
        <p:nvPicPr>
          <p:cNvPr id="6" name="图片 5"/>
          <p:cNvPicPr>
            <a:picLocks noChangeAspect="1"/>
          </p:cNvPicPr>
          <p:nvPr/>
        </p:nvPicPr>
        <p:blipFill>
          <a:blip r:embed="rId10"/>
          <a:stretch>
            <a:fillRect/>
          </a:stretch>
        </p:blipFill>
        <p:spPr>
          <a:xfrm>
            <a:off x="6985" y="368935"/>
            <a:ext cx="12193270" cy="1620520"/>
          </a:xfrm>
          <a:prstGeom prst="rect">
            <a:avLst/>
          </a:prstGeom>
          <a:ln>
            <a:solidFill>
              <a:schemeClr val="tx1"/>
            </a:solidFill>
          </a:ln>
        </p:spPr>
      </p:pic>
      <p:sp>
        <p:nvSpPr>
          <p:cNvPr id="7" name="文本框 6"/>
          <p:cNvSpPr txBox="1"/>
          <p:nvPr/>
        </p:nvSpPr>
        <p:spPr>
          <a:xfrm>
            <a:off x="6985" y="635"/>
            <a:ext cx="12101195" cy="368300"/>
          </a:xfrm>
          <a:prstGeom prst="rect">
            <a:avLst/>
          </a:prstGeom>
          <a:solidFill>
            <a:schemeClr val="accent1"/>
          </a:solidFill>
        </p:spPr>
        <p:txBody>
          <a:bodyPr wrap="square" rtlCol="0">
            <a:spAutoFit/>
          </a:bodyPr>
          <a:p>
            <a:r>
              <a:rPr lang="zh-CN" altLang="en-US" b="1">
                <a:solidFill>
                  <a:schemeClr val="bg1"/>
                </a:solidFill>
              </a:rPr>
              <a:t>增量模型</a:t>
            </a:r>
            <a:endParaRPr lang="zh-CN" altLang="en-US" b="1">
              <a:solidFill>
                <a:schemeClr val="bg1"/>
              </a:solidFill>
            </a:endParaRPr>
          </a:p>
        </p:txBody>
      </p:sp>
    </p:spTree>
    <p:custDataLst>
      <p:tags r:id="rId1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custDataLst>
              <p:tags r:id="rId1"/>
            </p:custDataLst>
          </p:nvPr>
        </p:nvGrpSpPr>
        <p:grpSpPr>
          <a:xfrm rot="5400000">
            <a:off x="11893" y="6030689"/>
            <a:ext cx="738165" cy="916458"/>
            <a:chOff x="10608342" y="5053054"/>
            <a:chExt cx="1583658" cy="1966165"/>
          </a:xfrm>
        </p:grpSpPr>
        <p:sp>
          <p:nvSpPr>
            <p:cNvPr id="16" name="任意多边形: 形状 15"/>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内容占位符 4"/>
          <p:cNvSpPr>
            <a:spLocks noGrp="1"/>
          </p:cNvSpPr>
          <p:nvPr>
            <p:ph sz="half" idx="1"/>
            <p:custDataLst>
              <p:tags r:id="rId4"/>
            </p:custDataLst>
          </p:nvPr>
        </p:nvSpPr>
        <p:spPr>
          <a:xfrm>
            <a:off x="6985" y="436880"/>
            <a:ext cx="3240405" cy="6420485"/>
          </a:xfrm>
          <a:solidFill>
            <a:srgbClr val="5C8FC7"/>
          </a:solidFill>
        </p:spPr>
        <p:txBody>
          <a:bodyPr>
            <a:normAutofit fontScale="25000"/>
          </a:bodyPr>
          <a:lstStyle/>
          <a:p>
            <a:pPr marL="0" indent="0">
              <a:lnSpc>
                <a:spcPct val="160000"/>
              </a:lnSpc>
              <a:buNone/>
              <a:defRPr/>
            </a:pPr>
            <a:r>
              <a:rPr altLang="zh-CN" sz="5600" b="1">
                <a:solidFill>
                  <a:srgbClr val="FFC000"/>
                </a:solidFill>
                <a:latin typeface="Bodoni MT Black" panose="02070A03080606020203" pitchFamily="18" charset="0"/>
                <a:ea typeface="+mn-ea"/>
                <a:sym typeface="+mn-ea"/>
              </a:rPr>
              <a:t>概念：</a:t>
            </a:r>
            <a:r>
              <a:rPr altLang="zh-CN" sz="5600" b="1">
                <a:solidFill>
                  <a:schemeClr val="bg1"/>
                </a:solidFill>
                <a:latin typeface="Bodoni MT Black" panose="02070A03080606020203" pitchFamily="18" charset="0"/>
                <a:ea typeface="+mn-ea"/>
                <a:sym typeface="+mn-ea"/>
              </a:rPr>
              <a:t>螺旋模型</a:t>
            </a:r>
            <a:r>
              <a:rPr altLang="zh-CN" sz="5600" b="1">
                <a:solidFill>
                  <a:schemeClr val="bg1"/>
                </a:solidFill>
                <a:latin typeface="Bodoni MT Black" panose="02070A03080606020203" pitchFamily="18" charset="0"/>
                <a:ea typeface="+mn-ea"/>
                <a:sym typeface="+mn-ea"/>
              </a:rPr>
              <a:t>是一种</a:t>
            </a:r>
            <a:r>
              <a:rPr altLang="zh-CN" sz="5600" b="1">
                <a:solidFill>
                  <a:srgbClr val="FF0000"/>
                </a:solidFill>
                <a:latin typeface="Bodoni MT Black" panose="02070A03080606020203" pitchFamily="18" charset="0"/>
                <a:ea typeface="+mn-ea"/>
                <a:sym typeface="+mn-ea"/>
              </a:rPr>
              <a:t>风险驱动</a:t>
            </a:r>
            <a:r>
              <a:rPr altLang="zh-CN" sz="5600" b="1">
                <a:solidFill>
                  <a:schemeClr val="bg1"/>
                </a:solidFill>
                <a:latin typeface="Bodoni MT Black" panose="02070A03080606020203" pitchFamily="18" charset="0"/>
                <a:ea typeface="+mn-ea"/>
                <a:sym typeface="+mn-ea"/>
              </a:rPr>
              <a:t>的软件过程模型</a:t>
            </a:r>
            <a:r>
              <a:rPr altLang="zh-CN" sz="5600" b="1">
                <a:solidFill>
                  <a:schemeClr val="bg1"/>
                </a:solidFill>
                <a:latin typeface="Bodoni MT Black" panose="02070A03080606020203" pitchFamily="18" charset="0"/>
                <a:ea typeface="+mn-ea"/>
                <a:sym typeface="+mn-ea"/>
              </a:rPr>
              <a:t>，其基本思想是，</a:t>
            </a:r>
            <a:r>
              <a:rPr altLang="zh-CN" sz="5600" b="1">
                <a:solidFill>
                  <a:srgbClr val="FFFF00"/>
                </a:solidFill>
                <a:latin typeface="Bodoni MT Black" panose="02070A03080606020203" pitchFamily="18" charset="0"/>
                <a:ea typeface="+mn-ea"/>
                <a:sym typeface="+mn-ea"/>
              </a:rPr>
              <a:t>使用原型及其他方法来尽量降低风险。</a:t>
            </a:r>
            <a:r>
              <a:rPr altLang="zh-CN" sz="5600" b="1">
                <a:solidFill>
                  <a:schemeClr val="bg1"/>
                </a:solidFill>
                <a:latin typeface="Bodoni MT Black" panose="02070A03080606020203" pitchFamily="18" charset="0"/>
                <a:ea typeface="+mn-ea"/>
                <a:sym typeface="+mn-ea"/>
              </a:rPr>
              <a:t>理解这种模型的一个简便方法，是把它看作在</a:t>
            </a:r>
            <a:r>
              <a:rPr altLang="zh-CN" sz="5600" b="1">
                <a:solidFill>
                  <a:srgbClr val="FF0000"/>
                </a:solidFill>
                <a:latin typeface="Bodoni MT Black" panose="02070A03080606020203" pitchFamily="18" charset="0"/>
                <a:ea typeface="+mn-ea"/>
                <a:sym typeface="+mn-ea"/>
              </a:rPr>
              <a:t>每个阶段之前都增加了风险分析过程的快速原型模型</a:t>
            </a:r>
            <a:r>
              <a:rPr altLang="zh-CN" sz="5600" b="1" smtClean="0">
                <a:solidFill>
                  <a:srgbClr val="FF0000"/>
                </a:solidFill>
                <a:latin typeface="Bodoni MT Black" panose="02070A03080606020203" pitchFamily="18" charset="0"/>
                <a:ea typeface="+mn-ea"/>
                <a:sym typeface="+mn-ea"/>
              </a:rPr>
              <a:t>。</a:t>
            </a:r>
            <a:endParaRPr altLang="zh-CN" sz="5600" b="1" smtClean="0">
              <a:solidFill>
                <a:schemeClr val="bg1"/>
              </a:solidFill>
              <a:latin typeface="Bodoni MT Black" panose="02070A03080606020203" pitchFamily="18" charset="0"/>
              <a:ea typeface="+mn-ea"/>
              <a:sym typeface="+mn-ea"/>
            </a:endParaRPr>
          </a:p>
          <a:p>
            <a:pPr marL="0" algn="l">
              <a:lnSpc>
                <a:spcPct val="160000"/>
              </a:lnSpc>
              <a:buClrTx/>
              <a:buSzTx/>
              <a:buNone/>
              <a:defRPr/>
            </a:pPr>
            <a:r>
              <a:rPr altLang="zh-CN" sz="5600" b="1">
                <a:solidFill>
                  <a:srgbClr val="FFC000"/>
                </a:solidFill>
                <a:latin typeface="Bodoni MT Black" panose="02070A03080606020203" pitchFamily="18" charset="0"/>
                <a:ea typeface="+mn-ea"/>
                <a:sym typeface="+mn-ea"/>
              </a:rPr>
              <a:t>优点：</a:t>
            </a:r>
            <a:endParaRPr altLang="zh-CN" sz="5600" b="1">
              <a:solidFill>
                <a:srgbClr val="FFC000"/>
              </a:solidFill>
              <a:latin typeface="Bodoni MT Black" panose="02070A03080606020203" pitchFamily="18" charset="0"/>
              <a:ea typeface="+mn-ea"/>
              <a:sym typeface="+mn-ea"/>
            </a:endParaRPr>
          </a:p>
          <a:p>
            <a:pPr marL="114300" indent="-342900" algn="l">
              <a:lnSpc>
                <a:spcPct val="160000"/>
              </a:lnSpc>
              <a:buClrTx/>
              <a:buSzTx/>
              <a:buFont typeface="+mj-ea"/>
              <a:buAutoNum type="circleNumDbPlain"/>
              <a:defRPr/>
            </a:pPr>
            <a:r>
              <a:rPr altLang="zh-CN" sz="5600" b="1">
                <a:solidFill>
                  <a:schemeClr val="bg1"/>
                </a:solidFill>
                <a:latin typeface="Bodoni MT Black" panose="02070A03080606020203" pitchFamily="18" charset="0"/>
                <a:ea typeface="+mn-ea"/>
                <a:sym typeface="+mn-ea"/>
              </a:rPr>
              <a:t>卓越的风险管理</a:t>
            </a:r>
            <a:endParaRPr altLang="zh-CN" sz="5600" b="1">
              <a:solidFill>
                <a:schemeClr val="bg1"/>
              </a:solidFill>
              <a:latin typeface="Bodoni MT Black" panose="02070A03080606020203" pitchFamily="18" charset="0"/>
              <a:ea typeface="+mn-ea"/>
              <a:sym typeface="+mn-ea"/>
            </a:endParaRPr>
          </a:p>
          <a:p>
            <a:pPr marL="114300" indent="-342900" algn="l">
              <a:lnSpc>
                <a:spcPct val="160000"/>
              </a:lnSpc>
              <a:buClrTx/>
              <a:buSzTx/>
              <a:buFont typeface="+mj-ea"/>
              <a:buAutoNum type="circleNumDbPlain"/>
              <a:defRPr/>
            </a:pPr>
            <a:r>
              <a:rPr altLang="zh-CN" sz="5600" b="1">
                <a:solidFill>
                  <a:schemeClr val="bg1"/>
                </a:solidFill>
                <a:latin typeface="Bodoni MT Black" panose="02070A03080606020203" pitchFamily="18" charset="0"/>
                <a:ea typeface="+mn-ea"/>
                <a:sym typeface="+mn-ea"/>
              </a:rPr>
              <a:t>高度的灵活性和适应性</a:t>
            </a:r>
            <a:endParaRPr altLang="zh-CN" sz="5600" b="1">
              <a:solidFill>
                <a:schemeClr val="bg1"/>
              </a:solidFill>
              <a:latin typeface="Bodoni MT Black" panose="02070A03080606020203" pitchFamily="18" charset="0"/>
              <a:ea typeface="+mn-ea"/>
              <a:sym typeface="+mn-ea"/>
            </a:endParaRPr>
          </a:p>
          <a:p>
            <a:pPr marL="114300" indent="-342900" algn="l">
              <a:lnSpc>
                <a:spcPct val="160000"/>
              </a:lnSpc>
              <a:buClrTx/>
              <a:buSzTx/>
              <a:buFont typeface="+mj-ea"/>
              <a:buAutoNum type="circleNumDbPlain"/>
              <a:defRPr/>
            </a:pPr>
            <a:r>
              <a:rPr altLang="zh-CN" sz="5600" b="1">
                <a:solidFill>
                  <a:schemeClr val="bg1"/>
                </a:solidFill>
                <a:latin typeface="Bodoni MT Black" panose="02070A03080606020203" pitchFamily="18" charset="0"/>
                <a:ea typeface="+mn-ea"/>
                <a:sym typeface="+mn-ea"/>
              </a:rPr>
              <a:t>客户参与度高</a:t>
            </a:r>
            <a:endParaRPr altLang="zh-CN" sz="5600" b="1">
              <a:solidFill>
                <a:schemeClr val="bg1"/>
              </a:solidFill>
              <a:latin typeface="Bodoni MT Black" panose="02070A03080606020203" pitchFamily="18" charset="0"/>
              <a:ea typeface="+mn-ea"/>
              <a:sym typeface="+mn-ea"/>
            </a:endParaRPr>
          </a:p>
          <a:p>
            <a:pPr marL="114300" indent="-342900" algn="l">
              <a:lnSpc>
                <a:spcPct val="160000"/>
              </a:lnSpc>
              <a:buClrTx/>
              <a:buSzTx/>
              <a:buFont typeface="+mj-ea"/>
              <a:buAutoNum type="circleNumDbPlain"/>
              <a:defRPr/>
            </a:pPr>
            <a:r>
              <a:rPr altLang="zh-CN" sz="5600" b="1">
                <a:solidFill>
                  <a:schemeClr val="bg1"/>
                </a:solidFill>
                <a:latin typeface="Bodoni MT Black" panose="02070A03080606020203" pitchFamily="18" charset="0"/>
                <a:ea typeface="+mn-ea"/>
                <a:sym typeface="+mn-ea"/>
              </a:rPr>
              <a:t>设计上的严谨性</a:t>
            </a:r>
            <a:endParaRPr altLang="zh-CN" sz="5600" b="1">
              <a:solidFill>
                <a:schemeClr val="bg1"/>
              </a:solidFill>
              <a:latin typeface="Bodoni MT Black" panose="02070A03080606020203" pitchFamily="18" charset="0"/>
              <a:ea typeface="+mn-ea"/>
              <a:sym typeface="+mn-ea"/>
            </a:endParaRPr>
          </a:p>
          <a:p>
            <a:pPr marL="114300" indent="-342900" algn="l">
              <a:lnSpc>
                <a:spcPct val="160000"/>
              </a:lnSpc>
              <a:buClrTx/>
              <a:buSzTx/>
              <a:buFont typeface="+mj-ea"/>
              <a:buAutoNum type="circleNumDbPlain"/>
              <a:defRPr/>
            </a:pPr>
            <a:r>
              <a:rPr altLang="zh-CN" sz="5600" b="1">
                <a:solidFill>
                  <a:schemeClr val="bg1"/>
                </a:solidFill>
                <a:latin typeface="Bodoni MT Black" panose="02070A03080606020203" pitchFamily="18" charset="0"/>
                <a:ea typeface="+mn-ea"/>
                <a:sym typeface="+mn-ea"/>
              </a:rPr>
              <a:t>可早期终止</a:t>
            </a:r>
            <a:endParaRPr altLang="zh-CN" sz="5600" b="1">
              <a:solidFill>
                <a:schemeClr val="bg1"/>
              </a:solidFill>
              <a:latin typeface="Bodoni MT Black" panose="02070A03080606020203" pitchFamily="18" charset="0"/>
              <a:ea typeface="+mn-ea"/>
              <a:sym typeface="+mn-ea"/>
            </a:endParaRPr>
          </a:p>
          <a:p>
            <a:pPr marL="0" indent="0" algn="l">
              <a:lnSpc>
                <a:spcPct val="160000"/>
              </a:lnSpc>
              <a:buClrTx/>
              <a:buSzTx/>
              <a:buFont typeface="+mj-ea"/>
              <a:buNone/>
              <a:defRPr/>
            </a:pPr>
            <a:r>
              <a:rPr altLang="zh-CN" sz="5600" b="1">
                <a:solidFill>
                  <a:schemeClr val="bg1"/>
                </a:solidFill>
                <a:latin typeface="Bodoni MT Black" panose="02070A03080606020203" pitchFamily="18" charset="0"/>
                <a:ea typeface="+mn-ea"/>
                <a:sym typeface="+mn-ea"/>
              </a:rPr>
              <a:t>它结合了原型模型的迭代特性与瀑布模型的系统性和可控性，并将风险分析作为每个循环的核心环节。</a:t>
            </a:r>
            <a:endParaRPr altLang="zh-CN" sz="5600" b="1">
              <a:solidFill>
                <a:schemeClr val="bg1"/>
              </a:solidFill>
              <a:latin typeface="Bodoni MT Black" panose="02070A03080606020203" pitchFamily="18" charset="0"/>
              <a:ea typeface="+mn-ea"/>
              <a:sym typeface="+mn-ea"/>
            </a:endParaRPr>
          </a:p>
        </p:txBody>
      </p:sp>
      <p:grpSp>
        <p:nvGrpSpPr>
          <p:cNvPr id="9" name="组合 8"/>
          <p:cNvGrpSpPr/>
          <p:nvPr>
            <p:custDataLst>
              <p:tags r:id="rId5"/>
            </p:custDataLst>
          </p:nvPr>
        </p:nvGrpSpPr>
        <p:grpSpPr>
          <a:xfrm rot="16200000">
            <a:off x="11442069" y="-87887"/>
            <a:ext cx="738165" cy="916458"/>
            <a:chOff x="10608342" y="5053054"/>
            <a:chExt cx="1583658" cy="1966165"/>
          </a:xfrm>
        </p:grpSpPr>
        <p:sp>
          <p:nvSpPr>
            <p:cNvPr id="10" name="任意多边形: 形状 9"/>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 name="图片 3"/>
          <p:cNvPicPr>
            <a:picLocks noChangeAspect="1"/>
          </p:cNvPicPr>
          <p:nvPr>
            <p:custDataLst>
              <p:tags r:id="rId8"/>
            </p:custDataLst>
          </p:nvPr>
        </p:nvPicPr>
        <p:blipFill>
          <a:blip r:embed="rId9"/>
          <a:stretch>
            <a:fillRect/>
          </a:stretch>
        </p:blipFill>
        <p:spPr>
          <a:xfrm>
            <a:off x="7181850" y="1426845"/>
            <a:ext cx="4942205" cy="4004945"/>
          </a:xfrm>
          <a:prstGeom prst="rect">
            <a:avLst/>
          </a:prstGeom>
        </p:spPr>
      </p:pic>
      <p:sp>
        <p:nvSpPr>
          <p:cNvPr id="7" name="文本框 6"/>
          <p:cNvSpPr txBox="1"/>
          <p:nvPr/>
        </p:nvSpPr>
        <p:spPr>
          <a:xfrm>
            <a:off x="-2540" y="635"/>
            <a:ext cx="12101195" cy="368300"/>
          </a:xfrm>
          <a:prstGeom prst="rect">
            <a:avLst/>
          </a:prstGeom>
          <a:solidFill>
            <a:schemeClr val="accent1"/>
          </a:solidFill>
        </p:spPr>
        <p:txBody>
          <a:bodyPr wrap="square" rtlCol="0">
            <a:spAutoFit/>
          </a:bodyPr>
          <a:p>
            <a:r>
              <a:rPr lang="zh-CN" altLang="en-US" b="1">
                <a:solidFill>
                  <a:schemeClr val="bg1"/>
                </a:solidFill>
              </a:rPr>
              <a:t>螺旋模型</a:t>
            </a:r>
            <a:endParaRPr lang="zh-CN" altLang="en-US" b="1">
              <a:solidFill>
                <a:schemeClr val="bg1"/>
              </a:solidFill>
            </a:endParaRPr>
          </a:p>
        </p:txBody>
      </p:sp>
      <p:pic>
        <p:nvPicPr>
          <p:cNvPr id="6" name="图片 5"/>
          <p:cNvPicPr>
            <a:picLocks noChangeAspect="1"/>
          </p:cNvPicPr>
          <p:nvPr/>
        </p:nvPicPr>
        <p:blipFill>
          <a:blip r:embed="rId10"/>
          <a:stretch>
            <a:fillRect/>
          </a:stretch>
        </p:blipFill>
        <p:spPr>
          <a:xfrm>
            <a:off x="3247390" y="436880"/>
            <a:ext cx="3934460" cy="6421120"/>
          </a:xfrm>
          <a:prstGeom prst="rect">
            <a:avLst/>
          </a:prstGeom>
        </p:spPr>
      </p:pic>
    </p:spTree>
    <p:custDataLst>
      <p:tags r:id="rId1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custDataLst>
              <p:tags r:id="rId1"/>
            </p:custDataLst>
          </p:nvPr>
        </p:nvGrpSpPr>
        <p:grpSpPr>
          <a:xfrm rot="5400000">
            <a:off x="11893" y="6030689"/>
            <a:ext cx="738165" cy="916458"/>
            <a:chOff x="10608342" y="5053054"/>
            <a:chExt cx="1583658" cy="1966165"/>
          </a:xfrm>
        </p:grpSpPr>
        <p:sp>
          <p:nvSpPr>
            <p:cNvPr id="16" name="任意多边形: 形状 15"/>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内容占位符 4"/>
          <p:cNvSpPr>
            <a:spLocks noGrp="1"/>
          </p:cNvSpPr>
          <p:nvPr>
            <p:ph sz="half" idx="1"/>
            <p:custDataLst>
              <p:tags r:id="rId4"/>
            </p:custDataLst>
          </p:nvPr>
        </p:nvSpPr>
        <p:spPr>
          <a:xfrm>
            <a:off x="-2540" y="3680460"/>
            <a:ext cx="5982970" cy="3183890"/>
          </a:xfrm>
          <a:solidFill>
            <a:srgbClr val="5C8FC7"/>
          </a:solidFill>
          <a:ln>
            <a:solidFill>
              <a:schemeClr val="tx1"/>
            </a:solidFill>
          </a:ln>
        </p:spPr>
        <p:txBody>
          <a:bodyPr>
            <a:normAutofit fontScale="90000" lnSpcReduction="10000"/>
          </a:bodyPr>
          <a:lstStyle/>
          <a:p>
            <a:pPr marL="0" indent="0">
              <a:lnSpc>
                <a:spcPct val="150000"/>
              </a:lnSpc>
              <a:buNone/>
              <a:defRPr/>
            </a:pPr>
            <a:r>
              <a:rPr altLang="zh-CN" b="1">
                <a:solidFill>
                  <a:srgbClr val="FF0000"/>
                </a:solidFill>
                <a:latin typeface="微软雅黑" panose="020B0503020204020204" charset="-122"/>
                <a:cs typeface="微软雅黑" panose="020B0503020204020204" charset="-122"/>
                <a:sym typeface="+mn-ea"/>
              </a:rPr>
              <a:t>概念</a:t>
            </a:r>
            <a:r>
              <a:rPr altLang="zh-CN" b="1">
                <a:solidFill>
                  <a:schemeClr val="bg1"/>
                </a:solidFill>
                <a:latin typeface="微软雅黑" panose="020B0503020204020204" charset="-122"/>
                <a:cs typeface="微软雅黑" panose="020B0503020204020204" charset="-122"/>
                <a:sym typeface="+mn-ea"/>
              </a:rPr>
              <a:t>：喷泉模型是</a:t>
            </a:r>
            <a:r>
              <a:rPr altLang="zh-CN" b="1">
                <a:solidFill>
                  <a:srgbClr val="FFFF00"/>
                </a:solidFill>
                <a:latin typeface="微软雅黑" panose="020B0503020204020204" charset="-122"/>
                <a:cs typeface="微软雅黑" panose="020B0503020204020204" charset="-122"/>
                <a:sym typeface="+mn-ea"/>
              </a:rPr>
              <a:t>面向对象软件开发方法</a:t>
            </a:r>
            <a:r>
              <a:rPr altLang="zh-CN" b="1">
                <a:solidFill>
                  <a:schemeClr val="bg1"/>
                </a:solidFill>
                <a:latin typeface="微软雅黑" panose="020B0503020204020204" charset="-122"/>
                <a:cs typeface="微软雅黑" panose="020B0503020204020204" charset="-122"/>
                <a:sym typeface="+mn-ea"/>
              </a:rPr>
              <a:t>中提出的一种过程模型，它深刻地反映了面向对象开发</a:t>
            </a:r>
            <a:r>
              <a:rPr altLang="zh-CN" b="1">
                <a:solidFill>
                  <a:srgbClr val="FF0000"/>
                </a:solidFill>
                <a:latin typeface="微软雅黑" panose="020B0503020204020204" charset="-122"/>
                <a:cs typeface="微软雅黑" panose="020B0503020204020204" charset="-122"/>
                <a:sym typeface="+mn-ea"/>
              </a:rPr>
              <a:t>迭代、无间隙、无缝集成</a:t>
            </a:r>
            <a:r>
              <a:rPr altLang="zh-CN" b="1">
                <a:solidFill>
                  <a:schemeClr val="bg1"/>
                </a:solidFill>
                <a:latin typeface="微软雅黑" panose="020B0503020204020204" charset="-122"/>
                <a:cs typeface="微软雅黑" panose="020B0503020204020204" charset="-122"/>
                <a:sym typeface="+mn-ea"/>
              </a:rPr>
              <a:t>的内在特性。迭代是软件开发过程中普遍存在的一种内在属性</a:t>
            </a:r>
            <a:r>
              <a:rPr altLang="zh-CN" b="1" smtClean="0">
                <a:solidFill>
                  <a:schemeClr val="bg1"/>
                </a:solidFill>
                <a:latin typeface="微软雅黑" panose="020B0503020204020204" charset="-122"/>
                <a:cs typeface="微软雅黑" panose="020B0503020204020204" charset="-122"/>
                <a:sym typeface="+mn-ea"/>
              </a:rPr>
              <a:t>。</a:t>
            </a:r>
            <a:r>
              <a:rPr altLang="zh-CN" b="1">
                <a:solidFill>
                  <a:schemeClr val="bg1"/>
                </a:solidFill>
                <a:latin typeface="微软雅黑" panose="020B0503020204020204" charset="-122"/>
                <a:cs typeface="微软雅黑" panose="020B0503020204020204" charset="-122"/>
                <a:sym typeface="+mn-ea"/>
              </a:rPr>
              <a:t>用面向对象方法学开发软件时，工作重点应该放在生命周期中的分析阶段</a:t>
            </a:r>
            <a:r>
              <a:rPr altLang="zh-CN" b="1" smtClean="0">
                <a:solidFill>
                  <a:schemeClr val="bg1"/>
                </a:solidFill>
                <a:latin typeface="微软雅黑" panose="020B0503020204020204" charset="-122"/>
                <a:cs typeface="微软雅黑" panose="020B0503020204020204" charset="-122"/>
                <a:sym typeface="+mn-ea"/>
              </a:rPr>
              <a:t>。</a:t>
            </a:r>
            <a:endParaRPr altLang="zh-CN" b="1" smtClean="0">
              <a:solidFill>
                <a:schemeClr val="bg1"/>
              </a:solidFill>
              <a:latin typeface="微软雅黑" panose="020B0503020204020204" charset="-122"/>
              <a:cs typeface="微软雅黑" panose="020B0503020204020204" charset="-122"/>
              <a:sym typeface="+mn-ea"/>
            </a:endParaRPr>
          </a:p>
          <a:p>
            <a:pPr marL="0" algn="l">
              <a:buClrTx/>
              <a:buSzTx/>
              <a:buNone/>
              <a:defRPr/>
            </a:pPr>
            <a:r>
              <a:rPr altLang="zh-CN" b="1">
                <a:solidFill>
                  <a:srgbClr val="FF0000"/>
                </a:solidFill>
                <a:latin typeface="微软雅黑" panose="020B0503020204020204" charset="-122"/>
                <a:cs typeface="微软雅黑" panose="020B0503020204020204" charset="-122"/>
                <a:sym typeface="+mn-ea"/>
              </a:rPr>
              <a:t>特点：</a:t>
            </a:r>
            <a:endParaRPr altLang="zh-CN" b="1">
              <a:solidFill>
                <a:srgbClr val="FF0000"/>
              </a:solidFill>
              <a:latin typeface="微软雅黑" panose="020B0503020204020204" charset="-122"/>
              <a:cs typeface="微软雅黑" panose="020B0503020204020204" charset="-122"/>
              <a:sym typeface="+mn-ea"/>
            </a:endParaRPr>
          </a:p>
          <a:p>
            <a:pPr marL="342900" indent="-342900">
              <a:lnSpc>
                <a:spcPct val="120000"/>
              </a:lnSpc>
              <a:buFont typeface="+mj-ea"/>
              <a:buAutoNum type="circleNumDbPlain"/>
              <a:defRPr/>
            </a:pPr>
            <a:r>
              <a:rPr altLang="zh-CN" b="1" smtClean="0">
                <a:solidFill>
                  <a:schemeClr val="bg1"/>
                </a:solidFill>
                <a:latin typeface="微软雅黑" panose="020B0503020204020204" charset="-122"/>
                <a:cs typeface="微软雅黑" panose="020B0503020204020204" charset="-122"/>
                <a:sym typeface="+mn-ea"/>
              </a:rPr>
              <a:t>面向对象特性驱动的自然映射：这是喷泉模型的理论基础。</a:t>
            </a:r>
            <a:endParaRPr altLang="zh-CN" b="1" smtClean="0">
              <a:solidFill>
                <a:schemeClr val="bg1"/>
              </a:solidFill>
              <a:latin typeface="微软雅黑" panose="020B0503020204020204" charset="-122"/>
              <a:cs typeface="微软雅黑" panose="020B0503020204020204" charset="-122"/>
              <a:sym typeface="+mn-ea"/>
            </a:endParaRPr>
          </a:p>
          <a:p>
            <a:pPr marL="342900" indent="-342900">
              <a:lnSpc>
                <a:spcPct val="120000"/>
              </a:lnSpc>
              <a:buFont typeface="+mj-ea"/>
              <a:buAutoNum type="circleNumDbPlain"/>
              <a:defRPr/>
            </a:pPr>
            <a:r>
              <a:rPr altLang="zh-CN" b="1" smtClean="0">
                <a:solidFill>
                  <a:schemeClr val="bg1"/>
                </a:solidFill>
                <a:latin typeface="微软雅黑" panose="020B0503020204020204" charset="-122"/>
                <a:cs typeface="微软雅黑" panose="020B0503020204020204" charset="-122"/>
                <a:sym typeface="+mn-ea"/>
              </a:rPr>
              <a:t>迭代性与无间隙性：这是最显著的特点。</a:t>
            </a:r>
            <a:endParaRPr altLang="zh-CN" b="1" smtClean="0">
              <a:solidFill>
                <a:schemeClr val="bg1"/>
              </a:solidFill>
              <a:latin typeface="微软雅黑" panose="020B0503020204020204" charset="-122"/>
              <a:cs typeface="微软雅黑" panose="020B0503020204020204" charset="-122"/>
              <a:sym typeface="+mn-ea"/>
            </a:endParaRPr>
          </a:p>
          <a:p>
            <a:pPr marL="342900" indent="-342900">
              <a:lnSpc>
                <a:spcPct val="120000"/>
              </a:lnSpc>
              <a:buFont typeface="+mj-ea"/>
              <a:buAutoNum type="circleNumDbPlain"/>
              <a:defRPr/>
            </a:pPr>
            <a:r>
              <a:rPr altLang="zh-CN" b="1" smtClean="0">
                <a:solidFill>
                  <a:schemeClr val="bg1"/>
                </a:solidFill>
                <a:latin typeface="微软雅黑" panose="020B0503020204020204" charset="-122"/>
                <a:cs typeface="微软雅黑" panose="020B0503020204020204" charset="-122"/>
                <a:sym typeface="+mn-ea"/>
              </a:rPr>
              <a:t>测试贯穿始终：测试不是一个独立的阶段，而是与所有开发活动并行进行</a:t>
            </a:r>
            <a:endParaRPr altLang="zh-CN" b="1" smtClean="0">
              <a:solidFill>
                <a:schemeClr val="bg1"/>
              </a:solidFill>
              <a:latin typeface="微软雅黑" panose="020B0503020204020204" charset="-122"/>
              <a:cs typeface="微软雅黑" panose="020B0503020204020204" charset="-122"/>
              <a:sym typeface="+mn-ea"/>
            </a:endParaRPr>
          </a:p>
          <a:p>
            <a:pPr marL="0" indent="342900">
              <a:defRPr/>
            </a:pPr>
            <a:endParaRPr lang="zh-CN" altLang="en-US" dirty="0">
              <a:solidFill>
                <a:schemeClr val="tx2"/>
              </a:solidFill>
            </a:endParaRPr>
          </a:p>
        </p:txBody>
      </p:sp>
      <p:grpSp>
        <p:nvGrpSpPr>
          <p:cNvPr id="9" name="组合 8"/>
          <p:cNvGrpSpPr/>
          <p:nvPr>
            <p:custDataLst>
              <p:tags r:id="rId5"/>
            </p:custDataLst>
          </p:nvPr>
        </p:nvGrpSpPr>
        <p:grpSpPr>
          <a:xfrm rot="16200000">
            <a:off x="11442069" y="-87887"/>
            <a:ext cx="738165" cy="916458"/>
            <a:chOff x="10608342" y="5053054"/>
            <a:chExt cx="1583658" cy="1966165"/>
          </a:xfrm>
        </p:grpSpPr>
        <p:sp>
          <p:nvSpPr>
            <p:cNvPr id="10" name="任意多边形: 形状 9"/>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2540" y="635"/>
            <a:ext cx="12101195" cy="368300"/>
          </a:xfrm>
          <a:prstGeom prst="rect">
            <a:avLst/>
          </a:prstGeom>
          <a:solidFill>
            <a:schemeClr val="accent1"/>
          </a:solidFill>
        </p:spPr>
        <p:txBody>
          <a:bodyPr wrap="square" rtlCol="0">
            <a:spAutoFit/>
          </a:bodyPr>
          <a:p>
            <a:r>
              <a:rPr lang="zh-CN" altLang="en-US" b="1">
                <a:solidFill>
                  <a:schemeClr val="bg1"/>
                </a:solidFill>
              </a:rPr>
              <a:t>喷泉模型</a:t>
            </a:r>
            <a:endParaRPr lang="zh-CN" altLang="en-US" b="1">
              <a:solidFill>
                <a:schemeClr val="bg1"/>
              </a:solidFill>
            </a:endParaRPr>
          </a:p>
        </p:txBody>
      </p:sp>
      <p:pic>
        <p:nvPicPr>
          <p:cNvPr id="4" name="图片 3"/>
          <p:cNvPicPr>
            <a:picLocks noChangeAspect="1"/>
          </p:cNvPicPr>
          <p:nvPr/>
        </p:nvPicPr>
        <p:blipFill>
          <a:blip r:embed="rId8"/>
          <a:stretch>
            <a:fillRect/>
          </a:stretch>
        </p:blipFill>
        <p:spPr>
          <a:xfrm>
            <a:off x="-635" y="368935"/>
            <a:ext cx="12192635" cy="3311525"/>
          </a:xfrm>
          <a:prstGeom prst="rect">
            <a:avLst/>
          </a:prstGeom>
          <a:ln>
            <a:solidFill>
              <a:schemeClr val="tx1"/>
            </a:solidFill>
          </a:ln>
        </p:spPr>
      </p:pic>
      <p:sp>
        <p:nvSpPr>
          <p:cNvPr id="12" name="内容占位符 4"/>
          <p:cNvSpPr>
            <a:spLocks noGrp="1"/>
          </p:cNvSpPr>
          <p:nvPr>
            <p:custDataLst>
              <p:tags r:id="rId9"/>
            </p:custDataLst>
          </p:nvPr>
        </p:nvSpPr>
        <p:spPr>
          <a:xfrm>
            <a:off x="5979795" y="3680460"/>
            <a:ext cx="6214745" cy="3183890"/>
          </a:xfrm>
          <a:prstGeom prst="rect">
            <a:avLst/>
          </a:prstGeom>
          <a:solidFill>
            <a:srgbClr val="5C8FC7"/>
          </a:solidFill>
          <a:ln>
            <a:solidFill>
              <a:schemeClr val="tx1"/>
            </a:solidFill>
          </a:ln>
        </p:spPr>
        <p:txBody>
          <a:bodyPr vert="horz" lIns="90170" tIns="46990" rIns="90170" bIns="46990" rtlCol="0">
            <a:normAutofit fontScale="8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20000"/>
              </a:lnSpc>
              <a:spcBef>
                <a:spcPts val="0"/>
              </a:spcBef>
              <a:spcAft>
                <a:spcPts val="1000"/>
              </a:spcAft>
              <a:buClrTx/>
              <a:buSzTx/>
              <a:buFont typeface="Arial" panose="020B0604020202020204" pitchFamily="34" charset="0"/>
              <a:buNone/>
              <a:defRPr/>
            </a:pPr>
            <a:r>
              <a:rPr altLang="zh-CN" b="1">
                <a:solidFill>
                  <a:srgbClr val="FF0000"/>
                </a:solidFill>
                <a:latin typeface="微软雅黑" panose="020B0503020204020204" charset="-122"/>
                <a:cs typeface="微软雅黑" panose="020B0503020204020204" charset="-122"/>
                <a:sym typeface="+mn-ea"/>
              </a:rPr>
              <a:t>优点：</a:t>
            </a:r>
            <a:endParaRPr altLang="zh-CN" b="1">
              <a:solidFill>
                <a:srgbClr val="FF0000"/>
              </a:solidFill>
              <a:latin typeface="微软雅黑" panose="020B0503020204020204" charset="-122"/>
              <a:cs typeface="微软雅黑" panose="020B0503020204020204" charset="-122"/>
              <a:sym typeface="+mn-ea"/>
            </a:endParaRPr>
          </a:p>
          <a:p>
            <a:pPr marL="342900" indent="-342900" algn="l">
              <a:lnSpc>
                <a:spcPct val="120000"/>
              </a:lnSpc>
              <a:spcBef>
                <a:spcPts val="0"/>
              </a:spcBef>
              <a:spcAft>
                <a:spcPts val="1000"/>
              </a:spcAft>
              <a:buClrTx/>
              <a:buSzTx/>
              <a:buFont typeface="+mj-ea"/>
              <a:buAutoNum type="circleNumDbPlain"/>
              <a:defRPr/>
            </a:pPr>
            <a:r>
              <a:rPr altLang="zh-CN" b="1">
                <a:solidFill>
                  <a:srgbClr val="FFFF00"/>
                </a:solidFill>
                <a:latin typeface="微软雅黑" panose="020B0503020204020204" charset="-122"/>
                <a:cs typeface="微软雅黑" panose="020B0503020204020204" charset="-122"/>
                <a:sym typeface="+mn-ea"/>
              </a:rPr>
              <a:t>高效支持面向对象开发：</a:t>
            </a:r>
            <a:r>
              <a:rPr altLang="zh-CN" b="1">
                <a:solidFill>
                  <a:schemeClr val="bg1"/>
                </a:solidFill>
                <a:latin typeface="微软雅黑" panose="020B0503020204020204" charset="-122"/>
                <a:cs typeface="微软雅黑" panose="020B0503020204020204" charset="-122"/>
                <a:sym typeface="+mn-ea"/>
              </a:rPr>
              <a:t>与OO方法的天生契合是其最大优势，减少了过程与方法的摩擦。</a:t>
            </a:r>
            <a:endParaRPr lang="zh-CN" altLang="zh-CN" b="1" spc="150">
              <a:solidFill>
                <a:schemeClr val="bg1"/>
              </a:solidFill>
              <a:uFillTx/>
              <a:latin typeface="微软雅黑" panose="020B0503020204020204" charset="-122"/>
              <a:ea typeface="微软雅黑" panose="020B0503020204020204" charset="-122"/>
              <a:cs typeface="微软雅黑" panose="020B0503020204020204" charset="-122"/>
            </a:endParaRPr>
          </a:p>
          <a:p>
            <a:pPr marL="342900" indent="-342900" algn="l">
              <a:lnSpc>
                <a:spcPct val="120000"/>
              </a:lnSpc>
              <a:spcBef>
                <a:spcPts val="0"/>
              </a:spcBef>
              <a:spcAft>
                <a:spcPts val="1000"/>
              </a:spcAft>
              <a:buClrTx/>
              <a:buSzTx/>
              <a:buFont typeface="+mj-ea"/>
              <a:buAutoNum type="circleNumDbPlain"/>
              <a:defRPr/>
            </a:pPr>
            <a:r>
              <a:rPr altLang="zh-CN" b="1">
                <a:solidFill>
                  <a:srgbClr val="FFFF00"/>
                </a:solidFill>
                <a:latin typeface="微软雅黑" panose="020B0503020204020204" charset="-122"/>
                <a:cs typeface="微软雅黑" panose="020B0503020204020204" charset="-122"/>
                <a:sym typeface="+mn-ea"/>
              </a:rPr>
              <a:t>提高开发效率：</a:t>
            </a:r>
            <a:r>
              <a:rPr altLang="zh-CN" b="1">
                <a:solidFill>
                  <a:schemeClr val="bg1"/>
                </a:solidFill>
                <a:latin typeface="微软雅黑" panose="020B0503020204020204" charset="-122"/>
                <a:cs typeface="微软雅黑" panose="020B0503020204020204" charset="-122"/>
                <a:sym typeface="+mn-ea"/>
              </a:rPr>
              <a:t>阶段间的无缝过渡和活动的并行性，可以缩短开发周期。</a:t>
            </a:r>
            <a:endParaRPr lang="zh-CN" altLang="zh-CN" b="1" spc="150">
              <a:solidFill>
                <a:schemeClr val="bg1"/>
              </a:solidFill>
              <a:uFillTx/>
              <a:latin typeface="微软雅黑" panose="020B0503020204020204" charset="-122"/>
              <a:ea typeface="微软雅黑" panose="020B0503020204020204" charset="-122"/>
              <a:cs typeface="微软雅黑" panose="020B0503020204020204" charset="-122"/>
            </a:endParaRPr>
          </a:p>
          <a:p>
            <a:pPr marL="342900" indent="-342900" algn="l">
              <a:lnSpc>
                <a:spcPct val="120000"/>
              </a:lnSpc>
              <a:spcBef>
                <a:spcPts val="0"/>
              </a:spcBef>
              <a:spcAft>
                <a:spcPts val="1000"/>
              </a:spcAft>
              <a:buClrTx/>
              <a:buSzTx/>
              <a:buFont typeface="+mj-ea"/>
              <a:buAutoNum type="circleNumDbPlain"/>
              <a:defRPr/>
            </a:pPr>
            <a:r>
              <a:rPr altLang="zh-CN" b="1">
                <a:solidFill>
                  <a:srgbClr val="FFFF00"/>
                </a:solidFill>
                <a:latin typeface="微软雅黑" panose="020B0503020204020204" charset="-122"/>
                <a:cs typeface="微软雅黑" panose="020B0503020204020204" charset="-122"/>
                <a:sym typeface="+mn-ea"/>
              </a:rPr>
              <a:t>改善软件质量：</a:t>
            </a:r>
            <a:r>
              <a:rPr altLang="zh-CN" b="1">
                <a:solidFill>
                  <a:schemeClr val="bg1"/>
                </a:solidFill>
                <a:latin typeface="微软雅黑" panose="020B0503020204020204" charset="-122"/>
                <a:cs typeface="微软雅黑" panose="020B0503020204020204" charset="-122"/>
                <a:sym typeface="+mn-ea"/>
              </a:rPr>
              <a:t>频繁的、小范围的迭代有助于早期发现和修复错误。持续的测试保证了质量内建。</a:t>
            </a:r>
            <a:endParaRPr lang="zh-CN" altLang="zh-CN" b="1" spc="150">
              <a:solidFill>
                <a:schemeClr val="bg1"/>
              </a:solidFill>
              <a:uFillTx/>
              <a:latin typeface="微软雅黑" panose="020B0503020204020204" charset="-122"/>
              <a:ea typeface="微软雅黑" panose="020B0503020204020204" charset="-122"/>
              <a:cs typeface="微软雅黑" panose="020B0503020204020204" charset="-122"/>
            </a:endParaRPr>
          </a:p>
          <a:p>
            <a:pPr marL="342900" indent="-342900" algn="l">
              <a:lnSpc>
                <a:spcPct val="120000"/>
              </a:lnSpc>
              <a:spcBef>
                <a:spcPts val="0"/>
              </a:spcBef>
              <a:spcAft>
                <a:spcPts val="1000"/>
              </a:spcAft>
              <a:buClrTx/>
              <a:buSzTx/>
              <a:buFont typeface="+mj-ea"/>
              <a:buAutoNum type="circleNumDbPlain"/>
              <a:defRPr/>
            </a:pPr>
            <a:r>
              <a:rPr altLang="zh-CN" b="1">
                <a:solidFill>
                  <a:srgbClr val="FFFF00"/>
                </a:solidFill>
                <a:latin typeface="微软雅黑" panose="020B0503020204020204" charset="-122"/>
                <a:cs typeface="微软雅黑" panose="020B0503020204020204" charset="-122"/>
                <a:sym typeface="+mn-ea"/>
              </a:rPr>
              <a:t>良好的灵活性与适应性：</a:t>
            </a:r>
            <a:r>
              <a:rPr altLang="zh-CN" b="1">
                <a:solidFill>
                  <a:schemeClr val="bg1"/>
                </a:solidFill>
                <a:latin typeface="微软雅黑" panose="020B0503020204020204" charset="-122"/>
                <a:cs typeface="微软雅黑" panose="020B0503020204020204" charset="-122"/>
                <a:sym typeface="+mn-ea"/>
              </a:rPr>
              <a:t>能很好地适应需求变化。当需求变更时，可以方便地回溯到分析或设计阶段，修改受影响的类，而不会对整体造成颠覆性影响。</a:t>
            </a:r>
            <a:endParaRPr lang="en-US" altLang="zh-CN" dirty="0" smtClean="0">
              <a:latin typeface="Bodoni MT Black" panose="02070A03080606020203" pitchFamily="18" charset="0"/>
              <a:ea typeface="+mn-ea"/>
            </a:endParaRPr>
          </a:p>
          <a:p>
            <a:pPr marL="0" indent="342900">
              <a:defRPr/>
            </a:pPr>
            <a:endParaRPr lang="zh-CN" altLang="en-US" dirty="0">
              <a:solidFill>
                <a:schemeClr val="tx2"/>
              </a:solidFill>
            </a:endParaRPr>
          </a:p>
        </p:txBody>
      </p:sp>
    </p:spTree>
    <p:custDataLst>
      <p:tags r:id="rId10"/>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25755" y="661670"/>
            <a:ext cx="5611495" cy="1684020"/>
          </a:xfrm>
          <a:prstGeom prst="rect">
            <a:avLst/>
          </a:prstGeom>
          <a:noFill/>
        </p:spPr>
        <p:txBody>
          <a:bodyPr wrap="square" rtlCol="0">
            <a:spAutoFit/>
          </a:bodyPr>
          <a:p>
            <a:pPr>
              <a:lnSpc>
                <a:spcPct val="160000"/>
              </a:lnSpc>
            </a:pPr>
            <a:r>
              <a:rPr altLang="zh-CN" sz="1400" b="1">
                <a:solidFill>
                  <a:srgbClr val="FF0000"/>
                </a:solidFill>
                <a:latin typeface="+mn-ea"/>
                <a:cs typeface="+mn-ea"/>
                <a:sym typeface="+mn-ea"/>
              </a:rPr>
              <a:t>概念：</a:t>
            </a:r>
            <a:r>
              <a:rPr lang="en-US" altLang="zh-CN" sz="1400" b="1">
                <a:solidFill>
                  <a:srgbClr val="FF0000"/>
                </a:solidFill>
                <a:latin typeface="+mn-ea"/>
                <a:cs typeface="+mn-ea"/>
                <a:sym typeface="+mn-ea"/>
              </a:rPr>
              <a:t>Rational</a:t>
            </a:r>
            <a:r>
              <a:rPr altLang="zh-CN" sz="1400" b="1">
                <a:solidFill>
                  <a:srgbClr val="FF0000"/>
                </a:solidFill>
                <a:latin typeface="+mn-ea"/>
                <a:cs typeface="+mn-ea"/>
                <a:sym typeface="+mn-ea"/>
              </a:rPr>
              <a:t>统一过程</a:t>
            </a:r>
            <a:r>
              <a:rPr altLang="zh-CN" sz="1400" b="1">
                <a:latin typeface="+mn-ea"/>
                <a:cs typeface="+mn-ea"/>
                <a:sym typeface="+mn-ea"/>
              </a:rPr>
              <a:t>（</a:t>
            </a:r>
            <a:r>
              <a:rPr lang="en-US" altLang="zh-CN" sz="1400" b="1">
                <a:latin typeface="+mn-ea"/>
                <a:cs typeface="+mn-ea"/>
                <a:sym typeface="+mn-ea"/>
              </a:rPr>
              <a:t>Rational Unified </a:t>
            </a:r>
            <a:r>
              <a:rPr lang="en-US" altLang="zh-CN" sz="1400" b="1" smtClean="0">
                <a:latin typeface="+mn-ea"/>
                <a:cs typeface="+mn-ea"/>
                <a:sym typeface="+mn-ea"/>
              </a:rPr>
              <a:t>Process, RUP</a:t>
            </a:r>
            <a:r>
              <a:rPr altLang="zh-CN" sz="1400" b="1">
                <a:latin typeface="+mn-ea"/>
                <a:cs typeface="+mn-ea"/>
                <a:sym typeface="+mn-ea"/>
              </a:rPr>
              <a:t>）是由</a:t>
            </a:r>
            <a:r>
              <a:rPr lang="en-US" altLang="zh-CN" sz="1400" b="1">
                <a:latin typeface="+mn-ea"/>
                <a:cs typeface="+mn-ea"/>
                <a:sym typeface="+mn-ea"/>
              </a:rPr>
              <a:t>Rational</a:t>
            </a:r>
            <a:r>
              <a:rPr altLang="zh-CN" sz="1400" b="1">
                <a:latin typeface="+mn-ea"/>
                <a:cs typeface="+mn-ea"/>
                <a:sym typeface="+mn-ea"/>
              </a:rPr>
              <a:t>软件公司推出的一种</a:t>
            </a:r>
            <a:r>
              <a:rPr altLang="zh-CN" sz="1400" b="1">
                <a:solidFill>
                  <a:srgbClr val="FF0000"/>
                </a:solidFill>
                <a:latin typeface="+mn-ea"/>
                <a:cs typeface="+mn-ea"/>
                <a:sym typeface="+mn-ea"/>
              </a:rPr>
              <a:t>完整而且完美</a:t>
            </a:r>
            <a:r>
              <a:rPr altLang="zh-CN" sz="1400" b="1">
                <a:latin typeface="+mn-ea"/>
                <a:cs typeface="+mn-ea"/>
                <a:sym typeface="+mn-ea"/>
              </a:rPr>
              <a:t>的软件过程</a:t>
            </a:r>
            <a:r>
              <a:rPr altLang="zh-CN" sz="1400" b="1" smtClean="0">
                <a:latin typeface="+mn-ea"/>
                <a:cs typeface="+mn-ea"/>
                <a:sym typeface="+mn-ea"/>
              </a:rPr>
              <a:t>。</a:t>
            </a:r>
            <a:r>
              <a:rPr lang="en-US" altLang="zh-CN" sz="1400" b="1">
                <a:latin typeface="+mn-ea"/>
                <a:cs typeface="+mn-ea"/>
                <a:sym typeface="+mn-ea"/>
              </a:rPr>
              <a:t>RUP</a:t>
            </a:r>
            <a:r>
              <a:rPr altLang="zh-CN" sz="1400" b="1">
                <a:latin typeface="+mn-ea"/>
                <a:cs typeface="+mn-ea"/>
                <a:sym typeface="+mn-ea"/>
              </a:rPr>
              <a:t>总结了经过多年商业化验证的</a:t>
            </a:r>
            <a:r>
              <a:rPr lang="en-US" altLang="zh-CN" sz="1400" b="1">
                <a:latin typeface="+mn-ea"/>
                <a:cs typeface="+mn-ea"/>
                <a:sym typeface="+mn-ea"/>
              </a:rPr>
              <a:t>6</a:t>
            </a:r>
            <a:r>
              <a:rPr altLang="zh-CN" sz="1400" b="1">
                <a:latin typeface="+mn-ea"/>
                <a:cs typeface="+mn-ea"/>
                <a:sym typeface="+mn-ea"/>
              </a:rPr>
              <a:t>条最有效的软件开发经验，这些经验被称为“</a:t>
            </a:r>
            <a:r>
              <a:rPr altLang="zh-CN" sz="1400" b="1">
                <a:solidFill>
                  <a:srgbClr val="FF0000"/>
                </a:solidFill>
                <a:latin typeface="+mn-ea"/>
                <a:cs typeface="+mn-ea"/>
                <a:sym typeface="+mn-ea"/>
              </a:rPr>
              <a:t>最佳实践</a:t>
            </a:r>
            <a:r>
              <a:rPr altLang="zh-CN" sz="1400" b="1">
                <a:latin typeface="+mn-ea"/>
                <a:cs typeface="+mn-ea"/>
                <a:sym typeface="+mn-ea"/>
              </a:rPr>
              <a:t>”</a:t>
            </a:r>
            <a:r>
              <a:rPr altLang="zh-CN" sz="1400" b="1" smtClean="0">
                <a:latin typeface="+mn-ea"/>
                <a:cs typeface="+mn-ea"/>
                <a:sym typeface="+mn-ea"/>
              </a:rPr>
              <a:t>。</a:t>
            </a:r>
            <a:endParaRPr altLang="zh-CN" sz="1400" b="1" smtClean="0">
              <a:latin typeface="+mn-ea"/>
              <a:cs typeface="+mn-ea"/>
              <a:sym typeface="+mn-ea"/>
            </a:endParaRPr>
          </a:p>
          <a:p>
            <a:endParaRPr lang="zh-CN" altLang="en-US" sz="1400" b="1">
              <a:latin typeface="+mn-ea"/>
              <a:cs typeface="+mn-ea"/>
            </a:endParaRPr>
          </a:p>
        </p:txBody>
      </p:sp>
      <p:sp>
        <p:nvSpPr>
          <p:cNvPr id="12" name="圆角矩形 11"/>
          <p:cNvSpPr/>
          <p:nvPr/>
        </p:nvSpPr>
        <p:spPr>
          <a:xfrm>
            <a:off x="6228080" y="827405"/>
            <a:ext cx="5563235" cy="6565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tIns="179705" rtlCol="0" anchor="t" anchorCtr="0"/>
          <a:p>
            <a:pPr algn="l"/>
            <a:r>
              <a:rPr sz="1400" b="1" dirty="0" smtClean="0">
                <a:solidFill>
                  <a:srgbClr val="FFFF00"/>
                </a:solidFill>
                <a:latin typeface="微软雅黑" panose="020B0503020204020204" charset="-122"/>
                <a:cs typeface="微软雅黑" panose="020B0503020204020204" charset="-122"/>
                <a:sym typeface="+mn-ea"/>
              </a:rPr>
              <a:t>迭代式开发</a:t>
            </a:r>
            <a:r>
              <a:rPr lang="en-US" sz="1400" b="1" dirty="0" smtClean="0">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允许每次迭代有需求变化，采用可验证的方法减少风险</a:t>
            </a:r>
            <a:endParaRPr lang="zh-CN" altLang="en-US" sz="1400" b="1"/>
          </a:p>
        </p:txBody>
      </p:sp>
      <p:sp>
        <p:nvSpPr>
          <p:cNvPr id="13" name="圆角矩形 12"/>
          <p:cNvSpPr/>
          <p:nvPr/>
        </p:nvSpPr>
        <p:spPr>
          <a:xfrm>
            <a:off x="6228080" y="1857375"/>
            <a:ext cx="5563235" cy="5911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tIns="144145" bIns="0" rtlCol="0" anchor="t" anchorCtr="0"/>
          <a:p>
            <a:pPr algn="l">
              <a:buClrTx/>
              <a:buSzTx/>
              <a:buFontTx/>
            </a:pPr>
            <a:r>
              <a:rPr sz="1400" b="1" dirty="0" smtClean="0">
                <a:solidFill>
                  <a:srgbClr val="FFFF00"/>
                </a:solidFill>
                <a:latin typeface="微软雅黑" panose="020B0503020204020204" charset="-122"/>
                <a:cs typeface="微软雅黑" panose="020B0503020204020204" charset="-122"/>
                <a:sym typeface="+mn-ea"/>
              </a:rPr>
              <a:t>管理需求 </a:t>
            </a:r>
            <a:r>
              <a:rPr lang="en-US" sz="1400" b="1" dirty="0" smtClean="0">
                <a:solidFill>
                  <a:srgbClr val="FFFF00"/>
                </a:solidFill>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需求是连续过程，采用用例分析捕获需求</a:t>
            </a:r>
            <a:endParaRPr lang="zh-CN" altLang="en-US" sz="1400" b="1" dirty="0" smtClean="0">
              <a:latin typeface="微软雅黑" panose="020B0503020204020204" charset="-122"/>
              <a:cs typeface="微软雅黑" panose="020B0503020204020204" charset="-122"/>
            </a:endParaRPr>
          </a:p>
          <a:p>
            <a:pPr algn="ctr"/>
            <a:endParaRPr lang="zh-CN" altLang="en-US"/>
          </a:p>
        </p:txBody>
      </p:sp>
      <p:sp>
        <p:nvSpPr>
          <p:cNvPr id="14" name="圆角矩形 13"/>
          <p:cNvSpPr/>
          <p:nvPr/>
        </p:nvSpPr>
        <p:spPr>
          <a:xfrm>
            <a:off x="6228080" y="2821940"/>
            <a:ext cx="5563235" cy="5911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215900" numCol="1" spcCol="0" rtlCol="0" fromWordArt="0" anchor="ctr" anchorCtr="0" forceAA="0" compatLnSpc="1">
            <a:noAutofit/>
          </a:bodyPr>
          <a:p>
            <a:pPr lvl="0" algn="l">
              <a:buClrTx/>
              <a:buSzTx/>
              <a:buFontTx/>
            </a:pPr>
            <a:r>
              <a:rPr sz="1400" b="1" dirty="0" smtClean="0">
                <a:solidFill>
                  <a:srgbClr val="FFFF00"/>
                </a:solidFill>
                <a:latin typeface="微软雅黑" panose="020B0503020204020204" charset="-122"/>
                <a:cs typeface="微软雅黑" panose="020B0503020204020204" charset="-122"/>
                <a:sym typeface="+mn-ea"/>
              </a:rPr>
              <a:t>使用基于构建的体系结构  </a:t>
            </a:r>
            <a:r>
              <a:rPr lang="en-US" sz="1400" b="1" dirty="0" smtClean="0">
                <a:solidFill>
                  <a:srgbClr val="FFFF00"/>
                </a:solidFill>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采用现有或新构建定义体系结构</a:t>
            </a:r>
            <a:endParaRPr lang="zh-CN" altLang="en-US" sz="1400" b="1" dirty="0" smtClean="0">
              <a:latin typeface="微软雅黑" panose="020B0503020204020204" charset="-122"/>
              <a:cs typeface="微软雅黑" panose="020B0503020204020204" charset="-122"/>
              <a:sym typeface="+mn-ea"/>
            </a:endParaRPr>
          </a:p>
          <a:p>
            <a:pPr lvl="0" algn="l">
              <a:buClrTx/>
              <a:buSzTx/>
              <a:buFontTx/>
            </a:pPr>
            <a:endParaRPr sz="1400" b="1" dirty="0" smtClean="0">
              <a:solidFill>
                <a:srgbClr val="FFFF00"/>
              </a:solidFill>
              <a:latin typeface="微软雅黑" panose="020B0503020204020204" charset="-122"/>
              <a:cs typeface="微软雅黑" panose="020B0503020204020204" charset="-122"/>
              <a:sym typeface="+mn-ea"/>
            </a:endParaRPr>
          </a:p>
        </p:txBody>
      </p:sp>
      <p:sp>
        <p:nvSpPr>
          <p:cNvPr id="18" name="圆角矩形 17"/>
          <p:cNvSpPr/>
          <p:nvPr/>
        </p:nvSpPr>
        <p:spPr>
          <a:xfrm>
            <a:off x="6228080" y="3786505"/>
            <a:ext cx="5563235" cy="5911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buClrTx/>
              <a:buSzTx/>
              <a:buFontTx/>
            </a:pPr>
            <a:r>
              <a:rPr sz="1400" b="1" dirty="0" smtClean="0">
                <a:solidFill>
                  <a:srgbClr val="FFFF00"/>
                </a:solidFill>
                <a:latin typeface="微软雅黑" panose="020B0503020204020204" charset="-122"/>
                <a:cs typeface="微软雅黑" panose="020B0503020204020204" charset="-122"/>
                <a:sym typeface="+mn-ea"/>
              </a:rPr>
              <a:t>可视化建模</a:t>
            </a:r>
            <a:r>
              <a:rPr lang="en-US" sz="1400" b="1" dirty="0" smtClean="0">
                <a:solidFill>
                  <a:srgbClr val="FFFF00"/>
                </a:solidFill>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RUP与可视化建模语言UML紧密联系</a:t>
            </a:r>
            <a:endParaRPr lang="zh-CN" altLang="en-US" sz="1400" b="1" dirty="0" smtClean="0">
              <a:latin typeface="微软雅黑" panose="020B0503020204020204" charset="-122"/>
              <a:cs typeface="微软雅黑" panose="020B0503020204020204" charset="-122"/>
              <a:sym typeface="+mn-ea"/>
            </a:endParaRPr>
          </a:p>
        </p:txBody>
      </p:sp>
      <p:sp>
        <p:nvSpPr>
          <p:cNvPr id="19" name="圆角矩形 18"/>
          <p:cNvSpPr/>
          <p:nvPr/>
        </p:nvSpPr>
        <p:spPr>
          <a:xfrm>
            <a:off x="6228080" y="4751070"/>
            <a:ext cx="5563235" cy="5911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algn="l">
              <a:buClrTx/>
              <a:buSzTx/>
              <a:buFontTx/>
              <a:buNone/>
            </a:pPr>
            <a:r>
              <a:rPr sz="1400" b="1" dirty="0" smtClean="0">
                <a:solidFill>
                  <a:srgbClr val="FFFF00"/>
                </a:solidFill>
                <a:latin typeface="微软雅黑" panose="020B0503020204020204" charset="-122"/>
                <a:cs typeface="微软雅黑" panose="020B0503020204020204" charset="-122"/>
                <a:sym typeface="+mn-ea"/>
              </a:rPr>
              <a:t>验证软件质量</a:t>
            </a:r>
            <a:r>
              <a:rPr lang="en-US" sz="1400" b="1" dirty="0" smtClean="0">
                <a:solidFill>
                  <a:srgbClr val="FFFF00"/>
                </a:solidFill>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软件质量评估贯穿于整个开发过程</a:t>
            </a:r>
            <a:endParaRPr lang="zh-CN" altLang="en-US" sz="1400" b="1" dirty="0" smtClean="0">
              <a:latin typeface="微软雅黑" panose="020B0503020204020204" charset="-122"/>
              <a:cs typeface="微软雅黑" panose="020B0503020204020204" charset="-122"/>
              <a:sym typeface="+mn-ea"/>
            </a:endParaRPr>
          </a:p>
        </p:txBody>
      </p:sp>
      <p:sp>
        <p:nvSpPr>
          <p:cNvPr id="20" name="圆角矩形 19"/>
          <p:cNvSpPr/>
          <p:nvPr/>
        </p:nvSpPr>
        <p:spPr>
          <a:xfrm>
            <a:off x="6228080" y="5715635"/>
            <a:ext cx="5563235" cy="5911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algn="l">
              <a:buClrTx/>
              <a:buSzTx/>
              <a:buFontTx/>
              <a:buNone/>
            </a:pPr>
            <a:r>
              <a:rPr sz="1400" b="1" dirty="0" smtClean="0">
                <a:solidFill>
                  <a:srgbClr val="FFFF00"/>
                </a:solidFill>
                <a:latin typeface="微软雅黑" panose="020B0503020204020204" charset="-122"/>
                <a:cs typeface="微软雅黑" panose="020B0503020204020204" charset="-122"/>
                <a:sym typeface="+mn-ea"/>
              </a:rPr>
              <a:t>控制软件变更</a:t>
            </a:r>
            <a:r>
              <a:rPr lang="en-US" sz="1400" b="1" dirty="0" smtClean="0">
                <a:solidFill>
                  <a:srgbClr val="FFFF00"/>
                </a:solidFill>
                <a:latin typeface="微软雅黑" panose="020B0503020204020204" charset="-122"/>
                <a:cs typeface="微软雅黑" panose="020B0503020204020204" charset="-122"/>
                <a:sym typeface="+mn-ea"/>
              </a:rPr>
              <a:t>     </a:t>
            </a:r>
            <a:r>
              <a:rPr lang="zh-CN" altLang="en-US" sz="1400" b="1" dirty="0" smtClean="0">
                <a:latin typeface="微软雅黑" panose="020B0503020204020204" charset="-122"/>
                <a:cs typeface="微软雅黑" panose="020B0503020204020204" charset="-122"/>
                <a:sym typeface="+mn-ea"/>
              </a:rPr>
              <a:t>保证每个修改都是可接受的而且能被跟踪的</a:t>
            </a:r>
            <a:endParaRPr lang="zh-CN" altLang="en-US" sz="1400" b="1" dirty="0" smtClean="0">
              <a:latin typeface="微软雅黑" panose="020B0503020204020204" charset="-122"/>
              <a:cs typeface="微软雅黑" panose="020B0503020204020204" charset="-122"/>
              <a:sym typeface="+mn-ea"/>
            </a:endParaRPr>
          </a:p>
        </p:txBody>
      </p:sp>
      <p:sp>
        <p:nvSpPr>
          <p:cNvPr id="2" name="文本框 1"/>
          <p:cNvSpPr txBox="1"/>
          <p:nvPr/>
        </p:nvSpPr>
        <p:spPr>
          <a:xfrm>
            <a:off x="-2540" y="635"/>
            <a:ext cx="12194540" cy="368300"/>
          </a:xfrm>
          <a:prstGeom prst="rect">
            <a:avLst/>
          </a:prstGeom>
          <a:solidFill>
            <a:schemeClr val="accent1"/>
          </a:solidFill>
        </p:spPr>
        <p:txBody>
          <a:bodyPr wrap="square" rtlCol="0">
            <a:spAutoFit/>
          </a:bodyPr>
          <a:p>
            <a:pPr algn="l">
              <a:buClrTx/>
              <a:buSzTx/>
              <a:buFontTx/>
            </a:pPr>
            <a:r>
              <a:rPr lang="zh-CN" altLang="en-US" b="1">
                <a:solidFill>
                  <a:schemeClr val="bg1"/>
                </a:solidFill>
                <a:sym typeface="+mn-ea"/>
              </a:rPr>
              <a:t>Rational 统一过程</a:t>
            </a:r>
            <a:endParaRPr lang="zh-CN" altLang="en-US" b="1">
              <a:solidFill>
                <a:schemeClr val="bg1"/>
              </a:solidFill>
            </a:endParaRPr>
          </a:p>
        </p:txBody>
      </p:sp>
      <p:pic>
        <p:nvPicPr>
          <p:cNvPr id="21" name="图片 20"/>
          <p:cNvPicPr>
            <a:picLocks noChangeAspect="1"/>
          </p:cNvPicPr>
          <p:nvPr/>
        </p:nvPicPr>
        <p:blipFill>
          <a:blip r:embed="rId1"/>
          <a:stretch>
            <a:fillRect/>
          </a:stretch>
        </p:blipFill>
        <p:spPr>
          <a:xfrm>
            <a:off x="895350" y="2260600"/>
            <a:ext cx="4206240" cy="4206240"/>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custDataLst>
              <p:tags r:id="rId1"/>
            </p:custDataLst>
          </p:nvPr>
        </p:nvGrpSpPr>
        <p:grpSpPr>
          <a:xfrm rot="5400000">
            <a:off x="11893" y="6030689"/>
            <a:ext cx="738165" cy="916458"/>
            <a:chOff x="10608342" y="5053054"/>
            <a:chExt cx="1583658" cy="1966165"/>
          </a:xfrm>
        </p:grpSpPr>
        <p:sp>
          <p:nvSpPr>
            <p:cNvPr id="16" name="任意多边形: 形状 15"/>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custDataLst>
              <p:tags r:id="rId4"/>
            </p:custDataLst>
          </p:nvPr>
        </p:nvGrpSpPr>
        <p:grpSpPr>
          <a:xfrm rot="16200000">
            <a:off x="11442069" y="-87887"/>
            <a:ext cx="738165" cy="916458"/>
            <a:chOff x="10608342" y="5053054"/>
            <a:chExt cx="1583658" cy="1966165"/>
          </a:xfrm>
        </p:grpSpPr>
        <p:sp>
          <p:nvSpPr>
            <p:cNvPr id="10" name="任意多边形: 形状 9"/>
            <p:cNvSpPr/>
            <p:nvPr>
              <p:custDataLst>
                <p:tags r:id="rId5"/>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6"/>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0" y="972820"/>
            <a:ext cx="5491480" cy="5885815"/>
          </a:xfrm>
          <a:prstGeom prst="rect">
            <a:avLst/>
          </a:prstGeom>
          <a:solidFill>
            <a:schemeClr val="accent1"/>
          </a:solidFill>
          <a:ln>
            <a:solidFill>
              <a:schemeClr val="tx1"/>
            </a:solidFill>
          </a:ln>
        </p:spPr>
        <p:txBody>
          <a:bodyPr wrap="square" rtlCol="0">
            <a:noAutofit/>
          </a:bodyPr>
          <a:p>
            <a:pPr>
              <a:lnSpc>
                <a:spcPct val="210000"/>
              </a:lnSpc>
            </a:pPr>
            <a:r>
              <a:rPr lang="en-US" altLang="zh-CN" sz="1400" b="1">
                <a:solidFill>
                  <a:srgbClr val="FF0000"/>
                </a:solidFill>
                <a:highlight>
                  <a:srgbClr val="FFFF00"/>
                </a:highlight>
                <a:latin typeface="+mn-ea"/>
                <a:cs typeface="+mn-ea"/>
                <a:sym typeface="+mn-ea"/>
              </a:rPr>
              <a:t>9</a:t>
            </a:r>
            <a:r>
              <a:rPr lang="zh-CN" altLang="en-US" sz="1400" b="1">
                <a:solidFill>
                  <a:srgbClr val="FF0000"/>
                </a:solidFill>
                <a:highlight>
                  <a:srgbClr val="FFFF00"/>
                </a:highlight>
                <a:latin typeface="+mn-ea"/>
                <a:cs typeface="+mn-ea"/>
                <a:sym typeface="+mn-ea"/>
              </a:rPr>
              <a:t>个</a:t>
            </a:r>
            <a:r>
              <a:rPr lang="zh-CN" sz="1400" b="1">
                <a:solidFill>
                  <a:srgbClr val="FF0000"/>
                </a:solidFill>
                <a:highlight>
                  <a:srgbClr val="FFFF00"/>
                </a:highlight>
                <a:latin typeface="+mn-ea"/>
                <a:cs typeface="+mn-ea"/>
                <a:sym typeface="+mn-ea"/>
              </a:rPr>
              <a:t>核心工作流</a:t>
            </a:r>
            <a:endParaRPr lang="zh-CN" sz="1400" b="1">
              <a:solidFill>
                <a:srgbClr val="FF0000"/>
              </a:solidFill>
              <a:highlight>
                <a:srgbClr val="FFFF00"/>
              </a:highlight>
              <a:latin typeface="+mn-ea"/>
              <a:cs typeface="+mn-ea"/>
              <a:sym typeface="+mn-ea"/>
            </a:endParaRPr>
          </a:p>
          <a:p>
            <a:pPr>
              <a:lnSpc>
                <a:spcPct val="210000"/>
              </a:lnSpc>
            </a:pPr>
            <a:r>
              <a:rPr lang="zh-CN" sz="1400" b="1">
                <a:solidFill>
                  <a:schemeClr val="bg2"/>
                </a:solidFill>
                <a:latin typeface="+mn-ea"/>
                <a:cs typeface="+mn-ea"/>
              </a:rPr>
              <a:t>前</a:t>
            </a:r>
            <a:r>
              <a:rPr lang="en-US" altLang="zh-CN" sz="1400" b="1">
                <a:solidFill>
                  <a:schemeClr val="bg2"/>
                </a:solidFill>
                <a:latin typeface="+mn-ea"/>
                <a:cs typeface="+mn-ea"/>
              </a:rPr>
              <a:t>6</a:t>
            </a:r>
            <a:r>
              <a:rPr lang="zh-CN" altLang="en-US" sz="1400" b="1">
                <a:solidFill>
                  <a:schemeClr val="bg2"/>
                </a:solidFill>
                <a:latin typeface="+mn-ea"/>
                <a:cs typeface="+mn-ea"/>
              </a:rPr>
              <a:t>个是核心过程工作流，后</a:t>
            </a:r>
            <a:r>
              <a:rPr lang="en-US" altLang="zh-CN" sz="1400" b="1">
                <a:solidFill>
                  <a:schemeClr val="bg2"/>
                </a:solidFill>
                <a:latin typeface="+mn-ea"/>
                <a:cs typeface="+mn-ea"/>
              </a:rPr>
              <a:t>3</a:t>
            </a:r>
            <a:r>
              <a:rPr lang="zh-CN" altLang="en-US" sz="1400" b="1">
                <a:solidFill>
                  <a:schemeClr val="bg2"/>
                </a:solidFill>
                <a:latin typeface="+mn-ea"/>
                <a:cs typeface="+mn-ea"/>
              </a:rPr>
              <a:t>个是核心支持工作流</a:t>
            </a:r>
            <a:endParaRPr lang="zh-CN" sz="1400" b="1">
              <a:solidFill>
                <a:schemeClr val="bg2"/>
              </a:solidFill>
              <a:latin typeface="+mn-ea"/>
              <a:cs typeface="+mn-ea"/>
            </a:endParaRPr>
          </a:p>
          <a:p>
            <a:pPr algn="l">
              <a:lnSpc>
                <a:spcPct val="210000"/>
              </a:lnSpc>
              <a:buClrTx/>
              <a:buSzTx/>
              <a:buFontTx/>
            </a:pPr>
            <a:r>
              <a:rPr lang="zh-CN" sz="1400" b="1">
                <a:solidFill>
                  <a:srgbClr val="FF0000"/>
                </a:solidFill>
                <a:highlight>
                  <a:srgbClr val="FFFF00"/>
                </a:highlight>
                <a:latin typeface="+mn-ea"/>
                <a:cs typeface="+mn-ea"/>
              </a:rPr>
              <a:t>4个连续工作阶段</a:t>
            </a:r>
            <a:endParaRPr lang="zh-CN" sz="1400" b="1">
              <a:solidFill>
                <a:srgbClr val="FF0000"/>
              </a:solidFill>
              <a:highlight>
                <a:srgbClr val="FFFF00"/>
              </a:highlight>
              <a:latin typeface="+mn-ea"/>
              <a:cs typeface="+mn-ea"/>
            </a:endParaRPr>
          </a:p>
          <a:p>
            <a:pPr marL="285750" indent="-285750">
              <a:lnSpc>
                <a:spcPct val="210000"/>
              </a:lnSpc>
              <a:buFont typeface="Wingdings" panose="05000000000000000000" charset="0"/>
              <a:buChar char="ü"/>
            </a:pPr>
            <a:r>
              <a:rPr lang="zh-CN" sz="1400" b="1">
                <a:solidFill>
                  <a:schemeClr val="bg2"/>
                </a:solidFill>
                <a:latin typeface="+mn-ea"/>
                <a:cs typeface="+mn-ea"/>
              </a:rPr>
              <a:t>初始阶段：建立业务模型，定义产品视图，确定项目范围</a:t>
            </a:r>
            <a:endParaRPr lang="zh-CN" sz="1400" b="1">
              <a:solidFill>
                <a:schemeClr val="bg2"/>
              </a:solidFill>
              <a:latin typeface="+mn-ea"/>
              <a:cs typeface="+mn-ea"/>
            </a:endParaRPr>
          </a:p>
          <a:p>
            <a:pPr marL="285750" indent="-285750">
              <a:lnSpc>
                <a:spcPct val="210000"/>
              </a:lnSpc>
              <a:buFont typeface="Wingdings" panose="05000000000000000000" charset="0"/>
              <a:buChar char="ü"/>
            </a:pPr>
            <a:r>
              <a:rPr lang="zh-CN" sz="1400" b="1">
                <a:solidFill>
                  <a:schemeClr val="bg2"/>
                </a:solidFill>
                <a:latin typeface="+mn-ea"/>
                <a:cs typeface="+mn-ea"/>
              </a:rPr>
              <a:t>精化阶段：设计体系结构，制订项目计划，确定资源需求</a:t>
            </a:r>
            <a:endParaRPr lang="zh-CN" sz="1400" b="1">
              <a:solidFill>
                <a:schemeClr val="bg2"/>
              </a:solidFill>
              <a:latin typeface="+mn-ea"/>
              <a:cs typeface="+mn-ea"/>
            </a:endParaRPr>
          </a:p>
          <a:p>
            <a:pPr marL="285750" indent="-285750">
              <a:lnSpc>
                <a:spcPct val="210000"/>
              </a:lnSpc>
              <a:buFont typeface="Wingdings" panose="05000000000000000000" charset="0"/>
              <a:buChar char="ü"/>
            </a:pPr>
            <a:r>
              <a:rPr lang="zh-CN" sz="1400" b="1">
                <a:solidFill>
                  <a:schemeClr val="bg2"/>
                </a:solidFill>
                <a:latin typeface="+mn-ea"/>
                <a:cs typeface="+mn-ea"/>
              </a:rPr>
              <a:t>构建阶段：开发所有构件和应用程序并集成，测试所有功能</a:t>
            </a:r>
            <a:endParaRPr lang="zh-CN" sz="1400" b="1">
              <a:solidFill>
                <a:schemeClr val="bg2"/>
              </a:solidFill>
              <a:latin typeface="+mn-ea"/>
              <a:cs typeface="+mn-ea"/>
            </a:endParaRPr>
          </a:p>
          <a:p>
            <a:pPr marL="285750" indent="-285750">
              <a:lnSpc>
                <a:spcPct val="210000"/>
              </a:lnSpc>
              <a:buFont typeface="Wingdings" panose="05000000000000000000" charset="0"/>
              <a:buChar char="ü"/>
            </a:pPr>
            <a:r>
              <a:rPr lang="zh-CN" sz="1400" b="1">
                <a:solidFill>
                  <a:schemeClr val="bg2"/>
                </a:solidFill>
                <a:latin typeface="+mn-ea"/>
                <a:cs typeface="+mn-ea"/>
              </a:rPr>
              <a:t>移交阶段：产品提交用户</a:t>
            </a:r>
            <a:endParaRPr lang="zh-CN" sz="1400" b="1">
              <a:solidFill>
                <a:schemeClr val="bg2"/>
              </a:solidFill>
              <a:latin typeface="+mn-ea"/>
              <a:cs typeface="+mn-ea"/>
            </a:endParaRPr>
          </a:p>
          <a:p>
            <a:pPr algn="l">
              <a:lnSpc>
                <a:spcPct val="210000"/>
              </a:lnSpc>
              <a:buClrTx/>
              <a:buSzTx/>
              <a:buFontTx/>
            </a:pPr>
            <a:r>
              <a:rPr lang="zh-CN" sz="1400" b="1">
                <a:solidFill>
                  <a:srgbClr val="FF0000"/>
                </a:solidFill>
                <a:highlight>
                  <a:srgbClr val="FFFF00"/>
                </a:highlight>
                <a:latin typeface="+mn-ea"/>
                <a:cs typeface="+mn-ea"/>
              </a:rPr>
              <a:t>RUP迭代式开发</a:t>
            </a:r>
            <a:endParaRPr lang="zh-CN" sz="1400" b="1">
              <a:solidFill>
                <a:srgbClr val="FF0000"/>
              </a:solidFill>
              <a:highlight>
                <a:srgbClr val="FFFF00"/>
              </a:highlight>
              <a:latin typeface="+mn-ea"/>
              <a:cs typeface="+mn-ea"/>
            </a:endParaRPr>
          </a:p>
          <a:p>
            <a:pPr algn="l">
              <a:lnSpc>
                <a:spcPct val="210000"/>
              </a:lnSpc>
              <a:buClrTx/>
              <a:buSzTx/>
              <a:buFontTx/>
            </a:pPr>
            <a:r>
              <a:rPr lang="en-US" altLang="zh-CN" sz="1400" b="1">
                <a:solidFill>
                  <a:schemeClr val="bg2"/>
                </a:solidFill>
                <a:latin typeface="+mn-ea"/>
                <a:cs typeface="+mn-ea"/>
                <a:sym typeface="+mn-ea"/>
              </a:rPr>
              <a:t>      </a:t>
            </a:r>
            <a:r>
              <a:rPr lang="zh-CN" sz="1400" b="1">
                <a:solidFill>
                  <a:schemeClr val="bg2"/>
                </a:solidFill>
                <a:latin typeface="+mn-ea"/>
                <a:cs typeface="+mn-ea"/>
                <a:sym typeface="+mn-ea"/>
              </a:rPr>
              <a:t>重复一系列组成软件生命周期的循环。每次循环都经历一个完整的生命周期，每次循环结束都向用户交付产品的一个可运行的版本。每个阶段又进一步细分为一次或多次迭代过程。</a:t>
            </a:r>
            <a:endParaRPr lang="zh-CN" sz="1400" b="1">
              <a:solidFill>
                <a:schemeClr val="bg2"/>
              </a:solidFill>
              <a:latin typeface="+mn-ea"/>
              <a:cs typeface="+mn-ea"/>
            </a:endParaRPr>
          </a:p>
          <a:p>
            <a:pPr algn="l">
              <a:buClrTx/>
              <a:buSzTx/>
              <a:buFontTx/>
            </a:pPr>
            <a:endParaRPr lang="zh-CN" sz="1400" b="1">
              <a:solidFill>
                <a:schemeClr val="bg2"/>
              </a:solidFill>
              <a:latin typeface="+mn-ea"/>
              <a:cs typeface="+mn-ea"/>
            </a:endParaRPr>
          </a:p>
        </p:txBody>
      </p:sp>
      <p:pic>
        <p:nvPicPr>
          <p:cNvPr id="2" name="内容占位符 1"/>
          <p:cNvPicPr>
            <a:picLocks noChangeAspect="1"/>
          </p:cNvPicPr>
          <p:nvPr>
            <p:ph sz="half" idx="1"/>
            <p:custDataLst>
              <p:tags r:id="rId7"/>
            </p:custDataLst>
          </p:nvPr>
        </p:nvPicPr>
        <p:blipFill>
          <a:blip r:embed="rId8"/>
          <a:stretch>
            <a:fillRect/>
          </a:stretch>
        </p:blipFill>
        <p:spPr>
          <a:xfrm>
            <a:off x="5737860" y="913130"/>
            <a:ext cx="6046470" cy="4797425"/>
          </a:xfrm>
          <a:prstGeom prst="rect">
            <a:avLst/>
          </a:prstGeom>
        </p:spPr>
      </p:pic>
      <p:sp>
        <p:nvSpPr>
          <p:cNvPr id="5" name="文本框 4"/>
          <p:cNvSpPr txBox="1"/>
          <p:nvPr/>
        </p:nvSpPr>
        <p:spPr>
          <a:xfrm>
            <a:off x="0" y="1270"/>
            <a:ext cx="5491480" cy="971550"/>
          </a:xfrm>
          <a:prstGeom prst="rect">
            <a:avLst/>
          </a:prstGeom>
          <a:solidFill>
            <a:schemeClr val="accent3"/>
          </a:solidFill>
          <a:ln>
            <a:solidFill>
              <a:schemeClr val="tx1"/>
            </a:solidFill>
          </a:ln>
        </p:spPr>
        <p:txBody>
          <a:bodyPr wrap="square" rtlCol="0">
            <a:noAutofit/>
          </a:bodyPr>
          <a:p>
            <a:pPr>
              <a:lnSpc>
                <a:spcPct val="150000"/>
              </a:lnSpc>
            </a:pPr>
            <a:r>
              <a:rPr lang="en-US" altLang="zh-CN" sz="1400" b="1" dirty="0">
                <a:solidFill>
                  <a:schemeClr val="bg1"/>
                </a:solidFill>
                <a:latin typeface="微软雅黑" panose="020B0503020204020204" charset="-122"/>
                <a:ea typeface="微软雅黑" panose="020B0503020204020204" charset="-122"/>
                <a:cs typeface="微软雅黑" panose="020B0503020204020204" charset="-122"/>
                <a:sym typeface="+mn-ea"/>
              </a:rPr>
              <a:t>RUP</a:t>
            </a:r>
            <a:r>
              <a:rPr lang="zh-CN" altLang="zh-CN" sz="1400" b="1" dirty="0">
                <a:solidFill>
                  <a:schemeClr val="bg1"/>
                </a:solidFill>
                <a:latin typeface="微软雅黑" panose="020B0503020204020204" charset="-122"/>
                <a:ea typeface="微软雅黑" panose="020B0503020204020204" charset="-122"/>
                <a:cs typeface="微软雅黑" panose="020B0503020204020204" charset="-122"/>
                <a:sym typeface="+mn-ea"/>
              </a:rPr>
              <a:t>软件开发生命周期是一个</a:t>
            </a:r>
            <a:r>
              <a:rPr lang="zh-CN" altLang="zh-CN" sz="1400" b="1" dirty="0">
                <a:solidFill>
                  <a:srgbClr val="FF0000"/>
                </a:solidFill>
                <a:latin typeface="微软雅黑" panose="020B0503020204020204" charset="-122"/>
                <a:ea typeface="微软雅黑" panose="020B0503020204020204" charset="-122"/>
                <a:cs typeface="微软雅黑" panose="020B0503020204020204" charset="-122"/>
                <a:sym typeface="+mn-ea"/>
              </a:rPr>
              <a:t>二维的</a:t>
            </a:r>
            <a:r>
              <a:rPr lang="zh-CN" altLang="zh-CN" sz="1400" b="1" dirty="0">
                <a:solidFill>
                  <a:schemeClr val="bg1"/>
                </a:solidFill>
                <a:latin typeface="微软雅黑" panose="020B0503020204020204" charset="-122"/>
                <a:ea typeface="微软雅黑" panose="020B0503020204020204" charset="-122"/>
                <a:cs typeface="微软雅黑" panose="020B0503020204020204" charset="-122"/>
                <a:sym typeface="+mn-ea"/>
              </a:rPr>
              <a:t>生命周期模型，图中纵轴代表核心</a:t>
            </a:r>
            <a:r>
              <a:rPr lang="zh-CN" altLang="zh-CN" sz="1400" b="1" dirty="0">
                <a:solidFill>
                  <a:srgbClr val="FFFF00"/>
                </a:solidFill>
                <a:latin typeface="微软雅黑" panose="020B0503020204020204" charset="-122"/>
                <a:ea typeface="微软雅黑" panose="020B0503020204020204" charset="-122"/>
                <a:cs typeface="微软雅黑" panose="020B0503020204020204" charset="-122"/>
                <a:sym typeface="+mn-ea"/>
              </a:rPr>
              <a:t>工作流</a:t>
            </a:r>
            <a:r>
              <a:rPr lang="zh-CN" altLang="zh-CN" sz="1400" b="1" dirty="0">
                <a:solidFill>
                  <a:schemeClr val="bg1"/>
                </a:solidFill>
                <a:latin typeface="微软雅黑" panose="020B0503020204020204" charset="-122"/>
                <a:ea typeface="微软雅黑" panose="020B0503020204020204" charset="-122"/>
                <a:cs typeface="微软雅黑" panose="020B0503020204020204" charset="-122"/>
                <a:sym typeface="+mn-ea"/>
              </a:rPr>
              <a:t>，横轴代表</a:t>
            </a:r>
            <a:r>
              <a:rPr lang="zh-CN" altLang="zh-CN" sz="1400" b="1" dirty="0">
                <a:solidFill>
                  <a:srgbClr val="FFFF00"/>
                </a:solidFill>
                <a:latin typeface="微软雅黑" panose="020B0503020204020204" charset="-122"/>
                <a:ea typeface="微软雅黑" panose="020B0503020204020204" charset="-122"/>
                <a:cs typeface="微软雅黑" panose="020B0503020204020204" charset="-122"/>
                <a:sym typeface="+mn-ea"/>
              </a:rPr>
              <a:t>时间</a:t>
            </a:r>
            <a:r>
              <a:rPr lang="zh-CN" altLang="zh-CN" sz="1400" b="1"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a:p>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custDataLst>
              <p:tags r:id="rId1"/>
            </p:custDataLst>
          </p:nvPr>
        </p:nvGrpSpPr>
        <p:grpSpPr>
          <a:xfrm rot="16200000">
            <a:off x="11442069" y="-87887"/>
            <a:ext cx="738165" cy="916458"/>
            <a:chOff x="10608342" y="5053054"/>
            <a:chExt cx="1583658" cy="1966165"/>
          </a:xfrm>
        </p:grpSpPr>
        <p:sp>
          <p:nvSpPr>
            <p:cNvPr id="10" name="任意多边形: 形状 9"/>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4"/>
            </p:custDataLst>
          </p:nvPr>
        </p:nvGrpSpPr>
        <p:grpSpPr>
          <a:xfrm rot="5400000">
            <a:off x="11893" y="6030689"/>
            <a:ext cx="738165" cy="916458"/>
            <a:chOff x="10608342" y="5053054"/>
            <a:chExt cx="1583658" cy="1966165"/>
          </a:xfrm>
        </p:grpSpPr>
        <p:sp>
          <p:nvSpPr>
            <p:cNvPr id="16" name="任意多边形: 形状 15"/>
            <p:cNvSpPr/>
            <p:nvPr>
              <p:custDataLst>
                <p:tags r:id="rId5"/>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6"/>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0" y="425450"/>
            <a:ext cx="5131435" cy="6432550"/>
          </a:xfrm>
          <a:prstGeom prst="rect">
            <a:avLst/>
          </a:prstGeom>
          <a:solidFill>
            <a:schemeClr val="accent1"/>
          </a:solidFill>
          <a:ln>
            <a:solidFill>
              <a:schemeClr val="tx1"/>
            </a:solidFill>
          </a:ln>
        </p:spPr>
        <p:txBody>
          <a:bodyPr wrap="square" rtlCol="0">
            <a:noAutofit/>
          </a:bodyPr>
          <a:p>
            <a:pPr marL="0" indent="0">
              <a:lnSpc>
                <a:spcPct val="160000"/>
              </a:lnSpc>
              <a:buNone/>
              <a:defRPr/>
            </a:pPr>
            <a:r>
              <a:rPr lang="en-US" altLang="zh-CN" sz="1400" b="1" dirty="0">
                <a:solidFill>
                  <a:schemeClr val="bg1"/>
                </a:solidFill>
                <a:latin typeface="+mn-ea"/>
                <a:cs typeface="+mn-ea"/>
                <a:sym typeface="+mn-ea"/>
              </a:rPr>
              <a:t>       </a:t>
            </a:r>
            <a:endParaRPr lang="en-US" altLang="zh-CN" sz="1400" b="1" dirty="0">
              <a:solidFill>
                <a:schemeClr val="bg1"/>
              </a:solidFill>
              <a:latin typeface="+mn-ea"/>
              <a:cs typeface="+mn-ea"/>
              <a:sym typeface="+mn-ea"/>
            </a:endParaRPr>
          </a:p>
          <a:p>
            <a:pPr marL="0" indent="0">
              <a:lnSpc>
                <a:spcPct val="210000"/>
              </a:lnSpc>
              <a:buNone/>
              <a:defRPr/>
            </a:pPr>
            <a:r>
              <a:rPr lang="en-US" altLang="zh-CN" sz="1400" b="1" dirty="0">
                <a:solidFill>
                  <a:schemeClr val="bg1"/>
                </a:solidFill>
                <a:latin typeface="+mn-ea"/>
                <a:cs typeface="+mn-ea"/>
                <a:sym typeface="+mn-ea"/>
              </a:rPr>
              <a:t>     </a:t>
            </a:r>
            <a:r>
              <a:rPr altLang="zh-CN" sz="1400" b="1">
                <a:solidFill>
                  <a:schemeClr val="bg1"/>
                </a:solidFill>
                <a:latin typeface="+mn-ea"/>
                <a:cs typeface="+mn-ea"/>
                <a:sym typeface="+mn-ea"/>
              </a:rPr>
              <a:t>敏捷不是一种具体的方法论，而是一套价值观和原则的集合</a:t>
            </a:r>
            <a:r>
              <a:rPr lang="zh-CN" sz="1400" b="1">
                <a:solidFill>
                  <a:schemeClr val="bg1"/>
                </a:solidFill>
                <a:latin typeface="+mn-ea"/>
                <a:cs typeface="+mn-ea"/>
                <a:sym typeface="+mn-ea"/>
              </a:rPr>
              <a:t>。</a:t>
            </a:r>
            <a:r>
              <a:rPr lang="zh-CN" altLang="zh-CN" sz="1400" b="1" dirty="0">
                <a:solidFill>
                  <a:schemeClr val="bg1"/>
                </a:solidFill>
                <a:latin typeface="+mn-ea"/>
                <a:cs typeface="+mn-ea"/>
                <a:sym typeface="+mn-ea"/>
              </a:rPr>
              <a:t>为了使软件开发团队具有高效工作和快速响应变化的能力，</a:t>
            </a:r>
            <a:r>
              <a:rPr lang="en-US" altLang="zh-CN" sz="1400" b="1" dirty="0">
                <a:solidFill>
                  <a:schemeClr val="bg1"/>
                </a:solidFill>
                <a:latin typeface="+mn-ea"/>
                <a:cs typeface="+mn-ea"/>
                <a:sym typeface="+mn-ea"/>
              </a:rPr>
              <a:t>17</a:t>
            </a:r>
            <a:r>
              <a:rPr lang="zh-CN" altLang="zh-CN" sz="1400" b="1" dirty="0">
                <a:solidFill>
                  <a:schemeClr val="bg1"/>
                </a:solidFill>
                <a:latin typeface="+mn-ea"/>
                <a:cs typeface="+mn-ea"/>
                <a:sym typeface="+mn-ea"/>
              </a:rPr>
              <a:t>位著名的软件专家于</a:t>
            </a:r>
            <a:r>
              <a:rPr lang="en-US" altLang="zh-CN" sz="1400" b="1" dirty="0">
                <a:solidFill>
                  <a:schemeClr val="bg1"/>
                </a:solidFill>
                <a:latin typeface="+mn-ea"/>
                <a:cs typeface="+mn-ea"/>
                <a:sym typeface="+mn-ea"/>
              </a:rPr>
              <a:t>2001</a:t>
            </a:r>
            <a:r>
              <a:rPr lang="zh-CN" altLang="zh-CN" sz="1400" b="1" dirty="0">
                <a:solidFill>
                  <a:schemeClr val="bg1"/>
                </a:solidFill>
                <a:latin typeface="+mn-ea"/>
                <a:cs typeface="+mn-ea"/>
                <a:sym typeface="+mn-ea"/>
              </a:rPr>
              <a:t>年</a:t>
            </a:r>
            <a:r>
              <a:rPr lang="en-US" altLang="zh-CN" sz="1400" b="1" dirty="0">
                <a:solidFill>
                  <a:schemeClr val="bg1"/>
                </a:solidFill>
                <a:latin typeface="+mn-ea"/>
                <a:cs typeface="+mn-ea"/>
                <a:sym typeface="+mn-ea"/>
              </a:rPr>
              <a:t>2</a:t>
            </a:r>
            <a:r>
              <a:rPr lang="zh-CN" altLang="zh-CN" sz="1400" b="1" dirty="0">
                <a:solidFill>
                  <a:schemeClr val="bg1"/>
                </a:solidFill>
                <a:latin typeface="+mn-ea"/>
                <a:cs typeface="+mn-ea"/>
                <a:sym typeface="+mn-ea"/>
              </a:rPr>
              <a:t>月联合起草了</a:t>
            </a:r>
            <a:r>
              <a:rPr lang="zh-CN" altLang="zh-CN" sz="1400" b="1" dirty="0">
                <a:solidFill>
                  <a:srgbClr val="FF0000"/>
                </a:solidFill>
                <a:latin typeface="+mn-ea"/>
                <a:cs typeface="+mn-ea"/>
                <a:sym typeface="+mn-ea"/>
              </a:rPr>
              <a:t>敏捷软件开发宣言：</a:t>
            </a:r>
            <a:r>
              <a:rPr lang="zh-CN" altLang="zh-CN" sz="1400" b="1" dirty="0">
                <a:solidFill>
                  <a:schemeClr val="bg1"/>
                </a:solidFill>
                <a:latin typeface="+mn-ea"/>
                <a:cs typeface="+mn-ea"/>
                <a:sym typeface="+mn-ea"/>
              </a:rPr>
              <a:t>敏捷软件开发宣言由下述</a:t>
            </a:r>
            <a:r>
              <a:rPr lang="en-US" altLang="zh-CN" sz="1400" b="1" dirty="0">
                <a:solidFill>
                  <a:schemeClr val="bg1"/>
                </a:solidFill>
                <a:latin typeface="+mn-ea"/>
                <a:cs typeface="+mn-ea"/>
                <a:sym typeface="+mn-ea"/>
              </a:rPr>
              <a:t>4</a:t>
            </a:r>
            <a:r>
              <a:rPr lang="zh-CN" altLang="zh-CN" sz="1400" b="1" dirty="0">
                <a:solidFill>
                  <a:schemeClr val="bg1"/>
                </a:solidFill>
                <a:latin typeface="+mn-ea"/>
                <a:cs typeface="+mn-ea"/>
                <a:sym typeface="+mn-ea"/>
              </a:rPr>
              <a:t>个简单的价值观声明组成</a:t>
            </a:r>
            <a:r>
              <a:rPr lang="zh-CN" altLang="zh-CN" sz="1400" b="1" dirty="0" smtClean="0">
                <a:solidFill>
                  <a:schemeClr val="bg1"/>
                </a:solidFill>
                <a:latin typeface="+mn-ea"/>
                <a:cs typeface="+mn-ea"/>
                <a:sym typeface="+mn-ea"/>
              </a:rPr>
              <a:t>。</a:t>
            </a:r>
            <a:endParaRPr lang="zh-CN" altLang="zh-CN" sz="1400" b="1" dirty="0" smtClean="0">
              <a:solidFill>
                <a:schemeClr val="bg1"/>
              </a:solidFill>
              <a:latin typeface="+mn-ea"/>
              <a:cs typeface="+mn-ea"/>
              <a:sym typeface="+mn-ea"/>
            </a:endParaRPr>
          </a:p>
          <a:p>
            <a:pPr marL="0" indent="0">
              <a:lnSpc>
                <a:spcPct val="210000"/>
              </a:lnSpc>
              <a:buNone/>
              <a:defRPr/>
            </a:pPr>
            <a:r>
              <a:rPr lang="en-US" sz="1400" b="1">
                <a:solidFill>
                  <a:schemeClr val="bg1"/>
                </a:solidFill>
                <a:latin typeface="+mn-ea"/>
                <a:cs typeface="+mn-ea"/>
                <a:sym typeface="+mn-ea"/>
              </a:rPr>
              <a:t>      </a:t>
            </a:r>
            <a:endParaRPr altLang="zh-CN" sz="1400" b="1">
              <a:solidFill>
                <a:srgbClr val="FF0000"/>
              </a:solidFill>
              <a:latin typeface="微软雅黑" panose="020B0503020204020204" charset="-122"/>
              <a:cs typeface="微软雅黑" panose="020B0503020204020204" charset="-122"/>
              <a:sym typeface="+mn-ea"/>
            </a:endParaRPr>
          </a:p>
          <a:p>
            <a:pPr marL="0" indent="0" algn="ctr">
              <a:lnSpc>
                <a:spcPct val="210000"/>
              </a:lnSpc>
              <a:buNone/>
              <a:defRPr/>
            </a:pPr>
            <a:r>
              <a:rPr lang="zh-CN" b="1">
                <a:solidFill>
                  <a:srgbClr val="FF0000"/>
                </a:solidFill>
                <a:latin typeface="微软雅黑" panose="020B0503020204020204" charset="-122"/>
                <a:cs typeface="微软雅黑" panose="020B0503020204020204" charset="-122"/>
                <a:sym typeface="+mn-ea"/>
              </a:rPr>
              <a:t>敏捷核心四大价值观</a:t>
            </a:r>
            <a:endParaRPr lang="zh-CN" b="1">
              <a:solidFill>
                <a:srgbClr val="FF0000"/>
              </a:solidFill>
              <a:latin typeface="微软雅黑" panose="020B0503020204020204" charset="-122"/>
              <a:cs typeface="微软雅黑" panose="020B0503020204020204" charset="-122"/>
              <a:sym typeface="+mn-ea"/>
            </a:endParaRPr>
          </a:p>
          <a:p>
            <a:pPr marL="0" indent="0" algn="ctr">
              <a:lnSpc>
                <a:spcPct val="210000"/>
              </a:lnSpc>
              <a:buNone/>
              <a:defRPr/>
            </a:pPr>
            <a:r>
              <a:rPr lang="en-US" altLang="zh-CN">
                <a:solidFill>
                  <a:srgbClr val="FFFF00"/>
                </a:solidFill>
                <a:latin typeface="+mn-ea"/>
                <a:cs typeface="+mn-ea"/>
                <a:sym typeface="+mn-ea"/>
              </a:rPr>
              <a:t>    </a:t>
            </a:r>
            <a:r>
              <a:rPr lang="zh-CN" b="1">
                <a:solidFill>
                  <a:srgbClr val="FFFF00"/>
                </a:solidFill>
                <a:latin typeface="+mn-ea"/>
                <a:cs typeface="+mn-ea"/>
                <a:sym typeface="+mn-ea"/>
              </a:rPr>
              <a:t>个体和交互</a:t>
            </a:r>
            <a:r>
              <a:rPr lang="zh-CN" b="1">
                <a:solidFill>
                  <a:srgbClr val="55D5FF"/>
                </a:solidFill>
                <a:latin typeface="+mn-ea"/>
                <a:cs typeface="+mn-ea"/>
                <a:sym typeface="+mn-ea"/>
              </a:rPr>
              <a:t>胜过</a:t>
            </a:r>
            <a:r>
              <a:rPr lang="zh-CN" b="1">
                <a:solidFill>
                  <a:srgbClr val="FFFF00"/>
                </a:solidFill>
                <a:latin typeface="+mn-ea"/>
                <a:cs typeface="+mn-ea"/>
                <a:sym typeface="+mn-ea"/>
              </a:rPr>
              <a:t>过程和工具</a:t>
            </a:r>
            <a:endParaRPr lang="zh-CN" b="1">
              <a:solidFill>
                <a:srgbClr val="FFFF00"/>
              </a:solidFill>
              <a:latin typeface="+mn-ea"/>
              <a:cs typeface="+mn-ea"/>
              <a:sym typeface="+mn-ea"/>
            </a:endParaRPr>
          </a:p>
          <a:p>
            <a:pPr marL="0" indent="0" algn="ctr">
              <a:lnSpc>
                <a:spcPct val="210000"/>
              </a:lnSpc>
              <a:buNone/>
              <a:defRPr/>
            </a:pPr>
            <a:r>
              <a:rPr lang="en-US" altLang="zh-CN" b="1">
                <a:solidFill>
                  <a:srgbClr val="FFFF00"/>
                </a:solidFill>
                <a:latin typeface="+mn-ea"/>
                <a:cs typeface="+mn-ea"/>
                <a:sym typeface="+mn-ea"/>
              </a:rPr>
              <a:t>    </a:t>
            </a:r>
            <a:r>
              <a:rPr lang="zh-CN" altLang="en-US" b="1">
                <a:solidFill>
                  <a:srgbClr val="FFFF00"/>
                </a:solidFill>
                <a:latin typeface="+mn-ea"/>
                <a:cs typeface="+mn-ea"/>
                <a:sym typeface="+mn-ea"/>
              </a:rPr>
              <a:t>可以工作的软件</a:t>
            </a:r>
            <a:r>
              <a:rPr lang="zh-CN" b="1">
                <a:solidFill>
                  <a:srgbClr val="55D5FF"/>
                </a:solidFill>
                <a:latin typeface="+mn-ea"/>
                <a:cs typeface="+mn-ea"/>
                <a:sym typeface="+mn-ea"/>
              </a:rPr>
              <a:t>胜过</a:t>
            </a:r>
            <a:r>
              <a:rPr lang="zh-CN" altLang="en-US" b="1">
                <a:solidFill>
                  <a:srgbClr val="FFFF00"/>
                </a:solidFill>
                <a:latin typeface="+mn-ea"/>
                <a:cs typeface="+mn-ea"/>
                <a:sym typeface="+mn-ea"/>
              </a:rPr>
              <a:t>面面俱到的文档</a:t>
            </a:r>
            <a:endParaRPr lang="zh-CN" altLang="en-US" b="1">
              <a:solidFill>
                <a:srgbClr val="FFFF00"/>
              </a:solidFill>
              <a:latin typeface="+mn-ea"/>
              <a:cs typeface="+mn-ea"/>
              <a:sym typeface="+mn-ea"/>
            </a:endParaRPr>
          </a:p>
          <a:p>
            <a:pPr marL="0" indent="0" algn="ctr">
              <a:lnSpc>
                <a:spcPct val="210000"/>
              </a:lnSpc>
              <a:buNone/>
              <a:defRPr/>
            </a:pPr>
            <a:r>
              <a:rPr lang="en-US" altLang="zh-CN" b="1">
                <a:solidFill>
                  <a:srgbClr val="FFFF00"/>
                </a:solidFill>
                <a:latin typeface="+mn-ea"/>
                <a:cs typeface="+mn-ea"/>
                <a:sym typeface="+mn-ea"/>
              </a:rPr>
              <a:t>    </a:t>
            </a:r>
            <a:r>
              <a:rPr lang="zh-CN" altLang="en-US" b="1">
                <a:solidFill>
                  <a:srgbClr val="FFFF00"/>
                </a:solidFill>
                <a:latin typeface="+mn-ea"/>
                <a:cs typeface="+mn-ea"/>
                <a:sym typeface="+mn-ea"/>
              </a:rPr>
              <a:t>客户合作</a:t>
            </a:r>
            <a:r>
              <a:rPr lang="zh-CN" b="1">
                <a:solidFill>
                  <a:srgbClr val="55D5FF"/>
                </a:solidFill>
                <a:latin typeface="+mn-ea"/>
                <a:cs typeface="+mn-ea"/>
                <a:sym typeface="+mn-ea"/>
              </a:rPr>
              <a:t>胜过</a:t>
            </a:r>
            <a:r>
              <a:rPr lang="zh-CN" altLang="en-US" b="1">
                <a:solidFill>
                  <a:srgbClr val="FFFF00"/>
                </a:solidFill>
                <a:latin typeface="+mn-ea"/>
                <a:cs typeface="+mn-ea"/>
                <a:sym typeface="+mn-ea"/>
              </a:rPr>
              <a:t>合同谈判</a:t>
            </a:r>
            <a:endParaRPr lang="zh-CN" altLang="en-US" b="1">
              <a:solidFill>
                <a:srgbClr val="FFFF00"/>
              </a:solidFill>
              <a:latin typeface="+mn-ea"/>
              <a:cs typeface="+mn-ea"/>
              <a:sym typeface="+mn-ea"/>
            </a:endParaRPr>
          </a:p>
          <a:p>
            <a:pPr marL="0" indent="0" algn="ctr">
              <a:lnSpc>
                <a:spcPct val="210000"/>
              </a:lnSpc>
              <a:buNone/>
              <a:defRPr/>
            </a:pPr>
            <a:r>
              <a:rPr lang="en-US" altLang="zh-CN" b="1">
                <a:solidFill>
                  <a:srgbClr val="FFFF00"/>
                </a:solidFill>
                <a:latin typeface="+mn-ea"/>
                <a:cs typeface="+mn-ea"/>
                <a:sym typeface="+mn-ea"/>
              </a:rPr>
              <a:t>    </a:t>
            </a:r>
            <a:r>
              <a:rPr lang="zh-CN" altLang="en-US" b="1">
                <a:solidFill>
                  <a:srgbClr val="FFFF00"/>
                </a:solidFill>
                <a:latin typeface="+mn-ea"/>
                <a:cs typeface="+mn-ea"/>
                <a:sym typeface="+mn-ea"/>
              </a:rPr>
              <a:t>相应变化</a:t>
            </a:r>
            <a:r>
              <a:rPr lang="zh-CN" b="1">
                <a:solidFill>
                  <a:srgbClr val="55D5FF"/>
                </a:solidFill>
                <a:latin typeface="+mn-ea"/>
                <a:cs typeface="+mn-ea"/>
                <a:sym typeface="+mn-ea"/>
              </a:rPr>
              <a:t>胜过</a:t>
            </a:r>
            <a:r>
              <a:rPr lang="zh-CN" altLang="en-US" b="1">
                <a:solidFill>
                  <a:srgbClr val="FFFF00"/>
                </a:solidFill>
                <a:latin typeface="+mn-ea"/>
                <a:cs typeface="+mn-ea"/>
                <a:sym typeface="+mn-ea"/>
              </a:rPr>
              <a:t>遵循计划</a:t>
            </a:r>
            <a:endParaRPr lang="zh-CN" altLang="en-US" b="1">
              <a:solidFill>
                <a:srgbClr val="FFFF00"/>
              </a:solidFill>
              <a:latin typeface="+mn-ea"/>
              <a:cs typeface="+mn-ea"/>
              <a:sym typeface="+mn-ea"/>
            </a:endParaRPr>
          </a:p>
        </p:txBody>
      </p:sp>
      <p:pic>
        <p:nvPicPr>
          <p:cNvPr id="6" name="内容占位符 5"/>
          <p:cNvPicPr>
            <a:picLocks noChangeAspect="1"/>
          </p:cNvPicPr>
          <p:nvPr>
            <p:ph sz="half" idx="1"/>
            <p:custDataLst>
              <p:tags r:id="rId7"/>
            </p:custDataLst>
          </p:nvPr>
        </p:nvPicPr>
        <p:blipFill>
          <a:blip r:embed="rId8"/>
          <a:stretch>
            <a:fillRect/>
          </a:stretch>
        </p:blipFill>
        <p:spPr>
          <a:xfrm>
            <a:off x="5353050" y="425450"/>
            <a:ext cx="6195695" cy="4390390"/>
          </a:xfrm>
          <a:prstGeom prst="rect">
            <a:avLst/>
          </a:prstGeom>
        </p:spPr>
      </p:pic>
      <p:sp>
        <p:nvSpPr>
          <p:cNvPr id="2" name="文本框 1"/>
          <p:cNvSpPr txBox="1"/>
          <p:nvPr/>
        </p:nvSpPr>
        <p:spPr>
          <a:xfrm>
            <a:off x="-2540" y="635"/>
            <a:ext cx="12194540" cy="368300"/>
          </a:xfrm>
          <a:prstGeom prst="rect">
            <a:avLst/>
          </a:prstGeom>
          <a:solidFill>
            <a:schemeClr val="accent1"/>
          </a:solidFill>
        </p:spPr>
        <p:txBody>
          <a:bodyPr wrap="square" rtlCol="0">
            <a:spAutoFit/>
          </a:bodyPr>
          <a:p>
            <a:pPr algn="l">
              <a:buClrTx/>
              <a:buSzTx/>
              <a:buFontTx/>
            </a:pPr>
            <a:r>
              <a:rPr lang="zh-CN" altLang="en-US" b="1">
                <a:solidFill>
                  <a:schemeClr val="bg1"/>
                </a:solidFill>
                <a:sym typeface="+mn-ea"/>
              </a:rPr>
              <a:t>敏捷开发和极限编程</a:t>
            </a:r>
            <a:endParaRPr lang="zh-CN" altLang="en-US" b="1">
              <a:solidFill>
                <a:schemeClr val="bg1"/>
              </a:solidFill>
            </a:endParaRPr>
          </a:p>
        </p:txBody>
      </p:sp>
      <p:sp>
        <p:nvSpPr>
          <p:cNvPr id="7" name="文本框 6"/>
          <p:cNvSpPr txBox="1"/>
          <p:nvPr/>
        </p:nvSpPr>
        <p:spPr>
          <a:xfrm>
            <a:off x="5132070" y="4816475"/>
            <a:ext cx="7055485" cy="2047875"/>
          </a:xfrm>
          <a:prstGeom prst="rect">
            <a:avLst/>
          </a:prstGeom>
          <a:solidFill>
            <a:schemeClr val="accent1">
              <a:lumMod val="60000"/>
              <a:lumOff val="40000"/>
            </a:schemeClr>
          </a:solidFill>
          <a:ln>
            <a:solidFill>
              <a:schemeClr val="tx1"/>
            </a:solidFill>
          </a:ln>
        </p:spPr>
        <p:txBody>
          <a:bodyPr wrap="square" rtlCol="0">
            <a:noAutofit/>
          </a:bodyPr>
          <a:p>
            <a:pPr marL="342900" indent="-342900">
              <a:lnSpc>
                <a:spcPct val="150000"/>
              </a:lnSpc>
              <a:buFont typeface="Wingdings" panose="05000000000000000000" charset="0"/>
              <a:buChar char="ü"/>
            </a:pPr>
            <a:r>
              <a:rPr lang="zh-CN" altLang="en-US" sz="1400" b="1">
                <a:solidFill>
                  <a:srgbClr val="FF0000"/>
                </a:solidFill>
              </a:rPr>
              <a:t>优秀的团队成员</a:t>
            </a:r>
            <a:r>
              <a:rPr lang="zh-CN" altLang="en-US" sz="1400" b="1">
                <a:solidFill>
                  <a:schemeClr val="bg1"/>
                </a:solidFill>
              </a:rPr>
              <a:t>是最重要的因素，应首先致力于构建软件开发团队。</a:t>
            </a:r>
            <a:endParaRPr lang="zh-CN" altLang="en-US" sz="1400" b="1">
              <a:solidFill>
                <a:schemeClr val="bg1"/>
              </a:solidFill>
            </a:endParaRPr>
          </a:p>
          <a:p>
            <a:pPr marL="342900" indent="-342900">
              <a:lnSpc>
                <a:spcPct val="150000"/>
              </a:lnSpc>
              <a:buFont typeface="Wingdings" panose="05000000000000000000" charset="0"/>
              <a:buChar char="ü"/>
            </a:pPr>
            <a:r>
              <a:rPr lang="zh-CN" altLang="en-US" sz="1400" b="1">
                <a:solidFill>
                  <a:schemeClr val="bg1"/>
                </a:solidFill>
              </a:rPr>
              <a:t>开发的主要目标是向用户提供可以工作的软件而非文档，应把主要精力放在创建软件上，</a:t>
            </a:r>
            <a:r>
              <a:rPr lang="zh-CN" altLang="en-US" sz="1400" b="1">
                <a:solidFill>
                  <a:srgbClr val="FF0000"/>
                </a:solidFill>
              </a:rPr>
              <a:t>仅当迫切需要且有重大意义时才进行文档编辑工作。</a:t>
            </a:r>
            <a:endParaRPr lang="zh-CN" altLang="en-US" sz="1400" b="1">
              <a:solidFill>
                <a:schemeClr val="bg1"/>
              </a:solidFill>
            </a:endParaRPr>
          </a:p>
          <a:p>
            <a:pPr marL="342900" indent="-342900">
              <a:lnSpc>
                <a:spcPct val="150000"/>
              </a:lnSpc>
              <a:buFont typeface="Wingdings" panose="05000000000000000000" charset="0"/>
              <a:buChar char="ü"/>
            </a:pPr>
            <a:r>
              <a:rPr lang="zh-CN" altLang="en-US" sz="1400" b="1">
                <a:solidFill>
                  <a:schemeClr val="bg1"/>
                </a:solidFill>
              </a:rPr>
              <a:t>开发团队要与客户保持密切合作。</a:t>
            </a:r>
            <a:endParaRPr lang="zh-CN" altLang="en-US" sz="1400" b="1">
              <a:solidFill>
                <a:schemeClr val="bg1"/>
              </a:solidFill>
            </a:endParaRPr>
          </a:p>
          <a:p>
            <a:pPr marL="342900" indent="-342900">
              <a:lnSpc>
                <a:spcPct val="150000"/>
              </a:lnSpc>
              <a:buFont typeface="Wingdings" panose="05000000000000000000" charset="0"/>
              <a:buChar char="ü"/>
            </a:pPr>
            <a:r>
              <a:rPr lang="zh-CN" altLang="en-US" sz="1400" b="1">
                <a:solidFill>
                  <a:schemeClr val="bg1"/>
                </a:solidFill>
              </a:rPr>
              <a:t>软件必须反映现实，软件过程应该有足够的能力</a:t>
            </a:r>
            <a:r>
              <a:rPr lang="zh-CN" altLang="en-US" sz="1400" b="1">
                <a:solidFill>
                  <a:srgbClr val="FF0000"/>
                </a:solidFill>
              </a:rPr>
              <a:t>及时响应变化</a:t>
            </a:r>
            <a:r>
              <a:rPr lang="zh-CN" altLang="en-US" sz="1400" b="1">
                <a:solidFill>
                  <a:schemeClr val="bg1"/>
                </a:solidFill>
              </a:rPr>
              <a:t>，计划必须要有足够的可塑性和灵活性。</a:t>
            </a:r>
            <a:endParaRPr lang="zh-CN" altLang="en-US" sz="1400" b="1">
              <a:solidFill>
                <a:schemeClr val="bg1"/>
              </a:solidFill>
            </a:endParaRPr>
          </a:p>
        </p:txBody>
      </p:sp>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srcRect r="10917"/>
          <a:stretch>
            <a:fillRect/>
          </a:stretch>
        </p:blipFill>
        <p:spPr>
          <a:xfrm>
            <a:off x="3973830" y="3708400"/>
            <a:ext cx="8218170" cy="3147060"/>
          </a:xfrm>
          <a:prstGeom prst="rect">
            <a:avLst/>
          </a:prstGeom>
          <a:ln>
            <a:noFill/>
          </a:ln>
        </p:spPr>
      </p:pic>
      <p:grpSp>
        <p:nvGrpSpPr>
          <p:cNvPr id="9" name="组合 8"/>
          <p:cNvGrpSpPr/>
          <p:nvPr>
            <p:custDataLst>
              <p:tags r:id="rId2"/>
            </p:custDataLst>
          </p:nvPr>
        </p:nvGrpSpPr>
        <p:grpSpPr>
          <a:xfrm rot="16200000">
            <a:off x="11442069" y="-87887"/>
            <a:ext cx="738165" cy="916458"/>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5"/>
            </p:custDataLst>
          </p:nvPr>
        </p:nvGrpSpPr>
        <p:grpSpPr>
          <a:xfrm rot="5400000">
            <a:off x="11893" y="6030689"/>
            <a:ext cx="738165" cy="916458"/>
            <a:chOff x="10608342" y="5053054"/>
            <a:chExt cx="1583658" cy="1966165"/>
          </a:xfrm>
        </p:grpSpPr>
        <p:sp>
          <p:nvSpPr>
            <p:cNvPr id="16" name="任意多边形: 形状 15"/>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0" y="3689350"/>
            <a:ext cx="3973830" cy="3169285"/>
          </a:xfrm>
          <a:prstGeom prst="rect">
            <a:avLst/>
          </a:prstGeom>
          <a:solidFill>
            <a:schemeClr val="accent1">
              <a:lumMod val="60000"/>
              <a:lumOff val="40000"/>
            </a:schemeClr>
          </a:solidFill>
        </p:spPr>
        <p:txBody>
          <a:bodyPr wrap="square" rtlCol="0" anchor="ctr" anchorCtr="0">
            <a:noAutofit/>
          </a:bodyPr>
          <a:p>
            <a:pPr marL="0" algn="l">
              <a:lnSpc>
                <a:spcPct val="190000"/>
              </a:lnSpc>
              <a:buClrTx/>
              <a:buSzTx/>
              <a:buFontTx/>
              <a:defRPr/>
            </a:pPr>
            <a:r>
              <a:rPr lang="zh-CN" altLang="zh-CN" sz="1400" b="1" dirty="0">
                <a:solidFill>
                  <a:schemeClr val="bg1"/>
                </a:solidFill>
                <a:latin typeface="Bodoni MT Black" panose="02070A03080606020203" pitchFamily="18" charset="0"/>
                <a:sym typeface="+mn-ea"/>
              </a:rPr>
              <a:t>概念：极限编程（ XP）是敏捷过程中最富盛名的一个，是</a:t>
            </a:r>
            <a:r>
              <a:rPr lang="zh-CN" altLang="zh-CN" sz="1400" b="1" dirty="0">
                <a:solidFill>
                  <a:srgbClr val="FF0000"/>
                </a:solidFill>
                <a:latin typeface="Bodoni MT Black" panose="02070A03080606020203" pitchFamily="18" charset="0"/>
                <a:sym typeface="+mn-ea"/>
              </a:rPr>
              <a:t>最具体、最工程化的方法论</a:t>
            </a:r>
            <a:r>
              <a:rPr lang="zh-CN" altLang="zh-CN" sz="1400" b="1" dirty="0">
                <a:solidFill>
                  <a:schemeClr val="bg1"/>
                </a:solidFill>
                <a:latin typeface="Bodoni MT Black" panose="02070A03080606020203" pitchFamily="18" charset="0"/>
                <a:sym typeface="+mn-ea"/>
              </a:rPr>
              <a:t>，聚焦于</a:t>
            </a:r>
            <a:r>
              <a:rPr lang="zh-CN" altLang="zh-CN" sz="1400" b="1" dirty="0">
                <a:solidFill>
                  <a:srgbClr val="FFFF00"/>
                </a:solidFill>
                <a:latin typeface="Bodoni MT Black" panose="02070A03080606020203" pitchFamily="18" charset="0"/>
                <a:sym typeface="+mn-ea"/>
              </a:rPr>
              <a:t>软件开发实践</a:t>
            </a:r>
            <a:r>
              <a:rPr lang="zh-CN" altLang="zh-CN" sz="1400" b="1" dirty="0">
                <a:solidFill>
                  <a:schemeClr val="bg1"/>
                </a:solidFill>
                <a:latin typeface="Bodoni MT Black" panose="02070A03080606020203" pitchFamily="18" charset="0"/>
                <a:sym typeface="+mn-ea"/>
              </a:rPr>
              <a:t>。其名称中“极限”二字的含义是指把好的开发实践运用到极致。目前，极限编程已经成为一种典型的开发方法，广泛应用于需求模糊且经常改变的场合。</a:t>
            </a:r>
            <a:endParaRPr lang="zh-CN" altLang="zh-CN" sz="1400" b="1" dirty="0">
              <a:solidFill>
                <a:schemeClr val="bg1"/>
              </a:solidFill>
              <a:latin typeface="Bodoni MT Black" panose="02070A03080606020203" pitchFamily="18" charset="0"/>
            </a:endParaRPr>
          </a:p>
          <a:p>
            <a:pPr marL="0" indent="0">
              <a:lnSpc>
                <a:spcPct val="210000"/>
              </a:lnSpc>
              <a:buNone/>
              <a:defRPr/>
            </a:pPr>
            <a:endParaRPr lang="zh-CN" altLang="zh-CN" sz="1400" b="1" dirty="0">
              <a:solidFill>
                <a:schemeClr val="bg1"/>
              </a:solidFill>
              <a:latin typeface="Bodoni MT Black" panose="02070A03080606020203" pitchFamily="18" charset="0"/>
              <a:ea typeface="华光黑体_CNKI" panose="02000500000000000000" charset="-122"/>
              <a:cs typeface="华光黑体_CNKI" panose="02000500000000000000" charset="-122"/>
              <a:sym typeface="+mn-ea"/>
            </a:endParaRPr>
          </a:p>
        </p:txBody>
      </p:sp>
      <p:pic>
        <p:nvPicPr>
          <p:cNvPr id="4" name="内容占位符 3"/>
          <p:cNvPicPr>
            <a:picLocks noChangeAspect="1"/>
          </p:cNvPicPr>
          <p:nvPr>
            <p:ph sz="half" idx="1"/>
            <p:custDataLst>
              <p:tags r:id="rId8"/>
            </p:custDataLst>
          </p:nvPr>
        </p:nvPicPr>
        <p:blipFill>
          <a:blip r:embed="rId9"/>
          <a:stretch>
            <a:fillRect/>
          </a:stretch>
        </p:blipFill>
        <p:spPr>
          <a:xfrm>
            <a:off x="6289040" y="368935"/>
            <a:ext cx="5902960" cy="3319780"/>
          </a:xfrm>
          <a:prstGeom prst="rect">
            <a:avLst/>
          </a:prstGeom>
          <a:ln>
            <a:solidFill>
              <a:schemeClr val="tx1"/>
            </a:solidFill>
          </a:ln>
        </p:spPr>
      </p:pic>
      <p:sp>
        <p:nvSpPr>
          <p:cNvPr id="2" name="文本框 1"/>
          <p:cNvSpPr txBox="1"/>
          <p:nvPr/>
        </p:nvSpPr>
        <p:spPr>
          <a:xfrm>
            <a:off x="-2540" y="635"/>
            <a:ext cx="12194540" cy="368300"/>
          </a:xfrm>
          <a:prstGeom prst="rect">
            <a:avLst/>
          </a:prstGeom>
          <a:solidFill>
            <a:schemeClr val="accent1"/>
          </a:solidFill>
        </p:spPr>
        <p:txBody>
          <a:bodyPr wrap="square" rtlCol="0">
            <a:spAutoFit/>
          </a:bodyPr>
          <a:p>
            <a:pPr algn="l">
              <a:buClrTx/>
              <a:buSzTx/>
              <a:buFontTx/>
            </a:pPr>
            <a:r>
              <a:rPr lang="zh-CN" altLang="en-US" b="1">
                <a:solidFill>
                  <a:schemeClr val="bg1"/>
                </a:solidFill>
                <a:sym typeface="+mn-ea"/>
              </a:rPr>
              <a:t>敏捷开发和极限编程</a:t>
            </a:r>
            <a:endParaRPr lang="zh-CN" altLang="en-US" b="1">
              <a:solidFill>
                <a:schemeClr val="bg1"/>
              </a:solidFill>
            </a:endParaRPr>
          </a:p>
        </p:txBody>
      </p:sp>
      <p:pic>
        <p:nvPicPr>
          <p:cNvPr id="28" name="图片 27"/>
          <p:cNvPicPr>
            <a:picLocks noChangeAspect="1"/>
          </p:cNvPicPr>
          <p:nvPr/>
        </p:nvPicPr>
        <p:blipFill>
          <a:blip r:embed="rId10"/>
          <a:stretch>
            <a:fillRect/>
          </a:stretch>
        </p:blipFill>
        <p:spPr>
          <a:xfrm>
            <a:off x="0" y="368935"/>
            <a:ext cx="6322695" cy="3319780"/>
          </a:xfrm>
          <a:prstGeom prst="rect">
            <a:avLst/>
          </a:prstGeom>
          <a:ln>
            <a:solidFill>
              <a:schemeClr val="tx1"/>
            </a:solidFill>
          </a:ln>
        </p:spPr>
      </p:pic>
    </p:spTree>
    <p:custDataLst>
      <p:tags r:id="rId1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custDataLst>
              <p:tags r:id="rId1"/>
            </p:custDataLst>
          </p:nvPr>
        </p:nvGrpSpPr>
        <p:grpSpPr>
          <a:xfrm rot="16200000">
            <a:off x="11442069" y="-87887"/>
            <a:ext cx="738165" cy="916458"/>
            <a:chOff x="10608342" y="5053054"/>
            <a:chExt cx="1583658" cy="1966165"/>
          </a:xfrm>
        </p:grpSpPr>
        <p:sp>
          <p:nvSpPr>
            <p:cNvPr id="10" name="任意多边形: 形状 9"/>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4"/>
            </p:custDataLst>
          </p:nvPr>
        </p:nvGrpSpPr>
        <p:grpSpPr>
          <a:xfrm rot="5400000">
            <a:off x="11893" y="6030689"/>
            <a:ext cx="738165" cy="916458"/>
            <a:chOff x="10608342" y="5053054"/>
            <a:chExt cx="1583658" cy="1966165"/>
          </a:xfrm>
        </p:grpSpPr>
        <p:sp>
          <p:nvSpPr>
            <p:cNvPr id="16" name="任意多边形: 形状 15"/>
            <p:cNvSpPr/>
            <p:nvPr>
              <p:custDataLst>
                <p:tags r:id="rId5"/>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6"/>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0" y="368935"/>
            <a:ext cx="3322320" cy="3776980"/>
          </a:xfrm>
          <a:prstGeom prst="rect">
            <a:avLst/>
          </a:prstGeom>
          <a:solidFill>
            <a:schemeClr val="accent1"/>
          </a:solidFill>
        </p:spPr>
        <p:txBody>
          <a:bodyPr wrap="square" rtlCol="0">
            <a:noAutofit/>
          </a:bodyPr>
          <a:p>
            <a:pPr marL="0" indent="0">
              <a:lnSpc>
                <a:spcPct val="190000"/>
              </a:lnSpc>
              <a:buNone/>
              <a:defRPr/>
            </a:pPr>
            <a:r>
              <a:rPr altLang="zh-CN" sz="1400" b="1">
                <a:solidFill>
                  <a:srgbClr val="FF0000"/>
                </a:solidFill>
                <a:latin typeface="微软雅黑" panose="020B0503020204020204" charset="-122"/>
                <a:cs typeface="微软雅黑" panose="020B0503020204020204" charset="-122"/>
                <a:sym typeface="+mn-ea"/>
              </a:rPr>
              <a:t>概念：</a:t>
            </a:r>
            <a:r>
              <a:rPr altLang="zh-CN" sz="1400" b="1">
                <a:solidFill>
                  <a:schemeClr val="bg1"/>
                </a:solidFill>
                <a:sym typeface="+mn-ea"/>
              </a:rPr>
              <a:t>微软过程（Microsoft Solutions Framework, MSF）是微软基于自身数十年大型产品开发经验总结出的一套实用、灵活、可扩展的软件开发框架。它结合了传统工程管理和现代敏捷思想的优点。</a:t>
            </a:r>
            <a:endParaRPr altLang="zh-CN" sz="1400">
              <a:sym typeface="+mn-ea"/>
            </a:endParaRPr>
          </a:p>
          <a:p>
            <a:pPr marL="0" indent="0">
              <a:lnSpc>
                <a:spcPct val="190000"/>
              </a:lnSpc>
              <a:buNone/>
              <a:defRPr/>
            </a:pPr>
            <a:r>
              <a:rPr altLang="zh-CN" sz="1400" b="1">
                <a:solidFill>
                  <a:srgbClr val="FF0000"/>
                </a:solidFill>
                <a:latin typeface="微软雅黑" panose="020B0503020204020204" charset="-122"/>
                <a:cs typeface="微软雅黑" panose="020B0503020204020204" charset="-122"/>
                <a:sym typeface="+mn-ea"/>
              </a:rPr>
              <a:t>特点：</a:t>
            </a:r>
            <a:r>
              <a:rPr altLang="zh-CN" sz="1400" b="1">
                <a:solidFill>
                  <a:srgbClr val="FFFF00"/>
                </a:solidFill>
                <a:latin typeface="微软雅黑" panose="020B0503020204020204" charset="-122"/>
                <a:cs typeface="微软雅黑" panose="020B0503020204020204" charset="-122"/>
                <a:sym typeface="+mn-ea"/>
              </a:rPr>
              <a:t>MSF过程模型是里程碑驱动的，而非严格的时间盒驱动。</a:t>
            </a:r>
            <a:endParaRPr altLang="zh-CN" sz="1400" b="1">
              <a:solidFill>
                <a:srgbClr val="FFFF00"/>
              </a:solidFill>
              <a:latin typeface="微软雅黑" panose="020B0503020204020204" charset="-122"/>
              <a:cs typeface="微软雅黑" panose="020B0503020204020204" charset="-122"/>
              <a:sym typeface="+mn-ea"/>
            </a:endParaRPr>
          </a:p>
          <a:p>
            <a:pPr marL="0" indent="0">
              <a:lnSpc>
                <a:spcPct val="210000"/>
              </a:lnSpc>
              <a:buNone/>
              <a:defRPr/>
            </a:pPr>
            <a:endParaRPr lang="zh-CN" altLang="zh-CN" sz="1400" b="1">
              <a:solidFill>
                <a:srgbClr val="FFFF00"/>
              </a:solidFill>
              <a:latin typeface="微软雅黑" panose="020B0503020204020204" charset="-122"/>
              <a:ea typeface="华光黑体_CNKI" panose="02000500000000000000" charset="-122"/>
              <a:cs typeface="微软雅黑" panose="020B0503020204020204" charset="-122"/>
              <a:sym typeface="+mn-ea"/>
            </a:endParaRPr>
          </a:p>
        </p:txBody>
      </p:sp>
      <p:sp>
        <p:nvSpPr>
          <p:cNvPr id="4" name="文本框 3"/>
          <p:cNvSpPr txBox="1"/>
          <p:nvPr/>
        </p:nvSpPr>
        <p:spPr>
          <a:xfrm>
            <a:off x="-2540" y="635"/>
            <a:ext cx="12194540" cy="368300"/>
          </a:xfrm>
          <a:prstGeom prst="rect">
            <a:avLst/>
          </a:prstGeom>
          <a:solidFill>
            <a:schemeClr val="accent1"/>
          </a:solidFill>
        </p:spPr>
        <p:txBody>
          <a:bodyPr wrap="square" rtlCol="0">
            <a:spAutoFit/>
          </a:bodyPr>
          <a:p>
            <a:pPr algn="l">
              <a:buClrTx/>
              <a:buSzTx/>
              <a:buFontTx/>
            </a:pPr>
            <a:r>
              <a:rPr lang="zh-CN" altLang="en-US" b="1">
                <a:solidFill>
                  <a:schemeClr val="bg1"/>
                </a:solidFill>
                <a:sym typeface="+mn-ea"/>
              </a:rPr>
              <a:t>微软过程</a:t>
            </a:r>
            <a:endParaRPr lang="zh-CN" altLang="en-US" b="1">
              <a:solidFill>
                <a:schemeClr val="bg1"/>
              </a:solidFill>
            </a:endParaRPr>
          </a:p>
        </p:txBody>
      </p:sp>
      <p:pic>
        <p:nvPicPr>
          <p:cNvPr id="8" name="图片 7"/>
          <p:cNvPicPr>
            <a:picLocks noChangeAspect="1"/>
          </p:cNvPicPr>
          <p:nvPr/>
        </p:nvPicPr>
        <p:blipFill>
          <a:blip r:embed="rId7"/>
          <a:stretch>
            <a:fillRect/>
          </a:stretch>
        </p:blipFill>
        <p:spPr>
          <a:xfrm>
            <a:off x="7132955" y="368935"/>
            <a:ext cx="5059045" cy="3288030"/>
          </a:xfrm>
          <a:prstGeom prst="rect">
            <a:avLst/>
          </a:prstGeom>
        </p:spPr>
      </p:pic>
      <p:pic>
        <p:nvPicPr>
          <p:cNvPr id="13" name="图片 12"/>
          <p:cNvPicPr>
            <a:picLocks noChangeAspect="1"/>
          </p:cNvPicPr>
          <p:nvPr/>
        </p:nvPicPr>
        <p:blipFill>
          <a:blip r:embed="rId8"/>
          <a:stretch>
            <a:fillRect/>
          </a:stretch>
        </p:blipFill>
        <p:spPr>
          <a:xfrm>
            <a:off x="3474085" y="930275"/>
            <a:ext cx="3653790" cy="2178050"/>
          </a:xfrm>
          <a:prstGeom prst="rect">
            <a:avLst/>
          </a:prstGeom>
        </p:spPr>
      </p:pic>
      <p:pic>
        <p:nvPicPr>
          <p:cNvPr id="14" name="图片 13"/>
          <p:cNvPicPr>
            <a:picLocks noChangeAspect="1"/>
          </p:cNvPicPr>
          <p:nvPr/>
        </p:nvPicPr>
        <p:blipFill>
          <a:blip r:embed="rId9"/>
          <a:stretch>
            <a:fillRect/>
          </a:stretch>
        </p:blipFill>
        <p:spPr>
          <a:xfrm>
            <a:off x="0" y="4145915"/>
            <a:ext cx="9681845" cy="2729230"/>
          </a:xfrm>
          <a:prstGeom prst="rect">
            <a:avLst/>
          </a:prstGeom>
        </p:spPr>
      </p:pic>
      <p:pic>
        <p:nvPicPr>
          <p:cNvPr id="12" name="图片 11"/>
          <p:cNvPicPr>
            <a:picLocks noChangeAspect="1"/>
          </p:cNvPicPr>
          <p:nvPr/>
        </p:nvPicPr>
        <p:blipFill>
          <a:blip r:embed="rId10"/>
          <a:stretch>
            <a:fillRect/>
          </a:stretch>
        </p:blipFill>
        <p:spPr>
          <a:xfrm>
            <a:off x="5369560" y="3656965"/>
            <a:ext cx="6822440" cy="3218180"/>
          </a:xfrm>
          <a:prstGeom prst="rect">
            <a:avLst/>
          </a:prstGeom>
        </p:spPr>
      </p:pic>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8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3.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4.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5.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86.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87.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88.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2.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3.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94.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95.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96.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19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198.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199.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10.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14.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custom20202545_11*f*1"/>
  <p:tag name="KSO_WM_TEMPLATE_CATEGORY" val="custom"/>
  <p:tag name="KSO_WM_TEMPLATE_INDEX" val="20202545"/>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1*i*1"/>
  <p:tag name="KSO_WM_TEMPLATE_CATEGORY" val="custom"/>
  <p:tag name="KSO_WM_TEMPLATE_INDEX" val="20202545"/>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1*i*2"/>
  <p:tag name="KSO_WM_TEMPLATE_CATEGORY" val="custom"/>
  <p:tag name="KSO_WM_TEMPLATE_INDEX" val="20202545"/>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1*i*3"/>
  <p:tag name="KSO_WM_TEMPLATE_CATEGORY" val="custom"/>
  <p:tag name="KSO_WM_TEMPLATE_INDEX" val="20202545"/>
  <p:tag name="KSO_WM_UNIT_LAYERLEVEL" val="1"/>
  <p:tag name="KSO_WM_TAG_VERSION" val="1.0"/>
  <p:tag name="KSO_WM_BEAUTIFY_FLAG" val="#wm#"/>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SLIDE_ID" val="custom20202545_11"/>
  <p:tag name="KSO_WM_TEMPLATE_SUBCATEGORY" val="0"/>
  <p:tag name="KSO_WM_TEMPLATE_MASTER_TYPE" val="1"/>
  <p:tag name="KSO_WM_TEMPLATE_COLOR_TYPE" val="1"/>
  <p:tag name="KSO_WM_SLIDE_TYPE" val="text"/>
  <p:tag name="KSO_WM_SLIDE_SUBTYPE" val="picTxt"/>
  <p:tag name="KSO_WM_SLIDE_ITEM_CNT" val="0"/>
  <p:tag name="KSO_WM_SLIDE_INDEX" val="11"/>
  <p:tag name="KSO_WM_SLIDE_SIZE" val="912*489"/>
  <p:tag name="KSO_WM_SLIDE_POSITION" val="47*0"/>
  <p:tag name="KSO_WM_TAG_VERSION" val="1.0"/>
  <p:tag name="KSO_WM_BEAUTIFY_FLAG" val="#wm#"/>
  <p:tag name="KSO_WM_TEMPLATE_CATEGORY" val="custom"/>
  <p:tag name="KSO_WM_TEMPLATE_INDEX" val="20202545"/>
  <p:tag name="KSO_WM_SLIDE_LAYOUT" val="a_d_f"/>
  <p:tag name="KSO_WM_SLIDE_LAYOUT_CNT" val="1_1_1"/>
</p:tagLst>
</file>

<file path=ppt/tags/tag220.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custom20202545_11*f*1"/>
  <p:tag name="KSO_WM_TEMPLATE_CATEGORY" val="custom"/>
  <p:tag name="KSO_WM_TEMPLATE_INDEX" val="20202545"/>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1*i*1"/>
  <p:tag name="KSO_WM_TEMPLATE_CATEGORY" val="custom"/>
  <p:tag name="KSO_WM_TEMPLATE_INDEX" val="20202545"/>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1*i*2"/>
  <p:tag name="KSO_WM_TEMPLATE_CATEGORY" val="custom"/>
  <p:tag name="KSO_WM_TEMPLATE_INDEX" val="20202545"/>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1*i*3"/>
  <p:tag name="KSO_WM_TEMPLATE_CATEGORY" val="custom"/>
  <p:tag name="KSO_WM_TEMPLATE_INDEX" val="20202545"/>
  <p:tag name="KSO_WM_UNIT_LAYERLEVEL" val="1"/>
  <p:tag name="KSO_WM_TAG_VERSION" val="1.0"/>
  <p:tag name="KSO_WM_BEAUTIFY_FLAG" val="#wm#"/>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SLIDE_ID" val="custom20202545_11"/>
  <p:tag name="KSO_WM_TEMPLATE_SUBCATEGORY" val="0"/>
  <p:tag name="KSO_WM_TEMPLATE_MASTER_TYPE" val="1"/>
  <p:tag name="KSO_WM_TEMPLATE_COLOR_TYPE" val="1"/>
  <p:tag name="KSO_WM_SLIDE_TYPE" val="text"/>
  <p:tag name="KSO_WM_SLIDE_SUBTYPE" val="picTxt"/>
  <p:tag name="KSO_WM_SLIDE_ITEM_CNT" val="0"/>
  <p:tag name="KSO_WM_SLIDE_INDEX" val="11"/>
  <p:tag name="KSO_WM_SLIDE_SIZE" val="912*489"/>
  <p:tag name="KSO_WM_SLIDE_POSITION" val="47*0"/>
  <p:tag name="KSO_WM_TAG_VERSION" val="1.0"/>
  <p:tag name="KSO_WM_BEAUTIFY_FLAG" val="#wm#"/>
  <p:tag name="KSO_WM_TEMPLATE_CATEGORY" val="custom"/>
  <p:tag name="KSO_WM_TEMPLATE_INDEX" val="20202545"/>
  <p:tag name="KSO_WM_SLIDE_LAYOUT" val="a_d_f"/>
  <p:tag name="KSO_WM_SLIDE_LAYOUT_CNT" val="1_1_1"/>
</p:tagLst>
</file>

<file path=ppt/tags/tag226.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8.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9.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0.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1.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2.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6.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45.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52.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53.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54.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66.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75.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84.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88.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13;正如我们都希望改变世界，希望给别人带去光明，但更多时候我们只需要播下一颗种子，自然有微风吹拂，雨露滋养。恰如其分的表达观点，往往事半功倍。为了能让您有更直观的字数感受，并进一步方便使用，我们为您标注了最适合的位置。您输入的文字到这里时，就是最佳视觉效果，请您务必注意。"/>
  <p:tag name="KSO_WM_UNIT_NOCLEAR" val="0"/>
  <p:tag name="KSO_WM_UNIT_VALUE" val="400"/>
  <p:tag name="KSO_WM_UNIT_HIGHLIGHT" val="0"/>
  <p:tag name="KSO_WM_UNIT_COMPATIBLE" val="0"/>
  <p:tag name="KSO_WM_UNIT_DIAGRAM_ISNUMVISUAL" val="0"/>
  <p:tag name="KSO_WM_UNIT_DIAGRAM_ISREFERUNIT" val="0"/>
  <p:tag name="KSO_WM_UNIT_TYPE" val="f"/>
  <p:tag name="KSO_WM_UNIT_INDEX" val="1"/>
  <p:tag name="KSO_WM_UNIT_ID" val="custom20202545_12*f*1"/>
  <p:tag name="KSO_WM_TEMPLATE_CATEGORY" val="custom"/>
  <p:tag name="KSO_WM_TEMPLATE_INDEX" val="20202545"/>
  <p:tag name="KSO_WM_UNIT_LAYERLEVEL" val="1"/>
  <p:tag name="KSO_WM_TAG_VERSION" val="1.0"/>
  <p:tag name="KSO_WM_BEAUTIFY_FLAG" val="#wm#"/>
</p:tagLst>
</file>

<file path=ppt/tags/tag289.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90.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321.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3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323.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324.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5904</Words>
  <Application>WPS 演示</Application>
  <PresentationFormat>宽屏</PresentationFormat>
  <Paragraphs>399</Paragraphs>
  <Slides>24</Slides>
  <Notes>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24</vt:i4>
      </vt:variant>
    </vt:vector>
  </HeadingPairs>
  <TitlesOfParts>
    <vt:vector size="41" baseType="lpstr">
      <vt:lpstr>Arial</vt:lpstr>
      <vt:lpstr>宋体</vt:lpstr>
      <vt:lpstr>Wingdings</vt:lpstr>
      <vt:lpstr>微软雅黑</vt:lpstr>
      <vt:lpstr>汉仪旗黑-85S</vt:lpstr>
      <vt:lpstr>黑体</vt:lpstr>
      <vt:lpstr>Viner Hand ITC</vt:lpstr>
      <vt:lpstr>华光彩云_CNKI</vt:lpstr>
      <vt:lpstr>Bodoni MT Black</vt:lpstr>
      <vt:lpstr>Arial Unicode MS</vt:lpstr>
      <vt:lpstr>Calibri</vt:lpstr>
      <vt:lpstr>华光黑体_CNKI</vt:lpstr>
      <vt:lpstr>仿宋</vt:lpstr>
      <vt:lpstr>华光准圆_CNKI</vt:lpstr>
      <vt:lpstr>华光琥珀_CNKI</vt:lpstr>
      <vt:lpstr>Wingdings</vt:lpstr>
      <vt:lpstr>2_Office 主题​​</vt:lpstr>
      <vt:lpstr>软件工程导论（第6版）</vt:lpstr>
      <vt:lpstr>PowerPoint 演示文稿</vt:lpstr>
      <vt:lpstr>第1章  软件工程学概述</vt:lpstr>
      <vt:lpstr>什么是软件危机？</vt:lpstr>
      <vt:lpstr>PowerPoint 演示文稿</vt:lpstr>
      <vt:lpstr>PowerPoint 演示文稿</vt:lpstr>
      <vt:lpstr>什么是软件工程？</vt:lpstr>
      <vt:lpstr>PowerPoint 演示文稿</vt:lpstr>
      <vt:lpstr>PowerPoint 演示文稿</vt:lpstr>
      <vt:lpstr>软件工程方法学</vt:lpstr>
      <vt:lpstr>软件生命周期</vt:lpstr>
      <vt:lpstr>软件过程</vt:lpstr>
      <vt:lpstr>      瀑布模型</vt:lpstr>
      <vt:lpstr>        瀑布模型</vt:lpstr>
      <vt:lpstr>     快速原型模型</vt:lpstr>
      <vt:lpstr>          增量模型</vt:lpstr>
      <vt:lpstr>         螺旋模型</vt:lpstr>
      <vt:lpstr>         喷泉模型</vt:lpstr>
      <vt:lpstr>         Rational 统一过程</vt:lpstr>
      <vt:lpstr>    RUP软件开发生命周期</vt:lpstr>
      <vt:lpstr>       敏捷过程</vt:lpstr>
      <vt:lpstr>       极限编程</vt:lpstr>
      <vt:lpstr>      微软过程</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半湖柳色</cp:lastModifiedBy>
  <cp:revision>230</cp:revision>
  <dcterms:created xsi:type="dcterms:W3CDTF">2019-06-19T02:08:00Z</dcterms:created>
  <dcterms:modified xsi:type="dcterms:W3CDTF">2025-12-15T09:52:19Z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CE4B3EDE6C304FC19300E1D2F879648B_11</vt:lpwstr>
  </property>
</Properties>
</file>