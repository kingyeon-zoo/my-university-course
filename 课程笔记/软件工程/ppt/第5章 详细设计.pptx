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3"/>
    <p:sldId id="261" r:id="rId4"/>
    <p:sldId id="273" r:id="rId5"/>
    <p:sldId id="297" r:id="rId6"/>
    <p:sldId id="274" r:id="rId8"/>
    <p:sldId id="341" r:id="rId9"/>
    <p:sldId id="325" r:id="rId10"/>
    <p:sldId id="354" r:id="rId11"/>
    <p:sldId id="330" r:id="rId12"/>
    <p:sldId id="356" r:id="rId13"/>
    <p:sldId id="364" r:id="rId14"/>
    <p:sldId id="365" r:id="rId15"/>
    <p:sldId id="366" r:id="rId16"/>
    <p:sldId id="327" r:id="rId17"/>
    <p:sldId id="333" r:id="rId18"/>
    <p:sldId id="334" r:id="rId19"/>
    <p:sldId id="361" r:id="rId20"/>
    <p:sldId id="369" r:id="rId21"/>
    <p:sldId id="370" r:id="rId22"/>
    <p:sldId id="371" r:id="rId23"/>
    <p:sldId id="363" r:id="rId24"/>
    <p:sldId id="367" r:id="rId25"/>
    <p:sldId id="272" r:id="rId26"/>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59"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w" initials="w"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5D5FF"/>
    <a:srgbClr val="98F5F2"/>
    <a:srgbClr val="FFFFEA"/>
    <a:srgbClr val="FBFEA0"/>
    <a:srgbClr val="48A088"/>
    <a:srgbClr val="C9FBA3"/>
    <a:srgbClr val="45DB77"/>
    <a:srgbClr val="91DA9D"/>
    <a:srgbClr val="DCF1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59"/>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gs" Target="tags/tag257.xml"/><Relationship Id="rId30" Type="http://schemas.openxmlformats.org/officeDocument/2006/relationships/commentAuthors" Target="commentAuthors.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olidFill>
                  <a:srgbClr val="FF0000"/>
                </a:solidFill>
                <a:latin typeface="Bodoni MT Black" panose="02070A03080606020203" pitchFamily="18" charset="0"/>
                <a:sym typeface="+mn-ea"/>
              </a:rPr>
              <a:t>抽象程度的高低决定了对系统理解的深度和广度，以及系统设计的复杂性和灵活性。在计算机科学和软件工程领域，系统的抽象层次对于系统的开发、维护和扩展具有至关重要的意义。通过不同抽象层次的划分，可以更清晰地理解系统的内部结构、行为以及与外部环境的交互方式。</a:t>
            </a:r>
            <a:endParaRPr lang="zh-CN" altLang="en-US" dirty="0">
              <a:solidFill>
                <a:srgbClr val="FF0000"/>
              </a:solidFill>
              <a:latin typeface="Bodoni MT Black" panose="02070A03080606020203" pitchFamily="18" charset="0"/>
              <a:sym typeface="+mn-ea"/>
            </a:endParaRPr>
          </a:p>
          <a:p>
            <a:r>
              <a:rPr lang="zh-CN" altLang="en-US"/>
              <a:t>在嵌入式系统设计中，低抽象层次的系统描述会涉及到微处理器的选型、电路板的布局布线、传感器和执行器的接口设计等。低抽象层次系统的优点是能够精确描述系统的物理特性，但缺点是复杂性较高，难以进行全局性的优化和变更。</a:t>
            </a:r>
            <a:endParaRPr lang="zh-CN" altLang="en-US"/>
          </a:p>
          <a:p>
            <a:r>
              <a:rPr lang="zh-CN" altLang="en-US"/>
              <a:t>在软件设计中，中抽象层次的系统描述会涉及到模块的划分、接口的定义、数据流的控制等。中抽象层次系统的优点是能够在一定程度上简化系统的描述，提高设计的可维护性和可扩展性，同时仍然能够保持对系统行为的准确描述。</a:t>
            </a:r>
            <a:endParaRPr lang="zh-CN" altLang="en-US"/>
          </a:p>
          <a:p>
            <a:r>
              <a:rPr lang="zh-CN" altLang="en-US"/>
              <a:t>在系统架构设计阶段，高抽象层次的系统描述会涉及到系统的总体结构、组件之间的交互方式、系统的性能要求等。高抽象层次系统的优点是能够提供一个全局性的视角，帮助设计者更好地理解系统的整体功能和目标，从而进行更有效的决策和优化。</a:t>
            </a:r>
            <a:endParaRPr lang="zh-CN" altLang="en-US"/>
          </a:p>
          <a:p>
            <a:r>
              <a:rPr lang="zh-CN" altLang="en-US" b="1" dirty="0">
                <a:solidFill>
                  <a:srgbClr val="FF0000"/>
                </a:solidFill>
                <a:latin typeface="Bodoni MT Black" panose="02070A03080606020203" pitchFamily="18" charset="0"/>
                <a:sym typeface="+mn-ea"/>
              </a:rPr>
              <a:t>软件工程过程的每一步都是对软件解法的抽象层次的一次精化。</a:t>
            </a:r>
            <a:r>
              <a:rPr lang="zh-CN" altLang="en-US" dirty="0">
                <a:latin typeface="Bodoni MT Black" panose="02070A03080606020203" pitchFamily="18" charset="0"/>
                <a:sym typeface="+mn-ea"/>
              </a:rPr>
              <a:t>在可行性研究阶段，软件作为系统的一个完整部件；在需求分析期间，软件解法是使用在问题环境内熟悉的方式描述的；当由总体设计向详细设计过渡时，抽象的程度也就随之减少了；最后，当源程序写出来以后，也就达到了抽象的最低层。</a:t>
            </a:r>
            <a:endParaRPr lang="zh-CN" altLang="en-US" dirty="0">
              <a:latin typeface="Bodoni MT Black" panose="02070A03080606020203" pitchFamily="18" charset="0"/>
            </a:endParaRPr>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原始需求→用户认知：从心理学角度来看，人的精神由本我/自我/超我三个层面构成，需求源自本我，又受自我/超我影响，用户自身对这其中关系的认知可能也非常模糊；</a:t>
            </a:r>
            <a:endParaRPr lang="zh-CN" altLang="en-US"/>
          </a:p>
          <a:p>
            <a:endParaRPr lang="zh-CN" altLang="en-US"/>
          </a:p>
          <a:p>
            <a:r>
              <a:rPr lang="zh-CN" altLang="en-US">
                <a:sym typeface="+mn-ea"/>
              </a:rPr>
              <a:t>用户认知→用户表述：即便用户能充分了解自己的需求根源，也无法确保用户愿意如实表述，用户想让你了解的需求往往不等于用户真实的需求；</a:t>
            </a:r>
            <a:endParaRPr lang="zh-CN" altLang="en-US"/>
          </a:p>
          <a:p>
            <a:endParaRPr lang="zh-CN" altLang="en-US"/>
          </a:p>
          <a:p>
            <a:r>
              <a:rPr lang="zh-CN" altLang="en-US">
                <a:sym typeface="+mn-ea"/>
              </a:rPr>
              <a:t>用户表述→PM理解：用户表述能否准确无误，PM能否100%理解？</a:t>
            </a:r>
            <a:endParaRPr lang="zh-CN" altLang="en-US"/>
          </a:p>
          <a:p>
            <a:endParaRPr lang="zh-CN" altLang="en-US"/>
          </a:p>
          <a:p>
            <a:r>
              <a:rPr lang="zh-CN" altLang="en-US">
                <a:sym typeface="+mn-ea"/>
              </a:rPr>
              <a:t>PM理解→得出结论：彼之蜜糖，吾之砒霜。且不论分析方法论是否得当，PM能否完全屏蔽自身的角色干扰，客观准确的得出结论本身就是一个挑战。</a:t>
            </a:r>
            <a:endParaRPr lang="zh-CN" altLang="en-US"/>
          </a:p>
          <a:p>
            <a:endParaRPr lang="zh-CN" altLang="en-US"/>
          </a:p>
          <a:p>
            <a:r>
              <a:rPr lang="zh-CN" altLang="en-US">
                <a:sym typeface="+mn-ea"/>
              </a:rPr>
              <a:t>层层漏斗过滤之后，需求还能保持几分本来面目，真得打一个大大的问号。如果再考虑到最终实现交付，再加上一个需求实现漏斗，也就不难解释为什么会有大量需求是A，设计是B，产品是C的案例了。</a:t>
            </a:r>
            <a:endParaRPr lang="zh-CN" altLang="en-US"/>
          </a:p>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原始需求→用户认知：从心理学角度来看，人的精神由本我/自我/超我三个层面构成，需求源自本我，又受自我/超我影响，用户自身对这其中关系的认知可能也非常模糊；</a:t>
            </a:r>
            <a:endParaRPr lang="zh-CN" altLang="en-US"/>
          </a:p>
          <a:p>
            <a:endParaRPr lang="zh-CN" altLang="en-US"/>
          </a:p>
          <a:p>
            <a:r>
              <a:rPr lang="zh-CN" altLang="en-US">
                <a:sym typeface="+mn-ea"/>
              </a:rPr>
              <a:t>用户认知→用户表述：即便用户能充分了解自己的需求根源，也无法确保用户愿意如实表述，用户想让你了解的需求往往不等于用户真实的需求；</a:t>
            </a:r>
            <a:endParaRPr lang="zh-CN" altLang="en-US"/>
          </a:p>
          <a:p>
            <a:endParaRPr lang="zh-CN" altLang="en-US"/>
          </a:p>
          <a:p>
            <a:r>
              <a:rPr lang="zh-CN" altLang="en-US">
                <a:sym typeface="+mn-ea"/>
              </a:rPr>
              <a:t>用户表述→PM理解：用户表述能否准确无误，PM能否100%理解？</a:t>
            </a:r>
            <a:endParaRPr lang="zh-CN" altLang="en-US"/>
          </a:p>
          <a:p>
            <a:endParaRPr lang="zh-CN" altLang="en-US"/>
          </a:p>
          <a:p>
            <a:r>
              <a:rPr lang="zh-CN" altLang="en-US">
                <a:sym typeface="+mn-ea"/>
              </a:rPr>
              <a:t>PM理解→得出结论：彼之蜜糖，吾之砒霜。且不论分析方法论是否得当，PM能否完全屏蔽自身的角色干扰，客观准确的得出结论本身就是一个挑战。</a:t>
            </a:r>
            <a:endParaRPr lang="zh-CN" altLang="en-US"/>
          </a:p>
          <a:p>
            <a:endParaRPr lang="zh-CN" altLang="en-US"/>
          </a:p>
          <a:p>
            <a:r>
              <a:rPr lang="zh-CN" altLang="en-US">
                <a:sym typeface="+mn-ea"/>
              </a:rPr>
              <a:t>层层漏斗过滤之后，需求还能保持几分本来面目，真得打一个大大的问号。如果再考虑到最终实现交付，再加上一个需求实现漏斗，也就不难解释为什么会有大量需求是A，设计是B，产品是C的案例了。</a:t>
            </a:r>
            <a:endParaRPr lang="zh-CN" altLang="en-US"/>
          </a:p>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原始需求→用户认知：从心理学角度来看，人的精神由本我/自我/超我三个层面构成，需求源自本我，又受自我/超我影响，用户自身对这其中关系的认知可能也非常模糊；</a:t>
            </a:r>
            <a:endParaRPr lang="zh-CN" altLang="en-US"/>
          </a:p>
          <a:p>
            <a:endParaRPr lang="zh-CN" altLang="en-US"/>
          </a:p>
          <a:p>
            <a:r>
              <a:rPr lang="zh-CN" altLang="en-US">
                <a:sym typeface="+mn-ea"/>
              </a:rPr>
              <a:t>用户认知→用户表述：即便用户能充分了解自己的需求根源，也无法确保用户愿意如实表述，用户想让你了解的需求往往不等于用户真实的需求；</a:t>
            </a:r>
            <a:endParaRPr lang="zh-CN" altLang="en-US"/>
          </a:p>
          <a:p>
            <a:endParaRPr lang="zh-CN" altLang="en-US"/>
          </a:p>
          <a:p>
            <a:r>
              <a:rPr lang="zh-CN" altLang="en-US">
                <a:sym typeface="+mn-ea"/>
              </a:rPr>
              <a:t>用户表述→PM理解：用户表述能否准确无误，PM能否100%理解？</a:t>
            </a:r>
            <a:endParaRPr lang="zh-CN" altLang="en-US"/>
          </a:p>
          <a:p>
            <a:endParaRPr lang="zh-CN" altLang="en-US"/>
          </a:p>
          <a:p>
            <a:r>
              <a:rPr lang="zh-CN" altLang="en-US">
                <a:sym typeface="+mn-ea"/>
              </a:rPr>
              <a:t>PM理解→得出结论：彼之蜜糖，吾之砒霜。且不论分析方法论是否得当，PM能否完全屏蔽自身的角色干扰，客观准确的得出结论本身就是一个挑战。</a:t>
            </a:r>
            <a:endParaRPr lang="zh-CN" altLang="en-US"/>
          </a:p>
          <a:p>
            <a:endParaRPr lang="zh-CN" altLang="en-US"/>
          </a:p>
          <a:p>
            <a:r>
              <a:rPr lang="zh-CN" altLang="en-US">
                <a:sym typeface="+mn-ea"/>
              </a:rPr>
              <a:t>层层漏斗过滤之后，需求还能保持几分本来面目，真得打一个大大的问号。如果再考虑到最终实现交付，再加上一个需求实现漏斗，也就不难解释为什么会有大量需求是A，设计是B，产品是C的案例了。</a:t>
            </a:r>
            <a:endParaRPr lang="zh-CN" altLang="en-US"/>
          </a:p>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127311" y="5"/>
            <a:ext cx="12429370" cy="2108195"/>
            <a:chOff x="-127311" y="5"/>
            <a:chExt cx="12429370" cy="2108195"/>
          </a:xfrm>
        </p:grpSpPr>
        <p:sp>
          <p:nvSpPr>
            <p:cNvPr id="8" name="任意多边形: 形状 7"/>
            <p:cNvSpPr/>
            <p:nvPr>
              <p:custDataLst>
                <p:tags r:id="rId3"/>
              </p:custDataLst>
            </p:nvPr>
          </p:nvSpPr>
          <p:spPr>
            <a:xfrm rot="4971377">
              <a:off x="5633770" y="-4560088"/>
              <a:ext cx="907207" cy="12429370"/>
            </a:xfrm>
            <a:custGeom>
              <a:avLst/>
              <a:gdLst>
                <a:gd name="connsiteX0" fmla="*/ 0 w 1132861"/>
                <a:gd name="connsiteY0" fmla="*/ 0 h 12429370"/>
                <a:gd name="connsiteX1" fmla="*/ 421422 w 1132861"/>
                <a:gd name="connsiteY1" fmla="*/ 52817 h 12429370"/>
                <a:gd name="connsiteX2" fmla="*/ 1132861 w 1132861"/>
                <a:gd name="connsiteY2" fmla="*/ 12429370 h 12429370"/>
                <a:gd name="connsiteX3" fmla="*/ 0 w 1132861"/>
                <a:gd name="connsiteY3" fmla="*/ 12287388 h 12429370"/>
              </a:gdLst>
              <a:ahLst/>
              <a:cxnLst>
                <a:cxn ang="0">
                  <a:pos x="connsiteX0" y="connsiteY0"/>
                </a:cxn>
                <a:cxn ang="0">
                  <a:pos x="connsiteX1" y="connsiteY1"/>
                </a:cxn>
                <a:cxn ang="0">
                  <a:pos x="connsiteX2" y="connsiteY2"/>
                </a:cxn>
                <a:cxn ang="0">
                  <a:pos x="connsiteX3" y="connsiteY3"/>
                </a:cxn>
              </a:cxnLst>
              <a:rect l="l" t="t" r="r" b="b"/>
              <a:pathLst>
                <a:path w="1132861" h="12429370">
                  <a:moveTo>
                    <a:pt x="0" y="0"/>
                  </a:moveTo>
                  <a:lnTo>
                    <a:pt x="421422" y="52817"/>
                  </a:lnTo>
                  <a:lnTo>
                    <a:pt x="1132861" y="12429370"/>
                  </a:lnTo>
                  <a:lnTo>
                    <a:pt x="0" y="122873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4"/>
              </p:custDataLst>
            </p:nvPr>
          </p:nvSpPr>
          <p:spPr>
            <a:xfrm rot="5400000">
              <a:off x="5215200" y="-5215203"/>
              <a:ext cx="1761592" cy="12192007"/>
            </a:xfrm>
            <a:custGeom>
              <a:avLst/>
              <a:gdLst>
                <a:gd name="connsiteX0" fmla="*/ 0 w 1930397"/>
                <a:gd name="connsiteY0" fmla="*/ 12192007 h 12192007"/>
                <a:gd name="connsiteX1" fmla="*/ 0 w 1930397"/>
                <a:gd name="connsiteY1" fmla="*/ 0 h 12192007"/>
                <a:gd name="connsiteX2" fmla="*/ 758239 w 1930397"/>
                <a:gd name="connsiteY2" fmla="*/ 0 h 12192007"/>
                <a:gd name="connsiteX3" fmla="*/ 1930397 w 1930397"/>
                <a:gd name="connsiteY3" fmla="*/ 12192007 h 12192007"/>
              </a:gdLst>
              <a:ahLst/>
              <a:cxnLst>
                <a:cxn ang="0">
                  <a:pos x="connsiteX0" y="connsiteY0"/>
                </a:cxn>
                <a:cxn ang="0">
                  <a:pos x="connsiteX1" y="connsiteY1"/>
                </a:cxn>
                <a:cxn ang="0">
                  <a:pos x="connsiteX2" y="connsiteY2"/>
                </a:cxn>
                <a:cxn ang="0">
                  <a:pos x="connsiteX3" y="connsiteY3"/>
                </a:cxn>
              </a:cxnLst>
              <a:rect l="l" t="t" r="r" b="b"/>
              <a:pathLst>
                <a:path w="1930397" h="12192007">
                  <a:moveTo>
                    <a:pt x="0" y="12192007"/>
                  </a:moveTo>
                  <a:lnTo>
                    <a:pt x="0" y="0"/>
                  </a:lnTo>
                  <a:lnTo>
                    <a:pt x="758239" y="0"/>
                  </a:lnTo>
                  <a:lnTo>
                    <a:pt x="1930397" y="121920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custDataLst>
                <p:tags r:id="rId5"/>
              </p:custDataLst>
            </p:nvPr>
          </p:nvSpPr>
          <p:spPr>
            <a:xfrm rot="5107084">
              <a:off x="4552342" y="-3275210"/>
              <a:ext cx="536239" cy="9742831"/>
            </a:xfrm>
            <a:custGeom>
              <a:avLst/>
              <a:gdLst>
                <a:gd name="connsiteX0" fmla="*/ 0 w 587624"/>
                <a:gd name="connsiteY0" fmla="*/ 0 h 9742831"/>
                <a:gd name="connsiteX1" fmla="*/ 587624 w 587624"/>
                <a:gd name="connsiteY1" fmla="*/ 9742831 h 9742831"/>
                <a:gd name="connsiteX2" fmla="*/ 0 w 587624"/>
                <a:gd name="connsiteY2" fmla="*/ 9685968 h 9742831"/>
              </a:gdLst>
              <a:ahLst/>
              <a:cxnLst>
                <a:cxn ang="0">
                  <a:pos x="connsiteX0" y="connsiteY0"/>
                </a:cxn>
                <a:cxn ang="0">
                  <a:pos x="connsiteX1" y="connsiteY1"/>
                </a:cxn>
                <a:cxn ang="0">
                  <a:pos x="connsiteX2" y="connsiteY2"/>
                </a:cxn>
              </a:cxnLst>
              <a:rect l="l" t="t" r="r" b="b"/>
              <a:pathLst>
                <a:path w="587624" h="9742831">
                  <a:moveTo>
                    <a:pt x="0" y="0"/>
                  </a:moveTo>
                  <a:lnTo>
                    <a:pt x="587624" y="9742831"/>
                  </a:lnTo>
                  <a:lnTo>
                    <a:pt x="0" y="96859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custDataLst>
                <p:tags r:id="rId6"/>
              </p:custDataLst>
            </p:nvPr>
          </p:nvSpPr>
          <p:spPr>
            <a:xfrm rot="15897560">
              <a:off x="9001004" y="-1390393"/>
              <a:ext cx="846410" cy="5663579"/>
            </a:xfrm>
            <a:custGeom>
              <a:avLst/>
              <a:gdLst>
                <a:gd name="connsiteX0" fmla="*/ 927517 w 927517"/>
                <a:gd name="connsiteY0" fmla="*/ 5663579 h 5663579"/>
                <a:gd name="connsiteX1" fmla="*/ 0 w 927517"/>
                <a:gd name="connsiteY1" fmla="*/ 5577535 h 5663579"/>
                <a:gd name="connsiteX2" fmla="*/ 419317 w 927517"/>
                <a:gd name="connsiteY2" fmla="*/ 0 h 5663579"/>
              </a:gdLst>
              <a:ahLst/>
              <a:cxnLst>
                <a:cxn ang="0">
                  <a:pos x="connsiteX0" y="connsiteY0"/>
                </a:cxn>
                <a:cxn ang="0">
                  <a:pos x="connsiteX1" y="connsiteY1"/>
                </a:cxn>
                <a:cxn ang="0">
                  <a:pos x="connsiteX2" y="connsiteY2"/>
                </a:cxn>
              </a:cxnLst>
              <a:rect l="l" t="t" r="r" b="b"/>
              <a:pathLst>
                <a:path w="927517" h="5663579">
                  <a:moveTo>
                    <a:pt x="927517" y="5663579"/>
                  </a:moveTo>
                  <a:lnTo>
                    <a:pt x="0" y="5577535"/>
                  </a:lnTo>
                  <a:lnTo>
                    <a:pt x="419317"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等腰三角形 11"/>
          <p:cNvSpPr/>
          <p:nvPr userDrawn="1">
            <p:custDataLst>
              <p:tags r:id="rId7"/>
            </p:custDataLst>
          </p:nvPr>
        </p:nvSpPr>
        <p:spPr>
          <a:xfrm rot="16200000">
            <a:off x="7826138" y="2492134"/>
            <a:ext cx="997432" cy="7734300"/>
          </a:xfrm>
          <a:prstGeom prst="triangle">
            <a:avLst>
              <a:gd name="adj"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8"/>
            </p:custDataLst>
          </p:nvPr>
        </p:nvSpPr>
        <p:spPr>
          <a:xfrm>
            <a:off x="2730319" y="2702794"/>
            <a:ext cx="7117545" cy="1118535"/>
          </a:xfrm>
        </p:spPr>
        <p:txBody>
          <a:bodyPr lIns="90000" tIns="46800" rIns="90000" bIns="46800" anchor="b" anchorCtr="0">
            <a:normAutofit/>
          </a:bodyPr>
          <a:lstStyle>
            <a:lvl1pPr algn="ctr">
              <a:defRPr sz="6600" spc="600" baseline="0">
                <a:solidFill>
                  <a:schemeClr val="tx1">
                    <a:lumMod val="85000"/>
                    <a:lumOff val="15000"/>
                  </a:schemeClr>
                </a:solidFill>
                <a:ea typeface="汉仪旗黑-85S"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9"/>
            </p:custDataLst>
          </p:nvPr>
        </p:nvSpPr>
        <p:spPr>
          <a:xfrm>
            <a:off x="2730319" y="3886684"/>
            <a:ext cx="7117545" cy="676319"/>
          </a:xfrm>
        </p:spPr>
        <p:txBody>
          <a:bodyPr lIns="90000" tIns="46800" rIns="90000" bIns="46800" anchor="t">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1"/>
            </p:custDataLst>
          </p:nvPr>
        </p:nvSpPr>
        <p:spPr/>
        <p:txBody>
          <a:bodyPr/>
          <a:lstStyle/>
          <a:p>
            <a:endParaRPr lang="zh-CN" altLang="en-US" dirty="0"/>
          </a:p>
        </p:txBody>
      </p:sp>
      <p:sp>
        <p:nvSpPr>
          <p:cNvPr id="18" name="灯片编号占位符 17"/>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5" name="文本占位符 4"/>
          <p:cNvSpPr>
            <a:spLocks noGrp="1"/>
          </p:cNvSpPr>
          <p:nvPr>
            <p:ph type="body" sz="quarter" idx="13" hasCustomPrompt="1"/>
            <p:custDataLst>
              <p:tags r:id="rId13"/>
            </p:custDataLst>
          </p:nvPr>
        </p:nvSpPr>
        <p:spPr>
          <a:xfrm>
            <a:off x="3630542" y="4681986"/>
            <a:ext cx="2523129" cy="412826"/>
          </a:xfrm>
        </p:spPr>
        <p:txBody>
          <a:bodyPr lIns="90000" tIns="46800" rIns="90000" bIns="46800" anchor="ctr" anchorCtr="0">
            <a:normAutofit/>
          </a:bodyPr>
          <a:lstStyle>
            <a:lvl1pPr marL="0" indent="0" algn="r">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
        <p:nvSpPr>
          <p:cNvPr id="13" name="文本占位符 12"/>
          <p:cNvSpPr>
            <a:spLocks noGrp="1"/>
          </p:cNvSpPr>
          <p:nvPr>
            <p:ph type="body" sz="quarter" idx="14" hasCustomPrompt="1"/>
            <p:custDataLst>
              <p:tags r:id="rId14"/>
            </p:custDataLst>
          </p:nvPr>
        </p:nvSpPr>
        <p:spPr>
          <a:xfrm>
            <a:off x="6402188" y="4681986"/>
            <a:ext cx="2523127" cy="412826"/>
          </a:xfrm>
        </p:spPr>
        <p:txBody>
          <a:bodyPr lIns="90000" tIns="46800" rIns="90000" bIns="46800" anchor="ctr" anchorCtr="0">
            <a:normAutofit/>
          </a:bodyPr>
          <a:lstStyle>
            <a:lvl1pPr marL="0" indent="0" algn="l">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4001597" y="5613400"/>
            <a:ext cx="8190403" cy="12446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grpSp>
        <p:nvGrpSpPr>
          <p:cNvPr id="10" name="组合 9"/>
          <p:cNvGrpSpPr/>
          <p:nvPr userDrawn="1">
            <p:custDataLst>
              <p:tags r:id="rId5"/>
            </p:custDataLst>
          </p:nvPr>
        </p:nvGrpSpPr>
        <p:grpSpPr>
          <a:xfrm>
            <a:off x="5187002" y="2377388"/>
            <a:ext cx="570170" cy="707886"/>
            <a:chOff x="10608342" y="5053054"/>
            <a:chExt cx="1583658" cy="1966165"/>
          </a:xfrm>
        </p:grpSpPr>
        <p:sp>
          <p:nvSpPr>
            <p:cNvPr id="11" name="任意多边形: 形状 10"/>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2" name="等腰三角形 11"/>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endParaRPr lang="zh-CN" altLang="en-US"/>
            </a:p>
          </p:txBody>
        </p:sp>
      </p:grpSp>
      <p:grpSp>
        <p:nvGrpSpPr>
          <p:cNvPr id="14" name="组合 13"/>
          <p:cNvGrpSpPr/>
          <p:nvPr userDrawn="1">
            <p:custDataLst>
              <p:tags r:id="rId8"/>
            </p:custDataLst>
          </p:nvPr>
        </p:nvGrpSpPr>
        <p:grpSpPr>
          <a:xfrm rot="10800000">
            <a:off x="-1" y="0"/>
            <a:ext cx="12192000" cy="1244600"/>
            <a:chOff x="4001597" y="5613400"/>
            <a:chExt cx="8190403" cy="1244600"/>
          </a:xfrm>
        </p:grpSpPr>
        <p:sp>
          <p:nvSpPr>
            <p:cNvPr id="15" name="任意多边形: 形状 14"/>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6" name="等腰三角形 15"/>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sp>
        <p:nvSpPr>
          <p:cNvPr id="2" name="标题 1"/>
          <p:cNvSpPr>
            <a:spLocks noGrp="1"/>
          </p:cNvSpPr>
          <p:nvPr>
            <p:ph type="title" hasCustomPrompt="1"/>
            <p:custDataLst>
              <p:tags r:id="rId11"/>
            </p:custDataLst>
          </p:nvPr>
        </p:nvSpPr>
        <p:spPr>
          <a:xfrm>
            <a:off x="3500907" y="3090044"/>
            <a:ext cx="5190185" cy="740727"/>
          </a:xfrm>
        </p:spPr>
        <p:txBody>
          <a:bodyPr lIns="90170" tIns="46990" rIns="90170" bIns="0" anchor="b" anchorCtr="0">
            <a:normAutofit/>
          </a:bodyPr>
          <a:lstStyle>
            <a:lvl1pPr algn="ctr">
              <a:defRPr sz="4000" u="none" strike="noStrike" kern="1200" cap="none" spc="300" normalizeH="0">
                <a:solidFill>
                  <a:schemeClr val="tx1">
                    <a:lumMod val="85000"/>
                    <a:lumOff val="1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12"/>
            </p:custDataLst>
          </p:nvPr>
        </p:nvSpPr>
        <p:spPr>
          <a:xfrm>
            <a:off x="3500907" y="3883113"/>
            <a:ext cx="5190185" cy="1477027"/>
          </a:xfrm>
        </p:spPr>
        <p:txBody>
          <a:bodyPr lIns="90170" tIns="0" rIns="90170" bIns="46990">
            <a:normAutofit/>
          </a:bodyPr>
          <a:lstStyle>
            <a:lvl1pPr marL="0" indent="0" algn="ctr"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13"/>
            </p:custDataLst>
          </p:nvPr>
        </p:nvSpPr>
        <p:spPr/>
        <p:txBody>
          <a:bodyPr>
            <a:normAutofit/>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normAutofit/>
          </a:bodyPr>
          <a:lstStyle/>
          <a:p>
            <a:endParaRPr lang="zh-CN" altLang="en-US"/>
          </a:p>
        </p:txBody>
      </p:sp>
      <p:sp>
        <p:nvSpPr>
          <p:cNvPr id="6" name="灯片编号占位符 5"/>
          <p:cNvSpPr>
            <a:spLocks noGrp="1"/>
          </p:cNvSpPr>
          <p:nvPr>
            <p:ph type="sldNum" sz="quarter" idx="12"/>
            <p:custDataLst>
              <p:tags r:id="rId15"/>
            </p:custDataLst>
          </p:nvPr>
        </p:nvSpPr>
        <p:spPr/>
        <p:txBody>
          <a:bodyPr>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lIns="90170" tIns="46990" rIns="90170" bIns="46990">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lIns="90170" tIns="46990" rIns="90170" bIns="46990">
            <a:normAutofit/>
          </a:bodyPr>
          <a:lstStyle/>
          <a:p>
            <a:endParaRPr lang="zh-CN" altLang="en-US"/>
          </a:p>
        </p:txBody>
      </p:sp>
      <p:sp>
        <p:nvSpPr>
          <p:cNvPr id="7" name="灯片编号占位符 6"/>
          <p:cNvSpPr>
            <a:spLocks noGrp="1"/>
          </p:cNvSpPr>
          <p:nvPr>
            <p:ph type="sldNum" sz="quarter" idx="12"/>
            <p:custDataLst>
              <p:tags r:id="rId7"/>
            </p:custDataLst>
          </p:nvPr>
        </p:nvSpPr>
        <p:spPr/>
        <p:txBody>
          <a:bodyPr lIns="90170" tIns="46990" rIns="90170" bIns="4699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0608342" y="5053054"/>
            <a:ext cx="1583658" cy="1966165"/>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3588374" y="2588654"/>
            <a:ext cx="5015250" cy="1519707"/>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3"/>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lIns="90170" tIns="46990" rIns="90170" bIns="46990">
            <a:normAutofit/>
          </a:bodyPr>
          <a:lstStyle/>
          <a:p>
            <a:endParaRPr lang="zh-CN" altLang="en-US"/>
          </a:p>
        </p:txBody>
      </p:sp>
      <p:sp>
        <p:nvSpPr>
          <p:cNvPr id="5" name="灯片编号占位符 4"/>
          <p:cNvSpPr>
            <a:spLocks noGrp="1"/>
          </p:cNvSpPr>
          <p:nvPr>
            <p:ph type="sldNum" sz="quarter" idx="12"/>
            <p:custDataLst>
              <p:tags r:id="rId5"/>
            </p:custDataLst>
          </p:nvPr>
        </p:nvSpPr>
        <p:spPr/>
        <p:txBody>
          <a:bodyPr lIns="90170" tIns="46990" rIns="90170" bIns="46990">
            <a:normAutofit/>
          </a:bodyPr>
          <a:lstStyle/>
          <a:p>
            <a:fld id="{49AE70B2-8BF9-45C0-BB95-33D1B9D3A854}" type="slidenum">
              <a:rPr lang="zh-CN" altLang="en-US" smtClean="0"/>
            </a:fld>
            <a:endParaRPr lang="zh-CN" altLang="en-US"/>
          </a:p>
        </p:txBody>
      </p:sp>
      <p:grpSp>
        <p:nvGrpSpPr>
          <p:cNvPr id="6" name="组合 5"/>
          <p:cNvGrpSpPr/>
          <p:nvPr userDrawn="1">
            <p:custDataLst>
              <p:tags r:id="rId6"/>
            </p:custDataLst>
          </p:nvPr>
        </p:nvGrpSpPr>
        <p:grpSpPr>
          <a:xfrm flipH="1">
            <a:off x="8603626" y="3112882"/>
            <a:ext cx="436739" cy="542227"/>
            <a:chOff x="10608342" y="5053054"/>
            <a:chExt cx="1583658" cy="1966165"/>
          </a:xfrm>
        </p:grpSpPr>
        <p:sp>
          <p:nvSpPr>
            <p:cNvPr id="7" name="任意多边形: 形状 6"/>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dirty="0"/>
            </a:p>
          </p:txBody>
        </p:sp>
        <p:sp>
          <p:nvSpPr>
            <p:cNvPr id="8" name="等腰三角形 7"/>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grpSp>
        <p:nvGrpSpPr>
          <p:cNvPr id="9" name="组合 8"/>
          <p:cNvGrpSpPr/>
          <p:nvPr userDrawn="1">
            <p:custDataLst>
              <p:tags r:id="rId9"/>
            </p:custDataLst>
          </p:nvPr>
        </p:nvGrpSpPr>
        <p:grpSpPr>
          <a:xfrm>
            <a:off x="3151635" y="3119499"/>
            <a:ext cx="436739" cy="542227"/>
            <a:chOff x="10608342" y="5053054"/>
            <a:chExt cx="1583658" cy="1966165"/>
          </a:xfrm>
        </p:grpSpPr>
        <p:sp>
          <p:nvSpPr>
            <p:cNvPr id="10" name="任意多边形: 形状 9"/>
            <p:cNvSpPr/>
            <p:nvPr>
              <p:custDataLst>
                <p:tags r:id="rId10"/>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a:solidFill>
                  <a:schemeClr val="bg1"/>
                </a:solidFill>
              </a:endParaRPr>
            </a:p>
          </p:txBody>
        </p:sp>
        <p:sp>
          <p:nvSpPr>
            <p:cNvPr id="11" name="等腰三角形 10"/>
            <p:cNvSpPr/>
            <p:nvPr>
              <p:custDataLst>
                <p:tags r:id="rId11"/>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4001597" y="6045200"/>
            <a:ext cx="8190403" cy="812800"/>
            <a:chOff x="4001597" y="5613400"/>
            <a:chExt cx="8190403" cy="1244600"/>
          </a:xfrm>
        </p:grpSpPr>
        <p:sp>
          <p:nvSpPr>
            <p:cNvPr id="9" name="任意多边形: 形状 8"/>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userDrawn="1">
            <p:ph type="title" hasCustomPrompt="1"/>
            <p:custDataLst>
              <p:tags r:id="rId5"/>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a:t>单击此处添加标题</a:t>
            </a:r>
            <a:endParaRPr lang="zh-CN" altLang="en-US" dirty="0"/>
          </a:p>
        </p:txBody>
      </p:sp>
      <p:sp>
        <p:nvSpPr>
          <p:cNvPr id="3" name="日期占位符 2"/>
          <p:cNvSpPr>
            <a:spLocks noGrp="1"/>
          </p:cNvSpPr>
          <p:nvPr userDrawn="1">
            <p:ph type="dt" sz="half" idx="10"/>
            <p:custDataLst>
              <p:tags r:id="rId6"/>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7"/>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8"/>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735" y="304165"/>
            <a:ext cx="11606530" cy="6249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grpSp>
        <p:nvGrpSpPr>
          <p:cNvPr id="11" name="组合 10"/>
          <p:cNvGrpSpPr/>
          <p:nvPr userDrawn="1">
            <p:custDataLst>
              <p:tags r:id="rId3"/>
            </p:custDataLst>
          </p:nvPr>
        </p:nvGrpSpPr>
        <p:grpSpPr>
          <a:xfrm rot="16200000">
            <a:off x="11009630" y="351790"/>
            <a:ext cx="737870" cy="916305"/>
            <a:chOff x="10608342" y="5053054"/>
            <a:chExt cx="1583658" cy="1966165"/>
          </a:xfrm>
        </p:grpSpPr>
        <p:sp>
          <p:nvSpPr>
            <p:cNvPr id="12" name="任意多边形: 形状 11"/>
            <p:cNvSpPr/>
            <p:nvPr>
              <p:custDataLst>
                <p:tags r:id="rId4"/>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3" name="等腰三角形 12"/>
            <p:cNvSpPr/>
            <p:nvPr>
              <p:custDataLst>
                <p:tags r:id="rId5"/>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grpSp>
        <p:nvGrpSpPr>
          <p:cNvPr id="14" name="组合 13"/>
          <p:cNvGrpSpPr/>
          <p:nvPr userDrawn="1">
            <p:custDataLst>
              <p:tags r:id="rId6"/>
            </p:custDataLst>
          </p:nvPr>
        </p:nvGrpSpPr>
        <p:grpSpPr>
          <a:xfrm rot="5400000">
            <a:off x="443865" y="5584825"/>
            <a:ext cx="737870" cy="916305"/>
            <a:chOff x="10608342" y="5053054"/>
            <a:chExt cx="1583658" cy="1966165"/>
          </a:xfrm>
        </p:grpSpPr>
        <p:sp>
          <p:nvSpPr>
            <p:cNvPr id="16" name="任意多边形: 形状 15"/>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hasCustomPrompt="1"/>
            <p:custDataLst>
              <p:tags r:id="rId10"/>
            </p:custDataLst>
          </p:nvPr>
        </p:nvSpPr>
        <p:spPr>
          <a:xfrm>
            <a:off x="1281113" y="2163600"/>
            <a:ext cx="9626600" cy="3445200"/>
          </a:xfrm>
        </p:spPr>
        <p:txBody>
          <a:bodyPr>
            <a:normAutofit/>
          </a:bodyPr>
          <a:lstStyle>
            <a:lvl1pPr marL="0" indent="0">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4" name="页脚占位符 3"/>
          <p:cNvSpPr>
            <a:spLocks noGrp="1"/>
          </p:cNvSpPr>
          <p:nvPr>
            <p:ph type="ftr" sz="quarter" idx="11"/>
            <p:custDataLst>
              <p:tags r:id="rId1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grpSp>
        <p:nvGrpSpPr>
          <p:cNvPr id="11" name="组合 10"/>
          <p:cNvGrpSpPr/>
          <p:nvPr userDrawn="1">
            <p:custDataLst>
              <p:tags r:id="rId9"/>
            </p:custDataLst>
          </p:nvPr>
        </p:nvGrpSpPr>
        <p:grpSpPr>
          <a:xfrm>
            <a:off x="-1" y="0"/>
            <a:ext cx="4823460" cy="769938"/>
            <a:chOff x="-1" y="0"/>
            <a:chExt cx="4823460" cy="769938"/>
          </a:xfrm>
        </p:grpSpPr>
        <p:sp>
          <p:nvSpPr>
            <p:cNvPr id="12" name="任意多边形: 形状 11"/>
            <p:cNvSpPr/>
            <p:nvPr>
              <p:custDataLst>
                <p:tags r:id="rId10"/>
              </p:custDataLst>
            </p:nvPr>
          </p:nvSpPr>
          <p:spPr>
            <a:xfrm rot="10800000">
              <a:off x="0" y="0"/>
              <a:ext cx="4823459" cy="769938"/>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14" name="等腰三角形 13"/>
            <p:cNvSpPr/>
            <p:nvPr>
              <p:custDataLst>
                <p:tags r:id="rId11"/>
              </p:custDataLst>
            </p:nvPr>
          </p:nvSpPr>
          <p:spPr>
            <a:xfrm rot="10800000">
              <a:off x="-1" y="0"/>
              <a:ext cx="3754576" cy="562171"/>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a typeface="微软雅黑" panose="020B0503020204020204" charset="-122"/>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lstStyle>
            <a:lvl1pPr algn="ctr">
              <a:defRPr sz="36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grpSp>
        <p:nvGrpSpPr>
          <p:cNvPr id="12" name="组合 11"/>
          <p:cNvGrpSpPr/>
          <p:nvPr userDrawn="1">
            <p:custDataLst>
              <p:tags r:id="rId9"/>
            </p:custDataLst>
          </p:nvPr>
        </p:nvGrpSpPr>
        <p:grpSpPr>
          <a:xfrm flipV="1">
            <a:off x="5921829" y="0"/>
            <a:ext cx="6270171" cy="812800"/>
            <a:chOff x="4001597" y="5613400"/>
            <a:chExt cx="8190403" cy="1244600"/>
          </a:xfrm>
        </p:grpSpPr>
        <p:sp>
          <p:nvSpPr>
            <p:cNvPr id="14" name="任意多边形: 形状 13"/>
            <p:cNvSpPr/>
            <p:nvPr>
              <p:custDataLst>
                <p:tags r:id="rId10"/>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5" name="等腰三角形 14"/>
            <p:cNvSpPr/>
            <p:nvPr>
              <p:custDataLst>
                <p:tags r:id="rId11"/>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flipV="1">
            <a:off x="5921829" y="0"/>
            <a:ext cx="6270171" cy="812800"/>
            <a:chOff x="4001597" y="5613400"/>
            <a:chExt cx="8190403" cy="1244600"/>
          </a:xfrm>
        </p:grpSpPr>
        <p:sp>
          <p:nvSpPr>
            <p:cNvPr id="14" name="任意多边形: 形状 13"/>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5" name="等腰三角形 14"/>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3" name="矩形 12"/>
          <p:cNvSpPr/>
          <p:nvPr userDrawn="1">
            <p:custDataLst>
              <p:tags r:id="rId5"/>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a typeface="微软雅黑" panose="020B0503020204020204" charset="-122"/>
              <a:sym typeface="+mn-ea"/>
            </a:endParaRPr>
          </a:p>
        </p:txBody>
      </p:sp>
      <p:sp>
        <p:nvSpPr>
          <p:cNvPr id="2" name="标题 1"/>
          <p:cNvSpPr>
            <a:spLocks noGrp="1"/>
          </p:cNvSpPr>
          <p:nvPr userDrawn="1">
            <p:ph type="title"/>
            <p:custDataLst>
              <p:tags r:id="rId6"/>
            </p:custDataLst>
          </p:nvPr>
        </p:nvSpPr>
        <p:spPr>
          <a:xfrm>
            <a:off x="604520" y="669290"/>
            <a:ext cx="10976610" cy="565150"/>
          </a:xfrm>
        </p:spPr>
        <p:txBody>
          <a:bodyPr anchor="ctr"/>
          <a:lstStyle>
            <a:lvl1pPr algn="ctr">
              <a:lnSpc>
                <a:spcPct val="100000"/>
              </a:lnSpc>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7"/>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0"/>
            </p:custDataLst>
          </p:nvPr>
        </p:nvSpPr>
        <p:spPr>
          <a:xfrm>
            <a:off x="604837" y="1681200"/>
            <a:ext cx="10990800" cy="3211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11"/>
            </p:custDataLst>
          </p:nvPr>
        </p:nvSpPr>
        <p:spPr>
          <a:xfrm>
            <a:off x="594000" y="5180400"/>
            <a:ext cx="11001600" cy="1011600"/>
          </a:xfrm>
        </p:spPr>
        <p:txBody>
          <a:bodyPr>
            <a:normAutofit/>
          </a:bodyPr>
          <a:lstStyle>
            <a:lvl1pPr marL="0" indent="0">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16" name="组合 15"/>
          <p:cNvGrpSpPr/>
          <p:nvPr userDrawn="1">
            <p:custDataLst>
              <p:tags r:id="rId2"/>
            </p:custDataLst>
          </p:nvPr>
        </p:nvGrpSpPr>
        <p:grpSpPr>
          <a:xfrm>
            <a:off x="4001597" y="6045200"/>
            <a:ext cx="8190403" cy="812800"/>
            <a:chOff x="4001597" y="5613400"/>
            <a:chExt cx="8190403" cy="1244600"/>
          </a:xfrm>
        </p:grpSpPr>
        <p:sp>
          <p:nvSpPr>
            <p:cNvPr id="17" name="任意多边形: 形状 16"/>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8" name="等腰三角形 17"/>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sp>
        <p:nvSpPr>
          <p:cNvPr id="15" name="矩形 14"/>
          <p:cNvSpPr/>
          <p:nvPr userDrawn="1">
            <p:custDataLst>
              <p:tags r:id="rId5"/>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bg1"/>
              </a:solidFill>
              <a:latin typeface="Viner Hand ITC" panose="03070502030502020203" charset="0"/>
              <a:ea typeface="微软雅黑" panose="020B0503020204020204" charset="-122"/>
              <a:cs typeface="Viner Hand ITC" panose="03070502030502020203" charset="0"/>
              <a:sym typeface="+mn-ea"/>
            </a:endParaRPr>
          </a:p>
        </p:txBody>
      </p:sp>
      <p:sp>
        <p:nvSpPr>
          <p:cNvPr id="2" name="标题 1"/>
          <p:cNvSpPr>
            <a:spLocks noGrp="1"/>
          </p:cNvSpPr>
          <p:nvPr>
            <p:ph type="title"/>
            <p:custDataLst>
              <p:tags r:id="rId6"/>
            </p:custDataLst>
          </p:nvPr>
        </p:nvSpPr>
        <p:spPr>
          <a:xfrm>
            <a:off x="579600" y="237600"/>
            <a:ext cx="11037600" cy="441964"/>
          </a:xfrm>
        </p:spPr>
        <p:txBody>
          <a:bodyPr>
            <a:noAutofit/>
          </a:bodyPr>
          <a:lstStyle>
            <a:lvl1pPr>
              <a:lnSpc>
                <a:spcPct val="100000"/>
              </a:lnSpc>
              <a:defRPr sz="24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11"/>
            </p:custDataLst>
          </p:nvPr>
        </p:nvSpPr>
        <p:spPr>
          <a:xfrm>
            <a:off x="6242400" y="1663200"/>
            <a:ext cx="5367600" cy="28944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12"/>
            </p:custDataLst>
          </p:nvPr>
        </p:nvSpPr>
        <p:spPr>
          <a:xfrm>
            <a:off x="572400" y="4816800"/>
            <a:ext cx="53424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6253200" y="4813200"/>
            <a:ext cx="53676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grpSp>
        <p:nvGrpSpPr>
          <p:cNvPr id="15" name="组合 14"/>
          <p:cNvGrpSpPr/>
          <p:nvPr userDrawn="1">
            <p:custDataLst>
              <p:tags r:id="rId3"/>
            </p:custDataLst>
          </p:nvPr>
        </p:nvGrpSpPr>
        <p:grpSpPr>
          <a:xfrm rot="10800000">
            <a:off x="0" y="0"/>
            <a:ext cx="5457825" cy="1529715"/>
            <a:chOff x="4001597" y="5613400"/>
            <a:chExt cx="8190403" cy="1244600"/>
          </a:xfrm>
        </p:grpSpPr>
        <p:sp>
          <p:nvSpPr>
            <p:cNvPr id="16" name="任意多边形: 形状 15"/>
            <p:cNvSpPr/>
            <p:nvPr>
              <p:custDataLst>
                <p:tags r:id="rId4"/>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5"/>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grpSp>
        <p:nvGrpSpPr>
          <p:cNvPr id="18" name="组合 17"/>
          <p:cNvGrpSpPr/>
          <p:nvPr userDrawn="1">
            <p:custDataLst>
              <p:tags r:id="rId6"/>
            </p:custDataLst>
          </p:nvPr>
        </p:nvGrpSpPr>
        <p:grpSpPr>
          <a:xfrm>
            <a:off x="6734175" y="5323840"/>
            <a:ext cx="5457825" cy="1529715"/>
            <a:chOff x="4001597" y="5613400"/>
            <a:chExt cx="8190403" cy="1244600"/>
          </a:xfrm>
        </p:grpSpPr>
        <p:sp>
          <p:nvSpPr>
            <p:cNvPr id="19" name="任意多边形: 形状 18"/>
            <p:cNvSpPr/>
            <p:nvPr>
              <p:custDataLst>
                <p:tags r:id="rId7"/>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20" name="等腰三角形 19"/>
            <p:cNvSpPr/>
            <p:nvPr>
              <p:custDataLst>
                <p:tags r:id="rId8"/>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userDrawn="1">
            <p:ph type="title" hasCustomPrompt="1"/>
            <p:custDataLst>
              <p:tags r:id="rId9"/>
            </p:custDataLst>
          </p:nvPr>
        </p:nvSpPr>
        <p:spPr>
          <a:xfrm>
            <a:off x="1522800" y="1339200"/>
            <a:ext cx="9144000" cy="2386800"/>
          </a:xfrm>
        </p:spPr>
        <p:txBody>
          <a:bodyPr anchor="b"/>
          <a:lstStyle>
            <a:lvl1pPr algn="ctr">
              <a:defRPr sz="60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3"/>
            </p:custDataLst>
          </p:nvPr>
        </p:nvSpPr>
        <p:spPr>
          <a:xfrm>
            <a:off x="1522413" y="3862800"/>
            <a:ext cx="9144000" cy="1656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60.xml"/><Relationship Id="rId23" Type="http://schemas.openxmlformats.org/officeDocument/2006/relationships/tags" Target="../tags/tag159.xml"/><Relationship Id="rId22" Type="http://schemas.openxmlformats.org/officeDocument/2006/relationships/tags" Target="../tags/tag158.xml"/><Relationship Id="rId21" Type="http://schemas.openxmlformats.org/officeDocument/2006/relationships/tags" Target="../tags/tag157.xml"/><Relationship Id="rId20" Type="http://schemas.openxmlformats.org/officeDocument/2006/relationships/tags" Target="../tags/tag156.xml"/><Relationship Id="rId2" Type="http://schemas.openxmlformats.org/officeDocument/2006/relationships/slideLayout" Target="../slideLayouts/slideLayout2.xml"/><Relationship Id="rId19" Type="http://schemas.openxmlformats.org/officeDocument/2006/relationships/tags" Target="../tags/tag155.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2.xml"/><Relationship Id="rId1" Type="http://schemas.openxmlformats.org/officeDocument/2006/relationships/tags" Target="../tags/tag161.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2" Type="http://schemas.openxmlformats.org/officeDocument/2006/relationships/slideLayout" Target="../slideLayouts/slideLayout6.xml"/><Relationship Id="rId31" Type="http://schemas.openxmlformats.org/officeDocument/2006/relationships/tags" Target="../tags/tag200.xml"/><Relationship Id="rId30" Type="http://schemas.openxmlformats.org/officeDocument/2006/relationships/tags" Target="../tags/tag199.xml"/><Relationship Id="rId3" Type="http://schemas.openxmlformats.org/officeDocument/2006/relationships/tags" Target="../tags/tag172.xml"/><Relationship Id="rId29" Type="http://schemas.openxmlformats.org/officeDocument/2006/relationships/tags" Target="../tags/tag198.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1.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0.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4.xml"/><Relationship Id="rId5" Type="http://schemas.openxmlformats.org/officeDocument/2006/relationships/tags" Target="../tags/tag202.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201.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3.xml"/><Relationship Id="rId6" Type="http://schemas.openxmlformats.org/officeDocument/2006/relationships/tags" Target="../tags/tag206.xml"/><Relationship Id="rId5" Type="http://schemas.openxmlformats.org/officeDocument/2006/relationships/image" Target="../media/image5.png"/><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image" Target="../media/image4.png"/><Relationship Id="rId1" Type="http://schemas.openxmlformats.org/officeDocument/2006/relationships/tags" Target="../tags/tag203.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image" Target="../media/image8.jpeg"/><Relationship Id="rId5" Type="http://schemas.openxmlformats.org/officeDocument/2006/relationships/tags" Target="../tags/tag209.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tags" Target="../tags/tag208.xml"/><Relationship Id="rId10" Type="http://schemas.openxmlformats.org/officeDocument/2006/relationships/notesSlide" Target="../notesSlides/notesSlide3.xml"/><Relationship Id="rId1" Type="http://schemas.openxmlformats.org/officeDocument/2006/relationships/tags" Target="../tags/tag207.xml"/></Relationships>
</file>

<file path=ppt/slides/_rels/slide7.xml.rels><?xml version="1.0" encoding="UTF-8" standalone="yes"?>
<Relationships xmlns="http://schemas.openxmlformats.org/package/2006/relationships"><Relationship Id="rId9" Type="http://schemas.openxmlformats.org/officeDocument/2006/relationships/tags" Target="../tags/tag214.xml"/><Relationship Id="rId8" Type="http://schemas.openxmlformats.org/officeDocument/2006/relationships/tags" Target="../tags/tag213.xml"/><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1" Type="http://schemas.openxmlformats.org/officeDocument/2006/relationships/notesSlide" Target="../notesSlides/notesSlide4.xml"/><Relationship Id="rId10" Type="http://schemas.openxmlformats.org/officeDocument/2006/relationships/slideLayout" Target="../slideLayouts/slideLayout13.xml"/><Relationship Id="rId1" Type="http://schemas.openxmlformats.org/officeDocument/2006/relationships/tags" Target="../tags/tag212.xml"/></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4.xml"/><Relationship Id="rId7" Type="http://schemas.openxmlformats.org/officeDocument/2006/relationships/tags" Target="../tags/tag218.xml"/><Relationship Id="rId6" Type="http://schemas.openxmlformats.org/officeDocument/2006/relationships/tags" Target="../tags/tag217.xml"/><Relationship Id="rId5" Type="http://schemas.openxmlformats.org/officeDocument/2006/relationships/image" Target="../media/image17.jpeg"/><Relationship Id="rId4" Type="http://schemas.openxmlformats.org/officeDocument/2006/relationships/image" Target="../media/image16.png"/><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222.xml"/><Relationship Id="rId7" Type="http://schemas.openxmlformats.org/officeDocument/2006/relationships/tags" Target="../tags/tag221.xml"/><Relationship Id="rId6" Type="http://schemas.openxmlformats.org/officeDocument/2006/relationships/tags" Target="../tags/tag220.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tags" Target="../tags/tag219.xml"/><Relationship Id="rId2" Type="http://schemas.openxmlformats.org/officeDocument/2006/relationships/image" Target="../media/image19.png"/><Relationship Id="rId10" Type="http://schemas.openxmlformats.org/officeDocument/2006/relationships/notesSlide" Target="../notesSlides/notesSlide6.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3.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tags" Target="../tags/tag223.xml"/><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29.xml"/><Relationship Id="rId3" Type="http://schemas.openxmlformats.org/officeDocument/2006/relationships/image" Target="../media/image25.png"/><Relationship Id="rId2" Type="http://schemas.openxmlformats.org/officeDocument/2006/relationships/tags" Target="../tags/tag228.xml"/><Relationship Id="rId1" Type="http://schemas.openxmlformats.org/officeDocument/2006/relationships/tags" Target="../tags/tag227.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32.xml"/><Relationship Id="rId3" Type="http://schemas.openxmlformats.org/officeDocument/2006/relationships/image" Target="../media/image26.png"/><Relationship Id="rId2" Type="http://schemas.openxmlformats.org/officeDocument/2006/relationships/tags" Target="../tags/tag231.xml"/><Relationship Id="rId1" Type="http://schemas.openxmlformats.org/officeDocument/2006/relationships/tags" Target="../tags/tag23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34.xml"/><Relationship Id="rId1" Type="http://schemas.openxmlformats.org/officeDocument/2006/relationships/tags" Target="../tags/tag233.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tags" Target="../tags/tag236.xml"/><Relationship Id="rId10" Type="http://schemas.openxmlformats.org/officeDocument/2006/relationships/notesSlide" Target="../notesSlides/notesSlide8.xml"/><Relationship Id="rId1" Type="http://schemas.openxmlformats.org/officeDocument/2006/relationships/tags" Target="../tags/tag235.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3.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image" Target="../media/image32.png"/><Relationship Id="rId1" Type="http://schemas.openxmlformats.org/officeDocument/2006/relationships/image" Target="../media/image31.png"/></Relationships>
</file>

<file path=ppt/slides/_rels/slide16.xml.rels><?xml version="1.0" encoding="UTF-8" standalone="yes"?>
<Relationships xmlns="http://schemas.openxmlformats.org/package/2006/relationships"><Relationship Id="rId7" Type="http://schemas.openxmlformats.org/officeDocument/2006/relationships/comments" Target="../comments/comment1.xml"/><Relationship Id="rId6" Type="http://schemas.openxmlformats.org/officeDocument/2006/relationships/notesSlide" Target="../notesSlides/notesSlide10.xml"/><Relationship Id="rId5" Type="http://schemas.openxmlformats.org/officeDocument/2006/relationships/slideLayout" Target="../slideLayouts/slideLayout13.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image" Target="../media/image33.png"/><Relationship Id="rId1" Type="http://schemas.openxmlformats.org/officeDocument/2006/relationships/tags" Target="../tags/tag241.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4.xml"/><Relationship Id="rId6" Type="http://schemas.openxmlformats.org/officeDocument/2006/relationships/tags" Target="../tags/tag247.xml"/><Relationship Id="rId5" Type="http://schemas.openxmlformats.org/officeDocument/2006/relationships/image" Target="../media/image35.png"/><Relationship Id="rId4" Type="http://schemas.openxmlformats.org/officeDocument/2006/relationships/tags" Target="../tags/tag246.xml"/><Relationship Id="rId3" Type="http://schemas.openxmlformats.org/officeDocument/2006/relationships/image" Target="../media/image34.png"/><Relationship Id="rId2" Type="http://schemas.openxmlformats.org/officeDocument/2006/relationships/tags" Target="../tags/tag245.xml"/><Relationship Id="rId1" Type="http://schemas.openxmlformats.org/officeDocument/2006/relationships/tags" Target="../tags/tag24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0.xml"/><Relationship Id="rId1" Type="http://schemas.openxmlformats.org/officeDocument/2006/relationships/image" Target="../media/image35.png"/></Relationships>
</file>

<file path=ppt/slides/_rels/slide21.xml.rels><?xml version="1.0" encoding="UTF-8" standalone="yes"?>
<Relationships xmlns="http://schemas.openxmlformats.org/package/2006/relationships"><Relationship Id="rId6" Type="http://schemas.openxmlformats.org/officeDocument/2006/relationships/comments" Target="../comments/comment2.xml"/><Relationship Id="rId5" Type="http://schemas.openxmlformats.org/officeDocument/2006/relationships/notesSlide" Target="../notesSlides/notesSlide12.xml"/><Relationship Id="rId4" Type="http://schemas.openxmlformats.org/officeDocument/2006/relationships/slideLayout" Target="../slideLayouts/slideLayout13.xml"/><Relationship Id="rId3" Type="http://schemas.openxmlformats.org/officeDocument/2006/relationships/tags" Target="../tags/tag251.xml"/><Relationship Id="rId2" Type="http://schemas.openxmlformats.org/officeDocument/2006/relationships/image" Target="../media/image37.png"/><Relationship Id="rId1" Type="http://schemas.openxmlformats.org/officeDocument/2006/relationships/image" Target="../media/image36.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56.xml"/><Relationship Id="rId1" Type="http://schemas.openxmlformats.org/officeDocument/2006/relationships/tags" Target="../tags/tag2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1984375" y="3632835"/>
            <a:ext cx="8977630" cy="1118235"/>
          </a:xfrm>
        </p:spPr>
        <p:txBody>
          <a:bodyPr>
            <a:normAutofit fontScale="90000"/>
          </a:bodyPr>
          <a:p>
            <a:r>
              <a:rPr lang="zh-CN" altLang="en-US" dirty="0">
                <a:solidFill>
                  <a:schemeClr val="accent1"/>
                </a:solidFill>
                <a:sym typeface="+mn-lt"/>
              </a:rPr>
              <a:t>软件工程导论（第</a:t>
            </a:r>
            <a:r>
              <a:rPr lang="en-US" altLang="zh-CN" dirty="0">
                <a:solidFill>
                  <a:schemeClr val="accent1"/>
                </a:solidFill>
                <a:sym typeface="+mn-lt"/>
              </a:rPr>
              <a:t>6</a:t>
            </a:r>
            <a:r>
              <a:rPr lang="zh-CN" altLang="en-US" dirty="0">
                <a:solidFill>
                  <a:schemeClr val="accent1"/>
                </a:solidFill>
                <a:sym typeface="+mn-lt"/>
              </a:rPr>
              <a:t>版）</a:t>
            </a:r>
            <a:endParaRPr lang="zh-CN" altLang="en-US" dirty="0">
              <a:solidFill>
                <a:schemeClr val="accent1"/>
              </a:solidFill>
              <a:sym typeface="+mn-lt"/>
            </a:endParaRPr>
          </a:p>
        </p:txBody>
      </p:sp>
      <p:sp>
        <p:nvSpPr>
          <p:cNvPr id="2" name="副标题 1"/>
          <p:cNvSpPr/>
          <p:nvPr>
            <p:ph type="subTitle" idx="1"/>
          </p:nvPr>
        </p:nvSpPr>
        <p:spPr>
          <a:xfrm>
            <a:off x="2574744" y="2752574"/>
            <a:ext cx="7117545" cy="676319"/>
          </a:xfrm>
        </p:spPr>
        <p:txBody>
          <a:bodyPr/>
          <a:p>
            <a:r>
              <a:rPr lang="en-US" altLang="zh-CN">
                <a:solidFill>
                  <a:srgbClr val="FF0000"/>
                </a:solidFill>
              </a:rPr>
              <a:t>21</a:t>
            </a:r>
            <a:r>
              <a:rPr lang="zh-CN" altLang="en-US">
                <a:solidFill>
                  <a:srgbClr val="FF0000"/>
                </a:solidFill>
              </a:rPr>
              <a:t>世纪软件工程专业规划教材</a:t>
            </a:r>
            <a:endParaRPr lang="zh-CN" altLang="en-US">
              <a:solidFill>
                <a:srgbClr val="FF0000"/>
              </a:solidFill>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4" name="文本框 3"/>
          <p:cNvSpPr txBox="1"/>
          <p:nvPr>
            <p:custDataLst>
              <p:tags r:id="rId4"/>
            </p:custDataLst>
          </p:nvPr>
        </p:nvSpPr>
        <p:spPr>
          <a:xfrm>
            <a:off x="520065" y="653415"/>
            <a:ext cx="1967230" cy="400050"/>
          </a:xfrm>
          <a:prstGeom prst="rect">
            <a:avLst/>
          </a:prstGeom>
          <a:noFill/>
        </p:spPr>
        <p:txBody>
          <a:bodyPr wrap="square" rtlCol="0">
            <a:noAutofit/>
          </a:bodyPr>
          <a:lstStyle/>
          <a:p>
            <a:r>
              <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rPr>
              <a:t>overview</a:t>
            </a:r>
            <a:endPar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endParaRPr>
          </a:p>
        </p:txBody>
      </p:sp>
      <p:sp>
        <p:nvSpPr>
          <p:cNvPr id="11" name="标题 10"/>
          <p:cNvSpPr>
            <a:spLocks noGrp="1"/>
          </p:cNvSpPr>
          <p:nvPr>
            <p:ph type="ctrTitle"/>
            <p:custDataLst>
              <p:tags r:id="rId5"/>
            </p:custDataLst>
          </p:nvPr>
        </p:nvSpPr>
        <p:spPr>
          <a:xfrm>
            <a:off x="3436620" y="506730"/>
            <a:ext cx="8755380" cy="1118235"/>
          </a:xfrm>
        </p:spPr>
        <p:txBody>
          <a:bodyPr>
            <a:normAutofit/>
          </a:bodyPr>
          <a:p>
            <a:r>
              <a:rPr lang="zh-CN" altLang="en-US" sz="4000" dirty="0">
                <a:sym typeface="+mn-lt"/>
              </a:rPr>
              <a:t>第</a:t>
            </a:r>
            <a:r>
              <a:rPr lang="en-US" altLang="zh-CN" sz="4000" dirty="0">
                <a:solidFill>
                  <a:srgbClr val="FF0000"/>
                </a:solidFill>
                <a:latin typeface="华光彩云_CNKI" panose="02000500000000000000" charset="-122"/>
                <a:ea typeface="华光彩云_CNKI" panose="02000500000000000000" charset="-122"/>
                <a:sym typeface="+mn-lt"/>
              </a:rPr>
              <a:t>5</a:t>
            </a:r>
            <a:r>
              <a:rPr lang="zh-CN" altLang="en-US" sz="4000" dirty="0">
                <a:sym typeface="+mn-lt"/>
              </a:rPr>
              <a:t>章</a:t>
            </a:r>
            <a:r>
              <a:rPr lang="en-US" altLang="zh-CN" sz="4000" dirty="0">
                <a:sym typeface="+mn-lt"/>
              </a:rPr>
              <a:t>  </a:t>
            </a:r>
            <a:r>
              <a:rPr lang="zh-CN" altLang="en-US" sz="4000" dirty="0">
                <a:sym typeface="+mn-lt"/>
              </a:rPr>
              <a:t>详细</a:t>
            </a:r>
            <a:r>
              <a:rPr lang="zh-CN" altLang="en-US" sz="4000" dirty="0">
                <a:sym typeface="+mn-lt"/>
              </a:rPr>
              <a:t>设计</a:t>
            </a:r>
            <a:endParaRPr lang="zh-CN" altLang="en-US" sz="4000" dirty="0">
              <a:sym typeface="+mn-lt"/>
            </a:endParaRPr>
          </a:p>
        </p:txBody>
      </p:sp>
      <p:sp>
        <p:nvSpPr>
          <p:cNvPr id="12" name="文本占位符 11"/>
          <p:cNvSpPr>
            <a:spLocks noGrp="1"/>
          </p:cNvSpPr>
          <p:nvPr>
            <p:ph type="body" idx="1"/>
            <p:custDataLst>
              <p:tags r:id="rId6"/>
            </p:custDataLst>
          </p:nvPr>
        </p:nvSpPr>
        <p:spPr>
          <a:xfrm>
            <a:off x="3436620" y="2304415"/>
            <a:ext cx="8314055" cy="2822575"/>
          </a:xfrm>
        </p:spPr>
        <p:txBody>
          <a:bodyPr>
            <a:normAutofit fontScale="25000"/>
          </a:bodyPr>
          <a:p>
            <a:pPr eaLnBrk="1" hangingPunct="1">
              <a:lnSpc>
                <a:spcPct val="175000"/>
              </a:lnSpc>
            </a:pPr>
            <a:r>
              <a:rPr lang="zh-CN" altLang="en-US" sz="7200" dirty="0">
                <a:solidFill>
                  <a:srgbClr val="FF0000"/>
                </a:solidFill>
                <a:latin typeface="Bodoni MT Black" panose="02070A03080606020203" pitchFamily="18" charset="0"/>
                <a:sym typeface="+mn-ea"/>
              </a:rPr>
              <a:t>根本目标：</a:t>
            </a:r>
            <a:r>
              <a:rPr lang="zh-CN" altLang="en-US" sz="7200" dirty="0">
                <a:latin typeface="Bodoni MT Black" panose="02070A03080606020203" pitchFamily="18" charset="0"/>
                <a:sym typeface="+mn-ea"/>
              </a:rPr>
              <a:t>确定应该怎样</a:t>
            </a:r>
            <a:r>
              <a:rPr lang="zh-CN" altLang="en-US" sz="7200" dirty="0">
                <a:solidFill>
                  <a:srgbClr val="00B0F0"/>
                </a:solidFill>
                <a:latin typeface="Bodoni MT Black" panose="02070A03080606020203" pitchFamily="18" charset="0"/>
                <a:sym typeface="+mn-ea"/>
              </a:rPr>
              <a:t>具体地实现</a:t>
            </a:r>
            <a:r>
              <a:rPr lang="zh-CN" altLang="en-US" sz="7200" dirty="0">
                <a:latin typeface="Bodoni MT Black" panose="02070A03080606020203" pitchFamily="18" charset="0"/>
                <a:sym typeface="+mn-ea"/>
              </a:rPr>
              <a:t>所要求的系统，经过这个阶段的设计工作，应该得出对目标系统的</a:t>
            </a:r>
            <a:r>
              <a:rPr lang="zh-CN" altLang="en-US" sz="7200" dirty="0">
                <a:solidFill>
                  <a:srgbClr val="FF0000"/>
                </a:solidFill>
                <a:latin typeface="Bodoni MT Black" panose="02070A03080606020203" pitchFamily="18" charset="0"/>
                <a:sym typeface="+mn-ea"/>
              </a:rPr>
              <a:t>精确描述</a:t>
            </a:r>
            <a:r>
              <a:rPr lang="zh-CN" altLang="en-US" sz="7200" dirty="0">
                <a:latin typeface="Bodoni MT Black" panose="02070A03080606020203" pitchFamily="18" charset="0"/>
                <a:sym typeface="+mn-ea"/>
              </a:rPr>
              <a:t>。</a:t>
            </a:r>
            <a:endParaRPr lang="en-US" altLang="zh-CN" sz="7200" dirty="0">
              <a:latin typeface="Bodoni MT Black" panose="02070A03080606020203" pitchFamily="18" charset="0"/>
            </a:endParaRPr>
          </a:p>
          <a:p>
            <a:pPr eaLnBrk="1" hangingPunct="1">
              <a:lnSpc>
                <a:spcPct val="175000"/>
              </a:lnSpc>
            </a:pPr>
            <a:r>
              <a:rPr lang="zh-CN" altLang="en-US" sz="7200" dirty="0">
                <a:latin typeface="Bodoni MT Black" panose="02070A03080606020203" pitchFamily="18" charset="0"/>
                <a:sym typeface="+mn-ea"/>
              </a:rPr>
              <a:t>详细设计阶段的任务</a:t>
            </a:r>
            <a:r>
              <a:rPr lang="zh-CN" altLang="en-US" sz="7200" dirty="0">
                <a:solidFill>
                  <a:srgbClr val="00B0F0"/>
                </a:solidFill>
                <a:latin typeface="Bodoni MT Black" panose="02070A03080606020203" pitchFamily="18" charset="0"/>
                <a:sym typeface="+mn-ea"/>
              </a:rPr>
              <a:t>不是具体地编写程序</a:t>
            </a:r>
            <a:r>
              <a:rPr lang="zh-CN" altLang="en-US" sz="7200" dirty="0">
                <a:latin typeface="Bodoni MT Black" panose="02070A03080606020203" pitchFamily="18" charset="0"/>
                <a:sym typeface="+mn-ea"/>
              </a:rPr>
              <a:t>，而是要</a:t>
            </a:r>
            <a:r>
              <a:rPr lang="zh-CN" altLang="en-US" sz="7200" dirty="0">
                <a:solidFill>
                  <a:srgbClr val="FF0000"/>
                </a:solidFill>
                <a:latin typeface="Bodoni MT Black" panose="02070A03080606020203" pitchFamily="18" charset="0"/>
                <a:sym typeface="+mn-ea"/>
              </a:rPr>
              <a:t>设计出程序的“蓝图”</a:t>
            </a:r>
            <a:r>
              <a:rPr lang="zh-CN" altLang="en-US" sz="7200" dirty="0">
                <a:latin typeface="Bodoni MT Black" panose="02070A03080606020203" pitchFamily="18" charset="0"/>
                <a:sym typeface="+mn-ea"/>
              </a:rPr>
              <a:t>详细设计的结果基本上决定了最终的程序代码的质量。</a:t>
            </a:r>
            <a:endParaRPr lang="zh-CN" altLang="en-US" sz="7200" dirty="0">
              <a:latin typeface="Bodoni MT Black" panose="02070A03080606020203" pitchFamily="18" charset="0"/>
              <a:sym typeface="+mn-ea"/>
            </a:endParaRPr>
          </a:p>
          <a:p>
            <a:pPr eaLnBrk="1" hangingPunct="1">
              <a:lnSpc>
                <a:spcPct val="175000"/>
              </a:lnSpc>
            </a:pPr>
            <a:r>
              <a:rPr lang="zh-CN" altLang="en-US" sz="7200" dirty="0">
                <a:solidFill>
                  <a:schemeClr val="tx1"/>
                </a:solidFill>
                <a:latin typeface="Bodoni MT Black" panose="02070A03080606020203" pitchFamily="18" charset="0"/>
                <a:sym typeface="+mn-ea"/>
              </a:rPr>
              <a:t>详细设计的目标不仅是逻辑上正确地实现每个模块的功能，更重要的是设计出的处理过程应该尽可能</a:t>
            </a:r>
            <a:r>
              <a:rPr lang="zh-CN" altLang="en-US" sz="7200" dirty="0">
                <a:solidFill>
                  <a:srgbClr val="00B0F0"/>
                </a:solidFill>
                <a:latin typeface="Bodoni MT Black" panose="02070A03080606020203" pitchFamily="18" charset="0"/>
                <a:sym typeface="+mn-ea"/>
              </a:rPr>
              <a:t>简明易懂</a:t>
            </a:r>
            <a:r>
              <a:rPr lang="zh-CN" altLang="en-US" sz="7200" dirty="0">
                <a:solidFill>
                  <a:schemeClr val="tx1"/>
                </a:solidFill>
                <a:latin typeface="Bodoni MT Black" panose="02070A03080606020203" pitchFamily="18" charset="0"/>
                <a:sym typeface="+mn-ea"/>
              </a:rPr>
              <a:t>。</a:t>
            </a:r>
            <a:endParaRPr lang="zh-CN" altLang="en-US" sz="7200" dirty="0">
              <a:solidFill>
                <a:schemeClr val="tx1"/>
              </a:solidFill>
              <a:latin typeface="Bodoni MT Black" panose="02070A03080606020203" pitchFamily="18" charset="0"/>
              <a:sym typeface="+mn-ea"/>
            </a:endParaRPr>
          </a:p>
        </p:txBody>
      </p:sp>
    </p:spTree>
    <p:custDataLst>
      <p:tags r:id="rId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28" name="文本框 27"/>
          <p:cNvSpPr txBox="1"/>
          <p:nvPr>
            <p:custDataLst>
              <p:tags r:id="rId4"/>
            </p:custDataLst>
          </p:nvPr>
        </p:nvSpPr>
        <p:spPr>
          <a:xfrm>
            <a:off x="5209887" y="802949"/>
            <a:ext cx="536095" cy="844463"/>
          </a:xfrm>
          <a:prstGeom prst="rect">
            <a:avLst/>
          </a:prstGeom>
          <a:noFill/>
        </p:spPr>
        <p:txBody>
          <a:bodyPr wrap="square" rtlCol="0">
            <a:normAutofit/>
          </a:bodyPr>
          <a:lstStyle/>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1</a:t>
            </a:r>
            <a:endPar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5" name="组合 4"/>
          <p:cNvGrpSpPr/>
          <p:nvPr>
            <p:custDataLst>
              <p:tags r:id="rId5"/>
            </p:custDataLst>
          </p:nvPr>
        </p:nvGrpSpPr>
        <p:grpSpPr>
          <a:xfrm>
            <a:off x="4694436" y="1012613"/>
            <a:ext cx="283853" cy="353526"/>
            <a:chOff x="9072" y="2431"/>
            <a:chExt cx="440" cy="548"/>
          </a:xfrm>
        </p:grpSpPr>
        <p:sp>
          <p:nvSpPr>
            <p:cNvPr id="34" name="任意多边形: 形状 33"/>
            <p:cNvSpPr/>
            <p:nvPr>
              <p:custDataLst>
                <p:tags r:id="rId6"/>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tx1">
                    <a:lumMod val="85000"/>
                    <a:lumOff val="15000"/>
                  </a:schemeClr>
                </a:solidFill>
              </a:endParaRPr>
            </a:p>
          </p:txBody>
        </p:sp>
        <p:sp>
          <p:nvSpPr>
            <p:cNvPr id="35" name="等腰三角形 34"/>
            <p:cNvSpPr/>
            <p:nvPr>
              <p:custDataLst>
                <p:tags r:id="rId7"/>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29" name="文本框 28"/>
          <p:cNvSpPr txBox="1"/>
          <p:nvPr>
            <p:custDataLst>
              <p:tags r:id="rId8"/>
            </p:custDataLst>
          </p:nvPr>
        </p:nvSpPr>
        <p:spPr>
          <a:xfrm>
            <a:off x="5209887" y="2002873"/>
            <a:ext cx="536095" cy="844463"/>
          </a:xfrm>
          <a:prstGeom prst="rect">
            <a:avLst/>
          </a:prstGeom>
          <a:noFill/>
        </p:spPr>
        <p:txBody>
          <a:bodyPr wrap="square" rtlCol="0">
            <a:normAutofit/>
          </a:bodyPr>
          <a:lstStyle/>
          <a:p>
            <a:r>
              <a:rPr lang="en-US" altLang="zh-CN" sz="4000" b="1">
                <a:solidFill>
                  <a:schemeClr val="accent2"/>
                </a:solidFill>
                <a:latin typeface="Arial" panose="020B0604020202020204" pitchFamily="34" charset="0"/>
                <a:ea typeface="微软雅黑" panose="020B0503020204020204" charset="-122"/>
                <a:cs typeface="Arial" panose="020B0604020202020204" pitchFamily="34" charset="0"/>
              </a:rPr>
              <a:t>2</a:t>
            </a:r>
            <a:endParaRPr lang="en-US" altLang="zh-CN" sz="4000" b="1">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6" name="组合 5"/>
          <p:cNvGrpSpPr/>
          <p:nvPr>
            <p:custDataLst>
              <p:tags r:id="rId9"/>
            </p:custDataLst>
          </p:nvPr>
        </p:nvGrpSpPr>
        <p:grpSpPr>
          <a:xfrm>
            <a:off x="4694436" y="2248664"/>
            <a:ext cx="283853" cy="353526"/>
            <a:chOff x="9072" y="4347"/>
            <a:chExt cx="440" cy="548"/>
          </a:xfrm>
        </p:grpSpPr>
        <p:sp>
          <p:nvSpPr>
            <p:cNvPr id="37" name="任意多边形: 形状 36"/>
            <p:cNvSpPr/>
            <p:nvPr>
              <p:custDataLst>
                <p:tags r:id="rId10"/>
              </p:custDataLst>
            </p:nvPr>
          </p:nvSpPr>
          <p:spPr>
            <a:xfrm rot="697528">
              <a:off x="9072" y="4347"/>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38" name="等腰三角形 37"/>
            <p:cNvSpPr/>
            <p:nvPr>
              <p:custDataLst>
                <p:tags r:id="rId11"/>
              </p:custDataLst>
            </p:nvPr>
          </p:nvSpPr>
          <p:spPr>
            <a:xfrm>
              <a:off x="9170" y="4390"/>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30" name="文本框 29"/>
          <p:cNvSpPr txBox="1"/>
          <p:nvPr>
            <p:custDataLst>
              <p:tags r:id="rId12"/>
            </p:custDataLst>
          </p:nvPr>
        </p:nvSpPr>
        <p:spPr>
          <a:xfrm>
            <a:off x="5209887" y="3202152"/>
            <a:ext cx="536095" cy="844463"/>
          </a:xfrm>
          <a:prstGeom prst="rect">
            <a:avLst/>
          </a:prstGeom>
          <a:noFill/>
        </p:spPr>
        <p:txBody>
          <a:bodyPr wrap="square" rtlCol="0">
            <a:normAutofit/>
          </a:bodyPr>
          <a:lstStyle/>
          <a:p>
            <a:r>
              <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rPr>
              <a:t>3</a:t>
            </a:r>
            <a:endPar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7" name="组合 6"/>
          <p:cNvGrpSpPr/>
          <p:nvPr>
            <p:custDataLst>
              <p:tags r:id="rId13"/>
            </p:custDataLst>
          </p:nvPr>
        </p:nvGrpSpPr>
        <p:grpSpPr>
          <a:xfrm>
            <a:off x="4694436" y="3447943"/>
            <a:ext cx="283853" cy="353526"/>
            <a:chOff x="9072" y="6206"/>
            <a:chExt cx="440" cy="548"/>
          </a:xfrm>
        </p:grpSpPr>
        <p:sp>
          <p:nvSpPr>
            <p:cNvPr id="40" name="任意多边形: 形状 39"/>
            <p:cNvSpPr/>
            <p:nvPr>
              <p:custDataLst>
                <p:tags r:id="rId14"/>
              </p:custDataLst>
            </p:nvPr>
          </p:nvSpPr>
          <p:spPr>
            <a:xfrm rot="697528">
              <a:off x="9072" y="6206"/>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41" name="等腰三角形 40"/>
            <p:cNvSpPr/>
            <p:nvPr>
              <p:custDataLst>
                <p:tags r:id="rId15"/>
              </p:custDataLst>
            </p:nvPr>
          </p:nvSpPr>
          <p:spPr>
            <a:xfrm>
              <a:off x="9170" y="6249"/>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31" name="文本框 30"/>
          <p:cNvSpPr txBox="1"/>
          <p:nvPr>
            <p:custDataLst>
              <p:tags r:id="rId16"/>
            </p:custDataLst>
          </p:nvPr>
        </p:nvSpPr>
        <p:spPr>
          <a:xfrm>
            <a:off x="5209887" y="4401431"/>
            <a:ext cx="536095" cy="844463"/>
          </a:xfrm>
          <a:prstGeom prst="rect">
            <a:avLst/>
          </a:prstGeom>
          <a:noFill/>
        </p:spPr>
        <p:txBody>
          <a:bodyPr wrap="square" rtlCol="0">
            <a:normAutofit/>
          </a:bodyPr>
          <a:lstStyle/>
          <a:p>
            <a:r>
              <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rPr>
              <a:t>4</a:t>
            </a:r>
            <a:endPar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14" name="组合 13"/>
          <p:cNvGrpSpPr/>
          <p:nvPr>
            <p:custDataLst>
              <p:tags r:id="rId17"/>
            </p:custDataLst>
          </p:nvPr>
        </p:nvGrpSpPr>
        <p:grpSpPr>
          <a:xfrm>
            <a:off x="4694436" y="4647222"/>
            <a:ext cx="283853" cy="353526"/>
            <a:chOff x="9072" y="8065"/>
            <a:chExt cx="440" cy="548"/>
          </a:xfrm>
        </p:grpSpPr>
        <p:sp>
          <p:nvSpPr>
            <p:cNvPr id="43" name="任意多边形: 形状 42"/>
            <p:cNvSpPr/>
            <p:nvPr>
              <p:custDataLst>
                <p:tags r:id="rId18"/>
              </p:custDataLst>
            </p:nvPr>
          </p:nvSpPr>
          <p:spPr>
            <a:xfrm rot="697528">
              <a:off x="9072" y="8065"/>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44" name="等腰三角形 43"/>
            <p:cNvSpPr/>
            <p:nvPr>
              <p:custDataLst>
                <p:tags r:id="rId19"/>
              </p:custDataLst>
            </p:nvPr>
          </p:nvSpPr>
          <p:spPr>
            <a:xfrm>
              <a:off x="9170" y="8108"/>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13" name="文本框 12"/>
          <p:cNvSpPr txBox="1"/>
          <p:nvPr>
            <p:custDataLst>
              <p:tags r:id="rId20"/>
            </p:custDataLst>
          </p:nvPr>
        </p:nvSpPr>
        <p:spPr>
          <a:xfrm>
            <a:off x="6165311" y="702311"/>
            <a:ext cx="2925622" cy="874783"/>
          </a:xfrm>
          <a:prstGeom prst="rect">
            <a:avLst/>
          </a:prstGeom>
          <a:noFill/>
        </p:spPr>
        <p:txBody>
          <a:bodyPr wrap="square" rtlCol="0" anchor="ctr">
            <a:normAutofit/>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结构程序设计</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6" name="文本框 65"/>
          <p:cNvSpPr txBox="1"/>
          <p:nvPr>
            <p:custDataLst>
              <p:tags r:id="rId21"/>
            </p:custDataLst>
          </p:nvPr>
        </p:nvSpPr>
        <p:spPr>
          <a:xfrm>
            <a:off x="6165311" y="1902234"/>
            <a:ext cx="3149478" cy="874783"/>
          </a:xfrm>
          <a:prstGeom prst="rect">
            <a:avLst/>
          </a:prstGeom>
          <a:noFill/>
        </p:spPr>
        <p:txBody>
          <a:bodyPr wrap="square" rtlCol="0" anchor="ctr">
            <a:noAutofit/>
          </a:bodyPr>
          <a:lstStyle/>
          <a:p>
            <a:pPr algn="l">
              <a:buClrTx/>
              <a:buSzTx/>
              <a:buFontTx/>
            </a:pP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人机界面设计</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8" name="文本框 67"/>
          <p:cNvSpPr txBox="1"/>
          <p:nvPr>
            <p:custDataLst>
              <p:tags r:id="rId22"/>
            </p:custDataLst>
          </p:nvPr>
        </p:nvSpPr>
        <p:spPr>
          <a:xfrm>
            <a:off x="6165311" y="3102159"/>
            <a:ext cx="2925622" cy="874783"/>
          </a:xfrm>
          <a:prstGeom prst="rect">
            <a:avLst/>
          </a:prstGeom>
          <a:noFill/>
        </p:spPr>
        <p:txBody>
          <a:bodyPr wrap="square" rtlCol="0" anchor="ctr">
            <a:normAutofit/>
          </a:bodyPr>
          <a:lstStyle/>
          <a:p>
            <a:pPr algn="l">
              <a:buClrTx/>
              <a:buSzTx/>
              <a:buFontTx/>
            </a:pP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过程设计的工具</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70" name="文本框 69"/>
          <p:cNvSpPr txBox="1"/>
          <p:nvPr>
            <p:custDataLst>
              <p:tags r:id="rId23"/>
            </p:custDataLst>
          </p:nvPr>
        </p:nvSpPr>
        <p:spPr>
          <a:xfrm>
            <a:off x="6165215" y="4302125"/>
            <a:ext cx="4326890" cy="875030"/>
          </a:xfrm>
          <a:prstGeom prst="rect">
            <a:avLst/>
          </a:prstGeom>
          <a:noFill/>
        </p:spPr>
        <p:txBody>
          <a:bodyPr wrap="square" rtlCol="0" anchor="ctr">
            <a:normAutofit lnSpcReduction="20000"/>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面向数据结构的设计方法</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3" name="文本框 2"/>
          <p:cNvSpPr txBox="1"/>
          <p:nvPr>
            <p:custDataLst>
              <p:tags r:id="rId24"/>
            </p:custDataLst>
          </p:nvPr>
        </p:nvSpPr>
        <p:spPr>
          <a:xfrm>
            <a:off x="582295" y="457200"/>
            <a:ext cx="1402080" cy="829945"/>
          </a:xfrm>
          <a:prstGeom prst="rect">
            <a:avLst/>
          </a:prstGeom>
          <a:noFill/>
        </p:spPr>
        <p:txBody>
          <a:bodyPr wrap="square" rtlCol="0">
            <a:normAutofit/>
          </a:bodyPr>
          <a:lstStyle/>
          <a:p>
            <a:r>
              <a:rPr lang="zh-CN" altLang="en-US" sz="4800">
                <a:solidFill>
                  <a:schemeClr val="bg1"/>
                </a:solidFill>
                <a:uFillTx/>
                <a:latin typeface="Arial" panose="020B0604020202020204" pitchFamily="34" charset="0"/>
                <a:ea typeface="汉仪旗黑-85S" panose="00020600040101010101" pitchFamily="18" charset="-122"/>
              </a:rPr>
              <a:t>目录</a:t>
            </a:r>
            <a:endParaRPr lang="zh-CN" altLang="en-US" sz="4800">
              <a:solidFill>
                <a:schemeClr val="bg1"/>
              </a:solidFill>
              <a:uFillTx/>
              <a:latin typeface="Arial" panose="020B0604020202020204" pitchFamily="34" charset="0"/>
              <a:ea typeface="汉仪旗黑-85S" panose="00020600040101010101" pitchFamily="18" charset="-122"/>
            </a:endParaRPr>
          </a:p>
        </p:txBody>
      </p:sp>
      <p:sp>
        <p:nvSpPr>
          <p:cNvPr id="4" name="文本框 3"/>
          <p:cNvSpPr txBox="1"/>
          <p:nvPr>
            <p:custDataLst>
              <p:tags r:id="rId25"/>
            </p:custDataLst>
          </p:nvPr>
        </p:nvSpPr>
        <p:spPr>
          <a:xfrm>
            <a:off x="645795" y="1224915"/>
            <a:ext cx="1598295" cy="400050"/>
          </a:xfrm>
          <a:prstGeom prst="rect">
            <a:avLst/>
          </a:prstGeom>
          <a:noFill/>
        </p:spPr>
        <p:txBody>
          <a:bodyPr wrap="square" rtlCol="0">
            <a:normAutofit/>
          </a:bodyPr>
          <a:lstStyle/>
          <a:p>
            <a:r>
              <a:rPr lang="en-US" altLang="zh-CN" sz="2000">
                <a:solidFill>
                  <a:schemeClr val="bg1"/>
                </a:solidFill>
                <a:latin typeface="Arial" panose="020B0604020202020204" pitchFamily="34" charset="0"/>
                <a:ea typeface="微软雅黑" panose="020B0503020204020204" charset="-122"/>
                <a:cs typeface="Arial" panose="020B0604020202020204" pitchFamily="34" charset="0"/>
              </a:rPr>
              <a:t>CONTENTS</a:t>
            </a:r>
            <a:endParaRPr lang="en-US" altLang="zh-CN" sz="200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 name="文本框 9"/>
          <p:cNvSpPr txBox="1"/>
          <p:nvPr>
            <p:custDataLst>
              <p:tags r:id="rId26"/>
            </p:custDataLst>
          </p:nvPr>
        </p:nvSpPr>
        <p:spPr>
          <a:xfrm>
            <a:off x="5176986" y="5403303"/>
            <a:ext cx="536095" cy="844463"/>
          </a:xfrm>
          <a:prstGeom prst="rect">
            <a:avLst/>
          </a:prstGeom>
          <a:noFill/>
        </p:spPr>
        <p:txBody>
          <a:bodyPr wrap="square" rtlCol="0">
            <a:normAutofit/>
          </a:bodyPr>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5</a:t>
            </a:r>
            <a:endPar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11" name="组合 10"/>
          <p:cNvGrpSpPr/>
          <p:nvPr>
            <p:custDataLst>
              <p:tags r:id="rId27"/>
            </p:custDataLst>
          </p:nvPr>
        </p:nvGrpSpPr>
        <p:grpSpPr>
          <a:xfrm>
            <a:off x="4661535" y="5612967"/>
            <a:ext cx="283853" cy="353526"/>
            <a:chOff x="9072" y="2431"/>
            <a:chExt cx="440" cy="548"/>
          </a:xfrm>
        </p:grpSpPr>
        <p:sp>
          <p:nvSpPr>
            <p:cNvPr id="12" name="任意多边形: 形状 33"/>
            <p:cNvSpPr/>
            <p:nvPr>
              <p:custDataLst>
                <p:tags r:id="rId28"/>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2800" b="1" dirty="0">
                <a:solidFill>
                  <a:schemeClr val="tx1">
                    <a:lumMod val="85000"/>
                    <a:lumOff val="15000"/>
                  </a:schemeClr>
                </a:solidFill>
              </a:endParaRPr>
            </a:p>
          </p:txBody>
        </p:sp>
        <p:sp>
          <p:nvSpPr>
            <p:cNvPr id="15" name="等腰三角形 14"/>
            <p:cNvSpPr/>
            <p:nvPr>
              <p:custDataLst>
                <p:tags r:id="rId29"/>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sz="11200" b="1">
                <a:solidFill>
                  <a:schemeClr val="tx1">
                    <a:lumMod val="85000"/>
                    <a:lumOff val="15000"/>
                  </a:schemeClr>
                </a:solidFill>
              </a:endParaRPr>
            </a:p>
          </p:txBody>
        </p:sp>
      </p:grpSp>
      <p:sp>
        <p:nvSpPr>
          <p:cNvPr id="16" name="文本框 15"/>
          <p:cNvSpPr txBox="1"/>
          <p:nvPr>
            <p:custDataLst>
              <p:tags r:id="rId30"/>
            </p:custDataLst>
          </p:nvPr>
        </p:nvSpPr>
        <p:spPr>
          <a:xfrm>
            <a:off x="6165215" y="5360670"/>
            <a:ext cx="4445000" cy="875030"/>
          </a:xfrm>
          <a:prstGeom prst="rect">
            <a:avLst/>
          </a:prstGeom>
          <a:noFill/>
        </p:spPr>
        <p:txBody>
          <a:bodyPr wrap="square" rtlCol="0" anchor="ctr">
            <a:normAutofit lnSpcReduction="20000"/>
          </a:bodyPr>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程序复杂程度的定量度量</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Tree>
    <p:custDataLst>
      <p:tags r:id="rId3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485410" y="291610"/>
            <a:ext cx="3960000" cy="882000"/>
          </a:xfrm>
        </p:spPr>
        <p:txBody>
          <a:bodyPr>
            <a:normAutofit/>
          </a:bodyPr>
          <a:lstStyle/>
          <a:p>
            <a:pPr algn="ctr"/>
            <a:r>
              <a:rPr lang="zh-CN" altLang="en-US" sz="2400" spc="200" dirty="0">
                <a:latin typeface="汉仪旗黑-85S" panose="00020600040101010101" pitchFamily="18" charset="-122"/>
                <a:ea typeface="汉仪旗黑-85S" panose="00020600040101010101" pitchFamily="18" charset="-122"/>
              </a:rPr>
              <a:t>结构程序设计</a:t>
            </a:r>
            <a:endParaRPr lang="zh-CN" altLang="en-US" sz="2400" spc="200" dirty="0">
              <a:latin typeface="汉仪旗黑-85S" panose="00020600040101010101" pitchFamily="18" charset="-122"/>
              <a:ea typeface="汉仪旗黑-85S" panose="00020600040101010101" pitchFamily="18" charset="-122"/>
            </a:endParaRPr>
          </a:p>
        </p:txBody>
      </p:sp>
      <p:sp>
        <p:nvSpPr>
          <p:cNvPr id="14" name="文本框 13"/>
          <p:cNvSpPr txBox="1"/>
          <p:nvPr/>
        </p:nvSpPr>
        <p:spPr>
          <a:xfrm>
            <a:off x="158750" y="1090930"/>
            <a:ext cx="4549140" cy="101600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p>
            <a:pPr>
              <a:lnSpc>
                <a:spcPct val="160000"/>
              </a:lnSpc>
              <a:defRPr/>
            </a:pPr>
            <a:r>
              <a:rPr lang="zh-CN" altLang="en-US" sz="1400" b="1" dirty="0" smtClean="0">
                <a:solidFill>
                  <a:srgbClr val="FF0000"/>
                </a:solidFill>
                <a:latin typeface="+mj-ea"/>
                <a:ea typeface="+mj-ea"/>
                <a:cs typeface="+mj-ea"/>
                <a:sym typeface="+mn-ea"/>
              </a:rPr>
              <a:t>结构</a:t>
            </a:r>
            <a:r>
              <a:rPr lang="zh-CN" altLang="en-US" sz="1400" b="1" dirty="0">
                <a:solidFill>
                  <a:srgbClr val="FF0000"/>
                </a:solidFill>
                <a:latin typeface="+mj-ea"/>
                <a:ea typeface="+mj-ea"/>
                <a:cs typeface="+mj-ea"/>
                <a:sym typeface="+mn-ea"/>
              </a:rPr>
              <a:t>程序设计</a:t>
            </a:r>
            <a:r>
              <a:rPr lang="zh-CN" altLang="en-US" sz="1400" b="1" dirty="0">
                <a:solidFill>
                  <a:schemeClr val="bg1"/>
                </a:solidFill>
                <a:latin typeface="+mj-ea"/>
                <a:ea typeface="+mj-ea"/>
                <a:cs typeface="+mj-ea"/>
                <a:sym typeface="+mn-ea"/>
              </a:rPr>
              <a:t>的概念最早由</a:t>
            </a:r>
            <a:r>
              <a:rPr lang="en-US" altLang="zh-CN" sz="1400" b="1" dirty="0" err="1">
                <a:solidFill>
                  <a:schemeClr val="bg1"/>
                </a:solidFill>
                <a:latin typeface="+mj-ea"/>
                <a:ea typeface="+mj-ea"/>
                <a:cs typeface="+mj-ea"/>
                <a:sym typeface="+mn-ea"/>
              </a:rPr>
              <a:t>E.W.Dijkstra(艾兹格·W·迪科斯彻)</a:t>
            </a:r>
            <a:r>
              <a:rPr lang="zh-CN" altLang="en-US" sz="1400" b="1" dirty="0">
                <a:solidFill>
                  <a:schemeClr val="bg1"/>
                </a:solidFill>
                <a:latin typeface="+mj-ea"/>
                <a:ea typeface="+mj-ea"/>
                <a:cs typeface="+mj-ea"/>
                <a:sym typeface="+mn-ea"/>
              </a:rPr>
              <a:t>提出。</a:t>
            </a:r>
            <a:r>
              <a:rPr lang="en-US" altLang="zh-CN" sz="1400" b="1" dirty="0">
                <a:solidFill>
                  <a:schemeClr val="bg1"/>
                </a:solidFill>
                <a:latin typeface="+mj-ea"/>
                <a:ea typeface="+mj-ea"/>
                <a:cs typeface="+mj-ea"/>
                <a:sym typeface="+mn-ea"/>
              </a:rPr>
              <a:t> </a:t>
            </a:r>
            <a:r>
              <a:rPr lang="zh-CN" altLang="en-US" sz="1400" b="1" dirty="0">
                <a:solidFill>
                  <a:schemeClr val="bg1"/>
                </a:solidFill>
                <a:latin typeface="+mj-ea"/>
                <a:ea typeface="+mj-ea"/>
                <a:cs typeface="+mj-ea"/>
                <a:sym typeface="+mn-ea"/>
              </a:rPr>
              <a:t>他是计算机先驱之一，开发了程序设计的框架结构。</a:t>
            </a:r>
            <a:endParaRPr lang="zh-CN" altLang="en-US" sz="1400" b="1" dirty="0">
              <a:solidFill>
                <a:schemeClr val="bg1"/>
              </a:solidFill>
              <a:latin typeface="+mj-ea"/>
              <a:ea typeface="+mj-ea"/>
              <a:cs typeface="+mj-ea"/>
              <a:sym typeface="+mn-ea"/>
            </a:endParaRPr>
          </a:p>
        </p:txBody>
      </p:sp>
      <p:pic>
        <p:nvPicPr>
          <p:cNvPr id="2" name="图片 1"/>
          <p:cNvPicPr>
            <a:picLocks noChangeAspect="1"/>
          </p:cNvPicPr>
          <p:nvPr/>
        </p:nvPicPr>
        <p:blipFill>
          <a:blip r:embed="rId2"/>
          <a:stretch>
            <a:fillRect/>
          </a:stretch>
        </p:blipFill>
        <p:spPr>
          <a:xfrm>
            <a:off x="1217295" y="2209165"/>
            <a:ext cx="2641600" cy="2844165"/>
          </a:xfrm>
          <a:prstGeom prst="rect">
            <a:avLst/>
          </a:prstGeom>
        </p:spPr>
      </p:pic>
      <p:sp>
        <p:nvSpPr>
          <p:cNvPr id="4" name="文本框 3"/>
          <p:cNvSpPr txBox="1"/>
          <p:nvPr/>
        </p:nvSpPr>
        <p:spPr>
          <a:xfrm>
            <a:off x="158750" y="5424170"/>
            <a:ext cx="4556125" cy="117729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p>
            <a:pPr marL="171450" indent="-171450">
              <a:lnSpc>
                <a:spcPct val="160000"/>
              </a:lnSpc>
              <a:buFont typeface="Arial" panose="020B0604020202020204" pitchFamily="34" charset="0"/>
              <a:buChar char="•"/>
              <a:defRPr/>
            </a:pPr>
            <a:r>
              <a:rPr lang="en-US" altLang="zh-CN" sz="1200" b="1" dirty="0">
                <a:solidFill>
                  <a:schemeClr val="bg1"/>
                </a:solidFill>
                <a:latin typeface="+mj-ea"/>
                <a:ea typeface="+mj-ea"/>
                <a:cs typeface="+mj-ea"/>
                <a:sym typeface="+mn-ea"/>
              </a:rPr>
              <a:t>1965</a:t>
            </a:r>
            <a:r>
              <a:rPr lang="zh-CN" altLang="en-US" sz="1200" b="1" dirty="0">
                <a:solidFill>
                  <a:schemeClr val="bg1"/>
                </a:solidFill>
                <a:latin typeface="+mj-ea"/>
                <a:ea typeface="+mj-ea"/>
                <a:cs typeface="+mj-ea"/>
                <a:sym typeface="+mn-ea"/>
              </a:rPr>
              <a:t>年，</a:t>
            </a:r>
            <a:r>
              <a:rPr lang="en-US" altLang="zh-CN" sz="1200" b="1" dirty="0" err="1">
                <a:solidFill>
                  <a:schemeClr val="bg1"/>
                </a:solidFill>
                <a:latin typeface="+mj-ea"/>
                <a:ea typeface="+mj-ea"/>
                <a:cs typeface="+mj-ea"/>
                <a:sym typeface="+mn-ea"/>
              </a:rPr>
              <a:t>E.W.Dijkstra</a:t>
            </a:r>
            <a:r>
              <a:rPr lang="zh-CN" altLang="en-US" sz="1200" b="1" dirty="0" err="1">
                <a:solidFill>
                  <a:schemeClr val="bg1"/>
                </a:solidFill>
                <a:latin typeface="+mj-ea"/>
                <a:ea typeface="+mj-ea"/>
                <a:cs typeface="+mj-ea"/>
                <a:sym typeface="+mn-ea"/>
              </a:rPr>
              <a:t>提出</a:t>
            </a:r>
            <a:r>
              <a:rPr lang="zh-CN" altLang="en-US" sz="1200" b="1" dirty="0">
                <a:solidFill>
                  <a:srgbClr val="FFFF00"/>
                </a:solidFill>
                <a:latin typeface="+mj-ea"/>
                <a:ea typeface="+mj-ea"/>
                <a:cs typeface="+mj-ea"/>
                <a:sym typeface="+mn-ea"/>
              </a:rPr>
              <a:t>程序的质量与程序中所包含的</a:t>
            </a:r>
            <a:r>
              <a:rPr lang="en-US" altLang="zh-CN" sz="1200" b="1" dirty="0">
                <a:solidFill>
                  <a:srgbClr val="FFFF00"/>
                </a:solidFill>
                <a:latin typeface="+mj-ea"/>
                <a:ea typeface="+mj-ea"/>
                <a:cs typeface="+mj-ea"/>
                <a:sym typeface="+mn-ea"/>
              </a:rPr>
              <a:t>GO TO </a:t>
            </a:r>
            <a:r>
              <a:rPr lang="zh-CN" altLang="en-US" sz="1200" b="1" dirty="0">
                <a:solidFill>
                  <a:srgbClr val="FFFF00"/>
                </a:solidFill>
                <a:latin typeface="+mj-ea"/>
                <a:ea typeface="+mj-ea"/>
                <a:cs typeface="+mj-ea"/>
                <a:sym typeface="+mn-ea"/>
              </a:rPr>
              <a:t>语句的数量成</a:t>
            </a:r>
            <a:r>
              <a:rPr lang="zh-CN" altLang="en-US" sz="1200" b="1" dirty="0" smtClean="0">
                <a:solidFill>
                  <a:srgbClr val="FFFF00"/>
                </a:solidFill>
                <a:latin typeface="+mj-ea"/>
                <a:ea typeface="+mj-ea"/>
                <a:cs typeface="+mj-ea"/>
                <a:sym typeface="+mn-ea"/>
              </a:rPr>
              <a:t>反比</a:t>
            </a:r>
            <a:endParaRPr lang="zh-CN" altLang="en-US" sz="1200" b="1" dirty="0" smtClean="0">
              <a:solidFill>
                <a:srgbClr val="FFFF00"/>
              </a:solidFill>
              <a:latin typeface="+mj-ea"/>
              <a:ea typeface="+mj-ea"/>
              <a:cs typeface="+mj-ea"/>
              <a:sym typeface="+mn-ea"/>
            </a:endParaRPr>
          </a:p>
          <a:p>
            <a:pPr marL="171450" indent="-171450" algn="l">
              <a:lnSpc>
                <a:spcPct val="160000"/>
              </a:lnSpc>
              <a:buClrTx/>
              <a:buSzTx/>
              <a:buFont typeface="Arial" panose="020B0604020202020204" pitchFamily="34" charset="0"/>
              <a:buChar char="•"/>
              <a:defRPr/>
            </a:pPr>
            <a:r>
              <a:rPr lang="zh-CN" altLang="en-US" sz="1200" b="1" dirty="0">
                <a:solidFill>
                  <a:schemeClr val="bg1"/>
                </a:solidFill>
                <a:latin typeface="+mj-ea"/>
                <a:ea typeface="+mj-ea"/>
                <a:cs typeface="+mj-ea"/>
                <a:sym typeface="+mn-ea"/>
              </a:rPr>
              <a:t>1966年Bohm和Jacopini证明了只用“</a:t>
            </a:r>
            <a:r>
              <a:rPr lang="zh-CN" altLang="en-US" sz="1200" b="1" dirty="0">
                <a:solidFill>
                  <a:srgbClr val="00B0F0"/>
                </a:solidFill>
                <a:latin typeface="+mj-ea"/>
                <a:ea typeface="+mj-ea"/>
                <a:cs typeface="+mj-ea"/>
                <a:sym typeface="+mn-ea"/>
              </a:rPr>
              <a:t>顺序</a:t>
            </a:r>
            <a:r>
              <a:rPr lang="zh-CN" altLang="en-US" sz="1200" b="1" dirty="0">
                <a:solidFill>
                  <a:schemeClr val="bg1"/>
                </a:solidFill>
                <a:latin typeface="+mj-ea"/>
                <a:ea typeface="+mj-ea"/>
                <a:cs typeface="+mj-ea"/>
                <a:sym typeface="+mn-ea"/>
              </a:rPr>
              <a:t>”、“</a:t>
            </a:r>
            <a:r>
              <a:rPr lang="zh-CN" altLang="en-US" sz="1200" b="1" dirty="0">
                <a:solidFill>
                  <a:srgbClr val="00B0F0"/>
                </a:solidFill>
                <a:latin typeface="+mj-ea"/>
                <a:ea typeface="+mj-ea"/>
                <a:cs typeface="+mj-ea"/>
                <a:sym typeface="+mn-ea"/>
              </a:rPr>
              <a:t>选择</a:t>
            </a:r>
            <a:r>
              <a:rPr lang="zh-CN" altLang="en-US" sz="1200" b="1" dirty="0">
                <a:solidFill>
                  <a:schemeClr val="bg1"/>
                </a:solidFill>
                <a:latin typeface="+mj-ea"/>
                <a:ea typeface="+mj-ea"/>
                <a:cs typeface="+mj-ea"/>
                <a:sym typeface="+mn-ea"/>
              </a:rPr>
              <a:t>”和“</a:t>
            </a:r>
            <a:r>
              <a:rPr lang="zh-CN" altLang="en-US" sz="1200" b="1" dirty="0">
                <a:solidFill>
                  <a:srgbClr val="00B0F0"/>
                </a:solidFill>
                <a:latin typeface="+mj-ea"/>
                <a:ea typeface="+mj-ea"/>
                <a:cs typeface="+mj-ea"/>
                <a:sym typeface="+mn-ea"/>
              </a:rPr>
              <a:t>循环</a:t>
            </a:r>
            <a:r>
              <a:rPr lang="zh-CN" altLang="en-US" sz="1200" b="1" dirty="0">
                <a:solidFill>
                  <a:schemeClr val="bg1"/>
                </a:solidFill>
                <a:latin typeface="+mj-ea"/>
                <a:ea typeface="+mj-ea"/>
                <a:cs typeface="+mj-ea"/>
                <a:sym typeface="+mn-ea"/>
              </a:rPr>
              <a:t>”控制结构就能实现任何单入口单出口的程序。</a:t>
            </a:r>
            <a:endParaRPr lang="zh-CN" altLang="en-US" sz="1200" b="1" dirty="0">
              <a:solidFill>
                <a:schemeClr val="bg1"/>
              </a:solidFill>
              <a:latin typeface="+mj-ea"/>
              <a:ea typeface="+mj-ea"/>
              <a:cs typeface="+mj-ea"/>
            </a:endParaRPr>
          </a:p>
          <a:p>
            <a:pPr>
              <a:lnSpc>
                <a:spcPct val="160000"/>
              </a:lnSpc>
              <a:defRPr/>
            </a:pPr>
            <a:endParaRPr lang="zh-CN" altLang="en-US" sz="1200" b="1" dirty="0" smtClean="0">
              <a:solidFill>
                <a:schemeClr val="bg1"/>
              </a:solidFill>
              <a:latin typeface="+mj-ea"/>
              <a:ea typeface="+mj-ea"/>
              <a:cs typeface="+mj-ea"/>
              <a:sym typeface="+mn-ea"/>
            </a:endParaRPr>
          </a:p>
        </p:txBody>
      </p:sp>
      <p:pic>
        <p:nvPicPr>
          <p:cNvPr id="14342" name="图片 2"/>
          <p:cNvPicPr>
            <a:picLocks noChangeAspect="1"/>
          </p:cNvPicPr>
          <p:nvPr/>
        </p:nvPicPr>
        <p:blipFill>
          <a:blip r:embed="rId3" cstate="print"/>
          <a:srcRect/>
          <a:stretch>
            <a:fillRect/>
          </a:stretch>
        </p:blipFill>
        <p:spPr bwMode="auto">
          <a:xfrm>
            <a:off x="4832350" y="0"/>
            <a:ext cx="3643630" cy="3362325"/>
          </a:xfrm>
          <a:prstGeom prst="rect">
            <a:avLst/>
          </a:prstGeom>
          <a:noFill/>
          <a:ln w="9525">
            <a:solidFill>
              <a:srgbClr val="0070C0"/>
            </a:solidFill>
            <a:miter lim="800000"/>
            <a:headEnd/>
            <a:tailEnd/>
          </a:ln>
        </p:spPr>
      </p:pic>
      <p:sp>
        <p:nvSpPr>
          <p:cNvPr id="5" name="文本框 4"/>
          <p:cNvSpPr txBox="1"/>
          <p:nvPr/>
        </p:nvSpPr>
        <p:spPr>
          <a:xfrm>
            <a:off x="8484235" y="0"/>
            <a:ext cx="3707130" cy="1256030"/>
          </a:xfrm>
          <a:prstGeom prst="rect">
            <a:avLst/>
          </a:prstGeom>
          <a:solidFill>
            <a:srgbClr val="00B050"/>
          </a:solidFill>
          <a:ln>
            <a:solidFill>
              <a:schemeClr val="bg1"/>
            </a:solidFill>
          </a:ln>
        </p:spPr>
        <p:txBody>
          <a:bodyPr wrap="square" rtlCol="0" anchor="ctr" anchorCtr="1">
            <a:noAutofit/>
          </a:bodyPr>
          <a:p>
            <a:pPr>
              <a:lnSpc>
                <a:spcPct val="160000"/>
              </a:lnSpc>
            </a:pPr>
            <a:r>
              <a:rPr lang="zh-CN" altLang="en-US" sz="1200" b="1" dirty="0">
                <a:solidFill>
                  <a:schemeClr val="bg1"/>
                </a:solidFill>
                <a:latin typeface="+mn-ea"/>
                <a:cs typeface="+mn-ea"/>
                <a:sym typeface="+mn-ea"/>
              </a:rPr>
              <a:t>实际上用顺序结构和循环</a:t>
            </a:r>
            <a:r>
              <a:rPr lang="zh-CN" altLang="en-US" sz="1200" b="1" dirty="0" smtClean="0">
                <a:solidFill>
                  <a:schemeClr val="bg1"/>
                </a:solidFill>
                <a:latin typeface="+mn-ea"/>
                <a:cs typeface="+mn-ea"/>
                <a:sym typeface="+mn-ea"/>
              </a:rPr>
              <a:t>结构（又称</a:t>
            </a:r>
            <a:r>
              <a:rPr lang="en-US" altLang="zh-CN" sz="1200" b="1" dirty="0" smtClean="0">
                <a:solidFill>
                  <a:schemeClr val="bg1"/>
                </a:solidFill>
                <a:latin typeface="+mn-ea"/>
                <a:cs typeface="+mn-ea"/>
                <a:sym typeface="+mn-ea"/>
              </a:rPr>
              <a:t>DO-WHILE</a:t>
            </a:r>
            <a:r>
              <a:rPr lang="zh-CN" altLang="en-US" sz="1200" b="1" dirty="0" smtClean="0">
                <a:solidFill>
                  <a:schemeClr val="bg1"/>
                </a:solidFill>
                <a:latin typeface="+mn-ea"/>
                <a:cs typeface="+mn-ea"/>
                <a:sym typeface="+mn-ea"/>
              </a:rPr>
              <a:t>结构）完全</a:t>
            </a:r>
            <a:r>
              <a:rPr lang="zh-CN" altLang="en-US" sz="1200" b="1" dirty="0">
                <a:solidFill>
                  <a:schemeClr val="bg1"/>
                </a:solidFill>
                <a:latin typeface="+mn-ea"/>
                <a:cs typeface="+mn-ea"/>
                <a:sym typeface="+mn-ea"/>
              </a:rPr>
              <a:t>可以实现选择</a:t>
            </a:r>
            <a:r>
              <a:rPr lang="zh-CN" altLang="en-US" sz="1200" b="1" dirty="0" smtClean="0">
                <a:solidFill>
                  <a:schemeClr val="bg1"/>
                </a:solidFill>
                <a:latin typeface="+mn-ea"/>
                <a:cs typeface="+mn-ea"/>
                <a:sym typeface="+mn-ea"/>
              </a:rPr>
              <a:t>结构（又称</a:t>
            </a:r>
            <a:r>
              <a:rPr lang="en-US" altLang="zh-CN" sz="1200" b="1" dirty="0" smtClean="0">
                <a:solidFill>
                  <a:schemeClr val="bg1"/>
                </a:solidFill>
                <a:latin typeface="+mn-ea"/>
                <a:cs typeface="+mn-ea"/>
                <a:sym typeface="+mn-ea"/>
              </a:rPr>
              <a:t>IF-THEN-ELSE</a:t>
            </a:r>
            <a:r>
              <a:rPr lang="zh-CN" altLang="en-US" sz="1200" b="1" dirty="0" smtClean="0">
                <a:solidFill>
                  <a:schemeClr val="bg1"/>
                </a:solidFill>
                <a:latin typeface="+mn-ea"/>
                <a:cs typeface="+mn-ea"/>
                <a:sym typeface="+mn-ea"/>
              </a:rPr>
              <a:t>结构），</a:t>
            </a:r>
            <a:r>
              <a:rPr lang="zh-CN" altLang="en-US" sz="1200" b="1" dirty="0">
                <a:solidFill>
                  <a:schemeClr val="bg1"/>
                </a:solidFill>
                <a:latin typeface="+mn-ea"/>
                <a:cs typeface="+mn-ea"/>
                <a:sym typeface="+mn-ea"/>
              </a:rPr>
              <a:t>因此，理论上最基本的控制结构只有两种</a:t>
            </a:r>
            <a:r>
              <a:rPr lang="zh-CN" altLang="en-US" sz="1200" b="1" dirty="0" smtClean="0">
                <a:solidFill>
                  <a:schemeClr val="bg1"/>
                </a:solidFill>
                <a:latin typeface="+mn-ea"/>
                <a:cs typeface="+mn-ea"/>
                <a:sym typeface="+mn-ea"/>
              </a:rPr>
              <a:t>。</a:t>
            </a:r>
            <a:endParaRPr lang="en-US" altLang="zh-CN" sz="1200" b="1" dirty="0" smtClean="0">
              <a:solidFill>
                <a:schemeClr val="bg1"/>
              </a:solidFill>
              <a:latin typeface="+mn-ea"/>
              <a:cs typeface="+mn-ea"/>
            </a:endParaRPr>
          </a:p>
          <a:p>
            <a:endParaRPr lang="en-US" altLang="zh-CN" sz="1200" b="1" dirty="0" smtClean="0">
              <a:solidFill>
                <a:schemeClr val="bg1"/>
              </a:solidFill>
              <a:latin typeface="+mn-ea"/>
              <a:cs typeface="+mn-ea"/>
            </a:endParaRPr>
          </a:p>
        </p:txBody>
      </p:sp>
      <p:sp>
        <p:nvSpPr>
          <p:cNvPr id="7" name="文本框 6"/>
          <p:cNvSpPr txBox="1"/>
          <p:nvPr/>
        </p:nvSpPr>
        <p:spPr>
          <a:xfrm>
            <a:off x="4832350" y="3361690"/>
            <a:ext cx="3646170" cy="3496945"/>
          </a:xfrm>
          <a:prstGeom prst="rect">
            <a:avLst/>
          </a:prstGeom>
          <a:solidFill>
            <a:schemeClr val="accent1">
              <a:lumMod val="40000"/>
              <a:lumOff val="60000"/>
            </a:schemeClr>
          </a:solidFill>
          <a:ln>
            <a:solidFill>
              <a:srgbClr val="00B0F0"/>
            </a:solidFill>
          </a:ln>
        </p:spPr>
        <p:txBody>
          <a:bodyPr wrap="square" rtlCol="0">
            <a:noAutofit/>
          </a:bodyPr>
          <a:p>
            <a:pPr marL="171450" indent="-171450" algn="l">
              <a:lnSpc>
                <a:spcPct val="185000"/>
              </a:lnSpc>
              <a:spcBef>
                <a:spcPts val="0"/>
              </a:spcBef>
              <a:buClrTx/>
              <a:buSzTx/>
              <a:buFont typeface="Arial" panose="020B0604020202020204" pitchFamily="34" charset="0"/>
              <a:buChar char="•"/>
              <a:defRPr/>
            </a:pPr>
            <a:r>
              <a:rPr lang="zh-CN" altLang="en-US" sz="1200" b="1" dirty="0" smtClean="0">
                <a:latin typeface="+mj-ea"/>
                <a:ea typeface="+mj-ea"/>
                <a:cs typeface="+mj-ea"/>
                <a:sym typeface="+mn-ea"/>
              </a:rPr>
              <a:t>1968年Dijkstra再次建议从一切高级语言中</a:t>
            </a:r>
            <a:r>
              <a:rPr lang="zh-CN" altLang="en-US" sz="1200" b="1" dirty="0" smtClean="0">
                <a:solidFill>
                  <a:srgbClr val="FF0000"/>
                </a:solidFill>
                <a:latin typeface="+mj-ea"/>
                <a:ea typeface="+mj-ea"/>
                <a:cs typeface="+mj-ea"/>
                <a:sym typeface="+mn-ea"/>
              </a:rPr>
              <a:t>取消GO TO</a:t>
            </a:r>
            <a:r>
              <a:rPr lang="zh-CN" altLang="en-US" sz="1200" b="1" dirty="0" smtClean="0">
                <a:latin typeface="+mj-ea"/>
                <a:ea typeface="+mj-ea"/>
                <a:cs typeface="+mj-ea"/>
                <a:sym typeface="+mn-ea"/>
              </a:rPr>
              <a:t>语句，只使用3种基本控制结构写程序。学界认识到不是简单地去掉GO TO 语句的问题，而是要创立一种新的程序设计思想、方法和风格。</a:t>
            </a:r>
            <a:endParaRPr lang="zh-CN" altLang="en-US" sz="1200" b="1" dirty="0" smtClean="0">
              <a:latin typeface="+mj-ea"/>
              <a:ea typeface="+mj-ea"/>
              <a:cs typeface="+mj-ea"/>
            </a:endParaRPr>
          </a:p>
          <a:p>
            <a:pPr marL="171450" indent="-171450">
              <a:lnSpc>
                <a:spcPct val="185000"/>
              </a:lnSpc>
              <a:spcBef>
                <a:spcPts val="0"/>
              </a:spcBef>
              <a:buFont typeface="Arial" panose="020B0604020202020204" pitchFamily="34" charset="0"/>
              <a:buChar char="•"/>
              <a:defRPr/>
            </a:pPr>
            <a:r>
              <a:rPr lang="en-US" altLang="zh-CN" sz="1200" b="1" dirty="0" smtClean="0">
                <a:latin typeface="+mj-ea"/>
                <a:ea typeface="+mj-ea"/>
                <a:cs typeface="+mj-ea"/>
                <a:sym typeface="+mn-ea"/>
              </a:rPr>
              <a:t>1971</a:t>
            </a:r>
            <a:r>
              <a:rPr lang="zh-CN" altLang="en-US" sz="1200" b="1" dirty="0" smtClean="0">
                <a:latin typeface="+mj-ea"/>
                <a:ea typeface="+mj-ea"/>
                <a:cs typeface="+mj-ea"/>
                <a:sym typeface="+mn-ea"/>
              </a:rPr>
              <a:t>年</a:t>
            </a:r>
            <a:r>
              <a:rPr lang="en-US" altLang="zh-CN" sz="1200" b="1" dirty="0">
                <a:latin typeface="+mj-ea"/>
                <a:ea typeface="+mj-ea"/>
                <a:cs typeface="+mj-ea"/>
                <a:sym typeface="+mn-ea"/>
              </a:rPr>
              <a:t>IBM</a:t>
            </a:r>
            <a:r>
              <a:rPr lang="zh-CN" altLang="en-US" sz="1200" b="1" dirty="0">
                <a:latin typeface="+mj-ea"/>
                <a:ea typeface="+mj-ea"/>
                <a:cs typeface="+mj-ea"/>
                <a:sym typeface="+mn-ea"/>
              </a:rPr>
              <a:t>公司在纽约时报信息库管理系统的设计中成功地使用了结构</a:t>
            </a:r>
            <a:r>
              <a:rPr lang="zh-CN" altLang="en-US" sz="1200" b="1" dirty="0" smtClean="0">
                <a:latin typeface="+mj-ea"/>
                <a:ea typeface="+mj-ea"/>
                <a:cs typeface="+mj-ea"/>
                <a:sym typeface="+mn-ea"/>
              </a:rPr>
              <a:t>程序设计技术；</a:t>
            </a:r>
            <a:endParaRPr lang="en-US" altLang="zh-CN" sz="1200" b="1" dirty="0" smtClean="0">
              <a:latin typeface="+mj-ea"/>
              <a:ea typeface="+mj-ea"/>
              <a:cs typeface="+mj-ea"/>
            </a:endParaRPr>
          </a:p>
          <a:p>
            <a:pPr marL="171450" indent="-171450">
              <a:lnSpc>
                <a:spcPct val="185000"/>
              </a:lnSpc>
              <a:spcBef>
                <a:spcPts val="0"/>
              </a:spcBef>
              <a:buFont typeface="Arial" panose="020B0604020202020204" pitchFamily="34" charset="0"/>
              <a:buChar char="•"/>
              <a:defRPr/>
            </a:pPr>
            <a:r>
              <a:rPr lang="en-US" altLang="zh-CN" sz="1200" b="1" dirty="0" smtClean="0">
                <a:latin typeface="+mj-ea"/>
                <a:ea typeface="+mj-ea"/>
                <a:cs typeface="+mj-ea"/>
                <a:sym typeface="+mn-ea"/>
              </a:rPr>
              <a:t>1972</a:t>
            </a:r>
            <a:r>
              <a:rPr lang="zh-CN" altLang="en-US" sz="1200" b="1" dirty="0" smtClean="0">
                <a:latin typeface="+mj-ea"/>
                <a:ea typeface="+mj-ea"/>
                <a:cs typeface="+mj-ea"/>
                <a:sym typeface="+mn-ea"/>
              </a:rPr>
              <a:t>年</a:t>
            </a:r>
            <a:r>
              <a:rPr lang="en-US" altLang="zh-CN" sz="1200" b="1" dirty="0">
                <a:latin typeface="+mj-ea"/>
                <a:ea typeface="+mj-ea"/>
                <a:cs typeface="+mj-ea"/>
                <a:sym typeface="+mn-ea"/>
              </a:rPr>
              <a:t>IBM</a:t>
            </a:r>
            <a:r>
              <a:rPr lang="zh-CN" altLang="en-US" sz="1200" b="1" dirty="0">
                <a:latin typeface="+mj-ea"/>
                <a:ea typeface="+mj-ea"/>
                <a:cs typeface="+mj-ea"/>
                <a:sym typeface="+mn-ea"/>
              </a:rPr>
              <a:t>公司的</a:t>
            </a:r>
            <a:r>
              <a:rPr lang="en-US" altLang="zh-CN" sz="1200" b="1" dirty="0">
                <a:latin typeface="+mj-ea"/>
                <a:ea typeface="+mj-ea"/>
                <a:cs typeface="+mj-ea"/>
                <a:sym typeface="+mn-ea"/>
              </a:rPr>
              <a:t>Mills</a:t>
            </a:r>
            <a:r>
              <a:rPr lang="zh-CN" altLang="en-US" sz="1200" b="1" dirty="0">
                <a:latin typeface="+mj-ea"/>
                <a:ea typeface="+mj-ea"/>
                <a:cs typeface="+mj-ea"/>
                <a:sym typeface="+mn-ea"/>
              </a:rPr>
              <a:t>进一步提出，程序应该</a:t>
            </a:r>
            <a:r>
              <a:rPr lang="zh-CN" altLang="en-US" sz="1200" b="1" dirty="0">
                <a:solidFill>
                  <a:srgbClr val="FF0000"/>
                </a:solidFill>
                <a:latin typeface="+mj-ea"/>
                <a:ea typeface="+mj-ea"/>
                <a:cs typeface="+mj-ea"/>
                <a:sym typeface="+mn-ea"/>
              </a:rPr>
              <a:t>只有一个入口和一个出口</a:t>
            </a:r>
            <a:r>
              <a:rPr lang="zh-CN" altLang="en-US" sz="1200" b="1" dirty="0" smtClean="0">
                <a:latin typeface="+mj-ea"/>
                <a:ea typeface="+mj-ea"/>
                <a:cs typeface="+mj-ea"/>
                <a:sym typeface="+mn-ea"/>
              </a:rPr>
              <a:t>，补充</a:t>
            </a:r>
            <a:r>
              <a:rPr lang="zh-CN" altLang="en-US" sz="1200" b="1" dirty="0">
                <a:latin typeface="+mj-ea"/>
                <a:ea typeface="+mj-ea"/>
                <a:cs typeface="+mj-ea"/>
                <a:sym typeface="+mn-ea"/>
              </a:rPr>
              <a:t>了结构程序设计的规则。</a:t>
            </a:r>
            <a:endParaRPr lang="zh-CN" altLang="en-US" sz="1200" b="1" dirty="0">
              <a:latin typeface="+mj-ea"/>
              <a:ea typeface="+mj-ea"/>
              <a:cs typeface="+mj-ea"/>
            </a:endParaRPr>
          </a:p>
          <a:p>
            <a:endParaRPr lang="zh-CN" altLang="en-US" sz="1200" b="1">
              <a:latin typeface="+mj-ea"/>
              <a:ea typeface="+mj-ea"/>
              <a:cs typeface="+mj-ea"/>
            </a:endParaRPr>
          </a:p>
        </p:txBody>
      </p:sp>
      <p:sp>
        <p:nvSpPr>
          <p:cNvPr id="8" name="文本框 7"/>
          <p:cNvSpPr txBox="1"/>
          <p:nvPr/>
        </p:nvSpPr>
        <p:spPr>
          <a:xfrm>
            <a:off x="8475980" y="1256030"/>
            <a:ext cx="3716655" cy="5601970"/>
          </a:xfrm>
          <a:prstGeom prst="rect">
            <a:avLst/>
          </a:prstGeom>
          <a:solidFill>
            <a:schemeClr val="accent2"/>
          </a:solidFill>
          <a:ln>
            <a:solidFill>
              <a:schemeClr val="bg2"/>
            </a:solidFill>
          </a:ln>
        </p:spPr>
        <p:txBody>
          <a:bodyPr wrap="square" rtlCol="0">
            <a:noAutofit/>
          </a:bodyPr>
          <a:p>
            <a:pPr algn="ctr">
              <a:lnSpc>
                <a:spcPct val="160000"/>
              </a:lnSpc>
            </a:pPr>
            <a:r>
              <a:rPr lang="zh-CN" altLang="en-US" sz="1400" b="1">
                <a:solidFill>
                  <a:srgbClr val="FFFF00"/>
                </a:solidFill>
                <a:latin typeface="+mj-ea"/>
                <a:ea typeface="+mj-ea"/>
                <a:cs typeface="+mj-ea"/>
              </a:rPr>
              <a:t>什么是结构程序设计？</a:t>
            </a:r>
            <a:endParaRPr lang="zh-CN" altLang="en-US" sz="1400" b="1">
              <a:latin typeface="+mj-ea"/>
              <a:ea typeface="+mj-ea"/>
              <a:cs typeface="+mj-ea"/>
            </a:endParaRPr>
          </a:p>
          <a:p>
            <a:pPr>
              <a:lnSpc>
                <a:spcPct val="160000"/>
              </a:lnSpc>
            </a:pPr>
            <a:endParaRPr lang="zh-CN" altLang="en-US" sz="1400" b="1" dirty="0" smtClean="0">
              <a:latin typeface="+mj-ea"/>
              <a:ea typeface="+mj-ea"/>
              <a:cs typeface="+mj-ea"/>
              <a:sym typeface="+mn-ea"/>
            </a:endParaRPr>
          </a:p>
          <a:p>
            <a:pPr>
              <a:lnSpc>
                <a:spcPct val="160000"/>
              </a:lnSpc>
            </a:pPr>
            <a:r>
              <a:rPr lang="zh-CN" altLang="en-US" sz="1200" b="1" dirty="0" smtClean="0">
                <a:solidFill>
                  <a:schemeClr val="bg2"/>
                </a:solidFill>
                <a:latin typeface="+mj-ea"/>
                <a:ea typeface="+mj-ea"/>
                <a:cs typeface="+mj-ea"/>
                <a:sym typeface="+mn-ea"/>
              </a:rPr>
              <a:t>结构程序设计</a:t>
            </a:r>
            <a:r>
              <a:rPr lang="zh-CN" altLang="en-US" sz="1200" b="1" dirty="0" smtClean="0">
                <a:solidFill>
                  <a:srgbClr val="FF0000"/>
                </a:solidFill>
                <a:highlight>
                  <a:srgbClr val="FFFF00"/>
                </a:highlight>
                <a:latin typeface="+mj-ea"/>
                <a:ea typeface="+mj-ea"/>
                <a:cs typeface="+mj-ea"/>
                <a:sym typeface="+mn-ea"/>
              </a:rPr>
              <a:t>经典定义</a:t>
            </a:r>
            <a:r>
              <a:rPr lang="zh-CN" altLang="en-US" sz="1200" b="1" dirty="0" smtClean="0">
                <a:solidFill>
                  <a:schemeClr val="bg2"/>
                </a:solidFill>
                <a:latin typeface="+mj-ea"/>
                <a:ea typeface="+mj-ea"/>
                <a:cs typeface="+mj-ea"/>
                <a:sym typeface="+mn-ea"/>
              </a:rPr>
              <a:t>：如果一个程序的代码块仅仅通过</a:t>
            </a:r>
            <a:r>
              <a:rPr lang="zh-CN" altLang="en-US" sz="1200" b="1" dirty="0" smtClean="0">
                <a:solidFill>
                  <a:srgbClr val="98F5F2"/>
                </a:solidFill>
                <a:latin typeface="+mj-ea"/>
                <a:ea typeface="+mj-ea"/>
                <a:cs typeface="+mj-ea"/>
                <a:sym typeface="+mn-ea"/>
              </a:rPr>
              <a:t>顺序、选择和循环</a:t>
            </a:r>
            <a:r>
              <a:rPr lang="zh-CN" altLang="en-US" sz="1200" b="1" dirty="0" smtClean="0">
                <a:solidFill>
                  <a:schemeClr val="bg2"/>
                </a:solidFill>
                <a:latin typeface="+mj-ea"/>
                <a:ea typeface="+mj-ea"/>
                <a:cs typeface="+mj-ea"/>
                <a:sym typeface="+mn-ea"/>
              </a:rPr>
              <a:t>这</a:t>
            </a:r>
            <a:r>
              <a:rPr lang="en-US" altLang="zh-CN" sz="1200" b="1" dirty="0" smtClean="0">
                <a:solidFill>
                  <a:schemeClr val="bg2"/>
                </a:solidFill>
                <a:latin typeface="+mj-ea"/>
                <a:ea typeface="+mj-ea"/>
                <a:cs typeface="+mj-ea"/>
                <a:sym typeface="+mn-ea"/>
              </a:rPr>
              <a:t>3</a:t>
            </a:r>
            <a:r>
              <a:rPr lang="zh-CN" altLang="en-US" sz="1200" b="1" dirty="0" smtClean="0">
                <a:solidFill>
                  <a:schemeClr val="bg2"/>
                </a:solidFill>
                <a:latin typeface="+mj-ea"/>
                <a:ea typeface="+mj-ea"/>
                <a:cs typeface="+mj-ea"/>
                <a:sym typeface="+mn-ea"/>
              </a:rPr>
              <a:t>种基本控制结构进行连接，并且每个代码块只有</a:t>
            </a:r>
            <a:r>
              <a:rPr lang="zh-CN" altLang="en-US" sz="1200" b="1" dirty="0" smtClean="0">
                <a:solidFill>
                  <a:srgbClr val="98F5F2"/>
                </a:solidFill>
                <a:latin typeface="+mj-ea"/>
                <a:ea typeface="+mj-ea"/>
                <a:cs typeface="+mj-ea"/>
                <a:sym typeface="+mn-ea"/>
              </a:rPr>
              <a:t>一个入口</a:t>
            </a:r>
            <a:r>
              <a:rPr lang="zh-CN" altLang="en-US" sz="1200" b="1" dirty="0" smtClean="0">
                <a:solidFill>
                  <a:schemeClr val="bg2"/>
                </a:solidFill>
                <a:latin typeface="+mj-ea"/>
                <a:ea typeface="+mj-ea"/>
                <a:cs typeface="+mj-ea"/>
                <a:sym typeface="+mn-ea"/>
              </a:rPr>
              <a:t>和</a:t>
            </a:r>
            <a:r>
              <a:rPr lang="zh-CN" altLang="en-US" sz="1200" b="1" dirty="0" smtClean="0">
                <a:solidFill>
                  <a:srgbClr val="98F5F2"/>
                </a:solidFill>
                <a:latin typeface="+mj-ea"/>
                <a:ea typeface="+mj-ea"/>
                <a:cs typeface="+mj-ea"/>
                <a:sym typeface="+mn-ea"/>
              </a:rPr>
              <a:t>一个出口</a:t>
            </a:r>
            <a:r>
              <a:rPr lang="zh-CN" altLang="en-US" sz="1200" b="1" dirty="0" smtClean="0">
                <a:solidFill>
                  <a:schemeClr val="bg2"/>
                </a:solidFill>
                <a:latin typeface="+mj-ea"/>
                <a:ea typeface="+mj-ea"/>
                <a:cs typeface="+mj-ea"/>
                <a:sym typeface="+mn-ea"/>
              </a:rPr>
              <a:t>，则称这个程序是结构化的。</a:t>
            </a:r>
            <a:endParaRPr lang="zh-CN" altLang="en-US" sz="1200" b="1" dirty="0" smtClean="0">
              <a:solidFill>
                <a:schemeClr val="bg2"/>
              </a:solidFill>
              <a:latin typeface="+mj-ea"/>
              <a:ea typeface="+mj-ea"/>
              <a:cs typeface="+mj-ea"/>
              <a:sym typeface="+mn-ea"/>
            </a:endParaRPr>
          </a:p>
          <a:p>
            <a:pPr>
              <a:lnSpc>
                <a:spcPct val="160000"/>
              </a:lnSpc>
            </a:pPr>
            <a:endParaRPr lang="zh-CN" altLang="en-US" sz="1200" b="1" dirty="0" smtClean="0">
              <a:solidFill>
                <a:schemeClr val="bg2"/>
              </a:solidFill>
              <a:latin typeface="+mj-ea"/>
              <a:ea typeface="+mj-ea"/>
              <a:cs typeface="+mj-ea"/>
              <a:sym typeface="+mn-ea"/>
            </a:endParaRPr>
          </a:p>
          <a:p>
            <a:pPr>
              <a:lnSpc>
                <a:spcPct val="160000"/>
              </a:lnSpc>
            </a:pPr>
            <a:r>
              <a:rPr lang="zh-CN" altLang="en-US" sz="1200" b="1" dirty="0" smtClean="0">
                <a:solidFill>
                  <a:schemeClr val="bg2"/>
                </a:solidFill>
                <a:latin typeface="+mj-ea"/>
                <a:ea typeface="+mj-ea"/>
                <a:cs typeface="+mj-ea"/>
                <a:sym typeface="+mn-ea"/>
              </a:rPr>
              <a:t>结构程序设计</a:t>
            </a:r>
            <a:r>
              <a:rPr lang="zh-CN" altLang="en-US" sz="1200" b="1" dirty="0" smtClean="0">
                <a:solidFill>
                  <a:srgbClr val="FF0000"/>
                </a:solidFill>
                <a:highlight>
                  <a:srgbClr val="FFFF00"/>
                </a:highlight>
                <a:latin typeface="+mj-ea"/>
                <a:ea typeface="+mj-ea"/>
                <a:cs typeface="+mj-ea"/>
                <a:sym typeface="+mn-ea"/>
              </a:rPr>
              <a:t>更全面的定义</a:t>
            </a:r>
            <a:r>
              <a:rPr lang="zh-CN" altLang="en-US" sz="1200" b="1" dirty="0" smtClean="0">
                <a:solidFill>
                  <a:schemeClr val="bg2"/>
                </a:solidFill>
                <a:latin typeface="+mj-ea"/>
                <a:ea typeface="+mj-ea"/>
                <a:cs typeface="+mj-ea"/>
                <a:sym typeface="+mn-ea"/>
              </a:rPr>
              <a:t>：结构程序设计是尽可能</a:t>
            </a:r>
            <a:r>
              <a:rPr lang="zh-CN" altLang="en-US" sz="1200" b="1" dirty="0" smtClean="0">
                <a:solidFill>
                  <a:srgbClr val="FFC000"/>
                </a:solidFill>
                <a:latin typeface="+mj-ea"/>
                <a:ea typeface="+mj-ea"/>
                <a:cs typeface="+mj-ea"/>
                <a:sym typeface="+mn-ea"/>
              </a:rPr>
              <a:t>少用</a:t>
            </a:r>
            <a:r>
              <a:rPr lang="en-US" altLang="zh-CN" sz="1200" b="1" dirty="0" smtClean="0">
                <a:solidFill>
                  <a:srgbClr val="FFC000"/>
                </a:solidFill>
                <a:latin typeface="+mj-ea"/>
                <a:ea typeface="+mj-ea"/>
                <a:cs typeface="+mj-ea"/>
                <a:sym typeface="+mn-ea"/>
              </a:rPr>
              <a:t>GO TO</a:t>
            </a:r>
            <a:r>
              <a:rPr lang="zh-CN" altLang="en-US" sz="1200" b="1" dirty="0" smtClean="0">
                <a:solidFill>
                  <a:srgbClr val="FFC000"/>
                </a:solidFill>
                <a:latin typeface="+mj-ea"/>
                <a:ea typeface="+mj-ea"/>
                <a:cs typeface="+mj-ea"/>
                <a:sym typeface="+mn-ea"/>
              </a:rPr>
              <a:t>语句</a:t>
            </a:r>
            <a:r>
              <a:rPr lang="zh-CN" altLang="en-US" sz="1200" b="1" dirty="0" smtClean="0">
                <a:solidFill>
                  <a:schemeClr val="bg2"/>
                </a:solidFill>
                <a:latin typeface="+mj-ea"/>
                <a:ea typeface="+mj-ea"/>
                <a:cs typeface="+mj-ea"/>
                <a:sym typeface="+mn-ea"/>
              </a:rPr>
              <a:t>的程序设计方法。最好仅在检测出错误时才使用</a:t>
            </a:r>
            <a:r>
              <a:rPr lang="en-US" altLang="zh-CN" sz="1200" b="1" dirty="0" smtClean="0">
                <a:solidFill>
                  <a:schemeClr val="bg2"/>
                </a:solidFill>
                <a:latin typeface="+mj-ea"/>
                <a:ea typeface="+mj-ea"/>
                <a:cs typeface="+mj-ea"/>
                <a:sym typeface="+mn-ea"/>
              </a:rPr>
              <a:t>GO TO</a:t>
            </a:r>
            <a:r>
              <a:rPr lang="zh-CN" altLang="en-US" sz="1200" b="1" dirty="0" smtClean="0">
                <a:solidFill>
                  <a:schemeClr val="bg2"/>
                </a:solidFill>
                <a:latin typeface="+mj-ea"/>
                <a:ea typeface="+mj-ea"/>
                <a:cs typeface="+mj-ea"/>
                <a:sym typeface="+mn-ea"/>
              </a:rPr>
              <a:t>语句，而且应该总是使用前向</a:t>
            </a:r>
            <a:r>
              <a:rPr lang="en-US" altLang="zh-CN" sz="1200" b="1" dirty="0" smtClean="0">
                <a:solidFill>
                  <a:schemeClr val="bg2"/>
                </a:solidFill>
                <a:latin typeface="+mj-ea"/>
                <a:ea typeface="+mj-ea"/>
                <a:cs typeface="+mj-ea"/>
                <a:sym typeface="+mn-ea"/>
              </a:rPr>
              <a:t>GO TO</a:t>
            </a:r>
            <a:r>
              <a:rPr lang="zh-CN" altLang="en-US" sz="1200" b="1" dirty="0" smtClean="0">
                <a:solidFill>
                  <a:schemeClr val="bg2"/>
                </a:solidFill>
                <a:latin typeface="+mj-ea"/>
                <a:ea typeface="+mj-ea"/>
                <a:cs typeface="+mj-ea"/>
                <a:sym typeface="+mn-ea"/>
              </a:rPr>
              <a:t>语句。</a:t>
            </a:r>
            <a:endParaRPr lang="zh-CN" altLang="en-US" sz="1200" b="1" dirty="0" smtClean="0">
              <a:solidFill>
                <a:schemeClr val="bg2"/>
              </a:solidFill>
              <a:latin typeface="+mj-ea"/>
              <a:ea typeface="+mj-ea"/>
              <a:cs typeface="+mj-ea"/>
            </a:endParaRPr>
          </a:p>
          <a:p>
            <a:endParaRPr lang="zh-CN" altLang="en-US" sz="1200" b="1" dirty="0" smtClean="0">
              <a:solidFill>
                <a:schemeClr val="bg2"/>
              </a:solidFill>
              <a:latin typeface="+mj-ea"/>
              <a:ea typeface="+mj-ea"/>
              <a:cs typeface="+mj-ea"/>
            </a:endParaRPr>
          </a:p>
        </p:txBody>
      </p:sp>
      <p:pic>
        <p:nvPicPr>
          <p:cNvPr id="9" name="图片 8"/>
          <p:cNvPicPr>
            <a:picLocks noChangeAspect="1"/>
          </p:cNvPicPr>
          <p:nvPr/>
        </p:nvPicPr>
        <p:blipFill>
          <a:blip r:embed="rId4"/>
          <a:stretch>
            <a:fillRect/>
          </a:stretch>
        </p:blipFill>
        <p:spPr>
          <a:xfrm>
            <a:off x="9451975" y="4573270"/>
            <a:ext cx="2120265" cy="2028190"/>
          </a:xfrm>
          <a:prstGeom prst="rect">
            <a:avLst/>
          </a:prstGeom>
        </p:spPr>
      </p:pic>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文本占位符 1"/>
          <p:cNvSpPr>
            <a:spLocks noGrp="1"/>
          </p:cNvSpPr>
          <p:nvPr>
            <p:custDataLst>
              <p:tags r:id="rId1"/>
            </p:custDataLst>
          </p:nvPr>
        </p:nvSpPr>
        <p:spPr>
          <a:xfrm>
            <a:off x="304800" y="299085"/>
            <a:ext cx="5511800" cy="122428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60000"/>
              </a:lnSpc>
              <a:spcBef>
                <a:spcPts val="0"/>
              </a:spcBef>
              <a:buClrTx/>
              <a:buSzTx/>
              <a:buFontTx/>
              <a:buNone/>
              <a:defRPr/>
            </a:pPr>
            <a:r>
              <a:rPr lang="zh-CN" altLang="en-US" sz="1400" b="1" dirty="0">
                <a:solidFill>
                  <a:schemeClr val="tx1"/>
                </a:solidFill>
                <a:latin typeface="+mj-ea"/>
                <a:ea typeface="+mj-ea"/>
                <a:cs typeface="+mj-ea"/>
                <a:sym typeface="+mn-ea"/>
              </a:rPr>
              <a:t>从理论上说只用上述3种基本控制结构就可以实现任何单入口单出口的程序，但是为了实际使用方便起见，常常还允许使用</a:t>
            </a:r>
            <a:r>
              <a:rPr lang="zh-CN" altLang="en-US" sz="1400" b="1" dirty="0">
                <a:solidFill>
                  <a:srgbClr val="FF0000"/>
                </a:solidFill>
                <a:latin typeface="+mj-ea"/>
                <a:ea typeface="+mj-ea"/>
                <a:cs typeface="+mj-ea"/>
                <a:sym typeface="+mn-ea"/>
              </a:rPr>
              <a:t>DO-UNTIL</a:t>
            </a:r>
            <a:r>
              <a:rPr lang="zh-CN" altLang="en-US" sz="1400" b="1" dirty="0">
                <a:solidFill>
                  <a:schemeClr val="tx1"/>
                </a:solidFill>
                <a:latin typeface="+mj-ea"/>
                <a:ea typeface="+mj-ea"/>
                <a:cs typeface="+mj-ea"/>
                <a:sym typeface="+mn-ea"/>
              </a:rPr>
              <a:t>和</a:t>
            </a:r>
            <a:r>
              <a:rPr lang="zh-CN" altLang="en-US" sz="1400" b="1" dirty="0">
                <a:solidFill>
                  <a:srgbClr val="FF0000"/>
                </a:solidFill>
                <a:latin typeface="+mj-ea"/>
                <a:ea typeface="+mj-ea"/>
                <a:cs typeface="+mj-ea"/>
                <a:sym typeface="+mn-ea"/>
              </a:rPr>
              <a:t>DO-CASE</a:t>
            </a:r>
            <a:r>
              <a:rPr lang="zh-CN" altLang="en-US" sz="1400" b="1" dirty="0">
                <a:solidFill>
                  <a:schemeClr val="tx1"/>
                </a:solidFill>
                <a:latin typeface="+mj-ea"/>
                <a:ea typeface="+mj-ea"/>
                <a:cs typeface="+mj-ea"/>
                <a:sym typeface="+mn-ea"/>
              </a:rPr>
              <a:t>两种控制结构。</a:t>
            </a:r>
            <a:endParaRPr lang="zh-CN" altLang="en-US" sz="1400" b="1" dirty="0">
              <a:solidFill>
                <a:schemeClr val="tx1"/>
              </a:solidFill>
              <a:latin typeface="+mj-ea"/>
              <a:ea typeface="+mj-ea"/>
              <a:cs typeface="+mj-ea"/>
            </a:endParaRPr>
          </a:p>
          <a:p>
            <a:pPr marL="0" indent="0">
              <a:lnSpc>
                <a:spcPct val="160000"/>
              </a:lnSpc>
              <a:spcBef>
                <a:spcPts val="0"/>
              </a:spcBef>
              <a:buNone/>
            </a:pPr>
            <a:endParaRPr lang="zh-CN" altLang="en-US" sz="1400" b="1" dirty="0" smtClean="0">
              <a:solidFill>
                <a:schemeClr val="tx1"/>
              </a:solidFill>
              <a:latin typeface="+mj-ea"/>
              <a:ea typeface="+mj-ea"/>
              <a:cs typeface="+mj-ea"/>
              <a:sym typeface="+mn-ea"/>
            </a:endParaRPr>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pic>
        <p:nvPicPr>
          <p:cNvPr id="20484" name="图片 2"/>
          <p:cNvPicPr>
            <a:picLocks noChangeAspect="1"/>
          </p:cNvPicPr>
          <p:nvPr/>
        </p:nvPicPr>
        <p:blipFill>
          <a:blip r:embed="rId2" cstate="print"/>
          <a:srcRect/>
          <a:stretch>
            <a:fillRect/>
          </a:stretch>
        </p:blipFill>
        <p:spPr bwMode="auto">
          <a:xfrm>
            <a:off x="635000" y="1591310"/>
            <a:ext cx="4862195" cy="2298065"/>
          </a:xfrm>
          <a:prstGeom prst="rect">
            <a:avLst/>
          </a:prstGeom>
          <a:noFill/>
          <a:ln w="9525">
            <a:noFill/>
            <a:miter lim="800000"/>
            <a:headEnd/>
            <a:tailEnd/>
          </a:ln>
        </p:spPr>
      </p:pic>
      <p:sp>
        <p:nvSpPr>
          <p:cNvPr id="9" name="文本占位符 1"/>
          <p:cNvSpPr>
            <a:spLocks noGrp="1"/>
          </p:cNvSpPr>
          <p:nvPr>
            <p:custDataLst>
              <p:tags r:id="rId3"/>
            </p:custDataLst>
          </p:nvPr>
        </p:nvSpPr>
        <p:spPr>
          <a:xfrm>
            <a:off x="0" y="4077970"/>
            <a:ext cx="5923280" cy="2760980"/>
          </a:xfrm>
          <a:prstGeom prst="rect">
            <a:avLst/>
          </a:prstGeom>
          <a:solidFill>
            <a:schemeClr val="accent1"/>
          </a:solidFill>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lnSpc>
                <a:spcPct val="190000"/>
              </a:lnSpc>
              <a:spcBef>
                <a:spcPts val="0"/>
              </a:spcBef>
              <a:buClrTx/>
              <a:buSzTx/>
              <a:buFont typeface="Arial" panose="020B0604020202020204" pitchFamily="34" charset="0"/>
              <a:buChar char="•"/>
            </a:pPr>
            <a:r>
              <a:rPr lang="zh-CN" altLang="en-US" sz="1400" b="1" dirty="0">
                <a:solidFill>
                  <a:schemeClr val="bg2"/>
                </a:solidFill>
                <a:latin typeface="Bodoni MT Black" panose="02070A03080606020203" pitchFamily="18" charset="0"/>
                <a:sym typeface="+mn-ea"/>
              </a:rPr>
              <a:t>如果只允许使用</a:t>
            </a:r>
            <a:r>
              <a:rPr lang="zh-CN" altLang="en-US" sz="1400" b="1" dirty="0">
                <a:solidFill>
                  <a:srgbClr val="FFFF00"/>
                </a:solidFill>
                <a:latin typeface="Bodoni MT Black" panose="02070A03080606020203" pitchFamily="18" charset="0"/>
                <a:sym typeface="+mn-ea"/>
              </a:rPr>
              <a:t>顺序</a:t>
            </a:r>
            <a:r>
              <a:rPr lang="zh-CN" altLang="en-US" sz="1400" b="1" dirty="0">
                <a:solidFill>
                  <a:schemeClr val="bg2"/>
                </a:solidFill>
                <a:latin typeface="Bodoni MT Black" panose="02070A03080606020203" pitchFamily="18" charset="0"/>
                <a:sym typeface="+mn-ea"/>
              </a:rPr>
              <a:t>、</a:t>
            </a:r>
            <a:r>
              <a:rPr lang="zh-CN" altLang="en-US" sz="1400" b="1" dirty="0">
                <a:solidFill>
                  <a:srgbClr val="FFFF00"/>
                </a:solidFill>
                <a:latin typeface="Bodoni MT Black" panose="02070A03080606020203" pitchFamily="18" charset="0"/>
                <a:sym typeface="+mn-ea"/>
              </a:rPr>
              <a:t>IF-THEN-ELSE</a:t>
            </a:r>
            <a:r>
              <a:rPr lang="zh-CN" altLang="en-US" sz="1400" b="1" dirty="0">
                <a:solidFill>
                  <a:schemeClr val="bg2"/>
                </a:solidFill>
                <a:latin typeface="Bodoni MT Black" panose="02070A03080606020203" pitchFamily="18" charset="0"/>
                <a:sym typeface="+mn-ea"/>
              </a:rPr>
              <a:t>型分支和</a:t>
            </a:r>
            <a:r>
              <a:rPr lang="zh-CN" altLang="en-US" sz="1400" b="1" dirty="0">
                <a:solidFill>
                  <a:srgbClr val="FFFF00"/>
                </a:solidFill>
                <a:latin typeface="Bodoni MT Black" panose="02070A03080606020203" pitchFamily="18" charset="0"/>
                <a:sym typeface="+mn-ea"/>
              </a:rPr>
              <a:t>DO-WHILE</a:t>
            </a:r>
            <a:r>
              <a:rPr lang="zh-CN" altLang="en-US" sz="1400" b="1" dirty="0">
                <a:solidFill>
                  <a:schemeClr val="bg2"/>
                </a:solidFill>
                <a:latin typeface="Bodoni MT Black" panose="02070A03080606020203" pitchFamily="18" charset="0"/>
                <a:sym typeface="+mn-ea"/>
              </a:rPr>
              <a:t>型循环这3种基本控制结构，则称为</a:t>
            </a:r>
            <a:r>
              <a:rPr lang="zh-CN" altLang="en-US" sz="1400" b="1" dirty="0">
                <a:solidFill>
                  <a:srgbClr val="FF0000"/>
                </a:solidFill>
                <a:latin typeface="Bodoni MT Black" panose="02070A03080606020203" pitchFamily="18" charset="0"/>
                <a:sym typeface="+mn-ea"/>
              </a:rPr>
              <a:t>经典的结构程序设计</a:t>
            </a:r>
            <a:r>
              <a:rPr lang="zh-CN" altLang="en-US" sz="1400" b="1" dirty="0">
                <a:solidFill>
                  <a:schemeClr val="bg2"/>
                </a:solidFill>
                <a:latin typeface="Bodoni MT Black" panose="02070A03080606020203" pitchFamily="18" charset="0"/>
                <a:sym typeface="+mn-ea"/>
              </a:rPr>
              <a:t>；</a:t>
            </a:r>
            <a:endParaRPr lang="zh-CN" altLang="en-US" sz="1400" b="1" dirty="0">
              <a:solidFill>
                <a:schemeClr val="bg2"/>
              </a:solidFill>
              <a:latin typeface="Bodoni MT Black" panose="02070A03080606020203" pitchFamily="18" charset="0"/>
            </a:endParaRPr>
          </a:p>
          <a:p>
            <a:pPr marL="285750" indent="-285750" algn="l">
              <a:lnSpc>
                <a:spcPct val="190000"/>
              </a:lnSpc>
              <a:spcBef>
                <a:spcPts val="0"/>
              </a:spcBef>
              <a:buClrTx/>
              <a:buSzTx/>
              <a:buFont typeface="Arial" panose="020B0604020202020204" pitchFamily="34" charset="0"/>
              <a:buChar char="•"/>
            </a:pPr>
            <a:r>
              <a:rPr lang="zh-CN" altLang="en-US" sz="1400" b="1" dirty="0">
                <a:solidFill>
                  <a:schemeClr val="bg2"/>
                </a:solidFill>
                <a:latin typeface="Bodoni MT Black" panose="02070A03080606020203" pitchFamily="18" charset="0"/>
                <a:sym typeface="+mn-ea"/>
              </a:rPr>
              <a:t>如果除了上述3种基本控制结构之外，还允许使用</a:t>
            </a:r>
            <a:r>
              <a:rPr lang="zh-CN" altLang="en-US" sz="1400" b="1" dirty="0">
                <a:solidFill>
                  <a:srgbClr val="FFFF00"/>
                </a:solidFill>
                <a:latin typeface="Bodoni MT Black" panose="02070A03080606020203" pitchFamily="18" charset="0"/>
                <a:sym typeface="+mn-ea"/>
              </a:rPr>
              <a:t>DO-CASE</a:t>
            </a:r>
            <a:r>
              <a:rPr lang="zh-CN" altLang="en-US" sz="1400" b="1" dirty="0">
                <a:solidFill>
                  <a:schemeClr val="bg2"/>
                </a:solidFill>
                <a:latin typeface="Bodoni MT Black" panose="02070A03080606020203" pitchFamily="18" charset="0"/>
                <a:sym typeface="+mn-ea"/>
              </a:rPr>
              <a:t>型多分支结构和</a:t>
            </a:r>
            <a:r>
              <a:rPr lang="zh-CN" altLang="en-US" sz="1400" b="1" dirty="0">
                <a:solidFill>
                  <a:srgbClr val="FFFF00"/>
                </a:solidFill>
                <a:latin typeface="Bodoni MT Black" panose="02070A03080606020203" pitchFamily="18" charset="0"/>
                <a:sym typeface="+mn-ea"/>
              </a:rPr>
              <a:t>DO-UNTIL</a:t>
            </a:r>
            <a:r>
              <a:rPr lang="zh-CN" altLang="en-US" sz="1400" b="1" dirty="0">
                <a:solidFill>
                  <a:schemeClr val="bg2"/>
                </a:solidFill>
                <a:latin typeface="Bodoni MT Black" panose="02070A03080606020203" pitchFamily="18" charset="0"/>
                <a:sym typeface="+mn-ea"/>
              </a:rPr>
              <a:t>型循环结构，则称为</a:t>
            </a:r>
            <a:r>
              <a:rPr lang="zh-CN" altLang="en-US" sz="1400" b="1" dirty="0">
                <a:solidFill>
                  <a:srgbClr val="FF0000"/>
                </a:solidFill>
                <a:latin typeface="Bodoni MT Black" panose="02070A03080606020203" pitchFamily="18" charset="0"/>
                <a:sym typeface="+mn-ea"/>
              </a:rPr>
              <a:t>扩展的结构程序设计</a:t>
            </a:r>
            <a:r>
              <a:rPr lang="zh-CN" altLang="en-US" sz="1400" b="1" dirty="0">
                <a:solidFill>
                  <a:schemeClr val="bg2"/>
                </a:solidFill>
                <a:latin typeface="Bodoni MT Black" panose="02070A03080606020203" pitchFamily="18" charset="0"/>
                <a:sym typeface="+mn-ea"/>
              </a:rPr>
              <a:t>；</a:t>
            </a:r>
            <a:endParaRPr lang="zh-CN" altLang="en-US" sz="1400" b="1" dirty="0">
              <a:solidFill>
                <a:schemeClr val="bg2"/>
              </a:solidFill>
              <a:latin typeface="Bodoni MT Black" panose="02070A03080606020203" pitchFamily="18" charset="0"/>
            </a:endParaRPr>
          </a:p>
          <a:p>
            <a:pPr marL="285750" indent="-285750" algn="l">
              <a:lnSpc>
                <a:spcPct val="190000"/>
              </a:lnSpc>
              <a:spcBef>
                <a:spcPts val="0"/>
              </a:spcBef>
              <a:buClrTx/>
              <a:buSzTx/>
              <a:buFont typeface="Arial" panose="020B0604020202020204" pitchFamily="34" charset="0"/>
              <a:buChar char="•"/>
            </a:pPr>
            <a:r>
              <a:rPr lang="zh-CN" altLang="en-US" sz="1400" b="1" dirty="0">
                <a:solidFill>
                  <a:schemeClr val="bg2"/>
                </a:solidFill>
                <a:latin typeface="Bodoni MT Black" panose="02070A03080606020203" pitchFamily="18" charset="0"/>
                <a:sym typeface="+mn-ea"/>
              </a:rPr>
              <a:t>如果再允许使用</a:t>
            </a:r>
            <a:r>
              <a:rPr lang="zh-CN" altLang="en-US" sz="1400" b="1" dirty="0">
                <a:solidFill>
                  <a:srgbClr val="FFFF00"/>
                </a:solidFill>
                <a:latin typeface="Bodoni MT Black" panose="02070A03080606020203" pitchFamily="18" charset="0"/>
                <a:sym typeface="+mn-ea"/>
              </a:rPr>
              <a:t>LEAVE（或BREAK ）</a:t>
            </a:r>
            <a:r>
              <a:rPr lang="zh-CN" altLang="en-US" sz="1400" b="1" dirty="0">
                <a:solidFill>
                  <a:schemeClr val="bg2"/>
                </a:solidFill>
                <a:latin typeface="Bodoni MT Black" panose="02070A03080606020203" pitchFamily="18" charset="0"/>
                <a:sym typeface="+mn-ea"/>
              </a:rPr>
              <a:t>结构，则称为</a:t>
            </a:r>
            <a:r>
              <a:rPr lang="zh-CN" altLang="en-US" sz="1400" b="1" dirty="0">
                <a:solidFill>
                  <a:srgbClr val="FF0000"/>
                </a:solidFill>
                <a:latin typeface="Bodoni MT Black" panose="02070A03080606020203" pitchFamily="18" charset="0"/>
                <a:sym typeface="+mn-ea"/>
              </a:rPr>
              <a:t>修正的结构程序设计。</a:t>
            </a:r>
            <a:endParaRPr lang="zh-CN" altLang="en-US" sz="1400" b="1" dirty="0">
              <a:solidFill>
                <a:srgbClr val="FF0000"/>
              </a:solidFill>
              <a:latin typeface="Bodoni MT Black" panose="02070A03080606020203" pitchFamily="18" charset="0"/>
            </a:endParaRPr>
          </a:p>
          <a:p>
            <a:pPr marL="0" indent="0">
              <a:lnSpc>
                <a:spcPct val="160000"/>
              </a:lnSpc>
              <a:spcBef>
                <a:spcPts val="0"/>
              </a:spcBef>
              <a:buNone/>
            </a:pPr>
            <a:endParaRPr lang="zh-CN" altLang="en-US" sz="1400" b="1" dirty="0" smtClean="0">
              <a:solidFill>
                <a:schemeClr val="bg2"/>
              </a:solidFill>
              <a:latin typeface="Bodoni MT Black" panose="02070A03080606020203" pitchFamily="18" charset="0"/>
              <a:sym typeface="+mn-ea"/>
            </a:endParaRPr>
          </a:p>
        </p:txBody>
      </p:sp>
      <p:sp>
        <p:nvSpPr>
          <p:cNvPr id="13" name="文本框 12"/>
          <p:cNvSpPr txBox="1"/>
          <p:nvPr/>
        </p:nvSpPr>
        <p:spPr>
          <a:xfrm>
            <a:off x="5923915" y="0"/>
            <a:ext cx="6268085" cy="2032000"/>
          </a:xfrm>
          <a:prstGeom prst="rect">
            <a:avLst/>
          </a:prstGeom>
          <a:solidFill>
            <a:schemeClr val="accent4"/>
          </a:solidFill>
          <a:ln>
            <a:solidFill>
              <a:schemeClr val="accent1">
                <a:lumMod val="40000"/>
                <a:lumOff val="60000"/>
              </a:schemeClr>
            </a:solidFill>
          </a:ln>
        </p:spPr>
        <p:txBody>
          <a:bodyPr wrap="square" rtlCol="0">
            <a:noAutofit/>
          </a:bodyPr>
          <a:p>
            <a:pPr indent="0" algn="l">
              <a:lnSpc>
                <a:spcPct val="180000"/>
              </a:lnSpc>
              <a:spcBef>
                <a:spcPts val="0"/>
              </a:spcBef>
              <a:spcAft>
                <a:spcPts val="1000"/>
              </a:spcAft>
              <a:buClrTx/>
              <a:buSzTx/>
              <a:buNone/>
            </a:pPr>
            <a:r>
              <a:rPr lang="zh-CN" altLang="en-US" sz="1400" b="1" dirty="0">
                <a:solidFill>
                  <a:schemeClr val="bg2"/>
                </a:solidFill>
                <a:uFillTx/>
                <a:latin typeface="Bodoni MT Black" panose="02070A03080606020203" pitchFamily="18" charset="0"/>
                <a:ea typeface="微软雅黑" panose="020B0503020204020204" charset="-122"/>
              </a:rPr>
              <a:t>“面向结构”的程序设计方法即结构化程序设计方法， 是“面向过程”方法的改进， 结构上将软件系统划分为若干</a:t>
            </a:r>
            <a:r>
              <a:rPr lang="zh-CN" altLang="en-US" sz="1400" b="1" dirty="0">
                <a:solidFill>
                  <a:srgbClr val="FF0000"/>
                </a:solidFill>
                <a:highlight>
                  <a:srgbClr val="FFFF00"/>
                </a:highlight>
                <a:uFillTx/>
                <a:latin typeface="Bodoni MT Black" panose="02070A03080606020203" pitchFamily="18" charset="0"/>
                <a:ea typeface="微软雅黑" panose="020B0503020204020204" charset="-122"/>
              </a:rPr>
              <a:t>功能模块</a:t>
            </a:r>
            <a:r>
              <a:rPr lang="zh-CN" altLang="en-US" sz="1400" b="1" dirty="0">
                <a:solidFill>
                  <a:schemeClr val="bg2"/>
                </a:solidFill>
                <a:uFillTx/>
                <a:latin typeface="Bodoni MT Black" panose="02070A03080606020203" pitchFamily="18" charset="0"/>
                <a:ea typeface="微软雅黑" panose="020B0503020204020204" charset="-122"/>
              </a:rPr>
              <a:t>， 各模块按要求单独编程， 再由各模块连接， 组合构成相应的软件系统。 该方法强调程序的</a:t>
            </a:r>
            <a:r>
              <a:rPr lang="zh-CN" altLang="en-US" sz="1400" b="1" dirty="0">
                <a:solidFill>
                  <a:srgbClr val="FF0000"/>
                </a:solidFill>
                <a:highlight>
                  <a:srgbClr val="FFFF00"/>
                </a:highlight>
                <a:uFillTx/>
                <a:latin typeface="Bodoni MT Black" panose="02070A03080606020203" pitchFamily="18" charset="0"/>
                <a:ea typeface="微软雅黑" panose="020B0503020204020204" charset="-122"/>
              </a:rPr>
              <a:t>结构性</a:t>
            </a:r>
            <a:r>
              <a:rPr lang="zh-CN" altLang="en-US" sz="1400" b="1" dirty="0">
                <a:solidFill>
                  <a:schemeClr val="bg2"/>
                </a:solidFill>
                <a:uFillTx/>
                <a:latin typeface="Bodoni MT Black" panose="02070A03080606020203" pitchFamily="18" charset="0"/>
                <a:ea typeface="微软雅黑" panose="020B0503020204020204" charset="-122"/>
              </a:rPr>
              <a:t>， 所以容易做到易读， 易懂。 该方法思路清晰， 做法规范， 深受设计者青睐。</a:t>
            </a:r>
            <a:endParaRPr lang="zh-CN" altLang="en-US" sz="1400" b="1" dirty="0">
              <a:solidFill>
                <a:schemeClr val="bg2"/>
              </a:solidFill>
              <a:uFillTx/>
              <a:latin typeface="Bodoni MT Black" panose="02070A03080606020203" pitchFamily="18" charset="0"/>
              <a:ea typeface="微软雅黑" panose="020B0503020204020204" charset="-122"/>
            </a:endParaRPr>
          </a:p>
        </p:txBody>
      </p:sp>
      <p:pic>
        <p:nvPicPr>
          <p:cNvPr id="2" name="图片 1" descr="生成解释概念的图片"/>
          <p:cNvPicPr>
            <a:picLocks noChangeAspect="1"/>
          </p:cNvPicPr>
          <p:nvPr>
            <p:custDataLst>
              <p:tags r:id="rId4"/>
            </p:custDataLst>
          </p:nvPr>
        </p:nvPicPr>
        <p:blipFill>
          <a:blip r:embed="rId5"/>
          <a:stretch>
            <a:fillRect/>
          </a:stretch>
        </p:blipFill>
        <p:spPr>
          <a:xfrm>
            <a:off x="6650355" y="2032000"/>
            <a:ext cx="4814570" cy="4814570"/>
          </a:xfrm>
          <a:prstGeom prst="rect">
            <a:avLst/>
          </a:prstGeom>
          <a:solidFill>
            <a:srgbClr val="FFFFFF"/>
          </a:solidFill>
          <a:ln>
            <a:solidFill>
              <a:schemeClr val="accent1"/>
            </a:solidFill>
          </a:ln>
        </p:spPr>
      </p:pic>
    </p:spTree>
    <p:custDataLst>
      <p:tags r:id="rId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531765" y="233190"/>
            <a:ext cx="3960000" cy="882000"/>
          </a:xfrm>
        </p:spPr>
        <p:txBody>
          <a:bodyPr>
            <a:normAutofit/>
          </a:bodyPr>
          <a:lstStyle/>
          <a:p>
            <a:pPr algn="ctr"/>
            <a:r>
              <a:rPr lang="zh-CN" altLang="en-US" sz="2400" spc="150">
                <a:solidFill>
                  <a:schemeClr val="bg1"/>
                </a:solidFill>
                <a:cs typeface="微软雅黑" panose="020B0503020204020204" charset="-122"/>
                <a:sym typeface="+mn-lt"/>
              </a:rPr>
              <a:t>人机界面设计</a:t>
            </a:r>
            <a:endParaRPr lang="zh-CN" altLang="en-US" sz="2400" spc="150">
              <a:solidFill>
                <a:schemeClr val="bg1"/>
              </a:solidFill>
              <a:cs typeface="微软雅黑" panose="020B0503020204020204" charset="-122"/>
              <a:sym typeface="+mn-lt"/>
            </a:endParaRPr>
          </a:p>
        </p:txBody>
      </p:sp>
      <p:sp>
        <p:nvSpPr>
          <p:cNvPr id="6" name="文本占位符 1"/>
          <p:cNvSpPr>
            <a:spLocks noGrp="1"/>
          </p:cNvSpPr>
          <p:nvPr>
            <p:custDataLst>
              <p:tags r:id="rId2"/>
            </p:custDataLst>
          </p:nvPr>
        </p:nvSpPr>
        <p:spPr>
          <a:xfrm>
            <a:off x="157480" y="1061085"/>
            <a:ext cx="4531360" cy="171005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80000"/>
              </a:lnSpc>
              <a:spcBef>
                <a:spcPts val="0"/>
              </a:spcBef>
              <a:buNone/>
            </a:pPr>
            <a:r>
              <a:rPr lang="zh-CN" altLang="en-US" sz="1200" b="1" dirty="0">
                <a:solidFill>
                  <a:srgbClr val="FF0000"/>
                </a:solidFill>
                <a:highlight>
                  <a:srgbClr val="FFFF00"/>
                </a:highlight>
                <a:latin typeface="+mj-ea"/>
                <a:ea typeface="+mj-ea"/>
                <a:cs typeface="+mj-ea"/>
                <a:sym typeface="+mn-ea"/>
              </a:rPr>
              <a:t>人机界面设计</a:t>
            </a:r>
            <a:r>
              <a:rPr lang="zh-CN" altLang="en-US" sz="1200" b="1" dirty="0">
                <a:latin typeface="+mj-ea"/>
                <a:ea typeface="+mj-ea"/>
                <a:cs typeface="+mj-ea"/>
                <a:sym typeface="+mn-ea"/>
              </a:rPr>
              <a:t>（Human-Machine Interface Design, HMI）是人与机器之间</a:t>
            </a:r>
            <a:r>
              <a:rPr lang="zh-CN" altLang="en-US" sz="1200" b="1" dirty="0">
                <a:solidFill>
                  <a:srgbClr val="00B0F0"/>
                </a:solidFill>
                <a:latin typeface="+mj-ea"/>
                <a:ea typeface="+mj-ea"/>
                <a:cs typeface="+mj-ea"/>
                <a:sym typeface="+mn-ea"/>
              </a:rPr>
              <a:t>信息交互的媒介设计</a:t>
            </a:r>
            <a:r>
              <a:rPr lang="zh-CN" altLang="en-US" sz="1200" b="1" dirty="0">
                <a:latin typeface="+mj-ea"/>
                <a:ea typeface="+mj-ea"/>
                <a:cs typeface="+mj-ea"/>
                <a:sym typeface="+mn-ea"/>
              </a:rPr>
              <a:t>，旨在通过优化界面布局、交互逻辑和视觉表现，实现高效、舒适的人机协作。‌ 它融合了计算机科学、认知心理学、人机工程学等多学科知识，核心目标是提升系统的</a:t>
            </a:r>
            <a:r>
              <a:rPr lang="zh-CN" altLang="en-US" sz="1200" b="1" dirty="0">
                <a:solidFill>
                  <a:srgbClr val="FFFF00"/>
                </a:solidFill>
                <a:latin typeface="+mj-ea"/>
                <a:ea typeface="+mj-ea"/>
                <a:cs typeface="+mj-ea"/>
                <a:sym typeface="+mn-ea"/>
              </a:rPr>
              <a:t>易用性</a:t>
            </a:r>
            <a:r>
              <a:rPr lang="zh-CN" altLang="en-US" sz="1200" b="1" dirty="0">
                <a:latin typeface="+mj-ea"/>
                <a:ea typeface="+mj-ea"/>
                <a:cs typeface="+mj-ea"/>
                <a:sym typeface="+mn-ea"/>
              </a:rPr>
              <a:t>和</a:t>
            </a:r>
            <a:r>
              <a:rPr lang="zh-CN" altLang="en-US" sz="1200" b="1" dirty="0">
                <a:solidFill>
                  <a:srgbClr val="FFFF00"/>
                </a:solidFill>
                <a:latin typeface="+mj-ea"/>
                <a:ea typeface="+mj-ea"/>
                <a:cs typeface="+mj-ea"/>
                <a:sym typeface="+mn-ea"/>
              </a:rPr>
              <a:t>用户体验</a:t>
            </a:r>
            <a:r>
              <a:rPr lang="zh-CN" altLang="en-US" sz="1200" b="1" dirty="0">
                <a:latin typeface="+mj-ea"/>
                <a:ea typeface="+mj-ea"/>
                <a:cs typeface="+mj-ea"/>
                <a:sym typeface="+mn-ea"/>
              </a:rPr>
              <a:t>。</a:t>
            </a:r>
            <a:endParaRPr lang="zh-CN" altLang="en-US" sz="1200" b="1" dirty="0">
              <a:latin typeface="+mj-ea"/>
              <a:ea typeface="+mj-ea"/>
              <a:cs typeface="+mj-ea"/>
              <a:sym typeface="+mn-ea"/>
            </a:endParaRPr>
          </a:p>
          <a:p>
            <a:pPr marL="0" indent="0">
              <a:lnSpc>
                <a:spcPct val="180000"/>
              </a:lnSpc>
              <a:spcBef>
                <a:spcPts val="0"/>
              </a:spcBef>
              <a:buNone/>
            </a:pPr>
            <a:endParaRPr lang="zh-CN" altLang="en-US" sz="1200" b="1" dirty="0">
              <a:latin typeface="+mj-ea"/>
              <a:ea typeface="+mj-ea"/>
              <a:cs typeface="+mj-ea"/>
              <a:sym typeface="+mn-ea"/>
            </a:endParaRPr>
          </a:p>
          <a:p>
            <a:pPr marL="0" indent="0">
              <a:lnSpc>
                <a:spcPct val="180000"/>
              </a:lnSpc>
              <a:spcBef>
                <a:spcPts val="0"/>
              </a:spcBef>
              <a:buNone/>
            </a:pPr>
            <a:endParaRPr lang="zh-CN" altLang="en-US" sz="1200" b="1" dirty="0">
              <a:latin typeface="+mj-ea"/>
              <a:ea typeface="+mj-ea"/>
              <a:cs typeface="+mj-ea"/>
              <a:sym typeface="+mn-ea"/>
            </a:endParaRPr>
          </a:p>
          <a:p>
            <a:pPr marL="0" indent="0">
              <a:lnSpc>
                <a:spcPct val="180000"/>
              </a:lnSpc>
              <a:spcBef>
                <a:spcPts val="0"/>
              </a:spcBef>
              <a:buNone/>
            </a:pPr>
            <a:endParaRPr lang="zh-CN" altLang="en-US" sz="1200" b="1" dirty="0">
              <a:latin typeface="+mj-ea"/>
              <a:ea typeface="+mj-ea"/>
              <a:cs typeface="+mj-ea"/>
              <a:sym typeface="+mn-ea"/>
            </a:endParaRPr>
          </a:p>
          <a:p>
            <a:pPr marL="0" indent="0">
              <a:lnSpc>
                <a:spcPct val="180000"/>
              </a:lnSpc>
              <a:spcBef>
                <a:spcPts val="0"/>
              </a:spcBef>
              <a:buNone/>
            </a:pPr>
            <a:endParaRPr lang="zh-CN" altLang="en-US" sz="1200" b="1" dirty="0">
              <a:latin typeface="+mj-ea"/>
              <a:ea typeface="+mj-ea"/>
              <a:cs typeface="+mj-ea"/>
              <a:sym typeface="+mn-ea"/>
            </a:endParaRPr>
          </a:p>
          <a:p>
            <a:pPr marL="0" indent="0">
              <a:lnSpc>
                <a:spcPct val="180000"/>
              </a:lnSpc>
              <a:spcBef>
                <a:spcPts val="0"/>
              </a:spcBef>
              <a:buNone/>
            </a:pPr>
            <a:endParaRPr lang="zh-CN" altLang="en-US" sz="1200" b="1" dirty="0">
              <a:latin typeface="+mj-ea"/>
              <a:ea typeface="+mj-ea"/>
              <a:cs typeface="+mj-ea"/>
              <a:sym typeface="+mn-ea"/>
            </a:endParaRPr>
          </a:p>
          <a:p>
            <a:pPr marL="0" indent="0">
              <a:lnSpc>
                <a:spcPct val="180000"/>
              </a:lnSpc>
              <a:spcBef>
                <a:spcPts val="0"/>
              </a:spcBef>
              <a:buNone/>
            </a:pPr>
            <a:endParaRPr lang="zh-CN" altLang="en-US" sz="1200" b="1" dirty="0">
              <a:latin typeface="+mj-ea"/>
              <a:ea typeface="+mj-ea"/>
              <a:cs typeface="+mj-ea"/>
              <a:sym typeface="+mn-ea"/>
            </a:endParaRPr>
          </a:p>
          <a:p>
            <a:pPr marL="0" algn="l">
              <a:lnSpc>
                <a:spcPct val="180000"/>
              </a:lnSpc>
              <a:spcBef>
                <a:spcPts val="0"/>
              </a:spcBef>
              <a:buClrTx/>
              <a:buSzTx/>
              <a:buNone/>
            </a:pPr>
            <a:endParaRPr lang="zh-CN" altLang="en-US" sz="1200" b="1" dirty="0">
              <a:latin typeface="+mj-ea"/>
              <a:ea typeface="+mj-ea"/>
              <a:cs typeface="+mj-ea"/>
              <a:sym typeface="+mn-ea"/>
            </a:endParaRPr>
          </a:p>
        </p:txBody>
      </p:sp>
      <p:sp>
        <p:nvSpPr>
          <p:cNvPr id="4" name="文本框 3"/>
          <p:cNvSpPr txBox="1"/>
          <p:nvPr/>
        </p:nvSpPr>
        <p:spPr>
          <a:xfrm>
            <a:off x="4964430" y="440690"/>
            <a:ext cx="6998335" cy="793750"/>
          </a:xfrm>
          <a:prstGeom prst="rect">
            <a:avLst/>
          </a:prstGeom>
          <a:noFill/>
        </p:spPr>
        <p:txBody>
          <a:bodyPr wrap="square" rtlCol="0" anchor="t">
            <a:noAutofit/>
          </a:bodyPr>
          <a:p>
            <a:pPr marL="228600" indent="-228600" algn="l" eaLnBrk="1" hangingPunct="1">
              <a:lnSpc>
                <a:spcPct val="180000"/>
              </a:lnSpc>
              <a:spcBef>
                <a:spcPts val="0"/>
              </a:spcBef>
              <a:spcAft>
                <a:spcPts val="1000"/>
              </a:spcAft>
              <a:buClrTx/>
              <a:buSzTx/>
              <a:buFont typeface="+mj-ea"/>
              <a:buAutoNum type="circleNumDbPlain"/>
            </a:pPr>
            <a:r>
              <a:rPr lang="zh-CN" altLang="en-US" sz="1200" b="1" dirty="0">
                <a:solidFill>
                  <a:srgbClr val="FF0000"/>
                </a:solidFill>
                <a:uFillTx/>
                <a:latin typeface="+mj-ea"/>
                <a:ea typeface="+mj-ea"/>
                <a:cs typeface="+mj-ea"/>
                <a:sym typeface="+mn-ea"/>
              </a:rPr>
              <a:t>系统响应时间：</a:t>
            </a:r>
            <a:r>
              <a:rPr lang="en-US" altLang="zh-CN" sz="1200" b="1" dirty="0">
                <a:solidFill>
                  <a:schemeClr val="tx1"/>
                </a:solidFill>
                <a:uFillTx/>
                <a:latin typeface="+mj-ea"/>
                <a:ea typeface="+mj-ea"/>
                <a:cs typeface="+mj-ea"/>
                <a:sym typeface="+mn-ea"/>
              </a:rPr>
              <a:t> </a:t>
            </a:r>
            <a:r>
              <a:rPr lang="zh-CN" altLang="en-US" sz="1200" b="1" dirty="0">
                <a:solidFill>
                  <a:schemeClr val="tx1"/>
                </a:solidFill>
                <a:uFillTx/>
                <a:latin typeface="+mj-ea"/>
                <a:ea typeface="+mj-ea"/>
                <a:cs typeface="+mj-ea"/>
                <a:sym typeface="+mn-ea"/>
              </a:rPr>
              <a:t>系统响应时间指从用户完成某个控制动作（例如，按回车键或单击鼠标），到软件给出预期的响应（输出信息或做动作）之间的这段时间。</a:t>
            </a:r>
            <a:endParaRPr lang="zh-CN" altLang="en-US" sz="1200" b="1" dirty="0">
              <a:solidFill>
                <a:schemeClr val="tx1"/>
              </a:solidFill>
              <a:uFillTx/>
              <a:latin typeface="+mj-ea"/>
              <a:ea typeface="+mj-ea"/>
              <a:cs typeface="+mj-ea"/>
            </a:endParaRPr>
          </a:p>
          <a:p>
            <a:pPr marL="228600" indent="-228600" algn="l" eaLnBrk="1" hangingPunct="1">
              <a:lnSpc>
                <a:spcPct val="180000"/>
              </a:lnSpc>
              <a:spcBef>
                <a:spcPts val="0"/>
              </a:spcBef>
              <a:spcAft>
                <a:spcPts val="1000"/>
              </a:spcAft>
              <a:buClrTx/>
              <a:buSzTx/>
              <a:buFont typeface="+mj-ea"/>
              <a:buAutoNum type="circleNumDbPlain"/>
            </a:pPr>
            <a:endParaRPr lang="zh-CN" altLang="en-US" sz="1200" b="1" dirty="0">
              <a:uFillTx/>
              <a:latin typeface="+mj-ea"/>
              <a:ea typeface="+mj-ea"/>
              <a:cs typeface="+mj-ea"/>
            </a:endParaRPr>
          </a:p>
          <a:p>
            <a:pPr marL="228600" lvl="0" indent="-228600" algn="l">
              <a:lnSpc>
                <a:spcPct val="180000"/>
              </a:lnSpc>
              <a:spcBef>
                <a:spcPts val="0"/>
              </a:spcBef>
              <a:spcAft>
                <a:spcPts val="1000"/>
              </a:spcAft>
              <a:buClrTx/>
              <a:buSzTx/>
              <a:buFont typeface="+mj-ea"/>
              <a:buAutoNum type="circleNumDbPlain"/>
            </a:pPr>
            <a:endParaRPr lang="zh-CN" altLang="en-US" sz="1200" b="1" dirty="0">
              <a:uFillTx/>
              <a:latin typeface="+mj-ea"/>
              <a:ea typeface="+mj-ea"/>
              <a:cs typeface="+mj-ea"/>
              <a:sym typeface="+mn-ea"/>
            </a:endParaRPr>
          </a:p>
        </p:txBody>
      </p:sp>
      <p:sp>
        <p:nvSpPr>
          <p:cNvPr id="9" name="文本框 8"/>
          <p:cNvSpPr txBox="1"/>
          <p:nvPr/>
        </p:nvSpPr>
        <p:spPr>
          <a:xfrm>
            <a:off x="5070475" y="3525520"/>
            <a:ext cx="6732905" cy="798195"/>
          </a:xfrm>
          <a:prstGeom prst="rect">
            <a:avLst/>
          </a:prstGeom>
          <a:noFill/>
        </p:spPr>
        <p:txBody>
          <a:bodyPr wrap="square" rtlCol="0" anchor="t">
            <a:noAutofit/>
          </a:bodyPr>
          <a:p>
            <a:pPr marL="228600" indent="-228600" algn="l" eaLnBrk="1" hangingPunct="1">
              <a:lnSpc>
                <a:spcPct val="180000"/>
              </a:lnSpc>
              <a:spcBef>
                <a:spcPts val="0"/>
              </a:spcBef>
              <a:spcAft>
                <a:spcPts val="1000"/>
              </a:spcAft>
              <a:buClrTx/>
              <a:buSzTx/>
              <a:buFont typeface="+mj-ea"/>
              <a:buAutoNum type="circleNumDbPlain" startAt="2"/>
            </a:pPr>
            <a:r>
              <a:rPr lang="zh-CN" altLang="en-US" sz="1200" b="1" dirty="0">
                <a:solidFill>
                  <a:srgbClr val="FF0000"/>
                </a:solidFill>
                <a:uFillTx/>
                <a:latin typeface="+mj-ea"/>
                <a:ea typeface="+mj-ea"/>
                <a:cs typeface="+mj-ea"/>
                <a:sym typeface="+mn-ea"/>
              </a:rPr>
              <a:t>用户帮助设施：</a:t>
            </a:r>
            <a:r>
              <a:rPr lang="zh-CN" altLang="en-US" sz="1200" b="1" dirty="0">
                <a:uFillTx/>
                <a:latin typeface="+mj-ea"/>
                <a:ea typeface="+mj-ea"/>
                <a:cs typeface="+mj-ea"/>
                <a:sym typeface="+mn-ea"/>
              </a:rPr>
              <a:t> 用户在遇到复杂问题时需要查看用户手册以寻求答案，大多数现代软件都提供</a:t>
            </a:r>
            <a:r>
              <a:rPr lang="zh-CN" altLang="en-US" sz="1200" b="1" dirty="0">
                <a:solidFill>
                  <a:srgbClr val="00B0F0"/>
                </a:solidFill>
                <a:uFillTx/>
                <a:latin typeface="+mj-ea"/>
                <a:ea typeface="+mj-ea"/>
                <a:cs typeface="+mj-ea"/>
                <a:sym typeface="+mn-ea"/>
              </a:rPr>
              <a:t>联机帮助设施</a:t>
            </a:r>
            <a:r>
              <a:rPr lang="zh-CN" altLang="en-US" sz="1200" b="1" dirty="0">
                <a:uFillTx/>
                <a:latin typeface="+mj-ea"/>
                <a:ea typeface="+mj-ea"/>
                <a:cs typeface="+mj-ea"/>
                <a:sym typeface="+mn-ea"/>
              </a:rPr>
              <a:t>，用户无需离开用户界面就能解决自己的问题。</a:t>
            </a:r>
            <a:endParaRPr lang="en-US" altLang="zh-CN" sz="1200" b="1" dirty="0">
              <a:uFillTx/>
              <a:latin typeface="+mj-ea"/>
              <a:ea typeface="+mj-ea"/>
              <a:cs typeface="+mj-ea"/>
              <a:sym typeface="+mn-ea"/>
            </a:endParaRPr>
          </a:p>
        </p:txBody>
      </p:sp>
      <p:cxnSp>
        <p:nvCxnSpPr>
          <p:cNvPr id="2" name="直接连接符 1"/>
          <p:cNvCxnSpPr/>
          <p:nvPr/>
        </p:nvCxnSpPr>
        <p:spPr>
          <a:xfrm>
            <a:off x="4836795" y="3409315"/>
            <a:ext cx="7344410" cy="1524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8" name="文本框 7"/>
          <p:cNvSpPr txBox="1"/>
          <p:nvPr/>
        </p:nvSpPr>
        <p:spPr>
          <a:xfrm>
            <a:off x="6760210" y="1169670"/>
            <a:ext cx="5043170" cy="2008505"/>
          </a:xfrm>
          <a:prstGeom prst="rect">
            <a:avLst/>
          </a:prstGeom>
          <a:noFill/>
        </p:spPr>
        <p:txBody>
          <a:bodyPr wrap="square" rtlCol="0">
            <a:spAutoFit/>
          </a:bodyPr>
          <a:p>
            <a:pPr indent="0" algn="l">
              <a:lnSpc>
                <a:spcPct val="180000"/>
              </a:lnSpc>
              <a:spcBef>
                <a:spcPts val="0"/>
              </a:spcBef>
              <a:spcAft>
                <a:spcPts val="1000"/>
              </a:spcAft>
              <a:buClrTx/>
              <a:buSzTx/>
              <a:buFont typeface="+mj-ea"/>
              <a:buNone/>
            </a:pPr>
            <a:r>
              <a:rPr lang="zh-CN" altLang="en-US" sz="1200" b="1" dirty="0">
                <a:highlight>
                  <a:srgbClr val="00FFFF"/>
                </a:highlight>
                <a:uFillTx/>
                <a:latin typeface="+mj-ea"/>
                <a:ea typeface="+mj-ea"/>
                <a:cs typeface="+mj-ea"/>
                <a:sym typeface="+mn-ea"/>
              </a:rPr>
              <a:t>系统响应时间有两个重要属性：</a:t>
            </a:r>
            <a:endParaRPr lang="zh-CN" altLang="en-US" sz="1200" b="1" dirty="0">
              <a:highlight>
                <a:srgbClr val="00FFFF"/>
              </a:highlight>
              <a:uFillTx/>
              <a:latin typeface="+mj-ea"/>
              <a:ea typeface="+mj-ea"/>
              <a:cs typeface="+mj-ea"/>
              <a:sym typeface="+mn-ea"/>
            </a:endParaRPr>
          </a:p>
          <a:p>
            <a:pPr marL="228600" indent="-228600" algn="l">
              <a:lnSpc>
                <a:spcPct val="180000"/>
              </a:lnSpc>
              <a:spcBef>
                <a:spcPts val="0"/>
              </a:spcBef>
              <a:spcAft>
                <a:spcPts val="1000"/>
              </a:spcAft>
              <a:buClrTx/>
              <a:buSzTx/>
              <a:buFont typeface="+mj-ea"/>
              <a:buAutoNum type="circleNumDbPlain"/>
            </a:pPr>
            <a:r>
              <a:rPr lang="zh-CN" altLang="en-US" sz="1200" b="1" dirty="0">
                <a:solidFill>
                  <a:srgbClr val="FF0000"/>
                </a:solidFill>
                <a:highlight>
                  <a:srgbClr val="FFFF00"/>
                </a:highlight>
                <a:uFillTx/>
                <a:latin typeface="+mj-ea"/>
                <a:ea typeface="+mj-ea"/>
                <a:cs typeface="+mj-ea"/>
                <a:sym typeface="+mn-ea"/>
              </a:rPr>
              <a:t>长度</a:t>
            </a:r>
            <a:r>
              <a:rPr lang="zh-CN" altLang="en-US" sz="1200" dirty="0">
                <a:uFillTx/>
                <a:latin typeface="+mj-ea"/>
                <a:ea typeface="+mj-ea"/>
                <a:cs typeface="+mj-ea"/>
                <a:sym typeface="+mn-ea"/>
              </a:rPr>
              <a:t>：时间过长，用户就会感到紧张，过短，加快 用户操作节奏，可能会犯错误。</a:t>
            </a:r>
            <a:endParaRPr lang="zh-CN" altLang="en-US" sz="1200" dirty="0">
              <a:uFillTx/>
              <a:latin typeface="+mj-ea"/>
              <a:ea typeface="+mj-ea"/>
              <a:cs typeface="+mj-ea"/>
              <a:sym typeface="+mn-ea"/>
            </a:endParaRPr>
          </a:p>
          <a:p>
            <a:pPr marL="228600" indent="-228600" algn="l">
              <a:lnSpc>
                <a:spcPct val="180000"/>
              </a:lnSpc>
              <a:spcBef>
                <a:spcPts val="0"/>
              </a:spcBef>
              <a:spcAft>
                <a:spcPts val="1000"/>
              </a:spcAft>
              <a:buClrTx/>
              <a:buSzTx/>
              <a:buFont typeface="+mj-ea"/>
              <a:buAutoNum type="circleNumDbPlain"/>
            </a:pPr>
            <a:r>
              <a:rPr lang="zh-CN" altLang="en-US" sz="1200" b="1" dirty="0">
                <a:solidFill>
                  <a:srgbClr val="FF0000"/>
                </a:solidFill>
                <a:highlight>
                  <a:srgbClr val="FFFF00"/>
                </a:highlight>
                <a:uFillTx/>
                <a:latin typeface="+mj-ea"/>
                <a:ea typeface="+mj-ea"/>
                <a:cs typeface="+mj-ea"/>
                <a:sym typeface="+mn-ea"/>
              </a:rPr>
              <a:t>易变性</a:t>
            </a:r>
            <a:r>
              <a:rPr lang="zh-CN" altLang="en-US" sz="1200" dirty="0">
                <a:uFillTx/>
                <a:latin typeface="+mj-ea"/>
                <a:ea typeface="+mj-ea"/>
                <a:cs typeface="+mj-ea"/>
                <a:sym typeface="+mn-ea"/>
              </a:rPr>
              <a:t>：系统响应时间相对于平均响应时间的偏差。响应时间易变性低也有助于用户建立起稳定的工作节奏</a:t>
            </a:r>
            <a:endParaRPr lang="zh-CN" altLang="en-US" sz="1200" dirty="0">
              <a:uFillTx/>
              <a:latin typeface="+mj-ea"/>
              <a:ea typeface="+mj-ea"/>
              <a:cs typeface="+mj-ea"/>
            </a:endParaRPr>
          </a:p>
        </p:txBody>
      </p:sp>
      <p:pic>
        <p:nvPicPr>
          <p:cNvPr id="10" name="图片 9"/>
          <p:cNvPicPr>
            <a:picLocks noChangeAspect="1"/>
          </p:cNvPicPr>
          <p:nvPr/>
        </p:nvPicPr>
        <p:blipFill>
          <a:blip r:embed="rId3"/>
          <a:stretch>
            <a:fillRect/>
          </a:stretch>
        </p:blipFill>
        <p:spPr>
          <a:xfrm>
            <a:off x="4964430" y="1150620"/>
            <a:ext cx="1795780" cy="2203450"/>
          </a:xfrm>
          <a:prstGeom prst="rect">
            <a:avLst/>
          </a:prstGeom>
        </p:spPr>
      </p:pic>
      <p:sp>
        <p:nvSpPr>
          <p:cNvPr id="11" name="文本框 10"/>
          <p:cNvSpPr txBox="1"/>
          <p:nvPr/>
        </p:nvSpPr>
        <p:spPr>
          <a:xfrm>
            <a:off x="6624320" y="4398010"/>
            <a:ext cx="5339080" cy="2364740"/>
          </a:xfrm>
          <a:prstGeom prst="rect">
            <a:avLst/>
          </a:prstGeom>
          <a:noFill/>
        </p:spPr>
        <p:txBody>
          <a:bodyPr wrap="square" rtlCol="0">
            <a:noAutofit/>
          </a:bodyPr>
          <a:p>
            <a:pPr marL="228600" lvl="1" indent="-228600" algn="l" eaLnBrk="1" hangingPunct="1">
              <a:lnSpc>
                <a:spcPct val="140000"/>
              </a:lnSpc>
              <a:spcBef>
                <a:spcPts val="0"/>
              </a:spcBef>
              <a:spcAft>
                <a:spcPts val="1000"/>
              </a:spcAft>
              <a:buClrTx/>
              <a:buSzTx/>
              <a:buFont typeface="+mj-ea"/>
              <a:buAutoNum type="circleNumDbPlain"/>
            </a:pPr>
            <a:r>
              <a:rPr lang="zh-CN" altLang="en-US" sz="1200" dirty="0">
                <a:uFillTx/>
                <a:latin typeface="+mj-ea"/>
                <a:ea typeface="+mj-ea"/>
                <a:cs typeface="+mj-ea"/>
                <a:sym typeface="+mn-ea"/>
              </a:rPr>
              <a:t>在用户与系统交互期间，是否在任何时候都能</a:t>
            </a:r>
            <a:r>
              <a:rPr lang="zh-CN" altLang="en-US" sz="1200" b="1" dirty="0">
                <a:highlight>
                  <a:srgbClr val="00FFFF"/>
                </a:highlight>
                <a:uFillTx/>
                <a:latin typeface="+mj-ea"/>
                <a:ea typeface="+mj-ea"/>
                <a:cs typeface="+mj-ea"/>
                <a:sym typeface="+mn-ea"/>
              </a:rPr>
              <a:t>获得</a:t>
            </a:r>
            <a:r>
              <a:rPr lang="zh-CN" altLang="en-US" sz="1200" dirty="0">
                <a:uFillTx/>
                <a:latin typeface="+mj-ea"/>
                <a:ea typeface="+mj-ea"/>
                <a:cs typeface="+mj-ea"/>
                <a:sym typeface="+mn-ea"/>
              </a:rPr>
              <a:t>关于系统任何功能的帮助信息？</a:t>
            </a:r>
            <a:endParaRPr lang="zh-CN" altLang="en-US" sz="1200" dirty="0">
              <a:uFillTx/>
              <a:latin typeface="+mj-ea"/>
              <a:ea typeface="+mj-ea"/>
              <a:cs typeface="+mj-ea"/>
              <a:sym typeface="+mn-ea"/>
            </a:endParaRPr>
          </a:p>
          <a:p>
            <a:pPr marL="228600" lvl="1" indent="-228600" algn="l" eaLnBrk="1" hangingPunct="1">
              <a:lnSpc>
                <a:spcPct val="140000"/>
              </a:lnSpc>
              <a:spcBef>
                <a:spcPts val="0"/>
              </a:spcBef>
              <a:spcAft>
                <a:spcPts val="1000"/>
              </a:spcAft>
              <a:buClrTx/>
              <a:buSzTx/>
              <a:buFont typeface="+mj-ea"/>
              <a:buAutoNum type="circleNumDbPlain"/>
            </a:pPr>
            <a:r>
              <a:rPr lang="zh-CN" altLang="en-US" sz="1200" dirty="0">
                <a:uFillTx/>
                <a:latin typeface="+mj-ea"/>
                <a:ea typeface="+mj-ea"/>
                <a:cs typeface="+mj-ea"/>
                <a:sym typeface="+mn-ea"/>
              </a:rPr>
              <a:t>用户怎样</a:t>
            </a:r>
            <a:r>
              <a:rPr lang="zh-CN" altLang="en-US" sz="1200" b="1" dirty="0">
                <a:highlight>
                  <a:srgbClr val="00FFFF"/>
                </a:highlight>
                <a:uFillTx/>
                <a:latin typeface="+mj-ea"/>
                <a:ea typeface="+mj-ea"/>
                <a:cs typeface="+mj-ea"/>
                <a:sym typeface="+mn-ea"/>
              </a:rPr>
              <a:t>请求帮助</a:t>
            </a:r>
            <a:r>
              <a:rPr lang="zh-CN" altLang="en-US" sz="1200" dirty="0">
                <a:uFillTx/>
                <a:latin typeface="+mj-ea"/>
                <a:ea typeface="+mj-ea"/>
                <a:cs typeface="+mj-ea"/>
                <a:sym typeface="+mn-ea"/>
              </a:rPr>
              <a:t>？</a:t>
            </a:r>
            <a:r>
              <a:rPr lang="en-US" altLang="zh-CN" sz="1200" dirty="0">
                <a:uFillTx/>
                <a:latin typeface="+mj-ea"/>
                <a:ea typeface="+mj-ea"/>
                <a:cs typeface="+mj-ea"/>
                <a:sym typeface="+mn-ea"/>
              </a:rPr>
              <a:t>(</a:t>
            </a:r>
            <a:r>
              <a:rPr lang="zh-CN" altLang="en-US" sz="1200" dirty="0">
                <a:uFillTx/>
                <a:latin typeface="+mj-ea"/>
                <a:ea typeface="+mj-ea"/>
                <a:cs typeface="+mj-ea"/>
                <a:sym typeface="+mn-ea"/>
              </a:rPr>
              <a:t>帮助菜单，特殊功能键和HELP命令</a:t>
            </a:r>
            <a:r>
              <a:rPr lang="en-US" altLang="zh-CN" sz="1200" dirty="0">
                <a:uFillTx/>
                <a:latin typeface="+mj-ea"/>
                <a:ea typeface="+mj-ea"/>
                <a:cs typeface="+mj-ea"/>
                <a:sym typeface="+mn-ea"/>
              </a:rPr>
              <a:t>)</a:t>
            </a:r>
            <a:endParaRPr lang="zh-CN" altLang="en-US" sz="1200" dirty="0">
              <a:uFillTx/>
              <a:latin typeface="+mj-ea"/>
              <a:ea typeface="+mj-ea"/>
              <a:cs typeface="+mj-ea"/>
            </a:endParaRPr>
          </a:p>
          <a:p>
            <a:pPr marL="228600" lvl="1" indent="-228600" algn="l" eaLnBrk="1" hangingPunct="1">
              <a:lnSpc>
                <a:spcPct val="140000"/>
              </a:lnSpc>
              <a:spcBef>
                <a:spcPts val="0"/>
              </a:spcBef>
              <a:spcAft>
                <a:spcPts val="1000"/>
              </a:spcAft>
              <a:buClrTx/>
              <a:buSzTx/>
              <a:buFont typeface="+mj-ea"/>
              <a:buAutoNum type="circleNumDbPlain"/>
            </a:pPr>
            <a:r>
              <a:rPr lang="zh-CN" altLang="en-US" sz="1200" dirty="0">
                <a:uFillTx/>
                <a:latin typeface="+mj-ea"/>
                <a:ea typeface="+mj-ea"/>
                <a:cs typeface="+mj-ea"/>
                <a:sym typeface="+mn-ea"/>
              </a:rPr>
              <a:t>怎样</a:t>
            </a:r>
            <a:r>
              <a:rPr lang="zh-CN" altLang="en-US" sz="1200" b="1" dirty="0">
                <a:highlight>
                  <a:srgbClr val="00FFFF"/>
                </a:highlight>
                <a:uFillTx/>
                <a:latin typeface="+mj-ea"/>
                <a:ea typeface="+mj-ea"/>
                <a:cs typeface="+mj-ea"/>
                <a:sym typeface="+mn-ea"/>
              </a:rPr>
              <a:t>显示帮助</a:t>
            </a:r>
            <a:r>
              <a:rPr lang="zh-CN" altLang="en-US" sz="1200" dirty="0">
                <a:uFillTx/>
                <a:latin typeface="+mj-ea"/>
                <a:ea typeface="+mj-ea"/>
                <a:cs typeface="+mj-ea"/>
                <a:sym typeface="+mn-ea"/>
              </a:rPr>
              <a:t>信息？在独立的窗口</a:t>
            </a:r>
            <a:r>
              <a:rPr lang="en-US" altLang="zh-CN" sz="1200" dirty="0">
                <a:uFillTx/>
                <a:latin typeface="+mj-ea"/>
                <a:ea typeface="+mj-ea"/>
                <a:cs typeface="+mj-ea"/>
                <a:sym typeface="+mn-ea"/>
              </a:rPr>
              <a:t>, </a:t>
            </a:r>
            <a:r>
              <a:rPr lang="zh-CN" altLang="en-US" sz="1200" dirty="0">
                <a:uFillTx/>
                <a:latin typeface="+mj-ea"/>
                <a:ea typeface="+mj-ea"/>
                <a:cs typeface="+mj-ea"/>
                <a:sym typeface="+mn-ea"/>
              </a:rPr>
              <a:t>在屏幕固定位置显示简短提示</a:t>
            </a:r>
            <a:r>
              <a:rPr lang="en-US" altLang="zh-CN" sz="1200" dirty="0">
                <a:uFillTx/>
                <a:latin typeface="+mj-ea"/>
                <a:ea typeface="+mj-ea"/>
                <a:cs typeface="+mj-ea"/>
                <a:sym typeface="+mn-ea"/>
              </a:rPr>
              <a:t>)</a:t>
            </a:r>
            <a:endParaRPr lang="zh-CN" altLang="en-US" sz="1200" dirty="0">
              <a:uFillTx/>
              <a:latin typeface="+mj-ea"/>
              <a:ea typeface="+mj-ea"/>
              <a:cs typeface="+mj-ea"/>
            </a:endParaRPr>
          </a:p>
          <a:p>
            <a:pPr marL="228600" lvl="1" indent="-228600" algn="l" eaLnBrk="1" hangingPunct="1">
              <a:lnSpc>
                <a:spcPct val="140000"/>
              </a:lnSpc>
              <a:spcBef>
                <a:spcPts val="0"/>
              </a:spcBef>
              <a:spcAft>
                <a:spcPts val="1000"/>
              </a:spcAft>
              <a:buClrTx/>
              <a:buSzTx/>
              <a:buFont typeface="+mj-ea"/>
              <a:buAutoNum type="circleNumDbPlain"/>
            </a:pPr>
            <a:r>
              <a:rPr lang="zh-CN" altLang="en-US" sz="1200" dirty="0">
                <a:uFillTx/>
                <a:latin typeface="+mj-ea"/>
                <a:ea typeface="+mj-ea"/>
                <a:cs typeface="+mj-ea"/>
                <a:sym typeface="+mn-ea"/>
              </a:rPr>
              <a:t>用户怎样</a:t>
            </a:r>
            <a:r>
              <a:rPr lang="zh-CN" altLang="en-US" sz="1200" b="1" dirty="0">
                <a:highlight>
                  <a:srgbClr val="00FFFF"/>
                </a:highlight>
                <a:uFillTx/>
                <a:latin typeface="+mj-ea"/>
                <a:ea typeface="+mj-ea"/>
                <a:cs typeface="+mj-ea"/>
                <a:sym typeface="+mn-ea"/>
              </a:rPr>
              <a:t>返回</a:t>
            </a:r>
            <a:r>
              <a:rPr lang="zh-CN" altLang="en-US" sz="1200" dirty="0">
                <a:uFillTx/>
                <a:latin typeface="+mj-ea"/>
                <a:ea typeface="+mj-ea"/>
                <a:cs typeface="+mj-ea"/>
                <a:sym typeface="+mn-ea"/>
              </a:rPr>
              <a:t>到正常的交互方式中？</a:t>
            </a:r>
            <a:r>
              <a:rPr lang="en-US" altLang="zh-CN" sz="1200" dirty="0">
                <a:uFillTx/>
                <a:latin typeface="+mj-ea"/>
                <a:ea typeface="+mj-ea"/>
                <a:cs typeface="+mj-ea"/>
                <a:sym typeface="+mn-ea"/>
              </a:rPr>
              <a:t>(</a:t>
            </a:r>
            <a:r>
              <a:rPr lang="zh-CN" altLang="en-US" sz="1200" dirty="0">
                <a:uFillTx/>
                <a:latin typeface="+mj-ea"/>
                <a:ea typeface="+mj-ea"/>
                <a:cs typeface="+mj-ea"/>
                <a:sym typeface="+mn-ea"/>
              </a:rPr>
              <a:t>返回按钮</a:t>
            </a:r>
            <a:r>
              <a:rPr lang="en-US" altLang="zh-CN" sz="1200" dirty="0">
                <a:uFillTx/>
                <a:latin typeface="+mj-ea"/>
                <a:ea typeface="+mj-ea"/>
                <a:cs typeface="+mj-ea"/>
                <a:sym typeface="+mn-ea"/>
              </a:rPr>
              <a:t>, </a:t>
            </a:r>
            <a:r>
              <a:rPr lang="zh-CN" altLang="en-US" sz="1200" dirty="0">
                <a:uFillTx/>
                <a:latin typeface="+mj-ea"/>
                <a:ea typeface="+mj-ea"/>
                <a:cs typeface="+mj-ea"/>
                <a:sym typeface="+mn-ea"/>
              </a:rPr>
              <a:t>功能键</a:t>
            </a:r>
            <a:r>
              <a:rPr lang="en-US" altLang="zh-CN" sz="1200" dirty="0">
                <a:uFillTx/>
                <a:latin typeface="+mj-ea"/>
                <a:ea typeface="+mj-ea"/>
                <a:cs typeface="+mj-ea"/>
                <a:sym typeface="+mn-ea"/>
              </a:rPr>
              <a:t>)</a:t>
            </a:r>
            <a:endParaRPr lang="zh-CN" altLang="en-US" sz="1200" dirty="0">
              <a:uFillTx/>
              <a:latin typeface="+mj-ea"/>
              <a:ea typeface="+mj-ea"/>
              <a:cs typeface="+mj-ea"/>
            </a:endParaRPr>
          </a:p>
          <a:p>
            <a:pPr marL="228600" lvl="1" indent="-228600" algn="l" eaLnBrk="1" hangingPunct="1">
              <a:lnSpc>
                <a:spcPct val="140000"/>
              </a:lnSpc>
              <a:spcBef>
                <a:spcPts val="0"/>
              </a:spcBef>
              <a:spcAft>
                <a:spcPts val="1000"/>
              </a:spcAft>
              <a:buClrTx/>
              <a:buSzTx/>
              <a:buFont typeface="+mj-ea"/>
              <a:buAutoNum type="circleNumDbPlain"/>
            </a:pPr>
            <a:r>
              <a:rPr lang="zh-CN" altLang="en-US" sz="1200" dirty="0">
                <a:uFillTx/>
                <a:latin typeface="+mj-ea"/>
                <a:ea typeface="+mj-ea"/>
                <a:cs typeface="+mj-ea"/>
                <a:sym typeface="+mn-ea"/>
              </a:rPr>
              <a:t>怎样</a:t>
            </a:r>
            <a:r>
              <a:rPr lang="zh-CN" altLang="en-US" sz="1200" b="1" dirty="0">
                <a:highlight>
                  <a:srgbClr val="00FFFF"/>
                </a:highlight>
                <a:uFillTx/>
                <a:latin typeface="+mj-ea"/>
                <a:ea typeface="+mj-ea"/>
                <a:cs typeface="+mj-ea"/>
                <a:sym typeface="+mn-ea"/>
              </a:rPr>
              <a:t>组织帮助</a:t>
            </a:r>
            <a:r>
              <a:rPr lang="zh-CN" altLang="en-US" sz="1200" dirty="0">
                <a:uFillTx/>
                <a:latin typeface="+mj-ea"/>
                <a:ea typeface="+mj-ea"/>
                <a:cs typeface="+mj-ea"/>
                <a:sym typeface="+mn-ea"/>
              </a:rPr>
              <a:t>信息？</a:t>
            </a:r>
            <a:r>
              <a:rPr lang="en-US" altLang="zh-CN" sz="1200" dirty="0">
                <a:uFillTx/>
                <a:latin typeface="+mj-ea"/>
                <a:ea typeface="+mj-ea"/>
                <a:cs typeface="+mj-ea"/>
                <a:sym typeface="+mn-ea"/>
              </a:rPr>
              <a:t>(</a:t>
            </a:r>
            <a:r>
              <a:rPr lang="zh-CN" altLang="en-US" sz="1200" dirty="0">
                <a:uFillTx/>
                <a:latin typeface="+mj-ea"/>
                <a:ea typeface="+mj-ea"/>
                <a:cs typeface="+mj-ea"/>
                <a:sym typeface="+mn-ea"/>
              </a:rPr>
              <a:t>平面结构，信息的层次结构</a:t>
            </a:r>
            <a:r>
              <a:rPr lang="en-US" altLang="zh-CN" sz="1200" dirty="0">
                <a:uFillTx/>
                <a:latin typeface="+mj-ea"/>
                <a:ea typeface="+mj-ea"/>
                <a:cs typeface="+mj-ea"/>
                <a:sym typeface="+mn-ea"/>
              </a:rPr>
              <a:t>, </a:t>
            </a:r>
            <a:r>
              <a:rPr lang="zh-CN" altLang="en-US" sz="1200" dirty="0">
                <a:uFillTx/>
                <a:latin typeface="+mj-ea"/>
                <a:ea typeface="+mj-ea"/>
                <a:cs typeface="+mj-ea"/>
                <a:sym typeface="+mn-ea"/>
              </a:rPr>
              <a:t>超文本结构</a:t>
            </a:r>
            <a:r>
              <a:rPr lang="en-US" altLang="zh-CN" sz="1200" dirty="0">
                <a:uFillTx/>
                <a:latin typeface="+mj-ea"/>
                <a:ea typeface="+mj-ea"/>
                <a:cs typeface="+mj-ea"/>
                <a:sym typeface="+mn-ea"/>
              </a:rPr>
              <a:t>)</a:t>
            </a:r>
            <a:endParaRPr lang="en-US" altLang="zh-CN" sz="1200" dirty="0">
              <a:uFillTx/>
              <a:latin typeface="+mj-ea"/>
              <a:ea typeface="+mj-ea"/>
              <a:cs typeface="+mj-ea"/>
              <a:sym typeface="+mn-ea"/>
            </a:endParaRPr>
          </a:p>
        </p:txBody>
      </p:sp>
      <p:pic>
        <p:nvPicPr>
          <p:cNvPr id="12" name="图片 11"/>
          <p:cNvPicPr>
            <a:picLocks noChangeAspect="1"/>
          </p:cNvPicPr>
          <p:nvPr/>
        </p:nvPicPr>
        <p:blipFill>
          <a:blip r:embed="rId4"/>
          <a:stretch>
            <a:fillRect/>
          </a:stretch>
        </p:blipFill>
        <p:spPr>
          <a:xfrm>
            <a:off x="5100955" y="4779010"/>
            <a:ext cx="1523365" cy="1510030"/>
          </a:xfrm>
          <a:prstGeom prst="rect">
            <a:avLst/>
          </a:prstGeom>
        </p:spPr>
      </p:pic>
      <p:sp>
        <p:nvSpPr>
          <p:cNvPr id="7" name="文本框 6"/>
          <p:cNvSpPr txBox="1"/>
          <p:nvPr/>
        </p:nvSpPr>
        <p:spPr>
          <a:xfrm>
            <a:off x="266065" y="5627370"/>
            <a:ext cx="4191000" cy="1308735"/>
          </a:xfrm>
          <a:prstGeom prst="rect">
            <a:avLst/>
          </a:prstGeom>
          <a:noFill/>
        </p:spPr>
        <p:txBody>
          <a:bodyPr wrap="square" rtlCol="0">
            <a:spAutoFit/>
          </a:bodyPr>
          <a:p>
            <a:pPr>
              <a:lnSpc>
                <a:spcPct val="170000"/>
              </a:lnSpc>
            </a:pPr>
            <a:r>
              <a:rPr lang="zh-CN" altLang="en-US" sz="1200" b="1" dirty="0">
                <a:solidFill>
                  <a:schemeClr val="bg1"/>
                </a:solidFill>
                <a:uFillTx/>
                <a:latin typeface="+mj-ea"/>
                <a:ea typeface="+mj-ea"/>
                <a:cs typeface="+mj-ea"/>
                <a:sym typeface="+mn-ea"/>
              </a:rPr>
              <a:t>人机界面设计是用户与机器（如计算机、工业设备等）</a:t>
            </a:r>
            <a:r>
              <a:rPr lang="zh-CN" altLang="en-US" sz="1200" b="1" dirty="0">
                <a:solidFill>
                  <a:srgbClr val="FFFF00"/>
                </a:solidFill>
                <a:uFillTx/>
                <a:latin typeface="+mj-ea"/>
                <a:ea typeface="+mj-ea"/>
                <a:cs typeface="+mj-ea"/>
                <a:sym typeface="+mn-ea"/>
              </a:rPr>
              <a:t>传递指令和反馈信息的桥梁</a:t>
            </a:r>
            <a:r>
              <a:rPr lang="zh-CN" altLang="en-US" sz="1200" b="1" dirty="0">
                <a:solidFill>
                  <a:schemeClr val="bg1"/>
                </a:solidFill>
                <a:uFillTx/>
                <a:latin typeface="+mj-ea"/>
                <a:ea typeface="+mj-ea"/>
                <a:cs typeface="+mj-ea"/>
                <a:sym typeface="+mn-ea"/>
              </a:rPr>
              <a:t>，涵盖</a:t>
            </a:r>
            <a:r>
              <a:rPr lang="zh-CN" altLang="en-US" sz="1200" b="1" dirty="0">
                <a:solidFill>
                  <a:srgbClr val="FF0000"/>
                </a:solidFill>
                <a:uFillTx/>
                <a:latin typeface="+mj-ea"/>
                <a:ea typeface="+mj-ea"/>
                <a:cs typeface="+mj-ea"/>
                <a:sym typeface="+mn-ea"/>
              </a:rPr>
              <a:t>硬件</a:t>
            </a:r>
            <a:r>
              <a:rPr lang="zh-CN" altLang="en-US" sz="1200" b="1" dirty="0">
                <a:solidFill>
                  <a:schemeClr val="bg1"/>
                </a:solidFill>
                <a:uFillTx/>
                <a:latin typeface="+mj-ea"/>
                <a:ea typeface="+mj-ea"/>
                <a:cs typeface="+mj-ea"/>
                <a:sym typeface="+mn-ea"/>
              </a:rPr>
              <a:t>（如触摸屏、按钮）和</a:t>
            </a:r>
            <a:r>
              <a:rPr lang="zh-CN" altLang="en-US" sz="1200" b="1" dirty="0">
                <a:solidFill>
                  <a:srgbClr val="FF0000"/>
                </a:solidFill>
                <a:uFillTx/>
                <a:latin typeface="+mj-ea"/>
                <a:ea typeface="+mj-ea"/>
                <a:cs typeface="+mj-ea"/>
                <a:sym typeface="+mn-ea"/>
              </a:rPr>
              <a:t>软件</a:t>
            </a:r>
            <a:r>
              <a:rPr lang="zh-CN" altLang="en-US" sz="1200" b="1" dirty="0">
                <a:solidFill>
                  <a:schemeClr val="bg1"/>
                </a:solidFill>
                <a:uFillTx/>
                <a:latin typeface="+mj-ea"/>
                <a:ea typeface="+mj-ea"/>
                <a:cs typeface="+mj-ea"/>
                <a:sym typeface="+mn-ea"/>
              </a:rPr>
              <a:t>（如图形界面、操作逻辑）的设计。</a:t>
            </a:r>
            <a:endParaRPr lang="zh-CN" altLang="en-US" sz="1200" b="1" dirty="0">
              <a:solidFill>
                <a:schemeClr val="bg1"/>
              </a:solidFill>
              <a:uFillTx/>
              <a:latin typeface="+mj-ea"/>
              <a:ea typeface="+mj-ea"/>
              <a:cs typeface="+mj-ea"/>
              <a:sym typeface="+mn-ea"/>
            </a:endParaRPr>
          </a:p>
          <a:p>
            <a:endParaRPr lang="zh-CN" altLang="en-US"/>
          </a:p>
        </p:txBody>
      </p:sp>
      <p:pic>
        <p:nvPicPr>
          <p:cNvPr id="13" name="图片 12" descr="生成解释概念的图片 (1)"/>
          <p:cNvPicPr>
            <a:picLocks noChangeAspect="1"/>
          </p:cNvPicPr>
          <p:nvPr>
            <p:custDataLst>
              <p:tags r:id="rId5"/>
            </p:custDataLst>
          </p:nvPr>
        </p:nvPicPr>
        <p:blipFill>
          <a:blip r:embed="rId6"/>
          <a:stretch>
            <a:fillRect/>
          </a:stretch>
        </p:blipFill>
        <p:spPr>
          <a:xfrm>
            <a:off x="635" y="2897505"/>
            <a:ext cx="4824095" cy="2590800"/>
          </a:xfrm>
          <a:prstGeom prst="rect">
            <a:avLst/>
          </a:prstGeom>
        </p:spPr>
      </p:pic>
      <p:sp>
        <p:nvSpPr>
          <p:cNvPr id="14" name="文本框 13"/>
          <p:cNvSpPr txBox="1"/>
          <p:nvPr>
            <p:custDataLst>
              <p:tags r:id="rId7"/>
            </p:custDataLst>
          </p:nvPr>
        </p:nvSpPr>
        <p:spPr>
          <a:xfrm>
            <a:off x="4827905" y="0"/>
            <a:ext cx="7363460" cy="349885"/>
          </a:xfrm>
          <a:prstGeom prst="rect">
            <a:avLst/>
          </a:prstGeom>
          <a:solidFill>
            <a:schemeClr val="accent1"/>
          </a:solidFill>
        </p:spPr>
        <p:txBody>
          <a:bodyPr wrap="square" rtlCol="0">
            <a:noAutofit/>
          </a:bodyPr>
          <a:p>
            <a:r>
              <a:rPr lang="zh-CN" altLang="en-US" sz="1400" b="1">
                <a:solidFill>
                  <a:schemeClr val="bg1"/>
                </a:solidFill>
              </a:rPr>
              <a:t>设计问题</a:t>
            </a:r>
            <a:endParaRPr lang="zh-CN" altLang="en-US" sz="1400" b="1">
              <a:solidFill>
                <a:schemeClr val="bg1"/>
              </a:solidFill>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文本框 4"/>
          <p:cNvSpPr txBox="1"/>
          <p:nvPr/>
        </p:nvSpPr>
        <p:spPr>
          <a:xfrm>
            <a:off x="10914380" y="344170"/>
            <a:ext cx="1160780" cy="911860"/>
          </a:xfrm>
          <a:prstGeom prst="rect">
            <a:avLst/>
          </a:prstGeom>
          <a:solidFill>
            <a:schemeClr val="bg1"/>
          </a:solidFill>
        </p:spPr>
        <p:txBody>
          <a:bodyPr wrap="square" rtlCol="0">
            <a:noAutofit/>
          </a:bodyPr>
          <a:p>
            <a:endParaRPr lang="zh-CN" altLang="en-US"/>
          </a:p>
        </p:txBody>
      </p:sp>
      <p:cxnSp>
        <p:nvCxnSpPr>
          <p:cNvPr id="11" name="直接连接符 10"/>
          <p:cNvCxnSpPr/>
          <p:nvPr/>
        </p:nvCxnSpPr>
        <p:spPr>
          <a:xfrm flipH="1">
            <a:off x="5909945" y="74295"/>
            <a:ext cx="12700" cy="6779895"/>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147320" y="410210"/>
            <a:ext cx="5646420" cy="845820"/>
          </a:xfrm>
          <a:prstGeom prst="rect">
            <a:avLst/>
          </a:prstGeom>
          <a:noFill/>
        </p:spPr>
        <p:txBody>
          <a:bodyPr wrap="square" rtlCol="0" anchor="t" anchorCtr="0">
            <a:noAutofit/>
          </a:bodyPr>
          <a:p>
            <a:pPr marL="228600" indent="-228600" algn="l" eaLnBrk="1" hangingPunct="1">
              <a:lnSpc>
                <a:spcPct val="180000"/>
              </a:lnSpc>
              <a:spcBef>
                <a:spcPts val="0"/>
              </a:spcBef>
              <a:spcAft>
                <a:spcPts val="1000"/>
              </a:spcAft>
              <a:buClrTx/>
              <a:buSzTx/>
              <a:buFont typeface="+mj-ea"/>
              <a:buAutoNum type="circleNumDbPlain" startAt="3"/>
            </a:pPr>
            <a:r>
              <a:rPr lang="zh-CN" altLang="en-US" sz="1200" b="1" dirty="0">
                <a:solidFill>
                  <a:srgbClr val="FF0000"/>
                </a:solidFill>
                <a:uFillTx/>
                <a:latin typeface="+mj-ea"/>
                <a:ea typeface="+mj-ea"/>
                <a:cs typeface="+mj-ea"/>
                <a:sym typeface="+mn-ea"/>
              </a:rPr>
              <a:t>出错信息处理：</a:t>
            </a:r>
            <a:r>
              <a:rPr lang="zh-CN" altLang="en-US" sz="1200" b="1" dirty="0">
                <a:uFillTx/>
                <a:latin typeface="+mj-ea"/>
                <a:ea typeface="+mj-ea"/>
                <a:cs typeface="+mj-ea"/>
                <a:sym typeface="+mn-ea"/>
              </a:rPr>
              <a:t> </a:t>
            </a:r>
            <a:r>
              <a:rPr lang="zh-CN" altLang="en-US" sz="1200" b="1" dirty="0">
                <a:solidFill>
                  <a:srgbClr val="00B0F0"/>
                </a:solidFill>
                <a:uFillTx/>
                <a:latin typeface="+mj-ea"/>
                <a:ea typeface="+mj-ea"/>
                <a:cs typeface="+mj-ea"/>
                <a:sym typeface="+mn-ea"/>
              </a:rPr>
              <a:t>出错信息</a:t>
            </a:r>
            <a:r>
              <a:rPr lang="zh-CN" altLang="en-US" sz="1200" b="1" dirty="0">
                <a:uFillTx/>
                <a:latin typeface="+mj-ea"/>
                <a:ea typeface="+mj-ea"/>
                <a:cs typeface="+mj-ea"/>
                <a:sym typeface="+mn-ea"/>
              </a:rPr>
              <a:t>和</a:t>
            </a:r>
            <a:r>
              <a:rPr lang="zh-CN" altLang="en-US" sz="1200" b="1" dirty="0">
                <a:solidFill>
                  <a:srgbClr val="00B0F0"/>
                </a:solidFill>
                <a:uFillTx/>
                <a:latin typeface="+mj-ea"/>
                <a:ea typeface="+mj-ea"/>
                <a:cs typeface="+mj-ea"/>
                <a:sym typeface="+mn-ea"/>
              </a:rPr>
              <a:t>警告信息</a:t>
            </a:r>
            <a:r>
              <a:rPr lang="zh-CN" altLang="en-US" sz="1200" b="1" dirty="0">
                <a:uFillTx/>
                <a:latin typeface="+mj-ea"/>
                <a:ea typeface="+mj-ea"/>
                <a:cs typeface="+mj-ea"/>
                <a:sym typeface="+mn-ea"/>
              </a:rPr>
              <a:t>，是出现问题时交互式系统给出的“坏消息”。一般说来，交互式系统给出的出错信息或警告信息，具有下述属性：</a:t>
            </a:r>
            <a:endParaRPr lang="zh-CN" altLang="en-US" sz="1200" b="1" dirty="0">
              <a:uFillTx/>
              <a:latin typeface="+mj-ea"/>
              <a:ea typeface="+mj-ea"/>
              <a:cs typeface="+mj-ea"/>
              <a:sym typeface="+mn-ea"/>
            </a:endParaRPr>
          </a:p>
        </p:txBody>
      </p:sp>
      <p:sp>
        <p:nvSpPr>
          <p:cNvPr id="10" name="文本占位符 1"/>
          <p:cNvSpPr>
            <a:spLocks noGrp="1"/>
          </p:cNvSpPr>
          <p:nvPr>
            <p:custDataLst>
              <p:tags r:id="rId1"/>
            </p:custDataLst>
          </p:nvPr>
        </p:nvSpPr>
        <p:spPr>
          <a:xfrm>
            <a:off x="6268720" y="349885"/>
            <a:ext cx="5155565" cy="60198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60000"/>
              </a:lnSpc>
              <a:spcBef>
                <a:spcPts val="0"/>
              </a:spcBef>
              <a:buClrTx/>
              <a:buSzTx/>
              <a:buNone/>
            </a:pPr>
            <a:endParaRPr lang="zh-CN" altLang="en-US" sz="1800" b="1" spc="150">
              <a:solidFill>
                <a:srgbClr val="00B0F0"/>
              </a:solidFill>
              <a:latin typeface="+mj-ea"/>
              <a:ea typeface="+mj-ea"/>
              <a:cs typeface="+mj-ea"/>
              <a:sym typeface="+mn-ea"/>
            </a:endParaRPr>
          </a:p>
        </p:txBody>
      </p:sp>
      <p:sp>
        <p:nvSpPr>
          <p:cNvPr id="13" name="文本框 12"/>
          <p:cNvSpPr txBox="1"/>
          <p:nvPr/>
        </p:nvSpPr>
        <p:spPr>
          <a:xfrm>
            <a:off x="6214745" y="410210"/>
            <a:ext cx="5372100" cy="659765"/>
          </a:xfrm>
          <a:prstGeom prst="rect">
            <a:avLst/>
          </a:prstGeom>
          <a:noFill/>
        </p:spPr>
        <p:txBody>
          <a:bodyPr wrap="square" rtlCol="0">
            <a:noAutofit/>
          </a:bodyPr>
          <a:p>
            <a:pPr marL="228600" indent="-228600" algn="l" eaLnBrk="1" hangingPunct="1">
              <a:lnSpc>
                <a:spcPct val="180000"/>
              </a:lnSpc>
              <a:spcBef>
                <a:spcPts val="0"/>
              </a:spcBef>
              <a:spcAft>
                <a:spcPts val="1000"/>
              </a:spcAft>
              <a:buClrTx/>
              <a:buSzTx/>
              <a:buFont typeface="+mj-ea"/>
              <a:buAutoNum type="circleNumDbPlain" startAt="4"/>
            </a:pPr>
            <a:r>
              <a:rPr lang="zh-CN" altLang="en-US" sz="1200" b="1" dirty="0">
                <a:solidFill>
                  <a:srgbClr val="FF0000"/>
                </a:solidFill>
                <a:uFillTx/>
                <a:latin typeface="+mj-ea"/>
                <a:ea typeface="+mj-ea"/>
                <a:cs typeface="+mj-ea"/>
                <a:sym typeface="+mn-ea"/>
              </a:rPr>
              <a:t>命令交互：</a:t>
            </a:r>
            <a:r>
              <a:rPr lang="zh-CN" altLang="en-US" sz="1200" b="1" dirty="0">
                <a:uFillTx/>
                <a:latin typeface="+mj-ea"/>
                <a:ea typeface="+mj-ea"/>
                <a:cs typeface="+mj-ea"/>
                <a:sym typeface="+mn-ea"/>
              </a:rPr>
              <a:t> </a:t>
            </a:r>
            <a:r>
              <a:rPr lang="zh-CN" altLang="en-US" sz="1200" b="1" dirty="0">
                <a:uFillTx/>
                <a:latin typeface="+mj-ea"/>
                <a:ea typeface="+mj-ea"/>
                <a:cs typeface="+mj-ea"/>
                <a:sym typeface="+mn-ea"/>
              </a:rPr>
              <a:t>许多高级用户仍然偏爱面向命令行的交互方式在提供命令交互方式时，必须考虑下列设计问题。</a:t>
            </a:r>
            <a:endParaRPr lang="zh-CN" altLang="en-US" sz="1200" b="1" dirty="0">
              <a:uFillTx/>
              <a:latin typeface="+mj-ea"/>
              <a:ea typeface="+mj-ea"/>
              <a:cs typeface="+mj-ea"/>
              <a:sym typeface="+mn-ea"/>
            </a:endParaRPr>
          </a:p>
          <a:p>
            <a:pPr marL="0" indent="720090" algn="l" eaLnBrk="1" hangingPunct="1">
              <a:lnSpc>
                <a:spcPct val="170000"/>
              </a:lnSpc>
              <a:buClrTx/>
              <a:buSzTx/>
              <a:buFont typeface="Wingdings" panose="05000000000000000000" charset="0"/>
              <a:buNone/>
            </a:pPr>
            <a:endParaRPr lang="zh-CN" altLang="en-US" b="1"/>
          </a:p>
        </p:txBody>
      </p:sp>
      <p:sp>
        <p:nvSpPr>
          <p:cNvPr id="3" name="文本框 2"/>
          <p:cNvSpPr txBox="1"/>
          <p:nvPr/>
        </p:nvSpPr>
        <p:spPr>
          <a:xfrm>
            <a:off x="367665" y="1233805"/>
            <a:ext cx="5262880" cy="4257675"/>
          </a:xfrm>
          <a:prstGeom prst="rect">
            <a:avLst/>
          </a:prstGeom>
          <a:noFill/>
        </p:spPr>
        <p:txBody>
          <a:bodyPr wrap="square" rtlCol="0">
            <a:noAutofit/>
          </a:bodyPr>
          <a:p>
            <a:pPr marL="228600" indent="-228600" algn="l" eaLnBrk="1" hangingPunct="1">
              <a:lnSpc>
                <a:spcPct val="170000"/>
              </a:lnSpc>
              <a:spcBef>
                <a:spcPts val="0"/>
              </a:spcBef>
              <a:spcAft>
                <a:spcPts val="1000"/>
              </a:spcAft>
              <a:buClrTx/>
              <a:buSzTx/>
              <a:buFont typeface="+mj-ea"/>
              <a:buAutoNum type="circleNumDbPlain"/>
            </a:pPr>
            <a:r>
              <a:rPr lang="en-US" altLang="zh-CN" sz="1200" dirty="0">
                <a:uFillTx/>
                <a:latin typeface="+mj-ea"/>
                <a:ea typeface="+mj-ea"/>
                <a:cs typeface="+mj-ea"/>
                <a:sym typeface="+mn-ea"/>
              </a:rPr>
              <a:t> </a:t>
            </a:r>
            <a:r>
              <a:rPr lang="zh-CN" altLang="en-US" sz="1200" dirty="0">
                <a:uFillTx/>
                <a:latin typeface="+mj-ea"/>
                <a:ea typeface="+mj-ea"/>
                <a:cs typeface="+mj-ea"/>
                <a:sym typeface="+mn-ea"/>
              </a:rPr>
              <a:t>用用户</a:t>
            </a:r>
            <a:r>
              <a:rPr lang="zh-CN" altLang="en-US" sz="1200" b="1" dirty="0">
                <a:highlight>
                  <a:srgbClr val="00FF00"/>
                </a:highlight>
                <a:uFillTx/>
                <a:latin typeface="+mj-ea"/>
                <a:ea typeface="+mj-ea"/>
                <a:cs typeface="+mj-ea"/>
                <a:sym typeface="+mn-ea"/>
              </a:rPr>
              <a:t>可以理解</a:t>
            </a:r>
            <a:r>
              <a:rPr lang="zh-CN" altLang="en-US" sz="1200" dirty="0">
                <a:uFillTx/>
                <a:latin typeface="+mj-ea"/>
                <a:ea typeface="+mj-ea"/>
                <a:cs typeface="+mj-ea"/>
                <a:sym typeface="+mn-ea"/>
              </a:rPr>
              <a:t>的术语描述问题。</a:t>
            </a:r>
            <a:endParaRPr lang="zh-CN" altLang="en-US" sz="1200" dirty="0">
              <a:uFillTx/>
              <a:latin typeface="+mj-ea"/>
              <a:ea typeface="+mj-ea"/>
              <a:cs typeface="+mj-ea"/>
            </a:endParaRPr>
          </a:p>
          <a:p>
            <a:pPr marL="228600" indent="-228600" algn="l" eaLnBrk="1" hangingPunct="1">
              <a:lnSpc>
                <a:spcPct val="170000"/>
              </a:lnSpc>
              <a:spcBef>
                <a:spcPts val="0"/>
              </a:spcBef>
              <a:spcAft>
                <a:spcPts val="1000"/>
              </a:spcAft>
              <a:buClrTx/>
              <a:buSzTx/>
              <a:buFont typeface="+mj-ea"/>
              <a:buAutoNum type="circleNumDbPlain"/>
            </a:pPr>
            <a:r>
              <a:rPr lang="zh-CN" altLang="en-US" sz="1200" dirty="0">
                <a:uFillTx/>
                <a:latin typeface="+mj-ea"/>
                <a:ea typeface="+mj-ea"/>
                <a:cs typeface="+mj-ea"/>
                <a:sym typeface="+mn-ea"/>
              </a:rPr>
              <a:t>提供有助于从错误中恢复的</a:t>
            </a:r>
            <a:r>
              <a:rPr lang="zh-CN" altLang="en-US" sz="1200" b="1" dirty="0">
                <a:highlight>
                  <a:srgbClr val="00FF00"/>
                </a:highlight>
                <a:uFillTx/>
                <a:latin typeface="+mj-ea"/>
                <a:ea typeface="+mj-ea"/>
                <a:cs typeface="+mj-ea"/>
                <a:sym typeface="+mn-ea"/>
              </a:rPr>
              <a:t>建设性意见</a:t>
            </a:r>
            <a:r>
              <a:rPr lang="zh-CN" altLang="en-US" sz="1200" dirty="0">
                <a:uFillTx/>
                <a:latin typeface="+mj-ea"/>
                <a:ea typeface="+mj-ea"/>
                <a:cs typeface="+mj-ea"/>
                <a:sym typeface="+mn-ea"/>
              </a:rPr>
              <a:t>。</a:t>
            </a:r>
            <a:endParaRPr lang="zh-CN" altLang="en-US" sz="1200" dirty="0">
              <a:uFillTx/>
              <a:latin typeface="+mj-ea"/>
              <a:ea typeface="+mj-ea"/>
              <a:cs typeface="+mj-ea"/>
            </a:endParaRPr>
          </a:p>
          <a:p>
            <a:pPr marL="228600" indent="-228600" algn="l" eaLnBrk="1" hangingPunct="1">
              <a:lnSpc>
                <a:spcPct val="170000"/>
              </a:lnSpc>
              <a:spcBef>
                <a:spcPts val="0"/>
              </a:spcBef>
              <a:spcAft>
                <a:spcPts val="1000"/>
              </a:spcAft>
              <a:buClrTx/>
              <a:buSzTx/>
              <a:buFont typeface="+mj-ea"/>
              <a:buAutoNum type="circleNumDbPlain"/>
            </a:pPr>
            <a:r>
              <a:rPr lang="zh-CN" altLang="en-US" sz="1200" dirty="0">
                <a:uFillTx/>
                <a:latin typeface="+mj-ea"/>
                <a:ea typeface="+mj-ea"/>
                <a:cs typeface="+mj-ea"/>
                <a:sym typeface="+mn-ea"/>
              </a:rPr>
              <a:t>指出错误可能导致哪些</a:t>
            </a:r>
            <a:r>
              <a:rPr lang="zh-CN" altLang="en-US" sz="1200" b="1" dirty="0">
                <a:highlight>
                  <a:srgbClr val="00FF00"/>
                </a:highlight>
                <a:uFillTx/>
                <a:latin typeface="+mj-ea"/>
                <a:ea typeface="+mj-ea"/>
                <a:cs typeface="+mj-ea"/>
                <a:sym typeface="+mn-ea"/>
              </a:rPr>
              <a:t>负面后果</a:t>
            </a:r>
            <a:r>
              <a:rPr lang="zh-CN" altLang="en-US" sz="1200" dirty="0">
                <a:uFillTx/>
                <a:latin typeface="+mj-ea"/>
                <a:ea typeface="+mj-ea"/>
                <a:cs typeface="+mj-ea"/>
                <a:sym typeface="+mn-ea"/>
              </a:rPr>
              <a:t>（例如，破坏数据文件）以便用户检查是否出现了这些问题，并在确实出现问题时及时解决。</a:t>
            </a:r>
            <a:endParaRPr lang="zh-CN" altLang="en-US" sz="1200" dirty="0">
              <a:uFillTx/>
              <a:latin typeface="+mj-ea"/>
              <a:ea typeface="+mj-ea"/>
              <a:cs typeface="+mj-ea"/>
              <a:sym typeface="+mn-ea"/>
            </a:endParaRPr>
          </a:p>
          <a:p>
            <a:pPr marL="228600" indent="-228600" algn="l" eaLnBrk="1" hangingPunct="1">
              <a:lnSpc>
                <a:spcPct val="170000"/>
              </a:lnSpc>
              <a:spcBef>
                <a:spcPts val="0"/>
              </a:spcBef>
              <a:spcAft>
                <a:spcPts val="1000"/>
              </a:spcAft>
              <a:buClrTx/>
              <a:buSzTx/>
              <a:buFont typeface="+mj-ea"/>
              <a:buAutoNum type="circleNumDbPlain"/>
            </a:pPr>
            <a:r>
              <a:rPr lang="zh-CN" altLang="en-US" sz="1200" dirty="0">
                <a:uFillTx/>
                <a:latin typeface="+mj-ea"/>
                <a:ea typeface="+mj-ea"/>
                <a:cs typeface="+mj-ea"/>
                <a:sym typeface="+mn-ea"/>
              </a:rPr>
              <a:t>伴随着听觉上或视觉上的</a:t>
            </a:r>
            <a:r>
              <a:rPr lang="zh-CN" altLang="en-US" sz="1200" b="1" dirty="0">
                <a:highlight>
                  <a:srgbClr val="00FF00"/>
                </a:highlight>
                <a:uFillTx/>
                <a:latin typeface="+mj-ea"/>
                <a:ea typeface="+mj-ea"/>
                <a:cs typeface="+mj-ea"/>
                <a:sym typeface="+mn-ea"/>
              </a:rPr>
              <a:t>提示</a:t>
            </a:r>
            <a:endParaRPr lang="zh-CN" altLang="en-US" sz="1200" dirty="0">
              <a:uFillTx/>
              <a:latin typeface="+mj-ea"/>
              <a:ea typeface="+mj-ea"/>
              <a:cs typeface="+mj-ea"/>
              <a:sym typeface="+mn-ea"/>
            </a:endParaRPr>
          </a:p>
          <a:p>
            <a:pPr marL="228600" indent="-228600" algn="l" eaLnBrk="1" hangingPunct="1">
              <a:lnSpc>
                <a:spcPct val="170000"/>
              </a:lnSpc>
              <a:spcBef>
                <a:spcPts val="0"/>
              </a:spcBef>
              <a:spcAft>
                <a:spcPts val="1000"/>
              </a:spcAft>
              <a:buClrTx/>
              <a:buSzTx/>
              <a:buFont typeface="+mj-ea"/>
              <a:buAutoNum type="circleNumDbPlain"/>
            </a:pPr>
            <a:r>
              <a:rPr lang="zh-CN" altLang="en-US" sz="1200" dirty="0">
                <a:uFillTx/>
                <a:latin typeface="+mj-ea"/>
                <a:ea typeface="+mj-ea"/>
                <a:cs typeface="+mj-ea"/>
                <a:sym typeface="+mn-ea"/>
              </a:rPr>
              <a:t>不能带有</a:t>
            </a:r>
            <a:r>
              <a:rPr lang="zh-CN" altLang="en-US" sz="1200" b="1" dirty="0">
                <a:highlight>
                  <a:srgbClr val="00FF00"/>
                </a:highlight>
                <a:uFillTx/>
                <a:latin typeface="+mj-ea"/>
                <a:ea typeface="+mj-ea"/>
                <a:cs typeface="+mj-ea"/>
                <a:sym typeface="+mn-ea"/>
              </a:rPr>
              <a:t>指责色彩</a:t>
            </a:r>
            <a:r>
              <a:rPr lang="zh-CN" altLang="en-US" sz="1200" dirty="0">
                <a:uFillTx/>
                <a:latin typeface="+mj-ea"/>
                <a:ea typeface="+mj-ea"/>
                <a:cs typeface="+mj-ea"/>
                <a:sym typeface="+mn-ea"/>
              </a:rPr>
              <a:t>，不能责怪用户。</a:t>
            </a:r>
            <a:endParaRPr lang="zh-CN" altLang="en-US" sz="1200" dirty="0">
              <a:uFillTx/>
              <a:latin typeface="+mj-ea"/>
              <a:ea typeface="+mj-ea"/>
              <a:cs typeface="+mj-ea"/>
            </a:endParaRPr>
          </a:p>
          <a:p>
            <a:endParaRPr lang="zh-CN" altLang="en-US"/>
          </a:p>
        </p:txBody>
      </p:sp>
      <p:grpSp>
        <p:nvGrpSpPr>
          <p:cNvPr id="4" name="组合 3"/>
          <p:cNvGrpSpPr/>
          <p:nvPr/>
        </p:nvGrpSpPr>
        <p:grpSpPr>
          <a:xfrm>
            <a:off x="299720" y="3930015"/>
            <a:ext cx="5423535" cy="2572385"/>
            <a:chOff x="472" y="6345"/>
            <a:chExt cx="8541" cy="4051"/>
          </a:xfrm>
        </p:grpSpPr>
        <p:pic>
          <p:nvPicPr>
            <p:cNvPr id="8" name="图片 7"/>
            <p:cNvPicPr>
              <a:picLocks noChangeAspect="1"/>
            </p:cNvPicPr>
            <p:nvPr/>
          </p:nvPicPr>
          <p:blipFill>
            <a:blip r:embed="rId2"/>
            <a:stretch>
              <a:fillRect/>
            </a:stretch>
          </p:blipFill>
          <p:spPr>
            <a:xfrm>
              <a:off x="472" y="6345"/>
              <a:ext cx="4525" cy="2227"/>
            </a:xfrm>
            <a:prstGeom prst="rect">
              <a:avLst/>
            </a:prstGeom>
            <a:ln>
              <a:solidFill>
                <a:schemeClr val="tx2"/>
              </a:solidFill>
            </a:ln>
          </p:spPr>
        </p:pic>
        <p:pic>
          <p:nvPicPr>
            <p:cNvPr id="18" name="图片 17"/>
            <p:cNvPicPr>
              <a:picLocks noChangeAspect="1"/>
            </p:cNvPicPr>
            <p:nvPr/>
          </p:nvPicPr>
          <p:blipFill>
            <a:blip r:embed="rId3"/>
            <a:stretch>
              <a:fillRect/>
            </a:stretch>
          </p:blipFill>
          <p:spPr>
            <a:xfrm>
              <a:off x="497" y="8737"/>
              <a:ext cx="4500" cy="1659"/>
            </a:xfrm>
            <a:prstGeom prst="rect">
              <a:avLst/>
            </a:prstGeom>
            <a:ln>
              <a:solidFill>
                <a:schemeClr val="tx2"/>
              </a:solidFill>
            </a:ln>
          </p:spPr>
        </p:pic>
        <p:pic>
          <p:nvPicPr>
            <p:cNvPr id="19" name="图片 18"/>
            <p:cNvPicPr>
              <a:picLocks noChangeAspect="1"/>
            </p:cNvPicPr>
            <p:nvPr/>
          </p:nvPicPr>
          <p:blipFill>
            <a:blip r:embed="rId4"/>
            <a:stretch>
              <a:fillRect/>
            </a:stretch>
          </p:blipFill>
          <p:spPr>
            <a:xfrm>
              <a:off x="5395" y="6345"/>
              <a:ext cx="3618" cy="1743"/>
            </a:xfrm>
            <a:prstGeom prst="rect">
              <a:avLst/>
            </a:prstGeom>
            <a:ln>
              <a:solidFill>
                <a:schemeClr val="tx2"/>
              </a:solidFill>
            </a:ln>
          </p:spPr>
        </p:pic>
        <p:pic>
          <p:nvPicPr>
            <p:cNvPr id="20" name="图片 19"/>
            <p:cNvPicPr>
              <a:picLocks noChangeAspect="1"/>
            </p:cNvPicPr>
            <p:nvPr/>
          </p:nvPicPr>
          <p:blipFill>
            <a:blip r:embed="rId5"/>
            <a:stretch>
              <a:fillRect/>
            </a:stretch>
          </p:blipFill>
          <p:spPr>
            <a:xfrm>
              <a:off x="5404" y="8304"/>
              <a:ext cx="3609" cy="2092"/>
            </a:xfrm>
            <a:prstGeom prst="rect">
              <a:avLst/>
            </a:prstGeom>
            <a:ln>
              <a:solidFill>
                <a:schemeClr val="tx2"/>
              </a:solidFill>
            </a:ln>
          </p:spPr>
        </p:pic>
      </p:grpSp>
      <p:sp>
        <p:nvSpPr>
          <p:cNvPr id="21" name="文本框 20"/>
          <p:cNvSpPr txBox="1"/>
          <p:nvPr/>
        </p:nvSpPr>
        <p:spPr>
          <a:xfrm>
            <a:off x="6095365" y="3764280"/>
            <a:ext cx="5504815" cy="2704465"/>
          </a:xfrm>
          <a:prstGeom prst="rect">
            <a:avLst/>
          </a:prstGeom>
          <a:noFill/>
        </p:spPr>
        <p:txBody>
          <a:bodyPr wrap="square" rtlCol="0">
            <a:noAutofit/>
          </a:bodyPr>
          <a:p>
            <a:pPr marL="228600" indent="-228600" algn="l" eaLnBrk="1" hangingPunct="1">
              <a:lnSpc>
                <a:spcPct val="130000"/>
              </a:lnSpc>
              <a:spcBef>
                <a:spcPts val="0"/>
              </a:spcBef>
              <a:spcAft>
                <a:spcPts val="1000"/>
              </a:spcAft>
              <a:buClrTx/>
              <a:buSzTx/>
              <a:buFont typeface="+mj-ea"/>
              <a:buAutoNum type="circleNumDbPlain"/>
            </a:pPr>
            <a:r>
              <a:rPr lang="zh-CN" altLang="en-US" sz="1200" dirty="0">
                <a:uFillTx/>
                <a:latin typeface="+mj-ea"/>
                <a:ea typeface="+mj-ea"/>
                <a:cs typeface="+mj-ea"/>
                <a:sym typeface="+mn-ea"/>
              </a:rPr>
              <a:t>是否每个菜单选项都有对应的命令？</a:t>
            </a:r>
            <a:endParaRPr lang="zh-CN" altLang="en-US" sz="1200" dirty="0">
              <a:uFillTx/>
              <a:latin typeface="+mj-ea"/>
              <a:ea typeface="+mj-ea"/>
              <a:cs typeface="+mj-ea"/>
            </a:endParaRPr>
          </a:p>
          <a:p>
            <a:pPr marL="228600" indent="-228600" algn="l" eaLnBrk="1" hangingPunct="1">
              <a:lnSpc>
                <a:spcPct val="130000"/>
              </a:lnSpc>
              <a:spcBef>
                <a:spcPts val="0"/>
              </a:spcBef>
              <a:spcAft>
                <a:spcPts val="1000"/>
              </a:spcAft>
              <a:buClrTx/>
              <a:buSzTx/>
              <a:buFont typeface="+mj-ea"/>
              <a:buAutoNum type="circleNumDbPlain"/>
            </a:pPr>
            <a:r>
              <a:rPr lang="zh-CN" altLang="en-US" sz="1200" dirty="0">
                <a:uFillTx/>
                <a:latin typeface="+mj-ea"/>
                <a:ea typeface="+mj-ea"/>
                <a:cs typeface="+mj-ea"/>
                <a:sym typeface="+mn-ea"/>
              </a:rPr>
              <a:t>采用何种命令形式？（控制序列，例如，Ctrl+P），功能键和输入命令。</a:t>
            </a:r>
            <a:endParaRPr lang="zh-CN" altLang="en-US" sz="1200" dirty="0">
              <a:uFillTx/>
              <a:latin typeface="+mj-ea"/>
              <a:ea typeface="+mj-ea"/>
              <a:cs typeface="+mj-ea"/>
            </a:endParaRPr>
          </a:p>
          <a:p>
            <a:pPr marL="228600" indent="-228600" algn="l" eaLnBrk="1" hangingPunct="1">
              <a:lnSpc>
                <a:spcPct val="130000"/>
              </a:lnSpc>
              <a:spcBef>
                <a:spcPts val="0"/>
              </a:spcBef>
              <a:spcAft>
                <a:spcPts val="1000"/>
              </a:spcAft>
              <a:buClrTx/>
              <a:buSzTx/>
              <a:buFont typeface="+mj-ea"/>
              <a:buAutoNum type="circleNumDbPlain"/>
            </a:pPr>
            <a:r>
              <a:rPr lang="zh-CN" altLang="en-US" sz="1200" dirty="0">
                <a:uFillTx/>
                <a:latin typeface="+mj-ea"/>
                <a:ea typeface="+mj-ea"/>
                <a:cs typeface="+mj-ea"/>
                <a:sym typeface="+mn-ea"/>
              </a:rPr>
              <a:t> 学习和记忆命令的难度有多大？忘记了命令怎么办？</a:t>
            </a:r>
            <a:endParaRPr lang="zh-CN" altLang="en-US" sz="1200" dirty="0">
              <a:uFillTx/>
              <a:latin typeface="+mj-ea"/>
              <a:ea typeface="+mj-ea"/>
              <a:cs typeface="+mj-ea"/>
            </a:endParaRPr>
          </a:p>
          <a:p>
            <a:pPr marL="228600" indent="-228600" algn="l" eaLnBrk="1" hangingPunct="1">
              <a:lnSpc>
                <a:spcPct val="130000"/>
              </a:lnSpc>
              <a:spcBef>
                <a:spcPts val="0"/>
              </a:spcBef>
              <a:spcAft>
                <a:spcPts val="1000"/>
              </a:spcAft>
              <a:buClrTx/>
              <a:buSzTx/>
              <a:buFont typeface="+mj-ea"/>
              <a:buAutoNum type="circleNumDbPlain"/>
            </a:pPr>
            <a:r>
              <a:rPr lang="zh-CN" altLang="en-US" sz="1200" dirty="0">
                <a:uFillTx/>
                <a:latin typeface="+mj-ea"/>
                <a:ea typeface="+mj-ea"/>
                <a:cs typeface="+mj-ea"/>
                <a:sym typeface="+mn-ea"/>
              </a:rPr>
              <a:t> 用户是否可以定制或缩写命令？</a:t>
            </a:r>
            <a:endParaRPr lang="zh-CN" altLang="en-US" sz="1200" dirty="0">
              <a:uFillTx/>
              <a:latin typeface="+mj-ea"/>
              <a:ea typeface="+mj-ea"/>
              <a:cs typeface="+mj-ea"/>
            </a:endParaRPr>
          </a:p>
          <a:p>
            <a:pPr algn="l" eaLnBrk="1" hangingPunct="1">
              <a:lnSpc>
                <a:spcPct val="180000"/>
              </a:lnSpc>
              <a:spcBef>
                <a:spcPts val="0"/>
              </a:spcBef>
              <a:spcAft>
                <a:spcPts val="1000"/>
              </a:spcAft>
              <a:buClrTx/>
              <a:buSzTx/>
              <a:buFont typeface="+mj-ea"/>
              <a:buNone/>
            </a:pPr>
            <a:r>
              <a:rPr lang="zh-CN" altLang="en-US" sz="1200" dirty="0">
                <a:uFillTx/>
                <a:latin typeface="+mj-ea"/>
                <a:ea typeface="+mj-ea"/>
                <a:cs typeface="+mj-ea"/>
                <a:sym typeface="+mn-ea"/>
              </a:rPr>
              <a:t>在越来越多的应用软件中，人机界面设计者都提供了“</a:t>
            </a:r>
            <a:r>
              <a:rPr lang="zh-CN" altLang="en-US" sz="1200" b="1" dirty="0">
                <a:highlight>
                  <a:srgbClr val="00FF00"/>
                </a:highlight>
                <a:uFillTx/>
                <a:latin typeface="+mj-ea"/>
                <a:ea typeface="+mj-ea"/>
                <a:cs typeface="+mj-ea"/>
                <a:sym typeface="+mn-ea"/>
              </a:rPr>
              <a:t>命令宏机制</a:t>
            </a:r>
            <a:r>
              <a:rPr lang="zh-CN" altLang="en-US" sz="1200" dirty="0">
                <a:uFillTx/>
                <a:latin typeface="+mj-ea"/>
                <a:ea typeface="+mj-ea"/>
                <a:cs typeface="+mj-ea"/>
                <a:sym typeface="+mn-ea"/>
              </a:rPr>
              <a:t>”。（命令宏的本质是 </a:t>
            </a:r>
            <a:r>
              <a:rPr lang="zh-CN" altLang="en-US" sz="1200" b="1" dirty="0">
                <a:solidFill>
                  <a:srgbClr val="FF0000"/>
                </a:solidFill>
                <a:uFillTx/>
                <a:latin typeface="+mj-ea"/>
                <a:ea typeface="+mj-ea"/>
                <a:cs typeface="+mj-ea"/>
                <a:sym typeface="+mn-ea"/>
              </a:rPr>
              <a:t>“记录操作 → 生成代码 → 重复执行”</a:t>
            </a:r>
            <a:r>
              <a:rPr lang="zh-CN" altLang="en-US" sz="1200" dirty="0">
                <a:solidFill>
                  <a:srgbClr val="FF0000"/>
                </a:solidFill>
                <a:uFillTx/>
                <a:latin typeface="+mj-ea"/>
                <a:ea typeface="+mj-ea"/>
                <a:cs typeface="+mj-ea"/>
                <a:sym typeface="+mn-ea"/>
              </a:rPr>
              <a:t>，</a:t>
            </a:r>
            <a:r>
              <a:rPr lang="zh-CN" altLang="en-US" sz="1200" dirty="0">
                <a:uFillTx/>
                <a:latin typeface="+mj-ea"/>
                <a:ea typeface="+mj-ea"/>
                <a:cs typeface="+mj-ea"/>
                <a:sym typeface="+mn-ea"/>
              </a:rPr>
              <a:t>适用于：重复性任务自动化，自定义功能扩展，提高效率。掌握宏的使用可以极大提升办公效率！ </a:t>
            </a:r>
            <a:endParaRPr lang="zh-CN" altLang="en-US" sz="1200" dirty="0">
              <a:uFillTx/>
              <a:latin typeface="+mj-ea"/>
              <a:ea typeface="+mj-ea"/>
              <a:cs typeface="+mj-ea"/>
            </a:endParaRPr>
          </a:p>
          <a:p>
            <a:endParaRPr lang="zh-CN" altLang="en-US"/>
          </a:p>
        </p:txBody>
      </p:sp>
      <p:pic>
        <p:nvPicPr>
          <p:cNvPr id="23" name="图片 22"/>
          <p:cNvPicPr>
            <a:picLocks noChangeAspect="1"/>
          </p:cNvPicPr>
          <p:nvPr/>
        </p:nvPicPr>
        <p:blipFill>
          <a:blip r:embed="rId6"/>
          <a:stretch>
            <a:fillRect/>
          </a:stretch>
        </p:blipFill>
        <p:spPr>
          <a:xfrm>
            <a:off x="6041390" y="1299845"/>
            <a:ext cx="3464560" cy="2331720"/>
          </a:xfrm>
          <a:prstGeom prst="rect">
            <a:avLst/>
          </a:prstGeom>
          <a:ln>
            <a:solidFill>
              <a:schemeClr val="tx2"/>
            </a:solidFill>
          </a:ln>
        </p:spPr>
      </p:pic>
      <p:pic>
        <p:nvPicPr>
          <p:cNvPr id="24" name="图片 23"/>
          <p:cNvPicPr>
            <a:picLocks noChangeAspect="1"/>
          </p:cNvPicPr>
          <p:nvPr/>
        </p:nvPicPr>
        <p:blipFill>
          <a:blip r:embed="rId7"/>
          <a:stretch>
            <a:fillRect/>
          </a:stretch>
        </p:blipFill>
        <p:spPr>
          <a:xfrm>
            <a:off x="9601835" y="889000"/>
            <a:ext cx="2395855" cy="3119755"/>
          </a:xfrm>
          <a:prstGeom prst="rect">
            <a:avLst/>
          </a:prstGeom>
        </p:spPr>
      </p:pic>
      <p:sp>
        <p:nvSpPr>
          <p:cNvPr id="14" name="文本框 13"/>
          <p:cNvSpPr txBox="1"/>
          <p:nvPr>
            <p:custDataLst>
              <p:tags r:id="rId8"/>
            </p:custDataLst>
          </p:nvPr>
        </p:nvSpPr>
        <p:spPr>
          <a:xfrm>
            <a:off x="0" y="0"/>
            <a:ext cx="12192635" cy="349885"/>
          </a:xfrm>
          <a:prstGeom prst="rect">
            <a:avLst/>
          </a:prstGeom>
          <a:solidFill>
            <a:schemeClr val="accent1"/>
          </a:solidFill>
        </p:spPr>
        <p:txBody>
          <a:bodyPr wrap="square" rtlCol="0">
            <a:noAutofit/>
          </a:bodyPr>
          <a:p>
            <a:r>
              <a:rPr lang="zh-CN" altLang="en-US" sz="1400" b="1">
                <a:solidFill>
                  <a:schemeClr val="bg1"/>
                </a:solidFill>
              </a:rPr>
              <a:t>设计问题</a:t>
            </a:r>
            <a:endParaRPr lang="zh-CN" altLang="en-US" sz="1400" b="1">
              <a:solidFill>
                <a:schemeClr val="bg1"/>
              </a:solidFill>
            </a:endParaRPr>
          </a:p>
        </p:txBody>
      </p:sp>
    </p:spTree>
    <p:custDataLst>
      <p:tags r:id="rId9"/>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8770620" y="2825115"/>
            <a:ext cx="3192145" cy="3795395"/>
            <a:chOff x="13414" y="4383"/>
            <a:chExt cx="5785" cy="6104"/>
          </a:xfrm>
        </p:grpSpPr>
        <p:pic>
          <p:nvPicPr>
            <p:cNvPr id="15" name="图片 14"/>
            <p:cNvPicPr>
              <a:picLocks noChangeAspect="1"/>
            </p:cNvPicPr>
            <p:nvPr/>
          </p:nvPicPr>
          <p:blipFill>
            <a:blip r:embed="rId1"/>
            <a:srcRect l="6578" r="1450"/>
            <a:stretch>
              <a:fillRect/>
            </a:stretch>
          </p:blipFill>
          <p:spPr>
            <a:xfrm>
              <a:off x="13579" y="4383"/>
              <a:ext cx="5621" cy="6105"/>
            </a:xfrm>
            <a:prstGeom prst="rect">
              <a:avLst/>
            </a:prstGeom>
          </p:spPr>
        </p:pic>
        <p:sp>
          <p:nvSpPr>
            <p:cNvPr id="16" name="文本框 15"/>
            <p:cNvSpPr txBox="1"/>
            <p:nvPr/>
          </p:nvSpPr>
          <p:spPr>
            <a:xfrm>
              <a:off x="13414" y="4559"/>
              <a:ext cx="1154" cy="580"/>
            </a:xfrm>
            <a:prstGeom prst="rect">
              <a:avLst/>
            </a:prstGeom>
            <a:solidFill>
              <a:schemeClr val="bg2"/>
            </a:solidFill>
          </p:spPr>
          <p:txBody>
            <a:bodyPr wrap="square" rtlCol="0">
              <a:spAutoFit/>
            </a:bodyPr>
            <a:p>
              <a:endParaRPr lang="zh-CN" altLang="en-US"/>
            </a:p>
          </p:txBody>
        </p:sp>
      </p:grpSp>
      <p:sp>
        <p:nvSpPr>
          <p:cNvPr id="3" name="标题 3"/>
          <p:cNvSpPr>
            <a:spLocks noGrp="1"/>
          </p:cNvSpPr>
          <p:nvPr>
            <p:ph type="title"/>
            <p:custDataLst>
              <p:tags r:id="rId2"/>
            </p:custDataLst>
          </p:nvPr>
        </p:nvSpPr>
        <p:spPr>
          <a:xfrm>
            <a:off x="531765" y="423055"/>
            <a:ext cx="3960000" cy="882000"/>
          </a:xfrm>
        </p:spPr>
        <p:txBody>
          <a:bodyPr>
            <a:normAutofit/>
          </a:bodyPr>
          <a:lstStyle/>
          <a:p>
            <a:pPr algn="ctr">
              <a:buClrTx/>
              <a:buSzTx/>
              <a:buFontTx/>
            </a:pPr>
            <a:r>
              <a:rPr lang="zh-CN" altLang="en-US" sz="2400" spc="150">
                <a:solidFill>
                  <a:schemeClr val="bg1"/>
                </a:solidFill>
                <a:cs typeface="微软雅黑" panose="020B0503020204020204" charset="-122"/>
                <a:sym typeface="+mn-lt"/>
              </a:rPr>
              <a:t>过程设计的工具</a:t>
            </a:r>
            <a:endParaRPr lang="zh-CN" altLang="en-US" sz="2400" spc="150">
              <a:solidFill>
                <a:schemeClr val="bg1"/>
              </a:solidFill>
              <a:cs typeface="微软雅黑" panose="020B0503020204020204" charset="-122"/>
              <a:sym typeface="+mn-lt"/>
            </a:endParaRPr>
          </a:p>
        </p:txBody>
      </p:sp>
      <p:sp>
        <p:nvSpPr>
          <p:cNvPr id="6" name="文本占位符 1"/>
          <p:cNvSpPr>
            <a:spLocks noGrp="1"/>
          </p:cNvSpPr>
          <p:nvPr>
            <p:custDataLst>
              <p:tags r:id="rId3"/>
            </p:custDataLst>
          </p:nvPr>
        </p:nvSpPr>
        <p:spPr>
          <a:xfrm>
            <a:off x="234315" y="1259205"/>
            <a:ext cx="4454525" cy="254127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80000"/>
              </a:lnSpc>
              <a:spcBef>
                <a:spcPts val="0"/>
              </a:spcBef>
              <a:buNone/>
            </a:pPr>
            <a:r>
              <a:rPr lang="zh-CN" altLang="en-US" sz="1400" b="1" dirty="0">
                <a:solidFill>
                  <a:srgbClr val="FF0000"/>
                </a:solidFill>
                <a:highlight>
                  <a:srgbClr val="FFFF00"/>
                </a:highlight>
                <a:latin typeface="+mj-ea"/>
                <a:ea typeface="+mj-ea"/>
                <a:cs typeface="+mj-ea"/>
                <a:sym typeface="+mn-ea"/>
              </a:rPr>
              <a:t>过程设计的工具</a:t>
            </a:r>
            <a:r>
              <a:rPr lang="zh-CN" altLang="en-US" sz="1400" b="1" dirty="0">
                <a:latin typeface="+mj-ea"/>
                <a:ea typeface="+mj-ea"/>
                <a:cs typeface="+mj-ea"/>
                <a:sym typeface="+mn-ea"/>
              </a:rPr>
              <a:t>：描述程序处理过程的工具称为过程设计的工具。它们可以分为</a:t>
            </a:r>
            <a:r>
              <a:rPr lang="zh-CN" altLang="en-US" sz="1400" b="1" dirty="0">
                <a:solidFill>
                  <a:srgbClr val="FF0000"/>
                </a:solidFill>
                <a:latin typeface="+mj-ea"/>
                <a:ea typeface="+mj-ea"/>
                <a:cs typeface="+mj-ea"/>
                <a:sym typeface="+mn-ea"/>
              </a:rPr>
              <a:t>图形</a:t>
            </a:r>
            <a:r>
              <a:rPr lang="zh-CN" altLang="en-US" sz="1400" b="1" dirty="0">
                <a:latin typeface="+mj-ea"/>
                <a:ea typeface="+mj-ea"/>
                <a:cs typeface="+mj-ea"/>
                <a:sym typeface="+mn-ea"/>
              </a:rPr>
              <a:t>、</a:t>
            </a:r>
            <a:r>
              <a:rPr lang="zh-CN" altLang="en-US" sz="1400" b="1" dirty="0">
                <a:solidFill>
                  <a:srgbClr val="FF0000"/>
                </a:solidFill>
                <a:latin typeface="+mj-ea"/>
                <a:ea typeface="+mj-ea"/>
                <a:cs typeface="+mj-ea"/>
                <a:sym typeface="+mn-ea"/>
              </a:rPr>
              <a:t>表格</a:t>
            </a:r>
            <a:r>
              <a:rPr lang="zh-CN" altLang="en-US" sz="1400" b="1" dirty="0">
                <a:latin typeface="+mj-ea"/>
                <a:ea typeface="+mj-ea"/>
                <a:cs typeface="+mj-ea"/>
                <a:sym typeface="+mn-ea"/>
              </a:rPr>
              <a:t>和</a:t>
            </a:r>
            <a:r>
              <a:rPr lang="zh-CN" altLang="en-US" sz="1400" b="1" dirty="0">
                <a:solidFill>
                  <a:srgbClr val="FF0000"/>
                </a:solidFill>
                <a:latin typeface="+mj-ea"/>
                <a:ea typeface="+mj-ea"/>
                <a:cs typeface="+mj-ea"/>
                <a:sym typeface="+mn-ea"/>
              </a:rPr>
              <a:t>语言</a:t>
            </a:r>
            <a:r>
              <a:rPr lang="zh-CN" altLang="en-US" sz="1400" b="1" dirty="0">
                <a:latin typeface="+mj-ea"/>
                <a:ea typeface="+mj-ea"/>
                <a:cs typeface="+mj-ea"/>
                <a:sym typeface="+mn-ea"/>
              </a:rPr>
              <a:t>三类。</a:t>
            </a:r>
            <a:endParaRPr lang="zh-CN" altLang="en-US" sz="1400" b="1" dirty="0">
              <a:latin typeface="+mj-ea"/>
              <a:ea typeface="+mj-ea"/>
              <a:cs typeface="+mj-ea"/>
              <a:sym typeface="+mn-ea"/>
            </a:endParaRPr>
          </a:p>
          <a:p>
            <a:pPr marL="0" indent="0">
              <a:lnSpc>
                <a:spcPct val="180000"/>
              </a:lnSpc>
              <a:spcBef>
                <a:spcPts val="0"/>
              </a:spcBef>
              <a:buNone/>
            </a:pPr>
            <a:r>
              <a:rPr lang="zh-CN" altLang="en-US" sz="1400" b="1" dirty="0">
                <a:latin typeface="+mj-ea"/>
                <a:ea typeface="+mj-ea"/>
                <a:cs typeface="+mj-ea"/>
                <a:sym typeface="+mn-ea"/>
              </a:rPr>
              <a:t>无论是哪种工具，对它们的基本要求都是能提供对设计的</a:t>
            </a:r>
            <a:r>
              <a:rPr lang="zh-CN" altLang="en-US" sz="1400" b="1" dirty="0">
                <a:solidFill>
                  <a:schemeClr val="tx1"/>
                </a:solidFill>
                <a:highlight>
                  <a:srgbClr val="00FFFF"/>
                </a:highlight>
                <a:latin typeface="+mj-ea"/>
                <a:ea typeface="+mj-ea"/>
                <a:cs typeface="+mj-ea"/>
                <a:sym typeface="+mn-ea"/>
              </a:rPr>
              <a:t>无歧义的描述</a:t>
            </a:r>
            <a:r>
              <a:rPr lang="zh-CN" altLang="en-US" sz="1400" b="1" dirty="0">
                <a:latin typeface="+mj-ea"/>
                <a:ea typeface="+mj-ea"/>
                <a:cs typeface="+mj-ea"/>
                <a:sym typeface="+mn-ea"/>
              </a:rPr>
              <a:t>，能够指明控制流程、处理功能、数据组织及其他方面的实现细节，</a:t>
            </a:r>
            <a:r>
              <a:rPr lang="zh-CN" altLang="en-US" sz="1400" b="1" dirty="0">
                <a:solidFill>
                  <a:srgbClr val="FF0000"/>
                </a:solidFill>
                <a:latin typeface="+mj-ea"/>
                <a:ea typeface="+mj-ea"/>
                <a:cs typeface="+mj-ea"/>
                <a:sym typeface="+mn-ea"/>
              </a:rPr>
              <a:t>从而在编码阶段能把对设计的描述直接翻译成程序代码。</a:t>
            </a:r>
            <a:endParaRPr lang="zh-CN" altLang="en-US" sz="1400" dirty="0">
              <a:latin typeface="+mj-ea"/>
              <a:ea typeface="+mj-ea"/>
              <a:cs typeface="+mj-ea"/>
              <a:sym typeface="+mn-ea"/>
            </a:endParaRPr>
          </a:p>
          <a:p>
            <a:pPr marL="0" indent="0">
              <a:lnSpc>
                <a:spcPct val="180000"/>
              </a:lnSpc>
              <a:spcBef>
                <a:spcPts val="0"/>
              </a:spcBef>
              <a:buNone/>
            </a:pPr>
            <a:endParaRPr lang="zh-CN" altLang="en-US" sz="1200" dirty="0">
              <a:latin typeface="+mj-ea"/>
              <a:ea typeface="+mj-ea"/>
              <a:cs typeface="+mj-ea"/>
              <a:sym typeface="+mn-ea"/>
            </a:endParaRPr>
          </a:p>
          <a:p>
            <a:pPr marL="0" indent="0">
              <a:lnSpc>
                <a:spcPct val="180000"/>
              </a:lnSpc>
              <a:spcBef>
                <a:spcPts val="0"/>
              </a:spcBef>
              <a:buNone/>
            </a:pPr>
            <a:endParaRPr lang="zh-CN" altLang="en-US" sz="1400" dirty="0">
              <a:latin typeface="+mj-ea"/>
              <a:ea typeface="+mj-ea"/>
              <a:cs typeface="+mj-ea"/>
              <a:sym typeface="+mn-ea"/>
            </a:endParaRPr>
          </a:p>
          <a:p>
            <a:pPr marL="0" indent="0">
              <a:lnSpc>
                <a:spcPct val="180000"/>
              </a:lnSpc>
              <a:spcBef>
                <a:spcPts val="0"/>
              </a:spcBef>
              <a:buNone/>
            </a:pPr>
            <a:endParaRPr lang="zh-CN" altLang="en-US" sz="1400" dirty="0">
              <a:latin typeface="+mj-ea"/>
              <a:ea typeface="+mj-ea"/>
              <a:cs typeface="+mj-ea"/>
              <a:sym typeface="+mn-ea"/>
            </a:endParaRPr>
          </a:p>
          <a:p>
            <a:pPr marL="0" indent="0">
              <a:lnSpc>
                <a:spcPct val="180000"/>
              </a:lnSpc>
              <a:spcBef>
                <a:spcPts val="0"/>
              </a:spcBef>
              <a:buNone/>
            </a:pPr>
            <a:endParaRPr lang="zh-CN" altLang="en-US" sz="1400" dirty="0">
              <a:latin typeface="+mj-ea"/>
              <a:ea typeface="+mj-ea"/>
              <a:cs typeface="+mj-ea"/>
              <a:sym typeface="+mn-ea"/>
            </a:endParaRPr>
          </a:p>
          <a:p>
            <a:pPr marL="0" indent="0">
              <a:lnSpc>
                <a:spcPct val="180000"/>
              </a:lnSpc>
              <a:spcBef>
                <a:spcPts val="0"/>
              </a:spcBef>
              <a:buNone/>
            </a:pPr>
            <a:endParaRPr lang="zh-CN" altLang="en-US" sz="1200" dirty="0">
              <a:latin typeface="+mj-ea"/>
              <a:ea typeface="+mj-ea"/>
              <a:cs typeface="+mj-ea"/>
              <a:sym typeface="+mn-ea"/>
            </a:endParaRPr>
          </a:p>
        </p:txBody>
      </p:sp>
      <p:sp>
        <p:nvSpPr>
          <p:cNvPr id="4" name="文本框 3"/>
          <p:cNvSpPr txBox="1"/>
          <p:nvPr/>
        </p:nvSpPr>
        <p:spPr>
          <a:xfrm>
            <a:off x="4964430" y="325120"/>
            <a:ext cx="6998335" cy="448945"/>
          </a:xfrm>
          <a:prstGeom prst="rect">
            <a:avLst/>
          </a:prstGeom>
          <a:noFill/>
        </p:spPr>
        <p:txBody>
          <a:bodyPr wrap="square" rtlCol="0" anchor="t">
            <a:noAutofit/>
          </a:bodyPr>
          <a:p>
            <a:pPr indent="0" algn="l" eaLnBrk="1" hangingPunct="1">
              <a:lnSpc>
                <a:spcPct val="180000"/>
              </a:lnSpc>
              <a:spcBef>
                <a:spcPts val="0"/>
              </a:spcBef>
              <a:spcAft>
                <a:spcPts val="1000"/>
              </a:spcAft>
              <a:buClrTx/>
              <a:buSzTx/>
              <a:buFont typeface="+mj-ea"/>
              <a:buNone/>
            </a:pPr>
            <a:r>
              <a:rPr lang="en-US" altLang="zh-CN" sz="1200" dirty="0">
                <a:solidFill>
                  <a:schemeClr val="tx1"/>
                </a:solidFill>
                <a:uFillTx/>
                <a:latin typeface="+mj-ea"/>
                <a:ea typeface="+mj-ea"/>
                <a:cs typeface="+mj-ea"/>
                <a:sym typeface="+mn-ea"/>
              </a:rPr>
              <a:t> </a:t>
            </a:r>
            <a:r>
              <a:rPr lang="zh-CN" altLang="en-US" sz="1200" b="1" dirty="0">
                <a:solidFill>
                  <a:srgbClr val="00B0F0"/>
                </a:solidFill>
                <a:latin typeface="Bodoni MT Black" panose="02070A03080606020203" pitchFamily="18" charset="0"/>
                <a:sym typeface="+mn-ea"/>
              </a:rPr>
              <a:t>又称为程序框图</a:t>
            </a:r>
            <a:r>
              <a:rPr lang="zh-CN" altLang="en-US" sz="1200" dirty="0">
                <a:solidFill>
                  <a:srgbClr val="00B0F0"/>
                </a:solidFill>
                <a:latin typeface="Bodoni MT Black" panose="02070A03080606020203" pitchFamily="18" charset="0"/>
                <a:sym typeface="+mn-ea"/>
              </a:rPr>
              <a:t>，</a:t>
            </a:r>
            <a:r>
              <a:rPr lang="zh-CN" altLang="en-US" sz="1200" b="1" dirty="0">
                <a:solidFill>
                  <a:srgbClr val="00B0F0"/>
                </a:solidFill>
                <a:latin typeface="Bodoni MT Black" panose="02070A03080606020203" pitchFamily="18" charset="0"/>
                <a:sym typeface="+mn-ea"/>
              </a:rPr>
              <a:t>它</a:t>
            </a:r>
            <a:r>
              <a:rPr lang="zh-CN" altLang="en-US" sz="1200" b="1" dirty="0" smtClean="0">
                <a:solidFill>
                  <a:srgbClr val="00B0F0"/>
                </a:solidFill>
                <a:latin typeface="Bodoni MT Black" panose="02070A03080606020203" pitchFamily="18" charset="0"/>
                <a:sym typeface="+mn-ea"/>
              </a:rPr>
              <a:t>是使用</a:t>
            </a:r>
            <a:r>
              <a:rPr lang="zh-CN" altLang="en-US" sz="1200" b="1" dirty="0">
                <a:solidFill>
                  <a:srgbClr val="00B0F0"/>
                </a:solidFill>
                <a:latin typeface="Bodoni MT Black" panose="02070A03080606020203" pitchFamily="18" charset="0"/>
                <a:sym typeface="+mn-ea"/>
              </a:rPr>
              <a:t>最广泛的描述过程设计的方法。</a:t>
            </a:r>
            <a:endParaRPr lang="zh-CN" altLang="en-US" sz="1200" b="1" dirty="0">
              <a:solidFill>
                <a:srgbClr val="00B0F0"/>
              </a:solidFill>
              <a:uFillTx/>
              <a:latin typeface="+mj-ea"/>
              <a:ea typeface="+mj-ea"/>
              <a:cs typeface="+mj-ea"/>
            </a:endParaRPr>
          </a:p>
          <a:p>
            <a:pPr marL="228600" lvl="0" indent="-228600" algn="l">
              <a:lnSpc>
                <a:spcPct val="180000"/>
              </a:lnSpc>
              <a:spcBef>
                <a:spcPts val="0"/>
              </a:spcBef>
              <a:spcAft>
                <a:spcPts val="1000"/>
              </a:spcAft>
              <a:buClrTx/>
              <a:buSzTx/>
              <a:buFont typeface="+mj-ea"/>
              <a:buAutoNum type="circleNumDbPlain"/>
            </a:pPr>
            <a:endParaRPr lang="zh-CN" altLang="en-US" sz="1200" b="1" dirty="0">
              <a:solidFill>
                <a:srgbClr val="00B0F0"/>
              </a:solidFill>
              <a:uFillTx/>
              <a:latin typeface="+mj-ea"/>
              <a:ea typeface="+mj-ea"/>
              <a:cs typeface="+mj-ea"/>
              <a:sym typeface="+mn-ea"/>
            </a:endParaRPr>
          </a:p>
        </p:txBody>
      </p:sp>
      <p:sp>
        <p:nvSpPr>
          <p:cNvPr id="9" name="文本框 8"/>
          <p:cNvSpPr txBox="1"/>
          <p:nvPr/>
        </p:nvSpPr>
        <p:spPr>
          <a:xfrm>
            <a:off x="5021580" y="2800350"/>
            <a:ext cx="3543935" cy="4130040"/>
          </a:xfrm>
          <a:prstGeom prst="rect">
            <a:avLst/>
          </a:prstGeom>
          <a:noFill/>
        </p:spPr>
        <p:txBody>
          <a:bodyPr wrap="square" rtlCol="0" anchor="t">
            <a:noAutofit/>
          </a:bodyPr>
          <a:p>
            <a:pPr indent="0" algn="l" fontAlgn="auto">
              <a:lnSpc>
                <a:spcPct val="180000"/>
              </a:lnSpc>
              <a:spcBef>
                <a:spcPts val="0"/>
              </a:spcBef>
              <a:spcAft>
                <a:spcPts val="0"/>
              </a:spcAft>
              <a:buClrTx/>
              <a:buSzTx/>
              <a:buFont typeface="+mj-ea"/>
              <a:buNone/>
            </a:pPr>
            <a:r>
              <a:rPr lang="zh-CN" altLang="en-US" sz="1200" b="1" dirty="0">
                <a:solidFill>
                  <a:srgbClr val="FF0000"/>
                </a:solidFill>
                <a:uFillTx/>
                <a:latin typeface="+mj-ea"/>
                <a:ea typeface="+mj-ea"/>
                <a:cs typeface="+mj-ea"/>
                <a:sym typeface="+mn-ea"/>
              </a:rPr>
              <a:t>优势：</a:t>
            </a:r>
            <a:endParaRPr lang="zh-CN" altLang="en-US" sz="1200" b="1" dirty="0">
              <a:solidFill>
                <a:srgbClr val="FF0000"/>
              </a:solidFill>
              <a:uFillTx/>
              <a:latin typeface="+mj-ea"/>
              <a:ea typeface="+mj-ea"/>
              <a:cs typeface="+mj-ea"/>
              <a:sym typeface="+mn-ea"/>
            </a:endParaRPr>
          </a:p>
          <a:p>
            <a:pPr marL="228600" indent="-228600" algn="l" fontAlgn="auto">
              <a:lnSpc>
                <a:spcPct val="180000"/>
              </a:lnSpc>
              <a:spcBef>
                <a:spcPts val="0"/>
              </a:spcBef>
              <a:spcAft>
                <a:spcPts val="0"/>
              </a:spcAft>
              <a:buClrTx/>
              <a:buSzTx/>
              <a:buFont typeface="+mj-ea"/>
              <a:buAutoNum type="circleNumDbPlain"/>
            </a:pPr>
            <a:r>
              <a:rPr lang="zh-CN" altLang="en-US" sz="1200" b="1" dirty="0">
                <a:solidFill>
                  <a:schemeClr val="tx1"/>
                </a:solidFill>
                <a:uFillTx/>
                <a:latin typeface="+mj-ea"/>
                <a:ea typeface="+mj-ea"/>
                <a:cs typeface="+mj-ea"/>
                <a:sym typeface="+mn-ea"/>
              </a:rPr>
              <a:t>直观易懂：比纯文字描述更清晰。</a:t>
            </a:r>
            <a:endParaRPr lang="zh-CN" altLang="en-US" sz="1200" b="1" dirty="0">
              <a:solidFill>
                <a:schemeClr val="tx1"/>
              </a:solidFill>
              <a:uFillTx/>
              <a:latin typeface="+mj-ea"/>
              <a:ea typeface="+mj-ea"/>
              <a:cs typeface="+mj-ea"/>
              <a:sym typeface="+mn-ea"/>
            </a:endParaRPr>
          </a:p>
          <a:p>
            <a:pPr marL="228600" indent="-228600" algn="l" fontAlgn="auto">
              <a:lnSpc>
                <a:spcPct val="180000"/>
              </a:lnSpc>
              <a:spcBef>
                <a:spcPts val="0"/>
              </a:spcBef>
              <a:spcAft>
                <a:spcPts val="0"/>
              </a:spcAft>
              <a:buClrTx/>
              <a:buSzTx/>
              <a:buFont typeface="+mj-ea"/>
              <a:buAutoNum type="circleNumDbPlain"/>
            </a:pPr>
            <a:r>
              <a:rPr lang="zh-CN" altLang="en-US" sz="1200" b="1" dirty="0">
                <a:solidFill>
                  <a:schemeClr val="tx1"/>
                </a:solidFill>
                <a:uFillTx/>
                <a:latin typeface="+mj-ea"/>
                <a:ea typeface="+mj-ea"/>
                <a:cs typeface="+mj-ea"/>
                <a:sym typeface="+mn-ea"/>
              </a:rPr>
              <a:t>逻辑清晰：有助于梳理复杂逻辑。</a:t>
            </a:r>
            <a:endParaRPr lang="zh-CN" altLang="en-US" sz="1200" b="1" dirty="0">
              <a:solidFill>
                <a:schemeClr val="tx1"/>
              </a:solidFill>
              <a:uFillTx/>
              <a:latin typeface="+mj-ea"/>
              <a:ea typeface="+mj-ea"/>
              <a:cs typeface="+mj-ea"/>
              <a:sym typeface="+mn-ea"/>
            </a:endParaRPr>
          </a:p>
          <a:p>
            <a:pPr marL="228600" indent="-228600" algn="l" fontAlgn="auto">
              <a:lnSpc>
                <a:spcPct val="180000"/>
              </a:lnSpc>
              <a:spcBef>
                <a:spcPts val="0"/>
              </a:spcBef>
              <a:spcAft>
                <a:spcPts val="0"/>
              </a:spcAft>
              <a:buClrTx/>
              <a:buSzTx/>
              <a:buFont typeface="+mj-ea"/>
              <a:buAutoNum type="circleNumDbPlain"/>
            </a:pPr>
            <a:r>
              <a:rPr lang="zh-CN" altLang="en-US" sz="1200" b="1" dirty="0">
                <a:solidFill>
                  <a:schemeClr val="tx1"/>
                </a:solidFill>
                <a:uFillTx/>
                <a:latin typeface="+mj-ea"/>
                <a:ea typeface="+mj-ea"/>
                <a:cs typeface="+mj-ea"/>
                <a:sym typeface="+mn-ea"/>
              </a:rPr>
              <a:t>语言无关：是设计和沟通阶段的通用工具。</a:t>
            </a:r>
            <a:endParaRPr lang="zh-CN" altLang="en-US" sz="1200" b="1" dirty="0">
              <a:solidFill>
                <a:schemeClr val="tx1"/>
              </a:solidFill>
              <a:uFillTx/>
              <a:latin typeface="+mj-ea"/>
              <a:ea typeface="+mj-ea"/>
              <a:cs typeface="+mj-ea"/>
              <a:sym typeface="+mn-ea"/>
            </a:endParaRPr>
          </a:p>
          <a:p>
            <a:pPr indent="0" algn="l" fontAlgn="auto">
              <a:lnSpc>
                <a:spcPct val="180000"/>
              </a:lnSpc>
              <a:spcBef>
                <a:spcPts val="0"/>
              </a:spcBef>
              <a:spcAft>
                <a:spcPts val="0"/>
              </a:spcAft>
              <a:buClrTx/>
              <a:buSzTx/>
              <a:buFont typeface="+mj-ea"/>
              <a:buNone/>
            </a:pPr>
            <a:r>
              <a:rPr lang="zh-CN" altLang="en-US" sz="1200" b="1" dirty="0">
                <a:solidFill>
                  <a:srgbClr val="FF0000"/>
                </a:solidFill>
                <a:uFillTx/>
                <a:latin typeface="+mj-ea"/>
                <a:ea typeface="+mj-ea"/>
                <a:cs typeface="+mj-ea"/>
                <a:sym typeface="+mn-ea"/>
              </a:rPr>
              <a:t>局限性：</a:t>
            </a:r>
            <a:endParaRPr lang="zh-CN" altLang="en-US" sz="1200" b="1" dirty="0">
              <a:solidFill>
                <a:srgbClr val="FF0000"/>
              </a:solidFill>
              <a:uFillTx/>
              <a:latin typeface="+mj-ea"/>
              <a:ea typeface="+mj-ea"/>
              <a:cs typeface="+mj-ea"/>
              <a:sym typeface="+mn-ea"/>
            </a:endParaRPr>
          </a:p>
          <a:p>
            <a:pPr marL="228600" indent="-228600" algn="l" fontAlgn="auto">
              <a:lnSpc>
                <a:spcPct val="180000"/>
              </a:lnSpc>
              <a:spcBef>
                <a:spcPts val="0"/>
              </a:spcBef>
              <a:spcAft>
                <a:spcPts val="0"/>
              </a:spcAft>
              <a:buClrTx/>
              <a:buSzTx/>
              <a:buFont typeface="+mj-ea"/>
              <a:buAutoNum type="circleNumDbPlain"/>
            </a:pPr>
            <a:r>
              <a:rPr lang="zh-CN" altLang="en-US" sz="1200" b="1" dirty="0">
                <a:solidFill>
                  <a:schemeClr val="tx1"/>
                </a:solidFill>
                <a:uFillTx/>
                <a:latin typeface="+mj-ea"/>
                <a:ea typeface="+mj-ea"/>
                <a:cs typeface="+mj-ea"/>
                <a:sym typeface="+mn-ea"/>
              </a:rPr>
              <a:t>难以描述细节：不适合描述非常复杂或数据密集型算法的细节。</a:t>
            </a:r>
            <a:endParaRPr lang="zh-CN" altLang="en-US" sz="1200" b="1" dirty="0">
              <a:solidFill>
                <a:schemeClr val="tx1"/>
              </a:solidFill>
              <a:uFillTx/>
              <a:latin typeface="+mj-ea"/>
              <a:ea typeface="+mj-ea"/>
              <a:cs typeface="+mj-ea"/>
              <a:sym typeface="+mn-ea"/>
            </a:endParaRPr>
          </a:p>
          <a:p>
            <a:pPr marL="228600" indent="-228600" algn="l" fontAlgn="auto">
              <a:lnSpc>
                <a:spcPct val="180000"/>
              </a:lnSpc>
              <a:spcBef>
                <a:spcPts val="0"/>
              </a:spcBef>
              <a:spcAft>
                <a:spcPts val="0"/>
              </a:spcAft>
              <a:buClrTx/>
              <a:buSzTx/>
              <a:buFont typeface="+mj-ea"/>
              <a:buAutoNum type="circleNumDbPlain"/>
            </a:pPr>
            <a:r>
              <a:rPr lang="zh-CN" altLang="en-US" sz="1200" b="1" dirty="0">
                <a:solidFill>
                  <a:schemeClr val="tx1"/>
                </a:solidFill>
                <a:uFillTx/>
                <a:latin typeface="+mj-ea"/>
                <a:ea typeface="+mj-ea"/>
                <a:cs typeface="+mj-ea"/>
                <a:sym typeface="+mn-ea"/>
              </a:rPr>
              <a:t>维护困难：当程序频繁修改时，同步更新流程图可能很麻烦。</a:t>
            </a:r>
            <a:endParaRPr lang="zh-CN" altLang="en-US" sz="1200" b="1" dirty="0">
              <a:solidFill>
                <a:schemeClr val="tx1"/>
              </a:solidFill>
              <a:uFillTx/>
              <a:latin typeface="+mj-ea"/>
              <a:ea typeface="+mj-ea"/>
              <a:cs typeface="+mj-ea"/>
              <a:sym typeface="+mn-ea"/>
            </a:endParaRPr>
          </a:p>
          <a:p>
            <a:pPr marL="228600" indent="-228600" algn="l" fontAlgn="auto">
              <a:lnSpc>
                <a:spcPct val="180000"/>
              </a:lnSpc>
              <a:spcBef>
                <a:spcPts val="0"/>
              </a:spcBef>
              <a:spcAft>
                <a:spcPts val="0"/>
              </a:spcAft>
              <a:buClrTx/>
              <a:buSzTx/>
              <a:buFont typeface="+mj-ea"/>
              <a:buAutoNum type="circleNumDbPlain"/>
            </a:pPr>
            <a:r>
              <a:rPr lang="zh-CN" altLang="en-US" sz="1200" b="1" dirty="0">
                <a:solidFill>
                  <a:schemeClr val="tx1"/>
                </a:solidFill>
                <a:uFillTx/>
                <a:latin typeface="+mj-ea"/>
                <a:ea typeface="+mj-ea"/>
                <a:cs typeface="+mj-ea"/>
                <a:sym typeface="+mn-ea"/>
              </a:rPr>
              <a:t>不适用于面向对象设计：对于类、对象、消息传递等，UML图（如活动图、序列图）更合适。</a:t>
            </a:r>
            <a:endParaRPr lang="zh-CN" altLang="en-US" sz="1200" b="1" dirty="0">
              <a:solidFill>
                <a:schemeClr val="tx1"/>
              </a:solidFill>
              <a:uFillTx/>
              <a:latin typeface="+mj-ea"/>
              <a:ea typeface="+mj-ea"/>
              <a:cs typeface="+mj-ea"/>
              <a:sym typeface="+mn-ea"/>
            </a:endParaRPr>
          </a:p>
        </p:txBody>
      </p:sp>
      <p:pic>
        <p:nvPicPr>
          <p:cNvPr id="49157" name="图片 1"/>
          <p:cNvPicPr>
            <a:picLocks noChangeAspect="1"/>
          </p:cNvPicPr>
          <p:nvPr/>
        </p:nvPicPr>
        <p:blipFill>
          <a:blip r:embed="rId4" cstate="print"/>
          <a:srcRect/>
          <a:stretch>
            <a:fillRect/>
          </a:stretch>
        </p:blipFill>
        <p:spPr bwMode="auto">
          <a:xfrm>
            <a:off x="5693410" y="808990"/>
            <a:ext cx="5218430" cy="2098040"/>
          </a:xfrm>
          <a:prstGeom prst="rect">
            <a:avLst/>
          </a:prstGeom>
          <a:noFill/>
          <a:ln w="9525">
            <a:noFill/>
            <a:miter lim="800000"/>
            <a:headEnd/>
            <a:tailEnd/>
          </a:ln>
        </p:spPr>
      </p:pic>
      <p:pic>
        <p:nvPicPr>
          <p:cNvPr id="2" name="图片 1" descr="生成解释概念的图片 (2)"/>
          <p:cNvPicPr>
            <a:picLocks noChangeAspect="1"/>
          </p:cNvPicPr>
          <p:nvPr/>
        </p:nvPicPr>
        <p:blipFill>
          <a:blip r:embed="rId5"/>
          <a:stretch>
            <a:fillRect/>
          </a:stretch>
        </p:blipFill>
        <p:spPr>
          <a:xfrm>
            <a:off x="0" y="3950970"/>
            <a:ext cx="4816475" cy="2708910"/>
          </a:xfrm>
          <a:prstGeom prst="rect">
            <a:avLst/>
          </a:prstGeom>
        </p:spPr>
      </p:pic>
      <p:sp>
        <p:nvSpPr>
          <p:cNvPr id="14" name="文本框 13"/>
          <p:cNvSpPr txBox="1"/>
          <p:nvPr>
            <p:custDataLst>
              <p:tags r:id="rId6"/>
            </p:custDataLst>
          </p:nvPr>
        </p:nvSpPr>
        <p:spPr>
          <a:xfrm>
            <a:off x="4827905" y="0"/>
            <a:ext cx="7363460" cy="349885"/>
          </a:xfrm>
          <a:prstGeom prst="rect">
            <a:avLst/>
          </a:prstGeom>
          <a:solidFill>
            <a:schemeClr val="accent1"/>
          </a:solidFill>
        </p:spPr>
        <p:txBody>
          <a:bodyPr wrap="square" rtlCol="0">
            <a:noAutofit/>
          </a:bodyPr>
          <a:p>
            <a:r>
              <a:rPr lang="zh-CN" altLang="en-US" sz="1400" b="1">
                <a:solidFill>
                  <a:schemeClr val="bg1"/>
                </a:solidFill>
              </a:rPr>
              <a:t>程序流程图</a:t>
            </a:r>
            <a:endParaRPr lang="zh-CN" altLang="en-US" sz="1400" b="1">
              <a:solidFill>
                <a:schemeClr val="bg1"/>
              </a:solidFill>
            </a:endParaRPr>
          </a:p>
        </p:txBody>
      </p:sp>
    </p:spTree>
    <p:custDataLst>
      <p:tags r:id="rId7"/>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文本框 4"/>
          <p:cNvSpPr txBox="1"/>
          <p:nvPr/>
        </p:nvSpPr>
        <p:spPr>
          <a:xfrm>
            <a:off x="10720070" y="349885"/>
            <a:ext cx="1212215" cy="978535"/>
          </a:xfrm>
          <a:prstGeom prst="rect">
            <a:avLst/>
          </a:prstGeom>
          <a:solidFill>
            <a:schemeClr val="bg1"/>
          </a:solidFill>
        </p:spPr>
        <p:txBody>
          <a:bodyPr wrap="square" rtlCol="0">
            <a:noAutofit/>
          </a:bodyPr>
          <a:p>
            <a:endParaRPr lang="zh-CN" altLang="en-US"/>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147320" y="349885"/>
            <a:ext cx="5746115" cy="638810"/>
          </a:xfrm>
          <a:prstGeom prst="rect">
            <a:avLst/>
          </a:prstGeom>
          <a:noFill/>
        </p:spPr>
        <p:txBody>
          <a:bodyPr wrap="square" rtlCol="0" anchor="t" anchorCtr="0">
            <a:noAutofit/>
          </a:bodyPr>
          <a:p>
            <a:pPr indent="0" algn="l" eaLnBrk="1" hangingPunct="1">
              <a:lnSpc>
                <a:spcPct val="140000"/>
              </a:lnSpc>
              <a:spcBef>
                <a:spcPts val="0"/>
              </a:spcBef>
              <a:spcAft>
                <a:spcPts val="1000"/>
              </a:spcAft>
              <a:buClrTx/>
              <a:buSzTx/>
              <a:buFont typeface="+mj-ea"/>
              <a:buNone/>
            </a:pPr>
            <a:r>
              <a:rPr lang="zh-CN" altLang="en-US" sz="1200" b="1" dirty="0">
                <a:uFillTx/>
                <a:latin typeface="+mj-ea"/>
                <a:ea typeface="+mj-ea"/>
                <a:cs typeface="+mj-ea"/>
                <a:sym typeface="+mn-ea"/>
              </a:rPr>
              <a:t>出于要有一种不允许违背结构程序设计精神的图形工具的考虑，Nassi和Shneiderman提出了盒图，又称为</a:t>
            </a:r>
            <a:r>
              <a:rPr lang="zh-CN" altLang="en-US" sz="1200" b="1" dirty="0">
                <a:solidFill>
                  <a:srgbClr val="FF0000"/>
                </a:solidFill>
                <a:uFillTx/>
                <a:latin typeface="+mj-ea"/>
                <a:ea typeface="+mj-ea"/>
                <a:cs typeface="+mj-ea"/>
                <a:sym typeface="+mn-ea"/>
              </a:rPr>
              <a:t>N-S图</a:t>
            </a:r>
            <a:r>
              <a:rPr lang="zh-CN" altLang="en-US" sz="1200" b="1" dirty="0">
                <a:uFillTx/>
                <a:latin typeface="+mj-ea"/>
                <a:ea typeface="+mj-ea"/>
                <a:cs typeface="+mj-ea"/>
                <a:sym typeface="+mn-ea"/>
              </a:rPr>
              <a:t>。</a:t>
            </a:r>
            <a:endParaRPr lang="zh-CN" altLang="en-US" sz="1200" b="1" dirty="0">
              <a:uFillTx/>
              <a:latin typeface="+mj-ea"/>
              <a:ea typeface="+mj-ea"/>
              <a:cs typeface="+mj-ea"/>
              <a:sym typeface="+mn-ea"/>
            </a:endParaRPr>
          </a:p>
          <a:p>
            <a:pPr marL="171450" indent="-171450" algn="l" eaLnBrk="1" hangingPunct="1">
              <a:lnSpc>
                <a:spcPct val="140000"/>
              </a:lnSpc>
              <a:spcBef>
                <a:spcPts val="0"/>
              </a:spcBef>
              <a:spcAft>
                <a:spcPts val="1000"/>
              </a:spcAft>
              <a:buClrTx/>
              <a:buSzTx/>
              <a:buFont typeface="Arial" panose="020B0604020202020204" pitchFamily="34" charset="0"/>
              <a:buChar char="•"/>
            </a:pPr>
            <a:endParaRPr lang="zh-CN" altLang="en-US" sz="1200" b="1" dirty="0">
              <a:uFillTx/>
              <a:latin typeface="+mj-ea"/>
              <a:ea typeface="+mj-ea"/>
              <a:cs typeface="+mj-ea"/>
              <a:sym typeface="+mn-ea"/>
            </a:endParaRPr>
          </a:p>
        </p:txBody>
      </p:sp>
      <p:pic>
        <p:nvPicPr>
          <p:cNvPr id="55300" name="图片 1"/>
          <p:cNvPicPr>
            <a:picLocks noChangeAspect="1"/>
          </p:cNvPicPr>
          <p:nvPr/>
        </p:nvPicPr>
        <p:blipFill>
          <a:blip r:embed="rId1" cstate="print"/>
          <a:srcRect/>
          <a:stretch>
            <a:fillRect/>
          </a:stretch>
        </p:blipFill>
        <p:spPr bwMode="auto">
          <a:xfrm>
            <a:off x="635" y="1050925"/>
            <a:ext cx="3642360" cy="2432685"/>
          </a:xfrm>
          <a:prstGeom prst="rect">
            <a:avLst/>
          </a:prstGeom>
          <a:noFill/>
          <a:ln w="9525">
            <a:solidFill>
              <a:schemeClr val="accent1"/>
            </a:solidFill>
            <a:miter lim="800000"/>
            <a:headEnd/>
            <a:tailEnd/>
          </a:ln>
        </p:spPr>
      </p:pic>
      <p:pic>
        <p:nvPicPr>
          <p:cNvPr id="4" name="图片 3"/>
          <p:cNvPicPr>
            <a:picLocks noChangeAspect="1"/>
          </p:cNvPicPr>
          <p:nvPr/>
        </p:nvPicPr>
        <p:blipFill>
          <a:blip r:embed="rId2"/>
          <a:stretch>
            <a:fillRect/>
          </a:stretch>
        </p:blipFill>
        <p:spPr>
          <a:xfrm>
            <a:off x="635" y="4098290"/>
            <a:ext cx="3647440" cy="2759710"/>
          </a:xfrm>
          <a:prstGeom prst="rect">
            <a:avLst/>
          </a:prstGeom>
          <a:ln>
            <a:solidFill>
              <a:schemeClr val="accent1"/>
            </a:solidFill>
          </a:ln>
        </p:spPr>
      </p:pic>
      <p:sp>
        <p:nvSpPr>
          <p:cNvPr id="6" name="文本框 5"/>
          <p:cNvSpPr txBox="1"/>
          <p:nvPr>
            <p:custDataLst>
              <p:tags r:id="rId3"/>
            </p:custDataLst>
          </p:nvPr>
        </p:nvSpPr>
        <p:spPr>
          <a:xfrm>
            <a:off x="3648075" y="3086100"/>
            <a:ext cx="2269490" cy="3778250"/>
          </a:xfrm>
          <a:prstGeom prst="rect">
            <a:avLst/>
          </a:prstGeom>
          <a:solidFill>
            <a:schemeClr val="accent3"/>
          </a:solidFill>
          <a:ln>
            <a:solidFill>
              <a:schemeClr val="accent1"/>
            </a:solidFill>
          </a:ln>
        </p:spPr>
        <p:txBody>
          <a:bodyPr wrap="square" rtlCol="0">
            <a:noAutofit/>
          </a:bodyPr>
          <a:p>
            <a:pPr marL="228600" indent="-228600" algn="l" eaLnBrk="1" hangingPunct="1">
              <a:lnSpc>
                <a:spcPct val="18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无流程线</a:t>
            </a:r>
            <a:endParaRPr lang="zh-CN" altLang="en-US" sz="1200" b="1" dirty="0">
              <a:solidFill>
                <a:schemeClr val="bg1"/>
              </a:solidFill>
              <a:uFillTx/>
              <a:latin typeface="+mj-ea"/>
              <a:ea typeface="+mj-ea"/>
              <a:cs typeface="+mj-ea"/>
              <a:sym typeface="+mn-ea"/>
            </a:endParaRPr>
          </a:p>
          <a:p>
            <a:pPr marL="228600" indent="-228600" algn="l" eaLnBrk="1" hangingPunct="1">
              <a:lnSpc>
                <a:spcPct val="18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结构化</a:t>
            </a:r>
            <a:endParaRPr lang="zh-CN" altLang="en-US" sz="1200" b="1" dirty="0">
              <a:solidFill>
                <a:schemeClr val="bg1"/>
              </a:solidFill>
              <a:uFillTx/>
              <a:latin typeface="+mj-ea"/>
              <a:ea typeface="+mj-ea"/>
              <a:cs typeface="+mj-ea"/>
              <a:sym typeface="+mn-ea"/>
            </a:endParaRPr>
          </a:p>
          <a:p>
            <a:pPr marL="228600" indent="-228600" algn="l" eaLnBrk="1" hangingPunct="1">
              <a:lnSpc>
                <a:spcPct val="18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不可能任意转移控制</a:t>
            </a:r>
            <a:endParaRPr lang="zh-CN" altLang="en-US" sz="1200" b="1" dirty="0">
              <a:solidFill>
                <a:schemeClr val="bg1"/>
              </a:solidFill>
              <a:uFillTx/>
              <a:latin typeface="+mj-ea"/>
              <a:ea typeface="+mj-ea"/>
              <a:cs typeface="+mj-ea"/>
              <a:sym typeface="+mn-ea"/>
            </a:endParaRPr>
          </a:p>
          <a:p>
            <a:pPr marL="228600" indent="-228600" algn="l" eaLnBrk="1" hangingPunct="1">
              <a:lnSpc>
                <a:spcPct val="18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功能域明确</a:t>
            </a:r>
            <a:endParaRPr lang="zh-CN" altLang="en-US" sz="1200" b="1" dirty="0">
              <a:solidFill>
                <a:schemeClr val="bg1"/>
              </a:solidFill>
              <a:uFillTx/>
              <a:latin typeface="+mj-ea"/>
              <a:ea typeface="+mj-ea"/>
              <a:cs typeface="+mj-ea"/>
            </a:endParaRPr>
          </a:p>
          <a:p>
            <a:pPr marL="228600" indent="-228600" algn="l" eaLnBrk="1" hangingPunct="1">
              <a:lnSpc>
                <a:spcPct val="18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很容易确定局部和全程数据的作用域。</a:t>
            </a:r>
            <a:endParaRPr lang="zh-CN" altLang="en-US" sz="1200" b="1" dirty="0">
              <a:solidFill>
                <a:schemeClr val="bg1"/>
              </a:solidFill>
              <a:uFillTx/>
              <a:latin typeface="+mj-ea"/>
              <a:ea typeface="+mj-ea"/>
              <a:cs typeface="+mj-ea"/>
              <a:sym typeface="+mn-ea"/>
            </a:endParaRPr>
          </a:p>
          <a:p>
            <a:pPr marL="228600" indent="-228600" algn="l" eaLnBrk="1" hangingPunct="1">
              <a:lnSpc>
                <a:spcPct val="18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 很容易表现嵌套关系，也可以表示模块的层次结构。</a:t>
            </a:r>
            <a:endParaRPr lang="zh-CN" altLang="en-US" sz="1200" b="1" dirty="0">
              <a:solidFill>
                <a:schemeClr val="bg1"/>
              </a:solidFill>
              <a:uFillTx/>
              <a:latin typeface="+mj-ea"/>
              <a:ea typeface="+mj-ea"/>
              <a:cs typeface="+mj-ea"/>
              <a:sym typeface="+mn-ea"/>
            </a:endParaRPr>
          </a:p>
          <a:p>
            <a:pPr algn="l">
              <a:lnSpc>
                <a:spcPct val="180000"/>
              </a:lnSpc>
              <a:spcBef>
                <a:spcPts val="0"/>
              </a:spcBef>
              <a:spcAft>
                <a:spcPts val="1000"/>
              </a:spcAft>
              <a:buClrTx/>
              <a:buSzTx/>
              <a:buFont typeface="Arial" panose="020B0604020202020204" pitchFamily="34" charset="0"/>
            </a:pPr>
            <a:endParaRPr lang="zh-CN" altLang="en-US" sz="1200" b="1" dirty="0">
              <a:solidFill>
                <a:schemeClr val="bg1"/>
              </a:solidFill>
              <a:uFillTx/>
              <a:latin typeface="+mj-ea"/>
              <a:ea typeface="+mj-ea"/>
              <a:cs typeface="+mj-ea"/>
              <a:sym typeface="+mn-ea"/>
            </a:endParaRPr>
          </a:p>
        </p:txBody>
      </p:sp>
      <p:sp>
        <p:nvSpPr>
          <p:cNvPr id="7" name="文本框 6"/>
          <p:cNvSpPr txBox="1"/>
          <p:nvPr/>
        </p:nvSpPr>
        <p:spPr>
          <a:xfrm>
            <a:off x="3647440" y="1050925"/>
            <a:ext cx="2267585" cy="2020570"/>
          </a:xfrm>
          <a:prstGeom prst="rect">
            <a:avLst/>
          </a:prstGeom>
          <a:solidFill>
            <a:schemeClr val="accent1"/>
          </a:solidFill>
          <a:ln>
            <a:solidFill>
              <a:schemeClr val="tx1"/>
            </a:solidFill>
          </a:ln>
        </p:spPr>
        <p:txBody>
          <a:bodyPr wrap="square" rtlCol="0">
            <a:noAutofit/>
          </a:bodyPr>
          <a:p>
            <a:pPr marL="228600" indent="-228600" algn="l">
              <a:lnSpc>
                <a:spcPct val="110000"/>
              </a:lnSpc>
              <a:spcBef>
                <a:spcPts val="0"/>
              </a:spcBef>
              <a:spcAft>
                <a:spcPts val="1000"/>
              </a:spcAft>
              <a:buClrTx/>
              <a:buSzTx/>
              <a:buFont typeface="+mj-lt"/>
              <a:buAutoNum type="alphaLcPeriod"/>
            </a:pPr>
            <a:r>
              <a:rPr lang="zh-CN" altLang="en-US" sz="1200" b="1" dirty="0">
                <a:solidFill>
                  <a:schemeClr val="bg2"/>
                </a:solidFill>
                <a:uFillTx/>
                <a:latin typeface="+mj-ea"/>
                <a:ea typeface="+mj-ea"/>
                <a:cs typeface="+mj-ea"/>
                <a:sym typeface="+mn-ea"/>
              </a:rPr>
              <a:t> 顺序结构；</a:t>
            </a:r>
            <a:endParaRPr lang="zh-CN" altLang="en-US" sz="1200" b="1" dirty="0">
              <a:solidFill>
                <a:schemeClr val="bg2"/>
              </a:solidFill>
              <a:uFillTx/>
              <a:latin typeface="+mj-ea"/>
              <a:ea typeface="+mj-ea"/>
              <a:cs typeface="+mj-ea"/>
              <a:sym typeface="+mn-ea"/>
            </a:endParaRPr>
          </a:p>
          <a:p>
            <a:pPr marL="228600" indent="-228600" algn="l">
              <a:lnSpc>
                <a:spcPct val="160000"/>
              </a:lnSpc>
              <a:spcBef>
                <a:spcPts val="0"/>
              </a:spcBef>
              <a:spcAft>
                <a:spcPts val="1000"/>
              </a:spcAft>
              <a:buClrTx/>
              <a:buSzTx/>
              <a:buFont typeface="+mj-lt"/>
              <a:buAutoNum type="alphaLcPeriod"/>
            </a:pPr>
            <a:r>
              <a:rPr lang="zh-CN" altLang="en-US" sz="1200" b="1" dirty="0">
                <a:solidFill>
                  <a:schemeClr val="bg2"/>
                </a:solidFill>
                <a:uFillTx/>
                <a:latin typeface="+mj-ea"/>
                <a:ea typeface="+mj-ea"/>
                <a:cs typeface="+mj-ea"/>
                <a:sym typeface="+mn-ea"/>
              </a:rPr>
              <a:t> IF_THEN_ELSE型；</a:t>
            </a:r>
            <a:endParaRPr lang="zh-CN" altLang="en-US" sz="1200" b="1" dirty="0">
              <a:solidFill>
                <a:schemeClr val="bg2"/>
              </a:solidFill>
              <a:uFillTx/>
              <a:latin typeface="+mj-ea"/>
              <a:ea typeface="+mj-ea"/>
              <a:cs typeface="+mj-ea"/>
              <a:sym typeface="+mn-ea"/>
            </a:endParaRPr>
          </a:p>
          <a:p>
            <a:pPr marL="228600" indent="-228600" algn="l">
              <a:lnSpc>
                <a:spcPct val="110000"/>
              </a:lnSpc>
              <a:spcBef>
                <a:spcPts val="0"/>
              </a:spcBef>
              <a:spcAft>
                <a:spcPts val="1000"/>
              </a:spcAft>
              <a:buClrTx/>
              <a:buSzTx/>
              <a:buFont typeface="+mj-lt"/>
              <a:buAutoNum type="alphaLcPeriod"/>
            </a:pPr>
            <a:r>
              <a:rPr lang="zh-CN" altLang="en-US" sz="1200" b="1" dirty="0">
                <a:solidFill>
                  <a:schemeClr val="bg2"/>
                </a:solidFill>
                <a:uFillTx/>
                <a:latin typeface="+mj-ea"/>
                <a:ea typeface="+mj-ea"/>
                <a:cs typeface="+mj-ea"/>
                <a:sym typeface="+mn-ea"/>
              </a:rPr>
              <a:t> CASE型； </a:t>
            </a:r>
            <a:endParaRPr lang="zh-CN" altLang="en-US" sz="1200" b="1" dirty="0">
              <a:solidFill>
                <a:schemeClr val="bg2"/>
              </a:solidFill>
              <a:uFillTx/>
              <a:latin typeface="+mj-ea"/>
              <a:ea typeface="+mj-ea"/>
              <a:cs typeface="+mj-ea"/>
              <a:sym typeface="+mn-ea"/>
            </a:endParaRPr>
          </a:p>
          <a:p>
            <a:pPr marL="228600" indent="-228600" algn="l">
              <a:lnSpc>
                <a:spcPct val="110000"/>
              </a:lnSpc>
              <a:spcBef>
                <a:spcPts val="0"/>
              </a:spcBef>
              <a:spcAft>
                <a:spcPts val="1000"/>
              </a:spcAft>
              <a:buClrTx/>
              <a:buSzTx/>
              <a:buFont typeface="+mj-lt"/>
              <a:buAutoNum type="alphaLcPeriod"/>
            </a:pPr>
            <a:r>
              <a:rPr lang="zh-CN" altLang="en-US" sz="1200" b="1" dirty="0">
                <a:solidFill>
                  <a:schemeClr val="bg2"/>
                </a:solidFill>
                <a:uFillTx/>
                <a:latin typeface="+mj-ea"/>
                <a:ea typeface="+mj-ea"/>
                <a:cs typeface="+mj-ea"/>
                <a:sym typeface="+mn-ea"/>
              </a:rPr>
              <a:t> 循环结构；</a:t>
            </a:r>
            <a:endParaRPr lang="zh-CN" altLang="en-US" sz="1200" b="1" dirty="0">
              <a:solidFill>
                <a:schemeClr val="bg2"/>
              </a:solidFill>
              <a:uFillTx/>
              <a:latin typeface="+mj-ea"/>
              <a:ea typeface="+mj-ea"/>
              <a:cs typeface="+mj-ea"/>
              <a:sym typeface="+mn-ea"/>
            </a:endParaRPr>
          </a:p>
          <a:p>
            <a:pPr marL="228600" indent="-228600" algn="l">
              <a:lnSpc>
                <a:spcPct val="110000"/>
              </a:lnSpc>
              <a:spcBef>
                <a:spcPts val="0"/>
              </a:spcBef>
              <a:spcAft>
                <a:spcPts val="1000"/>
              </a:spcAft>
              <a:buClrTx/>
              <a:buSzTx/>
              <a:buFont typeface="+mj-lt"/>
              <a:buAutoNum type="alphaLcPeriod"/>
            </a:pPr>
            <a:r>
              <a:rPr lang="zh-CN" altLang="en-US" sz="1200" b="1" dirty="0">
                <a:solidFill>
                  <a:schemeClr val="bg2"/>
                </a:solidFill>
                <a:uFillTx/>
                <a:latin typeface="+mj-ea"/>
                <a:ea typeface="+mj-ea"/>
                <a:cs typeface="+mj-ea"/>
                <a:sym typeface="+mn-ea"/>
              </a:rPr>
              <a:t> 调用子程序A</a:t>
            </a:r>
            <a:endParaRPr lang="zh-CN" altLang="en-US" sz="1200" b="1" dirty="0">
              <a:solidFill>
                <a:schemeClr val="bg2"/>
              </a:solidFill>
              <a:uFillTx/>
              <a:latin typeface="+mj-ea"/>
              <a:ea typeface="+mj-ea"/>
              <a:cs typeface="+mj-ea"/>
            </a:endParaRPr>
          </a:p>
          <a:p>
            <a:endParaRPr lang="zh-CN" altLang="en-US" sz="1200" b="1" dirty="0">
              <a:solidFill>
                <a:schemeClr val="bg2"/>
              </a:solidFill>
              <a:uFillTx/>
              <a:latin typeface="+mj-ea"/>
              <a:ea typeface="+mj-ea"/>
              <a:cs typeface="+mj-ea"/>
            </a:endParaRPr>
          </a:p>
        </p:txBody>
      </p:sp>
      <p:sp>
        <p:nvSpPr>
          <p:cNvPr id="9" name="文本框 8"/>
          <p:cNvSpPr txBox="1"/>
          <p:nvPr/>
        </p:nvSpPr>
        <p:spPr>
          <a:xfrm>
            <a:off x="6087745" y="349885"/>
            <a:ext cx="5384800" cy="759460"/>
          </a:xfrm>
          <a:prstGeom prst="rect">
            <a:avLst/>
          </a:prstGeom>
          <a:noFill/>
        </p:spPr>
        <p:txBody>
          <a:bodyPr wrap="square" rtlCol="0" anchor="t" anchorCtr="0">
            <a:noAutofit/>
          </a:bodyPr>
          <a:p>
            <a:pPr indent="0" algn="l" eaLnBrk="1" hangingPunct="1">
              <a:lnSpc>
                <a:spcPct val="160000"/>
              </a:lnSpc>
              <a:spcBef>
                <a:spcPts val="0"/>
              </a:spcBef>
              <a:spcAft>
                <a:spcPts val="1000"/>
              </a:spcAft>
              <a:buClrTx/>
              <a:buSzTx/>
              <a:buFont typeface="+mj-ea"/>
              <a:buNone/>
            </a:pPr>
            <a:r>
              <a:rPr lang="zh-CN" altLang="en-US" sz="1200" b="1" dirty="0">
                <a:uFillTx/>
                <a:latin typeface="+mn-ea"/>
                <a:cs typeface="+mn-ea"/>
                <a:sym typeface="+mn-ea"/>
              </a:rPr>
              <a:t>问题分析图（ problem analysis diagram ）的英文缩写，用</a:t>
            </a:r>
            <a:r>
              <a:rPr lang="zh-CN" altLang="en-US" sz="1200" b="1" dirty="0">
                <a:highlight>
                  <a:srgbClr val="00FFFF"/>
                </a:highlight>
                <a:uFillTx/>
                <a:latin typeface="+mn-ea"/>
                <a:cs typeface="+mn-ea"/>
                <a:sym typeface="+mn-ea"/>
              </a:rPr>
              <a:t>二维树形结构</a:t>
            </a:r>
            <a:r>
              <a:rPr lang="zh-CN" altLang="en-US" sz="1200" b="1" dirty="0">
                <a:uFillTx/>
                <a:latin typeface="+mn-ea"/>
                <a:cs typeface="+mn-ea"/>
                <a:sym typeface="+mn-ea"/>
              </a:rPr>
              <a:t>的图来表示程序的控制流。</a:t>
            </a:r>
            <a:endParaRPr lang="en-US" altLang="zh-CN" sz="1200" b="1" dirty="0">
              <a:latin typeface="+mn-ea"/>
              <a:cs typeface="+mn-ea"/>
            </a:endParaRPr>
          </a:p>
          <a:p>
            <a:pPr marL="228600" indent="-228600" algn="l" eaLnBrk="1" hangingPunct="1">
              <a:lnSpc>
                <a:spcPct val="140000"/>
              </a:lnSpc>
              <a:spcBef>
                <a:spcPts val="0"/>
              </a:spcBef>
              <a:spcAft>
                <a:spcPts val="1000"/>
              </a:spcAft>
              <a:buClrTx/>
              <a:buSzTx/>
              <a:buFont typeface="+mj-ea"/>
              <a:buAutoNum type="circleNumDbPlain" startAt="3"/>
            </a:pPr>
            <a:endParaRPr lang="zh-CN" altLang="en-US" sz="1200" b="1" dirty="0">
              <a:uFillTx/>
              <a:latin typeface="+mn-ea"/>
              <a:cs typeface="+mn-ea"/>
              <a:sym typeface="+mn-ea"/>
            </a:endParaRPr>
          </a:p>
        </p:txBody>
      </p:sp>
      <p:pic>
        <p:nvPicPr>
          <p:cNvPr id="57349" name="图片 2"/>
          <p:cNvPicPr>
            <a:picLocks noChangeAspect="1"/>
          </p:cNvPicPr>
          <p:nvPr/>
        </p:nvPicPr>
        <p:blipFill>
          <a:blip r:embed="rId4" cstate="print"/>
          <a:srcRect/>
          <a:stretch>
            <a:fillRect/>
          </a:stretch>
        </p:blipFill>
        <p:spPr bwMode="auto">
          <a:xfrm>
            <a:off x="6087745" y="1050925"/>
            <a:ext cx="2707640" cy="3207385"/>
          </a:xfrm>
          <a:prstGeom prst="rect">
            <a:avLst/>
          </a:prstGeom>
          <a:noFill/>
          <a:ln w="9525">
            <a:noFill/>
            <a:miter lim="800000"/>
            <a:headEnd/>
            <a:tailEnd/>
          </a:ln>
        </p:spPr>
      </p:pic>
      <p:pic>
        <p:nvPicPr>
          <p:cNvPr id="61444" name="图片 1"/>
          <p:cNvPicPr>
            <a:picLocks noChangeAspect="1"/>
          </p:cNvPicPr>
          <p:nvPr/>
        </p:nvPicPr>
        <p:blipFill>
          <a:blip r:embed="rId5" cstate="print"/>
          <a:srcRect/>
          <a:stretch>
            <a:fillRect/>
          </a:stretch>
        </p:blipFill>
        <p:spPr bwMode="auto">
          <a:xfrm>
            <a:off x="6009640" y="4572635"/>
            <a:ext cx="4266565" cy="1872615"/>
          </a:xfrm>
          <a:prstGeom prst="rect">
            <a:avLst/>
          </a:prstGeom>
          <a:noFill/>
          <a:ln w="9525">
            <a:noFill/>
            <a:miter lim="800000"/>
            <a:headEnd/>
            <a:tailEnd/>
          </a:ln>
        </p:spPr>
      </p:pic>
      <p:sp>
        <p:nvSpPr>
          <p:cNvPr id="10" name="文本框 9"/>
          <p:cNvSpPr txBox="1"/>
          <p:nvPr/>
        </p:nvSpPr>
        <p:spPr>
          <a:xfrm>
            <a:off x="8907145" y="762635"/>
            <a:ext cx="3284855" cy="2395220"/>
          </a:xfrm>
          <a:prstGeom prst="rect">
            <a:avLst/>
          </a:prstGeom>
          <a:solidFill>
            <a:schemeClr val="accent1"/>
          </a:solidFill>
          <a:ln>
            <a:solidFill>
              <a:schemeClr val="tx1"/>
            </a:solidFill>
          </a:ln>
        </p:spPr>
        <p:txBody>
          <a:bodyPr wrap="square" rtlCol="0">
            <a:noAutofit/>
          </a:bodyPr>
          <a:p>
            <a:pPr marL="228600" indent="-228600" algn="l" eaLnBrk="1" hangingPunct="1">
              <a:lnSpc>
                <a:spcPct val="110000"/>
              </a:lnSpc>
              <a:spcBef>
                <a:spcPts val="0"/>
              </a:spcBef>
              <a:spcAft>
                <a:spcPts val="1000"/>
              </a:spcAft>
              <a:buClrTx/>
              <a:buSzTx/>
              <a:buFont typeface="+mj-lt"/>
              <a:buAutoNum type="alphaLcPeriod"/>
            </a:pPr>
            <a:r>
              <a:rPr lang="zh-CN" altLang="en-US" sz="1200" b="1" dirty="0">
                <a:solidFill>
                  <a:schemeClr val="bg1"/>
                </a:solidFill>
                <a:uFillTx/>
                <a:latin typeface="+mj-ea"/>
                <a:ea typeface="+mj-ea"/>
                <a:cs typeface="+mj-ea"/>
                <a:sym typeface="+mn-ea"/>
              </a:rPr>
              <a:t>顺序（先执行P1后执行P2 ）；</a:t>
            </a:r>
            <a:endParaRPr lang="zh-CN" altLang="en-US" sz="1200" b="1" dirty="0">
              <a:solidFill>
                <a:schemeClr val="bg1"/>
              </a:solidFill>
              <a:uFillTx/>
              <a:latin typeface="+mj-ea"/>
              <a:ea typeface="+mj-ea"/>
              <a:cs typeface="+mj-ea"/>
            </a:endParaRPr>
          </a:p>
          <a:p>
            <a:pPr marL="228600" indent="-228600" algn="l" eaLnBrk="1" hangingPunct="1">
              <a:lnSpc>
                <a:spcPct val="110000"/>
              </a:lnSpc>
              <a:spcBef>
                <a:spcPts val="0"/>
              </a:spcBef>
              <a:spcAft>
                <a:spcPts val="1000"/>
              </a:spcAft>
              <a:buClrTx/>
              <a:buSzTx/>
              <a:buFont typeface="+mj-lt"/>
              <a:buAutoNum type="alphaLcPeriod"/>
            </a:pPr>
            <a:r>
              <a:rPr lang="zh-CN" altLang="en-US" sz="1200" b="1" dirty="0">
                <a:solidFill>
                  <a:schemeClr val="bg1"/>
                </a:solidFill>
                <a:uFillTx/>
                <a:latin typeface="+mj-ea"/>
                <a:ea typeface="+mj-ea"/>
                <a:cs typeface="+mj-ea"/>
                <a:sym typeface="+mn-ea"/>
              </a:rPr>
              <a:t>选择（ IF C THEN P1 ELSE P2）； </a:t>
            </a:r>
            <a:endParaRPr lang="zh-CN" altLang="en-US" sz="1200" b="1" dirty="0">
              <a:solidFill>
                <a:schemeClr val="bg1"/>
              </a:solidFill>
              <a:uFillTx/>
              <a:latin typeface="+mj-ea"/>
              <a:ea typeface="+mj-ea"/>
              <a:cs typeface="+mj-ea"/>
            </a:endParaRPr>
          </a:p>
          <a:p>
            <a:pPr marL="228600" indent="-228600" algn="l" eaLnBrk="1" hangingPunct="1">
              <a:lnSpc>
                <a:spcPct val="110000"/>
              </a:lnSpc>
              <a:spcBef>
                <a:spcPts val="0"/>
              </a:spcBef>
              <a:spcAft>
                <a:spcPts val="1000"/>
              </a:spcAft>
              <a:buClrTx/>
              <a:buSzTx/>
              <a:buFont typeface="+mj-lt"/>
              <a:buAutoNum type="alphaLcPeriod"/>
            </a:pPr>
            <a:r>
              <a:rPr lang="zh-CN" altLang="en-US" sz="1200" b="1" dirty="0">
                <a:solidFill>
                  <a:schemeClr val="bg1"/>
                </a:solidFill>
                <a:uFillTx/>
                <a:latin typeface="+mj-ea"/>
                <a:ea typeface="+mj-ea"/>
                <a:cs typeface="+mj-ea"/>
                <a:sym typeface="+mn-ea"/>
              </a:rPr>
              <a:t>CASE型多分支；</a:t>
            </a:r>
            <a:endParaRPr lang="zh-CN" altLang="en-US" sz="1200" b="1" dirty="0">
              <a:solidFill>
                <a:schemeClr val="bg1"/>
              </a:solidFill>
              <a:uFillTx/>
              <a:latin typeface="+mj-ea"/>
              <a:ea typeface="+mj-ea"/>
              <a:cs typeface="+mj-ea"/>
            </a:endParaRPr>
          </a:p>
          <a:p>
            <a:pPr marL="228600" indent="-228600" algn="l" eaLnBrk="1" hangingPunct="1">
              <a:lnSpc>
                <a:spcPct val="110000"/>
              </a:lnSpc>
              <a:spcBef>
                <a:spcPts val="0"/>
              </a:spcBef>
              <a:spcAft>
                <a:spcPts val="1000"/>
              </a:spcAft>
              <a:buClrTx/>
              <a:buSzTx/>
              <a:buFont typeface="+mj-lt"/>
              <a:buAutoNum type="alphaLcPeriod"/>
            </a:pPr>
            <a:r>
              <a:rPr lang="zh-CN" altLang="en-US" sz="1200" b="1" dirty="0">
                <a:solidFill>
                  <a:schemeClr val="bg1"/>
                </a:solidFill>
                <a:uFillTx/>
                <a:latin typeface="+mj-ea"/>
                <a:ea typeface="+mj-ea"/>
                <a:cs typeface="+mj-ea"/>
                <a:sym typeface="+mn-ea"/>
              </a:rPr>
              <a:t>WHILE型循环（WHILE C DO P ）；</a:t>
            </a:r>
            <a:endParaRPr lang="zh-CN" altLang="en-US" sz="1200" b="1" dirty="0">
              <a:solidFill>
                <a:schemeClr val="bg1"/>
              </a:solidFill>
              <a:uFillTx/>
              <a:latin typeface="+mj-ea"/>
              <a:ea typeface="+mj-ea"/>
              <a:cs typeface="+mj-ea"/>
            </a:endParaRPr>
          </a:p>
          <a:p>
            <a:pPr marL="228600" indent="-228600" algn="l" eaLnBrk="1" hangingPunct="1">
              <a:lnSpc>
                <a:spcPct val="110000"/>
              </a:lnSpc>
              <a:spcBef>
                <a:spcPts val="0"/>
              </a:spcBef>
              <a:spcAft>
                <a:spcPts val="1000"/>
              </a:spcAft>
              <a:buClrTx/>
              <a:buSzTx/>
              <a:buFont typeface="+mj-lt"/>
              <a:buAutoNum type="alphaLcPeriod"/>
            </a:pPr>
            <a:r>
              <a:rPr lang="zh-CN" altLang="en-US" sz="1200" b="1" dirty="0">
                <a:solidFill>
                  <a:schemeClr val="bg1"/>
                </a:solidFill>
                <a:uFillTx/>
                <a:latin typeface="+mj-ea"/>
                <a:ea typeface="+mj-ea"/>
                <a:cs typeface="+mj-ea"/>
                <a:sym typeface="+mn-ea"/>
              </a:rPr>
              <a:t>UNTIL型循环（ REPEAT P UNTIL C ）； </a:t>
            </a:r>
            <a:endParaRPr lang="zh-CN" altLang="en-US" sz="1200" b="1" dirty="0">
              <a:solidFill>
                <a:schemeClr val="bg1"/>
              </a:solidFill>
              <a:uFillTx/>
              <a:latin typeface="+mj-ea"/>
              <a:ea typeface="+mj-ea"/>
              <a:cs typeface="+mj-ea"/>
            </a:endParaRPr>
          </a:p>
          <a:p>
            <a:pPr marL="228600" indent="-228600" algn="l" eaLnBrk="1" hangingPunct="1">
              <a:lnSpc>
                <a:spcPct val="110000"/>
              </a:lnSpc>
              <a:spcBef>
                <a:spcPts val="0"/>
              </a:spcBef>
              <a:spcAft>
                <a:spcPts val="1000"/>
              </a:spcAft>
              <a:buClrTx/>
              <a:buSzTx/>
              <a:buFont typeface="+mj-lt"/>
              <a:buAutoNum type="alphaLcPeriod"/>
            </a:pPr>
            <a:r>
              <a:rPr lang="zh-CN" altLang="en-US" sz="1200" b="1" dirty="0">
                <a:solidFill>
                  <a:schemeClr val="bg1"/>
                </a:solidFill>
                <a:uFillTx/>
                <a:latin typeface="+mj-ea"/>
                <a:ea typeface="+mj-ea"/>
                <a:cs typeface="+mj-ea"/>
                <a:sym typeface="+mn-ea"/>
              </a:rPr>
              <a:t>语句标号； </a:t>
            </a:r>
            <a:endParaRPr lang="zh-CN" altLang="en-US" sz="1200" b="1" dirty="0">
              <a:solidFill>
                <a:schemeClr val="bg1"/>
              </a:solidFill>
              <a:uFillTx/>
              <a:latin typeface="+mj-ea"/>
              <a:ea typeface="+mj-ea"/>
              <a:cs typeface="+mj-ea"/>
            </a:endParaRPr>
          </a:p>
          <a:p>
            <a:pPr marL="228600" indent="-228600" algn="l" eaLnBrk="1" hangingPunct="1">
              <a:lnSpc>
                <a:spcPct val="110000"/>
              </a:lnSpc>
              <a:spcBef>
                <a:spcPts val="0"/>
              </a:spcBef>
              <a:spcAft>
                <a:spcPts val="1000"/>
              </a:spcAft>
              <a:buClrTx/>
              <a:buSzTx/>
              <a:buFont typeface="+mj-lt"/>
              <a:buAutoNum type="alphaLcPeriod"/>
            </a:pPr>
            <a:r>
              <a:rPr lang="zh-CN" altLang="en-US" sz="1200" b="1" dirty="0">
                <a:solidFill>
                  <a:schemeClr val="bg1"/>
                </a:solidFill>
                <a:uFillTx/>
                <a:latin typeface="+mj-ea"/>
                <a:ea typeface="+mj-ea"/>
                <a:cs typeface="+mj-ea"/>
                <a:sym typeface="+mn-ea"/>
              </a:rPr>
              <a:t>定义</a:t>
            </a:r>
            <a:endParaRPr lang="zh-CN" altLang="en-US" sz="1200" b="1" dirty="0">
              <a:solidFill>
                <a:schemeClr val="bg1"/>
              </a:solidFill>
              <a:uFillTx/>
              <a:latin typeface="+mj-ea"/>
              <a:ea typeface="+mj-ea"/>
              <a:cs typeface="+mj-ea"/>
            </a:endParaRPr>
          </a:p>
          <a:p>
            <a:pPr marL="171450" indent="-171450" algn="l">
              <a:lnSpc>
                <a:spcPct val="90000"/>
              </a:lnSpc>
              <a:spcBef>
                <a:spcPts val="0"/>
              </a:spcBef>
              <a:spcAft>
                <a:spcPts val="1000"/>
              </a:spcAft>
              <a:buClrTx/>
              <a:buSzTx/>
              <a:buFont typeface="Arial" panose="020B0604020202020204" pitchFamily="34" charset="0"/>
              <a:buChar char="•"/>
            </a:pPr>
            <a:endParaRPr lang="zh-CN" altLang="en-US" sz="1200" b="1" dirty="0">
              <a:solidFill>
                <a:schemeClr val="bg1"/>
              </a:solidFill>
              <a:uFillTx/>
              <a:latin typeface="+mj-ea"/>
              <a:ea typeface="+mj-ea"/>
              <a:cs typeface="+mj-ea"/>
            </a:endParaRPr>
          </a:p>
        </p:txBody>
      </p:sp>
      <p:sp>
        <p:nvSpPr>
          <p:cNvPr id="14" name="文本框 13"/>
          <p:cNvSpPr txBox="1"/>
          <p:nvPr>
            <p:custDataLst>
              <p:tags r:id="rId6"/>
            </p:custDataLst>
          </p:nvPr>
        </p:nvSpPr>
        <p:spPr>
          <a:xfrm>
            <a:off x="0" y="0"/>
            <a:ext cx="5922645" cy="349885"/>
          </a:xfrm>
          <a:prstGeom prst="rect">
            <a:avLst/>
          </a:prstGeom>
          <a:solidFill>
            <a:schemeClr val="accent1"/>
          </a:solidFill>
        </p:spPr>
        <p:txBody>
          <a:bodyPr wrap="square" rtlCol="0">
            <a:noAutofit/>
          </a:bodyPr>
          <a:p>
            <a:r>
              <a:rPr lang="zh-CN" altLang="en-US" sz="1400" b="1">
                <a:solidFill>
                  <a:schemeClr val="bg1"/>
                </a:solidFill>
              </a:rPr>
              <a:t>盒图</a:t>
            </a:r>
            <a:endParaRPr lang="zh-CN" altLang="en-US" sz="1400" b="1">
              <a:solidFill>
                <a:schemeClr val="bg1"/>
              </a:solidFill>
            </a:endParaRPr>
          </a:p>
        </p:txBody>
      </p:sp>
      <p:sp>
        <p:nvSpPr>
          <p:cNvPr id="3" name="文本框 2"/>
          <p:cNvSpPr txBox="1"/>
          <p:nvPr>
            <p:custDataLst>
              <p:tags r:id="rId7"/>
            </p:custDataLst>
          </p:nvPr>
        </p:nvSpPr>
        <p:spPr>
          <a:xfrm>
            <a:off x="5951855" y="0"/>
            <a:ext cx="6248400" cy="349885"/>
          </a:xfrm>
          <a:prstGeom prst="rect">
            <a:avLst/>
          </a:prstGeom>
          <a:solidFill>
            <a:schemeClr val="accent1"/>
          </a:solidFill>
        </p:spPr>
        <p:txBody>
          <a:bodyPr wrap="square" rtlCol="0">
            <a:noAutofit/>
          </a:bodyPr>
          <a:p>
            <a:r>
              <a:rPr lang="en-US" altLang="zh-CN" sz="1400" b="1">
                <a:solidFill>
                  <a:schemeClr val="bg1"/>
                </a:solidFill>
              </a:rPr>
              <a:t>PAD</a:t>
            </a:r>
            <a:r>
              <a:rPr lang="zh-CN" altLang="en-US" sz="1400" b="1">
                <a:solidFill>
                  <a:schemeClr val="bg1"/>
                </a:solidFill>
              </a:rPr>
              <a:t>图</a:t>
            </a:r>
            <a:endParaRPr lang="zh-CN" altLang="en-US" sz="1400" b="1">
              <a:solidFill>
                <a:schemeClr val="bg1"/>
              </a:solidFill>
            </a:endParaRPr>
          </a:p>
        </p:txBody>
      </p:sp>
      <p:sp>
        <p:nvSpPr>
          <p:cNvPr id="8" name="文本框 7"/>
          <p:cNvSpPr txBox="1"/>
          <p:nvPr/>
        </p:nvSpPr>
        <p:spPr>
          <a:xfrm>
            <a:off x="8907780" y="6224905"/>
            <a:ext cx="1948180" cy="245110"/>
          </a:xfrm>
          <a:prstGeom prst="rect">
            <a:avLst/>
          </a:prstGeom>
          <a:noFill/>
        </p:spPr>
        <p:txBody>
          <a:bodyPr wrap="square" rtlCol="0">
            <a:spAutoFit/>
          </a:bodyPr>
          <a:p>
            <a:r>
              <a:rPr lang="zh-CN" altLang="en-US" sz="1000" b="1">
                <a:latin typeface="+mn-ea"/>
                <a:cs typeface="+mn-ea"/>
              </a:rPr>
              <a:t>使用</a:t>
            </a:r>
            <a:r>
              <a:rPr lang="en-US" altLang="zh-CN" sz="1000" b="1">
                <a:latin typeface="+mn-ea"/>
                <a:cs typeface="+mn-ea"/>
              </a:rPr>
              <a:t>def</a:t>
            </a:r>
            <a:r>
              <a:rPr lang="zh-CN" altLang="en-US" sz="1000" b="1">
                <a:latin typeface="+mn-ea"/>
                <a:cs typeface="+mn-ea"/>
              </a:rPr>
              <a:t>符号细化处理框</a:t>
            </a:r>
            <a:r>
              <a:rPr lang="en-US" altLang="zh-CN" sz="1000" b="1">
                <a:latin typeface="+mn-ea"/>
                <a:cs typeface="+mn-ea"/>
              </a:rPr>
              <a:t>P2</a:t>
            </a:r>
            <a:endParaRPr lang="en-US" altLang="zh-CN" sz="1000" b="1">
              <a:latin typeface="+mn-ea"/>
              <a:cs typeface="+mn-ea"/>
            </a:endParaRPr>
          </a:p>
        </p:txBody>
      </p:sp>
      <p:sp>
        <p:nvSpPr>
          <p:cNvPr id="12" name="文本框 11"/>
          <p:cNvSpPr txBox="1"/>
          <p:nvPr/>
        </p:nvSpPr>
        <p:spPr>
          <a:xfrm>
            <a:off x="6645275" y="6233160"/>
            <a:ext cx="1428750" cy="245110"/>
          </a:xfrm>
          <a:prstGeom prst="rect">
            <a:avLst/>
          </a:prstGeom>
          <a:noFill/>
        </p:spPr>
        <p:txBody>
          <a:bodyPr wrap="square" rtlCol="0">
            <a:spAutoFit/>
          </a:bodyPr>
          <a:p>
            <a:r>
              <a:rPr lang="zh-CN" altLang="en-US" sz="1000" b="1">
                <a:latin typeface="+mn-ea"/>
                <a:cs typeface="+mn-ea"/>
              </a:rPr>
              <a:t>初始化的</a:t>
            </a:r>
            <a:r>
              <a:rPr lang="en-US" altLang="zh-CN" sz="1000" b="1">
                <a:latin typeface="+mn-ea"/>
                <a:cs typeface="+mn-ea"/>
              </a:rPr>
              <a:t>PAD</a:t>
            </a:r>
            <a:r>
              <a:rPr lang="zh-CN" altLang="en-US" sz="1000" b="1">
                <a:latin typeface="+mn-ea"/>
                <a:cs typeface="+mn-ea"/>
              </a:rPr>
              <a:t>图</a:t>
            </a:r>
            <a:endParaRPr lang="zh-CN" altLang="en-US" sz="1000" b="1">
              <a:latin typeface="+mn-ea"/>
              <a:cs typeface="+mn-ea"/>
            </a:endParaRPr>
          </a:p>
        </p:txBody>
      </p:sp>
      <p:sp>
        <p:nvSpPr>
          <p:cNvPr id="13" name="文本框 12"/>
          <p:cNvSpPr txBox="1"/>
          <p:nvPr/>
        </p:nvSpPr>
        <p:spPr>
          <a:xfrm>
            <a:off x="8907780" y="3174365"/>
            <a:ext cx="3283585" cy="1815465"/>
          </a:xfrm>
          <a:prstGeom prst="rect">
            <a:avLst/>
          </a:prstGeom>
          <a:solidFill>
            <a:schemeClr val="accent3"/>
          </a:solidFill>
          <a:ln>
            <a:solidFill>
              <a:schemeClr val="tx1"/>
            </a:solidFill>
          </a:ln>
        </p:spPr>
        <p:txBody>
          <a:bodyPr wrap="square" rtlCol="0">
            <a:noAutofit/>
          </a:bodyPr>
          <a:p>
            <a:pPr marL="228600" indent="-228600" algn="l" eaLnBrk="1" hangingPunct="1">
              <a:lnSpc>
                <a:spcPct val="10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优秀的结构化支持 </a:t>
            </a:r>
            <a:endParaRPr lang="zh-CN" altLang="en-US" sz="1200" b="1" dirty="0">
              <a:solidFill>
                <a:schemeClr val="bg1"/>
              </a:solidFill>
              <a:uFillTx/>
              <a:latin typeface="+mj-ea"/>
              <a:ea typeface="+mj-ea"/>
              <a:cs typeface="+mj-ea"/>
            </a:endParaRPr>
          </a:p>
          <a:p>
            <a:pPr marL="228600" indent="-228600" algn="l" eaLnBrk="1" hangingPunct="1">
              <a:lnSpc>
                <a:spcPct val="10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强大的设计支持</a:t>
            </a:r>
            <a:endParaRPr lang="zh-CN" altLang="en-US" sz="1200" b="1" dirty="0">
              <a:solidFill>
                <a:schemeClr val="bg1"/>
              </a:solidFill>
              <a:uFillTx/>
              <a:latin typeface="+mj-ea"/>
              <a:ea typeface="+mj-ea"/>
              <a:cs typeface="+mj-ea"/>
              <a:sym typeface="+mn-ea"/>
            </a:endParaRPr>
          </a:p>
          <a:p>
            <a:pPr marL="228600" indent="-228600" algn="l" eaLnBrk="1" hangingPunct="1">
              <a:lnSpc>
                <a:spcPct val="10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极佳的代码生成性</a:t>
            </a:r>
            <a:endParaRPr lang="zh-CN" altLang="en-US" sz="1200" b="1" dirty="0">
              <a:solidFill>
                <a:schemeClr val="bg1"/>
              </a:solidFill>
              <a:uFillTx/>
              <a:latin typeface="+mj-ea"/>
              <a:ea typeface="+mj-ea"/>
              <a:cs typeface="+mj-ea"/>
              <a:sym typeface="+mn-ea"/>
            </a:endParaRPr>
          </a:p>
          <a:p>
            <a:pPr marL="228600" indent="-228600" algn="l" eaLnBrk="1" hangingPunct="1">
              <a:lnSpc>
                <a:spcPct val="10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易于理解和维护</a:t>
            </a:r>
            <a:endParaRPr lang="zh-CN" altLang="en-US" sz="1200" b="1" dirty="0">
              <a:solidFill>
                <a:schemeClr val="bg1"/>
              </a:solidFill>
              <a:uFillTx/>
              <a:latin typeface="+mj-ea"/>
              <a:ea typeface="+mj-ea"/>
              <a:cs typeface="+mj-ea"/>
              <a:sym typeface="+mn-ea"/>
            </a:endParaRPr>
          </a:p>
          <a:p>
            <a:pPr marL="228600" indent="-228600" algn="l" eaLnBrk="1" hangingPunct="1">
              <a:lnSpc>
                <a:spcPct val="100000"/>
              </a:lnSpc>
              <a:spcBef>
                <a:spcPts val="0"/>
              </a:spcBef>
              <a:spcAft>
                <a:spcPts val="1000"/>
              </a:spcAft>
              <a:buClrTx/>
              <a:buSzTx/>
              <a:buFont typeface="+mj-ea"/>
              <a:buAutoNum type="circleNumDbPlain"/>
            </a:pPr>
            <a:r>
              <a:rPr lang="zh-CN" altLang="en-US" sz="1200" b="1" dirty="0">
                <a:solidFill>
                  <a:schemeClr val="bg1"/>
                </a:solidFill>
                <a:uFillTx/>
                <a:latin typeface="+mj-ea"/>
                <a:ea typeface="+mj-ea"/>
                <a:cs typeface="+mj-ea"/>
                <a:sym typeface="+mn-ea"/>
              </a:rPr>
              <a:t>表达能力强</a:t>
            </a:r>
            <a:endParaRPr lang="zh-CN" altLang="en-US" sz="1200" b="1" dirty="0">
              <a:solidFill>
                <a:schemeClr val="bg1"/>
              </a:solidFill>
              <a:uFillTx/>
              <a:latin typeface="+mj-ea"/>
              <a:ea typeface="+mj-ea"/>
              <a:cs typeface="+mj-ea"/>
              <a:sym typeface="+mn-ea"/>
            </a:endParaRPr>
          </a:p>
        </p:txBody>
      </p:sp>
    </p:spTree>
    <p:custDataLst>
      <p:tags r:id="rId8"/>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7589" name="图片 1"/>
          <p:cNvPicPr>
            <a:picLocks noChangeAspect="1"/>
          </p:cNvPicPr>
          <p:nvPr/>
        </p:nvPicPr>
        <p:blipFill>
          <a:blip r:embed="rId1" cstate="print"/>
          <a:srcRect/>
          <a:stretch>
            <a:fillRect/>
          </a:stretch>
        </p:blipFill>
        <p:spPr bwMode="auto">
          <a:xfrm>
            <a:off x="6087745" y="801370"/>
            <a:ext cx="5537835" cy="2546350"/>
          </a:xfrm>
          <a:prstGeom prst="rect">
            <a:avLst/>
          </a:prstGeom>
          <a:noFill/>
          <a:ln w="9525">
            <a:noFill/>
            <a:miter lim="800000"/>
            <a:headEnd/>
            <a:tailEnd/>
          </a:ln>
        </p:spPr>
      </p:pic>
      <p:sp>
        <p:nvSpPr>
          <p:cNvPr id="7" name="文本框 6"/>
          <p:cNvSpPr txBox="1"/>
          <p:nvPr/>
        </p:nvSpPr>
        <p:spPr>
          <a:xfrm>
            <a:off x="10886440" y="351790"/>
            <a:ext cx="1247775" cy="1054100"/>
          </a:xfrm>
          <a:prstGeom prst="rect">
            <a:avLst/>
          </a:prstGeom>
          <a:solidFill>
            <a:schemeClr val="bg1"/>
          </a:solidFill>
        </p:spPr>
        <p:txBody>
          <a:bodyPr wrap="square" rtlCol="0">
            <a:noAutofit/>
          </a:bodyPr>
          <a:p>
            <a:endParaRPr lang="zh-CN" altLang="en-US"/>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421005" y="349885"/>
            <a:ext cx="5384800" cy="3792220"/>
          </a:xfrm>
          <a:prstGeom prst="rect">
            <a:avLst/>
          </a:prstGeom>
          <a:noFill/>
        </p:spPr>
        <p:txBody>
          <a:bodyPr wrap="square" rtlCol="0" anchor="t" anchorCtr="0">
            <a:noAutofit/>
          </a:bodyPr>
          <a:p>
            <a:pPr indent="0" algn="l" eaLnBrk="1" hangingPunct="1">
              <a:lnSpc>
                <a:spcPct val="160000"/>
              </a:lnSpc>
              <a:spcBef>
                <a:spcPts val="0"/>
              </a:spcBef>
              <a:spcAft>
                <a:spcPts val="1000"/>
              </a:spcAft>
              <a:buClrTx/>
              <a:buSzTx/>
              <a:buFont typeface="+mj-ea"/>
              <a:buNone/>
            </a:pPr>
            <a:r>
              <a:rPr lang="zh-CN" altLang="en-US" sz="1200" b="1" dirty="0">
                <a:solidFill>
                  <a:srgbClr val="FF0000"/>
                </a:solidFill>
                <a:uFillTx/>
                <a:latin typeface="+mj-ea"/>
                <a:ea typeface="+mj-ea"/>
                <a:cs typeface="+mj-ea"/>
                <a:sym typeface="+mn-ea"/>
              </a:rPr>
              <a:t>判定表</a:t>
            </a:r>
            <a:r>
              <a:rPr lang="zh-CN" altLang="en-US" sz="1200" b="1" dirty="0">
                <a:uFillTx/>
                <a:latin typeface="+mj-ea"/>
                <a:ea typeface="+mj-ea"/>
                <a:cs typeface="+mj-ea"/>
                <a:sym typeface="+mn-ea"/>
              </a:rPr>
              <a:t>能够清晰地表示复杂的条件组合与应做的动作之间的对应关系。判定表由4部分组成：</a:t>
            </a:r>
            <a:endParaRPr lang="zh-CN" altLang="en-US" sz="1200" b="1" dirty="0">
              <a:uFillTx/>
              <a:latin typeface="+mj-ea"/>
              <a:ea typeface="+mj-ea"/>
              <a:cs typeface="+mj-ea"/>
            </a:endParaRPr>
          </a:p>
          <a:p>
            <a:pPr marL="171450" indent="-171450" algn="l" eaLnBrk="1" hangingPunct="1">
              <a:lnSpc>
                <a:spcPct val="160000"/>
              </a:lnSpc>
              <a:spcBef>
                <a:spcPts val="0"/>
              </a:spcBef>
              <a:spcAft>
                <a:spcPts val="1000"/>
              </a:spcAft>
              <a:buClrTx/>
              <a:buSzTx/>
              <a:buFont typeface="Arial" panose="020B0604020202020204" pitchFamily="34" charset="0"/>
              <a:buChar char="•"/>
            </a:pPr>
            <a:r>
              <a:rPr lang="zh-CN" altLang="en-US" sz="1200" b="1" dirty="0">
                <a:solidFill>
                  <a:srgbClr val="00B0F0"/>
                </a:solidFill>
                <a:uFillTx/>
                <a:latin typeface="+mj-ea"/>
                <a:ea typeface="+mj-ea"/>
                <a:cs typeface="+mj-ea"/>
                <a:sym typeface="+mn-ea"/>
              </a:rPr>
              <a:t>左上部：</a:t>
            </a:r>
            <a:r>
              <a:rPr lang="zh-CN" altLang="en-US" sz="1200" dirty="0">
                <a:uFillTx/>
                <a:latin typeface="+mj-ea"/>
                <a:ea typeface="+mj-ea"/>
                <a:cs typeface="+mj-ea"/>
                <a:sym typeface="+mn-ea"/>
              </a:rPr>
              <a:t>列出所有条件</a:t>
            </a:r>
            <a:endParaRPr lang="zh-CN" altLang="en-US" sz="1200" dirty="0">
              <a:uFillTx/>
              <a:latin typeface="+mj-ea"/>
              <a:ea typeface="+mj-ea"/>
              <a:cs typeface="+mj-ea"/>
            </a:endParaRPr>
          </a:p>
          <a:p>
            <a:pPr marL="171450" indent="-171450" algn="l" eaLnBrk="1" hangingPunct="1">
              <a:lnSpc>
                <a:spcPct val="160000"/>
              </a:lnSpc>
              <a:spcBef>
                <a:spcPts val="0"/>
              </a:spcBef>
              <a:spcAft>
                <a:spcPts val="1000"/>
              </a:spcAft>
              <a:buClrTx/>
              <a:buSzTx/>
              <a:buFont typeface="Arial" panose="020B0604020202020204" pitchFamily="34" charset="0"/>
              <a:buChar char="•"/>
            </a:pPr>
            <a:r>
              <a:rPr lang="zh-CN" altLang="en-US" sz="1200" b="1" dirty="0">
                <a:solidFill>
                  <a:srgbClr val="00B0F0"/>
                </a:solidFill>
                <a:uFillTx/>
                <a:latin typeface="+mj-ea"/>
                <a:ea typeface="+mj-ea"/>
                <a:cs typeface="+mj-ea"/>
                <a:sym typeface="+mn-ea"/>
              </a:rPr>
              <a:t>左下部：</a:t>
            </a:r>
            <a:r>
              <a:rPr lang="zh-CN" altLang="en-US" sz="1200" dirty="0">
                <a:uFillTx/>
                <a:latin typeface="+mj-ea"/>
                <a:ea typeface="+mj-ea"/>
                <a:cs typeface="+mj-ea"/>
                <a:sym typeface="+mn-ea"/>
              </a:rPr>
              <a:t>是所有可能做的动作</a:t>
            </a:r>
            <a:endParaRPr lang="zh-CN" altLang="en-US" sz="1200" dirty="0">
              <a:uFillTx/>
              <a:latin typeface="+mj-ea"/>
              <a:ea typeface="+mj-ea"/>
              <a:cs typeface="+mj-ea"/>
            </a:endParaRPr>
          </a:p>
          <a:p>
            <a:pPr marL="171450" indent="-171450" algn="l" eaLnBrk="1" hangingPunct="1">
              <a:lnSpc>
                <a:spcPct val="160000"/>
              </a:lnSpc>
              <a:spcBef>
                <a:spcPts val="0"/>
              </a:spcBef>
              <a:spcAft>
                <a:spcPts val="1000"/>
              </a:spcAft>
              <a:buClrTx/>
              <a:buSzTx/>
              <a:buFont typeface="Arial" panose="020B0604020202020204" pitchFamily="34" charset="0"/>
              <a:buChar char="•"/>
            </a:pPr>
            <a:r>
              <a:rPr lang="zh-CN" altLang="en-US" sz="1200" b="1" dirty="0">
                <a:solidFill>
                  <a:srgbClr val="00B0F0"/>
                </a:solidFill>
                <a:uFillTx/>
                <a:latin typeface="+mj-ea"/>
                <a:ea typeface="+mj-ea"/>
                <a:cs typeface="+mj-ea"/>
                <a:sym typeface="+mn-ea"/>
              </a:rPr>
              <a:t>右上部：</a:t>
            </a:r>
            <a:r>
              <a:rPr lang="zh-CN" altLang="en-US" sz="1200" dirty="0">
                <a:uFillTx/>
                <a:latin typeface="+mj-ea"/>
                <a:ea typeface="+mj-ea"/>
                <a:cs typeface="+mj-ea"/>
                <a:sym typeface="+mn-ea"/>
              </a:rPr>
              <a:t>是表示各种条件组合的一个矩阵</a:t>
            </a:r>
            <a:endParaRPr lang="zh-CN" altLang="en-US" sz="1200" dirty="0">
              <a:uFillTx/>
              <a:latin typeface="+mj-ea"/>
              <a:ea typeface="+mj-ea"/>
              <a:cs typeface="+mj-ea"/>
            </a:endParaRPr>
          </a:p>
          <a:p>
            <a:pPr marL="171450" indent="-171450" algn="l" eaLnBrk="1" hangingPunct="1">
              <a:lnSpc>
                <a:spcPct val="160000"/>
              </a:lnSpc>
              <a:spcBef>
                <a:spcPts val="0"/>
              </a:spcBef>
              <a:spcAft>
                <a:spcPts val="1000"/>
              </a:spcAft>
              <a:buClrTx/>
              <a:buSzTx/>
              <a:buFont typeface="Arial" panose="020B0604020202020204" pitchFamily="34" charset="0"/>
              <a:buChar char="•"/>
            </a:pPr>
            <a:r>
              <a:rPr lang="zh-CN" altLang="en-US" sz="1200" b="1" dirty="0">
                <a:solidFill>
                  <a:srgbClr val="00B0F0"/>
                </a:solidFill>
                <a:uFillTx/>
                <a:latin typeface="+mj-ea"/>
                <a:ea typeface="+mj-ea"/>
                <a:cs typeface="+mj-ea"/>
                <a:sym typeface="+mn-ea"/>
              </a:rPr>
              <a:t>右下部：</a:t>
            </a:r>
            <a:r>
              <a:rPr lang="zh-CN" altLang="en-US" sz="1200" dirty="0">
                <a:uFillTx/>
                <a:latin typeface="+mj-ea"/>
                <a:ea typeface="+mj-ea"/>
                <a:cs typeface="+mj-ea"/>
                <a:sym typeface="+mn-ea"/>
              </a:rPr>
              <a:t>是和每种条件组合相对应的动作。</a:t>
            </a:r>
            <a:endParaRPr lang="zh-CN" altLang="en-US" sz="1200" dirty="0">
              <a:uFillTx/>
              <a:latin typeface="+mj-ea"/>
              <a:ea typeface="+mj-ea"/>
              <a:cs typeface="+mj-ea"/>
            </a:endParaRPr>
          </a:p>
          <a:p>
            <a:pPr marL="228600" indent="-228600" algn="l" eaLnBrk="1" hangingPunct="1">
              <a:lnSpc>
                <a:spcPct val="160000"/>
              </a:lnSpc>
              <a:spcBef>
                <a:spcPts val="0"/>
              </a:spcBef>
              <a:spcAft>
                <a:spcPts val="1000"/>
              </a:spcAft>
              <a:buClrTx/>
              <a:buSzTx/>
              <a:buFont typeface="+mj-ea"/>
              <a:buAutoNum type="circleNumDbPlain" startAt="3"/>
            </a:pPr>
            <a:endParaRPr lang="zh-CN" altLang="en-US" sz="1200" b="1" dirty="0">
              <a:uFillTx/>
              <a:latin typeface="+mj-ea"/>
              <a:ea typeface="+mj-ea"/>
              <a:cs typeface="+mj-ea"/>
              <a:sym typeface="+mn-ea"/>
            </a:endParaRPr>
          </a:p>
          <a:p>
            <a:pPr marL="228600" indent="-228600" algn="l" eaLnBrk="1" hangingPunct="1">
              <a:lnSpc>
                <a:spcPct val="160000"/>
              </a:lnSpc>
              <a:spcBef>
                <a:spcPts val="0"/>
              </a:spcBef>
              <a:spcAft>
                <a:spcPts val="1000"/>
              </a:spcAft>
              <a:buClrTx/>
              <a:buSzTx/>
              <a:buFont typeface="+mj-ea"/>
              <a:buAutoNum type="circleNumDbPlain" startAt="3"/>
            </a:pPr>
            <a:endParaRPr lang="zh-CN" altLang="en-US" sz="1200" b="1" dirty="0">
              <a:uFillTx/>
              <a:latin typeface="+mj-ea"/>
              <a:ea typeface="+mj-ea"/>
              <a:cs typeface="+mj-ea"/>
              <a:sym typeface="+mn-ea"/>
            </a:endParaRPr>
          </a:p>
        </p:txBody>
      </p:sp>
      <p:sp>
        <p:nvSpPr>
          <p:cNvPr id="9" name="文本框 8"/>
          <p:cNvSpPr txBox="1"/>
          <p:nvPr/>
        </p:nvSpPr>
        <p:spPr>
          <a:xfrm>
            <a:off x="6087745" y="349885"/>
            <a:ext cx="5384800" cy="759460"/>
          </a:xfrm>
          <a:prstGeom prst="rect">
            <a:avLst/>
          </a:prstGeom>
          <a:noFill/>
        </p:spPr>
        <p:txBody>
          <a:bodyPr wrap="square" rtlCol="0" anchor="t" anchorCtr="0">
            <a:noAutofit/>
          </a:bodyPr>
          <a:p>
            <a:pPr indent="0" algn="l" eaLnBrk="1" hangingPunct="1">
              <a:lnSpc>
                <a:spcPct val="160000"/>
              </a:lnSpc>
              <a:spcBef>
                <a:spcPts val="0"/>
              </a:spcBef>
              <a:spcAft>
                <a:spcPts val="1000"/>
              </a:spcAft>
              <a:buClrTx/>
              <a:buSzTx/>
              <a:buFont typeface="+mj-ea"/>
              <a:buNone/>
            </a:pPr>
            <a:r>
              <a:rPr lang="zh-CN" altLang="en-US" sz="1200" b="1" dirty="0">
                <a:solidFill>
                  <a:srgbClr val="FF0000"/>
                </a:solidFill>
                <a:latin typeface="Bodoni MT Black" panose="02070A03080606020203" pitchFamily="18" charset="0"/>
                <a:sym typeface="+mn-ea"/>
              </a:rPr>
              <a:t>判定树</a:t>
            </a:r>
            <a:r>
              <a:rPr lang="zh-CN" altLang="en-US" sz="1200" b="1" dirty="0">
                <a:solidFill>
                  <a:schemeClr val="tx1"/>
                </a:solidFill>
                <a:latin typeface="Bodoni MT Black" panose="02070A03080606020203" pitchFamily="18" charset="0"/>
                <a:sym typeface="+mn-ea"/>
              </a:rPr>
              <a:t>是判定表的变种</a:t>
            </a:r>
            <a:r>
              <a:rPr lang="zh-CN" altLang="en-US" sz="1200" b="1" dirty="0">
                <a:latin typeface="Bodoni MT Black" panose="02070A03080606020203" pitchFamily="18" charset="0"/>
                <a:sym typeface="+mn-ea"/>
              </a:rPr>
              <a:t>，它也能清晰地表示复杂的条件组合与应做的动作之间的对应关系。</a:t>
            </a:r>
            <a:endParaRPr lang="en-US" altLang="zh-CN" sz="1200" b="1" dirty="0">
              <a:latin typeface="Bodoni MT Black" panose="02070A03080606020203" pitchFamily="18" charset="0"/>
              <a:ea typeface="+mn-ea"/>
            </a:endParaRPr>
          </a:p>
          <a:p>
            <a:pPr marL="228600" indent="-228600" algn="l" eaLnBrk="1" hangingPunct="1">
              <a:lnSpc>
                <a:spcPct val="140000"/>
              </a:lnSpc>
              <a:spcBef>
                <a:spcPts val="0"/>
              </a:spcBef>
              <a:spcAft>
                <a:spcPts val="1000"/>
              </a:spcAft>
              <a:buClrTx/>
              <a:buSzTx/>
              <a:buFont typeface="+mj-ea"/>
              <a:buAutoNum type="circleNumDbPlain" startAt="3"/>
            </a:pPr>
            <a:endParaRPr lang="zh-CN" altLang="en-US" sz="1200" b="1" dirty="0">
              <a:uFillTx/>
              <a:latin typeface="+mj-ea"/>
              <a:ea typeface="+mj-ea"/>
              <a:cs typeface="+mj-ea"/>
              <a:sym typeface="+mn-ea"/>
            </a:endParaRPr>
          </a:p>
        </p:txBody>
      </p:sp>
      <p:graphicFrame>
        <p:nvGraphicFramePr>
          <p:cNvPr id="5" name="表格 4"/>
          <p:cNvGraphicFramePr>
            <a:graphicFrameLocks noGrp="1"/>
          </p:cNvGraphicFramePr>
          <p:nvPr>
            <p:custDataLst>
              <p:tags r:id="rId2"/>
            </p:custDataLst>
          </p:nvPr>
        </p:nvGraphicFramePr>
        <p:xfrm>
          <a:off x="104140" y="2924810"/>
          <a:ext cx="5731510" cy="3706495"/>
        </p:xfrm>
        <a:graphic>
          <a:graphicData uri="http://schemas.openxmlformats.org/drawingml/2006/table">
            <a:tbl>
              <a:tblPr firstRow="1" bandRow="1">
                <a:tableStyleId>{5C22544A-7EE6-4342-B048-85BDC9FD1C3A}</a:tableStyleId>
              </a:tblPr>
              <a:tblGrid>
                <a:gridCol w="878205"/>
                <a:gridCol w="478155"/>
                <a:gridCol w="531495"/>
                <a:gridCol w="404495"/>
                <a:gridCol w="574040"/>
                <a:gridCol w="572135"/>
                <a:gridCol w="574040"/>
                <a:gridCol w="572135"/>
                <a:gridCol w="574040"/>
                <a:gridCol w="572770"/>
              </a:tblGrid>
              <a:tr h="274320">
                <a:tc>
                  <a:txBody>
                    <a:bodyPr/>
                    <a:p>
                      <a:endParaRPr lang="zh-CN" altLang="en-US" sz="1000" dirty="0"/>
                    </a:p>
                  </a:txBody>
                  <a:tcPr/>
                </a:tc>
                <a:tc>
                  <a:txBody>
                    <a:bodyPr/>
                    <a:p>
                      <a:r>
                        <a:rPr lang="en-US" altLang="zh-CN" sz="1000" dirty="0" smtClean="0"/>
                        <a:t>1</a:t>
                      </a:r>
                      <a:endParaRPr lang="en-US" altLang="zh-CN" sz="1000" dirty="0" smtClean="0"/>
                    </a:p>
                  </a:txBody>
                  <a:tcPr/>
                </a:tc>
                <a:tc>
                  <a:txBody>
                    <a:bodyPr/>
                    <a:p>
                      <a:r>
                        <a:rPr lang="en-US" altLang="zh-CN" sz="1000" dirty="0" smtClean="0"/>
                        <a:t>2</a:t>
                      </a:r>
                      <a:endParaRPr lang="en-US" altLang="zh-CN" sz="1000" dirty="0" smtClean="0"/>
                    </a:p>
                  </a:txBody>
                  <a:tcPr/>
                </a:tc>
                <a:tc>
                  <a:txBody>
                    <a:bodyPr/>
                    <a:p>
                      <a:r>
                        <a:rPr lang="en-US" altLang="zh-CN" sz="1000" dirty="0" smtClean="0"/>
                        <a:t>3</a:t>
                      </a:r>
                      <a:endParaRPr lang="en-US" altLang="zh-CN" sz="1000" dirty="0" smtClean="0"/>
                    </a:p>
                  </a:txBody>
                  <a:tcPr/>
                </a:tc>
                <a:tc>
                  <a:txBody>
                    <a:bodyPr/>
                    <a:p>
                      <a:r>
                        <a:rPr lang="en-US" altLang="zh-CN" sz="1000" dirty="0" smtClean="0"/>
                        <a:t>4</a:t>
                      </a:r>
                      <a:endParaRPr lang="en-US" altLang="zh-CN" sz="1000" dirty="0" smtClean="0"/>
                    </a:p>
                  </a:txBody>
                  <a:tcPr/>
                </a:tc>
                <a:tc>
                  <a:txBody>
                    <a:bodyPr/>
                    <a:p>
                      <a:r>
                        <a:rPr lang="en-US" altLang="zh-CN" sz="1000" dirty="0" smtClean="0"/>
                        <a:t>5</a:t>
                      </a:r>
                      <a:endParaRPr lang="en-US" altLang="zh-CN" sz="1000" dirty="0" smtClean="0"/>
                    </a:p>
                  </a:txBody>
                  <a:tcPr/>
                </a:tc>
                <a:tc>
                  <a:txBody>
                    <a:bodyPr/>
                    <a:p>
                      <a:r>
                        <a:rPr lang="en-US" altLang="zh-CN" sz="1000" dirty="0" smtClean="0"/>
                        <a:t>6</a:t>
                      </a:r>
                      <a:endParaRPr lang="en-US" altLang="zh-CN" sz="1000" dirty="0" smtClean="0"/>
                    </a:p>
                  </a:txBody>
                  <a:tcPr/>
                </a:tc>
                <a:tc>
                  <a:txBody>
                    <a:bodyPr/>
                    <a:p>
                      <a:r>
                        <a:rPr lang="en-US" altLang="zh-CN" sz="1000" dirty="0" smtClean="0"/>
                        <a:t>7</a:t>
                      </a:r>
                      <a:endParaRPr lang="en-US" altLang="zh-CN" sz="1000" dirty="0" smtClean="0"/>
                    </a:p>
                  </a:txBody>
                  <a:tcPr/>
                </a:tc>
                <a:tc>
                  <a:txBody>
                    <a:bodyPr/>
                    <a:p>
                      <a:r>
                        <a:rPr lang="en-US" altLang="zh-CN" sz="1000" dirty="0" smtClean="0"/>
                        <a:t>8</a:t>
                      </a:r>
                      <a:endParaRPr lang="en-US" altLang="zh-CN" sz="1000" dirty="0" smtClean="0"/>
                    </a:p>
                  </a:txBody>
                  <a:tcPr/>
                </a:tc>
                <a:tc>
                  <a:txBody>
                    <a:bodyPr/>
                    <a:p>
                      <a:r>
                        <a:rPr lang="en-US" altLang="zh-CN" sz="1000" dirty="0" smtClean="0"/>
                        <a:t>9</a:t>
                      </a:r>
                      <a:endParaRPr lang="en-US" altLang="zh-CN" sz="1000" dirty="0" smtClean="0"/>
                    </a:p>
                  </a:txBody>
                  <a:tcPr/>
                </a:tc>
              </a:tr>
              <a:tr h="274320">
                <a:tc>
                  <a:txBody>
                    <a:bodyPr/>
                    <a:p>
                      <a:r>
                        <a:rPr lang="zh-CN" altLang="en-US" sz="1000" dirty="0" smtClean="0"/>
                        <a:t>国内乘客</a:t>
                      </a:r>
                      <a:endParaRPr lang="zh-CN" altLang="en-US" sz="1000" dirty="0" smtClean="0"/>
                    </a:p>
                  </a:txBody>
                  <a:tcPr/>
                </a:tc>
                <a:tc>
                  <a:txBody>
                    <a:bodyPr/>
                    <a:p>
                      <a:endParaRPr lang="zh-CN" altLang="en-US" sz="1000"/>
                    </a:p>
                  </a:txBody>
                  <a:tcPr/>
                </a:tc>
                <a:tc>
                  <a:txBody>
                    <a:bodyPr/>
                    <a:p>
                      <a:r>
                        <a:rPr lang="en-US" altLang="zh-CN" sz="1000" dirty="0" smtClean="0"/>
                        <a:t>T</a:t>
                      </a:r>
                      <a:endParaRPr lang="en-US" altLang="zh-CN" sz="1000" dirty="0" smtClean="0"/>
                    </a:p>
                  </a:txBody>
                  <a:tcPr/>
                </a:tc>
                <a:tc>
                  <a:txBody>
                    <a:bodyPr/>
                    <a:p>
                      <a:r>
                        <a:rPr lang="en-US" altLang="zh-CN" sz="1000" dirty="0" smtClean="0"/>
                        <a:t>T</a:t>
                      </a:r>
                      <a:endParaRPr lang="en-US" altLang="zh-CN" sz="1000" dirty="0" smtClean="0"/>
                    </a:p>
                  </a:txBody>
                  <a:tcPr/>
                </a:tc>
                <a:tc>
                  <a:txBody>
                    <a:bodyPr/>
                    <a:p>
                      <a:r>
                        <a:rPr lang="en-US" altLang="zh-CN" sz="1000" dirty="0" smtClean="0"/>
                        <a:t>T</a:t>
                      </a:r>
                      <a:endParaRPr lang="en-US" altLang="zh-CN" sz="1000" dirty="0" smtClean="0"/>
                    </a:p>
                  </a:txBody>
                  <a:tcPr/>
                </a:tc>
                <a:tc>
                  <a:txBody>
                    <a:bodyPr/>
                    <a:p>
                      <a:r>
                        <a:rPr lang="en-US" altLang="zh-CN" sz="1000" dirty="0" smtClean="0"/>
                        <a:t>T</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r>
              <a:tr h="274955">
                <a:tc>
                  <a:txBody>
                    <a:bodyPr/>
                    <a:p>
                      <a:r>
                        <a:rPr lang="zh-CN" altLang="en-US" sz="1000" dirty="0" smtClean="0"/>
                        <a:t>头等舱</a:t>
                      </a:r>
                      <a:endParaRPr lang="zh-CN" altLang="en-US" sz="1000" dirty="0" smtClean="0"/>
                    </a:p>
                  </a:txBody>
                  <a:tcPr/>
                </a:tc>
                <a:tc>
                  <a:txBody>
                    <a:bodyPr/>
                    <a:p>
                      <a:endParaRPr lang="zh-CN" altLang="en-US" sz="1000" dirty="0"/>
                    </a:p>
                  </a:txBody>
                  <a:tcPr/>
                </a:tc>
                <a:tc>
                  <a:txBody>
                    <a:bodyPr/>
                    <a:p>
                      <a:r>
                        <a:rPr lang="en-US" altLang="zh-CN" sz="1000" dirty="0" smtClean="0"/>
                        <a:t>T</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T</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T</a:t>
                      </a:r>
                      <a:endParaRPr lang="en-US" altLang="zh-CN" sz="1000" dirty="0" smtClean="0"/>
                    </a:p>
                  </a:txBody>
                  <a:tcPr/>
                </a:tc>
                <a:tc>
                  <a:txBody>
                    <a:bodyPr/>
                    <a:p>
                      <a:r>
                        <a:rPr lang="en-US" altLang="zh-CN" sz="1000" dirty="0" smtClean="0"/>
                        <a:t>F</a:t>
                      </a:r>
                      <a:endParaRPr lang="en-US" altLang="zh-CN" sz="1000" dirty="0" smtClean="0"/>
                    </a:p>
                  </a:txBody>
                  <a:tcPr/>
                </a:tc>
                <a:tc>
                  <a:txBody>
                    <a:bodyPr/>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smtClean="0"/>
                        <a:t>T</a:t>
                      </a:r>
                      <a:endParaRPr lang="en-US" altLang="zh-CN" sz="1000" dirty="0" smtClean="0"/>
                    </a:p>
                  </a:txBody>
                  <a:tcPr/>
                </a:tc>
                <a:tc>
                  <a:txBody>
                    <a:bodyPr/>
                    <a:p>
                      <a:r>
                        <a:rPr lang="en-US" altLang="zh-CN" sz="1000" dirty="0" smtClean="0"/>
                        <a:t>F</a:t>
                      </a:r>
                      <a:endParaRPr lang="en-US" altLang="zh-CN" sz="1000" dirty="0" smtClean="0"/>
                    </a:p>
                  </a:txBody>
                  <a:tcPr/>
                </a:tc>
              </a:tr>
              <a:tr h="274955">
                <a:tc>
                  <a:txBody>
                    <a:bodyPr/>
                    <a:p>
                      <a:r>
                        <a:rPr lang="zh-CN" altLang="en-US" sz="1000" dirty="0" smtClean="0"/>
                        <a:t>残疾乘客</a:t>
                      </a:r>
                      <a:endParaRPr lang="zh-CN" altLang="en-US" sz="1000" dirty="0" smtClean="0"/>
                    </a:p>
                  </a:txBody>
                  <a:tcPr/>
                </a:tc>
                <a:tc>
                  <a:txBody>
                    <a:bodyPr/>
                    <a:p>
                      <a:endParaRPr lang="zh-CN" altLang="en-US" sz="100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T</a:t>
                      </a:r>
                      <a:endParaRPr lang="en-US" altLang="zh-CN" sz="1000" dirty="0" smtClean="0"/>
                    </a:p>
                  </a:txBody>
                  <a:tcPr/>
                </a:tc>
                <a:tc>
                  <a:txBody>
                    <a:bodyPr/>
                    <a:p>
                      <a:r>
                        <a:rPr lang="en-US" altLang="zh-CN" sz="1000" dirty="0" smtClean="0"/>
                        <a:t>T</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c>
                  <a:txBody>
                    <a:bodyPr/>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smtClean="0"/>
                        <a:t>T</a:t>
                      </a:r>
                      <a:endParaRPr lang="en-US" altLang="zh-CN" sz="1000" dirty="0" smtClean="0"/>
                    </a:p>
                  </a:txBody>
                  <a:tcPr/>
                </a:tc>
                <a:tc>
                  <a:txBody>
                    <a:bodyPr/>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smtClean="0"/>
                        <a:t>T</a:t>
                      </a:r>
                      <a:endParaRPr lang="en-US" altLang="zh-CN" sz="1000" dirty="0" smtClean="0"/>
                    </a:p>
                  </a:txBody>
                  <a:tcPr/>
                </a:tc>
              </a:tr>
              <a:tr h="480060">
                <a:tc>
                  <a:txBody>
                    <a:bodyPr/>
                    <a:p>
                      <a:r>
                        <a:rPr lang="zh-CN" altLang="en-US" sz="1000" dirty="0" smtClean="0"/>
                        <a:t>行李重量</a:t>
                      </a:r>
                      <a:r>
                        <a:rPr lang="en-US" altLang="zh-CN" sz="1000" dirty="0" smtClean="0"/>
                        <a:t>W≤30kg</a:t>
                      </a:r>
                      <a:endParaRPr lang="zh-CN" altLang="en-US" sz="1000" dirty="0" smtClean="0"/>
                    </a:p>
                  </a:txBody>
                  <a:tcPr/>
                </a:tc>
                <a:tc>
                  <a:txBody>
                    <a:bodyPr/>
                    <a:p>
                      <a:r>
                        <a:rPr lang="en-US" altLang="zh-CN" sz="1000" dirty="0" smtClean="0"/>
                        <a:t>T</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c>
                  <a:txBody>
                    <a:bodyPr/>
                    <a:p>
                      <a:r>
                        <a:rPr lang="en-US" altLang="zh-CN" sz="1000" dirty="0" smtClean="0"/>
                        <a:t>F</a:t>
                      </a:r>
                      <a:endParaRPr lang="en-US" altLang="zh-CN" sz="1000" dirty="0" smtClean="0"/>
                    </a:p>
                  </a:txBody>
                  <a:tcPr/>
                </a:tc>
              </a:tr>
              <a:tr h="274955">
                <a:tc>
                  <a:txBody>
                    <a:bodyPr/>
                    <a:p>
                      <a:r>
                        <a:rPr lang="zh-CN" altLang="en-US" sz="1000" dirty="0" smtClean="0"/>
                        <a:t>免费</a:t>
                      </a:r>
                      <a:endParaRPr lang="zh-CN" altLang="en-US" sz="1000" dirty="0" smtClean="0"/>
                    </a:p>
                  </a:txBody>
                  <a:tcPr/>
                </a:tc>
                <a:tc>
                  <a:txBody>
                    <a:bodyPr/>
                    <a:p>
                      <a:r>
                        <a:rPr lang="en-US" altLang="zh-CN" sz="1000" dirty="0" smtClean="0"/>
                        <a:t>X</a:t>
                      </a:r>
                      <a:endParaRPr lang="en-US" altLang="zh-CN" sz="1000" dirty="0" smtClean="0"/>
                    </a:p>
                  </a:txBody>
                  <a:tcPr/>
                </a:tc>
                <a:tc>
                  <a:txBody>
                    <a:bodyPr/>
                    <a:p>
                      <a:endParaRPr lang="zh-CN" altLang="en-US" sz="1000" dirty="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r>
              <a:tr h="274320">
                <a:tc>
                  <a:txBody>
                    <a:bodyPr/>
                    <a:p>
                      <a:r>
                        <a:rPr lang="en-US" altLang="zh-CN" sz="1000" dirty="0" smtClean="0"/>
                        <a:t>(W-30)X2</a:t>
                      </a:r>
                      <a:endParaRPr lang="en-US" altLang="zh-CN" sz="1000" dirty="0" smtClean="0"/>
                    </a:p>
                  </a:txBody>
                  <a:tcPr/>
                </a:tc>
                <a:tc>
                  <a:txBody>
                    <a:bodyPr/>
                    <a:p>
                      <a:endParaRPr lang="zh-CN" altLang="en-US" sz="1000" dirty="0"/>
                    </a:p>
                  </a:txBody>
                  <a:tcPr/>
                </a:tc>
                <a:tc>
                  <a:txBody>
                    <a:bodyPr/>
                    <a:p>
                      <a:endParaRPr lang="zh-CN" altLang="en-US" sz="1000"/>
                    </a:p>
                  </a:txBody>
                  <a:tcPr/>
                </a:tc>
                <a:tc>
                  <a:txBody>
                    <a:bodyPr/>
                    <a:p>
                      <a:endParaRPr lang="zh-CN" altLang="en-US" sz="1000"/>
                    </a:p>
                  </a:txBody>
                  <a:tcPr/>
                </a:tc>
                <a:tc>
                  <a:txBody>
                    <a:bodyPr/>
                    <a:p>
                      <a:r>
                        <a:rPr lang="en-US" altLang="zh-CN" sz="1000" dirty="0" smtClean="0"/>
                        <a:t>X</a:t>
                      </a:r>
                      <a:endParaRPr lang="en-US" altLang="zh-CN" sz="1000" dirty="0" smtClean="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r>
              <a:tr h="274320">
                <a:tc>
                  <a:txBody>
                    <a:bodyPr/>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smtClean="0"/>
                        <a:t>(W-30)X3</a:t>
                      </a:r>
                      <a:endParaRPr lang="en-US" altLang="zh-CN" sz="1000" dirty="0" smtClean="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r>
                        <a:rPr lang="en-US" altLang="zh-CN" sz="1000" dirty="0" smtClean="0"/>
                        <a:t>X</a:t>
                      </a:r>
                      <a:endParaRPr lang="en-US" altLang="zh-CN" sz="1000" dirty="0" smtClean="0"/>
                    </a:p>
                  </a:txBody>
                  <a:tcPr/>
                </a:tc>
                <a:tc>
                  <a:txBody>
                    <a:bodyPr/>
                    <a:p>
                      <a:endParaRPr lang="zh-CN" altLang="en-US" sz="1000"/>
                    </a:p>
                  </a:txBody>
                  <a:tcPr/>
                </a:tc>
                <a:tc>
                  <a:txBody>
                    <a:bodyPr/>
                    <a:p>
                      <a:endParaRPr lang="zh-CN" altLang="en-US" sz="1000"/>
                    </a:p>
                  </a:txBody>
                  <a:tcPr/>
                </a:tc>
                <a:tc>
                  <a:txBody>
                    <a:bodyPr/>
                    <a:p>
                      <a:endParaRPr lang="zh-CN" altLang="en-US" sz="1000" dirty="0"/>
                    </a:p>
                  </a:txBody>
                  <a:tcPr/>
                </a:tc>
                <a:tc>
                  <a:txBody>
                    <a:bodyPr/>
                    <a:p>
                      <a:endParaRPr lang="zh-CN" altLang="en-US" sz="1000"/>
                    </a:p>
                  </a:txBody>
                  <a:tcPr/>
                </a:tc>
              </a:tr>
              <a:tr h="275590">
                <a:tc>
                  <a:txBody>
                    <a:bodyPr/>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smtClean="0"/>
                        <a:t>(W-30)X4</a:t>
                      </a:r>
                      <a:endParaRPr lang="en-US" altLang="zh-CN" sz="1000" dirty="0" smtClean="0"/>
                    </a:p>
                  </a:txBody>
                  <a:tcPr/>
                </a:tc>
                <a:tc>
                  <a:txBody>
                    <a:bodyPr/>
                    <a:p>
                      <a:endParaRPr lang="zh-CN" altLang="en-US" sz="1000"/>
                    </a:p>
                  </a:txBody>
                  <a:tcPr/>
                </a:tc>
                <a:tc>
                  <a:txBody>
                    <a:bodyPr/>
                    <a:p>
                      <a:r>
                        <a:rPr lang="en-US" altLang="zh-CN" sz="1000" dirty="0" smtClean="0"/>
                        <a:t>X</a:t>
                      </a:r>
                      <a:endParaRPr lang="en-US" altLang="zh-CN" sz="1000" dirty="0" smtClean="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r>
                        <a:rPr lang="en-US" altLang="zh-CN" sz="1000" dirty="0" smtClean="0"/>
                        <a:t>X</a:t>
                      </a:r>
                      <a:endParaRPr lang="en-US" altLang="zh-CN" sz="1000" dirty="0" smtClean="0"/>
                    </a:p>
                  </a:txBody>
                  <a:tcPr/>
                </a:tc>
                <a:tc>
                  <a:txBody>
                    <a:bodyPr/>
                    <a:p>
                      <a:endParaRPr lang="zh-CN" altLang="en-US" sz="1000"/>
                    </a:p>
                  </a:txBody>
                  <a:tcPr/>
                </a:tc>
              </a:tr>
              <a:tr h="273685">
                <a:tc>
                  <a:txBody>
                    <a:bodyPr/>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smtClean="0"/>
                        <a:t>(W-30)X6</a:t>
                      </a:r>
                      <a:endParaRPr lang="en-US" altLang="zh-CN" sz="1000" dirty="0" smtClean="0"/>
                    </a:p>
                  </a:txBody>
                  <a:tcPr/>
                </a:tc>
                <a:tc>
                  <a:txBody>
                    <a:bodyPr/>
                    <a:p>
                      <a:endParaRPr lang="zh-CN" altLang="en-US" sz="1000"/>
                    </a:p>
                  </a:txBody>
                  <a:tcPr/>
                </a:tc>
                <a:tc>
                  <a:txBody>
                    <a:bodyPr/>
                    <a:p>
                      <a:endParaRPr lang="zh-CN" altLang="en-US" sz="1000"/>
                    </a:p>
                  </a:txBody>
                  <a:tcPr/>
                </a:tc>
                <a:tc>
                  <a:txBody>
                    <a:bodyPr/>
                    <a:p>
                      <a:r>
                        <a:rPr lang="en-US" altLang="zh-CN" sz="1000" dirty="0" smtClean="0"/>
                        <a:t>X</a:t>
                      </a:r>
                      <a:endParaRPr lang="en-US" altLang="zh-CN" sz="1000" dirty="0" smtClean="0"/>
                    </a:p>
                  </a:txBody>
                  <a:tcPr/>
                </a:tc>
                <a:tc>
                  <a:txBody>
                    <a:bodyPr/>
                    <a:p>
                      <a:endParaRPr lang="zh-CN" altLang="en-US" sz="1000" dirty="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r>
                        <a:rPr lang="en-US" altLang="zh-CN" sz="1000" dirty="0" smtClean="0"/>
                        <a:t>X</a:t>
                      </a:r>
                      <a:endParaRPr lang="en-US" altLang="zh-CN" sz="1000" dirty="0" smtClean="0"/>
                    </a:p>
                  </a:txBody>
                  <a:tcPr/>
                </a:tc>
              </a:tr>
              <a:tr h="274320">
                <a:tc>
                  <a:txBody>
                    <a:bodyPr/>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smtClean="0"/>
                        <a:t>(W-30)X8</a:t>
                      </a:r>
                      <a:endParaRPr lang="en-US" altLang="zh-CN" sz="1000" dirty="0" smtClean="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r>
                        <a:rPr lang="en-US" altLang="zh-CN" sz="1000" dirty="0" smtClean="0"/>
                        <a:t>X</a:t>
                      </a:r>
                      <a:endParaRPr lang="en-US" altLang="zh-CN" sz="1000" dirty="0" smtClean="0"/>
                    </a:p>
                  </a:txBody>
                  <a:tcPr/>
                </a:tc>
                <a:tc>
                  <a:txBody>
                    <a:bodyPr/>
                    <a:p>
                      <a:endParaRPr lang="zh-CN" altLang="en-US" sz="1000" dirty="0"/>
                    </a:p>
                  </a:txBody>
                  <a:tcPr/>
                </a:tc>
                <a:tc>
                  <a:txBody>
                    <a:bodyPr/>
                    <a:p>
                      <a:endParaRPr lang="zh-CN" altLang="en-US" sz="1000"/>
                    </a:p>
                  </a:txBody>
                  <a:tcPr/>
                </a:tc>
                <a:tc>
                  <a:txBody>
                    <a:bodyPr/>
                    <a:p>
                      <a:endParaRPr lang="zh-CN" altLang="en-US" sz="1000"/>
                    </a:p>
                  </a:txBody>
                  <a:tcPr/>
                </a:tc>
              </a:tr>
              <a:tr h="480695">
                <a:tc>
                  <a:txBody>
                    <a:bodyPr/>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smtClean="0"/>
                        <a:t>(W-30)X12</a:t>
                      </a:r>
                      <a:endParaRPr lang="en-US" altLang="zh-CN" sz="1000" dirty="0" smtClean="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endParaRPr lang="zh-CN" altLang="en-US" sz="1000"/>
                    </a:p>
                  </a:txBody>
                  <a:tcPr/>
                </a:tc>
                <a:tc>
                  <a:txBody>
                    <a:bodyPr/>
                    <a:p>
                      <a:r>
                        <a:rPr lang="en-US" altLang="zh-CN" sz="1000" dirty="0" smtClean="0"/>
                        <a:t>X</a:t>
                      </a:r>
                      <a:endParaRPr lang="en-US" altLang="zh-CN" sz="1000" dirty="0" smtClean="0"/>
                    </a:p>
                  </a:txBody>
                  <a:tcPr/>
                </a:tc>
                <a:tc>
                  <a:txBody>
                    <a:bodyPr/>
                    <a:p>
                      <a:endParaRPr lang="zh-CN" altLang="en-US" sz="1000" dirty="0"/>
                    </a:p>
                  </a:txBody>
                  <a:tcPr/>
                </a:tc>
                <a:tc>
                  <a:txBody>
                    <a:bodyPr/>
                    <a:p>
                      <a:endParaRPr lang="zh-CN" altLang="en-US" sz="1000" dirty="0"/>
                    </a:p>
                  </a:txBody>
                  <a:tcPr/>
                </a:tc>
              </a:tr>
            </a:tbl>
          </a:graphicData>
        </a:graphic>
      </p:graphicFrame>
      <p:cxnSp>
        <p:nvCxnSpPr>
          <p:cNvPr id="8" name="直接连接符 7"/>
          <p:cNvCxnSpPr/>
          <p:nvPr/>
        </p:nvCxnSpPr>
        <p:spPr>
          <a:xfrm>
            <a:off x="973455" y="2943860"/>
            <a:ext cx="5080" cy="3683635"/>
          </a:xfrm>
          <a:prstGeom prst="line">
            <a:avLst/>
          </a:prstGeom>
          <a:ln w="31750" cap="sq" cmpd="dbl">
            <a:solidFill>
              <a:srgbClr val="FF0000"/>
            </a:solidFill>
            <a:round/>
          </a:ln>
        </p:spPr>
        <p:style>
          <a:lnRef idx="0">
            <a:srgbClr val="FFFFFF"/>
          </a:lnRef>
          <a:fillRef idx="0">
            <a:srgbClr val="FFFFFF"/>
          </a:fillRef>
          <a:effectRef idx="0">
            <a:srgbClr val="FFFFFF"/>
          </a:effectRef>
          <a:fontRef idx="minor">
            <a:schemeClr val="tx1"/>
          </a:fontRef>
        </p:style>
      </p:cxnSp>
      <p:cxnSp>
        <p:nvCxnSpPr>
          <p:cNvPr id="12" name="直接连接符 11"/>
          <p:cNvCxnSpPr/>
          <p:nvPr/>
        </p:nvCxnSpPr>
        <p:spPr>
          <a:xfrm flipV="1">
            <a:off x="111125" y="4500245"/>
            <a:ext cx="5718810" cy="7620"/>
          </a:xfrm>
          <a:prstGeom prst="line">
            <a:avLst/>
          </a:prstGeom>
          <a:ln w="31750" cap="sq" cmpd="dbl">
            <a:solidFill>
              <a:srgbClr val="FF0000"/>
            </a:solidFill>
            <a:round/>
          </a:ln>
        </p:spPr>
        <p:style>
          <a:lnRef idx="0">
            <a:srgbClr val="FFFFFF"/>
          </a:lnRef>
          <a:fillRef idx="0">
            <a:srgbClr val="FFFFFF"/>
          </a:fillRef>
          <a:effectRef idx="0">
            <a:srgbClr val="FFFFFF"/>
          </a:effectRef>
          <a:fontRef idx="minor">
            <a:schemeClr val="tx1"/>
          </a:fontRef>
        </p:style>
      </p:cxnSp>
      <p:cxnSp>
        <p:nvCxnSpPr>
          <p:cNvPr id="13" name="直接连接符 12"/>
          <p:cNvCxnSpPr/>
          <p:nvPr/>
        </p:nvCxnSpPr>
        <p:spPr>
          <a:xfrm>
            <a:off x="5928995" y="3399790"/>
            <a:ext cx="6248400" cy="9525"/>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14" name="文本框 13"/>
          <p:cNvSpPr txBox="1"/>
          <p:nvPr/>
        </p:nvSpPr>
        <p:spPr>
          <a:xfrm>
            <a:off x="6087745" y="3421380"/>
            <a:ext cx="5384800" cy="759460"/>
          </a:xfrm>
          <a:prstGeom prst="rect">
            <a:avLst/>
          </a:prstGeom>
          <a:noFill/>
        </p:spPr>
        <p:txBody>
          <a:bodyPr wrap="square" rtlCol="0" anchor="t" anchorCtr="0">
            <a:noAutofit/>
          </a:bodyPr>
          <a:p>
            <a:pPr marL="228600" indent="-228600" algn="l" eaLnBrk="1" hangingPunct="1">
              <a:lnSpc>
                <a:spcPct val="160000"/>
              </a:lnSpc>
              <a:spcBef>
                <a:spcPts val="0"/>
              </a:spcBef>
              <a:spcAft>
                <a:spcPts val="1000"/>
              </a:spcAft>
              <a:buClrTx/>
              <a:buSzTx/>
              <a:buFont typeface="+mj-ea"/>
              <a:buAutoNum type="circleNumDbPlain" startAt="4"/>
            </a:pPr>
            <a:r>
              <a:rPr lang="zh-CN" altLang="en-US" sz="1200" b="1" dirty="0">
                <a:uFillTx/>
                <a:latin typeface="+mj-ea"/>
                <a:ea typeface="+mj-ea"/>
                <a:cs typeface="+mj-ea"/>
                <a:sym typeface="+mn-ea"/>
              </a:rPr>
              <a:t>过程设计语言：</a:t>
            </a:r>
            <a:r>
              <a:rPr lang="zh-CN" altLang="en-US" sz="1200" b="1" dirty="0">
                <a:solidFill>
                  <a:schemeClr val="tx1"/>
                </a:solidFill>
                <a:latin typeface="Bodoni MT Black" panose="02070A03080606020203" pitchFamily="18" charset="0"/>
                <a:sym typeface="+mn-ea"/>
              </a:rPr>
              <a:t>过程设计语言（</a:t>
            </a:r>
            <a:r>
              <a:rPr lang="en-US" altLang="zh-CN" sz="1200" b="1" dirty="0">
                <a:solidFill>
                  <a:schemeClr val="tx1"/>
                </a:solidFill>
                <a:latin typeface="Bodoni MT Black" panose="02070A03080606020203" pitchFamily="18" charset="0"/>
                <a:sym typeface="+mn-ea"/>
              </a:rPr>
              <a:t>PDL</a:t>
            </a:r>
            <a:r>
              <a:rPr lang="zh-CN" altLang="en-US" sz="1200" b="1" dirty="0">
                <a:solidFill>
                  <a:schemeClr val="tx1"/>
                </a:solidFill>
                <a:latin typeface="Bodoni MT Black" panose="02070A03080606020203" pitchFamily="18" charset="0"/>
                <a:sym typeface="+mn-ea"/>
              </a:rPr>
              <a:t>）也称为伪码</a:t>
            </a:r>
            <a:r>
              <a:rPr lang="zh-CN" altLang="en-US" sz="1200" dirty="0">
                <a:latin typeface="Bodoni MT Black" panose="02070A03080606020203" pitchFamily="18" charset="0"/>
                <a:sym typeface="+mn-ea"/>
              </a:rPr>
              <a:t>。是用</a:t>
            </a:r>
            <a:r>
              <a:rPr lang="zh-CN" altLang="en-US" sz="1200" b="1" dirty="0">
                <a:solidFill>
                  <a:srgbClr val="FF0000"/>
                </a:solidFill>
                <a:latin typeface="Bodoni MT Black" panose="02070A03080606020203" pitchFamily="18" charset="0"/>
                <a:sym typeface="+mn-ea"/>
              </a:rPr>
              <a:t>正文形式</a:t>
            </a:r>
            <a:r>
              <a:rPr lang="zh-CN" altLang="en-US" sz="1200" dirty="0">
                <a:latin typeface="Bodoni MT Black" panose="02070A03080606020203" pitchFamily="18" charset="0"/>
                <a:sym typeface="+mn-ea"/>
              </a:rPr>
              <a:t>表示数据和处理过程的设计工具</a:t>
            </a:r>
            <a:r>
              <a:rPr lang="zh-CN" altLang="en-US" sz="1200" dirty="0" smtClean="0">
                <a:latin typeface="Bodoni MT Black" panose="02070A03080606020203" pitchFamily="18" charset="0"/>
                <a:sym typeface="+mn-ea"/>
              </a:rPr>
              <a:t>。</a:t>
            </a:r>
            <a:endParaRPr lang="zh-CN" altLang="en-US" sz="1200" dirty="0">
              <a:uFillTx/>
              <a:latin typeface="+mj-ea"/>
              <a:ea typeface="+mj-ea"/>
              <a:cs typeface="+mj-ea"/>
              <a:sym typeface="+mn-ea"/>
            </a:endParaRPr>
          </a:p>
        </p:txBody>
      </p:sp>
      <p:pic>
        <p:nvPicPr>
          <p:cNvPr id="15" name="图片 14"/>
          <p:cNvPicPr>
            <a:picLocks noChangeAspect="1"/>
          </p:cNvPicPr>
          <p:nvPr/>
        </p:nvPicPr>
        <p:blipFill>
          <a:blip r:embed="rId3"/>
          <a:stretch>
            <a:fillRect/>
          </a:stretch>
        </p:blipFill>
        <p:spPr>
          <a:xfrm>
            <a:off x="6219825" y="4368800"/>
            <a:ext cx="1668780" cy="2191385"/>
          </a:xfrm>
          <a:prstGeom prst="rect">
            <a:avLst/>
          </a:prstGeom>
        </p:spPr>
      </p:pic>
      <p:pic>
        <p:nvPicPr>
          <p:cNvPr id="16" name="图片 15"/>
          <p:cNvPicPr>
            <a:picLocks noChangeAspect="1"/>
          </p:cNvPicPr>
          <p:nvPr/>
        </p:nvPicPr>
        <p:blipFill>
          <a:blip r:embed="rId4"/>
          <a:stretch>
            <a:fillRect/>
          </a:stretch>
        </p:blipFill>
        <p:spPr>
          <a:xfrm>
            <a:off x="6006465" y="4205605"/>
            <a:ext cx="3068955" cy="2345055"/>
          </a:xfrm>
          <a:prstGeom prst="rect">
            <a:avLst/>
          </a:prstGeom>
        </p:spPr>
      </p:pic>
      <p:sp>
        <p:nvSpPr>
          <p:cNvPr id="17" name="文本框 16"/>
          <p:cNvSpPr txBox="1"/>
          <p:nvPr/>
        </p:nvSpPr>
        <p:spPr>
          <a:xfrm>
            <a:off x="6638925" y="6560185"/>
            <a:ext cx="5201285" cy="245110"/>
          </a:xfrm>
          <a:prstGeom prst="rect">
            <a:avLst/>
          </a:prstGeom>
          <a:noFill/>
        </p:spPr>
        <p:txBody>
          <a:bodyPr wrap="square" rtlCol="0" anchor="t">
            <a:spAutoFit/>
          </a:bodyPr>
          <a:p>
            <a:r>
              <a:rPr lang="zh-CN" altLang="en-US" sz="1000"/>
              <a:t>https://baike.baidu.com/item/%E4%BC%AA%E4%BB%A3%E7%A0%81/10321865</a:t>
            </a:r>
            <a:endParaRPr lang="zh-CN" altLang="en-US" sz="1000"/>
          </a:p>
        </p:txBody>
      </p:sp>
      <p:sp>
        <p:nvSpPr>
          <p:cNvPr id="18" name="文本框 17"/>
          <p:cNvSpPr txBox="1"/>
          <p:nvPr/>
        </p:nvSpPr>
        <p:spPr>
          <a:xfrm>
            <a:off x="9158605" y="4230370"/>
            <a:ext cx="2923540" cy="2153285"/>
          </a:xfrm>
          <a:prstGeom prst="rect">
            <a:avLst/>
          </a:prstGeom>
          <a:solidFill>
            <a:srgbClr val="98F5F2"/>
          </a:solidFill>
        </p:spPr>
        <p:txBody>
          <a:bodyPr wrap="square" rtlCol="0">
            <a:spAutoFit/>
          </a:bodyPr>
          <a:p>
            <a:pPr marL="0" indent="0" eaLnBrk="1" hangingPunct="1">
              <a:lnSpc>
                <a:spcPct val="150000"/>
              </a:lnSpc>
              <a:defRPr/>
            </a:pPr>
            <a:r>
              <a:rPr lang="en-US" altLang="zh-CN" sz="1000" dirty="0" smtClean="0">
                <a:latin typeface="Bodoni MT Black" panose="02070A03080606020203" pitchFamily="18" charset="0"/>
                <a:sym typeface="+mn-ea"/>
              </a:rPr>
              <a:t>PDL</a:t>
            </a:r>
            <a:r>
              <a:rPr lang="zh-CN" altLang="en-US" sz="1000" dirty="0" smtClean="0">
                <a:latin typeface="Bodoni MT Black" panose="02070A03080606020203" pitchFamily="18" charset="0"/>
                <a:sym typeface="+mn-ea"/>
              </a:rPr>
              <a:t>有下述优点：</a:t>
            </a:r>
            <a:endParaRPr lang="en-US" altLang="zh-CN" sz="1000" dirty="0" smtClean="0">
              <a:latin typeface="Bodoni MT Black" panose="02070A03080606020203" pitchFamily="18" charset="0"/>
            </a:endParaRPr>
          </a:p>
          <a:p>
            <a:pPr marL="171450" indent="-171450" eaLnBrk="1" hangingPunct="1">
              <a:lnSpc>
                <a:spcPct val="170000"/>
              </a:lnSpc>
              <a:buFont typeface="Arial" panose="020B0604020202020204" pitchFamily="34" charset="0"/>
              <a:buChar char="•"/>
              <a:defRPr/>
            </a:pPr>
            <a:r>
              <a:rPr lang="zh-CN" altLang="en-US" sz="1000" dirty="0" smtClean="0">
                <a:latin typeface="Bodoni MT Black" panose="02070A03080606020203" pitchFamily="18" charset="0"/>
                <a:sym typeface="+mn-ea"/>
              </a:rPr>
              <a:t>可以作为注释直接插在源程序中间。</a:t>
            </a:r>
            <a:endParaRPr lang="en-US" altLang="zh-CN" sz="1000" dirty="0" smtClean="0">
              <a:latin typeface="Bodoni MT Black" panose="02070A03080606020203" pitchFamily="18" charset="0"/>
            </a:endParaRPr>
          </a:p>
          <a:p>
            <a:pPr marL="171450" indent="-171450" eaLnBrk="1" hangingPunct="1">
              <a:lnSpc>
                <a:spcPct val="170000"/>
              </a:lnSpc>
              <a:buFont typeface="Arial" panose="020B0604020202020204" pitchFamily="34" charset="0"/>
              <a:buChar char="•"/>
              <a:defRPr/>
            </a:pPr>
            <a:r>
              <a:rPr lang="zh-CN" altLang="en-US" sz="1000" dirty="0" smtClean="0">
                <a:latin typeface="Bodoni MT Black" panose="02070A03080606020203" pitchFamily="18" charset="0"/>
                <a:sym typeface="+mn-ea"/>
              </a:rPr>
              <a:t>可以</a:t>
            </a:r>
            <a:r>
              <a:rPr lang="zh-CN" altLang="en-US" sz="1000" dirty="0">
                <a:latin typeface="Bodoni MT Black" panose="02070A03080606020203" pitchFamily="18" charset="0"/>
                <a:sym typeface="+mn-ea"/>
              </a:rPr>
              <a:t>使用普通的正文编辑程序或文字处理系统，很方便地完成</a:t>
            </a:r>
            <a:r>
              <a:rPr lang="en-US" altLang="zh-CN" sz="1000" dirty="0">
                <a:latin typeface="Bodoni MT Black" panose="02070A03080606020203" pitchFamily="18" charset="0"/>
                <a:sym typeface="+mn-ea"/>
              </a:rPr>
              <a:t>PDL</a:t>
            </a:r>
            <a:r>
              <a:rPr lang="zh-CN" altLang="en-US" sz="1000" dirty="0">
                <a:latin typeface="Bodoni MT Black" panose="02070A03080606020203" pitchFamily="18" charset="0"/>
                <a:sym typeface="+mn-ea"/>
              </a:rPr>
              <a:t>的书写和编辑工作。</a:t>
            </a:r>
            <a:endParaRPr lang="zh-CN" altLang="en-US" sz="1000" dirty="0">
              <a:latin typeface="Bodoni MT Black" panose="02070A03080606020203" pitchFamily="18" charset="0"/>
            </a:endParaRPr>
          </a:p>
          <a:p>
            <a:pPr marL="171450" indent="-171450" eaLnBrk="1" hangingPunct="1">
              <a:lnSpc>
                <a:spcPct val="170000"/>
              </a:lnSpc>
              <a:buFont typeface="Arial" panose="020B0604020202020204" pitchFamily="34" charset="0"/>
              <a:buChar char="•"/>
              <a:defRPr/>
            </a:pPr>
            <a:r>
              <a:rPr lang="zh-CN" altLang="en-US" sz="1000" dirty="0" smtClean="0">
                <a:latin typeface="Bodoni MT Black" panose="02070A03080606020203" pitchFamily="18" charset="0"/>
                <a:sym typeface="+mn-ea"/>
              </a:rPr>
              <a:t>已经</a:t>
            </a:r>
            <a:r>
              <a:rPr lang="zh-CN" altLang="en-US" sz="1000" dirty="0">
                <a:latin typeface="Bodoni MT Black" panose="02070A03080606020203" pitchFamily="18" charset="0"/>
                <a:sym typeface="+mn-ea"/>
              </a:rPr>
              <a:t>有</a:t>
            </a:r>
            <a:r>
              <a:rPr lang="zh-CN" altLang="en-US" sz="1000" dirty="0">
                <a:solidFill>
                  <a:srgbClr val="FF0000"/>
                </a:solidFill>
                <a:latin typeface="Bodoni MT Black" panose="02070A03080606020203" pitchFamily="18" charset="0"/>
                <a:sym typeface="+mn-ea"/>
              </a:rPr>
              <a:t>自动处理</a:t>
            </a:r>
            <a:r>
              <a:rPr lang="en-US" altLang="zh-CN" sz="1000" dirty="0">
                <a:solidFill>
                  <a:srgbClr val="FF0000"/>
                </a:solidFill>
                <a:latin typeface="Bodoni MT Black" panose="02070A03080606020203" pitchFamily="18" charset="0"/>
                <a:sym typeface="+mn-ea"/>
              </a:rPr>
              <a:t>PDL</a:t>
            </a:r>
            <a:r>
              <a:rPr lang="zh-CN" altLang="en-US" sz="1000" dirty="0">
                <a:solidFill>
                  <a:srgbClr val="FF0000"/>
                </a:solidFill>
                <a:latin typeface="Bodoni MT Black" panose="02070A03080606020203" pitchFamily="18" charset="0"/>
                <a:sym typeface="+mn-ea"/>
              </a:rPr>
              <a:t>的程序</a:t>
            </a:r>
            <a:r>
              <a:rPr lang="zh-CN" altLang="en-US" sz="1000" dirty="0">
                <a:latin typeface="Bodoni MT Black" panose="02070A03080606020203" pitchFamily="18" charset="0"/>
                <a:sym typeface="+mn-ea"/>
              </a:rPr>
              <a:t>存在，而且可以自动由</a:t>
            </a:r>
            <a:r>
              <a:rPr lang="en-US" altLang="zh-CN" sz="1000" dirty="0">
                <a:latin typeface="Bodoni MT Black" panose="02070A03080606020203" pitchFamily="18" charset="0"/>
                <a:sym typeface="+mn-ea"/>
              </a:rPr>
              <a:t>PDL</a:t>
            </a:r>
            <a:r>
              <a:rPr lang="zh-CN" altLang="en-US" sz="1000" dirty="0">
                <a:latin typeface="Bodoni MT Black" panose="02070A03080606020203" pitchFamily="18" charset="0"/>
                <a:sym typeface="+mn-ea"/>
              </a:rPr>
              <a:t>生成程序代码</a:t>
            </a:r>
            <a:r>
              <a:rPr lang="zh-CN" altLang="en-US" sz="1000" dirty="0" smtClean="0">
                <a:latin typeface="Bodoni MT Black" panose="02070A03080606020203" pitchFamily="18" charset="0"/>
                <a:sym typeface="+mn-ea"/>
              </a:rPr>
              <a:t>。</a:t>
            </a:r>
            <a:r>
              <a:rPr lang="en-US" altLang="zh-CN" sz="1000" dirty="0" smtClean="0">
                <a:latin typeface="Bodoni MT Black" panose="02070A03080606020203" pitchFamily="18" charset="0"/>
                <a:sym typeface="+mn-ea"/>
              </a:rPr>
              <a:t>PDL</a:t>
            </a:r>
            <a:r>
              <a:rPr lang="zh-CN" altLang="en-US" sz="1000" dirty="0">
                <a:latin typeface="Bodoni MT Black" panose="02070A03080606020203" pitchFamily="18" charset="0"/>
                <a:sym typeface="+mn-ea"/>
              </a:rPr>
              <a:t>的缺点是不如图形工具形象直观，描述复杂的条件组合与动作间的对应关系时，不如判定表清晰简单</a:t>
            </a:r>
            <a:endParaRPr lang="zh-CN" altLang="en-US" sz="1000"/>
          </a:p>
        </p:txBody>
      </p:sp>
      <p:sp>
        <p:nvSpPr>
          <p:cNvPr id="3" name="文本框 2"/>
          <p:cNvSpPr txBox="1"/>
          <p:nvPr>
            <p:custDataLst>
              <p:tags r:id="rId5"/>
            </p:custDataLst>
          </p:nvPr>
        </p:nvSpPr>
        <p:spPr>
          <a:xfrm>
            <a:off x="0" y="0"/>
            <a:ext cx="5922645" cy="349885"/>
          </a:xfrm>
          <a:prstGeom prst="rect">
            <a:avLst/>
          </a:prstGeom>
          <a:solidFill>
            <a:schemeClr val="accent1"/>
          </a:solidFill>
        </p:spPr>
        <p:txBody>
          <a:bodyPr wrap="square" rtlCol="0">
            <a:noAutofit/>
          </a:bodyPr>
          <a:p>
            <a:r>
              <a:rPr lang="zh-CN" altLang="en-US" sz="1400" b="1">
                <a:solidFill>
                  <a:schemeClr val="bg1"/>
                </a:solidFill>
              </a:rPr>
              <a:t>判定表</a:t>
            </a:r>
            <a:endParaRPr lang="zh-CN" altLang="en-US" sz="1400" b="1">
              <a:solidFill>
                <a:schemeClr val="bg1"/>
              </a:solidFill>
            </a:endParaRPr>
          </a:p>
        </p:txBody>
      </p:sp>
      <p:sp>
        <p:nvSpPr>
          <p:cNvPr id="6" name="文本框 5"/>
          <p:cNvSpPr txBox="1"/>
          <p:nvPr>
            <p:custDataLst>
              <p:tags r:id="rId6"/>
            </p:custDataLst>
          </p:nvPr>
        </p:nvSpPr>
        <p:spPr>
          <a:xfrm>
            <a:off x="5951855" y="0"/>
            <a:ext cx="6248400" cy="349885"/>
          </a:xfrm>
          <a:prstGeom prst="rect">
            <a:avLst/>
          </a:prstGeom>
          <a:solidFill>
            <a:schemeClr val="accent1"/>
          </a:solidFill>
        </p:spPr>
        <p:txBody>
          <a:bodyPr wrap="square" rtlCol="0">
            <a:noAutofit/>
          </a:bodyPr>
          <a:p>
            <a:r>
              <a:rPr lang="zh-CN" sz="1400" b="1">
                <a:solidFill>
                  <a:schemeClr val="bg1"/>
                </a:solidFill>
              </a:rPr>
              <a:t>判定树</a:t>
            </a:r>
            <a:endParaRPr lang="zh-CN" sz="1400" b="1">
              <a:solidFill>
                <a:schemeClr val="bg1"/>
              </a:solidFill>
            </a:endParaRPr>
          </a:p>
        </p:txBody>
      </p:sp>
    </p:spTree>
    <p:custDataLst>
      <p:tags r:id="rId7"/>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21200" y="525300"/>
            <a:ext cx="9626400" cy="723600"/>
          </a:xfrm>
        </p:spPr>
        <p:txBody>
          <a:bodyPr/>
          <a:p>
            <a:r>
              <a:rPr lang="zh-CN" altLang="en-US" sz="1800"/>
              <a:t>判定表用于表示程序的静态逻辑</a:t>
            </a:r>
            <a:br>
              <a:rPr lang="zh-CN" altLang="en-US" sz="1800"/>
            </a:br>
            <a:r>
              <a:rPr lang="zh-CN" altLang="en-US" sz="1800"/>
              <a:t>在判定表中的条件部分给出所有的两分支判断的列表，动作部分给出相应的处理</a:t>
            </a:r>
            <a:br>
              <a:rPr lang="zh-CN" altLang="en-US" sz="1800"/>
            </a:br>
            <a:r>
              <a:rPr lang="zh-CN" altLang="en-US" sz="1800"/>
              <a:t>要求将程序流程图中的多分支判断都改成两分支判断</a:t>
            </a:r>
            <a:endParaRPr lang="zh-CN" altLang="en-US" sz="1800"/>
          </a:p>
        </p:txBody>
      </p:sp>
      <p:pic>
        <p:nvPicPr>
          <p:cNvPr id="4" name="内容占位符 3"/>
          <p:cNvPicPr>
            <a:picLocks noChangeAspect="1"/>
          </p:cNvPicPr>
          <p:nvPr>
            <p:ph sz="quarter" idx="13"/>
            <p:custDataLst>
              <p:tags r:id="rId2"/>
            </p:custDataLst>
          </p:nvPr>
        </p:nvPicPr>
        <p:blipFill>
          <a:blip r:embed="rId3"/>
          <a:stretch>
            <a:fillRect/>
          </a:stretch>
        </p:blipFill>
        <p:spPr>
          <a:xfrm>
            <a:off x="816610" y="1445895"/>
            <a:ext cx="10508615" cy="4859020"/>
          </a:xfrm>
          <a:prstGeom prst="rect">
            <a:avLst/>
          </a:prstGeom>
        </p:spPr>
      </p:pic>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513250" y="334800"/>
            <a:ext cx="9626400" cy="723600"/>
          </a:xfrm>
        </p:spPr>
        <p:txBody>
          <a:bodyPr/>
          <a:p>
            <a:r>
              <a:rPr lang="zh-CN" altLang="en-US" sz="2000"/>
              <a:t>对应流程图的判定表</a:t>
            </a:r>
            <a:endParaRPr lang="zh-CN" altLang="en-US" sz="2000"/>
          </a:p>
        </p:txBody>
      </p:sp>
      <p:pic>
        <p:nvPicPr>
          <p:cNvPr id="4" name="内容占位符 3"/>
          <p:cNvPicPr>
            <a:picLocks noChangeAspect="1"/>
          </p:cNvPicPr>
          <p:nvPr>
            <p:ph sz="quarter" idx="13"/>
            <p:custDataLst>
              <p:tags r:id="rId2"/>
            </p:custDataLst>
          </p:nvPr>
        </p:nvPicPr>
        <p:blipFill>
          <a:blip r:embed="rId3"/>
          <a:stretch>
            <a:fillRect/>
          </a:stretch>
        </p:blipFill>
        <p:spPr>
          <a:xfrm>
            <a:off x="1443990" y="1038225"/>
            <a:ext cx="9304020" cy="5367655"/>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097450" y="373535"/>
            <a:ext cx="9626400" cy="723600"/>
          </a:xfrm>
        </p:spPr>
        <p:txBody>
          <a:bodyPr/>
          <a:p>
            <a:r>
              <a:rPr lang="en-US" altLang="zh-CN"/>
              <a:t>PDL</a:t>
            </a:r>
            <a:r>
              <a:rPr lang="zh-CN" altLang="en-US"/>
              <a:t>实例</a:t>
            </a:r>
            <a:endParaRPr lang="zh-CN" altLang="en-US"/>
          </a:p>
        </p:txBody>
      </p:sp>
      <p:sp>
        <p:nvSpPr>
          <p:cNvPr id="4" name="文本框 3"/>
          <p:cNvSpPr txBox="1"/>
          <p:nvPr/>
        </p:nvSpPr>
        <p:spPr>
          <a:xfrm>
            <a:off x="1097280" y="1353820"/>
            <a:ext cx="9626600" cy="4920615"/>
          </a:xfrm>
          <a:prstGeom prst="rect">
            <a:avLst/>
          </a:prstGeom>
        </p:spPr>
        <p:txBody>
          <a:bodyPr wrap="square">
            <a:noAutofit/>
          </a:bodyPr>
          <a:p>
            <a:r>
              <a:rPr lang="en-US" altLang="zh-CN" sz="2000" b="1">
                <a:solidFill>
                  <a:srgbClr val="003366"/>
                </a:solidFill>
                <a:latin typeface="宋体" panose="02010600030101010101" pitchFamily="2" charset="-122"/>
                <a:ea typeface="宋体" panose="02010600030101010101" pitchFamily="2" charset="-122"/>
              </a:rPr>
              <a:t>① </a:t>
            </a:r>
            <a:r>
              <a:rPr lang="en-US" altLang="zh-CN" sz="2000" b="1">
                <a:solidFill>
                  <a:srgbClr val="003366"/>
                </a:solidFill>
                <a:latin typeface="Arial" panose="020B0604020202020204"/>
                <a:ea typeface="Arial" panose="020B0604020202020204"/>
              </a:rPr>
              <a:t>PDL</a:t>
            </a:r>
            <a:r>
              <a:rPr lang="zh-CN" altLang="en-US" sz="2000" b="1">
                <a:solidFill>
                  <a:srgbClr val="003366"/>
                </a:solidFill>
                <a:latin typeface="宋体" panose="02010600030101010101" pitchFamily="2" charset="-122"/>
                <a:ea typeface="宋体" panose="02010600030101010101" pitchFamily="2" charset="-122"/>
              </a:rPr>
              <a:t>是一种用于描述功能模块的</a:t>
            </a:r>
            <a:r>
              <a:rPr lang="zh-CN" altLang="en-US" sz="2000" b="1">
                <a:solidFill>
                  <a:srgbClr val="FF3300"/>
                </a:solidFill>
                <a:latin typeface="宋体" panose="02010600030101010101" pitchFamily="2" charset="-122"/>
                <a:ea typeface="宋体" panose="02010600030101010101" pitchFamily="2" charset="-122"/>
              </a:rPr>
              <a:t>算法设计</a:t>
            </a:r>
            <a:r>
              <a:rPr lang="zh-CN" altLang="en-US" sz="2000" b="1">
                <a:solidFill>
                  <a:srgbClr val="003366"/>
                </a:solidFill>
                <a:latin typeface="宋体" panose="02010600030101010101" pitchFamily="2" charset="-122"/>
                <a:ea typeface="宋体" panose="02010600030101010101" pitchFamily="2" charset="-122"/>
              </a:rPr>
              <a:t>和</a:t>
            </a:r>
            <a:r>
              <a:rPr lang="zh-CN" altLang="en-US" sz="2000" b="1">
                <a:solidFill>
                  <a:srgbClr val="FF3300"/>
                </a:solidFill>
                <a:latin typeface="宋体" panose="02010600030101010101" pitchFamily="2" charset="-122"/>
                <a:ea typeface="宋体" panose="02010600030101010101" pitchFamily="2" charset="-122"/>
              </a:rPr>
              <a:t>加工细节</a:t>
            </a:r>
            <a:r>
              <a:rPr lang="zh-CN" altLang="en-US" sz="2000" b="1">
                <a:solidFill>
                  <a:srgbClr val="003366"/>
                </a:solidFill>
                <a:latin typeface="宋体" panose="02010600030101010101" pitchFamily="2" charset="-122"/>
                <a:ea typeface="宋体" panose="02010600030101010101" pitchFamily="2" charset="-122"/>
              </a:rPr>
              <a:t>的语言。称 </a:t>
            </a:r>
            <a:endParaRPr lang="zh-CN" altLang="en-US" sz="2000" b="1">
              <a:solidFill>
                <a:srgbClr val="003366"/>
              </a:solidFill>
              <a:latin typeface="宋体" panose="02010600030101010101" pitchFamily="2" charset="-122"/>
              <a:ea typeface="宋体" panose="02010600030101010101" pitchFamily="2" charset="-122"/>
            </a:endParaRPr>
          </a:p>
          <a:p>
            <a:r>
              <a:rPr lang="zh-CN" altLang="en-US" sz="2000" b="1">
                <a:solidFill>
                  <a:srgbClr val="003366"/>
                </a:solidFill>
                <a:latin typeface="宋体" panose="02010600030101010101" pitchFamily="2" charset="-122"/>
                <a:ea typeface="宋体" panose="02010600030101010101" pitchFamily="2" charset="-122"/>
              </a:rPr>
              <a:t>为设计程序用语言。它是一种</a:t>
            </a:r>
            <a:r>
              <a:rPr lang="zh-CN" altLang="en-US" sz="2000" b="1">
                <a:solidFill>
                  <a:srgbClr val="FF0066"/>
                </a:solidFill>
                <a:latin typeface="宋体" panose="02010600030101010101" pitchFamily="2" charset="-122"/>
                <a:ea typeface="宋体" panose="02010600030101010101" pitchFamily="2" charset="-122"/>
              </a:rPr>
              <a:t>伪码</a:t>
            </a:r>
            <a:r>
              <a:rPr lang="zh-CN" altLang="en-US" sz="2000" b="1">
                <a:solidFill>
                  <a:srgbClr val="003366"/>
                </a:solidFill>
                <a:latin typeface="宋体" panose="02010600030101010101" pitchFamily="2" charset="-122"/>
                <a:ea typeface="宋体" panose="02010600030101010101" pitchFamily="2" charset="-122"/>
              </a:rPr>
              <a:t>。 </a:t>
            </a:r>
            <a:endParaRPr lang="zh-CN" altLang="en-US" sz="2000" b="1">
              <a:solidFill>
                <a:srgbClr val="003366"/>
              </a:solidFill>
              <a:latin typeface="宋体" panose="02010600030101010101" pitchFamily="2" charset="-122"/>
              <a:ea typeface="宋体" panose="02010600030101010101" pitchFamily="2" charset="-122"/>
            </a:endParaRPr>
          </a:p>
          <a:p>
            <a:r>
              <a:rPr lang="en-US" altLang="zh-CN" sz="2000" b="1">
                <a:solidFill>
                  <a:srgbClr val="003366"/>
                </a:solidFill>
                <a:latin typeface="宋体" panose="02010600030101010101" pitchFamily="2" charset="-122"/>
                <a:ea typeface="宋体" panose="02010600030101010101" pitchFamily="2" charset="-122"/>
              </a:rPr>
              <a:t>② </a:t>
            </a:r>
            <a:r>
              <a:rPr lang="zh-CN" altLang="en-US" sz="2000" b="1">
                <a:solidFill>
                  <a:srgbClr val="003366"/>
                </a:solidFill>
                <a:latin typeface="宋体" panose="02010600030101010101" pitchFamily="2" charset="-122"/>
                <a:ea typeface="宋体" panose="02010600030101010101" pitchFamily="2" charset="-122"/>
              </a:rPr>
              <a:t>伪码的语法规则分为“外语法”和“内语法” 。 </a:t>
            </a:r>
            <a:endParaRPr lang="zh-CN" altLang="en-US" sz="2000" b="1">
              <a:solidFill>
                <a:srgbClr val="003366"/>
              </a:solidFill>
              <a:latin typeface="宋体" panose="02010600030101010101" pitchFamily="2" charset="-122"/>
              <a:ea typeface="宋体" panose="02010600030101010101" pitchFamily="2" charset="-122"/>
            </a:endParaRPr>
          </a:p>
          <a:p>
            <a:r>
              <a:rPr lang="en-US" altLang="zh-CN" sz="2000" b="1">
                <a:solidFill>
                  <a:srgbClr val="003366"/>
                </a:solidFill>
                <a:latin typeface="宋体" panose="02010600030101010101" pitchFamily="2" charset="-122"/>
                <a:ea typeface="宋体" panose="02010600030101010101" pitchFamily="2" charset="-122"/>
              </a:rPr>
              <a:t>③ </a:t>
            </a:r>
            <a:r>
              <a:rPr lang="en-US" altLang="zh-CN" sz="2000" b="1">
                <a:solidFill>
                  <a:srgbClr val="003366"/>
                </a:solidFill>
                <a:latin typeface="Arial" panose="020B0604020202020204"/>
                <a:ea typeface="Arial" panose="020B0604020202020204"/>
              </a:rPr>
              <a:t>PDL</a:t>
            </a:r>
            <a:r>
              <a:rPr lang="zh-CN" altLang="en-US" sz="2000" b="1">
                <a:solidFill>
                  <a:srgbClr val="003366"/>
                </a:solidFill>
                <a:latin typeface="宋体" panose="02010600030101010101" pitchFamily="2" charset="-122"/>
                <a:ea typeface="宋体" panose="02010600030101010101" pitchFamily="2" charset="-122"/>
              </a:rPr>
              <a:t>具有严格的</a:t>
            </a:r>
            <a:r>
              <a:rPr lang="zh-CN" altLang="en-US" sz="2000" b="1">
                <a:solidFill>
                  <a:srgbClr val="3333FF"/>
                </a:solidFill>
                <a:latin typeface="宋体" panose="02010600030101010101" pitchFamily="2" charset="-122"/>
                <a:ea typeface="宋体" panose="02010600030101010101" pitchFamily="2" charset="-122"/>
              </a:rPr>
              <a:t>关键字外语法</a:t>
            </a:r>
            <a:r>
              <a:rPr lang="zh-CN" altLang="en-US" sz="2000" b="1">
                <a:solidFill>
                  <a:srgbClr val="003366"/>
                </a:solidFill>
                <a:latin typeface="宋体" panose="02010600030101010101" pitchFamily="2" charset="-122"/>
                <a:ea typeface="宋体" panose="02010600030101010101" pitchFamily="2" charset="-122"/>
              </a:rPr>
              <a:t>，用于定义控制结构和数据结构， </a:t>
            </a:r>
            <a:endParaRPr lang="zh-CN" altLang="en-US" sz="2000" b="1">
              <a:solidFill>
                <a:srgbClr val="003366"/>
              </a:solidFill>
              <a:latin typeface="宋体" panose="02010600030101010101" pitchFamily="2" charset="-122"/>
              <a:ea typeface="宋体" panose="02010600030101010101" pitchFamily="2" charset="-122"/>
            </a:endParaRPr>
          </a:p>
          <a:p>
            <a:r>
              <a:rPr lang="zh-CN" altLang="en-US" sz="2000" b="1">
                <a:solidFill>
                  <a:srgbClr val="003366"/>
                </a:solidFill>
                <a:latin typeface="宋体" panose="02010600030101010101" pitchFamily="2" charset="-122"/>
                <a:ea typeface="宋体" panose="02010600030101010101" pitchFamily="2" charset="-122"/>
              </a:rPr>
              <a:t>同时它的</a:t>
            </a:r>
            <a:r>
              <a:rPr lang="zh-CN" altLang="en-US" sz="2000" b="1">
                <a:solidFill>
                  <a:srgbClr val="3333FF"/>
                </a:solidFill>
                <a:latin typeface="宋体" panose="02010600030101010101" pitchFamily="2" charset="-122"/>
                <a:ea typeface="宋体" panose="02010600030101010101" pitchFamily="2" charset="-122"/>
              </a:rPr>
              <a:t>表示实际操作和条件的内语法</a:t>
            </a:r>
            <a:r>
              <a:rPr lang="zh-CN" altLang="en-US" sz="2000" b="1">
                <a:solidFill>
                  <a:srgbClr val="003366"/>
                </a:solidFill>
                <a:latin typeface="宋体" panose="02010600030101010101" pitchFamily="2" charset="-122"/>
                <a:ea typeface="宋体" panose="02010600030101010101" pitchFamily="2" charset="-122"/>
              </a:rPr>
              <a:t>又是灵活自由的，可使用自 </a:t>
            </a:r>
            <a:endParaRPr lang="zh-CN" altLang="en-US" sz="2000" b="1">
              <a:solidFill>
                <a:srgbClr val="003366"/>
              </a:solidFill>
              <a:latin typeface="宋体" panose="02010600030101010101" pitchFamily="2" charset="-122"/>
              <a:ea typeface="宋体" panose="02010600030101010101" pitchFamily="2" charset="-122"/>
            </a:endParaRPr>
          </a:p>
          <a:p>
            <a:r>
              <a:rPr lang="zh-CN" altLang="en-US" sz="2000" b="1">
                <a:solidFill>
                  <a:srgbClr val="003366"/>
                </a:solidFill>
                <a:latin typeface="宋体" panose="02010600030101010101" pitchFamily="2" charset="-122"/>
                <a:ea typeface="宋体" panose="02010600030101010101" pitchFamily="2" charset="-122"/>
              </a:rPr>
              <a:t>然语言的词汇。 </a:t>
            </a:r>
            <a:endParaRPr lang="zh-CN" altLang="en-US" sz="2000" b="1">
              <a:solidFill>
                <a:srgbClr val="003366"/>
              </a:solidFill>
              <a:latin typeface="宋体" panose="02010600030101010101" pitchFamily="2" charset="-122"/>
              <a:ea typeface="宋体" panose="02010600030101010101" pitchFamily="2" charset="-122"/>
            </a:endParaRPr>
          </a:p>
          <a:p>
            <a:r>
              <a:rPr lang="zh-CN" altLang="en-US" sz="2000" b="1">
                <a:solidFill>
                  <a:srgbClr val="FF0066"/>
                </a:solidFill>
                <a:latin typeface="宋体" panose="02010600030101010101" pitchFamily="2" charset="-122"/>
                <a:ea typeface="宋体" panose="02010600030101010101" pitchFamily="2" charset="-122"/>
              </a:rPr>
              <a:t>示例</a:t>
            </a:r>
            <a:r>
              <a:rPr lang="en-US" altLang="zh-CN" sz="2000" b="1">
                <a:solidFill>
                  <a:srgbClr val="FF0066"/>
                </a:solidFill>
                <a:latin typeface="Times New Roman" panose="02020603050405020304"/>
                <a:ea typeface="Times New Roman" panose="02020603050405020304"/>
              </a:rPr>
              <a:t>: </a:t>
            </a:r>
            <a:r>
              <a:rPr lang="zh-CN" altLang="en-US" sz="2000" b="1">
                <a:solidFill>
                  <a:srgbClr val="FF0066"/>
                </a:solidFill>
                <a:latin typeface="宋体" panose="02010600030101010101" pitchFamily="2" charset="-122"/>
                <a:ea typeface="宋体" panose="02010600030101010101" pitchFamily="2" charset="-122"/>
              </a:rPr>
              <a:t>拼词检查程序 </a:t>
            </a:r>
            <a:endParaRPr lang="zh-CN" altLang="en-US" sz="2000" b="1">
              <a:solidFill>
                <a:srgbClr val="FF0066"/>
              </a:solidFill>
              <a:latin typeface="宋体" panose="02010600030101010101" pitchFamily="2" charset="-122"/>
              <a:ea typeface="宋体" panose="02010600030101010101" pitchFamily="2" charset="-122"/>
            </a:endParaRPr>
          </a:p>
          <a:p>
            <a:r>
              <a:rPr lang="en-US" altLang="zh-CN" sz="2000" b="1">
                <a:solidFill>
                  <a:srgbClr val="FF0066"/>
                </a:solidFill>
                <a:latin typeface="Times New Roman" panose="02020603050405020304"/>
                <a:ea typeface="Times New Roman" panose="02020603050405020304"/>
              </a:rPr>
              <a:t>PROCEDURE spellcheck IS </a:t>
            </a:r>
            <a:endParaRPr lang="en-US" altLang="zh-CN" sz="2000" b="1">
              <a:solidFill>
                <a:srgbClr val="FF0066"/>
              </a:solidFill>
              <a:latin typeface="Times New Roman" panose="02020603050405020304"/>
              <a:ea typeface="Times New Roman" panose="02020603050405020304"/>
            </a:endParaRPr>
          </a:p>
          <a:p>
            <a:r>
              <a:rPr lang="en-US" altLang="zh-CN" sz="2000" b="1">
                <a:solidFill>
                  <a:srgbClr val="FF0066"/>
                </a:solidFill>
                <a:latin typeface="Times New Roman" panose="02020603050405020304"/>
                <a:ea typeface="Times New Roman" panose="02020603050405020304"/>
              </a:rPr>
              <a:t>BEGIN </a:t>
            </a:r>
            <a:endParaRPr lang="en-US" altLang="zh-CN" sz="2000" b="1">
              <a:solidFill>
                <a:srgbClr val="FF0066"/>
              </a:solidFill>
              <a:latin typeface="Times New Roman" panose="02020603050405020304"/>
              <a:ea typeface="Times New Roman" panose="02020603050405020304"/>
            </a:endParaRPr>
          </a:p>
          <a:p>
            <a:r>
              <a:rPr lang="en-US" altLang="zh-CN" sz="2000" b="1">
                <a:solidFill>
                  <a:srgbClr val="FF0066"/>
                </a:solidFill>
                <a:latin typeface="Times New Roman" panose="02020603050405020304"/>
                <a:ea typeface="Times New Roman" panose="02020603050405020304"/>
              </a:rPr>
              <a:t>split document into single words </a:t>
            </a:r>
            <a:endParaRPr lang="en-US" altLang="zh-CN" sz="2000" b="1">
              <a:solidFill>
                <a:srgbClr val="FF0066"/>
              </a:solidFill>
              <a:latin typeface="Times New Roman" panose="02020603050405020304"/>
              <a:ea typeface="Times New Roman" panose="02020603050405020304"/>
            </a:endParaRPr>
          </a:p>
          <a:p>
            <a:r>
              <a:rPr lang="en-US" altLang="zh-CN" sz="2000" b="1">
                <a:solidFill>
                  <a:srgbClr val="FF0066"/>
                </a:solidFill>
                <a:latin typeface="Times New Roman" panose="02020603050405020304"/>
                <a:ea typeface="Times New Roman" panose="02020603050405020304"/>
              </a:rPr>
              <a:t>lood up words in dictionary </a:t>
            </a:r>
            <a:endParaRPr lang="en-US" altLang="zh-CN" sz="2000" b="1">
              <a:solidFill>
                <a:srgbClr val="FF0066"/>
              </a:solidFill>
              <a:latin typeface="Times New Roman" panose="02020603050405020304"/>
              <a:ea typeface="Times New Roman" panose="02020603050405020304"/>
            </a:endParaRPr>
          </a:p>
          <a:p>
            <a:r>
              <a:rPr lang="en-US" altLang="zh-CN" sz="2000" b="1">
                <a:solidFill>
                  <a:srgbClr val="FF0066"/>
                </a:solidFill>
                <a:latin typeface="Times New Roman" panose="02020603050405020304"/>
                <a:ea typeface="Times New Roman" panose="02020603050405020304"/>
              </a:rPr>
              <a:t>display words which are not in dictionary </a:t>
            </a:r>
            <a:endParaRPr lang="en-US" altLang="zh-CN" sz="2000" b="1">
              <a:solidFill>
                <a:srgbClr val="FF0066"/>
              </a:solidFill>
              <a:latin typeface="Times New Roman" panose="02020603050405020304"/>
              <a:ea typeface="Times New Roman" panose="02020603050405020304"/>
            </a:endParaRPr>
          </a:p>
          <a:p>
            <a:r>
              <a:rPr lang="en-US" altLang="zh-CN" sz="2000" b="1">
                <a:solidFill>
                  <a:srgbClr val="FF0066"/>
                </a:solidFill>
                <a:latin typeface="Times New Roman" panose="02020603050405020304"/>
                <a:ea typeface="Times New Roman" panose="02020603050405020304"/>
              </a:rPr>
              <a:t>create a new dictionary </a:t>
            </a:r>
            <a:endParaRPr lang="en-US" altLang="zh-CN" sz="2000" b="1">
              <a:solidFill>
                <a:srgbClr val="FF0066"/>
              </a:solidFill>
              <a:latin typeface="Times New Roman" panose="02020603050405020304"/>
              <a:ea typeface="Times New Roman" panose="02020603050405020304"/>
            </a:endParaRPr>
          </a:p>
          <a:p>
            <a:r>
              <a:rPr lang="en-US" altLang="zh-CN" sz="2000" b="1">
                <a:solidFill>
                  <a:srgbClr val="FF0066"/>
                </a:solidFill>
                <a:latin typeface="Times New Roman" panose="02020603050405020304"/>
                <a:ea typeface="Times New Roman" panose="02020603050405020304"/>
              </a:rPr>
              <a:t>END spellcheck</a:t>
            </a:r>
            <a:endParaRPr lang="en-US" altLang="zh-CN" sz="2000" b="1">
              <a:solidFill>
                <a:srgbClr val="FF0066"/>
              </a:solidFill>
              <a:latin typeface="Times New Roman" panose="02020603050405020304"/>
              <a:ea typeface="Times New Roman" panose="02020603050405020304"/>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828540" y="5080"/>
            <a:ext cx="3782060" cy="6858000"/>
          </a:xfrm>
          <a:prstGeom prst="rect">
            <a:avLst/>
          </a:prstGeom>
          <a:solidFill>
            <a:srgbClr val="FFFFEA"/>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标题 3"/>
          <p:cNvSpPr>
            <a:spLocks noGrp="1"/>
          </p:cNvSpPr>
          <p:nvPr>
            <p:ph type="title"/>
            <p:custDataLst>
              <p:tags r:id="rId1"/>
            </p:custDataLst>
          </p:nvPr>
        </p:nvSpPr>
        <p:spPr>
          <a:xfrm>
            <a:off x="531765" y="423055"/>
            <a:ext cx="3960000" cy="882000"/>
          </a:xfrm>
        </p:spPr>
        <p:txBody>
          <a:bodyPr>
            <a:normAutofit/>
          </a:bodyPr>
          <a:lstStyle/>
          <a:p>
            <a:pPr algn="ctr"/>
            <a:r>
              <a:rPr lang="zh-CN" altLang="en-US" sz="2220" spc="150">
                <a:solidFill>
                  <a:schemeClr val="bg1"/>
                </a:solidFill>
                <a:cs typeface="微软雅黑" panose="020B0503020204020204" charset="-122"/>
                <a:sym typeface="+mn-lt"/>
              </a:rPr>
              <a:t>面向数据结构的设计</a:t>
            </a:r>
            <a:r>
              <a:rPr lang="zh-CN" altLang="en-US" sz="2220" spc="150">
                <a:solidFill>
                  <a:schemeClr val="bg1"/>
                </a:solidFill>
                <a:cs typeface="微软雅黑" panose="020B0503020204020204" charset="-122"/>
                <a:sym typeface="+mn-lt"/>
              </a:rPr>
              <a:t>方法</a:t>
            </a:r>
            <a:endParaRPr lang="zh-CN" altLang="en-US" sz="2220" spc="150">
              <a:solidFill>
                <a:schemeClr val="bg1"/>
              </a:solidFill>
              <a:cs typeface="微软雅黑" panose="020B0503020204020204" charset="-122"/>
              <a:sym typeface="+mn-lt"/>
            </a:endParaRPr>
          </a:p>
        </p:txBody>
      </p:sp>
      <p:sp>
        <p:nvSpPr>
          <p:cNvPr id="6" name="文本占位符 1"/>
          <p:cNvSpPr>
            <a:spLocks noGrp="1"/>
          </p:cNvSpPr>
          <p:nvPr>
            <p:custDataLst>
              <p:tags r:id="rId2"/>
            </p:custDataLst>
          </p:nvPr>
        </p:nvSpPr>
        <p:spPr>
          <a:xfrm>
            <a:off x="253365" y="1480820"/>
            <a:ext cx="4454525" cy="195262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80000"/>
              </a:lnSpc>
              <a:spcBef>
                <a:spcPts val="0"/>
              </a:spcBef>
              <a:buNone/>
            </a:pPr>
            <a:r>
              <a:rPr lang="zh-CN" altLang="en-US" sz="1400" b="1" dirty="0">
                <a:solidFill>
                  <a:srgbClr val="FF0000"/>
                </a:solidFill>
                <a:latin typeface="Bodoni MT Black" panose="02070A03080606020203" pitchFamily="18" charset="0"/>
                <a:sym typeface="+mn-ea"/>
              </a:rPr>
              <a:t>面向数据结构的设计方法</a:t>
            </a:r>
            <a:r>
              <a:rPr lang="zh-CN" altLang="en-US" sz="1400" b="1" dirty="0">
                <a:latin typeface="Bodoni MT Black" panose="02070A03080606020203" pitchFamily="18" charset="0"/>
                <a:sym typeface="+mn-ea"/>
              </a:rPr>
              <a:t>的最终目标是得出</a:t>
            </a:r>
            <a:r>
              <a:rPr lang="zh-CN" altLang="en-US" sz="1400" b="1" dirty="0">
                <a:solidFill>
                  <a:srgbClr val="55D5FF"/>
                </a:solidFill>
                <a:latin typeface="Bodoni MT Black" panose="02070A03080606020203" pitchFamily="18" charset="0"/>
                <a:sym typeface="+mn-ea"/>
              </a:rPr>
              <a:t>对程序处理过程的描述</a:t>
            </a:r>
            <a:r>
              <a:rPr lang="zh-CN" altLang="en-US" sz="1400" b="1" dirty="0">
                <a:latin typeface="Bodoni MT Black" panose="02070A03080606020203" pitchFamily="18" charset="0"/>
                <a:sym typeface="+mn-ea"/>
              </a:rPr>
              <a:t>，因此最适用于详细设计阶段。也就是说，在完成了软件结构设计之后，可以使用面向数据结构的方法来设计</a:t>
            </a:r>
            <a:r>
              <a:rPr lang="zh-CN" altLang="en-US" sz="1400" b="1" dirty="0">
                <a:solidFill>
                  <a:srgbClr val="FFFF00"/>
                </a:solidFill>
                <a:latin typeface="Bodoni MT Black" panose="02070A03080606020203" pitchFamily="18" charset="0"/>
                <a:sym typeface="+mn-ea"/>
              </a:rPr>
              <a:t>每个模块</a:t>
            </a:r>
            <a:r>
              <a:rPr lang="zh-CN" altLang="en-US" sz="1400" b="1" dirty="0">
                <a:latin typeface="Bodoni MT Black" panose="02070A03080606020203" pitchFamily="18" charset="0"/>
                <a:sym typeface="+mn-ea"/>
              </a:rPr>
              <a:t>的处理过程。</a:t>
            </a:r>
            <a:endParaRPr lang="zh-CN" altLang="en-US" sz="1400" b="1" dirty="0">
              <a:solidFill>
                <a:srgbClr val="00B0F0"/>
              </a:solidFill>
              <a:latin typeface="Bodoni MT Black" panose="02070A03080606020203" pitchFamily="18" charset="0"/>
              <a:sym typeface="+mn-ea"/>
            </a:endParaRPr>
          </a:p>
        </p:txBody>
      </p:sp>
      <p:sp>
        <p:nvSpPr>
          <p:cNvPr id="4" name="文本框 3"/>
          <p:cNvSpPr txBox="1"/>
          <p:nvPr/>
        </p:nvSpPr>
        <p:spPr>
          <a:xfrm>
            <a:off x="5318125" y="422910"/>
            <a:ext cx="2957830" cy="549910"/>
          </a:xfrm>
          <a:prstGeom prst="rect">
            <a:avLst/>
          </a:prstGeom>
          <a:noFill/>
        </p:spPr>
        <p:txBody>
          <a:bodyPr wrap="square" rtlCol="0" anchor="t">
            <a:noAutofit/>
          </a:bodyPr>
          <a:p>
            <a:pPr marL="0" indent="0" algn="ctr" eaLnBrk="1" hangingPunct="1">
              <a:lnSpc>
                <a:spcPct val="165000"/>
              </a:lnSpc>
              <a:defRPr/>
            </a:pPr>
            <a:r>
              <a:rPr lang="en-US" altLang="zh-CN" sz="1400" b="1" dirty="0">
                <a:solidFill>
                  <a:schemeClr val="tx1"/>
                </a:solidFill>
                <a:latin typeface="微软雅黑" panose="020B0503020204020204" charset="-122"/>
                <a:cs typeface="微软雅黑" panose="020B0503020204020204" charset="-122"/>
                <a:sym typeface="+mn-ea"/>
              </a:rPr>
              <a:t>Jackson </a:t>
            </a:r>
            <a:r>
              <a:rPr lang="zh-CN" altLang="en-US" sz="1400" b="1" dirty="0">
                <a:solidFill>
                  <a:schemeClr val="tx1"/>
                </a:solidFill>
                <a:latin typeface="微软雅黑" panose="020B0503020204020204" charset="-122"/>
                <a:cs typeface="微软雅黑" panose="020B0503020204020204" charset="-122"/>
                <a:sym typeface="+mn-ea"/>
              </a:rPr>
              <a:t>图</a:t>
            </a:r>
            <a:endParaRPr lang="en-US" altLang="zh-CN" sz="1400" dirty="0" smtClean="0">
              <a:solidFill>
                <a:schemeClr val="tx1"/>
              </a:solidFill>
              <a:latin typeface="Bodoni MT Black" panose="02070A03080606020203" pitchFamily="18" charset="0"/>
            </a:endParaRPr>
          </a:p>
          <a:p>
            <a:pPr lvl="0" algn="l">
              <a:lnSpc>
                <a:spcPct val="200000"/>
              </a:lnSpc>
              <a:spcBef>
                <a:spcPts val="0"/>
              </a:spcBef>
              <a:buClrTx/>
              <a:buSzTx/>
              <a:buFontTx/>
            </a:pPr>
            <a:endParaRPr lang="en-US" altLang="zh-CN" sz="1400" b="1" dirty="0" smtClean="0">
              <a:solidFill>
                <a:schemeClr val="tx1"/>
              </a:solidFill>
              <a:latin typeface="Bodoni MT Black" panose="02070A03080606020203" pitchFamily="18" charset="0"/>
              <a:cs typeface="微软雅黑" panose="020B0503020204020204" charset="-122"/>
              <a:sym typeface="+mn-ea"/>
            </a:endParaRPr>
          </a:p>
        </p:txBody>
      </p:sp>
      <p:sp>
        <p:nvSpPr>
          <p:cNvPr id="8" name="棱台 7"/>
          <p:cNvSpPr/>
          <p:nvPr/>
        </p:nvSpPr>
        <p:spPr>
          <a:xfrm>
            <a:off x="999490" y="3547745"/>
            <a:ext cx="2790190" cy="1199515"/>
          </a:xfrm>
          <a:prstGeom prst="bevel">
            <a:avLst/>
          </a:prstGeom>
          <a:gradFill>
            <a:gsLst>
              <a:gs pos="0">
                <a:schemeClr val="accent1">
                  <a:lumMod val="90000"/>
                  <a:lumOff val="10000"/>
                </a:schemeClr>
              </a:gs>
              <a:gs pos="16000">
                <a:schemeClr val="accent1">
                  <a:lumMod val="95000"/>
                  <a:lumOff val="5000"/>
                </a:schemeClr>
              </a:gs>
              <a:gs pos="100000">
                <a:schemeClr val="accent1">
                  <a:lumMod val="95000"/>
                  <a:lumOff val="5000"/>
                </a:schemeClr>
              </a:gs>
              <a:gs pos="0">
                <a:schemeClr val="accent1">
                  <a:lumMod val="90000"/>
                  <a:lumOff val="10000"/>
                </a:schemeClr>
              </a:gs>
              <a:gs pos="59000">
                <a:srgbClr val="5FE08A">
                  <a:lumMod val="86000"/>
                  <a:lumOff val="14000"/>
                </a:srgbClr>
              </a:gs>
              <a:gs pos="100000">
                <a:schemeClr val="accent1">
                  <a:lumMod val="95000"/>
                  <a:lumOff val="5000"/>
                </a:schemeClr>
              </a:gs>
              <a:gs pos="0">
                <a:schemeClr val="accent1">
                  <a:lumMod val="90000"/>
                  <a:lumOff val="10000"/>
                </a:schemeClr>
              </a:gs>
              <a:gs pos="29000">
                <a:schemeClr val="accent1">
                  <a:lumMod val="95000"/>
                  <a:lumOff val="5000"/>
                </a:schemeClr>
              </a:gs>
              <a:gs pos="100000">
                <a:schemeClr val="accent1">
                  <a:lumMod val="95000"/>
                  <a:lumOff val="5000"/>
                </a:schemeClr>
              </a:gs>
            </a:gsLst>
            <a:lin ang="5400000" scaled="0"/>
          </a:gradFill>
          <a:ln w="19050">
            <a:solidFill>
              <a:srgbClr val="48A088"/>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t>Jackson</a:t>
            </a:r>
            <a:r>
              <a:rPr lang="zh-CN" altLang="en-US" sz="2400" b="1"/>
              <a:t>方法</a:t>
            </a:r>
            <a:endParaRPr lang="zh-CN" altLang="en-US" sz="2400" b="1"/>
          </a:p>
        </p:txBody>
      </p:sp>
      <p:sp>
        <p:nvSpPr>
          <p:cNvPr id="10" name="棱台 9"/>
          <p:cNvSpPr/>
          <p:nvPr/>
        </p:nvSpPr>
        <p:spPr>
          <a:xfrm>
            <a:off x="999490" y="5066665"/>
            <a:ext cx="2790190" cy="1199515"/>
          </a:xfrm>
          <a:prstGeom prst="bevel">
            <a:avLst/>
          </a:prstGeom>
          <a:gradFill>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 pos="0">
                <a:schemeClr val="accent1">
                  <a:lumMod val="90000"/>
                  <a:lumOff val="10000"/>
                </a:schemeClr>
              </a:gs>
              <a:gs pos="72000">
                <a:schemeClr val="accent1">
                  <a:lumMod val="95000"/>
                  <a:lumOff val="5000"/>
                </a:schemeClr>
              </a:gs>
              <a:gs pos="100000">
                <a:schemeClr val="accent1">
                  <a:lumMod val="95000"/>
                  <a:lumOff val="5000"/>
                </a:schemeClr>
              </a:gs>
              <a:gs pos="0">
                <a:schemeClr val="accent1">
                  <a:lumMod val="90000"/>
                  <a:lumOff val="10000"/>
                </a:schemeClr>
              </a:gs>
              <a:gs pos="29000">
                <a:schemeClr val="accent1">
                  <a:lumMod val="95000"/>
                  <a:lumOff val="5000"/>
                </a:schemeClr>
              </a:gs>
              <a:gs pos="100000">
                <a:schemeClr val="accent1">
                  <a:lumMod val="95000"/>
                  <a:lumOff val="5000"/>
                </a:schemeClr>
              </a:gs>
            </a:gsLst>
            <a:lin ang="5400000" scaled="0"/>
          </a:gradFill>
        </p:spPr>
        <p:style>
          <a:lnRef idx="2">
            <a:schemeClr val="accent1"/>
          </a:lnRef>
          <a:fillRef idx="2">
            <a:schemeClr val="accent1"/>
          </a:fillRef>
          <a:effectRef idx="0">
            <a:srgbClr val="FFFFFF"/>
          </a:effectRef>
          <a:fontRef idx="minor">
            <a:schemeClr val="lt1"/>
          </a:fontRef>
        </p:style>
        <p:txBody>
          <a:bodyPr rtlCol="0" anchor="ctr"/>
          <a:p>
            <a:pPr algn="ctr"/>
            <a:r>
              <a:rPr lang="en-US" altLang="zh-CN" sz="2400" b="1">
                <a:solidFill>
                  <a:schemeClr val="bg2"/>
                </a:solidFill>
              </a:rPr>
              <a:t>Warnier</a:t>
            </a:r>
            <a:r>
              <a:rPr lang="zh-CN" altLang="en-US" sz="2400" b="1">
                <a:solidFill>
                  <a:schemeClr val="bg2"/>
                </a:solidFill>
              </a:rPr>
              <a:t>方法</a:t>
            </a:r>
            <a:endParaRPr lang="zh-CN" altLang="en-US" sz="2400" b="1">
              <a:solidFill>
                <a:schemeClr val="bg2"/>
              </a:solidFill>
            </a:endParaRPr>
          </a:p>
        </p:txBody>
      </p:sp>
      <p:pic>
        <p:nvPicPr>
          <p:cNvPr id="75781" name="图片 1"/>
          <p:cNvPicPr>
            <a:picLocks noChangeAspect="1"/>
          </p:cNvPicPr>
          <p:nvPr/>
        </p:nvPicPr>
        <p:blipFill>
          <a:blip r:embed="rId3" cstate="print"/>
          <a:srcRect/>
          <a:stretch>
            <a:fillRect/>
          </a:stretch>
        </p:blipFill>
        <p:spPr bwMode="auto">
          <a:xfrm>
            <a:off x="4954905" y="1250950"/>
            <a:ext cx="1714500" cy="947420"/>
          </a:xfrm>
          <a:prstGeom prst="rect">
            <a:avLst/>
          </a:prstGeom>
          <a:noFill/>
          <a:ln w="9525">
            <a:noFill/>
            <a:miter lim="800000"/>
            <a:headEnd/>
            <a:tailEnd/>
          </a:ln>
        </p:spPr>
      </p:pic>
      <p:sp>
        <p:nvSpPr>
          <p:cNvPr id="75784" name="TextBox 7"/>
          <p:cNvSpPr txBox="1">
            <a:spLocks noChangeArrowheads="1"/>
          </p:cNvSpPr>
          <p:nvPr/>
        </p:nvSpPr>
        <p:spPr bwMode="auto">
          <a:xfrm>
            <a:off x="6761480" y="1125855"/>
            <a:ext cx="1807210" cy="1318260"/>
          </a:xfrm>
          <a:prstGeom prst="rect">
            <a:avLst/>
          </a:prstGeom>
          <a:noFill/>
          <a:ln w="9525">
            <a:noFill/>
            <a:miter lim="800000"/>
          </a:ln>
        </p:spPr>
        <p:txBody>
          <a:bodyPr>
            <a:noAutofit/>
          </a:bodyPr>
          <a:p>
            <a:pPr eaLnBrk="1" hangingPunct="1">
              <a:lnSpc>
                <a:spcPct val="160000"/>
              </a:lnSpc>
            </a:pPr>
            <a:r>
              <a:rPr lang="zh-CN" sz="1200" dirty="0">
                <a:latin typeface="+mj-ea"/>
                <a:ea typeface="+mj-ea"/>
                <a:cs typeface="+mj-ea"/>
              </a:rPr>
              <a:t>数据由一个或多个数据元素组成，每个元素按确定次序出现一次。</a:t>
            </a:r>
            <a:endParaRPr lang="zh-CN" sz="1200" dirty="0">
              <a:latin typeface="+mj-ea"/>
              <a:ea typeface="+mj-ea"/>
              <a:cs typeface="+mj-ea"/>
            </a:endParaRPr>
          </a:p>
        </p:txBody>
      </p:sp>
      <p:pic>
        <p:nvPicPr>
          <p:cNvPr id="75782" name="图片 2"/>
          <p:cNvPicPr>
            <a:picLocks noChangeAspect="1"/>
          </p:cNvPicPr>
          <p:nvPr/>
        </p:nvPicPr>
        <p:blipFill>
          <a:blip r:embed="rId4" cstate="print"/>
          <a:srcRect/>
          <a:stretch>
            <a:fillRect/>
          </a:stretch>
        </p:blipFill>
        <p:spPr bwMode="auto">
          <a:xfrm>
            <a:off x="4960620" y="3083560"/>
            <a:ext cx="1708785" cy="977265"/>
          </a:xfrm>
          <a:prstGeom prst="rect">
            <a:avLst/>
          </a:prstGeom>
          <a:noFill/>
          <a:ln w="9525">
            <a:noFill/>
            <a:miter lim="800000"/>
            <a:headEnd/>
            <a:tailEnd/>
          </a:ln>
        </p:spPr>
      </p:pic>
      <p:sp>
        <p:nvSpPr>
          <p:cNvPr id="75785" name="TextBox 7"/>
          <p:cNvSpPr txBox="1">
            <a:spLocks noChangeArrowheads="1"/>
          </p:cNvSpPr>
          <p:nvPr/>
        </p:nvSpPr>
        <p:spPr bwMode="auto">
          <a:xfrm>
            <a:off x="6820535" y="2959735"/>
            <a:ext cx="1720215" cy="1508760"/>
          </a:xfrm>
          <a:prstGeom prst="rect">
            <a:avLst/>
          </a:prstGeom>
          <a:noFill/>
          <a:ln w="9525">
            <a:noFill/>
            <a:miter lim="800000"/>
          </a:ln>
        </p:spPr>
        <p:txBody>
          <a:bodyPr wrap="square">
            <a:noAutofit/>
          </a:bodyPr>
          <a:p>
            <a:pPr eaLnBrk="1" hangingPunct="1">
              <a:lnSpc>
                <a:spcPct val="150000"/>
              </a:lnSpc>
            </a:pPr>
            <a:r>
              <a:rPr lang="zh-CN" altLang="en-US" sz="1200" dirty="0" smtClean="0">
                <a:latin typeface="+mj-ea"/>
                <a:ea typeface="+mj-ea"/>
                <a:cs typeface="+mj-ea"/>
              </a:rPr>
              <a:t>数据包含两个或多个数据元素，每次使用这个数据时按照一定条件从这些元素数据中选择一个。</a:t>
            </a:r>
            <a:endParaRPr lang="en-US" altLang="zh-CN" sz="2000" dirty="0">
              <a:latin typeface="Bodoni MT Black" panose="02070A03080606020203" pitchFamily="18" charset="0"/>
            </a:endParaRPr>
          </a:p>
        </p:txBody>
      </p:sp>
      <p:pic>
        <p:nvPicPr>
          <p:cNvPr id="75783" name="图片 3"/>
          <p:cNvPicPr>
            <a:picLocks noChangeAspect="1"/>
          </p:cNvPicPr>
          <p:nvPr/>
        </p:nvPicPr>
        <p:blipFill>
          <a:blip r:embed="rId5" cstate="print"/>
          <a:srcRect/>
          <a:stretch>
            <a:fillRect/>
          </a:stretch>
        </p:blipFill>
        <p:spPr bwMode="auto">
          <a:xfrm>
            <a:off x="5445125" y="4766310"/>
            <a:ext cx="769620" cy="1271270"/>
          </a:xfrm>
          <a:prstGeom prst="rect">
            <a:avLst/>
          </a:prstGeom>
          <a:noFill/>
          <a:ln w="9525">
            <a:noFill/>
            <a:miter lim="800000"/>
            <a:headEnd/>
            <a:tailEnd/>
          </a:ln>
        </p:spPr>
      </p:pic>
      <p:sp>
        <p:nvSpPr>
          <p:cNvPr id="75786" name="TextBox 7"/>
          <p:cNvSpPr txBox="1">
            <a:spLocks noChangeArrowheads="1"/>
          </p:cNvSpPr>
          <p:nvPr/>
        </p:nvSpPr>
        <p:spPr bwMode="auto">
          <a:xfrm>
            <a:off x="6772910" y="4889500"/>
            <a:ext cx="1779270" cy="1087755"/>
          </a:xfrm>
          <a:prstGeom prst="rect">
            <a:avLst/>
          </a:prstGeom>
          <a:noFill/>
          <a:ln w="9525">
            <a:noFill/>
            <a:miter lim="800000"/>
          </a:ln>
        </p:spPr>
        <p:txBody>
          <a:bodyPr wrap="square">
            <a:spAutoFit/>
          </a:bodyPr>
          <a:p>
            <a:pPr algn="l" eaLnBrk="1" hangingPunct="1">
              <a:lnSpc>
                <a:spcPct val="180000"/>
              </a:lnSpc>
              <a:buClrTx/>
              <a:buSzTx/>
              <a:buFontTx/>
            </a:pPr>
            <a:r>
              <a:rPr lang="zh-CN" altLang="en-US" sz="1200" dirty="0" smtClean="0">
                <a:latin typeface="+mj-ea"/>
                <a:ea typeface="+mj-ea"/>
                <a:cs typeface="+mj-ea"/>
              </a:rPr>
              <a:t>数据根据使用时的条件由一个数据元素出现零次或多次构成。</a:t>
            </a:r>
            <a:endParaRPr lang="zh-CN" altLang="en-US" sz="1200" dirty="0" smtClean="0">
              <a:latin typeface="+mj-ea"/>
              <a:ea typeface="+mj-ea"/>
              <a:cs typeface="+mj-ea"/>
            </a:endParaRPr>
          </a:p>
        </p:txBody>
      </p:sp>
      <p:sp>
        <p:nvSpPr>
          <p:cNvPr id="14" name="矩形 13"/>
          <p:cNvSpPr/>
          <p:nvPr/>
        </p:nvSpPr>
        <p:spPr>
          <a:xfrm>
            <a:off x="8629015" y="0"/>
            <a:ext cx="3578860" cy="6858000"/>
          </a:xfrm>
          <a:prstGeom prst="rect">
            <a:avLst/>
          </a:prstGeom>
          <a:solidFill>
            <a:srgbClr val="98F5F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4"/>
          <p:cNvPicPr>
            <a:picLocks noChangeAspect="1"/>
          </p:cNvPicPr>
          <p:nvPr/>
        </p:nvPicPr>
        <p:blipFill>
          <a:blip r:embed="rId6" cstate="print"/>
          <a:srcRect/>
          <a:stretch>
            <a:fillRect/>
          </a:stretch>
        </p:blipFill>
        <p:spPr bwMode="auto">
          <a:xfrm>
            <a:off x="9050020" y="3429000"/>
            <a:ext cx="2804160" cy="2940685"/>
          </a:xfrm>
          <a:prstGeom prst="rect">
            <a:avLst/>
          </a:prstGeom>
          <a:noFill/>
          <a:ln w="9525">
            <a:noFill/>
            <a:miter lim="800000"/>
            <a:headEnd/>
            <a:tailEnd/>
          </a:ln>
        </p:spPr>
      </p:pic>
      <p:sp>
        <p:nvSpPr>
          <p:cNvPr id="77828" name="TextBox 7"/>
          <p:cNvSpPr txBox="1">
            <a:spLocks noChangeArrowheads="1"/>
          </p:cNvSpPr>
          <p:nvPr/>
        </p:nvSpPr>
        <p:spPr bwMode="auto">
          <a:xfrm>
            <a:off x="8684895" y="1163955"/>
            <a:ext cx="3505835" cy="2383790"/>
          </a:xfrm>
          <a:prstGeom prst="rect">
            <a:avLst/>
          </a:prstGeom>
          <a:noFill/>
          <a:ln w="9525">
            <a:noFill/>
            <a:miter lim="800000"/>
          </a:ln>
        </p:spPr>
        <p:txBody>
          <a:bodyPr>
            <a:noAutofit/>
          </a:bodyPr>
          <a:p>
            <a:pPr marL="342900" indent="-342900" eaLnBrk="1" hangingPunct="1">
              <a:lnSpc>
                <a:spcPct val="150000"/>
              </a:lnSpc>
              <a:buFont typeface="+mj-ea"/>
              <a:buAutoNum type="circleNumDbPlain"/>
            </a:pPr>
            <a:r>
              <a:rPr lang="zh-CN" altLang="en-US" sz="1200" dirty="0">
                <a:latin typeface="+mj-ea"/>
                <a:ea typeface="+mj-ea"/>
                <a:cs typeface="+mj-ea"/>
              </a:rPr>
              <a:t>顺序结构，</a:t>
            </a:r>
            <a:r>
              <a:rPr lang="en-US" altLang="zh-CN" sz="1200" dirty="0">
                <a:latin typeface="+mj-ea"/>
                <a:ea typeface="+mj-ea"/>
                <a:cs typeface="+mj-ea"/>
              </a:rPr>
              <a:t>B</a:t>
            </a:r>
            <a:r>
              <a:rPr lang="zh-CN" altLang="en-US" sz="1200" dirty="0">
                <a:latin typeface="+mj-ea"/>
                <a:ea typeface="+mj-ea"/>
                <a:cs typeface="+mj-ea"/>
              </a:rPr>
              <a:t>、</a:t>
            </a:r>
            <a:r>
              <a:rPr lang="en-US" altLang="zh-CN" sz="1200" dirty="0">
                <a:latin typeface="+mj-ea"/>
                <a:ea typeface="+mj-ea"/>
                <a:cs typeface="+mj-ea"/>
              </a:rPr>
              <a:t>C</a:t>
            </a:r>
            <a:r>
              <a:rPr lang="zh-CN" altLang="en-US" sz="1200" dirty="0">
                <a:latin typeface="+mj-ea"/>
                <a:ea typeface="+mj-ea"/>
                <a:cs typeface="+mj-ea"/>
              </a:rPr>
              <a:t>、</a:t>
            </a:r>
            <a:r>
              <a:rPr lang="en-US" altLang="zh-CN" sz="1200" dirty="0">
                <a:latin typeface="+mj-ea"/>
                <a:ea typeface="+mj-ea"/>
                <a:cs typeface="+mj-ea"/>
              </a:rPr>
              <a:t>D</a:t>
            </a:r>
            <a:r>
              <a:rPr lang="zh-CN" altLang="en-US" sz="1200" dirty="0">
                <a:latin typeface="+mj-ea"/>
                <a:ea typeface="+mj-ea"/>
                <a:cs typeface="+mj-ea"/>
              </a:rPr>
              <a:t>中任一个都不能是选择出现或重复出现的数据</a:t>
            </a:r>
            <a:r>
              <a:rPr lang="zh-CN" altLang="en-US" sz="1200" dirty="0" smtClean="0">
                <a:latin typeface="+mj-ea"/>
                <a:ea typeface="+mj-ea"/>
                <a:cs typeface="+mj-ea"/>
              </a:rPr>
              <a:t>元素（即</a:t>
            </a:r>
            <a:r>
              <a:rPr lang="zh-CN" altLang="en-US" sz="1200" dirty="0">
                <a:latin typeface="+mj-ea"/>
                <a:ea typeface="+mj-ea"/>
                <a:cs typeface="+mj-ea"/>
              </a:rPr>
              <a:t>不能是右上角有小圆圈或星号标记的</a:t>
            </a:r>
            <a:r>
              <a:rPr lang="zh-CN" altLang="en-US" sz="1200" dirty="0" smtClean="0">
                <a:latin typeface="+mj-ea"/>
                <a:ea typeface="+mj-ea"/>
                <a:cs typeface="+mj-ea"/>
              </a:rPr>
              <a:t>元素）；</a:t>
            </a:r>
            <a:endParaRPr lang="en-US" altLang="zh-CN" sz="1200" dirty="0">
              <a:latin typeface="+mj-ea"/>
              <a:ea typeface="+mj-ea"/>
              <a:cs typeface="+mj-ea"/>
            </a:endParaRPr>
          </a:p>
          <a:p>
            <a:pPr marL="342900" indent="-342900" eaLnBrk="1" hangingPunct="1">
              <a:lnSpc>
                <a:spcPct val="150000"/>
              </a:lnSpc>
              <a:buFont typeface="+mj-ea"/>
              <a:buAutoNum type="circleNumDbPlain"/>
            </a:pPr>
            <a:r>
              <a:rPr lang="en-US" altLang="zh-CN" sz="1200" dirty="0">
                <a:latin typeface="+mj-ea"/>
                <a:ea typeface="+mj-ea"/>
                <a:cs typeface="+mj-ea"/>
              </a:rPr>
              <a:t> </a:t>
            </a:r>
            <a:r>
              <a:rPr lang="zh-CN" altLang="en-US" sz="1200" dirty="0">
                <a:latin typeface="+mj-ea"/>
                <a:ea typeface="+mj-ea"/>
                <a:cs typeface="+mj-ea"/>
              </a:rPr>
              <a:t>选择结构，</a:t>
            </a:r>
            <a:r>
              <a:rPr lang="en-US" altLang="zh-CN" sz="1200" dirty="0">
                <a:latin typeface="+mj-ea"/>
                <a:ea typeface="+mj-ea"/>
                <a:cs typeface="+mj-ea"/>
              </a:rPr>
              <a:t>S</a:t>
            </a:r>
            <a:r>
              <a:rPr lang="zh-CN" altLang="en-US" sz="1200" dirty="0">
                <a:latin typeface="+mj-ea"/>
                <a:ea typeface="+mj-ea"/>
                <a:cs typeface="+mj-ea"/>
              </a:rPr>
              <a:t>右面括号中的</a:t>
            </a:r>
            <a:r>
              <a:rPr lang="zh-CN" altLang="en-US" sz="1200" b="1" dirty="0">
                <a:solidFill>
                  <a:srgbClr val="FF0000"/>
                </a:solidFill>
                <a:latin typeface="+mj-ea"/>
                <a:ea typeface="+mj-ea"/>
                <a:cs typeface="+mj-ea"/>
              </a:rPr>
              <a:t>数字</a:t>
            </a:r>
            <a:r>
              <a:rPr lang="en-US" altLang="zh-CN" sz="1200" b="1" dirty="0" err="1">
                <a:solidFill>
                  <a:srgbClr val="FF0000"/>
                </a:solidFill>
                <a:latin typeface="+mj-ea"/>
                <a:ea typeface="+mj-ea"/>
                <a:cs typeface="+mj-ea"/>
              </a:rPr>
              <a:t>i</a:t>
            </a:r>
            <a:r>
              <a:rPr lang="zh-CN" altLang="en-US" sz="1200" dirty="0">
                <a:latin typeface="+mj-ea"/>
                <a:ea typeface="+mj-ea"/>
                <a:cs typeface="+mj-ea"/>
              </a:rPr>
              <a:t>是分支条件的编号；</a:t>
            </a:r>
            <a:endParaRPr lang="en-US" altLang="zh-CN" sz="1200" dirty="0">
              <a:latin typeface="+mj-ea"/>
              <a:ea typeface="+mj-ea"/>
              <a:cs typeface="+mj-ea"/>
            </a:endParaRPr>
          </a:p>
          <a:p>
            <a:pPr marL="342900" indent="-342900" eaLnBrk="1" hangingPunct="1">
              <a:lnSpc>
                <a:spcPct val="150000"/>
              </a:lnSpc>
              <a:buFont typeface="+mj-ea"/>
              <a:buAutoNum type="circleNumDbPlain"/>
            </a:pPr>
            <a:r>
              <a:rPr lang="en-US" altLang="zh-CN" sz="1200" b="1" dirty="0">
                <a:solidFill>
                  <a:srgbClr val="FF0000"/>
                </a:solidFill>
                <a:latin typeface="+mj-ea"/>
                <a:ea typeface="+mj-ea"/>
                <a:cs typeface="+mj-ea"/>
              </a:rPr>
              <a:t> </a:t>
            </a:r>
            <a:r>
              <a:rPr lang="zh-CN" altLang="en-US" sz="1200" b="1" dirty="0">
                <a:solidFill>
                  <a:srgbClr val="FF0000"/>
                </a:solidFill>
                <a:latin typeface="+mj-ea"/>
                <a:ea typeface="+mj-ea"/>
                <a:cs typeface="+mj-ea"/>
              </a:rPr>
              <a:t>可选结构</a:t>
            </a:r>
            <a:r>
              <a:rPr lang="zh-CN" altLang="en-US" sz="1200" dirty="0">
                <a:latin typeface="+mj-ea"/>
                <a:ea typeface="+mj-ea"/>
                <a:cs typeface="+mj-ea"/>
              </a:rPr>
              <a:t>，</a:t>
            </a:r>
            <a:r>
              <a:rPr lang="en-US" altLang="zh-CN" sz="1200" dirty="0">
                <a:latin typeface="+mj-ea"/>
                <a:ea typeface="+mj-ea"/>
                <a:cs typeface="+mj-ea"/>
              </a:rPr>
              <a:t>A</a:t>
            </a:r>
            <a:r>
              <a:rPr lang="zh-CN" altLang="en-US" sz="1200" dirty="0">
                <a:latin typeface="+mj-ea"/>
                <a:ea typeface="+mj-ea"/>
                <a:cs typeface="+mj-ea"/>
              </a:rPr>
              <a:t>或者是元素</a:t>
            </a:r>
            <a:r>
              <a:rPr lang="en-US" altLang="zh-CN" sz="1200" dirty="0">
                <a:latin typeface="+mj-ea"/>
                <a:ea typeface="+mj-ea"/>
                <a:cs typeface="+mj-ea"/>
              </a:rPr>
              <a:t>B</a:t>
            </a:r>
            <a:r>
              <a:rPr lang="zh-CN" altLang="en-US" sz="1200" dirty="0">
                <a:latin typeface="+mj-ea"/>
                <a:ea typeface="+mj-ea"/>
                <a:cs typeface="+mj-ea"/>
              </a:rPr>
              <a:t>或者不出现；</a:t>
            </a:r>
            <a:endParaRPr lang="en-US" altLang="zh-CN" sz="1200" dirty="0">
              <a:latin typeface="+mj-ea"/>
              <a:ea typeface="+mj-ea"/>
              <a:cs typeface="+mj-ea"/>
            </a:endParaRPr>
          </a:p>
          <a:p>
            <a:pPr marL="342900" indent="-342900" eaLnBrk="1" hangingPunct="1">
              <a:lnSpc>
                <a:spcPct val="150000"/>
              </a:lnSpc>
              <a:buFont typeface="+mj-ea"/>
              <a:buAutoNum type="circleNumDbPlain"/>
            </a:pPr>
            <a:r>
              <a:rPr lang="en-US" altLang="zh-CN" sz="1200" dirty="0">
                <a:latin typeface="+mj-ea"/>
                <a:ea typeface="+mj-ea"/>
                <a:cs typeface="+mj-ea"/>
              </a:rPr>
              <a:t> </a:t>
            </a:r>
            <a:r>
              <a:rPr lang="zh-CN" altLang="en-US" sz="1200" dirty="0">
                <a:latin typeface="+mj-ea"/>
                <a:ea typeface="+mj-ea"/>
                <a:cs typeface="+mj-ea"/>
              </a:rPr>
              <a:t>重复结构，</a:t>
            </a:r>
            <a:r>
              <a:rPr lang="zh-CN" altLang="en-US" sz="1200" b="1" dirty="0">
                <a:solidFill>
                  <a:srgbClr val="FF0000"/>
                </a:solidFill>
                <a:latin typeface="+mj-ea"/>
                <a:ea typeface="+mj-ea"/>
                <a:cs typeface="+mj-ea"/>
              </a:rPr>
              <a:t>循环结束条件的编号为</a:t>
            </a:r>
            <a:r>
              <a:rPr lang="en-US" altLang="zh-CN" sz="1200" b="1" dirty="0" err="1">
                <a:solidFill>
                  <a:srgbClr val="FF0000"/>
                </a:solidFill>
                <a:latin typeface="+mj-ea"/>
                <a:ea typeface="+mj-ea"/>
                <a:cs typeface="+mj-ea"/>
              </a:rPr>
              <a:t>i</a:t>
            </a:r>
            <a:r>
              <a:rPr lang="zh-CN" altLang="en-US" sz="1200" dirty="0">
                <a:latin typeface="+mj-ea"/>
                <a:ea typeface="+mj-ea"/>
                <a:cs typeface="+mj-ea"/>
              </a:rPr>
              <a:t>。</a:t>
            </a:r>
            <a:endParaRPr lang="en-US" altLang="zh-CN" sz="1200" dirty="0">
              <a:latin typeface="+mj-ea"/>
              <a:ea typeface="+mj-ea"/>
              <a:cs typeface="+mj-ea"/>
            </a:endParaRPr>
          </a:p>
        </p:txBody>
      </p:sp>
      <p:sp>
        <p:nvSpPr>
          <p:cNvPr id="17" name="文本框 16"/>
          <p:cNvSpPr txBox="1"/>
          <p:nvPr/>
        </p:nvSpPr>
        <p:spPr>
          <a:xfrm>
            <a:off x="8858250" y="422910"/>
            <a:ext cx="2957830" cy="549910"/>
          </a:xfrm>
          <a:prstGeom prst="rect">
            <a:avLst/>
          </a:prstGeom>
          <a:noFill/>
        </p:spPr>
        <p:txBody>
          <a:bodyPr wrap="square" rtlCol="0" anchor="t">
            <a:noAutofit/>
          </a:bodyPr>
          <a:p>
            <a:pPr marL="0" indent="0" algn="ctr" eaLnBrk="1" hangingPunct="1">
              <a:lnSpc>
                <a:spcPct val="165000"/>
              </a:lnSpc>
              <a:defRPr/>
            </a:pPr>
            <a:r>
              <a:rPr lang="en-US" altLang="zh-CN" sz="1400" b="1" dirty="0">
                <a:solidFill>
                  <a:schemeClr val="tx1"/>
                </a:solidFill>
                <a:latin typeface="微软雅黑" panose="020B0503020204020204" charset="-122"/>
                <a:cs typeface="微软雅黑" panose="020B0503020204020204" charset="-122"/>
                <a:sym typeface="+mn-ea"/>
              </a:rPr>
              <a:t>改进的Jackson </a:t>
            </a:r>
            <a:r>
              <a:rPr lang="zh-CN" altLang="en-US" sz="1400" b="1" dirty="0">
                <a:solidFill>
                  <a:schemeClr val="tx1"/>
                </a:solidFill>
                <a:latin typeface="微软雅黑" panose="020B0503020204020204" charset="-122"/>
                <a:cs typeface="微软雅黑" panose="020B0503020204020204" charset="-122"/>
                <a:sym typeface="+mn-ea"/>
              </a:rPr>
              <a:t>图</a:t>
            </a:r>
            <a:endParaRPr lang="en-US" altLang="zh-CN" sz="1400" dirty="0" smtClean="0">
              <a:solidFill>
                <a:schemeClr val="tx1"/>
              </a:solidFill>
              <a:latin typeface="Bodoni MT Black" panose="02070A03080606020203" pitchFamily="18" charset="0"/>
            </a:endParaRPr>
          </a:p>
          <a:p>
            <a:pPr lvl="0" algn="l">
              <a:lnSpc>
                <a:spcPct val="200000"/>
              </a:lnSpc>
              <a:spcBef>
                <a:spcPts val="0"/>
              </a:spcBef>
              <a:buClrTx/>
              <a:buSzTx/>
              <a:buFontTx/>
            </a:pPr>
            <a:endParaRPr lang="en-US" altLang="zh-CN" sz="1400" b="1" dirty="0" smtClean="0">
              <a:solidFill>
                <a:schemeClr val="tx1"/>
              </a:solidFill>
              <a:latin typeface="Bodoni MT Black" panose="02070A03080606020203" pitchFamily="18" charset="0"/>
              <a:cs typeface="微软雅黑" panose="020B0503020204020204" charset="-122"/>
              <a:sym typeface="+mn-ea"/>
            </a:endParaRPr>
          </a:p>
        </p:txBody>
      </p:sp>
      <p:sp>
        <p:nvSpPr>
          <p:cNvPr id="2" name="文本框 1"/>
          <p:cNvSpPr txBox="1"/>
          <p:nvPr>
            <p:custDataLst>
              <p:tags r:id="rId7"/>
            </p:custDataLst>
          </p:nvPr>
        </p:nvSpPr>
        <p:spPr>
          <a:xfrm>
            <a:off x="4827905" y="0"/>
            <a:ext cx="7372350" cy="349885"/>
          </a:xfrm>
          <a:prstGeom prst="rect">
            <a:avLst/>
          </a:prstGeom>
          <a:solidFill>
            <a:schemeClr val="accent1"/>
          </a:solidFill>
        </p:spPr>
        <p:txBody>
          <a:bodyPr wrap="square" rtlCol="0">
            <a:noAutofit/>
          </a:bodyPr>
          <a:p>
            <a:r>
              <a:rPr lang="en-US" altLang="zh-CN" sz="1400" b="1">
                <a:solidFill>
                  <a:schemeClr val="bg1"/>
                </a:solidFill>
              </a:rPr>
              <a:t>Jackson</a:t>
            </a:r>
            <a:r>
              <a:rPr lang="zh-CN" altLang="en-US" sz="1400" b="1">
                <a:solidFill>
                  <a:schemeClr val="bg1"/>
                </a:solidFill>
              </a:rPr>
              <a:t>图</a:t>
            </a:r>
            <a:endParaRPr lang="zh-CN" altLang="en-US" sz="1400" b="1">
              <a:solidFill>
                <a:schemeClr val="bg1"/>
              </a:solidFill>
            </a:endParaRPr>
          </a:p>
        </p:txBody>
      </p:sp>
      <p:sp>
        <p:nvSpPr>
          <p:cNvPr id="11" name="文本框 10"/>
          <p:cNvSpPr txBox="1"/>
          <p:nvPr/>
        </p:nvSpPr>
        <p:spPr>
          <a:xfrm>
            <a:off x="5288280" y="2378710"/>
            <a:ext cx="1114425" cy="275590"/>
          </a:xfrm>
          <a:prstGeom prst="rect">
            <a:avLst/>
          </a:prstGeom>
          <a:noFill/>
        </p:spPr>
        <p:txBody>
          <a:bodyPr wrap="square" rtlCol="0">
            <a:spAutoFit/>
          </a:bodyPr>
          <a:p>
            <a:pPr algn="ctr"/>
            <a:r>
              <a:rPr lang="zh-CN" altLang="en-US" sz="1200" b="1">
                <a:solidFill>
                  <a:srgbClr val="FF0000"/>
                </a:solidFill>
              </a:rPr>
              <a:t>顺序结构</a:t>
            </a:r>
            <a:endParaRPr lang="zh-CN" altLang="en-US" sz="1200" b="1">
              <a:solidFill>
                <a:srgbClr val="FF0000"/>
              </a:solidFill>
            </a:endParaRPr>
          </a:p>
        </p:txBody>
      </p:sp>
      <p:sp>
        <p:nvSpPr>
          <p:cNvPr id="12" name="文本框 11"/>
          <p:cNvSpPr txBox="1"/>
          <p:nvPr/>
        </p:nvSpPr>
        <p:spPr>
          <a:xfrm>
            <a:off x="5288280" y="4192905"/>
            <a:ext cx="1114425" cy="275590"/>
          </a:xfrm>
          <a:prstGeom prst="rect">
            <a:avLst/>
          </a:prstGeom>
          <a:noFill/>
        </p:spPr>
        <p:txBody>
          <a:bodyPr wrap="square" rtlCol="0">
            <a:spAutoFit/>
          </a:bodyPr>
          <a:p>
            <a:pPr algn="ctr"/>
            <a:r>
              <a:rPr lang="zh-CN" altLang="en-US" sz="1200" b="1">
                <a:solidFill>
                  <a:srgbClr val="FF0000"/>
                </a:solidFill>
              </a:rPr>
              <a:t>选择结构</a:t>
            </a:r>
            <a:endParaRPr lang="zh-CN" altLang="en-US" sz="1200" b="1">
              <a:solidFill>
                <a:srgbClr val="FF0000"/>
              </a:solidFill>
            </a:endParaRPr>
          </a:p>
        </p:txBody>
      </p:sp>
      <p:sp>
        <p:nvSpPr>
          <p:cNvPr id="16" name="文本框 15"/>
          <p:cNvSpPr txBox="1"/>
          <p:nvPr/>
        </p:nvSpPr>
        <p:spPr>
          <a:xfrm>
            <a:off x="5299075" y="6160770"/>
            <a:ext cx="1114425" cy="275590"/>
          </a:xfrm>
          <a:prstGeom prst="rect">
            <a:avLst/>
          </a:prstGeom>
          <a:noFill/>
        </p:spPr>
        <p:txBody>
          <a:bodyPr wrap="square" rtlCol="0">
            <a:spAutoFit/>
          </a:bodyPr>
          <a:p>
            <a:pPr algn="ctr"/>
            <a:r>
              <a:rPr lang="zh-CN" altLang="en-US" sz="1200" b="1">
                <a:solidFill>
                  <a:srgbClr val="FF0000"/>
                </a:solidFill>
              </a:rPr>
              <a:t>重复结构</a:t>
            </a:r>
            <a:endParaRPr lang="zh-CN" altLang="en-US" sz="1200" b="1">
              <a:solidFill>
                <a:srgbClr val="FF0000"/>
              </a:solidFill>
            </a:endParaRPr>
          </a:p>
        </p:txBody>
      </p:sp>
    </p:spTree>
    <p:custDataLst>
      <p:tags r:id="rId8"/>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文本框 12"/>
          <p:cNvSpPr txBox="1"/>
          <p:nvPr/>
        </p:nvSpPr>
        <p:spPr>
          <a:xfrm>
            <a:off x="10886440" y="351790"/>
            <a:ext cx="1247775" cy="1054100"/>
          </a:xfrm>
          <a:prstGeom prst="rect">
            <a:avLst/>
          </a:prstGeom>
          <a:solidFill>
            <a:schemeClr val="bg1"/>
          </a:solidFill>
        </p:spPr>
        <p:txBody>
          <a:bodyPr wrap="square" rtlCol="0">
            <a:noAutofit/>
          </a:bodyPr>
          <a:p>
            <a:endParaRPr lang="zh-CN" altLang="en-US"/>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382905" y="459740"/>
            <a:ext cx="5374640" cy="834390"/>
          </a:xfrm>
          <a:prstGeom prst="rect">
            <a:avLst/>
          </a:prstGeom>
          <a:noFill/>
        </p:spPr>
        <p:txBody>
          <a:bodyPr wrap="square" rtlCol="0">
            <a:noAutofit/>
          </a:bodyPr>
          <a:p>
            <a:pPr marL="0" algn="l" eaLnBrk="1" hangingPunct="1">
              <a:lnSpc>
                <a:spcPct val="170000"/>
              </a:lnSpc>
              <a:spcBef>
                <a:spcPts val="0"/>
              </a:spcBef>
              <a:spcAft>
                <a:spcPts val="1000"/>
              </a:spcAft>
              <a:buClrTx/>
              <a:buSzTx/>
              <a:buFont typeface="Arial" panose="020B0604020202020204" pitchFamily="34" charset="0"/>
            </a:pPr>
            <a:r>
              <a:rPr lang="zh-CN" altLang="en-US" sz="1400" b="1" dirty="0">
                <a:solidFill>
                  <a:srgbClr val="FF0000"/>
                </a:solidFill>
                <a:latin typeface="Bodoni MT Black" panose="02070A03080606020203" pitchFamily="18" charset="0"/>
                <a:sym typeface="+mn-ea"/>
              </a:rPr>
              <a:t>Jackson结构程序设计方法</a:t>
            </a:r>
            <a:r>
              <a:rPr lang="zh-CN" altLang="en-US" sz="1400" b="1" dirty="0">
                <a:latin typeface="Bodoni MT Black" panose="02070A03080606020203" pitchFamily="18" charset="0"/>
                <a:sym typeface="+mn-ea"/>
              </a:rPr>
              <a:t>基本上由下述5个步骤组成。下面通过一个例子来进行说明：</a:t>
            </a:r>
            <a:endParaRPr lang="zh-CN" altLang="en-US" sz="1400" b="1" dirty="0">
              <a:latin typeface="Bodoni MT Black" panose="02070A03080606020203" pitchFamily="18" charset="0"/>
            </a:endParaRPr>
          </a:p>
          <a:p>
            <a:endParaRPr lang="zh-CN" altLang="en-US" sz="1400" b="1"/>
          </a:p>
        </p:txBody>
      </p:sp>
      <p:sp>
        <p:nvSpPr>
          <p:cNvPr id="3" name="文本框 2"/>
          <p:cNvSpPr txBox="1"/>
          <p:nvPr/>
        </p:nvSpPr>
        <p:spPr>
          <a:xfrm>
            <a:off x="161290" y="1403985"/>
            <a:ext cx="5675630" cy="1344295"/>
          </a:xfrm>
          <a:prstGeom prst="rect">
            <a:avLst/>
          </a:prstGeom>
          <a:solidFill>
            <a:schemeClr val="accent1"/>
          </a:solidFill>
        </p:spPr>
        <p:txBody>
          <a:bodyPr wrap="square" rtlCol="0">
            <a:noAutofit/>
          </a:bodyPr>
          <a:p>
            <a:pPr>
              <a:lnSpc>
                <a:spcPct val="170000"/>
              </a:lnSpc>
            </a:pPr>
            <a:r>
              <a:rPr lang="zh-CN" altLang="en-US" sz="1200" b="1" dirty="0">
                <a:solidFill>
                  <a:srgbClr val="FFC000"/>
                </a:solidFill>
                <a:latin typeface="Bodoni MT Black" panose="02070A03080606020203" pitchFamily="18" charset="0"/>
                <a:sym typeface="+mn-ea"/>
              </a:rPr>
              <a:t>例：</a:t>
            </a:r>
            <a:r>
              <a:rPr lang="zh-CN" altLang="en-US" sz="1200" b="1" dirty="0">
                <a:solidFill>
                  <a:schemeClr val="bg2"/>
                </a:solidFill>
                <a:latin typeface="Bodoni MT Black" panose="02070A03080606020203" pitchFamily="18" charset="0"/>
                <a:sym typeface="+mn-ea"/>
              </a:rPr>
              <a:t>一个正文文件由若干个</a:t>
            </a:r>
            <a:r>
              <a:rPr lang="zh-CN" altLang="en-US" sz="1200" b="1" dirty="0">
                <a:solidFill>
                  <a:schemeClr val="bg2"/>
                </a:solidFill>
                <a:highlight>
                  <a:srgbClr val="FF0000"/>
                </a:highlight>
                <a:latin typeface="Bodoni MT Black" panose="02070A03080606020203" pitchFamily="18" charset="0"/>
                <a:sym typeface="+mn-ea"/>
              </a:rPr>
              <a:t>记录</a:t>
            </a:r>
            <a:r>
              <a:rPr lang="zh-CN" altLang="en-US" sz="1200" b="1" dirty="0">
                <a:solidFill>
                  <a:schemeClr val="bg2"/>
                </a:solidFill>
                <a:latin typeface="Bodoni MT Black" panose="02070A03080606020203" pitchFamily="18" charset="0"/>
                <a:sym typeface="+mn-ea"/>
              </a:rPr>
              <a:t>组成，每个记录是一个</a:t>
            </a:r>
            <a:r>
              <a:rPr lang="zh-CN" altLang="en-US" sz="1200" b="1" dirty="0">
                <a:solidFill>
                  <a:schemeClr val="bg2"/>
                </a:solidFill>
                <a:highlight>
                  <a:srgbClr val="FF0000"/>
                </a:highlight>
                <a:latin typeface="Bodoni MT Black" panose="02070A03080606020203" pitchFamily="18" charset="0"/>
                <a:sym typeface="+mn-ea"/>
              </a:rPr>
              <a:t>字符串</a:t>
            </a:r>
            <a:r>
              <a:rPr lang="zh-CN" altLang="en-US" sz="1200" b="1" dirty="0">
                <a:solidFill>
                  <a:schemeClr val="bg2"/>
                </a:solidFill>
                <a:latin typeface="Bodoni MT Black" panose="02070A03080606020203" pitchFamily="18" charset="0"/>
                <a:sym typeface="+mn-ea"/>
              </a:rPr>
              <a:t>。要求统计每个记录中</a:t>
            </a:r>
            <a:r>
              <a:rPr lang="zh-CN" altLang="en-US" sz="1200" b="1" dirty="0">
                <a:solidFill>
                  <a:schemeClr val="bg2"/>
                </a:solidFill>
                <a:highlight>
                  <a:srgbClr val="FF0000"/>
                </a:highlight>
                <a:latin typeface="Bodoni MT Black" panose="02070A03080606020203" pitchFamily="18" charset="0"/>
                <a:sym typeface="+mn-ea"/>
              </a:rPr>
              <a:t>空格字符</a:t>
            </a:r>
            <a:r>
              <a:rPr lang="zh-CN" altLang="en-US" sz="1200" b="1" dirty="0">
                <a:solidFill>
                  <a:schemeClr val="bg2"/>
                </a:solidFill>
                <a:latin typeface="Bodoni MT Black" panose="02070A03080606020203" pitchFamily="18" charset="0"/>
                <a:sym typeface="+mn-ea"/>
              </a:rPr>
              <a:t>的个数，以及文件中</a:t>
            </a:r>
            <a:r>
              <a:rPr lang="zh-CN" altLang="en-US" sz="1200" b="1" dirty="0">
                <a:solidFill>
                  <a:schemeClr val="bg2"/>
                </a:solidFill>
                <a:highlight>
                  <a:srgbClr val="FF0000"/>
                </a:highlight>
                <a:latin typeface="Bodoni MT Black" panose="02070A03080606020203" pitchFamily="18" charset="0"/>
                <a:sym typeface="+mn-ea"/>
              </a:rPr>
              <a:t>空格字符的总个数</a:t>
            </a:r>
            <a:r>
              <a:rPr lang="zh-CN" altLang="en-US" sz="1200" b="1" dirty="0">
                <a:solidFill>
                  <a:schemeClr val="bg2"/>
                </a:solidFill>
                <a:latin typeface="Bodoni MT Black" panose="02070A03080606020203" pitchFamily="18" charset="0"/>
                <a:sym typeface="+mn-ea"/>
              </a:rPr>
              <a:t>。要求的输出数据格式是，每复制一行输入字符串之后，另起一行印出这个字符串中的空格数，最后印出文件中空格的总个数。</a:t>
            </a:r>
            <a:endParaRPr lang="zh-CN" altLang="en-US" sz="1200" b="1" dirty="0">
              <a:solidFill>
                <a:schemeClr val="bg2"/>
              </a:solidFill>
              <a:latin typeface="Bodoni MT Black" panose="02070A03080606020203" pitchFamily="18" charset="0"/>
            </a:endParaRPr>
          </a:p>
          <a:p>
            <a:endParaRPr lang="zh-CN" altLang="en-US" sz="1200" b="1" dirty="0">
              <a:solidFill>
                <a:schemeClr val="bg2"/>
              </a:solidFill>
              <a:latin typeface="Bodoni MT Black" panose="02070A03080606020203" pitchFamily="18" charset="0"/>
            </a:endParaRPr>
          </a:p>
        </p:txBody>
      </p:sp>
      <p:sp>
        <p:nvSpPr>
          <p:cNvPr id="4" name="文本框 3"/>
          <p:cNvSpPr txBox="1"/>
          <p:nvPr/>
        </p:nvSpPr>
        <p:spPr>
          <a:xfrm>
            <a:off x="175895" y="2748280"/>
            <a:ext cx="5661025" cy="1040130"/>
          </a:xfrm>
          <a:prstGeom prst="rect">
            <a:avLst/>
          </a:prstGeom>
          <a:noFill/>
        </p:spPr>
        <p:txBody>
          <a:bodyPr wrap="square" rtlCol="0">
            <a:noAutofit/>
          </a:bodyPr>
          <a:p>
            <a:pPr algn="l">
              <a:lnSpc>
                <a:spcPct val="150000"/>
              </a:lnSpc>
              <a:spcBef>
                <a:spcPts val="0"/>
              </a:spcBef>
              <a:spcAft>
                <a:spcPts val="1000"/>
              </a:spcAft>
              <a:buClrTx/>
              <a:buSzTx/>
              <a:buFont typeface="Arial" panose="020B0604020202020204" pitchFamily="34" charset="0"/>
            </a:pPr>
            <a:r>
              <a:rPr lang="zh-CN" altLang="en-US" sz="1200" b="1" dirty="0">
                <a:highlight>
                  <a:srgbClr val="00FFFF"/>
                </a:highlight>
                <a:latin typeface="+mn-ea"/>
                <a:cs typeface="+mn-ea"/>
                <a:sym typeface="+mn-ea"/>
              </a:rPr>
              <a:t>第一步：</a:t>
            </a:r>
            <a:r>
              <a:rPr lang="zh-CN" altLang="en-US" sz="1200" b="1" dirty="0">
                <a:latin typeface="+mn-ea"/>
                <a:cs typeface="+mn-ea"/>
                <a:sym typeface="+mn-ea"/>
              </a:rPr>
              <a:t>分析并确定输入数据和输出数据的逻辑结构，并用Jackson图描绘这些数据结构。</a:t>
            </a:r>
            <a:endParaRPr lang="zh-CN" altLang="en-US" sz="1200" b="1" dirty="0">
              <a:latin typeface="+mn-ea"/>
              <a:cs typeface="+mn-ea"/>
              <a:sym typeface="+mn-ea"/>
            </a:endParaRPr>
          </a:p>
          <a:p>
            <a:pPr algn="l">
              <a:lnSpc>
                <a:spcPct val="150000"/>
              </a:lnSpc>
              <a:spcBef>
                <a:spcPts val="0"/>
              </a:spcBef>
              <a:spcAft>
                <a:spcPts val="1000"/>
              </a:spcAft>
              <a:buClrTx/>
              <a:buSzTx/>
              <a:buFont typeface="Arial" panose="020B0604020202020204" pitchFamily="34" charset="0"/>
            </a:pPr>
            <a:r>
              <a:rPr lang="zh-CN" altLang="en-US" sz="1200" b="1" dirty="0">
                <a:highlight>
                  <a:srgbClr val="00FFFF"/>
                </a:highlight>
                <a:latin typeface="+mn-ea"/>
                <a:cs typeface="+mn-ea"/>
                <a:sym typeface="+mn-ea"/>
              </a:rPr>
              <a:t>第二部：</a:t>
            </a:r>
            <a:r>
              <a:rPr lang="zh-CN" altLang="en-US" sz="1200" b="1" dirty="0">
                <a:latin typeface="+mn-ea"/>
                <a:cs typeface="+mn-ea"/>
                <a:sym typeface="+mn-ea"/>
              </a:rPr>
              <a:t>找出</a:t>
            </a:r>
            <a:r>
              <a:rPr lang="zh-CN" altLang="en-US" sz="1200" b="1" dirty="0">
                <a:solidFill>
                  <a:srgbClr val="FF0000"/>
                </a:solidFill>
                <a:latin typeface="+mn-ea"/>
                <a:cs typeface="+mn-ea"/>
                <a:sym typeface="+mn-ea"/>
              </a:rPr>
              <a:t>输入</a:t>
            </a:r>
            <a:r>
              <a:rPr lang="zh-CN" altLang="en-US" sz="1200" b="1" dirty="0">
                <a:latin typeface="+mn-ea"/>
                <a:cs typeface="+mn-ea"/>
                <a:sym typeface="+mn-ea"/>
              </a:rPr>
              <a:t>数据结构和</a:t>
            </a:r>
            <a:r>
              <a:rPr lang="zh-CN" altLang="en-US" sz="1200" b="1" dirty="0">
                <a:solidFill>
                  <a:srgbClr val="FF0000"/>
                </a:solidFill>
                <a:latin typeface="+mn-ea"/>
                <a:cs typeface="+mn-ea"/>
                <a:sym typeface="+mn-ea"/>
              </a:rPr>
              <a:t>输出</a:t>
            </a:r>
            <a:r>
              <a:rPr lang="zh-CN" altLang="en-US" sz="1200" b="1" dirty="0">
                <a:latin typeface="+mn-ea"/>
                <a:cs typeface="+mn-ea"/>
                <a:sym typeface="+mn-ea"/>
              </a:rPr>
              <a:t>数据结构中有</a:t>
            </a:r>
            <a:r>
              <a:rPr lang="zh-CN" altLang="en-US" sz="1200" b="1" dirty="0">
                <a:solidFill>
                  <a:srgbClr val="FF0000"/>
                </a:solidFill>
                <a:latin typeface="+mn-ea"/>
                <a:cs typeface="+mn-ea"/>
                <a:sym typeface="+mn-ea"/>
              </a:rPr>
              <a:t>对应关系</a:t>
            </a:r>
            <a:r>
              <a:rPr lang="zh-CN" altLang="en-US" sz="1200" b="1" dirty="0">
                <a:latin typeface="+mn-ea"/>
                <a:cs typeface="+mn-ea"/>
                <a:sym typeface="+mn-ea"/>
              </a:rPr>
              <a:t>的数据单元</a:t>
            </a:r>
            <a:r>
              <a:rPr lang="zh-CN" altLang="en-US" sz="1200" b="1" dirty="0" smtClean="0">
                <a:latin typeface="+mn-ea"/>
                <a:cs typeface="+mn-ea"/>
                <a:sym typeface="+mn-ea"/>
              </a:rPr>
              <a:t>。 </a:t>
            </a:r>
            <a:endParaRPr lang="en-US" altLang="zh-CN" sz="1200" b="1" dirty="0" smtClean="0">
              <a:latin typeface="+mn-ea"/>
              <a:cs typeface="+mn-ea"/>
            </a:endParaRPr>
          </a:p>
          <a:p>
            <a:pPr algn="l">
              <a:lnSpc>
                <a:spcPct val="150000"/>
              </a:lnSpc>
              <a:spcBef>
                <a:spcPts val="0"/>
              </a:spcBef>
              <a:spcAft>
                <a:spcPts val="1000"/>
              </a:spcAft>
              <a:buClrTx/>
              <a:buSzTx/>
              <a:buFont typeface="Arial" panose="020B0604020202020204" pitchFamily="34" charset="0"/>
            </a:pPr>
            <a:endParaRPr lang="zh-CN" altLang="en-US" sz="1200" b="1" dirty="0">
              <a:latin typeface="+mn-ea"/>
              <a:cs typeface="+mn-ea"/>
            </a:endParaRPr>
          </a:p>
          <a:p>
            <a:endParaRPr lang="zh-CN" altLang="en-US" sz="1200" b="1">
              <a:latin typeface="+mn-ea"/>
              <a:cs typeface="+mn-ea"/>
            </a:endParaRPr>
          </a:p>
        </p:txBody>
      </p:sp>
      <p:grpSp>
        <p:nvGrpSpPr>
          <p:cNvPr id="7" name="组合 6"/>
          <p:cNvGrpSpPr/>
          <p:nvPr/>
        </p:nvGrpSpPr>
        <p:grpSpPr>
          <a:xfrm>
            <a:off x="421005" y="4009390"/>
            <a:ext cx="4526915" cy="2444115"/>
            <a:chOff x="442" y="6794"/>
            <a:chExt cx="7384" cy="3534"/>
          </a:xfrm>
        </p:grpSpPr>
        <p:sp>
          <p:nvSpPr>
            <p:cNvPr id="5" name="文本框 4"/>
            <p:cNvSpPr txBox="1"/>
            <p:nvPr/>
          </p:nvSpPr>
          <p:spPr>
            <a:xfrm>
              <a:off x="442" y="8684"/>
              <a:ext cx="1470" cy="1645"/>
            </a:xfrm>
            <a:prstGeom prst="rect">
              <a:avLst/>
            </a:prstGeom>
            <a:solidFill>
              <a:schemeClr val="bg1"/>
            </a:solidFill>
          </p:spPr>
          <p:txBody>
            <a:bodyPr wrap="square" rtlCol="0">
              <a:noAutofit/>
            </a:bodyPr>
            <a:p>
              <a:endParaRPr lang="zh-CN" altLang="en-US"/>
            </a:p>
          </p:txBody>
        </p:sp>
        <p:pic>
          <p:nvPicPr>
            <p:cNvPr id="90116" name="图片 1"/>
            <p:cNvPicPr>
              <a:picLocks noChangeAspect="1"/>
            </p:cNvPicPr>
            <p:nvPr/>
          </p:nvPicPr>
          <p:blipFill>
            <a:blip r:embed="rId1" cstate="print"/>
            <a:srcRect/>
            <a:stretch>
              <a:fillRect/>
            </a:stretch>
          </p:blipFill>
          <p:spPr bwMode="auto">
            <a:xfrm>
              <a:off x="1492" y="6794"/>
              <a:ext cx="6334" cy="3535"/>
            </a:xfrm>
            <a:prstGeom prst="rect">
              <a:avLst/>
            </a:prstGeom>
            <a:noFill/>
            <a:ln w="9525">
              <a:noFill/>
              <a:miter lim="800000"/>
              <a:headEnd/>
              <a:tailEnd/>
            </a:ln>
          </p:spPr>
        </p:pic>
      </p:grpSp>
      <p:sp>
        <p:nvSpPr>
          <p:cNvPr id="8" name="文本框 7"/>
          <p:cNvSpPr txBox="1"/>
          <p:nvPr/>
        </p:nvSpPr>
        <p:spPr>
          <a:xfrm>
            <a:off x="6087745" y="383540"/>
            <a:ext cx="5267960" cy="603250"/>
          </a:xfrm>
          <a:prstGeom prst="rect">
            <a:avLst/>
          </a:prstGeom>
          <a:noFill/>
        </p:spPr>
        <p:txBody>
          <a:bodyPr wrap="square" rtlCol="0">
            <a:noAutofit/>
          </a:bodyPr>
          <a:p>
            <a:pPr algn="l">
              <a:lnSpc>
                <a:spcPct val="130000"/>
              </a:lnSpc>
              <a:spcBef>
                <a:spcPts val="0"/>
              </a:spcBef>
              <a:spcAft>
                <a:spcPts val="1000"/>
              </a:spcAft>
              <a:buClrTx/>
              <a:buSzTx/>
              <a:buFont typeface="Arial" panose="020B0604020202020204" pitchFamily="34" charset="0"/>
            </a:pPr>
            <a:r>
              <a:rPr lang="zh-CN" altLang="en-US" sz="1200" b="1" dirty="0">
                <a:highlight>
                  <a:srgbClr val="00FFFF"/>
                </a:highlight>
                <a:latin typeface="+mn-ea"/>
                <a:cs typeface="+mn-ea"/>
                <a:sym typeface="+mn-ea"/>
              </a:rPr>
              <a:t>第三步：</a:t>
            </a:r>
            <a:r>
              <a:rPr lang="zh-CN" altLang="en-US" sz="1200" b="1" dirty="0">
                <a:latin typeface="+mn-ea"/>
                <a:cs typeface="+mn-ea"/>
                <a:sym typeface="+mn-ea"/>
              </a:rPr>
              <a:t>用下述</a:t>
            </a:r>
            <a:r>
              <a:rPr lang="en-US" altLang="zh-CN" sz="1200" b="1" dirty="0">
                <a:solidFill>
                  <a:srgbClr val="FF0000"/>
                </a:solidFill>
                <a:latin typeface="+mn-ea"/>
                <a:cs typeface="+mn-ea"/>
                <a:sym typeface="+mn-ea"/>
              </a:rPr>
              <a:t>3</a:t>
            </a:r>
            <a:r>
              <a:rPr lang="zh-CN" altLang="en-US" sz="1200" b="1" dirty="0">
                <a:latin typeface="+mn-ea"/>
                <a:cs typeface="+mn-ea"/>
                <a:sym typeface="+mn-ea"/>
              </a:rPr>
              <a:t>条规则从</a:t>
            </a:r>
            <a:r>
              <a:rPr lang="zh-CN" altLang="en-US" sz="1200" b="1" dirty="0">
                <a:solidFill>
                  <a:srgbClr val="FF0000"/>
                </a:solidFill>
                <a:latin typeface="+mn-ea"/>
                <a:cs typeface="+mn-ea"/>
                <a:sym typeface="+mn-ea"/>
              </a:rPr>
              <a:t>描绘数据结构的</a:t>
            </a:r>
            <a:r>
              <a:rPr lang="en-US" altLang="zh-CN" sz="1200" b="1" dirty="0">
                <a:solidFill>
                  <a:srgbClr val="FF0000"/>
                </a:solidFill>
                <a:latin typeface="+mn-ea"/>
                <a:cs typeface="+mn-ea"/>
                <a:sym typeface="+mn-ea"/>
              </a:rPr>
              <a:t>Jackson</a:t>
            </a:r>
            <a:r>
              <a:rPr lang="zh-CN" altLang="en-US" sz="1200" b="1" dirty="0">
                <a:solidFill>
                  <a:srgbClr val="FF0000"/>
                </a:solidFill>
                <a:latin typeface="+mn-ea"/>
                <a:cs typeface="+mn-ea"/>
                <a:sym typeface="+mn-ea"/>
              </a:rPr>
              <a:t>图</a:t>
            </a:r>
            <a:r>
              <a:rPr lang="zh-CN" altLang="en-US" sz="1200" b="1" dirty="0">
                <a:latin typeface="+mn-ea"/>
                <a:cs typeface="+mn-ea"/>
                <a:sym typeface="+mn-ea"/>
              </a:rPr>
              <a:t>导出</a:t>
            </a:r>
            <a:r>
              <a:rPr lang="zh-CN" altLang="en-US" sz="1200" b="1" dirty="0">
                <a:solidFill>
                  <a:srgbClr val="FF0000"/>
                </a:solidFill>
                <a:latin typeface="+mn-ea"/>
                <a:cs typeface="+mn-ea"/>
                <a:sym typeface="+mn-ea"/>
              </a:rPr>
              <a:t>描绘程序结构的</a:t>
            </a:r>
            <a:r>
              <a:rPr lang="en-US" altLang="zh-CN" sz="1200" b="1" dirty="0">
                <a:solidFill>
                  <a:srgbClr val="FF0000"/>
                </a:solidFill>
                <a:latin typeface="+mn-ea"/>
                <a:cs typeface="+mn-ea"/>
                <a:sym typeface="+mn-ea"/>
              </a:rPr>
              <a:t>Jackson</a:t>
            </a:r>
            <a:r>
              <a:rPr lang="zh-CN" altLang="en-US" sz="1200" b="1" dirty="0">
                <a:solidFill>
                  <a:srgbClr val="FF0000"/>
                </a:solidFill>
                <a:latin typeface="+mn-ea"/>
                <a:cs typeface="+mn-ea"/>
                <a:sym typeface="+mn-ea"/>
              </a:rPr>
              <a:t>图</a:t>
            </a:r>
            <a:r>
              <a:rPr lang="zh-CN" altLang="en-US" sz="1200" b="1" dirty="0">
                <a:latin typeface="+mn-ea"/>
                <a:cs typeface="+mn-ea"/>
                <a:sym typeface="+mn-ea"/>
              </a:rPr>
              <a:t>。</a:t>
            </a:r>
            <a:endParaRPr lang="zh-CN" altLang="en-US" sz="1200" b="1" dirty="0">
              <a:latin typeface="+mn-ea"/>
              <a:cs typeface="+mn-ea"/>
              <a:sym typeface="+mn-ea"/>
            </a:endParaRPr>
          </a:p>
          <a:p>
            <a:pPr algn="l">
              <a:lnSpc>
                <a:spcPct val="130000"/>
              </a:lnSpc>
              <a:spcBef>
                <a:spcPts val="0"/>
              </a:spcBef>
              <a:spcAft>
                <a:spcPts val="1000"/>
              </a:spcAft>
              <a:buClrTx/>
              <a:buSzTx/>
              <a:buFont typeface="Arial" panose="020B0604020202020204" pitchFamily="34" charset="0"/>
            </a:pPr>
            <a:endParaRPr lang="en-US" altLang="zh-CN" sz="1200" dirty="0" smtClean="0">
              <a:latin typeface="Bodoni MT Black" panose="02070A03080606020203" pitchFamily="18" charset="0"/>
            </a:endParaRPr>
          </a:p>
          <a:p>
            <a:pPr algn="l">
              <a:lnSpc>
                <a:spcPct val="130000"/>
              </a:lnSpc>
              <a:spcBef>
                <a:spcPts val="0"/>
              </a:spcBef>
              <a:spcAft>
                <a:spcPts val="1000"/>
              </a:spcAft>
              <a:buClrTx/>
              <a:buSzTx/>
              <a:buFont typeface="Arial" panose="020B0604020202020204" pitchFamily="34" charset="0"/>
            </a:pPr>
            <a:endParaRPr lang="zh-CN" altLang="en-US" sz="1200" dirty="0">
              <a:latin typeface="Bodoni MT Black" panose="02070A03080606020203" pitchFamily="18" charset="0"/>
            </a:endParaRPr>
          </a:p>
          <a:p>
            <a:endParaRPr lang="zh-CN" altLang="en-US" sz="1200"/>
          </a:p>
        </p:txBody>
      </p:sp>
      <p:pic>
        <p:nvPicPr>
          <p:cNvPr id="92164" name="图片 2"/>
          <p:cNvPicPr>
            <a:picLocks noChangeAspect="1"/>
          </p:cNvPicPr>
          <p:nvPr/>
        </p:nvPicPr>
        <p:blipFill>
          <a:blip r:embed="rId2" cstate="print"/>
          <a:srcRect/>
          <a:stretch>
            <a:fillRect/>
          </a:stretch>
        </p:blipFill>
        <p:spPr bwMode="auto">
          <a:xfrm>
            <a:off x="6982460" y="2722880"/>
            <a:ext cx="3154680" cy="3864610"/>
          </a:xfrm>
          <a:prstGeom prst="rect">
            <a:avLst/>
          </a:prstGeom>
          <a:noFill/>
          <a:ln w="9525">
            <a:noFill/>
            <a:miter lim="800000"/>
            <a:headEnd/>
            <a:tailEnd/>
          </a:ln>
        </p:spPr>
      </p:pic>
      <p:sp>
        <p:nvSpPr>
          <p:cNvPr id="10" name="文本框 9"/>
          <p:cNvSpPr txBox="1"/>
          <p:nvPr/>
        </p:nvSpPr>
        <p:spPr>
          <a:xfrm>
            <a:off x="6009005" y="942340"/>
            <a:ext cx="6136640" cy="1507490"/>
          </a:xfrm>
          <a:prstGeom prst="rect">
            <a:avLst/>
          </a:prstGeom>
          <a:solidFill>
            <a:srgbClr val="98F5F2"/>
          </a:solidFill>
        </p:spPr>
        <p:txBody>
          <a:bodyPr wrap="square" rtlCol="0">
            <a:noAutofit/>
          </a:bodyPr>
          <a:p>
            <a:pPr algn="l" eaLnBrk="1" hangingPunct="1">
              <a:lnSpc>
                <a:spcPct val="170000"/>
              </a:lnSpc>
              <a:spcBef>
                <a:spcPts val="0"/>
              </a:spcBef>
              <a:spcAft>
                <a:spcPts val="1000"/>
              </a:spcAft>
              <a:buClrTx/>
              <a:buSzTx/>
              <a:buFont typeface="Arial" panose="020B0604020202020204" pitchFamily="34" charset="0"/>
            </a:pPr>
            <a:r>
              <a:rPr lang="zh-CN" altLang="en-US" sz="1200" b="1" dirty="0">
                <a:solidFill>
                  <a:schemeClr val="tx1"/>
                </a:solidFill>
                <a:latin typeface="Bodoni MT Black" panose="02070A03080606020203" pitchFamily="18" charset="0"/>
                <a:sym typeface="+mn-ea"/>
              </a:rPr>
              <a:t>① 为每对有</a:t>
            </a:r>
            <a:r>
              <a:rPr lang="zh-CN" altLang="en-US" sz="1200" b="1" dirty="0">
                <a:solidFill>
                  <a:srgbClr val="FF0000"/>
                </a:solidFill>
                <a:latin typeface="Bodoni MT Black" panose="02070A03080606020203" pitchFamily="18" charset="0"/>
                <a:sym typeface="+mn-ea"/>
              </a:rPr>
              <a:t>对应关系的数据单元</a:t>
            </a:r>
            <a:r>
              <a:rPr lang="zh-CN" altLang="en-US" sz="1200" b="1" dirty="0">
                <a:solidFill>
                  <a:schemeClr val="tx1"/>
                </a:solidFill>
                <a:latin typeface="Bodoni MT Black" panose="02070A03080606020203" pitchFamily="18" charset="0"/>
                <a:sym typeface="+mn-ea"/>
              </a:rPr>
              <a:t>，按照它们在数据结构图中的</a:t>
            </a:r>
            <a:r>
              <a:rPr lang="zh-CN" altLang="en-US" sz="1200" b="1" dirty="0">
                <a:solidFill>
                  <a:srgbClr val="0070C0"/>
                </a:solidFill>
                <a:latin typeface="Bodoni MT Black" panose="02070A03080606020203" pitchFamily="18" charset="0"/>
                <a:sym typeface="+mn-ea"/>
              </a:rPr>
              <a:t>层次</a:t>
            </a:r>
            <a:r>
              <a:rPr lang="zh-CN" altLang="en-US" sz="1200" b="1" dirty="0">
                <a:solidFill>
                  <a:schemeClr val="tx1"/>
                </a:solidFill>
                <a:latin typeface="Bodoni MT Black" panose="02070A03080606020203" pitchFamily="18" charset="0"/>
                <a:sym typeface="+mn-ea"/>
              </a:rPr>
              <a:t>在程序结构图的相应层次画一个处理框。</a:t>
            </a:r>
            <a:endParaRPr lang="zh-CN" altLang="en-US" sz="1200" b="1" dirty="0">
              <a:solidFill>
                <a:schemeClr val="tx1"/>
              </a:solidFill>
              <a:latin typeface="Bodoni MT Black" panose="02070A03080606020203" pitchFamily="18" charset="0"/>
            </a:endParaRPr>
          </a:p>
          <a:p>
            <a:pPr algn="l" eaLnBrk="1" hangingPunct="1">
              <a:lnSpc>
                <a:spcPct val="170000"/>
              </a:lnSpc>
              <a:spcBef>
                <a:spcPts val="0"/>
              </a:spcBef>
              <a:spcAft>
                <a:spcPts val="1000"/>
              </a:spcAft>
              <a:buClrTx/>
              <a:buSzTx/>
              <a:buFont typeface="Arial" panose="020B0604020202020204" pitchFamily="34" charset="0"/>
            </a:pPr>
            <a:r>
              <a:rPr lang="zh-CN" altLang="en-US" sz="1200" b="1" dirty="0">
                <a:solidFill>
                  <a:schemeClr val="tx1"/>
                </a:solidFill>
                <a:latin typeface="Bodoni MT Black" panose="02070A03080606020203" pitchFamily="18" charset="0"/>
                <a:sym typeface="+mn-ea"/>
              </a:rPr>
              <a:t>② 根据输入数据结构中剩余的每个数据单元所处的层次，在程序结构图的相应层次分别为它们画上对应的处理框。</a:t>
            </a:r>
            <a:endParaRPr lang="zh-CN" altLang="en-US" sz="1200" b="1" dirty="0">
              <a:solidFill>
                <a:schemeClr val="tx1"/>
              </a:solidFill>
              <a:latin typeface="Bodoni MT Black" panose="02070A03080606020203" pitchFamily="18" charset="0"/>
            </a:endParaRPr>
          </a:p>
        </p:txBody>
      </p:sp>
      <p:sp>
        <p:nvSpPr>
          <p:cNvPr id="9" name="文本框 8"/>
          <p:cNvSpPr txBox="1"/>
          <p:nvPr>
            <p:custDataLst>
              <p:tags r:id="rId3"/>
            </p:custDataLst>
          </p:nvPr>
        </p:nvSpPr>
        <p:spPr>
          <a:xfrm>
            <a:off x="0" y="0"/>
            <a:ext cx="12192000" cy="349885"/>
          </a:xfrm>
          <a:prstGeom prst="rect">
            <a:avLst/>
          </a:prstGeom>
          <a:solidFill>
            <a:schemeClr val="accent1"/>
          </a:solidFill>
        </p:spPr>
        <p:txBody>
          <a:bodyPr wrap="square" rtlCol="0">
            <a:noAutofit/>
          </a:bodyPr>
          <a:p>
            <a:r>
              <a:rPr lang="en-US" altLang="zh-CN" sz="1400" b="1">
                <a:solidFill>
                  <a:schemeClr val="bg1"/>
                </a:solidFill>
              </a:rPr>
              <a:t>Jackson</a:t>
            </a:r>
            <a:r>
              <a:rPr lang="zh-CN" altLang="en-US" sz="1400" b="1">
                <a:solidFill>
                  <a:schemeClr val="bg1"/>
                </a:solidFill>
              </a:rPr>
              <a:t>方法</a:t>
            </a:r>
            <a:endParaRPr lang="zh-CN" altLang="en-US" sz="1400" b="1">
              <a:solidFill>
                <a:schemeClr val="bg1"/>
              </a:solidFill>
            </a:endParaRPr>
          </a:p>
        </p:txBody>
      </p:sp>
      <p:cxnSp>
        <p:nvCxnSpPr>
          <p:cNvPr id="12" name="直接连接符 11"/>
          <p:cNvCxnSpPr/>
          <p:nvPr/>
        </p:nvCxnSpPr>
        <p:spPr>
          <a:xfrm>
            <a:off x="2882265" y="4009390"/>
            <a:ext cx="0" cy="2444750"/>
          </a:xfrm>
          <a:prstGeom prst="line">
            <a:avLst/>
          </a:prstGeom>
          <a:ln w="19050" cap="flat" cmpd="sng" algn="ctr">
            <a:solidFill>
              <a:srgbClr val="FF0000"/>
            </a:solidFill>
            <a:prstDash val="dash"/>
            <a:miter lim="800000"/>
          </a:ln>
        </p:spPr>
        <p:style>
          <a:lnRef idx="0">
            <a:schemeClr val="accent1"/>
          </a:lnRef>
          <a:fillRef idx="0">
            <a:srgbClr val="FFFFFF"/>
          </a:fillRef>
          <a:effectRef idx="0">
            <a:srgbClr val="FFFFFF"/>
          </a:effectRef>
          <a:fontRef idx="minor">
            <a:schemeClr val="tx1"/>
          </a:fontRef>
        </p:style>
      </p:cxn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文本框 12"/>
          <p:cNvSpPr txBox="1"/>
          <p:nvPr/>
        </p:nvSpPr>
        <p:spPr>
          <a:xfrm>
            <a:off x="10886440" y="351790"/>
            <a:ext cx="1247775" cy="1054100"/>
          </a:xfrm>
          <a:prstGeom prst="rect">
            <a:avLst/>
          </a:prstGeom>
          <a:solidFill>
            <a:schemeClr val="bg1"/>
          </a:solidFill>
        </p:spPr>
        <p:txBody>
          <a:bodyPr wrap="square" rtlCol="0">
            <a:noAutofit/>
          </a:bodyPr>
          <a:p>
            <a:endParaRPr lang="zh-CN" altLang="en-US"/>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6" name="文本占位符 1"/>
          <p:cNvSpPr>
            <a:spLocks noGrp="1"/>
          </p:cNvSpPr>
          <p:nvPr>
            <p:custDataLst>
              <p:tags r:id="rId1"/>
            </p:custDataLst>
          </p:nvPr>
        </p:nvSpPr>
        <p:spPr>
          <a:xfrm>
            <a:off x="281940" y="1113155"/>
            <a:ext cx="2142490" cy="5321935"/>
          </a:xfrm>
          <a:prstGeom prst="rect">
            <a:avLst/>
          </a:prstGeom>
          <a:solidFill>
            <a:schemeClr val="accent5">
              <a:lumMod val="20000"/>
              <a:lumOff val="80000"/>
            </a:schemeClr>
          </a:solidFill>
        </p:spPr>
        <p:txBody>
          <a:bodyPr vert="horz" lIns="101600" tIns="0" rIns="82550" bIns="0" rtlCol="0" anchor="t" anchorCtr="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100000"/>
              </a:lnSpc>
              <a:defRPr/>
            </a:pPr>
            <a:endParaRPr lang="zh-CN" altLang="en-US" sz="1000" b="1" dirty="0">
              <a:solidFill>
                <a:schemeClr val="tx1"/>
              </a:solidFill>
              <a:latin typeface="+mj-ea"/>
              <a:ea typeface="+mj-ea"/>
              <a:cs typeface="+mj-ea"/>
              <a:sym typeface="+mn-ea"/>
            </a:endParaRPr>
          </a:p>
          <a:p>
            <a:pPr marL="0" indent="0" eaLnBrk="1" hangingPunct="1">
              <a:lnSpc>
                <a:spcPct val="110000"/>
              </a:lnSpc>
              <a:defRPr/>
            </a:pPr>
            <a:r>
              <a:rPr lang="zh-CN" altLang="en-US" sz="1000" b="1" dirty="0">
                <a:solidFill>
                  <a:srgbClr val="FF0000"/>
                </a:solidFill>
                <a:latin typeface="+mj-ea"/>
                <a:ea typeface="+mj-ea"/>
                <a:cs typeface="+mj-ea"/>
                <a:sym typeface="+mn-ea"/>
              </a:rPr>
              <a:t>统计空格个数需要的全部操作和条件如下</a:t>
            </a:r>
            <a:r>
              <a:rPr lang="zh-CN" altLang="en-US" sz="1000" b="1" dirty="0" smtClean="0">
                <a:solidFill>
                  <a:srgbClr val="FF0000"/>
                </a:solidFill>
                <a:latin typeface="+mj-ea"/>
                <a:ea typeface="+mj-ea"/>
                <a:cs typeface="+mj-ea"/>
                <a:sym typeface="+mn-ea"/>
              </a:rPr>
              <a:t>：</a:t>
            </a:r>
            <a:endParaRPr lang="zh-CN" altLang="en-US" sz="1000" b="1" dirty="0" smtClean="0">
              <a:solidFill>
                <a:srgbClr val="FF0000"/>
              </a:solidFill>
              <a:latin typeface="+mj-ea"/>
              <a:ea typeface="+mj-ea"/>
              <a:cs typeface="+mj-ea"/>
              <a:sym typeface="+mn-ea"/>
            </a:endParaRPr>
          </a:p>
          <a:p>
            <a:pPr marL="0" indent="0" eaLnBrk="1" hangingPunct="1">
              <a:lnSpc>
                <a:spcPct val="100000"/>
              </a:lnSpc>
              <a:defRPr/>
            </a:pPr>
            <a:r>
              <a:rPr lang="zh-CN" altLang="en-US" sz="1000" dirty="0" smtClean="0">
                <a:solidFill>
                  <a:schemeClr val="tx1"/>
                </a:solidFill>
                <a:latin typeface="+mj-ea"/>
                <a:ea typeface="+mj-ea"/>
                <a:cs typeface="+mj-ea"/>
                <a:sym typeface="+mn-ea"/>
              </a:rPr>
              <a:t>（1）停止</a:t>
            </a:r>
            <a:r>
              <a:rPr lang="en-US" altLang="zh-CN" sz="1000" dirty="0" smtClean="0">
                <a:solidFill>
                  <a:schemeClr val="tx1"/>
                </a:solidFill>
                <a:latin typeface="+mj-ea"/>
                <a:ea typeface="+mj-ea"/>
                <a:cs typeface="+mj-ea"/>
                <a:sym typeface="+mn-ea"/>
              </a:rPr>
              <a:t>	</a:t>
            </a:r>
            <a:endParaRPr lang="en-US" altLang="zh-CN" sz="1000" dirty="0" smtClean="0">
              <a:solidFill>
                <a:schemeClr val="tx1"/>
              </a:solidFill>
              <a:latin typeface="+mj-ea"/>
              <a:ea typeface="+mj-ea"/>
              <a:cs typeface="+mj-ea"/>
              <a:sym typeface="+mn-ea"/>
            </a:endParaRPr>
          </a:p>
          <a:p>
            <a:pPr eaLnBrk="1" hangingPunct="1">
              <a:lnSpc>
                <a:spcPct val="100000"/>
              </a:lnSpc>
              <a:buFontTx/>
              <a:defRPr/>
            </a:pPr>
            <a:r>
              <a:rPr lang="en-US" altLang="zh-CN" sz="1000" dirty="0" smtClean="0">
                <a:solidFill>
                  <a:schemeClr val="tx1"/>
                </a:solidFill>
                <a:latin typeface="+mj-ea"/>
                <a:ea typeface="+mj-ea"/>
                <a:cs typeface="+mj-ea"/>
                <a:sym typeface="+mn-ea"/>
              </a:rPr>
              <a:t>(</a:t>
            </a:r>
            <a:r>
              <a:rPr lang="en-US" altLang="zh-CN" sz="1000" dirty="0">
                <a:solidFill>
                  <a:schemeClr val="tx1"/>
                </a:solidFill>
                <a:latin typeface="+mj-ea"/>
                <a:ea typeface="+mj-ea"/>
                <a:cs typeface="+mj-ea"/>
                <a:sym typeface="+mn-ea"/>
              </a:rPr>
              <a:t>2) </a:t>
            </a:r>
            <a:r>
              <a:rPr lang="zh-CN" altLang="en-US" sz="1000" dirty="0">
                <a:solidFill>
                  <a:schemeClr val="tx1"/>
                </a:solidFill>
                <a:latin typeface="+mj-ea"/>
                <a:ea typeface="+mj-ea"/>
                <a:cs typeface="+mj-ea"/>
                <a:sym typeface="+mn-ea"/>
              </a:rPr>
              <a:t>打开</a:t>
            </a:r>
            <a:r>
              <a:rPr lang="zh-CN" altLang="en-US" sz="1000" dirty="0" smtClean="0">
                <a:solidFill>
                  <a:schemeClr val="tx1"/>
                </a:solidFill>
                <a:latin typeface="+mj-ea"/>
                <a:ea typeface="+mj-ea"/>
                <a:cs typeface="+mj-ea"/>
                <a:sym typeface="+mn-ea"/>
              </a:rPr>
              <a:t>文件</a:t>
            </a:r>
            <a:endParaRPr lang="en-US" altLang="zh-CN" sz="1000" dirty="0" smtClean="0">
              <a:solidFill>
                <a:schemeClr val="tx1"/>
              </a:solidFill>
              <a:latin typeface="+mj-ea"/>
              <a:ea typeface="+mj-ea"/>
              <a:cs typeface="+mj-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a:t>
            </a:r>
            <a:r>
              <a:rPr lang="en-US" altLang="zh-CN" sz="1000" dirty="0">
                <a:solidFill>
                  <a:schemeClr val="tx1"/>
                </a:solidFill>
                <a:latin typeface="+mj-ea"/>
                <a:ea typeface="+mj-ea"/>
                <a:cs typeface="+mj-ea"/>
                <a:sym typeface="+mn-ea"/>
              </a:rPr>
              <a:t>3) </a:t>
            </a:r>
            <a:r>
              <a:rPr lang="zh-CN" altLang="en-US" sz="1000" dirty="0">
                <a:solidFill>
                  <a:schemeClr val="tx1"/>
                </a:solidFill>
                <a:latin typeface="+mj-ea"/>
                <a:ea typeface="+mj-ea"/>
                <a:cs typeface="+mj-ea"/>
                <a:sym typeface="+mn-ea"/>
              </a:rPr>
              <a:t>关闭</a:t>
            </a:r>
            <a:r>
              <a:rPr lang="zh-CN" altLang="en-US" sz="1000" dirty="0" smtClean="0">
                <a:solidFill>
                  <a:schemeClr val="tx1"/>
                </a:solidFill>
                <a:latin typeface="+mj-ea"/>
                <a:ea typeface="+mj-ea"/>
                <a:cs typeface="+mj-ea"/>
                <a:sym typeface="+mn-ea"/>
              </a:rPr>
              <a:t>文件</a:t>
            </a:r>
            <a:r>
              <a:rPr lang="en-US" altLang="zh-CN" sz="1000" dirty="0" smtClean="0">
                <a:solidFill>
                  <a:schemeClr val="tx1"/>
                </a:solidFill>
                <a:latin typeface="+mj-ea"/>
                <a:ea typeface="+mj-ea"/>
                <a:cs typeface="+mj-ea"/>
                <a:sym typeface="+mn-ea"/>
              </a:rPr>
              <a:t>		</a:t>
            </a:r>
            <a:endParaRPr lang="en-US" altLang="zh-CN" sz="1000" dirty="0" smtClean="0">
              <a:solidFill>
                <a:schemeClr val="tx1"/>
              </a:solidFill>
              <a:latin typeface="+mj-ea"/>
              <a:ea typeface="+mj-ea"/>
              <a:cs typeface="+mj-ea"/>
              <a:sym typeface="+mn-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a:t>
            </a:r>
            <a:r>
              <a:rPr lang="en-US" altLang="zh-CN" sz="1000" dirty="0">
                <a:solidFill>
                  <a:schemeClr val="tx1"/>
                </a:solidFill>
                <a:latin typeface="+mj-ea"/>
                <a:ea typeface="+mj-ea"/>
                <a:cs typeface="+mj-ea"/>
                <a:sym typeface="+mn-ea"/>
              </a:rPr>
              <a:t>4) </a:t>
            </a:r>
            <a:r>
              <a:rPr lang="zh-CN" altLang="en-US" sz="1000" dirty="0">
                <a:solidFill>
                  <a:schemeClr val="tx1"/>
                </a:solidFill>
                <a:latin typeface="+mj-ea"/>
                <a:ea typeface="+mj-ea"/>
                <a:cs typeface="+mj-ea"/>
                <a:sym typeface="+mn-ea"/>
              </a:rPr>
              <a:t>印出</a:t>
            </a:r>
            <a:r>
              <a:rPr lang="zh-CN" altLang="en-US" sz="1000" dirty="0" smtClean="0">
                <a:solidFill>
                  <a:schemeClr val="tx1"/>
                </a:solidFill>
                <a:latin typeface="+mj-ea"/>
                <a:ea typeface="+mj-ea"/>
                <a:cs typeface="+mj-ea"/>
                <a:sym typeface="+mn-ea"/>
              </a:rPr>
              <a:t>字符串</a:t>
            </a:r>
            <a:endParaRPr lang="en-US" altLang="zh-CN" sz="1000" dirty="0" smtClean="0">
              <a:solidFill>
                <a:schemeClr val="tx1"/>
              </a:solidFill>
              <a:latin typeface="+mj-ea"/>
              <a:ea typeface="+mj-ea"/>
              <a:cs typeface="+mj-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a:t>
            </a:r>
            <a:r>
              <a:rPr lang="en-US" altLang="zh-CN" sz="1000" dirty="0">
                <a:solidFill>
                  <a:schemeClr val="tx1"/>
                </a:solidFill>
                <a:latin typeface="+mj-ea"/>
                <a:ea typeface="+mj-ea"/>
                <a:cs typeface="+mj-ea"/>
                <a:sym typeface="+mn-ea"/>
              </a:rPr>
              <a:t>5) </a:t>
            </a:r>
            <a:r>
              <a:rPr lang="zh-CN" altLang="en-US" sz="1000" dirty="0">
                <a:solidFill>
                  <a:schemeClr val="tx1"/>
                </a:solidFill>
                <a:latin typeface="+mj-ea"/>
                <a:ea typeface="+mj-ea"/>
                <a:cs typeface="+mj-ea"/>
                <a:sym typeface="+mn-ea"/>
              </a:rPr>
              <a:t>印出空格</a:t>
            </a:r>
            <a:r>
              <a:rPr lang="zh-CN" altLang="en-US" sz="1000" dirty="0" smtClean="0">
                <a:solidFill>
                  <a:schemeClr val="tx1"/>
                </a:solidFill>
                <a:latin typeface="+mj-ea"/>
                <a:ea typeface="+mj-ea"/>
                <a:cs typeface="+mj-ea"/>
                <a:sym typeface="+mn-ea"/>
              </a:rPr>
              <a:t>数目</a:t>
            </a:r>
            <a:r>
              <a:rPr lang="en-US" altLang="zh-CN" sz="1000" dirty="0" smtClean="0">
                <a:solidFill>
                  <a:schemeClr val="tx1"/>
                </a:solidFill>
                <a:latin typeface="+mj-ea"/>
                <a:ea typeface="+mj-ea"/>
                <a:cs typeface="+mj-ea"/>
                <a:sym typeface="+mn-ea"/>
              </a:rPr>
              <a:t>	</a:t>
            </a:r>
            <a:endParaRPr lang="en-US" altLang="zh-CN" sz="1000" dirty="0" smtClean="0">
              <a:solidFill>
                <a:schemeClr val="tx1"/>
              </a:solidFill>
              <a:latin typeface="+mj-ea"/>
              <a:ea typeface="+mj-ea"/>
              <a:cs typeface="+mj-ea"/>
              <a:sym typeface="+mn-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a:t>
            </a:r>
            <a:r>
              <a:rPr lang="en-US" altLang="zh-CN" sz="1000" dirty="0">
                <a:solidFill>
                  <a:schemeClr val="tx1"/>
                </a:solidFill>
                <a:latin typeface="+mj-ea"/>
                <a:ea typeface="+mj-ea"/>
                <a:cs typeface="+mj-ea"/>
                <a:sym typeface="+mn-ea"/>
              </a:rPr>
              <a:t>6) </a:t>
            </a:r>
            <a:r>
              <a:rPr lang="zh-CN" altLang="en-US" sz="1000" dirty="0">
                <a:solidFill>
                  <a:schemeClr val="tx1"/>
                </a:solidFill>
                <a:latin typeface="+mj-ea"/>
                <a:ea typeface="+mj-ea"/>
                <a:cs typeface="+mj-ea"/>
                <a:sym typeface="+mn-ea"/>
              </a:rPr>
              <a:t>印出空格</a:t>
            </a:r>
            <a:r>
              <a:rPr lang="zh-CN" altLang="en-US" sz="1000" dirty="0" smtClean="0">
                <a:solidFill>
                  <a:schemeClr val="tx1"/>
                </a:solidFill>
                <a:latin typeface="+mj-ea"/>
                <a:ea typeface="+mj-ea"/>
                <a:cs typeface="+mj-ea"/>
                <a:sym typeface="+mn-ea"/>
              </a:rPr>
              <a:t>总数</a:t>
            </a:r>
            <a:endParaRPr lang="en-US" altLang="zh-CN" sz="1000" dirty="0" smtClean="0">
              <a:solidFill>
                <a:schemeClr val="tx1"/>
              </a:solidFill>
              <a:latin typeface="+mj-ea"/>
              <a:ea typeface="+mj-ea"/>
              <a:cs typeface="+mj-ea"/>
            </a:endParaRPr>
          </a:p>
          <a:p>
            <a:pPr marL="0" indent="0" eaLnBrk="1" hangingPunct="1">
              <a:lnSpc>
                <a:spcPct val="100000"/>
              </a:lnSpc>
              <a:defRPr/>
            </a:pPr>
            <a:r>
              <a:rPr lang="en-US" altLang="zh-CN" sz="1000" b="1" dirty="0" smtClean="0">
                <a:solidFill>
                  <a:schemeClr val="tx1"/>
                </a:solidFill>
                <a:latin typeface="+mj-ea"/>
                <a:ea typeface="+mj-ea"/>
                <a:cs typeface="+mj-ea"/>
                <a:sym typeface="+mn-ea"/>
              </a:rPr>
              <a:t>(</a:t>
            </a:r>
            <a:r>
              <a:rPr lang="en-US" altLang="zh-CN" sz="1000" b="1" dirty="0">
                <a:solidFill>
                  <a:schemeClr val="tx1"/>
                </a:solidFill>
                <a:latin typeface="+mj-ea"/>
                <a:ea typeface="+mj-ea"/>
                <a:cs typeface="+mj-ea"/>
                <a:sym typeface="+mn-ea"/>
              </a:rPr>
              <a:t>7) sum∶=</a:t>
            </a:r>
            <a:r>
              <a:rPr lang="en-US" altLang="zh-CN" sz="1000" b="1" dirty="0" smtClean="0">
                <a:solidFill>
                  <a:schemeClr val="tx1"/>
                </a:solidFill>
                <a:latin typeface="+mj-ea"/>
                <a:ea typeface="+mj-ea"/>
                <a:cs typeface="+mj-ea"/>
                <a:sym typeface="+mn-ea"/>
              </a:rPr>
              <a:t>sum+1</a:t>
            </a:r>
            <a:r>
              <a:rPr lang="en-US" altLang="zh-CN" sz="1000" dirty="0" smtClean="0">
                <a:solidFill>
                  <a:schemeClr val="tx1"/>
                </a:solidFill>
                <a:latin typeface="+mj-ea"/>
                <a:ea typeface="+mj-ea"/>
                <a:cs typeface="+mj-ea"/>
                <a:sym typeface="+mn-ea"/>
              </a:rPr>
              <a:t>	</a:t>
            </a:r>
            <a:endParaRPr lang="en-US" altLang="zh-CN" sz="1000" dirty="0" smtClean="0">
              <a:solidFill>
                <a:schemeClr val="tx1"/>
              </a:solidFill>
              <a:latin typeface="+mj-ea"/>
              <a:ea typeface="+mj-ea"/>
              <a:cs typeface="+mj-ea"/>
              <a:sym typeface="+mn-ea"/>
            </a:endParaRPr>
          </a:p>
          <a:p>
            <a:pPr marL="0" indent="0" eaLnBrk="1" hangingPunct="1">
              <a:lnSpc>
                <a:spcPct val="100000"/>
              </a:lnSpc>
              <a:defRPr/>
            </a:pPr>
            <a:r>
              <a:rPr lang="en-US" altLang="zh-CN" sz="1000" b="1" dirty="0" smtClean="0">
                <a:solidFill>
                  <a:schemeClr val="tx1"/>
                </a:solidFill>
                <a:latin typeface="+mj-ea"/>
                <a:ea typeface="+mj-ea"/>
                <a:cs typeface="+mj-ea"/>
                <a:sym typeface="+mn-ea"/>
              </a:rPr>
              <a:t>(8</a:t>
            </a:r>
            <a:r>
              <a:rPr lang="en-US" altLang="zh-CN" sz="1000" b="1" dirty="0">
                <a:solidFill>
                  <a:schemeClr val="tx1"/>
                </a:solidFill>
                <a:latin typeface="+mj-ea"/>
                <a:ea typeface="+mj-ea"/>
                <a:cs typeface="+mj-ea"/>
                <a:sym typeface="+mn-ea"/>
              </a:rPr>
              <a:t>) </a:t>
            </a:r>
            <a:r>
              <a:rPr lang="en-US" altLang="zh-CN" sz="1000" b="1" dirty="0" err="1" smtClean="0">
                <a:solidFill>
                  <a:schemeClr val="tx1"/>
                </a:solidFill>
                <a:latin typeface="+mj-ea"/>
                <a:ea typeface="+mj-ea"/>
                <a:cs typeface="+mj-ea"/>
                <a:sym typeface="+mn-ea"/>
              </a:rPr>
              <a:t>totalsum</a:t>
            </a:r>
            <a:r>
              <a:rPr lang="en-US" altLang="zh-CN" sz="1000" b="1" dirty="0">
                <a:solidFill>
                  <a:schemeClr val="tx1"/>
                </a:solidFill>
                <a:latin typeface="+mj-ea"/>
                <a:ea typeface="+mj-ea"/>
                <a:cs typeface="+mj-ea"/>
                <a:sym typeface="+mn-ea"/>
              </a:rPr>
              <a:t>∶=</a:t>
            </a:r>
            <a:r>
              <a:rPr lang="en-US" altLang="zh-CN" sz="1000" b="1" dirty="0" err="1" smtClean="0">
                <a:solidFill>
                  <a:schemeClr val="tx1"/>
                </a:solidFill>
                <a:latin typeface="+mj-ea"/>
                <a:ea typeface="+mj-ea"/>
                <a:cs typeface="+mj-ea"/>
                <a:sym typeface="+mn-ea"/>
              </a:rPr>
              <a:t>totalsum+sum</a:t>
            </a:r>
            <a:endParaRPr lang="en-US" altLang="zh-CN" sz="1000" b="1" dirty="0" smtClean="0">
              <a:solidFill>
                <a:schemeClr val="tx1"/>
              </a:solidFill>
              <a:latin typeface="+mj-ea"/>
              <a:ea typeface="+mj-ea"/>
              <a:cs typeface="+mj-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(9</a:t>
            </a:r>
            <a:r>
              <a:rPr lang="en-US" altLang="zh-CN" sz="1000" dirty="0">
                <a:solidFill>
                  <a:schemeClr val="tx1"/>
                </a:solidFill>
                <a:latin typeface="+mj-ea"/>
                <a:ea typeface="+mj-ea"/>
                <a:cs typeface="+mj-ea"/>
                <a:sym typeface="+mn-ea"/>
              </a:rPr>
              <a:t>) </a:t>
            </a:r>
            <a:r>
              <a:rPr lang="zh-CN" altLang="en-US" sz="1000" dirty="0">
                <a:solidFill>
                  <a:schemeClr val="tx1"/>
                </a:solidFill>
                <a:latin typeface="+mj-ea"/>
                <a:ea typeface="+mj-ea"/>
                <a:cs typeface="+mj-ea"/>
                <a:sym typeface="+mn-ea"/>
              </a:rPr>
              <a:t>读入</a:t>
            </a:r>
            <a:r>
              <a:rPr lang="zh-CN" altLang="en-US" sz="1000" dirty="0" smtClean="0">
                <a:solidFill>
                  <a:schemeClr val="tx1"/>
                </a:solidFill>
                <a:latin typeface="+mj-ea"/>
                <a:ea typeface="+mj-ea"/>
                <a:cs typeface="+mj-ea"/>
                <a:sym typeface="+mn-ea"/>
              </a:rPr>
              <a:t>字符串</a:t>
            </a:r>
            <a:r>
              <a:rPr lang="en-US" altLang="zh-CN" sz="1000" dirty="0" smtClean="0">
                <a:solidFill>
                  <a:schemeClr val="tx1"/>
                </a:solidFill>
                <a:latin typeface="+mj-ea"/>
                <a:ea typeface="+mj-ea"/>
                <a:cs typeface="+mj-ea"/>
                <a:sym typeface="+mn-ea"/>
              </a:rPr>
              <a:t>		</a:t>
            </a:r>
            <a:endParaRPr lang="en-US" altLang="zh-CN" sz="1000" dirty="0" smtClean="0">
              <a:solidFill>
                <a:schemeClr val="tx1"/>
              </a:solidFill>
              <a:latin typeface="+mj-ea"/>
              <a:ea typeface="+mj-ea"/>
              <a:cs typeface="+mj-ea"/>
              <a:sym typeface="+mn-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a:t>
            </a:r>
            <a:r>
              <a:rPr lang="en-US" altLang="zh-CN" sz="1000" dirty="0">
                <a:solidFill>
                  <a:schemeClr val="tx1"/>
                </a:solidFill>
                <a:latin typeface="+mj-ea"/>
                <a:ea typeface="+mj-ea"/>
                <a:cs typeface="+mj-ea"/>
                <a:sym typeface="+mn-ea"/>
              </a:rPr>
              <a:t>10) sum∶=</a:t>
            </a:r>
            <a:r>
              <a:rPr lang="en-US" altLang="zh-CN" sz="1000" dirty="0" smtClean="0">
                <a:solidFill>
                  <a:schemeClr val="tx1"/>
                </a:solidFill>
                <a:latin typeface="+mj-ea"/>
                <a:ea typeface="+mj-ea"/>
                <a:cs typeface="+mj-ea"/>
                <a:sym typeface="+mn-ea"/>
              </a:rPr>
              <a:t>0</a:t>
            </a:r>
            <a:endParaRPr lang="en-US" altLang="zh-CN" sz="1000" dirty="0" smtClean="0">
              <a:solidFill>
                <a:schemeClr val="tx1"/>
              </a:solidFill>
              <a:latin typeface="+mj-ea"/>
              <a:ea typeface="+mj-ea"/>
              <a:cs typeface="+mj-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(11</a:t>
            </a:r>
            <a:r>
              <a:rPr lang="en-US" altLang="zh-CN" sz="1000" dirty="0">
                <a:solidFill>
                  <a:schemeClr val="tx1"/>
                </a:solidFill>
                <a:latin typeface="+mj-ea"/>
                <a:ea typeface="+mj-ea"/>
                <a:cs typeface="+mj-ea"/>
                <a:sym typeface="+mn-ea"/>
              </a:rPr>
              <a:t>) </a:t>
            </a:r>
            <a:r>
              <a:rPr lang="en-US" altLang="zh-CN" sz="1000" dirty="0" err="1">
                <a:solidFill>
                  <a:schemeClr val="tx1"/>
                </a:solidFill>
                <a:latin typeface="+mj-ea"/>
                <a:ea typeface="+mj-ea"/>
                <a:cs typeface="+mj-ea"/>
                <a:sym typeface="+mn-ea"/>
              </a:rPr>
              <a:t>totalsum</a:t>
            </a:r>
            <a:r>
              <a:rPr lang="en-US" altLang="zh-CN" sz="1000" dirty="0">
                <a:solidFill>
                  <a:schemeClr val="tx1"/>
                </a:solidFill>
                <a:latin typeface="+mj-ea"/>
                <a:ea typeface="+mj-ea"/>
                <a:cs typeface="+mj-ea"/>
                <a:sym typeface="+mn-ea"/>
              </a:rPr>
              <a:t>∶=</a:t>
            </a:r>
            <a:r>
              <a:rPr lang="en-US" altLang="zh-CN" sz="1000" dirty="0" smtClean="0">
                <a:solidFill>
                  <a:schemeClr val="tx1"/>
                </a:solidFill>
                <a:latin typeface="+mj-ea"/>
                <a:ea typeface="+mj-ea"/>
                <a:cs typeface="+mj-ea"/>
                <a:sym typeface="+mn-ea"/>
              </a:rPr>
              <a:t>0	</a:t>
            </a:r>
            <a:endParaRPr lang="en-US" altLang="zh-CN" sz="1000" dirty="0" smtClean="0">
              <a:solidFill>
                <a:schemeClr val="tx1"/>
              </a:solidFill>
              <a:latin typeface="+mj-ea"/>
              <a:ea typeface="+mj-ea"/>
              <a:cs typeface="+mj-ea"/>
              <a:sym typeface="+mn-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(12</a:t>
            </a:r>
            <a:r>
              <a:rPr lang="en-US" altLang="zh-CN" sz="1000" dirty="0">
                <a:solidFill>
                  <a:schemeClr val="tx1"/>
                </a:solidFill>
                <a:latin typeface="+mj-ea"/>
                <a:ea typeface="+mj-ea"/>
                <a:cs typeface="+mj-ea"/>
                <a:sym typeface="+mn-ea"/>
              </a:rPr>
              <a:t>) pointer∶=</a:t>
            </a:r>
            <a:r>
              <a:rPr lang="en-US" altLang="zh-CN" sz="1000" dirty="0" smtClean="0">
                <a:solidFill>
                  <a:schemeClr val="tx1"/>
                </a:solidFill>
                <a:latin typeface="+mj-ea"/>
                <a:ea typeface="+mj-ea"/>
                <a:cs typeface="+mj-ea"/>
                <a:sym typeface="+mn-ea"/>
              </a:rPr>
              <a:t>1</a:t>
            </a:r>
            <a:endParaRPr lang="en-US" altLang="zh-CN" sz="1000" dirty="0" smtClean="0">
              <a:solidFill>
                <a:schemeClr val="tx1"/>
              </a:solidFill>
              <a:latin typeface="+mj-ea"/>
              <a:ea typeface="+mj-ea"/>
              <a:cs typeface="+mj-ea"/>
            </a:endParaRPr>
          </a:p>
          <a:p>
            <a:pPr marL="0" indent="0" eaLnBrk="1" hangingPunct="1">
              <a:lnSpc>
                <a:spcPct val="100000"/>
              </a:lnSpc>
              <a:defRPr/>
            </a:pPr>
            <a:r>
              <a:rPr lang="en-US" altLang="zh-CN" sz="1000" b="1" dirty="0" smtClean="0">
                <a:solidFill>
                  <a:schemeClr val="tx1"/>
                </a:solidFill>
                <a:latin typeface="+mj-ea"/>
                <a:ea typeface="+mj-ea"/>
                <a:cs typeface="+mj-ea"/>
                <a:sym typeface="+mn-ea"/>
              </a:rPr>
              <a:t>(13</a:t>
            </a:r>
            <a:r>
              <a:rPr lang="en-US" altLang="zh-CN" sz="1000" b="1" dirty="0">
                <a:solidFill>
                  <a:schemeClr val="tx1"/>
                </a:solidFill>
                <a:latin typeface="+mj-ea"/>
                <a:ea typeface="+mj-ea"/>
                <a:cs typeface="+mj-ea"/>
                <a:sym typeface="+mn-ea"/>
              </a:rPr>
              <a:t>) pointer∶=</a:t>
            </a:r>
            <a:r>
              <a:rPr lang="en-US" altLang="zh-CN" sz="1000" b="1" dirty="0" smtClean="0">
                <a:solidFill>
                  <a:schemeClr val="tx1"/>
                </a:solidFill>
                <a:latin typeface="+mj-ea"/>
                <a:ea typeface="+mj-ea"/>
                <a:cs typeface="+mj-ea"/>
                <a:sym typeface="+mn-ea"/>
              </a:rPr>
              <a:t>pointer+1</a:t>
            </a:r>
            <a:r>
              <a:rPr lang="en-US" altLang="zh-CN" sz="1000" dirty="0" smtClean="0">
                <a:solidFill>
                  <a:schemeClr val="tx1"/>
                </a:solidFill>
                <a:latin typeface="+mj-ea"/>
                <a:ea typeface="+mj-ea"/>
                <a:cs typeface="+mj-ea"/>
                <a:sym typeface="+mn-ea"/>
              </a:rPr>
              <a:t>	</a:t>
            </a:r>
            <a:endParaRPr lang="en-US" altLang="zh-CN" sz="1000" dirty="0" smtClean="0">
              <a:solidFill>
                <a:schemeClr val="tx1"/>
              </a:solidFill>
              <a:latin typeface="+mj-ea"/>
              <a:ea typeface="+mj-ea"/>
              <a:cs typeface="+mj-ea"/>
              <a:sym typeface="+mn-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I(1</a:t>
            </a:r>
            <a:r>
              <a:rPr lang="en-US" altLang="zh-CN" sz="1000" dirty="0">
                <a:solidFill>
                  <a:schemeClr val="tx1"/>
                </a:solidFill>
                <a:latin typeface="+mj-ea"/>
                <a:ea typeface="+mj-ea"/>
                <a:cs typeface="+mj-ea"/>
                <a:sym typeface="+mn-ea"/>
              </a:rPr>
              <a:t>) </a:t>
            </a:r>
            <a:r>
              <a:rPr lang="zh-CN" altLang="en-US" sz="1000" dirty="0" smtClean="0">
                <a:solidFill>
                  <a:schemeClr val="tx1"/>
                </a:solidFill>
                <a:latin typeface="+mj-ea"/>
                <a:ea typeface="+mj-ea"/>
                <a:cs typeface="+mj-ea"/>
                <a:sym typeface="+mn-ea"/>
              </a:rPr>
              <a:t>文件结束</a:t>
            </a:r>
            <a:endParaRPr lang="en-US" altLang="zh-CN" sz="1000" dirty="0" smtClean="0">
              <a:solidFill>
                <a:schemeClr val="tx1"/>
              </a:solidFill>
              <a:latin typeface="+mj-ea"/>
              <a:ea typeface="+mj-ea"/>
              <a:cs typeface="+mj-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I(2</a:t>
            </a:r>
            <a:r>
              <a:rPr lang="en-US" altLang="zh-CN" sz="1000" dirty="0">
                <a:solidFill>
                  <a:schemeClr val="tx1"/>
                </a:solidFill>
                <a:latin typeface="+mj-ea"/>
                <a:ea typeface="+mj-ea"/>
                <a:cs typeface="+mj-ea"/>
                <a:sym typeface="+mn-ea"/>
              </a:rPr>
              <a:t>) </a:t>
            </a:r>
            <a:r>
              <a:rPr lang="zh-CN" altLang="en-US" sz="1000" dirty="0">
                <a:solidFill>
                  <a:schemeClr val="tx1"/>
                </a:solidFill>
                <a:latin typeface="+mj-ea"/>
                <a:ea typeface="+mj-ea"/>
                <a:cs typeface="+mj-ea"/>
                <a:sym typeface="+mn-ea"/>
              </a:rPr>
              <a:t>字符串</a:t>
            </a:r>
            <a:r>
              <a:rPr lang="zh-CN" altLang="en-US" sz="1000" dirty="0" smtClean="0">
                <a:solidFill>
                  <a:schemeClr val="tx1"/>
                </a:solidFill>
                <a:latin typeface="+mj-ea"/>
                <a:ea typeface="+mj-ea"/>
                <a:cs typeface="+mj-ea"/>
                <a:sym typeface="+mn-ea"/>
              </a:rPr>
              <a:t>结束</a:t>
            </a:r>
            <a:r>
              <a:rPr lang="en-US" altLang="zh-CN" sz="1000" dirty="0" smtClean="0">
                <a:solidFill>
                  <a:schemeClr val="tx1"/>
                </a:solidFill>
                <a:latin typeface="+mj-ea"/>
                <a:ea typeface="+mj-ea"/>
                <a:cs typeface="+mj-ea"/>
                <a:sym typeface="+mn-ea"/>
              </a:rPr>
              <a:t>		</a:t>
            </a:r>
            <a:endParaRPr lang="en-US" altLang="zh-CN" sz="1000" dirty="0" smtClean="0">
              <a:solidFill>
                <a:schemeClr val="tx1"/>
              </a:solidFill>
              <a:latin typeface="+mj-ea"/>
              <a:ea typeface="+mj-ea"/>
              <a:cs typeface="+mj-ea"/>
              <a:sym typeface="+mn-ea"/>
            </a:endParaRPr>
          </a:p>
          <a:p>
            <a:pPr marL="0" indent="0" eaLnBrk="1" hangingPunct="1">
              <a:lnSpc>
                <a:spcPct val="100000"/>
              </a:lnSpc>
              <a:defRPr/>
            </a:pPr>
            <a:r>
              <a:rPr lang="en-US" altLang="zh-CN" sz="1000" dirty="0" smtClean="0">
                <a:solidFill>
                  <a:schemeClr val="tx1"/>
                </a:solidFill>
                <a:latin typeface="+mj-ea"/>
                <a:ea typeface="+mj-ea"/>
                <a:cs typeface="+mj-ea"/>
                <a:sym typeface="+mn-ea"/>
              </a:rPr>
              <a:t>S(3</a:t>
            </a:r>
            <a:r>
              <a:rPr lang="en-US" altLang="zh-CN" sz="1000" dirty="0">
                <a:solidFill>
                  <a:schemeClr val="tx1"/>
                </a:solidFill>
                <a:latin typeface="+mj-ea"/>
                <a:ea typeface="+mj-ea"/>
                <a:cs typeface="+mj-ea"/>
                <a:sym typeface="+mn-ea"/>
              </a:rPr>
              <a:t>) </a:t>
            </a:r>
            <a:r>
              <a:rPr lang="zh-CN" altLang="en-US" sz="1000" dirty="0">
                <a:solidFill>
                  <a:schemeClr val="tx1"/>
                </a:solidFill>
                <a:latin typeface="+mj-ea"/>
                <a:ea typeface="+mj-ea"/>
                <a:cs typeface="+mj-ea"/>
                <a:sym typeface="+mn-ea"/>
              </a:rPr>
              <a:t>字符是空格</a:t>
            </a:r>
            <a:endParaRPr lang="zh-CN" altLang="en-US" sz="1000" b="1" dirty="0">
              <a:solidFill>
                <a:schemeClr val="tx1"/>
              </a:solidFill>
              <a:latin typeface="+mj-ea"/>
              <a:ea typeface="+mj-ea"/>
              <a:cs typeface="+mj-ea"/>
              <a:sym typeface="+mn-ea"/>
            </a:endParaRPr>
          </a:p>
        </p:txBody>
      </p:sp>
      <p:sp>
        <p:nvSpPr>
          <p:cNvPr id="8" name="文本框 7"/>
          <p:cNvSpPr txBox="1"/>
          <p:nvPr/>
        </p:nvSpPr>
        <p:spPr>
          <a:xfrm>
            <a:off x="489585" y="358775"/>
            <a:ext cx="5267960" cy="603250"/>
          </a:xfrm>
          <a:prstGeom prst="rect">
            <a:avLst/>
          </a:prstGeom>
          <a:noFill/>
        </p:spPr>
        <p:txBody>
          <a:bodyPr wrap="square" rtlCol="0">
            <a:noAutofit/>
          </a:bodyPr>
          <a:p>
            <a:pPr algn="l">
              <a:lnSpc>
                <a:spcPct val="150000"/>
              </a:lnSpc>
              <a:spcBef>
                <a:spcPts val="0"/>
              </a:spcBef>
              <a:spcAft>
                <a:spcPts val="1000"/>
              </a:spcAft>
              <a:buClrTx/>
              <a:buSzTx/>
              <a:buFont typeface="Arial" panose="020B0604020202020204" pitchFamily="34" charset="0"/>
            </a:pPr>
            <a:r>
              <a:rPr lang="zh-CN" altLang="en-US" sz="1200" b="1" dirty="0">
                <a:highlight>
                  <a:srgbClr val="00FFFF"/>
                </a:highlight>
                <a:latin typeface="Bodoni MT Black" panose="02070A03080606020203" pitchFamily="18" charset="0"/>
                <a:sym typeface="+mn-ea"/>
              </a:rPr>
              <a:t>第四步：</a:t>
            </a:r>
            <a:r>
              <a:rPr lang="zh-CN" altLang="en-US" sz="1200" dirty="0">
                <a:latin typeface="Bodoni MT Black" panose="02070A03080606020203" pitchFamily="18" charset="0"/>
                <a:sym typeface="+mn-ea"/>
              </a:rPr>
              <a:t>列出所有</a:t>
            </a:r>
            <a:r>
              <a:rPr lang="zh-CN" altLang="en-US" sz="1200" dirty="0">
                <a:solidFill>
                  <a:srgbClr val="FF0000"/>
                </a:solidFill>
                <a:latin typeface="Bodoni MT Black" panose="02070A03080606020203" pitchFamily="18" charset="0"/>
                <a:sym typeface="+mn-ea"/>
              </a:rPr>
              <a:t>操作</a:t>
            </a:r>
            <a:r>
              <a:rPr lang="zh-CN" altLang="en-US" sz="1200" dirty="0">
                <a:latin typeface="Bodoni MT Black" panose="02070A03080606020203" pitchFamily="18" charset="0"/>
                <a:sym typeface="+mn-ea"/>
              </a:rPr>
              <a:t>和</a:t>
            </a:r>
            <a:r>
              <a:rPr lang="zh-CN" altLang="en-US" sz="1200" dirty="0" smtClean="0">
                <a:solidFill>
                  <a:srgbClr val="FF0000"/>
                </a:solidFill>
                <a:latin typeface="Bodoni MT Black" panose="02070A03080606020203" pitchFamily="18" charset="0"/>
                <a:sym typeface="+mn-ea"/>
              </a:rPr>
              <a:t>条件</a:t>
            </a:r>
            <a:r>
              <a:rPr lang="zh-CN" altLang="en-US" sz="1200" dirty="0" smtClean="0">
                <a:latin typeface="Bodoni MT Black" panose="02070A03080606020203" pitchFamily="18" charset="0"/>
                <a:sym typeface="+mn-ea"/>
              </a:rPr>
              <a:t>（包括</a:t>
            </a:r>
            <a:r>
              <a:rPr lang="zh-CN" altLang="en-US" sz="1200" dirty="0">
                <a:latin typeface="Bodoni MT Black" panose="02070A03080606020203" pitchFamily="18" charset="0"/>
                <a:sym typeface="+mn-ea"/>
              </a:rPr>
              <a:t>分支条件和循环结束</a:t>
            </a:r>
            <a:r>
              <a:rPr lang="zh-CN" altLang="en-US" sz="1200" dirty="0" smtClean="0">
                <a:latin typeface="Bodoni MT Black" panose="02070A03080606020203" pitchFamily="18" charset="0"/>
                <a:sym typeface="+mn-ea"/>
              </a:rPr>
              <a:t>条件），</a:t>
            </a:r>
            <a:r>
              <a:rPr lang="zh-CN" altLang="en-US" sz="1200" dirty="0">
                <a:latin typeface="Bodoni MT Black" panose="02070A03080606020203" pitchFamily="18" charset="0"/>
                <a:sym typeface="+mn-ea"/>
              </a:rPr>
              <a:t>并且把它们分配到程序结构图的适当位置。</a:t>
            </a:r>
            <a:endParaRPr lang="zh-CN" altLang="en-US" sz="1200" dirty="0">
              <a:latin typeface="Bodoni MT Black" panose="02070A03080606020203" pitchFamily="18" charset="0"/>
              <a:sym typeface="+mn-ea"/>
            </a:endParaRPr>
          </a:p>
          <a:p>
            <a:pPr algn="l">
              <a:lnSpc>
                <a:spcPct val="150000"/>
              </a:lnSpc>
              <a:spcBef>
                <a:spcPts val="0"/>
              </a:spcBef>
              <a:spcAft>
                <a:spcPts val="1000"/>
              </a:spcAft>
              <a:buClrTx/>
              <a:buSzTx/>
              <a:buFont typeface="Arial" panose="020B0604020202020204" pitchFamily="34" charset="0"/>
            </a:pPr>
            <a:endParaRPr lang="en-US" altLang="zh-CN" sz="1200" dirty="0" smtClean="0">
              <a:latin typeface="Bodoni MT Black" panose="02070A03080606020203" pitchFamily="18" charset="0"/>
            </a:endParaRPr>
          </a:p>
          <a:p>
            <a:endParaRPr lang="zh-CN" altLang="en-US" sz="1200"/>
          </a:p>
        </p:txBody>
      </p:sp>
      <p:sp>
        <p:nvSpPr>
          <p:cNvPr id="3" name="文本框 2"/>
          <p:cNvSpPr txBox="1"/>
          <p:nvPr/>
        </p:nvSpPr>
        <p:spPr>
          <a:xfrm>
            <a:off x="6319520" y="415925"/>
            <a:ext cx="5267960" cy="603250"/>
          </a:xfrm>
          <a:prstGeom prst="rect">
            <a:avLst/>
          </a:prstGeom>
          <a:noFill/>
        </p:spPr>
        <p:txBody>
          <a:bodyPr wrap="square" rtlCol="0">
            <a:noAutofit/>
          </a:bodyPr>
          <a:p>
            <a:pPr algn="l">
              <a:lnSpc>
                <a:spcPct val="130000"/>
              </a:lnSpc>
              <a:spcBef>
                <a:spcPts val="0"/>
              </a:spcBef>
              <a:spcAft>
                <a:spcPts val="1000"/>
              </a:spcAft>
              <a:buClrTx/>
              <a:buSzTx/>
              <a:buFont typeface="Arial" panose="020B0604020202020204" pitchFamily="34" charset="0"/>
            </a:pPr>
            <a:r>
              <a:rPr lang="zh-CN" altLang="en-US" sz="1200" b="1" dirty="0">
                <a:highlight>
                  <a:srgbClr val="00FFFF"/>
                </a:highlight>
                <a:latin typeface="Bodoni MT Black" panose="02070A03080606020203" pitchFamily="18" charset="0"/>
                <a:sym typeface="+mn-ea"/>
              </a:rPr>
              <a:t>第五步：</a:t>
            </a:r>
            <a:r>
              <a:rPr lang="zh-CN" altLang="en-US" sz="1200" dirty="0">
                <a:latin typeface="Bodoni MT Black" panose="02070A03080606020203" pitchFamily="18" charset="0"/>
                <a:sym typeface="+mn-ea"/>
              </a:rPr>
              <a:t>用</a:t>
            </a:r>
            <a:r>
              <a:rPr lang="zh-CN" sz="1200" dirty="0">
                <a:latin typeface="Bodoni MT Black" panose="02070A03080606020203" pitchFamily="18" charset="0"/>
                <a:sym typeface="+mn-ea"/>
              </a:rPr>
              <a:t>伪码表示程序处理过程</a:t>
            </a:r>
            <a:r>
              <a:rPr lang="zh-CN" altLang="en-US" sz="1200" dirty="0">
                <a:latin typeface="Bodoni MT Black" panose="02070A03080606020203" pitchFamily="18" charset="0"/>
                <a:sym typeface="+mn-ea"/>
              </a:rPr>
              <a:t>。</a:t>
            </a:r>
            <a:endParaRPr lang="zh-CN" altLang="en-US" sz="1200" dirty="0">
              <a:latin typeface="Bodoni MT Black" panose="02070A03080606020203" pitchFamily="18" charset="0"/>
              <a:sym typeface="+mn-ea"/>
            </a:endParaRPr>
          </a:p>
          <a:p>
            <a:pPr algn="l">
              <a:lnSpc>
                <a:spcPct val="130000"/>
              </a:lnSpc>
              <a:spcBef>
                <a:spcPts val="0"/>
              </a:spcBef>
              <a:spcAft>
                <a:spcPts val="1000"/>
              </a:spcAft>
              <a:buClrTx/>
              <a:buSzTx/>
              <a:buFont typeface="Arial" panose="020B0604020202020204" pitchFamily="34" charset="0"/>
            </a:pPr>
            <a:endParaRPr lang="en-US" altLang="zh-CN" sz="1200" dirty="0" smtClean="0">
              <a:latin typeface="Bodoni MT Black" panose="02070A03080606020203" pitchFamily="18" charset="0"/>
            </a:endParaRPr>
          </a:p>
          <a:p>
            <a:pPr algn="l">
              <a:lnSpc>
                <a:spcPct val="130000"/>
              </a:lnSpc>
              <a:spcBef>
                <a:spcPts val="0"/>
              </a:spcBef>
              <a:spcAft>
                <a:spcPts val="1000"/>
              </a:spcAft>
              <a:buClrTx/>
              <a:buSzTx/>
              <a:buFont typeface="Arial" panose="020B0604020202020204" pitchFamily="34" charset="0"/>
            </a:pPr>
            <a:endParaRPr lang="zh-CN" altLang="en-US" sz="1200" dirty="0">
              <a:latin typeface="Bodoni MT Black" panose="02070A03080606020203" pitchFamily="18" charset="0"/>
            </a:endParaRPr>
          </a:p>
          <a:p>
            <a:endParaRPr lang="zh-CN" altLang="en-US" sz="1200"/>
          </a:p>
        </p:txBody>
      </p:sp>
      <p:pic>
        <p:nvPicPr>
          <p:cNvPr id="96260" name="图片 1"/>
          <p:cNvPicPr>
            <a:picLocks noChangeAspect="1"/>
          </p:cNvPicPr>
          <p:nvPr/>
        </p:nvPicPr>
        <p:blipFill>
          <a:blip r:embed="rId2" cstate="print"/>
          <a:srcRect/>
          <a:stretch>
            <a:fillRect/>
          </a:stretch>
        </p:blipFill>
        <p:spPr bwMode="auto">
          <a:xfrm>
            <a:off x="2519045" y="2056130"/>
            <a:ext cx="3354070" cy="3807460"/>
          </a:xfrm>
          <a:prstGeom prst="rect">
            <a:avLst/>
          </a:prstGeom>
          <a:noFill/>
          <a:ln w="9525">
            <a:noFill/>
            <a:miter lim="800000"/>
            <a:headEnd/>
            <a:tailEnd/>
          </a:ln>
        </p:spPr>
      </p:pic>
      <p:sp>
        <p:nvSpPr>
          <p:cNvPr id="96259" name="TextBox 7"/>
          <p:cNvSpPr txBox="1">
            <a:spLocks noChangeArrowheads="1"/>
          </p:cNvSpPr>
          <p:nvPr/>
        </p:nvSpPr>
        <p:spPr bwMode="auto">
          <a:xfrm>
            <a:off x="2632075" y="1138555"/>
            <a:ext cx="3083560" cy="645160"/>
          </a:xfrm>
          <a:prstGeom prst="rect">
            <a:avLst/>
          </a:prstGeom>
          <a:noFill/>
          <a:ln w="9525">
            <a:noFill/>
            <a:miter lim="800000"/>
          </a:ln>
        </p:spPr>
        <p:txBody>
          <a:bodyPr wrap="square">
            <a:spAutoFit/>
          </a:bodyPr>
          <a:p>
            <a:pPr eaLnBrk="1" hangingPunct="1">
              <a:lnSpc>
                <a:spcPct val="150000"/>
              </a:lnSpc>
            </a:pPr>
            <a:r>
              <a:rPr lang="zh-CN" altLang="en-US" sz="1200">
                <a:latin typeface="Bodoni MT Black" panose="02070A03080606020203" pitchFamily="18" charset="0"/>
              </a:rPr>
              <a:t>经过简单分析不难把这些操作和条件分配到程序结构图的适当位置：</a:t>
            </a:r>
            <a:endParaRPr lang="zh-CN" altLang="en-US" sz="1200">
              <a:latin typeface="Bodoni MT Black" panose="02070A03080606020203" pitchFamily="18" charset="0"/>
            </a:endParaRPr>
          </a:p>
        </p:txBody>
      </p:sp>
      <p:sp>
        <p:nvSpPr>
          <p:cNvPr id="32775" name="TextBox 7"/>
          <p:cNvSpPr txBox="1">
            <a:spLocks noChangeArrowheads="1"/>
          </p:cNvSpPr>
          <p:nvPr/>
        </p:nvSpPr>
        <p:spPr bwMode="auto">
          <a:xfrm>
            <a:off x="5967730" y="962025"/>
            <a:ext cx="2990850" cy="560895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ct val="180000"/>
              </a:lnSpc>
              <a:defRPr/>
            </a:pPr>
            <a:r>
              <a:rPr lang="zh-CN" altLang="en-US" sz="1100" b="1" dirty="0">
                <a:solidFill>
                  <a:schemeClr val="bg1"/>
                </a:solidFill>
                <a:latin typeface="+mn-ea"/>
                <a:ea typeface="+mn-ea"/>
                <a:cs typeface="+mn-ea"/>
              </a:rPr>
              <a:t>统计空格</a:t>
            </a:r>
            <a:r>
              <a:rPr lang="en-US" altLang="zh-CN" sz="1100" b="1" dirty="0" err="1" smtClean="0">
                <a:solidFill>
                  <a:schemeClr val="bg1"/>
                </a:solidFill>
                <a:latin typeface="+mn-ea"/>
                <a:ea typeface="+mn-ea"/>
                <a:cs typeface="+mn-ea"/>
              </a:rPr>
              <a:t>seq</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zh-CN" altLang="en-US" sz="1100" b="1" dirty="0" smtClean="0">
                <a:solidFill>
                  <a:schemeClr val="bg1"/>
                </a:solidFill>
                <a:latin typeface="+mn-ea"/>
                <a:ea typeface="+mn-ea"/>
                <a:cs typeface="+mn-ea"/>
              </a:rPr>
              <a:t>打开文件</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zh-CN" altLang="en-US" sz="1100" b="1" dirty="0" smtClean="0">
                <a:solidFill>
                  <a:schemeClr val="bg1"/>
                </a:solidFill>
                <a:latin typeface="+mn-ea"/>
                <a:ea typeface="+mn-ea"/>
                <a:cs typeface="+mn-ea"/>
              </a:rPr>
              <a:t>读入</a:t>
            </a:r>
            <a:r>
              <a:rPr lang="zh-CN" altLang="en-US" sz="1100" b="1" dirty="0">
                <a:solidFill>
                  <a:schemeClr val="bg1"/>
                </a:solidFill>
                <a:latin typeface="+mn-ea"/>
                <a:ea typeface="+mn-ea"/>
                <a:cs typeface="+mn-ea"/>
              </a:rPr>
              <a:t>字符串</a:t>
            </a:r>
            <a:r>
              <a:rPr lang="en-US" altLang="zh-CN" sz="1100" b="1" dirty="0" err="1">
                <a:solidFill>
                  <a:schemeClr val="bg1"/>
                </a:solidFill>
                <a:latin typeface="+mn-ea"/>
                <a:ea typeface="+mn-ea"/>
                <a:cs typeface="+mn-ea"/>
              </a:rPr>
              <a:t>totalsum</a:t>
            </a:r>
            <a:r>
              <a:rPr lang="en-US" altLang="zh-CN" sz="1100" b="1" dirty="0">
                <a:solidFill>
                  <a:schemeClr val="bg1"/>
                </a:solidFill>
                <a:latin typeface="+mn-ea"/>
                <a:ea typeface="+mn-ea"/>
                <a:cs typeface="+mn-ea"/>
              </a:rPr>
              <a:t>∶=</a:t>
            </a:r>
            <a:r>
              <a:rPr lang="en-US" altLang="zh-CN" sz="1100" b="1" dirty="0" smtClean="0">
                <a:solidFill>
                  <a:schemeClr val="bg1"/>
                </a:solidFill>
                <a:latin typeface="+mn-ea"/>
                <a:ea typeface="+mn-ea"/>
                <a:cs typeface="+mn-ea"/>
              </a:rPr>
              <a:t>0</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zh-CN" altLang="en-US" sz="1100" b="1" dirty="0" smtClean="0">
                <a:solidFill>
                  <a:schemeClr val="bg1"/>
                </a:solidFill>
                <a:latin typeface="+mn-ea"/>
                <a:ea typeface="+mn-ea"/>
                <a:cs typeface="+mn-ea"/>
              </a:rPr>
              <a:t>程序</a:t>
            </a:r>
            <a:r>
              <a:rPr lang="zh-CN" altLang="en-US" sz="1100" b="1" dirty="0">
                <a:solidFill>
                  <a:schemeClr val="bg1"/>
                </a:solidFill>
                <a:latin typeface="+mn-ea"/>
                <a:ea typeface="+mn-ea"/>
                <a:cs typeface="+mn-ea"/>
              </a:rPr>
              <a:t>体</a:t>
            </a:r>
            <a:r>
              <a:rPr lang="en-US" altLang="zh-CN" sz="1100" b="1" dirty="0" err="1">
                <a:solidFill>
                  <a:schemeClr val="bg1"/>
                </a:solidFill>
                <a:latin typeface="+mn-ea"/>
                <a:ea typeface="+mn-ea"/>
                <a:cs typeface="+mn-ea"/>
              </a:rPr>
              <a:t>iter</a:t>
            </a:r>
            <a:r>
              <a:rPr lang="en-US" altLang="zh-CN" sz="1100" b="1" dirty="0">
                <a:solidFill>
                  <a:schemeClr val="bg1"/>
                </a:solidFill>
                <a:latin typeface="+mn-ea"/>
                <a:ea typeface="+mn-ea"/>
                <a:cs typeface="+mn-ea"/>
              </a:rPr>
              <a:t> until</a:t>
            </a:r>
            <a:r>
              <a:rPr lang="zh-CN" altLang="en-US" sz="1100" b="1" dirty="0" smtClean="0">
                <a:solidFill>
                  <a:schemeClr val="bg1"/>
                </a:solidFill>
                <a:latin typeface="+mn-ea"/>
                <a:ea typeface="+mn-ea"/>
                <a:cs typeface="+mn-ea"/>
              </a:rPr>
              <a:t>文件结束</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zh-CN" altLang="en-US" sz="1100" b="1" dirty="0" smtClean="0">
                <a:solidFill>
                  <a:schemeClr val="bg1"/>
                </a:solidFill>
                <a:latin typeface="+mn-ea"/>
                <a:ea typeface="+mn-ea"/>
                <a:cs typeface="+mn-ea"/>
              </a:rPr>
              <a:t> 处理字符串</a:t>
            </a:r>
            <a:r>
              <a:rPr lang="en-US" altLang="zh-CN" sz="1100" b="1" dirty="0" err="1" smtClean="0">
                <a:solidFill>
                  <a:schemeClr val="bg1"/>
                </a:solidFill>
                <a:latin typeface="+mn-ea"/>
                <a:ea typeface="+mn-ea"/>
                <a:cs typeface="+mn-ea"/>
              </a:rPr>
              <a:t>seq</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zh-CN" altLang="en-US" sz="1100" b="1" dirty="0" smtClean="0">
                <a:solidFill>
                  <a:schemeClr val="bg1"/>
                </a:solidFill>
                <a:latin typeface="+mn-ea"/>
                <a:ea typeface="+mn-ea"/>
                <a:cs typeface="+mn-ea"/>
              </a:rPr>
              <a:t>  印</a:t>
            </a:r>
            <a:r>
              <a:rPr lang="zh-CN" altLang="en-US" sz="1100" b="1" dirty="0">
                <a:solidFill>
                  <a:schemeClr val="bg1"/>
                </a:solidFill>
                <a:latin typeface="+mn-ea"/>
                <a:ea typeface="+mn-ea"/>
                <a:cs typeface="+mn-ea"/>
              </a:rPr>
              <a:t>字符串</a:t>
            </a:r>
            <a:r>
              <a:rPr lang="en-US" altLang="zh-CN" sz="1100" b="1" dirty="0" err="1" smtClean="0">
                <a:solidFill>
                  <a:schemeClr val="bg1"/>
                </a:solidFill>
                <a:latin typeface="+mn-ea"/>
                <a:ea typeface="+mn-ea"/>
                <a:cs typeface="+mn-ea"/>
              </a:rPr>
              <a:t>seq</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zh-CN" altLang="en-US" sz="1100" b="1" dirty="0" smtClean="0">
                <a:solidFill>
                  <a:schemeClr val="bg1"/>
                </a:solidFill>
                <a:latin typeface="+mn-ea"/>
                <a:ea typeface="+mn-ea"/>
                <a:cs typeface="+mn-ea"/>
              </a:rPr>
              <a:t>  </a:t>
            </a:r>
            <a:r>
              <a:rPr lang="en-US" altLang="zh-CN" sz="1100" b="1" dirty="0" smtClean="0">
                <a:solidFill>
                  <a:schemeClr val="bg1"/>
                </a:solidFill>
                <a:latin typeface="+mn-ea"/>
                <a:ea typeface="+mn-ea"/>
                <a:cs typeface="+mn-ea"/>
              </a:rPr>
              <a:t>	</a:t>
            </a:r>
            <a:r>
              <a:rPr lang="zh-CN" altLang="en-US" sz="1100" b="1" dirty="0" smtClean="0">
                <a:solidFill>
                  <a:schemeClr val="bg1"/>
                </a:solidFill>
                <a:latin typeface="+mn-ea"/>
                <a:ea typeface="+mn-ea"/>
                <a:cs typeface="+mn-ea"/>
              </a:rPr>
              <a:t>印</a:t>
            </a:r>
            <a:r>
              <a:rPr lang="zh-CN" altLang="en-US" sz="1100" b="1" dirty="0">
                <a:solidFill>
                  <a:schemeClr val="bg1"/>
                </a:solidFill>
                <a:latin typeface="+mn-ea"/>
                <a:ea typeface="+mn-ea"/>
                <a:cs typeface="+mn-ea"/>
              </a:rPr>
              <a:t>出</a:t>
            </a:r>
            <a:r>
              <a:rPr lang="zh-CN" altLang="en-US" sz="1100" b="1" dirty="0" smtClean="0">
                <a:solidFill>
                  <a:schemeClr val="bg1"/>
                </a:solidFill>
                <a:latin typeface="+mn-ea"/>
                <a:ea typeface="+mn-ea"/>
                <a:cs typeface="+mn-ea"/>
              </a:rPr>
              <a:t>字符串</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zh-CN" altLang="en-US" sz="1100" b="1" dirty="0" smtClean="0">
                <a:solidFill>
                  <a:schemeClr val="bg1"/>
                </a:solidFill>
                <a:latin typeface="+mn-ea"/>
                <a:ea typeface="+mn-ea"/>
                <a:cs typeface="+mn-ea"/>
              </a:rPr>
              <a:t>  印字符串</a:t>
            </a:r>
            <a:r>
              <a:rPr lang="en-US" altLang="zh-CN" sz="1100" b="1" dirty="0" smtClean="0">
                <a:solidFill>
                  <a:schemeClr val="bg1"/>
                </a:solidFill>
                <a:latin typeface="+mn-ea"/>
                <a:ea typeface="+mn-ea"/>
                <a:cs typeface="+mn-ea"/>
              </a:rPr>
              <a:t>end</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en-US" altLang="zh-CN" sz="1100" b="1" dirty="0" smtClean="0">
                <a:solidFill>
                  <a:schemeClr val="bg1"/>
                </a:solidFill>
                <a:latin typeface="+mn-ea"/>
                <a:ea typeface="+mn-ea"/>
                <a:cs typeface="+mn-ea"/>
              </a:rPr>
              <a:t>  sum</a:t>
            </a:r>
            <a:r>
              <a:rPr lang="en-US" altLang="zh-CN" sz="1100" b="1" dirty="0">
                <a:solidFill>
                  <a:schemeClr val="bg1"/>
                </a:solidFill>
                <a:latin typeface="+mn-ea"/>
                <a:ea typeface="+mn-ea"/>
                <a:cs typeface="+mn-ea"/>
              </a:rPr>
              <a:t>∶=</a:t>
            </a:r>
            <a:r>
              <a:rPr lang="en-US" altLang="zh-CN" sz="1100" b="1" dirty="0" smtClean="0">
                <a:solidFill>
                  <a:schemeClr val="bg1"/>
                </a:solidFill>
                <a:latin typeface="+mn-ea"/>
                <a:ea typeface="+mn-ea"/>
                <a:cs typeface="+mn-ea"/>
              </a:rPr>
              <a:t>0</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en-US" altLang="zh-CN" sz="1100" b="1" dirty="0" smtClean="0">
                <a:solidFill>
                  <a:schemeClr val="bg1"/>
                </a:solidFill>
                <a:latin typeface="+mn-ea"/>
                <a:ea typeface="+mn-ea"/>
                <a:cs typeface="+mn-ea"/>
              </a:rPr>
              <a:t>  pointer</a:t>
            </a:r>
            <a:r>
              <a:rPr lang="en-US" altLang="zh-CN" sz="1100" b="1" dirty="0">
                <a:solidFill>
                  <a:schemeClr val="bg1"/>
                </a:solidFill>
                <a:latin typeface="+mn-ea"/>
                <a:ea typeface="+mn-ea"/>
                <a:cs typeface="+mn-ea"/>
              </a:rPr>
              <a:t>∶=</a:t>
            </a:r>
            <a:r>
              <a:rPr lang="en-US" altLang="zh-CN" sz="1100" b="1" dirty="0" smtClean="0">
                <a:solidFill>
                  <a:schemeClr val="bg1"/>
                </a:solidFill>
                <a:latin typeface="+mn-ea"/>
                <a:ea typeface="+mn-ea"/>
                <a:cs typeface="+mn-ea"/>
              </a:rPr>
              <a:t>1</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zh-CN" altLang="en-US" sz="1100" b="1" dirty="0" smtClean="0">
                <a:solidFill>
                  <a:schemeClr val="bg1"/>
                </a:solidFill>
                <a:latin typeface="+mn-ea"/>
                <a:ea typeface="+mn-ea"/>
                <a:cs typeface="+mn-ea"/>
              </a:rPr>
              <a:t>分析</a:t>
            </a:r>
            <a:r>
              <a:rPr lang="zh-CN" altLang="en-US" sz="1100" b="1" dirty="0">
                <a:solidFill>
                  <a:schemeClr val="bg1"/>
                </a:solidFill>
                <a:latin typeface="+mn-ea"/>
                <a:ea typeface="+mn-ea"/>
                <a:cs typeface="+mn-ea"/>
              </a:rPr>
              <a:t>字符串</a:t>
            </a:r>
            <a:r>
              <a:rPr lang="en-US" altLang="zh-CN" sz="1100" b="1" dirty="0" err="1">
                <a:solidFill>
                  <a:schemeClr val="bg1"/>
                </a:solidFill>
                <a:latin typeface="+mn-ea"/>
                <a:ea typeface="+mn-ea"/>
                <a:cs typeface="+mn-ea"/>
              </a:rPr>
              <a:t>iter</a:t>
            </a:r>
            <a:r>
              <a:rPr lang="en-US" altLang="zh-CN" sz="1100" b="1" dirty="0">
                <a:solidFill>
                  <a:schemeClr val="bg1"/>
                </a:solidFill>
                <a:latin typeface="+mn-ea"/>
                <a:ea typeface="+mn-ea"/>
                <a:cs typeface="+mn-ea"/>
              </a:rPr>
              <a:t> until</a:t>
            </a:r>
            <a:r>
              <a:rPr lang="zh-CN" altLang="en-US" sz="1100" b="1" dirty="0">
                <a:solidFill>
                  <a:schemeClr val="bg1"/>
                </a:solidFill>
                <a:latin typeface="+mn-ea"/>
                <a:ea typeface="+mn-ea"/>
                <a:cs typeface="+mn-ea"/>
              </a:rPr>
              <a:t>字符串</a:t>
            </a:r>
            <a:r>
              <a:rPr lang="zh-CN" altLang="en-US" sz="1100" b="1" dirty="0" smtClean="0">
                <a:solidFill>
                  <a:schemeClr val="bg1"/>
                </a:solidFill>
                <a:latin typeface="+mn-ea"/>
                <a:ea typeface="+mn-ea"/>
                <a:cs typeface="+mn-ea"/>
              </a:rPr>
              <a:t>结束</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en-US" altLang="zh-CN" sz="1100" b="1" dirty="0">
                <a:solidFill>
                  <a:schemeClr val="bg1"/>
                </a:solidFill>
                <a:latin typeface="+mn-ea"/>
                <a:ea typeface="+mn-ea"/>
                <a:cs typeface="+mn-ea"/>
              </a:rPr>
              <a:t> </a:t>
            </a:r>
            <a:r>
              <a:rPr lang="zh-CN" altLang="en-US" sz="1100" b="1" dirty="0" smtClean="0">
                <a:solidFill>
                  <a:schemeClr val="bg1"/>
                </a:solidFill>
                <a:latin typeface="+mn-ea"/>
                <a:ea typeface="+mn-ea"/>
                <a:cs typeface="+mn-ea"/>
              </a:rPr>
              <a:t>分析</a:t>
            </a:r>
            <a:r>
              <a:rPr lang="zh-CN" altLang="en-US" sz="1100" b="1" dirty="0">
                <a:solidFill>
                  <a:schemeClr val="bg1"/>
                </a:solidFill>
                <a:latin typeface="+mn-ea"/>
                <a:ea typeface="+mn-ea"/>
                <a:cs typeface="+mn-ea"/>
              </a:rPr>
              <a:t>字符</a:t>
            </a:r>
            <a:r>
              <a:rPr lang="en-US" altLang="zh-CN" sz="1100" b="1" dirty="0">
                <a:solidFill>
                  <a:schemeClr val="bg1"/>
                </a:solidFill>
                <a:latin typeface="+mn-ea"/>
                <a:ea typeface="+mn-ea"/>
                <a:cs typeface="+mn-ea"/>
              </a:rPr>
              <a:t>select</a:t>
            </a:r>
            <a:r>
              <a:rPr lang="zh-CN" altLang="en-US" sz="1100" b="1" dirty="0">
                <a:solidFill>
                  <a:schemeClr val="bg1"/>
                </a:solidFill>
                <a:latin typeface="+mn-ea"/>
                <a:ea typeface="+mn-ea"/>
                <a:cs typeface="+mn-ea"/>
              </a:rPr>
              <a:t>字符是</a:t>
            </a:r>
            <a:r>
              <a:rPr lang="zh-CN" altLang="en-US" sz="1100" b="1" dirty="0" smtClean="0">
                <a:solidFill>
                  <a:schemeClr val="bg1"/>
                </a:solidFill>
                <a:latin typeface="+mn-ea"/>
                <a:ea typeface="+mn-ea"/>
                <a:cs typeface="+mn-ea"/>
              </a:rPr>
              <a:t>空格</a:t>
            </a:r>
            <a:endParaRPr lang="en-US" altLang="zh-CN" sz="1100" b="1" dirty="0">
              <a:solidFill>
                <a:schemeClr val="bg1"/>
              </a:solidFill>
              <a:latin typeface="+mn-ea"/>
              <a:ea typeface="+mn-ea"/>
              <a:cs typeface="+mn-ea"/>
            </a:endParaRPr>
          </a:p>
          <a:p>
            <a:pPr marL="400050" lvl="1" indent="0" eaLnBrk="1" hangingPunct="1">
              <a:lnSpc>
                <a:spcPct val="180000"/>
              </a:lnSpc>
              <a:defRPr/>
            </a:pPr>
            <a:r>
              <a:rPr lang="en-US" altLang="zh-CN" sz="1100" b="1" dirty="0" smtClean="0">
                <a:solidFill>
                  <a:schemeClr val="bg1"/>
                </a:solidFill>
                <a:latin typeface="+mn-ea"/>
                <a:ea typeface="+mn-ea"/>
                <a:cs typeface="+mn-ea"/>
              </a:rPr>
              <a:t>   </a:t>
            </a:r>
            <a:r>
              <a:rPr lang="zh-CN" altLang="en-US" sz="1100" b="1" dirty="0" smtClean="0">
                <a:solidFill>
                  <a:schemeClr val="bg1"/>
                </a:solidFill>
                <a:latin typeface="+mn-ea"/>
                <a:ea typeface="+mn-ea"/>
                <a:cs typeface="+mn-ea"/>
              </a:rPr>
              <a:t>处理空格</a:t>
            </a:r>
            <a:r>
              <a:rPr lang="en-US" altLang="zh-CN" sz="1100" b="1" dirty="0" err="1" smtClean="0">
                <a:solidFill>
                  <a:schemeClr val="bg1"/>
                </a:solidFill>
                <a:latin typeface="+mn-ea"/>
                <a:ea typeface="+mn-ea"/>
                <a:cs typeface="+mn-ea"/>
              </a:rPr>
              <a:t>Seq</a:t>
            </a:r>
            <a:endParaRPr lang="en-US" altLang="zh-CN" sz="1100" b="1" dirty="0" smtClean="0">
              <a:solidFill>
                <a:schemeClr val="bg1"/>
              </a:solidFill>
              <a:latin typeface="+mn-ea"/>
              <a:ea typeface="+mn-ea"/>
              <a:cs typeface="+mn-ea"/>
            </a:endParaRPr>
          </a:p>
          <a:p>
            <a:pPr marL="800100" lvl="2" indent="0" eaLnBrk="1" hangingPunct="1">
              <a:lnSpc>
                <a:spcPct val="180000"/>
              </a:lnSpc>
              <a:defRPr/>
            </a:pPr>
            <a:r>
              <a:rPr lang="en-US" altLang="zh-CN" sz="1100" b="1" dirty="0">
                <a:solidFill>
                  <a:schemeClr val="bg1"/>
                </a:solidFill>
                <a:latin typeface="+mn-ea"/>
                <a:ea typeface="+mn-ea"/>
                <a:cs typeface="+mn-ea"/>
              </a:rPr>
              <a:t>sum∶=sum+1</a:t>
            </a:r>
            <a:endParaRPr lang="en-US" altLang="zh-CN" sz="1100" b="1" dirty="0">
              <a:solidFill>
                <a:schemeClr val="bg1"/>
              </a:solidFill>
              <a:latin typeface="+mn-ea"/>
              <a:ea typeface="+mn-ea"/>
              <a:cs typeface="+mn-ea"/>
            </a:endParaRPr>
          </a:p>
          <a:p>
            <a:pPr marL="800100" lvl="2" indent="0" eaLnBrk="1" hangingPunct="1">
              <a:lnSpc>
                <a:spcPct val="180000"/>
              </a:lnSpc>
              <a:defRPr/>
            </a:pPr>
            <a:r>
              <a:rPr lang="en-US" altLang="zh-CN" sz="1100" b="1" dirty="0">
                <a:solidFill>
                  <a:schemeClr val="bg1"/>
                </a:solidFill>
                <a:latin typeface="+mn-ea"/>
                <a:ea typeface="+mn-ea"/>
                <a:cs typeface="+mn-ea"/>
              </a:rPr>
              <a:t>pointer∶=</a:t>
            </a:r>
            <a:r>
              <a:rPr lang="en-US" altLang="zh-CN" sz="1100" b="1" dirty="0" smtClean="0">
                <a:solidFill>
                  <a:schemeClr val="bg1"/>
                </a:solidFill>
                <a:latin typeface="+mn-ea"/>
                <a:ea typeface="+mn-ea"/>
                <a:cs typeface="+mn-ea"/>
              </a:rPr>
              <a:t>pointer+1</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zh-CN" altLang="en-US" sz="1100" b="1" dirty="0" smtClean="0">
                <a:solidFill>
                  <a:schemeClr val="bg1"/>
                </a:solidFill>
                <a:latin typeface="+mn-ea"/>
                <a:ea typeface="+mn-ea"/>
                <a:cs typeface="+mn-ea"/>
              </a:rPr>
              <a:t>  处理空格</a:t>
            </a:r>
            <a:r>
              <a:rPr lang="en-US" altLang="zh-CN" sz="1100" b="1" dirty="0" smtClean="0">
                <a:solidFill>
                  <a:schemeClr val="bg1"/>
                </a:solidFill>
                <a:latin typeface="+mn-ea"/>
                <a:ea typeface="+mn-ea"/>
                <a:cs typeface="+mn-ea"/>
              </a:rPr>
              <a:t>end</a:t>
            </a:r>
            <a:endParaRPr lang="en-US" altLang="zh-CN" sz="1100" b="1" dirty="0" smtClean="0">
              <a:solidFill>
                <a:schemeClr val="bg1"/>
              </a:solidFill>
              <a:latin typeface="+mn-ea"/>
              <a:ea typeface="+mn-ea"/>
              <a:cs typeface="+mn-ea"/>
            </a:endParaRPr>
          </a:p>
          <a:p>
            <a:pPr marL="400050" lvl="1" indent="0" eaLnBrk="1" hangingPunct="1">
              <a:lnSpc>
                <a:spcPct val="180000"/>
              </a:lnSpc>
              <a:defRPr/>
            </a:pPr>
            <a:r>
              <a:rPr lang="zh-CN" altLang="en-US" sz="1100" b="1" dirty="0">
                <a:solidFill>
                  <a:schemeClr val="bg1"/>
                </a:solidFill>
                <a:latin typeface="+mn-ea"/>
                <a:ea typeface="+mn-ea"/>
                <a:cs typeface="+mn-ea"/>
              </a:rPr>
              <a:t>分析字符</a:t>
            </a:r>
            <a:r>
              <a:rPr lang="en-US" altLang="zh-CN" sz="1100" b="1" dirty="0">
                <a:solidFill>
                  <a:schemeClr val="bg1"/>
                </a:solidFill>
                <a:latin typeface="+mn-ea"/>
                <a:ea typeface="+mn-ea"/>
                <a:cs typeface="+mn-ea"/>
              </a:rPr>
              <a:t>or</a:t>
            </a:r>
            <a:r>
              <a:rPr lang="zh-CN" altLang="en-US" sz="1100" b="1" dirty="0">
                <a:solidFill>
                  <a:schemeClr val="bg1"/>
                </a:solidFill>
                <a:latin typeface="+mn-ea"/>
                <a:ea typeface="+mn-ea"/>
                <a:cs typeface="+mn-ea"/>
              </a:rPr>
              <a:t>字符不是空格</a:t>
            </a:r>
            <a:endParaRPr lang="en-US" altLang="zh-CN" sz="1100" b="1" dirty="0">
              <a:solidFill>
                <a:schemeClr val="bg1"/>
              </a:solidFill>
              <a:latin typeface="+mn-ea"/>
              <a:ea typeface="+mn-ea"/>
              <a:cs typeface="+mn-ea"/>
            </a:endParaRPr>
          </a:p>
          <a:p>
            <a:pPr marL="400050" lvl="1" indent="0" eaLnBrk="1" hangingPunct="1">
              <a:lnSpc>
                <a:spcPct val="180000"/>
              </a:lnSpc>
              <a:defRPr/>
            </a:pPr>
            <a:r>
              <a:rPr lang="zh-CN" altLang="en-US" sz="1100" b="1" dirty="0">
                <a:solidFill>
                  <a:schemeClr val="bg1"/>
                </a:solidFill>
                <a:latin typeface="+mn-ea"/>
                <a:ea typeface="+mn-ea"/>
                <a:cs typeface="+mn-ea"/>
              </a:rPr>
              <a:t>    处理非空格</a:t>
            </a:r>
            <a:r>
              <a:rPr lang="en-US" altLang="zh-CN" sz="1100" b="1" dirty="0" err="1" smtClean="0">
                <a:solidFill>
                  <a:schemeClr val="bg1"/>
                </a:solidFill>
                <a:latin typeface="+mn-ea"/>
                <a:ea typeface="+mn-ea"/>
                <a:cs typeface="+mn-ea"/>
              </a:rPr>
              <a:t>seq</a:t>
            </a:r>
            <a:endParaRPr lang="en-US" altLang="zh-CN" sz="1100" b="1" dirty="0" err="1" smtClean="0">
              <a:solidFill>
                <a:schemeClr val="bg1"/>
              </a:solidFill>
              <a:latin typeface="+mn-ea"/>
              <a:ea typeface="+mn-ea"/>
              <a:cs typeface="+mn-ea"/>
            </a:endParaRPr>
          </a:p>
        </p:txBody>
      </p:sp>
      <p:sp>
        <p:nvSpPr>
          <p:cNvPr id="4" name="TextBox 7"/>
          <p:cNvSpPr txBox="1">
            <a:spLocks noChangeArrowheads="1"/>
          </p:cNvSpPr>
          <p:nvPr/>
        </p:nvSpPr>
        <p:spPr bwMode="auto">
          <a:xfrm>
            <a:off x="9003665" y="962025"/>
            <a:ext cx="3069590" cy="560832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00050" lvl="1" indent="0" eaLnBrk="1" hangingPunct="1">
              <a:lnSpc>
                <a:spcPct val="190000"/>
              </a:lnSpc>
              <a:defRPr/>
            </a:pPr>
            <a:r>
              <a:rPr lang="en-US" altLang="zh-CN" sz="1100" b="1" dirty="0" smtClean="0">
                <a:solidFill>
                  <a:schemeClr val="bg1"/>
                </a:solidFill>
                <a:latin typeface="+mj-ea"/>
                <a:ea typeface="+mj-ea"/>
                <a:cs typeface="+mj-ea"/>
              </a:rPr>
              <a:t>	pointer</a:t>
            </a:r>
            <a:r>
              <a:rPr lang="en-US" altLang="zh-CN" sz="1100" b="1" dirty="0">
                <a:solidFill>
                  <a:schemeClr val="bg1"/>
                </a:solidFill>
                <a:latin typeface="+mj-ea"/>
                <a:ea typeface="+mj-ea"/>
                <a:cs typeface="+mj-ea"/>
              </a:rPr>
              <a:t>∶=</a:t>
            </a:r>
            <a:r>
              <a:rPr lang="en-US" altLang="zh-CN" sz="1100" b="1" dirty="0" smtClean="0">
                <a:solidFill>
                  <a:schemeClr val="bg1"/>
                </a:solidFill>
                <a:latin typeface="+mj-ea"/>
                <a:ea typeface="+mj-ea"/>
                <a:cs typeface="+mj-ea"/>
              </a:rPr>
              <a:t>pointer+1</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zh-CN" altLang="en-US" sz="1100" b="1" dirty="0" smtClean="0">
                <a:solidFill>
                  <a:schemeClr val="bg1"/>
                </a:solidFill>
                <a:latin typeface="+mj-ea"/>
                <a:ea typeface="+mj-ea"/>
                <a:cs typeface="+mj-ea"/>
              </a:rPr>
              <a:t>   处理</a:t>
            </a:r>
            <a:r>
              <a:rPr lang="zh-CN" altLang="en-US" sz="1100" b="1" dirty="0">
                <a:solidFill>
                  <a:schemeClr val="bg1"/>
                </a:solidFill>
                <a:latin typeface="+mj-ea"/>
                <a:ea typeface="+mj-ea"/>
                <a:cs typeface="+mj-ea"/>
              </a:rPr>
              <a:t>非空格</a:t>
            </a:r>
            <a:r>
              <a:rPr lang="en-US" altLang="zh-CN" sz="1100" b="1" dirty="0" smtClean="0">
                <a:solidFill>
                  <a:schemeClr val="bg1"/>
                </a:solidFill>
                <a:latin typeface="+mj-ea"/>
                <a:ea typeface="+mj-ea"/>
                <a:cs typeface="+mj-ea"/>
              </a:rPr>
              <a:t>end</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zh-CN" altLang="en-US" sz="1100" b="1" dirty="0" smtClean="0">
                <a:solidFill>
                  <a:schemeClr val="bg1"/>
                </a:solidFill>
                <a:latin typeface="+mj-ea"/>
                <a:ea typeface="+mj-ea"/>
                <a:cs typeface="+mj-ea"/>
              </a:rPr>
              <a:t>  分析</a:t>
            </a:r>
            <a:r>
              <a:rPr lang="zh-CN" altLang="en-US" sz="1100" b="1" dirty="0">
                <a:solidFill>
                  <a:schemeClr val="bg1"/>
                </a:solidFill>
                <a:latin typeface="+mj-ea"/>
                <a:ea typeface="+mj-ea"/>
                <a:cs typeface="+mj-ea"/>
              </a:rPr>
              <a:t>字符</a:t>
            </a:r>
            <a:r>
              <a:rPr lang="en-US" altLang="zh-CN" sz="1100" b="1" dirty="0" smtClean="0">
                <a:solidFill>
                  <a:schemeClr val="bg1"/>
                </a:solidFill>
                <a:latin typeface="+mj-ea"/>
                <a:ea typeface="+mj-ea"/>
                <a:cs typeface="+mj-ea"/>
              </a:rPr>
              <a:t>end</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zh-CN" altLang="en-US" sz="1100" b="1" dirty="0" smtClean="0">
                <a:solidFill>
                  <a:schemeClr val="bg1"/>
                </a:solidFill>
                <a:latin typeface="+mj-ea"/>
                <a:ea typeface="+mj-ea"/>
                <a:cs typeface="+mj-ea"/>
              </a:rPr>
              <a:t>分析</a:t>
            </a:r>
            <a:r>
              <a:rPr lang="zh-CN" altLang="en-US" sz="1100" b="1" dirty="0">
                <a:solidFill>
                  <a:schemeClr val="bg1"/>
                </a:solidFill>
                <a:latin typeface="+mj-ea"/>
                <a:ea typeface="+mj-ea"/>
                <a:cs typeface="+mj-ea"/>
              </a:rPr>
              <a:t>字符串</a:t>
            </a:r>
            <a:r>
              <a:rPr lang="en-US" altLang="zh-CN" sz="1100" b="1" dirty="0" smtClean="0">
                <a:solidFill>
                  <a:schemeClr val="bg1"/>
                </a:solidFill>
                <a:latin typeface="+mj-ea"/>
                <a:ea typeface="+mj-ea"/>
                <a:cs typeface="+mj-ea"/>
              </a:rPr>
              <a:t>end</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en-US" altLang="zh-CN" sz="1100" b="1" dirty="0" smtClean="0">
                <a:solidFill>
                  <a:schemeClr val="bg1"/>
                </a:solidFill>
                <a:latin typeface="+mj-ea"/>
                <a:ea typeface="+mj-ea"/>
                <a:cs typeface="+mj-ea"/>
              </a:rPr>
              <a:t>	</a:t>
            </a:r>
            <a:r>
              <a:rPr lang="zh-CN" altLang="en-US" sz="1100" b="1" dirty="0" smtClean="0">
                <a:solidFill>
                  <a:schemeClr val="bg1"/>
                </a:solidFill>
                <a:latin typeface="+mj-ea"/>
                <a:ea typeface="+mj-ea"/>
                <a:cs typeface="+mj-ea"/>
              </a:rPr>
              <a:t>印</a:t>
            </a:r>
            <a:r>
              <a:rPr lang="zh-CN" altLang="en-US" sz="1100" b="1" dirty="0">
                <a:solidFill>
                  <a:schemeClr val="bg1"/>
                </a:solidFill>
                <a:latin typeface="+mj-ea"/>
                <a:ea typeface="+mj-ea"/>
                <a:cs typeface="+mj-ea"/>
              </a:rPr>
              <a:t>空格数</a:t>
            </a:r>
            <a:r>
              <a:rPr lang="en-US" altLang="zh-CN" sz="1100" b="1" dirty="0" err="1" smtClean="0">
                <a:solidFill>
                  <a:schemeClr val="bg1"/>
                </a:solidFill>
                <a:latin typeface="+mj-ea"/>
                <a:ea typeface="+mj-ea"/>
                <a:cs typeface="+mj-ea"/>
              </a:rPr>
              <a:t>seq</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en-US" altLang="zh-CN" sz="1100" b="1" dirty="0" smtClean="0">
                <a:solidFill>
                  <a:schemeClr val="bg1"/>
                </a:solidFill>
                <a:latin typeface="+mj-ea"/>
                <a:ea typeface="+mj-ea"/>
                <a:cs typeface="+mj-ea"/>
              </a:rPr>
              <a:t>	     </a:t>
            </a:r>
            <a:r>
              <a:rPr lang="zh-CN" altLang="en-US" sz="1100" b="1" dirty="0" smtClean="0">
                <a:solidFill>
                  <a:schemeClr val="bg1"/>
                </a:solidFill>
                <a:latin typeface="+mj-ea"/>
                <a:ea typeface="+mj-ea"/>
                <a:cs typeface="+mj-ea"/>
              </a:rPr>
              <a:t>印</a:t>
            </a:r>
            <a:r>
              <a:rPr lang="zh-CN" altLang="en-US" sz="1100" b="1" dirty="0">
                <a:solidFill>
                  <a:schemeClr val="bg1"/>
                </a:solidFill>
                <a:latin typeface="+mj-ea"/>
                <a:ea typeface="+mj-ea"/>
                <a:cs typeface="+mj-ea"/>
              </a:rPr>
              <a:t>出空格</a:t>
            </a:r>
            <a:r>
              <a:rPr lang="zh-CN" altLang="en-US" sz="1100" b="1" dirty="0" smtClean="0">
                <a:solidFill>
                  <a:schemeClr val="bg1"/>
                </a:solidFill>
                <a:latin typeface="+mj-ea"/>
                <a:ea typeface="+mj-ea"/>
                <a:cs typeface="+mj-ea"/>
              </a:rPr>
              <a:t>数目</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en-US" altLang="zh-CN" sz="1100" b="1" dirty="0" smtClean="0">
                <a:solidFill>
                  <a:schemeClr val="bg1"/>
                </a:solidFill>
                <a:latin typeface="+mj-ea"/>
                <a:ea typeface="+mj-ea"/>
                <a:cs typeface="+mj-ea"/>
              </a:rPr>
              <a:t>	</a:t>
            </a:r>
            <a:r>
              <a:rPr lang="zh-CN" altLang="en-US" sz="1100" b="1" dirty="0" smtClean="0">
                <a:solidFill>
                  <a:schemeClr val="bg1"/>
                </a:solidFill>
                <a:latin typeface="+mj-ea"/>
                <a:ea typeface="+mj-ea"/>
                <a:cs typeface="+mj-ea"/>
              </a:rPr>
              <a:t>印</a:t>
            </a:r>
            <a:r>
              <a:rPr lang="zh-CN" altLang="en-US" sz="1100" b="1" dirty="0">
                <a:solidFill>
                  <a:schemeClr val="bg1"/>
                </a:solidFill>
                <a:latin typeface="+mj-ea"/>
                <a:ea typeface="+mj-ea"/>
                <a:cs typeface="+mj-ea"/>
              </a:rPr>
              <a:t>空格数</a:t>
            </a:r>
            <a:r>
              <a:rPr lang="en-US" altLang="zh-CN" sz="1100" b="1" dirty="0" smtClean="0">
                <a:solidFill>
                  <a:schemeClr val="bg1"/>
                </a:solidFill>
                <a:latin typeface="+mj-ea"/>
                <a:ea typeface="+mj-ea"/>
                <a:cs typeface="+mj-ea"/>
              </a:rPr>
              <a:t>end</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en-US" altLang="zh-CN" sz="1100" b="1" dirty="0" smtClean="0">
                <a:solidFill>
                  <a:schemeClr val="bg1"/>
                </a:solidFill>
                <a:latin typeface="+mj-ea"/>
                <a:ea typeface="+mj-ea"/>
                <a:cs typeface="+mj-ea"/>
              </a:rPr>
              <a:t>	</a:t>
            </a:r>
            <a:r>
              <a:rPr lang="en-US" altLang="zh-CN" sz="1100" b="1" dirty="0" err="1" smtClean="0">
                <a:solidFill>
                  <a:schemeClr val="bg1"/>
                </a:solidFill>
                <a:latin typeface="+mj-ea"/>
                <a:ea typeface="+mj-ea"/>
                <a:cs typeface="+mj-ea"/>
              </a:rPr>
              <a:t>totalsum</a:t>
            </a:r>
            <a:r>
              <a:rPr lang="en-US" altLang="zh-CN" sz="1100" b="1" dirty="0">
                <a:solidFill>
                  <a:schemeClr val="bg1"/>
                </a:solidFill>
                <a:latin typeface="+mj-ea"/>
                <a:ea typeface="+mj-ea"/>
                <a:cs typeface="+mj-ea"/>
              </a:rPr>
              <a:t>∶=</a:t>
            </a:r>
            <a:r>
              <a:rPr lang="en-US" altLang="zh-CN" sz="1100" b="1" dirty="0" err="1" smtClean="0">
                <a:solidFill>
                  <a:schemeClr val="bg1"/>
                </a:solidFill>
                <a:latin typeface="+mj-ea"/>
                <a:ea typeface="+mj-ea"/>
                <a:cs typeface="+mj-ea"/>
              </a:rPr>
              <a:t>totalsum+sum</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zh-CN" altLang="en-US" sz="1100" b="1" dirty="0" smtClean="0">
                <a:solidFill>
                  <a:schemeClr val="bg1"/>
                </a:solidFill>
                <a:latin typeface="+mj-ea"/>
                <a:ea typeface="+mj-ea"/>
                <a:cs typeface="+mj-ea"/>
              </a:rPr>
              <a:t>    读入字符串</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zh-CN" altLang="en-US" sz="1100" b="1" dirty="0" smtClean="0">
                <a:solidFill>
                  <a:schemeClr val="bg1"/>
                </a:solidFill>
                <a:latin typeface="+mj-ea"/>
                <a:ea typeface="+mj-ea"/>
                <a:cs typeface="+mj-ea"/>
              </a:rPr>
              <a:t>  处理</a:t>
            </a:r>
            <a:r>
              <a:rPr lang="zh-CN" altLang="en-US" sz="1100" b="1" dirty="0">
                <a:solidFill>
                  <a:schemeClr val="bg1"/>
                </a:solidFill>
                <a:latin typeface="+mj-ea"/>
                <a:ea typeface="+mj-ea"/>
                <a:cs typeface="+mj-ea"/>
              </a:rPr>
              <a:t>字符串</a:t>
            </a:r>
            <a:r>
              <a:rPr lang="en-US" altLang="zh-CN" sz="1100" b="1" dirty="0" smtClean="0">
                <a:solidFill>
                  <a:schemeClr val="bg1"/>
                </a:solidFill>
                <a:latin typeface="+mj-ea"/>
                <a:ea typeface="+mj-ea"/>
                <a:cs typeface="+mj-ea"/>
              </a:rPr>
              <a:t>end</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zh-CN" altLang="en-US" sz="1100" b="1" dirty="0" smtClean="0">
                <a:solidFill>
                  <a:schemeClr val="bg1"/>
                </a:solidFill>
                <a:latin typeface="+mj-ea"/>
                <a:ea typeface="+mj-ea"/>
                <a:cs typeface="+mj-ea"/>
              </a:rPr>
              <a:t>程序</a:t>
            </a:r>
            <a:r>
              <a:rPr lang="zh-CN" altLang="en-US" sz="1100" b="1" dirty="0">
                <a:solidFill>
                  <a:schemeClr val="bg1"/>
                </a:solidFill>
                <a:latin typeface="+mj-ea"/>
                <a:ea typeface="+mj-ea"/>
                <a:cs typeface="+mj-ea"/>
              </a:rPr>
              <a:t>体</a:t>
            </a:r>
            <a:r>
              <a:rPr lang="en-US" altLang="zh-CN" sz="1100" b="1" dirty="0" smtClean="0">
                <a:solidFill>
                  <a:schemeClr val="bg1"/>
                </a:solidFill>
                <a:latin typeface="+mj-ea"/>
                <a:ea typeface="+mj-ea"/>
                <a:cs typeface="+mj-ea"/>
              </a:rPr>
              <a:t>end</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zh-CN" altLang="en-US" sz="1100" b="1" dirty="0" smtClean="0">
                <a:solidFill>
                  <a:schemeClr val="bg1"/>
                </a:solidFill>
                <a:latin typeface="+mj-ea"/>
                <a:ea typeface="+mj-ea"/>
                <a:cs typeface="+mj-ea"/>
              </a:rPr>
              <a:t>印</a:t>
            </a:r>
            <a:r>
              <a:rPr lang="zh-CN" altLang="en-US" sz="1100" b="1" dirty="0">
                <a:solidFill>
                  <a:schemeClr val="bg1"/>
                </a:solidFill>
                <a:latin typeface="+mj-ea"/>
                <a:ea typeface="+mj-ea"/>
                <a:cs typeface="+mj-ea"/>
              </a:rPr>
              <a:t>总数</a:t>
            </a:r>
            <a:r>
              <a:rPr lang="en-US" altLang="zh-CN" sz="1100" b="1" dirty="0" err="1" smtClean="0">
                <a:solidFill>
                  <a:schemeClr val="bg1"/>
                </a:solidFill>
                <a:latin typeface="+mj-ea"/>
                <a:ea typeface="+mj-ea"/>
                <a:cs typeface="+mj-ea"/>
              </a:rPr>
              <a:t>seq</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zh-CN" altLang="en-US" sz="1100" b="1" dirty="0" smtClean="0">
                <a:solidFill>
                  <a:schemeClr val="bg1"/>
                </a:solidFill>
                <a:latin typeface="+mj-ea"/>
                <a:ea typeface="+mj-ea"/>
                <a:cs typeface="+mj-ea"/>
              </a:rPr>
              <a:t>     印</a:t>
            </a:r>
            <a:r>
              <a:rPr lang="zh-CN" altLang="en-US" sz="1100" b="1" dirty="0">
                <a:solidFill>
                  <a:schemeClr val="bg1"/>
                </a:solidFill>
                <a:latin typeface="+mj-ea"/>
                <a:ea typeface="+mj-ea"/>
                <a:cs typeface="+mj-ea"/>
              </a:rPr>
              <a:t>出空格</a:t>
            </a:r>
            <a:r>
              <a:rPr lang="zh-CN" altLang="en-US" sz="1100" b="1" dirty="0" smtClean="0">
                <a:solidFill>
                  <a:schemeClr val="bg1"/>
                </a:solidFill>
                <a:latin typeface="+mj-ea"/>
                <a:ea typeface="+mj-ea"/>
                <a:cs typeface="+mj-ea"/>
              </a:rPr>
              <a:t>总数</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zh-CN" altLang="en-US" sz="1100" b="1" dirty="0" smtClean="0">
                <a:solidFill>
                  <a:schemeClr val="bg1"/>
                </a:solidFill>
                <a:latin typeface="+mj-ea"/>
                <a:ea typeface="+mj-ea"/>
                <a:cs typeface="+mj-ea"/>
              </a:rPr>
              <a:t>印</a:t>
            </a:r>
            <a:r>
              <a:rPr lang="zh-CN" altLang="en-US" sz="1100" b="1" dirty="0">
                <a:solidFill>
                  <a:schemeClr val="bg1"/>
                </a:solidFill>
                <a:latin typeface="+mj-ea"/>
                <a:ea typeface="+mj-ea"/>
                <a:cs typeface="+mj-ea"/>
              </a:rPr>
              <a:t>总数</a:t>
            </a:r>
            <a:r>
              <a:rPr lang="en-US" altLang="zh-CN" sz="1100" b="1" dirty="0" smtClean="0">
                <a:solidFill>
                  <a:schemeClr val="bg1"/>
                </a:solidFill>
                <a:latin typeface="+mj-ea"/>
                <a:ea typeface="+mj-ea"/>
                <a:cs typeface="+mj-ea"/>
              </a:rPr>
              <a:t>en.d</a:t>
            </a:r>
            <a:endParaRPr lang="en-US" altLang="zh-CN" sz="1100" b="1" dirty="0" smtClean="0">
              <a:solidFill>
                <a:schemeClr val="bg1"/>
              </a:solidFill>
              <a:latin typeface="+mj-ea"/>
              <a:ea typeface="+mj-ea"/>
              <a:cs typeface="+mj-ea"/>
            </a:endParaRPr>
          </a:p>
          <a:p>
            <a:pPr marL="400050" lvl="1" indent="0" eaLnBrk="1" hangingPunct="1">
              <a:lnSpc>
                <a:spcPct val="190000"/>
              </a:lnSpc>
              <a:defRPr/>
            </a:pPr>
            <a:r>
              <a:rPr lang="zh-CN" altLang="en-US" sz="1100" b="1" dirty="0" smtClean="0">
                <a:solidFill>
                  <a:schemeClr val="bg1"/>
                </a:solidFill>
                <a:latin typeface="+mj-ea"/>
                <a:ea typeface="+mj-ea"/>
                <a:cs typeface="+mj-ea"/>
              </a:rPr>
              <a:t>关闭文件</a:t>
            </a:r>
            <a:endParaRPr lang="en-US" altLang="zh-CN" sz="1100" b="1" dirty="0" smtClean="0">
              <a:solidFill>
                <a:schemeClr val="bg1"/>
              </a:solidFill>
              <a:latin typeface="+mj-ea"/>
              <a:ea typeface="+mj-ea"/>
              <a:cs typeface="+mj-ea"/>
            </a:endParaRPr>
          </a:p>
          <a:p>
            <a:pPr marL="0" indent="0" eaLnBrk="1" hangingPunct="1">
              <a:lnSpc>
                <a:spcPct val="190000"/>
              </a:lnSpc>
              <a:defRPr/>
            </a:pPr>
            <a:r>
              <a:rPr lang="en-US" altLang="zh-CN" sz="1100" b="1" dirty="0">
                <a:solidFill>
                  <a:schemeClr val="bg1"/>
                </a:solidFill>
                <a:latin typeface="+mj-ea"/>
                <a:ea typeface="+mj-ea"/>
                <a:cs typeface="+mj-ea"/>
              </a:rPr>
              <a:t> </a:t>
            </a:r>
            <a:r>
              <a:rPr lang="en-US" altLang="zh-CN" sz="1100" b="1" dirty="0" smtClean="0">
                <a:solidFill>
                  <a:schemeClr val="bg1"/>
                </a:solidFill>
                <a:latin typeface="+mj-ea"/>
                <a:ea typeface="+mj-ea"/>
                <a:cs typeface="+mj-ea"/>
              </a:rPr>
              <a:t>      </a:t>
            </a:r>
            <a:r>
              <a:rPr lang="zh-CN" altLang="en-US" sz="1100" b="1" dirty="0" smtClean="0">
                <a:solidFill>
                  <a:schemeClr val="bg1"/>
                </a:solidFill>
                <a:latin typeface="+mj-ea"/>
                <a:ea typeface="+mj-ea"/>
                <a:cs typeface="+mj-ea"/>
              </a:rPr>
              <a:t>停止</a:t>
            </a:r>
            <a:endParaRPr lang="en-US" altLang="zh-CN" sz="1100" b="1" dirty="0" smtClean="0">
              <a:solidFill>
                <a:schemeClr val="bg1"/>
              </a:solidFill>
              <a:latin typeface="+mj-ea"/>
              <a:ea typeface="+mj-ea"/>
              <a:cs typeface="+mj-ea"/>
            </a:endParaRPr>
          </a:p>
          <a:p>
            <a:pPr marL="0" indent="0" eaLnBrk="1" hangingPunct="1">
              <a:lnSpc>
                <a:spcPct val="190000"/>
              </a:lnSpc>
              <a:defRPr/>
            </a:pPr>
            <a:r>
              <a:rPr lang="zh-CN" altLang="en-US" sz="1100" b="1" dirty="0" smtClean="0">
                <a:solidFill>
                  <a:schemeClr val="bg1"/>
                </a:solidFill>
                <a:latin typeface="+mj-ea"/>
                <a:ea typeface="+mj-ea"/>
                <a:cs typeface="+mj-ea"/>
              </a:rPr>
              <a:t>统计</a:t>
            </a:r>
            <a:r>
              <a:rPr lang="zh-CN" altLang="en-US" sz="1100" b="1" dirty="0">
                <a:solidFill>
                  <a:schemeClr val="bg1"/>
                </a:solidFill>
                <a:latin typeface="+mj-ea"/>
                <a:ea typeface="+mj-ea"/>
                <a:cs typeface="+mj-ea"/>
              </a:rPr>
              <a:t>空格</a:t>
            </a:r>
            <a:r>
              <a:rPr lang="en-US" altLang="zh-CN" sz="1100" b="1" dirty="0">
                <a:solidFill>
                  <a:schemeClr val="bg1"/>
                </a:solidFill>
                <a:latin typeface="+mj-ea"/>
                <a:ea typeface="+mj-ea"/>
                <a:cs typeface="+mj-ea"/>
              </a:rPr>
              <a:t>end</a:t>
            </a:r>
            <a:endParaRPr lang="en-US" altLang="zh-CN" sz="1100" b="1" dirty="0">
              <a:solidFill>
                <a:schemeClr val="bg1"/>
              </a:solidFill>
              <a:latin typeface="+mj-ea"/>
              <a:ea typeface="+mj-ea"/>
              <a:cs typeface="+mj-ea"/>
            </a:endParaRPr>
          </a:p>
        </p:txBody>
      </p:sp>
      <p:sp>
        <p:nvSpPr>
          <p:cNvPr id="9" name="文本框 8"/>
          <p:cNvSpPr txBox="1"/>
          <p:nvPr>
            <p:custDataLst>
              <p:tags r:id="rId3"/>
            </p:custDataLst>
          </p:nvPr>
        </p:nvSpPr>
        <p:spPr>
          <a:xfrm>
            <a:off x="0" y="0"/>
            <a:ext cx="12192000" cy="349885"/>
          </a:xfrm>
          <a:prstGeom prst="rect">
            <a:avLst/>
          </a:prstGeom>
          <a:solidFill>
            <a:schemeClr val="accent1"/>
          </a:solidFill>
        </p:spPr>
        <p:txBody>
          <a:bodyPr wrap="square" rtlCol="0">
            <a:noAutofit/>
          </a:bodyPr>
          <a:p>
            <a:r>
              <a:rPr lang="en-US" altLang="zh-CN" sz="1400" b="1">
                <a:solidFill>
                  <a:schemeClr val="bg1"/>
                </a:solidFill>
              </a:rPr>
              <a:t>Jackson</a:t>
            </a:r>
            <a:r>
              <a:rPr lang="zh-CN" altLang="en-US" sz="1400" b="1">
                <a:solidFill>
                  <a:schemeClr val="bg1"/>
                </a:solidFill>
              </a:rPr>
              <a:t>方法</a:t>
            </a:r>
            <a:endParaRPr lang="zh-CN" altLang="en-US" sz="1400" b="1">
              <a:solidFill>
                <a:schemeClr val="bg1"/>
              </a:solidFill>
            </a:endParaRPr>
          </a:p>
        </p:txBody>
      </p:sp>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531765" y="423055"/>
            <a:ext cx="3960000" cy="882000"/>
          </a:xfrm>
        </p:spPr>
        <p:txBody>
          <a:bodyPr>
            <a:normAutofit/>
          </a:bodyPr>
          <a:lstStyle/>
          <a:p>
            <a:pPr algn="ctr"/>
            <a:r>
              <a:rPr lang="zh-CN" altLang="en-US" sz="2220" spc="150">
                <a:solidFill>
                  <a:schemeClr val="bg1"/>
                </a:solidFill>
                <a:cs typeface="微软雅黑" panose="020B0503020204020204" charset="-122"/>
                <a:sym typeface="+mn-lt"/>
              </a:rPr>
              <a:t>程序复杂程度的定量度量</a:t>
            </a:r>
            <a:endParaRPr lang="zh-CN" altLang="en-US" sz="2220" spc="150">
              <a:solidFill>
                <a:schemeClr val="bg1"/>
              </a:solidFill>
              <a:cs typeface="微软雅黑" panose="020B0503020204020204" charset="-122"/>
              <a:sym typeface="+mn-lt"/>
            </a:endParaRPr>
          </a:p>
        </p:txBody>
      </p:sp>
      <p:sp>
        <p:nvSpPr>
          <p:cNvPr id="6" name="文本占位符 1"/>
          <p:cNvSpPr>
            <a:spLocks noGrp="1"/>
          </p:cNvSpPr>
          <p:nvPr>
            <p:custDataLst>
              <p:tags r:id="rId2"/>
            </p:custDataLst>
          </p:nvPr>
        </p:nvSpPr>
        <p:spPr>
          <a:xfrm>
            <a:off x="229870" y="1259205"/>
            <a:ext cx="4519295" cy="260921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eaLnBrk="1" hangingPunct="1">
              <a:lnSpc>
                <a:spcPct val="170000"/>
              </a:lnSpc>
              <a:buClrTx/>
              <a:buSzTx/>
              <a:buFont typeface="+mj-lt"/>
              <a:defRPr/>
            </a:pPr>
            <a:r>
              <a:rPr lang="zh-CN" altLang="en-US" sz="1400" b="1" dirty="0">
                <a:solidFill>
                  <a:srgbClr val="98F5F2"/>
                </a:solidFill>
                <a:latin typeface="+mn-ea"/>
                <a:ea typeface="+mn-ea"/>
                <a:cs typeface="+mn-ea"/>
                <a:sym typeface="+mn-ea"/>
              </a:rPr>
              <a:t>定量度量程序复杂程度的方法很有价值：</a:t>
            </a:r>
            <a:endParaRPr lang="zh-CN" altLang="en-US" sz="1400" b="1" dirty="0">
              <a:solidFill>
                <a:srgbClr val="98F5F2"/>
              </a:solidFill>
              <a:latin typeface="+mn-ea"/>
              <a:ea typeface="+mn-ea"/>
              <a:cs typeface="+mn-ea"/>
            </a:endParaRPr>
          </a:p>
          <a:p>
            <a:pPr eaLnBrk="1" hangingPunct="1">
              <a:lnSpc>
                <a:spcPct val="170000"/>
              </a:lnSpc>
              <a:buFont typeface="Arial" panose="020B0604020202020204" pitchFamily="34" charset="0"/>
              <a:defRPr/>
            </a:pPr>
            <a:r>
              <a:rPr lang="en-US" altLang="zh-CN" sz="1400" b="1" dirty="0" smtClean="0">
                <a:latin typeface="+mn-ea"/>
                <a:ea typeface="+mn-ea"/>
                <a:cs typeface="+mn-ea"/>
                <a:sym typeface="+mn-ea"/>
              </a:rPr>
              <a:t>(1) </a:t>
            </a:r>
            <a:r>
              <a:rPr lang="zh-CN" altLang="en-US" sz="1400" b="1" dirty="0" smtClean="0">
                <a:latin typeface="+mn-ea"/>
                <a:ea typeface="+mn-ea"/>
                <a:cs typeface="+mn-ea"/>
                <a:sym typeface="+mn-ea"/>
              </a:rPr>
              <a:t>把</a:t>
            </a:r>
            <a:r>
              <a:rPr lang="zh-CN" altLang="en-US" sz="1400" b="1" dirty="0">
                <a:solidFill>
                  <a:srgbClr val="FF0000"/>
                </a:solidFill>
                <a:latin typeface="+mn-ea"/>
                <a:ea typeface="+mn-ea"/>
                <a:cs typeface="+mn-ea"/>
                <a:sym typeface="+mn-ea"/>
              </a:rPr>
              <a:t>程序的复杂程度</a:t>
            </a:r>
            <a:r>
              <a:rPr lang="zh-CN" altLang="en-US" sz="1400" b="1" dirty="0">
                <a:latin typeface="+mn-ea"/>
                <a:ea typeface="+mn-ea"/>
                <a:cs typeface="+mn-ea"/>
                <a:sym typeface="+mn-ea"/>
              </a:rPr>
              <a:t>乘以适当常数即可估算出软件中</a:t>
            </a:r>
            <a:r>
              <a:rPr lang="zh-CN" altLang="en-US" sz="1400" b="1" dirty="0">
                <a:solidFill>
                  <a:srgbClr val="FF0000"/>
                </a:solidFill>
                <a:latin typeface="+mn-ea"/>
                <a:ea typeface="+mn-ea"/>
                <a:cs typeface="+mn-ea"/>
                <a:sym typeface="+mn-ea"/>
              </a:rPr>
              <a:t>错误的数量</a:t>
            </a:r>
            <a:r>
              <a:rPr lang="zh-CN" altLang="en-US" sz="1400" b="1" dirty="0">
                <a:latin typeface="+mn-ea"/>
                <a:ea typeface="+mn-ea"/>
                <a:cs typeface="+mn-ea"/>
                <a:sym typeface="+mn-ea"/>
              </a:rPr>
              <a:t>以及软件开发需要用的</a:t>
            </a:r>
            <a:r>
              <a:rPr lang="zh-CN" altLang="en-US" sz="1400" b="1" dirty="0" smtClean="0">
                <a:solidFill>
                  <a:srgbClr val="FF0000"/>
                </a:solidFill>
                <a:highlight>
                  <a:srgbClr val="FFFF00"/>
                </a:highlight>
                <a:latin typeface="+mn-ea"/>
                <a:ea typeface="+mn-ea"/>
                <a:cs typeface="+mn-ea"/>
                <a:sym typeface="+mn-ea"/>
              </a:rPr>
              <a:t>工作量</a:t>
            </a:r>
            <a:r>
              <a:rPr lang="zh-CN" altLang="en-US" sz="1400" b="1" dirty="0" smtClean="0">
                <a:latin typeface="+mn-ea"/>
                <a:ea typeface="+mn-ea"/>
                <a:cs typeface="+mn-ea"/>
                <a:sym typeface="+mn-ea"/>
              </a:rPr>
              <a:t>；</a:t>
            </a:r>
            <a:endParaRPr lang="en-US" altLang="zh-CN" sz="1400" b="1" dirty="0" smtClean="0">
              <a:latin typeface="+mn-ea"/>
              <a:ea typeface="+mn-ea"/>
              <a:cs typeface="+mn-ea"/>
            </a:endParaRPr>
          </a:p>
          <a:p>
            <a:pPr eaLnBrk="1" hangingPunct="1">
              <a:lnSpc>
                <a:spcPct val="170000"/>
              </a:lnSpc>
              <a:buFont typeface="Arial" panose="020B0604020202020204" pitchFamily="34" charset="0"/>
              <a:defRPr/>
            </a:pPr>
            <a:r>
              <a:rPr lang="en-US" altLang="zh-CN" sz="1400" b="1" dirty="0" smtClean="0">
                <a:latin typeface="+mn-ea"/>
                <a:ea typeface="+mn-ea"/>
                <a:cs typeface="+mn-ea"/>
                <a:sym typeface="+mn-ea"/>
              </a:rPr>
              <a:t>(2) </a:t>
            </a:r>
            <a:r>
              <a:rPr lang="zh-CN" altLang="en-US" sz="1400" b="1" dirty="0" smtClean="0">
                <a:latin typeface="+mn-ea"/>
                <a:ea typeface="+mn-ea"/>
                <a:cs typeface="+mn-ea"/>
                <a:sym typeface="+mn-ea"/>
              </a:rPr>
              <a:t>定量</a:t>
            </a:r>
            <a:r>
              <a:rPr lang="zh-CN" altLang="en-US" sz="1400" b="1" dirty="0">
                <a:latin typeface="+mn-ea"/>
                <a:ea typeface="+mn-ea"/>
                <a:cs typeface="+mn-ea"/>
                <a:sym typeface="+mn-ea"/>
              </a:rPr>
              <a:t>度量的结果可以用来比较两个不同的设计或两个不同</a:t>
            </a:r>
            <a:r>
              <a:rPr lang="zh-CN" altLang="en-US" sz="1400" b="1" dirty="0" smtClean="0">
                <a:solidFill>
                  <a:srgbClr val="FF0000"/>
                </a:solidFill>
                <a:highlight>
                  <a:srgbClr val="FFFF00"/>
                </a:highlight>
                <a:latin typeface="+mn-ea"/>
                <a:ea typeface="+mn-ea"/>
                <a:cs typeface="+mn-ea"/>
                <a:sym typeface="+mn-ea"/>
              </a:rPr>
              <a:t>算法的优劣</a:t>
            </a:r>
            <a:r>
              <a:rPr lang="zh-CN" altLang="en-US" sz="1400" b="1" dirty="0" smtClean="0">
                <a:latin typeface="+mn-ea"/>
                <a:ea typeface="+mn-ea"/>
                <a:cs typeface="+mn-ea"/>
                <a:sym typeface="+mn-ea"/>
              </a:rPr>
              <a:t>；</a:t>
            </a:r>
            <a:endParaRPr lang="en-US" altLang="zh-CN" sz="1400" b="1" dirty="0" smtClean="0">
              <a:latin typeface="+mn-ea"/>
              <a:ea typeface="+mn-ea"/>
              <a:cs typeface="+mn-ea"/>
            </a:endParaRPr>
          </a:p>
          <a:p>
            <a:pPr algn="l" eaLnBrk="1" hangingPunct="1">
              <a:lnSpc>
                <a:spcPct val="170000"/>
              </a:lnSpc>
              <a:buClrTx/>
              <a:buSzTx/>
              <a:buFont typeface="Arial" panose="020B0604020202020204" pitchFamily="34" charset="0"/>
              <a:defRPr/>
            </a:pPr>
            <a:r>
              <a:rPr lang="en-US" altLang="zh-CN" sz="1400" b="1" dirty="0" smtClean="0">
                <a:latin typeface="+mn-ea"/>
                <a:ea typeface="+mn-ea"/>
                <a:cs typeface="+mn-ea"/>
                <a:sym typeface="+mn-ea"/>
              </a:rPr>
              <a:t>(3) </a:t>
            </a:r>
            <a:r>
              <a:rPr lang="zh-CN" altLang="en-US" sz="1400" b="1" dirty="0" smtClean="0">
                <a:latin typeface="+mn-ea"/>
                <a:ea typeface="+mn-ea"/>
                <a:cs typeface="+mn-ea"/>
                <a:sym typeface="+mn-ea"/>
              </a:rPr>
              <a:t>程序</a:t>
            </a:r>
            <a:r>
              <a:rPr lang="zh-CN" altLang="en-US" sz="1400" b="1" dirty="0">
                <a:latin typeface="+mn-ea"/>
                <a:ea typeface="+mn-ea"/>
                <a:cs typeface="+mn-ea"/>
                <a:sym typeface="+mn-ea"/>
              </a:rPr>
              <a:t>的定量的复杂程度可作为</a:t>
            </a:r>
            <a:r>
              <a:rPr lang="zh-CN" altLang="en-US" sz="1400" b="1" dirty="0" smtClean="0">
                <a:solidFill>
                  <a:srgbClr val="FF0000"/>
                </a:solidFill>
                <a:highlight>
                  <a:srgbClr val="FFFF00"/>
                </a:highlight>
                <a:latin typeface="+mn-ea"/>
                <a:ea typeface="+mn-ea"/>
                <a:cs typeface="+mn-ea"/>
                <a:sym typeface="+mn-ea"/>
              </a:rPr>
              <a:t>模块规模的精确限度。</a:t>
            </a:r>
            <a:endParaRPr lang="zh-CN" altLang="en-US" sz="1400" b="1" dirty="0" smtClean="0">
              <a:solidFill>
                <a:srgbClr val="FF0000"/>
              </a:solidFill>
              <a:highlight>
                <a:srgbClr val="FFFF00"/>
              </a:highlight>
              <a:latin typeface="+mn-ea"/>
              <a:ea typeface="+mn-ea"/>
              <a:cs typeface="+mn-ea"/>
            </a:endParaRPr>
          </a:p>
          <a:p>
            <a:pPr marL="0" indent="0">
              <a:lnSpc>
                <a:spcPct val="170000"/>
              </a:lnSpc>
              <a:spcBef>
                <a:spcPts val="0"/>
              </a:spcBef>
              <a:buNone/>
            </a:pPr>
            <a:endParaRPr lang="zh-CN" altLang="en-US" sz="1400" b="1" dirty="0">
              <a:latin typeface="+mn-ea"/>
              <a:ea typeface="+mn-ea"/>
              <a:cs typeface="+mn-ea"/>
              <a:sym typeface="+mn-ea"/>
            </a:endParaRPr>
          </a:p>
          <a:p>
            <a:pPr marL="0" indent="0">
              <a:lnSpc>
                <a:spcPct val="170000"/>
              </a:lnSpc>
              <a:spcBef>
                <a:spcPts val="0"/>
              </a:spcBef>
              <a:buNone/>
            </a:pPr>
            <a:endParaRPr lang="zh-CN" altLang="en-US" sz="1400" b="1" dirty="0">
              <a:latin typeface="+mn-ea"/>
              <a:ea typeface="+mn-ea"/>
              <a:cs typeface="+mn-ea"/>
              <a:sym typeface="+mn-ea"/>
            </a:endParaRPr>
          </a:p>
          <a:p>
            <a:pPr marL="0" indent="0">
              <a:lnSpc>
                <a:spcPct val="170000"/>
              </a:lnSpc>
              <a:spcBef>
                <a:spcPts val="0"/>
              </a:spcBef>
              <a:buNone/>
            </a:pPr>
            <a:endParaRPr lang="zh-CN" altLang="en-US" sz="1400" b="1" dirty="0">
              <a:latin typeface="+mn-ea"/>
              <a:ea typeface="+mn-ea"/>
              <a:cs typeface="+mn-ea"/>
              <a:sym typeface="+mn-ea"/>
            </a:endParaRPr>
          </a:p>
          <a:p>
            <a:pPr marL="0" indent="0">
              <a:lnSpc>
                <a:spcPct val="170000"/>
              </a:lnSpc>
              <a:spcBef>
                <a:spcPts val="0"/>
              </a:spcBef>
              <a:buNone/>
            </a:pPr>
            <a:endParaRPr lang="zh-CN" altLang="en-US" sz="1400" b="1" dirty="0">
              <a:latin typeface="+mn-ea"/>
              <a:ea typeface="+mn-ea"/>
              <a:cs typeface="+mn-ea"/>
              <a:sym typeface="+mn-ea"/>
            </a:endParaRPr>
          </a:p>
          <a:p>
            <a:pPr marL="0" indent="0">
              <a:lnSpc>
                <a:spcPct val="180000"/>
              </a:lnSpc>
              <a:spcBef>
                <a:spcPts val="0"/>
              </a:spcBef>
              <a:buNone/>
            </a:pPr>
            <a:endParaRPr lang="zh-CN" altLang="en-US" sz="1400" b="1" dirty="0">
              <a:latin typeface="+mn-ea"/>
              <a:ea typeface="+mn-ea"/>
              <a:cs typeface="+mn-ea"/>
              <a:sym typeface="+mn-ea"/>
            </a:endParaRPr>
          </a:p>
        </p:txBody>
      </p:sp>
      <p:pic>
        <p:nvPicPr>
          <p:cNvPr id="2" name="图片 1"/>
          <p:cNvPicPr>
            <a:picLocks noChangeAspect="1"/>
          </p:cNvPicPr>
          <p:nvPr/>
        </p:nvPicPr>
        <p:blipFill>
          <a:blip r:embed="rId3"/>
          <a:stretch>
            <a:fillRect/>
          </a:stretch>
        </p:blipFill>
        <p:spPr>
          <a:xfrm>
            <a:off x="0" y="4284345"/>
            <a:ext cx="4819650" cy="2220595"/>
          </a:xfrm>
          <a:prstGeom prst="rect">
            <a:avLst/>
          </a:prstGeom>
          <a:ln>
            <a:solidFill>
              <a:schemeClr val="tx1"/>
            </a:solidFill>
          </a:ln>
        </p:spPr>
      </p:pic>
      <p:sp>
        <p:nvSpPr>
          <p:cNvPr id="8" name="文本框 7"/>
          <p:cNvSpPr txBox="1"/>
          <p:nvPr>
            <p:custDataLst>
              <p:tags r:id="rId4"/>
            </p:custDataLst>
          </p:nvPr>
        </p:nvSpPr>
        <p:spPr>
          <a:xfrm>
            <a:off x="4827905" y="0"/>
            <a:ext cx="7372350" cy="349885"/>
          </a:xfrm>
          <a:prstGeom prst="rect">
            <a:avLst/>
          </a:prstGeom>
          <a:solidFill>
            <a:schemeClr val="accent1"/>
          </a:solidFill>
        </p:spPr>
        <p:txBody>
          <a:bodyPr wrap="square" rtlCol="0">
            <a:noAutofit/>
          </a:bodyPr>
          <a:p>
            <a:r>
              <a:rPr lang="en-US" sz="1400" b="1">
                <a:solidFill>
                  <a:schemeClr val="bg1"/>
                </a:solidFill>
              </a:rPr>
              <a:t>McCabe</a:t>
            </a:r>
            <a:r>
              <a:rPr lang="zh-CN" altLang="en-US" sz="1400" b="1">
                <a:solidFill>
                  <a:schemeClr val="bg1"/>
                </a:solidFill>
              </a:rPr>
              <a:t>方法</a:t>
            </a:r>
            <a:endParaRPr lang="zh-CN" altLang="en-US" sz="1400" b="1">
              <a:solidFill>
                <a:schemeClr val="bg1"/>
              </a:solidFill>
            </a:endParaRPr>
          </a:p>
        </p:txBody>
      </p:sp>
      <p:sp>
        <p:nvSpPr>
          <p:cNvPr id="10" name="文本框 9"/>
          <p:cNvSpPr txBox="1"/>
          <p:nvPr/>
        </p:nvSpPr>
        <p:spPr>
          <a:xfrm>
            <a:off x="4880610" y="395605"/>
            <a:ext cx="7038975" cy="2287905"/>
          </a:xfrm>
          <a:prstGeom prst="rect">
            <a:avLst/>
          </a:prstGeom>
          <a:noFill/>
        </p:spPr>
        <p:txBody>
          <a:bodyPr wrap="square" rtlCol="0">
            <a:spAutoFit/>
          </a:bodyPr>
          <a:p>
            <a:pPr>
              <a:lnSpc>
                <a:spcPct val="170000"/>
              </a:lnSpc>
            </a:pPr>
            <a:r>
              <a:rPr lang="en-US" altLang="zh-CN" sz="1400" b="1">
                <a:solidFill>
                  <a:srgbClr val="FF0000"/>
                </a:solidFill>
                <a:latin typeface="+mn-ea"/>
                <a:cs typeface="+mn-ea"/>
              </a:rPr>
              <a:t>McCabe</a:t>
            </a:r>
            <a:r>
              <a:rPr lang="zh-CN" altLang="en-US" sz="1400" b="1">
                <a:solidFill>
                  <a:srgbClr val="FF0000"/>
                </a:solidFill>
                <a:latin typeface="+mn-ea"/>
                <a:cs typeface="+mn-ea"/>
              </a:rPr>
              <a:t>方法</a:t>
            </a:r>
            <a:r>
              <a:rPr lang="zh-CN" altLang="en-US" sz="1400" b="1">
                <a:latin typeface="+mn-ea"/>
                <a:cs typeface="+mn-ea"/>
              </a:rPr>
              <a:t>根据程序控制流的复杂程度</a:t>
            </a:r>
            <a:r>
              <a:rPr lang="zh-CN" altLang="en-US" sz="1400" b="1">
                <a:solidFill>
                  <a:srgbClr val="00B0F0"/>
                </a:solidFill>
                <a:latin typeface="+mn-ea"/>
                <a:cs typeface="+mn-ea"/>
              </a:rPr>
              <a:t>定量</a:t>
            </a:r>
            <a:r>
              <a:rPr lang="zh-CN" altLang="en-US" sz="1400" b="1">
                <a:latin typeface="+mn-ea"/>
                <a:cs typeface="+mn-ea"/>
              </a:rPr>
              <a:t>度量程序的复杂程度，这样度量出来的结果称为</a:t>
            </a:r>
            <a:r>
              <a:rPr lang="zh-CN" altLang="en-US" sz="1400" b="1">
                <a:solidFill>
                  <a:srgbClr val="FF0000"/>
                </a:solidFill>
                <a:latin typeface="+mn-ea"/>
                <a:cs typeface="+mn-ea"/>
              </a:rPr>
              <a:t>程序的环形复杂度</a:t>
            </a:r>
            <a:r>
              <a:rPr lang="zh-CN" altLang="en-US" sz="1400" b="1">
                <a:latin typeface="+mn-ea"/>
                <a:cs typeface="+mn-ea"/>
              </a:rPr>
              <a:t>。</a:t>
            </a:r>
            <a:endParaRPr lang="en-US" altLang="zh-CN" sz="1400" b="1">
              <a:latin typeface="+mn-ea"/>
              <a:cs typeface="+mn-ea"/>
            </a:endParaRPr>
          </a:p>
          <a:p>
            <a:pPr>
              <a:lnSpc>
                <a:spcPct val="170000"/>
              </a:lnSpc>
            </a:pPr>
            <a:r>
              <a:rPr lang="zh-CN" altLang="en-US" sz="1400" b="1">
                <a:solidFill>
                  <a:srgbClr val="00B0F0"/>
                </a:solidFill>
                <a:latin typeface="+mn-ea"/>
                <a:cs typeface="+mn-ea"/>
              </a:rPr>
              <a:t>三个基本步骤：</a:t>
            </a:r>
            <a:endParaRPr lang="zh-CN" altLang="en-US" sz="1400" b="1">
              <a:solidFill>
                <a:srgbClr val="00B0F0"/>
              </a:solidFill>
              <a:latin typeface="+mn-ea"/>
              <a:cs typeface="+mn-ea"/>
            </a:endParaRPr>
          </a:p>
          <a:p>
            <a:pPr marL="342900" lvl="0" indent="-342900">
              <a:lnSpc>
                <a:spcPct val="170000"/>
              </a:lnSpc>
              <a:buFont typeface="+mj-ea"/>
              <a:buAutoNum type="circleNumDbPlain"/>
            </a:pPr>
            <a:r>
              <a:rPr lang="zh-CN" altLang="en-US" sz="1400" b="1">
                <a:latin typeface="+mn-ea"/>
                <a:cs typeface="+mn-ea"/>
              </a:rPr>
              <a:t>绘制程序流程图</a:t>
            </a:r>
            <a:endParaRPr lang="zh-CN" altLang="en-US" sz="1400" b="1">
              <a:latin typeface="+mn-ea"/>
              <a:cs typeface="+mn-ea"/>
            </a:endParaRPr>
          </a:p>
          <a:p>
            <a:pPr marL="342900" lvl="0" indent="-342900">
              <a:lnSpc>
                <a:spcPct val="170000"/>
              </a:lnSpc>
              <a:buFont typeface="+mj-ea"/>
              <a:buAutoNum type="circleNumDbPlain"/>
            </a:pPr>
            <a:r>
              <a:rPr lang="zh-CN" altLang="en-US" sz="1400" b="1">
                <a:latin typeface="+mn-ea"/>
                <a:cs typeface="+mn-ea"/>
              </a:rPr>
              <a:t>将程序流程图映射为控制流图</a:t>
            </a:r>
            <a:endParaRPr lang="zh-CN" altLang="en-US" sz="1400" b="1">
              <a:latin typeface="+mn-ea"/>
              <a:cs typeface="+mn-ea"/>
            </a:endParaRPr>
          </a:p>
          <a:p>
            <a:pPr marL="342900" lvl="0" indent="-342900">
              <a:lnSpc>
                <a:spcPct val="170000"/>
              </a:lnSpc>
              <a:buFont typeface="+mj-ea"/>
              <a:buAutoNum type="circleNumDbPlain"/>
            </a:pPr>
            <a:r>
              <a:rPr lang="zh-CN" altLang="en-US" sz="1400" b="1">
                <a:latin typeface="+mn-ea"/>
                <a:cs typeface="+mn-ea"/>
              </a:rPr>
              <a:t>计算控制流图的环形复杂度</a:t>
            </a:r>
            <a:endParaRPr lang="zh-CN" altLang="en-US" sz="1400" b="1">
              <a:latin typeface="+mn-ea"/>
              <a:cs typeface="+mn-ea"/>
            </a:endParaRPr>
          </a:p>
        </p:txBody>
      </p:sp>
      <p:pic>
        <p:nvPicPr>
          <p:cNvPr id="106500" name="图片 2"/>
          <p:cNvPicPr>
            <a:picLocks noChangeAspect="1"/>
          </p:cNvPicPr>
          <p:nvPr/>
        </p:nvPicPr>
        <p:blipFill>
          <a:blip r:embed="rId5" cstate="print"/>
          <a:srcRect/>
          <a:stretch>
            <a:fillRect/>
          </a:stretch>
        </p:blipFill>
        <p:spPr bwMode="auto">
          <a:xfrm>
            <a:off x="8204200" y="1076325"/>
            <a:ext cx="3782060" cy="5486400"/>
          </a:xfrm>
          <a:prstGeom prst="rect">
            <a:avLst/>
          </a:prstGeom>
          <a:noFill/>
          <a:ln w="9525">
            <a:noFill/>
            <a:miter lim="800000"/>
            <a:headEnd/>
            <a:tailEnd/>
          </a:ln>
        </p:spPr>
      </p:pic>
      <p:sp>
        <p:nvSpPr>
          <p:cNvPr id="11" name="文本框 10"/>
          <p:cNvSpPr txBox="1"/>
          <p:nvPr/>
        </p:nvSpPr>
        <p:spPr>
          <a:xfrm>
            <a:off x="4832985" y="2795905"/>
            <a:ext cx="3447415" cy="4062095"/>
          </a:xfrm>
          <a:prstGeom prst="rect">
            <a:avLst/>
          </a:prstGeom>
          <a:solidFill>
            <a:schemeClr val="accent1"/>
          </a:solidFill>
          <a:ln>
            <a:solidFill>
              <a:schemeClr val="tx1"/>
            </a:solidFill>
          </a:ln>
        </p:spPr>
        <p:txBody>
          <a:bodyPr wrap="square" rtlCol="0">
            <a:noAutofit/>
          </a:bodyPr>
          <a:p>
            <a:pPr algn="l">
              <a:lnSpc>
                <a:spcPct val="150000"/>
              </a:lnSpc>
              <a:buClrTx/>
              <a:buSzTx/>
              <a:buFontTx/>
            </a:pPr>
            <a:r>
              <a:rPr lang="zh-CN" altLang="en-US" sz="1100" b="1" dirty="0" smtClean="0">
                <a:solidFill>
                  <a:schemeClr val="bg2"/>
                </a:solidFill>
                <a:latin typeface="+mn-ea"/>
                <a:cs typeface="+mn-ea"/>
                <a:sym typeface="+mn-ea"/>
              </a:rPr>
              <a:t>控制流图实质上是“</a:t>
            </a:r>
            <a:r>
              <a:rPr lang="zh-CN" altLang="en-US" sz="1100" b="1" dirty="0" smtClean="0">
                <a:solidFill>
                  <a:srgbClr val="FFFF00"/>
                </a:solidFill>
                <a:latin typeface="+mn-ea"/>
                <a:cs typeface="+mn-ea"/>
                <a:sym typeface="+mn-ea"/>
              </a:rPr>
              <a:t>退化了的</a:t>
            </a:r>
            <a:r>
              <a:rPr lang="zh-CN" altLang="en-US" sz="1100" b="1" dirty="0" smtClean="0">
                <a:solidFill>
                  <a:schemeClr val="bg2"/>
                </a:solidFill>
                <a:latin typeface="+mn-ea"/>
                <a:cs typeface="+mn-ea"/>
                <a:sym typeface="+mn-ea"/>
              </a:rPr>
              <a:t>”程序流程图，描绘程序的</a:t>
            </a:r>
            <a:r>
              <a:rPr lang="zh-CN" altLang="en-US" sz="1100" b="1" dirty="0" smtClean="0">
                <a:solidFill>
                  <a:srgbClr val="FF0000"/>
                </a:solidFill>
                <a:latin typeface="+mn-ea"/>
                <a:cs typeface="+mn-ea"/>
                <a:sym typeface="+mn-ea"/>
              </a:rPr>
              <a:t>控制流程</a:t>
            </a:r>
            <a:r>
              <a:rPr lang="zh-CN" altLang="en-US" sz="1100" b="1" dirty="0" smtClean="0">
                <a:solidFill>
                  <a:schemeClr val="bg2"/>
                </a:solidFill>
                <a:latin typeface="+mn-ea"/>
                <a:cs typeface="+mn-ea"/>
                <a:sym typeface="+mn-ea"/>
              </a:rPr>
              <a:t>，不表现对数据的具体操作以及分支或循环的具体条件。</a:t>
            </a:r>
            <a:endParaRPr lang="zh-CN" altLang="en-US" sz="1100" b="1" dirty="0" smtClean="0">
              <a:solidFill>
                <a:schemeClr val="bg2"/>
              </a:solidFill>
              <a:latin typeface="+mn-ea"/>
              <a:cs typeface="+mn-ea"/>
              <a:sym typeface="+mn-ea"/>
            </a:endParaRPr>
          </a:p>
          <a:p>
            <a:pPr algn="l">
              <a:lnSpc>
                <a:spcPct val="150000"/>
              </a:lnSpc>
              <a:buClrTx/>
              <a:buSzTx/>
              <a:buFontTx/>
            </a:pPr>
            <a:r>
              <a:rPr lang="zh-CN" altLang="en-US" sz="1100" b="1" dirty="0" smtClean="0">
                <a:solidFill>
                  <a:srgbClr val="FFC000"/>
                </a:solidFill>
                <a:latin typeface="+mn-ea"/>
                <a:cs typeface="+mn-ea"/>
                <a:sym typeface="+mn-ea"/>
              </a:rPr>
              <a:t>控制流图的特点：</a:t>
            </a:r>
            <a:endParaRPr lang="zh-CN" altLang="en-US" sz="1100" b="1" dirty="0" smtClean="0">
              <a:solidFill>
                <a:srgbClr val="FFC000"/>
              </a:solidFill>
              <a:latin typeface="+mn-ea"/>
              <a:cs typeface="+mn-ea"/>
              <a:sym typeface="+mn-ea"/>
            </a:endParaRPr>
          </a:p>
          <a:p>
            <a:pPr marL="342900" indent="-342900" algn="l" eaLnBrk="1" hangingPunct="1">
              <a:lnSpc>
                <a:spcPct val="150000"/>
              </a:lnSpc>
              <a:buClrTx/>
              <a:buSzTx/>
              <a:buFont typeface="+mj-ea"/>
              <a:buAutoNum type="circleNumDbPlain"/>
            </a:pPr>
            <a:r>
              <a:rPr lang="zh-CN" altLang="en-US" sz="1100" b="1" dirty="0" smtClean="0">
                <a:solidFill>
                  <a:schemeClr val="bg2"/>
                </a:solidFill>
                <a:latin typeface="+mn-ea"/>
                <a:cs typeface="+mn-ea"/>
                <a:sym typeface="+mn-ea"/>
              </a:rPr>
              <a:t>一个圆代表一条或多条语句；</a:t>
            </a:r>
            <a:endParaRPr lang="zh-CN" altLang="en-US" sz="1100" b="1" dirty="0" smtClean="0">
              <a:solidFill>
                <a:schemeClr val="bg2"/>
              </a:solidFill>
              <a:latin typeface="+mn-ea"/>
              <a:cs typeface="+mn-ea"/>
            </a:endParaRPr>
          </a:p>
          <a:p>
            <a:pPr marL="342900" indent="-342900" algn="l" eaLnBrk="1" hangingPunct="1">
              <a:lnSpc>
                <a:spcPct val="150000"/>
              </a:lnSpc>
              <a:buClrTx/>
              <a:buSzTx/>
              <a:buFont typeface="+mj-ea"/>
              <a:buAutoNum type="circleNumDbPlain"/>
            </a:pPr>
            <a:r>
              <a:rPr lang="zh-CN" altLang="en-US" sz="1100" b="1" dirty="0" smtClean="0">
                <a:solidFill>
                  <a:schemeClr val="bg2"/>
                </a:solidFill>
                <a:latin typeface="+mn-ea"/>
                <a:cs typeface="+mn-ea"/>
                <a:sym typeface="+mn-ea"/>
              </a:rPr>
              <a:t>一个顺序结构可以合并一个结点；</a:t>
            </a:r>
            <a:endParaRPr lang="zh-CN" altLang="en-US" sz="1100" b="1" dirty="0" smtClean="0">
              <a:solidFill>
                <a:schemeClr val="bg2"/>
              </a:solidFill>
              <a:latin typeface="+mn-ea"/>
              <a:cs typeface="+mn-ea"/>
            </a:endParaRPr>
          </a:p>
          <a:p>
            <a:pPr marL="342900" indent="-342900" algn="l" eaLnBrk="1" hangingPunct="1">
              <a:lnSpc>
                <a:spcPct val="150000"/>
              </a:lnSpc>
              <a:buClrTx/>
              <a:buSzTx/>
              <a:buFont typeface="+mj-ea"/>
              <a:buAutoNum type="circleNumDbPlain"/>
            </a:pPr>
            <a:r>
              <a:rPr lang="zh-CN" altLang="en-US" sz="1100" b="1" dirty="0" smtClean="0">
                <a:solidFill>
                  <a:schemeClr val="bg2"/>
                </a:solidFill>
                <a:latin typeface="+mn-ea"/>
                <a:cs typeface="+mn-ea"/>
                <a:sym typeface="+mn-ea"/>
              </a:rPr>
              <a:t>流图中的箭头线称为边，代表控制流；</a:t>
            </a:r>
            <a:endParaRPr lang="zh-CN" altLang="en-US" sz="1100" b="1" dirty="0" smtClean="0">
              <a:solidFill>
                <a:schemeClr val="bg2"/>
              </a:solidFill>
              <a:latin typeface="+mn-ea"/>
              <a:cs typeface="+mn-ea"/>
            </a:endParaRPr>
          </a:p>
          <a:p>
            <a:pPr marL="342900" indent="-342900" algn="l" eaLnBrk="1" hangingPunct="1">
              <a:lnSpc>
                <a:spcPct val="150000"/>
              </a:lnSpc>
              <a:buClrTx/>
              <a:buSzTx/>
              <a:buFont typeface="+mj-ea"/>
              <a:buAutoNum type="circleNumDbPlain"/>
            </a:pPr>
            <a:r>
              <a:rPr lang="zh-CN" altLang="en-US" sz="1100" b="1" dirty="0" smtClean="0">
                <a:solidFill>
                  <a:schemeClr val="bg2"/>
                </a:solidFill>
                <a:latin typeface="+mn-ea"/>
                <a:cs typeface="+mn-ea"/>
                <a:sym typeface="+mn-ea"/>
              </a:rPr>
              <a:t>在流图中一条边必须终止于一个结点。</a:t>
            </a:r>
            <a:endParaRPr lang="zh-CN" altLang="en-US" sz="1100" b="1" dirty="0" smtClean="0">
              <a:solidFill>
                <a:schemeClr val="bg2"/>
              </a:solidFill>
              <a:latin typeface="+mn-ea"/>
              <a:cs typeface="+mn-ea"/>
              <a:sym typeface="+mn-ea"/>
            </a:endParaRPr>
          </a:p>
          <a:p>
            <a:pPr algn="l" eaLnBrk="1" hangingPunct="1">
              <a:lnSpc>
                <a:spcPct val="150000"/>
              </a:lnSpc>
              <a:buClrTx/>
              <a:buSzTx/>
              <a:buFontTx/>
            </a:pPr>
            <a:r>
              <a:rPr lang="zh-CN" altLang="en-US" sz="1100" b="1" dirty="0" smtClean="0">
                <a:solidFill>
                  <a:srgbClr val="FFC000"/>
                </a:solidFill>
                <a:latin typeface="+mn-ea"/>
                <a:cs typeface="+mn-ea"/>
                <a:sym typeface="+mn-ea"/>
              </a:rPr>
              <a:t>计算环形复杂度的方法</a:t>
            </a:r>
            <a:endParaRPr lang="zh-CN" altLang="en-US" sz="1100" b="1" dirty="0" smtClean="0">
              <a:solidFill>
                <a:srgbClr val="FFC000"/>
              </a:solidFill>
              <a:latin typeface="+mn-ea"/>
              <a:cs typeface="+mn-ea"/>
            </a:endParaRPr>
          </a:p>
          <a:p>
            <a:pPr indent="0" algn="l" eaLnBrk="1" hangingPunct="1">
              <a:lnSpc>
                <a:spcPct val="150000"/>
              </a:lnSpc>
              <a:buClrTx/>
              <a:buSzTx/>
              <a:buFont typeface="+mj-ea"/>
              <a:buNone/>
            </a:pPr>
            <a:r>
              <a:rPr lang="zh-CN" altLang="en-US" sz="1100" b="1" dirty="0" smtClean="0">
                <a:solidFill>
                  <a:schemeClr val="bg2"/>
                </a:solidFill>
                <a:latin typeface="+mn-ea"/>
                <a:cs typeface="+mn-ea"/>
                <a:sym typeface="+mn-ea"/>
              </a:rPr>
              <a:t>(1) 流图中线性无关的区域数等于环形复杂度。</a:t>
            </a:r>
            <a:endParaRPr lang="zh-CN" altLang="en-US" sz="1100" b="1" dirty="0" smtClean="0">
              <a:solidFill>
                <a:schemeClr val="bg2"/>
              </a:solidFill>
              <a:latin typeface="+mn-ea"/>
              <a:cs typeface="+mn-ea"/>
            </a:endParaRPr>
          </a:p>
          <a:p>
            <a:pPr indent="0" algn="l" eaLnBrk="1" hangingPunct="1">
              <a:lnSpc>
                <a:spcPct val="150000"/>
              </a:lnSpc>
              <a:buClrTx/>
              <a:buSzTx/>
              <a:buFont typeface="+mj-ea"/>
              <a:buNone/>
            </a:pPr>
            <a:r>
              <a:rPr lang="zh-CN" altLang="en-US" sz="1100" b="1" dirty="0" smtClean="0">
                <a:solidFill>
                  <a:schemeClr val="bg2"/>
                </a:solidFill>
                <a:latin typeface="+mn-ea"/>
                <a:cs typeface="+mn-ea"/>
                <a:sym typeface="+mn-ea"/>
              </a:rPr>
              <a:t>(2) 流图G的环形复杂度</a:t>
            </a:r>
            <a:r>
              <a:rPr lang="zh-CN" altLang="en-US" sz="1100" b="1" dirty="0" smtClean="0">
                <a:solidFill>
                  <a:srgbClr val="FF0000"/>
                </a:solidFill>
                <a:latin typeface="+mn-ea"/>
                <a:cs typeface="+mn-ea"/>
                <a:sym typeface="+mn-ea"/>
              </a:rPr>
              <a:t>V(G)=E-N+2 </a:t>
            </a:r>
            <a:r>
              <a:rPr lang="zh-CN" altLang="en-US" sz="1100" b="1" dirty="0" smtClean="0">
                <a:solidFill>
                  <a:schemeClr val="bg2"/>
                </a:solidFill>
                <a:latin typeface="+mn-ea"/>
                <a:cs typeface="+mn-ea"/>
                <a:sym typeface="+mn-ea"/>
              </a:rPr>
              <a:t>，其中，E是流图中边的条数，N是结点数。</a:t>
            </a:r>
            <a:endParaRPr lang="zh-CN" altLang="en-US" sz="1100" b="1" dirty="0" smtClean="0">
              <a:solidFill>
                <a:schemeClr val="bg2"/>
              </a:solidFill>
              <a:latin typeface="+mn-ea"/>
              <a:cs typeface="+mn-ea"/>
            </a:endParaRPr>
          </a:p>
          <a:p>
            <a:pPr indent="0" algn="l" eaLnBrk="1" hangingPunct="1">
              <a:lnSpc>
                <a:spcPct val="150000"/>
              </a:lnSpc>
              <a:buClrTx/>
              <a:buSzTx/>
              <a:buFont typeface="+mj-ea"/>
              <a:buNone/>
            </a:pPr>
            <a:r>
              <a:rPr lang="zh-CN" altLang="en-US" sz="1100" b="1" dirty="0" smtClean="0">
                <a:solidFill>
                  <a:schemeClr val="bg2"/>
                </a:solidFill>
                <a:latin typeface="+mn-ea"/>
                <a:cs typeface="+mn-ea"/>
                <a:sym typeface="+mn-ea"/>
              </a:rPr>
              <a:t>(3) 流图G的环形复杂度</a:t>
            </a:r>
            <a:r>
              <a:rPr lang="zh-CN" altLang="en-US" sz="1100" b="1" dirty="0" smtClean="0">
                <a:solidFill>
                  <a:srgbClr val="FF0000"/>
                </a:solidFill>
                <a:latin typeface="+mn-ea"/>
                <a:cs typeface="+mn-ea"/>
                <a:sym typeface="+mn-ea"/>
              </a:rPr>
              <a:t>V(G)=P+1</a:t>
            </a:r>
            <a:r>
              <a:rPr lang="zh-CN" altLang="en-US" sz="1100" b="1" dirty="0" smtClean="0">
                <a:solidFill>
                  <a:schemeClr val="bg2"/>
                </a:solidFill>
                <a:latin typeface="+mn-ea"/>
                <a:cs typeface="+mn-ea"/>
                <a:sym typeface="+mn-ea"/>
              </a:rPr>
              <a:t>，其中，P是流图中判定结点的数目。</a:t>
            </a:r>
            <a:endParaRPr lang="zh-CN" altLang="en-US" sz="1100" b="1" dirty="0" smtClean="0">
              <a:solidFill>
                <a:schemeClr val="bg2"/>
              </a:solidFill>
              <a:latin typeface="+mn-ea"/>
              <a:cs typeface="+mn-ea"/>
            </a:endParaRPr>
          </a:p>
          <a:p>
            <a:pPr indent="0" algn="l" eaLnBrk="1" hangingPunct="1">
              <a:lnSpc>
                <a:spcPct val="150000"/>
              </a:lnSpc>
              <a:buClrTx/>
              <a:buSzTx/>
              <a:buFont typeface="+mj-ea"/>
              <a:buNone/>
            </a:pPr>
            <a:r>
              <a:rPr lang="zh-CN" altLang="en-US" sz="1100" b="1" dirty="0" smtClean="0">
                <a:solidFill>
                  <a:schemeClr val="bg2"/>
                </a:solidFill>
                <a:latin typeface="+mn-ea"/>
                <a:cs typeface="+mn-ea"/>
                <a:sym typeface="+mn-ea"/>
              </a:rPr>
              <a:t>上述流图的环形复杂度为4。</a:t>
            </a:r>
            <a:r>
              <a:rPr lang="zh-CN" altLang="en-US" sz="1100" b="1" dirty="0" smtClean="0">
                <a:solidFill>
                  <a:srgbClr val="FFFF00"/>
                </a:solidFill>
                <a:latin typeface="+mn-ea"/>
                <a:cs typeface="+mn-ea"/>
                <a:sym typeface="+mn-ea"/>
              </a:rPr>
              <a:t>V(G)</a:t>
            </a:r>
            <a:r>
              <a:rPr lang="en-US" altLang="zh-CN" sz="1100" b="1" dirty="0" smtClean="0">
                <a:solidFill>
                  <a:srgbClr val="FFFF00"/>
                </a:solidFill>
                <a:latin typeface="+mn-ea"/>
                <a:cs typeface="+mn-ea"/>
                <a:sym typeface="+mn-ea"/>
              </a:rPr>
              <a:t>=10</a:t>
            </a:r>
            <a:r>
              <a:rPr lang="zh-CN" altLang="en-US" sz="1100" b="1" dirty="0" smtClean="0">
                <a:solidFill>
                  <a:srgbClr val="FFFF00"/>
                </a:solidFill>
                <a:latin typeface="+mn-ea"/>
                <a:cs typeface="+mn-ea"/>
                <a:sym typeface="+mn-ea"/>
              </a:rPr>
              <a:t>是上限</a:t>
            </a:r>
            <a:endParaRPr lang="zh-CN" altLang="en-US" sz="1100" b="1" dirty="0" smtClean="0">
              <a:solidFill>
                <a:schemeClr val="bg2"/>
              </a:solidFill>
              <a:latin typeface="+mn-ea"/>
              <a:cs typeface="+mn-ea"/>
            </a:endParaRPr>
          </a:p>
          <a:p>
            <a:pPr indent="0" algn="l" eaLnBrk="1" hangingPunct="1">
              <a:lnSpc>
                <a:spcPct val="150000"/>
              </a:lnSpc>
              <a:buClrTx/>
              <a:buSzTx/>
              <a:buFont typeface="+mj-ea"/>
              <a:buNone/>
            </a:pPr>
            <a:endParaRPr lang="zh-CN" altLang="en-US" sz="1400" b="1" dirty="0" smtClean="0">
              <a:solidFill>
                <a:schemeClr val="bg2"/>
              </a:solidFill>
              <a:latin typeface="Bodoni MT Black" panose="02070A03080606020203" pitchFamily="18" charset="0"/>
              <a:sym typeface="+mn-ea"/>
            </a:endParaRPr>
          </a:p>
          <a:p>
            <a:pPr indent="0" algn="l" eaLnBrk="1" hangingPunct="1">
              <a:lnSpc>
                <a:spcPct val="150000"/>
              </a:lnSpc>
              <a:buClrTx/>
              <a:buSzTx/>
              <a:buFont typeface="+mj-ea"/>
              <a:buNone/>
            </a:pPr>
            <a:endParaRPr lang="zh-CN" altLang="en-US" sz="1400" b="1" dirty="0" smtClean="0">
              <a:solidFill>
                <a:schemeClr val="bg2"/>
              </a:solidFill>
              <a:latin typeface="Bodoni MT Black" panose="02070A03080606020203" pitchFamily="18" charset="0"/>
            </a:endParaRPr>
          </a:p>
          <a:p>
            <a:endParaRPr lang="zh-CN" altLang="en-US" sz="1400" b="1" dirty="0" smtClean="0">
              <a:solidFill>
                <a:schemeClr val="bg2"/>
              </a:solidFill>
              <a:latin typeface="Bodoni MT Black" panose="02070A03080606020203" pitchFamily="18" charset="0"/>
              <a:sym typeface="+mn-ea"/>
            </a:endParaRPr>
          </a:p>
        </p:txBody>
      </p:sp>
    </p:spTree>
    <p:custDataLst>
      <p:tags r:id="rId6"/>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963295" y="1137920"/>
            <a:ext cx="10265410" cy="4443095"/>
          </a:xfrm>
          <a:prstGeom prst="rect">
            <a:avLst/>
          </a:prstGeom>
          <a:noFill/>
        </p:spPr>
        <p:txBody>
          <a:bodyPr wrap="square" rtlCol="0">
            <a:noAutofit/>
          </a:bodyPr>
          <a:p>
            <a:pPr>
              <a:lnSpc>
                <a:spcPct val="170000"/>
              </a:lnSpc>
            </a:pPr>
            <a:r>
              <a:rPr lang="en-US" altLang="zh-CN" sz="2800" b="1">
                <a:solidFill>
                  <a:srgbClr val="FF0000"/>
                </a:solidFill>
                <a:latin typeface="+mn-ea"/>
                <a:cs typeface="+mn-ea"/>
              </a:rPr>
              <a:t>McCabe</a:t>
            </a:r>
            <a:r>
              <a:rPr lang="zh-CN" altLang="en-US" sz="2800" b="1">
                <a:solidFill>
                  <a:srgbClr val="FF0000"/>
                </a:solidFill>
                <a:latin typeface="+mn-ea"/>
                <a:cs typeface="+mn-ea"/>
              </a:rPr>
              <a:t>方法</a:t>
            </a:r>
            <a:r>
              <a:rPr lang="zh-CN" altLang="en-US" sz="2800" b="1">
                <a:latin typeface="+mn-ea"/>
                <a:cs typeface="+mn-ea"/>
              </a:rPr>
              <a:t>根据程序控制流的复杂程度</a:t>
            </a:r>
            <a:r>
              <a:rPr lang="zh-CN" altLang="en-US" sz="2800" b="1">
                <a:solidFill>
                  <a:srgbClr val="00B0F0"/>
                </a:solidFill>
                <a:latin typeface="+mn-ea"/>
                <a:cs typeface="+mn-ea"/>
              </a:rPr>
              <a:t>定量</a:t>
            </a:r>
            <a:r>
              <a:rPr lang="zh-CN" altLang="en-US" sz="2800" b="1">
                <a:latin typeface="+mn-ea"/>
                <a:cs typeface="+mn-ea"/>
              </a:rPr>
              <a:t>度量程序的复杂程度，这样度量出来的结果称为</a:t>
            </a:r>
            <a:r>
              <a:rPr lang="zh-CN" altLang="en-US" sz="2800" b="1">
                <a:solidFill>
                  <a:srgbClr val="FF0000"/>
                </a:solidFill>
                <a:latin typeface="+mn-ea"/>
                <a:cs typeface="+mn-ea"/>
              </a:rPr>
              <a:t>程序的环形复杂度</a:t>
            </a:r>
            <a:r>
              <a:rPr lang="zh-CN" altLang="en-US" sz="2800" b="1">
                <a:latin typeface="+mn-ea"/>
                <a:cs typeface="+mn-ea"/>
              </a:rPr>
              <a:t>。</a:t>
            </a:r>
            <a:endParaRPr lang="en-US" altLang="zh-CN" sz="2800" b="1">
              <a:latin typeface="+mn-ea"/>
              <a:cs typeface="+mn-ea"/>
            </a:endParaRPr>
          </a:p>
          <a:p>
            <a:pPr>
              <a:lnSpc>
                <a:spcPct val="170000"/>
              </a:lnSpc>
            </a:pPr>
            <a:r>
              <a:rPr lang="zh-CN" altLang="en-US" sz="2800" b="1">
                <a:solidFill>
                  <a:srgbClr val="00B0F0"/>
                </a:solidFill>
                <a:latin typeface="+mn-ea"/>
                <a:cs typeface="+mn-ea"/>
              </a:rPr>
              <a:t>三个基本步骤：</a:t>
            </a:r>
            <a:endParaRPr lang="zh-CN" altLang="en-US" sz="2800" b="1">
              <a:solidFill>
                <a:srgbClr val="00B0F0"/>
              </a:solidFill>
              <a:latin typeface="+mn-ea"/>
              <a:cs typeface="+mn-ea"/>
            </a:endParaRPr>
          </a:p>
          <a:p>
            <a:pPr marL="342900" lvl="0" indent="-342900">
              <a:lnSpc>
                <a:spcPct val="170000"/>
              </a:lnSpc>
              <a:buFont typeface="+mj-ea"/>
              <a:buAutoNum type="circleNumDbPlain"/>
            </a:pPr>
            <a:r>
              <a:rPr lang="zh-CN" altLang="en-US" sz="2800" b="1">
                <a:latin typeface="+mn-ea"/>
                <a:cs typeface="+mn-ea"/>
              </a:rPr>
              <a:t>绘制程序流程图</a:t>
            </a:r>
            <a:endParaRPr lang="zh-CN" altLang="en-US" sz="2800" b="1">
              <a:latin typeface="+mn-ea"/>
              <a:cs typeface="+mn-ea"/>
            </a:endParaRPr>
          </a:p>
          <a:p>
            <a:pPr marL="342900" lvl="0" indent="-342900">
              <a:lnSpc>
                <a:spcPct val="170000"/>
              </a:lnSpc>
              <a:buFont typeface="+mj-ea"/>
              <a:buAutoNum type="circleNumDbPlain"/>
            </a:pPr>
            <a:r>
              <a:rPr lang="zh-CN" altLang="en-US" sz="2800" b="1">
                <a:latin typeface="+mn-ea"/>
                <a:cs typeface="+mn-ea"/>
              </a:rPr>
              <a:t>将程序流程图映射为控制流图</a:t>
            </a:r>
            <a:endParaRPr lang="zh-CN" altLang="en-US" sz="2800" b="1">
              <a:latin typeface="+mn-ea"/>
              <a:cs typeface="+mn-ea"/>
            </a:endParaRPr>
          </a:p>
          <a:p>
            <a:pPr marL="342900" lvl="0" indent="-342900">
              <a:lnSpc>
                <a:spcPct val="170000"/>
              </a:lnSpc>
              <a:buFont typeface="+mj-ea"/>
              <a:buAutoNum type="circleNumDbPlain"/>
            </a:pPr>
            <a:r>
              <a:rPr lang="zh-CN" altLang="en-US" sz="2800" b="1">
                <a:latin typeface="+mn-ea"/>
                <a:cs typeface="+mn-ea"/>
              </a:rPr>
              <a:t>计算控制流图的环形复杂度</a:t>
            </a:r>
            <a:endParaRPr lang="zh-CN" altLang="en-US" sz="2800" b="1">
              <a:latin typeface="+mn-ea"/>
              <a:cs typeface="+mn-ea"/>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1385570" y="514985"/>
            <a:ext cx="9392920" cy="5828030"/>
          </a:xfrm>
          <a:prstGeom prst="rect">
            <a:avLst/>
          </a:prstGeom>
          <a:solidFill>
            <a:schemeClr val="accent1"/>
          </a:solidFill>
          <a:ln>
            <a:solidFill>
              <a:schemeClr val="tx1"/>
            </a:solidFill>
          </a:ln>
        </p:spPr>
        <p:txBody>
          <a:bodyPr wrap="square" rtlCol="0">
            <a:noAutofit/>
          </a:bodyPr>
          <a:p>
            <a:pPr algn="l">
              <a:lnSpc>
                <a:spcPct val="150000"/>
              </a:lnSpc>
              <a:buClrTx/>
              <a:buSzTx/>
              <a:buFontTx/>
            </a:pPr>
            <a:r>
              <a:rPr lang="zh-CN" altLang="en-US" sz="2000" b="1" dirty="0" smtClean="0">
                <a:solidFill>
                  <a:schemeClr val="bg2"/>
                </a:solidFill>
                <a:latin typeface="+mn-ea"/>
                <a:cs typeface="+mn-ea"/>
                <a:sym typeface="+mn-ea"/>
              </a:rPr>
              <a:t>控制流图实质上是“</a:t>
            </a:r>
            <a:r>
              <a:rPr lang="zh-CN" altLang="en-US" sz="2000" b="1" dirty="0" smtClean="0">
                <a:solidFill>
                  <a:srgbClr val="FFFF00"/>
                </a:solidFill>
                <a:latin typeface="+mn-ea"/>
                <a:cs typeface="+mn-ea"/>
                <a:sym typeface="+mn-ea"/>
              </a:rPr>
              <a:t>退化了的</a:t>
            </a:r>
            <a:r>
              <a:rPr lang="zh-CN" altLang="en-US" sz="2000" b="1" dirty="0" smtClean="0">
                <a:solidFill>
                  <a:schemeClr val="bg2"/>
                </a:solidFill>
                <a:latin typeface="+mn-ea"/>
                <a:cs typeface="+mn-ea"/>
                <a:sym typeface="+mn-ea"/>
              </a:rPr>
              <a:t>”程序流程图，描绘程序的</a:t>
            </a:r>
            <a:r>
              <a:rPr lang="zh-CN" altLang="en-US" sz="2000" b="1" dirty="0" smtClean="0">
                <a:solidFill>
                  <a:srgbClr val="FF0000"/>
                </a:solidFill>
                <a:latin typeface="+mn-ea"/>
                <a:cs typeface="+mn-ea"/>
                <a:sym typeface="+mn-ea"/>
              </a:rPr>
              <a:t>控制流程</a:t>
            </a:r>
            <a:r>
              <a:rPr lang="zh-CN" altLang="en-US" sz="2000" b="1" dirty="0" smtClean="0">
                <a:solidFill>
                  <a:schemeClr val="bg2"/>
                </a:solidFill>
                <a:latin typeface="+mn-ea"/>
                <a:cs typeface="+mn-ea"/>
                <a:sym typeface="+mn-ea"/>
              </a:rPr>
              <a:t>，不表现对数据的具体操作以及分支或循环的具体条件。</a:t>
            </a:r>
            <a:endParaRPr lang="zh-CN" altLang="en-US" sz="2000" b="1" dirty="0" smtClean="0">
              <a:solidFill>
                <a:schemeClr val="bg2"/>
              </a:solidFill>
              <a:latin typeface="+mn-ea"/>
              <a:cs typeface="+mn-ea"/>
              <a:sym typeface="+mn-ea"/>
            </a:endParaRPr>
          </a:p>
          <a:p>
            <a:pPr algn="l">
              <a:lnSpc>
                <a:spcPct val="150000"/>
              </a:lnSpc>
              <a:buClrTx/>
              <a:buSzTx/>
              <a:buFontTx/>
            </a:pPr>
            <a:r>
              <a:rPr lang="zh-CN" altLang="en-US" sz="2000" b="1" dirty="0" smtClean="0">
                <a:solidFill>
                  <a:srgbClr val="FFC000"/>
                </a:solidFill>
                <a:latin typeface="+mn-ea"/>
                <a:cs typeface="+mn-ea"/>
                <a:sym typeface="+mn-ea"/>
              </a:rPr>
              <a:t>控制流图的特点：</a:t>
            </a:r>
            <a:endParaRPr lang="zh-CN" altLang="en-US" sz="2000" b="1" dirty="0" smtClean="0">
              <a:solidFill>
                <a:srgbClr val="FFC000"/>
              </a:solidFill>
              <a:latin typeface="+mn-ea"/>
              <a:cs typeface="+mn-ea"/>
              <a:sym typeface="+mn-ea"/>
            </a:endParaRPr>
          </a:p>
          <a:p>
            <a:pPr marL="342900" indent="-342900" algn="l" eaLnBrk="1" hangingPunct="1">
              <a:lnSpc>
                <a:spcPct val="150000"/>
              </a:lnSpc>
              <a:buClrTx/>
              <a:buSzTx/>
              <a:buFont typeface="+mj-ea"/>
              <a:buAutoNum type="circleNumDbPlain"/>
            </a:pPr>
            <a:r>
              <a:rPr lang="zh-CN" altLang="en-US" sz="2000" b="1" dirty="0" smtClean="0">
                <a:solidFill>
                  <a:schemeClr val="bg2"/>
                </a:solidFill>
                <a:latin typeface="+mn-ea"/>
                <a:cs typeface="+mn-ea"/>
                <a:sym typeface="+mn-ea"/>
              </a:rPr>
              <a:t>一个圆代表一条或多条语句；</a:t>
            </a:r>
            <a:endParaRPr lang="zh-CN" altLang="en-US" sz="2000" b="1" dirty="0" smtClean="0">
              <a:solidFill>
                <a:schemeClr val="bg2"/>
              </a:solidFill>
              <a:latin typeface="+mn-ea"/>
              <a:cs typeface="+mn-ea"/>
            </a:endParaRPr>
          </a:p>
          <a:p>
            <a:pPr marL="342900" indent="-342900" algn="l" eaLnBrk="1" hangingPunct="1">
              <a:lnSpc>
                <a:spcPct val="150000"/>
              </a:lnSpc>
              <a:buClrTx/>
              <a:buSzTx/>
              <a:buFont typeface="+mj-ea"/>
              <a:buAutoNum type="circleNumDbPlain"/>
            </a:pPr>
            <a:r>
              <a:rPr lang="zh-CN" altLang="en-US" sz="2000" b="1" dirty="0" smtClean="0">
                <a:solidFill>
                  <a:schemeClr val="bg2"/>
                </a:solidFill>
                <a:latin typeface="+mn-ea"/>
                <a:cs typeface="+mn-ea"/>
                <a:sym typeface="+mn-ea"/>
              </a:rPr>
              <a:t>一个顺序结构可以合并一个结点；</a:t>
            </a:r>
            <a:endParaRPr lang="zh-CN" altLang="en-US" sz="2000" b="1" dirty="0" smtClean="0">
              <a:solidFill>
                <a:schemeClr val="bg2"/>
              </a:solidFill>
              <a:latin typeface="+mn-ea"/>
              <a:cs typeface="+mn-ea"/>
            </a:endParaRPr>
          </a:p>
          <a:p>
            <a:pPr marL="342900" indent="-342900" algn="l" eaLnBrk="1" hangingPunct="1">
              <a:lnSpc>
                <a:spcPct val="150000"/>
              </a:lnSpc>
              <a:buClrTx/>
              <a:buSzTx/>
              <a:buFont typeface="+mj-ea"/>
              <a:buAutoNum type="circleNumDbPlain"/>
            </a:pPr>
            <a:r>
              <a:rPr lang="zh-CN" altLang="en-US" sz="2000" b="1" dirty="0" smtClean="0">
                <a:solidFill>
                  <a:schemeClr val="bg2"/>
                </a:solidFill>
                <a:latin typeface="+mn-ea"/>
                <a:cs typeface="+mn-ea"/>
                <a:sym typeface="+mn-ea"/>
              </a:rPr>
              <a:t>流图中的箭头线称为边，代表控制流；</a:t>
            </a:r>
            <a:endParaRPr lang="zh-CN" altLang="en-US" sz="2000" b="1" dirty="0" smtClean="0">
              <a:solidFill>
                <a:schemeClr val="bg2"/>
              </a:solidFill>
              <a:latin typeface="+mn-ea"/>
              <a:cs typeface="+mn-ea"/>
            </a:endParaRPr>
          </a:p>
          <a:p>
            <a:pPr marL="342900" indent="-342900" algn="l" eaLnBrk="1" hangingPunct="1">
              <a:lnSpc>
                <a:spcPct val="150000"/>
              </a:lnSpc>
              <a:buClrTx/>
              <a:buSzTx/>
              <a:buFont typeface="+mj-ea"/>
              <a:buAutoNum type="circleNumDbPlain"/>
            </a:pPr>
            <a:r>
              <a:rPr lang="zh-CN" altLang="en-US" sz="2000" b="1" dirty="0" smtClean="0">
                <a:solidFill>
                  <a:schemeClr val="bg2"/>
                </a:solidFill>
                <a:latin typeface="+mn-ea"/>
                <a:cs typeface="+mn-ea"/>
                <a:sym typeface="+mn-ea"/>
              </a:rPr>
              <a:t>在流图中一条边必须终止于一个结点。</a:t>
            </a:r>
            <a:endParaRPr lang="zh-CN" altLang="en-US" sz="2000" b="1" dirty="0" smtClean="0">
              <a:solidFill>
                <a:schemeClr val="bg2"/>
              </a:solidFill>
              <a:latin typeface="+mn-ea"/>
              <a:cs typeface="+mn-ea"/>
              <a:sym typeface="+mn-ea"/>
            </a:endParaRPr>
          </a:p>
          <a:p>
            <a:pPr algn="l" eaLnBrk="1" hangingPunct="1">
              <a:lnSpc>
                <a:spcPct val="150000"/>
              </a:lnSpc>
              <a:buClrTx/>
              <a:buSzTx/>
              <a:buFontTx/>
            </a:pPr>
            <a:r>
              <a:rPr lang="zh-CN" altLang="en-US" sz="2000" b="1" dirty="0" smtClean="0">
                <a:solidFill>
                  <a:srgbClr val="FFC000"/>
                </a:solidFill>
                <a:latin typeface="+mn-ea"/>
                <a:cs typeface="+mn-ea"/>
                <a:sym typeface="+mn-ea"/>
              </a:rPr>
              <a:t>计算环形复杂度的方法</a:t>
            </a:r>
            <a:endParaRPr lang="zh-CN" altLang="en-US" sz="2000" b="1" dirty="0" smtClean="0">
              <a:solidFill>
                <a:srgbClr val="FFC000"/>
              </a:solidFill>
              <a:latin typeface="+mn-ea"/>
              <a:cs typeface="+mn-ea"/>
            </a:endParaRPr>
          </a:p>
          <a:p>
            <a:pPr indent="0" algn="l" eaLnBrk="1" hangingPunct="1">
              <a:lnSpc>
                <a:spcPct val="150000"/>
              </a:lnSpc>
              <a:buClrTx/>
              <a:buSzTx/>
              <a:buFont typeface="+mj-ea"/>
              <a:buNone/>
            </a:pPr>
            <a:r>
              <a:rPr lang="zh-CN" altLang="en-US" sz="2000" b="1" dirty="0" smtClean="0">
                <a:solidFill>
                  <a:schemeClr val="bg2"/>
                </a:solidFill>
                <a:latin typeface="+mn-ea"/>
                <a:cs typeface="+mn-ea"/>
                <a:sym typeface="+mn-ea"/>
              </a:rPr>
              <a:t>(1) 流图中线性无关的区域数等于环形复杂度。</a:t>
            </a:r>
            <a:endParaRPr lang="zh-CN" altLang="en-US" sz="2000" b="1" dirty="0" smtClean="0">
              <a:solidFill>
                <a:schemeClr val="bg2"/>
              </a:solidFill>
              <a:latin typeface="+mn-ea"/>
              <a:cs typeface="+mn-ea"/>
            </a:endParaRPr>
          </a:p>
          <a:p>
            <a:pPr indent="0" algn="l" eaLnBrk="1" hangingPunct="1">
              <a:lnSpc>
                <a:spcPct val="150000"/>
              </a:lnSpc>
              <a:buClrTx/>
              <a:buSzTx/>
              <a:buFont typeface="+mj-ea"/>
              <a:buNone/>
            </a:pPr>
            <a:r>
              <a:rPr lang="zh-CN" altLang="en-US" sz="2000" b="1" dirty="0" smtClean="0">
                <a:solidFill>
                  <a:schemeClr val="bg2"/>
                </a:solidFill>
                <a:latin typeface="+mn-ea"/>
                <a:cs typeface="+mn-ea"/>
                <a:sym typeface="+mn-ea"/>
              </a:rPr>
              <a:t>(2) 流图G的环形复杂度</a:t>
            </a:r>
            <a:r>
              <a:rPr lang="zh-CN" altLang="en-US" sz="2000" b="1" dirty="0" smtClean="0">
                <a:solidFill>
                  <a:srgbClr val="FF0000"/>
                </a:solidFill>
                <a:latin typeface="+mn-ea"/>
                <a:cs typeface="+mn-ea"/>
                <a:sym typeface="+mn-ea"/>
              </a:rPr>
              <a:t>V(G)=E-N+2 </a:t>
            </a:r>
            <a:r>
              <a:rPr lang="zh-CN" altLang="en-US" sz="2000" b="1" dirty="0" smtClean="0">
                <a:solidFill>
                  <a:schemeClr val="bg2"/>
                </a:solidFill>
                <a:latin typeface="+mn-ea"/>
                <a:cs typeface="+mn-ea"/>
                <a:sym typeface="+mn-ea"/>
              </a:rPr>
              <a:t>，其中，E是流图中边的条数，N是结点数。</a:t>
            </a:r>
            <a:endParaRPr lang="zh-CN" altLang="en-US" sz="2000" b="1" dirty="0" smtClean="0">
              <a:solidFill>
                <a:schemeClr val="bg2"/>
              </a:solidFill>
              <a:latin typeface="+mn-ea"/>
              <a:cs typeface="+mn-ea"/>
            </a:endParaRPr>
          </a:p>
          <a:p>
            <a:pPr indent="0" algn="l" eaLnBrk="1" hangingPunct="1">
              <a:lnSpc>
                <a:spcPct val="150000"/>
              </a:lnSpc>
              <a:buClrTx/>
              <a:buSzTx/>
              <a:buFont typeface="+mj-ea"/>
              <a:buNone/>
            </a:pPr>
            <a:r>
              <a:rPr lang="zh-CN" altLang="en-US" sz="2000" b="1" dirty="0" smtClean="0">
                <a:solidFill>
                  <a:schemeClr val="bg2"/>
                </a:solidFill>
                <a:latin typeface="+mn-ea"/>
                <a:cs typeface="+mn-ea"/>
                <a:sym typeface="+mn-ea"/>
              </a:rPr>
              <a:t>(3) 流图G的环形复杂度</a:t>
            </a:r>
            <a:r>
              <a:rPr lang="zh-CN" altLang="en-US" sz="2000" b="1" dirty="0" smtClean="0">
                <a:solidFill>
                  <a:srgbClr val="FF0000"/>
                </a:solidFill>
                <a:latin typeface="+mn-ea"/>
                <a:cs typeface="+mn-ea"/>
                <a:sym typeface="+mn-ea"/>
              </a:rPr>
              <a:t>V(G)=P+1</a:t>
            </a:r>
            <a:r>
              <a:rPr lang="zh-CN" altLang="en-US" sz="2000" b="1" dirty="0" smtClean="0">
                <a:solidFill>
                  <a:schemeClr val="bg2"/>
                </a:solidFill>
                <a:latin typeface="+mn-ea"/>
                <a:cs typeface="+mn-ea"/>
                <a:sym typeface="+mn-ea"/>
              </a:rPr>
              <a:t>，其中，P是流图中判定结点的数</a:t>
            </a:r>
            <a:r>
              <a:rPr lang="zh-CN" altLang="en-US" sz="2400" b="1" dirty="0" smtClean="0">
                <a:solidFill>
                  <a:schemeClr val="bg2"/>
                </a:solidFill>
                <a:latin typeface="+mn-ea"/>
                <a:cs typeface="+mn-ea"/>
                <a:sym typeface="+mn-ea"/>
              </a:rPr>
              <a:t>目。</a:t>
            </a:r>
            <a:endParaRPr lang="zh-CN" altLang="en-US" sz="2400" b="1" dirty="0" smtClean="0">
              <a:solidFill>
                <a:schemeClr val="bg2"/>
              </a:solidFill>
              <a:latin typeface="+mn-ea"/>
              <a:cs typeface="+mn-ea"/>
            </a:endParaRPr>
          </a:p>
          <a:p>
            <a:pPr indent="0" algn="l" eaLnBrk="1" hangingPunct="1">
              <a:lnSpc>
                <a:spcPct val="150000"/>
              </a:lnSpc>
              <a:buClrTx/>
              <a:buSzTx/>
              <a:buFont typeface="+mj-ea"/>
              <a:buNone/>
            </a:pPr>
            <a:r>
              <a:rPr lang="zh-CN" altLang="en-US" sz="2400" b="1" dirty="0" smtClean="0">
                <a:solidFill>
                  <a:schemeClr val="bg2"/>
                </a:solidFill>
                <a:latin typeface="+mn-ea"/>
                <a:cs typeface="+mn-ea"/>
                <a:sym typeface="+mn-ea"/>
              </a:rPr>
              <a:t>上述流图的环形复杂度为4。</a:t>
            </a:r>
            <a:r>
              <a:rPr lang="zh-CN" altLang="en-US" sz="2400" b="1" dirty="0" smtClean="0">
                <a:solidFill>
                  <a:srgbClr val="FFFF00"/>
                </a:solidFill>
                <a:latin typeface="+mn-ea"/>
                <a:cs typeface="+mn-ea"/>
                <a:sym typeface="+mn-ea"/>
              </a:rPr>
              <a:t>V(G)</a:t>
            </a:r>
            <a:r>
              <a:rPr lang="en-US" altLang="zh-CN" sz="2400" b="1" dirty="0" smtClean="0">
                <a:solidFill>
                  <a:srgbClr val="FFFF00"/>
                </a:solidFill>
                <a:latin typeface="+mn-ea"/>
                <a:cs typeface="+mn-ea"/>
                <a:sym typeface="+mn-ea"/>
              </a:rPr>
              <a:t>=10</a:t>
            </a:r>
            <a:r>
              <a:rPr lang="zh-CN" altLang="en-US" sz="2400" b="1" dirty="0" smtClean="0">
                <a:solidFill>
                  <a:srgbClr val="FFFF00"/>
                </a:solidFill>
                <a:latin typeface="+mn-ea"/>
                <a:cs typeface="+mn-ea"/>
                <a:sym typeface="+mn-ea"/>
              </a:rPr>
              <a:t>是上限</a:t>
            </a:r>
            <a:endParaRPr lang="zh-CN" altLang="en-US" sz="2400" b="1" dirty="0" smtClean="0">
              <a:solidFill>
                <a:schemeClr val="bg2"/>
              </a:solidFill>
              <a:latin typeface="+mn-ea"/>
              <a:cs typeface="+mn-ea"/>
            </a:endParaRPr>
          </a:p>
          <a:p>
            <a:pPr indent="0" algn="l" eaLnBrk="1" hangingPunct="1">
              <a:lnSpc>
                <a:spcPct val="150000"/>
              </a:lnSpc>
              <a:buClrTx/>
              <a:buSzTx/>
              <a:buFont typeface="+mj-ea"/>
              <a:buNone/>
            </a:pPr>
            <a:endParaRPr lang="zh-CN" altLang="en-US" sz="1400" b="1" dirty="0" smtClean="0">
              <a:solidFill>
                <a:schemeClr val="bg2"/>
              </a:solidFill>
              <a:latin typeface="Bodoni MT Black" panose="02070A03080606020203" pitchFamily="18" charset="0"/>
              <a:sym typeface="+mn-ea"/>
            </a:endParaRPr>
          </a:p>
          <a:p>
            <a:pPr indent="0" algn="l" eaLnBrk="1" hangingPunct="1">
              <a:lnSpc>
                <a:spcPct val="150000"/>
              </a:lnSpc>
              <a:buClrTx/>
              <a:buSzTx/>
              <a:buFont typeface="+mj-ea"/>
              <a:buNone/>
            </a:pPr>
            <a:endParaRPr lang="zh-CN" altLang="en-US" sz="1400" b="1" dirty="0" smtClean="0">
              <a:solidFill>
                <a:schemeClr val="bg2"/>
              </a:solidFill>
              <a:latin typeface="Bodoni MT Black" panose="02070A03080606020203" pitchFamily="18" charset="0"/>
            </a:endParaRPr>
          </a:p>
          <a:p>
            <a:endParaRPr lang="zh-CN" altLang="en-US" sz="1400" b="1" dirty="0" smtClean="0">
              <a:solidFill>
                <a:schemeClr val="bg2"/>
              </a:solidFill>
              <a:latin typeface="Bodoni MT Black" panose="02070A03080606020203" pitchFamily="18" charset="0"/>
              <a:sym typeface="+mn-ea"/>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6500" name="图片 2"/>
          <p:cNvPicPr>
            <a:picLocks noChangeAspect="1"/>
          </p:cNvPicPr>
          <p:nvPr/>
        </p:nvPicPr>
        <p:blipFill>
          <a:blip r:embed="rId1" cstate="print"/>
          <a:srcRect/>
          <a:stretch>
            <a:fillRect/>
          </a:stretch>
        </p:blipFill>
        <p:spPr bwMode="auto">
          <a:xfrm>
            <a:off x="3782060" y="685800"/>
            <a:ext cx="4627245" cy="5486400"/>
          </a:xfrm>
          <a:prstGeom prst="rect">
            <a:avLst/>
          </a:prstGeom>
          <a:noFill/>
          <a:ln w="9525">
            <a:noFill/>
            <a:miter lim="800000"/>
            <a:headEnd/>
            <a:tailEnd/>
          </a:ln>
        </p:spPr>
      </p:pic>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图片 4" descr="deepseek_mermaid_20260103_4203c8"/>
          <p:cNvPicPr>
            <a:picLocks noChangeAspect="1"/>
          </p:cNvPicPr>
          <p:nvPr/>
        </p:nvPicPr>
        <p:blipFill>
          <a:blip r:embed="rId1"/>
          <a:stretch>
            <a:fillRect/>
          </a:stretch>
        </p:blipFill>
        <p:spPr>
          <a:xfrm>
            <a:off x="0" y="0"/>
            <a:ext cx="4451350" cy="6858000"/>
          </a:xfrm>
          <a:prstGeom prst="rect">
            <a:avLst/>
          </a:prstGeom>
        </p:spPr>
      </p:pic>
      <p:pic>
        <p:nvPicPr>
          <p:cNvPr id="7" name="图片 6" descr="deepseek_mermaid_20260103_1f43fd"/>
          <p:cNvPicPr>
            <a:picLocks noChangeAspect="1"/>
          </p:cNvPicPr>
          <p:nvPr/>
        </p:nvPicPr>
        <p:blipFill>
          <a:blip r:embed="rId2"/>
          <a:stretch>
            <a:fillRect/>
          </a:stretch>
        </p:blipFill>
        <p:spPr>
          <a:xfrm>
            <a:off x="5690235" y="0"/>
            <a:ext cx="6501765" cy="6858000"/>
          </a:xfrm>
          <a:prstGeom prst="rect">
            <a:avLst/>
          </a:prstGeom>
        </p:spPr>
      </p:pic>
      <p:sp>
        <p:nvSpPr>
          <p:cNvPr id="2" name="文本框 1"/>
          <p:cNvSpPr txBox="1"/>
          <p:nvPr/>
        </p:nvSpPr>
        <p:spPr>
          <a:xfrm>
            <a:off x="309245" y="185420"/>
            <a:ext cx="2038350" cy="306705"/>
          </a:xfrm>
          <a:prstGeom prst="rect">
            <a:avLst/>
          </a:prstGeom>
          <a:noFill/>
        </p:spPr>
        <p:txBody>
          <a:bodyPr wrap="square" rtlCol="0">
            <a:spAutoFit/>
          </a:bodyPr>
          <a:p>
            <a:r>
              <a:rPr lang="zh-CN" altLang="en-US" sz="1400" b="1"/>
              <a:t>一个实际的例子</a:t>
            </a:r>
            <a:endParaRPr lang="zh-CN" altLang="en-US" sz="1400" b="1"/>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思考题</a:t>
            </a:r>
            <a:endParaRPr lang="zh-CN" altLang="en-US"/>
          </a:p>
        </p:txBody>
      </p:sp>
      <p:sp>
        <p:nvSpPr>
          <p:cNvPr id="3" name="内容占位符 2"/>
          <p:cNvSpPr>
            <a:spLocks noGrp="1"/>
          </p:cNvSpPr>
          <p:nvPr>
            <p:ph sz="quarter" idx="13"/>
            <p:custDataLst>
              <p:tags r:id="rId2"/>
            </p:custDataLst>
          </p:nvPr>
        </p:nvSpPr>
        <p:spPr/>
        <p:txBody>
          <a:bodyPr/>
          <a:p>
            <a:r>
              <a:rPr lang="en-US" altLang="zh-CN" sz="3600" b="1"/>
              <a:t>1.</a:t>
            </a:r>
            <a:r>
              <a:rPr lang="zh-CN" altLang="en-US" sz="3600" b="1"/>
              <a:t>详细设计的主要内容？</a:t>
            </a:r>
            <a:endParaRPr lang="zh-CN" altLang="en-US" sz="3600" b="1"/>
          </a:p>
          <a:p>
            <a:r>
              <a:rPr lang="en-US" altLang="zh-CN" sz="3600" b="1"/>
              <a:t>2.</a:t>
            </a:r>
            <a:r>
              <a:rPr lang="zh-CN" altLang="en-US" sz="3600" b="1"/>
              <a:t>详细设计的主要描述分析方法及其相互关系？</a:t>
            </a:r>
            <a:endParaRPr lang="zh-CN" altLang="en-US" sz="3600" b="1"/>
          </a:p>
          <a:p>
            <a:r>
              <a:rPr lang="en-US" altLang="zh-CN" sz="3600" b="1"/>
              <a:t>3.Jackson</a:t>
            </a:r>
            <a:r>
              <a:rPr lang="zh-CN" altLang="en-US" sz="3600" b="1"/>
              <a:t>方法的意义？</a:t>
            </a:r>
            <a:endParaRPr lang="zh-CN" altLang="en-US" sz="3600" b="1"/>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a:lstStyle/>
          <a:p>
            <a:r>
              <a:rPr lang="en-US" altLang="zh-CN" noProof="0" dirty="0">
                <a:sym typeface="+mn-lt"/>
              </a:rPr>
              <a:t>THANKS</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6*i*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6*i*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6*i*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1.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4.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7.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8.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0.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Lst>
</file>

<file path=ppt/tags/tag10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Lst>
</file>

<file path=ppt/tags/tag1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6*i*1"/>
  <p:tag name="KSO_WM_UNIT_LAYERLEVEL" val="1"/>
  <p:tag name="KSO_WM_TAG_VERSION" val="1.0"/>
  <p:tag name="KSO_WM_BEAUTIFY_FLAG" val="#wm#"/>
</p:tagLst>
</file>

<file path=ppt/tags/tag12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Lst>
</file>

<file path=ppt/tags/tag12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Lst>
</file>

<file path=ppt/tags/tag12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Lst>
</file>

<file path=ppt/tags/tag12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7*i*1"/>
  <p:tag name="KSO_WM_UNIT_LAYERLEVEL" val="1"/>
  <p:tag name="KSO_WM_TAG_VERSION" val="1.0"/>
  <p:tag name="KSO_WM_BEAUTIFY_FLAG" val="#wm#"/>
</p:tagLst>
</file>

<file path=ppt/tags/tag13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Lst>
</file>

<file path=ppt/tags/tag13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Lst>
</file>

<file path=ppt/tags/tag13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Lst>
</file>

<file path=ppt/tags/tag13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1"/>
  <p:tag name="KSO_WM_UNIT_TYPE" val="i"/>
  <p:tag name="KSO_WM_UNIT_INDEX" val="2"/>
</p:tagLst>
</file>

<file path=ppt/tags/tag145.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3"/>
  <p:tag name="KSO_WM_UNIT_ID" val="_18*i*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4"/>
  <p:tag name="KSO_WM_UNIT_ID" val="_18*i*4"/>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1"/>
  <p:tag name="KSO_WM_UNIT_TYPE" val="i"/>
  <p:tag name="KSO_WM_UNIT_INDEX" val="1"/>
</p:tagLst>
</file>

<file path=ppt/tags/tag148.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6"/>
  <p:tag name="KSO_WM_UNIT_ID" val="_18*i*6"/>
  <p:tag name="KSO_WM_UNIT_LAYERLEVEL" val="1"/>
  <p:tag name="KSO_WM_TAG_VERSION" val="1.0"/>
  <p:tag name="KSO_WM_BEAUTIFY_FLAG" val="#wm#"/>
</p:tagLst>
</file>

<file path=ppt/tags/tag14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5"/>
  <p:tag name="KSO_WM_UNIT_ID" val="_18*i*5"/>
  <p:tag name="KSO_WM_UNIT_LAYERLEVEL" val="1"/>
  <p:tag name="KSO_WM_TAG_VERSION" val="1.0"/>
  <p:tag name="KSO_WM_BEAUTIFY_FLAG" val="#wm#"/>
</p:tagLst>
</file>

<file path=ppt/tags/tag15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2.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4.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0.xml><?xml version="1.0" encoding="utf-8"?>
<p:tagLst xmlns:p="http://schemas.openxmlformats.org/presentationml/2006/main">
  <p:tag name="KSO_WM_TEMPLATE_SUBCATEGORY" val="0"/>
  <p:tag name="KSO_WM_TEMPLATE_COLOR_TYPE" val="1"/>
  <p:tag name="KSO_WM_TEMPLATE_MASTER_THUMB_INDEX" val="12"/>
  <p:tag name="KSO_WM_UNIT_SHOW_EDIT_AREA_INDICATION" val="0"/>
  <p:tag name="KSO_WM_TEMPLATE_THUMBS_INDEX" val="1、2、3、11、14"/>
  <p:tag name="KSO_WM_TAG_VERSION" val="1.0"/>
  <p:tag name="KSO_WM_BEAUTIFY_FLAG" val="#wm#"/>
  <p:tag name="KSO_WM_TEMPLATE_CATEGORY" val="custom"/>
  <p:tag name="KSO_WM_TEMPLATE_INDEX" val="20202545"/>
  <p:tag name="KSO_WM_TEMPLATE_MASTER_TYPE" val="1"/>
</p:tagLst>
</file>

<file path=ppt/tags/tag161.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162.xml><?xml version="1.0" encoding="utf-8"?>
<p:tagLst xmlns:p="http://schemas.openxmlformats.org/presentationml/2006/main">
  <p:tag name="KSO_WM_SLIDE_ID" val="custom2020254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45"/>
  <p:tag name="KSO_WM_SLIDE_LAYOUT" val="a_b"/>
  <p:tag name="KSO_WM_SLIDE_LAYOUT_CNT" val="1_3"/>
  <p:tag name="KSO_WM_UNIT_SHOW_EDIT_AREA_INDICATION" val="1"/>
  <p:tag name="KSO_WM_TEMPLATE_THUMBS_INDEX" val="1、2、6、7、9、11、14、15"/>
  <p:tag name="KSO_WM_TEMPLATE_MASTER_THUMB_INDEX" val="1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6.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67.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
</p:tagLst>
</file>

<file path=ppt/tags/tag168.xml><?xml version="1.0" encoding="utf-8"?>
<p:tagLst xmlns:p="http://schemas.openxmlformats.org/presentationml/2006/main">
  <p:tag name="KSO_WM_UNIT_ISCONTENTSTITLE" val="0"/>
  <p:tag name="KSO_WM_UNIT_ISNUMDGMTITLE" val="0"/>
  <p:tag name="KSO_WM_UNIT_PRESET_TEXT" val="单击此处添加文本具体内容"/>
  <p:tag name="KSO_WM_UNIT_NOCLEAR" val="0"/>
  <p:tag name="KSO_WM_UNIT_VALUE" val="63"/>
  <p:tag name="KSO_WM_UNIT_HIGHLIGHT" val="0"/>
  <p:tag name="KSO_WM_UNIT_COMPATIBLE" val="0"/>
  <p:tag name="KSO_WM_UNIT_DIAGRAM_ISNUMVISUAL" val="0"/>
  <p:tag name="KSO_WM_UNIT_DIAGRAM_ISREFERUNIT" val="0"/>
  <p:tag name="KSO_WM_UNIT_TYPE" val="b"/>
  <p:tag name="KSO_WM_UNIT_INDEX" val="1"/>
  <p:tag name="KSO_WM_UNIT_ID" val="custom20202545_7*b*1"/>
  <p:tag name="KSO_WM_TEMPLATE_CATEGORY" val="custom"/>
  <p:tag name="KSO_WM_TEMPLATE_INDEX" val="20202545"/>
  <p:tag name="KSO_WM_UNIT_LAYERLEVEL" val="1"/>
  <p:tag name="KSO_WM_TAG_VERSION" val="1.0"/>
  <p:tag name="KSO_WM_BEAUTIFY_FLAG" val=""/>
</p:tagLst>
</file>

<file path=ppt/tags/tag169.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2545_4*l_h_i*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2545_4*i*2"/>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2545_4*l_h_i*1_2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02545_4*l_h_i*1_2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custom20202545_4*l_h_i*1_3_3"/>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02545_4*i*3"/>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2545_4*l_h_i*1_3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2545_4*l_h_i*1_3_1"/>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2545_4*l_h_i*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02545_4*i*4"/>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2545_4*l_h_i*1_4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custom20202545_4*l_h_i*1_4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89.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545_4*l_h_f*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90.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545_4*l_h_f*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91.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545_4*l_h_f*1_3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92.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93.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545_4*a*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4.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199.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84.85}"/>
</p:tagLst>
</file>

<file path=ppt/tags/tag200.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201.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02.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03.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
</p:tagLst>
</file>

<file path=ppt/tags/tag204.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
</p:tagLst>
</file>

<file path=ppt/tags/tag205.xml><?xml version="1.0" encoding="utf-8"?>
<p:tagLst xmlns:p="http://schemas.openxmlformats.org/presentationml/2006/main">
  <p:tag name="KSO_WM_UNIT_PLACING_PICTURE_USER_VIEWPORT" val="{&quot;height&quot;:7582,&quot;width&quot;:7582}"/>
  <p:tag name="KSO_WM_UNIT_PLACING_PICTURE_USER_RELATIVERECTANGLE" val="{&quot;bottom&quot;:0,&quot;left&quot;:0,&quot;right&quot;:0,&quot;top&quot;:0}"/>
  <p:tag name="KSO_WM_UNIT_PLACING_PICTURE_COLLAGE_RELATIVERECTANGLE" val="{&quot;bottom&quot;:0,&quot;left&quot;:0.25494592455816406,&quot;right&quot;:0.25494592455816406,&quot;top&quot;:0}"/>
  <p:tag name="KSO_WM_UNIT_PLACING_PICTURE_COLLAGE_VIEWPORT" val="{&quot;height&quot;:7582,&quot;width&quot;:3716}"/>
</p:tagLst>
</file>

<file path=ppt/tags/tag206.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07.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08.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09.xml><?xml version="1.0" encoding="utf-8"?>
<p:tagLst xmlns:p="http://schemas.openxmlformats.org/presentationml/2006/main">
  <p:tag name="KSO_WM_UNIT_PLACING_PICTURE_USER_VIEWPORT" val="{&quot;height&quot;:4080,&quot;width&quot;:7597}"/>
</p:tagLst>
</file>

<file path=ppt/tags/tag210.xml><?xml version="1.0" encoding="utf-8"?>
<p:tagLst xmlns:p="http://schemas.openxmlformats.org/presentationml/2006/main">
  <p:tag name="KSO_WM_UNIT_PLACING_PICTURE_USER_VIEWPORT" val="{&quot;height&quot;:580,&quot;width&quot;:11632}"/>
</p:tagLst>
</file>

<file path=ppt/tags/tag211.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12.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
</p:tagLst>
</file>

<file path=ppt/tags/tag213.xml><?xml version="1.0" encoding="utf-8"?>
<p:tagLst xmlns:p="http://schemas.openxmlformats.org/presentationml/2006/main">
  <p:tag name="KSO_WM_UNIT_PLACING_PICTURE_USER_VIEWPORT" val="{&quot;height&quot;:580,&quot;width&quot;:11632}"/>
</p:tagLst>
</file>

<file path=ppt/tags/tag214.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15.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16.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17.xml><?xml version="1.0" encoding="utf-8"?>
<p:tagLst xmlns:p="http://schemas.openxmlformats.org/presentationml/2006/main">
  <p:tag name="KSO_WM_UNIT_PLACING_PICTURE_USER_VIEWPORT" val="{&quot;height&quot;:580,&quot;width&quot;:11632}"/>
</p:tagLst>
</file>

<file path=ppt/tags/tag218.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19.xml><?xml version="1.0" encoding="utf-8"?>
<p:tagLst xmlns:p="http://schemas.openxmlformats.org/presentationml/2006/main">
  <p:tag name="KSO_WM_UNIT_PLACING_PICTURE_USER_VIEWPORT" val="{&quot;height&quot;:5558,&quot;width&quot;:3574}"/>
</p:tagLst>
</file>

<file path=ppt/tags/tag220.xml><?xml version="1.0" encoding="utf-8"?>
<p:tagLst xmlns:p="http://schemas.openxmlformats.org/presentationml/2006/main">
  <p:tag name="KSO_WM_UNIT_PLACING_PICTURE_USER_VIEWPORT" val="{&quot;height&quot;:580,&quot;width&quot;:11632}"/>
</p:tagLst>
</file>

<file path=ppt/tags/tag221.xml><?xml version="1.0" encoding="utf-8"?>
<p:tagLst xmlns:p="http://schemas.openxmlformats.org/presentationml/2006/main">
  <p:tag name="KSO_WM_UNIT_PLACING_PICTURE_USER_VIEWPORT" val="{&quot;height&quot;:580,&quot;width&quot;:11632}"/>
</p:tagLst>
</file>

<file path=ppt/tags/tag222.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3.xml><?xml version="1.0" encoding="utf-8"?>
<p:tagLst xmlns:p="http://schemas.openxmlformats.org/presentationml/2006/main">
  <p:tag name="TABLE_ENDDRAG_ORIGIN_RECT" val="451*291"/>
  <p:tag name="TABLE_ENDDRAG_RECT" val="8*230*451*291"/>
</p:tagLst>
</file>

<file path=ppt/tags/tag224.xml><?xml version="1.0" encoding="utf-8"?>
<p:tagLst xmlns:p="http://schemas.openxmlformats.org/presentationml/2006/main">
  <p:tag name="KSO_WM_UNIT_PLACING_PICTURE_USER_VIEWPORT" val="{&quot;height&quot;:580,&quot;width&quot;:11632}"/>
</p:tagLst>
</file>

<file path=ppt/tags/tag225.xml><?xml version="1.0" encoding="utf-8"?>
<p:tagLst xmlns:p="http://schemas.openxmlformats.org/presentationml/2006/main">
  <p:tag name="KSO_WM_UNIT_PLACING_PICTURE_USER_VIEWPORT" val="{&quot;height&quot;:580,&quot;width&quot;:11632}"/>
</p:tagLst>
</file>

<file path=ppt/tags/tag226.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7.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28.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29.xml><?xml version="1.0" encoding="utf-8"?>
<p:tagLst xmlns:p="http://schemas.openxmlformats.org/presentationml/2006/main">
  <p:tag name="KSO_WM_BEAUTIFY_FLAG" val="#wm#"/>
  <p:tag name="KSO_WM_TEMPLATE_CATEGORY" val="custom"/>
  <p:tag name="KSO_WM_TEMPLATE_INDEX" val="20202545"/>
</p:tagLst>
</file>

<file path=ppt/tags/tag230.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31.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32.xml><?xml version="1.0" encoding="utf-8"?>
<p:tagLst xmlns:p="http://schemas.openxmlformats.org/presentationml/2006/main">
  <p:tag name="KSO_WM_BEAUTIFY_FLAG" val="#wm#"/>
  <p:tag name="KSO_WM_TEMPLATE_CATEGORY" val="custom"/>
  <p:tag name="KSO_WM_TEMPLATE_INDEX" val="20202545"/>
</p:tagLst>
</file>

<file path=ppt/tags/tag233.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34.xml><?xml version="1.0" encoding="utf-8"?>
<p:tagLst xmlns:p="http://schemas.openxmlformats.org/presentationml/2006/main">
  <p:tag name="KSO_WM_BEAUTIFY_FLAG" val="#wm#"/>
  <p:tag name="KSO_WM_TEMPLATE_CATEGORY" val="custom"/>
  <p:tag name="KSO_WM_TEMPLATE_INDEX" val="20202545"/>
</p:tagLst>
</file>

<file path=ppt/tags/tag235.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36.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37.xml><?xml version="1.0" encoding="utf-8"?>
<p:tagLst xmlns:p="http://schemas.openxmlformats.org/presentationml/2006/main">
  <p:tag name="KSO_WM_UNIT_PLACING_PICTURE_USER_VIEWPORT" val="{&quot;height&quot;:580,&quot;width&quot;:11632}"/>
</p:tagLst>
</file>

<file path=ppt/tags/tag238.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39.xml><?xml version="1.0" encoding="utf-8"?>
<p:tagLst xmlns:p="http://schemas.openxmlformats.org/presentationml/2006/main">
  <p:tag name="KSO_WM_UNIT_PLACING_PICTURE_USER_VIEWPORT" val="{&quot;height&quot;:580,&quot;width&quot;:11632}"/>
</p:tagLst>
</file>

<file path=ppt/tags/tag240.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1.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42.xml><?xml version="1.0" encoding="utf-8"?>
<p:tagLst xmlns:p="http://schemas.openxmlformats.org/presentationml/2006/main">
  <p:tag name="KSO_WM_UNIT_PLACING_PICTURE_USER_VIEWPORT" val="{&quot;height&quot;:580,&quot;width&quot;:11632}"/>
</p:tagLst>
</file>

<file path=ppt/tags/tag243.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4.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45.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46.xml><?xml version="1.0" encoding="utf-8"?>
<p:tagLst xmlns:p="http://schemas.openxmlformats.org/presentationml/2006/main">
  <p:tag name="KSO_WM_UNIT_PLACING_PICTURE_USER_VIEWPORT" val="{&quot;height&quot;:580,&quot;width&quot;:11632}"/>
</p:tagLst>
</file>

<file path=ppt/tags/tag247.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48.xml><?xml version="1.0" encoding="utf-8"?>
<p:tagLst xmlns:p="http://schemas.openxmlformats.org/presentationml/2006/main">
  <p:tag name="KSO_WM_BEAUTIFY_FLAG" val="#wm#"/>
  <p:tag name="KSO_WM_TEMPLATE_CATEGORY" val="custom"/>
  <p:tag name="KSO_WM_TEMPLATE_INDEX" val="20202545"/>
</p:tagLst>
</file>

<file path=ppt/tags/tag249.xml><?xml version="1.0" encoding="utf-8"?>
<p:tagLst xmlns:p="http://schemas.openxmlformats.org/presentationml/2006/main">
  <p:tag name="KSO_WM_BEAUTIFY_FLAG" val="#wm#"/>
  <p:tag name="KSO_WM_TEMPLATE_CATEGORY" val="custom"/>
  <p:tag name="KSO_WM_TEMPLATE_INDEX" val="20202545"/>
</p:tagLst>
</file>

<file path=ppt/tags/tag250.xml><?xml version="1.0" encoding="utf-8"?>
<p:tagLst xmlns:p="http://schemas.openxmlformats.org/presentationml/2006/main">
  <p:tag name="KSO_WM_BEAUTIFY_FLAG" val="#wm#"/>
  <p:tag name="KSO_WM_TEMPLATE_CATEGORY" val="custom"/>
  <p:tag name="KSO_WM_TEMPLATE_INDEX" val="20202545"/>
</p:tagLst>
</file>

<file path=ppt/tags/tag251.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52.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53.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54.xml><?xml version="1.0" encoding="utf-8"?>
<p:tagLst xmlns:p="http://schemas.openxmlformats.org/presentationml/2006/main">
  <p:tag name="KSO_WM_BEAUTIFY_FLAG" val="#wm#"/>
  <p:tag name="KSO_WM_TEMPLATE_CATEGORY" val="custom"/>
  <p:tag name="KSO_WM_TEMPLATE_INDEX" val="20202545"/>
</p:tagLst>
</file>

<file path=ppt/tags/tag255.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545_15*a*1"/>
  <p:tag name="KSO_WM_TEMPLATE_CATEGORY" val="custom"/>
  <p:tag name="KSO_WM_TEMPLATE_INDEX" val="20202545"/>
  <p:tag name="KSO_WM_UNIT_LAYERLEVEL" val="1"/>
  <p:tag name="KSO_WM_TAG_VERSION" val="1.0"/>
  <p:tag name="KSO_WM_BEAUTIFY_FLAG" val="#wm#"/>
  <p:tag name="KSO_WM_UNIT_PRESET_TEXT" val="THANKS"/>
</p:tagLst>
</file>

<file path=ppt/tags/tag256.xml><?xml version="1.0" encoding="utf-8"?>
<p:tagLst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257.xml><?xml version="1.0" encoding="utf-8"?>
<p:tagLst xmlns:p="http://schemas.openxmlformats.org/presentationml/2006/main">
  <p:tag name="commondata" val="eyJoZGlkIjoiZjAxMDMxNTc0NmE5YzRlNTQ4ZmI5MzlkYzI5NmM5MGYifQ=="/>
</p:tagLst>
</file>

<file path=ppt/theme/theme1.xml><?xml version="1.0" encoding="utf-8"?>
<a:theme xmlns:a="http://schemas.openxmlformats.org/drawingml/2006/main" name="2_Office 主题​​">
  <a:themeElements>
    <a:clrScheme name="">
      <a:dk1>
        <a:srgbClr val="000000"/>
      </a:dk1>
      <a:lt1>
        <a:srgbClr val="FFFFFF"/>
      </a:lt1>
      <a:dk2>
        <a:srgbClr val="333333"/>
      </a:dk2>
      <a:lt2>
        <a:srgbClr val="FFFFFF"/>
      </a:lt2>
      <a:accent1>
        <a:srgbClr val="5C8FC7"/>
      </a:accent1>
      <a:accent2>
        <a:srgbClr val="6E82BA"/>
      </a:accent2>
      <a:accent3>
        <a:srgbClr val="8376B0"/>
      </a:accent3>
      <a:accent4>
        <a:srgbClr val="9868A3"/>
      </a:accent4>
      <a:accent5>
        <a:srgbClr val="AE5B97"/>
      </a:accent5>
      <a:accent6>
        <a:srgbClr val="C44B8A"/>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6309</Words>
  <Application>WPS 演示</Application>
  <PresentationFormat>宽屏</PresentationFormat>
  <Paragraphs>547</Paragraphs>
  <Slides>23</Slides>
  <Notes>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23</vt:i4>
      </vt:variant>
    </vt:vector>
  </HeadingPairs>
  <TitlesOfParts>
    <vt:vector size="39" baseType="lpstr">
      <vt:lpstr>Arial</vt:lpstr>
      <vt:lpstr>宋体</vt:lpstr>
      <vt:lpstr>Wingdings</vt:lpstr>
      <vt:lpstr>微软雅黑</vt:lpstr>
      <vt:lpstr>汉仪旗黑-85S</vt:lpstr>
      <vt:lpstr>黑体</vt:lpstr>
      <vt:lpstr>Viner Hand ITC</vt:lpstr>
      <vt:lpstr>华光彩云_CNKI</vt:lpstr>
      <vt:lpstr>Bodoni MT Black</vt:lpstr>
      <vt:lpstr>Segoe Print</vt:lpstr>
      <vt:lpstr>Wingdings</vt:lpstr>
      <vt:lpstr>Arial Unicode MS</vt:lpstr>
      <vt:lpstr>Calibri</vt:lpstr>
      <vt:lpstr>Arial</vt:lpstr>
      <vt:lpstr>Times New Roman</vt:lpstr>
      <vt:lpstr>2_Office 主题​​</vt:lpstr>
      <vt:lpstr>软件工程导论（第6版）</vt:lpstr>
      <vt:lpstr>第5章  详细设计</vt:lpstr>
      <vt:lpstr>PowerPoint 演示文稿</vt:lpstr>
      <vt:lpstr>结构程序设计</vt:lpstr>
      <vt:lpstr>PowerPoint 演示文稿</vt:lpstr>
      <vt:lpstr>人机界面设计</vt:lpstr>
      <vt:lpstr>PowerPoint 演示文稿</vt:lpstr>
      <vt:lpstr>过程设计的工具</vt:lpstr>
      <vt:lpstr>PowerPoint 演示文稿</vt:lpstr>
      <vt:lpstr>PowerPoint 演示文稿</vt:lpstr>
      <vt:lpstr>PowerPoint 演示文稿</vt:lpstr>
      <vt:lpstr>PowerPoint 演示文稿</vt:lpstr>
      <vt:lpstr>PowerPoint 演示文稿</vt:lpstr>
      <vt:lpstr>面向数据结构的设计方法</vt:lpstr>
      <vt:lpstr>PowerPoint 演示文稿</vt:lpstr>
      <vt:lpstr>PowerPoint 演示文稿</vt:lpstr>
      <vt:lpstr>程序复杂程度的定量度量</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邵kun</cp:lastModifiedBy>
  <cp:revision>296</cp:revision>
  <dcterms:created xsi:type="dcterms:W3CDTF">2019-06-19T02:08:00Z</dcterms:created>
  <dcterms:modified xsi:type="dcterms:W3CDTF">2026-04-12T23:41:06Z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ED8D478EFE0E41A5AB7E6A134879FB22_13</vt:lpwstr>
  </property>
</Properties>
</file>