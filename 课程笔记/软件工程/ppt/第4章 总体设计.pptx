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7" r:id="rId3"/>
    <p:sldId id="261" r:id="rId4"/>
    <p:sldId id="273" r:id="rId5"/>
    <p:sldId id="297" r:id="rId6"/>
    <p:sldId id="320" r:id="rId8"/>
    <p:sldId id="274" r:id="rId9"/>
    <p:sldId id="325" r:id="rId10"/>
    <p:sldId id="330" r:id="rId11"/>
    <p:sldId id="331" r:id="rId12"/>
    <p:sldId id="332" r:id="rId13"/>
    <p:sldId id="327" r:id="rId14"/>
    <p:sldId id="333" r:id="rId15"/>
    <p:sldId id="334" r:id="rId16"/>
    <p:sldId id="335" r:id="rId17"/>
    <p:sldId id="336" r:id="rId18"/>
    <p:sldId id="341" r:id="rId19"/>
    <p:sldId id="339" r:id="rId20"/>
    <p:sldId id="272" r:id="rId21"/>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2"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w" initials="w" lastIdx="3"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5D5FF"/>
    <a:srgbClr val="485C96"/>
    <a:srgbClr val="AE5B97"/>
    <a:srgbClr val="8376B0"/>
    <a:srgbClr val="C44B8A"/>
    <a:srgbClr val="C9FBA3"/>
    <a:srgbClr val="45DB77"/>
    <a:srgbClr val="91DA9D"/>
    <a:srgbClr val="DCF1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2"/>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254.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5-02-24T16:16:04.750" idx="3">
    <p:pos x="10" y="10"/>
    <p:text/>
  </p:cm>
</p:cmLst>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795CEB20-4012-473F-BDE3-30D70CDB0AEC}" type="doc">
      <dgm:prSet loTypeId="urn:microsoft.com/office/officeart/2005/8/layout/hProcess9" loCatId="process" qsTypeId="urn:microsoft.com/office/officeart/2005/8/quickstyle/simple2" qsCatId="simple" csTypeId="urn:microsoft.com/office/officeart/2005/8/colors/colorful1#1" csCatId="colorful" phldr="1"/>
      <dgm:spPr/>
    </dgm:pt>
    <dgm:pt modelId="{B26A3339-9293-434C-A0C6-127D0B557342}">
      <dgm:prSet phldrT="[文本]"/>
      <dgm:spPr/>
      <dgm:t>
        <a:bodyPr/>
        <a:lstStyle/>
        <a:p>
          <a:r>
            <a:rPr lang="en-US" altLang="zh-CN" dirty="0" smtClean="0"/>
            <a:t>1.</a:t>
          </a:r>
          <a:r>
            <a:rPr lang="zh-CN" altLang="en-US" dirty="0" smtClean="0"/>
            <a:t>设想供选择的方案</a:t>
          </a:r>
          <a:endParaRPr lang="zh-CN" altLang="en-US" dirty="0"/>
        </a:p>
      </dgm:t>
    </dgm:pt>
    <dgm:pt modelId="{75956939-D588-46F3-B5FD-16AD7CEB3192}" cxnId="{7C5502D9-5F42-4E9A-8D37-37203F2D3673}" type="parTrans">
      <dgm:prSet/>
      <dgm:spPr/>
      <dgm:t>
        <a:bodyPr/>
        <a:lstStyle/>
        <a:p>
          <a:endParaRPr lang="zh-CN" altLang="en-US"/>
        </a:p>
      </dgm:t>
    </dgm:pt>
    <dgm:pt modelId="{1CF9A316-0709-4DE1-9F8A-0E0DDB23A7E6}" cxnId="{7C5502D9-5F42-4E9A-8D37-37203F2D3673}" type="sibTrans">
      <dgm:prSet/>
      <dgm:spPr/>
      <dgm:t>
        <a:bodyPr/>
        <a:lstStyle/>
        <a:p>
          <a:endParaRPr lang="zh-CN" altLang="en-US"/>
        </a:p>
      </dgm:t>
    </dgm:pt>
    <dgm:pt modelId="{7A87AAFB-67BF-480C-A170-EBBF8F52C639}">
      <dgm:prSet phldrT="[文本]"/>
      <dgm:spPr/>
      <dgm:t>
        <a:bodyPr/>
        <a:lstStyle/>
        <a:p>
          <a:r>
            <a:rPr lang="en-US" altLang="zh-CN" dirty="0" smtClean="0"/>
            <a:t>2.</a:t>
          </a:r>
          <a:r>
            <a:rPr lang="zh-CN" altLang="en-US" dirty="0" smtClean="0"/>
            <a:t>选取合理的方案</a:t>
          </a:r>
          <a:endParaRPr lang="zh-CN" altLang="en-US" dirty="0"/>
        </a:p>
      </dgm:t>
    </dgm:pt>
    <dgm:pt modelId="{D75E578B-15CC-4470-9507-67FE92FAB533}" cxnId="{1663B683-1805-429B-BDA2-109D2E01F2C1}" type="parTrans">
      <dgm:prSet/>
      <dgm:spPr/>
      <dgm:t>
        <a:bodyPr/>
        <a:lstStyle/>
        <a:p>
          <a:endParaRPr lang="zh-CN" altLang="en-US"/>
        </a:p>
      </dgm:t>
    </dgm:pt>
    <dgm:pt modelId="{0A038A12-0596-4356-A39B-FAB38D576F22}" cxnId="{1663B683-1805-429B-BDA2-109D2E01F2C1}" type="sibTrans">
      <dgm:prSet/>
      <dgm:spPr/>
      <dgm:t>
        <a:bodyPr/>
        <a:lstStyle/>
        <a:p>
          <a:endParaRPr lang="zh-CN" altLang="en-US"/>
        </a:p>
      </dgm:t>
    </dgm:pt>
    <dgm:pt modelId="{DCACC8E3-8B40-4A6D-A67E-F6F389A9977E}">
      <dgm:prSet phldrT="[文本]"/>
      <dgm:spPr/>
      <dgm:t>
        <a:bodyPr/>
        <a:lstStyle/>
        <a:p>
          <a:r>
            <a:rPr lang="en-US" altLang="zh-CN" dirty="0" smtClean="0"/>
            <a:t>8.</a:t>
          </a:r>
          <a:r>
            <a:rPr lang="zh-CN" altLang="en-US" dirty="0" smtClean="0"/>
            <a:t>书写文档</a:t>
          </a:r>
          <a:endParaRPr lang="zh-CN" altLang="en-US" dirty="0"/>
        </a:p>
      </dgm:t>
    </dgm:pt>
    <dgm:pt modelId="{551A9D83-6359-429C-BD06-6FE01DC8CB00}" cxnId="{29533CD8-82BC-40D1-8702-6F5B9AA548F9}" type="parTrans">
      <dgm:prSet/>
      <dgm:spPr/>
      <dgm:t>
        <a:bodyPr/>
        <a:lstStyle/>
        <a:p>
          <a:endParaRPr lang="zh-CN" altLang="en-US"/>
        </a:p>
      </dgm:t>
    </dgm:pt>
    <dgm:pt modelId="{B533D06F-2D2F-4AFA-8B64-8B6B8D203E3D}" cxnId="{29533CD8-82BC-40D1-8702-6F5B9AA548F9}" type="sibTrans">
      <dgm:prSet/>
      <dgm:spPr/>
      <dgm:t>
        <a:bodyPr/>
        <a:lstStyle/>
        <a:p>
          <a:endParaRPr lang="zh-CN" altLang="en-US"/>
        </a:p>
      </dgm:t>
    </dgm:pt>
    <dgm:pt modelId="{A8C84B0C-4F7B-4570-9FDB-3A97B8F7726B}">
      <dgm:prSet phldrT="[文本]"/>
      <dgm:spPr/>
      <dgm:t>
        <a:bodyPr/>
        <a:lstStyle/>
        <a:p>
          <a:r>
            <a:rPr lang="en-US" altLang="zh-CN" dirty="0" smtClean="0"/>
            <a:t>3.</a:t>
          </a:r>
          <a:r>
            <a:rPr lang="zh-CN" altLang="en-US" dirty="0" smtClean="0"/>
            <a:t>推荐最佳方案</a:t>
          </a:r>
          <a:endParaRPr lang="zh-CN" altLang="en-US" dirty="0"/>
        </a:p>
      </dgm:t>
    </dgm:pt>
    <dgm:pt modelId="{2D855070-A5F8-4068-A7D1-46500D5ACFEE}" cxnId="{76220BF8-DAAA-4508-AB64-6A588BBFCA9B}" type="parTrans">
      <dgm:prSet/>
      <dgm:spPr/>
      <dgm:t>
        <a:bodyPr/>
        <a:lstStyle/>
        <a:p>
          <a:endParaRPr lang="zh-CN" altLang="en-US"/>
        </a:p>
      </dgm:t>
    </dgm:pt>
    <dgm:pt modelId="{8969FCFE-BA23-473F-ABF7-5EF94679573D}" cxnId="{76220BF8-DAAA-4508-AB64-6A588BBFCA9B}" type="sibTrans">
      <dgm:prSet/>
      <dgm:spPr/>
      <dgm:t>
        <a:bodyPr/>
        <a:lstStyle/>
        <a:p>
          <a:endParaRPr lang="zh-CN" altLang="en-US"/>
        </a:p>
      </dgm:t>
    </dgm:pt>
    <dgm:pt modelId="{BD07FEDF-46ED-4BFA-8BE8-F6F2CBDE3365}">
      <dgm:prSet phldrT="[文本]"/>
      <dgm:spPr/>
      <dgm:t>
        <a:bodyPr/>
        <a:lstStyle/>
        <a:p>
          <a:r>
            <a:rPr lang="en-US" altLang="zh-CN" dirty="0" smtClean="0"/>
            <a:t>4.</a:t>
          </a:r>
          <a:r>
            <a:rPr lang="zh-CN" altLang="en-US" dirty="0" smtClean="0"/>
            <a:t>功能分解</a:t>
          </a:r>
          <a:endParaRPr lang="zh-CN" altLang="en-US" dirty="0"/>
        </a:p>
      </dgm:t>
    </dgm:pt>
    <dgm:pt modelId="{70E2839F-8C9E-422F-B06D-E5D5170E9FFB}" cxnId="{B6A96B61-107D-4D1F-AC32-833D43B4CF31}" type="parTrans">
      <dgm:prSet/>
      <dgm:spPr/>
      <dgm:t>
        <a:bodyPr/>
        <a:lstStyle/>
        <a:p>
          <a:endParaRPr lang="zh-CN" altLang="en-US"/>
        </a:p>
      </dgm:t>
    </dgm:pt>
    <dgm:pt modelId="{3A420B23-29C6-4A0B-AADA-D3283B5D0042}" cxnId="{B6A96B61-107D-4D1F-AC32-833D43B4CF31}" type="sibTrans">
      <dgm:prSet/>
      <dgm:spPr/>
      <dgm:t>
        <a:bodyPr/>
        <a:lstStyle/>
        <a:p>
          <a:endParaRPr lang="zh-CN" altLang="en-US"/>
        </a:p>
      </dgm:t>
    </dgm:pt>
    <dgm:pt modelId="{8BC9C138-07E8-478A-AF8B-78A85228B3CF}">
      <dgm:prSet phldrT="[文本]"/>
      <dgm:spPr/>
      <dgm:t>
        <a:bodyPr/>
        <a:lstStyle/>
        <a:p>
          <a:r>
            <a:rPr lang="en-US" altLang="zh-CN" dirty="0" smtClean="0"/>
            <a:t>5.</a:t>
          </a:r>
          <a:r>
            <a:rPr lang="zh-CN" altLang="en-US" dirty="0" smtClean="0"/>
            <a:t>设计软件结构</a:t>
          </a:r>
          <a:endParaRPr lang="zh-CN" altLang="en-US" dirty="0"/>
        </a:p>
      </dgm:t>
    </dgm:pt>
    <dgm:pt modelId="{C09C26AC-CF7A-4FF8-B14E-07D27B9BDDFB}" cxnId="{BBDFF546-0B1E-4177-9AFC-394F0CACBFE2}" type="parTrans">
      <dgm:prSet/>
      <dgm:spPr/>
      <dgm:t>
        <a:bodyPr/>
        <a:lstStyle/>
        <a:p>
          <a:endParaRPr lang="zh-CN" altLang="en-US"/>
        </a:p>
      </dgm:t>
    </dgm:pt>
    <dgm:pt modelId="{333F5611-1711-4981-927E-DBC4AA3088C5}" cxnId="{BBDFF546-0B1E-4177-9AFC-394F0CACBFE2}" type="sibTrans">
      <dgm:prSet/>
      <dgm:spPr/>
      <dgm:t>
        <a:bodyPr/>
        <a:lstStyle/>
        <a:p>
          <a:endParaRPr lang="zh-CN" altLang="en-US"/>
        </a:p>
      </dgm:t>
    </dgm:pt>
    <dgm:pt modelId="{D96A33C9-BE81-4546-A5C6-AE992F614776}">
      <dgm:prSet phldrT="[文本]"/>
      <dgm:spPr/>
      <dgm:t>
        <a:bodyPr/>
        <a:lstStyle/>
        <a:p>
          <a:r>
            <a:rPr lang="en-US" altLang="zh-CN" dirty="0" smtClean="0"/>
            <a:t>6.</a:t>
          </a:r>
          <a:r>
            <a:rPr lang="zh-CN" altLang="en-US" dirty="0" smtClean="0"/>
            <a:t>设计数据库</a:t>
          </a:r>
          <a:endParaRPr lang="zh-CN" altLang="en-US" dirty="0"/>
        </a:p>
      </dgm:t>
    </dgm:pt>
    <dgm:pt modelId="{04A684BC-C289-4804-9C87-D41D2D0CEDE6}" cxnId="{DADDE4DD-4AB3-4031-AD0F-024A7C27A565}" type="parTrans">
      <dgm:prSet/>
      <dgm:spPr/>
      <dgm:t>
        <a:bodyPr/>
        <a:lstStyle/>
        <a:p>
          <a:endParaRPr lang="zh-CN" altLang="en-US"/>
        </a:p>
      </dgm:t>
    </dgm:pt>
    <dgm:pt modelId="{693965D4-69EB-4B07-ABBD-6FB078FC6259}" cxnId="{DADDE4DD-4AB3-4031-AD0F-024A7C27A565}" type="sibTrans">
      <dgm:prSet/>
      <dgm:spPr/>
      <dgm:t>
        <a:bodyPr/>
        <a:lstStyle/>
        <a:p>
          <a:endParaRPr lang="zh-CN" altLang="en-US"/>
        </a:p>
      </dgm:t>
    </dgm:pt>
    <dgm:pt modelId="{FD7BB788-ECDE-4565-9F13-C8C5357DE502}">
      <dgm:prSet phldrT="[文本]"/>
      <dgm:spPr/>
      <dgm:t>
        <a:bodyPr/>
        <a:lstStyle/>
        <a:p>
          <a:r>
            <a:rPr lang="en-US" altLang="zh-CN" dirty="0" smtClean="0"/>
            <a:t>7.</a:t>
          </a:r>
          <a:r>
            <a:rPr lang="zh-CN" altLang="en-US" dirty="0" smtClean="0"/>
            <a:t>制定测试计划</a:t>
          </a:r>
          <a:endParaRPr lang="zh-CN" altLang="en-US" dirty="0"/>
        </a:p>
      </dgm:t>
    </dgm:pt>
    <dgm:pt modelId="{ECF933D7-05B1-40A5-A445-2F035E768308}" cxnId="{D9F626B8-7F17-4E58-8737-83EDB3B0B5A8}" type="parTrans">
      <dgm:prSet/>
      <dgm:spPr/>
      <dgm:t>
        <a:bodyPr/>
        <a:lstStyle/>
        <a:p>
          <a:endParaRPr lang="zh-CN" altLang="en-US"/>
        </a:p>
      </dgm:t>
    </dgm:pt>
    <dgm:pt modelId="{055CB2B4-67C7-4BB0-A19B-73562D2D07E0}" cxnId="{D9F626B8-7F17-4E58-8737-83EDB3B0B5A8}" type="sibTrans">
      <dgm:prSet/>
      <dgm:spPr/>
      <dgm:t>
        <a:bodyPr/>
        <a:lstStyle/>
        <a:p>
          <a:endParaRPr lang="zh-CN" altLang="en-US"/>
        </a:p>
      </dgm:t>
    </dgm:pt>
    <dgm:pt modelId="{CE590ED1-EDC2-42BA-8A42-5C8E1F9DFE0D}">
      <dgm:prSet phldrT="[文本]"/>
      <dgm:spPr/>
      <dgm:t>
        <a:bodyPr/>
        <a:lstStyle/>
        <a:p>
          <a:r>
            <a:rPr lang="en-US" altLang="zh-CN" dirty="0" smtClean="0"/>
            <a:t>9.</a:t>
          </a:r>
          <a:r>
            <a:rPr lang="zh-CN" altLang="en-US" dirty="0" smtClean="0"/>
            <a:t>审查和复审</a:t>
          </a:r>
          <a:endParaRPr lang="zh-CN" altLang="en-US" dirty="0"/>
        </a:p>
      </dgm:t>
    </dgm:pt>
    <dgm:pt modelId="{AE74CC9D-53A2-422D-80A1-CC31D0A219CC}" cxnId="{67B3E449-AE0B-4B61-BC88-F9BE3C0CE9EE}" type="parTrans">
      <dgm:prSet/>
      <dgm:spPr/>
      <dgm:t>
        <a:bodyPr/>
        <a:lstStyle/>
        <a:p>
          <a:endParaRPr lang="zh-CN" altLang="en-US"/>
        </a:p>
      </dgm:t>
    </dgm:pt>
    <dgm:pt modelId="{26DAB3A8-F677-49D3-8BBF-09A8E4CA3AA1}" cxnId="{67B3E449-AE0B-4B61-BC88-F9BE3C0CE9EE}" type="sibTrans">
      <dgm:prSet/>
      <dgm:spPr/>
      <dgm:t>
        <a:bodyPr/>
        <a:lstStyle/>
        <a:p>
          <a:endParaRPr lang="zh-CN" altLang="en-US"/>
        </a:p>
      </dgm:t>
    </dgm:pt>
    <dgm:pt modelId="{86B70C79-1BBA-4D16-BD82-9A40041C139D}" type="pres">
      <dgm:prSet presAssocID="{795CEB20-4012-473F-BDE3-30D70CDB0AEC}" presName="CompostProcess" presStyleCnt="0">
        <dgm:presLayoutVars>
          <dgm:dir/>
          <dgm:resizeHandles val="exact"/>
        </dgm:presLayoutVars>
      </dgm:prSet>
      <dgm:spPr/>
    </dgm:pt>
    <dgm:pt modelId="{675A4596-448F-4DE8-B9E8-945AE8924252}" type="pres">
      <dgm:prSet presAssocID="{795CEB20-4012-473F-BDE3-30D70CDB0AEC}" presName="arrow" presStyleLbl="bgShp" presStyleIdx="0" presStyleCnt="1" custLinFactNeighborX="-4196" custLinFactNeighborY="28183"/>
      <dgm:spPr/>
    </dgm:pt>
    <dgm:pt modelId="{A8799634-EC1C-41D1-BBB9-C9B363C1921A}" type="pres">
      <dgm:prSet presAssocID="{795CEB20-4012-473F-BDE3-30D70CDB0AEC}" presName="linearProcess" presStyleCnt="0"/>
      <dgm:spPr/>
    </dgm:pt>
    <dgm:pt modelId="{B5C9D5C4-62E0-4127-A437-DA4FB9CBFD29}" type="pres">
      <dgm:prSet presAssocID="{B26A3339-9293-434C-A0C6-127D0B557342}" presName="textNode" presStyleLbl="node1" presStyleIdx="0" presStyleCnt="9">
        <dgm:presLayoutVars>
          <dgm:bulletEnabled val="1"/>
        </dgm:presLayoutVars>
      </dgm:prSet>
      <dgm:spPr/>
      <dgm:t>
        <a:bodyPr/>
        <a:lstStyle/>
        <a:p>
          <a:endParaRPr lang="zh-CN" altLang="en-US"/>
        </a:p>
      </dgm:t>
    </dgm:pt>
    <dgm:pt modelId="{8B2F8BB6-E160-4FC0-8FF7-90B804CD8112}" type="pres">
      <dgm:prSet presAssocID="{1CF9A316-0709-4DE1-9F8A-0E0DDB23A7E6}" presName="sibTrans" presStyleCnt="0"/>
      <dgm:spPr/>
    </dgm:pt>
    <dgm:pt modelId="{9AC638AA-4118-46D7-9C19-812A2389F7AF}" type="pres">
      <dgm:prSet presAssocID="{7A87AAFB-67BF-480C-A170-EBBF8F52C639}" presName="textNode" presStyleLbl="node1" presStyleIdx="1" presStyleCnt="9">
        <dgm:presLayoutVars>
          <dgm:bulletEnabled val="1"/>
        </dgm:presLayoutVars>
      </dgm:prSet>
      <dgm:spPr/>
      <dgm:t>
        <a:bodyPr/>
        <a:lstStyle/>
        <a:p>
          <a:endParaRPr lang="zh-CN" altLang="en-US"/>
        </a:p>
      </dgm:t>
    </dgm:pt>
    <dgm:pt modelId="{2B12B4A7-4B9A-4A3E-A43A-9560D25644E0}" type="pres">
      <dgm:prSet presAssocID="{0A038A12-0596-4356-A39B-FAB38D576F22}" presName="sibTrans" presStyleCnt="0"/>
      <dgm:spPr/>
    </dgm:pt>
    <dgm:pt modelId="{E61B7969-2C12-430E-B223-CEA08ABCACCD}" type="pres">
      <dgm:prSet presAssocID="{A8C84B0C-4F7B-4570-9FDB-3A97B8F7726B}" presName="textNode" presStyleLbl="node1" presStyleIdx="2" presStyleCnt="9">
        <dgm:presLayoutVars>
          <dgm:bulletEnabled val="1"/>
        </dgm:presLayoutVars>
      </dgm:prSet>
      <dgm:spPr/>
      <dgm:t>
        <a:bodyPr/>
        <a:lstStyle/>
        <a:p>
          <a:endParaRPr lang="zh-CN" altLang="en-US"/>
        </a:p>
      </dgm:t>
    </dgm:pt>
    <dgm:pt modelId="{B7F06F33-B651-4424-9F95-31579012BBAC}" type="pres">
      <dgm:prSet presAssocID="{8969FCFE-BA23-473F-ABF7-5EF94679573D}" presName="sibTrans" presStyleCnt="0"/>
      <dgm:spPr/>
    </dgm:pt>
    <dgm:pt modelId="{C6D392D6-2A75-421C-8620-73601259257C}" type="pres">
      <dgm:prSet presAssocID="{BD07FEDF-46ED-4BFA-8BE8-F6F2CBDE3365}" presName="textNode" presStyleLbl="node1" presStyleIdx="3" presStyleCnt="9">
        <dgm:presLayoutVars>
          <dgm:bulletEnabled val="1"/>
        </dgm:presLayoutVars>
      </dgm:prSet>
      <dgm:spPr/>
      <dgm:t>
        <a:bodyPr/>
        <a:lstStyle/>
        <a:p>
          <a:endParaRPr lang="zh-CN" altLang="en-US"/>
        </a:p>
      </dgm:t>
    </dgm:pt>
    <dgm:pt modelId="{34F1E9C7-7B74-4001-AD55-60B538BA5804}" type="pres">
      <dgm:prSet presAssocID="{3A420B23-29C6-4A0B-AADA-D3283B5D0042}" presName="sibTrans" presStyleCnt="0"/>
      <dgm:spPr/>
    </dgm:pt>
    <dgm:pt modelId="{30FEFDE0-72C5-43C4-86AB-9A4EB5DF3D13}" type="pres">
      <dgm:prSet presAssocID="{8BC9C138-07E8-478A-AF8B-78A85228B3CF}" presName="textNode" presStyleLbl="node1" presStyleIdx="4" presStyleCnt="9">
        <dgm:presLayoutVars>
          <dgm:bulletEnabled val="1"/>
        </dgm:presLayoutVars>
      </dgm:prSet>
      <dgm:spPr/>
      <dgm:t>
        <a:bodyPr/>
        <a:lstStyle/>
        <a:p>
          <a:endParaRPr lang="zh-CN" altLang="en-US"/>
        </a:p>
      </dgm:t>
    </dgm:pt>
    <dgm:pt modelId="{CA933ADA-A6CC-4864-AE29-FA0306024C97}" type="pres">
      <dgm:prSet presAssocID="{333F5611-1711-4981-927E-DBC4AA3088C5}" presName="sibTrans" presStyleCnt="0"/>
      <dgm:spPr/>
    </dgm:pt>
    <dgm:pt modelId="{81401272-BC52-4F83-AC08-AF7A4519B21B}" type="pres">
      <dgm:prSet presAssocID="{D96A33C9-BE81-4546-A5C6-AE992F614776}" presName="textNode" presStyleLbl="node1" presStyleIdx="5" presStyleCnt="9">
        <dgm:presLayoutVars>
          <dgm:bulletEnabled val="1"/>
        </dgm:presLayoutVars>
      </dgm:prSet>
      <dgm:spPr/>
      <dgm:t>
        <a:bodyPr/>
        <a:lstStyle/>
        <a:p>
          <a:endParaRPr lang="zh-CN" altLang="en-US"/>
        </a:p>
      </dgm:t>
    </dgm:pt>
    <dgm:pt modelId="{D526A650-0AEB-4776-917C-953A14507079}" type="pres">
      <dgm:prSet presAssocID="{693965D4-69EB-4B07-ABBD-6FB078FC6259}" presName="sibTrans" presStyleCnt="0"/>
      <dgm:spPr/>
    </dgm:pt>
    <dgm:pt modelId="{5AD40EA0-F5B0-4336-9071-D126AF3ADCB8}" type="pres">
      <dgm:prSet presAssocID="{FD7BB788-ECDE-4565-9F13-C8C5357DE502}" presName="textNode" presStyleLbl="node1" presStyleIdx="6" presStyleCnt="9">
        <dgm:presLayoutVars>
          <dgm:bulletEnabled val="1"/>
        </dgm:presLayoutVars>
      </dgm:prSet>
      <dgm:spPr/>
      <dgm:t>
        <a:bodyPr/>
        <a:lstStyle/>
        <a:p>
          <a:endParaRPr lang="zh-CN" altLang="en-US"/>
        </a:p>
      </dgm:t>
    </dgm:pt>
    <dgm:pt modelId="{F022BB1A-1216-41BD-BAC6-1AEF5B4B299E}" type="pres">
      <dgm:prSet presAssocID="{055CB2B4-67C7-4BB0-A19B-73562D2D07E0}" presName="sibTrans" presStyleCnt="0"/>
      <dgm:spPr/>
    </dgm:pt>
    <dgm:pt modelId="{5250536A-FD7D-417D-8357-C9A3DAF33E3D}" type="pres">
      <dgm:prSet presAssocID="{DCACC8E3-8B40-4A6D-A67E-F6F389A9977E}" presName="textNode" presStyleLbl="node1" presStyleIdx="7" presStyleCnt="9">
        <dgm:presLayoutVars>
          <dgm:bulletEnabled val="1"/>
        </dgm:presLayoutVars>
      </dgm:prSet>
      <dgm:spPr/>
      <dgm:t>
        <a:bodyPr/>
        <a:lstStyle/>
        <a:p>
          <a:endParaRPr lang="zh-CN" altLang="en-US"/>
        </a:p>
      </dgm:t>
    </dgm:pt>
    <dgm:pt modelId="{BCDEBACB-B8F7-4F12-B7B2-6C5E4B409C22}" type="pres">
      <dgm:prSet presAssocID="{B533D06F-2D2F-4AFA-8B64-8B6B8D203E3D}" presName="sibTrans" presStyleCnt="0"/>
      <dgm:spPr/>
    </dgm:pt>
    <dgm:pt modelId="{AF8C22EE-F522-4028-ACA1-9EB2A728BF28}" type="pres">
      <dgm:prSet presAssocID="{CE590ED1-EDC2-42BA-8A42-5C8E1F9DFE0D}" presName="textNode" presStyleLbl="node1" presStyleIdx="8" presStyleCnt="9">
        <dgm:presLayoutVars>
          <dgm:bulletEnabled val="1"/>
        </dgm:presLayoutVars>
      </dgm:prSet>
      <dgm:spPr/>
      <dgm:t>
        <a:bodyPr/>
        <a:lstStyle/>
        <a:p>
          <a:endParaRPr lang="zh-CN" altLang="en-US"/>
        </a:p>
      </dgm:t>
    </dgm:pt>
  </dgm:ptLst>
  <dgm:cxnLst>
    <dgm:cxn modelId="{DADDE4DD-4AB3-4031-AD0F-024A7C27A565}" srcId="{795CEB20-4012-473F-BDE3-30D70CDB0AEC}" destId="{D96A33C9-BE81-4546-A5C6-AE992F614776}" srcOrd="5" destOrd="0" parTransId="{04A684BC-C289-4804-9C87-D41D2D0CEDE6}" sibTransId="{693965D4-69EB-4B07-ABBD-6FB078FC6259}"/>
    <dgm:cxn modelId="{67A3FADC-B69A-426D-B632-58E25F3665D0}" type="presOf" srcId="{FD7BB788-ECDE-4565-9F13-C8C5357DE502}" destId="{5AD40EA0-F5B0-4336-9071-D126AF3ADCB8}" srcOrd="0" destOrd="0" presId="urn:microsoft.com/office/officeart/2005/8/layout/hProcess9"/>
    <dgm:cxn modelId="{597D2634-5A4B-41F0-9762-797EF787AD21}" type="presOf" srcId="{8BC9C138-07E8-478A-AF8B-78A85228B3CF}" destId="{30FEFDE0-72C5-43C4-86AB-9A4EB5DF3D13}" srcOrd="0" destOrd="0" presId="urn:microsoft.com/office/officeart/2005/8/layout/hProcess9"/>
    <dgm:cxn modelId="{67B3E449-AE0B-4B61-BC88-F9BE3C0CE9EE}" srcId="{795CEB20-4012-473F-BDE3-30D70CDB0AEC}" destId="{CE590ED1-EDC2-42BA-8A42-5C8E1F9DFE0D}" srcOrd="8" destOrd="0" parTransId="{AE74CC9D-53A2-422D-80A1-CC31D0A219CC}" sibTransId="{26DAB3A8-F677-49D3-8BBF-09A8E4CA3AA1}"/>
    <dgm:cxn modelId="{5EDD68FF-7B85-4613-A33D-201FE7285AAD}" type="presOf" srcId="{BD07FEDF-46ED-4BFA-8BE8-F6F2CBDE3365}" destId="{C6D392D6-2A75-421C-8620-73601259257C}" srcOrd="0" destOrd="0" presId="urn:microsoft.com/office/officeart/2005/8/layout/hProcess9"/>
    <dgm:cxn modelId="{BBDFF546-0B1E-4177-9AFC-394F0CACBFE2}" srcId="{795CEB20-4012-473F-BDE3-30D70CDB0AEC}" destId="{8BC9C138-07E8-478A-AF8B-78A85228B3CF}" srcOrd="4" destOrd="0" parTransId="{C09C26AC-CF7A-4FF8-B14E-07D27B9BDDFB}" sibTransId="{333F5611-1711-4981-927E-DBC4AA3088C5}"/>
    <dgm:cxn modelId="{29533CD8-82BC-40D1-8702-6F5B9AA548F9}" srcId="{795CEB20-4012-473F-BDE3-30D70CDB0AEC}" destId="{DCACC8E3-8B40-4A6D-A67E-F6F389A9977E}" srcOrd="7" destOrd="0" parTransId="{551A9D83-6359-429C-BD06-6FE01DC8CB00}" sibTransId="{B533D06F-2D2F-4AFA-8B64-8B6B8D203E3D}"/>
    <dgm:cxn modelId="{D9F626B8-7F17-4E58-8737-83EDB3B0B5A8}" srcId="{795CEB20-4012-473F-BDE3-30D70CDB0AEC}" destId="{FD7BB788-ECDE-4565-9F13-C8C5357DE502}" srcOrd="6" destOrd="0" parTransId="{ECF933D7-05B1-40A5-A445-2F035E768308}" sibTransId="{055CB2B4-67C7-4BB0-A19B-73562D2D07E0}"/>
    <dgm:cxn modelId="{7C5502D9-5F42-4E9A-8D37-37203F2D3673}" srcId="{795CEB20-4012-473F-BDE3-30D70CDB0AEC}" destId="{B26A3339-9293-434C-A0C6-127D0B557342}" srcOrd="0" destOrd="0" parTransId="{75956939-D588-46F3-B5FD-16AD7CEB3192}" sibTransId="{1CF9A316-0709-4DE1-9F8A-0E0DDB23A7E6}"/>
    <dgm:cxn modelId="{7CFB3EC8-19EC-4108-9610-92971CADEE88}" type="presOf" srcId="{B26A3339-9293-434C-A0C6-127D0B557342}" destId="{B5C9D5C4-62E0-4127-A437-DA4FB9CBFD29}" srcOrd="0" destOrd="0" presId="urn:microsoft.com/office/officeart/2005/8/layout/hProcess9"/>
    <dgm:cxn modelId="{541548F8-062C-4C2D-A6FE-C6A7E46C2768}" type="presOf" srcId="{7A87AAFB-67BF-480C-A170-EBBF8F52C639}" destId="{9AC638AA-4118-46D7-9C19-812A2389F7AF}" srcOrd="0" destOrd="0" presId="urn:microsoft.com/office/officeart/2005/8/layout/hProcess9"/>
    <dgm:cxn modelId="{1663B683-1805-429B-BDA2-109D2E01F2C1}" srcId="{795CEB20-4012-473F-BDE3-30D70CDB0AEC}" destId="{7A87AAFB-67BF-480C-A170-EBBF8F52C639}" srcOrd="1" destOrd="0" parTransId="{D75E578B-15CC-4470-9507-67FE92FAB533}" sibTransId="{0A038A12-0596-4356-A39B-FAB38D576F22}"/>
    <dgm:cxn modelId="{B6A96B61-107D-4D1F-AC32-833D43B4CF31}" srcId="{795CEB20-4012-473F-BDE3-30D70CDB0AEC}" destId="{BD07FEDF-46ED-4BFA-8BE8-F6F2CBDE3365}" srcOrd="3" destOrd="0" parTransId="{70E2839F-8C9E-422F-B06D-E5D5170E9FFB}" sibTransId="{3A420B23-29C6-4A0B-AADA-D3283B5D0042}"/>
    <dgm:cxn modelId="{76220BF8-DAAA-4508-AB64-6A588BBFCA9B}" srcId="{795CEB20-4012-473F-BDE3-30D70CDB0AEC}" destId="{A8C84B0C-4F7B-4570-9FDB-3A97B8F7726B}" srcOrd="2" destOrd="0" parTransId="{2D855070-A5F8-4068-A7D1-46500D5ACFEE}" sibTransId="{8969FCFE-BA23-473F-ABF7-5EF94679573D}"/>
    <dgm:cxn modelId="{BDA9E97D-5CEC-45C2-B784-0950BA8F91F6}" type="presOf" srcId="{DCACC8E3-8B40-4A6D-A67E-F6F389A9977E}" destId="{5250536A-FD7D-417D-8357-C9A3DAF33E3D}" srcOrd="0" destOrd="0" presId="urn:microsoft.com/office/officeart/2005/8/layout/hProcess9"/>
    <dgm:cxn modelId="{AD86BE07-4A54-44A4-A1A0-8F2AB90CEA96}" type="presOf" srcId="{795CEB20-4012-473F-BDE3-30D70CDB0AEC}" destId="{86B70C79-1BBA-4D16-BD82-9A40041C139D}" srcOrd="0" destOrd="0" presId="urn:microsoft.com/office/officeart/2005/8/layout/hProcess9"/>
    <dgm:cxn modelId="{C898ABE0-455F-46C5-A693-417A4923E2F6}" type="presOf" srcId="{CE590ED1-EDC2-42BA-8A42-5C8E1F9DFE0D}" destId="{AF8C22EE-F522-4028-ACA1-9EB2A728BF28}" srcOrd="0" destOrd="0" presId="urn:microsoft.com/office/officeart/2005/8/layout/hProcess9"/>
    <dgm:cxn modelId="{3F8FC20B-9A36-4D53-B67D-69453B23941F}" type="presOf" srcId="{A8C84B0C-4F7B-4570-9FDB-3A97B8F7726B}" destId="{E61B7969-2C12-430E-B223-CEA08ABCACCD}" srcOrd="0" destOrd="0" presId="urn:microsoft.com/office/officeart/2005/8/layout/hProcess9"/>
    <dgm:cxn modelId="{C388B7BA-3BBE-41CC-AAB8-6354FBADEC5D}" type="presOf" srcId="{D96A33C9-BE81-4546-A5C6-AE992F614776}" destId="{81401272-BC52-4F83-AC08-AF7A4519B21B}" srcOrd="0" destOrd="0" presId="urn:microsoft.com/office/officeart/2005/8/layout/hProcess9"/>
    <dgm:cxn modelId="{7805BD45-0982-4DFF-B8A6-7F3781BB801B}" type="presParOf" srcId="{86B70C79-1BBA-4D16-BD82-9A40041C139D}" destId="{675A4596-448F-4DE8-B9E8-945AE8924252}" srcOrd="0" destOrd="0" presId="urn:microsoft.com/office/officeart/2005/8/layout/hProcess9"/>
    <dgm:cxn modelId="{738F875C-A1FA-467A-A72C-0C77FFCCB127}" type="presParOf" srcId="{86B70C79-1BBA-4D16-BD82-9A40041C139D}" destId="{A8799634-EC1C-41D1-BBB9-C9B363C1921A}" srcOrd="1" destOrd="0" presId="urn:microsoft.com/office/officeart/2005/8/layout/hProcess9"/>
    <dgm:cxn modelId="{F868BBAF-07C7-42CE-8834-B1978E4821CA}" type="presParOf" srcId="{A8799634-EC1C-41D1-BBB9-C9B363C1921A}" destId="{B5C9D5C4-62E0-4127-A437-DA4FB9CBFD29}" srcOrd="0" destOrd="0" presId="urn:microsoft.com/office/officeart/2005/8/layout/hProcess9"/>
    <dgm:cxn modelId="{CB228881-C704-4C9B-B1AF-FCCE35F0AD57}" type="presParOf" srcId="{A8799634-EC1C-41D1-BBB9-C9B363C1921A}" destId="{8B2F8BB6-E160-4FC0-8FF7-90B804CD8112}" srcOrd="1" destOrd="0" presId="urn:microsoft.com/office/officeart/2005/8/layout/hProcess9"/>
    <dgm:cxn modelId="{723B032E-37D3-445C-9FD4-6EE844EB7B00}" type="presParOf" srcId="{A8799634-EC1C-41D1-BBB9-C9B363C1921A}" destId="{9AC638AA-4118-46D7-9C19-812A2389F7AF}" srcOrd="2" destOrd="0" presId="urn:microsoft.com/office/officeart/2005/8/layout/hProcess9"/>
    <dgm:cxn modelId="{6969D652-0F36-4170-8E87-A2270944CBA3}" type="presParOf" srcId="{A8799634-EC1C-41D1-BBB9-C9B363C1921A}" destId="{2B12B4A7-4B9A-4A3E-A43A-9560D25644E0}" srcOrd="3" destOrd="0" presId="urn:microsoft.com/office/officeart/2005/8/layout/hProcess9"/>
    <dgm:cxn modelId="{73FE7396-4D0D-47D6-A283-4BDB0CCD04C8}" type="presParOf" srcId="{A8799634-EC1C-41D1-BBB9-C9B363C1921A}" destId="{E61B7969-2C12-430E-B223-CEA08ABCACCD}" srcOrd="4" destOrd="0" presId="urn:microsoft.com/office/officeart/2005/8/layout/hProcess9"/>
    <dgm:cxn modelId="{3C825F2B-8603-449A-A2F4-9BDCFBCB1CB4}" type="presParOf" srcId="{A8799634-EC1C-41D1-BBB9-C9B363C1921A}" destId="{B7F06F33-B651-4424-9F95-31579012BBAC}" srcOrd="5" destOrd="0" presId="urn:microsoft.com/office/officeart/2005/8/layout/hProcess9"/>
    <dgm:cxn modelId="{35F36CFF-F0A3-4794-B3C9-66F2DDFEA227}" type="presParOf" srcId="{A8799634-EC1C-41D1-BBB9-C9B363C1921A}" destId="{C6D392D6-2A75-421C-8620-73601259257C}" srcOrd="6" destOrd="0" presId="urn:microsoft.com/office/officeart/2005/8/layout/hProcess9"/>
    <dgm:cxn modelId="{5510173B-0A4E-4019-9096-FDDDA45EF3FB}" type="presParOf" srcId="{A8799634-EC1C-41D1-BBB9-C9B363C1921A}" destId="{34F1E9C7-7B74-4001-AD55-60B538BA5804}" srcOrd="7" destOrd="0" presId="urn:microsoft.com/office/officeart/2005/8/layout/hProcess9"/>
    <dgm:cxn modelId="{DF4673A4-7D54-42BD-9CE2-37585C0CC978}" type="presParOf" srcId="{A8799634-EC1C-41D1-BBB9-C9B363C1921A}" destId="{30FEFDE0-72C5-43C4-86AB-9A4EB5DF3D13}" srcOrd="8" destOrd="0" presId="urn:microsoft.com/office/officeart/2005/8/layout/hProcess9"/>
    <dgm:cxn modelId="{0643B2BC-1DD6-4DC6-A4CC-FEA53EC3BEE1}" type="presParOf" srcId="{A8799634-EC1C-41D1-BBB9-C9B363C1921A}" destId="{CA933ADA-A6CC-4864-AE29-FA0306024C97}" srcOrd="9" destOrd="0" presId="urn:microsoft.com/office/officeart/2005/8/layout/hProcess9"/>
    <dgm:cxn modelId="{52A7F824-469E-42BE-BEF0-B5143EB486E5}" type="presParOf" srcId="{A8799634-EC1C-41D1-BBB9-C9B363C1921A}" destId="{81401272-BC52-4F83-AC08-AF7A4519B21B}" srcOrd="10" destOrd="0" presId="urn:microsoft.com/office/officeart/2005/8/layout/hProcess9"/>
    <dgm:cxn modelId="{C1AF6411-0511-4939-920A-95AE2278D7BF}" type="presParOf" srcId="{A8799634-EC1C-41D1-BBB9-C9B363C1921A}" destId="{D526A650-0AEB-4776-917C-953A14507079}" srcOrd="11" destOrd="0" presId="urn:microsoft.com/office/officeart/2005/8/layout/hProcess9"/>
    <dgm:cxn modelId="{24832A91-0E53-4220-B05A-3372E23E0715}" type="presParOf" srcId="{A8799634-EC1C-41D1-BBB9-C9B363C1921A}" destId="{5AD40EA0-F5B0-4336-9071-D126AF3ADCB8}" srcOrd="12" destOrd="0" presId="urn:microsoft.com/office/officeart/2005/8/layout/hProcess9"/>
    <dgm:cxn modelId="{A39F9433-20DA-4221-A8B9-6D08C4C4A72B}" type="presParOf" srcId="{A8799634-EC1C-41D1-BBB9-C9B363C1921A}" destId="{F022BB1A-1216-41BD-BAC6-1AEF5B4B299E}" srcOrd="13" destOrd="0" presId="urn:microsoft.com/office/officeart/2005/8/layout/hProcess9"/>
    <dgm:cxn modelId="{DB79A7AC-4A4C-4322-A683-84EA8E1FE724}" type="presParOf" srcId="{A8799634-EC1C-41D1-BBB9-C9B363C1921A}" destId="{5250536A-FD7D-417D-8357-C9A3DAF33E3D}" srcOrd="14" destOrd="0" presId="urn:microsoft.com/office/officeart/2005/8/layout/hProcess9"/>
    <dgm:cxn modelId="{822A253F-7158-4A6E-8CFA-2B697A5D0D32}" type="presParOf" srcId="{A8799634-EC1C-41D1-BBB9-C9B363C1921A}" destId="{BCDEBACB-B8F7-4F12-B7B2-6C5E4B409C22}" srcOrd="15" destOrd="0" presId="urn:microsoft.com/office/officeart/2005/8/layout/hProcess9"/>
    <dgm:cxn modelId="{06ABCF70-BFF2-4902-98F5-8CC8BBC622B6}" type="presParOf" srcId="{A8799634-EC1C-41D1-BBB9-C9B363C1921A}" destId="{AF8C22EE-F522-4028-ACA1-9EB2A728BF28}" srcOrd="16"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923405" cy="2661920"/>
        <a:chOff x="0" y="0"/>
        <a:chExt cx="6923405" cy="2661920"/>
      </a:xfrm>
    </dsp:grpSpPr>
    <dsp:sp modelId="{675A4596-448F-4DE8-B9E8-945AE8924252}">
      <dsp:nvSpPr>
        <dsp:cNvPr id="3" name="右箭头 2"/>
        <dsp:cNvSpPr/>
      </dsp:nvSpPr>
      <dsp:spPr bwMode="white">
        <a:xfrm>
          <a:off x="272325" y="0"/>
          <a:ext cx="5884894" cy="2661920"/>
        </a:xfrm>
        <a:prstGeom prst="rightArrow">
          <a:avLst/>
        </a:prstGeom>
      </dsp:spPr>
      <dsp:style>
        <a:lnRef idx="0">
          <a:schemeClr val="dk1"/>
        </a:lnRef>
        <a:fillRef idx="1">
          <a:schemeClr val="accent2">
            <a:tint val="40000"/>
          </a:schemeClr>
        </a:fillRef>
        <a:effectRef idx="0">
          <a:scrgbClr r="0" g="0" b="0"/>
        </a:effectRef>
        <a:fontRef idx="minor"/>
      </dsp:style>
      <dsp:txXfrm>
        <a:off x="272325" y="0"/>
        <a:ext cx="5884894" cy="2661920"/>
      </dsp:txXfrm>
    </dsp:sp>
    <dsp:sp modelId="{B5C9D5C4-62E0-4127-A437-DA4FB9CBFD29}">
      <dsp:nvSpPr>
        <dsp:cNvPr id="4" name="圆角矩形 3"/>
        <dsp:cNvSpPr/>
      </dsp:nvSpPr>
      <dsp:spPr bwMode="white">
        <a:xfrm>
          <a:off x="0" y="798576"/>
          <a:ext cx="670007" cy="1064768"/>
        </a:xfrm>
        <a:prstGeom prst="roundRect">
          <a:avLst/>
        </a:prstGeom>
      </dsp:spPr>
      <dsp:style>
        <a:lnRef idx="3">
          <a:schemeClr val="lt1"/>
        </a:lnRef>
        <a:fillRef idx="1">
          <a:schemeClr val="accent2"/>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1.</a:t>
          </a:r>
          <a:r>
            <a:rPr lang="zh-CN" altLang="en-US" dirty="0" smtClean="0"/>
            <a:t>设想供选择的方案</a:t>
          </a:r>
          <a:endParaRPr lang="zh-CN" altLang="en-US" dirty="0"/>
        </a:p>
      </dsp:txBody>
      <dsp:txXfrm>
        <a:off x="0" y="798576"/>
        <a:ext cx="670007" cy="1064768"/>
      </dsp:txXfrm>
    </dsp:sp>
    <dsp:sp modelId="{9AC638AA-4118-46D7-9C19-812A2389F7AF}">
      <dsp:nvSpPr>
        <dsp:cNvPr id="5" name="圆角矩形 4"/>
        <dsp:cNvSpPr/>
      </dsp:nvSpPr>
      <dsp:spPr bwMode="white">
        <a:xfrm>
          <a:off x="781675" y="798576"/>
          <a:ext cx="670007" cy="1064768"/>
        </a:xfrm>
        <a:prstGeom prst="roundRect">
          <a:avLst/>
        </a:prstGeom>
      </dsp:spPr>
      <dsp:style>
        <a:lnRef idx="3">
          <a:schemeClr val="lt1"/>
        </a:lnRef>
        <a:fillRef idx="1">
          <a:schemeClr val="accent3"/>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2.</a:t>
          </a:r>
          <a:r>
            <a:rPr lang="zh-CN" altLang="en-US" dirty="0" smtClean="0"/>
            <a:t>选取合理的方案</a:t>
          </a:r>
          <a:endParaRPr lang="zh-CN" altLang="en-US" dirty="0"/>
        </a:p>
      </dsp:txBody>
      <dsp:txXfrm>
        <a:off x="781675" y="798576"/>
        <a:ext cx="670007" cy="1064768"/>
      </dsp:txXfrm>
    </dsp:sp>
    <dsp:sp modelId="{E61B7969-2C12-430E-B223-CEA08ABCACCD}">
      <dsp:nvSpPr>
        <dsp:cNvPr id="6" name="圆角矩形 5"/>
        <dsp:cNvSpPr/>
      </dsp:nvSpPr>
      <dsp:spPr bwMode="white">
        <a:xfrm>
          <a:off x="1563350" y="798576"/>
          <a:ext cx="670007" cy="1064768"/>
        </a:xfrm>
        <a:prstGeom prst="roundRect">
          <a:avLst/>
        </a:prstGeom>
      </dsp:spPr>
      <dsp:style>
        <a:lnRef idx="3">
          <a:schemeClr val="lt1"/>
        </a:lnRef>
        <a:fillRef idx="1">
          <a:schemeClr val="accent4"/>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3.</a:t>
          </a:r>
          <a:r>
            <a:rPr lang="zh-CN" altLang="en-US" dirty="0" smtClean="0"/>
            <a:t>推荐最佳方案</a:t>
          </a:r>
          <a:endParaRPr lang="zh-CN" altLang="en-US" dirty="0"/>
        </a:p>
      </dsp:txBody>
      <dsp:txXfrm>
        <a:off x="1563350" y="798576"/>
        <a:ext cx="670007" cy="1064768"/>
      </dsp:txXfrm>
    </dsp:sp>
    <dsp:sp modelId="{C6D392D6-2A75-421C-8620-73601259257C}">
      <dsp:nvSpPr>
        <dsp:cNvPr id="7" name="圆角矩形 6"/>
        <dsp:cNvSpPr/>
      </dsp:nvSpPr>
      <dsp:spPr bwMode="white">
        <a:xfrm>
          <a:off x="2345024" y="798576"/>
          <a:ext cx="670007" cy="1064768"/>
        </a:xfrm>
        <a:prstGeom prst="roundRect">
          <a:avLst/>
        </a:prstGeom>
      </dsp:spPr>
      <dsp:style>
        <a:lnRef idx="3">
          <a:schemeClr val="lt1"/>
        </a:lnRef>
        <a:fillRef idx="1">
          <a:schemeClr val="accent5"/>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4.</a:t>
          </a:r>
          <a:r>
            <a:rPr lang="zh-CN" altLang="en-US" dirty="0" smtClean="0"/>
            <a:t>功能分解</a:t>
          </a:r>
          <a:endParaRPr lang="zh-CN" altLang="en-US" dirty="0"/>
        </a:p>
      </dsp:txBody>
      <dsp:txXfrm>
        <a:off x="2345024" y="798576"/>
        <a:ext cx="670007" cy="1064768"/>
      </dsp:txXfrm>
    </dsp:sp>
    <dsp:sp modelId="{30FEFDE0-72C5-43C4-86AB-9A4EB5DF3D13}">
      <dsp:nvSpPr>
        <dsp:cNvPr id="8" name="圆角矩形 7"/>
        <dsp:cNvSpPr/>
      </dsp:nvSpPr>
      <dsp:spPr bwMode="white">
        <a:xfrm>
          <a:off x="3126699" y="798576"/>
          <a:ext cx="670007" cy="1064768"/>
        </a:xfrm>
        <a:prstGeom prst="roundRect">
          <a:avLst/>
        </a:prstGeom>
      </dsp:spPr>
      <dsp:style>
        <a:lnRef idx="3">
          <a:schemeClr val="lt1"/>
        </a:lnRef>
        <a:fillRef idx="1">
          <a:schemeClr val="accent6"/>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5.</a:t>
          </a:r>
          <a:r>
            <a:rPr lang="zh-CN" altLang="en-US" dirty="0" smtClean="0"/>
            <a:t>设计软件结构</a:t>
          </a:r>
          <a:endParaRPr lang="zh-CN" altLang="en-US" dirty="0"/>
        </a:p>
      </dsp:txBody>
      <dsp:txXfrm>
        <a:off x="3126699" y="798576"/>
        <a:ext cx="670007" cy="1064768"/>
      </dsp:txXfrm>
    </dsp:sp>
    <dsp:sp modelId="{81401272-BC52-4F83-AC08-AF7A4519B21B}">
      <dsp:nvSpPr>
        <dsp:cNvPr id="9" name="圆角矩形 8"/>
        <dsp:cNvSpPr/>
      </dsp:nvSpPr>
      <dsp:spPr bwMode="white">
        <a:xfrm>
          <a:off x="3908374" y="798576"/>
          <a:ext cx="670007" cy="1064768"/>
        </a:xfrm>
        <a:prstGeom prst="roundRect">
          <a:avLst/>
        </a:prstGeom>
      </dsp:spPr>
      <dsp:style>
        <a:lnRef idx="3">
          <a:schemeClr val="lt1"/>
        </a:lnRef>
        <a:fillRef idx="1">
          <a:schemeClr val="accent2"/>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6.</a:t>
          </a:r>
          <a:r>
            <a:rPr lang="zh-CN" altLang="en-US" dirty="0" smtClean="0"/>
            <a:t>设计数据库</a:t>
          </a:r>
          <a:endParaRPr lang="zh-CN" altLang="en-US" dirty="0"/>
        </a:p>
      </dsp:txBody>
      <dsp:txXfrm>
        <a:off x="3908374" y="798576"/>
        <a:ext cx="670007" cy="1064768"/>
      </dsp:txXfrm>
    </dsp:sp>
    <dsp:sp modelId="{5AD40EA0-F5B0-4336-9071-D126AF3ADCB8}">
      <dsp:nvSpPr>
        <dsp:cNvPr id="10" name="圆角矩形 9"/>
        <dsp:cNvSpPr/>
      </dsp:nvSpPr>
      <dsp:spPr bwMode="white">
        <a:xfrm>
          <a:off x="4690049" y="798576"/>
          <a:ext cx="670007" cy="1064768"/>
        </a:xfrm>
        <a:prstGeom prst="roundRect">
          <a:avLst/>
        </a:prstGeom>
      </dsp:spPr>
      <dsp:style>
        <a:lnRef idx="3">
          <a:schemeClr val="lt1"/>
        </a:lnRef>
        <a:fillRef idx="1">
          <a:schemeClr val="accent3"/>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7.</a:t>
          </a:r>
          <a:r>
            <a:rPr lang="zh-CN" altLang="en-US" dirty="0" smtClean="0"/>
            <a:t>制定测试计划</a:t>
          </a:r>
          <a:endParaRPr lang="zh-CN" altLang="en-US" dirty="0"/>
        </a:p>
      </dsp:txBody>
      <dsp:txXfrm>
        <a:off x="4690049" y="798576"/>
        <a:ext cx="670007" cy="1064768"/>
      </dsp:txXfrm>
    </dsp:sp>
    <dsp:sp modelId="{5250536A-FD7D-417D-8357-C9A3DAF33E3D}">
      <dsp:nvSpPr>
        <dsp:cNvPr id="11" name="圆角矩形 10"/>
        <dsp:cNvSpPr/>
      </dsp:nvSpPr>
      <dsp:spPr bwMode="white">
        <a:xfrm>
          <a:off x="5471723" y="798576"/>
          <a:ext cx="670007" cy="1064768"/>
        </a:xfrm>
        <a:prstGeom prst="roundRect">
          <a:avLst/>
        </a:prstGeom>
      </dsp:spPr>
      <dsp:style>
        <a:lnRef idx="3">
          <a:schemeClr val="lt1"/>
        </a:lnRef>
        <a:fillRef idx="1">
          <a:schemeClr val="accent4"/>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8.</a:t>
          </a:r>
          <a:r>
            <a:rPr lang="zh-CN" altLang="en-US" dirty="0" smtClean="0"/>
            <a:t>书写文档</a:t>
          </a:r>
          <a:endParaRPr lang="zh-CN" altLang="en-US" dirty="0"/>
        </a:p>
      </dsp:txBody>
      <dsp:txXfrm>
        <a:off x="5471723" y="798576"/>
        <a:ext cx="670007" cy="1064768"/>
      </dsp:txXfrm>
    </dsp:sp>
    <dsp:sp modelId="{AF8C22EE-F522-4028-ACA1-9EB2A728BF28}">
      <dsp:nvSpPr>
        <dsp:cNvPr id="12" name="圆角矩形 11"/>
        <dsp:cNvSpPr/>
      </dsp:nvSpPr>
      <dsp:spPr bwMode="white">
        <a:xfrm>
          <a:off x="6253398" y="798576"/>
          <a:ext cx="670007" cy="1064768"/>
        </a:xfrm>
        <a:prstGeom prst="roundRect">
          <a:avLst/>
        </a:prstGeom>
      </dsp:spPr>
      <dsp:style>
        <a:lnRef idx="3">
          <a:schemeClr val="lt1"/>
        </a:lnRef>
        <a:fillRef idx="1">
          <a:schemeClr val="accent5"/>
        </a:fillRef>
        <a:effectRef idx="1">
          <a:scrgbClr r="0" g="0" b="0"/>
        </a:effectRef>
        <a:fontRef idx="minor">
          <a:schemeClr val="lt1"/>
        </a:fontRef>
      </dsp:style>
      <dsp:txBody>
        <a:bodyPr lIns="49530" tIns="49530" rIns="49530" bIns="49530" anchor="ctr"/>
        <a:lstStyle>
          <a:lvl1pPr algn="ctr">
            <a:defRPr sz="1300"/>
          </a:lvl1pPr>
          <a:lvl2pPr marL="57150" indent="-57150" algn="ctr">
            <a:defRPr sz="1000"/>
          </a:lvl2pPr>
          <a:lvl3pPr marL="114300" indent="-57150" algn="ctr">
            <a:defRPr sz="1000"/>
          </a:lvl3pPr>
          <a:lvl4pPr marL="171450" indent="-57150" algn="ctr">
            <a:defRPr sz="1000"/>
          </a:lvl4pPr>
          <a:lvl5pPr marL="228600" indent="-57150" algn="ctr">
            <a:defRPr sz="1000"/>
          </a:lvl5pPr>
          <a:lvl6pPr marL="285750" indent="-57150" algn="ctr">
            <a:defRPr sz="1000"/>
          </a:lvl6pPr>
          <a:lvl7pPr marL="342900" indent="-57150" algn="ctr">
            <a:defRPr sz="1000"/>
          </a:lvl7pPr>
          <a:lvl8pPr marL="400050" indent="-57150" algn="ctr">
            <a:defRPr sz="1000"/>
          </a:lvl8pPr>
          <a:lvl9pPr marL="457200" indent="-57150" algn="ctr">
            <a:defRPr sz="1000"/>
          </a:lvl9pPr>
        </a:lstStyle>
        <a:p>
          <a:pPr lvl="0">
            <a:lnSpc>
              <a:spcPct val="100000"/>
            </a:lnSpc>
            <a:spcBef>
              <a:spcPct val="0"/>
            </a:spcBef>
            <a:spcAft>
              <a:spcPct val="35000"/>
            </a:spcAft>
          </a:pPr>
          <a:r>
            <a:rPr lang="en-US" altLang="zh-CN" dirty="0" smtClean="0"/>
            <a:t>9.</a:t>
          </a:r>
          <a:r>
            <a:rPr lang="zh-CN" altLang="en-US" dirty="0" smtClean="0"/>
            <a:t>审查和复审</a:t>
          </a:r>
          <a:endParaRPr lang="zh-CN" altLang="en-US" dirty="0"/>
        </a:p>
      </dsp:txBody>
      <dsp:txXfrm>
        <a:off x="6253398" y="798576"/>
        <a:ext cx="670007" cy="106476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vertAlign" val="mid"/>
      <dgm:param type="horzAlign" val="ctr"/>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1">
        <a:scrgbClr r="0" g="0" b="0"/>
      </a:effectRef>
      <a:fontRef idx="minor">
        <a:schemeClr val="lt1"/>
      </a:fontRef>
    </dgm:style>
  </dgm:styleLbl>
  <dgm:styleLbl name="asst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hp">
    <dgm:scene3d>
      <a:camera prst="orthographicFront"/>
      <a:lightRig rig="threePt" dir="t"/>
    </dgm:scene3d>
    <dgm:txPr/>
    <dgm:style>
      <a:lnRef idx="3">
        <a:scrgbClr r="0" g="0" b="0"/>
      </a:lnRef>
      <a:fillRef idx="1">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0">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txPr/>
    <dgm:style>
      <a:lnRef idx="3">
        <a:scrgbClr r="0" g="0" b="0"/>
      </a:lnRef>
      <a:fillRef idx="1">
        <a:scrgbClr r="0" g="0" b="0"/>
      </a:fillRef>
      <a:effectRef idx="1">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1">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3">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AE31AE1-35FC-457E-B04E-2B4CFC7B5608}"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信息隐藏：例如，一个计算圆面积的模块可以隐藏其内部的数学公式和计算过程，对于其他模块而言只需要知道输入半径和输出面积即可。老师只需要知道学生姓名、学号即可</a:t>
            </a:r>
            <a:endParaRPr lang="zh-CN" altLang="en-US"/>
          </a:p>
          <a:p>
            <a:r>
              <a:rPr lang="zh-CN" altLang="en-US"/>
              <a:t>局部化：例如，一个处理用户输入的模块可以与一个处理输出的模块放在同一个文件夹内，而与其他模块放在不同的文件夹内，这样就实现了局部化。</a:t>
            </a:r>
            <a:endParaRPr lang="zh-CN" altLang="en-US"/>
          </a:p>
          <a:p>
            <a:endParaRPr lang="zh-CN" altLang="en-US"/>
          </a:p>
          <a:p>
            <a:r>
              <a:rPr lang="zh-CN" altLang="en-US"/>
              <a:t>非直接耦合：两个独立的计算器应用，一个用于计算税收，另一个用于计算贷款利息，它们在功能上完全独立，两国之间没有任何直接联系，甚至不通过第三方交流。比如冰岛和尼泊尔之间几乎没有政治、经济或文化往来，也不通过国际组织互动。  </a:t>
            </a:r>
            <a:endParaRPr lang="zh-CN" altLang="en-US"/>
          </a:p>
          <a:p>
            <a:pPr algn="l"/>
            <a:r>
              <a:rPr lang="zh-CN" altLang="en-US" b="1">
                <a:solidFill>
                  <a:schemeClr val="bg1"/>
                </a:solidFill>
                <a:sym typeface="+mn-ea"/>
              </a:rPr>
              <a:t>数据耦合：一个模块计算税后收入，它接收一个表示税前收入的数字，然后返回税后收入的计算结果。</a:t>
            </a:r>
            <a:r>
              <a:rPr lang="zh-CN" altLang="en-US" b="1">
                <a:solidFill>
                  <a:schemeClr val="bg1"/>
                </a:solidFill>
                <a:sym typeface="+mn-ea"/>
              </a:rPr>
              <a:t>两国通过简单的数据或资源交换合作，互不干涉内部事务。中国向澳大利亚购买铁矿石，澳大利亚提供资源，中国支付货款，双方仅通过贸易数据交互。</a:t>
            </a:r>
            <a:endParaRPr lang="zh-CN" altLang="en-US" b="1">
              <a:solidFill>
                <a:schemeClr val="bg1"/>
              </a:solidFill>
              <a:sym typeface="+mn-ea"/>
            </a:endParaRPr>
          </a:p>
          <a:p>
            <a:pPr algn="l"/>
            <a:r>
              <a:rPr lang="zh-CN" altLang="en-US" b="1">
                <a:solidFill>
                  <a:schemeClr val="bg1"/>
                </a:solidFill>
                <a:sym typeface="+mn-ea"/>
              </a:rPr>
              <a:t>标记耦合：一个函数接收一个员工对象，但只用到了员工的姓名和部门信息，而不是整个员工对象的所有数据。</a:t>
            </a:r>
            <a:r>
              <a:rPr lang="en-US" altLang="zh-CN" b="1">
                <a:solidFill>
                  <a:schemeClr val="bg1"/>
                </a:solidFill>
                <a:sym typeface="+mn-ea"/>
              </a:rPr>
              <a:t> 两国共享某种结构化协议或标准，但内容由各自决定。欧盟成员国使用统一的贸易文件格式（如海关申报表），但各国自行填写内容。    </a:t>
            </a:r>
            <a:endParaRPr lang="zh-CN" altLang="en-US" b="1">
              <a:solidFill>
                <a:schemeClr val="bg1"/>
              </a:solidFill>
              <a:sym typeface="+mn-ea"/>
            </a:endParaRPr>
          </a:p>
          <a:p>
            <a:pPr algn="l"/>
            <a:r>
              <a:rPr lang="zh-CN" altLang="en-US" b="1">
                <a:solidFill>
                  <a:schemeClr val="bg1"/>
                </a:solidFill>
                <a:sym typeface="+mn-ea"/>
              </a:rPr>
              <a:t>控制耦合：一个函数接收一个布尔参数，该参数决定函数是计算最大值还是最小值。一国通过指令影响另一国的行为流程。美国通过北约要求成员国参与军事演习，成员国需按指令部署兵力</a:t>
            </a:r>
            <a:endParaRPr lang="zh-CN" altLang="en-US" b="1">
              <a:solidFill>
                <a:schemeClr val="bg1"/>
              </a:solidFill>
              <a:sym typeface="+mn-ea"/>
            </a:endParaRPr>
          </a:p>
          <a:p>
            <a:pPr algn="l"/>
            <a:r>
              <a:rPr lang="zh-CN" altLang="en-US" b="1">
                <a:solidFill>
                  <a:schemeClr val="bg1"/>
                </a:solidFill>
                <a:sym typeface="+mn-ea"/>
              </a:rPr>
              <a:t>外部耦合：多个模块都直接访问同一个外部数据库，两国通过共享外部环境或资源间接产生依赖。 </a:t>
            </a:r>
            <a:r>
              <a:rPr lang="zh-CN" altLang="en-US" b="1">
                <a:solidFill>
                  <a:schemeClr val="bg1"/>
                </a:solidFill>
                <a:sym typeface="+mn-ea"/>
              </a:rPr>
              <a:t>多国依赖马六甲海峡航运通道，若航道受阻，所有依赖国经济都会受影响。</a:t>
            </a:r>
            <a:endParaRPr lang="zh-CN" altLang="en-US" b="1">
              <a:solidFill>
                <a:schemeClr val="bg1"/>
              </a:solidFill>
              <a:sym typeface="+mn-ea"/>
            </a:endParaRPr>
          </a:p>
          <a:p>
            <a:pPr algn="l"/>
            <a:r>
              <a:rPr lang="zh-CN" altLang="en-US" b="1">
                <a:solidFill>
                  <a:schemeClr val="bg1"/>
                </a:solidFill>
                <a:sym typeface="+mn-ea"/>
              </a:rPr>
              <a:t>公共耦合：多个功能共享同一个配置文件。多国共享一个全局性资源，导致高度依赖。</a:t>
            </a:r>
            <a:r>
              <a:rPr lang="zh-CN" altLang="en-US" b="1">
                <a:solidFill>
                  <a:schemeClr val="bg1"/>
                </a:solidFill>
                <a:sym typeface="+mn-ea"/>
              </a:rPr>
              <a:t>多国使用美元作为外汇储备，若美国调整货币政策，所有依赖美元的国家都会受冲击。</a:t>
            </a:r>
            <a:endParaRPr lang="zh-CN" altLang="en-US" b="1">
              <a:solidFill>
                <a:schemeClr val="bg1"/>
              </a:solidFill>
              <a:sym typeface="+mn-ea"/>
            </a:endParaRPr>
          </a:p>
          <a:p>
            <a:pPr algn="l"/>
            <a:r>
              <a:rPr lang="zh-CN" altLang="en-US" b="1">
                <a:solidFill>
                  <a:schemeClr val="bg1"/>
                </a:solidFill>
                <a:sym typeface="+mn-ea"/>
              </a:rPr>
              <a:t>内容耦合：一个函数直接修改另一个函数内部的变量或代码。一国直接干预另一国内政，修改其内部规则。</a:t>
            </a:r>
            <a:r>
              <a:rPr lang="zh-CN" altLang="en-US" b="1">
                <a:solidFill>
                  <a:schemeClr val="bg1"/>
                </a:solidFill>
                <a:sym typeface="+mn-ea"/>
              </a:rPr>
              <a:t>某国通过黑客攻击修改他国的选举系统数据，直接操控其内部流程。</a:t>
            </a:r>
            <a:endParaRPr lang="zh-CN" altLang="en-US" b="1">
              <a:solidFill>
                <a:schemeClr val="bg1"/>
              </a:solidFill>
              <a:sym typeface="+mn-ea"/>
            </a:endParaRPr>
          </a:p>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88.xml"/><Relationship Id="rId7" Type="http://schemas.openxmlformats.org/officeDocument/2006/relationships/tags" Target="../tags/tag87.xml"/><Relationship Id="rId6" Type="http://schemas.openxmlformats.org/officeDocument/2006/relationships/tags" Target="../tags/tag86.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108.xml"/><Relationship Id="rId8" Type="http://schemas.openxmlformats.org/officeDocument/2006/relationships/tags" Target="../tags/tag107.xml"/><Relationship Id="rId7" Type="http://schemas.openxmlformats.org/officeDocument/2006/relationships/tags" Target="../tags/tag106.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3" Type="http://schemas.openxmlformats.org/officeDocument/2006/relationships/tags" Target="../tags/tag102.xml"/><Relationship Id="rId2" Type="http://schemas.openxmlformats.org/officeDocument/2006/relationships/tags" Target="../tags/tag101.xml"/><Relationship Id="rId11" Type="http://schemas.openxmlformats.org/officeDocument/2006/relationships/tags" Target="../tags/tag110.xml"/><Relationship Id="rId10" Type="http://schemas.openxmlformats.org/officeDocument/2006/relationships/tags" Target="../tags/tag109.xm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tags" Target="../tags/tag117.xml"/><Relationship Id="rId7" Type="http://schemas.openxmlformats.org/officeDocument/2006/relationships/tags" Target="../tags/tag116.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tags" Target="../tags/tag112.xml"/><Relationship Id="rId2" Type="http://schemas.openxmlformats.org/officeDocument/2006/relationships/tags" Target="../tags/tag11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1" Type="http://schemas.openxmlformats.org/officeDocument/2006/relationships/tags" Target="../tags/tag130.xml"/><Relationship Id="rId10" Type="http://schemas.openxmlformats.org/officeDocument/2006/relationships/tags" Target="../tags/tag129.xml"/><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138.xml"/><Relationship Id="rId8" Type="http://schemas.openxmlformats.org/officeDocument/2006/relationships/tags" Target="../tags/tag137.xml"/><Relationship Id="rId7" Type="http://schemas.openxmlformats.org/officeDocument/2006/relationships/tags" Target="../tags/tag136.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3" Type="http://schemas.openxmlformats.org/officeDocument/2006/relationships/tags" Target="../tags/tag142.xml"/><Relationship Id="rId12" Type="http://schemas.openxmlformats.org/officeDocument/2006/relationships/tags" Target="../tags/tag141.xml"/><Relationship Id="rId11" Type="http://schemas.openxmlformats.org/officeDocument/2006/relationships/tags" Target="../tags/tag140.xml"/><Relationship Id="rId10" Type="http://schemas.openxmlformats.org/officeDocument/2006/relationships/tags" Target="../tags/tag139.xml"/><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150.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3" Type="http://schemas.openxmlformats.org/officeDocument/2006/relationships/tags" Target="../tags/tag154.xml"/><Relationship Id="rId12" Type="http://schemas.openxmlformats.org/officeDocument/2006/relationships/tags" Target="../tags/tag153.xml"/><Relationship Id="rId11" Type="http://schemas.openxmlformats.org/officeDocument/2006/relationships/tags" Target="../tags/tag152.xml"/><Relationship Id="rId10" Type="http://schemas.openxmlformats.org/officeDocument/2006/relationships/tags" Target="../tags/tag151.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127311" y="5"/>
            <a:ext cx="12429370" cy="2108195"/>
            <a:chOff x="-127311" y="5"/>
            <a:chExt cx="12429370" cy="2108195"/>
          </a:xfrm>
        </p:grpSpPr>
        <p:sp>
          <p:nvSpPr>
            <p:cNvPr id="8" name="任意多边形: 形状 7"/>
            <p:cNvSpPr/>
            <p:nvPr>
              <p:custDataLst>
                <p:tags r:id="rId3"/>
              </p:custDataLst>
            </p:nvPr>
          </p:nvSpPr>
          <p:spPr>
            <a:xfrm rot="4971377">
              <a:off x="5633770" y="-4560088"/>
              <a:ext cx="907207" cy="12429370"/>
            </a:xfrm>
            <a:custGeom>
              <a:avLst/>
              <a:gdLst>
                <a:gd name="connsiteX0" fmla="*/ 0 w 1132861"/>
                <a:gd name="connsiteY0" fmla="*/ 0 h 12429370"/>
                <a:gd name="connsiteX1" fmla="*/ 421422 w 1132861"/>
                <a:gd name="connsiteY1" fmla="*/ 52817 h 12429370"/>
                <a:gd name="connsiteX2" fmla="*/ 1132861 w 1132861"/>
                <a:gd name="connsiteY2" fmla="*/ 12429370 h 12429370"/>
                <a:gd name="connsiteX3" fmla="*/ 0 w 1132861"/>
                <a:gd name="connsiteY3" fmla="*/ 12287388 h 12429370"/>
              </a:gdLst>
              <a:ahLst/>
              <a:cxnLst>
                <a:cxn ang="0">
                  <a:pos x="connsiteX0" y="connsiteY0"/>
                </a:cxn>
                <a:cxn ang="0">
                  <a:pos x="connsiteX1" y="connsiteY1"/>
                </a:cxn>
                <a:cxn ang="0">
                  <a:pos x="connsiteX2" y="connsiteY2"/>
                </a:cxn>
                <a:cxn ang="0">
                  <a:pos x="connsiteX3" y="connsiteY3"/>
                </a:cxn>
              </a:cxnLst>
              <a:rect l="l" t="t" r="r" b="b"/>
              <a:pathLst>
                <a:path w="1132861" h="12429370">
                  <a:moveTo>
                    <a:pt x="0" y="0"/>
                  </a:moveTo>
                  <a:lnTo>
                    <a:pt x="421422" y="52817"/>
                  </a:lnTo>
                  <a:lnTo>
                    <a:pt x="1132861" y="12429370"/>
                  </a:lnTo>
                  <a:lnTo>
                    <a:pt x="0" y="1228738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任意多边形: 形状 8"/>
            <p:cNvSpPr/>
            <p:nvPr>
              <p:custDataLst>
                <p:tags r:id="rId4"/>
              </p:custDataLst>
            </p:nvPr>
          </p:nvSpPr>
          <p:spPr>
            <a:xfrm rot="5400000">
              <a:off x="5215200" y="-5215203"/>
              <a:ext cx="1761592" cy="12192007"/>
            </a:xfrm>
            <a:custGeom>
              <a:avLst/>
              <a:gdLst>
                <a:gd name="connsiteX0" fmla="*/ 0 w 1930397"/>
                <a:gd name="connsiteY0" fmla="*/ 12192007 h 12192007"/>
                <a:gd name="connsiteX1" fmla="*/ 0 w 1930397"/>
                <a:gd name="connsiteY1" fmla="*/ 0 h 12192007"/>
                <a:gd name="connsiteX2" fmla="*/ 758239 w 1930397"/>
                <a:gd name="connsiteY2" fmla="*/ 0 h 12192007"/>
                <a:gd name="connsiteX3" fmla="*/ 1930397 w 1930397"/>
                <a:gd name="connsiteY3" fmla="*/ 12192007 h 12192007"/>
              </a:gdLst>
              <a:ahLst/>
              <a:cxnLst>
                <a:cxn ang="0">
                  <a:pos x="connsiteX0" y="connsiteY0"/>
                </a:cxn>
                <a:cxn ang="0">
                  <a:pos x="connsiteX1" y="connsiteY1"/>
                </a:cxn>
                <a:cxn ang="0">
                  <a:pos x="connsiteX2" y="connsiteY2"/>
                </a:cxn>
                <a:cxn ang="0">
                  <a:pos x="connsiteX3" y="connsiteY3"/>
                </a:cxn>
              </a:cxnLst>
              <a:rect l="l" t="t" r="r" b="b"/>
              <a:pathLst>
                <a:path w="1930397" h="12192007">
                  <a:moveTo>
                    <a:pt x="0" y="12192007"/>
                  </a:moveTo>
                  <a:lnTo>
                    <a:pt x="0" y="0"/>
                  </a:lnTo>
                  <a:lnTo>
                    <a:pt x="758239" y="0"/>
                  </a:lnTo>
                  <a:lnTo>
                    <a:pt x="1930397" y="121920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形状 9"/>
            <p:cNvSpPr/>
            <p:nvPr>
              <p:custDataLst>
                <p:tags r:id="rId5"/>
              </p:custDataLst>
            </p:nvPr>
          </p:nvSpPr>
          <p:spPr>
            <a:xfrm rot="5107084">
              <a:off x="4552342" y="-3275210"/>
              <a:ext cx="536239" cy="9742831"/>
            </a:xfrm>
            <a:custGeom>
              <a:avLst/>
              <a:gdLst>
                <a:gd name="connsiteX0" fmla="*/ 0 w 587624"/>
                <a:gd name="connsiteY0" fmla="*/ 0 h 9742831"/>
                <a:gd name="connsiteX1" fmla="*/ 587624 w 587624"/>
                <a:gd name="connsiteY1" fmla="*/ 9742831 h 9742831"/>
                <a:gd name="connsiteX2" fmla="*/ 0 w 587624"/>
                <a:gd name="connsiteY2" fmla="*/ 9685968 h 9742831"/>
              </a:gdLst>
              <a:ahLst/>
              <a:cxnLst>
                <a:cxn ang="0">
                  <a:pos x="connsiteX0" y="connsiteY0"/>
                </a:cxn>
                <a:cxn ang="0">
                  <a:pos x="connsiteX1" y="connsiteY1"/>
                </a:cxn>
                <a:cxn ang="0">
                  <a:pos x="connsiteX2" y="connsiteY2"/>
                </a:cxn>
              </a:cxnLst>
              <a:rect l="l" t="t" r="r" b="b"/>
              <a:pathLst>
                <a:path w="587624" h="9742831">
                  <a:moveTo>
                    <a:pt x="0" y="0"/>
                  </a:moveTo>
                  <a:lnTo>
                    <a:pt x="587624" y="9742831"/>
                  </a:lnTo>
                  <a:lnTo>
                    <a:pt x="0" y="9685968"/>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p:cNvSpPr/>
            <p:nvPr>
              <p:custDataLst>
                <p:tags r:id="rId6"/>
              </p:custDataLst>
            </p:nvPr>
          </p:nvSpPr>
          <p:spPr>
            <a:xfrm rot="15897560">
              <a:off x="9001004" y="-1390393"/>
              <a:ext cx="846410" cy="5663579"/>
            </a:xfrm>
            <a:custGeom>
              <a:avLst/>
              <a:gdLst>
                <a:gd name="connsiteX0" fmla="*/ 927517 w 927517"/>
                <a:gd name="connsiteY0" fmla="*/ 5663579 h 5663579"/>
                <a:gd name="connsiteX1" fmla="*/ 0 w 927517"/>
                <a:gd name="connsiteY1" fmla="*/ 5577535 h 5663579"/>
                <a:gd name="connsiteX2" fmla="*/ 419317 w 927517"/>
                <a:gd name="connsiteY2" fmla="*/ 0 h 5663579"/>
              </a:gdLst>
              <a:ahLst/>
              <a:cxnLst>
                <a:cxn ang="0">
                  <a:pos x="connsiteX0" y="connsiteY0"/>
                </a:cxn>
                <a:cxn ang="0">
                  <a:pos x="connsiteX1" y="connsiteY1"/>
                </a:cxn>
                <a:cxn ang="0">
                  <a:pos x="connsiteX2" y="connsiteY2"/>
                </a:cxn>
              </a:cxnLst>
              <a:rect l="l" t="t" r="r" b="b"/>
              <a:pathLst>
                <a:path w="927517" h="5663579">
                  <a:moveTo>
                    <a:pt x="927517" y="5663579"/>
                  </a:moveTo>
                  <a:lnTo>
                    <a:pt x="0" y="5577535"/>
                  </a:lnTo>
                  <a:lnTo>
                    <a:pt x="419317" y="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等腰三角形 11"/>
          <p:cNvSpPr/>
          <p:nvPr userDrawn="1">
            <p:custDataLst>
              <p:tags r:id="rId7"/>
            </p:custDataLst>
          </p:nvPr>
        </p:nvSpPr>
        <p:spPr>
          <a:xfrm rot="16200000">
            <a:off x="7826138" y="2492134"/>
            <a:ext cx="997432" cy="7734300"/>
          </a:xfrm>
          <a:prstGeom prst="triangle">
            <a:avLst>
              <a:gd name="adj" fmla="val 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custDataLst>
              <p:tags r:id="rId8"/>
            </p:custDataLst>
          </p:nvPr>
        </p:nvSpPr>
        <p:spPr>
          <a:xfrm>
            <a:off x="2730319" y="2702794"/>
            <a:ext cx="7117545" cy="1118535"/>
          </a:xfrm>
        </p:spPr>
        <p:txBody>
          <a:bodyPr lIns="90000" tIns="46800" rIns="90000" bIns="46800" anchor="b" anchorCtr="0">
            <a:normAutofit/>
          </a:bodyPr>
          <a:lstStyle>
            <a:lvl1pPr algn="ctr">
              <a:defRPr sz="6600" spc="600" baseline="0">
                <a:solidFill>
                  <a:schemeClr val="tx1">
                    <a:lumMod val="85000"/>
                    <a:lumOff val="15000"/>
                  </a:schemeClr>
                </a:solidFill>
                <a:ea typeface="汉仪旗黑-85S" panose="00020600040101010101" pitchFamily="18" charset="-122"/>
              </a:defRPr>
            </a:lvl1pPr>
          </a:lstStyle>
          <a:p>
            <a:r>
              <a:rPr lang="zh-CN" altLang="en-US" dirty="0"/>
              <a:t>编辑标题</a:t>
            </a:r>
            <a:endParaRPr lang="zh-CN" altLang="en-US" dirty="0"/>
          </a:p>
        </p:txBody>
      </p:sp>
      <p:sp>
        <p:nvSpPr>
          <p:cNvPr id="3" name="副标题 2"/>
          <p:cNvSpPr>
            <a:spLocks noGrp="1"/>
          </p:cNvSpPr>
          <p:nvPr>
            <p:ph type="subTitle" idx="1" hasCustomPrompt="1"/>
            <p:custDataLst>
              <p:tags r:id="rId9"/>
            </p:custDataLst>
          </p:nvPr>
        </p:nvSpPr>
        <p:spPr>
          <a:xfrm>
            <a:off x="2730319" y="3886684"/>
            <a:ext cx="7117545" cy="676319"/>
          </a:xfrm>
        </p:spPr>
        <p:txBody>
          <a:bodyPr lIns="90000" tIns="46800" rIns="90000" bIns="46800" anchor="t">
            <a:normAutofit/>
          </a:bodyPr>
          <a:lstStyle>
            <a:lvl1pPr marL="0" indent="0" algn="ctr" eaLnBrk="1" fontAlgn="auto" latinLnBrk="0" hangingPunct="1">
              <a:lnSpc>
                <a:spcPct val="100000"/>
              </a:lnSpc>
              <a:buNone/>
              <a:defRPr sz="2800" u="none" strike="noStrike" kern="1200" cap="none" spc="200" normalizeH="0" baseline="0">
                <a:solidFill>
                  <a:schemeClr val="tx1">
                    <a:lumMod val="85000"/>
                    <a:lumOff val="1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10"/>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1"/>
            </p:custDataLst>
          </p:nvPr>
        </p:nvSpPr>
        <p:spPr/>
        <p:txBody>
          <a:bodyPr/>
          <a:lstStyle/>
          <a:p>
            <a:endParaRPr lang="zh-CN" altLang="en-US" dirty="0"/>
          </a:p>
        </p:txBody>
      </p:sp>
      <p:sp>
        <p:nvSpPr>
          <p:cNvPr id="18" name="灯片编号占位符 17"/>
          <p:cNvSpPr>
            <a:spLocks noGrp="1"/>
          </p:cNvSpPr>
          <p:nvPr>
            <p:ph type="sldNum" sz="quarter" idx="12"/>
            <p:custDataLst>
              <p:tags r:id="rId12"/>
            </p:custDataLst>
          </p:nvPr>
        </p:nvSpPr>
        <p:spPr/>
        <p:txBody>
          <a:bodyPr/>
          <a:lstStyle/>
          <a:p>
            <a:fld id="{49AE70B2-8BF9-45C0-BB95-33D1B9D3A854}" type="slidenum">
              <a:rPr lang="zh-CN" altLang="en-US" smtClean="0"/>
            </a:fld>
            <a:endParaRPr lang="zh-CN" altLang="en-US" dirty="0"/>
          </a:p>
        </p:txBody>
      </p:sp>
      <p:sp>
        <p:nvSpPr>
          <p:cNvPr id="5" name="文本占位符 4"/>
          <p:cNvSpPr>
            <a:spLocks noGrp="1"/>
          </p:cNvSpPr>
          <p:nvPr>
            <p:ph type="body" sz="quarter" idx="13" hasCustomPrompt="1"/>
            <p:custDataLst>
              <p:tags r:id="rId13"/>
            </p:custDataLst>
          </p:nvPr>
        </p:nvSpPr>
        <p:spPr>
          <a:xfrm>
            <a:off x="3630542" y="4681986"/>
            <a:ext cx="2523129" cy="412826"/>
          </a:xfrm>
        </p:spPr>
        <p:txBody>
          <a:bodyPr lIns="90000" tIns="46800" rIns="90000" bIns="46800" anchor="ctr" anchorCtr="0">
            <a:normAutofit/>
          </a:bodyPr>
          <a:lstStyle>
            <a:lvl1pPr marL="0" indent="0" algn="r">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
        <p:nvSpPr>
          <p:cNvPr id="13" name="文本占位符 12"/>
          <p:cNvSpPr>
            <a:spLocks noGrp="1"/>
          </p:cNvSpPr>
          <p:nvPr>
            <p:ph type="body" sz="quarter" idx="14" hasCustomPrompt="1"/>
            <p:custDataLst>
              <p:tags r:id="rId14"/>
            </p:custDataLst>
          </p:nvPr>
        </p:nvSpPr>
        <p:spPr>
          <a:xfrm>
            <a:off x="6402188" y="4681986"/>
            <a:ext cx="2523127" cy="412826"/>
          </a:xfrm>
        </p:spPr>
        <p:txBody>
          <a:bodyPr lIns="90000" tIns="46800" rIns="90000" bIns="46800" anchor="ctr" anchorCtr="0">
            <a:normAutofit/>
          </a:bodyPr>
          <a:lstStyle>
            <a:lvl1pPr marL="0" indent="0" algn="l">
              <a:lnSpc>
                <a:spcPct val="100000"/>
              </a:lnSpc>
              <a:buNone/>
              <a:defRPr sz="1800">
                <a:solidFill>
                  <a:schemeClr val="tx1">
                    <a:lumMod val="85000"/>
                    <a:lumOff val="15000"/>
                  </a:schemeClr>
                </a:solidFill>
              </a:defRPr>
            </a:lvl1pPr>
          </a:lstStyle>
          <a:p>
            <a:pPr lvl="0"/>
            <a:r>
              <a:rPr lang="zh-CN" altLang="en-US" dirty="0"/>
              <a:t>编辑文本</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2"/>
        </a:solidFill>
        <a:effectLst/>
      </p:bgPr>
    </p:bg>
    <p:spTree>
      <p:nvGrpSpPr>
        <p:cNvPr id="1" name=""/>
        <p:cNvGrpSpPr/>
        <p:nvPr/>
      </p:nvGrpSpPr>
      <p:grpSpPr>
        <a:xfrm>
          <a:off x="0" y="0"/>
          <a:ext cx="0" cy="0"/>
          <a:chOff x="0" y="0"/>
          <a:chExt cx="0" cy="0"/>
        </a:xfrm>
      </p:grpSpPr>
      <p:grpSp>
        <p:nvGrpSpPr>
          <p:cNvPr id="7" name="组合 6"/>
          <p:cNvGrpSpPr/>
          <p:nvPr userDrawn="1">
            <p:custDataLst>
              <p:tags r:id="rId2"/>
            </p:custDataLst>
          </p:nvPr>
        </p:nvGrpSpPr>
        <p:grpSpPr>
          <a:xfrm>
            <a:off x="4001597" y="5613400"/>
            <a:ext cx="8190403" cy="1244600"/>
            <a:chOff x="4001597" y="5613400"/>
            <a:chExt cx="8190403" cy="1244600"/>
          </a:xfrm>
        </p:grpSpPr>
        <p:sp>
          <p:nvSpPr>
            <p:cNvPr id="8" name="任意多边形: 形状 7"/>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dirty="0"/>
            </a:p>
          </p:txBody>
        </p:sp>
        <p:sp>
          <p:nvSpPr>
            <p:cNvPr id="9" name="等腰三角形 8"/>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grpSp>
        <p:nvGrpSpPr>
          <p:cNvPr id="10" name="组合 9"/>
          <p:cNvGrpSpPr/>
          <p:nvPr userDrawn="1">
            <p:custDataLst>
              <p:tags r:id="rId5"/>
            </p:custDataLst>
          </p:nvPr>
        </p:nvGrpSpPr>
        <p:grpSpPr>
          <a:xfrm>
            <a:off x="5187002" y="2377388"/>
            <a:ext cx="570170" cy="707886"/>
            <a:chOff x="10608342" y="5053054"/>
            <a:chExt cx="1583658" cy="1966165"/>
          </a:xfrm>
        </p:grpSpPr>
        <p:sp>
          <p:nvSpPr>
            <p:cNvPr id="11" name="任意多边形: 形状 10"/>
            <p:cNvSpPr/>
            <p:nvPr>
              <p:custDataLst>
                <p:tags r:id="rId6"/>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2" name="等腰三角形 11"/>
            <p:cNvSpPr/>
            <p:nvPr>
              <p:custDataLst>
                <p:tags r:id="rId7"/>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85000" lnSpcReduction="10000"/>
            </a:bodyPr>
            <a:lstStyle/>
            <a:p>
              <a:pPr algn="ctr"/>
              <a:endParaRPr lang="zh-CN" altLang="en-US"/>
            </a:p>
          </p:txBody>
        </p:sp>
      </p:grpSp>
      <p:grpSp>
        <p:nvGrpSpPr>
          <p:cNvPr id="14" name="组合 13"/>
          <p:cNvGrpSpPr/>
          <p:nvPr userDrawn="1">
            <p:custDataLst>
              <p:tags r:id="rId8"/>
            </p:custDataLst>
          </p:nvPr>
        </p:nvGrpSpPr>
        <p:grpSpPr>
          <a:xfrm rot="10800000">
            <a:off x="-1" y="0"/>
            <a:ext cx="12192000" cy="1244600"/>
            <a:chOff x="4001597" y="5613400"/>
            <a:chExt cx="8190403" cy="1244600"/>
          </a:xfrm>
        </p:grpSpPr>
        <p:sp>
          <p:nvSpPr>
            <p:cNvPr id="15" name="任意多边形: 形状 14"/>
            <p:cNvSpPr/>
            <p:nvPr>
              <p:custDataLst>
                <p:tags r:id="rId9"/>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sp>
          <p:nvSpPr>
            <p:cNvPr id="16" name="等腰三角形 15"/>
            <p:cNvSpPr/>
            <p:nvPr>
              <p:custDataLst>
                <p:tags r:id="rId10"/>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p>
          </p:txBody>
        </p:sp>
      </p:grpSp>
      <p:sp>
        <p:nvSpPr>
          <p:cNvPr id="2" name="标题 1"/>
          <p:cNvSpPr>
            <a:spLocks noGrp="1"/>
          </p:cNvSpPr>
          <p:nvPr>
            <p:ph type="title" hasCustomPrompt="1"/>
            <p:custDataLst>
              <p:tags r:id="rId11"/>
            </p:custDataLst>
          </p:nvPr>
        </p:nvSpPr>
        <p:spPr>
          <a:xfrm>
            <a:off x="3500907" y="3090044"/>
            <a:ext cx="5190185" cy="740727"/>
          </a:xfrm>
        </p:spPr>
        <p:txBody>
          <a:bodyPr lIns="90170" tIns="46990" rIns="90170" bIns="0" anchor="b" anchorCtr="0">
            <a:normAutofit/>
          </a:bodyPr>
          <a:lstStyle>
            <a:lvl1pPr algn="ctr">
              <a:defRPr sz="4000" u="none" strike="noStrike" kern="1200" cap="none" spc="300" normalizeH="0">
                <a:solidFill>
                  <a:schemeClr val="tx1">
                    <a:lumMod val="85000"/>
                    <a:lumOff val="1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endParaRPr lang="zh-CN" altLang="en-US" dirty="0"/>
          </a:p>
        </p:txBody>
      </p:sp>
      <p:sp>
        <p:nvSpPr>
          <p:cNvPr id="3" name="文本占位符 2"/>
          <p:cNvSpPr>
            <a:spLocks noGrp="1"/>
          </p:cNvSpPr>
          <p:nvPr>
            <p:ph type="body" idx="1"/>
            <p:custDataLst>
              <p:tags r:id="rId12"/>
            </p:custDataLst>
          </p:nvPr>
        </p:nvSpPr>
        <p:spPr>
          <a:xfrm>
            <a:off x="3500907" y="3883113"/>
            <a:ext cx="5190185" cy="1477027"/>
          </a:xfrm>
        </p:spPr>
        <p:txBody>
          <a:bodyPr lIns="90170" tIns="0" rIns="90170" bIns="46990">
            <a:normAutofit/>
          </a:bodyPr>
          <a:lstStyle>
            <a:lvl1pPr marL="0" indent="0" algn="ctr" eaLnBrk="1" fontAlgn="auto" latinLnBrk="0" hangingPunct="1">
              <a:buNone/>
              <a:defRPr kumimoji="0" lang="zh-CN" altLang="en-US" sz="2000" b="0" i="0" u="none" strike="noStrike" kern="1200" cap="none" spc="150" normalizeH="0" baseline="0" noProof="1">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13"/>
            </p:custDataLst>
          </p:nvPr>
        </p:nvSpPr>
        <p:spPr/>
        <p:txBody>
          <a:bodyPr>
            <a:normAutofit/>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4"/>
            </p:custDataLst>
          </p:nvPr>
        </p:nvSpPr>
        <p:spPr/>
        <p:txBody>
          <a:bodyPr>
            <a:normAutofit/>
          </a:bodyPr>
          <a:lstStyle/>
          <a:p>
            <a:endParaRPr lang="zh-CN" altLang="en-US"/>
          </a:p>
        </p:txBody>
      </p:sp>
      <p:sp>
        <p:nvSpPr>
          <p:cNvPr id="6" name="灯片编号占位符 5"/>
          <p:cNvSpPr>
            <a:spLocks noGrp="1"/>
          </p:cNvSpPr>
          <p:nvPr>
            <p:ph type="sldNum" sz="quarter" idx="12"/>
            <p:custDataLst>
              <p:tags r:id="rId15"/>
            </p:custDataLst>
          </p:nvPr>
        </p:nvSpPr>
        <p:spPr/>
        <p:txBody>
          <a:bodyPr>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lIns="90170" tIns="46990" rIns="90170" bIns="46990">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lIns="90170" tIns="46990" rIns="90170" bIns="46990">
            <a:normAutofit/>
          </a:bodyPr>
          <a:lstStyle/>
          <a:p>
            <a:endParaRPr lang="zh-CN" altLang="en-US"/>
          </a:p>
        </p:txBody>
      </p:sp>
      <p:sp>
        <p:nvSpPr>
          <p:cNvPr id="7" name="灯片编号占位符 6"/>
          <p:cNvSpPr>
            <a:spLocks noGrp="1"/>
          </p:cNvSpPr>
          <p:nvPr>
            <p:ph type="sldNum" sz="quarter" idx="12"/>
            <p:custDataLst>
              <p:tags r:id="rId7"/>
            </p:custDataLst>
          </p:nvPr>
        </p:nvSpPr>
        <p:spPr/>
        <p:txBody>
          <a:bodyPr lIns="90170" tIns="46990" rIns="90170" bIns="46990">
            <a:normAutofit/>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10608342" y="5053054"/>
            <a:ext cx="1583658" cy="1966165"/>
            <a:chOff x="10608342" y="5053054"/>
            <a:chExt cx="1583658" cy="1966165"/>
          </a:xfrm>
        </p:grpSpPr>
        <p:sp>
          <p:nvSpPr>
            <p:cNvPr id="10" name="任意多边形: 形状 9"/>
            <p:cNvSpPr/>
            <p:nvPr>
              <p:custDataLst>
                <p:tags r:id="rId3"/>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custDataLst>
                <p:tags r:id="rId4"/>
              </p:custDataLst>
            </p:nvPr>
          </p:nvSpPr>
          <p:spPr>
            <a:xfrm>
              <a:off x="10960100" y="5207000"/>
              <a:ext cx="1231900" cy="1651000"/>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5"/>
            </p:custDataLst>
          </p:nvPr>
        </p:nvSpPr>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5"/>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6"/>
            </p:custDataLst>
          </p:nvPr>
        </p:nvSpPr>
        <p:spPr/>
        <p:txBody>
          <a:bodyPr/>
          <a:lstStyle/>
          <a:p>
            <a:endParaRPr lang="zh-CN" altLang="en-US" dirty="0"/>
          </a:p>
        </p:txBody>
      </p:sp>
      <p:sp>
        <p:nvSpPr>
          <p:cNvPr id="7" name="灯片编号占位符 6"/>
          <p:cNvSpPr>
            <a:spLocks noGrp="1"/>
          </p:cNvSpPr>
          <p:nvPr>
            <p:ph type="sldNum" sz="quarter" idx="12"/>
            <p:custDataLst>
              <p:tags r:id="rId7"/>
            </p:custDataLst>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388907"/>
          </a:xfrm>
        </p:spPr>
        <p:txBody>
          <a:bodyPr/>
          <a:lstStyle>
            <a:lvl1pPr>
              <a:defRPr>
                <a:solidFill>
                  <a:schemeClr val="tx1">
                    <a:lumMod val="85000"/>
                    <a:lumOff val="15000"/>
                  </a:schemeClr>
                </a:solidFill>
              </a:defRPr>
            </a:lvl1pPr>
            <a:lvl2pPr>
              <a:defRPr>
                <a:solidFill>
                  <a:schemeClr val="tx1">
                    <a:lumMod val="85000"/>
                    <a:lumOff val="15000"/>
                  </a:schemeClr>
                </a:solidFill>
              </a:defRPr>
            </a:lvl2pPr>
            <a:lvl3pPr>
              <a:defRPr>
                <a:solidFill>
                  <a:schemeClr val="tx1">
                    <a:lumMod val="85000"/>
                    <a:lumOff val="15000"/>
                  </a:schemeClr>
                </a:solidFill>
              </a:defRPr>
            </a:lvl3pPr>
            <a:lvl4pPr>
              <a:defRPr>
                <a:solidFill>
                  <a:schemeClr val="tx1">
                    <a:lumMod val="85000"/>
                    <a:lumOff val="15000"/>
                  </a:schemeClr>
                </a:solidFill>
              </a:defRPr>
            </a:lvl4pPr>
            <a:lvl5pPr>
              <a:defRPr>
                <a:solidFill>
                  <a:schemeClr val="tx1">
                    <a:lumMod val="85000"/>
                    <a:lumOff val="1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3588374" y="2588654"/>
            <a:ext cx="5015250" cy="1519707"/>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8000" b="1" i="0" u="none" strike="noStrike" kern="1200" cap="none" spc="600" normalizeH="0" baseline="0" noProof="1" dirty="0">
                <a:solidFill>
                  <a:schemeClr val="tx1">
                    <a:lumMod val="85000"/>
                    <a:lumOff val="1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endParaRPr dirty="0">
              <a:sym typeface="+mn-ea"/>
            </a:endParaRPr>
          </a:p>
        </p:txBody>
      </p:sp>
      <p:sp>
        <p:nvSpPr>
          <p:cNvPr id="3" name="日期占位符 2"/>
          <p:cNvSpPr>
            <a:spLocks noGrp="1"/>
          </p:cNvSpPr>
          <p:nvPr>
            <p:ph type="dt" sz="half" idx="10"/>
            <p:custDataLst>
              <p:tags r:id="rId3"/>
            </p:custDataLst>
          </p:nvPr>
        </p:nvSpPr>
        <p:spPr/>
        <p:txBody>
          <a:bodyPr lIns="90170" tIns="46990" rIns="90170" bIns="46990">
            <a:normAutofit/>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lIns="90170" tIns="46990" rIns="90170" bIns="46990">
            <a:normAutofit/>
          </a:bodyPr>
          <a:lstStyle/>
          <a:p>
            <a:endParaRPr lang="zh-CN" altLang="en-US"/>
          </a:p>
        </p:txBody>
      </p:sp>
      <p:sp>
        <p:nvSpPr>
          <p:cNvPr id="5" name="灯片编号占位符 4"/>
          <p:cNvSpPr>
            <a:spLocks noGrp="1"/>
          </p:cNvSpPr>
          <p:nvPr>
            <p:ph type="sldNum" sz="quarter" idx="12"/>
            <p:custDataLst>
              <p:tags r:id="rId5"/>
            </p:custDataLst>
          </p:nvPr>
        </p:nvSpPr>
        <p:spPr/>
        <p:txBody>
          <a:bodyPr lIns="90170" tIns="46990" rIns="90170" bIns="46990">
            <a:normAutofit/>
          </a:bodyPr>
          <a:lstStyle/>
          <a:p>
            <a:fld id="{49AE70B2-8BF9-45C0-BB95-33D1B9D3A854}" type="slidenum">
              <a:rPr lang="zh-CN" altLang="en-US" smtClean="0"/>
            </a:fld>
            <a:endParaRPr lang="zh-CN" altLang="en-US"/>
          </a:p>
        </p:txBody>
      </p:sp>
      <p:grpSp>
        <p:nvGrpSpPr>
          <p:cNvPr id="6" name="组合 5"/>
          <p:cNvGrpSpPr/>
          <p:nvPr userDrawn="1">
            <p:custDataLst>
              <p:tags r:id="rId6"/>
            </p:custDataLst>
          </p:nvPr>
        </p:nvGrpSpPr>
        <p:grpSpPr>
          <a:xfrm flipH="1">
            <a:off x="8603626" y="3112882"/>
            <a:ext cx="436739" cy="542227"/>
            <a:chOff x="10608342" y="5053054"/>
            <a:chExt cx="1583658" cy="1966165"/>
          </a:xfrm>
        </p:grpSpPr>
        <p:sp>
          <p:nvSpPr>
            <p:cNvPr id="7" name="任意多边形: 形状 6"/>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dirty="0"/>
            </a:p>
          </p:txBody>
        </p:sp>
        <p:sp>
          <p:nvSpPr>
            <p:cNvPr id="8" name="等腰三角形 7"/>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grpSp>
        <p:nvGrpSpPr>
          <p:cNvPr id="9" name="组合 8"/>
          <p:cNvGrpSpPr/>
          <p:nvPr userDrawn="1">
            <p:custDataLst>
              <p:tags r:id="rId9"/>
            </p:custDataLst>
          </p:nvPr>
        </p:nvGrpSpPr>
        <p:grpSpPr>
          <a:xfrm>
            <a:off x="3151635" y="3119499"/>
            <a:ext cx="436739" cy="542227"/>
            <a:chOff x="10608342" y="5053054"/>
            <a:chExt cx="1583658" cy="1966165"/>
          </a:xfrm>
        </p:grpSpPr>
        <p:sp>
          <p:nvSpPr>
            <p:cNvPr id="10" name="任意多边形: 形状 9"/>
            <p:cNvSpPr/>
            <p:nvPr>
              <p:custDataLst>
                <p:tags r:id="rId10"/>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a:bodyPr>
            <a:lstStyle/>
            <a:p>
              <a:pPr algn="ctr"/>
              <a:endParaRPr lang="zh-CN" altLang="en-US">
                <a:solidFill>
                  <a:schemeClr val="bg1"/>
                </a:solidFill>
              </a:endParaRPr>
            </a:p>
          </p:txBody>
        </p:sp>
        <p:sp>
          <p:nvSpPr>
            <p:cNvPr id="11" name="等腰三角形 10"/>
            <p:cNvSpPr/>
            <p:nvPr>
              <p:custDataLst>
                <p:tags r:id="rId11"/>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0170" tIns="46990" rIns="90170" bIns="46990" rtlCol="0" anchor="ctr">
              <a:normAutofit fontScale="55000" lnSpcReduction="20000"/>
            </a:bodyPr>
            <a:lstStyle/>
            <a:p>
              <a:pPr algn="ctr"/>
              <a:endParaRPr lang="zh-CN" altLang="en-US" dirty="0"/>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grpSp>
        <p:nvGrpSpPr>
          <p:cNvPr id="8" name="组合 7"/>
          <p:cNvGrpSpPr/>
          <p:nvPr userDrawn="1">
            <p:custDataLst>
              <p:tags r:id="rId2"/>
            </p:custDataLst>
          </p:nvPr>
        </p:nvGrpSpPr>
        <p:grpSpPr>
          <a:xfrm>
            <a:off x="4001597" y="6045200"/>
            <a:ext cx="8190403" cy="812800"/>
            <a:chOff x="4001597" y="5613400"/>
            <a:chExt cx="8190403" cy="1244600"/>
          </a:xfrm>
        </p:grpSpPr>
        <p:sp>
          <p:nvSpPr>
            <p:cNvPr id="9" name="任意多边形: 形状 8"/>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等腰三角形 9"/>
            <p:cNvSpPr/>
            <p:nvPr>
              <p:custDataLst>
                <p:tags r:id="rId4"/>
              </p:custDataLst>
            </p:nvPr>
          </p:nvSpPr>
          <p:spPr>
            <a:xfrm>
              <a:off x="5816600" y="5949254"/>
              <a:ext cx="6375400" cy="908746"/>
            </a:xfrm>
            <a:prstGeom prst="triangle">
              <a:avLst>
                <a:gd name="adj" fmla="val 10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userDrawn="1">
            <p:ph type="title" hasCustomPrompt="1"/>
            <p:custDataLst>
              <p:tags r:id="rId5"/>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a:t>单击此处添加标题</a:t>
            </a:r>
            <a:endParaRPr lang="zh-CN" altLang="en-US" dirty="0"/>
          </a:p>
        </p:txBody>
      </p:sp>
      <p:sp>
        <p:nvSpPr>
          <p:cNvPr id="3" name="日期占位符 2"/>
          <p:cNvSpPr>
            <a:spLocks noGrp="1"/>
          </p:cNvSpPr>
          <p:nvPr userDrawn="1">
            <p:ph type="dt" sz="half" idx="10"/>
            <p:custDataLst>
              <p:tags r:id="rId6"/>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7"/>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8"/>
            </p:custDataLst>
          </p:nvPr>
        </p:nvSpPr>
        <p:spPr/>
        <p:txBody>
          <a:bodyPr/>
          <a:lstStyle>
            <a:lvl1pPr>
              <a:defRPr baseline="0">
                <a:latin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userDrawn="1">
            <p:custDataLst>
              <p:tags r:id="rId2"/>
            </p:custDataLst>
          </p:nvPr>
        </p:nvSpPr>
        <p:spPr>
          <a:xfrm>
            <a:off x="292735" y="304165"/>
            <a:ext cx="11606530" cy="62496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grpSp>
        <p:nvGrpSpPr>
          <p:cNvPr id="11" name="组合 10"/>
          <p:cNvGrpSpPr/>
          <p:nvPr userDrawn="1">
            <p:custDataLst>
              <p:tags r:id="rId3"/>
            </p:custDataLst>
          </p:nvPr>
        </p:nvGrpSpPr>
        <p:grpSpPr>
          <a:xfrm rot="16200000">
            <a:off x="11009630" y="351790"/>
            <a:ext cx="737870" cy="916305"/>
            <a:chOff x="10608342" y="5053054"/>
            <a:chExt cx="1583658" cy="1966165"/>
          </a:xfrm>
        </p:grpSpPr>
        <p:sp>
          <p:nvSpPr>
            <p:cNvPr id="12" name="任意多边形: 形状 11"/>
            <p:cNvSpPr/>
            <p:nvPr>
              <p:custDataLst>
                <p:tags r:id="rId4"/>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3" name="等腰三角形 12"/>
            <p:cNvSpPr/>
            <p:nvPr>
              <p:custDataLst>
                <p:tags r:id="rId5"/>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grpSp>
        <p:nvGrpSpPr>
          <p:cNvPr id="14" name="组合 13"/>
          <p:cNvGrpSpPr/>
          <p:nvPr userDrawn="1">
            <p:custDataLst>
              <p:tags r:id="rId6"/>
            </p:custDataLst>
          </p:nvPr>
        </p:nvGrpSpPr>
        <p:grpSpPr>
          <a:xfrm rot="5400000">
            <a:off x="443865" y="5584825"/>
            <a:ext cx="737870" cy="916305"/>
            <a:chOff x="10608342" y="5053054"/>
            <a:chExt cx="1583658" cy="1966165"/>
          </a:xfrm>
        </p:grpSpPr>
        <p:sp>
          <p:nvSpPr>
            <p:cNvPr id="16" name="任意多边形: 形状 15"/>
            <p:cNvSpPr/>
            <p:nvPr>
              <p:custDataLst>
                <p:tags r:id="rId7"/>
              </p:custDataLst>
            </p:nvPr>
          </p:nvSpPr>
          <p:spPr>
            <a:xfrm rot="697528">
              <a:off x="10608342" y="5053054"/>
              <a:ext cx="1399913" cy="1966165"/>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8"/>
              </p:custDataLst>
            </p:nvPr>
          </p:nvSpPr>
          <p:spPr>
            <a:xfrm>
              <a:off x="10960100" y="5207000"/>
              <a:ext cx="1231900" cy="165100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p:ph type="title" hasCustomPrompt="1"/>
            <p:custDataLst>
              <p:tags r:id="rId9"/>
            </p:custDataLst>
          </p:nvPr>
        </p:nvSpPr>
        <p:spPr>
          <a:xfrm>
            <a:off x="1281600" y="1249200"/>
            <a:ext cx="9626400" cy="723600"/>
          </a:xfrm>
        </p:spPr>
        <p:txBody>
          <a:bodyPr anchor="ctr"/>
          <a:lstStyle>
            <a:lvl1pPr>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hasCustomPrompt="1"/>
            <p:custDataLst>
              <p:tags r:id="rId10"/>
            </p:custDataLst>
          </p:nvPr>
        </p:nvSpPr>
        <p:spPr>
          <a:xfrm>
            <a:off x="1281113" y="2163600"/>
            <a:ext cx="9626600" cy="3445200"/>
          </a:xfrm>
        </p:spPr>
        <p:txBody>
          <a:bodyPr>
            <a:normAutofit/>
          </a:bodyPr>
          <a:lstStyle>
            <a:lvl1pPr marL="0" indent="0">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灯片编号占位符 4"/>
          <p:cNvSpPr>
            <a:spLocks noGrp="1"/>
          </p:cNvSpPr>
          <p:nvPr>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4" name="页脚占位符 3"/>
          <p:cNvSpPr>
            <a:spLocks noGrp="1"/>
          </p:cNvSpPr>
          <p:nvPr>
            <p:ph type="ftr" sz="quarter" idx="11"/>
            <p:custDataLst>
              <p:tags r:id="rId13"/>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4823460" cy="685863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hasCustomPrompt="1"/>
            <p:custDataLst>
              <p:tags r:id="rId3"/>
            </p:custDataLst>
          </p:nvPr>
        </p:nvSpPr>
        <p:spPr>
          <a:xfrm>
            <a:off x="583200" y="770400"/>
            <a:ext cx="3960000" cy="882000"/>
          </a:xfrm>
        </p:spPr>
        <p:txBody>
          <a:bodyPr anchor="ctr">
            <a:normAutofit/>
          </a:bodyPr>
          <a:lstStyle>
            <a:lvl1pPr>
              <a:defRPr sz="32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586800" y="1764000"/>
            <a:ext cx="3956400" cy="4093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内容占位符 8"/>
          <p:cNvSpPr>
            <a:spLocks noGrp="1"/>
          </p:cNvSpPr>
          <p:nvPr userDrawn="1">
            <p:ph sz="quarter" idx="14"/>
            <p:custDataLst>
              <p:tags r:id="rId8"/>
            </p:custDataLst>
          </p:nvPr>
        </p:nvSpPr>
        <p:spPr>
          <a:xfrm>
            <a:off x="5101200" y="769938"/>
            <a:ext cx="6480000" cy="5087937"/>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75000"/>
                  </a:schemeClr>
                </a:solidFill>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a:sym typeface="+mn-ea"/>
              </a:rPr>
              <a:t>第</a:t>
            </a:r>
            <a:r>
              <a:rPr lang="zh-CN" altLang="en-US"/>
              <a:t>二级</a:t>
            </a:r>
            <a:endParaRPr lang="zh-CN" altLang="en-US"/>
          </a:p>
          <a:p>
            <a:pPr lvl="2"/>
            <a:r>
              <a:rPr lang="zh-CN" altLang="en-US">
                <a:sym typeface="+mn-ea"/>
              </a:rPr>
              <a:t>第</a:t>
            </a:r>
            <a:r>
              <a:rPr lang="zh-CN" altLang="en-US"/>
              <a:t>三级</a:t>
            </a:r>
            <a:endParaRPr lang="zh-CN" altLang="en-US"/>
          </a:p>
          <a:p>
            <a:pPr lvl="3"/>
            <a:r>
              <a:rPr lang="zh-CN" altLang="en-US">
                <a:sym typeface="+mn-ea"/>
              </a:rPr>
              <a:t>第</a:t>
            </a:r>
            <a:r>
              <a:rPr lang="zh-CN" altLang="en-US"/>
              <a:t>四级</a:t>
            </a:r>
            <a:endParaRPr lang="zh-CN" altLang="en-US"/>
          </a:p>
          <a:p>
            <a:pPr lvl="4"/>
            <a:r>
              <a:rPr lang="zh-CN" altLang="en-US">
                <a:sym typeface="+mn-ea"/>
              </a:rPr>
              <a:t>第</a:t>
            </a:r>
            <a:r>
              <a:rPr lang="zh-CN" altLang="en-US"/>
              <a:t>五级</a:t>
            </a:r>
            <a:endParaRPr lang="zh-CN" altLang="en-US" dirty="0"/>
          </a:p>
        </p:txBody>
      </p:sp>
      <p:grpSp>
        <p:nvGrpSpPr>
          <p:cNvPr id="11" name="组合 10"/>
          <p:cNvGrpSpPr/>
          <p:nvPr userDrawn="1">
            <p:custDataLst>
              <p:tags r:id="rId9"/>
            </p:custDataLst>
          </p:nvPr>
        </p:nvGrpSpPr>
        <p:grpSpPr>
          <a:xfrm>
            <a:off x="-1" y="0"/>
            <a:ext cx="4823460" cy="769938"/>
            <a:chOff x="-1" y="0"/>
            <a:chExt cx="4823460" cy="769938"/>
          </a:xfrm>
        </p:grpSpPr>
        <p:sp>
          <p:nvSpPr>
            <p:cNvPr id="12" name="任意多边形: 形状 11"/>
            <p:cNvSpPr/>
            <p:nvPr>
              <p:custDataLst>
                <p:tags r:id="rId10"/>
              </p:custDataLst>
            </p:nvPr>
          </p:nvSpPr>
          <p:spPr>
            <a:xfrm rot="10800000">
              <a:off x="0" y="0"/>
              <a:ext cx="4823459" cy="769938"/>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14" name="等腰三角形 13"/>
            <p:cNvSpPr/>
            <p:nvPr>
              <p:custDataLst>
                <p:tags r:id="rId11"/>
              </p:custDataLst>
            </p:nvPr>
          </p:nvSpPr>
          <p:spPr>
            <a:xfrm rot="10800000">
              <a:off x="-1" y="0"/>
              <a:ext cx="3754576" cy="562171"/>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85000"/>
                    <a:lumOff val="15000"/>
                  </a:schemeClr>
                </a:solidFill>
                <a:ea typeface="微软雅黑" panose="020B0503020204020204" charset="-122"/>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2"/>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sp>
        <p:nvSpPr>
          <p:cNvPr id="2" name="标题 1"/>
          <p:cNvSpPr>
            <a:spLocks noGrp="1"/>
          </p:cNvSpPr>
          <p:nvPr userDrawn="1">
            <p:ph type="title"/>
            <p:custDataLst>
              <p:tags r:id="rId3"/>
            </p:custDataLst>
          </p:nvPr>
        </p:nvSpPr>
        <p:spPr>
          <a:xfrm>
            <a:off x="612000" y="781200"/>
            <a:ext cx="10976400" cy="626400"/>
          </a:xfrm>
        </p:spPr>
        <p:txBody>
          <a:bodyPr anchor="ctr"/>
          <a:lstStyle>
            <a:lvl1pPr algn="ctr">
              <a:defRPr sz="36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4"/>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5"/>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6"/>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7"/>
            </p:custDataLst>
          </p:nvPr>
        </p:nvSpPr>
        <p:spPr>
          <a:xfrm>
            <a:off x="612000" y="1659600"/>
            <a:ext cx="10975975" cy="828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userDrawn="1">
            <p:ph sz="quarter" idx="14"/>
            <p:custDataLst>
              <p:tags r:id="rId8"/>
            </p:custDataLst>
          </p:nvPr>
        </p:nvSpPr>
        <p:spPr>
          <a:xfrm>
            <a:off x="612775" y="2808000"/>
            <a:ext cx="10965600" cy="34308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grpSp>
        <p:nvGrpSpPr>
          <p:cNvPr id="12" name="组合 11"/>
          <p:cNvGrpSpPr/>
          <p:nvPr userDrawn="1">
            <p:custDataLst>
              <p:tags r:id="rId9"/>
            </p:custDataLst>
          </p:nvPr>
        </p:nvGrpSpPr>
        <p:grpSpPr>
          <a:xfrm flipV="1">
            <a:off x="5921829" y="0"/>
            <a:ext cx="6270171" cy="812800"/>
            <a:chOff x="4001597" y="5613400"/>
            <a:chExt cx="8190403" cy="1244600"/>
          </a:xfrm>
        </p:grpSpPr>
        <p:sp>
          <p:nvSpPr>
            <p:cNvPr id="14" name="任意多边形: 形状 13"/>
            <p:cNvSpPr/>
            <p:nvPr>
              <p:custDataLst>
                <p:tags r:id="rId10"/>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5" name="等腰三角形 14"/>
            <p:cNvSpPr/>
            <p:nvPr>
              <p:custDataLst>
                <p:tags r:id="rId11"/>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flipV="1">
            <a:off x="5921829" y="0"/>
            <a:ext cx="6270171" cy="812800"/>
            <a:chOff x="4001597" y="5613400"/>
            <a:chExt cx="8190403" cy="1244600"/>
          </a:xfrm>
        </p:grpSpPr>
        <p:sp>
          <p:nvSpPr>
            <p:cNvPr id="14" name="任意多边形: 形状 13"/>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5" name="等腰三角形 14"/>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13" name="矩形 12"/>
          <p:cNvSpPr/>
          <p:nvPr userDrawn="1">
            <p:custDataLst>
              <p:tags r:id="rId5"/>
            </p:custDataLst>
          </p:nvPr>
        </p:nvSpPr>
        <p:spPr>
          <a:xfrm>
            <a:off x="0" y="50419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ea typeface="微软雅黑" panose="020B0503020204020204" charset="-122"/>
              <a:sym typeface="+mn-ea"/>
            </a:endParaRPr>
          </a:p>
        </p:txBody>
      </p:sp>
      <p:sp>
        <p:nvSpPr>
          <p:cNvPr id="2" name="标题 1"/>
          <p:cNvSpPr>
            <a:spLocks noGrp="1"/>
          </p:cNvSpPr>
          <p:nvPr userDrawn="1">
            <p:ph type="title"/>
            <p:custDataLst>
              <p:tags r:id="rId6"/>
            </p:custDataLst>
          </p:nvPr>
        </p:nvSpPr>
        <p:spPr>
          <a:xfrm>
            <a:off x="604520" y="669290"/>
            <a:ext cx="10976610" cy="565150"/>
          </a:xfrm>
        </p:spPr>
        <p:txBody>
          <a:bodyPr anchor="ctr"/>
          <a:lstStyle>
            <a:lvl1pPr algn="ctr">
              <a:lnSpc>
                <a:spcPct val="100000"/>
              </a:lnSpc>
              <a:defRPr sz="32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userDrawn="1">
            <p:ph type="dt" sz="half" idx="10"/>
            <p:custDataLst>
              <p:tags r:id="rId7"/>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userDrawn="1">
            <p:ph sz="quarter" idx="13"/>
            <p:custDataLst>
              <p:tags r:id="rId10"/>
            </p:custDataLst>
          </p:nvPr>
        </p:nvSpPr>
        <p:spPr>
          <a:xfrm>
            <a:off x="604837" y="1681200"/>
            <a:ext cx="10990800" cy="3211200"/>
          </a:xfrm>
        </p:spPr>
        <p:txBody>
          <a:bodyPr>
            <a:normAutofit/>
          </a:bodyPr>
          <a:lstStyle>
            <a:lvl1pPr marL="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1pPr>
            <a:lvl2pPr marL="4572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2pPr>
            <a:lvl3pPr marL="9144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3pPr>
            <a:lvl4pPr marL="13716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4pPr>
            <a:lvl5pPr marL="1828800" indent="0">
              <a:lnSpc>
                <a:spcPct val="130000"/>
              </a:lnSpc>
              <a:spcAft>
                <a:spcPts val="1000"/>
              </a:spcAft>
              <a:buFont typeface="Arial" panose="020B0604020202020204" pitchFamily="34" charset="0"/>
              <a:buNone/>
              <a:defRPr sz="1600" u="none" strike="noStrike" kern="1200" cap="none" spc="0" normalizeH="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sym typeface="+mn-ea"/>
              </a:rPr>
              <a:t>第</a:t>
            </a:r>
            <a:r>
              <a:rPr lang="zh-CN" altLang="en-US" dirty="0"/>
              <a:t>二级</a:t>
            </a:r>
            <a:endParaRPr lang="zh-CN" altLang="en-US" dirty="0"/>
          </a:p>
          <a:p>
            <a:pPr lvl="2"/>
            <a:r>
              <a:rPr lang="zh-CN" altLang="en-US" dirty="0">
                <a:sym typeface="+mn-ea"/>
              </a:rPr>
              <a:t>第</a:t>
            </a:r>
            <a:r>
              <a:rPr lang="zh-CN" altLang="en-US" dirty="0"/>
              <a:t>三级</a:t>
            </a:r>
            <a:endParaRPr lang="zh-CN" altLang="en-US" dirty="0"/>
          </a:p>
          <a:p>
            <a:pPr lvl="3"/>
            <a:r>
              <a:rPr lang="zh-CN" altLang="en-US" dirty="0">
                <a:sym typeface="+mn-ea"/>
              </a:rPr>
              <a:t>第</a:t>
            </a:r>
            <a:r>
              <a:rPr lang="zh-CN" altLang="en-US" dirty="0"/>
              <a:t>四级</a:t>
            </a:r>
            <a:endParaRPr lang="zh-CN" altLang="en-US" dirty="0"/>
          </a:p>
          <a:p>
            <a:pPr lvl="4"/>
            <a:r>
              <a:rPr lang="zh-CN" altLang="en-US" dirty="0">
                <a:sym typeface="+mn-ea"/>
              </a:rPr>
              <a:t>第</a:t>
            </a:r>
            <a:r>
              <a:rPr lang="zh-CN" altLang="en-US" dirty="0"/>
              <a:t>五级</a:t>
            </a:r>
            <a:endParaRPr lang="zh-CN" altLang="en-US" dirty="0"/>
          </a:p>
        </p:txBody>
      </p:sp>
      <p:sp>
        <p:nvSpPr>
          <p:cNvPr id="9" name="文本占位符 8"/>
          <p:cNvSpPr>
            <a:spLocks noGrp="1"/>
          </p:cNvSpPr>
          <p:nvPr userDrawn="1">
            <p:ph type="body" sz="quarter" idx="14"/>
            <p:custDataLst>
              <p:tags r:id="rId11"/>
            </p:custDataLst>
          </p:nvPr>
        </p:nvSpPr>
        <p:spPr>
          <a:xfrm>
            <a:off x="594000" y="5180400"/>
            <a:ext cx="11001600" cy="1011600"/>
          </a:xfrm>
        </p:spPr>
        <p:txBody>
          <a:bodyPr>
            <a:normAutofit/>
          </a:bodyPr>
          <a:lstStyle>
            <a:lvl1pPr marL="0" indent="0">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grpSp>
        <p:nvGrpSpPr>
          <p:cNvPr id="16" name="组合 15"/>
          <p:cNvGrpSpPr/>
          <p:nvPr userDrawn="1">
            <p:custDataLst>
              <p:tags r:id="rId2"/>
            </p:custDataLst>
          </p:nvPr>
        </p:nvGrpSpPr>
        <p:grpSpPr>
          <a:xfrm>
            <a:off x="4001597" y="6045200"/>
            <a:ext cx="8190403" cy="812800"/>
            <a:chOff x="4001597" y="5613400"/>
            <a:chExt cx="8190403" cy="1244600"/>
          </a:xfrm>
        </p:grpSpPr>
        <p:sp>
          <p:nvSpPr>
            <p:cNvPr id="17" name="任意多边形: 形状 16"/>
            <p:cNvSpPr/>
            <p:nvPr>
              <p:custDataLst>
                <p:tags r:id="rId3"/>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endParaRPr>
            </a:p>
          </p:txBody>
        </p:sp>
        <p:sp>
          <p:nvSpPr>
            <p:cNvPr id="18" name="等腰三角形 17"/>
            <p:cNvSpPr/>
            <p:nvPr>
              <p:custDataLst>
                <p:tags r:id="rId4"/>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sp>
        <p:nvSpPr>
          <p:cNvPr id="15" name="矩形 14"/>
          <p:cNvSpPr/>
          <p:nvPr userDrawn="1">
            <p:custDataLst>
              <p:tags r:id="rId5"/>
            </p:custDataLst>
          </p:nvPr>
        </p:nvSpPr>
        <p:spPr>
          <a:xfrm>
            <a:off x="0" y="0"/>
            <a:ext cx="12192000" cy="914407"/>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bg1"/>
              </a:solidFill>
              <a:latin typeface="Viner Hand ITC" panose="03070502030502020203" charset="0"/>
              <a:ea typeface="微软雅黑" panose="020B0503020204020204" charset="-122"/>
              <a:cs typeface="Viner Hand ITC" panose="03070502030502020203" charset="0"/>
              <a:sym typeface="+mn-ea"/>
            </a:endParaRPr>
          </a:p>
        </p:txBody>
      </p:sp>
      <p:sp>
        <p:nvSpPr>
          <p:cNvPr id="2" name="标题 1"/>
          <p:cNvSpPr>
            <a:spLocks noGrp="1"/>
          </p:cNvSpPr>
          <p:nvPr>
            <p:ph type="title"/>
            <p:custDataLst>
              <p:tags r:id="rId6"/>
            </p:custDataLst>
          </p:nvPr>
        </p:nvSpPr>
        <p:spPr>
          <a:xfrm>
            <a:off x="579600" y="237600"/>
            <a:ext cx="11037600" cy="441964"/>
          </a:xfrm>
        </p:spPr>
        <p:txBody>
          <a:bodyPr>
            <a:noAutofit/>
          </a:bodyPr>
          <a:lstStyle>
            <a:lvl1pPr>
              <a:lnSpc>
                <a:spcPct val="100000"/>
              </a:lnSpc>
              <a:defRPr sz="2400" b="1" u="none" strike="noStrike" kern="1200" cap="none" spc="0" normalizeH="0" baseline="0">
                <a:solidFill>
                  <a:schemeClr val="bg1"/>
                </a:solidFill>
                <a:uFillTx/>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7" name="内容占位符 6"/>
          <p:cNvSpPr>
            <a:spLocks noGrp="1"/>
          </p:cNvSpPr>
          <p:nvPr>
            <p:ph sz="quarter" idx="13"/>
            <p:custDataLst>
              <p:tags r:id="rId7"/>
            </p:custDataLst>
          </p:nvPr>
        </p:nvSpPr>
        <p:spPr>
          <a:xfrm>
            <a:off x="579600" y="1663200"/>
            <a:ext cx="5342400" cy="2894400"/>
          </a:xfrm>
        </p:spPr>
        <p:txBody>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3" name="日期占位符 2"/>
          <p:cNvSpPr>
            <a:spLocks noGrp="1"/>
          </p:cNvSpPr>
          <p:nvPr>
            <p:ph type="dt" sz="half" idx="10"/>
            <p:custDataLst>
              <p:tags r:id="rId8"/>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9"/>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9" name="内容占位符 8"/>
          <p:cNvSpPr>
            <a:spLocks noGrp="1"/>
          </p:cNvSpPr>
          <p:nvPr>
            <p:ph sz="quarter" idx="14"/>
            <p:custDataLst>
              <p:tags r:id="rId11"/>
            </p:custDataLst>
          </p:nvPr>
        </p:nvSpPr>
        <p:spPr>
          <a:xfrm>
            <a:off x="6242400" y="1663200"/>
            <a:ext cx="5367600" cy="2894400"/>
          </a:xfrm>
        </p:spPr>
        <p:txBody>
          <a:bodyPr>
            <a:normAutofit/>
          </a:bodyPr>
          <a:lstStyle>
            <a:lvl1pPr marL="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2pPr>
            <a:lvl3pPr marL="9144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3pPr>
            <a:lvl4pPr marL="13716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4pPr>
            <a:lvl5pPr marL="1828800" indent="0">
              <a:lnSpc>
                <a:spcPct val="130000"/>
              </a:lnSpc>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5pPr>
          </a:lstStyle>
          <a:p>
            <a:pPr lvl="0"/>
            <a:r>
              <a:rPr lang="zh-CN" altLang="en-US"/>
              <a:t>单击此处编辑母版文本样式</a:t>
            </a:r>
            <a:endParaRPr lang="zh-CN" altLang="en-US"/>
          </a:p>
          <a:p>
            <a:pPr lvl="1"/>
            <a:r>
              <a:rPr lang="zh-CN" altLang="en-US" dirty="0">
                <a:sym typeface="+mn-ea"/>
              </a:rPr>
              <a:t>第</a:t>
            </a:r>
            <a:r>
              <a:rPr lang="zh-CN" altLang="en-US"/>
              <a:t>二级</a:t>
            </a:r>
            <a:endParaRPr lang="zh-CN" altLang="en-US"/>
          </a:p>
          <a:p>
            <a:pPr lvl="2"/>
            <a:r>
              <a:rPr lang="zh-CN" altLang="en-US" dirty="0">
                <a:sym typeface="+mn-ea"/>
              </a:rPr>
              <a:t>第</a:t>
            </a:r>
            <a:r>
              <a:rPr lang="zh-CN" altLang="en-US"/>
              <a:t>三级</a:t>
            </a:r>
            <a:endParaRPr lang="zh-CN" altLang="en-US"/>
          </a:p>
          <a:p>
            <a:pPr lvl="3"/>
            <a:r>
              <a:rPr lang="zh-CN" altLang="en-US" dirty="0">
                <a:sym typeface="+mn-ea"/>
              </a:rPr>
              <a:t>第</a:t>
            </a:r>
            <a:r>
              <a:rPr lang="zh-CN" altLang="en-US"/>
              <a:t>四级</a:t>
            </a:r>
            <a:endParaRPr lang="zh-CN" altLang="en-US"/>
          </a:p>
          <a:p>
            <a:pPr lvl="4"/>
            <a:r>
              <a:rPr lang="zh-CN" altLang="en-US" dirty="0">
                <a:sym typeface="+mn-ea"/>
              </a:rPr>
              <a:t>第</a:t>
            </a:r>
            <a:r>
              <a:rPr lang="zh-CN" altLang="en-US"/>
              <a:t>五级</a:t>
            </a:r>
            <a:endParaRPr lang="zh-CN" altLang="en-US"/>
          </a:p>
        </p:txBody>
      </p:sp>
      <p:sp>
        <p:nvSpPr>
          <p:cNvPr id="11" name="文本占位符 10"/>
          <p:cNvSpPr>
            <a:spLocks noGrp="1"/>
          </p:cNvSpPr>
          <p:nvPr>
            <p:ph type="body" sz="quarter" idx="15"/>
            <p:custDataLst>
              <p:tags r:id="rId12"/>
            </p:custDataLst>
          </p:nvPr>
        </p:nvSpPr>
        <p:spPr>
          <a:xfrm>
            <a:off x="572400" y="4816800"/>
            <a:ext cx="53424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3"/>
            </p:custDataLst>
          </p:nvPr>
        </p:nvSpPr>
        <p:spPr>
          <a:xfrm>
            <a:off x="6253200" y="4813200"/>
            <a:ext cx="5367600" cy="781200"/>
          </a:xfrm>
        </p:spPr>
        <p:txBody>
          <a:bodyPr>
            <a:normAutofit/>
          </a:bodyPr>
          <a:lstStyle>
            <a:lvl1pPr marL="0" indent="0">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2" name="矩形 11"/>
          <p:cNvSpPr/>
          <p:nvPr userDrawn="1">
            <p:custDataLst>
              <p:tags r:id="rId2"/>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latin typeface="Arial" panose="020B0604020202020204" pitchFamily="34" charset="0"/>
              <a:ea typeface="微软雅黑" panose="020B0503020204020204" charset="-122"/>
              <a:sym typeface="+mn-ea"/>
            </a:endParaRPr>
          </a:p>
        </p:txBody>
      </p:sp>
      <p:grpSp>
        <p:nvGrpSpPr>
          <p:cNvPr id="15" name="组合 14"/>
          <p:cNvGrpSpPr/>
          <p:nvPr userDrawn="1">
            <p:custDataLst>
              <p:tags r:id="rId3"/>
            </p:custDataLst>
          </p:nvPr>
        </p:nvGrpSpPr>
        <p:grpSpPr>
          <a:xfrm rot="10800000">
            <a:off x="0" y="0"/>
            <a:ext cx="5457825" cy="1529715"/>
            <a:chOff x="4001597" y="5613400"/>
            <a:chExt cx="8190403" cy="1244600"/>
          </a:xfrm>
        </p:grpSpPr>
        <p:sp>
          <p:nvSpPr>
            <p:cNvPr id="16" name="任意多边形: 形状 15"/>
            <p:cNvSpPr/>
            <p:nvPr>
              <p:custDataLst>
                <p:tags r:id="rId4"/>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sp>
          <p:nvSpPr>
            <p:cNvPr id="17" name="等腰三角形 16"/>
            <p:cNvSpPr/>
            <p:nvPr>
              <p:custDataLst>
                <p:tags r:id="rId5"/>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grpSp>
      <p:grpSp>
        <p:nvGrpSpPr>
          <p:cNvPr id="18" name="组合 17"/>
          <p:cNvGrpSpPr/>
          <p:nvPr userDrawn="1">
            <p:custDataLst>
              <p:tags r:id="rId6"/>
            </p:custDataLst>
          </p:nvPr>
        </p:nvGrpSpPr>
        <p:grpSpPr>
          <a:xfrm>
            <a:off x="6734175" y="5323840"/>
            <a:ext cx="5457825" cy="1529715"/>
            <a:chOff x="4001597" y="5613400"/>
            <a:chExt cx="8190403" cy="1244600"/>
          </a:xfrm>
        </p:grpSpPr>
        <p:sp>
          <p:nvSpPr>
            <p:cNvPr id="19" name="任意多边形: 形状 18"/>
            <p:cNvSpPr/>
            <p:nvPr>
              <p:custDataLst>
                <p:tags r:id="rId7"/>
              </p:custDataLst>
            </p:nvPr>
          </p:nvSpPr>
          <p:spPr>
            <a:xfrm>
              <a:off x="4001597" y="5613400"/>
              <a:ext cx="8190402" cy="1244600"/>
            </a:xfrm>
            <a:custGeom>
              <a:avLst/>
              <a:gdLst>
                <a:gd name="connsiteX0" fmla="*/ 8190402 w 8190402"/>
                <a:gd name="connsiteY0" fmla="*/ 0 h 1244600"/>
                <a:gd name="connsiteX1" fmla="*/ 8190402 w 8190402"/>
                <a:gd name="connsiteY1" fmla="*/ 1155849 h 1244600"/>
                <a:gd name="connsiteX2" fmla="*/ 4203232 w 8190402"/>
                <a:gd name="connsiteY2" fmla="*/ 1244600 h 1244600"/>
                <a:gd name="connsiteX3" fmla="*/ 0 w 8190402"/>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8190402" h="1244600">
                  <a:moveTo>
                    <a:pt x="8190402" y="0"/>
                  </a:moveTo>
                  <a:lnTo>
                    <a:pt x="8190402" y="1155849"/>
                  </a:lnTo>
                  <a:lnTo>
                    <a:pt x="4203232" y="1244600"/>
                  </a:lnTo>
                  <a:lnTo>
                    <a:pt x="0" y="1244600"/>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charset="-122"/>
              </a:endParaRPr>
            </a:p>
          </p:txBody>
        </p:sp>
        <p:sp>
          <p:nvSpPr>
            <p:cNvPr id="20" name="等腰三角形 19"/>
            <p:cNvSpPr/>
            <p:nvPr>
              <p:custDataLst>
                <p:tags r:id="rId8"/>
              </p:custDataLst>
            </p:nvPr>
          </p:nvSpPr>
          <p:spPr>
            <a:xfrm>
              <a:off x="5816600" y="5949254"/>
              <a:ext cx="6375400" cy="908746"/>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charset="-122"/>
              </a:endParaRPr>
            </a:p>
          </p:txBody>
        </p:sp>
      </p:grpSp>
      <p:sp>
        <p:nvSpPr>
          <p:cNvPr id="2" name="标题 1"/>
          <p:cNvSpPr>
            <a:spLocks noGrp="1"/>
          </p:cNvSpPr>
          <p:nvPr userDrawn="1">
            <p:ph type="title" hasCustomPrompt="1"/>
            <p:custDataLst>
              <p:tags r:id="rId9"/>
            </p:custDataLst>
          </p:nvPr>
        </p:nvSpPr>
        <p:spPr>
          <a:xfrm>
            <a:off x="1522800" y="1339200"/>
            <a:ext cx="9144000" cy="2386800"/>
          </a:xfrm>
        </p:spPr>
        <p:txBody>
          <a:bodyPr anchor="b"/>
          <a:lstStyle>
            <a:lvl1pPr algn="ctr">
              <a:defRPr sz="6000" b="1"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userDrawn="1">
            <p:ph type="dt" sz="half" idx="10"/>
            <p:custDataLst>
              <p:tags r:id="rId10"/>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userDrawn="1">
            <p:ph type="ftr" sz="quarter" idx="11"/>
            <p:custDataLst>
              <p:tags r:id="rId11"/>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12"/>
            </p:custDataLst>
          </p:nvPr>
        </p:nvSpPr>
        <p:spPr/>
        <p:txBody>
          <a:bodyPr/>
          <a:lstStyle>
            <a:lvl1pPr>
              <a:defRPr u="none" strike="noStrike" kern="1200" cap="none" spc="0" normalizeH="0">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userDrawn="1">
            <p:ph type="body" sz="quarter" idx="13"/>
            <p:custDataLst>
              <p:tags r:id="rId13"/>
            </p:custDataLst>
          </p:nvPr>
        </p:nvSpPr>
        <p:spPr>
          <a:xfrm>
            <a:off x="1522413" y="3862800"/>
            <a:ext cx="9144000" cy="1656000"/>
          </a:xfrm>
        </p:spPr>
        <p:txBody>
          <a:bodyPr>
            <a:normAutofit/>
          </a:bodyPr>
          <a:lstStyle>
            <a:lvl1pPr marL="0" indent="0" algn="ctr">
              <a:lnSpc>
                <a:spcPct val="130000"/>
              </a:lnSpc>
              <a:spcBef>
                <a:spcPts val="0"/>
              </a:spcBef>
              <a:spcAft>
                <a:spcPts val="1000"/>
              </a:spcAft>
              <a:buNone/>
              <a:defRPr sz="1600" u="none" strike="noStrike" kern="1200" cap="none" spc="0" normalizeH="0" baseline="0">
                <a:solidFill>
                  <a:schemeClr val="tx1">
                    <a:lumMod val="85000"/>
                    <a:lumOff val="15000"/>
                  </a:schemeClr>
                </a:solidFill>
                <a:uFillTx/>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5" Type="http://schemas.openxmlformats.org/officeDocument/2006/relationships/theme" Target="../theme/theme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slideLayout" Target="../slideLayouts/slideLayout2.xml"/><Relationship Id="rId19" Type="http://schemas.openxmlformats.org/officeDocument/2006/relationships/tags" Target="../tags/tag155.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62.xml"/><Relationship Id="rId1" Type="http://schemas.openxmlformats.org/officeDocument/2006/relationships/tags" Target="../tags/tag161.xml"/></Relationships>
</file>

<file path=ppt/slides/_rels/slide2.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s>
</file>

<file path=ppt/slides/_rels/slide3.xml.rels><?xml version="1.0" encoding="UTF-8" standalone="yes"?>
<Relationships xmlns="http://schemas.openxmlformats.org/package/2006/relationships"><Relationship Id="rId9" Type="http://schemas.openxmlformats.org/officeDocument/2006/relationships/tags" Target="../tags/tag178.xml"/><Relationship Id="rId8" Type="http://schemas.openxmlformats.org/officeDocument/2006/relationships/tags" Target="../tags/tag177.xml"/><Relationship Id="rId7" Type="http://schemas.openxmlformats.org/officeDocument/2006/relationships/tags" Target="../tags/tag176.xml"/><Relationship Id="rId6" Type="http://schemas.openxmlformats.org/officeDocument/2006/relationships/tags" Target="../tags/tag175.xml"/><Relationship Id="rId5" Type="http://schemas.openxmlformats.org/officeDocument/2006/relationships/tags" Target="../tags/tag174.xml"/><Relationship Id="rId4" Type="http://schemas.openxmlformats.org/officeDocument/2006/relationships/tags" Target="../tags/tag173.xml"/><Relationship Id="rId32" Type="http://schemas.openxmlformats.org/officeDocument/2006/relationships/slideLayout" Target="../slideLayouts/slideLayout6.xml"/><Relationship Id="rId31" Type="http://schemas.openxmlformats.org/officeDocument/2006/relationships/tags" Target="../tags/tag200.xml"/><Relationship Id="rId30" Type="http://schemas.openxmlformats.org/officeDocument/2006/relationships/tags" Target="../tags/tag199.xml"/><Relationship Id="rId3" Type="http://schemas.openxmlformats.org/officeDocument/2006/relationships/tags" Target="../tags/tag172.xml"/><Relationship Id="rId29" Type="http://schemas.openxmlformats.org/officeDocument/2006/relationships/tags" Target="../tags/tag198.xml"/><Relationship Id="rId28" Type="http://schemas.openxmlformats.org/officeDocument/2006/relationships/tags" Target="../tags/tag197.xml"/><Relationship Id="rId27" Type="http://schemas.openxmlformats.org/officeDocument/2006/relationships/tags" Target="../tags/tag196.xml"/><Relationship Id="rId26" Type="http://schemas.openxmlformats.org/officeDocument/2006/relationships/tags" Target="../tags/tag195.xml"/><Relationship Id="rId25" Type="http://schemas.openxmlformats.org/officeDocument/2006/relationships/tags" Target="../tags/tag194.xml"/><Relationship Id="rId24" Type="http://schemas.openxmlformats.org/officeDocument/2006/relationships/tags" Target="../tags/tag193.xml"/><Relationship Id="rId23" Type="http://schemas.openxmlformats.org/officeDocument/2006/relationships/tags" Target="../tags/tag192.xml"/><Relationship Id="rId22" Type="http://schemas.openxmlformats.org/officeDocument/2006/relationships/tags" Target="../tags/tag191.xml"/><Relationship Id="rId21" Type="http://schemas.openxmlformats.org/officeDocument/2006/relationships/tags" Target="../tags/tag190.xml"/><Relationship Id="rId20" Type="http://schemas.openxmlformats.org/officeDocument/2006/relationships/tags" Target="../tags/tag189.xml"/><Relationship Id="rId2" Type="http://schemas.openxmlformats.org/officeDocument/2006/relationships/tags" Target="../tags/tag171.xml"/><Relationship Id="rId19" Type="http://schemas.openxmlformats.org/officeDocument/2006/relationships/tags" Target="../tags/tag188.xml"/><Relationship Id="rId18" Type="http://schemas.openxmlformats.org/officeDocument/2006/relationships/tags" Target="../tags/tag187.xml"/><Relationship Id="rId17" Type="http://schemas.openxmlformats.org/officeDocument/2006/relationships/tags" Target="../tags/tag186.xml"/><Relationship Id="rId16" Type="http://schemas.openxmlformats.org/officeDocument/2006/relationships/tags" Target="../tags/tag185.xml"/><Relationship Id="rId15" Type="http://schemas.openxmlformats.org/officeDocument/2006/relationships/tags" Target="../tags/tag184.xml"/><Relationship Id="rId14" Type="http://schemas.openxmlformats.org/officeDocument/2006/relationships/tags" Target="../tags/tag183.xml"/><Relationship Id="rId13" Type="http://schemas.openxmlformats.org/officeDocument/2006/relationships/tags" Target="../tags/tag182.xml"/><Relationship Id="rId12" Type="http://schemas.openxmlformats.org/officeDocument/2006/relationships/tags" Target="../tags/tag181.xml"/><Relationship Id="rId11" Type="http://schemas.openxmlformats.org/officeDocument/2006/relationships/tags" Target="../tags/tag180.xml"/><Relationship Id="rId10" Type="http://schemas.openxmlformats.org/officeDocument/2006/relationships/tags" Target="../tags/tag179.xml"/><Relationship Id="rId1" Type="http://schemas.openxmlformats.org/officeDocument/2006/relationships/tags" Target="../tags/tag170.xml"/></Relationships>
</file>

<file path=ppt/slides/_rels/slide4.xml.rels><?xml version="1.0" encoding="UTF-8" standalone="yes"?>
<Relationships xmlns="http://schemas.openxmlformats.org/package/2006/relationships"><Relationship Id="rId9" Type="http://schemas.openxmlformats.org/officeDocument/2006/relationships/tags" Target="../tags/tag204.xml"/><Relationship Id="rId8" Type="http://schemas.openxmlformats.org/officeDocument/2006/relationships/tags" Target="../tags/tag203.xml"/><Relationship Id="rId7" Type="http://schemas.microsoft.com/office/2007/relationships/diagramDrawing" Target="../diagrams/drawing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3" Type="http://schemas.openxmlformats.org/officeDocument/2006/relationships/diagramData" Target="../diagrams/data1.xml"/><Relationship Id="rId2" Type="http://schemas.openxmlformats.org/officeDocument/2006/relationships/tags" Target="../tags/tag202.xml"/><Relationship Id="rId11" Type="http://schemas.openxmlformats.org/officeDocument/2006/relationships/notesSlide" Target="../notesSlides/notesSlide1.xml"/><Relationship Id="rId10" Type="http://schemas.openxmlformats.org/officeDocument/2006/relationships/slideLayout" Target="../slideLayouts/slideLayout14.xml"/><Relationship Id="rId1" Type="http://schemas.openxmlformats.org/officeDocument/2006/relationships/tags" Target="../tags/tag201.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4.xml"/><Relationship Id="rId5" Type="http://schemas.openxmlformats.org/officeDocument/2006/relationships/tags" Target="../tags/tag207.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206.xml"/><Relationship Id="rId1" Type="http://schemas.openxmlformats.org/officeDocument/2006/relationships/tags" Target="../tags/tag205.xml"/></Relationships>
</file>

<file path=ppt/slides/_rels/slide6.xml.rels><?xml version="1.0" encoding="UTF-8" standalone="yes"?>
<Relationships xmlns="http://schemas.openxmlformats.org/package/2006/relationships"><Relationship Id="rId9" Type="http://schemas.openxmlformats.org/officeDocument/2006/relationships/tags" Target="../tags/tag215.xml"/><Relationship Id="rId8" Type="http://schemas.openxmlformats.org/officeDocument/2006/relationships/tags" Target="../tags/tag214.xml"/><Relationship Id="rId7" Type="http://schemas.openxmlformats.org/officeDocument/2006/relationships/tags" Target="../tags/tag213.xml"/><Relationship Id="rId6" Type="http://schemas.openxmlformats.org/officeDocument/2006/relationships/tags" Target="../tags/tag212.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image" Target="../media/image3.png"/><Relationship Id="rId18" Type="http://schemas.openxmlformats.org/officeDocument/2006/relationships/notesSlide" Target="../notesSlides/notesSlide3.xml"/><Relationship Id="rId17" Type="http://schemas.openxmlformats.org/officeDocument/2006/relationships/slideLayout" Target="../slideLayouts/slideLayout13.xml"/><Relationship Id="rId16" Type="http://schemas.openxmlformats.org/officeDocument/2006/relationships/tags" Target="../tags/tag222.xml"/><Relationship Id="rId15" Type="http://schemas.openxmlformats.org/officeDocument/2006/relationships/tags" Target="../tags/tag221.xml"/><Relationship Id="rId14" Type="http://schemas.openxmlformats.org/officeDocument/2006/relationships/tags" Target="../tags/tag220.xml"/><Relationship Id="rId13" Type="http://schemas.openxmlformats.org/officeDocument/2006/relationships/tags" Target="../tags/tag219.xml"/><Relationship Id="rId12" Type="http://schemas.openxmlformats.org/officeDocument/2006/relationships/tags" Target="../tags/tag218.xml"/><Relationship Id="rId11" Type="http://schemas.openxmlformats.org/officeDocument/2006/relationships/tags" Target="../tags/tag217.xml"/><Relationship Id="rId10" Type="http://schemas.openxmlformats.org/officeDocument/2006/relationships/tags" Target="../tags/tag216.xml"/><Relationship Id="rId1" Type="http://schemas.openxmlformats.org/officeDocument/2006/relationships/tags" Target="../tags/tag208.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tags" Target="../tags/tag223.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7" Type="http://schemas.openxmlformats.org/officeDocument/2006/relationships/comments" Target="../comments/comment1.xml"/><Relationship Id="rId6" Type="http://schemas.openxmlformats.org/officeDocument/2006/relationships/notesSlide" Target="../notesSlides/notesSlide5.xml"/><Relationship Id="rId5" Type="http://schemas.openxmlformats.org/officeDocument/2006/relationships/slideLayout" Target="../slideLayouts/slideLayout13.xml"/><Relationship Id="rId4" Type="http://schemas.openxmlformats.org/officeDocument/2006/relationships/tags" Target="../tags/tag224.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3.xml"/><Relationship Id="rId5" Type="http://schemas.openxmlformats.org/officeDocument/2006/relationships/tags" Target="../tags/tag227.xml"/><Relationship Id="rId4" Type="http://schemas.openxmlformats.org/officeDocument/2006/relationships/image" Target="../media/image9.png"/><Relationship Id="rId3" Type="http://schemas.openxmlformats.org/officeDocument/2006/relationships/tags" Target="../tags/tag226.xml"/><Relationship Id="rId2" Type="http://schemas.openxmlformats.org/officeDocument/2006/relationships/image" Target="../media/image8.png"/><Relationship Id="rId1" Type="http://schemas.openxmlformats.org/officeDocument/2006/relationships/tags" Target="../tags/tag225.xml"/></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3.xml"/><Relationship Id="rId7" Type="http://schemas.openxmlformats.org/officeDocument/2006/relationships/tags" Target="../tags/tag22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228.xml"/></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4.xml"/><Relationship Id="rId6" Type="http://schemas.openxmlformats.org/officeDocument/2006/relationships/tags" Target="../tags/tag232.xml"/><Relationship Id="rId5" Type="http://schemas.openxmlformats.org/officeDocument/2006/relationships/image" Target="../media/image17.png"/><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tags" Target="../tags/tag231.xml"/><Relationship Id="rId1" Type="http://schemas.openxmlformats.org/officeDocument/2006/relationships/tags" Target="../tags/tag230.xml"/></Relationships>
</file>

<file path=ppt/slides/_rels/slide12.xml.rels><?xml version="1.0" encoding="UTF-8" standalone="yes"?>
<Relationships xmlns="http://schemas.openxmlformats.org/package/2006/relationships"><Relationship Id="rId8" Type="http://schemas.openxmlformats.org/officeDocument/2006/relationships/comments" Target="../comments/comment2.xml"/><Relationship Id="rId7" Type="http://schemas.openxmlformats.org/officeDocument/2006/relationships/notesSlide" Target="../notesSlides/notesSlide9.xml"/><Relationship Id="rId6" Type="http://schemas.openxmlformats.org/officeDocument/2006/relationships/slideLayout" Target="../slideLayouts/slideLayout13.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image" Target="../media/image19.png"/><Relationship Id="rId2" Type="http://schemas.openxmlformats.org/officeDocument/2006/relationships/tags" Target="../tags/tag233.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13.xml"/><Relationship Id="rId5" Type="http://schemas.openxmlformats.org/officeDocument/2006/relationships/tags" Target="../tags/tag238.xml"/><Relationship Id="rId4" Type="http://schemas.openxmlformats.org/officeDocument/2006/relationships/image" Target="../media/image21.png"/><Relationship Id="rId3" Type="http://schemas.openxmlformats.org/officeDocument/2006/relationships/tags" Target="../tags/tag237.xml"/><Relationship Id="rId2" Type="http://schemas.openxmlformats.org/officeDocument/2006/relationships/image" Target="../media/image20.png"/><Relationship Id="rId1" Type="http://schemas.openxmlformats.org/officeDocument/2006/relationships/tags" Target="../tags/tag236.xml"/></Relationships>
</file>

<file path=ppt/slides/_rels/slide14.xml.rels><?xml version="1.0" encoding="UTF-8" standalone="yes"?>
<Relationships xmlns="http://schemas.openxmlformats.org/package/2006/relationships"><Relationship Id="rId8" Type="http://schemas.openxmlformats.org/officeDocument/2006/relationships/comments" Target="../comments/comment3.xml"/><Relationship Id="rId7" Type="http://schemas.openxmlformats.org/officeDocument/2006/relationships/notesSlide" Target="../notesSlides/notesSlide11.xml"/><Relationship Id="rId6" Type="http://schemas.openxmlformats.org/officeDocument/2006/relationships/slideLayout" Target="../slideLayouts/slideLayout13.xml"/><Relationship Id="rId5" Type="http://schemas.openxmlformats.org/officeDocument/2006/relationships/tags" Target="../tags/tag241.xml"/><Relationship Id="rId4" Type="http://schemas.openxmlformats.org/officeDocument/2006/relationships/image" Target="../media/image23.png"/><Relationship Id="rId3" Type="http://schemas.openxmlformats.org/officeDocument/2006/relationships/tags" Target="../tags/tag240.xml"/><Relationship Id="rId2" Type="http://schemas.openxmlformats.org/officeDocument/2006/relationships/image" Target="../media/image22.png"/><Relationship Id="rId1" Type="http://schemas.openxmlformats.org/officeDocument/2006/relationships/tags" Target="../tags/tag239.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3.xml"/><Relationship Id="rId3" Type="http://schemas.openxmlformats.org/officeDocument/2006/relationships/tags" Target="../tags/tag242.xml"/><Relationship Id="rId2" Type="http://schemas.openxmlformats.org/officeDocument/2006/relationships/image" Target="../media/image25.png"/><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9" Type="http://schemas.openxmlformats.org/officeDocument/2006/relationships/image" Target="../media/image31.png"/><Relationship Id="rId8" Type="http://schemas.openxmlformats.org/officeDocument/2006/relationships/image" Target="../media/image30.png"/><Relationship Id="rId7" Type="http://schemas.openxmlformats.org/officeDocument/2006/relationships/image" Target="../media/image29.png"/><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tags" Target="../tags/tag245.xml"/><Relationship Id="rId3" Type="http://schemas.openxmlformats.org/officeDocument/2006/relationships/tags" Target="../tags/tag244.xml"/><Relationship Id="rId2" Type="http://schemas.openxmlformats.org/officeDocument/2006/relationships/tags" Target="../tags/tag243.xml"/><Relationship Id="rId12" Type="http://schemas.openxmlformats.org/officeDocument/2006/relationships/notesSlide" Target="../notesSlides/notesSlide13.xml"/><Relationship Id="rId11" Type="http://schemas.openxmlformats.org/officeDocument/2006/relationships/slideLayout" Target="../slideLayouts/slideLayout13.xml"/><Relationship Id="rId10" Type="http://schemas.openxmlformats.org/officeDocument/2006/relationships/tags" Target="../tags/tag246.xml"/><Relationship Id="rId1" Type="http://schemas.openxmlformats.org/officeDocument/2006/relationships/image" Target="../media/image26.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3.xml"/><Relationship Id="rId7" Type="http://schemas.openxmlformats.org/officeDocument/2006/relationships/tags" Target="../tags/tag251.xml"/><Relationship Id="rId6" Type="http://schemas.openxmlformats.org/officeDocument/2006/relationships/image" Target="../media/image33.png"/><Relationship Id="rId5" Type="http://schemas.openxmlformats.org/officeDocument/2006/relationships/tags" Target="../tags/tag250.xml"/><Relationship Id="rId4" Type="http://schemas.openxmlformats.org/officeDocument/2006/relationships/tags" Target="../tags/tag249.xml"/><Relationship Id="rId3" Type="http://schemas.openxmlformats.org/officeDocument/2006/relationships/image" Target="../media/image32.png"/><Relationship Id="rId2" Type="http://schemas.openxmlformats.org/officeDocument/2006/relationships/tags" Target="../tags/tag248.xml"/><Relationship Id="rId10" Type="http://schemas.openxmlformats.org/officeDocument/2006/relationships/comments" Target="../comments/comment4.xml"/><Relationship Id="rId1" Type="http://schemas.openxmlformats.org/officeDocument/2006/relationships/tags" Target="../tags/tag24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53.xml"/><Relationship Id="rId1" Type="http://schemas.openxmlformats.org/officeDocument/2006/relationships/tags" Target="../tags/tag2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custDataLst>
              <p:tags r:id="rId1"/>
            </p:custDataLst>
          </p:nvPr>
        </p:nvSpPr>
        <p:spPr>
          <a:xfrm>
            <a:off x="1984375" y="3632835"/>
            <a:ext cx="8977630" cy="1118235"/>
          </a:xfrm>
        </p:spPr>
        <p:txBody>
          <a:bodyPr>
            <a:normAutofit fontScale="90000"/>
          </a:bodyPr>
          <a:p>
            <a:r>
              <a:rPr lang="zh-CN" altLang="en-US" dirty="0">
                <a:solidFill>
                  <a:schemeClr val="accent1"/>
                </a:solidFill>
                <a:sym typeface="+mn-lt"/>
              </a:rPr>
              <a:t>软件工程导论（第</a:t>
            </a:r>
            <a:r>
              <a:rPr lang="en-US" altLang="zh-CN" dirty="0">
                <a:solidFill>
                  <a:schemeClr val="accent1"/>
                </a:solidFill>
                <a:sym typeface="+mn-lt"/>
              </a:rPr>
              <a:t>6</a:t>
            </a:r>
            <a:r>
              <a:rPr lang="zh-CN" altLang="en-US" dirty="0">
                <a:solidFill>
                  <a:schemeClr val="accent1"/>
                </a:solidFill>
                <a:sym typeface="+mn-lt"/>
              </a:rPr>
              <a:t>版）</a:t>
            </a:r>
            <a:endParaRPr lang="zh-CN" altLang="en-US" dirty="0">
              <a:solidFill>
                <a:schemeClr val="accent1"/>
              </a:solidFill>
              <a:sym typeface="+mn-lt"/>
            </a:endParaRPr>
          </a:p>
        </p:txBody>
      </p:sp>
      <p:sp>
        <p:nvSpPr>
          <p:cNvPr id="2" name="副标题 1"/>
          <p:cNvSpPr/>
          <p:nvPr>
            <p:ph type="subTitle" idx="1"/>
          </p:nvPr>
        </p:nvSpPr>
        <p:spPr>
          <a:xfrm>
            <a:off x="2574744" y="2752574"/>
            <a:ext cx="7117545" cy="676319"/>
          </a:xfrm>
        </p:spPr>
        <p:txBody>
          <a:bodyPr/>
          <a:p>
            <a:r>
              <a:rPr lang="en-US" altLang="zh-CN">
                <a:solidFill>
                  <a:srgbClr val="FF0000"/>
                </a:solidFill>
              </a:rPr>
              <a:t>21</a:t>
            </a:r>
            <a:r>
              <a:rPr lang="zh-CN" altLang="en-US">
                <a:solidFill>
                  <a:srgbClr val="FF0000"/>
                </a:solidFill>
              </a:rPr>
              <a:t>世纪软件工程专业规划教材</a:t>
            </a:r>
            <a:endParaRPr lang="zh-CN" altLang="en-US">
              <a:solidFill>
                <a:srgbClr val="FF0000"/>
              </a:solidFill>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4" name="文本框 3"/>
          <p:cNvSpPr txBox="1"/>
          <p:nvPr>
            <p:custDataLst>
              <p:tags r:id="rId4"/>
            </p:custDataLst>
          </p:nvPr>
        </p:nvSpPr>
        <p:spPr>
          <a:xfrm>
            <a:off x="520065" y="653415"/>
            <a:ext cx="1967230" cy="400050"/>
          </a:xfrm>
          <a:prstGeom prst="rect">
            <a:avLst/>
          </a:prstGeom>
          <a:noFill/>
        </p:spPr>
        <p:txBody>
          <a:bodyPr wrap="square" rtlCol="0">
            <a:noAutofit/>
          </a:bodyPr>
          <a:lstStyle/>
          <a:p>
            <a:r>
              <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rPr>
              <a:t>overview</a:t>
            </a:r>
            <a:endParaRPr lang="en-US" altLang="zh-CN" sz="2800">
              <a:solidFill>
                <a:schemeClr val="bg1"/>
              </a:solidFill>
              <a:latin typeface="华光彩云_CNKI" panose="02000500000000000000" charset="-122"/>
              <a:ea typeface="华光彩云_CNKI" panose="02000500000000000000" charset="-122"/>
              <a:cs typeface="Arial" panose="020B0604020202020204" pitchFamily="34" charset="0"/>
            </a:endParaRPr>
          </a:p>
        </p:txBody>
      </p:sp>
      <p:sp>
        <p:nvSpPr>
          <p:cNvPr id="11" name="标题 10"/>
          <p:cNvSpPr>
            <a:spLocks noGrp="1"/>
          </p:cNvSpPr>
          <p:nvPr>
            <p:ph type="ctrTitle"/>
            <p:custDataLst>
              <p:tags r:id="rId5"/>
            </p:custDataLst>
          </p:nvPr>
        </p:nvSpPr>
        <p:spPr>
          <a:xfrm>
            <a:off x="3436620" y="506730"/>
            <a:ext cx="8755380" cy="1118235"/>
          </a:xfrm>
        </p:spPr>
        <p:txBody>
          <a:bodyPr>
            <a:normAutofit/>
          </a:bodyPr>
          <a:p>
            <a:r>
              <a:rPr lang="zh-CN" altLang="en-US" sz="4000" dirty="0">
                <a:sym typeface="+mn-lt"/>
              </a:rPr>
              <a:t>第</a:t>
            </a:r>
            <a:r>
              <a:rPr lang="en-US" altLang="zh-CN" sz="4000" dirty="0">
                <a:solidFill>
                  <a:srgbClr val="FF0000"/>
                </a:solidFill>
                <a:latin typeface="华光彩云_CNKI" panose="02000500000000000000" charset="-122"/>
                <a:ea typeface="华光彩云_CNKI" panose="02000500000000000000" charset="-122"/>
                <a:sym typeface="+mn-lt"/>
              </a:rPr>
              <a:t>4</a:t>
            </a:r>
            <a:r>
              <a:rPr lang="zh-CN" altLang="en-US" sz="4000" dirty="0">
                <a:sym typeface="+mn-lt"/>
              </a:rPr>
              <a:t>章</a:t>
            </a:r>
            <a:r>
              <a:rPr lang="en-US" altLang="zh-CN" sz="4000" dirty="0">
                <a:sym typeface="+mn-lt"/>
              </a:rPr>
              <a:t>  </a:t>
            </a:r>
            <a:r>
              <a:rPr lang="zh-CN" altLang="en-US" sz="4000" dirty="0">
                <a:sym typeface="+mn-lt"/>
              </a:rPr>
              <a:t>总体设计</a:t>
            </a:r>
            <a:endParaRPr lang="zh-CN" altLang="en-US" sz="4000" dirty="0">
              <a:sym typeface="+mn-lt"/>
            </a:endParaRPr>
          </a:p>
        </p:txBody>
      </p:sp>
      <p:sp>
        <p:nvSpPr>
          <p:cNvPr id="12" name="文本占位符 11"/>
          <p:cNvSpPr>
            <a:spLocks noGrp="1"/>
          </p:cNvSpPr>
          <p:nvPr>
            <p:ph type="body" idx="1"/>
            <p:custDataLst>
              <p:tags r:id="rId6"/>
            </p:custDataLst>
          </p:nvPr>
        </p:nvSpPr>
        <p:spPr>
          <a:xfrm>
            <a:off x="3136265" y="2273935"/>
            <a:ext cx="8485505" cy="1903730"/>
          </a:xfrm>
        </p:spPr>
        <p:txBody>
          <a:bodyPr>
            <a:normAutofit fontScale="25000"/>
          </a:bodyPr>
          <a:p>
            <a:pPr indent="457200" algn="l">
              <a:lnSpc>
                <a:spcPts val="3700"/>
              </a:lnSpc>
              <a:spcBef>
                <a:spcPts val="0"/>
              </a:spcBef>
              <a:spcAft>
                <a:spcPts val="0"/>
              </a:spcAft>
              <a:buClrTx/>
              <a:buSzTx/>
              <a:buFont typeface="Arial" panose="020B0604020202020204" pitchFamily="34" charset="0"/>
              <a:defRPr/>
            </a:pPr>
            <a:r>
              <a:rPr lang="zh-CN" altLang="en-US" sz="7200" dirty="0">
                <a:solidFill>
                  <a:schemeClr val="tx1"/>
                </a:solidFill>
                <a:latin typeface="Bodoni MT Black" panose="02070A03080606020203" pitchFamily="18" charset="0"/>
                <a:sym typeface="+mn-ea"/>
              </a:rPr>
              <a:t>总体设计的基本目的就是回答“</a:t>
            </a:r>
            <a:r>
              <a:rPr lang="zh-CN" altLang="en-US" sz="7200" dirty="0">
                <a:solidFill>
                  <a:srgbClr val="00B0F0"/>
                </a:solidFill>
                <a:latin typeface="Bodoni MT Black" panose="02070A03080606020203" pitchFamily="18" charset="0"/>
                <a:sym typeface="+mn-ea"/>
              </a:rPr>
              <a:t>概括</a:t>
            </a:r>
            <a:r>
              <a:rPr lang="zh-CN" altLang="en-US" sz="7200" dirty="0">
                <a:solidFill>
                  <a:schemeClr val="tx1"/>
                </a:solidFill>
                <a:latin typeface="Bodoni MT Black" panose="02070A03080606020203" pitchFamily="18" charset="0"/>
                <a:sym typeface="+mn-ea"/>
              </a:rPr>
              <a:t>地说，系统应该</a:t>
            </a:r>
            <a:r>
              <a:rPr lang="zh-CN" altLang="en-US" sz="7200" b="1" dirty="0">
                <a:solidFill>
                  <a:srgbClr val="FF0000"/>
                </a:solidFill>
                <a:latin typeface="Bodoni MT Black" panose="02070A03080606020203" pitchFamily="18" charset="0"/>
                <a:sym typeface="+mn-ea"/>
              </a:rPr>
              <a:t>如何实现</a:t>
            </a:r>
            <a:r>
              <a:rPr lang="zh-CN" altLang="en-US" sz="7200" dirty="0">
                <a:solidFill>
                  <a:schemeClr val="tx1"/>
                </a:solidFill>
                <a:latin typeface="Bodoni MT Black" panose="02070A03080606020203" pitchFamily="18" charset="0"/>
                <a:sym typeface="+mn-ea"/>
              </a:rPr>
              <a:t>”这个问题，因此，总体设计又称为概要设计或初步设计。</a:t>
            </a:r>
            <a:endParaRPr lang="zh-CN" altLang="en-US" sz="7200" dirty="0">
              <a:solidFill>
                <a:schemeClr val="tx1"/>
              </a:solidFill>
              <a:latin typeface="Bodoni MT Black" panose="02070A03080606020203" pitchFamily="18" charset="0"/>
            </a:endParaRPr>
          </a:p>
          <a:p>
            <a:pPr indent="457200" algn="l">
              <a:lnSpc>
                <a:spcPts val="3700"/>
              </a:lnSpc>
              <a:spcBef>
                <a:spcPts val="0"/>
              </a:spcBef>
              <a:spcAft>
                <a:spcPts val="0"/>
              </a:spcAft>
              <a:buClrTx/>
              <a:buSzTx/>
              <a:buFont typeface="Arial" panose="020B0604020202020204" pitchFamily="34" charset="0"/>
              <a:defRPr/>
            </a:pPr>
            <a:r>
              <a:rPr lang="zh-CN" altLang="en-US" sz="7200" dirty="0">
                <a:solidFill>
                  <a:schemeClr val="tx1"/>
                </a:solidFill>
                <a:latin typeface="Bodoni MT Black" panose="02070A03080606020203" pitchFamily="18" charset="0"/>
                <a:sym typeface="+mn-ea"/>
              </a:rPr>
              <a:t>总体设计阶段的另一项重要任务是</a:t>
            </a:r>
            <a:r>
              <a:rPr lang="zh-CN" altLang="en-US" sz="7200" dirty="0">
                <a:solidFill>
                  <a:srgbClr val="00B0F0"/>
                </a:solidFill>
                <a:latin typeface="Bodoni MT Black" panose="02070A03080606020203" pitchFamily="18" charset="0"/>
                <a:sym typeface="+mn-ea"/>
              </a:rPr>
              <a:t>设计软件的结构</a:t>
            </a:r>
            <a:r>
              <a:rPr lang="zh-CN" altLang="en-US" sz="7200" dirty="0">
                <a:solidFill>
                  <a:schemeClr val="tx1"/>
                </a:solidFill>
                <a:latin typeface="Bodoni MT Black" panose="02070A03080606020203" pitchFamily="18" charset="0"/>
                <a:sym typeface="+mn-ea"/>
              </a:rPr>
              <a:t>，也就是要确定系统中每个程序是由哪些模块组成的，以及这些模块相互间的关系。</a:t>
            </a:r>
            <a:endParaRPr lang="zh-CN" altLang="en-US" sz="7200" dirty="0">
              <a:solidFill>
                <a:schemeClr val="tx1"/>
              </a:solidFill>
              <a:latin typeface="Bodoni MT Black" panose="02070A03080606020203" pitchFamily="18" charset="0"/>
            </a:endParaRPr>
          </a:p>
          <a:p>
            <a:pPr indent="457200" eaLnBrk="1" fontAlgn="auto" hangingPunct="1">
              <a:lnSpc>
                <a:spcPts val="3700"/>
              </a:lnSpc>
              <a:spcBef>
                <a:spcPts val="0"/>
              </a:spcBef>
              <a:spcAft>
                <a:spcPts val="0"/>
              </a:spcAft>
              <a:defRPr/>
            </a:pPr>
            <a:endParaRPr lang="zh-CN" altLang="en-US" sz="7200" dirty="0">
              <a:solidFill>
                <a:schemeClr val="tx1"/>
              </a:solidFill>
              <a:latin typeface="Bodoni MT Black" panose="02070A03080606020203" pitchFamily="18" charset="0"/>
              <a:sym typeface="+mn-ea"/>
            </a:endParaRPr>
          </a:p>
        </p:txBody>
      </p:sp>
    </p:spTree>
    <p:custDataLst>
      <p:tags r:id="rId7"/>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5"/>
          <p:cNvSpPr/>
          <p:nvPr userDrawn="1">
            <p:custDataLst>
              <p:tags r:id="rId1"/>
            </p:custDataLst>
          </p:nvPr>
        </p:nvSpPr>
        <p:spPr>
          <a:xfrm rot="10800000" flipH="1">
            <a:off x="-1" y="-1"/>
            <a:ext cx="3309257" cy="6858001"/>
          </a:xfrm>
          <a:custGeom>
            <a:avLst/>
            <a:gdLst>
              <a:gd name="connsiteX0" fmla="*/ 0 w 3309257"/>
              <a:gd name="connsiteY0" fmla="*/ 6858001 h 6858001"/>
              <a:gd name="connsiteX1" fmla="*/ 3309257 w 3309257"/>
              <a:gd name="connsiteY1" fmla="*/ 6858001 h 6858001"/>
              <a:gd name="connsiteX2" fmla="*/ 1718889 w 3309257"/>
              <a:gd name="connsiteY2" fmla="*/ 0 h 6858001"/>
              <a:gd name="connsiteX3" fmla="*/ 0 w 3309257"/>
              <a:gd name="connsiteY3" fmla="*/ 0 h 6858001"/>
            </a:gdLst>
            <a:ahLst/>
            <a:cxnLst>
              <a:cxn ang="0">
                <a:pos x="connsiteX0" y="connsiteY0"/>
              </a:cxn>
              <a:cxn ang="0">
                <a:pos x="connsiteX1" y="connsiteY1"/>
              </a:cxn>
              <a:cxn ang="0">
                <a:pos x="connsiteX2" y="connsiteY2"/>
              </a:cxn>
              <a:cxn ang="0">
                <a:pos x="connsiteX3" y="connsiteY3"/>
              </a:cxn>
            </a:cxnLst>
            <a:rect l="l" t="t" r="r" b="b"/>
            <a:pathLst>
              <a:path w="3309257" h="6858001">
                <a:moveTo>
                  <a:pt x="0" y="6858001"/>
                </a:moveTo>
                <a:lnTo>
                  <a:pt x="3309257" y="6858001"/>
                </a:lnTo>
                <a:lnTo>
                  <a:pt x="1718889" y="0"/>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p>
        </p:txBody>
      </p:sp>
      <p:sp>
        <p:nvSpPr>
          <p:cNvPr id="8" name="任意多边形: 形状 6"/>
          <p:cNvSpPr/>
          <p:nvPr userDrawn="1">
            <p:custDataLst>
              <p:tags r:id="rId2"/>
            </p:custDataLst>
          </p:nvPr>
        </p:nvSpPr>
        <p:spPr>
          <a:xfrm rot="11574254">
            <a:off x="2509618" y="-200140"/>
            <a:ext cx="971535" cy="7258276"/>
          </a:xfrm>
          <a:custGeom>
            <a:avLst/>
            <a:gdLst>
              <a:gd name="connsiteX0" fmla="*/ 0 w 971535"/>
              <a:gd name="connsiteY0" fmla="*/ 7258276 h 7258276"/>
              <a:gd name="connsiteX1" fmla="*/ 932891 w 971535"/>
              <a:gd name="connsiteY1" fmla="*/ 8853 h 7258276"/>
              <a:gd name="connsiteX2" fmla="*/ 971535 w 971535"/>
              <a:gd name="connsiteY2" fmla="*/ 0 h 7258276"/>
              <a:gd name="connsiteX3" fmla="*/ 971535 w 971535"/>
              <a:gd name="connsiteY3" fmla="*/ 7035689 h 7258276"/>
            </a:gdLst>
            <a:ahLst/>
            <a:cxnLst>
              <a:cxn ang="0">
                <a:pos x="connsiteX0" y="connsiteY0"/>
              </a:cxn>
              <a:cxn ang="0">
                <a:pos x="connsiteX1" y="connsiteY1"/>
              </a:cxn>
              <a:cxn ang="0">
                <a:pos x="connsiteX2" y="connsiteY2"/>
              </a:cxn>
              <a:cxn ang="0">
                <a:pos x="connsiteX3" y="connsiteY3"/>
              </a:cxn>
            </a:cxnLst>
            <a:rect l="l" t="t" r="r" b="b"/>
            <a:pathLst>
              <a:path w="971535" h="7258276">
                <a:moveTo>
                  <a:pt x="0" y="7258276"/>
                </a:moveTo>
                <a:lnTo>
                  <a:pt x="932891" y="8853"/>
                </a:lnTo>
                <a:lnTo>
                  <a:pt x="971535" y="0"/>
                </a:lnTo>
                <a:lnTo>
                  <a:pt x="971535" y="7035689"/>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9" name="任意多边形: 形状 7"/>
          <p:cNvSpPr/>
          <p:nvPr userDrawn="1">
            <p:custDataLst>
              <p:tags r:id="rId3"/>
            </p:custDataLst>
          </p:nvPr>
        </p:nvSpPr>
        <p:spPr>
          <a:xfrm>
            <a:off x="1743317" y="3937000"/>
            <a:ext cx="1393003" cy="2921000"/>
          </a:xfrm>
          <a:custGeom>
            <a:avLst/>
            <a:gdLst>
              <a:gd name="connsiteX0" fmla="*/ 1089482 w 1393003"/>
              <a:gd name="connsiteY0" fmla="*/ 0 h 2921000"/>
              <a:gd name="connsiteX1" fmla="*/ 1393003 w 1393003"/>
              <a:gd name="connsiteY1" fmla="*/ 2921000 h 2921000"/>
              <a:gd name="connsiteX2" fmla="*/ 0 w 1393003"/>
              <a:gd name="connsiteY2" fmla="*/ 2921000 h 2921000"/>
            </a:gdLst>
            <a:ahLst/>
            <a:cxnLst>
              <a:cxn ang="0">
                <a:pos x="connsiteX0" y="connsiteY0"/>
              </a:cxn>
              <a:cxn ang="0">
                <a:pos x="connsiteX1" y="connsiteY1"/>
              </a:cxn>
              <a:cxn ang="0">
                <a:pos x="connsiteX2" y="connsiteY2"/>
              </a:cxn>
            </a:cxnLst>
            <a:rect l="l" t="t" r="r" b="b"/>
            <a:pathLst>
              <a:path w="1393003" h="2921000">
                <a:moveTo>
                  <a:pt x="1089482" y="0"/>
                </a:moveTo>
                <a:lnTo>
                  <a:pt x="1393003" y="2921000"/>
                </a:lnTo>
                <a:lnTo>
                  <a:pt x="0" y="292100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sp>
        <p:nvSpPr>
          <p:cNvPr id="28" name="文本框 27"/>
          <p:cNvSpPr txBox="1"/>
          <p:nvPr>
            <p:custDataLst>
              <p:tags r:id="rId4"/>
            </p:custDataLst>
          </p:nvPr>
        </p:nvSpPr>
        <p:spPr>
          <a:xfrm>
            <a:off x="5209887" y="802949"/>
            <a:ext cx="536095" cy="844463"/>
          </a:xfrm>
          <a:prstGeom prst="rect">
            <a:avLst/>
          </a:prstGeom>
          <a:noFill/>
        </p:spPr>
        <p:txBody>
          <a:bodyPr wrap="square" rtlCol="0">
            <a:normAutofit/>
          </a:bodyPr>
          <a:lstStyle/>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1</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5" name="组合 4"/>
          <p:cNvGrpSpPr/>
          <p:nvPr>
            <p:custDataLst>
              <p:tags r:id="rId5"/>
            </p:custDataLst>
          </p:nvPr>
        </p:nvGrpSpPr>
        <p:grpSpPr>
          <a:xfrm>
            <a:off x="4694436" y="1012613"/>
            <a:ext cx="283853" cy="353526"/>
            <a:chOff x="9072" y="2431"/>
            <a:chExt cx="440" cy="548"/>
          </a:xfrm>
        </p:grpSpPr>
        <p:sp>
          <p:nvSpPr>
            <p:cNvPr id="34" name="任意多边形: 形状 33"/>
            <p:cNvSpPr/>
            <p:nvPr>
              <p:custDataLst>
                <p:tags r:id="rId6"/>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dirty="0">
                <a:solidFill>
                  <a:schemeClr val="tx1">
                    <a:lumMod val="85000"/>
                    <a:lumOff val="15000"/>
                  </a:schemeClr>
                </a:solidFill>
              </a:endParaRPr>
            </a:p>
          </p:txBody>
        </p:sp>
        <p:sp>
          <p:nvSpPr>
            <p:cNvPr id="35" name="等腰三角形 34"/>
            <p:cNvSpPr/>
            <p:nvPr>
              <p:custDataLst>
                <p:tags r:id="rId7"/>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29" name="文本框 28"/>
          <p:cNvSpPr txBox="1"/>
          <p:nvPr>
            <p:custDataLst>
              <p:tags r:id="rId8"/>
            </p:custDataLst>
          </p:nvPr>
        </p:nvSpPr>
        <p:spPr>
          <a:xfrm>
            <a:off x="5209887" y="2002873"/>
            <a:ext cx="536095" cy="844463"/>
          </a:xfrm>
          <a:prstGeom prst="rect">
            <a:avLst/>
          </a:prstGeom>
          <a:noFill/>
        </p:spPr>
        <p:txBody>
          <a:bodyPr wrap="square" rtlCol="0">
            <a:normAutofit/>
          </a:bodyPr>
          <a:lstStyle/>
          <a:p>
            <a:r>
              <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rPr>
              <a:t>2</a:t>
            </a:r>
            <a:endParaRPr lang="en-US" altLang="zh-CN" sz="4000" b="1">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6" name="组合 5"/>
          <p:cNvGrpSpPr/>
          <p:nvPr>
            <p:custDataLst>
              <p:tags r:id="rId9"/>
            </p:custDataLst>
          </p:nvPr>
        </p:nvGrpSpPr>
        <p:grpSpPr>
          <a:xfrm>
            <a:off x="4694436" y="2248664"/>
            <a:ext cx="283853" cy="353526"/>
            <a:chOff x="9072" y="4347"/>
            <a:chExt cx="440" cy="548"/>
          </a:xfrm>
        </p:grpSpPr>
        <p:sp>
          <p:nvSpPr>
            <p:cNvPr id="37" name="任意多边形: 形状 36"/>
            <p:cNvSpPr/>
            <p:nvPr>
              <p:custDataLst>
                <p:tags r:id="rId10"/>
              </p:custDataLst>
            </p:nvPr>
          </p:nvSpPr>
          <p:spPr>
            <a:xfrm rot="697528">
              <a:off x="9072" y="4347"/>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38" name="等腰三角形 37"/>
            <p:cNvSpPr/>
            <p:nvPr>
              <p:custDataLst>
                <p:tags r:id="rId11"/>
              </p:custDataLst>
            </p:nvPr>
          </p:nvSpPr>
          <p:spPr>
            <a:xfrm>
              <a:off x="9170" y="4390"/>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0" name="文本框 29"/>
          <p:cNvSpPr txBox="1"/>
          <p:nvPr>
            <p:custDataLst>
              <p:tags r:id="rId12"/>
            </p:custDataLst>
          </p:nvPr>
        </p:nvSpPr>
        <p:spPr>
          <a:xfrm>
            <a:off x="5209887" y="3202152"/>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3</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7" name="组合 6"/>
          <p:cNvGrpSpPr/>
          <p:nvPr>
            <p:custDataLst>
              <p:tags r:id="rId13"/>
            </p:custDataLst>
          </p:nvPr>
        </p:nvGrpSpPr>
        <p:grpSpPr>
          <a:xfrm>
            <a:off x="4694436" y="3447943"/>
            <a:ext cx="283853" cy="353526"/>
            <a:chOff x="9072" y="6206"/>
            <a:chExt cx="440" cy="548"/>
          </a:xfrm>
        </p:grpSpPr>
        <p:sp>
          <p:nvSpPr>
            <p:cNvPr id="40" name="任意多边形: 形状 39"/>
            <p:cNvSpPr/>
            <p:nvPr>
              <p:custDataLst>
                <p:tags r:id="rId14"/>
              </p:custDataLst>
            </p:nvPr>
          </p:nvSpPr>
          <p:spPr>
            <a:xfrm rot="697528">
              <a:off x="9072" y="6206"/>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1" name="等腰三角形 40"/>
            <p:cNvSpPr/>
            <p:nvPr>
              <p:custDataLst>
                <p:tags r:id="rId15"/>
              </p:custDataLst>
            </p:nvPr>
          </p:nvSpPr>
          <p:spPr>
            <a:xfrm>
              <a:off x="9170" y="6249"/>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31" name="文本框 30"/>
          <p:cNvSpPr txBox="1"/>
          <p:nvPr>
            <p:custDataLst>
              <p:tags r:id="rId16"/>
            </p:custDataLst>
          </p:nvPr>
        </p:nvSpPr>
        <p:spPr>
          <a:xfrm>
            <a:off x="5209887" y="4401431"/>
            <a:ext cx="536095" cy="844463"/>
          </a:xfrm>
          <a:prstGeom prst="rect">
            <a:avLst/>
          </a:prstGeom>
          <a:noFill/>
        </p:spPr>
        <p:txBody>
          <a:bodyPr wrap="square" rtlCol="0">
            <a:normAutofit/>
          </a:bodyPr>
          <a:lstStyle/>
          <a:p>
            <a:r>
              <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rPr>
              <a:t>4</a:t>
            </a:r>
            <a:endParaRPr lang="en-US" altLang="zh-CN" sz="4000" b="1">
              <a:solidFill>
                <a:schemeClr val="accent2"/>
              </a:solidFill>
              <a:uFillTx/>
              <a:latin typeface="Arial" panose="020B0604020202020204" pitchFamily="34" charset="0"/>
              <a:ea typeface="微软雅黑" panose="020B0503020204020204" charset="-122"/>
              <a:cs typeface="Arial" panose="020B0604020202020204" pitchFamily="34" charset="0"/>
            </a:endParaRPr>
          </a:p>
        </p:txBody>
      </p:sp>
      <p:grpSp>
        <p:nvGrpSpPr>
          <p:cNvPr id="14" name="组合 13"/>
          <p:cNvGrpSpPr/>
          <p:nvPr>
            <p:custDataLst>
              <p:tags r:id="rId17"/>
            </p:custDataLst>
          </p:nvPr>
        </p:nvGrpSpPr>
        <p:grpSpPr>
          <a:xfrm>
            <a:off x="4694436" y="4647222"/>
            <a:ext cx="283853" cy="353526"/>
            <a:chOff x="9072" y="8065"/>
            <a:chExt cx="440" cy="548"/>
          </a:xfrm>
        </p:grpSpPr>
        <p:sp>
          <p:nvSpPr>
            <p:cNvPr id="43" name="任意多边形: 形状 42"/>
            <p:cNvSpPr/>
            <p:nvPr>
              <p:custDataLst>
                <p:tags r:id="rId18"/>
              </p:custDataLst>
            </p:nvPr>
          </p:nvSpPr>
          <p:spPr>
            <a:xfrm rot="697528">
              <a:off x="9072" y="8065"/>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sz="2800" b="1">
                <a:solidFill>
                  <a:schemeClr val="tx1">
                    <a:lumMod val="85000"/>
                    <a:lumOff val="15000"/>
                  </a:schemeClr>
                </a:solidFill>
              </a:endParaRPr>
            </a:p>
          </p:txBody>
        </p:sp>
        <p:sp>
          <p:nvSpPr>
            <p:cNvPr id="44" name="等腰三角形 43"/>
            <p:cNvSpPr/>
            <p:nvPr>
              <p:custDataLst>
                <p:tags r:id="rId19"/>
              </p:custDataLst>
            </p:nvPr>
          </p:nvSpPr>
          <p:spPr>
            <a:xfrm>
              <a:off x="9170" y="8108"/>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sz="11200" b="1">
                <a:solidFill>
                  <a:schemeClr val="tx1">
                    <a:lumMod val="85000"/>
                    <a:lumOff val="15000"/>
                  </a:schemeClr>
                </a:solidFill>
              </a:endParaRPr>
            </a:p>
          </p:txBody>
        </p:sp>
      </p:grpSp>
      <p:sp>
        <p:nvSpPr>
          <p:cNvPr id="13" name="文本框 12"/>
          <p:cNvSpPr txBox="1"/>
          <p:nvPr>
            <p:custDataLst>
              <p:tags r:id="rId20"/>
            </p:custDataLst>
          </p:nvPr>
        </p:nvSpPr>
        <p:spPr>
          <a:xfrm>
            <a:off x="6165311" y="702311"/>
            <a:ext cx="2925622" cy="874783"/>
          </a:xfrm>
          <a:prstGeom prst="rect">
            <a:avLst/>
          </a:prstGeom>
          <a:noFill/>
        </p:spPr>
        <p:txBody>
          <a:bodyPr wrap="square" rtlCol="0" anchor="ctr">
            <a:normAutofit/>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设计过程</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6" name="文本框 65"/>
          <p:cNvSpPr txBox="1"/>
          <p:nvPr>
            <p:custDataLst>
              <p:tags r:id="rId21"/>
            </p:custDataLst>
          </p:nvPr>
        </p:nvSpPr>
        <p:spPr>
          <a:xfrm>
            <a:off x="6165311" y="1902234"/>
            <a:ext cx="3149478" cy="874783"/>
          </a:xfrm>
          <a:prstGeom prst="rect">
            <a:avLst/>
          </a:prstGeom>
          <a:noFill/>
        </p:spPr>
        <p:txBody>
          <a:bodyPr wrap="square" rtlCol="0" anchor="ctr">
            <a:no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设计原理</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68" name="文本框 67"/>
          <p:cNvSpPr txBox="1"/>
          <p:nvPr>
            <p:custDataLst>
              <p:tags r:id="rId22"/>
            </p:custDataLst>
          </p:nvPr>
        </p:nvSpPr>
        <p:spPr>
          <a:xfrm>
            <a:off x="6165311" y="3102159"/>
            <a:ext cx="2925622" cy="874783"/>
          </a:xfrm>
          <a:prstGeom prst="rect">
            <a:avLst/>
          </a:prstGeom>
          <a:noFill/>
        </p:spPr>
        <p:txBody>
          <a:bodyPr wrap="square" rtlCol="0" anchor="ctr">
            <a:normAutofit/>
          </a:bodyPr>
          <a:lstStyle/>
          <a:p>
            <a:pPr algn="l">
              <a:buClrTx/>
              <a:buSzTx/>
              <a:buFontTx/>
            </a:pPr>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启发规则</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70" name="文本框 69"/>
          <p:cNvSpPr txBox="1"/>
          <p:nvPr>
            <p:custDataLst>
              <p:tags r:id="rId23"/>
            </p:custDataLst>
          </p:nvPr>
        </p:nvSpPr>
        <p:spPr>
          <a:xfrm>
            <a:off x="6165215" y="4302125"/>
            <a:ext cx="3902710" cy="875030"/>
          </a:xfrm>
          <a:prstGeom prst="rect">
            <a:avLst/>
          </a:prstGeom>
          <a:noFill/>
        </p:spPr>
        <p:txBody>
          <a:bodyPr wrap="square" rtlCol="0" anchor="ctr">
            <a:normAutofit fontScale="90000"/>
          </a:bodyPr>
          <a:lstStyle/>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描绘软件结构的图形工具</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
        <p:nvSpPr>
          <p:cNvPr id="3" name="文本框 2"/>
          <p:cNvSpPr txBox="1"/>
          <p:nvPr>
            <p:custDataLst>
              <p:tags r:id="rId24"/>
            </p:custDataLst>
          </p:nvPr>
        </p:nvSpPr>
        <p:spPr>
          <a:xfrm>
            <a:off x="582295" y="457200"/>
            <a:ext cx="1402080" cy="829945"/>
          </a:xfrm>
          <a:prstGeom prst="rect">
            <a:avLst/>
          </a:prstGeom>
          <a:noFill/>
        </p:spPr>
        <p:txBody>
          <a:bodyPr wrap="square" rtlCol="0">
            <a:normAutofit/>
          </a:bodyPr>
          <a:lstStyle/>
          <a:p>
            <a:r>
              <a:rPr lang="zh-CN" altLang="en-US" sz="4800">
                <a:solidFill>
                  <a:schemeClr val="bg1"/>
                </a:solidFill>
                <a:uFillTx/>
                <a:latin typeface="Arial" panose="020B0604020202020204" pitchFamily="34" charset="0"/>
                <a:ea typeface="汉仪旗黑-85S" panose="00020600040101010101" pitchFamily="18" charset="-122"/>
              </a:rPr>
              <a:t>目录</a:t>
            </a:r>
            <a:endParaRPr lang="zh-CN" altLang="en-US" sz="4800">
              <a:solidFill>
                <a:schemeClr val="bg1"/>
              </a:solidFill>
              <a:uFillTx/>
              <a:latin typeface="Arial" panose="020B0604020202020204" pitchFamily="34" charset="0"/>
              <a:ea typeface="汉仪旗黑-85S" panose="00020600040101010101" pitchFamily="18" charset="-122"/>
            </a:endParaRPr>
          </a:p>
        </p:txBody>
      </p:sp>
      <p:sp>
        <p:nvSpPr>
          <p:cNvPr id="4" name="文本框 3"/>
          <p:cNvSpPr txBox="1"/>
          <p:nvPr>
            <p:custDataLst>
              <p:tags r:id="rId25"/>
            </p:custDataLst>
          </p:nvPr>
        </p:nvSpPr>
        <p:spPr>
          <a:xfrm>
            <a:off x="645795" y="1224915"/>
            <a:ext cx="1598295" cy="400050"/>
          </a:xfrm>
          <a:prstGeom prst="rect">
            <a:avLst/>
          </a:prstGeom>
          <a:noFill/>
        </p:spPr>
        <p:txBody>
          <a:bodyPr wrap="square" rtlCol="0">
            <a:normAutofit/>
          </a:bodyPr>
          <a:lstStyle/>
          <a:p>
            <a:r>
              <a:rPr lang="en-US" altLang="zh-CN" sz="2000">
                <a:solidFill>
                  <a:schemeClr val="bg1"/>
                </a:solidFill>
                <a:latin typeface="Arial" panose="020B0604020202020204" pitchFamily="34" charset="0"/>
                <a:ea typeface="微软雅黑" panose="020B0503020204020204" charset="-122"/>
                <a:cs typeface="Arial" panose="020B0604020202020204" pitchFamily="34" charset="0"/>
              </a:rPr>
              <a:t>CONTENTS</a:t>
            </a:r>
            <a:endParaRPr lang="en-US" altLang="zh-CN" sz="2000">
              <a:solidFill>
                <a:schemeClr val="bg1"/>
              </a:solidFill>
              <a:latin typeface="Arial" panose="020B0604020202020204" pitchFamily="34" charset="0"/>
              <a:ea typeface="微软雅黑" panose="020B0503020204020204" charset="-122"/>
              <a:cs typeface="Arial" panose="020B0604020202020204" pitchFamily="34" charset="0"/>
            </a:endParaRPr>
          </a:p>
        </p:txBody>
      </p:sp>
      <p:sp>
        <p:nvSpPr>
          <p:cNvPr id="10" name="文本框 9"/>
          <p:cNvSpPr txBox="1"/>
          <p:nvPr>
            <p:custDataLst>
              <p:tags r:id="rId26"/>
            </p:custDataLst>
          </p:nvPr>
        </p:nvSpPr>
        <p:spPr>
          <a:xfrm>
            <a:off x="5176986" y="5403303"/>
            <a:ext cx="536095" cy="844463"/>
          </a:xfrm>
          <a:prstGeom prst="rect">
            <a:avLst/>
          </a:prstGeom>
          <a:noFill/>
        </p:spPr>
        <p:txBody>
          <a:bodyPr wrap="square" rtlCol="0">
            <a:normAutofit/>
          </a:bodyPr>
          <a:p>
            <a:r>
              <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rPr>
              <a:t>5</a:t>
            </a:r>
            <a:endParaRPr lang="en-US" altLang="zh-CN" sz="4000" b="1" dirty="0">
              <a:solidFill>
                <a:schemeClr val="accent2"/>
              </a:solidFill>
              <a:latin typeface="Arial" panose="020B0604020202020204" pitchFamily="34" charset="0"/>
              <a:ea typeface="微软雅黑" panose="020B0503020204020204" charset="-122"/>
              <a:cs typeface="Arial" panose="020B0604020202020204" pitchFamily="34" charset="0"/>
            </a:endParaRPr>
          </a:p>
        </p:txBody>
      </p:sp>
      <p:grpSp>
        <p:nvGrpSpPr>
          <p:cNvPr id="11" name="组合 10"/>
          <p:cNvGrpSpPr/>
          <p:nvPr>
            <p:custDataLst>
              <p:tags r:id="rId27"/>
            </p:custDataLst>
          </p:nvPr>
        </p:nvGrpSpPr>
        <p:grpSpPr>
          <a:xfrm>
            <a:off x="4661535" y="5612967"/>
            <a:ext cx="283853" cy="353526"/>
            <a:chOff x="9072" y="2431"/>
            <a:chExt cx="440" cy="548"/>
          </a:xfrm>
        </p:grpSpPr>
        <p:sp>
          <p:nvSpPr>
            <p:cNvPr id="12" name="任意多边形: 形状 33"/>
            <p:cNvSpPr/>
            <p:nvPr>
              <p:custDataLst>
                <p:tags r:id="rId28"/>
              </p:custDataLst>
            </p:nvPr>
          </p:nvSpPr>
          <p:spPr>
            <a:xfrm rot="697528">
              <a:off x="9072" y="2431"/>
              <a:ext cx="390" cy="548"/>
            </a:xfrm>
            <a:custGeom>
              <a:avLst/>
              <a:gdLst>
                <a:gd name="connsiteX0" fmla="*/ 1399913 w 1399913"/>
                <a:gd name="connsiteY0" fmla="*/ 0 h 1966165"/>
                <a:gd name="connsiteX1" fmla="*/ 1399913 w 1399913"/>
                <a:gd name="connsiteY1" fmla="*/ 1678156 h 1966165"/>
                <a:gd name="connsiteX2" fmla="*/ 0 w 1399913"/>
                <a:gd name="connsiteY2" fmla="*/ 1966165 h 1966165"/>
              </a:gdLst>
              <a:ahLst/>
              <a:cxnLst>
                <a:cxn ang="0">
                  <a:pos x="connsiteX0" y="connsiteY0"/>
                </a:cxn>
                <a:cxn ang="0">
                  <a:pos x="connsiteX1" y="connsiteY1"/>
                </a:cxn>
                <a:cxn ang="0">
                  <a:pos x="connsiteX2" y="connsiteY2"/>
                </a:cxn>
              </a:cxnLst>
              <a:rect l="l" t="t" r="r" b="b"/>
              <a:pathLst>
                <a:path w="1399913" h="1966165">
                  <a:moveTo>
                    <a:pt x="1399913" y="0"/>
                  </a:moveTo>
                  <a:lnTo>
                    <a:pt x="1399913" y="1678156"/>
                  </a:lnTo>
                  <a:lnTo>
                    <a:pt x="0" y="1966165"/>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sz="2800" b="1" dirty="0">
                <a:solidFill>
                  <a:schemeClr val="tx1">
                    <a:lumMod val="85000"/>
                    <a:lumOff val="15000"/>
                  </a:schemeClr>
                </a:solidFill>
              </a:endParaRPr>
            </a:p>
          </p:txBody>
        </p:sp>
        <p:sp>
          <p:nvSpPr>
            <p:cNvPr id="15" name="等腰三角形 14"/>
            <p:cNvSpPr/>
            <p:nvPr>
              <p:custDataLst>
                <p:tags r:id="rId29"/>
              </p:custDataLst>
            </p:nvPr>
          </p:nvSpPr>
          <p:spPr>
            <a:xfrm>
              <a:off x="9170" y="2474"/>
              <a:ext cx="343" cy="460"/>
            </a:xfrm>
            <a:prstGeom prst="triangle">
              <a:avLst>
                <a:gd name="adj" fmla="val 10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p>
              <a:pPr algn="ctr"/>
              <a:endParaRPr lang="zh-CN" altLang="en-US" sz="11200" b="1">
                <a:solidFill>
                  <a:schemeClr val="tx1">
                    <a:lumMod val="85000"/>
                    <a:lumOff val="15000"/>
                  </a:schemeClr>
                </a:solidFill>
              </a:endParaRPr>
            </a:p>
          </p:txBody>
        </p:sp>
      </p:grpSp>
      <p:sp>
        <p:nvSpPr>
          <p:cNvPr id="16" name="文本框 15"/>
          <p:cNvSpPr txBox="1"/>
          <p:nvPr>
            <p:custDataLst>
              <p:tags r:id="rId30"/>
            </p:custDataLst>
          </p:nvPr>
        </p:nvSpPr>
        <p:spPr>
          <a:xfrm>
            <a:off x="6165215" y="5360670"/>
            <a:ext cx="3566160" cy="875030"/>
          </a:xfrm>
          <a:prstGeom prst="rect">
            <a:avLst/>
          </a:prstGeom>
          <a:noFill/>
        </p:spPr>
        <p:txBody>
          <a:bodyPr wrap="square" rtlCol="0" anchor="ctr">
            <a:normAutofit fontScale="90000"/>
          </a:bodyPr>
          <a:p>
            <a:r>
              <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rPr>
              <a:t>面向数据流的设计方法</a:t>
            </a:r>
            <a:endParaRPr lang="zh-CN" altLang="en-US" sz="2800" b="1" spc="150">
              <a:solidFill>
                <a:schemeClr val="accent2"/>
              </a:solidFill>
              <a:latin typeface="Arial" panose="020B0604020202020204" pitchFamily="34" charset="0"/>
              <a:ea typeface="微软雅黑" panose="020B0503020204020204" charset="-122"/>
              <a:cs typeface="微软雅黑" panose="020B0503020204020204" charset="-122"/>
              <a:sym typeface="+mn-lt"/>
            </a:endParaRPr>
          </a:p>
        </p:txBody>
      </p:sp>
    </p:spTree>
    <p:custDataLst>
      <p:tags r:id="rId3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97475" y="429405"/>
            <a:ext cx="3960000" cy="882000"/>
          </a:xfrm>
        </p:spPr>
        <p:txBody>
          <a:bodyPr>
            <a:normAutofit/>
          </a:bodyPr>
          <a:lstStyle/>
          <a:p>
            <a:pPr algn="ctr"/>
            <a:r>
              <a:rPr lang="zh-CN" altLang="en-US" sz="2800" spc="200" dirty="0">
                <a:latin typeface="汉仪旗黑-85S" panose="00020600040101010101" pitchFamily="18" charset="-122"/>
                <a:ea typeface="汉仪旗黑-85S" panose="00020600040101010101" pitchFamily="18" charset="-122"/>
              </a:rPr>
              <a:t>设计过程</a:t>
            </a:r>
            <a:endParaRPr lang="zh-CN" altLang="en-US" sz="2800" spc="200" dirty="0">
              <a:latin typeface="汉仪旗黑-85S" panose="00020600040101010101" pitchFamily="18" charset="-122"/>
              <a:ea typeface="汉仪旗黑-85S" panose="00020600040101010101" pitchFamily="18" charset="-122"/>
            </a:endParaRPr>
          </a:p>
        </p:txBody>
      </p:sp>
      <p:sp>
        <p:nvSpPr>
          <p:cNvPr id="6" name="文本占位符 1"/>
          <p:cNvSpPr>
            <a:spLocks noGrp="1"/>
          </p:cNvSpPr>
          <p:nvPr>
            <p:custDataLst>
              <p:tags r:id="rId2"/>
            </p:custDataLst>
          </p:nvPr>
        </p:nvSpPr>
        <p:spPr>
          <a:xfrm>
            <a:off x="1513840" y="2818130"/>
            <a:ext cx="1751965" cy="348615"/>
          </a:xfrm>
          <a:prstGeom prst="rect">
            <a:avLst/>
          </a:prstGeom>
        </p:spPr>
        <p:txBody>
          <a:bodyPr vert="horz" lIns="101600" tIns="0" rIns="82550" bIns="0" rtlCol="0">
            <a:normAutofit lnSpcReduction="20000"/>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zh-CN" altLang="en-US" sz="1555" b="1" dirty="0">
                <a:solidFill>
                  <a:srgbClr val="FFFF00"/>
                </a:solidFill>
                <a:latin typeface="Bodoni MT Black" panose="02070A03080606020203" pitchFamily="18" charset="0"/>
                <a:sym typeface="+mn-ea"/>
              </a:rPr>
              <a:t>系统设计阶段：</a:t>
            </a:r>
            <a:endParaRPr lang="zh-CN" altLang="en-US" sz="1555" b="1" dirty="0">
              <a:solidFill>
                <a:srgbClr val="FFFF00"/>
              </a:solidFill>
              <a:latin typeface="Bodoni MT Black" panose="02070A03080606020203" pitchFamily="18" charset="0"/>
              <a:sym typeface="+mn-ea"/>
            </a:endParaRPr>
          </a:p>
        </p:txBody>
      </p:sp>
      <p:graphicFrame>
        <p:nvGraphicFramePr>
          <p:cNvPr id="13" name="图示 12"/>
          <p:cNvGraphicFramePr/>
          <p:nvPr/>
        </p:nvGraphicFramePr>
        <p:xfrm>
          <a:off x="5022850" y="1990725"/>
          <a:ext cx="6923405" cy="2661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4" name="文本框 13"/>
          <p:cNvSpPr txBox="1"/>
          <p:nvPr/>
        </p:nvSpPr>
        <p:spPr>
          <a:xfrm>
            <a:off x="335915" y="3249295"/>
            <a:ext cx="4108450" cy="1016000"/>
          </a:xfrm>
          <a:prstGeom prst="rect">
            <a:avLst/>
          </a:prstGeom>
          <a:solidFill>
            <a:srgbClr val="C9FBA3"/>
          </a:solidFill>
          <a:ln>
            <a:solidFill>
              <a:schemeClr val="tx1"/>
            </a:solidFill>
          </a:ln>
        </p:spPr>
        <p:txBody>
          <a:bodyPr wrap="square" rtlCol="0" anchor="ctr" anchorCtr="0">
            <a:noAutofit/>
          </a:bodyPr>
          <a:p>
            <a:pPr>
              <a:lnSpc>
                <a:spcPct val="150000"/>
              </a:lnSpc>
            </a:pPr>
            <a:r>
              <a:rPr lang="zh-CN" altLang="en-US" sz="1400" b="1">
                <a:solidFill>
                  <a:srgbClr val="FF0000"/>
                </a:solidFill>
              </a:rPr>
              <a:t>设想供选择的方案：</a:t>
            </a:r>
            <a:r>
              <a:rPr lang="zh-CN" altLang="en-US" sz="1400" b="1">
                <a:solidFill>
                  <a:schemeClr val="tx1"/>
                </a:solidFill>
              </a:rPr>
              <a:t>利用数据流图中的分组方案，抛弃技术上行不通的方案，得到可能的实现策略。</a:t>
            </a:r>
            <a:endParaRPr lang="en-US" altLang="zh-CN" b="1">
              <a:solidFill>
                <a:srgbClr val="C9FBA3"/>
              </a:solidFill>
            </a:endParaRPr>
          </a:p>
        </p:txBody>
      </p:sp>
      <p:sp>
        <p:nvSpPr>
          <p:cNvPr id="15" name="文本框 14"/>
          <p:cNvSpPr txBox="1"/>
          <p:nvPr/>
        </p:nvSpPr>
        <p:spPr>
          <a:xfrm>
            <a:off x="336550" y="4347845"/>
            <a:ext cx="4109085" cy="1103630"/>
          </a:xfrm>
          <a:prstGeom prst="rect">
            <a:avLst/>
          </a:prstGeom>
          <a:solidFill>
            <a:srgbClr val="91DA9D"/>
          </a:solidFill>
          <a:ln>
            <a:solidFill>
              <a:schemeClr val="tx1"/>
            </a:solidFill>
          </a:ln>
        </p:spPr>
        <p:txBody>
          <a:bodyPr wrap="square" rtlCol="0" anchor="ctr" anchorCtr="0">
            <a:noAutofit/>
          </a:bodyPr>
          <a:p>
            <a:pPr>
              <a:lnSpc>
                <a:spcPct val="140000"/>
              </a:lnSpc>
            </a:pPr>
            <a:r>
              <a:rPr lang="zh-CN" altLang="en-US" sz="1400" b="1">
                <a:solidFill>
                  <a:srgbClr val="FFC000"/>
                </a:solidFill>
              </a:rPr>
              <a:t>选取合理的方案：</a:t>
            </a:r>
            <a:r>
              <a:rPr lang="zh-CN" altLang="en-US" sz="1400" b="1">
                <a:solidFill>
                  <a:schemeClr val="tx1"/>
                </a:solidFill>
              </a:rPr>
              <a:t>在可行方案中选取低成本、中等成本及高成本3中方案，结合用户意见判断哪些更合理。</a:t>
            </a:r>
            <a:endParaRPr lang="en-US" altLang="zh-CN" b="1">
              <a:solidFill>
                <a:srgbClr val="C9FBA3"/>
              </a:solidFill>
            </a:endParaRPr>
          </a:p>
        </p:txBody>
      </p:sp>
      <p:sp>
        <p:nvSpPr>
          <p:cNvPr id="16" name="文本框 15"/>
          <p:cNvSpPr txBox="1"/>
          <p:nvPr/>
        </p:nvSpPr>
        <p:spPr>
          <a:xfrm>
            <a:off x="336550" y="5534025"/>
            <a:ext cx="4107815" cy="974090"/>
          </a:xfrm>
          <a:prstGeom prst="rect">
            <a:avLst/>
          </a:prstGeom>
          <a:solidFill>
            <a:srgbClr val="45DB77"/>
          </a:solidFill>
          <a:ln>
            <a:solidFill>
              <a:schemeClr val="tx1"/>
            </a:solidFill>
          </a:ln>
        </p:spPr>
        <p:txBody>
          <a:bodyPr wrap="square" rtlCol="0" anchor="ctr" anchorCtr="0">
            <a:noAutofit/>
          </a:bodyPr>
          <a:p>
            <a:pPr algn="l">
              <a:lnSpc>
                <a:spcPct val="150000"/>
              </a:lnSpc>
              <a:buClrTx/>
              <a:buSzTx/>
              <a:buFontTx/>
            </a:pPr>
            <a:r>
              <a:rPr lang="zh-CN" altLang="en-US" sz="1400" b="1">
                <a:solidFill>
                  <a:srgbClr val="FFFF00"/>
                </a:solidFill>
              </a:rPr>
              <a:t>推荐最佳方案：</a:t>
            </a:r>
            <a:r>
              <a:rPr lang="zh-CN" altLang="en-US" sz="1400" b="1">
                <a:solidFill>
                  <a:schemeClr val="tx1"/>
                </a:solidFill>
              </a:rPr>
              <a:t>分析员综合分析对比各种方案的利弊，推荐出一个最佳方案。</a:t>
            </a:r>
            <a:endParaRPr lang="zh-CN" altLang="en-US" sz="1400" b="1"/>
          </a:p>
        </p:txBody>
      </p:sp>
      <p:sp>
        <p:nvSpPr>
          <p:cNvPr id="21" name="文本框 20"/>
          <p:cNvSpPr txBox="1"/>
          <p:nvPr/>
        </p:nvSpPr>
        <p:spPr>
          <a:xfrm>
            <a:off x="4961890" y="2608580"/>
            <a:ext cx="2345055" cy="1376680"/>
          </a:xfrm>
          <a:prstGeom prst="rect">
            <a:avLst/>
          </a:prstGeom>
          <a:noFill/>
          <a:ln w="19050">
            <a:solidFill>
              <a:srgbClr val="FF0000"/>
            </a:solidFill>
            <a:prstDash val="dash"/>
          </a:ln>
        </p:spPr>
        <p:txBody>
          <a:bodyPr wrap="square" rtlCol="0">
            <a:noAutofit/>
          </a:bodyPr>
          <a:p>
            <a:endParaRPr lang="zh-CN" altLang="en-US"/>
          </a:p>
        </p:txBody>
      </p:sp>
      <p:sp>
        <p:nvSpPr>
          <p:cNvPr id="23" name="右箭头 22"/>
          <p:cNvSpPr/>
          <p:nvPr/>
        </p:nvSpPr>
        <p:spPr>
          <a:xfrm>
            <a:off x="4457065" y="3268345"/>
            <a:ext cx="513715" cy="426720"/>
          </a:xfrm>
          <a:prstGeom prst="rightArrow">
            <a:avLst/>
          </a:prstGeom>
          <a:solidFill>
            <a:srgbClr val="FF00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55" name="组合 54"/>
          <p:cNvGrpSpPr/>
          <p:nvPr/>
        </p:nvGrpSpPr>
        <p:grpSpPr>
          <a:xfrm>
            <a:off x="4881880" y="167005"/>
            <a:ext cx="7237730" cy="6401435"/>
            <a:chOff x="7688" y="263"/>
            <a:chExt cx="11398" cy="10081"/>
          </a:xfrm>
        </p:grpSpPr>
        <p:sp>
          <p:nvSpPr>
            <p:cNvPr id="32" name="文本框 31"/>
            <p:cNvSpPr txBox="1"/>
            <p:nvPr/>
          </p:nvSpPr>
          <p:spPr>
            <a:xfrm>
              <a:off x="7688" y="263"/>
              <a:ext cx="3823" cy="2763"/>
            </a:xfrm>
            <a:prstGeom prst="rect">
              <a:avLst/>
            </a:prstGeom>
            <a:solidFill>
              <a:schemeClr val="accent1"/>
            </a:solidFill>
          </p:spPr>
          <p:txBody>
            <a:bodyPr wrap="square" rtlCol="0" anchor="ctr" anchorCtr="0">
              <a:noAutofit/>
            </a:bodyPr>
            <a:p>
              <a:pPr>
                <a:lnSpc>
                  <a:spcPct val="130000"/>
                </a:lnSpc>
              </a:pPr>
              <a:endParaRPr lang="zh-CN" altLang="en-US" sz="1000" b="1" dirty="0">
                <a:latin typeface="Bodoni MT Black" panose="02070A03080606020203" pitchFamily="18" charset="0"/>
                <a:sym typeface="+mn-ea"/>
              </a:endParaRPr>
            </a:p>
            <a:p>
              <a:pPr>
                <a:lnSpc>
                  <a:spcPct val="130000"/>
                </a:lnSpc>
              </a:pPr>
              <a:r>
                <a:rPr lang="zh-CN" altLang="en-US" sz="1200" b="1" dirty="0">
                  <a:solidFill>
                    <a:schemeClr val="bg2"/>
                  </a:solidFill>
                  <a:latin typeface="Bodoni MT Black" panose="02070A03080606020203" pitchFamily="18" charset="0"/>
                  <a:sym typeface="+mn-ea"/>
                </a:rPr>
                <a:t>对</a:t>
              </a:r>
              <a:r>
                <a:rPr lang="zh-CN" altLang="en-US" sz="1200" b="1" dirty="0" smtClean="0">
                  <a:solidFill>
                    <a:schemeClr val="bg2"/>
                  </a:solidFill>
                  <a:latin typeface="Bodoni MT Black" panose="02070A03080606020203" pitchFamily="18" charset="0"/>
                  <a:sym typeface="+mn-ea"/>
                </a:rPr>
                <a:t>程序（特别是复杂的大型程序）的</a:t>
              </a:r>
              <a:r>
                <a:rPr lang="zh-CN" altLang="en-US" sz="1200" b="1" dirty="0">
                  <a:solidFill>
                    <a:schemeClr val="bg2"/>
                  </a:solidFill>
                  <a:latin typeface="Bodoni MT Black" panose="02070A03080606020203" pitchFamily="18" charset="0"/>
                  <a:sym typeface="+mn-ea"/>
                </a:rPr>
                <a:t>设计，通常分为两个阶段完成：首先进行</a:t>
              </a:r>
              <a:r>
                <a:rPr lang="zh-CN" altLang="en-US" sz="1200" b="1" dirty="0">
                  <a:solidFill>
                    <a:srgbClr val="FFFF00"/>
                  </a:solidFill>
                  <a:latin typeface="Bodoni MT Black" panose="02070A03080606020203" pitchFamily="18" charset="0"/>
                  <a:sym typeface="+mn-ea"/>
                </a:rPr>
                <a:t>结构设计</a:t>
              </a:r>
              <a:r>
                <a:rPr lang="zh-CN" altLang="en-US" sz="1200" b="1" dirty="0">
                  <a:solidFill>
                    <a:schemeClr val="bg2"/>
                  </a:solidFill>
                  <a:latin typeface="Bodoni MT Black" panose="02070A03080606020203" pitchFamily="18" charset="0"/>
                  <a:sym typeface="+mn-ea"/>
                </a:rPr>
                <a:t>，然后进行</a:t>
              </a:r>
              <a:r>
                <a:rPr lang="zh-CN" altLang="en-US" sz="1200" b="1" dirty="0">
                  <a:solidFill>
                    <a:srgbClr val="FFFF00"/>
                  </a:solidFill>
                  <a:latin typeface="Bodoni MT Black" panose="02070A03080606020203" pitchFamily="18" charset="0"/>
                  <a:sym typeface="+mn-ea"/>
                </a:rPr>
                <a:t>过程设计</a:t>
              </a:r>
              <a:r>
                <a:rPr lang="zh-CN" altLang="en-US" sz="1200" b="1" dirty="0" smtClean="0">
                  <a:solidFill>
                    <a:schemeClr val="bg2"/>
                  </a:solidFill>
                  <a:latin typeface="Bodoni MT Black" panose="02070A03080606020203" pitchFamily="18" charset="0"/>
                  <a:sym typeface="+mn-ea"/>
                </a:rPr>
                <a:t>。为</a:t>
              </a:r>
              <a:r>
                <a:rPr lang="zh-CN" altLang="en-US" sz="1200" b="1" dirty="0">
                  <a:solidFill>
                    <a:schemeClr val="bg2"/>
                  </a:solidFill>
                  <a:latin typeface="Bodoni MT Black" panose="02070A03080606020203" pitchFamily="18" charset="0"/>
                  <a:sym typeface="+mn-ea"/>
                </a:rPr>
                <a:t>确定软件结构，需要从实现角度把复杂的功能进一步分解成一系列比较简单的功能</a:t>
              </a:r>
              <a:r>
                <a:rPr lang="zh-CN" altLang="en-US" sz="1200" b="1" dirty="0" smtClean="0">
                  <a:solidFill>
                    <a:schemeClr val="bg2"/>
                  </a:solidFill>
                  <a:latin typeface="Bodoni MT Black" panose="02070A03080606020203" pitchFamily="18" charset="0"/>
                  <a:sym typeface="+mn-ea"/>
                </a:rPr>
                <a:t>。</a:t>
              </a:r>
              <a:endParaRPr lang="zh-CN" altLang="en-US" sz="1200" b="1" dirty="0" smtClean="0">
                <a:solidFill>
                  <a:schemeClr val="bg2"/>
                </a:solidFill>
                <a:latin typeface="Bodoni MT Black" panose="02070A03080606020203" pitchFamily="18" charset="0"/>
              </a:endParaRPr>
            </a:p>
            <a:p>
              <a:endParaRPr lang="zh-CN" altLang="en-US" sz="1200" b="1" dirty="0" smtClean="0">
                <a:solidFill>
                  <a:schemeClr val="bg2"/>
                </a:solidFill>
                <a:latin typeface="Bodoni MT Black" panose="02070A03080606020203" pitchFamily="18" charset="0"/>
              </a:endParaRPr>
            </a:p>
          </p:txBody>
        </p:sp>
        <p:cxnSp>
          <p:nvCxnSpPr>
            <p:cNvPr id="52" name="直接连接符 51"/>
            <p:cNvCxnSpPr>
              <a:stCxn id="32" idx="2"/>
            </p:cNvCxnSpPr>
            <p:nvPr/>
          </p:nvCxnSpPr>
          <p:spPr>
            <a:xfrm flipH="1">
              <a:off x="9595" y="3026"/>
              <a:ext cx="5" cy="580"/>
            </a:xfrm>
            <a:prstGeom prst="line">
              <a:avLst/>
            </a:prstGeom>
            <a:ln w="19050">
              <a:solidFill>
                <a:schemeClr val="accent6"/>
              </a:solidFill>
            </a:ln>
          </p:spPr>
          <p:style>
            <a:lnRef idx="2">
              <a:schemeClr val="accent1"/>
            </a:lnRef>
            <a:fillRef idx="0">
              <a:srgbClr val="FFFFFF"/>
            </a:fillRef>
            <a:effectRef idx="0">
              <a:srgbClr val="FFFFFF"/>
            </a:effectRef>
            <a:fontRef idx="minor">
              <a:schemeClr val="tx1"/>
            </a:fontRef>
          </p:style>
        </p:cxnSp>
        <p:cxnSp>
          <p:nvCxnSpPr>
            <p:cNvPr id="53" name="直接连接符 52"/>
            <p:cNvCxnSpPr/>
            <p:nvPr/>
          </p:nvCxnSpPr>
          <p:spPr>
            <a:xfrm flipV="1">
              <a:off x="9587" y="3591"/>
              <a:ext cx="2484" cy="17"/>
            </a:xfrm>
            <a:prstGeom prst="line">
              <a:avLst/>
            </a:prstGeom>
            <a:ln w="19050">
              <a:solidFill>
                <a:schemeClr val="accent6"/>
              </a:solidFill>
            </a:ln>
          </p:spPr>
          <p:style>
            <a:lnRef idx="2">
              <a:schemeClr val="accent1"/>
            </a:lnRef>
            <a:fillRef idx="0">
              <a:srgbClr val="FFFFFF"/>
            </a:fillRef>
            <a:effectRef idx="0">
              <a:srgbClr val="FFFFFF"/>
            </a:effectRef>
            <a:fontRef idx="minor">
              <a:schemeClr val="tx1"/>
            </a:fontRef>
          </p:style>
        </p:cxnSp>
        <p:cxnSp>
          <p:nvCxnSpPr>
            <p:cNvPr id="54" name="直接箭头连接符 53"/>
            <p:cNvCxnSpPr/>
            <p:nvPr/>
          </p:nvCxnSpPr>
          <p:spPr>
            <a:xfrm>
              <a:off x="12056" y="3591"/>
              <a:ext cx="0" cy="809"/>
            </a:xfrm>
            <a:prstGeom prst="straightConnector1">
              <a:avLst/>
            </a:prstGeom>
            <a:ln w="19050">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56" name="文本框 55"/>
            <p:cNvSpPr txBox="1"/>
            <p:nvPr/>
          </p:nvSpPr>
          <p:spPr>
            <a:xfrm>
              <a:off x="7688" y="7186"/>
              <a:ext cx="3823" cy="3144"/>
            </a:xfrm>
            <a:prstGeom prst="rect">
              <a:avLst/>
            </a:prstGeom>
            <a:solidFill>
              <a:schemeClr val="accent1"/>
            </a:solidFill>
          </p:spPr>
          <p:txBody>
            <a:bodyPr wrap="square" rtlCol="0" anchor="ctr" anchorCtr="0">
              <a:noAutofit/>
            </a:bodyPr>
            <a:p>
              <a:pPr>
                <a:lnSpc>
                  <a:spcPct val="120000"/>
                </a:lnSpc>
              </a:pPr>
              <a:r>
                <a:rPr lang="zh-CN" altLang="en-US" sz="1200" b="1" dirty="0">
                  <a:solidFill>
                    <a:schemeClr val="bg1"/>
                  </a:solidFill>
                  <a:latin typeface="Bodoni MT Black" panose="02070A03080606020203" pitchFamily="18" charset="0"/>
                  <a:sym typeface="+mn-ea"/>
                </a:rPr>
                <a:t>通常程序中的一个模块完成一个适当的子功能。应该把模块组织成良好的</a:t>
              </a:r>
              <a:r>
                <a:rPr lang="zh-CN" altLang="en-US" sz="1200" b="1" dirty="0">
                  <a:solidFill>
                    <a:srgbClr val="FF0000"/>
                  </a:solidFill>
                  <a:latin typeface="Bodoni MT Black" panose="02070A03080606020203" pitchFamily="18" charset="0"/>
                  <a:sym typeface="+mn-ea"/>
                </a:rPr>
                <a:t>层次系统</a:t>
              </a:r>
              <a:r>
                <a:rPr lang="zh-CN" altLang="en-US" sz="1200" b="1" dirty="0">
                  <a:solidFill>
                    <a:schemeClr val="bg1"/>
                  </a:solidFill>
                  <a:latin typeface="Bodoni MT Black" panose="02070A03080606020203" pitchFamily="18" charset="0"/>
                  <a:sym typeface="+mn-ea"/>
                </a:rPr>
                <a:t>，顶层模块调用它的下层模块以实现程序的完整功能，每个下层模块再调用更下层的模块</a:t>
              </a:r>
              <a:r>
                <a:rPr lang="zh-CN" altLang="en-US" sz="1200" b="1" dirty="0" smtClean="0">
                  <a:solidFill>
                    <a:schemeClr val="bg1"/>
                  </a:solidFill>
                  <a:latin typeface="Bodoni MT Black" panose="02070A03080606020203" pitchFamily="18" charset="0"/>
                  <a:sym typeface="+mn-ea"/>
                </a:rPr>
                <a:t>，完成</a:t>
              </a:r>
              <a:r>
                <a:rPr lang="zh-CN" altLang="en-US" sz="1200" b="1" dirty="0">
                  <a:solidFill>
                    <a:schemeClr val="bg1"/>
                  </a:solidFill>
                  <a:latin typeface="Bodoni MT Black" panose="02070A03080606020203" pitchFamily="18" charset="0"/>
                  <a:sym typeface="+mn-ea"/>
                </a:rPr>
                <a:t>程序的一个子功能</a:t>
              </a:r>
              <a:r>
                <a:rPr lang="zh-CN" altLang="en-US" sz="1200" b="1" dirty="0">
                  <a:solidFill>
                    <a:srgbClr val="FFFF00"/>
                  </a:solidFill>
                  <a:latin typeface="Bodoni MT Black" panose="02070A03080606020203" pitchFamily="18" charset="0"/>
                  <a:sym typeface="+mn-ea"/>
                </a:rPr>
                <a:t>，最下层的模块完成最具体的功能</a:t>
              </a:r>
              <a:r>
                <a:rPr lang="zh-CN" altLang="en-US" sz="1200" b="1" dirty="0" smtClean="0">
                  <a:solidFill>
                    <a:srgbClr val="FFFF00"/>
                  </a:solidFill>
                  <a:latin typeface="Bodoni MT Black" panose="02070A03080606020203" pitchFamily="18" charset="0"/>
                  <a:sym typeface="+mn-ea"/>
                </a:rPr>
                <a:t>。</a:t>
              </a:r>
              <a:endParaRPr lang="zh-CN" altLang="en-US" sz="1200" b="1" dirty="0" smtClean="0">
                <a:solidFill>
                  <a:srgbClr val="FFFF00"/>
                </a:solidFill>
                <a:latin typeface="Bodoni MT Black" panose="02070A03080606020203" pitchFamily="18" charset="0"/>
                <a:sym typeface="+mn-ea"/>
              </a:endParaRPr>
            </a:p>
          </p:txBody>
        </p:sp>
        <p:sp>
          <p:nvSpPr>
            <p:cNvPr id="61" name="文本框 60"/>
            <p:cNvSpPr txBox="1"/>
            <p:nvPr/>
          </p:nvSpPr>
          <p:spPr>
            <a:xfrm>
              <a:off x="11535" y="263"/>
              <a:ext cx="3801" cy="2763"/>
            </a:xfrm>
            <a:prstGeom prst="rect">
              <a:avLst/>
            </a:prstGeom>
            <a:solidFill>
              <a:schemeClr val="accent1"/>
            </a:solidFill>
          </p:spPr>
          <p:txBody>
            <a:bodyPr wrap="square" rtlCol="0" anchor="ctr" anchorCtr="0">
              <a:noAutofit/>
            </a:bodyPr>
            <a:p>
              <a:pPr>
                <a:lnSpc>
                  <a:spcPct val="150000"/>
                </a:lnSpc>
              </a:pPr>
              <a:r>
                <a:rPr lang="zh-CN" altLang="en-US" sz="1200" b="1" dirty="0">
                  <a:solidFill>
                    <a:schemeClr val="bg1"/>
                  </a:solidFill>
                  <a:latin typeface="Bodoni MT Black" panose="02070A03080606020203" pitchFamily="18" charset="0"/>
                  <a:sym typeface="+mn-ea"/>
                </a:rPr>
                <a:t>对于需要使用数据库的那些应用系统，软件工程师应该在需求分析阶段所确定的系统数据需求的基础上，进一步设计</a:t>
              </a:r>
              <a:r>
                <a:rPr lang="zh-CN" altLang="en-US" sz="1200" b="1" dirty="0" smtClean="0">
                  <a:solidFill>
                    <a:srgbClr val="FF0000"/>
                  </a:solidFill>
                  <a:latin typeface="Bodoni MT Black" panose="02070A03080606020203" pitchFamily="18" charset="0"/>
                  <a:sym typeface="+mn-ea"/>
                </a:rPr>
                <a:t>数据库</a:t>
              </a:r>
              <a:r>
                <a:rPr lang="zh-CN" altLang="en-US" sz="1200" b="1" dirty="0" smtClean="0">
                  <a:solidFill>
                    <a:schemeClr val="bg1"/>
                  </a:solidFill>
                  <a:latin typeface="Bodoni MT Black" panose="02070A03080606020203" pitchFamily="18" charset="0"/>
                  <a:sym typeface="+mn-ea"/>
                </a:rPr>
                <a:t>。</a:t>
              </a:r>
              <a:endParaRPr lang="zh-CN" altLang="en-US" sz="1200" b="1" dirty="0" smtClean="0">
                <a:solidFill>
                  <a:schemeClr val="bg1"/>
                </a:solidFill>
                <a:latin typeface="Bodoni MT Black" panose="02070A03080606020203" pitchFamily="18" charset="0"/>
                <a:sym typeface="+mn-ea"/>
              </a:endParaRPr>
            </a:p>
          </p:txBody>
        </p:sp>
        <p:sp>
          <p:nvSpPr>
            <p:cNvPr id="65" name="文本框 64"/>
            <p:cNvSpPr txBox="1"/>
            <p:nvPr/>
          </p:nvSpPr>
          <p:spPr>
            <a:xfrm>
              <a:off x="11545" y="7186"/>
              <a:ext cx="3791" cy="3145"/>
            </a:xfrm>
            <a:prstGeom prst="rect">
              <a:avLst/>
            </a:prstGeom>
            <a:solidFill>
              <a:schemeClr val="accent1"/>
            </a:solidFill>
          </p:spPr>
          <p:txBody>
            <a:bodyPr wrap="square" rtlCol="0" anchor="ctr" anchorCtr="0">
              <a:noAutofit/>
            </a:bodyPr>
            <a:p>
              <a:pPr algn="l">
                <a:lnSpc>
                  <a:spcPct val="160000"/>
                </a:lnSpc>
                <a:buClrTx/>
                <a:buSzTx/>
                <a:buFontTx/>
              </a:pPr>
              <a:r>
                <a:rPr lang="zh-CN" altLang="en-US" sz="1200" b="1" dirty="0">
                  <a:solidFill>
                    <a:schemeClr val="bg1"/>
                  </a:solidFill>
                  <a:latin typeface="Bodoni MT Black" panose="02070A03080606020203" pitchFamily="18" charset="0"/>
                  <a:sym typeface="+mn-ea"/>
                </a:rPr>
                <a:t>在软件开发的早期阶段考虑</a:t>
              </a:r>
              <a:r>
                <a:rPr lang="zh-CN" altLang="en-US" sz="1200" b="1" dirty="0">
                  <a:solidFill>
                    <a:srgbClr val="FF0000"/>
                  </a:solidFill>
                  <a:latin typeface="Bodoni MT Black" panose="02070A03080606020203" pitchFamily="18" charset="0"/>
                  <a:sym typeface="+mn-ea"/>
                </a:rPr>
                <a:t>测试问题</a:t>
              </a:r>
              <a:r>
                <a:rPr lang="zh-CN" altLang="en-US" sz="1200" b="1" dirty="0">
                  <a:solidFill>
                    <a:schemeClr val="bg1"/>
                  </a:solidFill>
                  <a:latin typeface="Bodoni MT Black" panose="02070A03080606020203" pitchFamily="18" charset="0"/>
                  <a:sym typeface="+mn-ea"/>
                </a:rPr>
                <a:t>，能促使软件设计人员在设计时注意提高软件的可测试性。</a:t>
              </a:r>
              <a:endParaRPr lang="zh-CN" altLang="en-US" sz="1200" b="1" dirty="0">
                <a:solidFill>
                  <a:schemeClr val="bg1"/>
                </a:solidFill>
                <a:latin typeface="Bodoni MT Black" panose="02070A03080606020203" pitchFamily="18" charset="0"/>
                <a:sym typeface="+mn-ea"/>
              </a:endParaRPr>
            </a:p>
          </p:txBody>
        </p:sp>
        <p:sp>
          <p:nvSpPr>
            <p:cNvPr id="70" name="文本框 69"/>
            <p:cNvSpPr txBox="1"/>
            <p:nvPr/>
          </p:nvSpPr>
          <p:spPr>
            <a:xfrm>
              <a:off x="15361" y="263"/>
              <a:ext cx="3710" cy="2763"/>
            </a:xfrm>
            <a:prstGeom prst="rect">
              <a:avLst/>
            </a:prstGeom>
            <a:solidFill>
              <a:schemeClr val="accent1"/>
            </a:solidFill>
          </p:spPr>
          <p:txBody>
            <a:bodyPr wrap="square" rtlCol="0" anchor="ctr" anchorCtr="0">
              <a:noAutofit/>
            </a:bodyPr>
            <a:p>
              <a:pPr marL="0" algn="l" eaLnBrk="1" hangingPunct="1">
                <a:lnSpc>
                  <a:spcPct val="140000"/>
                </a:lnSpc>
                <a:buClrTx/>
                <a:buSzTx/>
                <a:buFontTx/>
              </a:pPr>
              <a:r>
                <a:rPr lang="zh-CN" altLang="en-US" sz="1200" b="1" dirty="0">
                  <a:solidFill>
                    <a:schemeClr val="bg1"/>
                  </a:solidFill>
                  <a:latin typeface="Bodoni MT Black" panose="02070A03080606020203" pitchFamily="18" charset="0"/>
                  <a:sym typeface="+mn-ea"/>
                </a:rPr>
                <a:t>应该</a:t>
              </a:r>
              <a:r>
                <a:rPr lang="zh-CN" altLang="en-US" sz="1200" b="1" dirty="0">
                  <a:solidFill>
                    <a:srgbClr val="FF0000"/>
                  </a:solidFill>
                  <a:latin typeface="Bodoni MT Black" panose="02070A03080606020203" pitchFamily="18" charset="0"/>
                  <a:sym typeface="+mn-ea"/>
                </a:rPr>
                <a:t>用正式的文档</a:t>
              </a:r>
              <a:r>
                <a:rPr lang="zh-CN" altLang="en-US" sz="1200" b="1" dirty="0">
                  <a:solidFill>
                    <a:schemeClr val="bg1"/>
                  </a:solidFill>
                  <a:latin typeface="Bodoni MT Black" panose="02070A03080606020203" pitchFamily="18" charset="0"/>
                  <a:sym typeface="+mn-ea"/>
                </a:rPr>
                <a:t>记录总体设计的结果，在这个阶段应该完成的文档通常有下述几种：系统说明、用户手册、测试计划、详细的实现计划、数据库设计结果</a:t>
              </a:r>
              <a:endParaRPr lang="zh-CN" altLang="en-US" sz="1200" b="1" dirty="0">
                <a:solidFill>
                  <a:schemeClr val="bg1"/>
                </a:solidFill>
                <a:latin typeface="Bodoni MT Black" panose="02070A03080606020203" pitchFamily="18" charset="0"/>
                <a:sym typeface="+mn-ea"/>
              </a:endParaRPr>
            </a:p>
          </p:txBody>
        </p:sp>
        <p:sp>
          <p:nvSpPr>
            <p:cNvPr id="74" name="文本框 73"/>
            <p:cNvSpPr txBox="1"/>
            <p:nvPr/>
          </p:nvSpPr>
          <p:spPr>
            <a:xfrm>
              <a:off x="15365" y="7186"/>
              <a:ext cx="3721" cy="3158"/>
            </a:xfrm>
            <a:prstGeom prst="rect">
              <a:avLst/>
            </a:prstGeom>
            <a:solidFill>
              <a:schemeClr val="accent1"/>
            </a:solidFill>
          </p:spPr>
          <p:txBody>
            <a:bodyPr wrap="square" rtlCol="0" anchor="ctr" anchorCtr="0">
              <a:noAutofit/>
            </a:bodyPr>
            <a:p>
              <a:pPr marL="0" algn="l" eaLnBrk="1" hangingPunct="1">
                <a:lnSpc>
                  <a:spcPct val="150000"/>
                </a:lnSpc>
                <a:buClrTx/>
                <a:buSzTx/>
                <a:buFontTx/>
              </a:pPr>
              <a:r>
                <a:rPr lang="zh-CN" altLang="en-US" sz="1200" b="1" dirty="0">
                  <a:solidFill>
                    <a:schemeClr val="bg1"/>
                  </a:solidFill>
                  <a:latin typeface="Bodoni MT Black" panose="02070A03080606020203" pitchFamily="18" charset="0"/>
                  <a:sym typeface="+mn-ea"/>
                </a:rPr>
                <a:t>最后应该对总体设计的结果进行严格的</a:t>
              </a:r>
              <a:r>
                <a:rPr lang="zh-CN" altLang="en-US" sz="1200" b="1" dirty="0">
                  <a:solidFill>
                    <a:srgbClr val="FF0000"/>
                  </a:solidFill>
                  <a:latin typeface="Bodoni MT Black" panose="02070A03080606020203" pitchFamily="18" charset="0"/>
                  <a:sym typeface="+mn-ea"/>
                </a:rPr>
                <a:t>技术审查</a:t>
              </a:r>
              <a:r>
                <a:rPr lang="zh-CN" altLang="en-US" sz="1200" b="1" dirty="0">
                  <a:solidFill>
                    <a:schemeClr val="bg1"/>
                  </a:solidFill>
                  <a:latin typeface="Bodoni MT Black" panose="02070A03080606020203" pitchFamily="18" charset="0"/>
                  <a:sym typeface="+mn-ea"/>
                </a:rPr>
                <a:t>，在技术审查通过之后再由客户从管理角度进行</a:t>
              </a:r>
              <a:r>
                <a:rPr lang="zh-CN" altLang="en-US" sz="1200" b="1" dirty="0">
                  <a:solidFill>
                    <a:srgbClr val="FF0000"/>
                  </a:solidFill>
                  <a:latin typeface="Bodoni MT Black" panose="02070A03080606020203" pitchFamily="18" charset="0"/>
                  <a:sym typeface="+mn-ea"/>
                </a:rPr>
                <a:t>复审</a:t>
              </a:r>
              <a:r>
                <a:rPr lang="zh-CN" altLang="en-US" sz="1200" b="1" dirty="0">
                  <a:solidFill>
                    <a:schemeClr val="bg1"/>
                  </a:solidFill>
                  <a:latin typeface="Bodoni MT Black" panose="02070A03080606020203" pitchFamily="18" charset="0"/>
                  <a:sym typeface="+mn-ea"/>
                </a:rPr>
                <a:t>。</a:t>
              </a:r>
              <a:endParaRPr lang="zh-CN" altLang="en-US" sz="1200" b="1" dirty="0">
                <a:solidFill>
                  <a:schemeClr val="bg1"/>
                </a:solidFill>
                <a:latin typeface="Bodoni MT Black" panose="02070A03080606020203" pitchFamily="18" charset="0"/>
                <a:sym typeface="+mn-ea"/>
              </a:endParaRPr>
            </a:p>
          </p:txBody>
        </p:sp>
      </p:grpSp>
      <p:cxnSp>
        <p:nvCxnSpPr>
          <p:cNvPr id="57" name="直接连接符 56"/>
          <p:cNvCxnSpPr/>
          <p:nvPr/>
        </p:nvCxnSpPr>
        <p:spPr>
          <a:xfrm flipH="1" flipV="1">
            <a:off x="6158230" y="4310380"/>
            <a:ext cx="4445" cy="252730"/>
          </a:xfrm>
          <a:prstGeom prst="line">
            <a:avLst/>
          </a:prstGeom>
          <a:ln w="19050">
            <a:solidFill>
              <a:srgbClr val="C44B8A"/>
            </a:solidFill>
          </a:ln>
        </p:spPr>
        <p:style>
          <a:lnRef idx="2">
            <a:schemeClr val="accent1"/>
          </a:lnRef>
          <a:fillRef idx="0">
            <a:srgbClr val="FFFFFF"/>
          </a:fillRef>
          <a:effectRef idx="0">
            <a:srgbClr val="FFFFFF"/>
          </a:effectRef>
          <a:fontRef idx="minor">
            <a:schemeClr val="tx1"/>
          </a:fontRef>
        </p:style>
      </p:cxnSp>
      <p:grpSp>
        <p:nvGrpSpPr>
          <p:cNvPr id="60" name="组合 59"/>
          <p:cNvGrpSpPr/>
          <p:nvPr/>
        </p:nvGrpSpPr>
        <p:grpSpPr>
          <a:xfrm>
            <a:off x="6162040" y="3853180"/>
            <a:ext cx="2352040" cy="457200"/>
            <a:chOff x="9704" y="6068"/>
            <a:chExt cx="3704" cy="720"/>
          </a:xfrm>
        </p:grpSpPr>
        <p:cxnSp>
          <p:nvCxnSpPr>
            <p:cNvPr id="58" name="直接连接符 57"/>
            <p:cNvCxnSpPr/>
            <p:nvPr/>
          </p:nvCxnSpPr>
          <p:spPr>
            <a:xfrm>
              <a:off x="9704" y="6788"/>
              <a:ext cx="3705" cy="0"/>
            </a:xfrm>
            <a:prstGeom prst="line">
              <a:avLst/>
            </a:prstGeom>
            <a:ln w="19050">
              <a:solidFill>
                <a:srgbClr val="C44B8A"/>
              </a:solidFill>
            </a:ln>
          </p:spPr>
          <p:style>
            <a:lnRef idx="2">
              <a:schemeClr val="accent1"/>
            </a:lnRef>
            <a:fillRef idx="0">
              <a:srgbClr val="FFFFFF"/>
            </a:fillRef>
            <a:effectRef idx="0">
              <a:srgbClr val="FFFFFF"/>
            </a:effectRef>
            <a:fontRef idx="minor">
              <a:schemeClr val="tx1"/>
            </a:fontRef>
          </p:style>
        </p:cxnSp>
        <p:cxnSp>
          <p:nvCxnSpPr>
            <p:cNvPr id="59" name="直接箭头连接符 58"/>
            <p:cNvCxnSpPr/>
            <p:nvPr/>
          </p:nvCxnSpPr>
          <p:spPr>
            <a:xfrm flipH="1" flipV="1">
              <a:off x="13394" y="6068"/>
              <a:ext cx="15" cy="720"/>
            </a:xfrm>
            <a:prstGeom prst="straightConnector1">
              <a:avLst/>
            </a:prstGeom>
            <a:ln w="19050">
              <a:solidFill>
                <a:srgbClr val="C44B8A"/>
              </a:solidFill>
              <a:tailEnd type="arrow"/>
            </a:ln>
          </p:spPr>
          <p:style>
            <a:lnRef idx="2">
              <a:schemeClr val="accent1"/>
            </a:lnRef>
            <a:fillRef idx="0">
              <a:srgbClr val="FFFFFF"/>
            </a:fillRef>
            <a:effectRef idx="0">
              <a:srgbClr val="FFFFFF"/>
            </a:effectRef>
            <a:fontRef idx="minor">
              <a:schemeClr val="tx1"/>
            </a:fontRef>
          </p:style>
        </p:cxnSp>
      </p:grpSp>
      <p:cxnSp>
        <p:nvCxnSpPr>
          <p:cNvPr id="62" name="直接连接符 61"/>
          <p:cNvCxnSpPr>
            <a:stCxn id="61" idx="2"/>
          </p:cNvCxnSpPr>
          <p:nvPr/>
        </p:nvCxnSpPr>
        <p:spPr>
          <a:xfrm flipH="1">
            <a:off x="8527415" y="1921510"/>
            <a:ext cx="4445" cy="350520"/>
          </a:xfrm>
          <a:prstGeom prst="line">
            <a:avLst/>
          </a:prstGeom>
          <a:ln w="19050"/>
        </p:spPr>
        <p:style>
          <a:lnRef idx="2">
            <a:schemeClr val="accent1"/>
          </a:lnRef>
          <a:fillRef idx="0">
            <a:srgbClr val="FFFFFF"/>
          </a:fillRef>
          <a:effectRef idx="0">
            <a:srgbClr val="FFFFFF"/>
          </a:effectRef>
          <a:fontRef idx="minor">
            <a:schemeClr val="tx1"/>
          </a:fontRef>
        </p:style>
      </p:cxnSp>
      <p:cxnSp>
        <p:nvCxnSpPr>
          <p:cNvPr id="63" name="直接连接符 62"/>
          <p:cNvCxnSpPr/>
          <p:nvPr/>
        </p:nvCxnSpPr>
        <p:spPr>
          <a:xfrm flipV="1">
            <a:off x="8526145" y="2277110"/>
            <a:ext cx="699135" cy="3175"/>
          </a:xfrm>
          <a:prstGeom prst="line">
            <a:avLst/>
          </a:prstGeom>
          <a:ln w="19050"/>
        </p:spPr>
        <p:style>
          <a:lnRef idx="2">
            <a:schemeClr val="accent1"/>
          </a:lnRef>
          <a:fillRef idx="0">
            <a:srgbClr val="FFFFFF"/>
          </a:fillRef>
          <a:effectRef idx="0">
            <a:srgbClr val="FFFFFF"/>
          </a:effectRef>
          <a:fontRef idx="minor">
            <a:schemeClr val="tx1"/>
          </a:fontRef>
        </p:style>
      </p:cxnSp>
      <p:cxnSp>
        <p:nvCxnSpPr>
          <p:cNvPr id="64" name="直接箭头连接符 63"/>
          <p:cNvCxnSpPr/>
          <p:nvPr/>
        </p:nvCxnSpPr>
        <p:spPr>
          <a:xfrm>
            <a:off x="9224645" y="2286635"/>
            <a:ext cx="0" cy="476250"/>
          </a:xfrm>
          <a:prstGeom prst="straightConnector1">
            <a:avLst/>
          </a:prstGeom>
          <a:ln w="19050">
            <a:tailEnd type="arrow"/>
          </a:ln>
        </p:spPr>
        <p:style>
          <a:lnRef idx="2">
            <a:schemeClr val="accent1"/>
          </a:lnRef>
          <a:fillRef idx="0">
            <a:srgbClr val="FFFFFF"/>
          </a:fillRef>
          <a:effectRef idx="0">
            <a:srgbClr val="FFFFFF"/>
          </a:effectRef>
          <a:fontRef idx="minor">
            <a:schemeClr val="tx1"/>
          </a:fontRef>
        </p:style>
      </p:cxnSp>
      <p:grpSp>
        <p:nvGrpSpPr>
          <p:cNvPr id="69" name="组合 68"/>
          <p:cNvGrpSpPr/>
          <p:nvPr/>
        </p:nvGrpSpPr>
        <p:grpSpPr>
          <a:xfrm>
            <a:off x="8590915" y="3843655"/>
            <a:ext cx="1476375" cy="719455"/>
            <a:chOff x="13529" y="6053"/>
            <a:chExt cx="2325" cy="1133"/>
          </a:xfrm>
        </p:grpSpPr>
        <p:cxnSp>
          <p:nvCxnSpPr>
            <p:cNvPr id="66" name="直接连接符 65"/>
            <p:cNvCxnSpPr/>
            <p:nvPr/>
          </p:nvCxnSpPr>
          <p:spPr>
            <a:xfrm flipH="1" flipV="1">
              <a:off x="13539" y="6623"/>
              <a:ext cx="7" cy="563"/>
            </a:xfrm>
            <a:prstGeom prst="line">
              <a:avLst/>
            </a:prstGeom>
            <a:ln w="19050">
              <a:solidFill>
                <a:srgbClr val="8376B0"/>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p:nvPr/>
          </p:nvCxnSpPr>
          <p:spPr>
            <a:xfrm flipV="1">
              <a:off x="13529" y="6608"/>
              <a:ext cx="2325" cy="15"/>
            </a:xfrm>
            <a:prstGeom prst="line">
              <a:avLst/>
            </a:prstGeom>
            <a:ln w="19050">
              <a:solidFill>
                <a:srgbClr val="8376B0"/>
              </a:solidFill>
            </a:ln>
          </p:spPr>
          <p:style>
            <a:lnRef idx="2">
              <a:schemeClr val="accent1"/>
            </a:lnRef>
            <a:fillRef idx="0">
              <a:srgbClr val="FFFFFF"/>
            </a:fillRef>
            <a:effectRef idx="0">
              <a:srgbClr val="FFFFFF"/>
            </a:effectRef>
            <a:fontRef idx="minor">
              <a:schemeClr val="tx1"/>
            </a:fontRef>
          </p:style>
        </p:cxnSp>
        <p:cxnSp>
          <p:nvCxnSpPr>
            <p:cNvPr id="68" name="直接箭头连接符 67"/>
            <p:cNvCxnSpPr/>
            <p:nvPr/>
          </p:nvCxnSpPr>
          <p:spPr>
            <a:xfrm flipH="1" flipV="1">
              <a:off x="15839" y="6053"/>
              <a:ext cx="15" cy="555"/>
            </a:xfrm>
            <a:prstGeom prst="straightConnector1">
              <a:avLst/>
            </a:prstGeom>
            <a:ln w="19050">
              <a:solidFill>
                <a:srgbClr val="8376B0"/>
              </a:solidFill>
              <a:tailEnd type="arrow"/>
            </a:ln>
          </p:spPr>
          <p:style>
            <a:lnRef idx="2">
              <a:schemeClr val="accent1"/>
            </a:lnRef>
            <a:fillRef idx="0">
              <a:srgbClr val="FFFFFF"/>
            </a:fillRef>
            <a:effectRef idx="0">
              <a:srgbClr val="FFFFFF"/>
            </a:effectRef>
            <a:fontRef idx="minor">
              <a:schemeClr val="tx1"/>
            </a:fontRef>
          </p:style>
        </p:cxnSp>
      </p:grpSp>
      <p:cxnSp>
        <p:nvCxnSpPr>
          <p:cNvPr id="71" name="直接连接符 70"/>
          <p:cNvCxnSpPr>
            <a:stCxn id="70" idx="2"/>
          </p:cNvCxnSpPr>
          <p:nvPr/>
        </p:nvCxnSpPr>
        <p:spPr>
          <a:xfrm flipH="1">
            <a:off x="10927715" y="1921510"/>
            <a:ext cx="4445" cy="388620"/>
          </a:xfrm>
          <a:prstGeom prst="line">
            <a:avLst/>
          </a:prstGeom>
          <a:ln w="19050">
            <a:solidFill>
              <a:schemeClr val="accent5"/>
            </a:solidFill>
          </a:ln>
        </p:spPr>
        <p:style>
          <a:lnRef idx="2">
            <a:schemeClr val="accent1"/>
          </a:lnRef>
          <a:fillRef idx="0">
            <a:srgbClr val="FFFFFF"/>
          </a:fillRef>
          <a:effectRef idx="0">
            <a:srgbClr val="FFFFFF"/>
          </a:effectRef>
          <a:fontRef idx="minor">
            <a:schemeClr val="tx1"/>
          </a:fontRef>
        </p:style>
      </p:cxnSp>
      <p:cxnSp>
        <p:nvCxnSpPr>
          <p:cNvPr id="72" name="直接连接符 71"/>
          <p:cNvCxnSpPr/>
          <p:nvPr/>
        </p:nvCxnSpPr>
        <p:spPr>
          <a:xfrm flipH="1" flipV="1">
            <a:off x="10798175" y="2305685"/>
            <a:ext cx="137160" cy="3175"/>
          </a:xfrm>
          <a:prstGeom prst="line">
            <a:avLst/>
          </a:prstGeom>
          <a:ln w="19050">
            <a:solidFill>
              <a:schemeClr val="accent5"/>
            </a:solidFill>
          </a:ln>
        </p:spPr>
        <p:style>
          <a:lnRef idx="2">
            <a:schemeClr val="accent1"/>
          </a:lnRef>
          <a:fillRef idx="0">
            <a:srgbClr val="FFFFFF"/>
          </a:fillRef>
          <a:effectRef idx="0">
            <a:srgbClr val="FFFFFF"/>
          </a:effectRef>
          <a:fontRef idx="minor">
            <a:schemeClr val="tx1"/>
          </a:fontRef>
        </p:style>
      </p:cxnSp>
      <p:cxnSp>
        <p:nvCxnSpPr>
          <p:cNvPr id="73" name="直接箭头连接符 72"/>
          <p:cNvCxnSpPr/>
          <p:nvPr/>
        </p:nvCxnSpPr>
        <p:spPr>
          <a:xfrm flipH="1">
            <a:off x="10781665" y="2310130"/>
            <a:ext cx="9525" cy="495300"/>
          </a:xfrm>
          <a:prstGeom prst="straightConnector1">
            <a:avLst/>
          </a:prstGeom>
          <a:ln w="19050">
            <a:solidFill>
              <a:schemeClr val="accent5"/>
            </a:solidFill>
            <a:tailEnd type="arrow"/>
          </a:ln>
        </p:spPr>
        <p:style>
          <a:lnRef idx="2">
            <a:schemeClr val="accent1"/>
          </a:lnRef>
          <a:fillRef idx="0">
            <a:srgbClr val="FFFFFF"/>
          </a:fillRef>
          <a:effectRef idx="0">
            <a:srgbClr val="FFFFFF"/>
          </a:effectRef>
          <a:fontRef idx="minor">
            <a:schemeClr val="tx1"/>
          </a:fontRef>
        </p:style>
      </p:cxnSp>
      <p:grpSp>
        <p:nvGrpSpPr>
          <p:cNvPr id="4" name="组合 3"/>
          <p:cNvGrpSpPr/>
          <p:nvPr/>
        </p:nvGrpSpPr>
        <p:grpSpPr>
          <a:xfrm>
            <a:off x="10974705" y="3853180"/>
            <a:ext cx="666750" cy="699770"/>
            <a:chOff x="17283" y="6068"/>
            <a:chExt cx="1050" cy="1102"/>
          </a:xfrm>
        </p:grpSpPr>
        <p:cxnSp>
          <p:nvCxnSpPr>
            <p:cNvPr id="75" name="直接连接符 74"/>
            <p:cNvCxnSpPr/>
            <p:nvPr/>
          </p:nvCxnSpPr>
          <p:spPr>
            <a:xfrm flipH="1" flipV="1">
              <a:off x="17283" y="6578"/>
              <a:ext cx="3" cy="593"/>
            </a:xfrm>
            <a:prstGeom prst="line">
              <a:avLst/>
            </a:prstGeom>
            <a:ln w="19050">
              <a:solidFill>
                <a:srgbClr val="AE5B97"/>
              </a:solidFill>
            </a:ln>
          </p:spPr>
          <p:style>
            <a:lnRef idx="2">
              <a:schemeClr val="accent1"/>
            </a:lnRef>
            <a:fillRef idx="0">
              <a:srgbClr val="FFFFFF"/>
            </a:fillRef>
            <a:effectRef idx="0">
              <a:srgbClr val="FFFFFF"/>
            </a:effectRef>
            <a:fontRef idx="minor">
              <a:schemeClr val="tx1"/>
            </a:fontRef>
          </p:style>
        </p:cxnSp>
        <p:cxnSp>
          <p:nvCxnSpPr>
            <p:cNvPr id="76" name="直接连接符 75"/>
            <p:cNvCxnSpPr/>
            <p:nvPr/>
          </p:nvCxnSpPr>
          <p:spPr>
            <a:xfrm>
              <a:off x="17283" y="6578"/>
              <a:ext cx="1050" cy="0"/>
            </a:xfrm>
            <a:prstGeom prst="line">
              <a:avLst/>
            </a:prstGeom>
            <a:ln w="19050">
              <a:solidFill>
                <a:srgbClr val="AE5B97"/>
              </a:solidFill>
            </a:ln>
          </p:spPr>
          <p:style>
            <a:lnRef idx="2">
              <a:schemeClr val="accent1"/>
            </a:lnRef>
            <a:fillRef idx="0">
              <a:srgbClr val="FFFFFF"/>
            </a:fillRef>
            <a:effectRef idx="0">
              <a:srgbClr val="FFFFFF"/>
            </a:effectRef>
            <a:fontRef idx="minor">
              <a:schemeClr val="tx1"/>
            </a:fontRef>
          </p:style>
        </p:cxnSp>
        <p:cxnSp>
          <p:nvCxnSpPr>
            <p:cNvPr id="77" name="直接箭头连接符 76"/>
            <p:cNvCxnSpPr/>
            <p:nvPr/>
          </p:nvCxnSpPr>
          <p:spPr>
            <a:xfrm flipH="1" flipV="1">
              <a:off x="18318" y="6068"/>
              <a:ext cx="15" cy="495"/>
            </a:xfrm>
            <a:prstGeom prst="straightConnector1">
              <a:avLst/>
            </a:prstGeom>
            <a:ln w="19050">
              <a:solidFill>
                <a:srgbClr val="AE5B97"/>
              </a:solidFill>
              <a:tailEnd type="arrow"/>
            </a:ln>
          </p:spPr>
          <p:style>
            <a:lnRef idx="2">
              <a:schemeClr val="accent1"/>
            </a:lnRef>
            <a:fillRef idx="0">
              <a:srgbClr val="FFFFFF"/>
            </a:fillRef>
            <a:effectRef idx="0">
              <a:srgbClr val="FFFFFF"/>
            </a:effectRef>
            <a:fontRef idx="minor">
              <a:schemeClr val="tx1"/>
            </a:fontRef>
          </p:style>
        </p:cxnSp>
      </p:grpSp>
      <p:sp>
        <p:nvSpPr>
          <p:cNvPr id="2" name="文本框 1"/>
          <p:cNvSpPr txBox="1"/>
          <p:nvPr/>
        </p:nvSpPr>
        <p:spPr>
          <a:xfrm>
            <a:off x="7309485" y="2605405"/>
            <a:ext cx="4728845" cy="1376680"/>
          </a:xfrm>
          <a:prstGeom prst="rect">
            <a:avLst/>
          </a:prstGeom>
          <a:noFill/>
          <a:ln w="19050">
            <a:solidFill>
              <a:srgbClr val="55D5FF"/>
            </a:solidFill>
            <a:prstDash val="dash"/>
          </a:ln>
        </p:spPr>
        <p:txBody>
          <a:bodyPr wrap="square" rtlCol="0">
            <a:noAutofit/>
          </a:bodyPr>
          <a:p>
            <a:endParaRPr lang="zh-CN" altLang="en-US">
              <a:solidFill>
                <a:srgbClr val="55D5FF"/>
              </a:solidFill>
            </a:endParaRPr>
          </a:p>
        </p:txBody>
      </p:sp>
      <p:sp>
        <p:nvSpPr>
          <p:cNvPr id="5" name="文本占位符 1"/>
          <p:cNvSpPr>
            <a:spLocks noGrp="1"/>
          </p:cNvSpPr>
          <p:nvPr>
            <p:custDataLst>
              <p:tags r:id="rId8"/>
            </p:custDataLst>
          </p:nvPr>
        </p:nvSpPr>
        <p:spPr>
          <a:xfrm>
            <a:off x="230505" y="1339850"/>
            <a:ext cx="4511675" cy="130238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200000"/>
              </a:lnSpc>
              <a:spcBef>
                <a:spcPts val="0"/>
              </a:spcBef>
              <a:buNone/>
            </a:pPr>
            <a:r>
              <a:rPr lang="zh-CN" altLang="en-US" sz="1400" b="1" dirty="0">
                <a:solidFill>
                  <a:srgbClr val="FF0000"/>
                </a:solidFill>
                <a:latin typeface="Bodoni MT Black" panose="02070A03080606020203" pitchFamily="18" charset="0"/>
                <a:sym typeface="+mn-ea"/>
              </a:rPr>
              <a:t>总体设计</a:t>
            </a:r>
            <a:r>
              <a:rPr lang="zh-CN" altLang="en-US" sz="1400" b="1" dirty="0">
                <a:solidFill>
                  <a:schemeClr val="bg1"/>
                </a:solidFill>
                <a:latin typeface="Bodoni MT Black" panose="02070A03080606020203" pitchFamily="18" charset="0"/>
                <a:sym typeface="+mn-ea"/>
              </a:rPr>
              <a:t>通常由</a:t>
            </a:r>
            <a:r>
              <a:rPr lang="zh-CN" altLang="en-US" sz="1400" b="1" dirty="0">
                <a:solidFill>
                  <a:srgbClr val="55D5FF"/>
                </a:solidFill>
                <a:latin typeface="Bodoni MT Black" panose="02070A03080606020203" pitchFamily="18" charset="0"/>
                <a:sym typeface="+mn-ea"/>
              </a:rPr>
              <a:t>系统设计阶段</a:t>
            </a:r>
            <a:r>
              <a:rPr lang="zh-CN" altLang="en-US" sz="1400" b="1" dirty="0">
                <a:solidFill>
                  <a:schemeClr val="bg1"/>
                </a:solidFill>
                <a:latin typeface="Bodoni MT Black" panose="02070A03080606020203" pitchFamily="18" charset="0"/>
                <a:sym typeface="+mn-ea"/>
              </a:rPr>
              <a:t>和</a:t>
            </a:r>
            <a:r>
              <a:rPr lang="zh-CN" altLang="en-US" sz="1400" b="1" dirty="0">
                <a:solidFill>
                  <a:srgbClr val="55D5FF"/>
                </a:solidFill>
                <a:latin typeface="Bodoni MT Black" panose="02070A03080606020203" pitchFamily="18" charset="0"/>
                <a:sym typeface="+mn-ea"/>
              </a:rPr>
              <a:t>结构设计阶段</a:t>
            </a:r>
            <a:r>
              <a:rPr lang="zh-CN" altLang="en-US" sz="1400" b="1" dirty="0">
                <a:solidFill>
                  <a:schemeClr val="bg1"/>
                </a:solidFill>
                <a:latin typeface="Bodoni MT Black" panose="02070A03080606020203" pitchFamily="18" charset="0"/>
                <a:sym typeface="+mn-ea"/>
              </a:rPr>
              <a:t>组成。系统设计阶段确定系统的具体实现方案；结构设计阶段确定软件结构。</a:t>
            </a:r>
            <a:endParaRPr lang="zh-CN" altLang="en-US" sz="1400" b="1" dirty="0">
              <a:solidFill>
                <a:schemeClr val="bg1"/>
              </a:solidFill>
              <a:latin typeface="Bodoni MT Black" panose="02070A03080606020203" pitchFamily="18" charset="0"/>
              <a:sym typeface="+mn-ea"/>
            </a:endParaRPr>
          </a:p>
        </p:txBody>
      </p:sp>
    </p:spTree>
    <p:custDataLst>
      <p:tags r:id="rId9"/>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435245" y="375430"/>
            <a:ext cx="3960000" cy="882000"/>
          </a:xfrm>
        </p:spPr>
        <p:txBody>
          <a:bodyPr>
            <a:normAutofit/>
          </a:bodyPr>
          <a:lstStyle/>
          <a:p>
            <a:pPr algn="ctr"/>
            <a:r>
              <a:rPr lang="zh-CN" altLang="en-US" sz="2400" spc="150">
                <a:solidFill>
                  <a:schemeClr val="bg1"/>
                </a:solidFill>
                <a:cs typeface="微软雅黑" panose="020B0503020204020204" charset="-122"/>
                <a:sym typeface="+mn-lt"/>
              </a:rPr>
              <a:t>设计原理</a:t>
            </a:r>
            <a:endParaRPr lang="zh-CN" altLang="en-US" sz="2400" spc="150">
              <a:solidFill>
                <a:srgbClr val="55D5FF"/>
              </a:solidFill>
              <a:cs typeface="微软雅黑" panose="020B0503020204020204" charset="-122"/>
              <a:sym typeface="+mn-lt"/>
            </a:endParaRPr>
          </a:p>
        </p:txBody>
      </p:sp>
      <p:sp>
        <p:nvSpPr>
          <p:cNvPr id="6" name="文本占位符 1"/>
          <p:cNvSpPr>
            <a:spLocks noGrp="1"/>
          </p:cNvSpPr>
          <p:nvPr>
            <p:custDataLst>
              <p:tags r:id="rId2"/>
            </p:custDataLst>
          </p:nvPr>
        </p:nvSpPr>
        <p:spPr>
          <a:xfrm>
            <a:off x="246380" y="1257300"/>
            <a:ext cx="4337050" cy="302196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r>
              <a:rPr lang="en-US" altLang="zh-CN" sz="1400" b="1" dirty="0">
                <a:latin typeface="微软雅黑" panose="020B0503020204020204" charset="-122"/>
                <a:cs typeface="微软雅黑" panose="020B0503020204020204" charset="-122"/>
                <a:sym typeface="+mn-ea"/>
              </a:rPr>
              <a:t>     </a:t>
            </a:r>
            <a:r>
              <a:rPr lang="en-US" altLang="zh-CN" sz="1400" b="1" dirty="0">
                <a:solidFill>
                  <a:srgbClr val="FF0000"/>
                </a:solidFill>
                <a:latin typeface="微软雅黑" panose="020B0503020204020204" charset="-122"/>
                <a:cs typeface="微软雅黑" panose="020B0503020204020204" charset="-122"/>
                <a:sym typeface="+mn-ea"/>
              </a:rPr>
              <a:t> </a:t>
            </a:r>
            <a:r>
              <a:rPr lang="zh-CN" altLang="en-US" sz="1400" b="1" dirty="0">
                <a:solidFill>
                  <a:srgbClr val="FF0000"/>
                </a:solidFill>
                <a:latin typeface="微软雅黑" panose="020B0503020204020204" charset="-122"/>
                <a:cs typeface="微软雅黑" panose="020B0503020204020204" charset="-122"/>
                <a:sym typeface="+mn-ea"/>
              </a:rPr>
              <a:t>模块化</a:t>
            </a:r>
            <a:r>
              <a:rPr lang="zh-CN" altLang="en-US" sz="1400" b="1" dirty="0">
                <a:latin typeface="微软雅黑" panose="020B0503020204020204" charset="-122"/>
                <a:cs typeface="微软雅黑" panose="020B0503020204020204" charset="-122"/>
                <a:sym typeface="+mn-ea"/>
              </a:rPr>
              <a:t>是一种将系统或产品分解为相互独立、可以独立设计、开发、测试和维护的</a:t>
            </a:r>
            <a:r>
              <a:rPr lang="zh-CN" altLang="en-US" sz="1400" b="1" dirty="0">
                <a:solidFill>
                  <a:srgbClr val="FFFF00"/>
                </a:solidFill>
                <a:latin typeface="微软雅黑" panose="020B0503020204020204" charset="-122"/>
                <a:cs typeface="微软雅黑" panose="020B0503020204020204" charset="-122"/>
                <a:sym typeface="+mn-ea"/>
              </a:rPr>
              <a:t>模块</a:t>
            </a:r>
            <a:r>
              <a:rPr lang="zh-CN" altLang="en-US" sz="1400" b="1" dirty="0">
                <a:latin typeface="微软雅黑" panose="020B0503020204020204" charset="-122"/>
                <a:cs typeface="微软雅黑" panose="020B0503020204020204" charset="-122"/>
                <a:sym typeface="+mn-ea"/>
              </a:rPr>
              <a:t>（组件、服务等）的过程。</a:t>
            </a:r>
            <a:endParaRPr lang="zh-CN" altLang="en-US" sz="1400" b="1" dirty="0">
              <a:latin typeface="微软雅黑" panose="020B0503020204020204" charset="-122"/>
              <a:cs typeface="微软雅黑" panose="020B0503020204020204" charset="-122"/>
              <a:sym typeface="+mn-ea"/>
            </a:endParaRPr>
          </a:p>
          <a:p>
            <a:pPr marL="0" algn="l">
              <a:lnSpc>
                <a:spcPct val="160000"/>
              </a:lnSpc>
              <a:spcBef>
                <a:spcPts val="0"/>
              </a:spcBef>
              <a:buClrTx/>
              <a:buSzTx/>
              <a:buNone/>
            </a:pPr>
            <a:r>
              <a:rPr lang="zh-CN" altLang="en-US" sz="1400" b="1" dirty="0">
                <a:latin typeface="微软雅黑" panose="020B0503020204020204" charset="-122"/>
                <a:cs typeface="微软雅黑" panose="020B0503020204020204" charset="-122"/>
                <a:sym typeface="+mn-ea"/>
              </a:rPr>
              <a:t>‌      在软件开发中，模块化设计将一个</a:t>
            </a:r>
            <a:r>
              <a:rPr lang="zh-CN" altLang="en-US" sz="1400" b="1" dirty="0">
                <a:solidFill>
                  <a:srgbClr val="55D5FF"/>
                </a:solidFill>
                <a:latin typeface="微软雅黑" panose="020B0503020204020204" charset="-122"/>
                <a:cs typeface="微软雅黑" panose="020B0503020204020204" charset="-122"/>
                <a:sym typeface="+mn-ea"/>
              </a:rPr>
              <a:t>大型软件系统</a:t>
            </a:r>
            <a:r>
              <a:rPr lang="zh-CN" altLang="en-US" sz="1400" b="1" dirty="0">
                <a:latin typeface="微软雅黑" panose="020B0503020204020204" charset="-122"/>
                <a:cs typeface="微软雅黑" panose="020B0503020204020204" charset="-122"/>
                <a:sym typeface="+mn-ea"/>
              </a:rPr>
              <a:t>划分为多个独立的模块，每个模块完成一个子功能，并通过</a:t>
            </a:r>
            <a:r>
              <a:rPr lang="zh-CN" altLang="en-US" sz="1400" b="1" dirty="0">
                <a:solidFill>
                  <a:srgbClr val="FF0000"/>
                </a:solidFill>
                <a:latin typeface="微软雅黑" panose="020B0503020204020204" charset="-122"/>
                <a:cs typeface="微软雅黑" panose="020B0503020204020204" charset="-122"/>
                <a:sym typeface="+mn-ea"/>
              </a:rPr>
              <a:t>接口</a:t>
            </a:r>
            <a:r>
              <a:rPr lang="zh-CN" altLang="en-US" sz="1400" b="1" dirty="0">
                <a:latin typeface="微软雅黑" panose="020B0503020204020204" charset="-122"/>
                <a:cs typeface="微软雅黑" panose="020B0503020204020204" charset="-122"/>
                <a:sym typeface="+mn-ea"/>
              </a:rPr>
              <a:t>与其他模块进行通信。这种设计模式使软件</a:t>
            </a:r>
            <a:r>
              <a:rPr lang="zh-CN" altLang="en-US" sz="1400" b="1" dirty="0">
                <a:solidFill>
                  <a:srgbClr val="FFFF00"/>
                </a:solidFill>
                <a:latin typeface="微软雅黑" panose="020B0503020204020204" charset="-122"/>
                <a:cs typeface="微软雅黑" panose="020B0503020204020204" charset="-122"/>
                <a:sym typeface="+mn-ea"/>
              </a:rPr>
              <a:t>易测试、易调试、易测试</a:t>
            </a:r>
            <a:r>
              <a:rPr lang="zh-CN" altLang="en-US" sz="1400" b="1" dirty="0">
                <a:latin typeface="微软雅黑" panose="020B0503020204020204" charset="-122"/>
                <a:cs typeface="微软雅黑" panose="020B0503020204020204" charset="-122"/>
                <a:sym typeface="+mn-ea"/>
              </a:rPr>
              <a:t>，其意义在于最大化</a:t>
            </a:r>
            <a:r>
              <a:rPr lang="zh-CN" altLang="en-US" sz="1400" b="1" dirty="0">
                <a:solidFill>
                  <a:srgbClr val="FF0000"/>
                </a:solidFill>
                <a:latin typeface="微软雅黑" panose="020B0503020204020204" charset="-122"/>
                <a:cs typeface="微软雅黑" panose="020B0503020204020204" charset="-122"/>
                <a:sym typeface="+mn-ea"/>
              </a:rPr>
              <a:t>重用设计</a:t>
            </a:r>
            <a:r>
              <a:rPr lang="zh-CN" altLang="en-US" sz="1400" b="1" dirty="0">
                <a:latin typeface="微软雅黑" panose="020B0503020204020204" charset="-122"/>
                <a:cs typeface="微软雅黑" panose="020B0503020204020204" charset="-122"/>
                <a:sym typeface="+mn-ea"/>
              </a:rPr>
              <a:t>，以最少的模块及零部件满足更多的个性化需求。</a:t>
            </a:r>
            <a:endParaRPr lang="zh-CN" altLang="en-US" sz="1400" b="1" dirty="0">
              <a:latin typeface="微软雅黑" panose="020B0503020204020204" charset="-122"/>
              <a:cs typeface="微软雅黑" panose="020B0503020204020204" charset="-122"/>
              <a:sym typeface="+mn-ea"/>
            </a:endParaRPr>
          </a:p>
          <a:p>
            <a:pPr marL="0" indent="0">
              <a:lnSpc>
                <a:spcPct val="210000"/>
              </a:lnSpc>
              <a:spcBef>
                <a:spcPts val="0"/>
              </a:spcBef>
              <a:buNone/>
            </a:pPr>
            <a:endParaRPr lang="zh-CN" altLang="en-US" sz="1400" dirty="0">
              <a:latin typeface="微软雅黑" panose="020B0503020204020204" charset="-122"/>
              <a:cs typeface="微软雅黑" panose="020B0503020204020204" charset="-122"/>
              <a:sym typeface="+mn-ea"/>
            </a:endParaRPr>
          </a:p>
        </p:txBody>
      </p:sp>
      <p:sp>
        <p:nvSpPr>
          <p:cNvPr id="2" name="文本框 1"/>
          <p:cNvSpPr txBox="1"/>
          <p:nvPr/>
        </p:nvSpPr>
        <p:spPr>
          <a:xfrm>
            <a:off x="4931410" y="472440"/>
            <a:ext cx="7259320" cy="2528570"/>
          </a:xfrm>
          <a:prstGeom prst="rect">
            <a:avLst/>
          </a:prstGeom>
          <a:noFill/>
        </p:spPr>
        <p:txBody>
          <a:bodyPr wrap="square" rtlCol="0">
            <a:noAutofit/>
          </a:bodyPr>
          <a:p>
            <a:pPr algn="l">
              <a:lnSpc>
                <a:spcPct val="140000"/>
              </a:lnSpc>
              <a:spcBef>
                <a:spcPts val="0"/>
              </a:spcBef>
              <a:spcAft>
                <a:spcPts val="1000"/>
              </a:spcAft>
              <a:buClrTx/>
              <a:buSzTx/>
              <a:buFont typeface="Arial" panose="020B0604020202020204" pitchFamily="34" charset="0"/>
            </a:pPr>
            <a:r>
              <a:rPr lang="zh-CN" altLang="en-US" sz="1400" b="1" dirty="0">
                <a:solidFill>
                  <a:srgbClr val="FF0000"/>
                </a:solidFill>
                <a:uFillTx/>
                <a:latin typeface="+mj-ea"/>
                <a:ea typeface="+mj-ea"/>
                <a:cs typeface="+mj-ea"/>
              </a:rPr>
              <a:t> </a:t>
            </a:r>
            <a:r>
              <a:rPr lang="en-US" altLang="zh-CN" sz="1400" b="1" dirty="0">
                <a:solidFill>
                  <a:srgbClr val="FF0000"/>
                </a:solidFill>
                <a:uFillTx/>
                <a:latin typeface="+mj-ea"/>
                <a:ea typeface="+mj-ea"/>
                <a:cs typeface="+mj-ea"/>
              </a:rPr>
              <a:t>    </a:t>
            </a:r>
            <a:r>
              <a:rPr lang="zh-CN" altLang="en-US" sz="1400" b="1" dirty="0">
                <a:latin typeface="+mj-ea"/>
                <a:ea typeface="+mj-ea"/>
                <a:cs typeface="+mj-ea"/>
                <a:sym typeface="+mn-ea"/>
              </a:rPr>
              <a:t>函数</a:t>
            </a:r>
            <a:r>
              <a:rPr lang="en-US" altLang="zh-CN" sz="1400" b="1" dirty="0">
                <a:latin typeface="+mj-ea"/>
                <a:ea typeface="+mj-ea"/>
                <a:cs typeface="+mj-ea"/>
                <a:sym typeface="+mn-ea"/>
              </a:rPr>
              <a:t>C(x)</a:t>
            </a:r>
            <a:r>
              <a:rPr lang="zh-CN" altLang="en-US" sz="1400" b="1" dirty="0">
                <a:latin typeface="+mj-ea"/>
                <a:ea typeface="+mj-ea"/>
                <a:cs typeface="+mj-ea"/>
                <a:sym typeface="+mn-ea"/>
              </a:rPr>
              <a:t>定义问题</a:t>
            </a:r>
            <a:r>
              <a:rPr lang="en-US" altLang="zh-CN" sz="1400" b="1" dirty="0">
                <a:latin typeface="+mj-ea"/>
                <a:ea typeface="+mj-ea"/>
                <a:cs typeface="+mj-ea"/>
                <a:sym typeface="+mn-ea"/>
              </a:rPr>
              <a:t>x</a:t>
            </a:r>
            <a:r>
              <a:rPr lang="zh-CN" altLang="en-US" sz="1400" b="1" dirty="0">
                <a:latin typeface="+mj-ea"/>
                <a:ea typeface="+mj-ea"/>
                <a:cs typeface="+mj-ea"/>
                <a:sym typeface="+mn-ea"/>
              </a:rPr>
              <a:t>的</a:t>
            </a:r>
            <a:r>
              <a:rPr lang="zh-CN" altLang="en-US" sz="1400" b="1" dirty="0">
                <a:solidFill>
                  <a:srgbClr val="00B0F0"/>
                </a:solidFill>
                <a:latin typeface="+mj-ea"/>
                <a:ea typeface="+mj-ea"/>
                <a:cs typeface="+mj-ea"/>
                <a:sym typeface="+mn-ea"/>
              </a:rPr>
              <a:t>复杂程度</a:t>
            </a:r>
            <a:r>
              <a:rPr lang="zh-CN" altLang="en-US" sz="1400" b="1" dirty="0">
                <a:latin typeface="+mj-ea"/>
                <a:ea typeface="+mj-ea"/>
                <a:cs typeface="+mj-ea"/>
                <a:sym typeface="+mn-ea"/>
              </a:rPr>
              <a:t>，函数</a:t>
            </a:r>
            <a:r>
              <a:rPr lang="en-US" altLang="zh-CN" sz="1400" b="1" dirty="0">
                <a:latin typeface="+mj-ea"/>
                <a:ea typeface="+mj-ea"/>
                <a:cs typeface="+mj-ea"/>
                <a:sym typeface="+mn-ea"/>
              </a:rPr>
              <a:t>E(x)</a:t>
            </a:r>
            <a:r>
              <a:rPr lang="zh-CN" altLang="en-US" sz="1400" b="1" dirty="0">
                <a:latin typeface="+mj-ea"/>
                <a:ea typeface="+mj-ea"/>
                <a:cs typeface="+mj-ea"/>
                <a:sym typeface="+mn-ea"/>
              </a:rPr>
              <a:t>确定解决问题</a:t>
            </a:r>
            <a:r>
              <a:rPr lang="en-US" altLang="zh-CN" sz="1400" b="1" dirty="0">
                <a:latin typeface="+mj-ea"/>
                <a:ea typeface="+mj-ea"/>
                <a:cs typeface="+mj-ea"/>
                <a:sym typeface="+mn-ea"/>
              </a:rPr>
              <a:t>x</a:t>
            </a:r>
            <a:r>
              <a:rPr lang="zh-CN" altLang="en-US" sz="1400" b="1" dirty="0">
                <a:latin typeface="+mj-ea"/>
                <a:ea typeface="+mj-ea"/>
                <a:cs typeface="+mj-ea"/>
                <a:sym typeface="+mn-ea"/>
              </a:rPr>
              <a:t>需要的</a:t>
            </a:r>
            <a:r>
              <a:rPr lang="zh-CN" altLang="en-US" sz="1400" b="1" dirty="0" smtClean="0">
                <a:solidFill>
                  <a:srgbClr val="00B0F0"/>
                </a:solidFill>
                <a:latin typeface="+mj-ea"/>
                <a:ea typeface="+mj-ea"/>
                <a:cs typeface="+mj-ea"/>
                <a:sym typeface="+mn-ea"/>
              </a:rPr>
              <a:t>工作量</a:t>
            </a:r>
            <a:r>
              <a:rPr lang="zh-CN" altLang="en-US" sz="1400" b="1" dirty="0" smtClean="0">
                <a:latin typeface="+mj-ea"/>
                <a:ea typeface="+mj-ea"/>
                <a:cs typeface="+mj-ea"/>
                <a:sym typeface="+mn-ea"/>
              </a:rPr>
              <a:t>（时间）。</a:t>
            </a:r>
            <a:r>
              <a:rPr lang="zh-CN" altLang="en-US" sz="1400" b="1" dirty="0">
                <a:latin typeface="+mj-ea"/>
                <a:ea typeface="+mj-ea"/>
                <a:cs typeface="+mj-ea"/>
                <a:sym typeface="+mn-ea"/>
              </a:rPr>
              <a:t>对于两个问题</a:t>
            </a:r>
            <a:r>
              <a:rPr lang="en-US" altLang="zh-CN" sz="1400" b="1" dirty="0">
                <a:latin typeface="+mj-ea"/>
                <a:ea typeface="+mj-ea"/>
                <a:cs typeface="+mj-ea"/>
                <a:sym typeface="+mn-ea"/>
              </a:rPr>
              <a:t>P1</a:t>
            </a:r>
            <a:r>
              <a:rPr lang="zh-CN" altLang="en-US" sz="1400" b="1" dirty="0">
                <a:latin typeface="+mj-ea"/>
                <a:ea typeface="+mj-ea"/>
                <a:cs typeface="+mj-ea"/>
                <a:sym typeface="+mn-ea"/>
              </a:rPr>
              <a:t>和</a:t>
            </a:r>
            <a:r>
              <a:rPr lang="en-US" altLang="zh-CN" sz="1400" b="1" dirty="0" smtClean="0">
                <a:latin typeface="+mj-ea"/>
                <a:ea typeface="+mj-ea"/>
                <a:cs typeface="+mj-ea"/>
                <a:sym typeface="+mn-ea"/>
              </a:rPr>
              <a:t>P2</a:t>
            </a:r>
            <a:r>
              <a:rPr lang="zh-CN" altLang="en-US" sz="1400" b="1" dirty="0" smtClean="0">
                <a:latin typeface="+mj-ea"/>
                <a:ea typeface="+mj-ea"/>
                <a:cs typeface="+mj-ea"/>
                <a:sym typeface="+mn-ea"/>
              </a:rPr>
              <a:t>，如果</a:t>
            </a:r>
            <a:r>
              <a:rPr lang="en-US" altLang="zh-CN" sz="1400" b="1" dirty="0" smtClean="0">
                <a:latin typeface="+mj-ea"/>
                <a:ea typeface="+mj-ea"/>
                <a:cs typeface="+mj-ea"/>
                <a:sym typeface="+mn-ea"/>
              </a:rPr>
              <a:t>C(P1</a:t>
            </a:r>
            <a:r>
              <a:rPr lang="en-US" altLang="zh-CN" sz="1400" b="1" dirty="0">
                <a:latin typeface="+mj-ea"/>
                <a:ea typeface="+mj-ea"/>
                <a:cs typeface="+mj-ea"/>
                <a:sym typeface="+mn-ea"/>
              </a:rPr>
              <a:t>)&gt;C(P2</a:t>
            </a:r>
            <a:r>
              <a:rPr lang="en-US" altLang="zh-CN" sz="1400" b="1" dirty="0" smtClean="0">
                <a:latin typeface="+mj-ea"/>
                <a:ea typeface="+mj-ea"/>
                <a:cs typeface="+mj-ea"/>
                <a:sym typeface="+mn-ea"/>
              </a:rPr>
              <a:t>)</a:t>
            </a:r>
            <a:r>
              <a:rPr lang="zh-CN" altLang="en-US" sz="1400" b="1" dirty="0" smtClean="0">
                <a:latin typeface="+mj-ea"/>
                <a:ea typeface="+mj-ea"/>
                <a:cs typeface="+mj-ea"/>
                <a:sym typeface="+mn-ea"/>
              </a:rPr>
              <a:t>，</a:t>
            </a:r>
            <a:r>
              <a:rPr lang="zh-CN" sz="1400" b="1" dirty="0" smtClean="0">
                <a:latin typeface="+mj-ea"/>
                <a:ea typeface="+mj-ea"/>
                <a:cs typeface="+mj-ea"/>
                <a:sym typeface="+mn-ea"/>
              </a:rPr>
              <a:t>则</a:t>
            </a:r>
            <a:r>
              <a:rPr lang="en-US" altLang="zh-CN" sz="1400" b="1" dirty="0" smtClean="0">
                <a:latin typeface="+mj-ea"/>
                <a:ea typeface="+mj-ea"/>
                <a:cs typeface="+mj-ea"/>
                <a:sym typeface="+mn-ea"/>
              </a:rPr>
              <a:t> E(P1</a:t>
            </a:r>
            <a:r>
              <a:rPr lang="en-US" altLang="zh-CN" sz="1400" b="1" dirty="0">
                <a:latin typeface="+mj-ea"/>
                <a:ea typeface="+mj-ea"/>
                <a:cs typeface="+mj-ea"/>
                <a:sym typeface="+mn-ea"/>
              </a:rPr>
              <a:t>)&gt;E(P2</a:t>
            </a:r>
            <a:r>
              <a:rPr lang="en-US" altLang="zh-CN" sz="1400" b="1" dirty="0" smtClean="0">
                <a:latin typeface="+mj-ea"/>
                <a:ea typeface="+mj-ea"/>
                <a:cs typeface="+mj-ea"/>
                <a:sym typeface="+mn-ea"/>
              </a:rPr>
              <a:t>)</a:t>
            </a:r>
            <a:r>
              <a:rPr lang="zh-CN" altLang="en-US" sz="1400" b="1" dirty="0" smtClean="0">
                <a:latin typeface="+mj-ea"/>
                <a:ea typeface="+mj-ea"/>
                <a:cs typeface="+mj-ea"/>
                <a:sym typeface="+mn-ea"/>
              </a:rPr>
              <a:t>。</a:t>
            </a:r>
            <a:endParaRPr lang="en-US" altLang="zh-CN" sz="1400" b="1" dirty="0" smtClean="0">
              <a:latin typeface="+mj-ea"/>
              <a:ea typeface="+mj-ea"/>
              <a:cs typeface="+mj-ea"/>
            </a:endParaRPr>
          </a:p>
          <a:p>
            <a:pPr marL="0" indent="0" eaLnBrk="1" hangingPunct="1">
              <a:lnSpc>
                <a:spcPct val="140000"/>
              </a:lnSpc>
              <a:defRPr/>
            </a:pPr>
            <a:r>
              <a:rPr lang="en-US" altLang="zh-CN" sz="1400" b="1" dirty="0" smtClean="0">
                <a:latin typeface="+mj-ea"/>
                <a:ea typeface="+mj-ea"/>
                <a:cs typeface="+mj-ea"/>
                <a:sym typeface="+mn-ea"/>
              </a:rPr>
              <a:t>     </a:t>
            </a:r>
            <a:r>
              <a:rPr lang="zh-CN" altLang="en-US" sz="1400" b="1" dirty="0" smtClean="0">
                <a:latin typeface="+mj-ea"/>
                <a:ea typeface="+mj-ea"/>
                <a:cs typeface="+mj-ea"/>
                <a:sym typeface="+mn-ea"/>
              </a:rPr>
              <a:t>根据</a:t>
            </a:r>
            <a:r>
              <a:rPr lang="zh-CN" altLang="en-US" sz="1400" b="1" dirty="0">
                <a:latin typeface="+mj-ea"/>
                <a:ea typeface="+mj-ea"/>
                <a:cs typeface="+mj-ea"/>
                <a:sym typeface="+mn-ea"/>
              </a:rPr>
              <a:t>人类解决一般问题的经验，另一个有趣的规律</a:t>
            </a:r>
            <a:r>
              <a:rPr lang="zh-CN" altLang="en-US" sz="1400" b="1" dirty="0" smtClean="0">
                <a:latin typeface="+mj-ea"/>
                <a:ea typeface="+mj-ea"/>
                <a:cs typeface="+mj-ea"/>
                <a:sym typeface="+mn-ea"/>
              </a:rPr>
              <a:t>是</a:t>
            </a:r>
            <a:endParaRPr lang="en-US" altLang="zh-CN" sz="1400" b="1" dirty="0" smtClean="0">
              <a:latin typeface="+mj-ea"/>
              <a:ea typeface="+mj-ea"/>
              <a:cs typeface="+mj-ea"/>
            </a:endParaRPr>
          </a:p>
          <a:p>
            <a:pPr marL="0" indent="0" algn="ctr" eaLnBrk="1" hangingPunct="1">
              <a:lnSpc>
                <a:spcPct val="140000"/>
              </a:lnSpc>
              <a:defRPr/>
            </a:pPr>
            <a:r>
              <a:rPr lang="en-US" altLang="zh-CN" sz="1400" b="1" dirty="0" smtClean="0">
                <a:solidFill>
                  <a:srgbClr val="FF0000"/>
                </a:solidFill>
                <a:latin typeface="+mj-ea"/>
                <a:ea typeface="+mj-ea"/>
                <a:cs typeface="+mj-ea"/>
                <a:sym typeface="+mn-ea"/>
              </a:rPr>
              <a:t>C(P1+P2</a:t>
            </a:r>
            <a:r>
              <a:rPr lang="en-US" altLang="zh-CN" sz="1400" b="1" dirty="0">
                <a:solidFill>
                  <a:srgbClr val="FF0000"/>
                </a:solidFill>
                <a:latin typeface="+mj-ea"/>
                <a:ea typeface="+mj-ea"/>
                <a:cs typeface="+mj-ea"/>
                <a:sym typeface="+mn-ea"/>
              </a:rPr>
              <a:t>)&gt;C(P1)+C(P2</a:t>
            </a:r>
            <a:r>
              <a:rPr lang="en-US" altLang="zh-CN" sz="1400" b="1" dirty="0" smtClean="0">
                <a:solidFill>
                  <a:srgbClr val="FF0000"/>
                </a:solidFill>
                <a:latin typeface="+mj-ea"/>
                <a:ea typeface="+mj-ea"/>
                <a:cs typeface="+mj-ea"/>
                <a:sym typeface="+mn-ea"/>
              </a:rPr>
              <a:t>)</a:t>
            </a:r>
            <a:endParaRPr lang="en-US" altLang="zh-CN" sz="1400" b="1" dirty="0" smtClean="0">
              <a:solidFill>
                <a:srgbClr val="FF0000"/>
              </a:solidFill>
              <a:latin typeface="+mj-ea"/>
              <a:ea typeface="+mj-ea"/>
              <a:cs typeface="+mj-ea"/>
              <a:sym typeface="+mn-ea"/>
            </a:endParaRPr>
          </a:p>
          <a:p>
            <a:pPr marL="0" algn="ctr" eaLnBrk="1" hangingPunct="1">
              <a:lnSpc>
                <a:spcPct val="140000"/>
              </a:lnSpc>
              <a:buClrTx/>
              <a:buSzTx/>
              <a:buFontTx/>
              <a:defRPr/>
            </a:pPr>
            <a:r>
              <a:rPr lang="en-US" altLang="zh-CN" sz="1400" b="1" dirty="0" smtClean="0">
                <a:solidFill>
                  <a:srgbClr val="FF0000"/>
                </a:solidFill>
                <a:latin typeface="+mj-ea"/>
                <a:ea typeface="+mj-ea"/>
                <a:cs typeface="+mj-ea"/>
                <a:sym typeface="+mn-ea"/>
              </a:rPr>
              <a:t>E(P1+P2)&gt;E(P1)+E(P2)</a:t>
            </a:r>
            <a:endParaRPr lang="en-US" altLang="zh-CN" sz="1400" b="1" dirty="0" smtClean="0">
              <a:solidFill>
                <a:srgbClr val="FF0000"/>
              </a:solidFill>
              <a:latin typeface="+mj-ea"/>
              <a:ea typeface="+mj-ea"/>
              <a:cs typeface="+mj-ea"/>
            </a:endParaRPr>
          </a:p>
          <a:p>
            <a:pPr marL="0" algn="l" eaLnBrk="1" hangingPunct="1">
              <a:lnSpc>
                <a:spcPct val="140000"/>
              </a:lnSpc>
              <a:spcBef>
                <a:spcPts val="0"/>
              </a:spcBef>
              <a:spcAft>
                <a:spcPts val="1000"/>
              </a:spcAft>
              <a:buClrTx/>
              <a:buSzTx/>
              <a:buFont typeface="Arial" panose="020B0604020202020204" pitchFamily="34" charset="0"/>
            </a:pPr>
            <a:r>
              <a:rPr lang="zh-CN" altLang="en-US" sz="1400" b="1" dirty="0">
                <a:latin typeface="+mj-ea"/>
                <a:ea typeface="+mj-ea"/>
                <a:cs typeface="+mj-ea"/>
                <a:sym typeface="+mn-ea"/>
              </a:rPr>
              <a:t>这个不等式导致</a:t>
            </a:r>
            <a:r>
              <a:rPr lang="zh-CN" altLang="en-US" sz="1400" b="1" dirty="0">
                <a:solidFill>
                  <a:srgbClr val="FF0000"/>
                </a:solidFill>
                <a:latin typeface="+mj-ea"/>
                <a:ea typeface="+mj-ea"/>
                <a:cs typeface="+mj-ea"/>
                <a:sym typeface="+mn-ea"/>
              </a:rPr>
              <a:t>“各个击破”</a:t>
            </a:r>
            <a:r>
              <a:rPr lang="zh-CN" altLang="en-US" sz="1400" b="1" dirty="0">
                <a:latin typeface="+mj-ea"/>
                <a:ea typeface="+mj-ea"/>
                <a:cs typeface="+mj-ea"/>
                <a:sym typeface="+mn-ea"/>
              </a:rPr>
              <a:t>的结论——把复杂的问题分解成许多容易解决的小问题，原来的问题也就容易解决了。这就是模块化的根据。</a:t>
            </a:r>
            <a:endParaRPr lang="zh-CN" altLang="en-US" sz="1400" b="1" dirty="0">
              <a:latin typeface="+mj-ea"/>
              <a:ea typeface="+mj-ea"/>
              <a:cs typeface="+mj-ea"/>
            </a:endParaRPr>
          </a:p>
          <a:p>
            <a:pPr marL="0" algn="l" eaLnBrk="1" hangingPunct="1">
              <a:lnSpc>
                <a:spcPct val="140000"/>
              </a:lnSpc>
              <a:spcBef>
                <a:spcPts val="0"/>
              </a:spcBef>
              <a:spcAft>
                <a:spcPts val="1000"/>
              </a:spcAft>
              <a:buClrTx/>
              <a:buSzTx/>
              <a:buFont typeface="Arial" panose="020B0604020202020204" pitchFamily="34" charset="0"/>
            </a:pPr>
            <a:endParaRPr lang="zh-CN" altLang="en-US" sz="1400" b="1" dirty="0">
              <a:latin typeface="+mj-ea"/>
              <a:ea typeface="+mj-ea"/>
              <a:cs typeface="+mj-ea"/>
            </a:endParaRPr>
          </a:p>
          <a:p>
            <a:pPr algn="l">
              <a:lnSpc>
                <a:spcPct val="140000"/>
              </a:lnSpc>
              <a:spcBef>
                <a:spcPts val="0"/>
              </a:spcBef>
              <a:spcAft>
                <a:spcPts val="1000"/>
              </a:spcAft>
              <a:buClrTx/>
              <a:buSzTx/>
              <a:buFont typeface="Arial" panose="020B0604020202020204" pitchFamily="34" charset="0"/>
            </a:pPr>
            <a:endParaRPr lang="zh-CN" altLang="en-US" sz="1400" b="1" dirty="0">
              <a:latin typeface="+mj-ea"/>
              <a:ea typeface="+mj-ea"/>
              <a:cs typeface="+mj-ea"/>
            </a:endParaRPr>
          </a:p>
        </p:txBody>
      </p:sp>
      <p:pic>
        <p:nvPicPr>
          <p:cNvPr id="38916" name="图片 1"/>
          <p:cNvPicPr>
            <a:picLocks noChangeAspect="1"/>
          </p:cNvPicPr>
          <p:nvPr/>
        </p:nvPicPr>
        <p:blipFill>
          <a:blip r:embed="rId3" cstate="print"/>
          <a:srcRect/>
          <a:stretch>
            <a:fillRect/>
          </a:stretch>
        </p:blipFill>
        <p:spPr bwMode="auto">
          <a:xfrm>
            <a:off x="4932045" y="3429000"/>
            <a:ext cx="3288030" cy="2317115"/>
          </a:xfrm>
          <a:prstGeom prst="rect">
            <a:avLst/>
          </a:prstGeom>
          <a:noFill/>
          <a:ln w="9525">
            <a:noFill/>
            <a:miter lim="800000"/>
            <a:headEnd/>
            <a:tailEnd/>
          </a:ln>
        </p:spPr>
      </p:pic>
      <p:sp>
        <p:nvSpPr>
          <p:cNvPr id="7" name="文本框 6"/>
          <p:cNvSpPr txBox="1"/>
          <p:nvPr/>
        </p:nvSpPr>
        <p:spPr>
          <a:xfrm>
            <a:off x="8361680" y="3108960"/>
            <a:ext cx="3829685" cy="3743325"/>
          </a:xfrm>
          <a:prstGeom prst="rect">
            <a:avLst/>
          </a:prstGeom>
          <a:solidFill>
            <a:schemeClr val="accent1">
              <a:lumMod val="40000"/>
              <a:lumOff val="60000"/>
            </a:schemeClr>
          </a:solidFill>
          <a:ln>
            <a:solidFill>
              <a:schemeClr val="tx2"/>
            </a:solidFill>
          </a:ln>
        </p:spPr>
        <p:txBody>
          <a:bodyPr wrap="square" rtlCol="0">
            <a:noAutofit/>
          </a:bodyPr>
          <a:p>
            <a:pPr marL="0" algn="l" eaLnBrk="1" hangingPunct="1">
              <a:lnSpc>
                <a:spcPct val="190000"/>
              </a:lnSpc>
              <a:spcBef>
                <a:spcPts val="0"/>
              </a:spcBef>
              <a:spcAft>
                <a:spcPts val="1000"/>
              </a:spcAft>
              <a:buClrTx/>
              <a:buSzTx/>
              <a:buFont typeface="Arial" panose="020B0604020202020204" pitchFamily="34" charset="0"/>
            </a:pPr>
            <a:r>
              <a:rPr lang="en-US" altLang="zh-CN" sz="1400" b="1" dirty="0">
                <a:latin typeface="+mj-ea"/>
                <a:ea typeface="+mj-ea"/>
                <a:cs typeface="+mj-ea"/>
                <a:sym typeface="+mn-ea"/>
              </a:rPr>
              <a:t>      </a:t>
            </a:r>
            <a:r>
              <a:rPr lang="zh-CN" altLang="en-US" sz="1400" b="1" dirty="0">
                <a:latin typeface="+mj-ea"/>
                <a:ea typeface="+mj-ea"/>
                <a:cs typeface="+mj-ea"/>
                <a:sym typeface="+mn-ea"/>
              </a:rPr>
              <a:t>然而</a:t>
            </a:r>
            <a:r>
              <a:rPr lang="zh-CN" altLang="en-US" sz="1400" b="1" dirty="0">
                <a:solidFill>
                  <a:srgbClr val="FFFF00"/>
                </a:solidFill>
                <a:latin typeface="+mj-ea"/>
                <a:ea typeface="+mj-ea"/>
                <a:cs typeface="+mj-ea"/>
                <a:sym typeface="+mn-ea"/>
              </a:rPr>
              <a:t>无限分割软件并不合适</a:t>
            </a:r>
            <a:r>
              <a:rPr lang="zh-CN" altLang="en-US" sz="1400" b="1" dirty="0">
                <a:latin typeface="+mj-ea"/>
                <a:ea typeface="+mj-ea"/>
                <a:cs typeface="+mj-ea"/>
                <a:sym typeface="+mn-ea"/>
              </a:rPr>
              <a:t>，</a:t>
            </a:r>
            <a:r>
              <a:rPr lang="en-US" altLang="zh-CN" sz="1400" b="1" dirty="0">
                <a:latin typeface="+mj-ea"/>
                <a:ea typeface="+mj-ea"/>
                <a:cs typeface="+mj-ea"/>
                <a:sym typeface="+mn-ea"/>
              </a:rPr>
              <a:t>当模块数目增加时每个模块的规模将减小，开发单个模块需要的成本（工作量）确实减少了；但是，随着模块数目增加，设计</a:t>
            </a:r>
            <a:r>
              <a:rPr lang="en-US" altLang="zh-CN" sz="1400" b="1" dirty="0">
                <a:solidFill>
                  <a:srgbClr val="FF0000"/>
                </a:solidFill>
                <a:latin typeface="+mj-ea"/>
                <a:ea typeface="+mj-ea"/>
                <a:cs typeface="+mj-ea"/>
                <a:sym typeface="+mn-ea"/>
              </a:rPr>
              <a:t>模块间接口</a:t>
            </a:r>
            <a:r>
              <a:rPr lang="en-US" altLang="zh-CN" sz="1400" b="1" dirty="0">
                <a:latin typeface="+mj-ea"/>
                <a:ea typeface="+mj-ea"/>
                <a:cs typeface="+mj-ea"/>
                <a:sym typeface="+mn-ea"/>
              </a:rPr>
              <a:t>所需要的工作量也将增加。</a:t>
            </a:r>
            <a:endParaRPr lang="en-US" altLang="zh-CN" sz="1400" b="1" dirty="0">
              <a:latin typeface="+mj-ea"/>
              <a:ea typeface="+mj-ea"/>
              <a:cs typeface="+mj-ea"/>
              <a:sym typeface="+mn-ea"/>
            </a:endParaRPr>
          </a:p>
          <a:p>
            <a:pPr marL="0" algn="l" eaLnBrk="1" hangingPunct="1">
              <a:lnSpc>
                <a:spcPct val="190000"/>
              </a:lnSpc>
              <a:spcBef>
                <a:spcPts val="0"/>
              </a:spcBef>
              <a:spcAft>
                <a:spcPts val="1000"/>
              </a:spcAft>
              <a:buClrTx/>
              <a:buSzTx/>
              <a:buFont typeface="Arial" panose="020B0604020202020204" pitchFamily="34" charset="0"/>
            </a:pPr>
            <a:r>
              <a:rPr lang="en-US" altLang="zh-CN" sz="1400" b="1" dirty="0">
                <a:latin typeface="+mj-ea"/>
                <a:ea typeface="+mj-ea"/>
                <a:cs typeface="+mj-ea"/>
                <a:sym typeface="+mn-ea"/>
              </a:rPr>
              <a:t>      根据这两个因素，得出了图中的总成本曲线。每个程序都相应地有一个最适当的模块数目M，使得系统的</a:t>
            </a:r>
            <a:r>
              <a:rPr lang="en-US" altLang="zh-CN" sz="1400" b="1" dirty="0">
                <a:solidFill>
                  <a:srgbClr val="00B0F0"/>
                </a:solidFill>
                <a:latin typeface="+mj-ea"/>
                <a:ea typeface="+mj-ea"/>
                <a:cs typeface="+mj-ea"/>
                <a:sym typeface="+mn-ea"/>
              </a:rPr>
              <a:t>开发成本最小</a:t>
            </a:r>
            <a:r>
              <a:rPr lang="en-US" altLang="zh-CN" sz="1400" b="1" dirty="0">
                <a:latin typeface="+mj-ea"/>
                <a:ea typeface="+mj-ea"/>
                <a:cs typeface="+mj-ea"/>
                <a:sym typeface="+mn-ea"/>
              </a:rPr>
              <a:t>。</a:t>
            </a:r>
            <a:endParaRPr lang="en-US" altLang="zh-CN" sz="1400" b="1" dirty="0">
              <a:latin typeface="+mj-ea"/>
              <a:ea typeface="+mj-ea"/>
              <a:cs typeface="+mj-ea"/>
            </a:endParaRPr>
          </a:p>
          <a:p>
            <a:endParaRPr lang="zh-CN" altLang="en-US" b="1"/>
          </a:p>
        </p:txBody>
      </p:sp>
      <p:pic>
        <p:nvPicPr>
          <p:cNvPr id="10" name="图片 9"/>
          <p:cNvPicPr>
            <a:picLocks noChangeAspect="1"/>
          </p:cNvPicPr>
          <p:nvPr/>
        </p:nvPicPr>
        <p:blipFill>
          <a:blip r:embed="rId4"/>
          <a:stretch>
            <a:fillRect/>
          </a:stretch>
        </p:blipFill>
        <p:spPr>
          <a:xfrm>
            <a:off x="164465" y="4453890"/>
            <a:ext cx="2179955" cy="2151380"/>
          </a:xfrm>
          <a:prstGeom prst="rect">
            <a:avLst/>
          </a:prstGeom>
        </p:spPr>
      </p:pic>
      <p:sp>
        <p:nvSpPr>
          <p:cNvPr id="11" name="文本框 10"/>
          <p:cNvSpPr txBox="1"/>
          <p:nvPr/>
        </p:nvSpPr>
        <p:spPr>
          <a:xfrm>
            <a:off x="2344420" y="4463415"/>
            <a:ext cx="2347595" cy="2139315"/>
          </a:xfrm>
          <a:prstGeom prst="rect">
            <a:avLst/>
          </a:prstGeom>
          <a:solidFill>
            <a:srgbClr val="00B0F0"/>
          </a:solidFill>
          <a:ln>
            <a:solidFill>
              <a:srgbClr val="FF0000"/>
            </a:solidFill>
          </a:ln>
        </p:spPr>
        <p:txBody>
          <a:bodyPr wrap="square" rtlCol="0" anchor="ctr" anchorCtr="0">
            <a:noAutofit/>
          </a:bodyPr>
          <a:p>
            <a:pPr algn="l">
              <a:lnSpc>
                <a:spcPct val="160000"/>
              </a:lnSpc>
              <a:spcBef>
                <a:spcPts val="0"/>
              </a:spcBef>
              <a:spcAft>
                <a:spcPts val="1000"/>
              </a:spcAft>
              <a:buClrTx/>
              <a:buSzTx/>
              <a:buFont typeface="Arial" panose="020B0604020202020204" pitchFamily="34" charset="0"/>
            </a:pPr>
            <a:r>
              <a:rPr lang="zh-CN" altLang="en-US" sz="1400" b="1" dirty="0">
                <a:solidFill>
                  <a:schemeClr val="bg1"/>
                </a:solidFill>
                <a:uFillTx/>
                <a:latin typeface="微软雅黑" panose="020B0503020204020204" charset="-122"/>
                <a:ea typeface="微软雅黑" panose="020B0503020204020204" charset="-122"/>
                <a:cs typeface="微软雅黑" panose="020B0503020204020204" charset="-122"/>
                <a:sym typeface="+mn-ea"/>
              </a:rPr>
              <a:t>模块化是为了使一个复杂的大型程序能被人的智力所管理，是</a:t>
            </a:r>
            <a:r>
              <a:rPr lang="zh-CN" altLang="en-US" sz="1400" b="1" dirty="0">
                <a:solidFill>
                  <a:srgbClr val="FFFF00"/>
                </a:solidFill>
                <a:uFillTx/>
                <a:latin typeface="微软雅黑" panose="020B0503020204020204" charset="-122"/>
                <a:ea typeface="微软雅黑" panose="020B0503020204020204" charset="-122"/>
                <a:cs typeface="微软雅黑" panose="020B0503020204020204" charset="-122"/>
                <a:sym typeface="+mn-ea"/>
              </a:rPr>
              <a:t>软件应该具备的唯一属性。</a:t>
            </a:r>
            <a:endParaRPr lang="zh-CN" altLang="en-US" sz="1400" b="1" dirty="0">
              <a:solidFill>
                <a:schemeClr val="bg1"/>
              </a:solidFill>
              <a:uFillTx/>
              <a:latin typeface="微软雅黑" panose="020B0503020204020204" charset="-122"/>
              <a:ea typeface="微软雅黑" panose="020B0503020204020204" charset="-122"/>
              <a:cs typeface="微软雅黑" panose="020B0503020204020204" charset="-122"/>
            </a:endParaRPr>
          </a:p>
          <a:p>
            <a:endParaRPr lang="zh-CN" altLang="en-US" sz="1400" b="1"/>
          </a:p>
        </p:txBody>
      </p:sp>
      <p:sp>
        <p:nvSpPr>
          <p:cNvPr id="4" name="文本框 3"/>
          <p:cNvSpPr txBox="1"/>
          <p:nvPr/>
        </p:nvSpPr>
        <p:spPr>
          <a:xfrm>
            <a:off x="4818380" y="-4445"/>
            <a:ext cx="7372350" cy="368300"/>
          </a:xfrm>
          <a:prstGeom prst="rect">
            <a:avLst/>
          </a:prstGeom>
          <a:solidFill>
            <a:schemeClr val="accent1"/>
          </a:solidFill>
        </p:spPr>
        <p:txBody>
          <a:bodyPr wrap="square" rtlCol="0">
            <a:spAutoFit/>
          </a:bodyPr>
          <a:p>
            <a:r>
              <a:rPr lang="zh-CN" altLang="en-US" b="1">
                <a:solidFill>
                  <a:schemeClr val="bg2"/>
                </a:solidFill>
              </a:rPr>
              <a:t>模块化</a:t>
            </a:r>
            <a:endParaRPr lang="zh-CN" altLang="en-US" b="1">
              <a:solidFill>
                <a:schemeClr val="bg2"/>
              </a:solidFill>
            </a:endParaRPr>
          </a:p>
        </p:txBody>
      </p:sp>
    </p:spTree>
    <p:custDataLst>
      <p:tags r:id="rId5"/>
    </p:custData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占位符 1"/>
          <p:cNvSpPr>
            <a:spLocks noGrp="1"/>
          </p:cNvSpPr>
          <p:nvPr>
            <p:custDataLst>
              <p:tags r:id="rId1"/>
            </p:custDataLst>
          </p:nvPr>
        </p:nvSpPr>
        <p:spPr>
          <a:xfrm>
            <a:off x="-635" y="367665"/>
            <a:ext cx="5901690" cy="1936750"/>
          </a:xfrm>
          <a:prstGeom prst="rect">
            <a:avLst/>
          </a:prstGeom>
          <a:solidFill>
            <a:schemeClr val="accent4"/>
          </a:solidFill>
          <a:ln>
            <a:solidFill>
              <a:schemeClr val="tx2"/>
            </a:solidFill>
          </a:ln>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60000"/>
              </a:lnSpc>
              <a:spcBef>
                <a:spcPts val="0"/>
              </a:spcBef>
              <a:buNone/>
            </a:pPr>
            <a:endParaRPr lang="zh-CN" altLang="en-US" sz="1400" b="1" dirty="0">
              <a:solidFill>
                <a:schemeClr val="bg1"/>
              </a:solidFill>
              <a:latin typeface="Bodoni MT Black" panose="02070A03080606020203" pitchFamily="18" charset="0"/>
              <a:sym typeface="+mn-ea"/>
            </a:endParaRPr>
          </a:p>
          <a:p>
            <a:pPr marL="0" indent="0">
              <a:lnSpc>
                <a:spcPct val="160000"/>
              </a:lnSpc>
              <a:spcBef>
                <a:spcPts val="0"/>
              </a:spcBef>
              <a:buNone/>
            </a:pPr>
            <a:r>
              <a:rPr lang="zh-CN" altLang="en-US" sz="1400" b="1" dirty="0">
                <a:solidFill>
                  <a:schemeClr val="bg1"/>
                </a:solidFill>
                <a:latin typeface="Bodoni MT Black" panose="02070A03080606020203" pitchFamily="18" charset="0"/>
                <a:sym typeface="+mn-ea"/>
              </a:rPr>
              <a:t>在总体设计中，抽象是一种忽略不必要的细节，专注于本质特征和契约的思维方法。</a:t>
            </a:r>
            <a:r>
              <a:rPr lang="zh-CN" altLang="en-US" sz="1400" b="1" dirty="0">
                <a:solidFill>
                  <a:srgbClr val="55D5FF"/>
                </a:solidFill>
                <a:latin typeface="Bodoni MT Black" panose="02070A03080606020203" pitchFamily="18" charset="0"/>
                <a:sym typeface="+mn-ea"/>
              </a:rPr>
              <a:t>其目的：管理复杂性，隔离变化，建立清晰的边界。</a:t>
            </a:r>
            <a:endParaRPr lang="zh-CN" altLang="en-US" sz="1400" b="1" dirty="0">
              <a:solidFill>
                <a:schemeClr val="bg1"/>
              </a:solidFill>
              <a:latin typeface="Bodoni MT Black" panose="02070A03080606020203" pitchFamily="18" charset="0"/>
              <a:sym typeface="+mn-ea"/>
            </a:endParaRPr>
          </a:p>
          <a:p>
            <a:pPr marL="0" indent="0">
              <a:lnSpc>
                <a:spcPct val="160000"/>
              </a:lnSpc>
              <a:spcBef>
                <a:spcPts val="0"/>
              </a:spcBef>
              <a:buNone/>
            </a:pPr>
            <a:r>
              <a:rPr lang="zh-CN" altLang="en-US" sz="1400" b="1" dirty="0">
                <a:solidFill>
                  <a:srgbClr val="FF0000"/>
                </a:solidFill>
                <a:highlight>
                  <a:srgbClr val="FFFF00"/>
                </a:highlight>
                <a:latin typeface="Bodoni MT Black" panose="02070A03080606020203" pitchFamily="18" charset="0"/>
                <a:sym typeface="+mn-ea"/>
              </a:rPr>
              <a:t>“忽略什么”比“关注什么”更重要。通过隐藏“如何做”的细节，只暴露“做什么”的契约。</a:t>
            </a:r>
            <a:endParaRPr lang="zh-CN" altLang="en-US" sz="1400" b="1" dirty="0">
              <a:solidFill>
                <a:srgbClr val="FF0000"/>
              </a:solidFill>
              <a:highlight>
                <a:srgbClr val="FFFF00"/>
              </a:highlight>
              <a:latin typeface="Bodoni MT Black" panose="02070A03080606020203" pitchFamily="18" charset="0"/>
              <a:sym typeface="+mn-ea"/>
            </a:endParaRPr>
          </a:p>
          <a:p>
            <a:pPr marL="0" indent="0">
              <a:lnSpc>
                <a:spcPct val="160000"/>
              </a:lnSpc>
              <a:spcBef>
                <a:spcPts val="0"/>
              </a:spcBef>
              <a:buNone/>
            </a:pPr>
            <a:endParaRPr lang="zh-CN" altLang="en-US" sz="1400" b="1" dirty="0">
              <a:solidFill>
                <a:srgbClr val="FF0000"/>
              </a:solidFill>
              <a:highlight>
                <a:srgbClr val="FFFF00"/>
              </a:highlight>
              <a:latin typeface="Bodoni MT Black" panose="02070A03080606020203" pitchFamily="18" charset="0"/>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4" name="文本框 3"/>
          <p:cNvSpPr txBox="1"/>
          <p:nvPr/>
        </p:nvSpPr>
        <p:spPr>
          <a:xfrm>
            <a:off x="8022590" y="1222375"/>
            <a:ext cx="4169410" cy="2299970"/>
          </a:xfrm>
          <a:prstGeom prst="rect">
            <a:avLst/>
          </a:prstGeom>
          <a:solidFill>
            <a:schemeClr val="bg2">
              <a:lumMod val="95000"/>
            </a:schemeClr>
          </a:solidFill>
          <a:ln>
            <a:solidFill>
              <a:schemeClr val="accent1"/>
            </a:solidFill>
          </a:ln>
        </p:spPr>
        <p:txBody>
          <a:bodyPr wrap="square" rtlCol="0">
            <a:noAutofit/>
          </a:bodyPr>
          <a:p>
            <a:pPr>
              <a:lnSpc>
                <a:spcPct val="170000"/>
              </a:lnSpc>
            </a:pPr>
            <a:r>
              <a:rPr lang="zh-CN" altLang="en-US" sz="1400" b="1" dirty="0">
                <a:latin typeface="+mn-ea"/>
                <a:cs typeface="+mn-ea"/>
                <a:sym typeface="+mn-ea"/>
              </a:rPr>
              <a:t>逐步求精最初是由瑞士计算机科学家尼古拉斯•威茨</a:t>
            </a:r>
            <a:r>
              <a:rPr lang="en-US" altLang="zh-CN" sz="1400" b="1" dirty="0">
                <a:latin typeface="+mn-ea"/>
                <a:cs typeface="+mn-ea"/>
                <a:sym typeface="+mn-ea"/>
              </a:rPr>
              <a:t>(</a:t>
            </a:r>
            <a:r>
              <a:rPr lang="en-US" altLang="zh-CN" sz="1400" b="1" dirty="0" err="1">
                <a:latin typeface="+mn-ea"/>
                <a:cs typeface="+mn-ea"/>
                <a:sym typeface="+mn-ea"/>
              </a:rPr>
              <a:t>Niklaus</a:t>
            </a:r>
            <a:r>
              <a:rPr lang="en-US" altLang="zh-CN" sz="1400" b="1" dirty="0">
                <a:latin typeface="+mn-ea"/>
                <a:cs typeface="+mn-ea"/>
                <a:sym typeface="+mn-ea"/>
              </a:rPr>
              <a:t> Wirth)</a:t>
            </a:r>
            <a:r>
              <a:rPr lang="zh-CN" altLang="en-US" sz="1400" b="1" dirty="0">
                <a:latin typeface="+mn-ea"/>
                <a:cs typeface="+mn-ea"/>
                <a:sym typeface="+mn-ea"/>
              </a:rPr>
              <a:t>提出的一种</a:t>
            </a:r>
            <a:r>
              <a:rPr lang="zh-CN" altLang="en-US" sz="1400" b="1" dirty="0">
                <a:solidFill>
                  <a:srgbClr val="FF0000"/>
                </a:solidFill>
                <a:latin typeface="+mn-ea"/>
                <a:cs typeface="+mn-ea"/>
                <a:sym typeface="+mn-ea"/>
              </a:rPr>
              <a:t>自顶向下</a:t>
            </a:r>
            <a:r>
              <a:rPr lang="zh-CN" altLang="en-US" sz="1400" b="1" dirty="0">
                <a:latin typeface="+mn-ea"/>
                <a:cs typeface="+mn-ea"/>
                <a:sym typeface="+mn-ea"/>
              </a:rPr>
              <a:t>的设计策略。按照这种设计策略，程序的体系结构是通过</a:t>
            </a:r>
            <a:r>
              <a:rPr lang="zh-CN" altLang="en-US" sz="1400" b="1" dirty="0">
                <a:solidFill>
                  <a:srgbClr val="00B0F0"/>
                </a:solidFill>
                <a:latin typeface="+mn-ea"/>
                <a:cs typeface="+mn-ea"/>
                <a:sym typeface="+mn-ea"/>
              </a:rPr>
              <a:t>逐步精化处理</a:t>
            </a:r>
            <a:r>
              <a:rPr lang="zh-CN" altLang="en-US" sz="1400" b="1" dirty="0">
                <a:latin typeface="+mn-ea"/>
                <a:cs typeface="+mn-ea"/>
                <a:sym typeface="+mn-ea"/>
              </a:rPr>
              <a:t>过程的层次而设计出来的。通过逐步分解对功能的宏观陈述而开发出层次结构，直至最终得出用程序设计语言表达的程序</a:t>
            </a:r>
            <a:r>
              <a:rPr lang="zh-CN" altLang="en-US" sz="1400" b="1" dirty="0" smtClean="0">
                <a:latin typeface="+mn-ea"/>
                <a:cs typeface="+mn-ea"/>
                <a:sym typeface="+mn-ea"/>
              </a:rPr>
              <a:t>。</a:t>
            </a:r>
            <a:endParaRPr lang="en-US" altLang="zh-CN" sz="1400" b="1" dirty="0" smtClean="0">
              <a:solidFill>
                <a:schemeClr val="tx1"/>
              </a:solidFill>
              <a:latin typeface="+mn-ea"/>
              <a:cs typeface="+mn-ea"/>
            </a:endParaRPr>
          </a:p>
          <a:p>
            <a:endParaRPr lang="zh-CN" altLang="en-US" sz="1400" b="1">
              <a:latin typeface="+mn-ea"/>
              <a:cs typeface="+mn-ea"/>
            </a:endParaRPr>
          </a:p>
        </p:txBody>
      </p:sp>
      <p:pic>
        <p:nvPicPr>
          <p:cNvPr id="3" name="图片 2"/>
          <p:cNvPicPr>
            <a:picLocks noChangeAspect="1"/>
          </p:cNvPicPr>
          <p:nvPr/>
        </p:nvPicPr>
        <p:blipFill>
          <a:blip r:embed="rId2"/>
          <a:stretch>
            <a:fillRect/>
          </a:stretch>
        </p:blipFill>
        <p:spPr>
          <a:xfrm>
            <a:off x="5944235" y="1222375"/>
            <a:ext cx="2034540" cy="2295525"/>
          </a:xfrm>
          <a:prstGeom prst="rect">
            <a:avLst/>
          </a:prstGeom>
          <a:ln>
            <a:solidFill>
              <a:schemeClr val="accent1"/>
            </a:solidFill>
          </a:ln>
        </p:spPr>
      </p:pic>
      <p:sp>
        <p:nvSpPr>
          <p:cNvPr id="8" name="文本框 7"/>
          <p:cNvSpPr txBox="1"/>
          <p:nvPr/>
        </p:nvSpPr>
        <p:spPr>
          <a:xfrm>
            <a:off x="5934075" y="3536950"/>
            <a:ext cx="6244590" cy="3339465"/>
          </a:xfrm>
          <a:prstGeom prst="rect">
            <a:avLst/>
          </a:prstGeom>
          <a:noFill/>
          <a:ln>
            <a:solidFill>
              <a:schemeClr val="accent1"/>
            </a:solidFill>
          </a:ln>
        </p:spPr>
        <p:txBody>
          <a:bodyPr wrap="square" rtlCol="0">
            <a:noAutofit/>
          </a:bodyPr>
          <a:p>
            <a:pPr algn="ctr">
              <a:lnSpc>
                <a:spcPct val="160000"/>
              </a:lnSpc>
            </a:pPr>
            <a:r>
              <a:rPr lang="en-US" altLang="zh-CN" sz="1300" b="1">
                <a:solidFill>
                  <a:srgbClr val="FF0000"/>
                </a:solidFill>
                <a:latin typeface="+mj-ea"/>
                <a:ea typeface="+mj-ea"/>
                <a:cs typeface="+mj-ea"/>
              </a:rPr>
              <a:t>   </a:t>
            </a:r>
            <a:r>
              <a:rPr lang="en-US" altLang="zh-CN" sz="1400" b="1">
                <a:solidFill>
                  <a:srgbClr val="FF0000"/>
                </a:solidFill>
                <a:latin typeface="+mj-ea"/>
                <a:ea typeface="+mj-ea"/>
                <a:cs typeface="+mj-ea"/>
              </a:rPr>
              <a:t>    “</a:t>
            </a:r>
            <a:r>
              <a:rPr lang="zh-CN" altLang="en-US" sz="1400" b="1">
                <a:solidFill>
                  <a:srgbClr val="FF0000"/>
                </a:solidFill>
                <a:latin typeface="+mj-ea"/>
                <a:ea typeface="+mj-ea"/>
                <a:cs typeface="+mj-ea"/>
              </a:rPr>
              <a:t>自顶向下，逐步求精</a:t>
            </a:r>
            <a:r>
              <a:rPr lang="en-US" altLang="zh-CN" sz="1400" b="1">
                <a:solidFill>
                  <a:srgbClr val="FF0000"/>
                </a:solidFill>
                <a:latin typeface="+mj-ea"/>
                <a:ea typeface="+mj-ea"/>
                <a:cs typeface="+mj-ea"/>
              </a:rPr>
              <a:t>”</a:t>
            </a:r>
            <a:r>
              <a:rPr lang="zh-CN" altLang="en-US" sz="1400" b="1">
                <a:solidFill>
                  <a:srgbClr val="FF0000"/>
                </a:solidFill>
                <a:latin typeface="+mj-ea"/>
                <a:ea typeface="+mj-ea"/>
                <a:cs typeface="+mj-ea"/>
              </a:rPr>
              <a:t>是结构化程序设计的常见思路</a:t>
            </a:r>
            <a:endParaRPr lang="zh-CN" altLang="en-US" sz="1400" b="1">
              <a:solidFill>
                <a:srgbClr val="FF0000"/>
              </a:solidFill>
              <a:latin typeface="+mj-ea"/>
              <a:ea typeface="+mj-ea"/>
              <a:cs typeface="+mj-ea"/>
            </a:endParaRPr>
          </a:p>
          <a:p>
            <a:pPr algn="l">
              <a:lnSpc>
                <a:spcPct val="160000"/>
              </a:lnSpc>
              <a:spcBef>
                <a:spcPts val="0"/>
              </a:spcBef>
              <a:buClrTx/>
              <a:buSzTx/>
              <a:buFontTx/>
            </a:pPr>
            <a:r>
              <a:rPr lang="zh-CN" altLang="en-US" sz="1300" b="1" dirty="0">
                <a:solidFill>
                  <a:srgbClr val="00B0F0"/>
                </a:solidFill>
                <a:latin typeface="+mj-ea"/>
                <a:ea typeface="+mj-ea"/>
                <a:cs typeface="+mj-ea"/>
              </a:rPr>
              <a:t>用经典的 “订单处理系统” 为例来展示逐步求精的过程：</a:t>
            </a:r>
            <a:endParaRPr lang="zh-CN" altLang="en-US" sz="1300" b="1" dirty="0">
              <a:solidFill>
                <a:srgbClr val="00B0F0"/>
              </a:solidFill>
              <a:latin typeface="+mj-ea"/>
              <a:ea typeface="+mj-ea"/>
              <a:cs typeface="+mj-ea"/>
            </a:endParaRPr>
          </a:p>
          <a:p>
            <a:pPr marL="342900" indent="-342900" algn="l">
              <a:lnSpc>
                <a:spcPct val="160000"/>
              </a:lnSpc>
              <a:spcBef>
                <a:spcPts val="0"/>
              </a:spcBef>
              <a:buClrTx/>
              <a:buSzTx/>
              <a:buFont typeface="+mj-ea"/>
              <a:buAutoNum type="circleNumDbPlain"/>
            </a:pPr>
            <a:r>
              <a:rPr lang="zh-CN" altLang="en-US" sz="1300" b="1" dirty="0">
                <a:latin typeface="+mj-ea"/>
                <a:ea typeface="+mj-ea"/>
                <a:cs typeface="+mj-ea"/>
              </a:rPr>
              <a:t>第1级求精：系统上下文与最高级目标：“构建一个在线订单处理系统。”</a:t>
            </a:r>
            <a:endParaRPr lang="zh-CN" altLang="en-US" sz="1300" b="1" dirty="0">
              <a:latin typeface="+mj-ea"/>
              <a:ea typeface="+mj-ea"/>
              <a:cs typeface="+mj-ea"/>
            </a:endParaRPr>
          </a:p>
          <a:p>
            <a:pPr marL="342900" indent="-342900" algn="l">
              <a:lnSpc>
                <a:spcPct val="160000"/>
              </a:lnSpc>
              <a:spcBef>
                <a:spcPts val="0"/>
              </a:spcBef>
              <a:buClrTx/>
              <a:buSzTx/>
              <a:buFont typeface="+mj-ea"/>
              <a:buAutoNum type="circleNumDbPlain"/>
            </a:pPr>
            <a:r>
              <a:rPr lang="zh-CN" altLang="en-US" sz="1300" b="1" dirty="0">
                <a:latin typeface="+mj-ea"/>
                <a:ea typeface="+mj-ea"/>
                <a:cs typeface="+mj-ea"/>
              </a:rPr>
              <a:t>第2级求精：分解为子系统/高层次模块：“系统包含用户界面、订单核心服务、外部适配器。”</a:t>
            </a:r>
            <a:endParaRPr lang="zh-CN" altLang="en-US" sz="1300" b="1" dirty="0">
              <a:latin typeface="+mj-ea"/>
              <a:ea typeface="+mj-ea"/>
              <a:cs typeface="+mj-ea"/>
            </a:endParaRPr>
          </a:p>
          <a:p>
            <a:pPr marL="342900" indent="-342900" algn="l">
              <a:lnSpc>
                <a:spcPct val="160000"/>
              </a:lnSpc>
              <a:spcBef>
                <a:spcPts val="0"/>
              </a:spcBef>
              <a:buClrTx/>
              <a:buSzTx/>
              <a:buFont typeface="+mj-ea"/>
              <a:buAutoNum type="circleNumDbPlain"/>
            </a:pPr>
            <a:r>
              <a:rPr lang="zh-CN" altLang="en-US" sz="1300" b="1" dirty="0">
                <a:latin typeface="+mj-ea"/>
                <a:ea typeface="+mj-ea"/>
                <a:cs typeface="+mj-ea"/>
              </a:rPr>
              <a:t>第3级求精：定义子系统接口与职责：“支付处理子系统负责处理支付。”</a:t>
            </a:r>
            <a:endParaRPr lang="zh-CN" altLang="en-US" sz="1300" b="1" dirty="0">
              <a:latin typeface="+mj-ea"/>
              <a:ea typeface="+mj-ea"/>
              <a:cs typeface="+mj-ea"/>
            </a:endParaRPr>
          </a:p>
          <a:p>
            <a:pPr marL="342900" indent="-342900" algn="l">
              <a:lnSpc>
                <a:spcPct val="160000"/>
              </a:lnSpc>
              <a:spcBef>
                <a:spcPts val="0"/>
              </a:spcBef>
              <a:buClrTx/>
              <a:buSzTx/>
              <a:buFont typeface="+mj-ea"/>
              <a:buAutoNum type="circleNumDbPlain"/>
            </a:pPr>
            <a:r>
              <a:rPr lang="zh-CN" altLang="en-US" sz="1300" b="1" dirty="0">
                <a:latin typeface="+mj-ea"/>
                <a:ea typeface="+mj-ea"/>
                <a:cs typeface="+mj-ea"/>
              </a:rPr>
              <a:t>第4级求精：子系统内部架构设计：“支付处理子系统内部如何工作？”</a:t>
            </a:r>
            <a:endParaRPr lang="zh-CN" altLang="en-US" sz="1300" b="1" dirty="0">
              <a:latin typeface="+mj-ea"/>
              <a:ea typeface="+mj-ea"/>
              <a:cs typeface="+mj-ea"/>
            </a:endParaRPr>
          </a:p>
          <a:p>
            <a:pPr marL="342900" indent="-342900" algn="l">
              <a:lnSpc>
                <a:spcPct val="160000"/>
              </a:lnSpc>
              <a:spcBef>
                <a:spcPts val="0"/>
              </a:spcBef>
              <a:buClrTx/>
              <a:buSzTx/>
              <a:buFont typeface="+mj-ea"/>
              <a:buAutoNum type="circleNumDbPlain"/>
            </a:pPr>
            <a:r>
              <a:rPr lang="zh-CN" altLang="en-US" sz="1300" b="1" dirty="0">
                <a:latin typeface="+mj-ea"/>
                <a:ea typeface="+mj-ea"/>
                <a:cs typeface="+mj-ea"/>
              </a:rPr>
              <a:t>第N级求精：直至可编码实现：最终，每一个类的方法逻辑、算法细节、异常处理、日志格式等，都被清晰地定义出来，可以直接交给开发人员编写代码。</a:t>
            </a:r>
            <a:endParaRPr lang="zh-CN" altLang="en-US" sz="1300" b="1" dirty="0">
              <a:latin typeface="+mj-ea"/>
              <a:ea typeface="+mj-ea"/>
              <a:cs typeface="+mj-ea"/>
            </a:endParaRPr>
          </a:p>
        </p:txBody>
      </p:sp>
      <p:sp>
        <p:nvSpPr>
          <p:cNvPr id="9" name="文本框 8"/>
          <p:cNvSpPr txBox="1"/>
          <p:nvPr/>
        </p:nvSpPr>
        <p:spPr>
          <a:xfrm>
            <a:off x="0" y="0"/>
            <a:ext cx="5922645" cy="368300"/>
          </a:xfrm>
          <a:prstGeom prst="rect">
            <a:avLst/>
          </a:prstGeom>
          <a:solidFill>
            <a:schemeClr val="accent1"/>
          </a:solidFill>
        </p:spPr>
        <p:txBody>
          <a:bodyPr wrap="square" rtlCol="0">
            <a:spAutoFit/>
          </a:bodyPr>
          <a:p>
            <a:r>
              <a:rPr lang="zh-CN" altLang="en-US" b="1">
                <a:solidFill>
                  <a:schemeClr val="bg2"/>
                </a:solidFill>
              </a:rPr>
              <a:t>抽象</a:t>
            </a:r>
            <a:endParaRPr lang="zh-CN" altLang="en-US" b="1">
              <a:solidFill>
                <a:schemeClr val="bg2"/>
              </a:solidFill>
            </a:endParaRPr>
          </a:p>
        </p:txBody>
      </p:sp>
      <p:sp>
        <p:nvSpPr>
          <p:cNvPr id="10" name="文本框 9"/>
          <p:cNvSpPr txBox="1"/>
          <p:nvPr/>
        </p:nvSpPr>
        <p:spPr>
          <a:xfrm>
            <a:off x="5943600" y="0"/>
            <a:ext cx="6255385" cy="368300"/>
          </a:xfrm>
          <a:prstGeom prst="rect">
            <a:avLst/>
          </a:prstGeom>
          <a:solidFill>
            <a:schemeClr val="accent1"/>
          </a:solidFill>
        </p:spPr>
        <p:txBody>
          <a:bodyPr wrap="square" rtlCol="0">
            <a:spAutoFit/>
          </a:bodyPr>
          <a:p>
            <a:r>
              <a:rPr lang="zh-CN" altLang="en-US" b="1">
                <a:solidFill>
                  <a:schemeClr val="bg2"/>
                </a:solidFill>
              </a:rPr>
              <a:t>逐步求精</a:t>
            </a:r>
            <a:endParaRPr lang="zh-CN" altLang="en-US" b="1">
              <a:solidFill>
                <a:schemeClr val="bg2"/>
              </a:solidFill>
            </a:endParaRPr>
          </a:p>
        </p:txBody>
      </p:sp>
      <p:grpSp>
        <p:nvGrpSpPr>
          <p:cNvPr id="24" name="组合 23"/>
          <p:cNvGrpSpPr/>
          <p:nvPr>
            <p:custDataLst>
              <p:tags r:id="rId3"/>
            </p:custDataLst>
          </p:nvPr>
        </p:nvGrpSpPr>
        <p:grpSpPr>
          <a:xfrm>
            <a:off x="177800" y="2447290"/>
            <a:ext cx="5605780" cy="3165475"/>
            <a:chOff x="281" y="3734"/>
            <a:chExt cx="8828" cy="4985"/>
          </a:xfrm>
        </p:grpSpPr>
        <p:grpSp>
          <p:nvGrpSpPr>
            <p:cNvPr id="14" name="组合 13"/>
            <p:cNvGrpSpPr/>
            <p:nvPr>
              <p:custDataLst>
                <p:tags r:id="rId4"/>
              </p:custDataLst>
            </p:nvPr>
          </p:nvGrpSpPr>
          <p:grpSpPr>
            <a:xfrm>
              <a:off x="282" y="3734"/>
              <a:ext cx="8827" cy="1156"/>
              <a:chOff x="743" y="3734"/>
              <a:chExt cx="8472" cy="1454"/>
            </a:xfrm>
          </p:grpSpPr>
          <p:sp>
            <p:nvSpPr>
              <p:cNvPr id="12" name="文本框 11"/>
              <p:cNvSpPr txBox="1"/>
              <p:nvPr>
                <p:custDataLst>
                  <p:tags r:id="rId5"/>
                </p:custDataLst>
              </p:nvPr>
            </p:nvSpPr>
            <p:spPr>
              <a:xfrm>
                <a:off x="743" y="3734"/>
                <a:ext cx="1925" cy="1454"/>
              </a:xfrm>
              <a:prstGeom prst="rect">
                <a:avLst/>
              </a:prstGeom>
              <a:solidFill>
                <a:schemeClr val="accent1"/>
              </a:solidFill>
              <a:ln>
                <a:solidFill>
                  <a:schemeClr val="accent1"/>
                </a:solidFill>
              </a:ln>
            </p:spPr>
            <p:txBody>
              <a:bodyPr wrap="square" rtlCol="0" anchor="t" anchorCtr="0">
                <a:noAutofit/>
              </a:bodyPr>
              <a:p>
                <a:pPr algn="ctr">
                  <a:lnSpc>
                    <a:spcPct val="130000"/>
                  </a:lnSpc>
                </a:pPr>
                <a:r>
                  <a:rPr lang="zh-CN" altLang="en-US" sz="1400" b="1">
                    <a:solidFill>
                      <a:schemeClr val="bg2"/>
                    </a:solidFill>
                  </a:rPr>
                  <a:t>业务概念</a:t>
                </a:r>
                <a:endParaRPr lang="zh-CN" altLang="en-US" sz="1400" b="1">
                  <a:solidFill>
                    <a:schemeClr val="bg2"/>
                  </a:solidFill>
                </a:endParaRPr>
              </a:p>
              <a:p>
                <a:pPr algn="ctr">
                  <a:lnSpc>
                    <a:spcPct val="130000"/>
                  </a:lnSpc>
                </a:pPr>
                <a:r>
                  <a:rPr lang="zh-CN" altLang="en-US" sz="1400" b="1">
                    <a:solidFill>
                      <a:schemeClr val="bg2"/>
                    </a:solidFill>
                  </a:rPr>
                  <a:t>抽象</a:t>
                </a:r>
                <a:endParaRPr lang="zh-CN" altLang="en-US" sz="1400" b="1">
                  <a:solidFill>
                    <a:schemeClr val="bg2"/>
                  </a:solidFill>
                </a:endParaRPr>
              </a:p>
              <a:p>
                <a:pPr algn="ctr">
                  <a:lnSpc>
                    <a:spcPct val="130000"/>
                  </a:lnSpc>
                </a:pPr>
                <a:endParaRPr lang="zh-CN" altLang="en-US" sz="1400" b="1">
                  <a:solidFill>
                    <a:schemeClr val="bg2"/>
                  </a:solidFill>
                </a:endParaRPr>
              </a:p>
            </p:txBody>
          </p:sp>
          <p:sp>
            <p:nvSpPr>
              <p:cNvPr id="13" name="文本框 12"/>
              <p:cNvSpPr txBox="1"/>
              <p:nvPr>
                <p:custDataLst>
                  <p:tags r:id="rId6"/>
                </p:custDataLst>
              </p:nvPr>
            </p:nvSpPr>
            <p:spPr>
              <a:xfrm>
                <a:off x="2513" y="3734"/>
                <a:ext cx="6702" cy="1454"/>
              </a:xfrm>
              <a:prstGeom prst="rect">
                <a:avLst/>
              </a:prstGeom>
              <a:solidFill>
                <a:schemeClr val="accent1">
                  <a:lumMod val="20000"/>
                  <a:lumOff val="80000"/>
                </a:schemeClr>
              </a:solidFill>
              <a:ln>
                <a:solidFill>
                  <a:schemeClr val="accent1"/>
                </a:solidFill>
              </a:ln>
            </p:spPr>
            <p:txBody>
              <a:bodyPr wrap="square" rtlCol="0" anchor="ctr" anchorCtr="0">
                <a:noAutofit/>
              </a:bodyPr>
              <a:p>
                <a:pPr>
                  <a:lnSpc>
                    <a:spcPct val="130000"/>
                  </a:lnSpc>
                </a:pPr>
                <a:r>
                  <a:rPr lang="zh-CN" altLang="en-US" sz="1400" b="1"/>
                  <a:t>将混乱的现实世界业务规则、流程和实体，抽象为领域模型、业务流程和用例。</a:t>
                </a:r>
                <a:endParaRPr lang="zh-CN" altLang="en-US" sz="1400" b="1"/>
              </a:p>
            </p:txBody>
          </p:sp>
        </p:grpSp>
        <p:grpSp>
          <p:nvGrpSpPr>
            <p:cNvPr id="15" name="组合 14"/>
            <p:cNvGrpSpPr/>
            <p:nvPr>
              <p:custDataLst>
                <p:tags r:id="rId7"/>
              </p:custDataLst>
            </p:nvPr>
          </p:nvGrpSpPr>
          <p:grpSpPr>
            <a:xfrm>
              <a:off x="281" y="4985"/>
              <a:ext cx="8828" cy="1159"/>
              <a:chOff x="743" y="3734"/>
              <a:chExt cx="8366" cy="1188"/>
            </a:xfrm>
          </p:grpSpPr>
          <p:sp>
            <p:nvSpPr>
              <p:cNvPr id="16" name="文本框 15"/>
              <p:cNvSpPr txBox="1"/>
              <p:nvPr>
                <p:custDataLst>
                  <p:tags r:id="rId8"/>
                </p:custDataLst>
              </p:nvPr>
            </p:nvSpPr>
            <p:spPr>
              <a:xfrm>
                <a:off x="743" y="3734"/>
                <a:ext cx="1772" cy="1185"/>
              </a:xfrm>
              <a:prstGeom prst="rect">
                <a:avLst/>
              </a:prstGeom>
              <a:solidFill>
                <a:srgbClr val="00B050"/>
              </a:solidFill>
              <a:ln>
                <a:solidFill>
                  <a:schemeClr val="accent1"/>
                </a:solidFill>
              </a:ln>
            </p:spPr>
            <p:txBody>
              <a:bodyPr wrap="square" rtlCol="0">
                <a:noAutofit/>
              </a:bodyPr>
              <a:p>
                <a:pPr algn="ctr">
                  <a:lnSpc>
                    <a:spcPct val="130000"/>
                  </a:lnSpc>
                  <a:buClrTx/>
                  <a:buSzTx/>
                  <a:buFontTx/>
                </a:pPr>
                <a:r>
                  <a:rPr lang="zh-CN" altLang="en-US" sz="1400" b="1">
                    <a:solidFill>
                      <a:schemeClr val="bg2"/>
                    </a:solidFill>
                  </a:rPr>
                  <a:t>系统架构</a:t>
                </a:r>
                <a:endParaRPr lang="zh-CN" altLang="en-US" sz="1400" b="1">
                  <a:solidFill>
                    <a:schemeClr val="bg2"/>
                  </a:solidFill>
                </a:endParaRPr>
              </a:p>
              <a:p>
                <a:pPr algn="ctr">
                  <a:lnSpc>
                    <a:spcPct val="130000"/>
                  </a:lnSpc>
                  <a:buClrTx/>
                  <a:buSzTx/>
                  <a:buFontTx/>
                </a:pPr>
                <a:r>
                  <a:rPr lang="zh-CN" altLang="en-US" sz="1400" b="1">
                    <a:solidFill>
                      <a:schemeClr val="bg2"/>
                    </a:solidFill>
                  </a:rPr>
                  <a:t>抽象</a:t>
                </a:r>
                <a:endParaRPr lang="zh-CN" altLang="en-US" sz="1400" b="1">
                  <a:solidFill>
                    <a:schemeClr val="bg2"/>
                  </a:solidFill>
                </a:endParaRPr>
              </a:p>
              <a:p>
                <a:endParaRPr lang="zh-CN" altLang="en-US" sz="1400" b="1">
                  <a:solidFill>
                    <a:schemeClr val="bg2"/>
                  </a:solidFill>
                </a:endParaRPr>
              </a:p>
            </p:txBody>
          </p:sp>
          <p:sp>
            <p:nvSpPr>
              <p:cNvPr id="17" name="文本框 16"/>
              <p:cNvSpPr txBox="1"/>
              <p:nvPr>
                <p:custDataLst>
                  <p:tags r:id="rId9"/>
                </p:custDataLst>
              </p:nvPr>
            </p:nvSpPr>
            <p:spPr>
              <a:xfrm>
                <a:off x="2514" y="3735"/>
                <a:ext cx="6595" cy="1187"/>
              </a:xfrm>
              <a:prstGeom prst="rect">
                <a:avLst/>
              </a:prstGeom>
              <a:solidFill>
                <a:srgbClr val="DCF1E0"/>
              </a:solidFill>
              <a:ln>
                <a:solidFill>
                  <a:schemeClr val="accent1"/>
                </a:solidFill>
              </a:ln>
            </p:spPr>
            <p:txBody>
              <a:bodyPr wrap="square" rtlCol="0">
                <a:noAutofit/>
              </a:bodyPr>
              <a:p>
                <a:pPr>
                  <a:lnSpc>
                    <a:spcPct val="130000"/>
                  </a:lnSpc>
                </a:pPr>
                <a:r>
                  <a:rPr lang="zh-CN" altLang="en-US" sz="1400" b="1"/>
                  <a:t>将整个系统抽象为一些高层次组件及其关系，不关心内部实现</a:t>
                </a:r>
                <a:endParaRPr lang="zh-CN" altLang="en-US" sz="1400" b="1"/>
              </a:p>
            </p:txBody>
          </p:sp>
        </p:grpSp>
        <p:grpSp>
          <p:nvGrpSpPr>
            <p:cNvPr id="18" name="组合 17"/>
            <p:cNvGrpSpPr/>
            <p:nvPr>
              <p:custDataLst>
                <p:tags r:id="rId10"/>
              </p:custDataLst>
            </p:nvPr>
          </p:nvGrpSpPr>
          <p:grpSpPr>
            <a:xfrm>
              <a:off x="281" y="6236"/>
              <a:ext cx="8826" cy="1141"/>
              <a:chOff x="743" y="3734"/>
              <a:chExt cx="8471" cy="1454"/>
            </a:xfrm>
          </p:grpSpPr>
          <p:sp>
            <p:nvSpPr>
              <p:cNvPr id="19" name="文本框 18"/>
              <p:cNvSpPr txBox="1"/>
              <p:nvPr>
                <p:custDataLst>
                  <p:tags r:id="rId11"/>
                </p:custDataLst>
              </p:nvPr>
            </p:nvSpPr>
            <p:spPr>
              <a:xfrm>
                <a:off x="743" y="3734"/>
                <a:ext cx="1771" cy="1454"/>
              </a:xfrm>
              <a:prstGeom prst="rect">
                <a:avLst/>
              </a:prstGeom>
              <a:solidFill>
                <a:schemeClr val="accent1"/>
              </a:solidFill>
              <a:ln>
                <a:solidFill>
                  <a:schemeClr val="accent1"/>
                </a:solidFill>
              </a:ln>
            </p:spPr>
            <p:txBody>
              <a:bodyPr wrap="square" rtlCol="0">
                <a:noAutofit/>
              </a:bodyPr>
              <a:p>
                <a:pPr algn="ctr">
                  <a:lnSpc>
                    <a:spcPct val="130000"/>
                  </a:lnSpc>
                  <a:buClrTx/>
                  <a:buSzTx/>
                  <a:buNone/>
                </a:pPr>
                <a:r>
                  <a:rPr lang="zh-CN" altLang="en-US" sz="1400" b="1">
                    <a:solidFill>
                      <a:schemeClr val="bg2"/>
                    </a:solidFill>
                  </a:rPr>
                  <a:t>组件/模块</a:t>
                </a:r>
                <a:endParaRPr lang="zh-CN" altLang="en-US" sz="1400" b="1">
                  <a:solidFill>
                    <a:schemeClr val="bg2"/>
                  </a:solidFill>
                </a:endParaRPr>
              </a:p>
              <a:p>
                <a:pPr algn="ctr">
                  <a:lnSpc>
                    <a:spcPct val="130000"/>
                  </a:lnSpc>
                  <a:buClrTx/>
                  <a:buSzTx/>
                  <a:buNone/>
                </a:pPr>
                <a:r>
                  <a:rPr lang="zh-CN" altLang="en-US" sz="1400" b="1">
                    <a:solidFill>
                      <a:schemeClr val="bg2"/>
                    </a:solidFill>
                  </a:rPr>
                  <a:t>抽象</a:t>
                </a:r>
                <a:endParaRPr lang="zh-CN" altLang="en-US" sz="1400" b="1">
                  <a:solidFill>
                    <a:schemeClr val="bg2"/>
                  </a:solidFill>
                </a:endParaRPr>
              </a:p>
            </p:txBody>
          </p:sp>
          <p:sp>
            <p:nvSpPr>
              <p:cNvPr id="20" name="文本框 19"/>
              <p:cNvSpPr txBox="1"/>
              <p:nvPr>
                <p:custDataLst>
                  <p:tags r:id="rId12"/>
                </p:custDataLst>
              </p:nvPr>
            </p:nvSpPr>
            <p:spPr>
              <a:xfrm>
                <a:off x="2514" y="3734"/>
                <a:ext cx="6700" cy="1453"/>
              </a:xfrm>
              <a:prstGeom prst="rect">
                <a:avLst/>
              </a:prstGeom>
              <a:solidFill>
                <a:schemeClr val="accent1">
                  <a:lumMod val="20000"/>
                  <a:lumOff val="80000"/>
                </a:schemeClr>
              </a:solidFill>
              <a:ln>
                <a:solidFill>
                  <a:schemeClr val="accent1"/>
                </a:solidFill>
              </a:ln>
            </p:spPr>
            <p:txBody>
              <a:bodyPr wrap="square" rtlCol="0">
                <a:noAutofit/>
              </a:bodyPr>
              <a:p>
                <a:pPr>
                  <a:lnSpc>
                    <a:spcPct val="130000"/>
                  </a:lnSpc>
                </a:pPr>
                <a:r>
                  <a:rPr lang="zh-CN" altLang="en-US" sz="1400" b="1"/>
                  <a:t>定义每个主要组件对外提供的服务接口，隐藏其内部复杂的类、算法和数据。</a:t>
                </a:r>
                <a:endParaRPr lang="zh-CN" altLang="en-US" sz="1400" b="1"/>
              </a:p>
            </p:txBody>
          </p:sp>
        </p:grpSp>
        <p:grpSp>
          <p:nvGrpSpPr>
            <p:cNvPr id="21" name="组合 20"/>
            <p:cNvGrpSpPr/>
            <p:nvPr>
              <p:custDataLst>
                <p:tags r:id="rId13"/>
              </p:custDataLst>
            </p:nvPr>
          </p:nvGrpSpPr>
          <p:grpSpPr>
            <a:xfrm>
              <a:off x="281" y="7457"/>
              <a:ext cx="8829" cy="1262"/>
              <a:chOff x="743" y="3734"/>
              <a:chExt cx="8474" cy="1454"/>
            </a:xfrm>
          </p:grpSpPr>
          <p:sp>
            <p:nvSpPr>
              <p:cNvPr id="22" name="文本框 21"/>
              <p:cNvSpPr txBox="1"/>
              <p:nvPr>
                <p:custDataLst>
                  <p:tags r:id="rId14"/>
                </p:custDataLst>
              </p:nvPr>
            </p:nvSpPr>
            <p:spPr>
              <a:xfrm>
                <a:off x="743" y="3734"/>
                <a:ext cx="1771" cy="1454"/>
              </a:xfrm>
              <a:prstGeom prst="rect">
                <a:avLst/>
              </a:prstGeom>
              <a:solidFill>
                <a:srgbClr val="00B050"/>
              </a:solidFill>
              <a:ln>
                <a:solidFill>
                  <a:schemeClr val="accent1"/>
                </a:solidFill>
              </a:ln>
            </p:spPr>
            <p:txBody>
              <a:bodyPr wrap="square" rtlCol="0">
                <a:noAutofit/>
              </a:bodyPr>
              <a:p>
                <a:pPr algn="ctr">
                  <a:lnSpc>
                    <a:spcPct val="130000"/>
                  </a:lnSpc>
                  <a:buClrTx/>
                  <a:buSzTx/>
                  <a:buFontTx/>
                </a:pPr>
                <a:r>
                  <a:rPr lang="zh-CN" altLang="en-US" sz="1400" b="1">
                    <a:solidFill>
                      <a:schemeClr val="bg2"/>
                    </a:solidFill>
                  </a:rPr>
                  <a:t>技术基础设施抽象</a:t>
                </a:r>
                <a:endParaRPr lang="zh-CN" altLang="en-US" sz="1400" b="1">
                  <a:solidFill>
                    <a:schemeClr val="bg2"/>
                  </a:solidFill>
                </a:endParaRPr>
              </a:p>
            </p:txBody>
          </p:sp>
          <p:sp>
            <p:nvSpPr>
              <p:cNvPr id="23" name="文本框 22"/>
              <p:cNvSpPr txBox="1"/>
              <p:nvPr>
                <p:custDataLst>
                  <p:tags r:id="rId15"/>
                </p:custDataLst>
              </p:nvPr>
            </p:nvSpPr>
            <p:spPr>
              <a:xfrm>
                <a:off x="2514" y="3734"/>
                <a:ext cx="6703" cy="1453"/>
              </a:xfrm>
              <a:prstGeom prst="rect">
                <a:avLst/>
              </a:prstGeom>
              <a:solidFill>
                <a:srgbClr val="DCF1E0"/>
              </a:solidFill>
              <a:ln>
                <a:solidFill>
                  <a:schemeClr val="accent1"/>
                </a:solidFill>
              </a:ln>
            </p:spPr>
            <p:txBody>
              <a:bodyPr wrap="square" rtlCol="0">
                <a:noAutofit/>
              </a:bodyPr>
              <a:p>
                <a:pPr>
                  <a:lnSpc>
                    <a:spcPct val="130000"/>
                  </a:lnSpc>
                </a:pPr>
                <a:r>
                  <a:rPr lang="zh-CN" altLang="en-US" sz="1400" b="1"/>
                  <a:t>对底层技术细节进行统一封装，提供更简洁、稳定的编程接口。</a:t>
                </a:r>
                <a:endParaRPr lang="zh-CN" altLang="en-US" sz="1400" b="1"/>
              </a:p>
            </p:txBody>
          </p:sp>
        </p:grpSp>
      </p:grpSp>
      <p:sp>
        <p:nvSpPr>
          <p:cNvPr id="25" name="圆角矩形 24"/>
          <p:cNvSpPr/>
          <p:nvPr/>
        </p:nvSpPr>
        <p:spPr>
          <a:xfrm>
            <a:off x="156210" y="5662930"/>
            <a:ext cx="5629275" cy="927735"/>
          </a:xfrm>
          <a:prstGeom prst="roundRect">
            <a:avLst/>
          </a:prstGeom>
          <a:solidFill>
            <a:schemeClr val="accent4"/>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lnSpc>
                <a:spcPct val="160000"/>
              </a:lnSpc>
            </a:pPr>
            <a:r>
              <a:rPr lang="zh-CN" altLang="en-US" sz="1400" b="1"/>
              <a:t>抽象在设计中主要通过 “</a:t>
            </a:r>
            <a:r>
              <a:rPr lang="zh-CN" altLang="en-US" sz="1400" b="1">
                <a:solidFill>
                  <a:srgbClr val="FFFF00"/>
                </a:solidFill>
              </a:rPr>
              <a:t>定义接口，隐藏实现</a:t>
            </a:r>
            <a:r>
              <a:rPr lang="zh-CN" altLang="en-US" sz="1400" b="1"/>
              <a:t>” 来体现</a:t>
            </a:r>
            <a:endParaRPr lang="zh-CN" altLang="en-US" sz="1400" b="1"/>
          </a:p>
          <a:p>
            <a:pPr algn="ctr">
              <a:lnSpc>
                <a:spcPct val="160000"/>
              </a:lnSpc>
            </a:pPr>
            <a:r>
              <a:rPr lang="zh-CN" altLang="en-US" sz="1400" b="1"/>
              <a:t>接口是抽象的具体化身</a:t>
            </a:r>
            <a:endParaRPr lang="zh-CN" altLang="en-US" sz="1400" b="1"/>
          </a:p>
        </p:txBody>
      </p:sp>
      <p:sp>
        <p:nvSpPr>
          <p:cNvPr id="26" name="文本框 25"/>
          <p:cNvSpPr txBox="1"/>
          <p:nvPr/>
        </p:nvSpPr>
        <p:spPr>
          <a:xfrm>
            <a:off x="5943600" y="368300"/>
            <a:ext cx="6254115" cy="854075"/>
          </a:xfrm>
          <a:prstGeom prst="rect">
            <a:avLst/>
          </a:prstGeom>
          <a:solidFill>
            <a:schemeClr val="accent4"/>
          </a:solidFill>
        </p:spPr>
        <p:txBody>
          <a:bodyPr wrap="square" rtlCol="0">
            <a:noAutofit/>
          </a:bodyPr>
          <a:p>
            <a:pPr>
              <a:lnSpc>
                <a:spcPct val="150000"/>
              </a:lnSpc>
            </a:pPr>
            <a:r>
              <a:rPr lang="zh-CN" altLang="en-US" sz="1400" b="1">
                <a:solidFill>
                  <a:schemeClr val="bg1"/>
                </a:solidFill>
              </a:rPr>
              <a:t>从对问题的</a:t>
            </a:r>
            <a:r>
              <a:rPr lang="zh-CN" altLang="en-US" sz="1400" b="1">
                <a:solidFill>
                  <a:srgbClr val="FFFF00"/>
                </a:solidFill>
              </a:rPr>
              <a:t>高度概括、抽象的</a:t>
            </a:r>
            <a:r>
              <a:rPr lang="zh-CN" altLang="en-US" sz="1400" b="1">
                <a:solidFill>
                  <a:schemeClr val="bg1"/>
                </a:solidFill>
              </a:rPr>
              <a:t>表述开始，然后通过</a:t>
            </a:r>
            <a:r>
              <a:rPr lang="zh-CN" altLang="en-US" sz="1400" b="1">
                <a:solidFill>
                  <a:srgbClr val="FF0000"/>
                </a:solidFill>
              </a:rPr>
              <a:t>连续的精化步骤</a:t>
            </a:r>
            <a:r>
              <a:rPr lang="zh-CN" altLang="en-US" sz="1400" b="1">
                <a:solidFill>
                  <a:schemeClr val="bg1"/>
                </a:solidFill>
              </a:rPr>
              <a:t>，逐步增加细节，直到获得一个可以用编程语言直接实现的、足够具体的设计描述。</a:t>
            </a:r>
            <a:endParaRPr lang="zh-CN" altLang="en-US" sz="1400" b="1">
              <a:solidFill>
                <a:schemeClr val="bg1"/>
              </a:solidFill>
            </a:endParaRPr>
          </a:p>
        </p:txBody>
      </p:sp>
    </p:spTree>
    <p:custDataLst>
      <p:tags r:id="rId16"/>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文本框 17"/>
          <p:cNvSpPr txBox="1"/>
          <p:nvPr/>
        </p:nvSpPr>
        <p:spPr>
          <a:xfrm>
            <a:off x="10822940" y="399415"/>
            <a:ext cx="1064260" cy="1000125"/>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192405" y="475615"/>
            <a:ext cx="5530850" cy="2912745"/>
          </a:xfrm>
          <a:prstGeom prst="rect">
            <a:avLst/>
          </a:prstGeom>
          <a:noFill/>
        </p:spPr>
        <p:txBody>
          <a:bodyPr wrap="square" rtlCol="0" anchor="t" anchorCtr="0">
            <a:noAutofit/>
          </a:bodyPr>
          <a:p>
            <a:pPr algn="l" eaLnBrk="1" hangingPunct="1">
              <a:lnSpc>
                <a:spcPct val="180000"/>
              </a:lnSpc>
              <a:buClrTx/>
              <a:buSzTx/>
              <a:buFontTx/>
            </a:pPr>
            <a:r>
              <a:rPr lang="zh-CN" altLang="en-US" sz="1400" b="1" dirty="0">
                <a:solidFill>
                  <a:srgbClr val="FF0000"/>
                </a:solidFill>
                <a:latin typeface="Bodoni MT Black" panose="02070A03080606020203" pitchFamily="18" charset="0"/>
                <a:sym typeface="+mn-ea"/>
              </a:rPr>
              <a:t>信息隐藏：</a:t>
            </a:r>
            <a:r>
              <a:rPr lang="zh-CN" altLang="en-US" sz="1400" b="1" dirty="0">
                <a:solidFill>
                  <a:schemeClr val="tx1"/>
                </a:solidFill>
                <a:latin typeface="Bodoni MT Black" panose="02070A03080606020203" pitchFamily="18" charset="0"/>
                <a:sym typeface="+mn-ea"/>
              </a:rPr>
              <a:t>模块应隐藏其内部设计和实现细节，仅通过一个明确的、受控的</a:t>
            </a:r>
            <a:r>
              <a:rPr lang="zh-CN" altLang="en-US" sz="1400" b="1" dirty="0">
                <a:solidFill>
                  <a:srgbClr val="FF0000"/>
                </a:solidFill>
                <a:highlight>
                  <a:srgbClr val="FFFF00"/>
                </a:highlight>
                <a:latin typeface="Bodoni MT Black" panose="02070A03080606020203" pitchFamily="18" charset="0"/>
                <a:sym typeface="+mn-ea"/>
              </a:rPr>
              <a:t>接口</a:t>
            </a:r>
            <a:r>
              <a:rPr lang="zh-CN" altLang="en-US" sz="1400" b="1" dirty="0">
                <a:solidFill>
                  <a:schemeClr val="tx1"/>
                </a:solidFill>
                <a:latin typeface="Bodoni MT Black" panose="02070A03080606020203" pitchFamily="18" charset="0"/>
                <a:sym typeface="+mn-ea"/>
              </a:rPr>
              <a:t>与外界通信。</a:t>
            </a:r>
            <a:endParaRPr lang="zh-CN" altLang="en-US" sz="1400" b="1" dirty="0">
              <a:solidFill>
                <a:schemeClr val="tx1"/>
              </a:solidFill>
              <a:latin typeface="Bodoni MT Black" panose="02070A03080606020203" pitchFamily="18" charset="0"/>
              <a:sym typeface="+mn-ea"/>
            </a:endParaRPr>
          </a:p>
          <a:p>
            <a:pPr algn="l" eaLnBrk="1" hangingPunct="1">
              <a:lnSpc>
                <a:spcPct val="180000"/>
              </a:lnSpc>
              <a:buClrTx/>
              <a:buSzTx/>
              <a:buFontTx/>
            </a:pPr>
            <a:r>
              <a:rPr lang="zh-CN" altLang="en-US" sz="1400" b="1" dirty="0">
                <a:solidFill>
                  <a:srgbClr val="00B0F0"/>
                </a:solidFill>
                <a:latin typeface="Bodoni MT Black" panose="02070A03080606020203" pitchFamily="18" charset="0"/>
                <a:sym typeface="+mn-ea"/>
              </a:rPr>
              <a:t>“隐藏什么”</a:t>
            </a:r>
            <a:r>
              <a:rPr lang="zh-CN" altLang="en-US" sz="1400" b="1" dirty="0">
                <a:solidFill>
                  <a:schemeClr val="tx2"/>
                </a:solidFill>
                <a:latin typeface="Bodoni MT Black" panose="02070A03080606020203" pitchFamily="18" charset="0"/>
                <a:sym typeface="+mn-ea"/>
              </a:rPr>
              <a:t>——隐藏容易变化的决策、复杂的数据结构和算法、可能出错的细节。</a:t>
            </a:r>
            <a:endParaRPr lang="zh-CN" altLang="en-US" sz="1400" b="1" dirty="0">
              <a:solidFill>
                <a:schemeClr val="tx2"/>
              </a:solidFill>
              <a:latin typeface="Bodoni MT Black" panose="02070A03080606020203" pitchFamily="18" charset="0"/>
              <a:sym typeface="+mn-ea"/>
            </a:endParaRPr>
          </a:p>
          <a:p>
            <a:pPr algn="l" eaLnBrk="1" hangingPunct="1">
              <a:lnSpc>
                <a:spcPct val="180000"/>
              </a:lnSpc>
              <a:buClrTx/>
              <a:buSzTx/>
              <a:buFontTx/>
            </a:pPr>
            <a:r>
              <a:rPr lang="zh-CN" altLang="en-US" sz="1400" b="1" dirty="0">
                <a:solidFill>
                  <a:srgbClr val="FF0000"/>
                </a:solidFill>
                <a:latin typeface="Bodoni MT Black" panose="02070A03080606020203" pitchFamily="18" charset="0"/>
                <a:sym typeface="+mn-ea"/>
              </a:rPr>
              <a:t>局部化：</a:t>
            </a:r>
            <a:r>
              <a:rPr lang="zh-CN" altLang="en-US" sz="1400" b="1" dirty="0">
                <a:solidFill>
                  <a:schemeClr val="tx1"/>
                </a:solidFill>
                <a:latin typeface="Bodoni MT Black" panose="02070A03080606020203" pitchFamily="18" charset="0"/>
                <a:sym typeface="+mn-ea"/>
              </a:rPr>
              <a:t>将与特定特征、功能或变更相关的内容（数据、逻辑、决策）尽量集中放置在一起。</a:t>
            </a:r>
            <a:r>
              <a:rPr lang="zh-CN" altLang="en-US" sz="1400" b="1" dirty="0">
                <a:latin typeface="Bodoni MT Black" panose="02070A03080606020203" pitchFamily="18" charset="0"/>
                <a:sym typeface="+mn-ea"/>
              </a:rPr>
              <a:t>这可以包括将特定功能的代码放在一起形成一个模块，或者将相关的数据定义在特定的区域内。</a:t>
            </a:r>
            <a:endParaRPr lang="zh-CN" altLang="en-US" sz="1400" b="1" dirty="0">
              <a:latin typeface="Bodoni MT Black" panose="02070A03080606020203" pitchFamily="18" charset="0"/>
              <a:sym typeface="+mn-ea"/>
            </a:endParaRPr>
          </a:p>
        </p:txBody>
      </p:sp>
      <p:sp>
        <p:nvSpPr>
          <p:cNvPr id="4" name="文本框 3"/>
          <p:cNvSpPr txBox="1"/>
          <p:nvPr/>
        </p:nvSpPr>
        <p:spPr>
          <a:xfrm>
            <a:off x="13970" y="3515360"/>
            <a:ext cx="3020060" cy="2261870"/>
          </a:xfrm>
          <a:prstGeom prst="rect">
            <a:avLst/>
          </a:prstGeom>
          <a:solidFill>
            <a:schemeClr val="accent1"/>
          </a:solidFill>
          <a:ln>
            <a:solidFill>
              <a:schemeClr val="accent1"/>
            </a:solidFill>
          </a:ln>
        </p:spPr>
        <p:txBody>
          <a:bodyPr wrap="square" rtlCol="0">
            <a:noAutofit/>
          </a:bodyPr>
          <a:p>
            <a:pPr>
              <a:lnSpc>
                <a:spcPct val="190000"/>
              </a:lnSpc>
            </a:pPr>
            <a:r>
              <a:rPr lang="zh-CN" altLang="en-US" sz="1400" b="1">
                <a:solidFill>
                  <a:srgbClr val="FFFF00"/>
                </a:solidFill>
              </a:rPr>
              <a:t>信息隐藏的优点：</a:t>
            </a:r>
            <a:r>
              <a:rPr lang="zh-CN" altLang="en-US" sz="1400" b="1">
                <a:solidFill>
                  <a:schemeClr val="bg2"/>
                </a:solidFill>
              </a:rPr>
              <a:t>是指将模块的实现细节隐藏起来，只暴露必要的接口给其他模块使用。这样做的好处是可以</a:t>
            </a:r>
            <a:r>
              <a:rPr lang="zh-CN" altLang="en-US" sz="1400" b="1">
                <a:solidFill>
                  <a:srgbClr val="FF0000"/>
                </a:solidFill>
              </a:rPr>
              <a:t>减少模块之间的耦合度</a:t>
            </a:r>
            <a:r>
              <a:rPr lang="zh-CN" altLang="en-US" sz="1400" b="1">
                <a:solidFill>
                  <a:schemeClr val="bg2"/>
                </a:solidFill>
              </a:rPr>
              <a:t>，提高模块的独立性和可维护性。</a:t>
            </a:r>
            <a:endParaRPr lang="zh-CN" altLang="en-US" sz="1400" b="1">
              <a:solidFill>
                <a:schemeClr val="bg2"/>
              </a:solidFill>
            </a:endParaRPr>
          </a:p>
        </p:txBody>
      </p:sp>
      <p:sp>
        <p:nvSpPr>
          <p:cNvPr id="7" name="文本框 6"/>
          <p:cNvSpPr txBox="1"/>
          <p:nvPr/>
        </p:nvSpPr>
        <p:spPr>
          <a:xfrm>
            <a:off x="3034030" y="3515360"/>
            <a:ext cx="2867660" cy="2261870"/>
          </a:xfrm>
          <a:prstGeom prst="rect">
            <a:avLst/>
          </a:prstGeom>
          <a:solidFill>
            <a:schemeClr val="accent3"/>
          </a:solidFill>
          <a:ln>
            <a:solidFill>
              <a:schemeClr val="accent1"/>
            </a:solidFill>
          </a:ln>
        </p:spPr>
        <p:txBody>
          <a:bodyPr wrap="square" rtlCol="0">
            <a:noAutofit/>
          </a:bodyPr>
          <a:p>
            <a:pPr algn="l" eaLnBrk="1" fontAlgn="auto" hangingPunct="1">
              <a:lnSpc>
                <a:spcPct val="170000"/>
              </a:lnSpc>
              <a:spcBef>
                <a:spcPts val="0"/>
              </a:spcBef>
              <a:buClrTx/>
              <a:buSzTx/>
              <a:buFontTx/>
            </a:pPr>
            <a:r>
              <a:rPr lang="zh-CN" altLang="en-US" sz="1400" b="1">
                <a:solidFill>
                  <a:srgbClr val="FFFF00"/>
                </a:solidFill>
                <a:sym typeface="+mn-ea"/>
              </a:rPr>
              <a:t>局部化的优点：</a:t>
            </a:r>
            <a:r>
              <a:rPr lang="zh-CN" altLang="en-US" sz="1400" b="1" dirty="0">
                <a:solidFill>
                  <a:schemeClr val="bg2"/>
                </a:solidFill>
                <a:latin typeface="Bodoni MT Black" panose="02070A03080606020203" pitchFamily="18" charset="0"/>
                <a:sym typeface="+mn-ea"/>
              </a:rPr>
              <a:t>有助于实现信息隐藏，因为不同模块之间的紧密联系被限制在局部范围内，避免了系统中</a:t>
            </a:r>
            <a:r>
              <a:rPr lang="zh-CN" altLang="en-US" sz="1400" b="1">
                <a:solidFill>
                  <a:srgbClr val="FF0000"/>
                </a:solidFill>
                <a:sym typeface="+mn-ea"/>
              </a:rPr>
              <a:t>不必要的耦合和依赖</a:t>
            </a:r>
            <a:r>
              <a:rPr lang="zh-CN" altLang="en-US" sz="1400" b="1" dirty="0">
                <a:solidFill>
                  <a:schemeClr val="bg2"/>
                </a:solidFill>
                <a:latin typeface="Bodoni MT Black" panose="02070A03080606020203" pitchFamily="18" charset="0"/>
                <a:sym typeface="+mn-ea"/>
              </a:rPr>
              <a:t>。 </a:t>
            </a:r>
            <a:endParaRPr lang="zh-CN" altLang="en-US" sz="1400" b="1" dirty="0">
              <a:solidFill>
                <a:schemeClr val="bg2"/>
              </a:solidFill>
              <a:latin typeface="Bodoni MT Black" panose="02070A03080606020203" pitchFamily="18" charset="0"/>
              <a:sym typeface="+mn-ea"/>
            </a:endParaRPr>
          </a:p>
        </p:txBody>
      </p:sp>
      <p:sp>
        <p:nvSpPr>
          <p:cNvPr id="13" name="文本框 12"/>
          <p:cNvSpPr txBox="1"/>
          <p:nvPr/>
        </p:nvSpPr>
        <p:spPr>
          <a:xfrm>
            <a:off x="6548755" y="1621155"/>
            <a:ext cx="5047615" cy="955675"/>
          </a:xfrm>
          <a:prstGeom prst="rect">
            <a:avLst/>
          </a:prstGeom>
          <a:solidFill>
            <a:srgbClr val="485C96"/>
          </a:solidFill>
        </p:spPr>
        <p:txBody>
          <a:bodyPr wrap="square" rtlCol="0">
            <a:noAutofit/>
          </a:bodyPr>
          <a:p>
            <a:pPr marL="0" algn="l" eaLnBrk="1" hangingPunct="1">
              <a:lnSpc>
                <a:spcPct val="170000"/>
              </a:lnSpc>
              <a:buClrTx/>
              <a:buSzTx/>
              <a:buFontTx/>
            </a:pPr>
            <a:r>
              <a:rPr lang="zh-CN" altLang="en-US" sz="1400" b="1" dirty="0">
                <a:solidFill>
                  <a:srgbClr val="FFFF00"/>
                </a:solidFill>
                <a:latin typeface="Bodoni MT Black" panose="02070A03080606020203" pitchFamily="18" charset="0"/>
                <a:sym typeface="+mn-ea"/>
              </a:rPr>
              <a:t>高内聚：</a:t>
            </a:r>
            <a:r>
              <a:rPr lang="zh-CN" altLang="en-US" sz="1400" b="1" dirty="0">
                <a:solidFill>
                  <a:schemeClr val="bg2"/>
                </a:solidFill>
                <a:latin typeface="Bodoni MT Black" panose="02070A03080606020203" pitchFamily="18" charset="0"/>
                <a:sym typeface="+mn-ea"/>
              </a:rPr>
              <a:t>模块内部各元素彼此结合的紧密程度高。</a:t>
            </a:r>
            <a:endParaRPr lang="zh-CN" altLang="en-US" sz="1400" b="1" dirty="0">
              <a:solidFill>
                <a:schemeClr val="bg2"/>
              </a:solidFill>
              <a:latin typeface="Bodoni MT Black" panose="02070A03080606020203" pitchFamily="18" charset="0"/>
              <a:sym typeface="+mn-ea"/>
            </a:endParaRPr>
          </a:p>
          <a:p>
            <a:pPr marL="0" algn="l" eaLnBrk="1" hangingPunct="1">
              <a:lnSpc>
                <a:spcPct val="170000"/>
              </a:lnSpc>
              <a:buClrTx/>
              <a:buSzTx/>
              <a:buFontTx/>
            </a:pPr>
            <a:r>
              <a:rPr lang="zh-CN" altLang="en-US" sz="1400" b="1" dirty="0">
                <a:solidFill>
                  <a:srgbClr val="FFFF00"/>
                </a:solidFill>
                <a:latin typeface="Bodoni MT Black" panose="02070A03080606020203" pitchFamily="18" charset="0"/>
                <a:sym typeface="+mn-ea"/>
              </a:rPr>
              <a:t>低耦合：</a:t>
            </a:r>
            <a:r>
              <a:rPr lang="zh-CN" altLang="en-US" sz="1400" b="1" dirty="0">
                <a:solidFill>
                  <a:schemeClr val="bg2"/>
                </a:solidFill>
                <a:latin typeface="Bodoni MT Black" panose="02070A03080606020203" pitchFamily="18" charset="0"/>
                <a:sym typeface="+mn-ea"/>
              </a:rPr>
              <a:t>模块之间相互依赖的关联程度低。</a:t>
            </a:r>
            <a:endParaRPr lang="zh-CN" altLang="en-US" sz="1400" b="1" dirty="0">
              <a:solidFill>
                <a:schemeClr val="bg2"/>
              </a:solidFill>
              <a:latin typeface="Bodoni MT Black" panose="02070A03080606020203" pitchFamily="18" charset="0"/>
              <a:sym typeface="+mn-ea"/>
            </a:endParaRPr>
          </a:p>
        </p:txBody>
      </p:sp>
      <p:sp>
        <p:nvSpPr>
          <p:cNvPr id="15" name="文本框 14"/>
          <p:cNvSpPr txBox="1"/>
          <p:nvPr/>
        </p:nvSpPr>
        <p:spPr>
          <a:xfrm>
            <a:off x="6000115" y="2622550"/>
            <a:ext cx="6025515" cy="928370"/>
          </a:xfrm>
          <a:prstGeom prst="rect">
            <a:avLst/>
          </a:prstGeom>
          <a:solidFill>
            <a:schemeClr val="bg1"/>
          </a:solidFill>
        </p:spPr>
        <p:txBody>
          <a:bodyPr wrap="square" rtlCol="0">
            <a:noAutofit/>
          </a:bodyPr>
          <a:p>
            <a:pPr marL="0" algn="l" eaLnBrk="1" hangingPunct="1">
              <a:lnSpc>
                <a:spcPct val="170000"/>
              </a:lnSpc>
              <a:buClrTx/>
              <a:buSzTx/>
              <a:buFontTx/>
            </a:pPr>
            <a:r>
              <a:rPr lang="zh-CN" altLang="en-US" sz="1400" b="1" dirty="0">
                <a:solidFill>
                  <a:srgbClr val="FF0000"/>
                </a:solidFill>
                <a:latin typeface="Bodoni MT Black" panose="02070A03080606020203" pitchFamily="18" charset="0"/>
                <a:sym typeface="+mn-ea"/>
              </a:rPr>
              <a:t>耦合</a:t>
            </a:r>
            <a:r>
              <a:rPr lang="zh-CN" altLang="en-US" sz="1400" b="1" dirty="0">
                <a:latin typeface="Bodoni MT Black" panose="02070A03080606020203" pitchFamily="18" charset="0"/>
                <a:sym typeface="+mn-ea"/>
              </a:rPr>
              <a:t>是对一个软件结构内不同模块之间</a:t>
            </a:r>
            <a:r>
              <a:rPr lang="zh-CN" altLang="en-US" sz="1400" b="1" dirty="0">
                <a:solidFill>
                  <a:srgbClr val="FF0000"/>
                </a:solidFill>
                <a:latin typeface="Bodoni MT Black" panose="02070A03080606020203" pitchFamily="18" charset="0"/>
                <a:sym typeface="+mn-ea"/>
              </a:rPr>
              <a:t>互连程度的度量</a:t>
            </a:r>
            <a:r>
              <a:rPr lang="zh-CN" altLang="en-US" sz="1400" b="1" dirty="0">
                <a:latin typeface="Bodoni MT Black" panose="02070A03080606020203" pitchFamily="18" charset="0"/>
                <a:sym typeface="+mn-ea"/>
              </a:rPr>
              <a:t>。耦合强弱取决于模块间</a:t>
            </a:r>
            <a:r>
              <a:rPr lang="zh-CN" altLang="en-US" sz="1400" b="1" dirty="0">
                <a:highlight>
                  <a:srgbClr val="FFFF00"/>
                </a:highlight>
                <a:latin typeface="Bodoni MT Black" panose="02070A03080606020203" pitchFamily="18" charset="0"/>
                <a:sym typeface="+mn-ea"/>
              </a:rPr>
              <a:t>接口的复杂程度</a:t>
            </a:r>
            <a:r>
              <a:rPr lang="zh-CN" altLang="en-US" sz="1400" b="1" dirty="0">
                <a:latin typeface="Bodoni MT Black" panose="02070A03080606020203" pitchFamily="18" charset="0"/>
                <a:sym typeface="+mn-ea"/>
              </a:rPr>
              <a:t>，进入或访问一个模块的点，以及通过接口的数据。</a:t>
            </a:r>
            <a:endParaRPr lang="zh-CN" altLang="en-US" b="1"/>
          </a:p>
        </p:txBody>
      </p:sp>
      <p:pic>
        <p:nvPicPr>
          <p:cNvPr id="16" name="图片 15"/>
          <p:cNvPicPr>
            <a:picLocks noChangeAspect="1"/>
          </p:cNvPicPr>
          <p:nvPr/>
        </p:nvPicPr>
        <p:blipFill>
          <a:blip r:embed="rId1"/>
          <a:stretch>
            <a:fillRect/>
          </a:stretch>
        </p:blipFill>
        <p:spPr>
          <a:xfrm>
            <a:off x="6122035" y="3353435"/>
            <a:ext cx="5765800" cy="1012190"/>
          </a:xfrm>
          <a:prstGeom prst="rect">
            <a:avLst/>
          </a:prstGeom>
        </p:spPr>
      </p:pic>
      <p:sp>
        <p:nvSpPr>
          <p:cNvPr id="17" name="文本框 16"/>
          <p:cNvSpPr txBox="1"/>
          <p:nvPr/>
        </p:nvSpPr>
        <p:spPr>
          <a:xfrm>
            <a:off x="5943600" y="4365625"/>
            <a:ext cx="6257925" cy="2487930"/>
          </a:xfrm>
          <a:prstGeom prst="rect">
            <a:avLst/>
          </a:prstGeom>
          <a:solidFill>
            <a:schemeClr val="accent1"/>
          </a:solidFill>
        </p:spPr>
        <p:txBody>
          <a:bodyPr wrap="square" rtlCol="0">
            <a:noAutofit/>
          </a:bodyPr>
          <a:p>
            <a:pPr algn="l">
              <a:lnSpc>
                <a:spcPct val="140000"/>
              </a:lnSpc>
            </a:pPr>
            <a:r>
              <a:rPr lang="zh-CN" altLang="en-US" sz="1200" b="1">
                <a:solidFill>
                  <a:srgbClr val="FFFF00"/>
                </a:solidFill>
              </a:rPr>
              <a:t>非直接耦合</a:t>
            </a:r>
            <a:r>
              <a:rPr lang="zh-CN" altLang="en-US" sz="1200" b="1">
                <a:solidFill>
                  <a:srgbClr val="00B0F0"/>
                </a:solidFill>
              </a:rPr>
              <a:t>：</a:t>
            </a:r>
            <a:r>
              <a:rPr lang="zh-CN" altLang="en-US" sz="1200">
                <a:solidFill>
                  <a:schemeClr val="bg1"/>
                </a:solidFill>
              </a:rPr>
              <a:t>两个模块之间没有任何依赖关系（</a:t>
            </a:r>
            <a:r>
              <a:rPr lang="zh-CN" altLang="en-US" sz="1200" b="1">
                <a:solidFill>
                  <a:srgbClr val="FF0000"/>
                </a:solidFill>
              </a:rPr>
              <a:t>不可能</a:t>
            </a:r>
            <a:r>
              <a:rPr lang="zh-CN" altLang="en-US" sz="1200">
                <a:solidFill>
                  <a:schemeClr val="bg1"/>
                </a:solidFill>
              </a:rPr>
              <a:t>）</a:t>
            </a:r>
            <a:endParaRPr lang="zh-CN" altLang="en-US" sz="1200">
              <a:solidFill>
                <a:schemeClr val="bg1"/>
              </a:solidFill>
            </a:endParaRPr>
          </a:p>
          <a:p>
            <a:pPr algn="l">
              <a:lnSpc>
                <a:spcPct val="140000"/>
              </a:lnSpc>
            </a:pPr>
            <a:r>
              <a:rPr lang="zh-CN" altLang="en-US" sz="1200" b="1">
                <a:solidFill>
                  <a:srgbClr val="FFFF00"/>
                </a:solidFill>
              </a:rPr>
              <a:t>数据耦合：</a:t>
            </a:r>
            <a:r>
              <a:rPr lang="zh-CN" altLang="en-US" sz="1200">
                <a:solidFill>
                  <a:schemeClr val="bg1"/>
                </a:solidFill>
              </a:rPr>
              <a:t>两个模块之间通过参数（通常是必要的）进行交互，传递的是基础数据类型，而不是复杂的对象（</a:t>
            </a:r>
            <a:r>
              <a:rPr lang="zh-CN" altLang="en-US" sz="1200" b="1">
                <a:solidFill>
                  <a:srgbClr val="FF0000"/>
                </a:solidFill>
              </a:rPr>
              <a:t>良好</a:t>
            </a:r>
            <a:r>
              <a:rPr lang="zh-CN" altLang="en-US" sz="1200">
                <a:solidFill>
                  <a:schemeClr val="bg1"/>
                </a:solidFill>
              </a:rPr>
              <a:t>）</a:t>
            </a:r>
            <a:endParaRPr lang="zh-CN" altLang="en-US" sz="1200">
              <a:solidFill>
                <a:schemeClr val="bg1"/>
              </a:solidFill>
            </a:endParaRPr>
          </a:p>
          <a:p>
            <a:pPr algn="l">
              <a:lnSpc>
                <a:spcPct val="140000"/>
              </a:lnSpc>
            </a:pPr>
            <a:r>
              <a:rPr lang="zh-CN" altLang="en-US" sz="1200" b="1">
                <a:solidFill>
                  <a:srgbClr val="FFFF00"/>
                </a:solidFill>
              </a:rPr>
              <a:t>标记耦合：</a:t>
            </a:r>
            <a:r>
              <a:rPr lang="zh-CN" altLang="en-US" sz="1200">
                <a:solidFill>
                  <a:schemeClr val="bg1"/>
                </a:solidFill>
              </a:rPr>
              <a:t>模块之间共享一个复合数据结构（如结构体或类），但可能只用到了数据结构中的部分数据（</a:t>
            </a:r>
            <a:r>
              <a:rPr lang="zh-CN" altLang="en-US" sz="1200" b="1">
                <a:solidFill>
                  <a:srgbClr val="FF0000"/>
                </a:solidFill>
              </a:rPr>
              <a:t>不必要的依赖</a:t>
            </a:r>
            <a:r>
              <a:rPr lang="zh-CN" altLang="en-US" sz="1200">
                <a:solidFill>
                  <a:schemeClr val="bg1"/>
                </a:solidFill>
              </a:rPr>
              <a:t>）</a:t>
            </a:r>
            <a:endParaRPr lang="zh-CN" altLang="en-US" sz="1200">
              <a:solidFill>
                <a:schemeClr val="bg1"/>
              </a:solidFill>
            </a:endParaRPr>
          </a:p>
          <a:p>
            <a:pPr algn="l">
              <a:lnSpc>
                <a:spcPct val="140000"/>
              </a:lnSpc>
            </a:pPr>
            <a:r>
              <a:rPr lang="zh-CN" altLang="en-US" sz="1200" b="1">
                <a:solidFill>
                  <a:srgbClr val="FFFF00"/>
                </a:solidFill>
              </a:rPr>
              <a:t>控制耦合：</a:t>
            </a:r>
            <a:r>
              <a:rPr lang="zh-CN" altLang="en-US" sz="1200">
                <a:solidFill>
                  <a:schemeClr val="bg1"/>
                </a:solidFill>
              </a:rPr>
              <a:t>一个模块传递信息给另一个模块，用来控制后者的逻辑流程（</a:t>
            </a:r>
            <a:r>
              <a:rPr lang="zh-CN" altLang="en-US" sz="1200" b="1">
                <a:solidFill>
                  <a:srgbClr val="FF0000"/>
                </a:solidFill>
              </a:rPr>
              <a:t>需谨慎</a:t>
            </a:r>
            <a:r>
              <a:rPr lang="zh-CN" altLang="en-US" sz="1200">
                <a:solidFill>
                  <a:schemeClr val="bg1"/>
                </a:solidFill>
              </a:rPr>
              <a:t>）</a:t>
            </a:r>
            <a:endParaRPr lang="zh-CN" altLang="en-US" sz="1200">
              <a:solidFill>
                <a:schemeClr val="bg1"/>
              </a:solidFill>
            </a:endParaRPr>
          </a:p>
          <a:p>
            <a:pPr algn="l">
              <a:lnSpc>
                <a:spcPct val="140000"/>
              </a:lnSpc>
            </a:pPr>
            <a:r>
              <a:rPr lang="zh-CN" altLang="en-US" sz="1200" b="1">
                <a:solidFill>
                  <a:srgbClr val="FFFF00"/>
                </a:solidFill>
              </a:rPr>
              <a:t>外部耦合：</a:t>
            </a:r>
            <a:r>
              <a:rPr lang="zh-CN" altLang="en-US" sz="1200">
                <a:solidFill>
                  <a:schemeClr val="bg1"/>
                </a:solidFill>
              </a:rPr>
              <a:t>模块依赖于同一个外部协议、格式或设备。有时不可避免，但应将其封装。</a:t>
            </a:r>
            <a:endParaRPr lang="zh-CN" altLang="en-US" sz="1200">
              <a:solidFill>
                <a:schemeClr val="bg1"/>
              </a:solidFill>
            </a:endParaRPr>
          </a:p>
          <a:p>
            <a:pPr algn="l">
              <a:lnSpc>
                <a:spcPct val="140000"/>
              </a:lnSpc>
            </a:pPr>
            <a:r>
              <a:rPr lang="zh-CN" altLang="en-US" sz="1200" b="1">
                <a:solidFill>
                  <a:srgbClr val="FFFF00"/>
                </a:solidFill>
              </a:rPr>
              <a:t>公共耦合：</a:t>
            </a:r>
            <a:r>
              <a:rPr lang="zh-CN" altLang="en-US" sz="1200">
                <a:solidFill>
                  <a:schemeClr val="bg1"/>
                </a:solidFill>
              </a:rPr>
              <a:t>当多个模块共享同一个全局数据时发生的耦合（</a:t>
            </a:r>
            <a:r>
              <a:rPr lang="zh-CN" altLang="en-US" sz="1200" b="1">
                <a:solidFill>
                  <a:srgbClr val="FF0000"/>
                </a:solidFill>
              </a:rPr>
              <a:t>非常危险</a:t>
            </a:r>
            <a:r>
              <a:rPr lang="zh-CN" altLang="en-US" sz="1200">
                <a:solidFill>
                  <a:schemeClr val="bg1"/>
                </a:solidFill>
              </a:rPr>
              <a:t>）</a:t>
            </a:r>
            <a:endParaRPr lang="zh-CN" altLang="en-US" sz="1200">
              <a:solidFill>
                <a:schemeClr val="bg1"/>
              </a:solidFill>
            </a:endParaRPr>
          </a:p>
          <a:p>
            <a:pPr algn="l">
              <a:lnSpc>
                <a:spcPct val="140000"/>
              </a:lnSpc>
            </a:pPr>
            <a:r>
              <a:rPr lang="zh-CN" altLang="en-US" sz="1200" b="1">
                <a:solidFill>
                  <a:srgbClr val="FFFF00"/>
                </a:solidFill>
              </a:rPr>
              <a:t>内容耦合：</a:t>
            </a:r>
            <a:r>
              <a:rPr lang="zh-CN" altLang="en-US" sz="1200">
                <a:solidFill>
                  <a:schemeClr val="bg1"/>
                </a:solidFill>
              </a:rPr>
              <a:t>一个模块直接使用或修改另一个模块的内部数据或逻辑。（</a:t>
            </a:r>
            <a:r>
              <a:rPr lang="zh-CN" altLang="en-US" sz="1200" b="1">
                <a:solidFill>
                  <a:srgbClr val="FF0000"/>
                </a:solidFill>
              </a:rPr>
              <a:t>绝对禁止</a:t>
            </a:r>
            <a:r>
              <a:rPr lang="zh-CN" altLang="en-US" sz="1200">
                <a:solidFill>
                  <a:schemeClr val="bg1"/>
                </a:solidFill>
              </a:rPr>
              <a:t>）</a:t>
            </a:r>
            <a:endParaRPr lang="zh-CN" altLang="en-US" sz="1200">
              <a:solidFill>
                <a:schemeClr val="bg1"/>
              </a:solidFill>
            </a:endParaRPr>
          </a:p>
        </p:txBody>
      </p:sp>
      <p:sp>
        <p:nvSpPr>
          <p:cNvPr id="3" name="文本框 2"/>
          <p:cNvSpPr txBox="1"/>
          <p:nvPr/>
        </p:nvSpPr>
        <p:spPr>
          <a:xfrm>
            <a:off x="0" y="0"/>
            <a:ext cx="5922645" cy="368300"/>
          </a:xfrm>
          <a:prstGeom prst="rect">
            <a:avLst/>
          </a:prstGeom>
          <a:solidFill>
            <a:schemeClr val="accent1"/>
          </a:solidFill>
        </p:spPr>
        <p:txBody>
          <a:bodyPr wrap="square" rtlCol="0">
            <a:spAutoFit/>
          </a:bodyPr>
          <a:p>
            <a:r>
              <a:rPr lang="zh-CN" altLang="en-US" b="1">
                <a:solidFill>
                  <a:schemeClr val="bg2"/>
                </a:solidFill>
              </a:rPr>
              <a:t>信息隐藏和局部化</a:t>
            </a:r>
            <a:endParaRPr lang="zh-CN" altLang="en-US" b="1">
              <a:solidFill>
                <a:schemeClr val="bg2"/>
              </a:solidFill>
            </a:endParaRPr>
          </a:p>
        </p:txBody>
      </p:sp>
      <p:sp>
        <p:nvSpPr>
          <p:cNvPr id="5" name="文本框 4"/>
          <p:cNvSpPr txBox="1"/>
          <p:nvPr/>
        </p:nvSpPr>
        <p:spPr>
          <a:xfrm>
            <a:off x="5943600" y="0"/>
            <a:ext cx="6255385" cy="368300"/>
          </a:xfrm>
          <a:prstGeom prst="rect">
            <a:avLst/>
          </a:prstGeom>
          <a:solidFill>
            <a:schemeClr val="accent1"/>
          </a:solidFill>
        </p:spPr>
        <p:txBody>
          <a:bodyPr wrap="square" rtlCol="0">
            <a:spAutoFit/>
          </a:bodyPr>
          <a:p>
            <a:r>
              <a:rPr lang="zh-CN" altLang="en-US" b="1">
                <a:solidFill>
                  <a:schemeClr val="bg2"/>
                </a:solidFill>
              </a:rPr>
              <a:t>模块独立</a:t>
            </a:r>
            <a:endParaRPr lang="zh-CN" altLang="en-US" b="1">
              <a:solidFill>
                <a:schemeClr val="bg2"/>
              </a:solidFill>
            </a:endParaRPr>
          </a:p>
        </p:txBody>
      </p:sp>
      <p:sp>
        <p:nvSpPr>
          <p:cNvPr id="8" name="文本框 7"/>
          <p:cNvSpPr txBox="1"/>
          <p:nvPr/>
        </p:nvSpPr>
        <p:spPr>
          <a:xfrm>
            <a:off x="15240" y="5796280"/>
            <a:ext cx="5886450" cy="1057910"/>
          </a:xfrm>
          <a:prstGeom prst="rect">
            <a:avLst/>
          </a:prstGeom>
          <a:solidFill>
            <a:schemeClr val="accent2">
              <a:lumMod val="75000"/>
            </a:schemeClr>
          </a:solidFill>
        </p:spPr>
        <p:txBody>
          <a:bodyPr wrap="square" rtlCol="0" anchor="ctr" anchorCtr="0">
            <a:noAutofit/>
          </a:bodyPr>
          <a:p>
            <a:pPr algn="l" eaLnBrk="1" hangingPunct="1">
              <a:lnSpc>
                <a:spcPct val="170000"/>
              </a:lnSpc>
              <a:buClrTx/>
              <a:buSzTx/>
              <a:buFontTx/>
            </a:pPr>
            <a:r>
              <a:rPr lang="zh-CN" altLang="en-US" sz="1400" b="1" dirty="0">
                <a:solidFill>
                  <a:srgbClr val="55D5FF"/>
                </a:solidFill>
                <a:latin typeface="Bodoni MT Black" panose="02070A03080606020203" pitchFamily="18" charset="0"/>
                <a:sym typeface="+mn-ea"/>
              </a:rPr>
              <a:t>它们共同服务于软件设计的终极目标：</a:t>
            </a:r>
            <a:r>
              <a:rPr lang="zh-CN" altLang="en-US" sz="1400" b="1" dirty="0">
                <a:solidFill>
                  <a:srgbClr val="FFFF00"/>
                </a:solidFill>
                <a:latin typeface="Bodoni MT Black" panose="02070A03080606020203" pitchFamily="18" charset="0"/>
                <a:sym typeface="+mn-ea"/>
              </a:rPr>
              <a:t>创造一个结构清晰、易于理解、能够低成本应对变化的系统。</a:t>
            </a:r>
            <a:endParaRPr lang="zh-CN" altLang="en-US" sz="1400" b="1" dirty="0">
              <a:solidFill>
                <a:srgbClr val="FFFF00"/>
              </a:solidFill>
              <a:latin typeface="Bodoni MT Black" panose="02070A03080606020203" pitchFamily="18" charset="0"/>
              <a:sym typeface="+mn-ea"/>
            </a:endParaRPr>
          </a:p>
        </p:txBody>
      </p:sp>
      <p:sp>
        <p:nvSpPr>
          <p:cNvPr id="14" name="文本框 13"/>
          <p:cNvSpPr txBox="1"/>
          <p:nvPr/>
        </p:nvSpPr>
        <p:spPr>
          <a:xfrm>
            <a:off x="6000115" y="817880"/>
            <a:ext cx="5924550" cy="685800"/>
          </a:xfrm>
          <a:prstGeom prst="rect">
            <a:avLst/>
          </a:prstGeom>
          <a:noFill/>
        </p:spPr>
        <p:txBody>
          <a:bodyPr wrap="square" rtlCol="0" anchor="ctr" anchorCtr="0">
            <a:noAutofit/>
          </a:bodyPr>
          <a:p>
            <a:pPr algn="l" eaLnBrk="1" hangingPunct="1">
              <a:lnSpc>
                <a:spcPct val="170000"/>
              </a:lnSpc>
              <a:buClrTx/>
              <a:buSzTx/>
              <a:buFontTx/>
            </a:pPr>
            <a:r>
              <a:rPr lang="zh-CN" altLang="en-US" sz="1400" b="1" dirty="0">
                <a:solidFill>
                  <a:srgbClr val="FF0000"/>
                </a:solidFill>
                <a:latin typeface="Bodoni MT Black" panose="02070A03080606020203" pitchFamily="18" charset="0"/>
                <a:sym typeface="+mn-ea"/>
              </a:rPr>
              <a:t>模块独立：</a:t>
            </a:r>
            <a:r>
              <a:rPr lang="zh-CN" altLang="en-US" sz="1400" b="1" dirty="0">
                <a:solidFill>
                  <a:schemeClr val="tx1"/>
                </a:solidFill>
                <a:latin typeface="Bodoni MT Black" panose="02070A03080606020203" pitchFamily="18" charset="0"/>
                <a:sym typeface="+mn-ea"/>
              </a:rPr>
              <a:t>是指系统中的每个模块（可以是类、包、组件、微服务）应具有明确的单一职责，并且与其他模块的关联尽可能少且简单。</a:t>
            </a:r>
            <a:r>
              <a:rPr lang="zh-CN" altLang="en-US" sz="1400" b="1" dirty="0">
                <a:solidFill>
                  <a:schemeClr val="tx1"/>
                </a:solidFill>
                <a:latin typeface="Bodoni MT Black" panose="02070A03080606020203" pitchFamily="18" charset="0"/>
                <a:sym typeface="+mn-ea"/>
              </a:rPr>
              <a:t>它包含两个相辅相成、必须同时追求的维度：</a:t>
            </a:r>
            <a:endParaRPr lang="zh-CN" altLang="en-US" sz="1400" b="1" dirty="0">
              <a:solidFill>
                <a:schemeClr val="tx1"/>
              </a:solidFill>
              <a:latin typeface="Bodoni MT Black" panose="02070A03080606020203" pitchFamily="18" charset="0"/>
              <a:sym typeface="+mn-ea"/>
            </a:endParaRPr>
          </a:p>
          <a:p>
            <a:pPr algn="l" eaLnBrk="1" hangingPunct="1">
              <a:lnSpc>
                <a:spcPct val="170000"/>
              </a:lnSpc>
              <a:buClrTx/>
              <a:buSzTx/>
              <a:buFontTx/>
            </a:pPr>
            <a:endParaRPr lang="zh-CN" altLang="en-US" sz="1400" b="1" dirty="0">
              <a:solidFill>
                <a:schemeClr val="tx1"/>
              </a:solidFill>
              <a:latin typeface="Bodoni MT Black" panose="02070A03080606020203" pitchFamily="18" charset="0"/>
              <a:sym typeface="+mn-ea"/>
            </a:endParaRPr>
          </a:p>
        </p:txBody>
      </p: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文本框 5"/>
          <p:cNvSpPr txBox="1"/>
          <p:nvPr/>
        </p:nvSpPr>
        <p:spPr>
          <a:xfrm>
            <a:off x="10974070" y="323215"/>
            <a:ext cx="1009650" cy="923925"/>
          </a:xfrm>
          <a:prstGeom prst="rect">
            <a:avLst/>
          </a:prstGeom>
          <a:solidFill>
            <a:schemeClr val="bg2"/>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框 1"/>
          <p:cNvSpPr txBox="1"/>
          <p:nvPr/>
        </p:nvSpPr>
        <p:spPr>
          <a:xfrm>
            <a:off x="212090" y="330835"/>
            <a:ext cx="5616575" cy="2220595"/>
          </a:xfrm>
          <a:prstGeom prst="rect">
            <a:avLst/>
          </a:prstGeom>
          <a:noFill/>
        </p:spPr>
        <p:txBody>
          <a:bodyPr wrap="square" rtlCol="0" anchor="t" anchorCtr="0">
            <a:noAutofit/>
          </a:bodyPr>
          <a:p>
            <a:pPr marL="0" algn="l" eaLnBrk="1" hangingPunct="1">
              <a:lnSpc>
                <a:spcPct val="170000"/>
              </a:lnSpc>
              <a:buClrTx/>
              <a:buSzTx/>
              <a:buFontTx/>
            </a:pPr>
            <a:r>
              <a:rPr lang="zh-CN" altLang="en-US" sz="1400" b="1" dirty="0">
                <a:solidFill>
                  <a:srgbClr val="FF0000"/>
                </a:solidFill>
                <a:latin typeface="Bodoni MT Black" panose="02070A03080606020203" pitchFamily="18" charset="0"/>
                <a:sym typeface="+mn-ea"/>
              </a:rPr>
              <a:t>内聚：</a:t>
            </a:r>
            <a:r>
              <a:rPr lang="zh-CN" altLang="en-US" sz="1400" b="1" dirty="0">
                <a:latin typeface="Bodoni MT Black" panose="02070A03080606020203" pitchFamily="18" charset="0"/>
                <a:sym typeface="+mn-ea"/>
              </a:rPr>
              <a:t>内聚衡量一个模块</a:t>
            </a:r>
            <a:r>
              <a:rPr lang="zh-CN" altLang="en-US" sz="1400" b="1" dirty="0">
                <a:solidFill>
                  <a:srgbClr val="00B0F0"/>
                </a:solidFill>
                <a:latin typeface="Bodoni MT Black" panose="02070A03080606020203" pitchFamily="18" charset="0"/>
                <a:sym typeface="+mn-ea"/>
              </a:rPr>
              <a:t>内部各个元素</a:t>
            </a:r>
            <a:r>
              <a:rPr lang="zh-CN" altLang="en-US" sz="1400" b="1" dirty="0">
                <a:latin typeface="Bodoni MT Black" panose="02070A03080606020203" pitchFamily="18" charset="0"/>
                <a:sym typeface="+mn-ea"/>
              </a:rPr>
              <a:t>彼此结合的</a:t>
            </a:r>
            <a:r>
              <a:rPr lang="zh-CN" altLang="en-US" sz="1400" b="1" dirty="0">
                <a:solidFill>
                  <a:srgbClr val="FF0000"/>
                </a:solidFill>
                <a:latin typeface="Bodoni MT Black" panose="02070A03080606020203" pitchFamily="18" charset="0"/>
                <a:sym typeface="+mn-ea"/>
              </a:rPr>
              <a:t>紧密程度</a:t>
            </a:r>
            <a:r>
              <a:rPr lang="zh-CN" altLang="en-US" sz="1400" b="1" dirty="0">
                <a:latin typeface="Bodoni MT Black" panose="02070A03080606020203" pitchFamily="18" charset="0"/>
                <a:sym typeface="+mn-ea"/>
              </a:rPr>
              <a:t>。</a:t>
            </a:r>
            <a:endParaRPr lang="zh-CN" altLang="en-US" sz="1400" b="1" dirty="0">
              <a:latin typeface="Bodoni MT Black" panose="02070A03080606020203" pitchFamily="18" charset="0"/>
            </a:endParaRPr>
          </a:p>
          <a:p>
            <a:pPr marL="0" algn="l" eaLnBrk="1" hangingPunct="1">
              <a:lnSpc>
                <a:spcPct val="170000"/>
              </a:lnSpc>
              <a:buClrTx/>
              <a:buSzTx/>
              <a:buFontTx/>
            </a:pPr>
            <a:r>
              <a:rPr lang="zh-CN" altLang="en-US" sz="1400" b="1" dirty="0">
                <a:latin typeface="Bodoni MT Black" panose="02070A03080606020203" pitchFamily="18" charset="0"/>
                <a:sym typeface="+mn-ea"/>
              </a:rPr>
              <a:t>它是信息隐藏和局部化概念的自然扩展。模块内部的元素（数据、函数、类）共同完成一个紧密相关的单一功能或一组强相关功能。</a:t>
            </a:r>
            <a:endParaRPr lang="zh-CN" altLang="en-US" sz="1400" b="1" dirty="0">
              <a:latin typeface="Bodoni MT Black" panose="02070A03080606020203" pitchFamily="18" charset="0"/>
              <a:sym typeface="+mn-ea"/>
            </a:endParaRPr>
          </a:p>
          <a:p>
            <a:pPr marL="0" algn="l" eaLnBrk="1" hangingPunct="1">
              <a:lnSpc>
                <a:spcPct val="190000"/>
              </a:lnSpc>
              <a:buClrTx/>
              <a:buSzTx/>
              <a:buFontTx/>
            </a:pPr>
            <a:r>
              <a:rPr lang="zh-CN" altLang="en-US" sz="1400" b="1" dirty="0">
                <a:solidFill>
                  <a:srgbClr val="00B0F0"/>
                </a:solidFill>
                <a:latin typeface="Bodoni MT Black" panose="02070A03080606020203" pitchFamily="18" charset="0"/>
                <a:sym typeface="+mn-ea"/>
              </a:rPr>
              <a:t>内聚和耦合是密切相关的</a:t>
            </a:r>
            <a:r>
              <a:rPr lang="zh-CN" altLang="en-US" sz="1400" b="1" dirty="0">
                <a:latin typeface="Bodoni MT Black" panose="02070A03080606020203" pitchFamily="18" charset="0"/>
                <a:sym typeface="+mn-ea"/>
              </a:rPr>
              <a:t>，模块内的高内聚往往意味着模块间的松耦合。内聚分为三大类</a:t>
            </a:r>
            <a:r>
              <a:rPr lang="zh-CN" altLang="en-US" sz="1400" b="1" dirty="0">
                <a:solidFill>
                  <a:srgbClr val="FF0000"/>
                </a:solidFill>
                <a:latin typeface="Bodoni MT Black" panose="02070A03080606020203" pitchFamily="18" charset="0"/>
                <a:sym typeface="+mn-ea"/>
              </a:rPr>
              <a:t>低内聚</a:t>
            </a:r>
            <a:r>
              <a:rPr lang="zh-CN" altLang="en-US" sz="1400" b="1" dirty="0">
                <a:latin typeface="Bodoni MT Black" panose="02070A03080606020203" pitchFamily="18" charset="0"/>
                <a:sym typeface="+mn-ea"/>
              </a:rPr>
              <a:t>、</a:t>
            </a:r>
            <a:r>
              <a:rPr lang="zh-CN" altLang="en-US" sz="1400" b="1" dirty="0">
                <a:solidFill>
                  <a:srgbClr val="FF0000"/>
                </a:solidFill>
                <a:latin typeface="Bodoni MT Black" panose="02070A03080606020203" pitchFamily="18" charset="0"/>
                <a:sym typeface="+mn-ea"/>
              </a:rPr>
              <a:t>中内聚</a:t>
            </a:r>
            <a:r>
              <a:rPr lang="zh-CN" altLang="en-US" sz="1400" b="1" dirty="0">
                <a:latin typeface="Bodoni MT Black" panose="02070A03080606020203" pitchFamily="18" charset="0"/>
                <a:sym typeface="+mn-ea"/>
              </a:rPr>
              <a:t>和高</a:t>
            </a:r>
            <a:r>
              <a:rPr lang="zh-CN" altLang="en-US" sz="1400" b="1" dirty="0">
                <a:solidFill>
                  <a:srgbClr val="FF0000"/>
                </a:solidFill>
                <a:latin typeface="Bodoni MT Black" panose="02070A03080606020203" pitchFamily="18" charset="0"/>
                <a:sym typeface="+mn-ea"/>
              </a:rPr>
              <a:t>内聚。</a:t>
            </a:r>
            <a:endParaRPr lang="zh-CN" altLang="en-US" sz="1400" b="1" dirty="0">
              <a:solidFill>
                <a:srgbClr val="FF0000"/>
              </a:solidFill>
              <a:latin typeface="Bodoni MT Black" panose="02070A03080606020203" pitchFamily="18" charset="0"/>
              <a:sym typeface="+mn-ea"/>
            </a:endParaRPr>
          </a:p>
        </p:txBody>
      </p:sp>
      <p:pic>
        <p:nvPicPr>
          <p:cNvPr id="3" name="图片 2"/>
          <p:cNvPicPr>
            <a:picLocks noChangeAspect="1"/>
          </p:cNvPicPr>
          <p:nvPr/>
        </p:nvPicPr>
        <p:blipFill>
          <a:blip r:embed="rId1"/>
          <a:stretch>
            <a:fillRect/>
          </a:stretch>
        </p:blipFill>
        <p:spPr>
          <a:xfrm>
            <a:off x="6833870" y="114935"/>
            <a:ext cx="4439920" cy="3020060"/>
          </a:xfrm>
          <a:prstGeom prst="rect">
            <a:avLst/>
          </a:prstGeom>
        </p:spPr>
      </p:pic>
      <p:pic>
        <p:nvPicPr>
          <p:cNvPr id="5" name="图片 4"/>
          <p:cNvPicPr>
            <a:picLocks noChangeAspect="1"/>
          </p:cNvPicPr>
          <p:nvPr/>
        </p:nvPicPr>
        <p:blipFill>
          <a:blip r:embed="rId2"/>
          <a:stretch>
            <a:fillRect/>
          </a:stretch>
        </p:blipFill>
        <p:spPr>
          <a:xfrm>
            <a:off x="6833870" y="3579495"/>
            <a:ext cx="4439285" cy="2790190"/>
          </a:xfrm>
          <a:prstGeom prst="rect">
            <a:avLst/>
          </a:prstGeom>
        </p:spPr>
      </p:pic>
      <p:pic>
        <p:nvPicPr>
          <p:cNvPr id="8" name="图片 7"/>
          <p:cNvPicPr>
            <a:picLocks noChangeAspect="1"/>
          </p:cNvPicPr>
          <p:nvPr/>
        </p:nvPicPr>
        <p:blipFill>
          <a:blip r:embed="rId3"/>
          <a:stretch>
            <a:fillRect/>
          </a:stretch>
        </p:blipFill>
        <p:spPr>
          <a:xfrm>
            <a:off x="635" y="2570480"/>
            <a:ext cx="5922645" cy="1490345"/>
          </a:xfrm>
          <a:prstGeom prst="rect">
            <a:avLst/>
          </a:prstGeom>
          <a:ln>
            <a:solidFill>
              <a:schemeClr val="accent1"/>
            </a:solidFill>
          </a:ln>
        </p:spPr>
      </p:pic>
      <p:grpSp>
        <p:nvGrpSpPr>
          <p:cNvPr id="4" name="组合 3"/>
          <p:cNvGrpSpPr/>
          <p:nvPr/>
        </p:nvGrpSpPr>
        <p:grpSpPr>
          <a:xfrm>
            <a:off x="635" y="4091305"/>
            <a:ext cx="5922645" cy="2655570"/>
            <a:chOff x="545" y="6982"/>
            <a:chExt cx="8471" cy="3126"/>
          </a:xfrm>
        </p:grpSpPr>
        <p:sp>
          <p:nvSpPr>
            <p:cNvPr id="14" name="文本框 13"/>
            <p:cNvSpPr txBox="1"/>
            <p:nvPr/>
          </p:nvSpPr>
          <p:spPr>
            <a:xfrm>
              <a:off x="902" y="6982"/>
              <a:ext cx="8114" cy="3126"/>
            </a:xfrm>
            <a:prstGeom prst="rect">
              <a:avLst/>
            </a:prstGeom>
            <a:solidFill>
              <a:schemeClr val="accent1"/>
            </a:solidFill>
          </p:spPr>
          <p:txBody>
            <a:bodyPr wrap="square" rtlCol="0">
              <a:noAutofit/>
            </a:bodyPr>
            <a:p>
              <a:pPr algn="l">
                <a:lnSpc>
                  <a:spcPct val="140000"/>
                </a:lnSpc>
              </a:pPr>
              <a:r>
                <a:rPr lang="zh-CN" altLang="en-US" sz="1200" b="1">
                  <a:solidFill>
                    <a:schemeClr val="bg1"/>
                  </a:solidFill>
                </a:rPr>
                <a:t>偶然内聚</a:t>
              </a:r>
              <a:r>
                <a:rPr lang="zh-CN" altLang="en-US" sz="1200">
                  <a:solidFill>
                    <a:schemeClr val="bg1"/>
                  </a:solidFill>
                </a:rPr>
                <a:t>：</a:t>
              </a:r>
              <a:r>
                <a:rPr lang="zh-CN" altLang="en-US" sz="1200" dirty="0">
                  <a:solidFill>
                    <a:schemeClr val="bg1"/>
                  </a:solidFill>
                  <a:latin typeface="Bodoni MT Black" panose="02070A03080606020203" pitchFamily="18" charset="0"/>
                  <a:sym typeface="+mn-ea"/>
                </a:rPr>
                <a:t>模块内的元素之间毫无关系，只是被偶然地放在一起（</a:t>
              </a:r>
              <a:r>
                <a:rPr lang="zh-CN" altLang="en-US" sz="1200" b="1" dirty="0">
                  <a:solidFill>
                    <a:srgbClr val="FF0000"/>
                  </a:solidFill>
                  <a:latin typeface="Bodoni MT Black" panose="02070A03080606020203" pitchFamily="18" charset="0"/>
                  <a:sym typeface="+mn-ea"/>
                </a:rPr>
                <a:t>最差</a:t>
              </a:r>
              <a:r>
                <a:rPr lang="zh-CN" altLang="en-US" sz="1200" dirty="0">
                  <a:solidFill>
                    <a:schemeClr val="bg1"/>
                  </a:solidFill>
                  <a:latin typeface="Bodoni MT Black" panose="02070A03080606020203" pitchFamily="18" charset="0"/>
                  <a:sym typeface="+mn-ea"/>
                </a:rPr>
                <a:t>）</a:t>
              </a:r>
              <a:endParaRPr lang="zh-CN" altLang="en-US" sz="1200" dirty="0">
                <a:solidFill>
                  <a:schemeClr val="bg1"/>
                </a:solidFill>
                <a:latin typeface="Bodoni MT Black" panose="02070A03080606020203" pitchFamily="18" charset="0"/>
                <a:sym typeface="+mn-ea"/>
              </a:endParaRPr>
            </a:p>
            <a:p>
              <a:pPr algn="l">
                <a:lnSpc>
                  <a:spcPct val="140000"/>
                </a:lnSpc>
              </a:pPr>
              <a:r>
                <a:rPr lang="zh-CN" altLang="en-US" sz="1200" b="1">
                  <a:solidFill>
                    <a:schemeClr val="bg1"/>
                  </a:solidFill>
                </a:rPr>
                <a:t>逻辑内聚</a:t>
              </a:r>
              <a:r>
                <a:rPr lang="zh-CN" altLang="en-US" sz="1200">
                  <a:solidFill>
                    <a:schemeClr val="bg1"/>
                  </a:solidFill>
                </a:rPr>
                <a:t>：</a:t>
              </a:r>
              <a:r>
                <a:rPr lang="zh-CN" altLang="en-US" sz="1200" dirty="0">
                  <a:solidFill>
                    <a:schemeClr val="bg1"/>
                  </a:solidFill>
                  <a:latin typeface="Bodoni MT Black" panose="02070A03080606020203" pitchFamily="18" charset="0"/>
                  <a:sym typeface="+mn-ea"/>
                </a:rPr>
                <a:t>一个模块完成的任务在逻辑上属于相同或相似的一类（</a:t>
              </a:r>
              <a:r>
                <a:rPr lang="zh-CN" altLang="en-US" sz="1200" b="1" dirty="0">
                  <a:solidFill>
                    <a:srgbClr val="FF0000"/>
                  </a:solidFill>
                  <a:latin typeface="Bodoni MT Black" panose="02070A03080606020203" pitchFamily="18" charset="0"/>
                  <a:sym typeface="+mn-ea"/>
                </a:rPr>
                <a:t>较差</a:t>
              </a:r>
              <a:r>
                <a:rPr lang="zh-CN" altLang="en-US" sz="1200" dirty="0">
                  <a:solidFill>
                    <a:schemeClr val="bg1"/>
                  </a:solidFill>
                  <a:latin typeface="Bodoni MT Black" panose="02070A03080606020203" pitchFamily="18" charset="0"/>
                  <a:sym typeface="+mn-ea"/>
                </a:rPr>
                <a:t>）</a:t>
              </a:r>
              <a:endParaRPr lang="zh-CN" altLang="en-US" sz="1200" dirty="0">
                <a:solidFill>
                  <a:schemeClr val="bg1"/>
                </a:solidFill>
                <a:latin typeface="Bodoni MT Black" panose="02070A03080606020203" pitchFamily="18" charset="0"/>
                <a:sym typeface="+mn-ea"/>
              </a:endParaRPr>
            </a:p>
            <a:p>
              <a:pPr algn="l">
                <a:lnSpc>
                  <a:spcPct val="140000"/>
                </a:lnSpc>
              </a:pPr>
              <a:r>
                <a:rPr lang="zh-CN" altLang="en-US" sz="1200" b="1">
                  <a:solidFill>
                    <a:schemeClr val="bg1"/>
                  </a:solidFill>
                </a:rPr>
                <a:t>时间内聚：</a:t>
              </a:r>
              <a:r>
                <a:rPr lang="zh-CN" altLang="en-US" sz="1200" dirty="0">
                  <a:solidFill>
                    <a:schemeClr val="bg1"/>
                  </a:solidFill>
                  <a:latin typeface="Bodoni MT Black" panose="02070A03080606020203" pitchFamily="18" charset="0"/>
                  <a:sym typeface="+mn-ea"/>
                </a:rPr>
                <a:t>一个模块包含的任务必须在同一段时间内执行（</a:t>
              </a:r>
              <a:r>
                <a:rPr lang="zh-CN" altLang="en-US" sz="1200" b="1" dirty="0">
                  <a:solidFill>
                    <a:srgbClr val="FF0000"/>
                  </a:solidFill>
                  <a:latin typeface="Bodoni MT Black" panose="02070A03080606020203" pitchFamily="18" charset="0"/>
                  <a:sym typeface="+mn-ea"/>
                </a:rPr>
                <a:t>不理想</a:t>
              </a:r>
              <a:r>
                <a:rPr lang="zh-CN" altLang="en-US" sz="1200" dirty="0">
                  <a:solidFill>
                    <a:schemeClr val="bg1"/>
                  </a:solidFill>
                  <a:latin typeface="Bodoni MT Black" panose="02070A03080606020203" pitchFamily="18" charset="0"/>
                  <a:sym typeface="+mn-ea"/>
                </a:rPr>
                <a:t>）</a:t>
              </a:r>
              <a:endParaRPr lang="zh-CN" altLang="en-US" sz="1200" dirty="0">
                <a:solidFill>
                  <a:schemeClr val="bg1"/>
                </a:solidFill>
                <a:latin typeface="Bodoni MT Black" panose="02070A03080606020203" pitchFamily="18" charset="0"/>
                <a:sym typeface="+mn-ea"/>
              </a:endParaRPr>
            </a:p>
            <a:p>
              <a:pPr algn="l">
                <a:lnSpc>
                  <a:spcPct val="140000"/>
                </a:lnSpc>
              </a:pPr>
              <a:endParaRPr lang="zh-CN" altLang="en-US" sz="1200">
                <a:solidFill>
                  <a:schemeClr val="bg1"/>
                </a:solidFill>
              </a:endParaRPr>
            </a:p>
            <a:p>
              <a:pPr algn="l">
                <a:lnSpc>
                  <a:spcPct val="140000"/>
                </a:lnSpc>
              </a:pPr>
              <a:r>
                <a:rPr lang="zh-CN" altLang="en-US" sz="1200" b="1">
                  <a:solidFill>
                    <a:srgbClr val="FFFF00"/>
                  </a:solidFill>
                </a:rPr>
                <a:t>过程内聚：</a:t>
              </a:r>
              <a:r>
                <a:rPr lang="zh-CN" altLang="en-US" sz="1200" b="1" dirty="0">
                  <a:solidFill>
                    <a:srgbClr val="FFFF00"/>
                  </a:solidFill>
                  <a:latin typeface="Bodoni MT Black" panose="02070A03080606020203" pitchFamily="18" charset="0"/>
                  <a:sym typeface="+mn-ea"/>
                </a:rPr>
                <a:t>一个模块内的处理元素是相关的，而且必须以特定次序执行（一般）</a:t>
              </a:r>
              <a:endParaRPr lang="zh-CN" altLang="en-US" sz="1200" b="1" dirty="0">
                <a:solidFill>
                  <a:srgbClr val="FFFF00"/>
                </a:solidFill>
                <a:latin typeface="Bodoni MT Black" panose="02070A03080606020203" pitchFamily="18" charset="0"/>
                <a:sym typeface="+mn-ea"/>
              </a:endParaRPr>
            </a:p>
            <a:p>
              <a:pPr algn="l">
                <a:lnSpc>
                  <a:spcPct val="140000"/>
                </a:lnSpc>
              </a:pPr>
              <a:r>
                <a:rPr lang="zh-CN" altLang="en-US" sz="1200" b="1">
                  <a:solidFill>
                    <a:srgbClr val="FFFF00"/>
                  </a:solidFill>
                </a:rPr>
                <a:t>通信内聚：</a:t>
              </a:r>
              <a:r>
                <a:rPr lang="zh-CN" altLang="en-US" sz="1200" b="1" dirty="0">
                  <a:solidFill>
                    <a:srgbClr val="FFFF00"/>
                  </a:solidFill>
                  <a:latin typeface="Bodoni MT Black" panose="02070A03080606020203" pitchFamily="18" charset="0"/>
                  <a:sym typeface="+mn-ea"/>
                </a:rPr>
                <a:t>所有元素都使用同一个输入数据</a:t>
              </a:r>
              <a:r>
                <a:rPr lang="zh-CN" altLang="en-US" sz="1200" b="1" dirty="0" smtClean="0">
                  <a:solidFill>
                    <a:srgbClr val="FFFF00"/>
                  </a:solidFill>
                  <a:latin typeface="Bodoni MT Black" panose="02070A03080606020203" pitchFamily="18" charset="0"/>
                  <a:sym typeface="+mn-ea"/>
                </a:rPr>
                <a:t>和（或）产生</a:t>
              </a:r>
              <a:r>
                <a:rPr lang="zh-CN" altLang="en-US" sz="1200" b="1" dirty="0">
                  <a:solidFill>
                    <a:srgbClr val="FFFF00"/>
                  </a:solidFill>
                  <a:latin typeface="Bodoni MT Black" panose="02070A03080606020203" pitchFamily="18" charset="0"/>
                  <a:sym typeface="+mn-ea"/>
                </a:rPr>
                <a:t>同一个输出数据（</a:t>
              </a:r>
              <a:r>
                <a:rPr lang="zh-CN" altLang="en-US" sz="1200" b="1" dirty="0">
                  <a:solidFill>
                    <a:srgbClr val="FF0000"/>
                  </a:solidFill>
                  <a:latin typeface="Bodoni MT Black" panose="02070A03080606020203" pitchFamily="18" charset="0"/>
                  <a:sym typeface="+mn-ea"/>
                </a:rPr>
                <a:t>较好</a:t>
              </a:r>
              <a:r>
                <a:rPr lang="zh-CN" altLang="en-US" sz="1200" b="1" dirty="0">
                  <a:solidFill>
                    <a:srgbClr val="FFFF00"/>
                  </a:solidFill>
                  <a:latin typeface="Bodoni MT Black" panose="02070A03080606020203" pitchFamily="18" charset="0"/>
                  <a:sym typeface="+mn-ea"/>
                </a:rPr>
                <a:t>）</a:t>
              </a:r>
              <a:endParaRPr lang="zh-CN" altLang="en-US" sz="1200" b="1" dirty="0">
                <a:solidFill>
                  <a:srgbClr val="FFFF00"/>
                </a:solidFill>
                <a:latin typeface="Bodoni MT Black" panose="02070A03080606020203" pitchFamily="18" charset="0"/>
                <a:sym typeface="+mn-ea"/>
              </a:endParaRPr>
            </a:p>
            <a:p>
              <a:pPr algn="l">
                <a:lnSpc>
                  <a:spcPct val="140000"/>
                </a:lnSpc>
              </a:pPr>
              <a:endParaRPr lang="zh-CN" altLang="en-US" sz="1200" b="1">
                <a:solidFill>
                  <a:srgbClr val="FFFF00"/>
                </a:solidFill>
              </a:endParaRPr>
            </a:p>
            <a:p>
              <a:pPr algn="l">
                <a:lnSpc>
                  <a:spcPct val="140000"/>
                </a:lnSpc>
              </a:pPr>
              <a:r>
                <a:rPr lang="zh-CN" altLang="en-US" sz="1200" b="1">
                  <a:solidFill>
                    <a:srgbClr val="FFC000"/>
                  </a:solidFill>
                </a:rPr>
                <a:t>顺序内聚：</a:t>
              </a:r>
              <a:r>
                <a:rPr lang="zh-CN" altLang="en-US" sz="1200" b="1" dirty="0">
                  <a:solidFill>
                    <a:srgbClr val="FFC000"/>
                  </a:solidFill>
                  <a:latin typeface="Bodoni MT Black" panose="02070A03080606020203" pitchFamily="18" charset="0"/>
                  <a:sym typeface="+mn-ea"/>
                </a:rPr>
                <a:t>一个模块内的处理元素和同一个功能密切相关，而且这些处理必须顺序</a:t>
              </a:r>
              <a:r>
                <a:rPr lang="zh-CN" altLang="en-US" sz="1200" b="1" dirty="0" smtClean="0">
                  <a:solidFill>
                    <a:srgbClr val="FFC000"/>
                  </a:solidFill>
                  <a:latin typeface="Bodoni MT Black" panose="02070A03080606020203" pitchFamily="18" charset="0"/>
                  <a:sym typeface="+mn-ea"/>
                </a:rPr>
                <a:t>执行（通常</a:t>
              </a:r>
              <a:r>
                <a:rPr lang="zh-CN" altLang="en-US" sz="1200" b="1" dirty="0">
                  <a:solidFill>
                    <a:srgbClr val="FFC000"/>
                  </a:solidFill>
                  <a:latin typeface="Bodoni MT Black" panose="02070A03080606020203" pitchFamily="18" charset="0"/>
                  <a:sym typeface="+mn-ea"/>
                </a:rPr>
                <a:t>一个处理元素的输出数据作为下一个处理元素的</a:t>
              </a:r>
              <a:r>
                <a:rPr lang="zh-CN" altLang="en-US" sz="1200" b="1" dirty="0" smtClean="0">
                  <a:solidFill>
                    <a:srgbClr val="FFC000"/>
                  </a:solidFill>
                  <a:latin typeface="Bodoni MT Black" panose="02070A03080606020203" pitchFamily="18" charset="0"/>
                  <a:sym typeface="+mn-ea"/>
                </a:rPr>
                <a:t>输入数据）（</a:t>
              </a:r>
              <a:r>
                <a:rPr lang="zh-CN" altLang="en-US" sz="1200" b="1" dirty="0" smtClean="0">
                  <a:solidFill>
                    <a:srgbClr val="FF0000"/>
                  </a:solidFill>
                  <a:latin typeface="Bodoni MT Black" panose="02070A03080606020203" pitchFamily="18" charset="0"/>
                  <a:sym typeface="+mn-ea"/>
                </a:rPr>
                <a:t>好</a:t>
              </a:r>
              <a:r>
                <a:rPr lang="zh-CN" altLang="en-US" sz="1200" b="1" dirty="0" smtClean="0">
                  <a:solidFill>
                    <a:srgbClr val="FFC000"/>
                  </a:solidFill>
                  <a:latin typeface="Bodoni MT Black" panose="02070A03080606020203" pitchFamily="18" charset="0"/>
                  <a:sym typeface="+mn-ea"/>
                </a:rPr>
                <a:t>）</a:t>
              </a:r>
              <a:endParaRPr lang="zh-CN" altLang="en-US" sz="1200" b="1" dirty="0" smtClean="0">
                <a:solidFill>
                  <a:srgbClr val="FFC000"/>
                </a:solidFill>
                <a:latin typeface="Bodoni MT Black" panose="02070A03080606020203" pitchFamily="18" charset="0"/>
                <a:sym typeface="+mn-ea"/>
              </a:endParaRPr>
            </a:p>
            <a:p>
              <a:pPr algn="l">
                <a:lnSpc>
                  <a:spcPct val="140000"/>
                </a:lnSpc>
                <a:buClrTx/>
                <a:buSzTx/>
                <a:buFontTx/>
              </a:pPr>
              <a:r>
                <a:rPr lang="zh-CN" altLang="en-US" sz="1200" b="1" dirty="0">
                  <a:solidFill>
                    <a:srgbClr val="FFC000"/>
                  </a:solidFill>
                  <a:latin typeface="Bodoni MT Black" panose="02070A03080606020203" pitchFamily="18" charset="0"/>
                </a:rPr>
                <a:t>功能内聚：</a:t>
              </a:r>
              <a:r>
                <a:rPr lang="zh-CN" altLang="en-US" sz="1200" b="1" dirty="0">
                  <a:solidFill>
                    <a:srgbClr val="FFC000"/>
                  </a:solidFill>
                  <a:latin typeface="Bodoni MT Black" panose="02070A03080606020203" pitchFamily="18" charset="0"/>
                  <a:sym typeface="+mn-ea"/>
                </a:rPr>
                <a:t>模块内所有处理元素属于一个整体，完成一个单一的功能（</a:t>
              </a:r>
              <a:r>
                <a:rPr lang="zh-CN" altLang="en-US" sz="1200" b="1" dirty="0">
                  <a:solidFill>
                    <a:srgbClr val="FF0000"/>
                  </a:solidFill>
                  <a:latin typeface="Bodoni MT Black" panose="02070A03080606020203" pitchFamily="18" charset="0"/>
                  <a:sym typeface="+mn-ea"/>
                </a:rPr>
                <a:t>最佳</a:t>
              </a:r>
              <a:r>
                <a:rPr lang="zh-CN" altLang="en-US" sz="1200" b="1" dirty="0">
                  <a:solidFill>
                    <a:srgbClr val="FFC000"/>
                  </a:solidFill>
                  <a:latin typeface="Bodoni MT Black" panose="02070A03080606020203" pitchFamily="18" charset="0"/>
                  <a:sym typeface="+mn-ea"/>
                </a:rPr>
                <a:t>）</a:t>
              </a:r>
              <a:endParaRPr lang="zh-CN" altLang="en-US" sz="1200" b="1" dirty="0">
                <a:solidFill>
                  <a:srgbClr val="FFC000"/>
                </a:solidFill>
                <a:latin typeface="Bodoni MT Black" panose="02070A03080606020203" pitchFamily="18" charset="0"/>
                <a:sym typeface="+mn-ea"/>
              </a:endParaRPr>
            </a:p>
          </p:txBody>
        </p:sp>
        <p:sp>
          <p:nvSpPr>
            <p:cNvPr id="18" name="文本框 17"/>
            <p:cNvSpPr txBox="1"/>
            <p:nvPr/>
          </p:nvSpPr>
          <p:spPr>
            <a:xfrm>
              <a:off x="545" y="6988"/>
              <a:ext cx="363" cy="1013"/>
            </a:xfrm>
            <a:prstGeom prst="rect">
              <a:avLst/>
            </a:prstGeom>
            <a:solidFill>
              <a:srgbClr val="FFFF00"/>
            </a:solidFill>
            <a:ln>
              <a:solidFill>
                <a:schemeClr val="tx1"/>
              </a:solidFill>
            </a:ln>
          </p:spPr>
          <p:txBody>
            <a:bodyPr wrap="square" rtlCol="0">
              <a:noAutofit/>
            </a:bodyPr>
            <a:p>
              <a:pPr algn="ctr">
                <a:lnSpc>
                  <a:spcPct val="140000"/>
                </a:lnSpc>
              </a:pPr>
              <a:r>
                <a:rPr lang="zh-CN" altLang="en-US" sz="1200" b="1"/>
                <a:t>低内聚</a:t>
              </a:r>
              <a:endParaRPr lang="zh-CN" altLang="en-US" sz="1200" b="1"/>
            </a:p>
          </p:txBody>
        </p:sp>
        <p:sp>
          <p:nvSpPr>
            <p:cNvPr id="19" name="文本框 18"/>
            <p:cNvSpPr txBox="1"/>
            <p:nvPr/>
          </p:nvSpPr>
          <p:spPr>
            <a:xfrm>
              <a:off x="545" y="8001"/>
              <a:ext cx="363" cy="1023"/>
            </a:xfrm>
            <a:prstGeom prst="rect">
              <a:avLst/>
            </a:prstGeom>
            <a:solidFill>
              <a:srgbClr val="92D050"/>
            </a:solidFill>
            <a:ln>
              <a:solidFill>
                <a:schemeClr val="tx1"/>
              </a:solidFill>
            </a:ln>
          </p:spPr>
          <p:txBody>
            <a:bodyPr wrap="square" rtlCol="0">
              <a:noAutofit/>
            </a:bodyPr>
            <a:p>
              <a:pPr algn="ctr">
                <a:lnSpc>
                  <a:spcPct val="140000"/>
                </a:lnSpc>
              </a:pPr>
              <a:r>
                <a:rPr lang="zh-CN" altLang="en-US" sz="1200" b="1"/>
                <a:t>中内聚</a:t>
              </a:r>
              <a:endParaRPr lang="zh-CN" altLang="en-US" sz="1200" b="1"/>
            </a:p>
          </p:txBody>
        </p:sp>
        <p:sp>
          <p:nvSpPr>
            <p:cNvPr id="20" name="文本框 19"/>
            <p:cNvSpPr txBox="1"/>
            <p:nvPr/>
          </p:nvSpPr>
          <p:spPr>
            <a:xfrm>
              <a:off x="545" y="9024"/>
              <a:ext cx="363" cy="1076"/>
            </a:xfrm>
            <a:prstGeom prst="rect">
              <a:avLst/>
            </a:prstGeom>
            <a:solidFill>
              <a:srgbClr val="00B0F0"/>
            </a:solidFill>
            <a:ln>
              <a:solidFill>
                <a:schemeClr val="tx1"/>
              </a:solidFill>
            </a:ln>
          </p:spPr>
          <p:txBody>
            <a:bodyPr wrap="square" rtlCol="0">
              <a:noAutofit/>
            </a:bodyPr>
            <a:p>
              <a:pPr algn="ctr">
                <a:lnSpc>
                  <a:spcPct val="140000"/>
                </a:lnSpc>
              </a:pPr>
              <a:r>
                <a:rPr lang="zh-CN" altLang="en-US" sz="1200" b="1"/>
                <a:t>高内聚</a:t>
              </a:r>
              <a:endParaRPr lang="zh-CN" altLang="en-US" sz="1200" b="1"/>
            </a:p>
          </p:txBody>
        </p:sp>
      </p:grpSp>
      <p:sp>
        <p:nvSpPr>
          <p:cNvPr id="21" name="文本框 20"/>
          <p:cNvSpPr txBox="1"/>
          <p:nvPr/>
        </p:nvSpPr>
        <p:spPr>
          <a:xfrm>
            <a:off x="7625080" y="3153410"/>
            <a:ext cx="2638425" cy="306705"/>
          </a:xfrm>
          <a:prstGeom prst="rect">
            <a:avLst/>
          </a:prstGeom>
          <a:noFill/>
        </p:spPr>
        <p:txBody>
          <a:bodyPr wrap="square" rtlCol="0">
            <a:spAutoFit/>
          </a:bodyPr>
          <a:p>
            <a:pPr algn="ctr"/>
            <a:r>
              <a:rPr lang="zh-CN" altLang="en-US" sz="1400" b="1"/>
              <a:t>低内聚，高耦合的状态</a:t>
            </a:r>
            <a:endParaRPr lang="zh-CN" altLang="en-US" sz="1400" b="1"/>
          </a:p>
        </p:txBody>
      </p:sp>
      <p:sp>
        <p:nvSpPr>
          <p:cNvPr id="22" name="文本框 21"/>
          <p:cNvSpPr txBox="1"/>
          <p:nvPr/>
        </p:nvSpPr>
        <p:spPr>
          <a:xfrm>
            <a:off x="7734300" y="6415405"/>
            <a:ext cx="2638425" cy="306705"/>
          </a:xfrm>
          <a:prstGeom prst="rect">
            <a:avLst/>
          </a:prstGeom>
          <a:noFill/>
        </p:spPr>
        <p:txBody>
          <a:bodyPr wrap="square" rtlCol="0">
            <a:spAutoFit/>
          </a:bodyPr>
          <a:p>
            <a:pPr algn="ctr">
              <a:buClrTx/>
              <a:buSzTx/>
              <a:buFontTx/>
            </a:pPr>
            <a:r>
              <a:rPr lang="zh-CN" altLang="en-US" sz="1400" b="1"/>
              <a:t>高内聚，低耦合的状态</a:t>
            </a:r>
            <a:endParaRPr lang="zh-CN" altLang="en-US" sz="1400" b="1"/>
          </a:p>
        </p:txBody>
      </p:sp>
    </p:spTree>
    <p:custDataLst>
      <p:tags r:id="rId4"/>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5" name="文本框 4"/>
          <p:cNvSpPr txBox="1"/>
          <p:nvPr/>
        </p:nvSpPr>
        <p:spPr>
          <a:xfrm>
            <a:off x="133350" y="5376545"/>
            <a:ext cx="1238250" cy="135255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6" name="文本占位符 1"/>
          <p:cNvSpPr>
            <a:spLocks noGrp="1"/>
          </p:cNvSpPr>
          <p:nvPr>
            <p:custDataLst>
              <p:tags r:id="rId1"/>
            </p:custDataLst>
          </p:nvPr>
        </p:nvSpPr>
        <p:spPr>
          <a:xfrm>
            <a:off x="95250" y="368300"/>
            <a:ext cx="5780405" cy="147955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70000"/>
              </a:lnSpc>
            </a:pPr>
            <a:r>
              <a:rPr lang="zh-CN" altLang="en-US" sz="1400" b="1" dirty="0">
                <a:solidFill>
                  <a:srgbClr val="FF0000"/>
                </a:solidFill>
                <a:latin typeface="Bodoni MT Black" panose="02070A03080606020203" pitchFamily="18" charset="0"/>
                <a:sym typeface="+mn-ea"/>
              </a:rPr>
              <a:t>层次图是描述系统模块层次结构的静态视图。</a:t>
            </a:r>
            <a:r>
              <a:rPr lang="zh-CN" altLang="en-US" sz="1400" b="1" dirty="0">
                <a:solidFill>
                  <a:schemeClr val="tx1"/>
                </a:solidFill>
                <a:latin typeface="Bodoni MT Black" panose="02070A03080606020203" pitchFamily="18" charset="0"/>
                <a:sym typeface="+mn-ea"/>
              </a:rPr>
              <a:t>用来描绘软件的</a:t>
            </a:r>
            <a:r>
              <a:rPr lang="zh-CN" altLang="en-US" sz="1400" b="1" dirty="0">
                <a:solidFill>
                  <a:srgbClr val="00B0F0"/>
                </a:solidFill>
                <a:latin typeface="Bodoni MT Black" panose="02070A03080606020203" pitchFamily="18" charset="0"/>
                <a:sym typeface="+mn-ea"/>
              </a:rPr>
              <a:t>层次结构</a:t>
            </a:r>
            <a:r>
              <a:rPr lang="zh-CN" altLang="en-US" sz="1400" b="1" dirty="0">
                <a:solidFill>
                  <a:schemeClr val="tx1"/>
                </a:solidFill>
                <a:latin typeface="Bodoni MT Black" panose="02070A03080606020203" pitchFamily="18" charset="0"/>
                <a:sym typeface="+mn-ea"/>
              </a:rPr>
              <a:t>。数据结构的层次方框图相同，但是表现的内容却完全不同（</a:t>
            </a:r>
            <a:r>
              <a:rPr lang="zh-CN" altLang="en-US" sz="1400" b="1">
                <a:solidFill>
                  <a:schemeClr val="tx1"/>
                </a:solidFill>
                <a:sym typeface="+mn-ea"/>
              </a:rPr>
              <a:t>层次图中的一个方框代表一个模块，方框间的连线代表调用关系，层次方框图中的连线代表组成关系</a:t>
            </a:r>
            <a:r>
              <a:rPr lang="zh-CN" altLang="en-US" sz="1400" b="1" dirty="0">
                <a:solidFill>
                  <a:schemeClr val="tx1"/>
                </a:solidFill>
                <a:latin typeface="Bodoni MT Black" panose="02070A03080606020203" pitchFamily="18" charset="0"/>
                <a:sym typeface="+mn-ea"/>
              </a:rPr>
              <a:t>）。层次图很适于在</a:t>
            </a:r>
            <a:r>
              <a:rPr lang="zh-CN" altLang="en-US" sz="1400" b="1" dirty="0">
                <a:solidFill>
                  <a:srgbClr val="00B0F0"/>
                </a:solidFill>
                <a:latin typeface="Bodoni MT Black" panose="02070A03080606020203" pitchFamily="18" charset="0"/>
                <a:sym typeface="+mn-ea"/>
              </a:rPr>
              <a:t>自顶向下</a:t>
            </a:r>
            <a:r>
              <a:rPr lang="zh-CN" altLang="en-US" sz="1400" b="1" dirty="0">
                <a:solidFill>
                  <a:schemeClr val="tx1"/>
                </a:solidFill>
                <a:latin typeface="Bodoni MT Black" panose="02070A03080606020203" pitchFamily="18" charset="0"/>
                <a:sym typeface="+mn-ea"/>
              </a:rPr>
              <a:t>设计软件的过程中使用。</a:t>
            </a:r>
            <a:endParaRPr lang="zh-CN" altLang="en-US" sz="1400" b="1" dirty="0">
              <a:solidFill>
                <a:schemeClr val="tx1"/>
              </a:solidFill>
              <a:latin typeface="Bodoni MT Black" panose="02070A03080606020203" pitchFamily="18" charset="0"/>
              <a:sym typeface="+mn-ea"/>
            </a:endParaRPr>
          </a:p>
        </p:txBody>
      </p:sp>
      <p:pic>
        <p:nvPicPr>
          <p:cNvPr id="86021" name="图片 1"/>
          <p:cNvPicPr>
            <a:picLocks noChangeAspect="1"/>
          </p:cNvPicPr>
          <p:nvPr/>
        </p:nvPicPr>
        <p:blipFill>
          <a:blip r:embed="rId2" cstate="print"/>
          <a:srcRect/>
          <a:stretch>
            <a:fillRect/>
          </a:stretch>
        </p:blipFill>
        <p:spPr bwMode="auto">
          <a:xfrm>
            <a:off x="514350" y="2113280"/>
            <a:ext cx="4811395" cy="2425065"/>
          </a:xfrm>
          <a:prstGeom prst="rect">
            <a:avLst/>
          </a:prstGeom>
          <a:noFill/>
          <a:ln w="9525">
            <a:noFill/>
            <a:miter lim="800000"/>
            <a:headEnd/>
            <a:tailEnd/>
          </a:ln>
        </p:spPr>
      </p:pic>
      <p:sp>
        <p:nvSpPr>
          <p:cNvPr id="10" name="文本占位符 1"/>
          <p:cNvSpPr>
            <a:spLocks noGrp="1"/>
          </p:cNvSpPr>
          <p:nvPr>
            <p:custDataLst>
              <p:tags r:id="rId3"/>
            </p:custDataLst>
          </p:nvPr>
        </p:nvSpPr>
        <p:spPr>
          <a:xfrm>
            <a:off x="133350" y="5097780"/>
            <a:ext cx="5433060" cy="157035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eaLnBrk="1" hangingPunct="1">
              <a:lnSpc>
                <a:spcPct val="170000"/>
              </a:lnSpc>
              <a:buClrTx/>
              <a:buSzTx/>
            </a:pPr>
            <a:r>
              <a:rPr lang="zh-CN" altLang="en-US" sz="1400" b="1" dirty="0">
                <a:solidFill>
                  <a:srgbClr val="FF0000"/>
                </a:solidFill>
                <a:latin typeface="+mn-ea"/>
                <a:ea typeface="+mn-ea"/>
                <a:cs typeface="+mn-ea"/>
                <a:sym typeface="+mn-ea"/>
              </a:rPr>
              <a:t>HIPO图</a:t>
            </a:r>
            <a:r>
              <a:rPr lang="zh-CN" altLang="en-US" sz="1400" b="1" dirty="0">
                <a:solidFill>
                  <a:schemeClr val="tx1"/>
                </a:solidFill>
                <a:latin typeface="+mn-ea"/>
                <a:ea typeface="+mn-ea"/>
                <a:cs typeface="+mn-ea"/>
                <a:sym typeface="+mn-ea"/>
              </a:rPr>
              <a:t>是美国IBM公司发明的“层次图加输入/处理/输出图”的英文缩写。为了能使HIPO图具有</a:t>
            </a:r>
            <a:r>
              <a:rPr lang="zh-CN" altLang="en-US" sz="1400" b="1" dirty="0">
                <a:solidFill>
                  <a:schemeClr val="tx1"/>
                </a:solidFill>
                <a:latin typeface="+mn-ea"/>
                <a:ea typeface="+mn-ea"/>
                <a:cs typeface="+mn-ea"/>
                <a:sym typeface="+mn-ea"/>
              </a:rPr>
              <a:t>可追踪性，在H图（层次图）里除了最顶层的方框之外，每个方框都加了</a:t>
            </a:r>
            <a:r>
              <a:rPr lang="zh-CN" altLang="en-US" sz="1400" b="1" dirty="0">
                <a:solidFill>
                  <a:schemeClr val="tx1"/>
                </a:solidFill>
                <a:latin typeface="+mn-ea"/>
                <a:ea typeface="+mn-ea"/>
                <a:cs typeface="+mn-ea"/>
                <a:sym typeface="+mn-ea"/>
              </a:rPr>
              <a:t>编号。</a:t>
            </a:r>
            <a:r>
              <a:rPr lang="zh-CN" altLang="en-US" sz="1400" b="1">
                <a:solidFill>
                  <a:schemeClr val="tx1"/>
                </a:solidFill>
                <a:latin typeface="+mn-ea"/>
                <a:ea typeface="+mn-ea"/>
                <a:cs typeface="+mn-ea"/>
                <a:sym typeface="+mn-ea"/>
              </a:rPr>
              <a:t>模块在</a:t>
            </a:r>
            <a:r>
              <a:rPr lang="en-US" altLang="zh-CN" sz="1400" b="1">
                <a:solidFill>
                  <a:schemeClr val="tx1"/>
                </a:solidFill>
                <a:latin typeface="+mn-ea"/>
                <a:ea typeface="+mn-ea"/>
                <a:cs typeface="+mn-ea"/>
                <a:sym typeface="+mn-ea"/>
              </a:rPr>
              <a:t>H</a:t>
            </a:r>
            <a:r>
              <a:rPr lang="zh-CN" altLang="en-US" sz="1400" b="1">
                <a:solidFill>
                  <a:schemeClr val="tx1"/>
                </a:solidFill>
                <a:latin typeface="+mn-ea"/>
                <a:ea typeface="+mn-ea"/>
                <a:cs typeface="+mn-ea"/>
                <a:sym typeface="+mn-ea"/>
              </a:rPr>
              <a:t>图中的编号，可以追踪了解该模块在系统中的位置</a:t>
            </a:r>
            <a:endParaRPr lang="zh-CN" altLang="en-US" sz="1400" b="1">
              <a:solidFill>
                <a:schemeClr val="tx1"/>
              </a:solidFill>
              <a:latin typeface="+mn-ea"/>
              <a:ea typeface="+mn-ea"/>
              <a:cs typeface="+mn-ea"/>
            </a:endParaRPr>
          </a:p>
          <a:p>
            <a:pPr algn="l" eaLnBrk="1" hangingPunct="1">
              <a:lnSpc>
                <a:spcPct val="170000"/>
              </a:lnSpc>
              <a:buClrTx/>
              <a:buSzTx/>
            </a:pPr>
            <a:endParaRPr lang="zh-CN" altLang="en-US" sz="1400" b="1" dirty="0">
              <a:solidFill>
                <a:schemeClr val="tx1"/>
              </a:solidFill>
              <a:latin typeface="+mn-ea"/>
              <a:ea typeface="+mn-ea"/>
              <a:cs typeface="+mn-ea"/>
              <a:sym typeface="+mn-ea"/>
            </a:endParaRPr>
          </a:p>
        </p:txBody>
      </p:sp>
      <p:pic>
        <p:nvPicPr>
          <p:cNvPr id="88068" name="图片 2"/>
          <p:cNvPicPr>
            <a:picLocks noChangeAspect="1"/>
          </p:cNvPicPr>
          <p:nvPr/>
        </p:nvPicPr>
        <p:blipFill>
          <a:blip r:embed="rId4" cstate="print"/>
          <a:srcRect/>
          <a:stretch>
            <a:fillRect/>
          </a:stretch>
        </p:blipFill>
        <p:spPr bwMode="auto">
          <a:xfrm>
            <a:off x="6837045" y="434975"/>
            <a:ext cx="4189730" cy="2493010"/>
          </a:xfrm>
          <a:prstGeom prst="rect">
            <a:avLst/>
          </a:prstGeom>
          <a:noFill/>
          <a:ln w="9525">
            <a:noFill/>
            <a:miter lim="800000"/>
            <a:headEnd/>
            <a:tailEnd/>
          </a:ln>
        </p:spPr>
      </p:pic>
      <p:sp>
        <p:nvSpPr>
          <p:cNvPr id="3" name="文本框 2"/>
          <p:cNvSpPr txBox="1"/>
          <p:nvPr/>
        </p:nvSpPr>
        <p:spPr>
          <a:xfrm>
            <a:off x="0" y="0"/>
            <a:ext cx="12192000" cy="368300"/>
          </a:xfrm>
          <a:prstGeom prst="rect">
            <a:avLst/>
          </a:prstGeom>
          <a:solidFill>
            <a:schemeClr val="accent1"/>
          </a:solidFill>
        </p:spPr>
        <p:txBody>
          <a:bodyPr wrap="square" rtlCol="0">
            <a:spAutoFit/>
          </a:bodyPr>
          <a:p>
            <a:r>
              <a:rPr lang="zh-CN" altLang="en-US" b="1">
                <a:solidFill>
                  <a:schemeClr val="bg2"/>
                </a:solidFill>
              </a:rPr>
              <a:t>描绘软件结构的图形工具</a:t>
            </a:r>
            <a:endParaRPr lang="zh-CN" altLang="en-US" b="1">
              <a:solidFill>
                <a:schemeClr val="bg2"/>
              </a:solidFill>
            </a:endParaRPr>
          </a:p>
        </p:txBody>
      </p:sp>
      <p:sp>
        <p:nvSpPr>
          <p:cNvPr id="7" name="文本框 6"/>
          <p:cNvSpPr txBox="1"/>
          <p:nvPr/>
        </p:nvSpPr>
        <p:spPr>
          <a:xfrm>
            <a:off x="10953750" y="368300"/>
            <a:ext cx="1238250" cy="135255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8" name="文本框 7"/>
          <p:cNvSpPr txBox="1"/>
          <p:nvPr/>
        </p:nvSpPr>
        <p:spPr>
          <a:xfrm>
            <a:off x="5566410" y="2927985"/>
            <a:ext cx="6624955" cy="3930015"/>
          </a:xfrm>
          <a:prstGeom prst="rect">
            <a:avLst/>
          </a:prstGeom>
          <a:solidFill>
            <a:schemeClr val="accent1"/>
          </a:solidFill>
          <a:ln>
            <a:solidFill>
              <a:schemeClr val="accent1"/>
            </a:solidFill>
          </a:ln>
        </p:spPr>
        <p:txBody>
          <a:bodyPr wrap="square" rtlCol="0" anchor="t" anchorCtr="0">
            <a:noAutofit/>
          </a:bodyPr>
          <a:p>
            <a:pPr algn="ctr" eaLnBrk="1" hangingPunct="1">
              <a:lnSpc>
                <a:spcPct val="170000"/>
              </a:lnSpc>
              <a:buClrTx/>
              <a:buSzTx/>
              <a:buFontTx/>
            </a:pPr>
            <a:r>
              <a:rPr lang="en-US" altLang="zh-CN" sz="1400" b="1" dirty="0">
                <a:solidFill>
                  <a:schemeClr val="bg1"/>
                </a:solidFill>
                <a:latin typeface="+mn-ea"/>
                <a:cs typeface="+mn-ea"/>
                <a:sym typeface="+mn-ea"/>
              </a:rPr>
              <a:t>IPO</a:t>
            </a:r>
            <a:r>
              <a:rPr lang="zh-CN" altLang="en-US" sz="1400" b="1" dirty="0">
                <a:solidFill>
                  <a:schemeClr val="bg1"/>
                </a:solidFill>
                <a:latin typeface="+mn-ea"/>
                <a:cs typeface="+mn-ea"/>
                <a:sym typeface="+mn-ea"/>
              </a:rPr>
              <a:t>表</a:t>
            </a:r>
            <a:endParaRPr lang="zh-CN" altLang="en-US" sz="1400" b="1" dirty="0">
              <a:solidFill>
                <a:schemeClr val="bg1"/>
              </a:solidFill>
              <a:latin typeface="+mn-ea"/>
              <a:cs typeface="+mn-ea"/>
              <a:sym typeface="+mn-ea"/>
            </a:endParaRPr>
          </a:p>
          <a:p>
            <a:pPr algn="ctr" eaLnBrk="1" hangingPunct="1">
              <a:lnSpc>
                <a:spcPct val="170000"/>
              </a:lnSpc>
              <a:buClrTx/>
              <a:buSzTx/>
              <a:buFontTx/>
            </a:pPr>
            <a:endParaRPr lang="zh-CN" altLang="en-US" sz="1400" b="1" dirty="0">
              <a:solidFill>
                <a:schemeClr val="bg1"/>
              </a:solidFill>
              <a:latin typeface="+mn-ea"/>
              <a:cs typeface="+mn-ea"/>
              <a:sym typeface="+mn-ea"/>
            </a:endParaRPr>
          </a:p>
        </p:txBody>
      </p:sp>
      <p:sp>
        <p:nvSpPr>
          <p:cNvPr id="9" name="文本框 8"/>
          <p:cNvSpPr txBox="1"/>
          <p:nvPr/>
        </p:nvSpPr>
        <p:spPr>
          <a:xfrm>
            <a:off x="5648325" y="3362325"/>
            <a:ext cx="3552825" cy="1105535"/>
          </a:xfrm>
          <a:prstGeom prst="rect">
            <a:avLst/>
          </a:prstGeom>
          <a:solidFill>
            <a:srgbClr val="FFFF00"/>
          </a:solidFill>
          <a:ln>
            <a:solidFill>
              <a:schemeClr val="accent1"/>
            </a:solidFill>
          </a:ln>
        </p:spPr>
        <p:txBody>
          <a:bodyPr wrap="square" rtlCol="0" anchor="ctr" anchorCtr="0">
            <a:noAutofit/>
          </a:bodyPr>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系统：图书管理系统</a:t>
            </a:r>
            <a:endParaRPr lang="zh-CN" altLang="en-US"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模块：借书处理</a:t>
            </a:r>
            <a:endParaRPr lang="zh-CN" altLang="en-US"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编号: 3.</a:t>
            </a:r>
            <a:r>
              <a:rPr lang="en-US" altLang="zh-CN" sz="1200" b="1" dirty="0">
                <a:solidFill>
                  <a:schemeClr val="tx1"/>
                </a:solidFill>
                <a:latin typeface="黑体" panose="02010609060101010101" charset="-122"/>
                <a:ea typeface="黑体" panose="02010609060101010101" charset="-122"/>
                <a:sym typeface="+mn-ea"/>
              </a:rPr>
              <a:t>1</a:t>
            </a:r>
            <a:endParaRPr lang="zh-CN" altLang="en-US"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所属层次：图书馆管理系统 -&gt; 借阅管理 -&gt; 借书 </a:t>
            </a:r>
            <a:endParaRPr lang="zh-CN" altLang="en-US" sz="1200" b="1" dirty="0">
              <a:solidFill>
                <a:schemeClr val="tx1"/>
              </a:solidFill>
              <a:latin typeface="黑体" panose="02010609060101010101" charset="-122"/>
              <a:ea typeface="黑体" panose="02010609060101010101" charset="-122"/>
              <a:sym typeface="+mn-ea"/>
            </a:endParaRPr>
          </a:p>
        </p:txBody>
      </p:sp>
      <p:sp>
        <p:nvSpPr>
          <p:cNvPr id="14" name="文本框 13"/>
          <p:cNvSpPr txBox="1"/>
          <p:nvPr/>
        </p:nvSpPr>
        <p:spPr>
          <a:xfrm>
            <a:off x="6219825" y="4324350"/>
            <a:ext cx="1952625" cy="914400"/>
          </a:xfrm>
          <a:prstGeom prst="rect">
            <a:avLst/>
          </a:prstGeom>
          <a:noFill/>
        </p:spPr>
        <p:txBody>
          <a:bodyPr wrap="square" rtlCol="0" anchor="ctr" anchorCtr="0">
            <a:noAutofit/>
          </a:bodyPr>
          <a:p>
            <a:pPr algn="l" eaLnBrk="1" hangingPunct="1">
              <a:lnSpc>
                <a:spcPct val="130000"/>
              </a:lnSpc>
              <a:buClrTx/>
              <a:buSzTx/>
              <a:buFontTx/>
            </a:pPr>
            <a:endParaRPr lang="en-US" altLang="zh-CN" sz="1200" b="1" dirty="0">
              <a:solidFill>
                <a:schemeClr val="bg1"/>
              </a:solidFill>
              <a:latin typeface="黑体" panose="02010609060101010101" charset="-122"/>
              <a:ea typeface="黑体" panose="02010609060101010101" charset="-122"/>
              <a:sym typeface="+mn-ea"/>
            </a:endParaRPr>
          </a:p>
        </p:txBody>
      </p:sp>
      <p:sp>
        <p:nvSpPr>
          <p:cNvPr id="15" name="文本框 14"/>
          <p:cNvSpPr txBox="1"/>
          <p:nvPr/>
        </p:nvSpPr>
        <p:spPr>
          <a:xfrm>
            <a:off x="5648325" y="4534535"/>
            <a:ext cx="3552825" cy="1099820"/>
          </a:xfrm>
          <a:prstGeom prst="rect">
            <a:avLst/>
          </a:prstGeom>
          <a:solidFill>
            <a:schemeClr val="accent3">
              <a:lumMod val="20000"/>
              <a:lumOff val="80000"/>
            </a:schemeClr>
          </a:solidFill>
          <a:ln>
            <a:solidFill>
              <a:schemeClr val="accent1"/>
            </a:solidFill>
          </a:ln>
        </p:spPr>
        <p:txBody>
          <a:bodyPr wrap="square" rtlCol="0" anchor="ctr" anchorCtr="0">
            <a:noAutofit/>
          </a:bodyPr>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输入：模块：借书处理</a:t>
            </a:r>
            <a:endParaRPr lang="zh-CN" altLang="en-US"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en-US" altLang="zh-CN" sz="1200" b="1" dirty="0">
                <a:solidFill>
                  <a:schemeClr val="tx1"/>
                </a:solidFill>
                <a:latin typeface="黑体" panose="02010609060101010101" charset="-122"/>
                <a:ea typeface="黑体" panose="02010609060101010101" charset="-122"/>
                <a:sym typeface="+mn-ea"/>
              </a:rPr>
              <a:t>1. </a:t>
            </a:r>
            <a:r>
              <a:rPr lang="zh-CN" altLang="en-US" sz="1200" b="1" dirty="0">
                <a:solidFill>
                  <a:schemeClr val="tx1"/>
                </a:solidFill>
                <a:latin typeface="黑体" panose="02010609060101010101" charset="-122"/>
                <a:ea typeface="黑体" panose="02010609060101010101" charset="-122"/>
                <a:sym typeface="+mn-ea"/>
              </a:rPr>
              <a:t>读者ID（从读卡器或界面输入）                   </a:t>
            </a:r>
            <a:endParaRPr lang="zh-CN" altLang="en-US"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altLang="en-US" sz="1200" b="1" dirty="0">
                <a:solidFill>
                  <a:schemeClr val="tx1"/>
                </a:solidFill>
                <a:latin typeface="黑体" panose="02010609060101010101" charset="-122"/>
                <a:ea typeface="黑体" panose="02010609060101010101" charset="-122"/>
                <a:sym typeface="+mn-ea"/>
              </a:rPr>
              <a:t>2.</a:t>
            </a:r>
            <a:r>
              <a:rPr lang="en-US" altLang="zh-CN" sz="1200" b="1" dirty="0">
                <a:solidFill>
                  <a:schemeClr val="tx1"/>
                </a:solidFill>
                <a:latin typeface="黑体" panose="02010609060101010101" charset="-122"/>
                <a:ea typeface="黑体" panose="02010609060101010101" charset="-122"/>
                <a:sym typeface="+mn-ea"/>
              </a:rPr>
              <a:t> </a:t>
            </a:r>
            <a:r>
              <a:rPr lang="zh-CN" altLang="en-US" sz="1200" b="1" dirty="0">
                <a:solidFill>
                  <a:schemeClr val="tx1"/>
                </a:solidFill>
                <a:latin typeface="黑体" panose="02010609060101010101" charset="-122"/>
                <a:ea typeface="黑体" panose="02010609060101010101" charset="-122"/>
                <a:sym typeface="+mn-ea"/>
              </a:rPr>
              <a:t>图书ISBN/条形码（从扫描器输入）              3.</a:t>
            </a:r>
            <a:r>
              <a:rPr lang="en-US" altLang="zh-CN" sz="1200" b="1" dirty="0">
                <a:solidFill>
                  <a:schemeClr val="tx1"/>
                </a:solidFill>
                <a:latin typeface="黑体" panose="02010609060101010101" charset="-122"/>
                <a:ea typeface="黑体" panose="02010609060101010101" charset="-122"/>
                <a:sym typeface="+mn-ea"/>
              </a:rPr>
              <a:t> </a:t>
            </a:r>
            <a:r>
              <a:rPr lang="zh-CN" altLang="en-US" sz="1200" b="1" dirty="0">
                <a:solidFill>
                  <a:schemeClr val="tx1"/>
                </a:solidFill>
                <a:latin typeface="黑体" panose="02010609060101010101" charset="-122"/>
                <a:ea typeface="黑体" panose="02010609060101010101" charset="-122"/>
                <a:sym typeface="+mn-ea"/>
              </a:rPr>
              <a:t>当前系统日期  </a:t>
            </a:r>
            <a:endParaRPr lang="zh-CN" altLang="en-US" sz="1200" b="1" dirty="0">
              <a:solidFill>
                <a:schemeClr val="tx1"/>
              </a:solidFill>
              <a:latin typeface="黑体" panose="02010609060101010101" charset="-122"/>
              <a:ea typeface="黑体" panose="02010609060101010101" charset="-122"/>
              <a:sym typeface="+mn-ea"/>
            </a:endParaRPr>
          </a:p>
        </p:txBody>
      </p:sp>
      <p:sp>
        <p:nvSpPr>
          <p:cNvPr id="16" name="文本框 15"/>
          <p:cNvSpPr txBox="1"/>
          <p:nvPr/>
        </p:nvSpPr>
        <p:spPr>
          <a:xfrm>
            <a:off x="9285605" y="3371850"/>
            <a:ext cx="2905125" cy="3434715"/>
          </a:xfrm>
          <a:prstGeom prst="rect">
            <a:avLst/>
          </a:prstGeom>
          <a:solidFill>
            <a:schemeClr val="accent5">
              <a:lumMod val="40000"/>
              <a:lumOff val="60000"/>
            </a:schemeClr>
          </a:solidFill>
          <a:ln>
            <a:solidFill>
              <a:schemeClr val="accent1"/>
            </a:solidFill>
          </a:ln>
        </p:spPr>
        <p:txBody>
          <a:bodyPr wrap="square" rtlCol="0" anchor="t" anchorCtr="0">
            <a:noAutofit/>
          </a:bodyPr>
          <a:p>
            <a:pPr algn="l" eaLnBrk="1" hangingPunct="1">
              <a:lnSpc>
                <a:spcPct val="130000"/>
              </a:lnSpc>
              <a:buClrTx/>
              <a:buSzTx/>
              <a:buFontTx/>
            </a:pPr>
            <a:r>
              <a:rPr lang="zh-CN" sz="1200" b="1" dirty="0">
                <a:solidFill>
                  <a:schemeClr val="tx1"/>
                </a:solidFill>
                <a:latin typeface="黑体" panose="02010609060101010101" charset="-122"/>
                <a:ea typeface="黑体" panose="02010609060101010101" charset="-122"/>
                <a:sym typeface="+mn-ea"/>
              </a:rPr>
              <a:t>处理：</a:t>
            </a:r>
            <a:endParaRPr lang="zh-CN"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en-US" altLang="zh-CN" sz="1200" b="1" dirty="0">
                <a:solidFill>
                  <a:schemeClr val="tx1"/>
                </a:solidFill>
                <a:latin typeface="黑体" panose="02010609060101010101" charset="-122"/>
                <a:ea typeface="黑体" panose="02010609060101010101" charset="-122"/>
                <a:sym typeface="+mn-ea"/>
              </a:rPr>
              <a:t>1.</a:t>
            </a:r>
            <a:r>
              <a:rPr lang="zh-CN" sz="1200" b="1" dirty="0">
                <a:solidFill>
                  <a:schemeClr val="tx1"/>
                </a:solidFill>
                <a:latin typeface="黑体" panose="02010609060101010101" charset="-122"/>
                <a:ea typeface="黑体" panose="02010609060101010101" charset="-122"/>
                <a:sym typeface="+mn-ea"/>
              </a:rPr>
              <a:t>验证读者状态（是否有效、有无超期、未缴罚款）   </a:t>
            </a:r>
            <a:endParaRPr lang="zh-CN"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sz="1200" b="1" dirty="0">
                <a:solidFill>
                  <a:schemeClr val="tx1"/>
                </a:solidFill>
                <a:latin typeface="黑体" panose="02010609060101010101" charset="-122"/>
                <a:ea typeface="黑体" panose="02010609060101010101" charset="-122"/>
                <a:sym typeface="+mn-ea"/>
              </a:rPr>
              <a:t>2. 验证图书状态（是否在馆、是否可借）             3. IF 所有验证通过 THEN                           </a:t>
            </a:r>
            <a:r>
              <a:rPr lang="en-US" altLang="zh-CN" sz="1200" b="1" dirty="0">
                <a:solidFill>
                  <a:schemeClr val="tx1"/>
                </a:solidFill>
                <a:latin typeface="黑体" panose="02010609060101010101" charset="-122"/>
                <a:ea typeface="黑体" panose="02010609060101010101" charset="-122"/>
                <a:sym typeface="+mn-ea"/>
              </a:rPr>
              <a:t>         </a:t>
            </a:r>
            <a:r>
              <a:rPr lang="zh-CN" sz="1200" b="1" dirty="0">
                <a:solidFill>
                  <a:schemeClr val="tx1"/>
                </a:solidFill>
                <a:latin typeface="黑体" panose="02010609060101010101" charset="-122"/>
                <a:ea typeface="黑体" panose="02010609060101010101" charset="-122"/>
                <a:sym typeface="+mn-ea"/>
              </a:rPr>
              <a:t>在借阅记录表中插入新记录                      更新图书状态为“已借出”                        更新读者已借数量                              </a:t>
            </a:r>
            <a:r>
              <a:rPr lang="en-US" altLang="zh-CN" sz="1200" b="1" dirty="0">
                <a:solidFill>
                  <a:schemeClr val="tx1"/>
                </a:solidFill>
                <a:latin typeface="黑体" panose="02010609060101010101" charset="-122"/>
                <a:ea typeface="黑体" panose="02010609060101010101" charset="-122"/>
                <a:sym typeface="+mn-ea"/>
              </a:rPr>
              <a:t>        </a:t>
            </a:r>
            <a:r>
              <a:rPr lang="zh-CN" sz="1200" b="1" dirty="0">
                <a:solidFill>
                  <a:schemeClr val="tx1"/>
                </a:solidFill>
                <a:latin typeface="黑体" panose="02010609060101010101" charset="-122"/>
                <a:ea typeface="黑体" panose="02010609060101010101" charset="-122"/>
                <a:sym typeface="+mn-ea"/>
              </a:rPr>
              <a:t>生成借书成功提示                              ELSE                                          </a:t>
            </a:r>
            <a:r>
              <a:rPr lang="en-US" altLang="zh-CN" sz="1200" b="1" dirty="0">
                <a:solidFill>
                  <a:schemeClr val="tx1"/>
                </a:solidFill>
                <a:latin typeface="黑体" panose="02010609060101010101" charset="-122"/>
                <a:ea typeface="黑体" panose="02010609060101010101" charset="-122"/>
                <a:sym typeface="+mn-ea"/>
              </a:rPr>
              <a:t>     </a:t>
            </a:r>
            <a:r>
              <a:rPr lang="zh-CN" sz="1200" b="1" dirty="0">
                <a:solidFill>
                  <a:schemeClr val="tx1"/>
                </a:solidFill>
                <a:latin typeface="黑体" panose="02010609060101010101" charset="-122"/>
                <a:ea typeface="黑体" panose="02010609060101010101" charset="-122"/>
                <a:sym typeface="+mn-ea"/>
              </a:rPr>
              <a:t>生成具体错误提示（如“读者已挂失”）           </a:t>
            </a:r>
            <a:endParaRPr lang="zh-CN"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sz="1200" b="1" dirty="0">
                <a:solidFill>
                  <a:schemeClr val="tx1"/>
                </a:solidFill>
                <a:latin typeface="黑体" panose="02010609060101010101" charset="-122"/>
                <a:ea typeface="黑体" panose="02010609060101010101" charset="-122"/>
                <a:sym typeface="+mn-ea"/>
              </a:rPr>
              <a:t>END IF    </a:t>
            </a:r>
            <a:endParaRPr lang="zh-CN" sz="1200" b="1" dirty="0">
              <a:solidFill>
                <a:schemeClr val="tx1"/>
              </a:solidFill>
              <a:latin typeface="黑体" panose="02010609060101010101" charset="-122"/>
              <a:ea typeface="黑体" panose="02010609060101010101" charset="-122"/>
              <a:sym typeface="+mn-ea"/>
            </a:endParaRPr>
          </a:p>
        </p:txBody>
      </p:sp>
      <p:sp>
        <p:nvSpPr>
          <p:cNvPr id="17" name="文本框 16"/>
          <p:cNvSpPr txBox="1"/>
          <p:nvPr/>
        </p:nvSpPr>
        <p:spPr>
          <a:xfrm>
            <a:off x="5648325" y="5701665"/>
            <a:ext cx="3552825" cy="1104900"/>
          </a:xfrm>
          <a:prstGeom prst="rect">
            <a:avLst/>
          </a:prstGeom>
          <a:solidFill>
            <a:schemeClr val="accent5">
              <a:lumMod val="20000"/>
              <a:lumOff val="80000"/>
            </a:schemeClr>
          </a:solidFill>
        </p:spPr>
        <p:txBody>
          <a:bodyPr wrap="square" rtlCol="0" anchor="ctr" anchorCtr="0">
            <a:noAutofit/>
          </a:bodyPr>
          <a:p>
            <a:pPr algn="l" eaLnBrk="1" hangingPunct="1">
              <a:lnSpc>
                <a:spcPct val="130000"/>
              </a:lnSpc>
              <a:buClrTx/>
              <a:buSzTx/>
              <a:buFontTx/>
            </a:pPr>
            <a:r>
              <a:rPr lang="zh-CN" sz="1200" b="1" dirty="0">
                <a:solidFill>
                  <a:schemeClr val="tx1"/>
                </a:solidFill>
                <a:latin typeface="黑体" panose="02010609060101010101" charset="-122"/>
                <a:ea typeface="黑体" panose="02010609060101010101" charset="-122"/>
                <a:sym typeface="+mn-ea"/>
              </a:rPr>
              <a:t>输出：</a:t>
            </a:r>
            <a:endParaRPr lang="zh-CN" sz="1200" b="1" dirty="0">
              <a:solidFill>
                <a:schemeClr val="tx1"/>
              </a:solidFill>
              <a:latin typeface="黑体" panose="02010609060101010101" charset="-122"/>
              <a:ea typeface="黑体" panose="02010609060101010101" charset="-122"/>
              <a:sym typeface="+mn-ea"/>
            </a:endParaRPr>
          </a:p>
          <a:p>
            <a:pPr algn="l" eaLnBrk="1" hangingPunct="1">
              <a:lnSpc>
                <a:spcPct val="130000"/>
              </a:lnSpc>
              <a:buClrTx/>
              <a:buSzTx/>
              <a:buFontTx/>
            </a:pPr>
            <a:r>
              <a:rPr lang="zh-CN" sz="1200" b="1" dirty="0">
                <a:solidFill>
                  <a:schemeClr val="tx1"/>
                </a:solidFill>
                <a:latin typeface="黑体" panose="02010609060101010101" charset="-122"/>
                <a:ea typeface="黑体" panose="02010609060101010101" charset="-122"/>
                <a:sym typeface="+mn-ea"/>
              </a:rPr>
              <a:t>1. 数据库更新（借阅记录、图书、读者）             2. 屏幕提示信息（成功/失败）                     3. 可能的打印凭条（借书小票）</a:t>
            </a:r>
            <a:endParaRPr lang="zh-CN" sz="1200" b="1" dirty="0">
              <a:solidFill>
                <a:schemeClr val="tx1"/>
              </a:solidFill>
              <a:latin typeface="黑体" panose="02010609060101010101" charset="-122"/>
              <a:ea typeface="黑体" panose="02010609060101010101" charset="-122"/>
              <a:sym typeface="+mn-ea"/>
            </a:endParaRPr>
          </a:p>
        </p:txBody>
      </p: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文本框 8"/>
          <p:cNvSpPr txBox="1"/>
          <p:nvPr/>
        </p:nvSpPr>
        <p:spPr>
          <a:xfrm>
            <a:off x="241935" y="5558790"/>
            <a:ext cx="1202055" cy="1081405"/>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cxnSp>
        <p:nvCxnSpPr>
          <p:cNvPr id="11" name="直接连接符 10"/>
          <p:cNvCxnSpPr/>
          <p:nvPr/>
        </p:nvCxnSpPr>
        <p:spPr>
          <a:xfrm>
            <a:off x="12333605" y="44450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6" name="文本占位符 1"/>
          <p:cNvSpPr>
            <a:spLocks noGrp="1"/>
          </p:cNvSpPr>
          <p:nvPr>
            <p:custDataLst>
              <p:tags r:id="rId1"/>
            </p:custDataLst>
          </p:nvPr>
        </p:nvSpPr>
        <p:spPr>
          <a:xfrm>
            <a:off x="40005" y="383540"/>
            <a:ext cx="5643245" cy="161607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400" b="1" dirty="0">
                <a:solidFill>
                  <a:srgbClr val="FF0000"/>
                </a:solidFill>
                <a:latin typeface="Bodoni MT Black" panose="02070A03080606020203" pitchFamily="18" charset="0"/>
                <a:sym typeface="+mn-ea"/>
              </a:rPr>
              <a:t>结构图</a:t>
            </a:r>
            <a:r>
              <a:rPr lang="zh-CN" altLang="en-US" sz="1400" b="1" dirty="0">
                <a:solidFill>
                  <a:schemeClr val="tx1"/>
                </a:solidFill>
                <a:latin typeface="Bodoni MT Black" panose="02070A03080606020203" pitchFamily="18" charset="0"/>
                <a:sym typeface="+mn-ea"/>
              </a:rPr>
              <a:t>是一种用于描述软件系统模块</a:t>
            </a:r>
            <a:r>
              <a:rPr lang="zh-CN" altLang="en-US" sz="1400" b="1" dirty="0">
                <a:solidFill>
                  <a:srgbClr val="00B0F0"/>
                </a:solidFill>
                <a:latin typeface="Bodoni MT Black" panose="02070A03080606020203" pitchFamily="18" charset="0"/>
                <a:sym typeface="+mn-ea"/>
              </a:rPr>
              <a:t>层次结构</a:t>
            </a:r>
            <a:r>
              <a:rPr lang="zh-CN" altLang="en-US" sz="1400" b="1" dirty="0">
                <a:solidFill>
                  <a:schemeClr val="tx1"/>
                </a:solidFill>
                <a:latin typeface="Bodoni MT Black" panose="02070A03080606020203" pitchFamily="18" charset="0"/>
                <a:sym typeface="+mn-ea"/>
              </a:rPr>
              <a:t>和</a:t>
            </a:r>
            <a:r>
              <a:rPr lang="zh-CN" altLang="en-US" sz="1400" b="1" dirty="0">
                <a:solidFill>
                  <a:srgbClr val="00B0F0"/>
                </a:solidFill>
                <a:latin typeface="Bodoni MT Black" panose="02070A03080606020203" pitchFamily="18" charset="0"/>
                <a:sym typeface="+mn-ea"/>
              </a:rPr>
              <a:t>调用关系</a:t>
            </a:r>
            <a:r>
              <a:rPr lang="zh-CN" altLang="en-US" sz="1400" b="1" dirty="0">
                <a:solidFill>
                  <a:schemeClr val="tx1"/>
                </a:solidFill>
                <a:latin typeface="Bodoni MT Black" panose="02070A03080606020203" pitchFamily="18" charset="0"/>
                <a:sym typeface="+mn-ea"/>
              </a:rPr>
              <a:t>的图形化工具。图中一个方框代表一个模块，框内注明模块的名字或主要功能；方框之间的箭头（或直线）表示模块的调用关系。尾部是空心圆表示传递的是数据，实心圆表示传递的是控制信息。</a:t>
            </a:r>
            <a:endParaRPr lang="zh-CN" altLang="en-US" sz="1400" b="1" dirty="0">
              <a:solidFill>
                <a:schemeClr val="tx1"/>
              </a:solidFill>
              <a:latin typeface="Bodoni MT Black" panose="02070A03080606020203" pitchFamily="18" charset="0"/>
              <a:sym typeface="+mn-ea"/>
            </a:endParaRPr>
          </a:p>
        </p:txBody>
      </p:sp>
      <p:pic>
        <p:nvPicPr>
          <p:cNvPr id="90117" name="图片 1"/>
          <p:cNvPicPr>
            <a:picLocks noChangeAspect="1"/>
          </p:cNvPicPr>
          <p:nvPr/>
        </p:nvPicPr>
        <p:blipFill>
          <a:blip r:embed="rId2" cstate="print"/>
          <a:srcRect/>
          <a:stretch>
            <a:fillRect/>
          </a:stretch>
        </p:blipFill>
        <p:spPr bwMode="auto">
          <a:xfrm>
            <a:off x="641985" y="2123440"/>
            <a:ext cx="4460875" cy="2244725"/>
          </a:xfrm>
          <a:prstGeom prst="rect">
            <a:avLst/>
          </a:prstGeom>
          <a:noFill/>
          <a:ln w="9525">
            <a:noFill/>
            <a:miter lim="800000"/>
            <a:headEnd/>
            <a:tailEnd/>
          </a:ln>
        </p:spPr>
      </p:pic>
      <p:grpSp>
        <p:nvGrpSpPr>
          <p:cNvPr id="7" name="组合 6"/>
          <p:cNvGrpSpPr/>
          <p:nvPr/>
        </p:nvGrpSpPr>
        <p:grpSpPr>
          <a:xfrm>
            <a:off x="90170" y="4605655"/>
            <a:ext cx="2407285" cy="1641271"/>
            <a:chOff x="11198" y="3404"/>
            <a:chExt cx="5909" cy="3308"/>
          </a:xfrm>
          <a:solidFill>
            <a:schemeClr val="bg1"/>
          </a:solidFill>
        </p:grpSpPr>
        <p:pic>
          <p:nvPicPr>
            <p:cNvPr id="92164" name="图片 2"/>
            <p:cNvPicPr>
              <a:picLocks noChangeAspect="1"/>
            </p:cNvPicPr>
            <p:nvPr/>
          </p:nvPicPr>
          <p:blipFill>
            <a:blip r:embed="rId3" cstate="print"/>
            <a:srcRect/>
            <a:stretch>
              <a:fillRect/>
            </a:stretch>
          </p:blipFill>
          <p:spPr bwMode="auto">
            <a:xfrm>
              <a:off x="11475" y="3404"/>
              <a:ext cx="5103" cy="2615"/>
            </a:xfrm>
            <a:prstGeom prst="rect">
              <a:avLst/>
            </a:prstGeom>
            <a:grpFill/>
            <a:ln w="9525">
              <a:noFill/>
              <a:miter lim="800000"/>
              <a:headEnd/>
              <a:tailEnd/>
            </a:ln>
          </p:spPr>
        </p:pic>
        <p:sp>
          <p:nvSpPr>
            <p:cNvPr id="3" name="文本框 2"/>
            <p:cNvSpPr txBox="1"/>
            <p:nvPr/>
          </p:nvSpPr>
          <p:spPr>
            <a:xfrm>
              <a:off x="11198" y="6157"/>
              <a:ext cx="5909" cy="555"/>
            </a:xfrm>
            <a:prstGeom prst="rect">
              <a:avLst/>
            </a:prstGeom>
            <a:grpFill/>
          </p:spPr>
          <p:txBody>
            <a:bodyPr wrap="square" rtlCol="0">
              <a:spAutoFit/>
            </a:bodyPr>
            <a:p>
              <a:pPr algn="ctr"/>
              <a:r>
                <a:rPr lang="zh-CN" altLang="en-US" sz="1200">
                  <a:latin typeface="+mj-ea"/>
                  <a:ea typeface="+mj-ea"/>
                  <a:cs typeface="+mj-ea"/>
                </a:rPr>
                <a:t>判定为真时调用</a:t>
              </a:r>
              <a:r>
                <a:rPr lang="en-US" altLang="zh-CN" sz="1200">
                  <a:latin typeface="+mj-ea"/>
                  <a:ea typeface="+mj-ea"/>
                  <a:cs typeface="+mj-ea"/>
                </a:rPr>
                <a:t>A</a:t>
              </a:r>
              <a:r>
                <a:rPr lang="zh-CN" altLang="en-US" sz="1200">
                  <a:latin typeface="+mj-ea"/>
                  <a:ea typeface="+mj-ea"/>
                  <a:cs typeface="+mj-ea"/>
                </a:rPr>
                <a:t>，为假时调用</a:t>
              </a:r>
              <a:r>
                <a:rPr lang="en-US" altLang="zh-CN" sz="1200">
                  <a:latin typeface="+mj-ea"/>
                  <a:ea typeface="+mj-ea"/>
                  <a:cs typeface="+mj-ea"/>
                </a:rPr>
                <a:t>B</a:t>
              </a:r>
              <a:endParaRPr lang="en-US" altLang="zh-CN" sz="1200">
                <a:latin typeface="+mj-ea"/>
                <a:ea typeface="+mj-ea"/>
                <a:cs typeface="+mj-ea"/>
              </a:endParaRPr>
            </a:p>
          </p:txBody>
        </p:sp>
      </p:grpSp>
      <p:grpSp>
        <p:nvGrpSpPr>
          <p:cNvPr id="8" name="组合 7"/>
          <p:cNvGrpSpPr/>
          <p:nvPr/>
        </p:nvGrpSpPr>
        <p:grpSpPr>
          <a:xfrm>
            <a:off x="2623820" y="4605655"/>
            <a:ext cx="2566035" cy="1563139"/>
            <a:chOff x="10988" y="7226"/>
            <a:chExt cx="6119" cy="3494"/>
          </a:xfrm>
        </p:grpSpPr>
        <p:pic>
          <p:nvPicPr>
            <p:cNvPr id="92165" name="图片 3"/>
            <p:cNvPicPr>
              <a:picLocks noChangeAspect="1"/>
            </p:cNvPicPr>
            <p:nvPr/>
          </p:nvPicPr>
          <p:blipFill>
            <a:blip r:embed="rId4" cstate="print"/>
            <a:srcRect/>
            <a:stretch>
              <a:fillRect/>
            </a:stretch>
          </p:blipFill>
          <p:spPr bwMode="auto">
            <a:xfrm>
              <a:off x="10988" y="7226"/>
              <a:ext cx="5712" cy="2670"/>
            </a:xfrm>
            <a:prstGeom prst="rect">
              <a:avLst/>
            </a:prstGeom>
            <a:noFill/>
            <a:ln w="9525">
              <a:noFill/>
              <a:miter lim="800000"/>
              <a:headEnd/>
              <a:tailEnd/>
            </a:ln>
          </p:spPr>
        </p:pic>
        <p:sp>
          <p:nvSpPr>
            <p:cNvPr id="5" name="文本框 4"/>
            <p:cNvSpPr txBox="1"/>
            <p:nvPr/>
          </p:nvSpPr>
          <p:spPr>
            <a:xfrm>
              <a:off x="11198" y="10104"/>
              <a:ext cx="5909" cy="616"/>
            </a:xfrm>
            <a:prstGeom prst="rect">
              <a:avLst/>
            </a:prstGeom>
            <a:noFill/>
          </p:spPr>
          <p:txBody>
            <a:bodyPr wrap="square" rtlCol="0">
              <a:spAutoFit/>
            </a:bodyPr>
            <a:p>
              <a:pPr algn="ctr"/>
              <a:r>
                <a:rPr lang="zh-CN" altLang="en-US" sz="1200">
                  <a:latin typeface="+mj-ea"/>
                  <a:ea typeface="+mj-ea"/>
                  <a:cs typeface="+mj-ea"/>
                </a:rPr>
                <a:t>模块</a:t>
              </a:r>
              <a:r>
                <a:rPr lang="en-US" altLang="zh-CN" sz="1200">
                  <a:latin typeface="+mj-ea"/>
                  <a:ea typeface="+mj-ea"/>
                  <a:cs typeface="+mj-ea"/>
                </a:rPr>
                <a:t>M</a:t>
              </a:r>
              <a:r>
                <a:rPr lang="zh-CN" altLang="en-US" sz="1200">
                  <a:latin typeface="+mj-ea"/>
                  <a:ea typeface="+mj-ea"/>
                  <a:cs typeface="+mj-ea"/>
                </a:rPr>
                <a:t>循环调用</a:t>
              </a:r>
              <a:r>
                <a:rPr lang="en-US" altLang="zh-CN" sz="1200">
                  <a:latin typeface="+mj-ea"/>
                  <a:ea typeface="+mj-ea"/>
                  <a:cs typeface="+mj-ea"/>
                </a:rPr>
                <a:t>A,B,C</a:t>
              </a:r>
              <a:endParaRPr lang="en-US" altLang="zh-CN" sz="1200">
                <a:latin typeface="+mj-ea"/>
                <a:ea typeface="+mj-ea"/>
                <a:cs typeface="+mj-ea"/>
              </a:endParaRPr>
            </a:p>
          </p:txBody>
        </p:sp>
      </p:grpSp>
      <p:sp>
        <p:nvSpPr>
          <p:cNvPr id="2" name="文本框 1"/>
          <p:cNvSpPr txBox="1"/>
          <p:nvPr/>
        </p:nvSpPr>
        <p:spPr>
          <a:xfrm>
            <a:off x="0" y="0"/>
            <a:ext cx="12192000" cy="368300"/>
          </a:xfrm>
          <a:prstGeom prst="rect">
            <a:avLst/>
          </a:prstGeom>
          <a:solidFill>
            <a:schemeClr val="accent1"/>
          </a:solidFill>
        </p:spPr>
        <p:txBody>
          <a:bodyPr wrap="square" rtlCol="0">
            <a:spAutoFit/>
          </a:bodyPr>
          <a:p>
            <a:r>
              <a:rPr lang="zh-CN" altLang="en-US" b="1">
                <a:solidFill>
                  <a:schemeClr val="bg2"/>
                </a:solidFill>
              </a:rPr>
              <a:t>结构图</a:t>
            </a:r>
            <a:endParaRPr lang="zh-CN" altLang="en-US" b="1">
              <a:solidFill>
                <a:schemeClr val="bg2"/>
              </a:solidFill>
            </a:endParaRPr>
          </a:p>
        </p:txBody>
      </p:sp>
      <p:grpSp>
        <p:nvGrpSpPr>
          <p:cNvPr id="16" name="组合 15"/>
          <p:cNvGrpSpPr/>
          <p:nvPr/>
        </p:nvGrpSpPr>
        <p:grpSpPr>
          <a:xfrm>
            <a:off x="1861820" y="-13970"/>
            <a:ext cx="7028180" cy="6871970"/>
            <a:chOff x="2932" y="-22"/>
            <a:chExt cx="11068" cy="10822"/>
          </a:xfrm>
        </p:grpSpPr>
        <p:pic>
          <p:nvPicPr>
            <p:cNvPr id="12" name="图片 11"/>
            <p:cNvPicPr>
              <a:picLocks noChangeAspect="1"/>
            </p:cNvPicPr>
            <p:nvPr/>
          </p:nvPicPr>
          <p:blipFill>
            <a:blip r:embed="rId5"/>
            <a:stretch>
              <a:fillRect/>
            </a:stretch>
          </p:blipFill>
          <p:spPr>
            <a:xfrm>
              <a:off x="2932" y="-22"/>
              <a:ext cx="11068" cy="10822"/>
            </a:xfrm>
            <a:prstGeom prst="rect">
              <a:avLst/>
            </a:prstGeom>
            <a:ln>
              <a:solidFill>
                <a:schemeClr val="accent1"/>
              </a:solidFill>
            </a:ln>
          </p:spPr>
        </p:pic>
        <p:sp>
          <p:nvSpPr>
            <p:cNvPr id="13" name="文本框 12"/>
            <p:cNvSpPr txBox="1"/>
            <p:nvPr/>
          </p:nvSpPr>
          <p:spPr>
            <a:xfrm>
              <a:off x="3315" y="111"/>
              <a:ext cx="2417" cy="509"/>
            </a:xfrm>
            <a:prstGeom prst="rect">
              <a:avLst/>
            </a:prstGeom>
            <a:noFill/>
          </p:spPr>
          <p:txBody>
            <a:bodyPr wrap="square" rtlCol="0" anchor="ctr" anchorCtr="0">
              <a:noAutofit/>
            </a:bodyPr>
            <a:p>
              <a:pPr algn="l" eaLnBrk="1" hangingPunct="1">
                <a:lnSpc>
                  <a:spcPct val="170000"/>
                </a:lnSpc>
                <a:buClrTx/>
                <a:buSzTx/>
                <a:buFontTx/>
              </a:pPr>
              <a:r>
                <a:rPr lang="zh-CN" altLang="en-US" sz="1400" b="1" dirty="0">
                  <a:solidFill>
                    <a:srgbClr val="FF0000"/>
                  </a:solidFill>
                  <a:latin typeface="Bodoni MT Black" panose="02070A03080606020203" pitchFamily="18" charset="0"/>
                  <a:sym typeface="+mn-ea"/>
                </a:rPr>
                <a:t>事务性结构图</a:t>
              </a:r>
              <a:endParaRPr lang="zh-CN" altLang="en-US" sz="1400" b="1" dirty="0">
                <a:solidFill>
                  <a:srgbClr val="FF0000"/>
                </a:solidFill>
                <a:latin typeface="Bodoni MT Black" panose="02070A03080606020203" pitchFamily="18" charset="0"/>
                <a:sym typeface="+mn-ea"/>
              </a:endParaRPr>
            </a:p>
          </p:txBody>
        </p:sp>
      </p:grpSp>
      <p:grpSp>
        <p:nvGrpSpPr>
          <p:cNvPr id="17" name="组合 16"/>
          <p:cNvGrpSpPr/>
          <p:nvPr/>
        </p:nvGrpSpPr>
        <p:grpSpPr>
          <a:xfrm>
            <a:off x="8890000" y="-13970"/>
            <a:ext cx="3633470" cy="6866890"/>
            <a:chOff x="14000" y="-22"/>
            <a:chExt cx="5722" cy="10814"/>
          </a:xfrm>
        </p:grpSpPr>
        <p:pic>
          <p:nvPicPr>
            <p:cNvPr id="10" name="图片 9"/>
            <p:cNvPicPr>
              <a:picLocks noChangeAspect="1"/>
            </p:cNvPicPr>
            <p:nvPr/>
          </p:nvPicPr>
          <p:blipFill>
            <a:blip r:embed="rId6"/>
            <a:stretch>
              <a:fillRect/>
            </a:stretch>
          </p:blipFill>
          <p:spPr>
            <a:xfrm>
              <a:off x="14000" y="-22"/>
              <a:ext cx="5722" cy="10814"/>
            </a:xfrm>
            <a:prstGeom prst="rect">
              <a:avLst/>
            </a:prstGeom>
            <a:ln>
              <a:solidFill>
                <a:schemeClr val="accent1"/>
              </a:solidFill>
            </a:ln>
          </p:spPr>
        </p:pic>
        <p:sp>
          <p:nvSpPr>
            <p:cNvPr id="14" name="文本框 13"/>
            <p:cNvSpPr txBox="1"/>
            <p:nvPr/>
          </p:nvSpPr>
          <p:spPr>
            <a:xfrm>
              <a:off x="14000" y="111"/>
              <a:ext cx="2179" cy="509"/>
            </a:xfrm>
            <a:prstGeom prst="rect">
              <a:avLst/>
            </a:prstGeom>
            <a:noFill/>
          </p:spPr>
          <p:txBody>
            <a:bodyPr wrap="square" rtlCol="0" anchor="ctr" anchorCtr="0">
              <a:noAutofit/>
            </a:bodyPr>
            <a:p>
              <a:pPr algn="l" eaLnBrk="1" hangingPunct="1">
                <a:lnSpc>
                  <a:spcPct val="170000"/>
                </a:lnSpc>
                <a:buClrTx/>
                <a:buSzTx/>
                <a:buFontTx/>
              </a:pPr>
              <a:r>
                <a:rPr lang="zh-CN" altLang="en-US" sz="1400" b="1" dirty="0">
                  <a:solidFill>
                    <a:srgbClr val="FF0000"/>
                  </a:solidFill>
                  <a:latin typeface="Bodoni MT Black" panose="02070A03080606020203" pitchFamily="18" charset="0"/>
                  <a:sym typeface="+mn-ea"/>
                </a:rPr>
                <a:t>变换型结构图</a:t>
              </a:r>
              <a:endParaRPr lang="zh-CN" altLang="en-US" sz="1400" b="1" dirty="0">
                <a:solidFill>
                  <a:srgbClr val="FF0000"/>
                </a:solidFill>
                <a:latin typeface="Bodoni MT Black" panose="02070A03080606020203" pitchFamily="18" charset="0"/>
                <a:sym typeface="+mn-ea"/>
              </a:endParaRPr>
            </a:p>
          </p:txBody>
        </p:sp>
      </p:grpSp>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linds(horizontal)">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3"/>
          <p:cNvSpPr>
            <a:spLocks noGrp="1"/>
          </p:cNvSpPr>
          <p:nvPr>
            <p:ph type="title"/>
            <p:custDataLst>
              <p:tags r:id="rId1"/>
            </p:custDataLst>
          </p:nvPr>
        </p:nvSpPr>
        <p:spPr>
          <a:xfrm>
            <a:off x="531765" y="423055"/>
            <a:ext cx="3960000" cy="882000"/>
          </a:xfrm>
        </p:spPr>
        <p:txBody>
          <a:bodyPr>
            <a:normAutofit/>
          </a:bodyPr>
          <a:lstStyle/>
          <a:p>
            <a:pPr algn="ctr"/>
            <a:r>
              <a:rPr lang="zh-CN" altLang="en-US" sz="2400" spc="150">
                <a:solidFill>
                  <a:schemeClr val="bg1"/>
                </a:solidFill>
                <a:cs typeface="微软雅黑" panose="020B0503020204020204" charset="-122"/>
                <a:sym typeface="+mn-lt"/>
              </a:rPr>
              <a:t>面向数据流的设计</a:t>
            </a:r>
            <a:r>
              <a:rPr lang="zh-CN" altLang="en-US" sz="2400" spc="150">
                <a:solidFill>
                  <a:schemeClr val="bg1"/>
                </a:solidFill>
                <a:cs typeface="微软雅黑" panose="020B0503020204020204" charset="-122"/>
                <a:sym typeface="+mn-lt"/>
              </a:rPr>
              <a:t>方法</a:t>
            </a:r>
            <a:endParaRPr lang="zh-CN" altLang="en-US" sz="2400" spc="150">
              <a:solidFill>
                <a:schemeClr val="bg1"/>
              </a:solidFill>
              <a:cs typeface="微软雅黑" panose="020B0503020204020204" charset="-122"/>
              <a:sym typeface="+mn-lt"/>
            </a:endParaRPr>
          </a:p>
        </p:txBody>
      </p:sp>
      <p:sp>
        <p:nvSpPr>
          <p:cNvPr id="6" name="文本占位符 1"/>
          <p:cNvSpPr>
            <a:spLocks noGrp="1"/>
          </p:cNvSpPr>
          <p:nvPr>
            <p:custDataLst>
              <p:tags r:id="rId2"/>
            </p:custDataLst>
          </p:nvPr>
        </p:nvSpPr>
        <p:spPr>
          <a:xfrm>
            <a:off x="146050" y="1524635"/>
            <a:ext cx="4690745" cy="20751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80000"/>
              </a:lnSpc>
              <a:spcBef>
                <a:spcPts val="0"/>
              </a:spcBef>
              <a:buNone/>
            </a:pPr>
            <a:r>
              <a:rPr lang="zh-CN" altLang="en-US" sz="1400" b="1" dirty="0">
                <a:latin typeface="Bodoni MT Black" panose="02070A03080606020203" pitchFamily="18" charset="0"/>
                <a:sym typeface="+mn-ea"/>
              </a:rPr>
              <a:t>在需求分析阶段，</a:t>
            </a:r>
            <a:r>
              <a:rPr lang="zh-CN" altLang="en-US" sz="1400" b="1" dirty="0">
                <a:solidFill>
                  <a:srgbClr val="FF0000"/>
                </a:solidFill>
                <a:latin typeface="Bodoni MT Black" panose="02070A03080606020203" pitchFamily="18" charset="0"/>
                <a:sym typeface="+mn-ea"/>
              </a:rPr>
              <a:t>信息流</a:t>
            </a:r>
            <a:r>
              <a:rPr lang="zh-CN" altLang="en-US" sz="1400" b="1" dirty="0">
                <a:latin typeface="Bodoni MT Black" panose="02070A03080606020203" pitchFamily="18" charset="0"/>
                <a:sym typeface="+mn-ea"/>
              </a:rPr>
              <a:t>是一个关键考虑，通常用</a:t>
            </a:r>
            <a:r>
              <a:rPr lang="zh-CN" altLang="en-US" sz="1400" b="1" dirty="0">
                <a:solidFill>
                  <a:srgbClr val="FFFF00"/>
                </a:solidFill>
                <a:latin typeface="Bodoni MT Black" panose="02070A03080606020203" pitchFamily="18" charset="0"/>
                <a:sym typeface="+mn-ea"/>
              </a:rPr>
              <a:t>数据流图</a:t>
            </a:r>
            <a:r>
              <a:rPr lang="zh-CN" altLang="en-US" sz="1400" b="1" dirty="0">
                <a:latin typeface="Bodoni MT Black" panose="02070A03080606020203" pitchFamily="18" charset="0"/>
                <a:sym typeface="+mn-ea"/>
              </a:rPr>
              <a:t>描绘信息在系统中加工和流动的情况。</a:t>
            </a:r>
            <a:endParaRPr lang="zh-CN" altLang="en-US" sz="1400" b="1" dirty="0">
              <a:latin typeface="Bodoni MT Black" panose="02070A03080606020203" pitchFamily="18" charset="0"/>
              <a:sym typeface="+mn-ea"/>
            </a:endParaRPr>
          </a:p>
          <a:p>
            <a:pPr marL="0" indent="0">
              <a:lnSpc>
                <a:spcPct val="180000"/>
              </a:lnSpc>
              <a:spcBef>
                <a:spcPts val="0"/>
              </a:spcBef>
              <a:buNone/>
            </a:pPr>
            <a:r>
              <a:rPr lang="zh-CN" altLang="en-US" sz="1400" b="1" dirty="0">
                <a:latin typeface="Bodoni MT Black" panose="02070A03080606020203" pitchFamily="18" charset="0"/>
                <a:sym typeface="+mn-ea"/>
              </a:rPr>
              <a:t>向数据流的设计方法把</a:t>
            </a:r>
            <a:r>
              <a:rPr lang="zh-CN" altLang="en-US" sz="1400" b="1" dirty="0">
                <a:solidFill>
                  <a:srgbClr val="FFFF00"/>
                </a:solidFill>
                <a:latin typeface="Bodoni MT Black" panose="02070A03080606020203" pitchFamily="18" charset="0"/>
                <a:sym typeface="+mn-ea"/>
              </a:rPr>
              <a:t>信息流映射成软件结构</a:t>
            </a:r>
            <a:r>
              <a:rPr lang="zh-CN" altLang="en-US" sz="1400" b="1" dirty="0">
                <a:latin typeface="Bodoni MT Black" panose="02070A03080606020203" pitchFamily="18" charset="0"/>
                <a:sym typeface="+mn-ea"/>
              </a:rPr>
              <a:t>，信息流的类型决定了映射的方法。信息流有下述两种类型：</a:t>
            </a:r>
            <a:r>
              <a:rPr lang="zh-CN" altLang="en-US" sz="1400" b="1" dirty="0">
                <a:solidFill>
                  <a:srgbClr val="55D5FF"/>
                </a:solidFill>
                <a:latin typeface="Bodoni MT Black" panose="02070A03080606020203" pitchFamily="18" charset="0"/>
                <a:sym typeface="+mn-ea"/>
              </a:rPr>
              <a:t>变换流，事务流</a:t>
            </a:r>
            <a:endParaRPr lang="zh-CN" altLang="en-US" sz="1400" b="1" dirty="0">
              <a:solidFill>
                <a:srgbClr val="55D5FF"/>
              </a:solidFill>
              <a:latin typeface="Bodoni MT Black" panose="02070A03080606020203" pitchFamily="18" charset="0"/>
              <a:sym typeface="+mn-ea"/>
            </a:endParaRPr>
          </a:p>
        </p:txBody>
      </p:sp>
      <p:sp>
        <p:nvSpPr>
          <p:cNvPr id="4" name="文本框 3"/>
          <p:cNvSpPr txBox="1"/>
          <p:nvPr/>
        </p:nvSpPr>
        <p:spPr>
          <a:xfrm>
            <a:off x="4848225" y="-8890"/>
            <a:ext cx="3579495" cy="2795905"/>
          </a:xfrm>
          <a:prstGeom prst="rect">
            <a:avLst/>
          </a:prstGeom>
          <a:solidFill>
            <a:schemeClr val="accent1"/>
          </a:solidFill>
          <a:ln>
            <a:solidFill>
              <a:schemeClr val="accent1"/>
            </a:solidFill>
          </a:ln>
        </p:spPr>
        <p:txBody>
          <a:bodyPr wrap="square" rtlCol="0" anchor="ctr" anchorCtr="0">
            <a:noAutofit/>
          </a:bodyPr>
          <a:p>
            <a:pPr marL="0" indent="0" eaLnBrk="1" hangingPunct="1">
              <a:lnSpc>
                <a:spcPct val="185000"/>
              </a:lnSpc>
              <a:defRPr/>
            </a:pPr>
            <a:r>
              <a:rPr lang="zh-CN" altLang="en-US" sz="1400" b="1" dirty="0">
                <a:solidFill>
                  <a:srgbClr val="FFFF00"/>
                </a:solidFill>
                <a:latin typeface="+mn-ea"/>
                <a:cs typeface="微软雅黑" panose="020B0503020204020204" charset="-122"/>
                <a:sym typeface="+mn-ea"/>
              </a:rPr>
              <a:t>变换流：</a:t>
            </a:r>
            <a:r>
              <a:rPr lang="zh-CN" altLang="en-US" sz="1400" b="1" dirty="0">
                <a:solidFill>
                  <a:schemeClr val="bg2"/>
                </a:solidFill>
                <a:latin typeface="+mn-ea"/>
                <a:sym typeface="+mn-ea"/>
              </a:rPr>
              <a:t>信息沿输入通路进入系统</a:t>
            </a:r>
            <a:r>
              <a:rPr lang="zh-CN" altLang="en-US" sz="1400" b="1" dirty="0" smtClean="0">
                <a:solidFill>
                  <a:schemeClr val="bg2"/>
                </a:solidFill>
                <a:latin typeface="+mn-ea"/>
                <a:sym typeface="+mn-ea"/>
              </a:rPr>
              <a:t>，由外部</a:t>
            </a:r>
            <a:r>
              <a:rPr lang="zh-CN" altLang="en-US" sz="1400" b="1" dirty="0">
                <a:solidFill>
                  <a:schemeClr val="bg2"/>
                </a:solidFill>
                <a:latin typeface="+mn-ea"/>
                <a:sym typeface="+mn-ea"/>
              </a:rPr>
              <a:t>形式变换成内部形式，</a:t>
            </a:r>
            <a:r>
              <a:rPr lang="zh-CN" altLang="en-US" sz="1400" b="1" dirty="0" smtClean="0">
                <a:solidFill>
                  <a:schemeClr val="bg2"/>
                </a:solidFill>
                <a:latin typeface="+mn-ea"/>
                <a:sym typeface="+mn-ea"/>
              </a:rPr>
              <a:t>进入</a:t>
            </a:r>
            <a:r>
              <a:rPr lang="zh-CN" altLang="en-US" sz="1400" b="1" dirty="0">
                <a:solidFill>
                  <a:schemeClr val="bg2"/>
                </a:solidFill>
                <a:latin typeface="+mn-ea"/>
                <a:sym typeface="+mn-ea"/>
              </a:rPr>
              <a:t>系统的信息通过变换中心</a:t>
            </a:r>
            <a:r>
              <a:rPr lang="zh-CN" altLang="en-US" sz="1400" b="1" dirty="0" smtClean="0">
                <a:solidFill>
                  <a:schemeClr val="bg2"/>
                </a:solidFill>
                <a:latin typeface="+mn-ea"/>
                <a:sym typeface="+mn-ea"/>
              </a:rPr>
              <a:t>，经</a:t>
            </a:r>
            <a:r>
              <a:rPr lang="zh-CN" altLang="en-US" sz="1400" b="1" dirty="0">
                <a:solidFill>
                  <a:schemeClr val="bg2"/>
                </a:solidFill>
                <a:latin typeface="+mn-ea"/>
                <a:sym typeface="+mn-ea"/>
              </a:rPr>
              <a:t>加工处理以后再沿输出</a:t>
            </a:r>
            <a:r>
              <a:rPr lang="zh-CN" altLang="en-US" sz="1400" b="1" dirty="0" smtClean="0">
                <a:solidFill>
                  <a:schemeClr val="bg2"/>
                </a:solidFill>
                <a:latin typeface="+mn-ea"/>
                <a:sym typeface="+mn-ea"/>
              </a:rPr>
              <a:t>通路变换</a:t>
            </a:r>
            <a:r>
              <a:rPr lang="zh-CN" altLang="en-US" sz="1400" b="1" dirty="0">
                <a:solidFill>
                  <a:schemeClr val="bg2"/>
                </a:solidFill>
                <a:latin typeface="+mn-ea"/>
                <a:sym typeface="+mn-ea"/>
              </a:rPr>
              <a:t>成外部形式离开软件系统</a:t>
            </a:r>
            <a:r>
              <a:rPr lang="zh-CN" altLang="en-US" sz="1400" b="1" dirty="0" smtClean="0">
                <a:solidFill>
                  <a:schemeClr val="bg2"/>
                </a:solidFill>
                <a:latin typeface="+mn-ea"/>
                <a:sym typeface="+mn-ea"/>
              </a:rPr>
              <a:t>。当</a:t>
            </a:r>
            <a:r>
              <a:rPr lang="zh-CN" altLang="en-US" sz="1400" b="1" dirty="0">
                <a:solidFill>
                  <a:schemeClr val="bg2"/>
                </a:solidFill>
                <a:latin typeface="+mn-ea"/>
                <a:sym typeface="+mn-ea"/>
              </a:rPr>
              <a:t>数据流图具有这些特征时，</a:t>
            </a:r>
            <a:r>
              <a:rPr lang="zh-CN" altLang="en-US" sz="1400" b="1" dirty="0" smtClean="0">
                <a:solidFill>
                  <a:schemeClr val="bg2"/>
                </a:solidFill>
                <a:latin typeface="+mn-ea"/>
                <a:sym typeface="+mn-ea"/>
              </a:rPr>
              <a:t>这种</a:t>
            </a:r>
            <a:r>
              <a:rPr lang="zh-CN" altLang="en-US" sz="1400" b="1" dirty="0">
                <a:solidFill>
                  <a:schemeClr val="bg2"/>
                </a:solidFill>
                <a:latin typeface="+mn-ea"/>
                <a:sym typeface="+mn-ea"/>
              </a:rPr>
              <a:t>信息流就叫作变换流</a:t>
            </a:r>
            <a:r>
              <a:rPr lang="zh-CN" altLang="en-US" sz="1400" b="1" dirty="0" smtClean="0">
                <a:solidFill>
                  <a:schemeClr val="bg2"/>
                </a:solidFill>
                <a:latin typeface="+mn-ea"/>
                <a:sym typeface="+mn-ea"/>
              </a:rPr>
              <a:t>。</a:t>
            </a:r>
            <a:endParaRPr lang="en-US" altLang="zh-CN" sz="1400" b="1" dirty="0" smtClean="0">
              <a:latin typeface="+mn-ea"/>
            </a:endParaRPr>
          </a:p>
          <a:p>
            <a:pPr lvl="0" algn="l">
              <a:lnSpc>
                <a:spcPct val="200000"/>
              </a:lnSpc>
              <a:spcBef>
                <a:spcPts val="0"/>
              </a:spcBef>
              <a:buClrTx/>
              <a:buSzTx/>
              <a:buFontTx/>
            </a:pPr>
            <a:endParaRPr lang="zh-CN" altLang="en-US" sz="1400" b="1" dirty="0">
              <a:solidFill>
                <a:srgbClr val="00B0F0"/>
              </a:solidFill>
              <a:latin typeface="+mn-ea"/>
              <a:cs typeface="微软雅黑" panose="020B0503020204020204" charset="-122"/>
              <a:sym typeface="+mn-ea"/>
            </a:endParaRPr>
          </a:p>
        </p:txBody>
      </p:sp>
      <p:pic>
        <p:nvPicPr>
          <p:cNvPr id="96261" name="图片 1"/>
          <p:cNvPicPr>
            <a:picLocks noChangeAspect="1"/>
          </p:cNvPicPr>
          <p:nvPr/>
        </p:nvPicPr>
        <p:blipFill>
          <a:blip r:embed="rId3" cstate="print"/>
          <a:srcRect/>
          <a:stretch>
            <a:fillRect/>
          </a:stretch>
        </p:blipFill>
        <p:spPr bwMode="auto">
          <a:xfrm>
            <a:off x="8461375" y="246380"/>
            <a:ext cx="3446780" cy="2363470"/>
          </a:xfrm>
          <a:prstGeom prst="rect">
            <a:avLst/>
          </a:prstGeom>
          <a:noFill/>
          <a:ln w="9525">
            <a:noFill/>
            <a:miter lim="800000"/>
            <a:headEnd/>
            <a:tailEnd/>
          </a:ln>
        </p:spPr>
      </p:pic>
      <p:sp>
        <p:nvSpPr>
          <p:cNvPr id="9" name="文本框 8"/>
          <p:cNvSpPr txBox="1"/>
          <p:nvPr/>
        </p:nvSpPr>
        <p:spPr>
          <a:xfrm>
            <a:off x="4847590" y="2806700"/>
            <a:ext cx="3580130" cy="4051300"/>
          </a:xfrm>
          <a:prstGeom prst="rect">
            <a:avLst/>
          </a:prstGeom>
          <a:solidFill>
            <a:schemeClr val="accent3"/>
          </a:solidFill>
          <a:ln>
            <a:solidFill>
              <a:schemeClr val="accent1"/>
            </a:solidFill>
          </a:ln>
        </p:spPr>
        <p:txBody>
          <a:bodyPr wrap="square" rtlCol="0" anchor="ctr" anchorCtr="0">
            <a:noAutofit/>
          </a:bodyPr>
          <a:p>
            <a:pPr marL="0" algn="l" eaLnBrk="1" hangingPunct="1">
              <a:lnSpc>
                <a:spcPct val="185000"/>
              </a:lnSpc>
              <a:buClrTx/>
              <a:buSzTx/>
              <a:buFontTx/>
              <a:defRPr/>
            </a:pPr>
            <a:r>
              <a:rPr lang="zh-CN" altLang="en-US" sz="1400" b="1" dirty="0">
                <a:solidFill>
                  <a:srgbClr val="FFFF00"/>
                </a:solidFill>
                <a:latin typeface="微软雅黑" panose="020B0503020204020204" charset="-122"/>
                <a:cs typeface="微软雅黑" panose="020B0503020204020204" charset="-122"/>
                <a:sym typeface="+mn-ea"/>
              </a:rPr>
              <a:t>事务流：</a:t>
            </a:r>
            <a:r>
              <a:rPr lang="zh-CN" altLang="en-US" sz="1400" b="1" dirty="0">
                <a:solidFill>
                  <a:schemeClr val="bg2"/>
                </a:solidFill>
                <a:latin typeface="+mn-ea"/>
                <a:sym typeface="+mn-ea"/>
              </a:rPr>
              <a:t>数据沿输入通路到达一个处理T，这个处理根据输入数据的类型在若干个动作序列中选出一个来执行。这类数据流应该划为一类特殊的数据流，称为事务流。图中的处理T称为事务中心，它完成下述任务：</a:t>
            </a:r>
            <a:endParaRPr lang="zh-CN" altLang="en-US" sz="1400" b="1" dirty="0">
              <a:solidFill>
                <a:schemeClr val="bg2"/>
              </a:solidFill>
              <a:latin typeface="+mn-ea"/>
              <a:sym typeface="+mn-ea"/>
            </a:endParaRPr>
          </a:p>
          <a:p>
            <a:pPr marL="342900" indent="-342900" algn="l" eaLnBrk="1" hangingPunct="1">
              <a:lnSpc>
                <a:spcPct val="185000"/>
              </a:lnSpc>
              <a:buClrTx/>
              <a:buSzTx/>
              <a:buFont typeface="+mj-ea"/>
              <a:buAutoNum type="circleNumDbPlain"/>
              <a:defRPr/>
            </a:pPr>
            <a:r>
              <a:rPr lang="zh-CN" altLang="en-US" sz="1400" b="1" dirty="0">
                <a:solidFill>
                  <a:schemeClr val="bg2"/>
                </a:solidFill>
                <a:latin typeface="+mn-ea"/>
                <a:sym typeface="+mn-ea"/>
              </a:rPr>
              <a:t>接收输入数据（事务）</a:t>
            </a:r>
            <a:endParaRPr lang="zh-CN" altLang="en-US" sz="1400" b="1" dirty="0">
              <a:solidFill>
                <a:schemeClr val="bg2"/>
              </a:solidFill>
              <a:latin typeface="+mn-ea"/>
            </a:endParaRPr>
          </a:p>
          <a:p>
            <a:pPr marL="342900" indent="-342900" algn="l" eaLnBrk="1" hangingPunct="1">
              <a:lnSpc>
                <a:spcPct val="185000"/>
              </a:lnSpc>
              <a:buClrTx/>
              <a:buSzTx/>
              <a:buFont typeface="+mj-ea"/>
              <a:buAutoNum type="circleNumDbPlain"/>
              <a:defRPr/>
            </a:pPr>
            <a:r>
              <a:rPr lang="zh-CN" altLang="en-US" sz="1400" b="1" dirty="0">
                <a:solidFill>
                  <a:schemeClr val="bg2"/>
                </a:solidFill>
                <a:latin typeface="+mn-ea"/>
                <a:sym typeface="+mn-ea"/>
              </a:rPr>
              <a:t>分析每个事务以确定它的类型</a:t>
            </a:r>
            <a:endParaRPr lang="zh-CN" altLang="en-US" sz="1400" b="1" dirty="0">
              <a:solidFill>
                <a:schemeClr val="bg2"/>
              </a:solidFill>
              <a:latin typeface="+mn-ea"/>
            </a:endParaRPr>
          </a:p>
          <a:p>
            <a:pPr marL="342900" indent="-342900" algn="l" eaLnBrk="1" hangingPunct="1">
              <a:lnSpc>
                <a:spcPct val="185000"/>
              </a:lnSpc>
              <a:buClrTx/>
              <a:buSzTx/>
              <a:buFont typeface="+mj-ea"/>
              <a:buAutoNum type="circleNumDbPlain"/>
              <a:defRPr/>
            </a:pPr>
            <a:r>
              <a:rPr lang="zh-CN" altLang="en-US" sz="1400" b="1" dirty="0">
                <a:solidFill>
                  <a:schemeClr val="bg2"/>
                </a:solidFill>
                <a:latin typeface="+mn-ea"/>
                <a:sym typeface="+mn-ea"/>
              </a:rPr>
              <a:t>根据事务类型选取一条活动通路</a:t>
            </a:r>
            <a:endParaRPr lang="zh-CN" altLang="en-US" sz="1400" b="1" dirty="0">
              <a:solidFill>
                <a:schemeClr val="bg2"/>
              </a:solidFill>
              <a:latin typeface="+mn-ea"/>
            </a:endParaRPr>
          </a:p>
          <a:p>
            <a:pPr lvl="0" algn="l">
              <a:lnSpc>
                <a:spcPct val="200000"/>
              </a:lnSpc>
              <a:spcBef>
                <a:spcPts val="0"/>
              </a:spcBef>
              <a:buClrTx/>
              <a:buSzTx/>
              <a:buFontTx/>
            </a:pPr>
            <a:endParaRPr lang="zh-CN" altLang="en-US" sz="1400" b="1" dirty="0">
              <a:solidFill>
                <a:schemeClr val="bg2"/>
              </a:solidFill>
              <a:latin typeface="+mn-ea"/>
              <a:cs typeface="微软雅黑" panose="020B0503020204020204" charset="-122"/>
              <a:sym typeface="+mn-ea"/>
            </a:endParaRPr>
          </a:p>
        </p:txBody>
      </p:sp>
      <p:pic>
        <p:nvPicPr>
          <p:cNvPr id="98308" name="图片 2"/>
          <p:cNvPicPr>
            <a:picLocks noChangeAspect="1"/>
          </p:cNvPicPr>
          <p:nvPr/>
        </p:nvPicPr>
        <p:blipFill>
          <a:blip r:embed="rId4" cstate="print"/>
          <a:srcRect/>
          <a:stretch>
            <a:fillRect/>
          </a:stretch>
        </p:blipFill>
        <p:spPr bwMode="auto">
          <a:xfrm>
            <a:off x="8712835" y="3429000"/>
            <a:ext cx="3076575" cy="2656840"/>
          </a:xfrm>
          <a:prstGeom prst="rect">
            <a:avLst/>
          </a:prstGeom>
          <a:noFill/>
          <a:ln w="9525">
            <a:noFill/>
            <a:miter lim="800000"/>
            <a:headEnd/>
            <a:tailEnd/>
          </a:ln>
        </p:spPr>
      </p:pic>
      <p:cxnSp>
        <p:nvCxnSpPr>
          <p:cNvPr id="2" name="直接连接符 1"/>
          <p:cNvCxnSpPr/>
          <p:nvPr/>
        </p:nvCxnSpPr>
        <p:spPr>
          <a:xfrm>
            <a:off x="4836795" y="2771775"/>
            <a:ext cx="7344410" cy="1524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pic>
        <p:nvPicPr>
          <p:cNvPr id="5" name="图片 4"/>
          <p:cNvPicPr>
            <a:picLocks noChangeAspect="1"/>
          </p:cNvPicPr>
          <p:nvPr/>
        </p:nvPicPr>
        <p:blipFill>
          <a:blip r:embed="rId5"/>
          <a:stretch>
            <a:fillRect/>
          </a:stretch>
        </p:blipFill>
        <p:spPr>
          <a:xfrm>
            <a:off x="0" y="3917315"/>
            <a:ext cx="4826000" cy="2312035"/>
          </a:xfrm>
          <a:prstGeom prst="rect">
            <a:avLst/>
          </a:prstGeom>
        </p:spPr>
      </p:pic>
    </p:spTree>
    <p:custDataLst>
      <p:tags r:id="rId6"/>
    </p:custData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pic>
        <p:nvPicPr>
          <p:cNvPr id="3" name="图片 2" descr="dc79837a0075"/>
          <p:cNvPicPr>
            <a:picLocks noChangeAspect="1"/>
          </p:cNvPicPr>
          <p:nvPr/>
        </p:nvPicPr>
        <p:blipFill>
          <a:blip r:embed="rId1"/>
          <a:stretch>
            <a:fillRect/>
          </a:stretch>
        </p:blipFill>
        <p:spPr>
          <a:xfrm>
            <a:off x="358140" y="-2540"/>
            <a:ext cx="4994910" cy="6871335"/>
          </a:xfrm>
          <a:prstGeom prst="rect">
            <a:avLst/>
          </a:prstGeom>
        </p:spPr>
      </p:pic>
      <p:sp>
        <p:nvSpPr>
          <p:cNvPr id="6" name="文本占位符 1"/>
          <p:cNvSpPr>
            <a:spLocks noGrp="1"/>
          </p:cNvSpPr>
          <p:nvPr>
            <p:custDataLst>
              <p:tags r:id="rId2"/>
            </p:custDataLst>
          </p:nvPr>
        </p:nvSpPr>
        <p:spPr>
          <a:xfrm>
            <a:off x="512445" y="135255"/>
            <a:ext cx="1657350" cy="5003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rgbClr val="FF0000"/>
                </a:solidFill>
                <a:latin typeface="Bodoni MT Black" panose="02070A03080606020203" pitchFamily="18" charset="0"/>
                <a:sym typeface="+mn-ea"/>
              </a:rPr>
              <a:t>设计过程</a:t>
            </a:r>
            <a:endParaRPr lang="zh-CN" altLang="en-US" sz="1800" b="1" dirty="0">
              <a:solidFill>
                <a:srgbClr val="FF0000"/>
              </a:solidFill>
              <a:latin typeface="Bodoni MT Black" panose="02070A03080606020203" pitchFamily="18" charset="0"/>
              <a:sym typeface="+mn-ea"/>
            </a:endParaRPr>
          </a:p>
        </p:txBody>
      </p:sp>
      <p:sp>
        <p:nvSpPr>
          <p:cNvPr id="4" name="文本框 3"/>
          <p:cNvSpPr txBox="1"/>
          <p:nvPr/>
        </p:nvSpPr>
        <p:spPr>
          <a:xfrm>
            <a:off x="1598295" y="3689985"/>
            <a:ext cx="1609090" cy="523240"/>
          </a:xfrm>
          <a:prstGeom prst="rect">
            <a:avLst/>
          </a:prstGeom>
          <a:noFill/>
          <a:ln w="12700">
            <a:solidFill>
              <a:srgbClr val="FF0000"/>
            </a:solidFill>
            <a:prstDash val="dash"/>
          </a:ln>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5" name="文本框 4"/>
          <p:cNvSpPr txBox="1"/>
          <p:nvPr/>
        </p:nvSpPr>
        <p:spPr>
          <a:xfrm>
            <a:off x="10815320" y="365760"/>
            <a:ext cx="1298575" cy="1017270"/>
          </a:xfrm>
          <a:prstGeom prst="rect">
            <a:avLst/>
          </a:prstGeom>
          <a:solidFill>
            <a:schemeClr val="bg2"/>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pic>
        <p:nvPicPr>
          <p:cNvPr id="7" name="图片 6" descr="deepseek_mermaid_20251226_b1231e"/>
          <p:cNvPicPr>
            <a:picLocks noChangeAspect="1"/>
          </p:cNvPicPr>
          <p:nvPr/>
        </p:nvPicPr>
        <p:blipFill>
          <a:blip r:embed="rId3"/>
          <a:stretch>
            <a:fillRect/>
          </a:stretch>
        </p:blipFill>
        <p:spPr>
          <a:xfrm>
            <a:off x="6375400" y="635635"/>
            <a:ext cx="5370195" cy="6222365"/>
          </a:xfrm>
          <a:prstGeom prst="rect">
            <a:avLst/>
          </a:prstGeom>
        </p:spPr>
      </p:pic>
      <p:sp>
        <p:nvSpPr>
          <p:cNvPr id="8" name="文本框 7"/>
          <p:cNvSpPr txBox="1"/>
          <p:nvPr/>
        </p:nvSpPr>
        <p:spPr>
          <a:xfrm>
            <a:off x="10253980" y="6316345"/>
            <a:ext cx="1588135" cy="309245"/>
          </a:xfrm>
          <a:prstGeom prst="rect">
            <a:avLst/>
          </a:prstGeom>
          <a:noFill/>
        </p:spPr>
        <p:txBody>
          <a:bodyPr wrap="square" rtlCol="0" anchor="ctr" anchorCtr="0">
            <a:noAutofit/>
          </a:bodyPr>
          <a:p>
            <a:pPr algn="ctr" eaLnBrk="1" hangingPunct="1">
              <a:lnSpc>
                <a:spcPct val="170000"/>
              </a:lnSpc>
              <a:buClrTx/>
              <a:buSzTx/>
              <a:buFontTx/>
            </a:pPr>
            <a:r>
              <a:rPr lang="en-US" altLang="zh-CN" sz="1400" b="1" dirty="0">
                <a:solidFill>
                  <a:srgbClr val="FF0000"/>
                </a:solidFill>
                <a:latin typeface="+mn-ea"/>
                <a:sym typeface="+mn-ea"/>
              </a:rPr>
              <a:t> DFD(</a:t>
            </a:r>
            <a:r>
              <a:rPr lang="en-US" altLang="zh-CN" sz="1400" b="1" dirty="0">
                <a:solidFill>
                  <a:srgbClr val="FF0000"/>
                </a:solidFill>
                <a:latin typeface="+mn-ea"/>
                <a:sym typeface="+mn-ea"/>
              </a:rPr>
              <a:t> level1</a:t>
            </a:r>
            <a:r>
              <a:rPr lang="en-US" altLang="zh-CN" sz="1400" b="1" dirty="0">
                <a:solidFill>
                  <a:srgbClr val="FF0000"/>
                </a:solidFill>
                <a:latin typeface="+mn-ea"/>
                <a:sym typeface="+mn-ea"/>
              </a:rPr>
              <a:t>)</a:t>
            </a:r>
            <a:endParaRPr lang="en-US" altLang="zh-CN" sz="1400" b="1" dirty="0">
              <a:solidFill>
                <a:srgbClr val="FF0000"/>
              </a:solidFill>
              <a:latin typeface="+mn-ea"/>
              <a:sym typeface="+mn-ea"/>
            </a:endParaRPr>
          </a:p>
        </p:txBody>
      </p:sp>
      <p:sp>
        <p:nvSpPr>
          <p:cNvPr id="10" name="文本占位符 1"/>
          <p:cNvSpPr>
            <a:spLocks noGrp="1"/>
          </p:cNvSpPr>
          <p:nvPr>
            <p:custDataLst>
              <p:tags r:id="rId4"/>
            </p:custDataLst>
          </p:nvPr>
        </p:nvSpPr>
        <p:spPr>
          <a:xfrm>
            <a:off x="5922645" y="0"/>
            <a:ext cx="6269355" cy="493395"/>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solidFill>
                  <a:schemeClr val="bg2"/>
                </a:solidFill>
                <a:latin typeface="+mj-ea"/>
                <a:ea typeface="+mj-ea"/>
                <a:cs typeface="+mj-ea"/>
                <a:sym typeface="+mn-ea"/>
              </a:rPr>
              <a:t>设计步骤：</a:t>
            </a:r>
            <a:r>
              <a:rPr lang="zh-CN" altLang="en-US" sz="1400" b="1" dirty="0">
                <a:latin typeface="+mj-ea"/>
                <a:ea typeface="+mj-ea"/>
                <a:cs typeface="+mj-ea"/>
                <a:sym typeface="+mn-ea"/>
              </a:rPr>
              <a:t>第</a:t>
            </a:r>
            <a:r>
              <a:rPr lang="en-US" altLang="zh-CN" sz="1400" b="1" dirty="0">
                <a:latin typeface="+mj-ea"/>
                <a:ea typeface="+mj-ea"/>
                <a:cs typeface="+mj-ea"/>
                <a:sym typeface="+mn-ea"/>
              </a:rPr>
              <a:t>1</a:t>
            </a:r>
            <a:r>
              <a:rPr lang="zh-CN" altLang="en-US" sz="1400" b="1" dirty="0">
                <a:latin typeface="+mj-ea"/>
                <a:ea typeface="+mj-ea"/>
                <a:cs typeface="+mj-ea"/>
                <a:sym typeface="+mn-ea"/>
              </a:rPr>
              <a:t>步复查并精化数据流图（以图书馆图书查询系统为例）</a:t>
            </a:r>
            <a:endParaRPr lang="zh-CN" altLang="en-US" sz="1000" b="1" dirty="0">
              <a:solidFill>
                <a:srgbClr val="FFFF00"/>
              </a:solidFill>
              <a:latin typeface="+mj-ea"/>
              <a:ea typeface="+mj-ea"/>
              <a:cs typeface="+mj-ea"/>
              <a:sym typeface="+mn-ea"/>
            </a:endParaRPr>
          </a:p>
        </p:txBody>
      </p:sp>
    </p:spTree>
    <p:custDataLst>
      <p:tags r:id="rId5"/>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6" name="文本占位符 1"/>
          <p:cNvSpPr>
            <a:spLocks noGrp="1"/>
          </p:cNvSpPr>
          <p:nvPr>
            <p:custDataLst>
              <p:tags r:id="rId1"/>
            </p:custDataLst>
          </p:nvPr>
        </p:nvSpPr>
        <p:spPr>
          <a:xfrm>
            <a:off x="0" y="0"/>
            <a:ext cx="5923280"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2</a:t>
            </a:r>
            <a:r>
              <a:rPr lang="zh-CN" altLang="en-US" sz="1400" b="1" dirty="0">
                <a:latin typeface="+mj-ea"/>
                <a:ea typeface="+mj-ea"/>
                <a:cs typeface="+mj-ea"/>
                <a:sym typeface="+mn-ea"/>
              </a:rPr>
              <a:t>步：识别数据流类型，分析</a:t>
            </a:r>
            <a:r>
              <a:rPr lang="en-US" altLang="zh-CN" sz="1400" b="1" dirty="0">
                <a:latin typeface="+mj-ea"/>
                <a:ea typeface="+mj-ea"/>
                <a:cs typeface="+mj-ea"/>
                <a:sym typeface="+mn-ea"/>
              </a:rPr>
              <a:t>DFD</a:t>
            </a:r>
            <a:r>
              <a:rPr lang="zh-CN" altLang="en-US" sz="1400" b="1" dirty="0">
                <a:latin typeface="+mj-ea"/>
                <a:ea typeface="+mj-ea"/>
                <a:cs typeface="+mj-ea"/>
                <a:sym typeface="+mn-ea"/>
              </a:rPr>
              <a:t>特征</a:t>
            </a:r>
            <a:endParaRPr lang="zh-CN" altLang="en-US" sz="1400" b="1" dirty="0">
              <a:solidFill>
                <a:srgbClr val="FFFF00"/>
              </a:solidFill>
              <a:latin typeface="+mj-ea"/>
              <a:ea typeface="+mj-ea"/>
              <a:cs typeface="+mj-ea"/>
              <a:sym typeface="+mn-ea"/>
            </a:endParaRPr>
          </a:p>
        </p:txBody>
      </p:sp>
      <p:pic>
        <p:nvPicPr>
          <p:cNvPr id="4" name="图片 3" descr="图片修改"/>
          <p:cNvPicPr>
            <a:picLocks noChangeAspect="1"/>
          </p:cNvPicPr>
          <p:nvPr/>
        </p:nvPicPr>
        <p:blipFill>
          <a:blip r:embed="rId2"/>
          <a:srcRect t="2788" b="4514"/>
          <a:stretch>
            <a:fillRect/>
          </a:stretch>
        </p:blipFill>
        <p:spPr>
          <a:xfrm>
            <a:off x="220980" y="540385"/>
            <a:ext cx="3664585" cy="6038215"/>
          </a:xfrm>
          <a:prstGeom prst="rect">
            <a:avLst/>
          </a:prstGeom>
        </p:spPr>
      </p:pic>
      <p:sp>
        <p:nvSpPr>
          <p:cNvPr id="5" name="文本框 4"/>
          <p:cNvSpPr txBox="1"/>
          <p:nvPr/>
        </p:nvSpPr>
        <p:spPr>
          <a:xfrm>
            <a:off x="3348990" y="763905"/>
            <a:ext cx="2403475" cy="4009390"/>
          </a:xfrm>
          <a:prstGeom prst="rect">
            <a:avLst/>
          </a:prstGeom>
          <a:noFill/>
        </p:spPr>
        <p:txBody>
          <a:bodyPr wrap="square" rtlCol="0" anchor="ctr" anchorCtr="0">
            <a:noAutofit/>
          </a:bodyPr>
          <a:p>
            <a:pPr algn="l" eaLnBrk="1" hangingPunct="1">
              <a:lnSpc>
                <a:spcPct val="210000"/>
              </a:lnSpc>
              <a:buClrTx/>
              <a:buSzTx/>
              <a:buFontTx/>
            </a:pPr>
            <a:r>
              <a:rPr lang="zh-CN" altLang="en-US" sz="1400" b="1" dirty="0">
                <a:solidFill>
                  <a:schemeClr val="tx1"/>
                </a:solidFill>
                <a:latin typeface="Bodoni MT Black" panose="02070A03080606020203" pitchFamily="18" charset="0"/>
                <a:sym typeface="+mn-ea"/>
              </a:rPr>
              <a:t>判断结果：这是一个变换型数据流。</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有明显的输入路径（接收→解析→验证）</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核心变换（数据库查询）</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明确的输出路径（格式化→响应）</a:t>
            </a:r>
            <a:endParaRPr lang="zh-CN" altLang="en-US" sz="1400" b="1" dirty="0">
              <a:solidFill>
                <a:schemeClr val="tx1"/>
              </a:solidFill>
              <a:latin typeface="Bodoni MT Black" panose="02070A03080606020203" pitchFamily="18" charset="0"/>
              <a:sym typeface="+mn-ea"/>
            </a:endParaRPr>
          </a:p>
        </p:txBody>
      </p:sp>
      <p:sp>
        <p:nvSpPr>
          <p:cNvPr id="7" name="文本占位符 1"/>
          <p:cNvSpPr>
            <a:spLocks noGrp="1"/>
          </p:cNvSpPr>
          <p:nvPr>
            <p:custDataLst>
              <p:tags r:id="rId3"/>
            </p:custDataLst>
          </p:nvPr>
        </p:nvSpPr>
        <p:spPr>
          <a:xfrm>
            <a:off x="5951855" y="0"/>
            <a:ext cx="6240780"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3</a:t>
            </a:r>
            <a:r>
              <a:rPr lang="zh-CN" altLang="en-US" sz="1400" b="1" dirty="0">
                <a:latin typeface="+mj-ea"/>
                <a:ea typeface="+mj-ea"/>
                <a:cs typeface="+mj-ea"/>
                <a:sym typeface="+mn-ea"/>
              </a:rPr>
              <a:t>步：识别边界</a:t>
            </a:r>
            <a:endParaRPr lang="en-US" sz="1400" b="1" dirty="0">
              <a:solidFill>
                <a:srgbClr val="FFFF00"/>
              </a:solidFill>
              <a:latin typeface="+mj-ea"/>
              <a:ea typeface="+mj-ea"/>
              <a:cs typeface="+mj-ea"/>
              <a:sym typeface="+mn-ea"/>
            </a:endParaRPr>
          </a:p>
        </p:txBody>
      </p:sp>
      <p:pic>
        <p:nvPicPr>
          <p:cNvPr id="8" name="图片 7" descr="deepseek_mermaid_20251226_eb7561"/>
          <p:cNvPicPr>
            <a:picLocks noChangeAspect="1"/>
          </p:cNvPicPr>
          <p:nvPr/>
        </p:nvPicPr>
        <p:blipFill>
          <a:blip r:embed="rId4"/>
          <a:stretch>
            <a:fillRect/>
          </a:stretch>
        </p:blipFill>
        <p:spPr>
          <a:xfrm>
            <a:off x="6288405" y="435610"/>
            <a:ext cx="2633980" cy="6336665"/>
          </a:xfrm>
          <a:prstGeom prst="rect">
            <a:avLst/>
          </a:prstGeom>
        </p:spPr>
      </p:pic>
      <p:sp>
        <p:nvSpPr>
          <p:cNvPr id="9" name="文本框 8"/>
          <p:cNvSpPr txBox="1"/>
          <p:nvPr/>
        </p:nvSpPr>
        <p:spPr>
          <a:xfrm>
            <a:off x="9177655" y="763905"/>
            <a:ext cx="2800350" cy="3535045"/>
          </a:xfrm>
          <a:prstGeom prst="rect">
            <a:avLst/>
          </a:prstGeom>
          <a:noFill/>
        </p:spPr>
        <p:txBody>
          <a:bodyPr wrap="square" rtlCol="0" anchor="ctr" anchorCtr="0">
            <a:noAutofit/>
          </a:bodyPr>
          <a:p>
            <a:pPr algn="l" eaLnBrk="1" hangingPunct="1">
              <a:lnSpc>
                <a:spcPct val="210000"/>
              </a:lnSpc>
              <a:buClrTx/>
              <a:buSzTx/>
              <a:buFontTx/>
            </a:pPr>
            <a:r>
              <a:rPr lang="zh-CN" altLang="en-US" sz="1400" b="1" dirty="0">
                <a:solidFill>
                  <a:schemeClr val="tx1"/>
                </a:solidFill>
                <a:latin typeface="Bodoni MT Black" panose="02070A03080606020203" pitchFamily="18" charset="0"/>
                <a:sym typeface="+mn-ea"/>
              </a:rPr>
              <a:t>边界划分：</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输入边界：从接收请求到验证完成</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变换中心：数据库查询操作</a:t>
            </a:r>
            <a:endParaRPr lang="zh-CN" altLang="en-US" sz="1400" b="1" dirty="0">
              <a:solidFill>
                <a:schemeClr val="tx1"/>
              </a:solidFill>
              <a:latin typeface="Bodoni MT Black" panose="02070A03080606020203" pitchFamily="18" charset="0"/>
              <a:sym typeface="+mn-ea"/>
            </a:endParaRPr>
          </a:p>
          <a:p>
            <a:pPr marL="342900" indent="-342900" algn="l" eaLnBrk="1" hangingPunct="1">
              <a:lnSpc>
                <a:spcPct val="210000"/>
              </a:lnSpc>
              <a:buClrTx/>
              <a:buSzTx/>
              <a:buFont typeface="+mj-ea"/>
              <a:buAutoNum type="circleNumDbPlain"/>
            </a:pPr>
            <a:r>
              <a:rPr lang="zh-CN" altLang="en-US" sz="1400" b="1" dirty="0">
                <a:solidFill>
                  <a:schemeClr val="tx1"/>
                </a:solidFill>
                <a:latin typeface="Bodoni MT Black" panose="02070A03080606020203" pitchFamily="18" charset="0"/>
                <a:sym typeface="+mn-ea"/>
              </a:rPr>
              <a:t>输出边界：从格式化结果到生成响应</a:t>
            </a:r>
            <a:endParaRPr lang="zh-CN" altLang="en-US" sz="1400" b="1" dirty="0">
              <a:solidFill>
                <a:schemeClr val="tx1"/>
              </a:solidFill>
              <a:latin typeface="Bodoni MT Black" panose="02070A03080606020203" pitchFamily="18" charset="0"/>
              <a:sym typeface="+mn-ea"/>
            </a:endParaRPr>
          </a:p>
        </p:txBody>
      </p:sp>
      <p:sp>
        <p:nvSpPr>
          <p:cNvPr id="10" name="文本框 9"/>
          <p:cNvSpPr txBox="1"/>
          <p:nvPr/>
        </p:nvSpPr>
        <p:spPr>
          <a:xfrm>
            <a:off x="10863580" y="443230"/>
            <a:ext cx="1114425" cy="89154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Tree>
    <p:custDataLst>
      <p:tags r:id="rId5"/>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文本框 11"/>
          <p:cNvSpPr txBox="1"/>
          <p:nvPr/>
        </p:nvSpPr>
        <p:spPr>
          <a:xfrm>
            <a:off x="10950575" y="200660"/>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5" name="文本框 4"/>
          <p:cNvSpPr txBox="1"/>
          <p:nvPr/>
        </p:nvSpPr>
        <p:spPr>
          <a:xfrm>
            <a:off x="7708900" y="6319520"/>
            <a:ext cx="2753995" cy="306705"/>
          </a:xfrm>
          <a:prstGeom prst="rect">
            <a:avLst/>
          </a:prstGeom>
          <a:noFill/>
        </p:spPr>
        <p:txBody>
          <a:bodyPr wrap="square" rtlCol="0">
            <a:spAutoFit/>
          </a:bodyPr>
          <a:p>
            <a:pPr marL="0" algn="ctr" eaLnBrk="1" hangingPunct="1">
              <a:lnSpc>
                <a:spcPct val="100000"/>
              </a:lnSpc>
              <a:buClrTx/>
              <a:buSzTx/>
              <a:buFontTx/>
            </a:pPr>
            <a:r>
              <a:rPr lang="zh-CN" altLang="en-US" sz="1400" b="1">
                <a:sym typeface="+mn-ea"/>
              </a:rPr>
              <a:t>第二级：输入处理模块的分解</a:t>
            </a:r>
            <a:endParaRPr lang="zh-CN" altLang="en-US" sz="1400" b="1"/>
          </a:p>
        </p:txBody>
      </p:sp>
      <p:sp>
        <p:nvSpPr>
          <p:cNvPr id="2" name="文本占位符 1"/>
          <p:cNvSpPr>
            <a:spLocks noGrp="1"/>
          </p:cNvSpPr>
          <p:nvPr>
            <p:custDataLst>
              <p:tags r:id="rId1"/>
            </p:custDataLst>
          </p:nvPr>
        </p:nvSpPr>
        <p:spPr>
          <a:xfrm>
            <a:off x="0" y="0"/>
            <a:ext cx="5923280"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4</a:t>
            </a:r>
            <a:r>
              <a:rPr lang="zh-CN" altLang="en-US" sz="1400" b="1" dirty="0">
                <a:latin typeface="+mj-ea"/>
                <a:ea typeface="+mj-ea"/>
                <a:cs typeface="+mj-ea"/>
                <a:sym typeface="+mn-ea"/>
              </a:rPr>
              <a:t>步：第一级分解，映射为结构图</a:t>
            </a:r>
            <a:endParaRPr lang="en-US" sz="1400" b="1" dirty="0">
              <a:solidFill>
                <a:srgbClr val="FFFF00"/>
              </a:solidFill>
              <a:latin typeface="+mj-ea"/>
              <a:ea typeface="+mj-ea"/>
              <a:cs typeface="+mj-ea"/>
              <a:sym typeface="+mn-ea"/>
            </a:endParaRPr>
          </a:p>
        </p:txBody>
      </p:sp>
      <p:pic>
        <p:nvPicPr>
          <p:cNvPr id="7" name="图片 6" descr="deepseek_mermaid_20251226_033743"/>
          <p:cNvPicPr>
            <a:picLocks noChangeAspect="1"/>
          </p:cNvPicPr>
          <p:nvPr/>
        </p:nvPicPr>
        <p:blipFill>
          <a:blip r:embed="rId2"/>
          <a:stretch>
            <a:fillRect/>
          </a:stretch>
        </p:blipFill>
        <p:spPr>
          <a:xfrm>
            <a:off x="1003935" y="741045"/>
            <a:ext cx="4220210" cy="5502275"/>
          </a:xfrm>
          <a:prstGeom prst="rect">
            <a:avLst/>
          </a:prstGeom>
        </p:spPr>
      </p:pic>
      <p:sp>
        <p:nvSpPr>
          <p:cNvPr id="8" name="文本框 7"/>
          <p:cNvSpPr txBox="1"/>
          <p:nvPr/>
        </p:nvSpPr>
        <p:spPr>
          <a:xfrm>
            <a:off x="202565" y="5521325"/>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9" name="文本框 8"/>
          <p:cNvSpPr txBox="1"/>
          <p:nvPr/>
        </p:nvSpPr>
        <p:spPr>
          <a:xfrm>
            <a:off x="1360170" y="6151880"/>
            <a:ext cx="2753995" cy="306705"/>
          </a:xfrm>
          <a:prstGeom prst="rect">
            <a:avLst/>
          </a:prstGeom>
          <a:noFill/>
        </p:spPr>
        <p:txBody>
          <a:bodyPr wrap="square" rtlCol="0">
            <a:spAutoFit/>
          </a:bodyPr>
          <a:p>
            <a:pPr marL="0" algn="ctr" eaLnBrk="1" hangingPunct="1">
              <a:lnSpc>
                <a:spcPct val="100000"/>
              </a:lnSpc>
              <a:buClrTx/>
              <a:buSzTx/>
              <a:buFontTx/>
            </a:pPr>
            <a:r>
              <a:rPr lang="zh-CN" altLang="en-US" sz="1400" b="1">
                <a:sym typeface="+mn-ea"/>
              </a:rPr>
              <a:t>第一级分解的结构图</a:t>
            </a:r>
            <a:endParaRPr lang="zh-CN" altLang="en-US" sz="1400" b="1"/>
          </a:p>
        </p:txBody>
      </p:sp>
      <p:sp>
        <p:nvSpPr>
          <p:cNvPr id="10" name="文本占位符 1"/>
          <p:cNvSpPr>
            <a:spLocks noGrp="1"/>
          </p:cNvSpPr>
          <p:nvPr>
            <p:custDataLst>
              <p:tags r:id="rId3"/>
            </p:custDataLst>
          </p:nvPr>
        </p:nvSpPr>
        <p:spPr>
          <a:xfrm>
            <a:off x="5951220" y="0"/>
            <a:ext cx="6241415"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5</a:t>
            </a:r>
            <a:r>
              <a:rPr lang="zh-CN" altLang="en-US" sz="1400" b="1" dirty="0">
                <a:latin typeface="+mj-ea"/>
                <a:ea typeface="+mj-ea"/>
                <a:cs typeface="+mj-ea"/>
                <a:sym typeface="+mn-ea"/>
              </a:rPr>
              <a:t>步：逐层分解 - 精化模块结构</a:t>
            </a:r>
            <a:endParaRPr lang="zh-CN" altLang="en-US" sz="1400" b="1" dirty="0">
              <a:latin typeface="+mj-ea"/>
              <a:ea typeface="+mj-ea"/>
              <a:cs typeface="+mj-ea"/>
              <a:sym typeface="+mn-ea"/>
            </a:endParaRPr>
          </a:p>
        </p:txBody>
      </p:sp>
      <p:pic>
        <p:nvPicPr>
          <p:cNvPr id="13" name="图片 12" descr="deepseek_mermaid_20251226_01bcbd"/>
          <p:cNvPicPr>
            <a:picLocks noChangeAspect="1"/>
          </p:cNvPicPr>
          <p:nvPr/>
        </p:nvPicPr>
        <p:blipFill>
          <a:blip r:embed="rId4"/>
          <a:stretch>
            <a:fillRect/>
          </a:stretch>
        </p:blipFill>
        <p:spPr>
          <a:xfrm>
            <a:off x="7292340" y="534670"/>
            <a:ext cx="3721100" cy="5800090"/>
          </a:xfrm>
          <a:prstGeom prst="rect">
            <a:avLst/>
          </a:prstGeom>
        </p:spPr>
      </p:pic>
    </p:spTree>
    <p:custDataLst>
      <p:tags r:id="rId5"/>
    </p:custData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3" name="文本框 2"/>
          <p:cNvSpPr txBox="1"/>
          <p:nvPr/>
        </p:nvSpPr>
        <p:spPr>
          <a:xfrm>
            <a:off x="202565" y="5521325"/>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4" name="文本框 3"/>
          <p:cNvSpPr txBox="1"/>
          <p:nvPr/>
        </p:nvSpPr>
        <p:spPr>
          <a:xfrm>
            <a:off x="10911840" y="191135"/>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pic>
        <p:nvPicPr>
          <p:cNvPr id="5" name="图片 4" descr="deepseek_mermaid_20251226_a21446 (1)"/>
          <p:cNvPicPr>
            <a:picLocks noChangeAspect="1"/>
          </p:cNvPicPr>
          <p:nvPr/>
        </p:nvPicPr>
        <p:blipFill>
          <a:blip r:embed="rId1"/>
          <a:stretch>
            <a:fillRect/>
          </a:stretch>
        </p:blipFill>
        <p:spPr>
          <a:xfrm>
            <a:off x="219710" y="328930"/>
            <a:ext cx="5582920" cy="4968240"/>
          </a:xfrm>
          <a:prstGeom prst="rect">
            <a:avLst/>
          </a:prstGeom>
        </p:spPr>
      </p:pic>
      <p:sp>
        <p:nvSpPr>
          <p:cNvPr id="6" name="文本框 5"/>
          <p:cNvSpPr txBox="1"/>
          <p:nvPr/>
        </p:nvSpPr>
        <p:spPr>
          <a:xfrm>
            <a:off x="1574165" y="6012815"/>
            <a:ext cx="2753995" cy="306705"/>
          </a:xfrm>
          <a:prstGeom prst="rect">
            <a:avLst/>
          </a:prstGeom>
          <a:noFill/>
        </p:spPr>
        <p:txBody>
          <a:bodyPr wrap="square" rtlCol="0">
            <a:spAutoFit/>
          </a:bodyPr>
          <a:p>
            <a:pPr marL="0" algn="ctr" eaLnBrk="1" hangingPunct="1">
              <a:lnSpc>
                <a:spcPct val="100000"/>
              </a:lnSpc>
              <a:buClrTx/>
              <a:buSzTx/>
              <a:buFontTx/>
            </a:pPr>
            <a:r>
              <a:rPr lang="zh-CN" altLang="en-US" sz="1400" b="1">
                <a:sym typeface="+mn-ea"/>
              </a:rPr>
              <a:t>第二级：查询处理模块的分解</a:t>
            </a:r>
            <a:endParaRPr lang="zh-CN" altLang="en-US" sz="1400" b="1"/>
          </a:p>
        </p:txBody>
      </p:sp>
      <p:pic>
        <p:nvPicPr>
          <p:cNvPr id="9" name="图片 8" descr="deepseek_mermaid_20251226_b66d6a"/>
          <p:cNvPicPr>
            <a:picLocks noChangeAspect="1"/>
          </p:cNvPicPr>
          <p:nvPr/>
        </p:nvPicPr>
        <p:blipFill>
          <a:blip r:embed="rId2"/>
          <a:stretch>
            <a:fillRect/>
          </a:stretch>
        </p:blipFill>
        <p:spPr>
          <a:xfrm>
            <a:off x="7502525" y="0"/>
            <a:ext cx="3729355" cy="6216650"/>
          </a:xfrm>
          <a:prstGeom prst="rect">
            <a:avLst/>
          </a:prstGeom>
        </p:spPr>
      </p:pic>
      <p:sp>
        <p:nvSpPr>
          <p:cNvPr id="12" name="文本框 11"/>
          <p:cNvSpPr txBox="1"/>
          <p:nvPr/>
        </p:nvSpPr>
        <p:spPr>
          <a:xfrm>
            <a:off x="7728585" y="6216650"/>
            <a:ext cx="2753995" cy="306705"/>
          </a:xfrm>
          <a:prstGeom prst="rect">
            <a:avLst/>
          </a:prstGeom>
          <a:noFill/>
        </p:spPr>
        <p:txBody>
          <a:bodyPr wrap="square" rtlCol="0">
            <a:spAutoFit/>
          </a:bodyPr>
          <a:p>
            <a:pPr marL="0" algn="ctr" eaLnBrk="1" hangingPunct="1">
              <a:lnSpc>
                <a:spcPct val="100000"/>
              </a:lnSpc>
              <a:buClrTx/>
              <a:buSzTx/>
              <a:buFontTx/>
            </a:pPr>
            <a:r>
              <a:rPr lang="zh-CN" altLang="en-US" sz="1400" b="1">
                <a:sym typeface="+mn-ea"/>
              </a:rPr>
              <a:t>第二级：输出处理模块的分解</a:t>
            </a:r>
            <a:endParaRPr lang="zh-CN" altLang="en-US" sz="1400" b="1"/>
          </a:p>
        </p:txBody>
      </p:sp>
    </p:spTree>
    <p:custDataLst>
      <p:tags r:id="rId3"/>
    </p:custData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文本框 2"/>
          <p:cNvSpPr txBox="1"/>
          <p:nvPr/>
        </p:nvSpPr>
        <p:spPr>
          <a:xfrm>
            <a:off x="202565" y="5521325"/>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4" name="文本框 3"/>
          <p:cNvSpPr txBox="1"/>
          <p:nvPr/>
        </p:nvSpPr>
        <p:spPr>
          <a:xfrm>
            <a:off x="10911840" y="191135"/>
            <a:ext cx="1085850" cy="1104900"/>
          </a:xfrm>
          <a:prstGeom prst="rect">
            <a:avLst/>
          </a:prstGeom>
          <a:solidFill>
            <a:schemeClr val="bg1"/>
          </a:solidFill>
        </p:spPr>
        <p:txBody>
          <a:bodyPr wrap="square" rtlCol="0" anchor="ctr" anchorCtr="0">
            <a:noAutofit/>
          </a:bodyPr>
          <a:p>
            <a:pPr algn="l" eaLnBrk="1" hangingPunct="1">
              <a:lnSpc>
                <a:spcPct val="170000"/>
              </a:lnSpc>
              <a:buClrTx/>
              <a:buSzTx/>
              <a:buFontTx/>
            </a:pPr>
            <a:endParaRPr lang="zh-CN" altLang="en-US" sz="1400" b="1" dirty="0">
              <a:solidFill>
                <a:srgbClr val="FF0000"/>
              </a:solidFill>
              <a:latin typeface="Bodoni MT Black" panose="02070A03080606020203" pitchFamily="18" charset="0"/>
              <a:sym typeface="+mn-ea"/>
            </a:endParaRPr>
          </a:p>
        </p:txBody>
      </p:sp>
      <p:sp>
        <p:nvSpPr>
          <p:cNvPr id="6" name="文本框 5"/>
          <p:cNvSpPr txBox="1"/>
          <p:nvPr/>
        </p:nvSpPr>
        <p:spPr>
          <a:xfrm>
            <a:off x="1574165" y="6012815"/>
            <a:ext cx="2753995" cy="306705"/>
          </a:xfrm>
          <a:prstGeom prst="rect">
            <a:avLst/>
          </a:prstGeom>
          <a:noFill/>
        </p:spPr>
        <p:txBody>
          <a:bodyPr wrap="square" rtlCol="0">
            <a:spAutoFit/>
          </a:bodyPr>
          <a:p>
            <a:pPr marL="0" algn="ctr" eaLnBrk="1" hangingPunct="1">
              <a:lnSpc>
                <a:spcPct val="100000"/>
              </a:lnSpc>
              <a:buClrTx/>
              <a:buSzTx/>
              <a:buFontTx/>
            </a:pPr>
            <a:r>
              <a:rPr lang="zh-CN" altLang="en-US" sz="1400" b="1">
                <a:sym typeface="+mn-ea"/>
              </a:rPr>
              <a:t>第二级：查询处理模块的分解</a:t>
            </a:r>
            <a:endParaRPr lang="zh-CN" altLang="en-US" sz="1400" b="1"/>
          </a:p>
        </p:txBody>
      </p:sp>
      <p:pic>
        <p:nvPicPr>
          <p:cNvPr id="2" name="图片 1" descr="deepseek_mermaid_20251226_4620e0"/>
          <p:cNvPicPr>
            <a:picLocks noChangeAspect="1"/>
          </p:cNvPicPr>
          <p:nvPr/>
        </p:nvPicPr>
        <p:blipFill>
          <a:blip r:embed="rId1"/>
          <a:srcRect l="3932" t="2787" r="4228" b="3380"/>
          <a:stretch>
            <a:fillRect/>
          </a:stretch>
        </p:blipFill>
        <p:spPr>
          <a:xfrm>
            <a:off x="8255" y="441325"/>
            <a:ext cx="4705350" cy="6417310"/>
          </a:xfrm>
          <a:prstGeom prst="rect">
            <a:avLst/>
          </a:prstGeom>
          <a:ln>
            <a:solidFill>
              <a:schemeClr val="tx1"/>
            </a:solidFill>
          </a:ln>
        </p:spPr>
      </p:pic>
      <p:cxnSp>
        <p:nvCxnSpPr>
          <p:cNvPr id="7" name="直接连接符 6"/>
          <p:cNvCxnSpPr/>
          <p:nvPr/>
        </p:nvCxnSpPr>
        <p:spPr>
          <a:xfrm>
            <a:off x="8578215" y="5715"/>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8" name="文本占位符 1"/>
          <p:cNvSpPr>
            <a:spLocks noGrp="1"/>
          </p:cNvSpPr>
          <p:nvPr>
            <p:custDataLst>
              <p:tags r:id="rId2"/>
            </p:custDataLst>
          </p:nvPr>
        </p:nvSpPr>
        <p:spPr>
          <a:xfrm>
            <a:off x="4742815" y="-2540"/>
            <a:ext cx="3815715"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7</a:t>
            </a:r>
            <a:r>
              <a:rPr lang="zh-CN" altLang="en-US" sz="1400" b="1" dirty="0">
                <a:latin typeface="+mj-ea"/>
                <a:ea typeface="+mj-ea"/>
                <a:cs typeface="+mj-ea"/>
                <a:sym typeface="+mn-ea"/>
              </a:rPr>
              <a:t>步：定义模块接口</a:t>
            </a:r>
            <a:endParaRPr lang="en-US" sz="1400" b="1" dirty="0">
              <a:solidFill>
                <a:srgbClr val="FFFF00"/>
              </a:solidFill>
              <a:latin typeface="+mj-ea"/>
              <a:ea typeface="+mj-ea"/>
              <a:cs typeface="+mj-ea"/>
              <a:sym typeface="+mn-ea"/>
            </a:endParaRPr>
          </a:p>
        </p:txBody>
      </p:sp>
      <p:sp>
        <p:nvSpPr>
          <p:cNvPr id="10" name="文本占位符 1"/>
          <p:cNvSpPr>
            <a:spLocks noGrp="1"/>
          </p:cNvSpPr>
          <p:nvPr>
            <p:custDataLst>
              <p:tags r:id="rId3"/>
            </p:custDataLst>
          </p:nvPr>
        </p:nvSpPr>
        <p:spPr>
          <a:xfrm>
            <a:off x="8255" y="0"/>
            <a:ext cx="4704715"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6</a:t>
            </a:r>
            <a:r>
              <a:rPr lang="zh-CN" altLang="en-US" sz="1400" b="1" dirty="0">
                <a:latin typeface="+mj-ea"/>
                <a:ea typeface="+mj-ea"/>
                <a:cs typeface="+mj-ea"/>
                <a:sym typeface="+mn-ea"/>
              </a:rPr>
              <a:t>步：整合为完整结构图</a:t>
            </a:r>
            <a:endParaRPr lang="en-US" altLang="zh-CN" sz="1400" b="1" dirty="0">
              <a:solidFill>
                <a:srgbClr val="FFFF00"/>
              </a:solidFill>
              <a:latin typeface="+mj-ea"/>
              <a:ea typeface="+mj-ea"/>
              <a:cs typeface="+mj-ea"/>
              <a:sym typeface="+mn-ea"/>
            </a:endParaRPr>
          </a:p>
        </p:txBody>
      </p:sp>
      <p:cxnSp>
        <p:nvCxnSpPr>
          <p:cNvPr id="13" name="直接连接符 12"/>
          <p:cNvCxnSpPr/>
          <p:nvPr/>
        </p:nvCxnSpPr>
        <p:spPr>
          <a:xfrm>
            <a:off x="471360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14" name="文本占位符 1"/>
          <p:cNvSpPr>
            <a:spLocks noGrp="1"/>
          </p:cNvSpPr>
          <p:nvPr>
            <p:custDataLst>
              <p:tags r:id="rId4"/>
            </p:custDataLst>
          </p:nvPr>
        </p:nvSpPr>
        <p:spPr>
          <a:xfrm>
            <a:off x="8615045" y="0"/>
            <a:ext cx="3583940" cy="435610"/>
          </a:xfrm>
          <a:prstGeom prst="rect">
            <a:avLst/>
          </a:prstGeom>
          <a:solidFill>
            <a:schemeClr val="accent1"/>
          </a:solidFill>
        </p:spPr>
        <p:txBody>
          <a:bodyPr vert="horz" lIns="101600" tIns="0" rIns="82550" bIns="0" rtlCol="0" anchor="ctr" anchorCtr="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eaLnBrk="1" hangingPunct="1">
              <a:lnSpc>
                <a:spcPct val="85000"/>
              </a:lnSpc>
              <a:defRPr/>
            </a:pPr>
            <a:r>
              <a:rPr lang="zh-CN" altLang="en-US" sz="1400" b="1" dirty="0">
                <a:latin typeface="+mj-ea"/>
                <a:ea typeface="+mj-ea"/>
                <a:cs typeface="+mj-ea"/>
                <a:sym typeface="+mn-ea"/>
              </a:rPr>
              <a:t>第</a:t>
            </a:r>
            <a:r>
              <a:rPr lang="en-US" altLang="zh-CN" sz="1400" b="1" dirty="0">
                <a:latin typeface="+mj-ea"/>
                <a:ea typeface="+mj-ea"/>
                <a:cs typeface="+mj-ea"/>
                <a:sym typeface="+mn-ea"/>
              </a:rPr>
              <a:t>8</a:t>
            </a:r>
            <a:r>
              <a:rPr lang="zh-CN" altLang="en-US" sz="1400" b="1" dirty="0">
                <a:latin typeface="+mj-ea"/>
                <a:ea typeface="+mj-ea"/>
                <a:cs typeface="+mj-ea"/>
                <a:sym typeface="+mn-ea"/>
              </a:rPr>
              <a:t>步：定义全局数据结构</a:t>
            </a:r>
            <a:endParaRPr lang="en-US" altLang="zh-CN" sz="1400" b="1" dirty="0">
              <a:solidFill>
                <a:srgbClr val="FFFF00"/>
              </a:solidFill>
              <a:latin typeface="+mj-ea"/>
              <a:ea typeface="+mj-ea"/>
              <a:cs typeface="+mj-ea"/>
              <a:sym typeface="+mn-ea"/>
            </a:endParaRPr>
          </a:p>
        </p:txBody>
      </p:sp>
      <p:grpSp>
        <p:nvGrpSpPr>
          <p:cNvPr id="24" name="组合 23"/>
          <p:cNvGrpSpPr/>
          <p:nvPr/>
        </p:nvGrpSpPr>
        <p:grpSpPr>
          <a:xfrm>
            <a:off x="5064125" y="445770"/>
            <a:ext cx="3167380" cy="6412230"/>
            <a:chOff x="7975" y="702"/>
            <a:chExt cx="4988" cy="10098"/>
          </a:xfrm>
        </p:grpSpPr>
        <p:pic>
          <p:nvPicPr>
            <p:cNvPr id="15" name="图片 14"/>
            <p:cNvPicPr>
              <a:picLocks noChangeAspect="1"/>
            </p:cNvPicPr>
            <p:nvPr/>
          </p:nvPicPr>
          <p:blipFill>
            <a:blip r:embed="rId5"/>
            <a:stretch>
              <a:fillRect/>
            </a:stretch>
          </p:blipFill>
          <p:spPr>
            <a:xfrm>
              <a:off x="7975" y="702"/>
              <a:ext cx="4986" cy="3236"/>
            </a:xfrm>
            <a:prstGeom prst="rect">
              <a:avLst/>
            </a:prstGeom>
            <a:ln>
              <a:solidFill>
                <a:schemeClr val="tx1"/>
              </a:solidFill>
            </a:ln>
          </p:spPr>
        </p:pic>
        <p:pic>
          <p:nvPicPr>
            <p:cNvPr id="16" name="图片 15"/>
            <p:cNvPicPr>
              <a:picLocks noChangeAspect="1"/>
            </p:cNvPicPr>
            <p:nvPr/>
          </p:nvPicPr>
          <p:blipFill>
            <a:blip r:embed="rId6"/>
            <a:stretch>
              <a:fillRect/>
            </a:stretch>
          </p:blipFill>
          <p:spPr>
            <a:xfrm>
              <a:off x="7975" y="3984"/>
              <a:ext cx="4988" cy="3388"/>
            </a:xfrm>
            <a:prstGeom prst="rect">
              <a:avLst/>
            </a:prstGeom>
            <a:ln>
              <a:solidFill>
                <a:schemeClr val="tx1"/>
              </a:solidFill>
            </a:ln>
          </p:spPr>
        </p:pic>
        <p:pic>
          <p:nvPicPr>
            <p:cNvPr id="17" name="图片 16"/>
            <p:cNvPicPr>
              <a:picLocks noChangeAspect="1"/>
            </p:cNvPicPr>
            <p:nvPr/>
          </p:nvPicPr>
          <p:blipFill>
            <a:blip r:embed="rId7"/>
            <a:stretch>
              <a:fillRect/>
            </a:stretch>
          </p:blipFill>
          <p:spPr>
            <a:xfrm>
              <a:off x="7975" y="7418"/>
              <a:ext cx="4987" cy="3382"/>
            </a:xfrm>
            <a:prstGeom prst="rect">
              <a:avLst/>
            </a:prstGeom>
            <a:ln>
              <a:solidFill>
                <a:schemeClr val="tx1"/>
              </a:solidFill>
            </a:ln>
          </p:spPr>
        </p:pic>
      </p:grpSp>
      <p:sp>
        <p:nvSpPr>
          <p:cNvPr id="18" name="文本框 17"/>
          <p:cNvSpPr txBox="1"/>
          <p:nvPr/>
        </p:nvSpPr>
        <p:spPr>
          <a:xfrm>
            <a:off x="7018020" y="497840"/>
            <a:ext cx="1212215" cy="321945"/>
          </a:xfrm>
          <a:prstGeom prst="rect">
            <a:avLst/>
          </a:prstGeom>
          <a:noFill/>
        </p:spPr>
        <p:txBody>
          <a:bodyPr wrap="square" rtlCol="0" anchor="ctr" anchorCtr="0">
            <a:noAutofit/>
          </a:bodyPr>
          <a:p>
            <a:pPr algn="l" eaLnBrk="1" hangingPunct="1">
              <a:lnSpc>
                <a:spcPct val="170000"/>
              </a:lnSpc>
              <a:buClrTx/>
              <a:buSzTx/>
              <a:buFontTx/>
            </a:pPr>
            <a:r>
              <a:rPr lang="zh-CN" altLang="en-US" sz="900" b="1" dirty="0">
                <a:solidFill>
                  <a:srgbClr val="FF0000"/>
                </a:solidFill>
                <a:latin typeface="Bodoni MT Black" panose="02070A03080606020203" pitchFamily="18" charset="0"/>
                <a:sym typeface="+mn-ea"/>
              </a:rPr>
              <a:t>验证条件模块接口</a:t>
            </a:r>
            <a:endParaRPr lang="zh-CN" altLang="en-US" sz="900" b="1" dirty="0">
              <a:solidFill>
                <a:srgbClr val="FF0000"/>
              </a:solidFill>
              <a:latin typeface="Bodoni MT Black" panose="02070A03080606020203" pitchFamily="18" charset="0"/>
              <a:sym typeface="+mn-ea"/>
            </a:endParaRPr>
          </a:p>
        </p:txBody>
      </p:sp>
      <p:sp>
        <p:nvSpPr>
          <p:cNvPr id="19" name="文本框 18"/>
          <p:cNvSpPr txBox="1"/>
          <p:nvPr/>
        </p:nvSpPr>
        <p:spPr>
          <a:xfrm>
            <a:off x="7018020" y="2633980"/>
            <a:ext cx="1212215" cy="321945"/>
          </a:xfrm>
          <a:prstGeom prst="rect">
            <a:avLst/>
          </a:prstGeom>
          <a:noFill/>
        </p:spPr>
        <p:txBody>
          <a:bodyPr wrap="square" rtlCol="0" anchor="ctr" anchorCtr="0">
            <a:noAutofit/>
          </a:bodyPr>
          <a:p>
            <a:pPr algn="l" eaLnBrk="1" hangingPunct="1">
              <a:lnSpc>
                <a:spcPct val="170000"/>
              </a:lnSpc>
              <a:buClrTx/>
              <a:buSzTx/>
              <a:buFontTx/>
            </a:pPr>
            <a:r>
              <a:rPr lang="zh-CN" altLang="en-US" sz="900" b="1" dirty="0">
                <a:solidFill>
                  <a:srgbClr val="FF0000"/>
                </a:solidFill>
                <a:latin typeface="Bodoni MT Black" panose="02070A03080606020203" pitchFamily="18" charset="0"/>
                <a:sym typeface="+mn-ea"/>
              </a:rPr>
              <a:t>构建</a:t>
            </a:r>
            <a:r>
              <a:rPr lang="en-US" altLang="zh-CN" sz="900" b="1" dirty="0">
                <a:solidFill>
                  <a:srgbClr val="FF0000"/>
                </a:solidFill>
                <a:latin typeface="Bodoni MT Black" panose="02070A03080606020203" pitchFamily="18" charset="0"/>
                <a:sym typeface="+mn-ea"/>
              </a:rPr>
              <a:t>SQL</a:t>
            </a:r>
            <a:r>
              <a:rPr lang="zh-CN" altLang="en-US" sz="900" b="1" dirty="0">
                <a:solidFill>
                  <a:srgbClr val="FF0000"/>
                </a:solidFill>
                <a:latin typeface="Bodoni MT Black" panose="02070A03080606020203" pitchFamily="18" charset="0"/>
                <a:sym typeface="+mn-ea"/>
              </a:rPr>
              <a:t>模块接口</a:t>
            </a:r>
            <a:endParaRPr lang="zh-CN" altLang="en-US" sz="900" b="1" dirty="0">
              <a:solidFill>
                <a:srgbClr val="FF0000"/>
              </a:solidFill>
              <a:latin typeface="Bodoni MT Black" panose="02070A03080606020203" pitchFamily="18" charset="0"/>
              <a:sym typeface="+mn-ea"/>
            </a:endParaRPr>
          </a:p>
        </p:txBody>
      </p:sp>
      <p:sp>
        <p:nvSpPr>
          <p:cNvPr id="20" name="文本框 19"/>
          <p:cNvSpPr txBox="1"/>
          <p:nvPr/>
        </p:nvSpPr>
        <p:spPr>
          <a:xfrm>
            <a:off x="7018020" y="4770120"/>
            <a:ext cx="1212215" cy="321945"/>
          </a:xfrm>
          <a:prstGeom prst="rect">
            <a:avLst/>
          </a:prstGeom>
          <a:noFill/>
        </p:spPr>
        <p:txBody>
          <a:bodyPr wrap="square" rtlCol="0" anchor="ctr" anchorCtr="0">
            <a:noAutofit/>
          </a:bodyPr>
          <a:p>
            <a:pPr algn="l" eaLnBrk="1" hangingPunct="1">
              <a:lnSpc>
                <a:spcPct val="170000"/>
              </a:lnSpc>
              <a:buClrTx/>
              <a:buSzTx/>
              <a:buFontTx/>
            </a:pPr>
            <a:r>
              <a:rPr lang="zh-CN" altLang="en-US" sz="900" b="1" dirty="0">
                <a:solidFill>
                  <a:srgbClr val="FF0000"/>
                </a:solidFill>
                <a:latin typeface="Bodoni MT Black" panose="02070A03080606020203" pitchFamily="18" charset="0"/>
                <a:sym typeface="+mn-ea"/>
              </a:rPr>
              <a:t>格式化模块接口</a:t>
            </a:r>
            <a:endParaRPr lang="zh-CN" altLang="en-US" sz="900" b="1" dirty="0">
              <a:solidFill>
                <a:srgbClr val="FF0000"/>
              </a:solidFill>
              <a:latin typeface="Bodoni MT Black" panose="02070A03080606020203" pitchFamily="18" charset="0"/>
              <a:sym typeface="+mn-ea"/>
            </a:endParaRPr>
          </a:p>
        </p:txBody>
      </p:sp>
      <p:grpSp>
        <p:nvGrpSpPr>
          <p:cNvPr id="23" name="组合 22"/>
          <p:cNvGrpSpPr/>
          <p:nvPr/>
        </p:nvGrpSpPr>
        <p:grpSpPr>
          <a:xfrm>
            <a:off x="8923655" y="441325"/>
            <a:ext cx="2847340" cy="6417945"/>
            <a:chOff x="13741" y="695"/>
            <a:chExt cx="4484" cy="10107"/>
          </a:xfrm>
        </p:grpSpPr>
        <p:pic>
          <p:nvPicPr>
            <p:cNvPr id="21" name="图片 20"/>
            <p:cNvPicPr>
              <a:picLocks noChangeAspect="1"/>
            </p:cNvPicPr>
            <p:nvPr/>
          </p:nvPicPr>
          <p:blipFill>
            <a:blip r:embed="rId8"/>
            <a:stretch>
              <a:fillRect/>
            </a:stretch>
          </p:blipFill>
          <p:spPr>
            <a:xfrm>
              <a:off x="13741" y="695"/>
              <a:ext cx="4484" cy="4484"/>
            </a:xfrm>
            <a:prstGeom prst="rect">
              <a:avLst/>
            </a:prstGeom>
            <a:ln>
              <a:solidFill>
                <a:schemeClr val="tx1"/>
              </a:solidFill>
            </a:ln>
          </p:spPr>
        </p:pic>
        <p:pic>
          <p:nvPicPr>
            <p:cNvPr id="22" name="图片 21"/>
            <p:cNvPicPr>
              <a:picLocks noChangeAspect="1"/>
            </p:cNvPicPr>
            <p:nvPr/>
          </p:nvPicPr>
          <p:blipFill>
            <a:blip r:embed="rId9"/>
            <a:stretch>
              <a:fillRect/>
            </a:stretch>
          </p:blipFill>
          <p:spPr>
            <a:xfrm>
              <a:off x="13741" y="5188"/>
              <a:ext cx="4483" cy="5614"/>
            </a:xfrm>
            <a:prstGeom prst="rect">
              <a:avLst/>
            </a:prstGeom>
            <a:ln>
              <a:solidFill>
                <a:schemeClr val="tx1"/>
              </a:solidFill>
            </a:ln>
          </p:spPr>
        </p:pic>
      </p:grpSp>
    </p:spTree>
    <p:custDataLst>
      <p:tags r:id="rId10"/>
    </p:custData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1" name="直接连接符 10"/>
          <p:cNvCxnSpPr/>
          <p:nvPr/>
        </p:nvCxnSpPr>
        <p:spPr>
          <a:xfrm>
            <a:off x="5922645" y="0"/>
            <a:ext cx="0" cy="6866890"/>
          </a:xfrm>
          <a:prstGeom prst="line">
            <a:avLst/>
          </a:prstGeom>
          <a:ln w="31750" cap="rnd">
            <a:solidFill>
              <a:schemeClr val="accent1"/>
            </a:solidFill>
            <a:round/>
          </a:ln>
        </p:spPr>
        <p:style>
          <a:lnRef idx="0">
            <a:srgbClr val="FFFFFF"/>
          </a:lnRef>
          <a:fillRef idx="0">
            <a:srgbClr val="FFFFFF"/>
          </a:fillRef>
          <a:effectRef idx="0">
            <a:srgbClr val="FFFFFF"/>
          </a:effectRef>
          <a:fontRef idx="minor">
            <a:schemeClr val="tx1"/>
          </a:fontRef>
        </p:style>
      </p:cxnSp>
      <p:sp>
        <p:nvSpPr>
          <p:cNvPr id="2" name="文本占位符 1"/>
          <p:cNvSpPr>
            <a:spLocks noGrp="1"/>
          </p:cNvSpPr>
          <p:nvPr>
            <p:custDataLst>
              <p:tags r:id="rId1"/>
            </p:custDataLst>
          </p:nvPr>
        </p:nvSpPr>
        <p:spPr>
          <a:xfrm>
            <a:off x="363855" y="383540"/>
            <a:ext cx="2898140" cy="5003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rgbClr val="00B0F0"/>
                </a:solidFill>
                <a:latin typeface="Bodoni MT Black" panose="02070A03080606020203" pitchFamily="18" charset="0"/>
                <a:sym typeface="+mn-ea"/>
              </a:rPr>
              <a:t>事务分析</a:t>
            </a:r>
            <a:endParaRPr lang="zh-CN" altLang="en-US" sz="1800" b="1" dirty="0">
              <a:solidFill>
                <a:srgbClr val="00B0F0"/>
              </a:solidFill>
              <a:latin typeface="Bodoni MT Black" panose="02070A03080606020203" pitchFamily="18" charset="0"/>
              <a:sym typeface="+mn-ea"/>
            </a:endParaRPr>
          </a:p>
        </p:txBody>
      </p:sp>
      <p:sp>
        <p:nvSpPr>
          <p:cNvPr id="7" name="文本占位符 1"/>
          <p:cNvSpPr>
            <a:spLocks noGrp="1"/>
          </p:cNvSpPr>
          <p:nvPr>
            <p:custDataLst>
              <p:tags r:id="rId2"/>
            </p:custDataLst>
          </p:nvPr>
        </p:nvSpPr>
        <p:spPr>
          <a:xfrm>
            <a:off x="363855" y="1035685"/>
            <a:ext cx="5251450" cy="172783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eaLnBrk="1" hangingPunct="1">
              <a:lnSpc>
                <a:spcPct val="165000"/>
              </a:lnSpc>
              <a:buClrTx/>
              <a:buSzTx/>
              <a:defRPr/>
            </a:pPr>
            <a:r>
              <a:rPr lang="zh-CN" altLang="en-US" sz="1400" b="1" dirty="0">
                <a:solidFill>
                  <a:srgbClr val="FF0000"/>
                </a:solidFill>
                <a:latin typeface="+mj-ea"/>
                <a:ea typeface="+mj-ea"/>
                <a:cs typeface="+mj-ea"/>
                <a:sym typeface="+mn-ea"/>
              </a:rPr>
              <a:t>数据流具有明显的事务特点时，宜采用事务分析方法为宜</a:t>
            </a:r>
            <a:endParaRPr lang="zh-CN" altLang="en-US" sz="1400" b="1" dirty="0">
              <a:solidFill>
                <a:srgbClr val="FF0000"/>
              </a:solidFill>
              <a:latin typeface="+mj-ea"/>
              <a:ea typeface="+mj-ea"/>
              <a:cs typeface="+mj-ea"/>
              <a:sym typeface="+mn-ea"/>
            </a:endParaRPr>
          </a:p>
          <a:p>
            <a:pPr marL="0" algn="l" eaLnBrk="1" hangingPunct="1">
              <a:lnSpc>
                <a:spcPct val="165000"/>
              </a:lnSpc>
              <a:buClrTx/>
              <a:buSzTx/>
              <a:defRPr/>
            </a:pPr>
            <a:r>
              <a:rPr lang="zh-CN" altLang="en-US" sz="1400" b="1" dirty="0">
                <a:solidFill>
                  <a:schemeClr val="tx1"/>
                </a:solidFill>
                <a:latin typeface="+mj-ea"/>
                <a:ea typeface="+mj-ea"/>
                <a:cs typeface="+mj-ea"/>
                <a:sym typeface="+mn-ea"/>
              </a:rPr>
              <a:t>事务分析的设计步骤和变换分析的设计步骤大部分相同或类似，主要差别仅在于由数据流图到软件结构的</a:t>
            </a:r>
            <a:r>
              <a:rPr lang="zh-CN" altLang="en-US" sz="1400" b="1" dirty="0">
                <a:solidFill>
                  <a:schemeClr val="tx1"/>
                </a:solidFill>
                <a:latin typeface="+mj-ea"/>
                <a:ea typeface="+mj-ea"/>
                <a:cs typeface="+mj-ea"/>
                <a:sym typeface="+mn-ea"/>
              </a:rPr>
              <a:t>映射方法不同。由事务流映射成的软件结构包括一个</a:t>
            </a:r>
            <a:r>
              <a:rPr lang="zh-CN" altLang="en-US" sz="1400" b="1" dirty="0">
                <a:solidFill>
                  <a:srgbClr val="00B0F0"/>
                </a:solidFill>
                <a:latin typeface="+mj-ea"/>
                <a:ea typeface="+mj-ea"/>
                <a:cs typeface="+mj-ea"/>
                <a:sym typeface="+mn-ea"/>
              </a:rPr>
              <a:t>接收分支</a:t>
            </a:r>
            <a:r>
              <a:rPr lang="zh-CN" altLang="en-US" sz="1400" b="1" dirty="0">
                <a:solidFill>
                  <a:schemeClr val="tx1"/>
                </a:solidFill>
                <a:latin typeface="+mj-ea"/>
                <a:ea typeface="+mj-ea"/>
                <a:cs typeface="+mj-ea"/>
                <a:sym typeface="+mn-ea"/>
              </a:rPr>
              <a:t>和一个</a:t>
            </a:r>
            <a:r>
              <a:rPr lang="zh-CN" altLang="en-US" sz="1400" b="1" dirty="0">
                <a:solidFill>
                  <a:srgbClr val="00B0F0"/>
                </a:solidFill>
                <a:latin typeface="+mj-ea"/>
                <a:ea typeface="+mj-ea"/>
                <a:cs typeface="+mj-ea"/>
                <a:sym typeface="+mn-ea"/>
              </a:rPr>
              <a:t>发送分支</a:t>
            </a:r>
            <a:r>
              <a:rPr lang="zh-CN" altLang="en-US" sz="1400" b="1" dirty="0">
                <a:solidFill>
                  <a:schemeClr val="tx1"/>
                </a:solidFill>
                <a:latin typeface="+mj-ea"/>
                <a:ea typeface="+mj-ea"/>
                <a:cs typeface="+mj-ea"/>
                <a:sym typeface="+mn-ea"/>
              </a:rPr>
              <a:t>。</a:t>
            </a:r>
            <a:endParaRPr lang="zh-CN" altLang="en-US" sz="1400" b="1" dirty="0">
              <a:solidFill>
                <a:schemeClr val="tx1"/>
              </a:solidFill>
              <a:latin typeface="+mj-ea"/>
              <a:ea typeface="+mj-ea"/>
              <a:cs typeface="+mj-ea"/>
            </a:endParaRPr>
          </a:p>
          <a:p>
            <a:pPr marL="0" indent="720090" algn="l" eaLnBrk="1" hangingPunct="1">
              <a:lnSpc>
                <a:spcPct val="125000"/>
              </a:lnSpc>
              <a:defRPr/>
            </a:pPr>
            <a:endParaRPr lang="zh-CN" altLang="en-US" sz="1400" b="1" dirty="0">
              <a:solidFill>
                <a:schemeClr val="tx1"/>
              </a:solidFill>
              <a:latin typeface="+mj-ea"/>
              <a:ea typeface="+mj-ea"/>
              <a:cs typeface="+mj-ea"/>
              <a:sym typeface="+mn-ea"/>
            </a:endParaRPr>
          </a:p>
        </p:txBody>
      </p:sp>
      <p:pic>
        <p:nvPicPr>
          <p:cNvPr id="124933" name="图片 2"/>
          <p:cNvPicPr>
            <a:picLocks noChangeAspect="1"/>
          </p:cNvPicPr>
          <p:nvPr/>
        </p:nvPicPr>
        <p:blipFill>
          <a:blip r:embed="rId3" cstate="print"/>
          <a:srcRect/>
          <a:stretch>
            <a:fillRect/>
          </a:stretch>
        </p:blipFill>
        <p:spPr bwMode="auto">
          <a:xfrm>
            <a:off x="426720" y="2915285"/>
            <a:ext cx="4944110" cy="3697605"/>
          </a:xfrm>
          <a:prstGeom prst="rect">
            <a:avLst/>
          </a:prstGeom>
          <a:noFill/>
          <a:ln w="9525">
            <a:noFill/>
            <a:miter lim="800000"/>
            <a:headEnd/>
            <a:tailEnd/>
          </a:ln>
        </p:spPr>
      </p:pic>
      <p:sp>
        <p:nvSpPr>
          <p:cNvPr id="8" name="文本占位符 1"/>
          <p:cNvSpPr>
            <a:spLocks noGrp="1"/>
          </p:cNvSpPr>
          <p:nvPr>
            <p:custDataLst>
              <p:tags r:id="rId4"/>
            </p:custDataLst>
          </p:nvPr>
        </p:nvSpPr>
        <p:spPr>
          <a:xfrm>
            <a:off x="6229985" y="358775"/>
            <a:ext cx="2898140" cy="500380"/>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l">
              <a:lnSpc>
                <a:spcPct val="170000"/>
              </a:lnSpc>
              <a:spcBef>
                <a:spcPts val="0"/>
              </a:spcBef>
              <a:buClrTx/>
              <a:buSzTx/>
              <a:buNone/>
            </a:pPr>
            <a:r>
              <a:rPr lang="zh-CN" altLang="en-US" sz="1800" b="1" dirty="0">
                <a:solidFill>
                  <a:srgbClr val="00B0F0"/>
                </a:solidFill>
                <a:latin typeface="Bodoni MT Black" panose="02070A03080606020203" pitchFamily="18" charset="0"/>
                <a:sym typeface="+mn-ea"/>
              </a:rPr>
              <a:t>设计优化</a:t>
            </a:r>
            <a:endParaRPr lang="zh-CN" altLang="en-US" sz="1800" b="1" dirty="0">
              <a:solidFill>
                <a:srgbClr val="00B0F0"/>
              </a:solidFill>
              <a:latin typeface="Bodoni MT Black" panose="02070A03080606020203" pitchFamily="18" charset="0"/>
              <a:sym typeface="+mn-ea"/>
            </a:endParaRPr>
          </a:p>
        </p:txBody>
      </p:sp>
      <p:sp>
        <p:nvSpPr>
          <p:cNvPr id="9" name="文本占位符 1"/>
          <p:cNvSpPr>
            <a:spLocks noGrp="1"/>
          </p:cNvSpPr>
          <p:nvPr>
            <p:custDataLst>
              <p:tags r:id="rId5"/>
            </p:custDataLst>
          </p:nvPr>
        </p:nvSpPr>
        <p:spPr>
          <a:xfrm>
            <a:off x="6277610" y="859155"/>
            <a:ext cx="5251450" cy="1434465"/>
          </a:xfrm>
          <a:prstGeom prst="rect">
            <a:avLst/>
          </a:prstGeom>
        </p:spPr>
        <p:txBody>
          <a:bodyPr vert="horz" lIns="101600" tIns="0" rIns="82550" bIns="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1pPr>
            <a:lvl2pPr marL="457200" indent="0" algn="l" defTabSz="914400" rtl="0" eaLnBrk="1" fontAlgn="auto" latinLnBrk="0" hangingPunct="1">
              <a:lnSpc>
                <a:spcPct val="130000"/>
              </a:lnSpc>
              <a:spcBef>
                <a:spcPts val="0"/>
              </a:spcBef>
              <a:spcAft>
                <a:spcPts val="1000"/>
              </a:spcAft>
              <a:buFont typeface="Arial" panose="020B0604020202020204" pitchFamily="34" charset="0"/>
              <a:buNone/>
              <a:tabLst>
                <a:tab pos="1609725" algn="l"/>
              </a:tabLst>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2pPr>
            <a:lvl3pPr marL="9144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3pPr>
            <a:lvl4pPr marL="13716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4pPr>
            <a:lvl5pPr marL="1828800" indent="0" algn="l" defTabSz="914400" rtl="0" eaLnBrk="1" fontAlgn="auto" latinLnBrk="0" hangingPunct="1">
              <a:lnSpc>
                <a:spcPct val="130000"/>
              </a:lnSpc>
              <a:spcBef>
                <a:spcPts val="0"/>
              </a:spcBef>
              <a:spcAft>
                <a:spcPts val="1000"/>
              </a:spcAft>
              <a:buFont typeface="Arial" panose="020B0604020202020204" pitchFamily="34" charset="0"/>
              <a:buNone/>
              <a:defRPr sz="1600" u="none" strike="noStrike" kern="1200" cap="none" spc="0" normalizeH="0" baseline="0">
                <a:solidFill>
                  <a:schemeClr val="bg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ctr" eaLnBrk="1" hangingPunct="1">
              <a:lnSpc>
                <a:spcPct val="165000"/>
              </a:lnSpc>
              <a:buClrTx/>
              <a:buSzTx/>
              <a:defRPr/>
            </a:pPr>
            <a:r>
              <a:rPr lang="en-US" altLang="zh-CN" sz="1400" b="1" dirty="0">
                <a:solidFill>
                  <a:srgbClr val="FF0000"/>
                </a:solidFill>
                <a:latin typeface="+mj-ea"/>
                <a:ea typeface="+mj-ea"/>
                <a:cs typeface="+mj-ea"/>
                <a:sym typeface="+mn-ea"/>
              </a:rPr>
              <a:t> </a:t>
            </a:r>
            <a:r>
              <a:rPr lang="zh-CN" altLang="en-US" sz="1400" b="1" dirty="0">
                <a:solidFill>
                  <a:srgbClr val="FF0000"/>
                </a:solidFill>
                <a:latin typeface="+mj-ea"/>
                <a:ea typeface="+mj-ea"/>
                <a:cs typeface="+mj-ea"/>
                <a:sym typeface="+mn-ea"/>
              </a:rPr>
              <a:t>一个不能工作的</a:t>
            </a:r>
            <a:r>
              <a:rPr lang="en-US" altLang="zh-CN" sz="1400" b="1" dirty="0">
                <a:solidFill>
                  <a:srgbClr val="FF0000"/>
                </a:solidFill>
                <a:latin typeface="+mj-ea"/>
                <a:ea typeface="+mj-ea"/>
                <a:cs typeface="+mj-ea"/>
                <a:sym typeface="+mn-ea"/>
              </a:rPr>
              <a:t>“</a:t>
            </a:r>
            <a:r>
              <a:rPr lang="zh-CN" altLang="en-US" sz="1400" b="1" dirty="0">
                <a:solidFill>
                  <a:srgbClr val="FF0000"/>
                </a:solidFill>
                <a:latin typeface="+mj-ea"/>
                <a:ea typeface="+mj-ea"/>
                <a:cs typeface="+mj-ea"/>
                <a:sym typeface="+mn-ea"/>
              </a:rPr>
              <a:t>最佳设计</a:t>
            </a:r>
            <a:r>
              <a:rPr lang="en-US" altLang="zh-CN" sz="1400" b="1" dirty="0">
                <a:solidFill>
                  <a:srgbClr val="FF0000"/>
                </a:solidFill>
                <a:latin typeface="+mj-ea"/>
                <a:ea typeface="+mj-ea"/>
                <a:cs typeface="+mj-ea"/>
                <a:sym typeface="+mn-ea"/>
              </a:rPr>
              <a:t>”</a:t>
            </a:r>
            <a:r>
              <a:rPr lang="zh-CN" altLang="en-US" sz="1400" b="1" dirty="0">
                <a:solidFill>
                  <a:srgbClr val="FF0000"/>
                </a:solidFill>
                <a:latin typeface="+mj-ea"/>
                <a:ea typeface="+mj-ea"/>
                <a:cs typeface="+mj-ea"/>
                <a:sym typeface="+mn-ea"/>
              </a:rPr>
              <a:t>是没有价值的</a:t>
            </a:r>
            <a:endParaRPr lang="zh-CN" altLang="en-US" sz="1400" b="1" dirty="0">
              <a:solidFill>
                <a:srgbClr val="FF0000"/>
              </a:solidFill>
              <a:latin typeface="+mj-ea"/>
              <a:ea typeface="+mj-ea"/>
              <a:cs typeface="+mj-ea"/>
              <a:sym typeface="+mn-ea"/>
            </a:endParaRPr>
          </a:p>
          <a:p>
            <a:pPr marL="0" algn="l" eaLnBrk="1" hangingPunct="1">
              <a:lnSpc>
                <a:spcPct val="165000"/>
              </a:lnSpc>
              <a:buClrTx/>
              <a:buSzTx/>
              <a:defRPr/>
            </a:pPr>
            <a:r>
              <a:rPr lang="zh-CN" altLang="en-US" sz="1400" b="1" dirty="0">
                <a:solidFill>
                  <a:srgbClr val="00B0F0"/>
                </a:solidFill>
                <a:latin typeface="Bodoni MT Black" panose="02070A03080606020203" pitchFamily="18" charset="0"/>
                <a:sym typeface="+mn-ea"/>
              </a:rPr>
              <a:t>设计人员应该致力于开发能够</a:t>
            </a:r>
            <a:r>
              <a:rPr lang="zh-CN" altLang="en-US" sz="1400" b="1" dirty="0">
                <a:solidFill>
                  <a:srgbClr val="FF0000"/>
                </a:solidFill>
                <a:latin typeface="Bodoni MT Black" panose="02070A03080606020203" pitchFamily="18" charset="0"/>
                <a:sym typeface="+mn-ea"/>
              </a:rPr>
              <a:t>满足所有功能和性能要求</a:t>
            </a:r>
            <a:r>
              <a:rPr lang="zh-CN" altLang="en-US" sz="1400" b="1" dirty="0">
                <a:solidFill>
                  <a:schemeClr val="tx1"/>
                </a:solidFill>
                <a:latin typeface="Bodoni MT Black" panose="02070A03080606020203" pitchFamily="18" charset="0"/>
                <a:sym typeface="+mn-ea"/>
              </a:rPr>
              <a:t>，而且按照</a:t>
            </a:r>
            <a:r>
              <a:rPr lang="zh-CN" altLang="en-US" sz="1400" b="1" dirty="0">
                <a:solidFill>
                  <a:srgbClr val="00B0F0"/>
                </a:solidFill>
                <a:latin typeface="Bodoni MT Black" panose="02070A03080606020203" pitchFamily="18" charset="0"/>
                <a:sym typeface="+mn-ea"/>
              </a:rPr>
              <a:t>设计原理</a:t>
            </a:r>
            <a:r>
              <a:rPr lang="zh-CN" altLang="en-US" sz="1400" b="1" dirty="0">
                <a:solidFill>
                  <a:schemeClr val="tx1"/>
                </a:solidFill>
                <a:latin typeface="Bodoni MT Black" panose="02070A03080606020203" pitchFamily="18" charset="0"/>
                <a:sym typeface="+mn-ea"/>
              </a:rPr>
              <a:t>和</a:t>
            </a:r>
            <a:r>
              <a:rPr lang="zh-CN" altLang="en-US" sz="1400" b="1" dirty="0">
                <a:solidFill>
                  <a:srgbClr val="00B0F0"/>
                </a:solidFill>
                <a:latin typeface="Bodoni MT Black" panose="02070A03080606020203" pitchFamily="18" charset="0"/>
                <a:sym typeface="+mn-ea"/>
              </a:rPr>
              <a:t>启发式设计规则</a:t>
            </a:r>
            <a:r>
              <a:rPr lang="zh-CN" altLang="en-US" sz="1400" b="1" dirty="0">
                <a:solidFill>
                  <a:schemeClr val="tx1"/>
                </a:solidFill>
                <a:latin typeface="Bodoni MT Black" panose="02070A03080606020203" pitchFamily="18" charset="0"/>
                <a:sym typeface="+mn-ea"/>
              </a:rPr>
              <a:t>衡量是值得接收的软件</a:t>
            </a:r>
            <a:endParaRPr lang="zh-CN" altLang="en-US" sz="1400" b="1" dirty="0">
              <a:solidFill>
                <a:schemeClr val="tx1"/>
              </a:solidFill>
              <a:latin typeface="Bodoni MT Black" panose="02070A03080606020203" pitchFamily="18" charset="0"/>
              <a:ea typeface="+mj-ea"/>
              <a:cs typeface="+mj-ea"/>
              <a:sym typeface="+mn-ea"/>
            </a:endParaRPr>
          </a:p>
        </p:txBody>
      </p:sp>
      <p:sp>
        <p:nvSpPr>
          <p:cNvPr id="10" name="文本框 9"/>
          <p:cNvSpPr txBox="1"/>
          <p:nvPr/>
        </p:nvSpPr>
        <p:spPr>
          <a:xfrm>
            <a:off x="5923915" y="3799840"/>
            <a:ext cx="5777865" cy="3045460"/>
          </a:xfrm>
          <a:prstGeom prst="rect">
            <a:avLst/>
          </a:prstGeom>
          <a:solidFill>
            <a:srgbClr val="0070C0"/>
          </a:solidFill>
        </p:spPr>
        <p:txBody>
          <a:bodyPr wrap="square" rtlCol="0">
            <a:noAutofit/>
          </a:bodyPr>
          <a:p>
            <a:pPr>
              <a:lnSpc>
                <a:spcPct val="180000"/>
              </a:lnSpc>
            </a:pPr>
            <a:r>
              <a:rPr lang="zh-CN" altLang="en-US" sz="1400" b="1" dirty="0">
                <a:solidFill>
                  <a:schemeClr val="bg2"/>
                </a:solidFill>
                <a:latin typeface="Bodoni MT Black" panose="02070A03080606020203" pitchFamily="18" charset="0"/>
                <a:sym typeface="+mn-ea"/>
              </a:rPr>
              <a:t>对</a:t>
            </a:r>
            <a:r>
              <a:rPr lang="zh-CN" altLang="en-US" sz="1400" b="1" dirty="0">
                <a:solidFill>
                  <a:schemeClr val="bg2"/>
                </a:solidFill>
                <a:highlight>
                  <a:srgbClr val="FF0000"/>
                </a:highlight>
                <a:latin typeface="Bodoni MT Black" panose="02070A03080606020203" pitchFamily="18" charset="0"/>
                <a:sym typeface="+mn-ea"/>
              </a:rPr>
              <a:t>时间起决定性作用</a:t>
            </a:r>
            <a:r>
              <a:rPr lang="zh-CN" altLang="en-US" sz="1400" b="1" dirty="0">
                <a:solidFill>
                  <a:schemeClr val="bg2"/>
                </a:solidFill>
                <a:latin typeface="Bodoni MT Black" panose="02070A03080606020203" pitchFamily="18" charset="0"/>
                <a:sym typeface="+mn-ea"/>
              </a:rPr>
              <a:t>的软件</a:t>
            </a:r>
            <a:r>
              <a:rPr lang="zh-CN" altLang="en-US" sz="1400" b="1" dirty="0">
                <a:solidFill>
                  <a:srgbClr val="FFFF00"/>
                </a:solidFill>
                <a:latin typeface="Bodoni MT Black" panose="02070A03080606020203" pitchFamily="18" charset="0"/>
                <a:sym typeface="+mn-ea"/>
              </a:rPr>
              <a:t>进行优化</a:t>
            </a:r>
            <a:r>
              <a:rPr lang="zh-CN" altLang="en-US" sz="1400" b="1" dirty="0">
                <a:solidFill>
                  <a:schemeClr val="bg2"/>
                </a:solidFill>
                <a:latin typeface="Bodoni MT Black" panose="02070A03080606020203" pitchFamily="18" charset="0"/>
                <a:sym typeface="+mn-ea"/>
              </a:rPr>
              <a:t>是合理的</a:t>
            </a:r>
            <a:endParaRPr lang="zh-CN" altLang="en-US" sz="1400" b="1" dirty="0">
              <a:solidFill>
                <a:schemeClr val="bg2"/>
              </a:solidFill>
              <a:latin typeface="Bodoni MT Black" panose="02070A03080606020203" pitchFamily="18" charset="0"/>
              <a:sym typeface="+mn-ea"/>
            </a:endParaRPr>
          </a:p>
          <a:p>
            <a:pPr>
              <a:lnSpc>
                <a:spcPct val="180000"/>
              </a:lnSpc>
            </a:pPr>
            <a:r>
              <a:rPr lang="en-US" altLang="zh-CN" sz="1200" b="1" dirty="0">
                <a:solidFill>
                  <a:schemeClr val="bg2"/>
                </a:solidFill>
                <a:latin typeface="+mj-ea"/>
                <a:ea typeface="+mj-ea"/>
                <a:cs typeface="+mj-ea"/>
                <a:sym typeface="+mn-ea"/>
              </a:rPr>
              <a:t>(1) </a:t>
            </a:r>
            <a:r>
              <a:rPr lang="zh-CN" altLang="en-US" sz="1200" b="1" dirty="0">
                <a:solidFill>
                  <a:schemeClr val="bg2"/>
                </a:solidFill>
                <a:latin typeface="+mj-ea"/>
                <a:ea typeface="+mj-ea"/>
                <a:cs typeface="+mj-ea"/>
                <a:sym typeface="+mn-ea"/>
              </a:rPr>
              <a:t>在不考虑时间因素的前提下开发并精化软件结构。</a:t>
            </a:r>
            <a:endParaRPr lang="zh-CN" altLang="en-US" sz="1200" b="1" dirty="0">
              <a:solidFill>
                <a:schemeClr val="bg2"/>
              </a:solidFill>
              <a:latin typeface="+mj-ea"/>
              <a:ea typeface="+mj-ea"/>
              <a:cs typeface="+mj-ea"/>
              <a:sym typeface="+mn-ea"/>
            </a:endParaRPr>
          </a:p>
          <a:p>
            <a:pPr>
              <a:lnSpc>
                <a:spcPct val="180000"/>
              </a:lnSpc>
            </a:pPr>
            <a:r>
              <a:rPr lang="en-US" altLang="zh-CN" sz="1200" b="1" dirty="0">
                <a:solidFill>
                  <a:schemeClr val="bg2"/>
                </a:solidFill>
                <a:latin typeface="+mj-ea"/>
                <a:ea typeface="+mj-ea"/>
                <a:cs typeface="+mj-ea"/>
                <a:sym typeface="+mn-ea"/>
              </a:rPr>
              <a:t>(2) </a:t>
            </a:r>
            <a:r>
              <a:rPr lang="zh-CN" altLang="en-US" sz="1200" b="1" dirty="0">
                <a:solidFill>
                  <a:schemeClr val="bg2"/>
                </a:solidFill>
                <a:latin typeface="+mj-ea"/>
                <a:ea typeface="+mj-ea"/>
                <a:cs typeface="+mj-ea"/>
                <a:sym typeface="+mn-ea"/>
              </a:rPr>
              <a:t>在详细设计阶段选出最耗费时间的那些模块，仔细地设计它们的处理</a:t>
            </a:r>
            <a:r>
              <a:rPr lang="zh-CN" altLang="en-US" sz="1200" b="1" dirty="0" smtClean="0">
                <a:solidFill>
                  <a:schemeClr val="bg2"/>
                </a:solidFill>
                <a:latin typeface="+mj-ea"/>
                <a:ea typeface="+mj-ea"/>
                <a:cs typeface="+mj-ea"/>
                <a:sym typeface="+mn-ea"/>
              </a:rPr>
              <a:t>过程（算法），</a:t>
            </a:r>
            <a:r>
              <a:rPr lang="zh-CN" altLang="en-US" sz="1200" b="1" dirty="0">
                <a:solidFill>
                  <a:schemeClr val="bg2"/>
                </a:solidFill>
                <a:latin typeface="+mj-ea"/>
                <a:ea typeface="+mj-ea"/>
                <a:cs typeface="+mj-ea"/>
                <a:sym typeface="+mn-ea"/>
              </a:rPr>
              <a:t>以求提高效率。</a:t>
            </a:r>
            <a:endParaRPr lang="zh-CN" altLang="en-US" sz="1200" b="1" dirty="0">
              <a:solidFill>
                <a:schemeClr val="bg2"/>
              </a:solidFill>
              <a:latin typeface="+mj-ea"/>
              <a:ea typeface="+mj-ea"/>
              <a:cs typeface="+mj-ea"/>
              <a:sym typeface="+mn-ea"/>
            </a:endParaRPr>
          </a:p>
          <a:p>
            <a:pPr>
              <a:lnSpc>
                <a:spcPct val="180000"/>
              </a:lnSpc>
            </a:pPr>
            <a:r>
              <a:rPr lang="en-US" altLang="zh-CN" sz="1200" b="1" dirty="0">
                <a:solidFill>
                  <a:schemeClr val="bg2"/>
                </a:solidFill>
                <a:latin typeface="+mj-ea"/>
                <a:ea typeface="+mj-ea"/>
                <a:cs typeface="+mj-ea"/>
                <a:sym typeface="+mn-ea"/>
              </a:rPr>
              <a:t>(3) </a:t>
            </a:r>
            <a:r>
              <a:rPr lang="zh-CN" altLang="en-US" sz="1200" b="1" dirty="0">
                <a:solidFill>
                  <a:schemeClr val="bg2"/>
                </a:solidFill>
                <a:latin typeface="+mj-ea"/>
                <a:ea typeface="+mj-ea"/>
                <a:cs typeface="+mj-ea"/>
                <a:sym typeface="+mn-ea"/>
              </a:rPr>
              <a:t>使用高级程序设计语言编写程序。</a:t>
            </a:r>
            <a:endParaRPr lang="zh-CN" altLang="en-US" sz="1200" b="1" dirty="0">
              <a:solidFill>
                <a:schemeClr val="bg2"/>
              </a:solidFill>
              <a:latin typeface="+mj-ea"/>
              <a:ea typeface="+mj-ea"/>
              <a:cs typeface="+mj-ea"/>
              <a:sym typeface="+mn-ea"/>
            </a:endParaRPr>
          </a:p>
          <a:p>
            <a:pPr>
              <a:lnSpc>
                <a:spcPct val="180000"/>
              </a:lnSpc>
            </a:pPr>
            <a:r>
              <a:rPr lang="en-US" altLang="zh-CN" sz="1200" b="1" dirty="0">
                <a:solidFill>
                  <a:schemeClr val="bg2"/>
                </a:solidFill>
                <a:latin typeface="+mj-ea"/>
                <a:ea typeface="+mj-ea"/>
                <a:cs typeface="+mj-ea"/>
                <a:sym typeface="+mn-ea"/>
              </a:rPr>
              <a:t>(4) </a:t>
            </a:r>
            <a:r>
              <a:rPr lang="zh-CN" altLang="en-US" sz="1200" b="1" dirty="0">
                <a:solidFill>
                  <a:schemeClr val="bg2"/>
                </a:solidFill>
                <a:latin typeface="+mj-ea"/>
                <a:ea typeface="+mj-ea"/>
                <a:cs typeface="+mj-ea"/>
                <a:sym typeface="+mn-ea"/>
              </a:rPr>
              <a:t>在软件中孤立出那些大量占用处理机资源的模块。</a:t>
            </a:r>
            <a:endParaRPr lang="zh-CN" altLang="en-US" sz="1200" b="1" dirty="0">
              <a:solidFill>
                <a:schemeClr val="bg2"/>
              </a:solidFill>
              <a:latin typeface="+mj-ea"/>
              <a:ea typeface="+mj-ea"/>
              <a:cs typeface="+mj-ea"/>
              <a:sym typeface="+mn-ea"/>
            </a:endParaRPr>
          </a:p>
          <a:p>
            <a:pPr>
              <a:lnSpc>
                <a:spcPct val="180000"/>
              </a:lnSpc>
            </a:pPr>
            <a:r>
              <a:rPr lang="en-US" altLang="zh-CN" sz="1200" b="1" dirty="0">
                <a:solidFill>
                  <a:schemeClr val="bg2"/>
                </a:solidFill>
                <a:latin typeface="+mj-ea"/>
                <a:ea typeface="+mj-ea"/>
                <a:cs typeface="+mj-ea"/>
                <a:sym typeface="+mn-ea"/>
              </a:rPr>
              <a:t>(5) </a:t>
            </a:r>
            <a:r>
              <a:rPr lang="zh-CN" altLang="en-US" sz="1200" b="1" dirty="0">
                <a:solidFill>
                  <a:schemeClr val="bg2"/>
                </a:solidFill>
                <a:latin typeface="+mj-ea"/>
                <a:ea typeface="+mj-ea"/>
                <a:cs typeface="+mj-ea"/>
                <a:sym typeface="+mn-ea"/>
              </a:rPr>
              <a:t>必要时重新设计或用依赖于机器的语言重写上述大量占用资源的模块的代码，以求提高效率。</a:t>
            </a:r>
            <a:endParaRPr lang="en-US" altLang="zh-CN" sz="1200" b="1" dirty="0">
              <a:solidFill>
                <a:schemeClr val="bg2"/>
              </a:solidFill>
              <a:latin typeface="+mj-ea"/>
              <a:ea typeface="+mj-ea"/>
              <a:cs typeface="+mj-ea"/>
            </a:endParaRPr>
          </a:p>
          <a:p>
            <a:endParaRPr lang="en-US" altLang="zh-CN" sz="1200" b="1" dirty="0">
              <a:solidFill>
                <a:schemeClr val="bg2"/>
              </a:solidFill>
              <a:latin typeface="+mj-ea"/>
              <a:ea typeface="+mj-ea"/>
              <a:cs typeface="+mj-ea"/>
              <a:sym typeface="+mn-ea"/>
            </a:endParaRPr>
          </a:p>
        </p:txBody>
      </p:sp>
      <p:sp>
        <p:nvSpPr>
          <p:cNvPr id="12" name="文本框 11"/>
          <p:cNvSpPr txBox="1"/>
          <p:nvPr/>
        </p:nvSpPr>
        <p:spPr>
          <a:xfrm>
            <a:off x="5923280" y="2366645"/>
            <a:ext cx="5778500" cy="1383665"/>
          </a:xfrm>
          <a:prstGeom prst="rect">
            <a:avLst/>
          </a:prstGeom>
          <a:solidFill>
            <a:srgbClr val="00B0F0"/>
          </a:solidFill>
        </p:spPr>
        <p:txBody>
          <a:bodyPr wrap="square" rtlCol="0">
            <a:noAutofit/>
          </a:bodyPr>
          <a:p>
            <a:pPr algn="l">
              <a:buClrTx/>
              <a:buSzTx/>
              <a:buFontTx/>
            </a:pPr>
            <a:r>
              <a:rPr lang="zh-CN" altLang="en-US" sz="1400" b="1" dirty="0">
                <a:solidFill>
                  <a:schemeClr val="bg2"/>
                </a:solidFill>
                <a:latin typeface="Bodoni MT Black" panose="02070A03080606020203" pitchFamily="18" charset="0"/>
                <a:sym typeface="+mn-ea"/>
              </a:rPr>
              <a:t>设计的</a:t>
            </a:r>
            <a:r>
              <a:rPr lang="zh-CN" altLang="en-US" sz="1400" b="1" dirty="0">
                <a:solidFill>
                  <a:schemeClr val="bg2"/>
                </a:solidFill>
                <a:highlight>
                  <a:srgbClr val="FF0000"/>
                </a:highlight>
                <a:latin typeface="Bodoni MT Black" panose="02070A03080606020203" pitchFamily="18" charset="0"/>
                <a:sym typeface="+mn-ea"/>
              </a:rPr>
              <a:t>早期阶段</a:t>
            </a:r>
            <a:r>
              <a:rPr lang="zh-CN" altLang="en-US" sz="1400" b="1" dirty="0">
                <a:solidFill>
                  <a:schemeClr val="bg2"/>
                </a:solidFill>
                <a:latin typeface="Bodoni MT Black" panose="02070A03080606020203" pitchFamily="18" charset="0"/>
                <a:sym typeface="+mn-ea"/>
              </a:rPr>
              <a:t>尽量对软件结构</a:t>
            </a:r>
            <a:r>
              <a:rPr lang="zh-CN" altLang="en-US" sz="1400" b="1" dirty="0">
                <a:solidFill>
                  <a:srgbClr val="FFFF00"/>
                </a:solidFill>
                <a:latin typeface="Bodoni MT Black" panose="02070A03080606020203" pitchFamily="18" charset="0"/>
                <a:sym typeface="+mn-ea"/>
              </a:rPr>
              <a:t>进行精化</a:t>
            </a:r>
            <a:r>
              <a:rPr lang="zh-CN" altLang="en-US" sz="1400" b="1" dirty="0">
                <a:solidFill>
                  <a:schemeClr val="bg2"/>
                </a:solidFill>
                <a:latin typeface="Bodoni MT Black" panose="02070A03080606020203" pitchFamily="18" charset="0"/>
                <a:sym typeface="+mn-ea"/>
              </a:rPr>
              <a:t>。</a:t>
            </a:r>
            <a:endParaRPr lang="zh-CN" altLang="en-US" sz="1400" b="1" dirty="0">
              <a:solidFill>
                <a:schemeClr val="bg2"/>
              </a:solidFill>
              <a:latin typeface="Bodoni MT Black" panose="02070A03080606020203" pitchFamily="18" charset="0"/>
              <a:sym typeface="+mn-ea"/>
            </a:endParaRPr>
          </a:p>
          <a:p>
            <a:pPr algn="l">
              <a:buClrTx/>
              <a:buSzTx/>
              <a:buFontTx/>
            </a:pPr>
            <a:endParaRPr lang="zh-CN" altLang="en-US" sz="1400" b="1" dirty="0">
              <a:solidFill>
                <a:schemeClr val="bg2"/>
              </a:solidFill>
              <a:latin typeface="Bodoni MT Black" panose="02070A03080606020203" pitchFamily="18" charset="0"/>
              <a:sym typeface="+mn-ea"/>
            </a:endParaRPr>
          </a:p>
          <a:p>
            <a:pPr algn="l">
              <a:lnSpc>
                <a:spcPct val="170000"/>
              </a:lnSpc>
              <a:buClrTx/>
              <a:buSzTx/>
              <a:buFontTx/>
            </a:pPr>
            <a:r>
              <a:rPr lang="zh-CN" altLang="en-US" sz="1200" b="1" dirty="0">
                <a:solidFill>
                  <a:schemeClr val="bg2"/>
                </a:solidFill>
                <a:latin typeface="Bodoni MT Black" panose="02070A03080606020203" pitchFamily="18" charset="0"/>
                <a:sym typeface="+mn-ea"/>
              </a:rPr>
              <a:t>设计优化应该力求做到在有效的模块化的前提下使用最少量的模块</a:t>
            </a:r>
            <a:endParaRPr lang="zh-CN" altLang="en-US" sz="1200" b="1" dirty="0">
              <a:solidFill>
                <a:schemeClr val="bg2"/>
              </a:solidFill>
              <a:latin typeface="Bodoni MT Black" panose="02070A03080606020203" pitchFamily="18" charset="0"/>
              <a:sym typeface="+mn-ea"/>
            </a:endParaRPr>
          </a:p>
          <a:p>
            <a:pPr algn="l">
              <a:lnSpc>
                <a:spcPct val="170000"/>
              </a:lnSpc>
              <a:buClrTx/>
              <a:buSzTx/>
              <a:buFontTx/>
            </a:pPr>
            <a:r>
              <a:rPr lang="zh-CN" altLang="en-US" sz="1200" b="1" dirty="0">
                <a:solidFill>
                  <a:schemeClr val="bg2"/>
                </a:solidFill>
                <a:latin typeface="Bodoni MT Black" panose="02070A03080606020203" pitchFamily="18" charset="0"/>
                <a:sym typeface="+mn-ea"/>
              </a:rPr>
              <a:t>在能满足信息要求的前提下使用最简单的数据结构</a:t>
            </a:r>
            <a:endParaRPr lang="zh-CN" altLang="en-US" sz="1200" b="1" dirty="0">
              <a:solidFill>
                <a:schemeClr val="bg2"/>
              </a:solidFill>
              <a:latin typeface="Bodoni MT Black" panose="02070A03080606020203" pitchFamily="18" charset="0"/>
              <a:sym typeface="+mn-ea"/>
            </a:endParaRPr>
          </a:p>
        </p:txBody>
      </p:sp>
      <p:sp>
        <p:nvSpPr>
          <p:cNvPr id="13" name="文本框 12"/>
          <p:cNvSpPr txBox="1"/>
          <p:nvPr/>
        </p:nvSpPr>
        <p:spPr>
          <a:xfrm>
            <a:off x="7503160" y="483870"/>
            <a:ext cx="3342005" cy="306705"/>
          </a:xfrm>
          <a:prstGeom prst="rect">
            <a:avLst/>
          </a:prstGeom>
          <a:noFill/>
        </p:spPr>
        <p:txBody>
          <a:bodyPr wrap="square" rtlCol="0">
            <a:spAutoFit/>
            <a:scene3d>
              <a:camera prst="orthographicFront"/>
              <a:lightRig rig="threePt" dir="t"/>
            </a:scene3d>
          </a:bodyPr>
          <a:p>
            <a:pPr algn="ctr"/>
            <a:r>
              <a:rPr lang="zh-CN" altLang="en-US" sz="1400" b="1">
                <a:ln w="15875"/>
                <a:gradFill>
                  <a:gsLst>
                    <a:gs pos="0">
                      <a:schemeClr val="accent1">
                        <a:hueMod val="80000"/>
                      </a:schemeClr>
                    </a:gs>
                    <a:gs pos="100000">
                      <a:schemeClr val="accent1">
                        <a:alpha val="100000"/>
                      </a:schemeClr>
                    </a:gs>
                  </a:gsLst>
                  <a:lin ang="2700000" scaled="0"/>
                </a:gradFill>
                <a:effectLst/>
              </a:rPr>
              <a:t>先使它能工作，然后再使它快起来</a:t>
            </a:r>
            <a:endParaRPr lang="zh-CN" altLang="en-US" sz="1400" b="1">
              <a:ln w="15875"/>
              <a:gradFill>
                <a:gsLst>
                  <a:gs pos="0">
                    <a:schemeClr val="accent1">
                      <a:hueMod val="80000"/>
                    </a:schemeClr>
                  </a:gs>
                  <a:gs pos="100000">
                    <a:schemeClr val="accent1">
                      <a:alpha val="100000"/>
                    </a:schemeClr>
                  </a:gs>
                </a:gsLst>
                <a:lin ang="2700000" scaled="0"/>
              </a:gradFill>
              <a:effectLst/>
            </a:endParaRPr>
          </a:p>
        </p:txBody>
      </p:sp>
      <p:cxnSp>
        <p:nvCxnSpPr>
          <p:cNvPr id="14" name="直接箭头连接符 13"/>
          <p:cNvCxnSpPr/>
          <p:nvPr/>
        </p:nvCxnSpPr>
        <p:spPr>
          <a:xfrm flipV="1">
            <a:off x="7329805" y="638175"/>
            <a:ext cx="415925" cy="88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pic>
        <p:nvPicPr>
          <p:cNvPr id="3" name="图片 2" descr="deepseek_mermaid_20251229_1072a7"/>
          <p:cNvPicPr>
            <a:picLocks noChangeAspect="1"/>
          </p:cNvPicPr>
          <p:nvPr/>
        </p:nvPicPr>
        <p:blipFill>
          <a:blip r:embed="rId6"/>
          <a:srcRect l="3470" t="5231" r="3489" b="5417"/>
          <a:stretch>
            <a:fillRect/>
          </a:stretch>
        </p:blipFill>
        <p:spPr>
          <a:xfrm>
            <a:off x="0" y="8890"/>
            <a:ext cx="10918825" cy="6858000"/>
          </a:xfrm>
          <a:prstGeom prst="rect">
            <a:avLst/>
          </a:prstGeom>
          <a:ln>
            <a:solidFill>
              <a:schemeClr val="accent1"/>
            </a:solidFill>
          </a:ln>
        </p:spPr>
      </p:pic>
    </p:spTree>
    <p:custDataLst>
      <p:tags r:id="rId7"/>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3"/>
                                        </p:tgtEl>
                                      </p:cBhvr>
                                    </p:animEffect>
                                    <p:set>
                                      <p:cBhvr>
                                        <p:cTn id="12"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custDataLst>
              <p:tags r:id="rId1"/>
            </p:custDataLst>
          </p:nvPr>
        </p:nvSpPr>
        <p:spPr/>
        <p:txBody>
          <a:bodyPr/>
          <a:lstStyle/>
          <a:p>
            <a:r>
              <a:rPr lang="en-US" altLang="zh-CN" noProof="0" dirty="0">
                <a:sym typeface="+mn-lt"/>
              </a:rPr>
              <a:t>THANKS</a:t>
            </a:r>
            <a:endParaRPr lang="zh-CN" altLang="en-US" dirty="0"/>
          </a:p>
        </p:txBody>
      </p:sp>
    </p:spTree>
    <p:custDataLst>
      <p:tags r:id="rId2"/>
    </p:custDataLst>
  </p:cSld>
  <p:clrMapOvr>
    <a:masterClrMapping/>
  </p:clrMapOvr>
</p:sld>
</file>

<file path=ppt/tags/tag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6*i*6"/>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7"/>
  <p:tag name="KSO_WM_UNIT_ID" val="_6*i*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8"/>
  <p:tag name="KSO_WM_UNIT_ID" val="_6*i*8"/>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3.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4.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5.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6.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7.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8.xml><?xml version="1.0" encoding="utf-8"?>
<p:tagLst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8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1.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2.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4.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5.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6.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7.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8.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99.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0.xml><?xml version="1.0" encoding="utf-8"?>
<p:tagLst xmlns:p="http://schemas.openxmlformats.org/presentationml/2006/main">
  <p:tag name="KSO_WM_SLIDE_BACKGROUND_TYPE" val="frame"/>
  <p:tag name="KSO_WM_SLIDE_BK_DARK_LIGHT" val="1"/>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0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1"/>
  <p:tag name="KSO_WM_UNIT_LAYERLEVEL" val="1"/>
  <p:tag name="KSO_WM_TAG_VERSION" val="1.0"/>
  <p:tag name="KSO_WM_BEAUTIFY_FLAG" val="#wm#"/>
</p:tagLst>
</file>

<file path=ppt/tags/tag10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0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1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1"/>
  <p:tag name="KSO_WM_UNIT_LAYERLEVEL" val="1"/>
  <p:tag name="KSO_WM_TAG_VERSION" val="1.0"/>
  <p:tag name="KSO_WM_BEAUTIFY_FLAG" val="#wm#"/>
</p:tagLst>
</file>

<file path=ppt/tags/tag11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1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2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6*i*1"/>
  <p:tag name="KSO_WM_UNIT_LAYERLEVEL" val="1"/>
  <p:tag name="KSO_WM_TAG_VERSION" val="1.0"/>
  <p:tag name="KSO_WM_BEAUTIFY_FLAG" val="#wm#"/>
</p:tagLst>
</file>

<file path=ppt/tags/tag12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Lst>
</file>

<file path=ppt/tags/tag12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1"/>
  <p:tag name="KSO_WM_UNIT_LAYERLEVEL" val="1"/>
  <p:tag name="KSO_WM_TAG_VERSION" val="1.0"/>
  <p:tag name="KSO_WM_BEAUTIFY_FLAG" val="#wm#"/>
</p:tagLst>
</file>

<file path=ppt/tags/tag12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2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3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1"/>
  <p:tag name="KSO_WM_UNIT_ID" val="_17*i*1"/>
  <p:tag name="KSO_WM_UNIT_LAYERLEVEL" val="1"/>
  <p:tag name="KSO_WM_TAG_VERSION" val="1.0"/>
  <p:tag name="KSO_WM_BEAUTIFY_FLAG" val="#wm#"/>
</p:tagLst>
</file>

<file path=ppt/tags/tag13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Lst>
</file>

<file path=ppt/tags/tag13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1"/>
  <p:tag name="KSO_WM_UNIT_LAYERLEVEL" val="1"/>
  <p:tag name="KSO_WM_TAG_VERSION" val="1.0"/>
  <p:tag name="KSO_WM_BEAUTIFY_FLAG" val="#wm#"/>
</p:tagLst>
</file>

<file path=ppt/tags/tag13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3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4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2"/>
  <p:tag name="KSO_WM_UNIT_LAYERLEVEL" val="1"/>
  <p:tag name="KSO_WM_TAG_VERSION" val="1.0"/>
  <p:tag name="KSO_WM_BEAUTIFY_FLAG" val="#wm#"/>
  <p:tag name="KSO_WM_SLIDE_BACKGROUND_TYPE" val="belt"/>
  <p:tag name="KSO_WM_SLIDE_BK_DARK_LIGHT" val="1"/>
  <p:tag name="KSO_WM_UNIT_TYPE" val="i"/>
  <p:tag name="KSO_WM_UNIT_INDEX" val="2"/>
</p:tagLst>
</file>

<file path=ppt/tags/tag145.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3"/>
  <p:tag name="KSO_WM_UNIT_ID" val="_18*i*3"/>
  <p:tag name="KSO_WM_UNIT_LAYERLEVEL" val="1"/>
  <p:tag name="KSO_WM_TAG_VERSION" val="1.0"/>
  <p:tag name="KSO_WM_BEAUTIFY_FLAG" val="#wm#"/>
</p:tagLst>
</file>

<file path=ppt/tags/tag146.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4"/>
  <p:tag name="KSO_WM_UNIT_ID" val="_18*i*4"/>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SLIDE_BACKGROUND_TYPE" val="belt"/>
  <p:tag name="KSO_WM_SLIDE_BK_DARK_LIGHT" val="1"/>
  <p:tag name="KSO_WM_UNIT_TYPE" val="i"/>
  <p:tag name="KSO_WM_UNIT_INDEX" val="1"/>
</p:tagLst>
</file>

<file path=ppt/tags/tag148.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6"/>
  <p:tag name="KSO_WM_UNIT_ID" val="_18*i*6"/>
  <p:tag name="KSO_WM_UNIT_LAYERLEVEL" val="1"/>
  <p:tag name="KSO_WM_TAG_VERSION" val="1.0"/>
  <p:tag name="KSO_WM_BEAUTIFY_FLAG" val="#wm#"/>
</p:tagLst>
</file>

<file path=ppt/tags/tag149.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TYPE" val="i"/>
  <p:tag name="KSO_WM_UNIT_INDEX" val="5"/>
  <p:tag name="KSO_WM_UNIT_ID" val="_18*i*5"/>
  <p:tag name="KSO_WM_UNIT_LAYERLEVEL" val="1"/>
  <p:tag name="KSO_WM_TAG_VERSION" val="1.0"/>
  <p:tag name="KSO_WM_BEAUTIFY_FLAG" val="#wm#"/>
</p:tagLst>
</file>

<file path=ppt/tags/tag150.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1.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2.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3.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4.xml><?xml version="1.0" encoding="utf-8"?>
<p:tagLst xmlns:p="http://schemas.openxmlformats.org/presentationml/2006/main">
  <p:tag name="KSO_WM_SLIDE_BACKGROUND_TYPE" val="belt"/>
  <p:tag name="KSO_WM_SLIDE_BK_DARK_LIGHT" val="1"/>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545"/>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60.xml><?xml version="1.0" encoding="utf-8"?>
<p:tagLst xmlns:p="http://schemas.openxmlformats.org/presentationml/2006/main">
  <p:tag name="KSO_WM_TEMPLATE_SUBCATEGORY" val="0"/>
  <p:tag name="KSO_WM_TEMPLATE_COLOR_TYPE" val="1"/>
  <p:tag name="KSO_WM_TEMPLATE_MASTER_THUMB_INDEX" val="12"/>
  <p:tag name="KSO_WM_UNIT_SHOW_EDIT_AREA_INDICATION" val="0"/>
  <p:tag name="KSO_WM_TEMPLATE_THUMBS_INDEX" val="1、2、3、11、14"/>
  <p:tag name="KSO_WM_TAG_VERSION" val="1.0"/>
  <p:tag name="KSO_WM_BEAUTIFY_FLAG" val="#wm#"/>
  <p:tag name="KSO_WM_TEMPLATE_CATEGORY" val="custom"/>
  <p:tag name="KSO_WM_TEMPLATE_INDEX" val="20202545"/>
  <p:tag name="KSO_WM_TEMPLATE_MASTER_TYPE" val="1"/>
</p:tagLst>
</file>

<file path=ppt/tags/tag161.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wm#"/>
  <p:tag name="KSO_WM_UNIT_TEXT_FILL_FORE_SCHEMECOLOR_INDEX_BRIGHTNESS" val="0.15"/>
  <p:tag name="KSO_WM_UNIT_TEXT_FILL_FORE_SCHEMECOLOR_INDEX" val="13"/>
  <p:tag name="KSO_WM_UNIT_TEXT_FILL_TYPE" val="1"/>
</p:tagLst>
</file>

<file path=ppt/tags/tag162.xml><?xml version="1.0" encoding="utf-8"?>
<p:tagLst xmlns:p="http://schemas.openxmlformats.org/presentationml/2006/main">
  <p:tag name="KSO_WM_SLIDE_ID" val="custom2020254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545"/>
  <p:tag name="KSO_WM_SLIDE_LAYOUT" val="a_b"/>
  <p:tag name="KSO_WM_SLIDE_LAYOUT_CNT" val="1_3"/>
  <p:tag name="KSO_WM_UNIT_SHOW_EDIT_AREA_INDICATION" val="1"/>
  <p:tag name="KSO_WM_TEMPLATE_THUMBS_INDEX" val="1、2、6、7、9、11、14、15"/>
  <p:tag name="KSO_WM_TEMPLATE_MASTER_THUMB_INDEX" val="12"/>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66.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67.xml><?xml version="1.0" encoding="utf-8"?>
<p:tagLst xmlns:p="http://schemas.openxmlformats.org/presentationml/2006/main">
  <p:tag name="KSO_WM_UNIT_ISCONTENTSTITLE" val="0"/>
  <p:tag name="KSO_WM_UNIT_ISNUMDGMTITLE" val="0"/>
  <p:tag name="KSO_WM_UNIT_PRESET_TEXT" val="极简大气通用模板"/>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custom20202545_1*a*1"/>
  <p:tag name="KSO_WM_TEMPLATE_CATEGORY" val="custom"/>
  <p:tag name="KSO_WM_TEMPLATE_INDEX" val="20202545"/>
  <p:tag name="KSO_WM_UNIT_LAYERLEVEL" val="1"/>
  <p:tag name="KSO_WM_TAG_VERSION" val="1.0"/>
  <p:tag name="KSO_WM_BEAUTIFY_FLAG" val=""/>
</p:tagLst>
</file>

<file path=ppt/tags/tag168.xml><?xml version="1.0" encoding="utf-8"?>
<p:tagLst xmlns:p="http://schemas.openxmlformats.org/presentationml/2006/main">
  <p:tag name="KSO_WM_UNIT_ISCONTENTSTITLE" val="0"/>
  <p:tag name="KSO_WM_UNIT_ISNUMDGMTITLE" val="0"/>
  <p:tag name="KSO_WM_UNIT_PRESET_TEXT" val="单击此处添加文本具体内容"/>
  <p:tag name="KSO_WM_UNIT_NOCLEAR" val="0"/>
  <p:tag name="KSO_WM_UNIT_VALUE" val="63"/>
  <p:tag name="KSO_WM_UNIT_HIGHLIGHT" val="0"/>
  <p:tag name="KSO_WM_UNIT_COMPATIBLE" val="0"/>
  <p:tag name="KSO_WM_UNIT_DIAGRAM_ISNUMVISUAL" val="0"/>
  <p:tag name="KSO_WM_UNIT_DIAGRAM_ISREFERUNIT" val="0"/>
  <p:tag name="KSO_WM_UNIT_TYPE" val="b"/>
  <p:tag name="KSO_WM_UNIT_INDEX" val="1"/>
  <p:tag name="KSO_WM_UNIT_ID" val="custom20202545_7*b*1"/>
  <p:tag name="KSO_WM_TEMPLATE_CATEGORY" val="custom"/>
  <p:tag name="KSO_WM_TEMPLATE_INDEX" val="20202545"/>
  <p:tag name="KSO_WM_UNIT_LAYERLEVEL" val="1"/>
  <p:tag name="KSO_WM_TAG_VERSION" val="1.0"/>
  <p:tag name="KSO_WM_BEAUTIFY_FLAG" val=""/>
</p:tagLst>
</file>

<file path=ppt/tags/tag169.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5"/>
  <p:tag name="KSO_WM_UNIT_ID" val="custom20202545_4*i*5"/>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6"/>
  <p:tag name="KSO_WM_UNIT_ID" val="custom20202545_4*i*6"/>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7"/>
  <p:tag name="KSO_WM_UNIT_ID" val="custom20202545_4*i*7"/>
  <p:tag name="KSO_WM_TEMPLATE_CATEGORY" val="custom"/>
  <p:tag name="KSO_WM_TEMPLATE_INDEX" val="20202545"/>
  <p:tag name="KSO_WM_UNIT_LAYERLEVEL" val="1"/>
  <p:tag name="KSO_WM_TAG_VERSION" val="1.0"/>
  <p:tag name="KSO_WM_BEAUTIFY_FLAG" val="#wm#"/>
  <p:tag name="KSO_WM_UNIT_FILL_FORE_SCHEMECOLOR_INDEX" val="5"/>
  <p:tag name="KSO_WM_UNIT_FILL_TYPE" val="1"/>
  <p:tag name="KSO_WM_UNIT_TEXT_FILL_FORE_SCHEMECOLOR_INDEX" val="2"/>
  <p:tag name="KSO_WM_UNIT_TEXT_FILL_TYPE" val="1"/>
  <p:tag name="KSO_WM_UNIT_USESOURCEFORMAT_APPLY" val="1"/>
</p:tagLst>
</file>

<file path=ppt/tags/tag17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2545_4*l_h_i*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2"/>
  <p:tag name="KSO_WM_UNIT_ID" val="custom20202545_4*i*2"/>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7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2545_4*l_h_i*1_2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2545_4*l_h_i*1_2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3"/>
  <p:tag name="KSO_WM_UNIT_ID" val="custom20202545_4*l_h_i*1_3_3"/>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3"/>
  <p:tag name="KSO_WM_UNIT_ID" val="custom20202545_4*i*3"/>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2545_4*l_h_i*1_3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2545_4*l_h_i*1_3_1"/>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2545_4*l_h_i*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4"/>
  <p:tag name="KSO_WM_UNIT_ID" val="custom20202545_4*i*4"/>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2545_4*l_h_i*1_4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3"/>
  <p:tag name="KSO_WM_UNIT_ID" val="custom20202545_4*l_h_i*1_4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8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2545_4*l_h_f*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0.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2545_4*l_h_f*1_2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1.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2545_4*l_h_f*1_3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2.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3.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2"/>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2545_4*a*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4.xml><?xml version="1.0" encoding="utf-8"?>
<p:tagLst xmlns:p="http://schemas.openxmlformats.org/presentationml/2006/main">
  <p:tag name="KSO_WM_UNIT_ISCONTENTSTITLE" val="0"/>
  <p:tag name="KSO_WM_UNIT_ISNUMDGMTITLE" val="0"/>
  <p:tag name="KSO_WM_UNIT_PRESET_TEXT" val="CONTENTS"/>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b"/>
  <p:tag name="KSO_WM_UNIT_INDEX" val="1"/>
  <p:tag name="KSO_WM_UNIT_ID" val="custom20202545_4*b*1"/>
  <p:tag name="KSO_WM_TEMPLATE_CATEGORY" val="custom"/>
  <p:tag name="KSO_WM_TEMPLATE_INDEX" val="20202545"/>
  <p:tag name="KSO_WM_UNIT_LAYERLEVEL" val="1"/>
  <p:tag name="KSO_WM_TAG_VERSION" val="1.0"/>
  <p:tag name="KSO_WM_BEAUTIFY_FLAG" val="#wm#"/>
  <p:tag name="KSO_WM_UNIT_TEXT_FILL_FORE_SCHEMECOLOR_INDEX" val="14"/>
  <p:tag name="KSO_WM_UNIT_TEXT_FILL_TYPE" val="1"/>
  <p:tag name="KSO_WM_UNIT_USESOURCEFORMAT_APPLY" val="1"/>
</p:tagLst>
</file>

<file path=ppt/tags/tag1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2545_4*l_h_i*1_1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2545_4*i*1"/>
  <p:tag name="KSO_WM_TEMPLATE_CATEGORY" val="custom"/>
  <p:tag name="KSO_WM_TEMPLATE_INDEX" val="20202545"/>
  <p:tag name="KSO_WM_UNIT_LAYERLEVEL" val="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2545_4*l_h_i*1_1_2"/>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2545_4*l_h_i*1_1_3"/>
  <p:tag name="KSO_WM_TEMPLATE_CATEGORY" val="custom"/>
  <p:tag name="KSO_WM_TEMPLATE_INDEX" val="20202545"/>
  <p:tag name="KSO_WM_UNIT_LAYERLEVEL" val="1_1_1"/>
  <p:tag name="KSO_WM_TAG_VERSION" val="1.0"/>
  <p:tag name="KSO_WM_BEAUTIFY_FLAG" val="#wm#"/>
  <p:tag name="KSO_WM_UNIT_FILL_FORE_SCHEMECOLOR_INDEX" val="5"/>
  <p:tag name="KSO_WM_UNIT_FILL_TYPE" val="1"/>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199.xml><?xml version="1.0" encoding="utf-8"?>
<p:tagLst xmlns:p="http://schemas.openxmlformats.org/presentationml/2006/main">
  <p:tag name="KSO_WM_UNIT_SUBTYPE" val="a"/>
  <p:tag name="KSO_WM_UNIT_PRESET_TEXT" val="单击此处添加文本具体内容，简明扼要的阐述您的观点。"/>
  <p:tag name="KSO_WM_UNIT_NOCLEAR" val="0"/>
  <p:tag name="KSO_WM_UNIT_VALUE" val="13"/>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2545_4*l_h_f*1_4_1"/>
  <p:tag name="KSO_WM_TEMPLATE_CATEGORY" val="custom"/>
  <p:tag name="KSO_WM_TEMPLATE_INDEX" val="20202545"/>
  <p:tag name="KSO_WM_UNIT_LAYERLEVEL" val="1_1_1"/>
  <p:tag name="KSO_WM_TAG_VERSION" val="1.0"/>
  <p:tag name="KSO_WM_BEAUTIFY_FLAG" val="#wm#"/>
  <p:tag name="KSO_WM_UNIT_TEXT_FILL_FORE_SCHEMECOLOR_INDEX" val="13"/>
  <p:tag name="KSO_WM_UNIT_TEXT_FILL_TYPE" val="1"/>
  <p:tag name="KSO_WM_UNIT_USESOURCEFORMAT_APPLY" val="1"/>
  <p:tag name="KSO_WM_DIAGRAM_VIRTUALLY_FRAME" val="{&quot;height&quot;:436.6500000000002,&quot;left&quot;:367.05,&quot;top&quot;:55.30007874015748,&quot;width&quot;:429.95}"/>
</p:tagLst>
</file>

<file path=ppt/tags/tag200.xml><?xml version="1.0" encoding="utf-8"?>
<p:tagLst xmlns:p="http://schemas.openxmlformats.org/presentationml/2006/main">
  <p:tag name="KSO_WM_SLIDE_ID" val="custom2020254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2545"/>
  <p:tag name="KSO_WM_SLIDE_LAYOUT" val="a_b_l"/>
  <p:tag name="KSO_WM_SLIDE_LAYOUT_CNT" val="1_1_1"/>
</p:tagLst>
</file>

<file path=ppt/tags/tag201.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2.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4.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5.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0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07.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0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
</p:tagLst>
</file>

<file path=ppt/tags/tag209.xml><?xml version="1.0" encoding="utf-8"?>
<p:tagLst xmlns:p="http://schemas.openxmlformats.org/presentationml/2006/main">
  <p:tag name="KSO_WM_DIAGRAM_VIRTUALLY_FRAME" val="{&quot;height&quot;:249.25,&quot;left&quot;:14.05,&quot;top&quot;:186.7,&quot;width&quot;:441.4}"/>
</p:tagLst>
</file>

<file path=ppt/tags/tag210.xml><?xml version="1.0" encoding="utf-8"?>
<p:tagLst xmlns:p="http://schemas.openxmlformats.org/presentationml/2006/main">
  <p:tag name="KSO_WM_DIAGRAM_VIRTUALLY_FRAME" val="{&quot;height&quot;:305.95000000000005,&quot;left&quot;:8.55,&quot;top&quot;:186.69999999999996,&quot;width&quot;:446.9259144154913}"/>
</p:tagLst>
</file>

<file path=ppt/tags/tag211.xml><?xml version="1.0" encoding="utf-8"?>
<p:tagLst xmlns:p="http://schemas.openxmlformats.org/presentationml/2006/main">
  <p:tag name="KSO_WM_DIAGRAM_VIRTUALLY_FRAME" val="{&quot;height&quot;:249.25,&quot;left&quot;:14.05,&quot;top&quot;:186.7,&quot;width&quot;:441.4}"/>
</p:tagLst>
</file>

<file path=ppt/tags/tag212.xml><?xml version="1.0" encoding="utf-8"?>
<p:tagLst xmlns:p="http://schemas.openxmlformats.org/presentationml/2006/main">
  <p:tag name="KSO_WM_DIAGRAM_VIRTUALLY_FRAME" val="{&quot;height&quot;:249.25,&quot;left&quot;:14.05,&quot;top&quot;:186.7,&quot;width&quot;:441.4}"/>
</p:tagLst>
</file>

<file path=ppt/tags/tag213.xml><?xml version="1.0" encoding="utf-8"?>
<p:tagLst xmlns:p="http://schemas.openxmlformats.org/presentationml/2006/main">
  <p:tag name="KSO_WM_DIAGRAM_VIRTUALLY_FRAME" val="{&quot;height&quot;:305.95000000000005,&quot;left&quot;:8.55,&quot;top&quot;:186.69999999999996,&quot;width&quot;:446.9259144154913}"/>
</p:tagLst>
</file>

<file path=ppt/tags/tag214.xml><?xml version="1.0" encoding="utf-8"?>
<p:tagLst xmlns:p="http://schemas.openxmlformats.org/presentationml/2006/main">
  <p:tag name="KSO_WM_DIAGRAM_VIRTUALLY_FRAME" val="{&quot;height&quot;:249.25,&quot;left&quot;:14.05,&quot;top&quot;:186.7,&quot;width&quot;:441.4}"/>
</p:tagLst>
</file>

<file path=ppt/tags/tag215.xml><?xml version="1.0" encoding="utf-8"?>
<p:tagLst xmlns:p="http://schemas.openxmlformats.org/presentationml/2006/main">
  <p:tag name="KSO_WM_DIAGRAM_VIRTUALLY_FRAME" val="{&quot;height&quot;:249.25,&quot;left&quot;:14.05,&quot;top&quot;:186.7,&quot;width&quot;:441.4}"/>
</p:tagLst>
</file>

<file path=ppt/tags/tag216.xml><?xml version="1.0" encoding="utf-8"?>
<p:tagLst xmlns:p="http://schemas.openxmlformats.org/presentationml/2006/main">
  <p:tag name="KSO_WM_DIAGRAM_VIRTUALLY_FRAME" val="{&quot;height&quot;:305.95000000000005,&quot;left&quot;:8.55,&quot;top&quot;:186.69999999999996,&quot;width&quot;:446.9259144154913}"/>
</p:tagLst>
</file>

<file path=ppt/tags/tag217.xml><?xml version="1.0" encoding="utf-8"?>
<p:tagLst xmlns:p="http://schemas.openxmlformats.org/presentationml/2006/main">
  <p:tag name="KSO_WM_DIAGRAM_VIRTUALLY_FRAME" val="{&quot;height&quot;:249.25,&quot;left&quot;:14.05,&quot;top&quot;:186.7,&quot;width&quot;:441.4}"/>
</p:tagLst>
</file>

<file path=ppt/tags/tag218.xml><?xml version="1.0" encoding="utf-8"?>
<p:tagLst xmlns:p="http://schemas.openxmlformats.org/presentationml/2006/main">
  <p:tag name="KSO_WM_DIAGRAM_VIRTUALLY_FRAME" val="{&quot;height&quot;:249.25,&quot;left&quot;:14.05,&quot;top&quot;:186.7,&quot;width&quot;:441.4}"/>
</p:tagLst>
</file>

<file path=ppt/tags/tag219.xml><?xml version="1.0" encoding="utf-8"?>
<p:tagLst xmlns:p="http://schemas.openxmlformats.org/presentationml/2006/main">
  <p:tag name="KSO_WM_DIAGRAM_VIRTUALLY_FRAME" val="{&quot;height&quot;:305.95000000000005,&quot;left&quot;:8.55,&quot;top&quot;:186.69999999999996,&quot;width&quot;:446.9259144154913}"/>
</p:tagLst>
</file>

<file path=ppt/tags/tag220.xml><?xml version="1.0" encoding="utf-8"?>
<p:tagLst xmlns:p="http://schemas.openxmlformats.org/presentationml/2006/main">
  <p:tag name="KSO_WM_DIAGRAM_VIRTUALLY_FRAME" val="{&quot;height&quot;:249.25,&quot;left&quot;:14.05,&quot;top&quot;:186.7,&quot;width&quot;:441.4}"/>
</p:tagLst>
</file>

<file path=ppt/tags/tag221.xml><?xml version="1.0" encoding="utf-8"?>
<p:tagLst xmlns:p="http://schemas.openxmlformats.org/presentationml/2006/main">
  <p:tag name="KSO_WM_DIAGRAM_VIRTUALLY_FRAME" val="{&quot;height&quot;:249.25,&quot;left&quot;:14.05,&quot;top&quot;:186.7,&quot;width&quot;:441.4}"/>
</p:tagLst>
</file>

<file path=ppt/tags/tag22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3.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4.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7.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2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29.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30.xml><?xml version="1.0" encoding="utf-8"?>
<p:tagLst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2545_10*a*1"/>
  <p:tag name="KSO_WM_TEMPLATE_CATEGORY" val="custom"/>
  <p:tag name="KSO_WM_TEMPLATE_INDEX" val="20202545"/>
  <p:tag name="KSO_WM_UNIT_LAYERLEVEL" val="1"/>
  <p:tag name="KSO_WM_TAG_VERSION" val="1.0"/>
  <p:tag name="KSO_WM_BEAUTIFY_FLAG" val="#wm#"/>
</p:tagLst>
</file>

<file path=ppt/tags/tag231.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2.xml><?xml version="1.0" encoding="utf-8"?>
<p:tagLst xmlns:p="http://schemas.openxmlformats.org/presentationml/2006/main">
  <p:tag name="KSO_WM_SLIDE_ID" val="custom20202545_10"/>
  <p:tag name="KSO_WM_TEMPLATE_SUBCATEGORY" val="0"/>
  <p:tag name="KSO_WM_TEMPLATE_MASTER_TYPE" val="1"/>
  <p:tag name="KSO_WM_TEMPLATE_COLOR_TYPE" val="1"/>
  <p:tag name="KSO_WM_SLIDE_TYPE" val="text"/>
  <p:tag name="KSO_WM_SLIDE_SUBTYPE" val="picTxt"/>
  <p:tag name="KSO_WM_SLIDE_ITEM_CNT" val="0"/>
  <p:tag name="KSO_WM_SLIDE_INDEX" val="10"/>
  <p:tag name="KSO_WM_SLIDE_SIZE" val="866*400"/>
  <p:tag name="KSO_WM_SLIDE_POSITION" val="45*60"/>
  <p:tag name="KSO_WM_TAG_VERSION" val="1.0"/>
  <p:tag name="KSO_WM_BEAUTIFY_FLAG" val="#wm#"/>
  <p:tag name="KSO_WM_TEMPLATE_CATEGORY" val="custom"/>
  <p:tag name="KSO_WM_TEMPLATE_INDEX" val="20202545"/>
  <p:tag name="KSO_WM_SLIDE_LAYOUT" val="a_d_f"/>
  <p:tag name="KSO_WM_SLIDE_LAYOUT_CNT" val="1_1_1"/>
</p:tagLst>
</file>

<file path=ppt/tags/tag23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4.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5.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36.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38.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39.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0.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2.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3.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4.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5.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6.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47.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8.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49.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50.xml><?xml version="1.0" encoding="utf-8"?>
<p:tagLst xmlns:p="http://schemas.openxmlformats.org/presentationml/2006/main">
  <p:tag name="KSO_WM_UNIT_SUBTYPE" val="a"/>
  <p:tag name="KSO_WM_UNIT_PRESET_TEXT" val="点击此处添加正文，文字是您思想的提炼，为了演示发布的良好效果，请言简意赅的阐述您的观点。&#13;您的正文已经经简明扼要，字字珠玑，但信息却千丝万缕、错综复杂，需要用更多的文字来表述；但请您尽可能提炼思想的精髓，否则容易造成观者的阅读压力，适得其反。"/>
  <p:tag name="KSO_WM_UNIT_NOCLEAR" val="0"/>
  <p:tag name="KSO_WM_UNIT_VALUE" val="216"/>
  <p:tag name="KSO_WM_UNIT_HIGHLIGHT" val="0"/>
  <p:tag name="KSO_WM_UNIT_COMPATIBLE" val="0"/>
  <p:tag name="KSO_WM_UNIT_DIAGRAM_ISNUMVISUAL" val="0"/>
  <p:tag name="KSO_WM_UNIT_DIAGRAM_ISREFERUNIT" val="0"/>
  <p:tag name="KSO_WM_UNIT_TYPE" val="f"/>
  <p:tag name="KSO_WM_UNIT_INDEX" val="1"/>
  <p:tag name="KSO_WM_UNIT_ID" val="custom20202545_10*f*1"/>
  <p:tag name="KSO_WM_TEMPLATE_CATEGORY" val="custom"/>
  <p:tag name="KSO_WM_TEMPLATE_INDEX" val="20202545"/>
  <p:tag name="KSO_WM_UNIT_LAYERLEVEL" val="1"/>
  <p:tag name="KSO_WM_TAG_VERSION" val="1.0"/>
  <p:tag name="KSO_WM_BEAUTIFY_FLAG" val="#wm#"/>
</p:tagLst>
</file>

<file path=ppt/tags/tag251.xml><?xml version="1.0" encoding="utf-8"?>
<p:tagLst xmlns:p="http://schemas.openxmlformats.org/presentationml/2006/main">
  <p:tag name="KSO_WM_SLIDE_ID" val="custom20202545_9"/>
  <p:tag name="KSO_WM_TEMPLATE_SUBCATEGORY" val="0"/>
  <p:tag name="KSO_WM_TEMPLATE_MASTER_TYPE" val="1"/>
  <p:tag name="KSO_WM_TEMPLATE_COLOR_TYPE" val="1"/>
  <p:tag name="KSO_WM_SLIDE_TYPE" val="text"/>
  <p:tag name="KSO_WM_SLIDE_SUBTYPE" val="pureTxt"/>
  <p:tag name="KSO_WM_SLIDE_ITEM_CNT" val="0"/>
  <p:tag name="KSO_WM_SLIDE_INDEX" val="9"/>
  <p:tag name="KSO_WM_SLIDE_SIZE" val="758*343"/>
  <p:tag name="KSO_WM_SLIDE_POSITION" val="100*98"/>
  <p:tag name="KSO_WM_TAG_VERSION" val="1.0"/>
  <p:tag name="KSO_WM_BEAUTIFY_FLAG" val="#wm#"/>
  <p:tag name="KSO_WM_TEMPLATE_CATEGORY" val="custom"/>
  <p:tag name="KSO_WM_TEMPLATE_INDEX" val="20202545"/>
  <p:tag name="KSO_WM_SLIDE_LAYOUT" val="a_f"/>
  <p:tag name="KSO_WM_SLIDE_LAYOUT_CNT" val="1_1"/>
</p:tagLst>
</file>

<file path=ppt/tags/tag252.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2545_15*a*1"/>
  <p:tag name="KSO_WM_TEMPLATE_CATEGORY" val="custom"/>
  <p:tag name="KSO_WM_TEMPLATE_INDEX" val="20202545"/>
  <p:tag name="KSO_WM_UNIT_LAYERLEVEL" val="1"/>
  <p:tag name="KSO_WM_TAG_VERSION" val="1.0"/>
  <p:tag name="KSO_WM_BEAUTIFY_FLAG" val="#wm#"/>
  <p:tag name="KSO_WM_UNIT_PRESET_TEXT" val="THANKS"/>
</p:tagLst>
</file>

<file path=ppt/tags/tag253.xml><?xml version="1.0" encoding="utf-8"?>
<p:tagLst xmlns:p="http://schemas.openxmlformats.org/presentationml/2006/main">
  <p:tag name="KSO_WM_SLIDE_ID" val="custom20202545_15"/>
  <p:tag name="KSO_WM_TEMPLATE_SUBCATEGORY" val="0"/>
  <p:tag name="KSO_WM_TEMPLATE_MASTER_TYPE" val="1"/>
  <p:tag name="KSO_WM_TEMPLATE_COLOR_TYPE" val="1"/>
  <p:tag name="KSO_WM_SLIDE_TYPE" val="endPage"/>
  <p:tag name="KSO_WM_SLIDE_SUBTYPE" val="pureTxt"/>
  <p:tag name="KSO_WM_SLIDE_ITEM_CNT" val="0"/>
  <p:tag name="KSO_WM_SLIDE_INDEX" val="15"/>
  <p:tag name="KSO_WM_TAG_VERSION" val="1.0"/>
  <p:tag name="KSO_WM_BEAUTIFY_FLAG" val="#wm#"/>
  <p:tag name="KSO_WM_TEMPLATE_CATEGORY" val="custom"/>
  <p:tag name="KSO_WM_TEMPLATE_INDEX" val="20202545"/>
  <p:tag name="KSO_WM_SLIDE_LAYOUT" val="a"/>
  <p:tag name="KSO_WM_SLIDE_LAYOUT_CNT" val="1"/>
</p:tagLst>
</file>

<file path=ppt/tags/tag254.xml><?xml version="1.0" encoding="utf-8"?>
<p:tagLst xmlns:p="http://schemas.openxmlformats.org/presentationml/2006/main">
  <p:tag name="commondata" val="eyJoZGlkIjoiZjAxMDMxNTc0NmE5YzRlNTQ4ZmI5MzlkYzI5NmM5MGYifQ=="/>
</p:tagLst>
</file>

<file path=ppt/theme/theme1.xml><?xml version="1.0" encoding="utf-8"?>
<a:theme xmlns:a="http://schemas.openxmlformats.org/drawingml/2006/main" name="2_Office 主题​​">
  <a:themeElements>
    <a:clrScheme name="">
      <a:dk1>
        <a:srgbClr val="000000"/>
      </a:dk1>
      <a:lt1>
        <a:srgbClr val="FFFFFF"/>
      </a:lt1>
      <a:dk2>
        <a:srgbClr val="333333"/>
      </a:dk2>
      <a:lt2>
        <a:srgbClr val="FFFFFF"/>
      </a:lt2>
      <a:accent1>
        <a:srgbClr val="5C8FC7"/>
      </a:accent1>
      <a:accent2>
        <a:srgbClr val="6E82BA"/>
      </a:accent2>
      <a:accent3>
        <a:srgbClr val="8376B0"/>
      </a:accent3>
      <a:accent4>
        <a:srgbClr val="9868A3"/>
      </a:accent4>
      <a:accent5>
        <a:srgbClr val="AE5B97"/>
      </a:accent5>
      <a:accent6>
        <a:srgbClr val="C44B8A"/>
      </a:accent6>
      <a:hlink>
        <a:srgbClr val="658BD5"/>
      </a:hlink>
      <a:folHlink>
        <a:srgbClr val="9F69A3"/>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nchor="ctr" anchorCtr="0">
        <a:noAutofit/>
      </a:bodyPr>
      <a:lstStyle>
        <a:defPPr algn="l" eaLnBrk="1" hangingPunct="1">
          <a:lnSpc>
            <a:spcPct val="170000"/>
          </a:lnSpc>
          <a:buClrTx/>
          <a:buSzTx/>
          <a:buFontTx/>
          <a:defRPr lang="zh-CN" altLang="en-US" sz="1400" b="1" dirty="0">
            <a:solidFill>
              <a:srgbClr val="FF0000"/>
            </a:solidFill>
            <a:latin typeface="Bodoni MT Black" panose="02070A03080606020203" pitchFamily="18" charset="0"/>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5499</Words>
  <Application>WPS 演示</Application>
  <PresentationFormat>宽屏</PresentationFormat>
  <Paragraphs>310</Paragraphs>
  <Slides>18</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Bodoni MT Black</vt:lpstr>
      <vt:lpstr>微软雅黑</vt:lpstr>
      <vt:lpstr>汉仪旗黑-85S</vt:lpstr>
      <vt:lpstr>黑体</vt:lpstr>
      <vt:lpstr>Viner Hand ITC</vt:lpstr>
      <vt:lpstr>华光彩云_CNKI</vt:lpstr>
      <vt:lpstr>Arial Unicode MS</vt:lpstr>
      <vt:lpstr>Calibri</vt:lpstr>
      <vt:lpstr>2_Office 主题​​</vt:lpstr>
      <vt:lpstr>软件工程导论（第6版）</vt:lpstr>
      <vt:lpstr>第4章  总体设计</vt:lpstr>
      <vt:lpstr>PowerPoint 演示文稿</vt:lpstr>
      <vt:lpstr>设计过程</vt:lpstr>
      <vt:lpstr>设计原理</vt:lpstr>
      <vt:lpstr>PowerPoint 演示文稿</vt:lpstr>
      <vt:lpstr>PowerPoint 演示文稿</vt:lpstr>
      <vt:lpstr>PowerPoint 演示文稿</vt:lpstr>
      <vt:lpstr>PowerPoint 演示文稿</vt:lpstr>
      <vt:lpstr>PowerPoint 演示文稿</vt:lpstr>
      <vt:lpstr>面向数据流的设计方法</vt:lpstr>
      <vt:lpstr>PowerPoint 演示文稿</vt:lpstr>
      <vt:lpstr>PowerPoint 演示文稿</vt:lpstr>
      <vt:lpstr>PowerPoint 演示文稿</vt:lpstr>
      <vt:lpstr>PowerPoint 演示文稿</vt:lpstr>
      <vt:lpstr>PowerPoint 演示文稿</vt:lpstr>
      <vt:lpstr>PowerPoint 演示文稿</vt:lpstr>
      <vt:lpstr>THANKS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半湖柳色</cp:lastModifiedBy>
  <cp:revision>280</cp:revision>
  <dcterms:created xsi:type="dcterms:W3CDTF">2019-06-19T02:08:00Z</dcterms:created>
  <dcterms:modified xsi:type="dcterms:W3CDTF">2025-12-29T09:17:12Z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2052-12.1.0.16729</vt:lpwstr>
  </property>
  <property fmtid="{D5CDD505-2E9C-101B-9397-08002B2CF9AE}" pid="3" name="ICV">
    <vt:lpwstr>B6C3542768C9400C987255C1B390C738_13</vt:lpwstr>
  </property>
</Properties>
</file>