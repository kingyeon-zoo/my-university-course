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8"/>
  </p:notesMasterIdLst>
  <p:sldIdLst>
    <p:sldId id="296" r:id="rId4"/>
    <p:sldId id="256" r:id="rId5"/>
    <p:sldId id="274" r:id="rId6"/>
    <p:sldId id="257" r:id="rId7"/>
    <p:sldId id="259" r:id="rId8"/>
    <p:sldId id="275" r:id="rId9"/>
    <p:sldId id="260" r:id="rId10"/>
    <p:sldId id="276" r:id="rId11"/>
    <p:sldId id="261" r:id="rId12"/>
    <p:sldId id="262" r:id="rId13"/>
    <p:sldId id="263" r:id="rId14"/>
    <p:sldId id="277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8" r:id="rId25"/>
    <p:sldId id="273" r:id="rId26"/>
    <p:sldId id="295" r:id="rId27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FF7C7C"/>
    <a:srgbClr val="DBDC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26" autoAdjust="0"/>
  </p:normalViewPr>
  <p:slideViewPr>
    <p:cSldViewPr snapToGrid="0">
      <p:cViewPr varScale="1">
        <p:scale>
          <a:sx n="78" d="100"/>
          <a:sy n="78" d="100"/>
        </p:scale>
        <p:origin x="27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gs" Target="tags/tag39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6E7BE-8F5B-4ACE-AFF8-1175463538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DCCAA-648C-4B2E-81B6-1E8EBD5784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53836-EDB4-4A8A-83A4-78C36F783F5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>
            <a:off x="11231245" y="0"/>
            <a:ext cx="96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笛霸格</a:t>
            </a:r>
            <a:endParaRPr lang="zh-CN" altLang="en-US" b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式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D580-8F43-4817-B1AD-1B4214562072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11353800" y="6356350"/>
            <a:ext cx="639617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1536218" y="6356350"/>
            <a:ext cx="540327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五边形 3"/>
          <p:cNvSpPr/>
          <p:nvPr userDrawn="1"/>
        </p:nvSpPr>
        <p:spPr>
          <a:xfrm>
            <a:off x="0" y="0"/>
            <a:ext cx="5384800" cy="794328"/>
          </a:xfrm>
          <a:prstGeom prst="homePlat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231245" y="0"/>
            <a:ext cx="96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笛霸格</a:t>
            </a:r>
            <a:endParaRPr lang="zh-CN" altLang="en-US" b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76DB-8CA7-4F18-B45F-55ADB53E048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F4D7-D808-42F9-831A-6C64C3396F7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A4214-E96A-4446-8AF6-A58F5EDD7F7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E0651-7E9D-41BC-BA98-C560D210D2A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D9C1-0360-4884-935B-8334CEA5ABB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D54B-665E-4C1E-AF4E-90FE94A66D6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6485-2D5E-419E-8DD5-9FB5ADCFBC2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60192-8012-4B92-8F9C-790BB0AB2E7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4D8FA-8806-4C61-B3E6-C0B73E67D57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53836-EDB4-4A8A-83A4-78C36F783F5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式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D580-8F43-4817-B1AD-1B4214562072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11353800" y="6356350"/>
            <a:ext cx="639617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1536218" y="6356350"/>
            <a:ext cx="540327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五边形 3"/>
          <p:cNvSpPr/>
          <p:nvPr userDrawn="1"/>
        </p:nvSpPr>
        <p:spPr>
          <a:xfrm>
            <a:off x="0" y="0"/>
            <a:ext cx="5384800" cy="794328"/>
          </a:xfrm>
          <a:prstGeom prst="homePlat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231245" y="0"/>
            <a:ext cx="96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笛霸格</a:t>
            </a:r>
            <a:endParaRPr lang="zh-CN" altLang="en-US" b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76DB-8CA7-4F18-B45F-55ADB53E048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F4D7-D808-42F9-831A-6C64C3396F7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A4214-E96A-4446-8AF6-A58F5EDD7F7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E0651-7E9D-41BC-BA98-C560D210D2A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D9C1-0360-4884-935B-8334CEA5ABB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BD54B-665E-4C1E-AF4E-90FE94A66D6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6485-2D5E-419E-8DD5-9FB5ADCFBC2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60192-8012-4B92-8F9C-790BB0AB2E7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4D8FA-8806-4C61-B3E6-C0B73E67D57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E76A7-85B3-4429-85FB-92FDA5029D8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E76A7-85B3-4429-85FB-92FDA5029D8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.wmf"/><Relationship Id="rId6" Type="http://schemas.openxmlformats.org/officeDocument/2006/relationships/oleObject" Target="../embeddings/oleObject2.bin"/><Relationship Id="rId5" Type="http://schemas.openxmlformats.org/officeDocument/2006/relationships/tags" Target="../tags/tag5.x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1.bin"/><Relationship Id="rId2" Type="http://schemas.openxmlformats.org/officeDocument/2006/relationships/tags" Target="../tags/tag4.xml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.wmf"/><Relationship Id="rId10" Type="http://schemas.openxmlformats.org/officeDocument/2006/relationships/oleObject" Target="../embeddings/oleObject3.bin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4.wmf"/><Relationship Id="rId6" Type="http://schemas.openxmlformats.org/officeDocument/2006/relationships/oleObject" Target="../embeddings/oleObject5.bin"/><Relationship Id="rId5" Type="http://schemas.openxmlformats.org/officeDocument/2006/relationships/tags" Target="../tags/tag10.x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4.bin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6.bin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85" y="845820"/>
            <a:ext cx="3672205" cy="3672205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8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8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8642901">
            <a:off x="4488815" y="3864610"/>
            <a:ext cx="3837305" cy="2524125"/>
          </a:xfrm>
          <a:prstGeom prst="arc">
            <a:avLst>
              <a:gd name="adj1" fmla="val 11569492"/>
              <a:gd name="adj2" fmla="val 0"/>
            </a:avLst>
          </a:prstGeom>
          <a:noFill/>
          <a:ln w="1270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7589520" y="845820"/>
            <a:ext cx="3672205" cy="3672205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800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endParaRPr lang="zh-CN" altLang="en-US" sz="88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8800" b="1" dirty="0">
                <a:solidFill>
                  <a:schemeClr val="accent1">
                    <a:lumMod val="75000"/>
                  </a:schemeClr>
                </a:solidFill>
              </a:rPr>
              <a:t>分析</a:t>
            </a:r>
            <a:endParaRPr lang="zh-CN" altLang="en-US" sz="8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0542" y="3909899"/>
            <a:ext cx="277368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算法基本概念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时间</a:t>
            </a:r>
            <a:r>
              <a:rPr lang="zh-CN" altLang="en-US" sz="2800" b="1" dirty="0"/>
              <a:t>复杂度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渐</a:t>
            </a:r>
            <a:r>
              <a:rPr lang="zh-CN" altLang="en-US" sz="2800" b="1" dirty="0"/>
              <a:t>近复杂性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渐</a:t>
            </a:r>
            <a:r>
              <a:rPr lang="zh-CN" altLang="en-US" sz="2800" b="1" dirty="0"/>
              <a:t>近记号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0542" y="3909899"/>
            <a:ext cx="277368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rgbClr val="CC00FF"/>
                </a:solidFill>
              </a:rPr>
              <a:t>算法基本概念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时间</a:t>
            </a:r>
            <a:r>
              <a:rPr lang="zh-CN" altLang="en-US" sz="2800" b="1" dirty="0"/>
              <a:t>复杂度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渐</a:t>
            </a:r>
            <a:r>
              <a:rPr lang="zh-CN" altLang="en-US" sz="2800" b="1" dirty="0"/>
              <a:t>近复杂性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渐</a:t>
            </a:r>
            <a:r>
              <a:rPr lang="zh-CN" altLang="en-US" sz="2800" b="1" dirty="0"/>
              <a:t>近记号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75730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算法基本概念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665" y="973393"/>
            <a:ext cx="117432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算法定义：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通俗讲：算法是解决问题的</a:t>
            </a:r>
            <a:r>
              <a:rPr lang="zh-CN" altLang="en-US" sz="2000" b="1" dirty="0">
                <a:solidFill>
                  <a:srgbClr val="FF0000"/>
                </a:solidFill>
              </a:rPr>
              <a:t>方法步骤</a:t>
            </a:r>
            <a:endParaRPr lang="en-US" altLang="zh-CN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对于计算机科学来说：算法指的是对特定问题求解步骤的一种描述，是若干条指令的</a:t>
            </a:r>
            <a:r>
              <a:rPr lang="zh-CN" altLang="en-US" sz="2000" b="1" dirty="0">
                <a:solidFill>
                  <a:srgbClr val="FF0000"/>
                </a:solidFill>
              </a:rPr>
              <a:t>有穷序列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04664" y="1936955"/>
            <a:ext cx="2756524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算法的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特性：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</a:rPr>
              <a:t>个</a:t>
            </a:r>
            <a:r>
              <a:rPr lang="zh-CN" altLang="en-US" sz="2000" b="1" dirty="0"/>
              <a:t>或多个输入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</a:rPr>
              <a:t>个</a:t>
            </a:r>
            <a:r>
              <a:rPr lang="zh-CN" altLang="en-US" sz="2000" b="1" dirty="0"/>
              <a:t>或多个输出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有穷性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确定性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可行性</a:t>
            </a:r>
            <a:endParaRPr lang="zh-CN" altLang="en-US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156155" y="2289056"/>
            <a:ext cx="521109" cy="12003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77264" y="2296832"/>
            <a:ext cx="335280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void happy(){	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+mn-ea"/>
            </a:endParaRPr>
          </a:p>
          <a:p>
            <a:pPr lvl="1"/>
            <a:r>
              <a:rPr lang="en-US" altLang="zh-CN" b="1" dirty="0" err="1">
                <a:latin typeface="+mn-ea"/>
              </a:rPr>
              <a:t>printf</a:t>
            </a:r>
            <a:r>
              <a:rPr lang="en-US" altLang="zh-CN" b="1" dirty="0">
                <a:latin typeface="+mn-ea"/>
              </a:rPr>
              <a:t>("</a:t>
            </a:r>
            <a:r>
              <a:rPr lang="zh-CN" altLang="en-US" b="1" dirty="0">
                <a:latin typeface="+mn-ea"/>
              </a:rPr>
              <a:t>期末考就要来了</a:t>
            </a:r>
            <a:r>
              <a:rPr lang="en-US" altLang="zh-CN" b="1" dirty="0">
                <a:latin typeface="+mn-ea"/>
              </a:rPr>
              <a:t>");</a:t>
            </a:r>
            <a:endParaRPr lang="en-US" altLang="zh-CN" b="1" dirty="0">
              <a:latin typeface="+mn-ea"/>
            </a:endParaRPr>
          </a:p>
          <a:p>
            <a:pPr lvl="1"/>
            <a:r>
              <a:rPr lang="en-US" altLang="zh-CN" b="1" dirty="0" err="1">
                <a:latin typeface="+mn-ea"/>
              </a:rPr>
              <a:t>printf</a:t>
            </a:r>
            <a:r>
              <a:rPr lang="en-US" altLang="zh-CN" b="1" dirty="0">
                <a:latin typeface="+mn-ea"/>
              </a:rPr>
              <a:t>("</a:t>
            </a:r>
            <a:r>
              <a:rPr lang="zh-CN" altLang="en-US" b="1" dirty="0">
                <a:latin typeface="+mn-ea"/>
              </a:rPr>
              <a:t>真的很兴奋啊！</a:t>
            </a:r>
            <a:r>
              <a:rPr lang="en-US" altLang="zh-CN" b="1" dirty="0">
                <a:latin typeface="+mn-ea"/>
              </a:rPr>
              <a:t>");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}</a:t>
            </a:r>
            <a:endParaRPr lang="en-US" altLang="zh-CN" b="1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42573" y="3545169"/>
            <a:ext cx="275463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</a:rPr>
              <a:t>没有输入参数：</a:t>
            </a:r>
            <a:endParaRPr lang="en-US" altLang="zh-CN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</a:rPr>
              <a:t>有“</a:t>
            </a:r>
            <a:r>
              <a:rPr lang="en-US" altLang="zh-CN" b="1" dirty="0" err="1">
                <a:latin typeface="+mn-ea"/>
              </a:rPr>
              <a:t>printf</a:t>
            </a:r>
            <a:r>
              <a:rPr lang="zh-CN" altLang="en-US" b="1" dirty="0">
                <a:latin typeface="+mn-ea"/>
              </a:rPr>
              <a:t>”语句：</a:t>
            </a:r>
            <a:endParaRPr lang="zh-CN" altLang="en-US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</a:rPr>
              <a:t>函数正常结束：</a:t>
            </a:r>
            <a:endParaRPr lang="zh-CN" altLang="en-US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</a:rPr>
              <a:t>每次运行结果都</a:t>
            </a:r>
            <a:r>
              <a:rPr lang="zh-CN" altLang="en-US" b="1" dirty="0">
                <a:latin typeface="+mn-ea"/>
              </a:rPr>
              <a:t>一致：</a:t>
            </a:r>
            <a:endParaRPr lang="zh-CN" altLang="en-US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</a:rPr>
              <a:t>函数没有异常：</a:t>
            </a:r>
            <a:endParaRPr lang="en-US" altLang="zh-CN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zh-CN" altLang="en-US" b="1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8710" y="3545205"/>
            <a:ext cx="21088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0</a:t>
            </a:r>
            <a:r>
              <a:rPr lang="zh-CN" altLang="en-US" b="1" dirty="0">
                <a:solidFill>
                  <a:srgbClr val="00B0F0"/>
                </a:solidFill>
                <a:latin typeface="+mn-ea"/>
              </a:rPr>
              <a:t>个或多个输入</a:t>
            </a:r>
            <a:endParaRPr lang="en-US" altLang="zh-CN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     1</a:t>
            </a:r>
            <a:r>
              <a:rPr lang="zh-CN" altLang="en-US" b="1" dirty="0">
                <a:solidFill>
                  <a:srgbClr val="00B0F0"/>
                </a:solidFill>
                <a:latin typeface="+mn-ea"/>
              </a:rPr>
              <a:t>个或多个输出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b="1" dirty="0">
                <a:solidFill>
                  <a:srgbClr val="00B0F0"/>
                </a:solidFill>
                <a:latin typeface="+mn-ea"/>
              </a:rPr>
              <a:t>有穷性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          </a:t>
            </a:r>
            <a:r>
              <a:rPr lang="zh-CN" altLang="en-US" b="1" dirty="0">
                <a:solidFill>
                  <a:srgbClr val="00B0F0"/>
                </a:solidFill>
                <a:latin typeface="+mn-ea"/>
              </a:rPr>
              <a:t>确定性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b="1" dirty="0">
                <a:solidFill>
                  <a:srgbClr val="00B0F0"/>
                </a:solidFill>
                <a:latin typeface="+mn-ea"/>
              </a:rPr>
              <a:t>可行性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26665" y="3545169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26665" y="3814381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9840" y="4095051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29840" y="4374451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29840" y="4622736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  <p:bldP spid="10" grpId="0" animBg="1"/>
      <p:bldP spid="11" grpId="0" animBg="1"/>
      <p:bldP spid="24" grpId="0"/>
      <p:bldP spid="2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75730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算法基本概念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665" y="973393"/>
            <a:ext cx="117432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算法定义：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通俗讲：算法是解决问题的</a:t>
            </a:r>
            <a:r>
              <a:rPr lang="zh-CN" altLang="en-US" sz="2000" b="1" dirty="0">
                <a:solidFill>
                  <a:srgbClr val="FF0000"/>
                </a:solidFill>
              </a:rPr>
              <a:t>方法步骤</a:t>
            </a:r>
            <a:endParaRPr lang="en-US" altLang="zh-CN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对于计算机科学来说：算法指的是对特定问题求解步骤的一种描述，是若干条指令的</a:t>
            </a:r>
            <a:r>
              <a:rPr lang="zh-CN" altLang="en-US" sz="2000" b="1" dirty="0">
                <a:solidFill>
                  <a:srgbClr val="FF0000"/>
                </a:solidFill>
              </a:rPr>
              <a:t>有穷序列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04664" y="1936955"/>
            <a:ext cx="27565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算法的性质：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</a:rPr>
              <a:t>个</a:t>
            </a:r>
            <a:r>
              <a:rPr lang="zh-CN" altLang="en-US" sz="2000" b="1" dirty="0"/>
              <a:t>或多个输入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</a:rPr>
              <a:t>个</a:t>
            </a:r>
            <a:r>
              <a:rPr lang="zh-CN" altLang="en-US" sz="2000" b="1" dirty="0"/>
              <a:t>或多个输出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有穷性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确定性</a:t>
            </a:r>
            <a:endParaRPr lang="zh-CN" altLang="en-US" sz="2000" b="1" dirty="0"/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可行性</a:t>
            </a:r>
            <a:endParaRPr lang="zh-CN" altLang="en-US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156155" y="2289056"/>
            <a:ext cx="521109" cy="12003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77285" y="2296795"/>
            <a:ext cx="3897630" cy="11988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void happy(){	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+mn-ea"/>
            </a:endParaRPr>
          </a:p>
          <a:p>
            <a:pPr lvl="1"/>
            <a:r>
              <a:rPr lang="en-US" altLang="zh-CN" b="1" dirty="0" err="1">
                <a:latin typeface="+mn-ea"/>
              </a:rPr>
              <a:t>printf</a:t>
            </a:r>
            <a:r>
              <a:rPr lang="en-US" altLang="zh-CN" b="1" dirty="0">
                <a:latin typeface="+mn-ea"/>
              </a:rPr>
              <a:t>("</a:t>
            </a:r>
            <a:r>
              <a:rPr lang="zh-CN" altLang="en-US" b="1" dirty="0">
                <a:latin typeface="+mn-ea"/>
              </a:rPr>
              <a:t>期末考就要来了</a:t>
            </a:r>
            <a:r>
              <a:rPr lang="en-US" altLang="zh-CN" b="1" dirty="0">
                <a:latin typeface="+mn-ea"/>
              </a:rPr>
              <a:t>");</a:t>
            </a:r>
            <a:endParaRPr lang="en-US" altLang="zh-CN" b="1" dirty="0">
              <a:latin typeface="+mn-ea"/>
            </a:endParaRPr>
          </a:p>
          <a:p>
            <a:pPr lvl="1"/>
            <a:r>
              <a:rPr lang="en-US" altLang="zh-CN" b="1" dirty="0" err="1">
                <a:latin typeface="+mn-ea"/>
              </a:rPr>
              <a:t>printf</a:t>
            </a:r>
            <a:r>
              <a:rPr lang="en-US" altLang="zh-CN" b="1" dirty="0">
                <a:latin typeface="+mn-ea"/>
              </a:rPr>
              <a:t>("</a:t>
            </a:r>
            <a:r>
              <a:rPr lang="zh-CN" altLang="en-US" b="1" dirty="0">
                <a:latin typeface="+mn-ea"/>
              </a:rPr>
              <a:t>真的很兴奋啊！</a:t>
            </a:r>
            <a:r>
              <a:rPr lang="en-US" altLang="zh-CN" b="1" dirty="0">
                <a:latin typeface="+mn-ea"/>
              </a:rPr>
              <a:t>");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}</a:t>
            </a:r>
            <a:endParaRPr lang="en-US" altLang="zh-CN" b="1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55950" y="3545205"/>
            <a:ext cx="21088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0</a:t>
            </a:r>
            <a:r>
              <a:rPr lang="zh-CN" altLang="en-US" b="1" dirty="0">
                <a:solidFill>
                  <a:srgbClr val="00B0F0"/>
                </a:solidFill>
                <a:latin typeface="+mn-ea"/>
              </a:rPr>
              <a:t>个或多个输入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rgbClr val="00B0F0"/>
                </a:solidFill>
                <a:latin typeface="+mn-ea"/>
              </a:rPr>
              <a:t>个或多个输出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b="1" dirty="0">
                <a:solidFill>
                  <a:srgbClr val="00B0F0"/>
                </a:solidFill>
                <a:latin typeface="+mn-ea"/>
              </a:rPr>
              <a:t>有穷性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b="1" dirty="0">
                <a:solidFill>
                  <a:srgbClr val="00B0F0"/>
                </a:solidFill>
                <a:latin typeface="+mn-ea"/>
              </a:rPr>
              <a:t>确定性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b="1" dirty="0">
                <a:solidFill>
                  <a:srgbClr val="00B0F0"/>
                </a:solidFill>
                <a:latin typeface="+mn-ea"/>
              </a:rPr>
              <a:t>可行性</a:t>
            </a:r>
            <a:endParaRPr lang="zh-CN" altLang="en-US" b="1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78155" y="3557234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78155" y="3826446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1330" y="4107116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81330" y="4386516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81330" y="4634801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00B050"/>
                </a:solidFill>
              </a:rPr>
              <a:t>满足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30015" y="2600325"/>
            <a:ext cx="3079750" cy="598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 dirty="0">
                <a:latin typeface="+mn-ea"/>
              </a:rPr>
              <a:t>While(1){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}</a:t>
            </a:r>
            <a:endParaRPr lang="en-US" altLang="zh-CN" b="1" dirty="0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67030" y="3825811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</a:rPr>
              <a:t>不满足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67030" y="4096321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</a:rPr>
              <a:t>不满足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71290" y="2595880"/>
            <a:ext cx="3603625" cy="650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 lvl="0"/>
            <a:r>
              <a:rPr lang="en-US" altLang="zh-CN" b="1" dirty="0" err="1">
                <a:latin typeface="+mn-ea"/>
              </a:rPr>
              <a:t>srand</a:t>
            </a:r>
            <a:r>
              <a:rPr lang="en-US" altLang="zh-CN" b="1" dirty="0">
                <a:latin typeface="+mn-ea"/>
              </a:rPr>
              <a:t>(time(NULL)); </a:t>
            </a:r>
            <a:endParaRPr lang="en-US" altLang="zh-CN" b="1" dirty="0">
              <a:latin typeface="+mn-ea"/>
            </a:endParaRPr>
          </a:p>
          <a:p>
            <a:pPr lvl="0"/>
            <a:r>
              <a:rPr lang="en-US" altLang="zh-CN" b="1" dirty="0">
                <a:latin typeface="+mn-ea"/>
              </a:rPr>
              <a:t>int </a:t>
            </a:r>
            <a:r>
              <a:rPr lang="en-US" altLang="zh-CN" b="1" dirty="0" err="1">
                <a:latin typeface="+mn-ea"/>
              </a:rPr>
              <a:t>random_number</a:t>
            </a:r>
            <a:r>
              <a:rPr lang="en-US" altLang="zh-CN" b="1" dirty="0">
                <a:latin typeface="+mn-ea"/>
              </a:rPr>
              <a:t> = rand(); </a:t>
            </a:r>
            <a:endParaRPr lang="en-US" altLang="zh-CN" b="1" dirty="0"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867030" y="4354131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</a:rPr>
              <a:t>不满足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71925" y="2615565"/>
            <a:ext cx="3491230" cy="581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 lvl="0"/>
            <a:r>
              <a:rPr lang="en-US" altLang="zh-CN" b="1" dirty="0">
                <a:latin typeface="+mn-ea"/>
              </a:rPr>
              <a:t>int i = 1/0;</a:t>
            </a:r>
            <a:endParaRPr lang="en-US" altLang="zh-CN" b="1" dirty="0">
              <a:latin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67030" y="4637341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</a:rPr>
              <a:t>不满足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5" grpId="0"/>
      <p:bldP spid="12" grpId="0"/>
      <p:bldP spid="6" grpId="0"/>
      <p:bldP spid="19" grpId="0"/>
      <p:bldP spid="20" grpId="0" bldLvl="0" animBg="1"/>
      <p:bldP spid="7" grpId="0"/>
      <p:bldP spid="26" grpId="0"/>
      <p:bldP spid="19" grpId="1"/>
      <p:bldP spid="6" grpId="1"/>
      <p:bldP spid="27" grpId="0" bldLvl="0" animBg="1"/>
      <p:bldP spid="8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0542" y="3909899"/>
            <a:ext cx="277368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算法基本概念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rgbClr val="CC00FF"/>
                </a:solidFill>
              </a:rPr>
              <a:t>时间复杂度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渐</a:t>
            </a:r>
            <a:r>
              <a:rPr lang="zh-CN" altLang="en-US" sz="2800" b="1" dirty="0"/>
              <a:t>近复杂性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渐</a:t>
            </a:r>
            <a:r>
              <a:rPr lang="zh-CN" altLang="en-US" sz="2800" b="1" dirty="0"/>
              <a:t>近记号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62685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时间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复杂度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74148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影响时间复杂性的因素：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问题规模n，输入序列I，算法本身A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79295" y="2022475"/>
            <a:ext cx="1156970" cy="89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 dirty="0" smtClean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1335" y="2022475"/>
            <a:ext cx="5641975" cy="89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 dirty="0" smtClean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33245" y="1396365"/>
            <a:ext cx="1449070" cy="584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r>
              <a:rPr lang="en-US" altLang="zh-CN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3200" b="1">
              <a:solidFill>
                <a:schemeClr val="accent2">
                  <a:lumMod val="7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6050" y="2234565"/>
            <a:ext cx="183324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4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lang="en-US" altLang="zh-CN" sz="24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38900" y="1396365"/>
            <a:ext cx="1449070" cy="584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r>
              <a:rPr lang="en-US" altLang="zh-CN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3200" b="1">
              <a:solidFill>
                <a:schemeClr val="accent2">
                  <a:lumMod val="7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21170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7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51421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4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27494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1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03567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7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81672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8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59777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6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37882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9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9159875" y="214376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2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6050" y="4531360"/>
            <a:ext cx="183324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输入序列</a:t>
            </a:r>
            <a:r>
              <a:rPr lang="en-US" altLang="zh-CN" sz="24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lang="en-US" altLang="zh-CN" sz="24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04490" y="3756025"/>
            <a:ext cx="1449070" cy="584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r>
              <a:rPr lang="en-US" altLang="zh-CN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3200" b="1">
              <a:solidFill>
                <a:schemeClr val="accent2">
                  <a:lumMod val="7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42455" y="3756025"/>
            <a:ext cx="1449070" cy="584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r>
              <a:rPr lang="en-US" altLang="zh-CN" sz="3200" b="1">
                <a:solidFill>
                  <a:schemeClr val="accent2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3200" b="1">
              <a:solidFill>
                <a:schemeClr val="accent2">
                  <a:lumMod val="7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33245" y="4340225"/>
            <a:ext cx="3528695" cy="89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 dirty="0" smtClean="0">
              <a:latin typeface="+mn-ea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1878965" y="443611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1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2760345" y="4445635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2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1725" y="4445635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3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523105" y="4445635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4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890260" y="4340225"/>
            <a:ext cx="3528695" cy="89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 dirty="0" smtClean="0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5935980" y="4436110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4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6817360" y="4445635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1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7698740" y="4445635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7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8580120" y="4445635"/>
            <a:ext cx="692785" cy="69278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 smtClean="0">
                <a:latin typeface="+mn-ea"/>
              </a:rPr>
              <a:t>8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6050" y="6210935"/>
            <a:ext cx="804608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算法本身</a:t>
            </a:r>
            <a:r>
              <a:rPr lang="en-US" altLang="zh-CN" sz="24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冒泡排序、选择排序、快速排序、堆排序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6050" y="2999105"/>
            <a:ext cx="63468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元素比排序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元素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少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，故排序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更低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46050" y="5259705"/>
            <a:ext cx="63468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已经完成升序排序，故排序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更低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/>
      <p:bldP spid="22" grpId="0"/>
      <p:bldP spid="25" grpId="0"/>
      <p:bldP spid="26" grpId="0" bldLvl="0" animBg="1"/>
      <p:bldP spid="31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0542" y="3909899"/>
            <a:ext cx="277368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算法基本概念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时间复杂度</a:t>
            </a:r>
            <a:endParaRPr lang="zh-CN" altLang="en-US" sz="2800" b="1" strike="sngStrike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rgbClr val="CC00FF"/>
                </a:solidFill>
              </a:rPr>
              <a:t>渐近复杂性</a:t>
            </a:r>
            <a:endParaRPr lang="zh-CN" altLang="en-US" sz="2800" b="1" dirty="0">
              <a:solidFill>
                <a:srgbClr val="CC00FF"/>
              </a:solidFill>
            </a:endParaRPr>
          </a:p>
          <a:p>
            <a:pPr marL="457200" indent="-457200">
              <a:buFont typeface="Wingdings" panose="05000000000000000000" charset="0"/>
              <a:buChar char="p"/>
            </a:pPr>
            <a:r>
              <a:rPr lang="zh-CN" altLang="en-US" sz="2800" b="1" dirty="0"/>
              <a:t>渐</a:t>
            </a:r>
            <a:r>
              <a:rPr lang="zh-CN" altLang="en-US" sz="2800" b="1" dirty="0"/>
              <a:t>近记号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07770" y="6049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近复杂性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概念：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设算法的运行时间为T(n)，如果存在T*(n)，使得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就称T*(n)为算法的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渐近性态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渐近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复杂性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58305" y="366395"/>
          <a:ext cx="349758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371600" imgH="444500" progId="Equation.KSEE3">
                  <p:embed/>
                </p:oleObj>
              </mc:Choice>
              <mc:Fallback>
                <p:oleObj name="" r:id="rId3" imgW="1371600" imgH="444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58305" y="366395"/>
                        <a:ext cx="349758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0" y="2119630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2443480"/>
            <a:ext cx="8756650" cy="3912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题目：已知算法运行时间表达式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T(n)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，求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渐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近复杂性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*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(n)</a:t>
            </a: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①代入定义：</a:t>
            </a:r>
            <a:endParaRPr lang="zh-CN" altLang="en-US" sz="2000" b="1">
              <a:solidFill>
                <a:srgbClr val="CC00FF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②化简：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③思考：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怎么让左边的式子极限为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④给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*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(n)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赋值：</a:t>
            </a:r>
            <a:r>
              <a:rPr lang="zh-CN" altLang="en-US" sz="2000" b="1" u="sng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赋</a:t>
            </a:r>
            <a:r>
              <a:rPr lang="zh-CN" altLang="en-US" sz="2000" b="1" u="sng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T(n)</a:t>
            </a:r>
            <a:r>
              <a:rPr lang="zh-CN" altLang="en-US" sz="2000" b="1" u="sng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最高此项的值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，即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000" b="1" baseline="3000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74533" y="2949258"/>
          <a:ext cx="5537835" cy="110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6" imgW="2171700" imgH="431800" progId="Equation.KSEE3">
                  <p:embed/>
                </p:oleObj>
              </mc:Choice>
              <mc:Fallback>
                <p:oleObj name="" r:id="rId6" imgW="21717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74533" y="2949258"/>
                        <a:ext cx="5537835" cy="1101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658995" y="5191760"/>
            <a:ext cx="39547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000" b="1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让分子无限小</a:t>
            </a:r>
            <a:r>
              <a:rPr lang="en-US" altLang="zh-CN" sz="2000" b="1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  2.</a:t>
            </a:r>
            <a:r>
              <a:rPr lang="zh-CN" altLang="en-US" sz="2000" b="1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让分母</a:t>
            </a:r>
            <a:r>
              <a:rPr lang="zh-CN" altLang="en-US" sz="2000" b="1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无限大</a:t>
            </a:r>
            <a:endParaRPr lang="zh-CN" altLang="en-US" sz="2000" b="1">
              <a:solidFill>
                <a:schemeClr val="accent6">
                  <a:lumMod val="60000"/>
                  <a:lumOff val="40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: 圆角 18"/>
          <p:cNvSpPr/>
          <p:nvPr>
            <p:custDataLst>
              <p:tags r:id="rId9"/>
            </p:custDataLst>
          </p:nvPr>
        </p:nvSpPr>
        <p:spPr>
          <a:xfrm>
            <a:off x="4722495" y="5191760"/>
            <a:ext cx="1823720" cy="37846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连接符: 曲线 19"/>
          <p:cNvCxnSpPr>
            <a:stCxn id="9" idx="3"/>
            <a:endCxn id="16" idx="3"/>
          </p:cNvCxnSpPr>
          <p:nvPr/>
        </p:nvCxnSpPr>
        <p:spPr>
          <a:xfrm flipH="1">
            <a:off x="4790440" y="3500120"/>
            <a:ext cx="2722245" cy="1013460"/>
          </a:xfrm>
          <a:prstGeom prst="curvedConnector3">
            <a:avLst>
              <a:gd name="adj1" fmla="val -8747"/>
            </a:avLst>
          </a:prstGeom>
          <a:ln w="38100">
            <a:solidFill>
              <a:srgbClr val="FF0000">
                <a:alpha val="5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54468" y="3962718"/>
          <a:ext cx="3335655" cy="110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0" imgW="1308100" imgH="431800" progId="Equation.KSEE3">
                  <p:embed/>
                </p:oleObj>
              </mc:Choice>
              <mc:Fallback>
                <p:oleObj name="" r:id="rId10" imgW="13081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54468" y="3962718"/>
                        <a:ext cx="3335655" cy="1101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7862570" y="3963035"/>
            <a:ext cx="2663825" cy="380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7C7C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干掉所有非最高次项</a:t>
            </a:r>
            <a:endParaRPr lang="zh-CN" altLang="en-US" sz="2000" b="1">
              <a:solidFill>
                <a:srgbClr val="FF7C7C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19" grpId="0" bldLvl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432435" y="3027045"/>
            <a:ext cx="8652510" cy="25927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 dirty="0" smtClean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42365" y="6049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近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复杂性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概念：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设算法的运行时间为T(n)，如果存在T*(n)，使得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就称T*(n)为算法的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性态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复杂性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58305" y="366395"/>
          <a:ext cx="349758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371600" imgH="444500" progId="Equation.KSEE3">
                  <p:embed/>
                </p:oleObj>
              </mc:Choice>
              <mc:Fallback>
                <p:oleObj name="" r:id="rId3" imgW="1371600" imgH="444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58305" y="366395"/>
                        <a:ext cx="349758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0" y="2119630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2443480"/>
            <a:ext cx="8756650" cy="3912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题目：已知算法运行时间表达式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T(n)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，求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渐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近复杂性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*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(n)</a:t>
            </a: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令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T*(n)=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000" b="1" baseline="30000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000" b="1" baseline="300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000" b="1" baseline="300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000" b="1" baseline="300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000" b="1" baseline="300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000" b="1" baseline="300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 sz="2000" b="1" baseline="300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n-&gt;∞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时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,</a:t>
            </a: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T*(n)=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≈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8315" y="3429000"/>
          <a:ext cx="8680450" cy="969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6" imgW="2760345" imgH="894715" progId="Equation.KSEE3">
                  <p:embed/>
                </p:oleObj>
              </mc:Choice>
              <mc:Fallback>
                <p:oleObj name="" r:id="rId6" imgW="2760345" imgH="89471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8315" y="3429000"/>
                        <a:ext cx="8680450" cy="969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48740" y="6049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近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复杂性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概念：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设算法的运行时间为T(n)，如果存在T*(n)，使得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就称T*(n)为算法的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渐近性态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渐近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复杂性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58305" y="366395"/>
          <a:ext cx="349758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371600" imgH="444500" progId="Equation.KSEE3">
                  <p:embed/>
                </p:oleObj>
              </mc:Choice>
              <mc:Fallback>
                <p:oleObj name="" r:id="rId3" imgW="1371600" imgH="444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58305" y="366395"/>
                        <a:ext cx="349758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0" y="2119630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2443480"/>
            <a:ext cx="9024620" cy="1146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题目：已知算法运行时间表达式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T(n)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，则渐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近复杂性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*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(n)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 </a:t>
            </a: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秒杀口诀：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求渐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近复杂性，最高次项秒了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9313545" y="2443480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000" b="1" baseline="30000">
              <a:solidFill>
                <a:srgbClr val="7030A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矩形: 圆角 18"/>
          <p:cNvSpPr/>
          <p:nvPr>
            <p:custDataLst>
              <p:tags r:id="rId7"/>
            </p:custDataLst>
          </p:nvPr>
        </p:nvSpPr>
        <p:spPr>
          <a:xfrm>
            <a:off x="4939030" y="2443480"/>
            <a:ext cx="291465" cy="39878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0542" y="3909899"/>
            <a:ext cx="277368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算法基本概念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时间复杂度</a:t>
            </a:r>
            <a:endParaRPr lang="zh-CN" altLang="en-US" sz="2800" b="1" strike="sngStrike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渐近复杂性</a:t>
            </a:r>
            <a:endParaRPr lang="zh-CN" altLang="en-US" sz="2800" b="1" strike="sngStrike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rgbClr val="CC00FF"/>
                </a:solidFill>
              </a:rPr>
              <a:t>渐近记号</a:t>
            </a:r>
            <a:endParaRPr lang="zh-CN" altLang="en-US" sz="2800" b="1" dirty="0">
              <a:solidFill>
                <a:srgbClr val="CC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近上界记号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正数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c和n0，使得n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≥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n0，都有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T(n)≤cf(n)，则称T(n)=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(f(n))，即f(n)是T(n)的上界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6742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题目：用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的阶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①代入定义：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≤cf(n)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②思考：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怎么在考试时，短时间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内取出一个绝对正确的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③升阶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000" b="1" baseline="3000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lvl="1" indent="45720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22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④</a:t>
            </a:r>
            <a:r>
              <a:rPr lang="en-US" altLang="zh-CN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取值：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22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  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---&gt; 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=22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f(n)=n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⑤</a:t>
            </a:r>
            <a:r>
              <a:rPr lang="en-US" altLang="zh-CN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取值：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22n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---&gt;  n=1  ---&gt;  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n0=1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注意：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最后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的取值是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不唯一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的，这里只是举了其中一个比较容易取到的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126230" y="2535555"/>
            <a:ext cx="631825" cy="34671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18"/>
          <p:cNvSpPr/>
          <p:nvPr/>
        </p:nvSpPr>
        <p:spPr>
          <a:xfrm>
            <a:off x="3590290" y="4058285"/>
            <a:ext cx="622300" cy="34671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9" grpId="0" bldLvl="0" animBg="1"/>
      <p:bldP spid="10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近上界记号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正数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c和n0，使得n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≥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n0，都有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T(n)≤cf(n)，则称T(n)=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(f(n))，即f(n)是T(n)的上界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题目：用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的阶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115" y="2453640"/>
            <a:ext cx="7479665" cy="22993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c=22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n0=1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，使得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n0，都有：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=22n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令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，可得T(n)≤cf(n)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22n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即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(f(n))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近上界记号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正数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c和n0，使得n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≥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n0，都有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T(n)≤cf(n)，则称T(n)=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(f(n))，即f(n)是T(n)的上界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题目：用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的阶是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_____________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2115" y="24885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秒杀口诀：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求渐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近上界，最高次项秒了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031230" y="1821815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000" b="1" baseline="30000">
              <a:solidFill>
                <a:srgbClr val="7030A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近下界记号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Ω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正数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c和n0，使得n≥n0，都有T(n)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cf(n)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，则称T(n)=Ω (f(n))，即f(n)是T(n)的下界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808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题目：用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Ω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的阶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①代入定义：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cf(n)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②思考：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怎么在考试时，短时间内取出一个绝对正确的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③删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阶：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④</a:t>
            </a:r>
            <a:r>
              <a:rPr lang="en-US" altLang="zh-CN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取值：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  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---&gt; </a:t>
            </a:r>
            <a:r>
              <a:rPr lang="zh-CN" altLang="en-US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=7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f(n)=n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⑤</a:t>
            </a:r>
            <a:r>
              <a:rPr lang="en-US" altLang="zh-CN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取值：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---&gt;  n=1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成立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---&gt;  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n0=1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注意：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最后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的取值是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不唯一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的，这里只是举了其中一个比较容易取到的例子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矩形: 圆角 18"/>
          <p:cNvSpPr/>
          <p:nvPr>
            <p:custDataLst>
              <p:tags r:id="rId2"/>
            </p:custDataLst>
          </p:nvPr>
        </p:nvSpPr>
        <p:spPr>
          <a:xfrm>
            <a:off x="4126230" y="2546350"/>
            <a:ext cx="599440" cy="34671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18"/>
          <p:cNvSpPr/>
          <p:nvPr>
            <p:custDataLst>
              <p:tags r:id="rId3"/>
            </p:custDataLst>
          </p:nvPr>
        </p:nvSpPr>
        <p:spPr>
          <a:xfrm>
            <a:off x="3590290" y="3722370"/>
            <a:ext cx="488950" cy="34671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9" grpId="0" bldLvl="0" animBg="1"/>
      <p:bldP spid="10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近下界记号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两个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正数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c和n0，使得n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≥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n0，都有T(n)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cf(n)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≥0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，则称T(n)=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(f(n))，即f(n)是T(n)的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下界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题目：用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的阶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115" y="2453640"/>
            <a:ext cx="4476115" cy="22993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c=7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n0=1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，使得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n0，都有：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令f(n)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，可得T(n)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=7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即T(n)=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(f(n))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近下界记号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若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两个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正数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c和n0，使得n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n0，都有T(n)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≥0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，则称T(n)=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(f(n))，即f(n)是T(n)的下界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题目：用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的阶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_____________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2115" y="24885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秒杀口诀：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求渐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近下界，最高次项秒了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031230" y="1821815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000" b="1" baseline="30000">
              <a:solidFill>
                <a:srgbClr val="7030A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635" y="782320"/>
            <a:ext cx="121932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渐近精确界记号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Θ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</a:rPr>
              <a:t>若</a:t>
            </a:r>
            <a:r>
              <a:rPr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正数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</a:rPr>
              <a:t>c1、c2和n0</a:t>
            </a:r>
            <a:r>
              <a:rPr lang="zh-CN" sz="2000" b="1"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</a:rPr>
              <a:t>n≥n0，都有</a:t>
            </a:r>
            <a:r>
              <a:rPr lang="en-US" sz="2000" b="1">
                <a:uFillTx/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</a:rPr>
              <a:t>c2</a:t>
            </a:r>
            <a:r>
              <a:rPr lang="en-US" sz="2000" b="1">
                <a:uFillTx/>
                <a:latin typeface="微软雅黑" panose="020B0503020204020204" charset="-122"/>
                <a:ea typeface="微软雅黑" panose="020B0503020204020204" charset="-122"/>
              </a:rPr>
              <a:t>f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</a:rPr>
              <a:t>(n)≤T(n)≤c1f(n)，则称T(n)=Θf(n)</a:t>
            </a:r>
            <a:endParaRPr sz="2000" b="1"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87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题目：用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的阶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2115" y="2453640"/>
            <a:ext cx="6616065" cy="17233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c1=22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c2=7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n0=1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，使得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n0，都有：</a:t>
            </a: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T(n)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22n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令f(n)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，可得T(n)=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(f(n))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近精确界记号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若</a:t>
            </a:r>
            <a:r>
              <a:rPr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存在</a:t>
            </a:r>
            <a:r>
              <a:rPr 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正数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c1、c2和n0</a:t>
            </a:r>
            <a:r>
              <a:rPr 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n≥n0，都有</a:t>
            </a:r>
            <a:r>
              <a:rPr 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c2f(n)≤T(n)≤c1f(n)，则称T(n)=Θf(n)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489075"/>
            <a:ext cx="12077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12115" y="1887855"/>
            <a:ext cx="9279890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题目：用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表示T(n)=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的阶</a:t>
            </a: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_____________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2115" y="24885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秒杀口诀：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求渐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近精确界，最高次项秒了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031230" y="1821815"/>
            <a:ext cx="687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7030A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000" b="1" baseline="30000">
              <a:solidFill>
                <a:srgbClr val="7030A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02410" y="6049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渐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近记号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12192000" cy="5140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Ω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Θ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规律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若</a:t>
            </a:r>
            <a:r>
              <a:rPr 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T(n)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是一个一元多项式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最高次项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zh-CN" altLang="en-US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T(n)=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)=Ω(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)=Θ(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时间复杂度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排行：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O(1)&lt;O(log2n)&lt;O(n)&lt;O(nlog2n)&lt;O(n²)&lt;O(n³)&lt;O(2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)&lt;O(n!)&lt;O(n</a:t>
            </a:r>
            <a:r>
              <a:rPr lang="en-US" altLang="zh-CN" sz="2000" b="1" baseline="300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渐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近记号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性质：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举例：</a:t>
            </a: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f(n)=7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n²+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n+1, g(n)=7n+1</a:t>
            </a:r>
            <a:endParaRPr lang="en-US" altLang="zh-CN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)=O(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n²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), O(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g(n)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)=n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accent5">
                  <a:lumMod val="7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常</a:t>
            </a: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系数去掉：</a:t>
            </a:r>
            <a:endParaRPr lang="en-US" altLang="zh-CN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endParaRPr lang="zh-CN" altLang="en-US" sz="2000" b="1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相加取最大：</a:t>
            </a:r>
            <a:r>
              <a:rPr lang="en-US" altLang="zh-CN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</a:t>
            </a:r>
            <a:endParaRPr lang="en-US" altLang="zh-CN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endParaRPr lang="en-US" altLang="zh-CN" sz="2000" b="1"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相乘则相乘：</a:t>
            </a:r>
            <a:endParaRPr lang="zh-CN" altLang="en-US" sz="2000" b="1">
              <a:solidFill>
                <a:srgbClr val="CC00FF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endParaRPr lang="zh-CN" altLang="en-US" sz="2000" b="1">
              <a:solidFill>
                <a:srgbClr val="CC00FF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rgbClr val="CC00FF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特殊：</a:t>
            </a:r>
            <a:endParaRPr lang="zh-CN" altLang="en-US" sz="2000" b="1">
              <a:solidFill>
                <a:srgbClr val="CC00FF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17750" y="3512185"/>
            <a:ext cx="2063115" cy="478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O(7n²) = O(n²)</a:t>
            </a:r>
            <a:endParaRPr lang="en-US" altLang="zh-CN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99030" y="4149090"/>
            <a:ext cx="2433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 + O(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g(n)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58360" y="4149090"/>
            <a:ext cx="2874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7n²+n+1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7n+1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64095" y="4149090"/>
            <a:ext cx="2874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=O(7n²+8n+2)=O(n²)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25040" y="4766945"/>
            <a:ext cx="2433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f(n)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 * O(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g(n)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380865" y="4777105"/>
            <a:ext cx="32245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 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(7n²+n+1)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* 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(7n+1)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533005" y="4777105"/>
            <a:ext cx="30391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 O(49n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+14n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+8n+1)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481310" y="4777105"/>
            <a:ext cx="11156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=O(n</a:t>
            </a:r>
            <a:r>
              <a:rPr lang="en-US" altLang="zh-CN" sz="2000" b="1" baseline="30000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02410" y="5348605"/>
            <a:ext cx="2433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 + O(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g(n)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63620" y="5360670"/>
            <a:ext cx="2874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7n+1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98770" y="5368925"/>
            <a:ext cx="2874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m+n)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02410" y="5767705"/>
            <a:ext cx="24333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 * O(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g(n)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63620" y="5747385"/>
            <a:ext cx="2874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m*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000" b="1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7n+1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64095" y="5767705"/>
            <a:ext cx="2874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</a:t>
            </a: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mn)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87670" y="5767705"/>
            <a:ext cx="2874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=O(7mn + m</a:t>
            </a:r>
            <a:r>
              <a:rPr lang="en-US" altLang="zh-CN" sz="2000" b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000" b="1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20" grpId="0"/>
      <p:bldP spid="21" grpId="0"/>
      <p:bldP spid="22" grpId="0"/>
      <p:bldP spid="2" grpId="0"/>
      <p:bldP spid="6" grpId="0"/>
      <p:bldP spid="7" grpId="0"/>
      <p:bldP spid="8" grpId="0"/>
      <p:bldP spid="16" grpId="0"/>
      <p:bldP spid="17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0542" y="3909899"/>
            <a:ext cx="2773680" cy="181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算法基本概念</a:t>
            </a:r>
            <a:endParaRPr lang="zh-CN" altLang="en-US" sz="2800" b="1" dirty="0"/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时间复杂度</a:t>
            </a:r>
            <a:endParaRPr lang="zh-CN" altLang="en-US" sz="2800" b="1" strike="sngStrike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渐近复杂性</a:t>
            </a:r>
            <a:endParaRPr lang="zh-CN" altLang="en-US" sz="2800" b="1" strike="sngStrike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charset="0"/>
              <a:buChar char="n"/>
            </a:pPr>
            <a:r>
              <a:rPr lang="zh-CN" altLang="en-US" sz="2800" b="1" strike="sngStrike" dirty="0">
                <a:solidFill>
                  <a:schemeClr val="bg1">
                    <a:lumMod val="75000"/>
                  </a:schemeClr>
                </a:solidFill>
              </a:rPr>
              <a:t>渐近记号</a:t>
            </a:r>
            <a:endParaRPr lang="zh-CN" altLang="en-US" sz="2800" b="1" strike="sngStrik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3730" y="60490"/>
            <a:ext cx="119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总结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767080"/>
            <a:ext cx="6507480" cy="521335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算法基本概念</a:t>
            </a:r>
            <a:endParaRPr lang="zh-CN" altLang="en-US" sz="28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特性：输入、输出、有穷性、确定性、可行性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、输入序列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、算法本身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渐近复杂性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T*(n)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渐近记号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渐近上界记号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1600" lvl="2" indent="-457200"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系数去掉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1600" lvl="2" indent="-457200"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相加取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1600" lvl="2" indent="-457200"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相乘则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相乘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渐近下界记号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Ω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渐近精确界记号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>
              <a:buFont typeface="Wingdings" panose="05000000000000000000" charset="0"/>
              <a:buChar char="u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时间复杂度的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排行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921635" y="2644775"/>
            <a:ext cx="63480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600" b="1">
                <a:solidFill>
                  <a:srgbClr val="CC00FF"/>
                </a:solidFill>
              </a:rPr>
              <a:t>谢谢观看</a:t>
            </a:r>
            <a:r>
              <a:rPr lang="en-US" altLang="zh-CN" sz="9600" b="1">
                <a:solidFill>
                  <a:srgbClr val="CC00FF"/>
                </a:solidFill>
              </a:rPr>
              <a:t>~</a:t>
            </a:r>
            <a:endParaRPr lang="en-US" altLang="zh-CN" sz="9600" b="1">
              <a:solidFill>
                <a:srgbClr val="CC00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commondata" val="eyJoZGlkIjoiYjk3NjIzYTJjYjk1YjQ4YjNmMGE0MzI2NmRlM2Y1N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 b="1" dirty="0" smtClean="0"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 b="1" dirty="0" smtClean="0"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3451</Words>
  <Application>WPS 演示</Application>
  <PresentationFormat>宽屏</PresentationFormat>
  <Paragraphs>532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等线</vt:lpstr>
      <vt:lpstr>WPS</vt:lpstr>
      <vt:lpstr>1_WPS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林志明</dc:creator>
  <cp:lastModifiedBy>林志明</cp:lastModifiedBy>
  <cp:revision>538</cp:revision>
  <dcterms:created xsi:type="dcterms:W3CDTF">2023-08-09T12:44:00Z</dcterms:created>
  <dcterms:modified xsi:type="dcterms:W3CDTF">2024-04-21T11:51:09Z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