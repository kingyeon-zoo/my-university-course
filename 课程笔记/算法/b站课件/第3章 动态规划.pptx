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8" r:id="rId5"/>
    <p:sldId id="261" r:id="rId6"/>
    <p:sldId id="264" r:id="rId7"/>
    <p:sldId id="257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3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9" r:id="rId31"/>
    <p:sldId id="291" r:id="rId32"/>
    <p:sldId id="292" r:id="rId33"/>
    <p:sldId id="294" r:id="rId34"/>
    <p:sldId id="295" r:id="rId35"/>
    <p:sldId id="296" r:id="rId36"/>
    <p:sldId id="298" r:id="rId37"/>
    <p:sldId id="299" r:id="rId38"/>
    <p:sldId id="301" r:id="rId39"/>
    <p:sldId id="302" r:id="rId40"/>
    <p:sldId id="304" r:id="rId41"/>
    <p:sldId id="305" r:id="rId42"/>
    <p:sldId id="306" r:id="rId43"/>
    <p:sldId id="307" r:id="rId44"/>
    <p:sldId id="308" r:id="rId45"/>
    <p:sldId id="309" r:id="rId46"/>
    <p:sldId id="353" r:id="rId47"/>
    <p:sldId id="354" r:id="rId48"/>
    <p:sldId id="356" r:id="rId49"/>
    <p:sldId id="357" r:id="rId50"/>
    <p:sldId id="358" r:id="rId51"/>
    <p:sldId id="359" r:id="rId52"/>
    <p:sldId id="360" r:id="rId53"/>
    <p:sldId id="361" r:id="rId54"/>
    <p:sldId id="363" r:id="rId55"/>
    <p:sldId id="384" r:id="rId56"/>
    <p:sldId id="364" r:id="rId57"/>
    <p:sldId id="365" r:id="rId58"/>
    <p:sldId id="386" r:id="rId59"/>
    <p:sldId id="387" r:id="rId60"/>
    <p:sldId id="428" r:id="rId61"/>
    <p:sldId id="405" r:id="rId62"/>
    <p:sldId id="367" r:id="rId63"/>
    <p:sldId id="366" r:id="rId64"/>
    <p:sldId id="369" r:id="rId65"/>
    <p:sldId id="370" r:id="rId66"/>
    <p:sldId id="371" r:id="rId67"/>
    <p:sldId id="372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381" r:id="rId76"/>
    <p:sldId id="382" r:id="rId77"/>
    <p:sldId id="383" r:id="rId78"/>
    <p:sldId id="406" r:id="rId79"/>
    <p:sldId id="407" r:id="rId80"/>
    <p:sldId id="408" r:id="rId81"/>
    <p:sldId id="409" r:id="rId82"/>
    <p:sldId id="411" r:id="rId83"/>
  </p:sldIdLst>
  <p:sldSz cx="12192000" cy="6858000"/>
  <p:notesSz cx="6858000" cy="9144000"/>
  <p:custDataLst>
    <p:tags r:id="rId8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5631f72-5a91-470d-a36a-1543d2e6b445}">
          <p14:sldIdLst>
            <p14:sldId id="256"/>
            <p14:sldId id="260"/>
            <p14:sldId id="258"/>
            <p14:sldId id="261"/>
            <p14:sldId id="264"/>
            <p14:sldId id="257"/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  <p14:sldId id="273"/>
            <p14:sldId id="276"/>
            <p14:sldId id="275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91"/>
            <p14:sldId id="292"/>
            <p14:sldId id="294"/>
            <p14:sldId id="295"/>
            <p14:sldId id="296"/>
            <p14:sldId id="298"/>
            <p14:sldId id="299"/>
            <p14:sldId id="301"/>
            <p14:sldId id="302"/>
            <p14:sldId id="304"/>
            <p14:sldId id="305"/>
            <p14:sldId id="306"/>
            <p14:sldId id="307"/>
            <p14:sldId id="308"/>
            <p14:sldId id="309"/>
            <p14:sldId id="353"/>
            <p14:sldId id="354"/>
            <p14:sldId id="356"/>
            <p14:sldId id="357"/>
            <p14:sldId id="358"/>
            <p14:sldId id="359"/>
            <p14:sldId id="360"/>
            <p14:sldId id="361"/>
            <p14:sldId id="363"/>
            <p14:sldId id="384"/>
            <p14:sldId id="364"/>
            <p14:sldId id="365"/>
            <p14:sldId id="386"/>
            <p14:sldId id="387"/>
            <p14:sldId id="428"/>
            <p14:sldId id="405"/>
            <p14:sldId id="367"/>
            <p14:sldId id="366"/>
            <p14:sldId id="369"/>
            <p14:sldId id="370"/>
            <p14:sldId id="371"/>
            <p14:sldId id="372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406"/>
            <p14:sldId id="407"/>
            <p14:sldId id="408"/>
            <p14:sldId id="409"/>
            <p14:sldId id="41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087"/>
    <a:srgbClr val="CC00FF"/>
    <a:srgbClr val="E8F4F2"/>
    <a:srgbClr val="ECF4E9"/>
    <a:srgbClr val="FCE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7" Type="http://schemas.openxmlformats.org/officeDocument/2006/relationships/tags" Target="tags/tag596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式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D580-8F43-4817-B1AD-1B4214562072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11353800" y="6356350"/>
            <a:ext cx="639617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1536218" y="6356350"/>
            <a:ext cx="540327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五边形 3"/>
          <p:cNvSpPr/>
          <p:nvPr userDrawn="1"/>
        </p:nvSpPr>
        <p:spPr>
          <a:xfrm>
            <a:off x="0" y="0"/>
            <a:ext cx="5384800" cy="794328"/>
          </a:xfrm>
          <a:prstGeom prst="homePlat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231245" y="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笛霸格</a:t>
            </a:r>
            <a:endParaRPr lang="zh-CN" altLang="en-US" b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4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9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0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169.xml"/><Relationship Id="rId2" Type="http://schemas.openxmlformats.org/officeDocument/2006/relationships/tags" Target="../tags/tag151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95.xml"/><Relationship Id="rId12" Type="http://schemas.openxmlformats.org/officeDocument/2006/relationships/tags" Target="../tags/tag19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tags" Target="../tags/tag18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222.xml"/><Relationship Id="rId15" Type="http://schemas.openxmlformats.org/officeDocument/2006/relationships/tags" Target="../tags/tag221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tags" Target="../tags/tag207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33.xml"/><Relationship Id="rId10" Type="http://schemas.openxmlformats.org/officeDocument/2006/relationships/tags" Target="../tags/tag232.xml"/><Relationship Id="rId1" Type="http://schemas.openxmlformats.org/officeDocument/2006/relationships/tags" Target="../tags/tag223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46.xml"/><Relationship Id="rId12" Type="http://schemas.openxmlformats.org/officeDocument/2006/relationships/tags" Target="../tags/tag245.xml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tags" Target="../tags/tag234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56.xml"/><Relationship Id="rId1" Type="http://schemas.openxmlformats.org/officeDocument/2006/relationships/tags" Target="../tags/tag247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66.xml"/><Relationship Id="rId1" Type="http://schemas.openxmlformats.org/officeDocument/2006/relationships/tags" Target="../tags/tag257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267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27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300.xml"/><Relationship Id="rId8" Type="http://schemas.openxmlformats.org/officeDocument/2006/relationships/tags" Target="../tags/tag299.xml"/><Relationship Id="rId7" Type="http://schemas.openxmlformats.org/officeDocument/2006/relationships/tags" Target="../tags/tag298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292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301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310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19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ags" Target="../tags/tag337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wmf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tags" Target="../tags/tag33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9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51.xml"/><Relationship Id="rId2" Type="http://schemas.openxmlformats.org/officeDocument/2006/relationships/tags" Target="../tags/tag350.xml"/><Relationship Id="rId1" Type="http://schemas.openxmlformats.org/officeDocument/2006/relationships/tags" Target="../tags/tag349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352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tags" Target="../tags/tag356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12.bin"/><Relationship Id="rId5" Type="http://schemas.openxmlformats.org/officeDocument/2006/relationships/tags" Target="../tags/tag355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11.bin"/><Relationship Id="rId2" Type="http://schemas.openxmlformats.org/officeDocument/2006/relationships/tags" Target="../tags/tag354.xml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361.xml"/><Relationship Id="rId16" Type="http://schemas.openxmlformats.org/officeDocument/2006/relationships/tags" Target="../tags/tag360.xml"/><Relationship Id="rId15" Type="http://schemas.openxmlformats.org/officeDocument/2006/relationships/tags" Target="../tags/tag359.xml"/><Relationship Id="rId14" Type="http://schemas.openxmlformats.org/officeDocument/2006/relationships/tags" Target="../tags/tag358.xml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14.bin"/><Relationship Id="rId11" Type="http://schemas.openxmlformats.org/officeDocument/2006/relationships/tags" Target="../tags/tag357.xml"/><Relationship Id="rId10" Type="http://schemas.openxmlformats.org/officeDocument/2006/relationships/image" Target="../media/image9.wmf"/><Relationship Id="rId1" Type="http://schemas.openxmlformats.org/officeDocument/2006/relationships/tags" Target="../tags/tag353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tags" Target="../tags/tag365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16.bin"/><Relationship Id="rId5" Type="http://schemas.openxmlformats.org/officeDocument/2006/relationships/tags" Target="../tags/tag364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15.bin"/><Relationship Id="rId2" Type="http://schemas.openxmlformats.org/officeDocument/2006/relationships/tags" Target="../tags/tag363.xml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67.xml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18.bin"/><Relationship Id="rId11" Type="http://schemas.openxmlformats.org/officeDocument/2006/relationships/tags" Target="../tags/tag366.xml"/><Relationship Id="rId10" Type="http://schemas.openxmlformats.org/officeDocument/2006/relationships/image" Target="../media/image9.wmf"/><Relationship Id="rId1" Type="http://schemas.openxmlformats.org/officeDocument/2006/relationships/tags" Target="../tags/tag362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tags" Target="../tags/tag371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20.bin"/><Relationship Id="rId5" Type="http://schemas.openxmlformats.org/officeDocument/2006/relationships/tags" Target="../tags/tag370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9.bin"/><Relationship Id="rId2" Type="http://schemas.openxmlformats.org/officeDocument/2006/relationships/tags" Target="../tags/tag369.xml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73.xml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22.bin"/><Relationship Id="rId11" Type="http://schemas.openxmlformats.org/officeDocument/2006/relationships/tags" Target="../tags/tag372.xml"/><Relationship Id="rId10" Type="http://schemas.openxmlformats.org/officeDocument/2006/relationships/image" Target="../media/image9.wmf"/><Relationship Id="rId1" Type="http://schemas.openxmlformats.org/officeDocument/2006/relationships/tags" Target="../tags/tag368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tags" Target="../tags/tag377.xml"/><Relationship Id="rId7" Type="http://schemas.openxmlformats.org/officeDocument/2006/relationships/image" Target="../media/image8.wmf"/><Relationship Id="rId6" Type="http://schemas.openxmlformats.org/officeDocument/2006/relationships/oleObject" Target="../embeddings/oleObject24.bin"/><Relationship Id="rId5" Type="http://schemas.openxmlformats.org/officeDocument/2006/relationships/tags" Target="../tags/tag376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23.bin"/><Relationship Id="rId2" Type="http://schemas.openxmlformats.org/officeDocument/2006/relationships/tags" Target="../tags/tag375.xml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79.xml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26.bin"/><Relationship Id="rId11" Type="http://schemas.openxmlformats.org/officeDocument/2006/relationships/tags" Target="../tags/tag378.xml"/><Relationship Id="rId10" Type="http://schemas.openxmlformats.org/officeDocument/2006/relationships/image" Target="../media/image9.wmf"/><Relationship Id="rId1" Type="http://schemas.openxmlformats.org/officeDocument/2006/relationships/tags" Target="../tags/tag37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81.xml"/><Relationship Id="rId1" Type="http://schemas.openxmlformats.org/officeDocument/2006/relationships/tags" Target="../tags/tag380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401.xml"/><Relationship Id="rId7" Type="http://schemas.openxmlformats.org/officeDocument/2006/relationships/tags" Target="../tags/tag400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03.xml"/><Relationship Id="rId1" Type="http://schemas.openxmlformats.org/officeDocument/2006/relationships/tags" Target="../tags/tag40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tags" Target="../tags/tag404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415.xml"/><Relationship Id="rId8" Type="http://schemas.openxmlformats.org/officeDocument/2006/relationships/tags" Target="../tags/tag414.xml"/><Relationship Id="rId7" Type="http://schemas.openxmlformats.org/officeDocument/2006/relationships/tags" Target="../tags/tag413.xml"/><Relationship Id="rId6" Type="http://schemas.openxmlformats.org/officeDocument/2006/relationships/tags" Target="../tags/tag412.xml"/><Relationship Id="rId5" Type="http://schemas.openxmlformats.org/officeDocument/2006/relationships/tags" Target="../tags/tag411.xml"/><Relationship Id="rId4" Type="http://schemas.openxmlformats.org/officeDocument/2006/relationships/tags" Target="../tags/tag410.xml"/><Relationship Id="rId3" Type="http://schemas.openxmlformats.org/officeDocument/2006/relationships/tags" Target="../tags/tag409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428.xml"/><Relationship Id="rId21" Type="http://schemas.openxmlformats.org/officeDocument/2006/relationships/tags" Target="../tags/tag427.xml"/><Relationship Id="rId20" Type="http://schemas.openxmlformats.org/officeDocument/2006/relationships/tags" Target="../tags/tag426.xml"/><Relationship Id="rId2" Type="http://schemas.openxmlformats.org/officeDocument/2006/relationships/tags" Target="../tags/tag408.xml"/><Relationship Id="rId19" Type="http://schemas.openxmlformats.org/officeDocument/2006/relationships/tags" Target="../tags/tag425.xml"/><Relationship Id="rId18" Type="http://schemas.openxmlformats.org/officeDocument/2006/relationships/tags" Target="../tags/tag424.xml"/><Relationship Id="rId17" Type="http://schemas.openxmlformats.org/officeDocument/2006/relationships/tags" Target="../tags/tag423.xml"/><Relationship Id="rId16" Type="http://schemas.openxmlformats.org/officeDocument/2006/relationships/tags" Target="../tags/tag422.xml"/><Relationship Id="rId15" Type="http://schemas.openxmlformats.org/officeDocument/2006/relationships/tags" Target="../tags/tag421.xml"/><Relationship Id="rId14" Type="http://schemas.openxmlformats.org/officeDocument/2006/relationships/tags" Target="../tags/tag420.xml"/><Relationship Id="rId13" Type="http://schemas.openxmlformats.org/officeDocument/2006/relationships/tags" Target="../tags/tag419.xml"/><Relationship Id="rId12" Type="http://schemas.openxmlformats.org/officeDocument/2006/relationships/tags" Target="../tags/tag418.xml"/><Relationship Id="rId11" Type="http://schemas.openxmlformats.org/officeDocument/2006/relationships/tags" Target="../tags/tag417.xml"/><Relationship Id="rId10" Type="http://schemas.openxmlformats.org/officeDocument/2006/relationships/tags" Target="../tags/tag416.xml"/><Relationship Id="rId1" Type="http://schemas.openxmlformats.org/officeDocument/2006/relationships/tags" Target="../tags/tag40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435.xml"/><Relationship Id="rId6" Type="http://schemas.openxmlformats.org/officeDocument/2006/relationships/tags" Target="../tags/tag434.xml"/><Relationship Id="rId5" Type="http://schemas.openxmlformats.org/officeDocument/2006/relationships/tags" Target="../tags/tag433.xml"/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442.xml"/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" Type="http://schemas.openxmlformats.org/officeDocument/2006/relationships/tags" Target="../tags/tag439.xml"/><Relationship Id="rId3" Type="http://schemas.openxmlformats.org/officeDocument/2006/relationships/tags" Target="../tags/tag438.xml"/><Relationship Id="rId2" Type="http://schemas.openxmlformats.org/officeDocument/2006/relationships/tags" Target="../tags/tag437.xml"/><Relationship Id="rId1" Type="http://schemas.openxmlformats.org/officeDocument/2006/relationships/tags" Target="../tags/tag436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451.xml"/><Relationship Id="rId8" Type="http://schemas.openxmlformats.org/officeDocument/2006/relationships/tags" Target="../tags/tag450.xml"/><Relationship Id="rId7" Type="http://schemas.openxmlformats.org/officeDocument/2006/relationships/tags" Target="../tags/tag449.xml"/><Relationship Id="rId6" Type="http://schemas.openxmlformats.org/officeDocument/2006/relationships/tags" Target="../tags/tag448.xml"/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475.xml"/><Relationship Id="rId32" Type="http://schemas.openxmlformats.org/officeDocument/2006/relationships/tags" Target="../tags/tag474.xml"/><Relationship Id="rId31" Type="http://schemas.openxmlformats.org/officeDocument/2006/relationships/tags" Target="../tags/tag473.xml"/><Relationship Id="rId30" Type="http://schemas.openxmlformats.org/officeDocument/2006/relationships/tags" Target="../tags/tag472.xml"/><Relationship Id="rId3" Type="http://schemas.openxmlformats.org/officeDocument/2006/relationships/tags" Target="../tags/tag445.xml"/><Relationship Id="rId29" Type="http://schemas.openxmlformats.org/officeDocument/2006/relationships/tags" Target="../tags/tag471.xml"/><Relationship Id="rId28" Type="http://schemas.openxmlformats.org/officeDocument/2006/relationships/tags" Target="../tags/tag470.xml"/><Relationship Id="rId27" Type="http://schemas.openxmlformats.org/officeDocument/2006/relationships/tags" Target="../tags/tag469.xml"/><Relationship Id="rId26" Type="http://schemas.openxmlformats.org/officeDocument/2006/relationships/tags" Target="../tags/tag468.xml"/><Relationship Id="rId25" Type="http://schemas.openxmlformats.org/officeDocument/2006/relationships/tags" Target="../tags/tag467.xml"/><Relationship Id="rId24" Type="http://schemas.openxmlformats.org/officeDocument/2006/relationships/tags" Target="../tags/tag466.xml"/><Relationship Id="rId23" Type="http://schemas.openxmlformats.org/officeDocument/2006/relationships/tags" Target="../tags/tag465.xml"/><Relationship Id="rId22" Type="http://schemas.openxmlformats.org/officeDocument/2006/relationships/tags" Target="../tags/tag464.xml"/><Relationship Id="rId21" Type="http://schemas.openxmlformats.org/officeDocument/2006/relationships/tags" Target="../tags/tag463.xml"/><Relationship Id="rId20" Type="http://schemas.openxmlformats.org/officeDocument/2006/relationships/tags" Target="../tags/tag462.xml"/><Relationship Id="rId2" Type="http://schemas.openxmlformats.org/officeDocument/2006/relationships/tags" Target="../tags/tag444.xml"/><Relationship Id="rId19" Type="http://schemas.openxmlformats.org/officeDocument/2006/relationships/tags" Target="../tags/tag461.xml"/><Relationship Id="rId18" Type="http://schemas.openxmlformats.org/officeDocument/2006/relationships/tags" Target="../tags/tag460.xml"/><Relationship Id="rId17" Type="http://schemas.openxmlformats.org/officeDocument/2006/relationships/tags" Target="../tags/tag459.xml"/><Relationship Id="rId16" Type="http://schemas.openxmlformats.org/officeDocument/2006/relationships/tags" Target="../tags/tag458.xml"/><Relationship Id="rId15" Type="http://schemas.openxmlformats.org/officeDocument/2006/relationships/tags" Target="../tags/tag457.xml"/><Relationship Id="rId14" Type="http://schemas.openxmlformats.org/officeDocument/2006/relationships/tags" Target="../tags/tag456.xml"/><Relationship Id="rId13" Type="http://schemas.openxmlformats.org/officeDocument/2006/relationships/tags" Target="../tags/tag455.xml"/><Relationship Id="rId12" Type="http://schemas.openxmlformats.org/officeDocument/2006/relationships/tags" Target="../tags/tag454.xml"/><Relationship Id="rId11" Type="http://schemas.openxmlformats.org/officeDocument/2006/relationships/tags" Target="../tags/tag453.xml"/><Relationship Id="rId10" Type="http://schemas.openxmlformats.org/officeDocument/2006/relationships/tags" Target="../tags/tag452.xml"/><Relationship Id="rId1" Type="http://schemas.openxmlformats.org/officeDocument/2006/relationships/tags" Target="../tags/tag44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6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" Type="http://schemas.openxmlformats.org/officeDocument/2006/relationships/tags" Target="../tags/tag47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1.xml"/><Relationship Id="rId1" Type="http://schemas.openxmlformats.org/officeDocument/2006/relationships/tags" Target="../tags/tag48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3.xml"/><Relationship Id="rId1" Type="http://schemas.openxmlformats.org/officeDocument/2006/relationships/tags" Target="../tags/tag48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4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tags" Target="../tags/tag488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7.png"/><Relationship Id="rId1" Type="http://schemas.openxmlformats.org/officeDocument/2006/relationships/tags" Target="../tags/tag485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493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28.bin"/><Relationship Id="rId6" Type="http://schemas.openxmlformats.org/officeDocument/2006/relationships/tags" Target="../tags/tag49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7.bin"/><Relationship Id="rId3" Type="http://schemas.openxmlformats.org/officeDocument/2006/relationships/tags" Target="../tags/tag491.xml"/><Relationship Id="rId22" Type="http://schemas.openxmlformats.org/officeDocument/2006/relationships/vmlDrawing" Target="../drawings/vmlDrawing8.v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498.xml"/><Relationship Id="rId2" Type="http://schemas.openxmlformats.org/officeDocument/2006/relationships/tags" Target="../tags/tag490.xml"/><Relationship Id="rId19" Type="http://schemas.openxmlformats.org/officeDocument/2006/relationships/image" Target="../media/image21.wmf"/><Relationship Id="rId18" Type="http://schemas.openxmlformats.org/officeDocument/2006/relationships/oleObject" Target="../embeddings/oleObject31.bin"/><Relationship Id="rId17" Type="http://schemas.openxmlformats.org/officeDocument/2006/relationships/tags" Target="../tags/tag497.xml"/><Relationship Id="rId16" Type="http://schemas.openxmlformats.org/officeDocument/2006/relationships/tags" Target="../tags/tag496.xml"/><Relationship Id="rId15" Type="http://schemas.openxmlformats.org/officeDocument/2006/relationships/tags" Target="../tags/tag495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30.bin"/><Relationship Id="rId12" Type="http://schemas.openxmlformats.org/officeDocument/2006/relationships/tags" Target="../tags/tag494.xml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29.bin"/><Relationship Id="rId1" Type="http://schemas.openxmlformats.org/officeDocument/2006/relationships/tags" Target="../tags/tag489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33.bin"/><Relationship Id="rId6" Type="http://schemas.openxmlformats.org/officeDocument/2006/relationships/tags" Target="../tags/tag50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2.bin"/><Relationship Id="rId3" Type="http://schemas.openxmlformats.org/officeDocument/2006/relationships/tags" Target="../tags/tag501.xml"/><Relationship Id="rId20" Type="http://schemas.openxmlformats.org/officeDocument/2006/relationships/vmlDrawing" Target="../drawings/vmlDrawing9.vml"/><Relationship Id="rId2" Type="http://schemas.openxmlformats.org/officeDocument/2006/relationships/tags" Target="../tags/tag500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508.xml"/><Relationship Id="rId17" Type="http://schemas.openxmlformats.org/officeDocument/2006/relationships/tags" Target="../tags/tag507.xml"/><Relationship Id="rId16" Type="http://schemas.openxmlformats.org/officeDocument/2006/relationships/tags" Target="../tags/tag506.xml"/><Relationship Id="rId15" Type="http://schemas.openxmlformats.org/officeDocument/2006/relationships/tags" Target="../tags/tag505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35.bin"/><Relationship Id="rId12" Type="http://schemas.openxmlformats.org/officeDocument/2006/relationships/tags" Target="../tags/tag504.xml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34.bin"/><Relationship Id="rId1" Type="http://schemas.openxmlformats.org/officeDocument/2006/relationships/tags" Target="../tags/tag499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tags" Target="../tags/tag513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37.bin"/><Relationship Id="rId6" Type="http://schemas.openxmlformats.org/officeDocument/2006/relationships/tags" Target="../tags/tag51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6.bin"/><Relationship Id="rId33" Type="http://schemas.openxmlformats.org/officeDocument/2006/relationships/vmlDrawing" Target="../drawings/vmlDrawing10.v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531.xml"/><Relationship Id="rId30" Type="http://schemas.openxmlformats.org/officeDocument/2006/relationships/tags" Target="../tags/tag530.xml"/><Relationship Id="rId3" Type="http://schemas.openxmlformats.org/officeDocument/2006/relationships/tags" Target="../tags/tag511.xml"/><Relationship Id="rId29" Type="http://schemas.openxmlformats.org/officeDocument/2006/relationships/tags" Target="../tags/tag529.xml"/><Relationship Id="rId28" Type="http://schemas.openxmlformats.org/officeDocument/2006/relationships/tags" Target="../tags/tag528.xml"/><Relationship Id="rId27" Type="http://schemas.openxmlformats.org/officeDocument/2006/relationships/tags" Target="../tags/tag527.xml"/><Relationship Id="rId26" Type="http://schemas.openxmlformats.org/officeDocument/2006/relationships/tags" Target="../tags/tag526.xml"/><Relationship Id="rId25" Type="http://schemas.openxmlformats.org/officeDocument/2006/relationships/tags" Target="../tags/tag525.xml"/><Relationship Id="rId24" Type="http://schemas.openxmlformats.org/officeDocument/2006/relationships/tags" Target="../tags/tag524.xml"/><Relationship Id="rId23" Type="http://schemas.openxmlformats.org/officeDocument/2006/relationships/tags" Target="../tags/tag523.xml"/><Relationship Id="rId22" Type="http://schemas.openxmlformats.org/officeDocument/2006/relationships/tags" Target="../tags/tag522.xml"/><Relationship Id="rId21" Type="http://schemas.openxmlformats.org/officeDocument/2006/relationships/tags" Target="../tags/tag521.xml"/><Relationship Id="rId20" Type="http://schemas.openxmlformats.org/officeDocument/2006/relationships/tags" Target="../tags/tag520.xml"/><Relationship Id="rId2" Type="http://schemas.openxmlformats.org/officeDocument/2006/relationships/tags" Target="../tags/tag510.xml"/><Relationship Id="rId19" Type="http://schemas.openxmlformats.org/officeDocument/2006/relationships/tags" Target="../tags/tag519.xml"/><Relationship Id="rId18" Type="http://schemas.openxmlformats.org/officeDocument/2006/relationships/tags" Target="../tags/tag518.xml"/><Relationship Id="rId17" Type="http://schemas.openxmlformats.org/officeDocument/2006/relationships/tags" Target="../tags/tag517.xml"/><Relationship Id="rId16" Type="http://schemas.openxmlformats.org/officeDocument/2006/relationships/tags" Target="../tags/tag516.xml"/><Relationship Id="rId15" Type="http://schemas.openxmlformats.org/officeDocument/2006/relationships/tags" Target="../tags/tag515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39.bin"/><Relationship Id="rId12" Type="http://schemas.openxmlformats.org/officeDocument/2006/relationships/tags" Target="../tags/tag514.xml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38.bin"/><Relationship Id="rId1" Type="http://schemas.openxmlformats.org/officeDocument/2006/relationships/tags" Target="../tags/tag509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536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41.bin"/><Relationship Id="rId6" Type="http://schemas.openxmlformats.org/officeDocument/2006/relationships/tags" Target="../tags/tag535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40.bin"/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538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43.bin"/><Relationship Id="rId12" Type="http://schemas.openxmlformats.org/officeDocument/2006/relationships/tags" Target="../tags/tag537.xml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42.bin"/><Relationship Id="rId1" Type="http://schemas.openxmlformats.org/officeDocument/2006/relationships/tags" Target="../tags/tag532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tags" Target="../tags/tag543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45.bin"/><Relationship Id="rId6" Type="http://schemas.openxmlformats.org/officeDocument/2006/relationships/tags" Target="../tags/tag54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44.bin"/><Relationship Id="rId3" Type="http://schemas.openxmlformats.org/officeDocument/2006/relationships/tags" Target="../tags/tag541.xml"/><Relationship Id="rId2" Type="http://schemas.openxmlformats.org/officeDocument/2006/relationships/tags" Target="../tags/tag540.xml"/><Relationship Id="rId17" Type="http://schemas.openxmlformats.org/officeDocument/2006/relationships/vmlDrawing" Target="../drawings/vmlDrawing12.v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545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47.bin"/><Relationship Id="rId12" Type="http://schemas.openxmlformats.org/officeDocument/2006/relationships/tags" Target="../tags/tag544.xml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46.bin"/><Relationship Id="rId1" Type="http://schemas.openxmlformats.org/officeDocument/2006/relationships/tags" Target="../tags/tag539.xml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tags" Target="../tags/tag550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49.bin"/><Relationship Id="rId6" Type="http://schemas.openxmlformats.org/officeDocument/2006/relationships/tags" Target="../tags/tag549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48.bin"/><Relationship Id="rId3" Type="http://schemas.openxmlformats.org/officeDocument/2006/relationships/tags" Target="../tags/tag548.xml"/><Relationship Id="rId25" Type="http://schemas.openxmlformats.org/officeDocument/2006/relationships/vmlDrawing" Target="../drawings/vmlDrawing13.v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560.xml"/><Relationship Id="rId22" Type="http://schemas.openxmlformats.org/officeDocument/2006/relationships/tags" Target="../tags/tag559.xml"/><Relationship Id="rId21" Type="http://schemas.openxmlformats.org/officeDocument/2006/relationships/tags" Target="../tags/tag558.xml"/><Relationship Id="rId20" Type="http://schemas.openxmlformats.org/officeDocument/2006/relationships/tags" Target="../tags/tag557.xml"/><Relationship Id="rId2" Type="http://schemas.openxmlformats.org/officeDocument/2006/relationships/tags" Target="../tags/tag547.xml"/><Relationship Id="rId19" Type="http://schemas.openxmlformats.org/officeDocument/2006/relationships/tags" Target="../tags/tag556.xml"/><Relationship Id="rId18" Type="http://schemas.openxmlformats.org/officeDocument/2006/relationships/tags" Target="../tags/tag555.xml"/><Relationship Id="rId17" Type="http://schemas.openxmlformats.org/officeDocument/2006/relationships/tags" Target="../tags/tag554.xml"/><Relationship Id="rId16" Type="http://schemas.openxmlformats.org/officeDocument/2006/relationships/tags" Target="../tags/tag553.xml"/><Relationship Id="rId15" Type="http://schemas.openxmlformats.org/officeDocument/2006/relationships/tags" Target="../tags/tag552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51.bin"/><Relationship Id="rId12" Type="http://schemas.openxmlformats.org/officeDocument/2006/relationships/tags" Target="../tags/tag551.xml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50.bin"/><Relationship Id="rId1" Type="http://schemas.openxmlformats.org/officeDocument/2006/relationships/tags" Target="../tags/tag546.xml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564.xml"/><Relationship Id="rId3" Type="http://schemas.openxmlformats.org/officeDocument/2006/relationships/tags" Target="../tags/tag563.xml"/><Relationship Id="rId2" Type="http://schemas.openxmlformats.org/officeDocument/2006/relationships/tags" Target="../tags/tag562.xml"/><Relationship Id="rId1" Type="http://schemas.openxmlformats.org/officeDocument/2006/relationships/tags" Target="../tags/tag561.xml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568.xml"/><Relationship Id="rId3" Type="http://schemas.openxmlformats.org/officeDocument/2006/relationships/tags" Target="../tags/tag567.xml"/><Relationship Id="rId2" Type="http://schemas.openxmlformats.org/officeDocument/2006/relationships/tags" Target="../tags/tag566.xml"/><Relationship Id="rId1" Type="http://schemas.openxmlformats.org/officeDocument/2006/relationships/tags" Target="../tags/tag565.xml"/></Relationships>
</file>

<file path=ppt/slides/_rels/slide8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574.xml"/><Relationship Id="rId5" Type="http://schemas.openxmlformats.org/officeDocument/2006/relationships/tags" Target="../tags/tag573.xml"/><Relationship Id="rId4" Type="http://schemas.openxmlformats.org/officeDocument/2006/relationships/tags" Target="../tags/tag572.xml"/><Relationship Id="rId3" Type="http://schemas.openxmlformats.org/officeDocument/2006/relationships/tags" Target="../tags/tag571.xml"/><Relationship Id="rId2" Type="http://schemas.openxmlformats.org/officeDocument/2006/relationships/tags" Target="../tags/tag570.xml"/><Relationship Id="rId1" Type="http://schemas.openxmlformats.org/officeDocument/2006/relationships/tags" Target="../tags/tag569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583.xml"/><Relationship Id="rId8" Type="http://schemas.openxmlformats.org/officeDocument/2006/relationships/tags" Target="../tags/tag582.xml"/><Relationship Id="rId7" Type="http://schemas.openxmlformats.org/officeDocument/2006/relationships/tags" Target="../tags/tag581.xml"/><Relationship Id="rId6" Type="http://schemas.openxmlformats.org/officeDocument/2006/relationships/tags" Target="../tags/tag580.xml"/><Relationship Id="rId5" Type="http://schemas.openxmlformats.org/officeDocument/2006/relationships/tags" Target="../tags/tag579.xml"/><Relationship Id="rId4" Type="http://schemas.openxmlformats.org/officeDocument/2006/relationships/tags" Target="../tags/tag578.xml"/><Relationship Id="rId3" Type="http://schemas.openxmlformats.org/officeDocument/2006/relationships/tags" Target="../tags/tag577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95.xml"/><Relationship Id="rId20" Type="http://schemas.openxmlformats.org/officeDocument/2006/relationships/tags" Target="../tags/tag594.xml"/><Relationship Id="rId2" Type="http://schemas.openxmlformats.org/officeDocument/2006/relationships/tags" Target="../tags/tag576.xml"/><Relationship Id="rId19" Type="http://schemas.openxmlformats.org/officeDocument/2006/relationships/tags" Target="../tags/tag593.xml"/><Relationship Id="rId18" Type="http://schemas.openxmlformats.org/officeDocument/2006/relationships/tags" Target="../tags/tag592.xml"/><Relationship Id="rId17" Type="http://schemas.openxmlformats.org/officeDocument/2006/relationships/tags" Target="../tags/tag591.xml"/><Relationship Id="rId16" Type="http://schemas.openxmlformats.org/officeDocument/2006/relationships/tags" Target="../tags/tag590.xml"/><Relationship Id="rId15" Type="http://schemas.openxmlformats.org/officeDocument/2006/relationships/tags" Target="../tags/tag589.xml"/><Relationship Id="rId14" Type="http://schemas.openxmlformats.org/officeDocument/2006/relationships/tags" Target="../tags/tag588.xml"/><Relationship Id="rId13" Type="http://schemas.openxmlformats.org/officeDocument/2006/relationships/tags" Target="../tags/tag587.xml"/><Relationship Id="rId12" Type="http://schemas.openxmlformats.org/officeDocument/2006/relationships/tags" Target="../tags/tag586.xml"/><Relationship Id="rId11" Type="http://schemas.openxmlformats.org/officeDocument/2006/relationships/tags" Target="../tags/tag585.xml"/><Relationship Id="rId10" Type="http://schemas.openxmlformats.org/officeDocument/2006/relationships/tags" Target="../tags/tag584.xml"/><Relationship Id="rId1" Type="http://schemas.openxmlformats.org/officeDocument/2006/relationships/tags" Target="../tags/tag5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761095" y="3290570"/>
            <a:ext cx="3055620" cy="18808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动态规划基本思想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761095" y="3290570"/>
            <a:ext cx="3055620" cy="20967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动态规划基本思想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6355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动态规划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基本思想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1494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</a:rPr>
              <a:t>动态规划常用场景：</a:t>
            </a:r>
            <a:endParaRPr lang="zh-CN" altLang="en-US" sz="2000" b="1">
              <a:solidFill>
                <a:srgbClr val="249087"/>
              </a:solidFill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主要用于求解以</a:t>
            </a:r>
            <a:r>
              <a:rPr lang="zh-CN" altLang="en-US" sz="2000" b="1">
                <a:solidFill>
                  <a:srgbClr val="FF0000"/>
                </a:solidFill>
              </a:rPr>
              <a:t>时间划分阶段</a:t>
            </a:r>
            <a:r>
              <a:rPr lang="zh-CN" altLang="en-US" sz="2000" b="1"/>
              <a:t>的动态过程的优化问题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动态规划算法通常用于求解具有某种</a:t>
            </a:r>
            <a:r>
              <a:rPr lang="zh-CN" altLang="en-US" sz="2000" b="1">
                <a:solidFill>
                  <a:srgbClr val="FF0000"/>
                </a:solidFill>
              </a:rPr>
              <a:t>最优性质</a:t>
            </a:r>
            <a:r>
              <a:rPr lang="zh-CN" altLang="en-US" sz="2000" b="1"/>
              <a:t>的问题</a:t>
            </a:r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0" y="2767965"/>
            <a:ext cx="358902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</a:rPr>
              <a:t>动态规划基本</a:t>
            </a:r>
            <a:r>
              <a:rPr lang="zh-CN" altLang="en-US" sz="2000" b="1">
                <a:solidFill>
                  <a:srgbClr val="249087"/>
                </a:solidFill>
              </a:rPr>
              <a:t>要素：</a:t>
            </a:r>
            <a:endParaRPr lang="zh-CN" altLang="en-US" sz="2000" b="1">
              <a:solidFill>
                <a:srgbClr val="249087"/>
              </a:solidFill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最优子结构性质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子问题重叠性质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自底向上的求解方式</a:t>
            </a:r>
            <a:endParaRPr lang="zh-CN" altLang="en-US" sz="2000" b="1"/>
          </a:p>
        </p:txBody>
      </p:sp>
      <p:sp>
        <p:nvSpPr>
          <p:cNvPr id="2" name="文本框 1"/>
          <p:cNvSpPr txBox="1"/>
          <p:nvPr/>
        </p:nvSpPr>
        <p:spPr>
          <a:xfrm>
            <a:off x="0" y="1797050"/>
            <a:ext cx="12192000" cy="1119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</a:rPr>
              <a:t>动态规划基本</a:t>
            </a:r>
            <a:r>
              <a:rPr lang="zh-CN" altLang="en-US" sz="2000" b="1">
                <a:solidFill>
                  <a:srgbClr val="249087"/>
                </a:solidFill>
              </a:rPr>
              <a:t>思想：</a:t>
            </a:r>
            <a:endParaRPr lang="zh-CN" altLang="en-US" sz="2000" b="1">
              <a:solidFill>
                <a:srgbClr val="249087"/>
              </a:solidFill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经分解得到的各个子问题往往</a:t>
            </a:r>
            <a:r>
              <a:rPr lang="zh-CN" altLang="en-US" sz="2000" b="1">
                <a:solidFill>
                  <a:srgbClr val="FF0000"/>
                </a:solidFill>
              </a:rPr>
              <a:t>不是相互独立</a:t>
            </a:r>
            <a:r>
              <a:rPr lang="zh-CN" altLang="en-US" sz="2000" b="1"/>
              <a:t>的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在求解过程中，将已解决的子问题的最优值进行</a:t>
            </a:r>
            <a:r>
              <a:rPr lang="zh-CN" altLang="en-US" sz="2000" b="1">
                <a:solidFill>
                  <a:srgbClr val="FF0000"/>
                </a:solidFill>
              </a:rPr>
              <a:t>保存</a:t>
            </a:r>
            <a:r>
              <a:rPr lang="zh-CN" altLang="en-US" sz="2000" b="1"/>
              <a:t>，在需要时可以轻松</a:t>
            </a:r>
            <a:r>
              <a:rPr lang="zh-CN" altLang="en-US" sz="2000" b="1">
                <a:solidFill>
                  <a:srgbClr val="FF0000"/>
                </a:solidFill>
              </a:rPr>
              <a:t>取出</a:t>
            </a:r>
            <a:endParaRPr lang="zh-CN" altLang="en-US" sz="2000" b="1"/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/>
          </a:p>
        </p:txBody>
      </p:sp>
      <p:sp>
        <p:nvSpPr>
          <p:cNvPr id="6" name="文本框 5"/>
          <p:cNvSpPr txBox="1"/>
          <p:nvPr/>
        </p:nvSpPr>
        <p:spPr>
          <a:xfrm>
            <a:off x="0" y="4090035"/>
            <a:ext cx="1219136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</a:rPr>
              <a:t>动态规划解题</a:t>
            </a:r>
            <a:r>
              <a:rPr lang="zh-CN" altLang="en-US" sz="2000" b="1">
                <a:solidFill>
                  <a:srgbClr val="249087"/>
                </a:solidFill>
              </a:rPr>
              <a:t>步骤：</a:t>
            </a:r>
            <a:endParaRPr lang="zh-CN" altLang="en-US" sz="2000" b="1">
              <a:solidFill>
                <a:srgbClr val="249087"/>
              </a:solidFill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分析最优解的性质，刻画最优解的结构特征--考察是否</a:t>
            </a:r>
            <a:r>
              <a:rPr lang="zh-CN" altLang="en-US" sz="2000" b="1">
                <a:solidFill>
                  <a:srgbClr val="FF0000"/>
                </a:solidFill>
              </a:rPr>
              <a:t>适合</a:t>
            </a:r>
            <a:r>
              <a:rPr lang="zh-CN" altLang="en-US" sz="2000" b="1"/>
              <a:t>采用动态规划法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递归定义最优值(即建立</a:t>
            </a:r>
            <a:r>
              <a:rPr lang="zh-CN" altLang="en-US" sz="2000" b="1">
                <a:solidFill>
                  <a:srgbClr val="FF0000"/>
                </a:solidFill>
              </a:rPr>
              <a:t>递归式</a:t>
            </a:r>
            <a:r>
              <a:rPr lang="zh-CN" altLang="en-US" sz="2000" b="1"/>
              <a:t>或动态规划方程)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以</a:t>
            </a:r>
            <a:r>
              <a:rPr lang="zh-CN" altLang="en-US" sz="2000" b="1">
                <a:solidFill>
                  <a:srgbClr val="FF0000"/>
                </a:solidFill>
              </a:rPr>
              <a:t>自底向上</a:t>
            </a:r>
            <a:r>
              <a:rPr lang="zh-CN" altLang="en-US" sz="2000" b="1"/>
              <a:t>的方式计算出最优值，并</a:t>
            </a:r>
            <a:r>
              <a:rPr lang="zh-CN" altLang="en-US" sz="2000" b="1">
                <a:solidFill>
                  <a:srgbClr val="FF0000"/>
                </a:solidFill>
              </a:rPr>
              <a:t>记录</a:t>
            </a:r>
            <a:r>
              <a:rPr lang="zh-CN" altLang="en-US" sz="2000" b="1"/>
              <a:t>相关信息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根据计算最优值时得到的信息，</a:t>
            </a:r>
            <a:r>
              <a:rPr lang="zh-CN" altLang="en-US" sz="2000" b="1">
                <a:solidFill>
                  <a:srgbClr val="FF0000"/>
                </a:solidFill>
              </a:rPr>
              <a:t>构造</a:t>
            </a:r>
            <a:r>
              <a:rPr lang="zh-CN" altLang="en-US" sz="2000" b="1"/>
              <a:t>出最优解</a:t>
            </a:r>
            <a:endParaRPr lang="zh-CN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7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6355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动态规划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基本思想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5" y="1041400"/>
            <a:ext cx="12191365" cy="1080000"/>
          </a:xfrm>
          <a:prstGeom prst="rect">
            <a:avLst/>
          </a:prstGeom>
          <a:ln w="63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原问题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5" y="1041400"/>
            <a:ext cx="1800225" cy="108000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5" y="1041400"/>
            <a:ext cx="180022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5" y="1041400"/>
            <a:ext cx="4145915" cy="1080135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041400"/>
            <a:ext cx="180022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0225" y="1041400"/>
            <a:ext cx="2346325" cy="108013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剩余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860" y="1041400"/>
            <a:ext cx="234632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剩余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270" y="1041400"/>
            <a:ext cx="414591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270" y="1041400"/>
            <a:ext cx="7341235" cy="1080135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                 	     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0" y="1041400"/>
            <a:ext cx="414591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145915" y="1041400"/>
            <a:ext cx="3168650" cy="108013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剩余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132580" y="1041400"/>
            <a:ext cx="320992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剩余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-27940" y="1041400"/>
            <a:ext cx="734250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-27940" y="1041400"/>
            <a:ext cx="12191365" cy="1080000"/>
          </a:xfrm>
          <a:prstGeom prst="rect">
            <a:avLst/>
          </a:prstGeom>
          <a:ln w="63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原问题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270" y="1041400"/>
            <a:ext cx="734250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358380" y="1041400"/>
            <a:ext cx="4845050" cy="1080135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原问题剩余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358380" y="1041400"/>
            <a:ext cx="4832985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原问题剩余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-40005" y="1041400"/>
            <a:ext cx="12231370" cy="10801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原问题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6" grpId="0" bldLvl="0" animBg="1"/>
      <p:bldP spid="10" grpId="0" bldLvl="0" animBg="1"/>
      <p:bldP spid="16" grpId="0" bldLvl="0" animBg="1"/>
      <p:bldP spid="17" grpId="0" bldLvl="0" animBg="1"/>
      <p:bldP spid="14" grpId="0" bldLvl="0" animBg="1"/>
      <p:bldP spid="37" grpId="0" bldLvl="0" animBg="1"/>
      <p:bldP spid="38" grpId="0" bldLvl="0" animBg="1"/>
      <p:bldP spid="39" grpId="0" bldLvl="0" animBg="1"/>
      <p:bldP spid="42" grpId="0" bldLvl="0" animBg="1"/>
      <p:bldP spid="45" grpId="0" bldLvl="0" animBg="1"/>
      <p:bldP spid="47" grpId="0" bldLvl="0" animBg="1"/>
      <p:bldP spid="50" grpId="0" bldLvl="0" animBg="1"/>
      <p:bldP spid="53" grpId="0" bldLvl="0" animBg="1"/>
      <p:bldP spid="46" grpId="0" animBg="1"/>
      <p:bldP spid="55" grpId="0" bldLvl="0" animBg="1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761095" y="3290570"/>
            <a:ext cx="3055620" cy="235394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最优二叉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0" y="782320"/>
            <a:ext cx="1219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给定n个矩阵{A1,A2,…,A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}，其中A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与A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(i=1,2,…,n-1)是可乘的。用加括号的方法表示矩阵连乘的次序，不同加括号的方法所对应的计算次序是不同的。找出一种最优的计算次序，使得n个矩阵元素相乘的次数最小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0" y="179705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关键信息：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个矩阵；任意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两个矩阵可以相乘；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不考虑不相邻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矩阵的乘法；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加括号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表示矩阵连乘的次序；括号一直加到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最里层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只剩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矩阵相乘；找出n个矩阵相乘的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次数最小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2503805"/>
            <a:ext cx="525653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以下矩阵连乘是否已经用括号划分完成？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)(A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((A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1745" y="3119120"/>
            <a:ext cx="11188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没完成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4133850"/>
            <a:ext cx="11354435" cy="2247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(3*4)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(4*2)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(2*3)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，求以下相乘次序的矩阵连乘次数：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矩阵相乘次数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的列数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91335" y="5681345"/>
            <a:ext cx="2445385" cy="675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4*2*3=24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=3*4*2=24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13250" y="5681345"/>
            <a:ext cx="1644015" cy="675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(4*3)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(3*2)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57265" y="5681345"/>
            <a:ext cx="2969895" cy="675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=3*4*3=36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=3*2*3=18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27160" y="5681345"/>
            <a:ext cx="3166745" cy="675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=24+36=60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=24+18=42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42894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9175" y="1398270"/>
            <a:ext cx="666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084705"/>
            <a:ext cx="4289425" cy="69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6670" y="2382520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0" y="3081020"/>
            <a:ext cx="4289425" cy="1040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09315" y="3588385"/>
            <a:ext cx="6038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278630"/>
            <a:ext cx="4289425" cy="1091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11630" y="3393440"/>
            <a:ext cx="1797685" cy="788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43760" y="4599305"/>
            <a:ext cx="1993265" cy="770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75430" y="4599305"/>
            <a:ext cx="4306570" cy="974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4505" y="5165090"/>
            <a:ext cx="2597785" cy="697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当矩阵个数越来越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穷举法效率就非常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4505" y="6033770"/>
            <a:ext cx="2597785" cy="697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当矩阵个数越来越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适合使用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动态规划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38770" y="4599305"/>
            <a:ext cx="4170680" cy="1112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8" grpId="0"/>
      <p:bldP spid="14" grpId="0"/>
      <p:bldP spid="15" grpId="0"/>
      <p:bldP spid="18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42894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9175" y="1398270"/>
            <a:ext cx="666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084705"/>
            <a:ext cx="4289425" cy="69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6670" y="2382520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0" y="3081020"/>
            <a:ext cx="4289425" cy="1040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13370" y="3556000"/>
            <a:ext cx="14566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1+1=2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95425" y="3393440"/>
            <a:ext cx="1797685" cy="788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18485" y="3393440"/>
            <a:ext cx="1591310" cy="727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18"/>
          <p:cNvSpPr/>
          <p:nvPr/>
        </p:nvSpPr>
        <p:spPr>
          <a:xfrm>
            <a:off x="412115" y="241300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8"/>
          <p:cNvSpPr/>
          <p:nvPr/>
        </p:nvSpPr>
        <p:spPr>
          <a:xfrm>
            <a:off x="2377440" y="33934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553585" y="3393440"/>
            <a:ext cx="1667510" cy="727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58865" y="3393440"/>
            <a:ext cx="1064895" cy="727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517525" y="139827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58"/>
          <p:cNvSpPr/>
          <p:nvPr/>
        </p:nvSpPr>
        <p:spPr>
          <a:xfrm>
            <a:off x="3649980" y="339344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: 圆角 18"/>
          <p:cNvSpPr/>
          <p:nvPr/>
        </p:nvSpPr>
        <p:spPr>
          <a:xfrm>
            <a:off x="2058670" y="373697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58"/>
          <p:cNvSpPr/>
          <p:nvPr/>
        </p:nvSpPr>
        <p:spPr>
          <a:xfrm>
            <a:off x="4289425" y="373697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右大括号 26"/>
          <p:cNvSpPr/>
          <p:nvPr/>
        </p:nvSpPr>
        <p:spPr>
          <a:xfrm>
            <a:off x="7223760" y="3393440"/>
            <a:ext cx="287020" cy="727075"/>
          </a:xfrm>
          <a:prstGeom prst="rightBrace">
            <a:avLst>
              <a:gd name="adj1" fmla="val 92818"/>
              <a:gd name="adj2" fmla="val 50000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2" grpId="0" bldLvl="0" animBg="1"/>
      <p:bldP spid="59" grpId="0" animBg="1"/>
      <p:bldP spid="21" grpId="0" animBg="1"/>
      <p:bldP spid="24" grpId="1" animBg="1"/>
      <p:bldP spid="12" grpId="1" animBg="1"/>
      <p:bldP spid="59" grpId="1" animBg="1"/>
      <p:bldP spid="21" grpId="1" animBg="1"/>
      <p:bldP spid="22" grpId="0" bldLvl="0" animBg="1"/>
      <p:bldP spid="24" grpId="2" animBg="1"/>
      <p:bldP spid="25" grpId="0" bldLvl="0" animBg="1"/>
      <p:bldP spid="59" grpId="2" animBg="1"/>
      <p:bldP spid="2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42894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9175" y="1398270"/>
            <a:ext cx="666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084705"/>
            <a:ext cx="4289425" cy="69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6670" y="2382520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0" y="3081020"/>
            <a:ext cx="4289425" cy="1040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457200">
              <a:buFont typeface="Wingdings" panose="05000000000000000000" charset="0"/>
              <a:buNone/>
            </a:pP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13840" y="3429000"/>
            <a:ext cx="612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4278630"/>
            <a:ext cx="4289425" cy="1303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43760" y="4599305"/>
            <a:ext cx="2145030" cy="982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88790" y="4599305"/>
            <a:ext cx="1878330" cy="1070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18"/>
          <p:cNvSpPr/>
          <p:nvPr/>
        </p:nvSpPr>
        <p:spPr>
          <a:xfrm>
            <a:off x="494030" y="3429000"/>
            <a:ext cx="940435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8"/>
          <p:cNvSpPr/>
          <p:nvPr/>
        </p:nvSpPr>
        <p:spPr>
          <a:xfrm>
            <a:off x="3082290" y="4632960"/>
            <a:ext cx="92583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5431155" y="526161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58"/>
          <p:cNvSpPr/>
          <p:nvPr/>
        </p:nvSpPr>
        <p:spPr>
          <a:xfrm>
            <a:off x="494030" y="141605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58"/>
          <p:cNvSpPr/>
          <p:nvPr/>
        </p:nvSpPr>
        <p:spPr>
          <a:xfrm>
            <a:off x="4801235" y="460819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90615" y="4599305"/>
            <a:ext cx="1680845" cy="982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25740" y="4608195"/>
            <a:ext cx="1127760" cy="974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: 圆角 18"/>
          <p:cNvSpPr/>
          <p:nvPr/>
        </p:nvSpPr>
        <p:spPr>
          <a:xfrm>
            <a:off x="2781300" y="5287010"/>
            <a:ext cx="869315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右大括号 28"/>
          <p:cNvSpPr/>
          <p:nvPr>
            <p:custDataLst>
              <p:tags r:id="rId5"/>
            </p:custDataLst>
          </p:nvPr>
        </p:nvSpPr>
        <p:spPr>
          <a:xfrm>
            <a:off x="8909685" y="4632960"/>
            <a:ext cx="287020" cy="948690"/>
          </a:xfrm>
          <a:prstGeom prst="rightBrace">
            <a:avLst>
              <a:gd name="adj1" fmla="val 92818"/>
              <a:gd name="adj2" fmla="val 50000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9507855" y="4903470"/>
            <a:ext cx="1703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2+1+2=5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2" grpId="0" animBg="1"/>
      <p:bldP spid="21" grpId="0" animBg="1"/>
      <p:bldP spid="25" grpId="0" bldLvl="0" animBg="1"/>
      <p:bldP spid="21" grpId="1" animBg="1"/>
      <p:bldP spid="24" grpId="1" animBg="1"/>
      <p:bldP spid="12" grpId="1" animBg="1"/>
      <p:bldP spid="25" grpId="1" bldLvl="0" animBg="1"/>
      <p:bldP spid="28" grpId="0" bldLvl="0" animBg="1"/>
      <p:bldP spid="24" grpId="2" animBg="1"/>
      <p:bldP spid="21" grpId="2" animBg="1"/>
      <p:bldP spid="59" grpId="0" animBg="1"/>
      <p:bldP spid="29" grpId="0" bldLvl="0" animBg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最优子结构性质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97630" y="1209675"/>
            <a:ext cx="8294370" cy="52908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*q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最佳分割的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设n个矩阵连乘的最佳计算次序为(A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连乘的计算次序一定是最优的，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连乘的计算次序也一定是最优的。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反证法:假设(A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)连乘的计算次序不是最优的，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连乘的计算次序不是最优的。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令a：(A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)连乘的乘法次数，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b：(A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连乘的乘法次数，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)连乘的乘法次数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则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 = a + b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由于a不是最小的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或b不是最小的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，则c肯定不是最小的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不是最优决策，矛盾，故假设不真，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两个子问题的计算次序都是最优的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215390"/>
            <a:ext cx="3897630" cy="5261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②缺啥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补啥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①复述一遍最优子结构的定义：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前提：有总体最优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有局部最优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③用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反证法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质疑结论：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局部不是最优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④写质疑的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⑤证明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矛盾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指出矛盾，说明质疑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失效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肯定结论：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局部是最优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55965" y="1215390"/>
            <a:ext cx="3836035" cy="530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//p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号矩阵（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1≤i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≤n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0320" y="1844040"/>
            <a:ext cx="12150725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0" y="3058160"/>
            <a:ext cx="12150725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994150"/>
            <a:ext cx="12150725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0320" y="5475605"/>
            <a:ext cx="12150725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690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递归定义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最优值：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描述子问题最优：最少乘法次数的相乘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0" y="1473200"/>
            <a:ext cx="2223135" cy="433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①声明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975485" y="1473200"/>
            <a:ext cx="6730365" cy="434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设有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i+1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的行数为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，列数为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lang="en-US" altLang="zh-CN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0" y="1906905"/>
            <a:ext cx="3302635" cy="433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②记录所有矩阵的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行列：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302635" y="1906270"/>
            <a:ext cx="8890000" cy="732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设一维数组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，长度为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j+1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p[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]=A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p[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]=A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数；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p[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]=A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p[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]=A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以此类推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18"/>
          <p:cNvSpPr/>
          <p:nvPr>
            <p:custDataLst>
              <p:tags r:id="rId7"/>
            </p:custDataLst>
          </p:nvPr>
        </p:nvSpPr>
        <p:spPr>
          <a:xfrm>
            <a:off x="9096375" y="1938020"/>
            <a:ext cx="586105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18"/>
          <p:cNvSpPr/>
          <p:nvPr>
            <p:custDataLst>
              <p:tags r:id="rId8"/>
            </p:custDataLst>
          </p:nvPr>
        </p:nvSpPr>
        <p:spPr>
          <a:xfrm>
            <a:off x="3378200" y="2255520"/>
            <a:ext cx="586105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0" y="2640330"/>
            <a:ext cx="3537585" cy="433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③记录矩阵最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少乘法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467100" y="2640330"/>
            <a:ext cx="8725535" cy="1939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设二维数组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，行数为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1≤i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≤n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，列数为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1≤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≤n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为放置隔板的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m[i][j]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：矩阵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的最少连乘次数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)的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最少连乘次数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9386570" y="2927350"/>
            <a:ext cx="2805430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k=2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1654810"/>
          <a:ext cx="4923155" cy="102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496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308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795" y="1242060"/>
            <a:ext cx="49129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记录所有矩阵的行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0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36" name="矩形: 圆角 18"/>
          <p:cNvSpPr/>
          <p:nvPr/>
        </p:nvSpPr>
        <p:spPr>
          <a:xfrm>
            <a:off x="7574915" y="1242060"/>
            <a:ext cx="72580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18"/>
          <p:cNvSpPr/>
          <p:nvPr/>
        </p:nvSpPr>
        <p:spPr>
          <a:xfrm>
            <a:off x="311150" y="222885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8"/>
          <p:cNvSpPr/>
          <p:nvPr/>
        </p:nvSpPr>
        <p:spPr>
          <a:xfrm>
            <a:off x="1739265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18"/>
          <p:cNvSpPr/>
          <p:nvPr/>
        </p:nvSpPr>
        <p:spPr>
          <a:xfrm>
            <a:off x="1266825" y="222885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18"/>
          <p:cNvSpPr/>
          <p:nvPr/>
        </p:nvSpPr>
        <p:spPr>
          <a:xfrm>
            <a:off x="2087880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18"/>
          <p:cNvSpPr/>
          <p:nvPr/>
        </p:nvSpPr>
        <p:spPr>
          <a:xfrm>
            <a:off x="2938145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/>
        </p:nvSpPr>
        <p:spPr>
          <a:xfrm>
            <a:off x="2277745" y="2225675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/>
        </p:nvSpPr>
        <p:spPr>
          <a:xfrm>
            <a:off x="3301365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18"/>
          <p:cNvSpPr/>
          <p:nvPr/>
        </p:nvSpPr>
        <p:spPr>
          <a:xfrm>
            <a:off x="4137025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3288665" y="2225675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18"/>
          <p:cNvSpPr/>
          <p:nvPr/>
        </p:nvSpPr>
        <p:spPr>
          <a:xfrm>
            <a:off x="4575175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: 圆角 18"/>
          <p:cNvSpPr/>
          <p:nvPr/>
        </p:nvSpPr>
        <p:spPr>
          <a:xfrm>
            <a:off x="5615305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: 圆角 18"/>
          <p:cNvSpPr/>
          <p:nvPr/>
        </p:nvSpPr>
        <p:spPr>
          <a:xfrm>
            <a:off x="4244340" y="2225675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18"/>
          <p:cNvSpPr/>
          <p:nvPr/>
        </p:nvSpPr>
        <p:spPr>
          <a:xfrm>
            <a:off x="5963920" y="782320"/>
            <a:ext cx="34861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10" grpId="0" animBg="1"/>
      <p:bldP spid="36" grpId="0" animBg="1"/>
      <p:bldP spid="11" grpId="0" bldLvl="0" animBg="1"/>
      <p:bldP spid="12" grpId="0" bldLvl="0" animBg="1"/>
      <p:bldP spid="11" grpId="1" animBg="1"/>
      <p:bldP spid="12" grpId="1" animBg="1"/>
      <p:bldP spid="13" grpId="0" animBg="1"/>
      <p:bldP spid="14" grpId="0" animBg="1"/>
      <p:bldP spid="15" grpId="0" animBg="1"/>
      <p:bldP spid="13" grpId="1" animBg="1"/>
      <p:bldP spid="14" grpId="1" animBg="1"/>
      <p:bldP spid="15" grpId="1" animBg="1"/>
      <p:bldP spid="16" grpId="0" animBg="1"/>
      <p:bldP spid="17" grpId="0" animBg="1"/>
      <p:bldP spid="18" grpId="0" animBg="1"/>
      <p:bldP spid="16" grpId="1" animBg="1"/>
      <p:bldP spid="17" grpId="1" animBg="1"/>
      <p:bldP spid="18" grpId="1" animBg="1"/>
      <p:bldP spid="19" grpId="0" animBg="1"/>
      <p:bldP spid="21" grpId="0" animBg="1"/>
      <p:bldP spid="22" grpId="0" animBg="1"/>
      <p:bldP spid="19" grpId="1" animBg="1"/>
      <p:bldP spid="21" grpId="1" animBg="1"/>
      <p:bldP spid="22" grpId="1" animBg="1"/>
      <p:bldP spid="23" grpId="0" bldLvl="0" animBg="1"/>
      <p:bldP spid="24" grpId="0" bldLvl="0" animBg="1"/>
      <p:bldP spid="23" grpId="1" animBg="1"/>
      <p:bldP spid="24" grpId="1" animBg="1"/>
      <p:bldP spid="3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1654810"/>
          <a:ext cx="4923155" cy="102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496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308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795" y="1242060"/>
            <a:ext cx="49129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记录所有矩阵的行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0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36" name="矩形: 圆角 18"/>
          <p:cNvSpPr/>
          <p:nvPr/>
        </p:nvSpPr>
        <p:spPr>
          <a:xfrm>
            <a:off x="8311515" y="1242060"/>
            <a:ext cx="72580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8973185" y="1242060"/>
            <a:ext cx="96774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268224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309499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2458720" y="3808730"/>
            <a:ext cx="0" cy="2253615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423410" y="4312920"/>
            <a:ext cx="432435" cy="1666875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0795" y="6062345"/>
            <a:ext cx="412432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m[1][2]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61815" y="6062345"/>
            <a:ext cx="44424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m[2][4]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" grpId="0"/>
      <p:bldP spid="36" grpId="1" animBg="1"/>
      <p:bldP spid="6" grpId="0" bldLvl="0" animBg="1"/>
      <p:bldP spid="16" grpId="0"/>
      <p:bldP spid="17" grpId="0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1654810"/>
          <a:ext cx="4923155" cy="102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496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308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795" y="1242060"/>
            <a:ext cx="49129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记录所有矩阵的行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0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268224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309499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06400" y="6062345"/>
            <a:ext cx="412432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m[3][2]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977265" y="3861435"/>
            <a:ext cx="3456305" cy="1583690"/>
          </a:xfrm>
          <a:prstGeom prst="rtTriangle">
            <a:avLst/>
          </a:prstGeom>
          <a:noFill/>
          <a:ln w="635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>
            <p:custDataLst>
              <p:tags r:id="rId5"/>
            </p:custDataLst>
          </p:nvPr>
        </p:nvCxnSpPr>
        <p:spPr>
          <a:xfrm flipH="1">
            <a:off x="2458720" y="4806950"/>
            <a:ext cx="10160" cy="1255395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乘号 14"/>
          <p:cNvSpPr/>
          <p:nvPr/>
        </p:nvSpPr>
        <p:spPr>
          <a:xfrm>
            <a:off x="4238625" y="5664200"/>
            <a:ext cx="1646555" cy="1193800"/>
          </a:xfrm>
          <a:prstGeom prst="mathMultiply">
            <a:avLst>
              <a:gd name="adj1" fmla="val 278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1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9930765" y="1242060"/>
            <a:ext cx="96774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箭头连接符 21"/>
          <p:cNvCxnSpPr/>
          <p:nvPr>
            <p:custDataLst>
              <p:tags r:id="rId7"/>
            </p:custDataLst>
          </p:nvPr>
        </p:nvCxnSpPr>
        <p:spPr>
          <a:xfrm>
            <a:off x="3445510" y="5162550"/>
            <a:ext cx="1790065" cy="689610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5235575" y="5629910"/>
            <a:ext cx="441261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s[1][3]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90100" y="5643880"/>
            <a:ext cx="12084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940415" y="5643880"/>
            <a:ext cx="12090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5235575" y="6042660"/>
            <a:ext cx="3413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s[1][3]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取值范围：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/>
      <p:bldP spid="24" grpId="0"/>
      <p:bldP spid="26" grpId="0"/>
      <p:bldP spid="27" grpId="0"/>
      <p:bldP spid="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5939155" y="1530350"/>
            <a:ext cx="306578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08110" y="1470025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 1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&lt;=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i&lt;=4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36675" y="2240915"/>
            <a:ext cx="308610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313940" y="2708275"/>
            <a:ext cx="308610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91205" y="3151505"/>
            <a:ext cx="308610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258310" y="3625215"/>
            <a:ext cx="308610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/>
        </p:nvSpPr>
        <p:spPr>
          <a:xfrm>
            <a:off x="6422390" y="1807845"/>
            <a:ext cx="121602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5153660" y="5439410"/>
            <a:ext cx="3862070" cy="1315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m[1][1]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m[2][2]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m[3][3]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m[4][4]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右大括号 27"/>
          <p:cNvSpPr/>
          <p:nvPr/>
        </p:nvSpPr>
        <p:spPr>
          <a:xfrm>
            <a:off x="8960485" y="5492115"/>
            <a:ext cx="195580" cy="1244600"/>
          </a:xfrm>
          <a:prstGeom prst="rightBrace">
            <a:avLst>
              <a:gd name="adj1" fmla="val 159090"/>
              <a:gd name="adj2" fmla="val 50000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9440545" y="5898515"/>
            <a:ext cx="275082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不用乘，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故最少乘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矩形: 圆角 18"/>
          <p:cNvSpPr/>
          <p:nvPr/>
        </p:nvSpPr>
        <p:spPr>
          <a:xfrm>
            <a:off x="7638415" y="1807845"/>
            <a:ext cx="121602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336675" y="5059680"/>
            <a:ext cx="308610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2313940" y="5527040"/>
            <a:ext cx="308610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291205" y="5970270"/>
            <a:ext cx="308610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258310" y="6443980"/>
            <a:ext cx="308610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6" grpId="1" animBg="1"/>
      <p:bldP spid="16" grpId="0" bldLvl="0" animBg="1"/>
      <p:bldP spid="16" grpId="1" bldLvl="0" animBg="1"/>
      <p:bldP spid="11" grpId="0" animBg="1"/>
      <p:bldP spid="12" grpId="0" animBg="1"/>
      <p:bldP spid="13" grpId="0" animBg="1"/>
      <p:bldP spid="14" grpId="0" animBg="1"/>
      <p:bldP spid="17" grpId="0"/>
      <p:bldP spid="29" grpId="0"/>
      <p:bldP spid="28" grpId="0" animBg="1"/>
      <p:bldP spid="30" grpId="0" bldLvl="0" animBg="1"/>
      <p:bldP spid="30" grpId="1" bldLvl="0" animBg="1"/>
      <p:bldP spid="31" grpId="0" bldLvl="0" animBg="1"/>
      <p:bldP spid="32" grpId="0" bldLvl="0" animBg="1"/>
      <p:bldP spid="33" grpId="0" bldLvl="0" animBg="1"/>
      <p:bldP spid="3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5949950" y="2343150"/>
            <a:ext cx="313817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88120" y="2282825"/>
            <a:ext cx="3102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//r=2, r&lt;=4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25695" y="6169660"/>
            <a:ext cx="3759835" cy="688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子问题的规模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：子问题的规模为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16620" y="6487160"/>
            <a:ext cx="375983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只考虑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25695" y="5460365"/>
            <a:ext cx="3759835" cy="688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问题的规模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：原问题的规模为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589010" y="5777865"/>
            <a:ext cx="375983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2066925" y="21869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3044825" y="26473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/>
        </p:nvSpPr>
        <p:spPr>
          <a:xfrm>
            <a:off x="4053205" y="314896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2066925" y="49587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18"/>
          <p:cNvSpPr/>
          <p:nvPr/>
        </p:nvSpPr>
        <p:spPr>
          <a:xfrm>
            <a:off x="3044825" y="541909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4053205" y="59207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6" grpId="0"/>
      <p:bldP spid="23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5949950" y="2343150"/>
            <a:ext cx="313817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88120" y="2282825"/>
            <a:ext cx="3102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//r=2, r&lt;=4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920480" y="5440045"/>
            <a:ext cx="243332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2066925" y="21869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3044825" y="26473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/>
        </p:nvSpPr>
        <p:spPr>
          <a:xfrm>
            <a:off x="4053205" y="314896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2066925" y="49587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18"/>
          <p:cNvSpPr/>
          <p:nvPr/>
        </p:nvSpPr>
        <p:spPr>
          <a:xfrm>
            <a:off x="3044825" y="541909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4053205" y="59207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25695" y="5460365"/>
            <a:ext cx="436562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m[2][3]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最少连乘次数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3790" y="5920740"/>
            <a:ext cx="436562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s[2][3]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最佳分割位置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20480" y="5898515"/>
            <a:ext cx="243332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/>
      <p:bldP spid="13" grpId="0"/>
      <p:bldP spid="14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6392545" y="2647315"/>
            <a:ext cx="364172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88120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2066925" y="21869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3044825" y="26473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/>
        </p:nvSpPr>
        <p:spPr>
          <a:xfrm>
            <a:off x="4053205" y="314896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2066925" y="49587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18"/>
          <p:cNvSpPr/>
          <p:nvPr/>
        </p:nvSpPr>
        <p:spPr>
          <a:xfrm>
            <a:off x="3044825" y="541909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4053205" y="59207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25695" y="5460365"/>
            <a:ext cx="29768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当前操作第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170370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//i=1, i&lt;=3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06690" y="5470525"/>
            <a:ext cx="19881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当前操作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925695" y="5920740"/>
            <a:ext cx="37579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个矩阵后面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切割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83930" y="5899150"/>
            <a:ext cx="26911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后面切割</a:t>
            </a:r>
            <a:endParaRPr lang="zh-CN" altLang="en-US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6330950" y="2049145"/>
            <a:ext cx="215582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6" grpId="0"/>
      <p:bldP spid="6" grpId="1" animBg="1"/>
      <p:bldP spid="11" grpId="0"/>
      <p:bldP spid="23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6814185" y="2904490"/>
            <a:ext cx="19551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5" name="矩形: 圆角 18"/>
          <p:cNvSpPr/>
          <p:nvPr/>
        </p:nvSpPr>
        <p:spPr>
          <a:xfrm>
            <a:off x="2066925" y="21869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3044825" y="26473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/>
        </p:nvSpPr>
        <p:spPr>
          <a:xfrm>
            <a:off x="4053205" y="314896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2066925" y="49587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18"/>
          <p:cNvSpPr/>
          <p:nvPr/>
        </p:nvSpPr>
        <p:spPr>
          <a:xfrm>
            <a:off x="3044825" y="541909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4053205" y="59207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25695" y="5460365"/>
            <a:ext cx="29768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当前操作第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06690" y="5470525"/>
            <a:ext cx="19881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当前操作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25695" y="5920740"/>
            <a:ext cx="29768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79995" y="5913120"/>
            <a:ext cx="19881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右大括号 27"/>
          <p:cNvSpPr/>
          <p:nvPr/>
        </p:nvSpPr>
        <p:spPr>
          <a:xfrm>
            <a:off x="9714865" y="5490210"/>
            <a:ext cx="195580" cy="833120"/>
          </a:xfrm>
          <a:prstGeom prst="rightBrace">
            <a:avLst>
              <a:gd name="adj1" fmla="val 159090"/>
              <a:gd name="adj2" fmla="val 50000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203815" y="5440045"/>
            <a:ext cx="2101215" cy="1029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本次循环考虑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9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4" grpId="0"/>
      <p:bldP spid="23" grpId="0"/>
      <p:bldP spid="28" grpId="0" animBg="1"/>
      <p:bldP spid="26" grpId="0"/>
      <p:bldP spid="36" grpId="0" animBg="1"/>
      <p:bldP spid="37" grpId="0" animBg="1"/>
      <p:bldP spid="39" grpId="0" animBg="1"/>
      <p:bldP spid="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6814185" y="2904490"/>
            <a:ext cx="19551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25695" y="5460365"/>
            <a:ext cx="29768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当前操作第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06690" y="5470525"/>
            <a:ext cx="19881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当前操作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25695" y="5920740"/>
            <a:ext cx="29768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79995" y="5913120"/>
            <a:ext cx="19881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右大括号 27"/>
          <p:cNvSpPr/>
          <p:nvPr/>
        </p:nvSpPr>
        <p:spPr>
          <a:xfrm>
            <a:off x="9714865" y="5490210"/>
            <a:ext cx="195580" cy="833120"/>
          </a:xfrm>
          <a:prstGeom prst="rightBrace">
            <a:avLst>
              <a:gd name="adj1" fmla="val 159090"/>
              <a:gd name="adj2" fmla="val 50000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203815" y="5440045"/>
            <a:ext cx="2101215" cy="1029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本次循环考虑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的最少连乘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70" y="1323975"/>
            <a:ext cx="253746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j=i+r-1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0200" y="1766570"/>
            <a:ext cx="3504565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~5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号有多少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天？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9930" y="2209165"/>
            <a:ext cx="182880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天？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乘号 29"/>
          <p:cNvSpPr/>
          <p:nvPr/>
        </p:nvSpPr>
        <p:spPr>
          <a:xfrm>
            <a:off x="2538730" y="2088515"/>
            <a:ext cx="658495" cy="60706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09930" y="2651760"/>
            <a:ext cx="235331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0200" y="3256915"/>
            <a:ext cx="307213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~A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有多少个矩阵？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9930" y="3699510"/>
            <a:ext cx="182880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个？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乘号 33"/>
          <p:cNvSpPr/>
          <p:nvPr/>
        </p:nvSpPr>
        <p:spPr>
          <a:xfrm>
            <a:off x="2538730" y="3618865"/>
            <a:ext cx="658495" cy="60706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09930" y="4078605"/>
            <a:ext cx="235331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30200" y="4747260"/>
            <a:ext cx="307213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~A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有多少个矩阵？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99770" y="5149215"/>
            <a:ext cx="167386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99770" y="5560695"/>
            <a:ext cx="385445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：子问题规模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09930" y="5982335"/>
            <a:ext cx="115951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r=j-i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7" name="曲线连接符 46"/>
          <p:cNvCxnSpPr>
            <a:stCxn id="45" idx="3"/>
            <a:endCxn id="24" idx="3"/>
          </p:cNvCxnSpPr>
          <p:nvPr/>
        </p:nvCxnSpPr>
        <p:spPr>
          <a:xfrm flipV="1">
            <a:off x="1869440" y="1545590"/>
            <a:ext cx="669290" cy="4658360"/>
          </a:xfrm>
          <a:prstGeom prst="curvedConnector3">
            <a:avLst>
              <a:gd name="adj1" fmla="val 441555"/>
            </a:avLst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5"/>
            </p:custDataLst>
          </p:nvPr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1242060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6814185" y="2904490"/>
            <a:ext cx="19551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70" y="1323975"/>
            <a:ext cx="2762885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i&lt;=n-r+1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0200" y="1766570"/>
            <a:ext cx="3504565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刚刚确定了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j=i+r-1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0200" y="2249805"/>
            <a:ext cx="1632585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i=j-r+1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>
            <p:custDataLst>
              <p:tags r:id="rId5"/>
            </p:custDataLst>
          </p:nvPr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1736090" y="1342390"/>
            <a:ext cx="22733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/>
        </p:nvSpPr>
        <p:spPr>
          <a:xfrm>
            <a:off x="954405" y="2308225"/>
            <a:ext cx="22733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/>
          <p:nvPr>
            <p:custDataLst>
              <p:tags r:id="rId9"/>
            </p:custDataLst>
          </p:nvPr>
        </p:nvGraphicFramePr>
        <p:xfrm>
          <a:off x="10795" y="2733675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1028065" y="2765425"/>
            <a:ext cx="3896360" cy="422275"/>
          </a:xfrm>
          <a:prstGeom prst="rect">
            <a:avLst/>
          </a:prstGeom>
          <a:noFill/>
          <a:ln w="635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70840" y="5120640"/>
            <a:ext cx="1263015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j&lt;=n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7" name="曲线连接符 36"/>
          <p:cNvCxnSpPr/>
          <p:nvPr/>
        </p:nvCxnSpPr>
        <p:spPr>
          <a:xfrm flipV="1">
            <a:off x="1962785" y="1545590"/>
            <a:ext cx="801370" cy="925830"/>
          </a:xfrm>
          <a:prstGeom prst="curvedConnector3">
            <a:avLst>
              <a:gd name="adj1" fmla="val 177179"/>
            </a:avLst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曲线连接符 37"/>
          <p:cNvCxnSpPr>
            <a:stCxn id="36" idx="3"/>
            <a:endCxn id="24" idx="3"/>
          </p:cNvCxnSpPr>
          <p:nvPr/>
        </p:nvCxnSpPr>
        <p:spPr>
          <a:xfrm flipV="1">
            <a:off x="1633855" y="1545590"/>
            <a:ext cx="1130300" cy="3796665"/>
          </a:xfrm>
          <a:prstGeom prst="curvedConnector3">
            <a:avLst>
              <a:gd name="adj1" fmla="val 283089"/>
            </a:avLst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/>
      <p:bldP spid="35" grpId="0" animBg="1"/>
      <p:bldP spid="17" grpId="0" animBg="1"/>
      <p:bldP spid="22" grpId="0" animBg="1"/>
      <p:bldP spid="36" grpId="0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6814185" y="3164840"/>
            <a:ext cx="492760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-635" y="4911725"/>
            <a:ext cx="550862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m[1][2]=m[1][1]+m[2][2]+p[0]*p{1]*p[2]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7320" y="5307965"/>
            <a:ext cx="9486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18285" y="5307965"/>
            <a:ext cx="50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31770" y="5307965"/>
            <a:ext cx="50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00195" y="5307965"/>
            <a:ext cx="9385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3*2*5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0" y="4104005"/>
            <a:ext cx="37579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个矩阵后面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切割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746760" y="4533265"/>
            <a:ext cx="26911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后面切割</a:t>
            </a:r>
            <a:endParaRPr lang="zh-CN" altLang="en-US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" y="5875655"/>
            <a:ext cx="9486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11"/>
            </p:custDataLst>
          </p:nvPr>
        </p:nvSpPr>
        <p:spPr>
          <a:xfrm>
            <a:off x="958850" y="5875655"/>
            <a:ext cx="142176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2"/>
            </p:custDataLst>
          </p:nvPr>
        </p:nvSpPr>
        <p:spPr>
          <a:xfrm>
            <a:off x="2228215" y="5875655"/>
            <a:ext cx="251206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的连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13"/>
            </p:custDataLst>
          </p:nvPr>
        </p:nvSpPr>
        <p:spPr>
          <a:xfrm>
            <a:off x="4625340" y="5875655"/>
            <a:ext cx="21894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3*2*5=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14"/>
            </p:custDataLst>
          </p:nvPr>
        </p:nvSpPr>
        <p:spPr>
          <a:xfrm>
            <a:off x="2313940" y="2184400"/>
            <a:ext cx="417195" cy="402590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0" grpId="0"/>
      <p:bldP spid="31" grpId="0"/>
      <p:bldP spid="26" grpId="0"/>
      <p:bldP spid="7" grpId="0"/>
      <p:bldP spid="17" grpId="0"/>
      <p:bldP spid="22" grpId="0"/>
      <p:bldP spid="24" grpId="0"/>
      <p:bldP spid="42" grpId="0"/>
      <p:bldP spid="43" grpId="0"/>
      <p:bldP spid="45" grpId="0"/>
      <p:bldP spid="46" grpId="0"/>
      <p:bldP spid="47" grpId="0" bldLvl="0" animBg="1"/>
      <p:bldP spid="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: 圆角 18"/>
          <p:cNvSpPr/>
          <p:nvPr/>
        </p:nvSpPr>
        <p:spPr>
          <a:xfrm>
            <a:off x="6845935" y="3429635"/>
            <a:ext cx="1027430" cy="38227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9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2257425" y="4973955"/>
            <a:ext cx="417195" cy="402590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033635" y="3662680"/>
            <a:ext cx="17125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//k=2, k&lt;2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: 圆角 18"/>
          <p:cNvSpPr/>
          <p:nvPr/>
        </p:nvSpPr>
        <p:spPr>
          <a:xfrm>
            <a:off x="6845935" y="3681095"/>
            <a:ext cx="3187700" cy="38227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925695" y="5814060"/>
            <a:ext cx="478917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k=i+1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i+1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个矩阵后面切割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23790" y="5440045"/>
            <a:ext cx="37579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个矩阵后面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切割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25695" y="6177280"/>
            <a:ext cx="30403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本质上也是在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切割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6" grpId="0" bldLvl="0" animBg="1"/>
      <p:bldP spid="6" grpId="1" bldLvl="0" animBg="1"/>
      <p:bldP spid="14" grpId="0"/>
      <p:bldP spid="16" grpId="0" bldLvl="0" animBg="1"/>
      <p:bldP spid="27" grpId="0"/>
      <p:bldP spid="20" grpId="0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33635" y="3662680"/>
            <a:ext cx="17125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//k=2, k&lt;2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6881495" y="3223895"/>
            <a:ext cx="4864735" cy="28829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: 圆角 18"/>
          <p:cNvSpPr/>
          <p:nvPr/>
        </p:nvSpPr>
        <p:spPr>
          <a:xfrm>
            <a:off x="7326630" y="4040505"/>
            <a:ext cx="4864735" cy="28829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-635" y="4596130"/>
            <a:ext cx="5173345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个矩阵后分割的最少连乘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-635" y="4217035"/>
            <a:ext cx="5554345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-635" y="4883150"/>
            <a:ext cx="4958080" cy="440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t=m[i]|k]+m[k+1][j]+p[i-1]*p[k]*p[j]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-635" y="5203825"/>
            <a:ext cx="4720590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个矩阵后分割的最少连乘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05020" y="5203825"/>
            <a:ext cx="1320165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i+1≤k&lt;j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795" y="5537200"/>
            <a:ext cx="4720590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7" grpId="0" bldLvl="0" animBg="1"/>
      <p:bldP spid="17" grpId="0"/>
      <p:bldP spid="29" grpId="0"/>
      <p:bldP spid="36" grpId="0"/>
      <p:bldP spid="37" grpId="0"/>
      <p:bldP spid="38" grpId="0"/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k&lt;2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: 圆角 18"/>
          <p:cNvSpPr/>
          <p:nvPr/>
        </p:nvSpPr>
        <p:spPr>
          <a:xfrm>
            <a:off x="6845935" y="3736340"/>
            <a:ext cx="3187700" cy="38227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-635" y="4911725"/>
            <a:ext cx="550862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m[1][2]=m[1][1]+m[2][2]+p[0]*p{1]*p[2]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47320" y="5307965"/>
            <a:ext cx="9486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518285" y="5307965"/>
            <a:ext cx="50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2731770" y="5307965"/>
            <a:ext cx="50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4100195" y="5307965"/>
            <a:ext cx="9385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3*2*5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0" y="4104005"/>
            <a:ext cx="37579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当前在第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个矩阵后面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切割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746760" y="4533265"/>
            <a:ext cx="26911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当前在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后面切割</a:t>
            </a:r>
            <a:endParaRPr lang="zh-CN" altLang="en-US" sz="2000" b="1" baseline="-25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16"/>
            </p:custDataLst>
          </p:nvPr>
        </p:nvSpPr>
        <p:spPr>
          <a:xfrm>
            <a:off x="147320" y="5875655"/>
            <a:ext cx="9486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17"/>
            </p:custDataLst>
          </p:nvPr>
        </p:nvSpPr>
        <p:spPr>
          <a:xfrm>
            <a:off x="958850" y="5875655"/>
            <a:ext cx="142176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2228215" y="5875655"/>
            <a:ext cx="251206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的连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乘次数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4625340" y="5875655"/>
            <a:ext cx="218948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 3*2*5=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85380" y="5706745"/>
            <a:ext cx="1667510" cy="797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个矩阵连乘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只有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种分割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010140" y="5706745"/>
            <a:ext cx="1934210" cy="797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不用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3" name="直接箭头连接符 22"/>
          <p:cNvCxnSpPr>
            <a:stCxn id="20" idx="3"/>
            <a:endCxn id="21" idx="1"/>
          </p:cNvCxnSpPr>
          <p:nvPr>
            <p:custDataLst>
              <p:tags r:id="rId20"/>
            </p:custDataLst>
          </p:nvPr>
        </p:nvCxnSpPr>
        <p:spPr>
          <a:xfrm>
            <a:off x="9152890" y="6105525"/>
            <a:ext cx="857250" cy="0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9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5675630" y="5558790"/>
            <a:ext cx="4596130" cy="797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矩阵连乘最少连乘次数是：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矩阵连乘最佳分割位置是：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k&lt;2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9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2066925" y="21869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3044825" y="26473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/>
        </p:nvSpPr>
        <p:spPr>
          <a:xfrm>
            <a:off x="4053205" y="314896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2066925" y="495871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18"/>
          <p:cNvSpPr/>
          <p:nvPr/>
        </p:nvSpPr>
        <p:spPr>
          <a:xfrm>
            <a:off x="3044825" y="541909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4053205" y="59207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16525" y="5608320"/>
            <a:ext cx="4289425" cy="69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13195" y="5906135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8"/>
          <p:cNvSpPr/>
          <p:nvPr/>
        </p:nvSpPr>
        <p:spPr>
          <a:xfrm>
            <a:off x="6862445" y="3810635"/>
            <a:ext cx="5247005" cy="136017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乘号 16"/>
          <p:cNvSpPr/>
          <p:nvPr>
            <p:custDataLst>
              <p:tags r:id="rId11"/>
            </p:custDataLst>
          </p:nvPr>
        </p:nvSpPr>
        <p:spPr>
          <a:xfrm>
            <a:off x="9505950" y="4122420"/>
            <a:ext cx="1646555" cy="1193800"/>
          </a:xfrm>
          <a:prstGeom prst="mathMultiply">
            <a:avLst>
              <a:gd name="adj1" fmla="val 278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k&lt;2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6" grpId="0"/>
      <p:bldP spid="12" grpId="0"/>
      <p:bldP spid="16" grpId="0" bldLvl="0" animBg="1"/>
      <p:bldP spid="17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2066925" y="218694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05" y="4398010"/>
            <a:ext cx="5443220" cy="451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8"/>
          <p:cNvSpPr/>
          <p:nvPr/>
        </p:nvSpPr>
        <p:spPr>
          <a:xfrm>
            <a:off x="6862445" y="3810635"/>
            <a:ext cx="5247005" cy="136017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乘号 16"/>
          <p:cNvSpPr/>
          <p:nvPr>
            <p:custDataLst>
              <p:tags r:id="rId9"/>
            </p:custDataLst>
          </p:nvPr>
        </p:nvSpPr>
        <p:spPr>
          <a:xfrm>
            <a:off x="9505950" y="4122420"/>
            <a:ext cx="1646555" cy="1193800"/>
          </a:xfrm>
          <a:prstGeom prst="mathMultiply">
            <a:avLst>
              <a:gd name="adj1" fmla="val 278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k&lt;2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矩形: 圆角 18"/>
          <p:cNvSpPr/>
          <p:nvPr/>
        </p:nvSpPr>
        <p:spPr>
          <a:xfrm>
            <a:off x="85090" y="4398010"/>
            <a:ext cx="883285" cy="74358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635" y="4772025"/>
            <a:ext cx="55918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m[1][2]=m[1][1]+m[2][2]+p[0]*p{1]*p[2]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1129665" y="4398010"/>
            <a:ext cx="993140" cy="73660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58"/>
          <p:cNvSpPr/>
          <p:nvPr/>
        </p:nvSpPr>
        <p:spPr>
          <a:xfrm>
            <a:off x="1114425" y="2145665"/>
            <a:ext cx="762635" cy="43878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: 圆角 18"/>
          <p:cNvSpPr/>
          <p:nvPr/>
        </p:nvSpPr>
        <p:spPr>
          <a:xfrm>
            <a:off x="2185035" y="2644140"/>
            <a:ext cx="58547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18"/>
          <p:cNvSpPr/>
          <p:nvPr/>
        </p:nvSpPr>
        <p:spPr>
          <a:xfrm>
            <a:off x="2284095" y="4398645"/>
            <a:ext cx="1047750" cy="76390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3493135" y="4419600"/>
            <a:ext cx="1932940" cy="76390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18"/>
          <p:cNvSpPr/>
          <p:nvPr/>
        </p:nvSpPr>
        <p:spPr>
          <a:xfrm>
            <a:off x="7412990" y="382270"/>
            <a:ext cx="2621280" cy="400050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649980" y="5208270"/>
            <a:ext cx="17233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矩阵连乘公式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795" y="5724525"/>
            <a:ext cx="106775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矩阵相乘次数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的行数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A</a:t>
            </a:r>
            <a:r>
              <a:rPr lang="en-US" altLang="zh-CN" sz="2000" b="1" baseline="-25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的列数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795" y="6240780"/>
            <a:ext cx="54336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记忆口诀：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两个矩阵连乘，直接求连乘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184525" y="2729230"/>
            <a:ext cx="465455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4226560" y="3151505"/>
            <a:ext cx="465455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9" grpId="0" bldLvl="0" animBg="1"/>
      <p:bldP spid="14" grpId="0" animBg="1"/>
      <p:bldP spid="59" grpId="0" animBg="1"/>
      <p:bldP spid="23" grpId="0" animBg="1"/>
      <p:bldP spid="24" grpId="0" animBg="1"/>
      <p:bldP spid="26" grpId="0" animBg="1"/>
      <p:bldP spid="27" grpId="0" animBg="1"/>
      <p:bldP spid="29" grpId="0"/>
      <p:bldP spid="30" grpId="0"/>
      <p:bldP spid="31" grpId="0"/>
      <p:bldP spid="41" grpId="0" animBg="1"/>
      <p:bldP spid="4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//j=2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r=2,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i&lt;=3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9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16525" y="5608320"/>
            <a:ext cx="4289425" cy="69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个矩阵连乘有多少种划分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方式？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45720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13195" y="5906135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8"/>
          <p:cNvSpPr/>
          <p:nvPr/>
        </p:nvSpPr>
        <p:spPr>
          <a:xfrm>
            <a:off x="6862445" y="3810635"/>
            <a:ext cx="5247005" cy="136017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乘号 16"/>
          <p:cNvSpPr/>
          <p:nvPr>
            <p:custDataLst>
              <p:tags r:id="rId11"/>
            </p:custDataLst>
          </p:nvPr>
        </p:nvSpPr>
        <p:spPr>
          <a:xfrm>
            <a:off x="9505950" y="4122420"/>
            <a:ext cx="1646555" cy="1193800"/>
          </a:xfrm>
          <a:prstGeom prst="mathMultiply">
            <a:avLst>
              <a:gd name="adj1" fmla="val 278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k&lt;2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4"/>
            </p:custDataLst>
          </p:nvPr>
        </p:nvSpPr>
        <p:spPr>
          <a:xfrm>
            <a:off x="5216525" y="6303010"/>
            <a:ext cx="47345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记忆口诀：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两个矩阵连乘，直接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分割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15"/>
            </p:custDataLst>
          </p:nvPr>
        </p:nvSpPr>
        <p:spPr>
          <a:xfrm>
            <a:off x="3184525" y="5484495"/>
            <a:ext cx="465455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6"/>
            </p:custDataLst>
          </p:nvPr>
        </p:nvSpPr>
        <p:spPr>
          <a:xfrm>
            <a:off x="4244340" y="6025515"/>
            <a:ext cx="465455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505950" y="5945505"/>
            <a:ext cx="26860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   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   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1" grpId="0" bldLvl="0" animBg="1"/>
      <p:bldP spid="7" grpId="0" bldLvl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//j=3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r=3,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i&lt;=2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8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: 圆角 18"/>
          <p:cNvSpPr/>
          <p:nvPr/>
        </p:nvSpPr>
        <p:spPr>
          <a:xfrm>
            <a:off x="5901690" y="2395220"/>
            <a:ext cx="3289935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: 圆角 18"/>
          <p:cNvSpPr/>
          <p:nvPr/>
        </p:nvSpPr>
        <p:spPr>
          <a:xfrm>
            <a:off x="3015615" y="216852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18"/>
          <p:cNvSpPr/>
          <p:nvPr/>
        </p:nvSpPr>
        <p:spPr>
          <a:xfrm>
            <a:off x="6355080" y="2662555"/>
            <a:ext cx="3679825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4003675" y="265493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18"/>
          <p:cNvSpPr/>
          <p:nvPr/>
        </p:nvSpPr>
        <p:spPr>
          <a:xfrm>
            <a:off x="3077845" y="498030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18"/>
          <p:cNvSpPr/>
          <p:nvPr/>
        </p:nvSpPr>
        <p:spPr>
          <a:xfrm>
            <a:off x="4003675" y="5452745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18"/>
          <p:cNvSpPr/>
          <p:nvPr/>
        </p:nvSpPr>
        <p:spPr>
          <a:xfrm>
            <a:off x="6859270" y="2940685"/>
            <a:ext cx="1848485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18"/>
          <p:cNvSpPr/>
          <p:nvPr/>
        </p:nvSpPr>
        <p:spPr>
          <a:xfrm>
            <a:off x="6859270" y="3209925"/>
            <a:ext cx="4818380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180330" y="5826125"/>
            <a:ext cx="5207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m[1][3]=m[1][1]+m[2][3]+p[0]*p{1]*p[3]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180330" y="5481320"/>
            <a:ext cx="5193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算矩阵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分割的连乘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859270" y="6194425"/>
            <a:ext cx="1143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863205" y="6194425"/>
            <a:ext cx="18522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--&gt;(3*2)(A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矩形: 圆角 18"/>
          <p:cNvSpPr/>
          <p:nvPr>
            <p:custDataLst>
              <p:tags r:id="rId11"/>
            </p:custDataLst>
          </p:nvPr>
        </p:nvSpPr>
        <p:spPr>
          <a:xfrm>
            <a:off x="8311515" y="5852160"/>
            <a:ext cx="1722120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9643110" y="6194425"/>
            <a:ext cx="18522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--&gt;(3*2)(2*10)</a:t>
            </a:r>
            <a:endParaRPr lang="en-US" altLang="zh-CN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4" grpId="0"/>
      <p:bldP spid="23" grpId="1" animBg="1"/>
      <p:bldP spid="24" grpId="0" bldLvl="0" animBg="1"/>
      <p:bldP spid="24" grpId="1" bldLvl="0" animBg="1"/>
      <p:bldP spid="35" grpId="0" animBg="1"/>
      <p:bldP spid="26" grpId="0" animBg="1"/>
      <p:bldP spid="27" grpId="0" animBg="1"/>
      <p:bldP spid="28" grpId="0" animBg="1"/>
      <p:bldP spid="29" grpId="0" bldLvl="0" animBg="1"/>
      <p:bldP spid="29" grpId="1" bldLvl="0" animBg="1"/>
      <p:bldP spid="13" grpId="0"/>
      <p:bldP spid="26" grpId="1" animBg="1"/>
      <p:bldP spid="28" grpId="1" animBg="1"/>
      <p:bldP spid="30" grpId="0" bldLvl="0" animBg="1"/>
      <p:bldP spid="36" grpId="0"/>
      <p:bldP spid="39" grpId="0"/>
      <p:bldP spid="43" grpId="0" bldLvl="0" animBg="1"/>
      <p:bldP spid="40" grpId="0"/>
      <p:bldP spid="42" grpId="0"/>
      <p:bldP spid="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//j=3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r=3,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i&lt;=2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8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矩形: 圆角 18"/>
          <p:cNvSpPr/>
          <p:nvPr/>
        </p:nvSpPr>
        <p:spPr>
          <a:xfrm>
            <a:off x="1091565" y="2147570"/>
            <a:ext cx="80264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18"/>
          <p:cNvSpPr/>
          <p:nvPr/>
        </p:nvSpPr>
        <p:spPr>
          <a:xfrm>
            <a:off x="6859270" y="3209925"/>
            <a:ext cx="4818380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180330" y="5826125"/>
            <a:ext cx="5207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m[1][3]=m[1][1]+m[2][3]+p[0]*p{1]*p[3]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180330" y="5481320"/>
            <a:ext cx="5193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算矩阵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分割的连乘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0330" y="6132195"/>
            <a:ext cx="3201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m[1][3]=0+100+60=160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/>
        </p:nvSpPr>
        <p:spPr>
          <a:xfrm>
            <a:off x="6276975" y="5826125"/>
            <a:ext cx="905510" cy="38354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58"/>
          <p:cNvSpPr/>
          <p:nvPr/>
        </p:nvSpPr>
        <p:spPr>
          <a:xfrm>
            <a:off x="3089910" y="2627630"/>
            <a:ext cx="762635" cy="43878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58"/>
          <p:cNvSpPr/>
          <p:nvPr/>
        </p:nvSpPr>
        <p:spPr>
          <a:xfrm>
            <a:off x="7268845" y="5786120"/>
            <a:ext cx="957580" cy="43878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184525" y="2272030"/>
            <a:ext cx="547370" cy="27749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>
            <p:custDataLst>
              <p:tags r:id="rId11"/>
            </p:custDataLst>
          </p:nvPr>
        </p:nvSpPr>
        <p:spPr>
          <a:xfrm>
            <a:off x="8311515" y="5852160"/>
            <a:ext cx="1722120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: 圆角 18"/>
          <p:cNvSpPr/>
          <p:nvPr>
            <p:custDataLst>
              <p:tags r:id="rId12"/>
            </p:custDataLst>
          </p:nvPr>
        </p:nvSpPr>
        <p:spPr>
          <a:xfrm>
            <a:off x="7366000" y="443865"/>
            <a:ext cx="1723390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>
            <p:custDataLst>
              <p:tags r:id="rId13"/>
            </p:custDataLst>
          </p:nvPr>
        </p:nvSpPr>
        <p:spPr>
          <a:xfrm>
            <a:off x="10373995" y="443865"/>
            <a:ext cx="663575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6859270" y="3456305"/>
            <a:ext cx="1075055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184525" y="4988560"/>
            <a:ext cx="547370" cy="27749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2" grpId="0" animBg="1"/>
      <p:bldP spid="14" grpId="0" animBg="1"/>
      <p:bldP spid="16" grpId="0" animBg="1"/>
      <p:bldP spid="7" grpId="0"/>
      <p:bldP spid="17" grpId="0" bldLvl="0" animBg="1"/>
      <p:bldP spid="31" grpId="0" bldLvl="0" animBg="1"/>
      <p:bldP spid="37" grpId="0" bldLvl="0" animBg="1"/>
      <p:bldP spid="41" grpId="0" animBg="1"/>
      <p:bldP spid="30" grpId="0" animBg="1"/>
      <p:bldP spid="38" grpId="0" bldLvl="0" animBg="1"/>
      <p:bldP spid="45" grpId="0" bldLvl="0" animBg="1"/>
      <p:bldP spid="3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//j=3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r=3,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i&lt;=2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8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180330" y="5826125"/>
            <a:ext cx="5207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 = m[1][2]+m[3][3]+p[0]*p{2]*p[3]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180330" y="5481320"/>
            <a:ext cx="5193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算矩阵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乘到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分割的连乘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0330" y="6132195"/>
            <a:ext cx="32016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 = 30+0+150=180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/>
        </p:nvSpPr>
        <p:spPr>
          <a:xfrm>
            <a:off x="5642610" y="5852160"/>
            <a:ext cx="905510" cy="3530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58"/>
          <p:cNvSpPr/>
          <p:nvPr/>
        </p:nvSpPr>
        <p:spPr>
          <a:xfrm>
            <a:off x="6620510" y="5788025"/>
            <a:ext cx="957580" cy="43878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/>
        </p:nvSpPr>
        <p:spPr>
          <a:xfrm>
            <a:off x="7719695" y="5852160"/>
            <a:ext cx="1722120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6850380" y="3764915"/>
            <a:ext cx="3091180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k&lt;3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: 圆角 18"/>
          <p:cNvSpPr/>
          <p:nvPr/>
        </p:nvSpPr>
        <p:spPr>
          <a:xfrm>
            <a:off x="7296150" y="4039235"/>
            <a:ext cx="4788535" cy="3003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18"/>
          <p:cNvSpPr/>
          <p:nvPr/>
        </p:nvSpPr>
        <p:spPr>
          <a:xfrm>
            <a:off x="2102485" y="2223770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7650480" y="5524500"/>
            <a:ext cx="52578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58"/>
          <p:cNvSpPr/>
          <p:nvPr/>
        </p:nvSpPr>
        <p:spPr>
          <a:xfrm>
            <a:off x="8307705" y="5479415"/>
            <a:ext cx="258445" cy="43878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58"/>
          <p:cNvSpPr/>
          <p:nvPr/>
        </p:nvSpPr>
        <p:spPr>
          <a:xfrm>
            <a:off x="3328035" y="3121660"/>
            <a:ext cx="258445" cy="43878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18"/>
          <p:cNvSpPr/>
          <p:nvPr/>
        </p:nvSpPr>
        <p:spPr>
          <a:xfrm>
            <a:off x="9368790" y="429895"/>
            <a:ext cx="1722120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7458075" y="429895"/>
            <a:ext cx="652780" cy="352425"/>
          </a:xfrm>
          <a:prstGeom prst="roundRect">
            <a:avLst>
              <a:gd name="adj" fmla="val 7846"/>
            </a:avLst>
          </a:prstGeom>
          <a:solidFill>
            <a:schemeClr val="accent3">
              <a:lumMod val="60000"/>
              <a:lumOff val="40000"/>
              <a:alpha val="21000"/>
            </a:scheme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2" grpId="0"/>
      <p:bldP spid="38" grpId="1" animBg="1"/>
      <p:bldP spid="23" grpId="0" animBg="1"/>
      <p:bldP spid="36" grpId="0"/>
      <p:bldP spid="39" grpId="0"/>
      <p:bldP spid="12" grpId="0" animBg="1"/>
      <p:bldP spid="26" grpId="0" animBg="1"/>
      <p:bldP spid="24" grpId="0" animBg="1"/>
      <p:bldP spid="16" grpId="0" animBg="1"/>
      <p:bldP spid="27" grpId="0" animBg="1"/>
      <p:bldP spid="28" grpId="0" animBg="1"/>
      <p:bldP spid="17" grpId="0" animBg="1"/>
      <p:bldP spid="40" grpId="0" animBg="1"/>
      <p:bldP spid="29" grpId="0" animBg="1"/>
      <p:bldP spid="7" grpId="0"/>
      <p:bldP spid="23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45125" y="124206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034270" y="2586990"/>
            <a:ext cx="22707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操作矩阵的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88120" y="2844165"/>
            <a:ext cx="94615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//j=3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645015" y="2282825"/>
            <a:ext cx="25469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控制子问题的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9089390" y="1511300"/>
            <a:ext cx="258826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考虑当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i=j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04255" y="2049145"/>
            <a:ext cx="361061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r=3, r&lt;=4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i=1, i&lt;=2 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8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9849485" y="3662680"/>
            <a:ext cx="255968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考虑其它分割情况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153660" y="5457825"/>
            <a:ext cx="2449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m[1][3] = 160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3660" y="5763895"/>
            <a:ext cx="2449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 = 30+0+150=180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002270" y="3405505"/>
            <a:ext cx="212344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/* k=2, k&lt;3 *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: 圆角 18"/>
          <p:cNvSpPr/>
          <p:nvPr/>
        </p:nvSpPr>
        <p:spPr>
          <a:xfrm>
            <a:off x="7296150" y="4276090"/>
            <a:ext cx="1791970" cy="92329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18"/>
          <p:cNvSpPr/>
          <p:nvPr/>
        </p:nvSpPr>
        <p:spPr>
          <a:xfrm>
            <a:off x="3111500" y="2246630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117965" y="4269105"/>
            <a:ext cx="20662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比较选择最优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84440" y="5457825"/>
            <a:ext cx="37693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当前已考虑情况的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最少连乘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584440" y="5756275"/>
            <a:ext cx="2449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--&gt;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新的连乘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53660" y="6084570"/>
            <a:ext cx="49720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二者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比较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选出更少的连乘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6" grpId="0"/>
      <p:bldP spid="14" grpId="0"/>
      <p:bldP spid="7" grpId="0"/>
      <p:bldP spid="30" grpId="0"/>
      <p:bldP spid="31" grpId="0"/>
      <p:bldP spid="6" grpId="0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>
            <p:custDataLst>
              <p:tags r:id="rId8"/>
            </p:custDataLst>
          </p:nvPr>
        </p:nvSpPr>
        <p:spPr>
          <a:xfrm>
            <a:off x="4058285" y="269938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>
            <p:custDataLst>
              <p:tags r:id="rId9"/>
            </p:custDataLst>
          </p:nvPr>
        </p:nvSpPr>
        <p:spPr>
          <a:xfrm>
            <a:off x="4058285" y="546417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090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16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848850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316085" y="181864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m[2][2]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m[3][4]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332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(2*5)(5*2)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0+100+20 = 120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6" grpId="0" bldLvl="0" animBg="1"/>
      <p:bldP spid="47" grpId="0"/>
      <p:bldP spid="48" grpId="0"/>
      <p:bldP spid="49" grpId="0"/>
      <p:bldP spid="44" grpId="0"/>
      <p:bldP spid="50" grpId="0"/>
      <p:bldP spid="51" grpId="0"/>
      <p:bldP spid="46" grpId="0"/>
      <p:bldP spid="52" grpId="0"/>
      <p:bldP spid="53" grpId="0"/>
      <p:bldP spid="57" grpId="0"/>
      <p:bldP spid="55" grpId="0"/>
      <p:bldP spid="54" grpId="0"/>
      <p:bldP spid="58" grpId="0"/>
      <p:bldP spid="56" grpId="0"/>
      <p:bldP spid="59" grpId="0"/>
      <p:bldP spid="7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>
            <p:custDataLst>
              <p:tags r:id="rId8"/>
            </p:custDataLst>
          </p:nvPr>
        </p:nvSpPr>
        <p:spPr>
          <a:xfrm>
            <a:off x="4058285" y="269938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>
            <p:custDataLst>
              <p:tags r:id="rId9"/>
            </p:custDataLst>
          </p:nvPr>
        </p:nvSpPr>
        <p:spPr>
          <a:xfrm>
            <a:off x="4058285" y="546417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090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16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848850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316085" y="181864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m[2][3]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m[4][4]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26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681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(2*10)(10*2)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0+100+40 = 140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3" grpId="0"/>
      <p:bldP spid="55" grpId="0"/>
      <p:bldP spid="54" grpId="0"/>
      <p:bldP spid="56" grpId="0"/>
      <p:bldP spid="59" grpId="0"/>
      <p:bldP spid="7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090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16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848850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316085" y="181864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m[2][3]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m[4][4]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26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681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(2*10)(10*2)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0+100+40 = 140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2595" y="532066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⑦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67370" y="5320665"/>
            <a:ext cx="2214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 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67370" y="5711190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 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65600" y="2682875"/>
            <a:ext cx="545465" cy="31940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165600" y="5488940"/>
            <a:ext cx="545465" cy="31940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  <p:bldP spid="14" grpId="0" animBg="1"/>
      <p:bldP spid="17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>
            <p:custDataLst>
              <p:tags r:id="rId8"/>
            </p:custDataLst>
          </p:nvPr>
        </p:nvSpPr>
        <p:spPr>
          <a:xfrm>
            <a:off x="4058285" y="2231390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>
            <p:custDataLst>
              <p:tags r:id="rId9"/>
            </p:custDataLst>
          </p:nvPr>
        </p:nvSpPr>
        <p:spPr>
          <a:xfrm>
            <a:off x="4058285" y="499046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400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616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291445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653905" y="183261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m[1][1]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m[2][4]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616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548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(3*2)(2*2)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0+120+12 = 132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3" grpId="0"/>
      <p:bldP spid="55" grpId="0"/>
      <p:bldP spid="54" grpId="0"/>
      <p:bldP spid="56" grpId="0"/>
      <p:bldP spid="59" grpId="0"/>
      <p:bldP spid="7" grpId="0"/>
      <p:bldP spid="11" grpId="0"/>
      <p:bldP spid="49" grpId="0"/>
      <p:bldP spid="50" grpId="0"/>
      <p:bldP spid="4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>
            <p:custDataLst>
              <p:tags r:id="rId8"/>
            </p:custDataLst>
          </p:nvPr>
        </p:nvSpPr>
        <p:spPr>
          <a:xfrm>
            <a:off x="4058285" y="2231390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>
            <p:custDataLst>
              <p:tags r:id="rId9"/>
            </p:custDataLst>
          </p:nvPr>
        </p:nvSpPr>
        <p:spPr>
          <a:xfrm>
            <a:off x="4058285" y="499046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400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616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291445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653905" y="183261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m[1][2]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m[3][4]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616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740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)(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548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(3*5)(5*2)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30+100+30 = 160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3" grpId="0"/>
      <p:bldP spid="55" grpId="0"/>
      <p:bldP spid="54" grpId="0"/>
      <p:bldP spid="56" grpId="0"/>
      <p:bldP spid="59" grpId="0"/>
      <p:bldP spid="7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18"/>
          <p:cNvSpPr/>
          <p:nvPr>
            <p:custDataLst>
              <p:tags r:id="rId8"/>
            </p:custDataLst>
          </p:nvPr>
        </p:nvSpPr>
        <p:spPr>
          <a:xfrm>
            <a:off x="4058285" y="2231390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>
            <p:custDataLst>
              <p:tags r:id="rId9"/>
            </p:custDataLst>
          </p:nvPr>
        </p:nvSpPr>
        <p:spPr>
          <a:xfrm>
            <a:off x="4058285" y="499046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400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616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291445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653905" y="183261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m[1][3]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m[4][4]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487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740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(3*10)(10*2)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160+0+60 = 220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3" grpId="0"/>
      <p:bldP spid="55" grpId="0"/>
      <p:bldP spid="54" grpId="0"/>
      <p:bldP spid="56" grpId="0"/>
      <p:bldP spid="59" grpId="0"/>
      <p:bldP spid="7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(3x2)、A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(2x5)、A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(5x10)、A</a:t>
            </a:r>
            <a:r>
              <a:rPr lang="zh-CN" altLang="en-US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(10x2)最佳计算次序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132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6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167370" y="1818640"/>
            <a:ext cx="1400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46" name="文本框 45"/>
          <p:cNvSpPr txBox="1"/>
          <p:nvPr/>
        </p:nvSpPr>
        <p:spPr>
          <a:xfrm>
            <a:off x="8167370" y="2217420"/>
            <a:ext cx="1616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/>
          </a:p>
        </p:txBody>
      </p:sp>
      <p:sp>
        <p:nvSpPr>
          <p:cNvPr id="47" name="文本框 46"/>
          <p:cNvSpPr txBox="1"/>
          <p:nvPr/>
        </p:nvSpPr>
        <p:spPr>
          <a:xfrm>
            <a:off x="5142230" y="1405890"/>
            <a:ext cx="17684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答题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思路：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22595" y="181864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291445" y="1818640"/>
            <a:ext cx="1038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9653905" y="1832610"/>
            <a:ext cx="47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1" name="文本框 50"/>
          <p:cNvSpPr txBox="1"/>
          <p:nvPr/>
        </p:nvSpPr>
        <p:spPr>
          <a:xfrm>
            <a:off x="5522595" y="22313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22595" y="265811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67370" y="2647315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m[1][3]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m[4][4]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67370" y="3399790"/>
            <a:ext cx="1487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67370" y="3046095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左边最少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167370" y="3735070"/>
            <a:ext cx="1740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22595" y="305689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522595" y="373507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167370" y="4127500"/>
            <a:ext cx="173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(3*10)(10*2)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67370" y="4518025"/>
            <a:ext cx="148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2595" y="489902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67370" y="4919345"/>
            <a:ext cx="3534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160+0+60 = 220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5522595" y="532066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⑦选择最少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连乘次数：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8168005" y="5711190"/>
            <a:ext cx="2736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168005" y="6089650"/>
            <a:ext cx="2493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220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68005" y="5300980"/>
            <a:ext cx="23615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 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132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endParaRPr lang="zh-CN" altLang="en-US" sz="2000" b="1" baseline="-2500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4165600" y="2231390"/>
            <a:ext cx="545465" cy="319405"/>
          </a:xfrm>
          <a:prstGeom prst="rect">
            <a:avLst/>
          </a:prstGeom>
          <a:solidFill>
            <a:srgbClr val="FCED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4165600" y="5037455"/>
            <a:ext cx="545465" cy="319405"/>
          </a:xfrm>
          <a:prstGeom prst="rect">
            <a:avLst/>
          </a:prstGeom>
          <a:solidFill>
            <a:srgbClr val="ECF4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  <p:bldP spid="14" grpId="0"/>
      <p:bldP spid="17" grpId="0" bldLvl="0" animBg="1"/>
      <p:bldP spid="20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68845" y="8890"/>
          <a:ext cx="4923155" cy="82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5520"/>
                <a:gridCol w="994410"/>
                <a:gridCol w="973455"/>
                <a:gridCol w="985520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p[0]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p[1]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p[2]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p[3]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p[4]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-635" y="782320"/>
            <a:ext cx="12192000" cy="459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(3x2)、A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(2x5)、A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(5x10)、A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(10x2)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最佳计算次序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1515" y="829310"/>
            <a:ext cx="3183890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总问题规模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个矩阵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" y="1242060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记录子问题的最少连乘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10795" y="1654810"/>
          <a:ext cx="4914900" cy="238442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132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5749925" y="0"/>
            <a:ext cx="151892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记录矩阵的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91835" y="1905"/>
            <a:ext cx="6399530" cy="854075"/>
          </a:xfrm>
          <a:prstGeom prst="rect">
            <a:avLst/>
          </a:prstGeom>
          <a:noFill/>
          <a:ln w="635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5"/>
            </p:custDataLst>
          </p:nvPr>
        </p:nvGraphicFramePr>
        <p:xfrm>
          <a:off x="8890" y="4451985"/>
          <a:ext cx="4914900" cy="238442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982980"/>
                <a:gridCol w="982980"/>
                <a:gridCol w="982980"/>
                <a:gridCol w="982980"/>
                <a:gridCol w="982980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s[i][j]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i=2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i=3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i=4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NULL</a:t>
                      </a:r>
                      <a:endParaRPr lang="en-US" altLang="zh-CN" sz="1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-635" y="4039235"/>
            <a:ext cx="514286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记录子问题的最佳分割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位置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83730" y="132461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12405" y="1324610"/>
            <a:ext cx="520700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41715" y="132461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470390" y="132461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矩形: 圆角 18"/>
          <p:cNvSpPr/>
          <p:nvPr/>
        </p:nvSpPr>
        <p:spPr>
          <a:xfrm>
            <a:off x="4062095" y="5009515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7658100" y="1221105"/>
            <a:ext cx="0" cy="58610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983730" y="195199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812405" y="1951990"/>
            <a:ext cx="520700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641715" y="195199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70390" y="195199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7750" y="195199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85680" y="1951990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矩形: 圆角 18"/>
          <p:cNvSpPr/>
          <p:nvPr/>
        </p:nvSpPr>
        <p:spPr>
          <a:xfrm>
            <a:off x="4062095" y="5480050"/>
            <a:ext cx="731520" cy="3276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8573770" y="1848485"/>
            <a:ext cx="0" cy="58610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983730" y="2507615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12405" y="2507615"/>
            <a:ext cx="520700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641715" y="2507615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470390" y="2507615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397750" y="2507615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101580" y="2507615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227060" y="2507615"/>
            <a:ext cx="52006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885680" y="2507615"/>
            <a:ext cx="437515" cy="48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18" grpId="0"/>
      <p:bldP spid="19" grpId="0" animBg="1"/>
      <p:bldP spid="12" grpId="0"/>
      <p:bldP spid="16" grpId="0"/>
      <p:bldP spid="22" grpId="0"/>
      <p:bldP spid="23" grpId="0"/>
      <p:bldP spid="26" grpId="0" animBg="1"/>
      <p:bldP spid="28" grpId="0"/>
      <p:bldP spid="29" grpId="0"/>
      <p:bldP spid="30" grpId="0"/>
      <p:bldP spid="31" grpId="0"/>
      <p:bldP spid="32" grpId="0"/>
      <p:bldP spid="33" grpId="0"/>
      <p:bldP spid="26" grpId="1" animBg="1"/>
      <p:bldP spid="34" grpId="0" bldLvl="0" animBg="1"/>
      <p:bldP spid="34" grpId="1" bldLvl="0" animBg="1"/>
      <p:bldP spid="36" grpId="0"/>
      <p:bldP spid="37" grpId="0"/>
      <p:bldP spid="38" grpId="0"/>
      <p:bldP spid="39" grpId="0"/>
      <p:bldP spid="40" grpId="0"/>
      <p:bldP spid="41" grpId="0"/>
      <p:bldP spid="43" grpId="0"/>
      <p:bldP spid="6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82320"/>
            <a:ext cx="292227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最优子结构性质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215390"/>
            <a:ext cx="34258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建立最优值的递归关系式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1648460"/>
          <a:ext cx="6104890" cy="117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3048000" imgH="584200" progId="Equation.KSEE3">
                  <p:embed/>
                </p:oleObj>
              </mc:Choice>
              <mc:Fallback>
                <p:oleObj name="" r:id="rId2" imgW="3048000" imgH="584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48460"/>
                        <a:ext cx="6104890" cy="1170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8410" y="1648460"/>
          <a:ext cx="71755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4" imgW="316865" imgH="190500" progId="Equation.KSEE3">
                  <p:embed/>
                </p:oleObj>
              </mc:Choice>
              <mc:Fallback>
                <p:oleObj name="" r:id="rId4" imgW="316865" imgH="1905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28410" y="1648460"/>
                        <a:ext cx="717550" cy="431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8410" y="2079625"/>
          <a:ext cx="71755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" imgW="316865" imgH="190500" progId="Equation.KSEE3">
                  <p:embed/>
                </p:oleObj>
              </mc:Choice>
              <mc:Fallback>
                <p:oleObj name="" r:id="rId6" imgW="316865" imgH="1905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28410" y="2079625"/>
                        <a:ext cx="717550" cy="431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0" y="2818765"/>
            <a:ext cx="213995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自底向上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90525" y="323786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①写出要连乘的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90525" y="365061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②按顺序切割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90525" y="407733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③查表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0525" y="447611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④算左右最少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90525" y="490918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0525" y="532955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一共最少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0525" y="5714365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⑦选择最少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连乘次数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74685" y="1787525"/>
            <a:ext cx="3079750" cy="560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8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...A</a:t>
            </a:r>
            <a:r>
              <a:rPr lang="en-US" altLang="zh-CN" sz="28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 sz="28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k+1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...A</a:t>
            </a:r>
            <a:r>
              <a:rPr lang="en-US" altLang="zh-CN" sz="28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endParaRPr lang="en-US" altLang="zh-CN" sz="28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6065520"/>
            <a:ext cx="249999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递归构造最优解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0525" y="6445250"/>
            <a:ext cx="26447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①查表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  <p:bldP spid="11" grpId="0"/>
      <p:bldP spid="48" grpId="0"/>
      <p:bldP spid="51" grpId="0"/>
      <p:bldP spid="52" grpId="0"/>
      <p:bldP spid="57" grpId="0"/>
      <p:bldP spid="58" grpId="0"/>
      <p:bldP spid="12" grpId="0"/>
      <p:bldP spid="13" grpId="0"/>
      <p:bldP spid="15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510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连乘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82320"/>
            <a:ext cx="4923155" cy="744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寻找最优值：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Θ(n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5125" y="782320"/>
            <a:ext cx="6746875" cy="4197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MatrixChain(int *p, int n, int **m, int **s){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m[i][i]= 0;  s[i][i]=0;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r = 2; r &lt;= n; r++){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i = 1; i &lt;= n-r+1; 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j = i + r - 1;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m[i][j]=m[i][i]+m[i+1][j]+p[i-1]*p{i]*p[j];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s[i][j]=i;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 (int k=i+1; k &lt; j; k++){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t=m[i]|k]+m[k+1][j]+p[i-1]*p[k]*p[j];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 (t &lt; m[i][j]){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m[i][j] = t;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828800" lvl="4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s[i][j]= k;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}}}}}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3790" y="782955"/>
            <a:ext cx="521335" cy="4197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</p:txBody>
      </p:sp>
      <p:sp>
        <p:nvSpPr>
          <p:cNvPr id="17" name="矩形: 圆角 18"/>
          <p:cNvSpPr/>
          <p:nvPr/>
        </p:nvSpPr>
        <p:spPr>
          <a:xfrm>
            <a:off x="5951220" y="1945005"/>
            <a:ext cx="3210560" cy="28638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18"/>
          <p:cNvSpPr/>
          <p:nvPr/>
        </p:nvSpPr>
        <p:spPr>
          <a:xfrm>
            <a:off x="6414135" y="2231390"/>
            <a:ext cx="3550285" cy="28638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6845935" y="3286125"/>
            <a:ext cx="3221355" cy="28638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35" y="1526540"/>
            <a:ext cx="4923155" cy="2018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构造最优解：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457200">
              <a:buFont typeface="Wingdings" panose="05000000000000000000" charset="0"/>
              <a:buNone/>
            </a:pP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求得：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Θ(n)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4405" y="1945005"/>
          <a:ext cx="2809240" cy="101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1270000" imgH="457200" progId="Equation.KSEE3">
                  <p:embed/>
                </p:oleObj>
              </mc:Choice>
              <mc:Fallback>
                <p:oleObj name="" r:id="rId2" imgW="1270000" imgH="457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4405" y="1945005"/>
                        <a:ext cx="2809240" cy="1011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77958" y="2030413"/>
          <a:ext cx="730885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330200" imgH="177165" progId="Equation.KSEE3">
                  <p:embed/>
                </p:oleObj>
              </mc:Choice>
              <mc:Fallback>
                <p:oleObj name="" r:id="rId4" imgW="330200" imgH="1771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77958" y="2030413"/>
                        <a:ext cx="730885" cy="392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77958" y="2517458"/>
          <a:ext cx="730885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6" imgW="330200" imgH="177165" progId="Equation.KSEE3">
                  <p:embed/>
                </p:oleObj>
              </mc:Choice>
              <mc:Fallback>
                <p:oleObj name="" r:id="rId6" imgW="330200" imgH="1771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77958" y="2517458"/>
                        <a:ext cx="730885" cy="392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761095" y="3290570"/>
            <a:ext cx="3055620" cy="235394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最优二叉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9667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339090" y="1215390"/>
            <a:ext cx="3940175" cy="720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x={A,B,A,B,C,A,B,D}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2165" y="1936115"/>
            <a:ext cx="2459355" cy="135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{A,B,A,B,C,A,B,D}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{D,A}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65195" y="1936115"/>
            <a:ext cx="947420" cy="135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: 圆角 18"/>
          <p:cNvSpPr/>
          <p:nvPr/>
        </p:nvSpPr>
        <p:spPr>
          <a:xfrm>
            <a:off x="981710" y="1936115"/>
            <a:ext cx="51562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: 圆角 18"/>
          <p:cNvSpPr/>
          <p:nvPr/>
        </p:nvSpPr>
        <p:spPr>
          <a:xfrm>
            <a:off x="1845945" y="1557020"/>
            <a:ext cx="51562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39090" y="3295650"/>
            <a:ext cx="6306820" cy="1337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子序列是原序列的一部分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子序列可以是原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子序列元素的顺序满足原序列相对位置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18"/>
          <p:cNvSpPr/>
          <p:nvPr/>
        </p:nvSpPr>
        <p:spPr>
          <a:xfrm>
            <a:off x="981710" y="2244725"/>
            <a:ext cx="199707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18"/>
          <p:cNvSpPr/>
          <p:nvPr/>
        </p:nvSpPr>
        <p:spPr>
          <a:xfrm>
            <a:off x="1845945" y="1557020"/>
            <a:ext cx="198691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981710" y="2553335"/>
            <a:ext cx="51562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18"/>
          <p:cNvSpPr/>
          <p:nvPr/>
        </p:nvSpPr>
        <p:spPr>
          <a:xfrm>
            <a:off x="1845945" y="1557020"/>
            <a:ext cx="19748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18"/>
          <p:cNvSpPr/>
          <p:nvPr/>
        </p:nvSpPr>
        <p:spPr>
          <a:xfrm>
            <a:off x="2864485" y="1557020"/>
            <a:ext cx="19748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18"/>
          <p:cNvSpPr/>
          <p:nvPr/>
        </p:nvSpPr>
        <p:spPr>
          <a:xfrm>
            <a:off x="981710" y="2882900"/>
            <a:ext cx="51562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21" grpId="0" animBg="1"/>
      <p:bldP spid="22" grpId="0" animBg="1"/>
      <p:bldP spid="21" grpId="1" animBg="1"/>
      <p:bldP spid="22" grpId="1" animBg="1"/>
      <p:bldP spid="24" grpId="0" bldLvl="0" animBg="1"/>
      <p:bldP spid="24" grpId="1" bldLvl="0" animBg="1"/>
      <p:bldP spid="25" grpId="0" bldLvl="0" animBg="1"/>
      <p:bldP spid="25" grpId="1" bldLvl="0" animBg="1"/>
      <p:bldP spid="26" grpId="0" bldLvl="0" animBg="1"/>
      <p:bldP spid="26" grpId="1" bldLvl="0" animBg="1"/>
      <p:bldP spid="27" grpId="0" bldLvl="0" animBg="1"/>
      <p:bldP spid="27" grpId="1" bldLvl="0" animBg="1"/>
      <p:bldP spid="28" grpId="0" bldLvl="0" animBg="1"/>
      <p:bldP spid="28" grpId="1" bldLvl="0" animBg="1"/>
      <p:bldP spid="29" grpId="0" bldLvl="0" animBg="1"/>
      <p:bldP spid="29" grpId="1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9667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339090" y="1215390"/>
            <a:ext cx="3940175" cy="720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x={A,B,A,B,C,A,B,D}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2165" y="1936115"/>
            <a:ext cx="2459355" cy="135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{A,B,A,B,C,A,B,D}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{D,A}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65195" y="1936115"/>
            <a:ext cx="947420" cy="135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9090" y="3295650"/>
            <a:ext cx="6306820" cy="1337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子序列是原序列的一部分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子序列可以是原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子序列元素的顺序满足原序列相对位置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0920" y="782320"/>
            <a:ext cx="198691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30010" y="1215390"/>
            <a:ext cx="3940175" cy="1029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y={A,A,A,A,B}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z={A,A,A,B,C}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44360" y="2244725"/>
            <a:ext cx="2459355" cy="1010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{A,A}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{A,A,A,B}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{B,C}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22765" y="2244725"/>
            <a:ext cx="947420" cy="1040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30010" y="3295650"/>
            <a:ext cx="5145405" cy="751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公共子序列是所有序列共有的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18"/>
          <p:cNvSpPr/>
          <p:nvPr/>
        </p:nvSpPr>
        <p:spPr>
          <a:xfrm>
            <a:off x="7107555" y="2244725"/>
            <a:ext cx="52641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18"/>
          <p:cNvSpPr/>
          <p:nvPr/>
        </p:nvSpPr>
        <p:spPr>
          <a:xfrm>
            <a:off x="7910830" y="1540510"/>
            <a:ext cx="52641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18"/>
          <p:cNvSpPr/>
          <p:nvPr/>
        </p:nvSpPr>
        <p:spPr>
          <a:xfrm>
            <a:off x="8209280" y="1865630"/>
            <a:ext cx="526415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18"/>
          <p:cNvSpPr/>
          <p:nvPr/>
        </p:nvSpPr>
        <p:spPr>
          <a:xfrm>
            <a:off x="7107555" y="258064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18"/>
          <p:cNvSpPr/>
          <p:nvPr/>
        </p:nvSpPr>
        <p:spPr>
          <a:xfrm>
            <a:off x="8208645" y="154051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: 圆角 18"/>
          <p:cNvSpPr/>
          <p:nvPr/>
        </p:nvSpPr>
        <p:spPr>
          <a:xfrm>
            <a:off x="7849235" y="186563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18"/>
          <p:cNvSpPr/>
          <p:nvPr/>
        </p:nvSpPr>
        <p:spPr>
          <a:xfrm>
            <a:off x="7107555" y="2858770"/>
            <a:ext cx="46355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: 圆角 18"/>
          <p:cNvSpPr/>
          <p:nvPr/>
        </p:nvSpPr>
        <p:spPr>
          <a:xfrm>
            <a:off x="8698230" y="1865630"/>
            <a:ext cx="46355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4" grpId="0" animBg="1"/>
      <p:bldP spid="15" grpId="0" animBg="1"/>
      <p:bldP spid="16" grpId="0" animBg="1"/>
      <p:bldP spid="24" grpId="1" animBg="1"/>
      <p:bldP spid="15" grpId="1" animBg="1"/>
      <p:bldP spid="16" grpId="1" animBg="1"/>
      <p:bldP spid="18" grpId="0" bldLvl="0" animBg="1"/>
      <p:bldP spid="18" grpId="1" bldLvl="0" animBg="1"/>
      <p:bldP spid="30" grpId="0" bldLvl="0" animBg="1"/>
      <p:bldP spid="30" grpId="1" bldLvl="0" animBg="1"/>
      <p:bldP spid="31" grpId="0" bldLvl="0" animBg="1"/>
      <p:bldP spid="31" grpId="1" bldLvl="0" animBg="1"/>
      <p:bldP spid="32" grpId="0" bldLvl="0" animBg="1"/>
      <p:bldP spid="32" grpId="1" bldLvl="0" animBg="1"/>
      <p:bldP spid="33" grpId="0" bldLvl="0" animBg="1"/>
      <p:bldP spid="33" grpId="1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9667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339090" y="1215390"/>
            <a:ext cx="3940175" cy="720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x={A,B,A,B,C,A,B,D}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2165" y="1936115"/>
            <a:ext cx="2459355" cy="135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{A,B,A,B,C,A,B,D}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{D,A}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65195" y="1936115"/>
            <a:ext cx="947420" cy="135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9090" y="3295650"/>
            <a:ext cx="6306820" cy="1337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子序列是原序列的一部分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子序列可以是原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子序列元素的顺序满足原序列相对位置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0920" y="782320"/>
            <a:ext cx="198691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30010" y="1215390"/>
            <a:ext cx="3940175" cy="1029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y={A,A,A,A,B}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z={A,A,A,B,C}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44360" y="2244725"/>
            <a:ext cx="2459355" cy="1010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{A,A}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{A,A,A,B}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{B,C}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22765" y="2244725"/>
            <a:ext cx="947420" cy="1040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30010" y="3295650"/>
            <a:ext cx="5145405" cy="751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公共子序列是所有序列共有的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子序列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0920" y="4558665"/>
            <a:ext cx="234569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44360" y="4991735"/>
            <a:ext cx="2459355" cy="722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{A,A}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{A,A,A,B}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03715" y="4991735"/>
            <a:ext cx="947420" cy="722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246888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最优子结构性质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68880" y="782320"/>
            <a:ext cx="9723120" cy="6075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}是序列X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={x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}和序列Y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={y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}的最长公共子序列。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a)若z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={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的最长公共子序列。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证明:设Z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的最长公共子序列，则对序列X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来说，应该有它们的最长公共子序列，设其最长公共子序列为M。因此有:|Z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&lt;|M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的最后均添加一个相同的字符z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+{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}和M+{z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}均是X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的公共子序列。又由于|Z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+{z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}=Z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&lt;|M+{z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}|，故Z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的最长公共子序列，与前提矛盾，假设不真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b)若x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，则Z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,的最长公共子序列。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设Z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,的最长公共子序列，则对序列X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,来说，应该有它们的最长公共子序列，设其最长公共子序列为M。由此有:|Z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的最后添加一个字符x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，则M也是X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的公共子序列。又由于|Z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&lt;|M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，故Z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的最长公共子序列，与前提矛盾，得证。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c)若x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的最长公共子序列。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的最长公共子序列，则对序列X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来说，应该有它们的最长公共子序列，设其最长公共子序列为M。由此有: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的最后添加一个字符y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，则M也是X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,的公共子序列。又由于|Z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&lt;|M|，故Z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和Y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,的最长公共子序列，与前提矛盾，得证。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291147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建立最优值递归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关系式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215390"/>
            <a:ext cx="259270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描述子问题：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endParaRPr lang="en-US" altLang="zh-CN" sz="2000" b="1" baseline="-25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648460"/>
            <a:ext cx="40335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描述最长公共子序列长度：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c[i][j]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2081530"/>
          <a:ext cx="5656580" cy="177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2260600" imgH="711200" progId="Equation.KSEE3">
                  <p:embed/>
                </p:oleObj>
              </mc:Choice>
              <mc:Fallback>
                <p:oleObj name="" r:id="rId2" imgW="22606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081530"/>
                        <a:ext cx="5656580" cy="1779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10568" y="2160905"/>
          <a:ext cx="184340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736600" imgH="215900" progId="Equation.KSEE3">
                  <p:embed/>
                </p:oleObj>
              </mc:Choice>
              <mc:Fallback>
                <p:oleObj name="" r:id="rId4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0568" y="2160905"/>
                        <a:ext cx="184340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10886" y="2669223"/>
          <a:ext cx="228854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914400" imgH="241300" progId="Equation.KSEE3">
                  <p:embed/>
                </p:oleObj>
              </mc:Choice>
              <mc:Fallback>
                <p:oleObj name="" r:id="rId6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10886" y="2669223"/>
                        <a:ext cx="2288540" cy="604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11521" y="3256598"/>
          <a:ext cx="228854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8" imgW="914400" imgH="241300" progId="Equation.KSEE3">
                  <p:embed/>
                </p:oleObj>
              </mc:Choice>
              <mc:Fallback>
                <p:oleObj name="" r:id="rId8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11521" y="3256598"/>
                        <a:ext cx="2288540" cy="604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21630" y="0"/>
          <a:ext cx="4124325" cy="1297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3" imgW="2260600" imgH="711200" progId="Equation.KSEE3">
                  <p:embed/>
                </p:oleObj>
              </mc:Choice>
              <mc:Fallback>
                <p:oleObj name="" r:id="rId3" imgW="22606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1630" y="0"/>
                        <a:ext cx="4124325" cy="1297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9658350" y="0"/>
          <a:ext cx="149479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6" imgW="736600" imgH="215900" progId="Equation.KSEE3">
                  <p:embed/>
                </p:oleObj>
              </mc:Choice>
              <mc:Fallback>
                <p:oleObj name="" r:id="rId6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658350" y="0"/>
                        <a:ext cx="149479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658350" y="43815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9" imgW="914400" imgH="241300" progId="Equation.KSEE3">
                  <p:embed/>
                </p:oleObj>
              </mc:Choice>
              <mc:Fallback>
                <p:oleObj name="" r:id="rId9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58350" y="43815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9658350" y="80772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2" imgW="914400" imgH="241300" progId="Equation.KSEE3">
                  <p:embed/>
                </p:oleObj>
              </mc:Choice>
              <mc:Fallback>
                <p:oleObj name="" r:id="rId12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658350" y="80772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14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: 圆角 18"/>
          <p:cNvSpPr/>
          <p:nvPr>
            <p:custDataLst>
              <p:tags r:id="rId15"/>
            </p:custDataLst>
          </p:nvPr>
        </p:nvSpPr>
        <p:spPr>
          <a:xfrm>
            <a:off x="588010" y="2931160"/>
            <a:ext cx="987869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: 圆角 18"/>
          <p:cNvSpPr/>
          <p:nvPr>
            <p:custDataLst>
              <p:tags r:id="rId16"/>
            </p:custDataLst>
          </p:nvPr>
        </p:nvSpPr>
        <p:spPr>
          <a:xfrm>
            <a:off x="1967230" y="2047875"/>
            <a:ext cx="852805" cy="427164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18"/>
          <p:cNvSpPr/>
          <p:nvPr>
            <p:custDataLst>
              <p:tags r:id="rId17"/>
            </p:custDataLst>
          </p:nvPr>
        </p:nvSpPr>
        <p:spPr>
          <a:xfrm>
            <a:off x="7226935" y="635"/>
            <a:ext cx="3925570" cy="4368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089660" y="31280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82003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45" grpId="0"/>
      <p:bldP spid="39" grpId="0"/>
      <p:bldP spid="40" grpId="0"/>
      <p:bldP spid="41" grpId="0"/>
      <p:bldP spid="42" grpId="0"/>
      <p:bldP spid="43" grpId="0"/>
      <p:bldP spid="44" grpId="0"/>
      <p:bldP spid="46" grpId="0"/>
      <p:bldP spid="47" grpId="0"/>
      <p:bldP spid="49" grpId="0"/>
      <p:bldP spid="50" grpId="0"/>
      <p:bldP spid="51" grpId="0"/>
      <p:bldP spid="52" grpId="0"/>
      <p:bldP spid="53" grpId="0"/>
      <p:bldP spid="54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24" grpId="0"/>
      <p:bldP spid="25" grpId="0"/>
      <p:bldP spid="26" grpId="0"/>
      <p:bldP spid="27" grpId="0"/>
      <p:bldP spid="28" grpId="0"/>
      <p:bldP spid="29" grpId="0"/>
      <p:bldP spid="55" grpId="0"/>
      <p:bldP spid="56" grpId="0"/>
      <p:bldP spid="57" grpId="0" bldLvl="0" animBg="1"/>
      <p:bldP spid="58" grpId="0" bldLvl="0" animBg="1"/>
      <p:bldP spid="59" grpId="0" bldLvl="0" animBg="1"/>
      <p:bldP spid="62" grpId="0"/>
      <p:bldP spid="6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21630" y="0"/>
          <a:ext cx="4124325" cy="1297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3" imgW="2260600" imgH="711200" progId="Equation.KSEE3">
                  <p:embed/>
                </p:oleObj>
              </mc:Choice>
              <mc:Fallback>
                <p:oleObj name="" r:id="rId3" imgW="22606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1630" y="0"/>
                        <a:ext cx="4124325" cy="1297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9658350" y="0"/>
          <a:ext cx="149479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6" imgW="736600" imgH="215900" progId="Equation.KSEE3">
                  <p:embed/>
                </p:oleObj>
              </mc:Choice>
              <mc:Fallback>
                <p:oleObj name="" r:id="rId6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658350" y="0"/>
                        <a:ext cx="149479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658350" y="43815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9" imgW="914400" imgH="241300" progId="Equation.KSEE3">
                  <p:embed/>
                </p:oleObj>
              </mc:Choice>
              <mc:Fallback>
                <p:oleObj name="" r:id="rId9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58350" y="43815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9658350" y="80772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2" imgW="914400" imgH="241300" progId="Equation.KSEE3">
                  <p:embed/>
                </p:oleObj>
              </mc:Choice>
              <mc:Fallback>
                <p:oleObj name="" r:id="rId12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658350" y="80772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14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: 圆角 18"/>
          <p:cNvSpPr/>
          <p:nvPr/>
        </p:nvSpPr>
        <p:spPr>
          <a:xfrm>
            <a:off x="7226935" y="635"/>
            <a:ext cx="3925570" cy="4368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57400" y="29730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44545" y="293116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98670" y="29730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895340" y="29730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226935" y="29730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446770" y="29730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745345" y="29730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057400" y="334391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057400" y="379158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057400" y="430149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2057400" y="464820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2057400" y="509524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080260" y="552640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2070100" y="595757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514985" y="2931160"/>
            <a:ext cx="987869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: 圆角 18"/>
          <p:cNvSpPr/>
          <p:nvPr/>
        </p:nvSpPr>
        <p:spPr>
          <a:xfrm>
            <a:off x="1978025" y="2047875"/>
            <a:ext cx="852805" cy="427164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37" grpId="0" animBg="1"/>
      <p:bldP spid="48" grpId="0" animBg="1"/>
      <p:bldP spid="60" grpId="0" animBg="1"/>
      <p:bldP spid="61" grpId="0" animBg="1"/>
      <p:bldP spid="62" grpId="0" animBg="1"/>
      <p:bldP spid="58" grpId="0" animBg="1"/>
      <p:bldP spid="57" grpId="0" animBg="1"/>
      <p:bldP spid="5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21630" y="0"/>
          <a:ext cx="4124325" cy="1297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3" imgW="2260600" imgH="711200" progId="Equation.KSEE3">
                  <p:embed/>
                </p:oleObj>
              </mc:Choice>
              <mc:Fallback>
                <p:oleObj name="" r:id="rId3" imgW="22606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1630" y="0"/>
                        <a:ext cx="4124325" cy="1297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9658350" y="0"/>
          <a:ext cx="149479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6" imgW="736600" imgH="215900" progId="Equation.KSEE3">
                  <p:embed/>
                </p:oleObj>
              </mc:Choice>
              <mc:Fallback>
                <p:oleObj name="" r:id="rId6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658350" y="0"/>
                        <a:ext cx="149479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658350" y="43815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9" imgW="914400" imgH="241300" progId="Equation.KSEE3">
                  <p:embed/>
                </p:oleObj>
              </mc:Choice>
              <mc:Fallback>
                <p:oleObj name="" r:id="rId9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58350" y="43815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9658350" y="80772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2" imgW="914400" imgH="241300" progId="Equation.KSEE3">
                  <p:embed/>
                </p:oleObj>
              </mc:Choice>
              <mc:Fallback>
                <p:oleObj name="" r:id="rId12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658350" y="80772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344545" y="30327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30327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30327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30327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30327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30327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8785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43072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735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51828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629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60610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6492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14"/>
            </p:custDataLst>
          </p:nvPr>
        </p:nvGraphicFramePr>
        <p:xfrm>
          <a:off x="1727835" y="343154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6339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34582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8735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4326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735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51854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6140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6042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64649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30670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5825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: 圆角 18"/>
          <p:cNvSpPr/>
          <p:nvPr/>
        </p:nvSpPr>
        <p:spPr>
          <a:xfrm>
            <a:off x="7421245" y="1270"/>
            <a:ext cx="3810000" cy="4368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446770" y="387858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890895" y="394716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9755505" y="397383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7159625" y="387858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3344545" y="397383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598670" y="387858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/>
          <p:nvPr/>
        </p:nvCxnSpPr>
        <p:spPr>
          <a:xfrm flipH="1" flipV="1">
            <a:off x="2808605" y="2197100"/>
            <a:ext cx="474345" cy="15582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0" y="1856740"/>
            <a:ext cx="5801360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c[0][1]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2120" y="3874135"/>
            <a:ext cx="10257790" cy="303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88790" y="2634615"/>
            <a:ext cx="6493510" cy="424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73070" y="2582545"/>
            <a:ext cx="7913370" cy="424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 bldLvl="0" animBg="1"/>
      <p:bldP spid="9" grpId="1" animBg="1"/>
      <p:bldP spid="7" grpId="1" animBg="1"/>
      <p:bldP spid="10" grpId="0" bldLvl="0" animBg="1"/>
      <p:bldP spid="10" grpId="1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21630" y="0"/>
          <a:ext cx="4124325" cy="1297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3" imgW="2260600" imgH="711200" progId="Equation.KSEE3">
                  <p:embed/>
                </p:oleObj>
              </mc:Choice>
              <mc:Fallback>
                <p:oleObj name="" r:id="rId3" imgW="22606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1630" y="0"/>
                        <a:ext cx="4124325" cy="1297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9658350" y="0"/>
          <a:ext cx="149479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6" imgW="736600" imgH="215900" progId="Equation.KSEE3">
                  <p:embed/>
                </p:oleObj>
              </mc:Choice>
              <mc:Fallback>
                <p:oleObj name="" r:id="rId6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658350" y="0"/>
                        <a:ext cx="149479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658350" y="43815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9" imgW="914400" imgH="241300" progId="Equation.KSEE3">
                  <p:embed/>
                </p:oleObj>
              </mc:Choice>
              <mc:Fallback>
                <p:oleObj name="" r:id="rId9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58350" y="43815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9658350" y="807720"/>
          <a:ext cx="185610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2" imgW="914400" imgH="241300" progId="Equation.KSEE3">
                  <p:embed/>
                </p:oleObj>
              </mc:Choice>
              <mc:Fallback>
                <p:oleObj name="" r:id="rId12" imgW="9144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658350" y="807720"/>
                        <a:ext cx="185610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14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: 圆角 18"/>
          <p:cNvSpPr/>
          <p:nvPr/>
        </p:nvSpPr>
        <p:spPr>
          <a:xfrm>
            <a:off x="6539230" y="861060"/>
            <a:ext cx="4975860" cy="4368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446770" y="334391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890895" y="341249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9755505" y="343916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7159625" y="334391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3344545" y="343916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598670" y="3343910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3041015" y="337058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: 圆角 18"/>
          <p:cNvSpPr/>
          <p:nvPr/>
        </p:nvSpPr>
        <p:spPr>
          <a:xfrm>
            <a:off x="1848485" y="334391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: 圆角 18"/>
          <p:cNvSpPr/>
          <p:nvPr/>
        </p:nvSpPr>
        <p:spPr>
          <a:xfrm>
            <a:off x="3118485" y="293116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: 圆角 58"/>
          <p:cNvSpPr/>
          <p:nvPr/>
        </p:nvSpPr>
        <p:spPr>
          <a:xfrm>
            <a:off x="3512185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: 圆角 58"/>
          <p:cNvSpPr/>
          <p:nvPr/>
        </p:nvSpPr>
        <p:spPr>
          <a:xfrm>
            <a:off x="1235075" y="332930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: 圆角 18"/>
          <p:cNvSpPr/>
          <p:nvPr/>
        </p:nvSpPr>
        <p:spPr>
          <a:xfrm>
            <a:off x="4297680" y="335851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: 圆角 58"/>
          <p:cNvSpPr/>
          <p:nvPr/>
        </p:nvSpPr>
        <p:spPr>
          <a:xfrm>
            <a:off x="1235075" y="331025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: 圆角 58"/>
          <p:cNvSpPr/>
          <p:nvPr/>
        </p:nvSpPr>
        <p:spPr>
          <a:xfrm>
            <a:off x="474726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: 圆角 18"/>
          <p:cNvSpPr/>
          <p:nvPr/>
        </p:nvSpPr>
        <p:spPr>
          <a:xfrm>
            <a:off x="6539230" y="875665"/>
            <a:ext cx="4975860" cy="4368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: 圆角 18"/>
          <p:cNvSpPr/>
          <p:nvPr/>
        </p:nvSpPr>
        <p:spPr>
          <a:xfrm>
            <a:off x="3118485" y="3358515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: 圆角 18"/>
          <p:cNvSpPr/>
          <p:nvPr/>
        </p:nvSpPr>
        <p:spPr>
          <a:xfrm>
            <a:off x="4412615" y="293116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: 圆角 18"/>
          <p:cNvSpPr/>
          <p:nvPr/>
        </p:nvSpPr>
        <p:spPr>
          <a:xfrm>
            <a:off x="6855460" y="333883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: 圆角 58"/>
          <p:cNvSpPr/>
          <p:nvPr/>
        </p:nvSpPr>
        <p:spPr>
          <a:xfrm>
            <a:off x="1235075" y="333438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: 圆角 58"/>
          <p:cNvSpPr/>
          <p:nvPr/>
        </p:nvSpPr>
        <p:spPr>
          <a:xfrm>
            <a:off x="7280910" y="251523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: 圆角 18"/>
          <p:cNvSpPr/>
          <p:nvPr/>
        </p:nvSpPr>
        <p:spPr>
          <a:xfrm>
            <a:off x="6539230" y="448310"/>
            <a:ext cx="4975860" cy="4368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: 圆角 18"/>
          <p:cNvSpPr/>
          <p:nvPr/>
        </p:nvSpPr>
        <p:spPr>
          <a:xfrm>
            <a:off x="5664835" y="292354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ldLvl="0" animBg="1"/>
      <p:bldP spid="63" grpId="0" animBg="1"/>
      <p:bldP spid="66" grpId="0" animBg="1"/>
      <p:bldP spid="68" grpId="0" animBg="1"/>
      <p:bldP spid="67" grpId="0" animBg="1"/>
      <p:bldP spid="59" grpId="0" animBg="1"/>
      <p:bldP spid="61" grpId="0" animBg="1"/>
      <p:bldP spid="68" grpId="1" animBg="1"/>
      <p:bldP spid="63" grpId="1" animBg="1"/>
      <p:bldP spid="57" grpId="1" animBg="1"/>
      <p:bldP spid="66" grpId="1" animBg="1"/>
      <p:bldP spid="67" grpId="1" animBg="1"/>
      <p:bldP spid="59" grpId="1" animBg="1"/>
      <p:bldP spid="69" grpId="0" bldLvl="0" animBg="1"/>
      <p:bldP spid="69" grpId="1" bldLvl="0" animBg="1"/>
      <p:bldP spid="70" grpId="0" bldLvl="0" animBg="1"/>
      <p:bldP spid="70" grpId="1" bldLvl="0" animBg="1"/>
      <p:bldP spid="71" grpId="0" bldLvl="0" animBg="1"/>
      <p:bldP spid="71" grpId="1" bldLvl="0" animBg="1"/>
      <p:bldP spid="72" grpId="0" bldLvl="0" animBg="1"/>
      <p:bldP spid="72" grpId="1" bldLvl="0" animBg="1"/>
      <p:bldP spid="73" grpId="0" bldLvl="0" animBg="1"/>
      <p:bldP spid="73" grpId="1" bldLvl="0" animBg="1"/>
      <p:bldP spid="76" grpId="0" bldLvl="0" animBg="1"/>
      <p:bldP spid="76" grpId="1" bldLvl="0" animBg="1"/>
      <p:bldP spid="62" grpId="0" animBg="1"/>
      <p:bldP spid="37" grpId="0" animBg="1"/>
      <p:bldP spid="77" grpId="0" bldLvl="0" animBg="1"/>
      <p:bldP spid="77" grpId="1" bldLvl="0" animBg="1"/>
      <p:bldP spid="78" grpId="0" bldLvl="0" animBg="1"/>
      <p:bldP spid="78" grpId="1" bldLvl="0" animBg="1"/>
      <p:bldP spid="79" grpId="0" bldLvl="0" animBg="1"/>
      <p:bldP spid="79" grpId="1" bldLvl="0" animBg="1"/>
      <p:bldP spid="80" grpId="0" bldLvl="0" animBg="1"/>
      <p:bldP spid="80" grpId="1" bldLvl="0" animBg="1"/>
      <p:bldP spid="81" grpId="0" bldLvl="0" animBg="1"/>
      <p:bldP spid="81" grpId="1" bldLvl="0" animBg="1"/>
      <p:bldP spid="60" grpId="0" animBg="1"/>
      <p:bldP spid="23" grpId="0" animBg="1"/>
      <p:bldP spid="4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矩形: 圆角 58"/>
          <p:cNvSpPr/>
          <p:nvPr/>
        </p:nvSpPr>
        <p:spPr>
          <a:xfrm>
            <a:off x="3512185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: 圆角 58"/>
          <p:cNvSpPr/>
          <p:nvPr/>
        </p:nvSpPr>
        <p:spPr>
          <a:xfrm>
            <a:off x="1235075" y="37426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: 圆角 58"/>
          <p:cNvSpPr/>
          <p:nvPr/>
        </p:nvSpPr>
        <p:spPr>
          <a:xfrm>
            <a:off x="474726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: 圆角 58"/>
          <p:cNvSpPr/>
          <p:nvPr/>
        </p:nvSpPr>
        <p:spPr>
          <a:xfrm>
            <a:off x="6043930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3334385" y="387286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08830" y="379158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5873115" y="377253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7159625" y="379158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8446770" y="379158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9745345" y="379158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5388610" y="0"/>
            <a:ext cx="6804025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看左看上取最大；同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看左上角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⑤重复②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④直到表格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填完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: 圆角 58"/>
          <p:cNvSpPr/>
          <p:nvPr/>
        </p:nvSpPr>
        <p:spPr>
          <a:xfrm>
            <a:off x="7280910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: 圆角 58"/>
          <p:cNvSpPr/>
          <p:nvPr/>
        </p:nvSpPr>
        <p:spPr>
          <a:xfrm>
            <a:off x="8590280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: 圆角 58"/>
          <p:cNvSpPr/>
          <p:nvPr/>
        </p:nvSpPr>
        <p:spPr>
          <a:xfrm>
            <a:off x="9899015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68" grpId="0" animBg="1"/>
      <p:bldP spid="67" grpId="0" animBg="1"/>
      <p:bldP spid="58" grpId="0" animBg="1"/>
      <p:bldP spid="67" grpId="1" animBg="1"/>
      <p:bldP spid="71" grpId="0" animBg="1"/>
      <p:bldP spid="64" grpId="0" animBg="1"/>
      <p:bldP spid="71" grpId="1" animBg="1"/>
      <p:bldP spid="79" grpId="0" animBg="1"/>
      <p:bldP spid="65" grpId="0" animBg="1"/>
      <p:bldP spid="79" grpId="1" animBg="1"/>
      <p:bldP spid="84" grpId="0" animBg="1"/>
      <p:bldP spid="74" grpId="0" animBg="1"/>
      <p:bldP spid="84" grpId="1" animBg="1"/>
      <p:bldP spid="85" grpId="0" animBg="1"/>
      <p:bldP spid="75" grpId="0" animBg="1"/>
      <p:bldP spid="85" grpId="1" animBg="1"/>
      <p:bldP spid="86" grpId="0" animBg="1"/>
      <p:bldP spid="82" grpId="0" animBg="1"/>
      <p:bldP spid="86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2003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8432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4860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1289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92226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3099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5150" y="38582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5150" y="42868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6515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5150" y="51625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65150" y="56095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5150" y="60407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5150" y="64719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203325" y="341122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282003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8432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34860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1289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2226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3099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5575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500" y="34378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3500" y="38531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3500" y="43059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50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3500" y="5165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500" y="55937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500" y="60223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3500" y="64446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3500" y="30467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61720" y="25622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388610" y="0"/>
            <a:ext cx="6804025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看左看上取最大；同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看左上角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⑤重复②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④直到表格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填完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3"/>
            </p:custDataLst>
          </p:nvPr>
        </p:nvCxnSpPr>
        <p:spPr>
          <a:xfrm flipV="1">
            <a:off x="9754235" y="2086610"/>
            <a:ext cx="832485" cy="23590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591685" y="1731010"/>
            <a:ext cx="7600950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c[2][6]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44145" y="4740910"/>
            <a:ext cx="10041890" cy="2138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: 圆角 18"/>
          <p:cNvSpPr/>
          <p:nvPr/>
        </p:nvSpPr>
        <p:spPr>
          <a:xfrm>
            <a:off x="8999220" y="386969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9230995" y="4085590"/>
            <a:ext cx="244475" cy="18021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799965" y="5905500"/>
            <a:ext cx="7392035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c[1][6]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>
            <p:custDataLst>
              <p:tags r:id="rId6"/>
            </p:custDataLst>
          </p:nvPr>
        </p:nvSpPr>
        <p:spPr>
          <a:xfrm>
            <a:off x="9316720" y="4361815"/>
            <a:ext cx="648335" cy="29845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203325" y="3408680"/>
            <a:ext cx="7682230" cy="1296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0" grpId="0" bldLvl="0" animBg="1"/>
      <p:bldP spid="7" grpId="0" bldLvl="0" animBg="1"/>
      <p:bldP spid="11" grpId="0" bldLvl="0" animBg="1"/>
      <p:bldP spid="7" grpId="1" animBg="1"/>
      <p:bldP spid="11" grpId="1" animBg="1"/>
      <p:bldP spid="37" grpId="0" bldLvl="0" animBg="1"/>
      <p:bldP spid="13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2003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8432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4860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1289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92226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3099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5150" y="38582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5150" y="42868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6515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5150" y="51625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65150" y="56095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5150" y="60407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5150" y="64719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203325" y="341122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282003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8432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34860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1289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2226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3099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5575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500" y="34378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3500" y="38531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3500" y="43059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50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3500" y="5165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500" y="55937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500" y="60223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3500" y="64446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3500" y="30467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61720" y="25622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388610" y="0"/>
            <a:ext cx="6804025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看左看上取最大；同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看左上角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⑤重复②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④直到表格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填完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591685" y="1731010"/>
            <a:ext cx="7600950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c[2][6]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44145" y="4740910"/>
            <a:ext cx="10041890" cy="2138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: 圆角 18"/>
          <p:cNvSpPr/>
          <p:nvPr/>
        </p:nvSpPr>
        <p:spPr>
          <a:xfrm>
            <a:off x="7691120" y="428117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903085" y="4537710"/>
            <a:ext cx="922655" cy="5575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3705" y="5114290"/>
            <a:ext cx="7392035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c[2][5]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80195" y="4304030"/>
            <a:ext cx="688975" cy="400685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03325" y="3411220"/>
            <a:ext cx="9070340" cy="834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/>
          <p:nvPr>
            <p:custDataLst>
              <p:tags r:id="rId5"/>
            </p:custDataLst>
          </p:nvPr>
        </p:nvCxnSpPr>
        <p:spPr>
          <a:xfrm flipV="1">
            <a:off x="9754235" y="2086610"/>
            <a:ext cx="832485" cy="23590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2" grpId="0" animBg="1"/>
      <p:bldP spid="13" grpId="0" bldLvl="0" animBg="1"/>
      <p:bldP spid="3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2003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8432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4860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1289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92226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3099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5150" y="38582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5150" y="42868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6515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5150" y="51625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65150" y="56095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5150" y="60407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5150" y="64719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203325" y="341122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282003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8432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34860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1289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2226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3099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5575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500" y="34378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3500" y="38531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3500" y="43059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50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3500" y="5165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500" y="55937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500" y="60223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3500" y="64446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3500" y="30467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61720" y="25622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388610" y="0"/>
            <a:ext cx="6804025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看左看上取最大；同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看左上角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⑤重复②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④直到表格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填完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591685" y="1731010"/>
            <a:ext cx="7600950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c[2][6]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44145" y="4740910"/>
            <a:ext cx="10041890" cy="2138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: 圆角 18"/>
          <p:cNvSpPr/>
          <p:nvPr/>
        </p:nvSpPr>
        <p:spPr>
          <a:xfrm>
            <a:off x="7691120" y="428117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903085" y="4537710"/>
            <a:ext cx="922655" cy="5575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3705" y="5114290"/>
            <a:ext cx="7392035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c[2][5]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80195" y="4304030"/>
            <a:ext cx="688975" cy="400685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5"/>
            </p:custDataLst>
          </p:nvPr>
        </p:nvCxnSpPr>
        <p:spPr>
          <a:xfrm flipV="1">
            <a:off x="9754235" y="2086610"/>
            <a:ext cx="832485" cy="23590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: 圆角 18"/>
          <p:cNvSpPr/>
          <p:nvPr>
            <p:custDataLst>
              <p:tags r:id="rId6"/>
            </p:custDataLst>
          </p:nvPr>
        </p:nvSpPr>
        <p:spPr>
          <a:xfrm>
            <a:off x="8999220" y="386969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7"/>
            </p:custDataLst>
          </p:nvPr>
        </p:nvCxnSpPr>
        <p:spPr>
          <a:xfrm>
            <a:off x="9230995" y="4085590"/>
            <a:ext cx="244475" cy="18021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799965" y="5905500"/>
            <a:ext cx="7392035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c[1][6]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2003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8432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4860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1289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922260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30995" y="30124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5150" y="38582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5150" y="42868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6515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5150" y="51625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65150" y="56095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5150" y="60407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5150" y="64719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203325" y="341122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282003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8432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34860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1289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2226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30995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55750" y="26136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500" y="34378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3500" y="38531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3500" y="43059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500" y="4715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3500" y="5165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500" y="55937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500" y="60223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3500" y="64446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3500" y="30467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61720" y="25622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388610" y="0"/>
            <a:ext cx="6804025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看左看上取最大；同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看左上角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⑤重复②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④直到表格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填完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91710" y="1736090"/>
            <a:ext cx="7400925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c[2][5]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: 圆角 18"/>
          <p:cNvSpPr/>
          <p:nvPr/>
        </p:nvSpPr>
        <p:spPr>
          <a:xfrm>
            <a:off x="6445885" y="3858260"/>
            <a:ext cx="1101090" cy="3790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73735" y="4704715"/>
            <a:ext cx="9512300" cy="213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8487410" y="2117725"/>
            <a:ext cx="452755" cy="23456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6255385" y="4087495"/>
            <a:ext cx="462280" cy="80835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73735" y="4895850"/>
            <a:ext cx="7030720" cy="3816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c[1][4]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个字符（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940165" y="3437890"/>
            <a:ext cx="1246505" cy="3405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3" grpId="0" animBg="1"/>
      <p:bldP spid="11" grpId="0" animBg="1"/>
      <p:bldP spid="81" grpId="0" animBg="1"/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96925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015" y="1215390"/>
            <a:ext cx="119449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给定序列X={A, B,C, B, D,A, B}和Y={B,D,C,A,B,A}，求它们的最长公共子序列。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535295" y="782320"/>
            <a:ext cx="43891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填表的过程就是自底向上求解的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27835" y="4231005"/>
            <a:ext cx="8983345" cy="2127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782320"/>
            <a:ext cx="15189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最优解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964430" y="0"/>
            <a:ext cx="6795770" cy="1647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①从右下角出发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②确定表位置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看左看上数字大小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同：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先保存走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⑤谁大往谁走，相同一起走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⑥重复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直到走到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: 圆角 18"/>
          <p:cNvSpPr/>
          <p:nvPr>
            <p:custDataLst>
              <p:tags r:id="rId5"/>
            </p:custDataLst>
          </p:nvPr>
        </p:nvSpPr>
        <p:spPr>
          <a:xfrm>
            <a:off x="9454515" y="595757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: 圆角 18"/>
          <p:cNvSpPr/>
          <p:nvPr>
            <p:custDataLst>
              <p:tags r:id="rId6"/>
            </p:custDataLst>
          </p:nvPr>
        </p:nvSpPr>
        <p:spPr>
          <a:xfrm>
            <a:off x="9454515" y="550799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: 圆角 18"/>
          <p:cNvSpPr/>
          <p:nvPr>
            <p:custDataLst>
              <p:tags r:id="rId7"/>
            </p:custDataLst>
          </p:nvPr>
        </p:nvSpPr>
        <p:spPr>
          <a:xfrm>
            <a:off x="8137525" y="595757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18"/>
          <p:cNvSpPr/>
          <p:nvPr>
            <p:custDataLst>
              <p:tags r:id="rId8"/>
            </p:custDataLst>
          </p:nvPr>
        </p:nvSpPr>
        <p:spPr>
          <a:xfrm>
            <a:off x="8137525" y="507936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58"/>
          <p:cNvSpPr/>
          <p:nvPr>
            <p:custDataLst>
              <p:tags r:id="rId9"/>
            </p:custDataLst>
          </p:nvPr>
        </p:nvSpPr>
        <p:spPr>
          <a:xfrm>
            <a:off x="1235075" y="552196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58"/>
          <p:cNvSpPr/>
          <p:nvPr>
            <p:custDataLst>
              <p:tags r:id="rId10"/>
            </p:custDataLst>
          </p:nvPr>
        </p:nvSpPr>
        <p:spPr>
          <a:xfrm>
            <a:off x="990727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8"/>
          <p:cNvSpPr/>
          <p:nvPr>
            <p:custDataLst>
              <p:tags r:id="rId11"/>
            </p:custDataLst>
          </p:nvPr>
        </p:nvSpPr>
        <p:spPr>
          <a:xfrm>
            <a:off x="8137525" y="464820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58"/>
          <p:cNvSpPr/>
          <p:nvPr>
            <p:custDataLst>
              <p:tags r:id="rId12"/>
            </p:custDataLst>
          </p:nvPr>
        </p:nvSpPr>
        <p:spPr>
          <a:xfrm>
            <a:off x="1235075" y="465074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58"/>
          <p:cNvSpPr/>
          <p:nvPr>
            <p:custDataLst>
              <p:tags r:id="rId13"/>
            </p:custDataLst>
          </p:nvPr>
        </p:nvSpPr>
        <p:spPr>
          <a:xfrm>
            <a:off x="859028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>
            <p:custDataLst>
              <p:tags r:id="rId14"/>
            </p:custDataLst>
          </p:nvPr>
        </p:nvSpPr>
        <p:spPr>
          <a:xfrm>
            <a:off x="6880860" y="420116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18"/>
          <p:cNvSpPr/>
          <p:nvPr>
            <p:custDataLst>
              <p:tags r:id="rId15"/>
            </p:custDataLst>
          </p:nvPr>
        </p:nvSpPr>
        <p:spPr>
          <a:xfrm>
            <a:off x="5563870" y="420116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58"/>
          <p:cNvSpPr/>
          <p:nvPr>
            <p:custDataLst>
              <p:tags r:id="rId16"/>
            </p:custDataLst>
          </p:nvPr>
        </p:nvSpPr>
        <p:spPr>
          <a:xfrm>
            <a:off x="1235075" y="420116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58"/>
          <p:cNvSpPr/>
          <p:nvPr>
            <p:custDataLst>
              <p:tags r:id="rId17"/>
            </p:custDataLst>
          </p:nvPr>
        </p:nvSpPr>
        <p:spPr>
          <a:xfrm>
            <a:off x="6043930" y="253238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: 圆角 18"/>
          <p:cNvSpPr/>
          <p:nvPr>
            <p:custDataLst>
              <p:tags r:id="rId18"/>
            </p:custDataLst>
          </p:nvPr>
        </p:nvSpPr>
        <p:spPr>
          <a:xfrm>
            <a:off x="4307205" y="377253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>
            <p:custDataLst>
              <p:tags r:id="rId19"/>
            </p:custDataLst>
          </p:nvPr>
        </p:nvSpPr>
        <p:spPr>
          <a:xfrm>
            <a:off x="2969260" y="379158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>
            <p:custDataLst>
              <p:tags r:id="rId20"/>
            </p:custDataLst>
          </p:nvPr>
        </p:nvSpPr>
        <p:spPr>
          <a:xfrm>
            <a:off x="1226185" y="373761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: 圆角 58"/>
          <p:cNvSpPr/>
          <p:nvPr>
            <p:custDataLst>
              <p:tags r:id="rId21"/>
            </p:custDataLst>
          </p:nvPr>
        </p:nvSpPr>
        <p:spPr>
          <a:xfrm>
            <a:off x="3488055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: 圆角 18"/>
          <p:cNvSpPr/>
          <p:nvPr>
            <p:custDataLst>
              <p:tags r:id="rId22"/>
            </p:custDataLst>
          </p:nvPr>
        </p:nvSpPr>
        <p:spPr>
          <a:xfrm>
            <a:off x="1771015" y="334391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3660" y="6476365"/>
            <a:ext cx="5970270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最长公共子序列长度为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BCBA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7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5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37" grpId="0" bldLvl="0" animBg="1"/>
      <p:bldP spid="48" grpId="0" bldLvl="0" animBg="1"/>
      <p:bldP spid="57" grpId="0" bldLvl="0" animBg="1"/>
      <p:bldP spid="59" grpId="0" bldLvl="0" animBg="1"/>
      <p:bldP spid="60" grpId="0" bldLvl="0" animBg="1"/>
      <p:bldP spid="61" grpId="0" bldLvl="0" animBg="1"/>
      <p:bldP spid="62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782320"/>
            <a:ext cx="15189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最优解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414780" y="966470"/>
            <a:ext cx="6722110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①从右下角出发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②确定表位置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看左看上数字大小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；同：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先保存走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⑤谁大往谁走，相同一起走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⑥重复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直到走到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: 圆角 18"/>
          <p:cNvSpPr/>
          <p:nvPr>
            <p:custDataLst>
              <p:tags r:id="rId5"/>
            </p:custDataLst>
          </p:nvPr>
        </p:nvSpPr>
        <p:spPr>
          <a:xfrm>
            <a:off x="9454515" y="595757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: 圆角 18"/>
          <p:cNvSpPr/>
          <p:nvPr>
            <p:custDataLst>
              <p:tags r:id="rId6"/>
            </p:custDataLst>
          </p:nvPr>
        </p:nvSpPr>
        <p:spPr>
          <a:xfrm>
            <a:off x="8137525" y="595757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58"/>
          <p:cNvSpPr/>
          <p:nvPr/>
        </p:nvSpPr>
        <p:spPr>
          <a:xfrm>
            <a:off x="1226185" y="595757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58"/>
          <p:cNvSpPr/>
          <p:nvPr/>
        </p:nvSpPr>
        <p:spPr>
          <a:xfrm>
            <a:off x="7280910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58"/>
          <p:cNvSpPr/>
          <p:nvPr/>
        </p:nvSpPr>
        <p:spPr>
          <a:xfrm>
            <a:off x="1235075" y="551688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58"/>
          <p:cNvSpPr/>
          <p:nvPr/>
        </p:nvSpPr>
        <p:spPr>
          <a:xfrm>
            <a:off x="859028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58"/>
          <p:cNvSpPr/>
          <p:nvPr/>
        </p:nvSpPr>
        <p:spPr>
          <a:xfrm>
            <a:off x="1235075" y="420116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58"/>
          <p:cNvSpPr/>
          <p:nvPr/>
        </p:nvSpPr>
        <p:spPr>
          <a:xfrm>
            <a:off x="6043930" y="251523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: 圆角 18"/>
          <p:cNvSpPr/>
          <p:nvPr/>
        </p:nvSpPr>
        <p:spPr>
          <a:xfrm>
            <a:off x="4307205" y="377253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2969260" y="379158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1226185" y="373761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: 圆角 58"/>
          <p:cNvSpPr/>
          <p:nvPr/>
        </p:nvSpPr>
        <p:spPr>
          <a:xfrm>
            <a:off x="3488055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: 圆角 18"/>
          <p:cNvSpPr/>
          <p:nvPr/>
        </p:nvSpPr>
        <p:spPr>
          <a:xfrm>
            <a:off x="1771015" y="334391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8260" y="6476365"/>
            <a:ext cx="5995670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最长公共子序列长度为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BCAB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18"/>
          <p:cNvSpPr/>
          <p:nvPr/>
        </p:nvSpPr>
        <p:spPr>
          <a:xfrm>
            <a:off x="6880860" y="550799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18"/>
          <p:cNvSpPr/>
          <p:nvPr/>
        </p:nvSpPr>
        <p:spPr>
          <a:xfrm>
            <a:off x="5563870" y="507936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/>
        </p:nvSpPr>
        <p:spPr>
          <a:xfrm>
            <a:off x="4307205" y="507936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: 圆角 18"/>
          <p:cNvSpPr/>
          <p:nvPr/>
        </p:nvSpPr>
        <p:spPr>
          <a:xfrm>
            <a:off x="5563870" y="465074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7"/>
            </p:custDataLst>
          </p:nvPr>
        </p:nvSpPr>
        <p:spPr>
          <a:xfrm>
            <a:off x="6285865" y="327025"/>
            <a:ext cx="5911215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最长公共子序列长度为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BCBA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: 圆角 18"/>
          <p:cNvSpPr/>
          <p:nvPr/>
        </p:nvSpPr>
        <p:spPr>
          <a:xfrm>
            <a:off x="5563870" y="420116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  <p:bldP spid="4" grpId="0" animBg="1"/>
      <p:bldP spid="11" grpId="0" animBg="1"/>
      <p:bldP spid="15" grpId="0" animBg="1"/>
      <p:bldP spid="13" grpId="0" bldLvl="0" animBg="1"/>
      <p:bldP spid="17" grpId="0" bldLvl="0" animBg="1"/>
      <p:bldP spid="58" grpId="0" bldLvl="0" animBg="1"/>
      <p:bldP spid="64" grpId="0" bldLvl="0" animBg="1"/>
      <p:bldP spid="37" grpId="0" animBg="1"/>
      <p:bldP spid="21" grpId="0" animBg="1"/>
      <p:bldP spid="48" grpId="0" animBg="1"/>
      <p:bldP spid="57" grpId="0" animBg="1"/>
      <p:bldP spid="59" grpId="0" animBg="1"/>
      <p:bldP spid="60" grpId="0" animBg="1"/>
      <p:bldP spid="61" grpId="0" animBg="1"/>
      <p:bldP spid="62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782320"/>
            <a:ext cx="15189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最优解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414780" y="966470"/>
            <a:ext cx="6722110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①从右下角出发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②确定表位置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③比较字符异同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④异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看左看上数字大小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；同：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先保存走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⑤谁大往谁走，相同一起走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⑥重复②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⑤直到走到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: 圆角 18"/>
          <p:cNvSpPr/>
          <p:nvPr>
            <p:custDataLst>
              <p:tags r:id="rId5"/>
            </p:custDataLst>
          </p:nvPr>
        </p:nvSpPr>
        <p:spPr>
          <a:xfrm>
            <a:off x="9454515" y="595757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: 圆角 18"/>
          <p:cNvSpPr/>
          <p:nvPr>
            <p:custDataLst>
              <p:tags r:id="rId6"/>
            </p:custDataLst>
          </p:nvPr>
        </p:nvSpPr>
        <p:spPr>
          <a:xfrm>
            <a:off x="8137525" y="595757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58"/>
          <p:cNvSpPr/>
          <p:nvPr/>
        </p:nvSpPr>
        <p:spPr>
          <a:xfrm>
            <a:off x="1226185" y="595757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58"/>
          <p:cNvSpPr/>
          <p:nvPr/>
        </p:nvSpPr>
        <p:spPr>
          <a:xfrm>
            <a:off x="7280910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58"/>
          <p:cNvSpPr/>
          <p:nvPr/>
        </p:nvSpPr>
        <p:spPr>
          <a:xfrm>
            <a:off x="1235075" y="551688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58"/>
          <p:cNvSpPr/>
          <p:nvPr/>
        </p:nvSpPr>
        <p:spPr>
          <a:xfrm>
            <a:off x="859028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58"/>
          <p:cNvSpPr/>
          <p:nvPr/>
        </p:nvSpPr>
        <p:spPr>
          <a:xfrm>
            <a:off x="1235075" y="504698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58"/>
          <p:cNvSpPr/>
          <p:nvPr/>
        </p:nvSpPr>
        <p:spPr>
          <a:xfrm>
            <a:off x="4752340" y="249809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1235075" y="459994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: 圆角 58"/>
          <p:cNvSpPr/>
          <p:nvPr/>
        </p:nvSpPr>
        <p:spPr>
          <a:xfrm>
            <a:off x="3488055" y="248856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8260" y="6476365"/>
            <a:ext cx="6024245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最长公共子序列长度为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BDAB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18"/>
          <p:cNvSpPr/>
          <p:nvPr/>
        </p:nvSpPr>
        <p:spPr>
          <a:xfrm>
            <a:off x="6880860" y="550799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18"/>
          <p:cNvSpPr/>
          <p:nvPr/>
        </p:nvSpPr>
        <p:spPr>
          <a:xfrm>
            <a:off x="5563870" y="507936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/>
        </p:nvSpPr>
        <p:spPr>
          <a:xfrm>
            <a:off x="4307205" y="507936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7"/>
            </p:custDataLst>
          </p:nvPr>
        </p:nvSpPr>
        <p:spPr>
          <a:xfrm>
            <a:off x="6071870" y="327025"/>
            <a:ext cx="6120130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最长公共子序列长度为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最长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BCBA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32875" y="708660"/>
            <a:ext cx="3159125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最长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BCAB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18"/>
          <p:cNvSpPr/>
          <p:nvPr/>
        </p:nvSpPr>
        <p:spPr>
          <a:xfrm>
            <a:off x="3050540" y="4648200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18"/>
          <p:cNvSpPr/>
          <p:nvPr/>
        </p:nvSpPr>
        <p:spPr>
          <a:xfrm>
            <a:off x="1727835" y="4247515"/>
            <a:ext cx="1256665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1" grpId="0" animBg="1"/>
      <p:bldP spid="9" grpId="0" animBg="1"/>
      <p:bldP spid="59" grpId="0" animBg="1"/>
      <p:bldP spid="60" grpId="0" animBg="1"/>
      <p:bldP spid="12" grpId="0" bldLvl="0" animBg="1"/>
      <p:bldP spid="62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3735" y="75730"/>
            <a:ext cx="373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最长公共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子序列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084945" y="1090295"/>
            <a:ext cx="3107055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最长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BDAB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2"/>
            </p:custDataLst>
          </p:nvPr>
        </p:nvSpPr>
        <p:spPr>
          <a:xfrm>
            <a:off x="6161405" y="327025"/>
            <a:ext cx="6030595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最长公共子序列长度为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BCBA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84945" y="708660"/>
            <a:ext cx="3107055" cy="381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最长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公共子序列为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BCAB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0" y="1038860"/>
            <a:ext cx="147828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34454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460883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587311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713740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8446770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9755505" y="24980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9"/>
            </p:custDataLst>
          </p:nvPr>
        </p:nvSpPr>
        <p:spPr>
          <a:xfrm>
            <a:off x="1089660" y="33439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0"/>
            </p:custDataLst>
          </p:nvPr>
        </p:nvSpPr>
        <p:spPr>
          <a:xfrm>
            <a:off x="1089660" y="377253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1"/>
            </p:custDataLst>
          </p:nvPr>
        </p:nvSpPr>
        <p:spPr>
          <a:xfrm>
            <a:off x="108966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1089660" y="46482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1089660" y="50952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4"/>
            </p:custDataLst>
          </p:nvPr>
        </p:nvSpPr>
        <p:spPr>
          <a:xfrm>
            <a:off x="1089660" y="55264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15"/>
            </p:custDataLst>
          </p:nvPr>
        </p:nvSpPr>
        <p:spPr>
          <a:xfrm>
            <a:off x="1089660" y="59575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8" name="表格 67"/>
          <p:cNvGraphicFramePr/>
          <p:nvPr>
            <p:custDataLst>
              <p:tags r:id="rId16"/>
            </p:custDataLst>
          </p:nvPr>
        </p:nvGraphicFramePr>
        <p:xfrm>
          <a:off x="1727835" y="2896870"/>
          <a:ext cx="8983345" cy="3444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83335"/>
                <a:gridCol w="1283335"/>
                <a:gridCol w="1283335"/>
                <a:gridCol w="1283335"/>
                <a:gridCol w="1283335"/>
                <a:gridCol w="1283335"/>
                <a:gridCol w="1283335"/>
              </a:tblGrid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30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9" name="文本框 68"/>
          <p:cNvSpPr txBox="1"/>
          <p:nvPr>
            <p:custDataLst>
              <p:tags r:id="rId17"/>
            </p:custDataLst>
          </p:nvPr>
        </p:nvSpPr>
        <p:spPr>
          <a:xfrm>
            <a:off x="334454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18"/>
            </p:custDataLst>
          </p:nvPr>
        </p:nvSpPr>
        <p:spPr>
          <a:xfrm>
            <a:off x="460883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19"/>
            </p:custDataLst>
          </p:nvPr>
        </p:nvSpPr>
        <p:spPr>
          <a:xfrm>
            <a:off x="587311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0"/>
            </p:custDataLst>
          </p:nvPr>
        </p:nvSpPr>
        <p:spPr>
          <a:xfrm>
            <a:off x="713740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21"/>
            </p:custDataLst>
          </p:nvPr>
        </p:nvSpPr>
        <p:spPr>
          <a:xfrm>
            <a:off x="844677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22"/>
            </p:custDataLst>
          </p:nvPr>
        </p:nvSpPr>
        <p:spPr>
          <a:xfrm>
            <a:off x="9755505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23"/>
            </p:custDataLst>
          </p:nvPr>
        </p:nvSpPr>
        <p:spPr>
          <a:xfrm>
            <a:off x="2080260" y="20993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24"/>
            </p:custDataLst>
          </p:nvPr>
        </p:nvSpPr>
        <p:spPr>
          <a:xfrm>
            <a:off x="588010" y="29235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25"/>
            </p:custDataLst>
          </p:nvPr>
        </p:nvSpPr>
        <p:spPr>
          <a:xfrm>
            <a:off x="588010" y="333883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26"/>
            </p:custDataLst>
          </p:nvPr>
        </p:nvSpPr>
        <p:spPr>
          <a:xfrm>
            <a:off x="588010" y="379158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27"/>
            </p:custDataLst>
          </p:nvPr>
        </p:nvSpPr>
        <p:spPr>
          <a:xfrm>
            <a:off x="588010" y="420116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28"/>
            </p:custDataLst>
          </p:nvPr>
        </p:nvSpPr>
        <p:spPr>
          <a:xfrm>
            <a:off x="588010" y="465074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29"/>
            </p:custDataLst>
          </p:nvPr>
        </p:nvSpPr>
        <p:spPr>
          <a:xfrm>
            <a:off x="588010" y="50793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30"/>
            </p:custDataLst>
          </p:nvPr>
        </p:nvSpPr>
        <p:spPr>
          <a:xfrm>
            <a:off x="588010" y="55079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>
            <p:custDataLst>
              <p:tags r:id="rId31"/>
            </p:custDataLst>
          </p:nvPr>
        </p:nvSpPr>
        <p:spPr>
          <a:xfrm>
            <a:off x="588010" y="5930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32"/>
            </p:custDataLst>
          </p:nvPr>
        </p:nvSpPr>
        <p:spPr>
          <a:xfrm>
            <a:off x="588010" y="253238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33"/>
            </p:custDataLst>
          </p:nvPr>
        </p:nvSpPr>
        <p:spPr>
          <a:xfrm>
            <a:off x="1586230" y="20478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47015" y="1471930"/>
            <a:ext cx="6966585" cy="381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，序列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，则时间消耗为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O(mn)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761095" y="3290570"/>
            <a:ext cx="3055620" cy="235394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加工顺序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最优二叉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5542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加工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顺序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1365" cy="1049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加工顺序问题简述：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有n个工件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需要在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机器M1和M2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上加工，每个工件的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加工顺序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都是先在M1上加工，然后在M2上加工。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分别表示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工件j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在M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、M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上所需的加工时间(j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1,2,…,n)。问应如何在两机器上安排生产，使得第一个工件从在M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上加工开始到最后一个工件在M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上加工完所需的总加工时间最短?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35" y="2059305"/>
            <a:ext cx="2602865" cy="44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最优子结构性质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3500" y="2059305"/>
            <a:ext cx="9589135" cy="40582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整体最优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将n个工件的集合看作N={1,2,…,n}，设(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)是M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开始处理集合N时，机器M2经过t时间才能够停下来的最优调度方案。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子问题最优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)是M1开始处理集合N-{p1}时，机器M2经过max{t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,0}+t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时间才能够停下来的最优调度方案。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)不是M1开始处理集合N-{p1}时，机器M2经过max{t-t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,0}+t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时间才能够停下来的最优调度方案。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令T(S，t)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表示集合S中的工件开始在M1上加工到最后一个工件在机器M2上加工结束所耗的总时间。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T(N，t)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调度方案(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)总加工时间。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T(N-{p1},max{t-t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,0}+t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)是(p2.…,pn)总加工时间。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T(N,t)=t1p1+T(N-{p1},max{t-t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,0}+t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由于T(N-{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},max{t-t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,0}+t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)不是最小的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所以T(N,t)肯定不是最小的，矛盾。</a:t>
            </a:r>
            <a:endParaRPr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5542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加工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顺序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35" y="782320"/>
            <a:ext cx="3116580" cy="44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建立最优值的递归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关系式：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55420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加工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顺序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35" y="782320"/>
            <a:ext cx="1069975" cy="44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761095" y="3290570"/>
            <a:ext cx="3055620" cy="235394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动态规划基本思想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矩阵连乘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最长公共子序列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加工顺序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最优二叉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35" y="782320"/>
            <a:ext cx="12191365" cy="752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背包问题简述：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n个物品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1个背包，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容量为W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。对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价值为v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重量为w</a:t>
            </a:r>
            <a:r>
              <a:rPr lang="en-US" altLang="zh-CN" sz="20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如何选取物品装入背包，使背包中所装入的物品的总价值最大?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物品不可分割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35" y="1699260"/>
            <a:ext cx="2602865" cy="44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最优子结构性质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520950" y="1699260"/>
            <a:ext cx="9671685" cy="5159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假设(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…, 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)是0-1背包问题的一个最优解,则(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 x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)是下面相应子问题的一个最优解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目标函数：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约束条件：</a:t>
            </a:r>
            <a:endParaRPr 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设(x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…,x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)不是上述子问题的一个最优解，而(y</a:t>
            </a:r>
            <a:r>
              <a:rPr 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…, y</a:t>
            </a:r>
            <a:r>
              <a:rPr 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)是上述子问题的一个最优解，则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又最优解向量(y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 y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)满足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，这说明(y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y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 y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,x</a:t>
            </a:r>
            <a:r>
              <a:rPr lang="zh-CN" altLang="en-US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)是原问题的一个解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这说明(x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)不是所给0-1背包问题的最优解，与前提矛盾。故(x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,…,x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)是上述相应子问题的一个最优解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850" y="2383155"/>
            <a:ext cx="830580" cy="8153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370" y="2174875"/>
            <a:ext cx="2442845" cy="10236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6470" y="3608705"/>
            <a:ext cx="1988820" cy="7924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1800" y="3608705"/>
            <a:ext cx="2354580" cy="800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4540" y="4510405"/>
            <a:ext cx="2190115" cy="7321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5295" y="5351780"/>
            <a:ext cx="2899410" cy="647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35" y="782320"/>
            <a:ext cx="3178175" cy="422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建立最优值的递归关系式：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35" y="3190875"/>
          <a:ext cx="6896100" cy="177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755900" imgH="711200" progId="Equation.KSEE3">
                  <p:embed/>
                </p:oleObj>
              </mc:Choice>
              <mc:Fallback>
                <p:oleObj name="" r:id="rId4" imgW="2755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" y="3190875"/>
                        <a:ext cx="6896100" cy="1779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7654608" y="3190875"/>
          <a:ext cx="184340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736600" imgH="215900" progId="Equation.KSEE3">
                  <p:embed/>
                </p:oleObj>
              </mc:Choice>
              <mc:Fallback>
                <p:oleObj name="" r:id="rId7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4608" y="3190875"/>
                        <a:ext cx="184340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7931151" y="3746818"/>
          <a:ext cx="10160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405765" imgH="228600" progId="Equation.KSEE3">
                  <p:embed/>
                </p:oleObj>
              </mc:Choice>
              <mc:Fallback>
                <p:oleObj name="" r:id="rId10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31151" y="3746818"/>
                        <a:ext cx="1016000" cy="572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7931151" y="4335463"/>
          <a:ext cx="10160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405765" imgH="228600" progId="Equation.KSEE3">
                  <p:embed/>
                </p:oleObj>
              </mc:Choice>
              <mc:Fallback>
                <p:oleObj name="" r:id="rId13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31151" y="4335463"/>
                        <a:ext cx="1016000" cy="572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635" y="1204595"/>
            <a:ext cx="7487920" cy="422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物品集为{1,2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,...,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1≤i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≤n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，背包剩余容量为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635" y="1925320"/>
            <a:ext cx="2189480" cy="422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子问题的最优解：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2092960" y="1626870"/>
          <a:ext cx="3177540" cy="103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8" imgW="1320165" imgH="431800" progId="Equation.KSEE3">
                  <p:embed/>
                </p:oleObj>
              </mc:Choice>
              <mc:Fallback>
                <p:oleObj name="" r:id="rId18" imgW="1320165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92960" y="1626870"/>
                        <a:ext cx="3177540" cy="1039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635" y="2717165"/>
            <a:ext cx="1685925" cy="422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递归关系式：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4" grpId="0"/>
      <p:bldP spid="1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207000" y="0"/>
          <a:ext cx="5217160" cy="134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755900" imgH="711200" progId="Equation.KSEE3">
                  <p:embed/>
                </p:oleObj>
              </mc:Choice>
              <mc:Fallback>
                <p:oleObj name="" r:id="rId4" imgW="2755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000" y="0"/>
                        <a:ext cx="5217160" cy="1346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0116820" y="0"/>
          <a:ext cx="123698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736600" imgH="215900" progId="Equation.KSEE3">
                  <p:embed/>
                </p:oleObj>
              </mc:Choice>
              <mc:Fallback>
                <p:oleObj name="" r:id="rId7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16820" y="0"/>
                        <a:ext cx="123698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0427970" y="362585"/>
          <a:ext cx="92583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405765" imgH="228600" progId="Equation.KSEE3">
                  <p:embed/>
                </p:oleObj>
              </mc:Choice>
              <mc:Fallback>
                <p:oleObj name="" r:id="rId10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27970" y="362585"/>
                        <a:ext cx="925830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0427970" y="829945"/>
          <a:ext cx="92900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405765" imgH="228600" progId="Equation.KSEE3">
                  <p:embed/>
                </p:oleObj>
              </mc:Choice>
              <mc:Fallback>
                <p:oleObj name="" r:id="rId13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27970" y="829945"/>
                        <a:ext cx="92900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15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503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3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503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7503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: 圆角 18"/>
          <p:cNvSpPr/>
          <p:nvPr>
            <p:custDataLst>
              <p:tags r:id="rId16"/>
            </p:custDataLst>
          </p:nvPr>
        </p:nvSpPr>
        <p:spPr>
          <a:xfrm>
            <a:off x="948055" y="2583180"/>
            <a:ext cx="1026922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18"/>
          <p:cNvSpPr/>
          <p:nvPr>
            <p:custDataLst>
              <p:tags r:id="rId17"/>
            </p:custDataLst>
          </p:nvPr>
        </p:nvSpPr>
        <p:spPr>
          <a:xfrm>
            <a:off x="1689735" y="1873885"/>
            <a:ext cx="525145" cy="417195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18"/>
          <p:cNvSpPr/>
          <p:nvPr>
            <p:custDataLst>
              <p:tags r:id="rId18"/>
            </p:custDataLst>
          </p:nvPr>
        </p:nvSpPr>
        <p:spPr>
          <a:xfrm>
            <a:off x="8140700" y="0"/>
            <a:ext cx="3213100" cy="36258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5" grpId="0"/>
      <p:bldP spid="46" grpId="0"/>
      <p:bldP spid="47" grpId="0"/>
      <p:bldP spid="49" grpId="0"/>
      <p:bldP spid="50" grpId="0"/>
      <p:bldP spid="51" grpId="0"/>
      <p:bldP spid="52" grpId="0"/>
      <p:bldP spid="45" grpId="0"/>
      <p:bldP spid="56" grpId="0"/>
      <p:bldP spid="39" grpId="0"/>
      <p:bldP spid="40" grpId="0"/>
      <p:bldP spid="41" grpId="0"/>
      <p:bldP spid="42" grpId="0"/>
      <p:bldP spid="43" grpId="0"/>
      <p:bldP spid="44" grpId="0"/>
      <p:bldP spid="14" grpId="0"/>
      <p:bldP spid="15" grpId="0"/>
      <p:bldP spid="16" grpId="0"/>
      <p:bldP spid="17" grpId="0"/>
      <p:bldP spid="57" grpId="0" bldLvl="0" animBg="1"/>
      <p:bldP spid="18" grpId="0" bldLvl="0" animBg="1"/>
      <p:bldP spid="20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207000" y="0"/>
          <a:ext cx="5217160" cy="134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755900" imgH="711200" progId="Equation.KSEE3">
                  <p:embed/>
                </p:oleObj>
              </mc:Choice>
              <mc:Fallback>
                <p:oleObj name="" r:id="rId4" imgW="2755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000" y="0"/>
                        <a:ext cx="5217160" cy="1346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0116820" y="0"/>
          <a:ext cx="123698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736600" imgH="215900" progId="Equation.KSEE3">
                  <p:embed/>
                </p:oleObj>
              </mc:Choice>
              <mc:Fallback>
                <p:oleObj name="" r:id="rId7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16820" y="0"/>
                        <a:ext cx="123698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0427970" y="362585"/>
          <a:ext cx="92583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405765" imgH="228600" progId="Equation.KSEE3">
                  <p:embed/>
                </p:oleObj>
              </mc:Choice>
              <mc:Fallback>
                <p:oleObj name="" r:id="rId10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27970" y="362585"/>
                        <a:ext cx="925830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0427970" y="829945"/>
          <a:ext cx="92900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405765" imgH="228600" progId="Equation.KSEE3">
                  <p:embed/>
                </p:oleObj>
              </mc:Choice>
              <mc:Fallback>
                <p:oleObj name="" r:id="rId13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27970" y="829945"/>
                        <a:ext cx="92900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15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503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3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503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7503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8"/>
          <p:cNvSpPr/>
          <p:nvPr/>
        </p:nvSpPr>
        <p:spPr>
          <a:xfrm>
            <a:off x="8140700" y="0"/>
            <a:ext cx="3213100" cy="36258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16"/>
            </p:custDataLst>
          </p:nvPr>
        </p:nvSpPr>
        <p:spPr>
          <a:xfrm>
            <a:off x="1757680" y="258318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7"/>
            </p:custDataLst>
          </p:nvPr>
        </p:nvSpPr>
        <p:spPr>
          <a:xfrm>
            <a:off x="2566670" y="258318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8"/>
            </p:custDataLst>
          </p:nvPr>
        </p:nvSpPr>
        <p:spPr>
          <a:xfrm>
            <a:off x="3535045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19"/>
            </p:custDataLst>
          </p:nvPr>
        </p:nvSpPr>
        <p:spPr>
          <a:xfrm>
            <a:off x="4418965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20"/>
            </p:custDataLst>
          </p:nvPr>
        </p:nvSpPr>
        <p:spPr>
          <a:xfrm>
            <a:off x="5312410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21"/>
            </p:custDataLst>
          </p:nvPr>
        </p:nvSpPr>
        <p:spPr>
          <a:xfrm>
            <a:off x="6238240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22"/>
            </p:custDataLst>
          </p:nvPr>
        </p:nvSpPr>
        <p:spPr>
          <a:xfrm>
            <a:off x="7164070" y="258318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23"/>
            </p:custDataLst>
          </p:nvPr>
        </p:nvSpPr>
        <p:spPr>
          <a:xfrm>
            <a:off x="8058150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8901430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25"/>
            </p:custDataLst>
          </p:nvPr>
        </p:nvSpPr>
        <p:spPr>
          <a:xfrm>
            <a:off x="9827260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26"/>
            </p:custDataLst>
          </p:nvPr>
        </p:nvSpPr>
        <p:spPr>
          <a:xfrm>
            <a:off x="10793095" y="257302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27"/>
            </p:custDataLst>
          </p:nvPr>
        </p:nvSpPr>
        <p:spPr>
          <a:xfrm>
            <a:off x="1757680" y="317627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28"/>
            </p:custDataLst>
          </p:nvPr>
        </p:nvSpPr>
        <p:spPr>
          <a:xfrm>
            <a:off x="1757680" y="376872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>
            <p:custDataLst>
              <p:tags r:id="rId29"/>
            </p:custDataLst>
          </p:nvPr>
        </p:nvSpPr>
        <p:spPr>
          <a:xfrm>
            <a:off x="1679575" y="434530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30"/>
            </p:custDataLst>
          </p:nvPr>
        </p:nvSpPr>
        <p:spPr>
          <a:xfrm>
            <a:off x="1679575" y="505269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31"/>
            </p:custDataLst>
          </p:nvPr>
        </p:nvSpPr>
        <p:spPr>
          <a:xfrm>
            <a:off x="1757680" y="576262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1005840" y="2611755"/>
            <a:ext cx="10269220" cy="35242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18"/>
          <p:cNvSpPr/>
          <p:nvPr/>
        </p:nvSpPr>
        <p:spPr>
          <a:xfrm>
            <a:off x="1714500" y="1873250"/>
            <a:ext cx="525145" cy="417195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2" grpId="0" bldLvl="0" animBg="1"/>
      <p:bldP spid="19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18" grpId="0" animBg="1"/>
      <p:bldP spid="57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207000" y="0"/>
          <a:ext cx="5217160" cy="134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755900" imgH="711200" progId="Equation.KSEE3">
                  <p:embed/>
                </p:oleObj>
              </mc:Choice>
              <mc:Fallback>
                <p:oleObj name="" r:id="rId4" imgW="2755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000" y="0"/>
                        <a:ext cx="5217160" cy="1346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0116820" y="0"/>
          <a:ext cx="123698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736600" imgH="215900" progId="Equation.KSEE3">
                  <p:embed/>
                </p:oleObj>
              </mc:Choice>
              <mc:Fallback>
                <p:oleObj name="" r:id="rId7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16820" y="0"/>
                        <a:ext cx="123698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0427970" y="362585"/>
          <a:ext cx="92583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405765" imgH="228600" progId="Equation.KSEE3">
                  <p:embed/>
                </p:oleObj>
              </mc:Choice>
              <mc:Fallback>
                <p:oleObj name="" r:id="rId10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27970" y="362585"/>
                        <a:ext cx="925830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0427970" y="829945"/>
          <a:ext cx="92900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405765" imgH="228600" progId="Equation.KSEE3">
                  <p:embed/>
                </p:oleObj>
              </mc:Choice>
              <mc:Fallback>
                <p:oleObj name="" r:id="rId13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27970" y="829945"/>
                        <a:ext cx="92900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15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8"/>
          <p:cNvSpPr/>
          <p:nvPr/>
        </p:nvSpPr>
        <p:spPr>
          <a:xfrm>
            <a:off x="7807325" y="422275"/>
            <a:ext cx="3549650" cy="4622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579370" y="319341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2469515" y="3176270"/>
            <a:ext cx="735965" cy="3987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7084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084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: 圆角 58"/>
          <p:cNvSpPr/>
          <p:nvPr/>
        </p:nvSpPr>
        <p:spPr>
          <a:xfrm>
            <a:off x="523875" y="317627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2710180" y="204025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: 圆角 18"/>
          <p:cNvSpPr/>
          <p:nvPr/>
        </p:nvSpPr>
        <p:spPr>
          <a:xfrm>
            <a:off x="2566670" y="255206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0" name="直接箭头连接符 59"/>
          <p:cNvCxnSpPr>
            <a:endCxn id="61" idx="0"/>
          </p:cNvCxnSpPr>
          <p:nvPr/>
        </p:nvCxnSpPr>
        <p:spPr>
          <a:xfrm flipH="1">
            <a:off x="10465435" y="763270"/>
            <a:ext cx="347345" cy="300101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8738870" y="3764280"/>
            <a:ext cx="3453130" cy="13576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当前背包容量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装不下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H="1">
            <a:off x="1420495" y="3561715"/>
            <a:ext cx="1120140" cy="13430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1270" y="4904740"/>
            <a:ext cx="2837815" cy="13576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c[1][1]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当前考虑物品号码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背包容量为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最大价值：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848735" y="3764280"/>
            <a:ext cx="2837815" cy="13576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c[0][1]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当前考虑物品号码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1~0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背包容量为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最大价值：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10090150" y="5121910"/>
            <a:ext cx="375285" cy="6318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8860155" y="5753735"/>
            <a:ext cx="2459355" cy="998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背包的价值只能取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1~i-1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的最大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1871980" y="3561715"/>
            <a:ext cx="2068195" cy="2617470"/>
          </a:xfrm>
          <a:prstGeom prst="straightConnector1">
            <a:avLst/>
          </a:prstGeom>
          <a:ln w="635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3055620" y="2769870"/>
            <a:ext cx="2037080" cy="106997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940175" y="5500370"/>
            <a:ext cx="2837815" cy="1357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c[1][0]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当前考虑物品号码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背包容量为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最大价值：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6666865" y="4591050"/>
            <a:ext cx="2160270" cy="134747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乘号 20"/>
          <p:cNvSpPr/>
          <p:nvPr/>
        </p:nvSpPr>
        <p:spPr>
          <a:xfrm>
            <a:off x="4277360" y="5416550"/>
            <a:ext cx="2163445" cy="152590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: 圆角 18"/>
          <p:cNvSpPr/>
          <p:nvPr/>
        </p:nvSpPr>
        <p:spPr>
          <a:xfrm>
            <a:off x="8731250" y="4349750"/>
            <a:ext cx="1826260" cy="3987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57" grpId="0" bldLvl="0" animBg="1"/>
      <p:bldP spid="78" grpId="0" bldLvl="0" animBg="1"/>
      <p:bldP spid="59" grpId="0" animBg="1"/>
      <p:bldP spid="20" grpId="0" animBg="1"/>
      <p:bldP spid="66" grpId="0" animBg="1"/>
      <p:bldP spid="37" grpId="0" animBg="1"/>
      <p:bldP spid="78" grpId="1" animBg="1"/>
      <p:bldP spid="57" grpId="1" animBg="1"/>
      <p:bldP spid="66" grpId="1" animBg="1"/>
      <p:bldP spid="59" grpId="1" animBg="1"/>
      <p:bldP spid="20" grpId="1" animBg="1"/>
      <p:bldP spid="61" grpId="0" bldLvl="0" animBg="1"/>
      <p:bldP spid="63" grpId="0" bldLvl="0" animBg="1"/>
      <p:bldP spid="65" grpId="0" bldLvl="0" animBg="1"/>
      <p:bldP spid="69" grpId="0" bldLvl="0" animBg="1"/>
      <p:bldP spid="18" grpId="0" bldLvl="0" animBg="1"/>
      <p:bldP spid="21" grpId="0" animBg="1"/>
      <p:bldP spid="22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207000" y="0"/>
          <a:ext cx="5217160" cy="134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755900" imgH="711200" progId="Equation.KSEE3">
                  <p:embed/>
                </p:oleObj>
              </mc:Choice>
              <mc:Fallback>
                <p:oleObj name="" r:id="rId4" imgW="2755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000" y="0"/>
                        <a:ext cx="5217160" cy="1346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0116820" y="0"/>
          <a:ext cx="123698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736600" imgH="215900" progId="Equation.KSEE3">
                  <p:embed/>
                </p:oleObj>
              </mc:Choice>
              <mc:Fallback>
                <p:oleObj name="" r:id="rId7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16820" y="0"/>
                        <a:ext cx="123698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0427970" y="362585"/>
          <a:ext cx="92583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405765" imgH="228600" progId="Equation.KSEE3">
                  <p:embed/>
                </p:oleObj>
              </mc:Choice>
              <mc:Fallback>
                <p:oleObj name="" r:id="rId10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27970" y="362585"/>
                        <a:ext cx="925830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0427970" y="829945"/>
          <a:ext cx="92900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405765" imgH="228600" progId="Equation.KSEE3">
                  <p:embed/>
                </p:oleObj>
              </mc:Choice>
              <mc:Fallback>
                <p:oleObj name="" r:id="rId13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27970" y="829945"/>
                        <a:ext cx="92900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15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503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3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503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7503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8"/>
          <p:cNvSpPr/>
          <p:nvPr/>
        </p:nvSpPr>
        <p:spPr>
          <a:xfrm>
            <a:off x="6388100" y="884555"/>
            <a:ext cx="4931410" cy="4622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535045" y="318389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3355975" y="3176270"/>
            <a:ext cx="735965" cy="3987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7084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084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7084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7084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7084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7084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: 圆角 58"/>
          <p:cNvSpPr/>
          <p:nvPr/>
        </p:nvSpPr>
        <p:spPr>
          <a:xfrm>
            <a:off x="523875" y="316674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3597275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: 圆角 18"/>
          <p:cNvSpPr/>
          <p:nvPr/>
        </p:nvSpPr>
        <p:spPr>
          <a:xfrm>
            <a:off x="3453130" y="2551430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: 圆角 18"/>
          <p:cNvSpPr/>
          <p:nvPr/>
        </p:nvSpPr>
        <p:spPr>
          <a:xfrm>
            <a:off x="1679575" y="2551430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27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000" b="1" baseline="-25000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7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7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7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7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: 圆角 18"/>
          <p:cNvSpPr/>
          <p:nvPr/>
        </p:nvSpPr>
        <p:spPr>
          <a:xfrm>
            <a:off x="167640" y="3176270"/>
            <a:ext cx="273685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ldLvl="0" animBg="1"/>
      <p:bldP spid="78" grpId="0" bldLvl="0" animBg="1"/>
      <p:bldP spid="59" grpId="0" animBg="1"/>
      <p:bldP spid="20" grpId="0" animBg="1"/>
      <p:bldP spid="18" grpId="0"/>
      <p:bldP spid="31" grpId="0"/>
      <p:bldP spid="32" grpId="0"/>
      <p:bldP spid="33" grpId="0"/>
      <p:bldP spid="36" grpId="0"/>
      <p:bldP spid="37" grpId="0"/>
      <p:bldP spid="19" grpId="0" animBg="1"/>
      <p:bldP spid="66" grpId="0" animBg="1"/>
      <p:bldP spid="2" grpId="0" animBg="1"/>
      <p:bldP spid="38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207000" y="0"/>
          <a:ext cx="5217160" cy="134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755900" imgH="711200" progId="Equation.KSEE3">
                  <p:embed/>
                </p:oleObj>
              </mc:Choice>
              <mc:Fallback>
                <p:oleObj name="" r:id="rId4" imgW="2755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7000" y="0"/>
                        <a:ext cx="5217160" cy="1346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0116820" y="0"/>
          <a:ext cx="123698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736600" imgH="215900" progId="Equation.KSEE3">
                  <p:embed/>
                </p:oleObj>
              </mc:Choice>
              <mc:Fallback>
                <p:oleObj name="" r:id="rId7" imgW="736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16820" y="0"/>
                        <a:ext cx="123698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0427970" y="362585"/>
          <a:ext cx="92583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405765" imgH="228600" progId="Equation.KSEE3">
                  <p:embed/>
                </p:oleObj>
              </mc:Choice>
              <mc:Fallback>
                <p:oleObj name="" r:id="rId10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27970" y="362585"/>
                        <a:ext cx="925830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0427970" y="829945"/>
          <a:ext cx="92900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3" imgW="405765" imgH="228600" progId="Equation.KSEE3">
                  <p:embed/>
                </p:oleObj>
              </mc:Choice>
              <mc:Fallback>
                <p:oleObj name="" r:id="rId13" imgW="4057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27970" y="829945"/>
                        <a:ext cx="92900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15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: 圆角 18"/>
          <p:cNvSpPr/>
          <p:nvPr/>
        </p:nvSpPr>
        <p:spPr>
          <a:xfrm>
            <a:off x="10452100" y="884555"/>
            <a:ext cx="897255" cy="4622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535045" y="318389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3453130" y="3166745"/>
            <a:ext cx="735965" cy="3987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7084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084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: 圆角 58"/>
          <p:cNvSpPr/>
          <p:nvPr/>
        </p:nvSpPr>
        <p:spPr>
          <a:xfrm>
            <a:off x="523875" y="316674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3597275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: 圆角 18"/>
          <p:cNvSpPr/>
          <p:nvPr/>
        </p:nvSpPr>
        <p:spPr>
          <a:xfrm>
            <a:off x="3453130" y="2551430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: 圆角 18"/>
          <p:cNvSpPr/>
          <p:nvPr/>
        </p:nvSpPr>
        <p:spPr>
          <a:xfrm>
            <a:off x="1679575" y="2551430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27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000" b="1" baseline="-25000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7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: 圆角 18"/>
          <p:cNvSpPr/>
          <p:nvPr/>
        </p:nvSpPr>
        <p:spPr>
          <a:xfrm>
            <a:off x="167640" y="3176270"/>
            <a:ext cx="273685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0" name="直接箭头连接符 59"/>
          <p:cNvCxnSpPr/>
          <p:nvPr>
            <p:custDataLst>
              <p:tags r:id="rId16"/>
            </p:custDataLst>
          </p:nvPr>
        </p:nvCxnSpPr>
        <p:spPr>
          <a:xfrm flipH="1">
            <a:off x="10545445" y="1346835"/>
            <a:ext cx="256540" cy="262699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>
            <p:custDataLst>
              <p:tags r:id="rId17"/>
            </p:custDataLst>
          </p:nvPr>
        </p:nvSpPr>
        <p:spPr>
          <a:xfrm>
            <a:off x="8738870" y="3973830"/>
            <a:ext cx="3453130" cy="10287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当前背包容量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重量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18"/>
            </p:custDataLst>
          </p:nvPr>
        </p:nvCxnSpPr>
        <p:spPr>
          <a:xfrm flipH="1">
            <a:off x="6141720" y="1288415"/>
            <a:ext cx="1337945" cy="284988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9"/>
            </p:custDataLst>
          </p:nvPr>
        </p:nvCxnSpPr>
        <p:spPr>
          <a:xfrm>
            <a:off x="3981450" y="2759710"/>
            <a:ext cx="1532890" cy="13684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4582795" y="4138295"/>
            <a:ext cx="2497455" cy="10388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不装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号物品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背包容量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背包目前的最大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直接箭头连接符 23"/>
          <p:cNvCxnSpPr/>
          <p:nvPr>
            <p:custDataLst>
              <p:tags r:id="rId21"/>
            </p:custDataLst>
          </p:nvPr>
        </p:nvCxnSpPr>
        <p:spPr>
          <a:xfrm flipH="1">
            <a:off x="7777480" y="1353820"/>
            <a:ext cx="1233170" cy="437896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: 圆角 18"/>
          <p:cNvSpPr/>
          <p:nvPr/>
        </p:nvSpPr>
        <p:spPr>
          <a:xfrm>
            <a:off x="7004050" y="891540"/>
            <a:ext cx="1102995" cy="4622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8218170" y="884555"/>
            <a:ext cx="2059305" cy="4622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>
            <p:custDataLst>
              <p:tags r:id="rId22"/>
            </p:custDataLst>
          </p:nvPr>
        </p:nvCxnSpPr>
        <p:spPr>
          <a:xfrm>
            <a:off x="370840" y="3575050"/>
            <a:ext cx="3929380" cy="312483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368800" y="5763895"/>
            <a:ext cx="7823835" cy="1094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j-w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：当前背包重量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当前物品重量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清出空间，以便能放下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当前物品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c[i-1][j-w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装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号物品前，背包内物品的最大价值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c[i-1][j-w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]+v</a:t>
            </a:r>
            <a:r>
              <a:rPr lang="en-US" altLang="zh-CN" sz="2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装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号物品后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，背包内的最大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价值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9" name="直接箭头连接符 28"/>
          <p:cNvCxnSpPr>
            <a:endCxn id="28" idx="1"/>
          </p:cNvCxnSpPr>
          <p:nvPr>
            <p:custDataLst>
              <p:tags r:id="rId23"/>
            </p:custDataLst>
          </p:nvPr>
        </p:nvCxnSpPr>
        <p:spPr>
          <a:xfrm>
            <a:off x="2170430" y="2924175"/>
            <a:ext cx="2198370" cy="3387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  <p:bldP spid="23" grpId="0" bldLvl="0" animBg="1"/>
      <p:bldP spid="20" grpId="0" animBg="1"/>
      <p:bldP spid="25" grpId="0" animBg="1"/>
      <p:bldP spid="26" grpId="0" bldLvl="0" animBg="1"/>
      <p:bldP spid="19" grpId="0" animBg="1"/>
      <p:bldP spid="28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503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3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503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7503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18965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7084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084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7084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7084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7084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7084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7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000" b="1" baseline="-25000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7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7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7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7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306060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193155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080250" y="317627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032750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907145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794240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681335" y="316674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>
            <p:custDataLst>
              <p:tags r:id="rId4"/>
            </p:custDataLst>
          </p:nvPr>
        </p:nvSpPr>
        <p:spPr>
          <a:xfrm>
            <a:off x="5227955" y="0"/>
            <a:ext cx="6964045" cy="108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③连续的包小物大：看上面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④其余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情况：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657475" y="440118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58"/>
          <p:cNvSpPr/>
          <p:nvPr/>
        </p:nvSpPr>
        <p:spPr>
          <a:xfrm>
            <a:off x="2722880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58"/>
          <p:cNvSpPr/>
          <p:nvPr/>
        </p:nvSpPr>
        <p:spPr>
          <a:xfrm>
            <a:off x="514350" y="440118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: 圆角 18"/>
          <p:cNvSpPr/>
          <p:nvPr/>
        </p:nvSpPr>
        <p:spPr>
          <a:xfrm>
            <a:off x="256603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: 圆角 58"/>
          <p:cNvSpPr/>
          <p:nvPr/>
        </p:nvSpPr>
        <p:spPr>
          <a:xfrm>
            <a:off x="3597275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: 圆角 58"/>
          <p:cNvSpPr/>
          <p:nvPr/>
        </p:nvSpPr>
        <p:spPr>
          <a:xfrm>
            <a:off x="4484370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: 圆角 58"/>
          <p:cNvSpPr/>
          <p:nvPr/>
        </p:nvSpPr>
        <p:spPr>
          <a:xfrm>
            <a:off x="5436870" y="202882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: 圆角 58"/>
          <p:cNvSpPr/>
          <p:nvPr/>
        </p:nvSpPr>
        <p:spPr>
          <a:xfrm>
            <a:off x="6255385" y="202882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: 圆角 18"/>
          <p:cNvSpPr/>
          <p:nvPr/>
        </p:nvSpPr>
        <p:spPr>
          <a:xfrm>
            <a:off x="3453130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: 圆角 18"/>
          <p:cNvSpPr/>
          <p:nvPr/>
        </p:nvSpPr>
        <p:spPr>
          <a:xfrm>
            <a:off x="4340860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: 圆角 18"/>
          <p:cNvSpPr/>
          <p:nvPr/>
        </p:nvSpPr>
        <p:spPr>
          <a:xfrm>
            <a:off x="522795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: 圆角 18"/>
          <p:cNvSpPr/>
          <p:nvPr/>
        </p:nvSpPr>
        <p:spPr>
          <a:xfrm>
            <a:off x="619315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3597275" y="440118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4418965" y="440118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5306060" y="4418330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6193155" y="440118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29" grpId="0" animBg="1"/>
      <p:bldP spid="61" grpId="0" animBg="1"/>
      <p:bldP spid="62" grpId="0" animBg="1"/>
      <p:bldP spid="63" grpId="0" animBg="1"/>
      <p:bldP spid="64" grpId="0" animBg="1"/>
      <p:bldP spid="60" grpId="0" animBg="1"/>
      <p:bldP spid="65" grpId="0" animBg="1"/>
      <p:bldP spid="67" grpId="0" animBg="1"/>
      <p:bldP spid="68" grpId="0" animBg="1"/>
      <p:bldP spid="69" grpId="0" animBg="1"/>
      <p:bldP spid="28" grpId="0" animBg="1"/>
      <p:bldP spid="71" grpId="0" animBg="1"/>
      <p:bldP spid="72" grpId="0" animBg="1"/>
      <p:bldP spid="73" grpId="0" animBg="1"/>
      <p:bldP spid="74" grpId="0" animBg="1"/>
      <p:bldP spid="30" grpId="1" animBg="1"/>
      <p:bldP spid="60" grpId="1" animBg="1"/>
      <p:bldP spid="28" grpId="1" animBg="1"/>
      <p:bldP spid="65" grpId="1" animBg="1"/>
      <p:bldP spid="71" grpId="1" animBg="1"/>
      <p:bldP spid="67" grpId="1" animBg="1"/>
      <p:bldP spid="72" grpId="1" animBg="1"/>
      <p:bldP spid="68" grpId="1" animBg="1"/>
      <p:bldP spid="73" grpId="1" animBg="1"/>
      <p:bldP spid="69" grpId="1" animBg="1"/>
      <p:bldP spid="74" grpId="1" animBg="1"/>
      <p:bldP spid="64" grpId="1" animBg="1"/>
      <p:bldP spid="63" grpId="1" animBg="1"/>
      <p:bldP spid="62" grpId="1" animBg="1"/>
      <p:bldP spid="61" grpId="1" animBg="1"/>
      <p:bldP spid="29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503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3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503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7503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7084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084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7084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7084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7084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7084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7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000" b="1" baseline="-25000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7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7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7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7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4"/>
            </p:custDataLst>
          </p:nvPr>
        </p:nvSpPr>
        <p:spPr>
          <a:xfrm>
            <a:off x="5227955" y="0"/>
            <a:ext cx="6964045" cy="1338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①将第一行第一列全填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②确定填表位置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③连续的包小物大：看上面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④其余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情况：先从上面开头看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加上价值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比对上面</a:t>
            </a: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取最大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一步一步往后看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092950" y="440118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58"/>
          <p:cNvSpPr/>
          <p:nvPr/>
        </p:nvSpPr>
        <p:spPr>
          <a:xfrm>
            <a:off x="7223760" y="204025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58"/>
          <p:cNvSpPr/>
          <p:nvPr/>
        </p:nvSpPr>
        <p:spPr>
          <a:xfrm>
            <a:off x="514350" y="4401185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: 圆角 18"/>
          <p:cNvSpPr/>
          <p:nvPr/>
        </p:nvSpPr>
        <p:spPr>
          <a:xfrm>
            <a:off x="1678940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: 圆角 18"/>
          <p:cNvSpPr/>
          <p:nvPr/>
        </p:nvSpPr>
        <p:spPr>
          <a:xfrm>
            <a:off x="173990" y="4394835"/>
            <a:ext cx="28956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: 圆角 18"/>
          <p:cNvSpPr/>
          <p:nvPr/>
        </p:nvSpPr>
        <p:spPr>
          <a:xfrm>
            <a:off x="7080250" y="3801110"/>
            <a:ext cx="637540" cy="3657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58"/>
          <p:cNvSpPr/>
          <p:nvPr/>
        </p:nvSpPr>
        <p:spPr>
          <a:xfrm>
            <a:off x="8098155" y="203073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18"/>
          <p:cNvSpPr/>
          <p:nvPr/>
        </p:nvSpPr>
        <p:spPr>
          <a:xfrm>
            <a:off x="256603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18"/>
          <p:cNvSpPr/>
          <p:nvPr/>
        </p:nvSpPr>
        <p:spPr>
          <a:xfrm>
            <a:off x="7955280" y="3801110"/>
            <a:ext cx="637540" cy="3657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098155" y="439483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58"/>
          <p:cNvSpPr/>
          <p:nvPr/>
        </p:nvSpPr>
        <p:spPr>
          <a:xfrm>
            <a:off x="8972550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18"/>
          <p:cNvSpPr/>
          <p:nvPr/>
        </p:nvSpPr>
        <p:spPr>
          <a:xfrm>
            <a:off x="345376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/>
        </p:nvSpPr>
        <p:spPr>
          <a:xfrm>
            <a:off x="8829040" y="3801110"/>
            <a:ext cx="637540" cy="3657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9055100" y="439483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: 圆角 58"/>
          <p:cNvSpPr/>
          <p:nvPr/>
        </p:nvSpPr>
        <p:spPr>
          <a:xfrm>
            <a:off x="9937750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: 圆角 18"/>
          <p:cNvSpPr/>
          <p:nvPr/>
        </p:nvSpPr>
        <p:spPr>
          <a:xfrm>
            <a:off x="434022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: 圆角 18"/>
          <p:cNvSpPr/>
          <p:nvPr/>
        </p:nvSpPr>
        <p:spPr>
          <a:xfrm>
            <a:off x="9794240" y="3801110"/>
            <a:ext cx="637540" cy="3657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937750" y="439483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: 圆角 58"/>
          <p:cNvSpPr/>
          <p:nvPr/>
        </p:nvSpPr>
        <p:spPr>
          <a:xfrm>
            <a:off x="10824845" y="2019300"/>
            <a:ext cx="351155" cy="4083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: 圆角 18"/>
          <p:cNvSpPr/>
          <p:nvPr/>
        </p:nvSpPr>
        <p:spPr>
          <a:xfrm>
            <a:off x="5227955" y="3768725"/>
            <a:ext cx="638810" cy="43116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: 圆角 18"/>
          <p:cNvSpPr/>
          <p:nvPr/>
        </p:nvSpPr>
        <p:spPr>
          <a:xfrm>
            <a:off x="10681335" y="3801110"/>
            <a:ext cx="637540" cy="3657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10824845" y="4394835"/>
            <a:ext cx="481965" cy="39116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60" grpId="0" animBg="1"/>
      <p:bldP spid="2" grpId="0" animBg="1"/>
      <p:bldP spid="57" grpId="0" animBg="1"/>
      <p:bldP spid="28" grpId="0" animBg="1"/>
      <p:bldP spid="57" grpId="1" animBg="1"/>
      <p:bldP spid="29" grpId="1" animBg="1"/>
      <p:bldP spid="9" grpId="0" bldLvl="0" animBg="1"/>
      <p:bldP spid="10" grpId="0" bldLvl="0" animBg="1"/>
      <p:bldP spid="11" grpId="0" bldLvl="0" animBg="1"/>
      <p:bldP spid="12" grpId="0" bldLvl="0" animBg="1"/>
      <p:bldP spid="11" grpId="1" animBg="1"/>
      <p:bldP spid="9" grpId="1" animBg="1"/>
      <p:bldP spid="13" grpId="0" bldLvl="0" animBg="1"/>
      <p:bldP spid="20" grpId="0" bldLvl="0" animBg="1"/>
      <p:bldP spid="38" grpId="0" bldLvl="0" animBg="1"/>
      <p:bldP spid="59" grpId="0" bldLvl="0" animBg="1"/>
      <p:bldP spid="13" grpId="1" animBg="1"/>
      <p:bldP spid="38" grpId="1" animBg="1"/>
      <p:bldP spid="66" grpId="0" bldLvl="0" animBg="1"/>
      <p:bldP spid="70" grpId="0" bldLvl="0" animBg="1"/>
      <p:bldP spid="75" grpId="0" bldLvl="0" animBg="1"/>
      <p:bldP spid="76" grpId="0" bldLvl="0" animBg="1"/>
      <p:bldP spid="66" grpId="1" animBg="1"/>
      <p:bldP spid="75" grpId="1" animBg="1"/>
      <p:bldP spid="77" grpId="0" bldLvl="0" animBg="1"/>
      <p:bldP spid="80" grpId="0" bldLvl="0" animBg="1"/>
      <p:bldP spid="81" grpId="0" bldLvl="0" animBg="1"/>
      <p:bldP spid="82" grpId="0" bldLvl="0" animBg="1"/>
      <p:bldP spid="77" grpId="1" animBg="1"/>
      <p:bldP spid="81" grpId="1" animBg="1"/>
      <p:bldP spid="30" grpId="1" animBg="1"/>
      <p:bldP spid="60" grpId="1" animBg="1"/>
      <p:bldP spid="2" grpId="1" animBg="1"/>
      <p:bldP spid="10" grpId="1" animBg="1"/>
      <p:bldP spid="20" grpId="1" animBg="1"/>
      <p:bldP spid="70" grpId="1" animBg="1"/>
      <p:bldP spid="80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70" y="782320"/>
            <a:ext cx="6254115" cy="109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有5个物品，其重量分别为2,2,6,5,4，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价值分别为6,3,5,4,6。背包容量为10，物品不可分割，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求装入背包的物品和获得的最大价值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1513205" y="2439035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875030" y="258381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503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503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7503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503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7503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7503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6667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45376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086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2795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150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025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7957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13205" y="20288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464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290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94240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681335" y="20402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7084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084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7084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7084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7084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7084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70" y="23253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000" b="1" baseline="-25000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 baseline="-25000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70" y="317627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70" y="376872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70" y="4410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70" y="505269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0" y="5645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64680" y="782320"/>
            <a:ext cx="43891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填表的过程就是自底向上求解的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964680" y="1215390"/>
            <a:ext cx="4389120" cy="43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最优解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/>
          <p:nvPr>
            <p:custDataLst>
              <p:tags r:id="rId6"/>
            </p:custDataLst>
          </p:nvPr>
        </p:nvSpPr>
        <p:spPr>
          <a:xfrm>
            <a:off x="10681335" y="5645150"/>
            <a:ext cx="637540" cy="3657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9" grpId="0" bldLvl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32205" y="75730"/>
            <a:ext cx="28848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0-1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背包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" y="782320"/>
            <a:ext cx="2693035" cy="412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算法时间复杂度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0" y="1195070"/>
            <a:ext cx="2961640" cy="412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填写二维表格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O(nW)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513205" y="3122930"/>
          <a:ext cx="9932670" cy="37147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  <a:gridCol w="902970"/>
              </a:tblGrid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19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>
            <p:custDataLst>
              <p:tags r:id="rId3"/>
            </p:custDataLst>
          </p:nvPr>
        </p:nvSpPr>
        <p:spPr>
          <a:xfrm>
            <a:off x="875030" y="32677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"/>
            </p:custDataLst>
          </p:nvPr>
        </p:nvSpPr>
        <p:spPr>
          <a:xfrm>
            <a:off x="875030" y="38601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5"/>
            </p:custDataLst>
          </p:nvPr>
        </p:nvSpPr>
        <p:spPr>
          <a:xfrm>
            <a:off x="875030" y="44526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875030" y="509460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7"/>
            </p:custDataLst>
          </p:nvPr>
        </p:nvSpPr>
        <p:spPr>
          <a:xfrm>
            <a:off x="875030" y="573659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8"/>
            </p:custDataLst>
          </p:nvPr>
        </p:nvSpPr>
        <p:spPr>
          <a:xfrm>
            <a:off x="875030" y="63290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9"/>
            </p:custDataLst>
          </p:nvPr>
        </p:nvSpPr>
        <p:spPr>
          <a:xfrm>
            <a:off x="875030" y="30092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0"/>
            </p:custDataLst>
          </p:nvPr>
        </p:nvSpPr>
        <p:spPr>
          <a:xfrm>
            <a:off x="2566670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1"/>
            </p:custDataLst>
          </p:nvPr>
        </p:nvSpPr>
        <p:spPr>
          <a:xfrm>
            <a:off x="3453765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2"/>
            </p:custDataLst>
          </p:nvPr>
        </p:nvSpPr>
        <p:spPr>
          <a:xfrm>
            <a:off x="4340860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3"/>
            </p:custDataLst>
          </p:nvPr>
        </p:nvSpPr>
        <p:spPr>
          <a:xfrm>
            <a:off x="5227955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6115050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5"/>
            </p:custDataLst>
          </p:nvPr>
        </p:nvSpPr>
        <p:spPr>
          <a:xfrm>
            <a:off x="7080250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6"/>
            </p:custDataLst>
          </p:nvPr>
        </p:nvSpPr>
        <p:spPr>
          <a:xfrm>
            <a:off x="1679575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7"/>
            </p:custDataLst>
          </p:nvPr>
        </p:nvSpPr>
        <p:spPr>
          <a:xfrm>
            <a:off x="1513205" y="27127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7954645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8829040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9794240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0681335" y="272415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: 圆角 18"/>
          <p:cNvSpPr/>
          <p:nvPr/>
        </p:nvSpPr>
        <p:spPr>
          <a:xfrm>
            <a:off x="2566670" y="3860165"/>
            <a:ext cx="8652510" cy="286766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0" y="1959610"/>
            <a:ext cx="4916170" cy="412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算法要求所给物品的重量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70" y="1607820"/>
            <a:ext cx="2693035" cy="412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-2540" y="2365375"/>
            <a:ext cx="8208010" cy="412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当背包容量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很大时，计算时间长。若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W&gt;2</a:t>
            </a:r>
            <a:r>
              <a:rPr lang="en-US" altLang="zh-CN" sz="2000" b="1" baseline="30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，算法时间复杂度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O(n2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77200" y="845185"/>
            <a:ext cx="1520825" cy="762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优化：</a:t>
            </a:r>
            <a:endParaRPr lang="zh-CN" altLang="en-US" sz="20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跳跃点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: 圆角 18"/>
          <p:cNvSpPr/>
          <p:nvPr/>
        </p:nvSpPr>
        <p:spPr>
          <a:xfrm>
            <a:off x="4340860" y="3759835"/>
            <a:ext cx="6978650" cy="56705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7" grpId="0" bldLvl="0" animBg="1"/>
      <p:bldP spid="8" grpId="0"/>
      <p:bldP spid="11" grpId="0"/>
      <p:bldP spid="12" grpId="0"/>
      <p:bldP spid="13" grpId="0"/>
      <p:bldP spid="57" grpId="1" animBg="1"/>
      <p:bldP spid="18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TABLE_ENDDRAG_ORIGIN_RECT" val="387*80"/>
  <p:tag name="TABLE_ENDDRAG_RECT" val="0*130*387*80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ABLE_ENDDRAG_ORIGIN_RECT" val="387*80"/>
  <p:tag name="TABLE_ENDDRAG_RECT" val="0*130*387*80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42.xml><?xml version="1.0" encoding="utf-8"?>
<p:tagLst xmlns:p="http://schemas.openxmlformats.org/presentationml/2006/main">
  <p:tag name="TABLE_ENDDRAG_ORIGIN_RECT" val="387*80"/>
  <p:tag name="TABLE_ENDDRAG_RECT" val="0*130*387*80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62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76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17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TABLE_ENDDRAG_ORIGIN_RECT" val="387*64"/>
  <p:tag name="TABLE_ENDDRAG_RECT" val="434*0*387*64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TABLE_ENDDRAG_ORIGIN_RECT" val="305*187"/>
  <p:tag name="TABLE_ENDDRAG_RECT" val="0*243*305*187"/>
</p:tagLst>
</file>

<file path=ppt/tags/tag335.xml><?xml version="1.0" encoding="utf-8"?>
<p:tagLst xmlns:p="http://schemas.openxmlformats.org/presentationml/2006/main">
  <p:tag name="TABLE_ENDDRAG_ORIGIN_RECT" val="305*187"/>
  <p:tag name="TABLE_ENDDRAG_RECT" val="0*243*305*187"/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TABLE_ENDDRAG_ORIGIN_RECT" val="707*270"/>
  <p:tag name="TABLE_ENDDRAG_RECT" val="144*228*707*270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TABLE_ENDDRAG_ORIGIN_RECT" val="707*270"/>
  <p:tag name="TABLE_ENDDRAG_RECT" val="144*228*707*270"/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TABLE_ENDDRAG_ORIGIN_RECT" val="782*292"/>
  <p:tag name="TABLE_ENDDRAG_RECT" val="79*147*782*292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TABLE_ENDDRAG_ORIGIN_RECT" val="782*292"/>
  <p:tag name="TABLE_ENDDRAG_RECT" val="79*147*782*292"/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commondata" val="eyJoZGlkIjoiYjk3NjIzYTJjYjk1YjQ4YjNmMGE0MzI2NmRlM2Y1N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29826</Words>
  <Application>WPS 演示</Application>
  <PresentationFormat>宽屏</PresentationFormat>
  <Paragraphs>8332</Paragraphs>
  <Slides>81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51</vt:i4>
      </vt:variant>
      <vt:variant>
        <vt:lpstr>幻灯片标题</vt:lpstr>
      </vt:variant>
      <vt:variant>
        <vt:i4>81</vt:i4>
      </vt:variant>
    </vt:vector>
  </HeadingPairs>
  <TitlesOfParts>
    <vt:vector size="140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林志明</dc:creator>
  <cp:lastModifiedBy>林志明</cp:lastModifiedBy>
  <cp:revision>2496</cp:revision>
  <dcterms:created xsi:type="dcterms:W3CDTF">2023-08-09T12:44:00Z</dcterms:created>
  <dcterms:modified xsi:type="dcterms:W3CDTF">2024-05-15T15:31:22Z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