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9">
  <p:sldMasterIdLst>
    <p:sldMasterId id="2147483648" r:id="rId1"/>
  </p:sldMasterIdLst>
  <p:notesMasterIdLst>
    <p:notesMasterId r:id="rId100"/>
  </p:notesMasterIdLst>
  <p:handoutMasterIdLst>
    <p:handoutMasterId r:id="rId101"/>
  </p:handoutMasterIdLst>
  <p:sldIdLst>
    <p:sldId id="256" r:id="rId2"/>
    <p:sldId id="544" r:id="rId3"/>
    <p:sldId id="545" r:id="rId4"/>
    <p:sldId id="448" r:id="rId5"/>
    <p:sldId id="449" r:id="rId6"/>
    <p:sldId id="450" r:id="rId7"/>
    <p:sldId id="451" r:id="rId8"/>
    <p:sldId id="263" r:id="rId9"/>
    <p:sldId id="420" r:id="rId10"/>
    <p:sldId id="421" r:id="rId11"/>
    <p:sldId id="422" r:id="rId12"/>
    <p:sldId id="423" r:id="rId13"/>
    <p:sldId id="424" r:id="rId14"/>
    <p:sldId id="425" r:id="rId15"/>
    <p:sldId id="426" r:id="rId16"/>
    <p:sldId id="452" r:id="rId17"/>
    <p:sldId id="453" r:id="rId18"/>
    <p:sldId id="427" r:id="rId19"/>
    <p:sldId id="428" r:id="rId20"/>
    <p:sldId id="429" r:id="rId21"/>
    <p:sldId id="430" r:id="rId22"/>
    <p:sldId id="431" r:id="rId23"/>
    <p:sldId id="454" r:id="rId24"/>
    <p:sldId id="455" r:id="rId25"/>
    <p:sldId id="456" r:id="rId26"/>
    <p:sldId id="457" r:id="rId27"/>
    <p:sldId id="458" r:id="rId28"/>
    <p:sldId id="459" r:id="rId29"/>
    <p:sldId id="460" r:id="rId30"/>
    <p:sldId id="461" r:id="rId31"/>
    <p:sldId id="462" r:id="rId32"/>
    <p:sldId id="465" r:id="rId33"/>
    <p:sldId id="466" r:id="rId34"/>
    <p:sldId id="467" r:id="rId35"/>
    <p:sldId id="434" r:id="rId36"/>
    <p:sldId id="435" r:id="rId37"/>
    <p:sldId id="436" r:id="rId38"/>
    <p:sldId id="437" r:id="rId39"/>
    <p:sldId id="438" r:id="rId40"/>
    <p:sldId id="439" r:id="rId41"/>
    <p:sldId id="440" r:id="rId42"/>
    <p:sldId id="441" r:id="rId43"/>
    <p:sldId id="442" r:id="rId44"/>
    <p:sldId id="443" r:id="rId45"/>
    <p:sldId id="444" r:id="rId46"/>
    <p:sldId id="445" r:id="rId47"/>
    <p:sldId id="446" r:id="rId48"/>
    <p:sldId id="447" r:id="rId49"/>
    <p:sldId id="491" r:id="rId50"/>
    <p:sldId id="492" r:id="rId51"/>
    <p:sldId id="493" r:id="rId52"/>
    <p:sldId id="494" r:id="rId53"/>
    <p:sldId id="495" r:id="rId54"/>
    <p:sldId id="496" r:id="rId55"/>
    <p:sldId id="497" r:id="rId56"/>
    <p:sldId id="498" r:id="rId57"/>
    <p:sldId id="499" r:id="rId58"/>
    <p:sldId id="500" r:id="rId59"/>
    <p:sldId id="501" r:id="rId60"/>
    <p:sldId id="502" r:id="rId61"/>
    <p:sldId id="503" r:id="rId62"/>
    <p:sldId id="504" r:id="rId63"/>
    <p:sldId id="505" r:id="rId64"/>
    <p:sldId id="506" r:id="rId65"/>
    <p:sldId id="507" r:id="rId66"/>
    <p:sldId id="508" r:id="rId67"/>
    <p:sldId id="509" r:id="rId68"/>
    <p:sldId id="510" r:id="rId69"/>
    <p:sldId id="511" r:id="rId70"/>
    <p:sldId id="512" r:id="rId71"/>
    <p:sldId id="513" r:id="rId72"/>
    <p:sldId id="514" r:id="rId73"/>
    <p:sldId id="515" r:id="rId74"/>
    <p:sldId id="516" r:id="rId75"/>
    <p:sldId id="517" r:id="rId76"/>
    <p:sldId id="518" r:id="rId77"/>
    <p:sldId id="519" r:id="rId78"/>
    <p:sldId id="520" r:id="rId79"/>
    <p:sldId id="521" r:id="rId80"/>
    <p:sldId id="522" r:id="rId81"/>
    <p:sldId id="523" r:id="rId82"/>
    <p:sldId id="524" r:id="rId83"/>
    <p:sldId id="525" r:id="rId84"/>
    <p:sldId id="526" r:id="rId85"/>
    <p:sldId id="527" r:id="rId86"/>
    <p:sldId id="528" r:id="rId87"/>
    <p:sldId id="529" r:id="rId88"/>
    <p:sldId id="530" r:id="rId89"/>
    <p:sldId id="531" r:id="rId90"/>
    <p:sldId id="532" r:id="rId91"/>
    <p:sldId id="533" r:id="rId92"/>
    <p:sldId id="534" r:id="rId93"/>
    <p:sldId id="535" r:id="rId94"/>
    <p:sldId id="536" r:id="rId95"/>
    <p:sldId id="537" r:id="rId96"/>
    <p:sldId id="538" r:id="rId97"/>
    <p:sldId id="539" r:id="rId98"/>
    <p:sldId id="290" r:id="rId99"/>
  </p:sldIdLst>
  <p:sldSz cx="9144000" cy="6858000" type="screen4x3"/>
  <p:notesSz cx="6797675" cy="9928225"/>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FFFF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87" autoAdjust="0"/>
    <p:restoredTop sz="87629" autoAdjust="0"/>
  </p:normalViewPr>
  <p:slideViewPr>
    <p:cSldViewPr>
      <p:cViewPr varScale="1">
        <p:scale>
          <a:sx n="72" d="100"/>
          <a:sy n="72" d="100"/>
        </p:scale>
        <p:origin x="1296"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680"/>
    </p:cViewPr>
  </p:sorterViewPr>
  <p:notesViewPr>
    <p:cSldViewPr>
      <p:cViewPr varScale="1">
        <p:scale>
          <a:sx n="54" d="100"/>
          <a:sy n="54" d="100"/>
        </p:scale>
        <p:origin x="-2820"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CA4B4E-5D28-4EFC-A203-5E337C4F258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C3EAB613-7B1C-429F-B23F-F3C51793AD1C}">
      <dgm:prSet custT="1"/>
      <dgm:spPr>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dgm:spPr>
      <dgm:t>
        <a:bodyPr/>
        <a:lstStyle/>
        <a:p>
          <a:pPr rtl="0"/>
          <a:r>
            <a:rPr lang="zh-CN" altLang="en-US" sz="3400" dirty="0">
              <a:solidFill>
                <a:schemeClr val="accent2">
                  <a:lumMod val="50000"/>
                </a:schemeClr>
              </a:solidFill>
              <a:latin typeface="黑体" pitchFamily="49" charset="-122"/>
              <a:ea typeface="黑体" pitchFamily="49" charset="-122"/>
            </a:rPr>
            <a:t>多信息源的本地学习与模型融合</a:t>
          </a:r>
        </a:p>
      </dgm:t>
    </dgm:pt>
    <dgm:pt modelId="{28A43CB8-4628-4128-8733-768D6697D88C}" type="parTrans" cxnId="{791E8E2D-9CA3-4DBF-81D0-FF097C1B3C82}">
      <dgm:prSet/>
      <dgm:spPr/>
      <dgm:t>
        <a:bodyPr/>
        <a:lstStyle/>
        <a:p>
          <a:endParaRPr lang="zh-CN" altLang="en-US"/>
        </a:p>
      </dgm:t>
    </dgm:pt>
    <dgm:pt modelId="{DDEE4063-A16C-4CBF-8CBE-30AEC94C551D}" type="sibTrans" cxnId="{791E8E2D-9CA3-4DBF-81D0-FF097C1B3C82}">
      <dgm:prSet/>
      <dgm:spPr/>
      <dgm:t>
        <a:bodyPr/>
        <a:lstStyle/>
        <a:p>
          <a:endParaRPr lang="zh-CN" altLang="en-US"/>
        </a:p>
      </dgm:t>
    </dgm:pt>
    <dgm:pt modelId="{EFB04C1D-DD23-42D8-813A-9C2C071A33AF}">
      <dgm:prSet/>
      <dgm:spPr/>
      <dgm:t>
        <a:bodyPr/>
        <a:lstStyle/>
        <a:p>
          <a:pPr rtl="0"/>
          <a:r>
            <a:rPr lang="zh-CN" sz="2600" dirty="0">
              <a:solidFill>
                <a:schemeClr val="accent2">
                  <a:lumMod val="50000"/>
                </a:schemeClr>
              </a:solidFill>
              <a:latin typeface="黑体" pitchFamily="49" charset="-122"/>
              <a:ea typeface="黑体" pitchFamily="49" charset="-122"/>
            </a:rPr>
            <a:t>目标</a:t>
          </a:r>
          <a:r>
            <a:rPr lang="en-US" altLang="zh-CN" sz="2600" dirty="0"/>
            <a:t>	</a:t>
          </a:r>
          <a:r>
            <a:rPr lang="zh-CN" sz="2600" dirty="0"/>
            <a:t>分布式数据源协同挖掘</a:t>
          </a:r>
          <a:br>
            <a:rPr lang="en-US" altLang="zh-CN" sz="2600" dirty="0"/>
          </a:br>
          <a:r>
            <a:rPr lang="en-US" altLang="zh-CN" sz="2600" dirty="0"/>
            <a:t>	</a:t>
          </a:r>
          <a:r>
            <a:rPr lang="zh-CN" sz="2600" dirty="0"/>
            <a:t>获得全局最优化结果</a:t>
          </a:r>
        </a:p>
      </dgm:t>
    </dgm:pt>
    <dgm:pt modelId="{E1D00D60-DCE8-4DC2-ABEA-5E586DA845C2}" type="parTrans" cxnId="{538185CE-D08B-41D7-A174-B75CD98B9501}">
      <dgm:prSet/>
      <dgm:spPr/>
      <dgm:t>
        <a:bodyPr/>
        <a:lstStyle/>
        <a:p>
          <a:endParaRPr lang="zh-CN" altLang="en-US"/>
        </a:p>
      </dgm:t>
    </dgm:pt>
    <dgm:pt modelId="{0E99917B-DD47-4A4B-86C0-A4ACC155A2E3}" type="sibTrans" cxnId="{538185CE-D08B-41D7-A174-B75CD98B9501}">
      <dgm:prSet/>
      <dgm:spPr/>
      <dgm:t>
        <a:bodyPr/>
        <a:lstStyle/>
        <a:p>
          <a:endParaRPr lang="zh-CN" altLang="en-US"/>
        </a:p>
      </dgm:t>
    </dgm:pt>
    <dgm:pt modelId="{6E924323-314F-4B78-8E63-BC9C7EB3FB0D}">
      <dgm:prSet/>
      <dgm:spPr/>
      <dgm:t>
        <a:bodyPr/>
        <a:lstStyle/>
        <a:p>
          <a:pPr rtl="0"/>
          <a:r>
            <a:rPr lang="zh-CN" altLang="en-US" sz="2600" dirty="0">
              <a:solidFill>
                <a:schemeClr val="accent2">
                  <a:lumMod val="50000"/>
                </a:schemeClr>
              </a:solidFill>
              <a:latin typeface="黑体" pitchFamily="49" charset="-122"/>
              <a:ea typeface="黑体" pitchFamily="49" charset="-122"/>
            </a:rPr>
            <a:t>方法</a:t>
          </a:r>
          <a:r>
            <a:rPr lang="en-US" altLang="zh-CN" sz="2600" dirty="0"/>
            <a:t>	</a:t>
          </a:r>
          <a:r>
            <a:rPr lang="zh-CN" sz="2600" dirty="0">
              <a:solidFill>
                <a:schemeClr val="tx2"/>
              </a:solidFill>
            </a:rPr>
            <a:t>❶</a:t>
          </a:r>
          <a:r>
            <a:rPr lang="zh-CN" sz="2600" dirty="0"/>
            <a:t>本地挖掘（</a:t>
          </a:r>
          <a:r>
            <a:rPr lang="en-US" sz="2600" dirty="0"/>
            <a:t>local mining</a:t>
          </a:r>
          <a:r>
            <a:rPr lang="zh-CN" sz="2600" dirty="0"/>
            <a:t>）</a:t>
          </a:r>
          <a:br>
            <a:rPr lang="en-US" altLang="zh-CN" sz="2600" dirty="0"/>
          </a:br>
          <a:r>
            <a:rPr lang="en-US" altLang="zh-CN" sz="2600" dirty="0"/>
            <a:t>	</a:t>
          </a:r>
          <a:r>
            <a:rPr lang="zh-CN" sz="2600" dirty="0">
              <a:solidFill>
                <a:schemeClr val="tx2"/>
              </a:solidFill>
            </a:rPr>
            <a:t>❷</a:t>
          </a:r>
          <a:r>
            <a:rPr lang="zh-CN" sz="2600" dirty="0"/>
            <a:t>全局相关（</a:t>
          </a:r>
          <a:r>
            <a:rPr lang="en-US" sz="2600" dirty="0"/>
            <a:t>global correlation</a:t>
          </a:r>
          <a:r>
            <a:rPr lang="zh-CN" sz="2600" dirty="0"/>
            <a:t>）</a:t>
          </a:r>
          <a:br>
            <a:rPr lang="en-US" altLang="zh-CN" sz="2600" dirty="0"/>
          </a:br>
          <a:r>
            <a:rPr lang="en-US" altLang="zh-CN" sz="2600" dirty="0"/>
            <a:t>	</a:t>
          </a:r>
          <a:r>
            <a:rPr lang="zh-CN" sz="2600" dirty="0">
              <a:solidFill>
                <a:schemeClr val="tx2"/>
              </a:solidFill>
            </a:rPr>
            <a:t>❸</a:t>
          </a:r>
          <a:r>
            <a:rPr lang="zh-CN" altLang="en-US" sz="2600" dirty="0"/>
            <a:t>数据、模型、知识层</a:t>
          </a:r>
          <a:endParaRPr lang="zh-CN" sz="2600" dirty="0">
            <a:solidFill>
              <a:schemeClr val="bg2">
                <a:lumMod val="50000"/>
              </a:schemeClr>
            </a:solidFill>
            <a:latin typeface="Palatino Linotype" pitchFamily="18" charset="0"/>
          </a:endParaRPr>
        </a:p>
      </dgm:t>
    </dgm:pt>
    <dgm:pt modelId="{E56FC529-B4E8-4023-AE7A-E17AE77FDEAC}" type="parTrans" cxnId="{4BD5D3C3-36D4-4681-BA85-DF888EE84C1A}">
      <dgm:prSet/>
      <dgm:spPr/>
      <dgm:t>
        <a:bodyPr/>
        <a:lstStyle/>
        <a:p>
          <a:endParaRPr lang="zh-CN" altLang="en-US"/>
        </a:p>
      </dgm:t>
    </dgm:pt>
    <dgm:pt modelId="{562CA683-A39C-4B5F-AE8F-72578DB96A5D}" type="sibTrans" cxnId="{4BD5D3C3-36D4-4681-BA85-DF888EE84C1A}">
      <dgm:prSet/>
      <dgm:spPr/>
      <dgm:t>
        <a:bodyPr/>
        <a:lstStyle/>
        <a:p>
          <a:endParaRPr lang="zh-CN" altLang="en-US"/>
        </a:p>
      </dgm:t>
    </dgm:pt>
    <dgm:pt modelId="{ACE8BADE-57B0-40EA-9CD9-F4F7416E28D8}">
      <dgm:prSet custT="1"/>
      <dgm:spPr/>
      <dgm:t>
        <a:bodyPr/>
        <a:lstStyle/>
        <a:p>
          <a:pPr rtl="0"/>
          <a:r>
            <a:rPr lang="zh-CN" altLang="en-US" sz="2600" dirty="0">
              <a:solidFill>
                <a:schemeClr val="accent2">
                  <a:lumMod val="50000"/>
                </a:schemeClr>
              </a:solidFill>
              <a:latin typeface="黑体" pitchFamily="49" charset="-122"/>
              <a:ea typeface="黑体" pitchFamily="49" charset="-122"/>
            </a:rPr>
            <a:t>挑战</a:t>
          </a:r>
          <a:r>
            <a:rPr lang="en-US" altLang="zh-CN" sz="2600" dirty="0"/>
            <a:t>	</a:t>
          </a:r>
          <a:r>
            <a:rPr lang="zh-CN" sz="2600" dirty="0">
              <a:solidFill>
                <a:schemeClr val="tx2"/>
              </a:solidFill>
            </a:rPr>
            <a:t>❶</a:t>
          </a:r>
          <a:r>
            <a:rPr lang="zh-CN" sz="2600" dirty="0"/>
            <a:t>数据传输代价</a:t>
          </a:r>
          <a:br>
            <a:rPr lang="en-US" altLang="zh-CN" sz="2600" dirty="0"/>
          </a:br>
          <a:r>
            <a:rPr lang="en-US" altLang="zh-CN" sz="2600" dirty="0"/>
            <a:t>	</a:t>
          </a:r>
          <a:r>
            <a:rPr lang="zh-CN" sz="2600" dirty="0">
              <a:solidFill>
                <a:schemeClr val="tx2"/>
              </a:solidFill>
            </a:rPr>
            <a:t>❷</a:t>
          </a:r>
          <a:r>
            <a:rPr lang="zh-CN" sz="2600" dirty="0"/>
            <a:t>隐私保护</a:t>
          </a:r>
          <a:br>
            <a:rPr lang="en-US" altLang="zh-CN" sz="2600" dirty="0"/>
          </a:br>
          <a:r>
            <a:rPr lang="en-US" altLang="zh-CN" sz="2600" dirty="0"/>
            <a:t>	</a:t>
          </a:r>
          <a:r>
            <a:rPr lang="zh-CN" sz="2600" dirty="0">
              <a:solidFill>
                <a:schemeClr val="tx2"/>
              </a:solidFill>
            </a:rPr>
            <a:t>❸</a:t>
          </a:r>
          <a:r>
            <a:rPr lang="zh-CN" sz="2600" dirty="0"/>
            <a:t>不同站点的“偏见”</a:t>
          </a:r>
          <a:endParaRPr lang="zh-CN" altLang="en-US" sz="2000" dirty="0"/>
        </a:p>
      </dgm:t>
    </dgm:pt>
    <dgm:pt modelId="{C2690EB5-B37F-49FF-90DE-9F12ECF95942}" type="parTrans" cxnId="{79D3608C-6D05-4B5B-8069-39DE80AC4438}">
      <dgm:prSet/>
      <dgm:spPr/>
      <dgm:t>
        <a:bodyPr/>
        <a:lstStyle/>
        <a:p>
          <a:endParaRPr lang="zh-CN" altLang="en-US"/>
        </a:p>
      </dgm:t>
    </dgm:pt>
    <dgm:pt modelId="{7B7C0397-F206-4503-B908-83250DF2EA22}" type="sibTrans" cxnId="{79D3608C-6D05-4B5B-8069-39DE80AC4438}">
      <dgm:prSet/>
      <dgm:spPr/>
      <dgm:t>
        <a:bodyPr/>
        <a:lstStyle/>
        <a:p>
          <a:endParaRPr lang="zh-CN" altLang="en-US"/>
        </a:p>
      </dgm:t>
    </dgm:pt>
    <dgm:pt modelId="{904E6EFF-E4C2-4FD7-990F-B99DA3B5CA30}">
      <dgm:prSet custT="1"/>
      <dgm:spPr/>
      <dgm:t>
        <a:bodyPr/>
        <a:lstStyle/>
        <a:p>
          <a:pPr rtl="0"/>
          <a:endParaRPr lang="zh-CN" altLang="en-US" sz="2000" dirty="0"/>
        </a:p>
      </dgm:t>
    </dgm:pt>
    <dgm:pt modelId="{6D2BB5C5-8303-4D31-A756-8C4D1B9CADC7}" type="parTrans" cxnId="{44E25487-D0DE-4932-BC37-4BFA73CAB3D5}">
      <dgm:prSet/>
      <dgm:spPr/>
      <dgm:t>
        <a:bodyPr/>
        <a:lstStyle/>
        <a:p>
          <a:endParaRPr lang="zh-CN" altLang="en-US"/>
        </a:p>
      </dgm:t>
    </dgm:pt>
    <dgm:pt modelId="{34DC98FB-6F17-415D-91F1-7BA953E12413}" type="sibTrans" cxnId="{44E25487-D0DE-4932-BC37-4BFA73CAB3D5}">
      <dgm:prSet/>
      <dgm:spPr/>
      <dgm:t>
        <a:bodyPr/>
        <a:lstStyle/>
        <a:p>
          <a:endParaRPr lang="zh-CN" altLang="en-US"/>
        </a:p>
      </dgm:t>
    </dgm:pt>
    <dgm:pt modelId="{65EAD0CF-92D9-44E5-A171-E07DA69EC22A}" type="pres">
      <dgm:prSet presAssocID="{00CA4B4E-5D28-4EFC-A203-5E337C4F258D}" presName="linear" presStyleCnt="0">
        <dgm:presLayoutVars>
          <dgm:animLvl val="lvl"/>
          <dgm:resizeHandles val="exact"/>
        </dgm:presLayoutVars>
      </dgm:prSet>
      <dgm:spPr/>
    </dgm:pt>
    <dgm:pt modelId="{D885CFAB-7641-4365-B6A2-A20BDB43FA91}" type="pres">
      <dgm:prSet presAssocID="{C3EAB613-7B1C-429F-B23F-F3C51793AD1C}" presName="parentText" presStyleLbl="node1" presStyleIdx="0" presStyleCnt="1">
        <dgm:presLayoutVars>
          <dgm:chMax val="0"/>
          <dgm:bulletEnabled val="1"/>
        </dgm:presLayoutVars>
      </dgm:prSet>
      <dgm:spPr/>
    </dgm:pt>
    <dgm:pt modelId="{F0BBBFA8-02F9-497B-8385-47F6A7D8C444}" type="pres">
      <dgm:prSet presAssocID="{C3EAB613-7B1C-429F-B23F-F3C51793AD1C}" presName="childText" presStyleLbl="revTx" presStyleIdx="0" presStyleCnt="1" custScaleY="103152">
        <dgm:presLayoutVars>
          <dgm:bulletEnabled val="1"/>
        </dgm:presLayoutVars>
      </dgm:prSet>
      <dgm:spPr/>
    </dgm:pt>
  </dgm:ptLst>
  <dgm:cxnLst>
    <dgm:cxn modelId="{791E8E2D-9CA3-4DBF-81D0-FF097C1B3C82}" srcId="{00CA4B4E-5D28-4EFC-A203-5E337C4F258D}" destId="{C3EAB613-7B1C-429F-B23F-F3C51793AD1C}" srcOrd="0" destOrd="0" parTransId="{28A43CB8-4628-4128-8733-768D6697D88C}" sibTransId="{DDEE4063-A16C-4CBF-8CBE-30AEC94C551D}"/>
    <dgm:cxn modelId="{1A69D73E-52C0-4650-9555-9F16420E31BB}" type="presOf" srcId="{6E924323-314F-4B78-8E63-BC9C7EB3FB0D}" destId="{F0BBBFA8-02F9-497B-8385-47F6A7D8C444}" srcOrd="0" destOrd="3" presId="urn:microsoft.com/office/officeart/2005/8/layout/vList2"/>
    <dgm:cxn modelId="{4AF0357D-85BE-4B93-8726-F3986D3C82A0}" type="presOf" srcId="{C3EAB613-7B1C-429F-B23F-F3C51793AD1C}" destId="{D885CFAB-7641-4365-B6A2-A20BDB43FA91}" srcOrd="0" destOrd="0" presId="urn:microsoft.com/office/officeart/2005/8/layout/vList2"/>
    <dgm:cxn modelId="{44E25487-D0DE-4932-BC37-4BFA73CAB3D5}" srcId="{C3EAB613-7B1C-429F-B23F-F3C51793AD1C}" destId="{904E6EFF-E4C2-4FD7-990F-B99DA3B5CA30}" srcOrd="0" destOrd="0" parTransId="{6D2BB5C5-8303-4D31-A756-8C4D1B9CADC7}" sibTransId="{34DC98FB-6F17-415D-91F1-7BA953E12413}"/>
    <dgm:cxn modelId="{79D3608C-6D05-4B5B-8069-39DE80AC4438}" srcId="{C3EAB613-7B1C-429F-B23F-F3C51793AD1C}" destId="{ACE8BADE-57B0-40EA-9CD9-F4F7416E28D8}" srcOrd="1" destOrd="0" parTransId="{C2690EB5-B37F-49FF-90DE-9F12ECF95942}" sibTransId="{7B7C0397-F206-4503-B908-83250DF2EA22}"/>
    <dgm:cxn modelId="{D994CA9E-4E00-48C9-BC03-05FA1FC5A608}" type="presOf" srcId="{EFB04C1D-DD23-42D8-813A-9C2C071A33AF}" destId="{F0BBBFA8-02F9-497B-8385-47F6A7D8C444}" srcOrd="0" destOrd="2" presId="urn:microsoft.com/office/officeart/2005/8/layout/vList2"/>
    <dgm:cxn modelId="{4BD5D3C3-36D4-4681-BA85-DF888EE84C1A}" srcId="{C3EAB613-7B1C-429F-B23F-F3C51793AD1C}" destId="{6E924323-314F-4B78-8E63-BC9C7EB3FB0D}" srcOrd="3" destOrd="0" parTransId="{E56FC529-B4E8-4023-AE7A-E17AE77FDEAC}" sibTransId="{562CA683-A39C-4B5F-AE8F-72578DB96A5D}"/>
    <dgm:cxn modelId="{538185CE-D08B-41D7-A174-B75CD98B9501}" srcId="{C3EAB613-7B1C-429F-B23F-F3C51793AD1C}" destId="{EFB04C1D-DD23-42D8-813A-9C2C071A33AF}" srcOrd="2" destOrd="0" parTransId="{E1D00D60-DCE8-4DC2-ABEA-5E586DA845C2}" sibTransId="{0E99917B-DD47-4A4B-86C0-A4ACC155A2E3}"/>
    <dgm:cxn modelId="{EB5E63DA-91EC-4E50-8380-9BA7D4634F7C}" type="presOf" srcId="{904E6EFF-E4C2-4FD7-990F-B99DA3B5CA30}" destId="{F0BBBFA8-02F9-497B-8385-47F6A7D8C444}" srcOrd="0" destOrd="0" presId="urn:microsoft.com/office/officeart/2005/8/layout/vList2"/>
    <dgm:cxn modelId="{6E077DDD-6DC9-4172-9AFB-A6906530A312}" type="presOf" srcId="{00CA4B4E-5D28-4EFC-A203-5E337C4F258D}" destId="{65EAD0CF-92D9-44E5-A171-E07DA69EC22A}" srcOrd="0" destOrd="0" presId="urn:microsoft.com/office/officeart/2005/8/layout/vList2"/>
    <dgm:cxn modelId="{E9F3DCF9-E5B9-4ADF-B825-81005486C506}" type="presOf" srcId="{ACE8BADE-57B0-40EA-9CD9-F4F7416E28D8}" destId="{F0BBBFA8-02F9-497B-8385-47F6A7D8C444}" srcOrd="0" destOrd="1" presId="urn:microsoft.com/office/officeart/2005/8/layout/vList2"/>
    <dgm:cxn modelId="{80C29929-DAA2-4431-B05C-795039A6076A}" type="presParOf" srcId="{65EAD0CF-92D9-44E5-A171-E07DA69EC22A}" destId="{D885CFAB-7641-4365-B6A2-A20BDB43FA91}" srcOrd="0" destOrd="0" presId="urn:microsoft.com/office/officeart/2005/8/layout/vList2"/>
    <dgm:cxn modelId="{78392DE4-8B64-40B7-815B-3733E91F2B6F}" type="presParOf" srcId="{65EAD0CF-92D9-44E5-A171-E07DA69EC22A}" destId="{F0BBBFA8-02F9-497B-8385-47F6A7D8C44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00CA4B4E-5D28-4EFC-A203-5E337C4F258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C3EAB613-7B1C-429F-B23F-F3C51793AD1C}">
      <dgm:prSet custT="1"/>
      <dgm:spPr>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dgm:spPr>
      <dgm:t>
        <a:bodyPr/>
        <a:lstStyle/>
        <a:p>
          <a:pPr rtl="0"/>
          <a:r>
            <a:rPr lang="zh-CN" altLang="en-US" sz="3400" dirty="0">
              <a:solidFill>
                <a:schemeClr val="accent2">
                  <a:lumMod val="50000"/>
                </a:schemeClr>
              </a:solidFill>
              <a:latin typeface="黑体" pitchFamily="49" charset="-122"/>
              <a:ea typeface="黑体" pitchFamily="49" charset="-122"/>
            </a:rPr>
            <a:t>稀疏、不确定、不完整数据的挖掘</a:t>
          </a:r>
        </a:p>
      </dgm:t>
    </dgm:pt>
    <dgm:pt modelId="{28A43CB8-4628-4128-8733-768D6697D88C}" type="parTrans" cxnId="{791E8E2D-9CA3-4DBF-81D0-FF097C1B3C82}">
      <dgm:prSet/>
      <dgm:spPr/>
      <dgm:t>
        <a:bodyPr/>
        <a:lstStyle/>
        <a:p>
          <a:endParaRPr lang="zh-CN" altLang="en-US"/>
        </a:p>
      </dgm:t>
    </dgm:pt>
    <dgm:pt modelId="{DDEE4063-A16C-4CBF-8CBE-30AEC94C551D}" type="sibTrans" cxnId="{791E8E2D-9CA3-4DBF-81D0-FF097C1B3C82}">
      <dgm:prSet/>
      <dgm:spPr/>
      <dgm:t>
        <a:bodyPr/>
        <a:lstStyle/>
        <a:p>
          <a:endParaRPr lang="zh-CN" altLang="en-US"/>
        </a:p>
      </dgm:t>
    </dgm:pt>
    <dgm:pt modelId="{6E924323-314F-4B78-8E63-BC9C7EB3FB0D}">
      <dgm:prSet/>
      <dgm:spPr/>
      <dgm:t>
        <a:bodyPr/>
        <a:lstStyle/>
        <a:p>
          <a:pPr rtl="0"/>
          <a:r>
            <a:rPr lang="zh-CN" altLang="en-US" sz="2600" dirty="0">
              <a:solidFill>
                <a:schemeClr val="accent2">
                  <a:lumMod val="50000"/>
                </a:schemeClr>
              </a:solidFill>
              <a:latin typeface="黑体" pitchFamily="49" charset="-122"/>
              <a:ea typeface="黑体" pitchFamily="49" charset="-122"/>
            </a:rPr>
            <a:t>方法</a:t>
          </a:r>
          <a:r>
            <a:rPr lang="en-US" altLang="zh-CN" sz="2600" dirty="0"/>
            <a:t>	</a:t>
          </a:r>
          <a:r>
            <a:rPr lang="zh-CN" sz="2600" dirty="0">
              <a:solidFill>
                <a:schemeClr val="tx2"/>
              </a:solidFill>
            </a:rPr>
            <a:t>❶</a:t>
          </a:r>
          <a:r>
            <a:rPr lang="zh-CN" altLang="en-US" sz="2600" dirty="0"/>
            <a:t>维度约减与特征选择</a:t>
          </a:r>
          <a:br>
            <a:rPr lang="en-US" altLang="zh-CN" sz="2600" dirty="0">
              <a:solidFill>
                <a:schemeClr val="bg2">
                  <a:lumMod val="50000"/>
                </a:schemeClr>
              </a:solidFill>
            </a:rPr>
          </a:br>
          <a:r>
            <a:rPr lang="en-US" altLang="zh-CN" sz="2600" dirty="0"/>
            <a:t>	</a:t>
          </a:r>
          <a:r>
            <a:rPr lang="zh-CN" sz="2600" dirty="0">
              <a:solidFill>
                <a:schemeClr val="tx2"/>
              </a:solidFill>
            </a:rPr>
            <a:t>❷</a:t>
          </a:r>
          <a:r>
            <a:rPr lang="en-US" sz="2600" dirty="0">
              <a:latin typeface="Palatino Linotype" pitchFamily="18" charset="0"/>
            </a:rPr>
            <a:t>error</a:t>
          </a:r>
          <a:r>
            <a:rPr lang="en-US" altLang="zh-CN" sz="2600" dirty="0">
              <a:latin typeface="Palatino Linotype" pitchFamily="18" charset="0"/>
            </a:rPr>
            <a:t>-</a:t>
          </a:r>
          <a:r>
            <a:rPr lang="en-US" sz="2600" dirty="0">
              <a:latin typeface="Palatino Linotype" pitchFamily="18" charset="0"/>
            </a:rPr>
            <a:t>aware</a:t>
          </a:r>
          <a:r>
            <a:rPr lang="zh-CN" altLang="en-US" sz="2600" dirty="0">
              <a:latin typeface="Palatino Linotype" pitchFamily="18" charset="0"/>
            </a:rPr>
            <a:t>的挖掘</a:t>
          </a:r>
          <a:br>
            <a:rPr lang="en-US" altLang="zh-CN" sz="2600" dirty="0">
              <a:solidFill>
                <a:schemeClr val="bg2">
                  <a:lumMod val="50000"/>
                </a:schemeClr>
              </a:solidFill>
              <a:latin typeface="Palatino Linotype" pitchFamily="18" charset="0"/>
            </a:rPr>
          </a:br>
          <a:r>
            <a:rPr lang="en-US" altLang="zh-CN" sz="2600" dirty="0"/>
            <a:t>	</a:t>
          </a:r>
          <a:r>
            <a:rPr lang="zh-CN" sz="2600" dirty="0">
              <a:solidFill>
                <a:schemeClr val="tx2"/>
              </a:solidFill>
            </a:rPr>
            <a:t>❸</a:t>
          </a:r>
          <a:r>
            <a:rPr lang="en-US" altLang="zh-CN" sz="2600" dirty="0">
              <a:latin typeface="Palatino Linotype" pitchFamily="18" charset="0"/>
            </a:rPr>
            <a:t>imputation</a:t>
          </a:r>
          <a:r>
            <a:rPr lang="zh-CN" altLang="en-US" sz="2600" dirty="0"/>
            <a:t>方法</a:t>
          </a:r>
          <a:endParaRPr lang="zh-CN" sz="2600" dirty="0">
            <a:solidFill>
              <a:schemeClr val="bg2">
                <a:lumMod val="50000"/>
              </a:schemeClr>
            </a:solidFill>
            <a:latin typeface="Palatino Linotype" pitchFamily="18" charset="0"/>
          </a:endParaRPr>
        </a:p>
      </dgm:t>
    </dgm:pt>
    <dgm:pt modelId="{E56FC529-B4E8-4023-AE7A-E17AE77FDEAC}" type="parTrans" cxnId="{4BD5D3C3-36D4-4681-BA85-DF888EE84C1A}">
      <dgm:prSet/>
      <dgm:spPr/>
      <dgm:t>
        <a:bodyPr/>
        <a:lstStyle/>
        <a:p>
          <a:endParaRPr lang="zh-CN" altLang="en-US"/>
        </a:p>
      </dgm:t>
    </dgm:pt>
    <dgm:pt modelId="{562CA683-A39C-4B5F-AE8F-72578DB96A5D}" type="sibTrans" cxnId="{4BD5D3C3-36D4-4681-BA85-DF888EE84C1A}">
      <dgm:prSet/>
      <dgm:spPr/>
      <dgm:t>
        <a:bodyPr/>
        <a:lstStyle/>
        <a:p>
          <a:endParaRPr lang="zh-CN" altLang="en-US"/>
        </a:p>
      </dgm:t>
    </dgm:pt>
    <dgm:pt modelId="{ACE8BADE-57B0-40EA-9CD9-F4F7416E28D8}">
      <dgm:prSet custT="1"/>
      <dgm:spPr/>
      <dgm:t>
        <a:bodyPr/>
        <a:lstStyle/>
        <a:p>
          <a:pPr rtl="0"/>
          <a:r>
            <a:rPr lang="zh-CN" altLang="en-US" sz="2600" dirty="0">
              <a:solidFill>
                <a:schemeClr val="accent2">
                  <a:lumMod val="50000"/>
                </a:schemeClr>
              </a:solidFill>
              <a:latin typeface="黑体" pitchFamily="49" charset="-122"/>
              <a:ea typeface="黑体" pitchFamily="49" charset="-122"/>
            </a:rPr>
            <a:t>挑战</a:t>
          </a:r>
          <a:r>
            <a:rPr lang="en-US" altLang="zh-CN" sz="2600" dirty="0"/>
            <a:t>	</a:t>
          </a:r>
          <a:r>
            <a:rPr lang="zh-CN" sz="2600" dirty="0">
              <a:solidFill>
                <a:schemeClr val="tx2"/>
              </a:solidFill>
            </a:rPr>
            <a:t>❶</a:t>
          </a:r>
          <a:r>
            <a:rPr lang="zh-CN" altLang="en-US" sz="2600" dirty="0"/>
            <a:t>特征稀疏</a:t>
          </a:r>
          <a:r>
            <a:rPr lang="en-US" altLang="zh-CN" sz="2600" dirty="0">
              <a:latin typeface="Palatino Linotype" pitchFamily="18" charset="0"/>
            </a:rPr>
            <a:t>(Sparse)</a:t>
          </a:r>
          <a:r>
            <a:rPr lang="zh-CN" altLang="en-US" sz="2600" dirty="0">
              <a:latin typeface="Palatino Linotype" pitchFamily="18" charset="0"/>
            </a:rPr>
            <a:t>：   </a:t>
          </a:r>
          <a:r>
            <a:rPr lang="zh-CN" altLang="en-US" sz="2600" dirty="0"/>
            <a:t>高维</a:t>
          </a:r>
          <a:br>
            <a:rPr lang="en-US" altLang="zh-CN" sz="2600" dirty="0"/>
          </a:br>
          <a:r>
            <a:rPr lang="en-US" altLang="zh-CN" sz="2600" dirty="0"/>
            <a:t>                                                           </a:t>
          </a:r>
          <a:r>
            <a:rPr lang="zh-CN" altLang="en-US" sz="2600" dirty="0"/>
            <a:t>趋势</a:t>
          </a:r>
          <a:r>
            <a:rPr lang="en-US" altLang="zh-CN" sz="2600" dirty="0"/>
            <a:t>/</a:t>
          </a:r>
          <a:r>
            <a:rPr lang="zh-CN" altLang="en-US" sz="2600" dirty="0"/>
            <a:t>分布不清</a:t>
          </a:r>
          <a:br>
            <a:rPr lang="en-US" altLang="zh-CN" sz="2600" dirty="0"/>
          </a:br>
          <a:r>
            <a:rPr lang="en-US" altLang="zh-CN" sz="2600" dirty="0"/>
            <a:t>	</a:t>
          </a:r>
          <a:r>
            <a:rPr lang="zh-CN" sz="2600" dirty="0">
              <a:solidFill>
                <a:schemeClr val="tx2"/>
              </a:solidFill>
            </a:rPr>
            <a:t>❷</a:t>
          </a:r>
          <a:r>
            <a:rPr lang="zh-CN" altLang="en-US" sz="2600" dirty="0"/>
            <a:t>不确定</a:t>
          </a:r>
          <a:r>
            <a:rPr lang="en-US" altLang="zh-CN" sz="2600" dirty="0">
              <a:latin typeface="Palatino Linotype" pitchFamily="18" charset="0"/>
            </a:rPr>
            <a:t>(Uncertain) </a:t>
          </a:r>
          <a:r>
            <a:rPr lang="zh-CN" altLang="en-US" sz="2600" dirty="0">
              <a:latin typeface="Palatino Linotype" pitchFamily="18" charset="0"/>
            </a:rPr>
            <a:t>： </a:t>
          </a:r>
          <a:r>
            <a:rPr lang="zh-CN" altLang="en-US" sz="2600" dirty="0"/>
            <a:t>随机</a:t>
          </a:r>
          <a:r>
            <a:rPr lang="en-US" altLang="zh-CN" sz="2600" dirty="0"/>
            <a:t>/</a:t>
          </a:r>
          <a:r>
            <a:rPr lang="zh-CN" altLang="en-US" sz="2600" dirty="0"/>
            <a:t>错误分布</a:t>
          </a:r>
          <a:br>
            <a:rPr lang="en-US" altLang="zh-CN" sz="2600" dirty="0"/>
          </a:br>
          <a:r>
            <a:rPr lang="en-US" altLang="zh-CN" sz="2600" dirty="0"/>
            <a:t>	</a:t>
          </a:r>
          <a:r>
            <a:rPr lang="zh-CN" sz="2600" dirty="0">
              <a:solidFill>
                <a:schemeClr val="tx2"/>
              </a:solidFill>
            </a:rPr>
            <a:t>❸</a:t>
          </a:r>
          <a:r>
            <a:rPr lang="zh-CN" altLang="en-US" sz="2600" dirty="0"/>
            <a:t>不完整</a:t>
          </a:r>
          <a:r>
            <a:rPr lang="en-US" altLang="zh-CN" sz="2600" dirty="0">
              <a:latin typeface="Palatino Linotype" pitchFamily="18" charset="0"/>
            </a:rPr>
            <a:t>(Incomplete)</a:t>
          </a:r>
          <a:r>
            <a:rPr lang="zh-CN" altLang="en-US" sz="2600" dirty="0">
              <a:latin typeface="Palatino Linotype" pitchFamily="18" charset="0"/>
            </a:rPr>
            <a:t>：数据缺失</a:t>
          </a:r>
          <a:endParaRPr lang="zh-CN" altLang="en-US" sz="2000" dirty="0"/>
        </a:p>
      </dgm:t>
    </dgm:pt>
    <dgm:pt modelId="{C2690EB5-B37F-49FF-90DE-9F12ECF95942}" type="parTrans" cxnId="{79D3608C-6D05-4B5B-8069-39DE80AC4438}">
      <dgm:prSet/>
      <dgm:spPr/>
      <dgm:t>
        <a:bodyPr/>
        <a:lstStyle/>
        <a:p>
          <a:endParaRPr lang="zh-CN" altLang="en-US"/>
        </a:p>
      </dgm:t>
    </dgm:pt>
    <dgm:pt modelId="{7B7C0397-F206-4503-B908-83250DF2EA22}" type="sibTrans" cxnId="{79D3608C-6D05-4B5B-8069-39DE80AC4438}">
      <dgm:prSet/>
      <dgm:spPr/>
      <dgm:t>
        <a:bodyPr/>
        <a:lstStyle/>
        <a:p>
          <a:endParaRPr lang="zh-CN" altLang="en-US"/>
        </a:p>
      </dgm:t>
    </dgm:pt>
    <dgm:pt modelId="{904E6EFF-E4C2-4FD7-990F-B99DA3B5CA30}">
      <dgm:prSet custT="1"/>
      <dgm:spPr/>
      <dgm:t>
        <a:bodyPr/>
        <a:lstStyle/>
        <a:p>
          <a:pPr rtl="0"/>
          <a:endParaRPr lang="zh-CN" altLang="en-US" sz="2000" dirty="0"/>
        </a:p>
      </dgm:t>
    </dgm:pt>
    <dgm:pt modelId="{6D2BB5C5-8303-4D31-A756-8C4D1B9CADC7}" type="parTrans" cxnId="{44E25487-D0DE-4932-BC37-4BFA73CAB3D5}">
      <dgm:prSet/>
      <dgm:spPr/>
      <dgm:t>
        <a:bodyPr/>
        <a:lstStyle/>
        <a:p>
          <a:endParaRPr lang="zh-CN" altLang="en-US"/>
        </a:p>
      </dgm:t>
    </dgm:pt>
    <dgm:pt modelId="{34DC98FB-6F17-415D-91F1-7BA953E12413}" type="sibTrans" cxnId="{44E25487-D0DE-4932-BC37-4BFA73CAB3D5}">
      <dgm:prSet/>
      <dgm:spPr/>
      <dgm:t>
        <a:bodyPr/>
        <a:lstStyle/>
        <a:p>
          <a:endParaRPr lang="zh-CN" altLang="en-US"/>
        </a:p>
      </dgm:t>
    </dgm:pt>
    <dgm:pt modelId="{65EAD0CF-92D9-44E5-A171-E07DA69EC22A}" type="pres">
      <dgm:prSet presAssocID="{00CA4B4E-5D28-4EFC-A203-5E337C4F258D}" presName="linear" presStyleCnt="0">
        <dgm:presLayoutVars>
          <dgm:animLvl val="lvl"/>
          <dgm:resizeHandles val="exact"/>
        </dgm:presLayoutVars>
      </dgm:prSet>
      <dgm:spPr/>
    </dgm:pt>
    <dgm:pt modelId="{D885CFAB-7641-4365-B6A2-A20BDB43FA91}" type="pres">
      <dgm:prSet presAssocID="{C3EAB613-7B1C-429F-B23F-F3C51793AD1C}" presName="parentText" presStyleLbl="node1" presStyleIdx="0" presStyleCnt="1" custScaleY="78632">
        <dgm:presLayoutVars>
          <dgm:chMax val="0"/>
          <dgm:bulletEnabled val="1"/>
        </dgm:presLayoutVars>
      </dgm:prSet>
      <dgm:spPr/>
    </dgm:pt>
    <dgm:pt modelId="{F0BBBFA8-02F9-497B-8385-47F6A7D8C444}" type="pres">
      <dgm:prSet presAssocID="{C3EAB613-7B1C-429F-B23F-F3C51793AD1C}" presName="childText" presStyleLbl="revTx" presStyleIdx="0" presStyleCnt="1" custScaleY="103152">
        <dgm:presLayoutVars>
          <dgm:bulletEnabled val="1"/>
        </dgm:presLayoutVars>
      </dgm:prSet>
      <dgm:spPr/>
    </dgm:pt>
  </dgm:ptLst>
  <dgm:cxnLst>
    <dgm:cxn modelId="{F38D1C1A-069D-49BA-8455-8E567DA1CBEC}" type="presOf" srcId="{6E924323-314F-4B78-8E63-BC9C7EB3FB0D}" destId="{F0BBBFA8-02F9-497B-8385-47F6A7D8C444}" srcOrd="0" destOrd="2" presId="urn:microsoft.com/office/officeart/2005/8/layout/vList2"/>
    <dgm:cxn modelId="{791E8E2D-9CA3-4DBF-81D0-FF097C1B3C82}" srcId="{00CA4B4E-5D28-4EFC-A203-5E337C4F258D}" destId="{C3EAB613-7B1C-429F-B23F-F3C51793AD1C}" srcOrd="0" destOrd="0" parTransId="{28A43CB8-4628-4128-8733-768D6697D88C}" sibTransId="{DDEE4063-A16C-4CBF-8CBE-30AEC94C551D}"/>
    <dgm:cxn modelId="{683B6268-6D4B-404F-AEA0-5DC634C1D273}" type="presOf" srcId="{C3EAB613-7B1C-429F-B23F-F3C51793AD1C}" destId="{D885CFAB-7641-4365-B6A2-A20BDB43FA91}" srcOrd="0" destOrd="0" presId="urn:microsoft.com/office/officeart/2005/8/layout/vList2"/>
    <dgm:cxn modelId="{44E25487-D0DE-4932-BC37-4BFA73CAB3D5}" srcId="{C3EAB613-7B1C-429F-B23F-F3C51793AD1C}" destId="{904E6EFF-E4C2-4FD7-990F-B99DA3B5CA30}" srcOrd="0" destOrd="0" parTransId="{6D2BB5C5-8303-4D31-A756-8C4D1B9CADC7}" sibTransId="{34DC98FB-6F17-415D-91F1-7BA953E12413}"/>
    <dgm:cxn modelId="{79D3608C-6D05-4B5B-8069-39DE80AC4438}" srcId="{C3EAB613-7B1C-429F-B23F-F3C51793AD1C}" destId="{ACE8BADE-57B0-40EA-9CD9-F4F7416E28D8}" srcOrd="1" destOrd="0" parTransId="{C2690EB5-B37F-49FF-90DE-9F12ECF95942}" sibTransId="{7B7C0397-F206-4503-B908-83250DF2EA22}"/>
    <dgm:cxn modelId="{CEC24D93-BBFE-403B-BC92-744C4D67E460}" type="presOf" srcId="{ACE8BADE-57B0-40EA-9CD9-F4F7416E28D8}" destId="{F0BBBFA8-02F9-497B-8385-47F6A7D8C444}" srcOrd="0" destOrd="1" presId="urn:microsoft.com/office/officeart/2005/8/layout/vList2"/>
    <dgm:cxn modelId="{8DAC7DB2-5E01-425D-A6EF-384CB50706C7}" type="presOf" srcId="{00CA4B4E-5D28-4EFC-A203-5E337C4F258D}" destId="{65EAD0CF-92D9-44E5-A171-E07DA69EC22A}" srcOrd="0" destOrd="0" presId="urn:microsoft.com/office/officeart/2005/8/layout/vList2"/>
    <dgm:cxn modelId="{4BD5D3C3-36D4-4681-BA85-DF888EE84C1A}" srcId="{C3EAB613-7B1C-429F-B23F-F3C51793AD1C}" destId="{6E924323-314F-4B78-8E63-BC9C7EB3FB0D}" srcOrd="2" destOrd="0" parTransId="{E56FC529-B4E8-4023-AE7A-E17AE77FDEAC}" sibTransId="{562CA683-A39C-4B5F-AE8F-72578DB96A5D}"/>
    <dgm:cxn modelId="{8DC732DE-3093-4354-B6CF-D3913A01D12D}" type="presOf" srcId="{904E6EFF-E4C2-4FD7-990F-B99DA3B5CA30}" destId="{F0BBBFA8-02F9-497B-8385-47F6A7D8C444}" srcOrd="0" destOrd="0" presId="urn:microsoft.com/office/officeart/2005/8/layout/vList2"/>
    <dgm:cxn modelId="{F33D7F33-C029-4889-B74E-161BBF96E1B2}" type="presParOf" srcId="{65EAD0CF-92D9-44E5-A171-E07DA69EC22A}" destId="{D885CFAB-7641-4365-B6A2-A20BDB43FA91}" srcOrd="0" destOrd="0" presId="urn:microsoft.com/office/officeart/2005/8/layout/vList2"/>
    <dgm:cxn modelId="{61DFC4AE-8664-405A-95E3-7A7558E70AEC}" type="presParOf" srcId="{65EAD0CF-92D9-44E5-A171-E07DA69EC22A}" destId="{F0BBBFA8-02F9-497B-8385-47F6A7D8C44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00CA4B4E-5D28-4EFC-A203-5E337C4F258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C3EAB613-7B1C-429F-B23F-F3C51793AD1C}">
      <dgm:prSet custT="1"/>
      <dgm:spPr>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dgm:spPr>
      <dgm:t>
        <a:bodyPr/>
        <a:lstStyle/>
        <a:p>
          <a:pPr rtl="0"/>
          <a:r>
            <a:rPr lang="zh-CN" altLang="en-US" sz="3400" dirty="0">
              <a:solidFill>
                <a:schemeClr val="accent2">
                  <a:lumMod val="50000"/>
                </a:schemeClr>
              </a:solidFill>
              <a:latin typeface="黑体" pitchFamily="49" charset="-122"/>
              <a:ea typeface="黑体" pitchFamily="49" charset="-122"/>
            </a:rPr>
            <a:t>复杂、动态数据的挖掘</a:t>
          </a:r>
        </a:p>
      </dgm:t>
    </dgm:pt>
    <dgm:pt modelId="{28A43CB8-4628-4128-8733-768D6697D88C}" type="parTrans" cxnId="{791E8E2D-9CA3-4DBF-81D0-FF097C1B3C82}">
      <dgm:prSet/>
      <dgm:spPr/>
      <dgm:t>
        <a:bodyPr/>
        <a:lstStyle/>
        <a:p>
          <a:endParaRPr lang="zh-CN" altLang="en-US"/>
        </a:p>
      </dgm:t>
    </dgm:pt>
    <dgm:pt modelId="{DDEE4063-A16C-4CBF-8CBE-30AEC94C551D}" type="sibTrans" cxnId="{791E8E2D-9CA3-4DBF-81D0-FF097C1B3C82}">
      <dgm:prSet/>
      <dgm:spPr/>
      <dgm:t>
        <a:bodyPr/>
        <a:lstStyle/>
        <a:p>
          <a:endParaRPr lang="zh-CN" altLang="en-US"/>
        </a:p>
      </dgm:t>
    </dgm:pt>
    <dgm:pt modelId="{6E924323-314F-4B78-8E63-BC9C7EB3FB0D}">
      <dgm:prSet custT="1"/>
      <dgm:spPr/>
      <dgm:t>
        <a:bodyPr/>
        <a:lstStyle/>
        <a:p>
          <a:pPr rtl="0"/>
          <a:r>
            <a:rPr lang="zh-CN" altLang="en-US" sz="2600" dirty="0">
              <a:solidFill>
                <a:schemeClr val="accent2">
                  <a:lumMod val="50000"/>
                </a:schemeClr>
              </a:solidFill>
              <a:latin typeface="黑体" pitchFamily="49" charset="-122"/>
              <a:ea typeface="黑体" pitchFamily="49" charset="-122"/>
            </a:rPr>
            <a:t>成果</a:t>
          </a:r>
          <a:r>
            <a:rPr lang="en-US" altLang="zh-CN" sz="2600" dirty="0"/>
            <a:t>	</a:t>
          </a:r>
          <a:r>
            <a:rPr lang="zh-CN" sz="2600" dirty="0">
              <a:solidFill>
                <a:schemeClr val="tx2"/>
              </a:solidFill>
            </a:rPr>
            <a:t>❶</a:t>
          </a:r>
          <a:r>
            <a:rPr lang="en-US" altLang="zh-CN" sz="2600" dirty="0"/>
            <a:t>G</a:t>
          </a:r>
          <a:r>
            <a:rPr lang="en-US" altLang="zh-CN" sz="2600" dirty="0">
              <a:latin typeface="Palatino Linotype" pitchFamily="18" charset="0"/>
            </a:rPr>
            <a:t>oogle</a:t>
          </a:r>
          <a:r>
            <a:rPr lang="zh-CN" altLang="en-US" sz="2600" dirty="0"/>
            <a:t>流感疫情预测</a:t>
          </a:r>
          <a:br>
            <a:rPr lang="en-US" altLang="zh-CN" sz="2600" dirty="0">
              <a:solidFill>
                <a:schemeClr val="bg2">
                  <a:lumMod val="50000"/>
                </a:schemeClr>
              </a:solidFill>
              <a:latin typeface="Palatino Linotype" pitchFamily="18" charset="0"/>
            </a:rPr>
          </a:br>
          <a:r>
            <a:rPr lang="en-US" altLang="zh-CN" sz="2600" dirty="0">
              <a:solidFill>
                <a:schemeClr val="bg2">
                  <a:lumMod val="50000"/>
                </a:schemeClr>
              </a:solidFill>
              <a:latin typeface="Palatino Linotype" pitchFamily="18" charset="0"/>
            </a:rPr>
            <a:t>           </a:t>
          </a:r>
          <a:r>
            <a:rPr lang="zh-CN" altLang="zh-CN" sz="2600" dirty="0">
              <a:solidFill>
                <a:schemeClr val="tx2"/>
              </a:solidFill>
            </a:rPr>
            <a:t>❷</a:t>
          </a:r>
          <a:r>
            <a:rPr lang="zh-CN" altLang="en-US" sz="2600" dirty="0"/>
            <a:t>在线社交网络行为传播</a:t>
          </a:r>
          <a:endParaRPr lang="zh-CN" sz="2600" dirty="0">
            <a:solidFill>
              <a:schemeClr val="bg2">
                <a:lumMod val="50000"/>
              </a:schemeClr>
            </a:solidFill>
            <a:latin typeface="Palatino Linotype" pitchFamily="18" charset="0"/>
          </a:endParaRPr>
        </a:p>
      </dgm:t>
    </dgm:pt>
    <dgm:pt modelId="{E56FC529-B4E8-4023-AE7A-E17AE77FDEAC}" type="parTrans" cxnId="{4BD5D3C3-36D4-4681-BA85-DF888EE84C1A}">
      <dgm:prSet/>
      <dgm:spPr/>
      <dgm:t>
        <a:bodyPr/>
        <a:lstStyle/>
        <a:p>
          <a:endParaRPr lang="zh-CN" altLang="en-US"/>
        </a:p>
      </dgm:t>
    </dgm:pt>
    <dgm:pt modelId="{562CA683-A39C-4B5F-AE8F-72578DB96A5D}" type="sibTrans" cxnId="{4BD5D3C3-36D4-4681-BA85-DF888EE84C1A}">
      <dgm:prSet/>
      <dgm:spPr/>
      <dgm:t>
        <a:bodyPr/>
        <a:lstStyle/>
        <a:p>
          <a:endParaRPr lang="zh-CN" altLang="en-US"/>
        </a:p>
      </dgm:t>
    </dgm:pt>
    <dgm:pt modelId="{904E6EFF-E4C2-4FD7-990F-B99DA3B5CA30}">
      <dgm:prSet custT="1"/>
      <dgm:spPr/>
      <dgm:t>
        <a:bodyPr/>
        <a:lstStyle/>
        <a:p>
          <a:pPr rtl="0"/>
          <a:r>
            <a:rPr lang="zh-CN" altLang="en-US" sz="2600" dirty="0">
              <a:solidFill>
                <a:schemeClr val="accent2">
                  <a:lumMod val="50000"/>
                </a:schemeClr>
              </a:solidFill>
              <a:latin typeface="黑体" pitchFamily="49" charset="-122"/>
              <a:ea typeface="黑体" pitchFamily="49" charset="-122"/>
            </a:rPr>
            <a:t>挑战</a:t>
          </a:r>
          <a:r>
            <a:rPr lang="en-US" altLang="zh-CN" sz="2600" dirty="0"/>
            <a:t>	</a:t>
          </a:r>
          <a:r>
            <a:rPr lang="zh-CN" sz="2600" dirty="0">
              <a:solidFill>
                <a:schemeClr val="tx2"/>
              </a:solidFill>
            </a:rPr>
            <a:t>❶</a:t>
          </a:r>
          <a:r>
            <a:rPr lang="zh-CN" altLang="en-US" sz="2600" dirty="0"/>
            <a:t>结构化与非结构化数据并存</a:t>
          </a:r>
          <a:br>
            <a:rPr lang="en-US" altLang="zh-CN" sz="2600" dirty="0"/>
          </a:br>
          <a:r>
            <a:rPr lang="en-US" altLang="zh-CN" sz="2600" dirty="0"/>
            <a:t>	</a:t>
          </a:r>
          <a:r>
            <a:rPr lang="zh-CN" sz="2600" dirty="0">
              <a:solidFill>
                <a:schemeClr val="tx2"/>
              </a:solidFill>
            </a:rPr>
            <a:t>❷</a:t>
          </a:r>
          <a:r>
            <a:rPr lang="zh-CN" altLang="en-US" sz="2600" dirty="0"/>
            <a:t>动态复杂庞大的网络结构（如：社交数据）</a:t>
          </a:r>
          <a:br>
            <a:rPr lang="en-US" altLang="zh-CN" sz="2600" dirty="0"/>
          </a:br>
          <a:r>
            <a:rPr lang="en-US" altLang="zh-CN" sz="2600" dirty="0"/>
            <a:t>	</a:t>
          </a:r>
          <a:r>
            <a:rPr lang="zh-CN" sz="2600" dirty="0">
              <a:solidFill>
                <a:schemeClr val="tx2"/>
              </a:solidFill>
            </a:rPr>
            <a:t>❸</a:t>
          </a:r>
          <a:r>
            <a:rPr lang="zh-CN" altLang="en-US" sz="2600" dirty="0"/>
            <a:t>特定应用相关</a:t>
          </a:r>
          <a:endParaRPr lang="zh-CN" altLang="en-US" sz="2000" dirty="0"/>
        </a:p>
      </dgm:t>
    </dgm:pt>
    <dgm:pt modelId="{6D2BB5C5-8303-4D31-A756-8C4D1B9CADC7}" type="parTrans" cxnId="{44E25487-D0DE-4932-BC37-4BFA73CAB3D5}">
      <dgm:prSet/>
      <dgm:spPr/>
      <dgm:t>
        <a:bodyPr/>
        <a:lstStyle/>
        <a:p>
          <a:endParaRPr lang="zh-CN" altLang="en-US"/>
        </a:p>
      </dgm:t>
    </dgm:pt>
    <dgm:pt modelId="{34DC98FB-6F17-415D-91F1-7BA953E12413}" type="sibTrans" cxnId="{44E25487-D0DE-4932-BC37-4BFA73CAB3D5}">
      <dgm:prSet/>
      <dgm:spPr/>
      <dgm:t>
        <a:bodyPr/>
        <a:lstStyle/>
        <a:p>
          <a:endParaRPr lang="zh-CN" altLang="en-US"/>
        </a:p>
      </dgm:t>
    </dgm:pt>
    <dgm:pt modelId="{65EAD0CF-92D9-44E5-A171-E07DA69EC22A}" type="pres">
      <dgm:prSet presAssocID="{00CA4B4E-5D28-4EFC-A203-5E337C4F258D}" presName="linear" presStyleCnt="0">
        <dgm:presLayoutVars>
          <dgm:animLvl val="lvl"/>
          <dgm:resizeHandles val="exact"/>
        </dgm:presLayoutVars>
      </dgm:prSet>
      <dgm:spPr/>
    </dgm:pt>
    <dgm:pt modelId="{D885CFAB-7641-4365-B6A2-A20BDB43FA91}" type="pres">
      <dgm:prSet presAssocID="{C3EAB613-7B1C-429F-B23F-F3C51793AD1C}" presName="parentText" presStyleLbl="node1" presStyleIdx="0" presStyleCnt="1" custScaleY="68646" custLinFactNeighborY="-46139">
        <dgm:presLayoutVars>
          <dgm:chMax val="0"/>
          <dgm:bulletEnabled val="1"/>
        </dgm:presLayoutVars>
      </dgm:prSet>
      <dgm:spPr/>
    </dgm:pt>
    <dgm:pt modelId="{F0BBBFA8-02F9-497B-8385-47F6A7D8C444}" type="pres">
      <dgm:prSet presAssocID="{C3EAB613-7B1C-429F-B23F-F3C51793AD1C}" presName="childText" presStyleLbl="revTx" presStyleIdx="0" presStyleCnt="1" custScaleY="100478" custLinFactNeighborX="875" custLinFactNeighborY="-4407">
        <dgm:presLayoutVars>
          <dgm:bulletEnabled val="1"/>
        </dgm:presLayoutVars>
      </dgm:prSet>
      <dgm:spPr/>
    </dgm:pt>
  </dgm:ptLst>
  <dgm:cxnLst>
    <dgm:cxn modelId="{37696901-8E3E-4232-B043-A78552027C6B}" type="presOf" srcId="{C3EAB613-7B1C-429F-B23F-F3C51793AD1C}" destId="{D885CFAB-7641-4365-B6A2-A20BDB43FA91}" srcOrd="0" destOrd="0" presId="urn:microsoft.com/office/officeart/2005/8/layout/vList2"/>
    <dgm:cxn modelId="{791E8E2D-9CA3-4DBF-81D0-FF097C1B3C82}" srcId="{00CA4B4E-5D28-4EFC-A203-5E337C4F258D}" destId="{C3EAB613-7B1C-429F-B23F-F3C51793AD1C}" srcOrd="0" destOrd="0" parTransId="{28A43CB8-4628-4128-8733-768D6697D88C}" sibTransId="{DDEE4063-A16C-4CBF-8CBE-30AEC94C551D}"/>
    <dgm:cxn modelId="{41B4F854-52BA-4D16-894E-B738964D99EF}" type="presOf" srcId="{00CA4B4E-5D28-4EFC-A203-5E337C4F258D}" destId="{65EAD0CF-92D9-44E5-A171-E07DA69EC22A}" srcOrd="0" destOrd="0" presId="urn:microsoft.com/office/officeart/2005/8/layout/vList2"/>
    <dgm:cxn modelId="{A74BDA58-5B29-4190-BAC4-14A7827AC430}" type="presOf" srcId="{904E6EFF-E4C2-4FD7-990F-B99DA3B5CA30}" destId="{F0BBBFA8-02F9-497B-8385-47F6A7D8C444}" srcOrd="0" destOrd="0" presId="urn:microsoft.com/office/officeart/2005/8/layout/vList2"/>
    <dgm:cxn modelId="{44E25487-D0DE-4932-BC37-4BFA73CAB3D5}" srcId="{C3EAB613-7B1C-429F-B23F-F3C51793AD1C}" destId="{904E6EFF-E4C2-4FD7-990F-B99DA3B5CA30}" srcOrd="0" destOrd="0" parTransId="{6D2BB5C5-8303-4D31-A756-8C4D1B9CADC7}" sibTransId="{34DC98FB-6F17-415D-91F1-7BA953E12413}"/>
    <dgm:cxn modelId="{9B43EEA5-6D12-47AD-98DA-30FC3686F53D}" type="presOf" srcId="{6E924323-314F-4B78-8E63-BC9C7EB3FB0D}" destId="{F0BBBFA8-02F9-497B-8385-47F6A7D8C444}" srcOrd="0" destOrd="1" presId="urn:microsoft.com/office/officeart/2005/8/layout/vList2"/>
    <dgm:cxn modelId="{4BD5D3C3-36D4-4681-BA85-DF888EE84C1A}" srcId="{C3EAB613-7B1C-429F-B23F-F3C51793AD1C}" destId="{6E924323-314F-4B78-8E63-BC9C7EB3FB0D}" srcOrd="1" destOrd="0" parTransId="{E56FC529-B4E8-4023-AE7A-E17AE77FDEAC}" sibTransId="{562CA683-A39C-4B5F-AE8F-72578DB96A5D}"/>
    <dgm:cxn modelId="{A4FE1274-F09C-40B2-A084-AB26D0311CBE}" type="presParOf" srcId="{65EAD0CF-92D9-44E5-A171-E07DA69EC22A}" destId="{D885CFAB-7641-4365-B6A2-A20BDB43FA91}" srcOrd="0" destOrd="0" presId="urn:microsoft.com/office/officeart/2005/8/layout/vList2"/>
    <dgm:cxn modelId="{BBD0CC13-45DC-4020-9716-F147BED6E4ED}" type="presParOf" srcId="{65EAD0CF-92D9-44E5-A171-E07DA69EC22A}" destId="{F0BBBFA8-02F9-497B-8385-47F6A7D8C44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00CA4B4E-5D28-4EFC-A203-5E337C4F258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C3EAB613-7B1C-429F-B23F-F3C51793AD1C}">
      <dgm:prSet custT="1"/>
      <dgm:spPr>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dgm:spPr>
      <dgm:t>
        <a:bodyPr/>
        <a:lstStyle/>
        <a:p>
          <a:pPr rtl="0"/>
          <a:r>
            <a:rPr lang="zh-CN" altLang="en-US" sz="3400" dirty="0">
              <a:solidFill>
                <a:schemeClr val="accent2">
                  <a:lumMod val="50000"/>
                </a:schemeClr>
              </a:solidFill>
              <a:latin typeface="黑体" pitchFamily="49" charset="-122"/>
              <a:ea typeface="黑体" pitchFamily="49" charset="-122"/>
            </a:rPr>
            <a:t>信息共享与数据隐私保护</a:t>
          </a:r>
        </a:p>
      </dgm:t>
    </dgm:pt>
    <dgm:pt modelId="{28A43CB8-4628-4128-8733-768D6697D88C}" type="parTrans" cxnId="{791E8E2D-9CA3-4DBF-81D0-FF097C1B3C82}">
      <dgm:prSet/>
      <dgm:spPr/>
      <dgm:t>
        <a:bodyPr/>
        <a:lstStyle/>
        <a:p>
          <a:endParaRPr lang="zh-CN" altLang="en-US"/>
        </a:p>
      </dgm:t>
    </dgm:pt>
    <dgm:pt modelId="{DDEE4063-A16C-4CBF-8CBE-30AEC94C551D}" type="sibTrans" cxnId="{791E8E2D-9CA3-4DBF-81D0-FF097C1B3C82}">
      <dgm:prSet/>
      <dgm:spPr/>
      <dgm:t>
        <a:bodyPr/>
        <a:lstStyle/>
        <a:p>
          <a:endParaRPr lang="zh-CN" altLang="en-US"/>
        </a:p>
      </dgm:t>
    </dgm:pt>
    <dgm:pt modelId="{ACE8BADE-57B0-40EA-9CD9-F4F7416E28D8}">
      <dgm:prSet custT="1"/>
      <dgm:spPr>
        <a:ln>
          <a:solidFill>
            <a:schemeClr val="bg1"/>
          </a:solidFill>
        </a:ln>
      </dgm:spPr>
      <dgm:t>
        <a:bodyPr/>
        <a:lstStyle/>
        <a:p>
          <a:pPr rtl="0"/>
          <a:r>
            <a:rPr lang="zh-CN" altLang="en-US" sz="2600" dirty="0">
              <a:solidFill>
                <a:schemeClr val="accent2">
                  <a:lumMod val="50000"/>
                </a:schemeClr>
              </a:solidFill>
              <a:latin typeface="黑体" pitchFamily="49" charset="-122"/>
              <a:ea typeface="黑体" pitchFamily="49" charset="-122"/>
            </a:rPr>
            <a:t>挑战</a:t>
          </a:r>
          <a:r>
            <a:rPr lang="en-US" altLang="zh-CN" sz="2600" dirty="0"/>
            <a:t>	</a:t>
          </a:r>
          <a:r>
            <a:rPr lang="zh-CN" sz="2600" dirty="0">
              <a:solidFill>
                <a:schemeClr val="tx2"/>
              </a:solidFill>
            </a:rPr>
            <a:t>❶</a:t>
          </a:r>
          <a:r>
            <a:rPr lang="zh-CN" altLang="en-US" sz="2600" dirty="0">
              <a:solidFill>
                <a:schemeClr val="tx1"/>
              </a:solidFill>
            </a:rPr>
            <a:t>保护用户隐私（信用卡、健康医疗 </a:t>
          </a:r>
          <a:r>
            <a:rPr lang="en-US" altLang="zh-CN" sz="2600" dirty="0">
              <a:solidFill>
                <a:schemeClr val="tx1"/>
              </a:solidFill>
            </a:rPr>
            <a:t>… </a:t>
          </a:r>
          <a:r>
            <a:rPr lang="zh-CN" altLang="en-US" sz="2600" dirty="0">
              <a:solidFill>
                <a:schemeClr val="tx1"/>
              </a:solidFill>
            </a:rPr>
            <a:t>）</a:t>
          </a:r>
          <a:br>
            <a:rPr lang="en-US" altLang="zh-CN" sz="2600" dirty="0"/>
          </a:br>
          <a:r>
            <a:rPr lang="en-US" altLang="zh-CN" sz="2600" dirty="0"/>
            <a:t>	</a:t>
          </a:r>
          <a:r>
            <a:rPr lang="zh-CN" sz="2600" dirty="0">
              <a:solidFill>
                <a:schemeClr val="tx2"/>
              </a:solidFill>
            </a:rPr>
            <a:t>❷</a:t>
          </a:r>
          <a:r>
            <a:rPr lang="zh-CN" altLang="en-US" sz="2600" dirty="0">
              <a:solidFill>
                <a:schemeClr val="tx1"/>
              </a:solidFill>
            </a:rPr>
            <a:t>实现信息共享（知识发现、共享与集成）</a:t>
          </a:r>
          <a:endParaRPr lang="zh-CN" altLang="en-US" sz="2000" dirty="0"/>
        </a:p>
      </dgm:t>
    </dgm:pt>
    <dgm:pt modelId="{C2690EB5-B37F-49FF-90DE-9F12ECF95942}" type="parTrans" cxnId="{79D3608C-6D05-4B5B-8069-39DE80AC4438}">
      <dgm:prSet/>
      <dgm:spPr/>
      <dgm:t>
        <a:bodyPr/>
        <a:lstStyle/>
        <a:p>
          <a:endParaRPr lang="zh-CN" altLang="en-US"/>
        </a:p>
      </dgm:t>
    </dgm:pt>
    <dgm:pt modelId="{7B7C0397-F206-4503-B908-83250DF2EA22}" type="sibTrans" cxnId="{79D3608C-6D05-4B5B-8069-39DE80AC4438}">
      <dgm:prSet/>
      <dgm:spPr/>
      <dgm:t>
        <a:bodyPr/>
        <a:lstStyle/>
        <a:p>
          <a:endParaRPr lang="zh-CN" altLang="en-US"/>
        </a:p>
      </dgm:t>
    </dgm:pt>
    <dgm:pt modelId="{904E6EFF-E4C2-4FD7-990F-B99DA3B5CA30}">
      <dgm:prSet custT="1"/>
      <dgm:spPr>
        <a:ln>
          <a:solidFill>
            <a:schemeClr val="bg1"/>
          </a:solidFill>
        </a:ln>
      </dgm:spPr>
      <dgm:t>
        <a:bodyPr/>
        <a:lstStyle/>
        <a:p>
          <a:pPr rtl="0"/>
          <a:endParaRPr lang="zh-CN" altLang="en-US" sz="2000" dirty="0"/>
        </a:p>
      </dgm:t>
    </dgm:pt>
    <dgm:pt modelId="{6D2BB5C5-8303-4D31-A756-8C4D1B9CADC7}" type="parTrans" cxnId="{44E25487-D0DE-4932-BC37-4BFA73CAB3D5}">
      <dgm:prSet/>
      <dgm:spPr/>
      <dgm:t>
        <a:bodyPr/>
        <a:lstStyle/>
        <a:p>
          <a:endParaRPr lang="zh-CN" altLang="en-US"/>
        </a:p>
      </dgm:t>
    </dgm:pt>
    <dgm:pt modelId="{34DC98FB-6F17-415D-91F1-7BA953E12413}" type="sibTrans" cxnId="{44E25487-D0DE-4932-BC37-4BFA73CAB3D5}">
      <dgm:prSet/>
      <dgm:spPr/>
      <dgm:t>
        <a:bodyPr/>
        <a:lstStyle/>
        <a:p>
          <a:endParaRPr lang="zh-CN" altLang="en-US"/>
        </a:p>
      </dgm:t>
    </dgm:pt>
    <dgm:pt modelId="{6E924323-314F-4B78-8E63-BC9C7EB3FB0D}">
      <dgm:prSet custT="1"/>
      <dgm:spPr>
        <a:ln>
          <a:solidFill>
            <a:schemeClr val="bg1"/>
          </a:solidFill>
        </a:ln>
      </dgm:spPr>
      <dgm:t>
        <a:bodyPr/>
        <a:lstStyle/>
        <a:p>
          <a:pPr rtl="0"/>
          <a:r>
            <a:rPr lang="zh-CN" altLang="en-US" sz="2600" dirty="0">
              <a:solidFill>
                <a:schemeClr val="accent2">
                  <a:lumMod val="50000"/>
                </a:schemeClr>
              </a:solidFill>
              <a:latin typeface="黑体" pitchFamily="49" charset="-122"/>
              <a:ea typeface="黑体" pitchFamily="49" charset="-122"/>
            </a:rPr>
            <a:t>方法</a:t>
          </a:r>
          <a:r>
            <a:rPr lang="en-US" altLang="zh-CN" sz="2600" dirty="0"/>
            <a:t>	</a:t>
          </a:r>
          <a:r>
            <a:rPr lang="zh-CN" sz="2600" dirty="0">
              <a:solidFill>
                <a:schemeClr val="tx2"/>
              </a:solidFill>
            </a:rPr>
            <a:t>❶</a:t>
          </a:r>
          <a:r>
            <a:rPr lang="zh-CN" altLang="en-US" sz="2600" dirty="0">
              <a:solidFill>
                <a:schemeClr val="tx1"/>
              </a:solidFill>
            </a:rPr>
            <a:t>隐私保护</a:t>
          </a:r>
          <a:br>
            <a:rPr lang="en-US" altLang="zh-CN" sz="2600" dirty="0">
              <a:solidFill>
                <a:schemeClr val="tx1"/>
              </a:solidFill>
            </a:rPr>
          </a:br>
          <a:r>
            <a:rPr lang="en-US" altLang="zh-CN" sz="2600" dirty="0">
              <a:solidFill>
                <a:schemeClr val="tx1"/>
              </a:solidFill>
            </a:rPr>
            <a:t>                 </a:t>
          </a:r>
          <a:r>
            <a:rPr lang="zh-CN" altLang="en-US" sz="2000" dirty="0">
              <a:solidFill>
                <a:schemeClr val="tx1"/>
              </a:solidFill>
              <a:latin typeface="黑体" pitchFamily="49" charset="-122"/>
              <a:ea typeface="黑体" pitchFamily="49" charset="-122"/>
            </a:rPr>
            <a:t>限制敏感信息访问 （访问控制、认证机制 </a:t>
          </a:r>
          <a:r>
            <a:rPr lang="en-US" altLang="zh-CN" sz="2000" dirty="0">
              <a:solidFill>
                <a:schemeClr val="tx1"/>
              </a:solidFill>
              <a:latin typeface="黑体" pitchFamily="49" charset="-122"/>
              <a:ea typeface="黑体" pitchFamily="49" charset="-122"/>
            </a:rPr>
            <a:t>… </a:t>
          </a:r>
          <a:r>
            <a:rPr lang="zh-CN" altLang="en-US" sz="2000" dirty="0">
              <a:solidFill>
                <a:schemeClr val="tx1"/>
              </a:solidFill>
              <a:latin typeface="黑体" pitchFamily="49" charset="-122"/>
              <a:ea typeface="黑体" pitchFamily="49" charset="-122"/>
            </a:rPr>
            <a:t>）</a:t>
          </a:r>
          <a:br>
            <a:rPr lang="en-US" altLang="zh-CN" sz="2000" dirty="0">
              <a:solidFill>
                <a:schemeClr val="tx1"/>
              </a:solidFill>
              <a:latin typeface="黑体" pitchFamily="49" charset="-122"/>
              <a:ea typeface="黑体" pitchFamily="49" charset="-122"/>
            </a:rPr>
          </a:br>
          <a:r>
            <a:rPr lang="en-US" altLang="zh-CN" sz="2000" dirty="0">
              <a:solidFill>
                <a:schemeClr val="tx1"/>
              </a:solidFill>
              <a:latin typeface="黑体" pitchFamily="49" charset="-122"/>
              <a:ea typeface="黑体" pitchFamily="49" charset="-122"/>
            </a:rPr>
            <a:t>          </a:t>
          </a:r>
          <a:r>
            <a:rPr lang="zh-CN" altLang="en-US" sz="2000" dirty="0">
              <a:solidFill>
                <a:schemeClr val="tx1"/>
              </a:solidFill>
              <a:latin typeface="黑体" pitchFamily="49" charset="-122"/>
              <a:ea typeface="黑体" pitchFamily="49" charset="-122"/>
            </a:rPr>
            <a:t>匿名化敏感数据 （数据注入随机性）</a:t>
          </a:r>
          <a:br>
            <a:rPr lang="en-US" altLang="zh-CN" sz="2600" dirty="0">
              <a:solidFill>
                <a:schemeClr val="bg2">
                  <a:lumMod val="50000"/>
                </a:schemeClr>
              </a:solidFill>
            </a:rPr>
          </a:br>
          <a:r>
            <a:rPr lang="en-US" altLang="zh-CN" sz="2600" dirty="0"/>
            <a:t>	</a:t>
          </a:r>
          <a:r>
            <a:rPr lang="zh-CN" sz="2600" dirty="0">
              <a:solidFill>
                <a:schemeClr val="tx2"/>
              </a:solidFill>
            </a:rPr>
            <a:t>❷</a:t>
          </a:r>
          <a:r>
            <a:rPr lang="zh-CN" altLang="en-US" sz="2600" dirty="0">
              <a:solidFill>
                <a:schemeClr val="tx1"/>
              </a:solidFill>
            </a:rPr>
            <a:t>隐私保护的数据</a:t>
          </a:r>
          <a:r>
            <a:rPr lang="zh-CN" altLang="en-US" sz="2600" dirty="0">
              <a:solidFill>
                <a:schemeClr val="tx1"/>
              </a:solidFill>
              <a:latin typeface="Palatino Linotype" pitchFamily="18" charset="0"/>
            </a:rPr>
            <a:t>挖掘</a:t>
          </a:r>
          <a:br>
            <a:rPr lang="en-US" altLang="zh-CN" sz="2600" dirty="0">
              <a:solidFill>
                <a:schemeClr val="tx1"/>
              </a:solidFill>
              <a:latin typeface="Palatino Linotype" pitchFamily="18" charset="0"/>
            </a:rPr>
          </a:br>
          <a:r>
            <a:rPr lang="en-US" altLang="zh-CN" sz="2000" dirty="0">
              <a:solidFill>
                <a:schemeClr val="tx1"/>
              </a:solidFill>
              <a:latin typeface="黑体" pitchFamily="49" charset="-122"/>
              <a:ea typeface="黑体" pitchFamily="49" charset="-122"/>
            </a:rPr>
            <a:t>          </a:t>
          </a:r>
          <a:r>
            <a:rPr lang="zh-CN" altLang="en-US" sz="2000" dirty="0">
              <a:solidFill>
                <a:schemeClr val="tx1"/>
              </a:solidFill>
              <a:latin typeface="黑体" pitchFamily="49" charset="-122"/>
              <a:ea typeface="黑体" pitchFamily="49" charset="-122"/>
            </a:rPr>
            <a:t>使用特殊通信协议避免访问个体数据</a:t>
          </a:r>
          <a:br>
            <a:rPr lang="en-US" altLang="zh-CN" sz="2000" dirty="0">
              <a:solidFill>
                <a:schemeClr val="tx1"/>
              </a:solidFill>
              <a:latin typeface="黑体" pitchFamily="49" charset="-122"/>
              <a:ea typeface="黑体" pitchFamily="49" charset="-122"/>
            </a:rPr>
          </a:br>
          <a:r>
            <a:rPr lang="en-US" altLang="zh-CN" sz="2000" dirty="0">
              <a:solidFill>
                <a:schemeClr val="tx1"/>
              </a:solidFill>
              <a:latin typeface="黑体" pitchFamily="49" charset="-122"/>
              <a:ea typeface="黑体" pitchFamily="49" charset="-122"/>
            </a:rPr>
            <a:t>          </a:t>
          </a:r>
          <a:r>
            <a:rPr lang="zh-CN" altLang="en-US" sz="2000" dirty="0">
              <a:solidFill>
                <a:schemeClr val="tx1"/>
              </a:solidFill>
              <a:latin typeface="黑体" pitchFamily="49" charset="-122"/>
              <a:ea typeface="黑体" pitchFamily="49" charset="-122"/>
            </a:rPr>
            <a:t>设计匿名数据的挖掘方法</a:t>
          </a:r>
          <a:endParaRPr lang="zh-CN" sz="2000" dirty="0">
            <a:solidFill>
              <a:schemeClr val="bg2">
                <a:lumMod val="50000"/>
              </a:schemeClr>
            </a:solidFill>
            <a:latin typeface="黑体" pitchFamily="49" charset="-122"/>
            <a:ea typeface="黑体" pitchFamily="49" charset="-122"/>
          </a:endParaRPr>
        </a:p>
      </dgm:t>
    </dgm:pt>
    <dgm:pt modelId="{562CA683-A39C-4B5F-AE8F-72578DB96A5D}" type="sibTrans" cxnId="{4BD5D3C3-36D4-4681-BA85-DF888EE84C1A}">
      <dgm:prSet/>
      <dgm:spPr/>
      <dgm:t>
        <a:bodyPr/>
        <a:lstStyle/>
        <a:p>
          <a:endParaRPr lang="zh-CN" altLang="en-US"/>
        </a:p>
      </dgm:t>
    </dgm:pt>
    <dgm:pt modelId="{E56FC529-B4E8-4023-AE7A-E17AE77FDEAC}" type="parTrans" cxnId="{4BD5D3C3-36D4-4681-BA85-DF888EE84C1A}">
      <dgm:prSet/>
      <dgm:spPr/>
      <dgm:t>
        <a:bodyPr/>
        <a:lstStyle/>
        <a:p>
          <a:endParaRPr lang="zh-CN" altLang="en-US"/>
        </a:p>
      </dgm:t>
    </dgm:pt>
    <dgm:pt modelId="{DD523403-E0A8-4C68-B367-47E053426E76}">
      <dgm:prSet custT="1"/>
      <dgm:spPr>
        <a:ln>
          <a:solidFill>
            <a:schemeClr val="bg1"/>
          </a:solidFill>
        </a:ln>
      </dgm:spPr>
      <dgm:t>
        <a:bodyPr/>
        <a:lstStyle/>
        <a:p>
          <a:pPr rtl="0"/>
          <a:endParaRPr lang="zh-CN" sz="2000" dirty="0">
            <a:solidFill>
              <a:schemeClr val="bg2">
                <a:lumMod val="50000"/>
              </a:schemeClr>
            </a:solidFill>
            <a:latin typeface="Palatino Linotype" pitchFamily="18" charset="0"/>
          </a:endParaRPr>
        </a:p>
      </dgm:t>
    </dgm:pt>
    <dgm:pt modelId="{1CA8997D-97AB-4CEB-A155-894ECBB3A1A5}" type="parTrans" cxnId="{FF139401-BC6E-403F-88D6-5F55E3A8206E}">
      <dgm:prSet/>
      <dgm:spPr/>
      <dgm:t>
        <a:bodyPr/>
        <a:lstStyle/>
        <a:p>
          <a:endParaRPr lang="zh-CN" altLang="en-US"/>
        </a:p>
      </dgm:t>
    </dgm:pt>
    <dgm:pt modelId="{8966D1F9-8866-47F5-A7B4-B5E387BF0B16}" type="sibTrans" cxnId="{FF139401-BC6E-403F-88D6-5F55E3A8206E}">
      <dgm:prSet/>
      <dgm:spPr/>
      <dgm:t>
        <a:bodyPr/>
        <a:lstStyle/>
        <a:p>
          <a:endParaRPr lang="zh-CN" altLang="en-US"/>
        </a:p>
      </dgm:t>
    </dgm:pt>
    <dgm:pt modelId="{65EAD0CF-92D9-44E5-A171-E07DA69EC22A}" type="pres">
      <dgm:prSet presAssocID="{00CA4B4E-5D28-4EFC-A203-5E337C4F258D}" presName="linear" presStyleCnt="0">
        <dgm:presLayoutVars>
          <dgm:animLvl val="lvl"/>
          <dgm:resizeHandles val="exact"/>
        </dgm:presLayoutVars>
      </dgm:prSet>
      <dgm:spPr/>
    </dgm:pt>
    <dgm:pt modelId="{D885CFAB-7641-4365-B6A2-A20BDB43FA91}" type="pres">
      <dgm:prSet presAssocID="{C3EAB613-7B1C-429F-B23F-F3C51793AD1C}" presName="parentText" presStyleLbl="node1" presStyleIdx="0" presStyleCnt="1" custScaleY="78632" custLinFactNeighborY="-17395">
        <dgm:presLayoutVars>
          <dgm:chMax val="0"/>
          <dgm:bulletEnabled val="1"/>
        </dgm:presLayoutVars>
      </dgm:prSet>
      <dgm:spPr/>
    </dgm:pt>
    <dgm:pt modelId="{F0BBBFA8-02F9-497B-8385-47F6A7D8C444}" type="pres">
      <dgm:prSet presAssocID="{C3EAB613-7B1C-429F-B23F-F3C51793AD1C}" presName="childText" presStyleLbl="revTx" presStyleIdx="0" presStyleCnt="1" custScaleY="95220" custLinFactNeighborY="-9199">
        <dgm:presLayoutVars>
          <dgm:bulletEnabled val="1"/>
        </dgm:presLayoutVars>
      </dgm:prSet>
      <dgm:spPr/>
    </dgm:pt>
  </dgm:ptLst>
  <dgm:cxnLst>
    <dgm:cxn modelId="{FF139401-BC6E-403F-88D6-5F55E3A8206E}" srcId="{C3EAB613-7B1C-429F-B23F-F3C51793AD1C}" destId="{DD523403-E0A8-4C68-B367-47E053426E76}" srcOrd="3" destOrd="0" parTransId="{1CA8997D-97AB-4CEB-A155-894ECBB3A1A5}" sibTransId="{8966D1F9-8866-47F5-A7B4-B5E387BF0B16}"/>
    <dgm:cxn modelId="{24462C0C-0DBA-461B-A3A2-DD028FCCA853}" type="presOf" srcId="{ACE8BADE-57B0-40EA-9CD9-F4F7416E28D8}" destId="{F0BBBFA8-02F9-497B-8385-47F6A7D8C444}" srcOrd="0" destOrd="1" presId="urn:microsoft.com/office/officeart/2005/8/layout/vList2"/>
    <dgm:cxn modelId="{791E8E2D-9CA3-4DBF-81D0-FF097C1B3C82}" srcId="{00CA4B4E-5D28-4EFC-A203-5E337C4F258D}" destId="{C3EAB613-7B1C-429F-B23F-F3C51793AD1C}" srcOrd="0" destOrd="0" parTransId="{28A43CB8-4628-4128-8733-768D6697D88C}" sibTransId="{DDEE4063-A16C-4CBF-8CBE-30AEC94C551D}"/>
    <dgm:cxn modelId="{6D37AE30-9ACF-411E-96E7-EC3684864A72}" type="presOf" srcId="{904E6EFF-E4C2-4FD7-990F-B99DA3B5CA30}" destId="{F0BBBFA8-02F9-497B-8385-47F6A7D8C444}" srcOrd="0" destOrd="0" presId="urn:microsoft.com/office/officeart/2005/8/layout/vList2"/>
    <dgm:cxn modelId="{48D8E857-8A6B-4D50-9904-396B19B87314}" type="presOf" srcId="{6E924323-314F-4B78-8E63-BC9C7EB3FB0D}" destId="{F0BBBFA8-02F9-497B-8385-47F6A7D8C444}" srcOrd="0" destOrd="2" presId="urn:microsoft.com/office/officeart/2005/8/layout/vList2"/>
    <dgm:cxn modelId="{D8A67B80-0B13-4DF1-885E-8FD593EFDCA3}" type="presOf" srcId="{C3EAB613-7B1C-429F-B23F-F3C51793AD1C}" destId="{D885CFAB-7641-4365-B6A2-A20BDB43FA91}" srcOrd="0" destOrd="0" presId="urn:microsoft.com/office/officeart/2005/8/layout/vList2"/>
    <dgm:cxn modelId="{44E25487-D0DE-4932-BC37-4BFA73CAB3D5}" srcId="{C3EAB613-7B1C-429F-B23F-F3C51793AD1C}" destId="{904E6EFF-E4C2-4FD7-990F-B99DA3B5CA30}" srcOrd="0" destOrd="0" parTransId="{6D2BB5C5-8303-4D31-A756-8C4D1B9CADC7}" sibTransId="{34DC98FB-6F17-415D-91F1-7BA953E12413}"/>
    <dgm:cxn modelId="{79D3608C-6D05-4B5B-8069-39DE80AC4438}" srcId="{C3EAB613-7B1C-429F-B23F-F3C51793AD1C}" destId="{ACE8BADE-57B0-40EA-9CD9-F4F7416E28D8}" srcOrd="1" destOrd="0" parTransId="{C2690EB5-B37F-49FF-90DE-9F12ECF95942}" sibTransId="{7B7C0397-F206-4503-B908-83250DF2EA22}"/>
    <dgm:cxn modelId="{93431C8D-1877-4091-AE72-E8F894523486}" type="presOf" srcId="{DD523403-E0A8-4C68-B367-47E053426E76}" destId="{F0BBBFA8-02F9-497B-8385-47F6A7D8C444}" srcOrd="0" destOrd="3" presId="urn:microsoft.com/office/officeart/2005/8/layout/vList2"/>
    <dgm:cxn modelId="{4BD5D3C3-36D4-4681-BA85-DF888EE84C1A}" srcId="{C3EAB613-7B1C-429F-B23F-F3C51793AD1C}" destId="{6E924323-314F-4B78-8E63-BC9C7EB3FB0D}" srcOrd="2" destOrd="0" parTransId="{E56FC529-B4E8-4023-AE7A-E17AE77FDEAC}" sibTransId="{562CA683-A39C-4B5F-AE8F-72578DB96A5D}"/>
    <dgm:cxn modelId="{D7CC76CA-5FAA-4CB9-AAEA-F1819D20438E}" type="presOf" srcId="{00CA4B4E-5D28-4EFC-A203-5E337C4F258D}" destId="{65EAD0CF-92D9-44E5-A171-E07DA69EC22A}" srcOrd="0" destOrd="0" presId="urn:microsoft.com/office/officeart/2005/8/layout/vList2"/>
    <dgm:cxn modelId="{BCE72BF9-350B-4FE1-B206-E735E41C31CB}" type="presParOf" srcId="{65EAD0CF-92D9-44E5-A171-E07DA69EC22A}" destId="{D885CFAB-7641-4365-B6A2-A20BDB43FA91}" srcOrd="0" destOrd="0" presId="urn:microsoft.com/office/officeart/2005/8/layout/vList2"/>
    <dgm:cxn modelId="{695DDAB6-33BF-4286-96EE-2AD65DB3C9FC}" type="presParOf" srcId="{65EAD0CF-92D9-44E5-A171-E07DA69EC22A}" destId="{F0BBBFA8-02F9-497B-8385-47F6A7D8C444}"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DD0CF887-DBD7-437F-A704-4E30484EE005}" type="doc">
      <dgm:prSet loTypeId="urn:microsoft.com/office/officeart/2005/8/layout/cycle2" loCatId="cycle" qsTypeId="urn:microsoft.com/office/officeart/2005/8/quickstyle/simple1" qsCatId="simple" csTypeId="urn:microsoft.com/office/officeart/2005/8/colors/colorful1" csCatId="colorful"/>
      <dgm:spPr/>
      <dgm:t>
        <a:bodyPr/>
        <a:lstStyle/>
        <a:p>
          <a:endParaRPr lang="zh-CN" altLang="en-US"/>
        </a:p>
      </dgm:t>
    </dgm:pt>
    <dgm:pt modelId="{1E2C05D6-9555-4056-9449-CBFF9E62C315}">
      <dgm:prSet custT="1"/>
      <dgm:spPr/>
      <dgm:t>
        <a:bodyPr/>
        <a:lstStyle/>
        <a:p>
          <a:pPr rtl="0"/>
          <a:r>
            <a:rPr lang="zh-CN" altLang="en-US" sz="1800" b="1" dirty="0">
              <a:solidFill>
                <a:schemeClr val="tx1"/>
              </a:solidFill>
              <a:latin typeface="黑体" pitchFamily="49" charset="-122"/>
              <a:ea typeface="黑体" pitchFamily="49" charset="-122"/>
            </a:rPr>
            <a:t>系统层</a:t>
          </a:r>
        </a:p>
      </dgm:t>
    </dgm:pt>
    <dgm:pt modelId="{3F248F32-92F6-48F1-8332-600AC7739D1A}" type="parTrans" cxnId="{FA56804D-7838-4C4A-A071-218B97DFC327}">
      <dgm:prSet/>
      <dgm:spPr/>
      <dgm:t>
        <a:bodyPr/>
        <a:lstStyle/>
        <a:p>
          <a:endParaRPr lang="zh-CN" altLang="en-US"/>
        </a:p>
      </dgm:t>
    </dgm:pt>
    <dgm:pt modelId="{32E33FF9-BAD2-4084-818F-4C0FA85C407C}" type="sibTrans" cxnId="{FA56804D-7838-4C4A-A071-218B97DFC327}">
      <dgm:prSet/>
      <dgm:spPr/>
      <dgm:t>
        <a:bodyPr/>
        <a:lstStyle/>
        <a:p>
          <a:endParaRPr lang="zh-CN" altLang="en-US"/>
        </a:p>
      </dgm:t>
    </dgm:pt>
    <dgm:pt modelId="{345EFFC8-3470-4076-86D8-27B2A801E5C4}">
      <dgm:prSet custT="1"/>
      <dgm:spPr/>
      <dgm:t>
        <a:bodyPr/>
        <a:lstStyle/>
        <a:p>
          <a:pPr rtl="0"/>
          <a:r>
            <a:rPr lang="zh-CN" altLang="en-US" sz="1600" dirty="0">
              <a:solidFill>
                <a:schemeClr val="tx1"/>
              </a:solidFill>
            </a:rPr>
            <a:t>高性能计算环境</a:t>
          </a:r>
        </a:p>
      </dgm:t>
    </dgm:pt>
    <dgm:pt modelId="{7505176B-7D74-43B1-A9D6-5AC0C594A9B9}" type="parTrans" cxnId="{E4D6278C-4916-48B0-AD9B-090DA6700912}">
      <dgm:prSet/>
      <dgm:spPr/>
      <dgm:t>
        <a:bodyPr/>
        <a:lstStyle/>
        <a:p>
          <a:endParaRPr lang="zh-CN" altLang="en-US"/>
        </a:p>
      </dgm:t>
    </dgm:pt>
    <dgm:pt modelId="{DA16FE83-7538-40A0-AC3C-EE15E74C6D90}" type="sibTrans" cxnId="{E4D6278C-4916-48B0-AD9B-090DA6700912}">
      <dgm:prSet/>
      <dgm:spPr/>
      <dgm:t>
        <a:bodyPr/>
        <a:lstStyle/>
        <a:p>
          <a:endParaRPr lang="zh-CN" altLang="en-US"/>
        </a:p>
      </dgm:t>
    </dgm:pt>
    <dgm:pt modelId="{87D669C8-FE00-4D76-8725-AEF1C998F3C9}">
      <dgm:prSet custT="1"/>
      <dgm:spPr/>
      <dgm:t>
        <a:bodyPr/>
        <a:lstStyle/>
        <a:p>
          <a:pPr rtl="0"/>
          <a:r>
            <a:rPr lang="zh-CN" altLang="en-US" sz="1600" dirty="0">
              <a:solidFill>
                <a:schemeClr val="tx1"/>
              </a:solidFill>
            </a:rPr>
            <a:t>挑战：考虑样本、模型、数据源之间的复杂关系和动态演化</a:t>
          </a:r>
        </a:p>
      </dgm:t>
    </dgm:pt>
    <dgm:pt modelId="{88AC91DD-59AF-4854-9A48-0CCCEEC38206}" type="parTrans" cxnId="{F31BBDA7-C9B3-4CDC-BDF3-5937FBD380A1}">
      <dgm:prSet/>
      <dgm:spPr/>
      <dgm:t>
        <a:bodyPr/>
        <a:lstStyle/>
        <a:p>
          <a:endParaRPr lang="zh-CN" altLang="en-US"/>
        </a:p>
      </dgm:t>
    </dgm:pt>
    <dgm:pt modelId="{638EA997-F249-44FF-BB22-234850B7EC94}" type="sibTrans" cxnId="{F31BBDA7-C9B3-4CDC-BDF3-5937FBD380A1}">
      <dgm:prSet/>
      <dgm:spPr/>
      <dgm:t>
        <a:bodyPr/>
        <a:lstStyle/>
        <a:p>
          <a:endParaRPr lang="zh-CN" altLang="en-US"/>
        </a:p>
      </dgm:t>
    </dgm:pt>
    <dgm:pt modelId="{8827F0B0-87DF-428C-B3EC-4284EE24146A}">
      <dgm:prSet custT="1"/>
      <dgm:spPr/>
      <dgm:t>
        <a:bodyPr/>
        <a:lstStyle/>
        <a:p>
          <a:pPr rtl="0"/>
          <a:r>
            <a:rPr lang="zh-CN" altLang="en-US" sz="1800" b="1" dirty="0">
              <a:solidFill>
                <a:schemeClr val="tx1"/>
              </a:solidFill>
              <a:latin typeface="黑体" pitchFamily="49" charset="-122"/>
              <a:ea typeface="黑体" pitchFamily="49" charset="-122"/>
            </a:rPr>
            <a:t>数据层</a:t>
          </a:r>
        </a:p>
      </dgm:t>
    </dgm:pt>
    <dgm:pt modelId="{858A8E81-F6D1-4B54-ADB9-C48DFAD66C07}" type="parTrans" cxnId="{0425999A-7123-47C3-9D49-FE5525967ABD}">
      <dgm:prSet/>
      <dgm:spPr/>
      <dgm:t>
        <a:bodyPr/>
        <a:lstStyle/>
        <a:p>
          <a:endParaRPr lang="zh-CN" altLang="en-US"/>
        </a:p>
      </dgm:t>
    </dgm:pt>
    <dgm:pt modelId="{C5E389C6-4A89-463D-9819-623ED273B1EE}" type="sibTrans" cxnId="{0425999A-7123-47C3-9D49-FE5525967ABD}">
      <dgm:prSet/>
      <dgm:spPr/>
      <dgm:t>
        <a:bodyPr/>
        <a:lstStyle/>
        <a:p>
          <a:endParaRPr lang="zh-CN" altLang="en-US"/>
        </a:p>
      </dgm:t>
    </dgm:pt>
    <dgm:pt modelId="{50F81EE5-559C-4AC6-9CC7-64865159ABCB}">
      <dgm:prSet custT="1"/>
      <dgm:spPr/>
      <dgm:t>
        <a:bodyPr/>
        <a:lstStyle/>
        <a:p>
          <a:pPr rtl="0"/>
          <a:r>
            <a:rPr lang="zh-CN" altLang="en-US" sz="1600" dirty="0">
              <a:solidFill>
                <a:schemeClr val="tx1"/>
              </a:solidFill>
            </a:rPr>
            <a:t>复杂、不确定、噪声、隐私保护</a:t>
          </a:r>
        </a:p>
      </dgm:t>
    </dgm:pt>
    <dgm:pt modelId="{105700A8-73AB-4144-8FD4-1FEC87F41C5F}" type="parTrans" cxnId="{EDE43F6C-A337-4CC7-A152-AB236291C81F}">
      <dgm:prSet/>
      <dgm:spPr/>
      <dgm:t>
        <a:bodyPr/>
        <a:lstStyle/>
        <a:p>
          <a:endParaRPr lang="zh-CN" altLang="en-US"/>
        </a:p>
      </dgm:t>
    </dgm:pt>
    <dgm:pt modelId="{D56A609D-C8A6-49F9-B052-545F471E1C6F}" type="sibTrans" cxnId="{EDE43F6C-A337-4CC7-A152-AB236291C81F}">
      <dgm:prSet/>
      <dgm:spPr/>
      <dgm:t>
        <a:bodyPr/>
        <a:lstStyle/>
        <a:p>
          <a:endParaRPr lang="zh-CN" altLang="en-US"/>
        </a:p>
      </dgm:t>
    </dgm:pt>
    <dgm:pt modelId="{C20A91B3-F15A-4BA4-A97F-8A30B39E502D}">
      <dgm:prSet custT="1"/>
      <dgm:spPr/>
      <dgm:t>
        <a:bodyPr/>
        <a:lstStyle/>
        <a:p>
          <a:pPr rtl="0"/>
          <a:r>
            <a:rPr lang="zh-CN" altLang="en-US" sz="1600" dirty="0">
              <a:solidFill>
                <a:schemeClr val="tx1"/>
              </a:solidFill>
            </a:rPr>
            <a:t>挑战：设计安全可靠的信息共享协议</a:t>
          </a:r>
        </a:p>
      </dgm:t>
    </dgm:pt>
    <dgm:pt modelId="{3B86D82A-7528-4179-94E2-F1ACDE24C710}" type="parTrans" cxnId="{F1AF82BF-431C-4C7C-85AA-BE3218EA0419}">
      <dgm:prSet/>
      <dgm:spPr/>
      <dgm:t>
        <a:bodyPr/>
        <a:lstStyle/>
        <a:p>
          <a:endParaRPr lang="zh-CN" altLang="en-US"/>
        </a:p>
      </dgm:t>
    </dgm:pt>
    <dgm:pt modelId="{2F1315BE-258C-4C67-88C5-DB6456A11947}" type="sibTrans" cxnId="{F1AF82BF-431C-4C7C-85AA-BE3218EA0419}">
      <dgm:prSet/>
      <dgm:spPr/>
      <dgm:t>
        <a:bodyPr/>
        <a:lstStyle/>
        <a:p>
          <a:endParaRPr lang="zh-CN" altLang="en-US"/>
        </a:p>
      </dgm:t>
    </dgm:pt>
    <dgm:pt modelId="{393E0151-8E53-4386-8F74-170223ADF183}">
      <dgm:prSet custT="1"/>
      <dgm:spPr/>
      <dgm:t>
        <a:bodyPr/>
        <a:lstStyle/>
        <a:p>
          <a:pPr rtl="0"/>
          <a:r>
            <a:rPr lang="zh-CN" altLang="en-US" sz="1800" b="1" dirty="0">
              <a:solidFill>
                <a:schemeClr val="tx1"/>
              </a:solidFill>
              <a:latin typeface="黑体" pitchFamily="49" charset="-122"/>
              <a:ea typeface="黑体" pitchFamily="49" charset="-122"/>
            </a:rPr>
            <a:t>模型层</a:t>
          </a:r>
        </a:p>
      </dgm:t>
    </dgm:pt>
    <dgm:pt modelId="{8DFFD664-F2B0-4FAE-993B-459344515182}" type="parTrans" cxnId="{0F6C5F3E-7043-4A36-9209-25812E4B143D}">
      <dgm:prSet/>
      <dgm:spPr/>
      <dgm:t>
        <a:bodyPr/>
        <a:lstStyle/>
        <a:p>
          <a:endParaRPr lang="zh-CN" altLang="en-US"/>
        </a:p>
      </dgm:t>
    </dgm:pt>
    <dgm:pt modelId="{E356A14E-E37C-4A42-B18E-D6D72DAC6CBE}" type="sibTrans" cxnId="{0F6C5F3E-7043-4A36-9209-25812E4B143D}">
      <dgm:prSet/>
      <dgm:spPr/>
      <dgm:t>
        <a:bodyPr/>
        <a:lstStyle/>
        <a:p>
          <a:endParaRPr lang="zh-CN" altLang="en-US"/>
        </a:p>
      </dgm:t>
    </dgm:pt>
    <dgm:pt modelId="{E1E89D85-FA16-449B-AC2F-2BDE501CE3E4}">
      <dgm:prSet custT="1"/>
      <dgm:spPr/>
      <dgm:t>
        <a:bodyPr/>
        <a:lstStyle/>
        <a:p>
          <a:pPr rtl="0"/>
          <a:r>
            <a:rPr lang="zh-CN" altLang="en-US" sz="1600" dirty="0">
              <a:solidFill>
                <a:schemeClr val="tx1"/>
              </a:solidFill>
              <a:latin typeface="+mn-ea"/>
              <a:ea typeface="+mn-ea"/>
            </a:rPr>
            <a:t>挑战：分散的本地模型融合为全局模型</a:t>
          </a:r>
        </a:p>
      </dgm:t>
    </dgm:pt>
    <dgm:pt modelId="{8704C37B-4B1C-4297-9507-96A9F0EBCE55}" type="parTrans" cxnId="{09B2DB36-118E-4752-9D9D-BC328ED13842}">
      <dgm:prSet/>
      <dgm:spPr/>
      <dgm:t>
        <a:bodyPr/>
        <a:lstStyle/>
        <a:p>
          <a:endParaRPr lang="zh-CN" altLang="en-US"/>
        </a:p>
      </dgm:t>
    </dgm:pt>
    <dgm:pt modelId="{7CC72068-DC6D-41F1-86CA-30B5B8450677}" type="sibTrans" cxnId="{09B2DB36-118E-4752-9D9D-BC328ED13842}">
      <dgm:prSet/>
      <dgm:spPr/>
      <dgm:t>
        <a:bodyPr/>
        <a:lstStyle/>
        <a:p>
          <a:endParaRPr lang="zh-CN" altLang="en-US"/>
        </a:p>
      </dgm:t>
    </dgm:pt>
    <dgm:pt modelId="{450398C4-A99D-4082-8117-20D37BE8D386}" type="pres">
      <dgm:prSet presAssocID="{DD0CF887-DBD7-437F-A704-4E30484EE005}" presName="cycle" presStyleCnt="0">
        <dgm:presLayoutVars>
          <dgm:dir/>
          <dgm:resizeHandles val="exact"/>
        </dgm:presLayoutVars>
      </dgm:prSet>
      <dgm:spPr/>
    </dgm:pt>
    <dgm:pt modelId="{D5457B77-29F1-45F6-9AEB-00CEEB7EA242}" type="pres">
      <dgm:prSet presAssocID="{1E2C05D6-9555-4056-9449-CBFF9E62C315}" presName="node" presStyleLbl="node1" presStyleIdx="0" presStyleCnt="3">
        <dgm:presLayoutVars>
          <dgm:bulletEnabled val="1"/>
        </dgm:presLayoutVars>
      </dgm:prSet>
      <dgm:spPr/>
    </dgm:pt>
    <dgm:pt modelId="{61C2117E-464E-47CB-A8B1-670F69F9E66D}" type="pres">
      <dgm:prSet presAssocID="{32E33FF9-BAD2-4084-818F-4C0FA85C407C}" presName="sibTrans" presStyleLbl="sibTrans2D1" presStyleIdx="0" presStyleCnt="3" custLinFactNeighborX="88487" custLinFactNeighborY="-58380"/>
      <dgm:spPr/>
    </dgm:pt>
    <dgm:pt modelId="{A148910A-01A3-410F-A58C-690312DB7E75}" type="pres">
      <dgm:prSet presAssocID="{32E33FF9-BAD2-4084-818F-4C0FA85C407C}" presName="connectorText" presStyleLbl="sibTrans2D1" presStyleIdx="0" presStyleCnt="3"/>
      <dgm:spPr/>
    </dgm:pt>
    <dgm:pt modelId="{546333CF-7FB1-4948-A2E9-D33E4A1EF681}" type="pres">
      <dgm:prSet presAssocID="{8827F0B0-87DF-428C-B3EC-4284EE24146A}" presName="node" presStyleLbl="node1" presStyleIdx="1" presStyleCnt="3">
        <dgm:presLayoutVars>
          <dgm:bulletEnabled val="1"/>
        </dgm:presLayoutVars>
      </dgm:prSet>
      <dgm:spPr/>
    </dgm:pt>
    <dgm:pt modelId="{769EA0F5-A531-4066-8E77-B57AA86046DF}" type="pres">
      <dgm:prSet presAssocID="{C5E389C6-4A89-463D-9819-623ED273B1EE}" presName="sibTrans" presStyleLbl="sibTrans2D1" presStyleIdx="1" presStyleCnt="3" custLinFactNeighborX="-6242" custLinFactNeighborY="29728"/>
      <dgm:spPr/>
    </dgm:pt>
    <dgm:pt modelId="{F46B021D-A7E9-4974-913C-48F3DB5C92EE}" type="pres">
      <dgm:prSet presAssocID="{C5E389C6-4A89-463D-9819-623ED273B1EE}" presName="connectorText" presStyleLbl="sibTrans2D1" presStyleIdx="1" presStyleCnt="3"/>
      <dgm:spPr/>
    </dgm:pt>
    <dgm:pt modelId="{7818D7E3-4763-44D2-9E3C-9F9C5B20C79C}" type="pres">
      <dgm:prSet presAssocID="{393E0151-8E53-4386-8F74-170223ADF183}" presName="node" presStyleLbl="node1" presStyleIdx="2" presStyleCnt="3" custRadScaleRad="101142" custRadScaleInc="-979">
        <dgm:presLayoutVars>
          <dgm:bulletEnabled val="1"/>
        </dgm:presLayoutVars>
      </dgm:prSet>
      <dgm:spPr/>
    </dgm:pt>
    <dgm:pt modelId="{DDEFE779-950F-4DF6-8219-ED7E46BC631F}" type="pres">
      <dgm:prSet presAssocID="{E356A14E-E37C-4A42-B18E-D6D72DAC6CBE}" presName="sibTrans" presStyleLbl="sibTrans2D1" presStyleIdx="2" presStyleCnt="3" custLinFactNeighborX="-56663" custLinFactNeighborY="-62099"/>
      <dgm:spPr/>
    </dgm:pt>
    <dgm:pt modelId="{59E61C87-BB35-48CB-8691-F652B7BCB81F}" type="pres">
      <dgm:prSet presAssocID="{E356A14E-E37C-4A42-B18E-D6D72DAC6CBE}" presName="connectorText" presStyleLbl="sibTrans2D1" presStyleIdx="2" presStyleCnt="3"/>
      <dgm:spPr/>
    </dgm:pt>
  </dgm:ptLst>
  <dgm:cxnLst>
    <dgm:cxn modelId="{B1562C32-5B2A-45E6-8BE8-AAD33BC5250C}" type="presOf" srcId="{50F81EE5-559C-4AC6-9CC7-64865159ABCB}" destId="{546333CF-7FB1-4948-A2E9-D33E4A1EF681}" srcOrd="0" destOrd="1" presId="urn:microsoft.com/office/officeart/2005/8/layout/cycle2"/>
    <dgm:cxn modelId="{09B2DB36-118E-4752-9D9D-BC328ED13842}" srcId="{393E0151-8E53-4386-8F74-170223ADF183}" destId="{E1E89D85-FA16-449B-AC2F-2BDE501CE3E4}" srcOrd="0" destOrd="0" parTransId="{8704C37B-4B1C-4297-9507-96A9F0EBCE55}" sibTransId="{7CC72068-DC6D-41F1-86CA-30B5B8450677}"/>
    <dgm:cxn modelId="{8A16F537-9635-456A-A597-11E8ECDBBCE0}" type="presOf" srcId="{393E0151-8E53-4386-8F74-170223ADF183}" destId="{7818D7E3-4763-44D2-9E3C-9F9C5B20C79C}" srcOrd="0" destOrd="0" presId="urn:microsoft.com/office/officeart/2005/8/layout/cycle2"/>
    <dgm:cxn modelId="{0F6C5F3E-7043-4A36-9209-25812E4B143D}" srcId="{DD0CF887-DBD7-437F-A704-4E30484EE005}" destId="{393E0151-8E53-4386-8F74-170223ADF183}" srcOrd="2" destOrd="0" parTransId="{8DFFD664-F2B0-4FAE-993B-459344515182}" sibTransId="{E356A14E-E37C-4A42-B18E-D6D72DAC6CBE}"/>
    <dgm:cxn modelId="{572D8444-E0DB-42B4-97B5-C36FDD660D14}" type="presOf" srcId="{C5E389C6-4A89-463D-9819-623ED273B1EE}" destId="{F46B021D-A7E9-4974-913C-48F3DB5C92EE}" srcOrd="1" destOrd="0" presId="urn:microsoft.com/office/officeart/2005/8/layout/cycle2"/>
    <dgm:cxn modelId="{514D0D67-8163-4994-B902-F1C99A100691}" type="presOf" srcId="{C5E389C6-4A89-463D-9819-623ED273B1EE}" destId="{769EA0F5-A531-4066-8E77-B57AA86046DF}" srcOrd="0" destOrd="0" presId="urn:microsoft.com/office/officeart/2005/8/layout/cycle2"/>
    <dgm:cxn modelId="{BA77424A-2BA5-46DA-AFDD-E2E651FBBD6A}" type="presOf" srcId="{E356A14E-E37C-4A42-B18E-D6D72DAC6CBE}" destId="{DDEFE779-950F-4DF6-8219-ED7E46BC631F}" srcOrd="0" destOrd="0" presId="urn:microsoft.com/office/officeart/2005/8/layout/cycle2"/>
    <dgm:cxn modelId="{EDE43F6C-A337-4CC7-A152-AB236291C81F}" srcId="{8827F0B0-87DF-428C-B3EC-4284EE24146A}" destId="{50F81EE5-559C-4AC6-9CC7-64865159ABCB}" srcOrd="0" destOrd="0" parTransId="{105700A8-73AB-4144-8FD4-1FEC87F41C5F}" sibTransId="{D56A609D-C8A6-49F9-B052-545F471E1C6F}"/>
    <dgm:cxn modelId="{FA56804D-7838-4C4A-A071-218B97DFC327}" srcId="{DD0CF887-DBD7-437F-A704-4E30484EE005}" destId="{1E2C05D6-9555-4056-9449-CBFF9E62C315}" srcOrd="0" destOrd="0" parTransId="{3F248F32-92F6-48F1-8332-600AC7739D1A}" sibTransId="{32E33FF9-BAD2-4084-818F-4C0FA85C407C}"/>
    <dgm:cxn modelId="{1A91A055-15F2-4215-BE35-4AA40EE4B026}" type="presOf" srcId="{8827F0B0-87DF-428C-B3EC-4284EE24146A}" destId="{546333CF-7FB1-4948-A2E9-D33E4A1EF681}" srcOrd="0" destOrd="0" presId="urn:microsoft.com/office/officeart/2005/8/layout/cycle2"/>
    <dgm:cxn modelId="{E4D6278C-4916-48B0-AD9B-090DA6700912}" srcId="{1E2C05D6-9555-4056-9449-CBFF9E62C315}" destId="{345EFFC8-3470-4076-86D8-27B2A801E5C4}" srcOrd="0" destOrd="0" parTransId="{7505176B-7D74-43B1-A9D6-5AC0C594A9B9}" sibTransId="{DA16FE83-7538-40A0-AC3C-EE15E74C6D90}"/>
    <dgm:cxn modelId="{40EEC08F-4B30-4CAB-BC48-9E2AD5FC0F11}" type="presOf" srcId="{C20A91B3-F15A-4BA4-A97F-8A30B39E502D}" destId="{546333CF-7FB1-4948-A2E9-D33E4A1EF681}" srcOrd="0" destOrd="2" presId="urn:microsoft.com/office/officeart/2005/8/layout/cycle2"/>
    <dgm:cxn modelId="{A0D3F597-96F7-40F6-9957-97F189F01FFE}" type="presOf" srcId="{32E33FF9-BAD2-4084-818F-4C0FA85C407C}" destId="{A148910A-01A3-410F-A58C-690312DB7E75}" srcOrd="1" destOrd="0" presId="urn:microsoft.com/office/officeart/2005/8/layout/cycle2"/>
    <dgm:cxn modelId="{A0586E9A-E17C-4129-9505-7449154012AD}" type="presOf" srcId="{1E2C05D6-9555-4056-9449-CBFF9E62C315}" destId="{D5457B77-29F1-45F6-9AEB-00CEEB7EA242}" srcOrd="0" destOrd="0" presId="urn:microsoft.com/office/officeart/2005/8/layout/cycle2"/>
    <dgm:cxn modelId="{AD67749A-8C25-4A1C-8FA9-AF4EDF160755}" type="presOf" srcId="{DD0CF887-DBD7-437F-A704-4E30484EE005}" destId="{450398C4-A99D-4082-8117-20D37BE8D386}" srcOrd="0" destOrd="0" presId="urn:microsoft.com/office/officeart/2005/8/layout/cycle2"/>
    <dgm:cxn modelId="{0425999A-7123-47C3-9D49-FE5525967ABD}" srcId="{DD0CF887-DBD7-437F-A704-4E30484EE005}" destId="{8827F0B0-87DF-428C-B3EC-4284EE24146A}" srcOrd="1" destOrd="0" parTransId="{858A8E81-F6D1-4B54-ADB9-C48DFAD66C07}" sibTransId="{C5E389C6-4A89-463D-9819-623ED273B1EE}"/>
    <dgm:cxn modelId="{F31BBDA7-C9B3-4CDC-BDF3-5937FBD380A1}" srcId="{1E2C05D6-9555-4056-9449-CBFF9E62C315}" destId="{87D669C8-FE00-4D76-8725-AEF1C998F3C9}" srcOrd="1" destOrd="0" parTransId="{88AC91DD-59AF-4854-9A48-0CCCEEC38206}" sibTransId="{638EA997-F249-44FF-BB22-234850B7EC94}"/>
    <dgm:cxn modelId="{F5DD05BA-D4D3-443F-AAA1-06855D35E098}" type="presOf" srcId="{32E33FF9-BAD2-4084-818F-4C0FA85C407C}" destId="{61C2117E-464E-47CB-A8B1-670F69F9E66D}" srcOrd="0" destOrd="0" presId="urn:microsoft.com/office/officeart/2005/8/layout/cycle2"/>
    <dgm:cxn modelId="{F1AF82BF-431C-4C7C-85AA-BE3218EA0419}" srcId="{8827F0B0-87DF-428C-B3EC-4284EE24146A}" destId="{C20A91B3-F15A-4BA4-A97F-8A30B39E502D}" srcOrd="1" destOrd="0" parTransId="{3B86D82A-7528-4179-94E2-F1ACDE24C710}" sibTransId="{2F1315BE-258C-4C67-88C5-DB6456A11947}"/>
    <dgm:cxn modelId="{92B8C1D9-CAF3-4EA0-9C2B-AF6115F5D130}" type="presOf" srcId="{87D669C8-FE00-4D76-8725-AEF1C998F3C9}" destId="{D5457B77-29F1-45F6-9AEB-00CEEB7EA242}" srcOrd="0" destOrd="2" presId="urn:microsoft.com/office/officeart/2005/8/layout/cycle2"/>
    <dgm:cxn modelId="{3AA6E8FA-5286-4744-92F2-880AE7089230}" type="presOf" srcId="{345EFFC8-3470-4076-86D8-27B2A801E5C4}" destId="{D5457B77-29F1-45F6-9AEB-00CEEB7EA242}" srcOrd="0" destOrd="1" presId="urn:microsoft.com/office/officeart/2005/8/layout/cycle2"/>
    <dgm:cxn modelId="{7E0BE7FE-E0C5-483E-A09E-4BBD18753AFF}" type="presOf" srcId="{E356A14E-E37C-4A42-B18E-D6D72DAC6CBE}" destId="{59E61C87-BB35-48CB-8691-F652B7BCB81F}" srcOrd="1" destOrd="0" presId="urn:microsoft.com/office/officeart/2005/8/layout/cycle2"/>
    <dgm:cxn modelId="{AD621AFF-AF88-497E-BA0F-E0B6C1B03513}" type="presOf" srcId="{E1E89D85-FA16-449B-AC2F-2BDE501CE3E4}" destId="{7818D7E3-4763-44D2-9E3C-9F9C5B20C79C}" srcOrd="0" destOrd="1" presId="urn:microsoft.com/office/officeart/2005/8/layout/cycle2"/>
    <dgm:cxn modelId="{78C226F0-4E20-45B6-AFB8-56FA6056212A}" type="presParOf" srcId="{450398C4-A99D-4082-8117-20D37BE8D386}" destId="{D5457B77-29F1-45F6-9AEB-00CEEB7EA242}" srcOrd="0" destOrd="0" presId="urn:microsoft.com/office/officeart/2005/8/layout/cycle2"/>
    <dgm:cxn modelId="{3213B211-9877-4439-95C5-067165741455}" type="presParOf" srcId="{450398C4-A99D-4082-8117-20D37BE8D386}" destId="{61C2117E-464E-47CB-A8B1-670F69F9E66D}" srcOrd="1" destOrd="0" presId="urn:microsoft.com/office/officeart/2005/8/layout/cycle2"/>
    <dgm:cxn modelId="{13EEFD94-FB08-4CF4-AB03-3C06B5988A59}" type="presParOf" srcId="{61C2117E-464E-47CB-A8B1-670F69F9E66D}" destId="{A148910A-01A3-410F-A58C-690312DB7E75}" srcOrd="0" destOrd="0" presId="urn:microsoft.com/office/officeart/2005/8/layout/cycle2"/>
    <dgm:cxn modelId="{598DE32F-EC46-46BD-92AC-7F696CF08461}" type="presParOf" srcId="{450398C4-A99D-4082-8117-20D37BE8D386}" destId="{546333CF-7FB1-4948-A2E9-D33E4A1EF681}" srcOrd="2" destOrd="0" presId="urn:microsoft.com/office/officeart/2005/8/layout/cycle2"/>
    <dgm:cxn modelId="{0BC4476A-BA8B-4F1E-82F2-56D7DF2DC9DB}" type="presParOf" srcId="{450398C4-A99D-4082-8117-20D37BE8D386}" destId="{769EA0F5-A531-4066-8E77-B57AA86046DF}" srcOrd="3" destOrd="0" presId="urn:microsoft.com/office/officeart/2005/8/layout/cycle2"/>
    <dgm:cxn modelId="{34E478DC-574A-4BB9-86C3-58B1637CB75E}" type="presParOf" srcId="{769EA0F5-A531-4066-8E77-B57AA86046DF}" destId="{F46B021D-A7E9-4974-913C-48F3DB5C92EE}" srcOrd="0" destOrd="0" presId="urn:microsoft.com/office/officeart/2005/8/layout/cycle2"/>
    <dgm:cxn modelId="{7BAD7E25-D3E9-415B-AB76-781795611849}" type="presParOf" srcId="{450398C4-A99D-4082-8117-20D37BE8D386}" destId="{7818D7E3-4763-44D2-9E3C-9F9C5B20C79C}" srcOrd="4" destOrd="0" presId="urn:microsoft.com/office/officeart/2005/8/layout/cycle2"/>
    <dgm:cxn modelId="{D1BE9FDD-68EA-41C0-9564-E96A918EC85D}" type="presParOf" srcId="{450398C4-A99D-4082-8117-20D37BE8D386}" destId="{DDEFE779-950F-4DF6-8219-ED7E46BC631F}" srcOrd="5" destOrd="0" presId="urn:microsoft.com/office/officeart/2005/8/layout/cycle2"/>
    <dgm:cxn modelId="{B23F594D-2330-4C81-9A75-40278A76C628}" type="presParOf" srcId="{DDEFE779-950F-4DF6-8219-ED7E46BC631F}" destId="{59E61C87-BB35-48CB-8691-F652B7BCB81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5CFAB-7641-4365-B6A2-A20BDB43FA91}">
      <dsp:nvSpPr>
        <dsp:cNvPr id="0" name=""/>
        <dsp:cNvSpPr/>
      </dsp:nvSpPr>
      <dsp:spPr>
        <a:xfrm>
          <a:off x="0" y="699"/>
          <a:ext cx="8229600" cy="859881"/>
        </a:xfrm>
        <a:prstGeom prst="roundRect">
          <a:avLst/>
        </a:prstGeom>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zh-CN" altLang="en-US" sz="3400" kern="1200" dirty="0">
              <a:solidFill>
                <a:schemeClr val="accent2">
                  <a:lumMod val="50000"/>
                </a:schemeClr>
              </a:solidFill>
              <a:latin typeface="黑体" pitchFamily="49" charset="-122"/>
              <a:ea typeface="黑体" pitchFamily="49" charset="-122"/>
            </a:rPr>
            <a:t>多信息源的本地学习与模型融合</a:t>
          </a:r>
        </a:p>
      </dsp:txBody>
      <dsp:txXfrm>
        <a:off x="41976" y="42675"/>
        <a:ext cx="8145648" cy="775929"/>
      </dsp:txXfrm>
    </dsp:sp>
    <dsp:sp modelId="{F0BBBFA8-02F9-497B-8385-47F6A7D8C444}">
      <dsp:nvSpPr>
        <dsp:cNvPr id="0" name=""/>
        <dsp:cNvSpPr/>
      </dsp:nvSpPr>
      <dsp:spPr>
        <a:xfrm>
          <a:off x="0" y="860581"/>
          <a:ext cx="8229600" cy="38171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228600" lvl="1" indent="-228600" algn="l" defTabSz="889000" rtl="0">
            <a:lnSpc>
              <a:spcPct val="90000"/>
            </a:lnSpc>
            <a:spcBef>
              <a:spcPct val="0"/>
            </a:spcBef>
            <a:spcAft>
              <a:spcPct val="20000"/>
            </a:spcAft>
            <a:buChar char="•"/>
          </a:pPr>
          <a:endParaRPr lang="zh-CN" altLang="en-US" sz="2000" kern="1200" dirty="0"/>
        </a:p>
        <a:p>
          <a:pPr marL="228600" lvl="1" indent="-228600" algn="l" defTabSz="1155700" rtl="0">
            <a:lnSpc>
              <a:spcPct val="90000"/>
            </a:lnSpc>
            <a:spcBef>
              <a:spcPct val="0"/>
            </a:spcBef>
            <a:spcAft>
              <a:spcPct val="20000"/>
            </a:spcAft>
            <a:buChar char="•"/>
          </a:pPr>
          <a:r>
            <a:rPr lang="zh-CN" altLang="en-US" sz="2600" kern="1200" dirty="0">
              <a:solidFill>
                <a:schemeClr val="accent2">
                  <a:lumMod val="50000"/>
                </a:schemeClr>
              </a:solidFill>
              <a:latin typeface="黑体" pitchFamily="49" charset="-122"/>
              <a:ea typeface="黑体" pitchFamily="49" charset="-122"/>
            </a:rPr>
            <a:t>挑战</a:t>
          </a:r>
          <a:r>
            <a:rPr lang="en-US" altLang="zh-CN" sz="2600" kern="1200" dirty="0"/>
            <a:t>	</a:t>
          </a:r>
          <a:r>
            <a:rPr lang="zh-CN" sz="2600" kern="1200" dirty="0">
              <a:solidFill>
                <a:schemeClr val="tx2"/>
              </a:solidFill>
            </a:rPr>
            <a:t>❶</a:t>
          </a:r>
          <a:r>
            <a:rPr lang="zh-CN" sz="2600" kern="1200" dirty="0"/>
            <a:t>数据传输代价</a:t>
          </a:r>
          <a:br>
            <a:rPr lang="en-US" altLang="zh-CN" sz="2600" kern="1200" dirty="0"/>
          </a:br>
          <a:r>
            <a:rPr lang="en-US" altLang="zh-CN" sz="2600" kern="1200" dirty="0"/>
            <a:t>	</a:t>
          </a:r>
          <a:r>
            <a:rPr lang="zh-CN" sz="2600" kern="1200" dirty="0">
              <a:solidFill>
                <a:schemeClr val="tx2"/>
              </a:solidFill>
            </a:rPr>
            <a:t>❷</a:t>
          </a:r>
          <a:r>
            <a:rPr lang="zh-CN" sz="2600" kern="1200" dirty="0"/>
            <a:t>隐私保护</a:t>
          </a:r>
          <a:br>
            <a:rPr lang="en-US" altLang="zh-CN" sz="2600" kern="1200" dirty="0"/>
          </a:br>
          <a:r>
            <a:rPr lang="en-US" altLang="zh-CN" sz="2600" kern="1200" dirty="0"/>
            <a:t>	</a:t>
          </a:r>
          <a:r>
            <a:rPr lang="zh-CN" sz="2600" kern="1200" dirty="0">
              <a:solidFill>
                <a:schemeClr val="tx2"/>
              </a:solidFill>
            </a:rPr>
            <a:t>❸</a:t>
          </a:r>
          <a:r>
            <a:rPr lang="zh-CN" sz="2600" kern="1200" dirty="0"/>
            <a:t>不同站点的“偏见”</a:t>
          </a:r>
          <a:endParaRPr lang="zh-CN" altLang="en-US" sz="2000" kern="1200" dirty="0"/>
        </a:p>
        <a:p>
          <a:pPr marL="228600" lvl="1" indent="-228600" algn="l" defTabSz="1155700" rtl="0">
            <a:lnSpc>
              <a:spcPct val="90000"/>
            </a:lnSpc>
            <a:spcBef>
              <a:spcPct val="0"/>
            </a:spcBef>
            <a:spcAft>
              <a:spcPct val="20000"/>
            </a:spcAft>
            <a:buChar char="•"/>
          </a:pPr>
          <a:r>
            <a:rPr lang="zh-CN" sz="2600" kern="1200" dirty="0">
              <a:solidFill>
                <a:schemeClr val="accent2">
                  <a:lumMod val="50000"/>
                </a:schemeClr>
              </a:solidFill>
              <a:latin typeface="黑体" pitchFamily="49" charset="-122"/>
              <a:ea typeface="黑体" pitchFamily="49" charset="-122"/>
            </a:rPr>
            <a:t>目标</a:t>
          </a:r>
          <a:r>
            <a:rPr lang="en-US" altLang="zh-CN" sz="2600" kern="1200" dirty="0"/>
            <a:t>	</a:t>
          </a:r>
          <a:r>
            <a:rPr lang="zh-CN" sz="2600" kern="1200" dirty="0"/>
            <a:t>分布式数据源协同挖掘</a:t>
          </a:r>
          <a:br>
            <a:rPr lang="en-US" altLang="zh-CN" sz="2600" kern="1200" dirty="0"/>
          </a:br>
          <a:r>
            <a:rPr lang="en-US" altLang="zh-CN" sz="2600" kern="1200" dirty="0"/>
            <a:t>	</a:t>
          </a:r>
          <a:r>
            <a:rPr lang="zh-CN" sz="2600" kern="1200" dirty="0"/>
            <a:t>获得全局最优化结果</a:t>
          </a:r>
        </a:p>
        <a:p>
          <a:pPr marL="228600" lvl="1" indent="-228600" algn="l" defTabSz="1155700" rtl="0">
            <a:lnSpc>
              <a:spcPct val="90000"/>
            </a:lnSpc>
            <a:spcBef>
              <a:spcPct val="0"/>
            </a:spcBef>
            <a:spcAft>
              <a:spcPct val="20000"/>
            </a:spcAft>
            <a:buChar char="•"/>
          </a:pPr>
          <a:r>
            <a:rPr lang="zh-CN" altLang="en-US" sz="2600" kern="1200" dirty="0">
              <a:solidFill>
                <a:schemeClr val="accent2">
                  <a:lumMod val="50000"/>
                </a:schemeClr>
              </a:solidFill>
              <a:latin typeface="黑体" pitchFamily="49" charset="-122"/>
              <a:ea typeface="黑体" pitchFamily="49" charset="-122"/>
            </a:rPr>
            <a:t>方法</a:t>
          </a:r>
          <a:r>
            <a:rPr lang="en-US" altLang="zh-CN" sz="2600" kern="1200" dirty="0"/>
            <a:t>	</a:t>
          </a:r>
          <a:r>
            <a:rPr lang="zh-CN" sz="2600" kern="1200" dirty="0">
              <a:solidFill>
                <a:schemeClr val="tx2"/>
              </a:solidFill>
            </a:rPr>
            <a:t>❶</a:t>
          </a:r>
          <a:r>
            <a:rPr lang="zh-CN" sz="2600" kern="1200" dirty="0"/>
            <a:t>本地挖掘（</a:t>
          </a:r>
          <a:r>
            <a:rPr lang="en-US" sz="2600" kern="1200" dirty="0"/>
            <a:t>local mining</a:t>
          </a:r>
          <a:r>
            <a:rPr lang="zh-CN" sz="2600" kern="1200" dirty="0"/>
            <a:t>）</a:t>
          </a:r>
          <a:br>
            <a:rPr lang="en-US" altLang="zh-CN" sz="2600" kern="1200" dirty="0"/>
          </a:br>
          <a:r>
            <a:rPr lang="en-US" altLang="zh-CN" sz="2600" kern="1200" dirty="0"/>
            <a:t>	</a:t>
          </a:r>
          <a:r>
            <a:rPr lang="zh-CN" sz="2600" kern="1200" dirty="0">
              <a:solidFill>
                <a:schemeClr val="tx2"/>
              </a:solidFill>
            </a:rPr>
            <a:t>❷</a:t>
          </a:r>
          <a:r>
            <a:rPr lang="zh-CN" sz="2600" kern="1200" dirty="0"/>
            <a:t>全局相关（</a:t>
          </a:r>
          <a:r>
            <a:rPr lang="en-US" sz="2600" kern="1200" dirty="0"/>
            <a:t>global correlation</a:t>
          </a:r>
          <a:r>
            <a:rPr lang="zh-CN" sz="2600" kern="1200" dirty="0"/>
            <a:t>）</a:t>
          </a:r>
          <a:br>
            <a:rPr lang="en-US" altLang="zh-CN" sz="2600" kern="1200" dirty="0"/>
          </a:br>
          <a:r>
            <a:rPr lang="en-US" altLang="zh-CN" sz="2600" kern="1200" dirty="0"/>
            <a:t>	</a:t>
          </a:r>
          <a:r>
            <a:rPr lang="zh-CN" sz="2600" kern="1200" dirty="0">
              <a:solidFill>
                <a:schemeClr val="tx2"/>
              </a:solidFill>
            </a:rPr>
            <a:t>❸</a:t>
          </a:r>
          <a:r>
            <a:rPr lang="zh-CN" altLang="en-US" sz="2600" kern="1200" dirty="0"/>
            <a:t>数据、模型、知识层</a:t>
          </a:r>
          <a:endParaRPr lang="zh-CN" sz="2600" kern="1200" dirty="0">
            <a:solidFill>
              <a:schemeClr val="bg2">
                <a:lumMod val="50000"/>
              </a:schemeClr>
            </a:solidFill>
            <a:latin typeface="Palatino Linotype" pitchFamily="18" charset="0"/>
          </a:endParaRPr>
        </a:p>
      </dsp:txBody>
      <dsp:txXfrm>
        <a:off x="0" y="860581"/>
        <a:ext cx="8229600" cy="38171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5CFAB-7641-4365-B6A2-A20BDB43FA91}">
      <dsp:nvSpPr>
        <dsp:cNvPr id="0" name=""/>
        <dsp:cNvSpPr/>
      </dsp:nvSpPr>
      <dsp:spPr>
        <a:xfrm>
          <a:off x="0" y="160638"/>
          <a:ext cx="8229600" cy="956794"/>
        </a:xfrm>
        <a:prstGeom prst="roundRect">
          <a:avLst/>
        </a:prstGeom>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zh-CN" altLang="en-US" sz="3400" kern="1200" dirty="0">
              <a:solidFill>
                <a:schemeClr val="accent2">
                  <a:lumMod val="50000"/>
                </a:schemeClr>
              </a:solidFill>
              <a:latin typeface="黑体" pitchFamily="49" charset="-122"/>
              <a:ea typeface="黑体" pitchFamily="49" charset="-122"/>
            </a:rPr>
            <a:t>稀疏、不确定、不完整数据的挖掘</a:t>
          </a:r>
        </a:p>
      </dsp:txBody>
      <dsp:txXfrm>
        <a:off x="46707" y="207345"/>
        <a:ext cx="8136186" cy="863380"/>
      </dsp:txXfrm>
    </dsp:sp>
    <dsp:sp modelId="{F0BBBFA8-02F9-497B-8385-47F6A7D8C444}">
      <dsp:nvSpPr>
        <dsp:cNvPr id="0" name=""/>
        <dsp:cNvSpPr/>
      </dsp:nvSpPr>
      <dsp:spPr>
        <a:xfrm>
          <a:off x="0" y="1117432"/>
          <a:ext cx="8229600" cy="3400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228600" lvl="1" indent="-228600" algn="l" defTabSz="889000" rtl="0">
            <a:lnSpc>
              <a:spcPct val="90000"/>
            </a:lnSpc>
            <a:spcBef>
              <a:spcPct val="0"/>
            </a:spcBef>
            <a:spcAft>
              <a:spcPct val="20000"/>
            </a:spcAft>
            <a:buChar char="•"/>
          </a:pPr>
          <a:endParaRPr lang="zh-CN" altLang="en-US" sz="2000" kern="1200" dirty="0"/>
        </a:p>
        <a:p>
          <a:pPr marL="228600" lvl="1" indent="-228600" algn="l" defTabSz="1155700" rtl="0">
            <a:lnSpc>
              <a:spcPct val="90000"/>
            </a:lnSpc>
            <a:spcBef>
              <a:spcPct val="0"/>
            </a:spcBef>
            <a:spcAft>
              <a:spcPct val="20000"/>
            </a:spcAft>
            <a:buChar char="•"/>
          </a:pPr>
          <a:r>
            <a:rPr lang="zh-CN" altLang="en-US" sz="2600" kern="1200" dirty="0">
              <a:solidFill>
                <a:schemeClr val="accent2">
                  <a:lumMod val="50000"/>
                </a:schemeClr>
              </a:solidFill>
              <a:latin typeface="黑体" pitchFamily="49" charset="-122"/>
              <a:ea typeface="黑体" pitchFamily="49" charset="-122"/>
            </a:rPr>
            <a:t>挑战</a:t>
          </a:r>
          <a:r>
            <a:rPr lang="en-US" altLang="zh-CN" sz="2600" kern="1200" dirty="0"/>
            <a:t>	</a:t>
          </a:r>
          <a:r>
            <a:rPr lang="zh-CN" sz="2600" kern="1200" dirty="0">
              <a:solidFill>
                <a:schemeClr val="tx2"/>
              </a:solidFill>
            </a:rPr>
            <a:t>❶</a:t>
          </a:r>
          <a:r>
            <a:rPr lang="zh-CN" altLang="en-US" sz="2600" kern="1200" dirty="0"/>
            <a:t>特征稀疏</a:t>
          </a:r>
          <a:r>
            <a:rPr lang="en-US" altLang="zh-CN" sz="2600" kern="1200" dirty="0">
              <a:latin typeface="Palatino Linotype" pitchFamily="18" charset="0"/>
            </a:rPr>
            <a:t>(Sparse)</a:t>
          </a:r>
          <a:r>
            <a:rPr lang="zh-CN" altLang="en-US" sz="2600" kern="1200" dirty="0">
              <a:latin typeface="Palatino Linotype" pitchFamily="18" charset="0"/>
            </a:rPr>
            <a:t>：   </a:t>
          </a:r>
          <a:r>
            <a:rPr lang="zh-CN" altLang="en-US" sz="2600" kern="1200" dirty="0"/>
            <a:t>高维</a:t>
          </a:r>
          <a:br>
            <a:rPr lang="en-US" altLang="zh-CN" sz="2600" kern="1200" dirty="0"/>
          </a:br>
          <a:r>
            <a:rPr lang="en-US" altLang="zh-CN" sz="2600" kern="1200" dirty="0"/>
            <a:t>                                                           </a:t>
          </a:r>
          <a:r>
            <a:rPr lang="zh-CN" altLang="en-US" sz="2600" kern="1200" dirty="0"/>
            <a:t>趋势</a:t>
          </a:r>
          <a:r>
            <a:rPr lang="en-US" altLang="zh-CN" sz="2600" kern="1200" dirty="0"/>
            <a:t>/</a:t>
          </a:r>
          <a:r>
            <a:rPr lang="zh-CN" altLang="en-US" sz="2600" kern="1200" dirty="0"/>
            <a:t>分布不清</a:t>
          </a:r>
          <a:br>
            <a:rPr lang="en-US" altLang="zh-CN" sz="2600" kern="1200" dirty="0"/>
          </a:br>
          <a:r>
            <a:rPr lang="en-US" altLang="zh-CN" sz="2600" kern="1200" dirty="0"/>
            <a:t>	</a:t>
          </a:r>
          <a:r>
            <a:rPr lang="zh-CN" sz="2600" kern="1200" dirty="0">
              <a:solidFill>
                <a:schemeClr val="tx2"/>
              </a:solidFill>
            </a:rPr>
            <a:t>❷</a:t>
          </a:r>
          <a:r>
            <a:rPr lang="zh-CN" altLang="en-US" sz="2600" kern="1200" dirty="0"/>
            <a:t>不确定</a:t>
          </a:r>
          <a:r>
            <a:rPr lang="en-US" altLang="zh-CN" sz="2600" kern="1200" dirty="0">
              <a:latin typeface="Palatino Linotype" pitchFamily="18" charset="0"/>
            </a:rPr>
            <a:t>(Uncertain) </a:t>
          </a:r>
          <a:r>
            <a:rPr lang="zh-CN" altLang="en-US" sz="2600" kern="1200" dirty="0">
              <a:latin typeface="Palatino Linotype" pitchFamily="18" charset="0"/>
            </a:rPr>
            <a:t>： </a:t>
          </a:r>
          <a:r>
            <a:rPr lang="zh-CN" altLang="en-US" sz="2600" kern="1200" dirty="0"/>
            <a:t>随机</a:t>
          </a:r>
          <a:r>
            <a:rPr lang="en-US" altLang="zh-CN" sz="2600" kern="1200" dirty="0"/>
            <a:t>/</a:t>
          </a:r>
          <a:r>
            <a:rPr lang="zh-CN" altLang="en-US" sz="2600" kern="1200" dirty="0"/>
            <a:t>错误分布</a:t>
          </a:r>
          <a:br>
            <a:rPr lang="en-US" altLang="zh-CN" sz="2600" kern="1200" dirty="0"/>
          </a:br>
          <a:r>
            <a:rPr lang="en-US" altLang="zh-CN" sz="2600" kern="1200" dirty="0"/>
            <a:t>	</a:t>
          </a:r>
          <a:r>
            <a:rPr lang="zh-CN" sz="2600" kern="1200" dirty="0">
              <a:solidFill>
                <a:schemeClr val="tx2"/>
              </a:solidFill>
            </a:rPr>
            <a:t>❸</a:t>
          </a:r>
          <a:r>
            <a:rPr lang="zh-CN" altLang="en-US" sz="2600" kern="1200" dirty="0"/>
            <a:t>不完整</a:t>
          </a:r>
          <a:r>
            <a:rPr lang="en-US" altLang="zh-CN" sz="2600" kern="1200" dirty="0">
              <a:latin typeface="Palatino Linotype" pitchFamily="18" charset="0"/>
            </a:rPr>
            <a:t>(Incomplete)</a:t>
          </a:r>
          <a:r>
            <a:rPr lang="zh-CN" altLang="en-US" sz="2600" kern="1200" dirty="0">
              <a:latin typeface="Palatino Linotype" pitchFamily="18" charset="0"/>
            </a:rPr>
            <a:t>：数据缺失</a:t>
          </a:r>
          <a:endParaRPr lang="zh-CN" altLang="en-US" sz="2000" kern="1200" dirty="0"/>
        </a:p>
        <a:p>
          <a:pPr marL="228600" lvl="1" indent="-228600" algn="l" defTabSz="1155700" rtl="0">
            <a:lnSpc>
              <a:spcPct val="90000"/>
            </a:lnSpc>
            <a:spcBef>
              <a:spcPct val="0"/>
            </a:spcBef>
            <a:spcAft>
              <a:spcPct val="20000"/>
            </a:spcAft>
            <a:buChar char="•"/>
          </a:pPr>
          <a:r>
            <a:rPr lang="zh-CN" altLang="en-US" sz="2600" kern="1200" dirty="0">
              <a:solidFill>
                <a:schemeClr val="accent2">
                  <a:lumMod val="50000"/>
                </a:schemeClr>
              </a:solidFill>
              <a:latin typeface="黑体" pitchFamily="49" charset="-122"/>
              <a:ea typeface="黑体" pitchFamily="49" charset="-122"/>
            </a:rPr>
            <a:t>方法</a:t>
          </a:r>
          <a:r>
            <a:rPr lang="en-US" altLang="zh-CN" sz="2600" kern="1200" dirty="0"/>
            <a:t>	</a:t>
          </a:r>
          <a:r>
            <a:rPr lang="zh-CN" sz="2600" kern="1200" dirty="0">
              <a:solidFill>
                <a:schemeClr val="tx2"/>
              </a:solidFill>
            </a:rPr>
            <a:t>❶</a:t>
          </a:r>
          <a:r>
            <a:rPr lang="zh-CN" altLang="en-US" sz="2600" kern="1200" dirty="0"/>
            <a:t>维度约减与特征选择</a:t>
          </a:r>
          <a:br>
            <a:rPr lang="en-US" altLang="zh-CN" sz="2600" kern="1200" dirty="0">
              <a:solidFill>
                <a:schemeClr val="bg2">
                  <a:lumMod val="50000"/>
                </a:schemeClr>
              </a:solidFill>
            </a:rPr>
          </a:br>
          <a:r>
            <a:rPr lang="en-US" altLang="zh-CN" sz="2600" kern="1200" dirty="0"/>
            <a:t>	</a:t>
          </a:r>
          <a:r>
            <a:rPr lang="zh-CN" sz="2600" kern="1200" dirty="0">
              <a:solidFill>
                <a:schemeClr val="tx2"/>
              </a:solidFill>
            </a:rPr>
            <a:t>❷</a:t>
          </a:r>
          <a:r>
            <a:rPr lang="en-US" sz="2600" kern="1200" dirty="0">
              <a:latin typeface="Palatino Linotype" pitchFamily="18" charset="0"/>
            </a:rPr>
            <a:t>error</a:t>
          </a:r>
          <a:r>
            <a:rPr lang="en-US" altLang="zh-CN" sz="2600" kern="1200" dirty="0">
              <a:latin typeface="Palatino Linotype" pitchFamily="18" charset="0"/>
            </a:rPr>
            <a:t>-</a:t>
          </a:r>
          <a:r>
            <a:rPr lang="en-US" sz="2600" kern="1200" dirty="0">
              <a:latin typeface="Palatino Linotype" pitchFamily="18" charset="0"/>
            </a:rPr>
            <a:t>aware</a:t>
          </a:r>
          <a:r>
            <a:rPr lang="zh-CN" altLang="en-US" sz="2600" kern="1200" dirty="0">
              <a:latin typeface="Palatino Linotype" pitchFamily="18" charset="0"/>
            </a:rPr>
            <a:t>的挖掘</a:t>
          </a:r>
          <a:br>
            <a:rPr lang="en-US" altLang="zh-CN" sz="2600" kern="1200" dirty="0">
              <a:solidFill>
                <a:schemeClr val="bg2">
                  <a:lumMod val="50000"/>
                </a:schemeClr>
              </a:solidFill>
              <a:latin typeface="Palatino Linotype" pitchFamily="18" charset="0"/>
            </a:rPr>
          </a:br>
          <a:r>
            <a:rPr lang="en-US" altLang="zh-CN" sz="2600" kern="1200" dirty="0"/>
            <a:t>	</a:t>
          </a:r>
          <a:r>
            <a:rPr lang="zh-CN" sz="2600" kern="1200" dirty="0">
              <a:solidFill>
                <a:schemeClr val="tx2"/>
              </a:solidFill>
            </a:rPr>
            <a:t>❸</a:t>
          </a:r>
          <a:r>
            <a:rPr lang="en-US" altLang="zh-CN" sz="2600" kern="1200" dirty="0">
              <a:latin typeface="Palatino Linotype" pitchFamily="18" charset="0"/>
            </a:rPr>
            <a:t>imputation</a:t>
          </a:r>
          <a:r>
            <a:rPr lang="zh-CN" altLang="en-US" sz="2600" kern="1200" dirty="0"/>
            <a:t>方法</a:t>
          </a:r>
          <a:endParaRPr lang="zh-CN" sz="2600" kern="1200" dirty="0">
            <a:solidFill>
              <a:schemeClr val="bg2">
                <a:lumMod val="50000"/>
              </a:schemeClr>
            </a:solidFill>
            <a:latin typeface="Palatino Linotype" pitchFamily="18" charset="0"/>
          </a:endParaRPr>
        </a:p>
      </dsp:txBody>
      <dsp:txXfrm>
        <a:off x="0" y="1117432"/>
        <a:ext cx="8229600" cy="34003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5CFAB-7641-4365-B6A2-A20BDB43FA91}">
      <dsp:nvSpPr>
        <dsp:cNvPr id="0" name=""/>
        <dsp:cNvSpPr/>
      </dsp:nvSpPr>
      <dsp:spPr>
        <a:xfrm>
          <a:off x="0" y="0"/>
          <a:ext cx="8229600" cy="861387"/>
        </a:xfrm>
        <a:prstGeom prst="roundRect">
          <a:avLst/>
        </a:prstGeom>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zh-CN" altLang="en-US" sz="3400" kern="1200" dirty="0">
              <a:solidFill>
                <a:schemeClr val="accent2">
                  <a:lumMod val="50000"/>
                </a:schemeClr>
              </a:solidFill>
              <a:latin typeface="黑体" pitchFamily="49" charset="-122"/>
              <a:ea typeface="黑体" pitchFamily="49" charset="-122"/>
            </a:rPr>
            <a:t>复杂、动态数据的挖掘</a:t>
          </a:r>
        </a:p>
      </dsp:txBody>
      <dsp:txXfrm>
        <a:off x="42049" y="42049"/>
        <a:ext cx="8145502" cy="777289"/>
      </dsp:txXfrm>
    </dsp:sp>
    <dsp:sp modelId="{F0BBBFA8-02F9-497B-8385-47F6A7D8C444}">
      <dsp:nvSpPr>
        <dsp:cNvPr id="0" name=""/>
        <dsp:cNvSpPr/>
      </dsp:nvSpPr>
      <dsp:spPr>
        <a:xfrm>
          <a:off x="0" y="930927"/>
          <a:ext cx="8229600" cy="2129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1155700" rtl="0">
            <a:lnSpc>
              <a:spcPct val="90000"/>
            </a:lnSpc>
            <a:spcBef>
              <a:spcPct val="0"/>
            </a:spcBef>
            <a:spcAft>
              <a:spcPct val="20000"/>
            </a:spcAft>
            <a:buChar char="•"/>
          </a:pPr>
          <a:r>
            <a:rPr lang="zh-CN" altLang="en-US" sz="2600" kern="1200" dirty="0">
              <a:solidFill>
                <a:schemeClr val="accent2">
                  <a:lumMod val="50000"/>
                </a:schemeClr>
              </a:solidFill>
              <a:latin typeface="黑体" pitchFamily="49" charset="-122"/>
              <a:ea typeface="黑体" pitchFamily="49" charset="-122"/>
            </a:rPr>
            <a:t>挑战</a:t>
          </a:r>
          <a:r>
            <a:rPr lang="en-US" altLang="zh-CN" sz="2600" kern="1200" dirty="0"/>
            <a:t>	</a:t>
          </a:r>
          <a:r>
            <a:rPr lang="zh-CN" sz="2600" kern="1200" dirty="0">
              <a:solidFill>
                <a:schemeClr val="tx2"/>
              </a:solidFill>
            </a:rPr>
            <a:t>❶</a:t>
          </a:r>
          <a:r>
            <a:rPr lang="zh-CN" altLang="en-US" sz="2600" kern="1200" dirty="0"/>
            <a:t>结构化与非结构化数据并存</a:t>
          </a:r>
          <a:br>
            <a:rPr lang="en-US" altLang="zh-CN" sz="2600" kern="1200" dirty="0"/>
          </a:br>
          <a:r>
            <a:rPr lang="en-US" altLang="zh-CN" sz="2600" kern="1200" dirty="0"/>
            <a:t>	</a:t>
          </a:r>
          <a:r>
            <a:rPr lang="zh-CN" sz="2600" kern="1200" dirty="0">
              <a:solidFill>
                <a:schemeClr val="tx2"/>
              </a:solidFill>
            </a:rPr>
            <a:t>❷</a:t>
          </a:r>
          <a:r>
            <a:rPr lang="zh-CN" altLang="en-US" sz="2600" kern="1200" dirty="0"/>
            <a:t>动态复杂庞大的网络结构（如：社交数据）</a:t>
          </a:r>
          <a:br>
            <a:rPr lang="en-US" altLang="zh-CN" sz="2600" kern="1200" dirty="0"/>
          </a:br>
          <a:r>
            <a:rPr lang="en-US" altLang="zh-CN" sz="2600" kern="1200" dirty="0"/>
            <a:t>	</a:t>
          </a:r>
          <a:r>
            <a:rPr lang="zh-CN" sz="2600" kern="1200" dirty="0">
              <a:solidFill>
                <a:schemeClr val="tx2"/>
              </a:solidFill>
            </a:rPr>
            <a:t>❸</a:t>
          </a:r>
          <a:r>
            <a:rPr lang="zh-CN" altLang="en-US" sz="2600" kern="1200" dirty="0"/>
            <a:t>特定应用相关</a:t>
          </a:r>
          <a:endParaRPr lang="zh-CN" altLang="en-US" sz="2000" kern="1200" dirty="0"/>
        </a:p>
        <a:p>
          <a:pPr marL="228600" lvl="1" indent="-228600" algn="l" defTabSz="1155700" rtl="0">
            <a:lnSpc>
              <a:spcPct val="90000"/>
            </a:lnSpc>
            <a:spcBef>
              <a:spcPct val="0"/>
            </a:spcBef>
            <a:spcAft>
              <a:spcPct val="20000"/>
            </a:spcAft>
            <a:buChar char="•"/>
          </a:pPr>
          <a:r>
            <a:rPr lang="zh-CN" altLang="en-US" sz="2600" kern="1200" dirty="0">
              <a:solidFill>
                <a:schemeClr val="accent2">
                  <a:lumMod val="50000"/>
                </a:schemeClr>
              </a:solidFill>
              <a:latin typeface="黑体" pitchFamily="49" charset="-122"/>
              <a:ea typeface="黑体" pitchFamily="49" charset="-122"/>
            </a:rPr>
            <a:t>成果</a:t>
          </a:r>
          <a:r>
            <a:rPr lang="en-US" altLang="zh-CN" sz="2600" kern="1200" dirty="0"/>
            <a:t>	</a:t>
          </a:r>
          <a:r>
            <a:rPr lang="zh-CN" sz="2600" kern="1200" dirty="0">
              <a:solidFill>
                <a:schemeClr val="tx2"/>
              </a:solidFill>
            </a:rPr>
            <a:t>❶</a:t>
          </a:r>
          <a:r>
            <a:rPr lang="en-US" altLang="zh-CN" sz="2600" kern="1200" dirty="0"/>
            <a:t>G</a:t>
          </a:r>
          <a:r>
            <a:rPr lang="en-US" altLang="zh-CN" sz="2600" kern="1200" dirty="0">
              <a:latin typeface="Palatino Linotype" pitchFamily="18" charset="0"/>
            </a:rPr>
            <a:t>oogle</a:t>
          </a:r>
          <a:r>
            <a:rPr lang="zh-CN" altLang="en-US" sz="2600" kern="1200" dirty="0"/>
            <a:t>流感疫情预测</a:t>
          </a:r>
          <a:br>
            <a:rPr lang="en-US" altLang="zh-CN" sz="2600" kern="1200" dirty="0">
              <a:solidFill>
                <a:schemeClr val="bg2">
                  <a:lumMod val="50000"/>
                </a:schemeClr>
              </a:solidFill>
              <a:latin typeface="Palatino Linotype" pitchFamily="18" charset="0"/>
            </a:rPr>
          </a:br>
          <a:r>
            <a:rPr lang="en-US" altLang="zh-CN" sz="2600" kern="1200" dirty="0">
              <a:solidFill>
                <a:schemeClr val="bg2">
                  <a:lumMod val="50000"/>
                </a:schemeClr>
              </a:solidFill>
              <a:latin typeface="Palatino Linotype" pitchFamily="18" charset="0"/>
            </a:rPr>
            <a:t>           </a:t>
          </a:r>
          <a:r>
            <a:rPr lang="zh-CN" altLang="zh-CN" sz="2600" kern="1200" dirty="0">
              <a:solidFill>
                <a:schemeClr val="tx2"/>
              </a:solidFill>
            </a:rPr>
            <a:t>❷</a:t>
          </a:r>
          <a:r>
            <a:rPr lang="zh-CN" altLang="en-US" sz="2600" kern="1200" dirty="0"/>
            <a:t>在线社交网络行为传播</a:t>
          </a:r>
          <a:endParaRPr lang="zh-CN" sz="2600" kern="1200" dirty="0">
            <a:solidFill>
              <a:schemeClr val="bg2">
                <a:lumMod val="50000"/>
              </a:schemeClr>
            </a:solidFill>
            <a:latin typeface="Palatino Linotype" pitchFamily="18" charset="0"/>
          </a:endParaRPr>
        </a:p>
      </dsp:txBody>
      <dsp:txXfrm>
        <a:off x="0" y="930927"/>
        <a:ext cx="8229600" cy="2129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5CFAB-7641-4365-B6A2-A20BDB43FA91}">
      <dsp:nvSpPr>
        <dsp:cNvPr id="0" name=""/>
        <dsp:cNvSpPr/>
      </dsp:nvSpPr>
      <dsp:spPr>
        <a:xfrm>
          <a:off x="0" y="0"/>
          <a:ext cx="8229600" cy="941154"/>
        </a:xfrm>
        <a:prstGeom prst="roundRect">
          <a:avLst/>
        </a:prstGeom>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zh-CN" altLang="en-US" sz="3400" kern="1200" dirty="0">
              <a:solidFill>
                <a:schemeClr val="accent2">
                  <a:lumMod val="50000"/>
                </a:schemeClr>
              </a:solidFill>
              <a:latin typeface="黑体" pitchFamily="49" charset="-122"/>
              <a:ea typeface="黑体" pitchFamily="49" charset="-122"/>
            </a:rPr>
            <a:t>信息共享与数据隐私保护</a:t>
          </a:r>
        </a:p>
      </dsp:txBody>
      <dsp:txXfrm>
        <a:off x="45943" y="45943"/>
        <a:ext cx="8137714" cy="849268"/>
      </dsp:txXfrm>
    </dsp:sp>
    <dsp:sp modelId="{F0BBBFA8-02F9-497B-8385-47F6A7D8C444}">
      <dsp:nvSpPr>
        <dsp:cNvPr id="0" name=""/>
        <dsp:cNvSpPr/>
      </dsp:nvSpPr>
      <dsp:spPr>
        <a:xfrm>
          <a:off x="0" y="935359"/>
          <a:ext cx="8229600" cy="3528679"/>
        </a:xfrm>
        <a:prstGeom prst="rect">
          <a:avLst/>
        </a:prstGeom>
        <a:no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228600" lvl="1" indent="-228600" algn="l" defTabSz="889000" rtl="0">
            <a:lnSpc>
              <a:spcPct val="90000"/>
            </a:lnSpc>
            <a:spcBef>
              <a:spcPct val="0"/>
            </a:spcBef>
            <a:spcAft>
              <a:spcPct val="20000"/>
            </a:spcAft>
            <a:buChar char="•"/>
          </a:pPr>
          <a:endParaRPr lang="zh-CN" altLang="en-US" sz="2000" kern="1200" dirty="0"/>
        </a:p>
        <a:p>
          <a:pPr marL="228600" lvl="1" indent="-228600" algn="l" defTabSz="1155700" rtl="0">
            <a:lnSpc>
              <a:spcPct val="90000"/>
            </a:lnSpc>
            <a:spcBef>
              <a:spcPct val="0"/>
            </a:spcBef>
            <a:spcAft>
              <a:spcPct val="20000"/>
            </a:spcAft>
            <a:buChar char="•"/>
          </a:pPr>
          <a:r>
            <a:rPr lang="zh-CN" altLang="en-US" sz="2600" kern="1200" dirty="0">
              <a:solidFill>
                <a:schemeClr val="accent2">
                  <a:lumMod val="50000"/>
                </a:schemeClr>
              </a:solidFill>
              <a:latin typeface="黑体" pitchFamily="49" charset="-122"/>
              <a:ea typeface="黑体" pitchFamily="49" charset="-122"/>
            </a:rPr>
            <a:t>挑战</a:t>
          </a:r>
          <a:r>
            <a:rPr lang="en-US" altLang="zh-CN" sz="2600" kern="1200" dirty="0"/>
            <a:t>	</a:t>
          </a:r>
          <a:r>
            <a:rPr lang="zh-CN" sz="2600" kern="1200" dirty="0">
              <a:solidFill>
                <a:schemeClr val="tx2"/>
              </a:solidFill>
            </a:rPr>
            <a:t>❶</a:t>
          </a:r>
          <a:r>
            <a:rPr lang="zh-CN" altLang="en-US" sz="2600" kern="1200" dirty="0">
              <a:solidFill>
                <a:schemeClr val="tx1"/>
              </a:solidFill>
            </a:rPr>
            <a:t>保护用户隐私（信用卡、健康医疗 </a:t>
          </a:r>
          <a:r>
            <a:rPr lang="en-US" altLang="zh-CN" sz="2600" kern="1200" dirty="0">
              <a:solidFill>
                <a:schemeClr val="tx1"/>
              </a:solidFill>
            </a:rPr>
            <a:t>… </a:t>
          </a:r>
          <a:r>
            <a:rPr lang="zh-CN" altLang="en-US" sz="2600" kern="1200" dirty="0">
              <a:solidFill>
                <a:schemeClr val="tx1"/>
              </a:solidFill>
            </a:rPr>
            <a:t>）</a:t>
          </a:r>
          <a:br>
            <a:rPr lang="en-US" altLang="zh-CN" sz="2600" kern="1200" dirty="0"/>
          </a:br>
          <a:r>
            <a:rPr lang="en-US" altLang="zh-CN" sz="2600" kern="1200" dirty="0"/>
            <a:t>	</a:t>
          </a:r>
          <a:r>
            <a:rPr lang="zh-CN" sz="2600" kern="1200" dirty="0">
              <a:solidFill>
                <a:schemeClr val="tx2"/>
              </a:solidFill>
            </a:rPr>
            <a:t>❷</a:t>
          </a:r>
          <a:r>
            <a:rPr lang="zh-CN" altLang="en-US" sz="2600" kern="1200" dirty="0">
              <a:solidFill>
                <a:schemeClr val="tx1"/>
              </a:solidFill>
            </a:rPr>
            <a:t>实现信息共享（知识发现、共享与集成）</a:t>
          </a:r>
          <a:endParaRPr lang="zh-CN" altLang="en-US" sz="2000" kern="1200" dirty="0"/>
        </a:p>
        <a:p>
          <a:pPr marL="228600" lvl="1" indent="-228600" algn="l" defTabSz="1155700" rtl="0">
            <a:lnSpc>
              <a:spcPct val="90000"/>
            </a:lnSpc>
            <a:spcBef>
              <a:spcPct val="0"/>
            </a:spcBef>
            <a:spcAft>
              <a:spcPct val="20000"/>
            </a:spcAft>
            <a:buChar char="•"/>
          </a:pPr>
          <a:r>
            <a:rPr lang="zh-CN" altLang="en-US" sz="2600" kern="1200" dirty="0">
              <a:solidFill>
                <a:schemeClr val="accent2">
                  <a:lumMod val="50000"/>
                </a:schemeClr>
              </a:solidFill>
              <a:latin typeface="黑体" pitchFamily="49" charset="-122"/>
              <a:ea typeface="黑体" pitchFamily="49" charset="-122"/>
            </a:rPr>
            <a:t>方法</a:t>
          </a:r>
          <a:r>
            <a:rPr lang="en-US" altLang="zh-CN" sz="2600" kern="1200" dirty="0"/>
            <a:t>	</a:t>
          </a:r>
          <a:r>
            <a:rPr lang="zh-CN" sz="2600" kern="1200" dirty="0">
              <a:solidFill>
                <a:schemeClr val="tx2"/>
              </a:solidFill>
            </a:rPr>
            <a:t>❶</a:t>
          </a:r>
          <a:r>
            <a:rPr lang="zh-CN" altLang="en-US" sz="2600" kern="1200" dirty="0">
              <a:solidFill>
                <a:schemeClr val="tx1"/>
              </a:solidFill>
            </a:rPr>
            <a:t>隐私保护</a:t>
          </a:r>
          <a:br>
            <a:rPr lang="en-US" altLang="zh-CN" sz="2600" kern="1200" dirty="0">
              <a:solidFill>
                <a:schemeClr val="tx1"/>
              </a:solidFill>
            </a:rPr>
          </a:br>
          <a:r>
            <a:rPr lang="en-US" altLang="zh-CN" sz="2600" kern="1200" dirty="0">
              <a:solidFill>
                <a:schemeClr val="tx1"/>
              </a:solidFill>
            </a:rPr>
            <a:t>                 </a:t>
          </a:r>
          <a:r>
            <a:rPr lang="zh-CN" altLang="en-US" sz="2000" kern="1200" dirty="0">
              <a:solidFill>
                <a:schemeClr val="tx1"/>
              </a:solidFill>
              <a:latin typeface="黑体" pitchFamily="49" charset="-122"/>
              <a:ea typeface="黑体" pitchFamily="49" charset="-122"/>
            </a:rPr>
            <a:t>限制敏感信息访问 （访问控制、认证机制 </a:t>
          </a:r>
          <a:r>
            <a:rPr lang="en-US" altLang="zh-CN" sz="2000" kern="1200" dirty="0">
              <a:solidFill>
                <a:schemeClr val="tx1"/>
              </a:solidFill>
              <a:latin typeface="黑体" pitchFamily="49" charset="-122"/>
              <a:ea typeface="黑体" pitchFamily="49" charset="-122"/>
            </a:rPr>
            <a:t>… </a:t>
          </a:r>
          <a:r>
            <a:rPr lang="zh-CN" altLang="en-US" sz="2000" kern="1200" dirty="0">
              <a:solidFill>
                <a:schemeClr val="tx1"/>
              </a:solidFill>
              <a:latin typeface="黑体" pitchFamily="49" charset="-122"/>
              <a:ea typeface="黑体" pitchFamily="49" charset="-122"/>
            </a:rPr>
            <a:t>）</a:t>
          </a:r>
          <a:br>
            <a:rPr lang="en-US" altLang="zh-CN" sz="2000" kern="1200" dirty="0">
              <a:solidFill>
                <a:schemeClr val="tx1"/>
              </a:solidFill>
              <a:latin typeface="黑体" pitchFamily="49" charset="-122"/>
              <a:ea typeface="黑体" pitchFamily="49" charset="-122"/>
            </a:rPr>
          </a:br>
          <a:r>
            <a:rPr lang="en-US" altLang="zh-CN" sz="2000" kern="1200" dirty="0">
              <a:solidFill>
                <a:schemeClr val="tx1"/>
              </a:solidFill>
              <a:latin typeface="黑体" pitchFamily="49" charset="-122"/>
              <a:ea typeface="黑体" pitchFamily="49" charset="-122"/>
            </a:rPr>
            <a:t>          </a:t>
          </a:r>
          <a:r>
            <a:rPr lang="zh-CN" altLang="en-US" sz="2000" kern="1200" dirty="0">
              <a:solidFill>
                <a:schemeClr val="tx1"/>
              </a:solidFill>
              <a:latin typeface="黑体" pitchFamily="49" charset="-122"/>
              <a:ea typeface="黑体" pitchFamily="49" charset="-122"/>
            </a:rPr>
            <a:t>匿名化敏感数据 （数据注入随机性）</a:t>
          </a:r>
          <a:br>
            <a:rPr lang="en-US" altLang="zh-CN" sz="2600" kern="1200" dirty="0">
              <a:solidFill>
                <a:schemeClr val="bg2">
                  <a:lumMod val="50000"/>
                </a:schemeClr>
              </a:solidFill>
            </a:rPr>
          </a:br>
          <a:r>
            <a:rPr lang="en-US" altLang="zh-CN" sz="2600" kern="1200" dirty="0"/>
            <a:t>	</a:t>
          </a:r>
          <a:r>
            <a:rPr lang="zh-CN" sz="2600" kern="1200" dirty="0">
              <a:solidFill>
                <a:schemeClr val="tx2"/>
              </a:solidFill>
            </a:rPr>
            <a:t>❷</a:t>
          </a:r>
          <a:r>
            <a:rPr lang="zh-CN" altLang="en-US" sz="2600" kern="1200" dirty="0">
              <a:solidFill>
                <a:schemeClr val="tx1"/>
              </a:solidFill>
            </a:rPr>
            <a:t>隐私保护的数据</a:t>
          </a:r>
          <a:r>
            <a:rPr lang="zh-CN" altLang="en-US" sz="2600" kern="1200" dirty="0">
              <a:solidFill>
                <a:schemeClr val="tx1"/>
              </a:solidFill>
              <a:latin typeface="Palatino Linotype" pitchFamily="18" charset="0"/>
            </a:rPr>
            <a:t>挖掘</a:t>
          </a:r>
          <a:br>
            <a:rPr lang="en-US" altLang="zh-CN" sz="2600" kern="1200" dirty="0">
              <a:solidFill>
                <a:schemeClr val="tx1"/>
              </a:solidFill>
              <a:latin typeface="Palatino Linotype" pitchFamily="18" charset="0"/>
            </a:rPr>
          </a:br>
          <a:r>
            <a:rPr lang="en-US" altLang="zh-CN" sz="2000" kern="1200" dirty="0">
              <a:solidFill>
                <a:schemeClr val="tx1"/>
              </a:solidFill>
              <a:latin typeface="黑体" pitchFamily="49" charset="-122"/>
              <a:ea typeface="黑体" pitchFamily="49" charset="-122"/>
            </a:rPr>
            <a:t>          </a:t>
          </a:r>
          <a:r>
            <a:rPr lang="zh-CN" altLang="en-US" sz="2000" kern="1200" dirty="0">
              <a:solidFill>
                <a:schemeClr val="tx1"/>
              </a:solidFill>
              <a:latin typeface="黑体" pitchFamily="49" charset="-122"/>
              <a:ea typeface="黑体" pitchFamily="49" charset="-122"/>
            </a:rPr>
            <a:t>使用特殊通信协议避免访问个体数据</a:t>
          </a:r>
          <a:br>
            <a:rPr lang="en-US" altLang="zh-CN" sz="2000" kern="1200" dirty="0">
              <a:solidFill>
                <a:schemeClr val="tx1"/>
              </a:solidFill>
              <a:latin typeface="黑体" pitchFamily="49" charset="-122"/>
              <a:ea typeface="黑体" pitchFamily="49" charset="-122"/>
            </a:rPr>
          </a:br>
          <a:r>
            <a:rPr lang="en-US" altLang="zh-CN" sz="2000" kern="1200" dirty="0">
              <a:solidFill>
                <a:schemeClr val="tx1"/>
              </a:solidFill>
              <a:latin typeface="黑体" pitchFamily="49" charset="-122"/>
              <a:ea typeface="黑体" pitchFamily="49" charset="-122"/>
            </a:rPr>
            <a:t>          </a:t>
          </a:r>
          <a:r>
            <a:rPr lang="zh-CN" altLang="en-US" sz="2000" kern="1200" dirty="0">
              <a:solidFill>
                <a:schemeClr val="tx1"/>
              </a:solidFill>
              <a:latin typeface="黑体" pitchFamily="49" charset="-122"/>
              <a:ea typeface="黑体" pitchFamily="49" charset="-122"/>
            </a:rPr>
            <a:t>设计匿名数据的挖掘方法</a:t>
          </a:r>
          <a:endParaRPr lang="zh-CN" sz="2000" kern="1200" dirty="0">
            <a:solidFill>
              <a:schemeClr val="bg2">
                <a:lumMod val="50000"/>
              </a:schemeClr>
            </a:solidFill>
            <a:latin typeface="黑体" pitchFamily="49" charset="-122"/>
            <a:ea typeface="黑体" pitchFamily="49" charset="-122"/>
          </a:endParaRPr>
        </a:p>
        <a:p>
          <a:pPr marL="228600" lvl="1" indent="-228600" algn="l" defTabSz="889000" rtl="0">
            <a:lnSpc>
              <a:spcPct val="90000"/>
            </a:lnSpc>
            <a:spcBef>
              <a:spcPct val="0"/>
            </a:spcBef>
            <a:spcAft>
              <a:spcPct val="20000"/>
            </a:spcAft>
            <a:buChar char="•"/>
          </a:pPr>
          <a:endParaRPr lang="zh-CN" altLang="en-US" sz="2000" kern="1200" dirty="0">
            <a:solidFill>
              <a:schemeClr val="bg2">
                <a:lumMod val="50000"/>
              </a:schemeClr>
            </a:solidFill>
            <a:latin typeface="Palatino Linotype" pitchFamily="18" charset="0"/>
          </a:endParaRPr>
        </a:p>
      </dsp:txBody>
      <dsp:txXfrm>
        <a:off x="0" y="935359"/>
        <a:ext cx="8229600" cy="35286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57B77-29F1-45F6-9AEB-00CEEB7EA242}">
      <dsp:nvSpPr>
        <dsp:cNvPr id="0" name=""/>
        <dsp:cNvSpPr/>
      </dsp:nvSpPr>
      <dsp:spPr>
        <a:xfrm>
          <a:off x="3368724" y="379"/>
          <a:ext cx="2406550" cy="2406550"/>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800100" rtl="0">
            <a:lnSpc>
              <a:spcPct val="90000"/>
            </a:lnSpc>
            <a:spcBef>
              <a:spcPct val="0"/>
            </a:spcBef>
            <a:spcAft>
              <a:spcPct val="35000"/>
            </a:spcAft>
            <a:buNone/>
          </a:pPr>
          <a:r>
            <a:rPr lang="zh-CN" altLang="en-US" sz="1800" b="1" kern="1200" dirty="0">
              <a:solidFill>
                <a:schemeClr val="tx1"/>
              </a:solidFill>
              <a:latin typeface="黑体" pitchFamily="49" charset="-122"/>
              <a:ea typeface="黑体" pitchFamily="49" charset="-122"/>
            </a:rPr>
            <a:t>系统层</a:t>
          </a:r>
        </a:p>
        <a:p>
          <a:pPr marL="171450" lvl="1" indent="-171450" algn="l" defTabSz="711200" rtl="0">
            <a:lnSpc>
              <a:spcPct val="90000"/>
            </a:lnSpc>
            <a:spcBef>
              <a:spcPct val="0"/>
            </a:spcBef>
            <a:spcAft>
              <a:spcPct val="15000"/>
            </a:spcAft>
            <a:buChar char="•"/>
          </a:pPr>
          <a:r>
            <a:rPr lang="zh-CN" altLang="en-US" sz="1600" kern="1200" dirty="0">
              <a:solidFill>
                <a:schemeClr val="tx1"/>
              </a:solidFill>
            </a:rPr>
            <a:t>高性能计算环境</a:t>
          </a:r>
        </a:p>
        <a:p>
          <a:pPr marL="171450" lvl="1" indent="-171450" algn="l" defTabSz="711200" rtl="0">
            <a:lnSpc>
              <a:spcPct val="90000"/>
            </a:lnSpc>
            <a:spcBef>
              <a:spcPct val="0"/>
            </a:spcBef>
            <a:spcAft>
              <a:spcPct val="15000"/>
            </a:spcAft>
            <a:buChar char="•"/>
          </a:pPr>
          <a:r>
            <a:rPr lang="zh-CN" altLang="en-US" sz="1600" kern="1200" dirty="0">
              <a:solidFill>
                <a:schemeClr val="tx1"/>
              </a:solidFill>
            </a:rPr>
            <a:t>挑战：考虑样本、模型、数据源之间的复杂关系和动态演化</a:t>
          </a:r>
        </a:p>
      </dsp:txBody>
      <dsp:txXfrm>
        <a:off x="3721155" y="352810"/>
        <a:ext cx="1701688" cy="1701688"/>
      </dsp:txXfrm>
    </dsp:sp>
    <dsp:sp modelId="{61C2117E-464E-47CB-A8B1-670F69F9E66D}">
      <dsp:nvSpPr>
        <dsp:cNvPr id="0" name=""/>
        <dsp:cNvSpPr/>
      </dsp:nvSpPr>
      <dsp:spPr>
        <a:xfrm rot="3600000">
          <a:off x="5716602" y="1876236"/>
          <a:ext cx="644532" cy="81221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zh-CN" altLang="en-US" sz="3400" kern="1200"/>
        </a:p>
      </dsp:txBody>
      <dsp:txXfrm>
        <a:off x="5764942" y="1954951"/>
        <a:ext cx="451172" cy="487326"/>
      </dsp:txXfrm>
    </dsp:sp>
    <dsp:sp modelId="{546333CF-7FB1-4948-A2E9-D33E4A1EF681}">
      <dsp:nvSpPr>
        <dsp:cNvPr id="0" name=""/>
        <dsp:cNvSpPr/>
      </dsp:nvSpPr>
      <dsp:spPr>
        <a:xfrm>
          <a:off x="5180049" y="3137685"/>
          <a:ext cx="2406550" cy="240655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800100" rtl="0">
            <a:lnSpc>
              <a:spcPct val="90000"/>
            </a:lnSpc>
            <a:spcBef>
              <a:spcPct val="0"/>
            </a:spcBef>
            <a:spcAft>
              <a:spcPct val="35000"/>
            </a:spcAft>
            <a:buNone/>
          </a:pPr>
          <a:r>
            <a:rPr lang="zh-CN" altLang="en-US" sz="1800" b="1" kern="1200" dirty="0">
              <a:solidFill>
                <a:schemeClr val="tx1"/>
              </a:solidFill>
              <a:latin typeface="黑体" pitchFamily="49" charset="-122"/>
              <a:ea typeface="黑体" pitchFamily="49" charset="-122"/>
            </a:rPr>
            <a:t>数据层</a:t>
          </a:r>
        </a:p>
        <a:p>
          <a:pPr marL="171450" lvl="1" indent="-171450" algn="l" defTabSz="711200" rtl="0">
            <a:lnSpc>
              <a:spcPct val="90000"/>
            </a:lnSpc>
            <a:spcBef>
              <a:spcPct val="0"/>
            </a:spcBef>
            <a:spcAft>
              <a:spcPct val="15000"/>
            </a:spcAft>
            <a:buChar char="•"/>
          </a:pPr>
          <a:r>
            <a:rPr lang="zh-CN" altLang="en-US" sz="1600" kern="1200" dirty="0">
              <a:solidFill>
                <a:schemeClr val="tx1"/>
              </a:solidFill>
            </a:rPr>
            <a:t>复杂、不确定、噪声、隐私保护</a:t>
          </a:r>
        </a:p>
        <a:p>
          <a:pPr marL="171450" lvl="1" indent="-171450" algn="l" defTabSz="711200" rtl="0">
            <a:lnSpc>
              <a:spcPct val="90000"/>
            </a:lnSpc>
            <a:spcBef>
              <a:spcPct val="0"/>
            </a:spcBef>
            <a:spcAft>
              <a:spcPct val="15000"/>
            </a:spcAft>
            <a:buChar char="•"/>
          </a:pPr>
          <a:r>
            <a:rPr lang="zh-CN" altLang="en-US" sz="1600" kern="1200" dirty="0">
              <a:solidFill>
                <a:schemeClr val="tx1"/>
              </a:solidFill>
            </a:rPr>
            <a:t>挑战：设计安全可靠的信息共享协议</a:t>
          </a:r>
        </a:p>
      </dsp:txBody>
      <dsp:txXfrm>
        <a:off x="5532480" y="3490116"/>
        <a:ext cx="1701688" cy="1701688"/>
      </dsp:txXfrm>
    </dsp:sp>
    <dsp:sp modelId="{769EA0F5-A531-4066-8E77-B57AA86046DF}">
      <dsp:nvSpPr>
        <dsp:cNvPr id="0" name=""/>
        <dsp:cNvSpPr/>
      </dsp:nvSpPr>
      <dsp:spPr>
        <a:xfrm rot="10799641">
          <a:off x="4220112" y="4176497"/>
          <a:ext cx="649697" cy="81221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zh-CN" altLang="en-US" sz="3400" kern="1200"/>
        </a:p>
      </dsp:txBody>
      <dsp:txXfrm rot="10800000">
        <a:off x="4415021" y="4338929"/>
        <a:ext cx="454788" cy="487326"/>
      </dsp:txXfrm>
    </dsp:sp>
    <dsp:sp modelId="{7818D7E3-4763-44D2-9E3C-9F9C5B20C79C}">
      <dsp:nvSpPr>
        <dsp:cNvPr id="0" name=""/>
        <dsp:cNvSpPr/>
      </dsp:nvSpPr>
      <dsp:spPr>
        <a:xfrm>
          <a:off x="1547654" y="3138065"/>
          <a:ext cx="2406550" cy="2406550"/>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800100" rtl="0">
            <a:lnSpc>
              <a:spcPct val="90000"/>
            </a:lnSpc>
            <a:spcBef>
              <a:spcPct val="0"/>
            </a:spcBef>
            <a:spcAft>
              <a:spcPct val="35000"/>
            </a:spcAft>
            <a:buNone/>
          </a:pPr>
          <a:r>
            <a:rPr lang="zh-CN" altLang="en-US" sz="1800" b="1" kern="1200" dirty="0">
              <a:solidFill>
                <a:schemeClr val="tx1"/>
              </a:solidFill>
              <a:latin typeface="黑体" pitchFamily="49" charset="-122"/>
              <a:ea typeface="黑体" pitchFamily="49" charset="-122"/>
            </a:rPr>
            <a:t>模型层</a:t>
          </a:r>
        </a:p>
        <a:p>
          <a:pPr marL="171450" lvl="1" indent="-171450" algn="l" defTabSz="711200" rtl="0">
            <a:lnSpc>
              <a:spcPct val="90000"/>
            </a:lnSpc>
            <a:spcBef>
              <a:spcPct val="0"/>
            </a:spcBef>
            <a:spcAft>
              <a:spcPct val="15000"/>
            </a:spcAft>
            <a:buChar char="•"/>
          </a:pPr>
          <a:r>
            <a:rPr lang="zh-CN" altLang="en-US" sz="1600" kern="1200" dirty="0">
              <a:solidFill>
                <a:schemeClr val="tx1"/>
              </a:solidFill>
              <a:latin typeface="+mn-ea"/>
              <a:ea typeface="+mn-ea"/>
            </a:rPr>
            <a:t>挑战：分散的本地模型融合为全局模型</a:t>
          </a:r>
        </a:p>
      </dsp:txBody>
      <dsp:txXfrm>
        <a:off x="1900085" y="3490496"/>
        <a:ext cx="1701688" cy="1701688"/>
      </dsp:txXfrm>
    </dsp:sp>
    <dsp:sp modelId="{DDEFE779-950F-4DF6-8219-ED7E46BC631F}">
      <dsp:nvSpPr>
        <dsp:cNvPr id="0" name=""/>
        <dsp:cNvSpPr/>
      </dsp:nvSpPr>
      <dsp:spPr>
        <a:xfrm rot="18007818">
          <a:off x="2961845" y="1877861"/>
          <a:ext cx="647293" cy="812210"/>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zh-CN" altLang="en-US" sz="3400" kern="1200"/>
        </a:p>
      </dsp:txBody>
      <dsp:txXfrm>
        <a:off x="3010201" y="2124278"/>
        <a:ext cx="453105" cy="48732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pPr>
                <a:defRPr/>
              </a:pPr>
              <a:t>2/24/2025</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pPr>
                <a:defRPr/>
              </a:pPr>
              <a:t>‹#›</a:t>
            </a:fld>
            <a:endParaRPr lang="en-US"/>
          </a:p>
        </p:txBody>
      </p:sp>
    </p:spTree>
    <p:extLst>
      <p:ext uri="{BB962C8B-B14F-4D97-AF65-F5344CB8AC3E}">
        <p14:creationId xmlns:p14="http://schemas.microsoft.com/office/powerpoint/2010/main" val="2282946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pPr>
                <a:defRPr/>
              </a:pPr>
              <a:t>2025/2/24</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pPr>
                <a:defRPr/>
              </a:pPr>
              <a:t>‹#›</a:t>
            </a:fld>
            <a:endParaRPr lang="zh-CN" altLang="en-US"/>
          </a:p>
        </p:txBody>
      </p:sp>
    </p:spTree>
    <p:extLst>
      <p:ext uri="{BB962C8B-B14F-4D97-AF65-F5344CB8AC3E}">
        <p14:creationId xmlns:p14="http://schemas.microsoft.com/office/powerpoint/2010/main" val="345172626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第三次浪潮</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1980</a:t>
            </a:r>
            <a:r>
              <a:rPr lang="zh-CN" altLang="en-US" sz="1200" b="0" i="0" kern="1200" dirty="0">
                <a:solidFill>
                  <a:schemeClr val="tx1"/>
                </a:solidFill>
                <a:effectLst/>
                <a:latin typeface="+mn-lt"/>
                <a:ea typeface="+mn-ea"/>
                <a:cs typeface="+mn-cs"/>
              </a:rPr>
              <a:t>年中信出版社出版的图书，作者是托夫勒 。将人类社会划分为三个阶段：第一次浪潮为农业阶段，从约</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万年前开始；第二阶段为工业阶段，从</a:t>
            </a:r>
            <a:r>
              <a:rPr lang="en-US" altLang="zh-CN" sz="1200" b="0" i="0" kern="1200" dirty="0">
                <a:solidFill>
                  <a:schemeClr val="tx1"/>
                </a:solidFill>
                <a:effectLst/>
                <a:latin typeface="+mn-lt"/>
                <a:ea typeface="+mn-ea"/>
                <a:cs typeface="+mn-cs"/>
              </a:rPr>
              <a:t>17</a:t>
            </a:r>
            <a:r>
              <a:rPr lang="zh-CN" altLang="en-US" sz="1200" b="0" i="0" kern="1200" dirty="0">
                <a:solidFill>
                  <a:schemeClr val="tx1"/>
                </a:solidFill>
                <a:effectLst/>
                <a:latin typeface="+mn-lt"/>
                <a:ea typeface="+mn-ea"/>
                <a:cs typeface="+mn-cs"/>
              </a:rPr>
              <a:t>世纪末开始；第三阶段为信息化（或者服务业）阶段，从</a:t>
            </a:r>
            <a:r>
              <a:rPr lang="en-US" altLang="zh-CN" sz="1200" b="0" i="0" kern="1200" dirty="0">
                <a:solidFill>
                  <a:schemeClr val="tx1"/>
                </a:solidFill>
                <a:effectLst/>
                <a:latin typeface="+mn-lt"/>
                <a:ea typeface="+mn-ea"/>
                <a:cs typeface="+mn-cs"/>
              </a:rPr>
              <a:t>20</a:t>
            </a:r>
            <a:r>
              <a:rPr lang="zh-CN" altLang="en-US" sz="1200" b="0" i="0" kern="1200" dirty="0">
                <a:solidFill>
                  <a:schemeClr val="tx1"/>
                </a:solidFill>
                <a:effectLst/>
                <a:latin typeface="+mn-lt"/>
                <a:ea typeface="+mn-ea"/>
                <a:cs typeface="+mn-cs"/>
              </a:rPr>
              <a:t>世纪</a:t>
            </a:r>
            <a:r>
              <a:rPr lang="en-US" altLang="zh-CN" sz="1200" b="0" i="0" kern="1200" dirty="0">
                <a:solidFill>
                  <a:schemeClr val="tx1"/>
                </a:solidFill>
                <a:effectLst/>
                <a:latin typeface="+mn-lt"/>
                <a:ea typeface="+mn-ea"/>
                <a:cs typeface="+mn-cs"/>
              </a:rPr>
              <a:t>50</a:t>
            </a:r>
            <a:r>
              <a:rPr lang="zh-CN" altLang="en-US" sz="1200" b="0" i="0" kern="1200" dirty="0">
                <a:solidFill>
                  <a:schemeClr val="tx1"/>
                </a:solidFill>
                <a:effectLst/>
                <a:latin typeface="+mn-lt"/>
                <a:ea typeface="+mn-ea"/>
                <a:cs typeface="+mn-cs"/>
              </a:rPr>
              <a:t>年代后期开始。 托夫勒也许并没有给我们带来直接财富，但他也许给了人们一个梦想。</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大数据时代</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是国外大数据研究的先河之作，作者维克托</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迈尔</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舍恩伯格被誉为“大数据商业应用第一人”，大数据时代最大的转变就是，放弃对因果关系的渴求，而取而代之关注相关关系。也就是说只要知道“是什么”，而不需要知道“为什么”。这就颠覆了千百年来人类的思维惯例，对人类的认知和与世界交流的方式提出了全新的挑战。</a:t>
            </a:r>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9</a:t>
            </a:fld>
            <a:endParaRPr lang="zh-CN" altLang="en-US"/>
          </a:p>
        </p:txBody>
      </p:sp>
    </p:spTree>
    <p:extLst>
      <p:ext uri="{BB962C8B-B14F-4D97-AF65-F5344CB8AC3E}">
        <p14:creationId xmlns:p14="http://schemas.microsoft.com/office/powerpoint/2010/main" val="2578621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秒定律”或者秒级定律，就是说对处理速度有要求，一般要在秒级时间范围内给出分析结果，时间太长就失去价值了。这个速度要求是大数据处理技术和传统的数据挖掘技术最大的区别。</a:t>
            </a:r>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21</a:t>
            </a:fld>
            <a:endParaRPr lang="zh-CN" altLang="en-US"/>
          </a:p>
        </p:txBody>
      </p:sp>
    </p:spTree>
    <p:extLst>
      <p:ext uri="{BB962C8B-B14F-4D97-AF65-F5344CB8AC3E}">
        <p14:creationId xmlns:p14="http://schemas.microsoft.com/office/powerpoint/2010/main" val="1757306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27</a:t>
            </a:fld>
            <a:endParaRPr lang="zh-CN" altLang="en-US"/>
          </a:p>
        </p:txBody>
      </p:sp>
    </p:spTree>
    <p:extLst>
      <p:ext uri="{BB962C8B-B14F-4D97-AF65-F5344CB8AC3E}">
        <p14:creationId xmlns:p14="http://schemas.microsoft.com/office/powerpoint/2010/main" val="1642608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手机定位信息，可以得到每天都路线图，结合时间信息，可以推测出办公地点、家庭住址，结合所到地方的语义信息，可以推测出你的职业信息。</a:t>
            </a:r>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31</a:t>
            </a:fld>
            <a:endParaRPr lang="zh-CN" altLang="en-US"/>
          </a:p>
        </p:txBody>
      </p:sp>
    </p:spTree>
    <p:extLst>
      <p:ext uri="{BB962C8B-B14F-4D97-AF65-F5344CB8AC3E}">
        <p14:creationId xmlns:p14="http://schemas.microsoft.com/office/powerpoint/2010/main" val="1685130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Spark</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UC Berkeley AMP lab</a:t>
            </a:r>
            <a:r>
              <a:rPr lang="zh-CN" altLang="en-US" sz="1200" b="0" i="0" kern="1200" dirty="0">
                <a:solidFill>
                  <a:schemeClr val="tx1"/>
                </a:solidFill>
                <a:effectLst/>
                <a:latin typeface="+mn-lt"/>
                <a:ea typeface="+mn-ea"/>
                <a:cs typeface="+mn-cs"/>
              </a:rPr>
              <a:t>所开源的类</a:t>
            </a:r>
            <a:r>
              <a:rPr lang="en-US" altLang="zh-CN" sz="1200" b="0" i="0" kern="1200" dirty="0">
                <a:solidFill>
                  <a:schemeClr val="tx1"/>
                </a:solidFill>
                <a:effectLst/>
                <a:latin typeface="+mn-lt"/>
                <a:ea typeface="+mn-ea"/>
                <a:cs typeface="+mn-cs"/>
              </a:rPr>
              <a:t>Hadoop </a:t>
            </a:r>
            <a:r>
              <a:rPr lang="en-US" altLang="zh-CN" sz="1200" b="0" i="0" kern="1200" dirty="0" err="1">
                <a:solidFill>
                  <a:schemeClr val="tx1"/>
                </a:solidFill>
                <a:effectLst/>
                <a:latin typeface="+mn-lt"/>
                <a:ea typeface="+mn-ea"/>
                <a:cs typeface="+mn-cs"/>
              </a:rPr>
              <a:t>MapReduce</a:t>
            </a:r>
            <a:r>
              <a:rPr lang="zh-CN" altLang="en-US" sz="1200" b="0" i="0" kern="1200" dirty="0">
                <a:solidFill>
                  <a:schemeClr val="tx1"/>
                </a:solidFill>
                <a:effectLst/>
                <a:latin typeface="+mn-lt"/>
                <a:ea typeface="+mn-ea"/>
                <a:cs typeface="+mn-cs"/>
              </a:rPr>
              <a:t>的通用并行框架，</a:t>
            </a:r>
            <a:r>
              <a:rPr lang="en-US" altLang="zh-CN" sz="1200" b="0" i="0" kern="1200" dirty="0">
                <a:solidFill>
                  <a:schemeClr val="tx1"/>
                </a:solidFill>
                <a:effectLst/>
                <a:latin typeface="+mn-lt"/>
                <a:ea typeface="+mn-ea"/>
                <a:cs typeface="+mn-cs"/>
              </a:rPr>
              <a:t>Spark</a:t>
            </a:r>
            <a:r>
              <a:rPr lang="zh-CN" altLang="en-US" sz="1200" b="0" i="0" kern="1200" dirty="0">
                <a:solidFill>
                  <a:schemeClr val="tx1"/>
                </a:solidFill>
                <a:effectLst/>
                <a:latin typeface="+mn-lt"/>
                <a:ea typeface="+mn-ea"/>
                <a:cs typeface="+mn-cs"/>
              </a:rPr>
              <a:t>，拥有</a:t>
            </a:r>
            <a:r>
              <a:rPr lang="en-US" altLang="zh-CN" sz="1200" b="0" i="0" kern="1200" dirty="0">
                <a:solidFill>
                  <a:schemeClr val="tx1"/>
                </a:solidFill>
                <a:effectLst/>
                <a:latin typeface="+mn-lt"/>
                <a:ea typeface="+mn-ea"/>
                <a:cs typeface="+mn-cs"/>
              </a:rPr>
              <a:t>Hadoop </a:t>
            </a:r>
            <a:r>
              <a:rPr lang="en-US" altLang="zh-CN" sz="1200" b="0" i="0" kern="1200" dirty="0" err="1">
                <a:solidFill>
                  <a:schemeClr val="tx1"/>
                </a:solidFill>
                <a:effectLst/>
                <a:latin typeface="+mn-lt"/>
                <a:ea typeface="+mn-ea"/>
                <a:cs typeface="+mn-cs"/>
              </a:rPr>
              <a:t>MapReduce</a:t>
            </a:r>
            <a:r>
              <a:rPr lang="zh-CN" altLang="en-US" sz="1200" b="0" i="0" kern="1200" dirty="0">
                <a:solidFill>
                  <a:schemeClr val="tx1"/>
                </a:solidFill>
                <a:effectLst/>
                <a:latin typeface="+mn-lt"/>
                <a:ea typeface="+mn-ea"/>
                <a:cs typeface="+mn-cs"/>
              </a:rPr>
              <a:t>所具有的优点；但不同于</a:t>
            </a:r>
            <a:r>
              <a:rPr lang="en-US" altLang="zh-CN" sz="1200" b="0" i="0" kern="1200" dirty="0" err="1">
                <a:solidFill>
                  <a:schemeClr val="tx1"/>
                </a:solidFill>
                <a:effectLst/>
                <a:latin typeface="+mn-lt"/>
                <a:ea typeface="+mn-ea"/>
                <a:cs typeface="+mn-cs"/>
              </a:rPr>
              <a:t>MapReduce</a:t>
            </a:r>
            <a:r>
              <a:rPr lang="zh-CN" altLang="en-US" sz="1200" b="0" i="0" kern="1200" dirty="0">
                <a:solidFill>
                  <a:schemeClr val="tx1"/>
                </a:solidFill>
                <a:effectLst/>
                <a:latin typeface="+mn-lt"/>
                <a:ea typeface="+mn-ea"/>
                <a:cs typeface="+mn-cs"/>
              </a:rPr>
              <a:t>的是</a:t>
            </a:r>
            <a:r>
              <a:rPr lang="en-US" altLang="zh-CN" sz="1200" b="0" i="0" kern="1200" dirty="0">
                <a:solidFill>
                  <a:schemeClr val="tx1"/>
                </a:solidFill>
                <a:effectLst/>
                <a:latin typeface="+mn-lt"/>
                <a:ea typeface="+mn-ea"/>
                <a:cs typeface="+mn-cs"/>
              </a:rPr>
              <a:t>Job</a:t>
            </a:r>
            <a:r>
              <a:rPr lang="zh-CN" altLang="en-US" sz="1200" b="0" i="0" kern="1200" dirty="0">
                <a:solidFill>
                  <a:schemeClr val="tx1"/>
                </a:solidFill>
                <a:effectLst/>
                <a:latin typeface="+mn-lt"/>
                <a:ea typeface="+mn-ea"/>
                <a:cs typeface="+mn-cs"/>
              </a:rPr>
              <a:t>中间输出结果可以保存在内存中，从而不再需要读写</a:t>
            </a:r>
            <a:r>
              <a:rPr lang="en-US" altLang="zh-CN" sz="1200" b="0" i="0" kern="1200" dirty="0">
                <a:solidFill>
                  <a:schemeClr val="tx1"/>
                </a:solidFill>
                <a:effectLst/>
                <a:latin typeface="+mn-lt"/>
                <a:ea typeface="+mn-ea"/>
                <a:cs typeface="+mn-cs"/>
              </a:rPr>
              <a:t>HDFS</a:t>
            </a:r>
            <a:r>
              <a:rPr lang="zh-CN" altLang="en-US" sz="1200" b="0" i="0" kern="1200" dirty="0">
                <a:solidFill>
                  <a:schemeClr val="tx1"/>
                </a:solidFill>
                <a:effectLst/>
                <a:latin typeface="+mn-lt"/>
                <a:ea typeface="+mn-ea"/>
                <a:cs typeface="+mn-cs"/>
              </a:rPr>
              <a:t>，因此</a:t>
            </a:r>
            <a:r>
              <a:rPr lang="en-US" altLang="zh-CN" sz="1200" b="0" i="0" kern="1200" dirty="0">
                <a:solidFill>
                  <a:schemeClr val="tx1"/>
                </a:solidFill>
                <a:effectLst/>
                <a:latin typeface="+mn-lt"/>
                <a:ea typeface="+mn-ea"/>
                <a:cs typeface="+mn-cs"/>
              </a:rPr>
              <a:t>Spark</a:t>
            </a:r>
            <a:r>
              <a:rPr lang="zh-CN" altLang="en-US" sz="1200" b="0" i="0" kern="1200" dirty="0">
                <a:solidFill>
                  <a:schemeClr val="tx1"/>
                </a:solidFill>
                <a:effectLst/>
                <a:latin typeface="+mn-lt"/>
                <a:ea typeface="+mn-ea"/>
                <a:cs typeface="+mn-cs"/>
              </a:rPr>
              <a:t>能更好地适用于数据挖掘与机器学习等需要迭代的</a:t>
            </a:r>
            <a:r>
              <a:rPr lang="en-US" altLang="zh-CN" sz="1200" b="0" i="0" kern="1200" dirty="0" err="1">
                <a:solidFill>
                  <a:schemeClr val="tx1"/>
                </a:solidFill>
                <a:effectLst/>
                <a:latin typeface="+mn-lt"/>
                <a:ea typeface="+mn-ea"/>
                <a:cs typeface="+mn-cs"/>
              </a:rPr>
              <a:t>MapReduce</a:t>
            </a:r>
            <a:r>
              <a:rPr lang="zh-CN" altLang="en-US" sz="1200" b="0" i="0" kern="1200" dirty="0">
                <a:solidFill>
                  <a:schemeClr val="tx1"/>
                </a:solidFill>
                <a:effectLst/>
                <a:latin typeface="+mn-lt"/>
                <a:ea typeface="+mn-ea"/>
                <a:cs typeface="+mn-cs"/>
              </a:rPr>
              <a:t>的算法。</a:t>
            </a:r>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36</a:t>
            </a:fld>
            <a:endParaRPr lang="zh-CN" altLang="en-US"/>
          </a:p>
        </p:txBody>
      </p:sp>
    </p:spTree>
    <p:extLst>
      <p:ext uri="{BB962C8B-B14F-4D97-AF65-F5344CB8AC3E}">
        <p14:creationId xmlns:p14="http://schemas.microsoft.com/office/powerpoint/2010/main" val="1289681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rgbClr val="C9C9FF"/>
                </a:solidFill>
                <a:latin typeface="宋体" pitchFamily="2" charset="-122"/>
                <a:ea typeface="宋体" pitchFamily="2" charset="-122"/>
              </a:defRPr>
            </a:lvl1pPr>
            <a:lvl2pPr marL="742950" indent="-285750">
              <a:defRPr kumimoji="1" sz="2200">
                <a:solidFill>
                  <a:srgbClr val="C9C9FF"/>
                </a:solidFill>
                <a:latin typeface="宋体" pitchFamily="2" charset="-122"/>
                <a:ea typeface="宋体" pitchFamily="2" charset="-122"/>
              </a:defRPr>
            </a:lvl2pPr>
            <a:lvl3pPr marL="1143000" indent="-228600">
              <a:defRPr kumimoji="1" sz="2200">
                <a:solidFill>
                  <a:srgbClr val="C9C9FF"/>
                </a:solidFill>
                <a:latin typeface="宋体" pitchFamily="2" charset="-122"/>
                <a:ea typeface="宋体" pitchFamily="2" charset="-122"/>
              </a:defRPr>
            </a:lvl3pPr>
            <a:lvl4pPr marL="1600200" indent="-228600">
              <a:defRPr kumimoji="1" sz="2200">
                <a:solidFill>
                  <a:srgbClr val="C9C9FF"/>
                </a:solidFill>
                <a:latin typeface="宋体" pitchFamily="2" charset="-122"/>
                <a:ea typeface="宋体" pitchFamily="2" charset="-122"/>
              </a:defRPr>
            </a:lvl4pPr>
            <a:lvl5pPr marL="2057400" indent="-228600">
              <a:defRPr kumimoji="1" sz="2200">
                <a:solidFill>
                  <a:srgbClr val="C9C9FF"/>
                </a:solidFill>
                <a:latin typeface="宋体" pitchFamily="2" charset="-122"/>
                <a:ea typeface="宋体" pitchFamily="2" charset="-122"/>
              </a:defRPr>
            </a:lvl5pPr>
            <a:lvl6pPr marL="2514600" indent="-228600" eaLnBrk="0" fontAlgn="base" hangingPunct="0">
              <a:spcBef>
                <a:spcPct val="0"/>
              </a:spcBef>
              <a:spcAft>
                <a:spcPct val="0"/>
              </a:spcAft>
              <a:defRPr kumimoji="1" sz="2200">
                <a:solidFill>
                  <a:srgbClr val="C9C9FF"/>
                </a:solidFill>
                <a:latin typeface="宋体" pitchFamily="2" charset="-122"/>
                <a:ea typeface="宋体" pitchFamily="2" charset="-122"/>
              </a:defRPr>
            </a:lvl6pPr>
            <a:lvl7pPr marL="2971800" indent="-228600" eaLnBrk="0" fontAlgn="base" hangingPunct="0">
              <a:spcBef>
                <a:spcPct val="0"/>
              </a:spcBef>
              <a:spcAft>
                <a:spcPct val="0"/>
              </a:spcAft>
              <a:defRPr kumimoji="1" sz="2200">
                <a:solidFill>
                  <a:srgbClr val="C9C9FF"/>
                </a:solidFill>
                <a:latin typeface="宋体" pitchFamily="2" charset="-122"/>
                <a:ea typeface="宋体" pitchFamily="2" charset="-122"/>
              </a:defRPr>
            </a:lvl7pPr>
            <a:lvl8pPr marL="3429000" indent="-228600" eaLnBrk="0" fontAlgn="base" hangingPunct="0">
              <a:spcBef>
                <a:spcPct val="0"/>
              </a:spcBef>
              <a:spcAft>
                <a:spcPct val="0"/>
              </a:spcAft>
              <a:defRPr kumimoji="1" sz="2200">
                <a:solidFill>
                  <a:srgbClr val="C9C9FF"/>
                </a:solidFill>
                <a:latin typeface="宋体" pitchFamily="2" charset="-122"/>
                <a:ea typeface="宋体" pitchFamily="2" charset="-122"/>
              </a:defRPr>
            </a:lvl8pPr>
            <a:lvl9pPr marL="3886200" indent="-228600" eaLnBrk="0" fontAlgn="base" hangingPunct="0">
              <a:spcBef>
                <a:spcPct val="0"/>
              </a:spcBef>
              <a:spcAft>
                <a:spcPct val="0"/>
              </a:spcAft>
              <a:defRPr kumimoji="1" sz="2200">
                <a:solidFill>
                  <a:srgbClr val="C9C9FF"/>
                </a:solidFill>
                <a:latin typeface="宋体" pitchFamily="2" charset="-122"/>
                <a:ea typeface="宋体" pitchFamily="2" charset="-122"/>
              </a:defRPr>
            </a:lvl9pPr>
          </a:lstStyle>
          <a:p>
            <a:fld id="{135CE009-BBAA-4384-B972-CBD478653EAB}" type="slidenum">
              <a:rPr lang="zh-CN" altLang="en-US" sz="1200">
                <a:solidFill>
                  <a:schemeClr val="tx1"/>
                </a:solidFill>
                <a:latin typeface="Gulim" pitchFamily="34" charset="-127"/>
                <a:ea typeface="Gulim" pitchFamily="34" charset="-127"/>
              </a:rPr>
              <a:pPr/>
              <a:t>58</a:t>
            </a:fld>
            <a:endParaRPr lang="en-US" altLang="zh-CN" sz="1200">
              <a:solidFill>
                <a:schemeClr val="tx1"/>
              </a:solidFill>
              <a:latin typeface="Gulim" pitchFamily="34" charset="-127"/>
              <a:ea typeface="Gulim" pitchFamily="34" charset="-127"/>
            </a:endParaRPr>
          </a:p>
        </p:txBody>
      </p:sp>
    </p:spTree>
    <p:extLst>
      <p:ext uri="{BB962C8B-B14F-4D97-AF65-F5344CB8AC3E}">
        <p14:creationId xmlns:p14="http://schemas.microsoft.com/office/powerpoint/2010/main" val="3706884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297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a:solidFill>
                  <a:srgbClr val="C9C9FF"/>
                </a:solidFill>
                <a:latin typeface="宋体" pitchFamily="2" charset="-122"/>
                <a:ea typeface="宋体" pitchFamily="2" charset="-122"/>
              </a:defRPr>
            </a:lvl1pPr>
            <a:lvl2pPr marL="742950" indent="-285750">
              <a:defRPr kumimoji="1" sz="2200">
                <a:solidFill>
                  <a:srgbClr val="C9C9FF"/>
                </a:solidFill>
                <a:latin typeface="宋体" pitchFamily="2" charset="-122"/>
                <a:ea typeface="宋体" pitchFamily="2" charset="-122"/>
              </a:defRPr>
            </a:lvl2pPr>
            <a:lvl3pPr marL="1143000" indent="-228600">
              <a:defRPr kumimoji="1" sz="2200">
                <a:solidFill>
                  <a:srgbClr val="C9C9FF"/>
                </a:solidFill>
                <a:latin typeface="宋体" pitchFamily="2" charset="-122"/>
                <a:ea typeface="宋体" pitchFamily="2" charset="-122"/>
              </a:defRPr>
            </a:lvl3pPr>
            <a:lvl4pPr marL="1600200" indent="-228600">
              <a:defRPr kumimoji="1" sz="2200">
                <a:solidFill>
                  <a:srgbClr val="C9C9FF"/>
                </a:solidFill>
                <a:latin typeface="宋体" pitchFamily="2" charset="-122"/>
                <a:ea typeface="宋体" pitchFamily="2" charset="-122"/>
              </a:defRPr>
            </a:lvl4pPr>
            <a:lvl5pPr marL="2057400" indent="-228600">
              <a:defRPr kumimoji="1" sz="2200">
                <a:solidFill>
                  <a:srgbClr val="C9C9FF"/>
                </a:solidFill>
                <a:latin typeface="宋体" pitchFamily="2" charset="-122"/>
                <a:ea typeface="宋体" pitchFamily="2" charset="-122"/>
              </a:defRPr>
            </a:lvl5pPr>
            <a:lvl6pPr marL="2514600" indent="-228600" eaLnBrk="0" fontAlgn="base" hangingPunct="0">
              <a:spcBef>
                <a:spcPct val="0"/>
              </a:spcBef>
              <a:spcAft>
                <a:spcPct val="0"/>
              </a:spcAft>
              <a:defRPr kumimoji="1" sz="2200">
                <a:solidFill>
                  <a:srgbClr val="C9C9FF"/>
                </a:solidFill>
                <a:latin typeface="宋体" pitchFamily="2" charset="-122"/>
                <a:ea typeface="宋体" pitchFamily="2" charset="-122"/>
              </a:defRPr>
            </a:lvl6pPr>
            <a:lvl7pPr marL="2971800" indent="-228600" eaLnBrk="0" fontAlgn="base" hangingPunct="0">
              <a:spcBef>
                <a:spcPct val="0"/>
              </a:spcBef>
              <a:spcAft>
                <a:spcPct val="0"/>
              </a:spcAft>
              <a:defRPr kumimoji="1" sz="2200">
                <a:solidFill>
                  <a:srgbClr val="C9C9FF"/>
                </a:solidFill>
                <a:latin typeface="宋体" pitchFamily="2" charset="-122"/>
                <a:ea typeface="宋体" pitchFamily="2" charset="-122"/>
              </a:defRPr>
            </a:lvl7pPr>
            <a:lvl8pPr marL="3429000" indent="-228600" eaLnBrk="0" fontAlgn="base" hangingPunct="0">
              <a:spcBef>
                <a:spcPct val="0"/>
              </a:spcBef>
              <a:spcAft>
                <a:spcPct val="0"/>
              </a:spcAft>
              <a:defRPr kumimoji="1" sz="2200">
                <a:solidFill>
                  <a:srgbClr val="C9C9FF"/>
                </a:solidFill>
                <a:latin typeface="宋体" pitchFamily="2" charset="-122"/>
                <a:ea typeface="宋体" pitchFamily="2" charset="-122"/>
              </a:defRPr>
            </a:lvl8pPr>
            <a:lvl9pPr marL="3886200" indent="-228600" eaLnBrk="0" fontAlgn="base" hangingPunct="0">
              <a:spcBef>
                <a:spcPct val="0"/>
              </a:spcBef>
              <a:spcAft>
                <a:spcPct val="0"/>
              </a:spcAft>
              <a:defRPr kumimoji="1" sz="2200">
                <a:solidFill>
                  <a:srgbClr val="C9C9FF"/>
                </a:solidFill>
                <a:latin typeface="宋体" pitchFamily="2" charset="-122"/>
                <a:ea typeface="宋体" pitchFamily="2" charset="-122"/>
              </a:defRPr>
            </a:lvl9pPr>
          </a:lstStyle>
          <a:p>
            <a:fld id="{51EC835E-24AC-43A5-8006-38E5B3B8A542}" type="slidenum">
              <a:rPr lang="zh-CN" altLang="en-US" sz="1200">
                <a:solidFill>
                  <a:schemeClr val="tx1"/>
                </a:solidFill>
                <a:latin typeface="Gulim" pitchFamily="34" charset="-127"/>
                <a:ea typeface="Gulim" pitchFamily="34" charset="-127"/>
              </a:rPr>
              <a:pPr/>
              <a:t>59</a:t>
            </a:fld>
            <a:endParaRPr lang="en-US" altLang="zh-CN" sz="1200">
              <a:solidFill>
                <a:schemeClr val="tx1"/>
              </a:solidFill>
              <a:latin typeface="Gulim" pitchFamily="34" charset="-127"/>
              <a:ea typeface="Gulim" pitchFamily="34" charset="-127"/>
            </a:endParaRPr>
          </a:p>
        </p:txBody>
      </p:sp>
    </p:spTree>
    <p:extLst>
      <p:ext uri="{BB962C8B-B14F-4D97-AF65-F5344CB8AC3E}">
        <p14:creationId xmlns:p14="http://schemas.microsoft.com/office/powerpoint/2010/main" val="30575203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8" name="灯片编号占位符 5"/>
          <p:cNvSpPr>
            <a:spLocks noGrp="1"/>
          </p:cNvSpPr>
          <p:nvPr>
            <p:ph type="sldNum" sz="quarter" idx="12"/>
          </p:nvPr>
        </p:nvSpPr>
        <p:spPr/>
        <p:txBody>
          <a:bodyPr/>
          <a:lstStyle>
            <a:lvl1pPr>
              <a:defRPr/>
            </a:lvl1pPr>
          </a:lstStyle>
          <a:p>
            <a:pPr>
              <a:defRPr/>
            </a:pPr>
            <a:fld id="{2899C85F-AD70-4F82-8429-55D99E811414}" type="slidenum">
              <a:rPr lang="zh-CN" altLang="en-US" smtClean="0"/>
              <a:pPr>
                <a:defRPr/>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itchFamily="2" charset="-122"/>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6557423" y="6549618"/>
            <a:ext cx="2133600" cy="365125"/>
          </a:xfrm>
        </p:spPr>
        <p:txBody>
          <a:bodyPr/>
          <a:lstStyle>
            <a:lvl1pPr>
              <a:defRPr/>
            </a:lvl1pPr>
          </a:lstStyle>
          <a:p>
            <a:pPr>
              <a:defRPr/>
            </a:pPr>
            <a:fld id="{73B3C56C-5700-4E55-BF40-61423C59FA56}" type="slidenum">
              <a:rPr lang="zh-CN" altLang="en-US" smtClean="0"/>
              <a:pPr>
                <a:defRPr/>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6" name="灯片编号占位符 5"/>
          <p:cNvSpPr>
            <a:spLocks noGrp="1"/>
          </p:cNvSpPr>
          <p:nvPr>
            <p:ph type="sldNum" sz="quarter" idx="12"/>
          </p:nvPr>
        </p:nvSpPr>
        <p:spPr/>
        <p:txBody>
          <a:bodyPr/>
          <a:lstStyle>
            <a:lvl1pPr>
              <a:defRPr/>
            </a:lvl1pPr>
          </a:lstStyle>
          <a:p>
            <a:pPr>
              <a:defRPr/>
            </a:pPr>
            <a:fld id="{1A67AA58-F0FF-4A41-ACBA-BBD724059C41}" type="slidenum">
              <a:rPr lang="zh-CN" altLang="en-US" smtClean="0"/>
              <a:pPr>
                <a:defRPr/>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5"/>
          <p:cNvSpPr>
            <a:spLocks noGrp="1"/>
          </p:cNvSpPr>
          <p:nvPr>
            <p:ph type="sldNum" sz="quarter" idx="12"/>
          </p:nvPr>
        </p:nvSpPr>
        <p:spPr/>
        <p:txBody>
          <a:bodyPr/>
          <a:lstStyle>
            <a:lvl1pPr>
              <a:defRPr/>
            </a:lvl1pPr>
          </a:lstStyle>
          <a:p>
            <a:pPr>
              <a:defRPr/>
            </a:pPr>
            <a:fld id="{4120E854-F7E3-4995-96B0-05AE77D8A5A4}" type="slidenum">
              <a:rPr lang="zh-CN" altLang="en-US" smtClean="0"/>
              <a:pPr>
                <a:defRPr/>
              </a:pPr>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5"/>
          <p:cNvSpPr>
            <a:spLocks noGrp="1"/>
          </p:cNvSpPr>
          <p:nvPr>
            <p:ph type="sldNum" sz="quarter" idx="12"/>
          </p:nvPr>
        </p:nvSpPr>
        <p:spPr/>
        <p:txBody>
          <a:bodyPr/>
          <a:lstStyle>
            <a:lvl1pPr>
              <a:defRPr/>
            </a:lvl1pPr>
          </a:lstStyle>
          <a:p>
            <a:pPr>
              <a:defRPr/>
            </a:pPr>
            <a:fld id="{9939D9EC-214F-4768-9A42-9B0DE6BEFD14}" type="slidenum">
              <a:rPr lang="zh-CN" altLang="en-US" smtClean="0"/>
              <a:pPr>
                <a:defRPr/>
              </a:pPr>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灯片编号占位符 5"/>
          <p:cNvSpPr>
            <a:spLocks noGrp="1"/>
          </p:cNvSpPr>
          <p:nvPr>
            <p:ph type="sldNum" sz="quarter" idx="12"/>
          </p:nvPr>
        </p:nvSpPr>
        <p:spPr/>
        <p:txBody>
          <a:bodyPr/>
          <a:lstStyle>
            <a:lvl1pPr>
              <a:defRPr/>
            </a:lvl1pPr>
          </a:lstStyle>
          <a:p>
            <a:pPr>
              <a:defRPr/>
            </a:pPr>
            <a:fld id="{9B352147-1557-45E1-A098-82924CC86096}" type="slidenum">
              <a:rPr lang="zh-CN" altLang="en-US" smtClean="0"/>
              <a:pPr>
                <a:defRPr/>
              </a:pPr>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lvl1pPr>
              <a:defRPr/>
            </a:lvl1pPr>
          </a:lstStyle>
          <a:p>
            <a:pPr>
              <a:defRPr/>
            </a:pPr>
            <a:fld id="{A8985DC7-D391-4B07-9DEA-D197F642A36A}" type="slidenum">
              <a:rPr lang="zh-CN" altLang="en-US" smtClean="0"/>
              <a:pPr>
                <a:defRPr/>
              </a:pPr>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灯片编号占位符 5"/>
          <p:cNvSpPr>
            <a:spLocks noGrp="1"/>
          </p:cNvSpPr>
          <p:nvPr>
            <p:ph type="sldNum" sz="quarter" idx="12"/>
          </p:nvPr>
        </p:nvSpPr>
        <p:spPr/>
        <p:txBody>
          <a:bodyPr/>
          <a:lstStyle>
            <a:lvl1pPr>
              <a:defRPr/>
            </a:lvl1pPr>
          </a:lstStyle>
          <a:p>
            <a:pPr>
              <a:defRPr/>
            </a:pPr>
            <a:fld id="{F1C4E7D9-C0B9-4FD0-A659-9B26FA687BCE}" type="slidenum">
              <a:rPr lang="zh-CN" altLang="en-US" smtClean="0"/>
              <a:pPr>
                <a:defRPr/>
              </a:pPr>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灯片编号占位符 5"/>
          <p:cNvSpPr>
            <a:spLocks noGrp="1"/>
          </p:cNvSpPr>
          <p:nvPr>
            <p:ph type="sldNum" sz="quarter" idx="12"/>
          </p:nvPr>
        </p:nvSpPr>
        <p:spPr/>
        <p:txBody>
          <a:bodyPr/>
          <a:lstStyle>
            <a:lvl1pPr>
              <a:defRPr/>
            </a:lvl1pPr>
          </a:lstStyle>
          <a:p>
            <a:pPr>
              <a:defRPr/>
            </a:pPr>
            <a:fld id="{3A71BB90-9BC6-498E-93A9-6475A9ACC437}" type="slidenum">
              <a:rPr lang="zh-CN" altLang="en-US" smtClean="0"/>
              <a:pPr>
                <a:defRPr/>
              </a:pPr>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lvl1pPr>
              <a:defRPr/>
            </a:lvl1pPr>
          </a:lstStyle>
          <a:p>
            <a:pPr>
              <a:defRPr/>
            </a:pPr>
            <a:fld id="{D370A479-1673-4AA3-8929-FDAFB60BD359}" type="slidenum">
              <a:rPr lang="zh-CN" altLang="en-US" smtClean="0"/>
              <a:pPr>
                <a:defRPr/>
              </a:pPr>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lvl1pPr>
              <a:defRPr/>
            </a:lvl1pPr>
          </a:lstStyle>
          <a:p>
            <a:pPr>
              <a:defRPr/>
            </a:pPr>
            <a:fld id="{58601A46-4FFA-4F55-8FCD-BC0F7678811C}" type="slidenum">
              <a:rPr lang="zh-CN" altLang="en-US" smtClean="0"/>
              <a:pPr>
                <a:defRPr/>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53284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1" name="图片 2"/>
          <p:cNvPicPr>
            <a:picLocks noChangeAspect="1"/>
          </p:cNvPicPr>
          <p:nvPr userDrawn="1"/>
        </p:nvPicPr>
        <p:blipFill>
          <a:blip r:embed="rId13"/>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日期占位符 3"/>
          <p:cNvSpPr>
            <a:spLocks noGrp="1"/>
          </p:cNvSpPr>
          <p:nvPr>
            <p:ph type="dt" sz="half" idx="2"/>
          </p:nvPr>
        </p:nvSpPr>
        <p:spPr>
          <a:xfrm>
            <a:off x="457200" y="6547967"/>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endParaRPr lang="zh-CN" altLang="en-US" dirty="0"/>
          </a:p>
        </p:txBody>
      </p:sp>
      <p:sp>
        <p:nvSpPr>
          <p:cNvPr id="5" name="页脚占位符 4"/>
          <p:cNvSpPr>
            <a:spLocks noGrp="1"/>
          </p:cNvSpPr>
          <p:nvPr>
            <p:ph type="ftr" sz="quarter" idx="3"/>
          </p:nvPr>
        </p:nvSpPr>
        <p:spPr>
          <a:xfrm>
            <a:off x="2843808" y="6547967"/>
            <a:ext cx="3456384"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ea typeface="+mn-ea"/>
              </a:defRPr>
            </a:lvl1pPr>
          </a:lstStyle>
          <a:p>
            <a:pPr>
              <a:defRPr/>
            </a:pPr>
            <a:endParaRPr lang="zh-CN" altLang="en-US" dirty="0"/>
          </a:p>
        </p:txBody>
      </p:sp>
      <p:sp>
        <p:nvSpPr>
          <p:cNvPr id="6" name="灯片编号占位符 5"/>
          <p:cNvSpPr>
            <a:spLocks noGrp="1"/>
          </p:cNvSpPr>
          <p:nvPr>
            <p:ph type="sldNum" sz="quarter" idx="4"/>
          </p:nvPr>
        </p:nvSpPr>
        <p:spPr>
          <a:xfrm>
            <a:off x="6553200" y="6547967"/>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6EA7BA5E-4115-4796-A8C9-4698036AB88B}" type="slidenum">
              <a:rPr lang="zh-CN" altLang="en-US" smtClean="0"/>
              <a:pPr>
                <a:defRPr/>
              </a:pPr>
              <a:t>‹#›</a:t>
            </a:fld>
            <a:r>
              <a:rPr lang="en-US" altLang="zh-CN" dirty="0"/>
              <a:t>1</a:t>
            </a:r>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Lst>
  <p:hf hdr="0" ftr="0" dt="0"/>
  <p:txStyles>
    <p:titleStyle>
      <a:lvl1pPr algn="l" rtl="0" fontAlgn="base">
        <a:spcBef>
          <a:spcPct val="0"/>
        </a:spcBef>
        <a:spcAft>
          <a:spcPct val="0"/>
        </a:spcAft>
        <a:defRPr sz="3600" b="1" kern="1200">
          <a:solidFill>
            <a:schemeClr val="tx1"/>
          </a:solidFill>
          <a:latin typeface="+mj-lt"/>
          <a:ea typeface="+mj-ea"/>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image" Target="../media/image25.wmf"/></Relationships>
</file>

<file path=ppt/slides/_rels/slide2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Layout" Target="../diagrams/layout3.xml"/><Relationship Id="rId7" Type="http://schemas.openxmlformats.org/officeDocument/2006/relationships/image" Target="../media/image31.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7.xml"/><Relationship Id="rId6" Type="http://schemas.openxmlformats.org/officeDocument/2006/relationships/image" Target="../media/image42.emf"/><Relationship Id="rId5" Type="http://schemas.openxmlformats.org/officeDocument/2006/relationships/image" Target="../media/image41.jpeg"/><Relationship Id="rId4" Type="http://schemas.openxmlformats.org/officeDocument/2006/relationships/image" Target="../media/image40.jpeg"/></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58.jpeg"/><Relationship Id="rId13" Type="http://schemas.openxmlformats.org/officeDocument/2006/relationships/image" Target="../media/image63.jpeg"/><Relationship Id="rId18" Type="http://schemas.openxmlformats.org/officeDocument/2006/relationships/image" Target="../media/image68.jpeg"/><Relationship Id="rId26" Type="http://schemas.openxmlformats.org/officeDocument/2006/relationships/image" Target="../media/image76.jpeg"/><Relationship Id="rId3" Type="http://schemas.openxmlformats.org/officeDocument/2006/relationships/image" Target="../media/image53.jpeg"/><Relationship Id="rId21" Type="http://schemas.openxmlformats.org/officeDocument/2006/relationships/image" Target="../media/image71.jpeg"/><Relationship Id="rId7" Type="http://schemas.openxmlformats.org/officeDocument/2006/relationships/image" Target="../media/image57.jpeg"/><Relationship Id="rId12" Type="http://schemas.openxmlformats.org/officeDocument/2006/relationships/image" Target="../media/image62.jpeg"/><Relationship Id="rId17" Type="http://schemas.openxmlformats.org/officeDocument/2006/relationships/image" Target="../media/image67.jpeg"/><Relationship Id="rId25" Type="http://schemas.openxmlformats.org/officeDocument/2006/relationships/image" Target="../media/image75.jpeg"/><Relationship Id="rId2" Type="http://schemas.openxmlformats.org/officeDocument/2006/relationships/notesSlide" Target="../notesSlides/notesSlide6.xml"/><Relationship Id="rId16" Type="http://schemas.openxmlformats.org/officeDocument/2006/relationships/image" Target="../media/image66.jpeg"/><Relationship Id="rId20" Type="http://schemas.openxmlformats.org/officeDocument/2006/relationships/image" Target="../media/image70.jpeg"/><Relationship Id="rId1" Type="http://schemas.openxmlformats.org/officeDocument/2006/relationships/slideLayout" Target="../slideLayouts/slideLayout2.xml"/><Relationship Id="rId6" Type="http://schemas.openxmlformats.org/officeDocument/2006/relationships/image" Target="../media/image56.jpeg"/><Relationship Id="rId11" Type="http://schemas.openxmlformats.org/officeDocument/2006/relationships/image" Target="../media/image61.jpeg"/><Relationship Id="rId24" Type="http://schemas.openxmlformats.org/officeDocument/2006/relationships/image" Target="../media/image74.jpeg"/><Relationship Id="rId5" Type="http://schemas.openxmlformats.org/officeDocument/2006/relationships/image" Target="../media/image55.jpeg"/><Relationship Id="rId15" Type="http://schemas.openxmlformats.org/officeDocument/2006/relationships/image" Target="../media/image65.jpeg"/><Relationship Id="rId23" Type="http://schemas.openxmlformats.org/officeDocument/2006/relationships/image" Target="../media/image73.jpeg"/><Relationship Id="rId28" Type="http://schemas.openxmlformats.org/officeDocument/2006/relationships/image" Target="../media/image78.jpeg"/><Relationship Id="rId10" Type="http://schemas.openxmlformats.org/officeDocument/2006/relationships/image" Target="../media/image60.jpeg"/><Relationship Id="rId19" Type="http://schemas.openxmlformats.org/officeDocument/2006/relationships/image" Target="../media/image69.jpeg"/><Relationship Id="rId4" Type="http://schemas.openxmlformats.org/officeDocument/2006/relationships/image" Target="../media/image54.jpeg"/><Relationship Id="rId9" Type="http://schemas.openxmlformats.org/officeDocument/2006/relationships/image" Target="../media/image59.jpeg"/><Relationship Id="rId14" Type="http://schemas.openxmlformats.org/officeDocument/2006/relationships/image" Target="../media/image64.jpeg"/><Relationship Id="rId22" Type="http://schemas.openxmlformats.org/officeDocument/2006/relationships/image" Target="../media/image72.jpeg"/><Relationship Id="rId27" Type="http://schemas.openxmlformats.org/officeDocument/2006/relationships/image" Target="../media/image77.jpeg"/></Relationships>
</file>

<file path=ppt/slides/_rels/slide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4.jpeg"/><Relationship Id="rId5" Type="http://schemas.openxmlformats.org/officeDocument/2006/relationships/image" Target="../media/image83.wmf"/><Relationship Id="rId4" Type="http://schemas.openxmlformats.org/officeDocument/2006/relationships/image" Target="../media/image82.jpeg"/></Relationships>
</file>

<file path=ppt/slides/_rels/slide62.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slideLayout" Target="../slideLayouts/slideLayout2.xml"/><Relationship Id="rId5" Type="http://schemas.openxmlformats.org/officeDocument/2006/relationships/image" Target="../media/image93.wmf"/><Relationship Id="rId4" Type="http://schemas.openxmlformats.org/officeDocument/2006/relationships/image" Target="../media/image92.wmf"/></Relationships>
</file>

<file path=ppt/slides/_rels/slide68.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4.xml"/><Relationship Id="rId5" Type="http://schemas.openxmlformats.org/officeDocument/2006/relationships/image" Target="../media/image108.png"/><Relationship Id="rId4" Type="http://schemas.openxmlformats.org/officeDocument/2006/relationships/image" Target="../media/image107.png"/></Relationships>
</file>

<file path=ppt/slides/_rels/slide9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5" Type="http://schemas.openxmlformats.org/officeDocument/2006/relationships/image" Target="../media/image119.png"/><Relationship Id="rId4" Type="http://schemas.openxmlformats.org/officeDocument/2006/relationships/image" Target="../media/image118.png"/></Relationships>
</file>

<file path=ppt/slides/_rels/slide96.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image" Target="../media/image12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p:cNvSpPr>
          <p:nvPr>
            <p:ph type="ctrTitle"/>
          </p:nvPr>
        </p:nvSpPr>
        <p:spPr>
          <a:xfrm>
            <a:off x="687388" y="1125538"/>
            <a:ext cx="7772400" cy="2015430"/>
          </a:xfrm>
        </p:spPr>
        <p:txBody>
          <a:bodyPr/>
          <a:lstStyle/>
          <a:p>
            <a:pPr algn="ctr"/>
            <a:r>
              <a:rPr lang="zh-CN" altLang="en-US" sz="5400" dirty="0">
                <a:latin typeface="黑体" pitchFamily="49" charset="-122"/>
                <a:ea typeface="黑体" pitchFamily="49" charset="-122"/>
              </a:rPr>
              <a:t>第一章 大数据概述</a:t>
            </a:r>
            <a:br>
              <a:rPr lang="en-US" altLang="zh-CN" sz="5400" dirty="0">
                <a:latin typeface="黑体" pitchFamily="49" charset="-122"/>
                <a:ea typeface="黑体" pitchFamily="49" charset="-122"/>
              </a:rPr>
            </a:br>
            <a:r>
              <a:rPr lang="zh-CN" altLang="en-US" sz="5400" dirty="0">
                <a:latin typeface="黑体" pitchFamily="49" charset="-122"/>
                <a:ea typeface="黑体" pitchFamily="49" charset="-122"/>
              </a:rPr>
              <a:t>大数据处理与挖掘框架</a:t>
            </a:r>
            <a:br>
              <a:rPr lang="en-US" altLang="zh-CN" sz="5400" dirty="0">
                <a:latin typeface="黑体" pitchFamily="49" charset="-122"/>
                <a:ea typeface="黑体" pitchFamily="49" charset="-122"/>
              </a:rPr>
            </a:br>
            <a:r>
              <a:rPr lang="zh-CN" altLang="en-US" sz="5400" dirty="0">
                <a:latin typeface="黑体" pitchFamily="49" charset="-122"/>
                <a:ea typeface="黑体" pitchFamily="49" charset="-122"/>
              </a:rPr>
              <a:t>及应用实例</a:t>
            </a:r>
            <a:endParaRPr lang="zh-CN" altLang="en-US" sz="5400" dirty="0">
              <a:latin typeface="Palatino Linotype" pitchFamily="18" charset="0"/>
              <a:ea typeface="黑体" pitchFamily="49" charset="-122"/>
            </a:endParaRPr>
          </a:p>
        </p:txBody>
      </p:sp>
      <p:sp>
        <p:nvSpPr>
          <p:cNvPr id="3" name="副标题 2"/>
          <p:cNvSpPr>
            <a:spLocks noGrp="1"/>
          </p:cNvSpPr>
          <p:nvPr>
            <p:ph type="subTitle" idx="1"/>
          </p:nvPr>
        </p:nvSpPr>
        <p:spPr>
          <a:xfrm>
            <a:off x="1382713" y="5661025"/>
            <a:ext cx="6400800" cy="431800"/>
          </a:xfrm>
        </p:spPr>
        <p:txBody>
          <a:bodyPr rtlCol="0">
            <a:normAutofit/>
          </a:bodyPr>
          <a:lstStyle/>
          <a:p>
            <a:pPr fontAlgn="auto">
              <a:spcAft>
                <a:spcPts val="0"/>
              </a:spcAft>
              <a:buFont typeface="Arial" pitchFamily="34" charset="0"/>
              <a:buNone/>
              <a:defRPr/>
            </a:pPr>
            <a:fld id="{F5CBBBF9-5E51-4B2A-A4D2-BB6A55272388}" type="datetime2">
              <a:rPr lang="zh-CN" altLang="en-US" sz="2200" smtClean="0">
                <a:solidFill>
                  <a:srgbClr val="929292"/>
                </a:solidFill>
              </a:rPr>
              <a:t>2025年2月24日</a:t>
            </a:fld>
            <a:endParaRPr lang="zh-CN" altLang="en-US" sz="2200" dirty="0">
              <a:solidFill>
                <a:srgbClr val="929292"/>
              </a:solidFill>
            </a:endParaRPr>
          </a:p>
        </p:txBody>
      </p:sp>
      <p:sp>
        <p:nvSpPr>
          <p:cNvPr id="4" name="标题 1"/>
          <p:cNvSpPr txBox="1">
            <a:spLocks/>
          </p:cNvSpPr>
          <p:nvPr/>
        </p:nvSpPr>
        <p:spPr>
          <a:xfrm>
            <a:off x="323528" y="4221088"/>
            <a:ext cx="9144000" cy="1094634"/>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spcBef>
                <a:spcPts val="600"/>
              </a:spcBef>
              <a:spcAft>
                <a:spcPts val="0"/>
              </a:spcAft>
              <a:defRPr/>
            </a:pPr>
            <a:endParaRPr lang="zh-CN" altLang="en-US" sz="3200" b="1" dirty="0"/>
          </a:p>
        </p:txBody>
      </p:sp>
      <p:sp>
        <p:nvSpPr>
          <p:cNvPr id="2" name="TextBox 1"/>
          <p:cNvSpPr txBox="1"/>
          <p:nvPr/>
        </p:nvSpPr>
        <p:spPr>
          <a:xfrm>
            <a:off x="1979712" y="3622951"/>
            <a:ext cx="5184576" cy="1692771"/>
          </a:xfrm>
          <a:prstGeom prst="rect">
            <a:avLst/>
          </a:prstGeom>
          <a:noFill/>
        </p:spPr>
        <p:txBody>
          <a:bodyPr wrap="square" rtlCol="0">
            <a:spAutoFit/>
          </a:bodyPr>
          <a:lstStyle/>
          <a:p>
            <a:pPr algn="ctr"/>
            <a:r>
              <a:rPr lang="zh-CN" altLang="en-US" sz="3200" dirty="0"/>
              <a:t>吴共庆</a:t>
            </a:r>
            <a:endParaRPr lang="en-US" altLang="zh-CN" sz="3200" dirty="0"/>
          </a:p>
          <a:p>
            <a:pPr algn="ctr"/>
            <a:endParaRPr lang="en-US" altLang="zh-CN" sz="3200" dirty="0"/>
          </a:p>
          <a:p>
            <a:pPr algn="ctr"/>
            <a:r>
              <a:rPr lang="zh-CN" altLang="en-US" sz="2000" dirty="0">
                <a:latin typeface="隶书" pitchFamily="49" charset="-122"/>
                <a:ea typeface="隶书" pitchFamily="49" charset="-122"/>
              </a:rPr>
              <a:t>合肥工业大学</a:t>
            </a:r>
            <a:endParaRPr lang="en-US" altLang="zh-CN" sz="2000" dirty="0">
              <a:latin typeface="隶书" pitchFamily="49" charset="-122"/>
              <a:ea typeface="隶书" pitchFamily="49" charset="-122"/>
            </a:endParaRPr>
          </a:p>
          <a:p>
            <a:pPr algn="ctr"/>
            <a:r>
              <a:rPr lang="zh-CN" altLang="en-US" sz="2000" dirty="0">
                <a:latin typeface="隶书" pitchFamily="49" charset="-122"/>
                <a:ea typeface="隶书" pitchFamily="49" charset="-122"/>
              </a:rPr>
              <a:t>计算机与信息学院</a:t>
            </a:r>
            <a:endParaRPr lang="en-US" altLang="zh-CN" sz="2000" dirty="0">
              <a:latin typeface="隶书" pitchFamily="49" charset="-122"/>
              <a:ea typeface="隶书"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948D1-2A3B-4514-B467-9E443AF5DE7C}"/>
              </a:ext>
            </a:extLst>
          </p:cNvPr>
          <p:cNvSpPr>
            <a:spLocks noGrp="1"/>
          </p:cNvSpPr>
          <p:nvPr>
            <p:ph type="title"/>
          </p:nvPr>
        </p:nvSpPr>
        <p:spPr/>
        <p:txBody>
          <a:bodyPr/>
          <a:lstStyle/>
          <a:p>
            <a:r>
              <a:rPr lang="zh-CN" altLang="en-US"/>
              <a:t>大数据处理技术</a:t>
            </a:r>
            <a:r>
              <a:rPr lang="en-US" altLang="zh-CN"/>
              <a:t>-QQ</a:t>
            </a:r>
            <a:r>
              <a:rPr lang="zh-CN" altLang="en-US" dirty="0"/>
              <a:t>群</a:t>
            </a:r>
          </a:p>
        </p:txBody>
      </p:sp>
      <p:sp>
        <p:nvSpPr>
          <p:cNvPr id="4" name="灯片编号占位符 3">
            <a:extLst>
              <a:ext uri="{FF2B5EF4-FFF2-40B4-BE49-F238E27FC236}">
                <a16:creationId xmlns:a16="http://schemas.microsoft.com/office/drawing/2014/main" id="{BE6D4431-AEA5-4879-824D-75CC4E1FC782}"/>
              </a:ext>
            </a:extLst>
          </p:cNvPr>
          <p:cNvSpPr>
            <a:spLocks noGrp="1"/>
          </p:cNvSpPr>
          <p:nvPr>
            <p:ph type="sldNum" sz="quarter" idx="12"/>
          </p:nvPr>
        </p:nvSpPr>
        <p:spPr/>
        <p:txBody>
          <a:bodyPr/>
          <a:lstStyle/>
          <a:p>
            <a:pPr>
              <a:defRPr/>
            </a:pPr>
            <a:fld id="{73B3C56C-5700-4E55-BF40-61423C59FA56}" type="slidenum">
              <a:rPr lang="zh-CN" altLang="en-US" smtClean="0"/>
              <a:pPr>
                <a:defRPr/>
              </a:pPr>
              <a:t>2</a:t>
            </a:fld>
            <a:endParaRPr lang="zh-CN" altLang="en-US" dirty="0"/>
          </a:p>
        </p:txBody>
      </p:sp>
      <p:pic>
        <p:nvPicPr>
          <p:cNvPr id="5" name="图片 4">
            <a:extLst>
              <a:ext uri="{FF2B5EF4-FFF2-40B4-BE49-F238E27FC236}">
                <a16:creationId xmlns:a16="http://schemas.microsoft.com/office/drawing/2014/main" id="{07094456-2243-5177-0924-547766069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9270" y="977104"/>
            <a:ext cx="5305460" cy="5572514"/>
          </a:xfrm>
          <a:prstGeom prst="rect">
            <a:avLst/>
          </a:prstGeom>
          <a:ln>
            <a:solidFill>
              <a:schemeClr val="bg1">
                <a:lumMod val="75000"/>
              </a:schemeClr>
            </a:solidFill>
          </a:ln>
        </p:spPr>
      </p:pic>
    </p:spTree>
    <p:extLst>
      <p:ext uri="{BB962C8B-B14F-4D97-AF65-F5344CB8AC3E}">
        <p14:creationId xmlns:p14="http://schemas.microsoft.com/office/powerpoint/2010/main" val="660259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ECA6B-E336-49E3-8720-92DCBDB1E905}"/>
              </a:ext>
            </a:extLst>
          </p:cNvPr>
          <p:cNvSpPr>
            <a:spLocks noGrp="1"/>
          </p:cNvSpPr>
          <p:nvPr>
            <p:ph type="title"/>
          </p:nvPr>
        </p:nvSpPr>
        <p:spPr/>
        <p:txBody>
          <a:bodyPr/>
          <a:lstStyle/>
          <a:p>
            <a:r>
              <a:rPr lang="zh-CN" altLang="en-US" dirty="0"/>
              <a:t>参考教材</a:t>
            </a:r>
          </a:p>
        </p:txBody>
      </p:sp>
      <p:sp>
        <p:nvSpPr>
          <p:cNvPr id="4" name="灯片编号占位符 3">
            <a:extLst>
              <a:ext uri="{FF2B5EF4-FFF2-40B4-BE49-F238E27FC236}">
                <a16:creationId xmlns:a16="http://schemas.microsoft.com/office/drawing/2014/main" id="{0B8E05C0-BDC4-48B8-82E9-A730B444C953}"/>
              </a:ext>
            </a:extLst>
          </p:cNvPr>
          <p:cNvSpPr>
            <a:spLocks noGrp="1"/>
          </p:cNvSpPr>
          <p:nvPr>
            <p:ph type="sldNum" sz="quarter" idx="12"/>
          </p:nvPr>
        </p:nvSpPr>
        <p:spPr/>
        <p:txBody>
          <a:bodyPr/>
          <a:lstStyle/>
          <a:p>
            <a:pPr>
              <a:defRPr/>
            </a:pPr>
            <a:fld id="{73B3C56C-5700-4E55-BF40-61423C59FA56}" type="slidenum">
              <a:rPr lang="zh-CN" altLang="en-US" smtClean="0"/>
              <a:pPr>
                <a:defRPr/>
              </a:pPr>
              <a:t>3</a:t>
            </a:fld>
            <a:endParaRPr lang="zh-CN" altLang="en-US" dirty="0"/>
          </a:p>
        </p:txBody>
      </p:sp>
      <p:sp>
        <p:nvSpPr>
          <p:cNvPr id="5" name="内容占位符 2">
            <a:extLst>
              <a:ext uri="{FF2B5EF4-FFF2-40B4-BE49-F238E27FC236}">
                <a16:creationId xmlns:a16="http://schemas.microsoft.com/office/drawing/2014/main" id="{EEE0E0EC-C085-4599-A230-61CC0C71D823}"/>
              </a:ext>
            </a:extLst>
          </p:cNvPr>
          <p:cNvSpPr>
            <a:spLocks noGrp="1"/>
          </p:cNvSpPr>
          <p:nvPr>
            <p:ph idx="1"/>
          </p:nvPr>
        </p:nvSpPr>
        <p:spPr>
          <a:xfrm>
            <a:off x="457200" y="1414845"/>
            <a:ext cx="8229600" cy="4678451"/>
          </a:xfrm>
        </p:spPr>
        <p:txBody>
          <a:bodyPr/>
          <a:lstStyle/>
          <a:p>
            <a:r>
              <a:rPr lang="zh-CN" altLang="en-US" sz="2800" dirty="0">
                <a:latin typeface="Times New Roman" panose="02020603050405020304" pitchFamily="18" charset="0"/>
                <a:cs typeface="Times New Roman" panose="02020603050405020304" pitchFamily="18" charset="0"/>
              </a:rPr>
              <a:t>林子雨</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大数据技术原理与应用</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概念、存储、处理、 分析与应用（第</a:t>
            </a:r>
            <a:r>
              <a:rPr lang="en-US" altLang="zh-CN" sz="2800" dirty="0">
                <a:latin typeface="Times New Roman" panose="02020603050405020304" pitchFamily="18" charset="0"/>
                <a:cs typeface="Times New Roman" panose="02020603050405020304" pitchFamily="18" charset="0"/>
              </a:rPr>
              <a:t>4</a:t>
            </a:r>
            <a:r>
              <a:rPr lang="zh-CN" altLang="en-US" sz="2800" dirty="0">
                <a:latin typeface="Times New Roman" panose="02020603050405020304" pitchFamily="18" charset="0"/>
                <a:cs typeface="Times New Roman" panose="02020603050405020304" pitchFamily="18" charset="0"/>
              </a:rPr>
              <a:t>版）</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人民邮电出版社</a:t>
            </a:r>
            <a:r>
              <a:rPr lang="en-US" altLang="zh-CN" sz="2800" dirty="0">
                <a:latin typeface="Times New Roman" panose="02020603050405020304" pitchFamily="18" charset="0"/>
                <a:cs typeface="Times New Roman" panose="02020603050405020304" pitchFamily="18" charset="0"/>
              </a:rPr>
              <a:t>, 2024.</a:t>
            </a:r>
          </a:p>
          <a:p>
            <a:r>
              <a:rPr lang="en-US" altLang="zh-CN" sz="2800" dirty="0">
                <a:latin typeface="Times New Roman" panose="02020603050405020304" pitchFamily="18" charset="0"/>
                <a:cs typeface="Times New Roman" panose="02020603050405020304" pitchFamily="18" charset="0"/>
              </a:rPr>
              <a:t>Nigel, Poulton</a:t>
            </a:r>
            <a:r>
              <a:rPr lang="zh-CN" altLang="en-US" sz="2800" dirty="0">
                <a:latin typeface="Times New Roman" panose="02020603050405020304" pitchFamily="18" charset="0"/>
                <a:cs typeface="Times New Roman" panose="02020603050405020304" pitchFamily="18" charset="0"/>
              </a:rPr>
              <a:t>（奈吉尔</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波尔顿）著</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李瑞丰</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刘康 译</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深入浅出</a:t>
            </a:r>
            <a:r>
              <a:rPr lang="en-US" altLang="zh-CN" sz="2800" dirty="0">
                <a:latin typeface="Times New Roman" panose="02020603050405020304" pitchFamily="18" charset="0"/>
                <a:cs typeface="Times New Roman" panose="02020603050405020304" pitchFamily="18" charset="0"/>
              </a:rPr>
              <a:t>Docker</a:t>
            </a:r>
            <a:r>
              <a:rPr lang="zh-CN" altLang="en-US" sz="2800" dirty="0">
                <a:latin typeface="Times New Roman" panose="02020603050405020304" pitchFamily="18" charset="0"/>
                <a:cs typeface="Times New Roman" panose="02020603050405020304" pitchFamily="18" charset="0"/>
              </a:rPr>
              <a:t>（异步图书出品）</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人民邮电出版社</a:t>
            </a:r>
            <a:r>
              <a:rPr lang="en-US" altLang="zh-CN" sz="2800" dirty="0">
                <a:latin typeface="Times New Roman" panose="02020603050405020304" pitchFamily="18" charset="0"/>
                <a:cs typeface="Times New Roman" panose="02020603050405020304" pitchFamily="18" charset="0"/>
              </a:rPr>
              <a:t>, 2019.</a:t>
            </a:r>
          </a:p>
          <a:p>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美</a:t>
            </a:r>
            <a:r>
              <a:rPr lang="en-US" altLang="zh-CN" sz="2800" dirty="0">
                <a:latin typeface="Times New Roman" panose="02020603050405020304" pitchFamily="18" charset="0"/>
                <a:cs typeface="Times New Roman" panose="02020603050405020304" pitchFamily="18" charset="0"/>
              </a:rPr>
              <a:t>] Mahmoud </a:t>
            </a:r>
            <a:r>
              <a:rPr lang="en-US" altLang="zh-CN" sz="2800" dirty="0" err="1">
                <a:latin typeface="Times New Roman" panose="02020603050405020304" pitchFamily="18" charset="0"/>
                <a:cs typeface="Times New Roman" panose="02020603050405020304" pitchFamily="18" charset="0"/>
              </a:rPr>
              <a:t>Parsian</a:t>
            </a:r>
            <a:r>
              <a:rPr lang="zh-CN" altLang="en-US" sz="2800" dirty="0">
                <a:latin typeface="Times New Roman" panose="02020603050405020304" pitchFamily="18" charset="0"/>
                <a:cs typeface="Times New Roman" panose="02020603050405020304" pitchFamily="18" charset="0"/>
              </a:rPr>
              <a:t>（马哈默德</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帕瑞斯安）著</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苏金国</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杨健康 译</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数据算法：</a:t>
            </a:r>
            <a:r>
              <a:rPr lang="en-US" altLang="zh-CN" sz="2800" dirty="0">
                <a:latin typeface="Times New Roman" panose="02020603050405020304" pitchFamily="18" charset="0"/>
                <a:cs typeface="Times New Roman" panose="02020603050405020304" pitchFamily="18" charset="0"/>
              </a:rPr>
              <a:t>Hadoop/Spark</a:t>
            </a:r>
            <a:r>
              <a:rPr lang="zh-CN" altLang="en-US" sz="2800" dirty="0">
                <a:latin typeface="Times New Roman" panose="02020603050405020304" pitchFamily="18" charset="0"/>
                <a:cs typeface="Times New Roman" panose="02020603050405020304" pitchFamily="18" charset="0"/>
              </a:rPr>
              <a:t>大数据处理技巧</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中国电力出版社</a:t>
            </a:r>
            <a:r>
              <a:rPr lang="en-US" altLang="zh-CN" sz="2800" dirty="0">
                <a:latin typeface="Times New Roman" panose="02020603050405020304" pitchFamily="18" charset="0"/>
                <a:cs typeface="Times New Roman" panose="02020603050405020304" pitchFamily="18" charset="0"/>
              </a:rPr>
              <a:t>, 2016.</a:t>
            </a:r>
            <a:endParaRPr lang="zh-CN" altLang="en-US" dirty="0"/>
          </a:p>
        </p:txBody>
      </p:sp>
    </p:spTree>
    <p:extLst>
      <p:ext uri="{BB962C8B-B14F-4D97-AF65-F5344CB8AC3E}">
        <p14:creationId xmlns:p14="http://schemas.microsoft.com/office/powerpoint/2010/main" val="2441857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相关工作</a:t>
            </a:r>
          </a:p>
        </p:txBody>
      </p:sp>
      <p:sp>
        <p:nvSpPr>
          <p:cNvPr id="3" name="内容占位符 2"/>
          <p:cNvSpPr>
            <a:spLocks noGrp="1"/>
          </p:cNvSpPr>
          <p:nvPr>
            <p:ph idx="1"/>
          </p:nvPr>
        </p:nvSpPr>
        <p:spPr>
          <a:xfrm>
            <a:off x="457200" y="980728"/>
            <a:ext cx="8229600" cy="4678451"/>
          </a:xfrm>
        </p:spPr>
        <p:txBody>
          <a:bodyPr/>
          <a:lstStyle/>
          <a:p>
            <a:r>
              <a:rPr lang="en-US" altLang="zh-CN" sz="2000" dirty="0"/>
              <a:t>2000-</a:t>
            </a:r>
            <a:r>
              <a:rPr lang="zh-CN" altLang="en-US" sz="2000" dirty="0"/>
              <a:t>至今，</a:t>
            </a:r>
            <a:r>
              <a:rPr lang="en-US" altLang="zh-CN" sz="2000" dirty="0"/>
              <a:t>Web</a:t>
            </a:r>
            <a:r>
              <a:rPr lang="zh-CN" altLang="en-US" sz="2000" dirty="0"/>
              <a:t>信息处理</a:t>
            </a:r>
            <a:endParaRPr lang="en-US" altLang="zh-CN" sz="2000" dirty="0"/>
          </a:p>
          <a:p>
            <a:r>
              <a:rPr lang="en-US" altLang="zh-CN" sz="2000" dirty="0"/>
              <a:t>2008</a:t>
            </a:r>
            <a:r>
              <a:rPr lang="zh-CN" altLang="en-US" sz="2000" dirty="0"/>
              <a:t>年，</a:t>
            </a:r>
            <a:r>
              <a:rPr lang="en-US" altLang="zh-CN" sz="2000" dirty="0"/>
              <a:t>MReC4.5</a:t>
            </a:r>
          </a:p>
          <a:p>
            <a:r>
              <a:rPr lang="en-US" altLang="zh-CN" sz="2000" dirty="0"/>
              <a:t>2009-2014</a:t>
            </a:r>
            <a:r>
              <a:rPr lang="zh-CN" altLang="en-US" sz="2000" dirty="0"/>
              <a:t>，</a:t>
            </a:r>
            <a:r>
              <a:rPr lang="en-US" altLang="zh-CN" sz="2000" dirty="0" err="1"/>
              <a:t>ChinaGrid</a:t>
            </a:r>
            <a:r>
              <a:rPr lang="zh-CN" altLang="en-US" sz="2000" dirty="0"/>
              <a:t>校园网格二期建设项目</a:t>
            </a:r>
            <a:r>
              <a:rPr lang="en-US" altLang="zh-CN" sz="2000" dirty="0"/>
              <a:t>2009-2011</a:t>
            </a:r>
            <a:r>
              <a:rPr lang="zh-CN" altLang="en-US" sz="2000" dirty="0"/>
              <a:t>，</a:t>
            </a:r>
            <a:r>
              <a:rPr lang="en-US" altLang="zh-CN" sz="2000" dirty="0"/>
              <a:t>973</a:t>
            </a:r>
            <a:r>
              <a:rPr lang="zh-CN" altLang="en-US" sz="2000" dirty="0"/>
              <a:t>前期研究专项“普适个性化信息处理基础理论与方法研究”</a:t>
            </a:r>
            <a:endParaRPr lang="en-US" altLang="zh-CN" sz="2000" dirty="0"/>
          </a:p>
          <a:p>
            <a:r>
              <a:rPr lang="en-US" altLang="zh-CN" sz="2000" dirty="0"/>
              <a:t>2011</a:t>
            </a:r>
            <a:r>
              <a:rPr lang="zh-CN" altLang="en-US" sz="2000" dirty="0"/>
              <a:t>、</a:t>
            </a:r>
            <a:r>
              <a:rPr lang="en-US" altLang="zh-CN" sz="2000" dirty="0"/>
              <a:t>2013</a:t>
            </a:r>
            <a:r>
              <a:rPr lang="zh-CN" altLang="en-US" sz="2000" dirty="0"/>
              <a:t>，国家自然科学基金项目，</a:t>
            </a:r>
            <a:r>
              <a:rPr lang="en-US" altLang="zh-CN" sz="2000" dirty="0"/>
              <a:t>Web</a:t>
            </a:r>
            <a:r>
              <a:rPr lang="zh-CN" altLang="en-US" sz="2000" dirty="0"/>
              <a:t>信息抽取；“多源海量动态信息处理”教育部创新团队</a:t>
            </a:r>
            <a:endParaRPr lang="en-US" altLang="zh-CN" sz="2000" dirty="0"/>
          </a:p>
          <a:p>
            <a:r>
              <a:rPr lang="en-US" altLang="zh-CN" sz="2000" dirty="0"/>
              <a:t>2012-2015</a:t>
            </a:r>
            <a:r>
              <a:rPr lang="zh-CN" altLang="en-US" sz="2000" dirty="0"/>
              <a:t>，</a:t>
            </a:r>
            <a:r>
              <a:rPr lang="en-US" altLang="zh-CN" sz="2000" dirty="0"/>
              <a:t>863</a:t>
            </a:r>
            <a:r>
              <a:rPr lang="zh-CN" altLang="en-US" sz="2000" dirty="0"/>
              <a:t>计划课题“多源异构数据集成与挖掘的关键技术研究”</a:t>
            </a:r>
            <a:endParaRPr lang="en-US" altLang="zh-CN" sz="2000" dirty="0"/>
          </a:p>
          <a:p>
            <a:r>
              <a:rPr lang="en-US" altLang="zh-CN" sz="2000" dirty="0"/>
              <a:t>2011</a:t>
            </a:r>
            <a:r>
              <a:rPr lang="zh-CN" altLang="en-US" sz="2000" dirty="0"/>
              <a:t>、</a:t>
            </a:r>
            <a:r>
              <a:rPr lang="en-US" altLang="zh-CN" sz="2000" dirty="0"/>
              <a:t>2012</a:t>
            </a:r>
            <a:r>
              <a:rPr lang="zh-CN" altLang="en-US" sz="2000" dirty="0"/>
              <a:t>，国际会议最优论文奖</a:t>
            </a:r>
            <a:endParaRPr lang="en-US" altLang="zh-CN" sz="2000" dirty="0"/>
          </a:p>
          <a:p>
            <a:r>
              <a:rPr lang="en-US" altLang="zh-CN" sz="2000" dirty="0"/>
              <a:t>2015</a:t>
            </a:r>
            <a:r>
              <a:rPr lang="zh-CN" altLang="en-US" sz="2000" dirty="0"/>
              <a:t>，</a:t>
            </a:r>
            <a:r>
              <a:rPr lang="en-US" altLang="zh-CN" sz="2000" dirty="0" err="1"/>
              <a:t>WebCollector</a:t>
            </a:r>
            <a:r>
              <a:rPr lang="zh-CN" altLang="en-US" sz="2000" dirty="0"/>
              <a:t>，</a:t>
            </a:r>
            <a:r>
              <a:rPr lang="en-US" altLang="zh-CN" sz="2000" dirty="0"/>
              <a:t>2014</a:t>
            </a:r>
            <a:r>
              <a:rPr lang="zh-CN" altLang="en-US" sz="2000" dirty="0"/>
              <a:t>开源中国新增热门软件</a:t>
            </a:r>
            <a:r>
              <a:rPr lang="en-US" altLang="zh-CN" sz="2000" dirty="0"/>
              <a:t>Top100</a:t>
            </a:r>
            <a:r>
              <a:rPr lang="zh-CN" altLang="en-US" sz="2000" dirty="0"/>
              <a:t>，排名第五</a:t>
            </a:r>
            <a:endParaRPr lang="en-US" altLang="zh-CN" sz="2000" dirty="0"/>
          </a:p>
          <a:p>
            <a:r>
              <a:rPr lang="en-US" altLang="zh-CN" sz="2000" dirty="0"/>
              <a:t>2016</a:t>
            </a:r>
            <a:r>
              <a:rPr lang="zh-CN" altLang="en-US" sz="2000" dirty="0"/>
              <a:t>，国家重点研发计划“大数据知识工程基础理论及其应用研究”</a:t>
            </a:r>
            <a:endParaRPr lang="en-US" altLang="zh-CN" sz="2000" dirty="0"/>
          </a:p>
          <a:p>
            <a:r>
              <a:rPr lang="en-US" altLang="zh-CN" sz="2000" dirty="0"/>
              <a:t>2017</a:t>
            </a:r>
            <a:r>
              <a:rPr lang="zh-CN" altLang="en-US" sz="2000" dirty="0"/>
              <a:t>，“多源海量动态信息处理”教育部创新团队获滚动支持</a:t>
            </a:r>
            <a:endParaRPr lang="en-US" altLang="zh-CN" sz="2000" dirty="0"/>
          </a:p>
          <a:p>
            <a:r>
              <a:rPr lang="en-US" altLang="zh-CN" sz="2000" dirty="0"/>
              <a:t>2018</a:t>
            </a:r>
            <a:r>
              <a:rPr lang="zh-CN" altLang="en-US" sz="2000" dirty="0"/>
              <a:t>，国家重点研发计划“进出口国家级食品风险信息云平台研究”</a:t>
            </a:r>
            <a:endParaRPr lang="en-US" altLang="zh-CN" sz="2000" dirty="0"/>
          </a:p>
          <a:p>
            <a:r>
              <a:rPr lang="en-US" altLang="zh-CN" sz="2000" dirty="0"/>
              <a:t>2019</a:t>
            </a:r>
            <a:r>
              <a:rPr lang="zh-CN" altLang="en-US" sz="2000" dirty="0"/>
              <a:t>，合肥工业大学“大数据知识工程”教育部重点实验室</a:t>
            </a:r>
            <a:endParaRPr lang="en-US" altLang="zh-CN" sz="2000" dirty="0"/>
          </a:p>
          <a:p>
            <a:r>
              <a:rPr lang="en-US" altLang="zh-CN" sz="2000" dirty="0"/>
              <a:t>2025</a:t>
            </a:r>
            <a:r>
              <a:rPr lang="zh-CN" altLang="en-US" sz="2000" dirty="0"/>
              <a:t>，</a:t>
            </a:r>
            <a:r>
              <a:rPr lang="en-US" altLang="zh-CN" sz="2000" dirty="0"/>
              <a:t>2023</a:t>
            </a:r>
            <a:r>
              <a:rPr lang="zh-CN" altLang="en-US" sz="2000" dirty="0"/>
              <a:t>年度安徽省自然科学一等奖“大数据知识工程基础理论与方法”</a:t>
            </a:r>
          </a:p>
        </p:txBody>
      </p:sp>
      <p:sp>
        <p:nvSpPr>
          <p:cNvPr id="6" name="灯片编号占位符 5"/>
          <p:cNvSpPr>
            <a:spLocks noGrp="1"/>
          </p:cNvSpPr>
          <p:nvPr>
            <p:ph type="sldNum" sz="quarter" idx="12"/>
          </p:nvPr>
        </p:nvSpPr>
        <p:spPr/>
        <p:txBody>
          <a:bodyPr/>
          <a:lstStyle/>
          <a:p>
            <a:pPr>
              <a:defRPr/>
            </a:pPr>
            <a:fld id="{73B3C56C-5700-4E55-BF40-61423C59FA56}" type="slidenum">
              <a:rPr lang="zh-CN" altLang="en-US" smtClean="0"/>
              <a:pPr>
                <a:defRPr/>
              </a:pPr>
              <a:t>4</a:t>
            </a:fld>
            <a:endParaRPr lang="zh-CN" altLang="en-US" dirty="0"/>
          </a:p>
        </p:txBody>
      </p:sp>
    </p:spTree>
    <p:extLst>
      <p:ext uri="{BB962C8B-B14F-4D97-AF65-F5344CB8AC3E}">
        <p14:creationId xmlns:p14="http://schemas.microsoft.com/office/powerpoint/2010/main" val="4066137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Data Mining With Big Data</a:t>
            </a:r>
            <a:endParaRPr lang="zh-CN" altLang="en-US" dirty="0"/>
          </a:p>
        </p:txBody>
      </p:sp>
      <p:sp>
        <p:nvSpPr>
          <p:cNvPr id="3" name="内容占位符 2"/>
          <p:cNvSpPr>
            <a:spLocks noGrp="1"/>
          </p:cNvSpPr>
          <p:nvPr>
            <p:ph idx="1"/>
          </p:nvPr>
        </p:nvSpPr>
        <p:spPr/>
        <p:txBody>
          <a:bodyPr/>
          <a:lstStyle/>
          <a:p>
            <a:endParaRPr lang="zh-CN" altLang="en-US"/>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0728"/>
            <a:ext cx="9144000" cy="552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3720" y="3284984"/>
            <a:ext cx="9140280"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zh-CN" sz="2800" b="1" dirty="0">
                <a:latin typeface="Times New Roman" panose="02020603050405020304" pitchFamily="18" charset="0"/>
                <a:cs typeface="Times New Roman" panose="02020603050405020304" pitchFamily="18" charset="0"/>
              </a:rPr>
              <a:t>在所有</a:t>
            </a:r>
            <a:r>
              <a:rPr lang="en-US" altLang="zh-CN" sz="2800" b="1" dirty="0">
                <a:latin typeface="Times New Roman" panose="02020603050405020304" pitchFamily="18" charset="0"/>
                <a:cs typeface="Times New Roman" panose="02020603050405020304" pitchFamily="18" charset="0"/>
              </a:rPr>
              <a:t>IEEE </a:t>
            </a:r>
            <a:r>
              <a:rPr lang="zh-CN" altLang="zh-CN" sz="2800" b="1" dirty="0">
                <a:latin typeface="Times New Roman" panose="02020603050405020304" pitchFamily="18" charset="0"/>
                <a:cs typeface="Times New Roman" panose="02020603050405020304" pitchFamily="18" charset="0"/>
              </a:rPr>
              <a:t>出版的文章中（包括所有年份、所有期刊和会议论文），我们的这篇大数据文章在</a:t>
            </a:r>
            <a:r>
              <a:rPr lang="en-US" altLang="zh-CN" sz="2800" b="1" dirty="0">
                <a:latin typeface="Times New Roman" panose="02020603050405020304" pitchFamily="18" charset="0"/>
                <a:cs typeface="Times New Roman" panose="02020603050405020304" pitchFamily="18" charset="0"/>
              </a:rPr>
              <a:t>2013 </a:t>
            </a:r>
            <a:r>
              <a:rPr lang="zh-CN" altLang="zh-CN" sz="2800" b="1" dirty="0">
                <a:latin typeface="Times New Roman" panose="02020603050405020304" pitchFamily="18" charset="0"/>
                <a:cs typeface="Times New Roman" panose="02020603050405020304" pitchFamily="18" charset="0"/>
              </a:rPr>
              <a:t>年</a:t>
            </a:r>
            <a:r>
              <a:rPr lang="en-US" altLang="zh-CN" sz="2800" b="1" dirty="0">
                <a:latin typeface="Times New Roman" panose="02020603050405020304" pitchFamily="18" charset="0"/>
                <a:cs typeface="Times New Roman" panose="02020603050405020304" pitchFamily="18" charset="0"/>
              </a:rPr>
              <a:t>12 </a:t>
            </a:r>
            <a:r>
              <a:rPr lang="zh-CN" altLang="zh-CN" sz="2800" b="1" dirty="0">
                <a:latin typeface="Times New Roman" panose="02020603050405020304" pitchFamily="18" charset="0"/>
                <a:cs typeface="Times New Roman" panose="02020603050405020304" pitchFamily="18" charset="0"/>
              </a:rPr>
              <a:t>月</a:t>
            </a:r>
            <a:r>
              <a:rPr lang="zh-CN" altLang="en-US" sz="2800" b="1" dirty="0">
                <a:latin typeface="Times New Roman" panose="02020603050405020304" pitchFamily="18" charset="0"/>
                <a:cs typeface="Times New Roman" panose="02020603050405020304" pitchFamily="18" charset="0"/>
              </a:rPr>
              <a:t>至</a:t>
            </a:r>
            <a:r>
              <a:rPr lang="en-US" altLang="zh-CN" sz="2800" b="1" dirty="0">
                <a:latin typeface="Times New Roman" panose="02020603050405020304" pitchFamily="18" charset="0"/>
                <a:cs typeface="Times New Roman" panose="02020603050405020304" pitchFamily="18" charset="0"/>
              </a:rPr>
              <a:t>2015 </a:t>
            </a:r>
            <a:r>
              <a:rPr lang="zh-CN" altLang="zh-CN" sz="2800" b="1" dirty="0">
                <a:latin typeface="Times New Roman" panose="02020603050405020304" pitchFamily="18" charset="0"/>
                <a:cs typeface="Times New Roman" panose="02020603050405020304" pitchFamily="18" charset="0"/>
              </a:rPr>
              <a:t>年</a:t>
            </a:r>
            <a:r>
              <a:rPr lang="en-US" altLang="zh-CN" sz="2800" b="1" dirty="0">
                <a:latin typeface="Times New Roman" panose="02020603050405020304" pitchFamily="18" charset="0"/>
                <a:cs typeface="Times New Roman" panose="02020603050405020304" pitchFamily="18" charset="0"/>
              </a:rPr>
              <a:t>6 </a:t>
            </a:r>
            <a:r>
              <a:rPr lang="zh-CN" altLang="zh-CN" sz="2800" b="1" dirty="0">
                <a:latin typeface="Times New Roman" panose="02020603050405020304" pitchFamily="18" charset="0"/>
                <a:cs typeface="Times New Roman" panose="02020603050405020304" pitchFamily="18" charset="0"/>
              </a:rPr>
              <a:t>月连续</a:t>
            </a:r>
            <a:r>
              <a:rPr lang="en-US" altLang="zh-CN" sz="2800" b="1" dirty="0">
                <a:latin typeface="Times New Roman" panose="02020603050405020304" pitchFamily="18" charset="0"/>
                <a:cs typeface="Times New Roman" panose="02020603050405020304" pitchFamily="18" charset="0"/>
              </a:rPr>
              <a:t>19</a:t>
            </a:r>
            <a:r>
              <a:rPr lang="zh-CN" altLang="en-US" sz="2800" b="1" dirty="0">
                <a:latin typeface="Times New Roman" panose="02020603050405020304" pitchFamily="18" charset="0"/>
                <a:cs typeface="Times New Roman" panose="02020603050405020304" pitchFamily="18" charset="0"/>
              </a:rPr>
              <a:t>个</a:t>
            </a:r>
            <a:r>
              <a:rPr lang="zh-CN" altLang="zh-CN" sz="2800" b="1" dirty="0">
                <a:latin typeface="Times New Roman" panose="02020603050405020304" pitchFamily="18" charset="0"/>
                <a:cs typeface="Times New Roman" panose="02020603050405020304" pitchFamily="18" charset="0"/>
              </a:rPr>
              <a:t>月被下载的次数均排第一（ 见</a:t>
            </a:r>
            <a:r>
              <a:rPr lang="en-US" altLang="zh-CN" sz="2800" b="1" dirty="0">
                <a:latin typeface="Times New Roman" panose="02020603050405020304" pitchFamily="18" charset="0"/>
                <a:cs typeface="Times New Roman" panose="02020603050405020304" pitchFamily="18" charset="0"/>
              </a:rPr>
              <a:t>http://ieeexplore.ieee.org/xpl/browsePopular.jsp </a:t>
            </a:r>
            <a:r>
              <a:rPr lang="zh-CN" altLang="en-US" sz="2800" b="1" dirty="0">
                <a:latin typeface="Times New Roman" panose="02020603050405020304" pitchFamily="18" charset="0"/>
                <a:cs typeface="Times New Roman" panose="02020603050405020304" pitchFamily="18" charset="0"/>
              </a:rPr>
              <a:t>）</a:t>
            </a:r>
            <a:r>
              <a:rPr lang="zh-CN" altLang="zh-CN" sz="2800" b="1" dirty="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p:txBody>
      </p:sp>
      <p:sp>
        <p:nvSpPr>
          <p:cNvPr id="8" name="灯片编号占位符 7"/>
          <p:cNvSpPr>
            <a:spLocks noGrp="1"/>
          </p:cNvSpPr>
          <p:nvPr>
            <p:ph type="sldNum" sz="quarter" idx="12"/>
          </p:nvPr>
        </p:nvSpPr>
        <p:spPr/>
        <p:txBody>
          <a:bodyPr/>
          <a:lstStyle/>
          <a:p>
            <a:pPr>
              <a:defRPr/>
            </a:pPr>
            <a:fld id="{73B3C56C-5700-4E55-BF40-61423C59FA56}" type="slidenum">
              <a:rPr lang="zh-CN" altLang="en-US" smtClean="0"/>
              <a:pPr>
                <a:defRPr/>
              </a:pPr>
              <a:t>5</a:t>
            </a:fld>
            <a:endParaRPr lang="zh-CN" altLang="en-US" dirty="0"/>
          </a:p>
        </p:txBody>
      </p:sp>
    </p:spTree>
    <p:extLst>
      <p:ext uri="{BB962C8B-B14F-4D97-AF65-F5344CB8AC3E}">
        <p14:creationId xmlns:p14="http://schemas.microsoft.com/office/powerpoint/2010/main" val="84833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058" y="-8334"/>
            <a:ext cx="1286817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216783" y="2437706"/>
            <a:ext cx="8964488"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http://www.oschina.net/news/59152/oschina-2014-new-project-top-100</a:t>
            </a:r>
            <a:endParaRPr lang="zh-CN" altLang="en-US" dirty="0"/>
          </a:p>
        </p:txBody>
      </p:sp>
      <p:sp>
        <p:nvSpPr>
          <p:cNvPr id="7" name="矩形 6"/>
          <p:cNvSpPr/>
          <p:nvPr/>
        </p:nvSpPr>
        <p:spPr>
          <a:xfrm>
            <a:off x="1772072" y="5652914"/>
            <a:ext cx="3888432" cy="5760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9980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6" name="灯片编号占位符 5"/>
          <p:cNvSpPr>
            <a:spLocks noGrp="1"/>
          </p:cNvSpPr>
          <p:nvPr>
            <p:ph type="sldNum" sz="quarter" idx="12"/>
          </p:nvPr>
        </p:nvSpPr>
        <p:spPr/>
        <p:txBody>
          <a:bodyPr/>
          <a:lstStyle/>
          <a:p>
            <a:pPr>
              <a:defRPr/>
            </a:pPr>
            <a:fld id="{73B3C56C-5700-4E55-BF40-61423C59FA56}" type="slidenum">
              <a:rPr lang="zh-CN" altLang="en-US" smtClean="0"/>
              <a:pPr>
                <a:defRPr/>
              </a:pPr>
              <a:t>7</a:t>
            </a:fld>
            <a:endParaRPr lang="zh-CN" altLang="en-US" dirty="0"/>
          </a:p>
        </p:txBody>
      </p:sp>
      <p:pic>
        <p:nvPicPr>
          <p:cNvPr id="5" name="图片 4">
            <a:extLst>
              <a:ext uri="{FF2B5EF4-FFF2-40B4-BE49-F238E27FC236}">
                <a16:creationId xmlns:a16="http://schemas.microsoft.com/office/drawing/2014/main" id="{F2624BD2-F354-48A0-A8B3-E7F2B8995D6C}"/>
              </a:ext>
            </a:extLst>
          </p:cNvPr>
          <p:cNvPicPr>
            <a:picLocks noChangeAspect="1"/>
          </p:cNvPicPr>
          <p:nvPr/>
        </p:nvPicPr>
        <p:blipFill>
          <a:blip r:embed="rId2"/>
          <a:stretch>
            <a:fillRect/>
          </a:stretch>
        </p:blipFill>
        <p:spPr>
          <a:xfrm>
            <a:off x="-1116632" y="-610"/>
            <a:ext cx="11449272" cy="6883193"/>
          </a:xfrm>
          <a:prstGeom prst="rect">
            <a:avLst/>
          </a:prstGeom>
        </p:spPr>
      </p:pic>
    </p:spTree>
    <p:extLst>
      <p:ext uri="{BB962C8B-B14F-4D97-AF65-F5344CB8AC3E}">
        <p14:creationId xmlns:p14="http://schemas.microsoft.com/office/powerpoint/2010/main" val="29725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同侧圆角矩形 11"/>
          <p:cNvSpPr/>
          <p:nvPr/>
        </p:nvSpPr>
        <p:spPr>
          <a:xfrm rot="16200000" flipV="1">
            <a:off x="4707953" y="-980012"/>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11" name="同侧圆角矩形 10"/>
          <p:cNvSpPr/>
          <p:nvPr/>
        </p:nvSpPr>
        <p:spPr>
          <a:xfrm rot="16200000">
            <a:off x="1401165" y="1416323"/>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13" name="矩形 12"/>
          <p:cNvSpPr/>
          <p:nvPr/>
        </p:nvSpPr>
        <p:spPr>
          <a:xfrm>
            <a:off x="2227484" y="1557581"/>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大数据的起源</a:t>
            </a:r>
          </a:p>
        </p:txBody>
      </p:sp>
      <p:sp>
        <p:nvSpPr>
          <p:cNvPr id="14" name="矩形 13"/>
          <p:cNvSpPr>
            <a:spLocks noChangeArrowheads="1"/>
          </p:cNvSpPr>
          <p:nvPr/>
        </p:nvSpPr>
        <p:spPr bwMode="auto">
          <a:xfrm>
            <a:off x="1547817" y="1608559"/>
            <a:ext cx="340157"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1</a:t>
            </a:r>
            <a:endParaRPr lang="ko-KR" altLang="en-US" sz="2400" b="1" dirty="0">
              <a:solidFill>
                <a:schemeClr val="accent2">
                  <a:lumMod val="50000"/>
                </a:schemeClr>
              </a:solidFill>
              <a:latin typeface="黑体" pitchFamily="49" charset="-122"/>
              <a:ea typeface="黑体" pitchFamily="49" charset="-122"/>
            </a:endParaRPr>
          </a:p>
        </p:txBody>
      </p:sp>
      <p:sp>
        <p:nvSpPr>
          <p:cNvPr id="16406" name="标题 1"/>
          <p:cNvSpPr>
            <a:spLocks noGrp="1"/>
          </p:cNvSpPr>
          <p:nvPr>
            <p:ph type="title"/>
          </p:nvPr>
        </p:nvSpPr>
        <p:spPr>
          <a:xfrm>
            <a:off x="457200" y="123825"/>
            <a:ext cx="8229600" cy="661988"/>
          </a:xfrm>
        </p:spPr>
        <p:txBody>
          <a:bodyPr/>
          <a:lstStyle/>
          <a:p>
            <a:r>
              <a:rPr lang="zh-CN" altLang="en-US" dirty="0">
                <a:latin typeface="黑体" pitchFamily="49" charset="-122"/>
                <a:ea typeface="黑体" pitchFamily="49" charset="-122"/>
              </a:rPr>
              <a:t>提纲</a:t>
            </a:r>
            <a:r>
              <a:rPr lang="zh-CN" altLang="en-US" dirty="0">
                <a:latin typeface="Palatino Linotype" pitchFamily="18" charset="0"/>
                <a:ea typeface="黑体" pitchFamily="49" charset="-122"/>
              </a:rPr>
              <a:t>（</a:t>
            </a:r>
            <a:r>
              <a:rPr lang="en-US" altLang="zh-CN" dirty="0">
                <a:latin typeface="Palatino Linotype" pitchFamily="18" charset="0"/>
                <a:ea typeface="黑体" pitchFamily="49" charset="-122"/>
              </a:rPr>
              <a:t>Outlines</a:t>
            </a:r>
            <a:r>
              <a:rPr lang="zh-CN" altLang="en-US" dirty="0">
                <a:latin typeface="Palatino Linotype" pitchFamily="18" charset="0"/>
                <a:ea typeface="黑体" pitchFamily="49" charset="-122"/>
              </a:rPr>
              <a:t>）</a:t>
            </a:r>
          </a:p>
        </p:txBody>
      </p:sp>
      <p:grpSp>
        <p:nvGrpSpPr>
          <p:cNvPr id="4" name="组合 3"/>
          <p:cNvGrpSpPr/>
          <p:nvPr/>
        </p:nvGrpSpPr>
        <p:grpSpPr>
          <a:xfrm>
            <a:off x="1259633" y="2276872"/>
            <a:ext cx="6550025" cy="565989"/>
            <a:chOff x="1259633" y="2331624"/>
            <a:chExt cx="6550025" cy="565989"/>
          </a:xfrm>
        </p:grpSpPr>
        <p:sp>
          <p:nvSpPr>
            <p:cNvPr id="29" name="同侧圆角矩形 28"/>
            <p:cNvSpPr/>
            <p:nvPr/>
          </p:nvSpPr>
          <p:spPr>
            <a:xfrm rot="16200000">
              <a:off x="1400102" y="2191155"/>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0" name="同侧圆角矩形 29"/>
            <p:cNvSpPr/>
            <p:nvPr/>
          </p:nvSpPr>
          <p:spPr>
            <a:xfrm rot="16200000" flipV="1">
              <a:off x="4706890" y="-205180"/>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1" name="矩形 30"/>
            <p:cNvSpPr/>
            <p:nvPr/>
          </p:nvSpPr>
          <p:spPr>
            <a:xfrm>
              <a:off x="2226421" y="2332413"/>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大数据的特征</a:t>
              </a:r>
            </a:p>
          </p:txBody>
        </p:sp>
        <p:sp>
          <p:nvSpPr>
            <p:cNvPr id="32" name="矩形 31"/>
            <p:cNvSpPr>
              <a:spLocks noChangeArrowheads="1"/>
            </p:cNvSpPr>
            <p:nvPr/>
          </p:nvSpPr>
          <p:spPr bwMode="auto">
            <a:xfrm>
              <a:off x="1546754" y="2383391"/>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2</a:t>
              </a:r>
              <a:endParaRPr lang="ko-KR" altLang="en-US" sz="2400" b="1" dirty="0">
                <a:solidFill>
                  <a:schemeClr val="accent2">
                    <a:lumMod val="50000"/>
                  </a:schemeClr>
                </a:solidFill>
                <a:latin typeface="黑体" pitchFamily="49" charset="-122"/>
                <a:ea typeface="黑体" pitchFamily="49" charset="-122"/>
              </a:endParaRPr>
            </a:p>
          </p:txBody>
        </p:sp>
      </p:grpSp>
      <p:grpSp>
        <p:nvGrpSpPr>
          <p:cNvPr id="5" name="组合 4"/>
          <p:cNvGrpSpPr/>
          <p:nvPr/>
        </p:nvGrpSpPr>
        <p:grpSpPr>
          <a:xfrm>
            <a:off x="1259633" y="2996952"/>
            <a:ext cx="6550025" cy="565989"/>
            <a:chOff x="1259633" y="2997140"/>
            <a:chExt cx="6550025" cy="565989"/>
          </a:xfrm>
        </p:grpSpPr>
        <p:sp>
          <p:nvSpPr>
            <p:cNvPr id="33" name="同侧圆角矩形 32"/>
            <p:cNvSpPr/>
            <p:nvPr/>
          </p:nvSpPr>
          <p:spPr>
            <a:xfrm rot="16200000">
              <a:off x="1400102" y="2856671"/>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4" name="同侧圆角矩形 33"/>
            <p:cNvSpPr/>
            <p:nvPr/>
          </p:nvSpPr>
          <p:spPr>
            <a:xfrm rot="16200000" flipV="1">
              <a:off x="4706890" y="460336"/>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5" name="矩形 34"/>
            <p:cNvSpPr/>
            <p:nvPr/>
          </p:nvSpPr>
          <p:spPr>
            <a:xfrm>
              <a:off x="2226421" y="2997929"/>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大数据处理框架</a:t>
              </a:r>
            </a:p>
          </p:txBody>
        </p:sp>
        <p:sp>
          <p:nvSpPr>
            <p:cNvPr id="36" name="矩形 35"/>
            <p:cNvSpPr>
              <a:spLocks noChangeArrowheads="1"/>
            </p:cNvSpPr>
            <p:nvPr/>
          </p:nvSpPr>
          <p:spPr bwMode="auto">
            <a:xfrm>
              <a:off x="1546754" y="3048907"/>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3</a:t>
              </a:r>
              <a:endParaRPr lang="ko-KR" altLang="en-US" sz="2400" b="1" dirty="0">
                <a:solidFill>
                  <a:schemeClr val="accent2">
                    <a:lumMod val="50000"/>
                  </a:schemeClr>
                </a:solidFill>
                <a:latin typeface="黑体" pitchFamily="49" charset="-122"/>
                <a:ea typeface="黑体" pitchFamily="49" charset="-122"/>
              </a:endParaRPr>
            </a:p>
          </p:txBody>
        </p:sp>
      </p:grpSp>
      <p:grpSp>
        <p:nvGrpSpPr>
          <p:cNvPr id="6" name="组合 5"/>
          <p:cNvGrpSpPr/>
          <p:nvPr/>
        </p:nvGrpSpPr>
        <p:grpSpPr>
          <a:xfrm>
            <a:off x="1261716" y="3717032"/>
            <a:ext cx="6550025" cy="565989"/>
            <a:chOff x="1261716" y="3663691"/>
            <a:chExt cx="6550025" cy="565989"/>
          </a:xfrm>
        </p:grpSpPr>
        <p:sp>
          <p:nvSpPr>
            <p:cNvPr id="37" name="同侧圆角矩形 36"/>
            <p:cNvSpPr/>
            <p:nvPr/>
          </p:nvSpPr>
          <p:spPr>
            <a:xfrm rot="16200000">
              <a:off x="1402185" y="3523222"/>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8" name="同侧圆角矩形 37"/>
            <p:cNvSpPr/>
            <p:nvPr/>
          </p:nvSpPr>
          <p:spPr>
            <a:xfrm rot="16200000" flipV="1">
              <a:off x="4708973" y="1126887"/>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9" name="矩形 38"/>
            <p:cNvSpPr/>
            <p:nvPr/>
          </p:nvSpPr>
          <p:spPr>
            <a:xfrm>
              <a:off x="2228504" y="3664480"/>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大数据处理与挖掘应用</a:t>
              </a:r>
            </a:p>
          </p:txBody>
        </p:sp>
        <p:sp>
          <p:nvSpPr>
            <p:cNvPr id="40" name="矩形 39"/>
            <p:cNvSpPr>
              <a:spLocks noChangeArrowheads="1"/>
            </p:cNvSpPr>
            <p:nvPr/>
          </p:nvSpPr>
          <p:spPr bwMode="auto">
            <a:xfrm>
              <a:off x="1548837" y="3715458"/>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4</a:t>
              </a:r>
              <a:endParaRPr lang="ko-KR" altLang="en-US" sz="2400" b="1" dirty="0">
                <a:solidFill>
                  <a:schemeClr val="accent2">
                    <a:lumMod val="50000"/>
                  </a:schemeClr>
                </a:solidFill>
                <a:latin typeface="黑体" pitchFamily="49" charset="-122"/>
                <a:ea typeface="黑体" pitchFamily="49" charset="-122"/>
              </a:endParaRPr>
            </a:p>
          </p:txBody>
        </p:sp>
      </p:grpSp>
      <p:sp>
        <p:nvSpPr>
          <p:cNvPr id="7" name="灯片编号占位符 6"/>
          <p:cNvSpPr>
            <a:spLocks noGrp="1"/>
          </p:cNvSpPr>
          <p:nvPr>
            <p:ph type="sldNum" sz="quarter" idx="12"/>
          </p:nvPr>
        </p:nvSpPr>
        <p:spPr/>
        <p:txBody>
          <a:bodyPr/>
          <a:lstStyle/>
          <a:p>
            <a:pPr>
              <a:defRPr/>
            </a:pPr>
            <a:fld id="{73B3C56C-5700-4E55-BF40-61423C59FA56}" type="slidenum">
              <a:rPr lang="zh-CN" altLang="en-US" smtClean="0"/>
              <a:pPr>
                <a:defRPr/>
              </a:pPr>
              <a:t>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grpId="0" nodeType="withEffect">
                                  <p:stCondLst>
                                    <p:cond delay="0"/>
                                  </p:stCondLst>
                                  <p:childTnLst>
                                    <p:animClr clrSpc="rgb" dir="cw">
                                      <p:cBhvr override="childStyle">
                                        <p:cTn id="6" dur="500" fill="hold"/>
                                        <p:tgtEl>
                                          <p:spTgt spid="11"/>
                                        </p:tgtEl>
                                        <p:attrNameLst>
                                          <p:attrName>style.color</p:attrName>
                                        </p:attrNameLst>
                                      </p:cBhvr>
                                      <p:to>
                                        <a:schemeClr val="accent2"/>
                                      </p:to>
                                    </p:animClr>
                                    <p:animClr clrSpc="rgb" dir="cw">
                                      <p:cBhvr>
                                        <p:cTn id="7" dur="500" fill="hold"/>
                                        <p:tgtEl>
                                          <p:spTgt spid="11"/>
                                        </p:tgtEl>
                                        <p:attrNameLst>
                                          <p:attrName>fillcolor</p:attrName>
                                        </p:attrNameLst>
                                      </p:cBhvr>
                                      <p:to>
                                        <a:schemeClr val="accent2"/>
                                      </p:to>
                                    </p:animClr>
                                    <p:set>
                                      <p:cBhvr>
                                        <p:cTn id="8" dur="500" fill="hold"/>
                                        <p:tgtEl>
                                          <p:spTgt spid="11"/>
                                        </p:tgtEl>
                                        <p:attrNameLst>
                                          <p:attrName>fill.type</p:attrName>
                                        </p:attrNameLst>
                                      </p:cBhvr>
                                      <p:to>
                                        <p:strVal val="solid"/>
                                      </p:to>
                                    </p:set>
                                    <p:set>
                                      <p:cBhvr>
                                        <p:cTn id="9" dur="500" fill="hold"/>
                                        <p:tgtEl>
                                          <p:spTgt spid="11"/>
                                        </p:tgtEl>
                                        <p:attrNameLst>
                                          <p:attrName>fill.on</p:attrName>
                                        </p:attrNameLst>
                                      </p:cBhvr>
                                      <p:to>
                                        <p:strVal val="true"/>
                                      </p:to>
                                    </p:set>
                                  </p:childTnLst>
                                </p:cTn>
                              </p:par>
                              <p:par>
                                <p:cTn id="10" presetID="19" presetClass="emph" presetSubtype="0" fill="hold" grpId="0" nodeType="withEffect">
                                  <p:stCondLst>
                                    <p:cond delay="0"/>
                                  </p:stCondLst>
                                  <p:childTnLst>
                                    <p:animClr clrSpc="rgb" dir="cw">
                                      <p:cBhvr override="childStyle">
                                        <p:cTn id="11" dur="500" fill="hold"/>
                                        <p:tgtEl>
                                          <p:spTgt spid="12"/>
                                        </p:tgtEl>
                                        <p:attrNameLst>
                                          <p:attrName>style.color</p:attrName>
                                        </p:attrNameLst>
                                      </p:cBhvr>
                                      <p:to>
                                        <a:schemeClr val="accent2"/>
                                      </p:to>
                                    </p:animClr>
                                    <p:animClr clrSpc="rgb" dir="cw">
                                      <p:cBhvr>
                                        <p:cTn id="12" dur="500" fill="hold"/>
                                        <p:tgtEl>
                                          <p:spTgt spid="12"/>
                                        </p:tgtEl>
                                        <p:attrNameLst>
                                          <p:attrName>fillcolor</p:attrName>
                                        </p:attrNameLst>
                                      </p:cBhvr>
                                      <p:to>
                                        <a:schemeClr val="accent2"/>
                                      </p:to>
                                    </p:animClr>
                                    <p:set>
                                      <p:cBhvr>
                                        <p:cTn id="13" dur="500" fill="hold"/>
                                        <p:tgtEl>
                                          <p:spTgt spid="12"/>
                                        </p:tgtEl>
                                        <p:attrNameLst>
                                          <p:attrName>fill.type</p:attrName>
                                        </p:attrNameLst>
                                      </p:cBhvr>
                                      <p:to>
                                        <p:strVal val="solid"/>
                                      </p:to>
                                    </p:set>
                                    <p:set>
                                      <p:cBhvr>
                                        <p:cTn id="14" dur="500" fill="hold"/>
                                        <p:tgtEl>
                                          <p:spTgt spid="12"/>
                                        </p:tgtEl>
                                        <p:attrNameLst>
                                          <p:attrName>fill.on</p:attrName>
                                        </p:attrNameLst>
                                      </p:cBhvr>
                                      <p:to>
                                        <p:strVal val="true"/>
                                      </p:to>
                                    </p:set>
                                  </p:childTnLst>
                                </p:cTn>
                              </p:par>
                              <p:par>
                                <p:cTn id="15" presetID="3" presetClass="emph" presetSubtype="2" fill="hold" grpId="0" nodeType="withEffect">
                                  <p:stCondLst>
                                    <p:cond delay="0"/>
                                  </p:stCondLst>
                                  <p:childTnLst>
                                    <p:animClr clrSpc="rgb" dir="cw">
                                      <p:cBhvr override="childStyle">
                                        <p:cTn id="16" dur="500" fill="hold"/>
                                        <p:tgtEl>
                                          <p:spTgt spid="14"/>
                                        </p:tgtEl>
                                        <p:attrNameLst>
                                          <p:attrName>style.color</p:attrName>
                                        </p:attrNameLst>
                                      </p:cBhvr>
                                      <p:to>
                                        <a:srgbClr val="FFFFFF"/>
                                      </p:to>
                                    </p:animClr>
                                  </p:childTnLst>
                                </p:cTn>
                              </p:par>
                              <p:par>
                                <p:cTn id="17" presetID="3" presetClass="emph" presetSubtype="2" fill="hold" grpId="0" nodeType="withEffect">
                                  <p:stCondLst>
                                    <p:cond delay="0"/>
                                  </p:stCondLst>
                                  <p:childTnLst>
                                    <p:animClr clrSpc="rgb" dir="cw">
                                      <p:cBhvr override="childStyle">
                                        <p:cTn id="18" dur="500" fill="hold"/>
                                        <p:tgtEl>
                                          <p:spTgt spid="13"/>
                                        </p:tgtEl>
                                        <p:attrNameLst>
                                          <p:attrName>style.color</p:attrName>
                                        </p:attrNameLst>
                                      </p:cBhvr>
                                      <p:to>
                                        <a:srgbClr val="FFFF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5" descr="1664587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504950"/>
            <a:ext cx="3429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4" descr="Big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276600"/>
            <a:ext cx="9144000" cy="335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2"/>
          <p:cNvSpPr>
            <a:spLocks noGrp="1" noChangeArrowheads="1"/>
          </p:cNvSpPr>
          <p:nvPr>
            <p:ph type="title" idx="4294967295"/>
          </p:nvPr>
        </p:nvSpPr>
        <p:spPr/>
        <p:txBody>
          <a:bodyPr/>
          <a:lstStyle/>
          <a:p>
            <a:r>
              <a:rPr lang="zh-CN" altLang="en-US" dirty="0"/>
              <a:t>大数据起源：大数据时代</a:t>
            </a:r>
          </a:p>
        </p:txBody>
      </p:sp>
      <p:pic>
        <p:nvPicPr>
          <p:cNvPr id="4101" name="Picture 10" descr="2012082010222178120"/>
          <p:cNvPicPr>
            <a:picLocks noChangeAspect="1" noChangeArrowheads="1"/>
          </p:cNvPicPr>
          <p:nvPr/>
        </p:nvPicPr>
        <p:blipFill>
          <a:blip r:embed="rId5">
            <a:extLst>
              <a:ext uri="{28A0092B-C50C-407E-A947-70E740481C1C}">
                <a14:useLocalDpi xmlns:a14="http://schemas.microsoft.com/office/drawing/2010/main" val="0"/>
              </a:ext>
            </a:extLst>
          </a:blip>
          <a:srcRect l="16199" r="16199"/>
          <a:stretch>
            <a:fillRect/>
          </a:stretch>
        </p:blipFill>
        <p:spPr bwMode="auto">
          <a:xfrm>
            <a:off x="0" y="1036638"/>
            <a:ext cx="1981200"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5" descr="Img3695115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3700" y="1066800"/>
            <a:ext cx="24003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9</a:t>
            </a:fld>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p:txBody>
          <a:bodyPr/>
          <a:lstStyle/>
          <a:p>
            <a:r>
              <a:rPr lang="zh-CN" altLang="en-US" dirty="0"/>
              <a:t>大数据起源：第三次信息化浪潮</a:t>
            </a:r>
          </a:p>
        </p:txBody>
      </p:sp>
      <p:sp>
        <p:nvSpPr>
          <p:cNvPr id="5123" name="Rectangle 3"/>
          <p:cNvSpPr>
            <a:spLocks noGrp="1" noChangeArrowheads="1"/>
          </p:cNvSpPr>
          <p:nvPr>
            <p:ph type="body" idx="4294967295"/>
          </p:nvPr>
        </p:nvSpPr>
        <p:spPr>
          <a:xfrm>
            <a:off x="457200" y="1295400"/>
            <a:ext cx="8229600" cy="762000"/>
          </a:xfrm>
        </p:spPr>
        <p:txBody>
          <a:bodyPr/>
          <a:lstStyle/>
          <a:p>
            <a:r>
              <a:rPr lang="zh-CN" altLang="en-US" sz="2000" dirty="0"/>
              <a:t>根据</a:t>
            </a:r>
            <a:r>
              <a:rPr lang="en-US" altLang="zh-CN" sz="2000" dirty="0"/>
              <a:t>IBM</a:t>
            </a:r>
            <a:r>
              <a:rPr lang="zh-CN" altLang="en-US" sz="2000" dirty="0"/>
              <a:t>前首席执行官郭士纳的观点，</a:t>
            </a:r>
            <a:r>
              <a:rPr lang="en-US" altLang="zh-CN" sz="2000" dirty="0"/>
              <a:t>IT</a:t>
            </a:r>
            <a:r>
              <a:rPr lang="zh-CN" altLang="en-US" sz="2000" dirty="0"/>
              <a:t>领域每隔十五年就会迎来一次重大变革</a:t>
            </a:r>
          </a:p>
        </p:txBody>
      </p:sp>
      <p:graphicFrame>
        <p:nvGraphicFramePr>
          <p:cNvPr id="6149" name="Group 5"/>
          <p:cNvGraphicFramePr>
            <a:graphicFrameLocks noGrp="1"/>
          </p:cNvGraphicFramePr>
          <p:nvPr/>
        </p:nvGraphicFramePr>
        <p:xfrm>
          <a:off x="762000" y="2514600"/>
          <a:ext cx="7848600" cy="3660776"/>
        </p:xfrm>
        <a:graphic>
          <a:graphicData uri="http://schemas.openxmlformats.org/drawingml/2006/table">
            <a:tbl>
              <a:tblPr/>
              <a:tblGrid>
                <a:gridCol w="1422400">
                  <a:extLst>
                    <a:ext uri="{9D8B030D-6E8A-4147-A177-3AD203B41FA5}">
                      <a16:colId xmlns:a16="http://schemas.microsoft.com/office/drawing/2014/main" val="20000"/>
                    </a:ext>
                  </a:extLst>
                </a:gridCol>
                <a:gridCol w="1438275">
                  <a:extLst>
                    <a:ext uri="{9D8B030D-6E8A-4147-A177-3AD203B41FA5}">
                      <a16:colId xmlns:a16="http://schemas.microsoft.com/office/drawing/2014/main" val="20001"/>
                    </a:ext>
                  </a:extLst>
                </a:gridCol>
                <a:gridCol w="1503363">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2246312">
                  <a:extLst>
                    <a:ext uri="{9D8B030D-6E8A-4147-A177-3AD203B41FA5}">
                      <a16:colId xmlns:a16="http://schemas.microsoft.com/office/drawing/2014/main" val="20004"/>
                    </a:ext>
                  </a:extLst>
                </a:gridCol>
              </a:tblGrid>
              <a:tr h="3921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信息化浪潮</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发生时间</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标志</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解决问题</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代表企业</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10604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第一次浪潮</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1980年前后</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个人计算机</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信息处理</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Intel、AMD、IBM、苹果、微软、联想、戴尔、惠普等</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9017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第二次浪潮</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1995年前后</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互联网</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信息传输</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雅虎、谷歌、阿里巴巴、百度、腾讯等</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1306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第三次浪潮</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2010年前后</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物联网、云计算和大数据</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信息爆炸</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将涌现出一批新的市场标杆企业</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bl>
          </a:graphicData>
        </a:graphic>
      </p:graphicFrame>
      <p:sp>
        <p:nvSpPr>
          <p:cNvPr id="5156" name="Text Box 75"/>
          <p:cNvSpPr txBox="1">
            <a:spLocks noChangeArrowheads="1"/>
          </p:cNvSpPr>
          <p:nvPr/>
        </p:nvSpPr>
        <p:spPr bwMode="auto">
          <a:xfrm>
            <a:off x="2897188" y="1981200"/>
            <a:ext cx="29702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eaLnBrk="1" hangingPunct="1"/>
            <a:r>
              <a:rPr lang="zh-CN" altLang="en-US" b="1"/>
              <a:t>表1-1 三次信息化浪潮</a:t>
            </a:r>
          </a:p>
        </p:txBody>
      </p:sp>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10</a:t>
            </a:fld>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lstStyle/>
          <a:p>
            <a:r>
              <a:rPr lang="zh-CN" altLang="en-US" dirty="0"/>
              <a:t>大数据起源：存储设备</a:t>
            </a:r>
          </a:p>
        </p:txBody>
      </p:sp>
      <p:pic>
        <p:nvPicPr>
          <p:cNvPr id="6147" name="Picture 4" descr="图片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005678"/>
            <a:ext cx="8136904" cy="5478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11</a:t>
            </a:fld>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r>
              <a:rPr lang="zh-CN" altLang="en-US" dirty="0"/>
              <a:t>大数据起源：</a:t>
            </a:r>
            <a:r>
              <a:rPr lang="en-US" altLang="zh-CN" dirty="0"/>
              <a:t>CPU</a:t>
            </a:r>
            <a:r>
              <a:rPr lang="zh-CN" altLang="en-US" dirty="0"/>
              <a:t>处理能力</a:t>
            </a:r>
          </a:p>
        </p:txBody>
      </p:sp>
      <p:pic>
        <p:nvPicPr>
          <p:cNvPr id="7171" name="Picture 4" descr="图片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6581" y="980728"/>
            <a:ext cx="8513891" cy="548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12</a:t>
            </a:fld>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p:txBody>
          <a:bodyPr/>
          <a:lstStyle/>
          <a:p>
            <a:r>
              <a:rPr lang="zh-CN" altLang="en-US" dirty="0"/>
              <a:t>大数据起源：网络带宽</a:t>
            </a:r>
          </a:p>
        </p:txBody>
      </p:sp>
      <p:pic>
        <p:nvPicPr>
          <p:cNvPr id="8195" name="Picture 4" descr="图片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980728"/>
            <a:ext cx="7864440" cy="5191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 Box 5"/>
          <p:cNvSpPr txBox="1">
            <a:spLocks noChangeArrowheads="1"/>
          </p:cNvSpPr>
          <p:nvPr/>
        </p:nvSpPr>
        <p:spPr bwMode="auto">
          <a:xfrm>
            <a:off x="3033713" y="6188075"/>
            <a:ext cx="38242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eaLnBrk="1" hangingPunct="1"/>
            <a:r>
              <a:rPr lang="zh-CN" altLang="en-US" dirty="0"/>
              <a:t>网络带宽随时间变化情况</a:t>
            </a:r>
          </a:p>
        </p:txBody>
      </p:sp>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13</a:t>
            </a:fld>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r>
              <a:rPr lang="zh-CN" altLang="en-US" dirty="0"/>
              <a:t>大数据起源：数据产生方式</a:t>
            </a:r>
          </a:p>
        </p:txBody>
      </p:sp>
      <p:pic>
        <p:nvPicPr>
          <p:cNvPr id="9219" name="Picture 4" descr="图片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980728"/>
            <a:ext cx="7632848" cy="5498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14</a:t>
            </a:fld>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p:txBody>
          <a:bodyPr/>
          <a:lstStyle/>
          <a:p>
            <a:r>
              <a:rPr lang="zh-CN" altLang="en-US" dirty="0"/>
              <a:t>大数据起源：发展历程</a:t>
            </a:r>
          </a:p>
        </p:txBody>
      </p:sp>
      <p:sp>
        <p:nvSpPr>
          <p:cNvPr id="10243" name="Rectangle 3"/>
          <p:cNvSpPr>
            <a:spLocks noGrp="1" noChangeArrowheads="1"/>
          </p:cNvSpPr>
          <p:nvPr>
            <p:ph type="body" idx="4294967295"/>
          </p:nvPr>
        </p:nvSpPr>
        <p:spPr/>
        <p:txBody>
          <a:bodyPr/>
          <a:lstStyle/>
          <a:p>
            <a:pPr>
              <a:buFontTx/>
              <a:buNone/>
            </a:pPr>
            <a:endParaRPr lang="zh-CN" altLang="en-US" sz="2400"/>
          </a:p>
          <a:p>
            <a:endParaRPr lang="zh-CN" altLang="en-US" sz="2400"/>
          </a:p>
        </p:txBody>
      </p:sp>
      <p:graphicFrame>
        <p:nvGraphicFramePr>
          <p:cNvPr id="13317" name="Group 5"/>
          <p:cNvGraphicFramePr>
            <a:graphicFrameLocks noGrp="1"/>
          </p:cNvGraphicFramePr>
          <p:nvPr>
            <p:extLst>
              <p:ext uri="{D42A27DB-BD31-4B8C-83A1-F6EECF244321}">
                <p14:modId xmlns:p14="http://schemas.microsoft.com/office/powerpoint/2010/main" val="3741160383"/>
              </p:ext>
            </p:extLst>
          </p:nvPr>
        </p:nvGraphicFramePr>
        <p:xfrm>
          <a:off x="428194" y="1180423"/>
          <a:ext cx="8424935" cy="4896544"/>
        </p:xfrm>
        <a:graphic>
          <a:graphicData uri="http://schemas.openxmlformats.org/drawingml/2006/table">
            <a:tbl>
              <a:tblPr/>
              <a:tblGrid>
                <a:gridCol w="1724522">
                  <a:extLst>
                    <a:ext uri="{9D8B030D-6E8A-4147-A177-3AD203B41FA5}">
                      <a16:colId xmlns:a16="http://schemas.microsoft.com/office/drawing/2014/main" val="20000"/>
                    </a:ext>
                  </a:extLst>
                </a:gridCol>
                <a:gridCol w="1635910">
                  <a:extLst>
                    <a:ext uri="{9D8B030D-6E8A-4147-A177-3AD203B41FA5}">
                      <a16:colId xmlns:a16="http://schemas.microsoft.com/office/drawing/2014/main" val="20001"/>
                    </a:ext>
                  </a:extLst>
                </a:gridCol>
                <a:gridCol w="5064503">
                  <a:extLst>
                    <a:ext uri="{9D8B030D-6E8A-4147-A177-3AD203B41FA5}">
                      <a16:colId xmlns:a16="http://schemas.microsoft.com/office/drawing/2014/main" val="20002"/>
                    </a:ext>
                  </a:extLst>
                </a:gridCol>
              </a:tblGrid>
              <a:tr h="45488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a:ln>
                            <a:noFill/>
                          </a:ln>
                          <a:solidFill>
                            <a:srgbClr val="FFFFFF"/>
                          </a:solidFill>
                          <a:effectLst/>
                          <a:latin typeface="Calibri" pitchFamily="34" charset="0"/>
                          <a:ea typeface="宋体" pitchFamily="2" charset="-122"/>
                        </a:rPr>
                        <a:t>阶段</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时间</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内容</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148055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Calibri" pitchFamily="34" charset="0"/>
                          <a:ea typeface="宋体" pitchFamily="2" charset="-122"/>
                        </a:rPr>
                        <a:t>第一阶段：萌芽期</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Calibri" pitchFamily="34" charset="0"/>
                          <a:ea typeface="宋体" pitchFamily="2" charset="-122"/>
                        </a:rPr>
                        <a:t>上世纪90年代至本世纪初</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itchFamily="34" charset="0"/>
                          <a:ea typeface="宋体" pitchFamily="2" charset="-122"/>
                        </a:rPr>
                        <a:t>随着数据挖掘理论和数据库技术的逐步成熟，一批商业智能工具和知识管理技术开始被应用，如数据仓库、专家系统、知识管理系统等。</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216358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itchFamily="34" charset="0"/>
                          <a:ea typeface="宋体" pitchFamily="2" charset="-122"/>
                        </a:rPr>
                        <a:t>第二阶段：成熟期</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itchFamily="34" charset="0"/>
                          <a:ea typeface="宋体" pitchFamily="2" charset="-122"/>
                        </a:rPr>
                        <a:t>本世纪前十年</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Calibri" pitchFamily="34" charset="0"/>
                          <a:ea typeface="宋体" pitchFamily="2" charset="-122"/>
                        </a:rPr>
                        <a:t>Web2.0应用迅猛发展，非结构化数据大量产生，传统处理方法难以应对，带动了大数据技术的快速突破，大数据解决方案逐渐走向成熟，形成了并行计算与分布式系统两大核心技术，谷歌的GF</a:t>
                      </a:r>
                      <a:r>
                        <a:rPr kumimoji="0" lang="en-US" altLang="zh-CN" sz="2000" b="0" i="0" u="none" strike="noStrike" cap="none" normalizeH="0" baseline="0" dirty="0">
                          <a:ln>
                            <a:noFill/>
                          </a:ln>
                          <a:solidFill>
                            <a:srgbClr val="000000"/>
                          </a:solidFill>
                          <a:effectLst/>
                          <a:latin typeface="Calibri" pitchFamily="34" charset="0"/>
                          <a:ea typeface="宋体" pitchFamily="2" charset="-122"/>
                        </a:rPr>
                        <a:t>S</a:t>
                      </a:r>
                      <a:r>
                        <a:rPr kumimoji="0" lang="zh-CN" altLang="en-US" sz="2000" b="0" i="0" u="none" strike="noStrike" cap="none" normalizeH="0" baseline="0" dirty="0">
                          <a:ln>
                            <a:noFill/>
                          </a:ln>
                          <a:solidFill>
                            <a:srgbClr val="000000"/>
                          </a:solidFill>
                          <a:effectLst/>
                          <a:latin typeface="Calibri" pitchFamily="34" charset="0"/>
                          <a:ea typeface="宋体" pitchFamily="2" charset="-122"/>
                        </a:rPr>
                        <a:t>和MapReduce等开发数据技术受到追捧，Hadoop平台开始大行其道</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79752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itchFamily="34" charset="0"/>
                          <a:ea typeface="宋体" pitchFamily="2" charset="-122"/>
                        </a:rPr>
                        <a:t>第三阶段：大规模应用期</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a:ln>
                            <a:noFill/>
                          </a:ln>
                          <a:solidFill>
                            <a:srgbClr val="000000"/>
                          </a:solidFill>
                          <a:effectLst/>
                          <a:latin typeface="Calibri" pitchFamily="34" charset="0"/>
                          <a:ea typeface="宋体" pitchFamily="2" charset="-122"/>
                        </a:rPr>
                        <a:t>2010年以后</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Calibri" pitchFamily="34" charset="0"/>
                          <a:ea typeface="宋体" pitchFamily="2" charset="-122"/>
                        </a:rPr>
                        <a:t>大数据应用渗透各行各业，数据驱动决策，信息社会智能化程度大幅提高</a:t>
                      </a:r>
                    </a:p>
                  </a:txBody>
                  <a:tcPr marT="45713" marB="4571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bl>
          </a:graphicData>
        </a:graphic>
      </p:graphicFrame>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15</a:t>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同侧圆角矩形 11"/>
          <p:cNvSpPr/>
          <p:nvPr/>
        </p:nvSpPr>
        <p:spPr>
          <a:xfrm rot="16200000" flipV="1">
            <a:off x="4707953" y="-980012"/>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solidFill>
                <a:prstClr val="black"/>
              </a:solidFill>
            </a:endParaRPr>
          </a:p>
        </p:txBody>
      </p:sp>
      <p:sp>
        <p:nvSpPr>
          <p:cNvPr id="11" name="同侧圆角矩形 10"/>
          <p:cNvSpPr/>
          <p:nvPr/>
        </p:nvSpPr>
        <p:spPr>
          <a:xfrm rot="16200000">
            <a:off x="1401165" y="1416323"/>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solidFill>
                <a:prstClr val="black"/>
              </a:solidFill>
            </a:endParaRPr>
          </a:p>
        </p:txBody>
      </p:sp>
      <p:sp>
        <p:nvSpPr>
          <p:cNvPr id="13" name="矩形 12"/>
          <p:cNvSpPr/>
          <p:nvPr/>
        </p:nvSpPr>
        <p:spPr>
          <a:xfrm>
            <a:off x="2227484" y="1557581"/>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rgbClr val="1F497D"/>
                </a:solidFill>
                <a:latin typeface="黑体" pitchFamily="49" charset="-122"/>
                <a:ea typeface="黑体" pitchFamily="49" charset="-122"/>
              </a:rPr>
              <a:t>大数据的起源</a:t>
            </a:r>
          </a:p>
        </p:txBody>
      </p:sp>
      <p:sp>
        <p:nvSpPr>
          <p:cNvPr id="14" name="矩形 13"/>
          <p:cNvSpPr>
            <a:spLocks noChangeArrowheads="1"/>
          </p:cNvSpPr>
          <p:nvPr/>
        </p:nvSpPr>
        <p:spPr bwMode="auto">
          <a:xfrm>
            <a:off x="1547817" y="1608559"/>
            <a:ext cx="340157" cy="461665"/>
          </a:xfrm>
          <a:prstGeom prst="rect">
            <a:avLst/>
          </a:prstGeom>
          <a:noFill/>
          <a:ln w="9525">
            <a:noFill/>
            <a:miter lim="800000"/>
            <a:headEnd/>
            <a:tailEnd/>
          </a:ln>
        </p:spPr>
        <p:txBody>
          <a:bodyPr wrap="none">
            <a:spAutoFit/>
          </a:bodyPr>
          <a:lstStyle/>
          <a:p>
            <a:pPr algn="ctr"/>
            <a:r>
              <a:rPr lang="en-US" altLang="zh-CN" sz="2400" b="1" dirty="0">
                <a:solidFill>
                  <a:srgbClr val="C0504D">
                    <a:lumMod val="50000"/>
                  </a:srgbClr>
                </a:solidFill>
                <a:latin typeface="黑体" pitchFamily="49" charset="-122"/>
                <a:ea typeface="黑体" pitchFamily="49" charset="-122"/>
              </a:rPr>
              <a:t>1</a:t>
            </a:r>
            <a:endParaRPr lang="ko-KR" altLang="en-US" sz="2400" b="1" dirty="0">
              <a:solidFill>
                <a:srgbClr val="C0504D">
                  <a:lumMod val="50000"/>
                </a:srgbClr>
              </a:solidFill>
              <a:latin typeface="黑体" pitchFamily="49" charset="-122"/>
              <a:ea typeface="黑体" pitchFamily="49" charset="-122"/>
            </a:endParaRPr>
          </a:p>
        </p:txBody>
      </p:sp>
      <p:sp>
        <p:nvSpPr>
          <p:cNvPr id="16406" name="标题 1"/>
          <p:cNvSpPr>
            <a:spLocks noGrp="1"/>
          </p:cNvSpPr>
          <p:nvPr>
            <p:ph type="title"/>
          </p:nvPr>
        </p:nvSpPr>
        <p:spPr>
          <a:xfrm>
            <a:off x="457200" y="123825"/>
            <a:ext cx="8229600" cy="661988"/>
          </a:xfrm>
        </p:spPr>
        <p:txBody>
          <a:bodyPr/>
          <a:lstStyle/>
          <a:p>
            <a:r>
              <a:rPr lang="zh-CN" altLang="en-US" dirty="0">
                <a:latin typeface="黑体" pitchFamily="49" charset="-122"/>
                <a:ea typeface="黑体" pitchFamily="49" charset="-122"/>
              </a:rPr>
              <a:t>提纲</a:t>
            </a:r>
            <a:r>
              <a:rPr lang="zh-CN" altLang="en-US" dirty="0">
                <a:latin typeface="Palatino Linotype" pitchFamily="18" charset="0"/>
                <a:ea typeface="黑体" pitchFamily="49" charset="-122"/>
              </a:rPr>
              <a:t>（</a:t>
            </a:r>
            <a:r>
              <a:rPr lang="en-US" altLang="zh-CN" dirty="0">
                <a:latin typeface="Palatino Linotype" pitchFamily="18" charset="0"/>
                <a:ea typeface="黑体" pitchFamily="49" charset="-122"/>
              </a:rPr>
              <a:t>Outlines</a:t>
            </a:r>
            <a:r>
              <a:rPr lang="zh-CN" altLang="en-US" dirty="0">
                <a:latin typeface="Palatino Linotype" pitchFamily="18" charset="0"/>
                <a:ea typeface="黑体" pitchFamily="49" charset="-122"/>
              </a:rPr>
              <a:t>）</a:t>
            </a:r>
          </a:p>
        </p:txBody>
      </p:sp>
      <p:sp>
        <p:nvSpPr>
          <p:cNvPr id="29" name="同侧圆角矩形 28"/>
          <p:cNvSpPr/>
          <p:nvPr/>
        </p:nvSpPr>
        <p:spPr>
          <a:xfrm rot="16200000">
            <a:off x="1400102" y="2136403"/>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solidFill>
                <a:prstClr val="black"/>
              </a:solidFill>
            </a:endParaRPr>
          </a:p>
        </p:txBody>
      </p:sp>
      <p:sp>
        <p:nvSpPr>
          <p:cNvPr id="30" name="同侧圆角矩形 29"/>
          <p:cNvSpPr/>
          <p:nvPr/>
        </p:nvSpPr>
        <p:spPr>
          <a:xfrm rot="16200000" flipV="1">
            <a:off x="4706890" y="-259932"/>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solidFill>
                <a:prstClr val="black"/>
              </a:solidFill>
            </a:endParaRPr>
          </a:p>
        </p:txBody>
      </p:sp>
      <p:sp>
        <p:nvSpPr>
          <p:cNvPr id="31" name="矩形 30"/>
          <p:cNvSpPr/>
          <p:nvPr/>
        </p:nvSpPr>
        <p:spPr>
          <a:xfrm>
            <a:off x="2226421" y="2277661"/>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rgbClr val="1F497D"/>
                </a:solidFill>
                <a:latin typeface="黑体" pitchFamily="49" charset="-122"/>
                <a:ea typeface="黑体" pitchFamily="49" charset="-122"/>
              </a:rPr>
              <a:t>大数据的特征</a:t>
            </a:r>
          </a:p>
        </p:txBody>
      </p:sp>
      <p:sp>
        <p:nvSpPr>
          <p:cNvPr id="32" name="矩形 31"/>
          <p:cNvSpPr>
            <a:spLocks noChangeArrowheads="1"/>
          </p:cNvSpPr>
          <p:nvPr/>
        </p:nvSpPr>
        <p:spPr bwMode="auto">
          <a:xfrm>
            <a:off x="1546754" y="2328639"/>
            <a:ext cx="340158" cy="461665"/>
          </a:xfrm>
          <a:prstGeom prst="rect">
            <a:avLst/>
          </a:prstGeom>
          <a:noFill/>
          <a:ln w="9525">
            <a:noFill/>
            <a:miter lim="800000"/>
            <a:headEnd/>
            <a:tailEnd/>
          </a:ln>
        </p:spPr>
        <p:txBody>
          <a:bodyPr wrap="none">
            <a:spAutoFit/>
          </a:bodyPr>
          <a:lstStyle/>
          <a:p>
            <a:pPr algn="ctr"/>
            <a:r>
              <a:rPr lang="en-US" altLang="zh-CN" sz="2400" b="1" dirty="0">
                <a:solidFill>
                  <a:srgbClr val="C0504D">
                    <a:lumMod val="50000"/>
                  </a:srgbClr>
                </a:solidFill>
                <a:latin typeface="黑体" pitchFamily="49" charset="-122"/>
                <a:ea typeface="黑体" pitchFamily="49" charset="-122"/>
              </a:rPr>
              <a:t>2</a:t>
            </a:r>
            <a:endParaRPr lang="ko-KR" altLang="en-US" sz="2400" b="1" dirty="0">
              <a:solidFill>
                <a:srgbClr val="C0504D">
                  <a:lumMod val="50000"/>
                </a:srgbClr>
              </a:solidFill>
              <a:latin typeface="黑体" pitchFamily="49" charset="-122"/>
              <a:ea typeface="黑体" pitchFamily="49" charset="-122"/>
            </a:endParaRPr>
          </a:p>
        </p:txBody>
      </p:sp>
      <p:grpSp>
        <p:nvGrpSpPr>
          <p:cNvPr id="5" name="组合 4"/>
          <p:cNvGrpSpPr/>
          <p:nvPr/>
        </p:nvGrpSpPr>
        <p:grpSpPr>
          <a:xfrm>
            <a:off x="1259633" y="2996952"/>
            <a:ext cx="6550025" cy="565989"/>
            <a:chOff x="1259633" y="2997140"/>
            <a:chExt cx="6550025" cy="565989"/>
          </a:xfrm>
        </p:grpSpPr>
        <p:sp>
          <p:nvSpPr>
            <p:cNvPr id="33" name="同侧圆角矩形 32"/>
            <p:cNvSpPr/>
            <p:nvPr/>
          </p:nvSpPr>
          <p:spPr>
            <a:xfrm rot="16200000">
              <a:off x="1400102" y="2856671"/>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solidFill>
                  <a:prstClr val="black"/>
                </a:solidFill>
              </a:endParaRPr>
            </a:p>
          </p:txBody>
        </p:sp>
        <p:sp>
          <p:nvSpPr>
            <p:cNvPr id="34" name="同侧圆角矩形 33"/>
            <p:cNvSpPr/>
            <p:nvPr/>
          </p:nvSpPr>
          <p:spPr>
            <a:xfrm rot="16200000" flipV="1">
              <a:off x="4706890" y="460336"/>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solidFill>
                  <a:prstClr val="black"/>
                </a:solidFill>
              </a:endParaRPr>
            </a:p>
          </p:txBody>
        </p:sp>
        <p:sp>
          <p:nvSpPr>
            <p:cNvPr id="35" name="矩形 34"/>
            <p:cNvSpPr/>
            <p:nvPr/>
          </p:nvSpPr>
          <p:spPr>
            <a:xfrm>
              <a:off x="2226421" y="2997929"/>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rgbClr val="1F497D"/>
                  </a:solidFill>
                  <a:latin typeface="黑体" pitchFamily="49" charset="-122"/>
                  <a:ea typeface="黑体" pitchFamily="49" charset="-122"/>
                </a:rPr>
                <a:t>大数据处理框架</a:t>
              </a:r>
            </a:p>
          </p:txBody>
        </p:sp>
        <p:sp>
          <p:nvSpPr>
            <p:cNvPr id="36" name="矩形 35"/>
            <p:cNvSpPr>
              <a:spLocks noChangeArrowheads="1"/>
            </p:cNvSpPr>
            <p:nvPr/>
          </p:nvSpPr>
          <p:spPr bwMode="auto">
            <a:xfrm>
              <a:off x="1546754" y="3048907"/>
              <a:ext cx="340158" cy="461665"/>
            </a:xfrm>
            <a:prstGeom prst="rect">
              <a:avLst/>
            </a:prstGeom>
            <a:noFill/>
            <a:ln w="9525">
              <a:noFill/>
              <a:miter lim="800000"/>
              <a:headEnd/>
              <a:tailEnd/>
            </a:ln>
          </p:spPr>
          <p:txBody>
            <a:bodyPr wrap="none">
              <a:spAutoFit/>
            </a:bodyPr>
            <a:lstStyle/>
            <a:p>
              <a:pPr algn="ctr"/>
              <a:r>
                <a:rPr lang="en-US" altLang="zh-CN" sz="2400" b="1" dirty="0">
                  <a:solidFill>
                    <a:srgbClr val="C0504D">
                      <a:lumMod val="50000"/>
                    </a:srgbClr>
                  </a:solidFill>
                  <a:latin typeface="黑体" pitchFamily="49" charset="-122"/>
                  <a:ea typeface="黑体" pitchFamily="49" charset="-122"/>
                </a:rPr>
                <a:t>3</a:t>
              </a:r>
              <a:endParaRPr lang="ko-KR" altLang="en-US" sz="2400" b="1" dirty="0">
                <a:solidFill>
                  <a:srgbClr val="C0504D">
                    <a:lumMod val="50000"/>
                  </a:srgbClr>
                </a:solidFill>
                <a:latin typeface="黑体" pitchFamily="49" charset="-122"/>
                <a:ea typeface="黑体" pitchFamily="49" charset="-122"/>
              </a:endParaRPr>
            </a:p>
          </p:txBody>
        </p:sp>
      </p:grpSp>
      <p:grpSp>
        <p:nvGrpSpPr>
          <p:cNvPr id="6" name="组合 5"/>
          <p:cNvGrpSpPr/>
          <p:nvPr/>
        </p:nvGrpSpPr>
        <p:grpSpPr>
          <a:xfrm>
            <a:off x="1261716" y="3717032"/>
            <a:ext cx="6550025" cy="565989"/>
            <a:chOff x="1261716" y="3663691"/>
            <a:chExt cx="6550025" cy="565989"/>
          </a:xfrm>
        </p:grpSpPr>
        <p:sp>
          <p:nvSpPr>
            <p:cNvPr id="37" name="同侧圆角矩形 36"/>
            <p:cNvSpPr/>
            <p:nvPr/>
          </p:nvSpPr>
          <p:spPr>
            <a:xfrm rot="16200000">
              <a:off x="1402185" y="3523222"/>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solidFill>
                  <a:prstClr val="black"/>
                </a:solidFill>
              </a:endParaRPr>
            </a:p>
          </p:txBody>
        </p:sp>
        <p:sp>
          <p:nvSpPr>
            <p:cNvPr id="38" name="同侧圆角矩形 37"/>
            <p:cNvSpPr/>
            <p:nvPr/>
          </p:nvSpPr>
          <p:spPr>
            <a:xfrm rot="16200000" flipV="1">
              <a:off x="4708973" y="1126887"/>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solidFill>
                  <a:prstClr val="black"/>
                </a:solidFill>
              </a:endParaRPr>
            </a:p>
          </p:txBody>
        </p:sp>
        <p:sp>
          <p:nvSpPr>
            <p:cNvPr id="39" name="矩形 38"/>
            <p:cNvSpPr/>
            <p:nvPr/>
          </p:nvSpPr>
          <p:spPr>
            <a:xfrm>
              <a:off x="2228504" y="3664480"/>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rgbClr val="1F497D"/>
                  </a:solidFill>
                  <a:latin typeface="黑体" pitchFamily="49" charset="-122"/>
                  <a:ea typeface="黑体" pitchFamily="49" charset="-122"/>
                </a:rPr>
                <a:t>大数据处理与挖掘应用</a:t>
              </a:r>
            </a:p>
          </p:txBody>
        </p:sp>
        <p:sp>
          <p:nvSpPr>
            <p:cNvPr id="40" name="矩形 39"/>
            <p:cNvSpPr>
              <a:spLocks noChangeArrowheads="1"/>
            </p:cNvSpPr>
            <p:nvPr/>
          </p:nvSpPr>
          <p:spPr bwMode="auto">
            <a:xfrm>
              <a:off x="1548837" y="3715458"/>
              <a:ext cx="340158" cy="461665"/>
            </a:xfrm>
            <a:prstGeom prst="rect">
              <a:avLst/>
            </a:prstGeom>
            <a:noFill/>
            <a:ln w="9525">
              <a:noFill/>
              <a:miter lim="800000"/>
              <a:headEnd/>
              <a:tailEnd/>
            </a:ln>
          </p:spPr>
          <p:txBody>
            <a:bodyPr wrap="none">
              <a:spAutoFit/>
            </a:bodyPr>
            <a:lstStyle/>
            <a:p>
              <a:pPr algn="ctr"/>
              <a:r>
                <a:rPr lang="en-US" altLang="zh-CN" sz="2400" b="1" dirty="0">
                  <a:solidFill>
                    <a:srgbClr val="C0504D">
                      <a:lumMod val="50000"/>
                    </a:srgbClr>
                  </a:solidFill>
                  <a:latin typeface="黑体" pitchFamily="49" charset="-122"/>
                  <a:ea typeface="黑体" pitchFamily="49" charset="-122"/>
                </a:rPr>
                <a:t>4</a:t>
              </a:r>
              <a:endParaRPr lang="ko-KR" altLang="en-US" sz="2400" b="1" dirty="0">
                <a:solidFill>
                  <a:srgbClr val="C0504D">
                    <a:lumMod val="50000"/>
                  </a:srgbClr>
                </a:solidFill>
                <a:latin typeface="黑体" pitchFamily="49" charset="-122"/>
                <a:ea typeface="黑体" pitchFamily="49" charset="-122"/>
              </a:endParaRPr>
            </a:p>
          </p:txBody>
        </p:sp>
      </p:grpSp>
      <p:sp>
        <p:nvSpPr>
          <p:cNvPr id="4" name="灯片编号占位符 3"/>
          <p:cNvSpPr>
            <a:spLocks noGrp="1"/>
          </p:cNvSpPr>
          <p:nvPr>
            <p:ph type="sldNum" sz="quarter" idx="12"/>
          </p:nvPr>
        </p:nvSpPr>
        <p:spPr/>
        <p:txBody>
          <a:bodyPr/>
          <a:lstStyle/>
          <a:p>
            <a:pPr>
              <a:defRPr/>
            </a:pPr>
            <a:fld id="{73B3C56C-5700-4E55-BF40-61423C59FA56}" type="slidenum">
              <a:rPr lang="zh-CN" altLang="en-US" smtClean="0"/>
              <a:pPr>
                <a:defRPr/>
              </a:pPr>
              <a:t>16</a:t>
            </a:fld>
            <a:endParaRPr lang="zh-CN" altLang="en-US" dirty="0"/>
          </a:p>
        </p:txBody>
      </p:sp>
    </p:spTree>
    <p:extLst>
      <p:ext uri="{BB962C8B-B14F-4D97-AF65-F5344CB8AC3E}">
        <p14:creationId xmlns:p14="http://schemas.microsoft.com/office/powerpoint/2010/main" val="29588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grpId="0" nodeType="withEffect">
                                  <p:stCondLst>
                                    <p:cond delay="0"/>
                                  </p:stCondLst>
                                  <p:childTnLst>
                                    <p:animClr clrSpc="rgb" dir="cw">
                                      <p:cBhvr override="childStyle">
                                        <p:cTn id="6" dur="500" fill="hold"/>
                                        <p:tgtEl>
                                          <p:spTgt spid="30"/>
                                        </p:tgtEl>
                                        <p:attrNameLst>
                                          <p:attrName>style.color</p:attrName>
                                        </p:attrNameLst>
                                      </p:cBhvr>
                                      <p:to>
                                        <a:schemeClr val="accent2"/>
                                      </p:to>
                                    </p:animClr>
                                    <p:animClr clrSpc="rgb" dir="cw">
                                      <p:cBhvr>
                                        <p:cTn id="7" dur="500" fill="hold"/>
                                        <p:tgtEl>
                                          <p:spTgt spid="30"/>
                                        </p:tgtEl>
                                        <p:attrNameLst>
                                          <p:attrName>fillcolor</p:attrName>
                                        </p:attrNameLst>
                                      </p:cBhvr>
                                      <p:to>
                                        <a:schemeClr val="accent2"/>
                                      </p:to>
                                    </p:animClr>
                                    <p:set>
                                      <p:cBhvr>
                                        <p:cTn id="8" dur="500" fill="hold"/>
                                        <p:tgtEl>
                                          <p:spTgt spid="30"/>
                                        </p:tgtEl>
                                        <p:attrNameLst>
                                          <p:attrName>fill.type</p:attrName>
                                        </p:attrNameLst>
                                      </p:cBhvr>
                                      <p:to>
                                        <p:strVal val="solid"/>
                                      </p:to>
                                    </p:set>
                                    <p:set>
                                      <p:cBhvr>
                                        <p:cTn id="9" dur="500" fill="hold"/>
                                        <p:tgtEl>
                                          <p:spTgt spid="30"/>
                                        </p:tgtEl>
                                        <p:attrNameLst>
                                          <p:attrName>fill.on</p:attrName>
                                        </p:attrNameLst>
                                      </p:cBhvr>
                                      <p:to>
                                        <p:strVal val="true"/>
                                      </p:to>
                                    </p:set>
                                  </p:childTnLst>
                                </p:cTn>
                              </p:par>
                              <p:par>
                                <p:cTn id="10" presetID="19" presetClass="emph" presetSubtype="0" fill="hold" grpId="0" nodeType="withEffect">
                                  <p:stCondLst>
                                    <p:cond delay="0"/>
                                  </p:stCondLst>
                                  <p:childTnLst>
                                    <p:animClr clrSpc="rgb" dir="cw">
                                      <p:cBhvr override="childStyle">
                                        <p:cTn id="11" dur="500" fill="hold"/>
                                        <p:tgtEl>
                                          <p:spTgt spid="29"/>
                                        </p:tgtEl>
                                        <p:attrNameLst>
                                          <p:attrName>style.color</p:attrName>
                                        </p:attrNameLst>
                                      </p:cBhvr>
                                      <p:to>
                                        <a:schemeClr val="accent2"/>
                                      </p:to>
                                    </p:animClr>
                                    <p:animClr clrSpc="rgb" dir="cw">
                                      <p:cBhvr>
                                        <p:cTn id="12" dur="500" fill="hold"/>
                                        <p:tgtEl>
                                          <p:spTgt spid="29"/>
                                        </p:tgtEl>
                                        <p:attrNameLst>
                                          <p:attrName>fillcolor</p:attrName>
                                        </p:attrNameLst>
                                      </p:cBhvr>
                                      <p:to>
                                        <a:schemeClr val="accent2"/>
                                      </p:to>
                                    </p:animClr>
                                    <p:set>
                                      <p:cBhvr>
                                        <p:cTn id="13" dur="500" fill="hold"/>
                                        <p:tgtEl>
                                          <p:spTgt spid="29"/>
                                        </p:tgtEl>
                                        <p:attrNameLst>
                                          <p:attrName>fill.type</p:attrName>
                                        </p:attrNameLst>
                                      </p:cBhvr>
                                      <p:to>
                                        <p:strVal val="solid"/>
                                      </p:to>
                                    </p:set>
                                    <p:set>
                                      <p:cBhvr>
                                        <p:cTn id="14" dur="500" fill="hold"/>
                                        <p:tgtEl>
                                          <p:spTgt spid="29"/>
                                        </p:tgtEl>
                                        <p:attrNameLst>
                                          <p:attrName>fill.on</p:attrName>
                                        </p:attrNameLst>
                                      </p:cBhvr>
                                      <p:to>
                                        <p:strVal val="true"/>
                                      </p:to>
                                    </p:set>
                                  </p:childTnLst>
                                </p:cTn>
                              </p:par>
                              <p:par>
                                <p:cTn id="15" presetID="3" presetClass="emph" presetSubtype="2" fill="hold" grpId="0" nodeType="withEffect">
                                  <p:stCondLst>
                                    <p:cond delay="0"/>
                                  </p:stCondLst>
                                  <p:childTnLst>
                                    <p:animClr clrSpc="rgb" dir="cw">
                                      <p:cBhvr override="childStyle">
                                        <p:cTn id="16" dur="500" fill="hold"/>
                                        <p:tgtEl>
                                          <p:spTgt spid="32"/>
                                        </p:tgtEl>
                                        <p:attrNameLst>
                                          <p:attrName>style.color</p:attrName>
                                        </p:attrNameLst>
                                      </p:cBhvr>
                                      <p:to>
                                        <a:srgbClr val="FFFFFF"/>
                                      </p:to>
                                    </p:animClr>
                                  </p:childTnLst>
                                </p:cTn>
                              </p:par>
                              <p:par>
                                <p:cTn id="17" presetID="3" presetClass="emph" presetSubtype="2" fill="hold" grpId="0" nodeType="withEffect">
                                  <p:stCondLst>
                                    <p:cond delay="0"/>
                                  </p:stCondLst>
                                  <p:childTnLst>
                                    <p:animClr clrSpc="rgb" dir="cw">
                                      <p:cBhvr override="childStyle">
                                        <p:cTn id="18" dur="500" fill="hold"/>
                                        <p:tgtEl>
                                          <p:spTgt spid="31"/>
                                        </p:tgtEl>
                                        <p:attrNameLst>
                                          <p:attrName>style.color</p:attrName>
                                        </p:attrNameLst>
                                      </p:cBhvr>
                                      <p:to>
                                        <a:srgbClr val="FFFF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大数据的特征：大数据定义</a:t>
            </a:r>
          </a:p>
        </p:txBody>
      </p:sp>
      <p:sp>
        <p:nvSpPr>
          <p:cNvPr id="3" name="内容占位符 2"/>
          <p:cNvSpPr>
            <a:spLocks noGrp="1"/>
          </p:cNvSpPr>
          <p:nvPr>
            <p:ph idx="1"/>
          </p:nvPr>
        </p:nvSpPr>
        <p:spPr>
          <a:xfrm>
            <a:off x="457200" y="1196752"/>
            <a:ext cx="8229600" cy="4678451"/>
          </a:xfrm>
        </p:spPr>
        <p:txBody>
          <a:bodyPr/>
          <a:lstStyle/>
          <a:p>
            <a:r>
              <a:rPr lang="zh-CN" altLang="en-US" sz="2800" dirty="0"/>
              <a:t>一个常见的大数据术语表（中英对照简版）：“大数据”指无法在可承受的时间范围内用常规软件工具进行捕捉、管理和处理的数据集合。</a:t>
            </a:r>
            <a:endParaRPr lang="en-US" altLang="zh-CN" sz="2800" dirty="0"/>
          </a:p>
          <a:p>
            <a:r>
              <a:rPr lang="en-US" altLang="zh-CN" sz="2800" dirty="0"/>
              <a:t>Gartner</a:t>
            </a:r>
            <a:r>
              <a:rPr lang="zh-CN" altLang="en-US" sz="2800" dirty="0"/>
              <a:t>：“大数据”是需要新处理模式才能具有更强的决策力、洞察发现力和流程优化能力的海量、高增长率和多样化的信息资产。</a:t>
            </a:r>
            <a:endParaRPr lang="en-US" altLang="zh-CN" sz="2800" dirty="0"/>
          </a:p>
          <a:p>
            <a:r>
              <a:rPr lang="zh-CN" altLang="en-US" sz="2800" dirty="0"/>
              <a:t>麦肯锡全球研究所：一种规模大到在获取、存储、管理、分析方面大大超出了传统数据库软件工具能力范围的数据集合，具有海量的数据规模、快速的数据流转、多样的数据类型和价值密度低四大特征。</a:t>
            </a:r>
          </a:p>
        </p:txBody>
      </p:sp>
      <p:sp>
        <p:nvSpPr>
          <p:cNvPr id="6" name="灯片编号占位符 5"/>
          <p:cNvSpPr>
            <a:spLocks noGrp="1"/>
          </p:cNvSpPr>
          <p:nvPr>
            <p:ph type="sldNum" sz="quarter" idx="12"/>
          </p:nvPr>
        </p:nvSpPr>
        <p:spPr/>
        <p:txBody>
          <a:bodyPr/>
          <a:lstStyle/>
          <a:p>
            <a:pPr>
              <a:defRPr/>
            </a:pPr>
            <a:fld id="{73B3C56C-5700-4E55-BF40-61423C59FA56}" type="slidenum">
              <a:rPr lang="zh-CN" altLang="en-US" smtClean="0"/>
              <a:pPr>
                <a:defRPr/>
              </a:pPr>
              <a:t>17</a:t>
            </a:fld>
            <a:endParaRPr lang="zh-CN" altLang="en-US" dirty="0"/>
          </a:p>
        </p:txBody>
      </p:sp>
    </p:spTree>
    <p:extLst>
      <p:ext uri="{BB962C8B-B14F-4D97-AF65-F5344CB8AC3E}">
        <p14:creationId xmlns:p14="http://schemas.microsoft.com/office/powerpoint/2010/main" val="3516662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p:txBody>
          <a:bodyPr/>
          <a:lstStyle/>
          <a:p>
            <a:r>
              <a:rPr lang="zh-CN" altLang="en-US" dirty="0"/>
              <a:t>大数据的特征：</a:t>
            </a:r>
            <a:r>
              <a:rPr lang="en-US" altLang="zh-CN" dirty="0"/>
              <a:t>4V</a:t>
            </a:r>
            <a:endParaRPr lang="zh-CN" altLang="en-US" dirty="0"/>
          </a:p>
        </p:txBody>
      </p:sp>
      <p:pic>
        <p:nvPicPr>
          <p:cNvPr id="1126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693" y="1268760"/>
            <a:ext cx="9022179"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18</a:t>
            </a:fld>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dirty="0"/>
              <a:t>大数据的特征：</a:t>
            </a:r>
            <a:r>
              <a:rPr lang="en-US" altLang="zh-CN" dirty="0"/>
              <a:t>4V-Volume</a:t>
            </a:r>
            <a:endParaRPr lang="zh-CN" altLang="en-US" dirty="0"/>
          </a:p>
        </p:txBody>
      </p:sp>
      <p:sp>
        <p:nvSpPr>
          <p:cNvPr id="12291" name="Rectangle 6"/>
          <p:cNvSpPr>
            <a:spLocks noChangeArrowheads="1"/>
          </p:cNvSpPr>
          <p:nvPr/>
        </p:nvSpPr>
        <p:spPr bwMode="auto">
          <a:xfrm>
            <a:off x="381000" y="1040904"/>
            <a:ext cx="8229600" cy="15240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buFontTx/>
              <a:buNone/>
            </a:pPr>
            <a:endParaRPr lang="zh-CN" altLang="en-US"/>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3576290"/>
            <a:ext cx="37338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p:cNvSpPr txBox="1">
            <a:spLocks noChangeArrowheads="1"/>
          </p:cNvSpPr>
          <p:nvPr/>
        </p:nvSpPr>
        <p:spPr bwMode="auto">
          <a:xfrm>
            <a:off x="683568" y="1049104"/>
            <a:ext cx="77724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eaLnBrk="1" hangingPunct="1">
              <a:buClr>
                <a:srgbClr val="FF3300"/>
              </a:buClr>
              <a:buFont typeface="Wingdings" pitchFamily="2" charset="2"/>
              <a:buChar char="n"/>
            </a:pPr>
            <a:r>
              <a:rPr lang="zh-CN" altLang="en-US" dirty="0">
                <a:latin typeface="微软雅黑" pitchFamily="34" charset="-122"/>
                <a:ea typeface="微软雅黑" pitchFamily="34" charset="-122"/>
              </a:rPr>
              <a:t>根据</a:t>
            </a:r>
            <a:r>
              <a:rPr lang="en-US" altLang="zh-CN" dirty="0">
                <a:latin typeface="微软雅黑" pitchFamily="34" charset="-122"/>
                <a:ea typeface="微软雅黑" pitchFamily="34" charset="-122"/>
              </a:rPr>
              <a:t>IDC</a:t>
            </a:r>
            <a:r>
              <a:rPr lang="zh-CN" altLang="en-US" dirty="0">
                <a:latin typeface="微软雅黑" pitchFamily="34" charset="-122"/>
                <a:ea typeface="微软雅黑" pitchFamily="34" charset="-122"/>
              </a:rPr>
              <a:t>作出的估测，数据一直都在以每年</a:t>
            </a:r>
            <a:r>
              <a:rPr lang="en-US" altLang="zh-CN" dirty="0">
                <a:latin typeface="微软雅黑" pitchFamily="34" charset="-122"/>
                <a:ea typeface="微软雅黑" pitchFamily="34" charset="-122"/>
              </a:rPr>
              <a:t>50%</a:t>
            </a:r>
            <a:r>
              <a:rPr lang="zh-CN" altLang="en-US" dirty="0">
                <a:latin typeface="微软雅黑" pitchFamily="34" charset="-122"/>
                <a:ea typeface="微软雅黑" pitchFamily="34" charset="-122"/>
              </a:rPr>
              <a:t>的速度增长，也就是说每两年就增长一倍（大数据摩尔定律）</a:t>
            </a:r>
          </a:p>
          <a:p>
            <a:pPr eaLnBrk="1" hangingPunct="1">
              <a:buClr>
                <a:srgbClr val="FF3300"/>
              </a:buClr>
              <a:buFont typeface="Wingdings" pitchFamily="2" charset="2"/>
              <a:buChar char="n"/>
            </a:pPr>
            <a:r>
              <a:rPr lang="zh-CN" altLang="en-US" dirty="0">
                <a:latin typeface="微软雅黑" pitchFamily="34" charset="-122"/>
                <a:ea typeface="微软雅黑" pitchFamily="34" charset="-122"/>
              </a:rPr>
              <a:t>人类在最近两年产生的数据量相当于之前产生的全部数据量</a:t>
            </a:r>
          </a:p>
          <a:p>
            <a:pPr eaLnBrk="1" hangingPunct="1">
              <a:buClr>
                <a:srgbClr val="FF3300"/>
              </a:buClr>
              <a:buFont typeface="Wingdings" pitchFamily="2" charset="2"/>
              <a:buChar char="n"/>
            </a:pPr>
            <a:r>
              <a:rPr lang="zh-CN" altLang="en-US" dirty="0">
                <a:latin typeface="微软雅黑" pitchFamily="34" charset="-122"/>
                <a:ea typeface="微软雅黑" pitchFamily="34" charset="-122"/>
              </a:rPr>
              <a:t>预计到</a:t>
            </a:r>
            <a:r>
              <a:rPr lang="en-US" altLang="zh-CN" dirty="0">
                <a:latin typeface="微软雅黑" pitchFamily="34" charset="-122"/>
                <a:ea typeface="微软雅黑" pitchFamily="34" charset="-122"/>
              </a:rPr>
              <a:t>2020</a:t>
            </a:r>
            <a:r>
              <a:rPr lang="zh-CN" altLang="en-US" dirty="0">
                <a:latin typeface="微软雅黑" pitchFamily="34" charset="-122"/>
                <a:ea typeface="微软雅黑" pitchFamily="34" charset="-122"/>
              </a:rPr>
              <a:t>年，全球将总共拥有</a:t>
            </a:r>
            <a:r>
              <a:rPr lang="en-US" altLang="zh-CN" dirty="0">
                <a:latin typeface="微软雅黑" pitchFamily="34" charset="-122"/>
                <a:ea typeface="微软雅黑" pitchFamily="34" charset="-122"/>
              </a:rPr>
              <a:t>35ZB</a:t>
            </a:r>
            <a:r>
              <a:rPr lang="zh-CN" altLang="en-US" dirty="0">
                <a:latin typeface="微软雅黑" pitchFamily="34" charset="-122"/>
                <a:ea typeface="微软雅黑" pitchFamily="34" charset="-122"/>
              </a:rPr>
              <a:t>的数据量，相较于</a:t>
            </a:r>
            <a:r>
              <a:rPr lang="en-US" altLang="zh-CN" dirty="0">
                <a:latin typeface="微软雅黑" pitchFamily="34" charset="-122"/>
                <a:ea typeface="微软雅黑" pitchFamily="34" charset="-122"/>
              </a:rPr>
              <a:t>2010</a:t>
            </a:r>
            <a:r>
              <a:rPr lang="zh-CN" altLang="en-US" dirty="0">
                <a:latin typeface="微软雅黑" pitchFamily="34" charset="-122"/>
                <a:ea typeface="微软雅黑" pitchFamily="34" charset="-122"/>
              </a:rPr>
              <a:t>年，数据量将增长近</a:t>
            </a:r>
            <a:r>
              <a:rPr lang="en-US" altLang="zh-CN" dirty="0">
                <a:latin typeface="微软雅黑" pitchFamily="34" charset="-122"/>
                <a:ea typeface="微软雅黑" pitchFamily="34" charset="-122"/>
              </a:rPr>
              <a:t>30</a:t>
            </a:r>
            <a:r>
              <a:rPr lang="zh-CN" altLang="en-US" dirty="0">
                <a:latin typeface="微软雅黑" pitchFamily="34" charset="-122"/>
                <a:ea typeface="微软雅黑" pitchFamily="34" charset="-122"/>
              </a:rPr>
              <a:t>倍</a:t>
            </a:r>
          </a:p>
        </p:txBody>
      </p:sp>
      <p:pic>
        <p:nvPicPr>
          <p:cNvPr id="1229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19" y="2874147"/>
            <a:ext cx="5306751" cy="3435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19</a:t>
            </a:fld>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a:t>大数据的特征：</a:t>
            </a:r>
            <a:r>
              <a:rPr lang="en-US" altLang="zh-CN" dirty="0"/>
              <a:t>4V-Veriety</a:t>
            </a:r>
            <a:endParaRPr lang="zh-CN" altLang="en-US" dirty="0"/>
          </a:p>
        </p:txBody>
      </p:sp>
      <p:pic>
        <p:nvPicPr>
          <p:cNvPr id="1331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828800"/>
            <a:ext cx="4083050"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Rectangle 5"/>
          <p:cNvSpPr>
            <a:spLocks noChangeArrowheads="1"/>
          </p:cNvSpPr>
          <p:nvPr/>
        </p:nvSpPr>
        <p:spPr bwMode="auto">
          <a:xfrm>
            <a:off x="4724400" y="1752600"/>
            <a:ext cx="685800" cy="1981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buFontTx/>
              <a:buNone/>
            </a:pPr>
            <a:endParaRPr lang="zh-CN" altLang="en-US"/>
          </a:p>
        </p:txBody>
      </p:sp>
      <p:sp>
        <p:nvSpPr>
          <p:cNvPr id="13317" name="Rectangle 3"/>
          <p:cNvSpPr>
            <a:spLocks noChangeArrowheads="1"/>
          </p:cNvSpPr>
          <p:nvPr/>
        </p:nvSpPr>
        <p:spPr bwMode="auto">
          <a:xfrm>
            <a:off x="381000" y="1412776"/>
            <a:ext cx="4724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0" hangingPunct="0">
              <a:spcBef>
                <a:spcPct val="20000"/>
              </a:spcBef>
              <a:buClr>
                <a:srgbClr val="FF3300"/>
              </a:buClr>
              <a:buFont typeface="Wingdings" pitchFamily="2" charset="2"/>
              <a:buChar char="n"/>
            </a:pPr>
            <a:r>
              <a:rPr lang="zh-CN" altLang="en-US" sz="2400" dirty="0"/>
              <a:t>大数据是由结构化和非结构化数据组成的</a:t>
            </a:r>
          </a:p>
          <a:p>
            <a:pPr marL="742950" lvl="1" indent="-285750" eaLnBrk="0" hangingPunct="0">
              <a:spcBef>
                <a:spcPct val="20000"/>
              </a:spcBef>
              <a:buFontTx/>
              <a:buChar char="–"/>
            </a:pPr>
            <a:r>
              <a:rPr lang="en-US" altLang="zh-CN" sz="2400" dirty="0"/>
              <a:t>10%</a:t>
            </a:r>
            <a:r>
              <a:rPr lang="zh-CN" altLang="en-US" sz="2400" dirty="0"/>
              <a:t>的结构化数据，存储在数据库中</a:t>
            </a:r>
          </a:p>
          <a:p>
            <a:pPr marL="742950" lvl="1" indent="-285750" eaLnBrk="0" hangingPunct="0">
              <a:spcBef>
                <a:spcPct val="20000"/>
              </a:spcBef>
              <a:buFontTx/>
              <a:buChar char="–"/>
            </a:pPr>
            <a:r>
              <a:rPr lang="en-US" altLang="zh-CN" sz="2400" dirty="0"/>
              <a:t>90%</a:t>
            </a:r>
            <a:r>
              <a:rPr lang="zh-CN" altLang="en-US" sz="2400" dirty="0"/>
              <a:t>的非结构化数据，它们与人类信息密切相关</a:t>
            </a:r>
          </a:p>
          <a:p>
            <a:pPr marL="342900" indent="-342900" eaLnBrk="0" hangingPunct="0">
              <a:spcBef>
                <a:spcPct val="20000"/>
              </a:spcBef>
              <a:buClr>
                <a:srgbClr val="FF3300"/>
              </a:buClr>
              <a:buFont typeface="Wingdings" pitchFamily="2" charset="2"/>
              <a:buChar char="n"/>
            </a:pPr>
            <a:r>
              <a:rPr lang="zh-CN" altLang="en-US" sz="2400" dirty="0"/>
              <a:t>非结构化数据类型多样</a:t>
            </a:r>
          </a:p>
          <a:p>
            <a:pPr marL="742950" lvl="1" indent="-285750" eaLnBrk="0" hangingPunct="0">
              <a:spcBef>
                <a:spcPct val="20000"/>
              </a:spcBef>
              <a:buFontTx/>
              <a:buChar char="–"/>
            </a:pPr>
            <a:r>
              <a:rPr lang="zh-CN" altLang="en-US" sz="2400" dirty="0"/>
              <a:t>邮件、视频、微博</a:t>
            </a:r>
          </a:p>
          <a:p>
            <a:pPr marL="742950" lvl="1" indent="-285750" eaLnBrk="0" hangingPunct="0">
              <a:spcBef>
                <a:spcPct val="20000"/>
              </a:spcBef>
              <a:buFontTx/>
              <a:buChar char="–"/>
            </a:pPr>
            <a:r>
              <a:rPr lang="zh-CN" altLang="en-US" sz="2400" dirty="0"/>
              <a:t>位置信息、链接信息</a:t>
            </a:r>
          </a:p>
          <a:p>
            <a:pPr marL="742950" lvl="1" indent="-285750" eaLnBrk="0" hangingPunct="0">
              <a:spcBef>
                <a:spcPct val="20000"/>
              </a:spcBef>
              <a:buFontTx/>
              <a:buChar char="–"/>
            </a:pPr>
            <a:r>
              <a:rPr lang="zh-CN" altLang="en-US" sz="2400" dirty="0"/>
              <a:t>手机呼叫、网页点击</a:t>
            </a:r>
          </a:p>
          <a:p>
            <a:pPr marL="742950" lvl="1" indent="-285750" eaLnBrk="0" hangingPunct="0">
              <a:spcBef>
                <a:spcPct val="20000"/>
              </a:spcBef>
              <a:buFontTx/>
              <a:buChar char="–"/>
            </a:pPr>
            <a:r>
              <a:rPr lang="en-US" altLang="zh-CN" sz="2400" dirty="0"/>
              <a:t>“</a:t>
            </a:r>
            <a:r>
              <a:rPr lang="zh-CN" altLang="en-US" sz="2400" dirty="0"/>
              <a:t>长微博”</a:t>
            </a:r>
          </a:p>
          <a:p>
            <a:pPr marL="342900" indent="-342900" eaLnBrk="0" hangingPunct="0">
              <a:spcBef>
                <a:spcPct val="20000"/>
              </a:spcBef>
              <a:buFontTx/>
              <a:buChar char="•"/>
            </a:pPr>
            <a:endParaRPr lang="zh-CN" altLang="en-US" dirty="0"/>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20</a:t>
            </a:fld>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a:t>大数据的特征：</a:t>
            </a:r>
            <a:r>
              <a:rPr lang="en-US" altLang="zh-CN" dirty="0"/>
              <a:t>4V-Velocity</a:t>
            </a:r>
            <a:endParaRPr lang="zh-CN" altLang="en-US" dirty="0"/>
          </a:p>
        </p:txBody>
      </p:sp>
      <p:sp>
        <p:nvSpPr>
          <p:cNvPr id="14339" name="Rectangle 3"/>
          <p:cNvSpPr>
            <a:spLocks noChangeArrowheads="1"/>
          </p:cNvSpPr>
          <p:nvPr/>
        </p:nvSpPr>
        <p:spPr bwMode="auto">
          <a:xfrm>
            <a:off x="457200" y="1196752"/>
            <a:ext cx="8458200" cy="49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0" hangingPunct="0">
              <a:spcBef>
                <a:spcPct val="20000"/>
              </a:spcBef>
              <a:buClr>
                <a:srgbClr val="FF3300"/>
              </a:buClr>
              <a:buFont typeface="Wingdings" pitchFamily="2" charset="2"/>
              <a:buChar char="p"/>
            </a:pPr>
            <a:r>
              <a:rPr lang="zh-CN" altLang="en-US" sz="2000" dirty="0"/>
              <a:t>从数据的生成到消耗，时间窗口非常小，可用于生成决策的时间非常少</a:t>
            </a:r>
          </a:p>
          <a:p>
            <a:pPr marL="342900" indent="-342900" eaLnBrk="0" hangingPunct="0">
              <a:spcBef>
                <a:spcPct val="20000"/>
              </a:spcBef>
              <a:buClr>
                <a:srgbClr val="FF3300"/>
              </a:buClr>
              <a:buFont typeface="Wingdings" pitchFamily="2" charset="2"/>
              <a:buChar char="p"/>
            </a:pPr>
            <a:r>
              <a:rPr lang="en-US" altLang="zh-CN" sz="2000" dirty="0"/>
              <a:t>1</a:t>
            </a:r>
            <a:r>
              <a:rPr lang="zh-CN" altLang="en-US" sz="2000" dirty="0"/>
              <a:t>秒定律：这一点也是和传统的数据挖掘技术有着本质的不同</a:t>
            </a:r>
          </a:p>
        </p:txBody>
      </p:sp>
      <p:pic>
        <p:nvPicPr>
          <p:cNvPr id="14340" name="Picture 7" descr="http://img.jrjimg.cn/2012/12/2012122412420598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916832"/>
            <a:ext cx="7804104" cy="44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21</a:t>
            </a:fld>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dirty="0"/>
              <a:t>大数据的特征：</a:t>
            </a:r>
            <a:r>
              <a:rPr lang="en-US" altLang="zh-CN" dirty="0"/>
              <a:t>4V-Volume</a:t>
            </a:r>
            <a:endParaRPr lang="zh-CN" altLang="en-US" dirty="0"/>
          </a:p>
        </p:txBody>
      </p:sp>
      <p:sp>
        <p:nvSpPr>
          <p:cNvPr id="15363" name="Rectangle 3"/>
          <p:cNvSpPr>
            <a:spLocks noChangeArrowheads="1"/>
          </p:cNvSpPr>
          <p:nvPr/>
        </p:nvSpPr>
        <p:spPr bwMode="auto">
          <a:xfrm>
            <a:off x="381000" y="1083568"/>
            <a:ext cx="8229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0" hangingPunct="0">
              <a:spcBef>
                <a:spcPct val="20000"/>
              </a:spcBef>
              <a:buClr>
                <a:srgbClr val="FF3300"/>
              </a:buClr>
              <a:buFontTx/>
              <a:buNone/>
            </a:pPr>
            <a:r>
              <a:rPr lang="en-US" altLang="zh-CN" dirty="0"/>
              <a:t>	</a:t>
            </a:r>
            <a:r>
              <a:rPr lang="zh-CN" altLang="en-US" sz="2400" b="1" dirty="0"/>
              <a:t>价值密度低，商业价值高</a:t>
            </a:r>
            <a:endParaRPr lang="en-US" altLang="zh-CN" sz="2400" b="1" dirty="0"/>
          </a:p>
          <a:p>
            <a:pPr marL="342900" indent="-342900" eaLnBrk="0" hangingPunct="0">
              <a:spcBef>
                <a:spcPct val="20000"/>
              </a:spcBef>
              <a:buClr>
                <a:srgbClr val="FF3300"/>
              </a:buClr>
              <a:buFontTx/>
              <a:buNone/>
            </a:pPr>
            <a:r>
              <a:rPr lang="en-US" altLang="zh-CN" sz="2400" dirty="0"/>
              <a:t>	</a:t>
            </a:r>
            <a:r>
              <a:rPr lang="zh-CN" altLang="en-US" sz="2400" dirty="0"/>
              <a:t>以视频为例，连续不间断监控过程中，可能有用的数据仅仅有一两秒，但是具有很高的商业价值</a:t>
            </a:r>
          </a:p>
        </p:txBody>
      </p:sp>
      <p:pic>
        <p:nvPicPr>
          <p:cNvPr id="15364" name="Picture 7" descr="http://cache.d1net.com/uploadfile/2013/0619/2013061901203647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371700"/>
            <a:ext cx="4762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9" descr="http://himg2.huanqiu.com/attachment2010/2013/1210/2013121010004328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653136"/>
            <a:ext cx="26289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22</a:t>
            </a:fld>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大数据的特性：</a:t>
            </a:r>
            <a:r>
              <a:rPr lang="en-US" altLang="zh-CN" dirty="0">
                <a:latin typeface="Palatino Linotype" pitchFamily="18" charset="0"/>
              </a:rPr>
              <a:t>HACE</a:t>
            </a:r>
            <a:r>
              <a:rPr lang="zh-CN" altLang="en-US" dirty="0"/>
              <a:t>理论</a:t>
            </a:r>
          </a:p>
        </p:txBody>
      </p:sp>
      <p:sp>
        <p:nvSpPr>
          <p:cNvPr id="6" name="Freeform 4"/>
          <p:cNvSpPr>
            <a:spLocks/>
          </p:cNvSpPr>
          <p:nvPr/>
        </p:nvSpPr>
        <p:spPr bwMode="auto">
          <a:xfrm>
            <a:off x="3131840" y="1277144"/>
            <a:ext cx="2535535" cy="1770062"/>
          </a:xfrm>
          <a:custGeom>
            <a:avLst/>
            <a:gdLst>
              <a:gd name="T0" fmla="*/ 0 w 873"/>
              <a:gd name="T1" fmla="*/ 0 h 895"/>
              <a:gd name="T2" fmla="*/ 0 w 873"/>
              <a:gd name="T3" fmla="*/ 1770062 h 895"/>
              <a:gd name="T4" fmla="*/ 2552700 w 873"/>
              <a:gd name="T5" fmla="*/ 1770062 h 895"/>
              <a:gd name="T6" fmla="*/ 0 60000 65536"/>
              <a:gd name="T7" fmla="*/ 0 60000 65536"/>
              <a:gd name="T8" fmla="*/ 0 60000 65536"/>
              <a:gd name="T9" fmla="*/ 0 w 873"/>
              <a:gd name="T10" fmla="*/ 0 h 895"/>
              <a:gd name="T11" fmla="*/ 873 w 873"/>
              <a:gd name="T12" fmla="*/ 895 h 895"/>
            </a:gdLst>
            <a:ahLst/>
            <a:cxnLst>
              <a:cxn ang="T6">
                <a:pos x="T0" y="T1"/>
              </a:cxn>
              <a:cxn ang="T7">
                <a:pos x="T2" y="T3"/>
              </a:cxn>
              <a:cxn ang="T8">
                <a:pos x="T4" y="T5"/>
              </a:cxn>
            </a:cxnLst>
            <a:rect l="T9" t="T10" r="T11" b="T12"/>
            <a:pathLst>
              <a:path w="873" h="895">
                <a:moveTo>
                  <a:pt x="0" y="0"/>
                </a:moveTo>
                <a:lnTo>
                  <a:pt x="0" y="895"/>
                </a:lnTo>
                <a:lnTo>
                  <a:pt x="873" y="895"/>
                </a:lnTo>
              </a:path>
            </a:pathLst>
          </a:custGeom>
          <a:noFill/>
          <a:ln w="22225" cap="flat" cmpd="sng">
            <a:solidFill>
              <a:schemeClr val="hlink"/>
            </a:solidFill>
            <a:prstDash val="solid"/>
            <a:round/>
            <a:headEnd/>
            <a:tailEnd/>
          </a:ln>
        </p:spPr>
        <p:txBody>
          <a:bodyPr wrap="none" lIns="0" tIns="0" rIns="0" bIns="0" anchor="ctr"/>
          <a:lstStyle/>
          <a:p>
            <a:endParaRPr lang="zh-CN" altLang="en-US"/>
          </a:p>
        </p:txBody>
      </p:sp>
      <p:sp>
        <p:nvSpPr>
          <p:cNvPr id="7" name="Freeform 5"/>
          <p:cNvSpPr>
            <a:spLocks/>
          </p:cNvSpPr>
          <p:nvPr/>
        </p:nvSpPr>
        <p:spPr bwMode="auto">
          <a:xfrm rot="5400000">
            <a:off x="6853099" y="2135847"/>
            <a:ext cx="1317625" cy="3143522"/>
          </a:xfrm>
          <a:custGeom>
            <a:avLst/>
            <a:gdLst>
              <a:gd name="T0" fmla="*/ 0 w 873"/>
              <a:gd name="T1" fmla="*/ 0 h 895"/>
              <a:gd name="T2" fmla="*/ 0 w 873"/>
              <a:gd name="T3" fmla="*/ 4133850 h 895"/>
              <a:gd name="T4" fmla="*/ 1317625 w 873"/>
              <a:gd name="T5" fmla="*/ 4133850 h 895"/>
              <a:gd name="T6" fmla="*/ 0 60000 65536"/>
              <a:gd name="T7" fmla="*/ 0 60000 65536"/>
              <a:gd name="T8" fmla="*/ 0 60000 65536"/>
              <a:gd name="T9" fmla="*/ 0 w 873"/>
              <a:gd name="T10" fmla="*/ 0 h 895"/>
              <a:gd name="T11" fmla="*/ 873 w 873"/>
              <a:gd name="T12" fmla="*/ 895 h 895"/>
            </a:gdLst>
            <a:ahLst/>
            <a:cxnLst>
              <a:cxn ang="T6">
                <a:pos x="T0" y="T1"/>
              </a:cxn>
              <a:cxn ang="T7">
                <a:pos x="T2" y="T3"/>
              </a:cxn>
              <a:cxn ang="T8">
                <a:pos x="T4" y="T5"/>
              </a:cxn>
            </a:cxnLst>
            <a:rect l="T9" t="T10" r="T11" b="T12"/>
            <a:pathLst>
              <a:path w="873" h="895">
                <a:moveTo>
                  <a:pt x="0" y="0"/>
                </a:moveTo>
                <a:lnTo>
                  <a:pt x="0" y="895"/>
                </a:lnTo>
                <a:lnTo>
                  <a:pt x="873" y="895"/>
                </a:lnTo>
              </a:path>
            </a:pathLst>
          </a:custGeom>
          <a:noFill/>
          <a:ln w="22225" cap="flat" cmpd="sng">
            <a:solidFill>
              <a:schemeClr val="hlink"/>
            </a:solidFill>
            <a:prstDash val="solid"/>
            <a:round/>
            <a:headEnd/>
            <a:tailEnd/>
          </a:ln>
        </p:spPr>
        <p:txBody>
          <a:bodyPr wrap="none" lIns="0" tIns="0" rIns="0" bIns="0" anchor="ctr"/>
          <a:lstStyle/>
          <a:p>
            <a:endParaRPr lang="zh-CN" altLang="en-US"/>
          </a:p>
        </p:txBody>
      </p:sp>
      <p:sp>
        <p:nvSpPr>
          <p:cNvPr id="8" name="Freeform 6"/>
          <p:cNvSpPr>
            <a:spLocks/>
          </p:cNvSpPr>
          <p:nvPr/>
        </p:nvSpPr>
        <p:spPr bwMode="auto">
          <a:xfrm flipH="1" flipV="1">
            <a:off x="3131840" y="4509291"/>
            <a:ext cx="2535534" cy="731837"/>
          </a:xfrm>
          <a:custGeom>
            <a:avLst/>
            <a:gdLst>
              <a:gd name="T0" fmla="*/ 0 w 873"/>
              <a:gd name="T1" fmla="*/ 0 h 895"/>
              <a:gd name="T2" fmla="*/ 0 w 873"/>
              <a:gd name="T3" fmla="*/ 731837 h 895"/>
              <a:gd name="T4" fmla="*/ 2552700 w 873"/>
              <a:gd name="T5" fmla="*/ 731837 h 895"/>
              <a:gd name="T6" fmla="*/ 0 60000 65536"/>
              <a:gd name="T7" fmla="*/ 0 60000 65536"/>
              <a:gd name="T8" fmla="*/ 0 60000 65536"/>
              <a:gd name="T9" fmla="*/ 0 w 873"/>
              <a:gd name="T10" fmla="*/ 0 h 895"/>
              <a:gd name="T11" fmla="*/ 873 w 873"/>
              <a:gd name="T12" fmla="*/ 895 h 895"/>
            </a:gdLst>
            <a:ahLst/>
            <a:cxnLst>
              <a:cxn ang="T6">
                <a:pos x="T0" y="T1"/>
              </a:cxn>
              <a:cxn ang="T7">
                <a:pos x="T2" y="T3"/>
              </a:cxn>
              <a:cxn ang="T8">
                <a:pos x="T4" y="T5"/>
              </a:cxn>
            </a:cxnLst>
            <a:rect l="T9" t="T10" r="T11" b="T12"/>
            <a:pathLst>
              <a:path w="873" h="895">
                <a:moveTo>
                  <a:pt x="0" y="0"/>
                </a:moveTo>
                <a:lnTo>
                  <a:pt x="0" y="895"/>
                </a:lnTo>
                <a:lnTo>
                  <a:pt x="873" y="895"/>
                </a:lnTo>
              </a:path>
            </a:pathLst>
          </a:custGeom>
          <a:noFill/>
          <a:ln w="22225" cap="flat" cmpd="sng">
            <a:solidFill>
              <a:schemeClr val="hlink"/>
            </a:solidFill>
            <a:prstDash val="solid"/>
            <a:round/>
            <a:headEnd/>
            <a:tailEnd/>
          </a:ln>
        </p:spPr>
        <p:txBody>
          <a:bodyPr wrap="none" lIns="0" tIns="0" rIns="0" bIns="0" anchor="ctr"/>
          <a:lstStyle/>
          <a:p>
            <a:endParaRPr lang="zh-CN" altLang="en-US"/>
          </a:p>
        </p:txBody>
      </p:sp>
      <p:sp>
        <p:nvSpPr>
          <p:cNvPr id="9" name="Freeform 7"/>
          <p:cNvSpPr>
            <a:spLocks/>
          </p:cNvSpPr>
          <p:nvPr/>
        </p:nvSpPr>
        <p:spPr bwMode="auto">
          <a:xfrm rot="5400000" flipH="1" flipV="1">
            <a:off x="1108947" y="2630410"/>
            <a:ext cx="1317621" cy="2440140"/>
          </a:xfrm>
          <a:custGeom>
            <a:avLst/>
            <a:gdLst>
              <a:gd name="T0" fmla="*/ 0 w 873"/>
              <a:gd name="T1" fmla="*/ 0 h 895"/>
              <a:gd name="T2" fmla="*/ 0 w 873"/>
              <a:gd name="T3" fmla="*/ 1676400 h 895"/>
              <a:gd name="T4" fmla="*/ 1317625 w 873"/>
              <a:gd name="T5" fmla="*/ 1676400 h 895"/>
              <a:gd name="T6" fmla="*/ 0 60000 65536"/>
              <a:gd name="T7" fmla="*/ 0 60000 65536"/>
              <a:gd name="T8" fmla="*/ 0 60000 65536"/>
              <a:gd name="T9" fmla="*/ 0 w 873"/>
              <a:gd name="T10" fmla="*/ 0 h 895"/>
              <a:gd name="T11" fmla="*/ 873 w 873"/>
              <a:gd name="T12" fmla="*/ 895 h 895"/>
            </a:gdLst>
            <a:ahLst/>
            <a:cxnLst>
              <a:cxn ang="T6">
                <a:pos x="T0" y="T1"/>
              </a:cxn>
              <a:cxn ang="T7">
                <a:pos x="T2" y="T3"/>
              </a:cxn>
              <a:cxn ang="T8">
                <a:pos x="T4" y="T5"/>
              </a:cxn>
            </a:cxnLst>
            <a:rect l="T9" t="T10" r="T11" b="T12"/>
            <a:pathLst>
              <a:path w="873" h="895">
                <a:moveTo>
                  <a:pt x="0" y="0"/>
                </a:moveTo>
                <a:lnTo>
                  <a:pt x="0" y="895"/>
                </a:lnTo>
                <a:lnTo>
                  <a:pt x="873" y="895"/>
                </a:lnTo>
              </a:path>
            </a:pathLst>
          </a:custGeom>
          <a:noFill/>
          <a:ln w="22225" cap="flat" cmpd="sng">
            <a:solidFill>
              <a:schemeClr val="hlink"/>
            </a:solidFill>
            <a:prstDash val="solid"/>
            <a:round/>
            <a:headEnd/>
            <a:tailEnd/>
          </a:ln>
        </p:spPr>
        <p:txBody>
          <a:bodyPr wrap="none" lIns="0" tIns="0" rIns="0" bIns="0" anchor="ctr"/>
          <a:lstStyle/>
          <a:p>
            <a:endParaRPr lang="zh-CN" altLang="en-US"/>
          </a:p>
        </p:txBody>
      </p:sp>
      <p:sp>
        <p:nvSpPr>
          <p:cNvPr id="10" name="Rectangle 8"/>
          <p:cNvSpPr>
            <a:spLocks noChangeArrowheads="1"/>
          </p:cNvSpPr>
          <p:nvPr/>
        </p:nvSpPr>
        <p:spPr bwMode="auto">
          <a:xfrm>
            <a:off x="3418532" y="3461544"/>
            <a:ext cx="1962150" cy="704850"/>
          </a:xfrm>
          <a:prstGeom prst="rect">
            <a:avLst/>
          </a:prstGeom>
          <a:solidFill>
            <a:schemeClr val="hlink"/>
          </a:solidFill>
          <a:ln w="6350">
            <a:solidFill>
              <a:schemeClr val="hlink"/>
            </a:solidFill>
            <a:miter lim="800000"/>
            <a:headEnd/>
            <a:tailEnd/>
          </a:ln>
        </p:spPr>
        <p:txBody>
          <a:bodyPr wrap="none" lIns="0" tIns="0" rIns="0" bIns="0" anchor="ctr"/>
          <a:lstStyle/>
          <a:p>
            <a:pPr algn="ctr"/>
            <a:r>
              <a:rPr lang="en-US" altLang="zh-CN" sz="2000" b="1" dirty="0">
                <a:solidFill>
                  <a:schemeClr val="bg1"/>
                </a:solidFill>
                <a:latin typeface="Palatino Linotype" pitchFamily="18" charset="0"/>
              </a:rPr>
              <a:t>HACE</a:t>
            </a:r>
            <a:r>
              <a:rPr lang="zh-CN" altLang="en-US" sz="2000" b="1" dirty="0">
                <a:solidFill>
                  <a:schemeClr val="bg1"/>
                </a:solidFill>
                <a:latin typeface="Calibri" pitchFamily="34" charset="0"/>
              </a:rPr>
              <a:t>理论</a:t>
            </a:r>
          </a:p>
        </p:txBody>
      </p:sp>
      <p:sp>
        <p:nvSpPr>
          <p:cNvPr id="11" name="Rectangle 9"/>
          <p:cNvSpPr>
            <a:spLocks noChangeArrowheads="1"/>
          </p:cNvSpPr>
          <p:nvPr/>
        </p:nvSpPr>
        <p:spPr bwMode="auto">
          <a:xfrm>
            <a:off x="8812213" y="3124994"/>
            <a:ext cx="271462" cy="271462"/>
          </a:xfrm>
          <a:prstGeom prst="rect">
            <a:avLst/>
          </a:prstGeom>
          <a:solidFill>
            <a:schemeClr val="hlink"/>
          </a:solidFill>
          <a:ln w="9525">
            <a:noFill/>
            <a:miter lim="800000"/>
            <a:headEnd/>
            <a:tailEnd/>
          </a:ln>
        </p:spPr>
        <p:txBody>
          <a:bodyPr wrap="none" lIns="0" tIns="0" rIns="0" bIns="0" anchor="ctr"/>
          <a:lstStyle/>
          <a:p>
            <a:pPr algn="ctr" eaLnBrk="0" hangingPunct="0"/>
            <a:r>
              <a:rPr lang="en-US" altLang="zh-CN" sz="1200" b="1" dirty="0">
                <a:solidFill>
                  <a:schemeClr val="bg1"/>
                </a:solidFill>
                <a:latin typeface="Calibri" pitchFamily="34" charset="0"/>
              </a:rPr>
              <a:t>4</a:t>
            </a:r>
            <a:endParaRPr lang="zh-CN" altLang="en-US" sz="1200" b="1" dirty="0">
              <a:solidFill>
                <a:schemeClr val="bg1"/>
              </a:solidFill>
              <a:latin typeface="Calibri" pitchFamily="34" charset="0"/>
            </a:endParaRPr>
          </a:p>
        </p:txBody>
      </p:sp>
      <p:sp>
        <p:nvSpPr>
          <p:cNvPr id="12" name="Rectangle 10"/>
          <p:cNvSpPr>
            <a:spLocks noChangeArrowheads="1"/>
          </p:cNvSpPr>
          <p:nvPr/>
        </p:nvSpPr>
        <p:spPr bwMode="auto">
          <a:xfrm>
            <a:off x="5244950" y="5056462"/>
            <a:ext cx="271463" cy="271462"/>
          </a:xfrm>
          <a:prstGeom prst="rect">
            <a:avLst/>
          </a:prstGeom>
          <a:solidFill>
            <a:schemeClr val="hlink"/>
          </a:solidFill>
          <a:ln w="9525">
            <a:noFill/>
            <a:miter lim="800000"/>
            <a:headEnd/>
            <a:tailEnd/>
          </a:ln>
        </p:spPr>
        <p:txBody>
          <a:bodyPr wrap="none" lIns="0" tIns="0" rIns="0" bIns="0" anchor="ctr"/>
          <a:lstStyle/>
          <a:p>
            <a:pPr algn="ctr" eaLnBrk="0" hangingPunct="0"/>
            <a:r>
              <a:rPr lang="en-US" altLang="zh-CN" sz="1200" b="1" dirty="0">
                <a:solidFill>
                  <a:schemeClr val="bg1"/>
                </a:solidFill>
                <a:latin typeface="Calibri" pitchFamily="34" charset="0"/>
              </a:rPr>
              <a:t>1</a:t>
            </a:r>
            <a:endParaRPr lang="zh-CN" altLang="en-US" sz="1200" b="1" dirty="0">
              <a:solidFill>
                <a:schemeClr val="bg1"/>
              </a:solidFill>
              <a:latin typeface="Calibri" pitchFamily="34" charset="0"/>
            </a:endParaRPr>
          </a:p>
        </p:txBody>
      </p:sp>
      <p:sp>
        <p:nvSpPr>
          <p:cNvPr id="13" name="Rectangle 11"/>
          <p:cNvSpPr>
            <a:spLocks noChangeArrowheads="1"/>
          </p:cNvSpPr>
          <p:nvPr/>
        </p:nvSpPr>
        <p:spPr bwMode="auto">
          <a:xfrm>
            <a:off x="547688" y="4166394"/>
            <a:ext cx="271462" cy="271462"/>
          </a:xfrm>
          <a:prstGeom prst="rect">
            <a:avLst/>
          </a:prstGeom>
          <a:solidFill>
            <a:schemeClr val="hlink"/>
          </a:solidFill>
          <a:ln w="9525">
            <a:noFill/>
            <a:miter lim="800000"/>
            <a:headEnd/>
            <a:tailEnd/>
          </a:ln>
        </p:spPr>
        <p:txBody>
          <a:bodyPr wrap="none" lIns="0" tIns="0" rIns="0" bIns="0" anchor="ctr"/>
          <a:lstStyle/>
          <a:p>
            <a:pPr algn="ctr" eaLnBrk="0" hangingPunct="0"/>
            <a:r>
              <a:rPr lang="en-US" altLang="zh-CN" sz="1200" b="1" dirty="0">
                <a:solidFill>
                  <a:schemeClr val="bg1"/>
                </a:solidFill>
                <a:latin typeface="Calibri" pitchFamily="34" charset="0"/>
              </a:rPr>
              <a:t>2</a:t>
            </a:r>
            <a:endParaRPr lang="zh-CN" altLang="en-US" sz="1200" b="1" dirty="0">
              <a:solidFill>
                <a:schemeClr val="bg1"/>
              </a:solidFill>
              <a:latin typeface="Calibri" pitchFamily="34" charset="0"/>
            </a:endParaRPr>
          </a:p>
        </p:txBody>
      </p:sp>
      <p:sp>
        <p:nvSpPr>
          <p:cNvPr id="15" name="Rectangle 16"/>
          <p:cNvSpPr>
            <a:spLocks noChangeArrowheads="1"/>
          </p:cNvSpPr>
          <p:nvPr/>
        </p:nvSpPr>
        <p:spPr bwMode="auto">
          <a:xfrm>
            <a:off x="3282800" y="1374321"/>
            <a:ext cx="271463" cy="271462"/>
          </a:xfrm>
          <a:prstGeom prst="rect">
            <a:avLst/>
          </a:prstGeom>
          <a:solidFill>
            <a:schemeClr val="hlink"/>
          </a:solidFill>
          <a:ln w="9525">
            <a:noFill/>
            <a:miter lim="800000"/>
            <a:headEnd/>
            <a:tailEnd/>
          </a:ln>
        </p:spPr>
        <p:txBody>
          <a:bodyPr wrap="none" lIns="0" tIns="0" rIns="0" bIns="0" anchor="ctr"/>
          <a:lstStyle/>
          <a:p>
            <a:pPr algn="ctr" eaLnBrk="0" hangingPunct="0"/>
            <a:r>
              <a:rPr lang="en-US" altLang="zh-CN" sz="1200" b="1" dirty="0">
                <a:solidFill>
                  <a:schemeClr val="bg1"/>
                </a:solidFill>
                <a:latin typeface="Calibri" pitchFamily="34" charset="0"/>
              </a:rPr>
              <a:t>2</a:t>
            </a:r>
          </a:p>
        </p:txBody>
      </p:sp>
      <p:sp>
        <p:nvSpPr>
          <p:cNvPr id="22" name="Text Box 12"/>
          <p:cNvSpPr txBox="1">
            <a:spLocks noChangeArrowheads="1"/>
          </p:cNvSpPr>
          <p:nvPr/>
        </p:nvSpPr>
        <p:spPr bwMode="auto">
          <a:xfrm>
            <a:off x="1625435" y="4687130"/>
            <a:ext cx="3254979" cy="1107996"/>
          </a:xfrm>
          <a:prstGeom prst="rect">
            <a:avLst/>
          </a:prstGeom>
          <a:noFill/>
          <a:ln w="9525">
            <a:noFill/>
            <a:miter lim="800000"/>
            <a:headEnd/>
            <a:tailEnd/>
          </a:ln>
        </p:spPr>
        <p:txBody>
          <a:bodyPr wrap="square" lIns="0" tIns="0" rIns="0" bIns="0" anchor="ctr">
            <a:spAutoFit/>
          </a:bodyPr>
          <a:lstStyle/>
          <a:p>
            <a:pPr eaLnBrk="0" hangingPunct="0"/>
            <a:r>
              <a:rPr lang="en-US" altLang="zh-CN" sz="2400" b="1" u="sng" dirty="0">
                <a:latin typeface="Palatino Linotype" pitchFamily="18" charset="0"/>
              </a:rPr>
              <a:t>H</a:t>
            </a:r>
            <a:r>
              <a:rPr lang="en-US" altLang="zh-CN" sz="2400" dirty="0">
                <a:latin typeface="Palatino Linotype" pitchFamily="18" charset="0"/>
              </a:rPr>
              <a:t>eterogeneous</a:t>
            </a: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异构的数据类型</a:t>
            </a:r>
            <a:endParaRPr lang="en-US" altLang="zh-CN" sz="2400" dirty="0">
              <a:solidFill>
                <a:srgbClr val="000000"/>
              </a:solidFill>
              <a:latin typeface="黑体" pitchFamily="49" charset="-122"/>
              <a:ea typeface="黑体" pitchFamily="49" charset="-122"/>
            </a:endParaRP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稀疏的维度</a:t>
            </a:r>
            <a:endParaRPr lang="en-US" altLang="zh-CN" sz="2400" dirty="0">
              <a:solidFill>
                <a:srgbClr val="000000"/>
              </a:solidFill>
              <a:latin typeface="黑体" pitchFamily="49" charset="-122"/>
              <a:ea typeface="黑体" pitchFamily="49" charset="-122"/>
            </a:endParaRPr>
          </a:p>
        </p:txBody>
      </p:sp>
      <p:sp>
        <p:nvSpPr>
          <p:cNvPr id="23" name="Text Box 12"/>
          <p:cNvSpPr txBox="1">
            <a:spLocks noChangeArrowheads="1"/>
          </p:cNvSpPr>
          <p:nvPr/>
        </p:nvSpPr>
        <p:spPr bwMode="auto">
          <a:xfrm>
            <a:off x="4024102" y="1608177"/>
            <a:ext cx="3284201" cy="1107996"/>
          </a:xfrm>
          <a:prstGeom prst="rect">
            <a:avLst/>
          </a:prstGeom>
          <a:noFill/>
          <a:ln w="9525">
            <a:noFill/>
            <a:miter lim="800000"/>
            <a:headEnd/>
            <a:tailEnd/>
          </a:ln>
        </p:spPr>
        <p:txBody>
          <a:bodyPr wrap="square" lIns="0" tIns="0" rIns="0" bIns="0" anchor="ctr">
            <a:spAutoFit/>
          </a:bodyPr>
          <a:lstStyle/>
          <a:p>
            <a:pPr eaLnBrk="0" hangingPunct="0"/>
            <a:r>
              <a:rPr lang="en-US" altLang="zh-CN" sz="2400" b="1" u="sng" dirty="0">
                <a:latin typeface="Palatino Linotype" pitchFamily="18" charset="0"/>
              </a:rPr>
              <a:t>A</a:t>
            </a:r>
            <a:r>
              <a:rPr lang="en-US" altLang="zh-CN" sz="2400" dirty="0">
                <a:latin typeface="Palatino Linotype" pitchFamily="18" charset="0"/>
              </a:rPr>
              <a:t>utonomous</a:t>
            </a: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自治的分布式数据源</a:t>
            </a:r>
            <a:endParaRPr lang="en-US" altLang="zh-CN" sz="2400" dirty="0">
              <a:solidFill>
                <a:srgbClr val="000000"/>
              </a:solidFill>
              <a:latin typeface="黑体" pitchFamily="49" charset="-122"/>
              <a:ea typeface="黑体" pitchFamily="49" charset="-122"/>
            </a:endParaRP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去中心化的控制</a:t>
            </a:r>
            <a:endParaRPr lang="en-US" altLang="zh-CN" sz="2400" dirty="0">
              <a:solidFill>
                <a:srgbClr val="000000"/>
              </a:solidFill>
              <a:latin typeface="黑体" pitchFamily="49" charset="-122"/>
              <a:ea typeface="黑体" pitchFamily="49" charset="-122"/>
            </a:endParaRPr>
          </a:p>
        </p:txBody>
      </p:sp>
      <p:sp>
        <p:nvSpPr>
          <p:cNvPr id="24" name="Text Box 12"/>
          <p:cNvSpPr txBox="1">
            <a:spLocks noChangeArrowheads="1"/>
          </p:cNvSpPr>
          <p:nvPr/>
        </p:nvSpPr>
        <p:spPr bwMode="auto">
          <a:xfrm>
            <a:off x="697768" y="2009504"/>
            <a:ext cx="2290060" cy="1846659"/>
          </a:xfrm>
          <a:prstGeom prst="rect">
            <a:avLst/>
          </a:prstGeom>
          <a:noFill/>
          <a:ln w="9525">
            <a:noFill/>
            <a:miter lim="800000"/>
            <a:headEnd/>
            <a:tailEnd/>
          </a:ln>
        </p:spPr>
        <p:txBody>
          <a:bodyPr wrap="square" lIns="0" tIns="0" rIns="0" bIns="0" anchor="ctr">
            <a:spAutoFit/>
          </a:bodyPr>
          <a:lstStyle/>
          <a:p>
            <a:pPr eaLnBrk="0" hangingPunct="0"/>
            <a:r>
              <a:rPr lang="en-US" altLang="zh-CN" sz="2400" b="1" u="sng" dirty="0">
                <a:solidFill>
                  <a:srgbClr val="000000"/>
                </a:solidFill>
                <a:latin typeface="Palatino Linotype" pitchFamily="18" charset="0"/>
                <a:ea typeface="黑体" pitchFamily="49" charset="-122"/>
              </a:rPr>
              <a:t>C</a:t>
            </a:r>
            <a:r>
              <a:rPr lang="en-US" altLang="zh-CN" sz="2400" dirty="0">
                <a:solidFill>
                  <a:srgbClr val="000000"/>
                </a:solidFill>
                <a:latin typeface="Palatino Linotype" pitchFamily="18" charset="0"/>
                <a:ea typeface="黑体" pitchFamily="49" charset="-122"/>
              </a:rPr>
              <a:t>omplex</a:t>
            </a: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复杂的数据类型和表示</a:t>
            </a:r>
            <a:endParaRPr lang="en-US" altLang="zh-CN" sz="2400" dirty="0">
              <a:solidFill>
                <a:srgbClr val="000000"/>
              </a:solidFill>
              <a:latin typeface="黑体" pitchFamily="49" charset="-122"/>
              <a:ea typeface="黑体" pitchFamily="49" charset="-122"/>
            </a:endParaRP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复杂的数据间关系</a:t>
            </a:r>
            <a:endParaRPr lang="en-US" altLang="zh-CN" sz="2400" dirty="0">
              <a:solidFill>
                <a:srgbClr val="000000"/>
              </a:solidFill>
              <a:latin typeface="黑体" pitchFamily="49" charset="-122"/>
              <a:ea typeface="黑体" pitchFamily="49" charset="-122"/>
            </a:endParaRPr>
          </a:p>
        </p:txBody>
      </p:sp>
      <p:sp>
        <p:nvSpPr>
          <p:cNvPr id="25" name="Text Box 12"/>
          <p:cNvSpPr txBox="1">
            <a:spLocks noChangeArrowheads="1"/>
          </p:cNvSpPr>
          <p:nvPr/>
        </p:nvSpPr>
        <p:spPr bwMode="auto">
          <a:xfrm>
            <a:off x="6072203" y="3329860"/>
            <a:ext cx="2875741" cy="2215991"/>
          </a:xfrm>
          <a:prstGeom prst="rect">
            <a:avLst/>
          </a:prstGeom>
          <a:noFill/>
          <a:ln w="9525">
            <a:noFill/>
            <a:miter lim="800000"/>
            <a:headEnd/>
            <a:tailEnd/>
          </a:ln>
        </p:spPr>
        <p:txBody>
          <a:bodyPr wrap="square" lIns="0" tIns="0" rIns="0" bIns="0" anchor="ctr">
            <a:spAutoFit/>
          </a:bodyPr>
          <a:lstStyle/>
          <a:p>
            <a:pPr eaLnBrk="0" hangingPunct="0"/>
            <a:r>
              <a:rPr lang="en-US" altLang="zh-CN" sz="2400" b="1" u="sng" dirty="0">
                <a:latin typeface="Palatino Linotype" pitchFamily="18" charset="0"/>
              </a:rPr>
              <a:t>E</a:t>
            </a:r>
            <a:r>
              <a:rPr lang="en-US" altLang="zh-CN" sz="2400" dirty="0">
                <a:latin typeface="Palatino Linotype" pitchFamily="18" charset="0"/>
              </a:rPr>
              <a:t>volving</a:t>
            </a: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数据类型的不断丰富</a:t>
            </a:r>
            <a:endParaRPr lang="en-US" altLang="zh-CN" sz="2400" dirty="0">
              <a:solidFill>
                <a:srgbClr val="000000"/>
              </a:solidFill>
              <a:latin typeface="黑体" pitchFamily="49" charset="-122"/>
              <a:ea typeface="黑体" pitchFamily="49" charset="-122"/>
            </a:endParaRP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数据量的动态增长</a:t>
            </a:r>
            <a:endParaRPr lang="en-US" altLang="zh-CN" sz="2400" dirty="0">
              <a:solidFill>
                <a:srgbClr val="000000"/>
              </a:solidFill>
              <a:latin typeface="黑体" pitchFamily="49" charset="-122"/>
              <a:ea typeface="黑体" pitchFamily="49" charset="-122"/>
            </a:endParaRPr>
          </a:p>
          <a:p>
            <a:pPr marL="342900" indent="-342900" eaLnBrk="0" hangingPunct="0">
              <a:buFont typeface="Arial" pitchFamily="34" charset="0"/>
              <a:buChar char="•"/>
            </a:pPr>
            <a:r>
              <a:rPr lang="zh-CN" altLang="en-US" sz="2400" dirty="0">
                <a:solidFill>
                  <a:srgbClr val="000000"/>
                </a:solidFill>
                <a:latin typeface="黑体" pitchFamily="49" charset="-122"/>
                <a:ea typeface="黑体" pitchFamily="49" charset="-122"/>
              </a:rPr>
              <a:t>数据间关系的动态演化</a:t>
            </a:r>
            <a:endParaRPr lang="en-US" altLang="zh-CN" sz="2400" dirty="0">
              <a:solidFill>
                <a:srgbClr val="000000"/>
              </a:solidFill>
              <a:latin typeface="黑体" pitchFamily="49" charset="-122"/>
              <a:ea typeface="黑体" pitchFamily="49" charset="-122"/>
            </a:endParaRP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23</a:t>
            </a:fld>
            <a:endParaRPr lang="zh-CN" altLang="en-US" dirty="0"/>
          </a:p>
        </p:txBody>
      </p:sp>
    </p:spTree>
    <p:extLst>
      <p:ext uri="{BB962C8B-B14F-4D97-AF65-F5344CB8AC3E}">
        <p14:creationId xmlns:p14="http://schemas.microsoft.com/office/powerpoint/2010/main" val="2362356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大数据的特性：巨量的异构</a:t>
            </a:r>
            <a:r>
              <a:rPr lang="en-US" altLang="zh-CN" dirty="0">
                <a:latin typeface="Palatino Linotype" pitchFamily="18" charset="0"/>
              </a:rPr>
              <a:t>(H)</a:t>
            </a:r>
            <a:r>
              <a:rPr lang="zh-CN" altLang="en-US" dirty="0"/>
              <a:t>离散维度数据</a:t>
            </a:r>
          </a:p>
        </p:txBody>
      </p:sp>
      <p:grpSp>
        <p:nvGrpSpPr>
          <p:cNvPr id="5" name="组合 4"/>
          <p:cNvGrpSpPr/>
          <p:nvPr/>
        </p:nvGrpSpPr>
        <p:grpSpPr>
          <a:xfrm>
            <a:off x="632395" y="1196752"/>
            <a:ext cx="8229600" cy="1080120"/>
            <a:chOff x="0" y="699"/>
            <a:chExt cx="8229600" cy="1080120"/>
          </a:xfrm>
          <a:scene3d>
            <a:camera prst="orthographicFront"/>
            <a:lightRig rig="flat" dir="t"/>
          </a:scene3d>
        </p:grpSpPr>
        <p:sp>
          <p:nvSpPr>
            <p:cNvPr id="6" name="圆角矩形 5"/>
            <p:cNvSpPr/>
            <p:nvPr/>
          </p:nvSpPr>
          <p:spPr>
            <a:xfrm>
              <a:off x="0" y="699"/>
              <a:ext cx="8229600" cy="1080120"/>
            </a:xfrm>
            <a:prstGeom prst="roundRect">
              <a:avLst/>
            </a:prstGeom>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a:sp3d prstMaterial="dkEdge">
              <a:bevelT w="8200" h="38100"/>
            </a:sp3d>
          </p:spPr>
          <p:style>
            <a:lnRef idx="0">
              <a:scrgbClr r="0" g="0" b="0"/>
            </a:lnRef>
            <a:fillRef idx="2">
              <a:scrgbClr r="0" g="0" b="0"/>
            </a:fillRef>
            <a:effectRef idx="1">
              <a:schemeClr val="accent2">
                <a:hueOff val="0"/>
                <a:satOff val="0"/>
                <a:lumOff val="0"/>
                <a:alphaOff val="0"/>
              </a:schemeClr>
            </a:effectRef>
            <a:fontRef idx="minor">
              <a:schemeClr val="dk1"/>
            </a:fontRef>
          </p:style>
        </p:sp>
        <p:sp>
          <p:nvSpPr>
            <p:cNvPr id="7" name="圆角矩形 4"/>
            <p:cNvSpPr/>
            <p:nvPr/>
          </p:nvSpPr>
          <p:spPr>
            <a:xfrm>
              <a:off x="41976" y="42675"/>
              <a:ext cx="8145648" cy="1038144"/>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9540" tIns="129540" rIns="129540" bIns="129540" numCol="1" spcCol="1270" anchor="ctr" anchorCtr="0">
              <a:noAutofit/>
            </a:bodyPr>
            <a:lstStyle/>
            <a:p>
              <a:pPr lvl="0" algn="l" defTabSz="1511300" rtl="0">
                <a:lnSpc>
                  <a:spcPct val="90000"/>
                </a:lnSpc>
                <a:spcBef>
                  <a:spcPct val="0"/>
                </a:spcBef>
                <a:spcAft>
                  <a:spcPct val="35000"/>
                </a:spcAft>
              </a:pPr>
              <a:r>
                <a:rPr lang="zh-CN" altLang="en-US" sz="3200" dirty="0">
                  <a:solidFill>
                    <a:schemeClr val="accent2">
                      <a:lumMod val="50000"/>
                    </a:schemeClr>
                  </a:solidFill>
                  <a:latin typeface="黑体" pitchFamily="49" charset="-122"/>
                  <a:ea typeface="黑体" pitchFamily="49" charset="-122"/>
                </a:rPr>
                <a:t>多种数据收集源</a:t>
              </a:r>
              <a:endParaRPr lang="en-US" altLang="zh-CN" sz="3200" dirty="0">
                <a:solidFill>
                  <a:schemeClr val="accent2">
                    <a:lumMod val="50000"/>
                  </a:schemeClr>
                </a:solidFill>
                <a:latin typeface="黑体" pitchFamily="49" charset="-122"/>
                <a:ea typeface="黑体" pitchFamily="49" charset="-122"/>
              </a:endParaRPr>
            </a:p>
            <a:p>
              <a:pPr lvl="0" algn="l" defTabSz="1511300" rtl="0">
                <a:lnSpc>
                  <a:spcPct val="90000"/>
                </a:lnSpc>
                <a:spcBef>
                  <a:spcPct val="0"/>
                </a:spcBef>
                <a:spcAft>
                  <a:spcPct val="35000"/>
                </a:spcAft>
              </a:pPr>
              <a:r>
                <a:rPr lang="zh-CN" altLang="en-US" sz="3200" dirty="0">
                  <a:solidFill>
                    <a:schemeClr val="accent2">
                      <a:lumMod val="50000"/>
                    </a:schemeClr>
                  </a:solidFill>
                  <a:latin typeface="黑体" pitchFamily="49" charset="-122"/>
                  <a:ea typeface="黑体" pitchFamily="49" charset="-122"/>
                </a:rPr>
                <a:t>使用不同的模式</a:t>
              </a:r>
              <a:r>
                <a:rPr lang="en-US" altLang="zh-CN" sz="3200" dirty="0">
                  <a:solidFill>
                    <a:schemeClr val="accent2">
                      <a:lumMod val="50000"/>
                    </a:schemeClr>
                  </a:solidFill>
                  <a:latin typeface="Palatino Linotype" pitchFamily="18" charset="0"/>
                  <a:ea typeface="黑体" pitchFamily="49" charset="-122"/>
                </a:rPr>
                <a:t>(schemata)</a:t>
              </a:r>
              <a:r>
                <a:rPr lang="zh-CN" altLang="en-US" sz="3200" dirty="0">
                  <a:solidFill>
                    <a:schemeClr val="accent2">
                      <a:lumMod val="50000"/>
                    </a:schemeClr>
                  </a:solidFill>
                  <a:latin typeface="黑体" pitchFamily="49" charset="-122"/>
                  <a:ea typeface="黑体" pitchFamily="49" charset="-122"/>
                </a:rPr>
                <a:t>收集数据</a:t>
              </a:r>
              <a:endParaRPr lang="zh-CN" altLang="en-US" sz="3200" kern="1200" dirty="0">
                <a:solidFill>
                  <a:schemeClr val="accent2">
                    <a:lumMod val="50000"/>
                  </a:schemeClr>
                </a:solidFill>
                <a:latin typeface="黑体" pitchFamily="49" charset="-122"/>
                <a:ea typeface="黑体" pitchFamily="49" charset="-122"/>
              </a:endParaRPr>
            </a:p>
          </p:txBody>
        </p:sp>
      </p:grpSp>
      <p:pic>
        <p:nvPicPr>
          <p:cNvPr id="1026" name="Picture 2" descr="C:\Users\jzhang\AppData\Local\Microsoft\Windows\Temporary Internet Files\Content.IE5\PQ09D9EM\MC900359059[1].wmf"/>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701041" y="3026377"/>
            <a:ext cx="1439509" cy="1584176"/>
          </a:xfrm>
          <a:prstGeom prst="rect">
            <a:avLst/>
          </a:prstGeom>
          <a:noFill/>
          <a:extLst>
            <a:ext uri="{909E8E84-426E-40DD-AFC4-6F175D3DCCD1}">
              <a14:hiddenFill xmlns:a14="http://schemas.microsoft.com/office/drawing/2010/main">
                <a:solidFill>
                  <a:srgbClr val="FFFFFF"/>
                </a:solidFill>
              </a14:hiddenFill>
            </a:ext>
          </a:extLst>
        </p:spPr>
      </p:pic>
      <p:sp>
        <p:nvSpPr>
          <p:cNvPr id="9" name="圆角矩形标注 8"/>
          <p:cNvSpPr/>
          <p:nvPr/>
        </p:nvSpPr>
        <p:spPr>
          <a:xfrm>
            <a:off x="1704080" y="2525194"/>
            <a:ext cx="1372653" cy="1944216"/>
          </a:xfrm>
          <a:prstGeom prst="wedgeRoundRectCallout">
            <a:avLst>
              <a:gd name="adj1" fmla="val 89135"/>
              <a:gd name="adj2" fmla="val 33273"/>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descr="C:\Users\jzhang\AppData\Local\Microsoft\Windows\Temporary Internet Files\Content.IE5\DTH48VD3\MC900303607[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5694" y="2602437"/>
            <a:ext cx="1017115" cy="101711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634188" y="3487382"/>
            <a:ext cx="1569660" cy="923330"/>
          </a:xfrm>
          <a:prstGeom prst="rect">
            <a:avLst/>
          </a:prstGeom>
          <a:noFill/>
        </p:spPr>
        <p:txBody>
          <a:bodyPr wrap="none" rtlCol="0">
            <a:spAutoFit/>
          </a:bodyPr>
          <a:lstStyle/>
          <a:p>
            <a:r>
              <a:rPr lang="zh-CN" altLang="en-US" dirty="0">
                <a:latin typeface="黑体" pitchFamily="49" charset="-122"/>
                <a:ea typeface="黑体" pitchFamily="49" charset="-122"/>
              </a:rPr>
              <a:t>人口统计学：</a:t>
            </a:r>
            <a:endParaRPr lang="en-US" altLang="zh-CN" dirty="0">
              <a:latin typeface="黑体" pitchFamily="49" charset="-122"/>
              <a:ea typeface="黑体" pitchFamily="49" charset="-122"/>
            </a:endParaRPr>
          </a:p>
          <a:p>
            <a:r>
              <a:rPr lang="zh-CN" altLang="en-US" dirty="0">
                <a:latin typeface="楷体" pitchFamily="49" charset="-122"/>
                <a:ea typeface="楷体" pitchFamily="49" charset="-122"/>
              </a:rPr>
              <a:t>性别、年龄</a:t>
            </a:r>
            <a:endParaRPr lang="en-US" altLang="zh-CN" dirty="0">
              <a:latin typeface="楷体" pitchFamily="49" charset="-122"/>
              <a:ea typeface="楷体" pitchFamily="49" charset="-122"/>
            </a:endParaRPr>
          </a:p>
          <a:p>
            <a:r>
              <a:rPr lang="zh-CN" altLang="en-US" dirty="0">
                <a:latin typeface="楷体" pitchFamily="49" charset="-122"/>
                <a:ea typeface="楷体" pitchFamily="49" charset="-122"/>
              </a:rPr>
              <a:t>家族病史</a:t>
            </a:r>
            <a:r>
              <a:rPr lang="en-US" altLang="zh-CN" dirty="0">
                <a:latin typeface="楷体" pitchFamily="49" charset="-122"/>
                <a:ea typeface="楷体" pitchFamily="49" charset="-122"/>
              </a:rPr>
              <a:t>…</a:t>
            </a:r>
            <a:endParaRPr lang="zh-CN" altLang="en-US" dirty="0">
              <a:latin typeface="楷体" pitchFamily="49" charset="-122"/>
              <a:ea typeface="楷体" pitchFamily="49" charset="-122"/>
            </a:endParaRPr>
          </a:p>
        </p:txBody>
      </p:sp>
      <p:sp>
        <p:nvSpPr>
          <p:cNvPr id="15" name="圆角矩形标注 14"/>
          <p:cNvSpPr/>
          <p:nvPr/>
        </p:nvSpPr>
        <p:spPr>
          <a:xfrm>
            <a:off x="5812878" y="2453492"/>
            <a:ext cx="1569660" cy="1944216"/>
          </a:xfrm>
          <a:prstGeom prst="wedgeRoundRectCallout">
            <a:avLst>
              <a:gd name="adj1" fmla="val -78853"/>
              <a:gd name="adj2" fmla="val 39992"/>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9" name="Picture 5" descr="C:\Users\jzhang\AppData\Local\Microsoft\Windows\Temporary Internet Files\Content.IE5\PQ09D9EM\MC900045135[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3122" y="2522269"/>
            <a:ext cx="995798" cy="109728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5812878" y="3625881"/>
            <a:ext cx="1569660" cy="646331"/>
          </a:xfrm>
          <a:prstGeom prst="rect">
            <a:avLst/>
          </a:prstGeom>
          <a:noFill/>
        </p:spPr>
        <p:txBody>
          <a:bodyPr wrap="none" rtlCol="0">
            <a:spAutoFit/>
          </a:bodyPr>
          <a:lstStyle/>
          <a:p>
            <a:r>
              <a:rPr lang="en-US" altLang="zh-CN" dirty="0">
                <a:latin typeface="Palatino Linotype" pitchFamily="18" charset="0"/>
                <a:ea typeface="黑体" pitchFamily="49" charset="-122"/>
              </a:rPr>
              <a:t>X</a:t>
            </a:r>
            <a:r>
              <a:rPr lang="zh-CN" altLang="en-US" dirty="0">
                <a:latin typeface="黑体" pitchFamily="49" charset="-122"/>
                <a:ea typeface="黑体" pitchFamily="49" charset="-122"/>
              </a:rPr>
              <a:t>光和</a:t>
            </a:r>
            <a:r>
              <a:rPr lang="en-US" altLang="zh-CN" dirty="0">
                <a:latin typeface="Palatino Linotype" pitchFamily="18" charset="0"/>
                <a:ea typeface="黑体" pitchFamily="49" charset="-122"/>
              </a:rPr>
              <a:t>CT</a:t>
            </a:r>
            <a:r>
              <a:rPr lang="zh-CN" altLang="en-US" dirty="0">
                <a:latin typeface="黑体" pitchFamily="49" charset="-122"/>
                <a:ea typeface="黑体" pitchFamily="49" charset="-122"/>
              </a:rPr>
              <a:t>：</a:t>
            </a:r>
            <a:endParaRPr lang="en-US" altLang="zh-CN" dirty="0">
              <a:latin typeface="黑体" pitchFamily="49" charset="-122"/>
              <a:ea typeface="黑体" pitchFamily="49" charset="-122"/>
            </a:endParaRPr>
          </a:p>
          <a:p>
            <a:r>
              <a:rPr lang="zh-CN" altLang="en-US" dirty="0">
                <a:latin typeface="楷体" pitchFamily="49" charset="-122"/>
                <a:ea typeface="楷体" pitchFamily="49" charset="-122"/>
              </a:rPr>
              <a:t>图像、视频</a:t>
            </a:r>
            <a:r>
              <a:rPr lang="en-US" altLang="zh-CN" dirty="0">
                <a:latin typeface="楷体" pitchFamily="49" charset="-122"/>
                <a:ea typeface="楷体" pitchFamily="49" charset="-122"/>
              </a:rPr>
              <a:t>…</a:t>
            </a:r>
          </a:p>
        </p:txBody>
      </p:sp>
      <p:sp>
        <p:nvSpPr>
          <p:cNvPr id="20" name="圆角矩形标注 19"/>
          <p:cNvSpPr/>
          <p:nvPr/>
        </p:nvSpPr>
        <p:spPr>
          <a:xfrm>
            <a:off x="3635897" y="5157192"/>
            <a:ext cx="2502304" cy="1154236"/>
          </a:xfrm>
          <a:prstGeom prst="wedgeRoundRectCallout">
            <a:avLst>
              <a:gd name="adj1" fmla="val -27578"/>
              <a:gd name="adj2" fmla="val -88123"/>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descr="C:\Users\jzhang\AppData\Local\Microsoft\Windows\Temporary Internet Files\Content.IE5\W74GKZDI\MC900436816[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6200000">
            <a:off x="3696870" y="5255936"/>
            <a:ext cx="834801" cy="95674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4592644" y="5411144"/>
            <a:ext cx="1569660" cy="646331"/>
          </a:xfrm>
          <a:prstGeom prst="rect">
            <a:avLst/>
          </a:prstGeom>
          <a:noFill/>
        </p:spPr>
        <p:txBody>
          <a:bodyPr wrap="none" rtlCol="0">
            <a:spAutoFit/>
          </a:bodyPr>
          <a:lstStyle/>
          <a:p>
            <a:r>
              <a:rPr lang="en-US" altLang="zh-CN" dirty="0">
                <a:latin typeface="Palatino Linotype" pitchFamily="18" charset="0"/>
                <a:ea typeface="黑体" pitchFamily="49" charset="-122"/>
              </a:rPr>
              <a:t>DNA</a:t>
            </a:r>
            <a:r>
              <a:rPr lang="zh-CN" altLang="en-US" dirty="0">
                <a:latin typeface="黑体" pitchFamily="49" charset="-122"/>
                <a:ea typeface="黑体" pitchFamily="49" charset="-122"/>
              </a:rPr>
              <a:t>分析：</a:t>
            </a:r>
            <a:endParaRPr lang="en-US" altLang="zh-CN" dirty="0">
              <a:latin typeface="黑体" pitchFamily="49" charset="-122"/>
              <a:ea typeface="黑体" pitchFamily="49" charset="-122"/>
            </a:endParaRPr>
          </a:p>
          <a:p>
            <a:r>
              <a:rPr lang="zh-CN" altLang="en-US" dirty="0">
                <a:latin typeface="楷体" pitchFamily="49" charset="-122"/>
                <a:ea typeface="楷体" pitchFamily="49" charset="-122"/>
              </a:rPr>
              <a:t>图像，序列</a:t>
            </a:r>
            <a:r>
              <a:rPr lang="en-US" altLang="zh-CN" dirty="0">
                <a:latin typeface="楷体" pitchFamily="49" charset="-122"/>
                <a:ea typeface="楷体" pitchFamily="49" charset="-122"/>
              </a:rPr>
              <a:t>…</a:t>
            </a:r>
          </a:p>
        </p:txBody>
      </p:sp>
      <p:grpSp>
        <p:nvGrpSpPr>
          <p:cNvPr id="14" name="组合 13"/>
          <p:cNvGrpSpPr/>
          <p:nvPr/>
        </p:nvGrpSpPr>
        <p:grpSpPr>
          <a:xfrm>
            <a:off x="2625128" y="1226646"/>
            <a:ext cx="4595869" cy="4621961"/>
            <a:chOff x="2625128" y="1226646"/>
            <a:chExt cx="4595869" cy="4621961"/>
          </a:xfrm>
        </p:grpSpPr>
        <p:grpSp>
          <p:nvGrpSpPr>
            <p:cNvPr id="12" name="组合 11"/>
            <p:cNvGrpSpPr/>
            <p:nvPr/>
          </p:nvGrpSpPr>
          <p:grpSpPr>
            <a:xfrm>
              <a:off x="2625128" y="2602145"/>
              <a:ext cx="4285281" cy="3246462"/>
              <a:chOff x="2625128" y="2602145"/>
              <a:chExt cx="4285281" cy="3246462"/>
            </a:xfrm>
          </p:grpSpPr>
          <p:sp>
            <p:nvSpPr>
              <p:cNvPr id="11" name="右弧形箭头 10"/>
              <p:cNvSpPr/>
              <p:nvPr/>
            </p:nvSpPr>
            <p:spPr>
              <a:xfrm rot="1529807">
                <a:off x="6455048" y="4552463"/>
                <a:ext cx="455361" cy="1296144"/>
              </a:xfrm>
              <a:prstGeom prst="curvedLeftArrow">
                <a:avLst>
                  <a:gd name="adj1" fmla="val 21586"/>
                  <a:gd name="adj2" fmla="val 38147"/>
                  <a:gd name="adj3" fmla="val 25000"/>
                </a:avLst>
              </a:prstGeom>
              <a:solidFill>
                <a:schemeClr val="bg2">
                  <a:lumMod val="9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右弧形箭头 23"/>
              <p:cNvSpPr/>
              <p:nvPr/>
            </p:nvSpPr>
            <p:spPr>
              <a:xfrm rot="8262252">
                <a:off x="2625128" y="4550308"/>
                <a:ext cx="455361" cy="1296144"/>
              </a:xfrm>
              <a:prstGeom prst="curvedLeftArrow">
                <a:avLst>
                  <a:gd name="adj1" fmla="val 21586"/>
                  <a:gd name="adj2" fmla="val 38147"/>
                  <a:gd name="adj3" fmla="val 25000"/>
                </a:avLst>
              </a:prstGeom>
              <a:solidFill>
                <a:schemeClr val="bg2">
                  <a:lumMod val="9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右弧形箭头 24"/>
              <p:cNvSpPr/>
              <p:nvPr/>
            </p:nvSpPr>
            <p:spPr>
              <a:xfrm rot="16200000">
                <a:off x="4250916" y="1713702"/>
                <a:ext cx="455361" cy="2232248"/>
              </a:xfrm>
              <a:prstGeom prst="curvedLeftArrow">
                <a:avLst>
                  <a:gd name="adj1" fmla="val 21586"/>
                  <a:gd name="adj2" fmla="val 38147"/>
                  <a:gd name="adj3" fmla="val 25000"/>
                </a:avLst>
              </a:prstGeom>
              <a:solidFill>
                <a:schemeClr val="bg2">
                  <a:lumMod val="9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3" name="TextBox 12"/>
            <p:cNvSpPr txBox="1"/>
            <p:nvPr/>
          </p:nvSpPr>
          <p:spPr>
            <a:xfrm>
              <a:off x="3804677" y="1226646"/>
              <a:ext cx="3416320" cy="523220"/>
            </a:xfrm>
            <a:prstGeom prst="rect">
              <a:avLst/>
            </a:prstGeom>
            <a:noFill/>
          </p:spPr>
          <p:txBody>
            <a:bodyPr wrap="none" rtlCol="0">
              <a:spAutoFit/>
            </a:bodyPr>
            <a:lstStyle/>
            <a:p>
              <a:r>
                <a:rPr lang="en-US" altLang="zh-CN" sz="2800" dirty="0">
                  <a:solidFill>
                    <a:schemeClr val="accent1"/>
                  </a:solidFill>
                  <a:latin typeface="黑体" pitchFamily="49" charset="-122"/>
                  <a:ea typeface="黑体" pitchFamily="49" charset="-122"/>
                </a:rPr>
                <a:t>(</a:t>
              </a:r>
              <a:r>
                <a:rPr lang="zh-CN" altLang="en-US" sz="2800" dirty="0">
                  <a:solidFill>
                    <a:schemeClr val="accent1"/>
                  </a:solidFill>
                  <a:latin typeface="黑体" pitchFamily="49" charset="-122"/>
                  <a:ea typeface="黑体" pitchFamily="49" charset="-122"/>
                </a:rPr>
                <a:t>多源异构数据融合</a:t>
              </a:r>
              <a:r>
                <a:rPr lang="en-US" altLang="zh-CN" sz="2800" dirty="0">
                  <a:solidFill>
                    <a:schemeClr val="accent1"/>
                  </a:solidFill>
                  <a:latin typeface="黑体" pitchFamily="49" charset="-122"/>
                  <a:ea typeface="黑体" pitchFamily="49" charset="-122"/>
                </a:rPr>
                <a:t>)</a:t>
              </a:r>
              <a:endParaRPr lang="zh-CN" altLang="en-US" sz="2800" dirty="0">
                <a:solidFill>
                  <a:schemeClr val="accent1"/>
                </a:solidFill>
                <a:latin typeface="黑体" pitchFamily="49" charset="-122"/>
                <a:ea typeface="黑体" pitchFamily="49" charset="-122"/>
              </a:endParaRPr>
            </a:p>
          </p:txBody>
        </p:sp>
      </p:grpSp>
      <p:sp>
        <p:nvSpPr>
          <p:cNvPr id="4" name="灯片编号占位符 3"/>
          <p:cNvSpPr>
            <a:spLocks noGrp="1"/>
          </p:cNvSpPr>
          <p:nvPr>
            <p:ph type="sldNum" sz="quarter" idx="12"/>
          </p:nvPr>
        </p:nvSpPr>
        <p:spPr/>
        <p:txBody>
          <a:bodyPr/>
          <a:lstStyle/>
          <a:p>
            <a:pPr>
              <a:defRPr/>
            </a:pPr>
            <a:fld id="{73B3C56C-5700-4E55-BF40-61423C59FA56}" type="slidenum">
              <a:rPr lang="zh-CN" altLang="en-US" smtClean="0"/>
              <a:pPr>
                <a:defRPr/>
              </a:pPr>
              <a:t>24</a:t>
            </a:fld>
            <a:endParaRPr lang="zh-CN" altLang="en-US" dirty="0"/>
          </a:p>
        </p:txBody>
      </p:sp>
    </p:spTree>
    <p:extLst>
      <p:ext uri="{BB962C8B-B14F-4D97-AF65-F5344CB8AC3E}">
        <p14:creationId xmlns:p14="http://schemas.microsoft.com/office/powerpoint/2010/main" val="16235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4)">
                                      <p:cBhvr>
                                        <p:cTn id="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大数据的特性：</a:t>
            </a:r>
            <a:r>
              <a:rPr lang="zh-CN" altLang="en-US" sz="2800" dirty="0"/>
              <a:t>分布式、去中心化自治</a:t>
            </a:r>
            <a:r>
              <a:rPr lang="en-US" altLang="zh-CN" sz="2800" dirty="0">
                <a:latin typeface="Palatino Linotype" pitchFamily="18" charset="0"/>
              </a:rPr>
              <a:t>(A)</a:t>
            </a:r>
            <a:r>
              <a:rPr lang="zh-CN" altLang="en-US" sz="2800" dirty="0"/>
              <a:t>数据源</a:t>
            </a:r>
          </a:p>
        </p:txBody>
      </p:sp>
      <p:grpSp>
        <p:nvGrpSpPr>
          <p:cNvPr id="5" name="组合 4"/>
          <p:cNvGrpSpPr/>
          <p:nvPr/>
        </p:nvGrpSpPr>
        <p:grpSpPr>
          <a:xfrm>
            <a:off x="632395" y="1196752"/>
            <a:ext cx="8229600" cy="1080120"/>
            <a:chOff x="0" y="699"/>
            <a:chExt cx="8229600" cy="1080120"/>
          </a:xfrm>
          <a:scene3d>
            <a:camera prst="orthographicFront"/>
            <a:lightRig rig="flat" dir="t"/>
          </a:scene3d>
        </p:grpSpPr>
        <p:sp>
          <p:nvSpPr>
            <p:cNvPr id="6" name="圆角矩形 5"/>
            <p:cNvSpPr/>
            <p:nvPr/>
          </p:nvSpPr>
          <p:spPr>
            <a:xfrm>
              <a:off x="0" y="699"/>
              <a:ext cx="8229600" cy="1080120"/>
            </a:xfrm>
            <a:prstGeom prst="roundRect">
              <a:avLst/>
            </a:prstGeom>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a:sp3d prstMaterial="dkEdge">
              <a:bevelT w="8200" h="38100"/>
            </a:sp3d>
          </p:spPr>
          <p:style>
            <a:lnRef idx="0">
              <a:scrgbClr r="0" g="0" b="0"/>
            </a:lnRef>
            <a:fillRef idx="2">
              <a:scrgbClr r="0" g="0" b="0"/>
            </a:fillRef>
            <a:effectRef idx="1">
              <a:schemeClr val="accent2">
                <a:hueOff val="0"/>
                <a:satOff val="0"/>
                <a:lumOff val="0"/>
                <a:alphaOff val="0"/>
              </a:schemeClr>
            </a:effectRef>
            <a:fontRef idx="minor">
              <a:schemeClr val="dk1"/>
            </a:fontRef>
          </p:style>
        </p:sp>
        <p:sp>
          <p:nvSpPr>
            <p:cNvPr id="7" name="圆角矩形 4"/>
            <p:cNvSpPr/>
            <p:nvPr/>
          </p:nvSpPr>
          <p:spPr>
            <a:xfrm>
              <a:off x="41976" y="42675"/>
              <a:ext cx="8145648" cy="1038144"/>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9540" tIns="129540" rIns="129540" bIns="129540" numCol="1" spcCol="1270" anchor="ctr" anchorCtr="0">
              <a:noAutofit/>
            </a:bodyPr>
            <a:lstStyle/>
            <a:p>
              <a:pPr lvl="0" algn="l" defTabSz="1511300" rtl="0">
                <a:lnSpc>
                  <a:spcPct val="90000"/>
                </a:lnSpc>
                <a:spcBef>
                  <a:spcPct val="0"/>
                </a:spcBef>
                <a:spcAft>
                  <a:spcPct val="35000"/>
                </a:spcAft>
              </a:pPr>
              <a:r>
                <a:rPr lang="zh-CN" altLang="en-US" sz="3200" dirty="0">
                  <a:solidFill>
                    <a:schemeClr val="accent2">
                      <a:lumMod val="50000"/>
                    </a:schemeClr>
                  </a:solidFill>
                  <a:latin typeface="黑体" pitchFamily="49" charset="-122"/>
                  <a:ea typeface="黑体" pitchFamily="49" charset="-122"/>
                </a:rPr>
                <a:t>同一应用的数据源去中心化控制</a:t>
              </a:r>
              <a:endParaRPr lang="en-US" altLang="zh-CN" sz="3200" dirty="0">
                <a:solidFill>
                  <a:schemeClr val="accent2">
                    <a:lumMod val="50000"/>
                  </a:schemeClr>
                </a:solidFill>
                <a:latin typeface="黑体" pitchFamily="49" charset="-122"/>
                <a:ea typeface="黑体" pitchFamily="49" charset="-122"/>
              </a:endParaRPr>
            </a:p>
            <a:p>
              <a:pPr lvl="0" algn="l" defTabSz="1511300" rtl="0">
                <a:lnSpc>
                  <a:spcPct val="90000"/>
                </a:lnSpc>
                <a:spcBef>
                  <a:spcPct val="0"/>
                </a:spcBef>
                <a:spcAft>
                  <a:spcPct val="35000"/>
                </a:spcAft>
              </a:pPr>
              <a:r>
                <a:rPr lang="zh-CN" altLang="en-US" sz="3200" dirty="0">
                  <a:solidFill>
                    <a:schemeClr val="accent2">
                      <a:lumMod val="50000"/>
                    </a:schemeClr>
                  </a:solidFill>
                  <a:latin typeface="黑体" pitchFamily="49" charset="-122"/>
                  <a:ea typeface="黑体" pitchFamily="49" charset="-122"/>
                </a:rPr>
                <a:t>不同数据源松耦合、功能叠加、全局容错</a:t>
              </a:r>
              <a:endParaRPr lang="en-US" altLang="zh-CN" sz="3200" dirty="0">
                <a:solidFill>
                  <a:schemeClr val="accent2">
                    <a:lumMod val="50000"/>
                  </a:schemeClr>
                </a:solidFill>
                <a:latin typeface="黑体" pitchFamily="49" charset="-122"/>
                <a:ea typeface="黑体" pitchFamily="49" charset="-122"/>
              </a:endParaRPr>
            </a:p>
          </p:txBody>
        </p:sp>
      </p:gr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366" y="2564904"/>
            <a:ext cx="5403905" cy="3384376"/>
          </a:xfrm>
          <a:prstGeom prst="rect">
            <a:avLst/>
          </a:prstGeom>
        </p:spPr>
      </p:pic>
      <p:sp>
        <p:nvSpPr>
          <p:cNvPr id="11" name="圆角矩形 10"/>
          <p:cNvSpPr/>
          <p:nvPr/>
        </p:nvSpPr>
        <p:spPr>
          <a:xfrm>
            <a:off x="6714186" y="2780928"/>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地区差异</a:t>
            </a:r>
          </a:p>
        </p:txBody>
      </p:sp>
      <p:sp>
        <p:nvSpPr>
          <p:cNvPr id="12" name="圆角矩形 11"/>
          <p:cNvSpPr/>
          <p:nvPr/>
        </p:nvSpPr>
        <p:spPr>
          <a:xfrm>
            <a:off x="6723495" y="3429000"/>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宗教文化差异</a:t>
            </a:r>
          </a:p>
        </p:txBody>
      </p:sp>
      <p:sp>
        <p:nvSpPr>
          <p:cNvPr id="13" name="圆角矩形 12"/>
          <p:cNvSpPr/>
          <p:nvPr/>
        </p:nvSpPr>
        <p:spPr>
          <a:xfrm>
            <a:off x="6723495" y="4077072"/>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购买行为差异</a:t>
            </a:r>
          </a:p>
        </p:txBody>
      </p:sp>
      <p:sp>
        <p:nvSpPr>
          <p:cNvPr id="14" name="圆角矩形 13"/>
          <p:cNvSpPr/>
          <p:nvPr/>
        </p:nvSpPr>
        <p:spPr>
          <a:xfrm>
            <a:off x="6714186" y="4723420"/>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促销策略差异</a:t>
            </a:r>
          </a:p>
        </p:txBody>
      </p:sp>
      <p:sp>
        <p:nvSpPr>
          <p:cNvPr id="15" name="圆角矩形 14"/>
          <p:cNvSpPr/>
          <p:nvPr/>
        </p:nvSpPr>
        <p:spPr>
          <a:xfrm>
            <a:off x="6732240" y="5404048"/>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其它更多</a:t>
            </a:r>
            <a:r>
              <a:rPr lang="en-US" altLang="zh-CN" dirty="0">
                <a:solidFill>
                  <a:schemeClr val="accent2">
                    <a:lumMod val="50000"/>
                  </a:schemeClr>
                </a:solidFill>
                <a:latin typeface="楷体" pitchFamily="49" charset="-122"/>
                <a:ea typeface="楷体" pitchFamily="49" charset="-122"/>
              </a:rPr>
              <a:t>…</a:t>
            </a:r>
            <a:endParaRPr lang="zh-CN" altLang="en-US" dirty="0">
              <a:solidFill>
                <a:schemeClr val="accent2">
                  <a:lumMod val="50000"/>
                </a:schemeClr>
              </a:solidFill>
              <a:latin typeface="楷体" pitchFamily="49" charset="-122"/>
              <a:ea typeface="楷体" pitchFamily="49" charset="-122"/>
            </a:endParaRPr>
          </a:p>
        </p:txBody>
      </p:sp>
      <p:sp>
        <p:nvSpPr>
          <p:cNvPr id="16" name="TextBox 15"/>
          <p:cNvSpPr txBox="1"/>
          <p:nvPr/>
        </p:nvSpPr>
        <p:spPr>
          <a:xfrm>
            <a:off x="6092196" y="2928523"/>
            <a:ext cx="492443" cy="2657138"/>
          </a:xfrm>
          <a:prstGeom prst="rect">
            <a:avLst/>
          </a:prstGeom>
          <a:noFill/>
        </p:spPr>
        <p:txBody>
          <a:bodyPr vert="eaVert" wrap="none" rtlCol="0">
            <a:spAutoFit/>
          </a:bodyPr>
          <a:lstStyle/>
          <a:p>
            <a:r>
              <a:rPr lang="zh-CN" altLang="en-US" sz="2000" dirty="0">
                <a:solidFill>
                  <a:schemeClr val="accent2">
                    <a:lumMod val="75000"/>
                  </a:schemeClr>
                </a:solidFill>
                <a:latin typeface="黑体" pitchFamily="49" charset="-122"/>
                <a:ea typeface="黑体" pitchFamily="49" charset="-122"/>
              </a:rPr>
              <a:t>数据挖掘结果的差异性</a:t>
            </a:r>
          </a:p>
        </p:txBody>
      </p:sp>
      <p:sp>
        <p:nvSpPr>
          <p:cNvPr id="4" name="灯片编号占位符 3"/>
          <p:cNvSpPr>
            <a:spLocks noGrp="1"/>
          </p:cNvSpPr>
          <p:nvPr>
            <p:ph type="sldNum" sz="quarter" idx="12"/>
          </p:nvPr>
        </p:nvSpPr>
        <p:spPr/>
        <p:txBody>
          <a:bodyPr/>
          <a:lstStyle/>
          <a:p>
            <a:pPr>
              <a:defRPr/>
            </a:pPr>
            <a:fld id="{73B3C56C-5700-4E55-BF40-61423C59FA56}" type="slidenum">
              <a:rPr lang="zh-CN" altLang="en-US" smtClean="0"/>
              <a:pPr>
                <a:defRPr/>
              </a:pPr>
              <a:t>25</a:t>
            </a:fld>
            <a:endParaRPr lang="zh-CN" altLang="en-US" dirty="0"/>
          </a:p>
        </p:txBody>
      </p:sp>
    </p:spTree>
    <p:extLst>
      <p:ext uri="{BB962C8B-B14F-4D97-AF65-F5344CB8AC3E}">
        <p14:creationId xmlns:p14="http://schemas.microsoft.com/office/powerpoint/2010/main" val="3317618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bg/>
                                          </p:spTgt>
                                        </p:tgtEl>
                                        <p:attrNameLst>
                                          <p:attrName>style.visibility</p:attrName>
                                        </p:attrNameLst>
                                      </p:cBhvr>
                                      <p:to>
                                        <p:strVal val="visible"/>
                                      </p:to>
                                    </p:set>
                                    <p:anim calcmode="lin" valueType="num">
                                      <p:cBhvr additive="base">
                                        <p:cTn id="7" dur="500" fill="hold"/>
                                        <p:tgtEl>
                                          <p:spTgt spid="11">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11">
                                            <p:bg/>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additive="base">
                                        <p:cTn id="12"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2">
                                            <p:bg/>
                                          </p:spTgt>
                                        </p:tgtEl>
                                        <p:attrNameLst>
                                          <p:attrName>style.visibility</p:attrName>
                                        </p:attrNameLst>
                                      </p:cBhvr>
                                      <p:to>
                                        <p:strVal val="visible"/>
                                      </p:to>
                                    </p:set>
                                    <p:anim calcmode="lin" valueType="num">
                                      <p:cBhvr additive="base">
                                        <p:cTn id="17" dur="500" fill="hold"/>
                                        <p:tgtEl>
                                          <p:spTgt spid="12">
                                            <p:bg/>
                                          </p:spTgt>
                                        </p:tgtEl>
                                        <p:attrNameLst>
                                          <p:attrName>ppt_x</p:attrName>
                                        </p:attrNameLst>
                                      </p:cBhvr>
                                      <p:tavLst>
                                        <p:tav tm="0">
                                          <p:val>
                                            <p:strVal val="0-#ppt_w/2"/>
                                          </p:val>
                                        </p:tav>
                                        <p:tav tm="100000">
                                          <p:val>
                                            <p:strVal val="#ppt_x"/>
                                          </p:val>
                                        </p:tav>
                                      </p:tavLst>
                                    </p:anim>
                                    <p:anim calcmode="lin" valueType="num">
                                      <p:cBhvr additive="base">
                                        <p:cTn id="18" dur="500" fill="hold"/>
                                        <p:tgtEl>
                                          <p:spTgt spid="12">
                                            <p:bg/>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 calcmode="lin" valueType="num">
                                      <p:cBhvr additive="base">
                                        <p:cTn id="22"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3">
                                            <p:bg/>
                                          </p:spTgt>
                                        </p:tgtEl>
                                        <p:attrNameLst>
                                          <p:attrName>style.visibility</p:attrName>
                                        </p:attrNameLst>
                                      </p:cBhvr>
                                      <p:to>
                                        <p:strVal val="visible"/>
                                      </p:to>
                                    </p:set>
                                    <p:anim calcmode="lin" valueType="num">
                                      <p:cBhvr additive="base">
                                        <p:cTn id="27" dur="500" fill="hold"/>
                                        <p:tgtEl>
                                          <p:spTgt spid="13">
                                            <p:bg/>
                                          </p:spTgt>
                                        </p:tgtEl>
                                        <p:attrNameLst>
                                          <p:attrName>ppt_x</p:attrName>
                                        </p:attrNameLst>
                                      </p:cBhvr>
                                      <p:tavLst>
                                        <p:tav tm="0">
                                          <p:val>
                                            <p:strVal val="0-#ppt_w/2"/>
                                          </p:val>
                                        </p:tav>
                                        <p:tav tm="100000">
                                          <p:val>
                                            <p:strVal val="#ppt_x"/>
                                          </p:val>
                                        </p:tav>
                                      </p:tavLst>
                                    </p:anim>
                                    <p:anim calcmode="lin" valueType="num">
                                      <p:cBhvr additive="base">
                                        <p:cTn id="28" dur="500" fill="hold"/>
                                        <p:tgtEl>
                                          <p:spTgt spid="13">
                                            <p:bg/>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 calcmode="lin" valueType="num">
                                      <p:cBhvr additive="base">
                                        <p:cTn id="32"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4">
                                            <p:bg/>
                                          </p:spTgt>
                                        </p:tgtEl>
                                        <p:attrNameLst>
                                          <p:attrName>style.visibility</p:attrName>
                                        </p:attrNameLst>
                                      </p:cBhvr>
                                      <p:to>
                                        <p:strVal val="visible"/>
                                      </p:to>
                                    </p:set>
                                    <p:anim calcmode="lin" valueType="num">
                                      <p:cBhvr additive="base">
                                        <p:cTn id="37" dur="500" fill="hold"/>
                                        <p:tgtEl>
                                          <p:spTgt spid="14">
                                            <p:bg/>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
                                            <p:bg/>
                                          </p:spTgt>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14">
                                            <p:txEl>
                                              <p:pRg st="0" end="0"/>
                                            </p:txEl>
                                          </p:spTgt>
                                        </p:tgtEl>
                                        <p:attrNameLst>
                                          <p:attrName>style.visibility</p:attrName>
                                        </p:attrNameLst>
                                      </p:cBhvr>
                                      <p:to>
                                        <p:strVal val="visible"/>
                                      </p:to>
                                    </p:set>
                                    <p:anim calcmode="lin" valueType="num">
                                      <p:cBhvr additive="base">
                                        <p:cTn id="42"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8" fill="hold" grpId="0" nodeType="afterEffect">
                                  <p:stCondLst>
                                    <p:cond delay="0"/>
                                  </p:stCondLst>
                                  <p:childTnLst>
                                    <p:set>
                                      <p:cBhvr>
                                        <p:cTn id="46" dur="1" fill="hold">
                                          <p:stCondLst>
                                            <p:cond delay="0"/>
                                          </p:stCondLst>
                                        </p:cTn>
                                        <p:tgtEl>
                                          <p:spTgt spid="15">
                                            <p:bg/>
                                          </p:spTgt>
                                        </p:tgtEl>
                                        <p:attrNameLst>
                                          <p:attrName>style.visibility</p:attrName>
                                        </p:attrNameLst>
                                      </p:cBhvr>
                                      <p:to>
                                        <p:strVal val="visible"/>
                                      </p:to>
                                    </p:set>
                                    <p:anim calcmode="lin" valueType="num">
                                      <p:cBhvr additive="base">
                                        <p:cTn id="47" dur="500" fill="hold"/>
                                        <p:tgtEl>
                                          <p:spTgt spid="15">
                                            <p:bg/>
                                          </p:spTgt>
                                        </p:tgtEl>
                                        <p:attrNameLst>
                                          <p:attrName>ppt_x</p:attrName>
                                        </p:attrNameLst>
                                      </p:cBhvr>
                                      <p:tavLst>
                                        <p:tav tm="0">
                                          <p:val>
                                            <p:strVal val="0-#ppt_w/2"/>
                                          </p:val>
                                        </p:tav>
                                        <p:tav tm="100000">
                                          <p:val>
                                            <p:strVal val="#ppt_x"/>
                                          </p:val>
                                        </p:tav>
                                      </p:tavLst>
                                    </p:anim>
                                    <p:anim calcmode="lin" valueType="num">
                                      <p:cBhvr additive="base">
                                        <p:cTn id="48" dur="500" fill="hold"/>
                                        <p:tgtEl>
                                          <p:spTgt spid="15">
                                            <p:bg/>
                                          </p:spTgt>
                                        </p:tgtEl>
                                        <p:attrNameLst>
                                          <p:attrName>ppt_y</p:attrName>
                                        </p:attrNameLst>
                                      </p:cBhvr>
                                      <p:tavLst>
                                        <p:tav tm="0">
                                          <p:val>
                                            <p:strVal val="#ppt_y"/>
                                          </p:val>
                                        </p:tav>
                                        <p:tav tm="100000">
                                          <p:val>
                                            <p:strVal val="#ppt_y"/>
                                          </p:val>
                                        </p:tav>
                                      </p:tavLst>
                                    </p:anim>
                                  </p:childTnLst>
                                </p:cTn>
                              </p:par>
                            </p:childTnLst>
                          </p:cTn>
                        </p:par>
                        <p:par>
                          <p:cTn id="49" fill="hold">
                            <p:stCondLst>
                              <p:cond delay="4500"/>
                            </p:stCondLst>
                            <p:childTnLst>
                              <p:par>
                                <p:cTn id="50" presetID="2" presetClass="entr" presetSubtype="8" fill="hold" grpId="0" nodeType="afterEffect">
                                  <p:stCondLst>
                                    <p:cond delay="0"/>
                                  </p:stCondLst>
                                  <p:childTnLst>
                                    <p:set>
                                      <p:cBhvr>
                                        <p:cTn id="51" dur="1" fill="hold">
                                          <p:stCondLst>
                                            <p:cond delay="0"/>
                                          </p:stCondLst>
                                        </p:cTn>
                                        <p:tgtEl>
                                          <p:spTgt spid="15">
                                            <p:txEl>
                                              <p:pRg st="0" end="0"/>
                                            </p:txEl>
                                          </p:spTgt>
                                        </p:tgtEl>
                                        <p:attrNameLst>
                                          <p:attrName>style.visibility</p:attrName>
                                        </p:attrNameLst>
                                      </p:cBhvr>
                                      <p:to>
                                        <p:strVal val="visible"/>
                                      </p:to>
                                    </p:set>
                                    <p:anim calcmode="lin" valueType="num">
                                      <p:cBhvr additive="base">
                                        <p:cTn id="52"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53"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nimBg="1"/>
      <p:bldP spid="12" grpId="0" build="p" animBg="1"/>
      <p:bldP spid="13" grpId="0" build="p" animBg="1"/>
      <p:bldP spid="14" grpId="0" build="p" animBg="1"/>
      <p:bldP spid="15"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大数据的特性：</a:t>
            </a:r>
            <a:r>
              <a:rPr lang="zh-CN" altLang="en-US" sz="3100" dirty="0"/>
              <a:t>复杂</a:t>
            </a:r>
            <a:r>
              <a:rPr lang="en-US" altLang="zh-CN" sz="3100" dirty="0">
                <a:latin typeface="Palatino Linotype" pitchFamily="18" charset="0"/>
              </a:rPr>
              <a:t>(C)</a:t>
            </a:r>
            <a:r>
              <a:rPr lang="zh-CN" altLang="en-US" sz="3100" dirty="0"/>
              <a:t>和演化</a:t>
            </a:r>
            <a:r>
              <a:rPr lang="en-US" altLang="zh-CN" sz="3100" dirty="0">
                <a:latin typeface="Palatino Linotype" pitchFamily="18" charset="0"/>
              </a:rPr>
              <a:t>(E)</a:t>
            </a:r>
            <a:r>
              <a:rPr lang="zh-CN" altLang="en-US" sz="3100" dirty="0">
                <a:latin typeface="Palatino Linotype" pitchFamily="18" charset="0"/>
              </a:rPr>
              <a:t>的数据间</a:t>
            </a:r>
            <a:r>
              <a:rPr lang="zh-CN" altLang="en-US" sz="3100" dirty="0"/>
              <a:t>关系</a:t>
            </a:r>
          </a:p>
        </p:txBody>
      </p:sp>
      <p:grpSp>
        <p:nvGrpSpPr>
          <p:cNvPr id="5" name="组合 4"/>
          <p:cNvGrpSpPr/>
          <p:nvPr/>
        </p:nvGrpSpPr>
        <p:grpSpPr>
          <a:xfrm>
            <a:off x="539552" y="1196752"/>
            <a:ext cx="8322443" cy="1296144"/>
            <a:chOff x="-92843" y="699"/>
            <a:chExt cx="8322443" cy="1080120"/>
          </a:xfrm>
          <a:scene3d>
            <a:camera prst="orthographicFront"/>
            <a:lightRig rig="flat" dir="t"/>
          </a:scene3d>
        </p:grpSpPr>
        <p:sp>
          <p:nvSpPr>
            <p:cNvPr id="6" name="圆角矩形 5"/>
            <p:cNvSpPr/>
            <p:nvPr/>
          </p:nvSpPr>
          <p:spPr>
            <a:xfrm>
              <a:off x="0" y="699"/>
              <a:ext cx="8229600" cy="1080120"/>
            </a:xfrm>
            <a:prstGeom prst="roundRect">
              <a:avLst/>
            </a:prstGeom>
            <a:gradFill flip="none" rotWithShape="0">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solidFill>
                <a:schemeClr val="accent2">
                  <a:lumMod val="50000"/>
                </a:schemeClr>
              </a:solidFill>
            </a:ln>
            <a:sp3d prstMaterial="dkEdge">
              <a:bevelT w="8200" h="38100"/>
            </a:sp3d>
          </p:spPr>
          <p:style>
            <a:lnRef idx="0">
              <a:scrgbClr r="0" g="0" b="0"/>
            </a:lnRef>
            <a:fillRef idx="2">
              <a:scrgbClr r="0" g="0" b="0"/>
            </a:fillRef>
            <a:effectRef idx="1">
              <a:schemeClr val="accent2">
                <a:hueOff val="0"/>
                <a:satOff val="0"/>
                <a:lumOff val="0"/>
                <a:alphaOff val="0"/>
              </a:schemeClr>
            </a:effectRef>
            <a:fontRef idx="minor">
              <a:schemeClr val="dk1"/>
            </a:fontRef>
          </p:style>
        </p:sp>
        <p:sp>
          <p:nvSpPr>
            <p:cNvPr id="7" name="圆角矩形 4"/>
            <p:cNvSpPr/>
            <p:nvPr/>
          </p:nvSpPr>
          <p:spPr>
            <a:xfrm>
              <a:off x="-92843" y="42675"/>
              <a:ext cx="8290117" cy="1038144"/>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9540" tIns="129540" rIns="129540" bIns="129540" numCol="1" spcCol="1270" anchor="ctr" anchorCtr="0">
              <a:noAutofit/>
            </a:bodyPr>
            <a:lstStyle/>
            <a:p>
              <a:pPr defTabSz="1511300">
                <a:lnSpc>
                  <a:spcPct val="90000"/>
                </a:lnSpc>
                <a:spcAft>
                  <a:spcPct val="35000"/>
                </a:spcAft>
              </a:pPr>
              <a:r>
                <a:rPr lang="en-US" altLang="zh-CN" sz="2800" dirty="0">
                  <a:solidFill>
                    <a:schemeClr val="tx1">
                      <a:lumMod val="65000"/>
                      <a:lumOff val="35000"/>
                    </a:schemeClr>
                  </a:solidFill>
                  <a:latin typeface="Palatino Linotype" pitchFamily="18" charset="0"/>
                  <a:ea typeface="黑体" pitchFamily="49" charset="-122"/>
                </a:rPr>
                <a:t>“</a:t>
              </a:r>
              <a:r>
                <a:rPr lang="zh-CN" altLang="en-US" sz="2800" dirty="0">
                  <a:solidFill>
                    <a:schemeClr val="tx1">
                      <a:lumMod val="65000"/>
                      <a:lumOff val="35000"/>
                    </a:schemeClr>
                  </a:solidFill>
                  <a:latin typeface="黑体" pitchFamily="49" charset="-122"/>
                  <a:ea typeface="黑体" pitchFamily="49" charset="-122"/>
                </a:rPr>
                <a:t>样本</a:t>
              </a:r>
              <a:r>
                <a:rPr lang="en-US" altLang="zh-CN" sz="2800" dirty="0">
                  <a:solidFill>
                    <a:schemeClr val="tx1">
                      <a:lumMod val="65000"/>
                      <a:lumOff val="35000"/>
                    </a:schemeClr>
                  </a:solidFill>
                  <a:latin typeface="黑体" pitchFamily="49" charset="-122"/>
                  <a:ea typeface="黑体" pitchFamily="49" charset="-122"/>
                </a:rPr>
                <a:t>-</a:t>
              </a:r>
              <a:r>
                <a:rPr lang="zh-CN" altLang="en-US" sz="2800" dirty="0">
                  <a:solidFill>
                    <a:schemeClr val="tx1">
                      <a:lumMod val="65000"/>
                      <a:lumOff val="35000"/>
                    </a:schemeClr>
                  </a:solidFill>
                  <a:latin typeface="黑体" pitchFamily="49" charset="-122"/>
                  <a:ea typeface="黑体" pitchFamily="49" charset="-122"/>
                </a:rPr>
                <a:t>特性</a:t>
              </a:r>
              <a:r>
                <a:rPr lang="en-US" altLang="zh-CN" sz="2800" dirty="0">
                  <a:solidFill>
                    <a:schemeClr val="tx1">
                      <a:lumMod val="65000"/>
                      <a:lumOff val="35000"/>
                    </a:schemeClr>
                  </a:solidFill>
                  <a:latin typeface="Palatino Linotype" pitchFamily="18" charset="0"/>
                  <a:ea typeface="黑体" pitchFamily="49" charset="-122"/>
                </a:rPr>
                <a:t>”</a:t>
              </a:r>
              <a:r>
                <a:rPr lang="zh-CN" altLang="en-US" sz="2800" dirty="0">
                  <a:solidFill>
                    <a:schemeClr val="tx1">
                      <a:lumMod val="65000"/>
                      <a:lumOff val="35000"/>
                    </a:schemeClr>
                  </a:solidFill>
                  <a:latin typeface="黑体" pitchFamily="49" charset="-122"/>
                  <a:ea typeface="黑体" pitchFamily="49" charset="-122"/>
                </a:rPr>
                <a:t>表示</a:t>
              </a:r>
              <a:r>
                <a:rPr lang="en-US" altLang="zh-CN" sz="2800" dirty="0">
                  <a:solidFill>
                    <a:schemeClr val="tx1">
                      <a:lumMod val="65000"/>
                      <a:lumOff val="35000"/>
                    </a:schemeClr>
                  </a:solidFill>
                  <a:latin typeface="Palatino Linotype" pitchFamily="18" charset="0"/>
                  <a:ea typeface="黑体" pitchFamily="49" charset="-122"/>
                </a:rPr>
                <a:t>(Sample-feature)</a:t>
              </a:r>
            </a:p>
            <a:p>
              <a:pPr lvl="0" defTabSz="1511300">
                <a:lnSpc>
                  <a:spcPct val="90000"/>
                </a:lnSpc>
                <a:spcAft>
                  <a:spcPct val="35000"/>
                </a:spcAft>
              </a:pPr>
              <a:r>
                <a:rPr lang="en-US" altLang="zh-CN" sz="2800" dirty="0">
                  <a:solidFill>
                    <a:schemeClr val="accent2">
                      <a:lumMod val="50000"/>
                    </a:schemeClr>
                  </a:solidFill>
                  <a:latin typeface="Palatino Linotype" pitchFamily="18" charset="0"/>
                  <a:ea typeface="黑体" pitchFamily="49" charset="-122"/>
                </a:rPr>
                <a:t>“</a:t>
              </a:r>
              <a:r>
                <a:rPr lang="zh-CN" altLang="en-US" sz="2800" dirty="0">
                  <a:solidFill>
                    <a:schemeClr val="accent2">
                      <a:lumMod val="50000"/>
                    </a:schemeClr>
                  </a:solidFill>
                  <a:latin typeface="Palatino Linotype" pitchFamily="18" charset="0"/>
                  <a:ea typeface="黑体" pitchFamily="49" charset="-122"/>
                </a:rPr>
                <a:t>样本</a:t>
              </a:r>
              <a:r>
                <a:rPr lang="en-US" altLang="zh-CN" sz="2800" dirty="0">
                  <a:solidFill>
                    <a:schemeClr val="accent2">
                      <a:lumMod val="50000"/>
                    </a:schemeClr>
                  </a:solidFill>
                  <a:latin typeface="Palatino Linotype" pitchFamily="18" charset="0"/>
                  <a:ea typeface="黑体" pitchFamily="49" charset="-122"/>
                </a:rPr>
                <a:t>-</a:t>
              </a:r>
              <a:r>
                <a:rPr lang="zh-CN" altLang="en-US" sz="2800" dirty="0">
                  <a:solidFill>
                    <a:schemeClr val="accent2">
                      <a:lumMod val="50000"/>
                    </a:schemeClr>
                  </a:solidFill>
                  <a:latin typeface="Palatino Linotype" pitchFamily="18" charset="0"/>
                  <a:ea typeface="黑体" pitchFamily="49" charset="-122"/>
                </a:rPr>
                <a:t>特性</a:t>
              </a:r>
              <a:r>
                <a:rPr lang="en-US" altLang="zh-CN" sz="2800" dirty="0">
                  <a:solidFill>
                    <a:schemeClr val="accent2">
                      <a:lumMod val="50000"/>
                    </a:schemeClr>
                  </a:solidFill>
                  <a:latin typeface="Palatino Linotype" pitchFamily="18" charset="0"/>
                  <a:ea typeface="黑体" pitchFamily="49" charset="-122"/>
                </a:rPr>
                <a:t>-</a:t>
              </a:r>
              <a:r>
                <a:rPr lang="zh-CN" altLang="en-US" sz="2800" dirty="0">
                  <a:solidFill>
                    <a:schemeClr val="accent2">
                      <a:lumMod val="50000"/>
                    </a:schemeClr>
                  </a:solidFill>
                  <a:latin typeface="Palatino Linotype" pitchFamily="18" charset="0"/>
                  <a:ea typeface="黑体" pitchFamily="49" charset="-122"/>
                </a:rPr>
                <a:t>关系</a:t>
              </a:r>
              <a:r>
                <a:rPr lang="en-US" altLang="zh-CN" sz="2800" dirty="0">
                  <a:solidFill>
                    <a:schemeClr val="accent2">
                      <a:lumMod val="50000"/>
                    </a:schemeClr>
                  </a:solidFill>
                  <a:latin typeface="Palatino Linotype" pitchFamily="18" charset="0"/>
                  <a:ea typeface="黑体" pitchFamily="49" charset="-122"/>
                </a:rPr>
                <a:t>”</a:t>
              </a:r>
              <a:r>
                <a:rPr lang="zh-CN" altLang="en-US" sz="2800" dirty="0">
                  <a:solidFill>
                    <a:schemeClr val="accent2">
                      <a:lumMod val="50000"/>
                    </a:schemeClr>
                  </a:solidFill>
                  <a:latin typeface="Palatino Linotype" pitchFamily="18" charset="0"/>
                  <a:ea typeface="黑体" pitchFamily="49" charset="-122"/>
                </a:rPr>
                <a:t>表示</a:t>
              </a:r>
              <a:r>
                <a:rPr lang="en-US" altLang="zh-CN" sz="2800" dirty="0">
                  <a:solidFill>
                    <a:schemeClr val="accent2">
                      <a:lumMod val="50000"/>
                    </a:schemeClr>
                  </a:solidFill>
                  <a:latin typeface="Palatino Linotype" pitchFamily="18" charset="0"/>
                  <a:ea typeface="黑体" pitchFamily="49" charset="-122"/>
                </a:rPr>
                <a:t>(Sample-feature-relationship)</a:t>
              </a:r>
            </a:p>
          </p:txBody>
        </p:sp>
      </p:grpSp>
      <p:sp>
        <p:nvSpPr>
          <p:cNvPr id="9" name="右弧形箭头 8"/>
          <p:cNvSpPr/>
          <p:nvPr/>
        </p:nvSpPr>
        <p:spPr>
          <a:xfrm>
            <a:off x="6156176" y="1529644"/>
            <a:ext cx="455361" cy="438495"/>
          </a:xfrm>
          <a:prstGeom prst="curvedLeftArrow">
            <a:avLst>
              <a:gd name="adj1" fmla="val 21586"/>
              <a:gd name="adj2" fmla="val 38147"/>
              <a:gd name="adj3" fmla="val 25000"/>
            </a:avLst>
          </a:prstGeom>
          <a:solidFill>
            <a:schemeClr val="bg2">
              <a:lumMod val="9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2622082"/>
            <a:ext cx="4610100" cy="3905250"/>
          </a:xfrm>
          <a:prstGeom prst="rect">
            <a:avLst/>
          </a:prstGeom>
        </p:spPr>
      </p:pic>
      <p:sp>
        <p:nvSpPr>
          <p:cNvPr id="11" name="圆角矩形 10"/>
          <p:cNvSpPr/>
          <p:nvPr/>
        </p:nvSpPr>
        <p:spPr>
          <a:xfrm>
            <a:off x="6074859" y="3142692"/>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数据表示复杂</a:t>
            </a:r>
          </a:p>
        </p:txBody>
      </p:sp>
      <p:sp>
        <p:nvSpPr>
          <p:cNvPr id="12" name="圆角矩形 11"/>
          <p:cNvSpPr/>
          <p:nvPr/>
        </p:nvSpPr>
        <p:spPr>
          <a:xfrm>
            <a:off x="6084168" y="3790764"/>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数据关系复杂</a:t>
            </a:r>
          </a:p>
        </p:txBody>
      </p:sp>
      <p:sp>
        <p:nvSpPr>
          <p:cNvPr id="13" name="圆角矩形 12"/>
          <p:cNvSpPr/>
          <p:nvPr/>
        </p:nvSpPr>
        <p:spPr>
          <a:xfrm>
            <a:off x="6084168" y="4438836"/>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动态性强</a:t>
            </a:r>
          </a:p>
        </p:txBody>
      </p:sp>
      <p:sp>
        <p:nvSpPr>
          <p:cNvPr id="14" name="圆角矩形 13"/>
          <p:cNvSpPr/>
          <p:nvPr/>
        </p:nvSpPr>
        <p:spPr>
          <a:xfrm>
            <a:off x="6074859" y="5085184"/>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演化规律复杂</a:t>
            </a:r>
          </a:p>
        </p:txBody>
      </p:sp>
      <p:sp>
        <p:nvSpPr>
          <p:cNvPr id="4" name="灯片编号占位符 3"/>
          <p:cNvSpPr>
            <a:spLocks noGrp="1"/>
          </p:cNvSpPr>
          <p:nvPr>
            <p:ph type="sldNum" sz="quarter" idx="12"/>
          </p:nvPr>
        </p:nvSpPr>
        <p:spPr/>
        <p:txBody>
          <a:bodyPr/>
          <a:lstStyle/>
          <a:p>
            <a:pPr>
              <a:defRPr/>
            </a:pPr>
            <a:fld id="{73B3C56C-5700-4E55-BF40-61423C59FA56}" type="slidenum">
              <a:rPr lang="zh-CN" altLang="en-US" smtClean="0"/>
              <a:pPr>
                <a:defRPr/>
              </a:pPr>
              <a:t>26</a:t>
            </a:fld>
            <a:endParaRPr lang="zh-CN" altLang="en-US" dirty="0"/>
          </a:p>
        </p:txBody>
      </p:sp>
    </p:spTree>
    <p:extLst>
      <p:ext uri="{BB962C8B-B14F-4D97-AF65-F5344CB8AC3E}">
        <p14:creationId xmlns:p14="http://schemas.microsoft.com/office/powerpoint/2010/main" val="2045995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大数据的特性：盲人摸象的“大数据”挖掘</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2057"/>
            <a:ext cx="9144000" cy="5033886"/>
          </a:xfrm>
          <a:prstGeom prst="rect">
            <a:avLst/>
          </a:prstGeom>
        </p:spPr>
      </p:pic>
      <p:sp>
        <p:nvSpPr>
          <p:cNvPr id="4" name="圆角矩形 3"/>
          <p:cNvSpPr/>
          <p:nvPr/>
        </p:nvSpPr>
        <p:spPr>
          <a:xfrm>
            <a:off x="2051720" y="1332271"/>
            <a:ext cx="1728192"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大象不断长大且不断变化</a:t>
            </a:r>
          </a:p>
        </p:txBody>
      </p:sp>
      <p:pic>
        <p:nvPicPr>
          <p:cNvPr id="2050" name="Picture 2"/>
          <p:cNvPicPr>
            <a:picLocks noChangeAspect="1" noChangeArrowheads="1"/>
          </p:cNvPicPr>
          <p:nvPr/>
        </p:nvPicPr>
        <p:blipFill>
          <a:blip r:embed="rId4">
            <a:extLst>
              <a:ext uri="{BEBA8EAE-BF5A-486C-A8C5-ECC9F3942E4B}">
                <a14:imgProps xmlns:a14="http://schemas.microsoft.com/office/drawing/2010/main">
                  <a14:imgLayer r:embed="rId5">
                    <a14:imgEffect>
                      <a14:artisticCement/>
                    </a14:imgEffect>
                  </a14:imgLayer>
                </a14:imgProps>
              </a:ext>
              <a:ext uri="{28A0092B-C50C-407E-A947-70E740481C1C}">
                <a14:useLocalDpi xmlns:a14="http://schemas.microsoft.com/office/drawing/2010/main" val="0"/>
              </a:ext>
            </a:extLst>
          </a:blip>
          <a:srcRect/>
          <a:stretch>
            <a:fillRect/>
          </a:stretch>
        </p:blipFill>
        <p:spPr bwMode="auto">
          <a:xfrm>
            <a:off x="4355976" y="2622402"/>
            <a:ext cx="2304256" cy="922158"/>
          </a:xfrm>
          <a:prstGeom prst="rect">
            <a:avLst/>
          </a:prstGeom>
          <a:noFill/>
          <a:ln>
            <a:noFill/>
          </a:ln>
          <a:effectLst>
            <a:glow rad="127000">
              <a:schemeClr val="bg2">
                <a:lumMod val="25000"/>
              </a:schemeClr>
            </a:glow>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圆角矩形 8"/>
          <p:cNvSpPr/>
          <p:nvPr/>
        </p:nvSpPr>
        <p:spPr>
          <a:xfrm>
            <a:off x="2348069" y="5945943"/>
            <a:ext cx="5652120" cy="504056"/>
          </a:xfrm>
          <a:prstGeom prst="roundRect">
            <a:avLst/>
          </a:prstGeom>
          <a:ln>
            <a:solidFill>
              <a:schemeClr val="bg2">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dirty="0">
                <a:solidFill>
                  <a:schemeClr val="accent2">
                    <a:lumMod val="50000"/>
                  </a:schemeClr>
                </a:solidFill>
                <a:latin typeface="楷体" pitchFamily="49" charset="-122"/>
                <a:ea typeface="楷体" pitchFamily="49" charset="-122"/>
              </a:rPr>
              <a:t>“盲人”们之间可以相互交流，互相学习对方的知识</a:t>
            </a:r>
          </a:p>
        </p:txBody>
      </p:sp>
      <p:sp>
        <p:nvSpPr>
          <p:cNvPr id="7" name="灯片编号占位符 6"/>
          <p:cNvSpPr>
            <a:spLocks noGrp="1"/>
          </p:cNvSpPr>
          <p:nvPr>
            <p:ph type="sldNum" sz="quarter" idx="12"/>
          </p:nvPr>
        </p:nvSpPr>
        <p:spPr/>
        <p:txBody>
          <a:bodyPr/>
          <a:lstStyle/>
          <a:p>
            <a:pPr>
              <a:defRPr/>
            </a:pPr>
            <a:fld id="{73B3C56C-5700-4E55-BF40-61423C59FA56}" type="slidenum">
              <a:rPr lang="zh-CN" altLang="en-US" smtClean="0"/>
              <a:pPr>
                <a:defRPr/>
              </a:pPr>
              <a:t>27</a:t>
            </a:fld>
            <a:endParaRPr lang="zh-CN" altLang="en-US" dirty="0"/>
          </a:p>
        </p:txBody>
      </p:sp>
    </p:spTree>
    <p:extLst>
      <p:ext uri="{BB962C8B-B14F-4D97-AF65-F5344CB8AC3E}">
        <p14:creationId xmlns:p14="http://schemas.microsoft.com/office/powerpoint/2010/main" val="1307367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大数据的特性：“大数据”挖掘的挑战</a:t>
            </a:r>
            <a:r>
              <a:rPr lang="en-US" altLang="zh-CN" dirty="0"/>
              <a:t>(1)</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2754798081"/>
              </p:ext>
            </p:extLst>
          </p:nvPr>
        </p:nvGraphicFramePr>
        <p:xfrm>
          <a:off x="467544" y="1196752"/>
          <a:ext cx="8229600" cy="4678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28</a:t>
            </a:fld>
            <a:endParaRPr lang="zh-CN" altLang="en-US" dirty="0"/>
          </a:p>
        </p:txBody>
      </p:sp>
    </p:spTree>
    <p:extLst>
      <p:ext uri="{BB962C8B-B14F-4D97-AF65-F5344CB8AC3E}">
        <p14:creationId xmlns:p14="http://schemas.microsoft.com/office/powerpoint/2010/main" val="3640941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大数据的特性：“大数据”挖掘的挑战</a:t>
            </a:r>
            <a:r>
              <a:rPr lang="en-US" altLang="zh-CN" dirty="0"/>
              <a:t>(2)</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1270761638"/>
              </p:ext>
            </p:extLst>
          </p:nvPr>
        </p:nvGraphicFramePr>
        <p:xfrm>
          <a:off x="467544" y="1196752"/>
          <a:ext cx="8229600" cy="4678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29</a:t>
            </a:fld>
            <a:endParaRPr lang="zh-CN" altLang="en-US" dirty="0"/>
          </a:p>
        </p:txBody>
      </p:sp>
    </p:spTree>
    <p:extLst>
      <p:ext uri="{BB962C8B-B14F-4D97-AF65-F5344CB8AC3E}">
        <p14:creationId xmlns:p14="http://schemas.microsoft.com/office/powerpoint/2010/main" val="1320253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大数据的特性：“大数据”挖掘的挑战</a:t>
            </a:r>
            <a:r>
              <a:rPr lang="en-US" altLang="zh-CN" dirty="0"/>
              <a:t>(3)</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2115621760"/>
              </p:ext>
            </p:extLst>
          </p:nvPr>
        </p:nvGraphicFramePr>
        <p:xfrm>
          <a:off x="467544" y="1124744"/>
          <a:ext cx="8229600" cy="3240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9512" y="4176277"/>
            <a:ext cx="5544616" cy="2172890"/>
          </a:xfrm>
          <a:prstGeom prst="rect">
            <a:avLst/>
          </a:prstGeom>
        </p:spPr>
      </p:pic>
      <p:pic>
        <p:nvPicPr>
          <p:cNvPr id="5" name="图片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08579" y="4178108"/>
            <a:ext cx="3213403" cy="1888288"/>
          </a:xfrm>
          <a:prstGeom prst="rect">
            <a:avLst/>
          </a:prstGeom>
        </p:spPr>
      </p:pic>
      <p:sp>
        <p:nvSpPr>
          <p:cNvPr id="8" name="灯片编号占位符 7"/>
          <p:cNvSpPr>
            <a:spLocks noGrp="1"/>
          </p:cNvSpPr>
          <p:nvPr>
            <p:ph type="sldNum" sz="quarter" idx="12"/>
          </p:nvPr>
        </p:nvSpPr>
        <p:spPr/>
        <p:txBody>
          <a:bodyPr/>
          <a:lstStyle/>
          <a:p>
            <a:pPr>
              <a:defRPr/>
            </a:pPr>
            <a:fld id="{73B3C56C-5700-4E55-BF40-61423C59FA56}" type="slidenum">
              <a:rPr lang="zh-CN" altLang="en-US" smtClean="0"/>
              <a:pPr>
                <a:defRPr/>
              </a:pPr>
              <a:t>30</a:t>
            </a:fld>
            <a:endParaRPr lang="zh-CN" altLang="en-US" dirty="0"/>
          </a:p>
        </p:txBody>
      </p:sp>
    </p:spTree>
    <p:extLst>
      <p:ext uri="{BB962C8B-B14F-4D97-AF65-F5344CB8AC3E}">
        <p14:creationId xmlns:p14="http://schemas.microsoft.com/office/powerpoint/2010/main" val="2235125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大数据的特性：“大数据”挖掘的挑战</a:t>
            </a:r>
            <a:r>
              <a:rPr lang="en-US" altLang="zh-CN" dirty="0"/>
              <a:t>(4)</a:t>
            </a:r>
            <a:endParaRPr lang="zh-CN" altLang="en-US"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178671029"/>
              </p:ext>
            </p:extLst>
          </p:nvPr>
        </p:nvGraphicFramePr>
        <p:xfrm>
          <a:off x="467544" y="1196752"/>
          <a:ext cx="8229600" cy="46784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31</a:t>
            </a:fld>
            <a:endParaRPr lang="zh-CN" altLang="en-US" dirty="0"/>
          </a:p>
        </p:txBody>
      </p:sp>
    </p:spTree>
    <p:extLst>
      <p:ext uri="{BB962C8B-B14F-4D97-AF65-F5344CB8AC3E}">
        <p14:creationId xmlns:p14="http://schemas.microsoft.com/office/powerpoint/2010/main" val="735628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同侧圆角矩形 11"/>
          <p:cNvSpPr/>
          <p:nvPr/>
        </p:nvSpPr>
        <p:spPr>
          <a:xfrm rot="16200000" flipV="1">
            <a:off x="4707953" y="-980012"/>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11" name="同侧圆角矩形 10"/>
          <p:cNvSpPr/>
          <p:nvPr/>
        </p:nvSpPr>
        <p:spPr>
          <a:xfrm rot="16200000">
            <a:off x="1401165" y="1416323"/>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13" name="矩形 12"/>
          <p:cNvSpPr/>
          <p:nvPr/>
        </p:nvSpPr>
        <p:spPr>
          <a:xfrm>
            <a:off x="2227484" y="1557581"/>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大数据的起源</a:t>
            </a:r>
          </a:p>
        </p:txBody>
      </p:sp>
      <p:sp>
        <p:nvSpPr>
          <p:cNvPr id="14" name="矩形 13"/>
          <p:cNvSpPr>
            <a:spLocks noChangeArrowheads="1"/>
          </p:cNvSpPr>
          <p:nvPr/>
        </p:nvSpPr>
        <p:spPr bwMode="auto">
          <a:xfrm>
            <a:off x="1547817" y="1608559"/>
            <a:ext cx="340157"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1</a:t>
            </a:r>
            <a:endParaRPr lang="ko-KR" altLang="en-US" sz="2400" b="1" dirty="0">
              <a:solidFill>
                <a:schemeClr val="accent2">
                  <a:lumMod val="50000"/>
                </a:schemeClr>
              </a:solidFill>
              <a:latin typeface="黑体" pitchFamily="49" charset="-122"/>
              <a:ea typeface="黑体" pitchFamily="49" charset="-122"/>
            </a:endParaRPr>
          </a:p>
        </p:txBody>
      </p:sp>
      <p:sp>
        <p:nvSpPr>
          <p:cNvPr id="16406" name="标题 1"/>
          <p:cNvSpPr>
            <a:spLocks noGrp="1"/>
          </p:cNvSpPr>
          <p:nvPr>
            <p:ph type="title"/>
          </p:nvPr>
        </p:nvSpPr>
        <p:spPr>
          <a:xfrm>
            <a:off x="457200" y="123825"/>
            <a:ext cx="8229600" cy="661988"/>
          </a:xfrm>
        </p:spPr>
        <p:txBody>
          <a:bodyPr/>
          <a:lstStyle/>
          <a:p>
            <a:r>
              <a:rPr lang="zh-CN" altLang="en-US" dirty="0">
                <a:latin typeface="黑体" pitchFamily="49" charset="-122"/>
                <a:ea typeface="黑体" pitchFamily="49" charset="-122"/>
              </a:rPr>
              <a:t>提纲</a:t>
            </a:r>
            <a:r>
              <a:rPr lang="zh-CN" altLang="en-US" dirty="0">
                <a:latin typeface="Palatino Linotype" pitchFamily="18" charset="0"/>
                <a:ea typeface="黑体" pitchFamily="49" charset="-122"/>
              </a:rPr>
              <a:t>（</a:t>
            </a:r>
            <a:r>
              <a:rPr lang="en-US" altLang="zh-CN" dirty="0">
                <a:latin typeface="Palatino Linotype" pitchFamily="18" charset="0"/>
                <a:ea typeface="黑体" pitchFamily="49" charset="-122"/>
              </a:rPr>
              <a:t>Outlines</a:t>
            </a:r>
            <a:r>
              <a:rPr lang="zh-CN" altLang="en-US" dirty="0">
                <a:latin typeface="Palatino Linotype" pitchFamily="18" charset="0"/>
                <a:ea typeface="黑体" pitchFamily="49" charset="-122"/>
              </a:rPr>
              <a:t>）</a:t>
            </a:r>
          </a:p>
        </p:txBody>
      </p:sp>
      <p:grpSp>
        <p:nvGrpSpPr>
          <p:cNvPr id="4" name="组合 3"/>
          <p:cNvGrpSpPr/>
          <p:nvPr/>
        </p:nvGrpSpPr>
        <p:grpSpPr>
          <a:xfrm>
            <a:off x="1259633" y="2276872"/>
            <a:ext cx="6550025" cy="565989"/>
            <a:chOff x="1259633" y="2331624"/>
            <a:chExt cx="6550025" cy="565989"/>
          </a:xfrm>
        </p:grpSpPr>
        <p:sp>
          <p:nvSpPr>
            <p:cNvPr id="29" name="同侧圆角矩形 28"/>
            <p:cNvSpPr/>
            <p:nvPr/>
          </p:nvSpPr>
          <p:spPr>
            <a:xfrm rot="16200000">
              <a:off x="1400102" y="2191155"/>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0" name="同侧圆角矩形 29"/>
            <p:cNvSpPr/>
            <p:nvPr/>
          </p:nvSpPr>
          <p:spPr>
            <a:xfrm rot="16200000" flipV="1">
              <a:off x="4706890" y="-205180"/>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1" name="矩形 30"/>
            <p:cNvSpPr/>
            <p:nvPr/>
          </p:nvSpPr>
          <p:spPr>
            <a:xfrm>
              <a:off x="2226421" y="2332413"/>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大数据的特征</a:t>
              </a:r>
            </a:p>
          </p:txBody>
        </p:sp>
        <p:sp>
          <p:nvSpPr>
            <p:cNvPr id="32" name="矩形 31"/>
            <p:cNvSpPr>
              <a:spLocks noChangeArrowheads="1"/>
            </p:cNvSpPr>
            <p:nvPr/>
          </p:nvSpPr>
          <p:spPr bwMode="auto">
            <a:xfrm>
              <a:off x="1546754" y="2383391"/>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2</a:t>
              </a:r>
              <a:endParaRPr lang="ko-KR" altLang="en-US" sz="2400" b="1" dirty="0">
                <a:solidFill>
                  <a:schemeClr val="accent2">
                    <a:lumMod val="50000"/>
                  </a:schemeClr>
                </a:solidFill>
                <a:latin typeface="黑体" pitchFamily="49" charset="-122"/>
                <a:ea typeface="黑体" pitchFamily="49" charset="-122"/>
              </a:endParaRPr>
            </a:p>
          </p:txBody>
        </p:sp>
      </p:grpSp>
      <p:sp>
        <p:nvSpPr>
          <p:cNvPr id="33" name="同侧圆角矩形 32"/>
          <p:cNvSpPr/>
          <p:nvPr/>
        </p:nvSpPr>
        <p:spPr>
          <a:xfrm rot="16200000">
            <a:off x="1400102" y="2856483"/>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4" name="同侧圆角矩形 33"/>
          <p:cNvSpPr/>
          <p:nvPr/>
        </p:nvSpPr>
        <p:spPr>
          <a:xfrm rot="16200000" flipV="1">
            <a:off x="4706890" y="460148"/>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5" name="矩形 34"/>
          <p:cNvSpPr/>
          <p:nvPr/>
        </p:nvSpPr>
        <p:spPr>
          <a:xfrm>
            <a:off x="2226421" y="2997741"/>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大数据处理框架</a:t>
            </a:r>
          </a:p>
        </p:txBody>
      </p:sp>
      <p:sp>
        <p:nvSpPr>
          <p:cNvPr id="36" name="矩形 35"/>
          <p:cNvSpPr>
            <a:spLocks noChangeArrowheads="1"/>
          </p:cNvSpPr>
          <p:nvPr/>
        </p:nvSpPr>
        <p:spPr bwMode="auto">
          <a:xfrm>
            <a:off x="1546754" y="3048719"/>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3</a:t>
            </a:r>
            <a:endParaRPr lang="ko-KR" altLang="en-US" sz="2400" b="1" dirty="0">
              <a:solidFill>
                <a:schemeClr val="accent2">
                  <a:lumMod val="50000"/>
                </a:schemeClr>
              </a:solidFill>
              <a:latin typeface="黑体" pitchFamily="49" charset="-122"/>
              <a:ea typeface="黑体" pitchFamily="49" charset="-122"/>
            </a:endParaRPr>
          </a:p>
        </p:txBody>
      </p:sp>
      <p:grpSp>
        <p:nvGrpSpPr>
          <p:cNvPr id="6" name="组合 5"/>
          <p:cNvGrpSpPr/>
          <p:nvPr/>
        </p:nvGrpSpPr>
        <p:grpSpPr>
          <a:xfrm>
            <a:off x="1261716" y="3717032"/>
            <a:ext cx="6550025" cy="565989"/>
            <a:chOff x="1261716" y="3663691"/>
            <a:chExt cx="6550025" cy="565989"/>
          </a:xfrm>
        </p:grpSpPr>
        <p:sp>
          <p:nvSpPr>
            <p:cNvPr id="37" name="同侧圆角矩形 36"/>
            <p:cNvSpPr/>
            <p:nvPr/>
          </p:nvSpPr>
          <p:spPr>
            <a:xfrm rot="16200000">
              <a:off x="1402185" y="3523222"/>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8" name="同侧圆角矩形 37"/>
            <p:cNvSpPr/>
            <p:nvPr/>
          </p:nvSpPr>
          <p:spPr>
            <a:xfrm rot="16200000" flipV="1">
              <a:off x="4708973" y="1126887"/>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9" name="矩形 38"/>
            <p:cNvSpPr/>
            <p:nvPr/>
          </p:nvSpPr>
          <p:spPr>
            <a:xfrm>
              <a:off x="2228504" y="3664480"/>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大数据处理与挖掘应用</a:t>
              </a:r>
            </a:p>
          </p:txBody>
        </p:sp>
        <p:sp>
          <p:nvSpPr>
            <p:cNvPr id="40" name="矩形 39"/>
            <p:cNvSpPr>
              <a:spLocks noChangeArrowheads="1"/>
            </p:cNvSpPr>
            <p:nvPr/>
          </p:nvSpPr>
          <p:spPr bwMode="auto">
            <a:xfrm>
              <a:off x="1548837" y="3715458"/>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4</a:t>
              </a:r>
              <a:endParaRPr lang="ko-KR" altLang="en-US" sz="2400" b="1" dirty="0">
                <a:solidFill>
                  <a:schemeClr val="accent2">
                    <a:lumMod val="50000"/>
                  </a:schemeClr>
                </a:solidFill>
                <a:latin typeface="黑体" pitchFamily="49" charset="-122"/>
                <a:ea typeface="黑体" pitchFamily="49" charset="-122"/>
              </a:endParaRPr>
            </a:p>
          </p:txBody>
        </p:sp>
      </p:gr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32</a:t>
            </a:fld>
            <a:endParaRPr lang="zh-CN" altLang="en-US" dirty="0"/>
          </a:p>
        </p:txBody>
      </p:sp>
    </p:spTree>
    <p:extLst>
      <p:ext uri="{BB962C8B-B14F-4D97-AF65-F5344CB8AC3E}">
        <p14:creationId xmlns:p14="http://schemas.microsoft.com/office/powerpoint/2010/main" val="308846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grpId="0" nodeType="withEffect">
                                  <p:stCondLst>
                                    <p:cond delay="0"/>
                                  </p:stCondLst>
                                  <p:childTnLst>
                                    <p:animClr clrSpc="rgb" dir="cw">
                                      <p:cBhvr override="childStyle">
                                        <p:cTn id="6" dur="500" fill="hold"/>
                                        <p:tgtEl>
                                          <p:spTgt spid="33"/>
                                        </p:tgtEl>
                                        <p:attrNameLst>
                                          <p:attrName>style.color</p:attrName>
                                        </p:attrNameLst>
                                      </p:cBhvr>
                                      <p:to>
                                        <a:schemeClr val="accent2"/>
                                      </p:to>
                                    </p:animClr>
                                    <p:animClr clrSpc="rgb" dir="cw">
                                      <p:cBhvr>
                                        <p:cTn id="7" dur="500" fill="hold"/>
                                        <p:tgtEl>
                                          <p:spTgt spid="33"/>
                                        </p:tgtEl>
                                        <p:attrNameLst>
                                          <p:attrName>fillcolor</p:attrName>
                                        </p:attrNameLst>
                                      </p:cBhvr>
                                      <p:to>
                                        <a:schemeClr val="accent2"/>
                                      </p:to>
                                    </p:animClr>
                                    <p:set>
                                      <p:cBhvr>
                                        <p:cTn id="8" dur="500" fill="hold"/>
                                        <p:tgtEl>
                                          <p:spTgt spid="33"/>
                                        </p:tgtEl>
                                        <p:attrNameLst>
                                          <p:attrName>fill.type</p:attrName>
                                        </p:attrNameLst>
                                      </p:cBhvr>
                                      <p:to>
                                        <p:strVal val="solid"/>
                                      </p:to>
                                    </p:set>
                                    <p:set>
                                      <p:cBhvr>
                                        <p:cTn id="9" dur="500" fill="hold"/>
                                        <p:tgtEl>
                                          <p:spTgt spid="33"/>
                                        </p:tgtEl>
                                        <p:attrNameLst>
                                          <p:attrName>fill.on</p:attrName>
                                        </p:attrNameLst>
                                      </p:cBhvr>
                                      <p:to>
                                        <p:strVal val="true"/>
                                      </p:to>
                                    </p:set>
                                  </p:childTnLst>
                                </p:cTn>
                              </p:par>
                              <p:par>
                                <p:cTn id="10" presetID="19" presetClass="emph" presetSubtype="0" fill="hold" grpId="0" nodeType="withEffect">
                                  <p:stCondLst>
                                    <p:cond delay="0"/>
                                  </p:stCondLst>
                                  <p:childTnLst>
                                    <p:animClr clrSpc="rgb" dir="cw">
                                      <p:cBhvr override="childStyle">
                                        <p:cTn id="11" dur="500" fill="hold"/>
                                        <p:tgtEl>
                                          <p:spTgt spid="34"/>
                                        </p:tgtEl>
                                        <p:attrNameLst>
                                          <p:attrName>style.color</p:attrName>
                                        </p:attrNameLst>
                                      </p:cBhvr>
                                      <p:to>
                                        <a:schemeClr val="accent2"/>
                                      </p:to>
                                    </p:animClr>
                                    <p:animClr clrSpc="rgb" dir="cw">
                                      <p:cBhvr>
                                        <p:cTn id="12" dur="500" fill="hold"/>
                                        <p:tgtEl>
                                          <p:spTgt spid="34"/>
                                        </p:tgtEl>
                                        <p:attrNameLst>
                                          <p:attrName>fillcolor</p:attrName>
                                        </p:attrNameLst>
                                      </p:cBhvr>
                                      <p:to>
                                        <a:schemeClr val="accent2"/>
                                      </p:to>
                                    </p:animClr>
                                    <p:set>
                                      <p:cBhvr>
                                        <p:cTn id="13" dur="500" fill="hold"/>
                                        <p:tgtEl>
                                          <p:spTgt spid="34"/>
                                        </p:tgtEl>
                                        <p:attrNameLst>
                                          <p:attrName>fill.type</p:attrName>
                                        </p:attrNameLst>
                                      </p:cBhvr>
                                      <p:to>
                                        <p:strVal val="solid"/>
                                      </p:to>
                                    </p:set>
                                    <p:set>
                                      <p:cBhvr>
                                        <p:cTn id="14" dur="500" fill="hold"/>
                                        <p:tgtEl>
                                          <p:spTgt spid="34"/>
                                        </p:tgtEl>
                                        <p:attrNameLst>
                                          <p:attrName>fill.on</p:attrName>
                                        </p:attrNameLst>
                                      </p:cBhvr>
                                      <p:to>
                                        <p:strVal val="true"/>
                                      </p:to>
                                    </p:set>
                                  </p:childTnLst>
                                </p:cTn>
                              </p:par>
                              <p:par>
                                <p:cTn id="15" presetID="3" presetClass="emph" presetSubtype="2" fill="hold" grpId="0" nodeType="withEffect">
                                  <p:stCondLst>
                                    <p:cond delay="0"/>
                                  </p:stCondLst>
                                  <p:childTnLst>
                                    <p:animClr clrSpc="rgb" dir="cw">
                                      <p:cBhvr override="childStyle">
                                        <p:cTn id="16" dur="500" fill="hold"/>
                                        <p:tgtEl>
                                          <p:spTgt spid="36"/>
                                        </p:tgtEl>
                                        <p:attrNameLst>
                                          <p:attrName>style.color</p:attrName>
                                        </p:attrNameLst>
                                      </p:cBhvr>
                                      <p:to>
                                        <a:srgbClr val="FFFFFF"/>
                                      </p:to>
                                    </p:animClr>
                                  </p:childTnLst>
                                </p:cTn>
                              </p:par>
                              <p:par>
                                <p:cTn id="17" presetID="3" presetClass="emph" presetSubtype="2" fill="hold" grpId="0" nodeType="withEffect">
                                  <p:stCondLst>
                                    <p:cond delay="0"/>
                                  </p:stCondLst>
                                  <p:childTnLst>
                                    <p:animClr clrSpc="rgb" dir="cw">
                                      <p:cBhvr override="childStyle">
                                        <p:cTn id="18" dur="500" fill="hold"/>
                                        <p:tgtEl>
                                          <p:spTgt spid="35"/>
                                        </p:tgtEl>
                                        <p:attrNameLst>
                                          <p:attrName>style.color</p:attrName>
                                        </p:attrNameLst>
                                      </p:cBhvr>
                                      <p:to>
                                        <a:srgbClr val="FFFF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p:bldP spid="3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大数据挖掘的处理框架</a:t>
            </a:r>
          </a:p>
        </p:txBody>
      </p:sp>
      <p:pic>
        <p:nvPicPr>
          <p:cNvPr id="5" name="Picture 3"/>
          <p:cNvPicPr/>
          <p:nvPr/>
        </p:nvPicPr>
        <p:blipFill>
          <a:blip r:embed="rId2" cstate="print">
            <a:extLst>
              <a:ext uri="{28A0092B-C50C-407E-A947-70E740481C1C}">
                <a14:useLocalDpi xmlns:a14="http://schemas.microsoft.com/office/drawing/2010/main" val="0"/>
              </a:ext>
            </a:extLst>
          </a:blip>
          <a:stretch>
            <a:fillRect/>
          </a:stretch>
        </p:blipFill>
        <p:spPr>
          <a:xfrm>
            <a:off x="2275497" y="1052736"/>
            <a:ext cx="4824536" cy="3960440"/>
          </a:xfrm>
          <a:prstGeom prst="rect">
            <a:avLst/>
          </a:prstGeom>
        </p:spPr>
      </p:pic>
      <p:sp>
        <p:nvSpPr>
          <p:cNvPr id="6" name="TextBox 5"/>
          <p:cNvSpPr txBox="1"/>
          <p:nvPr/>
        </p:nvSpPr>
        <p:spPr>
          <a:xfrm>
            <a:off x="1195377" y="5418562"/>
            <a:ext cx="6984776" cy="646331"/>
          </a:xfrm>
          <a:prstGeom prst="rect">
            <a:avLst/>
          </a:prstGeom>
          <a:noFill/>
          <a:ln>
            <a:solidFill>
              <a:schemeClr val="tx2">
                <a:lumMod val="60000"/>
                <a:lumOff val="40000"/>
              </a:schemeClr>
            </a:solidFill>
          </a:ln>
        </p:spPr>
        <p:txBody>
          <a:bodyPr wrap="square" rtlCol="0">
            <a:spAutoFit/>
          </a:bodyPr>
          <a:lstStyle/>
          <a:p>
            <a:r>
              <a:rPr lang="en-US" altLang="zh-CN" dirty="0">
                <a:latin typeface="Palatino Linotype" pitchFamily="18" charset="0"/>
              </a:rPr>
              <a:t>System Level: HPC </a:t>
            </a:r>
            <a:r>
              <a:rPr lang="zh-CN" altLang="en-US" dirty="0">
                <a:latin typeface="Palatino Linotype" pitchFamily="18" charset="0"/>
              </a:rPr>
              <a:t>和并行处理工具</a:t>
            </a:r>
            <a:endParaRPr lang="en-US" altLang="zh-CN" dirty="0">
              <a:latin typeface="Palatino Linotype" pitchFamily="18" charset="0"/>
            </a:endParaRPr>
          </a:p>
          <a:p>
            <a:r>
              <a:rPr lang="en-US" altLang="zh-CN" dirty="0">
                <a:latin typeface="Palatino Linotype" pitchFamily="18" charset="0"/>
              </a:rPr>
              <a:t>Cluster with </a:t>
            </a:r>
            <a:r>
              <a:rPr lang="en-US" altLang="zh-CN" dirty="0" err="1">
                <a:latin typeface="Palatino Linotype" pitchFamily="18" charset="0"/>
              </a:rPr>
              <a:t>MapReduce</a:t>
            </a:r>
            <a:r>
              <a:rPr lang="en-US" altLang="zh-CN" dirty="0">
                <a:latin typeface="Palatino Linotype" pitchFamily="18" charset="0"/>
              </a:rPr>
              <a:t> or Enterprise Control Language (ECL)</a:t>
            </a:r>
            <a:endParaRPr lang="zh-CN" altLang="en-US" dirty="0">
              <a:latin typeface="Palatino Linotype" pitchFamily="18" charset="0"/>
            </a:endParaRPr>
          </a:p>
        </p:txBody>
      </p:sp>
      <p:cxnSp>
        <p:nvCxnSpPr>
          <p:cNvPr id="55" name="直接连接符 54"/>
          <p:cNvCxnSpPr/>
          <p:nvPr/>
        </p:nvCxnSpPr>
        <p:spPr>
          <a:xfrm flipH="1">
            <a:off x="1195377" y="3573016"/>
            <a:ext cx="2656543" cy="1845546"/>
          </a:xfrm>
          <a:prstGeom prst="line">
            <a:avLst/>
          </a:prstGeom>
          <a:ln w="12700">
            <a:prstDash val="dash"/>
          </a:ln>
          <a:effectLst/>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5292080" y="3501008"/>
            <a:ext cx="2888073" cy="1917554"/>
          </a:xfrm>
          <a:prstGeom prst="line">
            <a:avLst/>
          </a:prstGeom>
          <a:ln w="12700">
            <a:prstDash val="dash"/>
          </a:ln>
          <a:effectLst/>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p:ph type="sldNum" sz="quarter" idx="12"/>
          </p:nvPr>
        </p:nvSpPr>
        <p:spPr/>
        <p:txBody>
          <a:bodyPr/>
          <a:lstStyle/>
          <a:p>
            <a:pPr>
              <a:defRPr/>
            </a:pPr>
            <a:fld id="{73B3C56C-5700-4E55-BF40-61423C59FA56}" type="slidenum">
              <a:rPr lang="zh-CN" altLang="en-US" smtClean="0"/>
              <a:pPr>
                <a:defRPr/>
              </a:pPr>
              <a:t>33</a:t>
            </a:fld>
            <a:endParaRPr lang="zh-CN" altLang="en-US" dirty="0"/>
          </a:p>
        </p:txBody>
      </p:sp>
    </p:spTree>
    <p:extLst>
      <p:ext uri="{BB962C8B-B14F-4D97-AF65-F5344CB8AC3E}">
        <p14:creationId xmlns:p14="http://schemas.microsoft.com/office/powerpoint/2010/main" val="38007238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大数据挖掘的处理框架</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3645711565"/>
              </p:ext>
            </p:extLst>
          </p:nvPr>
        </p:nvGraphicFramePr>
        <p:xfrm>
          <a:off x="0" y="980728"/>
          <a:ext cx="9144000" cy="55446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8"/>
          <p:cNvSpPr>
            <a:spLocks noChangeArrowheads="1"/>
          </p:cNvSpPr>
          <p:nvPr/>
        </p:nvSpPr>
        <p:spPr bwMode="auto">
          <a:xfrm>
            <a:off x="3617962" y="3588246"/>
            <a:ext cx="1962150" cy="704850"/>
          </a:xfrm>
          <a:prstGeom prst="rect">
            <a:avLst/>
          </a:prstGeom>
          <a:solidFill>
            <a:schemeClr val="hlink"/>
          </a:solidFill>
          <a:ln w="6350">
            <a:solidFill>
              <a:schemeClr val="hlink"/>
            </a:solidFill>
            <a:miter lim="800000"/>
            <a:headEnd/>
            <a:tailEnd/>
          </a:ln>
        </p:spPr>
        <p:txBody>
          <a:bodyPr wrap="none" lIns="0" tIns="0" rIns="0" bIns="0" anchor="ctr"/>
          <a:lstStyle/>
          <a:p>
            <a:pPr algn="ctr"/>
            <a:r>
              <a:rPr lang="en-US" altLang="zh-CN" sz="2000" b="1" dirty="0">
                <a:solidFill>
                  <a:schemeClr val="bg1"/>
                </a:solidFill>
                <a:latin typeface="Palatino Linotype" pitchFamily="18" charset="0"/>
              </a:rPr>
              <a:t>HACE</a:t>
            </a:r>
            <a:r>
              <a:rPr lang="zh-CN" altLang="en-US" sz="2000" b="1" dirty="0">
                <a:solidFill>
                  <a:schemeClr val="bg1"/>
                </a:solidFill>
                <a:latin typeface="Calibri" pitchFamily="34" charset="0"/>
              </a:rPr>
              <a:t>理论</a:t>
            </a:r>
          </a:p>
        </p:txBody>
      </p:sp>
      <p:sp>
        <p:nvSpPr>
          <p:cNvPr id="4" name="灯片编号占位符 3"/>
          <p:cNvSpPr>
            <a:spLocks noGrp="1"/>
          </p:cNvSpPr>
          <p:nvPr>
            <p:ph type="sldNum" sz="quarter" idx="12"/>
          </p:nvPr>
        </p:nvSpPr>
        <p:spPr/>
        <p:txBody>
          <a:bodyPr/>
          <a:lstStyle/>
          <a:p>
            <a:pPr>
              <a:defRPr/>
            </a:pPr>
            <a:fld id="{73B3C56C-5700-4E55-BF40-61423C59FA56}" type="slidenum">
              <a:rPr lang="zh-CN" altLang="en-US" smtClean="0"/>
              <a:pPr>
                <a:defRPr/>
              </a:pPr>
              <a:t>34</a:t>
            </a:fld>
            <a:endParaRPr lang="zh-CN" altLang="en-US" dirty="0"/>
          </a:p>
        </p:txBody>
      </p:sp>
    </p:spTree>
    <p:extLst>
      <p:ext uri="{BB962C8B-B14F-4D97-AF65-F5344CB8AC3E}">
        <p14:creationId xmlns:p14="http://schemas.microsoft.com/office/powerpoint/2010/main" val="36232124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r>
              <a:rPr lang="zh-CN" altLang="en-US" dirty="0"/>
              <a:t>大数据处理框架：大数据关键技术</a:t>
            </a:r>
          </a:p>
        </p:txBody>
      </p:sp>
      <p:graphicFrame>
        <p:nvGraphicFramePr>
          <p:cNvPr id="17479" name="Group 71"/>
          <p:cNvGraphicFramePr>
            <a:graphicFrameLocks noGrp="1"/>
          </p:cNvGraphicFramePr>
          <p:nvPr>
            <p:extLst>
              <p:ext uri="{D42A27DB-BD31-4B8C-83A1-F6EECF244321}">
                <p14:modId xmlns:p14="http://schemas.microsoft.com/office/powerpoint/2010/main" val="3236977493"/>
              </p:ext>
            </p:extLst>
          </p:nvPr>
        </p:nvGraphicFramePr>
        <p:xfrm>
          <a:off x="467544" y="1196752"/>
          <a:ext cx="8305800" cy="4572000"/>
        </p:xfrm>
        <a:graphic>
          <a:graphicData uri="http://schemas.openxmlformats.org/drawingml/2006/table">
            <a:tbl>
              <a:tblPr/>
              <a:tblGrid>
                <a:gridCol w="19050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244475">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技术层面</a:t>
                      </a:r>
                      <a:endParaRPr kumimoji="0" lang="zh-CN" altLang="en-US"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功能</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数据采集</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利用</a:t>
                      </a: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ETL</a:t>
                      </a:r>
                      <a:r>
                        <a:rPr kumimoji="0" lang="zh-CN" altLang="en-US"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工具将分布的、异构数据源中的数据如关系数据、平面数据文件等，抽取到临时中间层后进行清洗、转换、集成，最后加载到数据仓库或数据集市中，成为联机分析处理、数据挖掘的基础；或者也可以把实时采集的数据作为流计算系统的输入，进行实时处理分析</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475">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数据存储和管理</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利用分布式文件系统、数据仓库、关系数据库、</a:t>
                      </a: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NoSQL</a:t>
                      </a:r>
                      <a:r>
                        <a:rPr kumimoji="0" lang="zh-CN" altLang="en-US"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数据库、云数据库等，实现对结构化、半结构化和非结构化海量数据的存储和管理</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数据处理与分析</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利用分布式并行编程模型和计算框架，结合机器学习和数据挖掘算法，实现对海量数据的处理和分析；对分析结果进行可视化呈现，帮助人们更好地理解数据、分析数据</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475">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数据隐私和安全</a:t>
                      </a:r>
                      <a:endParaRPr kumimoji="0" lang="zh-CN" altLang="en-US"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在从大数据中挖掘潜在的巨大商业价值和学术价值的同时，构建隐私数据保护体系和数据安全体系，有效保护个人隐私和数据安全</a:t>
                      </a:r>
                      <a:endParaRPr kumimoji="0" lang="zh-CN" altLang="en-US"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35</a:t>
            </a:fld>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r>
              <a:rPr lang="zh-CN" altLang="en-US" dirty="0"/>
              <a:t>大数据处理框架：大数据计算模式</a:t>
            </a:r>
          </a:p>
        </p:txBody>
      </p:sp>
      <p:graphicFrame>
        <p:nvGraphicFramePr>
          <p:cNvPr id="18436" name="Group 4"/>
          <p:cNvGraphicFramePr>
            <a:graphicFrameLocks noGrp="1"/>
          </p:cNvGraphicFramePr>
          <p:nvPr>
            <p:extLst>
              <p:ext uri="{D42A27DB-BD31-4B8C-83A1-F6EECF244321}">
                <p14:modId xmlns:p14="http://schemas.microsoft.com/office/powerpoint/2010/main" val="2850152840"/>
              </p:ext>
            </p:extLst>
          </p:nvPr>
        </p:nvGraphicFramePr>
        <p:xfrm>
          <a:off x="611560" y="1124744"/>
          <a:ext cx="7992888" cy="5112567"/>
        </p:xfrm>
        <a:graphic>
          <a:graphicData uri="http://schemas.openxmlformats.org/drawingml/2006/table">
            <a:tbl>
              <a:tblPr/>
              <a:tblGrid>
                <a:gridCol w="2186505">
                  <a:extLst>
                    <a:ext uri="{9D8B030D-6E8A-4147-A177-3AD203B41FA5}">
                      <a16:colId xmlns:a16="http://schemas.microsoft.com/office/drawing/2014/main" val="20000"/>
                    </a:ext>
                  </a:extLst>
                </a:gridCol>
                <a:gridCol w="2476303">
                  <a:extLst>
                    <a:ext uri="{9D8B030D-6E8A-4147-A177-3AD203B41FA5}">
                      <a16:colId xmlns:a16="http://schemas.microsoft.com/office/drawing/2014/main" val="20001"/>
                    </a:ext>
                  </a:extLst>
                </a:gridCol>
                <a:gridCol w="3330080">
                  <a:extLst>
                    <a:ext uri="{9D8B030D-6E8A-4147-A177-3AD203B41FA5}">
                      <a16:colId xmlns:a16="http://schemas.microsoft.com/office/drawing/2014/main" val="20002"/>
                    </a:ext>
                  </a:extLst>
                </a:gridCol>
              </a:tblGrid>
              <a:tr h="51717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大数据计算模式</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解决问题</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代表产品</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86898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批处理计算</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针对大规模数据的批量处理</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rgbClr val="000000"/>
                          </a:solidFill>
                          <a:effectLst/>
                          <a:latin typeface="Calibri" pitchFamily="34" charset="0"/>
                          <a:ea typeface="宋体" pitchFamily="2" charset="-122"/>
                        </a:rPr>
                        <a:t>MapReduce、Spark等</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161403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流计算</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针对流数据的实时计算</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Storm、S4、Flume、Streams、Puma、DStream、Super Mario、银河流数据处理平台等</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124338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图计算</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针对大规模图结构数据的处理</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Pregel、GraphX、Giraph、PowerGraph、Hama、GoldenOrb等</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6898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查询分析计算</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大规模数据的存储管理和查询分析</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rgbClr val="000000"/>
                          </a:solidFill>
                          <a:effectLst/>
                          <a:latin typeface="Calibri" pitchFamily="34" charset="0"/>
                          <a:ea typeface="宋体" pitchFamily="2" charset="-122"/>
                        </a:rPr>
                        <a:t>Dremel、Hive、Cassandra、Impala等</a:t>
                      </a: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36</a:t>
            </a:fld>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r>
              <a:rPr lang="zh-CN" altLang="en-US" dirty="0"/>
              <a:t>大数据处理框架：大数据产业</a:t>
            </a:r>
          </a:p>
        </p:txBody>
      </p:sp>
      <p:sp>
        <p:nvSpPr>
          <p:cNvPr id="20483" name="Rectangle 3"/>
          <p:cNvSpPr>
            <a:spLocks noGrp="1" noChangeArrowheads="1"/>
          </p:cNvSpPr>
          <p:nvPr>
            <p:ph type="body" idx="4294967295"/>
          </p:nvPr>
        </p:nvSpPr>
        <p:spPr>
          <a:xfrm>
            <a:off x="457200" y="1143000"/>
            <a:ext cx="8229600" cy="838200"/>
          </a:xfrm>
        </p:spPr>
        <p:txBody>
          <a:bodyPr/>
          <a:lstStyle/>
          <a:p>
            <a:r>
              <a:rPr lang="zh-CN" altLang="en-US" sz="2000" dirty="0"/>
              <a:t>大数据产业是指一切与支撑大数据组织管理和价值发现相关的企业经济活动的集合</a:t>
            </a:r>
          </a:p>
        </p:txBody>
      </p:sp>
      <p:graphicFrame>
        <p:nvGraphicFramePr>
          <p:cNvPr id="19551" name="Group 95"/>
          <p:cNvGraphicFramePr>
            <a:graphicFrameLocks noGrp="1"/>
          </p:cNvGraphicFramePr>
          <p:nvPr/>
        </p:nvGraphicFramePr>
        <p:xfrm>
          <a:off x="457200" y="2176463"/>
          <a:ext cx="8305800" cy="3932238"/>
        </p:xfrm>
        <a:graphic>
          <a:graphicData uri="http://schemas.openxmlformats.org/drawingml/2006/table">
            <a:tbl>
              <a:tblPr/>
              <a:tblGrid>
                <a:gridCol w="1555750">
                  <a:extLst>
                    <a:ext uri="{9D8B030D-6E8A-4147-A177-3AD203B41FA5}">
                      <a16:colId xmlns:a16="http://schemas.microsoft.com/office/drawing/2014/main" val="20000"/>
                    </a:ext>
                  </a:extLst>
                </a:gridCol>
                <a:gridCol w="6750050">
                  <a:extLst>
                    <a:ext uri="{9D8B030D-6E8A-4147-A177-3AD203B41FA5}">
                      <a16:colId xmlns:a16="http://schemas.microsoft.com/office/drawing/2014/main" val="20001"/>
                    </a:ext>
                  </a:extLst>
                </a:gridCol>
              </a:tblGrid>
              <a:tr h="274342">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产业链环节</a:t>
                      </a:r>
                      <a:endParaRPr kumimoji="0" lang="zh-CN" altLang="en-US" sz="1200" b="0" i="0" u="none" strike="noStrike" cap="none" normalizeH="0" baseline="0" dirty="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包含内容</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0132">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IT</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基础设施层</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包括提供硬件、软件、网络等基础设施以及提供咨询、规划和系统集成服务的企业，比如，提供数据中心解决方案的</a:t>
                      </a: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IBM</a:t>
                      </a:r>
                      <a:r>
                        <a:rPr kumimoji="0" lang="zh-CN" altLang="en-US"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、惠普和戴尔等，提供存储解决方案的</a:t>
                      </a: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EMC</a:t>
                      </a:r>
                      <a:r>
                        <a:rPr kumimoji="0" lang="zh-CN" altLang="en-US"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，提供虚拟化管理软件的微软、思杰、</a:t>
                      </a: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SUN</a:t>
                      </a:r>
                      <a:r>
                        <a:rPr kumimoji="0" lang="zh-CN" altLang="en-US"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Redhat</a:t>
                      </a:r>
                      <a:r>
                        <a:rPr kumimoji="0" lang="zh-CN" altLang="en-US"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等</a:t>
                      </a:r>
                      <a:endParaRPr kumimoji="0" lang="zh-CN" altLang="en-US" sz="1200" b="0" i="0" u="none" strike="noStrike" cap="none" normalizeH="0" baseline="0" dirty="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3026">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数据源层</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大数据生态圈里的数据提供者，是生物大数据（生物信息学领域的各类研究机构）、交通大数据（交通主管部门）、医疗大数据（各大医院、体检机构）、政务大数据（政府部门）、电商大数据（淘宝、天猫、苏宁云商、京东等电商）、社交网络大数据（微博、微信、人人网等）、搜索引擎大数据（百度、谷歌等）等各种数据的来源</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0132">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数据管理层</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包括数据抽取、转换、存储和管理等服务的各类企业或产品，比如分布式文件系统（如</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Hadoop</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的</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HDFS</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和谷歌的</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GFS</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ETL</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工具（</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Informatica</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Datastage</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Kettle</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等）、数据库和数据仓库（</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Oracle</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MySQL</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SQL Server</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HBase</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GreenPlum</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0132">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数据分析层</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包括提供分布式计算、数据挖掘、统计分析等服务的各类企业或产品，比如，分布式计算框架</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MapReduce</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、统计分析软件</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SPSS</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和</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SAS</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、数据挖掘工具</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Weka</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、数据可视化工具</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Tableau</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BI</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工具（</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MicroStrategy</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Cognos</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BO</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）等等</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37">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数据平台层</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包括提供数据分享平台、数据分析平台、数据租售平台等服务的企业或产品，比如阿里巴巴、谷歌、中国电信、百度等</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37">
                <a:tc>
                  <a:txBody>
                    <a:bodyPr/>
                    <a:lstStyle/>
                    <a:p>
                      <a:pPr marL="0" marR="0" lvl="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数据应用层</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提供智能交通、智慧医疗、智能物流、智能电网等行业应用的企业、机构或政府部门，比如交通主管部门、各大医疗机构、菜鸟网络、国家电网等</a:t>
                      </a:r>
                      <a:endParaRPr kumimoji="0" lang="zh-CN" altLang="en-US" sz="1200" b="0"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37</a:t>
            </a:fld>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r>
              <a:rPr lang="zh-CN" altLang="en-US" dirty="0"/>
              <a:t>大数据处理框架：</a:t>
            </a:r>
            <a:r>
              <a:rPr lang="zh-CN" altLang="en-US" sz="2400" dirty="0"/>
              <a:t>大数据与云计算、物联网的关系</a:t>
            </a:r>
          </a:p>
        </p:txBody>
      </p:sp>
      <p:sp>
        <p:nvSpPr>
          <p:cNvPr id="21507" name="Rectangle 3"/>
          <p:cNvSpPr>
            <a:spLocks noGrp="1" noChangeArrowheads="1"/>
          </p:cNvSpPr>
          <p:nvPr>
            <p:ph type="body" idx="4294967295"/>
          </p:nvPr>
        </p:nvSpPr>
        <p:spPr/>
        <p:txBody>
          <a:bodyPr/>
          <a:lstStyle/>
          <a:p>
            <a:r>
              <a:rPr lang="zh-CN" altLang="en-US" sz="2000" dirty="0"/>
              <a:t>云计算、大数据和物联网代表了</a:t>
            </a:r>
            <a:r>
              <a:rPr lang="en-US" altLang="zh-CN" sz="2000" dirty="0"/>
              <a:t>IT</a:t>
            </a:r>
            <a:r>
              <a:rPr lang="zh-CN" altLang="en-US" sz="2000" dirty="0"/>
              <a:t>领域最新的技术发展趋势，三者相辅相成，既有联系又有区别</a:t>
            </a:r>
          </a:p>
        </p:txBody>
      </p:sp>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38</a:t>
            </a:fld>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p:txBody>
          <a:bodyPr/>
          <a:lstStyle/>
          <a:p>
            <a:r>
              <a:rPr lang="zh-CN" altLang="en-US" dirty="0"/>
              <a:t>大数据处理框架：云计算</a:t>
            </a:r>
          </a:p>
        </p:txBody>
      </p:sp>
      <p:sp>
        <p:nvSpPr>
          <p:cNvPr id="22531" name="Rectangle 3"/>
          <p:cNvSpPr>
            <a:spLocks noGrp="1" noChangeArrowheads="1"/>
          </p:cNvSpPr>
          <p:nvPr>
            <p:ph type="body" idx="4294967295"/>
          </p:nvPr>
        </p:nvSpPr>
        <p:spPr>
          <a:xfrm>
            <a:off x="228600" y="1052736"/>
            <a:ext cx="8686800" cy="1066800"/>
          </a:xfrm>
        </p:spPr>
        <p:txBody>
          <a:bodyPr/>
          <a:lstStyle/>
          <a:p>
            <a:pPr>
              <a:lnSpc>
                <a:spcPct val="80000"/>
              </a:lnSpc>
            </a:pPr>
            <a:r>
              <a:rPr lang="zh-CN" altLang="en-US" sz="2400" dirty="0"/>
              <a:t>云计算实现了通过网络提供可伸缩的、廉价的分布式计算能力，用户只需要在具备网络接入条件的地方，就可以随时随地获得所需的各种IT资源</a:t>
            </a:r>
          </a:p>
        </p:txBody>
      </p:sp>
      <p:sp>
        <p:nvSpPr>
          <p:cNvPr id="22532" name="Text Box 6"/>
          <p:cNvSpPr txBox="1">
            <a:spLocks noChangeArrowheads="1"/>
          </p:cNvSpPr>
          <p:nvPr/>
        </p:nvSpPr>
        <p:spPr bwMode="auto">
          <a:xfrm>
            <a:off x="2904207" y="6014616"/>
            <a:ext cx="37560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eaLnBrk="1" hangingPunct="1"/>
            <a:r>
              <a:rPr lang="zh-CN" altLang="en-US" dirty="0"/>
              <a:t>云计算的服务模式和类型 </a:t>
            </a:r>
          </a:p>
        </p:txBody>
      </p:sp>
      <p:pic>
        <p:nvPicPr>
          <p:cNvPr id="22534"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2083842"/>
            <a:ext cx="54864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39</a:t>
            </a:fld>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p:txBody>
          <a:bodyPr/>
          <a:lstStyle/>
          <a:p>
            <a:r>
              <a:rPr lang="zh-CN" altLang="en-US" dirty="0"/>
              <a:t>大数据处理框架：云计算关键技术</a:t>
            </a:r>
          </a:p>
        </p:txBody>
      </p:sp>
      <p:sp>
        <p:nvSpPr>
          <p:cNvPr id="23555" name="Rectangle 3"/>
          <p:cNvSpPr>
            <a:spLocks noGrp="1" noChangeArrowheads="1"/>
          </p:cNvSpPr>
          <p:nvPr>
            <p:ph type="body" idx="4294967295"/>
          </p:nvPr>
        </p:nvSpPr>
        <p:spPr>
          <a:xfrm>
            <a:off x="457200" y="1268760"/>
            <a:ext cx="8229600" cy="4525962"/>
          </a:xfrm>
        </p:spPr>
        <p:txBody>
          <a:bodyPr/>
          <a:lstStyle/>
          <a:p>
            <a:r>
              <a:rPr lang="zh-CN" altLang="en-US" sz="2400" dirty="0"/>
              <a:t>云计算关键技术包括：虚拟化、分布式存储、分布式计算、多租户等</a:t>
            </a:r>
          </a:p>
        </p:txBody>
      </p:sp>
      <p:pic>
        <p:nvPicPr>
          <p:cNvPr id="23556" name="Picture 5"/>
          <p:cNvPicPr>
            <a:picLocks noChangeAspect="1" noChangeArrowheads="1"/>
          </p:cNvPicPr>
          <p:nvPr/>
        </p:nvPicPr>
        <p:blipFill>
          <a:blip r:embed="rId2">
            <a:extLst>
              <a:ext uri="{28A0092B-C50C-407E-A947-70E740481C1C}">
                <a14:useLocalDpi xmlns:a14="http://schemas.microsoft.com/office/drawing/2010/main" val="0"/>
              </a:ext>
            </a:extLst>
          </a:blip>
          <a:srcRect l="8873" r="8873"/>
          <a:stretch>
            <a:fillRect/>
          </a:stretch>
        </p:blipFill>
        <p:spPr bwMode="auto">
          <a:xfrm>
            <a:off x="1981200" y="2195735"/>
            <a:ext cx="5181600" cy="346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40</a:t>
            </a:fld>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p:txBody>
          <a:bodyPr/>
          <a:lstStyle/>
          <a:p>
            <a:r>
              <a:rPr lang="zh-CN" altLang="en-US" dirty="0"/>
              <a:t>大数据处理框架：云计算数据中心</a:t>
            </a:r>
          </a:p>
        </p:txBody>
      </p:sp>
      <p:sp>
        <p:nvSpPr>
          <p:cNvPr id="24579" name="Rectangle 3"/>
          <p:cNvSpPr>
            <a:spLocks noGrp="1" noChangeArrowheads="1"/>
          </p:cNvSpPr>
          <p:nvPr>
            <p:ph type="body" idx="4294967295"/>
          </p:nvPr>
        </p:nvSpPr>
        <p:spPr>
          <a:xfrm>
            <a:off x="533400" y="1600200"/>
            <a:ext cx="8229600" cy="2590800"/>
          </a:xfrm>
        </p:spPr>
        <p:txBody>
          <a:bodyPr/>
          <a:lstStyle/>
          <a:p>
            <a:r>
              <a:rPr lang="zh-CN" altLang="en-US" sz="2800" dirty="0"/>
              <a:t>云计算数据中心是一整套复杂的设施，包括刀片服务器、宽带网络连接、环境控制设备、监控设备以及各种安全装置等</a:t>
            </a:r>
          </a:p>
          <a:p>
            <a:r>
              <a:rPr lang="zh-CN" altLang="en-US" sz="2800" dirty="0"/>
              <a:t>数据中心是云计算的重要载体，为云计算提供计算、存储、带宽等各种硬件资源，为各种平台和应用提供运行支撑环境</a:t>
            </a:r>
          </a:p>
        </p:txBody>
      </p:sp>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41</a:t>
            </a:fld>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p:txBody>
          <a:bodyPr/>
          <a:lstStyle/>
          <a:p>
            <a:r>
              <a:rPr lang="zh-CN" altLang="en-US" dirty="0"/>
              <a:t>大数据处理框架：云计算应用</a:t>
            </a:r>
          </a:p>
        </p:txBody>
      </p:sp>
      <p:sp>
        <p:nvSpPr>
          <p:cNvPr id="25603" name="Rectangle 3"/>
          <p:cNvSpPr>
            <a:spLocks noGrp="1" noChangeArrowheads="1"/>
          </p:cNvSpPr>
          <p:nvPr>
            <p:ph type="body" idx="4294967295"/>
          </p:nvPr>
        </p:nvSpPr>
        <p:spPr>
          <a:xfrm>
            <a:off x="323528" y="1196752"/>
            <a:ext cx="8458200" cy="4525963"/>
          </a:xfrm>
        </p:spPr>
        <p:txBody>
          <a:bodyPr/>
          <a:lstStyle/>
          <a:p>
            <a:pPr>
              <a:lnSpc>
                <a:spcPct val="80000"/>
              </a:lnSpc>
            </a:pPr>
            <a:r>
              <a:rPr lang="zh-CN" altLang="en-US" sz="2400" dirty="0"/>
              <a:t>政务云上可以部署公共安全管理、容灾备份、城市管理、应急管理、智能交通、社会保障等应用，通过集约化建设、管理和运行，可以实现信息资源整合和政务资源共享，推动政务管理创新，加快向服务型政府转型</a:t>
            </a:r>
          </a:p>
          <a:p>
            <a:pPr>
              <a:lnSpc>
                <a:spcPct val="80000"/>
              </a:lnSpc>
            </a:pPr>
            <a:r>
              <a:rPr lang="zh-CN" altLang="en-US" sz="2400" dirty="0"/>
              <a:t>教育云可以有效整合幼儿教育、中小学教育、高等教育以及继续教育等优质教育资源，逐步实现教育信息共享、教育资源共享及教育资源深度挖掘等目标</a:t>
            </a:r>
          </a:p>
          <a:p>
            <a:pPr>
              <a:lnSpc>
                <a:spcPct val="80000"/>
              </a:lnSpc>
            </a:pPr>
            <a:r>
              <a:rPr lang="zh-CN" altLang="en-US" sz="2400" dirty="0"/>
              <a:t>中小企业云能够让企业以低廉的成本建立财务、供应链、客户关系等管理应用系统，大大降低企业信息化门槛，迅速提升企业信息化水平，增强企业市场竞争力</a:t>
            </a:r>
          </a:p>
          <a:p>
            <a:pPr>
              <a:lnSpc>
                <a:spcPct val="80000"/>
              </a:lnSpc>
            </a:pPr>
            <a:r>
              <a:rPr lang="zh-CN" altLang="en-US" sz="2400" dirty="0"/>
              <a:t>医疗云可以推动医院与医院、医院与社区、医院与急救中心、医院与家庭之间的服务共享，并形成一套全新的医疗健康服务系统，从而有效地提高医疗保健的质量</a:t>
            </a:r>
          </a:p>
        </p:txBody>
      </p:sp>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42</a:t>
            </a:fld>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852936"/>
            <a:ext cx="6877050" cy="31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2"/>
          <p:cNvSpPr>
            <a:spLocks noGrp="1" noChangeArrowheads="1"/>
          </p:cNvSpPr>
          <p:nvPr>
            <p:ph type="title" idx="4294967295"/>
          </p:nvPr>
        </p:nvSpPr>
        <p:spPr/>
        <p:txBody>
          <a:bodyPr/>
          <a:lstStyle/>
          <a:p>
            <a:r>
              <a:rPr lang="zh-CN" altLang="en-US" dirty="0"/>
              <a:t>大数据处理框架：云计算产业</a:t>
            </a:r>
          </a:p>
        </p:txBody>
      </p:sp>
      <p:sp>
        <p:nvSpPr>
          <p:cNvPr id="26628" name="Rectangle 3"/>
          <p:cNvSpPr>
            <a:spLocks noGrp="1" noChangeArrowheads="1"/>
          </p:cNvSpPr>
          <p:nvPr>
            <p:ph type="body" idx="4294967295"/>
          </p:nvPr>
        </p:nvSpPr>
        <p:spPr>
          <a:xfrm>
            <a:off x="457200" y="1052736"/>
            <a:ext cx="8229600" cy="1598612"/>
          </a:xfrm>
        </p:spPr>
        <p:txBody>
          <a:bodyPr/>
          <a:lstStyle/>
          <a:p>
            <a:r>
              <a:rPr lang="zh-CN" altLang="en-US" sz="2000" dirty="0"/>
              <a:t> 云计算产业作为战略性新兴产业，近些年得到了迅速发展，形成了成熟的产业链结构，产业涵盖硬件与设备制造、基础设施运营、软件与解决方案供应商、基础设施即服务（</a:t>
            </a:r>
            <a:r>
              <a:rPr lang="en-US" altLang="zh-CN" sz="2000" dirty="0" err="1"/>
              <a:t>IaaS</a:t>
            </a:r>
            <a:r>
              <a:rPr lang="zh-CN" altLang="en-US" sz="2000" dirty="0"/>
              <a:t>）、平台即服务（</a:t>
            </a:r>
            <a:r>
              <a:rPr lang="en-US" altLang="zh-CN" sz="2000" dirty="0" err="1"/>
              <a:t>PaaS</a:t>
            </a:r>
            <a:r>
              <a:rPr lang="zh-CN" altLang="en-US" sz="2000" dirty="0"/>
              <a:t>）、软件即服务（</a:t>
            </a:r>
            <a:r>
              <a:rPr lang="en-US" altLang="zh-CN" sz="2000" dirty="0"/>
              <a:t>SaaS</a:t>
            </a:r>
            <a:r>
              <a:rPr lang="zh-CN" altLang="en-US" sz="2000" dirty="0"/>
              <a:t>）、终端设备、云安全、云计算交付</a:t>
            </a:r>
            <a:r>
              <a:rPr lang="en-US" altLang="zh-CN" sz="2000" dirty="0"/>
              <a:t>/</a:t>
            </a:r>
            <a:r>
              <a:rPr lang="zh-CN" altLang="en-US" sz="2000" dirty="0"/>
              <a:t>咨询</a:t>
            </a:r>
            <a:r>
              <a:rPr lang="en-US" altLang="zh-CN" sz="2000" dirty="0"/>
              <a:t>/</a:t>
            </a:r>
            <a:r>
              <a:rPr lang="zh-CN" altLang="en-US" sz="2000" dirty="0"/>
              <a:t>认证等环节</a:t>
            </a:r>
          </a:p>
        </p:txBody>
      </p:sp>
      <p:sp>
        <p:nvSpPr>
          <p:cNvPr id="26629" name="Text Box 5"/>
          <p:cNvSpPr txBox="1">
            <a:spLocks noChangeArrowheads="1"/>
          </p:cNvSpPr>
          <p:nvPr/>
        </p:nvSpPr>
        <p:spPr bwMode="auto">
          <a:xfrm>
            <a:off x="3429000" y="6186488"/>
            <a:ext cx="2743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eaLnBrk="1" hangingPunct="1"/>
            <a:r>
              <a:rPr lang="zh-CN" altLang="en-US" dirty="0"/>
              <a:t>云计算产业链</a:t>
            </a:r>
          </a:p>
        </p:txBody>
      </p:sp>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43</a:t>
            </a:fld>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p:txBody>
          <a:bodyPr/>
          <a:lstStyle/>
          <a:p>
            <a:r>
              <a:rPr lang="zh-CN" altLang="en-US" dirty="0"/>
              <a:t>大数据处理框架：物联网</a:t>
            </a:r>
          </a:p>
        </p:txBody>
      </p:sp>
      <p:sp>
        <p:nvSpPr>
          <p:cNvPr id="27651" name="Rectangle 3"/>
          <p:cNvSpPr>
            <a:spLocks noGrp="1" noChangeArrowheads="1"/>
          </p:cNvSpPr>
          <p:nvPr>
            <p:ph type="body" idx="4294967295"/>
          </p:nvPr>
        </p:nvSpPr>
        <p:spPr>
          <a:xfrm>
            <a:off x="457200" y="1052736"/>
            <a:ext cx="8229600" cy="1143000"/>
          </a:xfrm>
        </p:spPr>
        <p:txBody>
          <a:bodyPr/>
          <a:lstStyle/>
          <a:p>
            <a:r>
              <a:rPr lang="zh-CN" altLang="en-US" sz="2000" dirty="0"/>
              <a:t>物联网是物物相连的互联网，是互联网的延伸，它利用局部网络或互联网等通信技术把传感器、控制器、机器、人员和物等通过新的方式联在一起，形成人与物、物与物相联，实现信息化和远程管理控制</a:t>
            </a:r>
          </a:p>
        </p:txBody>
      </p:sp>
      <p:sp>
        <p:nvSpPr>
          <p:cNvPr id="27653" name="Rectangle 7"/>
          <p:cNvSpPr>
            <a:spLocks noChangeArrowheads="1"/>
          </p:cNvSpPr>
          <p:nvPr/>
        </p:nvSpPr>
        <p:spPr bwMode="auto">
          <a:xfrm>
            <a:off x="3652110" y="6072885"/>
            <a:ext cx="1864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dirty="0"/>
              <a:t>物联网体系架构 </a:t>
            </a:r>
          </a:p>
        </p:txBody>
      </p:sp>
      <p:pic>
        <p:nvPicPr>
          <p:cNvPr id="27654"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4999" y="2132856"/>
            <a:ext cx="5358837" cy="37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44</a:t>
            </a:fld>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a:lstStyle/>
          <a:p>
            <a:r>
              <a:rPr lang="zh-CN" altLang="en-US" dirty="0"/>
              <a:t>大数据处理框架：物联网关键技术</a:t>
            </a:r>
          </a:p>
        </p:txBody>
      </p:sp>
      <p:sp>
        <p:nvSpPr>
          <p:cNvPr id="28675" name="Rectangle 3"/>
          <p:cNvSpPr>
            <a:spLocks noGrp="1" noChangeArrowheads="1"/>
          </p:cNvSpPr>
          <p:nvPr>
            <p:ph type="body" idx="4294967295"/>
          </p:nvPr>
        </p:nvSpPr>
        <p:spPr/>
        <p:txBody>
          <a:bodyPr/>
          <a:lstStyle/>
          <a:p>
            <a:r>
              <a:rPr lang="zh-CN" altLang="en-US" sz="2000"/>
              <a:t>物联网中的关键技术包括识别和感知技术（二维码、</a:t>
            </a:r>
            <a:r>
              <a:rPr lang="en-US" altLang="zh-CN" sz="2000"/>
              <a:t>RFID</a:t>
            </a:r>
            <a:r>
              <a:rPr lang="zh-CN" altLang="en-US" sz="2000"/>
              <a:t>、传感器等）、网络与通信技术、数据挖掘与融合技术等</a:t>
            </a:r>
          </a:p>
        </p:txBody>
      </p:sp>
      <p:grpSp>
        <p:nvGrpSpPr>
          <p:cNvPr id="28677" name="Group 6"/>
          <p:cNvGrpSpPr>
            <a:grpSpLocks noChangeAspect="1"/>
          </p:cNvGrpSpPr>
          <p:nvPr/>
        </p:nvGrpSpPr>
        <p:grpSpPr bwMode="auto">
          <a:xfrm>
            <a:off x="603448" y="2060848"/>
            <a:ext cx="2870200" cy="1371600"/>
            <a:chOff x="3097" y="11510"/>
            <a:chExt cx="3930" cy="1881"/>
          </a:xfrm>
        </p:grpSpPr>
        <p:sp>
          <p:nvSpPr>
            <p:cNvPr id="28686" name="AutoShape 7"/>
            <p:cNvSpPr>
              <a:spLocks noChangeAspect="1" noChangeArrowheads="1"/>
            </p:cNvSpPr>
            <p:nvPr/>
          </p:nvSpPr>
          <p:spPr bwMode="auto">
            <a:xfrm>
              <a:off x="3097" y="11510"/>
              <a:ext cx="3930" cy="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8687" name="Picture 8" descr="t01e14838c83024a6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7" y="11510"/>
              <a:ext cx="1878" cy="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8" name="Picture 9" descr="7acb0a46f21fbe0981aca3076a600c338644ebf81a4c8d0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3" y="11615"/>
              <a:ext cx="1774" cy="1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678" name="Group 11"/>
          <p:cNvGrpSpPr>
            <a:grpSpLocks noChangeAspect="1"/>
          </p:cNvGrpSpPr>
          <p:nvPr/>
        </p:nvGrpSpPr>
        <p:grpSpPr bwMode="auto">
          <a:xfrm>
            <a:off x="4489648" y="2137048"/>
            <a:ext cx="4114800" cy="1271588"/>
            <a:chOff x="3097" y="588"/>
            <a:chExt cx="5635" cy="1744"/>
          </a:xfrm>
        </p:grpSpPr>
        <p:sp>
          <p:nvSpPr>
            <p:cNvPr id="28683" name="AutoShape 12"/>
            <p:cNvSpPr>
              <a:spLocks noChangeAspect="1" noChangeArrowheads="1"/>
            </p:cNvSpPr>
            <p:nvPr/>
          </p:nvSpPr>
          <p:spPr bwMode="auto">
            <a:xfrm>
              <a:off x="3097" y="588"/>
              <a:ext cx="5635" cy="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8684" name="Picture 13" descr="rfi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 y="588"/>
              <a:ext cx="2713" cy="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5" name="Picture 14" descr="13405428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97" y="588"/>
              <a:ext cx="2713" cy="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8679" name="Picture 15" descr="wpsB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4077072"/>
            <a:ext cx="50958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0" name="Rectangle 16"/>
          <p:cNvSpPr>
            <a:spLocks noChangeArrowheads="1"/>
          </p:cNvSpPr>
          <p:nvPr/>
        </p:nvSpPr>
        <p:spPr bwMode="auto">
          <a:xfrm>
            <a:off x="908248" y="3431139"/>
            <a:ext cx="1633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dirty="0"/>
              <a:t>矩阵式二维码 </a:t>
            </a:r>
          </a:p>
        </p:txBody>
      </p:sp>
      <p:sp>
        <p:nvSpPr>
          <p:cNvPr id="28681" name="Rectangle 17"/>
          <p:cNvSpPr>
            <a:spLocks noChangeArrowheads="1"/>
          </p:cNvSpPr>
          <p:nvPr/>
        </p:nvSpPr>
        <p:spPr bwMode="auto">
          <a:xfrm>
            <a:off x="5392370" y="3431139"/>
            <a:ext cx="26340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dirty="0"/>
              <a:t>采用</a:t>
            </a:r>
            <a:r>
              <a:rPr lang="en-US" altLang="zh-CN" dirty="0"/>
              <a:t>RFID</a:t>
            </a:r>
            <a:r>
              <a:rPr lang="zh-CN" altLang="en-US" dirty="0"/>
              <a:t>芯片的公交卡 </a:t>
            </a:r>
          </a:p>
        </p:txBody>
      </p:sp>
      <p:sp>
        <p:nvSpPr>
          <p:cNvPr id="28682" name="Rectangle 18"/>
          <p:cNvSpPr>
            <a:spLocks noChangeArrowheads="1"/>
          </p:cNvSpPr>
          <p:nvPr/>
        </p:nvSpPr>
        <p:spPr bwMode="auto">
          <a:xfrm>
            <a:off x="3633814" y="5939988"/>
            <a:ext cx="20954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dirty="0"/>
              <a:t>不同类型的传感器 </a:t>
            </a:r>
          </a:p>
        </p:txBody>
      </p:sp>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45</a:t>
            </a:fld>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p:txBody>
          <a:bodyPr/>
          <a:lstStyle/>
          <a:p>
            <a:r>
              <a:rPr lang="zh-CN" altLang="en-US" dirty="0"/>
              <a:t>大数据处理框架：物联网应用</a:t>
            </a:r>
          </a:p>
        </p:txBody>
      </p:sp>
      <p:sp>
        <p:nvSpPr>
          <p:cNvPr id="29699" name="Rectangle 3"/>
          <p:cNvSpPr>
            <a:spLocks noGrp="1" noChangeArrowheads="1"/>
          </p:cNvSpPr>
          <p:nvPr>
            <p:ph type="body" idx="4294967295"/>
          </p:nvPr>
        </p:nvSpPr>
        <p:spPr/>
        <p:txBody>
          <a:bodyPr/>
          <a:lstStyle/>
          <a:p>
            <a:r>
              <a:rPr lang="zh-CN" altLang="en-US" sz="2000"/>
              <a:t>物联网已经广泛应用于智能交通、智慧医疗、智能家居、环保监测、智能安防、智能物流、智能电网、智慧农业、智能工业等领域，对国民经济与社会发展起到了重要的推动作用</a:t>
            </a:r>
          </a:p>
        </p:txBody>
      </p:sp>
      <p:pic>
        <p:nvPicPr>
          <p:cNvPr id="29700" name="Picture 5" descr="图片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564904"/>
            <a:ext cx="7010400" cy="331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46</a:t>
            </a:fld>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r>
              <a:rPr lang="zh-CN" altLang="en-US" dirty="0"/>
              <a:t>大数据处理框架：物联网产业</a:t>
            </a:r>
          </a:p>
        </p:txBody>
      </p:sp>
      <p:sp>
        <p:nvSpPr>
          <p:cNvPr id="30723" name="Rectangle 3"/>
          <p:cNvSpPr>
            <a:spLocks noGrp="1" noChangeArrowheads="1"/>
          </p:cNvSpPr>
          <p:nvPr>
            <p:ph type="body" idx="4294967295"/>
          </p:nvPr>
        </p:nvSpPr>
        <p:spPr>
          <a:xfrm>
            <a:off x="457200" y="1138064"/>
            <a:ext cx="8229600" cy="1066800"/>
          </a:xfrm>
        </p:spPr>
        <p:txBody>
          <a:bodyPr/>
          <a:lstStyle/>
          <a:p>
            <a:r>
              <a:rPr lang="zh-CN" altLang="en-US" sz="2000" dirty="0"/>
              <a:t>完整的物联网产业链主要包括核心感应器件提供商、感知层末端设备提供商、网络提供商、软件与行业解决方案提供商、系统集成商、运营及服务提供商等六大环节</a:t>
            </a:r>
          </a:p>
        </p:txBody>
      </p:sp>
      <p:sp>
        <p:nvSpPr>
          <p:cNvPr id="30724" name="Text Box 6"/>
          <p:cNvSpPr txBox="1">
            <a:spLocks noChangeArrowheads="1"/>
          </p:cNvSpPr>
          <p:nvPr/>
        </p:nvSpPr>
        <p:spPr bwMode="auto">
          <a:xfrm>
            <a:off x="3657600" y="5949280"/>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eaLnBrk="1" hangingPunct="1"/>
            <a:r>
              <a:rPr lang="zh-CN" altLang="en-US" dirty="0"/>
              <a:t>物联网产业链</a:t>
            </a:r>
          </a:p>
        </p:txBody>
      </p:sp>
      <p:pic>
        <p:nvPicPr>
          <p:cNvPr id="30726"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2204864"/>
            <a:ext cx="708660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47</a:t>
            </a:fld>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p:txBody>
          <a:bodyPr/>
          <a:lstStyle/>
          <a:p>
            <a:r>
              <a:rPr lang="zh-CN" altLang="en-US" dirty="0"/>
              <a:t>大数据处理框架：</a:t>
            </a:r>
            <a:r>
              <a:rPr lang="zh-CN" altLang="en-US" sz="2400" dirty="0"/>
              <a:t>大数据与云计算、物联网的关系</a:t>
            </a:r>
          </a:p>
        </p:txBody>
      </p:sp>
      <p:sp>
        <p:nvSpPr>
          <p:cNvPr id="31747" name="Rectangle 3"/>
          <p:cNvSpPr>
            <a:spLocks noGrp="1" noChangeArrowheads="1"/>
          </p:cNvSpPr>
          <p:nvPr>
            <p:ph type="body" idx="4294967295"/>
          </p:nvPr>
        </p:nvSpPr>
        <p:spPr>
          <a:xfrm>
            <a:off x="457200" y="1219200"/>
            <a:ext cx="8229600" cy="4525963"/>
          </a:xfrm>
        </p:spPr>
        <p:txBody>
          <a:bodyPr/>
          <a:lstStyle/>
          <a:p>
            <a:r>
              <a:rPr lang="zh-CN" altLang="en-US" sz="2000" dirty="0"/>
              <a:t>云计算、大数据和物联网代表了</a:t>
            </a:r>
            <a:r>
              <a:rPr lang="en-US" altLang="zh-CN" sz="2000" dirty="0"/>
              <a:t>IT</a:t>
            </a:r>
            <a:r>
              <a:rPr lang="zh-CN" altLang="en-US" sz="2000" dirty="0"/>
              <a:t>领域最新的技术发展趋势，三者既有区别又有联系</a:t>
            </a:r>
          </a:p>
        </p:txBody>
      </p:sp>
      <p:sp>
        <p:nvSpPr>
          <p:cNvPr id="31748" name="Text Box 6"/>
          <p:cNvSpPr txBox="1">
            <a:spLocks noChangeArrowheads="1"/>
          </p:cNvSpPr>
          <p:nvPr/>
        </p:nvSpPr>
        <p:spPr bwMode="auto">
          <a:xfrm>
            <a:off x="2438400" y="5943600"/>
            <a:ext cx="472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ctr" eaLnBrk="1" hangingPunct="1"/>
            <a:r>
              <a:rPr lang="zh-CN" altLang="en-US" dirty="0"/>
              <a:t>大数据、云计算和物联网之间的关系</a:t>
            </a:r>
          </a:p>
        </p:txBody>
      </p:sp>
      <p:pic>
        <p:nvPicPr>
          <p:cNvPr id="31749"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2286000"/>
            <a:ext cx="7086600" cy="33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A8985DC7-D391-4B07-9DEA-D197F642A36A}" type="slidenum">
              <a:rPr lang="zh-CN" altLang="en-US" smtClean="0"/>
              <a:pPr>
                <a:defRPr/>
              </a:pPr>
              <a:t>48</a:t>
            </a:fld>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同侧圆角矩形 11"/>
          <p:cNvSpPr/>
          <p:nvPr/>
        </p:nvSpPr>
        <p:spPr>
          <a:xfrm rot="16200000" flipV="1">
            <a:off x="4707953" y="-980012"/>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11" name="同侧圆角矩形 10"/>
          <p:cNvSpPr/>
          <p:nvPr/>
        </p:nvSpPr>
        <p:spPr>
          <a:xfrm rot="16200000">
            <a:off x="1401165" y="1416323"/>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13" name="矩形 12"/>
          <p:cNvSpPr/>
          <p:nvPr/>
        </p:nvSpPr>
        <p:spPr>
          <a:xfrm>
            <a:off x="2227484" y="1557581"/>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大数据的起源</a:t>
            </a:r>
          </a:p>
        </p:txBody>
      </p:sp>
      <p:sp>
        <p:nvSpPr>
          <p:cNvPr id="14" name="矩形 13"/>
          <p:cNvSpPr>
            <a:spLocks noChangeArrowheads="1"/>
          </p:cNvSpPr>
          <p:nvPr/>
        </p:nvSpPr>
        <p:spPr bwMode="auto">
          <a:xfrm>
            <a:off x="1547817" y="1608559"/>
            <a:ext cx="340157"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1</a:t>
            </a:r>
            <a:endParaRPr lang="ko-KR" altLang="en-US" sz="2400" b="1" dirty="0">
              <a:solidFill>
                <a:schemeClr val="accent2">
                  <a:lumMod val="50000"/>
                </a:schemeClr>
              </a:solidFill>
              <a:latin typeface="黑体" pitchFamily="49" charset="-122"/>
              <a:ea typeface="黑体" pitchFamily="49" charset="-122"/>
            </a:endParaRPr>
          </a:p>
        </p:txBody>
      </p:sp>
      <p:sp>
        <p:nvSpPr>
          <p:cNvPr id="16406" name="标题 1"/>
          <p:cNvSpPr>
            <a:spLocks noGrp="1"/>
          </p:cNvSpPr>
          <p:nvPr>
            <p:ph type="title"/>
          </p:nvPr>
        </p:nvSpPr>
        <p:spPr>
          <a:xfrm>
            <a:off x="457200" y="123825"/>
            <a:ext cx="8229600" cy="661988"/>
          </a:xfrm>
        </p:spPr>
        <p:txBody>
          <a:bodyPr/>
          <a:lstStyle/>
          <a:p>
            <a:r>
              <a:rPr lang="zh-CN" altLang="en-US" dirty="0">
                <a:latin typeface="黑体" pitchFamily="49" charset="-122"/>
                <a:ea typeface="黑体" pitchFamily="49" charset="-122"/>
              </a:rPr>
              <a:t>提纲</a:t>
            </a:r>
            <a:r>
              <a:rPr lang="zh-CN" altLang="en-US" dirty="0">
                <a:latin typeface="Palatino Linotype" pitchFamily="18" charset="0"/>
                <a:ea typeface="黑体" pitchFamily="49" charset="-122"/>
              </a:rPr>
              <a:t>（</a:t>
            </a:r>
            <a:r>
              <a:rPr lang="en-US" altLang="zh-CN" dirty="0">
                <a:latin typeface="Palatino Linotype" pitchFamily="18" charset="0"/>
                <a:ea typeface="黑体" pitchFamily="49" charset="-122"/>
              </a:rPr>
              <a:t>Outlines</a:t>
            </a:r>
            <a:r>
              <a:rPr lang="zh-CN" altLang="en-US" dirty="0">
                <a:latin typeface="Palatino Linotype" pitchFamily="18" charset="0"/>
                <a:ea typeface="黑体" pitchFamily="49" charset="-122"/>
              </a:rPr>
              <a:t>）</a:t>
            </a:r>
          </a:p>
        </p:txBody>
      </p:sp>
      <p:grpSp>
        <p:nvGrpSpPr>
          <p:cNvPr id="4" name="组合 3"/>
          <p:cNvGrpSpPr/>
          <p:nvPr/>
        </p:nvGrpSpPr>
        <p:grpSpPr>
          <a:xfrm>
            <a:off x="1259633" y="2276872"/>
            <a:ext cx="6550025" cy="565989"/>
            <a:chOff x="1259633" y="2331624"/>
            <a:chExt cx="6550025" cy="565989"/>
          </a:xfrm>
        </p:grpSpPr>
        <p:sp>
          <p:nvSpPr>
            <p:cNvPr id="29" name="同侧圆角矩形 28"/>
            <p:cNvSpPr/>
            <p:nvPr/>
          </p:nvSpPr>
          <p:spPr>
            <a:xfrm rot="16200000">
              <a:off x="1400102" y="2191155"/>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0" name="同侧圆角矩形 29"/>
            <p:cNvSpPr/>
            <p:nvPr/>
          </p:nvSpPr>
          <p:spPr>
            <a:xfrm rot="16200000" flipV="1">
              <a:off x="4706890" y="-205180"/>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1" name="矩形 30"/>
            <p:cNvSpPr/>
            <p:nvPr/>
          </p:nvSpPr>
          <p:spPr>
            <a:xfrm>
              <a:off x="2226421" y="2332413"/>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大数据的特征</a:t>
              </a:r>
            </a:p>
          </p:txBody>
        </p:sp>
        <p:sp>
          <p:nvSpPr>
            <p:cNvPr id="32" name="矩形 31"/>
            <p:cNvSpPr>
              <a:spLocks noChangeArrowheads="1"/>
            </p:cNvSpPr>
            <p:nvPr/>
          </p:nvSpPr>
          <p:spPr bwMode="auto">
            <a:xfrm>
              <a:off x="1546754" y="2383391"/>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2</a:t>
              </a:r>
              <a:endParaRPr lang="ko-KR" altLang="en-US" sz="2400" b="1" dirty="0">
                <a:solidFill>
                  <a:schemeClr val="accent2">
                    <a:lumMod val="50000"/>
                  </a:schemeClr>
                </a:solidFill>
                <a:latin typeface="黑体" pitchFamily="49" charset="-122"/>
                <a:ea typeface="黑体" pitchFamily="49" charset="-122"/>
              </a:endParaRPr>
            </a:p>
          </p:txBody>
        </p:sp>
      </p:grpSp>
      <p:grpSp>
        <p:nvGrpSpPr>
          <p:cNvPr id="5" name="组合 4"/>
          <p:cNvGrpSpPr/>
          <p:nvPr/>
        </p:nvGrpSpPr>
        <p:grpSpPr>
          <a:xfrm>
            <a:off x="1259633" y="2996952"/>
            <a:ext cx="6550025" cy="565989"/>
            <a:chOff x="1259633" y="2997140"/>
            <a:chExt cx="6550025" cy="565989"/>
          </a:xfrm>
        </p:grpSpPr>
        <p:sp>
          <p:nvSpPr>
            <p:cNvPr id="33" name="同侧圆角矩形 32"/>
            <p:cNvSpPr/>
            <p:nvPr/>
          </p:nvSpPr>
          <p:spPr>
            <a:xfrm rot="16200000">
              <a:off x="1400102" y="2856671"/>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4" name="同侧圆角矩形 33"/>
            <p:cNvSpPr/>
            <p:nvPr/>
          </p:nvSpPr>
          <p:spPr>
            <a:xfrm rot="16200000" flipV="1">
              <a:off x="4706890" y="460336"/>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5" name="矩形 34"/>
            <p:cNvSpPr/>
            <p:nvPr/>
          </p:nvSpPr>
          <p:spPr>
            <a:xfrm>
              <a:off x="2226421" y="2997929"/>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大数据处理框架</a:t>
              </a:r>
            </a:p>
          </p:txBody>
        </p:sp>
        <p:sp>
          <p:nvSpPr>
            <p:cNvPr id="36" name="矩形 35"/>
            <p:cNvSpPr>
              <a:spLocks noChangeArrowheads="1"/>
            </p:cNvSpPr>
            <p:nvPr/>
          </p:nvSpPr>
          <p:spPr bwMode="auto">
            <a:xfrm>
              <a:off x="1546754" y="3048907"/>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3</a:t>
              </a:r>
              <a:endParaRPr lang="ko-KR" altLang="en-US" sz="2400" b="1" dirty="0">
                <a:solidFill>
                  <a:schemeClr val="accent2">
                    <a:lumMod val="50000"/>
                  </a:schemeClr>
                </a:solidFill>
                <a:latin typeface="黑体" pitchFamily="49" charset="-122"/>
                <a:ea typeface="黑体" pitchFamily="49" charset="-122"/>
              </a:endParaRPr>
            </a:p>
          </p:txBody>
        </p:sp>
      </p:grpSp>
      <p:sp>
        <p:nvSpPr>
          <p:cNvPr id="37" name="同侧圆角矩形 36"/>
          <p:cNvSpPr/>
          <p:nvPr/>
        </p:nvSpPr>
        <p:spPr>
          <a:xfrm rot="16200000">
            <a:off x="1402185" y="3576563"/>
            <a:ext cx="565200" cy="846138"/>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dirty="0"/>
          </a:p>
        </p:txBody>
      </p:sp>
      <p:sp>
        <p:nvSpPr>
          <p:cNvPr id="38" name="同侧圆角矩形 37"/>
          <p:cNvSpPr/>
          <p:nvPr/>
        </p:nvSpPr>
        <p:spPr>
          <a:xfrm rot="16200000" flipV="1">
            <a:off x="4708973" y="1180228"/>
            <a:ext cx="565150" cy="5640387"/>
          </a:xfrm>
          <a:prstGeom prst="round2SameRect">
            <a:avLst/>
          </a:prstGeom>
          <a:ln/>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zh-CN" altLang="en-US" sz="2400"/>
          </a:p>
        </p:txBody>
      </p:sp>
      <p:sp>
        <p:nvSpPr>
          <p:cNvPr id="39" name="矩形 38"/>
          <p:cNvSpPr/>
          <p:nvPr/>
        </p:nvSpPr>
        <p:spPr>
          <a:xfrm>
            <a:off x="2228504" y="3717821"/>
            <a:ext cx="5543550" cy="56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tx2"/>
                </a:solidFill>
                <a:latin typeface="黑体" pitchFamily="49" charset="-122"/>
                <a:ea typeface="黑体" pitchFamily="49" charset="-122"/>
              </a:rPr>
              <a:t>大数据处理与挖掘应用</a:t>
            </a:r>
          </a:p>
        </p:txBody>
      </p:sp>
      <p:sp>
        <p:nvSpPr>
          <p:cNvPr id="40" name="矩形 39"/>
          <p:cNvSpPr>
            <a:spLocks noChangeArrowheads="1"/>
          </p:cNvSpPr>
          <p:nvPr/>
        </p:nvSpPr>
        <p:spPr bwMode="auto">
          <a:xfrm>
            <a:off x="1548837" y="3768799"/>
            <a:ext cx="340158" cy="461665"/>
          </a:xfrm>
          <a:prstGeom prst="rect">
            <a:avLst/>
          </a:prstGeom>
          <a:noFill/>
          <a:ln w="9525">
            <a:noFill/>
            <a:miter lim="800000"/>
            <a:headEnd/>
            <a:tailEnd/>
          </a:ln>
        </p:spPr>
        <p:txBody>
          <a:bodyPr wrap="none">
            <a:spAutoFit/>
          </a:bodyPr>
          <a:lstStyle/>
          <a:p>
            <a:pPr algn="ctr"/>
            <a:r>
              <a:rPr lang="en-US" altLang="zh-CN" sz="2400" b="1" dirty="0">
                <a:solidFill>
                  <a:schemeClr val="accent2">
                    <a:lumMod val="50000"/>
                  </a:schemeClr>
                </a:solidFill>
                <a:latin typeface="黑体" pitchFamily="49" charset="-122"/>
                <a:ea typeface="黑体" pitchFamily="49" charset="-122"/>
              </a:rPr>
              <a:t>4</a:t>
            </a:r>
            <a:endParaRPr lang="ko-KR" altLang="en-US" sz="2400" b="1" dirty="0">
              <a:solidFill>
                <a:schemeClr val="accent2">
                  <a:lumMod val="50000"/>
                </a:schemeClr>
              </a:solidFill>
              <a:latin typeface="黑体" pitchFamily="49" charset="-122"/>
              <a:ea typeface="黑体" pitchFamily="49" charset="-122"/>
            </a:endParaRPr>
          </a:p>
        </p:txBody>
      </p:sp>
      <p:sp>
        <p:nvSpPr>
          <p:cNvPr id="9" name="灯片编号占位符 8"/>
          <p:cNvSpPr>
            <a:spLocks noGrp="1"/>
          </p:cNvSpPr>
          <p:nvPr>
            <p:ph type="sldNum" sz="quarter" idx="12"/>
          </p:nvPr>
        </p:nvSpPr>
        <p:spPr/>
        <p:txBody>
          <a:bodyPr/>
          <a:lstStyle/>
          <a:p>
            <a:pPr>
              <a:defRPr/>
            </a:pPr>
            <a:fld id="{73B3C56C-5700-4E55-BF40-61423C59FA56}" type="slidenum">
              <a:rPr lang="zh-CN" altLang="en-US" smtClean="0"/>
              <a:pPr>
                <a:defRPr/>
              </a:pPr>
              <a:t>49</a:t>
            </a:fld>
            <a:endParaRPr lang="zh-CN" altLang="en-US" dirty="0"/>
          </a:p>
        </p:txBody>
      </p:sp>
    </p:spTree>
    <p:extLst>
      <p:ext uri="{BB962C8B-B14F-4D97-AF65-F5344CB8AC3E}">
        <p14:creationId xmlns:p14="http://schemas.microsoft.com/office/powerpoint/2010/main" val="214577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grpId="0" nodeType="withEffect">
                                  <p:stCondLst>
                                    <p:cond delay="0"/>
                                  </p:stCondLst>
                                  <p:childTnLst>
                                    <p:animClr clrSpc="rgb" dir="cw">
                                      <p:cBhvr override="childStyle">
                                        <p:cTn id="6" dur="500" fill="hold"/>
                                        <p:tgtEl>
                                          <p:spTgt spid="37"/>
                                        </p:tgtEl>
                                        <p:attrNameLst>
                                          <p:attrName>style.color</p:attrName>
                                        </p:attrNameLst>
                                      </p:cBhvr>
                                      <p:to>
                                        <a:schemeClr val="accent2"/>
                                      </p:to>
                                    </p:animClr>
                                    <p:animClr clrSpc="rgb" dir="cw">
                                      <p:cBhvr>
                                        <p:cTn id="7" dur="500" fill="hold"/>
                                        <p:tgtEl>
                                          <p:spTgt spid="37"/>
                                        </p:tgtEl>
                                        <p:attrNameLst>
                                          <p:attrName>fillcolor</p:attrName>
                                        </p:attrNameLst>
                                      </p:cBhvr>
                                      <p:to>
                                        <a:schemeClr val="accent2"/>
                                      </p:to>
                                    </p:animClr>
                                    <p:set>
                                      <p:cBhvr>
                                        <p:cTn id="8" dur="500" fill="hold"/>
                                        <p:tgtEl>
                                          <p:spTgt spid="37"/>
                                        </p:tgtEl>
                                        <p:attrNameLst>
                                          <p:attrName>fill.type</p:attrName>
                                        </p:attrNameLst>
                                      </p:cBhvr>
                                      <p:to>
                                        <p:strVal val="solid"/>
                                      </p:to>
                                    </p:set>
                                    <p:set>
                                      <p:cBhvr>
                                        <p:cTn id="9" dur="500" fill="hold"/>
                                        <p:tgtEl>
                                          <p:spTgt spid="37"/>
                                        </p:tgtEl>
                                        <p:attrNameLst>
                                          <p:attrName>fill.on</p:attrName>
                                        </p:attrNameLst>
                                      </p:cBhvr>
                                      <p:to>
                                        <p:strVal val="true"/>
                                      </p:to>
                                    </p:set>
                                  </p:childTnLst>
                                </p:cTn>
                              </p:par>
                              <p:par>
                                <p:cTn id="10" presetID="19" presetClass="emph" presetSubtype="0" fill="hold" grpId="0" nodeType="withEffect">
                                  <p:stCondLst>
                                    <p:cond delay="0"/>
                                  </p:stCondLst>
                                  <p:childTnLst>
                                    <p:animClr clrSpc="rgb" dir="cw">
                                      <p:cBhvr override="childStyle">
                                        <p:cTn id="11" dur="500" fill="hold"/>
                                        <p:tgtEl>
                                          <p:spTgt spid="38"/>
                                        </p:tgtEl>
                                        <p:attrNameLst>
                                          <p:attrName>style.color</p:attrName>
                                        </p:attrNameLst>
                                      </p:cBhvr>
                                      <p:to>
                                        <a:schemeClr val="accent2"/>
                                      </p:to>
                                    </p:animClr>
                                    <p:animClr clrSpc="rgb" dir="cw">
                                      <p:cBhvr>
                                        <p:cTn id="12" dur="500" fill="hold"/>
                                        <p:tgtEl>
                                          <p:spTgt spid="38"/>
                                        </p:tgtEl>
                                        <p:attrNameLst>
                                          <p:attrName>fillcolor</p:attrName>
                                        </p:attrNameLst>
                                      </p:cBhvr>
                                      <p:to>
                                        <a:schemeClr val="accent2"/>
                                      </p:to>
                                    </p:animClr>
                                    <p:set>
                                      <p:cBhvr>
                                        <p:cTn id="13" dur="500" fill="hold"/>
                                        <p:tgtEl>
                                          <p:spTgt spid="38"/>
                                        </p:tgtEl>
                                        <p:attrNameLst>
                                          <p:attrName>fill.type</p:attrName>
                                        </p:attrNameLst>
                                      </p:cBhvr>
                                      <p:to>
                                        <p:strVal val="solid"/>
                                      </p:to>
                                    </p:set>
                                    <p:set>
                                      <p:cBhvr>
                                        <p:cTn id="14" dur="500" fill="hold"/>
                                        <p:tgtEl>
                                          <p:spTgt spid="38"/>
                                        </p:tgtEl>
                                        <p:attrNameLst>
                                          <p:attrName>fill.on</p:attrName>
                                        </p:attrNameLst>
                                      </p:cBhvr>
                                      <p:to>
                                        <p:strVal val="true"/>
                                      </p:to>
                                    </p:set>
                                  </p:childTnLst>
                                </p:cTn>
                              </p:par>
                              <p:par>
                                <p:cTn id="15" presetID="3" presetClass="emph" presetSubtype="2" fill="hold" grpId="0" nodeType="withEffect">
                                  <p:stCondLst>
                                    <p:cond delay="0"/>
                                  </p:stCondLst>
                                  <p:childTnLst>
                                    <p:animClr clrSpc="rgb" dir="cw">
                                      <p:cBhvr override="childStyle">
                                        <p:cTn id="16" dur="500" fill="hold"/>
                                        <p:tgtEl>
                                          <p:spTgt spid="40"/>
                                        </p:tgtEl>
                                        <p:attrNameLst>
                                          <p:attrName>style.color</p:attrName>
                                        </p:attrNameLst>
                                      </p:cBhvr>
                                      <p:to>
                                        <a:srgbClr val="FFFFFF"/>
                                      </p:to>
                                    </p:animClr>
                                  </p:childTnLst>
                                </p:cTn>
                              </p:par>
                              <p:par>
                                <p:cTn id="17" presetID="3" presetClass="emph" presetSubtype="2" fill="hold" grpId="0" nodeType="withEffect">
                                  <p:stCondLst>
                                    <p:cond delay="0"/>
                                  </p:stCondLst>
                                  <p:childTnLst>
                                    <p:animClr clrSpc="rgb" dir="cw">
                                      <p:cBhvr override="childStyle">
                                        <p:cTn id="18" dur="500" fill="hold"/>
                                        <p:tgtEl>
                                          <p:spTgt spid="39"/>
                                        </p:tgtEl>
                                        <p:attrNameLst>
                                          <p:attrName>style.color</p:attrName>
                                        </p:attrNameLst>
                                      </p:cBhvr>
                                      <p:to>
                                        <a:srgbClr val="FFFF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p:bldP spid="4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latin typeface="Times New Roman" panose="02020603050405020304" pitchFamily="18" charset="0"/>
                <a:cs typeface="Times New Roman" panose="02020603050405020304" pitchFamily="18" charset="0"/>
              </a:rPr>
              <a:t>http://crawlscript.github.io/WebCollector/</a:t>
            </a:r>
            <a:endParaRPr lang="zh-CN" altLang="en-US" sz="2800" dirty="0">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092" y="946820"/>
            <a:ext cx="10072602" cy="5375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灯片编号占位符 8"/>
          <p:cNvSpPr>
            <a:spLocks noGrp="1"/>
          </p:cNvSpPr>
          <p:nvPr>
            <p:ph type="sldNum" sz="quarter" idx="12"/>
          </p:nvPr>
        </p:nvSpPr>
        <p:spPr/>
        <p:txBody>
          <a:bodyPr/>
          <a:lstStyle/>
          <a:p>
            <a:pPr>
              <a:defRPr/>
            </a:pPr>
            <a:fld id="{73B3C56C-5700-4E55-BF40-61423C59FA56}" type="slidenum">
              <a:rPr lang="zh-CN" altLang="en-US" smtClean="0"/>
              <a:pPr>
                <a:defRPr/>
              </a:pPr>
              <a:t>50</a:t>
            </a:fld>
            <a:endParaRPr lang="zh-CN" altLang="en-US" dirty="0"/>
          </a:p>
        </p:txBody>
      </p:sp>
    </p:spTree>
    <p:extLst>
      <p:ext uri="{BB962C8B-B14F-4D97-AF65-F5344CB8AC3E}">
        <p14:creationId xmlns:p14="http://schemas.microsoft.com/office/powerpoint/2010/main" val="91668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458" y="0"/>
            <a:ext cx="1286817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64383" y="2446040"/>
            <a:ext cx="8964488"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http://www.oschina.net/news/59152/oschina-2014-new-project-top-100</a:t>
            </a:r>
            <a:endParaRPr lang="zh-CN" altLang="en-US" dirty="0"/>
          </a:p>
        </p:txBody>
      </p:sp>
      <p:sp>
        <p:nvSpPr>
          <p:cNvPr id="8" name="矩形 7"/>
          <p:cNvSpPr/>
          <p:nvPr/>
        </p:nvSpPr>
        <p:spPr>
          <a:xfrm>
            <a:off x="1619672" y="5661248"/>
            <a:ext cx="3888432" cy="5760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灯片编号占位符 11"/>
          <p:cNvSpPr>
            <a:spLocks noGrp="1"/>
          </p:cNvSpPr>
          <p:nvPr>
            <p:ph type="sldNum" sz="quarter" idx="12"/>
          </p:nvPr>
        </p:nvSpPr>
        <p:spPr/>
        <p:txBody>
          <a:bodyPr/>
          <a:lstStyle/>
          <a:p>
            <a:pPr>
              <a:defRPr/>
            </a:pPr>
            <a:fld id="{73B3C56C-5700-4E55-BF40-61423C59FA56}" type="slidenum">
              <a:rPr lang="zh-CN" altLang="en-US" smtClean="0"/>
              <a:pPr>
                <a:defRPr/>
              </a:pPr>
              <a:t>51</a:t>
            </a:fld>
            <a:endParaRPr lang="zh-CN" altLang="en-US" dirty="0"/>
          </a:p>
        </p:txBody>
      </p:sp>
    </p:spTree>
    <p:extLst>
      <p:ext uri="{BB962C8B-B14F-4D97-AF65-F5344CB8AC3E}">
        <p14:creationId xmlns:p14="http://schemas.microsoft.com/office/powerpoint/2010/main" val="15541884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itchFamily="18" charset="0"/>
                <a:ea typeface="黑体" pitchFamily="49" charset="-122"/>
                <a:sym typeface="Times New Roman" pitchFamily="18" charset="0"/>
              </a:rPr>
              <a:t>面向领域主题的</a:t>
            </a:r>
            <a:r>
              <a:rPr lang="en-US" altLang="zh-CN" dirty="0">
                <a:latin typeface="Times New Roman" pitchFamily="18" charset="0"/>
                <a:ea typeface="黑体" pitchFamily="49" charset="-122"/>
                <a:sym typeface="Times New Roman" pitchFamily="18" charset="0"/>
              </a:rPr>
              <a:t>Web</a:t>
            </a:r>
            <a:r>
              <a:rPr lang="zh-CN" altLang="en-US" dirty="0">
                <a:latin typeface="Times New Roman" pitchFamily="18" charset="0"/>
                <a:ea typeface="黑体" pitchFamily="49" charset="-122"/>
                <a:sym typeface="Times New Roman" pitchFamily="18" charset="0"/>
              </a:rPr>
              <a:t>新闻动态聚合工具</a:t>
            </a:r>
            <a:endParaRPr lang="zh-CN" altLang="en-US" dirty="0"/>
          </a:p>
        </p:txBody>
      </p:sp>
      <p:pic>
        <p:nvPicPr>
          <p:cNvPr id="7" name="_x0000_i1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035050"/>
            <a:ext cx="6410325" cy="530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灯片编号占位符 9"/>
          <p:cNvSpPr>
            <a:spLocks noGrp="1"/>
          </p:cNvSpPr>
          <p:nvPr>
            <p:ph type="sldNum" sz="quarter" idx="12"/>
          </p:nvPr>
        </p:nvSpPr>
        <p:spPr/>
        <p:txBody>
          <a:bodyPr/>
          <a:lstStyle/>
          <a:p>
            <a:pPr>
              <a:defRPr/>
            </a:pPr>
            <a:fld id="{73B3C56C-5700-4E55-BF40-61423C59FA56}" type="slidenum">
              <a:rPr lang="zh-CN" altLang="en-US" smtClean="0"/>
              <a:pPr>
                <a:defRPr/>
              </a:pPr>
              <a:t>52</a:t>
            </a:fld>
            <a:endParaRPr lang="zh-CN" altLang="en-US" dirty="0"/>
          </a:p>
        </p:txBody>
      </p:sp>
    </p:spTree>
    <p:extLst>
      <p:ext uri="{BB962C8B-B14F-4D97-AF65-F5344CB8AC3E}">
        <p14:creationId xmlns:p14="http://schemas.microsoft.com/office/powerpoint/2010/main" val="20429573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itchFamily="18" charset="0"/>
                <a:ea typeface="黑体" pitchFamily="49" charset="-122"/>
                <a:sym typeface="Times New Roman" pitchFamily="18" charset="0"/>
              </a:rPr>
              <a:t>面向领域主题的</a:t>
            </a:r>
            <a:r>
              <a:rPr lang="en-US" altLang="zh-CN" dirty="0">
                <a:latin typeface="Times New Roman" pitchFamily="18" charset="0"/>
                <a:ea typeface="黑体" pitchFamily="49" charset="-122"/>
                <a:sym typeface="Times New Roman" pitchFamily="18" charset="0"/>
              </a:rPr>
              <a:t>Web</a:t>
            </a:r>
            <a:r>
              <a:rPr lang="zh-CN" altLang="en-US" dirty="0">
                <a:latin typeface="Times New Roman" pitchFamily="18" charset="0"/>
                <a:ea typeface="黑体" pitchFamily="49" charset="-122"/>
                <a:sym typeface="Times New Roman" pitchFamily="18" charset="0"/>
              </a:rPr>
              <a:t>新闻动态聚合工具</a:t>
            </a:r>
            <a:endParaRPr lang="zh-CN" alt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70" y="1052513"/>
            <a:ext cx="7959725" cy="490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TextBox 8"/>
          <p:cNvSpPr>
            <a:spLocks noChangeArrowheads="1"/>
          </p:cNvSpPr>
          <p:nvPr/>
        </p:nvSpPr>
        <p:spPr bwMode="auto">
          <a:xfrm rot="2050597">
            <a:off x="5292725" y="2781300"/>
            <a:ext cx="3067050" cy="646113"/>
          </a:xfrm>
          <a:prstGeom prst="rect">
            <a:avLst/>
          </a:prstGeom>
          <a:solidFill>
            <a:srgbClr val="FFFFFF"/>
          </a:solidFill>
          <a:ln w="25400" cap="flat" cmpd="sng">
            <a:solidFill>
              <a:schemeClr val="accent2"/>
            </a:solidFill>
            <a:miter lim="800000"/>
            <a:headEnd/>
            <a:tailEnd/>
          </a:ln>
        </p:spPr>
        <p:txBody>
          <a:bodyPr>
            <a:spAutoFit/>
          </a:bodyPr>
          <a:lstStyle/>
          <a:p>
            <a:r>
              <a:rPr lang="zh-CN" altLang="en-US" sz="3600" b="1">
                <a:solidFill>
                  <a:srgbClr val="FF0000"/>
                </a:solidFill>
                <a:latin typeface="宋体" pitchFamily="2" charset="-122"/>
                <a:sym typeface="宋体" pitchFamily="2" charset="-122"/>
              </a:rPr>
              <a:t>学术新闻聚合</a:t>
            </a:r>
          </a:p>
        </p:txBody>
      </p:sp>
      <p:sp>
        <p:nvSpPr>
          <p:cNvPr id="11" name="灯片编号占位符 10"/>
          <p:cNvSpPr>
            <a:spLocks noGrp="1"/>
          </p:cNvSpPr>
          <p:nvPr>
            <p:ph type="sldNum" sz="quarter" idx="12"/>
          </p:nvPr>
        </p:nvSpPr>
        <p:spPr/>
        <p:txBody>
          <a:bodyPr/>
          <a:lstStyle/>
          <a:p>
            <a:pPr>
              <a:defRPr/>
            </a:pPr>
            <a:fld id="{73B3C56C-5700-4E55-BF40-61423C59FA56}" type="slidenum">
              <a:rPr lang="zh-CN" altLang="en-US" smtClean="0"/>
              <a:pPr>
                <a:defRPr/>
              </a:pPr>
              <a:t>53</a:t>
            </a:fld>
            <a:endParaRPr lang="zh-CN" altLang="en-US" dirty="0"/>
          </a:p>
        </p:txBody>
      </p:sp>
    </p:spTree>
    <p:extLst>
      <p:ext uri="{BB962C8B-B14F-4D97-AF65-F5344CB8AC3E}">
        <p14:creationId xmlns:p14="http://schemas.microsoft.com/office/powerpoint/2010/main" val="31278579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a:t>数据挖掘工具框架图</a:t>
            </a:r>
          </a:p>
        </p:txBody>
      </p:sp>
      <p:pic>
        <p:nvPicPr>
          <p:cNvPr id="8196" name="Picture 2" descr="D:\课题\863\惠农\框架_2014062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980728"/>
            <a:ext cx="6264696" cy="5193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7"/>
          <p:cNvSpPr>
            <a:spLocks noGrp="1"/>
          </p:cNvSpPr>
          <p:nvPr>
            <p:ph type="sldNum" sz="quarter" idx="12"/>
          </p:nvPr>
        </p:nvSpPr>
        <p:spPr/>
        <p:txBody>
          <a:bodyPr/>
          <a:lstStyle/>
          <a:p>
            <a:pPr>
              <a:defRPr/>
            </a:pPr>
            <a:fld id="{73B3C56C-5700-4E55-BF40-61423C59FA56}" type="slidenum">
              <a:rPr lang="zh-CN" altLang="en-US" smtClean="0"/>
              <a:pPr>
                <a:defRPr/>
              </a:pPr>
              <a:t>54</a:t>
            </a:fld>
            <a:endParaRPr lang="zh-CN" altLang="en-US" dirty="0"/>
          </a:p>
        </p:txBody>
      </p:sp>
    </p:spTree>
    <p:extLst>
      <p:ext uri="{BB962C8B-B14F-4D97-AF65-F5344CB8AC3E}">
        <p14:creationId xmlns:p14="http://schemas.microsoft.com/office/powerpoint/2010/main" val="26926906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latin typeface="Times New Roman" panose="02020603050405020304" pitchFamily="18" charset="0"/>
                <a:cs typeface="Times New Roman" panose="02020603050405020304" pitchFamily="18" charset="0"/>
              </a:rPr>
              <a:t>https://github.com/KittyWang/DMTool</a:t>
            </a:r>
            <a:endParaRPr lang="zh-CN" altLang="en-US" sz="2800" dirty="0">
              <a:latin typeface="Times New Roman" panose="02020603050405020304" pitchFamily="18" charset="0"/>
              <a:cs typeface="Times New Roman" panose="02020603050405020304"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602" y="961679"/>
            <a:ext cx="9937104" cy="5303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灯片编号占位符 8"/>
          <p:cNvSpPr>
            <a:spLocks noGrp="1"/>
          </p:cNvSpPr>
          <p:nvPr>
            <p:ph type="sldNum" sz="quarter" idx="12"/>
          </p:nvPr>
        </p:nvSpPr>
        <p:spPr/>
        <p:txBody>
          <a:bodyPr/>
          <a:lstStyle/>
          <a:p>
            <a:pPr>
              <a:defRPr/>
            </a:pPr>
            <a:fld id="{73B3C56C-5700-4E55-BF40-61423C59FA56}" type="slidenum">
              <a:rPr lang="zh-CN" altLang="en-US" smtClean="0"/>
              <a:pPr>
                <a:defRPr/>
              </a:pPr>
              <a:t>55</a:t>
            </a:fld>
            <a:endParaRPr lang="zh-CN" altLang="en-US" dirty="0"/>
          </a:p>
        </p:txBody>
      </p:sp>
    </p:spTree>
    <p:extLst>
      <p:ext uri="{BB962C8B-B14F-4D97-AF65-F5344CB8AC3E}">
        <p14:creationId xmlns:p14="http://schemas.microsoft.com/office/powerpoint/2010/main" val="1562274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latin typeface="Times New Roman" panose="02020603050405020304" pitchFamily="18" charset="0"/>
                <a:cs typeface="Times New Roman" panose="02020603050405020304" pitchFamily="18" charset="0"/>
              </a:rPr>
              <a:t>http://git.oschina.net/kptools/huinong</a:t>
            </a:r>
            <a:endParaRPr lang="zh-CN" altLang="en-US" sz="2800" dirty="0">
              <a:latin typeface="Times New Roman" panose="02020603050405020304" pitchFamily="18" charset="0"/>
              <a:cs typeface="Times New Roman" panose="02020603050405020304" pitchFamily="18" charset="0"/>
            </a:endParaRPr>
          </a:p>
        </p:txBody>
      </p:sp>
      <p:pic>
        <p:nvPicPr>
          <p:cNvPr id="112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568" y="938701"/>
            <a:ext cx="10153128" cy="5411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灯片编号占位符 8"/>
          <p:cNvSpPr>
            <a:spLocks noGrp="1"/>
          </p:cNvSpPr>
          <p:nvPr>
            <p:ph type="sldNum" sz="quarter" idx="12"/>
          </p:nvPr>
        </p:nvSpPr>
        <p:spPr/>
        <p:txBody>
          <a:bodyPr/>
          <a:lstStyle/>
          <a:p>
            <a:pPr>
              <a:defRPr/>
            </a:pPr>
            <a:fld id="{73B3C56C-5700-4E55-BF40-61423C59FA56}" type="slidenum">
              <a:rPr lang="zh-CN" altLang="en-US" smtClean="0"/>
              <a:pPr>
                <a:defRPr/>
              </a:pPr>
              <a:t>56</a:t>
            </a:fld>
            <a:endParaRPr lang="zh-CN" altLang="en-US" dirty="0"/>
          </a:p>
        </p:txBody>
      </p:sp>
    </p:spTree>
    <p:extLst>
      <p:ext uri="{BB962C8B-B14F-4D97-AF65-F5344CB8AC3E}">
        <p14:creationId xmlns:p14="http://schemas.microsoft.com/office/powerpoint/2010/main" val="5833787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989013"/>
            <a:ext cx="5472113"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标题 1"/>
          <p:cNvSpPr>
            <a:spLocks noGrp="1"/>
          </p:cNvSpPr>
          <p:nvPr>
            <p:ph type="title"/>
          </p:nvPr>
        </p:nvSpPr>
        <p:spPr>
          <a:xfrm>
            <a:off x="395288" y="188640"/>
            <a:ext cx="7772400" cy="576263"/>
          </a:xfrm>
        </p:spPr>
        <p:txBody>
          <a:bodyPr>
            <a:normAutofit fontScale="90000"/>
          </a:bodyPr>
          <a:lstStyle/>
          <a:p>
            <a:r>
              <a:rPr lang="zh-CN" altLang="en-US" sz="4000" dirty="0">
                <a:latin typeface="宋体" pitchFamily="2" charset="-122"/>
              </a:rPr>
              <a:t>多源海量数据</a:t>
            </a:r>
            <a:r>
              <a:rPr lang="en-US" altLang="zh-CN" sz="4000" dirty="0">
                <a:latin typeface="宋体" pitchFamily="2" charset="-122"/>
              </a:rPr>
              <a:t>/</a:t>
            </a:r>
            <a:r>
              <a:rPr lang="zh-CN" altLang="en-US" sz="4000" dirty="0">
                <a:latin typeface="宋体" pitchFamily="2" charset="-122"/>
              </a:rPr>
              <a:t>知识处理系统</a:t>
            </a:r>
            <a:endParaRPr lang="zh-CN" altLang="en-US" dirty="0"/>
          </a:p>
        </p:txBody>
      </p:sp>
      <p:sp>
        <p:nvSpPr>
          <p:cNvPr id="8" name="灯片编号占位符 7"/>
          <p:cNvSpPr>
            <a:spLocks noGrp="1"/>
          </p:cNvSpPr>
          <p:nvPr>
            <p:ph type="sldNum" sz="quarter" idx="12"/>
          </p:nvPr>
        </p:nvSpPr>
        <p:spPr/>
        <p:txBody>
          <a:bodyPr/>
          <a:lstStyle/>
          <a:p>
            <a:pPr>
              <a:defRPr/>
            </a:pPr>
            <a:fld id="{73B3C56C-5700-4E55-BF40-61423C59FA56}" type="slidenum">
              <a:rPr lang="zh-CN" altLang="en-US" smtClean="0"/>
              <a:pPr>
                <a:defRPr/>
              </a:pPr>
              <a:t>57</a:t>
            </a:fld>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extBox 1"/>
          <p:cNvSpPr txBox="1">
            <a:spLocks noChangeArrowheads="1"/>
          </p:cNvSpPr>
          <p:nvPr/>
        </p:nvSpPr>
        <p:spPr bwMode="auto">
          <a:xfrm>
            <a:off x="8169275" y="1100138"/>
            <a:ext cx="219075"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微软雅黑" pitchFamily="34" charset="-122"/>
                <a:ea typeface="微软雅黑" pitchFamily="34" charset="-122"/>
              </a:defRPr>
            </a:lvl1pPr>
            <a:lvl2pPr>
              <a:defRPr kumimoji="1" sz="2000">
                <a:solidFill>
                  <a:schemeClr val="tx1"/>
                </a:solidFill>
                <a:latin typeface="微软雅黑" pitchFamily="34" charset="-122"/>
                <a:ea typeface="微软雅黑" pitchFamily="34" charset="-122"/>
              </a:defRPr>
            </a:lvl2pPr>
            <a:lvl3pPr>
              <a:defRPr kumimoji="1" sz="2400">
                <a:solidFill>
                  <a:schemeClr val="tx1"/>
                </a:solidFill>
                <a:latin typeface="微软雅黑" pitchFamily="34" charset="-122"/>
                <a:ea typeface="微软雅黑" pitchFamily="34" charset="-122"/>
              </a:defRPr>
            </a:lvl3pPr>
            <a:lvl4pPr>
              <a:defRPr kumimoji="1" sz="1600">
                <a:solidFill>
                  <a:schemeClr val="tx1"/>
                </a:solidFill>
                <a:latin typeface="微软雅黑" pitchFamily="34" charset="-122"/>
                <a:ea typeface="微软雅黑" pitchFamily="34" charset="-122"/>
              </a:defRPr>
            </a:lvl4pPr>
            <a:lvl5pPr>
              <a:defRPr kumimoji="1" sz="1400">
                <a:solidFill>
                  <a:schemeClr val="tx1"/>
                </a:solidFill>
                <a:latin typeface="微软雅黑" pitchFamily="34" charset="-122"/>
                <a:ea typeface="微软雅黑" pitchFamily="34" charset="-122"/>
              </a:defRPr>
            </a:lvl5pPr>
            <a:lvl6pPr eaLnBrk="0" hangingPunct="0">
              <a:defRPr kumimoji="1" sz="1400">
                <a:solidFill>
                  <a:schemeClr val="tx1"/>
                </a:solidFill>
                <a:latin typeface="微软雅黑" pitchFamily="34" charset="-122"/>
                <a:ea typeface="微软雅黑" pitchFamily="34" charset="-122"/>
              </a:defRPr>
            </a:lvl6pPr>
            <a:lvl7pPr eaLnBrk="0" hangingPunct="0">
              <a:defRPr kumimoji="1" sz="1400">
                <a:solidFill>
                  <a:schemeClr val="tx1"/>
                </a:solidFill>
                <a:latin typeface="微软雅黑" pitchFamily="34" charset="-122"/>
                <a:ea typeface="微软雅黑" pitchFamily="34" charset="-122"/>
              </a:defRPr>
            </a:lvl7pPr>
            <a:lvl8pPr eaLnBrk="0" hangingPunct="0">
              <a:defRPr kumimoji="1" sz="1400">
                <a:solidFill>
                  <a:schemeClr val="tx1"/>
                </a:solidFill>
                <a:latin typeface="微软雅黑" pitchFamily="34" charset="-122"/>
                <a:ea typeface="微软雅黑" pitchFamily="34" charset="-122"/>
              </a:defRPr>
            </a:lvl8pPr>
            <a:lvl9pPr eaLnBrk="0" hangingPunct="0">
              <a:defRPr kumimoji="1" sz="1400">
                <a:solidFill>
                  <a:schemeClr val="tx1"/>
                </a:solidFill>
                <a:latin typeface="微软雅黑" pitchFamily="34" charset="-122"/>
                <a:ea typeface="微软雅黑" pitchFamily="34" charset="-122"/>
              </a:defRPr>
            </a:lvl9pPr>
          </a:lstStyle>
          <a:p>
            <a:pPr latinLnBrk="1">
              <a:lnSpc>
                <a:spcPct val="150000"/>
              </a:lnSpc>
            </a:pPr>
            <a:endParaRPr lang="en-US" altLang="zh-CN" sz="2400">
              <a:latin typeface="黑体" pitchFamily="49" charset="-122"/>
              <a:ea typeface="黑体" pitchFamily="49" charset="-122"/>
            </a:endParaRPr>
          </a:p>
        </p:txBody>
      </p:sp>
      <p:grpSp>
        <p:nvGrpSpPr>
          <p:cNvPr id="12293" name="组合 31"/>
          <p:cNvGrpSpPr>
            <a:grpSpLocks/>
          </p:cNvGrpSpPr>
          <p:nvPr/>
        </p:nvGrpSpPr>
        <p:grpSpPr bwMode="auto">
          <a:xfrm>
            <a:off x="971600" y="1201738"/>
            <a:ext cx="7307212" cy="4531517"/>
            <a:chOff x="2345532" y="1844824"/>
            <a:chExt cx="6491574" cy="3381596"/>
          </a:xfrm>
        </p:grpSpPr>
        <p:pic>
          <p:nvPicPr>
            <p:cNvPr id="12296" name="图片 2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24864" y="4388067"/>
              <a:ext cx="1512242" cy="37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7"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75547" y="2338405"/>
              <a:ext cx="1169780" cy="29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图片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098534" y="3013830"/>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图片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843234" y="3951093"/>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0" name="图片 4"/>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502834" y="2679939"/>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1" name="图片 6"/>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853715" y="3472074"/>
              <a:ext cx="1644062" cy="406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2" name="图片 7"/>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325573" y="3130898"/>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3" name="图片 8"/>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564624" y="3504733"/>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4" name="图片 9"/>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5665264" y="2268924"/>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5" name="图片 10"/>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4531731" y="1844824"/>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6" name="图片 11"/>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4843234" y="2661349"/>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7" name="图片 12"/>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5689387" y="4355113"/>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8" name="图片 13"/>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4675747" y="3053774"/>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9" name="图片 14"/>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20676" y="2657020"/>
              <a:ext cx="1322558" cy="33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0" name="图片 15"/>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4045327" y="4348117"/>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1" name="图片 16"/>
            <p:cNvPicPr>
              <a:picLocks noChangeAspect="1"/>
            </p:cNvPicPr>
            <p:nvPr/>
          </p:nvPicPr>
          <p:blipFill>
            <a:blip r:embed="rId18">
              <a:extLst>
                <a:ext uri="{28A0092B-C50C-407E-A947-70E740481C1C}">
                  <a14:useLocalDpi xmlns:a14="http://schemas.microsoft.com/office/drawing/2010/main" val="0"/>
                </a:ext>
              </a:extLst>
            </a:blip>
            <a:srcRect/>
            <a:stretch>
              <a:fillRect/>
            </a:stretch>
          </p:blipFill>
          <p:spPr bwMode="auto">
            <a:xfrm>
              <a:off x="3920564" y="2246005"/>
              <a:ext cx="1644060" cy="41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2" name="图片 17"/>
            <p:cNvPicPr>
              <a:picLocks noChangeAspect="1"/>
            </p:cNvPicPr>
            <p:nvPr/>
          </p:nvPicPr>
          <p:blipFill>
            <a:blip r:embed="rId19">
              <a:extLst>
                <a:ext uri="{28A0092B-C50C-407E-A947-70E740481C1C}">
                  <a14:useLocalDpi xmlns:a14="http://schemas.microsoft.com/office/drawing/2010/main" val="0"/>
                </a:ext>
              </a:extLst>
            </a:blip>
            <a:srcRect/>
            <a:stretch>
              <a:fillRect/>
            </a:stretch>
          </p:blipFill>
          <p:spPr bwMode="auto">
            <a:xfrm>
              <a:off x="3549713" y="3969126"/>
              <a:ext cx="1317644" cy="3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3" name="图片 18"/>
            <p:cNvPicPr>
              <a:picLocks noChangeAspect="1"/>
            </p:cNvPicPr>
            <p:nvPr/>
          </p:nvPicPr>
          <p:blipFill>
            <a:blip r:embed="rId20">
              <a:extLst>
                <a:ext uri="{28A0092B-C50C-407E-A947-70E740481C1C}">
                  <a14:useLocalDpi xmlns:a14="http://schemas.microsoft.com/office/drawing/2010/main" val="0"/>
                </a:ext>
              </a:extLst>
            </a:blip>
            <a:srcRect/>
            <a:stretch>
              <a:fillRect/>
            </a:stretch>
          </p:blipFill>
          <p:spPr bwMode="auto">
            <a:xfrm>
              <a:off x="6491473" y="4018706"/>
              <a:ext cx="1317644" cy="3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4" name="图片 19"/>
            <p:cNvPicPr>
              <a:picLocks noChangeAspect="1"/>
            </p:cNvPicPr>
            <p:nvPr/>
          </p:nvPicPr>
          <p:blipFill>
            <a:blip r:embed="rId21">
              <a:extLst>
                <a:ext uri="{28A0092B-C50C-407E-A947-70E740481C1C}">
                  <a14:useLocalDpi xmlns:a14="http://schemas.microsoft.com/office/drawing/2010/main" val="0"/>
                </a:ext>
              </a:extLst>
            </a:blip>
            <a:srcRect/>
            <a:stretch>
              <a:fillRect/>
            </a:stretch>
          </p:blipFill>
          <p:spPr bwMode="auto">
            <a:xfrm>
              <a:off x="3358102" y="1890424"/>
              <a:ext cx="1317644" cy="3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5" name="图片 20"/>
            <p:cNvPicPr>
              <a:picLocks noChangeAspect="1"/>
            </p:cNvPicPr>
            <p:nvPr/>
          </p:nvPicPr>
          <p:blipFill>
            <a:blip r:embed="rId22">
              <a:extLst>
                <a:ext uri="{28A0092B-C50C-407E-A947-70E740481C1C}">
                  <a14:useLocalDpi xmlns:a14="http://schemas.microsoft.com/office/drawing/2010/main" val="0"/>
                </a:ext>
              </a:extLst>
            </a:blip>
            <a:srcRect/>
            <a:stretch>
              <a:fillRect/>
            </a:stretch>
          </p:blipFill>
          <p:spPr bwMode="auto">
            <a:xfrm>
              <a:off x="2345532" y="4468324"/>
              <a:ext cx="1512242" cy="37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6" name="图片 22"/>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4874412" y="4820436"/>
              <a:ext cx="1512242" cy="37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7" name="图片 23"/>
            <p:cNvPicPr>
              <a:picLocks noChangeAspect="1"/>
            </p:cNvPicPr>
            <p:nvPr/>
          </p:nvPicPr>
          <p:blipFill>
            <a:blip r:embed="rId24">
              <a:extLst>
                <a:ext uri="{28A0092B-C50C-407E-A947-70E740481C1C}">
                  <a14:useLocalDpi xmlns:a14="http://schemas.microsoft.com/office/drawing/2010/main" val="0"/>
                </a:ext>
              </a:extLst>
            </a:blip>
            <a:srcRect/>
            <a:stretch>
              <a:fillRect/>
            </a:stretch>
          </p:blipFill>
          <p:spPr bwMode="auto">
            <a:xfrm>
              <a:off x="6007220" y="1905683"/>
              <a:ext cx="1317644" cy="3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8" name="图片 24"/>
            <p:cNvPicPr>
              <a:picLocks noChangeAspect="1"/>
            </p:cNvPicPr>
            <p:nvPr/>
          </p:nvPicPr>
          <p:blipFill>
            <a:blip r:embed="rId25">
              <a:extLst>
                <a:ext uri="{28A0092B-C50C-407E-A947-70E740481C1C}">
                  <a14:useLocalDpi xmlns:a14="http://schemas.microsoft.com/office/drawing/2010/main" val="0"/>
                </a:ext>
              </a:extLst>
            </a:blip>
            <a:srcRect/>
            <a:stretch>
              <a:fillRect/>
            </a:stretch>
          </p:blipFill>
          <p:spPr bwMode="auto">
            <a:xfrm>
              <a:off x="7280359" y="3481712"/>
              <a:ext cx="1512242" cy="37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9" name="图片 25"/>
            <p:cNvPicPr>
              <a:picLocks noChangeAspect="1"/>
            </p:cNvPicPr>
            <p:nvPr/>
          </p:nvPicPr>
          <p:blipFill>
            <a:blip r:embed="rId26">
              <a:extLst>
                <a:ext uri="{28A0092B-C50C-407E-A947-70E740481C1C}">
                  <a14:useLocalDpi xmlns:a14="http://schemas.microsoft.com/office/drawing/2010/main" val="0"/>
                </a:ext>
              </a:extLst>
            </a:blip>
            <a:srcRect/>
            <a:stretch>
              <a:fillRect/>
            </a:stretch>
          </p:blipFill>
          <p:spPr bwMode="auto">
            <a:xfrm>
              <a:off x="2366828" y="3515717"/>
              <a:ext cx="1512242" cy="37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0" name="图片 26"/>
            <p:cNvPicPr>
              <a:picLocks noChangeAspect="1"/>
            </p:cNvPicPr>
            <p:nvPr/>
          </p:nvPicPr>
          <p:blipFill>
            <a:blip r:embed="rId27">
              <a:extLst>
                <a:ext uri="{28A0092B-C50C-407E-A947-70E740481C1C}">
                  <a14:useLocalDpi xmlns:a14="http://schemas.microsoft.com/office/drawing/2010/main" val="0"/>
                </a:ext>
              </a:extLst>
            </a:blip>
            <a:srcRect/>
            <a:stretch>
              <a:fillRect/>
            </a:stretch>
          </p:blipFill>
          <p:spPr bwMode="auto">
            <a:xfrm>
              <a:off x="3425834" y="4846385"/>
              <a:ext cx="1512242" cy="37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1" name="图片 27"/>
            <p:cNvPicPr>
              <a:picLocks noChangeAspect="1"/>
            </p:cNvPicPr>
            <p:nvPr/>
          </p:nvPicPr>
          <p:blipFill>
            <a:blip r:embed="rId28">
              <a:extLst>
                <a:ext uri="{28A0092B-C50C-407E-A947-70E740481C1C}">
                  <a14:useLocalDpi xmlns:a14="http://schemas.microsoft.com/office/drawing/2010/main" val="0"/>
                </a:ext>
              </a:extLst>
            </a:blip>
            <a:srcRect/>
            <a:stretch>
              <a:fillRect/>
            </a:stretch>
          </p:blipFill>
          <p:spPr bwMode="auto">
            <a:xfrm>
              <a:off x="6351373" y="4848359"/>
              <a:ext cx="1512242" cy="37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5" name="标题 1"/>
          <p:cNvSpPr>
            <a:spLocks noGrp="1"/>
          </p:cNvSpPr>
          <p:nvPr>
            <p:ph type="title"/>
          </p:nvPr>
        </p:nvSpPr>
        <p:spPr>
          <a:xfrm>
            <a:off x="457200" y="124266"/>
            <a:ext cx="8229600" cy="660930"/>
          </a:xfrm>
        </p:spPr>
        <p:txBody>
          <a:bodyPr/>
          <a:lstStyle/>
          <a:p>
            <a:r>
              <a:rPr lang="zh-CN" altLang="en-US" dirty="0">
                <a:latin typeface="Times New Roman" panose="02020603050405020304" pitchFamily="18" charset="0"/>
                <a:cs typeface="Times New Roman" panose="02020603050405020304" pitchFamily="18" charset="0"/>
              </a:rPr>
              <a:t>慧农系统</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简介</a:t>
            </a:r>
          </a:p>
        </p:txBody>
      </p:sp>
      <p:sp>
        <p:nvSpPr>
          <p:cNvPr id="36" name="矩形 35"/>
          <p:cNvSpPr/>
          <p:nvPr/>
        </p:nvSpPr>
        <p:spPr>
          <a:xfrm>
            <a:off x="0" y="2751726"/>
            <a:ext cx="9144000" cy="11459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defRPr/>
            </a:pPr>
            <a:r>
              <a:rPr lang="zh-CN" altLang="en-US" sz="2400" dirty="0">
                <a:latin typeface="+mn-ea"/>
              </a:rPr>
              <a:t>不同网站发布信息的侧重点不一样</a:t>
            </a:r>
            <a:endParaRPr lang="en-US" altLang="zh-CN" sz="2400" dirty="0">
              <a:latin typeface="+mn-ea"/>
            </a:endParaRPr>
          </a:p>
          <a:p>
            <a:pPr algn="ctr">
              <a:lnSpc>
                <a:spcPct val="150000"/>
              </a:lnSpc>
              <a:defRPr/>
            </a:pPr>
            <a:r>
              <a:rPr lang="zh-CN" altLang="en-US" sz="2400" dirty="0">
                <a:latin typeface="+mn-ea"/>
              </a:rPr>
              <a:t>单一网站发布的农产品信息具有数据量少、数据稀疏的特点</a:t>
            </a:r>
            <a:endParaRPr lang="en-US" altLang="zh-CN" sz="2400" dirty="0">
              <a:latin typeface="+mn-ea"/>
            </a:endParaRPr>
          </a:p>
        </p:txBody>
      </p:sp>
      <p:sp>
        <p:nvSpPr>
          <p:cNvPr id="8" name="灯片编号占位符 7"/>
          <p:cNvSpPr>
            <a:spLocks noGrp="1"/>
          </p:cNvSpPr>
          <p:nvPr>
            <p:ph type="sldNum" sz="quarter" idx="12"/>
          </p:nvPr>
        </p:nvSpPr>
        <p:spPr/>
        <p:txBody>
          <a:bodyPr/>
          <a:lstStyle/>
          <a:p>
            <a:pPr>
              <a:defRPr/>
            </a:pPr>
            <a:fld id="{73B3C56C-5700-4E55-BF40-61423C59FA56}" type="slidenum">
              <a:rPr lang="zh-CN" altLang="en-US" smtClean="0"/>
              <a:pPr>
                <a:defRPr/>
              </a:pPr>
              <a:t>58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图片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418" y="927770"/>
            <a:ext cx="10155574" cy="54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p:cNvSpPr>
            <a:spLocks noGrp="1"/>
          </p:cNvSpPr>
          <p:nvPr>
            <p:ph type="title"/>
          </p:nvPr>
        </p:nvSpPr>
        <p:spPr>
          <a:xfrm>
            <a:off x="457200" y="124266"/>
            <a:ext cx="8229600" cy="660930"/>
          </a:xfrm>
        </p:spPr>
        <p:txBody>
          <a:bodyPr/>
          <a:lstStyle/>
          <a:p>
            <a:r>
              <a:rPr lang="zh-CN" altLang="en-US" dirty="0">
                <a:latin typeface="Times New Roman" panose="02020603050405020304" pitchFamily="18" charset="0"/>
                <a:cs typeface="Times New Roman" panose="02020603050405020304" pitchFamily="18" charset="0"/>
              </a:rPr>
              <a:t>慧农系统</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首页</a:t>
            </a:r>
          </a:p>
        </p:txBody>
      </p:sp>
      <p:sp>
        <p:nvSpPr>
          <p:cNvPr id="9" name="灯片编号占位符 8"/>
          <p:cNvSpPr>
            <a:spLocks noGrp="1"/>
          </p:cNvSpPr>
          <p:nvPr>
            <p:ph type="sldNum" sz="quarter" idx="12"/>
          </p:nvPr>
        </p:nvSpPr>
        <p:spPr/>
        <p:txBody>
          <a:bodyPr/>
          <a:lstStyle/>
          <a:p>
            <a:pPr>
              <a:defRPr/>
            </a:pPr>
            <a:fld id="{73B3C56C-5700-4E55-BF40-61423C59FA56}" type="slidenum">
              <a:rPr lang="zh-CN" altLang="en-US" smtClean="0"/>
              <a:pPr>
                <a:defRPr/>
              </a:pPr>
              <a:t>59</a:t>
            </a:fld>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p:txBody>
          <a:bodyPr/>
          <a:lstStyle/>
          <a:p>
            <a:r>
              <a:rPr lang="zh-CN" altLang="en-US" dirty="0"/>
              <a:t>普医系统</a:t>
            </a:r>
            <a:r>
              <a:rPr lang="en-US" altLang="zh-CN" dirty="0"/>
              <a:t>-</a:t>
            </a:r>
            <a:r>
              <a:rPr lang="zh-CN" altLang="en-US" dirty="0"/>
              <a:t>简介</a:t>
            </a:r>
          </a:p>
        </p:txBody>
      </p:sp>
      <p:sp>
        <p:nvSpPr>
          <p:cNvPr id="9228" name="Oval 12"/>
          <p:cNvSpPr>
            <a:spLocks noChangeArrowheads="1"/>
          </p:cNvSpPr>
          <p:nvPr/>
        </p:nvSpPr>
        <p:spPr bwMode="auto">
          <a:xfrm>
            <a:off x="2773363" y="1916113"/>
            <a:ext cx="2735262" cy="1873250"/>
          </a:xfrm>
          <a:prstGeom prst="ellipse">
            <a:avLst/>
          </a:prstGeom>
          <a:solidFill>
            <a:srgbClr val="0033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lstStyle/>
          <a:p>
            <a:pPr algn="ctr"/>
            <a:r>
              <a:rPr lang="zh-CN" altLang="en-US" sz="2800" b="1">
                <a:solidFill>
                  <a:schemeClr val="bg1"/>
                </a:solidFill>
                <a:ea typeface="宋体" pitchFamily="2" charset="-122"/>
              </a:rPr>
              <a:t>当前面临的医疗</a:t>
            </a:r>
          </a:p>
          <a:p>
            <a:pPr algn="ctr"/>
            <a:r>
              <a:rPr lang="zh-CN" altLang="en-US" sz="2800" b="1">
                <a:solidFill>
                  <a:schemeClr val="bg1"/>
                </a:solidFill>
                <a:ea typeface="宋体" pitchFamily="2" charset="-122"/>
              </a:rPr>
              <a:t>卫生服务问题</a:t>
            </a:r>
          </a:p>
        </p:txBody>
      </p:sp>
      <p:sp>
        <p:nvSpPr>
          <p:cNvPr id="9229" name="AutoShape 13"/>
          <p:cNvSpPr>
            <a:spLocks noChangeArrowheads="1"/>
          </p:cNvSpPr>
          <p:nvPr/>
        </p:nvSpPr>
        <p:spPr bwMode="auto">
          <a:xfrm>
            <a:off x="0" y="1196975"/>
            <a:ext cx="3563938" cy="863600"/>
          </a:xfrm>
          <a:prstGeom prst="cloudCallout">
            <a:avLst>
              <a:gd name="adj1" fmla="val 33829"/>
              <a:gd name="adj2" fmla="val 81616"/>
            </a:avLst>
          </a:prstGeom>
          <a:solidFill>
            <a:schemeClr val="accent1"/>
          </a:solidFill>
          <a:ln w="9525">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lstStyle/>
          <a:p>
            <a:pPr algn="ctr"/>
            <a:r>
              <a:rPr lang="zh-CN" altLang="en-US" sz="2800" b="1">
                <a:solidFill>
                  <a:schemeClr val="bg1"/>
                </a:solidFill>
                <a:latin typeface="仿宋_GB2312" pitchFamily="49" charset="-122"/>
                <a:ea typeface="仿宋_GB2312" pitchFamily="49" charset="-122"/>
              </a:rPr>
              <a:t>医疗费用高涨</a:t>
            </a:r>
          </a:p>
        </p:txBody>
      </p:sp>
      <p:sp>
        <p:nvSpPr>
          <p:cNvPr id="9230" name="AutoShape 14"/>
          <p:cNvSpPr>
            <a:spLocks noChangeArrowheads="1"/>
          </p:cNvSpPr>
          <p:nvPr/>
        </p:nvSpPr>
        <p:spPr bwMode="auto">
          <a:xfrm>
            <a:off x="4787900" y="1052513"/>
            <a:ext cx="4105275" cy="863600"/>
          </a:xfrm>
          <a:prstGeom prst="cloudCallout">
            <a:avLst>
              <a:gd name="adj1" fmla="val -41454"/>
              <a:gd name="adj2" fmla="val 81616"/>
            </a:avLst>
          </a:prstGeom>
          <a:solidFill>
            <a:schemeClr val="accent1"/>
          </a:solidFill>
          <a:ln w="9525">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lstStyle/>
          <a:p>
            <a:pPr algn="ctr"/>
            <a:r>
              <a:rPr lang="zh-CN" altLang="en-US" sz="2800" b="1">
                <a:solidFill>
                  <a:schemeClr val="bg1"/>
                </a:solidFill>
                <a:latin typeface="仿宋_GB2312" pitchFamily="49" charset="-122"/>
                <a:ea typeface="仿宋_GB2312" pitchFamily="49" charset="-122"/>
              </a:rPr>
              <a:t>慢性病患者增加</a:t>
            </a:r>
          </a:p>
        </p:txBody>
      </p:sp>
      <p:sp>
        <p:nvSpPr>
          <p:cNvPr id="9231" name="AutoShape 15"/>
          <p:cNvSpPr>
            <a:spLocks noChangeArrowheads="1"/>
          </p:cNvSpPr>
          <p:nvPr/>
        </p:nvSpPr>
        <p:spPr bwMode="auto">
          <a:xfrm>
            <a:off x="0" y="3213100"/>
            <a:ext cx="2879725" cy="863600"/>
          </a:xfrm>
          <a:prstGeom prst="cloudCallout">
            <a:avLst>
              <a:gd name="adj1" fmla="val 47190"/>
              <a:gd name="adj2" fmla="val -61398"/>
            </a:avLst>
          </a:prstGeom>
          <a:solidFill>
            <a:schemeClr val="accent1"/>
          </a:solidFill>
          <a:ln w="9525">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lstStyle/>
          <a:p>
            <a:pPr algn="ctr"/>
            <a:r>
              <a:rPr lang="zh-CN" altLang="en-US" sz="2800" b="1">
                <a:solidFill>
                  <a:schemeClr val="bg1"/>
                </a:solidFill>
                <a:latin typeface="仿宋_GB2312" pitchFamily="49" charset="-122"/>
                <a:ea typeface="仿宋_GB2312" pitchFamily="49" charset="-122"/>
              </a:rPr>
              <a:t>人口老龄化</a:t>
            </a:r>
          </a:p>
        </p:txBody>
      </p:sp>
      <p:sp>
        <p:nvSpPr>
          <p:cNvPr id="9232" name="AutoShape 16"/>
          <p:cNvSpPr>
            <a:spLocks noChangeArrowheads="1"/>
          </p:cNvSpPr>
          <p:nvPr/>
        </p:nvSpPr>
        <p:spPr bwMode="auto">
          <a:xfrm>
            <a:off x="5508625" y="3141663"/>
            <a:ext cx="3384550" cy="863600"/>
          </a:xfrm>
          <a:prstGeom prst="cloudCallout">
            <a:avLst>
              <a:gd name="adj1" fmla="val -49718"/>
              <a:gd name="adj2" fmla="val -82352"/>
            </a:avLst>
          </a:prstGeom>
          <a:solidFill>
            <a:schemeClr val="accent1"/>
          </a:solidFill>
          <a:ln w="9525">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lstStyle/>
          <a:p>
            <a:pPr algn="ctr"/>
            <a:r>
              <a:rPr lang="zh-CN" altLang="en-US" sz="2800" b="1">
                <a:solidFill>
                  <a:schemeClr val="bg1"/>
                </a:solidFill>
                <a:latin typeface="仿宋_GB2312" pitchFamily="49" charset="-122"/>
                <a:ea typeface="仿宋_GB2312" pitchFamily="49" charset="-122"/>
              </a:rPr>
              <a:t>医患矛盾突出</a:t>
            </a:r>
          </a:p>
        </p:txBody>
      </p:sp>
      <p:sp>
        <p:nvSpPr>
          <p:cNvPr id="9233" name="AutoShape 17"/>
          <p:cNvSpPr>
            <a:spLocks noChangeArrowheads="1"/>
          </p:cNvSpPr>
          <p:nvPr/>
        </p:nvSpPr>
        <p:spPr bwMode="auto">
          <a:xfrm>
            <a:off x="2700338" y="4149725"/>
            <a:ext cx="3455987" cy="1223963"/>
          </a:xfrm>
          <a:prstGeom prst="cloudCallout">
            <a:avLst>
              <a:gd name="adj1" fmla="val -5625"/>
              <a:gd name="adj2" fmla="val -81389"/>
            </a:avLst>
          </a:prstGeom>
          <a:solidFill>
            <a:schemeClr val="accent1"/>
          </a:solidFill>
          <a:ln w="9525">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lstStyle/>
          <a:p>
            <a:pPr algn="ctr"/>
            <a:r>
              <a:rPr lang="zh-CN" altLang="en-US" sz="2800" b="1">
                <a:solidFill>
                  <a:schemeClr val="bg1"/>
                </a:solidFill>
                <a:latin typeface="仿宋_GB2312" pitchFamily="49" charset="-122"/>
                <a:ea typeface="仿宋_GB2312" pitchFamily="49" charset="-122"/>
              </a:rPr>
              <a:t>医疗服务质量亟待改善</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28"/>
                                        </p:tgtEl>
                                        <p:attrNameLst>
                                          <p:attrName>style.visibility</p:attrName>
                                        </p:attrNameLst>
                                      </p:cBhvr>
                                      <p:to>
                                        <p:strVal val="visible"/>
                                      </p:to>
                                    </p:set>
                                    <p:animEffect transition="in" filter="box(in)">
                                      <p:cBhvr>
                                        <p:cTn id="7" dur="500"/>
                                        <p:tgtEl>
                                          <p:spTgt spid="92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229"/>
                                        </p:tgtEl>
                                        <p:attrNameLst>
                                          <p:attrName>style.visibility</p:attrName>
                                        </p:attrNameLst>
                                      </p:cBhvr>
                                      <p:to>
                                        <p:strVal val="visible"/>
                                      </p:to>
                                    </p:set>
                                    <p:anim calcmode="lin" valueType="num">
                                      <p:cBhvr additive="base">
                                        <p:cTn id="12" dur="500" fill="hold"/>
                                        <p:tgtEl>
                                          <p:spTgt spid="9229"/>
                                        </p:tgtEl>
                                        <p:attrNameLst>
                                          <p:attrName>ppt_x</p:attrName>
                                        </p:attrNameLst>
                                      </p:cBhvr>
                                      <p:tavLst>
                                        <p:tav tm="0">
                                          <p:val>
                                            <p:strVal val="#ppt_x"/>
                                          </p:val>
                                        </p:tav>
                                        <p:tav tm="100000">
                                          <p:val>
                                            <p:strVal val="#ppt_x"/>
                                          </p:val>
                                        </p:tav>
                                      </p:tavLst>
                                    </p:anim>
                                    <p:anim calcmode="lin" valueType="num">
                                      <p:cBhvr additive="base">
                                        <p:cTn id="13" dur="500" fill="hold"/>
                                        <p:tgtEl>
                                          <p:spTgt spid="9229"/>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9230"/>
                                        </p:tgtEl>
                                        <p:attrNameLst>
                                          <p:attrName>style.visibility</p:attrName>
                                        </p:attrNameLst>
                                      </p:cBhvr>
                                      <p:to>
                                        <p:strVal val="visible"/>
                                      </p:to>
                                    </p:set>
                                    <p:animEffect transition="in" filter="diamond(in)">
                                      <p:cBhvr>
                                        <p:cTn id="18" dur="2000"/>
                                        <p:tgtEl>
                                          <p:spTgt spid="92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9231"/>
                                        </p:tgtEl>
                                        <p:attrNameLst>
                                          <p:attrName>style.visibility</p:attrName>
                                        </p:attrNameLst>
                                      </p:cBhvr>
                                      <p:to>
                                        <p:strVal val="visible"/>
                                      </p:to>
                                    </p:set>
                                    <p:animEffect transition="in" filter="checkerboard(across)">
                                      <p:cBhvr>
                                        <p:cTn id="23" dur="500"/>
                                        <p:tgtEl>
                                          <p:spTgt spid="923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9232"/>
                                        </p:tgtEl>
                                        <p:attrNameLst>
                                          <p:attrName>style.visibility</p:attrName>
                                        </p:attrNameLst>
                                      </p:cBhvr>
                                      <p:to>
                                        <p:strVal val="visible"/>
                                      </p:to>
                                    </p:set>
                                    <p:animEffect transition="in" filter="blinds(horizontal)">
                                      <p:cBhvr>
                                        <p:cTn id="28" dur="500"/>
                                        <p:tgtEl>
                                          <p:spTgt spid="923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9233"/>
                                        </p:tgtEl>
                                        <p:attrNameLst>
                                          <p:attrName>style.visibility</p:attrName>
                                        </p:attrNameLst>
                                      </p:cBhvr>
                                      <p:to>
                                        <p:strVal val="visible"/>
                                      </p:to>
                                    </p:set>
                                    <p:anim calcmode="lin" valueType="num">
                                      <p:cBhvr additive="base">
                                        <p:cTn id="33" dur="500" fill="hold"/>
                                        <p:tgtEl>
                                          <p:spTgt spid="9233"/>
                                        </p:tgtEl>
                                        <p:attrNameLst>
                                          <p:attrName>ppt_x</p:attrName>
                                        </p:attrNameLst>
                                      </p:cBhvr>
                                      <p:tavLst>
                                        <p:tav tm="0">
                                          <p:val>
                                            <p:strVal val="#ppt_x"/>
                                          </p:val>
                                        </p:tav>
                                        <p:tav tm="100000">
                                          <p:val>
                                            <p:strVal val="#ppt_x"/>
                                          </p:val>
                                        </p:tav>
                                      </p:tavLst>
                                    </p:anim>
                                    <p:anim calcmode="lin" valueType="num">
                                      <p:cBhvr additive="base">
                                        <p:cTn id="34" dur="500" fill="hold"/>
                                        <p:tgtEl>
                                          <p:spTgt spid="92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8" grpId="0" animBg="1"/>
      <p:bldP spid="9229" grpId="0" animBg="1"/>
      <p:bldP spid="9230" grpId="0" animBg="1"/>
      <p:bldP spid="9231" grpId="0" animBg="1"/>
      <p:bldP spid="9232" grpId="0" animBg="1"/>
      <p:bldP spid="923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r>
              <a:rPr lang="zh-CN" altLang="en-US" dirty="0"/>
              <a:t>普医系统</a:t>
            </a:r>
            <a:r>
              <a:rPr lang="en-US" altLang="zh-CN" dirty="0"/>
              <a:t>-</a:t>
            </a:r>
            <a:r>
              <a:rPr lang="zh-CN" altLang="en-US" dirty="0"/>
              <a:t>简介</a:t>
            </a:r>
          </a:p>
        </p:txBody>
      </p:sp>
      <p:sp>
        <p:nvSpPr>
          <p:cNvPr id="10" name="椭圆 9"/>
          <p:cNvSpPr/>
          <p:nvPr/>
        </p:nvSpPr>
        <p:spPr>
          <a:xfrm rot="1556331">
            <a:off x="2506865" y="1653726"/>
            <a:ext cx="3558149" cy="2533942"/>
          </a:xfrm>
          <a:prstGeom prst="ellipse">
            <a:avLst/>
          </a:prstGeom>
          <a:noFill/>
          <a:ln w="76200">
            <a:solidFill>
              <a:schemeClr val="accent3">
                <a:lumMod val="75000"/>
              </a:schemeClr>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1" name="组合 10"/>
          <p:cNvGrpSpPr>
            <a:grpSpLocks/>
          </p:cNvGrpSpPr>
          <p:nvPr/>
        </p:nvGrpSpPr>
        <p:grpSpPr bwMode="auto">
          <a:xfrm>
            <a:off x="5497513" y="2436813"/>
            <a:ext cx="909637" cy="920750"/>
            <a:chOff x="5870575" y="2880564"/>
            <a:chExt cx="757238" cy="764435"/>
          </a:xfrm>
        </p:grpSpPr>
        <p:grpSp>
          <p:nvGrpSpPr>
            <p:cNvPr id="9255" name="组合 41"/>
            <p:cNvGrpSpPr>
              <a:grpSpLocks noChangeAspect="1"/>
            </p:cNvGrpSpPr>
            <p:nvPr/>
          </p:nvGrpSpPr>
          <p:grpSpPr bwMode="auto">
            <a:xfrm>
              <a:off x="5870575" y="2880564"/>
              <a:ext cx="757238" cy="764435"/>
              <a:chOff x="2758842" y="1987456"/>
              <a:chExt cx="1376596" cy="1389621"/>
            </a:xfrm>
          </p:grpSpPr>
          <p:sp>
            <p:nvSpPr>
              <p:cNvPr id="14" name="椭圆 13"/>
              <p:cNvSpPr>
                <a:spLocks noChangeAspect="1"/>
              </p:cNvSpPr>
              <p:nvPr/>
            </p:nvSpPr>
            <p:spPr bwMode="auto">
              <a:xfrm>
                <a:off x="2758842" y="2004227"/>
                <a:ext cx="1376596" cy="1372850"/>
              </a:xfrm>
              <a:prstGeom prst="ellipse">
                <a:avLst/>
              </a:prstGeom>
              <a:gradFill rotWithShape="1">
                <a:gsLst>
                  <a:gs pos="0">
                    <a:schemeClr val="bg2"/>
                  </a:gs>
                  <a:gs pos="100000">
                    <a:schemeClr val="bg2">
                      <a:gamma/>
                      <a:shade val="46275"/>
                      <a:invGamma/>
                    </a:schemeClr>
                  </a:gs>
                </a:gsLst>
                <a:lin ang="2700000" scaled="1"/>
              </a:gradFill>
              <a:ln w="9525" algn="ctr">
                <a:noFill/>
                <a:round/>
                <a:headEnd/>
                <a:tailEnd/>
              </a:ln>
            </p:spPr>
            <p:txBody>
              <a:bodyPr anchor="ctr"/>
              <a:lstStyle/>
              <a:p>
                <a:pPr fontAlgn="auto">
                  <a:spcBef>
                    <a:spcPts val="0"/>
                  </a:spcBef>
                  <a:spcAft>
                    <a:spcPts val="0"/>
                  </a:spcAft>
                  <a:defRPr/>
                </a:pPr>
                <a:endParaRPr lang="zh-CN" altLang="en-US" sz="1800">
                  <a:latin typeface="+mn-lt"/>
                  <a:ea typeface="+mn-ea"/>
                  <a:cs typeface="+mn-ea"/>
                  <a:sym typeface="+mn-lt"/>
                </a:endParaRPr>
              </a:p>
            </p:txBody>
          </p:sp>
          <p:sp>
            <p:nvSpPr>
              <p:cNvPr id="15" name="椭圆 117"/>
              <p:cNvSpPr>
                <a:spLocks noChangeAspect="1"/>
              </p:cNvSpPr>
              <p:nvPr/>
            </p:nvSpPr>
            <p:spPr bwMode="auto">
              <a:xfrm>
                <a:off x="2802086" y="1987456"/>
                <a:ext cx="1177194" cy="1178782"/>
              </a:xfrm>
              <a:prstGeom prst="ellipse">
                <a:avLst/>
              </a:prstGeom>
              <a:solidFill>
                <a:srgbClr val="006699"/>
              </a:solidFill>
              <a:ln w="25400" algn="ctr">
                <a:solidFill>
                  <a:schemeClr val="bg1"/>
                </a:solidFill>
                <a:round/>
                <a:headEnd/>
                <a:tailEnd/>
              </a:ln>
            </p:spPr>
            <p:txBody>
              <a:bodyPr anchor="ctr"/>
              <a:lstStyle/>
              <a:p>
                <a:pPr algn="ctr">
                  <a:defRPr/>
                </a:pPr>
                <a:endParaRPr lang="zh-CN" altLang="en-US" sz="1800">
                  <a:solidFill>
                    <a:srgbClr val="FFFFFF"/>
                  </a:solidFill>
                  <a:latin typeface="+mn-lt"/>
                  <a:ea typeface="+mn-ea"/>
                  <a:cs typeface="+mn-ea"/>
                  <a:sym typeface="+mn-lt"/>
                </a:endParaRPr>
              </a:p>
            </p:txBody>
          </p:sp>
        </p:grpSp>
        <p:sp>
          <p:nvSpPr>
            <p:cNvPr id="13" name="Rectangle 26"/>
            <p:cNvSpPr>
              <a:spLocks noChangeArrowheads="1"/>
            </p:cNvSpPr>
            <p:nvPr/>
          </p:nvSpPr>
          <p:spPr bwMode="auto">
            <a:xfrm>
              <a:off x="5981584" y="2978095"/>
              <a:ext cx="543150" cy="523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ctr">
                <a:defRPr/>
              </a:pPr>
              <a:r>
                <a:rPr lang="zh-CN" altLang="en-US" sz="1400" dirty="0">
                  <a:solidFill>
                    <a:schemeClr val="bg1"/>
                  </a:solidFill>
                  <a:latin typeface="+mn-lt"/>
                  <a:ea typeface="+mn-ea"/>
                  <a:cs typeface="+mn-ea"/>
                  <a:sym typeface="+mn-lt"/>
                </a:rPr>
                <a:t>参与</a:t>
              </a:r>
              <a:br>
                <a:rPr lang="en-US" altLang="zh-CN" sz="1400" dirty="0">
                  <a:solidFill>
                    <a:schemeClr val="bg1"/>
                  </a:solidFill>
                  <a:latin typeface="+mn-lt"/>
                  <a:ea typeface="+mn-ea"/>
                  <a:cs typeface="+mn-ea"/>
                  <a:sym typeface="+mn-lt"/>
                </a:rPr>
              </a:br>
              <a:r>
                <a:rPr lang="zh-CN" altLang="en-US" sz="1400" dirty="0">
                  <a:solidFill>
                    <a:schemeClr val="bg1"/>
                  </a:solidFill>
                  <a:latin typeface="+mn-lt"/>
                  <a:ea typeface="+mn-ea"/>
                  <a:cs typeface="+mn-ea"/>
                  <a:sym typeface="+mn-lt"/>
                </a:rPr>
                <a:t>医学</a:t>
              </a:r>
              <a:endParaRPr lang="en-US" altLang="zh-CN" sz="1400" dirty="0">
                <a:solidFill>
                  <a:schemeClr val="bg1"/>
                </a:solidFill>
                <a:latin typeface="+mn-lt"/>
                <a:ea typeface="+mn-ea"/>
                <a:cs typeface="+mn-ea"/>
                <a:sym typeface="+mn-lt"/>
              </a:endParaRPr>
            </a:p>
          </p:txBody>
        </p:sp>
      </p:grpSp>
      <p:grpSp>
        <p:nvGrpSpPr>
          <p:cNvPr id="16" name="组合 15"/>
          <p:cNvGrpSpPr>
            <a:grpSpLocks/>
          </p:cNvGrpSpPr>
          <p:nvPr/>
        </p:nvGrpSpPr>
        <p:grpSpPr bwMode="auto">
          <a:xfrm>
            <a:off x="2201863" y="2446338"/>
            <a:ext cx="998537" cy="912812"/>
            <a:chOff x="2422839" y="2889348"/>
            <a:chExt cx="780736" cy="757238"/>
          </a:xfrm>
        </p:grpSpPr>
        <p:grpSp>
          <p:nvGrpSpPr>
            <p:cNvPr id="9251" name="组合 24"/>
            <p:cNvGrpSpPr>
              <a:grpSpLocks noChangeAspect="1"/>
            </p:cNvGrpSpPr>
            <p:nvPr/>
          </p:nvGrpSpPr>
          <p:grpSpPr bwMode="auto">
            <a:xfrm>
              <a:off x="2446338" y="2889348"/>
              <a:ext cx="757237" cy="757238"/>
              <a:chOff x="2759075" y="2002300"/>
              <a:chExt cx="1377456" cy="1375900"/>
            </a:xfrm>
          </p:grpSpPr>
          <p:sp>
            <p:nvSpPr>
              <p:cNvPr id="19" name="椭圆 18"/>
              <p:cNvSpPr>
                <a:spLocks noChangeAspect="1"/>
              </p:cNvSpPr>
              <p:nvPr/>
            </p:nvSpPr>
            <p:spPr bwMode="auto">
              <a:xfrm>
                <a:off x="2759229" y="2002300"/>
                <a:ext cx="1377302" cy="1375900"/>
              </a:xfrm>
              <a:prstGeom prst="ellipse">
                <a:avLst/>
              </a:prstGeom>
              <a:gradFill rotWithShape="1">
                <a:gsLst>
                  <a:gs pos="0">
                    <a:schemeClr val="bg2"/>
                  </a:gs>
                  <a:gs pos="100000">
                    <a:schemeClr val="bg2">
                      <a:gamma/>
                      <a:shade val="46275"/>
                      <a:invGamma/>
                    </a:schemeClr>
                  </a:gs>
                </a:gsLst>
                <a:lin ang="2700000" scaled="1"/>
              </a:gradFill>
              <a:ln w="9525" algn="ctr">
                <a:noFill/>
                <a:round/>
                <a:headEnd/>
                <a:tailEnd/>
              </a:ln>
            </p:spPr>
            <p:txBody>
              <a:bodyPr anchor="ctr"/>
              <a:lstStyle/>
              <a:p>
                <a:pPr fontAlgn="auto">
                  <a:spcBef>
                    <a:spcPts val="0"/>
                  </a:spcBef>
                  <a:spcAft>
                    <a:spcPts val="0"/>
                  </a:spcAft>
                  <a:defRPr/>
                </a:pPr>
                <a:endParaRPr lang="zh-CN" altLang="en-US" sz="1800">
                  <a:latin typeface="+mn-lt"/>
                  <a:ea typeface="+mn-ea"/>
                  <a:cs typeface="+mn-ea"/>
                  <a:sym typeface="+mn-lt"/>
                </a:endParaRPr>
              </a:p>
            </p:txBody>
          </p:sp>
          <p:sp>
            <p:nvSpPr>
              <p:cNvPr id="20" name="椭圆 117"/>
              <p:cNvSpPr>
                <a:spLocks noChangeAspect="1"/>
              </p:cNvSpPr>
              <p:nvPr/>
            </p:nvSpPr>
            <p:spPr bwMode="auto">
              <a:xfrm>
                <a:off x="2842771" y="2042978"/>
                <a:ext cx="1176351" cy="1177292"/>
              </a:xfrm>
              <a:prstGeom prst="ellipse">
                <a:avLst/>
              </a:prstGeom>
              <a:solidFill>
                <a:srgbClr val="006699"/>
              </a:solidFill>
              <a:ln w="25400" algn="ctr">
                <a:solidFill>
                  <a:schemeClr val="bg1"/>
                </a:solidFill>
                <a:round/>
                <a:headEnd/>
                <a:tailEnd/>
              </a:ln>
            </p:spPr>
            <p:txBody>
              <a:bodyPr anchor="ctr"/>
              <a:lstStyle/>
              <a:p>
                <a:pPr algn="ctr">
                  <a:defRPr/>
                </a:pPr>
                <a:endParaRPr lang="zh-CN" altLang="en-US" sz="1800">
                  <a:solidFill>
                    <a:srgbClr val="FFFFFF"/>
                  </a:solidFill>
                  <a:latin typeface="+mn-lt"/>
                  <a:ea typeface="+mn-ea"/>
                  <a:cs typeface="+mn-ea"/>
                  <a:sym typeface="+mn-lt"/>
                </a:endParaRPr>
              </a:p>
            </p:txBody>
          </p:sp>
        </p:grpSp>
        <p:sp>
          <p:nvSpPr>
            <p:cNvPr id="18" name="Rectangle 26"/>
            <p:cNvSpPr>
              <a:spLocks noChangeArrowheads="1"/>
            </p:cNvSpPr>
            <p:nvPr/>
          </p:nvSpPr>
          <p:spPr bwMode="auto">
            <a:xfrm>
              <a:off x="2422839" y="2992069"/>
              <a:ext cx="723639" cy="52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ctr">
                <a:defRPr/>
              </a:pPr>
              <a:r>
                <a:rPr lang="zh-CN" altLang="en-US" sz="1400" dirty="0">
                  <a:solidFill>
                    <a:schemeClr val="bg1"/>
                  </a:solidFill>
                  <a:latin typeface="+mn-lt"/>
                  <a:ea typeface="+mn-ea"/>
                  <a:cs typeface="+mn-ea"/>
                  <a:sym typeface="+mn-lt"/>
                </a:rPr>
                <a:t>个性化</a:t>
              </a:r>
              <a:br>
                <a:rPr lang="en-US" altLang="zh-CN" sz="1400" dirty="0">
                  <a:solidFill>
                    <a:schemeClr val="bg1"/>
                  </a:solidFill>
                  <a:latin typeface="+mn-lt"/>
                  <a:ea typeface="+mn-ea"/>
                  <a:cs typeface="+mn-ea"/>
                  <a:sym typeface="+mn-lt"/>
                </a:rPr>
              </a:br>
              <a:r>
                <a:rPr lang="zh-CN" altLang="en-US" sz="1400" dirty="0">
                  <a:solidFill>
                    <a:schemeClr val="bg1"/>
                  </a:solidFill>
                  <a:latin typeface="+mn-lt"/>
                  <a:ea typeface="+mn-ea"/>
                  <a:cs typeface="+mn-ea"/>
                  <a:sym typeface="+mn-lt"/>
                </a:rPr>
                <a:t>医学</a:t>
              </a:r>
              <a:endParaRPr lang="en-US" altLang="zh-CN" sz="1400" dirty="0">
                <a:solidFill>
                  <a:schemeClr val="bg1"/>
                </a:solidFill>
                <a:latin typeface="+mn-lt"/>
                <a:ea typeface="+mn-ea"/>
                <a:cs typeface="+mn-ea"/>
                <a:sym typeface="+mn-lt"/>
              </a:endParaRPr>
            </a:p>
          </p:txBody>
        </p:sp>
      </p:grpSp>
      <p:grpSp>
        <p:nvGrpSpPr>
          <p:cNvPr id="21" name="组合 20"/>
          <p:cNvGrpSpPr>
            <a:grpSpLocks/>
          </p:cNvGrpSpPr>
          <p:nvPr/>
        </p:nvGrpSpPr>
        <p:grpSpPr bwMode="auto">
          <a:xfrm>
            <a:off x="3302000" y="1069975"/>
            <a:ext cx="954088" cy="1011238"/>
            <a:chOff x="3186113" y="1489173"/>
            <a:chExt cx="757237" cy="824385"/>
          </a:xfrm>
        </p:grpSpPr>
        <p:grpSp>
          <p:nvGrpSpPr>
            <p:cNvPr id="9247" name="组合 28"/>
            <p:cNvGrpSpPr>
              <a:grpSpLocks noChangeAspect="1"/>
            </p:cNvGrpSpPr>
            <p:nvPr/>
          </p:nvGrpSpPr>
          <p:grpSpPr bwMode="auto">
            <a:xfrm>
              <a:off x="3186113" y="1489173"/>
              <a:ext cx="757237" cy="755650"/>
              <a:chOff x="2759077" y="2003425"/>
              <a:chExt cx="1376825" cy="1374837"/>
            </a:xfrm>
          </p:grpSpPr>
          <p:sp>
            <p:nvSpPr>
              <p:cNvPr id="24" name="椭圆 23"/>
              <p:cNvSpPr>
                <a:spLocks noChangeAspect="1"/>
              </p:cNvSpPr>
              <p:nvPr/>
            </p:nvSpPr>
            <p:spPr bwMode="auto">
              <a:xfrm>
                <a:off x="2759077" y="2003425"/>
                <a:ext cx="1376825" cy="1375098"/>
              </a:xfrm>
              <a:prstGeom prst="ellipse">
                <a:avLst/>
              </a:prstGeom>
              <a:gradFill rotWithShape="1">
                <a:gsLst>
                  <a:gs pos="0">
                    <a:schemeClr val="bg2"/>
                  </a:gs>
                  <a:gs pos="100000">
                    <a:schemeClr val="bg2">
                      <a:gamma/>
                      <a:shade val="46275"/>
                      <a:invGamma/>
                    </a:schemeClr>
                  </a:gs>
                </a:gsLst>
                <a:lin ang="2700000" scaled="1"/>
              </a:gradFill>
              <a:ln w="9525" algn="ctr">
                <a:noFill/>
                <a:round/>
                <a:headEnd/>
                <a:tailEnd/>
              </a:ln>
            </p:spPr>
            <p:txBody>
              <a:bodyPr anchor="ctr"/>
              <a:lstStyle/>
              <a:p>
                <a:pPr fontAlgn="auto">
                  <a:spcBef>
                    <a:spcPts val="0"/>
                  </a:spcBef>
                  <a:spcAft>
                    <a:spcPts val="0"/>
                  </a:spcAft>
                  <a:defRPr/>
                </a:pPr>
                <a:endParaRPr lang="zh-CN" altLang="en-US" sz="1800">
                  <a:latin typeface="+mn-lt"/>
                  <a:ea typeface="+mn-ea"/>
                  <a:cs typeface="+mn-ea"/>
                  <a:sym typeface="+mn-lt"/>
                </a:endParaRPr>
              </a:p>
            </p:txBody>
          </p:sp>
          <p:sp>
            <p:nvSpPr>
              <p:cNvPr id="25" name="椭圆 117"/>
              <p:cNvSpPr>
                <a:spLocks noChangeAspect="1"/>
              </p:cNvSpPr>
              <p:nvPr/>
            </p:nvSpPr>
            <p:spPr bwMode="auto">
              <a:xfrm>
                <a:off x="2784278" y="2012843"/>
                <a:ext cx="1177517" cy="1177310"/>
              </a:xfrm>
              <a:prstGeom prst="ellipse">
                <a:avLst/>
              </a:prstGeom>
              <a:solidFill>
                <a:srgbClr val="006699"/>
              </a:solidFill>
              <a:ln w="25400" algn="ctr">
                <a:solidFill>
                  <a:schemeClr val="bg1"/>
                </a:solidFill>
                <a:round/>
                <a:headEnd/>
                <a:tailEnd/>
              </a:ln>
            </p:spPr>
            <p:txBody>
              <a:bodyPr anchor="ctr"/>
              <a:lstStyle/>
              <a:p>
                <a:pPr algn="ctr">
                  <a:defRPr/>
                </a:pPr>
                <a:endParaRPr lang="zh-CN" altLang="en-US" sz="1800">
                  <a:solidFill>
                    <a:srgbClr val="FFFFFF"/>
                  </a:solidFill>
                  <a:latin typeface="+mn-lt"/>
                  <a:ea typeface="+mn-ea"/>
                  <a:cs typeface="+mn-ea"/>
                  <a:sym typeface="+mn-lt"/>
                </a:endParaRPr>
              </a:p>
            </p:txBody>
          </p:sp>
        </p:grpSp>
        <p:sp>
          <p:nvSpPr>
            <p:cNvPr id="23" name="Rectangle 26"/>
            <p:cNvSpPr>
              <a:spLocks noChangeArrowheads="1"/>
            </p:cNvSpPr>
            <p:nvPr/>
          </p:nvSpPr>
          <p:spPr bwMode="auto">
            <a:xfrm>
              <a:off x="3284390" y="1574588"/>
              <a:ext cx="543044" cy="738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ctr">
                <a:defRPr/>
              </a:pPr>
              <a:r>
                <a:rPr lang="zh-CN" altLang="en-US" sz="1400" dirty="0">
                  <a:solidFill>
                    <a:schemeClr val="bg1"/>
                  </a:solidFill>
                  <a:latin typeface="+mn-lt"/>
                  <a:ea typeface="+mn-ea"/>
                  <a:cs typeface="+mn-ea"/>
                  <a:sym typeface="+mn-lt"/>
                </a:rPr>
                <a:t>预测</a:t>
              </a:r>
              <a:br>
                <a:rPr lang="en-US" altLang="zh-CN" sz="1400" dirty="0">
                  <a:solidFill>
                    <a:schemeClr val="bg1"/>
                  </a:solidFill>
                  <a:latin typeface="+mn-lt"/>
                  <a:ea typeface="+mn-ea"/>
                  <a:cs typeface="+mn-ea"/>
                  <a:sym typeface="+mn-lt"/>
                </a:rPr>
              </a:br>
              <a:r>
                <a:rPr lang="zh-CN" altLang="en-US" sz="1400" dirty="0">
                  <a:solidFill>
                    <a:schemeClr val="bg1"/>
                  </a:solidFill>
                  <a:latin typeface="+mn-lt"/>
                  <a:ea typeface="+mn-ea"/>
                  <a:cs typeface="+mn-ea"/>
                  <a:sym typeface="+mn-lt"/>
                </a:rPr>
                <a:t>医学</a:t>
              </a:r>
            </a:p>
            <a:p>
              <a:pPr algn="ctr">
                <a:defRPr/>
              </a:pPr>
              <a:endParaRPr lang="en-US" altLang="zh-CN" sz="1400" dirty="0">
                <a:solidFill>
                  <a:schemeClr val="bg1"/>
                </a:solidFill>
                <a:latin typeface="+mn-lt"/>
                <a:ea typeface="+mn-ea"/>
                <a:cs typeface="+mn-ea"/>
                <a:sym typeface="+mn-lt"/>
              </a:endParaRPr>
            </a:p>
          </p:txBody>
        </p:sp>
      </p:grpSp>
      <p:grpSp>
        <p:nvGrpSpPr>
          <p:cNvPr id="26" name="组合 25"/>
          <p:cNvGrpSpPr>
            <a:grpSpLocks/>
          </p:cNvGrpSpPr>
          <p:nvPr/>
        </p:nvGrpSpPr>
        <p:grpSpPr bwMode="auto">
          <a:xfrm>
            <a:off x="4833938" y="3743325"/>
            <a:ext cx="1028700" cy="992188"/>
            <a:chOff x="5106988" y="4267299"/>
            <a:chExt cx="757237" cy="755650"/>
          </a:xfrm>
        </p:grpSpPr>
        <p:grpSp>
          <p:nvGrpSpPr>
            <p:cNvPr id="9243" name="组合 38"/>
            <p:cNvGrpSpPr>
              <a:grpSpLocks noChangeAspect="1"/>
            </p:cNvGrpSpPr>
            <p:nvPr/>
          </p:nvGrpSpPr>
          <p:grpSpPr bwMode="auto">
            <a:xfrm>
              <a:off x="5106988" y="4267299"/>
              <a:ext cx="757237" cy="755650"/>
              <a:chOff x="2757973" y="2002996"/>
              <a:chExt cx="1377465" cy="1375204"/>
            </a:xfrm>
          </p:grpSpPr>
          <p:sp>
            <p:nvSpPr>
              <p:cNvPr id="29" name="椭圆 28"/>
              <p:cNvSpPr>
                <a:spLocks noChangeAspect="1"/>
              </p:cNvSpPr>
              <p:nvPr/>
            </p:nvSpPr>
            <p:spPr bwMode="auto">
              <a:xfrm>
                <a:off x="2757973" y="2002996"/>
                <a:ext cx="1377465" cy="1375204"/>
              </a:xfrm>
              <a:prstGeom prst="ellipse">
                <a:avLst/>
              </a:prstGeom>
              <a:gradFill rotWithShape="1">
                <a:gsLst>
                  <a:gs pos="0">
                    <a:schemeClr val="bg2"/>
                  </a:gs>
                  <a:gs pos="100000">
                    <a:schemeClr val="bg2">
                      <a:gamma/>
                      <a:shade val="46275"/>
                      <a:invGamma/>
                    </a:schemeClr>
                  </a:gs>
                </a:gsLst>
                <a:lin ang="2700000" scaled="1"/>
              </a:gradFill>
              <a:ln w="9525" algn="ctr">
                <a:noFill/>
                <a:round/>
                <a:headEnd/>
                <a:tailEnd/>
              </a:ln>
            </p:spPr>
            <p:txBody>
              <a:bodyPr anchor="ctr"/>
              <a:lstStyle/>
              <a:p>
                <a:pPr fontAlgn="auto">
                  <a:spcBef>
                    <a:spcPts val="0"/>
                  </a:spcBef>
                  <a:spcAft>
                    <a:spcPts val="0"/>
                  </a:spcAft>
                  <a:defRPr/>
                </a:pPr>
                <a:endParaRPr lang="zh-CN" altLang="en-US" sz="1800">
                  <a:latin typeface="+mn-lt"/>
                  <a:ea typeface="+mn-ea"/>
                  <a:cs typeface="+mn-ea"/>
                  <a:sym typeface="+mn-lt"/>
                </a:endParaRPr>
              </a:p>
            </p:txBody>
          </p:sp>
          <p:sp>
            <p:nvSpPr>
              <p:cNvPr id="30" name="椭圆 117"/>
              <p:cNvSpPr>
                <a:spLocks noChangeAspect="1"/>
              </p:cNvSpPr>
              <p:nvPr/>
            </p:nvSpPr>
            <p:spPr bwMode="auto">
              <a:xfrm>
                <a:off x="2757973" y="2002996"/>
                <a:ext cx="1177648" cy="1179374"/>
              </a:xfrm>
              <a:prstGeom prst="ellipse">
                <a:avLst/>
              </a:prstGeom>
              <a:solidFill>
                <a:srgbClr val="006699"/>
              </a:solidFill>
              <a:ln w="25400" algn="ctr">
                <a:solidFill>
                  <a:schemeClr val="bg1"/>
                </a:solidFill>
                <a:round/>
                <a:headEnd/>
                <a:tailEnd/>
              </a:ln>
            </p:spPr>
            <p:txBody>
              <a:bodyPr anchor="ctr"/>
              <a:lstStyle/>
              <a:p>
                <a:pPr algn="ctr">
                  <a:defRPr/>
                </a:pPr>
                <a:endParaRPr lang="zh-CN" altLang="en-US" sz="1800">
                  <a:solidFill>
                    <a:srgbClr val="FFFFFF"/>
                  </a:solidFill>
                  <a:latin typeface="+mn-lt"/>
                  <a:ea typeface="+mn-ea"/>
                  <a:cs typeface="+mn-ea"/>
                  <a:sym typeface="+mn-lt"/>
                </a:endParaRPr>
              </a:p>
            </p:txBody>
          </p:sp>
        </p:grpSp>
        <p:sp>
          <p:nvSpPr>
            <p:cNvPr id="28" name="Rectangle 26"/>
            <p:cNvSpPr>
              <a:spLocks noChangeArrowheads="1"/>
            </p:cNvSpPr>
            <p:nvPr/>
          </p:nvSpPr>
          <p:spPr bwMode="auto">
            <a:xfrm>
              <a:off x="5174765" y="4370068"/>
              <a:ext cx="543387" cy="523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ctr">
                <a:defRPr/>
              </a:pPr>
              <a:r>
                <a:rPr lang="zh-CN" altLang="en-US" sz="1400" dirty="0">
                  <a:solidFill>
                    <a:schemeClr val="bg1"/>
                  </a:solidFill>
                  <a:latin typeface="+mn-lt"/>
                  <a:ea typeface="+mn-ea"/>
                  <a:cs typeface="+mn-ea"/>
                  <a:sym typeface="+mn-lt"/>
                </a:rPr>
                <a:t>预防</a:t>
              </a:r>
              <a:br>
                <a:rPr lang="en-US" altLang="zh-CN" sz="1400" dirty="0">
                  <a:solidFill>
                    <a:schemeClr val="bg1"/>
                  </a:solidFill>
                  <a:latin typeface="+mn-lt"/>
                  <a:ea typeface="+mn-ea"/>
                  <a:cs typeface="+mn-ea"/>
                  <a:sym typeface="+mn-lt"/>
                </a:rPr>
              </a:br>
              <a:r>
                <a:rPr lang="zh-CN" altLang="en-US" sz="1400" dirty="0">
                  <a:solidFill>
                    <a:schemeClr val="bg1"/>
                  </a:solidFill>
                  <a:latin typeface="+mn-lt"/>
                  <a:ea typeface="+mn-ea"/>
                  <a:cs typeface="+mn-ea"/>
                  <a:sym typeface="+mn-lt"/>
                </a:rPr>
                <a:t>医学</a:t>
              </a:r>
              <a:endParaRPr lang="en-US" altLang="zh-CN" sz="1400" dirty="0">
                <a:solidFill>
                  <a:schemeClr val="bg1"/>
                </a:solidFill>
                <a:latin typeface="+mn-lt"/>
                <a:ea typeface="+mn-ea"/>
                <a:cs typeface="+mn-ea"/>
                <a:sym typeface="+mn-lt"/>
              </a:endParaRPr>
            </a:p>
          </p:txBody>
        </p:sp>
      </p:grpSp>
      <p:grpSp>
        <p:nvGrpSpPr>
          <p:cNvPr id="31" name="Group 65"/>
          <p:cNvGrpSpPr>
            <a:grpSpLocks/>
          </p:cNvGrpSpPr>
          <p:nvPr/>
        </p:nvGrpSpPr>
        <p:grpSpPr bwMode="auto">
          <a:xfrm>
            <a:off x="3544888" y="2122488"/>
            <a:ext cx="1620837" cy="1620837"/>
            <a:chOff x="2348" y="1444"/>
            <a:chExt cx="1021" cy="1021"/>
          </a:xfrm>
        </p:grpSpPr>
        <p:grpSp>
          <p:nvGrpSpPr>
            <p:cNvPr id="9237" name="组合 31"/>
            <p:cNvGrpSpPr>
              <a:grpSpLocks noChangeAspect="1"/>
            </p:cNvGrpSpPr>
            <p:nvPr/>
          </p:nvGrpSpPr>
          <p:grpSpPr bwMode="auto">
            <a:xfrm>
              <a:off x="2348" y="1444"/>
              <a:ext cx="1021" cy="1021"/>
              <a:chOff x="3783343" y="1838185"/>
              <a:chExt cx="1444904" cy="1444905"/>
            </a:xfrm>
          </p:grpSpPr>
          <p:sp>
            <p:nvSpPr>
              <p:cNvPr id="34" name="Oval 93"/>
              <p:cNvSpPr>
                <a:spLocks noChangeArrowheads="1"/>
              </p:cNvSpPr>
              <p:nvPr/>
            </p:nvSpPr>
            <p:spPr bwMode="auto">
              <a:xfrm>
                <a:off x="3783343" y="1838185"/>
                <a:ext cx="1444904" cy="1444905"/>
              </a:xfrm>
              <a:prstGeom prst="ellipse">
                <a:avLst/>
              </a:prstGeom>
              <a:gradFill rotWithShape="1">
                <a:gsLst>
                  <a:gs pos="0">
                    <a:schemeClr val="bg2"/>
                  </a:gs>
                  <a:gs pos="100000">
                    <a:schemeClr val="bg2">
                      <a:gamma/>
                      <a:shade val="46275"/>
                      <a:invGamma/>
                    </a:schemeClr>
                  </a:gs>
                </a:gsLst>
                <a:lin ang="2700000" scaled="1"/>
              </a:gradFill>
              <a:ln w="9525" algn="ctr">
                <a:noFill/>
                <a:round/>
                <a:headEnd/>
                <a:tailEnd/>
              </a:ln>
            </p:spPr>
            <p:txBody>
              <a:bodyPr anchor="ctr"/>
              <a:lstStyle/>
              <a:p>
                <a:pPr fontAlgn="auto">
                  <a:spcBef>
                    <a:spcPts val="0"/>
                  </a:spcBef>
                  <a:spcAft>
                    <a:spcPts val="0"/>
                  </a:spcAft>
                  <a:defRPr/>
                </a:pPr>
                <a:endParaRPr lang="zh-CN" altLang="en-US" sz="1800">
                  <a:latin typeface="+mn-lt"/>
                  <a:ea typeface="+mn-ea"/>
                  <a:cs typeface="+mn-ea"/>
                  <a:sym typeface="+mn-lt"/>
                </a:endParaRPr>
              </a:p>
            </p:txBody>
          </p:sp>
          <p:grpSp>
            <p:nvGrpSpPr>
              <p:cNvPr id="9240" name="Oval 94"/>
              <p:cNvGrpSpPr>
                <a:grpSpLocks noChangeAspect="1"/>
              </p:cNvGrpSpPr>
              <p:nvPr/>
            </p:nvGrpSpPr>
            <p:grpSpPr bwMode="auto">
              <a:xfrm>
                <a:off x="3824327" y="1870564"/>
                <a:ext cx="1282497" cy="1282498"/>
                <a:chOff x="3773424" y="2328672"/>
                <a:chExt cx="1438656" cy="1438656"/>
              </a:xfrm>
            </p:grpSpPr>
            <p:pic>
              <p:nvPicPr>
                <p:cNvPr id="9241" name="Oval 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3424" y="2328672"/>
                  <a:ext cx="1438656" cy="1438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 Box 38"/>
                <p:cNvSpPr txBox="1">
                  <a:spLocks noChangeArrowheads="1"/>
                </p:cNvSpPr>
                <p:nvPr/>
              </p:nvSpPr>
              <p:spPr bwMode="auto">
                <a:xfrm>
                  <a:off x="3997325" y="2549526"/>
                  <a:ext cx="987426" cy="98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eaLnBrk="0" hangingPunct="0">
                    <a:defRPr>
                      <a:solidFill>
                        <a:schemeClr val="tx1"/>
                      </a:solidFill>
                      <a:latin typeface="Arial" charset="0"/>
                      <a:ea typeface="宋体" charset="-122"/>
                    </a:defRPr>
                  </a:lvl1pPr>
                  <a:lvl2pPr marL="742950" indent="-285750" algn="ctr" eaLnBrk="0" hangingPunct="0">
                    <a:defRPr>
                      <a:solidFill>
                        <a:schemeClr val="tx1"/>
                      </a:solidFill>
                      <a:latin typeface="Arial" charset="0"/>
                      <a:ea typeface="宋体" charset="-122"/>
                    </a:defRPr>
                  </a:lvl2pPr>
                  <a:lvl3pPr marL="1143000" indent="-228600" algn="ctr" eaLnBrk="0" hangingPunct="0">
                    <a:defRPr>
                      <a:solidFill>
                        <a:schemeClr val="tx1"/>
                      </a:solidFill>
                      <a:latin typeface="Arial" charset="0"/>
                      <a:ea typeface="宋体" charset="-122"/>
                    </a:defRPr>
                  </a:lvl3pPr>
                  <a:lvl4pPr marL="1600200" indent="-228600" algn="ctr" eaLnBrk="0" hangingPunct="0">
                    <a:defRPr>
                      <a:solidFill>
                        <a:schemeClr val="tx1"/>
                      </a:solidFill>
                      <a:latin typeface="Arial" charset="0"/>
                      <a:ea typeface="宋体" charset="-122"/>
                    </a:defRPr>
                  </a:lvl4pPr>
                  <a:lvl5pPr marL="2057400" indent="-228600" algn="ctr" eaLnBrk="0" hangingPunct="0">
                    <a:defRPr>
                      <a:solidFill>
                        <a:schemeClr val="tx1"/>
                      </a:solidFill>
                      <a:latin typeface="Arial" charset="0"/>
                      <a:ea typeface="宋体" charset="-122"/>
                    </a:defRPr>
                  </a:lvl5pPr>
                  <a:lvl6pPr marL="2514600" indent="-228600" algn="ctr" eaLnBrk="0" fontAlgn="base" hangingPunct="0">
                    <a:spcBef>
                      <a:spcPct val="0"/>
                    </a:spcBef>
                    <a:spcAft>
                      <a:spcPct val="0"/>
                    </a:spcAft>
                    <a:defRPr>
                      <a:solidFill>
                        <a:schemeClr val="tx1"/>
                      </a:solidFill>
                      <a:latin typeface="Arial" charset="0"/>
                      <a:ea typeface="宋体" charset="-122"/>
                    </a:defRPr>
                  </a:lvl6pPr>
                  <a:lvl7pPr marL="2971800" indent="-228600" algn="ctr" eaLnBrk="0" fontAlgn="base" hangingPunct="0">
                    <a:spcBef>
                      <a:spcPct val="0"/>
                    </a:spcBef>
                    <a:spcAft>
                      <a:spcPct val="0"/>
                    </a:spcAft>
                    <a:defRPr>
                      <a:solidFill>
                        <a:schemeClr val="tx1"/>
                      </a:solidFill>
                      <a:latin typeface="Arial" charset="0"/>
                      <a:ea typeface="宋体" charset="-122"/>
                    </a:defRPr>
                  </a:lvl7pPr>
                  <a:lvl8pPr marL="3429000" indent="-228600" algn="ctr" eaLnBrk="0" fontAlgn="base" hangingPunct="0">
                    <a:spcBef>
                      <a:spcPct val="0"/>
                    </a:spcBef>
                    <a:spcAft>
                      <a:spcPct val="0"/>
                    </a:spcAft>
                    <a:defRPr>
                      <a:solidFill>
                        <a:schemeClr val="tx1"/>
                      </a:solidFill>
                      <a:latin typeface="Arial" charset="0"/>
                      <a:ea typeface="宋体" charset="-122"/>
                    </a:defRPr>
                  </a:lvl8pPr>
                  <a:lvl9pPr marL="3886200" indent="-228600" algn="ctr" eaLnBrk="0" fontAlgn="base" hangingPunct="0">
                    <a:spcBef>
                      <a:spcPct val="0"/>
                    </a:spcBef>
                    <a:spcAft>
                      <a:spcPct val="0"/>
                    </a:spcAft>
                    <a:defRPr>
                      <a:solidFill>
                        <a:schemeClr val="tx1"/>
                      </a:solidFill>
                      <a:latin typeface="Arial" charset="0"/>
                      <a:ea typeface="宋体" charset="-122"/>
                    </a:defRPr>
                  </a:lvl9pPr>
                </a:lstStyle>
                <a:p>
                  <a:pPr algn="l" eaLnBrk="1" hangingPunct="1">
                    <a:defRPr/>
                  </a:pPr>
                  <a:endParaRPr lang="zh-CN" altLang="en-US" sz="1800">
                    <a:latin typeface="+mn-lt"/>
                    <a:ea typeface="+mn-ea"/>
                    <a:cs typeface="+mn-ea"/>
                    <a:sym typeface="+mn-lt"/>
                  </a:endParaRPr>
                </a:p>
              </p:txBody>
            </p:sp>
          </p:grpSp>
        </p:grpSp>
        <p:sp>
          <p:nvSpPr>
            <p:cNvPr id="33" name="Text Box 18"/>
            <p:cNvSpPr txBox="1">
              <a:spLocks noChangeArrowheads="1"/>
            </p:cNvSpPr>
            <p:nvPr/>
          </p:nvSpPr>
          <p:spPr bwMode="gray">
            <a:xfrm>
              <a:off x="2451" y="1772"/>
              <a:ext cx="811" cy="368"/>
            </a:xfrm>
            <a:prstGeom prst="rect">
              <a:avLst/>
            </a:prstGeom>
            <a:noFill/>
            <a:ln w="9525" algn="ctr">
              <a:noFill/>
              <a:miter lim="800000"/>
              <a:headEnd/>
              <a:tailEnd/>
            </a:ln>
          </p:spPr>
          <p:txBody>
            <a:bodyPr>
              <a:spAutoFit/>
            </a:bodyPr>
            <a:lstStyle/>
            <a:p>
              <a:pPr algn="ctr">
                <a:spcBef>
                  <a:spcPct val="50000"/>
                </a:spcBef>
                <a:defRPr/>
              </a:pPr>
              <a:r>
                <a:rPr lang="zh-CN" altLang="en-US" sz="1600" dirty="0">
                  <a:solidFill>
                    <a:schemeClr val="bg1">
                      <a:lumMod val="95000"/>
                    </a:schemeClr>
                  </a:solidFill>
                  <a:latin typeface="+mn-lt"/>
                  <a:ea typeface="+mn-ea"/>
                  <a:cs typeface="+mn-ea"/>
                  <a:sym typeface="+mn-lt"/>
                </a:rPr>
                <a:t>医学大数据知识工程</a:t>
              </a:r>
            </a:p>
          </p:txBody>
        </p:sp>
      </p:grpSp>
      <p:sp>
        <p:nvSpPr>
          <p:cNvPr id="38" name="TextBox 37"/>
          <p:cNvSpPr txBox="1">
            <a:spLocks noChangeArrowheads="1"/>
          </p:cNvSpPr>
          <p:nvPr/>
        </p:nvSpPr>
        <p:spPr bwMode="auto">
          <a:xfrm>
            <a:off x="149225" y="4652963"/>
            <a:ext cx="894397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buFont typeface="-봄IIB" pitchFamily="18" charset="-127"/>
              <a:buAutoNum type="arabicParenR"/>
            </a:pPr>
            <a:r>
              <a:rPr lang="en-US" altLang="zh-CN" sz="1400">
                <a:latin typeface="Tahoma" pitchFamily="34" charset="0"/>
                <a:cs typeface="Tahoma" pitchFamily="34" charset="0"/>
              </a:rPr>
              <a:t>Weston, A. D. &amp; Hood, L. Systems biology, proteomics, and the future of health care: toward predictive, preventative, and personalized medicine. </a:t>
            </a:r>
            <a:r>
              <a:rPr lang="en-US" altLang="zh-CN" sz="1400" i="1">
                <a:latin typeface="Tahoma" pitchFamily="34" charset="0"/>
                <a:cs typeface="Tahoma" pitchFamily="34" charset="0"/>
              </a:rPr>
              <a:t>J. Proteome Res.</a:t>
            </a:r>
            <a:r>
              <a:rPr lang="en-US" altLang="zh-CN" sz="1400">
                <a:latin typeface="Tahoma" pitchFamily="34" charset="0"/>
                <a:cs typeface="Tahoma" pitchFamily="34" charset="0"/>
              </a:rPr>
              <a:t> 3, 179–196 (2004).</a:t>
            </a:r>
          </a:p>
          <a:p>
            <a:pPr eaLnBrk="1" hangingPunct="1">
              <a:buFont typeface="-봄IIB" pitchFamily="18" charset="-127"/>
              <a:buAutoNum type="arabicParenR"/>
            </a:pPr>
            <a:r>
              <a:rPr lang="en-US" altLang="zh-CN" sz="1400">
                <a:latin typeface="Tahoma" pitchFamily="34" charset="0"/>
                <a:cs typeface="Tahoma" pitchFamily="34" charset="0"/>
              </a:rPr>
              <a:t>Auffray C, Charron D, Hood L. Predictive, preventive, personalized and participatory medicine: back to the future. </a:t>
            </a:r>
            <a:r>
              <a:rPr lang="en-US" altLang="zh-CN" sz="1400" i="1">
                <a:latin typeface="Tahoma" pitchFamily="34" charset="0"/>
                <a:cs typeface="Tahoma" pitchFamily="34" charset="0"/>
              </a:rPr>
              <a:t>Genome Med</a:t>
            </a:r>
            <a:r>
              <a:rPr lang="en-US" altLang="zh-CN" sz="1400">
                <a:latin typeface="Tahoma" pitchFamily="34" charset="0"/>
                <a:cs typeface="Tahoma" pitchFamily="34" charset="0"/>
              </a:rPr>
              <a:t>, 2010, 2(8): 57.	</a:t>
            </a:r>
          </a:p>
          <a:p>
            <a:pPr eaLnBrk="1" hangingPunct="1">
              <a:buFont typeface="-봄IIB" pitchFamily="18" charset="-127"/>
              <a:buAutoNum type="arabicParenR"/>
            </a:pPr>
            <a:r>
              <a:rPr lang="en-US" altLang="zh-CN" sz="1400">
                <a:latin typeface="Tahoma" pitchFamily="34" charset="0"/>
                <a:cs typeface="Tahoma" pitchFamily="34" charset="0"/>
              </a:rPr>
              <a:t>Hood L, Friend S H. Predictive, personalized, preventive, participatory (P4) cancer medicine. </a:t>
            </a:r>
            <a:r>
              <a:rPr lang="en-US" altLang="zh-CN" sz="1400" i="1">
                <a:latin typeface="Tahoma" pitchFamily="34" charset="0"/>
                <a:cs typeface="Tahoma" pitchFamily="34" charset="0"/>
              </a:rPr>
              <a:t>Nature Reviews Clinical Oncology</a:t>
            </a:r>
            <a:r>
              <a:rPr lang="en-US" altLang="zh-CN" sz="1400">
                <a:latin typeface="Tahoma" pitchFamily="34" charset="0"/>
                <a:cs typeface="Tahoma" pitchFamily="34" charset="0"/>
              </a:rPr>
              <a:t>, 2011, 8(3): 184-187.</a:t>
            </a:r>
          </a:p>
        </p:txBody>
      </p:sp>
      <p:sp>
        <p:nvSpPr>
          <p:cNvPr id="39" name="矩形 38"/>
          <p:cNvSpPr/>
          <p:nvPr/>
        </p:nvSpPr>
        <p:spPr>
          <a:xfrm>
            <a:off x="6440488" y="2711450"/>
            <a:ext cx="1449387" cy="646113"/>
          </a:xfrm>
          <a:prstGeom prst="rect">
            <a:avLst/>
          </a:prstGeom>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lgn="ctr">
              <a:spcBef>
                <a:spcPct val="50000"/>
              </a:spcBef>
              <a:defRPr/>
            </a:pPr>
            <a:r>
              <a:rPr lang="en-US" altLang="zh-CN">
                <a:solidFill>
                  <a:srgbClr val="000000"/>
                </a:solidFill>
                <a:latin typeface="Tahoma" pitchFamily="34" charset="0"/>
                <a:ea typeface="Gulim" pitchFamily="34" charset="-127"/>
                <a:cs typeface="Tahoma" pitchFamily="34" charset="0"/>
              </a:rPr>
              <a:t>Participatory</a:t>
            </a:r>
            <a:br>
              <a:rPr lang="en-US" altLang="zh-CN">
                <a:solidFill>
                  <a:srgbClr val="000000"/>
                </a:solidFill>
                <a:latin typeface="Tahoma" pitchFamily="34" charset="0"/>
                <a:ea typeface="Gulim" pitchFamily="34" charset="-127"/>
                <a:cs typeface="Tahoma" pitchFamily="34" charset="0"/>
              </a:rPr>
            </a:br>
            <a:r>
              <a:rPr lang="en-US" altLang="zh-CN">
                <a:solidFill>
                  <a:srgbClr val="000000"/>
                </a:solidFill>
                <a:latin typeface="Tahoma" pitchFamily="34" charset="0"/>
                <a:ea typeface="Gulim" pitchFamily="34" charset="-127"/>
                <a:cs typeface="Tahoma" pitchFamily="34" charset="0"/>
              </a:rPr>
              <a:t>Medicine</a:t>
            </a:r>
            <a:endParaRPr lang="zh-CN" altLang="en-US">
              <a:solidFill>
                <a:srgbClr val="000000"/>
              </a:solidFill>
              <a:latin typeface="Tahoma" pitchFamily="34" charset="0"/>
            </a:endParaRPr>
          </a:p>
        </p:txBody>
      </p:sp>
      <p:sp>
        <p:nvSpPr>
          <p:cNvPr id="40" name="矩形 39"/>
          <p:cNvSpPr/>
          <p:nvPr/>
        </p:nvSpPr>
        <p:spPr>
          <a:xfrm>
            <a:off x="755650" y="2927350"/>
            <a:ext cx="1446213" cy="646113"/>
          </a:xfrm>
          <a:prstGeom prst="rect">
            <a:avLst/>
          </a:prstGeom>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lgn="ctr">
              <a:spcBef>
                <a:spcPct val="50000"/>
              </a:spcBef>
              <a:defRPr/>
            </a:pPr>
            <a:r>
              <a:rPr lang="en-US" altLang="zh-CN">
                <a:solidFill>
                  <a:srgbClr val="000000"/>
                </a:solidFill>
                <a:latin typeface="Tahoma" pitchFamily="34" charset="0"/>
                <a:ea typeface="Gulim" pitchFamily="34" charset="-127"/>
                <a:cs typeface="Tahoma" pitchFamily="34" charset="0"/>
              </a:rPr>
              <a:t>Personalized</a:t>
            </a:r>
            <a:br>
              <a:rPr lang="en-US" altLang="zh-CN">
                <a:solidFill>
                  <a:srgbClr val="000000"/>
                </a:solidFill>
                <a:latin typeface="Tahoma" pitchFamily="34" charset="0"/>
                <a:ea typeface="Gulim" pitchFamily="34" charset="-127"/>
                <a:cs typeface="Tahoma" pitchFamily="34" charset="0"/>
              </a:rPr>
            </a:br>
            <a:r>
              <a:rPr lang="en-US" altLang="zh-CN">
                <a:solidFill>
                  <a:srgbClr val="000000"/>
                </a:solidFill>
                <a:latin typeface="Tahoma" pitchFamily="34" charset="0"/>
                <a:ea typeface="Gulim" pitchFamily="34" charset="-127"/>
                <a:cs typeface="Tahoma" pitchFamily="34" charset="0"/>
              </a:rPr>
              <a:t> Medicine</a:t>
            </a:r>
            <a:endParaRPr lang="zh-CN" altLang="en-US">
              <a:solidFill>
                <a:srgbClr val="000000"/>
              </a:solidFill>
              <a:latin typeface="Tahoma" pitchFamily="34" charset="0"/>
              <a:ea typeface="Gulim" pitchFamily="34" charset="-127"/>
              <a:cs typeface="Tahoma" pitchFamily="34" charset="0"/>
            </a:endParaRPr>
          </a:p>
        </p:txBody>
      </p:sp>
      <p:sp>
        <p:nvSpPr>
          <p:cNvPr id="41" name="矩形 40"/>
          <p:cNvSpPr/>
          <p:nvPr/>
        </p:nvSpPr>
        <p:spPr>
          <a:xfrm>
            <a:off x="5091113" y="4799013"/>
            <a:ext cx="1244600" cy="646112"/>
          </a:xfrm>
          <a:prstGeom prst="rect">
            <a:avLst/>
          </a:prstGeom>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lgn="ctr">
              <a:spcBef>
                <a:spcPct val="50000"/>
              </a:spcBef>
              <a:defRPr/>
            </a:pPr>
            <a:r>
              <a:rPr lang="en-US" altLang="zh-CN">
                <a:solidFill>
                  <a:srgbClr val="000000"/>
                </a:solidFill>
                <a:latin typeface="Tahoma" pitchFamily="34" charset="0"/>
                <a:ea typeface="Gulim" pitchFamily="34" charset="-127"/>
                <a:cs typeface="Tahoma" pitchFamily="34" charset="0"/>
              </a:rPr>
              <a:t>Preventive</a:t>
            </a:r>
            <a:br>
              <a:rPr lang="en-US" altLang="zh-CN">
                <a:solidFill>
                  <a:srgbClr val="000000"/>
                </a:solidFill>
                <a:latin typeface="Tahoma" pitchFamily="34" charset="0"/>
                <a:ea typeface="Gulim" pitchFamily="34" charset="-127"/>
                <a:cs typeface="Tahoma" pitchFamily="34" charset="0"/>
              </a:rPr>
            </a:br>
            <a:r>
              <a:rPr lang="en-US" altLang="zh-CN">
                <a:solidFill>
                  <a:srgbClr val="000000"/>
                </a:solidFill>
                <a:latin typeface="Tahoma" pitchFamily="34" charset="0"/>
                <a:ea typeface="Gulim" pitchFamily="34" charset="-127"/>
                <a:cs typeface="Tahoma" pitchFamily="34" charset="0"/>
              </a:rPr>
              <a:t> Medicine</a:t>
            </a:r>
            <a:endParaRPr lang="zh-CN" altLang="en-US">
              <a:solidFill>
                <a:srgbClr val="000000"/>
              </a:solidFill>
              <a:latin typeface="Tahoma" pitchFamily="34" charset="0"/>
              <a:ea typeface="Gulim" pitchFamily="34" charset="-127"/>
              <a:cs typeface="Tahoma" pitchFamily="34" charset="0"/>
            </a:endParaRPr>
          </a:p>
        </p:txBody>
      </p:sp>
      <p:sp>
        <p:nvSpPr>
          <p:cNvPr id="42" name="矩形 41"/>
          <p:cNvSpPr/>
          <p:nvPr/>
        </p:nvSpPr>
        <p:spPr>
          <a:xfrm>
            <a:off x="1758950" y="1127125"/>
            <a:ext cx="1168400" cy="646113"/>
          </a:xfrm>
          <a:prstGeom prst="rect">
            <a:avLst/>
          </a:prstGeom>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lgn="ctr">
              <a:spcBef>
                <a:spcPct val="50000"/>
              </a:spcBef>
              <a:defRPr/>
            </a:pPr>
            <a:r>
              <a:rPr lang="en-US" altLang="zh-CN">
                <a:solidFill>
                  <a:srgbClr val="000000"/>
                </a:solidFill>
                <a:latin typeface="Tahoma" pitchFamily="34" charset="0"/>
                <a:ea typeface="Gulim" pitchFamily="34" charset="-127"/>
                <a:cs typeface="Tahoma" pitchFamily="34" charset="0"/>
              </a:rPr>
              <a:t>Predictive</a:t>
            </a:r>
            <a:br>
              <a:rPr lang="en-US" altLang="zh-CN">
                <a:solidFill>
                  <a:srgbClr val="000000"/>
                </a:solidFill>
                <a:latin typeface="Tahoma" pitchFamily="34" charset="0"/>
                <a:ea typeface="Gulim" pitchFamily="34" charset="-127"/>
                <a:cs typeface="Tahoma" pitchFamily="34" charset="0"/>
              </a:rPr>
            </a:br>
            <a:r>
              <a:rPr lang="en-US" altLang="zh-CN">
                <a:solidFill>
                  <a:srgbClr val="000000"/>
                </a:solidFill>
                <a:latin typeface="Tahoma" pitchFamily="34" charset="0"/>
                <a:ea typeface="Gulim" pitchFamily="34" charset="-127"/>
                <a:cs typeface="Tahoma" pitchFamily="34" charset="0"/>
              </a:rPr>
              <a:t> Medicine</a:t>
            </a:r>
            <a:endParaRPr lang="zh-CN" altLang="en-US">
              <a:solidFill>
                <a:srgbClr val="000000"/>
              </a:solidFill>
              <a:latin typeface="Tahoma" pitchFamily="34" charset="0"/>
              <a:ea typeface="Gulim" pitchFamily="34" charset="-127"/>
              <a:cs typeface="Tahoma" pitchFamily="34" charset="0"/>
            </a:endParaRPr>
          </a:p>
        </p:txBody>
      </p:sp>
      <p:pic>
        <p:nvPicPr>
          <p:cNvPr id="43" name="Picture 15"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8575" y="1128713"/>
            <a:ext cx="1636713"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13" descr="AA026674"/>
          <p:cNvPicPr>
            <a:picLocks noChangeAspect="1" noChangeArrowheads="1"/>
          </p:cNvPicPr>
          <p:nvPr/>
        </p:nvPicPr>
        <p:blipFill>
          <a:blip r:embed="rId4">
            <a:extLst>
              <a:ext uri="{28A0092B-C50C-407E-A947-70E740481C1C}">
                <a14:useLocalDpi xmlns:a14="http://schemas.microsoft.com/office/drawing/2010/main" val="0"/>
              </a:ext>
            </a:extLst>
          </a:blip>
          <a:srcRect l="19781" t="9525" r="19781" b="9599"/>
          <a:stretch>
            <a:fillRect/>
          </a:stretch>
        </p:blipFill>
        <p:spPr bwMode="auto">
          <a:xfrm>
            <a:off x="6440488" y="3575050"/>
            <a:ext cx="960437" cy="1798638"/>
          </a:xfrm>
          <a:prstGeom prst="rect">
            <a:avLst/>
          </a:prstGeom>
          <a:solidFill>
            <a:schemeClr val="bg1"/>
          </a:solidFill>
          <a:ln w="9525">
            <a:solidFill>
              <a:schemeClr val="accent1"/>
            </a:solidFill>
            <a:miter lim="800000"/>
            <a:headEnd/>
            <a:tailEnd/>
          </a:ln>
          <a:effectLst>
            <a:outerShdw dist="107763" dir="2700000" algn="ctr" rotWithShape="0">
              <a:srgbClr val="808080">
                <a:alpha val="50000"/>
              </a:srgbClr>
            </a:outerShdw>
          </a:effectLst>
        </p:spPr>
      </p:pic>
      <p:pic>
        <p:nvPicPr>
          <p:cNvPr id="45" name="Picture 7" descr="MCj030992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5325" y="3605213"/>
            <a:ext cx="1927225" cy="1624012"/>
          </a:xfrm>
          <a:prstGeom prst="rect">
            <a:avLst/>
          </a:prstGeom>
          <a:noFill/>
          <a:ln w="9525">
            <a:solidFill>
              <a:schemeClr val="accent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pic>
        <p:nvPicPr>
          <p:cNvPr id="46" name="Picture 6" descr="crystalball"/>
          <p:cNvPicPr>
            <a:picLocks noChangeAspect="1" noChangeArrowheads="1"/>
          </p:cNvPicPr>
          <p:nvPr/>
        </p:nvPicPr>
        <p:blipFill>
          <a:blip r:embed="rId6">
            <a:extLst>
              <a:ext uri="{28A0092B-C50C-407E-A947-70E740481C1C}">
                <a14:useLocalDpi xmlns:a14="http://schemas.microsoft.com/office/drawing/2010/main" val="0"/>
              </a:ext>
            </a:extLst>
          </a:blip>
          <a:srcRect l="8969" t="-1259" r="8969"/>
          <a:stretch>
            <a:fillRect/>
          </a:stretch>
        </p:blipFill>
        <p:spPr bwMode="auto">
          <a:xfrm>
            <a:off x="174625" y="1239838"/>
            <a:ext cx="1468438" cy="1190625"/>
          </a:xfrm>
          <a:prstGeom prst="rect">
            <a:avLst/>
          </a:prstGeom>
          <a:noFill/>
          <a:ln w="9525">
            <a:solidFill>
              <a:schemeClr val="accent1"/>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21" presetClass="entr" presetSubtype="1"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heel(1)">
                                      <p:cBhvr>
                                        <p:cTn id="12" dur="1000"/>
                                        <p:tgtEl>
                                          <p:spTgt spid="10"/>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 presetClass="path" presetSubtype="0" accel="50000" decel="50000" fill="hold" nodeType="withEffect">
                                  <p:stCondLst>
                                    <p:cond delay="0"/>
                                  </p:stCondLst>
                                  <p:childTnLst>
                                    <p:animMotion origin="layout" path="M -0.02622 0.003 C 0.04583 -0.04811 0.14027 -0.00208 0.18402 0.10892 C 0.22777 0.21855 0.20416 0.3506 0.13159 0.40009 C 0.05989 0.4512 -0.0342 0.4031 -0.07743 0.29417 C -0.12118 0.18409 -0.09861 0.05365 -0.02622 0.003 Z " pathEditMode="relative" rAng="-1669498" ptsTypes="fffff">
                                      <p:cBhvr>
                                        <p:cTn id="18" dur="2000" fill="hold"/>
                                        <p:tgtEl>
                                          <p:spTgt spid="21"/>
                                        </p:tgtEl>
                                        <p:attrNameLst>
                                          <p:attrName>ppt_x</p:attrName>
                                          <p:attrName>ppt_y</p:attrName>
                                        </p:attrNameLst>
                                      </p:cBhvr>
                                      <p:rCtr x="7969" y="19866"/>
                                    </p:animMotion>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 presetClass="path" presetSubtype="0" accel="50000" decel="50000" fill="hold" nodeType="withEffect">
                                  <p:stCondLst>
                                    <p:cond delay="0"/>
                                  </p:stCondLst>
                                  <p:childTnLst>
                                    <p:animMotion origin="layout" path="M -0.00642 -0.0407 C 0.01024 0.07285 -0.05538 0.18571 -0.15417 0.21138 C -0.25243 0.23289 -0.34497 0.16212 -0.36042 0.04903 C -0.37726 -0.06614 -0.31076 -0.17715 -0.21285 -0.20166 C -0.11337 -0.22548 -0.02135 -0.15564 -0.00642 -0.0407 Z " pathEditMode="relative" rAng="4760356" ptsTypes="fffff">
                                      <p:cBhvr>
                                        <p:cTn id="23" dur="2000" fill="hold"/>
                                        <p:tgtEl>
                                          <p:spTgt spid="11"/>
                                        </p:tgtEl>
                                        <p:attrNameLst>
                                          <p:attrName>ppt_x</p:attrName>
                                          <p:attrName>ppt_y</p:attrName>
                                        </p:attrNameLst>
                                      </p:cBhvr>
                                      <p:rCtr x="-17656" y="4533"/>
                                    </p:animMotion>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par>
                                <p:cTn id="27" presetID="1" presetClass="path" presetSubtype="0" accel="50000" decel="50000" fill="hold" nodeType="withEffect">
                                  <p:stCondLst>
                                    <p:cond delay="0"/>
                                  </p:stCondLst>
                                  <p:childTnLst>
                                    <p:animMotion origin="layout" path="M 0.0007 -0.02891 C -0.05937 0.05019 -0.16093 0.04672 -0.22743 -0.03977 C -0.29479 -0.12696 -0.29982 -0.26295 -0.24062 -0.34389 C -0.18229 -0.4246 -0.08003 -0.41905 -0.01388 -0.33302 C 0.05313 -0.24583 0.05903 -0.11101 0.0007 -0.02891 Z " pathEditMode="relative" rAng="8065042" ptsTypes="fffff">
                                      <p:cBhvr>
                                        <p:cTn id="28" dur="2000" fill="hold"/>
                                        <p:tgtEl>
                                          <p:spTgt spid="26"/>
                                        </p:tgtEl>
                                        <p:attrNameLst>
                                          <p:attrName>ppt_x</p:attrName>
                                          <p:attrName>ppt_y</p:attrName>
                                        </p:attrNameLst>
                                      </p:cBhvr>
                                      <p:rCtr x="-12135" y="-15726"/>
                                    </p:animMotion>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 presetClass="path" presetSubtype="0" accel="50000" decel="50000" fill="hold" nodeType="withEffect">
                                  <p:stCondLst>
                                    <p:cond delay="0"/>
                                  </p:stCondLst>
                                  <p:childTnLst>
                                    <p:animMotion origin="layout" path="M 0.00105 0.02451 C -0.00798 -0.08418 0.05938 -0.18479 0.15278 -0.19843 C 0.24549 -0.21161 0.32813 -0.13321 0.33629 -0.02521 C 0.34601 0.08487 0.27796 0.18339 0.18542 0.19704 C 0.09167 0.20883 0.00955 0.1339 0.00105 0.02451 Z " pathEditMode="relative" rAng="15825813" ptsTypes="fffff">
                                      <p:cBhvr>
                                        <p:cTn id="33" dur="2000" fill="hold"/>
                                        <p:tgtEl>
                                          <p:spTgt spid="16"/>
                                        </p:tgtEl>
                                        <p:attrNameLst>
                                          <p:attrName>ppt_x</p:attrName>
                                          <p:attrName>ppt_y</p:attrName>
                                        </p:attrNameLst>
                                      </p:cBhvr>
                                      <p:rCtr x="16771" y="-2521"/>
                                    </p:animMotion>
                                  </p:childTnLst>
                                </p:cTn>
                              </p:par>
                            </p:childTnLst>
                          </p:cTn>
                        </p:par>
                        <p:par>
                          <p:cTn id="34" fill="hold" nodeType="afterGroup">
                            <p:stCondLst>
                              <p:cond delay="3000"/>
                            </p:stCondLst>
                            <p:childTnLst>
                              <p:par>
                                <p:cTn id="35" presetID="42" presetClass="entr" presetSubtype="0" fill="hold" grpId="0" nodeType="after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1000"/>
                                        <p:tgtEl>
                                          <p:spTgt spid="38"/>
                                        </p:tgtEl>
                                      </p:cBhvr>
                                    </p:animEffect>
                                    <p:anim calcmode="lin" valueType="num">
                                      <p:cBhvr>
                                        <p:cTn id="38" dur="1000" fill="hold"/>
                                        <p:tgtEl>
                                          <p:spTgt spid="38"/>
                                        </p:tgtEl>
                                        <p:attrNameLst>
                                          <p:attrName>ppt_x</p:attrName>
                                        </p:attrNameLst>
                                      </p:cBhvr>
                                      <p:tavLst>
                                        <p:tav tm="0">
                                          <p:val>
                                            <p:strVal val="#ppt_x"/>
                                          </p:val>
                                        </p:tav>
                                        <p:tav tm="100000">
                                          <p:val>
                                            <p:strVal val="#ppt_x"/>
                                          </p:val>
                                        </p:tav>
                                      </p:tavLst>
                                    </p:anim>
                                    <p:anim calcmode="lin" valueType="num">
                                      <p:cBhvr>
                                        <p:cTn id="39" dur="1000" fill="hold"/>
                                        <p:tgtEl>
                                          <p:spTgt spid="38"/>
                                        </p:tgtEl>
                                        <p:attrNameLst>
                                          <p:attrName>ppt_y</p:attrName>
                                        </p:attrNameLst>
                                      </p:cBhvr>
                                      <p:tavLst>
                                        <p:tav tm="0">
                                          <p:val>
                                            <p:strVal val="#ppt_y+.1"/>
                                          </p:val>
                                        </p:tav>
                                        <p:tav tm="100000">
                                          <p:val>
                                            <p:strVal val="#ppt_y"/>
                                          </p:val>
                                        </p:tav>
                                      </p:tavLst>
                                    </p:anim>
                                  </p:childTnLst>
                                </p:cTn>
                              </p:par>
                            </p:childTnLst>
                          </p:cTn>
                        </p:par>
                        <p:par>
                          <p:cTn id="40" fill="hold" nodeType="afterGroup">
                            <p:stCondLst>
                              <p:cond delay="4000"/>
                            </p:stCondLst>
                            <p:childTnLst>
                              <p:par>
                                <p:cTn id="41" presetID="26" presetClass="emph" presetSubtype="0" fill="hold" nodeType="afterEffect">
                                  <p:stCondLst>
                                    <p:cond delay="0"/>
                                  </p:stCondLst>
                                  <p:childTnLst>
                                    <p:animEffect transition="out" filter="fade">
                                      <p:cBhvr>
                                        <p:cTn id="42" dur="1000" tmFilter="0, 0; .2, .5; .8, .5; 1, 0"/>
                                        <p:tgtEl>
                                          <p:spTgt spid="21"/>
                                        </p:tgtEl>
                                      </p:cBhvr>
                                    </p:animEffect>
                                    <p:animScale>
                                      <p:cBhvr>
                                        <p:cTn id="43" dur="500" autoRev="1" fill="hold"/>
                                        <p:tgtEl>
                                          <p:spTgt spid="21"/>
                                        </p:tgtEl>
                                      </p:cBhvr>
                                      <p:by x="105000" y="105000"/>
                                    </p:animScale>
                                  </p:childTnLst>
                                </p:cTn>
                              </p:par>
                              <p:par>
                                <p:cTn id="44" presetID="26" presetClass="emph" presetSubtype="0" fill="hold" nodeType="withEffect">
                                  <p:stCondLst>
                                    <p:cond delay="0"/>
                                  </p:stCondLst>
                                  <p:childTnLst>
                                    <p:animEffect transition="out" filter="fade">
                                      <p:cBhvr>
                                        <p:cTn id="45" dur="1000" tmFilter="0, 0; .2, .5; .8, .5; 1, 0"/>
                                        <p:tgtEl>
                                          <p:spTgt spid="11"/>
                                        </p:tgtEl>
                                      </p:cBhvr>
                                    </p:animEffect>
                                    <p:animScale>
                                      <p:cBhvr>
                                        <p:cTn id="46" dur="500" autoRev="1" fill="hold"/>
                                        <p:tgtEl>
                                          <p:spTgt spid="11"/>
                                        </p:tgtEl>
                                      </p:cBhvr>
                                      <p:by x="105000" y="105000"/>
                                    </p:animScale>
                                  </p:childTnLst>
                                </p:cTn>
                              </p:par>
                              <p:par>
                                <p:cTn id="47" presetID="26" presetClass="emph" presetSubtype="0" fill="hold" nodeType="withEffect">
                                  <p:stCondLst>
                                    <p:cond delay="0"/>
                                  </p:stCondLst>
                                  <p:childTnLst>
                                    <p:animEffect transition="out" filter="fade">
                                      <p:cBhvr>
                                        <p:cTn id="48" dur="1000" tmFilter="0, 0; .2, .5; .8, .5; 1, 0"/>
                                        <p:tgtEl>
                                          <p:spTgt spid="26"/>
                                        </p:tgtEl>
                                      </p:cBhvr>
                                    </p:animEffect>
                                    <p:animScale>
                                      <p:cBhvr>
                                        <p:cTn id="49" dur="500" autoRev="1" fill="hold"/>
                                        <p:tgtEl>
                                          <p:spTgt spid="26"/>
                                        </p:tgtEl>
                                      </p:cBhvr>
                                      <p:by x="105000" y="105000"/>
                                    </p:animScale>
                                  </p:childTnLst>
                                </p:cTn>
                              </p:par>
                              <p:par>
                                <p:cTn id="50" presetID="26" presetClass="emph" presetSubtype="0" fill="hold" nodeType="withEffect">
                                  <p:stCondLst>
                                    <p:cond delay="0"/>
                                  </p:stCondLst>
                                  <p:childTnLst>
                                    <p:animEffect transition="out" filter="fade">
                                      <p:cBhvr>
                                        <p:cTn id="51" dur="1000" tmFilter="0, 0; .2, .5; .8, .5; 1, 0"/>
                                        <p:tgtEl>
                                          <p:spTgt spid="16"/>
                                        </p:tgtEl>
                                      </p:cBhvr>
                                    </p:animEffect>
                                    <p:animScale>
                                      <p:cBhvr>
                                        <p:cTn id="52" dur="500" autoRev="1" fill="hold"/>
                                        <p:tgtEl>
                                          <p:spTgt spid="16"/>
                                        </p:tgtEl>
                                      </p:cBhvr>
                                      <p:by x="105000" y="105000"/>
                                    </p:animScale>
                                  </p:childTnLst>
                                </p:cTn>
                              </p:par>
                            </p:childTnLst>
                          </p:cTn>
                        </p:par>
                        <p:par>
                          <p:cTn id="53" fill="hold" nodeType="afterGroup">
                            <p:stCondLst>
                              <p:cond delay="5000"/>
                            </p:stCondLst>
                            <p:childTnLst>
                              <p:par>
                                <p:cTn id="54" presetID="53" presetClass="entr" presetSubtype="16" fill="hold" grpId="0" nodeType="afterEffect">
                                  <p:stCondLst>
                                    <p:cond delay="0"/>
                                  </p:stCondLst>
                                  <p:childTnLst>
                                    <p:set>
                                      <p:cBhvr>
                                        <p:cTn id="55" dur="1" fill="hold">
                                          <p:stCondLst>
                                            <p:cond delay="0"/>
                                          </p:stCondLst>
                                        </p:cTn>
                                        <p:tgtEl>
                                          <p:spTgt spid="42"/>
                                        </p:tgtEl>
                                        <p:attrNameLst>
                                          <p:attrName>style.visibility</p:attrName>
                                        </p:attrNameLst>
                                      </p:cBhvr>
                                      <p:to>
                                        <p:strVal val="visible"/>
                                      </p:to>
                                    </p:set>
                                    <p:anim calcmode="lin" valueType="num">
                                      <p:cBhvr>
                                        <p:cTn id="56" dur="1000" fill="hold"/>
                                        <p:tgtEl>
                                          <p:spTgt spid="42"/>
                                        </p:tgtEl>
                                        <p:attrNameLst>
                                          <p:attrName>ppt_w</p:attrName>
                                        </p:attrNameLst>
                                      </p:cBhvr>
                                      <p:tavLst>
                                        <p:tav tm="0">
                                          <p:val>
                                            <p:fltVal val="0"/>
                                          </p:val>
                                        </p:tav>
                                        <p:tav tm="100000">
                                          <p:val>
                                            <p:strVal val="#ppt_w"/>
                                          </p:val>
                                        </p:tav>
                                      </p:tavLst>
                                    </p:anim>
                                    <p:anim calcmode="lin" valueType="num">
                                      <p:cBhvr>
                                        <p:cTn id="57" dur="1000" fill="hold"/>
                                        <p:tgtEl>
                                          <p:spTgt spid="42"/>
                                        </p:tgtEl>
                                        <p:attrNameLst>
                                          <p:attrName>ppt_h</p:attrName>
                                        </p:attrNameLst>
                                      </p:cBhvr>
                                      <p:tavLst>
                                        <p:tav tm="0">
                                          <p:val>
                                            <p:fltVal val="0"/>
                                          </p:val>
                                        </p:tav>
                                        <p:tav tm="100000">
                                          <p:val>
                                            <p:strVal val="#ppt_h"/>
                                          </p:val>
                                        </p:tav>
                                      </p:tavLst>
                                    </p:anim>
                                    <p:animEffect transition="in" filter="fade">
                                      <p:cBhvr>
                                        <p:cTn id="58" dur="1000"/>
                                        <p:tgtEl>
                                          <p:spTgt spid="42"/>
                                        </p:tgtEl>
                                      </p:cBhvr>
                                    </p:animEffect>
                                  </p:childTnLst>
                                </p:cTn>
                              </p:par>
                            </p:childTnLst>
                          </p:cTn>
                        </p:par>
                        <p:par>
                          <p:cTn id="59" fill="hold" nodeType="afterGroup">
                            <p:stCondLst>
                              <p:cond delay="6000"/>
                            </p:stCondLst>
                            <p:childTnLst>
                              <p:par>
                                <p:cTn id="60" presetID="53" presetClass="entr" presetSubtype="16" fill="hold" grpId="0" nodeType="after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p:cTn id="62" dur="1000" fill="hold"/>
                                        <p:tgtEl>
                                          <p:spTgt spid="39"/>
                                        </p:tgtEl>
                                        <p:attrNameLst>
                                          <p:attrName>ppt_w</p:attrName>
                                        </p:attrNameLst>
                                      </p:cBhvr>
                                      <p:tavLst>
                                        <p:tav tm="0">
                                          <p:val>
                                            <p:fltVal val="0"/>
                                          </p:val>
                                        </p:tav>
                                        <p:tav tm="100000">
                                          <p:val>
                                            <p:strVal val="#ppt_w"/>
                                          </p:val>
                                        </p:tav>
                                      </p:tavLst>
                                    </p:anim>
                                    <p:anim calcmode="lin" valueType="num">
                                      <p:cBhvr>
                                        <p:cTn id="63" dur="1000" fill="hold"/>
                                        <p:tgtEl>
                                          <p:spTgt spid="39"/>
                                        </p:tgtEl>
                                        <p:attrNameLst>
                                          <p:attrName>ppt_h</p:attrName>
                                        </p:attrNameLst>
                                      </p:cBhvr>
                                      <p:tavLst>
                                        <p:tav tm="0">
                                          <p:val>
                                            <p:fltVal val="0"/>
                                          </p:val>
                                        </p:tav>
                                        <p:tav tm="100000">
                                          <p:val>
                                            <p:strVal val="#ppt_h"/>
                                          </p:val>
                                        </p:tav>
                                      </p:tavLst>
                                    </p:anim>
                                    <p:animEffect transition="in" filter="fade">
                                      <p:cBhvr>
                                        <p:cTn id="64" dur="1000"/>
                                        <p:tgtEl>
                                          <p:spTgt spid="39"/>
                                        </p:tgtEl>
                                      </p:cBhvr>
                                    </p:animEffect>
                                  </p:childTnLst>
                                </p:cTn>
                              </p:par>
                              <p:par>
                                <p:cTn id="65" presetID="42" presetClass="exit" presetSubtype="0" fill="hold" grpId="1" nodeType="withEffect">
                                  <p:stCondLst>
                                    <p:cond delay="500"/>
                                  </p:stCondLst>
                                  <p:childTnLst>
                                    <p:animEffect transition="out" filter="fade">
                                      <p:cBhvr>
                                        <p:cTn id="66" dur="1500"/>
                                        <p:tgtEl>
                                          <p:spTgt spid="38"/>
                                        </p:tgtEl>
                                      </p:cBhvr>
                                    </p:animEffect>
                                    <p:anim calcmode="lin" valueType="num">
                                      <p:cBhvr>
                                        <p:cTn id="67" dur="1500"/>
                                        <p:tgtEl>
                                          <p:spTgt spid="38"/>
                                        </p:tgtEl>
                                        <p:attrNameLst>
                                          <p:attrName>ppt_x</p:attrName>
                                        </p:attrNameLst>
                                      </p:cBhvr>
                                      <p:tavLst>
                                        <p:tav tm="0">
                                          <p:val>
                                            <p:strVal val="ppt_x"/>
                                          </p:val>
                                        </p:tav>
                                        <p:tav tm="100000">
                                          <p:val>
                                            <p:strVal val="ppt_x"/>
                                          </p:val>
                                        </p:tav>
                                      </p:tavLst>
                                    </p:anim>
                                    <p:anim calcmode="lin" valueType="num">
                                      <p:cBhvr>
                                        <p:cTn id="68" dur="1500"/>
                                        <p:tgtEl>
                                          <p:spTgt spid="38"/>
                                        </p:tgtEl>
                                        <p:attrNameLst>
                                          <p:attrName>ppt_y</p:attrName>
                                        </p:attrNameLst>
                                      </p:cBhvr>
                                      <p:tavLst>
                                        <p:tav tm="0">
                                          <p:val>
                                            <p:strVal val="ppt_y"/>
                                          </p:val>
                                        </p:tav>
                                        <p:tav tm="100000">
                                          <p:val>
                                            <p:strVal val="ppt_y+.1"/>
                                          </p:val>
                                        </p:tav>
                                      </p:tavLst>
                                    </p:anim>
                                    <p:set>
                                      <p:cBhvr>
                                        <p:cTn id="69" dur="1" fill="hold">
                                          <p:stCondLst>
                                            <p:cond delay="1499"/>
                                          </p:stCondLst>
                                        </p:cTn>
                                        <p:tgtEl>
                                          <p:spTgt spid="38"/>
                                        </p:tgtEl>
                                        <p:attrNameLst>
                                          <p:attrName>style.visibility</p:attrName>
                                        </p:attrNameLst>
                                      </p:cBhvr>
                                      <p:to>
                                        <p:strVal val="hidden"/>
                                      </p:to>
                                    </p:set>
                                  </p:childTnLst>
                                </p:cTn>
                              </p:par>
                              <p:par>
                                <p:cTn id="70" presetID="53" presetClass="entr" presetSubtype="16" fill="hold" grpId="0" nodeType="withEffect">
                                  <p:stCondLst>
                                    <p:cond delay="500"/>
                                  </p:stCondLst>
                                  <p:childTnLst>
                                    <p:set>
                                      <p:cBhvr>
                                        <p:cTn id="71" dur="1" fill="hold">
                                          <p:stCondLst>
                                            <p:cond delay="0"/>
                                          </p:stCondLst>
                                        </p:cTn>
                                        <p:tgtEl>
                                          <p:spTgt spid="41"/>
                                        </p:tgtEl>
                                        <p:attrNameLst>
                                          <p:attrName>style.visibility</p:attrName>
                                        </p:attrNameLst>
                                      </p:cBhvr>
                                      <p:to>
                                        <p:strVal val="visible"/>
                                      </p:to>
                                    </p:set>
                                    <p:anim calcmode="lin" valueType="num">
                                      <p:cBhvr>
                                        <p:cTn id="72" dur="1000" fill="hold"/>
                                        <p:tgtEl>
                                          <p:spTgt spid="41"/>
                                        </p:tgtEl>
                                        <p:attrNameLst>
                                          <p:attrName>ppt_w</p:attrName>
                                        </p:attrNameLst>
                                      </p:cBhvr>
                                      <p:tavLst>
                                        <p:tav tm="0">
                                          <p:val>
                                            <p:fltVal val="0"/>
                                          </p:val>
                                        </p:tav>
                                        <p:tav tm="100000">
                                          <p:val>
                                            <p:strVal val="#ppt_w"/>
                                          </p:val>
                                        </p:tav>
                                      </p:tavLst>
                                    </p:anim>
                                    <p:anim calcmode="lin" valueType="num">
                                      <p:cBhvr>
                                        <p:cTn id="73" dur="1000" fill="hold"/>
                                        <p:tgtEl>
                                          <p:spTgt spid="41"/>
                                        </p:tgtEl>
                                        <p:attrNameLst>
                                          <p:attrName>ppt_h</p:attrName>
                                        </p:attrNameLst>
                                      </p:cBhvr>
                                      <p:tavLst>
                                        <p:tav tm="0">
                                          <p:val>
                                            <p:fltVal val="0"/>
                                          </p:val>
                                        </p:tav>
                                        <p:tav tm="100000">
                                          <p:val>
                                            <p:strVal val="#ppt_h"/>
                                          </p:val>
                                        </p:tav>
                                      </p:tavLst>
                                    </p:anim>
                                    <p:animEffect transition="in" filter="fade">
                                      <p:cBhvr>
                                        <p:cTn id="74" dur="1000"/>
                                        <p:tgtEl>
                                          <p:spTgt spid="41"/>
                                        </p:tgtEl>
                                      </p:cBhvr>
                                    </p:animEffect>
                                  </p:childTnLst>
                                </p:cTn>
                              </p:par>
                            </p:childTnLst>
                          </p:cTn>
                        </p:par>
                        <p:par>
                          <p:cTn id="75" fill="hold" nodeType="afterGroup">
                            <p:stCondLst>
                              <p:cond delay="8000"/>
                            </p:stCondLst>
                            <p:childTnLst>
                              <p:par>
                                <p:cTn id="76" presetID="53" presetClass="entr" presetSubtype="16" fill="hold" grpId="0" nodeType="afterEffect">
                                  <p:stCondLst>
                                    <p:cond delay="0"/>
                                  </p:stCondLst>
                                  <p:childTnLst>
                                    <p:set>
                                      <p:cBhvr>
                                        <p:cTn id="77" dur="1" fill="hold">
                                          <p:stCondLst>
                                            <p:cond delay="0"/>
                                          </p:stCondLst>
                                        </p:cTn>
                                        <p:tgtEl>
                                          <p:spTgt spid="40"/>
                                        </p:tgtEl>
                                        <p:attrNameLst>
                                          <p:attrName>style.visibility</p:attrName>
                                        </p:attrNameLst>
                                      </p:cBhvr>
                                      <p:to>
                                        <p:strVal val="visible"/>
                                      </p:to>
                                    </p:set>
                                    <p:anim calcmode="lin" valueType="num">
                                      <p:cBhvr>
                                        <p:cTn id="78" dur="500" fill="hold"/>
                                        <p:tgtEl>
                                          <p:spTgt spid="40"/>
                                        </p:tgtEl>
                                        <p:attrNameLst>
                                          <p:attrName>ppt_w</p:attrName>
                                        </p:attrNameLst>
                                      </p:cBhvr>
                                      <p:tavLst>
                                        <p:tav tm="0">
                                          <p:val>
                                            <p:fltVal val="0"/>
                                          </p:val>
                                        </p:tav>
                                        <p:tav tm="100000">
                                          <p:val>
                                            <p:strVal val="#ppt_w"/>
                                          </p:val>
                                        </p:tav>
                                      </p:tavLst>
                                    </p:anim>
                                    <p:anim calcmode="lin" valueType="num">
                                      <p:cBhvr>
                                        <p:cTn id="79" dur="500" fill="hold"/>
                                        <p:tgtEl>
                                          <p:spTgt spid="40"/>
                                        </p:tgtEl>
                                        <p:attrNameLst>
                                          <p:attrName>ppt_h</p:attrName>
                                        </p:attrNameLst>
                                      </p:cBhvr>
                                      <p:tavLst>
                                        <p:tav tm="0">
                                          <p:val>
                                            <p:fltVal val="0"/>
                                          </p:val>
                                        </p:tav>
                                        <p:tav tm="100000">
                                          <p:val>
                                            <p:strVal val="#ppt_h"/>
                                          </p:val>
                                        </p:tav>
                                      </p:tavLst>
                                    </p:anim>
                                    <p:animEffect transition="in" filter="fade">
                                      <p:cBhvr>
                                        <p:cTn id="80" dur="500"/>
                                        <p:tgtEl>
                                          <p:spTgt spid="40"/>
                                        </p:tgtEl>
                                      </p:cBhvr>
                                    </p:animEffect>
                                  </p:childTnLst>
                                </p:cTn>
                              </p:par>
                            </p:childTnLst>
                          </p:cTn>
                        </p:par>
                        <p:par>
                          <p:cTn id="81" fill="hold" nodeType="afterGroup">
                            <p:stCondLst>
                              <p:cond delay="8500"/>
                            </p:stCondLst>
                            <p:childTnLst>
                              <p:par>
                                <p:cTn id="82" presetID="10" presetClass="entr" presetSubtype="0" fill="hold" nodeType="after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1000"/>
                                        <p:tgtEl>
                                          <p:spTgt spid="46"/>
                                        </p:tgtEl>
                                      </p:cBhvr>
                                    </p:animEffect>
                                  </p:childTnLst>
                                </p:cTn>
                              </p:par>
                              <p:par>
                                <p:cTn id="85" presetID="10" presetClass="entr" presetSubtype="0" fill="hold" nodeType="with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1000"/>
                                        <p:tgtEl>
                                          <p:spTgt spid="43"/>
                                        </p:tgtEl>
                                      </p:cBhvr>
                                    </p:animEffect>
                                  </p:childTnLst>
                                </p:cTn>
                              </p:par>
                              <p:par>
                                <p:cTn id="88" presetID="10" presetClass="entr" presetSubtype="0" fill="hold" nodeType="with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fade">
                                      <p:cBhvr>
                                        <p:cTn id="90" dur="1000"/>
                                        <p:tgtEl>
                                          <p:spTgt spid="44"/>
                                        </p:tgtEl>
                                      </p:cBhvr>
                                    </p:animEffect>
                                  </p:childTnLst>
                                </p:cTn>
                              </p:par>
                              <p:par>
                                <p:cTn id="91" presetID="10" presetClass="entr" presetSubtype="0" fill="hold" nodeType="with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9" grpId="0" animBg="1"/>
      <p:bldP spid="40" grpId="0" animBg="1"/>
      <p:bldP spid="41" grpId="0" animBg="1"/>
      <p:bldP spid="4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a:t>普医系统</a:t>
            </a:r>
            <a:r>
              <a:rPr lang="en-US" altLang="zh-CN" dirty="0"/>
              <a:t>-</a:t>
            </a:r>
            <a:r>
              <a:rPr lang="zh-CN" altLang="en-US" dirty="0"/>
              <a:t>简介</a:t>
            </a:r>
          </a:p>
        </p:txBody>
      </p:sp>
      <p:pic>
        <p:nvPicPr>
          <p:cNvPr id="1024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0025" y="892175"/>
            <a:ext cx="3960813" cy="472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62</a:t>
            </a:fld>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p:txBody>
          <a:bodyPr/>
          <a:lstStyle/>
          <a:p>
            <a:r>
              <a:rPr lang="zh-CN" altLang="en-US" dirty="0"/>
              <a:t>普医系统</a:t>
            </a:r>
            <a:r>
              <a:rPr lang="en-US" altLang="zh-CN" dirty="0"/>
              <a:t>-</a:t>
            </a:r>
            <a:r>
              <a:rPr lang="zh-CN" altLang="en-US" dirty="0"/>
              <a:t>简介</a:t>
            </a:r>
          </a:p>
        </p:txBody>
      </p:sp>
      <p:sp>
        <p:nvSpPr>
          <p:cNvPr id="11267" name="Rectangle 3"/>
          <p:cNvSpPr>
            <a:spLocks noGrp="1" noChangeArrowheads="1"/>
          </p:cNvSpPr>
          <p:nvPr>
            <p:ph type="body" idx="4294967295"/>
          </p:nvPr>
        </p:nvSpPr>
        <p:spPr>
          <a:xfrm>
            <a:off x="395288" y="981075"/>
            <a:ext cx="8424862" cy="1295400"/>
          </a:xfrm>
        </p:spPr>
        <p:txBody>
          <a:bodyPr/>
          <a:lstStyle/>
          <a:p>
            <a:pPr latinLnBrk="0">
              <a:lnSpc>
                <a:spcPct val="90000"/>
              </a:lnSpc>
            </a:pPr>
            <a:r>
              <a:rPr lang="zh-CN" altLang="en-US" sz="2800" b="1"/>
              <a:t>海量多源异构医疗健康数据中隐藏着丰富的医学领域知识。但目前利用医疗健康数据进行辅助决策支持方面的临床实践应用还处在探索阶段。</a:t>
            </a:r>
          </a:p>
        </p:txBody>
      </p:sp>
      <p:pic>
        <p:nvPicPr>
          <p:cNvPr id="3891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205038"/>
            <a:ext cx="5903913" cy="309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9" name="AutoShape 7"/>
          <p:cNvSpPr>
            <a:spLocks noChangeArrowheads="1"/>
          </p:cNvSpPr>
          <p:nvPr/>
        </p:nvSpPr>
        <p:spPr bwMode="auto">
          <a:xfrm>
            <a:off x="3276600" y="2205038"/>
            <a:ext cx="5543550" cy="1223962"/>
          </a:xfrm>
          <a:prstGeom prst="roundRect">
            <a:avLst>
              <a:gd name="adj" fmla="val 16667"/>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a:solidFill>
                  <a:schemeClr val="bg1"/>
                </a:solidFill>
                <a:latin typeface="仿宋_GB2312" pitchFamily="49" charset="-122"/>
                <a:ea typeface="仿宋_GB2312" pitchFamily="49" charset="-122"/>
              </a:rPr>
              <a:t>如，分析电子病历可以发现最有</a:t>
            </a:r>
          </a:p>
          <a:p>
            <a:pPr algn="ctr"/>
            <a:r>
              <a:rPr lang="zh-CN" altLang="en-US" sz="2800">
                <a:solidFill>
                  <a:schemeClr val="bg1"/>
                </a:solidFill>
                <a:latin typeface="仿宋_GB2312" pitchFamily="49" charset="-122"/>
                <a:ea typeface="仿宋_GB2312" pitchFamily="49" charset="-122"/>
              </a:rPr>
              <a:t>成本效益的临床路径诊疗模式。</a:t>
            </a:r>
          </a:p>
        </p:txBody>
      </p:sp>
      <p:sp>
        <p:nvSpPr>
          <p:cNvPr id="38920" name="AutoShape 8"/>
          <p:cNvSpPr>
            <a:spLocks noChangeArrowheads="1"/>
          </p:cNvSpPr>
          <p:nvPr/>
        </p:nvSpPr>
        <p:spPr bwMode="auto">
          <a:xfrm>
            <a:off x="3276600" y="3789363"/>
            <a:ext cx="5688013" cy="1152525"/>
          </a:xfrm>
          <a:prstGeom prst="roundRect">
            <a:avLst>
              <a:gd name="adj" fmla="val 16667"/>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a:solidFill>
                  <a:schemeClr val="bg1"/>
                </a:solidFill>
                <a:latin typeface="仿宋_GB2312" pitchFamily="49" charset="-122"/>
                <a:ea typeface="仿宋_GB2312" pitchFamily="49" charset="-122"/>
              </a:rPr>
              <a:t>可为医生提供临床决策支持，也可</a:t>
            </a:r>
          </a:p>
          <a:p>
            <a:pPr algn="ctr"/>
            <a:r>
              <a:rPr lang="zh-CN" altLang="en-US" sz="2800">
                <a:solidFill>
                  <a:schemeClr val="bg1"/>
                </a:solidFill>
                <a:latin typeface="仿宋_GB2312" pitchFamily="49" charset="-122"/>
                <a:ea typeface="仿宋_GB2312" pitchFamily="49" charset="-122"/>
              </a:rPr>
              <a:t>评价医生实施的临床路径是否规范。</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8919"/>
                                        </p:tgtEl>
                                        <p:attrNameLst>
                                          <p:attrName>style.visibility</p:attrName>
                                        </p:attrNameLst>
                                      </p:cBhvr>
                                      <p:to>
                                        <p:strVal val="visible"/>
                                      </p:to>
                                    </p:set>
                                    <p:animEffect transition="in" filter="box(in)">
                                      <p:cBhvr>
                                        <p:cTn id="13" dur="500"/>
                                        <p:tgtEl>
                                          <p:spTgt spid="3891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8920"/>
                                        </p:tgtEl>
                                        <p:attrNameLst>
                                          <p:attrName>style.visibility</p:attrName>
                                        </p:attrNameLst>
                                      </p:cBhvr>
                                      <p:to>
                                        <p:strVal val="visible"/>
                                      </p:to>
                                    </p:set>
                                    <p:animEffect transition="in" filter="checkerboard(across)">
                                      <p:cBhvr>
                                        <p:cTn id="18" dur="50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animBg="1"/>
      <p:bldP spid="3892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dirty="0"/>
              <a:t>普医系统</a:t>
            </a:r>
            <a:r>
              <a:rPr lang="en-US" altLang="zh-CN" dirty="0"/>
              <a:t>-</a:t>
            </a:r>
            <a:r>
              <a:rPr lang="zh-CN" altLang="en-US" dirty="0"/>
              <a:t>简介</a:t>
            </a:r>
          </a:p>
        </p:txBody>
      </p:sp>
      <p:pic>
        <p:nvPicPr>
          <p:cNvPr id="122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39800"/>
            <a:ext cx="9124950" cy="437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云形 5"/>
          <p:cNvSpPr/>
          <p:nvPr/>
        </p:nvSpPr>
        <p:spPr bwMode="auto">
          <a:xfrm>
            <a:off x="7019925" y="1844675"/>
            <a:ext cx="1512888" cy="765175"/>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zh-CN" altLang="en-US" b="1" dirty="0">
                <a:latin typeface="宋体" panose="02010600030101010101" pitchFamily="2" charset="-122"/>
                <a:ea typeface="宋体" panose="02010600030101010101" pitchFamily="2" charset="-122"/>
              </a:rPr>
              <a:t>感冒</a:t>
            </a:r>
          </a:p>
        </p:txBody>
      </p:sp>
      <p:sp>
        <p:nvSpPr>
          <p:cNvPr id="7" name="云形 6"/>
          <p:cNvSpPr/>
          <p:nvPr/>
        </p:nvSpPr>
        <p:spPr bwMode="auto">
          <a:xfrm>
            <a:off x="5003800" y="3773488"/>
            <a:ext cx="3529013" cy="1511300"/>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zh-CN" altLang="en-US" b="1" dirty="0">
                <a:latin typeface="宋体" panose="02010600030101010101" pitchFamily="2" charset="-122"/>
                <a:ea typeface="宋体" panose="02010600030101010101" pitchFamily="2" charset="-122"/>
              </a:rPr>
              <a:t>好大夫在线</a:t>
            </a:r>
            <a:r>
              <a:rPr lang="en-US" altLang="zh-CN" b="1" dirty="0">
                <a:latin typeface="宋体" panose="02010600030101010101" pitchFamily="2" charset="-122"/>
                <a:ea typeface="宋体" panose="02010600030101010101" pitchFamily="2" charset="-122"/>
              </a:rPr>
              <a:t>_</a:t>
            </a:r>
            <a:r>
              <a:rPr lang="zh-CN" altLang="en-US" b="1" dirty="0">
                <a:latin typeface="宋体" panose="02010600030101010101" pitchFamily="2" charset="-122"/>
                <a:ea typeface="宋体" panose="02010600030101010101" pitchFamily="2" charset="-122"/>
              </a:rPr>
              <a:t>中国最大的医疗网站</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64</a:t>
            </a:fld>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dirty="0"/>
              <a:t>普医系统</a:t>
            </a:r>
            <a:r>
              <a:rPr lang="en-US" altLang="zh-CN" dirty="0"/>
              <a:t>-</a:t>
            </a:r>
            <a:r>
              <a:rPr lang="zh-CN" altLang="en-US" dirty="0"/>
              <a:t>简介</a:t>
            </a:r>
          </a:p>
        </p:txBody>
      </p:sp>
      <p:pic>
        <p:nvPicPr>
          <p:cNvPr id="133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923925"/>
            <a:ext cx="9134475" cy="454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云形 6"/>
          <p:cNvSpPr/>
          <p:nvPr/>
        </p:nvSpPr>
        <p:spPr bwMode="auto">
          <a:xfrm>
            <a:off x="7019925" y="1844675"/>
            <a:ext cx="1512888" cy="765175"/>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zh-CN" altLang="en-US" b="1" dirty="0">
                <a:latin typeface="宋体" panose="02010600030101010101" pitchFamily="2" charset="-122"/>
                <a:ea typeface="宋体" panose="02010600030101010101" pitchFamily="2" charset="-122"/>
              </a:rPr>
              <a:t>感冒</a:t>
            </a:r>
          </a:p>
        </p:txBody>
      </p:sp>
      <p:sp>
        <p:nvSpPr>
          <p:cNvPr id="8" name="云形 7"/>
          <p:cNvSpPr/>
          <p:nvPr/>
        </p:nvSpPr>
        <p:spPr bwMode="auto">
          <a:xfrm>
            <a:off x="5003800" y="3773488"/>
            <a:ext cx="3529013" cy="1511300"/>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zh-CN" altLang="en-US" b="1" dirty="0">
                <a:latin typeface="宋体" panose="02010600030101010101" pitchFamily="2" charset="-122"/>
                <a:ea typeface="宋体" panose="02010600030101010101" pitchFamily="2" charset="-122"/>
              </a:rPr>
              <a:t>寻医问药网</a:t>
            </a:r>
            <a:r>
              <a:rPr lang="en-US" altLang="zh-CN" b="1" dirty="0">
                <a:latin typeface="宋体" panose="02010600030101010101" pitchFamily="2" charset="-122"/>
                <a:ea typeface="宋体" panose="02010600030101010101" pitchFamily="2" charset="-122"/>
              </a:rPr>
              <a:t>_</a:t>
            </a:r>
            <a:r>
              <a:rPr lang="zh-CN" altLang="en-US" b="1" dirty="0">
                <a:latin typeface="宋体" panose="02010600030101010101" pitchFamily="2" charset="-122"/>
                <a:ea typeface="宋体" panose="02010600030101010101" pitchFamily="2" charset="-122"/>
              </a:rPr>
              <a:t>中国第一健康服务网</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65</a:t>
            </a:fld>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dirty="0"/>
              <a:t>普医系统</a:t>
            </a:r>
            <a:r>
              <a:rPr lang="en-US" altLang="zh-CN" dirty="0"/>
              <a:t>-</a:t>
            </a:r>
            <a:r>
              <a:rPr lang="zh-CN" altLang="en-US" dirty="0"/>
              <a:t>简介</a:t>
            </a:r>
          </a:p>
        </p:txBody>
      </p:sp>
      <p:pic>
        <p:nvPicPr>
          <p:cNvPr id="143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 y="908050"/>
            <a:ext cx="9142412" cy="487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云形 5"/>
          <p:cNvSpPr/>
          <p:nvPr/>
        </p:nvSpPr>
        <p:spPr bwMode="auto">
          <a:xfrm>
            <a:off x="7019925" y="1844675"/>
            <a:ext cx="1512888" cy="765175"/>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zh-CN" altLang="en-US" b="1" dirty="0">
                <a:latin typeface="宋体" panose="02010600030101010101" pitchFamily="2" charset="-122"/>
                <a:ea typeface="宋体" panose="02010600030101010101" pitchFamily="2" charset="-122"/>
              </a:rPr>
              <a:t>感冒</a:t>
            </a:r>
          </a:p>
        </p:txBody>
      </p:sp>
      <p:sp>
        <p:nvSpPr>
          <p:cNvPr id="7" name="云形 6"/>
          <p:cNvSpPr/>
          <p:nvPr/>
        </p:nvSpPr>
        <p:spPr bwMode="auto">
          <a:xfrm>
            <a:off x="6443663" y="4203700"/>
            <a:ext cx="2449512" cy="1023938"/>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zh-CN" altLang="en-US" b="1" dirty="0">
                <a:latin typeface="宋体" panose="02010600030101010101" pitchFamily="2" charset="-122"/>
                <a:ea typeface="宋体" panose="02010600030101010101" pitchFamily="2" charset="-122"/>
              </a:rPr>
              <a:t>百度健康</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66</a:t>
            </a:fld>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a:t>普医系统</a:t>
            </a:r>
            <a:r>
              <a:rPr lang="en-US" altLang="zh-CN" dirty="0"/>
              <a:t>-</a:t>
            </a:r>
            <a:r>
              <a:rPr lang="zh-CN" altLang="en-US" dirty="0"/>
              <a:t>简介</a:t>
            </a:r>
          </a:p>
        </p:txBody>
      </p:sp>
      <p:sp>
        <p:nvSpPr>
          <p:cNvPr id="5" name="Rectangle 3"/>
          <p:cNvSpPr>
            <a:spLocks noChangeArrowheads="1"/>
          </p:cNvSpPr>
          <p:nvPr/>
        </p:nvSpPr>
        <p:spPr bwMode="auto">
          <a:xfrm>
            <a:off x="395288" y="1844675"/>
            <a:ext cx="360045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latinLnBrk="0" hangingPunct="0">
              <a:spcBef>
                <a:spcPct val="20000"/>
              </a:spcBef>
            </a:pPr>
            <a:r>
              <a:rPr lang="zh-CN" altLang="en-US" sz="2800" b="1">
                <a:latin typeface="Times New Roman" pitchFamily="18" charset="0"/>
                <a:ea typeface="宋体" pitchFamily="2" charset="-122"/>
              </a:rPr>
              <a:t>数据集成与分析服务的挑战：</a:t>
            </a:r>
            <a:r>
              <a:rPr lang="en-US" altLang="zh-CN" sz="2800" b="1">
                <a:latin typeface="Times New Roman" pitchFamily="18" charset="0"/>
                <a:ea typeface="宋体" pitchFamily="2" charset="-122"/>
              </a:rPr>
              <a:t>医疗</a:t>
            </a:r>
            <a:r>
              <a:rPr lang="zh-CN" altLang="en-US" sz="2800" b="1">
                <a:latin typeface="Times New Roman" pitchFamily="18" charset="0"/>
                <a:ea typeface="宋体" pitchFamily="2" charset="-122"/>
              </a:rPr>
              <a:t>健康数据来自于地理上分布、管理上自治、模式上异构的多种数据资源。</a:t>
            </a:r>
          </a:p>
        </p:txBody>
      </p:sp>
      <p:pic>
        <p:nvPicPr>
          <p:cNvPr id="6"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908050"/>
            <a:ext cx="4022725" cy="107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2133600"/>
            <a:ext cx="4022725"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3429000"/>
            <a:ext cx="3986213"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4508500"/>
            <a:ext cx="4022725" cy="104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9"/>
          <p:cNvSpPr>
            <a:spLocks noGrp="1"/>
          </p:cNvSpPr>
          <p:nvPr>
            <p:ph type="sldNum" sz="quarter" idx="12"/>
          </p:nvPr>
        </p:nvSpPr>
        <p:spPr/>
        <p:txBody>
          <a:bodyPr/>
          <a:lstStyle/>
          <a:p>
            <a:pPr>
              <a:defRPr/>
            </a:pPr>
            <a:fld id="{73B3C56C-5700-4E55-BF40-61423C59FA56}" type="slidenum">
              <a:rPr lang="zh-CN" altLang="en-US" smtClean="0"/>
              <a:pPr>
                <a:defRPr/>
              </a:pPr>
              <a:t>67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folHlink"/>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ox(in)">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checkerboard(across)">
                                      <p:cBhvr>
                                        <p:cTn id="24" dur="500"/>
                                        <p:tgtEl>
                                          <p:spTgt spid="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a:t>普医系统</a:t>
            </a:r>
            <a:r>
              <a:rPr lang="en-US" altLang="zh-CN" dirty="0"/>
              <a:t>-</a:t>
            </a:r>
            <a:r>
              <a:rPr lang="zh-CN" altLang="en-US" dirty="0"/>
              <a:t>系统架构</a:t>
            </a:r>
          </a:p>
        </p:txBody>
      </p:sp>
      <p:sp>
        <p:nvSpPr>
          <p:cNvPr id="1638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388" name="对象 5"/>
          <p:cNvGraphicFramePr>
            <a:graphicFrameLocks noChangeAspect="1"/>
          </p:cNvGraphicFramePr>
          <p:nvPr/>
        </p:nvGraphicFramePr>
        <p:xfrm>
          <a:off x="755650" y="965200"/>
          <a:ext cx="7200900" cy="4264025"/>
        </p:xfrm>
        <a:graphic>
          <a:graphicData uri="http://schemas.openxmlformats.org/presentationml/2006/ole">
            <mc:AlternateContent xmlns:mc="http://schemas.openxmlformats.org/markup-compatibility/2006">
              <mc:Choice xmlns:v="urn:schemas-microsoft-com:vml" Requires="v">
                <p:oleObj name="Visio" r:id="rId2" imgW="6989039" imgH="4136192" progId="Visio.Drawing.11">
                  <p:embed/>
                </p:oleObj>
              </mc:Choice>
              <mc:Fallback>
                <p:oleObj name="Visio" r:id="rId2" imgW="6989039" imgH="4136192"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965200"/>
                        <a:ext cx="7200900" cy="42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68</a:t>
            </a:fld>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908050"/>
            <a:ext cx="6121400" cy="438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17412" name="标题 1"/>
          <p:cNvSpPr>
            <a:spLocks noGrp="1"/>
          </p:cNvSpPr>
          <p:nvPr>
            <p:ph type="title"/>
          </p:nvPr>
        </p:nvSpPr>
        <p:spPr/>
        <p:txBody>
          <a:bodyPr/>
          <a:lstStyle/>
          <a:p>
            <a:r>
              <a:rPr lang="zh-CN" altLang="en-US" dirty="0"/>
              <a:t>普医系统</a:t>
            </a:r>
            <a:r>
              <a:rPr lang="en-US" altLang="zh-CN" dirty="0"/>
              <a:t>-</a:t>
            </a:r>
            <a:r>
              <a:rPr lang="zh-CN" altLang="en-US" dirty="0"/>
              <a:t>系统架构</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69</a:t>
            </a:fld>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p:cNvSpPr>
            <a:spLocks noGrp="1"/>
          </p:cNvSpPr>
          <p:nvPr>
            <p:ph idx="1"/>
          </p:nvPr>
        </p:nvSpPr>
        <p:spPr>
          <a:xfrm>
            <a:off x="457200" y="1268413"/>
            <a:ext cx="8229600" cy="4497387"/>
          </a:xfrm>
        </p:spPr>
        <p:txBody>
          <a:bodyPr/>
          <a:lstStyle/>
          <a:p>
            <a:pPr eaLnBrk="1" hangingPunct="1"/>
            <a:r>
              <a:rPr lang="zh-CN" altLang="en-US" sz="2800" b="1"/>
              <a:t>普适医疗 成就健康</a:t>
            </a:r>
            <a:endParaRPr lang="en-US" altLang="zh-CN" sz="2800" b="1"/>
          </a:p>
          <a:p>
            <a:pPr lvl="1" eaLnBrk="1" hangingPunct="1">
              <a:buSzPct val="50000"/>
              <a:buFont typeface="Wingdings" pitchFamily="2" charset="2"/>
              <a:buChar char="Ø"/>
            </a:pPr>
            <a:r>
              <a:rPr lang="zh-CN" altLang="en-US" sz="2800" b="1"/>
              <a:t>查疾病</a:t>
            </a:r>
            <a:endParaRPr lang="en-US" altLang="zh-CN" sz="2800" b="1"/>
          </a:p>
          <a:p>
            <a:pPr lvl="1" eaLnBrk="1" hangingPunct="1">
              <a:buSzPct val="50000"/>
              <a:buFont typeface="Wingdings" pitchFamily="2" charset="2"/>
              <a:buChar char="Ø"/>
            </a:pPr>
            <a:r>
              <a:rPr lang="zh-CN" altLang="en-US" sz="2800" b="1"/>
              <a:t>诊症状</a:t>
            </a:r>
            <a:endParaRPr lang="en-US" altLang="zh-CN" sz="2800" b="1"/>
          </a:p>
          <a:p>
            <a:pPr lvl="1" eaLnBrk="1" hangingPunct="1">
              <a:buSzPct val="50000"/>
              <a:buFont typeface="Wingdings" pitchFamily="2" charset="2"/>
              <a:buChar char="Ø"/>
            </a:pPr>
            <a:r>
              <a:rPr lang="zh-CN" altLang="en-US" sz="2800" b="1"/>
              <a:t>推医院</a:t>
            </a:r>
            <a:endParaRPr lang="en-US" altLang="zh-CN" sz="2800" b="1"/>
          </a:p>
          <a:p>
            <a:pPr lvl="1" eaLnBrk="1" hangingPunct="1">
              <a:buSzPct val="50000"/>
              <a:buFont typeface="Wingdings" pitchFamily="2" charset="2"/>
              <a:buChar char="Ø"/>
            </a:pPr>
            <a:r>
              <a:rPr lang="zh-CN" altLang="en-US" sz="2800" b="1"/>
              <a:t>荐医生</a:t>
            </a:r>
            <a:endParaRPr lang="en-US" altLang="zh-CN" sz="2800" b="1"/>
          </a:p>
          <a:p>
            <a:pPr lvl="1" eaLnBrk="1" hangingPunct="1">
              <a:buSzPct val="50000"/>
              <a:buFont typeface="Wingdings" pitchFamily="2" charset="2"/>
              <a:buChar char="Ø"/>
            </a:pPr>
            <a:r>
              <a:rPr lang="zh-CN" altLang="en-US" sz="2800" b="1"/>
              <a:t>医疗信息知识库</a:t>
            </a:r>
            <a:endParaRPr lang="en-US" altLang="zh-CN" sz="2800" b="1"/>
          </a:p>
        </p:txBody>
      </p:sp>
      <p:sp>
        <p:nvSpPr>
          <p:cNvPr id="18435"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18436" name="标题 4"/>
          <p:cNvSpPr>
            <a:spLocks noGrp="1"/>
          </p:cNvSpPr>
          <p:nvPr>
            <p:ph type="title"/>
          </p:nvPr>
        </p:nvSpPr>
        <p:spPr/>
        <p:txBody>
          <a:bodyPr/>
          <a:lstStyle/>
          <a:p>
            <a:r>
              <a:rPr lang="zh-CN" altLang="en-US" dirty="0"/>
              <a:t>普医系统</a:t>
            </a:r>
            <a:r>
              <a:rPr lang="en-US" altLang="zh-CN" dirty="0"/>
              <a:t>-</a:t>
            </a:r>
            <a:r>
              <a:rPr lang="zh-CN" altLang="en-US" dirty="0"/>
              <a:t>功能模块</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70</a:t>
            </a:fld>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457200" y="123825"/>
            <a:ext cx="8229600" cy="661988"/>
          </a:xfrm>
        </p:spPr>
        <p:txBody>
          <a:bodyPr/>
          <a:lstStyle/>
          <a:p>
            <a:pPr eaLnBrk="1" hangingPunct="1"/>
            <a:r>
              <a:rPr lang="zh-CN" altLang="en-US" dirty="0">
                <a:latin typeface="黑体" pitchFamily="49" charset="-122"/>
                <a:ea typeface="黑体" pitchFamily="49" charset="-122"/>
              </a:rPr>
              <a:t>普医系统</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首页</a:t>
            </a:r>
          </a:p>
        </p:txBody>
      </p:sp>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68375"/>
            <a:ext cx="91440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71</a:t>
            </a:fld>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en-US" altLang="zh-CN"/>
              <a:t>2. </a:t>
            </a:r>
            <a:r>
              <a:rPr lang="zh-CN" altLang="en-US"/>
              <a:t>普医系统</a:t>
            </a:r>
          </a:p>
        </p:txBody>
      </p:sp>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708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72</a:t>
            </a:fld>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p:cNvSpPr>
          <p:nvPr>
            <p:ph idx="1"/>
          </p:nvPr>
        </p:nvSpPr>
        <p:spPr>
          <a:xfrm>
            <a:off x="457200" y="1019175"/>
            <a:ext cx="8229600" cy="4497388"/>
          </a:xfrm>
        </p:spPr>
        <p:txBody>
          <a:bodyPr/>
          <a:lstStyle/>
          <a:p>
            <a:pPr eaLnBrk="1" hangingPunct="1"/>
            <a:r>
              <a:rPr lang="zh-CN" altLang="en-US"/>
              <a:t>爬取互联网医疗信息网站</a:t>
            </a:r>
            <a:r>
              <a:rPr lang="en-US" altLang="zh-CN"/>
              <a:t>51</a:t>
            </a:r>
            <a:r>
              <a:rPr lang="zh-CN" altLang="en-US"/>
              <a:t>个，选取</a:t>
            </a:r>
            <a:r>
              <a:rPr lang="en-US" altLang="zh-CN"/>
              <a:t>12</a:t>
            </a:r>
            <a:r>
              <a:rPr lang="zh-CN" altLang="en-US"/>
              <a:t>个信息较全的医疗门户网站数据进行加工</a:t>
            </a:r>
            <a:endParaRPr lang="en-US" altLang="zh-CN"/>
          </a:p>
          <a:p>
            <a:pPr eaLnBrk="1" hangingPunct="1"/>
            <a:endParaRPr lang="zh-CN" altLang="en-US"/>
          </a:p>
        </p:txBody>
      </p:sp>
      <p:pic>
        <p:nvPicPr>
          <p:cNvPr id="21507"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1138" y="1012825"/>
            <a:ext cx="8964612"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标题 7"/>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73</a:t>
            </a:fld>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a:xfrm>
            <a:off x="457200" y="1019175"/>
            <a:ext cx="8229600" cy="4497388"/>
          </a:xfrm>
        </p:spPr>
        <p:txBody>
          <a:bodyPr/>
          <a:lstStyle/>
          <a:p>
            <a:pPr eaLnBrk="1" hangingPunct="1"/>
            <a:r>
              <a:rPr lang="zh-CN" altLang="en-US" sz="2800"/>
              <a:t>数据特点</a:t>
            </a:r>
            <a:endParaRPr lang="en-US" altLang="zh-CN" sz="2800"/>
          </a:p>
          <a:p>
            <a:pPr lvl="1" eaLnBrk="1" hangingPunct="1">
              <a:buFont typeface="Wingdings" pitchFamily="2" charset="2"/>
              <a:buChar char="Ø"/>
            </a:pPr>
            <a:r>
              <a:rPr lang="zh-CN" altLang="en-US" sz="2800"/>
              <a:t>多源性</a:t>
            </a:r>
            <a:endParaRPr lang="en-US" altLang="zh-CN" sz="2800"/>
          </a:p>
          <a:p>
            <a:pPr lvl="1" eaLnBrk="1" hangingPunct="1">
              <a:buFont typeface="Wingdings" pitchFamily="2" charset="2"/>
              <a:buChar char="Ø"/>
            </a:pPr>
            <a:r>
              <a:rPr lang="zh-CN" altLang="en-US" sz="2800"/>
              <a:t>异构性</a:t>
            </a:r>
            <a:endParaRPr lang="en-US" altLang="zh-CN" sz="2800"/>
          </a:p>
          <a:p>
            <a:pPr lvl="1" eaLnBrk="1" hangingPunct="1">
              <a:buFont typeface="Wingdings" pitchFamily="2" charset="2"/>
              <a:buChar char="Ø"/>
            </a:pPr>
            <a:r>
              <a:rPr lang="zh-CN" altLang="en-US" sz="2800"/>
              <a:t>海量性</a:t>
            </a:r>
            <a:endParaRPr lang="en-US" altLang="zh-CN" sz="2800"/>
          </a:p>
          <a:p>
            <a:pPr lvl="1" eaLnBrk="1" hangingPunct="1">
              <a:buFont typeface="Wingdings" pitchFamily="2" charset="2"/>
              <a:buChar char="Ø"/>
            </a:pPr>
            <a:r>
              <a:rPr lang="zh-CN" altLang="en-US" sz="2800"/>
              <a:t>稀疏性（噪声数据多）</a:t>
            </a:r>
            <a:endParaRPr lang="en-US" altLang="zh-CN" sz="2800"/>
          </a:p>
          <a:p>
            <a:pPr lvl="1" eaLnBrk="1" hangingPunct="1">
              <a:buFont typeface="Wingdings" pitchFamily="2" charset="2"/>
              <a:buChar char="Ø"/>
            </a:pPr>
            <a:r>
              <a:rPr lang="zh-CN" altLang="en-US" sz="2800"/>
              <a:t>不可靠性（数据准确性难以验证）</a:t>
            </a:r>
            <a:endParaRPr lang="en-US" altLang="zh-CN"/>
          </a:p>
          <a:p>
            <a:pPr eaLnBrk="1" hangingPunct="1"/>
            <a:endParaRPr lang="zh-CN" altLang="en-US"/>
          </a:p>
        </p:txBody>
      </p:sp>
      <p:sp>
        <p:nvSpPr>
          <p:cNvPr id="22531" name="标题 6"/>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74</a:t>
            </a:fld>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dirty="0">
                <a:latin typeface="宋体" pitchFamily="2" charset="-122"/>
              </a:rPr>
              <a:t>普医系统：数据处理</a:t>
            </a:r>
            <a:endParaRPr lang="zh-CN" altLang="en-US" dirty="0"/>
          </a:p>
        </p:txBody>
      </p:sp>
      <p:sp>
        <p:nvSpPr>
          <p:cNvPr id="6" name="内容占位符 2"/>
          <p:cNvSpPr txBox="1">
            <a:spLocks/>
          </p:cNvSpPr>
          <p:nvPr/>
        </p:nvSpPr>
        <p:spPr bwMode="auto">
          <a:xfrm>
            <a:off x="588963" y="947738"/>
            <a:ext cx="8229600" cy="449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latinLnBrk="1" hangingPunct="0">
              <a:spcBef>
                <a:spcPct val="20000"/>
              </a:spcBef>
              <a:spcAft>
                <a:spcPct val="0"/>
              </a:spcAft>
              <a:buChar char="•"/>
              <a:defRPr kumimoji="1" sz="2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6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a:lstStyle>
          <a:p>
            <a:pPr eaLnBrk="1" hangingPunct="1">
              <a:defRPr/>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原始网页：约</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2TB</a:t>
            </a:r>
          </a:p>
          <a:p>
            <a:pPr eaLnBrk="1" hangingPunct="1">
              <a:defRPr/>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加工后的数据：</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医生：</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70W</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条记录</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医院：</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8W</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条记录</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疾病：</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3W</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条记录</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defRPr/>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融合后的数据：</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医生：</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41W</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条记录</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医院：</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3W</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条记录</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疾病：</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7K</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多条记录</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疾病</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分科：</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8K</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条记录</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defRPr/>
            </a:pP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药品：</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5k</a:t>
            </a:r>
            <a:r>
              <a:rPr lang="zh-CN" altLang="en-US" sz="2400" kern="0" dirty="0">
                <a:latin typeface="Times New Roman" panose="02020603050405020304" pitchFamily="18" charset="0"/>
                <a:ea typeface="宋体" panose="02010600030101010101" pitchFamily="2" charset="-122"/>
                <a:cs typeface="Times New Roman" panose="02020603050405020304" pitchFamily="18" charset="0"/>
              </a:rPr>
              <a:t>条记录</a:t>
            </a:r>
            <a:endParaRPr lang="en-US" altLang="zh-CN" sz="2400"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75</a:t>
            </a:fld>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云形标注 1"/>
          <p:cNvSpPr/>
          <p:nvPr/>
        </p:nvSpPr>
        <p:spPr>
          <a:xfrm>
            <a:off x="468313" y="1268413"/>
            <a:ext cx="4248150" cy="1366837"/>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流程图: 可选过程 2"/>
          <p:cNvSpPr/>
          <p:nvPr/>
        </p:nvSpPr>
        <p:spPr>
          <a:xfrm>
            <a:off x="1712913" y="3409950"/>
            <a:ext cx="1295400" cy="158273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流程图: 可选过程 7"/>
          <p:cNvSpPr/>
          <p:nvPr/>
        </p:nvSpPr>
        <p:spPr>
          <a:xfrm>
            <a:off x="4067175" y="3409950"/>
            <a:ext cx="1296988" cy="158273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581" name="TextBox 8"/>
          <p:cNvSpPr txBox="1">
            <a:spLocks noChangeArrowheads="1"/>
          </p:cNvSpPr>
          <p:nvPr/>
        </p:nvSpPr>
        <p:spPr bwMode="auto">
          <a:xfrm>
            <a:off x="1908175" y="1700213"/>
            <a:ext cx="1511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b="1">
                <a:solidFill>
                  <a:schemeClr val="bg1"/>
                </a:solidFill>
                <a:latin typeface="Times New Roman" pitchFamily="18" charset="0"/>
                <a:ea typeface="宋体" pitchFamily="2" charset="-122"/>
              </a:rPr>
              <a:t>互联网</a:t>
            </a:r>
          </a:p>
        </p:txBody>
      </p:sp>
      <p:sp>
        <p:nvSpPr>
          <p:cNvPr id="24582" name="TextBox 9"/>
          <p:cNvSpPr txBox="1">
            <a:spLocks noChangeArrowheads="1"/>
          </p:cNvSpPr>
          <p:nvPr/>
        </p:nvSpPr>
        <p:spPr bwMode="auto">
          <a:xfrm>
            <a:off x="1911350" y="3576638"/>
            <a:ext cx="1023938"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b="1">
                <a:solidFill>
                  <a:schemeClr val="bg1"/>
                </a:solidFill>
                <a:latin typeface="Times New Roman" pitchFamily="18" charset="0"/>
                <a:ea typeface="宋体" pitchFamily="2" charset="-122"/>
              </a:rPr>
              <a:t>数据采集模块</a:t>
            </a:r>
          </a:p>
        </p:txBody>
      </p:sp>
      <p:sp>
        <p:nvSpPr>
          <p:cNvPr id="24583" name="TextBox 10"/>
          <p:cNvSpPr txBox="1">
            <a:spLocks noChangeArrowheads="1"/>
          </p:cNvSpPr>
          <p:nvPr/>
        </p:nvSpPr>
        <p:spPr bwMode="auto">
          <a:xfrm>
            <a:off x="4222750" y="3592513"/>
            <a:ext cx="9350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b="1">
                <a:solidFill>
                  <a:schemeClr val="bg1"/>
                </a:solidFill>
                <a:latin typeface="Times New Roman" pitchFamily="18" charset="0"/>
                <a:ea typeface="宋体" pitchFamily="2" charset="-122"/>
              </a:rPr>
              <a:t>数据加工模块</a:t>
            </a:r>
          </a:p>
        </p:txBody>
      </p:sp>
      <p:sp>
        <p:nvSpPr>
          <p:cNvPr id="13" name="下箭头 12"/>
          <p:cNvSpPr/>
          <p:nvPr/>
        </p:nvSpPr>
        <p:spPr>
          <a:xfrm>
            <a:off x="2268538" y="2705100"/>
            <a:ext cx="228600" cy="5762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流程图: 可选过程 13"/>
          <p:cNvSpPr/>
          <p:nvPr/>
        </p:nvSpPr>
        <p:spPr>
          <a:xfrm>
            <a:off x="6443663" y="2924175"/>
            <a:ext cx="1512887" cy="206851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586" name="TextBox 14"/>
          <p:cNvSpPr txBox="1">
            <a:spLocks noChangeArrowheads="1"/>
          </p:cNvSpPr>
          <p:nvPr/>
        </p:nvSpPr>
        <p:spPr bwMode="auto">
          <a:xfrm>
            <a:off x="6588125" y="3111500"/>
            <a:ext cx="129698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b="1">
                <a:solidFill>
                  <a:schemeClr val="bg1"/>
                </a:solidFill>
                <a:latin typeface="Times New Roman" pitchFamily="18" charset="0"/>
                <a:ea typeface="宋体" pitchFamily="2" charset="-122"/>
              </a:rPr>
              <a:t>普适医疗信息服务系统</a:t>
            </a:r>
          </a:p>
        </p:txBody>
      </p:sp>
      <p:sp>
        <p:nvSpPr>
          <p:cNvPr id="16" name="右箭头 15"/>
          <p:cNvSpPr/>
          <p:nvPr/>
        </p:nvSpPr>
        <p:spPr>
          <a:xfrm>
            <a:off x="3132138" y="3511550"/>
            <a:ext cx="792162"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右箭头 16"/>
          <p:cNvSpPr/>
          <p:nvPr/>
        </p:nvSpPr>
        <p:spPr>
          <a:xfrm>
            <a:off x="5494338" y="3511550"/>
            <a:ext cx="863600"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589"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24590" name="标题 3"/>
          <p:cNvSpPr>
            <a:spLocks noGrp="1"/>
          </p:cNvSpPr>
          <p:nvPr>
            <p:ph type="title"/>
          </p:nvPr>
        </p:nvSpPr>
        <p:spPr/>
        <p:txBody>
          <a:bodyPr/>
          <a:lstStyle/>
          <a:p>
            <a:r>
              <a:rPr lang="zh-CN" altLang="en-US" dirty="0"/>
              <a:t>普医系统：数据处理</a:t>
            </a:r>
          </a:p>
        </p:txBody>
      </p:sp>
      <p:sp>
        <p:nvSpPr>
          <p:cNvPr id="24591" name="矩形标注 8"/>
          <p:cNvSpPr>
            <a:spLocks noChangeArrowheads="1"/>
          </p:cNvSpPr>
          <p:nvPr/>
        </p:nvSpPr>
        <p:spPr bwMode="auto">
          <a:xfrm>
            <a:off x="4932363" y="1700213"/>
            <a:ext cx="3024187" cy="649287"/>
          </a:xfrm>
          <a:prstGeom prst="wedgeRectCallout">
            <a:avLst>
              <a:gd name="adj1" fmla="val -41486"/>
              <a:gd name="adj2" fmla="val 91685"/>
            </a:avLst>
          </a:prstGeom>
          <a:solidFill>
            <a:srgbClr val="FFFF00"/>
          </a:solidFill>
          <a:ln w="9525" algn="ctr">
            <a:solidFill>
              <a:schemeClr val="tx1"/>
            </a:solidFill>
            <a:round/>
            <a:headEnd/>
            <a:tailEnd/>
          </a:ln>
        </p:spPr>
        <p:txBody>
          <a:bodyPr/>
          <a:lstStyle/>
          <a:p>
            <a:r>
              <a:rPr lang="zh-CN" altLang="en-US" sz="3600">
                <a:latin typeface="Times New Roman" pitchFamily="18" charset="0"/>
                <a:ea typeface="宋体" pitchFamily="2" charset="-122"/>
              </a:rPr>
              <a:t>数据处理流程</a:t>
            </a:r>
          </a:p>
        </p:txBody>
      </p:sp>
      <p:sp>
        <p:nvSpPr>
          <p:cNvPr id="7" name="灯片编号占位符 6"/>
          <p:cNvSpPr>
            <a:spLocks noGrp="1"/>
          </p:cNvSpPr>
          <p:nvPr>
            <p:ph type="sldNum" sz="quarter" idx="12"/>
          </p:nvPr>
        </p:nvSpPr>
        <p:spPr/>
        <p:txBody>
          <a:bodyPr/>
          <a:lstStyle/>
          <a:p>
            <a:pPr>
              <a:defRPr/>
            </a:pPr>
            <a:fld id="{73B3C56C-5700-4E55-BF40-61423C59FA56}" type="slidenum">
              <a:rPr lang="zh-CN" altLang="en-US" smtClean="0"/>
              <a:pPr>
                <a:defRPr/>
              </a:pPr>
              <a:t>76</a:t>
            </a:fld>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25603" name="标题 1"/>
          <p:cNvSpPr>
            <a:spLocks noGrp="1"/>
          </p:cNvSpPr>
          <p:nvPr>
            <p:ph type="title"/>
          </p:nvPr>
        </p:nvSpPr>
        <p:spPr/>
        <p:txBody>
          <a:bodyPr/>
          <a:lstStyle/>
          <a:p>
            <a:r>
              <a:rPr lang="zh-CN" altLang="en-US" dirty="0"/>
              <a:t>普医系统：数据处理</a:t>
            </a:r>
          </a:p>
        </p:txBody>
      </p:sp>
      <p:pic>
        <p:nvPicPr>
          <p:cNvPr id="25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47738"/>
            <a:ext cx="8394700"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矩形标注 6"/>
          <p:cNvSpPr>
            <a:spLocks noChangeArrowheads="1"/>
          </p:cNvSpPr>
          <p:nvPr/>
        </p:nvSpPr>
        <p:spPr bwMode="auto">
          <a:xfrm>
            <a:off x="6108700" y="949325"/>
            <a:ext cx="3024188" cy="649288"/>
          </a:xfrm>
          <a:prstGeom prst="wedgeRectCallout">
            <a:avLst>
              <a:gd name="adj1" fmla="val -41486"/>
              <a:gd name="adj2" fmla="val 91685"/>
            </a:avLst>
          </a:prstGeom>
          <a:solidFill>
            <a:srgbClr val="FFFF00"/>
          </a:solidFill>
          <a:ln w="9525" algn="ctr">
            <a:solidFill>
              <a:schemeClr val="tx1"/>
            </a:solidFill>
            <a:round/>
            <a:headEnd/>
            <a:tailEnd/>
          </a:ln>
        </p:spPr>
        <p:txBody>
          <a:bodyPr/>
          <a:lstStyle/>
          <a:p>
            <a:r>
              <a:rPr lang="zh-CN" altLang="en-US" sz="3600">
                <a:latin typeface="Times New Roman" pitchFamily="18" charset="0"/>
                <a:ea typeface="宋体" pitchFamily="2" charset="-122"/>
              </a:rPr>
              <a:t>数据采集模块</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77</a:t>
            </a:fld>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组合 9"/>
          <p:cNvGrpSpPr>
            <a:grpSpLocks/>
          </p:cNvGrpSpPr>
          <p:nvPr/>
        </p:nvGrpSpPr>
        <p:grpSpPr bwMode="auto">
          <a:xfrm>
            <a:off x="1712913" y="2349500"/>
            <a:ext cx="5595937" cy="1873250"/>
            <a:chOff x="1115616" y="2276872"/>
            <a:chExt cx="5595416" cy="1872208"/>
          </a:xfrm>
        </p:grpSpPr>
        <p:sp>
          <p:nvSpPr>
            <p:cNvPr id="2" name="流程图: 可选过程 1"/>
            <p:cNvSpPr/>
            <p:nvPr/>
          </p:nvSpPr>
          <p:spPr>
            <a:xfrm>
              <a:off x="1115616" y="2276872"/>
              <a:ext cx="1439728" cy="187220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流程图: 可选过程 5"/>
            <p:cNvSpPr/>
            <p:nvPr/>
          </p:nvSpPr>
          <p:spPr>
            <a:xfrm>
              <a:off x="3204571" y="2276872"/>
              <a:ext cx="1439728" cy="187220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流程图: 可选过程 6"/>
            <p:cNvSpPr/>
            <p:nvPr/>
          </p:nvSpPr>
          <p:spPr>
            <a:xfrm>
              <a:off x="5271304" y="2276872"/>
              <a:ext cx="1439728" cy="187220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34" name="TextBox 2"/>
            <p:cNvSpPr txBox="1">
              <a:spLocks noChangeArrowheads="1"/>
            </p:cNvSpPr>
            <p:nvPr/>
          </p:nvSpPr>
          <p:spPr bwMode="auto">
            <a:xfrm>
              <a:off x="1412920" y="2665332"/>
              <a:ext cx="100811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sz="2800" b="1">
                  <a:solidFill>
                    <a:schemeClr val="bg1"/>
                  </a:solidFill>
                  <a:latin typeface="Times New Roman" pitchFamily="18" charset="0"/>
                  <a:ea typeface="宋体" pitchFamily="2" charset="-122"/>
                </a:rPr>
                <a:t>网页分类</a:t>
              </a:r>
            </a:p>
          </p:txBody>
        </p:sp>
        <p:sp>
          <p:nvSpPr>
            <p:cNvPr id="26635" name="TextBox 3"/>
            <p:cNvSpPr txBox="1">
              <a:spLocks noChangeArrowheads="1"/>
            </p:cNvSpPr>
            <p:nvPr/>
          </p:nvSpPr>
          <p:spPr bwMode="auto">
            <a:xfrm>
              <a:off x="3490992" y="2529466"/>
              <a:ext cx="100811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sz="2800" b="1">
                  <a:solidFill>
                    <a:schemeClr val="bg1"/>
                  </a:solidFill>
                  <a:latin typeface="Times New Roman" pitchFamily="18" charset="0"/>
                  <a:ea typeface="宋体" pitchFamily="2" charset="-122"/>
                </a:rPr>
                <a:t>网页信息抽取</a:t>
              </a:r>
            </a:p>
          </p:txBody>
        </p:sp>
        <p:sp>
          <p:nvSpPr>
            <p:cNvPr id="26636" name="TextBox 7"/>
            <p:cNvSpPr txBox="1">
              <a:spLocks noChangeArrowheads="1"/>
            </p:cNvSpPr>
            <p:nvPr/>
          </p:nvSpPr>
          <p:spPr bwMode="auto">
            <a:xfrm>
              <a:off x="5532172" y="2553571"/>
              <a:ext cx="108012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sz="2800" b="1">
                  <a:solidFill>
                    <a:schemeClr val="bg1"/>
                  </a:solidFill>
                  <a:latin typeface="Times New Roman" pitchFamily="18" charset="0"/>
                  <a:ea typeface="宋体" pitchFamily="2" charset="-122"/>
                </a:rPr>
                <a:t>多源信息融合</a:t>
              </a:r>
            </a:p>
          </p:txBody>
        </p:sp>
        <p:sp>
          <p:nvSpPr>
            <p:cNvPr id="9" name="右箭头 8"/>
            <p:cNvSpPr/>
            <p:nvPr/>
          </p:nvSpPr>
          <p:spPr>
            <a:xfrm>
              <a:off x="2596615" y="3006716"/>
              <a:ext cx="576209" cy="3601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右箭头 12"/>
            <p:cNvSpPr/>
            <p:nvPr/>
          </p:nvSpPr>
          <p:spPr>
            <a:xfrm>
              <a:off x="4644299" y="3043208"/>
              <a:ext cx="576209" cy="35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6627"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26628" name="矩形标注 16"/>
          <p:cNvSpPr>
            <a:spLocks noChangeArrowheads="1"/>
          </p:cNvSpPr>
          <p:nvPr/>
        </p:nvSpPr>
        <p:spPr bwMode="auto">
          <a:xfrm>
            <a:off x="6108700" y="949325"/>
            <a:ext cx="3024188" cy="649288"/>
          </a:xfrm>
          <a:prstGeom prst="wedgeRectCallout">
            <a:avLst>
              <a:gd name="adj1" fmla="val -41486"/>
              <a:gd name="adj2" fmla="val 91685"/>
            </a:avLst>
          </a:prstGeom>
          <a:solidFill>
            <a:srgbClr val="FFFF00"/>
          </a:solidFill>
          <a:ln w="9525" algn="ctr">
            <a:solidFill>
              <a:schemeClr val="tx1"/>
            </a:solidFill>
            <a:round/>
            <a:headEnd/>
            <a:tailEnd/>
          </a:ln>
        </p:spPr>
        <p:txBody>
          <a:bodyPr/>
          <a:lstStyle/>
          <a:p>
            <a:r>
              <a:rPr lang="zh-CN" altLang="en-US" sz="3600">
                <a:latin typeface="Times New Roman" pitchFamily="18" charset="0"/>
                <a:ea typeface="宋体" pitchFamily="2" charset="-122"/>
              </a:rPr>
              <a:t>数据加工模块</a:t>
            </a:r>
          </a:p>
        </p:txBody>
      </p:sp>
      <p:sp>
        <p:nvSpPr>
          <p:cNvPr id="26629" name="标题 3"/>
          <p:cNvSpPr>
            <a:spLocks noGrp="1"/>
          </p:cNvSpPr>
          <p:nvPr>
            <p:ph type="title"/>
          </p:nvPr>
        </p:nvSpPr>
        <p:spPr/>
        <p:txBody>
          <a:bodyPr/>
          <a:lstStyle/>
          <a:p>
            <a:r>
              <a:rPr lang="zh-CN" altLang="en-US" dirty="0"/>
              <a:t>普医系统：数据处理</a:t>
            </a:r>
          </a:p>
        </p:txBody>
      </p:sp>
      <p:sp>
        <p:nvSpPr>
          <p:cNvPr id="8" name="灯片编号占位符 7"/>
          <p:cNvSpPr>
            <a:spLocks noGrp="1"/>
          </p:cNvSpPr>
          <p:nvPr>
            <p:ph type="sldNum" sz="quarter" idx="12"/>
          </p:nvPr>
        </p:nvSpPr>
        <p:spPr/>
        <p:txBody>
          <a:bodyPr/>
          <a:lstStyle/>
          <a:p>
            <a:pPr>
              <a:defRPr/>
            </a:pPr>
            <a:fld id="{73B3C56C-5700-4E55-BF40-61423C59FA56}" type="slidenum">
              <a:rPr lang="zh-CN" altLang="en-US" smtClean="0"/>
              <a:pPr>
                <a:defRPr/>
              </a:pPr>
              <a:t>78</a:t>
            </a:fld>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p:cNvSpPr>
            <a:spLocks noGrp="1"/>
          </p:cNvSpPr>
          <p:nvPr>
            <p:ph idx="1"/>
          </p:nvPr>
        </p:nvSpPr>
        <p:spPr>
          <a:xfrm>
            <a:off x="468313" y="1019175"/>
            <a:ext cx="8229600" cy="4497388"/>
          </a:xfrm>
        </p:spPr>
        <p:txBody>
          <a:bodyPr/>
          <a:lstStyle/>
          <a:p>
            <a:pPr eaLnBrk="1" hangingPunct="1"/>
            <a:r>
              <a:rPr lang="zh-CN" altLang="en-US"/>
              <a:t>基于网页分块标签模板树的网页分类方法</a:t>
            </a:r>
            <a:endParaRPr lang="en-US" altLang="zh-CN"/>
          </a:p>
          <a:p>
            <a:pPr marL="457200" lvl="1" indent="0" eaLnBrk="1" hangingPunct="1">
              <a:buFontTx/>
              <a:buNone/>
            </a:pPr>
            <a:endParaRPr lang="en-US" altLang="zh-CN"/>
          </a:p>
        </p:txBody>
      </p:sp>
      <p:sp>
        <p:nvSpPr>
          <p:cNvPr id="2" name="矩形 1"/>
          <p:cNvSpPr/>
          <p:nvPr/>
        </p:nvSpPr>
        <p:spPr>
          <a:xfrm>
            <a:off x="1093788" y="1679575"/>
            <a:ext cx="1368425" cy="1008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6" name="矩形 5"/>
          <p:cNvSpPr/>
          <p:nvPr/>
        </p:nvSpPr>
        <p:spPr>
          <a:xfrm>
            <a:off x="1446213" y="1841500"/>
            <a:ext cx="1366837" cy="1008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7" name="矩形 6"/>
          <p:cNvSpPr/>
          <p:nvPr/>
        </p:nvSpPr>
        <p:spPr>
          <a:xfrm>
            <a:off x="1827213" y="2039938"/>
            <a:ext cx="1366837" cy="10080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dirty="0">
              <a:solidFill>
                <a:schemeClr val="bg1"/>
              </a:solidFill>
              <a:latin typeface="宋体" panose="02010600030101010101" pitchFamily="2" charset="-122"/>
              <a:ea typeface="宋体" panose="02010600030101010101" pitchFamily="2" charset="-122"/>
            </a:endParaRPr>
          </a:p>
        </p:txBody>
      </p:sp>
      <p:sp>
        <p:nvSpPr>
          <p:cNvPr id="8" name="矩形 7"/>
          <p:cNvSpPr/>
          <p:nvPr/>
        </p:nvSpPr>
        <p:spPr>
          <a:xfrm>
            <a:off x="1163638" y="3768725"/>
            <a:ext cx="1368425" cy="1008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7655" name="TextBox 2"/>
          <p:cNvSpPr txBox="1">
            <a:spLocks noChangeArrowheads="1"/>
          </p:cNvSpPr>
          <p:nvPr/>
        </p:nvSpPr>
        <p:spPr bwMode="auto">
          <a:xfrm>
            <a:off x="1093788" y="3192463"/>
            <a:ext cx="1893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a:latin typeface="宋体" pitchFamily="2" charset="-122"/>
                <a:ea typeface="宋体" pitchFamily="2" charset="-122"/>
              </a:rPr>
              <a:t>网页训练集</a:t>
            </a:r>
          </a:p>
        </p:txBody>
      </p:sp>
      <p:sp>
        <p:nvSpPr>
          <p:cNvPr id="27656" name="TextBox 3"/>
          <p:cNvSpPr txBox="1">
            <a:spLocks noChangeArrowheads="1"/>
          </p:cNvSpPr>
          <p:nvPr/>
        </p:nvSpPr>
        <p:spPr bwMode="auto">
          <a:xfrm>
            <a:off x="1112838" y="4848225"/>
            <a:ext cx="1719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a:latin typeface="宋体" pitchFamily="2" charset="-122"/>
                <a:ea typeface="宋体" pitchFamily="2" charset="-122"/>
              </a:rPr>
              <a:t>爬取的网页</a:t>
            </a:r>
          </a:p>
        </p:txBody>
      </p:sp>
      <p:sp>
        <p:nvSpPr>
          <p:cNvPr id="5" name="流程图: 可选过程 4"/>
          <p:cNvSpPr/>
          <p:nvPr/>
        </p:nvSpPr>
        <p:spPr>
          <a:xfrm>
            <a:off x="3851275" y="1841500"/>
            <a:ext cx="720725" cy="300672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7658" name="TextBox 8"/>
          <p:cNvSpPr txBox="1">
            <a:spLocks noChangeArrowheads="1"/>
          </p:cNvSpPr>
          <p:nvPr/>
        </p:nvSpPr>
        <p:spPr bwMode="auto">
          <a:xfrm>
            <a:off x="3995738" y="2078038"/>
            <a:ext cx="50482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b="1">
                <a:solidFill>
                  <a:schemeClr val="bg1"/>
                </a:solidFill>
                <a:latin typeface="宋体" pitchFamily="2" charset="-122"/>
                <a:ea typeface="宋体" pitchFamily="2" charset="-122"/>
              </a:rPr>
              <a:t>标签树构造模块</a:t>
            </a:r>
          </a:p>
        </p:txBody>
      </p:sp>
      <p:sp>
        <p:nvSpPr>
          <p:cNvPr id="13" name="流程图: 可选过程 12"/>
          <p:cNvSpPr/>
          <p:nvPr/>
        </p:nvSpPr>
        <p:spPr>
          <a:xfrm>
            <a:off x="5435600" y="1628775"/>
            <a:ext cx="3024188" cy="63976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7660" name="TextBox 9"/>
          <p:cNvSpPr txBox="1">
            <a:spLocks noChangeArrowheads="1"/>
          </p:cNvSpPr>
          <p:nvPr/>
        </p:nvSpPr>
        <p:spPr bwMode="auto">
          <a:xfrm>
            <a:off x="5616575" y="1752600"/>
            <a:ext cx="2706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b="1">
                <a:solidFill>
                  <a:schemeClr val="bg1"/>
                </a:solidFill>
                <a:latin typeface="宋体" pitchFamily="2" charset="-122"/>
                <a:ea typeface="宋体" pitchFamily="2" charset="-122"/>
              </a:rPr>
              <a:t>模板树构造模块</a:t>
            </a:r>
          </a:p>
        </p:txBody>
      </p:sp>
      <p:sp>
        <p:nvSpPr>
          <p:cNvPr id="11" name="圆柱形 10"/>
          <p:cNvSpPr/>
          <p:nvPr/>
        </p:nvSpPr>
        <p:spPr>
          <a:xfrm>
            <a:off x="5508625" y="2849563"/>
            <a:ext cx="2951163" cy="12065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7662" name="TextBox 11"/>
          <p:cNvSpPr txBox="1">
            <a:spLocks noChangeArrowheads="1"/>
          </p:cNvSpPr>
          <p:nvPr/>
        </p:nvSpPr>
        <p:spPr bwMode="auto">
          <a:xfrm>
            <a:off x="5616575" y="3186113"/>
            <a:ext cx="27352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b="1">
                <a:solidFill>
                  <a:schemeClr val="bg1"/>
                </a:solidFill>
                <a:latin typeface="宋体" pitchFamily="2" charset="-122"/>
                <a:ea typeface="宋体" pitchFamily="2" charset="-122"/>
              </a:rPr>
              <a:t>网站类别模板树特征空间</a:t>
            </a:r>
          </a:p>
        </p:txBody>
      </p:sp>
      <p:sp>
        <p:nvSpPr>
          <p:cNvPr id="14" name="圆角矩形 13"/>
          <p:cNvSpPr/>
          <p:nvPr/>
        </p:nvSpPr>
        <p:spPr>
          <a:xfrm>
            <a:off x="5508625" y="4560888"/>
            <a:ext cx="2987675" cy="576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7664" name="TextBox 14"/>
          <p:cNvSpPr txBox="1">
            <a:spLocks noChangeArrowheads="1"/>
          </p:cNvSpPr>
          <p:nvPr/>
        </p:nvSpPr>
        <p:spPr bwMode="auto">
          <a:xfrm>
            <a:off x="5599113" y="4437063"/>
            <a:ext cx="28432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zh-CN" b="1">
                <a:solidFill>
                  <a:schemeClr val="bg1"/>
                </a:solidFill>
                <a:latin typeface="宋体" pitchFamily="2" charset="-122"/>
                <a:ea typeface="宋体" pitchFamily="2" charset="-122"/>
              </a:rPr>
              <a:t>改进</a:t>
            </a:r>
            <a:r>
              <a:rPr lang="zh-CN" altLang="en-US" b="1">
                <a:solidFill>
                  <a:schemeClr val="bg1"/>
                </a:solidFill>
                <a:latin typeface="宋体" pitchFamily="2" charset="-122"/>
                <a:ea typeface="宋体" pitchFamily="2" charset="-122"/>
              </a:rPr>
              <a:t>的</a:t>
            </a:r>
            <a:r>
              <a:rPr lang="en-US" altLang="zh-CN" b="1">
                <a:solidFill>
                  <a:schemeClr val="bg1"/>
                </a:solidFill>
                <a:latin typeface="宋体" pitchFamily="2" charset="-122"/>
                <a:ea typeface="宋体" pitchFamily="2" charset="-122"/>
              </a:rPr>
              <a:t>KNN</a:t>
            </a:r>
            <a:r>
              <a:rPr lang="zh-CN" altLang="zh-CN" b="1">
                <a:solidFill>
                  <a:schemeClr val="bg1"/>
                </a:solidFill>
                <a:latin typeface="宋体" pitchFamily="2" charset="-122"/>
                <a:ea typeface="宋体" pitchFamily="2" charset="-122"/>
              </a:rPr>
              <a:t>算法分类模块</a:t>
            </a:r>
          </a:p>
          <a:p>
            <a:pPr eaLnBrk="1" hangingPunct="1"/>
            <a:endParaRPr lang="zh-CN" altLang="en-US" b="1">
              <a:solidFill>
                <a:schemeClr val="bg1"/>
              </a:solidFill>
              <a:latin typeface="宋体" pitchFamily="2" charset="-122"/>
              <a:ea typeface="宋体" pitchFamily="2" charset="-122"/>
            </a:endParaRPr>
          </a:p>
        </p:txBody>
      </p:sp>
      <p:sp>
        <p:nvSpPr>
          <p:cNvPr id="17" name="右箭头 16"/>
          <p:cNvSpPr/>
          <p:nvPr/>
        </p:nvSpPr>
        <p:spPr>
          <a:xfrm>
            <a:off x="3276600" y="2471738"/>
            <a:ext cx="503238" cy="3778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1" name="右箭头 20"/>
          <p:cNvSpPr/>
          <p:nvPr/>
        </p:nvSpPr>
        <p:spPr>
          <a:xfrm>
            <a:off x="2690813" y="4084638"/>
            <a:ext cx="1089025" cy="3762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3" name="右箭头 22"/>
          <p:cNvSpPr/>
          <p:nvPr/>
        </p:nvSpPr>
        <p:spPr>
          <a:xfrm>
            <a:off x="4624388" y="4471988"/>
            <a:ext cx="811212" cy="3762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4" name="右箭头 23"/>
          <p:cNvSpPr/>
          <p:nvPr/>
        </p:nvSpPr>
        <p:spPr>
          <a:xfrm>
            <a:off x="4643438" y="1841500"/>
            <a:ext cx="720725" cy="3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18" name="下箭头 17"/>
          <p:cNvSpPr/>
          <p:nvPr/>
        </p:nvSpPr>
        <p:spPr>
          <a:xfrm>
            <a:off x="6804025" y="2319338"/>
            <a:ext cx="363538" cy="5032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6" name="下箭头 25"/>
          <p:cNvSpPr/>
          <p:nvPr/>
        </p:nvSpPr>
        <p:spPr>
          <a:xfrm>
            <a:off x="6838950" y="4073525"/>
            <a:ext cx="363538" cy="5048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宋体" panose="02010600030101010101" pitchFamily="2" charset="-122"/>
              <a:ea typeface="宋体" panose="02010600030101010101" pitchFamily="2" charset="-122"/>
            </a:endParaRPr>
          </a:p>
        </p:txBody>
      </p:sp>
      <p:sp>
        <p:nvSpPr>
          <p:cNvPr id="27671" name="TextBox 18"/>
          <p:cNvSpPr txBox="1">
            <a:spLocks noChangeArrowheads="1"/>
          </p:cNvSpPr>
          <p:nvPr/>
        </p:nvSpPr>
        <p:spPr bwMode="auto">
          <a:xfrm>
            <a:off x="2128838" y="2319338"/>
            <a:ext cx="858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b="1">
                <a:solidFill>
                  <a:schemeClr val="bg1"/>
                </a:solidFill>
                <a:latin typeface="宋体" pitchFamily="2" charset="-122"/>
                <a:ea typeface="宋体" pitchFamily="2" charset="-122"/>
              </a:rPr>
              <a:t>HTML</a:t>
            </a:r>
            <a:endParaRPr lang="zh-CN" altLang="en-US" b="1">
              <a:solidFill>
                <a:schemeClr val="bg1"/>
              </a:solidFill>
              <a:latin typeface="宋体" pitchFamily="2" charset="-122"/>
              <a:ea typeface="宋体" pitchFamily="2" charset="-122"/>
            </a:endParaRPr>
          </a:p>
        </p:txBody>
      </p:sp>
      <p:sp>
        <p:nvSpPr>
          <p:cNvPr id="27672" name="TextBox 27"/>
          <p:cNvSpPr txBox="1">
            <a:spLocks noChangeArrowheads="1"/>
          </p:cNvSpPr>
          <p:nvPr/>
        </p:nvSpPr>
        <p:spPr bwMode="auto">
          <a:xfrm>
            <a:off x="1419225" y="4103688"/>
            <a:ext cx="857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b="1">
                <a:solidFill>
                  <a:schemeClr val="bg1"/>
                </a:solidFill>
                <a:latin typeface="宋体" pitchFamily="2" charset="-122"/>
                <a:ea typeface="宋体" pitchFamily="2" charset="-122"/>
              </a:rPr>
              <a:t>HTML</a:t>
            </a:r>
            <a:endParaRPr lang="zh-CN" altLang="en-US" b="1">
              <a:solidFill>
                <a:schemeClr val="bg1"/>
              </a:solidFill>
              <a:latin typeface="宋体" pitchFamily="2" charset="-122"/>
              <a:ea typeface="宋体" pitchFamily="2" charset="-122"/>
            </a:endParaRPr>
          </a:p>
        </p:txBody>
      </p:sp>
      <p:sp>
        <p:nvSpPr>
          <p:cNvPr id="27673"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27674" name="标题 2"/>
          <p:cNvSpPr>
            <a:spLocks noGrp="1"/>
          </p:cNvSpPr>
          <p:nvPr>
            <p:ph type="title"/>
          </p:nvPr>
        </p:nvSpPr>
        <p:spPr/>
        <p:txBody>
          <a:bodyPr/>
          <a:lstStyle/>
          <a:p>
            <a:r>
              <a:rPr lang="zh-CN" altLang="en-US" dirty="0"/>
              <a:t>普医系统：数据处理</a:t>
            </a:r>
          </a:p>
        </p:txBody>
      </p:sp>
      <p:sp>
        <p:nvSpPr>
          <p:cNvPr id="27675" name="矩形标注 29"/>
          <p:cNvSpPr>
            <a:spLocks noChangeArrowheads="1"/>
          </p:cNvSpPr>
          <p:nvPr/>
        </p:nvSpPr>
        <p:spPr bwMode="auto">
          <a:xfrm>
            <a:off x="6119813" y="333375"/>
            <a:ext cx="3024187" cy="1008063"/>
          </a:xfrm>
          <a:prstGeom prst="wedgeRectCallout">
            <a:avLst>
              <a:gd name="adj1" fmla="val -71199"/>
              <a:gd name="adj2" fmla="val 78412"/>
            </a:avLst>
          </a:prstGeom>
          <a:solidFill>
            <a:srgbClr val="FFFF00"/>
          </a:solidFill>
          <a:ln w="9525" algn="ctr">
            <a:solidFill>
              <a:schemeClr val="tx1"/>
            </a:solidFill>
            <a:round/>
            <a:headEnd/>
            <a:tailEnd/>
          </a:ln>
        </p:spPr>
        <p:txBody>
          <a:bodyPr/>
          <a:lstStyle/>
          <a:p>
            <a:r>
              <a:rPr lang="zh-CN" altLang="en-US" sz="3600">
                <a:latin typeface="Times New Roman" pitchFamily="18" charset="0"/>
                <a:ea typeface="宋体" pitchFamily="2" charset="-122"/>
              </a:rPr>
              <a:t>数据加工模块</a:t>
            </a:r>
            <a:endParaRPr lang="en-US" altLang="zh-CN" sz="3600">
              <a:latin typeface="Times New Roman" pitchFamily="18" charset="0"/>
              <a:ea typeface="宋体" pitchFamily="2" charset="-122"/>
            </a:endParaRPr>
          </a:p>
          <a:p>
            <a:r>
              <a:rPr lang="zh-CN" altLang="en-US" sz="3600">
                <a:latin typeface="Times New Roman" pitchFamily="18" charset="0"/>
                <a:ea typeface="宋体" pitchFamily="2" charset="-122"/>
              </a:rPr>
              <a:t>网页分类</a:t>
            </a:r>
          </a:p>
        </p:txBody>
      </p:sp>
      <p:sp>
        <p:nvSpPr>
          <p:cNvPr id="10" name="灯片编号占位符 9"/>
          <p:cNvSpPr>
            <a:spLocks noGrp="1"/>
          </p:cNvSpPr>
          <p:nvPr>
            <p:ph type="sldNum" sz="quarter" idx="12"/>
          </p:nvPr>
        </p:nvSpPr>
        <p:spPr/>
        <p:txBody>
          <a:bodyPr/>
          <a:lstStyle/>
          <a:p>
            <a:pPr>
              <a:defRPr/>
            </a:pPr>
            <a:fld id="{73B3C56C-5700-4E55-BF40-61423C59FA56}" type="slidenum">
              <a:rPr lang="zh-CN" altLang="en-US" smtClean="0"/>
              <a:pPr>
                <a:defRPr/>
              </a:pPr>
              <a:t>79</a:t>
            </a:fld>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pic>
        <p:nvPicPr>
          <p:cNvPr id="2867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63600"/>
            <a:ext cx="9144000" cy="4437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676" name="矩形标注 8"/>
          <p:cNvSpPr>
            <a:spLocks noChangeArrowheads="1"/>
          </p:cNvSpPr>
          <p:nvPr/>
        </p:nvSpPr>
        <p:spPr bwMode="auto">
          <a:xfrm>
            <a:off x="6097588" y="4292600"/>
            <a:ext cx="3024187" cy="1152525"/>
          </a:xfrm>
          <a:prstGeom prst="wedgeRectCallout">
            <a:avLst>
              <a:gd name="adj1" fmla="val -40444"/>
              <a:gd name="adj2" fmla="val -90028"/>
            </a:avLst>
          </a:prstGeom>
          <a:solidFill>
            <a:srgbClr val="FFFF00"/>
          </a:solidFill>
          <a:ln w="9525" algn="ctr">
            <a:solidFill>
              <a:schemeClr val="tx1"/>
            </a:solidFill>
            <a:round/>
            <a:headEnd/>
            <a:tailEnd/>
          </a:ln>
        </p:spPr>
        <p:txBody>
          <a:bodyPr/>
          <a:lstStyle/>
          <a:p>
            <a:r>
              <a:rPr lang="zh-CN" altLang="en-US" sz="3600">
                <a:latin typeface="Times New Roman" pitchFamily="18" charset="0"/>
                <a:ea typeface="宋体" pitchFamily="2" charset="-122"/>
              </a:rPr>
              <a:t>数据加工模块</a:t>
            </a:r>
            <a:endParaRPr lang="en-US" altLang="zh-CN" sz="3600">
              <a:latin typeface="Times New Roman" pitchFamily="18" charset="0"/>
              <a:ea typeface="宋体" pitchFamily="2" charset="-122"/>
            </a:endParaRPr>
          </a:p>
          <a:p>
            <a:r>
              <a:rPr lang="zh-CN" altLang="en-US" sz="3600">
                <a:latin typeface="Times New Roman" pitchFamily="18" charset="0"/>
                <a:ea typeface="宋体" pitchFamily="2" charset="-122"/>
              </a:rPr>
              <a:t>信息抽取</a:t>
            </a:r>
          </a:p>
        </p:txBody>
      </p:sp>
      <p:sp>
        <p:nvSpPr>
          <p:cNvPr id="28677" name="标题 2"/>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80</a:t>
            </a:fld>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457200" y="123825"/>
            <a:ext cx="8229600" cy="661988"/>
          </a:xfrm>
        </p:spPr>
        <p:txBody>
          <a:bodyPr/>
          <a:lstStyle/>
          <a:p>
            <a:pPr eaLnBrk="1" hangingPunct="1"/>
            <a:r>
              <a:rPr lang="zh-CN" altLang="en-US" dirty="0"/>
              <a:t>普医系统：数据处理</a:t>
            </a:r>
            <a:endParaRPr lang="zh-CN" altLang="en-US" dirty="0">
              <a:latin typeface="黑体" pitchFamily="49" charset="-122"/>
              <a:ea typeface="黑体" pitchFamily="49" charset="-122"/>
            </a:endParaRPr>
          </a:p>
        </p:txBody>
      </p:sp>
      <p:sp>
        <p:nvSpPr>
          <p:cNvPr id="29699"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pic>
        <p:nvPicPr>
          <p:cNvPr id="29700"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908050"/>
            <a:ext cx="5751512"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矩形标注 8"/>
          <p:cNvSpPr>
            <a:spLocks noChangeArrowheads="1"/>
          </p:cNvSpPr>
          <p:nvPr/>
        </p:nvSpPr>
        <p:spPr bwMode="auto">
          <a:xfrm>
            <a:off x="6097588" y="4292600"/>
            <a:ext cx="3024187" cy="1152525"/>
          </a:xfrm>
          <a:prstGeom prst="wedgeRectCallout">
            <a:avLst>
              <a:gd name="adj1" fmla="val -40444"/>
              <a:gd name="adj2" fmla="val -90028"/>
            </a:avLst>
          </a:prstGeom>
          <a:solidFill>
            <a:srgbClr val="FFFF00"/>
          </a:solidFill>
          <a:ln w="9525" algn="ctr">
            <a:solidFill>
              <a:schemeClr val="tx1"/>
            </a:solidFill>
            <a:round/>
            <a:headEnd/>
            <a:tailEnd/>
          </a:ln>
        </p:spPr>
        <p:txBody>
          <a:bodyPr/>
          <a:lstStyle/>
          <a:p>
            <a:r>
              <a:rPr lang="zh-CN" altLang="en-US" sz="3600">
                <a:latin typeface="Times New Roman" pitchFamily="18" charset="0"/>
                <a:ea typeface="宋体" pitchFamily="2" charset="-122"/>
              </a:rPr>
              <a:t>数据加工模块</a:t>
            </a:r>
            <a:endParaRPr lang="en-US" altLang="zh-CN" sz="3600">
              <a:latin typeface="Times New Roman" pitchFamily="18" charset="0"/>
              <a:ea typeface="宋体" pitchFamily="2" charset="-122"/>
            </a:endParaRPr>
          </a:p>
          <a:p>
            <a:r>
              <a:rPr lang="zh-CN" altLang="en-US" sz="3600">
                <a:latin typeface="Times New Roman" pitchFamily="18" charset="0"/>
                <a:ea typeface="宋体" pitchFamily="2" charset="-122"/>
              </a:rPr>
              <a:t>多源信息融合</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81</a:t>
            </a:fld>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p:cNvSpPr>
            <a:spLocks noGrp="1"/>
          </p:cNvSpPr>
          <p:nvPr>
            <p:ph idx="1"/>
          </p:nvPr>
        </p:nvSpPr>
        <p:spPr>
          <a:xfrm>
            <a:off x="457200" y="1196975"/>
            <a:ext cx="8229600" cy="4678363"/>
          </a:xfrm>
        </p:spPr>
        <p:txBody>
          <a:bodyPr/>
          <a:lstStyle/>
          <a:p>
            <a:pPr eaLnBrk="1" hangingPunct="1"/>
            <a:r>
              <a:rPr lang="zh-CN" altLang="en-US" sz="2400"/>
              <a:t>一些难点</a:t>
            </a:r>
            <a:endParaRPr lang="en-US" altLang="zh-CN" sz="2400"/>
          </a:p>
          <a:p>
            <a:pPr lvl="1" eaLnBrk="1" hangingPunct="1"/>
            <a:r>
              <a:rPr lang="zh-CN" altLang="en-US" sz="2400"/>
              <a:t>同一家医院具有不同的名称</a:t>
            </a:r>
            <a:endParaRPr lang="en-US" altLang="zh-CN" sz="2400"/>
          </a:p>
          <a:p>
            <a:pPr lvl="1" eaLnBrk="1" hangingPunct="1"/>
            <a:r>
              <a:rPr lang="zh-CN" altLang="en-US" sz="2400"/>
              <a:t>疾病可能分属多个分科</a:t>
            </a:r>
            <a:endParaRPr lang="en-US" altLang="zh-CN" sz="2400"/>
          </a:p>
          <a:p>
            <a:pPr lvl="1" eaLnBrk="1" hangingPunct="1"/>
            <a:r>
              <a:rPr lang="zh-CN" altLang="en-US" sz="2400"/>
              <a:t>一家医院的同一科室的冗余医生数据的甄别</a:t>
            </a:r>
            <a:endParaRPr lang="en-US" altLang="zh-CN" sz="2400"/>
          </a:p>
          <a:p>
            <a:pPr lvl="2" eaLnBrk="1" hangingPunct="1"/>
            <a:r>
              <a:rPr lang="zh-CN" altLang="en-US"/>
              <a:t>同一科室不同名医生</a:t>
            </a:r>
            <a:endParaRPr lang="en-US" altLang="zh-CN"/>
          </a:p>
          <a:p>
            <a:pPr lvl="2" eaLnBrk="1" hangingPunct="1"/>
            <a:r>
              <a:rPr lang="zh-CN" altLang="en-US"/>
              <a:t>同一科室同名医生</a:t>
            </a:r>
            <a:endParaRPr lang="en-US" altLang="zh-CN"/>
          </a:p>
          <a:p>
            <a:pPr lvl="3" eaLnBrk="1" hangingPunct="1"/>
            <a:r>
              <a:rPr lang="zh-CN" altLang="en-US" sz="2400"/>
              <a:t>可能是同一个人</a:t>
            </a:r>
            <a:endParaRPr lang="en-US" altLang="zh-CN" sz="2400"/>
          </a:p>
          <a:p>
            <a:pPr lvl="3" eaLnBrk="1" hangingPunct="1"/>
            <a:r>
              <a:rPr lang="zh-CN" altLang="en-US" sz="2400"/>
              <a:t>可能是不同人</a:t>
            </a:r>
          </a:p>
        </p:txBody>
      </p:sp>
      <p:sp>
        <p:nvSpPr>
          <p:cNvPr id="30723"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30724"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82</a:t>
            </a:fld>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dirty="0"/>
              <a:t>普医系统：数据处理</a:t>
            </a:r>
          </a:p>
        </p:txBody>
      </p:sp>
      <p:pic>
        <p:nvPicPr>
          <p:cNvPr id="317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933450"/>
            <a:ext cx="6092825" cy="453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748" name="矩形 4"/>
          <p:cNvSpPr>
            <a:spLocks noChangeArrowheads="1"/>
          </p:cNvSpPr>
          <p:nvPr/>
        </p:nvSpPr>
        <p:spPr bwMode="auto">
          <a:xfrm>
            <a:off x="179388" y="3995738"/>
            <a:ext cx="8856662" cy="576262"/>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同一家医院具有不同的名称</a:t>
            </a:r>
            <a:endParaRPr lang="en-US" altLang="zh-CN" sz="2800" b="1">
              <a:solidFill>
                <a:srgbClr val="FF0000"/>
              </a:solidFill>
              <a:latin typeface="宋体" pitchFamily="2" charset="-122"/>
              <a:ea typeface="宋体" pitchFamily="2" charset="-122"/>
            </a:endParaRP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83</a:t>
            </a:fld>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dirty="0"/>
              <a:t>普医系统：数据处理</a:t>
            </a:r>
          </a:p>
        </p:txBody>
      </p:sp>
      <p:pic>
        <p:nvPicPr>
          <p:cNvPr id="3277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950913"/>
            <a:ext cx="9121775" cy="4868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84</a:t>
            </a:fld>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a:t>普医系统的数据处理</a:t>
            </a:r>
          </a:p>
        </p:txBody>
      </p:sp>
      <p:pic>
        <p:nvPicPr>
          <p:cNvPr id="3379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23925"/>
            <a:ext cx="9153525" cy="48847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85</a:t>
            </a:fld>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2"/>
          <p:cNvSpPr>
            <a:spLocks noGrp="1"/>
          </p:cNvSpPr>
          <p:nvPr>
            <p:ph idx="1"/>
          </p:nvPr>
        </p:nvSpPr>
        <p:spPr>
          <a:xfrm>
            <a:off x="457200" y="1414463"/>
            <a:ext cx="8229600" cy="4678362"/>
          </a:xfrm>
        </p:spPr>
        <p:txBody>
          <a:bodyPr/>
          <a:lstStyle/>
          <a:p>
            <a:pPr eaLnBrk="1" hangingPunct="1"/>
            <a:r>
              <a:rPr lang="zh-CN" altLang="en-US"/>
              <a:t>理想情况下，一个疾病对应一个</a:t>
            </a:r>
            <a:r>
              <a:rPr lang="en-US" altLang="zh-CN"/>
              <a:t>2</a:t>
            </a:r>
            <a:r>
              <a:rPr lang="zh-CN" altLang="en-US"/>
              <a:t>级分科。</a:t>
            </a:r>
            <a:endParaRPr lang="en-US" altLang="zh-CN"/>
          </a:p>
          <a:p>
            <a:pPr lvl="1" eaLnBrk="1" hangingPunct="1"/>
            <a:r>
              <a:rPr lang="zh-CN" altLang="en-US"/>
              <a:t>例如，</a:t>
            </a:r>
            <a:r>
              <a:rPr lang="zh-CN" altLang="en-US" b="1"/>
              <a:t>鼻窦炎</a:t>
            </a:r>
            <a:r>
              <a:rPr lang="zh-CN" altLang="en-US"/>
              <a:t>分科到</a:t>
            </a:r>
            <a:r>
              <a:rPr lang="zh-CN" altLang="en-US" b="1"/>
              <a:t>耳鼻喉科</a:t>
            </a:r>
            <a:r>
              <a:rPr lang="zh-CN" altLang="en-US"/>
              <a:t>。</a:t>
            </a:r>
            <a:endParaRPr lang="en-US" altLang="zh-CN"/>
          </a:p>
          <a:p>
            <a:pPr eaLnBrk="1" hangingPunct="1"/>
            <a:r>
              <a:rPr lang="zh-CN" altLang="en-US"/>
              <a:t>现实中，往往存在一个疾病对应多个分科。</a:t>
            </a:r>
            <a:endParaRPr lang="en-US" altLang="zh-CN"/>
          </a:p>
          <a:p>
            <a:pPr lvl="1" eaLnBrk="1" hangingPunct="1"/>
            <a:r>
              <a:rPr lang="zh-CN" altLang="en-US"/>
              <a:t>例如，</a:t>
            </a:r>
            <a:endParaRPr lang="en-US" altLang="zh-CN"/>
          </a:p>
          <a:p>
            <a:pPr lvl="2" eaLnBrk="1" hangingPunct="1"/>
            <a:r>
              <a:rPr lang="zh-CN" altLang="en-US" b="1"/>
              <a:t>小儿感冒</a:t>
            </a:r>
            <a:r>
              <a:rPr lang="zh-CN" altLang="en-US"/>
              <a:t>可以分科到</a:t>
            </a:r>
            <a:r>
              <a:rPr lang="zh-CN" altLang="en-US" b="1"/>
              <a:t>儿科</a:t>
            </a:r>
            <a:r>
              <a:rPr lang="zh-CN" altLang="en-US"/>
              <a:t>、</a:t>
            </a:r>
            <a:r>
              <a:rPr lang="zh-CN" altLang="en-US" b="1"/>
              <a:t>呼吸内科</a:t>
            </a:r>
            <a:r>
              <a:rPr lang="zh-CN" altLang="en-US"/>
              <a:t>。</a:t>
            </a:r>
            <a:endParaRPr lang="en-US" altLang="zh-CN"/>
          </a:p>
          <a:p>
            <a:pPr lvl="2" eaLnBrk="1" hangingPunct="1"/>
            <a:r>
              <a:rPr lang="zh-CN" altLang="en-US" b="1"/>
              <a:t>痛风</a:t>
            </a:r>
            <a:r>
              <a:rPr lang="zh-CN" altLang="en-US"/>
              <a:t>可以分科到</a:t>
            </a:r>
            <a:r>
              <a:rPr lang="zh-CN" altLang="en-US" b="1"/>
              <a:t>内分泌科</a:t>
            </a:r>
            <a:r>
              <a:rPr lang="zh-CN" altLang="en-US"/>
              <a:t>、</a:t>
            </a:r>
            <a:r>
              <a:rPr lang="zh-CN" altLang="en-US" b="1"/>
              <a:t>风湿科</a:t>
            </a:r>
            <a:r>
              <a:rPr lang="zh-CN" altLang="en-US"/>
              <a:t>、</a:t>
            </a:r>
            <a:r>
              <a:rPr lang="zh-CN" altLang="en-US" b="1"/>
              <a:t>免疫科</a:t>
            </a:r>
            <a:r>
              <a:rPr lang="zh-CN" altLang="en-US"/>
              <a:t>、</a:t>
            </a:r>
            <a:r>
              <a:rPr lang="zh-CN" altLang="en-US" b="1"/>
              <a:t>骨科</a:t>
            </a:r>
            <a:r>
              <a:rPr lang="zh-CN" altLang="en-US"/>
              <a:t>等。</a:t>
            </a:r>
            <a:endParaRPr lang="en-US" altLang="zh-CN"/>
          </a:p>
        </p:txBody>
      </p:sp>
      <p:sp>
        <p:nvSpPr>
          <p:cNvPr id="34819"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34820" name="矩形 6"/>
          <p:cNvSpPr>
            <a:spLocks noChangeArrowheads="1"/>
          </p:cNvSpPr>
          <p:nvPr/>
        </p:nvSpPr>
        <p:spPr bwMode="auto">
          <a:xfrm>
            <a:off x="179388" y="4611688"/>
            <a:ext cx="8856662" cy="576262"/>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疾病对应不同分科</a:t>
            </a:r>
            <a:endParaRPr lang="en-US" altLang="zh-CN" sz="2800" b="1">
              <a:solidFill>
                <a:srgbClr val="FF0000"/>
              </a:solidFill>
              <a:latin typeface="宋体" pitchFamily="2" charset="-122"/>
              <a:ea typeface="宋体" pitchFamily="2" charset="-122"/>
            </a:endParaRPr>
          </a:p>
        </p:txBody>
      </p:sp>
      <p:sp>
        <p:nvSpPr>
          <p:cNvPr id="34821"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86</a:t>
            </a:fld>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2"/>
          <p:cNvSpPr>
            <a:spLocks noGrp="1"/>
          </p:cNvSpPr>
          <p:nvPr>
            <p:ph idx="1"/>
          </p:nvPr>
        </p:nvSpPr>
        <p:spPr>
          <a:xfrm>
            <a:off x="457200" y="1127125"/>
            <a:ext cx="8229600" cy="4678363"/>
          </a:xfrm>
        </p:spPr>
        <p:txBody>
          <a:bodyPr/>
          <a:lstStyle/>
          <a:p>
            <a:pPr eaLnBrk="1" hangingPunct="1"/>
            <a:r>
              <a:rPr lang="zh-CN" altLang="en-US"/>
              <a:t>痛风简介</a:t>
            </a:r>
            <a:endParaRPr lang="en-US" altLang="zh-CN"/>
          </a:p>
          <a:p>
            <a:pPr lvl="1" eaLnBrk="1" hangingPunct="1"/>
            <a:r>
              <a:rPr lang="zh-CN" altLang="en-US"/>
              <a:t>痛风是一种由于嘌呤生物合成代谢增加，尿酸产生过多或因尿酸排泄不良而致血中尿酸升高，尿酸盐结晶沉积在关节滑膜、滑囊，软骨及其他组织中引起的反复发作性炎性疾病。</a:t>
            </a:r>
            <a:endParaRPr lang="en-US" altLang="zh-CN"/>
          </a:p>
          <a:p>
            <a:pPr eaLnBrk="1" hangingPunct="1"/>
            <a:r>
              <a:rPr lang="zh-CN" altLang="en-US"/>
              <a:t>挂科意见</a:t>
            </a:r>
            <a:endParaRPr lang="en-US" altLang="zh-CN"/>
          </a:p>
          <a:p>
            <a:pPr lvl="1" eaLnBrk="1" hangingPunct="1"/>
            <a:r>
              <a:rPr lang="zh-CN" altLang="en-US" sz="2400"/>
              <a:t>患者仅血尿酸升高，可以到</a:t>
            </a:r>
            <a:r>
              <a:rPr lang="zh-CN" altLang="en-US" sz="2400" b="1"/>
              <a:t>风湿科</a:t>
            </a:r>
            <a:r>
              <a:rPr lang="zh-CN" altLang="en-US" sz="2400"/>
              <a:t>或</a:t>
            </a:r>
            <a:r>
              <a:rPr lang="zh-CN" altLang="en-US" sz="2400" b="1"/>
              <a:t>内分泌科</a:t>
            </a:r>
            <a:r>
              <a:rPr lang="zh-CN" altLang="en-US" sz="2400"/>
              <a:t>。</a:t>
            </a:r>
            <a:endParaRPr lang="en-US" altLang="zh-CN" sz="2400"/>
          </a:p>
          <a:p>
            <a:pPr lvl="1" eaLnBrk="1" hangingPunct="1"/>
            <a:r>
              <a:rPr lang="zh-CN" altLang="en-US" sz="2400"/>
              <a:t>患者若出现急性痛风性关节炎发作，则应到</a:t>
            </a:r>
            <a:r>
              <a:rPr lang="zh-CN" altLang="en-US" sz="2400" b="1"/>
              <a:t>风湿科</a:t>
            </a:r>
            <a:r>
              <a:rPr lang="zh-CN" altLang="en-US" sz="2400"/>
              <a:t>。</a:t>
            </a:r>
            <a:endParaRPr lang="en-US" altLang="zh-CN" sz="2400"/>
          </a:p>
          <a:p>
            <a:pPr lvl="1" eaLnBrk="1" hangingPunct="1"/>
            <a:r>
              <a:rPr lang="zh-CN" altLang="en-US" sz="2400"/>
              <a:t>患者若出现关节毁损，形成溃疡时，则要到</a:t>
            </a:r>
            <a:r>
              <a:rPr lang="zh-CN" altLang="en-US" sz="2400" b="1"/>
              <a:t>骨科</a:t>
            </a:r>
            <a:r>
              <a:rPr lang="zh-CN" altLang="en-US" sz="2400"/>
              <a:t>或</a:t>
            </a:r>
            <a:r>
              <a:rPr lang="zh-CN" altLang="en-US" sz="2400" b="1"/>
              <a:t>外科</a:t>
            </a:r>
            <a:r>
              <a:rPr lang="zh-CN" altLang="en-US" sz="2400"/>
              <a:t>接受手术治疗。</a:t>
            </a:r>
          </a:p>
        </p:txBody>
      </p:sp>
      <p:sp>
        <p:nvSpPr>
          <p:cNvPr id="35843" name="日期占位符 2"/>
          <p:cNvSpPr txBox="1">
            <a:spLocks noGrp="1"/>
          </p:cNvSpPr>
          <p:nvPr/>
        </p:nvSpPr>
        <p:spPr bwMode="auto">
          <a:xfrm>
            <a:off x="457200" y="627062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en-US" altLang="zh-CN" sz="1200">
                <a:solidFill>
                  <a:srgbClr val="898989"/>
                </a:solidFill>
                <a:latin typeface="Calibri" pitchFamily="34" charset="0"/>
              </a:rPr>
              <a:t>8/10/2015</a:t>
            </a:r>
            <a:endParaRPr lang="zh-CN" altLang="en-US" sz="1200">
              <a:solidFill>
                <a:srgbClr val="898989"/>
              </a:solidFill>
              <a:latin typeface="Calibri" pitchFamily="34" charset="0"/>
            </a:endParaRPr>
          </a:p>
        </p:txBody>
      </p:sp>
      <p:sp>
        <p:nvSpPr>
          <p:cNvPr id="35844" name="矩形 6"/>
          <p:cNvSpPr>
            <a:spLocks noChangeArrowheads="1"/>
          </p:cNvSpPr>
          <p:nvPr/>
        </p:nvSpPr>
        <p:spPr bwMode="auto">
          <a:xfrm>
            <a:off x="179388" y="4724400"/>
            <a:ext cx="8856662" cy="576263"/>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疾病对应不同分科</a:t>
            </a:r>
            <a:endParaRPr lang="en-US" altLang="zh-CN" sz="2800" b="1">
              <a:solidFill>
                <a:srgbClr val="FF0000"/>
              </a:solidFill>
              <a:latin typeface="宋体" pitchFamily="2" charset="-122"/>
              <a:ea typeface="宋体" pitchFamily="2" charset="-122"/>
            </a:endParaRPr>
          </a:p>
        </p:txBody>
      </p:sp>
      <p:sp>
        <p:nvSpPr>
          <p:cNvPr id="35845"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87</a:t>
            </a:fld>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2"/>
          <p:cNvSpPr>
            <a:spLocks noGrp="1"/>
          </p:cNvSpPr>
          <p:nvPr>
            <p:ph idx="1"/>
          </p:nvPr>
        </p:nvSpPr>
        <p:spPr>
          <a:xfrm>
            <a:off x="457200" y="1414463"/>
            <a:ext cx="8229600" cy="4678362"/>
          </a:xfrm>
        </p:spPr>
        <p:txBody>
          <a:bodyPr/>
          <a:lstStyle/>
          <a:p>
            <a:pPr eaLnBrk="1" hangingPunct="1"/>
            <a:r>
              <a:rPr lang="zh-CN" altLang="en-US" sz="2400"/>
              <a:t>网上对痛风该挂哪个科，意见也是不一而足。</a:t>
            </a:r>
            <a:endParaRPr lang="en-US" altLang="zh-CN" sz="2400"/>
          </a:p>
          <a:p>
            <a:pPr lvl="1" eaLnBrk="1" hangingPunct="1"/>
            <a:r>
              <a:rPr lang="zh-CN" altLang="en-US" sz="2400"/>
              <a:t>百度百科、求医问药等，将其归入内科下的</a:t>
            </a:r>
            <a:r>
              <a:rPr lang="zh-CN" altLang="en-US" sz="2400" b="1"/>
              <a:t>风湿科</a:t>
            </a:r>
            <a:r>
              <a:rPr lang="zh-CN" altLang="en-US" sz="2400"/>
              <a:t>。</a:t>
            </a:r>
            <a:endParaRPr lang="en-US" altLang="zh-CN" sz="2400"/>
          </a:p>
          <a:p>
            <a:pPr lvl="1" eaLnBrk="1" hangingPunct="1"/>
            <a:r>
              <a:rPr lang="zh-CN" altLang="en-US" sz="2400"/>
              <a:t>医院导医，建议挂</a:t>
            </a:r>
            <a:r>
              <a:rPr lang="zh-CN" altLang="en-US" sz="2400" b="1"/>
              <a:t>内分泌科</a:t>
            </a:r>
            <a:r>
              <a:rPr lang="zh-CN" altLang="en-US" sz="2400"/>
              <a:t>、</a:t>
            </a:r>
            <a:r>
              <a:rPr lang="zh-CN" altLang="en-US" sz="2400" b="1"/>
              <a:t>风湿科</a:t>
            </a:r>
            <a:r>
              <a:rPr lang="zh-CN" altLang="en-US" sz="2400"/>
              <a:t>或</a:t>
            </a:r>
            <a:r>
              <a:rPr lang="zh-CN" altLang="en-US" sz="2400" b="1"/>
              <a:t>免疫科</a:t>
            </a:r>
            <a:r>
              <a:rPr lang="zh-CN" altLang="en-US" sz="2400"/>
              <a:t>。</a:t>
            </a:r>
            <a:endParaRPr lang="en-US" altLang="zh-CN" sz="2400"/>
          </a:p>
          <a:p>
            <a:pPr lvl="1" eaLnBrk="1" hangingPunct="1"/>
            <a:r>
              <a:rPr lang="zh-CN" altLang="en-US" sz="2400"/>
              <a:t>百度知道网友，也有建议挂骨科或外科。</a:t>
            </a:r>
            <a:endParaRPr lang="en-US" altLang="zh-CN" sz="2400"/>
          </a:p>
        </p:txBody>
      </p:sp>
      <p:sp>
        <p:nvSpPr>
          <p:cNvPr id="36867" name="标题 2"/>
          <p:cNvSpPr>
            <a:spLocks noGrp="1"/>
          </p:cNvSpPr>
          <p:nvPr>
            <p:ph type="title"/>
          </p:nvPr>
        </p:nvSpPr>
        <p:spPr/>
        <p:txBody>
          <a:bodyPr/>
          <a:lstStyle/>
          <a:p>
            <a:r>
              <a:rPr lang="zh-CN" altLang="en-US" dirty="0"/>
              <a:t>普医系统：数据处理</a:t>
            </a:r>
          </a:p>
        </p:txBody>
      </p:sp>
      <p:sp>
        <p:nvSpPr>
          <p:cNvPr id="36868" name="矩形 8"/>
          <p:cNvSpPr>
            <a:spLocks noChangeArrowheads="1"/>
          </p:cNvSpPr>
          <p:nvPr/>
        </p:nvSpPr>
        <p:spPr bwMode="auto">
          <a:xfrm>
            <a:off x="179388" y="4724400"/>
            <a:ext cx="8856662" cy="576263"/>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疾病对应不同分科</a:t>
            </a:r>
            <a:endParaRPr lang="en-US" altLang="zh-CN" sz="2800" b="1">
              <a:solidFill>
                <a:srgbClr val="FF0000"/>
              </a:solidFill>
              <a:latin typeface="宋体" pitchFamily="2" charset="-122"/>
              <a:ea typeface="宋体" pitchFamily="2" charset="-122"/>
            </a:endParaRP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88</a:t>
            </a:fld>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a:grpSpLocks/>
          </p:cNvGrpSpPr>
          <p:nvPr/>
        </p:nvGrpSpPr>
        <p:grpSpPr bwMode="auto">
          <a:xfrm>
            <a:off x="341313" y="1123950"/>
            <a:ext cx="5349875" cy="3476864"/>
            <a:chOff x="342900" y="1484785"/>
            <a:chExt cx="5350342" cy="3476684"/>
          </a:xfrm>
        </p:grpSpPr>
        <p:pic>
          <p:nvPicPr>
            <p:cNvPr id="3790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1484785"/>
              <a:ext cx="5350342"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5" name="TextBox 26"/>
            <p:cNvSpPr txBox="1">
              <a:spLocks noChangeArrowheads="1"/>
            </p:cNvSpPr>
            <p:nvPr/>
          </p:nvSpPr>
          <p:spPr bwMode="auto">
            <a:xfrm>
              <a:off x="1331640" y="4499828"/>
              <a:ext cx="3057514" cy="461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dirty="0"/>
                <a:t>百度百科归入风湿科</a:t>
              </a:r>
            </a:p>
          </p:txBody>
        </p:sp>
      </p:grpSp>
      <p:grpSp>
        <p:nvGrpSpPr>
          <p:cNvPr id="28" name="组合 27"/>
          <p:cNvGrpSpPr>
            <a:grpSpLocks/>
          </p:cNvGrpSpPr>
          <p:nvPr/>
        </p:nvGrpSpPr>
        <p:grpSpPr bwMode="auto">
          <a:xfrm>
            <a:off x="1692376" y="1357313"/>
            <a:ext cx="4464050" cy="4045306"/>
            <a:chOff x="1443640" y="1628800"/>
            <a:chExt cx="4463206" cy="4046386"/>
          </a:xfrm>
        </p:grpSpPr>
        <p:pic>
          <p:nvPicPr>
            <p:cNvPr id="3790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640" y="1628800"/>
              <a:ext cx="4463206" cy="3563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3" name="TextBox 29"/>
            <p:cNvSpPr txBox="1">
              <a:spLocks noChangeArrowheads="1"/>
            </p:cNvSpPr>
            <p:nvPr/>
          </p:nvSpPr>
          <p:spPr bwMode="auto">
            <a:xfrm>
              <a:off x="2269385" y="5213398"/>
              <a:ext cx="2954096" cy="46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dirty="0"/>
                <a:t>搜狐健康归入风湿科</a:t>
              </a:r>
            </a:p>
          </p:txBody>
        </p:sp>
      </p:grpSp>
      <p:grpSp>
        <p:nvGrpSpPr>
          <p:cNvPr id="16" name="组合 15"/>
          <p:cNvGrpSpPr>
            <a:grpSpLocks/>
          </p:cNvGrpSpPr>
          <p:nvPr/>
        </p:nvGrpSpPr>
        <p:grpSpPr bwMode="auto">
          <a:xfrm>
            <a:off x="2672525" y="1952324"/>
            <a:ext cx="5243512" cy="3838828"/>
            <a:chOff x="2549030" y="1617955"/>
            <a:chExt cx="5242343" cy="3838776"/>
          </a:xfrm>
        </p:grpSpPr>
        <p:sp>
          <p:nvSpPr>
            <p:cNvPr id="37900" name="TextBox 9"/>
            <p:cNvSpPr txBox="1">
              <a:spLocks noChangeArrowheads="1"/>
            </p:cNvSpPr>
            <p:nvPr/>
          </p:nvSpPr>
          <p:spPr bwMode="auto">
            <a:xfrm>
              <a:off x="3800627" y="4995072"/>
              <a:ext cx="2953996" cy="461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dirty="0"/>
                <a:t>求医网归入内分泌科</a:t>
              </a:r>
            </a:p>
          </p:txBody>
        </p:sp>
        <p:pic>
          <p:nvPicPr>
            <p:cNvPr id="3790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9030" y="1617955"/>
              <a:ext cx="5242343" cy="3302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 name="组合 31"/>
          <p:cNvGrpSpPr>
            <a:grpSpLocks/>
          </p:cNvGrpSpPr>
          <p:nvPr/>
        </p:nvGrpSpPr>
        <p:grpSpPr bwMode="auto">
          <a:xfrm>
            <a:off x="4494818" y="1820487"/>
            <a:ext cx="4506912" cy="4511887"/>
            <a:chOff x="4259630" y="1864136"/>
            <a:chExt cx="4506498" cy="4511319"/>
          </a:xfrm>
        </p:grpSpPr>
        <p:pic>
          <p:nvPicPr>
            <p:cNvPr id="3789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9630" y="1864136"/>
              <a:ext cx="4506498" cy="397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9" name="TextBox 33"/>
            <p:cNvSpPr txBox="1">
              <a:spLocks noChangeArrowheads="1"/>
            </p:cNvSpPr>
            <p:nvPr/>
          </p:nvSpPr>
          <p:spPr bwMode="auto">
            <a:xfrm>
              <a:off x="5170202" y="5913848"/>
              <a:ext cx="3262132" cy="461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dirty="0"/>
                <a:t>好大夫归入风湿免疫科</a:t>
              </a:r>
            </a:p>
          </p:txBody>
        </p:sp>
      </p:grpSp>
      <p:sp>
        <p:nvSpPr>
          <p:cNvPr id="37894" name="矩形 17"/>
          <p:cNvSpPr>
            <a:spLocks noChangeArrowheads="1"/>
          </p:cNvSpPr>
          <p:nvPr/>
        </p:nvSpPr>
        <p:spPr bwMode="auto">
          <a:xfrm>
            <a:off x="179388" y="1069975"/>
            <a:ext cx="8856662" cy="574675"/>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疾病对应不同分科</a:t>
            </a:r>
            <a:endParaRPr lang="en-US" altLang="zh-CN" sz="2800" b="1">
              <a:solidFill>
                <a:srgbClr val="FF0000"/>
              </a:solidFill>
              <a:latin typeface="宋体" pitchFamily="2" charset="-122"/>
              <a:ea typeface="宋体" pitchFamily="2" charset="-122"/>
            </a:endParaRPr>
          </a:p>
        </p:txBody>
      </p:sp>
      <p:sp>
        <p:nvSpPr>
          <p:cNvPr id="37895"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4120E854-F7E3-4995-96B0-05AE77D8A5A4}" type="slidenum">
              <a:rPr lang="zh-CN" altLang="en-US" smtClean="0"/>
              <a:pPr>
                <a:defRPr/>
              </a:pPr>
              <a:t>89</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1000"/>
                                        <p:tgtEl>
                                          <p:spTgt spid="32"/>
                                        </p:tgtEl>
                                      </p:cBhvr>
                                    </p:animEffect>
                                    <p:anim calcmode="lin" valueType="num">
                                      <p:cBhvr>
                                        <p:cTn id="29" dur="1000" fill="hold"/>
                                        <p:tgtEl>
                                          <p:spTgt spid="32"/>
                                        </p:tgtEl>
                                        <p:attrNameLst>
                                          <p:attrName>ppt_x</p:attrName>
                                        </p:attrNameLst>
                                      </p:cBhvr>
                                      <p:tavLst>
                                        <p:tav tm="0">
                                          <p:val>
                                            <p:strVal val="#ppt_x"/>
                                          </p:val>
                                        </p:tav>
                                        <p:tav tm="100000">
                                          <p:val>
                                            <p:strVal val="#ppt_x"/>
                                          </p:val>
                                        </p:tav>
                                      </p:tavLst>
                                    </p:anim>
                                    <p:anim calcmode="lin" valueType="num">
                                      <p:cBhvr>
                                        <p:cTn id="3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内容占位符 2"/>
          <p:cNvSpPr>
            <a:spLocks noGrp="1"/>
          </p:cNvSpPr>
          <p:nvPr>
            <p:ph idx="1"/>
          </p:nvPr>
        </p:nvSpPr>
        <p:spPr>
          <a:xfrm>
            <a:off x="457200" y="1414463"/>
            <a:ext cx="8229600" cy="4678362"/>
          </a:xfrm>
        </p:spPr>
        <p:txBody>
          <a:bodyPr/>
          <a:lstStyle/>
          <a:p>
            <a:pPr eaLnBrk="1" hangingPunct="1"/>
            <a:r>
              <a:rPr lang="zh-CN" altLang="en-US"/>
              <a:t>例如，北京儿童医院</a:t>
            </a:r>
            <a:r>
              <a:rPr lang="en-US" altLang="zh-CN"/>
              <a:t>-</a:t>
            </a:r>
            <a:r>
              <a:rPr lang="zh-CN" altLang="en-US"/>
              <a:t>风湿科有信息相似较高的两位医生，即</a:t>
            </a:r>
            <a:r>
              <a:rPr lang="zh-CN" altLang="en-US" b="1"/>
              <a:t>宋淑媛</a:t>
            </a:r>
            <a:r>
              <a:rPr lang="zh-CN" altLang="en-US"/>
              <a:t>和</a:t>
            </a:r>
            <a:r>
              <a:rPr lang="zh-CN" altLang="en-US" b="1"/>
              <a:t>宋淑爱</a:t>
            </a:r>
            <a:r>
              <a:rPr lang="zh-CN" altLang="en-US"/>
              <a:t>。</a:t>
            </a:r>
            <a:endParaRPr lang="en-US" altLang="zh-CN"/>
          </a:p>
          <a:p>
            <a:pPr eaLnBrk="1" hangingPunct="1"/>
            <a:r>
              <a:rPr lang="zh-CN" altLang="en-US"/>
              <a:t>百度关键词检索，并不能很好的甄别数据是否冗余。</a:t>
            </a:r>
            <a:endParaRPr lang="en-US" altLang="zh-CN"/>
          </a:p>
          <a:p>
            <a:pPr lvl="1" eaLnBrk="1" hangingPunct="1"/>
            <a:r>
              <a:rPr lang="zh-CN" altLang="en-US"/>
              <a:t>宋淑媛数据较全</a:t>
            </a:r>
            <a:endParaRPr lang="en-US" altLang="zh-CN"/>
          </a:p>
          <a:p>
            <a:pPr lvl="1" eaLnBrk="1" hangingPunct="1"/>
            <a:r>
              <a:rPr lang="zh-CN" altLang="en-US"/>
              <a:t>宋淑爱数据缺乏</a:t>
            </a:r>
            <a:endParaRPr lang="en-US" altLang="zh-CN"/>
          </a:p>
        </p:txBody>
      </p:sp>
      <p:pic>
        <p:nvPicPr>
          <p:cNvPr id="389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797425"/>
            <a:ext cx="837882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矩形 7"/>
          <p:cNvSpPr>
            <a:spLocks noChangeArrowheads="1"/>
          </p:cNvSpPr>
          <p:nvPr/>
        </p:nvSpPr>
        <p:spPr bwMode="auto">
          <a:xfrm>
            <a:off x="163513" y="3933825"/>
            <a:ext cx="8856662" cy="574675"/>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一家医院的同一科室的冗余医生数据的甄别</a:t>
            </a:r>
          </a:p>
        </p:txBody>
      </p:sp>
      <p:sp>
        <p:nvSpPr>
          <p:cNvPr id="38917"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90</a:t>
            </a:fld>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108075"/>
            <a:ext cx="3389313" cy="437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108075"/>
            <a:ext cx="3389312" cy="437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TextBox 8"/>
          <p:cNvSpPr txBox="1">
            <a:spLocks noChangeArrowheads="1"/>
          </p:cNvSpPr>
          <p:nvPr/>
        </p:nvSpPr>
        <p:spPr bwMode="auto">
          <a:xfrm>
            <a:off x="1258888" y="5548313"/>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dirty="0"/>
              <a:t>百度检索宋淑媛</a:t>
            </a:r>
          </a:p>
        </p:txBody>
      </p:sp>
      <p:sp>
        <p:nvSpPr>
          <p:cNvPr id="39941" name="TextBox 9"/>
          <p:cNvSpPr txBox="1">
            <a:spLocks noChangeArrowheads="1"/>
          </p:cNvSpPr>
          <p:nvPr/>
        </p:nvSpPr>
        <p:spPr bwMode="auto">
          <a:xfrm>
            <a:off x="5441950" y="5548313"/>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dirty="0"/>
              <a:t>百度检索宋淑爱</a:t>
            </a:r>
          </a:p>
        </p:txBody>
      </p:sp>
      <p:sp>
        <p:nvSpPr>
          <p:cNvPr id="39942" name="矩形 10"/>
          <p:cNvSpPr>
            <a:spLocks noChangeArrowheads="1"/>
          </p:cNvSpPr>
          <p:nvPr/>
        </p:nvSpPr>
        <p:spPr bwMode="auto">
          <a:xfrm>
            <a:off x="163513" y="3933825"/>
            <a:ext cx="8856662" cy="574675"/>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一家医院的同一科室的冗余医生数据的甄别</a:t>
            </a:r>
          </a:p>
        </p:txBody>
      </p:sp>
      <p:sp>
        <p:nvSpPr>
          <p:cNvPr id="39943"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91</a:t>
            </a:fld>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8"/>
          <p:cNvSpPr txBox="1">
            <a:spLocks noChangeArrowheads="1"/>
          </p:cNvSpPr>
          <p:nvPr/>
        </p:nvSpPr>
        <p:spPr bwMode="auto">
          <a:xfrm>
            <a:off x="2963471" y="5877485"/>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dirty="0"/>
              <a:t>宋淑媛与宋淑爱信息相似</a:t>
            </a:r>
          </a:p>
        </p:txBody>
      </p:sp>
      <p:pic>
        <p:nvPicPr>
          <p:cNvPr id="1024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 y="1125538"/>
            <a:ext cx="5459413"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1125538"/>
            <a:ext cx="54006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矩形 8"/>
          <p:cNvSpPr>
            <a:spLocks noChangeArrowheads="1"/>
          </p:cNvSpPr>
          <p:nvPr/>
        </p:nvSpPr>
        <p:spPr bwMode="auto">
          <a:xfrm>
            <a:off x="144463" y="981075"/>
            <a:ext cx="8856662" cy="576263"/>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一家医院的同一科室的冗余医生数据的甄别</a:t>
            </a:r>
          </a:p>
        </p:txBody>
      </p:sp>
      <p:sp>
        <p:nvSpPr>
          <p:cNvPr id="40966"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92</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0247"/>
                                        </p:tgtEl>
                                        <p:attrNameLst>
                                          <p:attrName>style.visibility</p:attrName>
                                        </p:attrNameLst>
                                      </p:cBhvr>
                                      <p:to>
                                        <p:strVal val="visible"/>
                                      </p:to>
                                    </p:set>
                                    <p:animEffect transition="in" filter="fade">
                                      <p:cBhvr>
                                        <p:cTn id="7" dur="1000"/>
                                        <p:tgtEl>
                                          <p:spTgt spid="10247"/>
                                        </p:tgtEl>
                                      </p:cBhvr>
                                    </p:animEffect>
                                    <p:anim calcmode="lin" valueType="num">
                                      <p:cBhvr>
                                        <p:cTn id="8" dur="1000" fill="hold"/>
                                        <p:tgtEl>
                                          <p:spTgt spid="10247"/>
                                        </p:tgtEl>
                                        <p:attrNameLst>
                                          <p:attrName>ppt_x</p:attrName>
                                        </p:attrNameLst>
                                      </p:cBhvr>
                                      <p:tavLst>
                                        <p:tav tm="0">
                                          <p:val>
                                            <p:strVal val="#ppt_x"/>
                                          </p:val>
                                        </p:tav>
                                        <p:tav tm="100000">
                                          <p:val>
                                            <p:strVal val="#ppt_x"/>
                                          </p:val>
                                        </p:tav>
                                      </p:tavLst>
                                    </p:anim>
                                    <p:anim calcmode="lin" valueType="num">
                                      <p:cBhvr>
                                        <p:cTn id="9" dur="1000" fill="hold"/>
                                        <p:tgtEl>
                                          <p:spTgt spid="1024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0248"/>
                                        </p:tgtEl>
                                        <p:attrNameLst>
                                          <p:attrName>style.visibility</p:attrName>
                                        </p:attrNameLst>
                                      </p:cBhvr>
                                      <p:to>
                                        <p:strVal val="visible"/>
                                      </p:to>
                                    </p:set>
                                    <p:animEffect transition="in" filter="fade">
                                      <p:cBhvr>
                                        <p:cTn id="14" dur="1000"/>
                                        <p:tgtEl>
                                          <p:spTgt spid="10248"/>
                                        </p:tgtEl>
                                      </p:cBhvr>
                                    </p:animEffect>
                                    <p:anim calcmode="lin" valueType="num">
                                      <p:cBhvr>
                                        <p:cTn id="15" dur="1000" fill="hold"/>
                                        <p:tgtEl>
                                          <p:spTgt spid="10248"/>
                                        </p:tgtEl>
                                        <p:attrNameLst>
                                          <p:attrName>ppt_x</p:attrName>
                                        </p:attrNameLst>
                                      </p:cBhvr>
                                      <p:tavLst>
                                        <p:tav tm="0">
                                          <p:val>
                                            <p:strVal val="#ppt_x"/>
                                          </p:val>
                                        </p:tav>
                                        <p:tav tm="100000">
                                          <p:val>
                                            <p:strVal val="#ppt_x"/>
                                          </p:val>
                                        </p:tav>
                                      </p:tavLst>
                                    </p:anim>
                                    <p:anim calcmode="lin" valueType="num">
                                      <p:cBhvr>
                                        <p:cTn id="16" dur="1000" fill="hold"/>
                                        <p:tgtEl>
                                          <p:spTgt spid="102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p:cNvSpPr>
            <a:spLocks noGrp="1"/>
          </p:cNvSpPr>
          <p:nvPr>
            <p:ph idx="1"/>
          </p:nvPr>
        </p:nvSpPr>
        <p:spPr>
          <a:xfrm>
            <a:off x="457200" y="1414463"/>
            <a:ext cx="8229600" cy="4678362"/>
          </a:xfrm>
        </p:spPr>
        <p:txBody>
          <a:bodyPr/>
          <a:lstStyle/>
          <a:p>
            <a:pPr eaLnBrk="1" hangingPunct="1"/>
            <a:r>
              <a:rPr lang="zh-CN" altLang="en-US"/>
              <a:t>不能确定是否为同一人，可能情况有，</a:t>
            </a:r>
            <a:endParaRPr lang="en-US" altLang="zh-CN"/>
          </a:p>
          <a:p>
            <a:pPr lvl="1" eaLnBrk="1" hangingPunct="1"/>
            <a:r>
              <a:rPr lang="zh-CN" altLang="en-US"/>
              <a:t>数据错误，“爱”为“媛”字的错写。</a:t>
            </a:r>
            <a:endParaRPr lang="en-US" altLang="zh-CN"/>
          </a:p>
          <a:p>
            <a:pPr lvl="1" eaLnBrk="1" hangingPunct="1"/>
            <a:r>
              <a:rPr lang="zh-CN" altLang="en-US"/>
              <a:t>数据正确，该科室下的确有这两位医生。</a:t>
            </a:r>
          </a:p>
        </p:txBody>
      </p:sp>
      <p:pic>
        <p:nvPicPr>
          <p:cNvPr id="419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441825"/>
            <a:ext cx="837882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矩形 7"/>
          <p:cNvSpPr>
            <a:spLocks noChangeArrowheads="1"/>
          </p:cNvSpPr>
          <p:nvPr/>
        </p:nvSpPr>
        <p:spPr bwMode="auto">
          <a:xfrm>
            <a:off x="163513" y="3933825"/>
            <a:ext cx="8856662" cy="574675"/>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一家医院的同一科室的冗余医生数据的甄别</a:t>
            </a:r>
          </a:p>
        </p:txBody>
      </p:sp>
      <p:sp>
        <p:nvSpPr>
          <p:cNvPr id="41989"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93</a:t>
            </a:fld>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a:grpSpLocks/>
          </p:cNvGrpSpPr>
          <p:nvPr/>
        </p:nvGrpSpPr>
        <p:grpSpPr bwMode="auto">
          <a:xfrm>
            <a:off x="392113" y="1222375"/>
            <a:ext cx="5445125" cy="3579813"/>
            <a:chOff x="391909" y="1222602"/>
            <a:chExt cx="5445000" cy="3579046"/>
          </a:xfrm>
        </p:grpSpPr>
        <p:sp>
          <p:nvSpPr>
            <p:cNvPr id="43017" name="TextBox 6"/>
            <p:cNvSpPr txBox="1">
              <a:spLocks noChangeArrowheads="1"/>
            </p:cNvSpPr>
            <p:nvPr/>
          </p:nvSpPr>
          <p:spPr bwMode="auto">
            <a:xfrm>
              <a:off x="1763688" y="4340103"/>
              <a:ext cx="2339048" cy="46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a:t>宋淑媛发表论文</a:t>
              </a:r>
            </a:p>
          </p:txBody>
        </p:sp>
        <p:pic>
          <p:nvPicPr>
            <p:cNvPr id="4301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909" y="1222602"/>
              <a:ext cx="5445000" cy="3106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 name="组合 13"/>
          <p:cNvGrpSpPr>
            <a:grpSpLocks/>
          </p:cNvGrpSpPr>
          <p:nvPr/>
        </p:nvGrpSpPr>
        <p:grpSpPr bwMode="auto">
          <a:xfrm>
            <a:off x="2700338" y="1857375"/>
            <a:ext cx="6016625" cy="4368800"/>
            <a:chOff x="2699792" y="1856769"/>
            <a:chExt cx="6017865" cy="4369559"/>
          </a:xfrm>
        </p:grpSpPr>
        <p:sp>
          <p:nvSpPr>
            <p:cNvPr id="43015" name="TextBox 7"/>
            <p:cNvSpPr txBox="1">
              <a:spLocks noChangeArrowheads="1"/>
            </p:cNvSpPr>
            <p:nvPr/>
          </p:nvSpPr>
          <p:spPr bwMode="auto">
            <a:xfrm>
              <a:off x="4660946" y="5764614"/>
              <a:ext cx="2339584" cy="461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Gulim" pitchFamily="34" charset="-127"/>
                  <a:ea typeface="Gulim" pitchFamily="34" charset="-127"/>
                </a:defRPr>
              </a:lvl1pPr>
              <a:lvl2pPr marL="742950" indent="-285750" eaLnBrk="0" hangingPunct="0">
                <a:defRPr kumimoji="1" sz="2400">
                  <a:solidFill>
                    <a:schemeClr val="tx1"/>
                  </a:solidFill>
                  <a:latin typeface="Gulim" pitchFamily="34" charset="-127"/>
                  <a:ea typeface="Gulim" pitchFamily="34" charset="-127"/>
                </a:defRPr>
              </a:lvl2pPr>
              <a:lvl3pPr marL="1143000" indent="-228600" eaLnBrk="0" hangingPunct="0">
                <a:defRPr kumimoji="1" sz="2400">
                  <a:solidFill>
                    <a:schemeClr val="tx1"/>
                  </a:solidFill>
                  <a:latin typeface="Gulim" pitchFamily="34" charset="-127"/>
                  <a:ea typeface="Gulim" pitchFamily="34" charset="-127"/>
                </a:defRPr>
              </a:lvl3pPr>
              <a:lvl4pPr marL="1600200" indent="-228600" eaLnBrk="0" hangingPunct="0">
                <a:defRPr kumimoji="1" sz="2400">
                  <a:solidFill>
                    <a:schemeClr val="tx1"/>
                  </a:solidFill>
                  <a:latin typeface="Gulim" pitchFamily="34" charset="-127"/>
                  <a:ea typeface="Gulim" pitchFamily="34" charset="-127"/>
                </a:defRPr>
              </a:lvl4pPr>
              <a:lvl5pPr marL="2057400" indent="-228600" eaLnBrk="0" hangingPunct="0">
                <a:defRPr kumimoji="1" sz="2400">
                  <a:solidFill>
                    <a:schemeClr val="tx1"/>
                  </a:solidFill>
                  <a:latin typeface="Gulim" pitchFamily="34" charset="-127"/>
                  <a:ea typeface="Gulim" pitchFamily="34" charset="-127"/>
                </a:defRPr>
              </a:lvl5pPr>
              <a:lvl6pPr marL="25146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6pPr>
              <a:lvl7pPr marL="29718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7pPr>
              <a:lvl8pPr marL="34290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8pPr>
              <a:lvl9pPr marL="3886200" indent="-228600" eaLnBrk="0" fontAlgn="base" latinLnBrk="1" hangingPunct="0">
                <a:spcBef>
                  <a:spcPct val="0"/>
                </a:spcBef>
                <a:spcAft>
                  <a:spcPct val="0"/>
                </a:spcAft>
                <a:defRPr kumimoji="1" sz="2400">
                  <a:solidFill>
                    <a:schemeClr val="tx1"/>
                  </a:solidFill>
                  <a:latin typeface="Gulim" pitchFamily="34" charset="-127"/>
                  <a:ea typeface="Gulim" pitchFamily="34" charset="-127"/>
                </a:defRPr>
              </a:lvl9pPr>
            </a:lstStyle>
            <a:p>
              <a:pPr eaLnBrk="1" hangingPunct="1"/>
              <a:r>
                <a:rPr lang="zh-CN" altLang="en-US"/>
                <a:t>宋淑爱发表论文</a:t>
              </a:r>
            </a:p>
          </p:txBody>
        </p:sp>
        <p:pic>
          <p:nvPicPr>
            <p:cNvPr id="4301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1856769"/>
              <a:ext cx="6017865" cy="3751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012" name="矩形 12"/>
          <p:cNvSpPr>
            <a:spLocks noChangeArrowheads="1"/>
          </p:cNvSpPr>
          <p:nvPr/>
        </p:nvSpPr>
        <p:spPr bwMode="auto">
          <a:xfrm>
            <a:off x="157163" y="1017588"/>
            <a:ext cx="8856662" cy="576262"/>
          </a:xfrm>
          <a:prstGeom prst="rect">
            <a:avLst/>
          </a:prstGeom>
          <a:solidFill>
            <a:srgbClr val="FFC000"/>
          </a:solidFill>
          <a:ln w="9525" algn="ctr">
            <a:solidFill>
              <a:schemeClr val="tx1"/>
            </a:solidFill>
            <a:round/>
            <a:headEnd/>
            <a:tailEnd/>
          </a:ln>
        </p:spPr>
        <p:txBody>
          <a:bodyPr/>
          <a:lstStyle/>
          <a:p>
            <a:pPr marL="0" lvl="1" algn="ctr"/>
            <a:r>
              <a:rPr lang="zh-CN" altLang="en-US" sz="2800" b="1">
                <a:solidFill>
                  <a:srgbClr val="FF0000"/>
                </a:solidFill>
                <a:latin typeface="宋体" pitchFamily="2" charset="-122"/>
                <a:ea typeface="宋体" pitchFamily="2" charset="-122"/>
              </a:rPr>
              <a:t>一家医院的同一科室的冗余医生数据的甄别</a:t>
            </a:r>
          </a:p>
        </p:txBody>
      </p:sp>
      <p:sp>
        <p:nvSpPr>
          <p:cNvPr id="43013" name="标题 1"/>
          <p:cNvSpPr>
            <a:spLocks noGrp="1"/>
          </p:cNvSpPr>
          <p:nvPr>
            <p:ph type="title"/>
          </p:nvPr>
        </p:nvSpPr>
        <p:spPr/>
        <p:txBody>
          <a:bodyPr/>
          <a:lstStyle/>
          <a:p>
            <a:r>
              <a:rPr lang="zh-CN" altLang="en-US" dirty="0"/>
              <a:t>普医系统：数据处理</a:t>
            </a:r>
          </a:p>
        </p:txBody>
      </p:sp>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94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dirty="0"/>
              <a:t>普医系统：相关工作</a:t>
            </a:r>
          </a:p>
        </p:txBody>
      </p:sp>
      <p:pic>
        <p:nvPicPr>
          <p:cNvPr id="44035" name="Picture 2" descr="http://dmic.hfut.edu.cn/images/as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927350"/>
            <a:ext cx="5400675"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1249363"/>
            <a:ext cx="1800225" cy="160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0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249363"/>
            <a:ext cx="1509712" cy="155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03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1001713"/>
            <a:ext cx="2087563" cy="1887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95</a:t>
            </a:fld>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dirty="0"/>
              <a:t>普医系统：相关工作</a:t>
            </a:r>
          </a:p>
        </p:txBody>
      </p:sp>
      <p:pic>
        <p:nvPicPr>
          <p:cNvPr id="45060" name="图片 4" descr="D:\GQ-X1\DMiC\成果处\获奖\WI 2012最优论文奖.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00" y="981075"/>
            <a:ext cx="6985000"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96</a:t>
            </a:fld>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dirty="0"/>
              <a:t>普医系统：相关工作</a:t>
            </a:r>
          </a:p>
        </p:txBody>
      </p:sp>
      <p:pic>
        <p:nvPicPr>
          <p:cNvPr id="46084" name="图片 4" descr="D:\GQ-U32G\DMiC\成果处\获奖\ictai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500" y="981075"/>
            <a:ext cx="6307138" cy="422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pPr>
              <a:defRPr/>
            </a:pPr>
            <a:fld id="{73B3C56C-5700-4E55-BF40-61423C59FA56}" type="slidenum">
              <a:rPr lang="zh-CN" altLang="en-US" smtClean="0"/>
              <a:pPr>
                <a:defRPr/>
              </a:pPr>
              <a:t>97</a:t>
            </a:fld>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0" y="1719064"/>
            <a:ext cx="9144000" cy="2286000"/>
          </a:xfrm>
          <a:prstGeom prst="ellipse">
            <a:avLst/>
          </a:prstGeom>
          <a:ln>
            <a:noFill/>
          </a:ln>
          <a:effectLst>
            <a:softEdge rad="112500"/>
          </a:effectLst>
        </p:spPr>
      </p:pic>
      <p:sp>
        <p:nvSpPr>
          <p:cNvPr id="3" name="矩形 2"/>
          <p:cNvSpPr/>
          <p:nvPr/>
        </p:nvSpPr>
        <p:spPr>
          <a:xfrm>
            <a:off x="38685" y="1098000"/>
            <a:ext cx="9144000" cy="5760000"/>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826686" y="2409527"/>
            <a:ext cx="1838965" cy="923330"/>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altLang="zh-CN" sz="5400" b="1" cap="all">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Q/A?</a:t>
            </a:r>
            <a:endParaRPr lang="zh-CN" altLang="en-US" sz="5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4" name="矩形 3"/>
          <p:cNvSpPr/>
          <p:nvPr/>
        </p:nvSpPr>
        <p:spPr>
          <a:xfrm>
            <a:off x="2670764" y="-14514"/>
            <a:ext cx="6516000" cy="764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0280" y="4887529"/>
            <a:ext cx="2240203" cy="1584176"/>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6562</TotalTime>
  <Words>4917</Words>
  <Application>Microsoft Office PowerPoint</Application>
  <PresentationFormat>全屏显示(4:3)</PresentationFormat>
  <Paragraphs>586</Paragraphs>
  <Slides>98</Slides>
  <Notes>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98</vt:i4>
      </vt:variant>
    </vt:vector>
  </HeadingPairs>
  <TitlesOfParts>
    <vt:vector size="114" baseType="lpstr">
      <vt:lpstr>Gulim</vt:lpstr>
      <vt:lpstr>仿宋_GB2312</vt:lpstr>
      <vt:lpstr>黑体</vt:lpstr>
      <vt:lpstr>楷体</vt:lpstr>
      <vt:lpstr>隶书</vt:lpstr>
      <vt:lpstr>宋体</vt:lpstr>
      <vt:lpstr>微软雅黑</vt:lpstr>
      <vt:lpstr>-봄IIB</vt:lpstr>
      <vt:lpstr>Arial</vt:lpstr>
      <vt:lpstr>Calibri</vt:lpstr>
      <vt:lpstr>Palatino Linotype</vt:lpstr>
      <vt:lpstr>Tahoma</vt:lpstr>
      <vt:lpstr>Times New Roman</vt:lpstr>
      <vt:lpstr>Wingdings</vt:lpstr>
      <vt:lpstr>Office 主题</vt:lpstr>
      <vt:lpstr>Visio</vt:lpstr>
      <vt:lpstr>第一章 大数据概述 大数据处理与挖掘框架 及应用实例</vt:lpstr>
      <vt:lpstr>大数据处理技术-QQ群</vt:lpstr>
      <vt:lpstr>参考教材</vt:lpstr>
      <vt:lpstr>相关工作</vt:lpstr>
      <vt:lpstr>Data Mining With Big Data</vt:lpstr>
      <vt:lpstr>PowerPoint 演示文稿</vt:lpstr>
      <vt:lpstr>PowerPoint 演示文稿</vt:lpstr>
      <vt:lpstr>提纲（Outlines）</vt:lpstr>
      <vt:lpstr>大数据起源：大数据时代</vt:lpstr>
      <vt:lpstr>大数据起源：第三次信息化浪潮</vt:lpstr>
      <vt:lpstr>大数据起源：存储设备</vt:lpstr>
      <vt:lpstr>大数据起源：CPU处理能力</vt:lpstr>
      <vt:lpstr>大数据起源：网络带宽</vt:lpstr>
      <vt:lpstr>大数据起源：数据产生方式</vt:lpstr>
      <vt:lpstr>大数据起源：发展历程</vt:lpstr>
      <vt:lpstr>提纲（Outlines）</vt:lpstr>
      <vt:lpstr>大数据的特征：大数据定义</vt:lpstr>
      <vt:lpstr>大数据的特征：4V</vt:lpstr>
      <vt:lpstr>大数据的特征：4V-Volume</vt:lpstr>
      <vt:lpstr>大数据的特征：4V-Veriety</vt:lpstr>
      <vt:lpstr>大数据的特征：4V-Velocity</vt:lpstr>
      <vt:lpstr>大数据的特征：4V-Volume</vt:lpstr>
      <vt:lpstr>大数据的特性：HACE理论</vt:lpstr>
      <vt:lpstr>大数据的特性：巨量的异构(H)离散维度数据</vt:lpstr>
      <vt:lpstr>大数据的特性：分布式、去中心化自治(A)数据源</vt:lpstr>
      <vt:lpstr>大数据的特性：复杂(C)和演化(E)的数据间关系</vt:lpstr>
      <vt:lpstr>大数据的特性：盲人摸象的“大数据”挖掘</vt:lpstr>
      <vt:lpstr>大数据的特性：“大数据”挖掘的挑战(1)</vt:lpstr>
      <vt:lpstr>大数据的特性：“大数据”挖掘的挑战(2)</vt:lpstr>
      <vt:lpstr>大数据的特性：“大数据”挖掘的挑战(3)</vt:lpstr>
      <vt:lpstr>大数据的特性：“大数据”挖掘的挑战(4)</vt:lpstr>
      <vt:lpstr>提纲（Outlines）</vt:lpstr>
      <vt:lpstr>大数据挖掘的处理框架</vt:lpstr>
      <vt:lpstr>大数据挖掘的处理框架</vt:lpstr>
      <vt:lpstr>大数据处理框架：大数据关键技术</vt:lpstr>
      <vt:lpstr>大数据处理框架：大数据计算模式</vt:lpstr>
      <vt:lpstr>大数据处理框架：大数据产业</vt:lpstr>
      <vt:lpstr>大数据处理框架：大数据与云计算、物联网的关系</vt:lpstr>
      <vt:lpstr>大数据处理框架：云计算</vt:lpstr>
      <vt:lpstr>大数据处理框架：云计算关键技术</vt:lpstr>
      <vt:lpstr>大数据处理框架：云计算数据中心</vt:lpstr>
      <vt:lpstr>大数据处理框架：云计算应用</vt:lpstr>
      <vt:lpstr>大数据处理框架：云计算产业</vt:lpstr>
      <vt:lpstr>大数据处理框架：物联网</vt:lpstr>
      <vt:lpstr>大数据处理框架：物联网关键技术</vt:lpstr>
      <vt:lpstr>大数据处理框架：物联网应用</vt:lpstr>
      <vt:lpstr>大数据处理框架：物联网产业</vt:lpstr>
      <vt:lpstr>大数据处理框架：大数据与云计算、物联网的关系</vt:lpstr>
      <vt:lpstr>提纲（Outlines）</vt:lpstr>
      <vt:lpstr>http://crawlscript.github.io/WebCollector/</vt:lpstr>
      <vt:lpstr>PowerPoint 演示文稿</vt:lpstr>
      <vt:lpstr>面向领域主题的Web新闻动态聚合工具</vt:lpstr>
      <vt:lpstr>面向领域主题的Web新闻动态聚合工具</vt:lpstr>
      <vt:lpstr>数据挖掘工具框架图</vt:lpstr>
      <vt:lpstr>https://github.com/KittyWang/DMTool</vt:lpstr>
      <vt:lpstr>http://git.oschina.net/kptools/huinong</vt:lpstr>
      <vt:lpstr>多源海量数据/知识处理系统</vt:lpstr>
      <vt:lpstr>慧农系统-简介</vt:lpstr>
      <vt:lpstr>慧农系统-首页</vt:lpstr>
      <vt:lpstr>普医系统-简介</vt:lpstr>
      <vt:lpstr>普医系统-简介</vt:lpstr>
      <vt:lpstr>普医系统-简介</vt:lpstr>
      <vt:lpstr>普医系统-简介</vt:lpstr>
      <vt:lpstr>普医系统-简介</vt:lpstr>
      <vt:lpstr>普医系统-简介</vt:lpstr>
      <vt:lpstr>普医系统-简介</vt:lpstr>
      <vt:lpstr>普医系统-简介</vt:lpstr>
      <vt:lpstr>普医系统-系统架构</vt:lpstr>
      <vt:lpstr>普医系统-系统架构</vt:lpstr>
      <vt:lpstr>普医系统-功能模块</vt:lpstr>
      <vt:lpstr>普医系统-首页</vt:lpstr>
      <vt:lpstr>2. 普医系统</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普医系统的数据处理</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普医系统：数据处理</vt:lpstr>
      <vt:lpstr>普医系统：相关工作</vt:lpstr>
      <vt:lpstr>普医系统：相关工作</vt:lpstr>
      <vt:lpstr>普医系统：相关工作</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大数据的数据挖掘</dc:title>
  <dc:subject>数据挖掘;大数据;专家论坛</dc:subject>
  <dc:creator>GQ</dc:creator>
  <cp:lastModifiedBy>GQ</cp:lastModifiedBy>
  <cp:revision>1101</cp:revision>
  <cp:lastPrinted>2012-11-20T01:52:54Z</cp:lastPrinted>
  <dcterms:created xsi:type="dcterms:W3CDTF">2012-10-13T08:41:11Z</dcterms:created>
  <dcterms:modified xsi:type="dcterms:W3CDTF">2025-02-24T13:19:03Z</dcterms:modified>
  <cp:version>1</cp:version>
</cp:coreProperties>
</file>