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9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2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651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3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5.png"/><Relationship Id="rId11" Type="http://schemas.openxmlformats.org/officeDocument/2006/relationships/image" Target="../media/image54.png"/><Relationship Id="rId5" Type="http://schemas.openxmlformats.org/officeDocument/2006/relationships/image" Target="../media/image3.png"/><Relationship Id="rId10" Type="http://schemas.openxmlformats.org/officeDocument/2006/relationships/image" Target="../media/image53.png"/><Relationship Id="rId4" Type="http://schemas.openxmlformats.org/officeDocument/2006/relationships/notesSlide" Target="../notesSlides/notesSlide26.xml"/><Relationship Id="rId9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3.jpe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3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4" y="571503"/>
            <a:ext cx="366713" cy="57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185863"/>
            <a:ext cx="8001000" cy="1466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775"/>
              </a:lnSpc>
            </a:pPr>
            <a:r>
              <a:rPr lang="en-US" sz="4125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Web交互性增强</a:t>
            </a:r>
            <a:r>
              <a:rPr lang="en-US" sz="41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</a:p>
          <a:p>
            <a:pPr>
              <a:lnSpc>
                <a:spcPts val="5775"/>
              </a:lnSpc>
            </a:pPr>
            <a:r>
              <a:rPr lang="en-US" sz="41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</a:t>
            </a:r>
            <a:r>
              <a:rPr lang="en-US" sz="4125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中英切换与日夜模式实战</a:t>
            </a:r>
            <a:endParaRPr lang="en-US" sz="4125" dirty="0"/>
          </a:p>
        </p:txBody>
      </p:sp>
      <p:sp>
        <p:nvSpPr>
          <p:cNvPr id="5" name="Text 2"/>
          <p:cNvSpPr/>
          <p:nvPr/>
        </p:nvSpPr>
        <p:spPr>
          <a:xfrm>
            <a:off x="571500" y="43624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313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朱清扬</a:t>
            </a:r>
            <a:r>
              <a:rPr lang="en-US" sz="131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31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计科</a:t>
            </a:r>
            <a:r>
              <a:rPr lang="en-US" altLang="zh-CN" sz="131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23-3</a:t>
            </a:r>
            <a:r>
              <a:rPr lang="zh-CN" altLang="en-US" sz="131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</a:t>
            </a:r>
            <a:endParaRPr lang="en-US" sz="131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9581" r="9581"/>
          <a:stretch/>
        </p:blipFill>
        <p:spPr>
          <a:xfrm>
            <a:off x="-50007" y="-171450"/>
            <a:ext cx="9244013" cy="5486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378" y="409579"/>
            <a:ext cx="1028700" cy="10287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62001"/>
            <a:ext cx="8001000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6188"/>
              </a:lnSpc>
            </a:pPr>
            <a:r>
              <a:rPr lang="en-US" sz="4875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875" dirty="0"/>
          </a:p>
        </p:txBody>
      </p:sp>
      <p:sp>
        <p:nvSpPr>
          <p:cNvPr id="5" name="Text 1"/>
          <p:cNvSpPr/>
          <p:nvPr/>
        </p:nvSpPr>
        <p:spPr>
          <a:xfrm>
            <a:off x="571500" y="1662116"/>
            <a:ext cx="8001000" cy="280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13"/>
              </a:lnSpc>
            </a:pPr>
            <a:r>
              <a:rPr lang="en-US" sz="1575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CONTENTS</a:t>
            </a:r>
            <a:endParaRPr lang="en-US" sz="1575" dirty="0"/>
          </a:p>
        </p:txBody>
      </p:sp>
      <p:sp>
        <p:nvSpPr>
          <p:cNvPr id="6" name="Text 2"/>
          <p:cNvSpPr/>
          <p:nvPr/>
        </p:nvSpPr>
        <p:spPr>
          <a:xfrm>
            <a:off x="571501" y="2514601"/>
            <a:ext cx="1285875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6188"/>
              </a:lnSpc>
            </a:pPr>
            <a:r>
              <a:rPr lang="en-US" sz="4875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875" dirty="0"/>
          </a:p>
        </p:txBody>
      </p:sp>
      <p:sp>
        <p:nvSpPr>
          <p:cNvPr id="7" name="Shape 3"/>
          <p:cNvSpPr/>
          <p:nvPr/>
        </p:nvSpPr>
        <p:spPr>
          <a:xfrm>
            <a:off x="595313" y="3348038"/>
            <a:ext cx="1238251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8" name="Text 4"/>
          <p:cNvSpPr/>
          <p:nvPr/>
        </p:nvSpPr>
        <p:spPr>
          <a:xfrm>
            <a:off x="571503" y="3486150"/>
            <a:ext cx="1333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3" y="3738567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238376" y="2514601"/>
            <a:ext cx="1285875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6188"/>
              </a:lnSpc>
            </a:pPr>
            <a:r>
              <a:rPr lang="en-US" sz="4875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75" dirty="0"/>
          </a:p>
        </p:txBody>
      </p:sp>
      <p:sp>
        <p:nvSpPr>
          <p:cNvPr id="11" name="Shape 7"/>
          <p:cNvSpPr/>
          <p:nvPr/>
        </p:nvSpPr>
        <p:spPr>
          <a:xfrm>
            <a:off x="2262188" y="3348038"/>
            <a:ext cx="1238251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2" name="Text 8"/>
          <p:cNvSpPr/>
          <p:nvPr/>
        </p:nvSpPr>
        <p:spPr>
          <a:xfrm>
            <a:off x="2238378" y="3486154"/>
            <a:ext cx="13335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技术选型与架构考量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38378" y="3952879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905251" y="2514601"/>
            <a:ext cx="1285875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6188"/>
              </a:lnSpc>
            </a:pPr>
            <a:r>
              <a:rPr lang="en-US" sz="4875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875" dirty="0"/>
          </a:p>
        </p:txBody>
      </p:sp>
      <p:sp>
        <p:nvSpPr>
          <p:cNvPr id="15" name="Shape 11"/>
          <p:cNvSpPr/>
          <p:nvPr/>
        </p:nvSpPr>
        <p:spPr>
          <a:xfrm>
            <a:off x="3929063" y="3348038"/>
            <a:ext cx="1238251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6" name="Text 12"/>
          <p:cNvSpPr/>
          <p:nvPr/>
        </p:nvSpPr>
        <p:spPr>
          <a:xfrm>
            <a:off x="3905254" y="3486154"/>
            <a:ext cx="13335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国际化(i18n)实现详解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905254" y="3952879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572125" y="2514601"/>
            <a:ext cx="1285875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6188"/>
              </a:lnSpc>
            </a:pPr>
            <a:r>
              <a:rPr lang="en-US" sz="4875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875" dirty="0"/>
          </a:p>
        </p:txBody>
      </p:sp>
      <p:sp>
        <p:nvSpPr>
          <p:cNvPr id="19" name="Shape 15"/>
          <p:cNvSpPr/>
          <p:nvPr/>
        </p:nvSpPr>
        <p:spPr>
          <a:xfrm>
            <a:off x="5595937" y="3348038"/>
            <a:ext cx="1238251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5572129" y="3486154"/>
            <a:ext cx="13335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日夜模式实现详解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572129" y="3952879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239001" y="2514601"/>
            <a:ext cx="1285875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6188"/>
              </a:lnSpc>
            </a:pPr>
            <a:r>
              <a:rPr lang="en-US" sz="4875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4875" dirty="0"/>
          </a:p>
        </p:txBody>
      </p:sp>
      <p:sp>
        <p:nvSpPr>
          <p:cNvPr id="23" name="Shape 19"/>
          <p:cNvSpPr/>
          <p:nvPr/>
        </p:nvSpPr>
        <p:spPr>
          <a:xfrm>
            <a:off x="7262813" y="3348038"/>
            <a:ext cx="1238251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7239003" y="3486154"/>
            <a:ext cx="13335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239003" y="3952879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71501" y="3881438"/>
            <a:ext cx="1285875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6188"/>
              </a:lnSpc>
            </a:pPr>
            <a:r>
              <a:rPr lang="en-US" sz="4875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4875" dirty="0"/>
          </a:p>
        </p:txBody>
      </p:sp>
      <p:sp>
        <p:nvSpPr>
          <p:cNvPr id="27" name="Shape 23"/>
          <p:cNvSpPr/>
          <p:nvPr/>
        </p:nvSpPr>
        <p:spPr>
          <a:xfrm>
            <a:off x="528637" y="4638674"/>
            <a:ext cx="1238251" cy="23813"/>
          </a:xfrm>
          <a:prstGeom prst="rect">
            <a:avLst/>
          </a:prstGeom>
          <a:solidFill>
            <a:srgbClr val="BB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547690" y="4648204"/>
            <a:ext cx="13335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挑战、反思与优化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71500" y="5886450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238375" y="3929064"/>
            <a:ext cx="1285875" cy="785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6188"/>
              </a:lnSpc>
            </a:pPr>
            <a:r>
              <a:rPr lang="en-US" sz="4875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4875" dirty="0"/>
          </a:p>
        </p:txBody>
      </p:sp>
      <p:sp>
        <p:nvSpPr>
          <p:cNvPr id="31" name="Shape 27"/>
          <p:cNvSpPr/>
          <p:nvPr/>
        </p:nvSpPr>
        <p:spPr>
          <a:xfrm>
            <a:off x="2190748" y="4636294"/>
            <a:ext cx="1238251" cy="23813"/>
          </a:xfrm>
          <a:prstGeom prst="rect">
            <a:avLst/>
          </a:prstGeom>
          <a:solidFill>
            <a:srgbClr val="BB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2262191" y="4773217"/>
            <a:ext cx="1333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238375" y="5672138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905250" y="5419725"/>
            <a:ext cx="1333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905250" y="5672138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4" y="571503"/>
            <a:ext cx="366713" cy="57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960296" y="1129830"/>
            <a:ext cx="5638800" cy="446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5174"/>
              </a:lnSpc>
            </a:pPr>
            <a:r>
              <a:rPr lang="en-US" sz="24374" b="1" dirty="0">
                <a:solidFill>
                  <a:srgbClr val="E2C9A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374" dirty="0"/>
          </a:p>
        </p:txBody>
      </p:sp>
      <p:sp>
        <p:nvSpPr>
          <p:cNvPr id="5" name="Text 2"/>
          <p:cNvSpPr/>
          <p:nvPr/>
        </p:nvSpPr>
        <p:spPr>
          <a:xfrm>
            <a:off x="571500" y="3676650"/>
            <a:ext cx="46672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" y="4305304"/>
            <a:ext cx="4667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29249" y="1290638"/>
            <a:ext cx="857251" cy="857251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43568" y="1504954"/>
            <a:ext cx="428625" cy="428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72249" y="1290638"/>
            <a:ext cx="857251" cy="857251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86568" y="1504954"/>
            <a:ext cx="428625" cy="42862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715249" y="1290638"/>
            <a:ext cx="857251" cy="857251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29568" y="1504954"/>
            <a:ext cx="428625" cy="4286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251" dirty="0"/>
          </a:p>
        </p:txBody>
      </p:sp>
      <p:sp>
        <p:nvSpPr>
          <p:cNvPr id="11" name="Text 5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12" name="Shape 6"/>
          <p:cNvSpPr/>
          <p:nvPr/>
        </p:nvSpPr>
        <p:spPr>
          <a:xfrm>
            <a:off x="571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3" name="Text 7"/>
          <p:cNvSpPr/>
          <p:nvPr/>
        </p:nvSpPr>
        <p:spPr>
          <a:xfrm>
            <a:off x="571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目标网站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571503" y="3590928"/>
            <a:ext cx="202406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安徽省高等学校计算机教育研究会官网，旨在提升国际交流与用户友好度。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619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6" name="Text 10"/>
          <p:cNvSpPr/>
          <p:nvPr/>
        </p:nvSpPr>
        <p:spPr>
          <a:xfrm>
            <a:off x="3619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需求驱动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3619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适应多样化浏览习惯，增强网站功能，满足不同用户群体需求。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667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9" name="Text 13"/>
          <p:cNvSpPr/>
          <p:nvPr/>
        </p:nvSpPr>
        <p:spPr>
          <a:xfrm>
            <a:off x="6667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6667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实现中英文动态切换与日夜模式平滑过渡，提升网站可用性。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1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7429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4"/>
            <a:ext cx="8382000" cy="29432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049" y="1466850"/>
            <a:ext cx="1557339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Vue.js项目基础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1053" y="2147889"/>
            <a:ext cx="15954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基于Vue.js框架构建项目。</a:t>
            </a:r>
            <a:endParaRPr lang="en-US" sz="1051" dirty="0"/>
          </a:p>
        </p:txBody>
      </p:sp>
      <p:sp>
        <p:nvSpPr>
          <p:cNvPr id="9" name="Text 5"/>
          <p:cNvSpPr/>
          <p:nvPr/>
        </p:nvSpPr>
        <p:spPr>
          <a:xfrm>
            <a:off x="2757488" y="1466850"/>
            <a:ext cx="1557339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国际化实现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57488" y="2147889"/>
            <a:ext cx="15573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集成i18n功能，支持中英文动态切换。</a:t>
            </a:r>
            <a:endParaRPr lang="en-US" sz="1051" dirty="0"/>
          </a:p>
        </p:txBody>
      </p:sp>
      <p:sp>
        <p:nvSpPr>
          <p:cNvPr id="11" name="Text 7"/>
          <p:cNvSpPr/>
          <p:nvPr/>
        </p:nvSpPr>
        <p:spPr>
          <a:xfrm>
            <a:off x="4733925" y="1466850"/>
            <a:ext cx="1557339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zh-CN" alt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日夜切换实现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33925" y="2147889"/>
            <a:ext cx="15573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引入Theming功能，实现日夜模式平滑转换。</a:t>
            </a:r>
            <a:endParaRPr lang="en-US" sz="1051" dirty="0"/>
          </a:p>
        </p:txBody>
      </p:sp>
      <p:sp>
        <p:nvSpPr>
          <p:cNvPr id="13" name="Text 9"/>
          <p:cNvSpPr/>
          <p:nvPr/>
        </p:nvSpPr>
        <p:spPr>
          <a:xfrm>
            <a:off x="6710363" y="1466850"/>
            <a:ext cx="1557339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zh-CN" alt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</a:rPr>
              <a:t>记录用户习惯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10363" y="2147889"/>
            <a:ext cx="15573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zh-CN" altLang="en-US" sz="1051" dirty="0"/>
              <a:t>通过网站</a:t>
            </a:r>
            <a:r>
              <a:rPr lang="en-US" altLang="zh-CN" sz="1051" dirty="0"/>
              <a:t>cookie</a:t>
            </a:r>
            <a:r>
              <a:rPr lang="zh-CN" altLang="en-US" sz="1051" dirty="0"/>
              <a:t>记录用户习惯模式</a:t>
            </a:r>
            <a:endParaRPr lang="en-US" sz="1051" dirty="0"/>
          </a:p>
        </p:txBody>
      </p:sp>
      <p:sp>
        <p:nvSpPr>
          <p:cNvPr id="15" name="Text 11"/>
          <p:cNvSpPr/>
          <p:nvPr/>
        </p:nvSpPr>
        <p:spPr>
          <a:xfrm>
            <a:off x="781054" y="3024188"/>
            <a:ext cx="3533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优化视觉体验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054" y="3705225"/>
            <a:ext cx="3533775" cy="247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改善用户界面的视觉效果，提高舒适度。</a:t>
            </a:r>
            <a:endParaRPr lang="en-US" sz="1051" dirty="0"/>
          </a:p>
        </p:txBody>
      </p:sp>
      <p:sp>
        <p:nvSpPr>
          <p:cNvPr id="17" name="Text 13"/>
          <p:cNvSpPr/>
          <p:nvPr/>
        </p:nvSpPr>
        <p:spPr>
          <a:xfrm>
            <a:off x="4733929" y="3024188"/>
            <a:ext cx="3533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增强用户友好度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33929" y="3705225"/>
            <a:ext cx="3533775" cy="247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通过多语言和主题切换</a:t>
            </a: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</a:t>
            </a:r>
            <a:r>
              <a:rPr lang="en-US" sz="1051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提升用户体验</a:t>
            </a: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6881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预期目标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6" name="Shape 3"/>
          <p:cNvSpPr/>
          <p:nvPr/>
        </p:nvSpPr>
        <p:spPr>
          <a:xfrm>
            <a:off x="571501" y="2052640"/>
            <a:ext cx="2276475" cy="1123951"/>
          </a:xfrm>
          <a:prstGeom prst="round2DiagRect">
            <a:avLst/>
          </a:prstGeom>
          <a:solidFill>
            <a:srgbClr val="BE212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6866" y="2166941"/>
            <a:ext cx="285751" cy="2857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2001" y="2562226"/>
            <a:ext cx="1895475" cy="4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762001" y="2676525"/>
            <a:ext cx="1895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用户自由选择语言与视觉模式，偏好记忆，无缝切换。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 rot="10800000">
            <a:off x="1566863" y="3390904"/>
            <a:ext cx="228600" cy="195263"/>
          </a:xfrm>
          <a:prstGeom prst="triangle">
            <a:avLst/>
          </a:prstGeom>
          <a:solidFill>
            <a:srgbClr val="C81A16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1" y="3714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功能完整性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3433764" y="2052640"/>
            <a:ext cx="2276475" cy="1123951"/>
          </a:xfrm>
          <a:prstGeom prst="round2DiagRect">
            <a:avLst/>
          </a:prstGeom>
          <a:solidFill>
            <a:srgbClr val="DFB57F">
              <a:alpha val="20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29129" y="2166941"/>
            <a:ext cx="285751" cy="28575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24263" y="2562226"/>
            <a:ext cx="1895475" cy="47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0"/>
          <p:cNvSpPr/>
          <p:nvPr/>
        </p:nvSpPr>
        <p:spPr>
          <a:xfrm>
            <a:off x="3624263" y="2676525"/>
            <a:ext cx="1895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即时响应，无刷新切换，视觉效果统一，提升访问体验。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 rot="10800000">
            <a:off x="4429125" y="3390904"/>
            <a:ext cx="228600" cy="195263"/>
          </a:xfrm>
          <a:prstGeom prst="triangle">
            <a:avLst/>
          </a:prstGeom>
          <a:solidFill>
            <a:srgbClr val="DFB57F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3433764" y="3714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体验流畅性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96025" y="2052640"/>
            <a:ext cx="2276475" cy="1123951"/>
          </a:xfrm>
          <a:prstGeom prst="round2DiagRect">
            <a:avLst/>
          </a:prstGeom>
          <a:solidFill>
            <a:srgbClr val="DFB57F">
              <a:alpha val="2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91391" y="2166941"/>
            <a:ext cx="285751" cy="28575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86525" y="2562226"/>
            <a:ext cx="1895475" cy="47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5"/>
          <p:cNvSpPr/>
          <p:nvPr/>
        </p:nvSpPr>
        <p:spPr>
          <a:xfrm>
            <a:off x="6486525" y="2676525"/>
            <a:ext cx="1895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模块化设计，易于维护与扩展，增强网站专业形象。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 rot="10800000">
            <a:off x="7291388" y="3390904"/>
            <a:ext cx="228600" cy="195263"/>
          </a:xfrm>
          <a:prstGeom prst="triangle">
            <a:avLst/>
          </a:prstGeom>
          <a:solidFill>
            <a:srgbClr val="DFB57F">
              <a:alpha val="5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296025" y="3714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代码优雅性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4" y="571503"/>
            <a:ext cx="366713" cy="57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978840" y="1095379"/>
            <a:ext cx="4948237" cy="446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5174"/>
              </a:lnSpc>
            </a:pPr>
            <a:r>
              <a:rPr lang="en-US" sz="24374" b="1" dirty="0">
                <a:solidFill>
                  <a:srgbClr val="E2C9A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374" dirty="0"/>
          </a:p>
        </p:txBody>
      </p:sp>
      <p:sp>
        <p:nvSpPr>
          <p:cNvPr id="5" name="Text 2"/>
          <p:cNvSpPr/>
          <p:nvPr/>
        </p:nvSpPr>
        <p:spPr>
          <a:xfrm>
            <a:off x="571500" y="3676650"/>
            <a:ext cx="46672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技术选型与架构考量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" y="4305304"/>
            <a:ext cx="4667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26" r="26"/>
          <a:stretch/>
        </p:blipFill>
        <p:spPr>
          <a:xfrm>
            <a:off x="0" y="3"/>
            <a:ext cx="9144000" cy="219075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2251" dirty="0"/>
          </a:p>
        </p:txBody>
      </p:sp>
      <p:sp>
        <p:nvSpPr>
          <p:cNvPr id="6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7" name="Shape 3"/>
          <p:cNvSpPr/>
          <p:nvPr/>
        </p:nvSpPr>
        <p:spPr>
          <a:xfrm>
            <a:off x="857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3" y="1962153"/>
            <a:ext cx="571500" cy="571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框架基石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571504" y="3371853"/>
            <a:ext cx="195262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Vue.js (v2.x) </a:t>
            </a:r>
            <a:r>
              <a:rPr lang="en-US" sz="9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</a:t>
            </a: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</a:t>
            </a:r>
            <a:r>
              <a:rPr lang="en-US" sz="9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项目基础</a:t>
            </a: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进行改进</a:t>
            </a: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，利用其组件化与响应式特性，构建高效、可维护的前端应用。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952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38503" y="1962153"/>
            <a:ext cx="571500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7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生态优势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2667003" y="3371853"/>
            <a:ext cx="1714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社区成熟，拥有丰富的插件与工具链，易于集成国际化与主题化功能。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048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4003" y="1962153"/>
            <a:ext cx="571500" cy="571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62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学习曲线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762503" y="3371853"/>
            <a:ext cx="1714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的学习曲线适中，适合快速上手，同时提供了足够的深度供进阶开发。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7143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9503" y="1962153"/>
            <a:ext cx="571500" cy="5715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社区支持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858003" y="3371853"/>
            <a:ext cx="1714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广泛的社区资源与文档，确保开发过程中遇到的问题能够得到及时解答。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655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-1"/>
            <a:ext cx="9144000" cy="1238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1"/>
              </a:lnSpc>
            </a:pPr>
            <a:r>
              <a:rPr lang="en-US" sz="2251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样式预处理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7429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81092" y="1262059"/>
            <a:ext cx="6648450" cy="3913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76642" y="1727528"/>
            <a:ext cx="16573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4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SCSS特性与优势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276355" y="2833692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C4A1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功能增强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431130" y="3227722"/>
            <a:ext cx="1009651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嵌套规则，允许CSS选择器嵌套，使代码更简洁。</a:t>
            </a:r>
            <a:endParaRPr lang="en-US" sz="1051" dirty="0"/>
          </a:p>
        </p:txBody>
      </p:sp>
      <p:sp>
        <p:nvSpPr>
          <p:cNvPr id="10" name="Text 6"/>
          <p:cNvSpPr/>
          <p:nvPr/>
        </p:nvSpPr>
        <p:spPr>
          <a:xfrm>
            <a:off x="1457321" y="4052902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变量使用，定义可复用的颜色和尺寸值。</a:t>
            </a:r>
            <a:endParaRPr lang="en-US" sz="1051" dirty="0"/>
          </a:p>
        </p:txBody>
      </p:sp>
      <p:sp>
        <p:nvSpPr>
          <p:cNvPr id="11" name="Text 7"/>
          <p:cNvSpPr/>
          <p:nvPr/>
        </p:nvSpPr>
        <p:spPr>
          <a:xfrm>
            <a:off x="1457322" y="4719653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混入功能，重用样式片段，减少重复代码。</a:t>
            </a:r>
            <a:endParaRPr lang="en-US" sz="1051" dirty="0"/>
          </a:p>
        </p:txBody>
      </p:sp>
      <p:sp>
        <p:nvSpPr>
          <p:cNvPr id="12" name="Text 8"/>
          <p:cNvSpPr/>
          <p:nvPr/>
        </p:nvSpPr>
        <p:spPr>
          <a:xfrm>
            <a:off x="2357447" y="2833692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样式管理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530064" y="3242009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简化复杂样式，提高代码可维护性。</a:t>
            </a:r>
            <a:endParaRPr lang="en-US" sz="1051" dirty="0"/>
          </a:p>
        </p:txBody>
      </p:sp>
      <p:sp>
        <p:nvSpPr>
          <p:cNvPr id="14" name="Text 10"/>
          <p:cNvSpPr/>
          <p:nvPr/>
        </p:nvSpPr>
        <p:spPr>
          <a:xfrm>
            <a:off x="2515785" y="3892083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支持主题化，方便实现多主题网站。</a:t>
            </a:r>
            <a:endParaRPr lang="en-US" sz="1051" dirty="0"/>
          </a:p>
        </p:txBody>
      </p:sp>
      <p:sp>
        <p:nvSpPr>
          <p:cNvPr id="15" name="Text 11"/>
          <p:cNvSpPr/>
          <p:nvPr/>
        </p:nvSpPr>
        <p:spPr>
          <a:xfrm>
            <a:off x="2552696" y="4508829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模块化设计，优化代码结构，便于团队协作。</a:t>
            </a:r>
            <a:endParaRPr lang="en-US" sz="1051" dirty="0"/>
          </a:p>
        </p:txBody>
      </p:sp>
      <p:sp>
        <p:nvSpPr>
          <p:cNvPr id="16" name="Text 12"/>
          <p:cNvSpPr/>
          <p:nvPr/>
        </p:nvSpPr>
        <p:spPr>
          <a:xfrm>
            <a:off x="3376622" y="2833692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C4A1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代码优化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79011" y="3261200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命名空间，防止样式冲突，确保样式独立。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583776" y="3939856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颜色切换，轻松更改不同主题的颜色方案。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583777" y="4524375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样式切换，快速调整不同主题的整体风格。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457714" y="2867029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开发效率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648210" y="3271841"/>
            <a:ext cx="10096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减少重复工作，提高开发速度。</a:t>
            </a:r>
            <a:endParaRPr lang="en-US" sz="1051" dirty="0"/>
          </a:p>
        </p:txBody>
      </p:sp>
      <p:sp>
        <p:nvSpPr>
          <p:cNvPr id="22" name="Text 18"/>
          <p:cNvSpPr/>
          <p:nvPr/>
        </p:nvSpPr>
        <p:spPr>
          <a:xfrm>
            <a:off x="4614857" y="3718263"/>
            <a:ext cx="10096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易于维护，降低长期维护成本。</a:t>
            </a:r>
            <a:endParaRPr lang="en-US" sz="1051" dirty="0"/>
          </a:p>
        </p:txBody>
      </p:sp>
      <p:sp>
        <p:nvSpPr>
          <p:cNvPr id="23" name="Text 19"/>
          <p:cNvSpPr/>
          <p:nvPr/>
        </p:nvSpPr>
        <p:spPr>
          <a:xfrm>
            <a:off x="4624387" y="4225459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适应性强，支持多种前端框架集成。</a:t>
            </a:r>
            <a:endParaRPr lang="en-US" sz="1051" dirty="0"/>
          </a:p>
        </p:txBody>
      </p:sp>
      <p:sp>
        <p:nvSpPr>
          <p:cNvPr id="24" name="Text 20"/>
          <p:cNvSpPr/>
          <p:nvPr/>
        </p:nvSpPr>
        <p:spPr>
          <a:xfrm>
            <a:off x="5476889" y="2881316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C4A1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676898" y="3298033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响应式设计，适应不同设备屏幕。</a:t>
            </a:r>
            <a:endParaRPr lang="en-US" sz="1051" dirty="0"/>
          </a:p>
        </p:txBody>
      </p:sp>
      <p:sp>
        <p:nvSpPr>
          <p:cNvPr id="26" name="Text 22"/>
          <p:cNvSpPr/>
          <p:nvPr/>
        </p:nvSpPr>
        <p:spPr>
          <a:xfrm>
            <a:off x="5676897" y="3857628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动态主题，提供个性化用户体验。</a:t>
            </a:r>
            <a:endParaRPr lang="en-US" sz="1051" dirty="0"/>
          </a:p>
        </p:txBody>
      </p:sp>
      <p:sp>
        <p:nvSpPr>
          <p:cNvPr id="27" name="Text 23"/>
          <p:cNvSpPr/>
          <p:nvPr/>
        </p:nvSpPr>
        <p:spPr>
          <a:xfrm>
            <a:off x="5705475" y="4427377"/>
            <a:ext cx="100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加载优化，提升页面加载速度。</a:t>
            </a:r>
            <a:endParaRPr lang="en-US" sz="1051" dirty="0"/>
          </a:p>
        </p:txBody>
      </p:sp>
      <p:sp>
        <p:nvSpPr>
          <p:cNvPr id="28" name="Text 24"/>
          <p:cNvSpPr/>
          <p:nvPr/>
        </p:nvSpPr>
        <p:spPr>
          <a:xfrm>
            <a:off x="6603215" y="2871791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791325" y="3222956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跨浏览器支持，确保在不同浏览器中表现一致。</a:t>
            </a:r>
            <a:endParaRPr lang="en-US" sz="1051" dirty="0"/>
          </a:p>
        </p:txBody>
      </p:sp>
      <p:sp>
        <p:nvSpPr>
          <p:cNvPr id="30" name="Text 26"/>
          <p:cNvSpPr/>
          <p:nvPr/>
        </p:nvSpPr>
        <p:spPr>
          <a:xfrm>
            <a:off x="6791325" y="3829052"/>
            <a:ext cx="1009651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旧版浏览器回退，保证兼容性。</a:t>
            </a:r>
            <a:endParaRPr lang="en-US" sz="1051" dirty="0"/>
          </a:p>
        </p:txBody>
      </p:sp>
      <p:sp>
        <p:nvSpPr>
          <p:cNvPr id="31" name="Text 27"/>
          <p:cNvSpPr/>
          <p:nvPr/>
        </p:nvSpPr>
        <p:spPr>
          <a:xfrm>
            <a:off x="6819901" y="4400547"/>
            <a:ext cx="126206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现代浏览器优化，利用最新特性。</a:t>
            </a:r>
            <a:endParaRPr lang="en-US" sz="105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29249" y="1290638"/>
            <a:ext cx="857251" cy="857251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43568" y="1504954"/>
            <a:ext cx="428625" cy="428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72249" y="1290638"/>
            <a:ext cx="857251" cy="857251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86568" y="1504954"/>
            <a:ext cx="428625" cy="42862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715249" y="1290638"/>
            <a:ext cx="857251" cy="857251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29568" y="1504954"/>
            <a:ext cx="428625" cy="4286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状态持久化</a:t>
            </a:r>
            <a:endParaRPr lang="en-US" sz="2251" dirty="0"/>
          </a:p>
        </p:txBody>
      </p:sp>
      <p:sp>
        <p:nvSpPr>
          <p:cNvPr id="11" name="Text 5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12" name="Shape 6"/>
          <p:cNvSpPr/>
          <p:nvPr/>
        </p:nvSpPr>
        <p:spPr>
          <a:xfrm>
            <a:off x="571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3" name="Text 7"/>
          <p:cNvSpPr/>
          <p:nvPr/>
        </p:nvSpPr>
        <p:spPr>
          <a:xfrm>
            <a:off x="571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轻量级方案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571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采用`js-cookie`库，实现用户偏好存储，确保跨会话记忆。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619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6" name="Text 10"/>
          <p:cNvSpPr/>
          <p:nvPr/>
        </p:nvSpPr>
        <p:spPr>
          <a:xfrm>
            <a:off x="3619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偏好管理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3619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轻松记录语言和模式选择，提升用户体验连贯性。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667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9" name="Text 13"/>
          <p:cNvSpPr/>
          <p:nvPr/>
        </p:nvSpPr>
        <p:spPr>
          <a:xfrm>
            <a:off x="6667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无缝集成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6667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与Vue应用无缝对接，简化状态管理，增强功能稳定性。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70723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6" name="Shape 3"/>
          <p:cNvSpPr/>
          <p:nvPr/>
        </p:nvSpPr>
        <p:spPr>
          <a:xfrm>
            <a:off x="571501" y="2052637"/>
            <a:ext cx="2276475" cy="1314451"/>
          </a:xfrm>
          <a:prstGeom prst="round2DiagRect">
            <a:avLst/>
          </a:prstGeom>
          <a:solidFill>
            <a:srgbClr val="BE212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6866" y="2166941"/>
            <a:ext cx="285751" cy="2857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2001" y="2562226"/>
            <a:ext cx="1895475" cy="4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762001" y="2676528"/>
            <a:ext cx="189547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采用SVG图标，确保图标在不同模式下颜色和大小可控，提升视觉一致性。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 rot="10800000">
            <a:off x="1566863" y="3581404"/>
            <a:ext cx="228600" cy="195263"/>
          </a:xfrm>
          <a:prstGeom prst="triangle">
            <a:avLst/>
          </a:prstGeom>
          <a:solidFill>
            <a:srgbClr val="C81A16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1" y="39052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图标选择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3433764" y="2052640"/>
            <a:ext cx="2276475" cy="1123951"/>
          </a:xfrm>
          <a:prstGeom prst="round2DiagRect">
            <a:avLst/>
          </a:prstGeom>
          <a:solidFill>
            <a:srgbClr val="DFB57F">
              <a:alpha val="20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29129" y="2166941"/>
            <a:ext cx="285751" cy="28575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24263" y="2562226"/>
            <a:ext cx="1895475" cy="47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0"/>
          <p:cNvSpPr/>
          <p:nvPr/>
        </p:nvSpPr>
        <p:spPr>
          <a:xfrm>
            <a:off x="3624263" y="2676525"/>
            <a:ext cx="1895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通过svg-sprite-loader管理图标，集中存储，便于维护和模式切换</a:t>
            </a: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 rot="10800000">
            <a:off x="4429125" y="3390904"/>
            <a:ext cx="228600" cy="195263"/>
          </a:xfrm>
          <a:prstGeom prst="triangle">
            <a:avLst/>
          </a:prstGeom>
          <a:solidFill>
            <a:srgbClr val="DFB57F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3433764" y="3714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管理方案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96025" y="2052640"/>
            <a:ext cx="2276475" cy="1123951"/>
          </a:xfrm>
          <a:prstGeom prst="round2DiagRect">
            <a:avLst/>
          </a:prstGeom>
          <a:solidFill>
            <a:srgbClr val="DFB57F">
              <a:alpha val="2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91391" y="2166941"/>
            <a:ext cx="285751" cy="28575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86525" y="2562226"/>
            <a:ext cx="1895475" cy="47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5"/>
          <p:cNvSpPr/>
          <p:nvPr/>
        </p:nvSpPr>
        <p:spPr>
          <a:xfrm>
            <a:off x="6486525" y="2676525"/>
            <a:ext cx="1895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确保图标在各种屏幕尺寸和分辨率下清晰可见，增强用户体验。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 rot="10800000">
            <a:off x="7291388" y="3390904"/>
            <a:ext cx="228600" cy="195263"/>
          </a:xfrm>
          <a:prstGeom prst="triangle">
            <a:avLst/>
          </a:prstGeom>
          <a:solidFill>
            <a:srgbClr val="DFB57F">
              <a:alpha val="5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296025" y="3714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适应性设计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26" r="26"/>
          <a:stretch/>
        </p:blipFill>
        <p:spPr>
          <a:xfrm>
            <a:off x="0" y="3"/>
            <a:ext cx="9144000" cy="219075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架构思路</a:t>
            </a:r>
            <a:endParaRPr lang="en-US" sz="2251" dirty="0"/>
          </a:p>
        </p:txBody>
      </p:sp>
      <p:sp>
        <p:nvSpPr>
          <p:cNvPr id="6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7" name="Shape 3"/>
          <p:cNvSpPr/>
          <p:nvPr/>
        </p:nvSpPr>
        <p:spPr>
          <a:xfrm>
            <a:off x="857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3" y="1962153"/>
            <a:ext cx="571500" cy="571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i18n 集中管理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571503" y="3371853"/>
            <a:ext cx="1714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语言资源集中存储，全局注入，组件按需调用，确保文本更新一致性和效率。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952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38503" y="1962153"/>
            <a:ext cx="571500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7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 Mode 切换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2667003" y="3371853"/>
            <a:ext cx="1714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类切换实现主题变换，SCSS 变量和覆盖规则确保视觉效果统一且低侵入。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048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4003" y="1962153"/>
            <a:ext cx="571500" cy="571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62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状态持久化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7625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</a:t>
            </a: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js-cookie`存储用户偏好，实现跨会话记忆，提升用户体验</a:t>
            </a: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7143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9503" y="1962153"/>
            <a:ext cx="571500" cy="5715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组件化设计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858003" y="3371853"/>
            <a:ext cx="1714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将功能模块化，如</a:t>
            </a: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DarkModeSwitch，提高代码复用性和维护性</a:t>
            </a: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4" y="571503"/>
            <a:ext cx="366713" cy="57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996170" y="1207247"/>
            <a:ext cx="5076825" cy="446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5174"/>
              </a:lnSpc>
            </a:pPr>
            <a:r>
              <a:rPr lang="en-US" sz="24374" b="1" dirty="0">
                <a:solidFill>
                  <a:srgbClr val="E2C9A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374" dirty="0"/>
          </a:p>
        </p:txBody>
      </p:sp>
      <p:sp>
        <p:nvSpPr>
          <p:cNvPr id="5" name="Text 2"/>
          <p:cNvSpPr/>
          <p:nvPr/>
        </p:nvSpPr>
        <p:spPr>
          <a:xfrm>
            <a:off x="571500" y="3676650"/>
            <a:ext cx="46672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国际化(i18n)实现详解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" y="4305304"/>
            <a:ext cx="4667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29249" y="1290638"/>
            <a:ext cx="857251" cy="857251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43568" y="1504954"/>
            <a:ext cx="428625" cy="428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72249" y="1290638"/>
            <a:ext cx="857251" cy="857251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86568" y="1504954"/>
            <a:ext cx="428625" cy="42862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715249" y="1290638"/>
            <a:ext cx="857251" cy="857251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29568" y="1504954"/>
            <a:ext cx="428625" cy="4286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2251" dirty="0"/>
          </a:p>
        </p:txBody>
      </p:sp>
      <p:sp>
        <p:nvSpPr>
          <p:cNvPr id="11" name="Text 5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12" name="Shape 6"/>
          <p:cNvSpPr/>
          <p:nvPr/>
        </p:nvSpPr>
        <p:spPr>
          <a:xfrm>
            <a:off x="571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3" name="Text 7"/>
          <p:cNvSpPr/>
          <p:nvPr/>
        </p:nvSpPr>
        <p:spPr>
          <a:xfrm>
            <a:off x="571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文本分离原则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571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将界面文本从代码中抽离，集中管理，确保可维护性和灵活性。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619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6" name="Text 10"/>
          <p:cNvSpPr/>
          <p:nvPr/>
        </p:nvSpPr>
        <p:spPr>
          <a:xfrm>
            <a:off x="3619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动态加载机制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3619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根据用户选择实时加载对应语言包，实现即时语言切换。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667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9" name="Text 13"/>
          <p:cNvSpPr/>
          <p:nvPr/>
        </p:nvSpPr>
        <p:spPr>
          <a:xfrm>
            <a:off x="6667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用户偏好记忆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6667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记录用户语言偏好，保证下次访问时自动加载上次选择的语言。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74533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环境准备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6" name="Shape 3"/>
          <p:cNvSpPr/>
          <p:nvPr/>
        </p:nvSpPr>
        <p:spPr>
          <a:xfrm>
            <a:off x="571501" y="2052640"/>
            <a:ext cx="2276475" cy="1504951"/>
          </a:xfrm>
          <a:prstGeom prst="round2DiagRect">
            <a:avLst/>
          </a:prstGeom>
          <a:solidFill>
            <a:srgbClr val="BE212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6866" y="2166941"/>
            <a:ext cx="285751" cy="2857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2001" y="2562226"/>
            <a:ext cx="1895475" cy="4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762001" y="2676525"/>
            <a:ext cx="1895475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确保项目中已安装 vue-i18n，命令行执行 </a:t>
            </a:r>
            <a:r>
              <a:rPr lang="en-US" sz="9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</a:t>
            </a: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install --save vue-i18n@compatible_version，注意版本兼容性。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 rot="10800000">
            <a:off x="1566863" y="3771904"/>
            <a:ext cx="228600" cy="195263"/>
          </a:xfrm>
          <a:prstGeom prst="triangle">
            <a:avLst/>
          </a:prstGeom>
          <a:solidFill>
            <a:srgbClr val="C81A16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1" y="4095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安装依赖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3433764" y="2052637"/>
            <a:ext cx="2276475" cy="1314451"/>
          </a:xfrm>
          <a:prstGeom prst="round2DiagRect">
            <a:avLst/>
          </a:prstGeom>
          <a:solidFill>
            <a:srgbClr val="DFB57F">
              <a:alpha val="20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29129" y="2166941"/>
            <a:ext cx="285751" cy="28575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24263" y="2562226"/>
            <a:ext cx="1895475" cy="47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0"/>
          <p:cNvSpPr/>
          <p:nvPr/>
        </p:nvSpPr>
        <p:spPr>
          <a:xfrm>
            <a:off x="3624263" y="2676528"/>
            <a:ext cx="189547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package.json 文件中的 Vue 版本，安装与之兼容的 vue-i18n 版本，避免因版本不匹配导致的错误。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 rot="10800000">
            <a:off x="4429125" y="3581404"/>
            <a:ext cx="228600" cy="195263"/>
          </a:xfrm>
          <a:prstGeom prst="triangle">
            <a:avLst/>
          </a:prstGeom>
          <a:solidFill>
            <a:srgbClr val="DFB57F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3433764" y="39052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版本匹配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96025" y="2052637"/>
            <a:ext cx="2276475" cy="1314451"/>
          </a:xfrm>
          <a:prstGeom prst="round2DiagRect">
            <a:avLst/>
          </a:prstGeom>
          <a:solidFill>
            <a:srgbClr val="DFB57F">
              <a:alpha val="2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91391" y="2166941"/>
            <a:ext cx="285751" cy="28575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86525" y="2562226"/>
            <a:ext cx="1895475" cy="47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5"/>
          <p:cNvSpPr/>
          <p:nvPr/>
        </p:nvSpPr>
        <p:spPr>
          <a:xfrm>
            <a:off x="6486525" y="2676528"/>
            <a:ext cx="189547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若安装过程中出现版本冲突，需手动查找并安装正确的 vue-i18n 版本，确保国际化功能正常运行。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 rot="10800000">
            <a:off x="7291388" y="3581404"/>
            <a:ext cx="228600" cy="195263"/>
          </a:xfrm>
          <a:prstGeom prst="triangle">
            <a:avLst/>
          </a:prstGeom>
          <a:solidFill>
            <a:srgbClr val="DFB57F">
              <a:alpha val="5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296025" y="39052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解决冲突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3" y="466725"/>
            <a:ext cx="2857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语言资源创建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3" y="895354"/>
            <a:ext cx="28575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33333" b="33333"/>
          <a:stretch/>
        </p:blipFill>
        <p:spPr>
          <a:xfrm>
            <a:off x="571503" y="3905253"/>
            <a:ext cx="2857500" cy="952500"/>
          </a:xfrm>
          <a:prstGeom prst="roundRect">
            <a:avLst>
              <a:gd name="adj" fmla="val 5000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4381504" y="933454"/>
            <a:ext cx="442913" cy="442913"/>
          </a:xfrm>
          <a:prstGeom prst="rect">
            <a:avLst/>
          </a:prstGeom>
          <a:solidFill>
            <a:srgbClr val="E17272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8654" y="990604"/>
            <a:ext cx="333375" cy="3333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1500" y="1566867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结构化存储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4381500" y="1871663"/>
            <a:ext cx="1905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创建语言文件，如 `src/i18n/en.js` 和 `src/i18n/zh.js`，使用嵌套对象按页面或组件组织键值对，提高可维护性。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667504" y="933454"/>
            <a:ext cx="442913" cy="442913"/>
          </a:xfrm>
          <a:prstGeom prst="rect">
            <a:avLst/>
          </a:prstGeom>
          <a:solidFill>
            <a:srgbClr val="DC3633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4654" y="990604"/>
            <a:ext cx="333375" cy="333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67500" y="1566867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示例代码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6619878" y="1881187"/>
            <a:ext cx="2476500" cy="904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export default {</a:t>
            </a:r>
          </a:p>
          <a:p>
            <a:pPr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common: { </a:t>
            </a:r>
            <a:r>
              <a:rPr lang="en-US" sz="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switchLang</a:t>
            </a: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'</a:t>
            </a: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</a:t>
            </a: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', </a:t>
            </a:r>
            <a:r>
              <a:rPr lang="en-US" sz="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zhLang</a:t>
            </a: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'</a:t>
            </a: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', </a:t>
            </a:r>
            <a:r>
              <a:rPr lang="en-US" sz="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enLang</a:t>
            </a: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'</a:t>
            </a: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 },</a:t>
            </a:r>
          </a:p>
          <a:p>
            <a:pPr>
              <a:lnSpc>
                <a:spcPts val="1500"/>
              </a:lnSpc>
            </a:pP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homepage: { </a:t>
            </a:r>
            <a:r>
              <a:rPr lang="en-US" sz="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scrollNews</a:t>
            </a: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'</a:t>
            </a: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滚动新闻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', </a:t>
            </a: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notice: '</a:t>
            </a:r>
            <a:r>
              <a:rPr lang="zh-CN" alt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通知公告</a:t>
            </a: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', ... }</a:t>
            </a:r>
          </a:p>
          <a:p>
            <a:pPr>
              <a:lnSpc>
                <a:spcPts val="1500"/>
              </a:lnSpc>
            </a:pPr>
            <a:r>
              <a:rPr lang="en-US" altLang="zh-CN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}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4381504" y="3014667"/>
            <a:ext cx="442913" cy="442913"/>
          </a:xfrm>
          <a:prstGeom prst="rect">
            <a:avLst/>
          </a:prstGeom>
          <a:solidFill>
            <a:srgbClr val="DFB57F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38654" y="3071817"/>
            <a:ext cx="333375" cy="333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1500" y="3648079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组织原则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381500" y="3952879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采用模块化策略，将文本按照功能区或页面分类，如 `common`, `homepage` 等，确保结构清晰。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667504" y="3014667"/>
            <a:ext cx="442913" cy="442913"/>
          </a:xfrm>
          <a:prstGeom prst="rect">
            <a:avLst/>
          </a:prstGeom>
          <a:solidFill>
            <a:srgbClr val="BE2124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24654" y="3071817"/>
            <a:ext cx="333375" cy="3333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67500" y="3648079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文本替换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667500" y="3952879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`$t()` 方法在组件模板中替换硬编码文本，确保所有面向用户的文本都可被国际化。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29249" y="1290638"/>
            <a:ext cx="857251" cy="857251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43568" y="1504954"/>
            <a:ext cx="428625" cy="428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72249" y="1290638"/>
            <a:ext cx="857251" cy="857251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86568" y="1504954"/>
            <a:ext cx="428625" cy="42862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715249" y="1290638"/>
            <a:ext cx="857251" cy="857251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29568" y="1504954"/>
            <a:ext cx="428625" cy="4286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i18n实例配置</a:t>
            </a:r>
            <a:endParaRPr lang="en-US" sz="2251" dirty="0"/>
          </a:p>
        </p:txBody>
      </p:sp>
      <p:sp>
        <p:nvSpPr>
          <p:cNvPr id="11" name="Text 5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12" name="Shape 6"/>
          <p:cNvSpPr/>
          <p:nvPr/>
        </p:nvSpPr>
        <p:spPr>
          <a:xfrm>
            <a:off x="571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3" name="Text 7"/>
          <p:cNvSpPr/>
          <p:nvPr/>
        </p:nvSpPr>
        <p:spPr>
          <a:xfrm>
            <a:off x="571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初始化i18n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571500" y="3590925"/>
            <a:ext cx="1905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在i18n实例配置中，我们首先引入必要的模块和语言资源文件，然后定义一个函数getLanguage()来确定应用的初始语言。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619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6" name="Text 10"/>
          <p:cNvSpPr/>
          <p:nvPr/>
        </p:nvSpPr>
        <p:spPr>
          <a:xfrm>
            <a:off x="3619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消息聚合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3619500" y="3590928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创建一个messages对象，将所有语言资源文件聚合在一起，以便i18n实例能够识别并加载不同的语言包。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667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9" name="Text 13"/>
          <p:cNvSpPr/>
          <p:nvPr/>
        </p:nvSpPr>
        <p:spPr>
          <a:xfrm>
            <a:off x="6667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实例创建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6667500" y="3590928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使用VueI18n构造函数创建i18n实例，传入当前语言和聚合的消息对象，从而完成国际化环境的搭建。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1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全局集成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7429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3"/>
            <a:ext cx="8382000" cy="34099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052889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引入i18n库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343401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在项目中安装并引入i18n库，为后续的国际化配置打下基础。</a:t>
            </a:r>
            <a:endParaRPr lang="en-US" sz="1051" dirty="0"/>
          </a:p>
        </p:txBody>
      </p:sp>
      <p:sp>
        <p:nvSpPr>
          <p:cNvPr id="9" name="Text 5"/>
          <p:cNvSpPr/>
          <p:nvPr/>
        </p:nvSpPr>
        <p:spPr>
          <a:xfrm>
            <a:off x="595313" y="3190876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创建i18n实例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481389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创建一个新的i18n实例，并设置语言环境和翻译消息。</a:t>
            </a:r>
            <a:endParaRPr lang="en-US" sz="1051" dirty="0"/>
          </a:p>
        </p:txBody>
      </p:sp>
      <p:sp>
        <p:nvSpPr>
          <p:cNvPr id="11" name="Text 7"/>
          <p:cNvSpPr/>
          <p:nvPr/>
        </p:nvSpPr>
        <p:spPr>
          <a:xfrm>
            <a:off x="595313" y="2328864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配置语言包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619375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定义不同语言的消息对象，包括各种语言的键值对。</a:t>
            </a:r>
            <a:endParaRPr lang="en-US" sz="1051" dirty="0"/>
          </a:p>
        </p:txBody>
      </p:sp>
      <p:sp>
        <p:nvSpPr>
          <p:cNvPr id="13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全局注册i18n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1757362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在main.js中将i18n实例挂载到Vue实例上，使所有组件都能访问。</a:t>
            </a:r>
            <a:endParaRPr lang="en-US" sz="1051" dirty="0"/>
          </a:p>
        </p:txBody>
      </p:sp>
      <p:sp>
        <p:nvSpPr>
          <p:cNvPr id="15" name="Text 11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组件内使用i18n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1757362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在组件内部通过$this.$i18n.t('key')调用翻译功能，实现文本的动态显示。</a:t>
            </a:r>
            <a:endParaRPr lang="en-US" sz="1051" dirty="0"/>
          </a:p>
        </p:txBody>
      </p:sp>
      <p:sp>
        <p:nvSpPr>
          <p:cNvPr id="17" name="Text 13"/>
          <p:cNvSpPr/>
          <p:nvPr/>
        </p:nvSpPr>
        <p:spPr>
          <a:xfrm>
            <a:off x="6186488" y="2328864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切换语言环境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619375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提供切换语言的功能，允许用户选择不同的语言版本。</a:t>
            </a:r>
            <a:endParaRPr lang="en-US" sz="1051" dirty="0"/>
          </a:p>
        </p:txBody>
      </p:sp>
      <p:sp>
        <p:nvSpPr>
          <p:cNvPr id="19" name="Text 15"/>
          <p:cNvSpPr/>
          <p:nvPr/>
        </p:nvSpPr>
        <p:spPr>
          <a:xfrm>
            <a:off x="6186488" y="3190876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测试国际化效果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481389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测试不同语言环境下页面的显示效果，确保翻译准确无误。</a:t>
            </a:r>
            <a:endParaRPr lang="en-US" sz="1051" dirty="0"/>
          </a:p>
        </p:txBody>
      </p:sp>
      <p:sp>
        <p:nvSpPr>
          <p:cNvPr id="21" name="Text 17"/>
          <p:cNvSpPr/>
          <p:nvPr/>
        </p:nvSpPr>
        <p:spPr>
          <a:xfrm>
            <a:off x="6186488" y="4052889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持续维护更新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343401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随着项目的迭代，持续维护和更新语言包，保证国际化功能的完善。</a:t>
            </a:r>
            <a:endParaRPr lang="en-US" sz="105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4" y="571503"/>
            <a:ext cx="366713" cy="57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995868" y="1171579"/>
            <a:ext cx="5305425" cy="446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5174"/>
              </a:lnSpc>
            </a:pPr>
            <a:r>
              <a:rPr lang="en-US" sz="24374" b="1" dirty="0">
                <a:solidFill>
                  <a:srgbClr val="E2C9A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374" dirty="0"/>
          </a:p>
        </p:txBody>
      </p:sp>
      <p:sp>
        <p:nvSpPr>
          <p:cNvPr id="5" name="Text 2"/>
          <p:cNvSpPr/>
          <p:nvPr/>
        </p:nvSpPr>
        <p:spPr>
          <a:xfrm>
            <a:off x="571500" y="3676650"/>
            <a:ext cx="46672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日夜模式实现详解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" y="4305304"/>
            <a:ext cx="4667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-1"/>
            <a:ext cx="9144000" cy="1238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1"/>
              </a:lnSpc>
            </a:pPr>
            <a:r>
              <a:rPr lang="en-US" sz="2251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7429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9875" y="2000250"/>
            <a:ext cx="476251" cy="4762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3"/>
            <a:ext cx="2413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全局CSS类切换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4" y="2838450"/>
            <a:ext cx="2576513" cy="628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通过添加或移除全局HTML类，实现界面样式的整体变换，确保日夜模式间平滑过渡。</a:t>
            </a:r>
            <a:endParaRPr lang="en-US" sz="105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3875" y="2000250"/>
            <a:ext cx="476251" cy="4762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3"/>
            <a:ext cx="2413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样式层叠覆盖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628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利用CSS的层叠特性，针对性地覆盖基础颜色、组件样式，保证模式切换时视觉效果的一致性和完整性。</a:t>
            </a:r>
            <a:endParaRPr lang="en-US" sz="105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7875" y="2000250"/>
            <a:ext cx="476251" cy="4762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3"/>
            <a:ext cx="2413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用户偏好记忆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943228"/>
            <a:ext cx="2660651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采用Cookie存储用户偏好，确保模式选择在不同会话间保持一致，提升用户体验。</a:t>
            </a:r>
            <a:endParaRPr lang="en-US" sz="105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1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切换控件与状态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7429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2000253"/>
            <a:ext cx="8382000" cy="1943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91" y="2093119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4" y="2483645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设计图标按钮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4" y="2774159"/>
            <a:ext cx="1628775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创建一个带有太阳和月亮图标的按钮，用于切换模式。</a:t>
            </a:r>
            <a:endParaRPr lang="en-US" sz="1051" dirty="0"/>
          </a:p>
        </p:txBody>
      </p:sp>
      <p:sp>
        <p:nvSpPr>
          <p:cNvPr id="10" name="Text 6"/>
          <p:cNvSpPr/>
          <p:nvPr/>
        </p:nvSpPr>
        <p:spPr>
          <a:xfrm>
            <a:off x="3548066" y="2093119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C4A1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9" y="2483645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跟踪模式状态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9" y="2774157"/>
            <a:ext cx="1628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使用布尔值 `isDarkMode` 来记录当前的模式状态。</a:t>
            </a:r>
            <a:endParaRPr lang="en-US" sz="1051" dirty="0"/>
          </a:p>
        </p:txBody>
      </p:sp>
      <p:sp>
        <p:nvSpPr>
          <p:cNvPr id="13" name="Text 9"/>
          <p:cNvSpPr/>
          <p:nvPr/>
        </p:nvSpPr>
        <p:spPr>
          <a:xfrm>
            <a:off x="5329242" y="2093119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5" y="2483645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初始化模式状态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5" y="2774157"/>
            <a:ext cx="16287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Cookie 中读取用户的偏好设置来初始化模式。</a:t>
            </a:r>
            <a:endParaRPr lang="en-US" sz="1051" dirty="0"/>
          </a:p>
        </p:txBody>
      </p:sp>
      <p:sp>
        <p:nvSpPr>
          <p:cNvPr id="16" name="Text 12"/>
          <p:cNvSpPr/>
          <p:nvPr/>
        </p:nvSpPr>
        <p:spPr>
          <a:xfrm>
            <a:off x="7110417" y="2093119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C4A1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9" y="2483645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切换模式功能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9" y="2774155"/>
            <a:ext cx="1628775" cy="108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当点击按钮时，切换 `isDarkMode` 的值，并调用 `applyDarkMode` 函数更新页面样式，同时更新 Cookie 保存用户的选择。</a:t>
            </a:r>
            <a:endParaRPr lang="en-US" sz="105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26" r="26"/>
          <a:stretch/>
        </p:blipFill>
        <p:spPr>
          <a:xfrm>
            <a:off x="0" y="3"/>
            <a:ext cx="9144000" cy="219075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样式定义</a:t>
            </a:r>
            <a:endParaRPr lang="en-US" sz="2251" dirty="0"/>
          </a:p>
        </p:txBody>
      </p:sp>
      <p:sp>
        <p:nvSpPr>
          <p:cNvPr id="6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7" name="Shape 3"/>
          <p:cNvSpPr/>
          <p:nvPr/>
        </p:nvSpPr>
        <p:spPr>
          <a:xfrm>
            <a:off x="857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3" y="1962153"/>
            <a:ext cx="571500" cy="571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全局样式覆盖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5715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定义`.dark-mode`类，统一控制背景、文字颜色，奠定全局基调。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952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38503" y="1962153"/>
            <a:ext cx="571500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7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组件级覆盖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2667003" y="3371853"/>
            <a:ext cx="1714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针对Element UI组件与自定义元素，精细调整色彩，确保视觉一致。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048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4003" y="1962153"/>
            <a:ext cx="571500" cy="571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62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细节微调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7625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处理:hover、:active等伪类，调整图片显示，完善用户体验。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7143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9503" y="1962153"/>
            <a:ext cx="571500" cy="5715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引入与应用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858003" y="3371853"/>
            <a:ext cx="17145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确保`dark-mode.scss`被正确导入，通过JS控制类名切换，实现模式变换。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68818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样式应用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6" name="Shape 3"/>
          <p:cNvSpPr/>
          <p:nvPr/>
        </p:nvSpPr>
        <p:spPr>
          <a:xfrm>
            <a:off x="571501" y="2052640"/>
            <a:ext cx="2276475" cy="1123951"/>
          </a:xfrm>
          <a:prstGeom prst="round2DiagRect">
            <a:avLst/>
          </a:prstGeom>
          <a:solidFill>
            <a:srgbClr val="BE212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6866" y="2166941"/>
            <a:ext cx="285751" cy="2857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2001" y="2562226"/>
            <a:ext cx="1895475" cy="4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762001" y="2676525"/>
            <a:ext cx="1895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通过添加或移除 'dark-mode' 类，动态改变页面视觉风格。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 rot="10800000">
            <a:off x="1566863" y="3390904"/>
            <a:ext cx="228600" cy="195263"/>
          </a:xfrm>
          <a:prstGeom prst="triangle">
            <a:avLst/>
          </a:prstGeom>
          <a:solidFill>
            <a:srgbClr val="C81A16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1" y="3714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B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核心操作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3433764" y="2052640"/>
            <a:ext cx="2276475" cy="1123951"/>
          </a:xfrm>
          <a:prstGeom prst="round2DiagRect">
            <a:avLst/>
          </a:prstGeom>
          <a:solidFill>
            <a:srgbClr val="DFB57F">
              <a:alpha val="20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29129" y="2166941"/>
            <a:ext cx="285751" cy="28575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24263" y="2562226"/>
            <a:ext cx="1895475" cy="47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0"/>
          <p:cNvSpPr/>
          <p:nvPr/>
        </p:nvSpPr>
        <p:spPr>
          <a:xfrm>
            <a:off x="3624263" y="2676525"/>
            <a:ext cx="1895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针对难以纯 CSS 覆盖的元素，使用 JS 进行 DOM 操作，确保样式一致。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 rot="10800000">
            <a:off x="4429125" y="3390904"/>
            <a:ext cx="228600" cy="195263"/>
          </a:xfrm>
          <a:prstGeom prst="triangle">
            <a:avLst/>
          </a:prstGeom>
          <a:solidFill>
            <a:srgbClr val="DFB57F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3433764" y="3714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辅助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96025" y="2052640"/>
            <a:ext cx="2276475" cy="1123951"/>
          </a:xfrm>
          <a:prstGeom prst="round2DiagRect">
            <a:avLst/>
          </a:prstGeom>
          <a:solidFill>
            <a:srgbClr val="DFB57F">
              <a:alpha val="2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91391" y="2166941"/>
            <a:ext cx="285751" cy="28575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86525" y="2562226"/>
            <a:ext cx="1895475" cy="47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5"/>
          <p:cNvSpPr/>
          <p:nvPr/>
        </p:nvSpPr>
        <p:spPr>
          <a:xfrm>
            <a:off x="6486525" y="2676525"/>
            <a:ext cx="1895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 'dark-mode.scss' 正确导入，使所有样式生效。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 rot="10800000">
            <a:off x="7291388" y="3390904"/>
            <a:ext cx="228600" cy="195263"/>
          </a:xfrm>
          <a:prstGeom prst="triangle">
            <a:avLst/>
          </a:prstGeom>
          <a:solidFill>
            <a:srgbClr val="DFB57F">
              <a:alpha val="5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296025" y="3714754"/>
            <a:ext cx="2276475" cy="4143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3263"/>
              </a:lnSpc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样式引入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3" y="466725"/>
            <a:ext cx="2857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引入样式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3" y="895354"/>
            <a:ext cx="28575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33333" b="33333"/>
          <a:stretch/>
        </p:blipFill>
        <p:spPr>
          <a:xfrm>
            <a:off x="571503" y="3905253"/>
            <a:ext cx="2857500" cy="952500"/>
          </a:xfrm>
          <a:prstGeom prst="roundRect">
            <a:avLst>
              <a:gd name="adj" fmla="val 5000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4381504" y="933454"/>
            <a:ext cx="442913" cy="442913"/>
          </a:xfrm>
          <a:prstGeom prst="rect">
            <a:avLst/>
          </a:prstGeom>
          <a:solidFill>
            <a:srgbClr val="E17272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8654" y="990604"/>
            <a:ext cx="333375" cy="3333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1500" y="1566867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SCSS 文件导入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4381500" y="1871667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确保在项目的主样式表中引入 `dark-mode.scss` 文件，这是应用日夜模式的关键。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667504" y="933454"/>
            <a:ext cx="442913" cy="442913"/>
          </a:xfrm>
          <a:prstGeom prst="rect">
            <a:avLst/>
          </a:prstGeom>
          <a:solidFill>
            <a:srgbClr val="DC3633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4654" y="990604"/>
            <a:ext cx="333375" cy="333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67500" y="1566867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全局样式覆盖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6667500" y="1871667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通过在 `dark-mode.scss` 中定义的全局类 `.dark-mode`，实现对基础颜色和组件样式的覆盖。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381504" y="2824167"/>
            <a:ext cx="442913" cy="442913"/>
          </a:xfrm>
          <a:prstGeom prst="rect">
            <a:avLst/>
          </a:prstGeom>
          <a:solidFill>
            <a:srgbClr val="DFB57F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38654" y="2881317"/>
            <a:ext cx="333375" cy="333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1500" y="3457579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样式生效检查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381500" y="3762379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`.dark-mode` 类是否正确应用于 `&lt;html&gt;` 标签，确保所有样式规则生效。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667504" y="2824167"/>
            <a:ext cx="442913" cy="442913"/>
          </a:xfrm>
          <a:prstGeom prst="rect">
            <a:avLst/>
          </a:prstGeom>
          <a:solidFill>
            <a:srgbClr val="BE2124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24654" y="2881317"/>
            <a:ext cx="333375" cy="3333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67500" y="3457579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兼容性确认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667500" y="3762379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测试不同浏览器和设备上的样式表现，确保日夜模式切换的一致性和兼容性。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4" y="571503"/>
            <a:ext cx="366713" cy="57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984719" y="1106120"/>
            <a:ext cx="4995863" cy="446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5174"/>
              </a:lnSpc>
            </a:pPr>
            <a:r>
              <a:rPr lang="en-US" sz="24374" b="1" dirty="0">
                <a:solidFill>
                  <a:srgbClr val="E2C9A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374" dirty="0"/>
          </a:p>
        </p:txBody>
      </p:sp>
      <p:sp>
        <p:nvSpPr>
          <p:cNvPr id="5" name="Text 2"/>
          <p:cNvSpPr/>
          <p:nvPr/>
        </p:nvSpPr>
        <p:spPr>
          <a:xfrm>
            <a:off x="1218389" y="3676245"/>
            <a:ext cx="46672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" y="4305304"/>
            <a:ext cx="4667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43568" y="1504954"/>
            <a:ext cx="428625" cy="42862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86568" y="1504954"/>
            <a:ext cx="428625" cy="42862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929568" y="1504954"/>
            <a:ext cx="428625" cy="4286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zh-CN" altLang="en-US" sz="2251" dirty="0"/>
              <a:t>成果展示</a:t>
            </a:r>
            <a:endParaRPr lang="en-US" sz="2251" dirty="0"/>
          </a:p>
        </p:txBody>
      </p:sp>
      <p:sp>
        <p:nvSpPr>
          <p:cNvPr id="11" name="Text 5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12" name="Shape 6"/>
          <p:cNvSpPr/>
          <p:nvPr/>
        </p:nvSpPr>
        <p:spPr>
          <a:xfrm>
            <a:off x="571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3" name="Text 7"/>
          <p:cNvSpPr/>
          <p:nvPr/>
        </p:nvSpPr>
        <p:spPr>
          <a:xfrm>
            <a:off x="571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语言切换演示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571500" y="3590928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展示中文界面，点击"EN"按钮，界面平滑切换至英文，刷新页面，语言偏好保持。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619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6" name="Text 10"/>
          <p:cNvSpPr/>
          <p:nvPr/>
        </p:nvSpPr>
        <p:spPr>
          <a:xfrm>
            <a:off x="3619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模式切换演示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3619500" y="3590925"/>
            <a:ext cx="1905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白天模式下，点击"月亮"图标，界面瞬时转换为黑夜模式，再次点击"太阳"图标，恢复白天模式，刷新页面，模式偏好保持。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667503" y="3071814"/>
            <a:ext cx="571500" cy="23813"/>
          </a:xfrm>
          <a:prstGeom prst="rect">
            <a:avLst/>
          </a:prstGeom>
          <a:solidFill>
            <a:srgbClr val="BB0000"/>
          </a:solidFill>
          <a:ln/>
        </p:spPr>
      </p:sp>
      <p:sp>
        <p:nvSpPr>
          <p:cNvPr id="19" name="Text 13"/>
          <p:cNvSpPr/>
          <p:nvPr/>
        </p:nvSpPr>
        <p:spPr>
          <a:xfrm>
            <a:off x="6667500" y="3286128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切换流畅性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6667500" y="359092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强调切换过程的流畅性和视觉一致性，确保用户体验连贯无中断。</a:t>
            </a:r>
            <a:endParaRPr lang="en-US" sz="9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7634786-3DF8-155C-C41E-C607224FCA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1" y="1358708"/>
            <a:ext cx="3050361" cy="157737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54D4583-03CD-BCCE-76CE-339A484383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1350" y="1419757"/>
            <a:ext cx="2446479" cy="1437741"/>
          </a:xfrm>
          <a:prstGeom prst="rect">
            <a:avLst/>
          </a:prstGeom>
        </p:spPr>
      </p:pic>
      <p:pic>
        <p:nvPicPr>
          <p:cNvPr id="25" name="屏幕录制 24">
            <a:hlinkClick r:id="" action="ppaction://media"/>
            <a:extLst>
              <a:ext uri="{FF2B5EF4-FFF2-40B4-BE49-F238E27FC236}">
                <a16:creationId xmlns:a16="http://schemas.microsoft.com/office/drawing/2014/main" id="{C8EFE87F-CBEB-33B1-EA3A-842D3B3D35AB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5785.8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643567" y="962022"/>
            <a:ext cx="3384154" cy="21396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1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4" y="571503"/>
            <a:ext cx="366713" cy="57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974587" y="1095379"/>
            <a:ext cx="4976812" cy="446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5174"/>
              </a:lnSpc>
            </a:pPr>
            <a:r>
              <a:rPr lang="en-US" sz="24374" b="1" dirty="0">
                <a:solidFill>
                  <a:srgbClr val="E2C9A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374" dirty="0"/>
          </a:p>
        </p:txBody>
      </p:sp>
      <p:sp>
        <p:nvSpPr>
          <p:cNvPr id="5" name="Text 2"/>
          <p:cNvSpPr/>
          <p:nvPr/>
        </p:nvSpPr>
        <p:spPr>
          <a:xfrm>
            <a:off x="571500" y="3676650"/>
            <a:ext cx="46672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挑战、反思与优化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" y="4305304"/>
            <a:ext cx="4667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3" y="466725"/>
            <a:ext cx="2857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遇到的主要挑战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3" y="895354"/>
            <a:ext cx="28575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33333" b="33333"/>
          <a:stretch/>
        </p:blipFill>
        <p:spPr>
          <a:xfrm>
            <a:off x="571503" y="3905253"/>
            <a:ext cx="2857500" cy="952500"/>
          </a:xfrm>
          <a:prstGeom prst="roundRect">
            <a:avLst>
              <a:gd name="adj" fmla="val 5000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4381504" y="933454"/>
            <a:ext cx="442913" cy="442913"/>
          </a:xfrm>
          <a:prstGeom prst="rect">
            <a:avLst/>
          </a:prstGeom>
          <a:solidFill>
            <a:srgbClr val="E17272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8654" y="990604"/>
            <a:ext cx="333375" cy="3333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1500" y="1566867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版本兼容性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4381500" y="1871663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Vue与vue-i18n版本匹配复杂，需细致查阅文档确认。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667504" y="933454"/>
            <a:ext cx="442913" cy="442913"/>
          </a:xfrm>
          <a:prstGeom prst="rect">
            <a:avLst/>
          </a:prstGeom>
          <a:solidFill>
            <a:srgbClr val="DC3633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4654" y="990604"/>
            <a:ext cx="333375" cy="333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67500" y="1566867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样式覆盖复杂性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6667500" y="1871667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 Mode需精细覆盖大量默认及第三方组件样式，平衡选择器优先级与!important使用。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381504" y="2824167"/>
            <a:ext cx="442913" cy="442913"/>
          </a:xfrm>
          <a:prstGeom prst="rect">
            <a:avLst/>
          </a:prstGeom>
          <a:solidFill>
            <a:srgbClr val="DFB57F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38654" y="2881317"/>
            <a:ext cx="333375" cy="333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1500" y="3457579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国际化文本遗漏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381500" y="3762379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动态内容、深层组件易忽略文本替换，需全面审查确保所有文本使用$t()方法。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667504" y="2824167"/>
            <a:ext cx="442913" cy="442913"/>
          </a:xfrm>
          <a:prstGeom prst="rect">
            <a:avLst/>
          </a:prstGeom>
          <a:solidFill>
            <a:srgbClr val="BE2124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24654" y="2881317"/>
            <a:ext cx="333375" cy="3333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67500" y="3457579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字体与布局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667500" y="3762379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特定字体影响UI元素布局，如中文字体可能导致按钮尺寸调整，需细致样式微调。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"/>
            <a:ext cx="9144000" cy="578643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5556" r="5556"/>
          <a:stretch/>
        </p:blipFill>
        <p:spPr>
          <a:xfrm>
            <a:off x="0" y="3"/>
            <a:ext cx="9144000" cy="57864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1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反思与学习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7429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3"/>
            <a:ext cx="8382000" cy="416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0589" y="2752725"/>
            <a:ext cx="4762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80753" y="4238626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项目结构规范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0753" y="4529141"/>
            <a:ext cx="1216075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良好的项目结构是主题化成功的基础。</a:t>
            </a:r>
            <a:endParaRPr lang="en-US" sz="1051" dirty="0"/>
          </a:p>
        </p:txBody>
      </p:sp>
      <p:sp>
        <p:nvSpPr>
          <p:cNvPr id="10" name="Text 6"/>
          <p:cNvSpPr/>
          <p:nvPr/>
        </p:nvSpPr>
        <p:spPr>
          <a:xfrm>
            <a:off x="2404765" y="3605213"/>
            <a:ext cx="4762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C4A1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034928" y="146685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CSS命名规范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34928" y="1757365"/>
            <a:ext cx="1216075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遵循CSS命名规范，确保样式的一致性和可维护性。</a:t>
            </a:r>
            <a:endParaRPr lang="en-US" sz="1051" dirty="0"/>
          </a:p>
        </p:txBody>
      </p:sp>
      <p:sp>
        <p:nvSpPr>
          <p:cNvPr id="13" name="Text 9"/>
          <p:cNvSpPr/>
          <p:nvPr/>
        </p:nvSpPr>
        <p:spPr>
          <a:xfrm>
            <a:off x="3658939" y="2752725"/>
            <a:ext cx="4762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289103" y="4238626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组件化思维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89103" y="4529141"/>
            <a:ext cx="12160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将功能逻辑封装成独立组件，如DarkModeSwitch，提高代码复用性。</a:t>
            </a:r>
            <a:endParaRPr lang="en-US" sz="1051" dirty="0"/>
          </a:p>
        </p:txBody>
      </p:sp>
      <p:sp>
        <p:nvSpPr>
          <p:cNvPr id="16" name="Text 12"/>
          <p:cNvSpPr/>
          <p:nvPr/>
        </p:nvSpPr>
        <p:spPr>
          <a:xfrm>
            <a:off x="4913113" y="3605213"/>
            <a:ext cx="4762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C4A1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3277" y="146685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细致测试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43277" y="1757365"/>
            <a:ext cx="1216075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确保所有页面和交互在不同语言和模式下正常工作。</a:t>
            </a:r>
            <a:endParaRPr lang="en-US" sz="1051" dirty="0"/>
          </a:p>
        </p:txBody>
      </p:sp>
      <p:sp>
        <p:nvSpPr>
          <p:cNvPr id="19" name="Text 15"/>
          <p:cNvSpPr/>
          <p:nvPr/>
        </p:nvSpPr>
        <p:spPr>
          <a:xfrm>
            <a:off x="6167289" y="2752725"/>
            <a:ext cx="4762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AC25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797452" y="4238626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收集反馈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797452" y="4529141"/>
            <a:ext cx="1216075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项目完成后持续收集用户反馈，寻找优化空间。</a:t>
            </a:r>
            <a:endParaRPr lang="en-US" sz="1051" dirty="0"/>
          </a:p>
        </p:txBody>
      </p:sp>
      <p:sp>
        <p:nvSpPr>
          <p:cNvPr id="22" name="Text 18"/>
          <p:cNvSpPr/>
          <p:nvPr/>
        </p:nvSpPr>
        <p:spPr>
          <a:xfrm>
            <a:off x="7421463" y="3605213"/>
            <a:ext cx="4762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500" b="1" dirty="0">
                <a:solidFill>
                  <a:srgbClr val="C4A1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提升体验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51625" y="1757365"/>
            <a:ext cx="1216075" cy="6667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根据反馈不断调整，提升用户体验。</a:t>
            </a:r>
            <a:endParaRPr lang="en-US" sz="105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"/>
            <a:ext cx="9144000" cy="563403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-1"/>
            <a:ext cx="9144000" cy="1238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1"/>
              </a:lnSpc>
            </a:pPr>
            <a:r>
              <a:rPr lang="en-US" sz="2251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潜在优化点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0" y="7429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3"/>
            <a:ext cx="8382000" cy="40147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179" y="4238626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按需加载语言包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9179" y="4529141"/>
            <a:ext cx="133350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通过按需加载语言包减少初次加载时间，提高应用启动速度，优化用户体验。</a:t>
            </a:r>
            <a:endParaRPr lang="en-US" sz="1051" dirty="0"/>
          </a:p>
        </p:txBody>
      </p:sp>
      <p:sp>
        <p:nvSpPr>
          <p:cNvPr id="9" name="Text 5"/>
          <p:cNvSpPr/>
          <p:nvPr/>
        </p:nvSpPr>
        <p:spPr>
          <a:xfrm>
            <a:off x="549179" y="2747962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提升用户体验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9179" y="3038475"/>
            <a:ext cx="1333500" cy="108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添加平滑切换动画，根据系统偏好自动设定初始状态，使用户界面更加友好和直观。</a:t>
            </a:r>
            <a:endParaRPr lang="en-US" sz="1051" dirty="0"/>
          </a:p>
        </p:txBody>
      </p:sp>
      <p:sp>
        <p:nvSpPr>
          <p:cNvPr id="11" name="Text 7"/>
          <p:cNvSpPr/>
          <p:nvPr/>
        </p:nvSpPr>
        <p:spPr>
          <a:xfrm>
            <a:off x="549179" y="1466850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集中管理色彩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9179" y="1757365"/>
            <a:ext cx="133350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使用CSS变量集中管理色彩，简化主题更新流程，提高开发效率和设计一致性。</a:t>
            </a:r>
            <a:endParaRPr lang="en-US" sz="1051" dirty="0"/>
          </a:p>
        </p:txBody>
      </p:sp>
      <p:sp>
        <p:nvSpPr>
          <p:cNvPr id="13" name="Text 9"/>
          <p:cNvSpPr/>
          <p:nvPr/>
        </p:nvSpPr>
        <p:spPr>
          <a:xfrm>
            <a:off x="7261327" y="4149180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探索主题机制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61327" y="4439696"/>
            <a:ext cx="133350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研究CSS变量驱动的主题机制，实现动态主题切换，满足不同用户的个性化需求。</a:t>
            </a:r>
            <a:endParaRPr lang="en-US" sz="1051" dirty="0"/>
          </a:p>
        </p:txBody>
      </p:sp>
      <p:sp>
        <p:nvSpPr>
          <p:cNvPr id="15" name="Text 11"/>
          <p:cNvSpPr/>
          <p:nvPr/>
        </p:nvSpPr>
        <p:spPr>
          <a:xfrm>
            <a:off x="7261327" y="1556148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深化测试策略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261327" y="1846659"/>
            <a:ext cx="1333500" cy="10858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1"/>
              </a:lnSpc>
            </a:pPr>
            <a:r>
              <a:rPr lang="en-US" sz="105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加强自动化测试策略，确保代码质量，及时发现并修复问题，保障应用稳定运行。</a:t>
            </a:r>
            <a:endParaRPr lang="en-US" sz="105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4" y="571503"/>
            <a:ext cx="366713" cy="57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976813" y="1095379"/>
            <a:ext cx="5386387" cy="4467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5174"/>
              </a:lnSpc>
            </a:pPr>
            <a:r>
              <a:rPr lang="en-US" sz="24374" b="1" dirty="0">
                <a:solidFill>
                  <a:srgbClr val="E2C9A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4374" dirty="0"/>
          </a:p>
        </p:txBody>
      </p:sp>
      <p:sp>
        <p:nvSpPr>
          <p:cNvPr id="5" name="Text 2"/>
          <p:cNvSpPr/>
          <p:nvPr/>
        </p:nvSpPr>
        <p:spPr>
          <a:xfrm>
            <a:off x="571500" y="3676650"/>
            <a:ext cx="46672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" y="4305304"/>
            <a:ext cx="46672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26" r="26"/>
          <a:stretch/>
        </p:blipFill>
        <p:spPr>
          <a:xfrm>
            <a:off x="0" y="3"/>
            <a:ext cx="9144000" cy="219075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2251" dirty="0"/>
          </a:p>
        </p:txBody>
      </p:sp>
      <p:sp>
        <p:nvSpPr>
          <p:cNvPr id="6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7" name="Shape 3"/>
          <p:cNvSpPr/>
          <p:nvPr/>
        </p:nvSpPr>
        <p:spPr>
          <a:xfrm>
            <a:off x="857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3" y="1962153"/>
            <a:ext cx="571500" cy="571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功能集成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5715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成功融合中英切换与日夜模式，提升网站交互性。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952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38503" y="1962153"/>
            <a:ext cx="571500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7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技术验证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26670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vue-i18n与CSS类切换方案有效，确保功能流畅。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048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4003" y="1962153"/>
            <a:ext cx="571500" cy="571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62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7625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优化访问体验，增强专业形象，信息可达性提高。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7143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9503" y="1962153"/>
            <a:ext cx="571500" cy="5715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项目完整性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8580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功能完整、体验流畅、代码优雅，达成既定目标。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3" y="466725"/>
            <a:ext cx="2857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个人收获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571503" y="895354"/>
            <a:ext cx="28575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33333" b="33333"/>
          <a:stretch/>
        </p:blipFill>
        <p:spPr>
          <a:xfrm>
            <a:off x="571503" y="3905253"/>
            <a:ext cx="2857500" cy="952500"/>
          </a:xfrm>
          <a:prstGeom prst="roundRect">
            <a:avLst>
              <a:gd name="adj" fmla="val 5000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4381504" y="933454"/>
            <a:ext cx="442913" cy="442913"/>
          </a:xfrm>
          <a:prstGeom prst="rect">
            <a:avLst/>
          </a:prstGeom>
          <a:solidFill>
            <a:srgbClr val="E17272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8654" y="990604"/>
            <a:ext cx="333375" cy="3333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1500" y="1566867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技术提升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4381500" y="1871663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深入掌握Vue国际化与主题化实践，CSS/SCSS调试技能显著增强。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667504" y="933454"/>
            <a:ext cx="442913" cy="442913"/>
          </a:xfrm>
          <a:prstGeom prst="rect">
            <a:avLst/>
          </a:prstGeom>
          <a:solidFill>
            <a:srgbClr val="DC3633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4654" y="990604"/>
            <a:ext cx="333375" cy="333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67500" y="1566867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工程能力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6667500" y="1871663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需求分析、技术选型、问题解决、代码组织能力得到锻炼。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381504" y="2633667"/>
            <a:ext cx="442913" cy="442913"/>
          </a:xfrm>
          <a:prstGeom prst="rect">
            <a:avLst/>
          </a:prstGeom>
          <a:solidFill>
            <a:srgbClr val="DFB57F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38654" y="2690817"/>
            <a:ext cx="333375" cy="333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1500" y="3267079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实践认知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381500" y="357187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深刻理解用户体验细节对Web应用的重要性，注重细节打磨。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667504" y="2633667"/>
            <a:ext cx="442913" cy="442913"/>
          </a:xfrm>
          <a:prstGeom prst="rect">
            <a:avLst/>
          </a:prstGeom>
          <a:solidFill>
            <a:srgbClr val="BE2124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24654" y="2690817"/>
            <a:ext cx="333375" cy="3333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67500" y="3267079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667500" y="3571875"/>
            <a:ext cx="1905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有效沟通与协作，共同克服项目挑战，团队精神得以强化。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26" r="26"/>
          <a:stretch/>
        </p:blipFill>
        <p:spPr>
          <a:xfrm>
            <a:off x="0" y="3"/>
            <a:ext cx="9144000" cy="219075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5751" y="285750"/>
            <a:ext cx="619125" cy="619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66725"/>
            <a:ext cx="800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251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51" dirty="0"/>
          </a:p>
        </p:txBody>
      </p:sp>
      <p:sp>
        <p:nvSpPr>
          <p:cNvPr id="6" name="Text 2"/>
          <p:cNvSpPr/>
          <p:nvPr/>
        </p:nvSpPr>
        <p:spPr>
          <a:xfrm>
            <a:off x="571500" y="895354"/>
            <a:ext cx="8001000" cy="185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endParaRPr lang="en-US" sz="1051" dirty="0"/>
          </a:p>
        </p:txBody>
      </p:sp>
      <p:sp>
        <p:nvSpPr>
          <p:cNvPr id="7" name="Shape 3"/>
          <p:cNvSpPr/>
          <p:nvPr/>
        </p:nvSpPr>
        <p:spPr>
          <a:xfrm>
            <a:off x="857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3" y="1962153"/>
            <a:ext cx="571500" cy="571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5715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探索多语言支持，提供个性化主题选项，整合用户偏好与账户系统。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952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38503" y="1962153"/>
            <a:ext cx="571500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7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技术探索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26670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研究CSS变量主题化，自动化测试在多场景的应用。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048251" y="1676401"/>
            <a:ext cx="1143000" cy="1143000"/>
          </a:xfrm>
          <a:prstGeom prst="ellipse">
            <a:avLst/>
          </a:prstGeom>
          <a:solidFill>
            <a:srgbClr val="BB000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4003" y="1962153"/>
            <a:ext cx="571500" cy="571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625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47625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精进性能，增强用户体验，简化主题维护流程。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7143751" y="1676401"/>
            <a:ext cx="1143000" cy="1143000"/>
          </a:xfrm>
          <a:prstGeom prst="ellipse">
            <a:avLst/>
          </a:prstGeom>
          <a:solidFill>
            <a:srgbClr val="DFB57F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9503" y="1962153"/>
            <a:ext cx="571500" cy="5715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3" y="3057528"/>
            <a:ext cx="1714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1125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社区贡献</a:t>
            </a:r>
            <a:endParaRPr lang="en-US" sz="1125" dirty="0"/>
          </a:p>
        </p:txBody>
      </p:sp>
      <p:sp>
        <p:nvSpPr>
          <p:cNvPr id="22" name="Text 14"/>
          <p:cNvSpPr/>
          <p:nvPr/>
        </p:nvSpPr>
        <p:spPr>
          <a:xfrm>
            <a:off x="6858003" y="3371850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分享经验，开源代码，促进Web应用国际化与主题化发展。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176467"/>
            <a:ext cx="800100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5775"/>
              </a:lnSpc>
            </a:pPr>
            <a:r>
              <a:rPr lang="en-US" sz="41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4125" dirty="0"/>
          </a:p>
        </p:txBody>
      </p:sp>
      <p:sp>
        <p:nvSpPr>
          <p:cNvPr id="4" name="Text 1"/>
          <p:cNvSpPr/>
          <p:nvPr/>
        </p:nvSpPr>
        <p:spPr>
          <a:xfrm>
            <a:off x="571500" y="4362453"/>
            <a:ext cx="8001000" cy="209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725"/>
              </a:lnSpc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</TotalTime>
  <Words>1128</Words>
  <Application>Microsoft Office PowerPoint</Application>
  <PresentationFormat>全屏显示(16:9)</PresentationFormat>
  <Paragraphs>322</Paragraphs>
  <Slides>35</Slides>
  <Notes>35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8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QY Z</cp:lastModifiedBy>
  <cp:revision>3</cp:revision>
  <dcterms:created xsi:type="dcterms:W3CDTF">2025-04-12T13:49:11Z</dcterms:created>
  <dcterms:modified xsi:type="dcterms:W3CDTF">2025-04-12T14:37:40Z</dcterms:modified>
</cp:coreProperties>
</file>