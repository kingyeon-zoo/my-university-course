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14"/>
  </p:notesMasterIdLst>
  <p:handoutMasterIdLst>
    <p:handoutMasterId r:id="rId15"/>
  </p:handoutMasterIdLst>
  <p:sldIdLst>
    <p:sldId id="830" r:id="rId2"/>
    <p:sldId id="965" r:id="rId3"/>
    <p:sldId id="968" r:id="rId4"/>
    <p:sldId id="969" r:id="rId5"/>
    <p:sldId id="976" r:id="rId6"/>
    <p:sldId id="970" r:id="rId7"/>
    <p:sldId id="973" r:id="rId8"/>
    <p:sldId id="882" r:id="rId9"/>
    <p:sldId id="939" r:id="rId10"/>
    <p:sldId id="941" r:id="rId11"/>
    <p:sldId id="949" r:id="rId12"/>
    <p:sldId id="952" r:id="rId13"/>
  </p:sldIdLst>
  <p:sldSz cx="9144000" cy="6858000" type="screen4x3"/>
  <p:notesSz cx="6645275" cy="97774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5pPr>
    <a:lvl6pPr marL="22860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6pPr>
    <a:lvl7pPr marL="27432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7pPr>
    <a:lvl8pPr marL="32004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8pPr>
    <a:lvl9pPr marL="3657600" algn="l" defTabSz="914400" rtl="0" eaLnBrk="1" latinLnBrk="0" hangingPunct="1">
      <a:defRPr sz="2800" b="1" u="sng" kern="1200">
        <a:solidFill>
          <a:schemeClr val="tx1"/>
        </a:solidFill>
        <a:latin typeface="Arial" charset="0"/>
        <a:ea typeface="黑体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pos="5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0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4FF"/>
    <a:srgbClr val="E9F7FF"/>
    <a:srgbClr val="CCECFF"/>
    <a:srgbClr val="FF0000"/>
    <a:srgbClr val="3333FF"/>
    <a:srgbClr val="CC0066"/>
    <a:srgbClr val="D60093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42" y="1062"/>
      </p:cViewPr>
      <p:guideLst>
        <p:guide orient="horz" pos="663"/>
        <p:guide pos="567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518" y="-72"/>
      </p:cViewPr>
      <p:guideLst>
        <p:guide orient="horz" pos="3080"/>
        <p:guide pos="2093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3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ea typeface="宋体" pitchFamily="2" charset="-122"/>
              </a:defRPr>
            </a:lvl1pPr>
          </a:lstStyle>
          <a:p>
            <a:pPr>
              <a:defRPr/>
            </a:pPr>
            <a:fld id="{BDDD355A-2D06-494B-B350-F1F983C5B1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048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5T07:38:01.0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1,'29'0,"77"0,158 19,-70-4,2-16,-60-1,197 2,-320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5T07:38:02.4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0,'88'4,"124"22,-104-11,159 22,92 12,-221-30,-124-16,-1 0,16 6,-17-5,1 0,15 2,-9-3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5T07:38:03.6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2,'143'-1,"166"3,-177 13,18 1,44-17,-182 0,0 0,1-1,22-7,10-2,-14 7,54 0,-68 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6T02:30:08.8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47,'4'0,"-1"-1,0 0,0 0,1 0,-1 0,0 0,4-3,12-4,17-1,1 2,0 2,46-1,207 4,-152 3,-128 0,0 0,0 1,-1 0,1 0,12 5,-10-3,0 0,0-1,14 2,52-2,18 3,-20 0,103-5,-84-2,-80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5025"/>
            <a:ext cx="5314950" cy="439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6875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u="none">
                <a:ea typeface="宋体" pitchFamily="2" charset="-122"/>
              </a:defRPr>
            </a:lvl1pPr>
          </a:lstStyle>
          <a:p>
            <a:pPr>
              <a:defRPr/>
            </a:pPr>
            <a:fld id="{B6E1D91A-09BF-4711-9366-DEB75A41F8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257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A08BA9CF-FB21-4A82-BD3E-D8986D81CBA4}" type="slidenum">
              <a:rPr lang="en-US" altLang="zh-CN" sz="1200" b="0" u="none" smtClean="0">
                <a:ea typeface="宋体" pitchFamily="2" charset="-122"/>
              </a:rPr>
              <a:pPr/>
              <a:t>1</a:t>
            </a:fld>
            <a:endParaRPr lang="en-US" altLang="zh-CN" sz="1200" b="0" u="none">
              <a:ea typeface="宋体" pitchFamily="2" charset="-122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AED1B98-EB00-4296-B0BC-5C1C953E0637}" type="slidenum">
              <a:rPr lang="en-US" altLang="zh-CN" sz="1200" b="0" u="none" smtClean="0">
                <a:ea typeface="宋体" pitchFamily="2" charset="-122"/>
              </a:rPr>
              <a:pPr/>
              <a:t>2</a:t>
            </a:fld>
            <a:endParaRPr lang="en-US" altLang="zh-CN" sz="1200" b="0" u="none">
              <a:ea typeface="宋体" pitchFamily="2" charset="-122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hidden">
          <a:xfrm>
            <a:off x="1716088" y="1690688"/>
            <a:ext cx="7427912" cy="19542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716088" y="1690688"/>
            <a:ext cx="574675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2281238" y="1066800"/>
            <a:ext cx="585787" cy="6350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281238" y="1690688"/>
            <a:ext cx="585787" cy="64293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141413" y="2324100"/>
            <a:ext cx="584200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0" y="2324100"/>
            <a:ext cx="582613" cy="6334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716088" y="2324100"/>
            <a:ext cx="574675" cy="6334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573088" y="2947988"/>
            <a:ext cx="576262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141413" y="2947988"/>
            <a:ext cx="5842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zh-CN" sz="2400" b="0" u="none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1816100"/>
          </a:xfrm>
        </p:spPr>
        <p:txBody>
          <a:bodyPr/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12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DCE02B66-6F03-471F-B0F5-DF41D05198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205202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89AB0-DCD2-4895-9267-4AA5EAE2B8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81265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BBE41-4AC3-4F67-9E40-0F08244509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26784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DB39F-09A7-4500-BDB8-77142ABFB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30262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EDD5E-EF10-4DDF-970E-0EBEA4A126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873178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C3133-C017-47B2-B6A3-E69FB14DFC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189755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5E627-83F4-4595-AE5A-EF987C6819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57978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3B7C5-7C95-48F9-9B70-DAF630D078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423150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53093-3350-490E-ADB3-39CD48D165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977259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0E0B5-9D22-4DCE-966C-0A6485A9D5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87152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33375"/>
            <a:ext cx="2057400" cy="57594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33375"/>
            <a:ext cx="6019800" cy="575945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6F6BC-A4DE-4EF6-BDFA-4B4DACD39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12827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96975"/>
            <a:ext cx="4038600" cy="2371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21100"/>
            <a:ext cx="4038600" cy="2371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422EA-2E44-4402-B004-066A554E88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77369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647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48958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31542-7313-49A4-8FDC-A82DFCE20D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38024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9F7FF"/>
            </a:gs>
            <a:gs pos="100000">
              <a:srgbClr val="CCEC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24075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 u="none">
                <a:solidFill>
                  <a:srgbClr val="3333FF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3A1BB320-6FC1-41A5-8BC8-74BE09976E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3375"/>
            <a:ext cx="82296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u="none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8" name="Rectangle 18"/>
          <p:cNvSpPr>
            <a:spLocks noChangeArrowheads="1"/>
          </p:cNvSpPr>
          <p:nvPr userDrawn="1"/>
        </p:nvSpPr>
        <p:spPr bwMode="auto">
          <a:xfrm>
            <a:off x="466725" y="981075"/>
            <a:ext cx="8210550" cy="730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60392"/>
                  <a:invGamma/>
                  <a:alpha val="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60" name="Rectangle 20"/>
          <p:cNvSpPr>
            <a:spLocks noChangeArrowheads="1"/>
          </p:cNvSpPr>
          <p:nvPr userDrawn="1"/>
        </p:nvSpPr>
        <p:spPr bwMode="auto">
          <a:xfrm>
            <a:off x="466725" y="6291263"/>
            <a:ext cx="8210550" cy="1746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60392"/>
                  <a:invGamma/>
                  <a:alpha val="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  <p:sldLayoutId id="2147484042" r:id="rId12"/>
    <p:sldLayoutId id="2147484043" r:id="rId1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4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5.wmf"/><Relationship Id="rId7" Type="http://schemas.openxmlformats.org/officeDocument/2006/relationships/image" Target="NULL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NULL"/><Relationship Id="rId4" Type="http://schemas.openxmlformats.org/officeDocument/2006/relationships/customXml" Target="../ink/ink1.xml"/><Relationship Id="rId9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5" Type="http://schemas.openxmlformats.org/officeDocument/2006/relationships/image" Target="NULL"/><Relationship Id="rId4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00338" y="1628775"/>
            <a:ext cx="6408737" cy="201612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4000"/>
              <a:t>第</a:t>
            </a:r>
            <a:r>
              <a:rPr lang="en-US" altLang="zh-CN" sz="4000"/>
              <a:t>3</a:t>
            </a:r>
            <a:r>
              <a:rPr lang="zh-CN" altLang="en-US" sz="4000"/>
              <a:t>章</a:t>
            </a:r>
            <a:r>
              <a:rPr lang="en-US" altLang="zh-CN" sz="4000"/>
              <a:t>       </a:t>
            </a:r>
            <a:r>
              <a:rPr lang="zh-CN" altLang="en-US" sz="4000">
                <a:solidFill>
                  <a:srgbClr val="FFC000"/>
                </a:solidFill>
              </a:rPr>
              <a:t>内容回顾</a:t>
            </a:r>
            <a:br>
              <a:rPr lang="zh-CN" altLang="en-US" sz="4000"/>
            </a:br>
            <a:r>
              <a:rPr lang="zh-CN" altLang="en-US" sz="4000"/>
              <a:t>线性代数方程组的数值解法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0AE7767-D032-4482-A670-05BAA10EEF1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2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§3.1 </a:t>
            </a:r>
            <a:r>
              <a:rPr lang="zh-CN" altLang="en-US"/>
              <a:t>高斯消去法</a:t>
            </a:r>
            <a:r>
              <a:rPr lang="en-US" altLang="zh-CN"/>
              <a:t>——</a:t>
            </a:r>
            <a:r>
              <a:rPr lang="zh-CN" altLang="en-US"/>
              <a:t>内容回顾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1"/>
                </a:solidFill>
              </a:rPr>
              <a:t>§3.1.1 </a:t>
            </a:r>
            <a:r>
              <a:rPr lang="zh-CN" altLang="en-US">
                <a:solidFill>
                  <a:schemeClr val="accent1"/>
                </a:solidFill>
                <a:hlinkClick r:id="" action="ppaction://noaction"/>
              </a:rPr>
              <a:t>顺序高斯消去法</a:t>
            </a:r>
            <a:endParaRPr lang="en-US" altLang="zh-CN">
              <a:solidFill>
                <a:schemeClr val="accent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1"/>
                </a:solidFill>
              </a:rPr>
              <a:t>§3.1.2 </a:t>
            </a:r>
            <a:r>
              <a:rPr lang="zh-CN" altLang="en-US">
                <a:solidFill>
                  <a:schemeClr val="accent1"/>
                </a:solidFill>
                <a:hlinkClick r:id="" action="ppaction://noaction"/>
              </a:rPr>
              <a:t>列主元高斯消去法</a:t>
            </a:r>
            <a:endParaRPr lang="zh-CN" altLang="en-US">
              <a:solidFill>
                <a:schemeClr val="accent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1"/>
                </a:solidFill>
              </a:rPr>
              <a:t>§3.1.3 </a:t>
            </a:r>
            <a:r>
              <a:rPr lang="zh-CN" altLang="en-US">
                <a:solidFill>
                  <a:schemeClr val="accent1"/>
                </a:solidFill>
                <a:hlinkClick r:id="" action="ppaction://noaction"/>
              </a:rPr>
              <a:t>高斯</a:t>
            </a:r>
            <a:r>
              <a:rPr lang="en-US" altLang="zh-CN">
                <a:solidFill>
                  <a:schemeClr val="accent1"/>
                </a:solidFill>
                <a:hlinkClick r:id="" action="ppaction://noaction"/>
              </a:rPr>
              <a:t>-</a:t>
            </a:r>
            <a:r>
              <a:rPr lang="zh-CN" altLang="en-US">
                <a:solidFill>
                  <a:schemeClr val="accent1"/>
                </a:solidFill>
                <a:hlinkClick r:id="" action="ppaction://noaction"/>
              </a:rPr>
              <a:t>若尔当消去法</a:t>
            </a:r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B2A045FD-5463-4C9C-AA30-FC912ADC0D33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3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5123" name="Object 2"/>
          <p:cNvGraphicFramePr>
            <a:graphicFrameLocks noChangeAspect="1"/>
          </p:cNvGraphicFramePr>
          <p:nvPr/>
        </p:nvGraphicFramePr>
        <p:xfrm>
          <a:off x="1187450" y="1341438"/>
          <a:ext cx="6440488" cy="321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49600" imgH="1625600" progId="Equation.3">
                  <p:embed/>
                </p:oleObj>
              </mc:Choice>
              <mc:Fallback>
                <p:oleObj name="公式" r:id="rId2" imgW="3149600" imgH="162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341438"/>
                        <a:ext cx="6440488" cy="321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§3.1.1 </a:t>
            </a:r>
            <a:r>
              <a:rPr lang="zh-CN" altLang="en-US"/>
              <a:t>顺序高斯消去法</a:t>
            </a:r>
          </a:p>
        </p:txBody>
      </p:sp>
      <p:sp>
        <p:nvSpPr>
          <p:cNvPr id="512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435975" cy="4895850"/>
          </a:xfrm>
        </p:spPr>
        <p:txBody>
          <a:bodyPr/>
          <a:lstStyle/>
          <a:p>
            <a:pPr lvl="1" eaLnBrk="1" hangingPunct="1"/>
            <a:r>
              <a:rPr lang="en-US" altLang="zh-CN"/>
              <a:t> </a:t>
            </a:r>
          </a:p>
        </p:txBody>
      </p:sp>
      <p:grpSp>
        <p:nvGrpSpPr>
          <p:cNvPr id="5126" name="组合 5"/>
          <p:cNvGrpSpPr>
            <a:grpSpLocks/>
          </p:cNvGrpSpPr>
          <p:nvPr/>
        </p:nvGrpSpPr>
        <p:grpSpPr bwMode="auto">
          <a:xfrm>
            <a:off x="1835150" y="4570413"/>
            <a:ext cx="5473700" cy="1708150"/>
            <a:chOff x="1835620" y="4569632"/>
            <a:chExt cx="5473981" cy="1708238"/>
          </a:xfrm>
        </p:grpSpPr>
        <p:pic>
          <p:nvPicPr>
            <p:cNvPr id="5127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620" y="4569632"/>
              <a:ext cx="5473981" cy="1708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8" name="图片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0722" y="5900606"/>
              <a:ext cx="419122" cy="209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A33E85FA-985F-416B-B7CA-9AD7FEFA4FA3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4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6147" name="Object 2"/>
          <p:cNvGraphicFramePr>
            <a:graphicFrameLocks noChangeAspect="1"/>
          </p:cNvGraphicFramePr>
          <p:nvPr/>
        </p:nvGraphicFramePr>
        <p:xfrm>
          <a:off x="1187450" y="1196975"/>
          <a:ext cx="5616575" cy="501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86100" imgH="2844800" progId="Equation.3">
                  <p:embed/>
                </p:oleObj>
              </mc:Choice>
              <mc:Fallback>
                <p:oleObj name="公式" r:id="rId2" imgW="3086100" imgH="2844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96975"/>
                        <a:ext cx="5616575" cy="501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6659563" y="2060575"/>
            <a:ext cx="1547812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u="none">
                <a:latin typeface="Times New Roman" pitchFamily="18" charset="0"/>
              </a:rPr>
              <a:t>（式</a:t>
            </a:r>
            <a:r>
              <a:rPr lang="en-US" altLang="zh-CN" sz="2400" u="none">
                <a:latin typeface="Times New Roman" pitchFamily="18" charset="0"/>
              </a:rPr>
              <a:t>2</a:t>
            </a:r>
            <a:r>
              <a:rPr lang="zh-CN" altLang="en-US" sz="2400" u="none">
                <a:latin typeface="Times New Roman" pitchFamily="18" charset="0"/>
              </a:rPr>
              <a:t>）  </a:t>
            </a:r>
          </a:p>
        </p:txBody>
      </p:sp>
      <p:sp>
        <p:nvSpPr>
          <p:cNvPr id="61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§3.1.1 </a:t>
            </a:r>
            <a:r>
              <a:rPr lang="zh-CN" altLang="en-US"/>
              <a:t>顺序高斯消去法</a:t>
            </a:r>
          </a:p>
        </p:txBody>
      </p:sp>
      <p:sp>
        <p:nvSpPr>
          <p:cNvPr id="615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435975" cy="5040312"/>
          </a:xfrm>
        </p:spPr>
        <p:txBody>
          <a:bodyPr/>
          <a:lstStyle/>
          <a:p>
            <a:pPr lvl="1" eaLnBrk="1" hangingPunct="1"/>
            <a:r>
              <a:rPr lang="en-US" altLang="zh-CN"/>
              <a:t> </a:t>
            </a:r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6659563" y="4437063"/>
            <a:ext cx="1547812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u="none">
                <a:latin typeface="Times New Roman" pitchFamily="18" charset="0"/>
              </a:rPr>
              <a:t>（式</a:t>
            </a:r>
            <a:r>
              <a:rPr lang="en-US" altLang="zh-CN" sz="2400" u="none">
                <a:latin typeface="Times New Roman" pitchFamily="18" charset="0"/>
              </a:rPr>
              <a:t>3</a:t>
            </a:r>
            <a:r>
              <a:rPr lang="zh-CN" altLang="en-US" sz="2400" u="none">
                <a:latin typeface="Times New Roman" pitchFamily="18" charset="0"/>
              </a:rPr>
              <a:t>） 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00DFE-CE39-D213-7616-080390D2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6784D2-9350-BF11-F03C-271427D5C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顺序高斯消元法时间复杂度（</a:t>
            </a:r>
            <a:r>
              <a:rPr lang="en-US" altLang="zh-CN" dirty="0"/>
              <a:t>On3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sz="2000" dirty="0"/>
              <a:t>解释：每一次</a:t>
            </a:r>
            <a:r>
              <a:rPr lang="en-US" altLang="zh-CN" sz="2000" dirty="0"/>
              <a:t>×n</a:t>
            </a:r>
            <a:r>
              <a:rPr lang="zh-CN" altLang="en-US" sz="2000" dirty="0"/>
              <a:t>消元需要</a:t>
            </a:r>
            <a:r>
              <a:rPr lang="en-US" altLang="zh-CN" sz="2000" dirty="0"/>
              <a:t>n</a:t>
            </a:r>
            <a:r>
              <a:rPr lang="zh-CN" altLang="en-US" sz="2000" dirty="0"/>
              <a:t>个时间，对每一列进行</a:t>
            </a:r>
            <a:r>
              <a:rPr lang="en-US" altLang="zh-CN" sz="2000" dirty="0"/>
              <a:t>n</a:t>
            </a:r>
            <a:r>
              <a:rPr lang="zh-CN" altLang="en-US" sz="2000" dirty="0"/>
              <a:t>次，有</a:t>
            </a:r>
            <a:r>
              <a:rPr lang="en-US" altLang="zh-CN" sz="2000" dirty="0"/>
              <a:t>n</a:t>
            </a:r>
            <a:r>
              <a:rPr lang="zh-CN" altLang="en-US" sz="2000" dirty="0"/>
              <a:t>列，总共</a:t>
            </a:r>
            <a:r>
              <a:rPr lang="en-US" altLang="zh-CN" sz="2000" dirty="0"/>
              <a:t>n3</a:t>
            </a:r>
            <a:r>
              <a:rPr lang="zh-CN" altLang="en-US" sz="2000" dirty="0"/>
              <a:t>级。</a:t>
            </a:r>
            <a:endParaRPr lang="en-US" altLang="zh-CN" sz="2000" dirty="0"/>
          </a:p>
          <a:p>
            <a:r>
              <a:rPr lang="zh-CN" altLang="en-US" dirty="0"/>
              <a:t>最好让大数在第一列，这样大数变小数再消元可以避免小数变大数消元导致的“大数吃掉小数”的情况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2F809D-5288-9D57-7B45-EC44956109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889AB0-DCD2-4895-9267-4AA5EAE2B8C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940281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8FC46C06-8363-4189-BA98-3FE5E31A9294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6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466725" y="1143000"/>
            <a:ext cx="8208963" cy="516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给定线性方程组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Ax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，记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列主元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消去法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的具体过程如下：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首先在增广矩阵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的第一列元素中，取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60000"/>
              </a:lnSpc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然后进行第一步消元得增广矩阵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 再在矩阵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(2)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的第二列元素中，取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kumimoji="1" lang="zh-CN" altLang="en-US" sz="20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5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然后进行第二步消元得增广矩阵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(3)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。按此方法继续进行下去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经过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-1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步选主元和消元运算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得到增广矩阵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=(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).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则方程组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u="none" baseline="30000">
                <a:latin typeface="Times New Roman" pitchFamily="18" charset="0"/>
                <a:ea typeface="楷体_GB2312" pitchFamily="49" charset="-122"/>
              </a:rPr>
              <a:t>(n)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是与原方程组等价的上三角形方程组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可进行回代求解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. </a:t>
            </a:r>
          </a:p>
          <a:p>
            <a:pPr eaLnBrk="1" hangingPunct="1">
              <a:lnSpc>
                <a:spcPct val="95000"/>
              </a:lnSpc>
              <a:spcBef>
                <a:spcPct val="1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易证，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只要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|</a:t>
            </a:r>
            <a:r>
              <a:rPr kumimoji="1" lang="en-US" altLang="zh-CN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0,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列主元</a:t>
            </a:r>
            <a:r>
              <a:rPr kumimoji="1" lang="en-US" altLang="zh-CN" sz="2400" i="1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Gauss</a:t>
            </a:r>
            <a:r>
              <a:rPr kumimoji="1" lang="zh-CN" altLang="en-US" sz="2400" u="none">
                <a:solidFill>
                  <a:schemeClr val="accent1"/>
                </a:solidFill>
                <a:latin typeface="Times New Roman" pitchFamily="18" charset="0"/>
                <a:ea typeface="楷体_GB2312" pitchFamily="49" charset="-122"/>
              </a:rPr>
              <a:t>消去法就可顺利进行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7172" name="Object 3"/>
          <p:cNvGraphicFramePr>
            <a:graphicFrameLocks noChangeAspect="1"/>
          </p:cNvGraphicFramePr>
          <p:nvPr/>
        </p:nvGraphicFramePr>
        <p:xfrm>
          <a:off x="1776413" y="2420938"/>
          <a:ext cx="47990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49500" imgH="304800" progId="Equation.3">
                  <p:embed/>
                </p:oleObj>
              </mc:Choice>
              <mc:Fallback>
                <p:oleObj name="公式" r:id="rId2" imgW="2349500" imgH="304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2420938"/>
                        <a:ext cx="47990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4"/>
          <p:cNvGraphicFramePr>
            <a:graphicFrameLocks noChangeAspect="1"/>
          </p:cNvGraphicFramePr>
          <p:nvPr/>
        </p:nvGraphicFramePr>
        <p:xfrm>
          <a:off x="1776413" y="3860800"/>
          <a:ext cx="487203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74900" imgH="304800" progId="Equation.3">
                  <p:embed/>
                </p:oleObj>
              </mc:Choice>
              <mc:Fallback>
                <p:oleObj name="公式" r:id="rId4" imgW="2374900" imgH="30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3860800"/>
                        <a:ext cx="4872037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§3.1.2  </a:t>
            </a:r>
            <a:r>
              <a:rPr lang="zh-CN" altLang="en-US"/>
              <a:t>列主元高斯消去法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FA7E5855-204C-44EE-8316-0B896243D40A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7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684213" y="1052513"/>
            <a:ext cx="7775575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高斯-约当消去法（</a:t>
            </a:r>
            <a:r>
              <a:rPr lang="en-US" altLang="zh-CN" sz="2400" i="1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Gauss</a:t>
            </a:r>
            <a:r>
              <a:rPr lang="en-US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400" i="1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Jordan</a:t>
            </a:r>
            <a:r>
              <a:rPr lang="zh-CN" altLang="zh-CN" sz="2400" u="none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  <a:endParaRPr lang="zh-CN" altLang="en-US" sz="2400" u="none">
              <a:solidFill>
                <a:srgbClr val="0000FF"/>
              </a:solidFill>
              <a:latin typeface="Times New Roman" pitchFamily="18" charset="0"/>
              <a:ea typeface="楷体_GB2312" pitchFamily="49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这是一种</a:t>
            </a:r>
            <a:r>
              <a:rPr lang="zh-CN" altLang="zh-CN" sz="2400" u="none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无回代</a:t>
            </a: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的方法，使计算工作量减小，在第</a:t>
            </a:r>
            <a:r>
              <a:rPr lang="zh-CN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zh-CN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次消元时不仅把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化成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，不仅将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……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）化成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0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，而且也将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2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……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）也化为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0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，最后消元过程结束时的系数矩阵为</a:t>
            </a:r>
          </a:p>
        </p:txBody>
      </p:sp>
      <p:graphicFrame>
        <p:nvGraphicFramePr>
          <p:cNvPr id="8196" name="Object 3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1303" imgH="739129" progId="Equation.3">
                  <p:embed/>
                </p:oleObj>
              </mc:Choice>
              <mc:Fallback>
                <p:oleObj name="公式" r:id="rId2" imgW="391303" imgH="7391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5148263" y="2781300"/>
          <a:ext cx="2305050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81100" imgH="1155700" progId="Equation.3">
                  <p:embed/>
                </p:oleObj>
              </mc:Choice>
              <mc:Fallback>
                <p:oleObj name="公式" r:id="rId4" imgW="1181100" imgH="1155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781300"/>
                        <a:ext cx="2305050" cy="225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611188" y="4724400"/>
            <a:ext cx="7993062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得消元公式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 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/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 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k-1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-1)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400" i="1" u="none" baseline="-25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kj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400" i="1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 baseline="300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（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 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k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i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，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j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=1,2,…,</a:t>
            </a:r>
            <a:r>
              <a:rPr lang="en-US" altLang="zh-CN" sz="2400" i="1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+1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）</a:t>
            </a:r>
          </a:p>
        </p:txBody>
      </p:sp>
      <p:sp>
        <p:nvSpPr>
          <p:cNvPr id="8199" name="AutoShape 6"/>
          <p:cNvSpPr>
            <a:spLocks/>
          </p:cNvSpPr>
          <p:nvPr/>
        </p:nvSpPr>
        <p:spPr bwMode="auto">
          <a:xfrm>
            <a:off x="755650" y="5445125"/>
            <a:ext cx="71438" cy="576263"/>
          </a:xfrm>
          <a:prstGeom prst="leftBrace">
            <a:avLst>
              <a:gd name="adj1" fmla="val 67222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§3.1.3  </a:t>
            </a:r>
            <a:r>
              <a:rPr lang="zh-CN" altLang="en-US"/>
              <a:t>高斯</a:t>
            </a:r>
            <a:r>
              <a:rPr lang="en-US" altLang="zh-CN"/>
              <a:t>-</a:t>
            </a:r>
            <a:r>
              <a:rPr lang="zh-CN" altLang="en-US"/>
              <a:t>若尔当消去法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118A1AFD-99B4-4AAC-9454-578566B87E58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8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23950"/>
            <a:ext cx="8229600" cy="4968875"/>
          </a:xfrm>
        </p:spPr>
        <p:txBody>
          <a:bodyPr/>
          <a:lstStyle/>
          <a:p>
            <a:pPr eaLnBrk="1" hangingPunct="1"/>
            <a:r>
              <a:rPr kumimoji="1" lang="en-US" altLang="zh-CN" sz="2800" i="1">
                <a:solidFill>
                  <a:srgbClr val="0000FF"/>
                </a:solidFill>
              </a:rPr>
              <a:t>Doolittle</a:t>
            </a:r>
            <a:r>
              <a:rPr kumimoji="1" lang="zh-CN" altLang="en-US" sz="2800">
                <a:solidFill>
                  <a:srgbClr val="0000FF"/>
                </a:solidFill>
              </a:rPr>
              <a:t>分解法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755650" y="1628775"/>
            <a:ext cx="7848600" cy="414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</a:pPr>
            <a:r>
              <a:rPr lang="zh-CN" altLang="en-US" sz="2400" u="none">
                <a:latin typeface="Times New Roman" pitchFamily="18" charset="0"/>
                <a:ea typeface="楷体_GB2312" pitchFamily="49" charset="-122"/>
              </a:rPr>
              <a:t>定理</a:t>
            </a:r>
            <a:r>
              <a:rPr lang="en-US" altLang="zh-CN" sz="2400" u="none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zh-CN" altLang="en-US" sz="2400" u="none"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设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阶方阵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的各阶顺序主子式不为零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则存在唯</a:t>
            </a:r>
          </a:p>
          <a:p>
            <a:pPr eaLnBrk="1" hangingPunct="1">
              <a:lnSpc>
                <a:spcPct val="105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   一单位下三角矩阵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和上三角矩阵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U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使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=</a:t>
            </a:r>
            <a:r>
              <a:rPr kumimoji="1" lang="en-US" altLang="zh-CN" sz="2400" i="1" u="none">
                <a:latin typeface="Times New Roman" pitchFamily="18" charset="0"/>
                <a:ea typeface="楷体_GB2312" pitchFamily="49" charset="-122"/>
              </a:rPr>
              <a:t>LU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05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证明  只证唯一性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设有两种分解</a:t>
            </a:r>
          </a:p>
          <a:p>
            <a:pPr eaLnBrk="1" hangingPunct="1">
              <a:lnSpc>
                <a:spcPct val="105000"/>
              </a:lnSpc>
            </a:pPr>
            <a:endParaRPr kumimoji="1" lang="zh-CN" altLang="en-US" sz="24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则有</a:t>
            </a:r>
          </a:p>
          <a:p>
            <a:pPr eaLnBrk="1" hangingPunct="1">
              <a:lnSpc>
                <a:spcPct val="90000"/>
              </a:lnSpc>
            </a:pPr>
            <a:endParaRPr kumimoji="1" lang="zh-CN" altLang="en-US" sz="24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kumimoji="1" lang="zh-CN" altLang="en-US" sz="2400" u="none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所以得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              于是        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Ax=b  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  LUx=b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            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令 </a:t>
            </a:r>
            <a:r>
              <a:rPr kumimoji="1" lang="en-US" altLang="zh-CN" sz="2400" u="none">
                <a:latin typeface="Times New Roman" pitchFamily="18" charset="0"/>
                <a:ea typeface="楷体_GB2312" pitchFamily="49" charset="-122"/>
              </a:rPr>
              <a:t>Ux=y  </a:t>
            </a:r>
            <a:r>
              <a:rPr kumimoji="1" lang="zh-CN" altLang="en-US" sz="2400" u="none">
                <a:latin typeface="Times New Roman" pitchFamily="18" charset="0"/>
                <a:ea typeface="楷体_GB2312" pitchFamily="49" charset="-122"/>
              </a:rPr>
              <a:t>得</a:t>
            </a:r>
            <a:endParaRPr kumimoji="1" lang="zh-CN" altLang="en-US" sz="240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3276600" y="2852738"/>
          <a:ext cx="17049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14003" imgH="215806" progId="Equation.3">
                  <p:embed/>
                </p:oleObj>
              </mc:Choice>
              <mc:Fallback>
                <p:oleObj name="公式" r:id="rId2" imgW="914003" imgH="215806" progId="Equation.3">
                  <p:embed/>
                  <p:pic>
                    <p:nvPicPr>
                      <p:cNvPr id="163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52738"/>
                        <a:ext cx="17049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5"/>
          <p:cNvGraphicFramePr>
            <a:graphicFrameLocks noChangeAspect="1"/>
          </p:cNvGraphicFramePr>
          <p:nvPr/>
        </p:nvGraphicFramePr>
        <p:xfrm>
          <a:off x="3276600" y="3429000"/>
          <a:ext cx="22082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04900" imgH="469900" progId="Equation.3">
                  <p:embed/>
                </p:oleObj>
              </mc:Choice>
              <mc:Fallback>
                <p:oleObj name="公式" r:id="rId4" imgW="1104900" imgH="469900" progId="Equation.3">
                  <p:embed/>
                  <p:pic>
                    <p:nvPicPr>
                      <p:cNvPr id="1639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429000"/>
                        <a:ext cx="22082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6"/>
          <p:cNvGraphicFramePr>
            <a:graphicFrameLocks noChangeAspect="1"/>
          </p:cNvGraphicFramePr>
          <p:nvPr/>
        </p:nvGraphicFramePr>
        <p:xfrm>
          <a:off x="3276600" y="4365625"/>
          <a:ext cx="1946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16000" imgH="203200" progId="Equation.3">
                  <p:embed/>
                </p:oleObj>
              </mc:Choice>
              <mc:Fallback>
                <p:oleObj name="公式" r:id="rId6" imgW="1016000" imgH="203200" progId="Equation.3">
                  <p:embed/>
                  <p:pic>
                    <p:nvPicPr>
                      <p:cNvPr id="1639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365625"/>
                        <a:ext cx="19462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7"/>
          <p:cNvGraphicFramePr>
            <a:graphicFrameLocks noChangeAspect="1"/>
          </p:cNvGraphicFramePr>
          <p:nvPr/>
        </p:nvGraphicFramePr>
        <p:xfrm>
          <a:off x="3635375" y="5300663"/>
          <a:ext cx="12239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58800" imgH="469900" progId="Equation.3">
                  <p:embed/>
                </p:oleObj>
              </mc:Choice>
              <mc:Fallback>
                <p:oleObj name="公式" r:id="rId8" imgW="558800" imgH="469900" progId="Equation.3">
                  <p:embed/>
                  <p:pic>
                    <p:nvPicPr>
                      <p:cNvPr id="1639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300663"/>
                        <a:ext cx="122396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§3.2.2 </a:t>
            </a:r>
            <a:r>
              <a:rPr lang="zh-CN" altLang="en-US"/>
              <a:t>杜里特尔（</a:t>
            </a:r>
            <a:r>
              <a:rPr lang="en-US" altLang="zh-CN"/>
              <a:t>Doolittle</a:t>
            </a:r>
            <a:r>
              <a:rPr lang="zh-CN" altLang="en-US"/>
              <a:t>）分解法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F8BCD828-4CD8-4500-B00B-5AA48FF4CE91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9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147050" cy="5184775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0000FF"/>
                </a:solidFill>
              </a:rPr>
              <a:t>雅可比</a:t>
            </a:r>
            <a:r>
              <a:rPr lang="en-US" altLang="zh-CN" sz="2800">
                <a:solidFill>
                  <a:srgbClr val="0000FF"/>
                </a:solidFill>
              </a:rPr>
              <a:t>(</a:t>
            </a:r>
            <a:r>
              <a:rPr lang="en-US" altLang="zh-CN" sz="2800" i="1">
                <a:solidFill>
                  <a:srgbClr val="0000FF"/>
                </a:solidFill>
              </a:rPr>
              <a:t>Jacobi</a:t>
            </a:r>
            <a:r>
              <a:rPr lang="en-US" altLang="zh-CN" sz="2800">
                <a:solidFill>
                  <a:srgbClr val="0000FF"/>
                </a:solidFill>
              </a:rPr>
              <a:t>)</a:t>
            </a:r>
            <a:r>
              <a:rPr lang="zh-CN" altLang="en-US" sz="2800">
                <a:solidFill>
                  <a:srgbClr val="0000FF"/>
                </a:solidFill>
              </a:rPr>
              <a:t>迭代法</a:t>
            </a:r>
          </a:p>
          <a:p>
            <a:pPr marL="457200" lvl="1" indent="0"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§3.6.2 </a:t>
            </a:r>
            <a:r>
              <a:rPr lang="zh-CN" altLang="en-US" dirty="0"/>
              <a:t>雅可比</a:t>
            </a:r>
            <a:r>
              <a:rPr lang="en-US" altLang="zh-CN" dirty="0"/>
              <a:t>(Jacobi)</a:t>
            </a:r>
            <a:r>
              <a:rPr lang="zh-CN" altLang="en-US" dirty="0"/>
              <a:t>迭代法</a:t>
            </a:r>
          </a:p>
        </p:txBody>
      </p:sp>
      <p:graphicFrame>
        <p:nvGraphicFramePr>
          <p:cNvPr id="30725" name="Object 4"/>
          <p:cNvGraphicFramePr>
            <a:graphicFrameLocks noChangeAspect="1"/>
          </p:cNvGraphicFramePr>
          <p:nvPr/>
        </p:nvGraphicFramePr>
        <p:xfrm>
          <a:off x="1547813" y="2349500"/>
          <a:ext cx="6908800" cy="280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71800" imgH="1206500" progId="Equation.3">
                  <p:embed/>
                </p:oleObj>
              </mc:Choice>
              <mc:Fallback>
                <p:oleObj name="公式" r:id="rId2" imgW="2971800" imgH="1206500" progId="Equation.3">
                  <p:embed/>
                  <p:pic>
                    <p:nvPicPr>
                      <p:cNvPr id="3072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349500"/>
                        <a:ext cx="6908800" cy="280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F6E83736-9263-4348-A9DF-A30D7E53C8A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10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2771" name="Object 2"/>
          <p:cNvGraphicFramePr>
            <a:graphicFrameLocks noChangeAspect="1"/>
          </p:cNvGraphicFramePr>
          <p:nvPr/>
        </p:nvGraphicFramePr>
        <p:xfrm>
          <a:off x="741363" y="1196975"/>
          <a:ext cx="7731125" cy="478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33800" imgH="2311400" progId="Equation.3">
                  <p:embed/>
                </p:oleObj>
              </mc:Choice>
              <mc:Fallback>
                <p:oleObj name="公式" r:id="rId2" imgW="3733800" imgH="2311400" progId="Equation.3">
                  <p:embed/>
                  <p:pic>
                    <p:nvPicPr>
                      <p:cNvPr id="3277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1196975"/>
                        <a:ext cx="7731125" cy="478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§3.6.2 </a:t>
            </a:r>
            <a:r>
              <a:rPr lang="zh-CN" altLang="en-US"/>
              <a:t>雅可比</a:t>
            </a:r>
            <a:r>
              <a:rPr lang="en-US" altLang="zh-CN"/>
              <a:t>(Jacobi)</a:t>
            </a:r>
            <a:r>
              <a:rPr lang="zh-CN" altLang="en-US"/>
              <a:t>迭代法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2E3F487B-0DAA-4A6E-9CE8-1CAF0A75D390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11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36867" name="Object 2"/>
          <p:cNvGraphicFramePr>
            <a:graphicFrameLocks noChangeAspect="1"/>
          </p:cNvGraphicFramePr>
          <p:nvPr/>
        </p:nvGraphicFramePr>
        <p:xfrm>
          <a:off x="920672" y="1772770"/>
          <a:ext cx="7777163" cy="425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32200" imgH="2057400" progId="Equation.3">
                  <p:embed/>
                </p:oleObj>
              </mc:Choice>
              <mc:Fallback>
                <p:oleObj name="公式" r:id="rId2" imgW="3632200" imgH="2057400" progId="Equation.3">
                  <p:embed/>
                  <p:pic>
                    <p:nvPicPr>
                      <p:cNvPr id="3686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672" y="1772770"/>
                        <a:ext cx="7777163" cy="425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>
          <a:xfrm>
            <a:off x="303213" y="333375"/>
            <a:ext cx="8840787" cy="647700"/>
          </a:xfrm>
        </p:spPr>
        <p:txBody>
          <a:bodyPr/>
          <a:lstStyle/>
          <a:p>
            <a:pPr eaLnBrk="1" hangingPunct="1"/>
            <a:r>
              <a:rPr lang="en-US" altLang="zh-CN"/>
              <a:t>§3.6.3 </a:t>
            </a:r>
            <a:r>
              <a:rPr lang="zh-CN" altLang="en-US"/>
              <a:t>高斯</a:t>
            </a:r>
            <a:r>
              <a:rPr lang="en-US" altLang="zh-CN"/>
              <a:t>-</a:t>
            </a:r>
            <a:r>
              <a:rPr lang="zh-CN" altLang="en-US"/>
              <a:t>塞德尔</a:t>
            </a:r>
            <a:r>
              <a:rPr lang="en-US" altLang="zh-CN"/>
              <a:t>(Gauss-Seidel)</a:t>
            </a:r>
            <a:r>
              <a:rPr lang="zh-CN" altLang="en-US"/>
              <a:t>迭代法</a:t>
            </a:r>
          </a:p>
        </p:txBody>
      </p:sp>
      <p:sp>
        <p:nvSpPr>
          <p:cNvPr id="3686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3213" y="1196975"/>
            <a:ext cx="8229600" cy="4895850"/>
          </a:xfrm>
        </p:spPr>
        <p:txBody>
          <a:bodyPr/>
          <a:lstStyle/>
          <a:p>
            <a:pPr lvl="1" eaLnBrk="1" hangingPunct="1"/>
            <a:r>
              <a:rPr lang="zh-CN" altLang="en-US">
                <a:solidFill>
                  <a:srgbClr val="0000FF"/>
                </a:solidFill>
              </a:rPr>
              <a:t>高斯</a:t>
            </a:r>
            <a:r>
              <a:rPr lang="en-US" altLang="zh-CN">
                <a:solidFill>
                  <a:srgbClr val="0000FF"/>
                </a:solidFill>
              </a:rPr>
              <a:t>-</a:t>
            </a:r>
            <a:r>
              <a:rPr lang="zh-CN" altLang="en-US">
                <a:solidFill>
                  <a:srgbClr val="0000FF"/>
                </a:solidFill>
              </a:rPr>
              <a:t>塞德尔</a:t>
            </a:r>
            <a:r>
              <a:rPr lang="en-US" altLang="zh-CN">
                <a:solidFill>
                  <a:srgbClr val="0000FF"/>
                </a:solidFill>
              </a:rPr>
              <a:t>(</a:t>
            </a:r>
            <a:r>
              <a:rPr lang="en-US" altLang="zh-CN" i="1">
                <a:solidFill>
                  <a:srgbClr val="0000FF"/>
                </a:solidFill>
              </a:rPr>
              <a:t>Gauss-Seidel</a:t>
            </a:r>
            <a:r>
              <a:rPr lang="en-US" altLang="zh-CN">
                <a:solidFill>
                  <a:srgbClr val="0000FF"/>
                </a:solidFill>
              </a:rPr>
              <a:t>)</a:t>
            </a:r>
            <a:r>
              <a:rPr lang="zh-CN" altLang="en-US">
                <a:solidFill>
                  <a:srgbClr val="0000FF"/>
                </a:solidFill>
              </a:rPr>
              <a:t>迭代法</a:t>
            </a:r>
            <a:endParaRPr lang="en-US" altLang="zh-CN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641B8D0-DE87-5AE1-4D56-AFCB99CDA967}"/>
                  </a:ext>
                </a:extLst>
              </p14:cNvPr>
              <p14:cNvContentPartPr/>
              <p14:nvPr/>
            </p14:nvContentPartPr>
            <p14:xfrm>
              <a:off x="4076597" y="3504506"/>
              <a:ext cx="457920" cy="12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641B8D0-DE87-5AE1-4D56-AFCB99CDA9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2597" y="3396866"/>
                <a:ext cx="5655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FB3B0EBE-3E13-92E9-0D98-53EE44F6C6F9}"/>
                  </a:ext>
                </a:extLst>
              </p14:cNvPr>
              <p14:cNvContentPartPr/>
              <p14:nvPr/>
            </p14:nvContentPartPr>
            <p14:xfrm>
              <a:off x="4131317" y="4903826"/>
              <a:ext cx="468360" cy="655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FB3B0EBE-3E13-92E9-0D98-53EE44F6C6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77317" y="4795826"/>
                <a:ext cx="57600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E726AD3-E12A-B6B5-1EDA-66D86983C963}"/>
                  </a:ext>
                </a:extLst>
              </p14:cNvPr>
              <p14:cNvContentPartPr/>
              <p14:nvPr/>
            </p14:nvContentPartPr>
            <p14:xfrm>
              <a:off x="5491757" y="4903106"/>
              <a:ext cx="424080" cy="122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E726AD3-E12A-B6B5-1EDA-66D86983C9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37757" y="4795466"/>
                <a:ext cx="531720" cy="22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u="sng">
                <a:solidFill>
                  <a:schemeClr val="tx1"/>
                </a:solidFill>
                <a:latin typeface="Arial" charset="0"/>
                <a:ea typeface="黑体" pitchFamily="49" charset="-122"/>
              </a:defRPr>
            </a:lvl9pPr>
          </a:lstStyle>
          <a:p>
            <a:fld id="{7A2763AC-4774-44BA-B9C7-3ECEF0D564CF}" type="slidenum">
              <a:rPr lang="en-US" altLang="zh-CN" sz="1600" u="none" smtClean="0">
                <a:solidFill>
                  <a:srgbClr val="3333FF"/>
                </a:solidFill>
                <a:ea typeface="宋体" pitchFamily="2" charset="-122"/>
              </a:rPr>
              <a:pPr/>
              <a:t>12</a:t>
            </a:fld>
            <a:endParaRPr lang="en-US" altLang="zh-CN" sz="1600" u="none">
              <a:solidFill>
                <a:srgbClr val="3333FF"/>
              </a:solidFill>
              <a:ea typeface="宋体" pitchFamily="2" charset="-122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147050" cy="5184775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0000FF"/>
                </a:solidFill>
              </a:rPr>
              <a:t>逐次超松弛</a:t>
            </a:r>
            <a:r>
              <a:rPr lang="en-US" altLang="zh-CN" sz="2800">
                <a:solidFill>
                  <a:srgbClr val="0000FF"/>
                </a:solidFill>
              </a:rPr>
              <a:t>(</a:t>
            </a:r>
            <a:r>
              <a:rPr lang="en-US" altLang="zh-CN" sz="2800" i="1">
                <a:solidFill>
                  <a:srgbClr val="0000FF"/>
                </a:solidFill>
              </a:rPr>
              <a:t>SOR</a:t>
            </a:r>
            <a:r>
              <a:rPr lang="en-US" altLang="zh-CN" sz="2800">
                <a:solidFill>
                  <a:srgbClr val="0000FF"/>
                </a:solidFill>
              </a:rPr>
              <a:t>)</a:t>
            </a:r>
            <a:r>
              <a:rPr lang="zh-CN" altLang="en-US" sz="2800">
                <a:solidFill>
                  <a:srgbClr val="0000FF"/>
                </a:solidFill>
              </a:rPr>
              <a:t>迭代法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§3.6.4 </a:t>
            </a:r>
            <a:r>
              <a:rPr lang="zh-CN" altLang="en-US"/>
              <a:t>逐次超松弛</a:t>
            </a:r>
            <a:r>
              <a:rPr lang="en-US" altLang="zh-CN"/>
              <a:t>(SOR)</a:t>
            </a:r>
            <a:r>
              <a:rPr lang="zh-CN" altLang="en-US"/>
              <a:t>迭代法</a:t>
            </a:r>
          </a:p>
        </p:txBody>
      </p:sp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900113" y="1773238"/>
          <a:ext cx="7993062" cy="425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71900" imgH="2108200" progId="Equation.3">
                  <p:embed/>
                </p:oleObj>
              </mc:Choice>
              <mc:Fallback>
                <p:oleObj name="公式" r:id="rId2" imgW="3771900" imgH="2108200" progId="Equation.3">
                  <p:embed/>
                  <p:pic>
                    <p:nvPicPr>
                      <p:cNvPr id="389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773238"/>
                        <a:ext cx="7993062" cy="425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003800" y="4797425"/>
            <a:ext cx="35290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0" u="none" dirty="0">
                <a:solidFill>
                  <a:srgbClr val="FF0000"/>
                </a:solidFill>
                <a:latin typeface="+mn-lt"/>
              </a:rPr>
              <a:t>0 &lt; </a:t>
            </a:r>
            <a:r>
              <a:rPr lang="el-GR" altLang="zh-CN" sz="2400" b="0" i="1" u="none" dirty="0">
                <a:solidFill>
                  <a:srgbClr val="FF0000"/>
                </a:solidFill>
                <a:latin typeface="+mn-lt"/>
              </a:rPr>
              <a:t>ω</a:t>
            </a:r>
            <a:r>
              <a:rPr lang="en-US" altLang="zh-CN" sz="2400" b="0" i="1" u="none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400" b="0" u="none" dirty="0">
                <a:solidFill>
                  <a:srgbClr val="FF0000"/>
                </a:solidFill>
                <a:latin typeface="+mn-lt"/>
              </a:rPr>
              <a:t>&lt; 2 </a:t>
            </a:r>
            <a:r>
              <a:rPr lang="zh-CN" altLang="en-US" sz="2400" b="0" u="none" dirty="0">
                <a:solidFill>
                  <a:srgbClr val="FF0000"/>
                </a:solidFill>
                <a:latin typeface="Arial" panose="020B0604020202020204" pitchFamily="34" charset="0"/>
              </a:rPr>
              <a:t>时，迭代收敛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10C938A-C56F-F44A-FD80-E6AB80B6FDF0}"/>
                  </a:ext>
                </a:extLst>
              </p14:cNvPr>
              <p14:cNvContentPartPr/>
              <p14:nvPr/>
            </p14:nvContentPartPr>
            <p14:xfrm>
              <a:off x="6188357" y="2122106"/>
              <a:ext cx="483480" cy="176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10C938A-C56F-F44A-FD80-E6AB80B6FD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34357" y="2014106"/>
                <a:ext cx="591120" cy="23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theme/theme1.xml><?xml version="1.0" encoding="utf-8"?>
<a:theme xmlns:a="http://schemas.openxmlformats.org/drawingml/2006/main" name="Pixel">
  <a:themeElements>
    <a:clrScheme name="Pixel 14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0000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AAAAFF"/>
      </a:accent5>
      <a:accent6>
        <a:srgbClr val="8A8AB9"/>
      </a:accent6>
      <a:hlink>
        <a:srgbClr val="0000CC"/>
      </a:hlink>
      <a:folHlink>
        <a:srgbClr val="000000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0000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0000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8A8AB9"/>
        </a:accent6>
        <a:hlink>
          <a:srgbClr val="0000CC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8361</TotalTime>
  <Words>650</Words>
  <Application>Microsoft Office PowerPoint</Application>
  <PresentationFormat>全屏显示(4:3)</PresentationFormat>
  <Paragraphs>63</Paragraphs>
  <Slides>12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宋体</vt:lpstr>
      <vt:lpstr>Arial</vt:lpstr>
      <vt:lpstr>Arial Black</vt:lpstr>
      <vt:lpstr>Times New Roman</vt:lpstr>
      <vt:lpstr>Wingdings</vt:lpstr>
      <vt:lpstr>Pixel</vt:lpstr>
      <vt:lpstr>公式</vt:lpstr>
      <vt:lpstr>第3章       内容回顾 线性代数方程组的数值解法</vt:lpstr>
      <vt:lpstr>§3.1 高斯消去法——内容回顾</vt:lpstr>
      <vt:lpstr>§3.1.1 顺序高斯消去法</vt:lpstr>
      <vt:lpstr>§3.1.1 顺序高斯消去法</vt:lpstr>
      <vt:lpstr>PowerPoint 演示文稿</vt:lpstr>
      <vt:lpstr>§3.1.2  列主元高斯消去法</vt:lpstr>
      <vt:lpstr>§3.1.3  高斯-若尔当消去法</vt:lpstr>
      <vt:lpstr>§3.2.2 杜里特尔（Doolittle）分解法</vt:lpstr>
      <vt:lpstr>§3.6.2 雅可比(Jacobi)迭代法</vt:lpstr>
      <vt:lpstr>§3.6.2 雅可比(Jacobi)迭代法</vt:lpstr>
      <vt:lpstr>§3.6.3 高斯-塞德尔(Gauss-Seidel)迭代法</vt:lpstr>
      <vt:lpstr>§3.6.4 逐次超松弛(SOR)迭代法</vt:lpstr>
    </vt:vector>
  </TitlesOfParts>
  <Manager>XZNU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数值计算中的误差</dc:title>
  <dc:creator>CKJ</dc:creator>
  <dc:description>4学时</dc:description>
  <cp:lastModifiedBy>QY Z</cp:lastModifiedBy>
  <cp:revision>385</cp:revision>
  <dcterms:created xsi:type="dcterms:W3CDTF">2003-04-11T01:11:17Z</dcterms:created>
  <dcterms:modified xsi:type="dcterms:W3CDTF">2024-12-06T03:32:10Z</dcterms:modified>
</cp:coreProperties>
</file>