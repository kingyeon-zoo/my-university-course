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47"/>
  </p:notesMasterIdLst>
  <p:handoutMasterIdLst>
    <p:handoutMasterId r:id="rId48"/>
  </p:handoutMasterIdLst>
  <p:sldIdLst>
    <p:sldId id="875" r:id="rId2"/>
    <p:sldId id="876" r:id="rId3"/>
    <p:sldId id="877" r:id="rId4"/>
    <p:sldId id="830" r:id="rId5"/>
    <p:sldId id="831" r:id="rId6"/>
    <p:sldId id="833" r:id="rId7"/>
    <p:sldId id="834" r:id="rId8"/>
    <p:sldId id="835" r:id="rId9"/>
    <p:sldId id="836" r:id="rId10"/>
    <p:sldId id="837" r:id="rId11"/>
    <p:sldId id="839" r:id="rId12"/>
    <p:sldId id="840" r:id="rId13"/>
    <p:sldId id="841" r:id="rId14"/>
    <p:sldId id="842" r:id="rId15"/>
    <p:sldId id="843" r:id="rId16"/>
    <p:sldId id="844" r:id="rId17"/>
    <p:sldId id="845" r:id="rId18"/>
    <p:sldId id="846" r:id="rId19"/>
    <p:sldId id="847" r:id="rId20"/>
    <p:sldId id="848" r:id="rId21"/>
    <p:sldId id="849" r:id="rId22"/>
    <p:sldId id="850" r:id="rId23"/>
    <p:sldId id="851" r:id="rId24"/>
    <p:sldId id="852" r:id="rId25"/>
    <p:sldId id="853" r:id="rId26"/>
    <p:sldId id="855" r:id="rId27"/>
    <p:sldId id="856" r:id="rId28"/>
    <p:sldId id="857" r:id="rId29"/>
    <p:sldId id="858" r:id="rId30"/>
    <p:sldId id="859" r:id="rId31"/>
    <p:sldId id="860" r:id="rId32"/>
    <p:sldId id="861" r:id="rId33"/>
    <p:sldId id="862" r:id="rId34"/>
    <p:sldId id="863" r:id="rId35"/>
    <p:sldId id="864" r:id="rId36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4" r:id="rId45"/>
    <p:sldId id="878" r:id="rId46"/>
  </p:sldIdLst>
  <p:sldSz cx="9144000" cy="6858000" type="screen4x3"/>
  <p:notesSz cx="6645275" cy="97774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5pPr>
    <a:lvl6pPr marL="22860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6pPr>
    <a:lvl7pPr marL="27432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7pPr>
    <a:lvl8pPr marL="32004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8pPr>
    <a:lvl9pPr marL="36576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4FF"/>
    <a:srgbClr val="E9F7FF"/>
    <a:srgbClr val="CCECFF"/>
    <a:srgbClr val="FF0000"/>
    <a:srgbClr val="3333FF"/>
    <a:srgbClr val="CC0066"/>
    <a:srgbClr val="D60093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748" y="-68"/>
      </p:cViewPr>
      <p:guideLst>
        <p:guide orient="horz" pos="663"/>
        <p:guide pos="5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18" y="-72"/>
      </p:cViewPr>
      <p:guideLst>
        <p:guide orient="horz" pos="3080"/>
        <p:guide pos="2093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NULL"/><Relationship Id="rId4" Type="http://schemas.openxmlformats.org/officeDocument/2006/relationships/image" Target="../media/image6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FD40E00E-D6EE-4B82-9CF9-9FC927C25C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788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5025"/>
            <a:ext cx="5314950" cy="439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69E958CB-48C3-4629-BC36-47B8FEB3C3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2419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528EFA0-1272-4F95-B1DB-ED522B1F94ED}" type="slidenum">
              <a:rPr lang="en-US" altLang="zh-CN" sz="1200" b="0" u="none" smtClean="0">
                <a:ea typeface="宋体" pitchFamily="2" charset="-122"/>
              </a:rPr>
              <a:pPr/>
              <a:t>4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72A1CD6-1C23-4031-8A2D-15445798AC6A}" type="slidenum">
              <a:rPr lang="en-US" altLang="zh-CN" sz="1200" b="0" u="none" smtClean="0">
                <a:ea typeface="宋体" pitchFamily="2" charset="-122"/>
              </a:rPr>
              <a:pPr/>
              <a:t>5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9F7A9667-99A0-45F6-856E-F0BE24AC6C95}" type="slidenum">
              <a:rPr lang="en-US" altLang="zh-CN" sz="1200" b="0" u="none" smtClean="0">
                <a:ea typeface="宋体" pitchFamily="2" charset="-122"/>
              </a:rPr>
              <a:pPr/>
              <a:t>11</a:t>
            </a:fld>
            <a:endParaRPr lang="en-US" altLang="zh-CN" sz="1200" b="0" u="none" smtClean="0"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hidden">
          <a:xfrm>
            <a:off x="1716088" y="1690688"/>
            <a:ext cx="7427912" cy="19542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716088" y="1690688"/>
            <a:ext cx="574675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281238" y="1066800"/>
            <a:ext cx="585787" cy="635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281238" y="1690688"/>
            <a:ext cx="585787" cy="6429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141413" y="2324100"/>
            <a:ext cx="584200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2324100"/>
            <a:ext cx="582613" cy="6334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716088" y="2324100"/>
            <a:ext cx="574675" cy="6334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73088" y="2947988"/>
            <a:ext cx="576262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141413" y="2947988"/>
            <a:ext cx="5842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1816100"/>
          </a:xfrm>
        </p:spPr>
        <p:txBody>
          <a:bodyPr/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2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47D2627F-81A4-44AA-83BC-A6D78B0505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0454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41524-B715-4132-8618-C3853DE656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2123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0D6BE-F206-49EF-B2E8-016E57882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7395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066CF-1F16-4FB7-8BC6-926C6BA6FF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4214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7F1CE-7277-403F-8920-290A2F7AE9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13468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871EF-630B-4294-BC86-13E6A47CE2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3045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E6E6E-821E-4E98-996E-FDCA85E21E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2393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E67B22-1FE3-4E88-AC91-C13C0F1AE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67819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31C76-0890-4346-B530-F35C579F2E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75884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767DE-F3D9-4864-85E2-E718D6DFE9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62826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33375"/>
            <a:ext cx="2057400" cy="5759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33375"/>
            <a:ext cx="6019800" cy="5759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89B64-C958-457D-AEA7-D502403C40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48847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96975"/>
            <a:ext cx="4038600" cy="23717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21100"/>
            <a:ext cx="4038600" cy="23717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C748E-541D-4428-A16C-11D18722B5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33248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2607B-4B5E-49E8-B79F-A7D7F81B3F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7159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9F7FF"/>
            </a:gs>
            <a:gs pos="100000">
              <a:srgbClr val="CCEC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2407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 u="none">
                <a:solidFill>
                  <a:srgbClr val="3333FF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B530AAFF-F34B-48AC-9A2C-2C43CE910F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8229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8" name="Rectangle 18"/>
          <p:cNvSpPr>
            <a:spLocks noChangeArrowheads="1"/>
          </p:cNvSpPr>
          <p:nvPr userDrawn="1"/>
        </p:nvSpPr>
        <p:spPr bwMode="auto">
          <a:xfrm>
            <a:off x="466725" y="981075"/>
            <a:ext cx="8210550" cy="730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60" name="Rectangle 20"/>
          <p:cNvSpPr>
            <a:spLocks noChangeArrowheads="1"/>
          </p:cNvSpPr>
          <p:nvPr userDrawn="1"/>
        </p:nvSpPr>
        <p:spPr bwMode="auto">
          <a:xfrm>
            <a:off x="466725" y="6291263"/>
            <a:ext cx="8210550" cy="174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4.xml"/><Relationship Id="rId4" Type="http://schemas.openxmlformats.org/officeDocument/2006/relationships/slide" Target="slide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5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4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60.e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3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6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6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6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69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0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4D1EC59-AD50-4638-BBA2-1533E393330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§2.3 </a:t>
            </a:r>
            <a:r>
              <a:rPr lang="en-US" altLang="zh-CN" smtClean="0"/>
              <a:t> </a:t>
            </a:r>
            <a:r>
              <a:rPr lang="zh-CN" altLang="en-US" smtClean="0"/>
              <a:t>牛顿迭代法</a:t>
            </a:r>
            <a:r>
              <a:rPr lang="en-US" altLang="zh-CN" smtClean="0"/>
              <a:t>——</a:t>
            </a:r>
            <a:r>
              <a:rPr lang="zh-CN" altLang="en-US" smtClean="0"/>
              <a:t>内容回顾</a:t>
            </a:r>
          </a:p>
        </p:txBody>
      </p:sp>
      <p:sp>
        <p:nvSpPr>
          <p:cNvPr id="153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3675" y="1193800"/>
            <a:ext cx="8507413" cy="48958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>
                <a:solidFill>
                  <a:schemeClr val="accent1"/>
                </a:solidFill>
              </a:rPr>
              <a:t>一</a:t>
            </a:r>
            <a:r>
              <a:rPr lang="en-US" altLang="zh-CN" sz="2800" dirty="0" smtClean="0">
                <a:solidFill>
                  <a:schemeClr val="accent1"/>
                </a:solidFill>
              </a:rPr>
              <a:t>. </a:t>
            </a:r>
            <a:r>
              <a:rPr lang="zh-CN" altLang="en-US" sz="2800" dirty="0" smtClean="0">
                <a:solidFill>
                  <a:schemeClr val="accent1"/>
                </a:solidFill>
              </a:rPr>
              <a:t>牛顿</a:t>
            </a:r>
            <a:r>
              <a:rPr lang="zh-CN" altLang="en-US" sz="2800" dirty="0">
                <a:solidFill>
                  <a:schemeClr val="accent1"/>
                </a:solidFill>
              </a:rPr>
              <a:t>迭代法</a:t>
            </a:r>
            <a:r>
              <a:rPr lang="zh-CN" altLang="en-US" sz="2800" dirty="0"/>
              <a:t>（</a:t>
            </a:r>
            <a:r>
              <a:rPr lang="en-US" altLang="zh-CN" sz="2800" dirty="0"/>
              <a:t>Newton - Raphson Method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eaLnBrk="1" hangingPunct="1">
              <a:defRPr/>
            </a:pPr>
            <a:endParaRPr lang="en-US" altLang="zh-CN" sz="2800" dirty="0">
              <a:solidFill>
                <a:schemeClr val="accent1"/>
              </a:solidFill>
            </a:endParaRPr>
          </a:p>
          <a:p>
            <a:pPr eaLnBrk="1" hangingPunct="1">
              <a:defRPr/>
            </a:pPr>
            <a:endParaRPr lang="en-US" altLang="zh-CN" sz="2800" dirty="0" smtClean="0">
              <a:solidFill>
                <a:schemeClr val="accent1"/>
              </a:solidFill>
            </a:endParaRPr>
          </a:p>
          <a:p>
            <a:pPr marL="0" indent="0" eaLnBrk="1" hangingPunct="1">
              <a:spcBef>
                <a:spcPts val="3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 smtClean="0"/>
              <a:t>          则：</a:t>
            </a:r>
            <a:endParaRPr lang="en-US" altLang="zh-CN" sz="2600" dirty="0"/>
          </a:p>
        </p:txBody>
      </p:sp>
      <p:pic>
        <p:nvPicPr>
          <p:cNvPr id="3077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66900"/>
            <a:ext cx="28194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298700"/>
            <a:ext cx="798195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163888"/>
            <a:ext cx="52324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63" y="4149725"/>
            <a:ext cx="4213225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B9D079B-17D8-4E9F-BF53-2F2ECDBAA1C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§2.3 </a:t>
            </a:r>
            <a:r>
              <a:rPr lang="en-US" altLang="zh-CN" smtClean="0"/>
              <a:t> </a:t>
            </a:r>
            <a:r>
              <a:rPr lang="zh-CN" altLang="en-US" smtClean="0"/>
              <a:t>牛顿迭代法</a:t>
            </a:r>
            <a:r>
              <a:rPr lang="en-US" altLang="zh-CN" smtClean="0"/>
              <a:t>——</a:t>
            </a:r>
            <a:r>
              <a:rPr lang="zh-CN" altLang="en-US" smtClean="0"/>
              <a:t>内容回顾</a:t>
            </a:r>
          </a:p>
        </p:txBody>
      </p:sp>
      <p:sp>
        <p:nvSpPr>
          <p:cNvPr id="153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3675" y="1193800"/>
            <a:ext cx="8507413" cy="48958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>
                <a:solidFill>
                  <a:schemeClr val="accent1"/>
                </a:solidFill>
                <a:sym typeface="UniversalMath1 BT" pitchFamily="18" charset="2"/>
              </a:rPr>
              <a:t>二</a:t>
            </a:r>
            <a:r>
              <a:rPr lang="en-US" altLang="zh-CN" sz="2800" dirty="0" smtClean="0">
                <a:solidFill>
                  <a:schemeClr val="accent1"/>
                </a:solidFill>
                <a:sym typeface="UniversalMath1 BT" pitchFamily="18" charset="2"/>
              </a:rPr>
              <a:t>. </a:t>
            </a:r>
            <a:r>
              <a:rPr lang="zh-CN" altLang="en-US" sz="2800" dirty="0" smtClean="0">
                <a:solidFill>
                  <a:schemeClr val="accent1"/>
                </a:solidFill>
                <a:sym typeface="UniversalMath1 BT" pitchFamily="18" charset="2"/>
              </a:rPr>
              <a:t>简化牛顿法</a:t>
            </a:r>
            <a:r>
              <a:rPr lang="zh-CN" altLang="en-US" sz="2400" dirty="0" smtClean="0">
                <a:sym typeface="UniversalMath1 BT" pitchFamily="18" charset="2"/>
              </a:rPr>
              <a:t>（导数问题：常数</a:t>
            </a:r>
            <a:r>
              <a:rPr lang="en-US" altLang="zh-CN" sz="2400" dirty="0" smtClean="0">
                <a:sym typeface="UniversalMath1 BT" pitchFamily="18" charset="2"/>
              </a:rPr>
              <a:t>c</a:t>
            </a:r>
            <a:r>
              <a:rPr lang="zh-CN" altLang="en-US" sz="2400" dirty="0" smtClean="0">
                <a:sym typeface="UniversalMath1 BT" pitchFamily="18" charset="2"/>
              </a:rPr>
              <a:t>）</a:t>
            </a:r>
            <a:endParaRPr lang="en-US" altLang="zh-CN" sz="2400" dirty="0" smtClean="0">
              <a:sym typeface="UniversalMath1 BT" pitchFamily="18" charset="2"/>
            </a:endParaRPr>
          </a:p>
          <a:p>
            <a:pPr eaLnBrk="1" hangingPunct="1">
              <a:defRPr/>
            </a:pPr>
            <a:endParaRPr lang="en-US" altLang="zh-CN" sz="2800" dirty="0" smtClean="0">
              <a:solidFill>
                <a:schemeClr val="accent1"/>
              </a:solidFill>
              <a:sym typeface="UniversalMath1 BT" pitchFamily="18" charset="2"/>
            </a:endParaRPr>
          </a:p>
          <a:p>
            <a:pPr eaLnBrk="1" hangingPunct="1">
              <a:defRPr/>
            </a:pPr>
            <a:endParaRPr lang="en-US" altLang="zh-CN" sz="2800" dirty="0" smtClean="0">
              <a:solidFill>
                <a:schemeClr val="accent1"/>
              </a:solidFill>
              <a:sym typeface="UniversalMath1 BT" pitchFamily="18" charset="2"/>
            </a:endParaRPr>
          </a:p>
          <a:p>
            <a:pPr eaLnBrk="1" hangingPunct="1">
              <a:defRPr/>
            </a:pPr>
            <a:r>
              <a:rPr lang="zh-CN" altLang="en-US" sz="2800" dirty="0" smtClean="0">
                <a:solidFill>
                  <a:schemeClr val="accent1"/>
                </a:solidFill>
                <a:sym typeface="UniversalMath1 BT" pitchFamily="18" charset="2"/>
              </a:rPr>
              <a:t>三</a:t>
            </a:r>
            <a:r>
              <a:rPr lang="en-US" altLang="zh-CN" sz="2800" dirty="0" smtClean="0">
                <a:solidFill>
                  <a:schemeClr val="accent1"/>
                </a:solidFill>
                <a:sym typeface="UniversalMath1 BT" pitchFamily="18" charset="2"/>
              </a:rPr>
              <a:t>. </a:t>
            </a:r>
            <a:r>
              <a:rPr lang="zh-CN" altLang="en-US" sz="2800" dirty="0" smtClean="0">
                <a:solidFill>
                  <a:schemeClr val="accent1"/>
                </a:solidFill>
              </a:rPr>
              <a:t>牛顿下山法 </a:t>
            </a:r>
            <a:r>
              <a:rPr lang="zh-CN" altLang="en-US" sz="2400" dirty="0" smtClean="0"/>
              <a:t>（初始值问题：单调性）</a:t>
            </a:r>
          </a:p>
          <a:p>
            <a:pPr eaLnBrk="1" hangingPunct="1">
              <a:defRPr/>
            </a:pPr>
            <a:endParaRPr lang="en-US" altLang="zh-CN" sz="2800" dirty="0">
              <a:solidFill>
                <a:schemeClr val="accent1"/>
              </a:solidFill>
              <a:sym typeface="UniversalMath1 BT" pitchFamily="18" charset="2"/>
            </a:endParaRPr>
          </a:p>
          <a:p>
            <a:pPr eaLnBrk="1" hangingPunct="1">
              <a:defRPr/>
            </a:pPr>
            <a:endParaRPr lang="en-US" altLang="zh-CN" sz="2600" dirty="0" smtClean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</a:t>
            </a:r>
            <a:r>
              <a:rPr lang="zh-CN" altLang="en-US" sz="2400" dirty="0" smtClean="0"/>
              <a:t>   下山引子                           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使得</a:t>
            </a:r>
            <a:endParaRPr lang="en-US" altLang="zh-CN" sz="2400" dirty="0">
              <a:latin typeface="Cambria" panose="02040503050406030204" pitchFamily="18" charset="0"/>
            </a:endParaRPr>
          </a:p>
        </p:txBody>
      </p:sp>
      <p:grpSp>
        <p:nvGrpSpPr>
          <p:cNvPr id="4101" name="组合 3"/>
          <p:cNvGrpSpPr>
            <a:grpSpLocks/>
          </p:cNvGrpSpPr>
          <p:nvPr/>
        </p:nvGrpSpPr>
        <p:grpSpPr bwMode="auto">
          <a:xfrm>
            <a:off x="3563938" y="1855788"/>
            <a:ext cx="2667000" cy="925512"/>
            <a:chOff x="3563860" y="1591124"/>
            <a:chExt cx="2667137" cy="924372"/>
          </a:xfrm>
        </p:grpSpPr>
        <p:pic>
          <p:nvPicPr>
            <p:cNvPr id="4107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860" y="1591124"/>
              <a:ext cx="2667137" cy="901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8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70" y="2096374"/>
              <a:ext cx="1079555" cy="419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3702050"/>
            <a:ext cx="2762250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03" name="组合 7"/>
          <p:cNvGrpSpPr>
            <a:grpSpLocks/>
          </p:cNvGrpSpPr>
          <p:nvPr/>
        </p:nvGrpSpPr>
        <p:grpSpPr bwMode="auto">
          <a:xfrm>
            <a:off x="1866900" y="4816475"/>
            <a:ext cx="2200275" cy="844550"/>
            <a:chOff x="1835620" y="4166417"/>
            <a:chExt cx="2200759" cy="844593"/>
          </a:xfrm>
        </p:grpSpPr>
        <p:pic>
          <p:nvPicPr>
            <p:cNvPr id="4105" name="图片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345" y="4166417"/>
              <a:ext cx="1632034" cy="844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6" name="图片 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20" y="4365130"/>
              <a:ext cx="596931" cy="368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4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4906963"/>
            <a:ext cx="2559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919D7E2-BD1D-4A28-81DD-0CB0A462CCF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§2.4 </a:t>
            </a:r>
            <a:r>
              <a:rPr lang="en-US" altLang="zh-CN" smtClean="0"/>
              <a:t> </a:t>
            </a:r>
            <a:r>
              <a:rPr lang="zh-CN" altLang="en-US" smtClean="0">
                <a:cs typeface="Times New Roman" pitchFamily="18" charset="0"/>
              </a:rPr>
              <a:t>弦截法</a:t>
            </a:r>
            <a:r>
              <a:rPr lang="en-US" altLang="zh-CN" smtClean="0"/>
              <a:t>——</a:t>
            </a:r>
            <a:r>
              <a:rPr lang="zh-CN" altLang="en-US" smtClean="0"/>
              <a:t>内容回顾</a:t>
            </a:r>
            <a:endParaRPr lang="zh-CN" altLang="en-US" smtClean="0">
              <a:cs typeface="Times New Roman" pitchFamily="18" charset="0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 smtClean="0">
                <a:solidFill>
                  <a:srgbClr val="0000FF"/>
                </a:solidFill>
              </a:rPr>
              <a:t>弦截法</a:t>
            </a:r>
            <a:r>
              <a:rPr lang="en-US" altLang="zh-CN" sz="2800" dirty="0" smtClean="0">
                <a:solidFill>
                  <a:srgbClr val="0000FF"/>
                </a:solidFill>
              </a:rPr>
              <a:t>/</a:t>
            </a:r>
            <a:r>
              <a:rPr lang="zh-CN" altLang="en-US" sz="2800" dirty="0" smtClean="0">
                <a:solidFill>
                  <a:srgbClr val="0000FF"/>
                </a:solidFill>
              </a:rPr>
              <a:t>正割法</a:t>
            </a:r>
            <a:r>
              <a:rPr lang="zh-CN" altLang="en-US" sz="2400" dirty="0" smtClean="0"/>
              <a:t>（</a:t>
            </a:r>
            <a:r>
              <a:rPr lang="zh-CN" altLang="en-US" sz="2400" dirty="0" smtClean="0">
                <a:sym typeface="UniversalMath1 BT" pitchFamily="18" charset="2"/>
              </a:rPr>
              <a:t>导数问题： 差商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eaLnBrk="1" hangingPunct="1">
              <a:defRPr/>
            </a:pPr>
            <a:endParaRPr lang="en-US" altLang="zh-CN" sz="2400" dirty="0"/>
          </a:p>
          <a:p>
            <a:pPr eaLnBrk="1" hangingPunct="1">
              <a:defRPr/>
            </a:pPr>
            <a:endParaRPr lang="en-US" altLang="zh-CN" sz="2400" dirty="0" smtClean="0"/>
          </a:p>
          <a:p>
            <a:pPr eaLnBrk="1" hangingPunct="1">
              <a:defRPr/>
            </a:pPr>
            <a:endParaRPr lang="en-US" altLang="zh-CN" sz="2400" dirty="0"/>
          </a:p>
          <a:p>
            <a:pPr marL="0" indent="0" eaLnBrk="1" hangingPunct="1">
              <a:spcBef>
                <a:spcPts val="3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                       </a:t>
            </a:r>
            <a:r>
              <a:rPr lang="en-US" altLang="zh-CN" sz="2400" dirty="0" smtClean="0">
                <a:sym typeface="Wingdings" panose="05000000000000000000" pitchFamily="2" charset="2"/>
              </a:rPr>
              <a:t></a:t>
            </a:r>
            <a:endParaRPr lang="zh-CN" altLang="en-US" sz="2400" dirty="0" smtClean="0"/>
          </a:p>
        </p:txBody>
      </p:sp>
      <p:pic>
        <p:nvPicPr>
          <p:cNvPr id="5125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3" y="1812925"/>
            <a:ext cx="65976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827463"/>
            <a:ext cx="8445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3532188"/>
            <a:ext cx="208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00338" y="1628775"/>
            <a:ext cx="6408737" cy="2016125"/>
          </a:xfrm>
        </p:spPr>
        <p:txBody>
          <a:bodyPr/>
          <a:lstStyle/>
          <a:p>
            <a:pPr algn="ctr" eaLnBrk="1" hangingPunct="1">
              <a:lnSpc>
                <a:spcPct val="140000"/>
              </a:lnSpc>
            </a:pPr>
            <a:r>
              <a:rPr lang="zh-CN" altLang="en-US" sz="4000" smtClean="0"/>
              <a:t>第</a:t>
            </a:r>
            <a:r>
              <a:rPr lang="en-US" altLang="zh-CN" sz="4000" smtClean="0"/>
              <a:t>3</a:t>
            </a:r>
            <a:r>
              <a:rPr lang="zh-CN" altLang="en-US" sz="4000" smtClean="0"/>
              <a:t>章</a:t>
            </a:r>
            <a:br>
              <a:rPr lang="zh-CN" altLang="en-US" sz="4000" smtClean="0"/>
            </a:br>
            <a:r>
              <a:rPr lang="zh-CN" altLang="en-US" sz="4000" smtClean="0"/>
              <a:t>线性代数方程组的数值解法</a:t>
            </a:r>
          </a:p>
        </p:txBody>
      </p:sp>
      <p:sp>
        <p:nvSpPr>
          <p:cNvPr id="6147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42BF492F-8C14-40F3-86E9-B9698116E9F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本章内容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1175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hlinkClick r:id="rId3" action="ppaction://hlinksldjump"/>
              </a:rPr>
              <a:t>引言</a:t>
            </a:r>
            <a:endParaRPr lang="zh-CN" altLang="en-US" sz="2800" smtClean="0"/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hlinkClick r:id="rId4" action="ppaction://hlinksldjump"/>
              </a:rPr>
              <a:t>高斯消去法</a:t>
            </a:r>
            <a:endParaRPr lang="zh-CN" altLang="en-US" sz="2800" smtClean="0"/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hlinkClick r:id="rId5" action="ppaction://hlinksldjump"/>
              </a:rPr>
              <a:t>矩阵三角分解法</a:t>
            </a:r>
            <a:endParaRPr lang="zh-CN" altLang="en-US" sz="2800" smtClean="0"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hlinkClick r:id="" action="ppaction://noaction"/>
              </a:rPr>
              <a:t>迭代法</a:t>
            </a:r>
            <a:endParaRPr lang="zh-CN" altLang="en-US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1C1A5BD-E62A-45D3-9049-BD6ACD3BD78C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smtClean="0">
                <a:solidFill>
                  <a:schemeClr val="accent1"/>
                </a:solidFill>
              </a:rPr>
              <a:t>本节内容</a:t>
            </a:r>
          </a:p>
          <a:p>
            <a:pPr lvl="1" eaLnBrk="1" hangingPunct="1">
              <a:spcBef>
                <a:spcPct val="60000"/>
              </a:spcBef>
            </a:pPr>
            <a:r>
              <a:rPr lang="zh-CN" altLang="en-US" smtClean="0">
                <a:hlinkClick r:id="rId2" action="ppaction://hlinksldjump"/>
              </a:rPr>
              <a:t>一</a:t>
            </a:r>
            <a:r>
              <a:rPr lang="en-US" altLang="zh-CN" smtClean="0">
                <a:hlinkClick r:id="rId2" action="ppaction://hlinksldjump"/>
              </a:rPr>
              <a:t>. </a:t>
            </a:r>
            <a:r>
              <a:rPr lang="zh-CN" altLang="en-US" smtClean="0">
                <a:hlinkClick r:id="rId2" action="ppaction://hlinksldjump"/>
              </a:rPr>
              <a:t>线性方程组解法</a:t>
            </a:r>
            <a:endParaRPr lang="zh-CN" altLang="en-US" smtClean="0"/>
          </a:p>
          <a:p>
            <a:pPr lvl="1" eaLnBrk="1" hangingPunct="1">
              <a:spcBef>
                <a:spcPct val="60000"/>
              </a:spcBef>
            </a:pPr>
            <a:r>
              <a:rPr lang="zh-CN" altLang="en-US" smtClean="0">
                <a:hlinkClick r:id="rId3" action="ppaction://hlinksldjump"/>
              </a:rPr>
              <a:t>二</a:t>
            </a:r>
            <a:r>
              <a:rPr lang="en-US" altLang="zh-CN" smtClean="0">
                <a:hlinkClick r:id="rId3" action="ppaction://hlinksldjump"/>
              </a:rPr>
              <a:t>. </a:t>
            </a:r>
            <a:r>
              <a:rPr lang="zh-CN" altLang="en-US" smtClean="0">
                <a:hlinkClick r:id="rId3" action="ppaction://hlinksldjump"/>
              </a:rPr>
              <a:t>直接法与迭代法比较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4117CF1A-5F4E-434E-B7AE-256ABBB3561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291513" cy="489585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一</a:t>
            </a:r>
            <a:r>
              <a:rPr lang="en-US" altLang="zh-CN" sz="2800" smtClean="0">
                <a:solidFill>
                  <a:srgbClr val="0000FF"/>
                </a:solidFill>
              </a:rPr>
              <a:t>. </a:t>
            </a:r>
            <a:r>
              <a:rPr lang="zh-CN" altLang="en-US" sz="2800" smtClean="0">
                <a:solidFill>
                  <a:srgbClr val="0000FF"/>
                </a:solidFill>
              </a:rPr>
              <a:t>线性方程组解法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600" smtClean="0"/>
              <a:t>工程中几乎有一半的问题涉及到线性方程组的求解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600" smtClean="0"/>
              <a:t>设 </a:t>
            </a:r>
            <a:r>
              <a:rPr kumimoji="1" lang="en-US" altLang="zh-CN" sz="2600" i="1" smtClean="0"/>
              <a:t>n </a:t>
            </a:r>
            <a:r>
              <a:rPr kumimoji="1" lang="zh-CN" altLang="en-US" sz="2600" smtClean="0"/>
              <a:t>阶</a:t>
            </a:r>
            <a:r>
              <a:rPr lang="zh-CN" altLang="en-US" sz="2600" smtClean="0"/>
              <a:t>线性方程组</a:t>
            </a:r>
          </a:p>
        </p:txBody>
      </p:sp>
      <p:graphicFrame>
        <p:nvGraphicFramePr>
          <p:cNvPr id="9221" name="Object 4"/>
          <p:cNvGraphicFramePr>
            <a:graphicFrameLocks noChangeAspect="1"/>
          </p:cNvGraphicFramePr>
          <p:nvPr/>
        </p:nvGraphicFramePr>
        <p:xfrm>
          <a:off x="1331913" y="2708275"/>
          <a:ext cx="4529137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公式" r:id="rId3" imgW="1981200" imgH="939800" progId="Equation.3">
                  <p:embed/>
                </p:oleObj>
              </mc:Choice>
              <mc:Fallback>
                <p:oleObj name="公式" r:id="rId3" imgW="19812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4529137" cy="214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5"/>
          <p:cNvGraphicFramePr>
            <a:graphicFrameLocks noChangeAspect="1"/>
          </p:cNvGraphicFramePr>
          <p:nvPr/>
        </p:nvGraphicFramePr>
        <p:xfrm>
          <a:off x="1403350" y="5013325"/>
          <a:ext cx="15716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公式" r:id="rId5" imgW="698197" imgH="215806" progId="Equation.3">
                  <p:embed/>
                </p:oleObj>
              </mc:Choice>
              <mc:Fallback>
                <p:oleObj name="公式" r:id="rId5" imgW="698197" imgH="2158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13325"/>
                        <a:ext cx="15716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6"/>
          <p:cNvGraphicFramePr>
            <a:graphicFrameLocks noChangeAspect="1"/>
          </p:cNvGraphicFramePr>
          <p:nvPr/>
        </p:nvGraphicFramePr>
        <p:xfrm>
          <a:off x="1403350" y="5589588"/>
          <a:ext cx="6118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公式" r:id="rId7" imgW="2641600" imgH="241300" progId="Equation.3">
                  <p:embed/>
                </p:oleObj>
              </mc:Choice>
              <mc:Fallback>
                <p:oleObj name="公式" r:id="rId7" imgW="26416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589588"/>
                        <a:ext cx="61182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3A7967E-9E41-4B12-AB5D-17BF7E0BCF2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i="1" smtClean="0">
                <a:sym typeface="Symbol" pitchFamily="18" charset="2"/>
              </a:rPr>
              <a:t>A</a:t>
            </a:r>
            <a:r>
              <a:rPr lang="en-US" altLang="zh-CN" sz="2800" smtClean="0">
                <a:sym typeface="Symbol" pitchFamily="18" charset="2"/>
              </a:rPr>
              <a:t> </a:t>
            </a:r>
            <a:r>
              <a:rPr lang="zh-CN" altLang="en-US" sz="2800" smtClean="0">
                <a:sym typeface="Symbol" pitchFamily="18" charset="2"/>
              </a:rPr>
              <a:t>称为方程组的系数矩阵，当是 </a:t>
            </a:r>
            <a:r>
              <a:rPr lang="en-US" altLang="zh-CN" sz="2800" i="1" smtClean="0">
                <a:sym typeface="Symbol" pitchFamily="18" charset="2"/>
              </a:rPr>
              <a:t>n </a:t>
            </a:r>
            <a:r>
              <a:rPr lang="zh-CN" altLang="en-US" sz="2800" smtClean="0">
                <a:sym typeface="Symbol" pitchFamily="18" charset="2"/>
              </a:rPr>
              <a:t>阶非奇异矩阵时，即 </a:t>
            </a:r>
            <a:r>
              <a:rPr lang="en-US" altLang="zh-CN" sz="2800" i="1" smtClean="0">
                <a:sym typeface="Symbol" pitchFamily="18" charset="2"/>
              </a:rPr>
              <a:t>A</a:t>
            </a:r>
            <a:r>
              <a:rPr lang="en-US" altLang="zh-CN" sz="2800" smtClean="0">
                <a:sym typeface="Symbol" pitchFamily="18" charset="2"/>
              </a:rPr>
              <a:t> 0</a:t>
            </a:r>
            <a:r>
              <a:rPr lang="zh-CN" altLang="en-US" sz="2800" smtClean="0">
                <a:sym typeface="Symbol" pitchFamily="18" charset="2"/>
              </a:rPr>
              <a:t>，此时方程组有唯一解。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sym typeface="Symbol" pitchFamily="18" charset="2"/>
              </a:rPr>
              <a:t>    </a:t>
            </a:r>
            <a:r>
              <a:rPr lang="en-US" altLang="zh-CN" sz="2800" i="1" smtClean="0">
                <a:sym typeface="Symbol" pitchFamily="18" charset="2"/>
              </a:rPr>
              <a:t>X </a:t>
            </a:r>
            <a:r>
              <a:rPr lang="zh-CN" altLang="en-US" sz="2800" smtClean="0">
                <a:sym typeface="Symbol" pitchFamily="18" charset="2"/>
              </a:rPr>
              <a:t>阵是解向量，</a:t>
            </a:r>
            <a:r>
              <a:rPr lang="en-US" altLang="zh-CN" sz="2800" i="1" smtClean="0">
                <a:sym typeface="Symbol" pitchFamily="18" charset="2"/>
              </a:rPr>
              <a:t>B </a:t>
            </a:r>
            <a:r>
              <a:rPr lang="zh-CN" altLang="en-US" sz="2800" smtClean="0">
                <a:sym typeface="Symbol" pitchFamily="18" charset="2"/>
              </a:rPr>
              <a:t>阵是常向量。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>
                <a:sym typeface="Symbol" pitchFamily="18" charset="2"/>
              </a:rPr>
              <a:t>    在线性代数中学过用克莱姆法则求解，它是一种直接法</a:t>
            </a:r>
            <a:r>
              <a:rPr lang="en-US" altLang="zh-CN" sz="2800" smtClean="0">
                <a:sym typeface="Symbol" pitchFamily="18" charset="2"/>
              </a:rPr>
              <a:t>(</a:t>
            </a:r>
            <a:r>
              <a:rPr lang="zh-CN" altLang="en-US" sz="2800" smtClean="0">
                <a:sym typeface="Symbol" pitchFamily="18" charset="2"/>
              </a:rPr>
              <a:t>属于解析法</a:t>
            </a:r>
            <a:r>
              <a:rPr lang="en-US" altLang="zh-CN" sz="2800" smtClean="0">
                <a:sym typeface="Symbol" pitchFamily="18" charset="2"/>
              </a:rPr>
              <a:t>)</a:t>
            </a:r>
            <a:r>
              <a:rPr lang="zh-CN" altLang="en-US" sz="2800" smtClean="0">
                <a:sym typeface="Symbol" pitchFamily="18" charset="2"/>
              </a:rPr>
              <a:t>，但随着</a:t>
            </a:r>
            <a:r>
              <a:rPr lang="en-US" altLang="zh-CN" sz="2800" i="1" smtClean="0">
                <a:sym typeface="Symbol" pitchFamily="18" charset="2"/>
              </a:rPr>
              <a:t>n</a:t>
            </a:r>
            <a:r>
              <a:rPr lang="en-US" altLang="zh-CN" sz="2800" smtClean="0">
                <a:sym typeface="Symbol" pitchFamily="18" charset="2"/>
              </a:rPr>
              <a:t></a:t>
            </a:r>
            <a:r>
              <a:rPr lang="zh-CN" altLang="en-US" sz="2800" smtClean="0">
                <a:sym typeface="Symbol" pitchFamily="18" charset="2"/>
              </a:rPr>
              <a:t>计算工作量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01F1E61-1CF4-4849-86D4-C1B420C5AB4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/>
        </p:nvGraphicFramePr>
        <p:xfrm>
          <a:off x="684213" y="1268413"/>
          <a:ext cx="7705725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公式" r:id="rId3" imgW="3594100" imgH="2082800" progId="Equation.3">
                  <p:embed/>
                </p:oleObj>
              </mc:Choice>
              <mc:Fallback>
                <p:oleObj name="公式" r:id="rId3" imgW="3594100" imgH="208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7705725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B005CE2-148F-49C0-B5B9-AD21E266E5F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二</a:t>
            </a:r>
            <a:r>
              <a:rPr lang="en-US" altLang="zh-CN" sz="2800" smtClean="0">
                <a:solidFill>
                  <a:srgbClr val="0000FF"/>
                </a:solidFill>
              </a:rPr>
              <a:t>. </a:t>
            </a:r>
            <a:r>
              <a:rPr lang="zh-CN" altLang="en-US" sz="2800" smtClean="0">
                <a:solidFill>
                  <a:srgbClr val="0000FF"/>
                </a:solidFill>
              </a:rPr>
              <a:t>直接法与迭代法比较</a:t>
            </a:r>
            <a:r>
              <a:rPr lang="zh-CN" altLang="en-US" sz="2800" smtClean="0"/>
              <a:t>各有优缺点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600" smtClean="0">
                <a:sym typeface="Symbol" pitchFamily="18" charset="2"/>
              </a:rPr>
              <a:t>解方程组的数值解法：</a:t>
            </a:r>
            <a:r>
              <a:rPr lang="zh-CN" altLang="en-US" sz="2600" smtClean="0"/>
              <a:t>直接法与迭代法</a:t>
            </a:r>
            <a:endParaRPr lang="zh-CN" altLang="en-US" sz="2600" smtClean="0">
              <a:sym typeface="Symbol" pitchFamily="18" charset="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600" smtClean="0"/>
              <a:t>优缺点比较</a:t>
            </a:r>
          </a:p>
          <a:p>
            <a:pPr lvl="2" eaLnBrk="1" hangingPunct="1">
              <a:lnSpc>
                <a:spcPct val="95000"/>
              </a:lnSpc>
            </a:pPr>
            <a:r>
              <a:rPr lang="zh-CN" altLang="en-US" smtClean="0"/>
              <a:t>直接法：</a:t>
            </a:r>
            <a:r>
              <a:rPr lang="zh-CN" altLang="en-US" smtClean="0">
                <a:sym typeface="Symbol" pitchFamily="18" charset="2"/>
              </a:rPr>
              <a:t>经</a:t>
            </a:r>
            <a:r>
              <a:rPr lang="zh-CN" altLang="en-US" smtClean="0">
                <a:solidFill>
                  <a:srgbClr val="0000FF"/>
                </a:solidFill>
                <a:sym typeface="Symbol" pitchFamily="18" charset="2"/>
              </a:rPr>
              <a:t>有限次计算得准确解</a:t>
            </a:r>
            <a:r>
              <a:rPr lang="en-US" altLang="zh-CN" smtClean="0">
                <a:sym typeface="Symbol" pitchFamily="18" charset="2"/>
              </a:rPr>
              <a:t>(</a:t>
            </a:r>
            <a:r>
              <a:rPr lang="zh-CN" altLang="en-US" smtClean="0">
                <a:sym typeface="Symbol" pitchFamily="18" charset="2"/>
              </a:rPr>
              <a:t>在无舍入误差下</a:t>
            </a:r>
            <a:r>
              <a:rPr lang="en-US" altLang="zh-CN" smtClean="0">
                <a:sym typeface="Symbol" pitchFamily="18" charset="2"/>
              </a:rPr>
              <a:t>),</a:t>
            </a:r>
            <a:r>
              <a:rPr lang="zh-CN" altLang="en-US" smtClean="0">
                <a:sym typeface="Symbol" pitchFamily="18" charset="2"/>
              </a:rPr>
              <a:t>实际上舍入误差客观存在</a:t>
            </a:r>
            <a:r>
              <a:rPr lang="en-US" altLang="zh-CN" smtClean="0">
                <a:sym typeface="Symbol" pitchFamily="18" charset="2"/>
              </a:rPr>
              <a:t>, </a:t>
            </a:r>
            <a:r>
              <a:rPr lang="zh-CN" altLang="en-US" smtClean="0">
                <a:sym typeface="Symbol" pitchFamily="18" charset="2"/>
              </a:rPr>
              <a:t>得到的依然还是近似解。</a:t>
            </a:r>
            <a:r>
              <a:rPr lang="zh-CN" altLang="en-US" smtClean="0"/>
              <a:t>由于受到计算机存储容量的限制，一般来说，仅</a:t>
            </a:r>
            <a:r>
              <a:rPr lang="zh-CN" altLang="en-US" smtClean="0">
                <a:solidFill>
                  <a:srgbClr val="0000FF"/>
                </a:solidFill>
              </a:rPr>
              <a:t>适于系数矩阵阶数不太高</a:t>
            </a:r>
            <a:r>
              <a:rPr lang="zh-CN" altLang="en-US" smtClean="0"/>
              <a:t>的问题，其工作量</a:t>
            </a:r>
            <a:r>
              <a:rPr lang="en-US" altLang="zh-CN" smtClean="0"/>
              <a:t>(</a:t>
            </a:r>
            <a:r>
              <a:rPr lang="zh-CN" altLang="en-US" smtClean="0">
                <a:sym typeface="Symbol" pitchFamily="18" charset="2"/>
              </a:rPr>
              <a:t>计算量</a:t>
            </a:r>
            <a:r>
              <a:rPr lang="en-US" altLang="zh-CN" smtClean="0">
                <a:sym typeface="Symbol" pitchFamily="18" charset="2"/>
              </a:rPr>
              <a:t>)</a:t>
            </a:r>
            <a:r>
              <a:rPr lang="zh-CN" altLang="en-US" smtClean="0"/>
              <a:t>较小</a:t>
            </a:r>
            <a:r>
              <a:rPr lang="zh-CN" altLang="en-US" smtClean="0">
                <a:sym typeface="Symbol" pitchFamily="18" charset="2"/>
              </a:rPr>
              <a:t>、精度较高，但程序设计复杂。</a:t>
            </a:r>
          </a:p>
          <a:p>
            <a:pPr lvl="2" eaLnBrk="1" hangingPunct="1">
              <a:lnSpc>
                <a:spcPct val="95000"/>
              </a:lnSpc>
            </a:pPr>
            <a:r>
              <a:rPr lang="zh-CN" altLang="en-US" smtClean="0"/>
              <a:t>迭代法</a:t>
            </a:r>
            <a:r>
              <a:rPr lang="zh-CN" altLang="en-US" smtClean="0">
                <a:sym typeface="Symbol" pitchFamily="18" charset="2"/>
              </a:rPr>
              <a:t>将问题构成一个</a:t>
            </a:r>
            <a:r>
              <a:rPr lang="zh-CN" altLang="en-US" smtClean="0">
                <a:solidFill>
                  <a:srgbClr val="0000FF"/>
                </a:solidFill>
                <a:sym typeface="Symbol" pitchFamily="18" charset="2"/>
              </a:rPr>
              <a:t>无穷序列，逼近准确解</a:t>
            </a:r>
            <a:r>
              <a:rPr lang="zh-CN" altLang="en-US" smtClean="0">
                <a:sym typeface="Symbol" pitchFamily="18" charset="2"/>
              </a:rPr>
              <a:t>。</a:t>
            </a:r>
            <a:r>
              <a:rPr lang="zh-CN" altLang="en-US" smtClean="0"/>
              <a:t>主要用于某些</a:t>
            </a:r>
            <a:r>
              <a:rPr lang="zh-CN" altLang="en-US" smtClean="0">
                <a:solidFill>
                  <a:srgbClr val="0000FF"/>
                </a:solidFill>
              </a:rPr>
              <a:t>系数矩阵阶数较高</a:t>
            </a:r>
            <a:r>
              <a:rPr lang="zh-CN" altLang="en-US" smtClean="0"/>
              <a:t>的问题，一般来说，程序较为简单</a:t>
            </a:r>
            <a:r>
              <a:rPr lang="zh-CN" altLang="en-US" smtClean="0">
                <a:sym typeface="Symbol" pitchFamily="18" charset="2"/>
              </a:rPr>
              <a:t>、易于编程</a:t>
            </a:r>
            <a:r>
              <a:rPr lang="zh-CN" altLang="en-US" smtClean="0"/>
              <a:t>，</a:t>
            </a:r>
            <a:r>
              <a:rPr lang="zh-CN" altLang="en-US" smtClean="0">
                <a:solidFill>
                  <a:srgbClr val="0000FF"/>
                </a:solidFill>
                <a:sym typeface="Symbol" pitchFamily="18" charset="2"/>
              </a:rPr>
              <a:t>但存在收敛性及收敛速度的问题</a:t>
            </a:r>
            <a:r>
              <a:rPr lang="zh-CN" altLang="en-US" smtClean="0">
                <a:sym typeface="Symbol" pitchFamily="18" charset="2"/>
              </a:rPr>
              <a:t>，只对具有某些性质的系数矩阵的方程组才适用。</a:t>
            </a:r>
            <a:r>
              <a:rPr lang="zh-CN" altLang="en-US" smtClean="0"/>
              <a:t>工作量有时较大。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F298523-B718-42F4-8252-EBC135640FA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 </a:t>
            </a:r>
            <a:r>
              <a:rPr lang="zh-CN" altLang="en-US" smtClean="0"/>
              <a:t>高斯消去法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§3.1.1 </a:t>
            </a:r>
            <a:r>
              <a:rPr lang="zh-CN" altLang="en-US" smtClean="0">
                <a:solidFill>
                  <a:schemeClr val="accent1"/>
                </a:solidFill>
                <a:hlinkClick r:id="rId3" action="ppaction://hlinksldjump"/>
              </a:rPr>
              <a:t>顺序高斯消去法</a:t>
            </a:r>
            <a:endParaRPr lang="en-US" altLang="zh-CN" smtClean="0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§3.1.2 </a:t>
            </a:r>
            <a:r>
              <a:rPr lang="zh-CN" altLang="en-US" smtClean="0">
                <a:solidFill>
                  <a:schemeClr val="accent1"/>
                </a:solidFill>
                <a:hlinkClick r:id="rId4" action="ppaction://hlinksldjump"/>
              </a:rPr>
              <a:t>列主元高斯消去法</a:t>
            </a:r>
            <a:endParaRPr lang="zh-CN" altLang="en-US" smtClean="0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§3.1.3 </a:t>
            </a:r>
            <a:r>
              <a:rPr lang="zh-CN" altLang="en-US" smtClean="0">
                <a:solidFill>
                  <a:schemeClr val="accent1"/>
                </a:solidFill>
                <a:hlinkClick r:id="rId5" action="ppaction://hlinksldjump"/>
              </a:rPr>
              <a:t>高斯</a:t>
            </a:r>
            <a:r>
              <a:rPr lang="en-US" altLang="zh-CN" smtClean="0">
                <a:solidFill>
                  <a:schemeClr val="accent1"/>
                </a:solidFill>
                <a:hlinkClick r:id="rId5" action="ppaction://hlinksldjump"/>
              </a:rPr>
              <a:t>-</a:t>
            </a:r>
            <a:r>
              <a:rPr lang="zh-CN" altLang="en-US" smtClean="0">
                <a:solidFill>
                  <a:schemeClr val="accent1"/>
                </a:solidFill>
                <a:hlinkClick r:id="rId5" action="ppaction://hlinksldjump"/>
              </a:rPr>
              <a:t>若尔当消去法</a:t>
            </a:r>
            <a:endParaRPr lang="zh-CN" altLang="en-US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0C3800F-6255-4579-9DC3-BBF42272E31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一</a:t>
            </a:r>
            <a:r>
              <a:rPr lang="en-US" altLang="zh-CN" sz="2800" smtClean="0">
                <a:solidFill>
                  <a:srgbClr val="0000FF"/>
                </a:solidFill>
              </a:rPr>
              <a:t>. </a:t>
            </a:r>
            <a:r>
              <a:rPr lang="zh-CN" altLang="en-US" sz="2800" smtClean="0">
                <a:solidFill>
                  <a:srgbClr val="0000FF"/>
                </a:solidFill>
              </a:rPr>
              <a:t>引言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600" smtClean="0"/>
              <a:t>是一个古老的求解线性方程组的方法。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600" smtClean="0"/>
              <a:t>改进和变形得到主元素消去法、三角分解法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zh-CN" sz="2600" i="1" smtClean="0"/>
              <a:t>n </a:t>
            </a:r>
            <a:r>
              <a:rPr lang="zh-CN" altLang="en-US" sz="2600" smtClean="0"/>
              <a:t>元线性方程组</a:t>
            </a:r>
          </a:p>
          <a:p>
            <a:pPr lvl="1" eaLnBrk="1" hangingPunct="1">
              <a:lnSpc>
                <a:spcPct val="105000"/>
              </a:lnSpc>
            </a:pPr>
            <a:endParaRPr lang="zh-CN" altLang="en-US" sz="2600" smtClean="0"/>
          </a:p>
          <a:p>
            <a:pPr lvl="1" eaLnBrk="1" hangingPunct="1">
              <a:lnSpc>
                <a:spcPct val="105000"/>
              </a:lnSpc>
            </a:pPr>
            <a:endParaRPr lang="zh-CN" altLang="en-US" sz="2600" smtClean="0"/>
          </a:p>
          <a:p>
            <a:pPr lvl="1" eaLnBrk="1" hangingPunct="1">
              <a:lnSpc>
                <a:spcPct val="105000"/>
              </a:lnSpc>
            </a:pPr>
            <a:endParaRPr lang="zh-CN" altLang="en-US" sz="2600" smtClean="0"/>
          </a:p>
          <a:p>
            <a:pPr lvl="1" eaLnBrk="1" hangingPunct="1">
              <a:lnSpc>
                <a:spcPct val="105000"/>
              </a:lnSpc>
            </a:pPr>
            <a:endParaRPr lang="zh-CN" altLang="en-US" sz="2600" smtClean="0"/>
          </a:p>
          <a:p>
            <a:pPr lvl="1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600" smtClean="0"/>
              <a:t>   的直接解法。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1619250" y="3213100"/>
          <a:ext cx="410527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公式" r:id="rId3" imgW="1968500" imgH="939800" progId="Equation.3">
                  <p:embed/>
                </p:oleObj>
              </mc:Choice>
              <mc:Fallback>
                <p:oleObj name="公式" r:id="rId3" imgW="19685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213100"/>
                        <a:ext cx="410527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5940425" y="4149725"/>
            <a:ext cx="151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（式</a:t>
            </a:r>
            <a:r>
              <a:rPr lang="en-US" altLang="zh-CN" sz="2600" u="none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）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D995F511-A4DE-4D02-9308-6880220A6E5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6725" y="1196975"/>
            <a:ext cx="8229600" cy="4895850"/>
          </a:xfrm>
        </p:spPr>
        <p:txBody>
          <a:bodyPr/>
          <a:lstStyle/>
          <a:p>
            <a:pPr lvl="1" eaLnBrk="1" hangingPunct="1"/>
            <a:r>
              <a:rPr lang="zh-CN" altLang="en-US" smtClean="0"/>
              <a:t>方程组</a:t>
            </a:r>
            <a:r>
              <a:rPr lang="en-US" altLang="zh-CN" smtClean="0"/>
              <a:t>(1)</a:t>
            </a:r>
            <a:r>
              <a:rPr lang="zh-CN" altLang="en-US" smtClean="0"/>
              <a:t>的矩阵形式为 </a:t>
            </a:r>
            <a:r>
              <a:rPr lang="en-US" altLang="zh-CN" i="1" smtClean="0"/>
              <a:t>Ax</a:t>
            </a:r>
            <a:r>
              <a:rPr lang="en-US" altLang="zh-CN" smtClean="0"/>
              <a:t>=</a:t>
            </a:r>
            <a:r>
              <a:rPr lang="en-US" altLang="zh-CN" i="1" smtClean="0"/>
              <a:t>b</a:t>
            </a:r>
            <a:r>
              <a:rPr lang="en-US" altLang="zh-CN" smtClean="0"/>
              <a:t> </a:t>
            </a:r>
            <a:r>
              <a:rPr lang="zh-CN" altLang="en-US" smtClean="0"/>
              <a:t>其中</a:t>
            </a:r>
          </a:p>
        </p:txBody>
      </p:sp>
      <p:graphicFrame>
        <p:nvGraphicFramePr>
          <p:cNvPr id="15364" name="Object 3"/>
          <p:cNvGraphicFramePr>
            <a:graphicFrameLocks noChangeAspect="1"/>
          </p:cNvGraphicFramePr>
          <p:nvPr/>
        </p:nvGraphicFramePr>
        <p:xfrm>
          <a:off x="1763713" y="1916113"/>
          <a:ext cx="3546475" cy="410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公式" r:id="rId3" imgW="1625600" imgH="1879600" progId="Equation.3">
                  <p:embed/>
                </p:oleObj>
              </mc:Choice>
              <mc:Fallback>
                <p:oleObj name="公式" r:id="rId3" imgW="1625600" imgH="187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916113"/>
                        <a:ext cx="3546475" cy="410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DB7CB339-4EC8-4899-AA0A-38F45DA7FAF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827088" y="1412875"/>
            <a:ext cx="7704137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线性代数：方法不好时工作量非常大，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                    工作量小的方法是 </a:t>
            </a:r>
            <a:r>
              <a:rPr lang="en-US" altLang="zh-CN" sz="2600" i="1" u="none">
                <a:latin typeface="Times New Roman" pitchFamily="18" charset="0"/>
                <a:ea typeface="楷体_GB2312" pitchFamily="49" charset="-122"/>
              </a:rPr>
              <a:t>Gauss 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消去法。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755650" y="2709863"/>
            <a:ext cx="76327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克莱姆</a:t>
            </a:r>
            <a:r>
              <a:rPr lang="en-US" altLang="zh-CN" sz="2600" i="1" u="none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Cramer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法则是一种不实用的直接法，本章介绍几种实用的直接法。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高斯</a:t>
            </a:r>
            <a:r>
              <a:rPr lang="en-US" altLang="zh-CN" sz="2600" i="1" u="none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lang="zh-CN" altLang="en-US" sz="2600" u="none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是一种规则化的加减</a:t>
            </a:r>
            <a:r>
              <a:rPr lang="zh-CN" altLang="en-US" sz="2600" u="none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消元法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，其基本思想是通过逐次消元计算，把一般线性方程组的求解转化为等价的</a:t>
            </a:r>
            <a:r>
              <a:rPr lang="zh-CN" altLang="en-US" sz="2600" u="none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上三角形方程组</a:t>
            </a:r>
            <a:r>
              <a:rPr lang="zh-CN" altLang="en-US" sz="2600" u="none">
                <a:latin typeface="Times New Roman" pitchFamily="18" charset="0"/>
                <a:ea typeface="楷体_GB2312" pitchFamily="49" charset="-122"/>
              </a:rPr>
              <a:t>的求解。</a:t>
            </a: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 flipH="1">
            <a:off x="2124075" y="1844675"/>
            <a:ext cx="358775" cy="1008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 flipH="1">
            <a:off x="2266950" y="2420938"/>
            <a:ext cx="1223963" cy="14398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16312F0-AB36-48C6-8AA3-2F6785CE8B6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04031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kumimoji="1" lang="zh-CN" altLang="en-US" sz="2800" smtClean="0">
                <a:solidFill>
                  <a:srgbClr val="0000FF"/>
                </a:solidFill>
              </a:rPr>
              <a:t>二</a:t>
            </a:r>
            <a:r>
              <a:rPr lang="en-US" altLang="zh-CN" smtClean="0">
                <a:solidFill>
                  <a:srgbClr val="0000FF"/>
                </a:solidFill>
              </a:rPr>
              <a:t>. </a:t>
            </a:r>
            <a:r>
              <a:rPr kumimoji="1" lang="zh-CN" altLang="en-US" sz="2800" smtClean="0">
                <a:solidFill>
                  <a:srgbClr val="0000FF"/>
                </a:solidFill>
              </a:rPr>
              <a:t>例子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kumimoji="1" lang="zh-CN" altLang="en-US" sz="2600" smtClean="0"/>
              <a:t>为清楚起见，先看一简单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600" smtClean="0"/>
              <a:t>    例子。考虑线性方程组</a:t>
            </a:r>
          </a:p>
        </p:txBody>
      </p:sp>
      <p:graphicFrame>
        <p:nvGraphicFramePr>
          <p:cNvPr id="17412" name="Object 3"/>
          <p:cNvGraphicFramePr>
            <a:graphicFrameLocks noChangeAspect="1"/>
          </p:cNvGraphicFramePr>
          <p:nvPr/>
        </p:nvGraphicFramePr>
        <p:xfrm>
          <a:off x="5076825" y="1412875"/>
          <a:ext cx="2663825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公式" r:id="rId3" imgW="1333500" imgH="711200" progId="Equation.3">
                  <p:embed/>
                </p:oleObj>
              </mc:Choice>
              <mc:Fallback>
                <p:oleObj name="公式" r:id="rId3" imgW="13335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412875"/>
                        <a:ext cx="2663825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684213" y="2924175"/>
            <a:ext cx="1871662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1.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消去后两个方程中的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6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得：</a:t>
            </a:r>
          </a:p>
        </p:txBody>
      </p:sp>
      <p:graphicFrame>
        <p:nvGraphicFramePr>
          <p:cNvPr id="21510" name="Object 5"/>
          <p:cNvGraphicFramePr>
            <a:graphicFrameLocks noChangeAspect="1"/>
          </p:cNvGraphicFramePr>
          <p:nvPr/>
        </p:nvGraphicFramePr>
        <p:xfrm>
          <a:off x="2484438" y="2852738"/>
          <a:ext cx="2665412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公式" r:id="rId5" imgW="1473200" imgH="711200" progId="Equation.3">
                  <p:embed/>
                </p:oleObj>
              </mc:Choice>
              <mc:Fallback>
                <p:oleObj name="公式" r:id="rId5" imgW="14732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852738"/>
                        <a:ext cx="2665412" cy="128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6"/>
          <p:cNvSpPr txBox="1">
            <a:spLocks noChangeArrowheads="1"/>
          </p:cNvSpPr>
          <p:nvPr/>
        </p:nvSpPr>
        <p:spPr bwMode="auto">
          <a:xfrm>
            <a:off x="3348038" y="4292600"/>
            <a:ext cx="25209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2.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再消去最后一</a:t>
            </a:r>
          </a:p>
          <a:p>
            <a:pPr eaLnBrk="1" hangingPunct="1"/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个方程的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6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得：</a:t>
            </a:r>
          </a:p>
        </p:txBody>
      </p:sp>
      <p:graphicFrame>
        <p:nvGraphicFramePr>
          <p:cNvPr id="21512" name="Object 7"/>
          <p:cNvGraphicFramePr>
            <a:graphicFrameLocks noChangeAspect="1"/>
          </p:cNvGraphicFramePr>
          <p:nvPr/>
        </p:nvGraphicFramePr>
        <p:xfrm>
          <a:off x="5219700" y="5516563"/>
          <a:ext cx="25209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公式" r:id="rId7" imgW="1422400" imgH="406400" progId="Equation.3">
                  <p:embed/>
                </p:oleObj>
              </mc:Choice>
              <mc:Fallback>
                <p:oleObj name="公式" r:id="rId7" imgW="1422400" imgH="40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516563"/>
                        <a:ext cx="25209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8"/>
          <p:cNvSpPr txBox="1">
            <a:spLocks noChangeArrowheads="1"/>
          </p:cNvSpPr>
          <p:nvPr/>
        </p:nvSpPr>
        <p:spPr bwMode="auto">
          <a:xfrm>
            <a:off x="1042988" y="5661025"/>
            <a:ext cx="39608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3.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消元结束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经过回代得解</a:t>
            </a: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1514" name="Object 9"/>
          <p:cNvGraphicFramePr>
            <a:graphicFrameLocks noChangeAspect="1"/>
          </p:cNvGraphicFramePr>
          <p:nvPr/>
        </p:nvGraphicFramePr>
        <p:xfrm>
          <a:off x="5724525" y="3500438"/>
          <a:ext cx="3022600" cy="197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公式" r:id="rId9" imgW="1473200" imgH="965200" progId="Equation.3">
                  <p:embed/>
                </p:oleObj>
              </mc:Choice>
              <mc:Fallback>
                <p:oleObj name="公式" r:id="rId9" imgW="1473200" imgH="965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500438"/>
                        <a:ext cx="3022600" cy="197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1" grpId="0"/>
      <p:bldP spid="215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43EEB29-4B59-4847-98F8-E2080766D5A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11750"/>
          </a:xfrm>
        </p:spPr>
        <p:txBody>
          <a:bodyPr/>
          <a:lstStyle/>
          <a:p>
            <a:pPr lvl="1" eaLnBrk="1" hangingPunct="1"/>
            <a:r>
              <a:rPr kumimoji="1" lang="zh-CN" altLang="en-US" sz="2600" smtClean="0"/>
              <a:t>上述求解的消元过程可用矩阵表示为</a:t>
            </a:r>
            <a:r>
              <a:rPr kumimoji="1" lang="en-US" altLang="zh-CN" sz="2600" smtClean="0"/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</a:pPr>
            <a:endParaRPr kumimoji="1" lang="en-US" altLang="zh-CN" sz="260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sz="2600" smtClean="0"/>
              <a:t>   </a:t>
            </a:r>
            <a:r>
              <a:rPr kumimoji="1" lang="zh-CN" altLang="en-US" sz="2600" smtClean="0"/>
              <a:t>这是高斯消去法的计算形式</a:t>
            </a:r>
            <a:r>
              <a:rPr kumimoji="1" lang="en-US" altLang="zh-CN" sz="2600" smtClean="0"/>
              <a:t>,</a:t>
            </a:r>
            <a:r>
              <a:rPr kumimoji="1" lang="zh-CN" altLang="en-US" sz="2600" smtClean="0"/>
              <a:t>新的增广矩阵对应的线性方程组就是上三角形方程组</a:t>
            </a:r>
            <a:r>
              <a:rPr kumimoji="1" lang="en-US" altLang="zh-CN" sz="2600" smtClean="0"/>
              <a:t>,</a:t>
            </a:r>
            <a:r>
              <a:rPr kumimoji="1" lang="zh-CN" altLang="en-US" sz="2600" smtClean="0"/>
              <a:t>可进行回代求解</a:t>
            </a: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/>
        </p:nvGraphicFramePr>
        <p:xfrm>
          <a:off x="1187450" y="1773238"/>
          <a:ext cx="3671888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公式" r:id="rId3" imgW="1765300" imgH="698500" progId="Equation.3">
                  <p:embed/>
                </p:oleObj>
              </mc:Choice>
              <mc:Fallback>
                <p:oleObj name="公式" r:id="rId3" imgW="1765300" imgH="698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73238"/>
                        <a:ext cx="3671888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1403350" y="3429000"/>
          <a:ext cx="3529013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公式" r:id="rId5" imgW="1536700" imgH="698500" progId="Equation.3">
                  <p:embed/>
                </p:oleObj>
              </mc:Choice>
              <mc:Fallback>
                <p:oleObj name="公式" r:id="rId5" imgW="15367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429000"/>
                        <a:ext cx="3529013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5"/>
          <p:cNvGraphicFramePr>
            <a:graphicFrameLocks noChangeAspect="1"/>
          </p:cNvGraphicFramePr>
          <p:nvPr/>
        </p:nvGraphicFramePr>
        <p:xfrm>
          <a:off x="5076825" y="3429000"/>
          <a:ext cx="3433763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公式" r:id="rId7" imgW="1548728" imgH="710891" progId="Equation.3">
                  <p:embed/>
                </p:oleObj>
              </mc:Choice>
              <mc:Fallback>
                <p:oleObj name="公式" r:id="rId7" imgW="1548728" imgH="7108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429000"/>
                        <a:ext cx="3433763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DF039A3-F973-4879-8E17-2E45A92920D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zh-CN" altLang="en-US" sz="2800" smtClean="0">
                <a:solidFill>
                  <a:srgbClr val="0000FF"/>
                </a:solidFill>
              </a:rPr>
              <a:t>三</a:t>
            </a:r>
            <a:r>
              <a:rPr lang="en-US" altLang="zh-CN" sz="2800" smtClean="0">
                <a:solidFill>
                  <a:srgbClr val="0000FF"/>
                </a:solidFill>
              </a:rPr>
              <a:t>.</a:t>
            </a:r>
            <a:r>
              <a:rPr lang="en-US" altLang="zh-CN" sz="2800" smtClean="0"/>
              <a:t> </a:t>
            </a:r>
            <a:r>
              <a:rPr kumimoji="1" lang="zh-CN" altLang="en-US" sz="2800" smtClean="0"/>
              <a:t>求解线性方程组</a:t>
            </a:r>
            <a:r>
              <a:rPr kumimoji="1" lang="en-US" altLang="zh-CN" sz="2800" smtClean="0"/>
              <a:t>(1)</a:t>
            </a:r>
            <a:r>
              <a:rPr kumimoji="1" lang="zh-CN" altLang="en-US" sz="2800" smtClean="0"/>
              <a:t>的</a:t>
            </a:r>
            <a:r>
              <a:rPr kumimoji="1" lang="zh-CN" altLang="en-US" sz="2800" smtClean="0">
                <a:solidFill>
                  <a:srgbClr val="0000FF"/>
                </a:solidFill>
              </a:rPr>
              <a:t>顺序</a:t>
            </a:r>
            <a:r>
              <a:rPr kumimoji="1" lang="en-US" altLang="zh-CN" sz="2800" i="1" smtClean="0">
                <a:solidFill>
                  <a:srgbClr val="0000FF"/>
                </a:solidFill>
              </a:rPr>
              <a:t>Gauss</a:t>
            </a:r>
            <a:r>
              <a:rPr kumimoji="1" lang="zh-CN" altLang="en-US" sz="2800" smtClean="0">
                <a:solidFill>
                  <a:srgbClr val="0000FF"/>
                </a:solidFill>
              </a:rPr>
              <a:t>消去法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kumimoji="1" lang="zh-CN" altLang="en-US" sz="2800" smtClean="0"/>
              <a:t>          记</a:t>
            </a:r>
          </a:p>
          <a:p>
            <a:pPr eaLnBrk="1" hangingPunct="1"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kumimoji="1" lang="zh-CN" altLang="en-US" sz="2800" smtClean="0"/>
              <a:t>          则</a:t>
            </a:r>
            <a:r>
              <a:rPr kumimoji="1" lang="en-US" altLang="zh-CN" sz="2800" smtClean="0"/>
              <a:t>,</a:t>
            </a:r>
            <a:r>
              <a:rPr kumimoji="1" lang="zh-CN" altLang="en-US" sz="2800" smtClean="0"/>
              <a:t>线性方程组</a:t>
            </a:r>
            <a:r>
              <a:rPr kumimoji="1" lang="en-US" altLang="zh-CN" sz="2800" smtClean="0"/>
              <a:t>(1)</a:t>
            </a:r>
            <a:r>
              <a:rPr kumimoji="1" lang="zh-CN" altLang="en-US" sz="2800" smtClean="0"/>
              <a:t>的增广矩阵为</a:t>
            </a:r>
            <a:endParaRPr lang="zh-CN" altLang="en-US" sz="2800" smtClean="0"/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/>
        </p:nvGraphicFramePr>
        <p:xfrm>
          <a:off x="2124075" y="1916113"/>
          <a:ext cx="48244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公式" r:id="rId3" imgW="2159000" imgH="254000" progId="Equation.3">
                  <p:embed/>
                </p:oleObj>
              </mc:Choice>
              <mc:Fallback>
                <p:oleObj name="公式" r:id="rId3" imgW="21590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916113"/>
                        <a:ext cx="48244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4"/>
          <p:cNvGraphicFramePr>
            <a:graphicFrameLocks noChangeAspect="1"/>
          </p:cNvGraphicFramePr>
          <p:nvPr/>
        </p:nvGraphicFramePr>
        <p:xfrm>
          <a:off x="1476375" y="3284538"/>
          <a:ext cx="6480175" cy="26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公式" r:id="rId5" imgW="2857500" imgH="1181100" progId="Equation.3">
                  <p:embed/>
                </p:oleObj>
              </mc:Choice>
              <mc:Fallback>
                <p:oleObj name="公式" r:id="rId5" imgW="2857500" imgH="1181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84538"/>
                        <a:ext cx="6480175" cy="267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563832A-D3B5-44E6-B514-2B7EF793027B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1116013" y="1268413"/>
          <a:ext cx="6624637" cy="501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公式" r:id="rId3" imgW="3340100" imgH="2641600" progId="Equation.3">
                  <p:embed/>
                </p:oleObj>
              </mc:Choice>
              <mc:Fallback>
                <p:oleObj name="公式" r:id="rId3" imgW="3340100" imgH="264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268413"/>
                        <a:ext cx="6624637" cy="501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048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123950"/>
            <a:ext cx="8507412" cy="4968875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D7F2EC8-8A05-410B-BD7B-94E1BE7D7309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1507" name="Object 2"/>
          <p:cNvGraphicFramePr>
            <a:graphicFrameLocks noChangeAspect="1"/>
          </p:cNvGraphicFramePr>
          <p:nvPr/>
        </p:nvGraphicFramePr>
        <p:xfrm>
          <a:off x="1116013" y="1268413"/>
          <a:ext cx="6769100" cy="501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公式" r:id="rId3" imgW="3365500" imgH="2641600" progId="Equation.3">
                  <p:embed/>
                </p:oleObj>
              </mc:Choice>
              <mc:Fallback>
                <p:oleObj name="公式" r:id="rId3" imgW="3365500" imgH="264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268413"/>
                        <a:ext cx="6769100" cy="501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150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507412" cy="4895850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C29233E-9AF3-4753-BA44-157B94E59BD5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2531" name="Object 2"/>
          <p:cNvGraphicFramePr>
            <a:graphicFrameLocks noChangeAspect="1"/>
          </p:cNvGraphicFramePr>
          <p:nvPr/>
        </p:nvGraphicFramePr>
        <p:xfrm>
          <a:off x="1187450" y="1341438"/>
          <a:ext cx="6440488" cy="321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公式" r:id="rId3" imgW="3149600" imgH="1625600" progId="Equation.3">
                  <p:embed/>
                </p:oleObj>
              </mc:Choice>
              <mc:Fallback>
                <p:oleObj name="公式" r:id="rId3" imgW="3149600" imgH="162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341438"/>
                        <a:ext cx="6440488" cy="321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253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435975" cy="4895850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  <p:grpSp>
        <p:nvGrpSpPr>
          <p:cNvPr id="22534" name="组合 6"/>
          <p:cNvGrpSpPr>
            <a:grpSpLocks/>
          </p:cNvGrpSpPr>
          <p:nvPr/>
        </p:nvGrpSpPr>
        <p:grpSpPr bwMode="auto">
          <a:xfrm>
            <a:off x="1835150" y="4570413"/>
            <a:ext cx="5473700" cy="1708150"/>
            <a:chOff x="1835620" y="4569632"/>
            <a:chExt cx="5473981" cy="1708238"/>
          </a:xfrm>
        </p:grpSpPr>
        <p:pic>
          <p:nvPicPr>
            <p:cNvPr id="22535" name="图片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20" y="4569632"/>
              <a:ext cx="5473981" cy="1708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6" name="图片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0722" y="5900606"/>
              <a:ext cx="419122" cy="209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D2A4154-9DAC-4DCF-BB82-55066DEDB38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1187450" y="1196975"/>
          <a:ext cx="5616575" cy="50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公式" r:id="rId3" imgW="3086100" imgH="2844800" progId="Equation.3">
                  <p:embed/>
                </p:oleObj>
              </mc:Choice>
              <mc:Fallback>
                <p:oleObj name="公式" r:id="rId3" imgW="3086100" imgH="2844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5616575" cy="501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6659563" y="2060575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2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  <p:sp>
        <p:nvSpPr>
          <p:cNvPr id="235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435975" cy="5040312"/>
          </a:xfrm>
        </p:spPr>
        <p:txBody>
          <a:bodyPr/>
          <a:lstStyle/>
          <a:p>
            <a:pPr lvl="1" eaLnBrk="1" hangingPunct="1"/>
            <a:r>
              <a:rPr lang="en-US" altLang="zh-CN" smtClean="0"/>
              <a:t> </a:t>
            </a: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6659563" y="4437063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3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E1CDA2E-9BD8-4FA4-9A26-1A54CCE7541E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/>
        </p:nvGraphicFramePr>
        <p:xfrm>
          <a:off x="900113" y="1700213"/>
          <a:ext cx="7488237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公式" r:id="rId3" imgW="3479800" imgH="1397000" progId="Equation.3">
                  <p:embed/>
                </p:oleObj>
              </mc:Choice>
              <mc:Fallback>
                <p:oleObj name="公式" r:id="rId3" imgW="3479800" imgH="139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700213"/>
                        <a:ext cx="7488237" cy="286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5EBF63D-C636-49EC-B6D3-6D47739F05D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zh-CN" smtClean="0">
                <a:sym typeface="Symbol" pitchFamily="18" charset="2"/>
              </a:rPr>
              <a:t>结论：</a:t>
            </a:r>
            <a:endParaRPr lang="zh-CN" altLang="en-US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</a:t>
            </a:r>
            <a:r>
              <a:rPr lang="zh-CN" altLang="zh-CN" sz="2600" smtClean="0">
                <a:sym typeface="Symbol" pitchFamily="18" charset="2"/>
              </a:rPr>
              <a:t>（1）高斯消去法分消元、回代两过程。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</a:t>
            </a:r>
            <a:r>
              <a:rPr lang="zh-CN" altLang="zh-CN" sz="2600" smtClean="0">
                <a:sym typeface="Symbol" pitchFamily="18" charset="2"/>
              </a:rPr>
              <a:t>（2）从矩阵分解角度看</a:t>
            </a:r>
            <a:r>
              <a:rPr lang="zh-CN" altLang="en-US" sz="2600" smtClean="0">
                <a:sym typeface="Symbol" pitchFamily="18" charset="2"/>
              </a:rPr>
              <a:t>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          </a:t>
            </a:r>
            <a:r>
              <a:rPr lang="zh-CN" altLang="zh-CN" sz="2600" smtClean="0">
                <a:sym typeface="Symbol" pitchFamily="18" charset="2"/>
              </a:rPr>
              <a:t>消去是解一个下三角方程组，</a:t>
            </a:r>
            <a:endParaRPr lang="zh-CN" altLang="en-US" sz="2600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          </a:t>
            </a:r>
            <a:r>
              <a:rPr lang="zh-CN" altLang="zh-CN" sz="2600" smtClean="0">
                <a:sym typeface="Symbol" pitchFamily="18" charset="2"/>
              </a:rPr>
              <a:t>回代是解一个上三角方程组。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</a:t>
            </a:r>
            <a:r>
              <a:rPr lang="zh-CN" altLang="zh-CN" sz="2600" smtClean="0">
                <a:sym typeface="Symbol" pitchFamily="18" charset="2"/>
              </a:rPr>
              <a:t>（3）消去法顺利进行必须满足</a:t>
            </a:r>
            <a:endParaRPr lang="zh-CN" altLang="en-US" sz="2600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                </a:t>
            </a:r>
            <a:r>
              <a:rPr lang="en-US" altLang="zh-CN" sz="2600" i="1" smtClean="0">
                <a:sym typeface="Symbol" pitchFamily="18" charset="2"/>
              </a:rPr>
              <a:t>a</a:t>
            </a:r>
            <a:r>
              <a:rPr lang="en-US" altLang="zh-CN" sz="2600" i="1" baseline="-25000" smtClean="0">
                <a:sym typeface="Symbol" pitchFamily="18" charset="2"/>
              </a:rPr>
              <a:t>kk</a:t>
            </a:r>
            <a:r>
              <a:rPr lang="en-US" altLang="zh-CN" sz="2600" smtClean="0">
                <a:sym typeface="Symbol" pitchFamily="18" charset="2"/>
              </a:rPr>
              <a:t> </a:t>
            </a:r>
            <a:r>
              <a:rPr lang="en-US" altLang="zh-CN" sz="2600" baseline="30000" smtClean="0">
                <a:sym typeface="Symbol" pitchFamily="18" charset="2"/>
              </a:rPr>
              <a:t>(</a:t>
            </a:r>
            <a:r>
              <a:rPr lang="en-US" altLang="zh-CN" sz="2600" i="1" baseline="30000" smtClean="0">
                <a:sym typeface="Symbol" pitchFamily="18" charset="2"/>
              </a:rPr>
              <a:t>k</a:t>
            </a:r>
            <a:r>
              <a:rPr lang="en-US" altLang="zh-CN" sz="2600" baseline="30000" smtClean="0">
                <a:sym typeface="Symbol" pitchFamily="18" charset="2"/>
              </a:rPr>
              <a:t>)</a:t>
            </a:r>
            <a:r>
              <a:rPr lang="en-US" altLang="zh-CN" sz="2600" smtClean="0">
                <a:sym typeface="Symbol" pitchFamily="18" charset="2"/>
              </a:rPr>
              <a:t> 0,(</a:t>
            </a:r>
            <a:r>
              <a:rPr lang="en-US" altLang="zh-CN" sz="2600" i="1" smtClean="0">
                <a:sym typeface="Symbol" pitchFamily="18" charset="2"/>
              </a:rPr>
              <a:t>k</a:t>
            </a:r>
            <a:r>
              <a:rPr lang="en-US" altLang="zh-CN" sz="2600" smtClean="0">
                <a:sym typeface="Symbol" pitchFamily="18" charset="2"/>
              </a:rPr>
              <a:t>=1,2,…,</a:t>
            </a:r>
            <a:r>
              <a:rPr lang="en-US" altLang="zh-CN" sz="2600" i="1" smtClean="0">
                <a:sym typeface="Symbol" pitchFamily="18" charset="2"/>
              </a:rPr>
              <a:t>n</a:t>
            </a:r>
            <a:r>
              <a:rPr lang="en-US" altLang="zh-CN" sz="2600" smtClean="0">
                <a:sym typeface="Symbol" pitchFamily="18" charset="2"/>
              </a:rPr>
              <a:t>)</a:t>
            </a:r>
            <a:r>
              <a:rPr lang="zh-CN" altLang="en-US" sz="2600" smtClean="0">
                <a:sym typeface="Symbol" pitchFamily="18" charset="2"/>
              </a:rPr>
              <a:t>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          若出现</a:t>
            </a:r>
            <a:r>
              <a:rPr lang="en-US" altLang="zh-CN" sz="2600" i="1" smtClean="0">
                <a:sym typeface="Symbol" pitchFamily="18" charset="2"/>
              </a:rPr>
              <a:t>a</a:t>
            </a:r>
            <a:r>
              <a:rPr lang="en-US" altLang="zh-CN" sz="2600" i="1" baseline="-25000" smtClean="0">
                <a:sym typeface="Symbol" pitchFamily="18" charset="2"/>
              </a:rPr>
              <a:t>kk</a:t>
            </a:r>
            <a:r>
              <a:rPr lang="en-US" altLang="zh-CN" sz="2600" smtClean="0">
                <a:sym typeface="Symbol" pitchFamily="18" charset="2"/>
              </a:rPr>
              <a:t> </a:t>
            </a:r>
            <a:r>
              <a:rPr lang="en-US" altLang="zh-CN" sz="2600" baseline="30000" smtClean="0">
                <a:sym typeface="Symbol" pitchFamily="18" charset="2"/>
              </a:rPr>
              <a:t>(</a:t>
            </a:r>
            <a:r>
              <a:rPr lang="en-US" altLang="zh-CN" sz="2600" i="1" baseline="30000" smtClean="0">
                <a:sym typeface="Symbol" pitchFamily="18" charset="2"/>
              </a:rPr>
              <a:t>k</a:t>
            </a:r>
            <a:r>
              <a:rPr lang="en-US" altLang="zh-CN" sz="2600" baseline="30000" smtClean="0">
                <a:sym typeface="Symbol" pitchFamily="18" charset="2"/>
              </a:rPr>
              <a:t>)</a:t>
            </a:r>
            <a:r>
              <a:rPr lang="en-US" altLang="zh-CN" sz="2600" smtClean="0">
                <a:sym typeface="Symbol" pitchFamily="18" charset="2"/>
              </a:rPr>
              <a:t> =0</a:t>
            </a:r>
            <a:r>
              <a:rPr lang="zh-CN" altLang="en-US" sz="2600" smtClean="0">
                <a:sym typeface="Symbol" pitchFamily="18" charset="2"/>
              </a:rPr>
              <a:t>，则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600" smtClean="0">
                <a:sym typeface="Symbol" pitchFamily="18" charset="2"/>
              </a:rPr>
              <a:t>             可交换行列后再进行消元。</a:t>
            </a:r>
            <a:endParaRPr lang="zh-CN" altLang="en-US" sz="2600" smtClean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7DCDC0F-0CED-4B0B-8C55-226215C4597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1117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smtClean="0">
                <a:solidFill>
                  <a:srgbClr val="FF0000"/>
                </a:solidFill>
              </a:rPr>
              <a:t>四</a:t>
            </a:r>
            <a:r>
              <a:rPr lang="en-US" altLang="zh-CN" sz="2800" smtClean="0">
                <a:solidFill>
                  <a:srgbClr val="FF0000"/>
                </a:solidFill>
              </a:rPr>
              <a:t>. </a:t>
            </a:r>
            <a:r>
              <a:rPr lang="en-US" altLang="zh-CN" sz="2800" i="1" smtClean="0">
                <a:solidFill>
                  <a:srgbClr val="FF0000"/>
                </a:solidFill>
              </a:rPr>
              <a:t>Gauss</a:t>
            </a:r>
            <a:r>
              <a:rPr lang="zh-CN" altLang="en-US" sz="2800" smtClean="0">
                <a:solidFill>
                  <a:srgbClr val="FF0000"/>
                </a:solidFill>
              </a:rPr>
              <a:t>消去法计算量</a:t>
            </a:r>
          </a:p>
        </p:txBody>
      </p:sp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611188" y="1450975"/>
          <a:ext cx="8353425" cy="485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公式" r:id="rId3" imgW="4826000" imgH="2806700" progId="Equation.3">
                  <p:embed/>
                </p:oleObj>
              </mc:Choice>
              <mc:Fallback>
                <p:oleObj name="公式" r:id="rId3" imgW="4826000" imgH="2806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50975"/>
                        <a:ext cx="8353425" cy="485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Line 5"/>
          <p:cNvSpPr>
            <a:spLocks noChangeShapeType="1"/>
          </p:cNvSpPr>
          <p:nvPr/>
        </p:nvSpPr>
        <p:spPr bwMode="auto">
          <a:xfrm>
            <a:off x="6875463" y="3932238"/>
            <a:ext cx="20161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AutoShape 6"/>
          <p:cNvSpPr>
            <a:spLocks/>
          </p:cNvSpPr>
          <p:nvPr/>
        </p:nvSpPr>
        <p:spPr bwMode="auto">
          <a:xfrm>
            <a:off x="7380288" y="4565650"/>
            <a:ext cx="1150937" cy="474663"/>
          </a:xfrm>
          <a:prstGeom prst="borderCallout2">
            <a:avLst>
              <a:gd name="adj1" fmla="val 24079"/>
              <a:gd name="adj2" fmla="val -6620"/>
              <a:gd name="adj3" fmla="val 24079"/>
              <a:gd name="adj4" fmla="val -80412"/>
              <a:gd name="adj5" fmla="val -275921"/>
              <a:gd name="adj6" fmla="val -455722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2400" u="none">
                <a:latin typeface="Times New Roman" pitchFamily="18" charset="0"/>
              </a:rPr>
              <a:t>(</a:t>
            </a:r>
            <a:r>
              <a:rPr lang="en-US" altLang="zh-CN" sz="2400" i="1" u="none">
                <a:latin typeface="Times New Roman" pitchFamily="18" charset="0"/>
              </a:rPr>
              <a:t>n</a:t>
            </a:r>
            <a:r>
              <a:rPr lang="en-US" altLang="zh-CN" sz="2400" u="none">
                <a:latin typeface="Times New Roman" pitchFamily="18" charset="0"/>
              </a:rPr>
              <a:t>-</a:t>
            </a:r>
            <a:r>
              <a:rPr lang="en-US" altLang="zh-CN" sz="2400" i="1" u="none">
                <a:latin typeface="Times New Roman" pitchFamily="18" charset="0"/>
              </a:rPr>
              <a:t>k</a:t>
            </a:r>
            <a:r>
              <a:rPr lang="en-US" altLang="zh-CN" sz="2400" u="none">
                <a:latin typeface="Times New Roman" pitchFamily="18" charset="0"/>
              </a:rPr>
              <a:t>)</a:t>
            </a:r>
          </a:p>
        </p:txBody>
      </p:sp>
      <p:sp>
        <p:nvSpPr>
          <p:cNvPr id="26632" name="AutoShape 7"/>
          <p:cNvSpPr>
            <a:spLocks/>
          </p:cNvSpPr>
          <p:nvPr/>
        </p:nvSpPr>
        <p:spPr bwMode="auto">
          <a:xfrm>
            <a:off x="5795963" y="4868863"/>
            <a:ext cx="1150937" cy="474662"/>
          </a:xfrm>
          <a:prstGeom prst="borderCallout2">
            <a:avLst>
              <a:gd name="adj1" fmla="val 24079"/>
              <a:gd name="adj2" fmla="val -6620"/>
              <a:gd name="adj3" fmla="val 24079"/>
              <a:gd name="adj4" fmla="val -41931"/>
              <a:gd name="adj5" fmla="val -356856"/>
              <a:gd name="adj6" fmla="val -161241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2400" u="none">
                <a:latin typeface="Times New Roman" pitchFamily="18" charset="0"/>
              </a:rPr>
              <a:t>(</a:t>
            </a:r>
            <a:r>
              <a:rPr lang="en-US" altLang="zh-CN" sz="2400" i="1" u="none">
                <a:latin typeface="Times New Roman" pitchFamily="18" charset="0"/>
              </a:rPr>
              <a:t>n</a:t>
            </a:r>
            <a:r>
              <a:rPr lang="en-US" altLang="zh-CN" sz="2400" u="none">
                <a:latin typeface="Times New Roman" pitchFamily="18" charset="0"/>
              </a:rPr>
              <a:t>-</a:t>
            </a:r>
            <a:r>
              <a:rPr lang="en-US" altLang="zh-CN" sz="2400" i="1" u="none">
                <a:latin typeface="Times New Roman" pitchFamily="18" charset="0"/>
              </a:rPr>
              <a:t>k</a:t>
            </a:r>
            <a:r>
              <a:rPr lang="en-US" altLang="zh-CN" sz="2400" u="none">
                <a:latin typeface="Times New Roman" pitchFamily="18" charset="0"/>
              </a:rPr>
              <a:t>)</a:t>
            </a:r>
            <a:r>
              <a:rPr lang="en-US" altLang="zh-CN" sz="2400" u="none" baseline="30000">
                <a:latin typeface="Times New Roman" pitchFamily="18" charset="0"/>
              </a:rPr>
              <a:t>2</a:t>
            </a:r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 flipH="1" flipV="1">
            <a:off x="5940425" y="3213100"/>
            <a:ext cx="503238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5C2A11EA-3266-4940-9AAB-CBC3C8FB466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graphicFrame>
        <p:nvGraphicFramePr>
          <p:cNvPr id="27652" name="Object 3"/>
          <p:cNvGraphicFramePr>
            <a:graphicFrameLocks noChangeAspect="1"/>
          </p:cNvGraphicFramePr>
          <p:nvPr>
            <p:ph idx="1"/>
          </p:nvPr>
        </p:nvGraphicFramePr>
        <p:xfrm>
          <a:off x="611188" y="1341438"/>
          <a:ext cx="7777162" cy="426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公式" r:id="rId3" imgW="3543300" imgH="2057400" progId="Equation.3">
                  <p:embed/>
                </p:oleObj>
              </mc:Choice>
              <mc:Fallback>
                <p:oleObj name="公式" r:id="rId3" imgW="3543300" imgH="2057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341438"/>
                        <a:ext cx="7777162" cy="426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187450" y="2546350"/>
            <a:ext cx="647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i="1" u="none" dirty="0">
                <a:latin typeface="+mn-lt"/>
              </a:rPr>
              <a:t>n </a:t>
            </a:r>
            <a:r>
              <a:rPr lang="en-US" altLang="zh-CN" sz="2400" u="none" dirty="0">
                <a:latin typeface="+mn-lt"/>
              </a:rPr>
              <a:t>+</a:t>
            </a:r>
            <a:endParaRPr lang="zh-CN" altLang="en-US" sz="2400" u="none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6CC7ABA1-269E-461B-8067-1745FA1DE11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28675" name="Object 2"/>
          <p:cNvGraphicFramePr>
            <a:graphicFrameLocks noChangeAspect="1"/>
          </p:cNvGraphicFramePr>
          <p:nvPr/>
        </p:nvGraphicFramePr>
        <p:xfrm>
          <a:off x="611188" y="1123950"/>
          <a:ext cx="8066087" cy="51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公式" r:id="rId3" imgW="4051300" imgH="2616200" progId="Equation.3">
                  <p:embed/>
                </p:oleObj>
              </mc:Choice>
              <mc:Fallback>
                <p:oleObj name="公式" r:id="rId3" imgW="4051300" imgH="2616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3950"/>
                        <a:ext cx="8066087" cy="513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§3.1.1 </a:t>
            </a:r>
            <a:r>
              <a:rPr lang="zh-CN" altLang="en-US" smtClean="0"/>
              <a:t>顺序高斯消去法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95288" y="3068638"/>
            <a:ext cx="8291512" cy="31861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C36938F-5572-4EFA-89E9-3716536269A5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  </a:t>
            </a:r>
            <a:r>
              <a:rPr lang="zh-CN" altLang="en-US" smtClean="0"/>
              <a:t>高斯消去法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mtClean="0">
                <a:solidFill>
                  <a:schemeClr val="accent1"/>
                </a:solidFill>
              </a:rPr>
              <a:t>§3.1.2  </a:t>
            </a:r>
            <a:r>
              <a:rPr lang="zh-CN" altLang="en-US" smtClean="0">
                <a:solidFill>
                  <a:schemeClr val="accent1"/>
                </a:solidFill>
              </a:rPr>
              <a:t>列主元高斯消去法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smtClean="0">
                <a:hlinkClick r:id="rId2" action="ppaction://hlinksldjump"/>
              </a:rPr>
              <a:t>一</a:t>
            </a:r>
            <a:r>
              <a:rPr lang="en-US" altLang="zh-CN" smtClean="0">
                <a:hlinkClick r:id="rId2" action="ppaction://hlinksldjump"/>
              </a:rPr>
              <a:t>. </a:t>
            </a:r>
            <a:r>
              <a:rPr lang="zh-CN" altLang="en-US" smtClean="0">
                <a:hlinkClick r:id="rId2" action="ppaction://hlinksldjump"/>
              </a:rPr>
              <a:t>问题提出</a:t>
            </a:r>
            <a:endParaRPr lang="zh-CN" altLang="en-US" smtClean="0"/>
          </a:p>
          <a:p>
            <a:pPr lvl="1" eaLnBrk="1" hangingPunct="1">
              <a:spcBef>
                <a:spcPct val="50000"/>
              </a:spcBef>
            </a:pPr>
            <a:r>
              <a:rPr lang="zh-CN" altLang="en-US" smtClean="0">
                <a:hlinkClick r:id="rId3" action="ppaction://hlinksldjump"/>
              </a:rPr>
              <a:t>二</a:t>
            </a:r>
            <a:r>
              <a:rPr lang="en-US" altLang="zh-CN" smtClean="0">
                <a:hlinkClick r:id="rId3" action="ppaction://hlinksldjump"/>
              </a:rPr>
              <a:t>. </a:t>
            </a:r>
            <a:r>
              <a:rPr lang="zh-CN" altLang="en-US" smtClean="0">
                <a:hlinkClick r:id="rId3" action="ppaction://hlinksldjump"/>
              </a:rPr>
              <a:t>选主元素消去法</a:t>
            </a:r>
            <a:endParaRPr lang="zh-CN" altLang="en-US" smtClean="0"/>
          </a:p>
          <a:p>
            <a:pPr lvl="1" eaLnBrk="1" hangingPunct="1">
              <a:spcBef>
                <a:spcPct val="50000"/>
              </a:spcBef>
            </a:pPr>
            <a:r>
              <a:rPr lang="zh-CN" altLang="en-US" smtClean="0">
                <a:hlinkClick r:id="rId4" action="ppaction://hlinksldjump"/>
              </a:rPr>
              <a:t>三</a:t>
            </a:r>
            <a:r>
              <a:rPr lang="en-US" altLang="zh-CN" smtClean="0">
                <a:hlinkClick r:id="rId4" action="ppaction://hlinksldjump"/>
              </a:rPr>
              <a:t>. </a:t>
            </a:r>
            <a:r>
              <a:rPr lang="zh-CN" altLang="en-US" smtClean="0">
                <a:hlinkClick r:id="" action="ppaction://noaction"/>
              </a:rPr>
              <a:t>高斯</a:t>
            </a:r>
            <a:r>
              <a:rPr lang="en-US" altLang="zh-CN" smtClean="0">
                <a:hlinkClick r:id="" action="ppaction://noaction"/>
              </a:rPr>
              <a:t>-</a:t>
            </a:r>
            <a:r>
              <a:rPr lang="zh-CN" altLang="en-US" smtClean="0">
                <a:hlinkClick r:id="" action="ppaction://noaction"/>
              </a:rPr>
              <a:t>约当消去法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4ADF09D-67C0-4808-AA78-40BB3C8937B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</a:t>
            </a:r>
            <a:r>
              <a:rPr lang="en-US" altLang="zh-CN" smtClean="0"/>
              <a:t>. </a:t>
            </a:r>
            <a:r>
              <a:rPr lang="zh-CN" altLang="en-US" smtClean="0"/>
              <a:t>问题提出</a:t>
            </a:r>
          </a:p>
        </p:txBody>
      </p:sp>
      <p:graphicFrame>
        <p:nvGraphicFramePr>
          <p:cNvPr id="30724" name="Object 3"/>
          <p:cNvGraphicFramePr>
            <a:graphicFrameLocks noChangeAspect="1"/>
          </p:cNvGraphicFramePr>
          <p:nvPr/>
        </p:nvGraphicFramePr>
        <p:xfrm>
          <a:off x="828675" y="1879600"/>
          <a:ext cx="7848600" cy="414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公式" r:id="rId3" imgW="3644900" imgH="1917700" progId="Equation.3">
                  <p:embed/>
                </p:oleObj>
              </mc:Choice>
              <mc:Fallback>
                <p:oleObj name="公式" r:id="rId3" imgW="3644900" imgH="1917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879600"/>
                        <a:ext cx="7848600" cy="414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  <p:sp>
        <p:nvSpPr>
          <p:cNvPr id="30726" name="Line 5"/>
          <p:cNvSpPr>
            <a:spLocks noChangeShapeType="1"/>
          </p:cNvSpPr>
          <p:nvPr/>
        </p:nvSpPr>
        <p:spPr bwMode="auto">
          <a:xfrm>
            <a:off x="6156325" y="4437063"/>
            <a:ext cx="23764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7" name="Line 6"/>
          <p:cNvSpPr>
            <a:spLocks noChangeShapeType="1"/>
          </p:cNvSpPr>
          <p:nvPr/>
        </p:nvSpPr>
        <p:spPr bwMode="auto">
          <a:xfrm>
            <a:off x="1547813" y="4941888"/>
            <a:ext cx="3384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Line 7"/>
          <p:cNvSpPr>
            <a:spLocks noChangeShapeType="1"/>
          </p:cNvSpPr>
          <p:nvPr/>
        </p:nvSpPr>
        <p:spPr bwMode="auto">
          <a:xfrm>
            <a:off x="827088" y="5445125"/>
            <a:ext cx="12239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9" name="Line 8"/>
          <p:cNvSpPr>
            <a:spLocks noChangeShapeType="1"/>
          </p:cNvSpPr>
          <p:nvPr/>
        </p:nvSpPr>
        <p:spPr bwMode="auto">
          <a:xfrm>
            <a:off x="8243888" y="4941888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4D94FA3-528D-45C6-876B-09B41F8B732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  <p:grpSp>
        <p:nvGrpSpPr>
          <p:cNvPr id="31748" name="Group 3"/>
          <p:cNvGrpSpPr>
            <a:grpSpLocks/>
          </p:cNvGrpSpPr>
          <p:nvPr/>
        </p:nvGrpSpPr>
        <p:grpSpPr bwMode="auto">
          <a:xfrm>
            <a:off x="611188" y="1123950"/>
            <a:ext cx="5616575" cy="812800"/>
            <a:chOff x="240" y="391"/>
            <a:chExt cx="3538" cy="512"/>
          </a:xfrm>
        </p:grpSpPr>
        <p:sp>
          <p:nvSpPr>
            <p:cNvPr id="31769" name="Text Box 4"/>
            <p:cNvSpPr txBox="1">
              <a:spLocks noChangeArrowheads="1"/>
            </p:cNvSpPr>
            <p:nvPr/>
          </p:nvSpPr>
          <p:spPr bwMode="auto">
            <a:xfrm>
              <a:off x="240" y="491"/>
              <a:ext cx="196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kumimoji="1" lang="zh-CN" altLang="en-US" sz="2400" u="none">
                  <a:latin typeface="Times New Roman" pitchFamily="18" charset="0"/>
                  <a:ea typeface="楷体_GB2312" pitchFamily="49" charset="-122"/>
                </a:rPr>
                <a:t>例</a:t>
              </a:r>
              <a:r>
                <a:rPr kumimoji="1" lang="en-US" altLang="zh-CN" sz="2400" u="none">
                  <a:latin typeface="Times New Roman" pitchFamily="18" charset="0"/>
                  <a:ea typeface="楷体_GB2312" pitchFamily="49" charset="-122"/>
                </a:rPr>
                <a:t>1</a:t>
              </a:r>
              <a:r>
                <a:rPr kumimoji="1" lang="zh-CN" altLang="en-US" sz="2400" u="none">
                  <a:latin typeface="Times New Roman" pitchFamily="18" charset="0"/>
                  <a:ea typeface="楷体_GB2312" pitchFamily="49" charset="-122"/>
                </a:rPr>
                <a:t>：单精度解方程组</a:t>
              </a:r>
            </a:p>
          </p:txBody>
        </p:sp>
        <p:graphicFrame>
          <p:nvGraphicFramePr>
            <p:cNvPr id="31770" name="Object 5"/>
            <p:cNvGraphicFramePr>
              <a:graphicFrameLocks noChangeAspect="1"/>
            </p:cNvGraphicFramePr>
            <p:nvPr/>
          </p:nvGraphicFramePr>
          <p:xfrm>
            <a:off x="2200" y="391"/>
            <a:ext cx="1578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1" name="公式" r:id="rId3" imgW="1524000" imgH="495300" progId="Equation.3">
                    <p:embed/>
                  </p:oleObj>
                </mc:Choice>
                <mc:Fallback>
                  <p:oleObj name="公式" r:id="rId3" imgW="1524000" imgH="495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391"/>
                          <a:ext cx="1578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684213" y="2276475"/>
            <a:ext cx="62071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400" u="none">
                <a:solidFill>
                  <a:srgbClr val="008000"/>
                </a:solidFill>
                <a:latin typeface="Times New Roman" pitchFamily="18" charset="0"/>
                <a:ea typeface="楷体_GB2312" pitchFamily="49" charset="-122"/>
              </a:rPr>
              <a:t>精确解为                                           和</a:t>
            </a:r>
          </a:p>
        </p:txBody>
      </p:sp>
      <p:grpSp>
        <p:nvGrpSpPr>
          <p:cNvPr id="31750" name="Group 7"/>
          <p:cNvGrpSpPr>
            <a:grpSpLocks/>
          </p:cNvGrpSpPr>
          <p:nvPr/>
        </p:nvGrpSpPr>
        <p:grpSpPr bwMode="auto">
          <a:xfrm>
            <a:off x="1979613" y="1916113"/>
            <a:ext cx="2994025" cy="876300"/>
            <a:chOff x="1296" y="923"/>
            <a:chExt cx="1886" cy="552"/>
          </a:xfrm>
        </p:grpSpPr>
        <p:graphicFrame>
          <p:nvGraphicFramePr>
            <p:cNvPr id="31767" name="Object 8"/>
            <p:cNvGraphicFramePr>
              <a:graphicFrameLocks noChangeAspect="1"/>
            </p:cNvGraphicFramePr>
            <p:nvPr/>
          </p:nvGraphicFramePr>
          <p:xfrm>
            <a:off x="1296" y="971"/>
            <a:ext cx="188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2" name="公式" r:id="rId5" imgW="1803400" imgH="482600" progId="Equation.3">
                    <p:embed/>
                  </p:oleObj>
                </mc:Choice>
                <mc:Fallback>
                  <p:oleObj name="公式" r:id="rId5" imgW="1803400" imgH="482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971"/>
                          <a:ext cx="188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8" name="Text Box 9"/>
            <p:cNvSpPr txBox="1">
              <a:spLocks noChangeArrowheads="1"/>
            </p:cNvSpPr>
            <p:nvPr/>
          </p:nvSpPr>
          <p:spPr bwMode="auto">
            <a:xfrm>
              <a:off x="2462" y="923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600" u="none">
                  <a:solidFill>
                    <a:srgbClr val="008000"/>
                  </a:solidFill>
                  <a:latin typeface="Times New Roman" pitchFamily="18" charset="0"/>
                  <a:ea typeface="楷体_GB2312" pitchFamily="49" charset="-122"/>
                </a:rPr>
                <a:t>8</a:t>
              </a:r>
              <a:r>
                <a:rPr kumimoji="1" lang="zh-CN" altLang="en-US" sz="1600" u="none">
                  <a:solidFill>
                    <a:srgbClr val="008000"/>
                  </a:solidFill>
                  <a:latin typeface="Times New Roman" pitchFamily="18" charset="0"/>
                  <a:ea typeface="楷体_GB2312" pitchFamily="49" charset="-122"/>
                </a:rPr>
                <a:t>个</a:t>
              </a:r>
            </a:p>
          </p:txBody>
        </p:sp>
      </p:grpSp>
      <p:grpSp>
        <p:nvGrpSpPr>
          <p:cNvPr id="31751" name="Group 10"/>
          <p:cNvGrpSpPr>
            <a:grpSpLocks/>
          </p:cNvGrpSpPr>
          <p:nvPr/>
        </p:nvGrpSpPr>
        <p:grpSpPr bwMode="auto">
          <a:xfrm>
            <a:off x="5724525" y="1916113"/>
            <a:ext cx="2873375" cy="741362"/>
            <a:chOff x="3424" y="933"/>
            <a:chExt cx="1810" cy="467"/>
          </a:xfrm>
        </p:grpSpPr>
        <p:graphicFrame>
          <p:nvGraphicFramePr>
            <p:cNvPr id="31765" name="Object 11"/>
            <p:cNvGraphicFramePr>
              <a:graphicFrameLocks noChangeAspect="1"/>
            </p:cNvGraphicFramePr>
            <p:nvPr/>
          </p:nvGraphicFramePr>
          <p:xfrm>
            <a:off x="3424" y="981"/>
            <a:ext cx="181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3" name="公式" r:id="rId7" imgW="1701800" imgH="393700" progId="Equation.3">
                    <p:embed/>
                  </p:oleObj>
                </mc:Choice>
                <mc:Fallback>
                  <p:oleObj name="公式" r:id="rId7" imgW="1701800" imgH="3937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981"/>
                          <a:ext cx="1810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6" name="Text Box 12"/>
            <p:cNvSpPr txBox="1">
              <a:spLocks noChangeArrowheads="1"/>
            </p:cNvSpPr>
            <p:nvPr/>
          </p:nvSpPr>
          <p:spPr bwMode="auto">
            <a:xfrm>
              <a:off x="4486" y="933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u="sng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600" u="none">
                  <a:solidFill>
                    <a:srgbClr val="008000"/>
                  </a:solidFill>
                  <a:latin typeface="Times New Roman" pitchFamily="18" charset="0"/>
                  <a:ea typeface="楷体_GB2312" pitchFamily="49" charset="-122"/>
                </a:rPr>
                <a:t>8</a:t>
              </a:r>
              <a:r>
                <a:rPr kumimoji="1" lang="zh-CN" altLang="en-US" sz="1600" u="none">
                  <a:solidFill>
                    <a:srgbClr val="008000"/>
                  </a:solidFill>
                  <a:latin typeface="Times New Roman" pitchFamily="18" charset="0"/>
                  <a:ea typeface="楷体_GB2312" pitchFamily="49" charset="-122"/>
                </a:rPr>
                <a:t>个</a:t>
              </a:r>
            </a:p>
          </p:txBody>
        </p:sp>
      </p:grpSp>
      <p:sp>
        <p:nvSpPr>
          <p:cNvPr id="31752" name="Text Box 13"/>
          <p:cNvSpPr txBox="1">
            <a:spLocks noChangeArrowheads="1"/>
          </p:cNvSpPr>
          <p:nvPr/>
        </p:nvSpPr>
        <p:spPr bwMode="auto">
          <a:xfrm>
            <a:off x="1403350" y="2852738"/>
            <a:ext cx="44704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用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消去法计算：</a:t>
            </a:r>
          </a:p>
        </p:txBody>
      </p:sp>
      <p:grpSp>
        <p:nvGrpSpPr>
          <p:cNvPr id="31753" name="Group 14"/>
          <p:cNvGrpSpPr>
            <a:grpSpLocks/>
          </p:cNvGrpSpPr>
          <p:nvPr/>
        </p:nvGrpSpPr>
        <p:grpSpPr bwMode="auto">
          <a:xfrm>
            <a:off x="1582738" y="3360738"/>
            <a:ext cx="4673600" cy="1316037"/>
            <a:chOff x="520" y="2064"/>
            <a:chExt cx="2944" cy="829"/>
          </a:xfrm>
        </p:grpSpPr>
        <p:graphicFrame>
          <p:nvGraphicFramePr>
            <p:cNvPr id="31760" name="Object 15"/>
            <p:cNvGraphicFramePr>
              <a:graphicFrameLocks noChangeAspect="1"/>
            </p:cNvGraphicFramePr>
            <p:nvPr/>
          </p:nvGraphicFramePr>
          <p:xfrm>
            <a:off x="528" y="2064"/>
            <a:ext cx="140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" name="公式" r:id="rId9" imgW="1231366" imgH="228501" progId="Equation.3">
                    <p:embed/>
                  </p:oleObj>
                </mc:Choice>
                <mc:Fallback>
                  <p:oleObj name="公式" r:id="rId9" imgW="1231366" imgH="22850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064"/>
                          <a:ext cx="140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61" name="Group 16"/>
            <p:cNvGrpSpPr>
              <a:grpSpLocks/>
            </p:cNvGrpSpPr>
            <p:nvPr/>
          </p:nvGrpSpPr>
          <p:grpSpPr bwMode="auto">
            <a:xfrm>
              <a:off x="521" y="2160"/>
              <a:ext cx="2943" cy="455"/>
              <a:chOff x="808" y="2736"/>
              <a:chExt cx="2943" cy="455"/>
            </a:xfrm>
          </p:grpSpPr>
          <p:graphicFrame>
            <p:nvGraphicFramePr>
              <p:cNvPr id="31763" name="Object 17"/>
              <p:cNvGraphicFramePr>
                <a:graphicFrameLocks noChangeAspect="1"/>
              </p:cNvGraphicFramePr>
              <p:nvPr/>
            </p:nvGraphicFramePr>
            <p:xfrm>
              <a:off x="808" y="2784"/>
              <a:ext cx="2943" cy="4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75" name="公式" r:id="rId11" imgW="2755900" imgH="381000" progId="Equation.3">
                      <p:embed/>
                    </p:oleObj>
                  </mc:Choice>
                  <mc:Fallback>
                    <p:oleObj name="公式" r:id="rId11" imgW="2755900" imgH="3810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8" y="2784"/>
                            <a:ext cx="2943" cy="4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64" name="Text Box 18"/>
              <p:cNvSpPr txBox="1">
                <a:spLocks noChangeArrowheads="1"/>
              </p:cNvSpPr>
              <p:nvPr/>
            </p:nvSpPr>
            <p:spPr bwMode="auto">
              <a:xfrm>
                <a:off x="2160" y="2736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1pPr>
                <a:lvl2pPr marL="742950" indent="-285750"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2pPr>
                <a:lvl3pPr marL="1143000" indent="-228600"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3pPr>
                <a:lvl4pPr marL="1600200" indent="-228600"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4pPr>
                <a:lvl5pPr marL="2057400" indent="-228600"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u="sng">
                    <a:solidFill>
                      <a:schemeClr val="tx1"/>
                    </a:solidFill>
                    <a:latin typeface="Arial" charset="0"/>
                    <a:ea typeface="黑体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1600" u="none">
                    <a:latin typeface="Times New Roman" pitchFamily="18" charset="0"/>
                    <a:ea typeface="宋体" pitchFamily="2" charset="-122"/>
                  </a:rPr>
                  <a:t>8</a:t>
                </a:r>
                <a:r>
                  <a:rPr kumimoji="1" lang="zh-CN" altLang="en-US" sz="1600" u="none">
                    <a:latin typeface="楷体_GB2312" pitchFamily="49" charset="-122"/>
                    <a:ea typeface="楷体_GB2312" pitchFamily="49" charset="-122"/>
                  </a:rPr>
                  <a:t>个</a:t>
                </a:r>
                <a:endParaRPr kumimoji="1" lang="zh-CN" altLang="en-US" sz="1600" u="none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aphicFrame>
          <p:nvGraphicFramePr>
            <p:cNvPr id="31762" name="Object 19"/>
            <p:cNvGraphicFramePr>
              <a:graphicFrameLocks noChangeAspect="1"/>
            </p:cNvGraphicFramePr>
            <p:nvPr/>
          </p:nvGraphicFramePr>
          <p:xfrm>
            <a:off x="520" y="2640"/>
            <a:ext cx="1926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6" name="公式" r:id="rId13" imgW="1409700" imgH="228600" progId="Equation.3">
                    <p:embed/>
                  </p:oleObj>
                </mc:Choice>
                <mc:Fallback>
                  <p:oleObj name="公式" r:id="rId13" imgW="140970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" y="2640"/>
                          <a:ext cx="1926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4" name="Object 20"/>
          <p:cNvGraphicFramePr>
            <a:graphicFrameLocks noChangeAspect="1"/>
          </p:cNvGraphicFramePr>
          <p:nvPr/>
        </p:nvGraphicFramePr>
        <p:xfrm>
          <a:off x="1585913" y="4881563"/>
          <a:ext cx="27463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公式" r:id="rId15" imgW="1562100" imgH="482600" progId="Equation.3">
                  <p:embed/>
                </p:oleObj>
              </mc:Choice>
              <mc:Fallback>
                <p:oleObj name="公式" r:id="rId15" imgW="1562100" imgH="482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4881563"/>
                        <a:ext cx="27463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21"/>
          <p:cNvGraphicFramePr>
            <a:graphicFrameLocks noChangeAspect="1"/>
          </p:cNvGraphicFramePr>
          <p:nvPr/>
        </p:nvGraphicFramePr>
        <p:xfrm>
          <a:off x="1584325" y="5883275"/>
          <a:ext cx="23209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8" name="公式" r:id="rId17" imgW="1320227" imgH="215806" progId="Equation.3">
                  <p:embed/>
                </p:oleObj>
              </mc:Choice>
              <mc:Fallback>
                <p:oleObj name="公式" r:id="rId17" imgW="1320227" imgH="21580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883275"/>
                        <a:ext cx="23209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Oval 22"/>
          <p:cNvSpPr>
            <a:spLocks noChangeArrowheads="1"/>
          </p:cNvSpPr>
          <p:nvPr/>
        </p:nvSpPr>
        <p:spPr bwMode="auto">
          <a:xfrm>
            <a:off x="3576638" y="5883275"/>
            <a:ext cx="3810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1757" name="Oval 23"/>
          <p:cNvSpPr>
            <a:spLocks noChangeArrowheads="1"/>
          </p:cNvSpPr>
          <p:nvPr/>
        </p:nvSpPr>
        <p:spPr bwMode="auto">
          <a:xfrm>
            <a:off x="3348038" y="3284538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1758" name="Oval 24"/>
          <p:cNvSpPr>
            <a:spLocks noChangeArrowheads="1"/>
          </p:cNvSpPr>
          <p:nvPr/>
        </p:nvSpPr>
        <p:spPr bwMode="auto">
          <a:xfrm>
            <a:off x="2017713" y="4810125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1759" name="AutoShape 25"/>
          <p:cNvSpPr>
            <a:spLocks noChangeArrowheads="1"/>
          </p:cNvSpPr>
          <p:nvPr/>
        </p:nvSpPr>
        <p:spPr bwMode="auto">
          <a:xfrm>
            <a:off x="5186363" y="5097463"/>
            <a:ext cx="3384550" cy="1079500"/>
          </a:xfrm>
          <a:prstGeom prst="wedgeEllipseCallout">
            <a:avLst>
              <a:gd name="adj1" fmla="val -131190"/>
              <a:gd name="adj2" fmla="val -45884"/>
            </a:avLst>
          </a:prstGeom>
          <a:gradFill rotWithShape="0">
            <a:gsLst>
              <a:gs pos="0">
                <a:srgbClr val="C0C0C0">
                  <a:alpha val="0"/>
                </a:srgb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 eaLnBrk="1" hangingPunct="1">
              <a:lnSpc>
                <a:spcPct val="90000"/>
              </a:lnSpc>
            </a:pPr>
            <a:r>
              <a:rPr kumimoji="1" lang="zh-CN" altLang="en-US" sz="2000" u="none">
                <a:latin typeface="Times New Roman" pitchFamily="18" charset="0"/>
                <a:ea typeface="楷体_GB2312" pitchFamily="49" charset="-122"/>
              </a:rPr>
              <a:t>小主元</a:t>
            </a:r>
          </a:p>
          <a:p>
            <a:pPr algn="ctr" eaLnBrk="1" hangingPunct="1">
              <a:lnSpc>
                <a:spcPct val="90000"/>
              </a:lnSpc>
            </a:pPr>
            <a:r>
              <a:rPr kumimoji="1" lang="zh-CN" altLang="en-US" sz="1600" u="none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1600" u="none">
                <a:solidFill>
                  <a:srgbClr val="008000"/>
                </a:solidFill>
                <a:ea typeface="楷体_GB2312" pitchFamily="49" charset="-122"/>
              </a:rPr>
              <a:t>/* Small pivot element */</a:t>
            </a:r>
            <a:r>
              <a:rPr kumimoji="1" lang="en-US" altLang="zh-CN" sz="1600" u="none"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 algn="ctr" eaLnBrk="1" hangingPunct="1">
              <a:lnSpc>
                <a:spcPct val="90000"/>
              </a:lnSpc>
            </a:pPr>
            <a:r>
              <a:rPr kumimoji="1" lang="zh-CN" altLang="en-US" sz="2000" u="none">
                <a:latin typeface="Times New Roman" pitchFamily="18" charset="0"/>
                <a:ea typeface="楷体_GB2312" pitchFamily="49" charset="-122"/>
              </a:rPr>
              <a:t>可能导致计算失败。</a:t>
            </a:r>
            <a:endParaRPr kumimoji="1" lang="zh-CN" altLang="en-US" sz="2000" u="none"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8BB7E05-C052-4162-A515-AF796906E9DC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/>
              <a:t>    </a:t>
            </a:r>
            <a:r>
              <a:rPr lang="zh-CN" altLang="en-US" sz="2800" smtClean="0"/>
              <a:t>例</a:t>
            </a:r>
            <a:r>
              <a:rPr lang="en-US" altLang="zh-CN" sz="2800" smtClean="0"/>
              <a:t>2</a:t>
            </a:r>
            <a:r>
              <a:rPr lang="zh-CN" altLang="en-US" sz="2800" smtClean="0"/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smtClean="0"/>
              <a:t>     解线性方程组</a:t>
            </a:r>
            <a:r>
              <a:rPr kumimoji="1" lang="zh-CN" altLang="en-US" sz="2800" smtClean="0"/>
              <a:t>（用</a:t>
            </a:r>
            <a:r>
              <a:rPr kumimoji="1" lang="en-US" altLang="zh-CN" sz="2800" smtClean="0">
                <a:solidFill>
                  <a:schemeClr val="accent1"/>
                </a:solidFill>
              </a:rPr>
              <a:t>4</a:t>
            </a:r>
            <a:r>
              <a:rPr kumimoji="1" lang="zh-CN" altLang="en-US" sz="2800" smtClean="0">
                <a:solidFill>
                  <a:schemeClr val="accent1"/>
                </a:solidFill>
              </a:rPr>
              <a:t>位十进制</a:t>
            </a:r>
            <a:r>
              <a:rPr kumimoji="1" lang="zh-CN" altLang="en-US" sz="2800" smtClean="0"/>
              <a:t>浮点计算）</a:t>
            </a:r>
          </a:p>
        </p:txBody>
      </p:sp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1979613" y="2636838"/>
          <a:ext cx="396081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公式" r:id="rId3" imgW="1816100" imgH="482600" progId="Equation.3">
                  <p:embed/>
                </p:oleObj>
              </mc:Choice>
              <mc:Fallback>
                <p:oleObj name="公式" r:id="rId3" imgW="18161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636838"/>
                        <a:ext cx="3960812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5"/>
          <p:cNvSpPr txBox="1">
            <a:spLocks noChangeArrowheads="1"/>
          </p:cNvSpPr>
          <p:nvPr/>
        </p:nvSpPr>
        <p:spPr bwMode="auto">
          <a:xfrm>
            <a:off x="900113" y="4292600"/>
            <a:ext cx="7273925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用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Cramer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法则可得精度较高的解（精确解）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           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u="none" baseline="30000">
                <a:latin typeface="Times New Roman" pitchFamily="18" charset="0"/>
                <a:ea typeface="楷体_GB2312" pitchFamily="49" charset="-122"/>
              </a:rPr>
              <a:t>* 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= 1.00010</a:t>
            </a:r>
            <a:r>
              <a:rPr kumimoji="1" lang="zh-CN" altLang="en-US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u="none" baseline="30000">
                <a:latin typeface="Times New Roman" pitchFamily="18" charset="0"/>
                <a:ea typeface="楷体_GB2312" pitchFamily="49" charset="-122"/>
              </a:rPr>
              <a:t>* </a:t>
            </a:r>
            <a:r>
              <a:rPr kumimoji="1" lang="en-US" altLang="zh-CN" u="none">
                <a:latin typeface="Times New Roman" pitchFamily="18" charset="0"/>
                <a:ea typeface="楷体_GB2312" pitchFamily="49" charset="-122"/>
              </a:rPr>
              <a:t>= 0.99990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0D390D9D-7BC6-435E-8365-D9F2AAE1881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395288" y="1196975"/>
            <a:ext cx="8243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解  用顺序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消元得</a:t>
            </a:r>
          </a:p>
        </p:txBody>
      </p:sp>
      <p:graphicFrame>
        <p:nvGraphicFramePr>
          <p:cNvPr id="33796" name="Object 3"/>
          <p:cNvGraphicFramePr>
            <a:graphicFrameLocks noChangeAspect="1"/>
          </p:cNvGraphicFramePr>
          <p:nvPr/>
        </p:nvGraphicFramePr>
        <p:xfrm>
          <a:off x="1187450" y="3716338"/>
          <a:ext cx="44211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公式" r:id="rId3" imgW="1930400" imgH="482600" progId="Equation.3">
                  <p:embed/>
                </p:oleObj>
              </mc:Choice>
              <mc:Fallback>
                <p:oleObj name="公式" r:id="rId3" imgW="19304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16338"/>
                        <a:ext cx="442118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1042988" y="4941888"/>
            <a:ext cx="7345362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回代得解：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=0.00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=1.00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与精确解相比，该结果相当糟糕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原因是：在求行乘数时用了很小的数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0.0001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作除数</a:t>
            </a:r>
          </a:p>
        </p:txBody>
      </p:sp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1258888" y="1628775"/>
          <a:ext cx="6408737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公式" r:id="rId5" imgW="3149600" imgH="1003300" progId="Equation.3">
                  <p:embed/>
                </p:oleObj>
              </mc:Choice>
              <mc:Fallback>
                <p:oleObj name="公式" r:id="rId5" imgW="3149600" imgH="1003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628775"/>
                        <a:ext cx="6408737" cy="204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AutoShape 6"/>
          <p:cNvSpPr>
            <a:spLocks noChangeArrowheads="1"/>
          </p:cNvSpPr>
          <p:nvPr/>
        </p:nvSpPr>
        <p:spPr bwMode="auto">
          <a:xfrm>
            <a:off x="5724525" y="1270000"/>
            <a:ext cx="1143000" cy="457200"/>
          </a:xfrm>
          <a:prstGeom prst="wedgeRectCallout">
            <a:avLst>
              <a:gd name="adj1" fmla="val -190139"/>
              <a:gd name="adj2" fmla="val 61458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sz="2000" u="none"/>
              <a:t>主元</a:t>
            </a:r>
          </a:p>
        </p:txBody>
      </p:sp>
      <p:sp>
        <p:nvSpPr>
          <p:cNvPr id="33800" name="AutoShape 7"/>
          <p:cNvSpPr>
            <a:spLocks noChangeArrowheads="1"/>
          </p:cNvSpPr>
          <p:nvPr/>
        </p:nvSpPr>
        <p:spPr bwMode="auto">
          <a:xfrm>
            <a:off x="6732588" y="4005263"/>
            <a:ext cx="1512887" cy="504825"/>
          </a:xfrm>
          <a:prstGeom prst="wedgeEllipseCallout">
            <a:avLst>
              <a:gd name="adj1" fmla="val -145593"/>
              <a:gd name="adj2" fmla="val -150630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2000" u="none"/>
              <a:t>9999</a:t>
            </a:r>
          </a:p>
        </p:txBody>
      </p:sp>
      <p:sp>
        <p:nvSpPr>
          <p:cNvPr id="3380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62178B7-0CF9-42F3-8338-027C9175782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755650" y="2781300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用顺序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消元得</a:t>
            </a:r>
          </a:p>
        </p:txBody>
      </p:sp>
      <p:graphicFrame>
        <p:nvGraphicFramePr>
          <p:cNvPr id="34820" name="Object 3"/>
          <p:cNvGraphicFramePr>
            <a:graphicFrameLocks noChangeAspect="1"/>
          </p:cNvGraphicFramePr>
          <p:nvPr/>
        </p:nvGraphicFramePr>
        <p:xfrm>
          <a:off x="1476375" y="4483100"/>
          <a:ext cx="30956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公式" r:id="rId3" imgW="1511300" imgH="482600" progId="Equation.3">
                  <p:embed/>
                </p:oleObj>
              </mc:Choice>
              <mc:Fallback>
                <p:oleObj name="公式" r:id="rId3" imgW="15113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483100"/>
                        <a:ext cx="30956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684213" y="5734050"/>
            <a:ext cx="417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回代得解：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=1.00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=1.00</a:t>
            </a:r>
          </a:p>
        </p:txBody>
      </p:sp>
      <p:sp>
        <p:nvSpPr>
          <p:cNvPr id="34822" name="Text Box 5"/>
          <p:cNvSpPr txBox="1">
            <a:spLocks noChangeArrowheads="1"/>
          </p:cNvSpPr>
          <p:nvPr/>
        </p:nvSpPr>
        <p:spPr bwMode="auto">
          <a:xfrm>
            <a:off x="755650" y="1196975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若将方程组改写成（将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1,2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行交换）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4823" name="Object 6"/>
          <p:cNvGraphicFramePr>
            <a:graphicFrameLocks noChangeAspect="1"/>
          </p:cNvGraphicFramePr>
          <p:nvPr/>
        </p:nvGraphicFramePr>
        <p:xfrm>
          <a:off x="1331913" y="1700213"/>
          <a:ext cx="37449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公式" r:id="rId5" imgW="1816100" imgH="482600" progId="Equation.3">
                  <p:embed/>
                </p:oleObj>
              </mc:Choice>
              <mc:Fallback>
                <p:oleObj name="公式" r:id="rId5" imgW="18161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00213"/>
                        <a:ext cx="374491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7"/>
          <p:cNvGraphicFramePr>
            <a:graphicFrameLocks noChangeAspect="1"/>
          </p:cNvGraphicFramePr>
          <p:nvPr/>
        </p:nvGraphicFramePr>
        <p:xfrm>
          <a:off x="1042988" y="3286125"/>
          <a:ext cx="752475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公式" r:id="rId7" imgW="3733800" imgH="495300" progId="Equation.3">
                  <p:embed/>
                </p:oleObj>
              </mc:Choice>
              <mc:Fallback>
                <p:oleObj name="公式" r:id="rId7" imgW="3733800" imgH="495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286125"/>
                        <a:ext cx="752475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4787900" y="5734050"/>
            <a:ext cx="409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这是一个相当不错的结果</a:t>
            </a:r>
          </a:p>
        </p:txBody>
      </p:sp>
      <p:sp>
        <p:nvSpPr>
          <p:cNvPr id="34826" name="AutoShape 9"/>
          <p:cNvSpPr>
            <a:spLocks noChangeArrowheads="1"/>
          </p:cNvSpPr>
          <p:nvPr/>
        </p:nvSpPr>
        <p:spPr bwMode="auto">
          <a:xfrm>
            <a:off x="5508625" y="4581525"/>
            <a:ext cx="1584325" cy="503238"/>
          </a:xfrm>
          <a:prstGeom prst="wedgeEllipseCallout">
            <a:avLst>
              <a:gd name="adj1" fmla="val -117634"/>
              <a:gd name="adj2" fmla="val -142745"/>
            </a:avLst>
          </a:prstGeom>
          <a:solidFill>
            <a:srgbClr val="00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2000" u="none"/>
              <a:t>0.9999</a:t>
            </a:r>
          </a:p>
        </p:txBody>
      </p:sp>
      <p:sp>
        <p:nvSpPr>
          <p:cNvPr id="3482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3F9D9F1-A90C-49B8-8745-717083876DA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5843" name="Object 2"/>
          <p:cNvGraphicFramePr>
            <a:graphicFrameLocks noChangeAspect="1"/>
          </p:cNvGraphicFramePr>
          <p:nvPr/>
        </p:nvGraphicFramePr>
        <p:xfrm>
          <a:off x="1476375" y="3933825"/>
          <a:ext cx="46355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公式" r:id="rId3" imgW="2374900" imgH="762000" progId="Equation.3">
                  <p:embed/>
                </p:oleObj>
              </mc:Choice>
              <mc:Fallback>
                <p:oleObj name="公式" r:id="rId3" imgW="2374900" imgH="762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933825"/>
                        <a:ext cx="463550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AutoShape 3"/>
          <p:cNvSpPr>
            <a:spLocks noChangeArrowheads="1"/>
          </p:cNvSpPr>
          <p:nvPr/>
        </p:nvSpPr>
        <p:spPr bwMode="auto">
          <a:xfrm>
            <a:off x="611188" y="5445125"/>
            <a:ext cx="8020050" cy="862013"/>
          </a:xfrm>
          <a:prstGeom prst="star24">
            <a:avLst>
              <a:gd name="adj" fmla="val 47181"/>
            </a:avLst>
          </a:prstGeom>
          <a:noFill/>
          <a:ln w="317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611188" y="1123950"/>
            <a:ext cx="7356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：解线性方程组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用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8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位十进制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尾数的浮点数计算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1692275" y="1557338"/>
          <a:ext cx="4248150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公式" r:id="rId5" imgW="2146300" imgH="736600" progId="Equation.3">
                  <p:embed/>
                </p:oleObj>
              </mc:Choice>
              <mc:Fallback>
                <p:oleObj name="公式" r:id="rId5" imgW="2146300" imgH="736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557338"/>
                        <a:ext cx="4248150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6"/>
          <p:cNvSpPr txBox="1">
            <a:spLocks noChangeArrowheads="1"/>
          </p:cNvSpPr>
          <p:nvPr/>
        </p:nvSpPr>
        <p:spPr bwMode="auto">
          <a:xfrm>
            <a:off x="684213" y="2997200"/>
            <a:ext cx="78486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解：这个方程组和例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一样，若用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消去法计算会有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小数作除数的现象，若采用换行的技巧，则可避免</a:t>
            </a:r>
          </a:p>
        </p:txBody>
      </p:sp>
      <p:graphicFrame>
        <p:nvGraphicFramePr>
          <p:cNvPr id="35848" name="Object 7"/>
          <p:cNvGraphicFramePr>
            <a:graphicFrameLocks noChangeAspect="1"/>
          </p:cNvGraphicFramePr>
          <p:nvPr/>
        </p:nvGraphicFramePr>
        <p:xfrm>
          <a:off x="1258888" y="5661025"/>
          <a:ext cx="66262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公式" r:id="rId7" imgW="3810000" imgH="241300" progId="Equation.3">
                  <p:embed/>
                </p:oleObj>
              </mc:Choice>
              <mc:Fallback>
                <p:oleObj name="公式" r:id="rId7" imgW="3810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661025"/>
                        <a:ext cx="66262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A1C609D-2D73-41DF-ADE4-CAA08610C987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6867" name="Object 2"/>
          <p:cNvGraphicFramePr>
            <a:graphicFrameLocks noChangeAspect="1"/>
          </p:cNvGraphicFramePr>
          <p:nvPr/>
        </p:nvGraphicFramePr>
        <p:xfrm>
          <a:off x="971550" y="1030288"/>
          <a:ext cx="3994150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公式" r:id="rId3" imgW="2159000" imgH="723900" progId="Equation.3">
                  <p:embed/>
                </p:oleObj>
              </mc:Choice>
              <mc:Fallback>
                <p:oleObj name="公式" r:id="rId3" imgW="2159000" imgH="723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030288"/>
                        <a:ext cx="3994150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3"/>
          <p:cNvGraphicFramePr>
            <a:graphicFrameLocks noChangeAspect="1"/>
          </p:cNvGraphicFramePr>
          <p:nvPr/>
        </p:nvGraphicFramePr>
        <p:xfrm>
          <a:off x="474663" y="2716213"/>
          <a:ext cx="69770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" name="公式" r:id="rId5" imgW="3556000" imgH="723900" progId="Equation.3">
                  <p:embed/>
                </p:oleObj>
              </mc:Choice>
              <mc:Fallback>
                <p:oleObj name="公式" r:id="rId5" imgW="3556000" imgH="723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2716213"/>
                        <a:ext cx="69770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4"/>
          <p:cNvSpPr>
            <a:spLocks noChangeShapeType="1"/>
          </p:cNvSpPr>
          <p:nvPr/>
        </p:nvSpPr>
        <p:spPr bwMode="auto">
          <a:xfrm flipV="1">
            <a:off x="3995738" y="2447925"/>
            <a:ext cx="2413000" cy="812800"/>
          </a:xfrm>
          <a:prstGeom prst="line">
            <a:avLst/>
          </a:prstGeom>
          <a:noFill/>
          <a:ln w="317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5867400" y="1946275"/>
            <a:ext cx="2592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1" lang="zh-CN" altLang="en-US" sz="2000" u="none">
                <a:latin typeface="Times New Roman" pitchFamily="18" charset="0"/>
                <a:ea typeface="宋体" pitchFamily="2" charset="-122"/>
              </a:rPr>
              <a:t>绝对值最大</a:t>
            </a:r>
            <a:r>
              <a:rPr kumimoji="1" lang="en-US" altLang="zh-CN" sz="2000" u="none">
                <a:latin typeface="Times New Roman" pitchFamily="18" charset="0"/>
                <a:ea typeface="宋体" pitchFamily="2" charset="-122"/>
              </a:rPr>
              <a:t>,</a:t>
            </a:r>
            <a:r>
              <a:rPr kumimoji="1" lang="zh-CN" altLang="en-US" sz="2000" u="none">
                <a:latin typeface="Times New Roman" pitchFamily="18" charset="0"/>
                <a:ea typeface="宋体" pitchFamily="2" charset="-122"/>
              </a:rPr>
              <a:t>不需换行</a:t>
            </a:r>
          </a:p>
        </p:txBody>
      </p:sp>
      <p:sp>
        <p:nvSpPr>
          <p:cNvPr id="36871" name="AutoShape 6"/>
          <p:cNvSpPr>
            <a:spLocks noChangeArrowheads="1"/>
          </p:cNvSpPr>
          <p:nvPr/>
        </p:nvSpPr>
        <p:spPr bwMode="auto">
          <a:xfrm>
            <a:off x="5724525" y="1820863"/>
            <a:ext cx="2808288" cy="649287"/>
          </a:xfrm>
          <a:prstGeom prst="star16">
            <a:avLst>
              <a:gd name="adj" fmla="val 47380"/>
            </a:avLst>
          </a:prstGeom>
          <a:noFill/>
          <a:ln w="317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graphicFrame>
        <p:nvGraphicFramePr>
          <p:cNvPr id="36872" name="Object 7"/>
          <p:cNvGraphicFramePr>
            <a:graphicFrameLocks noChangeAspect="1"/>
          </p:cNvGraphicFramePr>
          <p:nvPr/>
        </p:nvGraphicFramePr>
        <p:xfrm>
          <a:off x="466725" y="4581525"/>
          <a:ext cx="7859713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公式" r:id="rId7" imgW="4241800" imgH="723900" progId="Equation.3">
                  <p:embed/>
                </p:oleObj>
              </mc:Choice>
              <mc:Fallback>
                <p:oleObj name="公式" r:id="rId7" imgW="4241800" imgH="723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4581525"/>
                        <a:ext cx="7859713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8"/>
          <p:cNvGraphicFramePr>
            <a:graphicFrameLocks noChangeAspect="1"/>
          </p:cNvGraphicFramePr>
          <p:nvPr/>
        </p:nvGraphicFramePr>
        <p:xfrm>
          <a:off x="5003800" y="1333500"/>
          <a:ext cx="16557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name="公式" r:id="rId9" imgW="660499" imgH="101483" progId="Equation.3">
                  <p:embed/>
                </p:oleObj>
              </mc:Choice>
              <mc:Fallback>
                <p:oleObj name="公式" r:id="rId9" imgW="660499" imgH="10148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333500"/>
                        <a:ext cx="16557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9"/>
          <p:cNvGraphicFramePr>
            <a:graphicFrameLocks noChangeAspect="1"/>
          </p:cNvGraphicFramePr>
          <p:nvPr/>
        </p:nvGraphicFramePr>
        <p:xfrm>
          <a:off x="6588125" y="4125913"/>
          <a:ext cx="16557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name="公式" r:id="rId11" imgW="0" imgH="0" progId="Equation.3">
                  <p:embed/>
                </p:oleObj>
              </mc:Choice>
              <mc:Fallback>
                <p:oleObj name="公式" r:id="rId11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125913"/>
                        <a:ext cx="16557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0"/>
          <p:cNvGraphicFramePr>
            <a:graphicFrameLocks noChangeAspect="1"/>
          </p:cNvGraphicFramePr>
          <p:nvPr/>
        </p:nvGraphicFramePr>
        <p:xfrm>
          <a:off x="7019925" y="5876925"/>
          <a:ext cx="1560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公式" r:id="rId12" imgW="0" imgH="0" progId="Equation.3">
                  <p:embed/>
                </p:oleObj>
              </mc:Choice>
              <mc:Fallback>
                <p:oleObj name="公式" r:id="rId1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876925"/>
                        <a:ext cx="1560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E0DFE5F4-A64C-4FD3-BDDA-BED1854C625E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7891" name="Object 2"/>
          <p:cNvGraphicFramePr>
            <a:graphicFrameLocks noChangeAspect="1"/>
          </p:cNvGraphicFramePr>
          <p:nvPr/>
        </p:nvGraphicFramePr>
        <p:xfrm>
          <a:off x="611188" y="1268413"/>
          <a:ext cx="8066087" cy="481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公式" r:id="rId3" imgW="3784600" imgH="2362200" progId="Equation.3">
                  <p:embed/>
                </p:oleObj>
              </mc:Choice>
              <mc:Fallback>
                <p:oleObj name="公式" r:id="rId3" imgW="3784600" imgH="2362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268413"/>
                        <a:ext cx="8066087" cy="481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5F0A6AD-530C-49D1-B8C1-C4D9D63F40D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36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  <p:grpSp>
        <p:nvGrpSpPr>
          <p:cNvPr id="38916" name="Group 3"/>
          <p:cNvGrpSpPr>
            <a:grpSpLocks/>
          </p:cNvGrpSpPr>
          <p:nvPr/>
        </p:nvGrpSpPr>
        <p:grpSpPr bwMode="auto">
          <a:xfrm>
            <a:off x="684213" y="1628775"/>
            <a:ext cx="7775575" cy="4176713"/>
            <a:chOff x="431" y="1026"/>
            <a:chExt cx="4898" cy="2631"/>
          </a:xfrm>
        </p:grpSpPr>
        <p:sp>
          <p:nvSpPr>
            <p:cNvPr id="38918" name="Rectangle 4"/>
            <p:cNvSpPr>
              <a:spLocks noChangeArrowheads="1"/>
            </p:cNvSpPr>
            <p:nvPr/>
          </p:nvSpPr>
          <p:spPr bwMode="auto">
            <a:xfrm>
              <a:off x="3016" y="1616"/>
              <a:ext cx="363" cy="272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19" name="Rectangle 5"/>
            <p:cNvSpPr>
              <a:spLocks noChangeArrowheads="1"/>
            </p:cNvSpPr>
            <p:nvPr/>
          </p:nvSpPr>
          <p:spPr bwMode="auto">
            <a:xfrm>
              <a:off x="3470" y="1320"/>
              <a:ext cx="680" cy="272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20" name="Rectangle 6"/>
            <p:cNvSpPr>
              <a:spLocks noChangeArrowheads="1"/>
            </p:cNvSpPr>
            <p:nvPr/>
          </p:nvSpPr>
          <p:spPr bwMode="auto">
            <a:xfrm>
              <a:off x="2971" y="2795"/>
              <a:ext cx="1661" cy="272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21" name="Rectangle 7"/>
            <p:cNvSpPr>
              <a:spLocks noChangeArrowheads="1"/>
            </p:cNvSpPr>
            <p:nvPr/>
          </p:nvSpPr>
          <p:spPr bwMode="auto">
            <a:xfrm>
              <a:off x="2336" y="3339"/>
              <a:ext cx="1185" cy="272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22" name="Rectangle 8"/>
            <p:cNvSpPr>
              <a:spLocks noChangeArrowheads="1"/>
            </p:cNvSpPr>
            <p:nvPr/>
          </p:nvSpPr>
          <p:spPr bwMode="auto">
            <a:xfrm>
              <a:off x="3742" y="3385"/>
              <a:ext cx="1139" cy="272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graphicFrame>
          <p:nvGraphicFramePr>
            <p:cNvPr id="38923" name="Object 9"/>
            <p:cNvGraphicFramePr>
              <a:graphicFrameLocks noChangeAspect="1"/>
            </p:cNvGraphicFramePr>
            <p:nvPr/>
          </p:nvGraphicFramePr>
          <p:xfrm>
            <a:off x="431" y="1026"/>
            <a:ext cx="4898" cy="2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4" name="公式" r:id="rId3" imgW="3924300" imgH="2120900" progId="Equation.3">
                    <p:embed/>
                  </p:oleObj>
                </mc:Choice>
                <mc:Fallback>
                  <p:oleObj name="公式" r:id="rId3" imgW="3924300" imgH="2120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026"/>
                          <a:ext cx="4898" cy="26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17" name="Rectangle 10"/>
          <p:cNvSpPr>
            <a:spLocks noChangeArrowheads="1"/>
          </p:cNvSpPr>
          <p:nvPr/>
        </p:nvSpPr>
        <p:spPr bwMode="auto">
          <a:xfrm>
            <a:off x="323850" y="2997200"/>
            <a:ext cx="3238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u="none">
                <a:solidFill>
                  <a:srgbClr val="0000FF"/>
                </a:solidFill>
                <a:ea typeface="楷体_GB2312" pitchFamily="49" charset="-122"/>
              </a:rPr>
              <a:t>二</a:t>
            </a:r>
            <a:r>
              <a:rPr lang="en-US" altLang="zh-CN" u="none">
                <a:solidFill>
                  <a:srgbClr val="0000FF"/>
                </a:solidFill>
                <a:ea typeface="楷体_GB2312" pitchFamily="49" charset="-122"/>
              </a:rPr>
              <a:t>. </a:t>
            </a:r>
            <a:r>
              <a:rPr lang="zh-CN" altLang="en-US" u="none">
                <a:solidFill>
                  <a:srgbClr val="0000FF"/>
                </a:solidFill>
                <a:ea typeface="楷体_GB2312" pitchFamily="49" charset="-122"/>
              </a:rPr>
              <a:t>选主元素消去法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B609B4C-A31E-47D8-BAD5-520B82162B4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37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1677988" y="2538413"/>
            <a:ext cx="2736850" cy="360362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1751013" y="4554538"/>
            <a:ext cx="2663825" cy="360362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/>
        </p:nvGraphicFramePr>
        <p:xfrm>
          <a:off x="1331913" y="1484313"/>
          <a:ext cx="5530850" cy="407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公式" r:id="rId3" imgW="2603500" imgH="1917700" progId="Equation.3">
                  <p:embed/>
                </p:oleObj>
              </mc:Choice>
              <mc:Fallback>
                <p:oleObj name="公式" r:id="rId3" imgW="2603500" imgH="1917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484313"/>
                        <a:ext cx="5530850" cy="407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BDDD39E-0D44-4FD4-BC49-45B8D284656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38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466725" y="1143000"/>
            <a:ext cx="8208963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给定线性方程组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，记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的具体过程如下：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首先在增广矩阵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的第一列元素中，取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60000"/>
              </a:lnSpc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然后进行第一步消元得增广矩阵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 再在矩阵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的第二列元素中，取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然后进行第二步消元得增广矩阵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。按此方法继续进行下去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经过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步选主元和消元运算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得到增广矩阵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).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则方程组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是与原方程组等价的上三角形方程组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可进行回代求解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. 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易证，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只要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0,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消去法就可顺利进行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40964" name="Object 3"/>
          <p:cNvGraphicFramePr>
            <a:graphicFrameLocks noChangeAspect="1"/>
          </p:cNvGraphicFramePr>
          <p:nvPr/>
        </p:nvGraphicFramePr>
        <p:xfrm>
          <a:off x="1776413" y="2420938"/>
          <a:ext cx="47990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公式" r:id="rId3" imgW="2349500" imgH="304800" progId="Equation.3">
                  <p:embed/>
                </p:oleObj>
              </mc:Choice>
              <mc:Fallback>
                <p:oleObj name="公式" r:id="rId3" imgW="2349500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2420938"/>
                        <a:ext cx="47990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4"/>
          <p:cNvGraphicFramePr>
            <a:graphicFrameLocks noChangeAspect="1"/>
          </p:cNvGraphicFramePr>
          <p:nvPr/>
        </p:nvGraphicFramePr>
        <p:xfrm>
          <a:off x="1776413" y="3860800"/>
          <a:ext cx="48720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公式" r:id="rId5" imgW="2374900" imgH="304800" progId="Equation.3">
                  <p:embed/>
                </p:oleObj>
              </mc:Choice>
              <mc:Fallback>
                <p:oleObj name="公式" r:id="rId5" imgW="23749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3860800"/>
                        <a:ext cx="487203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4252B849-3FD1-4082-BC3A-D3B15EE167B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39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187450" y="4508500"/>
            <a:ext cx="6265863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方程组具有四位有效数字的精确解为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=17.46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=-45.76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=5.546</a:t>
            </a:r>
            <a:endParaRPr kumimoji="1" lang="en-US" altLang="zh-CN" sz="2400" u="none">
              <a:solidFill>
                <a:schemeClr val="accent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827088" y="1341438"/>
            <a:ext cx="770572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</a:rPr>
              <a:t>4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采用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4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位十进制浮点计算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分别用顺序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消去法和列主元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消去法求解线性方程组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1989" name="Object 4"/>
          <p:cNvGraphicFramePr>
            <a:graphicFrameLocks noChangeAspect="1"/>
          </p:cNvGraphicFramePr>
          <p:nvPr/>
        </p:nvGraphicFramePr>
        <p:xfrm>
          <a:off x="1619250" y="2708275"/>
          <a:ext cx="48958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公式" r:id="rId3" imgW="2387600" imgH="711200" progId="Equation.3">
                  <p:embed/>
                </p:oleObj>
              </mc:Choice>
              <mc:Fallback>
                <p:oleObj name="公式" r:id="rId3" imgW="23876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08275"/>
                        <a:ext cx="489585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FBC4C39-3D08-446A-AAE9-E563C7C499C5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40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539750" y="1268413"/>
            <a:ext cx="7561263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解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1.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用顺序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消去法求解，消元过程为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/>
        </p:nvGraphicFramePr>
        <p:xfrm>
          <a:off x="1476375" y="1773238"/>
          <a:ext cx="6264275" cy="385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公式" r:id="rId3" imgW="3467100" imgH="2133600" progId="Equation.3">
                  <p:embed/>
                </p:oleObj>
              </mc:Choice>
              <mc:Fallback>
                <p:oleObj name="公式" r:id="rId3" imgW="3467100" imgH="2133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73238"/>
                        <a:ext cx="6264275" cy="385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1619250" y="5805488"/>
            <a:ext cx="61214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回代得：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=5.546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=100.0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=-104.0</a:t>
            </a:r>
            <a:endParaRPr kumimoji="1" lang="en-US" altLang="zh-CN" sz="2400" u="none">
              <a:solidFill>
                <a:schemeClr val="accent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301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D2D84EE3-BF63-4DB5-9C41-08B9DE3736D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41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684213" y="1123950"/>
            <a:ext cx="72723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2.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用列主元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消去法求解，消元过程为</a:t>
            </a:r>
          </a:p>
        </p:txBody>
      </p:sp>
      <p:graphicFrame>
        <p:nvGraphicFramePr>
          <p:cNvPr id="44036" name="Object 3"/>
          <p:cNvGraphicFramePr>
            <a:graphicFrameLocks noChangeAspect="1"/>
          </p:cNvGraphicFramePr>
          <p:nvPr/>
        </p:nvGraphicFramePr>
        <p:xfrm>
          <a:off x="1258888" y="1557338"/>
          <a:ext cx="5761037" cy="458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公式" r:id="rId3" imgW="2679700" imgH="2133600" progId="Equation.3">
                  <p:embed/>
                </p:oleObj>
              </mc:Choice>
              <mc:Fallback>
                <p:oleObj name="公式" r:id="rId3" imgW="2679700" imgH="2133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557338"/>
                        <a:ext cx="5761037" cy="458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50B71349-1FE3-4EB9-82CB-2C648FBFD93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42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403350" y="4941888"/>
            <a:ext cx="626427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400" u="none">
                <a:latin typeface="Times New Roman" pitchFamily="18" charset="0"/>
              </a:rPr>
              <a:t>回代得：</a:t>
            </a:r>
            <a:r>
              <a:rPr kumimoji="1" lang="en-US" altLang="zh-CN" sz="2400" i="1" u="none">
                <a:latin typeface="Times New Roman" pitchFamily="18" charset="0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</a:rPr>
              <a:t>3</a:t>
            </a:r>
            <a:r>
              <a:rPr kumimoji="1" lang="en-US" altLang="zh-CN" sz="2400" u="none">
                <a:latin typeface="Times New Roman" pitchFamily="18" charset="0"/>
              </a:rPr>
              <a:t>=5.545</a:t>
            </a:r>
            <a:r>
              <a:rPr kumimoji="1" lang="zh-CN" altLang="en-US" sz="2400" u="none">
                <a:latin typeface="Times New Roman" pitchFamily="18" charset="0"/>
              </a:rPr>
              <a:t>，</a:t>
            </a:r>
            <a:r>
              <a:rPr kumimoji="1" lang="en-US" altLang="zh-CN" sz="2400" i="1" u="none">
                <a:latin typeface="Times New Roman" pitchFamily="18" charset="0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</a:rPr>
              <a:t>2</a:t>
            </a:r>
            <a:r>
              <a:rPr kumimoji="1" lang="en-US" altLang="zh-CN" sz="2400" u="none">
                <a:latin typeface="Times New Roman" pitchFamily="18" charset="0"/>
              </a:rPr>
              <a:t>=-45.77</a:t>
            </a:r>
            <a:r>
              <a:rPr kumimoji="1" lang="zh-CN" altLang="en-US" sz="2400" u="none">
                <a:latin typeface="Times New Roman" pitchFamily="18" charset="0"/>
              </a:rPr>
              <a:t>，</a:t>
            </a:r>
            <a:r>
              <a:rPr kumimoji="1" lang="en-US" altLang="zh-CN" sz="2400" i="1" u="none">
                <a:latin typeface="Times New Roman" pitchFamily="18" charset="0"/>
              </a:rPr>
              <a:t>x</a:t>
            </a:r>
            <a:r>
              <a:rPr kumimoji="1" lang="en-US" altLang="zh-CN" sz="2400" u="none" baseline="-25000">
                <a:latin typeface="Times New Roman" pitchFamily="18" charset="0"/>
              </a:rPr>
              <a:t>1</a:t>
            </a:r>
            <a:r>
              <a:rPr kumimoji="1" lang="en-US" altLang="zh-CN" sz="2400" u="none">
                <a:latin typeface="Times New Roman" pitchFamily="18" charset="0"/>
              </a:rPr>
              <a:t>=17.46</a:t>
            </a:r>
            <a:endParaRPr kumimoji="1" lang="en-US" altLang="zh-CN" sz="2400" u="none">
              <a:solidFill>
                <a:schemeClr val="accent2"/>
              </a:solidFill>
              <a:latin typeface="Times New Roman" pitchFamily="18" charset="0"/>
            </a:endParaRPr>
          </a:p>
        </p:txBody>
      </p:sp>
      <p:graphicFrame>
        <p:nvGraphicFramePr>
          <p:cNvPr id="45060" name="Object 3"/>
          <p:cNvGraphicFramePr>
            <a:graphicFrameLocks noChangeAspect="1"/>
          </p:cNvGraphicFramePr>
          <p:nvPr/>
        </p:nvGraphicFramePr>
        <p:xfrm>
          <a:off x="1835150" y="1341438"/>
          <a:ext cx="439261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name="公式" r:id="rId3" imgW="2273300" imgH="1638300" progId="Equation.3">
                  <p:embed/>
                </p:oleObj>
              </mc:Choice>
              <mc:Fallback>
                <p:oleObj name="公式" r:id="rId3" imgW="2273300" imgH="1638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341438"/>
                        <a:ext cx="439261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0A4CF7D-7991-4879-8184-F9EF9E69EFB2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43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827088" y="1484313"/>
            <a:ext cx="7488237" cy="267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40000"/>
              </a:spcBef>
            </a:pPr>
            <a:r>
              <a:rPr kumimoji="1" lang="en-US" altLang="zh-CN" sz="2600" u="none">
                <a:latin typeface="Times New Roman" pitchFamily="18" charset="0"/>
                <a:ea typeface="楷体_GB2312" pitchFamily="49" charset="-122"/>
              </a:rPr>
              <a:t>        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消去法是在每一步消元前，在主元所在的一列选取绝对值最大的元素作为主元素。而全主元</a:t>
            </a:r>
            <a:r>
              <a:rPr kumimoji="1" lang="en-US" altLang="zh-CN" sz="2600" i="1" u="none"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600" u="none">
                <a:latin typeface="Times New Roman" pitchFamily="18" charset="0"/>
                <a:ea typeface="楷体_GB2312" pitchFamily="49" charset="-122"/>
              </a:rPr>
              <a:t>消去法是在每一步消元前，在所有元素中选取绝对值最大的元素作为主元素。但由于运算量大增，实际应用中并不经常使用。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§3.1.2  </a:t>
            </a:r>
            <a:r>
              <a:rPr lang="zh-CN" altLang="en-US" smtClean="0"/>
              <a:t>列主元高斯消去法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3078BEE9-F4C1-48CA-B3C5-48C2099F3BBD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44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7107" name="Rectangle 2"/>
          <p:cNvSpPr>
            <a:spLocks noChangeArrowheads="1"/>
          </p:cNvSpPr>
          <p:nvPr/>
        </p:nvSpPr>
        <p:spPr bwMode="auto">
          <a:xfrm>
            <a:off x="684213" y="1052513"/>
            <a:ext cx="7775575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高斯-约当消去法（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Gauss</a:t>
            </a:r>
            <a:r>
              <a:rPr lang="en-US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Jordan</a:t>
            </a: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  <a:endParaRPr lang="zh-CN" altLang="en-US" sz="2400" u="none">
              <a:solidFill>
                <a:srgbClr val="0000FF"/>
              </a:solidFill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这是一种</a:t>
            </a:r>
            <a:r>
              <a:rPr lang="zh-CN" altLang="zh-CN" sz="2400" u="none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无回代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的方法，使计算工作量减小，在第</a:t>
            </a:r>
            <a:r>
              <a:rPr lang="zh-CN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次消元时不仅把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，不仅将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，而且也将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）也化为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，最后消元过程结束时的系数矩阵为</a:t>
            </a:r>
          </a:p>
        </p:txBody>
      </p:sp>
      <p:graphicFrame>
        <p:nvGraphicFramePr>
          <p:cNvPr id="47108" name="Object 3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3" name="公式" r:id="rId3" imgW="391303" imgH="739129" progId="Equation.3">
                  <p:embed/>
                </p:oleObj>
              </mc:Choice>
              <mc:Fallback>
                <p:oleObj name="公式" r:id="rId3" imgW="391303" imgH="7391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4"/>
          <p:cNvGraphicFramePr>
            <a:graphicFrameLocks noChangeAspect="1"/>
          </p:cNvGraphicFramePr>
          <p:nvPr/>
        </p:nvGraphicFramePr>
        <p:xfrm>
          <a:off x="5148263" y="2781300"/>
          <a:ext cx="230505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4" name="公式" r:id="rId5" imgW="1181100" imgH="1155700" progId="Equation.3">
                  <p:embed/>
                </p:oleObj>
              </mc:Choice>
              <mc:Fallback>
                <p:oleObj name="公式" r:id="rId5" imgW="1181100" imgH="1155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2305050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5"/>
          <p:cNvSpPr>
            <a:spLocks noChangeArrowheads="1"/>
          </p:cNvSpPr>
          <p:nvPr/>
        </p:nvSpPr>
        <p:spPr bwMode="auto">
          <a:xfrm>
            <a:off x="611188" y="4724400"/>
            <a:ext cx="7993062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得消元公式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/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k-1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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47111" name="AutoShape 6"/>
          <p:cNvSpPr>
            <a:spLocks/>
          </p:cNvSpPr>
          <p:nvPr/>
        </p:nvSpPr>
        <p:spPr bwMode="auto">
          <a:xfrm>
            <a:off x="755650" y="5445125"/>
            <a:ext cx="71438" cy="576263"/>
          </a:xfrm>
          <a:prstGeom prst="leftBrace">
            <a:avLst>
              <a:gd name="adj1" fmla="val 67222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71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§3.1.3  </a:t>
            </a:r>
            <a:r>
              <a:rPr lang="zh-CN" altLang="en-US" smtClean="0"/>
              <a:t>高斯</a:t>
            </a:r>
            <a:r>
              <a:rPr lang="en-US" altLang="zh-CN" smtClean="0"/>
              <a:t>-</a:t>
            </a:r>
            <a:r>
              <a:rPr lang="zh-CN" altLang="en-US" smtClean="0"/>
              <a:t>若尔当消去法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作业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 smtClean="0"/>
              <a:t>2</a:t>
            </a:r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en-US" altLang="zh-CN" smtClean="0"/>
              <a:t>5</a:t>
            </a:r>
          </a:p>
          <a:p>
            <a:r>
              <a:rPr lang="en-US" altLang="zh-CN" smtClean="0"/>
              <a:t>6</a:t>
            </a:r>
            <a:endParaRPr lang="zh-CN" altLang="en-US" smtClean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CC42BD37-75BC-4460-AC09-5DD50F00887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45</a:t>
            </a:fld>
            <a:endParaRPr lang="en-US" altLang="zh-CN" sz="1600" u="none" smtClean="0">
              <a:solidFill>
                <a:srgbClr val="3333FF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4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0000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FF"/>
      </a:accent5>
      <a:accent6>
        <a:srgbClr val="8A8AB9"/>
      </a:accent6>
      <a:hlink>
        <a:srgbClr val="0000CC"/>
      </a:hlink>
      <a:folHlink>
        <a:srgbClr val="000000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0000CC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8105</TotalTime>
  <Words>1703</Words>
  <Application>Microsoft Office PowerPoint</Application>
  <PresentationFormat>全屏显示(4:3)</PresentationFormat>
  <Paragraphs>243</Paragraphs>
  <Slides>45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Arial</vt:lpstr>
      <vt:lpstr>黑体</vt:lpstr>
      <vt:lpstr>Times New Roman</vt:lpstr>
      <vt:lpstr>楷体_GB2312</vt:lpstr>
      <vt:lpstr>Wingdings</vt:lpstr>
      <vt:lpstr>宋体</vt:lpstr>
      <vt:lpstr>Arial Black</vt:lpstr>
      <vt:lpstr>UniversalMath1 BT</vt:lpstr>
      <vt:lpstr>Cambria</vt:lpstr>
      <vt:lpstr>Symbol</vt:lpstr>
      <vt:lpstr>Pixel</vt:lpstr>
      <vt:lpstr>Microsoft 公式 3.0</vt:lpstr>
      <vt:lpstr>§2.3  牛顿迭代法——内容回顾</vt:lpstr>
      <vt:lpstr>§2.3  牛顿迭代法——内容回顾</vt:lpstr>
      <vt:lpstr>§2.4  弦截法——内容回顾</vt:lpstr>
      <vt:lpstr>第3章 线性代数方程组的数值解法</vt:lpstr>
      <vt:lpstr>本章内容</vt:lpstr>
      <vt:lpstr>引言</vt:lpstr>
      <vt:lpstr>引言</vt:lpstr>
      <vt:lpstr>引言</vt:lpstr>
      <vt:lpstr>引言</vt:lpstr>
      <vt:lpstr>引言</vt:lpstr>
      <vt:lpstr>§3.1 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§3.1.1 顺序高斯消去法</vt:lpstr>
      <vt:lpstr>§3.1  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§3.1.2  列主元高斯消去法</vt:lpstr>
      <vt:lpstr>§3.1.3  高斯-若尔当消去法</vt:lpstr>
      <vt:lpstr>作业</vt:lpstr>
    </vt:vector>
  </TitlesOfParts>
  <Manager>XZNU</Manager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数值计算中的误差</dc:title>
  <dc:creator>CKJ</dc:creator>
  <dc:description>4学时</dc:description>
  <cp:lastModifiedBy>Du Lianming</cp:lastModifiedBy>
  <cp:revision>373</cp:revision>
  <dcterms:created xsi:type="dcterms:W3CDTF">2003-04-11T01:11:17Z</dcterms:created>
  <dcterms:modified xsi:type="dcterms:W3CDTF">2020-03-12T06:02:42Z</dcterms:modified>
</cp:coreProperties>
</file>