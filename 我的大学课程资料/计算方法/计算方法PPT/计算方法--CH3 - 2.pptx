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49"/>
  </p:notesMasterIdLst>
  <p:handoutMasterIdLst>
    <p:handoutMasterId r:id="rId50"/>
  </p:handoutMasterIdLst>
  <p:sldIdLst>
    <p:sldId id="830" r:id="rId2"/>
    <p:sldId id="965" r:id="rId3"/>
    <p:sldId id="968" r:id="rId4"/>
    <p:sldId id="969" r:id="rId5"/>
    <p:sldId id="970" r:id="rId6"/>
    <p:sldId id="973" r:id="rId7"/>
    <p:sldId id="875" r:id="rId8"/>
    <p:sldId id="876" r:id="rId9"/>
    <p:sldId id="877" r:id="rId10"/>
    <p:sldId id="878" r:id="rId11"/>
    <p:sldId id="879" r:id="rId12"/>
    <p:sldId id="880" r:id="rId13"/>
    <p:sldId id="881" r:id="rId14"/>
    <p:sldId id="882" r:id="rId15"/>
    <p:sldId id="883" r:id="rId16"/>
    <p:sldId id="884" r:id="rId17"/>
    <p:sldId id="885" r:id="rId18"/>
    <p:sldId id="886" r:id="rId19"/>
    <p:sldId id="887" r:id="rId20"/>
    <p:sldId id="974" r:id="rId21"/>
    <p:sldId id="975" r:id="rId22"/>
    <p:sldId id="888" r:id="rId23"/>
    <p:sldId id="889" r:id="rId24"/>
    <p:sldId id="890" r:id="rId25"/>
    <p:sldId id="891" r:id="rId26"/>
    <p:sldId id="892" r:id="rId27"/>
    <p:sldId id="934" r:id="rId28"/>
    <p:sldId id="935" r:id="rId29"/>
    <p:sldId id="936" r:id="rId30"/>
    <p:sldId id="939" r:id="rId31"/>
    <p:sldId id="940" r:id="rId32"/>
    <p:sldId id="941" r:id="rId33"/>
    <p:sldId id="942" r:id="rId34"/>
    <p:sldId id="943" r:id="rId35"/>
    <p:sldId id="966" r:id="rId36"/>
    <p:sldId id="949" r:id="rId37"/>
    <p:sldId id="950" r:id="rId38"/>
    <p:sldId id="952" r:id="rId39"/>
    <p:sldId id="954" r:id="rId40"/>
    <p:sldId id="955" r:id="rId41"/>
    <p:sldId id="956" r:id="rId42"/>
    <p:sldId id="957" r:id="rId43"/>
    <p:sldId id="958" r:id="rId44"/>
    <p:sldId id="962" r:id="rId45"/>
    <p:sldId id="963" r:id="rId46"/>
    <p:sldId id="964" r:id="rId47"/>
    <p:sldId id="972" r:id="rId48"/>
  </p:sldIdLst>
  <p:sldSz cx="9144000" cy="6858000" type="screen4x3"/>
  <p:notesSz cx="6645275" cy="97774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5pPr>
    <a:lvl6pPr marL="22860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6pPr>
    <a:lvl7pPr marL="27432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7pPr>
    <a:lvl8pPr marL="32004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8pPr>
    <a:lvl9pPr marL="36576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4FF"/>
    <a:srgbClr val="E9F7FF"/>
    <a:srgbClr val="CCECFF"/>
    <a:srgbClr val="FF0000"/>
    <a:srgbClr val="3333FF"/>
    <a:srgbClr val="CC0066"/>
    <a:srgbClr val="D60093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204" y="-72"/>
      </p:cViewPr>
      <p:guideLst>
        <p:guide orient="horz" pos="663"/>
        <p:guide pos="567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518" y="-72"/>
      </p:cViewPr>
      <p:guideLst>
        <p:guide orient="horz" pos="3080"/>
        <p:guide pos="2093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ea typeface="宋体" pitchFamily="2" charset="-122"/>
              </a:defRPr>
            </a:lvl1pPr>
          </a:lstStyle>
          <a:p>
            <a:pPr>
              <a:defRPr/>
            </a:pPr>
            <a:fld id="{BDDD355A-2D06-494B-B350-F1F983C5B1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048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5025"/>
            <a:ext cx="5314950" cy="439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ea typeface="宋体" pitchFamily="2" charset="-122"/>
              </a:defRPr>
            </a:lvl1pPr>
          </a:lstStyle>
          <a:p>
            <a:pPr>
              <a:defRPr/>
            </a:pPr>
            <a:fld id="{B6E1D91A-09BF-4711-9366-DEB75A41F8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257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A08BA9CF-FB21-4A82-BD3E-D8986D81CBA4}" type="slidenum">
              <a:rPr lang="en-US" altLang="zh-CN" sz="1200" b="0" u="none" smtClean="0">
                <a:ea typeface="宋体" pitchFamily="2" charset="-122"/>
              </a:rPr>
              <a:pPr/>
              <a:t>1</a:t>
            </a:fld>
            <a:endParaRPr lang="en-US" altLang="zh-CN" sz="1200" b="0" u="none" smtClean="0">
              <a:ea typeface="宋体" pitchFamily="2" charset="-122"/>
            </a:endParaRPr>
          </a:p>
        </p:txBody>
      </p:sp>
      <p:sp>
        <p:nvSpPr>
          <p:cNvPr id="50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AED1B98-EB00-4296-B0BC-5C1C953E0637}" type="slidenum">
              <a:rPr lang="en-US" altLang="zh-CN" sz="1200" b="0" u="none" smtClean="0">
                <a:ea typeface="宋体" pitchFamily="2" charset="-122"/>
              </a:rPr>
              <a:pPr/>
              <a:t>2</a:t>
            </a:fld>
            <a:endParaRPr lang="en-US" altLang="zh-CN" sz="1200" b="0" u="none" smtClean="0">
              <a:ea typeface="宋体" pitchFamily="2" charset="-122"/>
            </a:endParaRPr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52EF0B93-E3B2-458F-89D1-F967262662A8}" type="slidenum">
              <a:rPr lang="en-US" altLang="zh-CN" sz="1200" b="0" u="none" smtClean="0">
                <a:ea typeface="宋体" pitchFamily="2" charset="-122"/>
              </a:rPr>
              <a:pPr/>
              <a:t>46</a:t>
            </a:fld>
            <a:endParaRPr lang="en-US" altLang="zh-CN" sz="1200" b="0" u="none" smtClean="0">
              <a:ea typeface="宋体" pitchFamily="2" charset="-122"/>
            </a:endParaRPr>
          </a:p>
        </p:txBody>
      </p:sp>
      <p:sp>
        <p:nvSpPr>
          <p:cNvPr id="522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hidden">
          <a:xfrm>
            <a:off x="1716088" y="1690688"/>
            <a:ext cx="7427912" cy="19542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716088" y="1690688"/>
            <a:ext cx="574675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2281238" y="1066800"/>
            <a:ext cx="585787" cy="6350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281238" y="1690688"/>
            <a:ext cx="585787" cy="64293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141413" y="2324100"/>
            <a:ext cx="584200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0" y="2324100"/>
            <a:ext cx="582613" cy="6334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716088" y="2324100"/>
            <a:ext cx="574675" cy="6334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573088" y="2947988"/>
            <a:ext cx="576262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141413" y="2947988"/>
            <a:ext cx="5842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1816100"/>
          </a:xfrm>
        </p:spPr>
        <p:txBody>
          <a:bodyPr/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2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3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DCE02B66-6F03-471F-B0F5-DF41D05198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205202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89AB0-DCD2-4895-9267-4AA5EAE2B8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81265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BBE41-4AC3-4F67-9E40-0F08244509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26784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DB39F-09A7-4500-BDB8-77142ABFB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30262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EDD5E-EF10-4DDF-970E-0EBEA4A126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873178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C3133-C017-47B2-B6A3-E69FB14DFC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189755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5E627-83F4-4595-AE5A-EF987C6819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57978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3B7C5-7C95-48F9-9B70-DAF630D078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423150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53093-3350-490E-ADB3-39CD48D165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77259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0E0B5-9D22-4DCE-966C-0A6485A9D5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87152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33375"/>
            <a:ext cx="2057400" cy="5759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33375"/>
            <a:ext cx="6019800" cy="5759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6F6BC-A4DE-4EF6-BDFA-4B4DACD39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12827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6477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96975"/>
            <a:ext cx="4038600" cy="23717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21100"/>
            <a:ext cx="4038600" cy="23717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422EA-2E44-4402-B004-066A554E88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77369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6477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31542-7313-49A4-8FDC-A82DFCE20D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38024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9F7FF"/>
            </a:gs>
            <a:gs pos="100000">
              <a:srgbClr val="CCEC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2407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 u="none">
                <a:solidFill>
                  <a:srgbClr val="3333FF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3A1BB320-6FC1-41A5-8BC8-74BE09976E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3375"/>
            <a:ext cx="82296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8" name="Rectangle 18"/>
          <p:cNvSpPr>
            <a:spLocks noChangeArrowheads="1"/>
          </p:cNvSpPr>
          <p:nvPr userDrawn="1"/>
        </p:nvSpPr>
        <p:spPr bwMode="auto">
          <a:xfrm>
            <a:off x="466725" y="981075"/>
            <a:ext cx="8210550" cy="730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60392"/>
                  <a:invGamma/>
                  <a:alpha val="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60" name="Rectangle 20"/>
          <p:cNvSpPr>
            <a:spLocks noChangeArrowheads="1"/>
          </p:cNvSpPr>
          <p:nvPr userDrawn="1"/>
        </p:nvSpPr>
        <p:spPr bwMode="auto">
          <a:xfrm>
            <a:off x="466725" y="6291263"/>
            <a:ext cx="8210550" cy="1746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60392"/>
                  <a:invGamma/>
                  <a:alpha val="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  <p:sldLayoutId id="2147484042" r:id="rId12"/>
    <p:sldLayoutId id="2147484043" r:id="rId1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1.xml"/><Relationship Id="rId4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0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4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45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48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49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0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5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53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5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56.png"/><Relationship Id="rId4" Type="http://schemas.openxmlformats.org/officeDocument/2006/relationships/image" Target="../media/image55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57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59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48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00338" y="1628775"/>
            <a:ext cx="6408737" cy="201612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4000" smtClean="0"/>
              <a:t>第</a:t>
            </a:r>
            <a:r>
              <a:rPr lang="en-US" altLang="zh-CN" sz="4000" smtClean="0"/>
              <a:t>3</a:t>
            </a:r>
            <a:r>
              <a:rPr lang="zh-CN" altLang="en-US" sz="4000" smtClean="0"/>
              <a:t>章</a:t>
            </a:r>
            <a:r>
              <a:rPr lang="en-US" altLang="zh-CN" sz="4000" smtClean="0"/>
              <a:t>       </a:t>
            </a:r>
            <a:r>
              <a:rPr lang="zh-CN" altLang="en-US" sz="4000" smtClean="0">
                <a:solidFill>
                  <a:srgbClr val="FFC000"/>
                </a:solidFill>
              </a:rPr>
              <a:t>内容回顾</a:t>
            </a:r>
            <a:r>
              <a:rPr lang="zh-CN" altLang="en-US" sz="4000" smtClean="0"/>
              <a:t/>
            </a:r>
            <a:br>
              <a:rPr lang="zh-CN" altLang="en-US" sz="4000" smtClean="0"/>
            </a:br>
            <a:r>
              <a:rPr lang="zh-CN" altLang="en-US" sz="4000" smtClean="0"/>
              <a:t>线性代数方程组的数值解法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0AE7767-D032-4482-A670-05BAA10EEF1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 </a:t>
            </a:r>
            <a:r>
              <a:rPr lang="zh-CN" altLang="en-US" smtClean="0"/>
              <a:t>高斯消去法</a:t>
            </a:r>
            <a:r>
              <a:rPr lang="en-US" altLang="zh-CN" smtClean="0"/>
              <a:t>——</a:t>
            </a:r>
            <a:r>
              <a:rPr lang="zh-CN" altLang="en-US" smtClean="0"/>
              <a:t>内容回顾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solidFill>
                  <a:schemeClr val="accent1"/>
                </a:solidFill>
              </a:rPr>
              <a:t>§3.1.1 </a:t>
            </a:r>
            <a:r>
              <a:rPr lang="zh-CN" altLang="en-US" smtClean="0">
                <a:solidFill>
                  <a:schemeClr val="accent1"/>
                </a:solidFill>
                <a:hlinkClick r:id="rId3" action="ppaction://hlinksldjump"/>
              </a:rPr>
              <a:t>顺序高斯消去法</a:t>
            </a:r>
            <a:endParaRPr lang="en-US" altLang="zh-CN" smtClean="0">
              <a:solidFill>
                <a:schemeClr val="accent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solidFill>
                  <a:schemeClr val="accent1"/>
                </a:solidFill>
              </a:rPr>
              <a:t>§3.1.2 </a:t>
            </a:r>
            <a:r>
              <a:rPr lang="zh-CN" altLang="en-US" smtClean="0">
                <a:solidFill>
                  <a:schemeClr val="accent1"/>
                </a:solidFill>
                <a:hlinkClick r:id="rId4" action="ppaction://hlinksldjump"/>
              </a:rPr>
              <a:t>列主元高斯消去法</a:t>
            </a:r>
            <a:endParaRPr lang="zh-CN" altLang="en-US" smtClean="0">
              <a:solidFill>
                <a:schemeClr val="accent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solidFill>
                  <a:schemeClr val="accent1"/>
                </a:solidFill>
              </a:rPr>
              <a:t>§3.1.3 </a:t>
            </a:r>
            <a:r>
              <a:rPr lang="zh-CN" altLang="en-US" smtClean="0">
                <a:solidFill>
                  <a:schemeClr val="accent1"/>
                </a:solidFill>
                <a:hlinkClick r:id="rId5" action="ppaction://hlinksldjump"/>
              </a:rPr>
              <a:t>高斯</a:t>
            </a:r>
            <a:r>
              <a:rPr lang="en-US" altLang="zh-CN" smtClean="0">
                <a:solidFill>
                  <a:schemeClr val="accent1"/>
                </a:solidFill>
                <a:hlinkClick r:id="rId5" action="ppaction://hlinksldjump"/>
              </a:rPr>
              <a:t>-</a:t>
            </a:r>
            <a:r>
              <a:rPr lang="zh-CN" altLang="en-US" smtClean="0">
                <a:solidFill>
                  <a:schemeClr val="accent1"/>
                </a:solidFill>
                <a:hlinkClick r:id="rId5" action="ppaction://hlinksldjump"/>
              </a:rPr>
              <a:t>若尔当消去法</a:t>
            </a:r>
            <a:endParaRPr lang="zh-CN" altLang="en-US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2A045FD-5463-4C9C-AA30-FC912ADC0D33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5123" name="Object 2"/>
          <p:cNvGraphicFramePr>
            <a:graphicFrameLocks noChangeAspect="1"/>
          </p:cNvGraphicFramePr>
          <p:nvPr/>
        </p:nvGraphicFramePr>
        <p:xfrm>
          <a:off x="1187450" y="1341438"/>
          <a:ext cx="6440488" cy="321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公式" r:id="rId3" imgW="3149600" imgH="1625600" progId="Equation.3">
                  <p:embed/>
                </p:oleObj>
              </mc:Choice>
              <mc:Fallback>
                <p:oleObj name="公式" r:id="rId3" imgW="3149600" imgH="162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341438"/>
                        <a:ext cx="6440488" cy="321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sp>
        <p:nvSpPr>
          <p:cNvPr id="512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435975" cy="4895850"/>
          </a:xfrm>
        </p:spPr>
        <p:txBody>
          <a:bodyPr/>
          <a:lstStyle/>
          <a:p>
            <a:pPr lvl="1" eaLnBrk="1" hangingPunct="1"/>
            <a:r>
              <a:rPr lang="en-US" altLang="zh-CN" smtClean="0"/>
              <a:t> </a:t>
            </a:r>
          </a:p>
        </p:txBody>
      </p:sp>
      <p:grpSp>
        <p:nvGrpSpPr>
          <p:cNvPr id="5126" name="组合 5"/>
          <p:cNvGrpSpPr>
            <a:grpSpLocks/>
          </p:cNvGrpSpPr>
          <p:nvPr/>
        </p:nvGrpSpPr>
        <p:grpSpPr bwMode="auto">
          <a:xfrm>
            <a:off x="1835150" y="4570413"/>
            <a:ext cx="5473700" cy="1708150"/>
            <a:chOff x="1835620" y="4569632"/>
            <a:chExt cx="5473981" cy="1708238"/>
          </a:xfrm>
        </p:grpSpPr>
        <p:pic>
          <p:nvPicPr>
            <p:cNvPr id="5127" name="图片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620" y="4569632"/>
              <a:ext cx="5473981" cy="1708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8" name="图片 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0722" y="5900606"/>
              <a:ext cx="419122" cy="209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A33E85FA-985F-416B-B7CA-9AD7FEFA4FA3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6147" name="Object 2"/>
          <p:cNvGraphicFramePr>
            <a:graphicFrameLocks noChangeAspect="1"/>
          </p:cNvGraphicFramePr>
          <p:nvPr/>
        </p:nvGraphicFramePr>
        <p:xfrm>
          <a:off x="1187450" y="1196975"/>
          <a:ext cx="5616575" cy="501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公式" r:id="rId3" imgW="3086100" imgH="2844800" progId="Equation.3">
                  <p:embed/>
                </p:oleObj>
              </mc:Choice>
              <mc:Fallback>
                <p:oleObj name="公式" r:id="rId3" imgW="3086100" imgH="2844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96975"/>
                        <a:ext cx="5616575" cy="501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6659563" y="2060575"/>
            <a:ext cx="1547812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u="none">
                <a:latin typeface="Times New Roman" pitchFamily="18" charset="0"/>
              </a:rPr>
              <a:t>（式</a:t>
            </a:r>
            <a:r>
              <a:rPr lang="en-US" altLang="zh-CN" sz="2400" u="none">
                <a:latin typeface="Times New Roman" pitchFamily="18" charset="0"/>
              </a:rPr>
              <a:t>2</a:t>
            </a:r>
            <a:r>
              <a:rPr lang="zh-CN" altLang="en-US" sz="2400" u="none">
                <a:latin typeface="Times New Roman" pitchFamily="18" charset="0"/>
              </a:rPr>
              <a:t>）  </a:t>
            </a:r>
          </a:p>
        </p:txBody>
      </p:sp>
      <p:sp>
        <p:nvSpPr>
          <p:cNvPr id="61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sp>
        <p:nvSpPr>
          <p:cNvPr id="615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435975" cy="5040312"/>
          </a:xfrm>
        </p:spPr>
        <p:txBody>
          <a:bodyPr/>
          <a:lstStyle/>
          <a:p>
            <a:pPr lvl="1" eaLnBrk="1" hangingPunct="1"/>
            <a:r>
              <a:rPr lang="en-US" altLang="zh-CN" smtClean="0"/>
              <a:t> </a:t>
            </a:r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6659563" y="4437063"/>
            <a:ext cx="1547812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u="none">
                <a:latin typeface="Times New Roman" pitchFamily="18" charset="0"/>
              </a:rPr>
              <a:t>（式</a:t>
            </a:r>
            <a:r>
              <a:rPr lang="en-US" altLang="zh-CN" sz="2400" u="none">
                <a:latin typeface="Times New Roman" pitchFamily="18" charset="0"/>
              </a:rPr>
              <a:t>3</a:t>
            </a:r>
            <a:r>
              <a:rPr lang="zh-CN" altLang="en-US" sz="2400" u="none">
                <a:latin typeface="Times New Roman" pitchFamily="18" charset="0"/>
              </a:rPr>
              <a:t>）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FC46C06-8363-4189-BA98-3FE5E31A9294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466725" y="1143000"/>
            <a:ext cx="8208963" cy="516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给定线性方程组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，记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列主元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消去法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的具体过程如下：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首先在增广矩阵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的第一列元素中，取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60000"/>
              </a:lnSpc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然后进行第一步消元得增广矩阵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 再在矩阵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的第二列元素中，取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5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然后进行第二步消元得增广矩阵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。按此方法继续进行下去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经过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步选主元和消元运算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得到增广矩阵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).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则方程组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是与原方程组等价的上三角形方程组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可进行回代求解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. </a:t>
            </a:r>
          </a:p>
          <a:p>
            <a:pPr eaLnBrk="1" hangingPunct="1">
              <a:lnSpc>
                <a:spcPct val="95000"/>
              </a:lnSpc>
              <a:spcBef>
                <a:spcPct val="1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易证，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只要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0,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列主元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消去法就可顺利进行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7172" name="Object 3"/>
          <p:cNvGraphicFramePr>
            <a:graphicFrameLocks noChangeAspect="1"/>
          </p:cNvGraphicFramePr>
          <p:nvPr/>
        </p:nvGraphicFramePr>
        <p:xfrm>
          <a:off x="1776413" y="2420938"/>
          <a:ext cx="47990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公式" r:id="rId3" imgW="2349500" imgH="304800" progId="Equation.3">
                  <p:embed/>
                </p:oleObj>
              </mc:Choice>
              <mc:Fallback>
                <p:oleObj name="公式" r:id="rId3" imgW="2349500" imgH="304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2420938"/>
                        <a:ext cx="47990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4"/>
          <p:cNvGraphicFramePr>
            <a:graphicFrameLocks noChangeAspect="1"/>
          </p:cNvGraphicFramePr>
          <p:nvPr/>
        </p:nvGraphicFramePr>
        <p:xfrm>
          <a:off x="1776413" y="3860800"/>
          <a:ext cx="487203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公式" r:id="rId5" imgW="2374900" imgH="304800" progId="Equation.3">
                  <p:embed/>
                </p:oleObj>
              </mc:Choice>
              <mc:Fallback>
                <p:oleObj name="公式" r:id="rId5" imgW="2374900" imgH="30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3860800"/>
                        <a:ext cx="4872037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FA7E5855-204C-44EE-8316-0B896243D40A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684213" y="1052513"/>
            <a:ext cx="7775575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高斯-约当消去法（</a:t>
            </a:r>
            <a:r>
              <a:rPr lang="en-US" altLang="zh-CN" sz="2400" i="1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Gauss</a:t>
            </a:r>
            <a:r>
              <a:rPr lang="en-US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400" i="1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Jordan</a:t>
            </a:r>
            <a:r>
              <a:rPr lang="zh-CN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  <a:endParaRPr lang="zh-CN" altLang="en-US" sz="2400" u="none">
              <a:solidFill>
                <a:srgbClr val="0000FF"/>
              </a:solidFill>
              <a:latin typeface="Times New Roman" pitchFamily="18" charset="0"/>
              <a:ea typeface="楷体_GB2312" pitchFamily="49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这是一种</a:t>
            </a:r>
            <a:r>
              <a:rPr lang="zh-CN" altLang="zh-CN" sz="2400" u="none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无回代</a:t>
            </a: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的方法，使计算工作量减小，在第</a:t>
            </a:r>
            <a:r>
              <a:rPr lang="zh-CN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次消元时不仅把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化成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，不仅将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……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）化成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0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，而且也将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2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……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）也化为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0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，最后消元过程结束时的系数矩阵为</a:t>
            </a:r>
          </a:p>
        </p:txBody>
      </p:sp>
      <p:graphicFrame>
        <p:nvGraphicFramePr>
          <p:cNvPr id="8196" name="Object 3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公式" r:id="rId3" imgW="391303" imgH="739129" progId="Equation.3">
                  <p:embed/>
                </p:oleObj>
              </mc:Choice>
              <mc:Fallback>
                <p:oleObj name="公式" r:id="rId3" imgW="391303" imgH="7391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5148263" y="2781300"/>
          <a:ext cx="2305050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公式" r:id="rId5" imgW="1181100" imgH="1155700" progId="Equation.3">
                  <p:embed/>
                </p:oleObj>
              </mc:Choice>
              <mc:Fallback>
                <p:oleObj name="公式" r:id="rId5" imgW="1181100" imgH="1155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781300"/>
                        <a:ext cx="2305050" cy="225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611188" y="4724400"/>
            <a:ext cx="7993062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得消元公式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 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/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 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k-1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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</a:p>
        </p:txBody>
      </p:sp>
      <p:sp>
        <p:nvSpPr>
          <p:cNvPr id="8199" name="AutoShape 6"/>
          <p:cNvSpPr>
            <a:spLocks/>
          </p:cNvSpPr>
          <p:nvPr/>
        </p:nvSpPr>
        <p:spPr bwMode="auto">
          <a:xfrm>
            <a:off x="755650" y="5445125"/>
            <a:ext cx="71438" cy="576263"/>
          </a:xfrm>
          <a:prstGeom prst="leftBrace">
            <a:avLst>
              <a:gd name="adj1" fmla="val 67222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§3.1.3  </a:t>
            </a:r>
            <a:r>
              <a:rPr lang="zh-CN" altLang="en-US" smtClean="0"/>
              <a:t>高斯</a:t>
            </a:r>
            <a:r>
              <a:rPr lang="en-US" altLang="zh-CN" smtClean="0"/>
              <a:t>-</a:t>
            </a:r>
            <a:r>
              <a:rPr lang="zh-CN" altLang="en-US" smtClean="0"/>
              <a:t>若尔当消去法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6DBF6F96-C407-4564-B910-694D5B60437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  </a:t>
            </a:r>
            <a:r>
              <a:rPr lang="zh-CN" altLang="en-US" smtClean="0"/>
              <a:t>矩阵三角分解法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mtClean="0">
                <a:solidFill>
                  <a:schemeClr val="accent1"/>
                </a:solidFill>
              </a:rPr>
              <a:t>本节内容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zh-CN" smtClean="0">
                <a:solidFill>
                  <a:schemeClr val="accent1"/>
                </a:solidFill>
                <a:hlinkClick r:id="rId2" action="ppaction://hlinksldjump"/>
              </a:rPr>
              <a:t>§</a:t>
            </a:r>
            <a:r>
              <a:rPr lang="en-US" altLang="zh-CN" smtClean="0">
                <a:hlinkClick r:id="rId2" action="ppaction://hlinksldjump"/>
              </a:rPr>
              <a:t>3.2.1 </a:t>
            </a:r>
            <a:r>
              <a:rPr lang="en-US" altLang="zh-CN" i="1" smtClean="0">
                <a:hlinkClick r:id="rId2" action="ppaction://hlinksldjump"/>
              </a:rPr>
              <a:t>Gauss</a:t>
            </a:r>
            <a:r>
              <a:rPr lang="zh-CN" altLang="en-US" smtClean="0">
                <a:hlinkClick r:id="rId2" action="ppaction://hlinksldjump"/>
              </a:rPr>
              <a:t>消去法的矩阵表示</a:t>
            </a:r>
            <a:endParaRPr lang="zh-CN" altLang="en-US" smtClean="0"/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zh-CN" smtClean="0">
                <a:solidFill>
                  <a:schemeClr val="accent1"/>
                </a:solidFill>
                <a:hlinkClick r:id="rId3" action="ppaction://hlinksldjump"/>
              </a:rPr>
              <a:t>§</a:t>
            </a:r>
            <a:r>
              <a:rPr lang="en-US" altLang="zh-CN" smtClean="0">
                <a:hlinkClick r:id="rId3" action="ppaction://hlinksldjump"/>
              </a:rPr>
              <a:t>3.2.2 </a:t>
            </a:r>
            <a:r>
              <a:rPr lang="en-US" altLang="zh-CN" i="1" smtClean="0">
                <a:hlinkClick r:id="rId3" action="ppaction://hlinksldjump"/>
              </a:rPr>
              <a:t>Doolittle</a:t>
            </a:r>
            <a:r>
              <a:rPr lang="zh-CN" altLang="en-US" smtClean="0">
                <a:hlinkClick r:id="rId3" action="ppaction://hlinksldjump"/>
              </a:rPr>
              <a:t>分解法</a:t>
            </a: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46F225D-34DF-422C-A70A-1AA28119AE40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8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§3.2.1 Gauss</a:t>
            </a:r>
            <a:r>
              <a:rPr lang="zh-CN" altLang="en-US" smtClean="0"/>
              <a:t>消去法的矩阵表示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002588" cy="489585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smtClean="0">
                <a:solidFill>
                  <a:srgbClr val="0000FF"/>
                </a:solidFill>
              </a:rPr>
              <a:t>一</a:t>
            </a:r>
            <a:r>
              <a:rPr lang="en-US" altLang="zh-CN" sz="2800" smtClean="0">
                <a:solidFill>
                  <a:srgbClr val="0000FF"/>
                </a:solidFill>
              </a:rPr>
              <a:t>. </a:t>
            </a:r>
            <a:r>
              <a:rPr lang="en-US" altLang="zh-CN" sz="2800" i="1" smtClean="0">
                <a:solidFill>
                  <a:srgbClr val="0000FF"/>
                </a:solidFill>
              </a:rPr>
              <a:t>Gauss</a:t>
            </a:r>
            <a:r>
              <a:rPr lang="zh-CN" altLang="en-US" sz="2800" smtClean="0">
                <a:solidFill>
                  <a:srgbClr val="0000FF"/>
                </a:solidFill>
              </a:rPr>
              <a:t>消去法的矩阵表示</a:t>
            </a:r>
          </a:p>
          <a:p>
            <a:pPr lvl="1" eaLnBrk="1" hangingPunct="1"/>
            <a:r>
              <a:rPr kumimoji="1" lang="zh-CN" altLang="en-US" smtClean="0"/>
              <a:t>对矩阵</a:t>
            </a:r>
            <a:endParaRPr lang="zh-CN" altLang="en-US" smtClean="0"/>
          </a:p>
        </p:txBody>
      </p:sp>
      <p:graphicFrame>
        <p:nvGraphicFramePr>
          <p:cNvPr id="10245" name="Object 4"/>
          <p:cNvGraphicFramePr>
            <a:graphicFrameLocks noChangeAspect="1"/>
          </p:cNvGraphicFramePr>
          <p:nvPr/>
        </p:nvGraphicFramePr>
        <p:xfrm>
          <a:off x="1763713" y="2565400"/>
          <a:ext cx="4319587" cy="22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公式" r:id="rId3" imgW="1790700" imgH="952500" progId="Equation.3">
                  <p:embed/>
                </p:oleObj>
              </mc:Choice>
              <mc:Fallback>
                <p:oleObj name="公式" r:id="rId3" imgW="1790700" imgH="952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565400"/>
                        <a:ext cx="4319587" cy="229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6DF579A0-DABB-4002-9A6F-11F58A9B6A1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9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11267" name="Object 2"/>
          <p:cNvGraphicFramePr>
            <a:graphicFrameLocks noChangeAspect="1"/>
          </p:cNvGraphicFramePr>
          <p:nvPr/>
        </p:nvGraphicFramePr>
        <p:xfrm>
          <a:off x="611188" y="1123950"/>
          <a:ext cx="6335712" cy="512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公式" r:id="rId3" imgW="2933700" imgH="2374900" progId="Equation.3">
                  <p:embed/>
                </p:oleObj>
              </mc:Choice>
              <mc:Fallback>
                <p:oleObj name="公式" r:id="rId3" imgW="2933700" imgH="2374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23950"/>
                        <a:ext cx="6335712" cy="512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§3.2.1 Gauss</a:t>
            </a:r>
            <a:r>
              <a:rPr lang="zh-CN" altLang="en-US" smtClean="0"/>
              <a:t>消去法的矩阵表示</a:t>
            </a: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1916113"/>
            <a:ext cx="3560762" cy="189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E0D7DA80-D195-46AE-972B-CA86176511AA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10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12291" name="Object 2"/>
          <p:cNvGraphicFramePr>
            <a:graphicFrameLocks noChangeAspect="1"/>
          </p:cNvGraphicFramePr>
          <p:nvPr/>
        </p:nvGraphicFramePr>
        <p:xfrm>
          <a:off x="971550" y="1052513"/>
          <a:ext cx="6769100" cy="524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公式" r:id="rId3" imgW="3276600" imgH="2603500" progId="Equation.3">
                  <p:embed/>
                </p:oleObj>
              </mc:Choice>
              <mc:Fallback>
                <p:oleObj name="公式" r:id="rId3" imgW="3276600" imgH="2603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052513"/>
                        <a:ext cx="6769100" cy="524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§3.2.1 Gauss</a:t>
            </a:r>
            <a:r>
              <a:rPr lang="zh-CN" altLang="en-US" smtClean="0"/>
              <a:t>消去法的矩阵表示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78A3014A-BDAC-48BF-A5A9-93845EFC568E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11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13315" name="Object 2"/>
          <p:cNvGraphicFramePr>
            <a:graphicFrameLocks noChangeAspect="1"/>
          </p:cNvGraphicFramePr>
          <p:nvPr/>
        </p:nvGraphicFramePr>
        <p:xfrm>
          <a:off x="827088" y="1123950"/>
          <a:ext cx="6408737" cy="517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公式" r:id="rId3" imgW="2921000" imgH="2374900" progId="Equation.3">
                  <p:embed/>
                </p:oleObj>
              </mc:Choice>
              <mc:Fallback>
                <p:oleObj name="公式" r:id="rId3" imgW="2921000" imgH="2374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123950"/>
                        <a:ext cx="6408737" cy="517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§3.2.1 Gauss</a:t>
            </a:r>
            <a:r>
              <a:rPr lang="zh-CN" altLang="en-US" smtClean="0"/>
              <a:t>消去法的矩阵表示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481D48AD-FFE2-4FFB-AA8C-9215D71E239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466725" y="1268413"/>
            <a:ext cx="81375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也就是：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 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i="1" u="none" baseline="30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i="1" u="none" baseline="-25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i="1" u="none" baseline="30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-1)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i="1" u="none" baseline="-25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i="1" u="none" baseline="-25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-2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i="1" u="none" baseline="30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-2)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=…= 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i="1" u="none" baseline="-25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i="1" u="none" baseline="-25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-2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…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其中：</a:t>
            </a:r>
          </a:p>
        </p:txBody>
      </p:sp>
      <p:graphicFrame>
        <p:nvGraphicFramePr>
          <p:cNvPr id="14340" name="Object 3"/>
          <p:cNvGraphicFramePr>
            <a:graphicFrameLocks noChangeAspect="1"/>
          </p:cNvGraphicFramePr>
          <p:nvPr/>
        </p:nvGraphicFramePr>
        <p:xfrm>
          <a:off x="1692275" y="2708275"/>
          <a:ext cx="5538788" cy="222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公式" r:id="rId3" imgW="3479800" imgH="1397000" progId="Equation.3">
                  <p:embed/>
                </p:oleObj>
              </mc:Choice>
              <mc:Fallback>
                <p:oleObj name="公式" r:id="rId3" imgW="3479800" imgH="139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708275"/>
                        <a:ext cx="5538788" cy="222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466725" y="5157788"/>
            <a:ext cx="77057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所以有：    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 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…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i="1" u="none" baseline="-25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i="1" u="none" baseline="30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) 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  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LU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其中：    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…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i="1" u="none" baseline="-25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     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U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i="1" u="none" baseline="3000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143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§3.2.1 Gauss</a:t>
            </a:r>
            <a:r>
              <a:rPr lang="zh-CN" altLang="en-US" smtClean="0"/>
              <a:t>消去法的矩阵表示</a:t>
            </a:r>
          </a:p>
        </p:txBody>
      </p:sp>
      <p:sp useBgFill="1">
        <p:nvSpPr>
          <p:cNvPr id="2" name="TextBox 1"/>
          <p:cNvSpPr txBox="1"/>
          <p:nvPr/>
        </p:nvSpPr>
        <p:spPr>
          <a:xfrm>
            <a:off x="5416550" y="3748088"/>
            <a:ext cx="149066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latin typeface="+mn-lt"/>
                <a:ea typeface="+mn-ea"/>
              </a:rPr>
              <a:t>第</a:t>
            </a:r>
            <a:r>
              <a:rPr lang="en-US" altLang="zh-CN" i="1" dirty="0">
                <a:latin typeface="+mn-lt"/>
                <a:ea typeface="+mn-ea"/>
              </a:rPr>
              <a:t>k+1</a:t>
            </a:r>
            <a:r>
              <a:rPr lang="zh-CN" altLang="en-US" dirty="0">
                <a:latin typeface="+mn-lt"/>
                <a:ea typeface="+mn-ea"/>
              </a:rPr>
              <a:t>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7993D596-7AC2-4117-B6C8-C9C0B8DA166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15363" name="Object 2"/>
          <p:cNvGraphicFramePr>
            <a:graphicFrameLocks noChangeAspect="1"/>
          </p:cNvGraphicFramePr>
          <p:nvPr/>
        </p:nvGraphicFramePr>
        <p:xfrm>
          <a:off x="827088" y="1123950"/>
          <a:ext cx="7385050" cy="279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公式" r:id="rId3" imgW="4292600" imgH="1625600" progId="Equation.3">
                  <p:embed/>
                </p:oleObj>
              </mc:Choice>
              <mc:Fallback>
                <p:oleObj name="公式" r:id="rId3" imgW="4292600" imgH="162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123950"/>
                        <a:ext cx="7385050" cy="279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3"/>
          <p:cNvGraphicFramePr>
            <a:graphicFrameLocks noChangeAspect="1"/>
          </p:cNvGraphicFramePr>
          <p:nvPr/>
        </p:nvGraphicFramePr>
        <p:xfrm>
          <a:off x="4859338" y="3933825"/>
          <a:ext cx="3384550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公式" r:id="rId5" imgW="1688367" imgH="952087" progId="Equation.3">
                  <p:embed/>
                </p:oleObj>
              </mc:Choice>
              <mc:Fallback>
                <p:oleObj name="公式" r:id="rId5" imgW="1688367" imgH="95208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933825"/>
                        <a:ext cx="3384550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900113" y="4437063"/>
            <a:ext cx="3470275" cy="101441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</a:rPr>
              <a:t>L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</a:rPr>
              <a:t>称为单位下三角矩阵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</a:rPr>
              <a:t>U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</a:rPr>
              <a:t>是上三角矩阵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755650" y="5805488"/>
            <a:ext cx="565150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式 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LU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称为矩阵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的三角分解。</a:t>
            </a:r>
            <a:endParaRPr kumimoji="1" lang="zh-CN" altLang="en-US" sz="2400" u="none" baseline="3000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36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§3.2.1 Gauss</a:t>
            </a:r>
            <a:r>
              <a:rPr lang="zh-CN" altLang="en-US" smtClean="0"/>
              <a:t>消去法的矩阵表示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18A1AFD-99B4-4AAC-9454-578566B87E58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23950"/>
            <a:ext cx="8229600" cy="4968875"/>
          </a:xfrm>
        </p:spPr>
        <p:txBody>
          <a:bodyPr/>
          <a:lstStyle/>
          <a:p>
            <a:pPr eaLnBrk="1" hangingPunct="1"/>
            <a:r>
              <a:rPr kumimoji="1" lang="en-US" altLang="zh-CN" sz="2800" i="1" smtClean="0">
                <a:solidFill>
                  <a:srgbClr val="0000FF"/>
                </a:solidFill>
              </a:rPr>
              <a:t>Doolittle</a:t>
            </a:r>
            <a:r>
              <a:rPr kumimoji="1" lang="zh-CN" altLang="en-US" sz="2800" smtClean="0">
                <a:solidFill>
                  <a:srgbClr val="0000FF"/>
                </a:solidFill>
              </a:rPr>
              <a:t>分解法</a:t>
            </a:r>
            <a:endParaRPr lang="zh-CN" altLang="en-US" sz="2800" smtClean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755650" y="1628775"/>
            <a:ext cx="7848600" cy="414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</a:rPr>
              <a:t>定理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设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阶方阵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的各阶顺序主子式不为零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则存在唯</a:t>
            </a:r>
          </a:p>
          <a:p>
            <a:pPr eaLnBrk="1" hangingPunct="1">
              <a:lnSpc>
                <a:spcPct val="105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   一单位下三角矩阵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和上三角矩阵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U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使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LU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05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证明  只证唯一性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设有两种分解</a:t>
            </a:r>
          </a:p>
          <a:p>
            <a:pPr eaLnBrk="1" hangingPunct="1">
              <a:lnSpc>
                <a:spcPct val="105000"/>
              </a:lnSpc>
            </a:pPr>
            <a:endParaRPr kumimoji="1" lang="zh-CN" altLang="en-US" sz="24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则有</a:t>
            </a:r>
          </a:p>
          <a:p>
            <a:pPr eaLnBrk="1" hangingPunct="1">
              <a:lnSpc>
                <a:spcPct val="90000"/>
              </a:lnSpc>
            </a:pPr>
            <a:endParaRPr kumimoji="1" lang="zh-CN" altLang="en-US" sz="24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kumimoji="1" lang="zh-CN" altLang="en-US" sz="24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所以得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于是        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Ax=b  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  LUx=b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      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令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Ux=y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得</a:t>
            </a:r>
            <a:endParaRPr kumimoji="1" lang="zh-CN" altLang="en-US" sz="240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3276600" y="2852738"/>
          <a:ext cx="17049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公式" r:id="rId3" imgW="914003" imgH="215806" progId="Equation.3">
                  <p:embed/>
                </p:oleObj>
              </mc:Choice>
              <mc:Fallback>
                <p:oleObj name="公式" r:id="rId3" imgW="914003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52738"/>
                        <a:ext cx="17049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5"/>
          <p:cNvGraphicFramePr>
            <a:graphicFrameLocks noChangeAspect="1"/>
          </p:cNvGraphicFramePr>
          <p:nvPr/>
        </p:nvGraphicFramePr>
        <p:xfrm>
          <a:off x="3276600" y="3429000"/>
          <a:ext cx="22082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公式" r:id="rId5" imgW="1104900" imgH="469900" progId="Equation.3">
                  <p:embed/>
                </p:oleObj>
              </mc:Choice>
              <mc:Fallback>
                <p:oleObj name="公式" r:id="rId5" imgW="11049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429000"/>
                        <a:ext cx="22082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6"/>
          <p:cNvGraphicFramePr>
            <a:graphicFrameLocks noChangeAspect="1"/>
          </p:cNvGraphicFramePr>
          <p:nvPr/>
        </p:nvGraphicFramePr>
        <p:xfrm>
          <a:off x="3276600" y="4365625"/>
          <a:ext cx="1946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公式" r:id="rId7" imgW="1016000" imgH="203200" progId="Equation.3">
                  <p:embed/>
                </p:oleObj>
              </mc:Choice>
              <mc:Fallback>
                <p:oleObj name="公式" r:id="rId7" imgW="10160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365625"/>
                        <a:ext cx="19462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7"/>
          <p:cNvGraphicFramePr>
            <a:graphicFrameLocks noChangeAspect="1"/>
          </p:cNvGraphicFramePr>
          <p:nvPr/>
        </p:nvGraphicFramePr>
        <p:xfrm>
          <a:off x="3635375" y="5300663"/>
          <a:ext cx="12239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公式" r:id="rId9" imgW="558800" imgH="469900" progId="Equation.3">
                  <p:embed/>
                </p:oleObj>
              </mc:Choice>
              <mc:Fallback>
                <p:oleObj name="公式" r:id="rId9" imgW="5588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300663"/>
                        <a:ext cx="122396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</a:t>
            </a:r>
            <a:r>
              <a:rPr lang="zh-CN" altLang="en-US" smtClean="0"/>
              <a:t>杜里特尔（</a:t>
            </a:r>
            <a:r>
              <a:rPr lang="en-US" altLang="zh-CN" smtClean="0"/>
              <a:t>Doolittle</a:t>
            </a:r>
            <a:r>
              <a:rPr lang="zh-CN" altLang="en-US" smtClean="0"/>
              <a:t>）分解法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0E43A761-75C7-430D-B4CE-73000F02883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/>
        </p:nvGraphicFramePr>
        <p:xfrm>
          <a:off x="827088" y="981075"/>
          <a:ext cx="6551612" cy="530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公式" r:id="rId3" imgW="3594100" imgH="3060700" progId="Equation.3">
                  <p:embed/>
                </p:oleObj>
              </mc:Choice>
              <mc:Fallback>
                <p:oleObj name="公式" r:id="rId3" imgW="3594100" imgH="3060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981075"/>
                        <a:ext cx="6551612" cy="530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BB7CA32-74FB-4D3C-A51E-FE76C200FF43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18435" name="Object 2"/>
          <p:cNvGraphicFramePr>
            <a:graphicFrameLocks noChangeAspect="1"/>
          </p:cNvGraphicFramePr>
          <p:nvPr/>
        </p:nvGraphicFramePr>
        <p:xfrm>
          <a:off x="827088" y="2133600"/>
          <a:ext cx="7416800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公式" r:id="rId3" imgW="3556000" imgH="1384300" progId="Equation.3">
                  <p:embed/>
                </p:oleObj>
              </mc:Choice>
              <mc:Fallback>
                <p:oleObj name="公式" r:id="rId3" imgW="3556000" imgH="1384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133600"/>
                        <a:ext cx="7416800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827088" y="1268413"/>
            <a:ext cx="3600450" cy="50482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2400" u="none"/>
              <a:t>对</a:t>
            </a:r>
            <a:r>
              <a:rPr lang="en-US" altLang="zh-CN" sz="2400" u="none"/>
              <a:t>K=2,3,</a:t>
            </a:r>
            <a:r>
              <a:rPr lang="en-US" altLang="zh-CN" sz="2400" u="none">
                <a:cs typeface="Arial" charset="0"/>
              </a:rPr>
              <a:t>…,n  </a:t>
            </a:r>
            <a:r>
              <a:rPr lang="zh-CN" altLang="en-US" sz="2400" u="none">
                <a:cs typeface="Arial" charset="0"/>
              </a:rPr>
              <a:t>计算（</a:t>
            </a:r>
            <a:r>
              <a:rPr lang="en-US" altLang="zh-CN" sz="2400" u="none">
                <a:cs typeface="Arial" charset="0"/>
              </a:rPr>
              <a:t>1</a:t>
            </a:r>
            <a:r>
              <a:rPr lang="zh-CN" altLang="en-US" sz="2400" u="none">
                <a:cs typeface="Arial" charset="0"/>
              </a:rPr>
              <a:t>）</a:t>
            </a:r>
          </a:p>
        </p:txBody>
      </p:sp>
      <p:sp>
        <p:nvSpPr>
          <p:cNvPr id="18437" name="AutoShape 4"/>
          <p:cNvSpPr>
            <a:spLocks/>
          </p:cNvSpPr>
          <p:nvPr/>
        </p:nvSpPr>
        <p:spPr bwMode="auto">
          <a:xfrm>
            <a:off x="4211638" y="5157788"/>
            <a:ext cx="2519362" cy="504825"/>
          </a:xfrm>
          <a:prstGeom prst="borderCallout2">
            <a:avLst>
              <a:gd name="adj1" fmla="val 22644"/>
              <a:gd name="adj2" fmla="val -3023"/>
              <a:gd name="adj3" fmla="val 22644"/>
              <a:gd name="adj4" fmla="val -43856"/>
              <a:gd name="adj5" fmla="val -66981"/>
              <a:gd name="adj6" fmla="val -93634"/>
            </a:avLst>
          </a:prstGeom>
          <a:solidFill>
            <a:srgbClr val="00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 sz="2400" u="none">
                <a:latin typeface="Times New Roman" pitchFamily="18" charset="0"/>
              </a:rPr>
              <a:t>求</a:t>
            </a:r>
            <a:r>
              <a:rPr lang="en-US" altLang="zh-CN" sz="2400" u="none">
                <a:latin typeface="Times New Roman" pitchFamily="18" charset="0"/>
              </a:rPr>
              <a:t>U</a:t>
            </a:r>
            <a:r>
              <a:rPr lang="zh-CN" altLang="en-US" sz="2400" u="none">
                <a:latin typeface="Times New Roman" pitchFamily="18" charset="0"/>
              </a:rPr>
              <a:t>的第</a:t>
            </a:r>
            <a:r>
              <a:rPr lang="en-US" altLang="zh-CN" sz="2400" u="none">
                <a:latin typeface="Times New Roman" pitchFamily="18" charset="0"/>
              </a:rPr>
              <a:t>i</a:t>
            </a:r>
            <a:r>
              <a:rPr lang="zh-CN" altLang="en-US" sz="2400" u="none">
                <a:latin typeface="Times New Roman" pitchFamily="18" charset="0"/>
              </a:rPr>
              <a:t>行元素</a:t>
            </a:r>
          </a:p>
        </p:txBody>
      </p:sp>
      <p:sp>
        <p:nvSpPr>
          <p:cNvPr id="1843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2876550" y="4097338"/>
            <a:ext cx="163513" cy="209550"/>
          </a:xfrm>
          <a:prstGeom prst="rect">
            <a:avLst/>
          </a:prstGeom>
          <a:solidFill>
            <a:srgbClr val="E1F4FF"/>
          </a:solidFill>
          <a:ln w="9525" cap="flat" cmpd="sng" algn="ctr">
            <a:solidFill>
              <a:srgbClr val="E1F4FF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tIns="0" rIns="0"/>
          <a:lstStyle/>
          <a:p>
            <a:pPr eaLnBrk="1" hangingPunct="1">
              <a:defRPr/>
            </a:pPr>
            <a:r>
              <a:rPr lang="en-US" altLang="zh-CN" sz="1500" i="1" u="none" dirty="0">
                <a:latin typeface="+mn-lt"/>
              </a:rPr>
              <a:t>i</a:t>
            </a:r>
            <a:endParaRPr lang="zh-CN" altLang="en-US" sz="1500" i="1" u="none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03AD0E5C-DAAA-493A-A7C6-35D12862EC45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827088" y="1268413"/>
            <a:ext cx="3600450" cy="50482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2400" u="none"/>
              <a:t>对</a:t>
            </a:r>
            <a:r>
              <a:rPr lang="en-US" altLang="zh-CN" sz="2400" u="none"/>
              <a:t>K=2,3,</a:t>
            </a:r>
            <a:r>
              <a:rPr lang="en-US" altLang="zh-CN" sz="2400" u="none">
                <a:cs typeface="Arial" charset="0"/>
              </a:rPr>
              <a:t>…,n  </a:t>
            </a:r>
            <a:r>
              <a:rPr lang="zh-CN" altLang="en-US" sz="2400" u="none">
                <a:cs typeface="Arial" charset="0"/>
              </a:rPr>
              <a:t>计算（</a:t>
            </a:r>
            <a:r>
              <a:rPr lang="en-US" altLang="zh-CN" sz="2400" u="none">
                <a:cs typeface="Arial" charset="0"/>
              </a:rPr>
              <a:t>2</a:t>
            </a:r>
            <a:r>
              <a:rPr lang="zh-CN" altLang="en-US" sz="2400" u="none">
                <a:cs typeface="Arial" charset="0"/>
              </a:rPr>
              <a:t>）</a:t>
            </a:r>
          </a:p>
        </p:txBody>
      </p:sp>
      <p:sp>
        <p:nvSpPr>
          <p:cNvPr id="19460" name="AutoShape 4"/>
          <p:cNvSpPr>
            <a:spLocks/>
          </p:cNvSpPr>
          <p:nvPr/>
        </p:nvSpPr>
        <p:spPr bwMode="auto">
          <a:xfrm>
            <a:off x="3419475" y="5405438"/>
            <a:ext cx="2590800" cy="504825"/>
          </a:xfrm>
          <a:prstGeom prst="borderCallout2">
            <a:avLst>
              <a:gd name="adj1" fmla="val 22644"/>
              <a:gd name="adj2" fmla="val -2940"/>
              <a:gd name="adj3" fmla="val 22644"/>
              <a:gd name="adj4" fmla="val -25921"/>
              <a:gd name="adj5" fmla="val -105032"/>
              <a:gd name="adj6" fmla="val -54106"/>
            </a:avLst>
          </a:prstGeom>
          <a:solidFill>
            <a:srgbClr val="00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 sz="2400" u="none">
                <a:latin typeface="Times New Roman" pitchFamily="18" charset="0"/>
              </a:rPr>
              <a:t>求</a:t>
            </a:r>
            <a:r>
              <a:rPr lang="en-US" altLang="zh-CN" sz="2400" u="none">
                <a:latin typeface="Times New Roman" pitchFamily="18" charset="0"/>
              </a:rPr>
              <a:t>L</a:t>
            </a:r>
            <a:r>
              <a:rPr lang="zh-CN" altLang="en-US" sz="2400" u="none">
                <a:latin typeface="Times New Roman" pitchFamily="18" charset="0"/>
              </a:rPr>
              <a:t>的第</a:t>
            </a:r>
            <a:r>
              <a:rPr lang="en-US" altLang="zh-CN" sz="2400" u="none">
                <a:latin typeface="Times New Roman" pitchFamily="18" charset="0"/>
              </a:rPr>
              <a:t>i</a:t>
            </a:r>
            <a:r>
              <a:rPr lang="zh-CN" altLang="en-US" sz="2400" u="none">
                <a:latin typeface="Times New Roman" pitchFamily="18" charset="0"/>
              </a:rPr>
              <a:t>列元素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  <p:grpSp>
        <p:nvGrpSpPr>
          <p:cNvPr id="19462" name="组合 3"/>
          <p:cNvGrpSpPr>
            <a:grpSpLocks/>
          </p:cNvGrpSpPr>
          <p:nvPr/>
        </p:nvGrpSpPr>
        <p:grpSpPr bwMode="auto">
          <a:xfrm>
            <a:off x="827088" y="1989138"/>
            <a:ext cx="6680200" cy="3232150"/>
            <a:chOff x="827088" y="1989138"/>
            <a:chExt cx="6680200" cy="3232150"/>
          </a:xfrm>
        </p:grpSpPr>
        <p:graphicFrame>
          <p:nvGraphicFramePr>
            <p:cNvPr id="19463" name="Object 2"/>
            <p:cNvGraphicFramePr>
              <a:graphicFrameLocks noChangeAspect="1"/>
            </p:cNvGraphicFramePr>
            <p:nvPr/>
          </p:nvGraphicFramePr>
          <p:xfrm>
            <a:off x="827088" y="1989138"/>
            <a:ext cx="6680200" cy="3232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8" name="公式" r:id="rId3" imgW="2997200" imgH="1447800" progId="Equation.3">
                    <p:embed/>
                  </p:oleObj>
                </mc:Choice>
                <mc:Fallback>
                  <p:oleObj name="公式" r:id="rId3" imgW="2997200" imgH="14478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088" y="1989138"/>
                          <a:ext cx="6680200" cy="3232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464" name="图片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560" y="3861060"/>
              <a:ext cx="139707" cy="215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9C35FED0-626B-40FE-99A9-1B1148646BBE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18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0483" name="Object 2"/>
          <p:cNvGraphicFramePr>
            <a:graphicFrameLocks noChangeAspect="1"/>
          </p:cNvGraphicFramePr>
          <p:nvPr/>
        </p:nvGraphicFramePr>
        <p:xfrm>
          <a:off x="1042988" y="1196975"/>
          <a:ext cx="6891337" cy="502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公式" r:id="rId3" imgW="2895600" imgH="2108200" progId="Equation.3">
                  <p:embed/>
                </p:oleObj>
              </mc:Choice>
              <mc:Fallback>
                <p:oleObj name="公式" r:id="rId3" imgW="2895600" imgH="2108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96975"/>
                        <a:ext cx="6891337" cy="502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3B899DE8-51B1-45B1-B382-257D3C0E887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19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1507" name="Object 2"/>
          <p:cNvGraphicFramePr>
            <a:graphicFrameLocks noChangeAspect="1"/>
          </p:cNvGraphicFramePr>
          <p:nvPr/>
        </p:nvGraphicFramePr>
        <p:xfrm>
          <a:off x="466725" y="1196975"/>
          <a:ext cx="3960813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name="公式" r:id="rId3" imgW="2997200" imgH="1625600" progId="Equation.3">
                  <p:embed/>
                </p:oleObj>
              </mc:Choice>
              <mc:Fallback>
                <p:oleObj name="公式" r:id="rId3" imgW="2997200" imgH="162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1196975"/>
                        <a:ext cx="3960813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  <p:grpSp>
        <p:nvGrpSpPr>
          <p:cNvPr id="21509" name="组合 2"/>
          <p:cNvGrpSpPr>
            <a:grpSpLocks/>
          </p:cNvGrpSpPr>
          <p:nvPr/>
        </p:nvGrpSpPr>
        <p:grpSpPr bwMode="auto">
          <a:xfrm>
            <a:off x="3419475" y="3284538"/>
            <a:ext cx="5106988" cy="3071812"/>
            <a:chOff x="3419475" y="3284539"/>
            <a:chExt cx="5106988" cy="3071813"/>
          </a:xfrm>
        </p:grpSpPr>
        <p:grpSp>
          <p:nvGrpSpPr>
            <p:cNvPr id="21510" name="Group 3"/>
            <p:cNvGrpSpPr>
              <a:grpSpLocks/>
            </p:cNvGrpSpPr>
            <p:nvPr/>
          </p:nvGrpSpPr>
          <p:grpSpPr bwMode="auto">
            <a:xfrm>
              <a:off x="3419475" y="3284539"/>
              <a:ext cx="5106988" cy="3071813"/>
              <a:chOff x="1156" y="1933"/>
              <a:chExt cx="3217" cy="1935"/>
            </a:xfrm>
          </p:grpSpPr>
          <p:graphicFrame>
            <p:nvGraphicFramePr>
              <p:cNvPr id="21512" name="Object 4"/>
              <p:cNvGraphicFramePr>
                <a:graphicFrameLocks noChangeAspect="1"/>
              </p:cNvGraphicFramePr>
              <p:nvPr/>
            </p:nvGraphicFramePr>
            <p:xfrm>
              <a:off x="1156" y="1933"/>
              <a:ext cx="3217" cy="19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21" name="公式" r:id="rId5" imgW="2743200" imgH="1651000" progId="Equation.3">
                      <p:embed/>
                    </p:oleObj>
                  </mc:Choice>
                  <mc:Fallback>
                    <p:oleObj name="公式" r:id="rId5" imgW="2743200" imgH="16510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6" y="1933"/>
                            <a:ext cx="3217" cy="19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13" name="AutoShape 5"/>
              <p:cNvSpPr>
                <a:spLocks/>
              </p:cNvSpPr>
              <p:nvPr/>
            </p:nvSpPr>
            <p:spPr bwMode="auto">
              <a:xfrm>
                <a:off x="1202" y="2023"/>
                <a:ext cx="45" cy="1769"/>
              </a:xfrm>
              <a:prstGeom prst="leftBrace">
                <a:avLst>
                  <a:gd name="adj1" fmla="val 327593"/>
                  <a:gd name="adj2" fmla="val 50000"/>
                </a:avLst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" name="矩形 1"/>
            <p:cNvSpPr/>
            <p:nvPr/>
          </p:nvSpPr>
          <p:spPr bwMode="auto">
            <a:xfrm>
              <a:off x="4852988" y="4640264"/>
              <a:ext cx="144462" cy="215900"/>
            </a:xfrm>
            <a:prstGeom prst="rect">
              <a:avLst/>
            </a:prstGeom>
            <a:solidFill>
              <a:srgbClr val="E1F4FF"/>
            </a:solidFill>
            <a:ln w="9525" cap="flat" cmpd="sng" algn="ctr">
              <a:solidFill>
                <a:srgbClr val="E1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tIns="32400"/>
            <a:lstStyle/>
            <a:p>
              <a:pPr eaLnBrk="1" hangingPunct="1">
                <a:defRPr/>
              </a:pPr>
              <a:r>
                <a:rPr lang="en-US" altLang="zh-CN" sz="1300" i="1" u="none" dirty="0">
                  <a:latin typeface="+mn-lt"/>
                </a:rPr>
                <a:t>i</a:t>
              </a:r>
              <a:endParaRPr lang="zh-CN" altLang="en-US" sz="1300" i="1" u="none" dirty="0">
                <a:latin typeface="+mn-lt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889AB0-DCD2-4895-9267-4AA5EAE2B8C8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530" y="0"/>
            <a:ext cx="6840950" cy="4642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530" y="4650698"/>
            <a:ext cx="6840950" cy="2207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1310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889AB0-DCD2-4895-9267-4AA5EAE2B8C8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24" y="1340710"/>
            <a:ext cx="9163273" cy="4536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00910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45D778B-DDF0-41A7-8F58-49D85C3EB58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2531" name="Object 2"/>
          <p:cNvGraphicFramePr>
            <a:graphicFrameLocks noChangeAspect="1"/>
          </p:cNvGraphicFramePr>
          <p:nvPr/>
        </p:nvGraphicFramePr>
        <p:xfrm>
          <a:off x="684213" y="1123950"/>
          <a:ext cx="7848600" cy="440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公式" r:id="rId3" imgW="4165600" imgH="2336800" progId="Equation.3">
                  <p:embed/>
                </p:oleObj>
              </mc:Choice>
              <mc:Fallback>
                <p:oleObj name="公式" r:id="rId3" imgW="4165600" imgH="2336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23950"/>
                        <a:ext cx="7848600" cy="440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684213" y="5661025"/>
            <a:ext cx="709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这就是求解方程组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Ax=b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Doolittle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三角分解方法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253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409BDC2F-F8C6-44A6-A8A4-C1669DC00864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539750" y="1196975"/>
            <a:ext cx="53276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例  利用三角分解方法解线性方程组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50825" y="3068638"/>
            <a:ext cx="39957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解  因为</a:t>
            </a: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971550" y="3644900"/>
          <a:ext cx="7443788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公式" r:id="rId3" imgW="4318000" imgH="1435100" progId="Equation.3">
                  <p:embed/>
                </p:oleObj>
              </mc:Choice>
              <mc:Fallback>
                <p:oleObj name="公式" r:id="rId3" imgW="4318000" imgH="1435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644900"/>
                        <a:ext cx="7443788" cy="247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39750" y="3133725"/>
            <a:ext cx="8064500" cy="29845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23560" name="组合 2"/>
          <p:cNvGrpSpPr>
            <a:grpSpLocks/>
          </p:cNvGrpSpPr>
          <p:nvPr/>
        </p:nvGrpSpPr>
        <p:grpSpPr bwMode="auto">
          <a:xfrm>
            <a:off x="2484438" y="1692275"/>
            <a:ext cx="2663825" cy="1441450"/>
            <a:chOff x="2484438" y="1692487"/>
            <a:chExt cx="2663825" cy="1441238"/>
          </a:xfrm>
        </p:grpSpPr>
        <p:graphicFrame>
          <p:nvGraphicFramePr>
            <p:cNvPr id="23561" name="Object 3"/>
            <p:cNvGraphicFramePr>
              <a:graphicFrameLocks noChangeAspect="1"/>
            </p:cNvGraphicFramePr>
            <p:nvPr/>
          </p:nvGraphicFramePr>
          <p:xfrm>
            <a:off x="2484438" y="1700213"/>
            <a:ext cx="2663825" cy="1433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71" name="公式" r:id="rId5" imgW="1320227" imgH="710891" progId="Equation.3">
                    <p:embed/>
                  </p:oleObj>
                </mc:Choice>
                <mc:Fallback>
                  <p:oleObj name="公式" r:id="rId5" imgW="1320227" imgH="710891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4438" y="1700213"/>
                          <a:ext cx="2663825" cy="1433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3562" name="Picture 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840" y="1700760"/>
              <a:ext cx="330940" cy="432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3563" name="Picture 10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2300" y="1692487"/>
              <a:ext cx="327690" cy="440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A87C632-5F10-4BBF-8F8A-9FC2E0BE962B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4579" name="Object 2"/>
          <p:cNvGraphicFramePr>
            <a:graphicFrameLocks noChangeAspect="1"/>
          </p:cNvGraphicFramePr>
          <p:nvPr/>
        </p:nvGraphicFramePr>
        <p:xfrm>
          <a:off x="755650" y="1123950"/>
          <a:ext cx="6337300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公式" r:id="rId3" imgW="3073400" imgH="939800" progId="Equation.3">
                  <p:embed/>
                </p:oleObj>
              </mc:Choice>
              <mc:Fallback>
                <p:oleObj name="公式" r:id="rId3" imgW="3073400" imgH="93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123950"/>
                        <a:ext cx="6337300" cy="193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466725" y="3716338"/>
            <a:ext cx="82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先解</a:t>
            </a:r>
          </a:p>
        </p:txBody>
      </p:sp>
      <p:graphicFrame>
        <p:nvGraphicFramePr>
          <p:cNvPr id="24582" name="Object 5"/>
          <p:cNvGraphicFramePr>
            <a:graphicFrameLocks noChangeAspect="1"/>
          </p:cNvGraphicFramePr>
          <p:nvPr/>
        </p:nvGraphicFramePr>
        <p:xfrm>
          <a:off x="1331913" y="3213100"/>
          <a:ext cx="2879725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公式" r:id="rId5" imgW="1384300" imgH="711200" progId="Equation.3">
                  <p:embed/>
                </p:oleObj>
              </mc:Choice>
              <mc:Fallback>
                <p:oleObj name="公式" r:id="rId5" imgW="13843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213100"/>
                        <a:ext cx="2879725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4211638" y="3716338"/>
            <a:ext cx="576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24584" name="Object 7"/>
          <p:cNvGraphicFramePr>
            <a:graphicFrameLocks noChangeAspect="1"/>
          </p:cNvGraphicFramePr>
          <p:nvPr/>
        </p:nvGraphicFramePr>
        <p:xfrm>
          <a:off x="4924425" y="3213100"/>
          <a:ext cx="3346450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公式" r:id="rId7" imgW="1651000" imgH="711200" progId="Equation.3">
                  <p:embed/>
                </p:oleObj>
              </mc:Choice>
              <mc:Fallback>
                <p:oleObj name="公式" r:id="rId7" imgW="16510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3213100"/>
                        <a:ext cx="3346450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Rectangle 8"/>
          <p:cNvSpPr>
            <a:spLocks noChangeArrowheads="1"/>
          </p:cNvSpPr>
          <p:nvPr/>
        </p:nvSpPr>
        <p:spPr bwMode="auto">
          <a:xfrm>
            <a:off x="395288" y="5229225"/>
            <a:ext cx="900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再解</a:t>
            </a:r>
          </a:p>
        </p:txBody>
      </p:sp>
      <p:graphicFrame>
        <p:nvGraphicFramePr>
          <p:cNvPr id="24586" name="Object 9"/>
          <p:cNvGraphicFramePr>
            <a:graphicFrameLocks noChangeAspect="1"/>
          </p:cNvGraphicFramePr>
          <p:nvPr/>
        </p:nvGraphicFramePr>
        <p:xfrm>
          <a:off x="1258888" y="4868863"/>
          <a:ext cx="3313112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公式" r:id="rId9" imgW="1816100" imgH="711200" progId="Equation.3">
                  <p:embed/>
                </p:oleObj>
              </mc:Choice>
              <mc:Fallback>
                <p:oleObj name="公式" r:id="rId9" imgW="1816100" imgH="71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868863"/>
                        <a:ext cx="3313112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Rectangle 10"/>
          <p:cNvSpPr>
            <a:spLocks noChangeArrowheads="1"/>
          </p:cNvSpPr>
          <p:nvPr/>
        </p:nvSpPr>
        <p:spPr bwMode="auto">
          <a:xfrm>
            <a:off x="4572000" y="5229225"/>
            <a:ext cx="755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24588" name="Object 11"/>
          <p:cNvGraphicFramePr>
            <a:graphicFrameLocks noChangeAspect="1"/>
          </p:cNvGraphicFramePr>
          <p:nvPr/>
        </p:nvGraphicFramePr>
        <p:xfrm>
          <a:off x="5219700" y="4724400"/>
          <a:ext cx="3240088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公式" r:id="rId11" imgW="1497950" imgH="710891" progId="Equation.3">
                  <p:embed/>
                </p:oleObj>
              </mc:Choice>
              <mc:Fallback>
                <p:oleObj name="公式" r:id="rId11" imgW="1497950" imgH="71089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724400"/>
                        <a:ext cx="3240088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927E69E-367F-4C74-909C-48DD7B323B7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611188" y="1196975"/>
            <a:ext cx="7848600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解线性方程组 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的 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Doolittle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三角分解法的计算量约为 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1/3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600" u="none" baseline="30000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与 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Gauss </a:t>
            </a:r>
            <a:r>
              <a:rPr kumimoji="1" lang="zh-CN" altLang="en-US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消去法基本相同。其优点在于求一系列同系数的线性方程组 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600" i="1" u="none" baseline="-25000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 , (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=1,2,…,</a:t>
            </a:r>
            <a:r>
              <a:rPr kumimoji="1" lang="en-US" altLang="zh-CN" sz="26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时</a:t>
            </a:r>
            <a:r>
              <a:rPr kumimoji="1" lang="en-US" altLang="zh-CN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6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可大大节省运算量。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611188" y="3860800"/>
            <a:ext cx="7705725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例如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求上例中矩阵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的逆矩阵。可分别取常向量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          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6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=(1,0,0)</a:t>
            </a:r>
            <a:r>
              <a:rPr kumimoji="1" lang="en-US" altLang="zh-CN" sz="2600" i="1" u="none" baseline="30000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,   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6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=(0,1,0)</a:t>
            </a:r>
            <a:r>
              <a:rPr kumimoji="1" lang="en-US" altLang="zh-CN" sz="2600" i="1" u="none" baseline="30000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,   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600" u="none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=(0,0,1)</a:t>
            </a:r>
            <a:r>
              <a:rPr kumimoji="1" lang="en-US" altLang="zh-CN" sz="2600" i="1" u="none" baseline="30000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CCD4C11-7A6F-4CBB-AA5F-DC796BD58FD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6627" name="Object 2"/>
          <p:cNvGraphicFramePr>
            <a:graphicFrameLocks noChangeAspect="1"/>
          </p:cNvGraphicFramePr>
          <p:nvPr/>
        </p:nvGraphicFramePr>
        <p:xfrm>
          <a:off x="611188" y="1123950"/>
          <a:ext cx="7793037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公式" r:id="rId3" imgW="4305300" imgH="2171700" progId="Equation.3">
                  <p:embed/>
                </p:oleObj>
              </mc:Choice>
              <mc:Fallback>
                <p:oleObj name="公式" r:id="rId3" imgW="4305300" imgH="2171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23950"/>
                        <a:ext cx="7793037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3"/>
          <p:cNvGraphicFramePr>
            <a:graphicFrameLocks noChangeAspect="1"/>
          </p:cNvGraphicFramePr>
          <p:nvPr/>
        </p:nvGraphicFramePr>
        <p:xfrm>
          <a:off x="971550" y="5013325"/>
          <a:ext cx="583247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公式" r:id="rId5" imgW="3124200" imgH="711200" progId="Equation.3">
                  <p:embed/>
                </p:oleObj>
              </mc:Choice>
              <mc:Fallback>
                <p:oleObj name="公式" r:id="rId5" imgW="31242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013325"/>
                        <a:ext cx="5832475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§3.2.2 Doolittle</a:t>
            </a:r>
            <a:r>
              <a:rPr lang="zh-CN" altLang="en-US" smtClean="0"/>
              <a:t>分解法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A335EDA0-FEB0-4258-A5ED-FC5AD0964E9B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  </a:t>
            </a:r>
            <a:r>
              <a:rPr lang="zh-CN" altLang="en-US" smtClean="0"/>
              <a:t>迭代法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ct val="60000"/>
              </a:spcBef>
            </a:pPr>
            <a:r>
              <a:rPr lang="zh-CN" altLang="en-US" smtClean="0">
                <a:solidFill>
                  <a:schemeClr val="accent1"/>
                </a:solidFill>
              </a:rPr>
              <a:t>本节内容</a:t>
            </a:r>
          </a:p>
          <a:p>
            <a:pPr lvl="1" eaLnBrk="1" hangingPunct="1">
              <a:lnSpc>
                <a:spcPct val="100000"/>
              </a:lnSpc>
              <a:spcBef>
                <a:spcPct val="60000"/>
              </a:spcBef>
            </a:pPr>
            <a:r>
              <a:rPr lang="en-US" altLang="zh-CN" smtClean="0">
                <a:solidFill>
                  <a:schemeClr val="accent1"/>
                </a:solidFill>
                <a:hlinkClick r:id="rId2" action="ppaction://hlinksldjump"/>
              </a:rPr>
              <a:t>§</a:t>
            </a:r>
            <a:r>
              <a:rPr lang="en-US" altLang="zh-CN" smtClean="0">
                <a:hlinkClick r:id="rId2" action="ppaction://hlinksldjump"/>
              </a:rPr>
              <a:t>3.6.1 </a:t>
            </a:r>
            <a:r>
              <a:rPr lang="zh-CN" altLang="en-US" smtClean="0">
                <a:hlinkClick r:id="rId2" action="ppaction://hlinksldjump"/>
              </a:rPr>
              <a:t>简单迭代法</a:t>
            </a:r>
            <a:endParaRPr lang="zh-CN" altLang="en-US" smtClean="0"/>
          </a:p>
          <a:p>
            <a:pPr lvl="1" eaLnBrk="1" hangingPunct="1">
              <a:lnSpc>
                <a:spcPct val="100000"/>
              </a:lnSpc>
              <a:spcBef>
                <a:spcPct val="60000"/>
              </a:spcBef>
            </a:pPr>
            <a:r>
              <a:rPr lang="en-US" altLang="zh-CN" smtClean="0">
                <a:solidFill>
                  <a:schemeClr val="accent1"/>
                </a:solidFill>
                <a:hlinkClick r:id="rId3" action="ppaction://hlinksldjump"/>
              </a:rPr>
              <a:t>§</a:t>
            </a:r>
            <a:r>
              <a:rPr lang="en-US" altLang="zh-CN" smtClean="0">
                <a:hlinkClick r:id="rId3" action="ppaction://hlinksldjump"/>
              </a:rPr>
              <a:t>3.6.2 </a:t>
            </a:r>
            <a:r>
              <a:rPr lang="zh-CN" altLang="en-US" smtClean="0">
                <a:hlinkClick r:id="rId3" action="ppaction://hlinksldjump"/>
              </a:rPr>
              <a:t>雅可比</a:t>
            </a:r>
            <a:r>
              <a:rPr lang="en-US" altLang="zh-CN" b="0" smtClean="0">
                <a:hlinkClick r:id="rId3" action="ppaction://hlinksldjump"/>
              </a:rPr>
              <a:t>(</a:t>
            </a:r>
            <a:r>
              <a:rPr lang="en-US" altLang="zh-CN" b="0" i="1" smtClean="0">
                <a:hlinkClick r:id="rId3" action="ppaction://hlinksldjump"/>
              </a:rPr>
              <a:t>Jacobi</a:t>
            </a:r>
            <a:r>
              <a:rPr lang="en-US" altLang="zh-CN" b="0" smtClean="0">
                <a:hlinkClick r:id="rId3" action="ppaction://hlinksldjump"/>
              </a:rPr>
              <a:t>)</a:t>
            </a:r>
            <a:r>
              <a:rPr lang="zh-CN" altLang="en-US" smtClean="0">
                <a:hlinkClick r:id="rId3" action="ppaction://hlinksldjump"/>
              </a:rPr>
              <a:t>迭代法</a:t>
            </a:r>
            <a:endParaRPr lang="zh-CN" altLang="en-US" smtClean="0"/>
          </a:p>
          <a:p>
            <a:pPr lvl="1" eaLnBrk="1" hangingPunct="1">
              <a:lnSpc>
                <a:spcPct val="100000"/>
              </a:lnSpc>
              <a:spcBef>
                <a:spcPct val="60000"/>
              </a:spcBef>
            </a:pPr>
            <a:r>
              <a:rPr lang="en-US" altLang="zh-CN" smtClean="0">
                <a:solidFill>
                  <a:schemeClr val="accent1"/>
                </a:solidFill>
                <a:hlinkClick r:id="rId4" action="ppaction://hlinksldjump"/>
              </a:rPr>
              <a:t>§</a:t>
            </a:r>
            <a:r>
              <a:rPr lang="en-US" altLang="zh-CN" smtClean="0">
                <a:hlinkClick r:id="rId4" action="ppaction://hlinksldjump"/>
              </a:rPr>
              <a:t>3.6.3 </a:t>
            </a:r>
            <a:r>
              <a:rPr lang="zh-CN" altLang="en-US" smtClean="0">
                <a:hlinkClick r:id="rId4" action="ppaction://hlinksldjump"/>
              </a:rPr>
              <a:t>高斯</a:t>
            </a:r>
            <a:r>
              <a:rPr lang="en-US" altLang="zh-CN" smtClean="0">
                <a:hlinkClick r:id="rId4" action="ppaction://hlinksldjump"/>
              </a:rPr>
              <a:t>-</a:t>
            </a:r>
            <a:r>
              <a:rPr lang="zh-CN" altLang="en-US" smtClean="0">
                <a:hlinkClick r:id="rId4" action="ppaction://hlinksldjump"/>
              </a:rPr>
              <a:t>塞德尔</a:t>
            </a:r>
            <a:r>
              <a:rPr lang="en-US" altLang="zh-CN" b="0" smtClean="0">
                <a:hlinkClick r:id="rId4" action="ppaction://hlinksldjump"/>
              </a:rPr>
              <a:t>(</a:t>
            </a:r>
            <a:r>
              <a:rPr lang="en-US" altLang="zh-CN" b="0" i="1" smtClean="0">
                <a:hlinkClick r:id="rId4" action="ppaction://hlinksldjump"/>
              </a:rPr>
              <a:t>Gauss-Seidel</a:t>
            </a:r>
            <a:r>
              <a:rPr lang="en-US" altLang="zh-CN" b="0" smtClean="0">
                <a:hlinkClick r:id="rId4" action="ppaction://hlinksldjump"/>
              </a:rPr>
              <a:t>)</a:t>
            </a:r>
            <a:r>
              <a:rPr lang="zh-CN" altLang="en-US" smtClean="0">
                <a:hlinkClick r:id="rId4" action="ppaction://hlinksldjump"/>
              </a:rPr>
              <a:t>迭代法</a:t>
            </a:r>
            <a:endParaRPr lang="zh-CN" altLang="en-US" smtClean="0"/>
          </a:p>
          <a:p>
            <a:pPr lvl="1" eaLnBrk="1" hangingPunct="1">
              <a:lnSpc>
                <a:spcPct val="100000"/>
              </a:lnSpc>
              <a:spcBef>
                <a:spcPct val="60000"/>
              </a:spcBef>
            </a:pPr>
            <a:r>
              <a:rPr lang="en-US" altLang="zh-CN" smtClean="0">
                <a:solidFill>
                  <a:schemeClr val="accent1"/>
                </a:solidFill>
                <a:hlinkClick r:id="rId5" action="ppaction://hlinksldjump"/>
              </a:rPr>
              <a:t>§</a:t>
            </a:r>
            <a:r>
              <a:rPr lang="en-US" altLang="zh-CN" smtClean="0">
                <a:hlinkClick r:id="rId5" action="ppaction://hlinksldjump"/>
              </a:rPr>
              <a:t>3.6.4 </a:t>
            </a:r>
            <a:r>
              <a:rPr lang="zh-CN" altLang="en-US" smtClean="0">
                <a:hlinkClick r:id="rId5" action="ppaction://hlinksldjump"/>
              </a:rPr>
              <a:t>逐次超松弛</a:t>
            </a:r>
            <a:r>
              <a:rPr lang="en-US" altLang="zh-CN" b="0" smtClean="0">
                <a:hlinkClick r:id="rId5" action="ppaction://hlinksldjump"/>
              </a:rPr>
              <a:t>(</a:t>
            </a:r>
            <a:r>
              <a:rPr lang="en-US" altLang="zh-CN" b="0" i="1" smtClean="0">
                <a:hlinkClick r:id="rId5" action="ppaction://hlinksldjump"/>
              </a:rPr>
              <a:t>SOR</a:t>
            </a:r>
            <a:r>
              <a:rPr lang="en-US" altLang="zh-CN" b="0" smtClean="0">
                <a:hlinkClick r:id="rId5" action="ppaction://hlinksldjump"/>
              </a:rPr>
              <a:t>)</a:t>
            </a:r>
            <a:r>
              <a:rPr lang="zh-CN" altLang="en-US" smtClean="0">
                <a:hlinkClick r:id="rId5" action="ppaction://hlinksldjump"/>
              </a:rPr>
              <a:t>迭代法</a:t>
            </a:r>
            <a:endParaRPr lang="zh-CN" altLang="en-US" smtClean="0"/>
          </a:p>
          <a:p>
            <a:pPr lvl="1" eaLnBrk="1" hangingPunct="1">
              <a:lnSpc>
                <a:spcPct val="100000"/>
              </a:lnSpc>
              <a:spcBef>
                <a:spcPct val="60000"/>
              </a:spcBef>
            </a:pPr>
            <a:r>
              <a:rPr lang="zh-CN" altLang="en-US" smtClean="0">
                <a:hlinkClick r:id="rId6" action="ppaction://hlinksldjump"/>
              </a:rPr>
              <a:t>例子</a:t>
            </a:r>
            <a:endParaRPr lang="zh-CN" altLang="en-US" smtClean="0"/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6372225" y="1412875"/>
            <a:ext cx="22320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zh-CN" altLang="en-US" u="none"/>
              <a:t>解大型稀疏线性方程组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A8C11821-4526-4EF2-9696-A61B49062BBB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28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§3.6.1 </a:t>
            </a:r>
            <a:r>
              <a:rPr lang="zh-CN" altLang="en-US" smtClean="0"/>
              <a:t>简单迭代法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800" smtClean="0">
                <a:solidFill>
                  <a:srgbClr val="0000FF"/>
                </a:solidFill>
              </a:rPr>
              <a:t>简单迭代法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smtClean="0"/>
              <a:t> </a:t>
            </a:r>
          </a:p>
        </p:txBody>
      </p:sp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1331913" y="1700213"/>
          <a:ext cx="6856412" cy="461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公式" r:id="rId3" imgW="3200400" imgH="2235200" progId="Equation.3">
                  <p:embed/>
                </p:oleObj>
              </mc:Choice>
              <mc:Fallback>
                <p:oleObj name="公式" r:id="rId3" imgW="3200400" imgH="2235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700213"/>
                        <a:ext cx="6856412" cy="461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FADE311-3B27-4ECC-8875-E7F939E42E0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29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§3.6.1 </a:t>
            </a:r>
            <a:r>
              <a:rPr lang="zh-CN" altLang="en-US" smtClean="0"/>
              <a:t>简单迭代法</a:t>
            </a:r>
          </a:p>
        </p:txBody>
      </p:sp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755650" y="1268413"/>
          <a:ext cx="7343775" cy="387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公式" r:id="rId3" imgW="3035300" imgH="1638300" progId="Equation.3">
                  <p:embed/>
                </p:oleObj>
              </mc:Choice>
              <mc:Fallback>
                <p:oleObj name="公式" r:id="rId3" imgW="3035300" imgH="1638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268413"/>
                        <a:ext cx="7343775" cy="387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AutoShape 4"/>
          <p:cNvSpPr>
            <a:spLocks/>
          </p:cNvSpPr>
          <p:nvPr/>
        </p:nvSpPr>
        <p:spPr bwMode="auto">
          <a:xfrm>
            <a:off x="5213350" y="3500438"/>
            <a:ext cx="2454275" cy="504825"/>
          </a:xfrm>
          <a:prstGeom prst="borderCallout2">
            <a:avLst>
              <a:gd name="adj1" fmla="val 14431"/>
              <a:gd name="adj2" fmla="val -3106"/>
              <a:gd name="adj3" fmla="val 14431"/>
              <a:gd name="adj4" fmla="val -33116"/>
              <a:gd name="adj5" fmla="val -11023"/>
              <a:gd name="adj6" fmla="val -97282"/>
            </a:avLst>
          </a:prstGeom>
          <a:solidFill>
            <a:srgbClr val="00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 sz="2400" u="none"/>
              <a:t>一阶定常迭代法</a:t>
            </a:r>
            <a:endParaRPr lang="en-US" altLang="zh-CN" sz="2400" u="none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F8BCD828-4CD8-4500-B00B-5AA48FF4CE9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30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147050" cy="5184775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smtClean="0">
                <a:solidFill>
                  <a:srgbClr val="0000FF"/>
                </a:solidFill>
              </a:rPr>
              <a:t>雅可比</a:t>
            </a:r>
            <a:r>
              <a:rPr lang="en-US" altLang="zh-CN" sz="2800" smtClean="0">
                <a:solidFill>
                  <a:srgbClr val="0000FF"/>
                </a:solidFill>
              </a:rPr>
              <a:t>(</a:t>
            </a:r>
            <a:r>
              <a:rPr lang="en-US" altLang="zh-CN" sz="2800" i="1" smtClean="0">
                <a:solidFill>
                  <a:srgbClr val="0000FF"/>
                </a:solidFill>
              </a:rPr>
              <a:t>Jacobi</a:t>
            </a:r>
            <a:r>
              <a:rPr lang="en-US" altLang="zh-CN" sz="2800" smtClean="0">
                <a:solidFill>
                  <a:srgbClr val="0000FF"/>
                </a:solidFill>
              </a:rPr>
              <a:t>)</a:t>
            </a:r>
            <a:r>
              <a:rPr lang="zh-CN" altLang="en-US" sz="2800" smtClean="0">
                <a:solidFill>
                  <a:srgbClr val="0000FF"/>
                </a:solidFill>
              </a:rPr>
              <a:t>迭代法</a:t>
            </a:r>
          </a:p>
          <a:p>
            <a:pPr marL="457200" lvl="1" indent="0"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endParaRPr lang="zh-CN" altLang="en-US" smtClean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§3.6.2 </a:t>
            </a:r>
            <a:r>
              <a:rPr lang="zh-CN" altLang="en-US" smtClean="0"/>
              <a:t>雅可比</a:t>
            </a:r>
            <a:r>
              <a:rPr lang="en-US" altLang="zh-CN" smtClean="0"/>
              <a:t>(Jacobi)</a:t>
            </a:r>
            <a:r>
              <a:rPr lang="zh-CN" altLang="en-US" smtClean="0"/>
              <a:t>迭代法</a:t>
            </a:r>
          </a:p>
        </p:txBody>
      </p:sp>
      <p:graphicFrame>
        <p:nvGraphicFramePr>
          <p:cNvPr id="30725" name="Object 4"/>
          <p:cNvGraphicFramePr>
            <a:graphicFrameLocks noChangeAspect="1"/>
          </p:cNvGraphicFramePr>
          <p:nvPr/>
        </p:nvGraphicFramePr>
        <p:xfrm>
          <a:off x="1547813" y="2349500"/>
          <a:ext cx="6908800" cy="280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公式" r:id="rId3" imgW="2971800" imgH="1206500" progId="Equation.3">
                  <p:embed/>
                </p:oleObj>
              </mc:Choice>
              <mc:Fallback>
                <p:oleObj name="公式" r:id="rId3" imgW="2971800" imgH="1206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349500"/>
                        <a:ext cx="6908800" cy="280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3E9927E8-5381-4A6A-B2D8-103A5ACB3AE6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31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1747" name="Object 2"/>
          <p:cNvGraphicFramePr>
            <a:graphicFrameLocks noChangeAspect="1"/>
          </p:cNvGraphicFramePr>
          <p:nvPr/>
        </p:nvGraphicFramePr>
        <p:xfrm>
          <a:off x="2982913" y="3132138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r:id="rId3" imgW="114151" imgH="215619" progId="Equation.3">
                  <p:embed/>
                </p:oleObj>
              </mc:Choice>
              <mc:Fallback>
                <p:oleObj r:id="rId3" imgW="114151" imgH="21561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3132138"/>
                        <a:ext cx="114300" cy="21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3"/>
          <p:cNvGraphicFramePr>
            <a:graphicFrameLocks noChangeAspect="1"/>
          </p:cNvGraphicFramePr>
          <p:nvPr/>
        </p:nvGraphicFramePr>
        <p:xfrm>
          <a:off x="900113" y="1412875"/>
          <a:ext cx="7153275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公式" r:id="rId5" imgW="3124200" imgH="1828800" progId="Equation.3">
                  <p:embed/>
                </p:oleObj>
              </mc:Choice>
              <mc:Fallback>
                <p:oleObj name="公式" r:id="rId5" imgW="3124200" imgH="182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412875"/>
                        <a:ext cx="7153275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§3.6.2 </a:t>
            </a:r>
            <a:r>
              <a:rPr lang="zh-CN" altLang="en-US" smtClean="0"/>
              <a:t>雅可比</a:t>
            </a:r>
            <a:r>
              <a:rPr lang="en-US" altLang="zh-CN" smtClean="0"/>
              <a:t>(Jacobi)</a:t>
            </a:r>
            <a:r>
              <a:rPr lang="zh-CN" altLang="en-US" smtClean="0"/>
              <a:t>迭代法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F6E83736-9263-4348-A9DF-A30D7E53C8A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2771" name="Object 2"/>
          <p:cNvGraphicFramePr>
            <a:graphicFrameLocks noChangeAspect="1"/>
          </p:cNvGraphicFramePr>
          <p:nvPr/>
        </p:nvGraphicFramePr>
        <p:xfrm>
          <a:off x="741363" y="1196975"/>
          <a:ext cx="7731125" cy="478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公式" r:id="rId3" imgW="3733800" imgH="2311400" progId="Equation.3">
                  <p:embed/>
                </p:oleObj>
              </mc:Choice>
              <mc:Fallback>
                <p:oleObj name="公式" r:id="rId3" imgW="3733800" imgH="231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1196975"/>
                        <a:ext cx="7731125" cy="478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§3.6.2 </a:t>
            </a:r>
            <a:r>
              <a:rPr lang="zh-CN" altLang="en-US" smtClean="0"/>
              <a:t>雅可比</a:t>
            </a:r>
            <a:r>
              <a:rPr lang="en-US" altLang="zh-CN" smtClean="0"/>
              <a:t>(Jacobi)</a:t>
            </a:r>
            <a:r>
              <a:rPr lang="zh-CN" altLang="en-US" smtClean="0"/>
              <a:t>迭代法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DA6D0C9-30D6-4AFA-9D13-17CC0C30A655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3795" name="Object 2"/>
          <p:cNvGraphicFramePr>
            <a:graphicFrameLocks noChangeAspect="1"/>
          </p:cNvGraphicFramePr>
          <p:nvPr/>
        </p:nvGraphicFramePr>
        <p:xfrm>
          <a:off x="1403350" y="1557338"/>
          <a:ext cx="5976938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公式" r:id="rId3" imgW="2451100" imgH="914400" progId="Equation.3">
                  <p:embed/>
                </p:oleObj>
              </mc:Choice>
              <mc:Fallback>
                <p:oleObj name="公式" r:id="rId3" imgW="24511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557338"/>
                        <a:ext cx="5976938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§3.6.2 </a:t>
            </a:r>
            <a:r>
              <a:rPr lang="zh-CN" altLang="en-US" smtClean="0"/>
              <a:t>雅可比</a:t>
            </a:r>
            <a:r>
              <a:rPr lang="en-US" altLang="zh-CN" smtClean="0"/>
              <a:t>(Jacobi)</a:t>
            </a:r>
            <a:r>
              <a:rPr lang="zh-CN" altLang="en-US" smtClean="0"/>
              <a:t>迭代法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C4AE9A06-5954-4FF5-AA14-AB1AF12889C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4819" name="Object 2"/>
          <p:cNvGraphicFramePr>
            <a:graphicFrameLocks noChangeAspect="1"/>
          </p:cNvGraphicFramePr>
          <p:nvPr/>
        </p:nvGraphicFramePr>
        <p:xfrm>
          <a:off x="900113" y="1268413"/>
          <a:ext cx="7416800" cy="492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公式" r:id="rId3" imgW="3581400" imgH="2286000" progId="Equation.3">
                  <p:embed/>
                </p:oleObj>
              </mc:Choice>
              <mc:Fallback>
                <p:oleObj name="公式" r:id="rId3" imgW="3581400" imgH="2286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268413"/>
                        <a:ext cx="7416800" cy="492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§3.6.2 </a:t>
            </a:r>
            <a:r>
              <a:rPr lang="zh-CN" altLang="en-US" smtClean="0"/>
              <a:t>雅可比</a:t>
            </a:r>
            <a:r>
              <a:rPr lang="en-US" altLang="zh-CN" smtClean="0"/>
              <a:t>(Jacobi)</a:t>
            </a:r>
            <a:r>
              <a:rPr lang="zh-CN" altLang="en-US" smtClean="0"/>
              <a:t>迭代法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457200" y="333375"/>
            <a:ext cx="7354888" cy="719138"/>
          </a:xfrm>
        </p:spPr>
        <p:txBody>
          <a:bodyPr/>
          <a:lstStyle/>
          <a:p>
            <a:r>
              <a:rPr lang="en-US" altLang="zh-CN" smtClean="0"/>
              <a:t>§3.6.2 </a:t>
            </a:r>
            <a:r>
              <a:rPr lang="zh-CN" altLang="en-US" smtClean="0"/>
              <a:t>雅可比</a:t>
            </a:r>
            <a:r>
              <a:rPr lang="en-US" altLang="zh-CN" smtClean="0"/>
              <a:t>(Jacobi)</a:t>
            </a:r>
            <a:r>
              <a:rPr lang="zh-CN" altLang="en-US" smtClean="0"/>
              <a:t>迭代法</a:t>
            </a: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F804739E-9796-44D5-8B57-B70D0B70B7B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79640" y="2636890"/>
            <a:ext cx="4773230" cy="23652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35845" name="文本框 2"/>
          <p:cNvSpPr txBox="1">
            <a:spLocks noChangeArrowheads="1"/>
          </p:cNvSpPr>
          <p:nvPr/>
        </p:nvSpPr>
        <p:spPr bwMode="auto">
          <a:xfrm>
            <a:off x="1042988" y="1558925"/>
            <a:ext cx="2736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r>
              <a:rPr lang="zh-CN" altLang="en-US" u="none"/>
              <a:t>迭代结束条件：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E3F487B-0DAA-4A6E-9CE8-1CAF0A75D390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6867" name="Object 2"/>
          <p:cNvGraphicFramePr>
            <a:graphicFrameLocks noChangeAspect="1"/>
          </p:cNvGraphicFramePr>
          <p:nvPr/>
        </p:nvGraphicFramePr>
        <p:xfrm>
          <a:off x="971550" y="1844675"/>
          <a:ext cx="7777163" cy="425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公式" r:id="rId3" imgW="3632200" imgH="2057400" progId="Equation.3">
                  <p:embed/>
                </p:oleObj>
              </mc:Choice>
              <mc:Fallback>
                <p:oleObj name="公式" r:id="rId3" imgW="3632200" imgH="2057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44675"/>
                        <a:ext cx="7777163" cy="425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>
          <a:xfrm>
            <a:off x="303213" y="333375"/>
            <a:ext cx="8840787" cy="647700"/>
          </a:xfrm>
        </p:spPr>
        <p:txBody>
          <a:bodyPr/>
          <a:lstStyle/>
          <a:p>
            <a:pPr eaLnBrk="1" hangingPunct="1"/>
            <a:r>
              <a:rPr lang="en-US" altLang="zh-CN" smtClean="0"/>
              <a:t>§3.6.3 </a:t>
            </a:r>
            <a:r>
              <a:rPr lang="zh-CN" altLang="en-US" smtClean="0"/>
              <a:t>高斯</a:t>
            </a:r>
            <a:r>
              <a:rPr lang="en-US" altLang="zh-CN" smtClean="0"/>
              <a:t>-</a:t>
            </a:r>
            <a:r>
              <a:rPr lang="zh-CN" altLang="en-US" smtClean="0"/>
              <a:t>塞德尔</a:t>
            </a:r>
            <a:r>
              <a:rPr lang="en-US" altLang="zh-CN" smtClean="0"/>
              <a:t>(Gauss-Seidel)</a:t>
            </a:r>
            <a:r>
              <a:rPr lang="zh-CN" altLang="en-US" smtClean="0"/>
              <a:t>迭代法</a:t>
            </a:r>
          </a:p>
        </p:txBody>
      </p:sp>
      <p:sp>
        <p:nvSpPr>
          <p:cNvPr id="3686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3213" y="1196975"/>
            <a:ext cx="8229600" cy="4895850"/>
          </a:xfrm>
        </p:spPr>
        <p:txBody>
          <a:bodyPr/>
          <a:lstStyle/>
          <a:p>
            <a:pPr lvl="1" eaLnBrk="1" hangingPunct="1"/>
            <a:r>
              <a:rPr lang="zh-CN" altLang="en-US" smtClean="0">
                <a:solidFill>
                  <a:srgbClr val="0000FF"/>
                </a:solidFill>
              </a:rPr>
              <a:t>高斯</a:t>
            </a:r>
            <a:r>
              <a:rPr lang="en-US" altLang="zh-CN" smtClean="0">
                <a:solidFill>
                  <a:srgbClr val="0000FF"/>
                </a:solidFill>
              </a:rPr>
              <a:t>-</a:t>
            </a:r>
            <a:r>
              <a:rPr lang="zh-CN" altLang="en-US" smtClean="0">
                <a:solidFill>
                  <a:srgbClr val="0000FF"/>
                </a:solidFill>
              </a:rPr>
              <a:t>塞德尔</a:t>
            </a:r>
            <a:r>
              <a:rPr lang="en-US" altLang="zh-CN" smtClean="0">
                <a:solidFill>
                  <a:srgbClr val="0000FF"/>
                </a:solidFill>
              </a:rPr>
              <a:t>(</a:t>
            </a:r>
            <a:r>
              <a:rPr lang="en-US" altLang="zh-CN" i="1" smtClean="0">
                <a:solidFill>
                  <a:srgbClr val="0000FF"/>
                </a:solidFill>
              </a:rPr>
              <a:t>Gauss-Seidel</a:t>
            </a:r>
            <a:r>
              <a:rPr lang="en-US" altLang="zh-CN" smtClean="0">
                <a:solidFill>
                  <a:srgbClr val="0000FF"/>
                </a:solidFill>
              </a:rPr>
              <a:t>)</a:t>
            </a:r>
            <a:r>
              <a:rPr lang="zh-CN" altLang="en-US" smtClean="0">
                <a:solidFill>
                  <a:srgbClr val="0000FF"/>
                </a:solidFill>
              </a:rPr>
              <a:t>迭代法</a:t>
            </a:r>
            <a:endParaRPr lang="en-US" altLang="zh-CN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6A40F084-E014-4932-BBA2-14CD6CA7051A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858250" cy="647700"/>
          </a:xfrm>
        </p:spPr>
        <p:txBody>
          <a:bodyPr/>
          <a:lstStyle/>
          <a:p>
            <a:pPr eaLnBrk="1" hangingPunct="1"/>
            <a:r>
              <a:rPr lang="en-US" altLang="zh-CN" smtClean="0"/>
              <a:t>§3.6.3 </a:t>
            </a:r>
            <a:r>
              <a:rPr lang="zh-CN" altLang="en-US" smtClean="0"/>
              <a:t>高斯</a:t>
            </a:r>
            <a:r>
              <a:rPr lang="en-US" altLang="zh-CN" smtClean="0"/>
              <a:t>-</a:t>
            </a:r>
            <a:r>
              <a:rPr lang="zh-CN" altLang="en-US" smtClean="0"/>
              <a:t>塞德尔</a:t>
            </a:r>
            <a:r>
              <a:rPr lang="en-US" altLang="zh-CN" smtClean="0"/>
              <a:t>(Gauss-Seidel)</a:t>
            </a:r>
            <a:r>
              <a:rPr lang="zh-CN" altLang="en-US" smtClean="0"/>
              <a:t>迭代法</a:t>
            </a: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1042988" y="1844675"/>
          <a:ext cx="6480175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公式" r:id="rId3" imgW="2552700" imgH="914400" progId="Equation.3">
                  <p:embed/>
                </p:oleObj>
              </mc:Choice>
              <mc:Fallback>
                <p:oleObj name="公式" r:id="rId3" imgW="25527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844675"/>
                        <a:ext cx="6480175" cy="232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7A2763AC-4774-44BA-B9C7-3ECEF0D564C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38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147050" cy="5184775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smtClean="0">
                <a:solidFill>
                  <a:srgbClr val="0000FF"/>
                </a:solidFill>
              </a:rPr>
              <a:t>逐次超松弛</a:t>
            </a:r>
            <a:r>
              <a:rPr lang="en-US" altLang="zh-CN" sz="2800" smtClean="0">
                <a:solidFill>
                  <a:srgbClr val="0000FF"/>
                </a:solidFill>
              </a:rPr>
              <a:t>(</a:t>
            </a:r>
            <a:r>
              <a:rPr lang="en-US" altLang="zh-CN" sz="2800" i="1" smtClean="0">
                <a:solidFill>
                  <a:srgbClr val="0000FF"/>
                </a:solidFill>
              </a:rPr>
              <a:t>SOR</a:t>
            </a:r>
            <a:r>
              <a:rPr lang="en-US" altLang="zh-CN" sz="2800" smtClean="0">
                <a:solidFill>
                  <a:srgbClr val="0000FF"/>
                </a:solidFill>
              </a:rPr>
              <a:t>)</a:t>
            </a:r>
            <a:r>
              <a:rPr lang="zh-CN" altLang="en-US" sz="2800" smtClean="0">
                <a:solidFill>
                  <a:srgbClr val="0000FF"/>
                </a:solidFill>
              </a:rPr>
              <a:t>迭代法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§3.6.4 </a:t>
            </a:r>
            <a:r>
              <a:rPr lang="zh-CN" altLang="en-US" smtClean="0"/>
              <a:t>逐次超松弛</a:t>
            </a:r>
            <a:r>
              <a:rPr lang="en-US" altLang="zh-CN" smtClean="0"/>
              <a:t>(SOR)</a:t>
            </a:r>
            <a:r>
              <a:rPr lang="zh-CN" altLang="en-US" smtClean="0"/>
              <a:t>迭代法</a:t>
            </a:r>
          </a:p>
        </p:txBody>
      </p:sp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900113" y="1773238"/>
          <a:ext cx="7993062" cy="425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2" name="公式" r:id="rId3" imgW="3771900" imgH="2108200" progId="Equation.3">
                  <p:embed/>
                </p:oleObj>
              </mc:Choice>
              <mc:Fallback>
                <p:oleObj name="公式" r:id="rId3" imgW="3771900" imgH="2108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773238"/>
                        <a:ext cx="7993062" cy="425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003800" y="4797425"/>
            <a:ext cx="35290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0" u="none" dirty="0">
                <a:solidFill>
                  <a:srgbClr val="FF0000"/>
                </a:solidFill>
                <a:latin typeface="+mn-lt"/>
              </a:rPr>
              <a:t>0 &lt; </a:t>
            </a:r>
            <a:r>
              <a:rPr lang="el-GR" altLang="zh-CN" sz="2400" b="0" i="1" u="none" dirty="0">
                <a:solidFill>
                  <a:srgbClr val="FF0000"/>
                </a:solidFill>
                <a:latin typeface="+mn-lt"/>
              </a:rPr>
              <a:t>ω</a:t>
            </a:r>
            <a:r>
              <a:rPr lang="en-US" altLang="zh-CN" sz="2400" b="0" i="1" u="none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400" b="0" u="none" dirty="0">
                <a:solidFill>
                  <a:srgbClr val="FF0000"/>
                </a:solidFill>
                <a:latin typeface="+mn-lt"/>
              </a:rPr>
              <a:t>&lt; 2 </a:t>
            </a:r>
            <a:r>
              <a:rPr lang="zh-CN" altLang="en-US" sz="2400" b="0" u="none" dirty="0">
                <a:solidFill>
                  <a:srgbClr val="FF0000"/>
                </a:solidFill>
                <a:latin typeface="Arial" panose="020B0604020202020204" pitchFamily="34" charset="0"/>
              </a:rPr>
              <a:t>时，迭代收敛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2FF3696-F082-4617-9864-2D7448F596A7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39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9939" name="Object 2"/>
          <p:cNvGraphicFramePr>
            <a:graphicFrameLocks noChangeAspect="1"/>
          </p:cNvGraphicFramePr>
          <p:nvPr/>
        </p:nvGraphicFramePr>
        <p:xfrm>
          <a:off x="1763713" y="2565400"/>
          <a:ext cx="5472112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6" name="公式" r:id="rId3" imgW="2171700" imgH="1206500" progId="Equation.3">
                  <p:embed/>
                </p:oleObj>
              </mc:Choice>
              <mc:Fallback>
                <p:oleObj name="公式" r:id="rId3" imgW="2171700" imgH="1206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565400"/>
                        <a:ext cx="5472112" cy="291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  </a:t>
            </a:r>
            <a:r>
              <a:rPr lang="zh-CN" altLang="en-US" smtClean="0"/>
              <a:t>迭代法</a:t>
            </a:r>
          </a:p>
        </p:txBody>
      </p:sp>
      <p:sp>
        <p:nvSpPr>
          <p:cNvPr id="3994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FF"/>
                </a:solidFill>
              </a:rPr>
              <a:t>例子</a:t>
            </a:r>
          </a:p>
          <a:p>
            <a:pPr lvl="1" eaLnBrk="1" hangingPunct="1"/>
            <a:r>
              <a:rPr lang="zh-CN" altLang="en-US" smtClean="0"/>
              <a:t>例</a:t>
            </a:r>
            <a:r>
              <a:rPr lang="en-US" altLang="zh-CN" smtClean="0"/>
              <a:t>1</a:t>
            </a:r>
          </a:p>
        </p:txBody>
      </p:sp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5470" y="5569195"/>
            <a:ext cx="5296450" cy="440633"/>
          </a:xfrm>
          <a:prstGeom prst="rect">
            <a:avLst/>
          </a:prstGeom>
          <a:blipFill>
            <a:blip r:embed="rId5"/>
            <a:stretch>
              <a:fillRect t="-26389" b="-4444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latin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11F5325-FE3C-4D6A-9ED5-361DDFE41BF8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40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40963" name="Object 2"/>
          <p:cNvGraphicFramePr>
            <a:graphicFrameLocks noChangeAspect="1"/>
          </p:cNvGraphicFramePr>
          <p:nvPr/>
        </p:nvGraphicFramePr>
        <p:xfrm>
          <a:off x="771525" y="1325563"/>
          <a:ext cx="7167563" cy="459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公式" r:id="rId3" imgW="2794000" imgH="1790700" progId="Equation.3">
                  <p:embed/>
                </p:oleObj>
              </mc:Choice>
              <mc:Fallback>
                <p:oleObj name="公式" r:id="rId3" imgW="2794000" imgH="1790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1325563"/>
                        <a:ext cx="7167563" cy="459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  </a:t>
            </a:r>
            <a:r>
              <a:rPr lang="zh-CN" altLang="en-US" smtClean="0"/>
              <a:t>迭代法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CE6D5685-E1D7-4F40-B310-DDF4DF25DF7C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41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333375"/>
            <a:ext cx="8229600" cy="647700"/>
          </a:xfrm>
        </p:spPr>
        <p:txBody>
          <a:bodyPr/>
          <a:lstStyle/>
          <a:p>
            <a:pPr eaLnBrk="1" hangingPunct="1"/>
            <a:r>
              <a:rPr lang="en-US" altLang="zh-CN" smtClean="0"/>
              <a:t>§3.6  </a:t>
            </a:r>
            <a:r>
              <a:rPr lang="zh-CN" altLang="en-US" smtClean="0"/>
              <a:t>迭代法</a:t>
            </a:r>
          </a:p>
        </p:txBody>
      </p:sp>
      <p:pic>
        <p:nvPicPr>
          <p:cNvPr id="419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700"/>
            <a:ext cx="9144000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611188" y="5300663"/>
            <a:ext cx="799306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可见，迭代序列逐次收敛于方程组的解，而且迭代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7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次得到精确到小数点后两位的近似解。</a:t>
            </a:r>
          </a:p>
        </p:txBody>
      </p:sp>
      <p:graphicFrame>
        <p:nvGraphicFramePr>
          <p:cNvPr id="901125" name="Group 5"/>
          <p:cNvGraphicFramePr>
            <a:graphicFrameLocks noGrp="1"/>
          </p:cNvGraphicFramePr>
          <p:nvPr/>
        </p:nvGraphicFramePr>
        <p:xfrm>
          <a:off x="539750" y="981075"/>
          <a:ext cx="7993063" cy="420370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/>
                  </a:extLst>
                </a:gridCol>
                <a:gridCol w="1873250">
                  <a:extLst>
                    <a:ext uri="{9D8B030D-6E8A-4147-A177-3AD203B41FA5}"/>
                  </a:extLst>
                </a:gridCol>
                <a:gridCol w="1800225">
                  <a:extLst>
                    <a:ext uri="{9D8B030D-6E8A-4147-A177-3AD203B41FA5}"/>
                  </a:extLst>
                </a:gridCol>
                <a:gridCol w="1727200">
                  <a:extLst>
                    <a:ext uri="{9D8B030D-6E8A-4147-A177-3AD203B41FA5}"/>
                  </a:extLst>
                </a:gridCol>
                <a:gridCol w="1728788">
                  <a:extLst>
                    <a:ext uri="{9D8B030D-6E8A-4147-A177-3AD203B41FA5}"/>
                  </a:extLst>
                </a:gridCol>
              </a:tblGrid>
              <a:tr h="576306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‖x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-x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*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‖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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627394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0.929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0.9906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1.01159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1.000251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0.9982364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0.9645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0.9953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1.005795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1.0001255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0.929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0.9906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1.01159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1.000251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0.9982364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0.071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0.0355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0.01159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0.005795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0.0017636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42010" name="Text Box 25"/>
          <p:cNvSpPr txBox="1">
            <a:spLocks noChangeArrowheads="1"/>
          </p:cNvSpPr>
          <p:nvPr/>
        </p:nvSpPr>
        <p:spPr bwMode="auto">
          <a:xfrm>
            <a:off x="476250" y="333375"/>
            <a:ext cx="3203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计算结果列表如下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6C67F02B-811F-416F-86E4-C8248ABE39B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43011" name="Object 2"/>
          <p:cNvGraphicFramePr>
            <a:graphicFrameLocks noChangeAspect="1"/>
          </p:cNvGraphicFramePr>
          <p:nvPr/>
        </p:nvGraphicFramePr>
        <p:xfrm>
          <a:off x="1547813" y="2319338"/>
          <a:ext cx="5976937" cy="218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公式" r:id="rId3" imgW="2032000" imgH="800100" progId="Equation.3">
                  <p:embed/>
                </p:oleObj>
              </mc:Choice>
              <mc:Fallback>
                <p:oleObj name="公式" r:id="rId3" imgW="2032000" imgH="800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319338"/>
                        <a:ext cx="5976937" cy="218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971550" y="1484313"/>
            <a:ext cx="4537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G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-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S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迭代法的计算公式为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  </a:t>
            </a:r>
            <a:r>
              <a:rPr lang="zh-CN" altLang="en-US" smtClean="0"/>
              <a:t>迭代法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EC7B30F1-3C34-4B6A-8065-9D2FC2FBABE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684213" y="1268413"/>
            <a:ext cx="7129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同样取初始向量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u="none" baseline="30000">
                <a:latin typeface="Times New Roman" pitchFamily="18" charset="0"/>
                <a:ea typeface="楷体_GB2312" pitchFamily="49" charset="-122"/>
              </a:rPr>
              <a:t>(0)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=(0,0,0)</a:t>
            </a:r>
            <a:r>
              <a:rPr kumimoji="1" lang="en-US" altLang="zh-CN" i="1" u="none" baseline="30000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，计算结果为：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755650" y="4581525"/>
            <a:ext cx="7561263" cy="150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由计算结果可见，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G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-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S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迭代法收敛较快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.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取精确到小数点后两位的近似解，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G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-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S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迭代法只需迭代 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次，而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迭代法需要迭代 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7 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次。</a:t>
            </a:r>
          </a:p>
        </p:txBody>
      </p:sp>
      <p:graphicFrame>
        <p:nvGraphicFramePr>
          <p:cNvPr id="903172" name="Group 4"/>
          <p:cNvGraphicFramePr>
            <a:graphicFrameLocks noGrp="1"/>
          </p:cNvGraphicFramePr>
          <p:nvPr/>
        </p:nvGraphicFramePr>
        <p:xfrm>
          <a:off x="827088" y="1989138"/>
          <a:ext cx="7488237" cy="2239962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/>
                  </a:extLst>
                </a:gridCol>
                <a:gridCol w="1512888">
                  <a:extLst>
                    <a:ext uri="{9D8B030D-6E8A-4147-A177-3AD203B41FA5}"/>
                  </a:extLst>
                </a:gridCol>
                <a:gridCol w="1655762">
                  <a:extLst>
                    <a:ext uri="{9D8B030D-6E8A-4147-A177-3AD203B41FA5}"/>
                  </a:extLst>
                </a:gridCol>
                <a:gridCol w="1800225">
                  <a:extLst>
                    <a:ext uri="{9D8B030D-6E8A-4147-A177-3AD203B41FA5}"/>
                  </a:extLst>
                </a:gridCol>
                <a:gridCol w="1800225">
                  <a:extLst>
                    <a:ext uri="{9D8B030D-6E8A-4147-A177-3AD203B41FA5}"/>
                  </a:extLst>
                </a:gridCol>
              </a:tblGrid>
              <a:tr h="441387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‖x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-x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*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‖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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98575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1.0634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0.9951044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0.78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1.02048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0.99527568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0.987516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1.00190686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0.0634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0.0048956  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44057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  </a:t>
            </a:r>
            <a:r>
              <a:rPr lang="zh-CN" altLang="en-US" smtClean="0"/>
              <a:t>迭代法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6EB5A0FC-3563-4E00-9CC6-669D2B9B257E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  </a:t>
            </a:r>
            <a:r>
              <a:rPr lang="zh-CN" altLang="en-US" smtClean="0"/>
              <a:t>迭代法</a:t>
            </a:r>
          </a:p>
        </p:txBody>
      </p:sp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700"/>
            <a:ext cx="9144000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539750" y="476250"/>
            <a:ext cx="59769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例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2  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用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SOR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方法解线性方程组</a:t>
            </a:r>
          </a:p>
        </p:txBody>
      </p:sp>
      <p:graphicFrame>
        <p:nvGraphicFramePr>
          <p:cNvPr id="45062" name="Object 5"/>
          <p:cNvGraphicFramePr>
            <a:graphicFrameLocks noChangeAspect="1"/>
          </p:cNvGraphicFramePr>
          <p:nvPr/>
        </p:nvGraphicFramePr>
        <p:xfrm>
          <a:off x="1258888" y="981075"/>
          <a:ext cx="3816350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8" name="公式" r:id="rId4" imgW="1600200" imgH="711200" progId="Equation.3">
                  <p:embed/>
                </p:oleObj>
              </mc:Choice>
              <mc:Fallback>
                <p:oleObj name="公式" r:id="rId4" imgW="16002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981075"/>
                        <a:ext cx="3816350" cy="154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1042988" y="2708275"/>
            <a:ext cx="56880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方程组的精确解是 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600" u="none" baseline="30000">
                <a:latin typeface="Times New Roman" pitchFamily="18" charset="0"/>
                <a:ea typeface="楷体_GB2312" pitchFamily="49" charset="-122"/>
              </a:rPr>
              <a:t>*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=(2,1,-1)</a:t>
            </a:r>
            <a:r>
              <a:rPr kumimoji="1" lang="en-US" altLang="zh-CN" sz="2600" i="1" u="none" baseline="30000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45064" name="Rectangle 22"/>
          <p:cNvSpPr>
            <a:spLocks noChangeArrowheads="1"/>
          </p:cNvSpPr>
          <p:nvPr/>
        </p:nvSpPr>
        <p:spPr bwMode="auto">
          <a:xfrm>
            <a:off x="827088" y="3629025"/>
            <a:ext cx="63357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取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600" u="none" baseline="30000">
                <a:latin typeface="Times New Roman" pitchFamily="18" charset="0"/>
                <a:ea typeface="楷体_GB2312" pitchFamily="49" charset="-122"/>
              </a:rPr>
              <a:t>(0)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=(0,0,0)</a:t>
            </a:r>
            <a:r>
              <a:rPr kumimoji="1" lang="en-US" altLang="zh-CN" sz="2600" i="1" u="none" baseline="30000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6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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=1.46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。</a:t>
            </a:r>
            <a:endParaRPr kumimoji="1" lang="en-US" altLang="zh-CN" sz="2600" u="none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03E21A06-4C12-4DAB-8D02-D1291C020223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§3.6  </a:t>
            </a:r>
            <a:r>
              <a:rPr lang="zh-CN" altLang="en-US" smtClean="0"/>
              <a:t>迭代法</a:t>
            </a:r>
          </a:p>
        </p:txBody>
      </p:sp>
      <p:pic>
        <p:nvPicPr>
          <p:cNvPr id="460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700"/>
            <a:ext cx="9144000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08292" name="Group 4"/>
          <p:cNvGraphicFramePr>
            <a:graphicFrameLocks noGrp="1"/>
          </p:cNvGraphicFramePr>
          <p:nvPr/>
        </p:nvGraphicFramePr>
        <p:xfrm>
          <a:off x="1116013" y="981075"/>
          <a:ext cx="6769100" cy="3435350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/>
                  </a:extLst>
                </a:gridCol>
                <a:gridCol w="1873250">
                  <a:extLst>
                    <a:ext uri="{9D8B030D-6E8A-4147-A177-3AD203B41FA5}"/>
                  </a:extLst>
                </a:gridCol>
                <a:gridCol w="1943100">
                  <a:extLst>
                    <a:ext uri="{9D8B030D-6E8A-4147-A177-3AD203B41FA5}"/>
                  </a:extLst>
                </a:gridCol>
                <a:gridCol w="2160588">
                  <a:extLst>
                    <a:ext uri="{9D8B030D-6E8A-4147-A177-3AD203B41FA5}"/>
                  </a:extLst>
                </a:gridCol>
              </a:tblGrid>
              <a:tr h="460282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0" lang="en-US" altLang="zh-CN" sz="2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0" lang="en-US" altLang="zh-CN" sz="2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kumimoji="0" lang="en-US" altLang="zh-CN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0" lang="en-US" altLang="zh-CN" sz="2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(k)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975068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3.65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2.32166910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2.5661399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……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1.9999987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0.8845882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0.4230939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0.6948261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……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1.0000013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4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-0.2021098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-0.22243214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-0.4952594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……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-1.0000034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46102" name="Rectangle 21"/>
          <p:cNvSpPr>
            <a:spLocks noChangeArrowheads="1"/>
          </p:cNvSpPr>
          <p:nvPr/>
        </p:nvSpPr>
        <p:spPr bwMode="auto">
          <a:xfrm>
            <a:off x="755650" y="4581525"/>
            <a:ext cx="7561263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从结果可见，迭代 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20 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次时已获得精确到小数点后五位的近似解。如果取 </a:t>
            </a:r>
            <a:r>
              <a:rPr kumimoji="1" lang="zh-CN" altLang="en-US" sz="26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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=1.25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，则需要迭代 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56 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次才能得到具有同样精度的近似解；如果取 </a:t>
            </a:r>
            <a:r>
              <a:rPr kumimoji="1" lang="zh-CN" altLang="en-US" sz="26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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，则需迭代 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110 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次以上。</a:t>
            </a:r>
          </a:p>
        </p:txBody>
      </p:sp>
      <p:sp>
        <p:nvSpPr>
          <p:cNvPr id="46103" name="Rectangle 22"/>
          <p:cNvSpPr>
            <a:spLocks noChangeArrowheads="1"/>
          </p:cNvSpPr>
          <p:nvPr/>
        </p:nvSpPr>
        <p:spPr bwMode="auto">
          <a:xfrm>
            <a:off x="755650" y="404813"/>
            <a:ext cx="63357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取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600" u="none" baseline="30000">
                <a:latin typeface="Times New Roman" pitchFamily="18" charset="0"/>
                <a:ea typeface="楷体_GB2312" pitchFamily="49" charset="-122"/>
              </a:rPr>
              <a:t>(0)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=(0,0,0)</a:t>
            </a:r>
            <a:r>
              <a:rPr kumimoji="1" lang="en-US" altLang="zh-CN" sz="2600" i="1" u="none" baseline="30000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6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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=1.46,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计算结果如下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:</a:t>
            </a:r>
            <a:endParaRPr kumimoji="1" lang="en-US" altLang="zh-CN" sz="2600" u="none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9B0073E9-13C4-470D-AF7F-13272240130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本章小结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11175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smtClean="0">
                <a:solidFill>
                  <a:schemeClr val="accent1"/>
                </a:solidFill>
              </a:rPr>
              <a:t>高斯消去法</a:t>
            </a:r>
            <a:endParaRPr lang="en-US" altLang="zh-CN" sz="2400" smtClean="0">
              <a:solidFill>
                <a:schemeClr val="accent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smtClean="0">
                <a:solidFill>
                  <a:schemeClr val="accent1"/>
                </a:solidFill>
              </a:rPr>
              <a:t>顺序高斯消去法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smtClean="0">
                <a:solidFill>
                  <a:schemeClr val="accent1"/>
                </a:solidFill>
              </a:rPr>
              <a:t>列主元高斯消去法  </a:t>
            </a:r>
            <a:r>
              <a:rPr lang="zh-CN" altLang="en-US" sz="2400" i="1" smtClean="0">
                <a:solidFill>
                  <a:schemeClr val="accent1"/>
                </a:solidFill>
              </a:rPr>
              <a:t>全主元高斯消去法</a:t>
            </a:r>
            <a:endParaRPr lang="en-US" altLang="zh-CN" sz="2400" i="1" smtClean="0">
              <a:solidFill>
                <a:schemeClr val="accent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smtClean="0">
                <a:solidFill>
                  <a:schemeClr val="accent1"/>
                </a:solidFill>
              </a:rPr>
              <a:t>高斯</a:t>
            </a:r>
            <a:r>
              <a:rPr lang="en-US" altLang="zh-CN" sz="2400" smtClean="0">
                <a:solidFill>
                  <a:schemeClr val="accent1"/>
                </a:solidFill>
              </a:rPr>
              <a:t>-</a:t>
            </a:r>
            <a:r>
              <a:rPr lang="zh-CN" altLang="en-US" sz="2400" smtClean="0">
                <a:solidFill>
                  <a:schemeClr val="accent1"/>
                </a:solidFill>
              </a:rPr>
              <a:t>约当消去法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endParaRPr lang="zh-CN" altLang="en-US" sz="2400" smtClean="0">
              <a:solidFill>
                <a:schemeClr val="accent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smtClean="0">
                <a:solidFill>
                  <a:schemeClr val="accent1"/>
                </a:solidFill>
              </a:rPr>
              <a:t>矩阵三角分解法</a:t>
            </a:r>
            <a:endParaRPr lang="en-US" altLang="zh-CN" sz="2400" smtClean="0">
              <a:solidFill>
                <a:schemeClr val="accent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1" lang="en-US" altLang="zh-CN" sz="2400" smtClean="0">
                <a:solidFill>
                  <a:schemeClr val="accent1"/>
                </a:solidFill>
              </a:rPr>
              <a:t>Doolittle</a:t>
            </a:r>
            <a:r>
              <a:rPr kumimoji="1" lang="zh-CN" altLang="en-US" sz="2400" smtClean="0">
                <a:solidFill>
                  <a:schemeClr val="accent1"/>
                </a:solidFill>
              </a:rPr>
              <a:t>分解法  </a:t>
            </a:r>
            <a:r>
              <a:rPr kumimoji="1" lang="en-US" altLang="zh-CN" sz="2400" i="1" smtClean="0">
                <a:solidFill>
                  <a:schemeClr val="accent1"/>
                </a:solidFill>
              </a:rPr>
              <a:t>Crout</a:t>
            </a:r>
            <a:r>
              <a:rPr kumimoji="1" lang="zh-CN" altLang="en-US" sz="2400" i="1" smtClean="0">
                <a:solidFill>
                  <a:schemeClr val="accent1"/>
                </a:solidFill>
              </a:rPr>
              <a:t>分解法</a:t>
            </a:r>
            <a:endParaRPr lang="zh-CN" altLang="en-US" sz="2400" i="1" smtClean="0">
              <a:solidFill>
                <a:schemeClr val="accent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i="1" smtClean="0">
                <a:solidFill>
                  <a:schemeClr val="accent1"/>
                </a:solidFill>
                <a:cs typeface="Times New Roman" pitchFamily="18" charset="0"/>
              </a:rPr>
              <a:t>追赶法</a:t>
            </a:r>
            <a:endParaRPr lang="en-US" altLang="zh-CN" sz="2400" i="1" smtClean="0">
              <a:solidFill>
                <a:schemeClr val="accent1"/>
              </a:solidFill>
              <a:cs typeface="Times New Roman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endParaRPr lang="zh-CN" altLang="en-US" sz="2400" smtClean="0">
              <a:solidFill>
                <a:schemeClr val="accent1"/>
              </a:solidFill>
              <a:cs typeface="Times New Roman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smtClean="0">
                <a:solidFill>
                  <a:schemeClr val="accent1"/>
                </a:solidFill>
              </a:rPr>
              <a:t>迭代法：雅可比、高斯</a:t>
            </a:r>
            <a:r>
              <a:rPr lang="en-US" altLang="zh-CN" sz="2400" smtClean="0">
                <a:solidFill>
                  <a:schemeClr val="accent1"/>
                </a:solidFill>
              </a:rPr>
              <a:t>-</a:t>
            </a:r>
            <a:r>
              <a:rPr lang="zh-CN" altLang="en-US" sz="2400" smtClean="0">
                <a:solidFill>
                  <a:schemeClr val="accent1"/>
                </a:solidFill>
              </a:rPr>
              <a:t>赛德尔、</a:t>
            </a:r>
            <a:r>
              <a:rPr lang="en-US" altLang="zh-CN" sz="2400" smtClean="0">
                <a:solidFill>
                  <a:schemeClr val="accent1"/>
                </a:solidFill>
              </a:rPr>
              <a:t>SOR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endParaRPr lang="zh-CN" altLang="en-US" sz="24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作业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9</a:t>
            </a:r>
            <a:r>
              <a:rPr lang="zh-CN" altLang="en-US" smtClean="0"/>
              <a:t>（杜里特尔法）</a:t>
            </a:r>
            <a:endParaRPr lang="en-US" altLang="zh-CN" smtClean="0"/>
          </a:p>
          <a:p>
            <a:r>
              <a:rPr lang="en-US" altLang="zh-CN" smtClean="0"/>
              <a:t>10</a:t>
            </a:r>
            <a:r>
              <a:rPr lang="zh-CN" altLang="en-US" smtClean="0"/>
              <a:t>（杜里特尔法）</a:t>
            </a:r>
            <a:endParaRPr lang="en-US" altLang="zh-CN" smtClean="0"/>
          </a:p>
          <a:p>
            <a:r>
              <a:rPr lang="en-US" altLang="zh-CN" smtClean="0"/>
              <a:t>24</a:t>
            </a:r>
            <a:r>
              <a:rPr lang="zh-CN" altLang="en-US" smtClean="0"/>
              <a:t>（写出迭代方程即可）</a:t>
            </a:r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EEB7A311-F8D0-4ABD-A12B-38ADA469DCF8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4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0000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AAAAFF"/>
      </a:accent5>
      <a:accent6>
        <a:srgbClr val="8A8AB9"/>
      </a:accent6>
      <a:hlink>
        <a:srgbClr val="0000CC"/>
      </a:hlink>
      <a:folHlink>
        <a:srgbClr val="000000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0000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0000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8A8AB9"/>
        </a:accent6>
        <a:hlink>
          <a:srgbClr val="0000CC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8202</TotalTime>
  <Words>1331</Words>
  <Application>Microsoft Office PowerPoint</Application>
  <PresentationFormat>全屏显示(4:3)</PresentationFormat>
  <Paragraphs>296</Paragraphs>
  <Slides>47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7" baseType="lpstr">
      <vt:lpstr>Arial</vt:lpstr>
      <vt:lpstr>黑体</vt:lpstr>
      <vt:lpstr>Times New Roman</vt:lpstr>
      <vt:lpstr>楷体_GB2312</vt:lpstr>
      <vt:lpstr>Wingdings</vt:lpstr>
      <vt:lpstr>宋体</vt:lpstr>
      <vt:lpstr>Arial Black</vt:lpstr>
      <vt:lpstr>Symbol</vt:lpstr>
      <vt:lpstr>Pixel</vt:lpstr>
      <vt:lpstr>Microsoft 公式 3.0</vt:lpstr>
      <vt:lpstr>第3章       内容回顾 线性代数方程组的数值解法</vt:lpstr>
      <vt:lpstr>§3.1 高斯消去法——内容回顾</vt:lpstr>
      <vt:lpstr>§3.1.1 顺序高斯消去法</vt:lpstr>
      <vt:lpstr>§3.1.1 顺序高斯消去法</vt:lpstr>
      <vt:lpstr>§3.1.2  列主元高斯消去法</vt:lpstr>
      <vt:lpstr>§3.1.3  高斯-若尔当消去法</vt:lpstr>
      <vt:lpstr>§3.2  矩阵三角分解法</vt:lpstr>
      <vt:lpstr>§3.2.1 Gauss消去法的矩阵表示</vt:lpstr>
      <vt:lpstr>§3.2.1 Gauss消去法的矩阵表示</vt:lpstr>
      <vt:lpstr>§3.2.1 Gauss消去法的矩阵表示</vt:lpstr>
      <vt:lpstr>§3.2.1 Gauss消去法的矩阵表示</vt:lpstr>
      <vt:lpstr>§3.2.1 Gauss消去法的矩阵表示</vt:lpstr>
      <vt:lpstr>§3.2.1 Gauss消去法的矩阵表示</vt:lpstr>
      <vt:lpstr>§3.2.2 杜里特尔（Doolittle）分解法</vt:lpstr>
      <vt:lpstr>§3.2.2 Doolittle分解法</vt:lpstr>
      <vt:lpstr>§3.2.2 Doolittle分解法</vt:lpstr>
      <vt:lpstr>§3.2.2 Doolittle分解法</vt:lpstr>
      <vt:lpstr>§3.2.2 Doolittle分解法</vt:lpstr>
      <vt:lpstr>§3.2.2 Doolittle分解法</vt:lpstr>
      <vt:lpstr>PowerPoint 演示文稿</vt:lpstr>
      <vt:lpstr>PowerPoint 演示文稿</vt:lpstr>
      <vt:lpstr>§3.2.2 Doolittle分解法</vt:lpstr>
      <vt:lpstr>§3.2.2 Doolittle分解法</vt:lpstr>
      <vt:lpstr>§3.2.2 Doolittle分解法</vt:lpstr>
      <vt:lpstr>§3.2.2 Doolittle分解法</vt:lpstr>
      <vt:lpstr>§3.2.2 Doolittle分解法</vt:lpstr>
      <vt:lpstr>§3.6  迭代法</vt:lpstr>
      <vt:lpstr>§3.6.1 简单迭代法</vt:lpstr>
      <vt:lpstr>§3.6.1 简单迭代法</vt:lpstr>
      <vt:lpstr>§3.6.2 雅可比(Jacobi)迭代法</vt:lpstr>
      <vt:lpstr>§3.6.2 雅可比(Jacobi)迭代法</vt:lpstr>
      <vt:lpstr>§3.6.2 雅可比(Jacobi)迭代法</vt:lpstr>
      <vt:lpstr>§3.6.2 雅可比(Jacobi)迭代法</vt:lpstr>
      <vt:lpstr>§3.6.2 雅可比(Jacobi)迭代法</vt:lpstr>
      <vt:lpstr>§3.6.2 雅可比(Jacobi)迭代法</vt:lpstr>
      <vt:lpstr>§3.6.3 高斯-塞德尔(Gauss-Seidel)迭代法</vt:lpstr>
      <vt:lpstr>§3.6.3 高斯-塞德尔(Gauss-Seidel)迭代法</vt:lpstr>
      <vt:lpstr>§3.6.4 逐次超松弛(SOR)迭代法</vt:lpstr>
      <vt:lpstr>§3.6  迭代法</vt:lpstr>
      <vt:lpstr>§3.6  迭代法</vt:lpstr>
      <vt:lpstr>§3.6  迭代法</vt:lpstr>
      <vt:lpstr>§3.6  迭代法</vt:lpstr>
      <vt:lpstr>§3.6  迭代法</vt:lpstr>
      <vt:lpstr>§3.6  迭代法</vt:lpstr>
      <vt:lpstr>§3.6  迭代法</vt:lpstr>
      <vt:lpstr>本章小结</vt:lpstr>
      <vt:lpstr>作业</vt:lpstr>
    </vt:vector>
  </TitlesOfParts>
  <Manager>XZNU</Manager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数值计算中的误差</dc:title>
  <dc:creator>CKJ</dc:creator>
  <dc:description>4学时</dc:description>
  <cp:lastModifiedBy>Du Lianming</cp:lastModifiedBy>
  <cp:revision>382</cp:revision>
  <dcterms:created xsi:type="dcterms:W3CDTF">2003-04-11T01:11:17Z</dcterms:created>
  <dcterms:modified xsi:type="dcterms:W3CDTF">2020-03-13T01:53:13Z</dcterms:modified>
</cp:coreProperties>
</file>