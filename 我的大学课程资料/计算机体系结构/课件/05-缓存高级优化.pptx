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05" r:id="rId1"/>
  </p:sldMasterIdLst>
  <p:notesMasterIdLst>
    <p:notesMasterId r:id="rId59"/>
  </p:notesMasterIdLst>
  <p:handoutMasterIdLst>
    <p:handoutMasterId r:id="rId60"/>
  </p:handoutMasterIdLst>
  <p:sldIdLst>
    <p:sldId id="1013" r:id="rId2"/>
    <p:sldId id="404" r:id="rId3"/>
    <p:sldId id="6833" r:id="rId4"/>
    <p:sldId id="6834" r:id="rId5"/>
    <p:sldId id="6835" r:id="rId6"/>
    <p:sldId id="6836" r:id="rId7"/>
    <p:sldId id="6837" r:id="rId8"/>
    <p:sldId id="6838" r:id="rId9"/>
    <p:sldId id="6840" r:id="rId10"/>
    <p:sldId id="6841" r:id="rId11"/>
    <p:sldId id="6842" r:id="rId12"/>
    <p:sldId id="6843" r:id="rId13"/>
    <p:sldId id="6844" r:id="rId14"/>
    <p:sldId id="6839" r:id="rId15"/>
    <p:sldId id="6845" r:id="rId16"/>
    <p:sldId id="6846" r:id="rId17"/>
    <p:sldId id="6847" r:id="rId18"/>
    <p:sldId id="6848" r:id="rId19"/>
    <p:sldId id="6850" r:id="rId20"/>
    <p:sldId id="6851" r:id="rId21"/>
    <p:sldId id="6853" r:id="rId22"/>
    <p:sldId id="6854" r:id="rId23"/>
    <p:sldId id="6855" r:id="rId24"/>
    <p:sldId id="6856" r:id="rId25"/>
    <p:sldId id="6857" r:id="rId26"/>
    <p:sldId id="6858" r:id="rId27"/>
    <p:sldId id="6859" r:id="rId28"/>
    <p:sldId id="6849" r:id="rId29"/>
    <p:sldId id="6860" r:id="rId30"/>
    <p:sldId id="6861" r:id="rId31"/>
    <p:sldId id="6863" r:id="rId32"/>
    <p:sldId id="6864" r:id="rId33"/>
    <p:sldId id="6862" r:id="rId34"/>
    <p:sldId id="6865" r:id="rId35"/>
    <p:sldId id="406" r:id="rId36"/>
    <p:sldId id="407" r:id="rId37"/>
    <p:sldId id="408" r:id="rId38"/>
    <p:sldId id="409" r:id="rId39"/>
    <p:sldId id="410" r:id="rId40"/>
    <p:sldId id="411" r:id="rId41"/>
    <p:sldId id="418" r:id="rId42"/>
    <p:sldId id="419" r:id="rId43"/>
    <p:sldId id="420" r:id="rId44"/>
    <p:sldId id="421" r:id="rId45"/>
    <p:sldId id="422" r:id="rId46"/>
    <p:sldId id="423" r:id="rId47"/>
    <p:sldId id="442" r:id="rId48"/>
    <p:sldId id="443" r:id="rId49"/>
    <p:sldId id="444" r:id="rId50"/>
    <p:sldId id="445" r:id="rId51"/>
    <p:sldId id="450" r:id="rId52"/>
    <p:sldId id="453" r:id="rId53"/>
    <p:sldId id="451" r:id="rId54"/>
    <p:sldId id="447" r:id="rId55"/>
    <p:sldId id="448" r:id="rId56"/>
    <p:sldId id="449" r:id="rId57"/>
    <p:sldId id="6866" r:id="rId58"/>
  </p:sldIdLst>
  <p:sldSz cx="9144000" cy="6858000" type="screen4x3"/>
  <p:notesSz cx="6791325" cy="992505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04BC"/>
    <a:srgbClr val="35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6" autoAdjust="0"/>
    <p:restoredTop sz="83986" autoAdjust="0"/>
  </p:normalViewPr>
  <p:slideViewPr>
    <p:cSldViewPr>
      <p:cViewPr varScale="1">
        <p:scale>
          <a:sx n="98" d="100"/>
          <a:sy n="98" d="100"/>
        </p:scale>
        <p:origin x="2040"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2942907" cy="496252"/>
          </a:xfrm>
          <a:prstGeom prst="rect">
            <a:avLst/>
          </a:prstGeom>
        </p:spPr>
        <p:txBody>
          <a:bodyPr vert="horz" lIns="91385" tIns="45693" rIns="91385" bIns="45693" rtlCol="0"/>
          <a:lstStyle>
            <a:lvl1pPr algn="l">
              <a:defRPr sz="1200"/>
            </a:lvl1pPr>
          </a:lstStyle>
          <a:p>
            <a:endParaRPr lang="zh-CN" altLang="en-US"/>
          </a:p>
        </p:txBody>
      </p:sp>
      <p:sp>
        <p:nvSpPr>
          <p:cNvPr id="3" name="日期占位符 2"/>
          <p:cNvSpPr>
            <a:spLocks noGrp="1"/>
          </p:cNvSpPr>
          <p:nvPr>
            <p:ph type="dt" sz="quarter" idx="1"/>
          </p:nvPr>
        </p:nvSpPr>
        <p:spPr>
          <a:xfrm>
            <a:off x="3846847" y="1"/>
            <a:ext cx="2942907" cy="496252"/>
          </a:xfrm>
          <a:prstGeom prst="rect">
            <a:avLst/>
          </a:prstGeom>
        </p:spPr>
        <p:txBody>
          <a:bodyPr vert="horz" lIns="91385" tIns="45693" rIns="91385" bIns="45693" rtlCol="0"/>
          <a:lstStyle>
            <a:lvl1pPr algn="r">
              <a:defRPr sz="1200"/>
            </a:lvl1pPr>
          </a:lstStyle>
          <a:p>
            <a:fld id="{666DD694-EC1C-48B0-A94F-FDBEAC6E1E3E}" type="datetimeFigureOut">
              <a:rPr lang="zh-CN" altLang="en-US" smtClean="0"/>
              <a:t>2025/10/22</a:t>
            </a:fld>
            <a:endParaRPr lang="zh-CN" altLang="en-US"/>
          </a:p>
        </p:txBody>
      </p:sp>
      <p:sp>
        <p:nvSpPr>
          <p:cNvPr id="4" name="页脚占位符 3"/>
          <p:cNvSpPr>
            <a:spLocks noGrp="1"/>
          </p:cNvSpPr>
          <p:nvPr>
            <p:ph type="ftr" sz="quarter" idx="2"/>
          </p:nvPr>
        </p:nvSpPr>
        <p:spPr>
          <a:xfrm>
            <a:off x="1" y="9427076"/>
            <a:ext cx="2942907" cy="496252"/>
          </a:xfrm>
          <a:prstGeom prst="rect">
            <a:avLst/>
          </a:prstGeom>
        </p:spPr>
        <p:txBody>
          <a:bodyPr vert="horz" lIns="91385" tIns="45693" rIns="91385" bIns="45693"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6847" y="9427076"/>
            <a:ext cx="2942907" cy="496252"/>
          </a:xfrm>
          <a:prstGeom prst="rect">
            <a:avLst/>
          </a:prstGeom>
        </p:spPr>
        <p:txBody>
          <a:bodyPr vert="horz" lIns="91385" tIns="45693" rIns="91385" bIns="45693" rtlCol="0" anchor="b"/>
          <a:lstStyle>
            <a:lvl1pPr algn="r">
              <a:defRPr sz="1200"/>
            </a:lvl1pPr>
          </a:lstStyle>
          <a:p>
            <a:fld id="{9D7892B2-1565-4205-BE9E-FB8C4E02929C}" type="slidenum">
              <a:rPr lang="zh-CN" altLang="en-US" smtClean="0"/>
              <a:t>‹#›</a:t>
            </a:fld>
            <a:endParaRPr lang="zh-CN" altLang="en-US"/>
          </a:p>
        </p:txBody>
      </p:sp>
    </p:spTree>
    <p:extLst>
      <p:ext uri="{BB962C8B-B14F-4D97-AF65-F5344CB8AC3E}">
        <p14:creationId xmlns:p14="http://schemas.microsoft.com/office/powerpoint/2010/main" val="13823918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2907" cy="496252"/>
          </a:xfrm>
          <a:prstGeom prst="rect">
            <a:avLst/>
          </a:prstGeom>
        </p:spPr>
        <p:txBody>
          <a:bodyPr vert="horz" wrap="square" lIns="91385" tIns="45693" rIns="91385" bIns="45693" numCol="1" anchor="t" anchorCtr="0" compatLnSpc="1">
            <a:prstTxWarp prst="textNoShape">
              <a:avLst/>
            </a:prstTxWarp>
          </a:bodyPr>
          <a:lstStyle>
            <a:lvl1pPr>
              <a:defRPr sz="1200">
                <a:latin typeface="Calibri" pitchFamily="34" charset="0"/>
              </a:defRPr>
            </a:lvl1pPr>
          </a:lstStyle>
          <a:p>
            <a:pPr>
              <a:defRPr/>
            </a:pPr>
            <a:endParaRPr lang="zh-CN" altLang="zh-CN"/>
          </a:p>
        </p:txBody>
      </p:sp>
      <p:sp>
        <p:nvSpPr>
          <p:cNvPr id="3" name="Date Placeholder 2"/>
          <p:cNvSpPr>
            <a:spLocks noGrp="1"/>
          </p:cNvSpPr>
          <p:nvPr>
            <p:ph type="dt" idx="1"/>
          </p:nvPr>
        </p:nvSpPr>
        <p:spPr>
          <a:xfrm>
            <a:off x="3846847" y="1"/>
            <a:ext cx="2942907" cy="496252"/>
          </a:xfrm>
          <a:prstGeom prst="rect">
            <a:avLst/>
          </a:prstGeom>
        </p:spPr>
        <p:txBody>
          <a:bodyPr vert="horz" wrap="square" lIns="91385" tIns="45693" rIns="91385" bIns="45693" numCol="1" anchor="t" anchorCtr="0" compatLnSpc="1">
            <a:prstTxWarp prst="textNoShape">
              <a:avLst/>
            </a:prstTxWarp>
          </a:bodyPr>
          <a:lstStyle>
            <a:lvl1pPr algn="r">
              <a:defRPr sz="1200">
                <a:latin typeface="Calibri" pitchFamily="34" charset="0"/>
                <a:cs typeface="Arial" pitchFamily="34" charset="0"/>
              </a:defRPr>
            </a:lvl1pPr>
          </a:lstStyle>
          <a:p>
            <a:pPr>
              <a:defRPr/>
            </a:pPr>
            <a:fld id="{6875BDC8-F94F-41A8-B63F-5ED8AF811070}" type="datetime1">
              <a:rPr lang="en-US" altLang="zh-CN"/>
              <a:pPr>
                <a:defRPr/>
              </a:pPr>
              <a:t>10/22/2025</a:t>
            </a:fld>
            <a:endParaRPr lang="en-US" altLang="zh-CN"/>
          </a:p>
        </p:txBody>
      </p:sp>
      <p:sp>
        <p:nvSpPr>
          <p:cNvPr id="4" name="Slide Image Placeholder 3"/>
          <p:cNvSpPr>
            <a:spLocks noGrp="1" noRot="1" noChangeAspect="1"/>
          </p:cNvSpPr>
          <p:nvPr>
            <p:ph type="sldImg" idx="2"/>
          </p:nvPr>
        </p:nvSpPr>
        <p:spPr>
          <a:xfrm>
            <a:off x="915988" y="744538"/>
            <a:ext cx="4959350" cy="3721100"/>
          </a:xfrm>
          <a:prstGeom prst="rect">
            <a:avLst/>
          </a:prstGeom>
          <a:noFill/>
          <a:ln w="12700">
            <a:solidFill>
              <a:prstClr val="black"/>
            </a:solidFill>
          </a:ln>
        </p:spPr>
        <p:txBody>
          <a:bodyPr vert="horz" wrap="square" lIns="91385" tIns="45693" rIns="91385" bIns="45693" numCol="1" anchor="ctr" anchorCtr="0" compatLnSpc="1">
            <a:prstTxWarp prst="textNoShape">
              <a:avLst/>
            </a:prstTxWarp>
          </a:bodyPr>
          <a:lstStyle/>
          <a:p>
            <a:pPr lvl="0"/>
            <a:endParaRPr lang="zh-CN" altLang="zh-CN" noProof="0"/>
          </a:p>
        </p:txBody>
      </p:sp>
      <p:sp>
        <p:nvSpPr>
          <p:cNvPr id="5" name="Notes Placeholder 4"/>
          <p:cNvSpPr>
            <a:spLocks noGrp="1"/>
          </p:cNvSpPr>
          <p:nvPr>
            <p:ph type="body" sz="quarter" idx="3"/>
          </p:nvPr>
        </p:nvSpPr>
        <p:spPr>
          <a:xfrm>
            <a:off x="679133" y="4714399"/>
            <a:ext cx="5433060" cy="4466272"/>
          </a:xfrm>
          <a:prstGeom prst="rect">
            <a:avLst/>
          </a:prstGeom>
        </p:spPr>
        <p:txBody>
          <a:bodyPr vert="horz" lIns="91385" tIns="45693" rIns="91385" bIns="4569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9427076"/>
            <a:ext cx="2942907" cy="496252"/>
          </a:xfrm>
          <a:prstGeom prst="rect">
            <a:avLst/>
          </a:prstGeom>
        </p:spPr>
        <p:txBody>
          <a:bodyPr vert="horz" wrap="square" lIns="91385" tIns="45693" rIns="91385" bIns="45693" numCol="1" anchor="b" anchorCtr="0" compatLnSpc="1">
            <a:prstTxWarp prst="textNoShape">
              <a:avLst/>
            </a:prstTxWarp>
          </a:bodyPr>
          <a:lstStyle>
            <a:lvl1pPr>
              <a:defRPr sz="1200">
                <a:latin typeface="Calibri" pitchFamily="34" charset="0"/>
              </a:defRPr>
            </a:lvl1pPr>
          </a:lstStyle>
          <a:p>
            <a:pPr>
              <a:defRPr/>
            </a:pPr>
            <a:endParaRPr lang="zh-CN" altLang="zh-CN"/>
          </a:p>
        </p:txBody>
      </p:sp>
      <p:sp>
        <p:nvSpPr>
          <p:cNvPr id="7" name="Slide Number Placeholder 6"/>
          <p:cNvSpPr>
            <a:spLocks noGrp="1"/>
          </p:cNvSpPr>
          <p:nvPr>
            <p:ph type="sldNum" sz="quarter" idx="5"/>
          </p:nvPr>
        </p:nvSpPr>
        <p:spPr>
          <a:xfrm>
            <a:off x="3846847" y="9427076"/>
            <a:ext cx="2942907" cy="496252"/>
          </a:xfrm>
          <a:prstGeom prst="rect">
            <a:avLst/>
          </a:prstGeom>
        </p:spPr>
        <p:txBody>
          <a:bodyPr vert="horz" wrap="square" lIns="91385" tIns="45693" rIns="91385" bIns="45693" numCol="1" anchor="b" anchorCtr="0" compatLnSpc="1">
            <a:prstTxWarp prst="textNoShape">
              <a:avLst/>
            </a:prstTxWarp>
          </a:bodyPr>
          <a:lstStyle>
            <a:lvl1pPr algn="r">
              <a:defRPr sz="1200">
                <a:latin typeface="Calibri" pitchFamily="34" charset="0"/>
                <a:cs typeface="Arial" pitchFamily="34" charset="0"/>
              </a:defRPr>
            </a:lvl1pPr>
          </a:lstStyle>
          <a:p>
            <a:pPr>
              <a:defRPr/>
            </a:pPr>
            <a:fld id="{8A545594-0489-4CCF-B160-A39FEE7E5C70}" type="slidenum">
              <a:rPr lang="en-US" altLang="zh-CN"/>
              <a:pPr>
                <a:defRPr/>
              </a:pPr>
              <a:t>‹#›</a:t>
            </a:fld>
            <a:endParaRPr lang="en-US" altLang="zh-CN"/>
          </a:p>
        </p:txBody>
      </p:sp>
    </p:spTree>
    <p:extLst>
      <p:ext uri="{BB962C8B-B14F-4D97-AF65-F5344CB8AC3E}">
        <p14:creationId xmlns:p14="http://schemas.microsoft.com/office/powerpoint/2010/main" val="18982579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1</a:t>
            </a:fld>
            <a:endParaRPr lang="en-US" altLang="zh-CN"/>
          </a:p>
        </p:txBody>
      </p:sp>
    </p:spTree>
    <p:extLst>
      <p:ext uri="{BB962C8B-B14F-4D97-AF65-F5344CB8AC3E}">
        <p14:creationId xmlns:p14="http://schemas.microsoft.com/office/powerpoint/2010/main" val="1015040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2</a:t>
            </a:fld>
            <a:endParaRPr lang="en-US" altLang="zh-CN"/>
          </a:p>
        </p:txBody>
      </p:sp>
    </p:spTree>
    <p:extLst>
      <p:ext uri="{BB962C8B-B14F-4D97-AF65-F5344CB8AC3E}">
        <p14:creationId xmlns:p14="http://schemas.microsoft.com/office/powerpoint/2010/main" val="3597076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3</a:t>
            </a:fld>
            <a:endParaRPr lang="en-US" altLang="zh-CN"/>
          </a:p>
        </p:txBody>
      </p:sp>
    </p:spTree>
    <p:extLst>
      <p:ext uri="{BB962C8B-B14F-4D97-AF65-F5344CB8AC3E}">
        <p14:creationId xmlns:p14="http://schemas.microsoft.com/office/powerpoint/2010/main" val="4187708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A545594-0489-4CCF-B160-A39FEE7E5C70}" type="slidenum">
              <a:rPr lang="en-US" altLang="zh-CN" smtClean="0"/>
              <a:pPr>
                <a:defRPr/>
              </a:pPr>
              <a:t>8</a:t>
            </a:fld>
            <a:endParaRPr lang="en-US" altLang="zh-CN"/>
          </a:p>
        </p:txBody>
      </p:sp>
    </p:spTree>
    <p:extLst>
      <p:ext uri="{BB962C8B-B14F-4D97-AF65-F5344CB8AC3E}">
        <p14:creationId xmlns:p14="http://schemas.microsoft.com/office/powerpoint/2010/main" val="4036742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80612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84814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9158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由于非阻塞缓存的存在，这二个技术不同。</a:t>
            </a:r>
          </a:p>
        </p:txBody>
      </p:sp>
      <p:sp>
        <p:nvSpPr>
          <p:cNvPr id="4" name="灯片编号占位符 3"/>
          <p:cNvSpPr>
            <a:spLocks noGrp="1"/>
          </p:cNvSpPr>
          <p:nvPr>
            <p:ph type="sldNum" sz="quarter" idx="10"/>
          </p:nvPr>
        </p:nvSpPr>
        <p:spPr/>
        <p:txBody>
          <a:bodyPr/>
          <a:lstStyle/>
          <a:p>
            <a:pPr>
              <a:defRPr/>
            </a:pPr>
            <a:fld id="{8A545594-0489-4CCF-B160-A39FEE7E5C70}" type="slidenum">
              <a:rPr lang="en-US" altLang="zh-CN" smtClean="0"/>
              <a:pPr>
                <a:defRPr/>
              </a:pPr>
              <a:t>16</a:t>
            </a:fld>
            <a:endParaRPr lang="en-US" altLang="zh-CN"/>
          </a:p>
        </p:txBody>
      </p:sp>
    </p:spTree>
    <p:extLst>
      <p:ext uri="{BB962C8B-B14F-4D97-AF65-F5344CB8AC3E}">
        <p14:creationId xmlns:p14="http://schemas.microsoft.com/office/powerpoint/2010/main" val="461036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52226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谁决定了数据访问方式，数据的经常使用</a:t>
            </a:r>
            <a:endParaRPr lang="en-US" altLang="zh-CN" dirty="0"/>
          </a:p>
          <a:p>
            <a:r>
              <a:rPr lang="zh-CN" altLang="en-US" dirty="0"/>
              <a:t>程序员：</a:t>
            </a:r>
            <a:r>
              <a:rPr lang="en-US" altLang="zh-CN" dirty="0"/>
              <a:t>the best way</a:t>
            </a:r>
            <a:r>
              <a:rPr lang="zh-CN" altLang="en-US" dirty="0"/>
              <a:t>，</a:t>
            </a:r>
            <a:r>
              <a:rPr lang="en-US" altLang="zh-CN" dirty="0"/>
              <a:t>understand the access pattern</a:t>
            </a:r>
          </a:p>
          <a:p>
            <a:r>
              <a:rPr lang="zh-CN" altLang="en-US" dirty="0"/>
              <a:t>编译器：</a:t>
            </a:r>
            <a:r>
              <a:rPr lang="en-US" altLang="zh-CN" dirty="0"/>
              <a:t>can help</a:t>
            </a:r>
            <a:r>
              <a:rPr lang="zh-CN" altLang="en-US" dirty="0"/>
              <a:t>，</a:t>
            </a:r>
            <a:r>
              <a:rPr lang="en-US" altLang="zh-CN" dirty="0"/>
              <a:t>how to know the access pattern   (Profiling, PGO </a:t>
            </a:r>
            <a:r>
              <a:rPr lang="en-US" altLang="zh-CN" b="0" i="0" dirty="0">
                <a:solidFill>
                  <a:srgbClr val="111111"/>
                </a:solidFill>
                <a:effectLst/>
                <a:latin typeface="Microsoft YaHei" panose="020B0503020204020204" pitchFamily="34" charset="-122"/>
                <a:ea typeface="Microsoft YaHei" panose="020B0503020204020204" pitchFamily="34" charset="-122"/>
              </a:rPr>
              <a:t>Profile-guided optimization</a:t>
            </a:r>
            <a:r>
              <a:rPr lang="en-US" altLang="zh-CN" dirty="0"/>
              <a:t>)</a:t>
            </a:r>
          </a:p>
          <a:p>
            <a:r>
              <a:rPr lang="zh-CN" altLang="en-US" dirty="0"/>
              <a:t>硬件：</a:t>
            </a:r>
            <a:r>
              <a:rPr lang="en-US" altLang="zh-CN" dirty="0"/>
              <a:t>a bit</a:t>
            </a:r>
            <a:r>
              <a:rPr lang="zh-CN" altLang="en-US" dirty="0"/>
              <a:t> </a:t>
            </a:r>
            <a:r>
              <a:rPr lang="en-US" altLang="zh-CN" dirty="0"/>
              <a:t>tough</a:t>
            </a:r>
            <a:r>
              <a:rPr lang="zh-CN" altLang="en-US" dirty="0"/>
              <a:t>，</a:t>
            </a:r>
            <a:r>
              <a:rPr lang="en-US" altLang="zh-CN" dirty="0"/>
              <a:t>you are</a:t>
            </a:r>
            <a:r>
              <a:rPr lang="zh-CN" altLang="en-US" dirty="0"/>
              <a:t> </a:t>
            </a:r>
            <a:r>
              <a:rPr lang="en-US" altLang="zh-CN" dirty="0"/>
              <a:t>just not bringing stuff into the cash, but you cannot utilize your cash well </a:t>
            </a:r>
          </a:p>
        </p:txBody>
      </p:sp>
    </p:spTree>
    <p:extLst>
      <p:ext uri="{BB962C8B-B14F-4D97-AF65-F5344CB8AC3E}">
        <p14:creationId xmlns:p14="http://schemas.microsoft.com/office/powerpoint/2010/main" val="14111543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L1</a:t>
            </a:r>
            <a:r>
              <a:rPr lang="zh-CN" altLang="en-US" dirty="0"/>
              <a:t>有更优的时间空间局部性</a:t>
            </a:r>
            <a:endParaRPr lang="en-US" altLang="zh-CN" dirty="0"/>
          </a:p>
          <a:p>
            <a:endParaRPr lang="en-US" altLang="zh-CN" dirty="0"/>
          </a:p>
          <a:p>
            <a:r>
              <a:rPr lang="en-US" altLang="zh-CN" dirty="0"/>
              <a:t>Norman </a:t>
            </a:r>
            <a:r>
              <a:rPr lang="en-US" altLang="zh-CN" dirty="0" err="1"/>
              <a:t>Jouppi</a:t>
            </a:r>
            <a:r>
              <a:rPr lang="en-US" altLang="zh-CN" dirty="0"/>
              <a:t>, IEEE ACM Fellow, </a:t>
            </a:r>
            <a:r>
              <a:rPr lang="zh-CN" altLang="en-US" dirty="0"/>
              <a:t>参与</a:t>
            </a:r>
            <a:r>
              <a:rPr lang="en-US" altLang="zh-CN" dirty="0"/>
              <a:t>MIPS Project</a:t>
            </a:r>
            <a:endParaRPr lang="zh-CN" altLang="en-US" dirty="0"/>
          </a:p>
        </p:txBody>
      </p:sp>
    </p:spTree>
    <p:extLst>
      <p:ext uri="{BB962C8B-B14F-4D97-AF65-F5344CB8AC3E}">
        <p14:creationId xmlns:p14="http://schemas.microsoft.com/office/powerpoint/2010/main" val="4111069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r>
              <a:rPr lang="en-US" altLang="zh-CN" dirty="0">
                <a:ea typeface="+mn-ea"/>
                <a:cs typeface="+mn-cs"/>
              </a:rPr>
              <a:t>A pseudo-associative cache is between a direct-mapped and set-associative cache</a:t>
            </a:r>
            <a:r>
              <a:rPr lang="en-US" altLang="zh-CN" b="1" dirty="0">
                <a:ea typeface="+mn-ea"/>
                <a:cs typeface="+mn-cs"/>
              </a:rPr>
              <a:t>. </a:t>
            </a:r>
          </a:p>
          <a:p>
            <a:r>
              <a:rPr lang="en-US" altLang="zh-CN" b="1" dirty="0">
                <a:ea typeface="+mn-ea"/>
                <a:cs typeface="+mn-cs"/>
              </a:rPr>
              <a:t>For a set-associative cache, all entries in the set are accessed in parallel. </a:t>
            </a:r>
            <a:r>
              <a:rPr lang="en-US" altLang="zh-CN" dirty="0">
                <a:ea typeface="+mn-ea"/>
                <a:cs typeface="+mn-cs"/>
              </a:rPr>
              <a:t>This slows down the access. </a:t>
            </a:r>
          </a:p>
          <a:p>
            <a:r>
              <a:rPr lang="en-US" altLang="zh-CN" dirty="0">
                <a:ea typeface="+mn-ea"/>
                <a:cs typeface="+mn-cs"/>
              </a:rPr>
              <a:t>In a pseudo-associative cache, we view each "way" of the set as a separate direct-mapped cache. They are accessed in sequence, not in parallel. </a:t>
            </a:r>
          </a:p>
          <a:p>
            <a:r>
              <a:rPr lang="en-US" altLang="zh-CN" b="1" dirty="0">
                <a:solidFill>
                  <a:srgbClr val="FF0000"/>
                </a:solidFill>
                <a:ea typeface="+mn-ea"/>
                <a:cs typeface="+mn-cs"/>
              </a:rPr>
              <a:t>This saves time if the item is found in the first "way", but wastes time if it is found in the last "way.“</a:t>
            </a:r>
          </a:p>
          <a:p>
            <a:endParaRPr lang="en-US" altLang="zh-CN" dirty="0">
              <a:ea typeface="+mn-ea"/>
              <a:cs typeface="+mn-cs"/>
            </a:endParaRPr>
          </a:p>
          <a:p>
            <a:r>
              <a:rPr lang="en-US" altLang="zh-CN" dirty="0">
                <a:ea typeface="+mn-ea"/>
                <a:cs typeface="+mn-cs"/>
              </a:rPr>
              <a:t>On an access, you first try the first "way", then the second "way", etc., until you get to the nth "way".</a:t>
            </a:r>
          </a:p>
          <a:p>
            <a:r>
              <a:rPr lang="en-US" altLang="zh-CN" dirty="0">
                <a:ea typeface="+mn-ea"/>
                <a:cs typeface="+mn-cs"/>
              </a:rPr>
              <a:t>On a hit, if it is found in the </a:t>
            </a:r>
            <a:r>
              <a:rPr lang="en-US" altLang="zh-CN" dirty="0" err="1">
                <a:ea typeface="+mn-ea"/>
                <a:cs typeface="+mn-cs"/>
              </a:rPr>
              <a:t>kth</a:t>
            </a:r>
            <a:r>
              <a:rPr lang="en-US" altLang="zh-CN" dirty="0">
                <a:ea typeface="+mn-ea"/>
                <a:cs typeface="+mn-cs"/>
              </a:rPr>
              <a:t> way, then the line is promoted to the first way, and all lines in caches 1 to k-1 get demoted one cache.</a:t>
            </a:r>
          </a:p>
          <a:p>
            <a:r>
              <a:rPr lang="en-US" altLang="zh-CN" dirty="0">
                <a:ea typeface="+mn-ea"/>
                <a:cs typeface="+mn-cs"/>
              </a:rPr>
              <a:t>On a miss, the item is placed in also placed in the first way, the item in the nth way is evicted, and all items in the 1 to n-1 way are demoted one cache.</a:t>
            </a:r>
          </a:p>
          <a:p>
            <a:endParaRPr lang="en-US" altLang="zh-CN" dirty="0">
              <a:ea typeface="+mn-ea"/>
              <a:cs typeface="+mn-cs"/>
            </a:endParaRPr>
          </a:p>
          <a:p>
            <a:pPr algn="l"/>
            <a:r>
              <a:rPr lang="en-US" altLang="zh-CN" sz="1800" dirty="0">
                <a:solidFill>
                  <a:srgbClr val="000000"/>
                </a:solidFill>
                <a:latin typeface="Tahoma" panose="020B0604030504040204" pitchFamily="34" charset="0"/>
              </a:rPr>
              <a:t>Pseudo-associativity (Poor Man</a:t>
            </a:r>
            <a:r>
              <a:rPr lang="en-US" altLang="zh-CN" sz="1800" dirty="0">
                <a:solidFill>
                  <a:srgbClr val="000000"/>
                </a:solidFill>
                <a:latin typeface="MS-PGothic"/>
              </a:rPr>
              <a:t>’</a:t>
            </a:r>
            <a:r>
              <a:rPr lang="en-US" altLang="zh-CN" sz="1800" dirty="0">
                <a:solidFill>
                  <a:srgbClr val="000000"/>
                </a:solidFill>
                <a:latin typeface="Tahoma" panose="020B0604030504040204" pitchFamily="34" charset="0"/>
              </a:rPr>
              <a:t>s associative cache)</a:t>
            </a:r>
          </a:p>
          <a:p>
            <a:pPr algn="l"/>
            <a:r>
              <a:rPr lang="en-US" altLang="zh-CN" sz="1800" dirty="0">
                <a:solidFill>
                  <a:srgbClr val="3B822F"/>
                </a:solidFill>
                <a:latin typeface="Wingdings-Regular"/>
              </a:rPr>
              <a:t>- </a:t>
            </a:r>
            <a:r>
              <a:rPr lang="en-US" altLang="zh-CN" sz="1800" b="1" dirty="0">
                <a:solidFill>
                  <a:srgbClr val="0432FF"/>
                </a:solidFill>
                <a:latin typeface="Tahoma" panose="020B0604030504040204" pitchFamily="34" charset="0"/>
              </a:rPr>
              <a:t>Serial lookup</a:t>
            </a:r>
            <a:r>
              <a:rPr lang="en-US" altLang="zh-CN" sz="1800" dirty="0">
                <a:solidFill>
                  <a:srgbClr val="0432FF"/>
                </a:solidFill>
                <a:latin typeface="Tahoma" panose="020B0604030504040204" pitchFamily="34" charset="0"/>
              </a:rPr>
              <a:t>: On a miss, use a different index function and access cache again</a:t>
            </a:r>
            <a:endParaRPr lang="en-US" altLang="zh-CN" dirty="0">
              <a:ea typeface="+mn-ea"/>
              <a:cs typeface="+mn-cs"/>
            </a:endParaRPr>
          </a:p>
          <a:p>
            <a:endParaRPr lang="en-US" altLang="zh-CN" dirty="0">
              <a:ea typeface="+mn-ea"/>
              <a:cs typeface="+mn-cs"/>
            </a:endParaRPr>
          </a:p>
          <a:p>
            <a:r>
              <a:rPr lang="en-US" altLang="zh-CN" dirty="0">
                <a:ea typeface="+mn-ea"/>
                <a:cs typeface="+mn-cs"/>
              </a:rPr>
              <a:t>Column-Associative Cache</a:t>
            </a:r>
            <a:r>
              <a:rPr lang="zh-CN" altLang="en-US" dirty="0">
                <a:ea typeface="+mn-ea"/>
                <a:cs typeface="+mn-cs"/>
              </a:rPr>
              <a:t>是</a:t>
            </a:r>
            <a:r>
              <a:rPr lang="en-US" altLang="zh-CN" dirty="0">
                <a:ea typeface="+mn-ea"/>
                <a:cs typeface="+mn-cs"/>
              </a:rPr>
              <a:t>Pseudo-Associative Cache</a:t>
            </a:r>
            <a:r>
              <a:rPr lang="zh-CN" altLang="en-US" dirty="0">
                <a:ea typeface="+mn-ea"/>
                <a:cs typeface="+mn-cs"/>
              </a:rPr>
              <a:t>的一种形式。</a:t>
            </a:r>
            <a:endParaRPr lang="en-US" altLang="zh-CN" dirty="0">
              <a:ea typeface="+mn-ea"/>
              <a:cs typeface="+mn-cs"/>
            </a:endParaRPr>
          </a:p>
          <a:p>
            <a:endParaRPr lang="zh-CN" altLang="en-US" dirty="0"/>
          </a:p>
        </p:txBody>
      </p:sp>
    </p:spTree>
    <p:extLst>
      <p:ext uri="{BB962C8B-B14F-4D97-AF65-F5344CB8AC3E}">
        <p14:creationId xmlns:p14="http://schemas.microsoft.com/office/powerpoint/2010/main" val="3964032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A545594-0489-4CCF-B160-A39FEE7E5C70}" type="slidenum">
              <a:rPr lang="en-US" altLang="zh-CN" smtClean="0"/>
              <a:pPr>
                <a:defRPr/>
              </a:pPr>
              <a:t>37</a:t>
            </a:fld>
            <a:endParaRPr lang="en-US" altLang="zh-CN"/>
          </a:p>
        </p:txBody>
      </p:sp>
    </p:spTree>
    <p:extLst>
      <p:ext uri="{BB962C8B-B14F-4D97-AF65-F5344CB8AC3E}">
        <p14:creationId xmlns:p14="http://schemas.microsoft.com/office/powerpoint/2010/main" val="1050894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98446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504" indent="-285579" eaLnBrk="0" hangingPunct="0">
              <a:defRPr sz="2400">
                <a:solidFill>
                  <a:schemeClr val="tx1"/>
                </a:solidFill>
                <a:latin typeface="Arial" charset="0"/>
                <a:ea typeface="ＭＳ Ｐゴシック" charset="0"/>
              </a:defRPr>
            </a:lvl2pPr>
            <a:lvl3pPr marL="1142314" indent="-228463" eaLnBrk="0" hangingPunct="0">
              <a:defRPr sz="2400">
                <a:solidFill>
                  <a:schemeClr val="tx1"/>
                </a:solidFill>
                <a:latin typeface="Arial" charset="0"/>
                <a:ea typeface="ＭＳ Ｐゴシック" charset="0"/>
              </a:defRPr>
            </a:lvl3pPr>
            <a:lvl4pPr marL="1599240" indent="-228463" eaLnBrk="0" hangingPunct="0">
              <a:defRPr sz="2400">
                <a:solidFill>
                  <a:schemeClr val="tx1"/>
                </a:solidFill>
                <a:latin typeface="Arial" charset="0"/>
                <a:ea typeface="ＭＳ Ｐゴシック" charset="0"/>
              </a:defRPr>
            </a:lvl4pPr>
            <a:lvl5pPr marL="2056166" indent="-228463" eaLnBrk="0" hangingPunct="0">
              <a:defRPr sz="2400">
                <a:solidFill>
                  <a:schemeClr val="tx1"/>
                </a:solidFill>
                <a:latin typeface="Arial" charset="0"/>
                <a:ea typeface="ＭＳ Ｐゴシック" charset="0"/>
              </a:defRPr>
            </a:lvl5pPr>
            <a:lvl6pPr marL="2513091" indent="-228463" eaLnBrk="0" fontAlgn="base" hangingPunct="0">
              <a:spcBef>
                <a:spcPct val="0"/>
              </a:spcBef>
              <a:spcAft>
                <a:spcPct val="0"/>
              </a:spcAft>
              <a:defRPr sz="2400">
                <a:solidFill>
                  <a:schemeClr val="tx1"/>
                </a:solidFill>
                <a:latin typeface="Arial" charset="0"/>
                <a:ea typeface="ＭＳ Ｐゴシック" charset="0"/>
              </a:defRPr>
            </a:lvl6pPr>
            <a:lvl7pPr marL="2970017" indent="-228463" eaLnBrk="0" fontAlgn="base" hangingPunct="0">
              <a:spcBef>
                <a:spcPct val="0"/>
              </a:spcBef>
              <a:spcAft>
                <a:spcPct val="0"/>
              </a:spcAft>
              <a:defRPr sz="2400">
                <a:solidFill>
                  <a:schemeClr val="tx1"/>
                </a:solidFill>
                <a:latin typeface="Arial" charset="0"/>
                <a:ea typeface="ＭＳ Ｐゴシック" charset="0"/>
              </a:defRPr>
            </a:lvl7pPr>
            <a:lvl8pPr marL="3426943" indent="-228463" eaLnBrk="0" fontAlgn="base" hangingPunct="0">
              <a:spcBef>
                <a:spcPct val="0"/>
              </a:spcBef>
              <a:spcAft>
                <a:spcPct val="0"/>
              </a:spcAft>
              <a:defRPr sz="2400">
                <a:solidFill>
                  <a:schemeClr val="tx1"/>
                </a:solidFill>
                <a:latin typeface="Arial" charset="0"/>
                <a:ea typeface="ＭＳ Ｐゴシック" charset="0"/>
              </a:defRPr>
            </a:lvl8pPr>
            <a:lvl9pPr marL="3883868" indent="-22846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3442F023-1958-5541-AD1E-E19FDEFB94F6}" type="slidenum">
              <a:rPr lang="en-US" sz="1200">
                <a:solidFill>
                  <a:srgbClr val="000000"/>
                </a:solidFill>
                <a:latin typeface="Calibri" charset="0"/>
                <a:cs typeface="Arial" charset="0"/>
              </a:rPr>
              <a:pPr eaLnBrk="1" hangingPunct="1"/>
              <a:t>42</a:t>
            </a:fld>
            <a:endParaRPr lang="en-US" sz="1200">
              <a:solidFill>
                <a:srgbClr val="000000"/>
              </a:solidFill>
              <a:latin typeface="Calibri" charset="0"/>
              <a:cs typeface="Arial" charset="0"/>
            </a:endParaRPr>
          </a:p>
        </p:txBody>
      </p:sp>
      <p:sp>
        <p:nvSpPr>
          <p:cNvPr id="10342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342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latin typeface="Arial" charset="0"/>
              </a:rPr>
              <a:t>Processors are fast, Memory is slow. One way to bridge this gap is to service the memory accesses in parallel.  If misses are serviced in parallel, the processor incurs only one long latency stall for all the parallel misses. </a:t>
            </a:r>
          </a:p>
          <a:p>
            <a:r>
              <a:rPr lang="en-US" dirty="0">
                <a:latin typeface="Arial" charset="0"/>
              </a:rPr>
              <a:t>The notion of generating and servicing off-chip accesses in parallel is termed as Memory Level Parallelism or MLP.  </a:t>
            </a:r>
          </a:p>
          <a:p>
            <a:r>
              <a:rPr lang="en-US" b="1" dirty="0">
                <a:solidFill>
                  <a:srgbClr val="FF0000"/>
                </a:solidFill>
                <a:latin typeface="Arial" charset="0"/>
              </a:rPr>
              <a:t>Out of order processors improve MLP by continuing processing of independent instructions till the instruction window is full</a:t>
            </a:r>
            <a:r>
              <a:rPr lang="en-US" dirty="0">
                <a:latin typeface="Arial" charset="0"/>
              </a:rPr>
              <a:t>.  </a:t>
            </a:r>
          </a:p>
          <a:p>
            <a:r>
              <a:rPr lang="en-US" dirty="0">
                <a:latin typeface="Arial" charset="0"/>
              </a:rPr>
              <a:t>If there is a miss during the processing of independent instructions, the miss is serviced concurrently with the stalling miss.  There are several techniques, such as </a:t>
            </a:r>
            <a:r>
              <a:rPr lang="en-US" dirty="0" err="1">
                <a:latin typeface="Arial" charset="0"/>
              </a:rPr>
              <a:t>Runahead</a:t>
            </a:r>
            <a:r>
              <a:rPr lang="en-US" dirty="0">
                <a:latin typeface="Arial" charset="0"/>
              </a:rPr>
              <a:t>, CFP, to improve the MLP of out-of-order processors.  </a:t>
            </a:r>
          </a:p>
          <a:p>
            <a:r>
              <a:rPr lang="en-US" dirty="0">
                <a:latin typeface="Arial" charset="0"/>
              </a:rPr>
              <a:t>MLP is not uniform for all cache misses.  </a:t>
            </a:r>
            <a:r>
              <a:rPr lang="en-US" dirty="0">
                <a:solidFill>
                  <a:srgbClr val="FF0000"/>
                </a:solidFill>
                <a:latin typeface="Arial" charset="0"/>
              </a:rPr>
              <a:t>Some misses, such as pointer chasing loads, are typically serviced with low MLP while other misses, such as array accesses are serviced with high MLP.  </a:t>
            </a:r>
            <a:r>
              <a:rPr lang="en-US" dirty="0">
                <a:latin typeface="Arial" charset="0"/>
              </a:rPr>
              <a:t>Current cache management techniques are not aware of this variation in MLP. </a:t>
            </a:r>
          </a:p>
        </p:txBody>
      </p:sp>
    </p:spTree>
    <p:extLst>
      <p:ext uri="{BB962C8B-B14F-4D97-AF65-F5344CB8AC3E}">
        <p14:creationId xmlns:p14="http://schemas.microsoft.com/office/powerpoint/2010/main" val="40993353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222869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504" indent="-285579" eaLnBrk="0" hangingPunct="0">
              <a:defRPr sz="2400">
                <a:solidFill>
                  <a:schemeClr val="tx1"/>
                </a:solidFill>
                <a:latin typeface="Arial" charset="0"/>
                <a:ea typeface="ＭＳ Ｐゴシック" charset="0"/>
              </a:defRPr>
            </a:lvl2pPr>
            <a:lvl3pPr marL="1142314" indent="-228463" eaLnBrk="0" hangingPunct="0">
              <a:defRPr sz="2400">
                <a:solidFill>
                  <a:schemeClr val="tx1"/>
                </a:solidFill>
                <a:latin typeface="Arial" charset="0"/>
                <a:ea typeface="ＭＳ Ｐゴシック" charset="0"/>
              </a:defRPr>
            </a:lvl3pPr>
            <a:lvl4pPr marL="1599240" indent="-228463" eaLnBrk="0" hangingPunct="0">
              <a:defRPr sz="2400">
                <a:solidFill>
                  <a:schemeClr val="tx1"/>
                </a:solidFill>
                <a:latin typeface="Arial" charset="0"/>
                <a:ea typeface="ＭＳ Ｐゴシック" charset="0"/>
              </a:defRPr>
            </a:lvl4pPr>
            <a:lvl5pPr marL="2056166" indent="-228463" eaLnBrk="0" hangingPunct="0">
              <a:defRPr sz="2400">
                <a:solidFill>
                  <a:schemeClr val="tx1"/>
                </a:solidFill>
                <a:latin typeface="Arial" charset="0"/>
                <a:ea typeface="ＭＳ Ｐゴシック" charset="0"/>
              </a:defRPr>
            </a:lvl5pPr>
            <a:lvl6pPr marL="2513091" indent="-228463" eaLnBrk="0" fontAlgn="base" hangingPunct="0">
              <a:spcBef>
                <a:spcPct val="0"/>
              </a:spcBef>
              <a:spcAft>
                <a:spcPct val="0"/>
              </a:spcAft>
              <a:defRPr sz="2400">
                <a:solidFill>
                  <a:schemeClr val="tx1"/>
                </a:solidFill>
                <a:latin typeface="Arial" charset="0"/>
                <a:ea typeface="ＭＳ Ｐゴシック" charset="0"/>
              </a:defRPr>
            </a:lvl6pPr>
            <a:lvl7pPr marL="2970017" indent="-228463" eaLnBrk="0" fontAlgn="base" hangingPunct="0">
              <a:spcBef>
                <a:spcPct val="0"/>
              </a:spcBef>
              <a:spcAft>
                <a:spcPct val="0"/>
              </a:spcAft>
              <a:defRPr sz="2400">
                <a:solidFill>
                  <a:schemeClr val="tx1"/>
                </a:solidFill>
                <a:latin typeface="Arial" charset="0"/>
                <a:ea typeface="ＭＳ Ｐゴシック" charset="0"/>
              </a:defRPr>
            </a:lvl7pPr>
            <a:lvl8pPr marL="3426943" indent="-228463" eaLnBrk="0" fontAlgn="base" hangingPunct="0">
              <a:spcBef>
                <a:spcPct val="0"/>
              </a:spcBef>
              <a:spcAft>
                <a:spcPct val="0"/>
              </a:spcAft>
              <a:defRPr sz="2400">
                <a:solidFill>
                  <a:schemeClr val="tx1"/>
                </a:solidFill>
                <a:latin typeface="Arial" charset="0"/>
                <a:ea typeface="ＭＳ Ｐゴシック" charset="0"/>
              </a:defRPr>
            </a:lvl8pPr>
            <a:lvl9pPr marL="3883868" indent="-22846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E5CD280-27BD-B646-9B0D-1C12C51E75F6}" type="slidenum">
              <a:rPr lang="en-US" sz="1200">
                <a:solidFill>
                  <a:srgbClr val="000000"/>
                </a:solidFill>
                <a:latin typeface="Calibri" charset="0"/>
                <a:cs typeface="Arial" charset="0"/>
              </a:rPr>
              <a:pPr eaLnBrk="1" hangingPunct="1"/>
              <a:t>44</a:t>
            </a:fld>
            <a:endParaRPr lang="en-US" sz="1200">
              <a:solidFill>
                <a:srgbClr val="000000"/>
              </a:solidFill>
              <a:latin typeface="Calibri" charset="0"/>
              <a:cs typeface="Arial" charset="0"/>
            </a:endParaRPr>
          </a:p>
        </p:txBody>
      </p:sp>
      <p:sp>
        <p:nvSpPr>
          <p:cNvPr id="10649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649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latin typeface="Arial" charset="0"/>
              </a:rPr>
              <a:t>There are 11 memory access instructions in the loop. </a:t>
            </a:r>
          </a:p>
          <a:p>
            <a:r>
              <a:rPr lang="en-US" dirty="0">
                <a:latin typeface="Arial" charset="0"/>
              </a:rPr>
              <a:t>The  accesses to cache blocks P1, P2, P3, P4 occur in the instruction window at same time.  </a:t>
            </a:r>
          </a:p>
          <a:p>
            <a:r>
              <a:rPr lang="en-US" dirty="0">
                <a:latin typeface="Arial" charset="0"/>
              </a:rPr>
              <a:t>If these accesses result in more than 1 miss, then those misses are serviced in parallel.  </a:t>
            </a:r>
          </a:p>
          <a:p>
            <a:r>
              <a:rPr lang="en-US" dirty="0">
                <a:latin typeface="Arial" charset="0"/>
              </a:rPr>
              <a:t>Conversely, misses to the S blocks are spaced far apart in time to misses to the S blocks are always serviced in isolation.   </a:t>
            </a:r>
          </a:p>
          <a:p>
            <a:r>
              <a:rPr lang="en-US" dirty="0">
                <a:latin typeface="Arial" charset="0"/>
              </a:rPr>
              <a:t>This loop executes many time.  I will analyze the cache behavior of this loop for two replacement algorithms.  The first minimizes the number of misses.  The well known </a:t>
            </a:r>
            <a:r>
              <a:rPr lang="en-US" dirty="0" err="1">
                <a:latin typeface="Arial" charset="0"/>
              </a:rPr>
              <a:t>Belady's</a:t>
            </a:r>
            <a:r>
              <a:rPr lang="en-US" dirty="0">
                <a:latin typeface="Arial" charset="0"/>
              </a:rPr>
              <a:t> opt algorithm provides a theoretical lower bound on the number of misses.  The other is MLP-aware replacement, which tries to reduce the number of isolated miss.</a:t>
            </a:r>
          </a:p>
        </p:txBody>
      </p:sp>
    </p:spTree>
    <p:extLst>
      <p:ext uri="{BB962C8B-B14F-4D97-AF65-F5344CB8AC3E}">
        <p14:creationId xmlns:p14="http://schemas.microsoft.com/office/powerpoint/2010/main" val="2167462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504" indent="-285579" eaLnBrk="0" hangingPunct="0">
              <a:defRPr sz="2400">
                <a:solidFill>
                  <a:schemeClr val="tx1"/>
                </a:solidFill>
                <a:latin typeface="Arial" charset="0"/>
                <a:ea typeface="ＭＳ Ｐゴシック" charset="0"/>
              </a:defRPr>
            </a:lvl2pPr>
            <a:lvl3pPr marL="1142314" indent="-228463" eaLnBrk="0" hangingPunct="0">
              <a:defRPr sz="2400">
                <a:solidFill>
                  <a:schemeClr val="tx1"/>
                </a:solidFill>
                <a:latin typeface="Arial" charset="0"/>
                <a:ea typeface="ＭＳ Ｐゴシック" charset="0"/>
              </a:defRPr>
            </a:lvl3pPr>
            <a:lvl4pPr marL="1599240" indent="-228463" eaLnBrk="0" hangingPunct="0">
              <a:defRPr sz="2400">
                <a:solidFill>
                  <a:schemeClr val="tx1"/>
                </a:solidFill>
                <a:latin typeface="Arial" charset="0"/>
                <a:ea typeface="ＭＳ Ｐゴシック" charset="0"/>
              </a:defRPr>
            </a:lvl4pPr>
            <a:lvl5pPr marL="2056166" indent="-228463" eaLnBrk="0" hangingPunct="0">
              <a:defRPr sz="2400">
                <a:solidFill>
                  <a:schemeClr val="tx1"/>
                </a:solidFill>
                <a:latin typeface="Arial" charset="0"/>
                <a:ea typeface="ＭＳ Ｐゴシック" charset="0"/>
              </a:defRPr>
            </a:lvl5pPr>
            <a:lvl6pPr marL="2513091" indent="-228463" eaLnBrk="0" fontAlgn="base" hangingPunct="0">
              <a:spcBef>
                <a:spcPct val="0"/>
              </a:spcBef>
              <a:spcAft>
                <a:spcPct val="0"/>
              </a:spcAft>
              <a:defRPr sz="2400">
                <a:solidFill>
                  <a:schemeClr val="tx1"/>
                </a:solidFill>
                <a:latin typeface="Arial" charset="0"/>
                <a:ea typeface="ＭＳ Ｐゴシック" charset="0"/>
              </a:defRPr>
            </a:lvl6pPr>
            <a:lvl7pPr marL="2970017" indent="-228463" eaLnBrk="0" fontAlgn="base" hangingPunct="0">
              <a:spcBef>
                <a:spcPct val="0"/>
              </a:spcBef>
              <a:spcAft>
                <a:spcPct val="0"/>
              </a:spcAft>
              <a:defRPr sz="2400">
                <a:solidFill>
                  <a:schemeClr val="tx1"/>
                </a:solidFill>
                <a:latin typeface="Arial" charset="0"/>
                <a:ea typeface="ＭＳ Ｐゴシック" charset="0"/>
              </a:defRPr>
            </a:lvl7pPr>
            <a:lvl8pPr marL="3426943" indent="-228463" eaLnBrk="0" fontAlgn="base" hangingPunct="0">
              <a:spcBef>
                <a:spcPct val="0"/>
              </a:spcBef>
              <a:spcAft>
                <a:spcPct val="0"/>
              </a:spcAft>
              <a:defRPr sz="2400">
                <a:solidFill>
                  <a:schemeClr val="tx1"/>
                </a:solidFill>
                <a:latin typeface="Arial" charset="0"/>
                <a:ea typeface="ＭＳ Ｐゴシック" charset="0"/>
              </a:defRPr>
            </a:lvl8pPr>
            <a:lvl9pPr marL="3883868" indent="-22846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AD48A545-8018-4542-BF1F-2F9D606B3FDC}" type="slidenum">
              <a:rPr lang="en-US" sz="1200">
                <a:solidFill>
                  <a:srgbClr val="000000"/>
                </a:solidFill>
                <a:latin typeface="Calibri" charset="0"/>
                <a:cs typeface="Arial" charset="0"/>
              </a:rPr>
              <a:pPr eaLnBrk="1" hangingPunct="1"/>
              <a:t>45</a:t>
            </a:fld>
            <a:endParaRPr lang="en-US" sz="1200">
              <a:solidFill>
                <a:srgbClr val="000000"/>
              </a:solidFill>
              <a:latin typeface="Calibri" charset="0"/>
              <a:cs typeface="Arial" charset="0"/>
            </a:endParaRPr>
          </a:p>
        </p:txBody>
      </p:sp>
      <p:sp>
        <p:nvSpPr>
          <p:cNvPr id="1085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85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dirty="0">
                <a:latin typeface="Arial" charset="0"/>
              </a:rPr>
              <a:t>Although </a:t>
            </a:r>
            <a:r>
              <a:rPr lang="en-US" dirty="0" err="1">
                <a:latin typeface="Arial" charset="0"/>
              </a:rPr>
              <a:t>Belady</a:t>
            </a:r>
            <a:r>
              <a:rPr lang="ja-JP" altLang="en-US" dirty="0">
                <a:latin typeface="Arial" charset="0"/>
              </a:rPr>
              <a:t>’</a:t>
            </a:r>
            <a:r>
              <a:rPr lang="en-US" altLang="ja-JP" dirty="0">
                <a:latin typeface="Arial" charset="0"/>
              </a:rPr>
              <a:t>s OPT minimizes misses, it is impossible to implement it in a real processor as it requires knowledge of the future.  We employ the commonly used LRU policy in our experiments</a:t>
            </a:r>
            <a:endParaRPr lang="en-US" dirty="0">
              <a:latin typeface="Arial" charset="0"/>
            </a:endParaRPr>
          </a:p>
        </p:txBody>
      </p:sp>
    </p:spTree>
    <p:extLst>
      <p:ext uri="{BB962C8B-B14F-4D97-AF65-F5344CB8AC3E}">
        <p14:creationId xmlns:p14="http://schemas.microsoft.com/office/powerpoint/2010/main" val="1099383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6126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406331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作业中，多次运行，获得的时间不同。</a:t>
            </a:r>
          </a:p>
        </p:txBody>
      </p:sp>
      <p:sp>
        <p:nvSpPr>
          <p:cNvPr id="4" name="灯片编号占位符 3"/>
          <p:cNvSpPr>
            <a:spLocks noGrp="1"/>
          </p:cNvSpPr>
          <p:nvPr>
            <p:ph type="sldNum" sz="quarter" idx="10"/>
          </p:nvPr>
        </p:nvSpPr>
        <p:spPr/>
        <p:txBody>
          <a:bodyPr/>
          <a:lstStyle/>
          <a:p>
            <a:pPr>
              <a:defRPr/>
            </a:pPr>
            <a:fld id="{8A545594-0489-4CCF-B160-A39FEE7E5C70}" type="slidenum">
              <a:rPr lang="en-US" altLang="zh-CN" smtClean="0"/>
              <a:pPr>
                <a:defRPr/>
              </a:pPr>
              <a:t>50</a:t>
            </a:fld>
            <a:endParaRPr lang="en-US" altLang="zh-CN"/>
          </a:p>
        </p:txBody>
      </p:sp>
    </p:spTree>
    <p:extLst>
      <p:ext uri="{BB962C8B-B14F-4D97-AF65-F5344CB8AC3E}">
        <p14:creationId xmlns:p14="http://schemas.microsoft.com/office/powerpoint/2010/main" val="26771400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545594-0489-4CCF-B160-A39FEE7E5C70}" type="slidenum">
              <a:rPr kumimoji="0" lang="en-US" altLang="zh-CN" sz="1200" b="0" i="0" u="none" strike="noStrike" kern="1200" cap="none" spc="0" normalizeH="0" baseline="0" noProof="0" smtClean="0">
                <a:ln>
                  <a:noFill/>
                </a:ln>
                <a:solidFill>
                  <a:prstClr val="black"/>
                </a:solidFill>
                <a:effectLst/>
                <a:uLnTx/>
                <a:uFillTx/>
                <a:latin typeface="Calibri" pitchFamily="34" charset="0"/>
                <a:ea typeface="ＭＳ Ｐゴシック" pitchFamily="34" charset="-128"/>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zh-CN"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42931019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一个例子，自助餐。</a:t>
            </a:r>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A545594-0489-4CCF-B160-A39FEE7E5C70}" type="slidenum">
              <a:rPr kumimoji="0" lang="en-US" altLang="zh-CN" sz="1200" b="0" i="0" u="none" strike="noStrike" kern="1200" cap="none" spc="0" normalizeH="0" baseline="0" noProof="0" smtClean="0">
                <a:ln>
                  <a:noFill/>
                </a:ln>
                <a:solidFill>
                  <a:prstClr val="black"/>
                </a:solidFill>
                <a:effectLst/>
                <a:uLnTx/>
                <a:uFillTx/>
                <a:latin typeface="Calibri" pitchFamily="34" charset="0"/>
                <a:ea typeface="ＭＳ Ｐゴシック" pitchFamily="34" charset="-128"/>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zh-CN" sz="1200" b="0" i="0" u="none" strike="noStrike" kern="1200" cap="none" spc="0" normalizeH="0" baseline="0" noProof="0">
              <a:ln>
                <a:noFill/>
              </a:ln>
              <a:solidFill>
                <a:prstClr val="black"/>
              </a:solidFill>
              <a:effectLst/>
              <a:uLnTx/>
              <a:uFillTx/>
              <a:latin typeface="Calibri"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3642727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75213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5613" y="2286000"/>
            <a:ext cx="8226425" cy="1143000"/>
          </a:xfrm>
        </p:spPr>
        <p:txBody>
          <a:bodyPr/>
          <a:lstStyle>
            <a:lvl1pPr>
              <a:defRPr sz="48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075" name="Rectangle 3"/>
          <p:cNvSpPr>
            <a:spLocks noGrp="1" noChangeArrowheads="1"/>
          </p:cNvSpPr>
          <p:nvPr>
            <p:ph type="subTitle" idx="1" hasCustomPrompt="1"/>
          </p:nvPr>
        </p:nvSpPr>
        <p:spPr>
          <a:xfrm>
            <a:off x="1371600" y="3886200"/>
            <a:ext cx="6400800" cy="393700"/>
          </a:xfrm>
        </p:spPr>
        <p:txBody>
          <a:bodyPr/>
          <a:lstStyle>
            <a:lvl1pPr marL="0" indent="0" algn="ctr">
              <a:defRPr sz="3200">
                <a:latin typeface="微软雅黑" panose="020B0503020204020204" pitchFamily="34" charset="-122"/>
                <a:ea typeface="微软雅黑" panose="020B0503020204020204" pitchFamily="34" charset="-122"/>
              </a:defRPr>
            </a:lvl1pPr>
          </a:lstStyle>
          <a:p>
            <a:endParaRPr lang="en-US"/>
          </a:p>
          <a:p>
            <a:endParaRPr lang="en-US"/>
          </a:p>
        </p:txBody>
      </p:sp>
    </p:spTree>
    <p:extLst>
      <p:ext uri="{BB962C8B-B14F-4D97-AF65-F5344CB8AC3E}">
        <p14:creationId xmlns:p14="http://schemas.microsoft.com/office/powerpoint/2010/main" val="204501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457200" y="1104900"/>
            <a:ext cx="8229600" cy="4648200"/>
          </a:xfrm>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6" name="Rectangle 12"/>
          <p:cNvSpPr>
            <a:spLocks noGrp="1" noChangeArrowheads="1"/>
          </p:cNvSpPr>
          <p:nvPr>
            <p:ph type="sldNum" sz="quarter" idx="12"/>
          </p:nvPr>
        </p:nvSpPr>
        <p:spPr>
          <a:xfrm>
            <a:off x="8458200" y="6511184"/>
            <a:ext cx="685800" cy="211137"/>
          </a:xfrm>
        </p:spPr>
        <p:txBody>
          <a:bodyPr/>
          <a:lstStyle>
            <a:lvl1pPr>
              <a:defRPr sz="1200"/>
            </a:lvl1pPr>
          </a:lstStyle>
          <a:p>
            <a:fld id="{281828B1-9571-413B-8DF6-88C4749FAF08}" type="slidenum">
              <a:rPr lang="en-US" altLang="en-US" smtClean="0"/>
              <a:pPr/>
              <a:t>‹#›</a:t>
            </a:fld>
            <a:endParaRPr lang="en-US" altLang="en-US"/>
          </a:p>
        </p:txBody>
      </p:sp>
    </p:spTree>
    <p:extLst>
      <p:ext uri="{BB962C8B-B14F-4D97-AF65-F5344CB8AC3E}">
        <p14:creationId xmlns:p14="http://schemas.microsoft.com/office/powerpoint/2010/main" val="78476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Rectangle 10"/>
          <p:cNvSpPr>
            <a:spLocks noGrp="1" noChangeArrowheads="1"/>
          </p:cNvSpPr>
          <p:nvPr>
            <p:ph type="dt" sz="half" idx="10"/>
          </p:nvPr>
        </p:nvSpPr>
        <p:spPr/>
        <p:txBody>
          <a:bodyPr/>
          <a:lstStyle>
            <a:lvl1pPr>
              <a:defRPr/>
            </a:lvl1pPr>
          </a:lstStyle>
          <a:p>
            <a:endParaRPr lang="en-US" altLang="en-US" dirty="0"/>
          </a:p>
        </p:txBody>
      </p:sp>
      <p:sp>
        <p:nvSpPr>
          <p:cNvPr id="4" name="Rectangle 11"/>
          <p:cNvSpPr>
            <a:spLocks noGrp="1" noChangeArrowheads="1"/>
          </p:cNvSpPr>
          <p:nvPr>
            <p:ph type="ftr" sz="quarter" idx="11"/>
          </p:nvPr>
        </p:nvSpPr>
        <p:spPr/>
        <p:txBody>
          <a:bodyPr/>
          <a:lstStyle>
            <a:lvl1pPr>
              <a:defRPr/>
            </a:lvl1pPr>
          </a:lstStyle>
          <a:p>
            <a:endParaRPr lang="en-US" altLang="en-US" sz="1600" dirty="0">
              <a:latin typeface="Times New Roman" panose="02020603050405020304" pitchFamily="18" charset="0"/>
            </a:endParaRPr>
          </a:p>
        </p:txBody>
      </p:sp>
      <p:sp>
        <p:nvSpPr>
          <p:cNvPr id="5" name="Rectangle 12"/>
          <p:cNvSpPr>
            <a:spLocks noGrp="1" noChangeArrowheads="1"/>
          </p:cNvSpPr>
          <p:nvPr>
            <p:ph type="sldNum" sz="quarter" idx="12"/>
          </p:nvPr>
        </p:nvSpPr>
        <p:spPr/>
        <p:txBody>
          <a:bodyPr/>
          <a:lstStyle>
            <a:lvl1pPr>
              <a:defRPr/>
            </a:lvl1pPr>
          </a:lstStyle>
          <a:p>
            <a:fld id="{1AEA45D1-D4B8-44CC-BE7C-EE654AA999B5}" type="slidenum">
              <a:rPr lang="en-US" altLang="en-US"/>
              <a:t>‹#›</a:t>
            </a:fld>
            <a:endParaRPr lang="en-US" altLang="en-US" sz="1600"/>
          </a:p>
        </p:txBody>
      </p:sp>
    </p:spTree>
    <p:extLst>
      <p:ext uri="{BB962C8B-B14F-4D97-AF65-F5344CB8AC3E}">
        <p14:creationId xmlns:p14="http://schemas.microsoft.com/office/powerpoint/2010/main" val="4123993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p:txBody>
          <a:bodyPr/>
          <a:lstStyle>
            <a:lvl1pPr>
              <a:defRPr/>
            </a:lvl1pPr>
          </a:lstStyle>
          <a:p>
            <a:endParaRPr lang="en-US" altLang="en-US" dirty="0"/>
          </a:p>
        </p:txBody>
      </p:sp>
      <p:sp>
        <p:nvSpPr>
          <p:cNvPr id="3" name="Rectangle 11"/>
          <p:cNvSpPr>
            <a:spLocks noGrp="1" noChangeArrowheads="1"/>
          </p:cNvSpPr>
          <p:nvPr>
            <p:ph type="ftr" sz="quarter" idx="11"/>
          </p:nvPr>
        </p:nvSpPr>
        <p:spPr/>
        <p:txBody>
          <a:bodyPr/>
          <a:lstStyle>
            <a:lvl1pPr>
              <a:defRPr/>
            </a:lvl1pPr>
          </a:lstStyle>
          <a:p>
            <a:endParaRPr lang="en-US" altLang="en-US" sz="1600" dirty="0">
              <a:latin typeface="Times New Roman" panose="02020603050405020304" pitchFamily="18" charset="0"/>
            </a:endParaRPr>
          </a:p>
        </p:txBody>
      </p:sp>
      <p:sp>
        <p:nvSpPr>
          <p:cNvPr id="4" name="Rectangle 12"/>
          <p:cNvSpPr>
            <a:spLocks noGrp="1" noChangeArrowheads="1"/>
          </p:cNvSpPr>
          <p:nvPr>
            <p:ph type="sldNum" sz="quarter" idx="12"/>
          </p:nvPr>
        </p:nvSpPr>
        <p:spPr/>
        <p:txBody>
          <a:bodyPr/>
          <a:lstStyle>
            <a:lvl1pPr>
              <a:defRPr/>
            </a:lvl1pPr>
          </a:lstStyle>
          <a:p>
            <a:fld id="{73C70C14-1FDF-4DAA-8722-DD1532F46E01}" type="slidenum">
              <a:rPr lang="en-US" altLang="en-US"/>
              <a:t>‹#›</a:t>
            </a:fld>
            <a:endParaRPr lang="en-US" altLang="en-US" sz="1600"/>
          </a:p>
        </p:txBody>
      </p:sp>
    </p:spTree>
    <p:extLst>
      <p:ext uri="{BB962C8B-B14F-4D97-AF65-F5344CB8AC3E}">
        <p14:creationId xmlns:p14="http://schemas.microsoft.com/office/powerpoint/2010/main" val="2011508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209550"/>
            <a:ext cx="9144000" cy="685800"/>
          </a:xfrm>
          <a:prstGeom prst="rect">
            <a:avLst/>
          </a:prstGeom>
          <a:noFill/>
          <a:ln>
            <a:noFill/>
          </a:ln>
        </p:spPr>
        <p:txBody>
          <a:bodyPr vert="horz" wrap="square" lIns="91440" tIns="45720" rIns="91440" bIns="45720" numCol="1" anchor="ctr" anchorCtr="0" compatLnSpc="1"/>
          <a:lstStyle/>
          <a:p>
            <a:pPr lvl="0"/>
            <a:r>
              <a:rPr lang="zh-CN" altLang="en-US"/>
              <a:t>单击此处编辑母版标题样式</a:t>
            </a:r>
            <a:endParaRPr lang="en-US" altLang="en-US"/>
          </a:p>
        </p:txBody>
      </p:sp>
      <p:sp>
        <p:nvSpPr>
          <p:cNvPr id="1032" name="Line 8"/>
          <p:cNvSpPr>
            <a:spLocks noChangeShapeType="1"/>
          </p:cNvSpPr>
          <p:nvPr/>
        </p:nvSpPr>
        <p:spPr bwMode="auto">
          <a:xfrm>
            <a:off x="457200" y="938213"/>
            <a:ext cx="8229600" cy="0"/>
          </a:xfrm>
          <a:prstGeom prst="line">
            <a:avLst/>
          </a:prstGeom>
          <a:noFill/>
          <a:ln w="25400">
            <a:solidFill>
              <a:srgbClr val="336699"/>
            </a:solidFill>
            <a:round/>
          </a:ln>
          <a:effectLst/>
        </p:spPr>
        <p:txBody>
          <a:bodyPr/>
          <a:lstStyle/>
          <a:p>
            <a:pPr>
              <a:defRPr/>
            </a:pPr>
            <a:endParaRPr lang="en-US"/>
          </a:p>
        </p:txBody>
      </p:sp>
      <p:sp>
        <p:nvSpPr>
          <p:cNvPr id="1034" name="Rectangle 10"/>
          <p:cNvSpPr>
            <a:spLocks noGrp="1" noChangeArrowheads="1"/>
          </p:cNvSpPr>
          <p:nvPr>
            <p:ph type="dt" sz="half" idx="2"/>
          </p:nvPr>
        </p:nvSpPr>
        <p:spPr bwMode="auto">
          <a:xfrm>
            <a:off x="6462713" y="6392863"/>
            <a:ext cx="2320925" cy="381000"/>
          </a:xfrm>
          <a:prstGeom prst="rect">
            <a:avLst/>
          </a:prstGeom>
          <a:noFill/>
          <a:ln w="9525">
            <a:noFill/>
            <a:miter lim="800000"/>
          </a:ln>
          <a:effectLst/>
        </p:spPr>
        <p:txBody>
          <a:bodyPr vert="horz" wrap="square" lIns="101882" tIns="50941" rIns="101882" bIns="50941" numCol="1" anchor="t" anchorCtr="0" compatLnSpc="1"/>
          <a:lstStyle>
            <a:lvl1pPr algn="r" eaLnBrk="0" hangingPunct="0">
              <a:defRPr sz="900" b="0">
                <a:latin typeface="+mn-lt"/>
                <a:cs typeface="Arial" panose="020B0604020202020204" pitchFamily="34" charset="0"/>
              </a:defRPr>
            </a:lvl1pPr>
          </a:lstStyle>
          <a:p>
            <a:endParaRPr lang="en-US" altLang="en-US" dirty="0"/>
          </a:p>
        </p:txBody>
      </p:sp>
      <p:sp>
        <p:nvSpPr>
          <p:cNvPr id="1035" name="Rectangle 11"/>
          <p:cNvSpPr>
            <a:spLocks noGrp="1" noChangeArrowheads="1"/>
          </p:cNvSpPr>
          <p:nvPr>
            <p:ph type="ftr" sz="quarter" idx="3"/>
          </p:nvPr>
        </p:nvSpPr>
        <p:spPr bwMode="auto">
          <a:xfrm>
            <a:off x="369888" y="6392863"/>
            <a:ext cx="2286000" cy="381000"/>
          </a:xfrm>
          <a:prstGeom prst="rect">
            <a:avLst/>
          </a:prstGeom>
          <a:noFill/>
          <a:ln w="9525">
            <a:noFill/>
            <a:miter lim="800000"/>
          </a:ln>
          <a:effectLst/>
        </p:spPr>
        <p:txBody>
          <a:bodyPr vert="horz" wrap="square" lIns="101882" tIns="50941" rIns="101882" bIns="50941" numCol="1" anchor="t" anchorCtr="0" compatLnSpc="1"/>
          <a:lstStyle>
            <a:lvl1pPr eaLnBrk="0" hangingPunct="0">
              <a:defRPr sz="900" b="0">
                <a:latin typeface="+mn-lt"/>
                <a:cs typeface="Arial" panose="020B0604020202020204" pitchFamily="34" charset="0"/>
              </a:defRPr>
            </a:lvl1pPr>
          </a:lstStyle>
          <a:p>
            <a:endParaRPr lang="en-US" altLang="en-US" dirty="0"/>
          </a:p>
        </p:txBody>
      </p:sp>
      <p:sp>
        <p:nvSpPr>
          <p:cNvPr id="1036" name="Rectangle 12"/>
          <p:cNvSpPr>
            <a:spLocks noGrp="1" noChangeArrowheads="1"/>
          </p:cNvSpPr>
          <p:nvPr>
            <p:ph type="sldNum" sz="quarter" idx="4"/>
          </p:nvPr>
        </p:nvSpPr>
        <p:spPr bwMode="auto">
          <a:xfrm>
            <a:off x="3681413" y="6392863"/>
            <a:ext cx="1782762" cy="211137"/>
          </a:xfrm>
          <a:prstGeom prst="rect">
            <a:avLst/>
          </a:prstGeom>
          <a:noFill/>
          <a:ln w="9525">
            <a:noFill/>
            <a:miter lim="800000"/>
          </a:ln>
          <a:effectLst/>
        </p:spPr>
        <p:txBody>
          <a:bodyPr vert="horz" wrap="square" lIns="101882" tIns="50941" rIns="101882" bIns="50941" numCol="1" anchor="t" anchorCtr="0" compatLnSpc="1"/>
          <a:lstStyle>
            <a:lvl1pPr algn="ctr" eaLnBrk="0" hangingPunct="0">
              <a:defRPr sz="900" b="0">
                <a:latin typeface="+mn-lt"/>
                <a:cs typeface="Arial" panose="020B0604020202020204" pitchFamily="34" charset="0"/>
              </a:defRPr>
            </a:lvl1pPr>
          </a:lstStyle>
          <a:p>
            <a:fld id="{DD4DE553-3661-4A74-A98D-B84EF2586A6D}" type="slidenum">
              <a:rPr lang="en-US" altLang="en-US" smtClean="0"/>
              <a:t>‹#›</a:t>
            </a:fld>
            <a:endParaRPr lang="en-US" altLang="en-US" dirty="0"/>
          </a:p>
        </p:txBody>
      </p:sp>
      <p:sp>
        <p:nvSpPr>
          <p:cNvPr id="3" name="Rectangle 18"/>
          <p:cNvSpPr>
            <a:spLocks noGrp="1" noChangeArrowheads="1"/>
          </p:cNvSpPr>
          <p:nvPr>
            <p:ph type="body" idx="1"/>
          </p:nvPr>
        </p:nvSpPr>
        <p:spPr bwMode="auto">
          <a:xfrm>
            <a:off x="457200" y="1104900"/>
            <a:ext cx="8229600" cy="4648200"/>
          </a:xfrm>
          <a:prstGeom prst="rect">
            <a:avLst/>
          </a:prstGeom>
          <a:noFill/>
          <a:ln>
            <a:noFill/>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altLang="en-US" dirty="0"/>
          </a:p>
        </p:txBody>
      </p:sp>
    </p:spTree>
    <p:extLst>
      <p:ext uri="{BB962C8B-B14F-4D97-AF65-F5344CB8AC3E}">
        <p14:creationId xmlns:p14="http://schemas.microsoft.com/office/powerpoint/2010/main" val="1328538691"/>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Lst>
  <p:hf hdr="0" dt="0"/>
  <p:txStyles>
    <p:titleStyle>
      <a:lvl1pPr algn="ctr" rtl="0" eaLnBrk="1" fontAlgn="base" hangingPunct="1">
        <a:spcBef>
          <a:spcPct val="0"/>
        </a:spcBef>
        <a:spcAft>
          <a:spcPct val="0"/>
        </a:spcAft>
        <a:defRPr sz="4400">
          <a:solidFill>
            <a:srgbClr val="336699"/>
          </a:solidFill>
          <a:latin typeface="+mj-lt"/>
          <a:ea typeface="+mj-ea"/>
          <a:cs typeface="+mj-cs"/>
        </a:defRPr>
      </a:lvl1pPr>
      <a:lvl2pPr algn="ctr" rtl="0" eaLnBrk="1" fontAlgn="base" hangingPunct="1">
        <a:spcBef>
          <a:spcPct val="0"/>
        </a:spcBef>
        <a:spcAft>
          <a:spcPct val="0"/>
        </a:spcAft>
        <a:defRPr sz="4400">
          <a:solidFill>
            <a:srgbClr val="336699"/>
          </a:solidFill>
          <a:latin typeface="Arial" panose="020B0604020202020204" pitchFamily="34" charset="0"/>
        </a:defRPr>
      </a:lvl2pPr>
      <a:lvl3pPr algn="ctr" rtl="0" eaLnBrk="1" fontAlgn="base" hangingPunct="1">
        <a:spcBef>
          <a:spcPct val="0"/>
        </a:spcBef>
        <a:spcAft>
          <a:spcPct val="0"/>
        </a:spcAft>
        <a:defRPr sz="4400">
          <a:solidFill>
            <a:srgbClr val="336699"/>
          </a:solidFill>
          <a:latin typeface="Arial" panose="020B0604020202020204" pitchFamily="34" charset="0"/>
        </a:defRPr>
      </a:lvl3pPr>
      <a:lvl4pPr algn="ctr" rtl="0" eaLnBrk="1" fontAlgn="base" hangingPunct="1">
        <a:spcBef>
          <a:spcPct val="0"/>
        </a:spcBef>
        <a:spcAft>
          <a:spcPct val="0"/>
        </a:spcAft>
        <a:defRPr sz="4400">
          <a:solidFill>
            <a:srgbClr val="336699"/>
          </a:solidFill>
          <a:latin typeface="Arial" panose="020B0604020202020204" pitchFamily="34" charset="0"/>
        </a:defRPr>
      </a:lvl4pPr>
      <a:lvl5pPr algn="ctr" rtl="0" eaLnBrk="1" fontAlgn="base" hangingPunct="1">
        <a:spcBef>
          <a:spcPct val="0"/>
        </a:spcBef>
        <a:spcAft>
          <a:spcPct val="0"/>
        </a:spcAft>
        <a:defRPr sz="4400">
          <a:solidFill>
            <a:srgbClr val="336699"/>
          </a:solidFill>
          <a:latin typeface="Arial" panose="020B0604020202020204" pitchFamily="34" charset="0"/>
        </a:defRPr>
      </a:lvl5pPr>
      <a:lvl6pPr marL="457200" algn="ctr" rtl="0" eaLnBrk="1" fontAlgn="base" hangingPunct="1">
        <a:spcBef>
          <a:spcPct val="0"/>
        </a:spcBef>
        <a:spcAft>
          <a:spcPct val="0"/>
        </a:spcAft>
        <a:defRPr sz="4400">
          <a:solidFill>
            <a:srgbClr val="336699"/>
          </a:solidFill>
          <a:latin typeface="Arial" panose="020B0604020202020204" pitchFamily="34" charset="0"/>
        </a:defRPr>
      </a:lvl6pPr>
      <a:lvl7pPr marL="914400" algn="ctr" rtl="0" eaLnBrk="1" fontAlgn="base" hangingPunct="1">
        <a:spcBef>
          <a:spcPct val="0"/>
        </a:spcBef>
        <a:spcAft>
          <a:spcPct val="0"/>
        </a:spcAft>
        <a:defRPr sz="4400">
          <a:solidFill>
            <a:srgbClr val="336699"/>
          </a:solidFill>
          <a:latin typeface="Arial" panose="020B0604020202020204" pitchFamily="34" charset="0"/>
        </a:defRPr>
      </a:lvl7pPr>
      <a:lvl8pPr marL="1371600" algn="ctr" rtl="0" eaLnBrk="1" fontAlgn="base" hangingPunct="1">
        <a:spcBef>
          <a:spcPct val="0"/>
        </a:spcBef>
        <a:spcAft>
          <a:spcPct val="0"/>
        </a:spcAft>
        <a:defRPr sz="4400">
          <a:solidFill>
            <a:srgbClr val="336699"/>
          </a:solidFill>
          <a:latin typeface="Arial" panose="020B0604020202020204" pitchFamily="34" charset="0"/>
        </a:defRPr>
      </a:lvl8pPr>
      <a:lvl9pPr marL="1828800" algn="ctr" rtl="0" eaLnBrk="1" fontAlgn="base" hangingPunct="1">
        <a:spcBef>
          <a:spcPct val="0"/>
        </a:spcBef>
        <a:spcAft>
          <a:spcPct val="0"/>
        </a:spcAft>
        <a:defRPr sz="4400">
          <a:solidFill>
            <a:srgbClr val="336699"/>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Font typeface="Arial" panose="020B0604020202020204" pitchFamily="34" charset="0"/>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6pPr>
      <a:lvl7pPr marL="29718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7pPr>
      <a:lvl8pPr marL="34290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8pPr>
      <a:lvl9pPr marL="3886200" indent="-228600"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l.acm.org/doi/10.1145/285930.285979"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bilibili.com/video/BV1E44y1U7v4/?spm_id_from=333.999.0.0&amp;vd_source=f4b86ceb9b5012adaf35e95eb51f5e7b"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ibrahimessam.com/posts/prefetch/" TargetMode="Externa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ieeexplore.ieee.org/document/134547"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dl.acm.org/doi/10.1145/165123.165152"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ieeexplore.ieee.org/document/1635950"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CAEBB5DD-18A6-4F54-95FE-6766D66E62F6}"/>
              </a:ext>
            </a:extLst>
          </p:cNvPr>
          <p:cNvSpPr>
            <a:spLocks noGrp="1" noChangeArrowheads="1"/>
          </p:cNvSpPr>
          <p:nvPr>
            <p:ph type="ctrTitle"/>
          </p:nvPr>
        </p:nvSpPr>
        <p:spPr>
          <a:xfrm>
            <a:off x="455613" y="998945"/>
            <a:ext cx="8226425" cy="1143000"/>
          </a:xfrm>
        </p:spPr>
        <p:txBody>
          <a:bodyPr/>
          <a:lstStyle/>
          <a:p>
            <a:pPr eaLnBrk="1" hangingPunct="1"/>
            <a:r>
              <a:rPr lang="zh-CN" altLang="en-US" dirty="0"/>
              <a:t>计算机体系结构</a:t>
            </a:r>
            <a:endParaRPr lang="en-US" altLang="en-US" dirty="0"/>
          </a:p>
        </p:txBody>
      </p:sp>
      <p:sp>
        <p:nvSpPr>
          <p:cNvPr id="10" name="Rectangle 3">
            <a:extLst>
              <a:ext uri="{FF2B5EF4-FFF2-40B4-BE49-F238E27FC236}">
                <a16:creationId xmlns:a16="http://schemas.microsoft.com/office/drawing/2014/main" id="{41FEFBB4-E0C2-4634-8681-35EA3907E43A}"/>
              </a:ext>
            </a:extLst>
          </p:cNvPr>
          <p:cNvSpPr>
            <a:spLocks noGrp="1" noChangeArrowheads="1"/>
          </p:cNvSpPr>
          <p:nvPr>
            <p:ph type="subTitle" idx="1"/>
          </p:nvPr>
        </p:nvSpPr>
        <p:spPr>
          <a:xfrm>
            <a:off x="1371600" y="2761069"/>
            <a:ext cx="6400800" cy="755127"/>
          </a:xfrm>
        </p:spPr>
        <p:txBody>
          <a:bodyPr/>
          <a:lstStyle/>
          <a:p>
            <a:pPr>
              <a:buNone/>
            </a:pPr>
            <a:r>
              <a:rPr lang="en-US" altLang="zh-CN" sz="3600" dirty="0">
                <a:solidFill>
                  <a:schemeClr val="tx1"/>
                </a:solidFill>
              </a:rPr>
              <a:t>05</a:t>
            </a:r>
            <a:r>
              <a:rPr lang="en-US" altLang="zh-CN" sz="3600" dirty="0">
                <a:solidFill>
                  <a:schemeClr val="tx1"/>
                </a:solidFill>
                <a:latin typeface="微软雅黑" panose="020B0503020204020204" pitchFamily="34" charset="-122"/>
                <a:ea typeface="微软雅黑" panose="020B0503020204020204" pitchFamily="34" charset="-122"/>
              </a:rPr>
              <a:t>. </a:t>
            </a:r>
            <a:r>
              <a:rPr lang="zh-CN" altLang="en-US" sz="3600" dirty="0">
                <a:solidFill>
                  <a:schemeClr val="tx1"/>
                </a:solidFill>
                <a:latin typeface="微软雅黑" panose="020B0503020204020204" pitchFamily="34" charset="-122"/>
                <a:ea typeface="微软雅黑" panose="020B0503020204020204" pitchFamily="34" charset="-122"/>
              </a:rPr>
              <a:t>缓存性能的高级优化</a:t>
            </a:r>
            <a:endParaRPr lang="zh-CN" altLang="en-US" sz="1400" dirty="0"/>
          </a:p>
          <a:p>
            <a:pPr eaLnBrk="1" hangingPunct="1">
              <a:buFontTx/>
              <a:buNone/>
            </a:pPr>
            <a:endParaRPr lang="en-US" altLang="en-US" sz="3600" baseline="30000" dirty="0"/>
          </a:p>
        </p:txBody>
      </p:sp>
      <p:sp>
        <p:nvSpPr>
          <p:cNvPr id="11" name="Text Box 4">
            <a:extLst>
              <a:ext uri="{FF2B5EF4-FFF2-40B4-BE49-F238E27FC236}">
                <a16:creationId xmlns:a16="http://schemas.microsoft.com/office/drawing/2014/main" id="{CE98BCAF-44A5-4395-BC08-39C0FD1369C6}"/>
              </a:ext>
            </a:extLst>
          </p:cNvPr>
          <p:cNvSpPr txBox="1">
            <a:spLocks noChangeArrowheads="1"/>
          </p:cNvSpPr>
          <p:nvPr/>
        </p:nvSpPr>
        <p:spPr bwMode="auto">
          <a:xfrm>
            <a:off x="476250" y="3767382"/>
            <a:ext cx="8220075" cy="1040285"/>
          </a:xfrm>
          <a:prstGeom prst="rect">
            <a:avLst/>
          </a:prstGeom>
          <a:noFill/>
          <a:ln>
            <a:noFill/>
          </a:ln>
        </p:spPr>
        <p:txBody>
          <a:bodyPr wrap="square">
            <a:spAutoFit/>
          </a:bodyPr>
          <a:lstStyle>
            <a:lvl1pPr eaLnBrk="0" hangingPunct="0">
              <a:defRPr sz="3200" b="1">
                <a:solidFill>
                  <a:schemeClr val="tx1"/>
                </a:solidFill>
                <a:latin typeface="Arial" panose="020B0604020202020204" pitchFamily="34" charset="0"/>
              </a:defRPr>
            </a:lvl1pPr>
            <a:lvl2pPr marL="742950" indent="-285750" eaLnBrk="0" hangingPunct="0">
              <a:defRPr sz="3200" b="1">
                <a:solidFill>
                  <a:schemeClr val="tx1"/>
                </a:solidFill>
                <a:latin typeface="Arial" panose="020B0604020202020204" pitchFamily="34" charset="0"/>
              </a:defRPr>
            </a:lvl2pPr>
            <a:lvl3pPr marL="1143000" indent="-228600" eaLnBrk="0" hangingPunct="0">
              <a:defRPr sz="3200" b="1">
                <a:solidFill>
                  <a:schemeClr val="tx1"/>
                </a:solidFill>
                <a:latin typeface="Arial" panose="020B0604020202020204" pitchFamily="34" charset="0"/>
              </a:defRPr>
            </a:lvl3pPr>
            <a:lvl4pPr marL="1600200" indent="-228600" eaLnBrk="0" hangingPunct="0">
              <a:defRPr sz="3200" b="1">
                <a:solidFill>
                  <a:schemeClr val="tx1"/>
                </a:solidFill>
                <a:latin typeface="Arial" panose="020B0604020202020204" pitchFamily="34" charset="0"/>
              </a:defRPr>
            </a:lvl4pPr>
            <a:lvl5pPr marL="2057400" indent="-228600" eaLnBrk="0" hangingPunct="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spcBef>
                <a:spcPct val="20000"/>
              </a:spcBef>
            </a:pPr>
            <a:r>
              <a:rPr lang="zh-CN" altLang="en-US" sz="2800" b="0" dirty="0">
                <a:latin typeface="微软雅黑" panose="020B0503020204020204" pitchFamily="34" charset="-122"/>
                <a:ea typeface="微软雅黑" panose="020B0503020204020204" pitchFamily="34" charset="-122"/>
              </a:rPr>
              <a:t>李建华</a:t>
            </a:r>
            <a:endParaRPr lang="en-US" altLang="zh-CN" sz="2800" b="0" dirty="0">
              <a:latin typeface="微软雅黑" panose="020B0503020204020204" pitchFamily="34" charset="-122"/>
              <a:ea typeface="微软雅黑" panose="020B0503020204020204" pitchFamily="34" charset="-122"/>
            </a:endParaRPr>
          </a:p>
          <a:p>
            <a:pPr algn="ctr" eaLnBrk="1" hangingPunct="1">
              <a:spcBef>
                <a:spcPct val="20000"/>
              </a:spcBef>
            </a:pPr>
            <a:r>
              <a:rPr lang="zh-CN" altLang="en-US" sz="2800" b="0" dirty="0">
                <a:latin typeface="微软雅黑" panose="020B0503020204020204" pitchFamily="34" charset="-122"/>
                <a:ea typeface="微软雅黑" panose="020B0503020204020204" pitchFamily="34" charset="-122"/>
              </a:rPr>
              <a:t>计算机与信息学院</a:t>
            </a:r>
            <a:endParaRPr lang="en-US" altLang="en-US" sz="2000" b="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23758D93-F591-4DA0-821E-F33B8FA28679}"/>
              </a:ext>
            </a:extLst>
          </p:cNvPr>
          <p:cNvSpPr txBox="1"/>
          <p:nvPr/>
        </p:nvSpPr>
        <p:spPr>
          <a:xfrm>
            <a:off x="455613" y="5712643"/>
            <a:ext cx="8240712" cy="954107"/>
          </a:xfrm>
          <a:prstGeom prst="rect">
            <a:avLst/>
          </a:prstGeom>
          <a:noFill/>
        </p:spPr>
        <p:txBody>
          <a:bodyPr wrap="square" rtlCol="0">
            <a:spAutoFit/>
          </a:bodyPr>
          <a:lstStyle/>
          <a:p>
            <a:pPr algn="just"/>
            <a:r>
              <a:rPr lang="en-US" altLang="zh-CN" sz="1400" b="1" dirty="0">
                <a:solidFill>
                  <a:srgbClr val="FF0000"/>
                </a:solidFill>
                <a:latin typeface="Tw Cen MT" panose="020B0602020104020603" pitchFamily="34" charset="0"/>
              </a:rPr>
              <a:t>The contents of the slides are adapted from CA course of </a:t>
            </a:r>
            <a:r>
              <a:rPr lang="en-US" altLang="zh-CN" sz="1400" b="1" dirty="0" err="1">
                <a:solidFill>
                  <a:srgbClr val="FF0000"/>
                </a:solidFill>
                <a:latin typeface="Tw Cen MT" panose="020B0602020104020603" pitchFamily="34" charset="0"/>
              </a:rPr>
              <a:t>wisc</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princeton</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mit</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berkeley</a:t>
            </a:r>
            <a:r>
              <a:rPr lang="en-US" altLang="zh-CN" sz="1400" b="1" dirty="0">
                <a:solidFill>
                  <a:srgbClr val="FF0000"/>
                </a:solidFill>
                <a:latin typeface="Tw Cen MT" panose="020B0602020104020603" pitchFamily="34" charset="0"/>
              </a:rPr>
              <a:t>, </a:t>
            </a:r>
            <a:r>
              <a:rPr lang="en-US" altLang="zh-CN" sz="1400" b="1" dirty="0" err="1">
                <a:solidFill>
                  <a:srgbClr val="FF0000"/>
                </a:solidFill>
                <a:latin typeface="Tw Cen MT" panose="020B0602020104020603" pitchFamily="34" charset="0"/>
              </a:rPr>
              <a:t>edinburg</a:t>
            </a:r>
            <a:r>
              <a:rPr lang="en-US" altLang="zh-CN" sz="1400" b="1" dirty="0">
                <a:solidFill>
                  <a:srgbClr val="FF0000"/>
                </a:solidFill>
                <a:latin typeface="Tw Cen MT" panose="020B0602020104020603" pitchFamily="34" charset="0"/>
              </a:rPr>
              <a:t>, and eth.</a:t>
            </a:r>
          </a:p>
          <a:p>
            <a:pPr algn="just"/>
            <a:r>
              <a:rPr lang="en-US" altLang="zh-CN" sz="1400" b="1" dirty="0">
                <a:solidFill>
                  <a:srgbClr val="FF0000"/>
                </a:solidFill>
                <a:latin typeface="Tw Cen MT" panose="020B0602020104020603" pitchFamily="34" charset="0"/>
              </a:rPr>
              <a:t>The uses of the slides of this course are for educational purposes only and should be used only in conjunction with the textbook. Derivatives of the slides must acknowledge the copyright notices of this and the originals.</a:t>
            </a:r>
            <a:endParaRPr lang="zh-CN" altLang="en-US" sz="1400" b="1" dirty="0">
              <a:solidFill>
                <a:srgbClr val="FF0000"/>
              </a:solidFill>
              <a:latin typeface="Tw Cen MT" panose="020B0602020104020603" pitchFamily="34"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a:xfrm>
            <a:off x="457200" y="281732"/>
            <a:ext cx="8229600" cy="708868"/>
          </a:xfrm>
        </p:spPr>
        <p:txBody>
          <a:bodyPr/>
          <a:lstStyle/>
          <a:p>
            <a:r>
              <a:rPr lang="zh-CN" altLang="en-US" dirty="0">
                <a:latin typeface="+mj-lt"/>
              </a:rPr>
              <a:t>优化缓存性能的高级方法</a:t>
            </a:r>
            <a:endParaRPr lang="en-US" dirty="0">
              <a:latin typeface="+mj-lt"/>
            </a:endParaRPr>
          </a:p>
        </p:txBody>
      </p:sp>
      <p:sp>
        <p:nvSpPr>
          <p:cNvPr id="87042" name="Content Placeholder 2"/>
          <p:cNvSpPr>
            <a:spLocks noGrp="1"/>
          </p:cNvSpPr>
          <p:nvPr>
            <p:ph idx="1"/>
          </p:nvPr>
        </p:nvSpPr>
        <p:spPr>
          <a:xfrm>
            <a:off x="457200" y="990600"/>
            <a:ext cx="8229600" cy="5867400"/>
          </a:xfrm>
        </p:spPr>
        <p:txBody>
          <a:bodyPr/>
          <a:lstStyle/>
          <a:p>
            <a:r>
              <a:rPr lang="zh-CN" altLang="en-US" b="1" dirty="0"/>
              <a:t>缩短命中时间：</a:t>
            </a:r>
            <a:r>
              <a:rPr lang="zh-CN" altLang="en-US" dirty="0"/>
              <a:t>采用小且简单的一级缓存、路预测</a:t>
            </a:r>
            <a:endParaRPr lang="en-US" altLang="zh-CN" dirty="0"/>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这两种技术通常还能</a:t>
            </a:r>
            <a:r>
              <a:rPr lang="zh-CN" altLang="en-US" b="1" kern="1200" dirty="0">
                <a:cs typeface="Calibri" panose="020F0502020204030204" pitchFamily="34" charset="0"/>
              </a:rPr>
              <a:t>降低功耗</a:t>
            </a:r>
          </a:p>
          <a:p>
            <a:r>
              <a:rPr lang="zh-CN" altLang="en-US" b="1" dirty="0"/>
              <a:t>增加缓存带宽：</a:t>
            </a:r>
            <a:r>
              <a:rPr lang="zh-CN" altLang="en-US" dirty="0"/>
              <a:t>缓存访问流水化、多</a:t>
            </a:r>
            <a:r>
              <a:rPr lang="en-US" altLang="zh-CN" dirty="0"/>
              <a:t>Bank</a:t>
            </a:r>
            <a:r>
              <a:rPr lang="zh-CN" altLang="en-US" dirty="0"/>
              <a:t>缓存、非阻塞缓存 </a:t>
            </a:r>
          </a:p>
          <a:p>
            <a:r>
              <a:rPr lang="zh-CN" altLang="en-US" b="1" dirty="0"/>
              <a:t>降低缺失开销：</a:t>
            </a:r>
            <a:r>
              <a:rPr lang="zh-CN" altLang="en-US" dirty="0"/>
              <a:t>关键字优先、写缓冲合并</a:t>
            </a:r>
          </a:p>
          <a:p>
            <a:r>
              <a:rPr lang="zh-CN" altLang="en-US" b="1" dirty="0"/>
              <a:t>降低缺失率：</a:t>
            </a:r>
            <a:r>
              <a:rPr lang="zh-CN" altLang="en-US" dirty="0"/>
              <a:t>基于编译器的优化技术</a:t>
            </a:r>
          </a:p>
          <a:p>
            <a:r>
              <a:rPr lang="zh-CN" altLang="en-US" b="1" dirty="0"/>
              <a:t>通过并行性降低缺失开销或缺失率：</a:t>
            </a:r>
            <a:r>
              <a:rPr lang="zh-CN" altLang="en-US" dirty="0"/>
              <a:t>硬件预取、编译器预取</a:t>
            </a:r>
            <a:endParaRPr lang="en-US" altLang="zh-CN" dirty="0"/>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这些技术通常会增加功耗，因为预取的数据不一定有用。</a:t>
            </a:r>
          </a:p>
          <a:p>
            <a:endParaRPr lang="zh-CN" altLang="en-US" dirty="0"/>
          </a:p>
        </p:txBody>
      </p:sp>
      <p:sp>
        <p:nvSpPr>
          <p:cNvPr id="2" name="灯片编号占位符 1">
            <a:extLst>
              <a:ext uri="{FF2B5EF4-FFF2-40B4-BE49-F238E27FC236}">
                <a16:creationId xmlns:a16="http://schemas.microsoft.com/office/drawing/2014/main" id="{A97DF793-295E-4A75-8901-248AE971FA33}"/>
              </a:ext>
            </a:extLst>
          </p:cNvPr>
          <p:cNvSpPr>
            <a:spLocks noGrp="1"/>
          </p:cNvSpPr>
          <p:nvPr>
            <p:ph type="sldNum" sz="quarter" idx="12"/>
          </p:nvPr>
        </p:nvSpPr>
        <p:spPr/>
        <p:txBody>
          <a:bodyPr/>
          <a:lstStyle/>
          <a:p>
            <a:fld id="{281828B1-9571-413B-8DF6-88C4749FAF08}" type="slidenum">
              <a:rPr lang="en-US" altLang="en-US" smtClean="0"/>
              <a:pPr/>
              <a:t>2</a:t>
            </a:fld>
            <a:endParaRPr lang="en-US" altLang="en-US"/>
          </a:p>
        </p:txBody>
      </p:sp>
    </p:spTree>
    <p:extLst>
      <p:ext uri="{BB962C8B-B14F-4D97-AF65-F5344CB8AC3E}">
        <p14:creationId xmlns:p14="http://schemas.microsoft.com/office/powerpoint/2010/main" val="11274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p:cNvSpPr>
            <a:spLocks noGrp="1"/>
          </p:cNvSpPr>
          <p:nvPr>
            <p:ph type="title"/>
          </p:nvPr>
        </p:nvSpPr>
        <p:spPr>
          <a:xfrm>
            <a:off x="457200" y="281732"/>
            <a:ext cx="8229600" cy="708868"/>
          </a:xfrm>
        </p:spPr>
        <p:txBody>
          <a:bodyPr/>
          <a:lstStyle/>
          <a:p>
            <a:r>
              <a:rPr lang="en-US" altLang="zh-CN" dirty="0">
                <a:latin typeface="+mj-lt"/>
              </a:rPr>
              <a:t>1. </a:t>
            </a:r>
            <a:r>
              <a:rPr lang="zh-CN" altLang="en-US" dirty="0">
                <a:latin typeface="+mj-lt"/>
              </a:rPr>
              <a:t>小而简单的</a:t>
            </a:r>
            <a:r>
              <a:rPr lang="en-US" altLang="zh-CN" dirty="0">
                <a:latin typeface="+mj-lt"/>
              </a:rPr>
              <a:t>L1</a:t>
            </a:r>
            <a:r>
              <a:rPr lang="zh-CN" altLang="en-US" dirty="0">
                <a:latin typeface="+mj-lt"/>
              </a:rPr>
              <a:t>缓存</a:t>
            </a:r>
            <a:endParaRPr lang="en-US" dirty="0">
              <a:latin typeface="+mj-lt"/>
            </a:endParaRPr>
          </a:p>
        </p:txBody>
      </p:sp>
      <p:sp>
        <p:nvSpPr>
          <p:cNvPr id="87042" name="Content Placeholder 2"/>
          <p:cNvSpPr>
            <a:spLocks noGrp="1"/>
          </p:cNvSpPr>
          <p:nvPr>
            <p:ph idx="1"/>
          </p:nvPr>
        </p:nvSpPr>
        <p:spPr>
          <a:xfrm>
            <a:off x="457200" y="990600"/>
            <a:ext cx="8229600" cy="5867400"/>
          </a:xfrm>
        </p:spPr>
        <p:txBody>
          <a:bodyPr/>
          <a:lstStyle/>
          <a:p>
            <a:pPr>
              <a:lnSpc>
                <a:spcPts val="3200"/>
              </a:lnSpc>
              <a:spcBef>
                <a:spcPts val="0"/>
              </a:spcBef>
              <a:spcAft>
                <a:spcPts val="600"/>
              </a:spcAft>
            </a:pPr>
            <a:r>
              <a:rPr lang="en-US" altLang="zh-CN" dirty="0"/>
              <a:t>Smaller is faster</a:t>
            </a:r>
            <a:r>
              <a:rPr lang="zh-CN" altLang="en-US" dirty="0"/>
              <a:t>，缓存越小，存取速度越快</a:t>
            </a:r>
            <a:endParaRPr lang="en-US" altLang="zh-CN" dirty="0"/>
          </a:p>
          <a:p>
            <a:pPr marL="628650" lvl="1" indent="-265113">
              <a:lnSpc>
                <a:spcPts val="3200"/>
              </a:lnSpc>
              <a:spcBef>
                <a:spcPts val="0"/>
              </a:spcBef>
              <a:spcAft>
                <a:spcPts val="600"/>
              </a:spcAft>
              <a:buClr>
                <a:schemeClr val="tx1"/>
              </a:buClr>
              <a:buFont typeface="Tahoma" panose="020B0604030504040204" pitchFamily="34" charset="0"/>
              <a:buChar char="−"/>
              <a:defRPr/>
            </a:pPr>
            <a:r>
              <a:rPr lang="en-US" altLang="zh-CN" spc="-10" dirty="0"/>
              <a:t>L1</a:t>
            </a:r>
            <a:r>
              <a:rPr lang="zh-CN" altLang="en-US" dirty="0"/>
              <a:t>高速缓存的大小</a:t>
            </a:r>
            <a:r>
              <a:rPr lang="zh-CN" altLang="en-US" spc="-5" dirty="0"/>
              <a:t>近些年稍微增加</a:t>
            </a:r>
            <a:r>
              <a:rPr lang="zh-CN" altLang="en-US" dirty="0"/>
              <a:t>或根本没有</a:t>
            </a:r>
            <a:r>
              <a:rPr lang="zh-CN" altLang="en-US" spc="-5" dirty="0"/>
              <a:t>增加</a:t>
            </a:r>
            <a:endParaRPr lang="en-US" altLang="zh-CN" spc="-5" dirty="0"/>
          </a:p>
          <a:p>
            <a:pPr marL="866140" lvl="1" indent="-243840">
              <a:lnSpc>
                <a:spcPts val="3200"/>
              </a:lnSpc>
              <a:spcBef>
                <a:spcPts val="0"/>
              </a:spcBef>
              <a:spcAft>
                <a:spcPts val="600"/>
              </a:spcAft>
              <a:buClr>
                <a:srgbClr val="151F37"/>
              </a:buClr>
              <a:buFont typeface="Arial"/>
              <a:buChar char="•"/>
              <a:tabLst>
                <a:tab pos="866140" algn="l"/>
                <a:tab pos="866775" algn="l"/>
              </a:tabLst>
              <a:defRPr sz="1800">
                <a:solidFill>
                  <a:srgbClr val="FF0000"/>
                </a:solidFill>
                <a:latin typeface="Calibri"/>
                <a:cs typeface="Calibri"/>
              </a:defRPr>
            </a:pPr>
            <a:r>
              <a:rPr lang="zh-CN" altLang="en-US" sz="2000" spc="-5" dirty="0">
                <a:solidFill>
                  <a:schemeClr val="tx1">
                    <a:lumMod val="95000"/>
                    <a:lumOff val="5000"/>
                  </a:schemeClr>
                </a:solidFill>
              </a:rPr>
              <a:t>例如，</a:t>
            </a:r>
            <a:r>
              <a:rPr lang="en-US" altLang="zh-CN" sz="2000" spc="-5" dirty="0">
                <a:solidFill>
                  <a:schemeClr val="tx1">
                    <a:lumMod val="95000"/>
                    <a:lumOff val="5000"/>
                  </a:schemeClr>
                </a:solidFill>
              </a:rPr>
              <a:t>Alpha</a:t>
            </a:r>
            <a:r>
              <a:rPr lang="en-US" altLang="zh-CN" sz="2000" dirty="0">
                <a:solidFill>
                  <a:schemeClr val="tx1">
                    <a:lumMod val="95000"/>
                    <a:lumOff val="5000"/>
                  </a:schemeClr>
                </a:solidFill>
              </a:rPr>
              <a:t>21164</a:t>
            </a:r>
            <a:r>
              <a:rPr lang="zh-CN" altLang="en-US" sz="2000" spc="-5" dirty="0">
                <a:solidFill>
                  <a:schemeClr val="tx1">
                    <a:lumMod val="95000"/>
                    <a:lumOff val="5000"/>
                  </a:schemeClr>
                </a:solidFill>
              </a:rPr>
              <a:t>具有</a:t>
            </a:r>
            <a:r>
              <a:rPr lang="zh-CN" altLang="en-US" sz="2000" dirty="0">
                <a:solidFill>
                  <a:schemeClr val="tx1">
                    <a:lumMod val="95000"/>
                    <a:lumOff val="5000"/>
                  </a:schemeClr>
                </a:solidFill>
              </a:rPr>
              <a:t> </a:t>
            </a:r>
            <a:r>
              <a:rPr lang="en-US" altLang="zh-CN" sz="2000" dirty="0">
                <a:solidFill>
                  <a:schemeClr val="tx1">
                    <a:lumMod val="95000"/>
                    <a:lumOff val="5000"/>
                  </a:schemeClr>
                </a:solidFill>
              </a:rPr>
              <a:t>8KB</a:t>
            </a:r>
            <a:r>
              <a:rPr lang="zh-CN" altLang="en-US" sz="2000" spc="-5" dirty="0">
                <a:solidFill>
                  <a:schemeClr val="tx1">
                    <a:lumMod val="95000"/>
                    <a:lumOff val="5000"/>
                  </a:schemeClr>
                </a:solidFill>
              </a:rPr>
              <a:t>指令和</a:t>
            </a:r>
            <a:r>
              <a:rPr lang="zh-CN" altLang="en-US" sz="2000" dirty="0">
                <a:solidFill>
                  <a:schemeClr val="tx1">
                    <a:lumMod val="95000"/>
                    <a:lumOff val="5000"/>
                  </a:schemeClr>
                </a:solidFill>
              </a:rPr>
              <a:t> </a:t>
            </a:r>
            <a:r>
              <a:rPr lang="en-US" altLang="zh-CN" sz="2000" dirty="0">
                <a:solidFill>
                  <a:schemeClr val="tx1">
                    <a:lumMod val="95000"/>
                    <a:lumOff val="5000"/>
                  </a:schemeClr>
                </a:solidFill>
              </a:rPr>
              <a:t>8KB</a:t>
            </a:r>
            <a:r>
              <a:rPr lang="zh-CN" altLang="en-US" sz="2000" spc="-10" dirty="0">
                <a:solidFill>
                  <a:schemeClr val="tx1">
                    <a:lumMod val="95000"/>
                    <a:lumOff val="5000"/>
                  </a:schemeClr>
                </a:solidFill>
              </a:rPr>
              <a:t>数据</a:t>
            </a:r>
            <a:r>
              <a:rPr lang="zh-CN" altLang="en-US" sz="2000" dirty="0">
                <a:solidFill>
                  <a:schemeClr val="tx1">
                    <a:lumMod val="95000"/>
                    <a:lumOff val="5000"/>
                  </a:schemeClr>
                </a:solidFill>
              </a:rPr>
              <a:t>缓存</a:t>
            </a:r>
            <a:r>
              <a:rPr lang="en-US" altLang="zh-CN" sz="2000" dirty="0">
                <a:solidFill>
                  <a:schemeClr val="tx1">
                    <a:lumMod val="95000"/>
                    <a:lumOff val="5000"/>
                  </a:schemeClr>
                </a:solidFill>
              </a:rPr>
              <a:t>+ 96KB</a:t>
            </a:r>
            <a:r>
              <a:rPr lang="zh-CN" altLang="en-US" sz="2000" spc="-5" dirty="0">
                <a:solidFill>
                  <a:schemeClr val="tx1">
                    <a:lumMod val="95000"/>
                    <a:lumOff val="5000"/>
                  </a:schemeClr>
                </a:solidFill>
              </a:rPr>
              <a:t>二级缓存</a:t>
            </a:r>
            <a:endParaRPr lang="zh-CN" altLang="en-US" sz="2000" dirty="0">
              <a:solidFill>
                <a:schemeClr val="tx1">
                  <a:lumMod val="95000"/>
                  <a:lumOff val="5000"/>
                </a:schemeClr>
              </a:solidFill>
              <a:cs typeface="Calibri"/>
            </a:endParaRPr>
          </a:p>
          <a:p>
            <a:pPr marL="866140" marR="63500" lvl="1" indent="-243840">
              <a:lnSpc>
                <a:spcPts val="3200"/>
              </a:lnSpc>
              <a:spcBef>
                <a:spcPts val="0"/>
              </a:spcBef>
              <a:spcAft>
                <a:spcPts val="600"/>
              </a:spcAft>
              <a:buClr>
                <a:srgbClr val="151F37"/>
              </a:buClr>
              <a:buFont typeface="Arial"/>
              <a:buChar char="•"/>
              <a:tabLst>
                <a:tab pos="866140" algn="l"/>
                <a:tab pos="866775" algn="l"/>
              </a:tabLst>
              <a:defRPr sz="1800">
                <a:solidFill>
                  <a:srgbClr val="FF0000"/>
                </a:solidFill>
                <a:latin typeface="Calibri"/>
                <a:cs typeface="Calibri"/>
              </a:defRPr>
            </a:pPr>
            <a:r>
              <a:rPr lang="zh-CN" altLang="en-US" sz="2000" dirty="0">
                <a:solidFill>
                  <a:schemeClr val="tx1">
                    <a:lumMod val="95000"/>
                    <a:lumOff val="5000"/>
                  </a:schemeClr>
                </a:solidFill>
              </a:rPr>
              <a:t>例如，</a:t>
            </a:r>
            <a:r>
              <a:rPr lang="en-US" altLang="zh-CN" sz="2000" dirty="0">
                <a:solidFill>
                  <a:schemeClr val="tx1">
                    <a:lumMod val="95000"/>
                    <a:lumOff val="5000"/>
                  </a:schemeClr>
                </a:solidFill>
              </a:rPr>
              <a:t>3</a:t>
            </a:r>
            <a:r>
              <a:rPr lang="zh-CN" altLang="en-US" sz="2000" spc="-10" dirty="0">
                <a:solidFill>
                  <a:schemeClr val="tx1">
                    <a:lumMod val="95000"/>
                    <a:lumOff val="5000"/>
                  </a:schemeClr>
                </a:solidFill>
              </a:rPr>
              <a:t>代</a:t>
            </a:r>
            <a:r>
              <a:rPr lang="en-US" altLang="zh-CN" sz="2000" spc="5" dirty="0">
                <a:solidFill>
                  <a:schemeClr val="tx1">
                    <a:lumMod val="95000"/>
                    <a:lumOff val="5000"/>
                  </a:schemeClr>
                </a:solidFill>
              </a:rPr>
              <a:t>AMD</a:t>
            </a:r>
            <a:r>
              <a:rPr lang="zh-CN" altLang="en-US" sz="2000" spc="-5" dirty="0">
                <a:solidFill>
                  <a:schemeClr val="tx1">
                    <a:lumMod val="95000"/>
                    <a:lumOff val="5000"/>
                  </a:schemeClr>
                </a:solidFill>
              </a:rPr>
              <a:t>微处理器的</a:t>
            </a:r>
            <a:r>
              <a:rPr lang="en-US" altLang="zh-CN" sz="2000" spc="-5" dirty="0">
                <a:solidFill>
                  <a:schemeClr val="tx1">
                    <a:lumMod val="95000"/>
                    <a:lumOff val="5000"/>
                  </a:schemeClr>
                </a:solidFill>
              </a:rPr>
              <a:t>L1</a:t>
            </a:r>
            <a:r>
              <a:rPr lang="zh-CN" altLang="en-US" sz="2000" spc="-5" dirty="0">
                <a:solidFill>
                  <a:schemeClr val="tx1">
                    <a:lumMod val="95000"/>
                    <a:lumOff val="5000"/>
                  </a:schemeClr>
                </a:solidFill>
              </a:rPr>
              <a:t>大小相同：</a:t>
            </a:r>
            <a:r>
              <a:rPr lang="en-US" altLang="zh-CN" sz="2000" dirty="0">
                <a:solidFill>
                  <a:schemeClr val="tx1">
                    <a:lumMod val="95000"/>
                    <a:lumOff val="5000"/>
                  </a:schemeClr>
                </a:solidFill>
              </a:rPr>
              <a:t>K6</a:t>
            </a:r>
            <a:r>
              <a:rPr lang="zh-CN" altLang="en-US" sz="2000" dirty="0">
                <a:solidFill>
                  <a:schemeClr val="tx1">
                    <a:lumMod val="95000"/>
                    <a:lumOff val="5000"/>
                  </a:schemeClr>
                </a:solidFill>
              </a:rPr>
              <a:t>，</a:t>
            </a:r>
            <a:r>
              <a:rPr lang="en-US" altLang="zh-CN" sz="2000" spc="-10" dirty="0">
                <a:solidFill>
                  <a:schemeClr val="tx1">
                    <a:lumMod val="95000"/>
                    <a:lumOff val="5000"/>
                  </a:schemeClr>
                </a:solidFill>
              </a:rPr>
              <a:t>Athlon</a:t>
            </a:r>
            <a:r>
              <a:rPr lang="zh-CN" altLang="en-US" sz="2000" spc="-10" dirty="0">
                <a:solidFill>
                  <a:schemeClr val="tx1">
                    <a:lumMod val="95000"/>
                    <a:lumOff val="5000"/>
                  </a:schemeClr>
                </a:solidFill>
              </a:rPr>
              <a:t>，</a:t>
            </a:r>
            <a:r>
              <a:rPr lang="zh-CN" altLang="en-US" sz="2000" spc="-5" dirty="0">
                <a:solidFill>
                  <a:schemeClr val="tx1">
                    <a:lumMod val="95000"/>
                    <a:lumOff val="5000"/>
                  </a:schemeClr>
                </a:solidFill>
              </a:rPr>
              <a:t>和</a:t>
            </a:r>
            <a:r>
              <a:rPr lang="en-US" altLang="zh-CN" sz="2000" spc="-10" dirty="0">
                <a:solidFill>
                  <a:schemeClr val="tx1">
                    <a:lumMod val="95000"/>
                    <a:lumOff val="5000"/>
                  </a:schemeClr>
                </a:solidFill>
              </a:rPr>
              <a:t>Opteron</a:t>
            </a:r>
            <a:endParaRPr lang="en-US" altLang="zh-CN" sz="2000" dirty="0">
              <a:solidFill>
                <a:schemeClr val="tx1">
                  <a:lumMod val="95000"/>
                  <a:lumOff val="5000"/>
                </a:schemeClr>
              </a:solidFill>
              <a:cs typeface="Calibri"/>
            </a:endParaRPr>
          </a:p>
          <a:p>
            <a:pPr marL="866140" marR="63500" lvl="1" indent="-243840">
              <a:lnSpc>
                <a:spcPts val="3200"/>
              </a:lnSpc>
              <a:spcBef>
                <a:spcPts val="0"/>
              </a:spcBef>
              <a:spcAft>
                <a:spcPts val="600"/>
              </a:spcAft>
              <a:buClr>
                <a:srgbClr val="151F37"/>
              </a:buClr>
              <a:buFont typeface="Arial"/>
              <a:buChar char="•"/>
              <a:tabLst>
                <a:tab pos="866140" algn="l"/>
                <a:tab pos="866775" algn="l"/>
              </a:tabLst>
              <a:defRPr sz="1800">
                <a:solidFill>
                  <a:srgbClr val="FF0000"/>
                </a:solidFill>
                <a:latin typeface="Calibri"/>
                <a:cs typeface="Calibri"/>
              </a:defRPr>
            </a:pPr>
            <a:endParaRPr lang="en-US" altLang="zh-CN" sz="2000" kern="1200" dirty="0">
              <a:solidFill>
                <a:schemeClr val="tx1">
                  <a:lumMod val="95000"/>
                  <a:lumOff val="5000"/>
                </a:schemeClr>
              </a:solidFill>
              <a:cs typeface="Calibri"/>
            </a:endParaRPr>
          </a:p>
          <a:p>
            <a:pPr marL="342900" marR="63500" lvl="1" indent="-342900">
              <a:lnSpc>
                <a:spcPts val="3200"/>
              </a:lnSpc>
              <a:spcBef>
                <a:spcPts val="0"/>
              </a:spcBef>
              <a:spcAft>
                <a:spcPts val="600"/>
              </a:spcAft>
              <a:buClr>
                <a:srgbClr val="151F37"/>
              </a:buClr>
              <a:buFont typeface="Arial"/>
              <a:buChar char="•"/>
              <a:tabLst>
                <a:tab pos="866140" algn="l"/>
                <a:tab pos="866775" algn="l"/>
              </a:tabLst>
              <a:defRPr sz="1800">
                <a:solidFill>
                  <a:srgbClr val="FF0000"/>
                </a:solidFill>
                <a:latin typeface="Calibri"/>
                <a:cs typeface="Calibri"/>
              </a:defRPr>
            </a:pPr>
            <a:r>
              <a:rPr lang="zh-CN" altLang="en-US" sz="2800" dirty="0">
                <a:solidFill>
                  <a:schemeClr val="tx1">
                    <a:lumMod val="95000"/>
                    <a:lumOff val="5000"/>
                  </a:schemeClr>
                </a:solidFill>
                <a:cs typeface="+mn-cs"/>
              </a:rPr>
              <a:t>为什么简单的</a:t>
            </a:r>
            <a:r>
              <a:rPr lang="en-US" altLang="zh-CN" sz="2800" dirty="0">
                <a:solidFill>
                  <a:schemeClr val="tx1">
                    <a:lumMod val="95000"/>
                    <a:lumOff val="5000"/>
                  </a:schemeClr>
                </a:solidFill>
                <a:cs typeface="+mn-cs"/>
              </a:rPr>
              <a:t>L1$</a:t>
            </a:r>
            <a:r>
              <a:rPr lang="zh-CN" altLang="en-US" sz="2800" dirty="0">
                <a:solidFill>
                  <a:schemeClr val="tx1">
                    <a:lumMod val="95000"/>
                    <a:lumOff val="5000"/>
                  </a:schemeClr>
                </a:solidFill>
                <a:cs typeface="+mn-cs"/>
              </a:rPr>
              <a:t>更高效？</a:t>
            </a:r>
            <a:endParaRPr lang="en-US" altLang="zh-CN" sz="2800" dirty="0">
              <a:solidFill>
                <a:schemeClr val="tx1">
                  <a:lumMod val="95000"/>
                  <a:lumOff val="5000"/>
                </a:schemeClr>
              </a:solidFill>
              <a:cs typeface="+mn-cs"/>
            </a:endParaRPr>
          </a:p>
          <a:p>
            <a:pPr marL="628650" marR="63500" lvl="1" indent="-265113">
              <a:lnSpc>
                <a:spcPts val="3200"/>
              </a:lnSpc>
              <a:spcBef>
                <a:spcPts val="0"/>
              </a:spcBef>
              <a:spcAft>
                <a:spcPts val="600"/>
              </a:spcAft>
              <a:buClr>
                <a:schemeClr val="tx1"/>
              </a:buClr>
              <a:buFont typeface="Tahoma" panose="020B0604030504040204" pitchFamily="34" charset="0"/>
              <a:buChar char="−"/>
              <a:tabLst>
                <a:tab pos="866140" algn="l"/>
                <a:tab pos="866775" algn="l"/>
              </a:tabLst>
              <a:defRPr/>
            </a:pPr>
            <a:r>
              <a:rPr lang="zh-CN" altLang="en-US" spc="-10" dirty="0"/>
              <a:t>直接映射缓存可以将标记检查与数据传输重叠，从而有效地减少命中时间；</a:t>
            </a:r>
          </a:p>
          <a:p>
            <a:pPr marL="628650" marR="63500" lvl="1" indent="-265113">
              <a:lnSpc>
                <a:spcPts val="3200"/>
              </a:lnSpc>
              <a:spcBef>
                <a:spcPts val="0"/>
              </a:spcBef>
              <a:spcAft>
                <a:spcPts val="600"/>
              </a:spcAft>
              <a:buClr>
                <a:schemeClr val="tx1"/>
              </a:buClr>
              <a:buFont typeface="Tahoma" panose="020B0604030504040204" pitchFamily="34" charset="0"/>
              <a:buChar char="−"/>
              <a:tabLst>
                <a:tab pos="866140" algn="l"/>
                <a:tab pos="866775" algn="l"/>
              </a:tabLst>
              <a:defRPr/>
            </a:pPr>
            <a:r>
              <a:rPr lang="zh-CN" altLang="en-US" spc="-10" dirty="0"/>
              <a:t>较小的相联度通常会降低功耗，因为需要访问的缓存行较少。</a:t>
            </a:r>
          </a:p>
        </p:txBody>
      </p:sp>
      <p:sp>
        <p:nvSpPr>
          <p:cNvPr id="2" name="灯片编号占位符 1">
            <a:extLst>
              <a:ext uri="{FF2B5EF4-FFF2-40B4-BE49-F238E27FC236}">
                <a16:creationId xmlns:a16="http://schemas.microsoft.com/office/drawing/2014/main" id="{A97DF793-295E-4A75-8901-248AE971FA33}"/>
              </a:ext>
            </a:extLst>
          </p:cNvPr>
          <p:cNvSpPr>
            <a:spLocks noGrp="1"/>
          </p:cNvSpPr>
          <p:nvPr>
            <p:ph type="sldNum" sz="quarter" idx="12"/>
          </p:nvPr>
        </p:nvSpPr>
        <p:spPr/>
        <p:txBody>
          <a:bodyPr/>
          <a:lstStyle/>
          <a:p>
            <a:fld id="{281828B1-9571-413B-8DF6-88C4749FAF08}" type="slidenum">
              <a:rPr lang="en-US" altLang="en-US" smtClean="0"/>
              <a:pPr/>
              <a:t>3</a:t>
            </a:fld>
            <a:endParaRPr lang="en-US" altLang="en-US"/>
          </a:p>
        </p:txBody>
      </p:sp>
    </p:spTree>
    <p:extLst>
      <p:ext uri="{BB962C8B-B14F-4D97-AF65-F5344CB8AC3E}">
        <p14:creationId xmlns:p14="http://schemas.microsoft.com/office/powerpoint/2010/main" val="299615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04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04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Case size -&gt; AMAT</a:t>
            </a:r>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4</a:t>
            </a:fld>
            <a:endParaRPr lang="en-US" altLang="en-US"/>
          </a:p>
        </p:txBody>
      </p:sp>
      <p:pic>
        <p:nvPicPr>
          <p:cNvPr id="6" name="图片 5"/>
          <p:cNvPicPr>
            <a:picLocks noChangeAspect="1"/>
          </p:cNvPicPr>
          <p:nvPr/>
        </p:nvPicPr>
        <p:blipFill>
          <a:blip r:embed="rId2"/>
          <a:stretch>
            <a:fillRect/>
          </a:stretch>
        </p:blipFill>
        <p:spPr>
          <a:xfrm>
            <a:off x="873918" y="1066800"/>
            <a:ext cx="7396163" cy="4705842"/>
          </a:xfrm>
          <a:prstGeom prst="rect">
            <a:avLst/>
          </a:prstGeom>
        </p:spPr>
      </p:pic>
      <p:sp>
        <p:nvSpPr>
          <p:cNvPr id="7" name="文本框 6"/>
          <p:cNvSpPr txBox="1"/>
          <p:nvPr/>
        </p:nvSpPr>
        <p:spPr>
          <a:xfrm>
            <a:off x="436091" y="6019800"/>
            <a:ext cx="8271816" cy="369332"/>
          </a:xfrm>
          <a:prstGeom prst="rect">
            <a:avLst/>
          </a:prstGeom>
          <a:noFill/>
        </p:spPr>
        <p:txBody>
          <a:bodyPr wrap="non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通常，随着缓存大小和相联度的增加，访问时间会延长。数据来源于</a:t>
            </a:r>
            <a:r>
              <a:rPr lang="en-US" altLang="zh-CN" dirty="0">
                <a:solidFill>
                  <a:srgbClr val="FF0000"/>
                </a:solidFill>
                <a:latin typeface="微软雅黑" panose="020B0503020204020204" pitchFamily="34" charset="-122"/>
                <a:ea typeface="微软雅黑" panose="020B0503020204020204" pitchFamily="34" charset="-122"/>
              </a:rPr>
              <a:t>cacti-6.5</a:t>
            </a:r>
            <a:r>
              <a:rPr lang="zh-CN" altLang="en-US" dirty="0">
                <a:solidFill>
                  <a:srgbClr val="FF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352000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Cache size -&gt; Energy</a:t>
            </a:r>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5</a:t>
            </a:fld>
            <a:endParaRPr lang="en-US" altLang="en-US"/>
          </a:p>
        </p:txBody>
      </p:sp>
      <p:pic>
        <p:nvPicPr>
          <p:cNvPr id="5" name="图片 4"/>
          <p:cNvPicPr>
            <a:picLocks noChangeAspect="1"/>
          </p:cNvPicPr>
          <p:nvPr/>
        </p:nvPicPr>
        <p:blipFill>
          <a:blip r:embed="rId2"/>
          <a:stretch>
            <a:fillRect/>
          </a:stretch>
        </p:blipFill>
        <p:spPr>
          <a:xfrm>
            <a:off x="643240" y="1140125"/>
            <a:ext cx="7605713" cy="4862519"/>
          </a:xfrm>
          <a:prstGeom prst="rect">
            <a:avLst/>
          </a:prstGeom>
        </p:spPr>
      </p:pic>
      <p:sp>
        <p:nvSpPr>
          <p:cNvPr id="6" name="文本框 5"/>
          <p:cNvSpPr txBox="1"/>
          <p:nvPr/>
        </p:nvSpPr>
        <p:spPr>
          <a:xfrm>
            <a:off x="643240" y="6141852"/>
            <a:ext cx="8271816" cy="369332"/>
          </a:xfrm>
          <a:prstGeom prst="rect">
            <a:avLst/>
          </a:prstGeom>
          <a:noFill/>
        </p:spPr>
        <p:txBody>
          <a:bodyPr wrap="non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通常，随着缓存大小和相联度的增加，读功耗会增加。数据来源于</a:t>
            </a:r>
            <a:r>
              <a:rPr lang="en-US" altLang="zh-CN" dirty="0">
                <a:solidFill>
                  <a:srgbClr val="FF0000"/>
                </a:solidFill>
                <a:latin typeface="微软雅黑" panose="020B0503020204020204" pitchFamily="34" charset="-122"/>
                <a:ea typeface="微软雅黑" panose="020B0503020204020204" pitchFamily="34" charset="-122"/>
              </a:rPr>
              <a:t>cacti-6.5</a:t>
            </a:r>
            <a:r>
              <a:rPr lang="zh-CN" altLang="en-US" dirty="0">
                <a:solidFill>
                  <a:srgbClr val="FF000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66123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 Way Prediction</a:t>
            </a:r>
            <a:endParaRPr lang="zh-CN" altLang="en-US" dirty="0"/>
          </a:p>
        </p:txBody>
      </p:sp>
      <p:sp>
        <p:nvSpPr>
          <p:cNvPr id="3" name="内容占位符 2"/>
          <p:cNvSpPr>
            <a:spLocks noGrp="1"/>
          </p:cNvSpPr>
          <p:nvPr>
            <p:ph idx="1"/>
          </p:nvPr>
        </p:nvSpPr>
        <p:spPr/>
        <p:txBody>
          <a:bodyPr/>
          <a:lstStyle/>
          <a:p>
            <a:r>
              <a:rPr lang="zh-CN" altLang="en-US" dirty="0"/>
              <a:t>如何既能拥有直接映射的快速命中，又能具备二路组相联缓存的更低缺失率？</a:t>
            </a:r>
          </a:p>
          <a:p>
            <a:r>
              <a:rPr lang="zh-CN" altLang="en-US" dirty="0"/>
              <a:t>路预测：在缓存中保留额外的位来预测下次访问的“路”</a:t>
            </a:r>
            <a:r>
              <a:rPr lang="en-US" altLang="zh-CN" dirty="0"/>
              <a:t>(</a:t>
            </a:r>
            <a:r>
              <a:rPr lang="zh-CN" altLang="en-US" dirty="0"/>
              <a:t>组内的块</a:t>
            </a:r>
            <a:r>
              <a:rPr lang="en-US" altLang="zh-CN" dirty="0"/>
              <a:t>)</a:t>
            </a:r>
          </a:p>
          <a:p>
            <a:pPr marL="628650" marR="63500" lvl="1" indent="-265113">
              <a:spcBef>
                <a:spcPts val="600"/>
              </a:spcBef>
              <a:spcAft>
                <a:spcPts val="600"/>
              </a:spcAft>
              <a:buClr>
                <a:schemeClr val="tx1"/>
              </a:buClr>
              <a:buFont typeface="Tahoma" panose="020B0604030504040204" pitchFamily="34" charset="0"/>
              <a:buChar char="−"/>
              <a:tabLst>
                <a:tab pos="866140" algn="l"/>
                <a:tab pos="866775" algn="l"/>
              </a:tabLst>
              <a:defRPr/>
            </a:pPr>
            <a:r>
              <a:rPr lang="zh-CN" altLang="en-US" spc="-10" dirty="0"/>
              <a:t>这样，多路选择器提前设置以选择所需的块；在该周期内仅进行一次标签比较（与读取数据并行）。</a:t>
            </a:r>
          </a:p>
          <a:p>
            <a:pPr marL="628650" marR="63500" lvl="1" indent="-265113">
              <a:spcBef>
                <a:spcPts val="600"/>
              </a:spcBef>
              <a:spcAft>
                <a:spcPts val="600"/>
              </a:spcAft>
              <a:buClr>
                <a:schemeClr val="tx1"/>
              </a:buClr>
              <a:buFont typeface="Tahoma" panose="020B0604030504040204" pitchFamily="34" charset="0"/>
              <a:buChar char="−"/>
              <a:tabLst>
                <a:tab pos="866140" algn="l"/>
                <a:tab pos="866775" algn="l"/>
              </a:tabLst>
              <a:defRPr/>
            </a:pPr>
            <a:r>
              <a:rPr lang="zh-CN" altLang="en-US" spc="-10" dirty="0"/>
              <a:t>如果预测的不对，那么在下一个周期检查其他块是否有匹配。</a:t>
            </a:r>
            <a:endParaRPr lang="en-US" altLang="zh-CN" spc="-10" dirty="0"/>
          </a:p>
          <a:p>
            <a:pPr marL="628650" marR="63500" lvl="1" indent="-265113">
              <a:spcBef>
                <a:spcPts val="600"/>
              </a:spcBef>
              <a:spcAft>
                <a:spcPts val="600"/>
              </a:spcAft>
              <a:buClr>
                <a:schemeClr val="tx1"/>
              </a:buClr>
              <a:buFont typeface="Tahoma" panose="020B0604030504040204" pitchFamily="34" charset="0"/>
              <a:buChar char="−"/>
              <a:tabLst>
                <a:tab pos="866140" algn="l"/>
                <a:tab pos="866775" algn="l"/>
              </a:tabLst>
              <a:defRPr/>
            </a:pPr>
            <a:r>
              <a:rPr lang="zh-CN" altLang="en-US" spc="-10" dirty="0"/>
              <a:t>预测的正确率约</a:t>
            </a:r>
            <a:r>
              <a:rPr lang="en-US" altLang="zh-CN" spc="-10" dirty="0"/>
              <a:t>85%</a:t>
            </a:r>
            <a:endParaRPr lang="zh-CN" altLang="en-US" spc="-10"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6</a:t>
            </a:fld>
            <a:endParaRPr lang="en-US" altLang="en-US"/>
          </a:p>
        </p:txBody>
      </p:sp>
      <p:pic>
        <p:nvPicPr>
          <p:cNvPr id="5" name="图片 4"/>
          <p:cNvPicPr>
            <a:picLocks noChangeAspect="1"/>
          </p:cNvPicPr>
          <p:nvPr/>
        </p:nvPicPr>
        <p:blipFill>
          <a:blip r:embed="rId2"/>
          <a:stretch>
            <a:fillRect/>
          </a:stretch>
        </p:blipFill>
        <p:spPr>
          <a:xfrm>
            <a:off x="1004887" y="5534191"/>
            <a:ext cx="7134225" cy="1009650"/>
          </a:xfrm>
          <a:prstGeom prst="rect">
            <a:avLst/>
          </a:prstGeom>
        </p:spPr>
      </p:pic>
      <p:sp>
        <p:nvSpPr>
          <p:cNvPr id="6" name="文本框 5">
            <a:extLst>
              <a:ext uri="{FF2B5EF4-FFF2-40B4-BE49-F238E27FC236}">
                <a16:creationId xmlns:a16="http://schemas.microsoft.com/office/drawing/2014/main" id="{7F342DB9-D4E4-4767-A8C2-40BA267D0BBD}"/>
              </a:ext>
            </a:extLst>
          </p:cNvPr>
          <p:cNvSpPr txBox="1"/>
          <p:nvPr/>
        </p:nvSpPr>
        <p:spPr>
          <a:xfrm>
            <a:off x="4572000" y="4724400"/>
            <a:ext cx="4031873" cy="400110"/>
          </a:xfrm>
          <a:prstGeom prst="rect">
            <a:avLst/>
          </a:prstGeom>
          <a:noFill/>
          <a:ln>
            <a:solidFill>
              <a:srgbClr val="FF0000"/>
            </a:solidFill>
          </a:ln>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也能应用到高相联度的缓存架构！</a:t>
            </a:r>
          </a:p>
        </p:txBody>
      </p:sp>
    </p:spTree>
    <p:extLst>
      <p:ext uri="{BB962C8B-B14F-4D97-AF65-F5344CB8AC3E}">
        <p14:creationId xmlns:p14="http://schemas.microsoft.com/office/powerpoint/2010/main" val="96099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用流水线提升访问缓存带宽 </a:t>
            </a:r>
            <a:r>
              <a:rPr lang="en-US" altLang="zh-CN" dirty="0"/>
              <a:t>(1)</a:t>
            </a:r>
            <a:endParaRPr lang="zh-CN" altLang="en-US" dirty="0"/>
          </a:p>
        </p:txBody>
      </p:sp>
      <p:sp>
        <p:nvSpPr>
          <p:cNvPr id="3" name="内容占位符 2"/>
          <p:cNvSpPr>
            <a:spLocks noGrp="1"/>
          </p:cNvSpPr>
          <p:nvPr>
            <p:ph idx="1"/>
          </p:nvPr>
        </p:nvSpPr>
        <p:spPr/>
        <p:txBody>
          <a:bodyPr/>
          <a:lstStyle/>
          <a:p>
            <a:r>
              <a:rPr lang="zh-CN" altLang="en-US" dirty="0"/>
              <a:t>将缓存的访问流水线化</a:t>
            </a:r>
            <a:endParaRPr lang="en-US" altLang="zh-CN" dirty="0"/>
          </a:p>
          <a:p>
            <a:pPr marL="628650" marR="63500" lvl="1" indent="-265113">
              <a:spcBef>
                <a:spcPts val="600"/>
              </a:spcBef>
              <a:spcAft>
                <a:spcPts val="600"/>
              </a:spcAft>
              <a:buClr>
                <a:schemeClr val="tx1"/>
              </a:buClr>
              <a:buFont typeface="Tahoma" panose="020B0604030504040204" pitchFamily="34" charset="0"/>
              <a:buChar char="−"/>
              <a:tabLst>
                <a:tab pos="866140" algn="l"/>
                <a:tab pos="866775" algn="l"/>
              </a:tabLst>
              <a:defRPr/>
            </a:pPr>
            <a:r>
              <a:rPr lang="zh-CN" altLang="en-US" spc="-10" dirty="0"/>
              <a:t>那么</a:t>
            </a:r>
            <a:r>
              <a:rPr lang="en-US" altLang="zh-CN" spc="-10" dirty="0"/>
              <a:t>L1</a:t>
            </a:r>
            <a:r>
              <a:rPr lang="zh-CN" altLang="en-US" spc="-10" dirty="0"/>
              <a:t>缓存的命中就需要多个时钟周期</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7</a:t>
            </a:fld>
            <a:endParaRPr lang="en-US" altLang="en-US"/>
          </a:p>
        </p:txBody>
      </p:sp>
      <p:pic>
        <p:nvPicPr>
          <p:cNvPr id="5" name="图片 4"/>
          <p:cNvPicPr>
            <a:picLocks noChangeAspect="1"/>
          </p:cNvPicPr>
          <p:nvPr/>
        </p:nvPicPr>
        <p:blipFill>
          <a:blip r:embed="rId2"/>
          <a:stretch>
            <a:fillRect/>
          </a:stretch>
        </p:blipFill>
        <p:spPr>
          <a:xfrm>
            <a:off x="990600" y="2286000"/>
            <a:ext cx="7132320" cy="2438400"/>
          </a:xfrm>
          <a:prstGeom prst="rect">
            <a:avLst/>
          </a:prstGeom>
        </p:spPr>
      </p:pic>
    </p:spTree>
    <p:extLst>
      <p:ext uri="{BB962C8B-B14F-4D97-AF65-F5344CB8AC3E}">
        <p14:creationId xmlns:p14="http://schemas.microsoft.com/office/powerpoint/2010/main" val="1100998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 </a:t>
            </a:r>
            <a:r>
              <a:rPr lang="zh-CN" altLang="en-US" dirty="0"/>
              <a:t>用流水线提升访问缓存带宽 </a:t>
            </a:r>
            <a:r>
              <a:rPr lang="en-US" altLang="zh-CN" dirty="0"/>
              <a:t>(2)</a:t>
            </a:r>
            <a:endParaRPr lang="zh-CN" altLang="en-US" dirty="0"/>
          </a:p>
        </p:txBody>
      </p:sp>
      <p:sp>
        <p:nvSpPr>
          <p:cNvPr id="3" name="内容占位符 2"/>
          <p:cNvSpPr>
            <a:spLocks noGrp="1"/>
          </p:cNvSpPr>
          <p:nvPr>
            <p:ph idx="1"/>
          </p:nvPr>
        </p:nvSpPr>
        <p:spPr/>
        <p:txBody>
          <a:bodyPr/>
          <a:lstStyle/>
          <a:p>
            <a:pPr marL="342900" marR="63500" lvl="1" indent="-342900">
              <a:spcBef>
                <a:spcPts val="600"/>
              </a:spcBef>
              <a:spcAft>
                <a:spcPts val="0"/>
              </a:spcAft>
              <a:buClr>
                <a:schemeClr val="tx1"/>
              </a:buClr>
              <a:buFont typeface="Tahoma" panose="020B0604030504040204" pitchFamily="34" charset="0"/>
              <a:buChar char="•"/>
              <a:tabLst>
                <a:tab pos="866140" algn="l"/>
                <a:tab pos="866775" algn="l"/>
              </a:tabLst>
              <a:defRPr/>
            </a:pPr>
            <a:r>
              <a:rPr lang="zh-CN" altLang="en-US" sz="2800" dirty="0">
                <a:cs typeface="+mn-cs"/>
              </a:rPr>
              <a:t>优点：更快的时钟周期，命中时间变长</a:t>
            </a:r>
            <a:endParaRPr lang="en-US" altLang="zh-CN" sz="2800" dirty="0">
              <a:cs typeface="+mn-cs"/>
            </a:endParaRPr>
          </a:p>
          <a:p>
            <a:pPr marL="342900" marR="63500" lvl="1" indent="-342900">
              <a:spcBef>
                <a:spcPts val="600"/>
              </a:spcBef>
              <a:spcAft>
                <a:spcPts val="0"/>
              </a:spcAft>
              <a:buClr>
                <a:schemeClr val="tx1"/>
              </a:buClr>
              <a:buFont typeface="Tahoma" panose="020B0604030504040204" pitchFamily="34" charset="0"/>
              <a:buChar char="•"/>
              <a:tabLst>
                <a:tab pos="866140" algn="l"/>
                <a:tab pos="866775" algn="l"/>
              </a:tabLst>
              <a:defRPr/>
            </a:pPr>
            <a:r>
              <a:rPr lang="zh-CN" altLang="en-US" sz="2800" dirty="0">
                <a:cs typeface="+mn-cs"/>
              </a:rPr>
              <a:t>示例：</a:t>
            </a:r>
            <a:r>
              <a:rPr lang="en-US" altLang="zh-CN" sz="2800" dirty="0">
                <a:cs typeface="+mn-cs"/>
              </a:rPr>
              <a:t>Intel</a:t>
            </a:r>
            <a:r>
              <a:rPr lang="zh-CN" altLang="en-US" sz="2800" dirty="0">
                <a:cs typeface="+mn-cs"/>
              </a:rPr>
              <a:t>处理器</a:t>
            </a:r>
            <a:r>
              <a:rPr lang="en-US" altLang="zh-CN" sz="2800" dirty="0">
                <a:cs typeface="+mn-cs"/>
              </a:rPr>
              <a:t>I-cache</a:t>
            </a:r>
            <a:r>
              <a:rPr lang="zh-CN" altLang="en-US" sz="2800" dirty="0">
                <a:cs typeface="+mn-cs"/>
              </a:rPr>
              <a:t>访问时间</a:t>
            </a:r>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en-US" altLang="zh-CN" spc="-10" dirty="0"/>
              <a:t>Pentium</a:t>
            </a:r>
            <a:r>
              <a:rPr lang="zh-CN" altLang="en-US" spc="-10" dirty="0"/>
              <a:t>：</a:t>
            </a:r>
            <a:r>
              <a:rPr lang="en-US" altLang="zh-CN" spc="-10" dirty="0"/>
              <a:t>1</a:t>
            </a:r>
            <a:r>
              <a:rPr lang="zh-CN" altLang="en-US" spc="-10" dirty="0"/>
              <a:t>个时钟周期，</a:t>
            </a:r>
            <a:r>
              <a:rPr lang="en-US" altLang="zh-CN" spc="-10" dirty="0"/>
              <a:t>1990</a:t>
            </a:r>
            <a:r>
              <a:rPr lang="zh-CN" altLang="en-US" spc="-10" dirty="0"/>
              <a:t>年中期</a:t>
            </a:r>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en-US" altLang="zh-CN" spc="-10" dirty="0"/>
              <a:t>Pentium Pro~ Pentium III</a:t>
            </a:r>
            <a:r>
              <a:rPr lang="zh-CN" altLang="en-US" spc="-10" dirty="0"/>
              <a:t>：</a:t>
            </a:r>
            <a:r>
              <a:rPr lang="en-US" altLang="zh-CN" spc="-10" dirty="0"/>
              <a:t>2</a:t>
            </a:r>
            <a:r>
              <a:rPr lang="zh-CN" altLang="en-US" spc="-10" dirty="0"/>
              <a:t>个时钟周期，</a:t>
            </a:r>
            <a:r>
              <a:rPr lang="en-US" altLang="zh-CN" spc="-10" dirty="0"/>
              <a:t>1990</a:t>
            </a:r>
            <a:r>
              <a:rPr lang="zh-CN" altLang="en-US" spc="-10" dirty="0"/>
              <a:t>年中期至</a:t>
            </a:r>
            <a:r>
              <a:rPr lang="en-US" altLang="zh-CN" spc="-10" dirty="0"/>
              <a:t>2000</a:t>
            </a:r>
            <a:r>
              <a:rPr lang="zh-CN" altLang="en-US" spc="-10" dirty="0"/>
              <a:t>年</a:t>
            </a:r>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en-US" altLang="zh-CN" spc="-10" dirty="0"/>
              <a:t>Pentium4</a:t>
            </a:r>
            <a:r>
              <a:rPr lang="zh-CN" altLang="en-US" spc="-10" dirty="0"/>
              <a:t>：</a:t>
            </a:r>
            <a:r>
              <a:rPr lang="en-US" altLang="zh-CN" spc="-10" dirty="0"/>
              <a:t>4</a:t>
            </a:r>
            <a:r>
              <a:rPr lang="zh-CN" altLang="en-US" spc="-10" dirty="0"/>
              <a:t>个时钟周期，</a:t>
            </a:r>
            <a:r>
              <a:rPr lang="en-US" altLang="zh-CN" spc="-10" dirty="0"/>
              <a:t>2000</a:t>
            </a:r>
            <a:r>
              <a:rPr lang="zh-CN" altLang="en-US" spc="-10" dirty="0"/>
              <a:t>年代</a:t>
            </a:r>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en-US" altLang="zh-CN" spc="-10" dirty="0"/>
              <a:t>Intel Core i7</a:t>
            </a:r>
            <a:r>
              <a:rPr lang="zh-CN" altLang="en-US" spc="-10" dirty="0"/>
              <a:t>：</a:t>
            </a:r>
            <a:r>
              <a:rPr lang="en-US" altLang="zh-CN" spc="-10" dirty="0"/>
              <a:t>4</a:t>
            </a:r>
            <a:r>
              <a:rPr lang="zh-CN" altLang="en-US" spc="-10" dirty="0"/>
              <a:t>个时钟周期</a:t>
            </a:r>
            <a:endParaRPr lang="en-US" altLang="zh-CN" spc="-10" dirty="0"/>
          </a:p>
          <a:p>
            <a:pPr marL="342900" marR="63500" lvl="1" indent="-342900">
              <a:spcBef>
                <a:spcPts val="600"/>
              </a:spcBef>
              <a:spcAft>
                <a:spcPts val="0"/>
              </a:spcAft>
              <a:buClr>
                <a:schemeClr val="tx1"/>
              </a:buClr>
              <a:buFont typeface="Tahoma" panose="020B0604030504040204" pitchFamily="34" charset="0"/>
              <a:buChar char="•"/>
              <a:tabLst>
                <a:tab pos="866140" algn="l"/>
                <a:tab pos="866775" algn="l"/>
              </a:tabLst>
              <a:defRPr/>
            </a:pPr>
            <a:r>
              <a:rPr lang="zh-CN" altLang="en-US" sz="2800" dirty="0">
                <a:cs typeface="+mn-cs"/>
              </a:rPr>
              <a:t>缺点：增加了流水线的阶段，会导致：</a:t>
            </a:r>
            <a:endParaRPr lang="en-US" altLang="zh-CN" sz="2800" dirty="0">
              <a:cs typeface="+mn-cs"/>
            </a:endParaRPr>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zh-CN" altLang="en-US" spc="-10" dirty="0"/>
              <a:t>分支预测错误时的</a:t>
            </a:r>
            <a:r>
              <a:rPr lang="en-US" altLang="zh-CN" spc="-10" dirty="0"/>
              <a:t>penalty</a:t>
            </a:r>
            <a:r>
              <a:rPr lang="zh-CN" altLang="en-US" spc="-10" dirty="0"/>
              <a:t>增加</a:t>
            </a:r>
            <a:endParaRPr lang="en-US" altLang="zh-CN" spc="-10" dirty="0"/>
          </a:p>
          <a:p>
            <a:pPr marL="628650" marR="63500" lvl="1" indent="-265113">
              <a:spcBef>
                <a:spcPts val="600"/>
              </a:spcBef>
              <a:spcAft>
                <a:spcPts val="0"/>
              </a:spcAft>
              <a:buClr>
                <a:schemeClr val="tx1"/>
              </a:buClr>
              <a:buFont typeface="Tahoma" panose="020B0604030504040204" pitchFamily="34" charset="0"/>
              <a:buChar char="−"/>
              <a:tabLst>
                <a:tab pos="866140" algn="l"/>
                <a:tab pos="866775" algn="l"/>
              </a:tabLst>
              <a:defRPr/>
            </a:pPr>
            <a:r>
              <a:rPr lang="zh-CN" altLang="en-US" spc="-10" dirty="0"/>
              <a:t>读指令发出到获取数据之间的延迟会增加</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8</a:t>
            </a:fld>
            <a:endParaRPr lang="en-US" altLang="en-US"/>
          </a:p>
        </p:txBody>
      </p:sp>
      <p:sp>
        <p:nvSpPr>
          <p:cNvPr id="6" name="文本框 5"/>
          <p:cNvSpPr txBox="1"/>
          <p:nvPr/>
        </p:nvSpPr>
        <p:spPr>
          <a:xfrm>
            <a:off x="247739" y="6111074"/>
            <a:ext cx="8648521"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注意：流水线只能提升缓存访问带宽，不会缩短单次访问缓存所需的时间。</a:t>
            </a:r>
          </a:p>
        </p:txBody>
      </p:sp>
    </p:spTree>
    <p:extLst>
      <p:ext uri="{BB962C8B-B14F-4D97-AF65-F5344CB8AC3E}">
        <p14:creationId xmlns:p14="http://schemas.microsoft.com/office/powerpoint/2010/main" val="3932197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Title 1"/>
          <p:cNvSpPr>
            <a:spLocks noGrp="1"/>
          </p:cNvSpPr>
          <p:nvPr>
            <p:ph type="title"/>
          </p:nvPr>
        </p:nvSpPr>
        <p:spPr>
          <a:xfrm>
            <a:off x="457200" y="268288"/>
            <a:ext cx="8229600" cy="722312"/>
          </a:xfrm>
        </p:spPr>
        <p:txBody>
          <a:bodyPr/>
          <a:lstStyle/>
          <a:p>
            <a:r>
              <a:rPr lang="en-US" altLang="zh-CN" dirty="0">
                <a:latin typeface="+mj-lt"/>
              </a:rPr>
              <a:t>4. </a:t>
            </a:r>
            <a:r>
              <a:rPr lang="zh-CN" altLang="en-US" dirty="0">
                <a:latin typeface="+mj-lt"/>
              </a:rPr>
              <a:t>用非阻塞缓存提升访存带宽 </a:t>
            </a:r>
            <a:r>
              <a:rPr lang="en-US" altLang="zh-CN" dirty="0">
                <a:latin typeface="+mj-lt"/>
              </a:rPr>
              <a:t>(1)</a:t>
            </a:r>
            <a:endParaRPr lang="en-US" dirty="0">
              <a:latin typeface="+mj-lt"/>
            </a:endParaRPr>
          </a:p>
        </p:txBody>
      </p:sp>
      <p:sp>
        <p:nvSpPr>
          <p:cNvPr id="3" name="Content Placeholder 2"/>
          <p:cNvSpPr>
            <a:spLocks noGrp="1"/>
          </p:cNvSpPr>
          <p:nvPr>
            <p:ph idx="1"/>
          </p:nvPr>
        </p:nvSpPr>
        <p:spPr>
          <a:xfrm>
            <a:off x="457200" y="996950"/>
            <a:ext cx="8229600" cy="5592762"/>
          </a:xfrm>
        </p:spPr>
        <p:txBody>
          <a:bodyPr/>
          <a:lstStyle/>
          <a:p>
            <a:pPr>
              <a:spcBef>
                <a:spcPts val="0"/>
              </a:spcBef>
              <a:spcAft>
                <a:spcPts val="600"/>
              </a:spcAft>
            </a:pPr>
            <a:r>
              <a:rPr lang="zh-CN" altLang="en-US" sz="2800" b="1" dirty="0"/>
              <a:t>问题分析：</a:t>
            </a:r>
            <a:r>
              <a:rPr lang="zh-CN" altLang="en-US" sz="2800" dirty="0"/>
              <a:t>如果处理器可以发出多个缓存访问请求，那么若前一个缺失还未处理完时，后续的访问能否继续处理</a:t>
            </a:r>
            <a:r>
              <a:rPr lang="en-US" sz="2800" dirty="0"/>
              <a:t>? </a:t>
            </a:r>
            <a:r>
              <a:rPr lang="en-US" altLang="zh-CN" dirty="0"/>
              <a:t> </a:t>
            </a:r>
            <a:r>
              <a:rPr lang="en-US" altLang="zh-CN" sz="2800" dirty="0"/>
              <a:t> </a:t>
            </a:r>
            <a:r>
              <a:rPr lang="zh-CN" altLang="en-US" sz="2800" b="1" dirty="0"/>
              <a:t>好处很明显：较少的停顿。</a:t>
            </a:r>
            <a:endParaRPr lang="en-US" sz="2800" b="1" dirty="0"/>
          </a:p>
          <a:p>
            <a:pPr>
              <a:spcBef>
                <a:spcPts val="0"/>
              </a:spcBef>
              <a:spcAft>
                <a:spcPts val="600"/>
              </a:spcAft>
            </a:pPr>
            <a:r>
              <a:rPr lang="zh-CN" altLang="en-US" sz="2800" b="1" dirty="0"/>
              <a:t>目标 </a:t>
            </a:r>
            <a:r>
              <a:rPr lang="en-US" altLang="zh-CN" sz="2800" b="1" dirty="0"/>
              <a:t>1</a:t>
            </a:r>
            <a:r>
              <a:rPr lang="zh-CN" altLang="en-US" sz="2800" b="1" dirty="0"/>
              <a:t>：</a:t>
            </a:r>
            <a:r>
              <a:rPr lang="zh-CN" altLang="en-US" sz="2800" dirty="0"/>
              <a:t>当有一个未处理完的缓存缺失，允许继续访问缓存，而不是暂停。</a:t>
            </a:r>
            <a:endParaRPr lang="en-US" sz="2800" dirty="0"/>
          </a:p>
          <a:p>
            <a:pPr>
              <a:spcBef>
                <a:spcPts val="0"/>
              </a:spcBef>
              <a:spcAft>
                <a:spcPts val="600"/>
              </a:spcAft>
            </a:pPr>
            <a:r>
              <a:rPr lang="zh-CN" altLang="en-US" sz="2800" b="1" dirty="0"/>
              <a:t>目标 </a:t>
            </a:r>
            <a:r>
              <a:rPr lang="en-US" altLang="zh-CN" sz="2800" b="1" dirty="0"/>
              <a:t>2</a:t>
            </a:r>
            <a:r>
              <a:rPr lang="zh-CN" altLang="en-US" sz="2800" b="1" dirty="0"/>
              <a:t>：</a:t>
            </a:r>
            <a:r>
              <a:rPr lang="zh-CN" altLang="en-US" sz="2800" dirty="0"/>
              <a:t>使得多个缺失可以并行处理，</a:t>
            </a:r>
            <a:r>
              <a:rPr lang="zh-CN" altLang="en-US" kern="1200" dirty="0">
                <a:cs typeface="Calibri" panose="020F0502020204030204" pitchFamily="34" charset="0"/>
              </a:rPr>
              <a:t>提升存储级并行性 </a:t>
            </a:r>
            <a:r>
              <a:rPr lang="en-US" kern="1200" dirty="0">
                <a:cs typeface="Calibri" panose="020F0502020204030204" pitchFamily="34" charset="0"/>
              </a:rPr>
              <a:t>(MLP)</a:t>
            </a:r>
            <a:r>
              <a:rPr lang="zh-CN" altLang="en-US" kern="1200" dirty="0">
                <a:cs typeface="Calibri" panose="020F0502020204030204" pitchFamily="34" charset="0"/>
              </a:rPr>
              <a:t>。</a:t>
            </a:r>
            <a:endParaRPr lang="en-US" kern="1200" dirty="0">
              <a:cs typeface="Calibri" panose="020F0502020204030204" pitchFamily="34" charset="0"/>
            </a:endParaRPr>
          </a:p>
          <a:p>
            <a:pPr>
              <a:spcBef>
                <a:spcPts val="0"/>
              </a:spcBef>
              <a:spcAft>
                <a:spcPts val="600"/>
              </a:spcAft>
            </a:pPr>
            <a:r>
              <a:rPr lang="zh-CN" altLang="en-US" sz="2800" b="1" dirty="0"/>
              <a:t>解决方法：</a:t>
            </a:r>
            <a:r>
              <a:rPr lang="en-US" sz="2800" dirty="0">
                <a:solidFill>
                  <a:srgbClr val="FF0000"/>
                </a:solidFill>
              </a:rPr>
              <a:t>Non-blocking</a:t>
            </a:r>
            <a:r>
              <a:rPr lang="en-US" sz="2800" dirty="0"/>
              <a:t> or</a:t>
            </a:r>
            <a:r>
              <a:rPr lang="en-US" sz="2800" dirty="0">
                <a:solidFill>
                  <a:srgbClr val="FF0000"/>
                </a:solidFill>
              </a:rPr>
              <a:t> lockup-free </a:t>
            </a:r>
            <a:r>
              <a:rPr lang="en-US" sz="2800" dirty="0"/>
              <a:t>caches (</a:t>
            </a:r>
            <a:r>
              <a:rPr lang="zh-CN" altLang="en-US" sz="2800" dirty="0"/>
              <a:t>非阻塞缓存技术</a:t>
            </a:r>
            <a:r>
              <a:rPr lang="en-US" sz="2800" dirty="0"/>
              <a:t>)</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David </a:t>
            </a:r>
            <a:r>
              <a:rPr lang="en-US" kern="1200" dirty="0">
                <a:cs typeface="Calibri" panose="020F0502020204030204" pitchFamily="34" charset="0"/>
              </a:rPr>
              <a:t>Kroft, </a:t>
            </a:r>
            <a:r>
              <a:rPr lang="ja-JP" altLang="en-US" kern="1200" dirty="0">
                <a:cs typeface="Calibri" panose="020F0502020204030204" pitchFamily="34" charset="0"/>
              </a:rPr>
              <a:t>“</a:t>
            </a:r>
            <a:r>
              <a:rPr lang="en-US" altLang="ja-JP" kern="1200" dirty="0">
                <a:cs typeface="Calibri" panose="020F0502020204030204" pitchFamily="34" charset="0"/>
                <a:hlinkClick r:id="rId3"/>
              </a:rPr>
              <a:t>Lockup-Free Instruction Fetch/</a:t>
            </a:r>
            <a:r>
              <a:rPr lang="en-US" altLang="ja-JP" kern="1200" dirty="0" err="1">
                <a:cs typeface="Calibri" panose="020F0502020204030204" pitchFamily="34" charset="0"/>
                <a:hlinkClick r:id="rId3"/>
              </a:rPr>
              <a:t>Prefetch</a:t>
            </a:r>
            <a:r>
              <a:rPr lang="en-US" altLang="ja-JP" kern="1200" dirty="0">
                <a:cs typeface="Calibri" panose="020F0502020204030204" pitchFamily="34" charset="0"/>
                <a:hlinkClick r:id="rId3"/>
              </a:rPr>
              <a:t> Cache Organization</a:t>
            </a:r>
            <a:r>
              <a:rPr lang="en-US" altLang="ja-JP" kern="1200" dirty="0">
                <a:cs typeface="Calibri" panose="020F0502020204030204" pitchFamily="34" charset="0"/>
              </a:rPr>
              <a:t>," ISCA 1981.</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ISCA 25</a:t>
            </a:r>
            <a:r>
              <a:rPr lang="zh-CN" altLang="en-US" kern="1200" dirty="0">
                <a:cs typeface="Calibri" panose="020F0502020204030204" pitchFamily="34" charset="0"/>
              </a:rPr>
              <a:t>周年经典论文之一</a:t>
            </a:r>
            <a:endParaRPr lang="en-US" kern="1200" dirty="0">
              <a:cs typeface="Calibri" panose="020F0502020204030204" pitchFamily="34" charset="0"/>
            </a:endParaRPr>
          </a:p>
          <a:p>
            <a:pPr>
              <a:spcBef>
                <a:spcPts val="0"/>
              </a:spcBef>
              <a:spcAft>
                <a:spcPts val="600"/>
              </a:spcAft>
            </a:pPr>
            <a:endParaRPr lang="en-US" dirty="0"/>
          </a:p>
        </p:txBody>
      </p:sp>
      <p:sp>
        <p:nvSpPr>
          <p:cNvPr id="4" name="灯片编号占位符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9</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34719088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9181E13-211E-420B-8369-1B5567EEE49E}"/>
              </a:ext>
            </a:extLst>
          </p:cNvPr>
          <p:cNvSpPr>
            <a:spLocks noGrp="1"/>
          </p:cNvSpPr>
          <p:nvPr>
            <p:ph type="title"/>
          </p:nvPr>
        </p:nvSpPr>
        <p:spPr>
          <a:xfrm>
            <a:off x="457200" y="268288"/>
            <a:ext cx="8229600" cy="722312"/>
          </a:xfrm>
        </p:spPr>
        <p:txBody>
          <a:bodyPr/>
          <a:lstStyle/>
          <a:p>
            <a:r>
              <a:rPr lang="en-US" altLang="zh-CN" dirty="0"/>
              <a:t>4. </a:t>
            </a:r>
            <a:r>
              <a:rPr lang="zh-CN" altLang="en-US" dirty="0"/>
              <a:t>用非阻塞缓存提升访存带宽 </a:t>
            </a:r>
            <a:r>
              <a:rPr lang="en-US" altLang="zh-CN" dirty="0"/>
              <a:t>(2)</a:t>
            </a:r>
            <a:endParaRPr lang="en-US" dirty="0">
              <a:latin typeface="+mj-lt"/>
            </a:endParaRPr>
          </a:p>
        </p:txBody>
      </p:sp>
      <p:sp>
        <p:nvSpPr>
          <p:cNvPr id="3" name="Content Placeholder 2"/>
          <p:cNvSpPr>
            <a:spLocks noGrp="1"/>
          </p:cNvSpPr>
          <p:nvPr>
            <p:ph idx="1"/>
          </p:nvPr>
        </p:nvSpPr>
        <p:spPr>
          <a:xfrm>
            <a:off x="457200" y="1054100"/>
            <a:ext cx="8229600" cy="5535612"/>
          </a:xfrm>
        </p:spPr>
        <p:txBody>
          <a:bodyPr/>
          <a:lstStyle/>
          <a:p>
            <a:pPr>
              <a:spcBef>
                <a:spcPts val="600"/>
              </a:spcBef>
              <a:spcAft>
                <a:spcPts val="600"/>
              </a:spcAft>
            </a:pPr>
            <a:r>
              <a:rPr lang="zh-CN" altLang="en-US" sz="2800" b="1" dirty="0"/>
              <a:t>想法：</a:t>
            </a:r>
            <a:r>
              <a:rPr lang="zh-CN" altLang="en-US" sz="2800" dirty="0"/>
              <a:t>用</a:t>
            </a:r>
            <a:r>
              <a:rPr lang="en-US" altLang="zh-CN" sz="2800" dirty="0"/>
              <a:t>MSHR</a:t>
            </a:r>
            <a:r>
              <a:rPr lang="zh-CN" altLang="en-US" sz="2800" dirty="0"/>
              <a:t>来记录正在处理的缺失请求的相关信息 </a:t>
            </a:r>
            <a:r>
              <a:rPr lang="en-US" altLang="zh-CN" sz="2800" dirty="0"/>
              <a:t>(</a:t>
            </a:r>
            <a:r>
              <a:rPr lang="zh-CN" altLang="en-US" sz="2800" dirty="0"/>
              <a:t>状态和数据</a:t>
            </a:r>
            <a:r>
              <a:rPr lang="en-US" altLang="zh-CN" sz="2800" dirty="0"/>
              <a:t>)</a:t>
            </a:r>
            <a:r>
              <a:rPr lang="zh-CN" altLang="en-US" sz="2800" dirty="0"/>
              <a:t>，</a:t>
            </a:r>
            <a:r>
              <a:rPr lang="zh-CN" altLang="en-US" dirty="0"/>
              <a:t>使得</a:t>
            </a:r>
            <a:r>
              <a:rPr lang="zh-CN" altLang="en-US" sz="2800" dirty="0"/>
              <a:t>后续的访问请求尽量不用暂停。</a:t>
            </a:r>
            <a:r>
              <a:rPr lang="en-US" sz="2800" dirty="0"/>
              <a:t> </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MSHR</a:t>
            </a:r>
            <a:r>
              <a:rPr lang="zh-CN" altLang="en-US" kern="1200" dirty="0">
                <a:cs typeface="Calibri" panose="020F0502020204030204" pitchFamily="34" charset="0"/>
              </a:rPr>
              <a:t>的全称是：</a:t>
            </a:r>
            <a:r>
              <a:rPr lang="en-US" kern="1200" dirty="0">
                <a:cs typeface="Calibri" panose="020F0502020204030204" pitchFamily="34" charset="0"/>
              </a:rPr>
              <a:t>Miss Status Handling/Holding Register (MSHR)</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那么：访问缓存发生缺失时，需要检查</a:t>
            </a:r>
            <a:r>
              <a:rPr lang="en-US" kern="1200" dirty="0">
                <a:cs typeface="Calibri" panose="020F0502020204030204" pitchFamily="34" charset="0"/>
              </a:rPr>
              <a:t>MSHR</a:t>
            </a:r>
            <a:r>
              <a:rPr lang="zh-CN" altLang="en-US" kern="1200" dirty="0">
                <a:cs typeface="Calibri" panose="020F0502020204030204" pitchFamily="34" charset="0"/>
              </a:rPr>
              <a:t>以确认是否已经有访问相同的</a:t>
            </a:r>
            <a:r>
              <a:rPr lang="en-US" altLang="zh-CN" kern="1200" dirty="0">
                <a:cs typeface="Calibri" panose="020F0502020204030204" pitchFamily="34" charset="0"/>
              </a:rPr>
              <a:t>block</a:t>
            </a:r>
            <a:r>
              <a:rPr lang="zh-CN" altLang="en-US" kern="1200" dirty="0">
                <a:cs typeface="Calibri" panose="020F0502020204030204" pitchFamily="34" charset="0"/>
              </a:rPr>
              <a:t>的缺失请求正在处理。</a:t>
            </a:r>
            <a:endParaRPr lang="en-US" kern="1200" dirty="0">
              <a:cs typeface="Calibri" panose="020F0502020204030204" pitchFamily="34" charset="0"/>
            </a:endParaRPr>
          </a:p>
          <a:p>
            <a:pPr marL="893763" lvl="2" indent="-266700">
              <a:spcBef>
                <a:spcPts val="600"/>
              </a:spcBef>
              <a:spcAft>
                <a:spcPts val="600"/>
              </a:spcAft>
              <a:buFont typeface="Arial" panose="020B0604020202020204" pitchFamily="34" charset="0"/>
              <a:buChar char="•"/>
            </a:pPr>
            <a:r>
              <a:rPr lang="zh-CN" altLang="en-US" sz="2000" dirty="0">
                <a:solidFill>
                  <a:srgbClr val="00B050"/>
                </a:solidFill>
              </a:rPr>
              <a:t>如果</a:t>
            </a:r>
            <a:r>
              <a:rPr lang="en-US" altLang="zh-CN" sz="2000" dirty="0">
                <a:solidFill>
                  <a:srgbClr val="00B050"/>
                </a:solidFill>
              </a:rPr>
              <a:t>MSHR</a:t>
            </a:r>
            <a:r>
              <a:rPr lang="zh-CN" altLang="en-US" sz="2000" dirty="0">
                <a:solidFill>
                  <a:srgbClr val="00B050"/>
                </a:solidFill>
              </a:rPr>
              <a:t>中有，那么就没有必要产生一个新的缺失请求；</a:t>
            </a:r>
            <a:endParaRPr lang="en-US" sz="2000" dirty="0">
              <a:solidFill>
                <a:srgbClr val="00B050"/>
              </a:solidFill>
            </a:endParaRPr>
          </a:p>
          <a:p>
            <a:pPr marL="893763" lvl="2" indent="-266700">
              <a:spcBef>
                <a:spcPts val="600"/>
              </a:spcBef>
              <a:spcAft>
                <a:spcPts val="600"/>
              </a:spcAft>
              <a:buFont typeface="Arial" panose="020B0604020202020204" pitchFamily="34" charset="0"/>
              <a:buChar char="•"/>
            </a:pPr>
            <a:r>
              <a:rPr lang="zh-CN" altLang="en-US" sz="2000" dirty="0">
                <a:solidFill>
                  <a:srgbClr val="00B050"/>
                </a:solidFill>
              </a:rPr>
              <a:t>如果</a:t>
            </a:r>
            <a:r>
              <a:rPr lang="en-US" altLang="zh-CN" sz="2000" dirty="0">
                <a:solidFill>
                  <a:srgbClr val="00B050"/>
                </a:solidFill>
              </a:rPr>
              <a:t>MSHR</a:t>
            </a:r>
            <a:r>
              <a:rPr lang="zh-CN" altLang="en-US" sz="2000" dirty="0">
                <a:solidFill>
                  <a:srgbClr val="00B050"/>
                </a:solidFill>
              </a:rPr>
              <a:t>中有并且所需的数据已返回 </a:t>
            </a:r>
            <a:r>
              <a:rPr lang="en-US" altLang="zh-CN" sz="2000" dirty="0">
                <a:solidFill>
                  <a:srgbClr val="00B050"/>
                </a:solidFill>
              </a:rPr>
              <a:t>(</a:t>
            </a:r>
            <a:r>
              <a:rPr lang="zh-CN" altLang="en-US" sz="2000" dirty="0">
                <a:solidFill>
                  <a:srgbClr val="00B050"/>
                </a:solidFill>
              </a:rPr>
              <a:t>在</a:t>
            </a:r>
            <a:r>
              <a:rPr lang="en-US" altLang="zh-CN" sz="2000" dirty="0">
                <a:solidFill>
                  <a:srgbClr val="00B050"/>
                </a:solidFill>
              </a:rPr>
              <a:t>MSHR</a:t>
            </a:r>
            <a:r>
              <a:rPr lang="zh-CN" altLang="en-US" sz="2000" dirty="0">
                <a:solidFill>
                  <a:srgbClr val="00B050"/>
                </a:solidFill>
              </a:rPr>
              <a:t>里面</a:t>
            </a:r>
            <a:r>
              <a:rPr lang="en-US" altLang="zh-CN" sz="2000" dirty="0">
                <a:solidFill>
                  <a:srgbClr val="00B050"/>
                </a:solidFill>
              </a:rPr>
              <a:t>)</a:t>
            </a:r>
            <a:r>
              <a:rPr lang="en-US" sz="2000" dirty="0">
                <a:solidFill>
                  <a:srgbClr val="00B050"/>
                </a:solidFill>
              </a:rPr>
              <a:t>, </a:t>
            </a:r>
            <a:r>
              <a:rPr lang="zh-CN" altLang="en-US" sz="2000" dirty="0">
                <a:solidFill>
                  <a:srgbClr val="00B050"/>
                </a:solidFill>
              </a:rPr>
              <a:t>那么数据直接发给请求者即可；</a:t>
            </a:r>
            <a:endParaRPr lang="en-US" altLang="zh-CN" sz="2000" dirty="0">
              <a:solidFill>
                <a:srgbClr val="00B050"/>
              </a:solidFill>
            </a:endParaRPr>
          </a:p>
          <a:p>
            <a:pPr marL="893763" lvl="2" indent="-266700">
              <a:spcBef>
                <a:spcPts val="600"/>
              </a:spcBef>
              <a:spcAft>
                <a:spcPts val="600"/>
              </a:spcAft>
              <a:buFont typeface="Arial" panose="020B0604020202020204" pitchFamily="34" charset="0"/>
              <a:buChar char="•"/>
            </a:pPr>
            <a:r>
              <a:rPr lang="zh-CN" altLang="en-US" sz="2000" dirty="0">
                <a:solidFill>
                  <a:srgbClr val="00B050"/>
                </a:solidFill>
              </a:rPr>
              <a:t>如果有，而所需的数据未返回，则尝试登记当前访问者的信息；</a:t>
            </a:r>
            <a:endParaRPr lang="en-US" altLang="zh-CN" sz="2000" dirty="0">
              <a:solidFill>
                <a:srgbClr val="00B050"/>
              </a:solidFill>
            </a:endParaRPr>
          </a:p>
          <a:p>
            <a:pPr marL="893763" lvl="2" indent="-266700">
              <a:spcBef>
                <a:spcPts val="600"/>
              </a:spcBef>
              <a:spcAft>
                <a:spcPts val="600"/>
              </a:spcAft>
              <a:buFont typeface="Arial" panose="020B0604020202020204" pitchFamily="34" charset="0"/>
              <a:buChar char="•"/>
            </a:pPr>
            <a:r>
              <a:rPr lang="zh-CN" altLang="en-US" sz="2000" dirty="0"/>
              <a:t>如果</a:t>
            </a:r>
            <a:r>
              <a:rPr lang="en-US" altLang="zh-CN" sz="2000" dirty="0"/>
              <a:t>MSHR</a:t>
            </a:r>
            <a:r>
              <a:rPr lang="zh-CN" altLang="en-US" sz="2000" dirty="0"/>
              <a:t>中没有，则</a:t>
            </a:r>
            <a:r>
              <a:rPr lang="zh-CN" altLang="en-US" sz="2000" b="1" dirty="0"/>
              <a:t>尝试产生</a:t>
            </a:r>
            <a:r>
              <a:rPr lang="zh-CN" altLang="en-US" sz="2000" dirty="0"/>
              <a:t>一个新的缺失请求，在</a:t>
            </a:r>
            <a:r>
              <a:rPr lang="en-US" altLang="zh-CN" sz="2000" dirty="0"/>
              <a:t>MSHR</a:t>
            </a:r>
            <a:r>
              <a:rPr lang="zh-CN" altLang="en-US" sz="2000" dirty="0"/>
              <a:t>里记录相关信息。</a:t>
            </a:r>
            <a:r>
              <a:rPr lang="en-US" altLang="zh-CN" sz="2000" dirty="0"/>
              <a:t>[</a:t>
            </a:r>
            <a:r>
              <a:rPr lang="zh-CN" altLang="en-US" sz="2000" b="1" dirty="0">
                <a:solidFill>
                  <a:srgbClr val="FF0000"/>
                </a:solidFill>
              </a:rPr>
              <a:t>此时，可能</a:t>
            </a:r>
            <a:r>
              <a:rPr lang="en-US" altLang="zh-CN" sz="2000" b="1" dirty="0">
                <a:solidFill>
                  <a:srgbClr val="FF0000"/>
                </a:solidFill>
              </a:rPr>
              <a:t>MSHR</a:t>
            </a:r>
            <a:r>
              <a:rPr lang="zh-CN" altLang="en-US" sz="2000" b="1" dirty="0">
                <a:solidFill>
                  <a:srgbClr val="FF0000"/>
                </a:solidFill>
              </a:rPr>
              <a:t>用完了，因资源冲突而阻塞</a:t>
            </a:r>
            <a:r>
              <a:rPr lang="en-US" altLang="zh-CN" sz="2000" dirty="0"/>
              <a:t>]</a:t>
            </a:r>
          </a:p>
        </p:txBody>
      </p:sp>
      <p:sp>
        <p:nvSpPr>
          <p:cNvPr id="4" name="灯片编号占位符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10</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226918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p:cNvSpPr>
            <a:spLocks noGrp="1"/>
          </p:cNvSpPr>
          <p:nvPr>
            <p:ph type="title"/>
          </p:nvPr>
        </p:nvSpPr>
        <p:spPr>
          <a:xfrm>
            <a:off x="457200" y="268288"/>
            <a:ext cx="8229600" cy="722312"/>
          </a:xfrm>
        </p:spPr>
        <p:txBody>
          <a:bodyPr/>
          <a:lstStyle/>
          <a:p>
            <a:r>
              <a:rPr lang="en-US" altLang="zh-CN" dirty="0"/>
              <a:t>MSHR</a:t>
            </a:r>
            <a:r>
              <a:rPr lang="zh-CN" altLang="en-US" dirty="0"/>
              <a:t>解析</a:t>
            </a:r>
            <a:endParaRPr lang="en-US" dirty="0"/>
          </a:p>
        </p:txBody>
      </p:sp>
      <p:sp>
        <p:nvSpPr>
          <p:cNvPr id="54274" name="Content Placeholder 2"/>
          <p:cNvSpPr>
            <a:spLocks noGrp="1"/>
          </p:cNvSpPr>
          <p:nvPr>
            <p:ph idx="1"/>
          </p:nvPr>
        </p:nvSpPr>
        <p:spPr>
          <a:xfrm>
            <a:off x="457200" y="990600"/>
            <a:ext cx="8229600" cy="5867400"/>
          </a:xfrm>
        </p:spPr>
        <p:txBody>
          <a:bodyPr/>
          <a:lstStyle/>
          <a:p>
            <a:pPr>
              <a:spcBef>
                <a:spcPts val="0"/>
              </a:spcBef>
              <a:spcAft>
                <a:spcPts val="600"/>
              </a:spcAft>
            </a:pPr>
            <a:r>
              <a:rPr lang="en-US" altLang="zh-CN" sz="2800" dirty="0"/>
              <a:t>MSHR</a:t>
            </a:r>
            <a:r>
              <a:rPr lang="zh-CN" altLang="en-US" sz="2800" dirty="0"/>
              <a:t>是</a:t>
            </a:r>
            <a:r>
              <a:rPr lang="zh-CN" altLang="en-US" sz="2800" b="1" dirty="0"/>
              <a:t>一组寄存器</a:t>
            </a:r>
            <a:r>
              <a:rPr lang="zh-CN" altLang="en-US" sz="2800" dirty="0"/>
              <a:t>，用于记录：</a:t>
            </a:r>
            <a:endParaRPr lang="en-US" sz="28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正在处理的缓存访问缺失请求</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正在处于等待状态的读写请求，访问的是一个已经在缺失状态的</a:t>
            </a:r>
            <a:r>
              <a:rPr lang="en-US" altLang="zh-CN" kern="1200" dirty="0">
                <a:cs typeface="Calibri" panose="020F0502020204030204" pitchFamily="34" charset="0"/>
              </a:rPr>
              <a:t>block</a:t>
            </a:r>
            <a:r>
              <a:rPr lang="zh-CN" altLang="en-US" kern="1200" dirty="0">
                <a:cs typeface="Calibri" panose="020F0502020204030204" pitchFamily="34" charset="0"/>
              </a:rPr>
              <a:t>。</a:t>
            </a:r>
            <a:endParaRPr lang="en-US" kern="1200" dirty="0">
              <a:cs typeface="Calibri" panose="020F0502020204030204" pitchFamily="34" charset="0"/>
            </a:endParaRPr>
          </a:p>
          <a:p>
            <a:pPr>
              <a:spcBef>
                <a:spcPts val="0"/>
              </a:spcBef>
              <a:spcAft>
                <a:spcPts val="600"/>
              </a:spcAft>
            </a:pPr>
            <a:r>
              <a:rPr lang="en-US" sz="2800" dirty="0"/>
              <a:t>MSHR</a:t>
            </a:r>
            <a:r>
              <a:rPr lang="zh-CN" altLang="en-US" sz="2800" dirty="0"/>
              <a:t>条目中记录的信息：</a:t>
            </a:r>
            <a:endParaRPr lang="en-US" sz="2800" dirty="0"/>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v</a:t>
            </a:r>
            <a:r>
              <a:rPr lang="en-US" kern="1200" dirty="0">
                <a:cs typeface="Calibri" panose="020F0502020204030204" pitchFamily="34" charset="0"/>
              </a:rPr>
              <a:t>alid bit</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block address (</a:t>
            </a:r>
            <a:r>
              <a:rPr lang="zh-CN" altLang="en-US" kern="1200" dirty="0">
                <a:cs typeface="Calibri" panose="020F0502020204030204" pitchFamily="34" charset="0"/>
              </a:rPr>
              <a:t>用于后续的请求进行匹配</a:t>
            </a:r>
            <a:r>
              <a:rPr lang="en-US" kern="1200" dirty="0">
                <a:cs typeface="Calibri" panose="020F0502020204030204" pitchFamily="34" charset="0"/>
              </a:rPr>
              <a:t>)</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c</a:t>
            </a:r>
            <a:r>
              <a:rPr lang="en-US" kern="1200" dirty="0">
                <a:cs typeface="Calibri" panose="020F0502020204030204" pitchFamily="34" charset="0"/>
              </a:rPr>
              <a:t>ontrol/status bits </a:t>
            </a:r>
          </a:p>
          <a:p>
            <a:pPr marL="893763" lvl="2" indent="-266700">
              <a:spcBef>
                <a:spcPts val="0"/>
              </a:spcBef>
              <a:spcAft>
                <a:spcPts val="600"/>
              </a:spcAft>
              <a:buFont typeface="Arial" panose="020B0604020202020204" pitchFamily="34" charset="0"/>
              <a:buChar char="•"/>
            </a:pPr>
            <a:r>
              <a:rPr lang="en-US" sz="2000" dirty="0"/>
              <a:t>Prefetch? issued to memory? which sub-blocks have arrived? </a:t>
            </a:r>
            <a:r>
              <a:rPr lang="en-US" sz="2000" dirty="0" err="1"/>
              <a:t>etc</a:t>
            </a:r>
            <a:r>
              <a:rPr lang="en-US" sz="2000" dirty="0"/>
              <a:t>…</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d</a:t>
            </a:r>
            <a:r>
              <a:rPr lang="en-US" kern="1200" dirty="0">
                <a:cs typeface="Calibri" panose="020F0502020204030204" pitchFamily="34" charset="0"/>
              </a:rPr>
              <a:t>ata for each sub-block</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solidFill>
                  <a:srgbClr val="1A04BC"/>
                </a:solidFill>
                <a:cs typeface="Calibri" panose="020F0502020204030204" pitchFamily="34" charset="0"/>
              </a:rPr>
              <a:t>对每个处于等待状态的读写请求，记录：</a:t>
            </a:r>
            <a:endParaRPr lang="en-US" kern="1200" dirty="0">
              <a:solidFill>
                <a:srgbClr val="1A04BC"/>
              </a:solidFill>
              <a:cs typeface="Calibri" panose="020F0502020204030204" pitchFamily="34" charset="0"/>
            </a:endParaRPr>
          </a:p>
          <a:p>
            <a:pPr marL="893763" lvl="2" indent="-266700">
              <a:spcBef>
                <a:spcPts val="0"/>
              </a:spcBef>
              <a:spcAft>
                <a:spcPts val="600"/>
              </a:spcAft>
              <a:buFont typeface="Arial" panose="020B0604020202020204" pitchFamily="34" charset="0"/>
              <a:buChar char="•"/>
            </a:pPr>
            <a:r>
              <a:rPr lang="en-US" altLang="zh-CN" sz="2000" dirty="0">
                <a:solidFill>
                  <a:srgbClr val="1A04BC"/>
                </a:solidFill>
              </a:rPr>
              <a:t>v</a:t>
            </a:r>
            <a:r>
              <a:rPr lang="en-US" sz="2000" dirty="0">
                <a:solidFill>
                  <a:srgbClr val="1A04BC"/>
                </a:solidFill>
              </a:rPr>
              <a:t>alid, type, byte </a:t>
            </a:r>
            <a:r>
              <a:rPr lang="en-US" altLang="zh-CN" sz="2000" dirty="0">
                <a:solidFill>
                  <a:srgbClr val="1A04BC"/>
                </a:solidFill>
              </a:rPr>
              <a:t>offset</a:t>
            </a:r>
            <a:r>
              <a:rPr lang="en-US" sz="2000" dirty="0">
                <a:solidFill>
                  <a:srgbClr val="1A04BC"/>
                </a:solidFill>
              </a:rPr>
              <a:t> in block, destination register or store buffer entry address</a:t>
            </a:r>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11</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34307729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27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27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27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427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4274">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4274">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427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p:cNvSpPr>
          <p:nvPr>
            <p:ph type="title"/>
          </p:nvPr>
        </p:nvSpPr>
        <p:spPr>
          <a:xfrm>
            <a:off x="0" y="304800"/>
            <a:ext cx="9144000" cy="685800"/>
          </a:xfrm>
        </p:spPr>
        <p:txBody>
          <a:bodyPr/>
          <a:lstStyle/>
          <a:p>
            <a:r>
              <a:rPr lang="en-US" dirty="0"/>
              <a:t>MSHR </a:t>
            </a:r>
            <a:r>
              <a:rPr lang="zh-CN" altLang="en-US" dirty="0"/>
              <a:t>数据结构</a:t>
            </a:r>
            <a:endParaRPr lang="en-US" dirty="0"/>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12</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pic>
        <p:nvPicPr>
          <p:cNvPr id="11469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 y="2205038"/>
            <a:ext cx="8691563"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2D620D59-0428-47FA-B85C-C7C1E76B1002}"/>
              </a:ext>
            </a:extLst>
          </p:cNvPr>
          <p:cNvSpPr txBox="1"/>
          <p:nvPr/>
        </p:nvSpPr>
        <p:spPr>
          <a:xfrm>
            <a:off x="609600" y="4996805"/>
            <a:ext cx="7577715" cy="46166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FF0000"/>
                </a:solidFill>
                <a:effectLst/>
                <a:uLnTx/>
                <a:uFillTx/>
                <a:latin typeface="Arial" charset="0"/>
                <a:ea typeface="ＭＳ Ｐゴシック" pitchFamily="34" charset="-128"/>
                <a:cs typeface="+mn-cs"/>
              </a:rPr>
              <a:t>The data for each sub-block is not shown in the figure</a:t>
            </a:r>
            <a:endParaRPr kumimoji="0" lang="zh-CN" altLang="en-US" sz="2400" b="0" i="0" u="none" strike="noStrike" kern="1200" cap="none" spc="0" normalizeH="0" baseline="0" noProof="0" dirty="0">
              <a:ln>
                <a:noFill/>
              </a:ln>
              <a:solidFill>
                <a:srgbClr val="FF0000"/>
              </a:solidFill>
              <a:effectLst/>
              <a:uLnTx/>
              <a:uFillTx/>
              <a:latin typeface="Arial" charset="0"/>
              <a:ea typeface="ＭＳ Ｐゴシック" pitchFamily="34" charset="-128"/>
              <a:cs typeface="+mn-cs"/>
            </a:endParaRPr>
          </a:p>
        </p:txBody>
      </p:sp>
      <p:cxnSp>
        <p:nvCxnSpPr>
          <p:cNvPr id="5" name="直接箭头连接符 4">
            <a:extLst>
              <a:ext uri="{FF2B5EF4-FFF2-40B4-BE49-F238E27FC236}">
                <a16:creationId xmlns:a16="http://schemas.microsoft.com/office/drawing/2014/main" id="{790BC008-6BB0-4990-A4E5-5F2A6F0C60A3}"/>
              </a:ext>
            </a:extLst>
          </p:cNvPr>
          <p:cNvCxnSpPr/>
          <p:nvPr/>
        </p:nvCxnSpPr>
        <p:spPr bwMode="auto">
          <a:xfrm flipH="1">
            <a:off x="2286000" y="3048000"/>
            <a:ext cx="228600" cy="2025005"/>
          </a:xfrm>
          <a:prstGeom prst="straightConnector1">
            <a:avLst/>
          </a:prstGeom>
          <a:solidFill>
            <a:schemeClr val="accent1"/>
          </a:solidFill>
          <a:ln w="25400" cap="flat" cmpd="sng" algn="ctr">
            <a:solidFill>
              <a:schemeClr val="tx2"/>
            </a:solidFill>
            <a:prstDash val="solid"/>
            <a:round/>
            <a:headEnd type="none" w="med" len="med"/>
            <a:tailEnd type="triangle"/>
          </a:ln>
        </p:spPr>
      </p:cxnSp>
    </p:spTree>
    <p:extLst>
      <p:ext uri="{BB962C8B-B14F-4D97-AF65-F5344CB8AC3E}">
        <p14:creationId xmlns:p14="http://schemas.microsoft.com/office/powerpoint/2010/main" val="1943584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itle 1"/>
          <p:cNvSpPr>
            <a:spLocks noGrp="1"/>
          </p:cNvSpPr>
          <p:nvPr>
            <p:ph type="title"/>
          </p:nvPr>
        </p:nvSpPr>
        <p:spPr>
          <a:xfrm>
            <a:off x="457200" y="268288"/>
            <a:ext cx="8229600" cy="722312"/>
          </a:xfrm>
        </p:spPr>
        <p:txBody>
          <a:bodyPr/>
          <a:lstStyle/>
          <a:p>
            <a:r>
              <a:rPr lang="en-US" dirty="0"/>
              <a:t>MSHR </a:t>
            </a:r>
            <a:r>
              <a:rPr lang="zh-CN" altLang="en-US" dirty="0">
                <a:latin typeface="+mj-lt"/>
              </a:rPr>
              <a:t>操作流程</a:t>
            </a:r>
            <a:endParaRPr lang="en-US" dirty="0">
              <a:latin typeface="+mj-lt"/>
            </a:endParaRPr>
          </a:p>
        </p:txBody>
      </p:sp>
      <p:sp>
        <p:nvSpPr>
          <p:cNvPr id="56322" name="Content Placeholder 2"/>
          <p:cNvSpPr>
            <a:spLocks noGrp="1"/>
          </p:cNvSpPr>
          <p:nvPr>
            <p:ph idx="1"/>
          </p:nvPr>
        </p:nvSpPr>
        <p:spPr>
          <a:xfrm>
            <a:off x="457200" y="996949"/>
            <a:ext cx="8229600" cy="5725371"/>
          </a:xfrm>
        </p:spPr>
        <p:txBody>
          <a:bodyPr/>
          <a:lstStyle/>
          <a:p>
            <a:pPr>
              <a:spcBef>
                <a:spcPts val="0"/>
              </a:spcBef>
              <a:spcAft>
                <a:spcPts val="600"/>
              </a:spcAft>
            </a:pPr>
            <a:r>
              <a:rPr lang="zh-CN" altLang="en-US" sz="2800" dirty="0"/>
              <a:t>发生缓存缺失时：</a:t>
            </a:r>
            <a:endParaRPr lang="en-US" sz="28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查找</a:t>
            </a:r>
            <a:r>
              <a:rPr lang="en-US" kern="1200" dirty="0">
                <a:cs typeface="Calibri" panose="020F0502020204030204" pitchFamily="34" charset="0"/>
              </a:rPr>
              <a:t>MSHR</a:t>
            </a:r>
            <a:r>
              <a:rPr lang="zh-CN" altLang="en-US" kern="1200" dirty="0">
                <a:cs typeface="Calibri" panose="020F0502020204030204" pitchFamily="34" charset="0"/>
              </a:rPr>
              <a:t>看是否有</a:t>
            </a:r>
            <a:r>
              <a:rPr lang="zh-CN" altLang="en-US" kern="1200" dirty="0">
                <a:solidFill>
                  <a:srgbClr val="FF0000"/>
                </a:solidFill>
                <a:cs typeface="Calibri" panose="020F0502020204030204" pitchFamily="34" charset="0"/>
              </a:rPr>
              <a:t>其它处于等待状态的请求</a:t>
            </a:r>
            <a:r>
              <a:rPr lang="zh-CN" altLang="en-US" kern="1200" dirty="0">
                <a:cs typeface="Calibri" panose="020F0502020204030204" pitchFamily="34" charset="0"/>
              </a:rPr>
              <a:t>访问</a:t>
            </a:r>
            <a:r>
              <a:rPr lang="zh-CN" altLang="en-US" kern="1200" dirty="0">
                <a:solidFill>
                  <a:srgbClr val="FF0000"/>
                </a:solidFill>
                <a:cs typeface="Calibri" panose="020F0502020204030204" pitchFamily="34" charset="0"/>
              </a:rPr>
              <a:t>相同的</a:t>
            </a:r>
            <a:r>
              <a:rPr lang="en-US" altLang="zh-CN" kern="1200" dirty="0">
                <a:solidFill>
                  <a:srgbClr val="FF0000"/>
                </a:solidFill>
                <a:cs typeface="Calibri" panose="020F0502020204030204" pitchFamily="34" charset="0"/>
              </a:rPr>
              <a:t>block</a:t>
            </a:r>
            <a:r>
              <a:rPr lang="zh-CN" altLang="en-US" kern="1200" dirty="0">
                <a:cs typeface="Calibri" panose="020F0502020204030204" pitchFamily="34" charset="0"/>
              </a:rPr>
              <a:t>？</a:t>
            </a:r>
            <a:endParaRPr lang="en-US" kern="1200" dirty="0">
              <a:cs typeface="Calibri" panose="020F0502020204030204" pitchFamily="34" charset="0"/>
            </a:endParaRPr>
          </a:p>
          <a:p>
            <a:pPr marL="893763" lvl="2" indent="-266700">
              <a:spcBef>
                <a:spcPts val="0"/>
              </a:spcBef>
              <a:spcAft>
                <a:spcPts val="600"/>
              </a:spcAft>
              <a:buFont typeface="Arial" panose="020B0604020202020204" pitchFamily="34" charset="0"/>
              <a:buChar char="•"/>
            </a:pPr>
            <a:r>
              <a:rPr lang="zh-CN" altLang="en-US" sz="2000" dirty="0"/>
              <a:t>若找到：尝试在同一个</a:t>
            </a:r>
            <a:r>
              <a:rPr lang="en-US" altLang="zh-CN" sz="2000" dirty="0"/>
              <a:t>MSHR</a:t>
            </a:r>
            <a:r>
              <a:rPr lang="zh-CN" altLang="en-US" sz="2000" dirty="0"/>
              <a:t>条目里分配一个</a:t>
            </a:r>
            <a:r>
              <a:rPr lang="en-US" sz="2000" dirty="0"/>
              <a:t>load/store</a:t>
            </a:r>
            <a:r>
              <a:rPr lang="zh-CN" altLang="en-US" sz="2000" dirty="0"/>
              <a:t>条目；若没有空闲的</a:t>
            </a:r>
            <a:r>
              <a:rPr lang="en-US" altLang="zh-CN" sz="2000" dirty="0"/>
              <a:t>load/store</a:t>
            </a:r>
            <a:r>
              <a:rPr lang="zh-CN" altLang="en-US" sz="2000" dirty="0"/>
              <a:t>条目，则暂停 </a:t>
            </a:r>
            <a:r>
              <a:rPr lang="en-US" altLang="zh-CN" sz="2000" dirty="0"/>
              <a:t>— </a:t>
            </a:r>
            <a:r>
              <a:rPr lang="zh-CN" altLang="en-US" sz="2000" b="1" dirty="0"/>
              <a:t>结构冒险</a:t>
            </a:r>
            <a:r>
              <a:rPr lang="zh-CN" altLang="en-US" sz="2000" dirty="0"/>
              <a:t>；</a:t>
            </a:r>
            <a:endParaRPr lang="en-US" sz="2000" dirty="0"/>
          </a:p>
          <a:p>
            <a:pPr marL="893763" lvl="2" indent="-266700">
              <a:spcBef>
                <a:spcPts val="0"/>
              </a:spcBef>
              <a:spcAft>
                <a:spcPts val="600"/>
              </a:spcAft>
              <a:buFont typeface="Arial" panose="020B0604020202020204" pitchFamily="34" charset="0"/>
              <a:buChar char="•"/>
            </a:pPr>
            <a:r>
              <a:rPr lang="zh-CN" altLang="en-US" sz="2000" dirty="0"/>
              <a:t>若没找到：尝试分配一个新的</a:t>
            </a:r>
            <a:r>
              <a:rPr lang="en-US" sz="2000" dirty="0"/>
              <a:t>MSHR</a:t>
            </a:r>
            <a:r>
              <a:rPr lang="zh-CN" altLang="en-US" sz="2000" dirty="0"/>
              <a:t>条目；若没有空闲的</a:t>
            </a:r>
            <a:r>
              <a:rPr lang="en-US" altLang="zh-CN" sz="2000" dirty="0"/>
              <a:t>MSHR</a:t>
            </a:r>
            <a:r>
              <a:rPr lang="zh-CN" altLang="en-US" sz="2000" dirty="0"/>
              <a:t>，则暂停 </a:t>
            </a:r>
            <a:r>
              <a:rPr lang="en-US" sz="2000" dirty="0"/>
              <a:t>– </a:t>
            </a:r>
            <a:r>
              <a:rPr lang="zh-CN" altLang="en-US" sz="2000" b="1" dirty="0"/>
              <a:t>结构冒险</a:t>
            </a:r>
            <a:r>
              <a:rPr lang="zh-CN" altLang="en-US" sz="2000" dirty="0"/>
              <a:t>；</a:t>
            </a:r>
            <a:endParaRPr lang="en-US" sz="2000" dirty="0"/>
          </a:p>
          <a:p>
            <a:pPr>
              <a:spcBef>
                <a:spcPts val="0"/>
              </a:spcBef>
              <a:spcAft>
                <a:spcPts val="600"/>
              </a:spcAft>
            </a:pPr>
            <a:r>
              <a:rPr lang="zh-CN" altLang="en-US" sz="2800" dirty="0"/>
              <a:t>当一个</a:t>
            </a:r>
            <a:r>
              <a:rPr lang="en-US" sz="2800" dirty="0"/>
              <a:t>sub-block</a:t>
            </a:r>
            <a:r>
              <a:rPr lang="zh-CN" altLang="en-US" sz="2800" dirty="0"/>
              <a:t>从下一级存储器返回：</a:t>
            </a:r>
            <a:endParaRPr lang="en-US" sz="28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确定哪些</a:t>
            </a:r>
            <a:r>
              <a:rPr lang="en-US" kern="1200" dirty="0">
                <a:cs typeface="Calibri" panose="020F0502020204030204" pitchFamily="34" charset="0"/>
              </a:rPr>
              <a:t>loads/stores</a:t>
            </a:r>
            <a:r>
              <a:rPr lang="zh-CN" altLang="en-US" kern="1200" dirty="0">
                <a:cs typeface="Calibri" panose="020F0502020204030204" pitchFamily="34" charset="0"/>
              </a:rPr>
              <a:t>在等待该 </a:t>
            </a:r>
            <a:r>
              <a:rPr lang="en-US" altLang="zh-CN" kern="1200" dirty="0">
                <a:cs typeface="Calibri" panose="020F0502020204030204" pitchFamily="34" charset="0"/>
              </a:rPr>
              <a:t>sub-block</a:t>
            </a:r>
            <a:endParaRPr lang="en-US" kern="1200" dirty="0">
              <a:cs typeface="Calibri" panose="020F0502020204030204" pitchFamily="34" charset="0"/>
            </a:endParaRPr>
          </a:p>
          <a:p>
            <a:pPr marL="893763" lvl="2" indent="-266700">
              <a:spcBef>
                <a:spcPts val="0"/>
              </a:spcBef>
              <a:spcAft>
                <a:spcPts val="600"/>
              </a:spcAft>
              <a:buFont typeface="Arial" panose="020B0604020202020204" pitchFamily="34" charset="0"/>
              <a:buChar char="•"/>
            </a:pPr>
            <a:r>
              <a:rPr lang="zh-CN" altLang="en-US" sz="2000" dirty="0"/>
              <a:t>将</a:t>
            </a:r>
            <a:r>
              <a:rPr lang="en-US" altLang="zh-CN" sz="2000" dirty="0"/>
              <a:t>sub-block</a:t>
            </a:r>
            <a:r>
              <a:rPr lang="zh-CN" altLang="en-US" sz="2000" dirty="0"/>
              <a:t>传给相应的</a:t>
            </a:r>
            <a:r>
              <a:rPr lang="en-US" sz="2000" dirty="0"/>
              <a:t>load/store unit</a:t>
            </a:r>
          </a:p>
          <a:p>
            <a:pPr marL="893763" lvl="2" indent="-266700">
              <a:spcBef>
                <a:spcPts val="0"/>
              </a:spcBef>
              <a:spcAft>
                <a:spcPts val="600"/>
              </a:spcAft>
              <a:buFont typeface="Arial" panose="020B0604020202020204" pitchFamily="34" charset="0"/>
              <a:buChar char="•"/>
            </a:pPr>
            <a:r>
              <a:rPr lang="zh-CN" altLang="en-US" sz="2000" dirty="0"/>
              <a:t>释放</a:t>
            </a:r>
            <a:r>
              <a:rPr lang="en-US" altLang="zh-CN" sz="2000" dirty="0"/>
              <a:t>MSHR</a:t>
            </a:r>
            <a:r>
              <a:rPr lang="zh-CN" altLang="en-US" sz="2000" dirty="0"/>
              <a:t>条目中相应的</a:t>
            </a:r>
            <a:r>
              <a:rPr lang="en-US" sz="2000" dirty="0"/>
              <a:t>load/store</a:t>
            </a:r>
            <a:r>
              <a:rPr lang="zh-CN" altLang="en-US" sz="2000" dirty="0"/>
              <a:t>条目</a:t>
            </a:r>
            <a:endParaRPr lang="en-US" sz="20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将</a:t>
            </a:r>
            <a:r>
              <a:rPr lang="en-US" kern="1200" dirty="0">
                <a:cs typeface="Calibri" panose="020F0502020204030204" pitchFamily="34" charset="0"/>
              </a:rPr>
              <a:t>sub-block</a:t>
            </a:r>
            <a:r>
              <a:rPr lang="zh-CN" altLang="en-US" kern="1200" dirty="0">
                <a:cs typeface="Calibri" panose="020F0502020204030204" pitchFamily="34" charset="0"/>
              </a:rPr>
              <a:t>写到缓存</a:t>
            </a:r>
            <a:r>
              <a:rPr lang="zh-CN" altLang="en-US" b="1" kern="1200" dirty="0">
                <a:cs typeface="Calibri" panose="020F0502020204030204" pitchFamily="34" charset="0"/>
              </a:rPr>
              <a:t>或者</a:t>
            </a:r>
            <a:r>
              <a:rPr lang="en-US" kern="1200" dirty="0">
                <a:cs typeface="Calibri" panose="020F0502020204030204" pitchFamily="34" charset="0"/>
              </a:rPr>
              <a:t>MSHR</a:t>
            </a:r>
            <a:r>
              <a:rPr lang="zh-CN" altLang="en-US" kern="1200" dirty="0">
                <a:cs typeface="Calibri" panose="020F0502020204030204" pitchFamily="34" charset="0"/>
              </a:rPr>
              <a:t>中的</a:t>
            </a:r>
            <a:r>
              <a:rPr lang="en-US" altLang="zh-CN" kern="1200" dirty="0">
                <a:cs typeface="Calibri" panose="020F0502020204030204" pitchFamily="34" charset="0"/>
              </a:rPr>
              <a:t>data</a:t>
            </a:r>
            <a:r>
              <a:rPr lang="zh-CN" altLang="en-US" kern="1200" dirty="0">
                <a:cs typeface="Calibri" panose="020F0502020204030204" pitchFamily="34" charset="0"/>
              </a:rPr>
              <a:t>字段中</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若返回的是最后一个</a:t>
            </a:r>
            <a:r>
              <a:rPr lang="en-US" altLang="zh-CN" kern="1200" dirty="0">
                <a:cs typeface="Calibri" panose="020F0502020204030204" pitchFamily="34" charset="0"/>
              </a:rPr>
              <a:t>sub-block</a:t>
            </a:r>
            <a:r>
              <a:rPr lang="zh-CN" altLang="en-US" kern="1200" dirty="0">
                <a:cs typeface="Calibri" panose="020F0502020204030204" pitchFamily="34" charset="0"/>
              </a:rPr>
              <a:t>，在将子块写到缓存中，然后释放相应的</a:t>
            </a:r>
            <a:r>
              <a:rPr lang="en-US" altLang="zh-CN" kern="1200" dirty="0">
                <a:cs typeface="Calibri" panose="020F0502020204030204" pitchFamily="34" charset="0"/>
              </a:rPr>
              <a:t>MSHR</a:t>
            </a:r>
            <a:r>
              <a:rPr lang="zh-CN" altLang="en-US" kern="1200" dirty="0">
                <a:cs typeface="Calibri" panose="020F0502020204030204" pitchFamily="34" charset="0"/>
              </a:rPr>
              <a:t>条目。</a:t>
            </a:r>
            <a:endParaRPr lang="en-US" kern="1200" dirty="0">
              <a:cs typeface="Calibri" panose="020F0502020204030204" pitchFamily="34" charset="0"/>
            </a:endParaRPr>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13</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32797870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632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32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322">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32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322">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2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 </a:t>
            </a:r>
            <a:r>
              <a:rPr lang="zh-CN" altLang="en-US" dirty="0"/>
              <a:t>多</a:t>
            </a:r>
            <a:r>
              <a:rPr lang="en-US" altLang="zh-CN" dirty="0"/>
              <a:t>bank</a:t>
            </a:r>
            <a:r>
              <a:rPr lang="zh-CN" altLang="en-US" dirty="0"/>
              <a:t>架构提升缓存访问带宽</a:t>
            </a:r>
          </a:p>
        </p:txBody>
      </p:sp>
      <p:sp>
        <p:nvSpPr>
          <p:cNvPr id="3" name="内容占位符 2"/>
          <p:cNvSpPr>
            <a:spLocks noGrp="1"/>
          </p:cNvSpPr>
          <p:nvPr>
            <p:ph idx="1"/>
          </p:nvPr>
        </p:nvSpPr>
        <p:spPr/>
        <p:txBody>
          <a:bodyPr/>
          <a:lstStyle/>
          <a:p>
            <a:pPr>
              <a:spcBef>
                <a:spcPts val="600"/>
              </a:spcBef>
              <a:spcAft>
                <a:spcPts val="600"/>
              </a:spcAft>
            </a:pPr>
            <a:r>
              <a:rPr lang="zh-CN" altLang="en-US" dirty="0"/>
              <a:t>与其将缓存设计为单个整体块，不如将其划分为多个独立的存储体 </a:t>
            </a:r>
            <a:r>
              <a:rPr lang="en-US" altLang="zh-CN" dirty="0"/>
              <a:t>(Bank)</a:t>
            </a:r>
            <a:r>
              <a:rPr lang="zh-CN" altLang="en-US" dirty="0"/>
              <a:t>，以支持并行访问。</a:t>
            </a:r>
          </a:p>
          <a:p>
            <a:pPr marL="628650" lvl="1" indent="-265113" defTabSz="912813">
              <a:spcBef>
                <a:spcPts val="60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Arm Cortex-A8</a:t>
            </a:r>
            <a:r>
              <a:rPr lang="zh-CN" altLang="en-US" kern="1200" dirty="0">
                <a:cs typeface="Calibri" panose="020F0502020204030204" pitchFamily="34" charset="0"/>
              </a:rPr>
              <a:t>的二级缓存支持</a:t>
            </a:r>
            <a:r>
              <a:rPr lang="en-US" altLang="zh-CN" kern="1200" dirty="0">
                <a:cs typeface="Calibri" panose="020F0502020204030204" pitchFamily="34" charset="0"/>
              </a:rPr>
              <a:t>1</a:t>
            </a:r>
            <a:r>
              <a:rPr lang="zh-CN" altLang="en-US" kern="1200" dirty="0">
                <a:cs typeface="Calibri" panose="020F0502020204030204" pitchFamily="34" charset="0"/>
              </a:rPr>
              <a:t>到</a:t>
            </a:r>
            <a:r>
              <a:rPr lang="en-US" altLang="zh-CN" kern="1200" dirty="0">
                <a:cs typeface="Calibri" panose="020F0502020204030204" pitchFamily="34" charset="0"/>
              </a:rPr>
              <a:t>4</a:t>
            </a:r>
            <a:r>
              <a:rPr lang="zh-CN" altLang="en-US" kern="1200" dirty="0">
                <a:cs typeface="Calibri" panose="020F0502020204030204" pitchFamily="34" charset="0"/>
              </a:rPr>
              <a:t>个</a:t>
            </a:r>
            <a:r>
              <a:rPr lang="en-US" altLang="zh-CN" kern="1200" dirty="0">
                <a:cs typeface="Calibri" panose="020F0502020204030204" pitchFamily="34" charset="0"/>
              </a:rPr>
              <a:t>bank</a:t>
            </a:r>
            <a:r>
              <a:rPr lang="zh-CN" altLang="en-US" kern="1200" dirty="0">
                <a:cs typeface="Calibri" panose="020F0502020204030204" pitchFamily="34" charset="0"/>
              </a:rPr>
              <a:t>；</a:t>
            </a:r>
          </a:p>
          <a:p>
            <a:pPr marL="628650" lvl="1" indent="-265113" defTabSz="912813">
              <a:spcBef>
                <a:spcPts val="60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Intel Core i7</a:t>
            </a:r>
            <a:r>
              <a:rPr lang="zh-CN" altLang="en-US" kern="1200" dirty="0">
                <a:cs typeface="Calibri" panose="020F0502020204030204" pitchFamily="34" charset="0"/>
              </a:rPr>
              <a:t>的一级缓存有四个</a:t>
            </a:r>
            <a:r>
              <a:rPr lang="en-US" altLang="zh-CN" kern="1200" dirty="0">
                <a:cs typeface="Calibri" panose="020F0502020204030204" pitchFamily="34" charset="0"/>
              </a:rPr>
              <a:t>bank</a:t>
            </a:r>
            <a:r>
              <a:rPr lang="zh-CN" altLang="en-US" kern="1200" dirty="0">
                <a:cs typeface="Calibri" panose="020F0502020204030204" pitchFamily="34" charset="0"/>
              </a:rPr>
              <a:t>（以支持每个时钟周期最多 </a:t>
            </a:r>
            <a:r>
              <a:rPr lang="en-US" altLang="zh-CN" kern="1200" dirty="0">
                <a:cs typeface="Calibri" panose="020F0502020204030204" pitchFamily="34" charset="0"/>
              </a:rPr>
              <a:t>2 </a:t>
            </a:r>
            <a:r>
              <a:rPr lang="zh-CN" altLang="en-US" kern="1200" dirty="0">
                <a:cs typeface="Calibri" panose="020F0502020204030204" pitchFamily="34" charset="0"/>
              </a:rPr>
              <a:t>次缓存访问），二级缓存有八个</a:t>
            </a:r>
            <a:r>
              <a:rPr lang="en-US" altLang="zh-CN" kern="1200" dirty="0">
                <a:cs typeface="Calibri" panose="020F0502020204030204" pitchFamily="34" charset="0"/>
              </a:rPr>
              <a:t>bank</a:t>
            </a:r>
            <a:r>
              <a:rPr lang="zh-CN" altLang="en-US" kern="1200" dirty="0">
                <a:cs typeface="Calibri" panose="020F0502020204030204" pitchFamily="34" charset="0"/>
              </a:rPr>
              <a:t>。</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14</a:t>
            </a:fld>
            <a:endParaRPr lang="en-US" altLang="en-US"/>
          </a:p>
        </p:txBody>
      </p:sp>
    </p:spTree>
    <p:extLst>
      <p:ext uri="{BB962C8B-B14F-4D97-AF65-F5344CB8AC3E}">
        <p14:creationId xmlns:p14="http://schemas.microsoft.com/office/powerpoint/2010/main" val="1613523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顺序交叉映射</a:t>
            </a:r>
          </a:p>
        </p:txBody>
      </p:sp>
      <p:sp>
        <p:nvSpPr>
          <p:cNvPr id="3" name="内容占位符 2"/>
          <p:cNvSpPr>
            <a:spLocks noGrp="1"/>
          </p:cNvSpPr>
          <p:nvPr>
            <p:ph idx="1"/>
          </p:nvPr>
        </p:nvSpPr>
        <p:spPr/>
        <p:txBody>
          <a:bodyPr/>
          <a:lstStyle/>
          <a:p>
            <a:r>
              <a:rPr lang="zh-CN" altLang="en-US" dirty="0"/>
              <a:t>当访问对象连续地分布在各个</a:t>
            </a:r>
            <a:r>
              <a:rPr lang="en-US" altLang="zh-CN" dirty="0"/>
              <a:t>bank</a:t>
            </a:r>
            <a:r>
              <a:rPr lang="zh-CN" altLang="en-US" dirty="0"/>
              <a:t>上时，效果最佳。</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地址到存储体的映射 会 影响内存系统的行为</a:t>
            </a:r>
          </a:p>
          <a:p>
            <a:r>
              <a:rPr lang="zh-CN" altLang="en-US" dirty="0"/>
              <a:t>一种高效且简单的映射方法：</a:t>
            </a:r>
            <a:r>
              <a:rPr lang="zh-CN" altLang="en-US" dirty="0">
                <a:solidFill>
                  <a:srgbClr val="FF0000"/>
                </a:solidFill>
              </a:rPr>
              <a:t>顺序交叉</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将块地址按顺序分布在各个</a:t>
            </a:r>
            <a:r>
              <a:rPr lang="en-US" altLang="zh-CN" kern="1200" dirty="0">
                <a:cs typeface="Calibri" panose="020F0502020204030204" pitchFamily="34" charset="0"/>
              </a:rPr>
              <a:t>bank</a:t>
            </a:r>
            <a:r>
              <a:rPr lang="zh-CN" altLang="en-US" kern="1200" dirty="0">
                <a:cs typeface="Calibri" panose="020F0502020204030204" pitchFamily="34" charset="0"/>
              </a:rPr>
              <a:t>上</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例如，</a:t>
            </a:r>
            <a:r>
              <a:rPr lang="en-US" altLang="zh-CN" kern="1200" dirty="0">
                <a:cs typeface="Calibri" panose="020F0502020204030204" pitchFamily="34" charset="0"/>
              </a:rPr>
              <a:t>bank</a:t>
            </a:r>
            <a:r>
              <a:rPr lang="zh-CN" altLang="en-US" kern="1200" dirty="0">
                <a:cs typeface="Calibri" panose="020F0502020204030204" pitchFamily="34" charset="0"/>
              </a:rPr>
              <a:t> </a:t>
            </a:r>
            <a:r>
              <a:rPr lang="en-US" altLang="zh-CN" i="1" kern="1200" dirty="0" err="1">
                <a:cs typeface="Calibri" panose="020F0502020204030204" pitchFamily="34" charset="0"/>
              </a:rPr>
              <a:t>i</a:t>
            </a:r>
            <a:r>
              <a:rPr lang="en-US" altLang="zh-CN" i="1" kern="1200" dirty="0">
                <a:cs typeface="Calibri" panose="020F0502020204030204" pitchFamily="34" charset="0"/>
              </a:rPr>
              <a:t>  </a:t>
            </a:r>
            <a:r>
              <a:rPr lang="zh-CN" altLang="en-US" kern="1200" dirty="0">
                <a:cs typeface="Calibri" panose="020F0502020204030204" pitchFamily="34" charset="0"/>
              </a:rPr>
              <a:t>包含所有地址对 </a:t>
            </a:r>
            <a:r>
              <a:rPr lang="en-US" altLang="zh-CN" i="1" kern="1200" dirty="0">
                <a:cs typeface="Calibri" panose="020F0502020204030204" pitchFamily="34" charset="0"/>
              </a:rPr>
              <a:t>n </a:t>
            </a:r>
            <a:r>
              <a:rPr lang="zh-CN" altLang="en-US" kern="1200" dirty="0">
                <a:cs typeface="Calibri" panose="020F0502020204030204" pitchFamily="34" charset="0"/>
              </a:rPr>
              <a:t>取模等于 </a:t>
            </a:r>
            <a:r>
              <a:rPr lang="en-US" altLang="zh-CN" i="1" kern="1200" dirty="0" err="1">
                <a:cs typeface="Calibri" panose="020F0502020204030204" pitchFamily="34" charset="0"/>
              </a:rPr>
              <a:t>i</a:t>
            </a:r>
            <a:r>
              <a:rPr lang="en-US" altLang="zh-CN" kern="1200" dirty="0">
                <a:cs typeface="Calibri" panose="020F0502020204030204" pitchFamily="34" charset="0"/>
              </a:rPr>
              <a:t>  </a:t>
            </a:r>
            <a:r>
              <a:rPr lang="zh-CN" altLang="en-US" kern="1200" dirty="0">
                <a:cs typeface="Calibri" panose="020F0502020204030204" pitchFamily="34" charset="0"/>
              </a:rPr>
              <a:t>的块</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15</a:t>
            </a:fld>
            <a:endParaRPr lang="en-US" altLang="en-US"/>
          </a:p>
        </p:txBody>
      </p:sp>
      <p:pic>
        <p:nvPicPr>
          <p:cNvPr id="5" name="图片 4"/>
          <p:cNvPicPr>
            <a:picLocks noChangeAspect="1"/>
          </p:cNvPicPr>
          <p:nvPr/>
        </p:nvPicPr>
        <p:blipFill>
          <a:blip r:embed="rId2"/>
          <a:stretch>
            <a:fillRect/>
          </a:stretch>
        </p:blipFill>
        <p:spPr>
          <a:xfrm>
            <a:off x="161925" y="4191000"/>
            <a:ext cx="8820150" cy="1638300"/>
          </a:xfrm>
          <a:prstGeom prst="rect">
            <a:avLst/>
          </a:prstGeom>
        </p:spPr>
      </p:pic>
    </p:spTree>
    <p:extLst>
      <p:ext uri="{BB962C8B-B14F-4D97-AF65-F5344CB8AC3E}">
        <p14:creationId xmlns:p14="http://schemas.microsoft.com/office/powerpoint/2010/main" val="358102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 Early start &amp; Critical word first</a:t>
            </a:r>
            <a:endParaRPr lang="zh-CN" altLang="en-US" dirty="0"/>
          </a:p>
        </p:txBody>
      </p:sp>
      <p:sp>
        <p:nvSpPr>
          <p:cNvPr id="3" name="内容占位符 2"/>
          <p:cNvSpPr>
            <a:spLocks noGrp="1"/>
          </p:cNvSpPr>
          <p:nvPr>
            <p:ph idx="1"/>
          </p:nvPr>
        </p:nvSpPr>
        <p:spPr/>
        <p:txBody>
          <a:bodyPr/>
          <a:lstStyle/>
          <a:p>
            <a:r>
              <a:rPr lang="zh-CN" altLang="en-US" dirty="0"/>
              <a:t>缓存访问缺失时，不要等整个缓存块都准备好再重启 </a:t>
            </a:r>
            <a:r>
              <a:rPr lang="en-US" altLang="zh-CN" dirty="0"/>
              <a:t>CPU</a:t>
            </a:r>
            <a:r>
              <a:rPr lang="zh-CN" altLang="en-US" dirty="0"/>
              <a:t>。</a:t>
            </a:r>
          </a:p>
          <a:p>
            <a:r>
              <a:rPr lang="zh-CN" altLang="en-US" b="1" dirty="0"/>
              <a:t>关键字优先：</a:t>
            </a:r>
            <a:r>
              <a:rPr lang="zh-CN" altLang="en-US" dirty="0">
                <a:solidFill>
                  <a:srgbClr val="FF0000"/>
                </a:solidFill>
              </a:rPr>
              <a:t>优先</a:t>
            </a:r>
            <a:r>
              <a:rPr lang="zh-CN" altLang="en-US" dirty="0"/>
              <a:t>从内存</a:t>
            </a:r>
            <a:r>
              <a:rPr lang="zh-CN" altLang="en-US" dirty="0">
                <a:solidFill>
                  <a:srgbClr val="FF0000"/>
                </a:solidFill>
              </a:rPr>
              <a:t>请求缺失的字</a:t>
            </a:r>
            <a:r>
              <a:rPr lang="zh-CN" altLang="en-US" dirty="0"/>
              <a:t>，立即将其发送到 </a:t>
            </a:r>
            <a:r>
              <a:rPr lang="en-US" altLang="zh-CN" dirty="0"/>
              <a:t>CPU</a:t>
            </a:r>
            <a:r>
              <a:rPr lang="zh-CN" altLang="en-US" dirty="0"/>
              <a:t>；在填充块的其余部分时，让 </a:t>
            </a:r>
            <a:r>
              <a:rPr lang="en-US" altLang="zh-CN" dirty="0"/>
              <a:t>CPU </a:t>
            </a:r>
            <a:r>
              <a:rPr lang="zh-CN" altLang="en-US" dirty="0"/>
              <a:t>继续运行。</a:t>
            </a:r>
          </a:p>
          <a:p>
            <a:r>
              <a:rPr lang="zh-CN" altLang="en-US" b="1" dirty="0"/>
              <a:t>提前重启：</a:t>
            </a:r>
            <a:r>
              <a:rPr lang="zh-CN" altLang="en-US" dirty="0"/>
              <a:t>一旦缓存块中被请求的字到达，就立即发送到 </a:t>
            </a:r>
            <a:r>
              <a:rPr lang="en-US" altLang="zh-CN" dirty="0"/>
              <a:t>CPU </a:t>
            </a:r>
            <a:r>
              <a:rPr lang="zh-CN" altLang="en-US"/>
              <a:t>，让其继续执行，不用等待。</a:t>
            </a:r>
            <a:endParaRPr lang="en-US" altLang="zh-CN" dirty="0"/>
          </a:p>
          <a:p>
            <a:r>
              <a:rPr lang="zh-CN" altLang="en-US" dirty="0"/>
              <a:t>这</a:t>
            </a:r>
            <a:r>
              <a:rPr lang="en-US" altLang="zh-CN" dirty="0"/>
              <a:t>2</a:t>
            </a:r>
            <a:r>
              <a:rPr lang="zh-CN" altLang="en-US" dirty="0"/>
              <a:t>个技术更适用于大的</a:t>
            </a:r>
            <a:r>
              <a:rPr lang="en-US" altLang="zh-CN" dirty="0"/>
              <a:t>block size</a:t>
            </a:r>
            <a:r>
              <a:rPr lang="zh-CN" altLang="en-US" dirty="0"/>
              <a:t>设置，在局部性较好的访存模式下，非常高效。</a:t>
            </a:r>
          </a:p>
          <a:p>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16</a:t>
            </a:fld>
            <a:endParaRPr lang="en-US" altLang="en-US"/>
          </a:p>
        </p:txBody>
      </p:sp>
      <p:pic>
        <p:nvPicPr>
          <p:cNvPr id="5" name="图片 4"/>
          <p:cNvPicPr>
            <a:picLocks noChangeAspect="1"/>
          </p:cNvPicPr>
          <p:nvPr/>
        </p:nvPicPr>
        <p:blipFill>
          <a:blip r:embed="rId3"/>
          <a:stretch>
            <a:fillRect/>
          </a:stretch>
        </p:blipFill>
        <p:spPr>
          <a:xfrm>
            <a:off x="990600" y="5622507"/>
            <a:ext cx="4800600" cy="888677"/>
          </a:xfrm>
          <a:prstGeom prst="rect">
            <a:avLst/>
          </a:prstGeom>
        </p:spPr>
      </p:pic>
    </p:spTree>
    <p:extLst>
      <p:ext uri="{BB962C8B-B14F-4D97-AF65-F5344CB8AC3E}">
        <p14:creationId xmlns:p14="http://schemas.microsoft.com/office/powerpoint/2010/main" val="238877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 </a:t>
            </a:r>
            <a:r>
              <a:rPr lang="zh-CN" altLang="en-US" dirty="0"/>
              <a:t>使用写缓冲</a:t>
            </a:r>
            <a:r>
              <a:rPr lang="zh-CN" altLang="en-US" b="1" dirty="0"/>
              <a:t>聚合</a:t>
            </a:r>
            <a:r>
              <a:rPr lang="zh-CN" altLang="en-US" dirty="0"/>
              <a:t>写操作</a:t>
            </a:r>
          </a:p>
        </p:txBody>
      </p:sp>
      <p:sp>
        <p:nvSpPr>
          <p:cNvPr id="3" name="内容占位符 2"/>
          <p:cNvSpPr>
            <a:spLocks noGrp="1"/>
          </p:cNvSpPr>
          <p:nvPr>
            <p:ph idx="1"/>
          </p:nvPr>
        </p:nvSpPr>
        <p:spPr>
          <a:xfrm>
            <a:off x="457200" y="1104899"/>
            <a:ext cx="8229600" cy="5617421"/>
          </a:xfrm>
        </p:spPr>
        <p:txBody>
          <a:bodyPr/>
          <a:lstStyle/>
          <a:p>
            <a:r>
              <a:rPr lang="zh-CN" altLang="en-US" dirty="0"/>
              <a:t>写缓冲 </a:t>
            </a:r>
            <a:r>
              <a:rPr lang="en-US" altLang="zh-CN" dirty="0"/>
              <a:t>(WB) </a:t>
            </a:r>
            <a:r>
              <a:rPr lang="zh-CN" altLang="en-US" dirty="0"/>
              <a:t>可以使</a:t>
            </a:r>
            <a:r>
              <a:rPr lang="en-US" altLang="zh-CN" dirty="0"/>
              <a:t>CPU</a:t>
            </a:r>
            <a:r>
              <a:rPr lang="zh-CN" altLang="en-US" dirty="0"/>
              <a:t>不用等待写操作完成，也能继续执行任务。</a:t>
            </a:r>
            <a:endParaRPr lang="en-US" altLang="zh-CN" dirty="0"/>
          </a:p>
          <a:p>
            <a:r>
              <a:rPr lang="en-US" altLang="zh-CN" dirty="0"/>
              <a:t>WB</a:t>
            </a:r>
            <a:r>
              <a:rPr lang="zh-CN" altLang="en-US" dirty="0"/>
              <a:t>合并写操作：</a:t>
            </a:r>
            <a:endParaRPr lang="en-US" altLang="zh-CN"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若缓冲中包含已修改的块，可通过检查地址来判断新数据是否与某一写缓冲条目（的数据）匹配。</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若匹配，则将新数据与该条目（的数据）合并。</a:t>
            </a:r>
            <a:endParaRPr lang="en-US" altLang="zh-CN"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endParaRPr lang="en-US" altLang="zh-CN"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endParaRPr lang="en-US" altLang="zh-CN"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endParaRPr lang="en-US" altLang="zh-CN"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endParaRPr lang="en-US" altLang="zh-CN" kern="1200" dirty="0">
              <a:cs typeface="Calibri" panose="020F0502020204030204" pitchFamily="34" charset="0"/>
            </a:endParaRPr>
          </a:p>
          <a:p>
            <a:r>
              <a:rPr lang="zh-CN" altLang="en-US" dirty="0"/>
              <a:t>对于</a:t>
            </a:r>
            <a:r>
              <a:rPr lang="zh-CN" altLang="en-US" b="1" dirty="0"/>
              <a:t>写直达缓存</a:t>
            </a:r>
            <a:r>
              <a:rPr lang="zh-CN" altLang="en-US" dirty="0"/>
              <a:t>中的顺序写操作，增大缓存块大小会更高效。</a:t>
            </a:r>
          </a:p>
          <a:p>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17</a:t>
            </a:fld>
            <a:endParaRPr lang="en-US" altLang="en-US"/>
          </a:p>
        </p:txBody>
      </p:sp>
      <p:pic>
        <p:nvPicPr>
          <p:cNvPr id="5" name="图片 4"/>
          <p:cNvPicPr>
            <a:picLocks noChangeAspect="1"/>
          </p:cNvPicPr>
          <p:nvPr/>
        </p:nvPicPr>
        <p:blipFill>
          <a:blip r:embed="rId2"/>
          <a:stretch>
            <a:fillRect/>
          </a:stretch>
        </p:blipFill>
        <p:spPr>
          <a:xfrm>
            <a:off x="1143000" y="3733800"/>
            <a:ext cx="5105400" cy="1870207"/>
          </a:xfrm>
          <a:prstGeom prst="rect">
            <a:avLst/>
          </a:prstGeom>
        </p:spPr>
      </p:pic>
    </p:spTree>
    <p:extLst>
      <p:ext uri="{BB962C8B-B14F-4D97-AF65-F5344CB8AC3E}">
        <p14:creationId xmlns:p14="http://schemas.microsoft.com/office/powerpoint/2010/main" val="73280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写缓冲示例</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18</a:t>
            </a:fld>
            <a:endParaRPr lang="en-US" altLang="en-US"/>
          </a:p>
        </p:txBody>
      </p:sp>
      <p:pic>
        <p:nvPicPr>
          <p:cNvPr id="5" name="图片 4"/>
          <p:cNvPicPr>
            <a:picLocks noChangeAspect="1"/>
          </p:cNvPicPr>
          <p:nvPr/>
        </p:nvPicPr>
        <p:blipFill>
          <a:blip r:embed="rId2"/>
          <a:stretch>
            <a:fillRect/>
          </a:stretch>
        </p:blipFill>
        <p:spPr>
          <a:xfrm>
            <a:off x="723900" y="1099056"/>
            <a:ext cx="7696200" cy="5495925"/>
          </a:xfrm>
          <a:prstGeom prst="rect">
            <a:avLst/>
          </a:prstGeom>
        </p:spPr>
      </p:pic>
    </p:spTree>
    <p:extLst>
      <p:ext uri="{BB962C8B-B14F-4D97-AF65-F5344CB8AC3E}">
        <p14:creationId xmlns:p14="http://schemas.microsoft.com/office/powerpoint/2010/main" val="2776389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a:xfrm>
            <a:off x="457200" y="268288"/>
            <a:ext cx="8229600" cy="722312"/>
          </a:xfrm>
        </p:spPr>
        <p:txBody>
          <a:bodyPr/>
          <a:lstStyle/>
          <a:p>
            <a:r>
              <a:rPr lang="en-US" altLang="zh-CN" dirty="0">
                <a:latin typeface="+mj-lt"/>
              </a:rPr>
              <a:t>8. </a:t>
            </a:r>
            <a:r>
              <a:rPr lang="zh-CN" altLang="en-US" dirty="0">
                <a:latin typeface="+mj-lt"/>
              </a:rPr>
              <a:t>基于编译器的优化方法</a:t>
            </a:r>
            <a:endParaRPr lang="en-US" dirty="0">
              <a:latin typeface="+mj-lt"/>
            </a:endParaRPr>
          </a:p>
        </p:txBody>
      </p:sp>
      <p:sp>
        <p:nvSpPr>
          <p:cNvPr id="95234" name="Content Placeholder 2"/>
          <p:cNvSpPr>
            <a:spLocks noGrp="1"/>
          </p:cNvSpPr>
          <p:nvPr>
            <p:ph idx="1"/>
          </p:nvPr>
        </p:nvSpPr>
        <p:spPr>
          <a:xfrm>
            <a:off x="457200" y="1073150"/>
            <a:ext cx="8229600" cy="4718050"/>
          </a:xfrm>
        </p:spPr>
        <p:txBody>
          <a:bodyPr/>
          <a:lstStyle/>
          <a:p>
            <a:pPr>
              <a:lnSpc>
                <a:spcPts val="3600"/>
              </a:lnSpc>
              <a:spcBef>
                <a:spcPts val="600"/>
              </a:spcBef>
              <a:spcAft>
                <a:spcPts val="600"/>
              </a:spcAft>
            </a:pPr>
            <a:r>
              <a:rPr lang="zh-CN" altLang="en-US" sz="2800" dirty="0"/>
              <a:t>重构数据访问特征</a:t>
            </a:r>
            <a:endParaRPr lang="en-US" sz="2800" dirty="0"/>
          </a:p>
          <a:p>
            <a:pPr>
              <a:lnSpc>
                <a:spcPts val="3600"/>
              </a:lnSpc>
              <a:spcBef>
                <a:spcPts val="600"/>
              </a:spcBef>
              <a:spcAft>
                <a:spcPts val="600"/>
              </a:spcAft>
            </a:pPr>
            <a:r>
              <a:rPr lang="zh-CN" altLang="en-US" sz="2800" dirty="0"/>
              <a:t>重构数据在存储中的布局</a:t>
            </a:r>
            <a:endParaRPr lang="en-US" sz="2800" dirty="0"/>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Loop interchange</a:t>
            </a:r>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Data structure separation/merging</a:t>
            </a:r>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Loop fusion</a:t>
            </a:r>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Loop Blocking</a:t>
            </a:r>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a:t>
            </a:r>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1455352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p:cNvSpPr>
            <a:spLocks noGrp="1"/>
          </p:cNvSpPr>
          <p:nvPr>
            <p:ph type="title"/>
          </p:nvPr>
        </p:nvSpPr>
        <p:spPr>
          <a:xfrm>
            <a:off x="457200" y="268288"/>
            <a:ext cx="8229600" cy="722312"/>
          </a:xfrm>
        </p:spPr>
        <p:txBody>
          <a:bodyPr/>
          <a:lstStyle/>
          <a:p>
            <a:r>
              <a:rPr lang="en-US" altLang="zh-CN" dirty="0">
                <a:latin typeface="+mj-lt"/>
              </a:rPr>
              <a:t>① Loop Interchange</a:t>
            </a:r>
            <a:endParaRPr lang="en-US" dirty="0">
              <a:latin typeface="+mj-lt"/>
            </a:endParaRPr>
          </a:p>
        </p:txBody>
      </p:sp>
      <p:sp>
        <p:nvSpPr>
          <p:cNvPr id="3" name="Content Placeholder 2"/>
          <p:cNvSpPr>
            <a:spLocks noGrp="1"/>
          </p:cNvSpPr>
          <p:nvPr>
            <p:ph idx="1"/>
          </p:nvPr>
        </p:nvSpPr>
        <p:spPr>
          <a:xfrm>
            <a:off x="457201" y="996950"/>
            <a:ext cx="8229600" cy="5528394"/>
          </a:xfrm>
        </p:spPr>
        <p:txBody>
          <a:bodyPr/>
          <a:lstStyle/>
          <a:p>
            <a:pPr>
              <a:spcBef>
                <a:spcPts val="0"/>
              </a:spcBef>
              <a:spcAft>
                <a:spcPts val="600"/>
              </a:spcAft>
            </a:pPr>
            <a:r>
              <a:rPr lang="zh-CN" altLang="en-US" sz="2800" dirty="0"/>
              <a:t>示例</a:t>
            </a:r>
            <a:r>
              <a:rPr lang="en-US" sz="2800" dirty="0"/>
              <a:t>: </a:t>
            </a:r>
            <a:r>
              <a:rPr lang="zh-CN" altLang="en-US" sz="2800" dirty="0"/>
              <a:t>如果是</a:t>
            </a:r>
            <a:r>
              <a:rPr lang="zh-CN" altLang="en-US" sz="2800" b="1" dirty="0"/>
              <a:t>列式存储</a:t>
            </a:r>
            <a:endParaRPr lang="en-US" sz="2800" b="1" dirty="0"/>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x[i+1,j] </a:t>
            </a:r>
            <a:r>
              <a:rPr lang="zh-CN" altLang="en-US" kern="1200" dirty="0">
                <a:cs typeface="Calibri" panose="020F0502020204030204" pitchFamily="34" charset="0"/>
              </a:rPr>
              <a:t>在内存中位于</a:t>
            </a:r>
            <a:r>
              <a:rPr lang="en-US" kern="1200" dirty="0">
                <a:cs typeface="Calibri" panose="020F0502020204030204" pitchFamily="34" charset="0"/>
              </a:rPr>
              <a:t> x[</a:t>
            </a:r>
            <a:r>
              <a:rPr lang="en-US" kern="1200" dirty="0" err="1">
                <a:cs typeface="Calibri" panose="020F0502020204030204" pitchFamily="34" charset="0"/>
              </a:rPr>
              <a:t>i,j</a:t>
            </a:r>
            <a:r>
              <a:rPr lang="en-US" kern="1200" dirty="0">
                <a:cs typeface="Calibri" panose="020F0502020204030204" pitchFamily="34" charset="0"/>
              </a:rPr>
              <a:t>] </a:t>
            </a:r>
            <a:r>
              <a:rPr lang="zh-CN" altLang="en-US" kern="1200" dirty="0">
                <a:cs typeface="Calibri" panose="020F0502020204030204" pitchFamily="34" charset="0"/>
              </a:rPr>
              <a:t>之后</a:t>
            </a:r>
            <a:endParaRPr lang="en-US" kern="1200" dirty="0">
              <a:cs typeface="Calibri" panose="020F0502020204030204" pitchFamily="34" charset="0"/>
            </a:endParaRPr>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x[i,j+1] </a:t>
            </a:r>
            <a:r>
              <a:rPr lang="zh-CN" altLang="en-US" kern="1200" dirty="0">
                <a:cs typeface="Calibri" panose="020F0502020204030204" pitchFamily="34" charset="0"/>
              </a:rPr>
              <a:t>在内存中距离 </a:t>
            </a:r>
            <a:r>
              <a:rPr lang="en-US" kern="1200" dirty="0">
                <a:cs typeface="Calibri" panose="020F0502020204030204" pitchFamily="34" charset="0"/>
              </a:rPr>
              <a:t>x[</a:t>
            </a:r>
            <a:r>
              <a:rPr lang="en-US" kern="1200" dirty="0" err="1">
                <a:cs typeface="Calibri" panose="020F0502020204030204" pitchFamily="34" charset="0"/>
              </a:rPr>
              <a:t>i,j</a:t>
            </a:r>
            <a:r>
              <a:rPr lang="en-US" kern="1200" dirty="0">
                <a:cs typeface="Calibri" panose="020F0502020204030204" pitchFamily="34" charset="0"/>
              </a:rPr>
              <a:t>] </a:t>
            </a:r>
            <a:r>
              <a:rPr lang="zh-CN" altLang="en-US" kern="1200" dirty="0">
                <a:cs typeface="Calibri" panose="020F0502020204030204" pitchFamily="34" charset="0"/>
              </a:rPr>
              <a:t>较远</a:t>
            </a:r>
            <a:endParaRPr lang="en-US" kern="1200" dirty="0">
              <a:cs typeface="Calibri" panose="020F0502020204030204" pitchFamily="34" charset="0"/>
            </a:endParaRPr>
          </a:p>
          <a:p>
            <a:pPr marL="457200" lvl="1" indent="0">
              <a:spcBef>
                <a:spcPts val="0"/>
              </a:spcBef>
              <a:spcAft>
                <a:spcPts val="600"/>
              </a:spcAft>
              <a:buNone/>
            </a:pPr>
            <a:endParaRPr lang="en-US" dirty="0"/>
          </a:p>
          <a:p>
            <a:pPr lvl="1">
              <a:spcBef>
                <a:spcPts val="0"/>
              </a:spcBef>
              <a:spcAft>
                <a:spcPts val="600"/>
              </a:spcAft>
            </a:pPr>
            <a:endParaRPr lang="en-US" dirty="0"/>
          </a:p>
          <a:p>
            <a:pPr lvl="1">
              <a:spcBef>
                <a:spcPts val="0"/>
              </a:spcBef>
              <a:spcAft>
                <a:spcPts val="600"/>
              </a:spcAft>
            </a:pPr>
            <a:endParaRPr lang="en-US" dirty="0"/>
          </a:p>
          <a:p>
            <a:pPr marL="457200" lvl="1" indent="0">
              <a:spcBef>
                <a:spcPts val="0"/>
              </a:spcBef>
              <a:spcAft>
                <a:spcPts val="600"/>
              </a:spcAft>
              <a:buNone/>
            </a:pPr>
            <a:endParaRPr lang="en-US" dirty="0"/>
          </a:p>
          <a:p>
            <a:pPr marL="457200" lvl="1" indent="0">
              <a:spcBef>
                <a:spcPts val="0"/>
              </a:spcBef>
              <a:spcAft>
                <a:spcPts val="600"/>
              </a:spcAft>
              <a:buNone/>
            </a:pPr>
            <a:endParaRPr lang="en-US" dirty="0"/>
          </a:p>
          <a:p>
            <a:pPr marL="457200" lvl="1" indent="0">
              <a:spcBef>
                <a:spcPts val="0"/>
              </a:spcBef>
              <a:spcAft>
                <a:spcPts val="600"/>
              </a:spcAft>
              <a:buNone/>
            </a:pPr>
            <a:endParaRPr lang="en-US" dirty="0"/>
          </a:p>
          <a:p>
            <a:pPr>
              <a:spcBef>
                <a:spcPts val="0"/>
              </a:spcBef>
              <a:spcAft>
                <a:spcPts val="600"/>
              </a:spcAft>
            </a:pPr>
            <a:r>
              <a:rPr lang="zh-CN" altLang="en-US" sz="2800" dirty="0"/>
              <a:t>这个方法叫：</a:t>
            </a:r>
            <a:r>
              <a:rPr lang="en-US" sz="2800" dirty="0">
                <a:solidFill>
                  <a:srgbClr val="FF0000"/>
                </a:solidFill>
              </a:rPr>
              <a:t>loop interchange</a:t>
            </a:r>
          </a:p>
        </p:txBody>
      </p:sp>
      <p:sp>
        <p:nvSpPr>
          <p:cNvPr id="4" name="灯片编号占位符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20</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
        <p:nvSpPr>
          <p:cNvPr id="5" name="TextBox 4"/>
          <p:cNvSpPr txBox="1">
            <a:spLocks noChangeArrowheads="1"/>
          </p:cNvSpPr>
          <p:nvPr/>
        </p:nvSpPr>
        <p:spPr bwMode="auto">
          <a:xfrm>
            <a:off x="671513" y="3781425"/>
            <a:ext cx="30353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Poor code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for i = 1, rows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for j = 1, columns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sum = sum + x[</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i,j</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p:txBody>
      </p:sp>
      <p:sp>
        <p:nvSpPr>
          <p:cNvPr id="6" name="TextBox 5"/>
          <p:cNvSpPr txBox="1">
            <a:spLocks noChangeArrowheads="1"/>
          </p:cNvSpPr>
          <p:nvPr/>
        </p:nvSpPr>
        <p:spPr bwMode="auto">
          <a:xfrm>
            <a:off x="4525963" y="3781425"/>
            <a:ext cx="3878262"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sz="2400">
                <a:solidFill>
                  <a:schemeClr val="tx1"/>
                </a:solidFill>
                <a:latin typeface="Arial" charset="0"/>
                <a:ea typeface="ＭＳ Ｐゴシック" charset="0"/>
                <a:cs typeface="ＭＳ Ｐゴシック" charset="0"/>
              </a:defRPr>
            </a:lvl1pPr>
            <a:lvl2pPr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457200" marR="0" lvl="1"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Better code			</a:t>
            </a:r>
          </a:p>
          <a:p>
            <a:pPr marL="457200" marR="0" lvl="1" indent="0" algn="l" defTabSz="914400" rtl="0" eaLnBrk="1" fontAlgn="base" latinLnBrk="0" hangingPunct="1">
              <a:lnSpc>
                <a:spcPct val="100000"/>
              </a:lnSpc>
              <a:spcBef>
                <a:spcPct val="0"/>
              </a:spcBef>
              <a:spcAft>
                <a:spcPct val="0"/>
              </a:spcAft>
              <a:buClrTx/>
              <a:buSzTx/>
              <a:buFont typeface="ZapfDingbats" charset="0"/>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for j = 1, columns</a:t>
            </a:r>
          </a:p>
          <a:p>
            <a:pPr marL="457200" marR="0" lvl="1" indent="0" algn="l" defTabSz="914400" rtl="0" eaLnBrk="1" fontAlgn="base" latinLnBrk="0" hangingPunct="1">
              <a:lnSpc>
                <a:spcPct val="100000"/>
              </a:lnSpc>
              <a:spcBef>
                <a:spcPct val="0"/>
              </a:spcBef>
              <a:spcAft>
                <a:spcPct val="0"/>
              </a:spcAft>
              <a:buClrTx/>
              <a:buSzTx/>
              <a:buFont typeface="ZapfDingbats" charset="0"/>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for i = 1, rows</a:t>
            </a:r>
          </a:p>
          <a:p>
            <a:pPr marL="457200" marR="0" lvl="1" indent="0" algn="l" defTabSz="914400" rtl="0" eaLnBrk="1" fontAlgn="base" latinLnBrk="0" hangingPunct="1">
              <a:lnSpc>
                <a:spcPct val="100000"/>
              </a:lnSpc>
              <a:spcBef>
                <a:spcPct val="0"/>
              </a:spcBef>
              <a:spcAft>
                <a:spcPct val="0"/>
              </a:spcAft>
              <a:buClrTx/>
              <a:buSzTx/>
              <a:buFont typeface="ZapfDingbats" charset="0"/>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sum = sum + x[</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i,j</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p:txBody>
      </p:sp>
      <p:sp>
        <p:nvSpPr>
          <p:cNvPr id="2" name="文本框 1">
            <a:extLst>
              <a:ext uri="{FF2B5EF4-FFF2-40B4-BE49-F238E27FC236}">
                <a16:creationId xmlns:a16="http://schemas.microsoft.com/office/drawing/2014/main" id="{7875504B-89F6-48C9-ADDF-2F9FFED6CF2B}"/>
              </a:ext>
            </a:extLst>
          </p:cNvPr>
          <p:cNvSpPr txBox="1"/>
          <p:nvPr/>
        </p:nvSpPr>
        <p:spPr>
          <a:xfrm>
            <a:off x="1143000" y="6064564"/>
            <a:ext cx="1144865" cy="52322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800" b="0" i="0" u="none" strike="noStrike" kern="1200" cap="none" spc="0" normalizeH="0" baseline="0" noProof="0" dirty="0">
                <a:ln>
                  <a:noFill/>
                </a:ln>
                <a:solidFill>
                  <a:prstClr val="black"/>
                </a:solidFill>
                <a:effectLst/>
                <a:uLnTx/>
                <a:uFillTx/>
                <a:latin typeface="Arial" charset="0"/>
                <a:ea typeface="ＭＳ Ｐゴシック" pitchFamily="34" charset="-128"/>
                <a:cs typeface="+mn-cs"/>
                <a:hlinkClick r:id="rId2"/>
              </a:rPr>
              <a:t>Demo</a:t>
            </a:r>
            <a:endParaRPr kumimoji="0" lang="zh-CN" altLang="en-US" sz="2800" b="0"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p:txBody>
      </p:sp>
      <p:pic>
        <p:nvPicPr>
          <p:cNvPr id="7" name="图片 6"/>
          <p:cNvPicPr>
            <a:picLocks noChangeAspect="1"/>
          </p:cNvPicPr>
          <p:nvPr/>
        </p:nvPicPr>
        <p:blipFill>
          <a:blip r:embed="rId3"/>
          <a:stretch>
            <a:fillRect/>
          </a:stretch>
        </p:blipFill>
        <p:spPr>
          <a:xfrm>
            <a:off x="5753100" y="985614"/>
            <a:ext cx="3162300" cy="2733371"/>
          </a:xfrm>
          <a:prstGeom prst="rect">
            <a:avLst/>
          </a:prstGeom>
        </p:spPr>
      </p:pic>
    </p:spTree>
    <p:extLst>
      <p:ext uri="{BB962C8B-B14F-4D97-AF65-F5344CB8AC3E}">
        <p14:creationId xmlns:p14="http://schemas.microsoft.com/office/powerpoint/2010/main" val="4422934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a:xfrm>
            <a:off x="457200" y="268288"/>
            <a:ext cx="8229600" cy="722312"/>
          </a:xfrm>
        </p:spPr>
        <p:txBody>
          <a:bodyPr/>
          <a:lstStyle/>
          <a:p>
            <a:r>
              <a:rPr lang="en-US" altLang="zh-CN" dirty="0">
                <a:latin typeface="+mj-lt"/>
              </a:rPr>
              <a:t>② Array merging/splitting (1)</a:t>
            </a:r>
            <a:endParaRPr lang="en-US" dirty="0">
              <a:latin typeface="+mj-lt"/>
            </a:endParaRPr>
          </a:p>
        </p:txBody>
      </p:sp>
      <p:sp>
        <p:nvSpPr>
          <p:cNvPr id="3" name="Content Placeholder 2"/>
          <p:cNvSpPr>
            <a:spLocks noGrp="1"/>
          </p:cNvSpPr>
          <p:nvPr>
            <p:ph idx="1"/>
          </p:nvPr>
        </p:nvSpPr>
        <p:spPr>
          <a:xfrm>
            <a:off x="4546724" y="996950"/>
            <a:ext cx="4417763" cy="5240362"/>
          </a:xfrm>
        </p:spPr>
        <p:txBody>
          <a:bodyPr/>
          <a:lstStyle/>
          <a:p>
            <a:pPr>
              <a:spcBef>
                <a:spcPts val="0"/>
              </a:spcBef>
              <a:spcAft>
                <a:spcPts val="600"/>
              </a:spcAft>
            </a:pPr>
            <a:r>
              <a:rPr lang="zh-CN" altLang="en-US" sz="2800" dirty="0">
                <a:latin typeface="+mj-lt"/>
              </a:rPr>
              <a:t>基于指针的数据访问        </a:t>
            </a:r>
            <a:endParaRPr lang="en-US" altLang="zh-CN" sz="2800" dirty="0">
              <a:latin typeface="+mj-lt"/>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例如，链表的访问</a:t>
            </a:r>
            <a:endParaRPr lang="en-US" kern="1200" dirty="0">
              <a:cs typeface="Calibri" panose="020F0502020204030204" pitchFamily="34" charset="0"/>
            </a:endParaRPr>
          </a:p>
          <a:p>
            <a:pPr>
              <a:spcBef>
                <a:spcPts val="0"/>
              </a:spcBef>
              <a:spcAft>
                <a:spcPts val="600"/>
              </a:spcAft>
            </a:pPr>
            <a:r>
              <a:rPr lang="zh-CN" altLang="en-US" sz="2800" dirty="0">
                <a:latin typeface="+mj-lt"/>
              </a:rPr>
              <a:t>假定一个具有主键的巨大链表 </a:t>
            </a:r>
            <a:r>
              <a:rPr lang="en-US" sz="2800" dirty="0">
                <a:latin typeface="+mj-lt"/>
              </a:rPr>
              <a:t>(1M </a:t>
            </a:r>
            <a:r>
              <a:rPr lang="zh-CN" altLang="en-US" sz="2800" dirty="0">
                <a:latin typeface="+mj-lt"/>
              </a:rPr>
              <a:t>个节点</a:t>
            </a:r>
            <a:r>
              <a:rPr lang="en-US" sz="2800" dirty="0">
                <a:latin typeface="+mj-lt"/>
              </a:rPr>
              <a:t>) </a:t>
            </a:r>
          </a:p>
          <a:p>
            <a:pPr>
              <a:spcBef>
                <a:spcPts val="0"/>
              </a:spcBef>
              <a:spcAft>
                <a:spcPts val="600"/>
              </a:spcAft>
            </a:pPr>
            <a:r>
              <a:rPr lang="en-US" altLang="zh-CN" sz="2800" b="1" dirty="0">
                <a:solidFill>
                  <a:schemeClr val="tx1">
                    <a:lumMod val="95000"/>
                    <a:lumOff val="5000"/>
                  </a:schemeClr>
                </a:solidFill>
                <a:latin typeface="+mj-lt"/>
              </a:rPr>
              <a:t>Q</a:t>
            </a:r>
            <a:r>
              <a:rPr lang="zh-CN" altLang="en-US" sz="2800" b="1" dirty="0">
                <a:solidFill>
                  <a:schemeClr val="tx1">
                    <a:lumMod val="95000"/>
                    <a:lumOff val="5000"/>
                  </a:schemeClr>
                </a:solidFill>
                <a:latin typeface="+mj-lt"/>
              </a:rPr>
              <a:t>：</a:t>
            </a:r>
            <a:r>
              <a:rPr lang="zh-CN" altLang="en-US" sz="2800" dirty="0">
                <a:solidFill>
                  <a:schemeClr val="tx1">
                    <a:lumMod val="95000"/>
                    <a:lumOff val="5000"/>
                  </a:schemeClr>
                </a:solidFill>
                <a:latin typeface="+mj-lt"/>
              </a:rPr>
              <a:t>为什么左侧的代码执行时缓存的命中率较低</a:t>
            </a:r>
            <a:r>
              <a:rPr lang="en-US" sz="2800" dirty="0">
                <a:solidFill>
                  <a:schemeClr val="tx1">
                    <a:lumMod val="95000"/>
                    <a:lumOff val="5000"/>
                  </a:schemeClr>
                </a:solidFill>
                <a:latin typeface="+mj-lt"/>
              </a:rPr>
              <a:t>?</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因为</a:t>
            </a:r>
            <a:r>
              <a:rPr lang="ja-JP" altLang="en-US" kern="1200" dirty="0">
                <a:cs typeface="Calibri" panose="020F0502020204030204" pitchFamily="34" charset="0"/>
              </a:rPr>
              <a:t>“</a:t>
            </a:r>
            <a:r>
              <a:rPr lang="zh-CN" altLang="en-US" kern="1200" dirty="0">
                <a:cs typeface="Calibri" panose="020F0502020204030204" pitchFamily="34" charset="0"/>
              </a:rPr>
              <a:t>其它域</a:t>
            </a:r>
            <a:r>
              <a:rPr lang="ja-JP" altLang="en-US" kern="1200" dirty="0">
                <a:cs typeface="Calibri" panose="020F0502020204030204" pitchFamily="34" charset="0"/>
              </a:rPr>
              <a:t>”</a:t>
            </a:r>
            <a:r>
              <a:rPr lang="en-US" altLang="ja-JP" kern="1200" dirty="0">
                <a:cs typeface="Calibri" panose="020F0502020204030204" pitchFamily="34" charset="0"/>
              </a:rPr>
              <a:t> </a:t>
            </a:r>
            <a:r>
              <a:rPr lang="zh-CN" altLang="en-US" kern="1200" dirty="0">
                <a:cs typeface="Calibri" panose="020F0502020204030204" pitchFamily="34" charset="0"/>
              </a:rPr>
              <a:t>占据了缓存行中大部分空间；然而，它们很少被访问。</a:t>
            </a:r>
            <a:endParaRPr lang="en-US" kern="1200" dirty="0">
              <a:cs typeface="Calibri" panose="020F0502020204030204" pitchFamily="34" charset="0"/>
            </a:endParaRPr>
          </a:p>
        </p:txBody>
      </p:sp>
      <p:sp>
        <p:nvSpPr>
          <p:cNvPr id="5" name="灯片编号占位符 4"/>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21</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
        <p:nvSpPr>
          <p:cNvPr id="98308" name="TextBox 4"/>
          <p:cNvSpPr txBox="1">
            <a:spLocks noChangeArrowheads="1"/>
          </p:cNvSpPr>
          <p:nvPr/>
        </p:nvSpPr>
        <p:spPr bwMode="auto">
          <a:xfrm>
            <a:off x="533400" y="1320800"/>
            <a:ext cx="4367213"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next;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int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key;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char [256] name;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char [256] school;</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while (node)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if (</a:t>
            </a:r>
            <a:r>
              <a:rPr kumimoji="0" lang="en-US" sz="2000" b="1" i="0" u="none" strike="noStrike" kern="1200" cap="none" spc="0" normalizeH="0" baseline="0" noProof="0" dirty="0" err="1">
                <a:ln>
                  <a:noFill/>
                </a:ln>
                <a:solidFill>
                  <a:srgbClr val="FF0000"/>
                </a:solidFill>
                <a:effectLst/>
                <a:uLnTx/>
                <a:uFillTx/>
                <a:latin typeface="Arial" charset="0"/>
                <a:ea typeface="ＭＳ Ｐゴシック" charset="0"/>
                <a:cs typeface="Arial" charset="0"/>
              </a:rPr>
              <a:t>node</a:t>
            </a:r>
            <a:r>
              <a:rPr kumimoji="0" lang="en-US" sz="2000" b="1" i="0" u="none" strike="noStrike" kern="1200" cap="none" spc="0" normalizeH="0" baseline="0" noProof="0" dirty="0" err="1">
                <a:ln>
                  <a:noFill/>
                </a:ln>
                <a:solidFill>
                  <a:srgbClr val="FF0000"/>
                </a:solidFill>
                <a:effectLst/>
                <a:uLnTx/>
                <a:uFillTx/>
                <a:latin typeface="Arial" charset="0"/>
                <a:ea typeface="ＭＳ Ｐゴシック" charset="0"/>
                <a:cs typeface="Arial" charset="0"/>
                <a:sym typeface="Wingdings" charset="0"/>
              </a:rPr>
              <a:t>key</a:t>
            </a:r>
            <a:r>
              <a:rPr kumimoji="0" lang="en-US" sz="2000" b="1" i="0" u="none" strike="noStrike" kern="1200" cap="none" spc="0" normalizeH="0" baseline="0" noProof="0" dirty="0">
                <a:ln>
                  <a:noFill/>
                </a:ln>
                <a:solidFill>
                  <a:srgbClr val="FF0000"/>
                </a:solidFill>
                <a:effectLst/>
                <a:uLnTx/>
                <a:uFillTx/>
                <a:latin typeface="Arial" charset="0"/>
                <a:ea typeface="ＭＳ Ｐゴシック" charset="0"/>
                <a:cs typeface="Arial" charset="0"/>
                <a:sym typeface="Wingdings" charset="0"/>
              </a:rPr>
              <a:t> == input-key</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 access other fields of node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a:t>
            </a: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node</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sym typeface="Wingdings" charset="0"/>
              </a:rPr>
              <a:t>next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p>
        </p:txBody>
      </p:sp>
      <p:sp>
        <p:nvSpPr>
          <p:cNvPr id="2" name="云形标注 1"/>
          <p:cNvSpPr/>
          <p:nvPr/>
        </p:nvSpPr>
        <p:spPr>
          <a:xfrm>
            <a:off x="5294043" y="5257800"/>
            <a:ext cx="3619894" cy="1300670"/>
          </a:xfrm>
          <a:prstGeom prst="cloudCallout">
            <a:avLst>
              <a:gd name="adj1" fmla="val -96695"/>
              <a:gd name="adj2" fmla="val -111694"/>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如何优化性能</a:t>
            </a:r>
            <a:r>
              <a:rPr kumimoji="0" lang="en-US" altLang="zh-CN"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058820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98F8768-F144-4C34-B1AA-F9BEDD3DD565}"/>
              </a:ext>
            </a:extLst>
          </p:cNvPr>
          <p:cNvSpPr>
            <a:spLocks noGrp="1"/>
          </p:cNvSpPr>
          <p:nvPr>
            <p:ph type="title"/>
          </p:nvPr>
        </p:nvSpPr>
        <p:spPr>
          <a:xfrm>
            <a:off x="457200" y="268288"/>
            <a:ext cx="8229600" cy="722312"/>
          </a:xfrm>
        </p:spPr>
        <p:txBody>
          <a:bodyPr/>
          <a:lstStyle/>
          <a:p>
            <a:r>
              <a:rPr lang="en-US" altLang="zh-CN" dirty="0">
                <a:latin typeface="Calibri" panose="020F0502020204030204" pitchFamily="34" charset="0"/>
                <a:cs typeface="Calibri" panose="020F0502020204030204" pitchFamily="34" charset="0"/>
              </a:rPr>
              <a:t>② Array merging/splitting (2)</a:t>
            </a:r>
            <a:endParaRPr lang="en-US"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419600" y="996950"/>
            <a:ext cx="4648200" cy="5194300"/>
          </a:xfrm>
        </p:spPr>
        <p:txBody>
          <a:bodyPr/>
          <a:lstStyle/>
          <a:p>
            <a:pPr>
              <a:spcBef>
                <a:spcPts val="600"/>
              </a:spcBef>
              <a:spcAft>
                <a:spcPts val="600"/>
              </a:spcAft>
            </a:pPr>
            <a:r>
              <a:rPr lang="zh-CN" altLang="en-US" sz="2800" b="1" dirty="0"/>
              <a:t>优化方法：</a:t>
            </a:r>
            <a:r>
              <a:rPr lang="zh-CN" altLang="en-US" sz="2800" dirty="0"/>
              <a:t>将频繁访问的数据剥离开，单独组成数据结构；</a:t>
            </a:r>
            <a:endParaRPr lang="en-US" sz="2800" dirty="0">
              <a:solidFill>
                <a:srgbClr val="FF0000"/>
              </a:solidFill>
            </a:endParaRPr>
          </a:p>
          <a:p>
            <a:pPr>
              <a:spcBef>
                <a:spcPts val="600"/>
              </a:spcBef>
              <a:spcAft>
                <a:spcPts val="600"/>
              </a:spcAft>
            </a:pPr>
            <a:r>
              <a:rPr lang="zh-CN" altLang="en-US" sz="2800" dirty="0"/>
              <a:t>谁可以开展此类优化</a:t>
            </a:r>
            <a:r>
              <a:rPr lang="en-US" sz="2800" dirty="0"/>
              <a:t>?</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程序员 </a:t>
            </a:r>
            <a:r>
              <a:rPr lang="en-US" altLang="zh-CN" kern="1200" dirty="0">
                <a:cs typeface="Calibri" panose="020F0502020204030204" pitchFamily="34" charset="0"/>
              </a:rPr>
              <a:t>—&gt; </a:t>
            </a:r>
            <a:r>
              <a:rPr lang="zh-CN" altLang="en-US" kern="1200" dirty="0">
                <a:cs typeface="Calibri" panose="020F0502020204030204" pitchFamily="34" charset="0"/>
              </a:rPr>
              <a:t>最方便</a:t>
            </a:r>
            <a:endParaRPr lang="en-US"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编译器 </a:t>
            </a:r>
            <a:r>
              <a:rPr lang="en-US" altLang="zh-CN" kern="1200" dirty="0">
                <a:cs typeface="Calibri" panose="020F0502020204030204" pitchFamily="34" charset="0"/>
              </a:rPr>
              <a:t>—&gt; </a:t>
            </a:r>
            <a:r>
              <a:rPr lang="zh-CN" altLang="en-US" kern="1200" dirty="0">
                <a:cs typeface="Calibri" panose="020F0502020204030204" pitchFamily="34" charset="0"/>
              </a:rPr>
              <a:t>可以提供帮助</a:t>
            </a:r>
            <a:endParaRPr lang="en-US" kern="1200" dirty="0">
              <a:cs typeface="Calibri" panose="020F0502020204030204" pitchFamily="34" charset="0"/>
            </a:endParaRPr>
          </a:p>
          <a:p>
            <a:pPr lvl="2">
              <a:spcBef>
                <a:spcPts val="600"/>
              </a:spcBef>
              <a:spcAft>
                <a:spcPts val="600"/>
              </a:spcAft>
              <a:buFont typeface="Arial" panose="020B0604020202020204" pitchFamily="34" charset="0"/>
              <a:buChar char="•"/>
            </a:pPr>
            <a:r>
              <a:rPr lang="en-US" sz="2000" dirty="0"/>
              <a:t>Profiling</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硬件</a:t>
            </a:r>
            <a:r>
              <a:rPr lang="en-US" kern="1200" dirty="0">
                <a:cs typeface="Calibri" panose="020F0502020204030204" pitchFamily="34" charset="0"/>
              </a:rPr>
              <a:t>? </a:t>
            </a:r>
            <a:r>
              <a:rPr lang="zh-CN" altLang="en-US" kern="1200" dirty="0">
                <a:cs typeface="Calibri" panose="020F0502020204030204" pitchFamily="34" charset="0"/>
              </a:rPr>
              <a:t>可行，但比较困难。</a:t>
            </a:r>
            <a:endParaRPr lang="en-US" kern="1200" dirty="0">
              <a:cs typeface="Calibri" panose="020F0502020204030204" pitchFamily="34" charset="0"/>
            </a:endParaRPr>
          </a:p>
        </p:txBody>
      </p:sp>
      <p:sp>
        <p:nvSpPr>
          <p:cNvPr id="4" name="灯片编号占位符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22</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
        <p:nvSpPr>
          <p:cNvPr id="99332" name="TextBox 4"/>
          <p:cNvSpPr txBox="1">
            <a:spLocks noChangeArrowheads="1"/>
          </p:cNvSpPr>
          <p:nvPr/>
        </p:nvSpPr>
        <p:spPr bwMode="auto">
          <a:xfrm>
            <a:off x="457200" y="1035050"/>
            <a:ext cx="4367213"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next;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int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key;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r>
              <a:rPr kumimoji="0" lang="en-US" sz="2000" b="0" i="0" u="none" strike="noStrike" kern="1200" cap="none" spc="0" normalizeH="0" baseline="0" noProof="0" dirty="0" err="1">
                <a:ln>
                  <a:noFill/>
                </a:ln>
                <a:solidFill>
                  <a:srgbClr val="FF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 Node-data* node-data;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err="1">
                <a:ln>
                  <a:noFill/>
                </a:ln>
                <a:solidFill>
                  <a:srgbClr val="FF0000"/>
                </a:solidFill>
                <a:effectLst/>
                <a:uLnTx/>
                <a:uFillTx/>
                <a:latin typeface="Arial" charset="0"/>
                <a:ea typeface="ＭＳ Ｐゴシック" charset="0"/>
                <a:cs typeface="Arial" charset="0"/>
              </a:rPr>
              <a:t>struct</a:t>
            </a: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 Node-data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     char [256] name;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     char [256] school;</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charset="0"/>
                <a:ea typeface="ＭＳ Ｐゴシック" charset="0"/>
                <a:cs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while (node)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if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node</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sym typeface="Wingdings" charset="0"/>
              </a:rPr>
              <a:t>key</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 input-key)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 access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sym typeface="Wingdings" charset="0"/>
              </a:rPr>
              <a:t>nodenode-data</a:t>
            </a: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      }</a:t>
            </a:r>
            <a:endPar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node = </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node</a:t>
            </a:r>
            <a:r>
              <a:rPr kumimoji="0" lang="en-US" sz="20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sym typeface="Wingdings" charset="0"/>
              </a:rPr>
              <a:t>next</a:t>
            </a: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sym typeface="Wingdings"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a:t>
            </a:r>
          </a:p>
        </p:txBody>
      </p:sp>
      <p:cxnSp>
        <p:nvCxnSpPr>
          <p:cNvPr id="5" name="直接箭头连接符 4">
            <a:extLst>
              <a:ext uri="{FF2B5EF4-FFF2-40B4-BE49-F238E27FC236}">
                <a16:creationId xmlns:a16="http://schemas.microsoft.com/office/drawing/2014/main" id="{20316DC0-A42A-44E1-AA3F-DA11BECDE256}"/>
              </a:ext>
            </a:extLst>
          </p:cNvPr>
          <p:cNvCxnSpPr/>
          <p:nvPr/>
        </p:nvCxnSpPr>
        <p:spPr bwMode="auto">
          <a:xfrm flipH="1">
            <a:off x="2209800" y="2362200"/>
            <a:ext cx="609600" cy="457200"/>
          </a:xfrm>
          <a:prstGeom prst="straightConnector1">
            <a:avLst/>
          </a:prstGeom>
          <a:solidFill>
            <a:schemeClr val="accent1"/>
          </a:solidFill>
          <a:ln w="28575" cap="flat" cmpd="sng" algn="ctr">
            <a:solidFill>
              <a:srgbClr val="FF0000"/>
            </a:solidFill>
            <a:prstDash val="solid"/>
            <a:round/>
            <a:headEnd type="triangle"/>
            <a:tailEnd type="triangle"/>
          </a:ln>
        </p:spPr>
      </p:cxnSp>
    </p:spTree>
    <p:extLst>
      <p:ext uri="{BB962C8B-B14F-4D97-AF65-F5344CB8AC3E}">
        <p14:creationId xmlns:p14="http://schemas.microsoft.com/office/powerpoint/2010/main" val="35729124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③ </a:t>
            </a:r>
            <a:r>
              <a:rPr lang="en-US" altLang="zh-CN" dirty="0"/>
              <a:t>Loop fusion</a:t>
            </a:r>
            <a:endParaRPr lang="zh-CN" altLang="en-US" dirty="0"/>
          </a:p>
        </p:txBody>
      </p:sp>
      <p:sp>
        <p:nvSpPr>
          <p:cNvPr id="3" name="内容占位符 2"/>
          <p:cNvSpPr>
            <a:spLocks noGrp="1"/>
          </p:cNvSpPr>
          <p:nvPr>
            <p:ph idx="1"/>
          </p:nvPr>
        </p:nvSpPr>
        <p:spPr>
          <a:xfrm>
            <a:off x="457199" y="5429250"/>
            <a:ext cx="8358187" cy="1047750"/>
          </a:xfrm>
        </p:spPr>
        <p:txBody>
          <a:bodyPr/>
          <a:lstStyle/>
          <a:p>
            <a:r>
              <a:rPr lang="zh-CN" altLang="en-US" dirty="0"/>
              <a:t>改善了访问</a:t>
            </a:r>
            <a:r>
              <a:rPr lang="en-US" altLang="zh-CN" dirty="0"/>
              <a:t>a</a:t>
            </a:r>
            <a:r>
              <a:rPr lang="zh-CN" altLang="en-US" dirty="0"/>
              <a:t>与</a:t>
            </a:r>
            <a:r>
              <a:rPr lang="en-US" altLang="zh-CN" dirty="0"/>
              <a:t>c</a:t>
            </a:r>
            <a:r>
              <a:rPr lang="zh-CN" altLang="en-US" dirty="0"/>
              <a:t>的空间局部性：</a:t>
            </a:r>
            <a:endParaRPr lang="en-US" altLang="zh-CN" dirty="0"/>
          </a:p>
          <a:p>
            <a:pPr marL="628650" lvl="1" indent="-265113">
              <a:lnSpc>
                <a:spcPts val="3600"/>
              </a:lnSpc>
              <a:spcBef>
                <a:spcPts val="60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Before</a:t>
            </a:r>
            <a:r>
              <a:rPr lang="zh-CN" altLang="en-US" kern="1200" dirty="0">
                <a:cs typeface="Calibri" panose="020F0502020204030204" pitchFamily="34" charset="0"/>
              </a:rPr>
              <a:t>：每次访问</a:t>
            </a:r>
            <a:r>
              <a:rPr lang="en-US" altLang="zh-CN" kern="1200" dirty="0">
                <a:cs typeface="Calibri" panose="020F0502020204030204" pitchFamily="34" charset="0"/>
              </a:rPr>
              <a:t>2 </a:t>
            </a:r>
            <a:r>
              <a:rPr lang="zh-CN" altLang="en-US" kern="1200" dirty="0">
                <a:cs typeface="Calibri" panose="020F0502020204030204" pitchFamily="34" charset="0"/>
              </a:rPr>
              <a:t>次缺失，</a:t>
            </a:r>
            <a:r>
              <a:rPr lang="en-US" altLang="zh-CN" kern="1200" dirty="0">
                <a:cs typeface="Calibri" panose="020F0502020204030204" pitchFamily="34" charset="0"/>
              </a:rPr>
              <a:t>After</a:t>
            </a:r>
            <a:r>
              <a:rPr lang="zh-CN" altLang="en-US" kern="1200" dirty="0">
                <a:cs typeface="Calibri" panose="020F0502020204030204" pitchFamily="34" charset="0"/>
              </a:rPr>
              <a:t>：每次访问 </a:t>
            </a:r>
            <a:r>
              <a:rPr lang="en-US" altLang="zh-CN" kern="1200" dirty="0">
                <a:cs typeface="Calibri" panose="020F0502020204030204" pitchFamily="34" charset="0"/>
              </a:rPr>
              <a:t>1 </a:t>
            </a:r>
            <a:r>
              <a:rPr lang="zh-CN" altLang="en-US" kern="1200" dirty="0">
                <a:cs typeface="Calibri" panose="020F0502020204030204" pitchFamily="34" charset="0"/>
              </a:rPr>
              <a:t>次缺失</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23</a:t>
            </a:fld>
            <a:endParaRPr lang="en-US" altLang="en-US"/>
          </a:p>
        </p:txBody>
      </p:sp>
      <p:pic>
        <p:nvPicPr>
          <p:cNvPr id="5" name="图片 4"/>
          <p:cNvPicPr>
            <a:picLocks noChangeAspect="1"/>
          </p:cNvPicPr>
          <p:nvPr/>
        </p:nvPicPr>
        <p:blipFill>
          <a:blip r:embed="rId2"/>
          <a:stretch>
            <a:fillRect/>
          </a:stretch>
        </p:blipFill>
        <p:spPr>
          <a:xfrm>
            <a:off x="328612" y="1066800"/>
            <a:ext cx="8486775" cy="4191000"/>
          </a:xfrm>
          <a:prstGeom prst="rect">
            <a:avLst/>
          </a:prstGeom>
        </p:spPr>
      </p:pic>
    </p:spTree>
    <p:extLst>
      <p:ext uri="{BB962C8B-B14F-4D97-AF65-F5344CB8AC3E}">
        <p14:creationId xmlns:p14="http://schemas.microsoft.com/office/powerpoint/2010/main" val="1606711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④ </a:t>
            </a:r>
            <a:r>
              <a:rPr lang="en-US" altLang="zh-CN" dirty="0"/>
              <a:t>Loop blocking</a:t>
            </a:r>
            <a:endParaRPr lang="zh-CN" altLang="en-US" dirty="0"/>
          </a:p>
        </p:txBody>
      </p:sp>
      <p:sp>
        <p:nvSpPr>
          <p:cNvPr id="3" name="内容占位符 2"/>
          <p:cNvSpPr>
            <a:spLocks noGrp="1"/>
          </p:cNvSpPr>
          <p:nvPr>
            <p:ph idx="1"/>
          </p:nvPr>
        </p:nvSpPr>
        <p:spPr>
          <a:xfrm>
            <a:off x="457200" y="3886200"/>
            <a:ext cx="6248400" cy="2743253"/>
          </a:xfrm>
        </p:spPr>
        <p:txBody>
          <a:bodyPr/>
          <a:lstStyle/>
          <a:p>
            <a:pPr>
              <a:spcBef>
                <a:spcPts val="0"/>
              </a:spcBef>
              <a:spcAft>
                <a:spcPts val="0"/>
              </a:spcAft>
            </a:pPr>
            <a:r>
              <a:rPr lang="zh-CN" altLang="en-US" dirty="0"/>
              <a:t>两个内层循环：</a:t>
            </a: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读取</a:t>
            </a:r>
            <a:r>
              <a:rPr lang="en-US" altLang="zh-CN" kern="1200" dirty="0">
                <a:cs typeface="Calibri" panose="020F0502020204030204" pitchFamily="34" charset="0"/>
              </a:rPr>
              <a:t>z[] </a:t>
            </a:r>
            <a:r>
              <a:rPr lang="zh-CN" altLang="en-US" kern="1200" dirty="0">
                <a:cs typeface="Calibri" panose="020F0502020204030204" pitchFamily="34" charset="0"/>
              </a:rPr>
              <a:t>的所有</a:t>
            </a:r>
            <a:r>
              <a:rPr lang="en-US" altLang="zh-CN" kern="1200" dirty="0">
                <a:cs typeface="Calibri" panose="020F0502020204030204" pitchFamily="34" charset="0"/>
              </a:rPr>
              <a:t>N×N</a:t>
            </a:r>
            <a:r>
              <a:rPr lang="zh-CN" altLang="en-US" kern="1200" dirty="0">
                <a:cs typeface="Calibri" panose="020F0502020204030204" pitchFamily="34" charset="0"/>
              </a:rPr>
              <a:t>个元素</a:t>
            </a: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反复读取</a:t>
            </a:r>
            <a:r>
              <a:rPr lang="en-US" altLang="zh-CN" kern="1200" dirty="0">
                <a:cs typeface="Calibri" panose="020F0502020204030204" pitchFamily="34" charset="0"/>
              </a:rPr>
              <a:t>y[]</a:t>
            </a:r>
            <a:r>
              <a:rPr lang="zh-CN" altLang="en-US" kern="1200" dirty="0">
                <a:cs typeface="Calibri" panose="020F0502020204030204" pitchFamily="34" charset="0"/>
              </a:rPr>
              <a:t>中</a:t>
            </a:r>
            <a:r>
              <a:rPr lang="en-US" altLang="zh-CN" kern="1200" dirty="0">
                <a:cs typeface="Calibri" panose="020F0502020204030204" pitchFamily="34" charset="0"/>
              </a:rPr>
              <a:t>1</a:t>
            </a:r>
            <a:r>
              <a:rPr lang="zh-CN" altLang="en-US" kern="1200" dirty="0">
                <a:cs typeface="Calibri" panose="020F0502020204030204" pitchFamily="34" charset="0"/>
              </a:rPr>
              <a:t>行的</a:t>
            </a:r>
            <a:r>
              <a:rPr lang="en-US" altLang="zh-CN" kern="1200" dirty="0">
                <a:cs typeface="Calibri" panose="020F0502020204030204" pitchFamily="34" charset="0"/>
              </a:rPr>
              <a:t>N</a:t>
            </a:r>
            <a:r>
              <a:rPr lang="zh-CN" altLang="en-US" kern="1200" dirty="0">
                <a:cs typeface="Calibri" panose="020F0502020204030204" pitchFamily="34" charset="0"/>
              </a:rPr>
              <a:t>个元素</a:t>
            </a: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写入</a:t>
            </a:r>
            <a:r>
              <a:rPr lang="en-US" altLang="zh-CN" kern="1200" dirty="0">
                <a:cs typeface="Calibri" panose="020F0502020204030204" pitchFamily="34" charset="0"/>
              </a:rPr>
              <a:t>x[]</a:t>
            </a:r>
            <a:r>
              <a:rPr lang="zh-CN" altLang="en-US" kern="1200" dirty="0">
                <a:cs typeface="Calibri" panose="020F0502020204030204" pitchFamily="34" charset="0"/>
              </a:rPr>
              <a:t>中</a:t>
            </a:r>
            <a:r>
              <a:rPr lang="en-US" altLang="zh-CN" kern="1200" dirty="0">
                <a:cs typeface="Calibri" panose="020F0502020204030204" pitchFamily="34" charset="0"/>
              </a:rPr>
              <a:t>1</a:t>
            </a:r>
            <a:r>
              <a:rPr lang="zh-CN" altLang="en-US" kern="1200" dirty="0">
                <a:cs typeface="Calibri" panose="020F0502020204030204" pitchFamily="34" charset="0"/>
              </a:rPr>
              <a:t>行的</a:t>
            </a:r>
            <a:r>
              <a:rPr lang="en-US" altLang="zh-CN" kern="1200" dirty="0">
                <a:cs typeface="Calibri" panose="020F0502020204030204" pitchFamily="34" charset="0"/>
              </a:rPr>
              <a:t>N</a:t>
            </a:r>
            <a:r>
              <a:rPr lang="zh-CN" altLang="en-US" kern="1200" dirty="0">
                <a:cs typeface="Calibri" panose="020F0502020204030204" pitchFamily="34" charset="0"/>
              </a:rPr>
              <a:t>个元素</a:t>
            </a:r>
            <a:endParaRPr lang="en-US" altLang="zh-CN" kern="1200" dirty="0">
              <a:cs typeface="Calibri" panose="020F0502020204030204" pitchFamily="34" charset="0"/>
            </a:endParaRPr>
          </a:p>
          <a:p>
            <a:pPr marL="342900" lvl="1" indent="-342900">
              <a:spcBef>
                <a:spcPts val="0"/>
              </a:spcBef>
              <a:spcAft>
                <a:spcPts val="0"/>
              </a:spcAft>
              <a:buClr>
                <a:schemeClr val="tx1"/>
              </a:buClr>
              <a:buFont typeface="Tahoma" panose="020B0604030504040204" pitchFamily="34" charset="0"/>
              <a:buChar char="•"/>
              <a:defRPr/>
            </a:pPr>
            <a:r>
              <a:rPr lang="zh-CN" altLang="en-US" sz="2800" dirty="0">
                <a:cs typeface="+mn-cs"/>
              </a:rPr>
              <a:t>容量缺失是</a:t>
            </a:r>
            <a:r>
              <a:rPr lang="en-US" altLang="zh-CN" sz="2800" dirty="0">
                <a:cs typeface="+mn-cs"/>
              </a:rPr>
              <a:t>N</a:t>
            </a:r>
            <a:r>
              <a:rPr lang="zh-CN" altLang="en-US" sz="2800" dirty="0">
                <a:cs typeface="+mn-cs"/>
              </a:rPr>
              <a:t>和缓存大小的函数：</a:t>
            </a:r>
            <a:endParaRPr lang="en-US" altLang="zh-CN" sz="2800" dirty="0">
              <a:cs typeface="+mn-cs"/>
            </a:endParaRP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容量至少为</a:t>
            </a:r>
            <a:r>
              <a:rPr lang="en-US" altLang="zh-CN" kern="1200" dirty="0">
                <a:cs typeface="Calibri" panose="020F0502020204030204" pitchFamily="34" charset="0"/>
              </a:rPr>
              <a:t>2N³+N²</a:t>
            </a:r>
            <a:r>
              <a:rPr lang="zh-CN" altLang="en-US" kern="1200" dirty="0">
                <a:cs typeface="Calibri" panose="020F0502020204030204" pitchFamily="34" charset="0"/>
              </a:rPr>
              <a:t>，才不会有缺失。</a:t>
            </a:r>
            <a:endParaRPr lang="en-US" altLang="zh-CN" kern="1200" dirty="0">
              <a:cs typeface="Calibri" panose="020F0502020204030204" pitchFamily="34" charset="0"/>
            </a:endParaRPr>
          </a:p>
          <a:p>
            <a:pPr marL="628650" lvl="1" indent="-265113">
              <a:spcBef>
                <a:spcPts val="0"/>
              </a:spcBef>
              <a:spcAft>
                <a:spcPts val="0"/>
              </a:spcAft>
              <a:buClr>
                <a:schemeClr val="tx1"/>
              </a:buClr>
              <a:buFont typeface="Tahoma" panose="020B0604030504040204" pitchFamily="34" charset="0"/>
              <a:buChar char="−"/>
              <a:defRPr/>
            </a:pPr>
            <a:endParaRPr lang="zh-CN" altLang="en-US" kern="1200" dirty="0">
              <a:cs typeface="Calibri" panose="020F0502020204030204" pitchFamily="34" charset="0"/>
            </a:endParaRPr>
          </a:p>
          <a:p>
            <a:pPr>
              <a:spcBef>
                <a:spcPts val="0"/>
              </a:spcBef>
              <a:spcAft>
                <a:spcPts val="0"/>
              </a:spcAft>
            </a:pPr>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24</a:t>
            </a:fld>
            <a:endParaRPr lang="en-US" altLang="en-US"/>
          </a:p>
        </p:txBody>
      </p:sp>
      <p:pic>
        <p:nvPicPr>
          <p:cNvPr id="5" name="图片 4"/>
          <p:cNvPicPr>
            <a:picLocks noChangeAspect="1"/>
          </p:cNvPicPr>
          <p:nvPr/>
        </p:nvPicPr>
        <p:blipFill>
          <a:blip r:embed="rId2"/>
          <a:stretch>
            <a:fillRect/>
          </a:stretch>
        </p:blipFill>
        <p:spPr>
          <a:xfrm>
            <a:off x="457200" y="1066800"/>
            <a:ext cx="5057775" cy="2714625"/>
          </a:xfrm>
          <a:prstGeom prst="rect">
            <a:avLst/>
          </a:prstGeom>
        </p:spPr>
      </p:pic>
      <p:pic>
        <p:nvPicPr>
          <p:cNvPr id="6" name="图片 5"/>
          <p:cNvPicPr>
            <a:picLocks noChangeAspect="1"/>
          </p:cNvPicPr>
          <p:nvPr/>
        </p:nvPicPr>
        <p:blipFill>
          <a:blip r:embed="rId3"/>
          <a:stretch>
            <a:fillRect/>
          </a:stretch>
        </p:blipFill>
        <p:spPr>
          <a:xfrm>
            <a:off x="6146501" y="1092993"/>
            <a:ext cx="2540299" cy="2157413"/>
          </a:xfrm>
          <a:prstGeom prst="rect">
            <a:avLst/>
          </a:prstGeom>
        </p:spPr>
      </p:pic>
      <p:pic>
        <p:nvPicPr>
          <p:cNvPr id="7" name="图片 6"/>
          <p:cNvPicPr>
            <a:picLocks noChangeAspect="1"/>
          </p:cNvPicPr>
          <p:nvPr/>
        </p:nvPicPr>
        <p:blipFill>
          <a:blip r:embed="rId4"/>
          <a:stretch>
            <a:fillRect/>
          </a:stretch>
        </p:blipFill>
        <p:spPr>
          <a:xfrm>
            <a:off x="6781800" y="4362450"/>
            <a:ext cx="2009775" cy="1733550"/>
          </a:xfrm>
          <a:prstGeom prst="rect">
            <a:avLst/>
          </a:prstGeom>
        </p:spPr>
      </p:pic>
      <p:sp>
        <p:nvSpPr>
          <p:cNvPr id="8" name="下箭头 7"/>
          <p:cNvSpPr/>
          <p:nvPr/>
        </p:nvSpPr>
        <p:spPr bwMode="auto">
          <a:xfrm>
            <a:off x="7391400" y="3048000"/>
            <a:ext cx="304800" cy="990600"/>
          </a:xfrm>
          <a:prstGeom prst="downArrow">
            <a:avLst/>
          </a:prstGeom>
          <a:solidFill>
            <a:srgbClr val="92D050"/>
          </a:solidFill>
          <a:ln>
            <a:solidFill>
              <a:srgbClr val="92D050"/>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245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未使用</a:t>
            </a:r>
            <a:r>
              <a:rPr lang="en-US" altLang="zh-CN" dirty="0"/>
              <a:t>blocking</a:t>
            </a:r>
            <a:r>
              <a:rPr lang="zh-CN" altLang="en-US" dirty="0"/>
              <a:t>时数组访问的</a:t>
            </a:r>
            <a:r>
              <a:rPr lang="en-US" altLang="zh-CN" dirty="0"/>
              <a:t>Snapshot</a:t>
            </a:r>
            <a:endParaRPr lang="zh-CN" altLang="en-US" dirty="0"/>
          </a:p>
        </p:txBody>
      </p:sp>
      <p:sp>
        <p:nvSpPr>
          <p:cNvPr id="3" name="内容占位符 2"/>
          <p:cNvSpPr>
            <a:spLocks noGrp="1"/>
          </p:cNvSpPr>
          <p:nvPr>
            <p:ph idx="1"/>
          </p:nvPr>
        </p:nvSpPr>
        <p:spPr>
          <a:xfrm>
            <a:off x="457200" y="4385751"/>
            <a:ext cx="8229600" cy="2336570"/>
          </a:xfrm>
        </p:spPr>
        <p:txBody>
          <a:bodyPr/>
          <a:lstStyle/>
          <a:p>
            <a:r>
              <a:rPr lang="zh-CN" altLang="en-US" dirty="0"/>
              <a:t>当</a:t>
            </a:r>
            <a:r>
              <a:rPr lang="en-US" altLang="zh-CN" dirty="0"/>
              <a:t>N=6</a:t>
            </a:r>
            <a:r>
              <a:rPr lang="zh-CN" altLang="en-US" dirty="0"/>
              <a:t>，</a:t>
            </a:r>
            <a:r>
              <a:rPr lang="en-US" altLang="zh-CN" dirty="0" err="1"/>
              <a:t>i</a:t>
            </a:r>
            <a:r>
              <a:rPr lang="en-US" altLang="zh-CN" dirty="0"/>
              <a:t>=1</a:t>
            </a:r>
            <a:r>
              <a:rPr lang="zh-CN" altLang="en-US" dirty="0"/>
              <a:t>时，三个数组的访问过程：</a:t>
            </a:r>
            <a:endParaRPr lang="en-US" altLang="zh-CN" dirty="0"/>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白色块，未被访问过；</a:t>
            </a:r>
            <a:endParaRPr lang="en-US" altLang="zh-CN" kern="1200" dirty="0">
              <a:cs typeface="Calibri" panose="020F0502020204030204" pitchFamily="34" charset="0"/>
            </a:endParaRP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浅灰色块，之前被访问过；</a:t>
            </a:r>
            <a:endParaRPr lang="en-US" altLang="zh-CN" kern="1200" dirty="0">
              <a:cs typeface="Calibri" panose="020F0502020204030204" pitchFamily="34" charset="0"/>
            </a:endParaRPr>
          </a:p>
          <a:p>
            <a:pPr marL="628650" lvl="1" indent="-265113">
              <a:spcBef>
                <a:spcPts val="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深灰色块，最近被访问过。</a:t>
            </a:r>
            <a:endParaRPr lang="en-US" altLang="zh-CN" kern="1200" dirty="0">
              <a:cs typeface="Calibri" panose="020F0502020204030204" pitchFamily="34" charset="0"/>
            </a:endParaRPr>
          </a:p>
          <a:p>
            <a:pPr marL="342900" lvl="1" indent="-342900">
              <a:buClr>
                <a:schemeClr val="tx1"/>
              </a:buClr>
              <a:buFont typeface="Tahoma" panose="020B0604030504040204" pitchFamily="34" charset="0"/>
              <a:buChar char="•"/>
              <a:defRPr/>
            </a:pPr>
            <a:r>
              <a:rPr lang="zh-CN" altLang="en-US" sz="2800" dirty="0">
                <a:cs typeface="+mn-cs"/>
              </a:rPr>
              <a:t>需要重复读取</a:t>
            </a:r>
            <a:r>
              <a:rPr lang="en-US" altLang="zh-CN" sz="2800" dirty="0">
                <a:cs typeface="+mn-cs"/>
              </a:rPr>
              <a:t>y</a:t>
            </a:r>
            <a:r>
              <a:rPr lang="zh-CN" altLang="en-US" sz="2800" dirty="0">
                <a:cs typeface="+mn-cs"/>
              </a:rPr>
              <a:t>、</a:t>
            </a:r>
            <a:r>
              <a:rPr lang="en-US" altLang="zh-CN" sz="2800" dirty="0">
                <a:cs typeface="+mn-cs"/>
              </a:rPr>
              <a:t>z</a:t>
            </a:r>
            <a:r>
              <a:rPr lang="zh-CN" altLang="en-US" sz="2800" dirty="0">
                <a:cs typeface="+mn-cs"/>
              </a:rPr>
              <a:t>中的块，来计算出</a:t>
            </a:r>
            <a:r>
              <a:rPr lang="en-US" altLang="zh-CN" sz="2800" dirty="0">
                <a:cs typeface="+mn-cs"/>
              </a:rPr>
              <a:t>x</a:t>
            </a:r>
            <a:r>
              <a:rPr lang="zh-CN" altLang="en-US" sz="2800" dirty="0">
                <a:cs typeface="+mn-cs"/>
              </a:rPr>
              <a:t>中的块。</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25</a:t>
            </a:fld>
            <a:endParaRPr lang="en-US" altLang="en-US"/>
          </a:p>
        </p:txBody>
      </p:sp>
      <p:pic>
        <p:nvPicPr>
          <p:cNvPr id="5" name="图片 4"/>
          <p:cNvPicPr>
            <a:picLocks noChangeAspect="1"/>
          </p:cNvPicPr>
          <p:nvPr/>
        </p:nvPicPr>
        <p:blipFill>
          <a:blip r:embed="rId2"/>
          <a:stretch>
            <a:fillRect/>
          </a:stretch>
        </p:blipFill>
        <p:spPr>
          <a:xfrm>
            <a:off x="402431" y="1219200"/>
            <a:ext cx="8339138" cy="2842701"/>
          </a:xfrm>
          <a:prstGeom prst="rect">
            <a:avLst/>
          </a:prstGeom>
        </p:spPr>
      </p:pic>
    </p:spTree>
    <p:extLst>
      <p:ext uri="{BB962C8B-B14F-4D97-AF65-F5344CB8AC3E}">
        <p14:creationId xmlns:p14="http://schemas.microsoft.com/office/powerpoint/2010/main" val="1270799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a:t>
            </a:r>
            <a:r>
              <a:rPr lang="en-US" altLang="zh-CN" dirty="0"/>
              <a:t>blocking</a:t>
            </a:r>
            <a:r>
              <a:rPr lang="zh-CN" altLang="en-US" dirty="0"/>
              <a:t>时访问数组的</a:t>
            </a:r>
            <a:r>
              <a:rPr lang="en-US" altLang="zh-CN" dirty="0"/>
              <a:t>snapshot</a:t>
            </a:r>
            <a:endParaRPr lang="zh-CN" altLang="en-US" dirty="0"/>
          </a:p>
        </p:txBody>
      </p:sp>
      <p:sp>
        <p:nvSpPr>
          <p:cNvPr id="3" name="内容占位符 2"/>
          <p:cNvSpPr>
            <a:spLocks noGrp="1"/>
          </p:cNvSpPr>
          <p:nvPr>
            <p:ph idx="1"/>
          </p:nvPr>
        </p:nvSpPr>
        <p:spPr>
          <a:xfrm>
            <a:off x="457200" y="4286250"/>
            <a:ext cx="8229600" cy="1466850"/>
          </a:xfrm>
        </p:spPr>
        <p:txBody>
          <a:bodyPr/>
          <a:lstStyle/>
          <a:p>
            <a:pPr>
              <a:spcBef>
                <a:spcPts val="600"/>
              </a:spcBef>
            </a:pPr>
            <a:r>
              <a:rPr lang="zh-CN" altLang="en-US" dirty="0"/>
              <a:t>当</a:t>
            </a:r>
            <a:r>
              <a:rPr lang="en-US" altLang="zh-CN" dirty="0"/>
              <a:t>N=6</a:t>
            </a:r>
            <a:r>
              <a:rPr lang="zh-CN" altLang="en-US" dirty="0"/>
              <a:t>，</a:t>
            </a:r>
            <a:r>
              <a:rPr lang="en-US" altLang="zh-CN" dirty="0" err="1"/>
              <a:t>i</a:t>
            </a:r>
            <a:r>
              <a:rPr lang="en-US" altLang="zh-CN" dirty="0"/>
              <a:t>=1</a:t>
            </a:r>
            <a:r>
              <a:rPr lang="zh-CN" altLang="en-US" dirty="0"/>
              <a:t>，</a:t>
            </a:r>
            <a:r>
              <a:rPr lang="en-US" altLang="zh-CN" dirty="0"/>
              <a:t>B=3</a:t>
            </a:r>
            <a:r>
              <a:rPr lang="zh-CN" altLang="en-US" dirty="0"/>
              <a:t>时的数组访问过程：</a:t>
            </a:r>
            <a:endParaRPr lang="en-US" altLang="zh-CN" dirty="0"/>
          </a:p>
          <a:p>
            <a:pPr marL="628650" lvl="1" indent="-265113">
              <a:spcBef>
                <a:spcPts val="60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与上一页的访问过程相比，这种方式在一段时间内访问的数据量下降了。</a:t>
            </a:r>
            <a:endParaRPr lang="en-US" altLang="zh-CN" kern="1200" dirty="0">
              <a:cs typeface="Calibri" panose="020F0502020204030204" pitchFamily="34" charset="0"/>
            </a:endParaRPr>
          </a:p>
          <a:p>
            <a:pPr marL="628650" lvl="1" indent="-265113">
              <a:spcBef>
                <a:spcPts val="600"/>
              </a:spcBef>
              <a:spcAft>
                <a:spcPts val="0"/>
              </a:spcAft>
              <a:buClr>
                <a:schemeClr val="tx1"/>
              </a:buClr>
              <a:buFont typeface="Tahoma" panose="020B0604030504040204" pitchFamily="34" charset="0"/>
              <a:buChar char="−"/>
              <a:defRPr/>
            </a:pPr>
            <a:r>
              <a:rPr lang="zh-CN" altLang="en-US" kern="1200" dirty="0">
                <a:cs typeface="Calibri" panose="020F0502020204030204" pitchFamily="34" charset="0"/>
              </a:rPr>
              <a:t>一个较小的缓存，就能容纳这种场景所访问的数据。</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26</a:t>
            </a:fld>
            <a:endParaRPr lang="en-US" altLang="en-US"/>
          </a:p>
        </p:txBody>
      </p:sp>
      <p:pic>
        <p:nvPicPr>
          <p:cNvPr id="5" name="图片 4"/>
          <p:cNvPicPr>
            <a:picLocks noChangeAspect="1"/>
          </p:cNvPicPr>
          <p:nvPr/>
        </p:nvPicPr>
        <p:blipFill>
          <a:blip r:embed="rId2"/>
          <a:stretch>
            <a:fillRect/>
          </a:stretch>
        </p:blipFill>
        <p:spPr>
          <a:xfrm>
            <a:off x="498022" y="1219200"/>
            <a:ext cx="8156121" cy="2743200"/>
          </a:xfrm>
          <a:prstGeom prst="rect">
            <a:avLst/>
          </a:prstGeom>
        </p:spPr>
      </p:pic>
    </p:spTree>
    <p:extLst>
      <p:ext uri="{BB962C8B-B14F-4D97-AF65-F5344CB8AC3E}">
        <p14:creationId xmlns:p14="http://schemas.microsoft.com/office/powerpoint/2010/main" val="2161273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采用</a:t>
            </a:r>
            <a:r>
              <a:rPr lang="en-US" altLang="zh-CN" dirty="0"/>
              <a:t>blocking</a:t>
            </a:r>
            <a:r>
              <a:rPr lang="zh-CN" altLang="en-US" dirty="0"/>
              <a:t>策略的</a:t>
            </a:r>
            <a:r>
              <a:rPr lang="en-US" altLang="zh-CN" dirty="0"/>
              <a:t>code</a:t>
            </a:r>
            <a:endParaRPr lang="zh-CN" altLang="en-US" dirty="0"/>
          </a:p>
        </p:txBody>
      </p:sp>
      <p:sp>
        <p:nvSpPr>
          <p:cNvPr id="3" name="内容占位符 2"/>
          <p:cNvSpPr>
            <a:spLocks noGrp="1"/>
          </p:cNvSpPr>
          <p:nvPr>
            <p:ph idx="1"/>
          </p:nvPr>
        </p:nvSpPr>
        <p:spPr>
          <a:xfrm>
            <a:off x="457200" y="4966441"/>
            <a:ext cx="8229600" cy="1586759"/>
          </a:xfrm>
        </p:spPr>
        <p:txBody>
          <a:bodyPr/>
          <a:lstStyle/>
          <a:p>
            <a:r>
              <a:rPr lang="en-US" altLang="zh-CN" dirty="0"/>
              <a:t>B</a:t>
            </a:r>
            <a:r>
              <a:rPr lang="zh-CN" altLang="en-US" dirty="0"/>
              <a:t>称为</a:t>
            </a:r>
            <a:r>
              <a:rPr lang="en-US" altLang="zh-CN" dirty="0">
                <a:solidFill>
                  <a:srgbClr val="FF0000"/>
                </a:solidFill>
              </a:rPr>
              <a:t>block factor</a:t>
            </a:r>
          </a:p>
          <a:p>
            <a:r>
              <a:rPr lang="zh-CN" altLang="en-US" dirty="0"/>
              <a:t>你可以做实验来分析</a:t>
            </a:r>
            <a:r>
              <a:rPr lang="en-US" altLang="zh-CN" dirty="0"/>
              <a:t>loop blocking</a:t>
            </a:r>
            <a:r>
              <a:rPr lang="zh-CN" altLang="en-US" dirty="0"/>
              <a:t>的效果</a:t>
            </a:r>
            <a:endParaRPr lang="en-US" altLang="zh-CN" dirty="0"/>
          </a:p>
          <a:p>
            <a:pPr marL="628650" lvl="1" indent="-265113">
              <a:spcBef>
                <a:spcPts val="600"/>
              </a:spcBef>
              <a:spcAft>
                <a:spcPts val="0"/>
              </a:spcAft>
              <a:buClr>
                <a:schemeClr val="tx1"/>
              </a:buClr>
              <a:buFont typeface="Tahoma" panose="020B0604030504040204" pitchFamily="34" charset="0"/>
              <a:buChar char="−"/>
              <a:defRPr/>
            </a:pPr>
            <a:r>
              <a:rPr lang="zh-CN" altLang="en-US" b="1" kern="1200" dirty="0">
                <a:cs typeface="Calibri" panose="020F0502020204030204" pitchFamily="34" charset="0"/>
              </a:rPr>
              <a:t>实验一的自选内容</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27</a:t>
            </a:fld>
            <a:endParaRPr lang="en-US" altLang="en-US"/>
          </a:p>
        </p:txBody>
      </p:sp>
      <p:pic>
        <p:nvPicPr>
          <p:cNvPr id="5" name="图片 4"/>
          <p:cNvPicPr>
            <a:picLocks noChangeAspect="1"/>
          </p:cNvPicPr>
          <p:nvPr/>
        </p:nvPicPr>
        <p:blipFill>
          <a:blip r:embed="rId2"/>
          <a:stretch>
            <a:fillRect/>
          </a:stretch>
        </p:blipFill>
        <p:spPr>
          <a:xfrm>
            <a:off x="476250" y="1059233"/>
            <a:ext cx="8210550" cy="3819525"/>
          </a:xfrm>
          <a:prstGeom prst="rect">
            <a:avLst/>
          </a:prstGeom>
        </p:spPr>
      </p:pic>
    </p:spTree>
    <p:extLst>
      <p:ext uri="{BB962C8B-B14F-4D97-AF65-F5344CB8AC3E}">
        <p14:creationId xmlns:p14="http://schemas.microsoft.com/office/powerpoint/2010/main" val="3273481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9. </a:t>
            </a:r>
            <a:r>
              <a:rPr lang="zh-CN" altLang="en-US" dirty="0"/>
              <a:t>基于硬件的</a:t>
            </a:r>
            <a:r>
              <a:rPr lang="en-US" altLang="zh-CN" dirty="0"/>
              <a:t>prefetching</a:t>
            </a:r>
            <a:endParaRPr lang="zh-CN" altLang="en-US" dirty="0"/>
          </a:p>
        </p:txBody>
      </p:sp>
      <p:sp>
        <p:nvSpPr>
          <p:cNvPr id="3" name="内容占位符 2"/>
          <p:cNvSpPr>
            <a:spLocks noGrp="1"/>
          </p:cNvSpPr>
          <p:nvPr>
            <p:ph idx="1"/>
          </p:nvPr>
        </p:nvSpPr>
        <p:spPr>
          <a:xfrm>
            <a:off x="457200" y="1104900"/>
            <a:ext cx="8229600" cy="5524500"/>
          </a:xfrm>
        </p:spPr>
        <p:txBody>
          <a:bodyPr/>
          <a:lstStyle/>
          <a:p>
            <a:r>
              <a:rPr lang="zh-CN" altLang="en-US" sz="2400" dirty="0"/>
              <a:t>在处理器请求数据之前，由硬件进行预取。</a:t>
            </a:r>
          </a:p>
          <a:p>
            <a:pPr marL="628650" lvl="1" indent="-265113">
              <a:spcBef>
                <a:spcPts val="600"/>
              </a:spcBef>
              <a:spcAft>
                <a:spcPts val="0"/>
              </a:spcAft>
              <a:buClr>
                <a:schemeClr val="tx1"/>
              </a:buClr>
              <a:buFont typeface="Tahoma" panose="020B0604030504040204" pitchFamily="34" charset="0"/>
              <a:buChar char="−"/>
              <a:defRPr/>
            </a:pPr>
            <a:r>
              <a:rPr lang="zh-CN" altLang="en-US" sz="2000" kern="1200" dirty="0">
                <a:cs typeface="Calibri" panose="020F0502020204030204" pitchFamily="34" charset="0"/>
              </a:rPr>
              <a:t>指令和数据都可以被预取</a:t>
            </a:r>
          </a:p>
          <a:p>
            <a:pPr marL="628650" lvl="1" indent="-265113">
              <a:spcBef>
                <a:spcPts val="600"/>
              </a:spcBef>
              <a:spcAft>
                <a:spcPts val="0"/>
              </a:spcAft>
              <a:buClr>
                <a:schemeClr val="tx1"/>
              </a:buClr>
              <a:buFont typeface="Tahoma" panose="020B0604030504040204" pitchFamily="34" charset="0"/>
              <a:buChar char="−"/>
              <a:defRPr/>
            </a:pPr>
            <a:r>
              <a:rPr lang="zh-CN" altLang="en-US" sz="2000" kern="1200" dirty="0">
                <a:cs typeface="Calibri" panose="020F0502020204030204" pitchFamily="34" charset="0"/>
              </a:rPr>
              <a:t>预取的数据要么直接写入缓存，要么写入一个访问速度快的专门的缓冲区（</a:t>
            </a:r>
            <a:r>
              <a:rPr lang="en-US" altLang="zh-CN" sz="2000" kern="1200" dirty="0" err="1">
                <a:cs typeface="Calibri" panose="020F0502020204030204" pitchFamily="34" charset="0"/>
              </a:rPr>
              <a:t>prefetch</a:t>
            </a:r>
            <a:r>
              <a:rPr lang="en-US" altLang="zh-CN" sz="2000" kern="1200" dirty="0">
                <a:cs typeface="Calibri" panose="020F0502020204030204" pitchFamily="34" charset="0"/>
              </a:rPr>
              <a:t> buffer</a:t>
            </a:r>
            <a:r>
              <a:rPr lang="zh-CN" altLang="en-US" sz="2000" kern="1200" dirty="0">
                <a:cs typeface="Calibri" panose="020F0502020204030204" pitchFamily="34" charset="0"/>
              </a:rPr>
              <a:t>）</a:t>
            </a:r>
            <a:r>
              <a:rPr lang="zh-CN" altLang="en-US" sz="2000" dirty="0"/>
              <a:t>。</a:t>
            </a:r>
          </a:p>
          <a:p>
            <a:r>
              <a:rPr lang="zh-CN" altLang="en-US" sz="2400" dirty="0"/>
              <a:t>指令预取：</a:t>
            </a:r>
          </a:p>
          <a:p>
            <a:pPr marL="628650" lvl="1" indent="-265113">
              <a:spcBef>
                <a:spcPts val="600"/>
              </a:spcBef>
              <a:spcAft>
                <a:spcPts val="0"/>
              </a:spcAft>
              <a:buClr>
                <a:schemeClr val="tx1"/>
              </a:buClr>
              <a:buFont typeface="Tahoma" panose="020B0604030504040204" pitchFamily="34" charset="0"/>
              <a:buChar char="−"/>
              <a:defRPr/>
            </a:pPr>
            <a:r>
              <a:rPr lang="zh-CN" altLang="en-US" sz="2000" kern="1200" dirty="0">
                <a:cs typeface="Calibri" panose="020F0502020204030204" pitchFamily="34" charset="0"/>
              </a:rPr>
              <a:t>通常，</a:t>
            </a:r>
            <a:r>
              <a:rPr lang="en-US" altLang="zh-CN" sz="2000" kern="1200" dirty="0">
                <a:cs typeface="Calibri" panose="020F0502020204030204" pitchFamily="34" charset="0"/>
              </a:rPr>
              <a:t>CPU </a:t>
            </a:r>
            <a:r>
              <a:rPr lang="zh-CN" altLang="en-US" sz="2000" kern="1200" dirty="0">
                <a:cs typeface="Calibri" panose="020F0502020204030204" pitchFamily="34" charset="0"/>
              </a:rPr>
              <a:t>在缺失时会获取 </a:t>
            </a:r>
            <a:r>
              <a:rPr lang="en-US" altLang="zh-CN" sz="2000" b="1" kern="1200" dirty="0">
                <a:cs typeface="Calibri" panose="020F0502020204030204" pitchFamily="34" charset="0"/>
              </a:rPr>
              <a:t>2 </a:t>
            </a:r>
            <a:r>
              <a:rPr lang="zh-CN" altLang="en-US" sz="2000" b="1" kern="1200" dirty="0">
                <a:cs typeface="Calibri" panose="020F0502020204030204" pitchFamily="34" charset="0"/>
              </a:rPr>
              <a:t>个块</a:t>
            </a:r>
            <a:r>
              <a:rPr lang="zh-CN" altLang="en-US" sz="2000" kern="1200" dirty="0">
                <a:cs typeface="Calibri" panose="020F0502020204030204" pitchFamily="34" charset="0"/>
              </a:rPr>
              <a:t>：当前被请求的块和下一个块。</a:t>
            </a:r>
          </a:p>
          <a:p>
            <a:pPr marL="628650" lvl="1" indent="-265113">
              <a:spcBef>
                <a:spcPts val="600"/>
              </a:spcBef>
              <a:spcAft>
                <a:spcPts val="0"/>
              </a:spcAft>
              <a:buClr>
                <a:schemeClr val="tx1"/>
              </a:buClr>
              <a:buFont typeface="Tahoma" panose="020B0604030504040204" pitchFamily="34" charset="0"/>
              <a:buChar char="−"/>
              <a:defRPr/>
            </a:pPr>
            <a:r>
              <a:rPr lang="zh-CN" altLang="en-US" sz="2000" kern="1200" dirty="0">
                <a:cs typeface="Calibri" panose="020F0502020204030204" pitchFamily="34" charset="0"/>
              </a:rPr>
              <a:t>被请求的块进入指令缓存，预取的块进入预取缓冲区。</a:t>
            </a:r>
          </a:p>
          <a:p>
            <a:r>
              <a:rPr lang="zh-CN" altLang="en-US" sz="2400" dirty="0"/>
              <a:t>数据预取：</a:t>
            </a:r>
          </a:p>
          <a:p>
            <a:pPr marL="628650" lvl="1" indent="-265113">
              <a:spcBef>
                <a:spcPts val="600"/>
              </a:spcBef>
              <a:spcAft>
                <a:spcPts val="0"/>
              </a:spcAft>
              <a:buClr>
                <a:schemeClr val="tx1"/>
              </a:buClr>
              <a:buFont typeface="Tahoma" panose="020B0604030504040204" pitchFamily="34" charset="0"/>
              <a:buChar char="−"/>
              <a:defRPr/>
            </a:pPr>
            <a:r>
              <a:rPr lang="en-US" altLang="zh-CN" sz="2000" kern="1200" dirty="0">
                <a:cs typeface="Calibri" panose="020F0502020204030204" pitchFamily="34" charset="0"/>
              </a:rPr>
              <a:t>Pentium 4 </a:t>
            </a:r>
            <a:r>
              <a:rPr lang="zh-CN" altLang="en-US" sz="2000" kern="1200" dirty="0">
                <a:cs typeface="Calibri" panose="020F0502020204030204" pitchFamily="34" charset="0"/>
              </a:rPr>
              <a:t>可以从多达 </a:t>
            </a:r>
            <a:r>
              <a:rPr lang="en-US" altLang="zh-CN" sz="2000" kern="1200" dirty="0">
                <a:cs typeface="Calibri" panose="020F0502020204030204" pitchFamily="34" charset="0"/>
              </a:rPr>
              <a:t>8 </a:t>
            </a:r>
            <a:r>
              <a:rPr lang="zh-CN" altLang="en-US" sz="2000" kern="1200" dirty="0">
                <a:cs typeface="Calibri" panose="020F0502020204030204" pitchFamily="34" charset="0"/>
              </a:rPr>
              <a:t>个不同的 </a:t>
            </a:r>
            <a:r>
              <a:rPr lang="en-US" altLang="zh-CN" sz="2000" kern="1200" dirty="0">
                <a:cs typeface="Calibri" panose="020F0502020204030204" pitchFamily="34" charset="0"/>
              </a:rPr>
              <a:t>4KB </a:t>
            </a:r>
            <a:r>
              <a:rPr lang="zh-CN" altLang="en-US" sz="2000" kern="1200" dirty="0">
                <a:cs typeface="Calibri" panose="020F0502020204030204" pitchFamily="34" charset="0"/>
              </a:rPr>
              <a:t>页面的 </a:t>
            </a:r>
            <a:r>
              <a:rPr lang="en-US" altLang="zh-CN" sz="2000" kern="1200" dirty="0">
                <a:cs typeface="Calibri" panose="020F0502020204030204" pitchFamily="34" charset="0"/>
              </a:rPr>
              <a:t>8 </a:t>
            </a:r>
            <a:r>
              <a:rPr lang="zh-CN" altLang="en-US" sz="2000" kern="1200" dirty="0">
                <a:cs typeface="Calibri" panose="020F0502020204030204" pitchFamily="34" charset="0"/>
              </a:rPr>
              <a:t>个流中预取数据到 </a:t>
            </a:r>
            <a:r>
              <a:rPr lang="en-US" altLang="zh-CN" sz="2000" kern="1200" dirty="0">
                <a:cs typeface="Calibri" panose="020F0502020204030204" pitchFamily="34" charset="0"/>
              </a:rPr>
              <a:t>L2 </a:t>
            </a:r>
            <a:r>
              <a:rPr lang="zh-CN" altLang="en-US" sz="2000" kern="1200" dirty="0">
                <a:cs typeface="Calibri" panose="020F0502020204030204" pitchFamily="34" charset="0"/>
              </a:rPr>
              <a:t>缓存。</a:t>
            </a:r>
          </a:p>
          <a:p>
            <a:pPr marL="893763" lvl="2" indent="-266700">
              <a:spcBef>
                <a:spcPts val="600"/>
              </a:spcBef>
              <a:spcAft>
                <a:spcPts val="600"/>
              </a:spcAft>
              <a:buClr>
                <a:schemeClr val="tx1"/>
              </a:buClr>
              <a:buFont typeface="Arial" panose="020B0604020202020204" pitchFamily="34" charset="0"/>
              <a:buChar char="•"/>
              <a:defRPr/>
            </a:pPr>
            <a:r>
              <a:rPr lang="zh-CN" altLang="en-US" sz="2000" dirty="0"/>
              <a:t>如果对一个页面连续发生 </a:t>
            </a:r>
            <a:r>
              <a:rPr lang="en-US" altLang="zh-CN" sz="2000" dirty="0"/>
              <a:t>2 </a:t>
            </a:r>
            <a:r>
              <a:rPr lang="zh-CN" altLang="en-US" sz="2000" dirty="0"/>
              <a:t>次 </a:t>
            </a:r>
            <a:r>
              <a:rPr lang="en-US" altLang="zh-CN" sz="2000" dirty="0"/>
              <a:t>L2 </a:t>
            </a:r>
            <a:r>
              <a:rPr lang="zh-CN" altLang="en-US" sz="2000" dirty="0"/>
              <a:t>缓存缺失，且这些缓存块之间的距离小于 </a:t>
            </a:r>
            <a:r>
              <a:rPr lang="en-US" altLang="zh-CN" sz="2000" dirty="0"/>
              <a:t>256 </a:t>
            </a:r>
            <a:r>
              <a:rPr lang="zh-CN" altLang="en-US" sz="2000" dirty="0"/>
              <a:t>字节，就会触发预取。</a:t>
            </a:r>
          </a:p>
          <a:p>
            <a:pPr marL="628650" lvl="1" indent="-265113">
              <a:spcBef>
                <a:spcPts val="600"/>
              </a:spcBef>
              <a:spcAft>
                <a:spcPts val="0"/>
              </a:spcAft>
              <a:buClr>
                <a:schemeClr val="tx1"/>
              </a:buClr>
              <a:buFont typeface="Tahoma" panose="020B0604030504040204" pitchFamily="34" charset="0"/>
              <a:buChar char="−"/>
              <a:defRPr/>
            </a:pPr>
            <a:r>
              <a:rPr lang="en-US" altLang="zh-CN" sz="2000" kern="1200" dirty="0">
                <a:cs typeface="Calibri" panose="020F0502020204030204" pitchFamily="34" charset="0"/>
              </a:rPr>
              <a:t>Intel Core i7 </a:t>
            </a:r>
            <a:r>
              <a:rPr lang="zh-CN" altLang="en-US" sz="2000" kern="1200" dirty="0">
                <a:cs typeface="Calibri" panose="020F0502020204030204" pitchFamily="34" charset="0"/>
              </a:rPr>
              <a:t>支持向 </a:t>
            </a:r>
            <a:r>
              <a:rPr lang="en-US" altLang="zh-CN" sz="2000" kern="1200" dirty="0">
                <a:cs typeface="Calibri" panose="020F0502020204030204" pitchFamily="34" charset="0"/>
              </a:rPr>
              <a:t>L1 </a:t>
            </a:r>
            <a:r>
              <a:rPr lang="zh-CN" altLang="en-US" sz="2000" kern="1200" dirty="0">
                <a:cs typeface="Calibri" panose="020F0502020204030204" pitchFamily="34" charset="0"/>
              </a:rPr>
              <a:t>和 </a:t>
            </a:r>
            <a:r>
              <a:rPr lang="en-US" altLang="zh-CN" sz="2000" kern="1200" dirty="0">
                <a:cs typeface="Calibri" panose="020F0502020204030204" pitchFamily="34" charset="0"/>
              </a:rPr>
              <a:t>L2 </a:t>
            </a:r>
            <a:r>
              <a:rPr lang="zh-CN" altLang="en-US" sz="2000" kern="1200" dirty="0">
                <a:cs typeface="Calibri" panose="020F0502020204030204" pitchFamily="34" charset="0"/>
              </a:rPr>
              <a:t>进行硬件预取，最常见的预取情况是访问下一行触发预取。</a:t>
            </a:r>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28</a:t>
            </a:fld>
            <a:endParaRPr lang="en-US" altLang="en-US"/>
          </a:p>
        </p:txBody>
      </p:sp>
    </p:spTree>
    <p:extLst>
      <p:ext uri="{BB962C8B-B14F-4D97-AF65-F5344CB8AC3E}">
        <p14:creationId xmlns:p14="http://schemas.microsoft.com/office/powerpoint/2010/main" val="236757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关于硬件预取</a:t>
            </a:r>
          </a:p>
        </p:txBody>
      </p:sp>
      <p:sp>
        <p:nvSpPr>
          <p:cNvPr id="3" name="内容占位符 2"/>
          <p:cNvSpPr>
            <a:spLocks noGrp="1"/>
          </p:cNvSpPr>
          <p:nvPr>
            <p:ph idx="1"/>
          </p:nvPr>
        </p:nvSpPr>
        <p:spPr>
          <a:xfrm>
            <a:off x="457200" y="1104900"/>
            <a:ext cx="8229600" cy="2933700"/>
          </a:xfrm>
        </p:spPr>
        <p:txBody>
          <a:bodyPr/>
          <a:lstStyle/>
          <a:p>
            <a:pPr>
              <a:lnSpc>
                <a:spcPts val="3200"/>
              </a:lnSpc>
              <a:spcBef>
                <a:spcPts val="0"/>
              </a:spcBef>
              <a:spcAft>
                <a:spcPts val="600"/>
              </a:spcAft>
            </a:pPr>
            <a:r>
              <a:rPr lang="zh-CN" altLang="en-US" dirty="0"/>
              <a:t>其意图是充分利用原本可能会被闲置的内存带宽</a:t>
            </a:r>
          </a:p>
          <a:p>
            <a:pPr marL="628650" lvl="1" indent="-265113">
              <a:lnSpc>
                <a:spcPts val="3200"/>
              </a:lnSpc>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如果预取影响了</a:t>
            </a:r>
            <a:r>
              <a:rPr lang="zh-CN" altLang="en-US" kern="1200" dirty="0">
                <a:solidFill>
                  <a:srgbClr val="FF0000"/>
                </a:solidFill>
                <a:cs typeface="Calibri" panose="020F0502020204030204" pitchFamily="34" charset="0"/>
              </a:rPr>
              <a:t>按需缺失</a:t>
            </a:r>
            <a:r>
              <a:rPr lang="zh-CN" altLang="en-US" kern="1200" dirty="0">
                <a:cs typeface="Calibri" panose="020F0502020204030204" pitchFamily="34" charset="0"/>
              </a:rPr>
              <a:t>（指处理器实际请求数据时发生的缓存缺失）的处理，反而可能降低性能。</a:t>
            </a:r>
          </a:p>
          <a:p>
            <a:pPr marL="628650" lvl="1" indent="-265113">
              <a:lnSpc>
                <a:spcPts val="3200"/>
              </a:lnSpc>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此外，当预取的数据未被使用，或 预取的数据在使用之前就被替换时，预取就是无用的</a:t>
            </a:r>
            <a:r>
              <a:rPr lang="zh-CN" altLang="en-US" dirty="0"/>
              <a:t>。</a:t>
            </a:r>
            <a:endParaRPr lang="en-US" altLang="zh-CN" dirty="0"/>
          </a:p>
          <a:p>
            <a:pPr marL="1106487" lvl="2" indent="-342900">
              <a:lnSpc>
                <a:spcPts val="3200"/>
              </a:lnSpc>
              <a:spcBef>
                <a:spcPts val="0"/>
              </a:spcBef>
              <a:spcAft>
                <a:spcPts val="600"/>
              </a:spcAft>
              <a:buClr>
                <a:schemeClr val="tx1"/>
              </a:buClr>
              <a:buFont typeface="Arial" panose="020B0604020202020204" pitchFamily="34" charset="0"/>
              <a:buChar char="•"/>
              <a:defRPr/>
            </a:pPr>
            <a:r>
              <a:rPr lang="zh-CN" altLang="en-US" dirty="0"/>
              <a:t>同时，无用的预取浪费了带宽和功耗。</a:t>
            </a:r>
            <a:endParaRPr lang="en-US" altLang="zh-CN"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29</a:t>
            </a:fld>
            <a:endParaRPr lang="en-US" altLang="en-US"/>
          </a:p>
        </p:txBody>
      </p:sp>
      <p:pic>
        <p:nvPicPr>
          <p:cNvPr id="6" name="图片 5">
            <a:extLst>
              <a:ext uri="{FF2B5EF4-FFF2-40B4-BE49-F238E27FC236}">
                <a16:creationId xmlns:a16="http://schemas.microsoft.com/office/drawing/2014/main" id="{1FE48602-BCBA-487D-9C7C-71CFC4980E12}"/>
              </a:ext>
            </a:extLst>
          </p:cNvPr>
          <p:cNvPicPr>
            <a:picLocks noChangeAspect="1"/>
          </p:cNvPicPr>
          <p:nvPr/>
        </p:nvPicPr>
        <p:blipFill>
          <a:blip r:embed="rId2"/>
          <a:stretch>
            <a:fillRect/>
          </a:stretch>
        </p:blipFill>
        <p:spPr>
          <a:xfrm>
            <a:off x="1295400" y="4189042"/>
            <a:ext cx="5676900" cy="2171700"/>
          </a:xfrm>
          <a:prstGeom prst="rect">
            <a:avLst/>
          </a:prstGeom>
        </p:spPr>
      </p:pic>
    </p:spTree>
    <p:extLst>
      <p:ext uri="{BB962C8B-B14F-4D97-AF65-F5344CB8AC3E}">
        <p14:creationId xmlns:p14="http://schemas.microsoft.com/office/powerpoint/2010/main" val="1284430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514F33-6C2B-46B7-9F3C-0A2EAE881599}"/>
              </a:ext>
            </a:extLst>
          </p:cNvPr>
          <p:cNvSpPr>
            <a:spLocks noGrp="1"/>
          </p:cNvSpPr>
          <p:nvPr>
            <p:ph type="title"/>
          </p:nvPr>
        </p:nvSpPr>
        <p:spPr/>
        <p:txBody>
          <a:bodyPr/>
          <a:lstStyle/>
          <a:p>
            <a:r>
              <a:rPr lang="en-US" altLang="zh-CN" dirty="0">
                <a:solidFill>
                  <a:schemeClr val="bg1">
                    <a:lumMod val="65000"/>
                  </a:schemeClr>
                </a:solidFill>
              </a:rPr>
              <a:t>10. </a:t>
            </a:r>
            <a:r>
              <a:rPr lang="zh-CN" altLang="en-US" dirty="0">
                <a:solidFill>
                  <a:schemeClr val="bg1">
                    <a:lumMod val="65000"/>
                  </a:schemeClr>
                </a:solidFill>
              </a:rPr>
              <a:t>编译器控制的预取</a:t>
            </a:r>
          </a:p>
        </p:txBody>
      </p:sp>
      <p:sp>
        <p:nvSpPr>
          <p:cNvPr id="3" name="内容占位符 2">
            <a:extLst>
              <a:ext uri="{FF2B5EF4-FFF2-40B4-BE49-F238E27FC236}">
                <a16:creationId xmlns:a16="http://schemas.microsoft.com/office/drawing/2014/main" id="{714C0A1C-D161-47AC-873F-3D0707B4745C}"/>
              </a:ext>
            </a:extLst>
          </p:cNvPr>
          <p:cNvSpPr>
            <a:spLocks noGrp="1"/>
          </p:cNvSpPr>
          <p:nvPr>
            <p:ph idx="1"/>
          </p:nvPr>
        </p:nvSpPr>
        <p:spPr>
          <a:xfrm>
            <a:off x="457200" y="1104900"/>
            <a:ext cx="8229600" cy="5406284"/>
          </a:xfrm>
        </p:spPr>
        <p:txBody>
          <a:bodyPr/>
          <a:lstStyle/>
          <a:p>
            <a:pPr>
              <a:spcBef>
                <a:spcPts val="0"/>
              </a:spcBef>
              <a:spcAft>
                <a:spcPts val="600"/>
              </a:spcAft>
            </a:pPr>
            <a:r>
              <a:rPr lang="zh-CN" altLang="en-US" dirty="0"/>
              <a:t>编译器插入预取指令，以便在处理器</a:t>
            </a:r>
            <a:r>
              <a:rPr lang="zh-CN" altLang="en-US" b="1" dirty="0"/>
              <a:t>真正需要数据</a:t>
            </a:r>
            <a:r>
              <a:rPr lang="zh-CN" altLang="en-US" dirty="0">
                <a:solidFill>
                  <a:srgbClr val="FF0000"/>
                </a:solidFill>
              </a:rPr>
              <a:t>之前</a:t>
            </a:r>
            <a:r>
              <a:rPr lang="zh-CN" altLang="en-US" u="sng" dirty="0"/>
              <a:t>将请求的数据导入缓存</a:t>
            </a:r>
            <a:r>
              <a:rPr lang="zh-CN" altLang="en-US" dirty="0"/>
              <a:t>。</a:t>
            </a:r>
          </a:p>
          <a:p>
            <a:pPr>
              <a:spcBef>
                <a:spcPts val="0"/>
              </a:spcBef>
              <a:spcAft>
                <a:spcPts val="600"/>
              </a:spcAft>
            </a:pPr>
            <a:r>
              <a:rPr lang="zh-CN" altLang="en-US" dirty="0"/>
              <a:t>数据预取</a:t>
            </a:r>
          </a:p>
          <a:p>
            <a:pPr marL="628650" lvl="1" indent="-2651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将数据加载到</a:t>
            </a:r>
            <a:r>
              <a:rPr lang="zh-CN" altLang="en-US" b="1" kern="1200" dirty="0">
                <a:cs typeface="Calibri" panose="020F0502020204030204" pitchFamily="34" charset="0"/>
              </a:rPr>
              <a:t>寄存器</a:t>
            </a:r>
            <a:r>
              <a:rPr lang="zh-CN" altLang="en-US" kern="1200" dirty="0">
                <a:cs typeface="Calibri" panose="020F0502020204030204" pitchFamily="34" charset="0"/>
              </a:rPr>
              <a:t>中 </a:t>
            </a:r>
            <a:r>
              <a:rPr lang="en-US" altLang="zh-CN" kern="1200" dirty="0">
                <a:cs typeface="Calibri" panose="020F0502020204030204" pitchFamily="34" charset="0"/>
              </a:rPr>
              <a:t>(HP PA-RISC loads)</a:t>
            </a:r>
            <a:endParaRPr lang="zh-CN" altLang="en-US" kern="1200" dirty="0">
              <a:cs typeface="Calibri" panose="020F0502020204030204" pitchFamily="34" charset="0"/>
            </a:endParaRPr>
          </a:p>
          <a:p>
            <a:pPr marL="628650" lvl="1" indent="-2651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缓存预取：加载到</a:t>
            </a:r>
            <a:r>
              <a:rPr lang="zh-CN" altLang="en-US" b="1" kern="1200" dirty="0">
                <a:cs typeface="Calibri" panose="020F0502020204030204" pitchFamily="34" charset="0"/>
              </a:rPr>
              <a:t>缓存</a:t>
            </a:r>
            <a:r>
              <a:rPr lang="zh-CN" altLang="en-US" kern="1200" dirty="0">
                <a:cs typeface="Calibri" panose="020F0502020204030204" pitchFamily="34" charset="0"/>
              </a:rPr>
              <a:t>中（</a:t>
            </a:r>
            <a:r>
              <a:rPr lang="en-US" altLang="zh-CN" kern="1200" dirty="0">
                <a:cs typeface="Calibri" panose="020F0502020204030204" pitchFamily="34" charset="0"/>
              </a:rPr>
              <a:t>MIPS IV</a:t>
            </a:r>
            <a:r>
              <a:rPr lang="zh-CN" altLang="en-US" kern="1200" dirty="0">
                <a:cs typeface="Calibri" panose="020F0502020204030204" pitchFamily="34" charset="0"/>
              </a:rPr>
              <a:t>、</a:t>
            </a:r>
            <a:r>
              <a:rPr lang="en-US" altLang="zh-CN" kern="1200" dirty="0">
                <a:cs typeface="Calibri" panose="020F0502020204030204" pitchFamily="34" charset="0"/>
              </a:rPr>
              <a:t>PowerPC</a:t>
            </a:r>
            <a:r>
              <a:rPr lang="zh-CN" altLang="en-US" kern="1200" dirty="0">
                <a:cs typeface="Calibri" panose="020F0502020204030204" pitchFamily="34" charset="0"/>
              </a:rPr>
              <a:t>、</a:t>
            </a:r>
            <a:r>
              <a:rPr lang="en-US" altLang="zh-CN" kern="1200" dirty="0">
                <a:cs typeface="Calibri" panose="020F0502020204030204" pitchFamily="34" charset="0"/>
              </a:rPr>
              <a:t>SPARC V9</a:t>
            </a:r>
            <a:r>
              <a:rPr lang="zh-CN" altLang="en-US" kern="1200" dirty="0">
                <a:cs typeface="Calibri" panose="020F0502020204030204" pitchFamily="34" charset="0"/>
              </a:rPr>
              <a:t>）</a:t>
            </a:r>
          </a:p>
          <a:p>
            <a:pPr marL="628650" lvl="1" indent="-265113">
              <a:spcBef>
                <a:spcPts val="0"/>
              </a:spcBef>
              <a:spcAft>
                <a:spcPts val="600"/>
              </a:spcAft>
              <a:buClr>
                <a:schemeClr val="tx1"/>
              </a:buClr>
              <a:buFont typeface="Tahoma" panose="020B0604030504040204" pitchFamily="34" charset="0"/>
              <a:buChar char="−"/>
              <a:defRPr/>
            </a:pPr>
            <a:r>
              <a:rPr lang="zh-CN" altLang="en-US" b="1" kern="1200" dirty="0">
                <a:solidFill>
                  <a:schemeClr val="tx1">
                    <a:lumMod val="95000"/>
                    <a:lumOff val="5000"/>
                  </a:schemeClr>
                </a:solidFill>
                <a:cs typeface="Calibri" panose="020F0502020204030204" pitchFamily="34" charset="0"/>
              </a:rPr>
              <a:t>注意：</a:t>
            </a:r>
            <a:r>
              <a:rPr lang="zh-CN" altLang="en-US" kern="1200" dirty="0">
                <a:solidFill>
                  <a:srgbClr val="FF0000"/>
                </a:solidFill>
                <a:cs typeface="Calibri" panose="020F0502020204030204" pitchFamily="34" charset="0"/>
              </a:rPr>
              <a:t>通常预取指令不允许导致故障</a:t>
            </a:r>
            <a:r>
              <a:rPr lang="zh-CN" altLang="en-US" kern="1200" dirty="0">
                <a:cs typeface="Calibri" panose="020F0502020204030204" pitchFamily="34" charset="0"/>
              </a:rPr>
              <a:t>；预取实际上也是属于推测执行的一种形式。</a:t>
            </a:r>
          </a:p>
          <a:p>
            <a:pPr>
              <a:spcBef>
                <a:spcPts val="0"/>
              </a:spcBef>
              <a:spcAft>
                <a:spcPts val="600"/>
              </a:spcAft>
            </a:pPr>
            <a:r>
              <a:rPr lang="zh-CN" altLang="en-US" dirty="0"/>
              <a:t>关于预取需要注意的地方：</a:t>
            </a:r>
          </a:p>
          <a:p>
            <a:pPr lvl="1">
              <a:spcBef>
                <a:spcPts val="0"/>
              </a:spcBef>
              <a:spcAft>
                <a:spcPts val="600"/>
              </a:spcAft>
            </a:pPr>
            <a:r>
              <a:rPr lang="zh-CN" altLang="en-US" dirty="0"/>
              <a:t>预取指令的开销 是否小于 减少缺失所带来的收益？</a:t>
            </a:r>
          </a:p>
          <a:p>
            <a:pPr lvl="1">
              <a:spcBef>
                <a:spcPts val="0"/>
              </a:spcBef>
              <a:spcAft>
                <a:spcPts val="600"/>
              </a:spcAft>
            </a:pPr>
            <a:r>
              <a:rPr lang="zh-CN" altLang="en-US" dirty="0"/>
              <a:t>更激进的超标量 可减轻 指令发射带宽的问题，但预取会造成更大的访存流量。</a:t>
            </a:r>
          </a:p>
          <a:p>
            <a:pPr>
              <a:spcBef>
                <a:spcPts val="0"/>
              </a:spcBef>
              <a:spcAft>
                <a:spcPts val="600"/>
              </a:spcAft>
            </a:pPr>
            <a:endParaRPr lang="zh-CN" altLang="en-US" dirty="0"/>
          </a:p>
        </p:txBody>
      </p:sp>
      <p:sp>
        <p:nvSpPr>
          <p:cNvPr id="4" name="灯片编号占位符 3">
            <a:extLst>
              <a:ext uri="{FF2B5EF4-FFF2-40B4-BE49-F238E27FC236}">
                <a16:creationId xmlns:a16="http://schemas.microsoft.com/office/drawing/2014/main" id="{4408A20A-B054-4167-A2BC-36AE89C02769}"/>
              </a:ext>
            </a:extLst>
          </p:cNvPr>
          <p:cNvSpPr>
            <a:spLocks noGrp="1"/>
          </p:cNvSpPr>
          <p:nvPr>
            <p:ph type="sldNum" sz="quarter" idx="12"/>
          </p:nvPr>
        </p:nvSpPr>
        <p:spPr/>
        <p:txBody>
          <a:bodyPr/>
          <a:lstStyle/>
          <a:p>
            <a:fld id="{281828B1-9571-413B-8DF6-88C4749FAF08}" type="slidenum">
              <a:rPr lang="en-US" altLang="en-US" smtClean="0"/>
              <a:pPr/>
              <a:t>30</a:t>
            </a:fld>
            <a:endParaRPr lang="en-US" altLang="en-US"/>
          </a:p>
        </p:txBody>
      </p:sp>
    </p:spTree>
    <p:extLst>
      <p:ext uri="{BB962C8B-B14F-4D97-AF65-F5344CB8AC3E}">
        <p14:creationId xmlns:p14="http://schemas.microsoft.com/office/powerpoint/2010/main" val="2199327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099F22-74A7-4FE3-AAF1-4B2DE9836D8B}"/>
              </a:ext>
            </a:extLst>
          </p:cNvPr>
          <p:cNvSpPr>
            <a:spLocks noGrp="1"/>
          </p:cNvSpPr>
          <p:nvPr>
            <p:ph type="title"/>
          </p:nvPr>
        </p:nvSpPr>
        <p:spPr/>
        <p:txBody>
          <a:bodyPr/>
          <a:lstStyle/>
          <a:p>
            <a:r>
              <a:rPr lang="zh-CN" altLang="en-US" dirty="0"/>
              <a:t>书上的例子</a:t>
            </a:r>
          </a:p>
        </p:txBody>
      </p:sp>
      <p:sp>
        <p:nvSpPr>
          <p:cNvPr id="4" name="灯片编号占位符 3">
            <a:extLst>
              <a:ext uri="{FF2B5EF4-FFF2-40B4-BE49-F238E27FC236}">
                <a16:creationId xmlns:a16="http://schemas.microsoft.com/office/drawing/2014/main" id="{6897D289-9093-4814-97DC-2E699F149613}"/>
              </a:ext>
            </a:extLst>
          </p:cNvPr>
          <p:cNvSpPr>
            <a:spLocks noGrp="1"/>
          </p:cNvSpPr>
          <p:nvPr>
            <p:ph type="sldNum" sz="quarter" idx="12"/>
          </p:nvPr>
        </p:nvSpPr>
        <p:spPr/>
        <p:txBody>
          <a:bodyPr/>
          <a:lstStyle/>
          <a:p>
            <a:fld id="{281828B1-9571-413B-8DF6-88C4749FAF08}" type="slidenum">
              <a:rPr lang="en-US" altLang="en-US" smtClean="0"/>
              <a:pPr/>
              <a:t>31</a:t>
            </a:fld>
            <a:endParaRPr lang="en-US" altLang="en-US"/>
          </a:p>
        </p:txBody>
      </p:sp>
      <p:pic>
        <p:nvPicPr>
          <p:cNvPr id="5" name="图片 4">
            <a:extLst>
              <a:ext uri="{FF2B5EF4-FFF2-40B4-BE49-F238E27FC236}">
                <a16:creationId xmlns:a16="http://schemas.microsoft.com/office/drawing/2014/main" id="{46258BBB-6510-43F2-8AD5-48F53CF383AD}"/>
              </a:ext>
            </a:extLst>
          </p:cNvPr>
          <p:cNvPicPr>
            <a:picLocks noChangeAspect="1"/>
          </p:cNvPicPr>
          <p:nvPr/>
        </p:nvPicPr>
        <p:blipFill>
          <a:blip r:embed="rId2"/>
          <a:stretch>
            <a:fillRect/>
          </a:stretch>
        </p:blipFill>
        <p:spPr>
          <a:xfrm>
            <a:off x="533400" y="1447800"/>
            <a:ext cx="8077200" cy="3589867"/>
          </a:xfrm>
          <a:prstGeom prst="rect">
            <a:avLst/>
          </a:prstGeom>
        </p:spPr>
      </p:pic>
    </p:spTree>
    <p:extLst>
      <p:ext uri="{BB962C8B-B14F-4D97-AF65-F5344CB8AC3E}">
        <p14:creationId xmlns:p14="http://schemas.microsoft.com/office/powerpoint/2010/main" val="1943552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5BA380-8704-47A7-82DF-E957649011F5}"/>
              </a:ext>
            </a:extLst>
          </p:cNvPr>
          <p:cNvSpPr>
            <a:spLocks noGrp="1"/>
          </p:cNvSpPr>
          <p:nvPr>
            <p:ph type="title"/>
          </p:nvPr>
        </p:nvSpPr>
        <p:spPr/>
        <p:txBody>
          <a:bodyPr/>
          <a:lstStyle/>
          <a:p>
            <a:r>
              <a:rPr lang="zh-CN" altLang="en-US" dirty="0"/>
              <a:t>基于编译预取的优化</a:t>
            </a:r>
          </a:p>
        </p:txBody>
      </p:sp>
      <p:sp>
        <p:nvSpPr>
          <p:cNvPr id="4" name="灯片编号占位符 3">
            <a:extLst>
              <a:ext uri="{FF2B5EF4-FFF2-40B4-BE49-F238E27FC236}">
                <a16:creationId xmlns:a16="http://schemas.microsoft.com/office/drawing/2014/main" id="{ACD12CC5-DF11-4466-8887-E3E78D4E4415}"/>
              </a:ext>
            </a:extLst>
          </p:cNvPr>
          <p:cNvSpPr>
            <a:spLocks noGrp="1"/>
          </p:cNvSpPr>
          <p:nvPr>
            <p:ph type="sldNum" sz="quarter" idx="12"/>
          </p:nvPr>
        </p:nvSpPr>
        <p:spPr/>
        <p:txBody>
          <a:bodyPr/>
          <a:lstStyle/>
          <a:p>
            <a:fld id="{281828B1-9571-413B-8DF6-88C4749FAF08}" type="slidenum">
              <a:rPr lang="en-US" altLang="en-US" smtClean="0"/>
              <a:pPr/>
              <a:t>32</a:t>
            </a:fld>
            <a:endParaRPr lang="en-US" altLang="en-US"/>
          </a:p>
        </p:txBody>
      </p:sp>
      <p:pic>
        <p:nvPicPr>
          <p:cNvPr id="5" name="图片 4">
            <a:extLst>
              <a:ext uri="{FF2B5EF4-FFF2-40B4-BE49-F238E27FC236}">
                <a16:creationId xmlns:a16="http://schemas.microsoft.com/office/drawing/2014/main" id="{73778148-5770-4BE1-BB8A-22C3EB5CACBE}"/>
              </a:ext>
            </a:extLst>
          </p:cNvPr>
          <p:cNvPicPr>
            <a:picLocks noChangeAspect="1"/>
          </p:cNvPicPr>
          <p:nvPr/>
        </p:nvPicPr>
        <p:blipFill>
          <a:blip r:embed="rId2"/>
          <a:stretch>
            <a:fillRect/>
          </a:stretch>
        </p:blipFill>
        <p:spPr>
          <a:xfrm>
            <a:off x="152400" y="1276350"/>
            <a:ext cx="8839200" cy="4305300"/>
          </a:xfrm>
          <a:prstGeom prst="rect">
            <a:avLst/>
          </a:prstGeom>
        </p:spPr>
      </p:pic>
    </p:spTree>
    <p:extLst>
      <p:ext uri="{BB962C8B-B14F-4D97-AF65-F5344CB8AC3E}">
        <p14:creationId xmlns:p14="http://schemas.microsoft.com/office/powerpoint/2010/main" val="2385484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D131DE-72BF-4827-8849-CDA6B150C131}"/>
              </a:ext>
            </a:extLst>
          </p:cNvPr>
          <p:cNvSpPr>
            <a:spLocks noGrp="1"/>
          </p:cNvSpPr>
          <p:nvPr>
            <p:ph type="title"/>
          </p:nvPr>
        </p:nvSpPr>
        <p:spPr/>
        <p:txBody>
          <a:bodyPr/>
          <a:lstStyle/>
          <a:p>
            <a:r>
              <a:rPr lang="en-US" altLang="zh-CN" dirty="0"/>
              <a:t>GCC</a:t>
            </a:r>
            <a:r>
              <a:rPr lang="en-US" altLang="zh-CN" dirty="0">
                <a:latin typeface="Calibri" panose="020F0502020204030204" pitchFamily="34" charset="0"/>
                <a:cs typeface="Calibri" panose="020F0502020204030204" pitchFamily="34" charset="0"/>
              </a:rPr>
              <a:t>’</a:t>
            </a:r>
            <a:r>
              <a:rPr lang="en-US" altLang="zh-CN" dirty="0"/>
              <a:t>s support for data prefetch</a:t>
            </a:r>
            <a:endParaRPr lang="zh-CN" altLang="en-US" dirty="0"/>
          </a:p>
        </p:txBody>
      </p:sp>
      <p:sp>
        <p:nvSpPr>
          <p:cNvPr id="4" name="灯片编号占位符 3">
            <a:extLst>
              <a:ext uri="{FF2B5EF4-FFF2-40B4-BE49-F238E27FC236}">
                <a16:creationId xmlns:a16="http://schemas.microsoft.com/office/drawing/2014/main" id="{C582A0BA-E378-4EC0-B83D-42076FA1F191}"/>
              </a:ext>
            </a:extLst>
          </p:cNvPr>
          <p:cNvSpPr>
            <a:spLocks noGrp="1"/>
          </p:cNvSpPr>
          <p:nvPr>
            <p:ph type="sldNum" sz="quarter" idx="12"/>
          </p:nvPr>
        </p:nvSpPr>
        <p:spPr/>
        <p:txBody>
          <a:bodyPr/>
          <a:lstStyle/>
          <a:p>
            <a:fld id="{281828B1-9571-413B-8DF6-88C4749FAF08}" type="slidenum">
              <a:rPr lang="en-US" altLang="en-US" smtClean="0"/>
              <a:pPr/>
              <a:t>33</a:t>
            </a:fld>
            <a:endParaRPr lang="en-US" altLang="en-US"/>
          </a:p>
        </p:txBody>
      </p:sp>
      <p:pic>
        <p:nvPicPr>
          <p:cNvPr id="5" name="图片 4">
            <a:extLst>
              <a:ext uri="{FF2B5EF4-FFF2-40B4-BE49-F238E27FC236}">
                <a16:creationId xmlns:a16="http://schemas.microsoft.com/office/drawing/2014/main" id="{FF73BBB2-908E-4036-80A6-BA3AFF00F31B}"/>
              </a:ext>
            </a:extLst>
          </p:cNvPr>
          <p:cNvPicPr>
            <a:picLocks noChangeAspect="1"/>
          </p:cNvPicPr>
          <p:nvPr/>
        </p:nvPicPr>
        <p:blipFill>
          <a:blip r:embed="rId2"/>
          <a:stretch>
            <a:fillRect/>
          </a:stretch>
        </p:blipFill>
        <p:spPr>
          <a:xfrm>
            <a:off x="457200" y="1047750"/>
            <a:ext cx="7867650" cy="5200650"/>
          </a:xfrm>
          <a:prstGeom prst="rect">
            <a:avLst/>
          </a:prstGeom>
        </p:spPr>
      </p:pic>
      <p:sp>
        <p:nvSpPr>
          <p:cNvPr id="6" name="文本框 5">
            <a:extLst>
              <a:ext uri="{FF2B5EF4-FFF2-40B4-BE49-F238E27FC236}">
                <a16:creationId xmlns:a16="http://schemas.microsoft.com/office/drawing/2014/main" id="{83E7F722-6804-428B-81E6-379FF0E5FFC8}"/>
              </a:ext>
            </a:extLst>
          </p:cNvPr>
          <p:cNvSpPr txBox="1"/>
          <p:nvPr/>
        </p:nvSpPr>
        <p:spPr>
          <a:xfrm>
            <a:off x="2195552" y="6286500"/>
            <a:ext cx="4390946" cy="369332"/>
          </a:xfrm>
          <a:prstGeom prst="rect">
            <a:avLst/>
          </a:prstGeom>
          <a:noFill/>
        </p:spPr>
        <p:txBody>
          <a:bodyPr wrap="none" rtlCol="0">
            <a:spAutoFit/>
          </a:bodyPr>
          <a:lstStyle/>
          <a:p>
            <a:r>
              <a:rPr lang="en-US" altLang="zh-CN" dirty="0">
                <a:hlinkClick r:id="rId3"/>
              </a:rPr>
              <a:t>https://ibrahimessam.com/posts/prefetch/</a:t>
            </a:r>
            <a:endParaRPr lang="zh-CN" altLang="en-US" dirty="0"/>
          </a:p>
        </p:txBody>
      </p:sp>
    </p:spTree>
    <p:extLst>
      <p:ext uri="{BB962C8B-B14F-4D97-AF65-F5344CB8AC3E}">
        <p14:creationId xmlns:p14="http://schemas.microsoft.com/office/powerpoint/2010/main" val="23668142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Bonus: some papers</a:t>
            </a:r>
            <a:endParaRPr lang="zh-CN" altLang="en-US" dirty="0"/>
          </a:p>
        </p:txBody>
      </p:sp>
      <p:sp>
        <p:nvSpPr>
          <p:cNvPr id="3" name="内容占位符 2"/>
          <p:cNvSpPr>
            <a:spLocks noGrp="1"/>
          </p:cNvSpPr>
          <p:nvPr>
            <p:ph idx="1"/>
          </p:nvPr>
        </p:nvSpPr>
        <p:spPr/>
        <p:txBody>
          <a:bodyPr/>
          <a:lstStyle/>
          <a:p>
            <a:r>
              <a:rPr lang="en-US" altLang="zh-CN" dirty="0"/>
              <a:t>Victim cache</a:t>
            </a:r>
          </a:p>
          <a:p>
            <a:r>
              <a:rPr lang="en-US" altLang="zh-CN" dirty="0"/>
              <a:t>Skewed Associative Caches</a:t>
            </a:r>
          </a:p>
          <a:p>
            <a:r>
              <a:rPr lang="en-US" altLang="zh-CN" dirty="0"/>
              <a:t>MLP-Aware Replacement</a:t>
            </a:r>
          </a:p>
          <a:p>
            <a:r>
              <a:rPr lang="en-US" altLang="zh-CN" dirty="0"/>
              <a:t>Issues in Multicore Caches</a:t>
            </a:r>
          </a:p>
          <a:p>
            <a:r>
              <a:rPr lang="en-US" altLang="zh-CN" dirty="0"/>
              <a:t>……</a:t>
            </a:r>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34</a:t>
            </a:fld>
            <a:endParaRPr lang="en-US" altLang="en-US"/>
          </a:p>
        </p:txBody>
      </p:sp>
    </p:spTree>
    <p:extLst>
      <p:ext uri="{BB962C8B-B14F-4D97-AF65-F5344CB8AC3E}">
        <p14:creationId xmlns:p14="http://schemas.microsoft.com/office/powerpoint/2010/main" val="34708591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p:cNvSpPr>
            <a:spLocks noGrp="1"/>
          </p:cNvSpPr>
          <p:nvPr>
            <p:ph type="title"/>
          </p:nvPr>
        </p:nvSpPr>
        <p:spPr>
          <a:xfrm>
            <a:off x="457200" y="238869"/>
            <a:ext cx="8229600" cy="751731"/>
          </a:xfrm>
        </p:spPr>
        <p:txBody>
          <a:bodyPr/>
          <a:lstStyle/>
          <a:p>
            <a:r>
              <a:rPr lang="en-US" dirty="0">
                <a:latin typeface="+mj-lt"/>
              </a:rPr>
              <a:t>Victim Cache: </a:t>
            </a:r>
            <a:r>
              <a:rPr lang="zh-CN" altLang="en-US" dirty="0">
                <a:latin typeface="+mj-lt"/>
              </a:rPr>
              <a:t>减少冲突失效</a:t>
            </a:r>
            <a:endParaRPr lang="en-US" dirty="0">
              <a:latin typeface="+mj-lt"/>
            </a:endParaRPr>
          </a:p>
        </p:txBody>
      </p:sp>
      <p:sp>
        <p:nvSpPr>
          <p:cNvPr id="3" name="Content Placeholder 2"/>
          <p:cNvSpPr>
            <a:spLocks noGrp="1"/>
          </p:cNvSpPr>
          <p:nvPr>
            <p:ph idx="1"/>
          </p:nvPr>
        </p:nvSpPr>
        <p:spPr>
          <a:xfrm>
            <a:off x="457200" y="996950"/>
            <a:ext cx="8229600" cy="5744418"/>
          </a:xfrm>
        </p:spPr>
        <p:txBody>
          <a:bodyPr/>
          <a:lstStyle/>
          <a:p>
            <a:pPr>
              <a:spcBef>
                <a:spcPts val="0"/>
              </a:spcBef>
              <a:spcAft>
                <a:spcPts val="600"/>
              </a:spcAft>
            </a:pPr>
            <a:endParaRPr lang="en-US" dirty="0"/>
          </a:p>
          <a:p>
            <a:pPr>
              <a:spcBef>
                <a:spcPts val="0"/>
              </a:spcBef>
              <a:spcAft>
                <a:spcPts val="600"/>
              </a:spcAft>
            </a:pPr>
            <a:endParaRPr lang="en-US" dirty="0"/>
          </a:p>
          <a:p>
            <a:pPr>
              <a:spcBef>
                <a:spcPts val="0"/>
              </a:spcBef>
              <a:spcAft>
                <a:spcPts val="600"/>
              </a:spcAft>
            </a:pPr>
            <a:endParaRPr lang="en-US" dirty="0"/>
          </a:p>
          <a:p>
            <a:pPr marL="0" indent="0">
              <a:spcBef>
                <a:spcPts val="0"/>
              </a:spcBef>
              <a:spcAft>
                <a:spcPts val="600"/>
              </a:spcAft>
              <a:buClr>
                <a:srgbClr val="CC9900"/>
              </a:buClr>
              <a:buNone/>
            </a:pPr>
            <a:endParaRPr lang="en-US" sz="1800" dirty="0">
              <a:solidFill>
                <a:srgbClr val="000000"/>
              </a:solidFill>
            </a:endParaRPr>
          </a:p>
          <a:p>
            <a:pPr marL="628650" lvl="1" indent="-265113" defTabSz="912813">
              <a:spcBef>
                <a:spcPts val="0"/>
              </a:spcBef>
              <a:spcAft>
                <a:spcPts val="600"/>
              </a:spcAft>
              <a:buClr>
                <a:schemeClr val="tx1"/>
              </a:buClr>
              <a:buFont typeface="Tahoma" panose="020B0604030504040204" pitchFamily="34" charset="0"/>
              <a:buChar char="−"/>
              <a:defRPr/>
            </a:pPr>
            <a:r>
              <a:rPr lang="en-US" sz="2400" dirty="0">
                <a:solidFill>
                  <a:schemeClr val="tx1">
                    <a:lumMod val="95000"/>
                    <a:lumOff val="5000"/>
                  </a:schemeClr>
                </a:solidFill>
              </a:rPr>
              <a:t>Norman </a:t>
            </a:r>
            <a:r>
              <a:rPr lang="en-US" sz="2400" dirty="0" err="1">
                <a:solidFill>
                  <a:schemeClr val="tx1">
                    <a:lumMod val="95000"/>
                    <a:lumOff val="5000"/>
                  </a:schemeClr>
                </a:solidFill>
              </a:rPr>
              <a:t>Jouppi</a:t>
            </a:r>
            <a:r>
              <a:rPr lang="en-US" sz="2400" dirty="0">
                <a:solidFill>
                  <a:schemeClr val="tx1">
                    <a:lumMod val="95000"/>
                    <a:lumOff val="5000"/>
                  </a:schemeClr>
                </a:solidFill>
              </a:rPr>
              <a:t>, </a:t>
            </a:r>
            <a:r>
              <a:rPr lang="ja-JP" altLang="en-US" sz="2400" dirty="0">
                <a:solidFill>
                  <a:schemeClr val="tx1">
                    <a:lumMod val="95000"/>
                    <a:lumOff val="5000"/>
                  </a:schemeClr>
                </a:solidFill>
              </a:rPr>
              <a:t>“</a:t>
            </a:r>
            <a:r>
              <a:rPr lang="en-US" altLang="ja-JP" sz="2400" dirty="0">
                <a:solidFill>
                  <a:schemeClr val="tx1">
                    <a:lumMod val="95000"/>
                    <a:lumOff val="5000"/>
                  </a:schemeClr>
                </a:solidFill>
                <a:hlinkClick r:id="rId3"/>
              </a:rPr>
              <a:t>Improving Direct-Mapped Cache Performance by the Addition of a Small Fully-Associative Cache and </a:t>
            </a:r>
            <a:r>
              <a:rPr lang="en-US" altLang="ja-JP" sz="2400" dirty="0" err="1">
                <a:solidFill>
                  <a:schemeClr val="tx1">
                    <a:lumMod val="95000"/>
                    <a:lumOff val="5000"/>
                  </a:schemeClr>
                </a:solidFill>
                <a:hlinkClick r:id="rId3"/>
              </a:rPr>
              <a:t>Prefetch</a:t>
            </a:r>
            <a:r>
              <a:rPr lang="en-US" altLang="ja-JP" sz="2400" dirty="0">
                <a:solidFill>
                  <a:schemeClr val="tx1">
                    <a:lumMod val="95000"/>
                    <a:lumOff val="5000"/>
                  </a:schemeClr>
                </a:solidFill>
                <a:hlinkClick r:id="rId3"/>
              </a:rPr>
              <a:t> Buffers</a:t>
            </a:r>
            <a:r>
              <a:rPr lang="en-US" altLang="ja-JP" sz="2400" dirty="0">
                <a:solidFill>
                  <a:schemeClr val="tx1">
                    <a:lumMod val="95000"/>
                    <a:lumOff val="5000"/>
                  </a:schemeClr>
                </a:solidFill>
              </a:rPr>
              <a:t>,</a:t>
            </a:r>
            <a:r>
              <a:rPr lang="ja-JP" altLang="en-US" sz="2400" dirty="0">
                <a:solidFill>
                  <a:schemeClr val="tx1">
                    <a:lumMod val="95000"/>
                    <a:lumOff val="5000"/>
                  </a:schemeClr>
                </a:solidFill>
              </a:rPr>
              <a:t>”</a:t>
            </a:r>
            <a:r>
              <a:rPr lang="en-US" altLang="ja-JP" sz="2400" dirty="0">
                <a:solidFill>
                  <a:schemeClr val="tx1">
                    <a:lumMod val="95000"/>
                    <a:lumOff val="5000"/>
                  </a:schemeClr>
                </a:solidFill>
              </a:rPr>
              <a:t> ISCA 1990. </a:t>
            </a:r>
          </a:p>
          <a:p>
            <a:pPr marL="628650" lvl="1" indent="-265113" defTabSz="912813">
              <a:spcBef>
                <a:spcPts val="0"/>
              </a:spcBef>
              <a:spcAft>
                <a:spcPts val="600"/>
              </a:spcAft>
              <a:buClr>
                <a:schemeClr val="tx1"/>
              </a:buClr>
              <a:buFont typeface="Tahoma" panose="020B0604030504040204" pitchFamily="34" charset="0"/>
              <a:buChar char="−"/>
              <a:defRPr/>
            </a:pPr>
            <a:r>
              <a:rPr lang="en-US" altLang="zh-CN" kern="1200" dirty="0">
                <a:cs typeface="Calibri" panose="020F0502020204030204" pitchFamily="34" charset="0"/>
              </a:rPr>
              <a:t>ISCA 25</a:t>
            </a:r>
            <a:r>
              <a:rPr lang="zh-CN" altLang="en-US" kern="1200" dirty="0">
                <a:cs typeface="Calibri" panose="020F0502020204030204" pitchFamily="34" charset="0"/>
              </a:rPr>
              <a:t>周年经典论文之一，建议课下阅读。</a:t>
            </a:r>
            <a:endParaRPr lang="en-US" altLang="zh-CN" kern="1200" dirty="0">
              <a:cs typeface="Calibri" panose="020F0502020204030204" pitchFamily="34" charset="0"/>
            </a:endParaRPr>
          </a:p>
          <a:p>
            <a:pPr>
              <a:spcBef>
                <a:spcPts val="0"/>
              </a:spcBef>
              <a:spcAft>
                <a:spcPts val="600"/>
              </a:spcAft>
            </a:pPr>
            <a:r>
              <a:rPr lang="zh-CN" altLang="en-US" sz="2400" b="1" dirty="0"/>
              <a:t>想法：</a:t>
            </a:r>
            <a:r>
              <a:rPr lang="zh-CN" altLang="en-US" sz="2400" dirty="0">
                <a:solidFill>
                  <a:schemeClr val="tx1">
                    <a:lumMod val="95000"/>
                    <a:lumOff val="5000"/>
                  </a:schemeClr>
                </a:solidFill>
              </a:rPr>
              <a:t>使用一个小的全相联的缓冲 </a:t>
            </a:r>
            <a:r>
              <a:rPr lang="en-US" sz="2400" dirty="0">
                <a:solidFill>
                  <a:schemeClr val="tx1">
                    <a:lumMod val="95000"/>
                    <a:lumOff val="5000"/>
                  </a:schemeClr>
                </a:solidFill>
              </a:rPr>
              <a:t>(victim cache) </a:t>
            </a:r>
            <a:r>
              <a:rPr lang="zh-CN" altLang="en-US" sz="2400" dirty="0">
                <a:solidFill>
                  <a:schemeClr val="tx1">
                    <a:lumMod val="95000"/>
                    <a:lumOff val="5000"/>
                  </a:schemeClr>
                </a:solidFill>
              </a:rPr>
              <a:t>来保存被替换出去的</a:t>
            </a:r>
            <a:r>
              <a:rPr lang="en-US" altLang="zh-CN" sz="2400" dirty="0">
                <a:solidFill>
                  <a:schemeClr val="tx1">
                    <a:lumMod val="95000"/>
                    <a:lumOff val="5000"/>
                  </a:schemeClr>
                </a:solidFill>
              </a:rPr>
              <a:t>block</a:t>
            </a:r>
            <a:endParaRPr lang="en-US" sz="1900" dirty="0"/>
          </a:p>
          <a:p>
            <a:pPr lvl="1">
              <a:spcBef>
                <a:spcPts val="0"/>
              </a:spcBef>
              <a:spcAft>
                <a:spcPts val="600"/>
              </a:spcAft>
              <a:buFont typeface="Wingdings" charset="0"/>
              <a:buNone/>
            </a:pPr>
            <a:r>
              <a:rPr lang="en-US" sz="1900" dirty="0"/>
              <a:t>+ </a:t>
            </a:r>
            <a:r>
              <a:rPr lang="zh-CN" altLang="en-US" sz="1900" dirty="0"/>
              <a:t>可以消除映射到同一个</a:t>
            </a:r>
            <a:r>
              <a:rPr lang="en-US" altLang="zh-CN" sz="1900" dirty="0"/>
              <a:t>Set</a:t>
            </a:r>
            <a:r>
              <a:rPr lang="zh-CN" altLang="en-US" sz="1900" dirty="0"/>
              <a:t>里的多个</a:t>
            </a:r>
            <a:r>
              <a:rPr lang="en-US" altLang="zh-CN" sz="1900" dirty="0"/>
              <a:t>block</a:t>
            </a:r>
            <a:r>
              <a:rPr lang="zh-CN" altLang="en-US" sz="1900" dirty="0"/>
              <a:t>形成的乒乓效应</a:t>
            </a:r>
            <a:endParaRPr lang="en-US" sz="1900" dirty="0"/>
          </a:p>
          <a:p>
            <a:pPr lvl="1">
              <a:spcBef>
                <a:spcPts val="0"/>
              </a:spcBef>
              <a:spcAft>
                <a:spcPts val="600"/>
              </a:spcAft>
              <a:buFont typeface="Wingdings" charset="0"/>
              <a:buNone/>
            </a:pPr>
            <a:r>
              <a:rPr lang="en-US" altLang="zh-CN" sz="1900" dirty="0"/>
              <a:t>- </a:t>
            </a:r>
            <a:r>
              <a:rPr lang="en-US" sz="1900" dirty="0"/>
              <a:t> </a:t>
            </a:r>
            <a:r>
              <a:rPr lang="zh-CN" altLang="en-US" sz="1900" dirty="0"/>
              <a:t>如果与</a:t>
            </a:r>
            <a:r>
              <a:rPr lang="en-US" altLang="zh-CN" sz="1900" dirty="0" err="1"/>
              <a:t>L2</a:t>
            </a:r>
            <a:r>
              <a:rPr lang="zh-CN" altLang="en-US" sz="1900" dirty="0"/>
              <a:t>顺序访问，有可能增加缺失时的延迟</a:t>
            </a:r>
            <a:r>
              <a:rPr lang="en-US" sz="1900" dirty="0"/>
              <a:t>;</a:t>
            </a:r>
          </a:p>
          <a:p>
            <a:pPr lvl="1">
              <a:spcBef>
                <a:spcPts val="0"/>
              </a:spcBef>
              <a:spcAft>
                <a:spcPts val="600"/>
              </a:spcAft>
              <a:buFont typeface="Wingdings" charset="0"/>
              <a:buNone/>
            </a:pPr>
            <a:r>
              <a:rPr lang="en-US" altLang="zh-CN" sz="1900" dirty="0"/>
              <a:t>-  </a:t>
            </a:r>
            <a:r>
              <a:rPr lang="zh-CN" altLang="en-US" sz="1900" dirty="0"/>
              <a:t>增加了设计的复杂度</a:t>
            </a:r>
            <a:endParaRPr lang="en-US" sz="1900" dirty="0"/>
          </a:p>
        </p:txBody>
      </p:sp>
      <p:sp>
        <p:nvSpPr>
          <p:cNvPr id="5" name="灯片编号占位符 4"/>
          <p:cNvSpPr>
            <a:spLocks noGrp="1"/>
          </p:cNvSpPr>
          <p:nvPr>
            <p:ph type="sldNum" sz="quarter" idx="12"/>
          </p:nvPr>
        </p:nvSpPr>
        <p:spPr/>
        <p:txBody>
          <a:bodyPr/>
          <a:lstStyle/>
          <a:p>
            <a:pPr>
              <a:defRPr/>
            </a:pPr>
            <a:fld id="{4D61D28F-70AE-4570-A6CA-7CE9CC809164}" type="slidenum">
              <a:rPr lang="en-US" altLang="zh-CN" smtClean="0"/>
              <a:pPr>
                <a:defRPr/>
              </a:pPr>
              <a:t>35</a:t>
            </a:fld>
            <a:endParaRPr lang="en-US" altLang="zh-CN"/>
          </a:p>
        </p:txBody>
      </p:sp>
      <p:sp>
        <p:nvSpPr>
          <p:cNvPr id="89092" name="Rectangle 4"/>
          <p:cNvSpPr>
            <a:spLocks noChangeArrowheads="1"/>
          </p:cNvSpPr>
          <p:nvPr/>
        </p:nvSpPr>
        <p:spPr bwMode="auto">
          <a:xfrm>
            <a:off x="1371600" y="1052736"/>
            <a:ext cx="1158875" cy="17176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89093" name="TextBox 5"/>
          <p:cNvSpPr txBox="1">
            <a:spLocks noChangeArrowheads="1"/>
          </p:cNvSpPr>
          <p:nvPr/>
        </p:nvSpPr>
        <p:spPr bwMode="auto">
          <a:xfrm>
            <a:off x="1417638" y="1432149"/>
            <a:ext cx="10477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dirty="0">
                <a:solidFill>
                  <a:srgbClr val="FF0000"/>
                </a:solidFill>
                <a:cs typeface="Arial" charset="0"/>
              </a:rPr>
              <a:t>Direct Mapped </a:t>
            </a:r>
            <a:r>
              <a:rPr lang="en-US" sz="1600" dirty="0">
                <a:solidFill>
                  <a:srgbClr val="000000"/>
                </a:solidFill>
                <a:cs typeface="Arial" charset="0"/>
              </a:rPr>
              <a:t>Cache</a:t>
            </a:r>
          </a:p>
        </p:txBody>
      </p:sp>
      <p:sp>
        <p:nvSpPr>
          <p:cNvPr id="89094" name="Rectangle 6"/>
          <p:cNvSpPr>
            <a:spLocks noChangeArrowheads="1"/>
          </p:cNvSpPr>
          <p:nvPr/>
        </p:nvSpPr>
        <p:spPr bwMode="auto">
          <a:xfrm>
            <a:off x="3241675" y="1652811"/>
            <a:ext cx="877888" cy="37941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89095" name="Rectangle 7"/>
          <p:cNvSpPr>
            <a:spLocks noChangeArrowheads="1"/>
          </p:cNvSpPr>
          <p:nvPr/>
        </p:nvSpPr>
        <p:spPr bwMode="auto">
          <a:xfrm>
            <a:off x="5154613" y="1052736"/>
            <a:ext cx="1622425" cy="171767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endParaRPr>
          </a:p>
        </p:txBody>
      </p:sp>
      <p:sp>
        <p:nvSpPr>
          <p:cNvPr id="89096" name="TextBox 8"/>
          <p:cNvSpPr txBox="1">
            <a:spLocks noChangeArrowheads="1"/>
          </p:cNvSpPr>
          <p:nvPr/>
        </p:nvSpPr>
        <p:spPr bwMode="auto">
          <a:xfrm>
            <a:off x="5200650" y="1579786"/>
            <a:ext cx="1466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a:solidFill>
                  <a:srgbClr val="000000"/>
                </a:solidFill>
                <a:cs typeface="Arial" charset="0"/>
              </a:rPr>
              <a:t>Next Level</a:t>
            </a:r>
          </a:p>
          <a:p>
            <a:pPr algn="ctr" eaLnBrk="1" hangingPunct="1"/>
            <a:r>
              <a:rPr lang="en-US" sz="1600">
                <a:solidFill>
                  <a:srgbClr val="000000"/>
                </a:solidFill>
                <a:cs typeface="Arial" charset="0"/>
              </a:rPr>
              <a:t>Cache</a:t>
            </a:r>
          </a:p>
        </p:txBody>
      </p:sp>
      <p:cxnSp>
        <p:nvCxnSpPr>
          <p:cNvPr id="89097" name="Straight Arrow Connector 10"/>
          <p:cNvCxnSpPr>
            <a:cxnSpLocks noChangeShapeType="1"/>
            <a:endCxn id="89094" idx="1"/>
          </p:cNvCxnSpPr>
          <p:nvPr/>
        </p:nvCxnSpPr>
        <p:spPr bwMode="auto">
          <a:xfrm>
            <a:off x="2530475" y="1841724"/>
            <a:ext cx="711200" cy="1587"/>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cxnSp>
        <p:nvCxnSpPr>
          <p:cNvPr id="89098" name="Straight Arrow Connector 13"/>
          <p:cNvCxnSpPr>
            <a:cxnSpLocks noChangeShapeType="1"/>
          </p:cNvCxnSpPr>
          <p:nvPr/>
        </p:nvCxnSpPr>
        <p:spPr bwMode="auto">
          <a:xfrm>
            <a:off x="2530475" y="2262411"/>
            <a:ext cx="2624138" cy="1588"/>
          </a:xfrm>
          <a:prstGeom prst="straightConnector1">
            <a:avLst/>
          </a:prstGeom>
          <a:noFill/>
          <a:ln w="9525">
            <a:solidFill>
              <a:schemeClr val="tx1"/>
            </a:solidFill>
            <a:round/>
            <a:headEnd type="arrow" w="med" len="med"/>
            <a:tailEnd type="arrow" w="med" len="med"/>
          </a:ln>
          <a:extLst>
            <a:ext uri="{909E8E84-426E-40DD-AFC4-6F175D3DCCD1}">
              <a14:hiddenFill xmlns:a14="http://schemas.microsoft.com/office/drawing/2010/main">
                <a:noFill/>
              </a14:hiddenFill>
            </a:ext>
          </a:extLst>
        </p:spPr>
      </p:cxnSp>
      <p:sp>
        <p:nvSpPr>
          <p:cNvPr id="89099" name="TextBox 15"/>
          <p:cNvSpPr txBox="1">
            <a:spLocks noChangeArrowheads="1"/>
          </p:cNvSpPr>
          <p:nvPr/>
        </p:nvSpPr>
        <p:spPr bwMode="auto">
          <a:xfrm>
            <a:off x="3159125" y="1108299"/>
            <a:ext cx="1047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a:solidFill>
                  <a:srgbClr val="000000"/>
                </a:solidFill>
                <a:cs typeface="Arial" charset="0"/>
              </a:rPr>
              <a:t>Victim cache</a:t>
            </a:r>
          </a:p>
        </p:txBody>
      </p:sp>
      <p:pic>
        <p:nvPicPr>
          <p:cNvPr id="6" name="图片 5">
            <a:extLst>
              <a:ext uri="{FF2B5EF4-FFF2-40B4-BE49-F238E27FC236}">
                <a16:creationId xmlns:a16="http://schemas.microsoft.com/office/drawing/2014/main" id="{EBFEE738-F3C0-4ECF-8962-07AC97ADD80D}"/>
              </a:ext>
            </a:extLst>
          </p:cNvPr>
          <p:cNvPicPr>
            <a:picLocks noChangeAspect="1"/>
          </p:cNvPicPr>
          <p:nvPr/>
        </p:nvPicPr>
        <p:blipFill>
          <a:blip r:embed="rId4"/>
          <a:stretch>
            <a:fillRect/>
          </a:stretch>
        </p:blipFill>
        <p:spPr>
          <a:xfrm>
            <a:off x="457200" y="956518"/>
            <a:ext cx="8229600" cy="1933791"/>
          </a:xfrm>
          <a:prstGeom prst="rect">
            <a:avLst/>
          </a:prstGeom>
        </p:spPr>
      </p:pic>
    </p:spTree>
    <p:extLst>
      <p:ext uri="{BB962C8B-B14F-4D97-AF65-F5344CB8AC3E}">
        <p14:creationId xmlns:p14="http://schemas.microsoft.com/office/powerpoint/2010/main" val="24975346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p:cNvSpPr>
            <a:spLocks noGrp="1"/>
          </p:cNvSpPr>
          <p:nvPr>
            <p:ph type="title"/>
          </p:nvPr>
        </p:nvSpPr>
        <p:spPr>
          <a:xfrm>
            <a:off x="457200" y="270520"/>
            <a:ext cx="8229600" cy="720080"/>
          </a:xfrm>
        </p:spPr>
        <p:txBody>
          <a:bodyPr/>
          <a:lstStyle/>
          <a:p>
            <a:r>
              <a:rPr lang="en-US" dirty="0">
                <a:latin typeface="+mj-lt"/>
              </a:rPr>
              <a:t>Hashing and Pseudo-Associativity</a:t>
            </a:r>
          </a:p>
        </p:txBody>
      </p:sp>
      <p:sp>
        <p:nvSpPr>
          <p:cNvPr id="3" name="Content Placeholder 2"/>
          <p:cNvSpPr>
            <a:spLocks noGrp="1"/>
          </p:cNvSpPr>
          <p:nvPr>
            <p:ph idx="1"/>
          </p:nvPr>
        </p:nvSpPr>
        <p:spPr>
          <a:xfrm>
            <a:off x="457200" y="996950"/>
            <a:ext cx="8229600" cy="5528394"/>
          </a:xfrm>
        </p:spPr>
        <p:txBody>
          <a:bodyPr/>
          <a:lstStyle/>
          <a:p>
            <a:r>
              <a:rPr lang="en-US" sz="2800" dirty="0"/>
              <a:t>Hashing: </a:t>
            </a:r>
            <a:r>
              <a:rPr lang="zh-CN" altLang="en-US" sz="2800" dirty="0"/>
              <a:t>使得</a:t>
            </a:r>
            <a:r>
              <a:rPr lang="en-US" altLang="zh-CN" sz="2800" dirty="0"/>
              <a:t>index</a:t>
            </a:r>
            <a:r>
              <a:rPr lang="zh-CN" altLang="en-US" sz="2800" b="1" dirty="0"/>
              <a:t>更加离散</a:t>
            </a:r>
            <a:r>
              <a:rPr lang="en-US" altLang="ja-JP" sz="2800" b="1" dirty="0"/>
              <a:t> </a:t>
            </a:r>
          </a:p>
          <a:p>
            <a:pPr lvl="1">
              <a:buFont typeface="Wingdings" charset="0"/>
              <a:buNone/>
            </a:pPr>
            <a:r>
              <a:rPr lang="en-US" dirty="0"/>
              <a:t>+ </a:t>
            </a:r>
            <a:r>
              <a:rPr lang="zh-CN" altLang="en-US" sz="2400" dirty="0"/>
              <a:t>能够减少冲突缺失</a:t>
            </a:r>
            <a:endParaRPr lang="en-US" sz="2400" dirty="0"/>
          </a:p>
          <a:p>
            <a:pPr lvl="2"/>
            <a:r>
              <a:rPr lang="en-US" altLang="zh-CN" sz="2000" dirty="0">
                <a:solidFill>
                  <a:srgbClr val="FF0000"/>
                </a:solidFill>
              </a:rPr>
              <a:t>Hashing</a:t>
            </a:r>
            <a:r>
              <a:rPr lang="zh-CN" altLang="en-US" sz="2000" dirty="0">
                <a:solidFill>
                  <a:srgbClr val="FF0000"/>
                </a:solidFill>
              </a:rPr>
              <a:t>使得</a:t>
            </a:r>
            <a:r>
              <a:rPr lang="en-US" altLang="zh-CN" sz="2000" dirty="0">
                <a:solidFill>
                  <a:srgbClr val="FF0000"/>
                </a:solidFill>
              </a:rPr>
              <a:t>block</a:t>
            </a:r>
            <a:r>
              <a:rPr lang="en-US" sz="2000" dirty="0">
                <a:solidFill>
                  <a:srgbClr val="FF0000"/>
                </a:solidFill>
              </a:rPr>
              <a:t>s</a:t>
            </a:r>
            <a:r>
              <a:rPr lang="zh-CN" altLang="en-US" sz="2000" dirty="0">
                <a:solidFill>
                  <a:srgbClr val="FF0000"/>
                </a:solidFill>
              </a:rPr>
              <a:t>更加均匀地分布到</a:t>
            </a:r>
            <a:r>
              <a:rPr lang="en-US" altLang="zh-CN" sz="2000" dirty="0">
                <a:solidFill>
                  <a:srgbClr val="FF0000"/>
                </a:solidFill>
              </a:rPr>
              <a:t>sets</a:t>
            </a:r>
            <a:r>
              <a:rPr lang="zh-CN" altLang="en-US" sz="2000" dirty="0">
                <a:solidFill>
                  <a:srgbClr val="FF0000"/>
                </a:solidFill>
              </a:rPr>
              <a:t>里面</a:t>
            </a:r>
            <a:endParaRPr lang="en-US" sz="2000" dirty="0">
              <a:solidFill>
                <a:srgbClr val="FF0000"/>
              </a:solidFill>
            </a:endParaRPr>
          </a:p>
          <a:p>
            <a:pPr lvl="1">
              <a:buFont typeface="Wingdings" charset="0"/>
              <a:buNone/>
            </a:pPr>
            <a:r>
              <a:rPr lang="en-US" dirty="0"/>
              <a:t>-  </a:t>
            </a:r>
            <a:r>
              <a:rPr lang="zh-CN" altLang="en-US" sz="2400" dirty="0"/>
              <a:t>哈希的计算复杂</a:t>
            </a:r>
            <a:r>
              <a:rPr lang="zh-CN" altLang="en-US" dirty="0"/>
              <a:t>且耗时</a:t>
            </a:r>
            <a:r>
              <a:rPr lang="zh-CN" altLang="en-US" sz="2400" dirty="0"/>
              <a:t>：可能会延长关键路径</a:t>
            </a:r>
            <a:endParaRPr lang="en-US" dirty="0"/>
          </a:p>
          <a:p>
            <a:r>
              <a:rPr lang="en-US" sz="2800" dirty="0"/>
              <a:t>Pseudo-associativity (</a:t>
            </a:r>
            <a:r>
              <a:rPr lang="en-US" altLang="zh-CN" dirty="0"/>
              <a:t>Poor Man</a:t>
            </a:r>
            <a:r>
              <a:rPr lang="en-US" altLang="zh-CN" dirty="0">
                <a:latin typeface="Arial" panose="020B0604020202020204" pitchFamily="34" charset="0"/>
                <a:cs typeface="Arial" panose="020B0604020202020204" pitchFamily="34" charset="0"/>
              </a:rPr>
              <a:t>’</a:t>
            </a:r>
            <a:r>
              <a:rPr lang="en-US" altLang="zh-CN" dirty="0"/>
              <a:t>s associative cache</a:t>
            </a:r>
            <a:r>
              <a:rPr lang="en-US" sz="2800" dirty="0"/>
              <a:t>):</a:t>
            </a:r>
            <a:endParaRPr lang="en-US" altLang="ja-JP" sz="2800" dirty="0"/>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将缓存组里的每个</a:t>
            </a:r>
            <a:r>
              <a:rPr lang="en-US" altLang="zh-CN" kern="1200" dirty="0">
                <a:cs typeface="Calibri" panose="020F0502020204030204" pitchFamily="34" charset="0"/>
              </a:rPr>
              <a:t>“way” </a:t>
            </a:r>
            <a:r>
              <a:rPr lang="zh-CN" altLang="en-US" kern="1200" dirty="0">
                <a:cs typeface="Calibri" panose="020F0502020204030204" pitchFamily="34" charset="0"/>
              </a:rPr>
              <a:t>看作一个直接相联缓存</a:t>
            </a:r>
            <a:endParaRPr lang="en-US" altLang="zh-CN" kern="1200" dirty="0">
              <a:cs typeface="Calibri" panose="020F0502020204030204" pitchFamily="34" charset="0"/>
            </a:endParaRP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solidFill>
                  <a:schemeClr val="tx1">
                    <a:lumMod val="95000"/>
                    <a:lumOff val="5000"/>
                  </a:schemeClr>
                </a:solidFill>
                <a:cs typeface="Calibri" panose="020F0502020204030204" pitchFamily="34" charset="0"/>
              </a:rPr>
              <a:t>每次只查找一个</a:t>
            </a:r>
            <a:r>
              <a:rPr lang="en-US" altLang="zh-CN" kern="1200" dirty="0">
                <a:solidFill>
                  <a:schemeClr val="tx1">
                    <a:lumMod val="95000"/>
                    <a:lumOff val="5000"/>
                  </a:schemeClr>
                </a:solidFill>
                <a:cs typeface="Calibri" panose="020F0502020204030204" pitchFamily="34" charset="0"/>
              </a:rPr>
              <a:t>block</a:t>
            </a:r>
            <a:r>
              <a:rPr lang="zh-CN" altLang="en-US" kern="1200" dirty="0">
                <a:solidFill>
                  <a:schemeClr val="tx1">
                    <a:lumMod val="95000"/>
                    <a:lumOff val="5000"/>
                  </a:schemeClr>
                </a:solidFill>
                <a:cs typeface="Calibri" panose="020F0502020204030204" pitchFamily="34" charset="0"/>
              </a:rPr>
              <a:t>，</a:t>
            </a:r>
            <a:r>
              <a:rPr lang="zh-CN" altLang="en-US" kern="1200" dirty="0">
                <a:solidFill>
                  <a:srgbClr val="FF0000"/>
                </a:solidFill>
                <a:cs typeface="Calibri" panose="020F0502020204030204" pitchFamily="34" charset="0"/>
              </a:rPr>
              <a:t>按顺序</a:t>
            </a:r>
            <a:r>
              <a:rPr lang="zh-CN" altLang="en-US" kern="1200" dirty="0">
                <a:cs typeface="Calibri" panose="020F0502020204030204" pitchFamily="34" charset="0"/>
              </a:rPr>
              <a:t>搜索各个</a:t>
            </a:r>
            <a:r>
              <a:rPr lang="en-US" altLang="zh-CN" kern="1200" dirty="0">
                <a:cs typeface="Calibri" panose="020F0502020204030204" pitchFamily="34" charset="0"/>
              </a:rPr>
              <a:t>way:</a:t>
            </a:r>
          </a:p>
          <a:p>
            <a:pPr lvl="2">
              <a:buFont typeface="Arial" panose="020B0604020202020204" pitchFamily="34" charset="0"/>
              <a:buChar char="•"/>
            </a:pPr>
            <a:r>
              <a:rPr lang="zh-CN" altLang="en-US" sz="2000" dirty="0"/>
              <a:t>当命中第</a:t>
            </a:r>
            <a:r>
              <a:rPr lang="en-US" altLang="zh-CN" sz="2000" dirty="0"/>
              <a:t>k</a:t>
            </a:r>
            <a:r>
              <a:rPr lang="zh-CN" altLang="en-US" sz="2000" dirty="0"/>
              <a:t>个</a:t>
            </a:r>
            <a:r>
              <a:rPr lang="en-US" altLang="zh-CN" sz="2000" dirty="0"/>
              <a:t>way</a:t>
            </a:r>
            <a:r>
              <a:rPr lang="zh-CN" altLang="en-US" sz="2000" dirty="0"/>
              <a:t>时，该</a:t>
            </a:r>
            <a:r>
              <a:rPr lang="en-US" altLang="zh-CN" sz="2000" dirty="0"/>
              <a:t>way</a:t>
            </a:r>
            <a:r>
              <a:rPr lang="zh-CN" altLang="en-US" sz="2000" dirty="0"/>
              <a:t>会被提升到第</a:t>
            </a:r>
            <a:r>
              <a:rPr lang="en-US" altLang="zh-CN" sz="2000" dirty="0"/>
              <a:t>1</a:t>
            </a:r>
            <a:r>
              <a:rPr lang="zh-CN" altLang="en-US" sz="2000" dirty="0"/>
              <a:t>的位置；原来的第</a:t>
            </a:r>
            <a:r>
              <a:rPr lang="en-US" altLang="zh-CN" sz="2000" dirty="0"/>
              <a:t>1</a:t>
            </a:r>
            <a:r>
              <a:rPr lang="zh-CN" altLang="en-US" sz="2000" dirty="0"/>
              <a:t>到</a:t>
            </a:r>
            <a:r>
              <a:rPr lang="en-US" altLang="zh-CN" sz="2000" dirty="0"/>
              <a:t>k-1</a:t>
            </a:r>
            <a:r>
              <a:rPr lang="zh-CN" altLang="en-US" sz="2000" dirty="0"/>
              <a:t>会被降低</a:t>
            </a:r>
            <a:r>
              <a:rPr lang="en-US" altLang="zh-CN" sz="2000" dirty="0"/>
              <a:t>1</a:t>
            </a:r>
            <a:r>
              <a:rPr lang="zh-CN" altLang="en-US" sz="2000" dirty="0"/>
              <a:t>个位置。</a:t>
            </a:r>
            <a:endParaRPr lang="en-US" altLang="zh-CN" sz="2000" dirty="0"/>
          </a:p>
          <a:p>
            <a:pPr lvl="2">
              <a:buFont typeface="Arial" panose="020B0604020202020204" pitchFamily="34" charset="0"/>
              <a:buChar char="•"/>
            </a:pPr>
            <a:r>
              <a:rPr lang="zh-CN" altLang="en-US" sz="2000" dirty="0"/>
              <a:t>当发生缺失时，新加入的</a:t>
            </a:r>
            <a:r>
              <a:rPr lang="en-US" altLang="zh-CN" sz="2000" dirty="0"/>
              <a:t>block</a:t>
            </a:r>
            <a:r>
              <a:rPr lang="zh-CN" altLang="en-US" sz="2000" dirty="0"/>
              <a:t>放到第</a:t>
            </a:r>
            <a:r>
              <a:rPr lang="en-US" altLang="zh-CN" sz="2000" dirty="0"/>
              <a:t>1</a:t>
            </a:r>
            <a:r>
              <a:rPr lang="zh-CN" altLang="en-US" sz="2000" dirty="0"/>
              <a:t>个</a:t>
            </a:r>
            <a:r>
              <a:rPr lang="en-US" altLang="zh-CN" sz="2000" dirty="0"/>
              <a:t>way</a:t>
            </a:r>
            <a:r>
              <a:rPr lang="zh-CN" altLang="en-US" sz="2000" dirty="0"/>
              <a:t>；第</a:t>
            </a:r>
            <a:r>
              <a:rPr lang="en-US" altLang="zh-CN" sz="2000" dirty="0"/>
              <a:t>n</a:t>
            </a:r>
            <a:r>
              <a:rPr lang="zh-CN" altLang="en-US" sz="2000" dirty="0"/>
              <a:t>个</a:t>
            </a:r>
            <a:r>
              <a:rPr lang="en-US" altLang="zh-CN" sz="2000" dirty="0"/>
              <a:t>way</a:t>
            </a:r>
            <a:r>
              <a:rPr lang="zh-CN" altLang="en-US" sz="2000" dirty="0"/>
              <a:t>被替换，原先第</a:t>
            </a:r>
            <a:r>
              <a:rPr lang="en-US" altLang="zh-CN" sz="2000" dirty="0"/>
              <a:t>1</a:t>
            </a:r>
            <a:r>
              <a:rPr lang="zh-CN" altLang="en-US" sz="2000" dirty="0"/>
              <a:t>到</a:t>
            </a:r>
            <a:r>
              <a:rPr lang="en-US" altLang="zh-CN" sz="2000" dirty="0"/>
              <a:t>n-1</a:t>
            </a:r>
            <a:r>
              <a:rPr lang="zh-CN" altLang="en-US" sz="2000" dirty="0"/>
              <a:t>个</a:t>
            </a:r>
            <a:r>
              <a:rPr lang="en-US" altLang="zh-CN" sz="2000" dirty="0"/>
              <a:t>way</a:t>
            </a:r>
            <a:r>
              <a:rPr lang="zh-CN" altLang="en-US" sz="2000" dirty="0"/>
              <a:t>往后移一个位置。</a:t>
            </a:r>
            <a:endParaRPr lang="en-US" altLang="zh-CN" sz="2400" dirty="0"/>
          </a:p>
          <a:p>
            <a:pPr lvl="1"/>
            <a:endParaRPr lang="en-US" dirty="0"/>
          </a:p>
        </p:txBody>
      </p:sp>
      <p:sp>
        <p:nvSpPr>
          <p:cNvPr id="5" name="灯片编号占位符 4"/>
          <p:cNvSpPr>
            <a:spLocks noGrp="1"/>
          </p:cNvSpPr>
          <p:nvPr>
            <p:ph type="sldNum" sz="quarter" idx="12"/>
          </p:nvPr>
        </p:nvSpPr>
        <p:spPr/>
        <p:txBody>
          <a:bodyPr/>
          <a:lstStyle/>
          <a:p>
            <a:pPr>
              <a:defRPr/>
            </a:pPr>
            <a:fld id="{4D61D28F-70AE-4570-A6CA-7CE9CC809164}" type="slidenum">
              <a:rPr lang="en-US" altLang="zh-CN" smtClean="0"/>
              <a:pPr>
                <a:defRPr/>
              </a:pPr>
              <a:t>36</a:t>
            </a:fld>
            <a:endParaRPr lang="en-US" altLang="zh-CN"/>
          </a:p>
        </p:txBody>
      </p:sp>
    </p:spTree>
    <p:extLst>
      <p:ext uri="{BB962C8B-B14F-4D97-AF65-F5344CB8AC3E}">
        <p14:creationId xmlns:p14="http://schemas.microsoft.com/office/powerpoint/2010/main" val="19222006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title"/>
          </p:nvPr>
        </p:nvSpPr>
        <p:spPr>
          <a:xfrm>
            <a:off x="457200" y="228600"/>
            <a:ext cx="8229600" cy="792088"/>
          </a:xfrm>
        </p:spPr>
        <p:txBody>
          <a:bodyPr/>
          <a:lstStyle/>
          <a:p>
            <a:r>
              <a:rPr lang="en-US" dirty="0">
                <a:latin typeface="+mj-lt"/>
              </a:rPr>
              <a:t>Skewed Associative Caches</a:t>
            </a:r>
          </a:p>
        </p:txBody>
      </p:sp>
      <p:sp>
        <p:nvSpPr>
          <p:cNvPr id="84994" name="Content Placeholder 2"/>
          <p:cNvSpPr>
            <a:spLocks noGrp="1"/>
          </p:cNvSpPr>
          <p:nvPr>
            <p:ph idx="1"/>
          </p:nvPr>
        </p:nvSpPr>
        <p:spPr>
          <a:xfrm>
            <a:off x="457200" y="996950"/>
            <a:ext cx="8229600" cy="5194300"/>
          </a:xfrm>
        </p:spPr>
        <p:txBody>
          <a:bodyPr/>
          <a:lstStyle/>
          <a:p>
            <a:pPr>
              <a:defRPr/>
            </a:pPr>
            <a:r>
              <a:rPr lang="zh-CN" altLang="en-US" sz="2800" b="1" dirty="0">
                <a:solidFill>
                  <a:schemeClr val="tx1">
                    <a:lumMod val="95000"/>
                    <a:lumOff val="5000"/>
                  </a:schemeClr>
                </a:solidFill>
                <a:latin typeface="Calibri" panose="020F0502020204030204" pitchFamily="34" charset="0"/>
                <a:cs typeface="Calibri" panose="020F0502020204030204" pitchFamily="34" charset="0"/>
              </a:rPr>
              <a:t>想法：</a:t>
            </a:r>
            <a:r>
              <a:rPr lang="zh-CN" altLang="en-US" sz="2800" dirty="0">
                <a:solidFill>
                  <a:schemeClr val="tx1">
                    <a:lumMod val="95000"/>
                    <a:lumOff val="5000"/>
                  </a:schemeClr>
                </a:solidFill>
                <a:latin typeface="Calibri" panose="020F0502020204030204" pitchFamily="34" charset="0"/>
                <a:cs typeface="Calibri" panose="020F0502020204030204" pitchFamily="34" charset="0"/>
              </a:rPr>
              <a:t>通过对</a:t>
            </a:r>
            <a:r>
              <a:rPr lang="zh-CN" altLang="en-US" sz="2800" b="1" dirty="0">
                <a:solidFill>
                  <a:schemeClr val="tx1">
                    <a:lumMod val="95000"/>
                    <a:lumOff val="5000"/>
                  </a:schemeClr>
                </a:solidFill>
                <a:latin typeface="Calibri" panose="020F0502020204030204" pitchFamily="34" charset="0"/>
                <a:cs typeface="Calibri" panose="020F0502020204030204" pitchFamily="34" charset="0"/>
              </a:rPr>
              <a:t>不同</a:t>
            </a:r>
            <a:r>
              <a:rPr lang="en-US" altLang="zh-CN" sz="2800" b="1" dirty="0">
                <a:solidFill>
                  <a:schemeClr val="tx1">
                    <a:lumMod val="95000"/>
                    <a:lumOff val="5000"/>
                  </a:schemeClr>
                </a:solidFill>
                <a:latin typeface="Calibri" panose="020F0502020204030204" pitchFamily="34" charset="0"/>
                <a:cs typeface="Calibri" panose="020F0502020204030204" pitchFamily="34" charset="0"/>
              </a:rPr>
              <a:t>Way</a:t>
            </a:r>
            <a:r>
              <a:rPr lang="zh-CN" altLang="en-US" sz="2800" dirty="0">
                <a:solidFill>
                  <a:schemeClr val="tx1">
                    <a:lumMod val="95000"/>
                    <a:lumOff val="5000"/>
                  </a:schemeClr>
                </a:solidFill>
                <a:latin typeface="Calibri" panose="020F0502020204030204" pitchFamily="34" charset="0"/>
                <a:cs typeface="Calibri" panose="020F0502020204030204" pitchFamily="34" charset="0"/>
              </a:rPr>
              <a:t>使用不同的</a:t>
            </a:r>
            <a:r>
              <a:rPr lang="zh-CN" altLang="en-US" sz="2800" b="1" dirty="0">
                <a:solidFill>
                  <a:schemeClr val="tx1">
                    <a:lumMod val="95000"/>
                    <a:lumOff val="5000"/>
                  </a:schemeClr>
                </a:solidFill>
                <a:latin typeface="Calibri" panose="020F0502020204030204" pitchFamily="34" charset="0"/>
                <a:cs typeface="Calibri" panose="020F0502020204030204" pitchFamily="34" charset="0"/>
              </a:rPr>
              <a:t>索引函数</a:t>
            </a:r>
            <a:r>
              <a:rPr lang="zh-CN" altLang="en-US" sz="2800" dirty="0">
                <a:solidFill>
                  <a:schemeClr val="tx1">
                    <a:lumMod val="95000"/>
                    <a:lumOff val="5000"/>
                  </a:schemeClr>
                </a:solidFill>
                <a:latin typeface="Calibri" panose="020F0502020204030204" pitchFamily="34" charset="0"/>
                <a:cs typeface="Calibri" panose="020F0502020204030204" pitchFamily="34" charset="0"/>
              </a:rPr>
              <a:t>来减少缺失</a:t>
            </a:r>
            <a:endParaRPr lang="en-US" sz="2800" dirty="0">
              <a:solidFill>
                <a:schemeClr val="tx1">
                  <a:lumMod val="95000"/>
                  <a:lumOff val="5000"/>
                </a:schemeClr>
              </a:solidFill>
              <a:latin typeface="Calibri" panose="020F0502020204030204" pitchFamily="34" charset="0"/>
              <a:cs typeface="Calibri" panose="020F0502020204030204" pitchFamily="34" charset="0"/>
            </a:endParaRPr>
          </a:p>
          <a:p>
            <a:pPr>
              <a:defRPr/>
            </a:pPr>
            <a:r>
              <a:rPr lang="en-US" sz="2800" dirty="0">
                <a:solidFill>
                  <a:schemeClr val="tx1">
                    <a:lumMod val="95000"/>
                    <a:lumOff val="5000"/>
                  </a:schemeClr>
                </a:solidFill>
                <a:latin typeface="Calibri" panose="020F0502020204030204" pitchFamily="34" charset="0"/>
                <a:cs typeface="Calibri" panose="020F0502020204030204" pitchFamily="34" charset="0"/>
              </a:rPr>
              <a:t>Andrew </a:t>
            </a:r>
            <a:r>
              <a:rPr lang="en-US" sz="2800" dirty="0" err="1">
                <a:solidFill>
                  <a:schemeClr val="tx1">
                    <a:lumMod val="95000"/>
                    <a:lumOff val="5000"/>
                  </a:schemeClr>
                </a:solidFill>
                <a:latin typeface="Calibri" panose="020F0502020204030204" pitchFamily="34" charset="0"/>
                <a:cs typeface="Calibri" panose="020F0502020204030204" pitchFamily="34" charset="0"/>
              </a:rPr>
              <a:t>Seznec</a:t>
            </a:r>
            <a:r>
              <a:rPr lang="en-US" sz="2800" dirty="0">
                <a:solidFill>
                  <a:schemeClr val="tx1">
                    <a:lumMod val="95000"/>
                    <a:lumOff val="5000"/>
                  </a:schemeClr>
                </a:solidFill>
                <a:latin typeface="Calibri" panose="020F0502020204030204" pitchFamily="34" charset="0"/>
                <a:cs typeface="Calibri" panose="020F0502020204030204" pitchFamily="34" charset="0"/>
              </a:rPr>
              <a:t>, “</a:t>
            </a:r>
            <a:r>
              <a:rPr lang="en-US" altLang="ja-JP" sz="2800" dirty="0">
                <a:solidFill>
                  <a:schemeClr val="tx1">
                    <a:lumMod val="95000"/>
                    <a:lumOff val="5000"/>
                  </a:schemeClr>
                </a:solidFill>
                <a:latin typeface="Calibri" panose="020F0502020204030204" pitchFamily="34" charset="0"/>
                <a:cs typeface="Calibri" panose="020F0502020204030204" pitchFamily="34" charset="0"/>
                <a:hlinkClick r:id="rId3"/>
              </a:rPr>
              <a:t>A Case for Two-Way Skewed-Associative Caches</a:t>
            </a:r>
            <a:r>
              <a:rPr lang="en-US" altLang="ja-JP" sz="2800" dirty="0">
                <a:solidFill>
                  <a:schemeClr val="tx1">
                    <a:lumMod val="95000"/>
                    <a:lumOff val="5000"/>
                  </a:schemeClr>
                </a:solidFill>
                <a:latin typeface="Calibri" panose="020F0502020204030204" pitchFamily="34" charset="0"/>
                <a:cs typeface="Calibri" panose="020F0502020204030204" pitchFamily="34" charset="0"/>
              </a:rPr>
              <a:t>,</a:t>
            </a:r>
            <a:r>
              <a:rPr lang="en-US" sz="2800" dirty="0">
                <a:solidFill>
                  <a:schemeClr val="tx1">
                    <a:lumMod val="95000"/>
                    <a:lumOff val="5000"/>
                  </a:schemeClr>
                </a:solidFill>
                <a:latin typeface="Calibri" panose="020F0502020204030204" pitchFamily="34" charset="0"/>
                <a:cs typeface="Calibri" panose="020F0502020204030204" pitchFamily="34" charset="0"/>
              </a:rPr>
              <a:t>”</a:t>
            </a:r>
            <a:r>
              <a:rPr lang="en-US" altLang="ja-JP" sz="2800" dirty="0">
                <a:solidFill>
                  <a:schemeClr val="tx1">
                    <a:lumMod val="95000"/>
                    <a:lumOff val="5000"/>
                  </a:schemeClr>
                </a:solidFill>
                <a:latin typeface="Calibri" panose="020F0502020204030204" pitchFamily="34" charset="0"/>
                <a:cs typeface="Calibri" panose="020F0502020204030204" pitchFamily="34" charset="0"/>
              </a:rPr>
              <a:t> ISCA 1993.</a:t>
            </a:r>
            <a:endParaRPr lang="en-US" sz="2800"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37</a:t>
            </a:fld>
            <a:endParaRPr lang="en-US" altLang="zh-CN"/>
          </a:p>
        </p:txBody>
      </p:sp>
      <p:pic>
        <p:nvPicPr>
          <p:cNvPr id="2" name="图片 1">
            <a:extLst>
              <a:ext uri="{FF2B5EF4-FFF2-40B4-BE49-F238E27FC236}">
                <a16:creationId xmlns:a16="http://schemas.microsoft.com/office/drawing/2014/main" id="{9354750E-B207-47F5-8688-825DE70729C0}"/>
              </a:ext>
            </a:extLst>
          </p:cNvPr>
          <p:cNvPicPr>
            <a:picLocks noChangeAspect="1"/>
          </p:cNvPicPr>
          <p:nvPr/>
        </p:nvPicPr>
        <p:blipFill>
          <a:blip r:embed="rId4"/>
          <a:stretch>
            <a:fillRect/>
          </a:stretch>
        </p:blipFill>
        <p:spPr>
          <a:xfrm>
            <a:off x="609600" y="3124200"/>
            <a:ext cx="8077200" cy="2943225"/>
          </a:xfrm>
          <a:prstGeom prst="rect">
            <a:avLst/>
          </a:prstGeom>
        </p:spPr>
      </p:pic>
    </p:spTree>
    <p:extLst>
      <p:ext uri="{BB962C8B-B14F-4D97-AF65-F5344CB8AC3E}">
        <p14:creationId xmlns:p14="http://schemas.microsoft.com/office/powerpoint/2010/main" val="1168118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p:cNvSpPr>
            <a:spLocks noGrp="1"/>
          </p:cNvSpPr>
          <p:nvPr>
            <p:ph type="title"/>
          </p:nvPr>
        </p:nvSpPr>
        <p:spPr>
          <a:xfrm>
            <a:off x="457200" y="228600"/>
            <a:ext cx="8229600" cy="792088"/>
          </a:xfrm>
        </p:spPr>
        <p:txBody>
          <a:bodyPr/>
          <a:lstStyle/>
          <a:p>
            <a:r>
              <a:rPr lang="en-US" dirty="0">
                <a:latin typeface="+mj-lt"/>
              </a:rPr>
              <a:t>Skewed Associative Caches (I)</a:t>
            </a:r>
          </a:p>
        </p:txBody>
      </p:sp>
      <p:sp>
        <p:nvSpPr>
          <p:cNvPr id="92162" name="Content Placeholder 2"/>
          <p:cNvSpPr>
            <a:spLocks noGrp="1"/>
          </p:cNvSpPr>
          <p:nvPr>
            <p:ph idx="1"/>
          </p:nvPr>
        </p:nvSpPr>
        <p:spPr>
          <a:xfrm>
            <a:off x="457200" y="996950"/>
            <a:ext cx="8229600" cy="5194300"/>
          </a:xfrm>
        </p:spPr>
        <p:txBody>
          <a:bodyPr/>
          <a:lstStyle/>
          <a:p>
            <a:r>
              <a:rPr lang="zh-CN" altLang="en-US" sz="2800" dirty="0">
                <a:latin typeface="+mj-lt"/>
              </a:rPr>
              <a:t>基本的</a:t>
            </a:r>
            <a:r>
              <a:rPr lang="en-US" altLang="zh-CN" sz="2800" dirty="0">
                <a:latin typeface="+mj-lt"/>
              </a:rPr>
              <a:t>2-</a:t>
            </a:r>
            <a:r>
              <a:rPr lang="zh-CN" altLang="en-US" sz="2800" dirty="0">
                <a:latin typeface="+mj-lt"/>
              </a:rPr>
              <a:t>路组相联缓存的结构</a:t>
            </a:r>
            <a:endParaRPr lang="en-US" sz="2800" dirty="0">
              <a:latin typeface="+mj-lt"/>
            </a:endParaRP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38</a:t>
            </a:fld>
            <a:endParaRPr lang="en-US" altLang="zh-CN"/>
          </a:p>
        </p:txBody>
      </p:sp>
      <p:grpSp>
        <p:nvGrpSpPr>
          <p:cNvPr id="92164" name="Group 18"/>
          <p:cNvGrpSpPr>
            <a:grpSpLocks/>
          </p:cNvGrpSpPr>
          <p:nvPr/>
        </p:nvGrpSpPr>
        <p:grpSpPr bwMode="auto">
          <a:xfrm>
            <a:off x="6162675" y="2276475"/>
            <a:ext cx="2667000" cy="2447925"/>
            <a:chOff x="2112" y="2160"/>
            <a:chExt cx="1680" cy="1200"/>
          </a:xfrm>
        </p:grpSpPr>
        <p:sp>
          <p:nvSpPr>
            <p:cNvPr id="92196" name="Rectangle 19"/>
            <p:cNvSpPr>
              <a:spLocks noChangeArrowheads="1"/>
            </p:cNvSpPr>
            <p:nvPr/>
          </p:nvSpPr>
          <p:spPr bwMode="auto">
            <a:xfrm>
              <a:off x="2112" y="216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7" name="Rectangle 20"/>
            <p:cNvSpPr>
              <a:spLocks noChangeArrowheads="1"/>
            </p:cNvSpPr>
            <p:nvPr/>
          </p:nvSpPr>
          <p:spPr bwMode="auto">
            <a:xfrm>
              <a:off x="2112" y="225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8" name="Rectangle 21"/>
            <p:cNvSpPr>
              <a:spLocks noChangeArrowheads="1"/>
            </p:cNvSpPr>
            <p:nvPr/>
          </p:nvSpPr>
          <p:spPr bwMode="auto">
            <a:xfrm>
              <a:off x="2112" y="235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9" name="Rectangle 22"/>
            <p:cNvSpPr>
              <a:spLocks noChangeArrowheads="1"/>
            </p:cNvSpPr>
            <p:nvPr/>
          </p:nvSpPr>
          <p:spPr bwMode="auto">
            <a:xfrm>
              <a:off x="2112" y="244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0" name="Rectangle 23"/>
            <p:cNvSpPr>
              <a:spLocks noChangeArrowheads="1"/>
            </p:cNvSpPr>
            <p:nvPr/>
          </p:nvSpPr>
          <p:spPr bwMode="auto">
            <a:xfrm>
              <a:off x="2112" y="254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1" name="Rectangle 24"/>
            <p:cNvSpPr>
              <a:spLocks noChangeArrowheads="1"/>
            </p:cNvSpPr>
            <p:nvPr/>
          </p:nvSpPr>
          <p:spPr bwMode="auto">
            <a:xfrm>
              <a:off x="2112" y="264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2" name="Rectangle 25"/>
            <p:cNvSpPr>
              <a:spLocks noChangeArrowheads="1"/>
            </p:cNvSpPr>
            <p:nvPr/>
          </p:nvSpPr>
          <p:spPr bwMode="auto">
            <a:xfrm>
              <a:off x="2112" y="273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3" name="Rectangle 26"/>
            <p:cNvSpPr>
              <a:spLocks noChangeArrowheads="1"/>
            </p:cNvSpPr>
            <p:nvPr/>
          </p:nvSpPr>
          <p:spPr bwMode="auto">
            <a:xfrm>
              <a:off x="2112" y="283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4" name="Rectangle 27"/>
            <p:cNvSpPr>
              <a:spLocks noChangeArrowheads="1"/>
            </p:cNvSpPr>
            <p:nvPr/>
          </p:nvSpPr>
          <p:spPr bwMode="auto">
            <a:xfrm>
              <a:off x="2112" y="292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5" name="Rectangle 28"/>
            <p:cNvSpPr>
              <a:spLocks noChangeArrowheads="1"/>
            </p:cNvSpPr>
            <p:nvPr/>
          </p:nvSpPr>
          <p:spPr bwMode="auto">
            <a:xfrm>
              <a:off x="2112" y="302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6" name="Rectangle 29"/>
            <p:cNvSpPr>
              <a:spLocks noChangeArrowheads="1"/>
            </p:cNvSpPr>
            <p:nvPr/>
          </p:nvSpPr>
          <p:spPr bwMode="auto">
            <a:xfrm>
              <a:off x="2112" y="312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7" name="Rectangle 30"/>
            <p:cNvSpPr>
              <a:spLocks noChangeArrowheads="1"/>
            </p:cNvSpPr>
            <p:nvPr/>
          </p:nvSpPr>
          <p:spPr bwMode="auto">
            <a:xfrm>
              <a:off x="2112" y="321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208" name="Rectangle 31"/>
            <p:cNvSpPr>
              <a:spLocks noChangeArrowheads="1"/>
            </p:cNvSpPr>
            <p:nvPr/>
          </p:nvSpPr>
          <p:spPr bwMode="auto">
            <a:xfrm>
              <a:off x="2112" y="331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grpSp>
      <p:sp>
        <p:nvSpPr>
          <p:cNvPr id="92165" name="Text Box 32"/>
          <p:cNvSpPr txBox="1">
            <a:spLocks noChangeArrowheads="1"/>
          </p:cNvSpPr>
          <p:nvPr/>
        </p:nvSpPr>
        <p:spPr bwMode="auto">
          <a:xfrm>
            <a:off x="1366838" y="1798638"/>
            <a:ext cx="8747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微软雅黑" panose="020B0503020204020204" pitchFamily="34" charset="-122"/>
                <a:ea typeface="微软雅黑" panose="020B0503020204020204" pitchFamily="34" charset="-122"/>
                <a:cs typeface="Arial" charset="0"/>
              </a:rPr>
              <a:t>Way 0</a:t>
            </a:r>
          </a:p>
        </p:txBody>
      </p:sp>
      <p:sp>
        <p:nvSpPr>
          <p:cNvPr id="92166" name="Text Box 33"/>
          <p:cNvSpPr txBox="1">
            <a:spLocks noChangeArrowheads="1"/>
          </p:cNvSpPr>
          <p:nvPr/>
        </p:nvSpPr>
        <p:spPr bwMode="auto">
          <a:xfrm>
            <a:off x="7059844" y="1710015"/>
            <a:ext cx="864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微软雅黑" panose="020B0503020204020204" pitchFamily="34" charset="-122"/>
                <a:ea typeface="微软雅黑" panose="020B0503020204020204" pitchFamily="34" charset="-122"/>
                <a:cs typeface="Arial" charset="0"/>
              </a:rPr>
              <a:t>Way 1</a:t>
            </a:r>
          </a:p>
        </p:txBody>
      </p:sp>
      <p:sp>
        <p:nvSpPr>
          <p:cNvPr id="92167" name="Rectangle 36"/>
          <p:cNvSpPr>
            <a:spLocks noChangeArrowheads="1"/>
          </p:cNvSpPr>
          <p:nvPr/>
        </p:nvSpPr>
        <p:spPr bwMode="auto">
          <a:xfrm>
            <a:off x="3036888" y="5410200"/>
            <a:ext cx="2586037" cy="304800"/>
          </a:xfrm>
          <a:prstGeom prst="rect">
            <a:avLst/>
          </a:prstGeom>
          <a:solidFill>
            <a:srgbClr val="FF0000"/>
          </a:solidFill>
          <a:ln w="9525">
            <a:solidFill>
              <a:schemeClr val="tx1"/>
            </a:solidFill>
            <a:miter lim="800000"/>
            <a:headEnd/>
            <a:tailEnd/>
          </a:ln>
        </p:spPr>
        <p:txBody>
          <a:bodyPr wrap="none" anchor="ctr"/>
          <a:lstStyle/>
          <a:p>
            <a:pPr algn="ctr"/>
            <a:endParaRPr lang="en-US" sz="2000">
              <a:solidFill>
                <a:srgbClr val="FF0000"/>
              </a:solidFill>
              <a:latin typeface="微软雅黑" panose="020B0503020204020204" pitchFamily="34" charset="-122"/>
              <a:ea typeface="微软雅黑" panose="020B0503020204020204" pitchFamily="34" charset="-122"/>
              <a:cs typeface="Arial" charset="0"/>
            </a:endParaRPr>
          </a:p>
        </p:txBody>
      </p:sp>
      <p:sp>
        <p:nvSpPr>
          <p:cNvPr id="92168" name="Rectangle 37"/>
          <p:cNvSpPr>
            <a:spLocks noChangeArrowheads="1"/>
          </p:cNvSpPr>
          <p:nvPr/>
        </p:nvSpPr>
        <p:spPr bwMode="auto">
          <a:xfrm>
            <a:off x="3898900" y="5410200"/>
            <a:ext cx="1019175" cy="304800"/>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69" name="Rectangle 38"/>
          <p:cNvSpPr>
            <a:spLocks noChangeArrowheads="1"/>
          </p:cNvSpPr>
          <p:nvPr/>
        </p:nvSpPr>
        <p:spPr bwMode="auto">
          <a:xfrm>
            <a:off x="4918075" y="5410200"/>
            <a:ext cx="941388" cy="304800"/>
          </a:xfrm>
          <a:prstGeom prst="rect">
            <a:avLst/>
          </a:prstGeom>
          <a:solidFill>
            <a:schemeClr val="hlink"/>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70" name="Text Box 39"/>
          <p:cNvSpPr txBox="1">
            <a:spLocks noChangeArrowheads="1"/>
          </p:cNvSpPr>
          <p:nvPr/>
        </p:nvSpPr>
        <p:spPr bwMode="auto">
          <a:xfrm>
            <a:off x="3108326" y="5715000"/>
            <a:ext cx="321468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dirty="0">
                <a:solidFill>
                  <a:srgbClr val="000000"/>
                </a:solidFill>
                <a:latin typeface="微软雅黑" panose="020B0503020204020204" pitchFamily="34" charset="-122"/>
                <a:ea typeface="微软雅黑" panose="020B0503020204020204" pitchFamily="34" charset="-122"/>
                <a:cs typeface="Arial" charset="0"/>
              </a:rPr>
              <a:t>Tag    Index    Byte Offset</a:t>
            </a:r>
          </a:p>
        </p:txBody>
      </p:sp>
      <p:sp>
        <p:nvSpPr>
          <p:cNvPr id="92171" name="Line 40"/>
          <p:cNvSpPr>
            <a:spLocks noChangeShapeType="1"/>
          </p:cNvSpPr>
          <p:nvPr/>
        </p:nvSpPr>
        <p:spPr bwMode="auto">
          <a:xfrm flipV="1">
            <a:off x="4686300" y="2898775"/>
            <a:ext cx="0" cy="22510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92172" name="Line 41"/>
          <p:cNvSpPr>
            <a:spLocks noChangeShapeType="1"/>
          </p:cNvSpPr>
          <p:nvPr/>
        </p:nvSpPr>
        <p:spPr bwMode="auto">
          <a:xfrm>
            <a:off x="3255963" y="2921000"/>
            <a:ext cx="2897187" cy="0"/>
          </a:xfrm>
          <a:prstGeom prst="line">
            <a:avLst/>
          </a:prstGeom>
          <a:noFill/>
          <a:ln w="571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92173" name="Text Box 42"/>
          <p:cNvSpPr txBox="1">
            <a:spLocks noChangeArrowheads="1"/>
          </p:cNvSpPr>
          <p:nvPr/>
        </p:nvSpPr>
        <p:spPr bwMode="auto">
          <a:xfrm>
            <a:off x="3548162" y="2053129"/>
            <a:ext cx="2573141"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b="1" dirty="0">
                <a:solidFill>
                  <a:srgbClr val="FF0000"/>
                </a:solidFill>
                <a:latin typeface="微软雅黑" panose="020B0503020204020204" pitchFamily="34" charset="-122"/>
                <a:ea typeface="微软雅黑" panose="020B0503020204020204" pitchFamily="34" charset="-122"/>
                <a:cs typeface="Arial" charset="0"/>
              </a:rPr>
              <a:t>Same index function</a:t>
            </a:r>
          </a:p>
          <a:p>
            <a:pPr algn="ctr" eaLnBrk="1" hangingPunct="1">
              <a:spcBef>
                <a:spcPct val="50000"/>
              </a:spcBef>
            </a:pPr>
            <a:r>
              <a:rPr lang="en-US" sz="1800" b="1" dirty="0">
                <a:solidFill>
                  <a:srgbClr val="FF0000"/>
                </a:solidFill>
                <a:latin typeface="微软雅黑" panose="020B0503020204020204" pitchFamily="34" charset="-122"/>
                <a:ea typeface="微软雅黑" panose="020B0503020204020204" pitchFamily="34" charset="-122"/>
                <a:cs typeface="Arial" charset="0"/>
              </a:rPr>
              <a:t>for each way</a:t>
            </a:r>
          </a:p>
        </p:txBody>
      </p:sp>
      <p:grpSp>
        <p:nvGrpSpPr>
          <p:cNvPr id="92174" name="Group 44"/>
          <p:cNvGrpSpPr>
            <a:grpSpLocks/>
          </p:cNvGrpSpPr>
          <p:nvPr/>
        </p:nvGrpSpPr>
        <p:grpSpPr bwMode="auto">
          <a:xfrm>
            <a:off x="533400" y="2286000"/>
            <a:ext cx="2667000" cy="2447925"/>
            <a:chOff x="2112" y="2160"/>
            <a:chExt cx="1680" cy="1200"/>
          </a:xfrm>
        </p:grpSpPr>
        <p:sp>
          <p:nvSpPr>
            <p:cNvPr id="92183" name="Rectangle 45"/>
            <p:cNvSpPr>
              <a:spLocks noChangeArrowheads="1"/>
            </p:cNvSpPr>
            <p:nvPr/>
          </p:nvSpPr>
          <p:spPr bwMode="auto">
            <a:xfrm>
              <a:off x="2112" y="216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4" name="Rectangle 46"/>
            <p:cNvSpPr>
              <a:spLocks noChangeArrowheads="1"/>
            </p:cNvSpPr>
            <p:nvPr/>
          </p:nvSpPr>
          <p:spPr bwMode="auto">
            <a:xfrm>
              <a:off x="2112" y="225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5" name="Rectangle 47"/>
            <p:cNvSpPr>
              <a:spLocks noChangeArrowheads="1"/>
            </p:cNvSpPr>
            <p:nvPr/>
          </p:nvSpPr>
          <p:spPr bwMode="auto">
            <a:xfrm>
              <a:off x="2112" y="235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6" name="Rectangle 48"/>
            <p:cNvSpPr>
              <a:spLocks noChangeArrowheads="1"/>
            </p:cNvSpPr>
            <p:nvPr/>
          </p:nvSpPr>
          <p:spPr bwMode="auto">
            <a:xfrm>
              <a:off x="2112" y="244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7" name="Rectangle 49"/>
            <p:cNvSpPr>
              <a:spLocks noChangeArrowheads="1"/>
            </p:cNvSpPr>
            <p:nvPr/>
          </p:nvSpPr>
          <p:spPr bwMode="auto">
            <a:xfrm>
              <a:off x="2112" y="254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8" name="Rectangle 50"/>
            <p:cNvSpPr>
              <a:spLocks noChangeArrowheads="1"/>
            </p:cNvSpPr>
            <p:nvPr/>
          </p:nvSpPr>
          <p:spPr bwMode="auto">
            <a:xfrm>
              <a:off x="2112" y="264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9" name="Rectangle 51"/>
            <p:cNvSpPr>
              <a:spLocks noChangeArrowheads="1"/>
            </p:cNvSpPr>
            <p:nvPr/>
          </p:nvSpPr>
          <p:spPr bwMode="auto">
            <a:xfrm>
              <a:off x="2112" y="273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0" name="Rectangle 52"/>
            <p:cNvSpPr>
              <a:spLocks noChangeArrowheads="1"/>
            </p:cNvSpPr>
            <p:nvPr/>
          </p:nvSpPr>
          <p:spPr bwMode="auto">
            <a:xfrm>
              <a:off x="2112" y="283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1" name="Rectangle 53"/>
            <p:cNvSpPr>
              <a:spLocks noChangeArrowheads="1"/>
            </p:cNvSpPr>
            <p:nvPr/>
          </p:nvSpPr>
          <p:spPr bwMode="auto">
            <a:xfrm>
              <a:off x="2112" y="292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2" name="Rectangle 54"/>
            <p:cNvSpPr>
              <a:spLocks noChangeArrowheads="1"/>
            </p:cNvSpPr>
            <p:nvPr/>
          </p:nvSpPr>
          <p:spPr bwMode="auto">
            <a:xfrm>
              <a:off x="2112" y="302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3" name="Rectangle 55"/>
            <p:cNvSpPr>
              <a:spLocks noChangeArrowheads="1"/>
            </p:cNvSpPr>
            <p:nvPr/>
          </p:nvSpPr>
          <p:spPr bwMode="auto">
            <a:xfrm>
              <a:off x="2112" y="312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4" name="Rectangle 56"/>
            <p:cNvSpPr>
              <a:spLocks noChangeArrowheads="1"/>
            </p:cNvSpPr>
            <p:nvPr/>
          </p:nvSpPr>
          <p:spPr bwMode="auto">
            <a:xfrm>
              <a:off x="2112" y="321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95" name="Rectangle 57"/>
            <p:cNvSpPr>
              <a:spLocks noChangeArrowheads="1"/>
            </p:cNvSpPr>
            <p:nvPr/>
          </p:nvSpPr>
          <p:spPr bwMode="auto">
            <a:xfrm>
              <a:off x="2112" y="331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grpSp>
      <p:sp>
        <p:nvSpPr>
          <p:cNvPr id="92175" name="Rectangle 98"/>
          <p:cNvSpPr>
            <a:spLocks noChangeArrowheads="1"/>
          </p:cNvSpPr>
          <p:nvPr/>
        </p:nvSpPr>
        <p:spPr bwMode="auto">
          <a:xfrm>
            <a:off x="1447800" y="518160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76" name="TextBox 99"/>
          <p:cNvSpPr txBox="1">
            <a:spLocks noChangeArrowheads="1"/>
          </p:cNvSpPr>
          <p:nvPr/>
        </p:nvSpPr>
        <p:spPr bwMode="auto">
          <a:xfrm>
            <a:off x="1546225" y="5159375"/>
            <a:ext cx="4988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solidFill>
                  <a:srgbClr val="000000"/>
                </a:solidFill>
                <a:latin typeface="微软雅黑" panose="020B0503020204020204" pitchFamily="34" charset="-122"/>
                <a:ea typeface="微软雅黑" panose="020B0503020204020204" pitchFamily="34" charset="-122"/>
                <a:cs typeface="Arial" charset="0"/>
              </a:rPr>
              <a:t>=?</a:t>
            </a:r>
          </a:p>
        </p:txBody>
      </p:sp>
      <p:cxnSp>
        <p:nvCxnSpPr>
          <p:cNvPr id="92177" name="Straight Arrow Connector 101"/>
          <p:cNvCxnSpPr>
            <a:cxnSpLocks noChangeShapeType="1"/>
          </p:cNvCxnSpPr>
          <p:nvPr/>
        </p:nvCxnSpPr>
        <p:spPr bwMode="auto">
          <a:xfrm rot="5400000">
            <a:off x="1575594" y="4977606"/>
            <a:ext cx="4191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2178" name="Straight Arrow Connector 99"/>
          <p:cNvCxnSpPr>
            <a:cxnSpLocks noChangeShapeType="1"/>
          </p:cNvCxnSpPr>
          <p:nvPr/>
        </p:nvCxnSpPr>
        <p:spPr bwMode="auto">
          <a:xfrm rot="16200000" flipH="1">
            <a:off x="1653381" y="5653882"/>
            <a:ext cx="26352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92179" name="Rectangle 98"/>
          <p:cNvSpPr>
            <a:spLocks noChangeArrowheads="1"/>
          </p:cNvSpPr>
          <p:nvPr/>
        </p:nvSpPr>
        <p:spPr bwMode="auto">
          <a:xfrm>
            <a:off x="7253288" y="514985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2180" name="TextBox 99"/>
          <p:cNvSpPr txBox="1">
            <a:spLocks noChangeArrowheads="1"/>
          </p:cNvSpPr>
          <p:nvPr/>
        </p:nvSpPr>
        <p:spPr bwMode="auto">
          <a:xfrm>
            <a:off x="7351713" y="5127625"/>
            <a:ext cx="4988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solidFill>
                  <a:srgbClr val="000000"/>
                </a:solidFill>
                <a:latin typeface="微软雅黑" panose="020B0503020204020204" pitchFamily="34" charset="-122"/>
                <a:ea typeface="微软雅黑" panose="020B0503020204020204" pitchFamily="34" charset="-122"/>
                <a:cs typeface="Arial" charset="0"/>
              </a:rPr>
              <a:t>=?</a:t>
            </a:r>
          </a:p>
        </p:txBody>
      </p:sp>
      <p:cxnSp>
        <p:nvCxnSpPr>
          <p:cNvPr id="92181" name="Straight Arrow Connector 101"/>
          <p:cNvCxnSpPr>
            <a:cxnSpLocks noChangeShapeType="1"/>
          </p:cNvCxnSpPr>
          <p:nvPr/>
        </p:nvCxnSpPr>
        <p:spPr bwMode="auto">
          <a:xfrm rot="5400000">
            <a:off x="7381082" y="4945856"/>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2182" name="Straight Arrow Connector 99"/>
          <p:cNvCxnSpPr>
            <a:cxnSpLocks noChangeShapeType="1"/>
          </p:cNvCxnSpPr>
          <p:nvPr/>
        </p:nvCxnSpPr>
        <p:spPr bwMode="auto">
          <a:xfrm rot="16200000" flipH="1">
            <a:off x="7458869" y="5622132"/>
            <a:ext cx="26352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53101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1">
            <a:extLst>
              <a:ext uri="{FF2B5EF4-FFF2-40B4-BE49-F238E27FC236}">
                <a16:creationId xmlns:a16="http://schemas.microsoft.com/office/drawing/2014/main" id="{CADA64A1-23DA-460D-B4E5-067E3BB9475F}"/>
              </a:ext>
            </a:extLst>
          </p:cNvPr>
          <p:cNvSpPr>
            <a:spLocks noGrp="1"/>
          </p:cNvSpPr>
          <p:nvPr>
            <p:ph type="title"/>
          </p:nvPr>
        </p:nvSpPr>
        <p:spPr>
          <a:xfrm>
            <a:off x="457200" y="198512"/>
            <a:ext cx="8229600" cy="792088"/>
          </a:xfrm>
        </p:spPr>
        <p:txBody>
          <a:bodyPr/>
          <a:lstStyle/>
          <a:p>
            <a:r>
              <a:rPr lang="en-US" dirty="0">
                <a:latin typeface="+mj-lt"/>
              </a:rPr>
              <a:t>Skewed Associative Caches (</a:t>
            </a:r>
            <a:r>
              <a:rPr lang="en-US" altLang="zh-CN" dirty="0">
                <a:latin typeface="+mj-lt"/>
              </a:rPr>
              <a:t>I</a:t>
            </a:r>
            <a:r>
              <a:rPr lang="en-US" dirty="0">
                <a:latin typeface="+mj-lt"/>
              </a:rPr>
              <a:t>I)</a:t>
            </a:r>
          </a:p>
        </p:txBody>
      </p:sp>
      <p:sp>
        <p:nvSpPr>
          <p:cNvPr id="93186" name="Content Placeholder 2"/>
          <p:cNvSpPr>
            <a:spLocks noGrp="1"/>
          </p:cNvSpPr>
          <p:nvPr>
            <p:ph idx="1"/>
          </p:nvPr>
        </p:nvSpPr>
        <p:spPr>
          <a:xfrm>
            <a:off x="228600" y="996950"/>
            <a:ext cx="8610600" cy="5194300"/>
          </a:xfrm>
        </p:spPr>
        <p:txBody>
          <a:bodyPr/>
          <a:lstStyle/>
          <a:p>
            <a:r>
              <a:rPr lang="en-US" sz="2800" dirty="0"/>
              <a:t>Skewed associative caches</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使用不同的索引函数来访问各个</a:t>
            </a:r>
            <a:r>
              <a:rPr lang="en-US" altLang="zh-CN" kern="1200" dirty="0">
                <a:cs typeface="Calibri" panose="020F0502020204030204" pitchFamily="34" charset="0"/>
              </a:rPr>
              <a:t>Way</a:t>
            </a:r>
            <a:endParaRPr lang="en-US" kern="1200" dirty="0">
              <a:cs typeface="Calibri" panose="020F0502020204030204" pitchFamily="34" charset="0"/>
            </a:endParaRP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39</a:t>
            </a:fld>
            <a:endParaRPr lang="en-US" altLang="zh-CN"/>
          </a:p>
        </p:txBody>
      </p:sp>
      <p:sp>
        <p:nvSpPr>
          <p:cNvPr id="93188" name="Text Box 18"/>
          <p:cNvSpPr txBox="1">
            <a:spLocks noChangeArrowheads="1"/>
          </p:cNvSpPr>
          <p:nvPr/>
        </p:nvSpPr>
        <p:spPr bwMode="auto">
          <a:xfrm>
            <a:off x="1347788" y="2344738"/>
            <a:ext cx="873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微软雅黑" panose="020B0503020204020204" pitchFamily="34" charset="-122"/>
                <a:ea typeface="微软雅黑" panose="020B0503020204020204" pitchFamily="34" charset="-122"/>
                <a:cs typeface="Arial" charset="0"/>
              </a:rPr>
              <a:t>Way 0</a:t>
            </a:r>
          </a:p>
        </p:txBody>
      </p:sp>
      <p:sp>
        <p:nvSpPr>
          <p:cNvPr id="93189" name="Text Box 19"/>
          <p:cNvSpPr txBox="1">
            <a:spLocks noChangeArrowheads="1"/>
          </p:cNvSpPr>
          <p:nvPr/>
        </p:nvSpPr>
        <p:spPr bwMode="auto">
          <a:xfrm>
            <a:off x="7067782" y="2345015"/>
            <a:ext cx="864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1800">
                <a:solidFill>
                  <a:srgbClr val="000000"/>
                </a:solidFill>
                <a:latin typeface="微软雅黑" panose="020B0503020204020204" pitchFamily="34" charset="-122"/>
                <a:ea typeface="微软雅黑" panose="020B0503020204020204" pitchFamily="34" charset="-122"/>
                <a:cs typeface="Arial" charset="0"/>
              </a:rPr>
              <a:t>Way 1</a:t>
            </a:r>
          </a:p>
        </p:txBody>
      </p:sp>
      <p:sp>
        <p:nvSpPr>
          <p:cNvPr id="93190" name="Text Box 20"/>
          <p:cNvSpPr txBox="1">
            <a:spLocks noChangeArrowheads="1"/>
          </p:cNvSpPr>
          <p:nvPr/>
        </p:nvSpPr>
        <p:spPr bwMode="auto">
          <a:xfrm>
            <a:off x="3276600" y="5611813"/>
            <a:ext cx="35004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solidFill>
                  <a:srgbClr val="000000"/>
                </a:solidFill>
                <a:latin typeface="微软雅黑" panose="020B0503020204020204" pitchFamily="34" charset="-122"/>
                <a:ea typeface="微软雅黑" panose="020B0503020204020204" pitchFamily="34" charset="-122"/>
                <a:cs typeface="Arial" charset="0"/>
              </a:rPr>
              <a:t>   tag          index         byte in block   </a:t>
            </a:r>
          </a:p>
        </p:txBody>
      </p:sp>
      <p:sp>
        <p:nvSpPr>
          <p:cNvPr id="93191" name="Oval 35"/>
          <p:cNvSpPr>
            <a:spLocks noChangeArrowheads="1"/>
          </p:cNvSpPr>
          <p:nvPr/>
        </p:nvSpPr>
        <p:spPr bwMode="auto">
          <a:xfrm>
            <a:off x="3778250" y="3106738"/>
            <a:ext cx="530225" cy="334962"/>
          </a:xfrm>
          <a:prstGeom prst="ellipse">
            <a:avLst/>
          </a:prstGeom>
          <a:solidFill>
            <a:srgbClr val="FF0000"/>
          </a:solidFill>
          <a:ln w="9525">
            <a:solidFill>
              <a:schemeClr val="tx1"/>
            </a:solidFill>
            <a:round/>
            <a:headEnd/>
            <a:tailEnd/>
          </a:ln>
        </p:spPr>
        <p:txBody>
          <a:bodyPr wrap="none" anchor="ctr"/>
          <a:lstStyle/>
          <a:p>
            <a:pPr algn="ctr"/>
            <a:r>
              <a:rPr lang="en-US">
                <a:solidFill>
                  <a:srgbClr val="FFFFFF"/>
                </a:solidFill>
                <a:latin typeface="微软雅黑" panose="020B0503020204020204" pitchFamily="34" charset="-122"/>
                <a:ea typeface="微软雅黑" panose="020B0503020204020204" pitchFamily="34" charset="-122"/>
                <a:cs typeface="Arial" charset="0"/>
              </a:rPr>
              <a:t>f0</a:t>
            </a:r>
          </a:p>
        </p:txBody>
      </p:sp>
      <p:sp>
        <p:nvSpPr>
          <p:cNvPr id="93192" name="Line 37"/>
          <p:cNvSpPr>
            <a:spLocks noChangeShapeType="1"/>
          </p:cNvSpPr>
          <p:nvPr/>
        </p:nvSpPr>
        <p:spPr bwMode="auto">
          <a:xfrm flipH="1">
            <a:off x="3270250" y="3427413"/>
            <a:ext cx="681038" cy="3921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93193" name="Line 38"/>
          <p:cNvSpPr>
            <a:spLocks noChangeShapeType="1"/>
          </p:cNvSpPr>
          <p:nvPr/>
        </p:nvSpPr>
        <p:spPr bwMode="auto">
          <a:xfrm flipH="1" flipV="1">
            <a:off x="3232150" y="2919413"/>
            <a:ext cx="577850" cy="241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93194" name="Line 39"/>
          <p:cNvSpPr>
            <a:spLocks noChangeShapeType="1"/>
          </p:cNvSpPr>
          <p:nvPr/>
        </p:nvSpPr>
        <p:spPr bwMode="auto">
          <a:xfrm flipH="1">
            <a:off x="3270250" y="3438525"/>
            <a:ext cx="681038" cy="9699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微软雅黑" panose="020B0503020204020204" pitchFamily="34" charset="-122"/>
              <a:ea typeface="微软雅黑" panose="020B0503020204020204" pitchFamily="34" charset="-122"/>
            </a:endParaRPr>
          </a:p>
        </p:txBody>
      </p:sp>
      <p:sp>
        <p:nvSpPr>
          <p:cNvPr id="93195" name="Freeform 41"/>
          <p:cNvSpPr>
            <a:spLocks/>
          </p:cNvSpPr>
          <p:nvPr/>
        </p:nvSpPr>
        <p:spPr bwMode="auto">
          <a:xfrm>
            <a:off x="3733800" y="3403600"/>
            <a:ext cx="304800" cy="2133600"/>
          </a:xfrm>
          <a:custGeom>
            <a:avLst/>
            <a:gdLst>
              <a:gd name="T0" fmla="*/ 0 w 192"/>
              <a:gd name="T1" fmla="*/ 2147483647 h 1344"/>
              <a:gd name="T2" fmla="*/ 0 w 192"/>
              <a:gd name="T3" fmla="*/ 2147483647 h 1344"/>
              <a:gd name="T4" fmla="*/ 2147483647 w 192"/>
              <a:gd name="T5" fmla="*/ 0 h 1344"/>
              <a:gd name="T6" fmla="*/ 0 60000 65536"/>
              <a:gd name="T7" fmla="*/ 0 60000 65536"/>
              <a:gd name="T8" fmla="*/ 0 60000 65536"/>
              <a:gd name="T9" fmla="*/ 0 w 192"/>
              <a:gd name="T10" fmla="*/ 0 h 1344"/>
              <a:gd name="T11" fmla="*/ 192 w 192"/>
              <a:gd name="T12" fmla="*/ 1344 h 1344"/>
            </a:gdLst>
            <a:ahLst/>
            <a:cxnLst>
              <a:cxn ang="T6">
                <a:pos x="T0" y="T1"/>
              </a:cxn>
              <a:cxn ang="T7">
                <a:pos x="T2" y="T3"/>
              </a:cxn>
              <a:cxn ang="T8">
                <a:pos x="T4" y="T5"/>
              </a:cxn>
            </a:cxnLst>
            <a:rect l="T9" t="T10" r="T11" b="T12"/>
            <a:pathLst>
              <a:path w="192" h="1344">
                <a:moveTo>
                  <a:pt x="0" y="1344"/>
                </a:moveTo>
                <a:lnTo>
                  <a:pt x="0" y="336"/>
                </a:lnTo>
                <a:lnTo>
                  <a:pt x="192" y="0"/>
                </a:ln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latin typeface="微软雅黑" panose="020B0503020204020204" pitchFamily="34" charset="-122"/>
              <a:ea typeface="微软雅黑" panose="020B0503020204020204" pitchFamily="34" charset="-122"/>
            </a:endParaRPr>
          </a:p>
        </p:txBody>
      </p:sp>
      <p:sp>
        <p:nvSpPr>
          <p:cNvPr id="93196" name="Line 42"/>
          <p:cNvSpPr>
            <a:spLocks noChangeShapeType="1"/>
          </p:cNvSpPr>
          <p:nvPr/>
        </p:nvSpPr>
        <p:spPr bwMode="auto">
          <a:xfrm>
            <a:off x="5638800" y="32512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微软雅黑" panose="020B0503020204020204" pitchFamily="34" charset="-122"/>
              <a:ea typeface="微软雅黑" panose="020B0503020204020204" pitchFamily="34" charset="-122"/>
            </a:endParaRPr>
          </a:p>
        </p:txBody>
      </p:sp>
      <p:sp>
        <p:nvSpPr>
          <p:cNvPr id="93197" name="Line 43"/>
          <p:cNvSpPr>
            <a:spLocks noChangeShapeType="1"/>
          </p:cNvSpPr>
          <p:nvPr/>
        </p:nvSpPr>
        <p:spPr bwMode="auto">
          <a:xfrm flipH="1">
            <a:off x="3200400" y="32512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微软雅黑" panose="020B0503020204020204" pitchFamily="34" charset="-122"/>
              <a:ea typeface="微软雅黑" panose="020B0503020204020204" pitchFamily="34" charset="-122"/>
            </a:endParaRPr>
          </a:p>
        </p:txBody>
      </p:sp>
      <p:sp>
        <p:nvSpPr>
          <p:cNvPr id="93198" name="Freeform 44"/>
          <p:cNvSpPr>
            <a:spLocks/>
          </p:cNvSpPr>
          <p:nvPr/>
        </p:nvSpPr>
        <p:spPr bwMode="auto">
          <a:xfrm>
            <a:off x="4248150" y="3387725"/>
            <a:ext cx="476250" cy="2149475"/>
          </a:xfrm>
          <a:custGeom>
            <a:avLst/>
            <a:gdLst>
              <a:gd name="T0" fmla="*/ 2147483647 w 300"/>
              <a:gd name="T1" fmla="*/ 2147483647 h 1354"/>
              <a:gd name="T2" fmla="*/ 2147483647 w 300"/>
              <a:gd name="T3" fmla="*/ 2147483647 h 1354"/>
              <a:gd name="T4" fmla="*/ 0 w 300"/>
              <a:gd name="T5" fmla="*/ 0 h 1354"/>
              <a:gd name="T6" fmla="*/ 0 60000 65536"/>
              <a:gd name="T7" fmla="*/ 0 60000 65536"/>
              <a:gd name="T8" fmla="*/ 0 60000 65536"/>
              <a:gd name="T9" fmla="*/ 0 w 300"/>
              <a:gd name="T10" fmla="*/ 0 h 1354"/>
              <a:gd name="T11" fmla="*/ 300 w 300"/>
              <a:gd name="T12" fmla="*/ 1354 h 1354"/>
            </a:gdLst>
            <a:ahLst/>
            <a:cxnLst>
              <a:cxn ang="T6">
                <a:pos x="T0" y="T1"/>
              </a:cxn>
              <a:cxn ang="T7">
                <a:pos x="T2" y="T3"/>
              </a:cxn>
              <a:cxn ang="T8">
                <a:pos x="T4" y="T5"/>
              </a:cxn>
            </a:cxnLst>
            <a:rect l="T9" t="T10" r="T11" b="T12"/>
            <a:pathLst>
              <a:path w="300" h="1354">
                <a:moveTo>
                  <a:pt x="300" y="1354"/>
                </a:moveTo>
                <a:lnTo>
                  <a:pt x="300" y="346"/>
                </a:lnTo>
                <a:lnTo>
                  <a:pt x="0" y="0"/>
                </a:ln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latin typeface="微软雅黑" panose="020B0503020204020204" pitchFamily="34" charset="-122"/>
              <a:ea typeface="微软雅黑" panose="020B0503020204020204" pitchFamily="34" charset="-122"/>
            </a:endParaRPr>
          </a:p>
        </p:txBody>
      </p:sp>
      <p:sp>
        <p:nvSpPr>
          <p:cNvPr id="93199" name="Line 45"/>
          <p:cNvSpPr>
            <a:spLocks noChangeShapeType="1"/>
          </p:cNvSpPr>
          <p:nvPr/>
        </p:nvSpPr>
        <p:spPr bwMode="auto">
          <a:xfrm flipV="1">
            <a:off x="4724400" y="3251200"/>
            <a:ext cx="9144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微软雅黑" panose="020B0503020204020204" pitchFamily="34" charset="-122"/>
              <a:ea typeface="微软雅黑" panose="020B0503020204020204" pitchFamily="34" charset="-122"/>
            </a:endParaRPr>
          </a:p>
        </p:txBody>
      </p:sp>
      <p:sp>
        <p:nvSpPr>
          <p:cNvPr id="93200" name="Text Box 46"/>
          <p:cNvSpPr txBox="1">
            <a:spLocks noChangeArrowheads="1"/>
          </p:cNvSpPr>
          <p:nvPr/>
        </p:nvSpPr>
        <p:spPr bwMode="auto">
          <a:xfrm>
            <a:off x="4810957" y="2184400"/>
            <a:ext cx="1436612"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lnSpc>
                <a:spcPct val="80000"/>
              </a:lnSpc>
            </a:pPr>
            <a:r>
              <a:rPr lang="en-US" sz="1800">
                <a:solidFill>
                  <a:srgbClr val="000000"/>
                </a:solidFill>
                <a:latin typeface="微软雅黑" panose="020B0503020204020204" pitchFamily="34" charset="-122"/>
                <a:ea typeface="微软雅黑" panose="020B0503020204020204" pitchFamily="34" charset="-122"/>
                <a:cs typeface="Arial" charset="0"/>
              </a:rPr>
              <a:t>same index</a:t>
            </a:r>
          </a:p>
          <a:p>
            <a:pPr algn="ctr" eaLnBrk="1" hangingPunct="1">
              <a:lnSpc>
                <a:spcPct val="80000"/>
              </a:lnSpc>
            </a:pPr>
            <a:r>
              <a:rPr lang="en-US" sz="1800">
                <a:solidFill>
                  <a:srgbClr val="000000"/>
                </a:solidFill>
                <a:latin typeface="微软雅黑" panose="020B0503020204020204" pitchFamily="34" charset="-122"/>
                <a:ea typeface="微软雅黑" panose="020B0503020204020204" pitchFamily="34" charset="-122"/>
                <a:cs typeface="Arial" charset="0"/>
              </a:rPr>
              <a:t>same set</a:t>
            </a:r>
          </a:p>
        </p:txBody>
      </p:sp>
      <p:sp>
        <p:nvSpPr>
          <p:cNvPr id="93201" name="Rectangle 48"/>
          <p:cNvSpPr>
            <a:spLocks noChangeArrowheads="1"/>
          </p:cNvSpPr>
          <p:nvPr/>
        </p:nvSpPr>
        <p:spPr bwMode="auto">
          <a:xfrm>
            <a:off x="3276600" y="5514975"/>
            <a:ext cx="2514600" cy="152400"/>
          </a:xfrm>
          <a:prstGeom prst="rect">
            <a:avLst/>
          </a:prstGeom>
          <a:solidFill>
            <a:srgbClr val="FF0000"/>
          </a:solidFill>
          <a:ln w="9525">
            <a:solidFill>
              <a:schemeClr val="tx1"/>
            </a:solidFill>
            <a:miter lim="800000"/>
            <a:headEnd/>
            <a:tailEnd/>
          </a:ln>
        </p:spPr>
        <p:txBody>
          <a:bodyPr wrap="none" anchor="ctr"/>
          <a:lstStyle/>
          <a:p>
            <a:pPr algn="ctr"/>
            <a:endParaRPr lang="en-US">
              <a:solidFill>
                <a:srgbClr val="FF0000"/>
              </a:solidFill>
              <a:latin typeface="微软雅黑" panose="020B0503020204020204" pitchFamily="34" charset="-122"/>
              <a:ea typeface="微软雅黑" panose="020B0503020204020204" pitchFamily="34" charset="-122"/>
              <a:cs typeface="Arial" charset="0"/>
            </a:endParaRPr>
          </a:p>
        </p:txBody>
      </p:sp>
      <p:sp>
        <p:nvSpPr>
          <p:cNvPr id="93202" name="Rectangle 49"/>
          <p:cNvSpPr>
            <a:spLocks noChangeArrowheads="1"/>
          </p:cNvSpPr>
          <p:nvPr/>
        </p:nvSpPr>
        <p:spPr bwMode="auto">
          <a:xfrm>
            <a:off x="4114800" y="5514975"/>
            <a:ext cx="990600" cy="152400"/>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03" name="Rectangle 50"/>
          <p:cNvSpPr>
            <a:spLocks noChangeArrowheads="1"/>
          </p:cNvSpPr>
          <p:nvPr/>
        </p:nvSpPr>
        <p:spPr bwMode="auto">
          <a:xfrm>
            <a:off x="5105400" y="5514975"/>
            <a:ext cx="914400" cy="152400"/>
          </a:xfrm>
          <a:prstGeom prst="rect">
            <a:avLst/>
          </a:prstGeom>
          <a:solidFill>
            <a:schemeClr val="hlink"/>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04" name="Text Box 51"/>
          <p:cNvSpPr txBox="1">
            <a:spLocks noChangeArrowheads="1"/>
          </p:cNvSpPr>
          <p:nvPr/>
        </p:nvSpPr>
        <p:spPr bwMode="auto">
          <a:xfrm>
            <a:off x="2773363" y="2032000"/>
            <a:ext cx="2014537"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lnSpc>
                <a:spcPct val="80000"/>
              </a:lnSpc>
            </a:pPr>
            <a:r>
              <a:rPr lang="en-US" sz="1800" dirty="0">
                <a:solidFill>
                  <a:srgbClr val="000000"/>
                </a:solidFill>
                <a:latin typeface="微软雅黑" panose="020B0503020204020204" pitchFamily="34" charset="-122"/>
                <a:ea typeface="微软雅黑" panose="020B0503020204020204" pitchFamily="34" charset="-122"/>
                <a:cs typeface="Arial" charset="0"/>
              </a:rPr>
              <a:t>same index bits</a:t>
            </a:r>
          </a:p>
          <a:p>
            <a:pPr algn="ctr" eaLnBrk="1" hangingPunct="1">
              <a:lnSpc>
                <a:spcPct val="80000"/>
              </a:lnSpc>
            </a:pPr>
            <a:r>
              <a:rPr lang="en-US" sz="1800" dirty="0">
                <a:solidFill>
                  <a:srgbClr val="000000"/>
                </a:solidFill>
                <a:latin typeface="微软雅黑" panose="020B0503020204020204" pitchFamily="34" charset="-122"/>
                <a:ea typeface="微软雅黑" panose="020B0503020204020204" pitchFamily="34" charset="-122"/>
                <a:cs typeface="Arial" charset="0"/>
              </a:rPr>
              <a:t>redistributed to </a:t>
            </a:r>
          </a:p>
          <a:p>
            <a:pPr algn="ctr" eaLnBrk="1" hangingPunct="1">
              <a:lnSpc>
                <a:spcPct val="80000"/>
              </a:lnSpc>
            </a:pPr>
            <a:r>
              <a:rPr lang="en-US" sz="1800" dirty="0">
                <a:solidFill>
                  <a:srgbClr val="000000"/>
                </a:solidFill>
                <a:latin typeface="微软雅黑" panose="020B0503020204020204" pitchFamily="34" charset="-122"/>
                <a:ea typeface="微软雅黑" panose="020B0503020204020204" pitchFamily="34" charset="-122"/>
                <a:cs typeface="Arial" charset="0"/>
              </a:rPr>
              <a:t>different sets</a:t>
            </a:r>
          </a:p>
        </p:txBody>
      </p:sp>
      <p:grpSp>
        <p:nvGrpSpPr>
          <p:cNvPr id="93205" name="Group 52"/>
          <p:cNvGrpSpPr>
            <a:grpSpLocks/>
          </p:cNvGrpSpPr>
          <p:nvPr/>
        </p:nvGrpSpPr>
        <p:grpSpPr bwMode="auto">
          <a:xfrm>
            <a:off x="6162675" y="2784475"/>
            <a:ext cx="2667000" cy="2447925"/>
            <a:chOff x="2112" y="2160"/>
            <a:chExt cx="1680" cy="1200"/>
          </a:xfrm>
        </p:grpSpPr>
        <p:sp>
          <p:nvSpPr>
            <p:cNvPr id="93228" name="Rectangle 53"/>
            <p:cNvSpPr>
              <a:spLocks noChangeArrowheads="1"/>
            </p:cNvSpPr>
            <p:nvPr/>
          </p:nvSpPr>
          <p:spPr bwMode="auto">
            <a:xfrm>
              <a:off x="2112" y="216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9" name="Rectangle 54"/>
            <p:cNvSpPr>
              <a:spLocks noChangeArrowheads="1"/>
            </p:cNvSpPr>
            <p:nvPr/>
          </p:nvSpPr>
          <p:spPr bwMode="auto">
            <a:xfrm>
              <a:off x="2112" y="225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0" name="Rectangle 55"/>
            <p:cNvSpPr>
              <a:spLocks noChangeArrowheads="1"/>
            </p:cNvSpPr>
            <p:nvPr/>
          </p:nvSpPr>
          <p:spPr bwMode="auto">
            <a:xfrm>
              <a:off x="2112" y="235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1" name="Rectangle 56"/>
            <p:cNvSpPr>
              <a:spLocks noChangeArrowheads="1"/>
            </p:cNvSpPr>
            <p:nvPr/>
          </p:nvSpPr>
          <p:spPr bwMode="auto">
            <a:xfrm>
              <a:off x="2112" y="244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2" name="Rectangle 57"/>
            <p:cNvSpPr>
              <a:spLocks noChangeArrowheads="1"/>
            </p:cNvSpPr>
            <p:nvPr/>
          </p:nvSpPr>
          <p:spPr bwMode="auto">
            <a:xfrm>
              <a:off x="2112" y="254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3" name="Rectangle 58"/>
            <p:cNvSpPr>
              <a:spLocks noChangeArrowheads="1"/>
            </p:cNvSpPr>
            <p:nvPr/>
          </p:nvSpPr>
          <p:spPr bwMode="auto">
            <a:xfrm>
              <a:off x="2112" y="264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4" name="Rectangle 59"/>
            <p:cNvSpPr>
              <a:spLocks noChangeArrowheads="1"/>
            </p:cNvSpPr>
            <p:nvPr/>
          </p:nvSpPr>
          <p:spPr bwMode="auto">
            <a:xfrm>
              <a:off x="2112" y="273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5" name="Rectangle 60"/>
            <p:cNvSpPr>
              <a:spLocks noChangeArrowheads="1"/>
            </p:cNvSpPr>
            <p:nvPr/>
          </p:nvSpPr>
          <p:spPr bwMode="auto">
            <a:xfrm>
              <a:off x="2112" y="283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6" name="Rectangle 61"/>
            <p:cNvSpPr>
              <a:spLocks noChangeArrowheads="1"/>
            </p:cNvSpPr>
            <p:nvPr/>
          </p:nvSpPr>
          <p:spPr bwMode="auto">
            <a:xfrm>
              <a:off x="2112" y="292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7" name="Rectangle 62"/>
            <p:cNvSpPr>
              <a:spLocks noChangeArrowheads="1"/>
            </p:cNvSpPr>
            <p:nvPr/>
          </p:nvSpPr>
          <p:spPr bwMode="auto">
            <a:xfrm>
              <a:off x="2112" y="302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8" name="Rectangle 63"/>
            <p:cNvSpPr>
              <a:spLocks noChangeArrowheads="1"/>
            </p:cNvSpPr>
            <p:nvPr/>
          </p:nvSpPr>
          <p:spPr bwMode="auto">
            <a:xfrm>
              <a:off x="2112" y="312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39" name="Rectangle 64"/>
            <p:cNvSpPr>
              <a:spLocks noChangeArrowheads="1"/>
            </p:cNvSpPr>
            <p:nvPr/>
          </p:nvSpPr>
          <p:spPr bwMode="auto">
            <a:xfrm>
              <a:off x="2112" y="321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40" name="Rectangle 65"/>
            <p:cNvSpPr>
              <a:spLocks noChangeArrowheads="1"/>
            </p:cNvSpPr>
            <p:nvPr/>
          </p:nvSpPr>
          <p:spPr bwMode="auto">
            <a:xfrm>
              <a:off x="2112" y="331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grpSp>
      <p:grpSp>
        <p:nvGrpSpPr>
          <p:cNvPr id="93206" name="Group 66"/>
          <p:cNvGrpSpPr>
            <a:grpSpLocks/>
          </p:cNvGrpSpPr>
          <p:nvPr/>
        </p:nvGrpSpPr>
        <p:grpSpPr bwMode="auto">
          <a:xfrm>
            <a:off x="533400" y="2794000"/>
            <a:ext cx="2667000" cy="2447925"/>
            <a:chOff x="2112" y="2160"/>
            <a:chExt cx="1680" cy="1200"/>
          </a:xfrm>
        </p:grpSpPr>
        <p:sp>
          <p:nvSpPr>
            <p:cNvPr id="93215" name="Rectangle 67"/>
            <p:cNvSpPr>
              <a:spLocks noChangeArrowheads="1"/>
            </p:cNvSpPr>
            <p:nvPr/>
          </p:nvSpPr>
          <p:spPr bwMode="auto">
            <a:xfrm>
              <a:off x="2112" y="216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16" name="Rectangle 68"/>
            <p:cNvSpPr>
              <a:spLocks noChangeArrowheads="1"/>
            </p:cNvSpPr>
            <p:nvPr/>
          </p:nvSpPr>
          <p:spPr bwMode="auto">
            <a:xfrm>
              <a:off x="2112" y="225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17" name="Rectangle 69"/>
            <p:cNvSpPr>
              <a:spLocks noChangeArrowheads="1"/>
            </p:cNvSpPr>
            <p:nvPr/>
          </p:nvSpPr>
          <p:spPr bwMode="auto">
            <a:xfrm>
              <a:off x="2112" y="235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18" name="Rectangle 70"/>
            <p:cNvSpPr>
              <a:spLocks noChangeArrowheads="1"/>
            </p:cNvSpPr>
            <p:nvPr/>
          </p:nvSpPr>
          <p:spPr bwMode="auto">
            <a:xfrm>
              <a:off x="2112" y="244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19" name="Rectangle 71"/>
            <p:cNvSpPr>
              <a:spLocks noChangeArrowheads="1"/>
            </p:cNvSpPr>
            <p:nvPr/>
          </p:nvSpPr>
          <p:spPr bwMode="auto">
            <a:xfrm>
              <a:off x="2112" y="254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0" name="Rectangle 72"/>
            <p:cNvSpPr>
              <a:spLocks noChangeArrowheads="1"/>
            </p:cNvSpPr>
            <p:nvPr/>
          </p:nvSpPr>
          <p:spPr bwMode="auto">
            <a:xfrm>
              <a:off x="2112" y="264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1" name="Rectangle 73"/>
            <p:cNvSpPr>
              <a:spLocks noChangeArrowheads="1"/>
            </p:cNvSpPr>
            <p:nvPr/>
          </p:nvSpPr>
          <p:spPr bwMode="auto">
            <a:xfrm>
              <a:off x="2112" y="273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2" name="Rectangle 74"/>
            <p:cNvSpPr>
              <a:spLocks noChangeArrowheads="1"/>
            </p:cNvSpPr>
            <p:nvPr/>
          </p:nvSpPr>
          <p:spPr bwMode="auto">
            <a:xfrm>
              <a:off x="2112" y="283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3" name="Rectangle 75"/>
            <p:cNvSpPr>
              <a:spLocks noChangeArrowheads="1"/>
            </p:cNvSpPr>
            <p:nvPr/>
          </p:nvSpPr>
          <p:spPr bwMode="auto">
            <a:xfrm>
              <a:off x="2112" y="2928"/>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4" name="Rectangle 76"/>
            <p:cNvSpPr>
              <a:spLocks noChangeArrowheads="1"/>
            </p:cNvSpPr>
            <p:nvPr/>
          </p:nvSpPr>
          <p:spPr bwMode="auto">
            <a:xfrm>
              <a:off x="2112" y="3024"/>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5" name="Rectangle 77"/>
            <p:cNvSpPr>
              <a:spLocks noChangeArrowheads="1"/>
            </p:cNvSpPr>
            <p:nvPr/>
          </p:nvSpPr>
          <p:spPr bwMode="auto">
            <a:xfrm>
              <a:off x="2112" y="3120"/>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6" name="Rectangle 78"/>
            <p:cNvSpPr>
              <a:spLocks noChangeArrowheads="1"/>
            </p:cNvSpPr>
            <p:nvPr/>
          </p:nvSpPr>
          <p:spPr bwMode="auto">
            <a:xfrm>
              <a:off x="2112" y="3216"/>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27" name="Rectangle 79"/>
            <p:cNvSpPr>
              <a:spLocks noChangeArrowheads="1"/>
            </p:cNvSpPr>
            <p:nvPr/>
          </p:nvSpPr>
          <p:spPr bwMode="auto">
            <a:xfrm>
              <a:off x="2112" y="3312"/>
              <a:ext cx="1680" cy="48"/>
            </a:xfrm>
            <a:prstGeom prst="rect">
              <a:avLst/>
            </a:prstGeom>
            <a:solidFill>
              <a:schemeClr val="accent2"/>
            </a:solidFill>
            <a:ln w="9525">
              <a:solidFill>
                <a:schemeClr val="tx1"/>
              </a:solidFill>
              <a:miter lim="800000"/>
              <a:headEnd/>
              <a:tailEnd/>
            </a:ln>
          </p:spPr>
          <p:txBody>
            <a:bodyPr wrap="none" anchor="ct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grpSp>
      <p:sp>
        <p:nvSpPr>
          <p:cNvPr id="93207" name="Rectangle 98"/>
          <p:cNvSpPr>
            <a:spLocks noChangeArrowheads="1"/>
          </p:cNvSpPr>
          <p:nvPr/>
        </p:nvSpPr>
        <p:spPr bwMode="auto">
          <a:xfrm>
            <a:off x="1447800" y="5645150"/>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08" name="TextBox 99"/>
          <p:cNvSpPr txBox="1">
            <a:spLocks noChangeArrowheads="1"/>
          </p:cNvSpPr>
          <p:nvPr/>
        </p:nvSpPr>
        <p:spPr bwMode="auto">
          <a:xfrm>
            <a:off x="1546225" y="5622925"/>
            <a:ext cx="4988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solidFill>
                  <a:srgbClr val="000000"/>
                </a:solidFill>
                <a:latin typeface="微软雅黑" panose="020B0503020204020204" pitchFamily="34" charset="-122"/>
                <a:ea typeface="微软雅黑" panose="020B0503020204020204" pitchFamily="34" charset="-122"/>
                <a:cs typeface="Arial" charset="0"/>
              </a:rPr>
              <a:t>=?</a:t>
            </a:r>
          </a:p>
        </p:txBody>
      </p:sp>
      <p:cxnSp>
        <p:nvCxnSpPr>
          <p:cNvPr id="93209" name="Straight Arrow Connector 101"/>
          <p:cNvCxnSpPr>
            <a:cxnSpLocks noChangeShapeType="1"/>
          </p:cNvCxnSpPr>
          <p:nvPr/>
        </p:nvCxnSpPr>
        <p:spPr bwMode="auto">
          <a:xfrm rot="5400000">
            <a:off x="1575594" y="5441156"/>
            <a:ext cx="4191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3210" name="Straight Arrow Connector 99"/>
          <p:cNvCxnSpPr>
            <a:cxnSpLocks noChangeShapeType="1"/>
          </p:cNvCxnSpPr>
          <p:nvPr/>
        </p:nvCxnSpPr>
        <p:spPr bwMode="auto">
          <a:xfrm rot="16200000" flipH="1">
            <a:off x="1653381" y="6117432"/>
            <a:ext cx="263525"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93211" name="Rectangle 98"/>
          <p:cNvSpPr>
            <a:spLocks noChangeArrowheads="1"/>
          </p:cNvSpPr>
          <p:nvPr/>
        </p:nvSpPr>
        <p:spPr bwMode="auto">
          <a:xfrm>
            <a:off x="7243763" y="5641975"/>
            <a:ext cx="625475" cy="33813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solidFill>
                <a:srgbClr val="000000"/>
              </a:solidFill>
              <a:latin typeface="微软雅黑" panose="020B0503020204020204" pitchFamily="34" charset="-122"/>
              <a:ea typeface="微软雅黑" panose="020B0503020204020204" pitchFamily="34" charset="-122"/>
              <a:cs typeface="Arial" charset="0"/>
            </a:endParaRPr>
          </a:p>
        </p:txBody>
      </p:sp>
      <p:sp>
        <p:nvSpPr>
          <p:cNvPr id="93212" name="TextBox 99"/>
          <p:cNvSpPr txBox="1">
            <a:spLocks noChangeArrowheads="1"/>
          </p:cNvSpPr>
          <p:nvPr/>
        </p:nvSpPr>
        <p:spPr bwMode="auto">
          <a:xfrm>
            <a:off x="7342188" y="5619750"/>
            <a:ext cx="4988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2000">
                <a:solidFill>
                  <a:srgbClr val="000000"/>
                </a:solidFill>
                <a:latin typeface="微软雅黑" panose="020B0503020204020204" pitchFamily="34" charset="-122"/>
                <a:ea typeface="微软雅黑" panose="020B0503020204020204" pitchFamily="34" charset="-122"/>
                <a:cs typeface="Arial" charset="0"/>
              </a:rPr>
              <a:t>=?</a:t>
            </a:r>
          </a:p>
        </p:txBody>
      </p:sp>
      <p:cxnSp>
        <p:nvCxnSpPr>
          <p:cNvPr id="93213" name="Straight Arrow Connector 101"/>
          <p:cNvCxnSpPr>
            <a:cxnSpLocks noChangeShapeType="1"/>
          </p:cNvCxnSpPr>
          <p:nvPr/>
        </p:nvCxnSpPr>
        <p:spPr bwMode="auto">
          <a:xfrm rot="5400000">
            <a:off x="7371557" y="5437981"/>
            <a:ext cx="419100"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3214" name="Straight Arrow Connector 99"/>
          <p:cNvCxnSpPr>
            <a:cxnSpLocks noChangeShapeType="1"/>
          </p:cNvCxnSpPr>
          <p:nvPr/>
        </p:nvCxnSpPr>
        <p:spPr bwMode="auto">
          <a:xfrm rot="16200000" flipH="1">
            <a:off x="7449344" y="6114257"/>
            <a:ext cx="263525" cy="15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537436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a:xfrm>
            <a:off x="457200" y="268288"/>
            <a:ext cx="8229600" cy="722312"/>
          </a:xfrm>
        </p:spPr>
        <p:txBody>
          <a:bodyPr/>
          <a:lstStyle/>
          <a:p>
            <a:r>
              <a:rPr lang="en-US" dirty="0">
                <a:latin typeface="+mj-lt"/>
              </a:rPr>
              <a:t>Skewed Associative Caches (III)</a:t>
            </a:r>
          </a:p>
        </p:txBody>
      </p:sp>
      <p:sp>
        <p:nvSpPr>
          <p:cNvPr id="84994" name="Content Placeholder 2"/>
          <p:cNvSpPr>
            <a:spLocks noGrp="1"/>
          </p:cNvSpPr>
          <p:nvPr>
            <p:ph idx="1"/>
          </p:nvPr>
        </p:nvSpPr>
        <p:spPr>
          <a:xfrm>
            <a:off x="457200" y="1054100"/>
            <a:ext cx="8229600" cy="5194300"/>
          </a:xfrm>
        </p:spPr>
        <p:txBody>
          <a:bodyPr/>
          <a:lstStyle/>
          <a:p>
            <a:pPr>
              <a:spcBef>
                <a:spcPts val="600"/>
              </a:spcBef>
              <a:spcAft>
                <a:spcPts val="600"/>
              </a:spcAft>
              <a:defRPr/>
            </a:pPr>
            <a:r>
              <a:rPr lang="zh-CN" altLang="en-US" sz="2800" b="1" dirty="0"/>
              <a:t>好处</a:t>
            </a:r>
            <a:r>
              <a:rPr lang="en-US" sz="2800" b="1" dirty="0"/>
              <a:t>: </a:t>
            </a:r>
            <a:r>
              <a:rPr lang="zh-CN" altLang="en-US" dirty="0">
                <a:solidFill>
                  <a:srgbClr val="FF0000"/>
                </a:solidFill>
              </a:rPr>
              <a:t>索引</a:t>
            </a:r>
            <a:r>
              <a:rPr lang="zh-CN" altLang="en-US" dirty="0">
                <a:solidFill>
                  <a:schemeClr val="tx1">
                    <a:lumMod val="95000"/>
                    <a:lumOff val="5000"/>
                  </a:schemeClr>
                </a:solidFill>
              </a:rPr>
              <a:t>经过哈</a:t>
            </a:r>
            <a:r>
              <a:rPr lang="zh-CN" altLang="en-US" sz="2800" dirty="0">
                <a:solidFill>
                  <a:schemeClr val="tx1">
                    <a:lumMod val="95000"/>
                    <a:lumOff val="5000"/>
                  </a:schemeClr>
                </a:solidFill>
              </a:rPr>
              <a:t>希的处理之后，</a:t>
            </a:r>
            <a:r>
              <a:rPr lang="en-US" altLang="zh-CN" sz="2800" dirty="0">
                <a:solidFill>
                  <a:schemeClr val="tx1">
                    <a:lumMod val="95000"/>
                    <a:lumOff val="5000"/>
                  </a:schemeClr>
                </a:solidFill>
              </a:rPr>
              <a:t>block</a:t>
            </a:r>
            <a:r>
              <a:rPr lang="zh-CN" altLang="en-US" sz="2800" dirty="0">
                <a:solidFill>
                  <a:schemeClr val="tx1">
                    <a:lumMod val="95000"/>
                    <a:lumOff val="5000"/>
                  </a:schemeClr>
                </a:solidFill>
              </a:rPr>
              <a:t>的分布</a:t>
            </a:r>
            <a:r>
              <a:rPr lang="zh-CN" altLang="en-US" sz="2800" b="1" dirty="0">
                <a:solidFill>
                  <a:schemeClr val="tx1">
                    <a:lumMod val="95000"/>
                    <a:lumOff val="5000"/>
                  </a:schemeClr>
                </a:solidFill>
              </a:rPr>
              <a:t>更加离散 </a:t>
            </a:r>
            <a:r>
              <a:rPr lang="en-US" sz="2800" dirty="0">
                <a:solidFill>
                  <a:schemeClr val="tx1">
                    <a:lumMod val="95000"/>
                    <a:lumOff val="5000"/>
                  </a:schemeClr>
                </a:solidFill>
              </a:rPr>
              <a:t>(</a:t>
            </a:r>
            <a:r>
              <a:rPr lang="zh-CN" altLang="en-US" sz="2800" dirty="0">
                <a:solidFill>
                  <a:schemeClr val="tx1">
                    <a:lumMod val="95000"/>
                    <a:lumOff val="5000"/>
                  </a:schemeClr>
                </a:solidFill>
              </a:rPr>
              <a:t>内存的</a:t>
            </a:r>
            <a:r>
              <a:rPr lang="en-US" altLang="zh-CN" sz="2800" dirty="0">
                <a:solidFill>
                  <a:schemeClr val="tx1">
                    <a:lumMod val="95000"/>
                    <a:lumOff val="5000"/>
                  </a:schemeClr>
                </a:solidFill>
              </a:rPr>
              <a:t>blocks</a:t>
            </a:r>
            <a:r>
              <a:rPr lang="zh-CN" altLang="en-US" sz="2800" dirty="0">
                <a:solidFill>
                  <a:schemeClr val="tx1">
                    <a:lumMod val="95000"/>
                    <a:lumOff val="5000"/>
                  </a:schemeClr>
                </a:solidFill>
              </a:rPr>
              <a:t>能更加均匀地分布到缓存的</a:t>
            </a:r>
            <a:r>
              <a:rPr lang="en-US" altLang="zh-CN" sz="2800" dirty="0">
                <a:solidFill>
                  <a:schemeClr val="tx1">
                    <a:lumMod val="95000"/>
                    <a:lumOff val="5000"/>
                  </a:schemeClr>
                </a:solidFill>
              </a:rPr>
              <a:t>Sets</a:t>
            </a:r>
            <a:r>
              <a:rPr lang="zh-CN" altLang="en-US" sz="2800" dirty="0">
                <a:solidFill>
                  <a:schemeClr val="tx1">
                    <a:lumMod val="95000"/>
                    <a:lumOff val="5000"/>
                  </a:schemeClr>
                </a:solidFill>
              </a:rPr>
              <a:t>里</a:t>
            </a:r>
            <a:r>
              <a:rPr lang="en-US" sz="2800" dirty="0">
                <a:solidFill>
                  <a:schemeClr val="tx1">
                    <a:lumMod val="95000"/>
                    <a:lumOff val="5000"/>
                  </a:schemeClr>
                </a:solidFill>
              </a:rPr>
              <a:t>) </a:t>
            </a:r>
            <a:r>
              <a:rPr lang="zh-CN" altLang="en-US" sz="2800" dirty="0">
                <a:solidFill>
                  <a:schemeClr val="tx1">
                    <a:lumMod val="95000"/>
                    <a:lumOff val="5000"/>
                  </a:schemeClr>
                </a:solidFill>
              </a:rPr>
              <a:t>。</a:t>
            </a:r>
            <a:endParaRPr lang="en-US" sz="2800" dirty="0">
              <a:solidFill>
                <a:schemeClr val="tx1">
                  <a:lumMod val="95000"/>
                  <a:lumOff val="5000"/>
                </a:schemeClr>
              </a:solidFill>
            </a:endParaRPr>
          </a:p>
          <a:p>
            <a:pPr marL="628650" lvl="1" indent="-265113">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2</a:t>
            </a:r>
            <a:r>
              <a:rPr lang="zh-CN" altLang="en-US" kern="1200" dirty="0">
                <a:cs typeface="Calibri" panose="020F0502020204030204" pitchFamily="34" charset="0"/>
              </a:rPr>
              <a:t>个</a:t>
            </a:r>
            <a:r>
              <a:rPr lang="en-US" altLang="zh-CN" kern="1200" dirty="0">
                <a:cs typeface="Calibri" panose="020F0502020204030204" pitchFamily="34" charset="0"/>
              </a:rPr>
              <a:t>block</a:t>
            </a:r>
            <a:r>
              <a:rPr lang="zh-CN" altLang="en-US" kern="1200" dirty="0">
                <a:cs typeface="Calibri" panose="020F0502020204030204" pitchFamily="34" charset="0"/>
              </a:rPr>
              <a:t>被映射到同一个组（</a:t>
            </a:r>
            <a:r>
              <a:rPr lang="zh-CN" altLang="en-US" kern="1200" dirty="0">
                <a:solidFill>
                  <a:srgbClr val="FF0000"/>
                </a:solidFill>
                <a:cs typeface="Calibri" panose="020F0502020204030204" pitchFamily="34" charset="0"/>
              </a:rPr>
              <a:t>传统的组相联缓存中的组</a:t>
            </a:r>
            <a:r>
              <a:rPr lang="zh-CN" altLang="en-US" kern="1200" dirty="0">
                <a:cs typeface="Calibri" panose="020F0502020204030204" pitchFamily="34" charset="0"/>
              </a:rPr>
              <a:t>）的概率会大大降低</a:t>
            </a:r>
            <a:endParaRPr lang="en-US" kern="1200" dirty="0">
              <a:cs typeface="Calibri" panose="020F0502020204030204" pitchFamily="34" charset="0"/>
            </a:endParaRPr>
          </a:p>
          <a:p>
            <a:pPr lvl="2">
              <a:spcBef>
                <a:spcPts val="600"/>
              </a:spcBef>
              <a:spcAft>
                <a:spcPts val="600"/>
              </a:spcAft>
              <a:buFont typeface="Arial" panose="020B0604020202020204" pitchFamily="34" charset="0"/>
              <a:buChar char="•"/>
              <a:defRPr/>
            </a:pPr>
            <a:r>
              <a:rPr lang="zh-CN" altLang="en-US" sz="2000" dirty="0"/>
              <a:t>减少了冲突缺失</a:t>
            </a:r>
            <a:endParaRPr lang="en-US" dirty="0"/>
          </a:p>
          <a:p>
            <a:pPr>
              <a:spcBef>
                <a:spcPts val="600"/>
              </a:spcBef>
              <a:spcAft>
                <a:spcPts val="600"/>
              </a:spcAft>
              <a:defRPr/>
            </a:pPr>
            <a:r>
              <a:rPr lang="zh-CN" altLang="en-US" sz="2800" b="1" dirty="0"/>
              <a:t>开销：</a:t>
            </a:r>
            <a:r>
              <a:rPr lang="zh-CN" altLang="en-US" sz="2800" dirty="0"/>
              <a:t>哈希函数的计算需要额外的延迟，以及较大的硬件开销。</a:t>
            </a:r>
            <a:endParaRPr lang="en-US" dirty="0"/>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40</a:t>
            </a:fld>
            <a:endParaRPr lang="en-US" altLang="zh-CN"/>
          </a:p>
        </p:txBody>
      </p:sp>
    </p:spTree>
    <p:extLst>
      <p:ext uri="{BB962C8B-B14F-4D97-AF65-F5344CB8AC3E}">
        <p14:creationId xmlns:p14="http://schemas.microsoft.com/office/powerpoint/2010/main" val="732620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499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4994">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499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p:cNvSpPr>
            <a:spLocks noGrp="1"/>
          </p:cNvSpPr>
          <p:nvPr>
            <p:ph type="title"/>
          </p:nvPr>
        </p:nvSpPr>
        <p:spPr>
          <a:xfrm>
            <a:off x="457200" y="268288"/>
            <a:ext cx="8229600" cy="722312"/>
          </a:xfrm>
        </p:spPr>
        <p:txBody>
          <a:bodyPr/>
          <a:lstStyle/>
          <a:p>
            <a:r>
              <a:rPr lang="zh-CN" altLang="en-US" dirty="0">
                <a:latin typeface="+mj-lt"/>
              </a:rPr>
              <a:t>缓存缺失的</a:t>
            </a:r>
            <a:r>
              <a:rPr lang="en-US" altLang="zh-CN" dirty="0">
                <a:latin typeface="+mj-lt"/>
              </a:rPr>
              <a:t>penalty</a:t>
            </a:r>
            <a:r>
              <a:rPr lang="zh-CN" altLang="en-US" dirty="0">
                <a:latin typeface="+mj-lt"/>
              </a:rPr>
              <a:t>分析</a:t>
            </a:r>
            <a:endParaRPr lang="en-US" dirty="0">
              <a:latin typeface="+mj-lt"/>
            </a:endParaRPr>
          </a:p>
        </p:txBody>
      </p:sp>
      <p:sp>
        <p:nvSpPr>
          <p:cNvPr id="3" name="Content Placeholder 2"/>
          <p:cNvSpPr>
            <a:spLocks noGrp="1"/>
          </p:cNvSpPr>
          <p:nvPr>
            <p:ph idx="1"/>
          </p:nvPr>
        </p:nvSpPr>
        <p:spPr>
          <a:xfrm>
            <a:off x="457200" y="1054100"/>
            <a:ext cx="8229600" cy="5194300"/>
          </a:xfrm>
        </p:spPr>
        <p:txBody>
          <a:bodyPr/>
          <a:lstStyle/>
          <a:p>
            <a:pPr>
              <a:spcBef>
                <a:spcPts val="600"/>
              </a:spcBef>
              <a:spcAft>
                <a:spcPts val="600"/>
              </a:spcAft>
            </a:pPr>
            <a:r>
              <a:rPr lang="zh-CN" altLang="en-US" dirty="0"/>
              <a:t>哪些因素会影响缺失</a:t>
            </a:r>
            <a:r>
              <a:rPr lang="zh-CN" altLang="en-US" sz="2800" dirty="0"/>
              <a:t>的 </a:t>
            </a:r>
            <a:r>
              <a:rPr lang="zh-CN" altLang="en-US" sz="2800" dirty="0">
                <a:solidFill>
                  <a:srgbClr val="FF0000"/>
                </a:solidFill>
              </a:rPr>
              <a:t>延迟 </a:t>
            </a:r>
            <a:r>
              <a:rPr lang="en-US" altLang="zh-CN" sz="2800" dirty="0">
                <a:solidFill>
                  <a:srgbClr val="FF0000"/>
                </a:solidFill>
              </a:rPr>
              <a:t>(penalty)</a:t>
            </a:r>
            <a:r>
              <a:rPr lang="en-US" sz="2800" dirty="0"/>
              <a:t>? </a:t>
            </a:r>
            <a:endParaRPr lang="en-US" sz="2800" b="1" dirty="0"/>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solidFill>
                  <a:schemeClr val="tx1">
                    <a:lumMod val="95000"/>
                    <a:lumOff val="5000"/>
                  </a:schemeClr>
                </a:solidFill>
                <a:cs typeface="Calibri" panose="020F0502020204030204" pitchFamily="34" charset="0"/>
              </a:rPr>
              <a:t>缺失的</a:t>
            </a:r>
            <a:r>
              <a:rPr lang="en-US" altLang="zh-CN" kern="1200" dirty="0">
                <a:solidFill>
                  <a:schemeClr val="tx1">
                    <a:lumMod val="95000"/>
                    <a:lumOff val="5000"/>
                  </a:schemeClr>
                </a:solidFill>
                <a:cs typeface="Calibri" panose="020F0502020204030204" pitchFamily="34" charset="0"/>
              </a:rPr>
              <a:t>block</a:t>
            </a:r>
            <a:r>
              <a:rPr lang="zh-CN" altLang="en-US" kern="1200" dirty="0">
                <a:solidFill>
                  <a:schemeClr val="tx1">
                    <a:lumMod val="95000"/>
                    <a:lumOff val="5000"/>
                  </a:schemeClr>
                </a:solidFill>
                <a:cs typeface="Calibri" panose="020F0502020204030204" pitchFamily="34" charset="0"/>
              </a:rPr>
              <a:t>最终从哪里获取</a:t>
            </a:r>
            <a:r>
              <a:rPr lang="en-US" kern="1200" dirty="0">
                <a:solidFill>
                  <a:schemeClr val="tx1">
                    <a:lumMod val="95000"/>
                    <a:lumOff val="5000"/>
                  </a:schemeClr>
                </a:solidFill>
                <a:cs typeface="Calibri" panose="020F0502020204030204" pitchFamily="34" charset="0"/>
              </a:rPr>
              <a:t>?</a:t>
            </a:r>
          </a:p>
          <a:p>
            <a:pPr lvl="2">
              <a:spcBef>
                <a:spcPts val="600"/>
              </a:spcBef>
              <a:spcAft>
                <a:spcPts val="600"/>
              </a:spcAft>
              <a:buFont typeface="Arial" panose="020B0604020202020204" pitchFamily="34" charset="0"/>
              <a:buChar char="•"/>
            </a:pPr>
            <a:r>
              <a:rPr lang="zh-CN" altLang="en-US" sz="2000" dirty="0"/>
              <a:t>本地 或者 远程的内存里？</a:t>
            </a:r>
            <a:endParaRPr lang="en-US" altLang="zh-CN" sz="2000" dirty="0"/>
          </a:p>
          <a:p>
            <a:pPr lvl="2">
              <a:spcBef>
                <a:spcPts val="600"/>
              </a:spcBef>
              <a:spcAft>
                <a:spcPts val="600"/>
              </a:spcAft>
              <a:buFont typeface="Arial" panose="020B0604020202020204" pitchFamily="34" charset="0"/>
              <a:buChar char="•"/>
            </a:pPr>
            <a:r>
              <a:rPr lang="zh-CN" altLang="en-US" sz="2000" dirty="0"/>
              <a:t>缓存处于存储层次的哪个层级</a:t>
            </a:r>
            <a:endParaRPr lang="en-US" altLang="zh-CN" sz="2000" dirty="0"/>
          </a:p>
          <a:p>
            <a:pPr lvl="2">
              <a:spcBef>
                <a:spcPts val="600"/>
              </a:spcBef>
              <a:spcAft>
                <a:spcPts val="600"/>
              </a:spcAft>
              <a:buFont typeface="Arial" panose="020B0604020202020204" pitchFamily="34" charset="0"/>
              <a:buChar char="•"/>
            </a:pPr>
            <a:r>
              <a:rPr lang="zh-CN" altLang="en-US" sz="2000" dirty="0"/>
              <a:t>行命中 还是 行缺失 （</a:t>
            </a:r>
            <a:r>
              <a:rPr lang="en-US" altLang="zh-CN" sz="2000" dirty="0"/>
              <a:t>Row Buffer</a:t>
            </a:r>
            <a:r>
              <a:rPr lang="zh-CN" altLang="en-US" sz="2000" dirty="0"/>
              <a:t>）</a:t>
            </a:r>
            <a:endParaRPr lang="en-US" sz="2000" dirty="0"/>
          </a:p>
          <a:p>
            <a:pPr lvl="2">
              <a:spcBef>
                <a:spcPts val="600"/>
              </a:spcBef>
              <a:spcAft>
                <a:spcPts val="600"/>
              </a:spcAft>
              <a:buFont typeface="Arial" panose="020B0604020202020204" pitchFamily="34" charset="0"/>
              <a:buChar char="•"/>
            </a:pPr>
            <a:r>
              <a:rPr lang="zh-CN" altLang="en-US" sz="2000" dirty="0"/>
              <a:t>内存控制器中排队</a:t>
            </a:r>
            <a:r>
              <a:rPr lang="en-US" altLang="zh-CN" sz="2000" dirty="0"/>
              <a:t>?</a:t>
            </a:r>
            <a:r>
              <a:rPr lang="zh-CN" altLang="en-US" sz="2000" dirty="0"/>
              <a:t> </a:t>
            </a:r>
            <a:r>
              <a:rPr lang="en-US" altLang="zh-CN" sz="2000" dirty="0"/>
              <a:t>(Queue in Memory Controller)</a:t>
            </a:r>
          </a:p>
          <a:p>
            <a:pPr lvl="2">
              <a:spcBef>
                <a:spcPts val="600"/>
              </a:spcBef>
              <a:spcAft>
                <a:spcPts val="600"/>
              </a:spcAft>
              <a:buFont typeface="Arial" panose="020B0604020202020204" pitchFamily="34" charset="0"/>
              <a:buChar char="•"/>
            </a:pPr>
            <a:r>
              <a:rPr lang="en-US" sz="2000" dirty="0"/>
              <a:t>…</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solidFill>
                  <a:schemeClr val="tx1">
                    <a:lumMod val="95000"/>
                    <a:lumOff val="5000"/>
                  </a:schemeClr>
                </a:solidFill>
                <a:cs typeface="Calibri" panose="020F0502020204030204" pitchFamily="34" charset="0"/>
              </a:rPr>
              <a:t>缺失造成处理器停顿的时间多长</a:t>
            </a:r>
            <a:r>
              <a:rPr lang="en-US" kern="1200" dirty="0">
                <a:solidFill>
                  <a:schemeClr val="tx1">
                    <a:lumMod val="95000"/>
                    <a:lumOff val="5000"/>
                  </a:schemeClr>
                </a:solidFill>
                <a:cs typeface="Calibri" panose="020F0502020204030204" pitchFamily="34" charset="0"/>
              </a:rPr>
              <a:t>?</a:t>
            </a:r>
          </a:p>
          <a:p>
            <a:pPr lvl="2">
              <a:spcBef>
                <a:spcPts val="600"/>
              </a:spcBef>
              <a:spcAft>
                <a:spcPts val="600"/>
              </a:spcAft>
              <a:buFont typeface="Arial" panose="020B0604020202020204" pitchFamily="34" charset="0"/>
              <a:buChar char="•"/>
            </a:pPr>
            <a:r>
              <a:rPr lang="zh-CN" altLang="en-US" sz="2000" dirty="0"/>
              <a:t>该缺失能否与其它操作重叠处理</a:t>
            </a:r>
            <a:r>
              <a:rPr lang="en-US" sz="2000" dirty="0"/>
              <a:t>?</a:t>
            </a:r>
          </a:p>
          <a:p>
            <a:pPr lvl="2">
              <a:spcBef>
                <a:spcPts val="600"/>
              </a:spcBef>
              <a:spcAft>
                <a:spcPts val="600"/>
              </a:spcAft>
              <a:buFont typeface="Arial" panose="020B0604020202020204" pitchFamily="34" charset="0"/>
              <a:buChar char="•"/>
            </a:pPr>
            <a:r>
              <a:rPr lang="en-US" altLang="zh-CN" sz="2000" dirty="0"/>
              <a:t>CPU</a:t>
            </a:r>
            <a:r>
              <a:rPr lang="zh-CN" altLang="en-US" sz="2000" dirty="0"/>
              <a:t>是否立刻就需要缺失的数据</a:t>
            </a:r>
            <a:r>
              <a:rPr lang="en-US" sz="2000" dirty="0"/>
              <a:t>?</a:t>
            </a:r>
          </a:p>
          <a:p>
            <a:pPr lvl="2">
              <a:spcBef>
                <a:spcPts val="600"/>
              </a:spcBef>
              <a:spcAft>
                <a:spcPts val="600"/>
              </a:spcAft>
              <a:buFont typeface="Arial" panose="020B0604020202020204" pitchFamily="34" charset="0"/>
              <a:buChar char="•"/>
            </a:pPr>
            <a:r>
              <a:rPr lang="en-US" sz="2000" dirty="0"/>
              <a:t>…</a:t>
            </a: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41</a:t>
            </a:fld>
            <a:endParaRPr lang="en-US" altLang="zh-CN"/>
          </a:p>
        </p:txBody>
      </p:sp>
      <p:sp>
        <p:nvSpPr>
          <p:cNvPr id="2" name="圆角矩形标注 1"/>
          <p:cNvSpPr/>
          <p:nvPr/>
        </p:nvSpPr>
        <p:spPr bwMode="auto">
          <a:xfrm>
            <a:off x="5791200" y="4572000"/>
            <a:ext cx="3124200" cy="1676400"/>
          </a:xfrm>
          <a:prstGeom prst="wedgeRoundRectCallout">
            <a:avLst>
              <a:gd name="adj1" fmla="val -53250"/>
              <a:gd name="adj2" fmla="val -79318"/>
              <a:gd name="adj3" fmla="val 16667"/>
            </a:avLst>
          </a:prstGeom>
          <a:solidFill>
            <a:schemeClr val="tx1">
              <a:lumMod val="95000"/>
              <a:lumOff val="5000"/>
            </a:schemeClr>
          </a:solidFill>
          <a:ln>
            <a:solidFill>
              <a:schemeClr val="tx1">
                <a:lumMod val="95000"/>
                <a:lumOff val="5000"/>
              </a:schemeClr>
            </a:solid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ctr" anchorCtr="0" compatLnSpc="1"/>
          <a:lstStyle/>
          <a:p>
            <a:pPr marL="0" marR="0" indent="0"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接下来，我们通过一个具体的示例，向大家展示当前系统中缓存性能的复杂性。</a:t>
            </a:r>
          </a:p>
        </p:txBody>
      </p:sp>
    </p:spTree>
    <p:extLst>
      <p:ext uri="{BB962C8B-B14F-4D97-AF65-F5344CB8AC3E}">
        <p14:creationId xmlns:p14="http://schemas.microsoft.com/office/powerpoint/2010/main" val="3028516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457200" y="194519"/>
            <a:ext cx="8229600" cy="796081"/>
          </a:xfrm>
        </p:spPr>
        <p:txBody>
          <a:bodyPr/>
          <a:lstStyle/>
          <a:p>
            <a:r>
              <a:rPr lang="zh-CN" altLang="en-US" dirty="0"/>
              <a:t>示例</a:t>
            </a:r>
            <a:r>
              <a:rPr lang="en-US" altLang="zh-CN" dirty="0"/>
              <a:t>: </a:t>
            </a:r>
            <a:r>
              <a:rPr lang="zh-CN" altLang="en-US" dirty="0"/>
              <a:t>存储级并行性 </a:t>
            </a:r>
            <a:r>
              <a:rPr lang="en-US" dirty="0"/>
              <a:t>(MLP) </a:t>
            </a:r>
          </a:p>
        </p:txBody>
      </p:sp>
      <p:sp>
        <p:nvSpPr>
          <p:cNvPr id="91139" name="Rectangle 3"/>
          <p:cNvSpPr>
            <a:spLocks noGrp="1" noChangeArrowheads="1"/>
          </p:cNvSpPr>
          <p:nvPr>
            <p:ph idx="1"/>
          </p:nvPr>
        </p:nvSpPr>
        <p:spPr>
          <a:xfrm>
            <a:off x="457200" y="2823245"/>
            <a:ext cx="8229600" cy="3425155"/>
          </a:xfrm>
        </p:spPr>
        <p:txBody>
          <a:bodyPr/>
          <a:lstStyle/>
          <a:p>
            <a:pPr marL="342000">
              <a:spcBef>
                <a:spcPts val="0"/>
              </a:spcBef>
              <a:spcAft>
                <a:spcPts val="600"/>
              </a:spcAft>
            </a:pPr>
            <a:r>
              <a:rPr lang="en-US" sz="2800" dirty="0"/>
              <a:t>Memory Level </a:t>
            </a:r>
            <a:r>
              <a:rPr lang="en-US" sz="2800" dirty="0">
                <a:solidFill>
                  <a:srgbClr val="FF0000"/>
                </a:solidFill>
              </a:rPr>
              <a:t>Parallelism</a:t>
            </a:r>
            <a:r>
              <a:rPr lang="en-US" sz="2800" dirty="0"/>
              <a:t> (MLP) </a:t>
            </a:r>
            <a:r>
              <a:rPr lang="zh-CN" altLang="en-US" sz="2800" dirty="0"/>
              <a:t>指并行产生和服务多个内存访问</a:t>
            </a:r>
            <a:r>
              <a:rPr lang="en-US" sz="2800" dirty="0"/>
              <a:t> [</a:t>
            </a:r>
            <a:r>
              <a:rPr lang="en-US" sz="2800" dirty="0" err="1"/>
              <a:t>Glew</a:t>
            </a:r>
            <a:r>
              <a:rPr lang="ja-JP" altLang="en-US" sz="2800" dirty="0">
                <a:latin typeface="Yu Gothic" panose="020B0400000000000000" pitchFamily="34" charset="-128"/>
                <a:ea typeface="Yu Gothic" panose="020B0400000000000000" pitchFamily="34" charset="-128"/>
                <a:cs typeface="Arial" panose="020B0604020202020204" pitchFamily="34" charset="0"/>
              </a:rPr>
              <a:t>’</a:t>
            </a:r>
            <a:r>
              <a:rPr lang="en-US" altLang="ja-JP" sz="2800" dirty="0"/>
              <a:t>98]</a:t>
            </a:r>
            <a:endParaRPr lang="en-US" sz="2800" dirty="0"/>
          </a:p>
          <a:p>
            <a:pPr marL="342000">
              <a:spcBef>
                <a:spcPts val="0"/>
              </a:spcBef>
              <a:spcAft>
                <a:spcPts val="600"/>
              </a:spcAft>
            </a:pPr>
            <a:r>
              <a:rPr lang="zh-CN" altLang="en-US" sz="2800" dirty="0"/>
              <a:t>有若干个技术可以提升</a:t>
            </a:r>
            <a:r>
              <a:rPr lang="en-US" sz="2800" dirty="0"/>
              <a:t>MLP</a:t>
            </a:r>
          </a:p>
          <a:p>
            <a:pPr marL="628650" lvl="1" indent="-2651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例如：乱序执行、同时多线程</a:t>
            </a:r>
            <a:endParaRPr lang="en-US" kern="1200" dirty="0">
              <a:cs typeface="Calibri" panose="020F0502020204030204" pitchFamily="34" charset="0"/>
            </a:endParaRPr>
          </a:p>
          <a:p>
            <a:pPr marL="342000">
              <a:spcBef>
                <a:spcPts val="0"/>
              </a:spcBef>
              <a:spcAft>
                <a:spcPts val="600"/>
              </a:spcAft>
            </a:pPr>
            <a:r>
              <a:rPr lang="zh-CN" altLang="en-US" sz="2800" dirty="0">
                <a:solidFill>
                  <a:schemeClr val="tx1">
                    <a:lumMod val="95000"/>
                    <a:lumOff val="5000"/>
                  </a:schemeClr>
                </a:solidFill>
              </a:rPr>
              <a:t>所以，</a:t>
            </a:r>
            <a:r>
              <a:rPr lang="en-US" sz="2800" b="1" dirty="0">
                <a:solidFill>
                  <a:schemeClr val="tx1">
                    <a:lumMod val="95000"/>
                    <a:lumOff val="5000"/>
                  </a:schemeClr>
                </a:solidFill>
              </a:rPr>
              <a:t>MLP</a:t>
            </a:r>
            <a:r>
              <a:rPr lang="zh-CN" altLang="en-US" sz="2800" b="1" dirty="0">
                <a:solidFill>
                  <a:schemeClr val="tx1">
                    <a:lumMod val="95000"/>
                    <a:lumOff val="5000"/>
                  </a:schemeClr>
                </a:solidFill>
              </a:rPr>
              <a:t>是可变的，</a:t>
            </a:r>
            <a:r>
              <a:rPr lang="zh-CN" altLang="en-US" sz="2800" dirty="0"/>
              <a:t>有些缺失是独立的，而有些缺失可并行处理。</a:t>
            </a:r>
            <a:endParaRPr lang="en-US" sz="2800" dirty="0"/>
          </a:p>
          <a:p>
            <a:pPr marL="342000">
              <a:spcBef>
                <a:spcPts val="0"/>
              </a:spcBef>
              <a:spcAft>
                <a:spcPts val="600"/>
              </a:spcAft>
            </a:pPr>
            <a:r>
              <a:rPr lang="zh-CN" altLang="en-US" sz="2800" dirty="0"/>
              <a:t>已有的缓存替换算法能感知以上特征吗</a:t>
            </a:r>
            <a:r>
              <a:rPr lang="en-US" sz="2800" dirty="0"/>
              <a:t>?</a:t>
            </a: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42</a:t>
            </a:fld>
            <a:endParaRPr lang="en-US" altLang="zh-CN"/>
          </a:p>
        </p:txBody>
      </p:sp>
      <p:sp>
        <p:nvSpPr>
          <p:cNvPr id="102404" name="Rectangle 18"/>
          <p:cNvSpPr>
            <a:spLocks noChangeArrowheads="1"/>
          </p:cNvSpPr>
          <p:nvPr/>
        </p:nvSpPr>
        <p:spPr bwMode="auto">
          <a:xfrm>
            <a:off x="762000" y="1032520"/>
            <a:ext cx="7543800" cy="1676400"/>
          </a:xfrm>
          <a:prstGeom prst="rect">
            <a:avLst/>
          </a:prstGeom>
          <a:solidFill>
            <a:srgbClr val="EAEAEA"/>
          </a:solidFill>
          <a:ln w="9525">
            <a:solidFill>
              <a:schemeClr val="tx1"/>
            </a:solidFill>
            <a:miter lim="800000"/>
            <a:headEnd/>
            <a:tailEnd/>
          </a:ln>
        </p:spPr>
        <p:txBody>
          <a:bodyPr wrap="none" anchor="ctr"/>
          <a:lstStyle/>
          <a:p>
            <a:endParaRPr lang="en-US">
              <a:solidFill>
                <a:srgbClr val="000000"/>
              </a:solidFill>
            </a:endParaRPr>
          </a:p>
        </p:txBody>
      </p:sp>
      <p:sp>
        <p:nvSpPr>
          <p:cNvPr id="102405" name="Rectangle 4"/>
          <p:cNvSpPr>
            <a:spLocks noChangeArrowheads="1"/>
          </p:cNvSpPr>
          <p:nvPr/>
        </p:nvSpPr>
        <p:spPr bwMode="auto">
          <a:xfrm>
            <a:off x="1905000" y="1756519"/>
            <a:ext cx="2209800" cy="228600"/>
          </a:xfrm>
          <a:prstGeom prst="rect">
            <a:avLst/>
          </a:prstGeom>
          <a:solidFill>
            <a:srgbClr val="FF9933"/>
          </a:solidFill>
          <a:ln w="9525">
            <a:solidFill>
              <a:schemeClr val="tx1"/>
            </a:solidFill>
            <a:miter lim="800000"/>
            <a:headEnd/>
            <a:tailEnd/>
          </a:ln>
        </p:spPr>
        <p:txBody>
          <a:bodyPr wrap="none" anchor="ctr"/>
          <a:lstStyle/>
          <a:p>
            <a:endParaRPr lang="en-US">
              <a:solidFill>
                <a:srgbClr val="000000"/>
              </a:solidFill>
            </a:endParaRPr>
          </a:p>
        </p:txBody>
      </p:sp>
      <p:sp>
        <p:nvSpPr>
          <p:cNvPr id="102406" name="Rectangle 5"/>
          <p:cNvSpPr>
            <a:spLocks noChangeArrowheads="1"/>
          </p:cNvSpPr>
          <p:nvPr/>
        </p:nvSpPr>
        <p:spPr bwMode="auto">
          <a:xfrm>
            <a:off x="4876800" y="1604119"/>
            <a:ext cx="2209800" cy="228600"/>
          </a:xfrm>
          <a:prstGeom prst="rect">
            <a:avLst/>
          </a:prstGeom>
          <a:solidFill>
            <a:srgbClr val="FF9933"/>
          </a:solidFill>
          <a:ln w="9525">
            <a:solidFill>
              <a:schemeClr val="tx1"/>
            </a:solidFill>
            <a:miter lim="800000"/>
            <a:headEnd/>
            <a:tailEnd/>
          </a:ln>
        </p:spPr>
        <p:txBody>
          <a:bodyPr wrap="none" anchor="ctr"/>
          <a:lstStyle/>
          <a:p>
            <a:endParaRPr lang="en-US">
              <a:solidFill>
                <a:srgbClr val="000000"/>
              </a:solidFill>
            </a:endParaRPr>
          </a:p>
        </p:txBody>
      </p:sp>
      <p:sp>
        <p:nvSpPr>
          <p:cNvPr id="102407" name="Rectangle 7"/>
          <p:cNvSpPr>
            <a:spLocks noChangeArrowheads="1"/>
          </p:cNvSpPr>
          <p:nvPr/>
        </p:nvSpPr>
        <p:spPr bwMode="auto">
          <a:xfrm>
            <a:off x="4648200" y="1985119"/>
            <a:ext cx="2209800" cy="228600"/>
          </a:xfrm>
          <a:prstGeom prst="rect">
            <a:avLst/>
          </a:prstGeom>
          <a:solidFill>
            <a:srgbClr val="FF9933"/>
          </a:solidFill>
          <a:ln w="9525">
            <a:solidFill>
              <a:schemeClr val="tx1"/>
            </a:solidFill>
            <a:miter lim="800000"/>
            <a:headEnd/>
            <a:tailEnd/>
          </a:ln>
        </p:spPr>
        <p:txBody>
          <a:bodyPr wrap="none" anchor="ctr"/>
          <a:lstStyle/>
          <a:p>
            <a:endParaRPr lang="en-US">
              <a:solidFill>
                <a:srgbClr val="000000"/>
              </a:solidFill>
            </a:endParaRPr>
          </a:p>
        </p:txBody>
      </p:sp>
      <p:sp>
        <p:nvSpPr>
          <p:cNvPr id="102408" name="Line 8"/>
          <p:cNvSpPr>
            <a:spLocks noChangeShapeType="1"/>
          </p:cNvSpPr>
          <p:nvPr/>
        </p:nvSpPr>
        <p:spPr bwMode="auto">
          <a:xfrm>
            <a:off x="1870075" y="2518519"/>
            <a:ext cx="5410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409" name="Text Box 9"/>
          <p:cNvSpPr txBox="1">
            <a:spLocks noChangeArrowheads="1"/>
          </p:cNvSpPr>
          <p:nvPr/>
        </p:nvSpPr>
        <p:spPr bwMode="auto">
          <a:xfrm>
            <a:off x="7261225" y="2245469"/>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solidFill>
                  <a:srgbClr val="000000"/>
                </a:solidFill>
                <a:cs typeface="Arial" charset="0"/>
              </a:rPr>
              <a:t>time</a:t>
            </a:r>
          </a:p>
        </p:txBody>
      </p:sp>
      <p:sp>
        <p:nvSpPr>
          <p:cNvPr id="102410" name="Text Box 10"/>
          <p:cNvSpPr txBox="1">
            <a:spLocks noChangeArrowheads="1"/>
          </p:cNvSpPr>
          <p:nvPr/>
        </p:nvSpPr>
        <p:spPr bwMode="auto">
          <a:xfrm>
            <a:off x="1600200" y="16803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b="1">
                <a:solidFill>
                  <a:srgbClr val="000000"/>
                </a:solidFill>
                <a:cs typeface="Arial" charset="0"/>
              </a:rPr>
              <a:t>A</a:t>
            </a:r>
          </a:p>
        </p:txBody>
      </p:sp>
      <p:sp>
        <p:nvSpPr>
          <p:cNvPr id="102411" name="Text Box 11"/>
          <p:cNvSpPr txBox="1">
            <a:spLocks noChangeArrowheads="1"/>
          </p:cNvSpPr>
          <p:nvPr/>
        </p:nvSpPr>
        <p:spPr bwMode="auto">
          <a:xfrm>
            <a:off x="4575175" y="151521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b="1">
                <a:solidFill>
                  <a:srgbClr val="000000"/>
                </a:solidFill>
                <a:cs typeface="Arial" charset="0"/>
              </a:rPr>
              <a:t>B</a:t>
            </a:r>
          </a:p>
        </p:txBody>
      </p:sp>
      <p:sp>
        <p:nvSpPr>
          <p:cNvPr id="102412" name="Text Box 12"/>
          <p:cNvSpPr txBox="1">
            <a:spLocks noChangeArrowheads="1"/>
          </p:cNvSpPr>
          <p:nvPr/>
        </p:nvSpPr>
        <p:spPr bwMode="auto">
          <a:xfrm>
            <a:off x="4330700" y="1905744"/>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b="1">
                <a:solidFill>
                  <a:srgbClr val="000000"/>
                </a:solidFill>
                <a:cs typeface="Arial" charset="0"/>
              </a:rPr>
              <a:t>C</a:t>
            </a:r>
          </a:p>
        </p:txBody>
      </p:sp>
      <p:sp>
        <p:nvSpPr>
          <p:cNvPr id="102413" name="Line 13"/>
          <p:cNvSpPr>
            <a:spLocks noChangeShapeType="1"/>
          </p:cNvSpPr>
          <p:nvPr/>
        </p:nvSpPr>
        <p:spPr bwMode="auto">
          <a:xfrm>
            <a:off x="2362200" y="1527919"/>
            <a:ext cx="3810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414" name="Text Box 14"/>
          <p:cNvSpPr txBox="1">
            <a:spLocks noChangeArrowheads="1"/>
          </p:cNvSpPr>
          <p:nvPr/>
        </p:nvSpPr>
        <p:spPr bwMode="auto">
          <a:xfrm>
            <a:off x="1447800" y="1143744"/>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solidFill>
                  <a:srgbClr val="000000"/>
                </a:solidFill>
                <a:cs typeface="Arial" charset="0"/>
              </a:rPr>
              <a:t>isolated miss</a:t>
            </a:r>
          </a:p>
        </p:txBody>
      </p:sp>
      <p:sp>
        <p:nvSpPr>
          <p:cNvPr id="102415" name="Text Box 15"/>
          <p:cNvSpPr txBox="1">
            <a:spLocks noChangeArrowheads="1"/>
          </p:cNvSpPr>
          <p:nvPr/>
        </p:nvSpPr>
        <p:spPr bwMode="auto">
          <a:xfrm>
            <a:off x="6216650" y="1070719"/>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solidFill>
                  <a:srgbClr val="000000"/>
                </a:solidFill>
                <a:cs typeface="Arial" charset="0"/>
              </a:rPr>
              <a:t>parallel miss</a:t>
            </a:r>
          </a:p>
        </p:txBody>
      </p:sp>
      <p:sp>
        <p:nvSpPr>
          <p:cNvPr id="102416" name="Line 16"/>
          <p:cNvSpPr>
            <a:spLocks noChangeShapeType="1"/>
          </p:cNvSpPr>
          <p:nvPr/>
        </p:nvSpPr>
        <p:spPr bwMode="auto">
          <a:xfrm flipH="1">
            <a:off x="5943600" y="1375519"/>
            <a:ext cx="304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417" name="Line 17"/>
          <p:cNvSpPr>
            <a:spLocks noChangeShapeType="1"/>
          </p:cNvSpPr>
          <p:nvPr/>
        </p:nvSpPr>
        <p:spPr bwMode="auto">
          <a:xfrm flipH="1">
            <a:off x="6096000" y="1375519"/>
            <a:ext cx="152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42178356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11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1139">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9113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11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p:cNvSpPr>
            <a:spLocks noGrp="1"/>
          </p:cNvSpPr>
          <p:nvPr>
            <p:ph type="title"/>
          </p:nvPr>
        </p:nvSpPr>
        <p:spPr>
          <a:xfrm>
            <a:off x="457200" y="228600"/>
            <a:ext cx="8229600" cy="779462"/>
          </a:xfrm>
        </p:spPr>
        <p:txBody>
          <a:bodyPr/>
          <a:lstStyle/>
          <a:p>
            <a:r>
              <a:rPr lang="zh-CN" altLang="en-US" dirty="0">
                <a:latin typeface="+mj-lt"/>
              </a:rPr>
              <a:t>传统的缓存替换算法</a:t>
            </a:r>
            <a:endParaRPr lang="en-US" dirty="0">
              <a:latin typeface="+mj-lt"/>
            </a:endParaRPr>
          </a:p>
        </p:txBody>
      </p:sp>
      <p:sp>
        <p:nvSpPr>
          <p:cNvPr id="93186" name="Content Placeholder 2"/>
          <p:cNvSpPr>
            <a:spLocks noGrp="1"/>
          </p:cNvSpPr>
          <p:nvPr>
            <p:ph idx="1"/>
          </p:nvPr>
        </p:nvSpPr>
        <p:spPr>
          <a:xfrm>
            <a:off x="457200" y="1066800"/>
            <a:ext cx="8229600" cy="4972050"/>
          </a:xfrm>
        </p:spPr>
        <p:txBody>
          <a:bodyPr/>
          <a:lstStyle/>
          <a:p>
            <a:pPr defTabSz="912813">
              <a:spcBef>
                <a:spcPts val="600"/>
              </a:spcBef>
              <a:spcAft>
                <a:spcPts val="600"/>
              </a:spcAft>
            </a:pPr>
            <a:r>
              <a:rPr lang="zh-CN" altLang="en-US" sz="2800" dirty="0"/>
              <a:t>传统的策略均尝试减少缓存访问缺失的数量</a:t>
            </a:r>
            <a:r>
              <a:rPr lang="en-US" sz="2800" dirty="0"/>
              <a:t> (</a:t>
            </a:r>
            <a:r>
              <a:rPr lang="zh-CN" altLang="en-US" sz="2800" u="sng" dirty="0">
                <a:solidFill>
                  <a:srgbClr val="FF0000"/>
                </a:solidFill>
              </a:rPr>
              <a:t>纯粹的缺失数量</a:t>
            </a:r>
            <a:r>
              <a:rPr lang="en-US" sz="2800" dirty="0"/>
              <a:t>)</a:t>
            </a:r>
          </a:p>
          <a:p>
            <a:pPr defTabSz="912813">
              <a:spcBef>
                <a:spcPts val="600"/>
              </a:spcBef>
              <a:spcAft>
                <a:spcPts val="600"/>
              </a:spcAft>
            </a:pPr>
            <a:r>
              <a:rPr lang="zh-CN" altLang="en-US" sz="2800" b="1" dirty="0"/>
              <a:t>隐含的假设：</a:t>
            </a:r>
            <a:r>
              <a:rPr lang="zh-CN" altLang="en-US" sz="2800" dirty="0"/>
              <a:t>减少缺失的数量总能获得最好的存储访问时间的减少。</a:t>
            </a:r>
            <a:r>
              <a:rPr lang="en-US" altLang="zh-CN" sz="2800" dirty="0"/>
              <a:t>[</a:t>
            </a:r>
            <a:r>
              <a:rPr lang="zh-CN" altLang="en-US" dirty="0">
                <a:solidFill>
                  <a:srgbClr val="FF0000"/>
                </a:solidFill>
              </a:rPr>
              <a:t>当前，</a:t>
            </a:r>
            <a:r>
              <a:rPr lang="zh-CN" altLang="en-US" sz="2800" dirty="0">
                <a:solidFill>
                  <a:srgbClr val="FF0000"/>
                </a:solidFill>
              </a:rPr>
              <a:t>不再总是正确。</a:t>
            </a:r>
            <a:r>
              <a:rPr lang="en-US" altLang="zh-CN" sz="2800" dirty="0"/>
              <a:t>]</a:t>
            </a:r>
            <a:endParaRPr lang="en-US" sz="2800" dirty="0"/>
          </a:p>
          <a:p>
            <a:pPr defTabSz="912813">
              <a:spcBef>
                <a:spcPts val="600"/>
              </a:spcBef>
              <a:spcAft>
                <a:spcPts val="600"/>
              </a:spcAft>
            </a:pPr>
            <a:r>
              <a:rPr lang="zh-CN" altLang="en-US" sz="2800" dirty="0"/>
              <a:t>然而，实际情况下不同缺失的开销不同，</a:t>
            </a:r>
            <a:r>
              <a:rPr lang="en-US" altLang="zh-CN" sz="2800" dirty="0"/>
              <a:t>MLP</a:t>
            </a:r>
            <a:r>
              <a:rPr lang="zh-CN" altLang="en-US" sz="2800" dirty="0"/>
              <a:t>不同，从而使得上面所说的</a:t>
            </a:r>
            <a:r>
              <a:rPr lang="zh-CN" altLang="en-US" sz="2800" b="1" dirty="0"/>
              <a:t>隐含的假设</a:t>
            </a:r>
            <a:r>
              <a:rPr lang="zh-CN" altLang="en-US" sz="2800" dirty="0"/>
              <a:t>不成立</a:t>
            </a:r>
            <a:r>
              <a:rPr lang="en-US" sz="2800" dirty="0"/>
              <a:t>!</a:t>
            </a: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与可并行处理的缺失相比，减少一个独立的缺失对性能的帮助更大</a:t>
            </a:r>
            <a:endParaRPr lang="en-US" kern="1200" dirty="0">
              <a:cs typeface="Calibri" panose="020F0502020204030204" pitchFamily="34" charset="0"/>
            </a:endParaRP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换句话说，减少一个长延迟的缺失比减少一个短延迟的缺失带来的收益更大</a:t>
            </a:r>
            <a:endParaRPr lang="en-US" kern="1200" dirty="0">
              <a:cs typeface="Calibri" panose="020F0502020204030204" pitchFamily="34" charset="0"/>
            </a:endParaRP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43</a:t>
            </a:fld>
            <a:endParaRPr lang="en-US" altLang="zh-CN"/>
          </a:p>
        </p:txBody>
      </p:sp>
    </p:spTree>
    <p:extLst>
      <p:ext uri="{BB962C8B-B14F-4D97-AF65-F5344CB8AC3E}">
        <p14:creationId xmlns:p14="http://schemas.microsoft.com/office/powerpoint/2010/main" val="30205861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31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6"/>
          <p:cNvSpPr txBox="1">
            <a:spLocks noChangeArrowheads="1"/>
          </p:cNvSpPr>
          <p:nvPr/>
        </p:nvSpPr>
        <p:spPr bwMode="auto">
          <a:xfrm>
            <a:off x="685800" y="2706975"/>
            <a:ext cx="7797800"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Aft>
                <a:spcPts val="600"/>
              </a:spcAft>
            </a:pPr>
            <a:r>
              <a:rPr lang="zh-CN" altLang="en-US" dirty="0">
                <a:solidFill>
                  <a:srgbClr val="000000"/>
                </a:solidFill>
                <a:latin typeface="微软雅黑" panose="020B0503020204020204" pitchFamily="34" charset="-122"/>
                <a:ea typeface="微软雅黑" panose="020B0503020204020204" pitchFamily="34" charset="-122"/>
                <a:cs typeface="Arial" charset="0"/>
              </a:rPr>
              <a:t>访问块： </a:t>
            </a:r>
            <a:r>
              <a:rPr lang="en-US" dirty="0">
                <a:solidFill>
                  <a:srgbClr val="000000"/>
                </a:solidFill>
                <a:latin typeface="微软雅黑" panose="020B0503020204020204" pitchFamily="34" charset="-122"/>
                <a:ea typeface="微软雅黑" panose="020B0503020204020204" pitchFamily="34" charset="-122"/>
                <a:cs typeface="Arial" charset="0"/>
              </a:rPr>
              <a:t>P1, P2, P3, P4 </a:t>
            </a:r>
            <a:r>
              <a:rPr lang="zh-CN" altLang="en-US" dirty="0">
                <a:solidFill>
                  <a:srgbClr val="000000"/>
                </a:solidFill>
                <a:latin typeface="微软雅黑" panose="020B0503020204020204" pitchFamily="34" charset="-122"/>
                <a:ea typeface="微软雅黑" panose="020B0503020204020204" pitchFamily="34" charset="-122"/>
                <a:cs typeface="Arial" charset="0"/>
              </a:rPr>
              <a:t>发生缺失可以并行处理</a:t>
            </a:r>
            <a:endParaRPr lang="en-US" dirty="0">
              <a:solidFill>
                <a:srgbClr val="000000"/>
              </a:solidFill>
              <a:latin typeface="微软雅黑" panose="020B0503020204020204" pitchFamily="34" charset="-122"/>
              <a:ea typeface="微软雅黑" panose="020B0503020204020204" pitchFamily="34" charset="-122"/>
              <a:cs typeface="Arial" charset="0"/>
            </a:endParaRPr>
          </a:p>
          <a:p>
            <a:pPr eaLnBrk="1" hangingPunct="1">
              <a:spcAft>
                <a:spcPts val="600"/>
              </a:spcAft>
            </a:pPr>
            <a:r>
              <a:rPr lang="zh-CN" altLang="en-US" dirty="0">
                <a:solidFill>
                  <a:srgbClr val="000000"/>
                </a:solidFill>
                <a:latin typeface="微软雅黑" panose="020B0503020204020204" pitchFamily="34" charset="-122"/>
                <a:ea typeface="微软雅黑" panose="020B0503020204020204" pitchFamily="34" charset="-122"/>
                <a:cs typeface="Arial" charset="0"/>
              </a:rPr>
              <a:t>访问块： </a:t>
            </a:r>
            <a:r>
              <a:rPr lang="en-US" dirty="0">
                <a:solidFill>
                  <a:srgbClr val="000000"/>
                </a:solidFill>
                <a:latin typeface="微软雅黑" panose="020B0503020204020204" pitchFamily="34" charset="-122"/>
                <a:ea typeface="微软雅黑" panose="020B0503020204020204" pitchFamily="34" charset="-122"/>
                <a:cs typeface="Arial" charset="0"/>
              </a:rPr>
              <a:t>S1, S2, S3 </a:t>
            </a:r>
            <a:r>
              <a:rPr lang="zh-CN" altLang="en-US" dirty="0">
                <a:solidFill>
                  <a:srgbClr val="000000"/>
                </a:solidFill>
                <a:latin typeface="微软雅黑" panose="020B0503020204020204" pitchFamily="34" charset="-122"/>
                <a:ea typeface="微软雅黑" panose="020B0503020204020204" pitchFamily="34" charset="-122"/>
                <a:cs typeface="Arial" charset="0"/>
              </a:rPr>
              <a:t>发生缺失仅能独立处理</a:t>
            </a:r>
            <a:endParaRPr lang="en-US" dirty="0">
              <a:solidFill>
                <a:srgbClr val="000000"/>
              </a:solidFill>
              <a:latin typeface="微软雅黑" panose="020B0503020204020204" pitchFamily="34" charset="-122"/>
              <a:ea typeface="微软雅黑" panose="020B0503020204020204" pitchFamily="34" charset="-122"/>
              <a:cs typeface="Arial" charset="0"/>
            </a:endParaRPr>
          </a:p>
        </p:txBody>
      </p:sp>
      <p:sp>
        <p:nvSpPr>
          <p:cNvPr id="2575387" name="Text Box 27"/>
          <p:cNvSpPr txBox="1">
            <a:spLocks noChangeArrowheads="1"/>
          </p:cNvSpPr>
          <p:nvPr/>
        </p:nvSpPr>
        <p:spPr bwMode="auto">
          <a:xfrm>
            <a:off x="736600" y="3773775"/>
            <a:ext cx="8026400"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400">
                <a:solidFill>
                  <a:schemeClr val="tx1"/>
                </a:solidFill>
                <a:latin typeface="Arial" charset="0"/>
                <a:ea typeface="ＭＳ Ｐゴシック" charset="0"/>
                <a:cs typeface="ＭＳ Ｐゴシック" charset="0"/>
              </a:defRPr>
            </a:lvl1pPr>
            <a:lvl2pPr marL="914400" indent="-45720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indent="0" eaLnBrk="1" hangingPunct="1">
              <a:spcAft>
                <a:spcPts val="600"/>
              </a:spcAft>
            </a:pPr>
            <a:r>
              <a:rPr lang="zh-CN" altLang="en-US" b="1" dirty="0">
                <a:solidFill>
                  <a:srgbClr val="000000"/>
                </a:solidFill>
                <a:latin typeface="微软雅黑" panose="020B0503020204020204" pitchFamily="34" charset="-122"/>
                <a:ea typeface="微软雅黑" panose="020B0503020204020204" pitchFamily="34" charset="-122"/>
                <a:cs typeface="Arial" charset="0"/>
              </a:rPr>
              <a:t>思考：</a:t>
            </a:r>
            <a:r>
              <a:rPr lang="zh-CN" altLang="en-US" dirty="0">
                <a:solidFill>
                  <a:srgbClr val="000000"/>
                </a:solidFill>
                <a:latin typeface="微软雅黑" panose="020B0503020204020204" pitchFamily="34" charset="-122"/>
                <a:ea typeface="微软雅黑" panose="020B0503020204020204" pitchFamily="34" charset="-122"/>
                <a:cs typeface="Arial" charset="0"/>
              </a:rPr>
              <a:t>基于一个具有</a:t>
            </a:r>
            <a:r>
              <a:rPr lang="en-US" altLang="zh-CN" dirty="0">
                <a:solidFill>
                  <a:srgbClr val="000000"/>
                </a:solidFill>
                <a:latin typeface="微软雅黑" panose="020B0503020204020204" pitchFamily="34" charset="-122"/>
                <a:ea typeface="微软雅黑" panose="020B0503020204020204" pitchFamily="34" charset="-122"/>
                <a:cs typeface="Arial" charset="0"/>
              </a:rPr>
              <a:t>4</a:t>
            </a:r>
            <a:r>
              <a:rPr lang="zh-CN" altLang="en-US" dirty="0">
                <a:solidFill>
                  <a:srgbClr val="000000"/>
                </a:solidFill>
                <a:latin typeface="微软雅黑" panose="020B0503020204020204" pitchFamily="34" charset="-122"/>
                <a:ea typeface="微软雅黑" panose="020B0503020204020204" pitchFamily="34" charset="-122"/>
                <a:cs typeface="Arial" charset="0"/>
              </a:rPr>
              <a:t>个</a:t>
            </a:r>
            <a:r>
              <a:rPr lang="en-US" altLang="zh-CN" dirty="0">
                <a:solidFill>
                  <a:srgbClr val="000000"/>
                </a:solidFill>
                <a:latin typeface="微软雅黑" panose="020B0503020204020204" pitchFamily="34" charset="-122"/>
                <a:ea typeface="微软雅黑" panose="020B0503020204020204" pitchFamily="34" charset="-122"/>
                <a:cs typeface="Arial" charset="0"/>
              </a:rPr>
              <a:t>block</a:t>
            </a:r>
            <a:r>
              <a:rPr lang="zh-CN" altLang="en-US" dirty="0">
                <a:solidFill>
                  <a:srgbClr val="000000"/>
                </a:solidFill>
                <a:latin typeface="微软雅黑" panose="020B0503020204020204" pitchFamily="34" charset="-122"/>
                <a:ea typeface="微软雅黑" panose="020B0503020204020204" pitchFamily="34" charset="-122"/>
                <a:cs typeface="Arial" charset="0"/>
              </a:rPr>
              <a:t>的</a:t>
            </a:r>
            <a:r>
              <a:rPr lang="zh-CN" altLang="en-US" b="1" dirty="0">
                <a:solidFill>
                  <a:srgbClr val="000000"/>
                </a:solidFill>
                <a:latin typeface="微软雅黑" panose="020B0503020204020204" pitchFamily="34" charset="-122"/>
                <a:ea typeface="微软雅黑" panose="020B0503020204020204" pitchFamily="34" charset="-122"/>
                <a:cs typeface="Arial" charset="0"/>
              </a:rPr>
              <a:t>全相联缓存</a:t>
            </a:r>
            <a:r>
              <a:rPr lang="zh-CN" altLang="en-US" dirty="0">
                <a:solidFill>
                  <a:srgbClr val="000000"/>
                </a:solidFill>
                <a:latin typeface="微软雅黑" panose="020B0503020204020204" pitchFamily="34" charset="-122"/>
                <a:ea typeface="微软雅黑" panose="020B0503020204020204" pitchFamily="34" charset="-122"/>
                <a:cs typeface="Arial" charset="0"/>
              </a:rPr>
              <a:t>，请分析下面</a:t>
            </a:r>
            <a:r>
              <a:rPr lang="en-US" dirty="0">
                <a:solidFill>
                  <a:srgbClr val="000000"/>
                </a:solidFill>
                <a:latin typeface="微软雅黑" panose="020B0503020204020204" pitchFamily="34" charset="-122"/>
                <a:ea typeface="微软雅黑" panose="020B0503020204020204" pitchFamily="34" charset="-122"/>
                <a:cs typeface="Arial" charset="0"/>
              </a:rPr>
              <a:t>2</a:t>
            </a:r>
            <a:r>
              <a:rPr lang="zh-CN" altLang="en-US" dirty="0">
                <a:solidFill>
                  <a:srgbClr val="000000"/>
                </a:solidFill>
                <a:latin typeface="微软雅黑" panose="020B0503020204020204" pitchFamily="34" charset="-122"/>
                <a:ea typeface="微软雅黑" panose="020B0503020204020204" pitchFamily="34" charset="-122"/>
                <a:cs typeface="Arial" charset="0"/>
              </a:rPr>
              <a:t>个替换算法在上述访问场景下的性能。</a:t>
            </a:r>
            <a:endParaRPr lang="en-US" dirty="0">
              <a:solidFill>
                <a:srgbClr val="000000"/>
              </a:solidFill>
              <a:latin typeface="微软雅黑" panose="020B0503020204020204" pitchFamily="34" charset="-122"/>
              <a:ea typeface="微软雅黑" panose="020B0503020204020204" pitchFamily="34" charset="-122"/>
              <a:cs typeface="Arial" charset="0"/>
            </a:endParaRPr>
          </a:p>
          <a:p>
            <a:pPr lvl="1" eaLnBrk="1" hangingPunct="1">
              <a:spcAft>
                <a:spcPts val="600"/>
              </a:spcAft>
              <a:buFontTx/>
              <a:buAutoNum type="arabicPeriod"/>
            </a:pPr>
            <a:r>
              <a:rPr lang="zh-CN" altLang="en-US" dirty="0">
                <a:solidFill>
                  <a:srgbClr val="000000"/>
                </a:solidFill>
                <a:latin typeface="微软雅黑" panose="020B0503020204020204" pitchFamily="34" charset="-122"/>
                <a:ea typeface="微软雅黑" panose="020B0503020204020204" pitchFamily="34" charset="-122"/>
                <a:cs typeface="Arial" charset="0"/>
              </a:rPr>
              <a:t>最小化缺失数量 </a:t>
            </a:r>
            <a:r>
              <a:rPr lang="en-US" dirty="0">
                <a:solidFill>
                  <a:srgbClr val="000000"/>
                </a:solidFill>
                <a:latin typeface="微软雅黑" panose="020B0503020204020204" pitchFamily="34" charset="-122"/>
                <a:ea typeface="微软雅黑" panose="020B0503020204020204" pitchFamily="34" charset="-122"/>
                <a:cs typeface="Arial" charset="0"/>
              </a:rPr>
              <a:t>(</a:t>
            </a:r>
            <a:r>
              <a:rPr lang="en-US" dirty="0" err="1">
                <a:solidFill>
                  <a:srgbClr val="000000"/>
                </a:solidFill>
                <a:latin typeface="微软雅黑" panose="020B0503020204020204" pitchFamily="34" charset="-122"/>
                <a:ea typeface="微软雅黑" panose="020B0503020204020204" pitchFamily="34" charset="-122"/>
                <a:cs typeface="Arial" charset="0"/>
              </a:rPr>
              <a:t>Belady</a:t>
            </a:r>
            <a:r>
              <a:rPr lang="ja-JP" altLang="en-US" dirty="0">
                <a:solidFill>
                  <a:srgbClr val="000000"/>
                </a:solidFill>
                <a:latin typeface="Yu Gothic UI Light" panose="020B0300000000000000" pitchFamily="34" charset="-128"/>
                <a:ea typeface="Yu Gothic UI Light" panose="020B0300000000000000" pitchFamily="34" charset="-128"/>
                <a:cs typeface="Arial" panose="020B0604020202020204" pitchFamily="34" charset="0"/>
              </a:rPr>
              <a:t>’</a:t>
            </a:r>
            <a:r>
              <a:rPr lang="en-US" altLang="ja-JP" dirty="0">
                <a:solidFill>
                  <a:srgbClr val="000000"/>
                </a:solidFill>
                <a:latin typeface="微软雅黑" panose="020B0503020204020204" pitchFamily="34" charset="-122"/>
                <a:ea typeface="微软雅黑" panose="020B0503020204020204" pitchFamily="34" charset="-122"/>
                <a:cs typeface="Arial" charset="0"/>
              </a:rPr>
              <a:t>s OPT)</a:t>
            </a:r>
          </a:p>
          <a:p>
            <a:pPr lvl="1" eaLnBrk="1" hangingPunct="1">
              <a:spcAft>
                <a:spcPts val="600"/>
              </a:spcAft>
              <a:buFontTx/>
              <a:buAutoNum type="arabicPeriod"/>
            </a:pPr>
            <a:r>
              <a:rPr lang="zh-CN" altLang="en-US" dirty="0">
                <a:solidFill>
                  <a:srgbClr val="000000"/>
                </a:solidFill>
                <a:latin typeface="微软雅黑" panose="020B0503020204020204" pitchFamily="34" charset="-122"/>
                <a:ea typeface="微软雅黑" panose="020B0503020204020204" pitchFamily="34" charset="-122"/>
                <a:cs typeface="Arial" charset="0"/>
              </a:rPr>
              <a:t>减少独立缺失数量 </a:t>
            </a:r>
            <a:r>
              <a:rPr lang="en-US" dirty="0">
                <a:solidFill>
                  <a:srgbClr val="000000"/>
                </a:solidFill>
                <a:latin typeface="微软雅黑" panose="020B0503020204020204" pitchFamily="34" charset="-122"/>
                <a:ea typeface="微软雅黑" panose="020B0503020204020204" pitchFamily="34" charset="-122"/>
                <a:cs typeface="Arial" charset="0"/>
              </a:rPr>
              <a:t>(MLP-Aware)</a:t>
            </a:r>
          </a:p>
          <a:p>
            <a:pPr eaLnBrk="1" hangingPunct="1">
              <a:spcAft>
                <a:spcPts val="600"/>
              </a:spcAft>
              <a:buFontTx/>
              <a:buAutoNum type="arabicPeriod"/>
            </a:pPr>
            <a:endParaRPr lang="en-US" dirty="0">
              <a:solidFill>
                <a:srgbClr val="000000"/>
              </a:solidFill>
              <a:latin typeface="微软雅黑" panose="020B0503020204020204" pitchFamily="34" charset="-122"/>
              <a:ea typeface="微软雅黑" panose="020B0503020204020204" pitchFamily="34" charset="-122"/>
              <a:cs typeface="Arial" charset="0"/>
            </a:endParaRPr>
          </a:p>
        </p:txBody>
      </p:sp>
      <p:grpSp>
        <p:nvGrpSpPr>
          <p:cNvPr id="105476" name="Group 44"/>
          <p:cNvGrpSpPr>
            <a:grpSpLocks/>
          </p:cNvGrpSpPr>
          <p:nvPr/>
        </p:nvGrpSpPr>
        <p:grpSpPr bwMode="auto">
          <a:xfrm>
            <a:off x="609600" y="1335375"/>
            <a:ext cx="7772400" cy="1155700"/>
            <a:chOff x="288" y="1000"/>
            <a:chExt cx="4896" cy="728"/>
          </a:xfrm>
        </p:grpSpPr>
        <p:sp>
          <p:nvSpPr>
            <p:cNvPr id="105478" name="Oval 6"/>
            <p:cNvSpPr>
              <a:spLocks noChangeArrowheads="1"/>
            </p:cNvSpPr>
            <p:nvPr/>
          </p:nvSpPr>
          <p:spPr bwMode="auto">
            <a:xfrm>
              <a:off x="3312" y="1392"/>
              <a:ext cx="298" cy="308"/>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S1</a:t>
              </a:r>
            </a:p>
          </p:txBody>
        </p:sp>
        <p:sp>
          <p:nvSpPr>
            <p:cNvPr id="105479" name="AutoShape 29"/>
            <p:cNvSpPr>
              <a:spLocks noChangeArrowheads="1"/>
            </p:cNvSpPr>
            <p:nvPr/>
          </p:nvSpPr>
          <p:spPr bwMode="auto">
            <a:xfrm>
              <a:off x="720" y="1384"/>
              <a:ext cx="912" cy="336"/>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US" sz="1900" b="1">
                  <a:solidFill>
                    <a:srgbClr val="000000"/>
                  </a:solidFill>
                  <a:latin typeface="Lucida Sans Unicode" charset="0"/>
                </a:rPr>
                <a:t>P4 P3 P2 P1</a:t>
              </a:r>
            </a:p>
          </p:txBody>
        </p:sp>
        <p:sp>
          <p:nvSpPr>
            <p:cNvPr id="105480" name="AutoShape 30"/>
            <p:cNvSpPr>
              <a:spLocks noChangeArrowheads="1"/>
            </p:cNvSpPr>
            <p:nvPr/>
          </p:nvSpPr>
          <p:spPr bwMode="auto">
            <a:xfrm>
              <a:off x="2016" y="1392"/>
              <a:ext cx="912" cy="336"/>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US" sz="1900" b="1">
                  <a:solidFill>
                    <a:srgbClr val="000000"/>
                  </a:solidFill>
                  <a:latin typeface="Lucida Sans Unicode" charset="0"/>
                </a:rPr>
                <a:t>P1 P2 P3 P4</a:t>
              </a:r>
            </a:p>
          </p:txBody>
        </p:sp>
        <p:sp>
          <p:nvSpPr>
            <p:cNvPr id="105481" name="Line 31"/>
            <p:cNvSpPr>
              <a:spLocks noChangeShapeType="1"/>
            </p:cNvSpPr>
            <p:nvPr/>
          </p:nvSpPr>
          <p:spPr bwMode="auto">
            <a:xfrm>
              <a:off x="1632" y="1536"/>
              <a:ext cx="3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2" name="Line 32"/>
            <p:cNvSpPr>
              <a:spLocks noChangeShapeType="1"/>
            </p:cNvSpPr>
            <p:nvPr/>
          </p:nvSpPr>
          <p:spPr bwMode="auto">
            <a:xfrm>
              <a:off x="2936" y="1536"/>
              <a:ext cx="3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3" name="Line 33"/>
            <p:cNvSpPr>
              <a:spLocks noChangeShapeType="1"/>
            </p:cNvSpPr>
            <p:nvPr/>
          </p:nvSpPr>
          <p:spPr bwMode="auto">
            <a:xfrm>
              <a:off x="3600" y="1536"/>
              <a:ext cx="3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4" name="Line 34"/>
            <p:cNvSpPr>
              <a:spLocks noChangeShapeType="1"/>
            </p:cNvSpPr>
            <p:nvPr/>
          </p:nvSpPr>
          <p:spPr bwMode="auto">
            <a:xfrm>
              <a:off x="4272" y="1536"/>
              <a:ext cx="38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5" name="Line 36"/>
            <p:cNvSpPr>
              <a:spLocks noChangeShapeType="1"/>
            </p:cNvSpPr>
            <p:nvPr/>
          </p:nvSpPr>
          <p:spPr bwMode="auto">
            <a:xfrm rot="10800000" flipV="1">
              <a:off x="464" y="1016"/>
              <a:ext cx="470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86" name="Line 37"/>
            <p:cNvSpPr>
              <a:spLocks noChangeShapeType="1"/>
            </p:cNvSpPr>
            <p:nvPr/>
          </p:nvSpPr>
          <p:spPr bwMode="auto">
            <a:xfrm>
              <a:off x="4944" y="1536"/>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7" name="Line 38"/>
            <p:cNvSpPr>
              <a:spLocks noChangeShapeType="1"/>
            </p:cNvSpPr>
            <p:nvPr/>
          </p:nvSpPr>
          <p:spPr bwMode="auto">
            <a:xfrm>
              <a:off x="288" y="1536"/>
              <a:ext cx="43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8" name="Line 39"/>
            <p:cNvSpPr>
              <a:spLocks noChangeShapeType="1"/>
            </p:cNvSpPr>
            <p:nvPr/>
          </p:nvSpPr>
          <p:spPr bwMode="auto">
            <a:xfrm flipH="1">
              <a:off x="472" y="1008"/>
              <a:ext cx="0" cy="52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5489" name="Line 40"/>
            <p:cNvSpPr>
              <a:spLocks noChangeShapeType="1"/>
            </p:cNvSpPr>
            <p:nvPr/>
          </p:nvSpPr>
          <p:spPr bwMode="auto">
            <a:xfrm flipV="1">
              <a:off x="5168" y="1000"/>
              <a:ext cx="0" cy="52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90" name="Oval 42"/>
            <p:cNvSpPr>
              <a:spLocks noChangeArrowheads="1"/>
            </p:cNvSpPr>
            <p:nvPr/>
          </p:nvSpPr>
          <p:spPr bwMode="auto">
            <a:xfrm>
              <a:off x="3976" y="1384"/>
              <a:ext cx="298" cy="308"/>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S2</a:t>
              </a:r>
            </a:p>
          </p:txBody>
        </p:sp>
        <p:sp>
          <p:nvSpPr>
            <p:cNvPr id="105491" name="Oval 43"/>
            <p:cNvSpPr>
              <a:spLocks noChangeArrowheads="1"/>
            </p:cNvSpPr>
            <p:nvPr/>
          </p:nvSpPr>
          <p:spPr bwMode="auto">
            <a:xfrm>
              <a:off x="4648" y="1384"/>
              <a:ext cx="298" cy="308"/>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S3</a:t>
              </a:r>
            </a:p>
          </p:txBody>
        </p:sp>
      </p:grpSp>
      <p:sp>
        <p:nvSpPr>
          <p:cNvPr id="105477" name="Title 20"/>
          <p:cNvSpPr>
            <a:spLocks noGrp="1"/>
          </p:cNvSpPr>
          <p:nvPr>
            <p:ph type="title"/>
          </p:nvPr>
        </p:nvSpPr>
        <p:spPr>
          <a:xfrm>
            <a:off x="457200" y="152400"/>
            <a:ext cx="8229600" cy="838200"/>
          </a:xfrm>
        </p:spPr>
        <p:txBody>
          <a:bodyPr/>
          <a:lstStyle/>
          <a:p>
            <a:r>
              <a:rPr lang="zh-CN" altLang="en-US" dirty="0">
                <a:latin typeface="+mj-lt"/>
              </a:rPr>
              <a:t>一个具体的</a:t>
            </a:r>
            <a:r>
              <a:rPr lang="en-US" altLang="zh-CN" dirty="0"/>
              <a:t>DEMO</a:t>
            </a:r>
            <a:endParaRPr lang="en-US" dirty="0"/>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44</a:t>
            </a:fld>
            <a:endParaRPr lang="en-US" altLang="zh-CN"/>
          </a:p>
        </p:txBody>
      </p:sp>
    </p:spTree>
    <p:extLst>
      <p:ext uri="{BB962C8B-B14F-4D97-AF65-F5344CB8AC3E}">
        <p14:creationId xmlns:p14="http://schemas.microsoft.com/office/powerpoint/2010/main" val="888886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753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538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09"/>
          <p:cNvSpPr>
            <a:spLocks noGrp="1"/>
          </p:cNvSpPr>
          <p:nvPr>
            <p:ph type="title"/>
          </p:nvPr>
        </p:nvSpPr>
        <p:spPr>
          <a:xfrm>
            <a:off x="457200" y="261937"/>
            <a:ext cx="8229600" cy="728663"/>
          </a:xfrm>
        </p:spPr>
        <p:txBody>
          <a:bodyPr/>
          <a:lstStyle/>
          <a:p>
            <a:r>
              <a:rPr lang="zh-CN" altLang="en-US" dirty="0">
                <a:latin typeface="+mj-lt"/>
              </a:rPr>
              <a:t>最少的缺失数</a:t>
            </a:r>
            <a:r>
              <a:rPr lang="zh-CN" altLang="en-US" dirty="0">
                <a:latin typeface="仿宋" panose="02010609060101010101" pitchFamily="49" charset="-122"/>
                <a:ea typeface="仿宋" panose="02010609060101010101" pitchFamily="49" charset="-122"/>
              </a:rPr>
              <a:t>≠</a:t>
            </a:r>
            <a:r>
              <a:rPr lang="zh-CN" altLang="en-US" dirty="0">
                <a:latin typeface="+mj-lt"/>
              </a:rPr>
              <a:t>最好的性能</a:t>
            </a:r>
            <a:endParaRPr lang="en-US" dirty="0">
              <a:latin typeface="+mj-lt"/>
            </a:endParaRPr>
          </a:p>
        </p:txBody>
      </p:sp>
      <p:sp>
        <p:nvSpPr>
          <p:cNvPr id="14" name="灯片编号占位符 13"/>
          <p:cNvSpPr>
            <a:spLocks noGrp="1"/>
          </p:cNvSpPr>
          <p:nvPr>
            <p:ph type="sldNum" sz="quarter" idx="12"/>
          </p:nvPr>
        </p:nvSpPr>
        <p:spPr/>
        <p:txBody>
          <a:bodyPr/>
          <a:lstStyle/>
          <a:p>
            <a:pPr>
              <a:defRPr/>
            </a:pPr>
            <a:fld id="{4D61D28F-70AE-4570-A6CA-7CE9CC809164}" type="slidenum">
              <a:rPr lang="en-US" altLang="zh-CN" smtClean="0"/>
              <a:pPr>
                <a:defRPr/>
              </a:pPr>
              <a:t>45</a:t>
            </a:fld>
            <a:endParaRPr lang="en-US" altLang="zh-CN"/>
          </a:p>
        </p:txBody>
      </p:sp>
      <p:grpSp>
        <p:nvGrpSpPr>
          <p:cNvPr id="2" name="Group 31"/>
          <p:cNvGrpSpPr>
            <a:grpSpLocks/>
          </p:cNvGrpSpPr>
          <p:nvPr/>
        </p:nvGrpSpPr>
        <p:grpSpPr bwMode="auto">
          <a:xfrm>
            <a:off x="2133600" y="1524000"/>
            <a:ext cx="1828800" cy="457200"/>
            <a:chOff x="1248" y="2112"/>
            <a:chExt cx="1152" cy="288"/>
          </a:xfrm>
        </p:grpSpPr>
        <p:sp>
          <p:nvSpPr>
            <p:cNvPr id="107625" name="Rectangle 21"/>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626" name="Rectangle 22"/>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627" name="Rectangle 23"/>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P1 </a:t>
              </a:r>
            </a:p>
          </p:txBody>
        </p:sp>
        <p:sp>
          <p:nvSpPr>
            <p:cNvPr id="107628" name="Rectangle 24"/>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sp>
        <p:nvSpPr>
          <p:cNvPr id="107524" name="Text Box 27"/>
          <p:cNvSpPr txBox="1">
            <a:spLocks noChangeArrowheads="1"/>
          </p:cNvSpPr>
          <p:nvPr/>
        </p:nvSpPr>
        <p:spPr bwMode="auto">
          <a:xfrm>
            <a:off x="3352800" y="28956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6600"/>
                </a:solidFill>
                <a:latin typeface="Lucida Sans Unicode" charset="0"/>
                <a:cs typeface="Arial" charset="0"/>
              </a:rPr>
              <a:t>H  H  H  H</a:t>
            </a:r>
          </a:p>
        </p:txBody>
      </p:sp>
      <p:sp>
        <p:nvSpPr>
          <p:cNvPr id="2576412" name="Text Box 28"/>
          <p:cNvSpPr txBox="1">
            <a:spLocks noChangeArrowheads="1"/>
          </p:cNvSpPr>
          <p:nvPr/>
        </p:nvSpPr>
        <p:spPr bwMode="auto">
          <a:xfrm>
            <a:off x="5410200" y="28956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CC0000"/>
                </a:solidFill>
                <a:latin typeface="Lucida Sans Unicode" charset="0"/>
                <a:cs typeface="Arial" charset="0"/>
              </a:rPr>
              <a:t>M          </a:t>
            </a:r>
          </a:p>
        </p:txBody>
      </p:sp>
      <p:sp>
        <p:nvSpPr>
          <p:cNvPr id="2576422" name="Text Box 38"/>
          <p:cNvSpPr txBox="1">
            <a:spLocks noChangeArrowheads="1"/>
          </p:cNvSpPr>
          <p:nvPr/>
        </p:nvSpPr>
        <p:spPr bwMode="auto">
          <a:xfrm>
            <a:off x="1295400" y="28956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6600"/>
                </a:solidFill>
                <a:latin typeface="Lucida Sans Unicode" charset="0"/>
                <a:cs typeface="Arial" charset="0"/>
              </a:rPr>
              <a:t>H  H  H</a:t>
            </a:r>
            <a:r>
              <a:rPr lang="en-US" sz="2000" b="1">
                <a:solidFill>
                  <a:srgbClr val="000000"/>
                </a:solidFill>
                <a:latin typeface="Lucida Sans Unicode" charset="0"/>
                <a:cs typeface="Arial" charset="0"/>
              </a:rPr>
              <a:t>  </a:t>
            </a:r>
            <a:r>
              <a:rPr lang="en-US" sz="2000" b="1">
                <a:solidFill>
                  <a:srgbClr val="CC0000"/>
                </a:solidFill>
                <a:latin typeface="Lucida Sans Unicode" charset="0"/>
                <a:cs typeface="Arial" charset="0"/>
              </a:rPr>
              <a:t>M</a:t>
            </a:r>
          </a:p>
        </p:txBody>
      </p:sp>
      <p:sp>
        <p:nvSpPr>
          <p:cNvPr id="2576433" name="Text Box 49"/>
          <p:cNvSpPr txBox="1">
            <a:spLocks noChangeArrowheads="1"/>
          </p:cNvSpPr>
          <p:nvPr/>
        </p:nvSpPr>
        <p:spPr bwMode="auto">
          <a:xfrm>
            <a:off x="0" y="289560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6600"/>
                </a:solidFill>
                <a:latin typeface="Lucida Sans Unicode" charset="0"/>
                <a:cs typeface="Arial" charset="0"/>
              </a:rPr>
              <a:t>Hit</a:t>
            </a:r>
            <a:r>
              <a:rPr lang="en-US" sz="2000" b="1">
                <a:solidFill>
                  <a:srgbClr val="000000"/>
                </a:solidFill>
                <a:latin typeface="Lucida Sans Unicode" charset="0"/>
                <a:cs typeface="Arial" charset="0"/>
              </a:rPr>
              <a:t>/</a:t>
            </a:r>
            <a:r>
              <a:rPr lang="en-US" sz="2000" b="1">
                <a:solidFill>
                  <a:srgbClr val="CC0000"/>
                </a:solidFill>
                <a:latin typeface="Lucida Sans Unicode" charset="0"/>
                <a:cs typeface="Arial" charset="0"/>
              </a:rPr>
              <a:t>Miss</a:t>
            </a:r>
          </a:p>
        </p:txBody>
      </p:sp>
      <p:sp>
        <p:nvSpPr>
          <p:cNvPr id="2576442" name="Text Box 58"/>
          <p:cNvSpPr txBox="1">
            <a:spLocks noChangeArrowheads="1"/>
          </p:cNvSpPr>
          <p:nvPr/>
        </p:nvSpPr>
        <p:spPr bwMode="auto">
          <a:xfrm>
            <a:off x="7696200" y="3176588"/>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0000"/>
                </a:solidFill>
                <a:latin typeface="Tahoma" charset="0"/>
                <a:cs typeface="Arial" charset="0"/>
              </a:rPr>
              <a:t>Misses=4 Stalls=4</a:t>
            </a:r>
          </a:p>
        </p:txBody>
      </p:sp>
      <p:sp>
        <p:nvSpPr>
          <p:cNvPr id="107529" name="Oval 62"/>
          <p:cNvSpPr>
            <a:spLocks noChangeArrowheads="1"/>
          </p:cNvSpPr>
          <p:nvPr/>
        </p:nvSpPr>
        <p:spPr bwMode="auto">
          <a:xfrm>
            <a:off x="5410200" y="2070100"/>
            <a:ext cx="473075" cy="488950"/>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S1</a:t>
            </a:r>
          </a:p>
        </p:txBody>
      </p:sp>
      <p:sp>
        <p:nvSpPr>
          <p:cNvPr id="107530" name="AutoShape 63"/>
          <p:cNvSpPr>
            <a:spLocks noChangeArrowheads="1"/>
          </p:cNvSpPr>
          <p:nvPr/>
        </p:nvSpPr>
        <p:spPr bwMode="auto">
          <a:xfrm>
            <a:off x="1295400" y="2057400"/>
            <a:ext cx="1447800" cy="533400"/>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US" sz="1900" b="1">
                <a:solidFill>
                  <a:srgbClr val="000000"/>
                </a:solidFill>
                <a:latin typeface="Lucida Sans Unicode" charset="0"/>
              </a:rPr>
              <a:t>P4 P3 P2 P1</a:t>
            </a:r>
          </a:p>
        </p:txBody>
      </p:sp>
      <p:sp>
        <p:nvSpPr>
          <p:cNvPr id="107531" name="AutoShape 64"/>
          <p:cNvSpPr>
            <a:spLocks noChangeArrowheads="1"/>
          </p:cNvSpPr>
          <p:nvPr/>
        </p:nvSpPr>
        <p:spPr bwMode="auto">
          <a:xfrm>
            <a:off x="3352800" y="2070100"/>
            <a:ext cx="1447800" cy="533400"/>
          </a:xfrm>
          <a:prstGeom prst="roundRect">
            <a:avLst>
              <a:gd name="adj" fmla="val 16667"/>
            </a:avLst>
          </a:prstGeom>
          <a:solidFill>
            <a:srgbClr val="CCFF99"/>
          </a:solidFill>
          <a:ln w="9525">
            <a:solidFill>
              <a:schemeClr val="tx1"/>
            </a:solidFill>
            <a:round/>
            <a:headEnd/>
            <a:tailEnd/>
          </a:ln>
        </p:spPr>
        <p:txBody>
          <a:bodyPr wrap="none" anchor="ctr"/>
          <a:lstStyle/>
          <a:p>
            <a:pPr algn="ctr"/>
            <a:r>
              <a:rPr lang="en-US" sz="1900" b="1">
                <a:solidFill>
                  <a:srgbClr val="000000"/>
                </a:solidFill>
                <a:latin typeface="Lucida Sans Unicode" charset="0"/>
              </a:rPr>
              <a:t>P1 P2 P3 P4</a:t>
            </a:r>
          </a:p>
        </p:txBody>
      </p:sp>
      <p:sp>
        <p:nvSpPr>
          <p:cNvPr id="107532" name="Line 65"/>
          <p:cNvSpPr>
            <a:spLocks noChangeShapeType="1"/>
          </p:cNvSpPr>
          <p:nvPr/>
        </p:nvSpPr>
        <p:spPr bwMode="auto">
          <a:xfrm>
            <a:off x="2743200" y="2298700"/>
            <a:ext cx="60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3" name="Line 66"/>
          <p:cNvSpPr>
            <a:spLocks noChangeShapeType="1"/>
          </p:cNvSpPr>
          <p:nvPr/>
        </p:nvSpPr>
        <p:spPr bwMode="auto">
          <a:xfrm>
            <a:off x="4813300" y="2298700"/>
            <a:ext cx="60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4" name="Line 67"/>
          <p:cNvSpPr>
            <a:spLocks noChangeShapeType="1"/>
          </p:cNvSpPr>
          <p:nvPr/>
        </p:nvSpPr>
        <p:spPr bwMode="auto">
          <a:xfrm>
            <a:off x="5867400" y="2298700"/>
            <a:ext cx="60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5" name="Line 68"/>
          <p:cNvSpPr>
            <a:spLocks noChangeShapeType="1"/>
          </p:cNvSpPr>
          <p:nvPr/>
        </p:nvSpPr>
        <p:spPr bwMode="auto">
          <a:xfrm>
            <a:off x="6934200" y="2298700"/>
            <a:ext cx="60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6" name="Line 69"/>
          <p:cNvSpPr>
            <a:spLocks noChangeShapeType="1"/>
          </p:cNvSpPr>
          <p:nvPr/>
        </p:nvSpPr>
        <p:spPr bwMode="auto">
          <a:xfrm rot="10800000" flipV="1">
            <a:off x="838200" y="1371600"/>
            <a:ext cx="7467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37" name="Line 70"/>
          <p:cNvSpPr>
            <a:spLocks noChangeShapeType="1"/>
          </p:cNvSpPr>
          <p:nvPr/>
        </p:nvSpPr>
        <p:spPr bwMode="auto">
          <a:xfrm>
            <a:off x="8001000" y="2298700"/>
            <a:ext cx="3810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8" name="Line 71"/>
          <p:cNvSpPr>
            <a:spLocks noChangeShapeType="1"/>
          </p:cNvSpPr>
          <p:nvPr/>
        </p:nvSpPr>
        <p:spPr bwMode="auto">
          <a:xfrm>
            <a:off x="609600" y="229870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39" name="Line 72"/>
          <p:cNvSpPr>
            <a:spLocks noChangeShapeType="1"/>
          </p:cNvSpPr>
          <p:nvPr/>
        </p:nvSpPr>
        <p:spPr bwMode="auto">
          <a:xfrm flipH="1">
            <a:off x="839788" y="1371600"/>
            <a:ext cx="12700" cy="9271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7540" name="Oval 74"/>
          <p:cNvSpPr>
            <a:spLocks noChangeArrowheads="1"/>
          </p:cNvSpPr>
          <p:nvPr/>
        </p:nvSpPr>
        <p:spPr bwMode="auto">
          <a:xfrm>
            <a:off x="6464300" y="2057400"/>
            <a:ext cx="473075" cy="488950"/>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S2</a:t>
            </a:r>
          </a:p>
        </p:txBody>
      </p:sp>
      <p:sp>
        <p:nvSpPr>
          <p:cNvPr id="107541" name="Oval 75"/>
          <p:cNvSpPr>
            <a:spLocks noChangeArrowheads="1"/>
          </p:cNvSpPr>
          <p:nvPr/>
        </p:nvSpPr>
        <p:spPr bwMode="auto">
          <a:xfrm>
            <a:off x="7531100" y="2057400"/>
            <a:ext cx="473075" cy="488950"/>
          </a:xfrm>
          <a:prstGeom prst="ellipse">
            <a:avLst/>
          </a:prstGeom>
          <a:solidFill>
            <a:srgbClr val="FF99CC"/>
          </a:solidFill>
          <a:ln w="9525">
            <a:solidFill>
              <a:schemeClr val="tx1"/>
            </a:solidFill>
            <a:round/>
            <a:headEnd/>
            <a:tailEnd/>
          </a:ln>
        </p:spPr>
        <p:txBody>
          <a:bodyPr wrap="none" anchor="ctr"/>
          <a:lstStyle/>
          <a:p>
            <a:pPr algn="ctr"/>
            <a:r>
              <a:rPr lang="en-US" sz="1900" b="1">
                <a:solidFill>
                  <a:srgbClr val="000000"/>
                </a:solidFill>
                <a:latin typeface="Lucida Sans Unicode" charset="0"/>
              </a:rPr>
              <a:t>S3</a:t>
            </a:r>
          </a:p>
        </p:txBody>
      </p:sp>
      <p:sp>
        <p:nvSpPr>
          <p:cNvPr id="107542" name="Line 76"/>
          <p:cNvSpPr>
            <a:spLocks noChangeShapeType="1"/>
          </p:cNvSpPr>
          <p:nvPr/>
        </p:nvSpPr>
        <p:spPr bwMode="auto">
          <a:xfrm flipH="1">
            <a:off x="8304213" y="1347788"/>
            <a:ext cx="12700" cy="927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43" name="Text Box 39"/>
          <p:cNvSpPr txBox="1">
            <a:spLocks noChangeArrowheads="1"/>
          </p:cNvSpPr>
          <p:nvPr/>
        </p:nvSpPr>
        <p:spPr bwMode="auto">
          <a:xfrm>
            <a:off x="0" y="3886200"/>
            <a:ext cx="68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0000"/>
                </a:solidFill>
                <a:latin typeface="Lucida Sans Unicode" charset="0"/>
                <a:cs typeface="Arial" charset="0"/>
              </a:rPr>
              <a:t> </a:t>
            </a:r>
          </a:p>
        </p:txBody>
      </p:sp>
      <p:grpSp>
        <p:nvGrpSpPr>
          <p:cNvPr id="3" name="Group 137"/>
          <p:cNvGrpSpPr>
            <a:grpSpLocks/>
          </p:cNvGrpSpPr>
          <p:nvPr/>
        </p:nvGrpSpPr>
        <p:grpSpPr bwMode="auto">
          <a:xfrm>
            <a:off x="228600" y="3352800"/>
            <a:ext cx="7467600" cy="396875"/>
            <a:chOff x="96" y="2400"/>
            <a:chExt cx="4704" cy="250"/>
          </a:xfrm>
        </p:grpSpPr>
        <p:sp>
          <p:nvSpPr>
            <p:cNvPr id="107614" name="Text Box 83"/>
            <p:cNvSpPr txBox="1">
              <a:spLocks noChangeArrowheads="1"/>
            </p:cNvSpPr>
            <p:nvPr/>
          </p:nvSpPr>
          <p:spPr bwMode="auto">
            <a:xfrm>
              <a:off x="96" y="2400"/>
              <a:ext cx="5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0000"/>
                  </a:solidFill>
                  <a:latin typeface="Lucida Sans Unicode" charset="0"/>
                  <a:cs typeface="Arial" charset="0"/>
                </a:rPr>
                <a:t>Time</a:t>
              </a:r>
              <a:endParaRPr lang="en-US" sz="2000" b="1">
                <a:solidFill>
                  <a:srgbClr val="CC0000"/>
                </a:solidFill>
                <a:latin typeface="Lucida Sans Unicode" charset="0"/>
                <a:cs typeface="Arial" charset="0"/>
              </a:endParaRPr>
            </a:p>
          </p:txBody>
        </p:sp>
        <p:sp>
          <p:nvSpPr>
            <p:cNvPr id="107615" name="Rectangle 88"/>
            <p:cNvSpPr>
              <a:spLocks noChangeArrowheads="1"/>
            </p:cNvSpPr>
            <p:nvPr/>
          </p:nvSpPr>
          <p:spPr bwMode="auto">
            <a:xfrm>
              <a:off x="576" y="2448"/>
              <a:ext cx="192"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616" name="Rectangle 90"/>
            <p:cNvSpPr>
              <a:spLocks noChangeArrowheads="1"/>
            </p:cNvSpPr>
            <p:nvPr/>
          </p:nvSpPr>
          <p:spPr bwMode="auto">
            <a:xfrm>
              <a:off x="768" y="2448"/>
              <a:ext cx="480" cy="192"/>
            </a:xfrm>
            <a:prstGeom prst="rect">
              <a:avLst/>
            </a:prstGeom>
            <a:solidFill>
              <a:srgbClr val="FF0000"/>
            </a:solidFill>
            <a:ln w="9525">
              <a:solidFill>
                <a:schemeClr val="tx1"/>
              </a:solidFill>
              <a:miter lim="800000"/>
              <a:headEnd/>
              <a:tailEnd/>
            </a:ln>
          </p:spPr>
          <p:txBody>
            <a:bodyPr wrap="none" anchor="ctr"/>
            <a:lstStyle/>
            <a:p>
              <a:pPr algn="ctr"/>
              <a:r>
                <a:rPr lang="en-US" sz="2000">
                  <a:solidFill>
                    <a:srgbClr val="000000"/>
                  </a:solidFill>
                  <a:latin typeface="Lucida Sans Unicode" charset="0"/>
                </a:rPr>
                <a:t>stall</a:t>
              </a:r>
            </a:p>
          </p:txBody>
        </p:sp>
        <p:sp>
          <p:nvSpPr>
            <p:cNvPr id="107617" name="Rectangle 97"/>
            <p:cNvSpPr>
              <a:spLocks noChangeArrowheads="1"/>
            </p:cNvSpPr>
            <p:nvPr/>
          </p:nvSpPr>
          <p:spPr bwMode="auto">
            <a:xfrm>
              <a:off x="1248" y="2448"/>
              <a:ext cx="480" cy="192"/>
            </a:xfrm>
            <a:prstGeom prst="rect">
              <a:avLst/>
            </a:prstGeom>
            <a:solidFill>
              <a:srgbClr val="00FF00"/>
            </a:solidFill>
            <a:ln w="9525">
              <a:solidFill>
                <a:schemeClr val="tx1"/>
              </a:solidFill>
              <a:miter lim="800000"/>
              <a:headEnd/>
              <a:tailEnd/>
            </a:ln>
          </p:spPr>
          <p:txBody>
            <a:bodyPr wrap="none" anchor="ctr"/>
            <a:lstStyle/>
            <a:p>
              <a:pPr algn="ctr"/>
              <a:endParaRPr lang="en-US" sz="2000">
                <a:solidFill>
                  <a:srgbClr val="000000"/>
                </a:solidFill>
                <a:latin typeface="Lucida Sans Unicode" charset="0"/>
              </a:endParaRPr>
            </a:p>
          </p:txBody>
        </p:sp>
        <p:sp>
          <p:nvSpPr>
            <p:cNvPr id="107618" name="Rectangle 98"/>
            <p:cNvSpPr>
              <a:spLocks noChangeArrowheads="1"/>
            </p:cNvSpPr>
            <p:nvPr/>
          </p:nvSpPr>
          <p:spPr bwMode="auto">
            <a:xfrm>
              <a:off x="1728" y="2448"/>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619" name="Rectangle 99"/>
            <p:cNvSpPr>
              <a:spLocks noChangeArrowheads="1"/>
            </p:cNvSpPr>
            <p:nvPr/>
          </p:nvSpPr>
          <p:spPr bwMode="auto">
            <a:xfrm>
              <a:off x="2208" y="2448"/>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620" name="Rectangle 100"/>
            <p:cNvSpPr>
              <a:spLocks noChangeArrowheads="1"/>
            </p:cNvSpPr>
            <p:nvPr/>
          </p:nvSpPr>
          <p:spPr bwMode="auto">
            <a:xfrm>
              <a:off x="2688" y="2448"/>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621" name="Rectangle 101"/>
            <p:cNvSpPr>
              <a:spLocks noChangeArrowheads="1"/>
            </p:cNvSpPr>
            <p:nvPr/>
          </p:nvSpPr>
          <p:spPr bwMode="auto">
            <a:xfrm>
              <a:off x="3168" y="2448"/>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622" name="Rectangle 102"/>
            <p:cNvSpPr>
              <a:spLocks noChangeArrowheads="1"/>
            </p:cNvSpPr>
            <p:nvPr/>
          </p:nvSpPr>
          <p:spPr bwMode="auto">
            <a:xfrm>
              <a:off x="4128" y="2448"/>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623" name="Rectangle 103"/>
            <p:cNvSpPr>
              <a:spLocks noChangeArrowheads="1"/>
            </p:cNvSpPr>
            <p:nvPr/>
          </p:nvSpPr>
          <p:spPr bwMode="auto">
            <a:xfrm>
              <a:off x="3648" y="2448"/>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624" name="Rectangle 104"/>
            <p:cNvSpPr>
              <a:spLocks noChangeArrowheads="1"/>
            </p:cNvSpPr>
            <p:nvPr/>
          </p:nvSpPr>
          <p:spPr bwMode="auto">
            <a:xfrm>
              <a:off x="4608" y="2448"/>
              <a:ext cx="192"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grpSp>
      <p:sp>
        <p:nvSpPr>
          <p:cNvPr id="2576522" name="Text Box 138"/>
          <p:cNvSpPr txBox="1">
            <a:spLocks noChangeArrowheads="1"/>
          </p:cNvSpPr>
          <p:nvPr/>
        </p:nvSpPr>
        <p:spPr bwMode="auto">
          <a:xfrm>
            <a:off x="2819400" y="3810000"/>
            <a:ext cx="3581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a:solidFill>
                  <a:srgbClr val="000000"/>
                </a:solidFill>
                <a:latin typeface="Tahoma" charset="0"/>
                <a:cs typeface="Arial" charset="0"/>
              </a:rPr>
              <a:t>Belady</a:t>
            </a:r>
            <a:r>
              <a:rPr lang="ja-JP" altLang="en-US" sz="2000">
                <a:solidFill>
                  <a:srgbClr val="000000"/>
                </a:solidFill>
                <a:latin typeface="Tahoma" charset="0"/>
                <a:cs typeface="Arial" charset="0"/>
              </a:rPr>
              <a:t>’</a:t>
            </a:r>
            <a:r>
              <a:rPr lang="en-US" altLang="ja-JP" sz="2000">
                <a:solidFill>
                  <a:srgbClr val="000000"/>
                </a:solidFill>
                <a:latin typeface="Tahoma" charset="0"/>
                <a:cs typeface="Arial" charset="0"/>
              </a:rPr>
              <a:t>s OPT replacement</a:t>
            </a:r>
            <a:endParaRPr lang="en-US" sz="2000">
              <a:solidFill>
                <a:srgbClr val="000000"/>
              </a:solidFill>
              <a:latin typeface="Tahoma" charset="0"/>
              <a:cs typeface="Arial" charset="0"/>
            </a:endParaRPr>
          </a:p>
        </p:txBody>
      </p:sp>
      <p:sp>
        <p:nvSpPr>
          <p:cNvPr id="2576530" name="Text Box 146"/>
          <p:cNvSpPr txBox="1">
            <a:spLocks noChangeArrowheads="1"/>
          </p:cNvSpPr>
          <p:nvPr/>
        </p:nvSpPr>
        <p:spPr bwMode="auto">
          <a:xfrm>
            <a:off x="6400800" y="28956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CC0000"/>
                </a:solidFill>
                <a:latin typeface="Lucida Sans Unicode" charset="0"/>
                <a:cs typeface="Arial" charset="0"/>
              </a:rPr>
              <a:t>M          </a:t>
            </a:r>
          </a:p>
        </p:txBody>
      </p:sp>
      <p:sp>
        <p:nvSpPr>
          <p:cNvPr id="2576534" name="Text Box 150"/>
          <p:cNvSpPr txBox="1">
            <a:spLocks noChangeArrowheads="1"/>
          </p:cNvSpPr>
          <p:nvPr/>
        </p:nvSpPr>
        <p:spPr bwMode="auto">
          <a:xfrm>
            <a:off x="7391400" y="28956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CC0000"/>
                </a:solidFill>
                <a:latin typeface="Lucida Sans Unicode" charset="0"/>
                <a:cs typeface="Arial" charset="0"/>
              </a:rPr>
              <a:t>M          </a:t>
            </a:r>
          </a:p>
        </p:txBody>
      </p:sp>
      <p:sp>
        <p:nvSpPr>
          <p:cNvPr id="2576535" name="Text Box 151"/>
          <p:cNvSpPr txBox="1">
            <a:spLocks noChangeArrowheads="1"/>
          </p:cNvSpPr>
          <p:nvPr/>
        </p:nvSpPr>
        <p:spPr bwMode="auto">
          <a:xfrm>
            <a:off x="2895600" y="5791200"/>
            <a:ext cx="3048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a:solidFill>
                  <a:srgbClr val="000000"/>
                </a:solidFill>
                <a:latin typeface="Tahoma" charset="0"/>
                <a:cs typeface="Arial" charset="0"/>
              </a:rPr>
              <a:t>MLP-Aware replacement</a:t>
            </a:r>
          </a:p>
        </p:txBody>
      </p:sp>
      <p:sp>
        <p:nvSpPr>
          <p:cNvPr id="2576536" name="Text Box 152"/>
          <p:cNvSpPr txBox="1">
            <a:spLocks noChangeArrowheads="1"/>
          </p:cNvSpPr>
          <p:nvPr/>
        </p:nvSpPr>
        <p:spPr bwMode="auto">
          <a:xfrm>
            <a:off x="0" y="4800600"/>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6600"/>
                </a:solidFill>
                <a:latin typeface="Lucida Sans Unicode" charset="0"/>
                <a:cs typeface="Arial" charset="0"/>
              </a:rPr>
              <a:t>Hit</a:t>
            </a:r>
            <a:r>
              <a:rPr lang="en-US" sz="2000" b="1">
                <a:solidFill>
                  <a:srgbClr val="000000"/>
                </a:solidFill>
                <a:latin typeface="Lucida Sans Unicode" charset="0"/>
                <a:cs typeface="Arial" charset="0"/>
              </a:rPr>
              <a:t>/</a:t>
            </a:r>
            <a:r>
              <a:rPr lang="en-US" sz="2000" b="1">
                <a:solidFill>
                  <a:srgbClr val="CC0000"/>
                </a:solidFill>
                <a:latin typeface="Lucida Sans Unicode" charset="0"/>
                <a:cs typeface="Arial" charset="0"/>
              </a:rPr>
              <a:t>Miss</a:t>
            </a:r>
          </a:p>
        </p:txBody>
      </p:sp>
      <p:grpSp>
        <p:nvGrpSpPr>
          <p:cNvPr id="4" name="Group 158"/>
          <p:cNvGrpSpPr>
            <a:grpSpLocks/>
          </p:cNvGrpSpPr>
          <p:nvPr/>
        </p:nvGrpSpPr>
        <p:grpSpPr bwMode="auto">
          <a:xfrm>
            <a:off x="4800600" y="1524000"/>
            <a:ext cx="1828800" cy="457200"/>
            <a:chOff x="1248" y="2112"/>
            <a:chExt cx="1152" cy="288"/>
          </a:xfrm>
        </p:grpSpPr>
        <p:sp>
          <p:nvSpPr>
            <p:cNvPr id="107610" name="Rectangle 159"/>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611" name="Rectangle 160"/>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612" name="Rectangle 161"/>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S1 </a:t>
              </a:r>
            </a:p>
          </p:txBody>
        </p:sp>
        <p:sp>
          <p:nvSpPr>
            <p:cNvPr id="107613" name="Rectangle 162"/>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grpSp>
        <p:nvGrpSpPr>
          <p:cNvPr id="5" name="Group 163"/>
          <p:cNvGrpSpPr>
            <a:grpSpLocks/>
          </p:cNvGrpSpPr>
          <p:nvPr/>
        </p:nvGrpSpPr>
        <p:grpSpPr bwMode="auto">
          <a:xfrm>
            <a:off x="3886200" y="1524000"/>
            <a:ext cx="1828800" cy="457200"/>
            <a:chOff x="1248" y="2112"/>
            <a:chExt cx="1152" cy="288"/>
          </a:xfrm>
        </p:grpSpPr>
        <p:sp>
          <p:nvSpPr>
            <p:cNvPr id="107606" name="Rectangle 164"/>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607" name="Rectangle 165"/>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608" name="Rectangle 166"/>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P1 </a:t>
              </a:r>
            </a:p>
          </p:txBody>
        </p:sp>
        <p:sp>
          <p:nvSpPr>
            <p:cNvPr id="107609" name="Rectangle 167"/>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grpSp>
        <p:nvGrpSpPr>
          <p:cNvPr id="6" name="Group 178"/>
          <p:cNvGrpSpPr>
            <a:grpSpLocks/>
          </p:cNvGrpSpPr>
          <p:nvPr/>
        </p:nvGrpSpPr>
        <p:grpSpPr bwMode="auto">
          <a:xfrm>
            <a:off x="5715000" y="1524000"/>
            <a:ext cx="1828800" cy="457200"/>
            <a:chOff x="1248" y="2112"/>
            <a:chExt cx="1152" cy="288"/>
          </a:xfrm>
        </p:grpSpPr>
        <p:sp>
          <p:nvSpPr>
            <p:cNvPr id="107602" name="Rectangle 179"/>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603" name="Rectangle 180"/>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604" name="Rectangle 181"/>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S2</a:t>
              </a:r>
            </a:p>
          </p:txBody>
        </p:sp>
        <p:sp>
          <p:nvSpPr>
            <p:cNvPr id="107605" name="Rectangle 182"/>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grpSp>
        <p:nvGrpSpPr>
          <p:cNvPr id="7" name="Group 183"/>
          <p:cNvGrpSpPr>
            <a:grpSpLocks/>
          </p:cNvGrpSpPr>
          <p:nvPr/>
        </p:nvGrpSpPr>
        <p:grpSpPr bwMode="auto">
          <a:xfrm>
            <a:off x="6934200" y="1524000"/>
            <a:ext cx="1828800" cy="457200"/>
            <a:chOff x="1248" y="2112"/>
            <a:chExt cx="1152" cy="288"/>
          </a:xfrm>
        </p:grpSpPr>
        <p:sp>
          <p:nvSpPr>
            <p:cNvPr id="107598" name="Rectangle 184"/>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599" name="Rectangle 185"/>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600" name="Rectangle 186"/>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S3</a:t>
              </a:r>
            </a:p>
          </p:txBody>
        </p:sp>
        <p:sp>
          <p:nvSpPr>
            <p:cNvPr id="107601" name="Rectangle 187"/>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grpSp>
        <p:nvGrpSpPr>
          <p:cNvPr id="8" name="Group 188"/>
          <p:cNvGrpSpPr>
            <a:grpSpLocks/>
          </p:cNvGrpSpPr>
          <p:nvPr/>
        </p:nvGrpSpPr>
        <p:grpSpPr bwMode="auto">
          <a:xfrm>
            <a:off x="2133600" y="1524000"/>
            <a:ext cx="1828800" cy="457200"/>
            <a:chOff x="1248" y="2112"/>
            <a:chExt cx="1152" cy="288"/>
          </a:xfrm>
        </p:grpSpPr>
        <p:sp>
          <p:nvSpPr>
            <p:cNvPr id="107594" name="Rectangle 189"/>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S1</a:t>
              </a:r>
              <a:r>
                <a:rPr lang="en-US" sz="2000" b="1">
                  <a:solidFill>
                    <a:srgbClr val="000000"/>
                  </a:solidFill>
                  <a:latin typeface="Lucida Sans Unicode" charset="0"/>
                </a:rPr>
                <a:t> </a:t>
              </a:r>
            </a:p>
          </p:txBody>
        </p:sp>
        <p:sp>
          <p:nvSpPr>
            <p:cNvPr id="107595" name="Rectangle 190"/>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S2</a:t>
              </a:r>
              <a:r>
                <a:rPr lang="en-US" sz="2000" b="1">
                  <a:solidFill>
                    <a:srgbClr val="000000"/>
                  </a:solidFill>
                  <a:latin typeface="Lucida Sans Unicode" charset="0"/>
                </a:rPr>
                <a:t> </a:t>
              </a:r>
            </a:p>
          </p:txBody>
        </p:sp>
        <p:sp>
          <p:nvSpPr>
            <p:cNvPr id="107596" name="Rectangle 191"/>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S3</a:t>
              </a:r>
            </a:p>
          </p:txBody>
        </p:sp>
        <p:sp>
          <p:nvSpPr>
            <p:cNvPr id="107597" name="Rectangle 192"/>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P1 </a:t>
              </a:r>
            </a:p>
          </p:txBody>
        </p:sp>
      </p:grpSp>
      <p:grpSp>
        <p:nvGrpSpPr>
          <p:cNvPr id="9" name="Group 193"/>
          <p:cNvGrpSpPr>
            <a:grpSpLocks/>
          </p:cNvGrpSpPr>
          <p:nvPr/>
        </p:nvGrpSpPr>
        <p:grpSpPr bwMode="auto">
          <a:xfrm>
            <a:off x="381000" y="1524000"/>
            <a:ext cx="1828800" cy="457200"/>
            <a:chOff x="1248" y="2112"/>
            <a:chExt cx="1152" cy="288"/>
          </a:xfrm>
        </p:grpSpPr>
        <p:sp>
          <p:nvSpPr>
            <p:cNvPr id="107590" name="Rectangle 194"/>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P3 </a:t>
              </a:r>
            </a:p>
          </p:txBody>
        </p:sp>
        <p:sp>
          <p:nvSpPr>
            <p:cNvPr id="107591" name="Rectangle 195"/>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P2 </a:t>
              </a:r>
            </a:p>
          </p:txBody>
        </p:sp>
        <p:sp>
          <p:nvSpPr>
            <p:cNvPr id="107592" name="Rectangle 196"/>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S3</a:t>
              </a:r>
            </a:p>
          </p:txBody>
        </p:sp>
        <p:sp>
          <p:nvSpPr>
            <p:cNvPr id="107593" name="Rectangle 197"/>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grpSp>
        <p:nvGrpSpPr>
          <p:cNvPr id="10" name="Group 198"/>
          <p:cNvGrpSpPr>
            <a:grpSpLocks/>
          </p:cNvGrpSpPr>
          <p:nvPr/>
        </p:nvGrpSpPr>
        <p:grpSpPr bwMode="auto">
          <a:xfrm>
            <a:off x="4114800" y="1524000"/>
            <a:ext cx="1828800" cy="457200"/>
            <a:chOff x="1248" y="2112"/>
            <a:chExt cx="1152" cy="288"/>
          </a:xfrm>
        </p:grpSpPr>
        <p:sp>
          <p:nvSpPr>
            <p:cNvPr id="107586" name="Rectangle 199"/>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S1</a:t>
              </a:r>
              <a:r>
                <a:rPr lang="en-US" sz="2000" b="1">
                  <a:solidFill>
                    <a:srgbClr val="000000"/>
                  </a:solidFill>
                  <a:latin typeface="Lucida Sans Unicode" charset="0"/>
                </a:rPr>
                <a:t> </a:t>
              </a:r>
            </a:p>
          </p:txBody>
        </p:sp>
        <p:sp>
          <p:nvSpPr>
            <p:cNvPr id="107587" name="Rectangle 200"/>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S2</a:t>
              </a:r>
              <a:r>
                <a:rPr lang="en-US" sz="2000" b="1">
                  <a:solidFill>
                    <a:srgbClr val="000000"/>
                  </a:solidFill>
                  <a:latin typeface="Lucida Sans Unicode" charset="0"/>
                </a:rPr>
                <a:t> </a:t>
              </a:r>
            </a:p>
          </p:txBody>
        </p:sp>
        <p:sp>
          <p:nvSpPr>
            <p:cNvPr id="107588" name="Rectangle 201"/>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S3</a:t>
              </a:r>
            </a:p>
          </p:txBody>
        </p:sp>
        <p:sp>
          <p:nvSpPr>
            <p:cNvPr id="107589" name="Rectangle 202"/>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sp>
        <p:nvSpPr>
          <p:cNvPr id="2576587" name="Text Box 203"/>
          <p:cNvSpPr txBox="1">
            <a:spLocks noChangeArrowheads="1"/>
          </p:cNvSpPr>
          <p:nvPr/>
        </p:nvSpPr>
        <p:spPr bwMode="auto">
          <a:xfrm>
            <a:off x="5486400" y="4767263"/>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8000"/>
                </a:solidFill>
                <a:latin typeface="Lucida Sans Unicode" charset="0"/>
                <a:cs typeface="Arial" charset="0"/>
              </a:rPr>
              <a:t>H           H           H</a:t>
            </a:r>
            <a:r>
              <a:rPr lang="en-US" sz="2000" b="1">
                <a:solidFill>
                  <a:srgbClr val="CC0000"/>
                </a:solidFill>
                <a:latin typeface="Lucida Sans Unicode" charset="0"/>
                <a:cs typeface="Arial" charset="0"/>
              </a:rPr>
              <a:t>        </a:t>
            </a:r>
          </a:p>
        </p:txBody>
      </p:sp>
      <p:grpSp>
        <p:nvGrpSpPr>
          <p:cNvPr id="11" name="Group 204"/>
          <p:cNvGrpSpPr>
            <a:grpSpLocks/>
          </p:cNvGrpSpPr>
          <p:nvPr/>
        </p:nvGrpSpPr>
        <p:grpSpPr bwMode="auto">
          <a:xfrm>
            <a:off x="381000" y="1524000"/>
            <a:ext cx="1828800" cy="457200"/>
            <a:chOff x="1248" y="2112"/>
            <a:chExt cx="1152" cy="288"/>
          </a:xfrm>
        </p:grpSpPr>
        <p:sp>
          <p:nvSpPr>
            <p:cNvPr id="107582" name="Rectangle 205"/>
            <p:cNvSpPr>
              <a:spLocks noChangeArrowheads="1"/>
            </p:cNvSpPr>
            <p:nvPr/>
          </p:nvSpPr>
          <p:spPr bwMode="auto">
            <a:xfrm>
              <a:off x="1536"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S1</a:t>
              </a:r>
              <a:r>
                <a:rPr lang="en-US" sz="2000" b="1">
                  <a:solidFill>
                    <a:srgbClr val="000000"/>
                  </a:solidFill>
                  <a:latin typeface="Lucida Sans Unicode" charset="0"/>
                </a:rPr>
                <a:t> </a:t>
              </a:r>
            </a:p>
          </p:txBody>
        </p:sp>
        <p:sp>
          <p:nvSpPr>
            <p:cNvPr id="107583" name="Rectangle 206"/>
            <p:cNvSpPr>
              <a:spLocks noChangeArrowheads="1"/>
            </p:cNvSpPr>
            <p:nvPr/>
          </p:nvSpPr>
          <p:spPr bwMode="auto">
            <a:xfrm>
              <a:off x="1824"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S2</a:t>
              </a:r>
              <a:r>
                <a:rPr lang="en-US" sz="2000" b="1">
                  <a:solidFill>
                    <a:srgbClr val="000000"/>
                  </a:solidFill>
                  <a:latin typeface="Lucida Sans Unicode" charset="0"/>
                </a:rPr>
                <a:t> </a:t>
              </a:r>
            </a:p>
          </p:txBody>
        </p:sp>
        <p:sp>
          <p:nvSpPr>
            <p:cNvPr id="107584" name="Rectangle 207"/>
            <p:cNvSpPr>
              <a:spLocks noChangeArrowheads="1"/>
            </p:cNvSpPr>
            <p:nvPr/>
          </p:nvSpPr>
          <p:spPr bwMode="auto">
            <a:xfrm>
              <a:off x="2112"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FF3399"/>
                  </a:solidFill>
                  <a:latin typeface="Lucida Sans Unicode" charset="0"/>
                </a:rPr>
                <a:t>S3</a:t>
              </a:r>
            </a:p>
          </p:txBody>
        </p:sp>
        <p:sp>
          <p:nvSpPr>
            <p:cNvPr id="107585" name="Rectangle 208"/>
            <p:cNvSpPr>
              <a:spLocks noChangeArrowheads="1"/>
            </p:cNvSpPr>
            <p:nvPr/>
          </p:nvSpPr>
          <p:spPr bwMode="auto">
            <a:xfrm>
              <a:off x="1248" y="2112"/>
              <a:ext cx="288" cy="288"/>
            </a:xfrm>
            <a:prstGeom prst="rect">
              <a:avLst/>
            </a:prstGeom>
            <a:solidFill>
              <a:srgbClr val="FFCC99"/>
            </a:solidFill>
            <a:ln w="9525">
              <a:solidFill>
                <a:schemeClr val="tx1"/>
              </a:solidFill>
              <a:miter lim="800000"/>
              <a:headEnd/>
              <a:tailEnd/>
            </a:ln>
          </p:spPr>
          <p:txBody>
            <a:bodyPr wrap="none" anchor="ctr"/>
            <a:lstStyle/>
            <a:p>
              <a:pPr algn="ctr"/>
              <a:r>
                <a:rPr lang="en-US" sz="2000" b="1">
                  <a:solidFill>
                    <a:srgbClr val="000000"/>
                  </a:solidFill>
                  <a:latin typeface="Lucida Sans Unicode" charset="0"/>
                </a:rPr>
                <a:t>P4 </a:t>
              </a:r>
            </a:p>
          </p:txBody>
        </p:sp>
      </p:grpSp>
      <p:sp>
        <p:nvSpPr>
          <p:cNvPr id="2576593" name="Text Box 209"/>
          <p:cNvSpPr txBox="1">
            <a:spLocks noChangeArrowheads="1"/>
          </p:cNvSpPr>
          <p:nvPr/>
        </p:nvSpPr>
        <p:spPr bwMode="auto">
          <a:xfrm>
            <a:off x="1295400" y="48006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6600"/>
                </a:solidFill>
                <a:latin typeface="Lucida Sans Unicode" charset="0"/>
                <a:cs typeface="Arial" charset="0"/>
              </a:rPr>
              <a:t>H  </a:t>
            </a:r>
            <a:r>
              <a:rPr lang="en-US" sz="2000" b="1">
                <a:solidFill>
                  <a:srgbClr val="CC0000"/>
                </a:solidFill>
                <a:latin typeface="Lucida Sans Unicode" charset="0"/>
                <a:cs typeface="Arial" charset="0"/>
              </a:rPr>
              <a:t>M  M  M</a:t>
            </a:r>
          </a:p>
        </p:txBody>
      </p:sp>
      <p:sp>
        <p:nvSpPr>
          <p:cNvPr id="2576595" name="Text Box 211"/>
          <p:cNvSpPr txBox="1">
            <a:spLocks noChangeArrowheads="1"/>
          </p:cNvSpPr>
          <p:nvPr/>
        </p:nvSpPr>
        <p:spPr bwMode="auto">
          <a:xfrm>
            <a:off x="3352800" y="48006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b="1">
                <a:solidFill>
                  <a:srgbClr val="006600"/>
                </a:solidFill>
                <a:latin typeface="Lucida Sans Unicode" charset="0"/>
                <a:cs typeface="Arial" charset="0"/>
              </a:rPr>
              <a:t>H  </a:t>
            </a:r>
            <a:r>
              <a:rPr lang="en-US" sz="2000" b="1">
                <a:solidFill>
                  <a:srgbClr val="CC0000"/>
                </a:solidFill>
                <a:latin typeface="Lucida Sans Unicode" charset="0"/>
                <a:cs typeface="Arial" charset="0"/>
              </a:rPr>
              <a:t>M  M  M</a:t>
            </a:r>
          </a:p>
        </p:txBody>
      </p:sp>
      <p:grpSp>
        <p:nvGrpSpPr>
          <p:cNvPr id="12" name="Group 228"/>
          <p:cNvGrpSpPr>
            <a:grpSpLocks/>
          </p:cNvGrpSpPr>
          <p:nvPr/>
        </p:nvGrpSpPr>
        <p:grpSpPr bwMode="auto">
          <a:xfrm>
            <a:off x="252413" y="5257800"/>
            <a:ext cx="5867400" cy="447675"/>
            <a:chOff x="240" y="3408"/>
            <a:chExt cx="3696" cy="282"/>
          </a:xfrm>
        </p:grpSpPr>
        <p:sp>
          <p:nvSpPr>
            <p:cNvPr id="107569" name="Text Box 213"/>
            <p:cNvSpPr txBox="1">
              <a:spLocks noChangeArrowheads="1"/>
            </p:cNvSpPr>
            <p:nvPr/>
          </p:nvSpPr>
          <p:spPr bwMode="auto">
            <a:xfrm>
              <a:off x="240" y="3408"/>
              <a:ext cx="5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0000"/>
                  </a:solidFill>
                  <a:latin typeface="Lucida Sans Unicode" charset="0"/>
                  <a:cs typeface="Arial" charset="0"/>
                </a:rPr>
                <a:t>Time</a:t>
              </a:r>
              <a:endParaRPr lang="en-US" sz="2000" b="1">
                <a:solidFill>
                  <a:srgbClr val="CC0000"/>
                </a:solidFill>
                <a:latin typeface="Lucida Sans Unicode" charset="0"/>
                <a:cs typeface="Arial" charset="0"/>
              </a:endParaRPr>
            </a:p>
          </p:txBody>
        </p:sp>
        <p:sp>
          <p:nvSpPr>
            <p:cNvPr id="107570" name="Rectangle 214"/>
            <p:cNvSpPr>
              <a:spLocks noChangeArrowheads="1"/>
            </p:cNvSpPr>
            <p:nvPr/>
          </p:nvSpPr>
          <p:spPr bwMode="auto">
            <a:xfrm>
              <a:off x="720" y="3456"/>
              <a:ext cx="192"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571" name="Rectangle 216"/>
            <p:cNvSpPr>
              <a:spLocks noChangeArrowheads="1"/>
            </p:cNvSpPr>
            <p:nvPr/>
          </p:nvSpPr>
          <p:spPr bwMode="auto">
            <a:xfrm>
              <a:off x="1392" y="3456"/>
              <a:ext cx="480" cy="192"/>
            </a:xfrm>
            <a:prstGeom prst="rect">
              <a:avLst/>
            </a:prstGeom>
            <a:solidFill>
              <a:srgbClr val="00FF00"/>
            </a:solidFill>
            <a:ln w="9525">
              <a:solidFill>
                <a:schemeClr val="tx1"/>
              </a:solidFill>
              <a:miter lim="800000"/>
              <a:headEnd/>
              <a:tailEnd/>
            </a:ln>
          </p:spPr>
          <p:txBody>
            <a:bodyPr wrap="none" anchor="ctr"/>
            <a:lstStyle/>
            <a:p>
              <a:pPr algn="ctr"/>
              <a:endParaRPr lang="en-US" sz="2000">
                <a:solidFill>
                  <a:srgbClr val="000000"/>
                </a:solidFill>
                <a:latin typeface="Lucida Sans Unicode" charset="0"/>
              </a:endParaRPr>
            </a:p>
          </p:txBody>
        </p:sp>
        <p:sp>
          <p:nvSpPr>
            <p:cNvPr id="107572" name="Rectangle 219"/>
            <p:cNvSpPr>
              <a:spLocks noChangeArrowheads="1"/>
            </p:cNvSpPr>
            <p:nvPr/>
          </p:nvSpPr>
          <p:spPr bwMode="auto">
            <a:xfrm>
              <a:off x="2352" y="3456"/>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573" name="Rectangle 220"/>
            <p:cNvSpPr>
              <a:spLocks noChangeArrowheads="1"/>
            </p:cNvSpPr>
            <p:nvPr/>
          </p:nvSpPr>
          <p:spPr bwMode="auto">
            <a:xfrm>
              <a:off x="1872" y="3456"/>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574" name="Rectangle 221"/>
            <p:cNvSpPr>
              <a:spLocks noChangeArrowheads="1"/>
            </p:cNvSpPr>
            <p:nvPr/>
          </p:nvSpPr>
          <p:spPr bwMode="auto">
            <a:xfrm>
              <a:off x="1890" y="3483"/>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575" name="Rectangle 222"/>
            <p:cNvSpPr>
              <a:spLocks noChangeArrowheads="1"/>
            </p:cNvSpPr>
            <p:nvPr/>
          </p:nvSpPr>
          <p:spPr bwMode="auto">
            <a:xfrm>
              <a:off x="2832" y="3456"/>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576" name="Rectangle 223"/>
            <p:cNvSpPr>
              <a:spLocks noChangeArrowheads="1"/>
            </p:cNvSpPr>
            <p:nvPr/>
          </p:nvSpPr>
          <p:spPr bwMode="auto">
            <a:xfrm>
              <a:off x="3744" y="3456"/>
              <a:ext cx="192"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sp>
          <p:nvSpPr>
            <p:cNvPr id="107577" name="Rectangle 224"/>
            <p:cNvSpPr>
              <a:spLocks noChangeArrowheads="1"/>
            </p:cNvSpPr>
            <p:nvPr/>
          </p:nvSpPr>
          <p:spPr bwMode="auto">
            <a:xfrm>
              <a:off x="912" y="3456"/>
              <a:ext cx="480" cy="192"/>
            </a:xfrm>
            <a:prstGeom prst="rect">
              <a:avLst/>
            </a:prstGeom>
            <a:solidFill>
              <a:srgbClr val="CC0000"/>
            </a:solidFill>
            <a:ln w="9525">
              <a:solidFill>
                <a:schemeClr val="tx1"/>
              </a:solidFill>
              <a:miter lim="800000"/>
              <a:headEnd/>
              <a:tailEnd/>
            </a:ln>
          </p:spPr>
          <p:txBody>
            <a:bodyPr wrap="none" anchor="ctr"/>
            <a:lstStyle/>
            <a:p>
              <a:endParaRPr lang="en-US">
                <a:solidFill>
                  <a:srgbClr val="000000"/>
                </a:solidFill>
              </a:endParaRPr>
            </a:p>
          </p:txBody>
        </p:sp>
        <p:sp>
          <p:nvSpPr>
            <p:cNvPr id="107578" name="Rectangle 225"/>
            <p:cNvSpPr>
              <a:spLocks noChangeArrowheads="1"/>
            </p:cNvSpPr>
            <p:nvPr/>
          </p:nvSpPr>
          <p:spPr bwMode="auto">
            <a:xfrm>
              <a:off x="924" y="3477"/>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579" name="Rectangle 215"/>
            <p:cNvSpPr>
              <a:spLocks noChangeArrowheads="1"/>
            </p:cNvSpPr>
            <p:nvPr/>
          </p:nvSpPr>
          <p:spPr bwMode="auto">
            <a:xfrm>
              <a:off x="957" y="3498"/>
              <a:ext cx="480" cy="192"/>
            </a:xfrm>
            <a:prstGeom prst="rect">
              <a:avLst/>
            </a:prstGeom>
            <a:solidFill>
              <a:srgbClr val="FF0000"/>
            </a:solidFill>
            <a:ln w="9525">
              <a:solidFill>
                <a:schemeClr val="tx1"/>
              </a:solidFill>
              <a:miter lim="800000"/>
              <a:headEnd/>
              <a:tailEnd/>
            </a:ln>
          </p:spPr>
          <p:txBody>
            <a:bodyPr wrap="none" anchor="ctr"/>
            <a:lstStyle/>
            <a:p>
              <a:pPr algn="ctr"/>
              <a:r>
                <a:rPr lang="en-US" sz="2000">
                  <a:solidFill>
                    <a:srgbClr val="000000"/>
                  </a:solidFill>
                  <a:latin typeface="Lucida Sans Unicode" charset="0"/>
                </a:rPr>
                <a:t>stall</a:t>
              </a:r>
            </a:p>
          </p:txBody>
        </p:sp>
        <p:sp>
          <p:nvSpPr>
            <p:cNvPr id="107580" name="Rectangle 226"/>
            <p:cNvSpPr>
              <a:spLocks noChangeArrowheads="1"/>
            </p:cNvSpPr>
            <p:nvPr/>
          </p:nvSpPr>
          <p:spPr bwMode="auto">
            <a:xfrm>
              <a:off x="1914" y="3498"/>
              <a:ext cx="480" cy="192"/>
            </a:xfrm>
            <a:prstGeom prst="rect">
              <a:avLst/>
            </a:prstGeom>
            <a:solidFill>
              <a:srgbClr val="FF0000"/>
            </a:solidFill>
            <a:ln w="9525">
              <a:solidFill>
                <a:schemeClr val="tx1"/>
              </a:solidFill>
              <a:miter lim="800000"/>
              <a:headEnd/>
              <a:tailEnd/>
            </a:ln>
          </p:spPr>
          <p:txBody>
            <a:bodyPr wrap="none" anchor="ctr"/>
            <a:lstStyle/>
            <a:p>
              <a:endParaRPr lang="en-US">
                <a:solidFill>
                  <a:srgbClr val="000000"/>
                </a:solidFill>
              </a:endParaRPr>
            </a:p>
          </p:txBody>
        </p:sp>
        <p:sp>
          <p:nvSpPr>
            <p:cNvPr id="107581" name="Rectangle 227"/>
            <p:cNvSpPr>
              <a:spLocks noChangeArrowheads="1"/>
            </p:cNvSpPr>
            <p:nvPr/>
          </p:nvSpPr>
          <p:spPr bwMode="auto">
            <a:xfrm>
              <a:off x="3312" y="3456"/>
              <a:ext cx="480" cy="192"/>
            </a:xfrm>
            <a:prstGeom prst="rect">
              <a:avLst/>
            </a:prstGeom>
            <a:solidFill>
              <a:srgbClr val="00FF00"/>
            </a:solidFill>
            <a:ln w="9525">
              <a:solidFill>
                <a:schemeClr val="tx1"/>
              </a:solidFill>
              <a:miter lim="800000"/>
              <a:headEnd/>
              <a:tailEnd/>
            </a:ln>
          </p:spPr>
          <p:txBody>
            <a:bodyPr wrap="none" anchor="ctr"/>
            <a:lstStyle/>
            <a:p>
              <a:endParaRPr lang="en-US">
                <a:solidFill>
                  <a:srgbClr val="000000"/>
                </a:solidFill>
              </a:endParaRPr>
            </a:p>
          </p:txBody>
        </p:sp>
      </p:grpSp>
      <p:sp>
        <p:nvSpPr>
          <p:cNvPr id="2576613" name="Text Box 229"/>
          <p:cNvSpPr txBox="1">
            <a:spLocks noChangeArrowheads="1"/>
          </p:cNvSpPr>
          <p:nvPr/>
        </p:nvSpPr>
        <p:spPr bwMode="auto">
          <a:xfrm>
            <a:off x="7696200" y="5233988"/>
            <a:ext cx="1447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pPr>
            <a:r>
              <a:rPr lang="en-US" sz="2000" b="1">
                <a:solidFill>
                  <a:srgbClr val="000000"/>
                </a:solidFill>
                <a:latin typeface="Tahoma" charset="0"/>
                <a:cs typeface="Arial" charset="0"/>
              </a:rPr>
              <a:t>Misses=6Stalls=2</a:t>
            </a:r>
          </a:p>
        </p:txBody>
      </p:sp>
      <p:sp>
        <p:nvSpPr>
          <p:cNvPr id="2576614" name="Line 230"/>
          <p:cNvSpPr>
            <a:spLocks noChangeShapeType="1"/>
          </p:cNvSpPr>
          <p:nvPr/>
        </p:nvSpPr>
        <p:spPr bwMode="auto">
          <a:xfrm>
            <a:off x="6096000" y="5486400"/>
            <a:ext cx="1676400" cy="0"/>
          </a:xfrm>
          <a:prstGeom prst="line">
            <a:avLst/>
          </a:prstGeom>
          <a:noFill/>
          <a:ln w="381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76615" name="Text Box 231"/>
          <p:cNvSpPr txBox="1">
            <a:spLocks noChangeArrowheads="1"/>
          </p:cNvSpPr>
          <p:nvPr/>
        </p:nvSpPr>
        <p:spPr bwMode="auto">
          <a:xfrm>
            <a:off x="6400800" y="5105400"/>
            <a:ext cx="91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2000">
                <a:solidFill>
                  <a:srgbClr val="000000"/>
                </a:solidFill>
                <a:latin typeface="Tahoma" charset="0"/>
                <a:cs typeface="Arial" charset="0"/>
              </a:rPr>
              <a:t>Saved cycles</a:t>
            </a:r>
          </a:p>
        </p:txBody>
      </p:sp>
      <p:sp>
        <p:nvSpPr>
          <p:cNvPr id="2576618" name="Line 234"/>
          <p:cNvSpPr>
            <a:spLocks noChangeShapeType="1"/>
          </p:cNvSpPr>
          <p:nvPr/>
        </p:nvSpPr>
        <p:spPr bwMode="auto">
          <a:xfrm>
            <a:off x="0" y="2743200"/>
            <a:ext cx="914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6620" name="Line 236"/>
          <p:cNvSpPr>
            <a:spLocks noChangeShapeType="1"/>
          </p:cNvSpPr>
          <p:nvPr/>
        </p:nvSpPr>
        <p:spPr bwMode="auto">
          <a:xfrm>
            <a:off x="0" y="4267200"/>
            <a:ext cx="914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6622" name="Text Box 238"/>
          <p:cNvSpPr txBox="1">
            <a:spLocks noChangeArrowheads="1"/>
          </p:cNvSpPr>
          <p:nvPr/>
        </p:nvSpPr>
        <p:spPr bwMode="auto">
          <a:xfrm>
            <a:off x="762000" y="990600"/>
            <a:ext cx="990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dirty="0">
                <a:solidFill>
                  <a:srgbClr val="000000"/>
                </a:solidFill>
                <a:cs typeface="Arial" charset="0"/>
              </a:rPr>
              <a:t>Cache</a:t>
            </a:r>
          </a:p>
        </p:txBody>
      </p:sp>
    </p:spTree>
    <p:extLst>
      <p:ext uri="{BB962C8B-B14F-4D97-AF65-F5344CB8AC3E}">
        <p14:creationId xmlns:p14="http://schemas.microsoft.com/office/powerpoint/2010/main" val="23339271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765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7643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7662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2576622"/>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7641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xit" presetSubtype="0" fill="hold" nodeType="clickEffect">
                                  <p:stCondLst>
                                    <p:cond delay="0"/>
                                  </p:stCondLst>
                                  <p:childTnLst>
                                    <p:set>
                                      <p:cBhvr>
                                        <p:cTn id="30" dur="1" fill="hold">
                                          <p:stCondLst>
                                            <p:cond delay="0"/>
                                          </p:stCondLst>
                                        </p:cTn>
                                        <p:tgtEl>
                                          <p:spTgt spid="5"/>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7653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nodeType="clickEffect">
                                  <p:stCondLst>
                                    <p:cond delay="0"/>
                                  </p:stCondLst>
                                  <p:childTnLst>
                                    <p:set>
                                      <p:cBhvr>
                                        <p:cTn id="40" dur="1" fill="hold">
                                          <p:stCondLst>
                                            <p:cond delay="0"/>
                                          </p:stCondLst>
                                        </p:cTn>
                                        <p:tgtEl>
                                          <p:spTgt spid="4"/>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7653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xit" presetSubtype="0" fill="hold" nodeType="clickEffect">
                                  <p:stCondLst>
                                    <p:cond delay="0"/>
                                  </p:stCondLst>
                                  <p:childTnLst>
                                    <p:set>
                                      <p:cBhvr>
                                        <p:cTn id="50" dur="1" fill="hold">
                                          <p:stCondLst>
                                            <p:cond delay="0"/>
                                          </p:stCondLst>
                                        </p:cTn>
                                        <p:tgtEl>
                                          <p:spTgt spid="6"/>
                                        </p:tgtEl>
                                        <p:attrNameLst>
                                          <p:attrName>style.visibility</p:attrName>
                                        </p:attrNameLst>
                                      </p:cBhvr>
                                      <p:to>
                                        <p:strVal val="hidden"/>
                                      </p:to>
                                    </p:set>
                                  </p:childTnLst>
                                </p:cTn>
                              </p:par>
                              <p:par>
                                <p:cTn id="51" presetID="1" presetClass="entr" presetSubtype="0" fill="hold"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xit" presetSubtype="0" fill="hold" nodeType="clickEffect">
                                  <p:stCondLst>
                                    <p:cond delay="0"/>
                                  </p:stCondLst>
                                  <p:childTnLst>
                                    <p:set>
                                      <p:cBhvr>
                                        <p:cTn id="56" dur="1" fill="hold">
                                          <p:stCondLst>
                                            <p:cond delay="0"/>
                                          </p:stCondLst>
                                        </p:cTn>
                                        <p:tgtEl>
                                          <p:spTgt spid="7"/>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7642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xit" presetSubtype="0" fill="hold" nodeType="clickEffect">
                                  <p:stCondLst>
                                    <p:cond delay="0"/>
                                  </p:stCondLst>
                                  <p:childTnLst>
                                    <p:animEffect transition="out" filter="dissolve">
                                      <p:cBhvr>
                                        <p:cTn id="66" dur="500"/>
                                        <p:tgtEl>
                                          <p:spTgt spid="9"/>
                                        </p:tgtEl>
                                      </p:cBhvr>
                                    </p:animEffect>
                                    <p:set>
                                      <p:cBhvr>
                                        <p:cTn id="67" dur="1" fill="hold">
                                          <p:stCondLst>
                                            <p:cond delay="499"/>
                                          </p:stCondLst>
                                        </p:cTn>
                                        <p:tgtEl>
                                          <p:spTgt spid="9"/>
                                        </p:tgtEl>
                                        <p:attrNameLst>
                                          <p:attrName>style.visibility</p:attrName>
                                        </p:attrNameLst>
                                      </p:cBhvr>
                                      <p:to>
                                        <p:strVal val="hidden"/>
                                      </p:to>
                                    </p:set>
                                  </p:childTnLst>
                                </p:cTn>
                              </p:par>
                              <p:par>
                                <p:cTn id="68" presetID="1" presetClass="entr" presetSubtype="0" fill="hold" nodeType="withEffect">
                                  <p:stCondLst>
                                    <p:cond delay="0"/>
                                  </p:stCondLst>
                                  <p:childTnLst>
                                    <p:set>
                                      <p:cBhvr>
                                        <p:cTn id="69" dur="1" fill="hold">
                                          <p:stCondLst>
                                            <p:cond delay="0"/>
                                          </p:stCondLst>
                                        </p:cTn>
                                        <p:tgtEl>
                                          <p:spTgt spid="3"/>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576442"/>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nodeType="withGroup">
                            <p:stCondLst>
                              <p:cond delay="0"/>
                            </p:stCondLst>
                            <p:childTnLst>
                              <p:par>
                                <p:cTn id="74" presetID="1" presetClass="exit" presetSubtype="0" fill="hold" nodeType="clickEffect">
                                  <p:stCondLst>
                                    <p:cond delay="0"/>
                                  </p:stCondLst>
                                  <p:childTnLst>
                                    <p:set>
                                      <p:cBhvr>
                                        <p:cTn id="75" dur="1" fill="hold">
                                          <p:stCondLst>
                                            <p:cond delay="0"/>
                                          </p:stCondLst>
                                        </p:cTn>
                                        <p:tgtEl>
                                          <p:spTgt spid="2"/>
                                        </p:tgtEl>
                                        <p:attrNameLst>
                                          <p:attrName>style.visibility</p:attrName>
                                        </p:attrNameLst>
                                      </p:cBhvr>
                                      <p:to>
                                        <p:strVal val="hidden"/>
                                      </p:to>
                                    </p:set>
                                  </p:childTnLst>
                                </p:cTn>
                              </p:par>
                              <p:par>
                                <p:cTn id="76" presetID="1" presetClass="entr" presetSubtype="0" fill="hold" grpId="0" nodeType="withEffect">
                                  <p:stCondLst>
                                    <p:cond delay="0"/>
                                  </p:stCondLst>
                                  <p:childTnLst>
                                    <p:set>
                                      <p:cBhvr>
                                        <p:cTn id="77" dur="1" fill="hold">
                                          <p:stCondLst>
                                            <p:cond delay="0"/>
                                          </p:stCondLst>
                                        </p:cTn>
                                        <p:tgtEl>
                                          <p:spTgt spid="2576618"/>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576620"/>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576535"/>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576536"/>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nodeType="clickEffect">
                                  <p:stCondLst>
                                    <p:cond delay="0"/>
                                  </p:stCondLst>
                                  <p:childTnLst>
                                    <p:set>
                                      <p:cBhvr>
                                        <p:cTn id="87" dur="1" fill="hold">
                                          <p:stCondLst>
                                            <p:cond delay="0"/>
                                          </p:stCondLst>
                                        </p:cTn>
                                        <p:tgtEl>
                                          <p:spTgt spid="10"/>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576587"/>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xit" presetSubtype="0" fill="hold" nodeType="clickEffect">
                                  <p:stCondLst>
                                    <p:cond delay="0"/>
                                  </p:stCondLst>
                                  <p:childTnLst>
                                    <p:set>
                                      <p:cBhvr>
                                        <p:cTn id="95" dur="1" fill="hold">
                                          <p:stCondLst>
                                            <p:cond delay="0"/>
                                          </p:stCondLst>
                                        </p:cTn>
                                        <p:tgtEl>
                                          <p:spTgt spid="10"/>
                                        </p:tgtEl>
                                        <p:attrNameLst>
                                          <p:attrName>style.visibility</p:attrName>
                                        </p:attrNameLst>
                                      </p:cBhvr>
                                      <p:to>
                                        <p:strVal val="hidden"/>
                                      </p:to>
                                    </p:set>
                                  </p:childTnLst>
                                </p:cTn>
                              </p:par>
                              <p:par>
                                <p:cTn id="96" presetID="1" presetClass="entr" presetSubtype="0" fill="hold" nodeType="withEffect">
                                  <p:stCondLst>
                                    <p:cond delay="0"/>
                                  </p:stCondLst>
                                  <p:childTnLst>
                                    <p:set>
                                      <p:cBhvr>
                                        <p:cTn id="97" dur="1" fill="hold">
                                          <p:stCondLst>
                                            <p:cond delay="0"/>
                                          </p:stCondLst>
                                        </p:cTn>
                                        <p:tgtEl>
                                          <p:spTgt spid="11"/>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presetSubtype="0" fill="hold" nodeType="clickEffect">
                                  <p:stCondLst>
                                    <p:cond delay="0"/>
                                  </p:stCondLst>
                                  <p:childTnLst>
                                    <p:set>
                                      <p:cBhvr>
                                        <p:cTn id="101" dur="1" fill="hold">
                                          <p:stCondLst>
                                            <p:cond delay="0"/>
                                          </p:stCondLst>
                                        </p:cTn>
                                        <p:tgtEl>
                                          <p:spTgt spid="2576593"/>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xit" presetSubtype="0" fill="hold" nodeType="clickEffect">
                                  <p:stCondLst>
                                    <p:cond delay="0"/>
                                  </p:stCondLst>
                                  <p:childTnLst>
                                    <p:set>
                                      <p:cBhvr>
                                        <p:cTn id="105" dur="1" fill="hold">
                                          <p:stCondLst>
                                            <p:cond delay="0"/>
                                          </p:stCondLst>
                                        </p:cTn>
                                        <p:tgtEl>
                                          <p:spTgt spid="11"/>
                                        </p:tgtEl>
                                        <p:attrNameLst>
                                          <p:attrName>style.visibility</p:attrName>
                                        </p:attrNameLst>
                                      </p:cBhvr>
                                      <p:to>
                                        <p:strVal val="hidden"/>
                                      </p:to>
                                    </p:set>
                                  </p:childTnLst>
                                </p:cTn>
                              </p:par>
                              <p:par>
                                <p:cTn id="106" presetID="1" presetClass="entr" presetSubtype="0" fill="hold" nodeType="withEffect">
                                  <p:stCondLst>
                                    <p:cond delay="0"/>
                                  </p:stCondLst>
                                  <p:childTnLst>
                                    <p:set>
                                      <p:cBhvr>
                                        <p:cTn id="107" dur="1" fill="hold">
                                          <p:stCondLst>
                                            <p:cond delay="0"/>
                                          </p:stCondLst>
                                        </p:cTn>
                                        <p:tgtEl>
                                          <p:spTgt spid="8"/>
                                        </p:tgtEl>
                                        <p:attrNameLst>
                                          <p:attrName>style.visibility</p:attrName>
                                        </p:attrNameLst>
                                      </p:cBhvr>
                                      <p:to>
                                        <p:strVal val="visible"/>
                                      </p:to>
                                    </p:se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 presetClass="entr" presetSubtype="0" fill="hold" nodeType="clickEffect">
                                  <p:stCondLst>
                                    <p:cond delay="0"/>
                                  </p:stCondLst>
                                  <p:childTnLst>
                                    <p:set>
                                      <p:cBhvr>
                                        <p:cTn id="111" dur="1" fill="hold">
                                          <p:stCondLst>
                                            <p:cond delay="0"/>
                                          </p:stCondLst>
                                        </p:cTn>
                                        <p:tgtEl>
                                          <p:spTgt spid="2576595"/>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9" presetClass="exit" presetSubtype="0" fill="hold" nodeType="clickEffect">
                                  <p:stCondLst>
                                    <p:cond delay="0"/>
                                  </p:stCondLst>
                                  <p:childTnLst>
                                    <p:animEffect transition="out" filter="dissolve">
                                      <p:cBhvr>
                                        <p:cTn id="115" dur="500"/>
                                        <p:tgtEl>
                                          <p:spTgt spid="8"/>
                                        </p:tgtEl>
                                      </p:cBhvr>
                                    </p:animEffect>
                                    <p:set>
                                      <p:cBhvr>
                                        <p:cTn id="116" dur="1" fill="hold">
                                          <p:stCondLst>
                                            <p:cond delay="499"/>
                                          </p:stCondLst>
                                        </p:cTn>
                                        <p:tgtEl>
                                          <p:spTgt spid="8"/>
                                        </p:tgtEl>
                                        <p:attrNameLst>
                                          <p:attrName>style.visibility</p:attrName>
                                        </p:attrNameLst>
                                      </p:cBhvr>
                                      <p:to>
                                        <p:strVal val="hidden"/>
                                      </p:to>
                                    </p:set>
                                  </p:childTnLst>
                                </p:cTn>
                              </p:par>
                              <p:par>
                                <p:cTn id="117" presetID="1" presetClass="entr" presetSubtype="0" fill="hold" nodeType="withEffect">
                                  <p:stCondLst>
                                    <p:cond delay="0"/>
                                  </p:stCondLst>
                                  <p:childTnLst>
                                    <p:set>
                                      <p:cBhvr>
                                        <p:cTn id="118" dur="1" fill="hold">
                                          <p:stCondLst>
                                            <p:cond delay="0"/>
                                          </p:stCondLst>
                                        </p:cTn>
                                        <p:tgtEl>
                                          <p:spTgt spid="1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2576613"/>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257661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25766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6412" grpId="0"/>
      <p:bldP spid="2576422" grpId="0"/>
      <p:bldP spid="2576433" grpId="0"/>
      <p:bldP spid="2576442" grpId="0"/>
      <p:bldP spid="2576522" grpId="0"/>
      <p:bldP spid="2576530" grpId="0"/>
      <p:bldP spid="2576534" grpId="0"/>
      <p:bldP spid="2576535" grpId="0"/>
      <p:bldP spid="2576536" grpId="0"/>
      <p:bldP spid="2576587" grpId="0"/>
      <p:bldP spid="2576613" grpId="0"/>
      <p:bldP spid="2576614" grpId="0" animBg="1"/>
      <p:bldP spid="2576615" grpId="0"/>
      <p:bldP spid="2576618" grpId="0" animBg="1"/>
      <p:bldP spid="2576620" grpId="0" animBg="1"/>
      <p:bldP spid="2576622" grpId="0"/>
      <p:bldP spid="2576622"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p:cNvSpPr>
            <a:spLocks noGrp="1"/>
          </p:cNvSpPr>
          <p:nvPr>
            <p:ph type="title"/>
          </p:nvPr>
        </p:nvSpPr>
        <p:spPr>
          <a:xfrm>
            <a:off x="457200" y="268288"/>
            <a:ext cx="8229600" cy="722312"/>
          </a:xfrm>
        </p:spPr>
        <p:txBody>
          <a:bodyPr/>
          <a:lstStyle/>
          <a:p>
            <a:r>
              <a:rPr lang="en-US" dirty="0">
                <a:latin typeface="+mj-lt"/>
              </a:rPr>
              <a:t>MLP</a:t>
            </a:r>
            <a:r>
              <a:rPr lang="zh-CN" altLang="en-US" dirty="0">
                <a:latin typeface="+mj-lt"/>
              </a:rPr>
              <a:t>感知的替换策略</a:t>
            </a:r>
            <a:endParaRPr lang="en-US" dirty="0">
              <a:latin typeface="+mj-lt"/>
            </a:endParaRPr>
          </a:p>
        </p:txBody>
      </p:sp>
      <p:sp>
        <p:nvSpPr>
          <p:cNvPr id="109570" name="Content Placeholder 2"/>
          <p:cNvSpPr>
            <a:spLocks noGrp="1"/>
          </p:cNvSpPr>
          <p:nvPr>
            <p:ph idx="1"/>
          </p:nvPr>
        </p:nvSpPr>
        <p:spPr>
          <a:xfrm>
            <a:off x="457200" y="1054100"/>
            <a:ext cx="8229600" cy="5194300"/>
          </a:xfrm>
        </p:spPr>
        <p:txBody>
          <a:bodyPr/>
          <a:lstStyle/>
          <a:p>
            <a:r>
              <a:rPr lang="zh-CN" altLang="en-US" sz="2800" dirty="0"/>
              <a:t>如何将</a:t>
            </a:r>
            <a:r>
              <a:rPr lang="en-US" altLang="zh-CN" sz="2800" dirty="0"/>
              <a:t>MLP</a:t>
            </a:r>
            <a:r>
              <a:rPr lang="zh-CN" altLang="en-US" sz="2800" dirty="0"/>
              <a:t>信息融合到替换算法的决策中</a:t>
            </a:r>
            <a:r>
              <a:rPr lang="en-US" sz="2800" dirty="0"/>
              <a:t>?</a:t>
            </a:r>
          </a:p>
          <a:p>
            <a:r>
              <a:rPr lang="en-US" sz="2800" dirty="0">
                <a:solidFill>
                  <a:schemeClr val="tx1">
                    <a:lumMod val="95000"/>
                    <a:lumOff val="5000"/>
                  </a:schemeClr>
                </a:solidFill>
              </a:rPr>
              <a:t>Qureshi et </a:t>
            </a:r>
            <a:r>
              <a:rPr lang="en-US" sz="2800" dirty="0" err="1">
                <a:solidFill>
                  <a:schemeClr val="tx1">
                    <a:lumMod val="95000"/>
                    <a:lumOff val="5000"/>
                  </a:schemeClr>
                </a:solidFill>
              </a:rPr>
              <a:t>al.,“</a:t>
            </a:r>
            <a:r>
              <a:rPr lang="en-US" altLang="ja-JP" sz="2800" dirty="0" err="1">
                <a:solidFill>
                  <a:schemeClr val="tx1">
                    <a:lumMod val="95000"/>
                    <a:lumOff val="5000"/>
                  </a:schemeClr>
                </a:solidFill>
                <a:hlinkClick r:id="rId3"/>
              </a:rPr>
              <a:t>A</a:t>
            </a:r>
            <a:r>
              <a:rPr lang="en-US" altLang="ja-JP" sz="2800" dirty="0">
                <a:solidFill>
                  <a:schemeClr val="tx1">
                    <a:lumMod val="95000"/>
                    <a:lumOff val="5000"/>
                  </a:schemeClr>
                </a:solidFill>
                <a:hlinkClick r:id="rId3"/>
              </a:rPr>
              <a:t> Case for MLP-Aware Cache Replacement</a:t>
            </a:r>
            <a:r>
              <a:rPr lang="en-US" altLang="ja-JP" sz="2800" dirty="0">
                <a:solidFill>
                  <a:schemeClr val="tx1">
                    <a:lumMod val="95000"/>
                    <a:lumOff val="5000"/>
                  </a:schemeClr>
                </a:solidFill>
              </a:rPr>
              <a:t>,</a:t>
            </a:r>
            <a:r>
              <a:rPr lang="en-US" sz="2800" dirty="0">
                <a:solidFill>
                  <a:schemeClr val="tx1">
                    <a:lumMod val="95000"/>
                    <a:lumOff val="5000"/>
                  </a:schemeClr>
                </a:solidFill>
              </a:rPr>
              <a:t>”</a:t>
            </a:r>
            <a:r>
              <a:rPr lang="en-US" altLang="ja-JP" sz="2800" dirty="0">
                <a:solidFill>
                  <a:schemeClr val="tx1">
                    <a:lumMod val="95000"/>
                    <a:lumOff val="5000"/>
                  </a:schemeClr>
                </a:solidFill>
              </a:rPr>
              <a:t> </a:t>
            </a:r>
            <a:r>
              <a:rPr lang="en-US" altLang="zh-CN" sz="2800" dirty="0">
                <a:solidFill>
                  <a:schemeClr val="tx1">
                    <a:lumMod val="95000"/>
                    <a:lumOff val="5000"/>
                  </a:schemeClr>
                </a:solidFill>
              </a:rPr>
              <a:t>in </a:t>
            </a:r>
            <a:r>
              <a:rPr lang="en-US" altLang="ja-JP" sz="2800" dirty="0">
                <a:solidFill>
                  <a:schemeClr val="tx1">
                    <a:lumMod val="95000"/>
                    <a:lumOff val="5000"/>
                  </a:schemeClr>
                </a:solidFill>
              </a:rPr>
              <a:t>ISCA 2006.</a:t>
            </a: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建议课下阅读，作为系统方向的科研启蒙。</a:t>
            </a:r>
            <a:endParaRPr lang="en-US" altLang="zh-CN" kern="1200" dirty="0">
              <a:cs typeface="Calibri" panose="020F0502020204030204" pitchFamily="34" charset="0"/>
            </a:endParaRPr>
          </a:p>
          <a:p>
            <a:pPr lvl="2" defTabSz="912813">
              <a:spcBef>
                <a:spcPts val="600"/>
              </a:spcBef>
              <a:spcAft>
                <a:spcPts val="600"/>
              </a:spcAft>
              <a:buClr>
                <a:schemeClr val="tx1"/>
              </a:buClr>
              <a:buFont typeface="Arial" panose="020B0604020202020204" pitchFamily="34" charset="0"/>
              <a:buChar char="•"/>
              <a:defRPr/>
            </a:pPr>
            <a:r>
              <a:rPr lang="zh-CN" altLang="en-US" sz="2000" dirty="0"/>
              <a:t>发现问题</a:t>
            </a:r>
            <a:endParaRPr lang="en-US" altLang="zh-CN" sz="2000" dirty="0"/>
          </a:p>
          <a:p>
            <a:pPr lvl="2" defTabSz="912813">
              <a:spcBef>
                <a:spcPts val="600"/>
              </a:spcBef>
              <a:spcAft>
                <a:spcPts val="600"/>
              </a:spcAft>
              <a:buClr>
                <a:schemeClr val="tx1"/>
              </a:buClr>
              <a:buFont typeface="Arial" panose="020B0604020202020204" pitchFamily="34" charset="0"/>
              <a:buChar char="•"/>
              <a:defRPr/>
            </a:pPr>
            <a:r>
              <a:rPr lang="zh-CN" altLang="en-US" sz="2000" dirty="0"/>
              <a:t>解决问题</a:t>
            </a:r>
            <a:endParaRPr lang="en-US" altLang="zh-CN" sz="2000" dirty="0"/>
          </a:p>
          <a:p>
            <a:pPr lvl="2" defTabSz="912813">
              <a:spcBef>
                <a:spcPts val="600"/>
              </a:spcBef>
              <a:spcAft>
                <a:spcPts val="600"/>
              </a:spcAft>
              <a:buClr>
                <a:schemeClr val="tx1"/>
              </a:buClr>
              <a:buFont typeface="Arial" panose="020B0604020202020204" pitchFamily="34" charset="0"/>
              <a:buChar char="•"/>
              <a:defRPr/>
            </a:pPr>
            <a:r>
              <a:rPr lang="zh-CN" altLang="en-US" sz="2000" dirty="0"/>
              <a:t>写成论文</a:t>
            </a:r>
            <a:endParaRPr lang="en-US" altLang="ja-JP" sz="2000" dirty="0"/>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这是更好的</a:t>
            </a:r>
            <a:r>
              <a:rPr lang="en-US" altLang="zh-CN" kern="1200" dirty="0">
                <a:cs typeface="Calibri" panose="020F0502020204030204" pitchFamily="34" charset="0"/>
              </a:rPr>
              <a:t>replacement</a:t>
            </a:r>
            <a:r>
              <a:rPr lang="zh-CN" altLang="en-US" kern="1200" dirty="0">
                <a:cs typeface="Calibri" panose="020F0502020204030204" pitchFamily="34" charset="0"/>
              </a:rPr>
              <a:t>策略的示例</a:t>
            </a:r>
            <a:endParaRPr lang="en-US" kern="1200" dirty="0">
              <a:cs typeface="Calibri" panose="020F0502020204030204" pitchFamily="34" charset="0"/>
            </a:endParaRP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46</a:t>
            </a:fld>
            <a:endParaRPr lang="en-US" altLang="zh-CN"/>
          </a:p>
        </p:txBody>
      </p:sp>
      <p:pic>
        <p:nvPicPr>
          <p:cNvPr id="6" name="图片 5"/>
          <p:cNvPicPr>
            <a:picLocks noChangeAspect="1"/>
          </p:cNvPicPr>
          <p:nvPr/>
        </p:nvPicPr>
        <p:blipFill>
          <a:blip r:embed="rId4"/>
          <a:stretch>
            <a:fillRect/>
          </a:stretch>
        </p:blipFill>
        <p:spPr>
          <a:xfrm>
            <a:off x="838200" y="4953000"/>
            <a:ext cx="7696990" cy="1601470"/>
          </a:xfrm>
          <a:prstGeom prst="rect">
            <a:avLst/>
          </a:prstGeom>
        </p:spPr>
      </p:pic>
    </p:spTree>
    <p:extLst>
      <p:ext uri="{BB962C8B-B14F-4D97-AF65-F5344CB8AC3E}">
        <p14:creationId xmlns:p14="http://schemas.microsoft.com/office/powerpoint/2010/main" val="57039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57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957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957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957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957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9570">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78098"/>
          </a:xfrm>
        </p:spPr>
        <p:txBody>
          <a:bodyPr/>
          <a:lstStyle/>
          <a:p>
            <a:r>
              <a:rPr lang="zh-CN" altLang="en-US" dirty="0">
                <a:latin typeface="+mj-lt"/>
              </a:rPr>
              <a:t>多核处理器中的缓存</a:t>
            </a:r>
            <a:endParaRPr lang="en-US" dirty="0">
              <a:latin typeface="+mj-lt"/>
            </a:endParaRPr>
          </a:p>
        </p:txBody>
      </p:sp>
      <p:sp>
        <p:nvSpPr>
          <p:cNvPr id="3" name="Content Placeholder 2"/>
          <p:cNvSpPr>
            <a:spLocks noGrp="1"/>
          </p:cNvSpPr>
          <p:nvPr>
            <p:ph idx="1"/>
          </p:nvPr>
        </p:nvSpPr>
        <p:spPr>
          <a:xfrm>
            <a:off x="457200" y="1052736"/>
            <a:ext cx="8229600" cy="5424264"/>
          </a:xfrm>
        </p:spPr>
        <p:txBody>
          <a:bodyPr/>
          <a:lstStyle/>
          <a:p>
            <a:pPr>
              <a:spcBef>
                <a:spcPts val="600"/>
              </a:spcBef>
              <a:spcAft>
                <a:spcPts val="600"/>
              </a:spcAft>
            </a:pPr>
            <a:r>
              <a:rPr lang="zh-CN" altLang="en-US" sz="2800" dirty="0"/>
              <a:t>对于多核</a:t>
            </a:r>
            <a:r>
              <a:rPr lang="en-US" altLang="zh-CN" sz="2800" dirty="0"/>
              <a:t>/</a:t>
            </a:r>
            <a:r>
              <a:rPr lang="zh-CN" altLang="en-US" sz="2800" dirty="0"/>
              <a:t>多线程系统来说，缓存更加重要：</a:t>
            </a:r>
            <a:endParaRPr lang="en-US" sz="2800" dirty="0"/>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highlight>
                  <a:srgbClr val="FFFF00"/>
                </a:highlight>
                <a:cs typeface="Calibri" panose="020F0502020204030204" pitchFamily="34" charset="0"/>
              </a:rPr>
              <a:t>内存带宽更加稀缺</a:t>
            </a:r>
            <a:r>
              <a:rPr lang="en-US" altLang="zh-CN" kern="1200" dirty="0">
                <a:highlight>
                  <a:srgbClr val="FFFF00"/>
                </a:highlight>
                <a:cs typeface="Calibri" panose="020F0502020204030204" pitchFamily="34" charset="0"/>
              </a:rPr>
              <a:t>!!</a:t>
            </a:r>
            <a:r>
              <a:rPr lang="zh-CN" altLang="en-US" kern="1200" dirty="0">
                <a:highlight>
                  <a:srgbClr val="FFFF00"/>
                </a:highlight>
                <a:cs typeface="Calibri" panose="020F0502020204030204" pitchFamily="34" charset="0"/>
              </a:rPr>
              <a:t>！</a:t>
            </a:r>
            <a:endParaRPr lang="en-US" kern="1200" dirty="0">
              <a:highlight>
                <a:srgbClr val="FFFF00"/>
              </a:highlight>
              <a:cs typeface="Calibri" panose="020F0502020204030204" pitchFamily="34" charset="0"/>
            </a:endParaRP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highlight>
                  <a:srgbClr val="FFFF00"/>
                </a:highlight>
                <a:cs typeface="Calibri" panose="020F0502020204030204" pitchFamily="34" charset="0"/>
              </a:rPr>
              <a:t>缓存空间也更加有限</a:t>
            </a:r>
            <a:r>
              <a:rPr lang="en-US" altLang="zh-CN" kern="1200" dirty="0">
                <a:highlight>
                  <a:srgbClr val="FFFF00"/>
                </a:highlight>
                <a:cs typeface="Calibri" panose="020F0502020204030204" pitchFamily="34" charset="0"/>
              </a:rPr>
              <a:t>!!!</a:t>
            </a:r>
            <a:endParaRPr lang="en-US" kern="1200" dirty="0">
              <a:highlight>
                <a:srgbClr val="FFFF00"/>
              </a:highlight>
              <a:cs typeface="Calibri" panose="020F0502020204030204" pitchFamily="34" charset="0"/>
            </a:endParaRPr>
          </a:p>
          <a:p>
            <a:pPr>
              <a:spcBef>
                <a:spcPts val="600"/>
              </a:spcBef>
              <a:spcAft>
                <a:spcPts val="600"/>
              </a:spcAft>
            </a:pPr>
            <a:r>
              <a:rPr lang="zh-CN" altLang="en-US" sz="2800" dirty="0"/>
              <a:t>多核处理器中缓存会面临哪些新的问题？</a:t>
            </a:r>
            <a:endParaRPr lang="en-US" sz="2800" dirty="0"/>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共享 还是 私有？</a:t>
            </a:r>
            <a:endParaRPr lang="en-US" altLang="zh-CN" kern="1200" dirty="0">
              <a:cs typeface="Calibri" panose="020F0502020204030204" pitchFamily="34" charset="0"/>
            </a:endParaRP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在共享缓存下，如何给线程分配空间</a:t>
            </a:r>
            <a:r>
              <a:rPr lang="en-US" altLang="zh-CN" kern="1200" dirty="0">
                <a:cs typeface="Calibri" panose="020F0502020204030204" pitchFamily="34" charset="0"/>
              </a:rPr>
              <a:t>?</a:t>
            </a:r>
            <a:endParaRPr lang="en-US" kern="1200" dirty="0">
              <a:cs typeface="Calibri" panose="020F0502020204030204" pitchFamily="34" charset="0"/>
            </a:endParaRP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缓存管理算法需要考虑线程的特征吗</a:t>
            </a:r>
            <a:r>
              <a:rPr lang="en-US" kern="1200" dirty="0">
                <a:cs typeface="Calibri" panose="020F0502020204030204" pitchFamily="34" charset="0"/>
              </a:rPr>
              <a:t>?</a:t>
            </a:r>
          </a:p>
          <a:p>
            <a:pPr marL="628650" lvl="1" indent="-265113" defTabSz="912813">
              <a:spcBef>
                <a:spcPts val="60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在共享缓存下，如何给不同线程提供</a:t>
            </a:r>
            <a:r>
              <a:rPr lang="en-US" altLang="zh-CN" kern="1200" dirty="0">
                <a:cs typeface="Calibri" panose="020F0502020204030204" pitchFamily="34" charset="0"/>
              </a:rPr>
              <a:t>QoS?</a:t>
            </a:r>
            <a:endParaRPr lang="en-US" kern="1200" dirty="0">
              <a:cs typeface="Calibri" panose="020F0502020204030204" pitchFamily="34" charset="0"/>
            </a:endParaRPr>
          </a:p>
          <a:p>
            <a:pPr marL="628650" lvl="1" indent="-265113" defTabSz="912813">
              <a:spcBef>
                <a:spcPts val="60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a:t>
            </a:r>
            <a:r>
              <a:rPr lang="en-US" altLang="zh-CN" kern="1200" dirty="0">
                <a:cs typeface="Calibri" panose="020F0502020204030204" pitchFamily="34" charset="0"/>
              </a:rPr>
              <a:t>…</a:t>
            </a:r>
            <a:endParaRPr lang="en-US" kern="1200" dirty="0">
              <a:cs typeface="Calibri" panose="020F0502020204030204" pitchFamily="34" charset="0"/>
            </a:endParaRPr>
          </a:p>
          <a:p>
            <a:pPr lvl="1">
              <a:spcBef>
                <a:spcPts val="600"/>
              </a:spcBef>
              <a:spcAft>
                <a:spcPts val="600"/>
              </a:spcAft>
            </a:pPr>
            <a:endParaRPr lang="en-US" dirty="0"/>
          </a:p>
        </p:txBody>
      </p:sp>
      <p:sp>
        <p:nvSpPr>
          <p:cNvPr id="6" name="灯片编号占位符 5"/>
          <p:cNvSpPr>
            <a:spLocks noGrp="1"/>
          </p:cNvSpPr>
          <p:nvPr>
            <p:ph type="sldNum" sz="quarter" idx="12"/>
          </p:nvPr>
        </p:nvSpPr>
        <p:spPr/>
        <p:txBody>
          <a:bodyPr/>
          <a:lstStyle/>
          <a:p>
            <a:pPr>
              <a:defRPr/>
            </a:pPr>
            <a:fld id="{4D61D28F-70AE-4570-A6CA-7CE9CC809164}" type="slidenum">
              <a:rPr lang="en-US" altLang="zh-CN" smtClean="0"/>
              <a:pPr>
                <a:defRPr/>
              </a:pPr>
              <a:t>47</a:t>
            </a:fld>
            <a:endParaRPr lang="en-US" altLang="zh-CN"/>
          </a:p>
        </p:txBody>
      </p:sp>
      <p:pic>
        <p:nvPicPr>
          <p:cNvPr id="5" name="图片 4">
            <a:extLst>
              <a:ext uri="{FF2B5EF4-FFF2-40B4-BE49-F238E27FC236}">
                <a16:creationId xmlns:a16="http://schemas.microsoft.com/office/drawing/2014/main" id="{BCD881AC-5C5C-4D7E-A449-C0FBD22A6B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8925" y="3200400"/>
            <a:ext cx="2162175" cy="1524000"/>
          </a:xfrm>
          <a:prstGeom prst="rect">
            <a:avLst/>
          </a:prstGeom>
        </p:spPr>
      </p:pic>
    </p:spTree>
    <p:extLst>
      <p:ext uri="{BB962C8B-B14F-4D97-AF65-F5344CB8AC3E}">
        <p14:creationId xmlns:p14="http://schemas.microsoft.com/office/powerpoint/2010/main" val="140648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457200" y="269875"/>
            <a:ext cx="8229600" cy="720725"/>
          </a:xfrm>
        </p:spPr>
        <p:txBody>
          <a:bodyPr/>
          <a:lstStyle/>
          <a:p>
            <a:r>
              <a:rPr lang="en-US" dirty="0">
                <a:cs typeface="ＭＳ Ｐゴシック" charset="0"/>
              </a:rPr>
              <a:t>Private vs. Shared</a:t>
            </a:r>
          </a:p>
        </p:txBody>
      </p:sp>
      <p:sp>
        <p:nvSpPr>
          <p:cNvPr id="28674" name="Content Placeholder 2"/>
          <p:cNvSpPr>
            <a:spLocks noGrp="1"/>
          </p:cNvSpPr>
          <p:nvPr>
            <p:ph idx="1"/>
          </p:nvPr>
        </p:nvSpPr>
        <p:spPr>
          <a:xfrm>
            <a:off x="457200" y="1054100"/>
            <a:ext cx="8229600" cy="1395412"/>
          </a:xfrm>
        </p:spPr>
        <p:txBody>
          <a:bodyPr/>
          <a:lstStyle/>
          <a:p>
            <a:r>
              <a:rPr lang="zh-CN" altLang="en-US" sz="2400" b="1" dirty="0">
                <a:solidFill>
                  <a:schemeClr val="tx1">
                    <a:lumMod val="95000"/>
                    <a:lumOff val="5000"/>
                  </a:schemeClr>
                </a:solidFill>
              </a:rPr>
              <a:t>私有缓存：</a:t>
            </a:r>
            <a:r>
              <a:rPr lang="zh-CN" altLang="en-US" sz="2400" dirty="0">
                <a:cs typeface="ＭＳ Ｐゴシック" charset="0"/>
              </a:rPr>
              <a:t>缓存仅属于唯一的核 </a:t>
            </a:r>
            <a:r>
              <a:rPr lang="en-US" sz="2400" dirty="0">
                <a:cs typeface="ＭＳ Ｐゴシック" charset="0"/>
              </a:rPr>
              <a:t>(</a:t>
            </a:r>
            <a:r>
              <a:rPr lang="zh-CN" altLang="en-US" sz="2400" dirty="0">
                <a:cs typeface="ＭＳ Ｐゴシック" charset="0"/>
              </a:rPr>
              <a:t>那么，一个</a:t>
            </a:r>
            <a:r>
              <a:rPr lang="zh-CN" altLang="en-US" sz="2400" dirty="0">
                <a:solidFill>
                  <a:srgbClr val="FF0000"/>
                </a:solidFill>
                <a:cs typeface="ＭＳ Ｐゴシック" charset="0"/>
              </a:rPr>
              <a:t>共享的</a:t>
            </a:r>
            <a:r>
              <a:rPr lang="en-US" altLang="zh-CN" sz="2400" dirty="0">
                <a:cs typeface="ＭＳ Ｐゴシック" charset="0"/>
              </a:rPr>
              <a:t>block</a:t>
            </a:r>
            <a:r>
              <a:rPr lang="zh-CN" altLang="en-US" sz="2400" dirty="0">
                <a:cs typeface="ＭＳ Ｐゴシック" charset="0"/>
              </a:rPr>
              <a:t>可能在多个缓存中存在副本。</a:t>
            </a:r>
            <a:r>
              <a:rPr lang="en-US" altLang="zh-CN" sz="2400" dirty="0">
                <a:cs typeface="ＭＳ Ｐゴシック" charset="0"/>
              </a:rPr>
              <a:t>=&gt;</a:t>
            </a:r>
            <a:r>
              <a:rPr lang="zh-CN" altLang="en-US" sz="2400" dirty="0">
                <a:solidFill>
                  <a:srgbClr val="FF0000"/>
                </a:solidFill>
                <a:cs typeface="ＭＳ Ｐゴシック" charset="0"/>
              </a:rPr>
              <a:t>会导致什么问题？</a:t>
            </a:r>
            <a:r>
              <a:rPr lang="en-US" sz="2400" dirty="0">
                <a:cs typeface="ＭＳ Ｐゴシック" charset="0"/>
              </a:rPr>
              <a:t>)</a:t>
            </a:r>
          </a:p>
          <a:p>
            <a:r>
              <a:rPr lang="zh-CN" altLang="en-US" sz="2400" b="1" dirty="0">
                <a:solidFill>
                  <a:schemeClr val="tx1">
                    <a:lumMod val="95000"/>
                    <a:lumOff val="5000"/>
                  </a:schemeClr>
                </a:solidFill>
                <a:cs typeface="ＭＳ Ｐゴシック" charset="0"/>
              </a:rPr>
              <a:t>共享缓存：</a:t>
            </a:r>
            <a:r>
              <a:rPr lang="zh-CN" altLang="en-US" sz="2400" dirty="0">
                <a:cs typeface="ＭＳ Ｐゴシック" charset="0"/>
              </a:rPr>
              <a:t>缓存空间由多个核共享（优缺点是什么？）</a:t>
            </a:r>
            <a:endParaRPr lang="en-US" sz="2400" dirty="0">
              <a:cs typeface="ＭＳ Ｐゴシック" charset="0"/>
            </a:endParaRPr>
          </a:p>
        </p:txBody>
      </p:sp>
      <p:sp>
        <p:nvSpPr>
          <p:cNvPr id="3" name="灯片编号占位符 2"/>
          <p:cNvSpPr>
            <a:spLocks noGrp="1"/>
          </p:cNvSpPr>
          <p:nvPr>
            <p:ph type="sldNum" sz="quarter" idx="12"/>
          </p:nvPr>
        </p:nvSpPr>
        <p:spPr/>
        <p:txBody>
          <a:bodyPr/>
          <a:lstStyle/>
          <a:p>
            <a:pPr>
              <a:defRPr/>
            </a:pPr>
            <a:fld id="{4D61D28F-70AE-4570-A6CA-7CE9CC809164}" type="slidenum">
              <a:rPr lang="en-US" altLang="zh-CN" smtClean="0"/>
              <a:pPr>
                <a:defRPr/>
              </a:pPr>
              <a:t>48</a:t>
            </a:fld>
            <a:endParaRPr lang="en-US" altLang="zh-CN"/>
          </a:p>
        </p:txBody>
      </p:sp>
      <p:grpSp>
        <p:nvGrpSpPr>
          <p:cNvPr id="28676" name="Group 74"/>
          <p:cNvGrpSpPr>
            <a:grpSpLocks/>
          </p:cNvGrpSpPr>
          <p:nvPr/>
        </p:nvGrpSpPr>
        <p:grpSpPr bwMode="auto">
          <a:xfrm>
            <a:off x="661988" y="2514600"/>
            <a:ext cx="3573462" cy="3111500"/>
            <a:chOff x="395288" y="2852738"/>
            <a:chExt cx="4667250" cy="3111500"/>
          </a:xfrm>
        </p:grpSpPr>
        <p:sp>
          <p:nvSpPr>
            <p:cNvPr id="28701" name="Rectangle 3"/>
            <p:cNvSpPr>
              <a:spLocks noChangeArrowheads="1"/>
            </p:cNvSpPr>
            <p:nvPr/>
          </p:nvSpPr>
          <p:spPr bwMode="auto">
            <a:xfrm>
              <a:off x="68421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02" name="Text Box 4"/>
            <p:cNvSpPr txBox="1">
              <a:spLocks noChangeArrowheads="1"/>
            </p:cNvSpPr>
            <p:nvPr/>
          </p:nvSpPr>
          <p:spPr bwMode="auto">
            <a:xfrm>
              <a:off x="60960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0</a:t>
              </a:r>
            </a:p>
          </p:txBody>
        </p:sp>
        <p:sp>
          <p:nvSpPr>
            <p:cNvPr id="28703" name="Rectangle 5"/>
            <p:cNvSpPr>
              <a:spLocks noChangeArrowheads="1"/>
            </p:cNvSpPr>
            <p:nvPr/>
          </p:nvSpPr>
          <p:spPr bwMode="auto">
            <a:xfrm>
              <a:off x="1778000"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04" name="Text Box 6"/>
            <p:cNvSpPr txBox="1">
              <a:spLocks noChangeArrowheads="1"/>
            </p:cNvSpPr>
            <p:nvPr/>
          </p:nvSpPr>
          <p:spPr bwMode="auto">
            <a:xfrm>
              <a:off x="1703388"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1</a:t>
              </a:r>
            </a:p>
          </p:txBody>
        </p:sp>
        <p:sp>
          <p:nvSpPr>
            <p:cNvPr id="28705" name="Rectangle 7"/>
            <p:cNvSpPr>
              <a:spLocks noChangeArrowheads="1"/>
            </p:cNvSpPr>
            <p:nvPr/>
          </p:nvSpPr>
          <p:spPr bwMode="auto">
            <a:xfrm>
              <a:off x="2873375"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06" name="Text Box 8"/>
            <p:cNvSpPr txBox="1">
              <a:spLocks noChangeArrowheads="1"/>
            </p:cNvSpPr>
            <p:nvPr/>
          </p:nvSpPr>
          <p:spPr bwMode="auto">
            <a:xfrm>
              <a:off x="2798762"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2</a:t>
              </a:r>
            </a:p>
          </p:txBody>
        </p:sp>
        <p:sp>
          <p:nvSpPr>
            <p:cNvPr id="28707" name="Rectangle 9"/>
            <p:cNvSpPr>
              <a:spLocks noChangeArrowheads="1"/>
            </p:cNvSpPr>
            <p:nvPr/>
          </p:nvSpPr>
          <p:spPr bwMode="auto">
            <a:xfrm>
              <a:off x="396716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08" name="Text Box 10"/>
            <p:cNvSpPr txBox="1">
              <a:spLocks noChangeArrowheads="1"/>
            </p:cNvSpPr>
            <p:nvPr/>
          </p:nvSpPr>
          <p:spPr bwMode="auto">
            <a:xfrm>
              <a:off x="389255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3</a:t>
              </a:r>
            </a:p>
          </p:txBody>
        </p:sp>
        <p:sp>
          <p:nvSpPr>
            <p:cNvPr id="28709" name="Rectangle 11"/>
            <p:cNvSpPr>
              <a:spLocks noChangeArrowheads="1"/>
            </p:cNvSpPr>
            <p:nvPr/>
          </p:nvSpPr>
          <p:spPr bwMode="auto">
            <a:xfrm>
              <a:off x="684213" y="4062413"/>
              <a:ext cx="806450" cy="808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10" name="Rectangle 13"/>
            <p:cNvSpPr>
              <a:spLocks noChangeArrowheads="1"/>
            </p:cNvSpPr>
            <p:nvPr/>
          </p:nvSpPr>
          <p:spPr bwMode="auto">
            <a:xfrm>
              <a:off x="1809750" y="4062413"/>
              <a:ext cx="806450" cy="808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11" name="Text Box 14"/>
            <p:cNvSpPr txBox="1">
              <a:spLocks noChangeArrowheads="1"/>
            </p:cNvSpPr>
            <p:nvPr/>
          </p:nvSpPr>
          <p:spPr bwMode="auto">
            <a:xfrm>
              <a:off x="1751013" y="4144963"/>
              <a:ext cx="9425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    L2 </a:t>
              </a:r>
            </a:p>
            <a:p>
              <a:pPr eaLnBrk="1" hangingPunct="1"/>
              <a:r>
                <a:rPr lang="en-US" sz="1200">
                  <a:solidFill>
                    <a:srgbClr val="000000"/>
                  </a:solidFill>
                </a:rPr>
                <a:t>CACHE</a:t>
              </a:r>
            </a:p>
          </p:txBody>
        </p:sp>
        <p:sp>
          <p:nvSpPr>
            <p:cNvPr id="28712" name="Rectangle 15"/>
            <p:cNvSpPr>
              <a:spLocks noChangeArrowheads="1"/>
            </p:cNvSpPr>
            <p:nvPr/>
          </p:nvSpPr>
          <p:spPr bwMode="auto">
            <a:xfrm>
              <a:off x="2903538" y="4064000"/>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13" name="Text Box 16"/>
            <p:cNvSpPr txBox="1">
              <a:spLocks noChangeArrowheads="1"/>
            </p:cNvSpPr>
            <p:nvPr/>
          </p:nvSpPr>
          <p:spPr bwMode="auto">
            <a:xfrm>
              <a:off x="2844799" y="4146550"/>
              <a:ext cx="9425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    L2 </a:t>
              </a:r>
            </a:p>
            <a:p>
              <a:pPr eaLnBrk="1" hangingPunct="1"/>
              <a:r>
                <a:rPr lang="en-US" sz="1200">
                  <a:solidFill>
                    <a:srgbClr val="000000"/>
                  </a:solidFill>
                </a:rPr>
                <a:t>CACHE</a:t>
              </a:r>
            </a:p>
          </p:txBody>
        </p:sp>
        <p:sp>
          <p:nvSpPr>
            <p:cNvPr id="28714" name="Rectangle 17"/>
            <p:cNvSpPr>
              <a:spLocks noChangeArrowheads="1"/>
            </p:cNvSpPr>
            <p:nvPr/>
          </p:nvSpPr>
          <p:spPr bwMode="auto">
            <a:xfrm>
              <a:off x="3968750" y="4064000"/>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15" name="Text Box 18"/>
            <p:cNvSpPr txBox="1">
              <a:spLocks noChangeArrowheads="1"/>
            </p:cNvSpPr>
            <p:nvPr/>
          </p:nvSpPr>
          <p:spPr bwMode="auto">
            <a:xfrm>
              <a:off x="3910013" y="4146550"/>
              <a:ext cx="94256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    L2 </a:t>
              </a:r>
            </a:p>
            <a:p>
              <a:pPr eaLnBrk="1" hangingPunct="1"/>
              <a:r>
                <a:rPr lang="en-US" sz="1200">
                  <a:solidFill>
                    <a:srgbClr val="000000"/>
                  </a:solidFill>
                </a:rPr>
                <a:t>CACHE</a:t>
              </a:r>
            </a:p>
          </p:txBody>
        </p:sp>
        <p:sp>
          <p:nvSpPr>
            <p:cNvPr id="28716" name="Line 19"/>
            <p:cNvSpPr>
              <a:spLocks noChangeShapeType="1"/>
            </p:cNvSpPr>
            <p:nvPr/>
          </p:nvSpPr>
          <p:spPr bwMode="auto">
            <a:xfrm>
              <a:off x="108743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17" name="Line 20"/>
            <p:cNvSpPr>
              <a:spLocks noChangeShapeType="1"/>
            </p:cNvSpPr>
            <p:nvPr/>
          </p:nvSpPr>
          <p:spPr bwMode="auto">
            <a:xfrm>
              <a:off x="2181225"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18" name="Line 21"/>
            <p:cNvSpPr>
              <a:spLocks noChangeShapeType="1"/>
            </p:cNvSpPr>
            <p:nvPr/>
          </p:nvSpPr>
          <p:spPr bwMode="auto">
            <a:xfrm>
              <a:off x="3276600"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19" name="Line 22"/>
            <p:cNvSpPr>
              <a:spLocks noChangeShapeType="1"/>
            </p:cNvSpPr>
            <p:nvPr/>
          </p:nvSpPr>
          <p:spPr bwMode="auto">
            <a:xfrm>
              <a:off x="437038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20" name="Rectangle 23"/>
            <p:cNvSpPr>
              <a:spLocks noChangeArrowheads="1"/>
            </p:cNvSpPr>
            <p:nvPr/>
          </p:nvSpPr>
          <p:spPr bwMode="auto">
            <a:xfrm>
              <a:off x="1144588" y="5216525"/>
              <a:ext cx="3168650" cy="635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721" name="Text Box 24"/>
            <p:cNvSpPr txBox="1">
              <a:spLocks noChangeArrowheads="1"/>
            </p:cNvSpPr>
            <p:nvPr/>
          </p:nvSpPr>
          <p:spPr bwMode="auto">
            <a:xfrm>
              <a:off x="1117599" y="5387975"/>
              <a:ext cx="32132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DRAM MEMORY CONTROLLER</a:t>
              </a:r>
            </a:p>
          </p:txBody>
        </p:sp>
        <p:sp>
          <p:nvSpPr>
            <p:cNvPr id="28722" name="Line 25"/>
            <p:cNvSpPr>
              <a:spLocks noChangeShapeType="1"/>
            </p:cNvSpPr>
            <p:nvPr/>
          </p:nvSpPr>
          <p:spPr bwMode="auto">
            <a:xfrm>
              <a:off x="21812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23" name="Line 26"/>
            <p:cNvSpPr>
              <a:spLocks noChangeShapeType="1"/>
            </p:cNvSpPr>
            <p:nvPr/>
          </p:nvSpPr>
          <p:spPr bwMode="auto">
            <a:xfrm>
              <a:off x="328930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24" name="Line 27"/>
            <p:cNvSpPr>
              <a:spLocks noChangeShapeType="1"/>
            </p:cNvSpPr>
            <p:nvPr/>
          </p:nvSpPr>
          <p:spPr bwMode="auto">
            <a:xfrm>
              <a:off x="419735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25" name="Line 28"/>
            <p:cNvSpPr>
              <a:spLocks noChangeShapeType="1"/>
            </p:cNvSpPr>
            <p:nvPr/>
          </p:nvSpPr>
          <p:spPr bwMode="auto">
            <a:xfrm>
              <a:off x="13176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726" name="Rounded Rectangle 97"/>
            <p:cNvSpPr>
              <a:spLocks noChangeArrowheads="1"/>
            </p:cNvSpPr>
            <p:nvPr/>
          </p:nvSpPr>
          <p:spPr bwMode="auto">
            <a:xfrm>
              <a:off x="395288" y="2852738"/>
              <a:ext cx="4667250" cy="3111500"/>
            </a:xfrm>
            <a:prstGeom prst="roundRect">
              <a:avLst>
                <a:gd name="adj" fmla="val 16667"/>
              </a:avLst>
            </a:pr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381000" indent="-381000" algn="ctr">
                <a:spcBef>
                  <a:spcPct val="20000"/>
                </a:spcBef>
                <a:buFontTx/>
                <a:buChar char="•"/>
              </a:pPr>
              <a:endParaRPr lang="en-US" sz="2000">
                <a:solidFill>
                  <a:srgbClr val="000000"/>
                </a:solidFill>
              </a:endParaRPr>
            </a:p>
          </p:txBody>
        </p:sp>
        <p:sp>
          <p:nvSpPr>
            <p:cNvPr id="28727" name="Rectangle 56"/>
            <p:cNvSpPr>
              <a:spLocks noChangeArrowheads="1"/>
            </p:cNvSpPr>
            <p:nvPr/>
          </p:nvSpPr>
          <p:spPr bwMode="auto">
            <a:xfrm>
              <a:off x="1144588" y="5214938"/>
              <a:ext cx="3168650" cy="635000"/>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grpSp>
      <p:sp>
        <p:nvSpPr>
          <p:cNvPr id="28677" name="Text Box 14"/>
          <p:cNvSpPr txBox="1">
            <a:spLocks noChangeArrowheads="1"/>
          </p:cNvSpPr>
          <p:nvPr/>
        </p:nvSpPr>
        <p:spPr bwMode="auto">
          <a:xfrm>
            <a:off x="838200" y="3806825"/>
            <a:ext cx="720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    L2 </a:t>
            </a:r>
          </a:p>
          <a:p>
            <a:pPr eaLnBrk="1" hangingPunct="1"/>
            <a:r>
              <a:rPr lang="en-US" sz="1200">
                <a:solidFill>
                  <a:srgbClr val="000000"/>
                </a:solidFill>
              </a:rPr>
              <a:t>CACHE</a:t>
            </a:r>
          </a:p>
        </p:txBody>
      </p:sp>
      <p:grpSp>
        <p:nvGrpSpPr>
          <p:cNvPr id="28678" name="Group 76"/>
          <p:cNvGrpSpPr>
            <a:grpSpLocks/>
          </p:cNvGrpSpPr>
          <p:nvPr/>
        </p:nvGrpSpPr>
        <p:grpSpPr bwMode="auto">
          <a:xfrm>
            <a:off x="4884738" y="2552700"/>
            <a:ext cx="3573462" cy="3111500"/>
            <a:chOff x="395288" y="2852738"/>
            <a:chExt cx="4667250" cy="3111500"/>
          </a:xfrm>
        </p:grpSpPr>
        <p:sp>
          <p:nvSpPr>
            <p:cNvPr id="28680" name="Rectangle 3"/>
            <p:cNvSpPr>
              <a:spLocks noChangeArrowheads="1"/>
            </p:cNvSpPr>
            <p:nvPr/>
          </p:nvSpPr>
          <p:spPr bwMode="auto">
            <a:xfrm>
              <a:off x="68421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81" name="Text Box 4"/>
            <p:cNvSpPr txBox="1">
              <a:spLocks noChangeArrowheads="1"/>
            </p:cNvSpPr>
            <p:nvPr/>
          </p:nvSpPr>
          <p:spPr bwMode="auto">
            <a:xfrm>
              <a:off x="60960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0</a:t>
              </a:r>
            </a:p>
          </p:txBody>
        </p:sp>
        <p:sp>
          <p:nvSpPr>
            <p:cNvPr id="28682" name="Rectangle 5"/>
            <p:cNvSpPr>
              <a:spLocks noChangeArrowheads="1"/>
            </p:cNvSpPr>
            <p:nvPr/>
          </p:nvSpPr>
          <p:spPr bwMode="auto">
            <a:xfrm>
              <a:off x="1778000"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83" name="Text Box 6"/>
            <p:cNvSpPr txBox="1">
              <a:spLocks noChangeArrowheads="1"/>
            </p:cNvSpPr>
            <p:nvPr/>
          </p:nvSpPr>
          <p:spPr bwMode="auto">
            <a:xfrm>
              <a:off x="1703388"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1</a:t>
              </a:r>
            </a:p>
          </p:txBody>
        </p:sp>
        <p:sp>
          <p:nvSpPr>
            <p:cNvPr id="28684" name="Rectangle 7"/>
            <p:cNvSpPr>
              <a:spLocks noChangeArrowheads="1"/>
            </p:cNvSpPr>
            <p:nvPr/>
          </p:nvSpPr>
          <p:spPr bwMode="auto">
            <a:xfrm>
              <a:off x="2873375"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85" name="Text Box 8"/>
            <p:cNvSpPr txBox="1">
              <a:spLocks noChangeArrowheads="1"/>
            </p:cNvSpPr>
            <p:nvPr/>
          </p:nvSpPr>
          <p:spPr bwMode="auto">
            <a:xfrm>
              <a:off x="2798762"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2</a:t>
              </a:r>
            </a:p>
          </p:txBody>
        </p:sp>
        <p:sp>
          <p:nvSpPr>
            <p:cNvPr id="28686" name="Rectangle 9"/>
            <p:cNvSpPr>
              <a:spLocks noChangeArrowheads="1"/>
            </p:cNvSpPr>
            <p:nvPr/>
          </p:nvSpPr>
          <p:spPr bwMode="auto">
            <a:xfrm>
              <a:off x="3967163" y="2968625"/>
              <a:ext cx="806450" cy="808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87" name="Text Box 10"/>
            <p:cNvSpPr txBox="1">
              <a:spLocks noChangeArrowheads="1"/>
            </p:cNvSpPr>
            <p:nvPr/>
          </p:nvSpPr>
          <p:spPr bwMode="auto">
            <a:xfrm>
              <a:off x="3892550" y="3222625"/>
              <a:ext cx="98862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CORE 3</a:t>
              </a:r>
            </a:p>
          </p:txBody>
        </p:sp>
        <p:sp>
          <p:nvSpPr>
            <p:cNvPr id="28688" name="Rectangle 11"/>
            <p:cNvSpPr>
              <a:spLocks noChangeArrowheads="1"/>
            </p:cNvSpPr>
            <p:nvPr/>
          </p:nvSpPr>
          <p:spPr bwMode="auto">
            <a:xfrm>
              <a:off x="684213" y="4062413"/>
              <a:ext cx="4089400" cy="808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89" name="Line 19"/>
            <p:cNvSpPr>
              <a:spLocks noChangeShapeType="1"/>
            </p:cNvSpPr>
            <p:nvPr/>
          </p:nvSpPr>
          <p:spPr bwMode="auto">
            <a:xfrm>
              <a:off x="108743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0" name="Line 20"/>
            <p:cNvSpPr>
              <a:spLocks noChangeShapeType="1"/>
            </p:cNvSpPr>
            <p:nvPr/>
          </p:nvSpPr>
          <p:spPr bwMode="auto">
            <a:xfrm>
              <a:off x="2181225"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1" name="Line 21"/>
            <p:cNvSpPr>
              <a:spLocks noChangeShapeType="1"/>
            </p:cNvSpPr>
            <p:nvPr/>
          </p:nvSpPr>
          <p:spPr bwMode="auto">
            <a:xfrm>
              <a:off x="3276600"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2" name="Line 22"/>
            <p:cNvSpPr>
              <a:spLocks noChangeShapeType="1"/>
            </p:cNvSpPr>
            <p:nvPr/>
          </p:nvSpPr>
          <p:spPr bwMode="auto">
            <a:xfrm>
              <a:off x="4370388" y="3776663"/>
              <a:ext cx="0" cy="28733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3" name="Rectangle 23"/>
            <p:cNvSpPr>
              <a:spLocks noChangeArrowheads="1"/>
            </p:cNvSpPr>
            <p:nvPr/>
          </p:nvSpPr>
          <p:spPr bwMode="auto">
            <a:xfrm>
              <a:off x="1144588" y="5216525"/>
              <a:ext cx="3168650" cy="635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sp>
          <p:nvSpPr>
            <p:cNvPr id="28694" name="Text Box 24"/>
            <p:cNvSpPr txBox="1">
              <a:spLocks noChangeArrowheads="1"/>
            </p:cNvSpPr>
            <p:nvPr/>
          </p:nvSpPr>
          <p:spPr bwMode="auto">
            <a:xfrm>
              <a:off x="1117599" y="5387975"/>
              <a:ext cx="32132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DRAM MEMORY CONTROLLER</a:t>
              </a:r>
            </a:p>
          </p:txBody>
        </p:sp>
        <p:sp>
          <p:nvSpPr>
            <p:cNvPr id="28695" name="Line 25"/>
            <p:cNvSpPr>
              <a:spLocks noChangeShapeType="1"/>
            </p:cNvSpPr>
            <p:nvPr/>
          </p:nvSpPr>
          <p:spPr bwMode="auto">
            <a:xfrm>
              <a:off x="21812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6" name="Line 26"/>
            <p:cNvSpPr>
              <a:spLocks noChangeShapeType="1"/>
            </p:cNvSpPr>
            <p:nvPr/>
          </p:nvSpPr>
          <p:spPr bwMode="auto">
            <a:xfrm>
              <a:off x="328930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7" name="Line 27"/>
            <p:cNvSpPr>
              <a:spLocks noChangeShapeType="1"/>
            </p:cNvSpPr>
            <p:nvPr/>
          </p:nvSpPr>
          <p:spPr bwMode="auto">
            <a:xfrm>
              <a:off x="4197350"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8" name="Line 28"/>
            <p:cNvSpPr>
              <a:spLocks noChangeShapeType="1"/>
            </p:cNvSpPr>
            <p:nvPr/>
          </p:nvSpPr>
          <p:spPr bwMode="auto">
            <a:xfrm>
              <a:off x="1317625" y="4870450"/>
              <a:ext cx="0" cy="3460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srgbClr val="000000"/>
                </a:solidFill>
              </a:endParaRPr>
            </a:p>
          </p:txBody>
        </p:sp>
        <p:sp>
          <p:nvSpPr>
            <p:cNvPr id="28699" name="Rounded Rectangle 97"/>
            <p:cNvSpPr>
              <a:spLocks noChangeArrowheads="1"/>
            </p:cNvSpPr>
            <p:nvPr/>
          </p:nvSpPr>
          <p:spPr bwMode="auto">
            <a:xfrm>
              <a:off x="395288" y="2852738"/>
              <a:ext cx="4667250" cy="3111500"/>
            </a:xfrm>
            <a:prstGeom prst="roundRect">
              <a:avLst>
                <a:gd name="adj" fmla="val 16667"/>
              </a:avLst>
            </a:prstGeom>
            <a:noFill/>
            <a:ln w="25400">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381000" indent="-381000" algn="ctr">
                <a:spcBef>
                  <a:spcPct val="20000"/>
                </a:spcBef>
                <a:buFontTx/>
                <a:buChar char="•"/>
              </a:pPr>
              <a:endParaRPr lang="en-US" sz="2000">
                <a:solidFill>
                  <a:srgbClr val="000000"/>
                </a:solidFill>
              </a:endParaRPr>
            </a:p>
          </p:txBody>
        </p:sp>
        <p:sp>
          <p:nvSpPr>
            <p:cNvPr id="28700" name="Rectangle 56"/>
            <p:cNvSpPr>
              <a:spLocks noChangeArrowheads="1"/>
            </p:cNvSpPr>
            <p:nvPr/>
          </p:nvSpPr>
          <p:spPr bwMode="auto">
            <a:xfrm>
              <a:off x="1144588" y="5214938"/>
              <a:ext cx="3168650" cy="635000"/>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solidFill>
                  <a:srgbClr val="000000"/>
                </a:solidFill>
              </a:endParaRPr>
            </a:p>
          </p:txBody>
        </p:sp>
      </p:grpSp>
      <p:sp>
        <p:nvSpPr>
          <p:cNvPr id="28679" name="Text Box 14"/>
          <p:cNvSpPr txBox="1">
            <a:spLocks noChangeArrowheads="1"/>
          </p:cNvSpPr>
          <p:nvPr/>
        </p:nvSpPr>
        <p:spPr bwMode="auto">
          <a:xfrm>
            <a:off x="6283325" y="3919537"/>
            <a:ext cx="720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200">
                <a:solidFill>
                  <a:srgbClr val="000000"/>
                </a:solidFill>
              </a:rPr>
              <a:t>    L2 </a:t>
            </a:r>
          </a:p>
          <a:p>
            <a:pPr eaLnBrk="1" hangingPunct="1"/>
            <a:r>
              <a:rPr lang="en-US" sz="1200">
                <a:solidFill>
                  <a:srgbClr val="000000"/>
                </a:solidFill>
              </a:rPr>
              <a:t>CACHE</a:t>
            </a:r>
          </a:p>
        </p:txBody>
      </p:sp>
      <p:sp>
        <p:nvSpPr>
          <p:cNvPr id="2" name="文本框 1">
            <a:extLst>
              <a:ext uri="{FF2B5EF4-FFF2-40B4-BE49-F238E27FC236}">
                <a16:creationId xmlns:a16="http://schemas.microsoft.com/office/drawing/2014/main" id="{44A2D067-518C-49FD-9D89-BCEFEA3E9AB9}"/>
              </a:ext>
            </a:extLst>
          </p:cNvPr>
          <p:cNvSpPr txBox="1"/>
          <p:nvPr/>
        </p:nvSpPr>
        <p:spPr>
          <a:xfrm>
            <a:off x="826075" y="6096000"/>
            <a:ext cx="4128053" cy="461665"/>
          </a:xfrm>
          <a:prstGeom prst="rect">
            <a:avLst/>
          </a:prstGeom>
          <a:noFill/>
        </p:spPr>
        <p:txBody>
          <a:bodyPr wrap="none" rtlCol="0">
            <a:spAutoFit/>
          </a:bodyPr>
          <a:lstStyle/>
          <a:p>
            <a:r>
              <a:rPr lang="en-US" altLang="zh-CN" sz="2400" dirty="0">
                <a:solidFill>
                  <a:srgbClr val="FF0000"/>
                </a:solidFill>
                <a:latin typeface="微软雅黑" panose="020B0503020204020204" pitchFamily="34" charset="-122"/>
                <a:ea typeface="微软雅黑" panose="020B0503020204020204" pitchFamily="34" charset="-122"/>
              </a:rPr>
              <a:t>Q</a:t>
            </a:r>
            <a:r>
              <a:rPr lang="zh-CN" altLang="en-US" sz="2400" dirty="0">
                <a:solidFill>
                  <a:srgbClr val="FF0000"/>
                </a:solidFill>
                <a:latin typeface="微软雅黑" panose="020B0503020204020204" pitchFamily="34" charset="-122"/>
                <a:ea typeface="微软雅黑" panose="020B0503020204020204" pitchFamily="34" charset="-122"/>
              </a:rPr>
              <a:t>：你有写过多线程程序吗？</a:t>
            </a:r>
          </a:p>
        </p:txBody>
      </p:sp>
    </p:spTree>
    <p:extLst>
      <p:ext uri="{BB962C8B-B14F-4D97-AF65-F5344CB8AC3E}">
        <p14:creationId xmlns:p14="http://schemas.microsoft.com/office/powerpoint/2010/main" val="272234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228600" y="152400"/>
            <a:ext cx="8915400" cy="838200"/>
          </a:xfrm>
        </p:spPr>
        <p:txBody>
          <a:bodyPr/>
          <a:lstStyle/>
          <a:p>
            <a:r>
              <a:rPr lang="zh-CN" altLang="en-US" dirty="0">
                <a:cs typeface="ＭＳ Ｐゴシック" charset="0"/>
              </a:rPr>
              <a:t>资源共享及其优点</a:t>
            </a:r>
            <a:endParaRPr lang="en-US" dirty="0">
              <a:cs typeface="ＭＳ Ｐゴシック" charset="0"/>
            </a:endParaRPr>
          </a:p>
        </p:txBody>
      </p:sp>
      <p:sp>
        <p:nvSpPr>
          <p:cNvPr id="3" name="Content Placeholder 2"/>
          <p:cNvSpPr>
            <a:spLocks noGrp="1"/>
          </p:cNvSpPr>
          <p:nvPr>
            <p:ph idx="1"/>
          </p:nvPr>
        </p:nvSpPr>
        <p:spPr>
          <a:xfrm>
            <a:off x="457200" y="1066800"/>
            <a:ext cx="8229600" cy="5194300"/>
          </a:xfrm>
        </p:spPr>
        <p:txBody>
          <a:bodyPr/>
          <a:lstStyle/>
          <a:p>
            <a:pPr>
              <a:spcBef>
                <a:spcPts val="600"/>
              </a:spcBef>
              <a:spcAft>
                <a:spcPts val="600"/>
              </a:spcAft>
            </a:pPr>
            <a:r>
              <a:rPr lang="zh-CN" altLang="en-US" sz="2800" b="1" dirty="0">
                <a:solidFill>
                  <a:schemeClr val="tx1">
                    <a:lumMod val="95000"/>
                    <a:lumOff val="5000"/>
                  </a:schemeClr>
                </a:solidFill>
                <a:cs typeface="ＭＳ Ｐゴシック" charset="0"/>
              </a:rPr>
              <a:t>想法：</a:t>
            </a:r>
            <a:r>
              <a:rPr lang="zh-CN" altLang="en-US" sz="2800" dirty="0">
                <a:solidFill>
                  <a:schemeClr val="tx1">
                    <a:lumMod val="95000"/>
                    <a:lumOff val="5000"/>
                  </a:schemeClr>
                </a:solidFill>
                <a:cs typeface="ＭＳ Ｐゴシック" charset="0"/>
              </a:rPr>
              <a:t>让多个</a:t>
            </a:r>
            <a:r>
              <a:rPr lang="en-US" sz="2800" dirty="0">
                <a:solidFill>
                  <a:schemeClr val="tx1">
                    <a:lumMod val="95000"/>
                    <a:lumOff val="5000"/>
                  </a:schemeClr>
                </a:solidFill>
                <a:cs typeface="ＭＳ Ｐゴシック" charset="0"/>
              </a:rPr>
              <a:t>contexts</a:t>
            </a:r>
            <a:r>
              <a:rPr lang="zh-CN" altLang="en-US" sz="2800" dirty="0">
                <a:solidFill>
                  <a:schemeClr val="tx1">
                    <a:lumMod val="95000"/>
                    <a:lumOff val="5000"/>
                  </a:schemeClr>
                </a:solidFill>
                <a:cs typeface="ＭＳ Ｐゴシック" charset="0"/>
              </a:rPr>
              <a:t>共享硬件资源</a:t>
            </a:r>
            <a:endParaRPr lang="en-US" sz="2800" dirty="0">
              <a:solidFill>
                <a:schemeClr val="tx1">
                  <a:lumMod val="95000"/>
                  <a:lumOff val="5000"/>
                </a:schemeClr>
              </a:solidFill>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典型的硬件资源</a:t>
            </a:r>
            <a:r>
              <a:rPr lang="en-US" kern="1200" dirty="0">
                <a:cs typeface="Calibri" panose="020F0502020204030204" pitchFamily="34" charset="0"/>
              </a:rPr>
              <a:t>: functional units, pipeline, caches, buses, memory, etc.</a:t>
            </a:r>
          </a:p>
          <a:p>
            <a:pPr>
              <a:spcBef>
                <a:spcPts val="600"/>
              </a:spcBef>
              <a:spcAft>
                <a:spcPts val="600"/>
              </a:spcAft>
            </a:pPr>
            <a:r>
              <a:rPr lang="zh-CN" altLang="en-US" sz="2800" b="1" dirty="0">
                <a:cs typeface="ＭＳ Ｐゴシック" charset="0"/>
              </a:rPr>
              <a:t>资源共享的优点：</a:t>
            </a:r>
            <a:endParaRPr lang="en-US" sz="2800" b="1" dirty="0">
              <a:cs typeface="ＭＳ Ｐゴシック" charset="0"/>
            </a:endParaRPr>
          </a:p>
          <a:p>
            <a:pPr marL="539750" indent="-176213">
              <a:spcBef>
                <a:spcPts val="600"/>
              </a:spcBef>
              <a:spcAft>
                <a:spcPts val="600"/>
              </a:spcAft>
              <a:buFont typeface="Wingdings" charset="0"/>
              <a:buNone/>
            </a:pPr>
            <a:r>
              <a:rPr lang="en-US" sz="2400" dirty="0">
                <a:cs typeface="ＭＳ Ｐゴシック" charset="0"/>
              </a:rPr>
              <a:t>+ </a:t>
            </a:r>
            <a:r>
              <a:rPr lang="zh-CN" altLang="en-US" sz="2400" dirty="0">
                <a:cs typeface="ＭＳ Ｐゴシック" charset="0"/>
              </a:rPr>
              <a:t>可以提升资源的利用率和效率 </a:t>
            </a:r>
            <a:r>
              <a:rPr lang="en-US" sz="2400" dirty="0">
                <a:cs typeface="ＭＳ Ｐゴシック" charset="0"/>
                <a:sym typeface="Wingdings" charset="0"/>
              </a:rPr>
              <a:t> </a:t>
            </a:r>
            <a:r>
              <a:rPr lang="zh-CN" altLang="en-US" sz="2400" dirty="0">
                <a:cs typeface="ＭＳ Ｐゴシック" charset="0"/>
                <a:sym typeface="Wingdings" charset="0"/>
              </a:rPr>
              <a:t>更好的吞吐率</a:t>
            </a:r>
            <a:endParaRPr lang="en-US" sz="2400" dirty="0">
              <a:cs typeface="ＭＳ Ｐゴシック" charset="0"/>
            </a:endParaRPr>
          </a:p>
          <a:p>
            <a:pPr marL="892175" lvl="1" indent="-263525">
              <a:spcBef>
                <a:spcPts val="600"/>
              </a:spcBef>
              <a:spcAft>
                <a:spcPts val="600"/>
              </a:spcAft>
            </a:pPr>
            <a:r>
              <a:rPr lang="zh-CN" altLang="en-US" sz="2000" dirty="0"/>
              <a:t>一个线程不用某个资源时，另外一个线程可以使用；</a:t>
            </a:r>
            <a:endParaRPr lang="en-US" sz="2000" dirty="0"/>
          </a:p>
          <a:p>
            <a:pPr marL="892175" lvl="1" indent="-263525">
              <a:spcBef>
                <a:spcPts val="600"/>
              </a:spcBef>
              <a:spcAft>
                <a:spcPts val="600"/>
              </a:spcAft>
            </a:pPr>
            <a:r>
              <a:rPr lang="zh-CN" altLang="en-US" sz="2000" dirty="0"/>
              <a:t>减少资源的重复配置 或者 过量配置 </a:t>
            </a:r>
            <a:r>
              <a:rPr lang="en-US" altLang="zh-CN" sz="2000" dirty="0"/>
              <a:t>(</a:t>
            </a:r>
            <a:r>
              <a:rPr lang="zh-CN" altLang="en-US" sz="2000" dirty="0"/>
              <a:t>如：随处可见的共享单车</a:t>
            </a:r>
            <a:r>
              <a:rPr lang="en-US" altLang="zh-CN" sz="2000" dirty="0"/>
              <a:t>)</a:t>
            </a:r>
            <a:endParaRPr lang="en-US" sz="2000" dirty="0"/>
          </a:p>
          <a:p>
            <a:pPr marL="539750" indent="-176213">
              <a:spcBef>
                <a:spcPts val="600"/>
              </a:spcBef>
              <a:spcAft>
                <a:spcPts val="600"/>
              </a:spcAft>
              <a:buNone/>
            </a:pPr>
            <a:r>
              <a:rPr lang="en-US" sz="2400" dirty="0">
                <a:cs typeface="ＭＳ Ｐゴシック" charset="0"/>
              </a:rPr>
              <a:t>+ </a:t>
            </a:r>
            <a:r>
              <a:rPr lang="zh-CN" altLang="en-US" sz="2400" dirty="0">
                <a:cs typeface="ＭＳ Ｐゴシック" charset="0"/>
              </a:rPr>
              <a:t>减少线程间的通信延迟</a:t>
            </a:r>
            <a:endParaRPr lang="en-US" sz="2400" dirty="0">
              <a:cs typeface="ＭＳ Ｐゴシック" charset="0"/>
            </a:endParaRPr>
          </a:p>
          <a:p>
            <a:pPr marL="892175" lvl="1" indent="-263525">
              <a:spcBef>
                <a:spcPts val="600"/>
              </a:spcBef>
              <a:spcAft>
                <a:spcPts val="600"/>
              </a:spcAft>
            </a:pPr>
            <a:r>
              <a:rPr lang="zh-CN" altLang="en-US" sz="2000" dirty="0"/>
              <a:t>例如，多个线程所访问的共享数据可以放在缓存中</a:t>
            </a:r>
            <a:endParaRPr lang="en-US" sz="2000" dirty="0"/>
          </a:p>
          <a:p>
            <a:pPr marL="539750" indent="-176213">
              <a:spcBef>
                <a:spcPts val="600"/>
              </a:spcBef>
              <a:spcAft>
                <a:spcPts val="600"/>
              </a:spcAft>
              <a:buNone/>
            </a:pPr>
            <a:r>
              <a:rPr lang="en-US" sz="2400" dirty="0">
                <a:cs typeface="ＭＳ Ｐゴシック" charset="0"/>
              </a:rPr>
              <a:t>+ </a:t>
            </a:r>
            <a:r>
              <a:rPr lang="zh-CN" altLang="en-US" sz="2400" dirty="0">
                <a:cs typeface="ＭＳ Ｐゴシック" charset="0"/>
              </a:rPr>
              <a:t>与共享存储器模型 </a:t>
            </a:r>
            <a:r>
              <a:rPr lang="en-US" altLang="zh-CN" sz="2400" dirty="0">
                <a:cs typeface="ＭＳ Ｐゴシック" charset="0"/>
              </a:rPr>
              <a:t>(</a:t>
            </a:r>
            <a:r>
              <a:rPr lang="en-US" altLang="zh-CN" sz="2400" dirty="0">
                <a:solidFill>
                  <a:srgbClr val="FF0000"/>
                </a:solidFill>
                <a:cs typeface="ＭＳ Ｐゴシック" charset="0"/>
              </a:rPr>
              <a:t>S</a:t>
            </a:r>
            <a:r>
              <a:rPr lang="en-US" sz="2400" dirty="0">
                <a:solidFill>
                  <a:srgbClr val="FF0000"/>
                </a:solidFill>
                <a:cs typeface="ＭＳ Ｐゴシック" charset="0"/>
              </a:rPr>
              <a:t>hared Memory Model</a:t>
            </a:r>
            <a:r>
              <a:rPr lang="en-US" sz="2400" dirty="0">
                <a:cs typeface="ＭＳ Ｐゴシック" charset="0"/>
              </a:rPr>
              <a:t>) </a:t>
            </a:r>
            <a:r>
              <a:rPr lang="zh-CN" altLang="en-US" sz="2400" dirty="0">
                <a:cs typeface="ＭＳ Ｐゴシック" charset="0"/>
              </a:rPr>
              <a:t>兼容</a:t>
            </a:r>
            <a:endParaRPr lang="en-US" sz="2400" dirty="0">
              <a:cs typeface="ＭＳ Ｐゴシック" charset="0"/>
            </a:endParaRPr>
          </a:p>
          <a:p>
            <a:pPr>
              <a:spcBef>
                <a:spcPts val="600"/>
              </a:spcBef>
              <a:spcAft>
                <a:spcPts val="600"/>
              </a:spcAft>
            </a:pPr>
            <a:endParaRPr lang="en-US" dirty="0">
              <a:cs typeface="ＭＳ Ｐゴシック" charset="0"/>
            </a:endParaRPr>
          </a:p>
          <a:p>
            <a:pPr>
              <a:spcBef>
                <a:spcPts val="600"/>
              </a:spcBef>
              <a:spcAft>
                <a:spcPts val="600"/>
              </a:spcAft>
            </a:pPr>
            <a:endParaRPr lang="en-US" dirty="0">
              <a:cs typeface="ＭＳ Ｐゴシック" charset="0"/>
            </a:endParaRPr>
          </a:p>
          <a:p>
            <a:pPr>
              <a:spcBef>
                <a:spcPts val="600"/>
              </a:spcBef>
              <a:spcAft>
                <a:spcPts val="600"/>
              </a:spcAft>
            </a:pPr>
            <a:endParaRPr lang="en-US" dirty="0">
              <a:cs typeface="ＭＳ Ｐゴシック" charset="0"/>
            </a:endParaRP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49</a:t>
            </a:fld>
            <a:endParaRPr lang="en-US" altLang="zh-CN"/>
          </a:p>
        </p:txBody>
      </p:sp>
    </p:spTree>
    <p:extLst>
      <p:ext uri="{BB962C8B-B14F-4D97-AF65-F5344CB8AC3E}">
        <p14:creationId xmlns:p14="http://schemas.microsoft.com/office/powerpoint/2010/main" val="13352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3190"/>
            <a:ext cx="8229600" cy="5672410"/>
          </a:xfrm>
        </p:spPr>
        <p:txBody>
          <a:bodyPr/>
          <a:lstStyle/>
          <a:p>
            <a:pPr>
              <a:spcBef>
                <a:spcPts val="0"/>
              </a:spcBef>
              <a:spcAft>
                <a:spcPts val="600"/>
              </a:spcAft>
            </a:pPr>
            <a:r>
              <a:rPr lang="zh-CN" altLang="en-US" sz="2800" dirty="0">
                <a:cs typeface="ＭＳ Ｐゴシック" charset="0"/>
              </a:rPr>
              <a:t>资源共享可能会造成资源冲突  </a:t>
            </a:r>
            <a:r>
              <a:rPr lang="en-US" altLang="zh-CN" sz="2800" dirty="0">
                <a:cs typeface="ＭＳ Ｐゴシック" charset="0"/>
              </a:rPr>
              <a:t>(</a:t>
            </a:r>
            <a:r>
              <a:rPr lang="zh-CN" altLang="en-US" sz="2800" dirty="0">
                <a:cs typeface="ＭＳ Ｐゴシック" charset="0"/>
              </a:rPr>
              <a:t>如：共享单车）</a:t>
            </a:r>
            <a:endParaRPr lang="en-US" sz="2800" dirty="0">
              <a:solidFill>
                <a:srgbClr val="0000FF"/>
              </a:solidFill>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当一个共享的资源被占据时，其它线程无法使用该资源；</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没有一个合理的资源分配机制，可能会导致不公平。</a:t>
            </a:r>
            <a:endParaRPr lang="en-US" kern="1200" dirty="0">
              <a:cs typeface="Calibri" panose="020F0502020204030204" pitchFamily="34" charset="0"/>
            </a:endParaRPr>
          </a:p>
          <a:p>
            <a:pPr>
              <a:spcBef>
                <a:spcPts val="0"/>
              </a:spcBef>
              <a:spcAft>
                <a:spcPts val="600"/>
              </a:spcAft>
            </a:pPr>
            <a:r>
              <a:rPr lang="zh-CN" altLang="en-US" dirty="0">
                <a:cs typeface="ＭＳ Ｐゴシック" charset="0"/>
              </a:rPr>
              <a:t>所以，共享有可能</a:t>
            </a:r>
            <a:r>
              <a:rPr lang="zh-CN" altLang="en-US" sz="2800" dirty="0">
                <a:cs typeface="ＭＳ Ｐゴシック" charset="0"/>
              </a:rPr>
              <a:t>会降低线程的性能</a:t>
            </a:r>
            <a:endParaRPr lang="en-US" altLang="ja-JP"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与单独运行的场景相比，所获得的性能较差。</a:t>
            </a:r>
            <a:r>
              <a:rPr lang="en-US" kern="1200" dirty="0">
                <a:cs typeface="Calibri" panose="020F0502020204030204" pitchFamily="34" charset="0"/>
              </a:rPr>
              <a:t>  </a:t>
            </a:r>
          </a:p>
          <a:p>
            <a:pPr>
              <a:spcBef>
                <a:spcPts val="0"/>
              </a:spcBef>
              <a:spcAft>
                <a:spcPts val="600"/>
              </a:spcAft>
            </a:pPr>
            <a:r>
              <a:rPr lang="zh-CN" altLang="en-US" sz="2800" dirty="0">
                <a:cs typeface="ＭＳ Ｐゴシック" charset="0"/>
              </a:rPr>
              <a:t>消除了性能隔离 </a:t>
            </a:r>
            <a:r>
              <a:rPr lang="en-US" sz="2800" dirty="0">
                <a:cs typeface="ＭＳ Ｐゴシック" charset="0"/>
                <a:sym typeface="Wingdings" charset="0"/>
              </a:rPr>
              <a:t></a:t>
            </a:r>
            <a:r>
              <a:rPr lang="en-US" sz="2800" b="1" dirty="0">
                <a:cs typeface="ＭＳ Ｐゴシック" charset="0"/>
                <a:sym typeface="Wingdings" charset="0"/>
              </a:rPr>
              <a:t> </a:t>
            </a:r>
            <a:r>
              <a:rPr lang="zh-CN" altLang="en-US" sz="2800" dirty="0">
                <a:solidFill>
                  <a:schemeClr val="tx1">
                    <a:lumMod val="95000"/>
                    <a:lumOff val="5000"/>
                  </a:schemeClr>
                </a:solidFill>
                <a:cs typeface="ＭＳ Ｐゴシック" charset="0"/>
                <a:sym typeface="Wingdings" charset="0"/>
              </a:rPr>
              <a:t>程序多次运行所获得的性能不一致</a:t>
            </a:r>
            <a:r>
              <a:rPr lang="zh-CN" altLang="en-US" dirty="0">
                <a:solidFill>
                  <a:schemeClr val="tx1">
                    <a:lumMod val="95000"/>
                    <a:lumOff val="5000"/>
                  </a:schemeClr>
                </a:solidFill>
                <a:cs typeface="ＭＳ Ｐゴシック" charset="0"/>
                <a:sym typeface="Wingdings" charset="0"/>
              </a:rPr>
              <a:t>。</a:t>
            </a:r>
            <a:endParaRPr lang="en-US" dirty="0">
              <a:solidFill>
                <a:schemeClr val="tx1">
                  <a:lumMod val="95000"/>
                  <a:lumOff val="5000"/>
                </a:schemeClr>
              </a:solidFill>
              <a:cs typeface="ＭＳ Ｐゴシック" charset="0"/>
              <a:sym typeface="Wingdings"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线程性能与共同运行的线程 </a:t>
            </a:r>
            <a:r>
              <a:rPr lang="en-US" altLang="zh-CN" kern="1200" dirty="0">
                <a:cs typeface="Calibri" panose="020F0502020204030204" pitchFamily="34" charset="0"/>
              </a:rPr>
              <a:t>(co-</a:t>
            </a:r>
            <a:r>
              <a:rPr lang="en-US" altLang="zh-CN" kern="1200" dirty="0" err="1">
                <a:cs typeface="Calibri" panose="020F0502020204030204" pitchFamily="34" charset="0"/>
              </a:rPr>
              <a:t>runnner</a:t>
            </a:r>
            <a:r>
              <a:rPr lang="en-US" altLang="zh-CN" kern="1200" dirty="0">
                <a:cs typeface="Calibri" panose="020F0502020204030204" pitchFamily="34" charset="0"/>
              </a:rPr>
              <a:t>) </a:t>
            </a:r>
            <a:r>
              <a:rPr lang="zh-CN" altLang="en-US" kern="1200" dirty="0">
                <a:cs typeface="Calibri" panose="020F0502020204030204" pitchFamily="34" charset="0"/>
              </a:rPr>
              <a:t>特性相关</a:t>
            </a:r>
            <a:endParaRPr lang="en-US" kern="1200" dirty="0">
              <a:cs typeface="Calibri" panose="020F0502020204030204" pitchFamily="34" charset="0"/>
            </a:endParaRPr>
          </a:p>
          <a:p>
            <a:pPr>
              <a:spcBef>
                <a:spcPts val="0"/>
              </a:spcBef>
              <a:spcAft>
                <a:spcPts val="600"/>
              </a:spcAft>
            </a:pPr>
            <a:r>
              <a:rPr lang="zh-CN" altLang="en-US" sz="2800" dirty="0">
                <a:cs typeface="ＭＳ Ｐゴシック" charset="0"/>
              </a:rPr>
              <a:t>没有控制的共享会损害</a:t>
            </a:r>
            <a:r>
              <a:rPr lang="en-US" sz="2800" dirty="0" err="1">
                <a:cs typeface="ＭＳ Ｐゴシック" charset="0"/>
              </a:rPr>
              <a:t>QoS</a:t>
            </a:r>
            <a:r>
              <a:rPr lang="zh-CN" altLang="en-US" dirty="0">
                <a:cs typeface="ＭＳ Ｐゴシック" charset="0"/>
              </a:rPr>
              <a:t>（服务质量）</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造成不公平，甚至饥饿；</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可能带来资源和能耗的浪费；</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solidFill>
                  <a:srgbClr val="FF0000"/>
                </a:solidFill>
                <a:cs typeface="Calibri" panose="020F0502020204030204" pitchFamily="34" charset="0"/>
              </a:rPr>
              <a:t>这里所描述的问题，对当今的数据中心非常重要。</a:t>
            </a:r>
            <a:endParaRPr lang="en-US" kern="1200" dirty="0">
              <a:solidFill>
                <a:srgbClr val="FF0000"/>
              </a:solidFill>
              <a:cs typeface="Calibri" panose="020F0502020204030204" pitchFamily="34" charset="0"/>
            </a:endParaRP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50</a:t>
            </a:fld>
            <a:endParaRPr lang="en-US" altLang="zh-CN"/>
          </a:p>
        </p:txBody>
      </p:sp>
      <p:sp>
        <p:nvSpPr>
          <p:cNvPr id="7" name="Title 1">
            <a:extLst>
              <a:ext uri="{FF2B5EF4-FFF2-40B4-BE49-F238E27FC236}">
                <a16:creationId xmlns:a16="http://schemas.microsoft.com/office/drawing/2014/main" id="{287747B8-CCEF-4E4E-86FD-748D91B8B71F}"/>
              </a:ext>
            </a:extLst>
          </p:cNvPr>
          <p:cNvSpPr txBox="1">
            <a:spLocks/>
          </p:cNvSpPr>
          <p:nvPr/>
        </p:nvSpPr>
        <p:spPr bwMode="auto">
          <a:xfrm>
            <a:off x="228600" y="152400"/>
            <a:ext cx="8915400" cy="838200"/>
          </a:xfrm>
          <a:prstGeom prst="rect">
            <a:avLst/>
          </a:prstGeom>
          <a:noFill/>
          <a:ln>
            <a:noFill/>
          </a:ln>
        </p:spPr>
        <p:txBody>
          <a:bodyPr vert="horz" wrap="square" lIns="91440" tIns="45720" rIns="91440" bIns="45720" numCol="1" anchor="ctr" anchorCtr="0" compatLnSpc="1"/>
          <a:lstStyle>
            <a:lvl1pPr algn="ctr" rtl="0" eaLnBrk="1" fontAlgn="base" hangingPunct="1">
              <a:spcBef>
                <a:spcPct val="0"/>
              </a:spcBef>
              <a:spcAft>
                <a:spcPct val="0"/>
              </a:spcAft>
              <a:defRPr sz="3600">
                <a:solidFill>
                  <a:srgbClr val="336699"/>
                </a:solidFill>
                <a:latin typeface="微软雅黑" panose="020B0503020204020204" pitchFamily="34" charset="-122"/>
                <a:ea typeface="微软雅黑" panose="020B0503020204020204" pitchFamily="34" charset="-122"/>
                <a:cs typeface="+mj-cs"/>
              </a:defRPr>
            </a:lvl1pPr>
            <a:lvl2pPr algn="ctr" rtl="0" eaLnBrk="1" fontAlgn="base" hangingPunct="1">
              <a:spcBef>
                <a:spcPct val="0"/>
              </a:spcBef>
              <a:spcAft>
                <a:spcPct val="0"/>
              </a:spcAft>
              <a:defRPr sz="4400">
                <a:solidFill>
                  <a:srgbClr val="336699"/>
                </a:solidFill>
                <a:latin typeface="Arial" panose="020B0604020202020204" pitchFamily="34" charset="0"/>
              </a:defRPr>
            </a:lvl2pPr>
            <a:lvl3pPr algn="ctr" rtl="0" eaLnBrk="1" fontAlgn="base" hangingPunct="1">
              <a:spcBef>
                <a:spcPct val="0"/>
              </a:spcBef>
              <a:spcAft>
                <a:spcPct val="0"/>
              </a:spcAft>
              <a:defRPr sz="4400">
                <a:solidFill>
                  <a:srgbClr val="336699"/>
                </a:solidFill>
                <a:latin typeface="Arial" panose="020B0604020202020204" pitchFamily="34" charset="0"/>
              </a:defRPr>
            </a:lvl3pPr>
            <a:lvl4pPr algn="ctr" rtl="0" eaLnBrk="1" fontAlgn="base" hangingPunct="1">
              <a:spcBef>
                <a:spcPct val="0"/>
              </a:spcBef>
              <a:spcAft>
                <a:spcPct val="0"/>
              </a:spcAft>
              <a:defRPr sz="4400">
                <a:solidFill>
                  <a:srgbClr val="336699"/>
                </a:solidFill>
                <a:latin typeface="Arial" panose="020B0604020202020204" pitchFamily="34" charset="0"/>
              </a:defRPr>
            </a:lvl4pPr>
            <a:lvl5pPr algn="ctr" rtl="0" eaLnBrk="1" fontAlgn="base" hangingPunct="1">
              <a:spcBef>
                <a:spcPct val="0"/>
              </a:spcBef>
              <a:spcAft>
                <a:spcPct val="0"/>
              </a:spcAft>
              <a:defRPr sz="4400">
                <a:solidFill>
                  <a:srgbClr val="336699"/>
                </a:solidFill>
                <a:latin typeface="Arial" panose="020B0604020202020204" pitchFamily="34" charset="0"/>
              </a:defRPr>
            </a:lvl5pPr>
            <a:lvl6pPr marL="457200" algn="ctr" rtl="0" eaLnBrk="1" fontAlgn="base" hangingPunct="1">
              <a:spcBef>
                <a:spcPct val="0"/>
              </a:spcBef>
              <a:spcAft>
                <a:spcPct val="0"/>
              </a:spcAft>
              <a:defRPr sz="4400">
                <a:solidFill>
                  <a:srgbClr val="336699"/>
                </a:solidFill>
                <a:latin typeface="Arial" panose="020B0604020202020204" pitchFamily="34" charset="0"/>
              </a:defRPr>
            </a:lvl6pPr>
            <a:lvl7pPr marL="914400" algn="ctr" rtl="0" eaLnBrk="1" fontAlgn="base" hangingPunct="1">
              <a:spcBef>
                <a:spcPct val="0"/>
              </a:spcBef>
              <a:spcAft>
                <a:spcPct val="0"/>
              </a:spcAft>
              <a:defRPr sz="4400">
                <a:solidFill>
                  <a:srgbClr val="336699"/>
                </a:solidFill>
                <a:latin typeface="Arial" panose="020B0604020202020204" pitchFamily="34" charset="0"/>
              </a:defRPr>
            </a:lvl7pPr>
            <a:lvl8pPr marL="1371600" algn="ctr" rtl="0" eaLnBrk="1" fontAlgn="base" hangingPunct="1">
              <a:spcBef>
                <a:spcPct val="0"/>
              </a:spcBef>
              <a:spcAft>
                <a:spcPct val="0"/>
              </a:spcAft>
              <a:defRPr sz="4400">
                <a:solidFill>
                  <a:srgbClr val="336699"/>
                </a:solidFill>
                <a:latin typeface="Arial" panose="020B0604020202020204" pitchFamily="34" charset="0"/>
              </a:defRPr>
            </a:lvl8pPr>
            <a:lvl9pPr marL="1828800" algn="ctr" rtl="0" eaLnBrk="1" fontAlgn="base" hangingPunct="1">
              <a:spcBef>
                <a:spcPct val="0"/>
              </a:spcBef>
              <a:spcAft>
                <a:spcPct val="0"/>
              </a:spcAft>
              <a:defRPr sz="4400">
                <a:solidFill>
                  <a:srgbClr val="336699"/>
                </a:solidFill>
                <a:latin typeface="Arial" panose="020B0604020202020204" pitchFamily="34" charset="0"/>
              </a:defRPr>
            </a:lvl9pPr>
          </a:lstStyle>
          <a:p>
            <a:r>
              <a:rPr lang="zh-CN" altLang="en-US" kern="0" dirty="0">
                <a:cs typeface="ＭＳ Ｐゴシック" charset="0"/>
              </a:rPr>
              <a:t>资源共享的缺点</a:t>
            </a:r>
            <a:endParaRPr lang="en-US" kern="0" dirty="0">
              <a:cs typeface="ＭＳ Ｐゴシック" charset="0"/>
            </a:endParaRPr>
          </a:p>
        </p:txBody>
      </p:sp>
    </p:spTree>
    <p:extLst>
      <p:ext uri="{BB962C8B-B14F-4D97-AF65-F5344CB8AC3E}">
        <p14:creationId xmlns:p14="http://schemas.microsoft.com/office/powerpoint/2010/main" val="24546051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28600" y="234280"/>
            <a:ext cx="8686800" cy="756320"/>
          </a:xfrm>
        </p:spPr>
        <p:txBody>
          <a:bodyPr/>
          <a:lstStyle/>
          <a:p>
            <a:r>
              <a:rPr lang="zh-CN" altLang="en-US" dirty="0">
                <a:latin typeface="+mj-lt"/>
              </a:rPr>
              <a:t>多核系统中的共享资源</a:t>
            </a:r>
            <a:endParaRPr lang="en-US" dirty="0">
              <a:latin typeface="+mj-lt"/>
            </a:endParaRPr>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51</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
        <p:nvSpPr>
          <p:cNvPr id="20486" name="TextBox 5"/>
          <p:cNvSpPr txBox="1">
            <a:spLocks noChangeArrowheads="1"/>
          </p:cNvSpPr>
          <p:nvPr/>
        </p:nvSpPr>
        <p:spPr bwMode="auto">
          <a:xfrm>
            <a:off x="688678" y="1108075"/>
            <a:ext cx="2286000" cy="533400"/>
          </a:xfrm>
          <a:prstGeom prst="rect">
            <a:avLst/>
          </a:prstGeom>
          <a:solidFill>
            <a:schemeClr val="bg1"/>
          </a:solidFill>
          <a:ln w="9525">
            <a:noFill/>
            <a:miter lim="800000"/>
            <a:headEnd/>
            <a:tailEnd/>
          </a:ln>
        </p:spPr>
        <p:txBody>
          <a:bodyPr>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ＭＳ Ｐゴシック" pitchFamily="34" charset="-128"/>
              <a:cs typeface="+mn-cs"/>
            </a:endParaRPr>
          </a:p>
        </p:txBody>
      </p:sp>
      <p:pic>
        <p:nvPicPr>
          <p:cNvPr id="7" name="Picture 6" descr="many-core3.eps"/>
          <p:cNvPicPr>
            <a:picLocks noChangeAspect="1"/>
          </p:cNvPicPr>
          <p:nvPr/>
        </p:nvPicPr>
        <p:blipFill>
          <a:blip r:embed="rId3"/>
          <a:srcRect/>
          <a:stretch>
            <a:fillRect/>
          </a:stretch>
        </p:blipFill>
        <p:spPr bwMode="auto">
          <a:xfrm>
            <a:off x="161925" y="1066800"/>
            <a:ext cx="6146800" cy="4953000"/>
          </a:xfrm>
          <a:prstGeom prst="rect">
            <a:avLst/>
          </a:prstGeom>
          <a:noFill/>
          <a:ln w="9525">
            <a:noFill/>
            <a:miter lim="800000"/>
            <a:headEnd/>
            <a:tailEnd/>
          </a:ln>
        </p:spPr>
      </p:pic>
      <p:pic>
        <p:nvPicPr>
          <p:cNvPr id="8" name="Picture 23" descr="http://i.ehow.com/images/a04/ac/qb/format-hard-drive-xp-800X80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1325" y="2676525"/>
            <a:ext cx="212407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Line 21"/>
          <p:cNvSpPr>
            <a:spLocks noChangeShapeType="1"/>
          </p:cNvSpPr>
          <p:nvPr/>
        </p:nvSpPr>
        <p:spPr bwMode="auto">
          <a:xfrm>
            <a:off x="6308725" y="3470304"/>
            <a:ext cx="1044575" cy="0"/>
          </a:xfrm>
          <a:prstGeom prst="line">
            <a:avLst/>
          </a:prstGeom>
          <a:noFill/>
          <a:ln w="38100">
            <a:solidFill>
              <a:srgbClr val="993300"/>
            </a:solidFill>
            <a:round/>
            <a:headEnd type="triangle" w="med" len="med"/>
            <a:tailEnd type="triangle" w="med" len="med"/>
          </a:ln>
          <a:effectLst/>
        </p:spPr>
        <p:txBody>
          <a:bodyPr wrap="none" lIns="64008" tIns="32004" rIns="64008" bIns="32004"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Arial" pitchFamily="-107" charset="0"/>
              <a:ea typeface="Arial" pitchFamily="-107" charset="0"/>
              <a:cs typeface="Arial" pitchFamily="-107" charset="0"/>
            </a:endParaRPr>
          </a:p>
        </p:txBody>
      </p:sp>
      <p:sp>
        <p:nvSpPr>
          <p:cNvPr id="10" name="Text Box 24" descr="90%"/>
          <p:cNvSpPr txBox="1">
            <a:spLocks noChangeArrowheads="1"/>
          </p:cNvSpPr>
          <p:nvPr/>
        </p:nvSpPr>
        <p:spPr bwMode="auto">
          <a:xfrm>
            <a:off x="7028405" y="4396607"/>
            <a:ext cx="981744" cy="618631"/>
          </a:xfrm>
          <a:prstGeom prst="rect">
            <a:avLst/>
          </a:prstGeom>
          <a:noFill/>
          <a:ln w="12700">
            <a:noFill/>
            <a:miter lim="800000"/>
            <a:headEnd/>
            <a:tailEnd/>
          </a:ln>
          <a:effectLst/>
        </p:spPr>
        <p:txBody>
          <a:bodyPr wrap="none" lIns="64008" tIns="32004" rIns="64008" bIns="32004">
            <a:spAutoFit/>
          </a:bodyPr>
          <a:lstStyle>
            <a:lvl1pPr eaLnBrk="0" hangingPunct="0">
              <a:defRPr sz="2400">
                <a:solidFill>
                  <a:schemeClr val="tx1"/>
                </a:solidFill>
                <a:latin typeface="Arial" charset="0"/>
                <a:ea typeface="ＭＳ Ｐゴシック" charset="0"/>
                <a:cs typeface="Arial" charset="0"/>
              </a:defRPr>
            </a:lvl1pPr>
            <a:lvl2pPr marL="37931725" indent="-37474525" eaLnBrk="0" hangingPunct="0">
              <a:defRPr sz="2400">
                <a:solidFill>
                  <a:schemeClr val="tx1"/>
                </a:solidFill>
                <a:latin typeface="Arial" charset="0"/>
                <a:ea typeface="Arial" charset="0"/>
                <a:cs typeface="Arial" charset="0"/>
              </a:defRPr>
            </a:lvl2pPr>
            <a:lvl3pPr eaLnBrk="0" hangingPunct="0">
              <a:defRPr sz="2400">
                <a:solidFill>
                  <a:schemeClr val="tx1"/>
                </a:solidFill>
                <a:latin typeface="Arial" charset="0"/>
                <a:ea typeface="Arial" charset="0"/>
                <a:cs typeface="Arial" charset="0"/>
              </a:defRPr>
            </a:lvl3pPr>
            <a:lvl4pPr eaLnBrk="0" hangingPunct="0">
              <a:defRPr sz="2400">
                <a:solidFill>
                  <a:schemeClr val="tx1"/>
                </a:solidFill>
                <a:latin typeface="Arial" charset="0"/>
                <a:ea typeface="Arial" charset="0"/>
                <a:cs typeface="Arial" charset="0"/>
              </a:defRPr>
            </a:lvl4pPr>
            <a:lvl5pPr eaLnBrk="0" hangingPunct="0">
              <a:defRPr sz="2400">
                <a:solidFill>
                  <a:schemeClr val="tx1"/>
                </a:solidFill>
                <a:latin typeface="Arial" charset="0"/>
                <a:ea typeface="Arial" charset="0"/>
                <a:cs typeface="Arial" charset="0"/>
              </a:defRPr>
            </a:lvl5pPr>
            <a:lvl6pPr marL="457200" eaLnBrk="0" fontAlgn="base" hangingPunct="0">
              <a:spcBef>
                <a:spcPct val="0"/>
              </a:spcBef>
              <a:spcAft>
                <a:spcPct val="0"/>
              </a:spcAft>
              <a:defRPr sz="2400">
                <a:solidFill>
                  <a:schemeClr val="tx1"/>
                </a:solidFill>
                <a:latin typeface="Arial" charset="0"/>
                <a:ea typeface="Arial" charset="0"/>
                <a:cs typeface="Arial" charset="0"/>
              </a:defRPr>
            </a:lvl6pPr>
            <a:lvl7pPr marL="914400" eaLnBrk="0" fontAlgn="base" hangingPunct="0">
              <a:spcBef>
                <a:spcPct val="0"/>
              </a:spcBef>
              <a:spcAft>
                <a:spcPct val="0"/>
              </a:spcAft>
              <a:defRPr sz="2400">
                <a:solidFill>
                  <a:schemeClr val="tx1"/>
                </a:solidFill>
                <a:latin typeface="Arial" charset="0"/>
                <a:ea typeface="Arial" charset="0"/>
                <a:cs typeface="Arial" charset="0"/>
              </a:defRPr>
            </a:lvl7pPr>
            <a:lvl8pPr marL="1371600" eaLnBrk="0" fontAlgn="base" hangingPunct="0">
              <a:spcBef>
                <a:spcPct val="0"/>
              </a:spcBef>
              <a:spcAft>
                <a:spcPct val="0"/>
              </a:spcAft>
              <a:defRPr sz="2400">
                <a:solidFill>
                  <a:schemeClr val="tx1"/>
                </a:solidFill>
                <a:latin typeface="Arial" charset="0"/>
                <a:ea typeface="Arial" charset="0"/>
                <a:cs typeface="Arial" charset="0"/>
              </a:defRPr>
            </a:lvl8pPr>
            <a:lvl9pPr marL="1828800" eaLnBrk="0" fontAlgn="base" hangingPunct="0">
              <a:spcBef>
                <a:spcPct val="0"/>
              </a:spcBef>
              <a:spcAft>
                <a:spcPct val="0"/>
              </a:spcAft>
              <a:defRPr sz="2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charset="0"/>
              </a:rPr>
              <a:t>Shared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Arial" charset="0"/>
              </a:rPr>
              <a:t>Storage</a:t>
            </a:r>
          </a:p>
        </p:txBody>
      </p:sp>
    </p:spTree>
    <p:extLst>
      <p:ext uri="{BB962C8B-B14F-4D97-AF65-F5344CB8AC3E}">
        <p14:creationId xmlns:p14="http://schemas.microsoft.com/office/powerpoint/2010/main" val="42246302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457200" y="152400"/>
            <a:ext cx="8229600" cy="715962"/>
          </a:xfrm>
        </p:spPr>
        <p:txBody>
          <a:bodyPr/>
          <a:lstStyle/>
          <a:p>
            <a:r>
              <a:rPr lang="zh-CN" altLang="en-US" dirty="0"/>
              <a:t>多核系统中的共享资源</a:t>
            </a:r>
            <a:endParaRPr lang="en-US" dirty="0">
              <a:cs typeface="ＭＳ Ｐゴシック" charset="0"/>
            </a:endParaRPr>
          </a:p>
        </p:txBody>
      </p:sp>
      <p:sp>
        <p:nvSpPr>
          <p:cNvPr id="26626" name="Content Placeholder 2"/>
          <p:cNvSpPr>
            <a:spLocks noGrp="1"/>
          </p:cNvSpPr>
          <p:nvPr>
            <p:ph idx="1"/>
          </p:nvPr>
        </p:nvSpPr>
        <p:spPr>
          <a:xfrm>
            <a:off x="457200" y="1082080"/>
            <a:ext cx="8229600" cy="5471120"/>
          </a:xfrm>
        </p:spPr>
        <p:txBody>
          <a:bodyPr/>
          <a:lstStyle/>
          <a:p>
            <a:pPr>
              <a:spcBef>
                <a:spcPts val="0"/>
              </a:spcBef>
              <a:spcAft>
                <a:spcPts val="600"/>
              </a:spcAft>
            </a:pPr>
            <a:r>
              <a:rPr lang="en-US" sz="2800" dirty="0">
                <a:cs typeface="ＭＳ Ｐゴシック" charset="0"/>
              </a:rPr>
              <a:t>Memory subsystem (</a:t>
            </a:r>
            <a:r>
              <a:rPr lang="zh-CN" altLang="en-US" sz="2800" dirty="0">
                <a:cs typeface="ＭＳ Ｐゴシック" charset="0"/>
              </a:rPr>
              <a:t>多线程和多核系统</a:t>
            </a:r>
            <a:r>
              <a:rPr lang="en-US" sz="2800" dirty="0">
                <a:cs typeface="ＭＳ Ｐゴシック" charset="0"/>
              </a:rPr>
              <a:t>)</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Non-private caches</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Interconnects</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Memory controllers, buses, banks</a:t>
            </a:r>
          </a:p>
          <a:p>
            <a:pPr>
              <a:spcBef>
                <a:spcPts val="0"/>
              </a:spcBef>
              <a:spcAft>
                <a:spcPts val="600"/>
              </a:spcAft>
            </a:pPr>
            <a:r>
              <a:rPr lang="en-US" sz="2800" dirty="0">
                <a:cs typeface="ＭＳ Ｐゴシック" charset="0"/>
              </a:rPr>
              <a:t>I/O subsystem (</a:t>
            </a:r>
            <a:r>
              <a:rPr lang="zh-CN" altLang="en-US" sz="2800" dirty="0">
                <a:cs typeface="ＭＳ Ｐゴシック" charset="0"/>
              </a:rPr>
              <a:t>多线程和多核系统</a:t>
            </a:r>
            <a:r>
              <a:rPr lang="en-US" sz="2800" dirty="0">
                <a:cs typeface="ＭＳ Ｐゴシック" charset="0"/>
              </a:rPr>
              <a:t>)</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I/O, DMA controllers</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Ethernet controllers</a:t>
            </a:r>
          </a:p>
          <a:p>
            <a:pPr>
              <a:spcBef>
                <a:spcPts val="0"/>
              </a:spcBef>
              <a:spcAft>
                <a:spcPts val="600"/>
              </a:spcAft>
            </a:pPr>
            <a:r>
              <a:rPr lang="en-US" sz="2800" dirty="0">
                <a:cs typeface="ＭＳ Ｐゴシック" charset="0"/>
              </a:rPr>
              <a:t>Processor (</a:t>
            </a:r>
            <a:r>
              <a:rPr lang="zh-CN" altLang="en-US" sz="2800" dirty="0">
                <a:cs typeface="ＭＳ Ｐゴシック" charset="0"/>
              </a:rPr>
              <a:t>多线程系统</a:t>
            </a:r>
            <a:r>
              <a:rPr lang="en-US" sz="2800" dirty="0">
                <a:cs typeface="ＭＳ Ｐゴシック" charset="0"/>
              </a:rPr>
              <a:t>)</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Pipeline resources</a:t>
            </a:r>
          </a:p>
          <a:p>
            <a:pPr marL="628650" lvl="1" indent="-265113" defTabSz="912813">
              <a:spcBef>
                <a:spcPts val="0"/>
              </a:spcBef>
              <a:spcAft>
                <a:spcPts val="600"/>
              </a:spcAft>
              <a:buClr>
                <a:schemeClr val="tx1"/>
              </a:buClr>
              <a:buFont typeface="Tahoma" panose="020B0604030504040204" pitchFamily="34" charset="0"/>
              <a:buChar char="−"/>
              <a:defRPr/>
            </a:pPr>
            <a:r>
              <a:rPr lang="en-US" kern="1200" dirty="0">
                <a:cs typeface="Calibri" panose="020F0502020204030204" pitchFamily="34" charset="0"/>
              </a:rPr>
              <a:t>L1 caches</a:t>
            </a:r>
          </a:p>
          <a:p>
            <a:pPr lvl="1">
              <a:spcBef>
                <a:spcPts val="0"/>
              </a:spcBef>
              <a:spcAft>
                <a:spcPts val="600"/>
              </a:spcAft>
            </a:pPr>
            <a:endParaRPr lang="en-US" dirty="0"/>
          </a:p>
          <a:p>
            <a:pPr lvl="1">
              <a:spcBef>
                <a:spcPts val="0"/>
              </a:spcBef>
              <a:spcAft>
                <a:spcPts val="600"/>
              </a:spcAft>
            </a:pPr>
            <a:endParaRPr lang="en-US" dirty="0"/>
          </a:p>
        </p:txBody>
      </p:sp>
      <p:sp>
        <p:nvSpPr>
          <p:cNvPr id="3" name="灯片编号占位符 2"/>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52</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pic>
        <p:nvPicPr>
          <p:cNvPr id="4" name="图片 3">
            <a:extLst>
              <a:ext uri="{FF2B5EF4-FFF2-40B4-BE49-F238E27FC236}">
                <a16:creationId xmlns:a16="http://schemas.microsoft.com/office/drawing/2014/main" id="{93F07DF0-16B0-4E77-93F4-AADFB82201A6}"/>
              </a:ext>
            </a:extLst>
          </p:cNvPr>
          <p:cNvPicPr>
            <a:picLocks noChangeAspect="1"/>
          </p:cNvPicPr>
          <p:nvPr/>
        </p:nvPicPr>
        <p:blipFill>
          <a:blip r:embed="rId2"/>
          <a:stretch>
            <a:fillRect/>
          </a:stretch>
        </p:blipFill>
        <p:spPr>
          <a:xfrm>
            <a:off x="6762750" y="1557080"/>
            <a:ext cx="2152650" cy="1508695"/>
          </a:xfrm>
          <a:prstGeom prst="rect">
            <a:avLst/>
          </a:prstGeom>
        </p:spPr>
      </p:pic>
      <p:pic>
        <p:nvPicPr>
          <p:cNvPr id="5" name="图片 4">
            <a:extLst>
              <a:ext uri="{FF2B5EF4-FFF2-40B4-BE49-F238E27FC236}">
                <a16:creationId xmlns:a16="http://schemas.microsoft.com/office/drawing/2014/main" id="{27B4D0CF-E0DC-4277-8BA6-74AD0981825D}"/>
              </a:ext>
            </a:extLst>
          </p:cNvPr>
          <p:cNvPicPr>
            <a:picLocks noChangeAspect="1"/>
          </p:cNvPicPr>
          <p:nvPr/>
        </p:nvPicPr>
        <p:blipFill>
          <a:blip r:embed="rId3"/>
          <a:stretch>
            <a:fillRect/>
          </a:stretch>
        </p:blipFill>
        <p:spPr>
          <a:xfrm>
            <a:off x="6629400" y="3236229"/>
            <a:ext cx="2181760" cy="1111994"/>
          </a:xfrm>
          <a:prstGeom prst="rect">
            <a:avLst/>
          </a:prstGeom>
        </p:spPr>
      </p:pic>
      <p:pic>
        <p:nvPicPr>
          <p:cNvPr id="6" name="图片 5">
            <a:extLst>
              <a:ext uri="{FF2B5EF4-FFF2-40B4-BE49-F238E27FC236}">
                <a16:creationId xmlns:a16="http://schemas.microsoft.com/office/drawing/2014/main" id="{784371FF-7D33-4F84-ABB0-C4E92C7468FE}"/>
              </a:ext>
            </a:extLst>
          </p:cNvPr>
          <p:cNvPicPr>
            <a:picLocks noChangeAspect="1"/>
          </p:cNvPicPr>
          <p:nvPr/>
        </p:nvPicPr>
        <p:blipFill>
          <a:blip r:embed="rId4"/>
          <a:stretch>
            <a:fillRect/>
          </a:stretch>
        </p:blipFill>
        <p:spPr>
          <a:xfrm>
            <a:off x="2996890" y="5293375"/>
            <a:ext cx="3168680" cy="1412225"/>
          </a:xfrm>
          <a:prstGeom prst="rect">
            <a:avLst/>
          </a:prstGeom>
        </p:spPr>
      </p:pic>
      <p:pic>
        <p:nvPicPr>
          <p:cNvPr id="7" name="图片 6">
            <a:extLst>
              <a:ext uri="{FF2B5EF4-FFF2-40B4-BE49-F238E27FC236}">
                <a16:creationId xmlns:a16="http://schemas.microsoft.com/office/drawing/2014/main" id="{64E75594-224A-4583-B166-757F83BFF2EB}"/>
              </a:ext>
            </a:extLst>
          </p:cNvPr>
          <p:cNvPicPr>
            <a:picLocks noChangeAspect="1"/>
          </p:cNvPicPr>
          <p:nvPr/>
        </p:nvPicPr>
        <p:blipFill>
          <a:blip r:embed="rId5"/>
          <a:stretch>
            <a:fillRect/>
          </a:stretch>
        </p:blipFill>
        <p:spPr>
          <a:xfrm>
            <a:off x="6577143" y="4572000"/>
            <a:ext cx="2233161" cy="1111995"/>
          </a:xfrm>
          <a:prstGeom prst="rect">
            <a:avLst/>
          </a:prstGeom>
        </p:spPr>
      </p:pic>
    </p:spTree>
    <p:extLst>
      <p:ext uri="{BB962C8B-B14F-4D97-AF65-F5344CB8AC3E}">
        <p14:creationId xmlns:p14="http://schemas.microsoft.com/office/powerpoint/2010/main" val="19723354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a:xfrm>
            <a:off x="228600" y="304800"/>
            <a:ext cx="8686800" cy="685800"/>
          </a:xfrm>
        </p:spPr>
        <p:txBody>
          <a:bodyPr/>
          <a:lstStyle/>
          <a:p>
            <a:r>
              <a:rPr lang="zh-CN" altLang="en-US" dirty="0">
                <a:cs typeface="ＭＳ Ｐゴシック" charset="0"/>
              </a:rPr>
              <a:t>多核系统需要</a:t>
            </a:r>
            <a:r>
              <a:rPr lang="en-US" dirty="0">
                <a:cs typeface="ＭＳ Ｐゴシック" charset="0"/>
              </a:rPr>
              <a:t>QoS</a:t>
            </a:r>
            <a:r>
              <a:rPr lang="zh-CN" altLang="en-US" dirty="0">
                <a:cs typeface="ＭＳ Ｐゴシック" charset="0"/>
              </a:rPr>
              <a:t>和共享资源管理</a:t>
            </a:r>
            <a:endParaRPr lang="en-US" dirty="0">
              <a:cs typeface="ＭＳ Ｐゴシック" charset="0"/>
            </a:endParaRPr>
          </a:p>
        </p:txBody>
      </p:sp>
      <p:sp>
        <p:nvSpPr>
          <p:cNvPr id="3" name="Content Placeholder 2"/>
          <p:cNvSpPr>
            <a:spLocks noGrp="1"/>
          </p:cNvSpPr>
          <p:nvPr>
            <p:ph idx="1"/>
          </p:nvPr>
        </p:nvSpPr>
        <p:spPr>
          <a:xfrm>
            <a:off x="457200" y="1115020"/>
            <a:ext cx="8229600" cy="5194300"/>
          </a:xfrm>
        </p:spPr>
        <p:txBody>
          <a:bodyPr/>
          <a:lstStyle/>
          <a:p>
            <a:pPr>
              <a:spcBef>
                <a:spcPts val="0"/>
              </a:spcBef>
              <a:spcAft>
                <a:spcPts val="600"/>
              </a:spcAft>
            </a:pPr>
            <a:r>
              <a:rPr lang="zh-CN" altLang="en-US" sz="2800" dirty="0">
                <a:cs typeface="ＭＳ Ｐゴシック" charset="0"/>
              </a:rPr>
              <a:t>为何性能不可预测 </a:t>
            </a:r>
            <a:r>
              <a:rPr lang="en-US" sz="2800" dirty="0">
                <a:cs typeface="ＭＳ Ｐゴシック" charset="0"/>
              </a:rPr>
              <a:t>(</a:t>
            </a:r>
            <a:r>
              <a:rPr lang="zh-CN" altLang="en-US" sz="2800" dirty="0">
                <a:cs typeface="ＭＳ Ｐゴシック" charset="0"/>
              </a:rPr>
              <a:t>或者缺乏</a:t>
            </a:r>
            <a:r>
              <a:rPr lang="en-US" sz="2800" dirty="0">
                <a:cs typeface="ＭＳ Ｐゴシック" charset="0"/>
              </a:rPr>
              <a:t>QoS) </a:t>
            </a:r>
            <a:r>
              <a:rPr lang="zh-CN" altLang="en-US" sz="2800" dirty="0">
                <a:cs typeface="ＭＳ Ｐゴシック" charset="0"/>
              </a:rPr>
              <a:t>是一个坏的设计</a:t>
            </a:r>
            <a:r>
              <a:rPr lang="en-US" sz="2800" dirty="0">
                <a:cs typeface="ＭＳ Ｐゴシック" charset="0"/>
              </a:rPr>
              <a:t>? </a:t>
            </a:r>
            <a:r>
              <a:rPr lang="zh-CN" altLang="en-US" sz="2800" dirty="0">
                <a:cs typeface="ＭＳ Ｐゴシック" charset="0"/>
              </a:rPr>
              <a:t> </a:t>
            </a:r>
            <a:r>
              <a:rPr lang="en-US" altLang="zh-CN" sz="2800" dirty="0">
                <a:cs typeface="ＭＳ Ｐゴシック" charset="0"/>
              </a:rPr>
              <a:t>(</a:t>
            </a:r>
            <a:r>
              <a:rPr lang="zh-CN" altLang="en-US" sz="2800" dirty="0">
                <a:solidFill>
                  <a:srgbClr val="FF0000"/>
                </a:solidFill>
                <a:cs typeface="ＭＳ Ｐゴシック" charset="0"/>
              </a:rPr>
              <a:t>请思考</a:t>
            </a:r>
            <a:r>
              <a:rPr lang="en-US" altLang="zh-CN" sz="2800" dirty="0">
                <a:solidFill>
                  <a:srgbClr val="FF0000"/>
                </a:solidFill>
                <a:cs typeface="ＭＳ Ｐゴシック" charset="0"/>
              </a:rPr>
              <a:t>!</a:t>
            </a:r>
            <a:r>
              <a:rPr lang="en-US" altLang="zh-CN" sz="2800" dirty="0">
                <a:cs typeface="ＭＳ Ｐゴシック" charset="0"/>
              </a:rPr>
              <a:t>)</a:t>
            </a:r>
            <a:endParaRPr lang="en-US" sz="2800" dirty="0">
              <a:cs typeface="ＭＳ Ｐゴシック" charset="0"/>
            </a:endParaRPr>
          </a:p>
          <a:p>
            <a:pPr>
              <a:spcBef>
                <a:spcPts val="0"/>
              </a:spcBef>
              <a:spcAft>
                <a:spcPts val="600"/>
              </a:spcAft>
            </a:pPr>
            <a:r>
              <a:rPr lang="zh-CN" altLang="en-US" sz="2800" dirty="0">
                <a:cs typeface="ＭＳ Ｐゴシック" charset="0"/>
              </a:rPr>
              <a:t>给程序员造成很多困难</a:t>
            </a:r>
            <a:endParaRPr lang="en-US" altLang="ja-JP"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经过精心优化的程序可能获得较差的性能 </a:t>
            </a:r>
            <a:r>
              <a:rPr lang="en-US" kern="1200" dirty="0">
                <a:cs typeface="Calibri" panose="020F0502020204030204" pitchFamily="34" charset="0"/>
              </a:rPr>
              <a:t>(</a:t>
            </a:r>
            <a:r>
              <a:rPr lang="zh-CN" altLang="en-US" kern="1200" dirty="0">
                <a:cs typeface="Calibri" panose="020F0502020204030204" pitchFamily="34" charset="0"/>
              </a:rPr>
              <a:t>且其性能依赖</a:t>
            </a:r>
            <a:r>
              <a:rPr lang="en-US" altLang="zh-CN" kern="1200" dirty="0">
                <a:cs typeface="Calibri" panose="020F0502020204030204" pitchFamily="34" charset="0"/>
              </a:rPr>
              <a:t>co-runner</a:t>
            </a:r>
            <a:r>
              <a:rPr lang="zh-CN" altLang="en-US" kern="1200" dirty="0">
                <a:cs typeface="Calibri" panose="020F0502020204030204" pitchFamily="34" charset="0"/>
              </a:rPr>
              <a:t>的特征</a:t>
            </a:r>
            <a:r>
              <a:rPr lang="en-US" kern="1200" dirty="0">
                <a:cs typeface="Calibri" panose="020F0502020204030204" pitchFamily="34" charset="0"/>
              </a:rPr>
              <a:t>)</a:t>
            </a:r>
          </a:p>
          <a:p>
            <a:pPr>
              <a:spcBef>
                <a:spcPts val="0"/>
              </a:spcBef>
              <a:spcAft>
                <a:spcPts val="600"/>
              </a:spcAft>
            </a:pPr>
            <a:r>
              <a:rPr lang="zh-CN" altLang="en-US" sz="2800" dirty="0">
                <a:cs typeface="ＭＳ Ｐゴシック" charset="0"/>
              </a:rPr>
              <a:t>造成用户不满意 </a:t>
            </a:r>
            <a:r>
              <a:rPr lang="en-US" altLang="zh-CN" sz="2800" dirty="0">
                <a:cs typeface="ＭＳ Ｐゴシック" charset="0"/>
              </a:rPr>
              <a:t>[datacenter</a:t>
            </a:r>
            <a:r>
              <a:rPr lang="zh-CN" altLang="en-US" sz="2800" dirty="0">
                <a:cs typeface="ＭＳ Ｐゴシック" charset="0"/>
              </a:rPr>
              <a:t>场景</a:t>
            </a:r>
            <a:r>
              <a:rPr lang="en-US" altLang="zh-CN" sz="2800" dirty="0">
                <a:cs typeface="ＭＳ Ｐゴシック" charset="0"/>
              </a:rPr>
              <a:t>]</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系统中的重要程序可能因迟迟获取不了资源而饥饿</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当共享的硬件资源不可控时，如何确保</a:t>
            </a:r>
            <a:r>
              <a:rPr lang="en-US" altLang="zh-CN" kern="1200" dirty="0">
                <a:cs typeface="Calibri" panose="020F0502020204030204" pitchFamily="34" charset="0"/>
              </a:rPr>
              <a:t>SLA (Service Level Agreement)</a:t>
            </a:r>
            <a:r>
              <a:rPr lang="en-US" kern="1200" dirty="0">
                <a:cs typeface="Calibri" panose="020F0502020204030204" pitchFamily="34" charset="0"/>
              </a:rPr>
              <a:t> ?</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从技术层面来说，很难使用户满意。</a:t>
            </a:r>
            <a:endParaRPr lang="en-US" kern="1200" dirty="0">
              <a:cs typeface="Calibri" panose="020F0502020204030204" pitchFamily="34" charset="0"/>
            </a:endParaRPr>
          </a:p>
        </p:txBody>
      </p:sp>
      <p:sp>
        <p:nvSpPr>
          <p:cNvPr id="4" name="灯片编号占位符 3"/>
          <p:cNvSpPr>
            <a:spLocks noGrp="1"/>
          </p:cNvSpPr>
          <p:nvPr>
            <p:ph type="sldNum" sz="quarter" idx="12"/>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fld id="{4D61D28F-70AE-4570-A6CA-7CE9CC809164}" type="slidenum">
              <a:rPr kumimoji="0" lang="en-US" altLang="zh-CN" sz="1200" b="0" i="0" u="none" strike="noStrike" kern="1200" cap="none" spc="0" normalizeH="0" baseline="0" noProof="0" smtClean="0">
                <a:ln>
                  <a:noFill/>
                </a:ln>
                <a:solidFill>
                  <a:prstClr val="black"/>
                </a:solidFill>
                <a:effectLst/>
                <a:uLnTx/>
                <a:uFillTx/>
                <a:latin typeface="Calibri"/>
                <a:ea typeface="ＭＳ Ｐゴシック" pitchFamily="34" charset="-128"/>
                <a:cs typeface="Arial" panose="020B0604020202020204" pitchFamily="34" charset="0"/>
              </a:rPr>
              <a:pPr marL="0" marR="0" lvl="0" indent="0" algn="ctr" defTabSz="914400" rtl="0" eaLnBrk="0" fontAlgn="base" latinLnBrk="0" hangingPunct="0">
                <a:lnSpc>
                  <a:spcPct val="100000"/>
                </a:lnSpc>
                <a:spcBef>
                  <a:spcPct val="0"/>
                </a:spcBef>
                <a:spcAft>
                  <a:spcPct val="0"/>
                </a:spcAft>
                <a:buClrTx/>
                <a:buSzTx/>
                <a:buFontTx/>
                <a:buNone/>
                <a:tabLst/>
                <a:defRPr/>
              </a:pPr>
              <a:t>53</a:t>
            </a:fld>
            <a:endParaRPr kumimoji="0" lang="en-US" altLang="zh-CN" sz="1200" b="0" i="0" u="none" strike="noStrike" kern="1200" cap="none" spc="0" normalizeH="0" baseline="0" noProof="0">
              <a:ln>
                <a:noFill/>
              </a:ln>
              <a:solidFill>
                <a:prstClr val="black"/>
              </a:solidFill>
              <a:effectLst/>
              <a:uLnTx/>
              <a:uFillTx/>
              <a:latin typeface="Calibri"/>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26861211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a:xfrm>
            <a:off x="457200" y="268288"/>
            <a:ext cx="8229600" cy="722312"/>
          </a:xfrm>
        </p:spPr>
        <p:txBody>
          <a:bodyPr/>
          <a:lstStyle/>
          <a:p>
            <a:r>
              <a:rPr lang="en-US" altLang="zh-CN" dirty="0">
                <a:cs typeface="ＭＳ Ｐゴシック" charset="0"/>
              </a:rPr>
              <a:t>Demo</a:t>
            </a:r>
            <a:r>
              <a:rPr lang="zh-CN" altLang="en-US" dirty="0">
                <a:cs typeface="ＭＳ Ｐゴシック" charset="0"/>
              </a:rPr>
              <a:t>：共享缓存</a:t>
            </a:r>
            <a:endParaRPr lang="en-US" dirty="0">
              <a:cs typeface="ＭＳ Ｐゴシック" charset="0"/>
            </a:endParaRPr>
          </a:p>
        </p:txBody>
      </p:sp>
      <p:sp>
        <p:nvSpPr>
          <p:cNvPr id="3" name="Content Placeholder 2"/>
          <p:cNvSpPr>
            <a:spLocks noGrp="1"/>
          </p:cNvSpPr>
          <p:nvPr>
            <p:ph idx="1"/>
          </p:nvPr>
        </p:nvSpPr>
        <p:spPr>
          <a:xfrm>
            <a:off x="457200" y="1066800"/>
            <a:ext cx="8229600" cy="5791200"/>
          </a:xfrm>
        </p:spPr>
        <p:txBody>
          <a:bodyPr/>
          <a:lstStyle/>
          <a:p>
            <a:pPr>
              <a:spcBef>
                <a:spcPts val="0"/>
              </a:spcBef>
              <a:spcAft>
                <a:spcPts val="0"/>
              </a:spcAft>
            </a:pPr>
            <a:r>
              <a:rPr lang="zh-CN" altLang="en-US" sz="2800" dirty="0">
                <a:cs typeface="ＭＳ Ｐゴシック" charset="0"/>
              </a:rPr>
              <a:t>优点：</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可以有效提升缓存空间的利用率</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可以对</a:t>
            </a:r>
            <a:r>
              <a:rPr lang="zh-CN" altLang="en-US" kern="1200" dirty="0">
                <a:solidFill>
                  <a:srgbClr val="FF0000"/>
                </a:solidFill>
                <a:cs typeface="Calibri" panose="020F0502020204030204" pitchFamily="34" charset="0"/>
              </a:rPr>
              <a:t>可用缓存空间</a:t>
            </a:r>
            <a:r>
              <a:rPr lang="zh-CN" altLang="en-US" kern="1200" dirty="0">
                <a:cs typeface="Calibri" panose="020F0502020204030204" pitchFamily="34" charset="0"/>
              </a:rPr>
              <a:t>进行动态划分</a:t>
            </a:r>
            <a:endParaRPr lang="en-US" kern="1200" dirty="0">
              <a:cs typeface="Calibri" panose="020F0502020204030204" pitchFamily="34" charset="0"/>
            </a:endParaRPr>
          </a:p>
          <a:p>
            <a:pPr marL="893763" lvl="1" indent="-266700">
              <a:spcBef>
                <a:spcPts val="0"/>
              </a:spcBef>
              <a:spcAft>
                <a:spcPts val="0"/>
              </a:spcAft>
              <a:buFont typeface="Arial" panose="020B0604020202020204" pitchFamily="34" charset="0"/>
              <a:buChar char="•"/>
            </a:pPr>
            <a:r>
              <a:rPr lang="zh-CN" altLang="en-US" sz="2000" dirty="0"/>
              <a:t>没有静态空间划分的碎片问题</a:t>
            </a:r>
            <a:endParaRPr lang="en-US" sz="20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容易维持一致性 </a:t>
            </a:r>
            <a:r>
              <a:rPr lang="en-US" kern="1200" dirty="0">
                <a:cs typeface="Calibri" panose="020F0502020204030204" pitchFamily="34" charset="0"/>
              </a:rPr>
              <a:t>(single copy)</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共享的数据在</a:t>
            </a:r>
            <a:r>
              <a:rPr lang="zh-CN" altLang="en-US" b="1" kern="1200" dirty="0">
                <a:cs typeface="Calibri" panose="020F0502020204030204" pitchFamily="34" charset="0"/>
              </a:rPr>
              <a:t>缓存间</a:t>
            </a:r>
            <a:r>
              <a:rPr lang="zh-CN" altLang="en-US" kern="1200" dirty="0">
                <a:cs typeface="Calibri" panose="020F0502020204030204" pitchFamily="34" charset="0"/>
              </a:rPr>
              <a:t>没有乒乓问题</a:t>
            </a:r>
            <a:endParaRPr lang="en-US" kern="1200" dirty="0">
              <a:cs typeface="Calibri" panose="020F0502020204030204" pitchFamily="34" charset="0"/>
            </a:endParaRPr>
          </a:p>
          <a:p>
            <a:pPr>
              <a:spcBef>
                <a:spcPts val="0"/>
              </a:spcBef>
              <a:spcAft>
                <a:spcPts val="0"/>
              </a:spcAft>
            </a:pPr>
            <a:r>
              <a:rPr lang="zh-CN" altLang="en-US" sz="2800" dirty="0">
                <a:cs typeface="ＭＳ Ｐゴシック" charset="0"/>
              </a:rPr>
              <a:t>缺点：</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访问速度慢 </a:t>
            </a:r>
            <a:r>
              <a:rPr lang="en-US" altLang="zh-CN" kern="1200" dirty="0">
                <a:cs typeface="Calibri" panose="020F0502020204030204" pitchFamily="34" charset="0"/>
              </a:rPr>
              <a:t>– </a:t>
            </a:r>
            <a:r>
              <a:rPr lang="zh-CN" altLang="en-US" kern="1200" dirty="0">
                <a:cs typeface="Calibri" panose="020F0502020204030204" pitchFamily="34" charset="0"/>
              </a:rPr>
              <a:t>因为共享的缓存较大</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其它核的访问可能会造成冲突缺失</a:t>
            </a:r>
            <a:endParaRPr lang="en-US" altLang="ja-JP" kern="1200" dirty="0">
              <a:cs typeface="Calibri" panose="020F0502020204030204" pitchFamily="34" charset="0"/>
            </a:endParaRPr>
          </a:p>
          <a:p>
            <a:pPr marL="893763" lvl="1" indent="-266700">
              <a:spcBef>
                <a:spcPts val="0"/>
              </a:spcBef>
              <a:spcAft>
                <a:spcPts val="0"/>
              </a:spcAft>
              <a:buFont typeface="Arial" panose="020B0604020202020204" pitchFamily="34" charset="0"/>
              <a:buChar char="•"/>
            </a:pPr>
            <a:r>
              <a:rPr lang="zh-CN" altLang="en-US" sz="2000" dirty="0"/>
              <a:t>核间冲突造成的缺失</a:t>
            </a:r>
            <a:endParaRPr lang="en-US" sz="2000" dirty="0"/>
          </a:p>
          <a:p>
            <a:pPr marL="893763" lvl="1" indent="-266700">
              <a:spcBef>
                <a:spcPts val="0"/>
              </a:spcBef>
              <a:spcAft>
                <a:spcPts val="0"/>
              </a:spcAft>
              <a:buFont typeface="Arial" panose="020B0604020202020204" pitchFamily="34" charset="0"/>
              <a:buChar char="•"/>
            </a:pPr>
            <a:r>
              <a:rPr lang="zh-CN" altLang="en-US" sz="2000" dirty="0"/>
              <a:t>一些核可能会损害其它核访问缓存的命中率</a:t>
            </a:r>
            <a:endParaRPr lang="en-US" sz="2000" dirty="0"/>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维持</a:t>
            </a:r>
            <a:r>
              <a:rPr lang="en-US" altLang="zh-CN" kern="1200" dirty="0">
                <a:cs typeface="Calibri" panose="020F0502020204030204" pitchFamily="34" charset="0"/>
              </a:rPr>
              <a:t>/</a:t>
            </a:r>
            <a:r>
              <a:rPr lang="zh-CN" altLang="en-US" kern="1200" dirty="0">
                <a:cs typeface="Calibri" panose="020F0502020204030204" pitchFamily="34" charset="0"/>
              </a:rPr>
              <a:t>保障每个核的服务质量 </a:t>
            </a:r>
            <a:r>
              <a:rPr lang="en-US" kern="1200" dirty="0">
                <a:cs typeface="Calibri" panose="020F0502020204030204" pitchFamily="34" charset="0"/>
              </a:rPr>
              <a:t>(</a:t>
            </a:r>
            <a:r>
              <a:rPr lang="zh-CN" altLang="en-US" kern="1200" dirty="0">
                <a:cs typeface="Calibri" panose="020F0502020204030204" pitchFamily="34" charset="0"/>
              </a:rPr>
              <a:t>或公平性</a:t>
            </a:r>
            <a:r>
              <a:rPr lang="en-US" kern="1200" dirty="0">
                <a:cs typeface="Calibri" panose="020F0502020204030204" pitchFamily="34" charset="0"/>
              </a:rPr>
              <a:t>) </a:t>
            </a:r>
            <a:r>
              <a:rPr lang="zh-CN" altLang="en-US" kern="1200" dirty="0">
                <a:cs typeface="Calibri" panose="020F0502020204030204" pitchFamily="34" charset="0"/>
              </a:rPr>
              <a:t>很难</a:t>
            </a:r>
            <a:endParaRPr lang="en-US" altLang="zh-CN" kern="1200" dirty="0">
              <a:cs typeface="Calibri" panose="020F0502020204030204" pitchFamily="34" charset="0"/>
            </a:endParaRPr>
          </a:p>
          <a:p>
            <a:pPr marL="893763" lvl="1" indent="-266700">
              <a:spcBef>
                <a:spcPts val="0"/>
              </a:spcBef>
              <a:spcAft>
                <a:spcPts val="0"/>
              </a:spcAft>
              <a:buFont typeface="Arial" panose="020B0604020202020204" pitchFamily="34" charset="0"/>
              <a:buChar char="•"/>
            </a:pPr>
            <a:r>
              <a:rPr lang="zh-CN" altLang="en-US" sz="2000" dirty="0"/>
              <a:t>分配多少缓存空间，多少带宽</a:t>
            </a:r>
            <a:r>
              <a:rPr lang="en-US" sz="2000" dirty="0"/>
              <a:t>?</a:t>
            </a:r>
          </a:p>
          <a:p>
            <a:pPr marL="893763" lvl="1" indent="-266700">
              <a:spcBef>
                <a:spcPts val="0"/>
              </a:spcBef>
              <a:spcAft>
                <a:spcPts val="0"/>
              </a:spcAft>
              <a:buFont typeface="Arial" panose="020B0604020202020204" pitchFamily="34" charset="0"/>
              <a:buChar char="•"/>
            </a:pPr>
            <a:r>
              <a:rPr lang="zh-CN" altLang="en-US" sz="2000" dirty="0"/>
              <a:t>如何提供隔离盒保护？</a:t>
            </a:r>
            <a:endParaRPr lang="en-US" sz="2000" dirty="0"/>
          </a:p>
          <a:p>
            <a:pPr lvl="1">
              <a:spcBef>
                <a:spcPts val="0"/>
              </a:spcBef>
              <a:spcAft>
                <a:spcPts val="0"/>
              </a:spcAft>
            </a:pPr>
            <a:endParaRPr lang="en-US" dirty="0"/>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54</a:t>
            </a:fld>
            <a:endParaRPr lang="en-US" altLang="zh-CN"/>
          </a:p>
        </p:txBody>
      </p:sp>
    </p:spTree>
    <p:extLst>
      <p:ext uri="{BB962C8B-B14F-4D97-AF65-F5344CB8AC3E}">
        <p14:creationId xmlns:p14="http://schemas.microsoft.com/office/powerpoint/2010/main" val="38483313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a:xfrm>
            <a:off x="457200" y="268288"/>
            <a:ext cx="8229600" cy="722312"/>
          </a:xfrm>
        </p:spPr>
        <p:txBody>
          <a:bodyPr/>
          <a:lstStyle/>
          <a:p>
            <a:r>
              <a:rPr lang="en-US" altLang="zh-CN" dirty="0">
                <a:cs typeface="ＭＳ Ｐゴシック" charset="0"/>
              </a:rPr>
              <a:t>Demo</a:t>
            </a:r>
            <a:r>
              <a:rPr lang="zh-CN" altLang="en-US" dirty="0">
                <a:cs typeface="ＭＳ Ｐゴシック" charset="0"/>
              </a:rPr>
              <a:t>：共享缓存如何共享</a:t>
            </a:r>
            <a:r>
              <a:rPr lang="en-US" dirty="0">
                <a:cs typeface="ＭＳ Ｐゴシック" charset="0"/>
              </a:rPr>
              <a:t>?</a:t>
            </a:r>
          </a:p>
        </p:txBody>
      </p:sp>
      <p:sp>
        <p:nvSpPr>
          <p:cNvPr id="3" name="Content Placeholder 2"/>
          <p:cNvSpPr>
            <a:spLocks noGrp="1"/>
          </p:cNvSpPr>
          <p:nvPr>
            <p:ph idx="1"/>
          </p:nvPr>
        </p:nvSpPr>
        <p:spPr>
          <a:xfrm>
            <a:off x="457200" y="996950"/>
            <a:ext cx="8229600" cy="5480050"/>
          </a:xfrm>
        </p:spPr>
        <p:txBody>
          <a:bodyPr/>
          <a:lstStyle/>
          <a:p>
            <a:pPr>
              <a:spcBef>
                <a:spcPts val="0"/>
              </a:spcBef>
              <a:spcAft>
                <a:spcPts val="600"/>
              </a:spcAft>
            </a:pPr>
            <a:r>
              <a:rPr lang="zh-CN" altLang="en-US" sz="2800" dirty="0">
                <a:cs typeface="ＭＳ Ｐゴシック" charset="0"/>
              </a:rPr>
              <a:t>自由共享</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与单核系统采用一样的放置和替换策略 </a:t>
            </a:r>
            <a:r>
              <a:rPr lang="en-US" kern="1200" dirty="0">
                <a:cs typeface="Calibri" panose="020F0502020204030204" pitchFamily="34" charset="0"/>
              </a:rPr>
              <a:t>(</a:t>
            </a:r>
            <a:r>
              <a:rPr lang="zh-CN" altLang="en-US" kern="1200" dirty="0">
                <a:cs typeface="Calibri" panose="020F0502020204030204" pitchFamily="34" charset="0"/>
              </a:rPr>
              <a:t>通常是</a:t>
            </a:r>
            <a:r>
              <a:rPr lang="en-US" kern="1200" dirty="0">
                <a:cs typeface="Calibri" panose="020F0502020204030204" pitchFamily="34" charset="0"/>
              </a:rPr>
              <a:t>LRU </a:t>
            </a:r>
            <a:r>
              <a:rPr lang="zh-CN" altLang="en-US" kern="1200" dirty="0">
                <a:cs typeface="Calibri" panose="020F0502020204030204" pitchFamily="34" charset="0"/>
              </a:rPr>
              <a:t>或者</a:t>
            </a:r>
            <a:r>
              <a:rPr lang="en-US" kern="1200" dirty="0">
                <a:cs typeface="Calibri" panose="020F0502020204030204" pitchFamily="34" charset="0"/>
              </a:rPr>
              <a:t> pseudo-LRU)</a:t>
            </a: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对</a:t>
            </a:r>
            <a:r>
              <a:rPr lang="en-US" kern="1200" dirty="0">
                <a:cs typeface="Calibri" panose="020F0502020204030204" pitchFamily="34" charset="0"/>
              </a:rPr>
              <a:t>thread/application</a:t>
            </a:r>
            <a:r>
              <a:rPr lang="zh-CN" altLang="en-US" kern="1200" dirty="0">
                <a:cs typeface="Calibri" panose="020F0502020204030204" pitchFamily="34" charset="0"/>
              </a:rPr>
              <a:t>的访存特征是盲目的</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一个新加入的</a:t>
            </a:r>
            <a:r>
              <a:rPr lang="en-US" altLang="zh-CN" kern="1200" dirty="0">
                <a:cs typeface="Calibri" panose="020F0502020204030204" pitchFamily="34" charset="0"/>
              </a:rPr>
              <a:t>block</a:t>
            </a:r>
            <a:r>
              <a:rPr lang="zh-CN" altLang="en-US" kern="1200" dirty="0">
                <a:cs typeface="Calibri" panose="020F0502020204030204" pitchFamily="34" charset="0"/>
              </a:rPr>
              <a:t>在替换</a:t>
            </a:r>
            <a:r>
              <a:rPr lang="en-US" altLang="zh-CN" kern="1200" dirty="0">
                <a:cs typeface="Calibri" panose="020F0502020204030204" pitchFamily="34" charset="0"/>
              </a:rPr>
              <a:t>victim</a:t>
            </a:r>
            <a:r>
              <a:rPr lang="zh-CN" altLang="en-US" kern="1200" dirty="0">
                <a:cs typeface="Calibri" panose="020F0502020204030204" pitchFamily="34" charset="0"/>
              </a:rPr>
              <a:t>时，对该</a:t>
            </a:r>
            <a:r>
              <a:rPr lang="en-US" altLang="zh-CN" kern="1200" dirty="0">
                <a:cs typeface="Calibri" panose="020F0502020204030204" pitchFamily="34" charset="0"/>
              </a:rPr>
              <a:t>victim</a:t>
            </a:r>
            <a:r>
              <a:rPr lang="zh-CN" altLang="en-US" kern="1200" dirty="0">
                <a:cs typeface="Calibri" panose="020F0502020204030204" pitchFamily="34" charset="0"/>
              </a:rPr>
              <a:t>属于哪个</a:t>
            </a:r>
            <a:r>
              <a:rPr lang="en-US" altLang="zh-CN" kern="1200" dirty="0">
                <a:cs typeface="Calibri" panose="020F0502020204030204" pitchFamily="34" charset="0"/>
              </a:rPr>
              <a:t>thread</a:t>
            </a:r>
            <a:r>
              <a:rPr lang="zh-CN" altLang="en-US" kern="1200" dirty="0">
                <a:cs typeface="Calibri" panose="020F0502020204030204" pitchFamily="34" charset="0"/>
              </a:rPr>
              <a:t>是盲目的。</a:t>
            </a:r>
            <a:r>
              <a:rPr lang="en-US" altLang="zh-CN" kern="1200" dirty="0">
                <a:cs typeface="Calibri" panose="020F0502020204030204" pitchFamily="34" charset="0"/>
              </a:rPr>
              <a:t>【</a:t>
            </a:r>
            <a:r>
              <a:rPr lang="zh-CN" altLang="en-US" kern="1200" dirty="0">
                <a:solidFill>
                  <a:srgbClr val="FF0000"/>
                </a:solidFill>
                <a:cs typeface="Calibri" panose="020F0502020204030204" pitchFamily="34" charset="0"/>
              </a:rPr>
              <a:t>盲目是不好的，不能提供</a:t>
            </a:r>
            <a:r>
              <a:rPr lang="en-US" altLang="zh-CN" kern="1200" dirty="0">
                <a:solidFill>
                  <a:srgbClr val="FF0000"/>
                </a:solidFill>
                <a:cs typeface="Calibri" panose="020F0502020204030204" pitchFamily="34" charset="0"/>
              </a:rPr>
              <a:t>QoS</a:t>
            </a:r>
            <a:r>
              <a:rPr lang="en-US" altLang="zh-CN" kern="1200" dirty="0">
                <a:cs typeface="Calibri" panose="020F0502020204030204" pitchFamily="34" charset="0"/>
              </a:rPr>
              <a:t>】</a:t>
            </a:r>
            <a:endParaRPr lang="en-US" kern="1200" dirty="0">
              <a:cs typeface="Calibri" panose="020F0502020204030204" pitchFamily="34" charset="0"/>
            </a:endParaRPr>
          </a:p>
          <a:p>
            <a:pPr>
              <a:spcBef>
                <a:spcPts val="0"/>
              </a:spcBef>
              <a:spcAft>
                <a:spcPts val="600"/>
              </a:spcAft>
            </a:pPr>
            <a:r>
              <a:rPr lang="zh-CN" altLang="en-US" sz="2800" dirty="0">
                <a:cs typeface="ＭＳ Ｐゴシック" charset="0"/>
              </a:rPr>
              <a:t>存在的问题</a:t>
            </a:r>
            <a:r>
              <a:rPr lang="en-US" altLang="zh-CN" dirty="0">
                <a:cs typeface="ＭＳ Ｐゴシック" charset="0"/>
              </a:rPr>
              <a:t>【</a:t>
            </a:r>
            <a:r>
              <a:rPr lang="zh-CN" altLang="en-US" dirty="0">
                <a:cs typeface="ＭＳ Ｐゴシック" charset="0"/>
              </a:rPr>
              <a:t>不能按需分配</a:t>
            </a:r>
            <a:r>
              <a:rPr lang="en-US" altLang="zh-CN" dirty="0">
                <a:cs typeface="ＭＳ Ｐゴシック" charset="0"/>
              </a:rPr>
              <a:t>】</a:t>
            </a:r>
            <a:endParaRPr lang="en-US" sz="2800" dirty="0">
              <a:cs typeface="ＭＳ Ｐゴシック"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缓存的利用率不高</a:t>
            </a:r>
            <a:r>
              <a:rPr lang="en-US" kern="1200" dirty="0">
                <a:cs typeface="Calibri" panose="020F0502020204030204" pitchFamily="34" charset="0"/>
              </a:rPr>
              <a:t>: </a:t>
            </a:r>
            <a:r>
              <a:rPr lang="en-US" kern="1200" dirty="0" err="1">
                <a:cs typeface="Calibri" panose="020F0502020204030204" pitchFamily="34" charset="0"/>
              </a:rPr>
              <a:t>LRU</a:t>
            </a:r>
            <a:r>
              <a:rPr lang="zh-CN" altLang="en-US" kern="1200" dirty="0">
                <a:cs typeface="Calibri" panose="020F0502020204030204" pitchFamily="34" charset="0"/>
              </a:rPr>
              <a:t>不是最好的策略</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solidFill>
                  <a:srgbClr val="FF0000"/>
                </a:solidFill>
                <a:cs typeface="Calibri" panose="020F0502020204030204" pitchFamily="34" charset="0"/>
              </a:rPr>
              <a:t>缓存不友好的应用</a:t>
            </a:r>
            <a:r>
              <a:rPr lang="zh-CN" altLang="en-US" kern="1200" dirty="0">
                <a:cs typeface="Calibri" panose="020F0502020204030204" pitchFamily="34" charset="0"/>
              </a:rPr>
              <a:t>会破坏</a:t>
            </a:r>
            <a:r>
              <a:rPr lang="zh-CN" altLang="en-US" kern="1200" dirty="0">
                <a:solidFill>
                  <a:srgbClr val="00B050"/>
                </a:solidFill>
                <a:cs typeface="Calibri" panose="020F0502020204030204" pitchFamily="34" charset="0"/>
              </a:rPr>
              <a:t>缓存友好型应用</a:t>
            </a:r>
            <a:r>
              <a:rPr lang="zh-CN" altLang="en-US" kern="1200" dirty="0">
                <a:cs typeface="Calibri" panose="020F0502020204030204" pitchFamily="34" charset="0"/>
              </a:rPr>
              <a:t>的性能</a:t>
            </a:r>
            <a:endParaRPr lang="en-US" kern="1200" dirty="0">
              <a:cs typeface="Calibri" panose="020F0502020204030204" pitchFamily="34" charset="0"/>
            </a:endParaRPr>
          </a:p>
          <a:p>
            <a:pPr marL="628650" lvl="1" indent="-265113" defTabSz="912813">
              <a:spcBef>
                <a:spcPts val="0"/>
              </a:spcBef>
              <a:spcAft>
                <a:spcPts val="600"/>
              </a:spcAft>
              <a:buClr>
                <a:schemeClr val="tx1"/>
              </a:buClr>
              <a:buFont typeface="Tahoma" panose="020B0604030504040204" pitchFamily="34" charset="0"/>
              <a:buChar char="−"/>
              <a:defRPr/>
            </a:pPr>
            <a:r>
              <a:rPr lang="zh-CN" altLang="en-US" kern="1200" dirty="0">
                <a:cs typeface="Calibri" panose="020F0502020204030204" pitchFamily="34" charset="0"/>
              </a:rPr>
              <a:t>不是所有的应用能从相同容量的缓存中获得相等的收益</a:t>
            </a:r>
            <a:r>
              <a:rPr lang="en-US" kern="1200" dirty="0">
                <a:cs typeface="Calibri" panose="020F0502020204030204" pitchFamily="34" charset="0"/>
              </a:rPr>
              <a:t>: </a:t>
            </a:r>
            <a:r>
              <a:rPr lang="zh-CN" altLang="en-US" kern="1200" dirty="0">
                <a:solidFill>
                  <a:srgbClr val="FF0000"/>
                </a:solidFill>
                <a:cs typeface="Calibri" panose="020F0502020204030204" pitchFamily="34" charset="0"/>
              </a:rPr>
              <a:t>自由共享可能给获益较少的应用分配更多的缓存空间</a:t>
            </a:r>
            <a:r>
              <a:rPr lang="zh-CN" altLang="en-US" kern="1200" dirty="0">
                <a:cs typeface="Calibri" panose="020F0502020204030204" pitchFamily="34" charset="0"/>
              </a:rPr>
              <a:t>。</a:t>
            </a:r>
            <a:endParaRPr lang="en-US" altLang="zh-CN" kern="1200" dirty="0">
              <a:cs typeface="Calibri" panose="020F0502020204030204" pitchFamily="34" charset="0"/>
            </a:endParaRP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55</a:t>
            </a:fld>
            <a:endParaRPr lang="en-US" altLang="zh-CN"/>
          </a:p>
        </p:txBody>
      </p:sp>
    </p:spTree>
    <p:extLst>
      <p:ext uri="{BB962C8B-B14F-4D97-AF65-F5344CB8AC3E}">
        <p14:creationId xmlns:p14="http://schemas.microsoft.com/office/powerpoint/2010/main" val="2791025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107504" y="212502"/>
            <a:ext cx="8928992" cy="778098"/>
          </a:xfrm>
        </p:spPr>
        <p:txBody>
          <a:bodyPr/>
          <a:lstStyle/>
          <a:p>
            <a:r>
              <a:rPr lang="zh-CN" altLang="en-US" dirty="0">
                <a:cs typeface="ＭＳ Ｐゴシック" charset="0"/>
              </a:rPr>
              <a:t>多核系统中的缓存架构</a:t>
            </a:r>
            <a:endParaRPr lang="en-US" dirty="0">
              <a:cs typeface="ＭＳ Ｐゴシック" charset="0"/>
            </a:endParaRPr>
          </a:p>
        </p:txBody>
      </p:sp>
      <p:sp>
        <p:nvSpPr>
          <p:cNvPr id="4" name="灯片编号占位符 3"/>
          <p:cNvSpPr>
            <a:spLocks noGrp="1"/>
          </p:cNvSpPr>
          <p:nvPr>
            <p:ph type="sldNum" sz="quarter" idx="12"/>
          </p:nvPr>
        </p:nvSpPr>
        <p:spPr/>
        <p:txBody>
          <a:bodyPr/>
          <a:lstStyle/>
          <a:p>
            <a:pPr>
              <a:defRPr/>
            </a:pPr>
            <a:fld id="{4D61D28F-70AE-4570-A6CA-7CE9CC809164}" type="slidenum">
              <a:rPr lang="en-US" altLang="zh-CN" smtClean="0"/>
              <a:pPr>
                <a:defRPr/>
              </a:pPr>
              <a:t>56</a:t>
            </a:fld>
            <a:endParaRPr lang="en-US" altLang="zh-CN"/>
          </a:p>
        </p:txBody>
      </p:sp>
      <p:pic>
        <p:nvPicPr>
          <p:cNvPr id="2" name="图片 1"/>
          <p:cNvPicPr>
            <a:picLocks noChangeAspect="1"/>
          </p:cNvPicPr>
          <p:nvPr/>
        </p:nvPicPr>
        <p:blipFill>
          <a:blip r:embed="rId2"/>
          <a:stretch>
            <a:fillRect/>
          </a:stretch>
        </p:blipFill>
        <p:spPr>
          <a:xfrm>
            <a:off x="1828801" y="990305"/>
            <a:ext cx="5105400" cy="5835796"/>
          </a:xfrm>
          <a:prstGeom prst="rect">
            <a:avLst/>
          </a:prstGeom>
        </p:spPr>
      </p:pic>
    </p:spTree>
    <p:extLst>
      <p:ext uri="{BB962C8B-B14F-4D97-AF65-F5344CB8AC3E}">
        <p14:creationId xmlns:p14="http://schemas.microsoft.com/office/powerpoint/2010/main" val="9383150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Next Topic</a:t>
            </a:r>
            <a:endParaRPr lang="zh-CN" altLang="en-US" dirty="0"/>
          </a:p>
        </p:txBody>
      </p:sp>
      <p:sp>
        <p:nvSpPr>
          <p:cNvPr id="4" name="灯片编号占位符 3"/>
          <p:cNvSpPr>
            <a:spLocks noGrp="1"/>
          </p:cNvSpPr>
          <p:nvPr>
            <p:ph type="sldNum" sz="quarter" idx="12"/>
          </p:nvPr>
        </p:nvSpPr>
        <p:spPr/>
        <p:txBody>
          <a:bodyPr/>
          <a:lstStyle/>
          <a:p>
            <a:fld id="{281828B1-9571-413B-8DF6-88C4749FAF08}" type="slidenum">
              <a:rPr lang="en-US" altLang="en-US" smtClean="0"/>
              <a:pPr/>
              <a:t>57</a:t>
            </a:fld>
            <a:endParaRPr lang="en-US" altLang="en-US"/>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036907"/>
            <a:ext cx="5098819" cy="5474277"/>
          </a:xfrm>
          <a:prstGeom prst="rect">
            <a:avLst/>
          </a:prstGeom>
        </p:spPr>
      </p:pic>
    </p:spTree>
    <p:extLst>
      <p:ext uri="{BB962C8B-B14F-4D97-AF65-F5344CB8AC3E}">
        <p14:creationId xmlns:p14="http://schemas.microsoft.com/office/powerpoint/2010/main" val="922727946"/>
      </p:ext>
    </p:extLst>
  </p:cSld>
  <p:clrMapOvr>
    <a:masterClrMapping/>
  </p:clrMapOvr>
</p:sld>
</file>

<file path=ppt/theme/theme1.xml><?xml version="1.0" encoding="utf-8"?>
<a:theme xmlns:a="http://schemas.openxmlformats.org/drawingml/2006/main" name="Default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6">
            <a:lumMod val="20000"/>
            <a:lumOff val="80000"/>
          </a:schemeClr>
        </a:solidFill>
        <a:ln>
          <a:headEnd type="none" w="med" len="med"/>
          <a:tailEnd type="none" w="med" len="med"/>
        </a:ln>
      </a:spPr>
      <a:bodyPr vert="horz" wrap="square" lIns="91440" tIns="45720" rIns="91440" bIns="45720" numCol="1" rtlCol="0"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sz="2400" b="0" i="0" u="none" strike="noStrike" cap="none" normalizeH="0" baseline="0" dirty="0" smtClean="0">
            <a:ln>
              <a:noFill/>
            </a:ln>
            <a:solidFill>
              <a:schemeClr val="tx1"/>
            </a:solidFill>
            <a:effectLst/>
          </a:defRPr>
        </a:defPPr>
      </a:lstStyle>
      <a:style>
        <a:lnRef idx="2">
          <a:schemeClr val="accent6"/>
        </a:lnRef>
        <a:fillRef idx="1">
          <a:schemeClr val="lt1"/>
        </a:fillRef>
        <a:effectRef idx="0">
          <a:schemeClr val="accent6"/>
        </a:effectRef>
        <a:fontRef idx="minor">
          <a:schemeClr val="dk1"/>
        </a:fontRef>
      </a:style>
    </a:spDef>
    <a:lnDef>
      <a:spPr bwMode="auto">
        <a:solidFill>
          <a:schemeClr val="accent1"/>
        </a:solidFill>
        <a:ln w="25400" cap="flat" cmpd="sng" algn="ctr">
          <a:solidFill>
            <a:schemeClr val="tx2"/>
          </a:solidFill>
          <a:prstDash val="solid"/>
          <a:round/>
          <a:headEnd type="none" w="med" len="med"/>
          <a:tailEnd type="arrow"/>
        </a:ln>
      </a:spPr>
      <a:body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02-性能分析.pptx" id="{764C9ACA-7B50-4715-B26B-A5D80C61E182}" vid="{A47E7AC3-18D2-4C4F-AB21-84ABAB8836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18453</TotalTime>
  <Words>5186</Words>
  <Application>Microsoft Office PowerPoint</Application>
  <PresentationFormat>全屏显示(4:3)</PresentationFormat>
  <Paragraphs>623</Paragraphs>
  <Slides>57</Slides>
  <Notes>24</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57</vt:i4>
      </vt:variant>
    </vt:vector>
  </HeadingPairs>
  <TitlesOfParts>
    <vt:vector size="74" baseType="lpstr">
      <vt:lpstr>ＭＳ Ｐゴシック</vt:lpstr>
      <vt:lpstr>MS-PGothic</vt:lpstr>
      <vt:lpstr>Wingdings-Regular</vt:lpstr>
      <vt:lpstr>Yu Gothic</vt:lpstr>
      <vt:lpstr>Yu Gothic UI Light</vt:lpstr>
      <vt:lpstr>ZapfDingbats</vt:lpstr>
      <vt:lpstr>仿宋</vt:lpstr>
      <vt:lpstr>Microsoft YaHei</vt:lpstr>
      <vt:lpstr>Microsoft YaHei</vt:lpstr>
      <vt:lpstr>Arial</vt:lpstr>
      <vt:lpstr>Calibri</vt:lpstr>
      <vt:lpstr>Lucida Sans Unicode</vt:lpstr>
      <vt:lpstr>Tahoma</vt:lpstr>
      <vt:lpstr>Times New Roman</vt:lpstr>
      <vt:lpstr>Tw Cen MT</vt:lpstr>
      <vt:lpstr>Wingdings</vt:lpstr>
      <vt:lpstr>Default Design</vt:lpstr>
      <vt:lpstr>计算机体系结构</vt:lpstr>
      <vt:lpstr>优化缓存性能的高级方法</vt:lpstr>
      <vt:lpstr>1. 小而简单的L1缓存</vt:lpstr>
      <vt:lpstr>Case size -&gt; AMAT</vt:lpstr>
      <vt:lpstr>Cache size -&gt; Energy</vt:lpstr>
      <vt:lpstr>2. Way Prediction</vt:lpstr>
      <vt:lpstr>3. 用流水线提升访问缓存带宽 (1)</vt:lpstr>
      <vt:lpstr>3. 用流水线提升访问缓存带宽 (2)</vt:lpstr>
      <vt:lpstr>4. 用非阻塞缓存提升访存带宽 (1)</vt:lpstr>
      <vt:lpstr>4. 用非阻塞缓存提升访存带宽 (2)</vt:lpstr>
      <vt:lpstr>MSHR解析</vt:lpstr>
      <vt:lpstr>MSHR 数据结构</vt:lpstr>
      <vt:lpstr>MSHR 操作流程</vt:lpstr>
      <vt:lpstr>5. 多bank架构提升缓存访问带宽</vt:lpstr>
      <vt:lpstr>顺序交叉映射</vt:lpstr>
      <vt:lpstr>6. Early start &amp; Critical word first</vt:lpstr>
      <vt:lpstr>7. 使用写缓冲聚合写操作</vt:lpstr>
      <vt:lpstr>写缓冲示例</vt:lpstr>
      <vt:lpstr>8. 基于编译器的优化方法</vt:lpstr>
      <vt:lpstr>① Loop Interchange</vt:lpstr>
      <vt:lpstr>② Array merging/splitting (1)</vt:lpstr>
      <vt:lpstr>② Array merging/splitting (2)</vt:lpstr>
      <vt:lpstr>③ Loop fusion</vt:lpstr>
      <vt:lpstr>④ Loop blocking</vt:lpstr>
      <vt:lpstr>未使用blocking时数组访问的Snapshot</vt:lpstr>
      <vt:lpstr>使用blocking时访问数组的snapshot</vt:lpstr>
      <vt:lpstr>采用blocking策略的code</vt:lpstr>
      <vt:lpstr>9. 基于硬件的prefetching</vt:lpstr>
      <vt:lpstr>关于硬件预取</vt:lpstr>
      <vt:lpstr>10. 编译器控制的预取</vt:lpstr>
      <vt:lpstr>书上的例子</vt:lpstr>
      <vt:lpstr>基于编译预取的优化</vt:lpstr>
      <vt:lpstr>GCC’s support for data prefetch</vt:lpstr>
      <vt:lpstr>Bonus: some papers</vt:lpstr>
      <vt:lpstr>Victim Cache: 减少冲突失效</vt:lpstr>
      <vt:lpstr>Hashing and Pseudo-Associativity</vt:lpstr>
      <vt:lpstr>Skewed Associative Caches</vt:lpstr>
      <vt:lpstr>Skewed Associative Caches (I)</vt:lpstr>
      <vt:lpstr>Skewed Associative Caches (II)</vt:lpstr>
      <vt:lpstr>Skewed Associative Caches (III)</vt:lpstr>
      <vt:lpstr>缓存缺失的penalty分析</vt:lpstr>
      <vt:lpstr>示例: 存储级并行性 (MLP) </vt:lpstr>
      <vt:lpstr>传统的缓存替换算法</vt:lpstr>
      <vt:lpstr>一个具体的DEMO</vt:lpstr>
      <vt:lpstr>最少的缺失数≠最好的性能</vt:lpstr>
      <vt:lpstr>MLP感知的替换策略</vt:lpstr>
      <vt:lpstr>多核处理器中的缓存</vt:lpstr>
      <vt:lpstr>Private vs. Shared</vt:lpstr>
      <vt:lpstr>资源共享及其优点</vt:lpstr>
      <vt:lpstr>PowerPoint 演示文稿</vt:lpstr>
      <vt:lpstr>多核系统中的共享资源</vt:lpstr>
      <vt:lpstr>多核系统中的共享资源</vt:lpstr>
      <vt:lpstr>多核系统需要QoS和共享资源管理</vt:lpstr>
      <vt:lpstr>Demo：共享缓存</vt:lpstr>
      <vt:lpstr>Demo：共享缓存如何共享?</vt:lpstr>
      <vt:lpstr>多核系统中的缓存架构</vt:lpstr>
      <vt:lpstr>Next Topic</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  06. Pipelining &amp; Hazards  Jianhua Li College of Computer and Information Hefei University of Technology</dc:title>
  <dc:creator>lee</dc:creator>
  <cp:lastModifiedBy>QY Z</cp:lastModifiedBy>
  <cp:revision>643</cp:revision>
  <cp:lastPrinted>2022-10-09T03:19:08Z</cp:lastPrinted>
  <dcterms:created xsi:type="dcterms:W3CDTF">2010-09-08T00:51:32Z</dcterms:created>
  <dcterms:modified xsi:type="dcterms:W3CDTF">2025-10-22T03:45:35Z</dcterms:modified>
</cp:coreProperties>
</file>