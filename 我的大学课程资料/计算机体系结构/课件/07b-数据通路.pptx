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saveSubsetFonts="1">
  <p:sldMasterIdLst>
    <p:sldMasterId id="2147483648" r:id="rId1"/>
  </p:sldMasterIdLst>
  <p:notesMasterIdLst>
    <p:notesMasterId r:id="rId42"/>
  </p:notesMasterIdLst>
  <p:sldIdLst>
    <p:sldId id="256" r:id="rId2"/>
    <p:sldId id="261" r:id="rId3"/>
    <p:sldId id="713" r:id="rId4"/>
    <p:sldId id="714" r:id="rId5"/>
    <p:sldId id="6835" r:id="rId6"/>
    <p:sldId id="6829" r:id="rId7"/>
    <p:sldId id="716" r:id="rId8"/>
    <p:sldId id="717" r:id="rId9"/>
    <p:sldId id="718" r:id="rId10"/>
    <p:sldId id="719" r:id="rId11"/>
    <p:sldId id="6830" r:id="rId12"/>
    <p:sldId id="721" r:id="rId13"/>
    <p:sldId id="722" r:id="rId14"/>
    <p:sldId id="723" r:id="rId15"/>
    <p:sldId id="724" r:id="rId16"/>
    <p:sldId id="725" r:id="rId17"/>
    <p:sldId id="726" r:id="rId18"/>
    <p:sldId id="6831" r:id="rId19"/>
    <p:sldId id="728" r:id="rId20"/>
    <p:sldId id="729" r:id="rId21"/>
    <p:sldId id="730" r:id="rId22"/>
    <p:sldId id="731" r:id="rId23"/>
    <p:sldId id="732" r:id="rId24"/>
    <p:sldId id="6832" r:id="rId25"/>
    <p:sldId id="734" r:id="rId26"/>
    <p:sldId id="735" r:id="rId27"/>
    <p:sldId id="736" r:id="rId28"/>
    <p:sldId id="737" r:id="rId29"/>
    <p:sldId id="738" r:id="rId30"/>
    <p:sldId id="739" r:id="rId31"/>
    <p:sldId id="740" r:id="rId32"/>
    <p:sldId id="741" r:id="rId33"/>
    <p:sldId id="742" r:id="rId34"/>
    <p:sldId id="743" r:id="rId35"/>
    <p:sldId id="744" r:id="rId36"/>
    <p:sldId id="745" r:id="rId37"/>
    <p:sldId id="6833" r:id="rId38"/>
    <p:sldId id="748" r:id="rId39"/>
    <p:sldId id="749" r:id="rId40"/>
    <p:sldId id="6836" r:id="rId41"/>
  </p:sldIdLst>
  <p:sldSz cx="9144000" cy="6858000" type="screen4x3"/>
  <p:notesSz cx="6858000" cy="9144000"/>
  <p:embeddedFontLst>
    <p:embeddedFont>
      <p:font typeface="Calibri" panose="020F0502020204030204" pitchFamily="34" charset="0"/>
      <p:regular r:id="rId43"/>
      <p:bold r:id="rId44"/>
      <p:italic r:id="rId45"/>
      <p:boldItalic r:id="rId46"/>
    </p:embeddedFont>
    <p:embeddedFont>
      <p:font typeface="MS PGothic" panose="020B0600070205080204" pitchFamily="34" charset="-128"/>
      <p:regular r:id="rId47"/>
    </p:embeddedFont>
    <p:embeddedFont>
      <p:font typeface="Tw Cen MT" panose="020B0602020104020603" pitchFamily="34" charset="0"/>
      <p:regular r:id="rId48"/>
      <p:bold r:id="rId49"/>
      <p:italic r:id="rId50"/>
      <p:boldItalic r:id="rId51"/>
    </p:embeddedFont>
    <p:embeddedFont>
      <p:font typeface="楷体" panose="02010609060101010101" pitchFamily="49" charset="-122"/>
      <p:regular r:id="rId52"/>
    </p:embeddedFont>
    <p:embeddedFont>
      <p:font typeface="微软雅黑" panose="020B0503020204020204" pitchFamily="34" charset="-122"/>
      <p:regular r:id="rId53"/>
      <p:bold r:id="rId54"/>
    </p:embeddedFont>
  </p:embeddedFontLst>
  <p:custDataLst>
    <p:tags r:id="rId55"/>
  </p:custDataLst>
  <p:defaultTextStyle>
    <a:defPPr>
      <a:defRPr lang="en-US"/>
    </a:defPPr>
    <a:lvl1pPr algn="l" rtl="0" fontAlgn="base">
      <a:spcBef>
        <a:spcPct val="0"/>
      </a:spcBef>
      <a:spcAft>
        <a:spcPct val="0"/>
      </a:spcAft>
      <a:defRPr sz="3200" b="1"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3200" b="1"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2884">
          <p15:clr>
            <a:srgbClr val="A4A3A4"/>
          </p15:clr>
        </p15:guide>
      </p15:sldGuideLst>
    </p:ext>
    <p:ext uri="{2D200454-40CA-4A62-9FC3-DE9A4176ACB9}">
      <p15:notesGuideLst xmlns:p15="http://schemas.microsoft.com/office/powerpoint/2012/main">
        <p15:guide id="1" orient="horz" pos="2882">
          <p15:clr>
            <a:srgbClr val="A4A3A4"/>
          </p15:clr>
        </p15:guide>
        <p15:guide id="2" pos="216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003399"/>
    <a:srgbClr val="9A52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9" autoAdjust="0"/>
    <p:restoredTop sz="91754" autoAdjust="0"/>
  </p:normalViewPr>
  <p:slideViewPr>
    <p:cSldViewPr snapToGrid="0">
      <p:cViewPr varScale="1">
        <p:scale>
          <a:sx n="100" d="100"/>
          <a:sy n="100" d="100"/>
        </p:scale>
        <p:origin x="2028" y="78"/>
      </p:cViewPr>
      <p:guideLst>
        <p:guide orient="horz" pos="2162"/>
        <p:guide pos="2884"/>
      </p:guideLst>
    </p:cSldViewPr>
  </p:slideViewPr>
  <p:outlineViewPr>
    <p:cViewPr>
      <p:scale>
        <a:sx n="33" d="100"/>
        <a:sy n="33" d="100"/>
      </p:scale>
      <p:origin x="0" y="696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5" d="100"/>
          <a:sy n="55" d="100"/>
        </p:scale>
        <p:origin x="2796" y="78"/>
      </p:cViewPr>
      <p:guideLst>
        <p:guide orient="horz" pos="2882"/>
        <p:guide pos="216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7T11:55:58.299"/>
    </inkml:context>
    <inkml:brush xml:id="br0">
      <inkml:brushProperty name="width" value="0.2" units="cm"/>
      <inkml:brushProperty name="height" value="0.2" units="cm"/>
    </inkml:brush>
  </inkml:definitions>
  <inkml:trace contextRef="#ctx0" brushRef="#br0">1 0 24575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17T11:58:35.317"/>
    </inkml:context>
    <inkml:brush xml:id="br0">
      <inkml:brushProperty name="width" value="0.2" units="cm"/>
      <inkml:brushProperty name="height" value="0.2" units="cm"/>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latin typeface="Times New Roman" panose="02020603050405020304" pitchFamily="18" charset="0"/>
              </a:defRPr>
            </a:lvl1pPr>
          </a:lstStyle>
          <a:p>
            <a:endParaRPr lang="en-US" alt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defRPr>
            </a:lvl1pPr>
          </a:lstStyle>
          <a:p>
            <a:endParaRPr lang="en-US" alt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latin typeface="Times New Roman" panose="02020603050405020304" pitchFamily="18" charset="0"/>
              </a:defRPr>
            </a:lvl1pPr>
          </a:lstStyle>
          <a:p>
            <a:endParaRPr lang="en-US" alt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defRPr>
            </a:lvl1pPr>
          </a:lstStyle>
          <a:p>
            <a:fld id="{3FFABDBD-A15D-4120-AC7D-6B6EC1163407}"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FABDBD-A15D-4120-AC7D-6B6EC1163407}" type="slidenum">
              <a:rPr lang="en-US" altLang="en-US" smtClean="0"/>
              <a:t>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5613" y="2286000"/>
            <a:ext cx="8226425" cy="1143000"/>
          </a:xfrm>
        </p:spPr>
        <p:txBody>
          <a:bodyPr/>
          <a:lstStyle>
            <a:lvl1pPr>
              <a:defRPr sz="4800">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075" name="Rectangle 3"/>
          <p:cNvSpPr>
            <a:spLocks noGrp="1" noChangeArrowheads="1"/>
          </p:cNvSpPr>
          <p:nvPr>
            <p:ph type="subTitle" idx="1" hasCustomPrompt="1"/>
          </p:nvPr>
        </p:nvSpPr>
        <p:spPr>
          <a:xfrm>
            <a:off x="1371600" y="3886200"/>
            <a:ext cx="6400800" cy="393700"/>
          </a:xfrm>
        </p:spPr>
        <p:txBody>
          <a:bodyPr/>
          <a:lstStyle>
            <a:lvl1pPr marL="0" indent="0" algn="ctr">
              <a:defRPr sz="3200">
                <a:latin typeface="微软雅黑" panose="020B0503020204020204" pitchFamily="34" charset="-122"/>
                <a:ea typeface="微软雅黑" panose="020B0503020204020204" pitchFamily="34" charset="-122"/>
              </a:defRPr>
            </a:lvl1pPr>
          </a:lstStyle>
          <a:p>
            <a:endParaRPr lang="en-US"/>
          </a:p>
          <a:p>
            <a:endParaRPr lang="en-US"/>
          </a:p>
        </p:txBody>
      </p:sp>
      <p:sp>
        <p:nvSpPr>
          <p:cNvPr id="5" name="灯片编号占位符 3"/>
          <p:cNvSpPr>
            <a:spLocks noGrp="1"/>
          </p:cNvSpPr>
          <p:nvPr>
            <p:ph type="sldNum" sz="quarter" idx="4"/>
          </p:nvPr>
        </p:nvSpPr>
        <p:spPr>
          <a:xfrm>
            <a:off x="8458200" y="6356350"/>
            <a:ext cx="624416" cy="365125"/>
          </a:xfrm>
          <a:prstGeom prst="rect">
            <a:avLst/>
          </a:prstGeom>
        </p:spPr>
        <p:txBody>
          <a:bodyPr vert="horz" lIns="91440" tIns="45720" rIns="91440" bIns="45720" rtlCol="0" anchor="ctr"/>
          <a:lstStyle>
            <a:lvl1pPr algn="r">
              <a:defRPr sz="1400">
                <a:solidFill>
                  <a:schemeClr val="tx1">
                    <a:tint val="75000"/>
                  </a:schemeClr>
                </a:solidFill>
                <a:latin typeface="微软雅黑" panose="020B0503020204020204" pitchFamily="34" charset="-122"/>
                <a:ea typeface="微软雅黑" panose="020B0503020204020204" pitchFamily="34" charset="-122"/>
              </a:defRPr>
            </a:lvl1pPr>
          </a:lstStyle>
          <a:p>
            <a:fld id="{7B9845D8-D779-4563-B1F1-C45D4F729032}"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灯片编号占位符 3"/>
          <p:cNvSpPr>
            <a:spLocks noGrp="1"/>
          </p:cNvSpPr>
          <p:nvPr>
            <p:ph type="sldNum" sz="quarter" idx="4"/>
          </p:nvPr>
        </p:nvSpPr>
        <p:spPr>
          <a:xfrm>
            <a:off x="8458200" y="6356350"/>
            <a:ext cx="624416" cy="365125"/>
          </a:xfrm>
          <a:prstGeom prst="rect">
            <a:avLst/>
          </a:prstGeom>
        </p:spPr>
        <p:txBody>
          <a:bodyPr vert="horz" lIns="91440" tIns="45720" rIns="91440" bIns="45720" rtlCol="0" anchor="ctr"/>
          <a:lstStyle>
            <a:lvl1pPr algn="r">
              <a:defRPr sz="1400">
                <a:solidFill>
                  <a:schemeClr val="tx1">
                    <a:tint val="75000"/>
                  </a:schemeClr>
                </a:solidFill>
                <a:latin typeface="微软雅黑" panose="020B0503020204020204" pitchFamily="34" charset="-122"/>
                <a:ea typeface="微软雅黑" panose="020B0503020204020204" pitchFamily="34" charset="-122"/>
              </a:defRPr>
            </a:lvl1pPr>
          </a:lstStyle>
          <a:p>
            <a:fld id="{7B9845D8-D779-4563-B1F1-C45D4F729032}"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7" name="灯片编号占位符 3"/>
          <p:cNvSpPr>
            <a:spLocks noGrp="1"/>
          </p:cNvSpPr>
          <p:nvPr>
            <p:ph type="sldNum" sz="quarter" idx="4"/>
          </p:nvPr>
        </p:nvSpPr>
        <p:spPr>
          <a:xfrm>
            <a:off x="8458200" y="6356350"/>
            <a:ext cx="624416" cy="365125"/>
          </a:xfrm>
          <a:prstGeom prst="rect">
            <a:avLst/>
          </a:prstGeom>
        </p:spPr>
        <p:txBody>
          <a:bodyPr vert="horz" lIns="91440" tIns="45720" rIns="91440" bIns="45720" rtlCol="0" anchor="ctr"/>
          <a:lstStyle>
            <a:lvl1pPr algn="r">
              <a:defRPr sz="1400">
                <a:solidFill>
                  <a:schemeClr val="tx1">
                    <a:tint val="75000"/>
                  </a:schemeClr>
                </a:solidFill>
                <a:latin typeface="微软雅黑" panose="020B0503020204020204" pitchFamily="34" charset="-122"/>
                <a:ea typeface="微软雅黑" panose="020B0503020204020204" pitchFamily="34" charset="-122"/>
              </a:defRPr>
            </a:lvl1pPr>
          </a:lstStyle>
          <a:p>
            <a:fld id="{7B9845D8-D779-4563-B1F1-C45D4F729032}"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灯片编号占位符 3"/>
          <p:cNvSpPr>
            <a:spLocks noGrp="1"/>
          </p:cNvSpPr>
          <p:nvPr>
            <p:ph type="sldNum" sz="quarter" idx="4"/>
          </p:nvPr>
        </p:nvSpPr>
        <p:spPr>
          <a:xfrm>
            <a:off x="8458200" y="6356350"/>
            <a:ext cx="624416" cy="365125"/>
          </a:xfrm>
          <a:prstGeom prst="rect">
            <a:avLst/>
          </a:prstGeom>
        </p:spPr>
        <p:txBody>
          <a:bodyPr vert="horz" lIns="91440" tIns="45720" rIns="91440" bIns="45720" rtlCol="0" anchor="ctr"/>
          <a:lstStyle>
            <a:lvl1pPr algn="r">
              <a:defRPr sz="1400">
                <a:solidFill>
                  <a:schemeClr val="tx1">
                    <a:tint val="75000"/>
                  </a:schemeClr>
                </a:solidFill>
                <a:latin typeface="微软雅黑" panose="020B0503020204020204" pitchFamily="34" charset="-122"/>
                <a:ea typeface="微软雅黑" panose="020B0503020204020204" pitchFamily="34" charset="-122"/>
              </a:defRPr>
            </a:lvl1pPr>
          </a:lstStyle>
          <a:p>
            <a:fld id="{7B9845D8-D779-4563-B1F1-C45D4F729032}"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209550"/>
            <a:ext cx="9144000" cy="685800"/>
          </a:xfrm>
          <a:prstGeom prst="rect">
            <a:avLst/>
          </a:prstGeom>
          <a:noFill/>
          <a:ln>
            <a:noFill/>
          </a:ln>
        </p:spPr>
        <p:txBody>
          <a:bodyPr vert="horz" wrap="square" lIns="91440" tIns="45720" rIns="91440" bIns="45720" numCol="1" anchor="ctr" anchorCtr="0" compatLnSpc="1"/>
          <a:lstStyle/>
          <a:p>
            <a:pPr lvl="0"/>
            <a:r>
              <a:rPr lang="en-US" altLang="en-US"/>
              <a:t>Click to edit Master title style</a:t>
            </a:r>
          </a:p>
        </p:txBody>
      </p:sp>
      <p:sp>
        <p:nvSpPr>
          <p:cNvPr id="1032" name="Line 8"/>
          <p:cNvSpPr>
            <a:spLocks noChangeShapeType="1"/>
          </p:cNvSpPr>
          <p:nvPr/>
        </p:nvSpPr>
        <p:spPr bwMode="auto">
          <a:xfrm>
            <a:off x="457200" y="938213"/>
            <a:ext cx="8229600" cy="0"/>
          </a:xfrm>
          <a:prstGeom prst="line">
            <a:avLst/>
          </a:prstGeom>
          <a:noFill/>
          <a:ln w="25400">
            <a:solidFill>
              <a:srgbClr val="336699"/>
            </a:solidFill>
            <a:round/>
          </a:ln>
          <a:effectLst/>
        </p:spPr>
        <p:txBody>
          <a:bodyPr/>
          <a:lstStyle/>
          <a:p>
            <a:pPr>
              <a:defRPr/>
            </a:pPr>
            <a:endParaRPr lang="en-US"/>
          </a:p>
        </p:txBody>
      </p:sp>
      <p:sp>
        <p:nvSpPr>
          <p:cNvPr id="3" name="Rectangle 18"/>
          <p:cNvSpPr>
            <a:spLocks noGrp="1" noChangeArrowheads="1"/>
          </p:cNvSpPr>
          <p:nvPr>
            <p:ph type="body" idx="1"/>
          </p:nvPr>
        </p:nvSpPr>
        <p:spPr bwMode="auto">
          <a:xfrm>
            <a:off x="685800" y="1104900"/>
            <a:ext cx="7772400" cy="4648200"/>
          </a:xfrm>
          <a:prstGeom prst="rect">
            <a:avLst/>
          </a:prstGeom>
          <a:noFill/>
          <a:ln>
            <a:noFill/>
          </a:ln>
        </p:spPr>
        <p:txBody>
          <a:bodyPr vert="horz" wrap="square" lIns="91440" tIns="45720" rIns="91440" bIns="45720" numCol="1" anchor="t" anchorCtr="0" compatLnSpc="1"/>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灯片编号占位符 3"/>
          <p:cNvSpPr>
            <a:spLocks noGrp="1"/>
          </p:cNvSpPr>
          <p:nvPr>
            <p:ph type="sldNum" sz="quarter" idx="4"/>
          </p:nvPr>
        </p:nvSpPr>
        <p:spPr>
          <a:xfrm>
            <a:off x="8458200" y="6356350"/>
            <a:ext cx="624416" cy="365125"/>
          </a:xfrm>
          <a:prstGeom prst="rect">
            <a:avLst/>
          </a:prstGeom>
        </p:spPr>
        <p:txBody>
          <a:bodyPr vert="horz" lIns="91440" tIns="45720" rIns="91440" bIns="45720" rtlCol="0" anchor="ctr"/>
          <a:lstStyle>
            <a:lvl1pPr algn="r">
              <a:defRPr sz="1400">
                <a:solidFill>
                  <a:schemeClr val="tx1">
                    <a:tint val="75000"/>
                  </a:schemeClr>
                </a:solidFill>
                <a:latin typeface="微软雅黑" panose="020B0503020204020204" pitchFamily="34" charset="-122"/>
                <a:ea typeface="微软雅黑" panose="020B0503020204020204" pitchFamily="34" charset="-122"/>
              </a:defRPr>
            </a:lvl1pPr>
          </a:lstStyle>
          <a:p>
            <a:fld id="{7B9845D8-D779-4563-B1F1-C45D4F72903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rtl="0" eaLnBrk="0" fontAlgn="base" hangingPunct="0">
        <a:spcBef>
          <a:spcPct val="0"/>
        </a:spcBef>
        <a:spcAft>
          <a:spcPct val="0"/>
        </a:spcAft>
        <a:defRPr sz="4400">
          <a:solidFill>
            <a:srgbClr val="336699"/>
          </a:solidFill>
          <a:latin typeface="+mj-lt"/>
          <a:ea typeface="+mj-ea"/>
          <a:cs typeface="+mj-cs"/>
        </a:defRPr>
      </a:lvl1pPr>
      <a:lvl2pPr algn="ctr" rtl="0" eaLnBrk="0" fontAlgn="base" hangingPunct="0">
        <a:spcBef>
          <a:spcPct val="0"/>
        </a:spcBef>
        <a:spcAft>
          <a:spcPct val="0"/>
        </a:spcAft>
        <a:defRPr sz="4400">
          <a:solidFill>
            <a:srgbClr val="336699"/>
          </a:solidFill>
          <a:latin typeface="Arial" panose="020B0604020202020204" pitchFamily="34" charset="0"/>
        </a:defRPr>
      </a:lvl2pPr>
      <a:lvl3pPr algn="ctr" rtl="0" eaLnBrk="0" fontAlgn="base" hangingPunct="0">
        <a:spcBef>
          <a:spcPct val="0"/>
        </a:spcBef>
        <a:spcAft>
          <a:spcPct val="0"/>
        </a:spcAft>
        <a:defRPr sz="4400">
          <a:solidFill>
            <a:srgbClr val="336699"/>
          </a:solidFill>
          <a:latin typeface="Arial" panose="020B0604020202020204" pitchFamily="34" charset="0"/>
        </a:defRPr>
      </a:lvl3pPr>
      <a:lvl4pPr algn="ctr" rtl="0" eaLnBrk="0" fontAlgn="base" hangingPunct="0">
        <a:spcBef>
          <a:spcPct val="0"/>
        </a:spcBef>
        <a:spcAft>
          <a:spcPct val="0"/>
        </a:spcAft>
        <a:defRPr sz="4400">
          <a:solidFill>
            <a:srgbClr val="336699"/>
          </a:solidFill>
          <a:latin typeface="Arial" panose="020B0604020202020204" pitchFamily="34" charset="0"/>
        </a:defRPr>
      </a:lvl4pPr>
      <a:lvl5pPr algn="ctr" rtl="0" eaLnBrk="0" fontAlgn="base" hangingPunct="0">
        <a:spcBef>
          <a:spcPct val="0"/>
        </a:spcBef>
        <a:spcAft>
          <a:spcPct val="0"/>
        </a:spcAft>
        <a:defRPr sz="4400">
          <a:solidFill>
            <a:srgbClr val="336699"/>
          </a:solidFill>
          <a:latin typeface="Arial" panose="020B0604020202020204" pitchFamily="34" charset="0"/>
        </a:defRPr>
      </a:lvl5pPr>
      <a:lvl6pPr marL="457200" algn="ctr" rtl="0" fontAlgn="base">
        <a:spcBef>
          <a:spcPct val="0"/>
        </a:spcBef>
        <a:spcAft>
          <a:spcPct val="0"/>
        </a:spcAft>
        <a:defRPr sz="4400">
          <a:solidFill>
            <a:srgbClr val="336699"/>
          </a:solidFill>
          <a:latin typeface="Arial" panose="020B0604020202020204" pitchFamily="34" charset="0"/>
        </a:defRPr>
      </a:lvl6pPr>
      <a:lvl7pPr marL="914400" algn="ctr" rtl="0" fontAlgn="base">
        <a:spcBef>
          <a:spcPct val="0"/>
        </a:spcBef>
        <a:spcAft>
          <a:spcPct val="0"/>
        </a:spcAft>
        <a:defRPr sz="4400">
          <a:solidFill>
            <a:srgbClr val="336699"/>
          </a:solidFill>
          <a:latin typeface="Arial" panose="020B0604020202020204" pitchFamily="34" charset="0"/>
        </a:defRPr>
      </a:lvl7pPr>
      <a:lvl8pPr marL="1371600" algn="ctr" rtl="0" fontAlgn="base">
        <a:spcBef>
          <a:spcPct val="0"/>
        </a:spcBef>
        <a:spcAft>
          <a:spcPct val="0"/>
        </a:spcAft>
        <a:defRPr sz="4400">
          <a:solidFill>
            <a:srgbClr val="336699"/>
          </a:solidFill>
          <a:latin typeface="Arial" panose="020B0604020202020204" pitchFamily="34" charset="0"/>
        </a:defRPr>
      </a:lvl8pPr>
      <a:lvl9pPr marL="1828800" algn="ctr" rtl="0" fontAlgn="base">
        <a:spcBef>
          <a:spcPct val="0"/>
        </a:spcBef>
        <a:spcAft>
          <a:spcPct val="0"/>
        </a:spcAft>
        <a:defRPr sz="4400">
          <a:solidFill>
            <a:srgbClr val="336699"/>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4.wmf"/><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4.wmf"/><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4.wmf"/><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8.wmf"/><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customXml" Target="../ink/ink2.xml"/></Relationships>
</file>

<file path=ppt/slides/_rels/slide2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5613" y="998945"/>
            <a:ext cx="8226425" cy="1143000"/>
          </a:xfrm>
        </p:spPr>
        <p:txBody>
          <a:bodyPr/>
          <a:lstStyle/>
          <a:p>
            <a:pPr eaLnBrk="1" hangingPunct="1"/>
            <a:r>
              <a:rPr lang="zh-CN" altLang="en-US" dirty="0"/>
              <a:t>计算机体系结构</a:t>
            </a:r>
            <a:endParaRPr lang="en-US" altLang="en-US" dirty="0"/>
          </a:p>
        </p:txBody>
      </p:sp>
      <p:sp>
        <p:nvSpPr>
          <p:cNvPr id="3075" name="Rectangle 3"/>
          <p:cNvSpPr>
            <a:spLocks noGrp="1" noChangeArrowheads="1"/>
          </p:cNvSpPr>
          <p:nvPr>
            <p:ph type="subTitle" idx="1"/>
          </p:nvPr>
        </p:nvSpPr>
        <p:spPr>
          <a:xfrm>
            <a:off x="1371600" y="2761069"/>
            <a:ext cx="6400800" cy="755127"/>
          </a:xfrm>
        </p:spPr>
        <p:txBody>
          <a:bodyPr/>
          <a:lstStyle/>
          <a:p>
            <a:pPr eaLnBrk="1" hangingPunct="1">
              <a:buFontTx/>
              <a:buNone/>
            </a:pPr>
            <a:r>
              <a:rPr lang="en-US" altLang="zh-CN" sz="3600" dirty="0" err="1"/>
              <a:t>07b</a:t>
            </a:r>
            <a:r>
              <a:rPr lang="en-US" altLang="zh-CN" sz="3600" dirty="0"/>
              <a:t>. </a:t>
            </a:r>
            <a:r>
              <a:rPr lang="zh-CN" altLang="en-US" sz="3600" dirty="0"/>
              <a:t>数据通路</a:t>
            </a:r>
            <a:endParaRPr lang="en-US" altLang="en-US" sz="3600" baseline="30000" dirty="0"/>
          </a:p>
        </p:txBody>
      </p:sp>
      <p:sp>
        <p:nvSpPr>
          <p:cNvPr id="3076" name="Text Box 4"/>
          <p:cNvSpPr txBox="1">
            <a:spLocks noChangeArrowheads="1"/>
          </p:cNvSpPr>
          <p:nvPr/>
        </p:nvSpPr>
        <p:spPr bwMode="auto">
          <a:xfrm>
            <a:off x="476250" y="3767382"/>
            <a:ext cx="8220075" cy="1040285"/>
          </a:xfrm>
          <a:prstGeom prst="rect">
            <a:avLst/>
          </a:prstGeom>
          <a:noFill/>
          <a:ln>
            <a:noFill/>
          </a:ln>
        </p:spPr>
        <p:txBody>
          <a:bodyPr wrap="square">
            <a:spAutoFit/>
          </a:bodyPr>
          <a:lstStyle>
            <a:lvl1pPr eaLnBrk="0" hangingPunct="0">
              <a:defRPr sz="3200" b="1">
                <a:solidFill>
                  <a:schemeClr val="tx1"/>
                </a:solidFill>
                <a:latin typeface="Arial" panose="020B0604020202020204" pitchFamily="34" charset="0"/>
              </a:defRPr>
            </a:lvl1pPr>
            <a:lvl2pPr marL="742950" indent="-285750" eaLnBrk="0" hangingPunct="0">
              <a:defRPr sz="3200" b="1">
                <a:solidFill>
                  <a:schemeClr val="tx1"/>
                </a:solidFill>
                <a:latin typeface="Arial" panose="020B0604020202020204" pitchFamily="34" charset="0"/>
              </a:defRPr>
            </a:lvl2pPr>
            <a:lvl3pPr marL="1143000" indent="-228600" eaLnBrk="0" hangingPunct="0">
              <a:defRPr sz="3200" b="1">
                <a:solidFill>
                  <a:schemeClr val="tx1"/>
                </a:solidFill>
                <a:latin typeface="Arial" panose="020B0604020202020204" pitchFamily="34" charset="0"/>
              </a:defRPr>
            </a:lvl3pPr>
            <a:lvl4pPr marL="1600200" indent="-228600" eaLnBrk="0" hangingPunct="0">
              <a:defRPr sz="3200" b="1">
                <a:solidFill>
                  <a:schemeClr val="tx1"/>
                </a:solidFill>
                <a:latin typeface="Arial" panose="020B0604020202020204" pitchFamily="34" charset="0"/>
              </a:defRPr>
            </a:lvl4pPr>
            <a:lvl5pPr marL="2057400" indent="-228600" eaLnBrk="0" hangingPunct="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李建华</a:t>
            </a:r>
            <a:endParaRPr lang="en-US" altLang="zh-CN" sz="2800" b="0" dirty="0">
              <a:latin typeface="微软雅黑" panose="020B0503020204020204" pitchFamily="34" charset="-122"/>
              <a:ea typeface="微软雅黑" panose="020B0503020204020204" pitchFamily="34" charset="-122"/>
            </a:endParaRPr>
          </a:p>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计算机与信息学院</a:t>
            </a:r>
            <a:endParaRPr lang="en-US" altLang="en-US" sz="2000" b="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53BCED7-B042-421A-8A73-95C14D7BCAD3}"/>
              </a:ext>
            </a:extLst>
          </p:cNvPr>
          <p:cNvSpPr txBox="1"/>
          <p:nvPr/>
        </p:nvSpPr>
        <p:spPr>
          <a:xfrm>
            <a:off x="455613" y="5712645"/>
            <a:ext cx="8240712" cy="954107"/>
          </a:xfrm>
          <a:prstGeom prst="rect">
            <a:avLst/>
          </a:prstGeom>
          <a:noFill/>
        </p:spPr>
        <p:txBody>
          <a:bodyPr wrap="square" rtlCol="0">
            <a:spAutoFit/>
          </a:bodyPr>
          <a:lstStyle/>
          <a:p>
            <a:pPr algn="just"/>
            <a:r>
              <a:rPr lang="en-US" altLang="zh-CN" sz="1400" dirty="0">
                <a:solidFill>
                  <a:srgbClr val="FF0000"/>
                </a:solidFill>
                <a:latin typeface="Tw Cen MT" panose="020B0602020104020603" pitchFamily="34" charset="0"/>
              </a:rPr>
              <a:t>The contents of the slides are adapted from CA course of </a:t>
            </a:r>
            <a:r>
              <a:rPr lang="en-US" altLang="zh-CN" sz="1400" dirty="0" err="1">
                <a:solidFill>
                  <a:srgbClr val="FF0000"/>
                </a:solidFill>
                <a:latin typeface="Tw Cen MT" panose="020B0602020104020603" pitchFamily="34" charset="0"/>
              </a:rPr>
              <a:t>wisc</a:t>
            </a:r>
            <a:r>
              <a:rPr lang="en-US" altLang="zh-CN" sz="1400" dirty="0">
                <a:solidFill>
                  <a:srgbClr val="FF0000"/>
                </a:solidFill>
                <a:latin typeface="Tw Cen MT" panose="020B0602020104020603" pitchFamily="34" charset="0"/>
              </a:rPr>
              <a:t>, </a:t>
            </a:r>
            <a:r>
              <a:rPr lang="en-US" altLang="zh-CN" sz="1400" dirty="0" err="1">
                <a:solidFill>
                  <a:srgbClr val="FF0000"/>
                </a:solidFill>
                <a:latin typeface="Tw Cen MT" panose="020B0602020104020603" pitchFamily="34" charset="0"/>
              </a:rPr>
              <a:t>princeton</a:t>
            </a:r>
            <a:r>
              <a:rPr lang="en-US" altLang="zh-CN" sz="1400" dirty="0">
                <a:solidFill>
                  <a:srgbClr val="FF0000"/>
                </a:solidFill>
                <a:latin typeface="Tw Cen MT" panose="020B0602020104020603" pitchFamily="34" charset="0"/>
              </a:rPr>
              <a:t>, </a:t>
            </a:r>
            <a:r>
              <a:rPr lang="en-US" altLang="zh-CN" sz="1400" dirty="0" err="1">
                <a:solidFill>
                  <a:srgbClr val="FF0000"/>
                </a:solidFill>
                <a:latin typeface="Tw Cen MT" panose="020B0602020104020603" pitchFamily="34" charset="0"/>
              </a:rPr>
              <a:t>mit</a:t>
            </a:r>
            <a:r>
              <a:rPr lang="en-US" altLang="zh-CN" sz="1400" dirty="0">
                <a:solidFill>
                  <a:srgbClr val="FF0000"/>
                </a:solidFill>
                <a:latin typeface="Tw Cen MT" panose="020B0602020104020603" pitchFamily="34" charset="0"/>
              </a:rPr>
              <a:t>, </a:t>
            </a:r>
            <a:r>
              <a:rPr lang="en-US" altLang="zh-CN" sz="1400" dirty="0" err="1">
                <a:solidFill>
                  <a:srgbClr val="FF0000"/>
                </a:solidFill>
                <a:latin typeface="Tw Cen MT" panose="020B0602020104020603" pitchFamily="34" charset="0"/>
              </a:rPr>
              <a:t>berkeley</a:t>
            </a:r>
            <a:r>
              <a:rPr lang="en-US" altLang="zh-CN" sz="1400" dirty="0">
                <a:solidFill>
                  <a:srgbClr val="FF0000"/>
                </a:solidFill>
                <a:latin typeface="Tw Cen MT" panose="020B0602020104020603" pitchFamily="34" charset="0"/>
              </a:rPr>
              <a:t>, </a:t>
            </a:r>
            <a:r>
              <a:rPr lang="en-US" altLang="zh-CN" sz="1400" dirty="0" err="1">
                <a:solidFill>
                  <a:srgbClr val="FF0000"/>
                </a:solidFill>
                <a:latin typeface="Tw Cen MT" panose="020B0602020104020603" pitchFamily="34" charset="0"/>
              </a:rPr>
              <a:t>edinburg</a:t>
            </a:r>
            <a:r>
              <a:rPr lang="en-US" altLang="zh-CN" sz="1400" dirty="0">
                <a:solidFill>
                  <a:srgbClr val="FF0000"/>
                </a:solidFill>
                <a:latin typeface="Tw Cen MT" panose="020B0602020104020603" pitchFamily="34" charset="0"/>
              </a:rPr>
              <a:t>, and eth.</a:t>
            </a:r>
          </a:p>
          <a:p>
            <a:pPr algn="just"/>
            <a:r>
              <a:rPr lang="en-US" altLang="zh-CN" sz="1400" dirty="0">
                <a:solidFill>
                  <a:srgbClr val="FF0000"/>
                </a:solidFill>
                <a:latin typeface="Tw Cen MT" panose="020B0602020104020603" pitchFamily="34" charset="0"/>
              </a:rPr>
              <a:t>The uses of	the slides of this course are for educational purposes only and should be used only in conjunction with the textbook. Derivatives of the slides must acknowledge the copyright notices of this and the originals.</a:t>
            </a:r>
            <a:endParaRPr lang="zh-CN" altLang="en-US" sz="1400" dirty="0">
              <a:solidFill>
                <a:srgbClr val="FF0000"/>
              </a:solidFill>
              <a:latin typeface="Tw Cen MT" panose="020B06020201040206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647426"/>
          </a:xfrm>
          <a:prstGeom prst="rect">
            <a:avLst/>
          </a:prstGeom>
        </p:spPr>
        <p:txBody>
          <a:bodyPr vert="horz" wrap="square" lIns="0" tIns="0" rIns="0" bIns="0" rtlCol="0">
            <a:spAutoFit/>
          </a:bodyPr>
          <a:lstStyle/>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solidFill>
                  <a:srgbClr val="FF0000"/>
                </a:solidFill>
                <a:latin typeface="微软雅黑" panose="020B0503020204020204" pitchFamily="34" charset="-122"/>
                <a:ea typeface="微软雅黑" panose="020B0503020204020204" pitchFamily="34" charset="-122"/>
                <a:cs typeface="Calibri" panose="020F0502020204030204"/>
              </a:rPr>
              <a:t>MIPS</a:t>
            </a:r>
            <a:r>
              <a:rPr lang="zh-CN" altLang="en-US" sz="2800" b="0" spc="-60" dirty="0">
                <a:solidFill>
                  <a:srgbClr val="FF0000"/>
                </a:solidFill>
                <a:latin typeface="微软雅黑" panose="020B0503020204020204" pitchFamily="34" charset="-122"/>
                <a:ea typeface="微软雅黑" panose="020B0503020204020204" pitchFamily="34" charset="-122"/>
                <a:cs typeface="Calibri" panose="020F0502020204030204"/>
              </a:rPr>
              <a:t>指令处理步骤</a:t>
            </a:r>
            <a:endParaRPr sz="2400" b="0" spc="5"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算术逻辑指令的数据通路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访存指令的数据通路</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控制流指令数据通路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单周期控制逻辑</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单周期性能分析</a:t>
            </a:r>
            <a:endParaRPr sz="2800" b="0" spc="-60" dirty="0">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
        <p:nvSpPr>
          <p:cNvPr id="2" name="文本框 1"/>
          <p:cNvSpPr txBox="1"/>
          <p:nvPr/>
        </p:nvSpPr>
        <p:spPr>
          <a:xfrm>
            <a:off x="4945626" y="2594633"/>
            <a:ext cx="3745886" cy="1938992"/>
          </a:xfrm>
          <a:prstGeom prst="rect">
            <a:avLst/>
          </a:prstGeom>
          <a:noFill/>
          <a:ln>
            <a:solidFill>
              <a:srgbClr val="FF0000"/>
            </a:solidFill>
          </a:ln>
        </p:spPr>
        <p:txBody>
          <a:bodyPr wrap="square" rtlCol="0">
            <a:spAutoFit/>
          </a:bodyPr>
          <a:lstStyle/>
          <a:p>
            <a:r>
              <a:rPr lang="zh-CN" altLang="en-US" sz="2400" dirty="0">
                <a:solidFill>
                  <a:srgbClr val="FF0000"/>
                </a:solidFill>
                <a:latin typeface="楷体" panose="02010609060101010101" pitchFamily="49" charset="-122"/>
                <a:ea typeface="楷体" panose="02010609060101010101" pitchFamily="49" charset="-122"/>
              </a:rPr>
              <a:t>这是补充的内容，主要的目的是：</a:t>
            </a:r>
            <a:endParaRPr lang="en-US" altLang="zh-CN" sz="2400" dirty="0">
              <a:solidFill>
                <a:srgbClr val="FF0000"/>
              </a:solidFill>
              <a:latin typeface="楷体" panose="02010609060101010101" pitchFamily="49" charset="-122"/>
              <a:ea typeface="楷体" panose="02010609060101010101" pitchFamily="49" charset="-122"/>
            </a:endParaRPr>
          </a:p>
          <a:p>
            <a:r>
              <a:rPr lang="zh-CN" altLang="en-US" sz="2400" dirty="0">
                <a:solidFill>
                  <a:srgbClr val="FF0000"/>
                </a:solidFill>
                <a:latin typeface="楷体" panose="02010609060101010101" pitchFamily="49" charset="-122"/>
                <a:ea typeface="楷体" panose="02010609060101010101" pitchFamily="49" charset="-122"/>
              </a:rPr>
              <a:t>为大家更好地开展</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系统硬件综合设计</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做准备工作。</a:t>
            </a:r>
          </a:p>
        </p:txBody>
      </p:sp>
      <p:sp>
        <p:nvSpPr>
          <p:cNvPr id="4" name="灯片编号占位符 3"/>
          <p:cNvSpPr>
            <a:spLocks noGrp="1"/>
          </p:cNvSpPr>
          <p:nvPr>
            <p:ph type="sldNum" sz="quarter" idx="4"/>
          </p:nvPr>
        </p:nvSpPr>
        <p:spPr/>
        <p:txBody>
          <a:bodyPr/>
          <a:lstStyle/>
          <a:p>
            <a:fld id="{7B9845D8-D779-4563-B1F1-C45D4F729032}" type="slidenum">
              <a:rPr lang="zh-CN" altLang="en-US" smtClean="0"/>
              <a:pPr/>
              <a:t>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76200"/>
            <a:ext cx="8229600" cy="838200"/>
          </a:xfrm>
        </p:spPr>
        <p:txBody>
          <a:bodyPr/>
          <a:lstStyle/>
          <a:p>
            <a:pPr eaLnBrk="1" hangingPunct="1"/>
            <a:r>
              <a:rPr lang="en-US" altLang="zh-CN" dirty="0"/>
              <a:t>MIPS</a:t>
            </a:r>
            <a:r>
              <a:rPr lang="zh-CN" altLang="en-US" dirty="0"/>
              <a:t>指令的处理步骤</a:t>
            </a:r>
            <a:endParaRPr lang="en-US" altLang="zh-CN" dirty="0"/>
          </a:p>
        </p:txBody>
      </p:sp>
      <p:sp>
        <p:nvSpPr>
          <p:cNvPr id="5123" name="Content Placeholder 2"/>
          <p:cNvSpPr>
            <a:spLocks noGrp="1"/>
          </p:cNvSpPr>
          <p:nvPr>
            <p:ph idx="1"/>
          </p:nvPr>
        </p:nvSpPr>
        <p:spPr>
          <a:xfrm>
            <a:off x="485481" y="1017314"/>
            <a:ext cx="8610600" cy="2743200"/>
          </a:xfrm>
        </p:spPr>
        <p:txBody>
          <a:bodyPr/>
          <a:lstStyle/>
          <a:p>
            <a:pPr marL="346710" indent="-334010">
              <a:spcBef>
                <a:spcPts val="0"/>
              </a:spcBef>
              <a:spcAft>
                <a:spcPts val="600"/>
              </a:spcAft>
              <a:buClr>
                <a:srgbClr val="151F36"/>
              </a:buClr>
              <a:buSzPct val="100000"/>
              <a:buFont typeface="Arial" panose="020B0604020202020204"/>
              <a:buChar char="•"/>
              <a:tabLst>
                <a:tab pos="346710" algn="l"/>
                <a:tab pos="347345" algn="l"/>
              </a:tabLst>
            </a:pPr>
            <a:r>
              <a:rPr lang="zh-CN" altLang="en-US" kern="1200" spc="-60" dirty="0">
                <a:cs typeface="Calibri" panose="020F0502020204030204"/>
              </a:rPr>
              <a:t>主要步骤：</a:t>
            </a:r>
            <a:endParaRPr lang="en-US" altLang="zh-CN" kern="1200" spc="-60" dirty="0">
              <a:cs typeface="Calibri" panose="020F0502020204030204"/>
            </a:endParaRP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取指</a:t>
            </a:r>
            <a:r>
              <a:rPr lang="en-US" altLang="zh-CN" kern="1200" spc="5" dirty="0">
                <a:solidFill>
                  <a:schemeClr val="tx1">
                    <a:lumMod val="95000"/>
                    <a:lumOff val="5000"/>
                  </a:schemeClr>
                </a:solidFill>
                <a:cs typeface="Calibri" panose="020F0502020204030204"/>
              </a:rPr>
              <a:t> (IF)</a:t>
            </a: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译码</a:t>
            </a:r>
            <a:r>
              <a:rPr lang="en-US" altLang="zh-CN" kern="1200" spc="5" dirty="0">
                <a:solidFill>
                  <a:schemeClr val="tx1">
                    <a:lumMod val="95000"/>
                    <a:lumOff val="5000"/>
                  </a:schemeClr>
                </a:solidFill>
                <a:cs typeface="Calibri" panose="020F0502020204030204"/>
              </a:rPr>
              <a:t> &amp; </a:t>
            </a:r>
            <a:r>
              <a:rPr lang="zh-CN" altLang="en-US" kern="1200" spc="5" dirty="0">
                <a:solidFill>
                  <a:schemeClr val="tx1">
                    <a:lumMod val="95000"/>
                    <a:lumOff val="5000"/>
                  </a:schemeClr>
                </a:solidFill>
                <a:cs typeface="Calibri" panose="020F0502020204030204"/>
              </a:rPr>
              <a:t>取寄存器操作数 </a:t>
            </a:r>
            <a:r>
              <a:rPr lang="en-US" altLang="zh-CN" kern="1200" spc="5" dirty="0">
                <a:solidFill>
                  <a:schemeClr val="tx1">
                    <a:lumMod val="95000"/>
                    <a:lumOff val="5000"/>
                  </a:schemeClr>
                </a:solidFill>
                <a:cs typeface="Calibri" panose="020F0502020204030204"/>
              </a:rPr>
              <a:t>(ID&amp;RF)</a:t>
            </a: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执行</a:t>
            </a:r>
            <a:r>
              <a:rPr lang="en-US" altLang="zh-CN" kern="1200" spc="5" dirty="0">
                <a:solidFill>
                  <a:schemeClr val="tx1">
                    <a:lumMod val="95000"/>
                    <a:lumOff val="5000"/>
                  </a:schemeClr>
                </a:solidFill>
                <a:cs typeface="Calibri" panose="020F0502020204030204"/>
              </a:rPr>
              <a:t>/</a:t>
            </a:r>
            <a:r>
              <a:rPr lang="zh-CN" altLang="en-US" kern="1200" spc="5" dirty="0">
                <a:solidFill>
                  <a:schemeClr val="tx1">
                    <a:lumMod val="95000"/>
                    <a:lumOff val="5000"/>
                  </a:schemeClr>
                </a:solidFill>
                <a:cs typeface="Calibri" panose="020F0502020204030204"/>
              </a:rPr>
              <a:t>计算访存地址 </a:t>
            </a:r>
            <a:r>
              <a:rPr lang="en-US" altLang="zh-CN" kern="1200" spc="5" dirty="0">
                <a:solidFill>
                  <a:schemeClr val="tx1">
                    <a:lumMod val="95000"/>
                    <a:lumOff val="5000"/>
                  </a:schemeClr>
                </a:solidFill>
                <a:cs typeface="Calibri" panose="020F0502020204030204"/>
              </a:rPr>
              <a:t>(EX/AG)</a:t>
            </a: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访存 </a:t>
            </a:r>
            <a:r>
              <a:rPr lang="en-US" altLang="zh-CN" kern="1200" spc="5" dirty="0">
                <a:solidFill>
                  <a:schemeClr val="tx1">
                    <a:lumMod val="95000"/>
                    <a:lumOff val="5000"/>
                  </a:schemeClr>
                </a:solidFill>
                <a:cs typeface="Calibri" panose="020F0502020204030204"/>
              </a:rPr>
              <a:t>(MEM)</a:t>
            </a: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回写 </a:t>
            </a:r>
            <a:r>
              <a:rPr lang="en-US" altLang="zh-CN" kern="1200" spc="5" dirty="0">
                <a:solidFill>
                  <a:schemeClr val="tx1">
                    <a:lumMod val="95000"/>
                    <a:lumOff val="5000"/>
                  </a:schemeClr>
                </a:solidFill>
                <a:cs typeface="Calibri" panose="020F0502020204030204"/>
              </a:rPr>
              <a:t>(WB) </a:t>
            </a:r>
          </a:p>
        </p:txBody>
      </p:sp>
      <p:pic>
        <p:nvPicPr>
          <p:cNvPr id="5125" name="Picture 4" descr="F05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 y="3771900"/>
            <a:ext cx="84201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6"/>
          <p:cNvSpPr>
            <a:spLocks noChangeArrowheads="1"/>
          </p:cNvSpPr>
          <p:nvPr/>
        </p:nvSpPr>
        <p:spPr bwMode="auto">
          <a:xfrm>
            <a:off x="552450" y="4219575"/>
            <a:ext cx="914400" cy="381000"/>
          </a:xfrm>
          <a:prstGeom prst="rect">
            <a:avLst/>
          </a:prstGeom>
          <a:solidFill>
            <a:srgbClr val="91919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fontAlgn="auto">
              <a:spcBef>
                <a:spcPts val="0"/>
              </a:spcBef>
              <a:spcAft>
                <a:spcPts val="0"/>
              </a:spcAft>
              <a:defRPr/>
            </a:pPr>
            <a:r>
              <a:rPr lang="en-US" sz="2800" kern="0">
                <a:solidFill>
                  <a:sysClr val="windowText" lastClr="000000"/>
                </a:solidFill>
                <a:latin typeface="Calibri" charset="0"/>
                <a:ea typeface="ＭＳ Ｐゴシック" charset="0"/>
                <a:cs typeface="ＭＳ Ｐゴシック" charset="0"/>
              </a:rPr>
              <a:t>IF</a:t>
            </a:r>
          </a:p>
        </p:txBody>
      </p:sp>
      <p:sp>
        <p:nvSpPr>
          <p:cNvPr id="14" name="Rectangle 7"/>
          <p:cNvSpPr>
            <a:spLocks noChangeArrowheads="1"/>
          </p:cNvSpPr>
          <p:nvPr/>
        </p:nvSpPr>
        <p:spPr bwMode="auto">
          <a:xfrm>
            <a:off x="2767013" y="5292725"/>
            <a:ext cx="914400" cy="381000"/>
          </a:xfrm>
          <a:prstGeom prst="rect">
            <a:avLst/>
          </a:prstGeom>
          <a:solidFill>
            <a:srgbClr val="91919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fontAlgn="auto">
              <a:spcBef>
                <a:spcPts val="0"/>
              </a:spcBef>
              <a:spcAft>
                <a:spcPts val="0"/>
              </a:spcAft>
              <a:defRPr/>
            </a:pPr>
            <a:r>
              <a:rPr lang="en-US" sz="2800" kern="0" dirty="0">
                <a:solidFill>
                  <a:sysClr val="windowText" lastClr="000000"/>
                </a:solidFill>
                <a:latin typeface="Calibri" charset="0"/>
                <a:ea typeface="ＭＳ Ｐゴシック" charset="0"/>
                <a:cs typeface="ＭＳ Ｐゴシック" charset="0"/>
              </a:rPr>
              <a:t>ID/RF</a:t>
            </a:r>
          </a:p>
        </p:txBody>
      </p:sp>
      <p:sp>
        <p:nvSpPr>
          <p:cNvPr id="15" name="Rectangle 8"/>
          <p:cNvSpPr>
            <a:spLocks noChangeArrowheads="1"/>
          </p:cNvSpPr>
          <p:nvPr/>
        </p:nvSpPr>
        <p:spPr bwMode="auto">
          <a:xfrm>
            <a:off x="5310188" y="5524500"/>
            <a:ext cx="1090612" cy="381000"/>
          </a:xfrm>
          <a:prstGeom prst="rect">
            <a:avLst/>
          </a:prstGeom>
          <a:solidFill>
            <a:srgbClr val="91919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fontAlgn="auto">
              <a:spcBef>
                <a:spcPts val="0"/>
              </a:spcBef>
              <a:spcAft>
                <a:spcPts val="0"/>
              </a:spcAft>
              <a:defRPr/>
            </a:pPr>
            <a:r>
              <a:rPr lang="en-US" sz="2800" kern="0" dirty="0">
                <a:solidFill>
                  <a:sysClr val="windowText" lastClr="000000"/>
                </a:solidFill>
                <a:latin typeface="Calibri" charset="0"/>
                <a:ea typeface="ＭＳ Ｐゴシック" charset="0"/>
                <a:cs typeface="ＭＳ Ｐゴシック" charset="0"/>
              </a:rPr>
              <a:t>EX/AG</a:t>
            </a:r>
          </a:p>
        </p:txBody>
      </p:sp>
      <p:sp>
        <p:nvSpPr>
          <p:cNvPr id="16" name="Rectangle 9"/>
          <p:cNvSpPr>
            <a:spLocks noChangeArrowheads="1"/>
          </p:cNvSpPr>
          <p:nvPr/>
        </p:nvSpPr>
        <p:spPr bwMode="auto">
          <a:xfrm>
            <a:off x="7372350" y="6124575"/>
            <a:ext cx="914400" cy="381000"/>
          </a:xfrm>
          <a:prstGeom prst="rect">
            <a:avLst/>
          </a:prstGeom>
          <a:solidFill>
            <a:srgbClr val="91919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fontAlgn="auto">
              <a:spcBef>
                <a:spcPts val="0"/>
              </a:spcBef>
              <a:spcAft>
                <a:spcPts val="0"/>
              </a:spcAft>
              <a:defRPr/>
            </a:pPr>
            <a:r>
              <a:rPr lang="en-US" sz="2800" kern="0">
                <a:solidFill>
                  <a:sysClr val="windowText" lastClr="000000"/>
                </a:solidFill>
                <a:latin typeface="Calibri" charset="0"/>
                <a:ea typeface="ＭＳ Ｐゴシック" charset="0"/>
                <a:cs typeface="ＭＳ Ｐゴシック" charset="0"/>
              </a:rPr>
              <a:t>MEM</a:t>
            </a:r>
          </a:p>
        </p:txBody>
      </p:sp>
      <p:sp>
        <p:nvSpPr>
          <p:cNvPr id="17" name="Rectangle 10"/>
          <p:cNvSpPr>
            <a:spLocks noChangeArrowheads="1"/>
          </p:cNvSpPr>
          <p:nvPr/>
        </p:nvSpPr>
        <p:spPr bwMode="auto">
          <a:xfrm>
            <a:off x="5943600" y="3581400"/>
            <a:ext cx="914400" cy="381000"/>
          </a:xfrm>
          <a:prstGeom prst="rect">
            <a:avLst/>
          </a:prstGeom>
          <a:solidFill>
            <a:srgbClr val="91919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fontAlgn="auto">
              <a:spcBef>
                <a:spcPts val="0"/>
              </a:spcBef>
              <a:spcAft>
                <a:spcPts val="0"/>
              </a:spcAft>
              <a:defRPr/>
            </a:pPr>
            <a:r>
              <a:rPr lang="en-US" sz="2800" kern="0" dirty="0">
                <a:solidFill>
                  <a:sysClr val="windowText" lastClr="000000"/>
                </a:solidFill>
                <a:latin typeface="Calibri" charset="0"/>
                <a:ea typeface="ＭＳ Ｐゴシック" charset="0"/>
                <a:cs typeface="ＭＳ Ｐゴシック" charset="0"/>
              </a:rPr>
              <a:t>WB</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228600" y="76200"/>
            <a:ext cx="8701088" cy="1066800"/>
          </a:xfrm>
        </p:spPr>
        <p:txBody>
          <a:bodyPr/>
          <a:lstStyle/>
          <a:p>
            <a:pPr eaLnBrk="1" hangingPunct="1"/>
            <a:r>
              <a:rPr lang="zh-CN" altLang="en-US" dirty="0"/>
              <a:t>相对完整的单周期数据通路</a:t>
            </a:r>
            <a:endParaRPr lang="en-US" altLang="zh-CN" dirty="0"/>
          </a:p>
        </p:txBody>
      </p:sp>
      <p:pic>
        <p:nvPicPr>
          <p:cNvPr id="6148" name="Picture 3"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2126" y="1217613"/>
            <a:ext cx="8437562"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 Box 4"/>
          <p:cNvSpPr txBox="1">
            <a:spLocks noChangeArrowheads="1"/>
          </p:cNvSpPr>
          <p:nvPr/>
        </p:nvSpPr>
        <p:spPr bwMode="auto">
          <a:xfrm>
            <a:off x="7569200" y="2474913"/>
            <a:ext cx="11922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6150" name="Text Box 5"/>
          <p:cNvSpPr txBox="1">
            <a:spLocks noChangeArrowheads="1"/>
          </p:cNvSpPr>
          <p:nvPr/>
        </p:nvSpPr>
        <p:spPr bwMode="auto">
          <a:xfrm>
            <a:off x="7305675" y="1300163"/>
            <a:ext cx="9953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6151" name="Text Box 6"/>
          <p:cNvSpPr txBox="1">
            <a:spLocks noChangeArrowheads="1"/>
          </p:cNvSpPr>
          <p:nvPr/>
        </p:nvSpPr>
        <p:spPr bwMode="auto">
          <a:xfrm>
            <a:off x="6240463" y="5446713"/>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6152" name="Text Box 7"/>
          <p:cNvSpPr txBox="1">
            <a:spLocks noChangeArrowheads="1"/>
          </p:cNvSpPr>
          <p:nvPr/>
        </p:nvSpPr>
        <p:spPr bwMode="auto">
          <a:xfrm>
            <a:off x="6408738" y="4327525"/>
            <a:ext cx="260350" cy="1238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800">
                <a:latin typeface="Calibri" pitchFamily="34" charset="0"/>
              </a:rPr>
              <a:t>bcond</a:t>
            </a:r>
          </a:p>
        </p:txBody>
      </p:sp>
      <p:sp>
        <p:nvSpPr>
          <p:cNvPr id="6153" name="Text Box 9"/>
          <p:cNvSpPr txBox="1">
            <a:spLocks noChangeArrowheads="1"/>
          </p:cNvSpPr>
          <p:nvPr/>
        </p:nvSpPr>
        <p:spPr bwMode="auto">
          <a:xfrm>
            <a:off x="6172200" y="6400800"/>
            <a:ext cx="1914525" cy="3381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rgbClr val="FF0000"/>
                </a:solidFill>
                <a:latin typeface="Tw Cen MT" panose="020B0602020104020603" pitchFamily="34" charset="0"/>
              </a:rPr>
              <a:t>JAL, JR, JALR omitted</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4</a:t>
            </a:fld>
            <a:endParaRPr lang="zh-CN" altLang="en-US"/>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925624-320D-4A14-BFC8-F13EFFB74D3A}"/>
              </a:ext>
            </a:extLst>
          </p:cNvPr>
          <p:cNvSpPr>
            <a:spLocks noGrp="1"/>
          </p:cNvSpPr>
          <p:nvPr>
            <p:ph type="title"/>
          </p:nvPr>
        </p:nvSpPr>
        <p:spPr/>
        <p:txBody>
          <a:bodyPr/>
          <a:lstStyle/>
          <a:p>
            <a:r>
              <a:rPr lang="zh-CN" altLang="en-US" dirty="0"/>
              <a:t>用</a:t>
            </a:r>
            <a:r>
              <a:rPr lang="en-US" altLang="zh-CN" dirty="0" err="1"/>
              <a:t>logisim</a:t>
            </a:r>
            <a:r>
              <a:rPr lang="zh-CN" altLang="en-US" dirty="0"/>
              <a:t>搭建的单周期</a:t>
            </a:r>
            <a:r>
              <a:rPr lang="en-US" altLang="zh-CN" dirty="0"/>
              <a:t>CPU</a:t>
            </a:r>
            <a:endParaRPr lang="zh-CN" altLang="en-US" dirty="0"/>
          </a:p>
        </p:txBody>
      </p:sp>
      <p:sp>
        <p:nvSpPr>
          <p:cNvPr id="4" name="灯片编号占位符 3">
            <a:extLst>
              <a:ext uri="{FF2B5EF4-FFF2-40B4-BE49-F238E27FC236}">
                <a16:creationId xmlns:a16="http://schemas.microsoft.com/office/drawing/2014/main" id="{2279CF7C-8286-4D2F-A889-4633AD4C5642}"/>
              </a:ext>
            </a:extLst>
          </p:cNvPr>
          <p:cNvSpPr>
            <a:spLocks noGrp="1"/>
          </p:cNvSpPr>
          <p:nvPr>
            <p:ph type="sldNum" sz="quarter" idx="4"/>
          </p:nvPr>
        </p:nvSpPr>
        <p:spPr/>
        <p:txBody>
          <a:bodyPr/>
          <a:lstStyle/>
          <a:p>
            <a:fld id="{7B9845D8-D779-4563-B1F1-C45D4F729032}" type="slidenum">
              <a:rPr lang="zh-CN" altLang="en-US" smtClean="0"/>
              <a:pPr/>
              <a:t>5</a:t>
            </a:fld>
            <a:endParaRPr lang="zh-CN" altLang="en-US"/>
          </a:p>
        </p:txBody>
      </p:sp>
      <p:pic>
        <p:nvPicPr>
          <p:cNvPr id="5" name="图片 4">
            <a:extLst>
              <a:ext uri="{FF2B5EF4-FFF2-40B4-BE49-F238E27FC236}">
                <a16:creationId xmlns:a16="http://schemas.microsoft.com/office/drawing/2014/main" id="{C3ECB68B-1303-4112-B6E0-FED3386AAA7C}"/>
              </a:ext>
            </a:extLst>
          </p:cNvPr>
          <p:cNvPicPr>
            <a:picLocks noChangeAspect="1"/>
          </p:cNvPicPr>
          <p:nvPr/>
        </p:nvPicPr>
        <p:blipFill>
          <a:blip r:embed="rId2"/>
          <a:stretch>
            <a:fillRect/>
          </a:stretch>
        </p:blipFill>
        <p:spPr>
          <a:xfrm>
            <a:off x="313441" y="1032114"/>
            <a:ext cx="8359490" cy="5324236"/>
          </a:xfrm>
          <a:prstGeom prst="rect">
            <a:avLst/>
          </a:prstGeom>
        </p:spPr>
      </p:pic>
    </p:spTree>
    <p:extLst>
      <p:ext uri="{BB962C8B-B14F-4D97-AF65-F5344CB8AC3E}">
        <p14:creationId xmlns:p14="http://schemas.microsoft.com/office/powerpoint/2010/main" val="2576617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647426"/>
          </a:xfrm>
          <a:prstGeom prst="rect">
            <a:avLst/>
          </a:prstGeom>
        </p:spPr>
        <p:txBody>
          <a:bodyPr vert="horz" wrap="square" lIns="0" tIns="0" rIns="0" bIns="0" rtlCol="0">
            <a:spAutoFit/>
          </a:bodyPr>
          <a:lstStyle/>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指令处理步骤</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solidFill>
                  <a:srgbClr val="FF0000"/>
                </a:solidFill>
                <a:latin typeface="微软雅黑" panose="020B0503020204020204" pitchFamily="34" charset="-122"/>
                <a:ea typeface="微软雅黑" panose="020B0503020204020204" pitchFamily="34" charset="-122"/>
                <a:cs typeface="Calibri" panose="020F0502020204030204"/>
              </a:rPr>
              <a:t>算术逻辑指令的数据通路</a:t>
            </a:r>
            <a:endParaRPr lang="en-US" altLang="zh-CN" sz="2800" b="0" spc="-60"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访存指令的数据通路</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控制流指令数据通路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单周期控制逻辑</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单周期性能分析</a:t>
            </a:r>
            <a:endParaRPr sz="2800" b="0" spc="-60" dirty="0">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6</a:t>
            </a:fld>
            <a:endParaRPr lang="zh-CN" altLang="en-US"/>
          </a:p>
        </p:txBody>
      </p:sp>
    </p:spTree>
    <p:extLst>
      <p:ext uri="{BB962C8B-B14F-4D97-AF65-F5344CB8AC3E}">
        <p14:creationId xmlns:p14="http://schemas.microsoft.com/office/powerpoint/2010/main" val="237739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zh-CN" dirty="0"/>
              <a:t>R-Type ALU </a:t>
            </a:r>
            <a:r>
              <a:rPr lang="zh-CN" altLang="en-US" dirty="0"/>
              <a:t>指令</a:t>
            </a:r>
            <a:endParaRPr lang="en-US" altLang="zh-CN" dirty="0"/>
          </a:p>
        </p:txBody>
      </p:sp>
      <p:sp>
        <p:nvSpPr>
          <p:cNvPr id="9219" name="Content Placeholder 2"/>
          <p:cNvSpPr>
            <a:spLocks noGrp="1"/>
          </p:cNvSpPr>
          <p:nvPr>
            <p:ph idx="1"/>
          </p:nvPr>
        </p:nvSpPr>
        <p:spPr>
          <a:xfrm>
            <a:off x="478409" y="1095473"/>
            <a:ext cx="8203678" cy="4648200"/>
          </a:xfrm>
        </p:spPr>
        <p:txBody>
          <a:bodyPr rtlCol="0">
            <a:normAutofit fontScale="77500" lnSpcReduction="20000"/>
          </a:bodyPr>
          <a:lstStyle/>
          <a:p>
            <a:pPr eaLnBrk="1" fontAlgn="auto" hangingPunct="1">
              <a:spcAft>
                <a:spcPts val="0"/>
              </a:spcAft>
              <a:buFont typeface="Arial" panose="020B0604020202020204" pitchFamily="34" charset="0"/>
              <a:buChar char="•"/>
              <a:defRPr/>
            </a:pPr>
            <a:r>
              <a:rPr lang="zh-CN" altLang="en-US" sz="3600" dirty="0"/>
              <a:t>汇编</a:t>
            </a:r>
            <a:r>
              <a:rPr lang="en-US" altLang="zh-CN" sz="3600" dirty="0"/>
              <a:t> (e.g., register-register signed addition)</a:t>
            </a:r>
          </a:p>
          <a:p>
            <a:pPr eaLnBrk="1" fontAlgn="auto" hangingPunct="1">
              <a:lnSpc>
                <a:spcPct val="120000"/>
              </a:lnSpc>
              <a:spcBef>
                <a:spcPts val="1200"/>
              </a:spcBef>
              <a:spcAft>
                <a:spcPts val="600"/>
              </a:spcAft>
              <a:buFont typeface="Wingdings" pitchFamily="2" charset="2"/>
              <a:buNone/>
              <a:defRPr/>
            </a:pPr>
            <a:r>
              <a:rPr lang="en-US" altLang="zh-CN" sz="2800" dirty="0">
                <a:ea typeface="ＭＳ Ｐゴシック" pitchFamily="34" charset="-128"/>
              </a:rPr>
              <a:t>      </a:t>
            </a:r>
            <a:r>
              <a:rPr lang="en-US" altLang="zh-CN" sz="3100" dirty="0">
                <a:solidFill>
                  <a:srgbClr val="00B0F0"/>
                </a:solidFill>
                <a:ea typeface="ＭＳ Ｐゴシック" pitchFamily="34" charset="-128"/>
              </a:rPr>
              <a:t>ADD </a:t>
            </a:r>
            <a:r>
              <a:rPr lang="en-US" altLang="zh-CN" sz="3100" dirty="0" err="1">
                <a:solidFill>
                  <a:srgbClr val="00B0F0"/>
                </a:solidFill>
                <a:ea typeface="ＭＳ Ｐゴシック" pitchFamily="34" charset="-128"/>
              </a:rPr>
              <a:t>rd</a:t>
            </a:r>
            <a:r>
              <a:rPr lang="en-US" altLang="zh-CN" sz="3100" baseline="-25000" dirty="0" err="1">
                <a:solidFill>
                  <a:srgbClr val="00B0F0"/>
                </a:solidFill>
                <a:ea typeface="ＭＳ Ｐゴシック" pitchFamily="34" charset="-128"/>
              </a:rPr>
              <a:t>reg</a:t>
            </a:r>
            <a:r>
              <a:rPr lang="en-US" altLang="zh-CN" sz="3100" dirty="0">
                <a:solidFill>
                  <a:srgbClr val="00B0F0"/>
                </a:solidFill>
                <a:ea typeface="ＭＳ Ｐゴシック" pitchFamily="34" charset="-128"/>
              </a:rPr>
              <a:t> </a:t>
            </a:r>
            <a:r>
              <a:rPr lang="en-US" altLang="zh-CN" sz="3100" dirty="0" err="1">
                <a:solidFill>
                  <a:srgbClr val="00B0F0"/>
                </a:solidFill>
                <a:ea typeface="ＭＳ Ｐゴシック" pitchFamily="34" charset="-128"/>
              </a:rPr>
              <a:t>rs</a:t>
            </a:r>
            <a:r>
              <a:rPr lang="en-US" altLang="zh-CN" sz="3100" baseline="-25000" dirty="0" err="1">
                <a:solidFill>
                  <a:srgbClr val="00B0F0"/>
                </a:solidFill>
                <a:ea typeface="ＭＳ Ｐゴシック" pitchFamily="34" charset="-128"/>
              </a:rPr>
              <a:t>reg</a:t>
            </a:r>
            <a:r>
              <a:rPr lang="en-US" altLang="zh-CN" sz="3100" dirty="0">
                <a:solidFill>
                  <a:srgbClr val="00B0F0"/>
                </a:solidFill>
                <a:ea typeface="ＭＳ Ｐゴシック" pitchFamily="34" charset="-128"/>
              </a:rPr>
              <a:t> </a:t>
            </a:r>
            <a:r>
              <a:rPr lang="en-US" altLang="zh-CN" sz="3100" dirty="0" err="1">
                <a:solidFill>
                  <a:srgbClr val="00B0F0"/>
                </a:solidFill>
                <a:ea typeface="ＭＳ Ｐゴシック" pitchFamily="34" charset="-128"/>
              </a:rPr>
              <a:t>rt</a:t>
            </a:r>
            <a:r>
              <a:rPr lang="en-US" altLang="zh-CN" sz="3100" baseline="-25000" dirty="0" err="1">
                <a:solidFill>
                  <a:srgbClr val="00B0F0"/>
                </a:solidFill>
                <a:ea typeface="ＭＳ Ｐゴシック" pitchFamily="34" charset="-128"/>
              </a:rPr>
              <a:t>reg</a:t>
            </a:r>
            <a:endParaRPr lang="en-US" altLang="zh-CN" sz="3100" dirty="0">
              <a:solidFill>
                <a:srgbClr val="00B0F0"/>
              </a:solidFill>
              <a:ea typeface="ＭＳ Ｐゴシック" pitchFamily="34" charset="-128"/>
            </a:endParaRPr>
          </a:p>
          <a:p>
            <a:pPr eaLnBrk="1" fontAlgn="auto" hangingPunct="1">
              <a:spcAft>
                <a:spcPts val="0"/>
              </a:spcAft>
              <a:buFont typeface="Arial" panose="020B0604020202020204" pitchFamily="34" charset="0"/>
              <a:buChar char="•"/>
              <a:defRPr/>
            </a:pPr>
            <a:endParaRPr lang="en-US" altLang="zh-CN" sz="2200" dirty="0">
              <a:ea typeface="ＭＳ Ｐゴシック" pitchFamily="34" charset="-128"/>
            </a:endParaRPr>
          </a:p>
          <a:p>
            <a:pPr eaLnBrk="1" fontAlgn="auto" hangingPunct="1">
              <a:spcAft>
                <a:spcPts val="0"/>
              </a:spcAft>
              <a:buFont typeface="Arial" panose="020B0604020202020204" pitchFamily="34" charset="0"/>
              <a:buChar char="•"/>
              <a:defRPr/>
            </a:pPr>
            <a:r>
              <a:rPr lang="zh-CN" altLang="en-US" sz="3600" dirty="0"/>
              <a:t>机器编码</a:t>
            </a:r>
            <a:endParaRPr lang="en-US" altLang="zh-CN" sz="3600" dirty="0"/>
          </a:p>
          <a:p>
            <a:pPr eaLnBrk="1" fontAlgn="auto" hangingPunct="1">
              <a:spcAft>
                <a:spcPts val="0"/>
              </a:spcAft>
              <a:buFont typeface="Arial" panose="020B0604020202020204" pitchFamily="34" charset="0"/>
              <a:buChar char="•"/>
              <a:defRPr/>
            </a:pPr>
            <a:endParaRPr lang="en-US" altLang="zh-CN" sz="2200" dirty="0">
              <a:ea typeface="ＭＳ Ｐゴシック" pitchFamily="34" charset="-128"/>
            </a:endParaRPr>
          </a:p>
          <a:p>
            <a:pPr eaLnBrk="1" fontAlgn="auto" hangingPunct="1">
              <a:spcAft>
                <a:spcPts val="0"/>
              </a:spcAft>
              <a:buFont typeface="Arial" panose="020B0604020202020204" pitchFamily="34" charset="0"/>
              <a:buChar char="•"/>
              <a:defRPr/>
            </a:pPr>
            <a:endParaRPr lang="en-US" altLang="zh-CN" sz="2200" dirty="0">
              <a:ea typeface="ＭＳ Ｐゴシック" pitchFamily="34" charset="-128"/>
            </a:endParaRPr>
          </a:p>
          <a:p>
            <a:pPr eaLnBrk="1" fontAlgn="auto" hangingPunct="1">
              <a:spcAft>
                <a:spcPts val="0"/>
              </a:spcAft>
              <a:buFont typeface="Arial" panose="020B0604020202020204" pitchFamily="34" charset="0"/>
              <a:buChar char="•"/>
              <a:defRPr/>
            </a:pPr>
            <a:endParaRPr lang="en-US" altLang="zh-CN" sz="2200" dirty="0">
              <a:ea typeface="ＭＳ Ｐゴシック" pitchFamily="34" charset="-128"/>
            </a:endParaRPr>
          </a:p>
          <a:p>
            <a:pPr eaLnBrk="1" fontAlgn="auto" hangingPunct="1">
              <a:spcAft>
                <a:spcPts val="0"/>
              </a:spcAft>
              <a:buFont typeface="Wingdings" pitchFamily="2" charset="2"/>
              <a:buNone/>
              <a:defRPr/>
            </a:pPr>
            <a:endParaRPr lang="en-US" altLang="zh-CN" sz="2200" dirty="0">
              <a:ea typeface="ＭＳ Ｐゴシック" pitchFamily="34" charset="-128"/>
            </a:endParaRPr>
          </a:p>
          <a:p>
            <a:pPr eaLnBrk="1" fontAlgn="auto" hangingPunct="1">
              <a:spcAft>
                <a:spcPts val="0"/>
              </a:spcAft>
              <a:buFont typeface="Arial" panose="020B0604020202020204" pitchFamily="34" charset="0"/>
              <a:buChar char="•"/>
              <a:defRPr/>
            </a:pPr>
            <a:r>
              <a:rPr lang="zh-CN" altLang="en-US" sz="3600" dirty="0"/>
              <a:t>语义</a:t>
            </a:r>
            <a:endParaRPr lang="en-US" altLang="zh-CN" sz="3600" dirty="0"/>
          </a:p>
          <a:p>
            <a:pPr eaLnBrk="1" fontAlgn="auto" hangingPunct="1">
              <a:spcAft>
                <a:spcPts val="0"/>
              </a:spcAft>
              <a:buFont typeface="Arial" panose="020B0604020202020204" pitchFamily="34" charset="0"/>
              <a:buChar char="•"/>
              <a:defRPr/>
            </a:pPr>
            <a:endParaRPr lang="en-US" altLang="zh-CN" sz="2200" dirty="0">
              <a:ea typeface="ＭＳ Ｐゴシック" pitchFamily="34" charset="-128"/>
            </a:endParaRPr>
          </a:p>
          <a:p>
            <a:pPr eaLnBrk="1" fontAlgn="auto" hangingPunct="1">
              <a:spcAft>
                <a:spcPts val="0"/>
              </a:spcAft>
              <a:buFont typeface="Wingdings" pitchFamily="2" charset="2"/>
              <a:buNone/>
              <a:defRPr/>
            </a:pPr>
            <a:r>
              <a:rPr lang="en-US" altLang="zh-CN" sz="2200" dirty="0">
                <a:ea typeface="ＭＳ Ｐゴシック" pitchFamily="34" charset="-128"/>
              </a:rPr>
              <a:t>		</a:t>
            </a:r>
            <a:r>
              <a:rPr lang="en-US" altLang="zh-CN" sz="3100" dirty="0">
                <a:solidFill>
                  <a:srgbClr val="00B0F0"/>
                </a:solidFill>
                <a:ea typeface="ＭＳ Ｐゴシック" pitchFamily="34" charset="-128"/>
              </a:rPr>
              <a:t>if MEM[PC] == ADD </a:t>
            </a:r>
            <a:r>
              <a:rPr lang="en-US" altLang="zh-CN" sz="3100" dirty="0" err="1">
                <a:solidFill>
                  <a:srgbClr val="00B0F0"/>
                </a:solidFill>
                <a:ea typeface="ＭＳ Ｐゴシック" pitchFamily="34" charset="-128"/>
              </a:rPr>
              <a:t>rd</a:t>
            </a:r>
            <a:r>
              <a:rPr lang="en-US" altLang="zh-CN" sz="3100" dirty="0">
                <a:solidFill>
                  <a:srgbClr val="00B0F0"/>
                </a:solidFill>
                <a:ea typeface="ＭＳ Ｐゴシック" pitchFamily="34" charset="-128"/>
              </a:rPr>
              <a:t> </a:t>
            </a:r>
            <a:r>
              <a:rPr lang="en-US" altLang="zh-CN" sz="3100" dirty="0" err="1">
                <a:solidFill>
                  <a:srgbClr val="00B0F0"/>
                </a:solidFill>
                <a:ea typeface="ＭＳ Ｐゴシック" pitchFamily="34" charset="-128"/>
              </a:rPr>
              <a:t>rs</a:t>
            </a:r>
            <a:r>
              <a:rPr lang="en-US" altLang="zh-CN" sz="3100" dirty="0">
                <a:solidFill>
                  <a:srgbClr val="00B0F0"/>
                </a:solidFill>
                <a:ea typeface="ＭＳ Ｐゴシック" pitchFamily="34" charset="-128"/>
              </a:rPr>
              <a:t> </a:t>
            </a:r>
            <a:r>
              <a:rPr lang="en-US" altLang="zh-CN" sz="3100" dirty="0" err="1">
                <a:solidFill>
                  <a:srgbClr val="00B0F0"/>
                </a:solidFill>
                <a:ea typeface="ＭＳ Ｐゴシック" pitchFamily="34" charset="-128"/>
              </a:rPr>
              <a:t>rt</a:t>
            </a:r>
            <a:endParaRPr lang="en-US" altLang="zh-CN" sz="3100" dirty="0">
              <a:solidFill>
                <a:srgbClr val="00B0F0"/>
              </a:solidFill>
              <a:ea typeface="ＭＳ Ｐゴシック" pitchFamily="34" charset="-128"/>
            </a:endParaRPr>
          </a:p>
          <a:p>
            <a:pPr lvl="1" eaLnBrk="1" fontAlgn="auto" hangingPunct="1">
              <a:spcAft>
                <a:spcPts val="0"/>
              </a:spcAft>
              <a:buFontTx/>
              <a:buNone/>
              <a:defRPr/>
            </a:pPr>
            <a:r>
              <a:rPr lang="en-US" altLang="zh-CN" sz="3100" dirty="0">
                <a:solidFill>
                  <a:srgbClr val="00B0F0"/>
                </a:solidFill>
                <a:ea typeface="ＭＳ Ｐゴシック" pitchFamily="34" charset="-128"/>
              </a:rPr>
              <a:t>			GPR[</a:t>
            </a:r>
            <a:r>
              <a:rPr lang="en-US" altLang="zh-CN" sz="3100" dirty="0" err="1">
                <a:solidFill>
                  <a:srgbClr val="00B0F0"/>
                </a:solidFill>
                <a:ea typeface="ＭＳ Ｐゴシック" pitchFamily="34" charset="-128"/>
              </a:rPr>
              <a:t>rd</a:t>
            </a:r>
            <a:r>
              <a:rPr lang="en-US" altLang="zh-CN" sz="3100" dirty="0">
                <a:solidFill>
                  <a:srgbClr val="00B0F0"/>
                </a:solidFill>
                <a:ea typeface="ＭＳ Ｐゴシック" pitchFamily="34" charset="-128"/>
              </a:rPr>
              <a:t>] </a:t>
            </a:r>
            <a:r>
              <a:rPr lang="en-US" altLang="zh-CN" sz="3100" dirty="0">
                <a:solidFill>
                  <a:srgbClr val="00B0F0"/>
                </a:solidFill>
                <a:ea typeface="ＭＳ Ｐゴシック" pitchFamily="34" charset="-128"/>
                <a:sym typeface="Symbol" pitchFamily="18" charset="2"/>
              </a:rPr>
              <a:t> </a:t>
            </a:r>
            <a:r>
              <a:rPr lang="en-US" altLang="zh-CN" sz="3100" dirty="0">
                <a:solidFill>
                  <a:srgbClr val="00B0F0"/>
                </a:solidFill>
                <a:ea typeface="ＭＳ Ｐゴシック" pitchFamily="34" charset="-128"/>
              </a:rPr>
              <a:t>GPR[</a:t>
            </a:r>
            <a:r>
              <a:rPr lang="en-US" altLang="zh-CN" sz="3100" dirty="0" err="1">
                <a:solidFill>
                  <a:srgbClr val="00B0F0"/>
                </a:solidFill>
                <a:ea typeface="ＭＳ Ｐゴシック" pitchFamily="34" charset="-128"/>
              </a:rPr>
              <a:t>rs</a:t>
            </a:r>
            <a:r>
              <a:rPr lang="en-US" altLang="zh-CN" sz="3100" dirty="0">
                <a:solidFill>
                  <a:srgbClr val="00B0F0"/>
                </a:solidFill>
                <a:ea typeface="ＭＳ Ｐゴシック" pitchFamily="34" charset="-128"/>
              </a:rPr>
              <a:t>] + GPR[</a:t>
            </a:r>
            <a:r>
              <a:rPr lang="en-US" altLang="zh-CN" sz="3100" dirty="0" err="1">
                <a:solidFill>
                  <a:srgbClr val="00B0F0"/>
                </a:solidFill>
                <a:ea typeface="ＭＳ Ｐゴシック" pitchFamily="34" charset="-128"/>
              </a:rPr>
              <a:t>rt</a:t>
            </a:r>
            <a:r>
              <a:rPr lang="en-US" altLang="zh-CN" sz="3100" dirty="0">
                <a:solidFill>
                  <a:srgbClr val="00B0F0"/>
                </a:solidFill>
                <a:ea typeface="ＭＳ Ｐゴシック" pitchFamily="34" charset="-128"/>
              </a:rPr>
              <a:t>] 	</a:t>
            </a:r>
            <a:endParaRPr lang="en-US" altLang="zh-CN" sz="3100" dirty="0">
              <a:solidFill>
                <a:srgbClr val="00B0F0"/>
              </a:solidFill>
              <a:ea typeface="ＭＳ Ｐゴシック" pitchFamily="34" charset="-128"/>
              <a:sym typeface="Symbol" pitchFamily="18" charset="2"/>
            </a:endParaRPr>
          </a:p>
          <a:p>
            <a:pPr lvl="1" eaLnBrk="1" fontAlgn="auto" hangingPunct="1">
              <a:spcAft>
                <a:spcPts val="0"/>
              </a:spcAft>
              <a:buFontTx/>
              <a:buNone/>
              <a:defRPr/>
            </a:pPr>
            <a:r>
              <a:rPr lang="en-US" altLang="zh-CN" sz="3100" dirty="0">
                <a:solidFill>
                  <a:srgbClr val="00B0F0"/>
                </a:solidFill>
                <a:ea typeface="ＭＳ Ｐゴシック" pitchFamily="34" charset="-128"/>
                <a:sym typeface="Symbol" pitchFamily="18" charset="2"/>
              </a:rPr>
              <a:t>			PC  PC + 4</a:t>
            </a: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p:txBody>
      </p:sp>
      <p:sp>
        <p:nvSpPr>
          <p:cNvPr id="12" name="Rectangle 4"/>
          <p:cNvSpPr>
            <a:spLocks noChangeArrowheads="1"/>
          </p:cNvSpPr>
          <p:nvPr/>
        </p:nvSpPr>
        <p:spPr bwMode="auto">
          <a:xfrm>
            <a:off x="873125" y="3059552"/>
            <a:ext cx="9906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latin typeface="Calibri" charset="0"/>
                <a:ea typeface="ＭＳ Ｐゴシック" charset="0"/>
                <a:cs typeface="ＭＳ Ｐゴシック" charset="0"/>
              </a:rPr>
              <a:t>0</a:t>
            </a:r>
          </a:p>
          <a:p>
            <a:pPr fontAlgn="auto">
              <a:spcBef>
                <a:spcPts val="0"/>
              </a:spcBef>
              <a:spcAft>
                <a:spcPts val="0"/>
              </a:spcAft>
              <a:defRPr/>
            </a:pPr>
            <a:r>
              <a:rPr lang="en-US" sz="1600" kern="0">
                <a:solidFill>
                  <a:srgbClr val="000000"/>
                </a:solidFill>
                <a:latin typeface="Calibri" charset="0"/>
                <a:ea typeface="ＭＳ Ｐゴシック" charset="0"/>
                <a:cs typeface="ＭＳ Ｐゴシック" charset="0"/>
              </a:rPr>
              <a:t>6-bit</a:t>
            </a:r>
          </a:p>
        </p:txBody>
      </p:sp>
      <p:sp>
        <p:nvSpPr>
          <p:cNvPr id="13" name="Rectangle 5"/>
          <p:cNvSpPr>
            <a:spLocks noChangeArrowheads="1"/>
          </p:cNvSpPr>
          <p:nvPr/>
        </p:nvSpPr>
        <p:spPr bwMode="auto">
          <a:xfrm>
            <a:off x="1863725" y="3059552"/>
            <a:ext cx="9906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latin typeface="Calibri" charset="0"/>
                <a:ea typeface="ＭＳ Ｐゴシック" charset="0"/>
                <a:cs typeface="ＭＳ Ｐゴシック" charset="0"/>
              </a:rPr>
              <a:t>rs</a:t>
            </a:r>
          </a:p>
          <a:p>
            <a:pPr fontAlgn="auto">
              <a:spcBef>
                <a:spcPts val="0"/>
              </a:spcBef>
              <a:spcAft>
                <a:spcPts val="0"/>
              </a:spcAft>
              <a:defRPr/>
            </a:pPr>
            <a:r>
              <a:rPr lang="en-US" sz="1600" kern="0">
                <a:solidFill>
                  <a:srgbClr val="000000"/>
                </a:solidFill>
                <a:latin typeface="Calibri" charset="0"/>
                <a:ea typeface="ＭＳ Ｐゴシック" charset="0"/>
                <a:cs typeface="ＭＳ Ｐゴシック" charset="0"/>
              </a:rPr>
              <a:t>5-bit</a:t>
            </a:r>
          </a:p>
        </p:txBody>
      </p:sp>
      <p:sp>
        <p:nvSpPr>
          <p:cNvPr id="14" name="Rectangle 6"/>
          <p:cNvSpPr>
            <a:spLocks noChangeArrowheads="1"/>
          </p:cNvSpPr>
          <p:nvPr/>
        </p:nvSpPr>
        <p:spPr bwMode="auto">
          <a:xfrm>
            <a:off x="2854325" y="3059552"/>
            <a:ext cx="9906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latin typeface="Calibri" charset="0"/>
                <a:ea typeface="ＭＳ Ｐゴシック" charset="0"/>
                <a:cs typeface="ＭＳ Ｐゴシック" charset="0"/>
              </a:rPr>
              <a:t>rt</a:t>
            </a:r>
          </a:p>
          <a:p>
            <a:pPr fontAlgn="auto">
              <a:spcBef>
                <a:spcPts val="0"/>
              </a:spcBef>
              <a:spcAft>
                <a:spcPts val="0"/>
              </a:spcAft>
              <a:defRPr/>
            </a:pPr>
            <a:r>
              <a:rPr lang="en-US" sz="1600" kern="0">
                <a:solidFill>
                  <a:srgbClr val="000000"/>
                </a:solidFill>
                <a:latin typeface="Calibri" charset="0"/>
                <a:ea typeface="ＭＳ Ｐゴシック" charset="0"/>
                <a:cs typeface="ＭＳ Ｐゴシック" charset="0"/>
              </a:rPr>
              <a:t>5-bit</a:t>
            </a:r>
          </a:p>
        </p:txBody>
      </p:sp>
      <p:sp>
        <p:nvSpPr>
          <p:cNvPr id="15" name="Text Box 7"/>
          <p:cNvSpPr txBox="1">
            <a:spLocks noChangeArrowheads="1"/>
          </p:cNvSpPr>
          <p:nvPr/>
        </p:nvSpPr>
        <p:spPr bwMode="auto">
          <a:xfrm>
            <a:off x="6937375" y="2929377"/>
            <a:ext cx="1139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i="1">
                <a:solidFill>
                  <a:schemeClr val="accent1"/>
                </a:solidFill>
                <a:latin typeface="Comic Sans MS" charset="0"/>
                <a:ea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2800" i="0" kern="0">
                <a:solidFill>
                  <a:srgbClr val="000000"/>
                </a:solidFill>
                <a:latin typeface="Calibri" charset="0"/>
                <a:cs typeface="ＭＳ Ｐゴシック" charset="0"/>
              </a:rPr>
              <a:t>R-type</a:t>
            </a:r>
          </a:p>
        </p:txBody>
      </p:sp>
      <p:sp>
        <p:nvSpPr>
          <p:cNvPr id="16" name="Rectangle 8"/>
          <p:cNvSpPr>
            <a:spLocks noChangeArrowheads="1"/>
          </p:cNvSpPr>
          <p:nvPr/>
        </p:nvSpPr>
        <p:spPr bwMode="auto">
          <a:xfrm>
            <a:off x="3844925" y="3059552"/>
            <a:ext cx="9906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latin typeface="Calibri" charset="0"/>
                <a:ea typeface="ＭＳ Ｐゴシック" charset="0"/>
                <a:cs typeface="ＭＳ Ｐゴシック" charset="0"/>
              </a:rPr>
              <a:t>rd</a:t>
            </a:r>
          </a:p>
          <a:p>
            <a:pPr fontAlgn="auto">
              <a:spcBef>
                <a:spcPts val="0"/>
              </a:spcBef>
              <a:spcAft>
                <a:spcPts val="0"/>
              </a:spcAft>
              <a:defRPr/>
            </a:pPr>
            <a:r>
              <a:rPr lang="en-US" sz="1600" kern="0">
                <a:solidFill>
                  <a:srgbClr val="000000"/>
                </a:solidFill>
                <a:latin typeface="Calibri" charset="0"/>
                <a:ea typeface="ＭＳ Ｐゴシック" charset="0"/>
                <a:cs typeface="ＭＳ Ｐゴシック" charset="0"/>
              </a:rPr>
              <a:t>5-bit</a:t>
            </a:r>
          </a:p>
        </p:txBody>
      </p:sp>
      <p:sp>
        <p:nvSpPr>
          <p:cNvPr id="17" name="Rectangle 9"/>
          <p:cNvSpPr>
            <a:spLocks noChangeArrowheads="1"/>
          </p:cNvSpPr>
          <p:nvPr/>
        </p:nvSpPr>
        <p:spPr bwMode="auto">
          <a:xfrm>
            <a:off x="4835525" y="3059552"/>
            <a:ext cx="9906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latin typeface="Calibri" charset="0"/>
                <a:ea typeface="ＭＳ Ｐゴシック" charset="0"/>
                <a:cs typeface="ＭＳ Ｐゴシック" charset="0"/>
              </a:rPr>
              <a:t>0</a:t>
            </a:r>
          </a:p>
          <a:p>
            <a:pPr fontAlgn="auto">
              <a:spcBef>
                <a:spcPts val="0"/>
              </a:spcBef>
              <a:spcAft>
                <a:spcPts val="0"/>
              </a:spcAft>
              <a:defRPr/>
            </a:pPr>
            <a:r>
              <a:rPr lang="en-US" sz="1600" kern="0">
                <a:solidFill>
                  <a:srgbClr val="000000"/>
                </a:solidFill>
                <a:latin typeface="Calibri" charset="0"/>
                <a:ea typeface="ＭＳ Ｐゴシック" charset="0"/>
                <a:cs typeface="ＭＳ Ｐゴシック" charset="0"/>
              </a:rPr>
              <a:t>5-bit</a:t>
            </a:r>
          </a:p>
        </p:txBody>
      </p:sp>
      <p:sp>
        <p:nvSpPr>
          <p:cNvPr id="18" name="Rectangle 10"/>
          <p:cNvSpPr>
            <a:spLocks noChangeArrowheads="1"/>
          </p:cNvSpPr>
          <p:nvPr/>
        </p:nvSpPr>
        <p:spPr bwMode="auto">
          <a:xfrm>
            <a:off x="5826125" y="3059552"/>
            <a:ext cx="11430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latin typeface="Calibri" charset="0"/>
                <a:ea typeface="ＭＳ Ｐゴシック" charset="0"/>
                <a:cs typeface="ＭＳ Ｐゴシック" charset="0"/>
              </a:rPr>
              <a:t>ADD</a:t>
            </a:r>
          </a:p>
          <a:p>
            <a:pPr fontAlgn="auto">
              <a:spcBef>
                <a:spcPts val="0"/>
              </a:spcBef>
              <a:spcAft>
                <a:spcPts val="0"/>
              </a:spcAft>
              <a:defRPr/>
            </a:pPr>
            <a:r>
              <a:rPr lang="en-US" sz="1600" kern="0">
                <a:solidFill>
                  <a:srgbClr val="000000"/>
                </a:solidFill>
                <a:latin typeface="Calibri" charset="0"/>
                <a:ea typeface="ＭＳ Ｐゴシック" charset="0"/>
                <a:cs typeface="ＭＳ Ｐゴシック" charset="0"/>
              </a:rPr>
              <a:t>6-bit</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7</a:t>
            </a:fld>
            <a:endParaRPr lang="zh-CN" altLang="en-US"/>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328440"/>
            <a:ext cx="8229600" cy="585961"/>
          </a:xfrm>
        </p:spPr>
        <p:txBody>
          <a:bodyPr/>
          <a:lstStyle/>
          <a:p>
            <a:pPr eaLnBrk="1" hangingPunct="1"/>
            <a:r>
              <a:rPr lang="en-US" altLang="zh-CN" dirty="0"/>
              <a:t>R-Type ALU </a:t>
            </a:r>
            <a:r>
              <a:rPr lang="zh-CN" altLang="en-US" dirty="0"/>
              <a:t>数据通路</a:t>
            </a:r>
            <a:endParaRPr lang="en-US" altLang="zh-CN" dirty="0"/>
          </a:p>
        </p:txBody>
      </p:sp>
      <p:pic>
        <p:nvPicPr>
          <p:cNvPr id="9220" name="Picture 3" descr="F05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1103313"/>
            <a:ext cx="3463925"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4" descr="F0507"/>
          <p:cNvPicPr>
            <a:picLocks noChangeAspect="1" noChangeArrowheads="1"/>
          </p:cNvPicPr>
          <p:nvPr/>
        </p:nvPicPr>
        <p:blipFill>
          <a:blip r:embed="rId3" cstate="print">
            <a:extLst>
              <a:ext uri="{28A0092B-C50C-407E-A947-70E740481C1C}">
                <a14:useLocalDpi xmlns:a14="http://schemas.microsoft.com/office/drawing/2010/main" val="0"/>
              </a:ext>
            </a:extLst>
          </a:blip>
          <a:srcRect l="16000"/>
          <a:stretch>
            <a:fillRect/>
          </a:stretch>
        </p:blipFill>
        <p:spPr bwMode="auto">
          <a:xfrm>
            <a:off x="4419600" y="2463800"/>
            <a:ext cx="3754438"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Text Box 5"/>
          <p:cNvSpPr txBox="1">
            <a:spLocks noChangeArrowheads="1"/>
          </p:cNvSpPr>
          <p:nvPr/>
        </p:nvSpPr>
        <p:spPr bwMode="auto">
          <a:xfrm>
            <a:off x="5240730" y="4123620"/>
            <a:ext cx="288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dirty="0">
                <a:solidFill>
                  <a:schemeClr val="accent1"/>
                </a:solidFill>
                <a:latin typeface="Calibri" pitchFamily="34" charset="0"/>
              </a:rPr>
              <a:t>1</a:t>
            </a:r>
          </a:p>
        </p:txBody>
      </p:sp>
      <p:sp>
        <p:nvSpPr>
          <p:cNvPr id="9223" name="Rectangle 6"/>
          <p:cNvSpPr>
            <a:spLocks noChangeArrowheads="1"/>
          </p:cNvSpPr>
          <p:nvPr/>
        </p:nvSpPr>
        <p:spPr bwMode="auto">
          <a:xfrm>
            <a:off x="7294563" y="3040063"/>
            <a:ext cx="381000" cy="152400"/>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p>
            <a:endParaRPr lang="zh-CN" altLang="zh-CN">
              <a:solidFill>
                <a:srgbClr val="000000"/>
              </a:solidFill>
              <a:latin typeface="Calibri" pitchFamily="34" charset="0"/>
            </a:endParaRPr>
          </a:p>
        </p:txBody>
      </p:sp>
      <p:sp>
        <p:nvSpPr>
          <p:cNvPr id="17" name="Line 7"/>
          <p:cNvSpPr>
            <a:spLocks noChangeShapeType="1"/>
          </p:cNvSpPr>
          <p:nvPr/>
        </p:nvSpPr>
        <p:spPr bwMode="auto">
          <a:xfrm>
            <a:off x="7707313" y="3117850"/>
            <a:ext cx="228600" cy="0"/>
          </a:xfrm>
          <a:prstGeom prst="line">
            <a:avLst/>
          </a:prstGeom>
          <a:noFill/>
          <a:ln w="76200">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18" name="Rectangle 9"/>
          <p:cNvSpPr>
            <a:spLocks noChangeArrowheads="1"/>
          </p:cNvSpPr>
          <p:nvPr/>
        </p:nvSpPr>
        <p:spPr bwMode="auto">
          <a:xfrm>
            <a:off x="4433888" y="3327400"/>
            <a:ext cx="414337"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fontAlgn="auto">
              <a:spcBef>
                <a:spcPct val="20000"/>
              </a:spcBef>
              <a:spcAft>
                <a:spcPts val="0"/>
              </a:spcAft>
              <a:buClr>
                <a:srgbClr val="063DE8"/>
              </a:buClr>
              <a:buSzPct val="70000"/>
              <a:buFont typeface="Wingdings" charset="0"/>
              <a:buNone/>
              <a:defRPr/>
            </a:pPr>
            <a:r>
              <a:rPr lang="en-US" sz="800" kern="0">
                <a:solidFill>
                  <a:srgbClr val="063DE8"/>
                </a:solidFill>
                <a:latin typeface="Calibri" charset="0"/>
                <a:ea typeface="ＭＳ Ｐゴシック" charset="0"/>
                <a:cs typeface="ＭＳ Ｐゴシック" charset="0"/>
              </a:rPr>
              <a:t>15:11</a:t>
            </a:r>
          </a:p>
        </p:txBody>
      </p:sp>
      <p:sp>
        <p:nvSpPr>
          <p:cNvPr id="19" name="Rectangle 10"/>
          <p:cNvSpPr>
            <a:spLocks noChangeArrowheads="1"/>
          </p:cNvSpPr>
          <p:nvPr/>
        </p:nvSpPr>
        <p:spPr bwMode="auto">
          <a:xfrm>
            <a:off x="4432300" y="2914650"/>
            <a:ext cx="4175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fontAlgn="auto">
              <a:spcBef>
                <a:spcPct val="20000"/>
              </a:spcBef>
              <a:spcAft>
                <a:spcPts val="0"/>
              </a:spcAft>
              <a:buClr>
                <a:srgbClr val="063DE8"/>
              </a:buClr>
              <a:buSzPct val="70000"/>
              <a:buFont typeface="Wingdings" charset="0"/>
              <a:buNone/>
              <a:defRPr/>
            </a:pPr>
            <a:r>
              <a:rPr lang="en-US" sz="800" kern="0">
                <a:solidFill>
                  <a:srgbClr val="063DE8"/>
                </a:solidFill>
                <a:latin typeface="Calibri" charset="0"/>
                <a:ea typeface="ＭＳ Ｐゴシック" charset="0"/>
                <a:cs typeface="ＭＳ Ｐゴシック" charset="0"/>
              </a:rPr>
              <a:t>20:16</a:t>
            </a:r>
          </a:p>
        </p:txBody>
      </p:sp>
      <p:sp>
        <p:nvSpPr>
          <p:cNvPr id="20" name="Rectangle 11"/>
          <p:cNvSpPr>
            <a:spLocks noChangeArrowheads="1"/>
          </p:cNvSpPr>
          <p:nvPr/>
        </p:nvSpPr>
        <p:spPr bwMode="auto">
          <a:xfrm>
            <a:off x="4432300" y="2509838"/>
            <a:ext cx="4175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fontAlgn="auto">
              <a:spcBef>
                <a:spcPct val="20000"/>
              </a:spcBef>
              <a:spcAft>
                <a:spcPts val="0"/>
              </a:spcAft>
              <a:buClr>
                <a:srgbClr val="063DE8"/>
              </a:buClr>
              <a:buSzPct val="70000"/>
              <a:buFont typeface="Wingdings" charset="0"/>
              <a:buNone/>
              <a:defRPr/>
            </a:pPr>
            <a:r>
              <a:rPr lang="en-US" sz="800" kern="0">
                <a:solidFill>
                  <a:srgbClr val="063DE8"/>
                </a:solidFill>
                <a:latin typeface="Calibri" charset="0"/>
                <a:ea typeface="ＭＳ Ｐゴシック" charset="0"/>
                <a:cs typeface="ＭＳ Ｐゴシック" charset="0"/>
              </a:rPr>
              <a:t>25:21</a:t>
            </a:r>
          </a:p>
        </p:txBody>
      </p:sp>
      <p:sp>
        <p:nvSpPr>
          <p:cNvPr id="9228" name="Rectangle 8"/>
          <p:cNvSpPr>
            <a:spLocks noChangeArrowheads="1"/>
          </p:cNvSpPr>
          <p:nvPr/>
        </p:nvSpPr>
        <p:spPr bwMode="auto">
          <a:xfrm>
            <a:off x="0" y="6259513"/>
            <a:ext cx="41560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20000"/>
              </a:spcBef>
              <a:buClr>
                <a:schemeClr val="accent2"/>
              </a:buClr>
              <a:buSzPct val="70000"/>
              <a:buFont typeface="Wingdings" pitchFamily="2" charset="2"/>
              <a:buNone/>
            </a:pPr>
            <a:r>
              <a:rPr lang="en-US" altLang="zh-CN" sz="800">
                <a:latin typeface="Calibri" pitchFamily="34" charset="0"/>
              </a:rPr>
              <a:t>**Based on original figure from [P&amp;H CO&amp;D, COPYRIGHT 2004 Elsevier. ALL RIGHTS RESERVED.]</a:t>
            </a:r>
          </a:p>
        </p:txBody>
      </p:sp>
      <p:sp>
        <p:nvSpPr>
          <p:cNvPr id="9229" name="Rectangle 3"/>
          <p:cNvSpPr>
            <a:spLocks noChangeArrowheads="1"/>
          </p:cNvSpPr>
          <p:nvPr/>
        </p:nvSpPr>
        <p:spPr bwMode="auto">
          <a:xfrm>
            <a:off x="0" y="5847600"/>
            <a:ext cx="4641056" cy="1015663"/>
          </a:xfrm>
          <a:prstGeom prst="rect">
            <a:avLst/>
          </a:prstGeom>
          <a:solidFill>
            <a:srgbClr val="C0C0C0"/>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p>
            <a:r>
              <a:rPr lang="en-US" altLang="zh-CN" sz="2000" dirty="0">
                <a:latin typeface="Calibri" pitchFamily="34" charset="0"/>
              </a:rPr>
              <a:t>if MEM[PC] == ADD </a:t>
            </a:r>
            <a:r>
              <a:rPr lang="en-US" altLang="zh-CN" sz="2000" dirty="0" err="1">
                <a:latin typeface="Calibri" pitchFamily="34" charset="0"/>
              </a:rPr>
              <a:t>rd</a:t>
            </a:r>
            <a:r>
              <a:rPr lang="en-US" altLang="zh-CN" sz="2000" dirty="0">
                <a:latin typeface="Calibri" pitchFamily="34" charset="0"/>
              </a:rPr>
              <a:t> </a:t>
            </a:r>
            <a:r>
              <a:rPr lang="en-US" altLang="zh-CN" sz="2000" dirty="0" err="1">
                <a:latin typeface="Calibri" pitchFamily="34" charset="0"/>
              </a:rPr>
              <a:t>rs</a:t>
            </a:r>
            <a:r>
              <a:rPr lang="en-US" altLang="zh-CN" sz="2000" dirty="0">
                <a:latin typeface="Calibri" pitchFamily="34" charset="0"/>
              </a:rPr>
              <a:t> </a:t>
            </a:r>
            <a:r>
              <a:rPr lang="en-US" altLang="zh-CN" sz="2000" dirty="0" err="1">
                <a:latin typeface="Calibri" pitchFamily="34" charset="0"/>
              </a:rPr>
              <a:t>rt</a:t>
            </a:r>
            <a:endParaRPr lang="en-US" altLang="zh-CN" sz="2000" dirty="0">
              <a:latin typeface="Calibri" pitchFamily="34" charset="0"/>
            </a:endParaRPr>
          </a:p>
          <a:p>
            <a:pPr lvl="1"/>
            <a:r>
              <a:rPr lang="en-US" altLang="zh-CN" sz="2000" dirty="0">
                <a:latin typeface="Calibri" pitchFamily="34" charset="0"/>
              </a:rPr>
              <a:t>	GPR[</a:t>
            </a:r>
            <a:r>
              <a:rPr lang="en-US" altLang="zh-CN" sz="2000" dirty="0" err="1">
                <a:latin typeface="Calibri" pitchFamily="34" charset="0"/>
              </a:rPr>
              <a:t>rd</a:t>
            </a:r>
            <a:r>
              <a:rPr lang="en-US" altLang="zh-CN" sz="2000" dirty="0">
                <a:latin typeface="Calibri" pitchFamily="34" charset="0"/>
              </a:rPr>
              <a:t>] </a:t>
            </a:r>
            <a:r>
              <a:rPr lang="en-US" altLang="zh-CN" sz="2000" dirty="0">
                <a:latin typeface="Calibri" pitchFamily="34" charset="0"/>
                <a:sym typeface="Symbol" pitchFamily="18" charset="2"/>
              </a:rPr>
              <a:t> </a:t>
            </a:r>
            <a:r>
              <a:rPr lang="en-US" altLang="zh-CN" sz="2000" dirty="0">
                <a:latin typeface="Calibri" pitchFamily="34" charset="0"/>
              </a:rPr>
              <a:t>GPR[</a:t>
            </a:r>
            <a:r>
              <a:rPr lang="en-US" altLang="zh-CN" sz="2000" dirty="0" err="1">
                <a:latin typeface="Calibri" pitchFamily="34" charset="0"/>
              </a:rPr>
              <a:t>rs</a:t>
            </a:r>
            <a:r>
              <a:rPr lang="en-US" altLang="zh-CN" sz="2000" dirty="0">
                <a:latin typeface="Calibri" pitchFamily="34" charset="0"/>
              </a:rPr>
              <a:t>] + GPR[</a:t>
            </a:r>
            <a:r>
              <a:rPr lang="en-US" altLang="zh-CN" sz="2000" dirty="0" err="1">
                <a:latin typeface="Calibri" pitchFamily="34" charset="0"/>
              </a:rPr>
              <a:t>rt</a:t>
            </a:r>
            <a:r>
              <a:rPr lang="en-US" altLang="zh-CN" sz="2000" dirty="0">
                <a:latin typeface="Calibri" pitchFamily="34" charset="0"/>
              </a:rPr>
              <a:t>] </a:t>
            </a:r>
            <a:endParaRPr lang="en-US" altLang="zh-CN" sz="2000" dirty="0">
              <a:latin typeface="Calibri" pitchFamily="34" charset="0"/>
              <a:sym typeface="Symbol" pitchFamily="18" charset="2"/>
            </a:endParaRPr>
          </a:p>
          <a:p>
            <a:pPr lvl="1"/>
            <a:r>
              <a:rPr lang="en-US" altLang="zh-CN" sz="2000" dirty="0">
                <a:latin typeface="Calibri" pitchFamily="34" charset="0"/>
                <a:sym typeface="Symbol" pitchFamily="18" charset="2"/>
              </a:rPr>
              <a:t>	PC  PC + 4</a:t>
            </a:r>
          </a:p>
        </p:txBody>
      </p:sp>
      <p:sp>
        <p:nvSpPr>
          <p:cNvPr id="9230" name="AutoShape 7"/>
          <p:cNvSpPr>
            <a:spLocks noChangeArrowheads="1"/>
          </p:cNvSpPr>
          <p:nvPr/>
        </p:nvSpPr>
        <p:spPr bwMode="auto">
          <a:xfrm>
            <a:off x="4800600" y="6055151"/>
            <a:ext cx="762000" cy="457200"/>
          </a:xfrm>
          <a:prstGeom prst="rightArrow">
            <a:avLst>
              <a:gd name="adj1" fmla="val 50000"/>
              <a:gd name="adj2" fmla="val 41667"/>
            </a:avLst>
          </a:prstGeom>
          <a:solidFill>
            <a:schemeClr val="accent1"/>
          </a:solidFill>
          <a:ln w="19050">
            <a:solidFill>
              <a:schemeClr val="accent1"/>
            </a:solidFill>
            <a:miter lim="800000"/>
            <a:headEnd/>
            <a:tailEnd/>
          </a:ln>
        </p:spPr>
        <p:txBody>
          <a:bodyPr wrap="none" anchor="ctr"/>
          <a:lstStyle/>
          <a:p>
            <a:endParaRPr lang="zh-CN" altLang="zh-CN">
              <a:latin typeface="Calibri" pitchFamily="34" charset="0"/>
            </a:endParaRPr>
          </a:p>
        </p:txBody>
      </p:sp>
      <p:sp>
        <p:nvSpPr>
          <p:cNvPr id="9231" name="Text Box 8"/>
          <p:cNvSpPr txBox="1">
            <a:spLocks noChangeArrowheads="1"/>
          </p:cNvSpPr>
          <p:nvPr/>
        </p:nvSpPr>
        <p:spPr bwMode="auto">
          <a:xfrm>
            <a:off x="5848509" y="6067895"/>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zh-CN" altLang="en-US" sz="2400" b="0" dirty="0">
                <a:latin typeface="微软雅黑" panose="020B0503020204020204" pitchFamily="34" charset="-122"/>
                <a:ea typeface="微软雅黑" panose="020B0503020204020204" pitchFamily="34" charset="-122"/>
              </a:rPr>
              <a:t>状态更新组合逻辑</a:t>
            </a:r>
            <a:endParaRPr lang="en-US" altLang="zh-CN" sz="2400" b="0" dirty="0">
              <a:latin typeface="微软雅黑" panose="020B0503020204020204" pitchFamily="34" charset="-122"/>
              <a:ea typeface="微软雅黑" panose="020B0503020204020204" pitchFamily="34" charset="-122"/>
            </a:endParaRPr>
          </a:p>
        </p:txBody>
      </p:sp>
      <p:grpSp>
        <p:nvGrpSpPr>
          <p:cNvPr id="9232" name="Group 9"/>
          <p:cNvGrpSpPr>
            <a:grpSpLocks/>
          </p:cNvGrpSpPr>
          <p:nvPr/>
        </p:nvGrpSpPr>
        <p:grpSpPr bwMode="auto">
          <a:xfrm>
            <a:off x="5486400" y="5257800"/>
            <a:ext cx="3581400" cy="304800"/>
            <a:chOff x="1392" y="2976"/>
            <a:chExt cx="3072" cy="240"/>
          </a:xfrm>
        </p:grpSpPr>
        <p:sp>
          <p:nvSpPr>
            <p:cNvPr id="9233" name="Rectangle 10"/>
            <p:cNvSpPr>
              <a:spLocks noChangeArrowheads="1"/>
            </p:cNvSpPr>
            <p:nvPr/>
          </p:nvSpPr>
          <p:spPr bwMode="auto">
            <a:xfrm>
              <a:off x="1392"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IF</a:t>
              </a:r>
            </a:p>
          </p:txBody>
        </p:sp>
        <p:sp>
          <p:nvSpPr>
            <p:cNvPr id="9234" name="Rectangle 11"/>
            <p:cNvSpPr>
              <a:spLocks noChangeArrowheads="1"/>
            </p:cNvSpPr>
            <p:nvPr/>
          </p:nvSpPr>
          <p:spPr bwMode="auto">
            <a:xfrm>
              <a:off x="2016"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ID</a:t>
              </a:r>
            </a:p>
          </p:txBody>
        </p:sp>
        <p:sp>
          <p:nvSpPr>
            <p:cNvPr id="9235" name="Rectangle 12"/>
            <p:cNvSpPr>
              <a:spLocks noChangeArrowheads="1"/>
            </p:cNvSpPr>
            <p:nvPr/>
          </p:nvSpPr>
          <p:spPr bwMode="auto">
            <a:xfrm>
              <a:off x="2640"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EX</a:t>
              </a:r>
            </a:p>
          </p:txBody>
        </p:sp>
        <p:sp>
          <p:nvSpPr>
            <p:cNvPr id="9236" name="Rectangle 13"/>
            <p:cNvSpPr>
              <a:spLocks noChangeArrowheads="1"/>
            </p:cNvSpPr>
            <p:nvPr/>
          </p:nvSpPr>
          <p:spPr bwMode="auto">
            <a:xfrm>
              <a:off x="3264"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MEM</a:t>
              </a:r>
            </a:p>
          </p:txBody>
        </p:sp>
        <p:sp>
          <p:nvSpPr>
            <p:cNvPr id="9237" name="Rectangle 14"/>
            <p:cNvSpPr>
              <a:spLocks noChangeArrowheads="1"/>
            </p:cNvSpPr>
            <p:nvPr/>
          </p:nvSpPr>
          <p:spPr bwMode="auto">
            <a:xfrm>
              <a:off x="3888"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WB</a:t>
              </a:r>
            </a:p>
          </p:txBody>
        </p:sp>
      </p:grpSp>
      <p:sp>
        <p:nvSpPr>
          <p:cNvPr id="2" name="灯片编号占位符 1"/>
          <p:cNvSpPr>
            <a:spLocks noGrp="1"/>
          </p:cNvSpPr>
          <p:nvPr>
            <p:ph type="sldNum" sz="quarter" idx="4"/>
          </p:nvPr>
        </p:nvSpPr>
        <p:spPr/>
        <p:txBody>
          <a:bodyPr/>
          <a:lstStyle/>
          <a:p>
            <a:fld id="{7B9845D8-D779-4563-B1F1-C45D4F729032}" type="slidenum">
              <a:rPr lang="zh-CN" altLang="en-US" smtClean="0"/>
              <a:pPr/>
              <a:t>8</a:t>
            </a:fld>
            <a:endParaRPr lang="zh-CN" alt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75588"/>
            <a:ext cx="8229600" cy="667091"/>
          </a:xfrm>
        </p:spPr>
        <p:txBody>
          <a:bodyPr/>
          <a:lstStyle/>
          <a:p>
            <a:pPr eaLnBrk="1" hangingPunct="1"/>
            <a:r>
              <a:rPr lang="en-US" altLang="zh-CN" dirty="0"/>
              <a:t>I-Type </a:t>
            </a:r>
            <a:r>
              <a:rPr lang="en-US" altLang="zh-CN" dirty="0">
                <a:solidFill>
                  <a:srgbClr val="FF0000"/>
                </a:solidFill>
              </a:rPr>
              <a:t>ALU</a:t>
            </a:r>
            <a:r>
              <a:rPr lang="en-US" altLang="zh-CN" dirty="0"/>
              <a:t> </a:t>
            </a:r>
            <a:r>
              <a:rPr lang="zh-CN" altLang="en-US" dirty="0"/>
              <a:t>指令</a:t>
            </a:r>
            <a:endParaRPr lang="en-US" altLang="zh-CN" dirty="0"/>
          </a:p>
        </p:txBody>
      </p:sp>
      <p:sp>
        <p:nvSpPr>
          <p:cNvPr id="11267" name="Content Placeholder 2"/>
          <p:cNvSpPr>
            <a:spLocks noGrp="1"/>
          </p:cNvSpPr>
          <p:nvPr>
            <p:ph idx="1"/>
          </p:nvPr>
        </p:nvSpPr>
        <p:spPr>
          <a:xfrm>
            <a:off x="476054" y="1106076"/>
            <a:ext cx="8229600" cy="5105400"/>
          </a:xfrm>
        </p:spPr>
        <p:txBody>
          <a:bodyPr rtlCol="0">
            <a:normAutofit fontScale="55000" lnSpcReduction="20000"/>
          </a:bodyPr>
          <a:lstStyle/>
          <a:p>
            <a:pPr eaLnBrk="1" fontAlgn="auto" hangingPunct="1">
              <a:lnSpc>
                <a:spcPct val="120000"/>
              </a:lnSpc>
              <a:spcAft>
                <a:spcPts val="0"/>
              </a:spcAft>
              <a:buFont typeface="Arial" panose="020B0604020202020204" pitchFamily="34" charset="0"/>
              <a:buChar char="•"/>
              <a:defRPr/>
            </a:pPr>
            <a:r>
              <a:rPr lang="zh-CN" altLang="en-US" sz="5100" dirty="0"/>
              <a:t>汇编</a:t>
            </a:r>
            <a:r>
              <a:rPr lang="en-US" altLang="zh-CN" sz="5100" dirty="0"/>
              <a:t> (e.g., register-</a:t>
            </a:r>
            <a:r>
              <a:rPr lang="en-US" altLang="zh-CN" sz="5100" dirty="0" err="1"/>
              <a:t>imm</a:t>
            </a:r>
            <a:r>
              <a:rPr lang="en-US" altLang="zh-CN" sz="5100" dirty="0"/>
              <a:t> signed additions)</a:t>
            </a:r>
          </a:p>
          <a:p>
            <a:pPr eaLnBrk="1" fontAlgn="auto" hangingPunct="1">
              <a:lnSpc>
                <a:spcPct val="120000"/>
              </a:lnSpc>
              <a:spcBef>
                <a:spcPts val="1200"/>
              </a:spcBef>
              <a:spcAft>
                <a:spcPts val="600"/>
              </a:spcAft>
              <a:buFont typeface="Wingdings" pitchFamily="2" charset="2"/>
              <a:buNone/>
              <a:defRPr/>
            </a:pPr>
            <a:r>
              <a:rPr lang="en-US" altLang="zh-CN" dirty="0">
                <a:ea typeface="ＭＳ Ｐゴシック" pitchFamily="34" charset="-128"/>
              </a:rPr>
              <a:t>	</a:t>
            </a:r>
            <a:r>
              <a:rPr lang="en-US" altLang="zh-CN" sz="3600" dirty="0">
                <a:solidFill>
                  <a:srgbClr val="00B0F0"/>
                </a:solidFill>
                <a:ea typeface="ＭＳ Ｐゴシック" pitchFamily="34" charset="-128"/>
              </a:rPr>
              <a:t>ADDI </a:t>
            </a:r>
            <a:r>
              <a:rPr lang="en-US" altLang="zh-CN" sz="3600" dirty="0" err="1">
                <a:solidFill>
                  <a:srgbClr val="00B0F0"/>
                </a:solidFill>
                <a:ea typeface="ＭＳ Ｐゴシック" pitchFamily="34" charset="-128"/>
              </a:rPr>
              <a:t>rt</a:t>
            </a:r>
            <a:r>
              <a:rPr lang="en-US" altLang="zh-CN" sz="3600" baseline="-25000" dirty="0" err="1">
                <a:solidFill>
                  <a:srgbClr val="00B0F0"/>
                </a:solidFill>
                <a:ea typeface="ＭＳ Ｐゴシック" pitchFamily="34" charset="-128"/>
              </a:rPr>
              <a:t>reg</a:t>
            </a:r>
            <a:r>
              <a:rPr lang="en-US" altLang="zh-CN" sz="3600" dirty="0">
                <a:solidFill>
                  <a:srgbClr val="00B0F0"/>
                </a:solidFill>
                <a:ea typeface="ＭＳ Ｐゴシック" pitchFamily="34" charset="-128"/>
              </a:rPr>
              <a:t> </a:t>
            </a:r>
            <a:r>
              <a:rPr lang="en-US" altLang="zh-CN" sz="3600" dirty="0" err="1">
                <a:solidFill>
                  <a:srgbClr val="00B0F0"/>
                </a:solidFill>
                <a:ea typeface="ＭＳ Ｐゴシック" pitchFamily="34" charset="-128"/>
              </a:rPr>
              <a:t>rs</a:t>
            </a:r>
            <a:r>
              <a:rPr lang="en-US" altLang="zh-CN" sz="3600" baseline="-25000" dirty="0" err="1">
                <a:solidFill>
                  <a:srgbClr val="00B0F0"/>
                </a:solidFill>
                <a:ea typeface="ＭＳ Ｐゴシック" pitchFamily="34" charset="-128"/>
              </a:rPr>
              <a:t>reg</a:t>
            </a:r>
            <a:r>
              <a:rPr lang="en-US" altLang="zh-CN" sz="3600" dirty="0">
                <a:solidFill>
                  <a:srgbClr val="00B0F0"/>
                </a:solidFill>
                <a:ea typeface="ＭＳ Ｐゴシック" pitchFamily="34" charset="-128"/>
              </a:rPr>
              <a:t> immediate</a:t>
            </a:r>
            <a:r>
              <a:rPr lang="en-US" altLang="zh-CN" sz="3600" baseline="-25000" dirty="0">
                <a:solidFill>
                  <a:srgbClr val="00B0F0"/>
                </a:solidFill>
                <a:ea typeface="ＭＳ Ｐゴシック" pitchFamily="34" charset="-128"/>
              </a:rPr>
              <a:t>16</a:t>
            </a:r>
            <a:endParaRPr lang="en-US" altLang="zh-CN" sz="3600" dirty="0">
              <a:solidFill>
                <a:srgbClr val="00B0F0"/>
              </a:solidFill>
              <a:ea typeface="ＭＳ Ｐゴシック" pitchFamily="34" charset="-128"/>
            </a:endParaRPr>
          </a:p>
          <a:p>
            <a:pPr eaLnBrk="1" fontAlgn="auto" hangingPunct="1">
              <a:lnSpc>
                <a:spcPct val="120000"/>
              </a:lnSpc>
              <a:spcAft>
                <a:spcPts val="0"/>
              </a:spcAft>
              <a:buFont typeface="Wingdings" pitchFamily="2" charset="2"/>
              <a:buNone/>
              <a:defRPr/>
            </a:pPr>
            <a:endParaRPr lang="en-US" altLang="zh-CN" dirty="0">
              <a:ea typeface="ＭＳ Ｐゴシック" pitchFamily="34" charset="-128"/>
            </a:endParaRPr>
          </a:p>
          <a:p>
            <a:pPr eaLnBrk="1" fontAlgn="auto" hangingPunct="1">
              <a:lnSpc>
                <a:spcPct val="120000"/>
              </a:lnSpc>
              <a:spcAft>
                <a:spcPts val="0"/>
              </a:spcAft>
              <a:buFont typeface="Arial" panose="020B0604020202020204" pitchFamily="34" charset="0"/>
              <a:buChar char="•"/>
              <a:defRPr/>
            </a:pPr>
            <a:r>
              <a:rPr lang="zh-CN" altLang="en-US" sz="5100" dirty="0"/>
              <a:t>机器编码</a:t>
            </a:r>
            <a:endParaRPr lang="en-US" altLang="zh-CN" sz="5100" dirty="0"/>
          </a:p>
          <a:p>
            <a:pPr eaLnBrk="1" fontAlgn="auto" hangingPunct="1">
              <a:lnSpc>
                <a:spcPct val="120000"/>
              </a:lnSpc>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lnSpc>
                <a:spcPct val="120000"/>
              </a:lnSpc>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lnSpc>
                <a:spcPct val="120000"/>
              </a:lnSpc>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lnSpc>
                <a:spcPct val="120000"/>
              </a:lnSpc>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lnSpc>
                <a:spcPct val="120000"/>
              </a:lnSpc>
              <a:spcAft>
                <a:spcPts val="0"/>
              </a:spcAft>
              <a:buFont typeface="Arial" panose="020B0604020202020204" pitchFamily="34" charset="0"/>
              <a:buChar char="•"/>
              <a:defRPr/>
            </a:pPr>
            <a:r>
              <a:rPr lang="zh-CN" altLang="en-US" sz="5100" dirty="0"/>
              <a:t>语义</a:t>
            </a:r>
            <a:endParaRPr lang="en-US" altLang="zh-CN" sz="5100" dirty="0"/>
          </a:p>
          <a:p>
            <a:pPr eaLnBrk="1" fontAlgn="auto" hangingPunct="1">
              <a:lnSpc>
                <a:spcPct val="120000"/>
              </a:lnSpc>
              <a:spcAft>
                <a:spcPts val="0"/>
              </a:spcAft>
              <a:buFont typeface="Wingdings" pitchFamily="2" charset="2"/>
              <a:buNone/>
              <a:defRPr/>
            </a:pPr>
            <a:r>
              <a:rPr lang="en-US" altLang="zh-CN" dirty="0">
                <a:ea typeface="ＭＳ Ｐゴシック" pitchFamily="34" charset="-128"/>
              </a:rPr>
              <a:t>		</a:t>
            </a:r>
            <a:r>
              <a:rPr lang="en-US" altLang="zh-CN" sz="3400" dirty="0">
                <a:solidFill>
                  <a:srgbClr val="00B0F0"/>
                </a:solidFill>
                <a:ea typeface="ＭＳ Ｐゴシック" pitchFamily="34" charset="-128"/>
              </a:rPr>
              <a:t>if MEM[PC] == ADDI </a:t>
            </a:r>
            <a:r>
              <a:rPr lang="en-US" altLang="zh-CN" sz="3400" dirty="0" err="1">
                <a:solidFill>
                  <a:srgbClr val="00B0F0"/>
                </a:solidFill>
                <a:ea typeface="ＭＳ Ｐゴシック" pitchFamily="34" charset="-128"/>
              </a:rPr>
              <a:t>rt</a:t>
            </a:r>
            <a:r>
              <a:rPr lang="en-US" altLang="zh-CN" sz="3400" dirty="0">
                <a:solidFill>
                  <a:srgbClr val="00B0F0"/>
                </a:solidFill>
                <a:ea typeface="ＭＳ Ｐゴシック" pitchFamily="34" charset="-128"/>
              </a:rPr>
              <a:t> </a:t>
            </a:r>
            <a:r>
              <a:rPr lang="en-US" altLang="zh-CN" sz="3400" dirty="0" err="1">
                <a:solidFill>
                  <a:srgbClr val="00B0F0"/>
                </a:solidFill>
                <a:ea typeface="ＭＳ Ｐゴシック" pitchFamily="34" charset="-128"/>
              </a:rPr>
              <a:t>rs</a:t>
            </a:r>
            <a:r>
              <a:rPr lang="en-US" altLang="zh-CN" sz="3400" dirty="0">
                <a:solidFill>
                  <a:srgbClr val="00B0F0"/>
                </a:solidFill>
                <a:ea typeface="ＭＳ Ｐゴシック" pitchFamily="34" charset="-128"/>
              </a:rPr>
              <a:t> immediate</a:t>
            </a:r>
          </a:p>
          <a:p>
            <a:pPr eaLnBrk="1" fontAlgn="auto" hangingPunct="1">
              <a:lnSpc>
                <a:spcPct val="120000"/>
              </a:lnSpc>
              <a:spcAft>
                <a:spcPts val="0"/>
              </a:spcAft>
              <a:buFont typeface="Wingdings" pitchFamily="2" charset="2"/>
              <a:buNone/>
              <a:defRPr/>
            </a:pPr>
            <a:r>
              <a:rPr lang="en-US" altLang="zh-CN" sz="3400" dirty="0">
                <a:solidFill>
                  <a:srgbClr val="00B0F0"/>
                </a:solidFill>
                <a:ea typeface="ＭＳ Ｐゴシック" pitchFamily="34" charset="-128"/>
              </a:rPr>
              <a:t>		         GPR[</a:t>
            </a:r>
            <a:r>
              <a:rPr lang="en-US" altLang="zh-CN" sz="3400" dirty="0" err="1">
                <a:solidFill>
                  <a:srgbClr val="00B0F0"/>
                </a:solidFill>
                <a:ea typeface="ＭＳ Ｐゴシック" pitchFamily="34" charset="-128"/>
              </a:rPr>
              <a:t>rt</a:t>
            </a:r>
            <a:r>
              <a:rPr lang="en-US" altLang="zh-CN" sz="3400" dirty="0">
                <a:solidFill>
                  <a:srgbClr val="00B0F0"/>
                </a:solidFill>
                <a:ea typeface="ＭＳ Ｐゴシック" pitchFamily="34" charset="-128"/>
              </a:rPr>
              <a:t>] </a:t>
            </a:r>
            <a:r>
              <a:rPr lang="en-US" altLang="zh-CN" sz="3400" dirty="0">
                <a:solidFill>
                  <a:srgbClr val="00B0F0"/>
                </a:solidFill>
                <a:ea typeface="ＭＳ Ｐゴシック" pitchFamily="34" charset="-128"/>
                <a:sym typeface="Symbol" pitchFamily="18" charset="2"/>
              </a:rPr>
              <a:t> </a:t>
            </a:r>
            <a:r>
              <a:rPr lang="en-US" altLang="zh-CN" sz="3400" dirty="0">
                <a:solidFill>
                  <a:srgbClr val="00B0F0"/>
                </a:solidFill>
                <a:ea typeface="ＭＳ Ｐゴシック" pitchFamily="34" charset="-128"/>
              </a:rPr>
              <a:t>GPR[</a:t>
            </a:r>
            <a:r>
              <a:rPr lang="en-US" altLang="zh-CN" sz="3400" dirty="0" err="1">
                <a:solidFill>
                  <a:srgbClr val="00B0F0"/>
                </a:solidFill>
                <a:ea typeface="ＭＳ Ｐゴシック" pitchFamily="34" charset="-128"/>
              </a:rPr>
              <a:t>rs</a:t>
            </a:r>
            <a:r>
              <a:rPr lang="en-US" altLang="zh-CN" sz="3400" dirty="0">
                <a:solidFill>
                  <a:srgbClr val="00B0F0"/>
                </a:solidFill>
                <a:ea typeface="ＭＳ Ｐゴシック" pitchFamily="34" charset="-128"/>
              </a:rPr>
              <a:t>] + sign-extend (immediate)</a:t>
            </a:r>
          </a:p>
          <a:p>
            <a:pPr eaLnBrk="1" fontAlgn="auto" hangingPunct="1">
              <a:lnSpc>
                <a:spcPct val="120000"/>
              </a:lnSpc>
              <a:spcAft>
                <a:spcPts val="0"/>
              </a:spcAft>
              <a:buFont typeface="Wingdings" pitchFamily="2" charset="2"/>
              <a:buNone/>
              <a:defRPr/>
            </a:pPr>
            <a:r>
              <a:rPr lang="en-US" altLang="zh-CN" sz="3400" dirty="0">
                <a:solidFill>
                  <a:srgbClr val="00B0F0"/>
                </a:solidFill>
                <a:ea typeface="ＭＳ Ｐゴシック" pitchFamily="34" charset="-128"/>
              </a:rPr>
              <a:t>		         </a:t>
            </a:r>
            <a:r>
              <a:rPr lang="en-US" altLang="zh-CN" sz="3400" dirty="0">
                <a:solidFill>
                  <a:srgbClr val="00B0F0"/>
                </a:solidFill>
                <a:ea typeface="ＭＳ Ｐゴシック" pitchFamily="34" charset="-128"/>
                <a:sym typeface="Symbol" pitchFamily="18" charset="2"/>
              </a:rPr>
              <a:t>PC  PC + 4</a:t>
            </a:r>
          </a:p>
          <a:p>
            <a:pPr eaLnBrk="1" fontAlgn="auto" hangingPunct="1">
              <a:lnSpc>
                <a:spcPct val="120000"/>
              </a:lnSpc>
              <a:spcAft>
                <a:spcPts val="0"/>
              </a:spcAft>
              <a:buFont typeface="Arial" panose="020B0604020202020204" pitchFamily="34" charset="0"/>
              <a:buChar char="•"/>
              <a:defRPr/>
            </a:pPr>
            <a:endParaRPr lang="en-US" altLang="zh-CN" dirty="0">
              <a:ea typeface="ＭＳ Ｐゴシック" pitchFamily="34" charset="-128"/>
            </a:endParaRPr>
          </a:p>
        </p:txBody>
      </p:sp>
      <p:sp>
        <p:nvSpPr>
          <p:cNvPr id="10" name="Rectangle 4"/>
          <p:cNvSpPr>
            <a:spLocks noChangeArrowheads="1"/>
          </p:cNvSpPr>
          <p:nvPr/>
        </p:nvSpPr>
        <p:spPr bwMode="auto">
          <a:xfrm>
            <a:off x="830263" y="3160189"/>
            <a:ext cx="11430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ea typeface="ＭＳ Ｐゴシック" charset="0"/>
                <a:cs typeface="ＭＳ Ｐゴシック" charset="0"/>
              </a:rPr>
              <a:t>ADDI</a:t>
            </a:r>
          </a:p>
          <a:p>
            <a:pPr fontAlgn="auto">
              <a:spcBef>
                <a:spcPts val="0"/>
              </a:spcBef>
              <a:spcAft>
                <a:spcPts val="0"/>
              </a:spcAft>
              <a:defRPr/>
            </a:pPr>
            <a:r>
              <a:rPr lang="en-US" sz="1600" kern="0">
                <a:solidFill>
                  <a:srgbClr val="000000"/>
                </a:solidFill>
                <a:ea typeface="ＭＳ Ｐゴシック" charset="0"/>
                <a:cs typeface="ＭＳ Ｐゴシック" charset="0"/>
              </a:rPr>
              <a:t>6-bit</a:t>
            </a:r>
          </a:p>
        </p:txBody>
      </p:sp>
      <p:sp>
        <p:nvSpPr>
          <p:cNvPr id="11" name="Rectangle 5"/>
          <p:cNvSpPr>
            <a:spLocks noChangeArrowheads="1"/>
          </p:cNvSpPr>
          <p:nvPr/>
        </p:nvSpPr>
        <p:spPr bwMode="auto">
          <a:xfrm>
            <a:off x="1973263" y="3160189"/>
            <a:ext cx="9906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ea typeface="ＭＳ Ｐゴシック" charset="0"/>
                <a:cs typeface="ＭＳ Ｐゴシック" charset="0"/>
              </a:rPr>
              <a:t>rs</a:t>
            </a:r>
          </a:p>
          <a:p>
            <a:pPr fontAlgn="auto">
              <a:spcBef>
                <a:spcPts val="0"/>
              </a:spcBef>
              <a:spcAft>
                <a:spcPts val="0"/>
              </a:spcAft>
              <a:defRPr/>
            </a:pPr>
            <a:r>
              <a:rPr lang="en-US" sz="1600" kern="0">
                <a:solidFill>
                  <a:srgbClr val="000000"/>
                </a:solidFill>
                <a:ea typeface="ＭＳ Ｐゴシック" charset="0"/>
                <a:cs typeface="ＭＳ Ｐゴシック" charset="0"/>
              </a:rPr>
              <a:t>5-bit</a:t>
            </a:r>
          </a:p>
        </p:txBody>
      </p:sp>
      <p:sp>
        <p:nvSpPr>
          <p:cNvPr id="12" name="Rectangle 6"/>
          <p:cNvSpPr>
            <a:spLocks noChangeArrowheads="1"/>
          </p:cNvSpPr>
          <p:nvPr/>
        </p:nvSpPr>
        <p:spPr bwMode="auto">
          <a:xfrm>
            <a:off x="2963863" y="3160189"/>
            <a:ext cx="9906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ea typeface="ＭＳ Ｐゴシック" charset="0"/>
                <a:cs typeface="ＭＳ Ｐゴシック" charset="0"/>
              </a:rPr>
              <a:t>rt</a:t>
            </a:r>
          </a:p>
          <a:p>
            <a:pPr fontAlgn="auto">
              <a:spcBef>
                <a:spcPts val="0"/>
              </a:spcBef>
              <a:spcAft>
                <a:spcPts val="0"/>
              </a:spcAft>
              <a:defRPr/>
            </a:pPr>
            <a:r>
              <a:rPr lang="en-US" sz="1600" kern="0">
                <a:solidFill>
                  <a:srgbClr val="000000"/>
                </a:solidFill>
                <a:ea typeface="ＭＳ Ｐゴシック" charset="0"/>
                <a:cs typeface="ＭＳ Ｐゴシック" charset="0"/>
              </a:rPr>
              <a:t>5-bit</a:t>
            </a:r>
          </a:p>
        </p:txBody>
      </p:sp>
      <p:sp>
        <p:nvSpPr>
          <p:cNvPr id="13" name="Rectangle 7"/>
          <p:cNvSpPr>
            <a:spLocks noChangeArrowheads="1"/>
          </p:cNvSpPr>
          <p:nvPr/>
        </p:nvSpPr>
        <p:spPr bwMode="auto">
          <a:xfrm>
            <a:off x="3954463" y="3160189"/>
            <a:ext cx="2819400" cy="304800"/>
          </a:xfrm>
          <a:prstGeom prst="rect">
            <a:avLst/>
          </a:prstGeom>
          <a:solidFill>
            <a:srgbClr val="FFFFFF"/>
          </a:solidFill>
          <a:ln w="19050">
            <a:solidFill>
              <a:srgbClr val="000000"/>
            </a:solidFill>
            <a:miter lim="800000"/>
            <a:headEnd/>
            <a:tailEnd/>
          </a:ln>
        </p:spPr>
        <p:txBody>
          <a:bodyPr wrap="none" tIns="0"/>
          <a:lstStyle/>
          <a:p>
            <a:pPr fontAlgn="auto">
              <a:spcBef>
                <a:spcPts val="0"/>
              </a:spcBef>
              <a:spcAft>
                <a:spcPts val="0"/>
              </a:spcAft>
              <a:defRPr/>
            </a:pPr>
            <a:r>
              <a:rPr lang="en-US" sz="2000" kern="0">
                <a:solidFill>
                  <a:srgbClr val="000000"/>
                </a:solidFill>
                <a:ea typeface="ＭＳ Ｐゴシック" charset="0"/>
                <a:cs typeface="ＭＳ Ｐゴシック" charset="0"/>
              </a:rPr>
              <a:t>immediate</a:t>
            </a:r>
          </a:p>
          <a:p>
            <a:pPr fontAlgn="auto">
              <a:spcBef>
                <a:spcPts val="0"/>
              </a:spcBef>
              <a:spcAft>
                <a:spcPts val="0"/>
              </a:spcAft>
              <a:defRPr/>
            </a:pPr>
            <a:r>
              <a:rPr lang="en-US" sz="1600" kern="0">
                <a:solidFill>
                  <a:srgbClr val="000000"/>
                </a:solidFill>
                <a:ea typeface="ＭＳ Ｐゴシック" charset="0"/>
                <a:cs typeface="ＭＳ Ｐゴシック" charset="0"/>
              </a:rPr>
              <a:t>16-bit</a:t>
            </a:r>
          </a:p>
        </p:txBody>
      </p:sp>
      <p:sp>
        <p:nvSpPr>
          <p:cNvPr id="14" name="Text Box 8"/>
          <p:cNvSpPr txBox="1">
            <a:spLocks noChangeArrowheads="1"/>
          </p:cNvSpPr>
          <p:nvPr/>
        </p:nvSpPr>
        <p:spPr bwMode="auto">
          <a:xfrm>
            <a:off x="7078663" y="3022076"/>
            <a:ext cx="10747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i="1">
                <a:solidFill>
                  <a:schemeClr val="accent1"/>
                </a:solidFill>
                <a:latin typeface="Comic Sans MS" charset="0"/>
                <a:ea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2800" i="0" kern="0">
                <a:solidFill>
                  <a:srgbClr val="000000"/>
                </a:solidFill>
                <a:latin typeface="Arial" charset="0"/>
                <a:cs typeface="ＭＳ Ｐゴシック" charset="0"/>
              </a:rPr>
              <a:t>I-type</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9</a:t>
            </a:fld>
            <a:endParaRPr lang="zh-CN" alt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76200"/>
            <a:ext cx="8229600" cy="990600"/>
          </a:xfrm>
        </p:spPr>
        <p:txBody>
          <a:bodyPr/>
          <a:lstStyle/>
          <a:p>
            <a:pPr eaLnBrk="1" hangingPunct="1"/>
            <a:r>
              <a:rPr lang="en-US" altLang="zh-CN" dirty="0"/>
              <a:t>R and I-Type </a:t>
            </a:r>
            <a:r>
              <a:rPr lang="en-US" altLang="zh-CN" dirty="0">
                <a:solidFill>
                  <a:srgbClr val="FF0000"/>
                </a:solidFill>
              </a:rPr>
              <a:t>ALU</a:t>
            </a:r>
            <a:r>
              <a:rPr lang="en-US" altLang="zh-CN" dirty="0"/>
              <a:t> </a:t>
            </a:r>
            <a:r>
              <a:rPr lang="zh-CN" altLang="en-US" dirty="0"/>
              <a:t>指令的数据通路</a:t>
            </a:r>
            <a:endParaRPr lang="en-US" altLang="zh-CN" dirty="0"/>
          </a:p>
        </p:txBody>
      </p:sp>
      <p:pic>
        <p:nvPicPr>
          <p:cNvPr id="11268" name="Picture 3" descr="F05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3600" y="990600"/>
            <a:ext cx="3463925"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4" descr="F0509"/>
          <p:cNvPicPr>
            <a:picLocks noChangeAspect="1" noChangeArrowheads="1"/>
          </p:cNvPicPr>
          <p:nvPr/>
        </p:nvPicPr>
        <p:blipFill>
          <a:blip r:embed="rId3" cstate="print">
            <a:extLst>
              <a:ext uri="{28A0092B-C50C-407E-A947-70E740481C1C}">
                <a14:useLocalDpi xmlns:a14="http://schemas.microsoft.com/office/drawing/2010/main" val="0"/>
              </a:ext>
            </a:extLst>
          </a:blip>
          <a:srcRect l="10663" r="31990"/>
          <a:stretch>
            <a:fillRect/>
          </a:stretch>
        </p:blipFill>
        <p:spPr bwMode="auto">
          <a:xfrm>
            <a:off x="3924300" y="2335213"/>
            <a:ext cx="384810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70" name="Group 5"/>
          <p:cNvGrpSpPr>
            <a:grpSpLocks/>
          </p:cNvGrpSpPr>
          <p:nvPr/>
        </p:nvGrpSpPr>
        <p:grpSpPr bwMode="auto">
          <a:xfrm>
            <a:off x="6084888" y="3551238"/>
            <a:ext cx="1752600" cy="552450"/>
            <a:chOff x="3840" y="2676"/>
            <a:chExt cx="1104" cy="348"/>
          </a:xfrm>
        </p:grpSpPr>
        <p:sp>
          <p:nvSpPr>
            <p:cNvPr id="11304" name="Line 6"/>
            <p:cNvSpPr>
              <a:spLocks noChangeShapeType="1"/>
            </p:cNvSpPr>
            <p:nvPr/>
          </p:nvSpPr>
          <p:spPr bwMode="auto">
            <a:xfrm>
              <a:off x="3972" y="3000"/>
              <a:ext cx="972" cy="24"/>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5" name="Line 7"/>
            <p:cNvSpPr>
              <a:spLocks noChangeShapeType="1"/>
            </p:cNvSpPr>
            <p:nvPr/>
          </p:nvSpPr>
          <p:spPr bwMode="auto">
            <a:xfrm>
              <a:off x="3858" y="2676"/>
              <a:ext cx="0" cy="336"/>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6" name="Line 8"/>
            <p:cNvSpPr>
              <a:spLocks noChangeShapeType="1"/>
            </p:cNvSpPr>
            <p:nvPr/>
          </p:nvSpPr>
          <p:spPr bwMode="auto">
            <a:xfrm rot="5400000">
              <a:off x="3891" y="2955"/>
              <a:ext cx="0" cy="10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71" name="Freeform 9"/>
          <p:cNvSpPr>
            <a:spLocks/>
          </p:cNvSpPr>
          <p:nvPr/>
        </p:nvSpPr>
        <p:spPr bwMode="auto">
          <a:xfrm>
            <a:off x="7543800" y="3341688"/>
            <a:ext cx="533400" cy="1914525"/>
          </a:xfrm>
          <a:custGeom>
            <a:avLst/>
            <a:gdLst>
              <a:gd name="T0" fmla="*/ 2147483647 w 336"/>
              <a:gd name="T1" fmla="*/ 0 h 1200"/>
              <a:gd name="T2" fmla="*/ 2147483647 w 336"/>
              <a:gd name="T3" fmla="*/ 0 h 1200"/>
              <a:gd name="T4" fmla="*/ 2147483647 w 336"/>
              <a:gd name="T5" fmla="*/ 2147483647 h 1200"/>
              <a:gd name="T6" fmla="*/ 0 w 336"/>
              <a:gd name="T7" fmla="*/ 2147483647 h 1200"/>
              <a:gd name="T8" fmla="*/ 0 60000 65536"/>
              <a:gd name="T9" fmla="*/ 0 60000 65536"/>
              <a:gd name="T10" fmla="*/ 0 60000 65536"/>
              <a:gd name="T11" fmla="*/ 0 60000 65536"/>
              <a:gd name="T12" fmla="*/ 0 w 336"/>
              <a:gd name="T13" fmla="*/ 0 h 1200"/>
              <a:gd name="T14" fmla="*/ 336 w 336"/>
              <a:gd name="T15" fmla="*/ 1200 h 1200"/>
            </a:gdLst>
            <a:ahLst/>
            <a:cxnLst>
              <a:cxn ang="T8">
                <a:pos x="T0" y="T1"/>
              </a:cxn>
              <a:cxn ang="T9">
                <a:pos x="T2" y="T3"/>
              </a:cxn>
              <a:cxn ang="T10">
                <a:pos x="T4" y="T5"/>
              </a:cxn>
              <a:cxn ang="T11">
                <a:pos x="T6" y="T7"/>
              </a:cxn>
            </a:cxnLst>
            <a:rect l="T12" t="T13" r="T14" b="T15"/>
            <a:pathLst>
              <a:path w="336" h="1200">
                <a:moveTo>
                  <a:pt x="96" y="0"/>
                </a:moveTo>
                <a:lnTo>
                  <a:pt x="336" y="0"/>
                </a:lnTo>
                <a:lnTo>
                  <a:pt x="336" y="1200"/>
                </a:lnTo>
                <a:lnTo>
                  <a:pt x="0" y="120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72" name="Text Box 10"/>
          <p:cNvSpPr txBox="1">
            <a:spLocks noChangeArrowheads="1"/>
          </p:cNvSpPr>
          <p:nvPr/>
        </p:nvSpPr>
        <p:spPr bwMode="auto">
          <a:xfrm>
            <a:off x="4957763" y="4110038"/>
            <a:ext cx="288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dirty="0">
                <a:solidFill>
                  <a:schemeClr val="accent1"/>
                </a:solidFill>
                <a:latin typeface="Calibri" pitchFamily="34" charset="0"/>
              </a:rPr>
              <a:t>1</a:t>
            </a:r>
          </a:p>
        </p:txBody>
      </p:sp>
      <p:sp>
        <p:nvSpPr>
          <p:cNvPr id="11273" name="Rectangle 11"/>
          <p:cNvSpPr>
            <a:spLocks noChangeArrowheads="1"/>
          </p:cNvSpPr>
          <p:nvPr/>
        </p:nvSpPr>
        <p:spPr bwMode="auto">
          <a:xfrm>
            <a:off x="7010400" y="2938463"/>
            <a:ext cx="381000" cy="1524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p>
            <a:endParaRPr lang="zh-CN" altLang="zh-CN">
              <a:latin typeface="Calibri" pitchFamily="34" charset="0"/>
            </a:endParaRPr>
          </a:p>
        </p:txBody>
      </p:sp>
      <p:sp>
        <p:nvSpPr>
          <p:cNvPr id="11274" name="Line 12"/>
          <p:cNvSpPr>
            <a:spLocks noChangeShapeType="1"/>
          </p:cNvSpPr>
          <p:nvPr/>
        </p:nvSpPr>
        <p:spPr bwMode="auto">
          <a:xfrm>
            <a:off x="7423150" y="2994025"/>
            <a:ext cx="368300"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 name="Group 14"/>
          <p:cNvGrpSpPr>
            <a:grpSpLocks/>
          </p:cNvGrpSpPr>
          <p:nvPr/>
        </p:nvGrpSpPr>
        <p:grpSpPr bwMode="auto">
          <a:xfrm>
            <a:off x="3221038" y="2971800"/>
            <a:ext cx="3865562" cy="1638300"/>
            <a:chOff x="2029" y="2304"/>
            <a:chExt cx="2435" cy="1032"/>
          </a:xfrm>
        </p:grpSpPr>
        <p:grpSp>
          <p:nvGrpSpPr>
            <p:cNvPr id="11288" name="Group 15"/>
            <p:cNvGrpSpPr>
              <a:grpSpLocks/>
            </p:cNvGrpSpPr>
            <p:nvPr/>
          </p:nvGrpSpPr>
          <p:grpSpPr bwMode="auto">
            <a:xfrm>
              <a:off x="3744" y="2496"/>
              <a:ext cx="720" cy="840"/>
              <a:chOff x="3744" y="2496"/>
              <a:chExt cx="720" cy="840"/>
            </a:xfrm>
          </p:grpSpPr>
          <p:grpSp>
            <p:nvGrpSpPr>
              <p:cNvPr id="11295" name="Group 16"/>
              <p:cNvGrpSpPr>
                <a:grpSpLocks/>
              </p:cNvGrpSpPr>
              <p:nvPr/>
            </p:nvGrpSpPr>
            <p:grpSpPr bwMode="auto">
              <a:xfrm>
                <a:off x="3744" y="2496"/>
                <a:ext cx="720" cy="816"/>
                <a:chOff x="3744" y="2496"/>
                <a:chExt cx="720" cy="816"/>
              </a:xfrm>
            </p:grpSpPr>
            <p:sp>
              <p:nvSpPr>
                <p:cNvPr id="11297" name="Freeform 17"/>
                <p:cNvSpPr>
                  <a:spLocks/>
                </p:cNvSpPr>
                <p:nvPr/>
              </p:nvSpPr>
              <p:spPr bwMode="auto">
                <a:xfrm>
                  <a:off x="3984" y="2496"/>
                  <a:ext cx="96" cy="384"/>
                </a:xfrm>
                <a:custGeom>
                  <a:avLst/>
                  <a:gdLst>
                    <a:gd name="T0" fmla="*/ 0 w 290"/>
                    <a:gd name="T1" fmla="*/ 0 h 768"/>
                    <a:gd name="T2" fmla="*/ 0 w 290"/>
                    <a:gd name="T3" fmla="*/ 1 h 768"/>
                    <a:gd name="T4" fmla="*/ 0 w 290"/>
                    <a:gd name="T5" fmla="*/ 1 h 768"/>
                    <a:gd name="T6" fmla="*/ 0 w 290"/>
                    <a:gd name="T7" fmla="*/ 1 h 768"/>
                    <a:gd name="T8" fmla="*/ 0 w 290"/>
                    <a:gd name="T9" fmla="*/ 1 h 768"/>
                    <a:gd name="T10" fmla="*/ 0 w 290"/>
                    <a:gd name="T11" fmla="*/ 1 h 768"/>
                    <a:gd name="T12" fmla="*/ 0 w 290"/>
                    <a:gd name="T13" fmla="*/ 1 h 768"/>
                    <a:gd name="T14" fmla="*/ 0 w 290"/>
                    <a:gd name="T15" fmla="*/ 1 h 768"/>
                    <a:gd name="T16" fmla="*/ 0 w 290"/>
                    <a:gd name="T17" fmla="*/ 1 h 768"/>
                    <a:gd name="T18" fmla="*/ 0 w 290"/>
                    <a:gd name="T19" fmla="*/ 1 h 768"/>
                    <a:gd name="T20" fmla="*/ 0 w 290"/>
                    <a:gd name="T21" fmla="*/ 1 h 768"/>
                    <a:gd name="T22" fmla="*/ 0 w 290"/>
                    <a:gd name="T23" fmla="*/ 1 h 768"/>
                    <a:gd name="T24" fmla="*/ 0 w 290"/>
                    <a:gd name="T25" fmla="*/ 1 h 768"/>
                    <a:gd name="T26" fmla="*/ 0 w 290"/>
                    <a:gd name="T27" fmla="*/ 1 h 768"/>
                    <a:gd name="T28" fmla="*/ 0 w 290"/>
                    <a:gd name="T29" fmla="*/ 1 h 768"/>
                    <a:gd name="T30" fmla="*/ 0 w 290"/>
                    <a:gd name="T31" fmla="*/ 1 h 768"/>
                    <a:gd name="T32" fmla="*/ 0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1298" name="Freeform 18"/>
                <p:cNvSpPr>
                  <a:spLocks/>
                </p:cNvSpPr>
                <p:nvPr/>
              </p:nvSpPr>
              <p:spPr bwMode="auto">
                <a:xfrm>
                  <a:off x="3846" y="2688"/>
                  <a:ext cx="96" cy="624"/>
                </a:xfrm>
                <a:custGeom>
                  <a:avLst/>
                  <a:gdLst>
                    <a:gd name="T0" fmla="*/ 0 w 96"/>
                    <a:gd name="T1" fmla="*/ 624 h 624"/>
                    <a:gd name="T2" fmla="*/ 96 w 96"/>
                    <a:gd name="T3" fmla="*/ 624 h 624"/>
                    <a:gd name="T4" fmla="*/ 96 w 96"/>
                    <a:gd name="T5" fmla="*/ 0 h 624"/>
                    <a:gd name="T6" fmla="*/ 0 60000 65536"/>
                    <a:gd name="T7" fmla="*/ 0 60000 65536"/>
                    <a:gd name="T8" fmla="*/ 0 60000 65536"/>
                    <a:gd name="T9" fmla="*/ 0 w 96"/>
                    <a:gd name="T10" fmla="*/ 0 h 624"/>
                    <a:gd name="T11" fmla="*/ 96 w 96"/>
                    <a:gd name="T12" fmla="*/ 624 h 624"/>
                  </a:gdLst>
                  <a:ahLst/>
                  <a:cxnLst>
                    <a:cxn ang="T6">
                      <a:pos x="T0" y="T1"/>
                    </a:cxn>
                    <a:cxn ang="T7">
                      <a:pos x="T2" y="T3"/>
                    </a:cxn>
                    <a:cxn ang="T8">
                      <a:pos x="T4" y="T5"/>
                    </a:cxn>
                  </a:cxnLst>
                  <a:rect l="T9" t="T10" r="T11" b="T12"/>
                  <a:pathLst>
                    <a:path w="96" h="624">
                      <a:moveTo>
                        <a:pt x="0" y="624"/>
                      </a:moveTo>
                      <a:lnTo>
                        <a:pt x="96" y="624"/>
                      </a:lnTo>
                      <a:lnTo>
                        <a:pt x="96" y="0"/>
                      </a:lnTo>
                    </a:path>
                  </a:pathLst>
                </a:custGeom>
                <a:noFill/>
                <a:ln w="762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9" name="Line 19"/>
                <p:cNvSpPr>
                  <a:spLocks noChangeShapeType="1"/>
                </p:cNvSpPr>
                <p:nvPr/>
              </p:nvSpPr>
              <p:spPr bwMode="auto">
                <a:xfrm>
                  <a:off x="3744" y="2688"/>
                  <a:ext cx="240"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0" name="Freeform 20"/>
                <p:cNvSpPr>
                  <a:spLocks/>
                </p:cNvSpPr>
                <p:nvPr/>
              </p:nvSpPr>
              <p:spPr bwMode="auto">
                <a:xfrm>
                  <a:off x="3840" y="2784"/>
                  <a:ext cx="144" cy="528"/>
                </a:xfrm>
                <a:custGeom>
                  <a:avLst/>
                  <a:gdLst>
                    <a:gd name="T0" fmla="*/ 0 w 144"/>
                    <a:gd name="T1" fmla="*/ 528 h 528"/>
                    <a:gd name="T2" fmla="*/ 48 w 144"/>
                    <a:gd name="T3" fmla="*/ 528 h 528"/>
                    <a:gd name="T4" fmla="*/ 48 w 144"/>
                    <a:gd name="T5" fmla="*/ 0 h 528"/>
                    <a:gd name="T6" fmla="*/ 144 w 144"/>
                    <a:gd name="T7" fmla="*/ 0 h 528"/>
                    <a:gd name="T8" fmla="*/ 0 60000 65536"/>
                    <a:gd name="T9" fmla="*/ 0 60000 65536"/>
                    <a:gd name="T10" fmla="*/ 0 60000 65536"/>
                    <a:gd name="T11" fmla="*/ 0 60000 65536"/>
                    <a:gd name="T12" fmla="*/ 0 w 144"/>
                    <a:gd name="T13" fmla="*/ 0 h 528"/>
                    <a:gd name="T14" fmla="*/ 144 w 144"/>
                    <a:gd name="T15" fmla="*/ 528 h 528"/>
                  </a:gdLst>
                  <a:ahLst/>
                  <a:cxnLst>
                    <a:cxn ang="T8">
                      <a:pos x="T0" y="T1"/>
                    </a:cxn>
                    <a:cxn ang="T9">
                      <a:pos x="T2" y="T3"/>
                    </a:cxn>
                    <a:cxn ang="T10">
                      <a:pos x="T4" y="T5"/>
                    </a:cxn>
                    <a:cxn ang="T11">
                      <a:pos x="T6" y="T7"/>
                    </a:cxn>
                  </a:cxnLst>
                  <a:rect l="T12" t="T13" r="T14" b="T15"/>
                  <a:pathLst>
                    <a:path w="144" h="528">
                      <a:moveTo>
                        <a:pt x="0" y="528"/>
                      </a:moveTo>
                      <a:lnTo>
                        <a:pt x="48" y="528"/>
                      </a:lnTo>
                      <a:lnTo>
                        <a:pt x="48" y="0"/>
                      </a:lnTo>
                      <a:lnTo>
                        <a:pt x="144"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01" name="Line 21"/>
                <p:cNvSpPr>
                  <a:spLocks noChangeShapeType="1"/>
                </p:cNvSpPr>
                <p:nvPr/>
              </p:nvSpPr>
              <p:spPr bwMode="auto">
                <a:xfrm>
                  <a:off x="3744" y="2592"/>
                  <a:ext cx="24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2" name="Line 22"/>
                <p:cNvSpPr>
                  <a:spLocks noChangeShapeType="1"/>
                </p:cNvSpPr>
                <p:nvPr/>
              </p:nvSpPr>
              <p:spPr bwMode="auto">
                <a:xfrm>
                  <a:off x="4032" y="2832"/>
                  <a:ext cx="0" cy="288"/>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3" name="Text Box 23"/>
                <p:cNvSpPr txBox="1">
                  <a:spLocks noChangeArrowheads="1"/>
                </p:cNvSpPr>
                <p:nvPr/>
              </p:nvSpPr>
              <p:spPr bwMode="auto">
                <a:xfrm>
                  <a:off x="4072" y="2979"/>
                  <a:ext cx="39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ALUSrc</a:t>
                  </a:r>
                </a:p>
              </p:txBody>
            </p:sp>
          </p:grpSp>
          <p:sp>
            <p:nvSpPr>
              <p:cNvPr id="11296" name="Text Box 24"/>
              <p:cNvSpPr txBox="1">
                <a:spLocks noChangeArrowheads="1"/>
              </p:cNvSpPr>
              <p:nvPr/>
            </p:nvSpPr>
            <p:spPr bwMode="auto">
              <a:xfrm>
                <a:off x="3901" y="3123"/>
                <a:ext cx="46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err="1">
                    <a:solidFill>
                      <a:srgbClr val="CC9900"/>
                    </a:solidFill>
                    <a:latin typeface="Calibri" pitchFamily="34" charset="0"/>
                  </a:rPr>
                  <a:t>isItype</a:t>
                </a:r>
                <a:endParaRPr lang="en-US" altLang="zh-CN" sz="1600" b="0" dirty="0">
                  <a:solidFill>
                    <a:srgbClr val="CC9900"/>
                  </a:solidFill>
                  <a:latin typeface="Calibri" pitchFamily="34" charset="0"/>
                </a:endParaRPr>
              </a:p>
            </p:txBody>
          </p:sp>
        </p:grpSp>
        <p:grpSp>
          <p:nvGrpSpPr>
            <p:cNvPr id="11289" name="Group 25"/>
            <p:cNvGrpSpPr>
              <a:grpSpLocks/>
            </p:cNvGrpSpPr>
            <p:nvPr/>
          </p:nvGrpSpPr>
          <p:grpSpPr bwMode="auto">
            <a:xfrm>
              <a:off x="2029" y="2304"/>
              <a:ext cx="694" cy="792"/>
              <a:chOff x="2029" y="2304"/>
              <a:chExt cx="694" cy="792"/>
            </a:xfrm>
          </p:grpSpPr>
          <p:sp>
            <p:nvSpPr>
              <p:cNvPr id="11290" name="Freeform 26"/>
              <p:cNvSpPr>
                <a:spLocks/>
              </p:cNvSpPr>
              <p:nvPr/>
            </p:nvSpPr>
            <p:spPr bwMode="auto">
              <a:xfrm>
                <a:off x="2640" y="2352"/>
                <a:ext cx="83" cy="336"/>
              </a:xfrm>
              <a:custGeom>
                <a:avLst/>
                <a:gdLst>
                  <a:gd name="T0" fmla="*/ 0 w 290"/>
                  <a:gd name="T1" fmla="*/ 0 h 768"/>
                  <a:gd name="T2" fmla="*/ 0 w 290"/>
                  <a:gd name="T3" fmla="*/ 0 h 768"/>
                  <a:gd name="T4" fmla="*/ 0 w 290"/>
                  <a:gd name="T5" fmla="*/ 0 h 768"/>
                  <a:gd name="T6" fmla="*/ 0 w 290"/>
                  <a:gd name="T7" fmla="*/ 0 h 768"/>
                  <a:gd name="T8" fmla="*/ 0 w 290"/>
                  <a:gd name="T9" fmla="*/ 0 h 768"/>
                  <a:gd name="T10" fmla="*/ 0 w 290"/>
                  <a:gd name="T11" fmla="*/ 0 h 768"/>
                  <a:gd name="T12" fmla="*/ 0 w 290"/>
                  <a:gd name="T13" fmla="*/ 0 h 768"/>
                  <a:gd name="T14" fmla="*/ 0 w 290"/>
                  <a:gd name="T15" fmla="*/ 0 h 768"/>
                  <a:gd name="T16" fmla="*/ 0 w 290"/>
                  <a:gd name="T17" fmla="*/ 0 h 768"/>
                  <a:gd name="T18" fmla="*/ 0 w 290"/>
                  <a:gd name="T19" fmla="*/ 0 h 768"/>
                  <a:gd name="T20" fmla="*/ 0 w 290"/>
                  <a:gd name="T21" fmla="*/ 0 h 768"/>
                  <a:gd name="T22" fmla="*/ 0 w 290"/>
                  <a:gd name="T23" fmla="*/ 0 h 768"/>
                  <a:gd name="T24" fmla="*/ 0 w 290"/>
                  <a:gd name="T25" fmla="*/ 0 h 768"/>
                  <a:gd name="T26" fmla="*/ 0 w 290"/>
                  <a:gd name="T27" fmla="*/ 0 h 768"/>
                  <a:gd name="T28" fmla="*/ 0 w 290"/>
                  <a:gd name="T29" fmla="*/ 0 h 768"/>
                  <a:gd name="T30" fmla="*/ 0 w 290"/>
                  <a:gd name="T31" fmla="*/ 0 h 768"/>
                  <a:gd name="T32" fmla="*/ 0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1291" name="Freeform 27"/>
              <p:cNvSpPr>
                <a:spLocks/>
              </p:cNvSpPr>
              <p:nvPr/>
            </p:nvSpPr>
            <p:spPr bwMode="auto">
              <a:xfrm>
                <a:off x="2592" y="2304"/>
                <a:ext cx="48" cy="144"/>
              </a:xfrm>
              <a:custGeom>
                <a:avLst/>
                <a:gdLst>
                  <a:gd name="T0" fmla="*/ 0 w 48"/>
                  <a:gd name="T1" fmla="*/ 0 h 144"/>
                  <a:gd name="T2" fmla="*/ 0 w 48"/>
                  <a:gd name="T3" fmla="*/ 144 h 144"/>
                  <a:gd name="T4" fmla="*/ 48 w 48"/>
                  <a:gd name="T5" fmla="*/ 144 h 144"/>
                  <a:gd name="T6" fmla="*/ 0 60000 65536"/>
                  <a:gd name="T7" fmla="*/ 0 60000 65536"/>
                  <a:gd name="T8" fmla="*/ 0 60000 65536"/>
                  <a:gd name="T9" fmla="*/ 0 w 48"/>
                  <a:gd name="T10" fmla="*/ 0 h 144"/>
                  <a:gd name="T11" fmla="*/ 48 w 48"/>
                  <a:gd name="T12" fmla="*/ 144 h 144"/>
                </a:gdLst>
                <a:ahLst/>
                <a:cxnLst>
                  <a:cxn ang="T6">
                    <a:pos x="T0" y="T1"/>
                  </a:cxn>
                  <a:cxn ang="T7">
                    <a:pos x="T2" y="T3"/>
                  </a:cxn>
                  <a:cxn ang="T8">
                    <a:pos x="T4" y="T5"/>
                  </a:cxn>
                </a:cxnLst>
                <a:rect l="T9" t="T10" r="T11" b="T12"/>
                <a:pathLst>
                  <a:path w="48" h="144">
                    <a:moveTo>
                      <a:pt x="0" y="0"/>
                    </a:moveTo>
                    <a:lnTo>
                      <a:pt x="0" y="144"/>
                    </a:lnTo>
                    <a:lnTo>
                      <a:pt x="48"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2" name="Text Box 28"/>
              <p:cNvSpPr txBox="1">
                <a:spLocks noChangeArrowheads="1"/>
              </p:cNvSpPr>
              <p:nvPr/>
            </p:nvSpPr>
            <p:spPr bwMode="auto">
              <a:xfrm>
                <a:off x="2084" y="2758"/>
                <a:ext cx="43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RegDest</a:t>
                </a:r>
              </a:p>
            </p:txBody>
          </p:sp>
          <p:sp>
            <p:nvSpPr>
              <p:cNvPr id="11293" name="Freeform 29"/>
              <p:cNvSpPr>
                <a:spLocks/>
              </p:cNvSpPr>
              <p:nvPr/>
            </p:nvSpPr>
            <p:spPr bwMode="auto">
              <a:xfrm>
                <a:off x="2400" y="2640"/>
                <a:ext cx="288" cy="288"/>
              </a:xfrm>
              <a:custGeom>
                <a:avLst/>
                <a:gdLst>
                  <a:gd name="T0" fmla="*/ 288 w 288"/>
                  <a:gd name="T1" fmla="*/ 0 h 288"/>
                  <a:gd name="T2" fmla="*/ 288 w 288"/>
                  <a:gd name="T3" fmla="*/ 96 h 288"/>
                  <a:gd name="T4" fmla="*/ 0 w 288"/>
                  <a:gd name="T5" fmla="*/ 288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288" y="0"/>
                    </a:moveTo>
                    <a:lnTo>
                      <a:pt x="288" y="96"/>
                    </a:lnTo>
                    <a:lnTo>
                      <a:pt x="0" y="288"/>
                    </a:lnTo>
                  </a:path>
                </a:pathLst>
              </a:custGeom>
              <a:noFill/>
              <a:ln w="28575">
                <a:solidFill>
                  <a:srgbClr val="FF99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4" name="Rectangle 30"/>
              <p:cNvSpPr>
                <a:spLocks noChangeArrowheads="1"/>
              </p:cNvSpPr>
              <p:nvPr/>
            </p:nvSpPr>
            <p:spPr bwMode="auto">
              <a:xfrm>
                <a:off x="2029" y="2883"/>
                <a:ext cx="46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r>
                  <a:rPr lang="en-US" altLang="zh-CN" sz="1600" b="0" dirty="0" err="1">
                    <a:solidFill>
                      <a:srgbClr val="CC9900"/>
                    </a:solidFill>
                    <a:latin typeface="Calibri" pitchFamily="34" charset="0"/>
                  </a:rPr>
                  <a:t>isItype</a:t>
                </a:r>
                <a:endParaRPr lang="en-US" altLang="zh-CN" sz="1600" b="0" dirty="0">
                  <a:solidFill>
                    <a:srgbClr val="CC9900"/>
                  </a:solidFill>
                  <a:latin typeface="Calibri" pitchFamily="34" charset="0"/>
                </a:endParaRPr>
              </a:p>
            </p:txBody>
          </p:sp>
        </p:grpSp>
      </p:grpSp>
      <p:sp>
        <p:nvSpPr>
          <p:cNvPr id="11276" name="Rectangle 31"/>
          <p:cNvSpPr>
            <a:spLocks noChangeArrowheads="1"/>
          </p:cNvSpPr>
          <p:nvPr/>
        </p:nvSpPr>
        <p:spPr bwMode="auto">
          <a:xfrm>
            <a:off x="3609975" y="3270250"/>
            <a:ext cx="41433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20000"/>
              </a:spcBef>
              <a:buClr>
                <a:schemeClr val="accent2"/>
              </a:buClr>
              <a:buSzPct val="70000"/>
              <a:buFont typeface="Wingdings" pitchFamily="2" charset="2"/>
              <a:buNone/>
            </a:pPr>
            <a:r>
              <a:rPr lang="en-US" altLang="zh-CN" sz="800">
                <a:solidFill>
                  <a:schemeClr val="accent2"/>
                </a:solidFill>
                <a:latin typeface="Calibri" pitchFamily="34" charset="0"/>
              </a:rPr>
              <a:t>15:11</a:t>
            </a:r>
          </a:p>
        </p:txBody>
      </p:sp>
      <p:sp>
        <p:nvSpPr>
          <p:cNvPr id="11277" name="Rectangle 32"/>
          <p:cNvSpPr>
            <a:spLocks noChangeArrowheads="1"/>
          </p:cNvSpPr>
          <p:nvPr/>
        </p:nvSpPr>
        <p:spPr bwMode="auto">
          <a:xfrm>
            <a:off x="3608388" y="2879725"/>
            <a:ext cx="4175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20000"/>
              </a:spcBef>
              <a:buClr>
                <a:schemeClr val="accent2"/>
              </a:buClr>
              <a:buSzPct val="70000"/>
              <a:buFont typeface="Wingdings" pitchFamily="2" charset="2"/>
              <a:buNone/>
            </a:pPr>
            <a:r>
              <a:rPr lang="en-US" altLang="zh-CN" sz="800">
                <a:solidFill>
                  <a:schemeClr val="accent2"/>
                </a:solidFill>
                <a:latin typeface="Calibri" pitchFamily="34" charset="0"/>
              </a:rPr>
              <a:t>20:16</a:t>
            </a:r>
          </a:p>
        </p:txBody>
      </p:sp>
      <p:sp>
        <p:nvSpPr>
          <p:cNvPr id="11278" name="Rectangle 33"/>
          <p:cNvSpPr>
            <a:spLocks noChangeArrowheads="1"/>
          </p:cNvSpPr>
          <p:nvPr/>
        </p:nvSpPr>
        <p:spPr bwMode="auto">
          <a:xfrm>
            <a:off x="3608388" y="2486025"/>
            <a:ext cx="4175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spcBef>
                <a:spcPct val="20000"/>
              </a:spcBef>
              <a:buClr>
                <a:schemeClr val="accent2"/>
              </a:buClr>
              <a:buSzPct val="70000"/>
              <a:buFont typeface="Wingdings" pitchFamily="2" charset="2"/>
              <a:buNone/>
            </a:pPr>
            <a:r>
              <a:rPr lang="en-US" altLang="zh-CN" sz="800">
                <a:solidFill>
                  <a:schemeClr val="accent2"/>
                </a:solidFill>
                <a:latin typeface="Calibri" pitchFamily="34" charset="0"/>
              </a:rPr>
              <a:t>25:21</a:t>
            </a:r>
          </a:p>
        </p:txBody>
      </p:sp>
      <p:sp>
        <p:nvSpPr>
          <p:cNvPr id="11279" name="Rectangle 3"/>
          <p:cNvSpPr>
            <a:spLocks noChangeArrowheads="1"/>
          </p:cNvSpPr>
          <p:nvPr/>
        </p:nvSpPr>
        <p:spPr bwMode="auto">
          <a:xfrm>
            <a:off x="1" y="5542635"/>
            <a:ext cx="4876800" cy="1323439"/>
          </a:xfrm>
          <a:prstGeom prst="rect">
            <a:avLst/>
          </a:prstGeom>
          <a:solidFill>
            <a:srgbClr val="C0C0C0"/>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p>
            <a:r>
              <a:rPr lang="en-US" altLang="zh-CN" sz="2000" dirty="0">
                <a:latin typeface="Calibri" pitchFamily="34" charset="0"/>
              </a:rPr>
              <a:t>if MEM[PC] == ADDI </a:t>
            </a:r>
            <a:r>
              <a:rPr lang="en-US" altLang="zh-CN" sz="2000" dirty="0" err="1">
                <a:latin typeface="Calibri" pitchFamily="34" charset="0"/>
              </a:rPr>
              <a:t>rt</a:t>
            </a:r>
            <a:r>
              <a:rPr lang="en-US" altLang="zh-CN" sz="2000" dirty="0">
                <a:latin typeface="Calibri" pitchFamily="34" charset="0"/>
              </a:rPr>
              <a:t> </a:t>
            </a:r>
            <a:r>
              <a:rPr lang="en-US" altLang="zh-CN" sz="2000" dirty="0" err="1">
                <a:latin typeface="Calibri" pitchFamily="34" charset="0"/>
              </a:rPr>
              <a:t>rs</a:t>
            </a:r>
            <a:r>
              <a:rPr lang="en-US" altLang="zh-CN" sz="2000" dirty="0">
                <a:latin typeface="Calibri" pitchFamily="34" charset="0"/>
              </a:rPr>
              <a:t> immediate</a:t>
            </a:r>
          </a:p>
          <a:p>
            <a:pPr lvl="1"/>
            <a:r>
              <a:rPr lang="en-US" altLang="zh-CN" sz="2000" dirty="0">
                <a:latin typeface="Calibri" pitchFamily="34" charset="0"/>
              </a:rPr>
              <a:t>GPR[</a:t>
            </a:r>
            <a:r>
              <a:rPr lang="en-US" altLang="zh-CN" sz="2000" dirty="0" err="1">
                <a:latin typeface="Calibri" pitchFamily="34" charset="0"/>
              </a:rPr>
              <a:t>rt</a:t>
            </a:r>
            <a:r>
              <a:rPr lang="en-US" altLang="zh-CN" sz="2000" dirty="0">
                <a:latin typeface="Calibri" pitchFamily="34" charset="0"/>
              </a:rPr>
              <a:t>] </a:t>
            </a:r>
            <a:r>
              <a:rPr lang="en-US" altLang="zh-CN" sz="2000" dirty="0">
                <a:latin typeface="Calibri" pitchFamily="34" charset="0"/>
                <a:sym typeface="Symbol" pitchFamily="18" charset="2"/>
              </a:rPr>
              <a:t> </a:t>
            </a:r>
            <a:r>
              <a:rPr lang="en-US" altLang="zh-CN" sz="2000" dirty="0">
                <a:latin typeface="Calibri" pitchFamily="34" charset="0"/>
              </a:rPr>
              <a:t>GPR[</a:t>
            </a:r>
            <a:r>
              <a:rPr lang="en-US" altLang="zh-CN" sz="2000" dirty="0" err="1">
                <a:latin typeface="Calibri" pitchFamily="34" charset="0"/>
              </a:rPr>
              <a:t>rs</a:t>
            </a:r>
            <a:r>
              <a:rPr lang="en-US" altLang="zh-CN" sz="2000" dirty="0">
                <a:latin typeface="Calibri" pitchFamily="34" charset="0"/>
              </a:rPr>
              <a:t>] + sign-extend (immediate) </a:t>
            </a:r>
            <a:endParaRPr lang="en-US" altLang="zh-CN" sz="2000" dirty="0">
              <a:latin typeface="Calibri" pitchFamily="34" charset="0"/>
              <a:sym typeface="Symbol" pitchFamily="18" charset="2"/>
            </a:endParaRPr>
          </a:p>
          <a:p>
            <a:pPr lvl="1"/>
            <a:r>
              <a:rPr lang="en-US" altLang="zh-CN" sz="2000" dirty="0">
                <a:latin typeface="Calibri" pitchFamily="34" charset="0"/>
                <a:sym typeface="Symbol" pitchFamily="18" charset="2"/>
              </a:rPr>
              <a:t>PC  PC + 4</a:t>
            </a:r>
          </a:p>
        </p:txBody>
      </p:sp>
      <p:sp>
        <p:nvSpPr>
          <p:cNvPr id="11280" name="AutoShape 4"/>
          <p:cNvSpPr>
            <a:spLocks noChangeArrowheads="1"/>
          </p:cNvSpPr>
          <p:nvPr/>
        </p:nvSpPr>
        <p:spPr bwMode="auto">
          <a:xfrm>
            <a:off x="4953000" y="6080125"/>
            <a:ext cx="762000" cy="457200"/>
          </a:xfrm>
          <a:prstGeom prst="rightArrow">
            <a:avLst>
              <a:gd name="adj1" fmla="val 50000"/>
              <a:gd name="adj2" fmla="val 41667"/>
            </a:avLst>
          </a:prstGeom>
          <a:solidFill>
            <a:schemeClr val="accent1"/>
          </a:solidFill>
          <a:ln w="19050">
            <a:solidFill>
              <a:schemeClr val="accent1"/>
            </a:solidFill>
            <a:miter lim="800000"/>
            <a:headEnd/>
            <a:tailEnd/>
          </a:ln>
        </p:spPr>
        <p:txBody>
          <a:bodyPr wrap="none" anchor="ctr"/>
          <a:lstStyle/>
          <a:p>
            <a:endParaRPr lang="zh-CN" altLang="zh-CN">
              <a:latin typeface="Calibri" pitchFamily="34" charset="0"/>
            </a:endParaRPr>
          </a:p>
        </p:txBody>
      </p:sp>
      <p:grpSp>
        <p:nvGrpSpPr>
          <p:cNvPr id="11282" name="Group 7"/>
          <p:cNvGrpSpPr>
            <a:grpSpLocks/>
          </p:cNvGrpSpPr>
          <p:nvPr/>
        </p:nvGrpSpPr>
        <p:grpSpPr bwMode="auto">
          <a:xfrm>
            <a:off x="5334000" y="5546725"/>
            <a:ext cx="3581400" cy="304800"/>
            <a:chOff x="1392" y="2976"/>
            <a:chExt cx="3072" cy="240"/>
          </a:xfrm>
        </p:grpSpPr>
        <p:sp>
          <p:nvSpPr>
            <p:cNvPr id="11283" name="Rectangle 8"/>
            <p:cNvSpPr>
              <a:spLocks noChangeArrowheads="1"/>
            </p:cNvSpPr>
            <p:nvPr/>
          </p:nvSpPr>
          <p:spPr bwMode="auto">
            <a:xfrm>
              <a:off x="1392"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IF</a:t>
              </a:r>
            </a:p>
          </p:txBody>
        </p:sp>
        <p:sp>
          <p:nvSpPr>
            <p:cNvPr id="11284" name="Rectangle 9"/>
            <p:cNvSpPr>
              <a:spLocks noChangeArrowheads="1"/>
            </p:cNvSpPr>
            <p:nvPr/>
          </p:nvSpPr>
          <p:spPr bwMode="auto">
            <a:xfrm>
              <a:off x="2016"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ID</a:t>
              </a:r>
            </a:p>
          </p:txBody>
        </p:sp>
        <p:sp>
          <p:nvSpPr>
            <p:cNvPr id="11285" name="Rectangle 10"/>
            <p:cNvSpPr>
              <a:spLocks noChangeArrowheads="1"/>
            </p:cNvSpPr>
            <p:nvPr/>
          </p:nvSpPr>
          <p:spPr bwMode="auto">
            <a:xfrm>
              <a:off x="2640"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EX</a:t>
              </a:r>
            </a:p>
          </p:txBody>
        </p:sp>
        <p:sp>
          <p:nvSpPr>
            <p:cNvPr id="11286" name="Rectangle 11"/>
            <p:cNvSpPr>
              <a:spLocks noChangeArrowheads="1"/>
            </p:cNvSpPr>
            <p:nvPr/>
          </p:nvSpPr>
          <p:spPr bwMode="auto">
            <a:xfrm>
              <a:off x="3264"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MEM</a:t>
              </a:r>
            </a:p>
          </p:txBody>
        </p:sp>
        <p:sp>
          <p:nvSpPr>
            <p:cNvPr id="11287" name="Rectangle 12"/>
            <p:cNvSpPr>
              <a:spLocks noChangeArrowheads="1"/>
            </p:cNvSpPr>
            <p:nvPr/>
          </p:nvSpPr>
          <p:spPr bwMode="auto">
            <a:xfrm>
              <a:off x="3888"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WB</a:t>
              </a:r>
            </a:p>
          </p:txBody>
        </p:sp>
      </p:grpSp>
      <p:sp>
        <p:nvSpPr>
          <p:cNvPr id="2" name="TextBox 1"/>
          <p:cNvSpPr txBox="1"/>
          <p:nvPr/>
        </p:nvSpPr>
        <p:spPr>
          <a:xfrm>
            <a:off x="304800" y="4576534"/>
            <a:ext cx="3176895" cy="954107"/>
          </a:xfrm>
          <a:prstGeom prst="rect">
            <a:avLst/>
          </a:prstGeom>
          <a:noFill/>
        </p:spPr>
        <p:txBody>
          <a:bodyPr wrap="none" rtlCol="0">
            <a:spAutoFit/>
          </a:bodyPr>
          <a:lstStyle/>
          <a:p>
            <a:r>
              <a:rPr lang="zh-CN" altLang="en-US" sz="2800" b="0" dirty="0">
                <a:solidFill>
                  <a:srgbClr val="FF0000"/>
                </a:solidFill>
                <a:latin typeface="微软雅黑" panose="020B0503020204020204" pitchFamily="34" charset="-122"/>
                <a:ea typeface="微软雅黑" panose="020B0503020204020204" pitchFamily="34" charset="-122"/>
              </a:rPr>
              <a:t>如何与</a:t>
            </a:r>
            <a:r>
              <a:rPr lang="en-US" altLang="zh-CN" sz="2800" b="0" dirty="0">
                <a:solidFill>
                  <a:srgbClr val="FF0000"/>
                </a:solidFill>
                <a:latin typeface="微软雅黑" panose="020B0503020204020204" pitchFamily="34" charset="-122"/>
                <a:ea typeface="微软雅黑" panose="020B0503020204020204" pitchFamily="34" charset="-122"/>
              </a:rPr>
              <a:t>R-Type</a:t>
            </a:r>
            <a:r>
              <a:rPr lang="zh-CN" altLang="en-US" sz="2800" b="0" dirty="0">
                <a:solidFill>
                  <a:srgbClr val="FF0000"/>
                </a:solidFill>
                <a:latin typeface="微软雅黑" panose="020B0503020204020204" pitchFamily="34" charset="-122"/>
                <a:ea typeface="微软雅黑" panose="020B0503020204020204" pitchFamily="34" charset="-122"/>
              </a:rPr>
              <a:t>指令</a:t>
            </a:r>
            <a:endParaRPr lang="en-US" altLang="zh-CN" sz="2800" b="0" dirty="0">
              <a:solidFill>
                <a:srgbClr val="FF0000"/>
              </a:solidFill>
              <a:latin typeface="微软雅黑" panose="020B0503020204020204" pitchFamily="34" charset="-122"/>
              <a:ea typeface="微软雅黑" panose="020B0503020204020204" pitchFamily="34" charset="-122"/>
            </a:endParaRPr>
          </a:p>
          <a:p>
            <a:r>
              <a:rPr lang="zh-CN" altLang="en-US" sz="2800" b="0" dirty="0">
                <a:solidFill>
                  <a:srgbClr val="FF0000"/>
                </a:solidFill>
                <a:latin typeface="微软雅黑" panose="020B0503020204020204" pitchFamily="34" charset="-122"/>
                <a:ea typeface="微软雅黑" panose="020B0503020204020204" pitchFamily="34" charset="-122"/>
              </a:rPr>
              <a:t>共享数据通路？</a:t>
            </a:r>
          </a:p>
        </p:txBody>
      </p:sp>
      <p:sp>
        <p:nvSpPr>
          <p:cNvPr id="43" name="Text Box 8">
            <a:extLst>
              <a:ext uri="{FF2B5EF4-FFF2-40B4-BE49-F238E27FC236}">
                <a16:creationId xmlns:a16="http://schemas.microsoft.com/office/drawing/2014/main" id="{9F45680C-4DEF-4351-A36D-5EB394950544}"/>
              </a:ext>
            </a:extLst>
          </p:cNvPr>
          <p:cNvSpPr txBox="1">
            <a:spLocks noChangeArrowheads="1"/>
          </p:cNvSpPr>
          <p:nvPr/>
        </p:nvSpPr>
        <p:spPr bwMode="auto">
          <a:xfrm>
            <a:off x="5848509" y="6015335"/>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zh-CN" altLang="en-US" sz="2400" b="0" dirty="0">
                <a:latin typeface="微软雅黑" panose="020B0503020204020204" pitchFamily="34" charset="-122"/>
                <a:ea typeface="微软雅黑" panose="020B0503020204020204" pitchFamily="34" charset="-122"/>
              </a:rPr>
              <a:t>状态更新组合逻辑</a:t>
            </a:r>
            <a:endParaRPr lang="en-US" altLang="zh-CN" sz="2400" b="0"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4"/>
          </p:nvPr>
        </p:nvSpPr>
        <p:spPr/>
        <p:txBody>
          <a:bodyPr/>
          <a:lstStyle/>
          <a:p>
            <a:fld id="{7B9845D8-D779-4563-B1F1-C45D4F729032}" type="slidenum">
              <a:rPr lang="zh-CN" altLang="en-US" smtClean="0"/>
              <a:pPr/>
              <a:t>10</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571316"/>
          </a:xfrm>
          <a:prstGeom prst="rect">
            <a:avLst/>
          </a:prstGeom>
        </p:spPr>
        <p:txBody>
          <a:bodyPr vert="horz" wrap="square" lIns="0" tIns="0" rIns="0" bIns="0" rtlCol="0">
            <a:spAutoFit/>
          </a:bodyPr>
          <a:lstStyle/>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指令处理步骤</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算术逻辑指令数据通路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solidFill>
                  <a:srgbClr val="FF0000"/>
                </a:solidFill>
                <a:latin typeface="微软雅黑" panose="020B0503020204020204" pitchFamily="34" charset="-122"/>
                <a:ea typeface="微软雅黑" panose="020B0503020204020204" pitchFamily="34" charset="-122"/>
                <a:cs typeface="Calibri" panose="020F0502020204030204"/>
              </a:rPr>
              <a:t>访存指令的数据通路</a:t>
            </a:r>
            <a:endParaRPr lang="en-US" altLang="zh-CN" sz="2800" b="0" spc="-60"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控制流指令数据通路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单周期控制逻辑</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单周期性能分析</a:t>
            </a:r>
            <a:endParaRPr sz="2800" b="0" spc="-60" dirty="0">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11</a:t>
            </a:fld>
            <a:endParaRPr lang="zh-CN" altLang="en-US"/>
          </a:p>
        </p:txBody>
      </p:sp>
    </p:spTree>
    <p:extLst>
      <p:ext uri="{BB962C8B-B14F-4D97-AF65-F5344CB8AC3E}">
        <p14:creationId xmlns:p14="http://schemas.microsoft.com/office/powerpoint/2010/main" val="1549843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76200"/>
            <a:ext cx="8229600" cy="990600"/>
          </a:xfrm>
        </p:spPr>
        <p:txBody>
          <a:bodyPr/>
          <a:lstStyle/>
          <a:p>
            <a:pPr eaLnBrk="1" hangingPunct="1"/>
            <a:r>
              <a:rPr lang="en-US" altLang="zh-CN" dirty="0"/>
              <a:t>I-Type </a:t>
            </a:r>
            <a:r>
              <a:rPr lang="en-US" altLang="zh-CN" dirty="0">
                <a:solidFill>
                  <a:srgbClr val="FF0000"/>
                </a:solidFill>
              </a:rPr>
              <a:t>LW</a:t>
            </a:r>
            <a:r>
              <a:rPr lang="en-US" altLang="zh-CN" dirty="0"/>
              <a:t> </a:t>
            </a:r>
            <a:r>
              <a:rPr lang="zh-CN" altLang="en-US" dirty="0"/>
              <a:t>指令</a:t>
            </a:r>
            <a:endParaRPr lang="en-US" altLang="zh-CN" dirty="0"/>
          </a:p>
        </p:txBody>
      </p:sp>
      <p:sp>
        <p:nvSpPr>
          <p:cNvPr id="14339" name="Content Placeholder 2"/>
          <p:cNvSpPr>
            <a:spLocks noGrp="1"/>
          </p:cNvSpPr>
          <p:nvPr>
            <p:ph idx="1"/>
          </p:nvPr>
        </p:nvSpPr>
        <p:spPr>
          <a:xfrm>
            <a:off x="457200" y="1143000"/>
            <a:ext cx="8229600" cy="5105400"/>
          </a:xfrm>
        </p:spPr>
        <p:txBody>
          <a:bodyPr rtlCol="0">
            <a:normAutofit fontScale="85000" lnSpcReduction="20000"/>
          </a:bodyPr>
          <a:lstStyle/>
          <a:p>
            <a:pPr eaLnBrk="1" fontAlgn="auto" hangingPunct="1">
              <a:spcAft>
                <a:spcPts val="0"/>
              </a:spcAft>
              <a:buFont typeface="Arial" panose="020B0604020202020204" pitchFamily="34" charset="0"/>
              <a:buChar char="•"/>
              <a:defRPr/>
            </a:pPr>
            <a:r>
              <a:rPr lang="zh-CN" altLang="en-US" sz="3300" dirty="0"/>
              <a:t>汇编</a:t>
            </a:r>
            <a:r>
              <a:rPr lang="en-US" altLang="zh-CN" sz="3300" dirty="0"/>
              <a:t> (e.g., load 4-byte word)</a:t>
            </a:r>
          </a:p>
          <a:p>
            <a:pPr eaLnBrk="1" fontAlgn="auto" hangingPunct="1">
              <a:lnSpc>
                <a:spcPct val="120000"/>
              </a:lnSpc>
              <a:spcBef>
                <a:spcPts val="1200"/>
              </a:spcBef>
              <a:spcAft>
                <a:spcPts val="600"/>
              </a:spcAft>
              <a:buFont typeface="Wingdings" pitchFamily="2" charset="2"/>
              <a:buNone/>
              <a:defRPr/>
            </a:pPr>
            <a:r>
              <a:rPr lang="en-US" altLang="zh-CN" dirty="0">
                <a:ea typeface="ＭＳ Ｐゴシック" pitchFamily="34" charset="-128"/>
              </a:rPr>
              <a:t>	</a:t>
            </a:r>
            <a:r>
              <a:rPr lang="en-US" altLang="zh-CN" dirty="0">
                <a:solidFill>
                  <a:srgbClr val="00B0F0"/>
                </a:solidFill>
                <a:ea typeface="ＭＳ Ｐゴシック" pitchFamily="34" charset="-128"/>
              </a:rPr>
              <a:t>LW </a:t>
            </a:r>
            <a:r>
              <a:rPr lang="en-US" altLang="zh-CN" dirty="0" err="1">
                <a:solidFill>
                  <a:srgbClr val="00B0F0"/>
                </a:solidFill>
                <a:ea typeface="ＭＳ Ｐゴシック" pitchFamily="34" charset="-128"/>
              </a:rPr>
              <a:t>rt</a:t>
            </a:r>
            <a:r>
              <a:rPr lang="en-US" altLang="zh-CN" baseline="-25000" dirty="0" err="1">
                <a:solidFill>
                  <a:srgbClr val="00B0F0"/>
                </a:solidFill>
                <a:ea typeface="ＭＳ Ｐゴシック" pitchFamily="34" charset="-128"/>
              </a:rPr>
              <a:t>reg</a:t>
            </a:r>
            <a:r>
              <a:rPr lang="en-US" altLang="zh-CN" dirty="0">
                <a:solidFill>
                  <a:srgbClr val="00B0F0"/>
                </a:solidFill>
                <a:ea typeface="ＭＳ Ｐゴシック" pitchFamily="34" charset="-128"/>
              </a:rPr>
              <a:t> offset</a:t>
            </a:r>
            <a:r>
              <a:rPr lang="en-US" altLang="zh-CN" baseline="-25000" dirty="0">
                <a:solidFill>
                  <a:srgbClr val="00B0F0"/>
                </a:solidFill>
                <a:ea typeface="ＭＳ Ｐゴシック" pitchFamily="34" charset="-128"/>
              </a:rPr>
              <a:t>16</a:t>
            </a:r>
            <a:r>
              <a:rPr lang="en-US" altLang="zh-CN" dirty="0">
                <a:solidFill>
                  <a:srgbClr val="00B0F0"/>
                </a:solidFill>
                <a:ea typeface="ＭＳ Ｐゴシック" pitchFamily="34" charset="-128"/>
              </a:rPr>
              <a:t> (</a:t>
            </a:r>
            <a:r>
              <a:rPr lang="en-US" altLang="zh-CN" dirty="0" err="1">
                <a:solidFill>
                  <a:srgbClr val="00B0F0"/>
                </a:solidFill>
                <a:ea typeface="ＭＳ Ｐゴシック" pitchFamily="34" charset="-128"/>
              </a:rPr>
              <a:t>base</a:t>
            </a:r>
            <a:r>
              <a:rPr lang="en-US" altLang="zh-CN" baseline="-25000" dirty="0" err="1">
                <a:solidFill>
                  <a:srgbClr val="00B0F0"/>
                </a:solidFill>
                <a:ea typeface="ＭＳ Ｐゴシック" pitchFamily="34" charset="-128"/>
              </a:rPr>
              <a:t>reg</a:t>
            </a:r>
            <a:r>
              <a:rPr lang="en-US" altLang="zh-CN" dirty="0">
                <a:solidFill>
                  <a:srgbClr val="00B0F0"/>
                </a:solidFill>
                <a:ea typeface="ＭＳ Ｐゴシック" pitchFamily="34" charset="-128"/>
              </a:rPr>
              <a:t>)</a:t>
            </a: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spcAft>
                <a:spcPts val="0"/>
              </a:spcAft>
              <a:buFont typeface="Arial" panose="020B0604020202020204" pitchFamily="34" charset="0"/>
              <a:buChar char="•"/>
              <a:defRPr/>
            </a:pPr>
            <a:r>
              <a:rPr lang="zh-CN" altLang="en-US" sz="3300" dirty="0"/>
              <a:t>机器编码</a:t>
            </a:r>
            <a:endParaRPr lang="en-US" altLang="zh-CN" sz="3300" dirty="0"/>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lnSpc>
                <a:spcPct val="120000"/>
              </a:lnSpc>
              <a:spcBef>
                <a:spcPts val="0"/>
              </a:spcBef>
              <a:spcAft>
                <a:spcPts val="600"/>
              </a:spcAft>
              <a:buFont typeface="Arial" panose="020B0604020202020204" pitchFamily="34" charset="0"/>
              <a:buChar char="•"/>
              <a:defRPr/>
            </a:pPr>
            <a:r>
              <a:rPr lang="zh-CN" altLang="en-US" sz="3300" dirty="0"/>
              <a:t>语义</a:t>
            </a:r>
            <a:endParaRPr lang="en-US" altLang="zh-CN" sz="3300" dirty="0"/>
          </a:p>
          <a:p>
            <a:pPr eaLnBrk="1" fontAlgn="auto" hangingPunct="1">
              <a:spcAft>
                <a:spcPts val="0"/>
              </a:spcAft>
              <a:buFont typeface="Wingdings" pitchFamily="2" charset="2"/>
              <a:buNone/>
              <a:defRPr/>
            </a:pPr>
            <a:r>
              <a:rPr lang="en-US" altLang="zh-CN" dirty="0">
                <a:solidFill>
                  <a:srgbClr val="00B0F0"/>
                </a:solidFill>
                <a:ea typeface="ＭＳ Ｐゴシック" pitchFamily="34" charset="-128"/>
              </a:rPr>
              <a:t>	</a:t>
            </a:r>
            <a:r>
              <a:rPr lang="en-US" altLang="zh-CN" sz="2800" dirty="0">
                <a:solidFill>
                  <a:srgbClr val="00B0F0"/>
                </a:solidFill>
                <a:ea typeface="ＭＳ Ｐゴシック" pitchFamily="34" charset="-128"/>
              </a:rPr>
              <a:t>if MEM[PC]==LW </a:t>
            </a:r>
            <a:r>
              <a:rPr lang="en-US" altLang="zh-CN" sz="2800" dirty="0" err="1">
                <a:solidFill>
                  <a:srgbClr val="00B0F0"/>
                </a:solidFill>
                <a:ea typeface="ＭＳ Ｐゴシック" pitchFamily="34" charset="-128"/>
              </a:rPr>
              <a:t>rt</a:t>
            </a:r>
            <a:r>
              <a:rPr lang="en-US" altLang="zh-CN" sz="2800" dirty="0">
                <a:solidFill>
                  <a:srgbClr val="00B0F0"/>
                </a:solidFill>
                <a:ea typeface="ＭＳ Ｐゴシック" pitchFamily="34" charset="-128"/>
              </a:rPr>
              <a:t> offset</a:t>
            </a:r>
            <a:r>
              <a:rPr lang="en-US" altLang="zh-CN" sz="2800" baseline="-25000" dirty="0">
                <a:solidFill>
                  <a:srgbClr val="00B0F0"/>
                </a:solidFill>
                <a:ea typeface="ＭＳ Ｐゴシック" pitchFamily="34" charset="-128"/>
              </a:rPr>
              <a:t>16</a:t>
            </a:r>
            <a:r>
              <a:rPr lang="en-US" altLang="zh-CN" sz="2800" dirty="0">
                <a:solidFill>
                  <a:srgbClr val="00B0F0"/>
                </a:solidFill>
                <a:ea typeface="ＭＳ Ｐゴシック" pitchFamily="34" charset="-128"/>
              </a:rPr>
              <a:t> (base) </a:t>
            </a:r>
          </a:p>
          <a:p>
            <a:pPr lvl="2" eaLnBrk="1" fontAlgn="auto" hangingPunct="1">
              <a:spcAft>
                <a:spcPts val="0"/>
              </a:spcAft>
              <a:buFontTx/>
              <a:buNone/>
              <a:defRPr/>
            </a:pPr>
            <a:r>
              <a:rPr lang="en-US" altLang="zh-CN" sz="2800" dirty="0">
                <a:solidFill>
                  <a:srgbClr val="00B0F0"/>
                </a:solidFill>
                <a:ea typeface="ＭＳ Ｐゴシック" pitchFamily="34" charset="-128"/>
              </a:rPr>
              <a:t>EA = sign-extend(offset) + GPR[base]</a:t>
            </a:r>
          </a:p>
          <a:p>
            <a:pPr lvl="2" eaLnBrk="1" fontAlgn="auto" hangingPunct="1">
              <a:spcAft>
                <a:spcPts val="0"/>
              </a:spcAft>
              <a:buFontTx/>
              <a:buNone/>
              <a:defRPr/>
            </a:pPr>
            <a:r>
              <a:rPr lang="en-US" altLang="zh-CN" sz="2800" dirty="0">
                <a:solidFill>
                  <a:srgbClr val="00B0F0"/>
                </a:solidFill>
                <a:ea typeface="ＭＳ Ｐゴシック" pitchFamily="34" charset="-128"/>
              </a:rPr>
              <a:t>GPR[</a:t>
            </a:r>
            <a:r>
              <a:rPr lang="en-US" altLang="zh-CN" sz="2800" dirty="0" err="1">
                <a:solidFill>
                  <a:srgbClr val="00B0F0"/>
                </a:solidFill>
                <a:ea typeface="ＭＳ Ｐゴシック" pitchFamily="34" charset="-128"/>
              </a:rPr>
              <a:t>rt</a:t>
            </a:r>
            <a:r>
              <a:rPr lang="en-US" altLang="zh-CN" sz="2800" dirty="0">
                <a:solidFill>
                  <a:srgbClr val="00B0F0"/>
                </a:solidFill>
                <a:ea typeface="ＭＳ Ｐゴシック" pitchFamily="34" charset="-128"/>
              </a:rPr>
              <a:t>] </a:t>
            </a:r>
            <a:r>
              <a:rPr lang="en-US" altLang="zh-CN" sz="2800" dirty="0">
                <a:solidFill>
                  <a:srgbClr val="00B0F0"/>
                </a:solidFill>
                <a:ea typeface="ＭＳ Ｐゴシック" pitchFamily="34" charset="-128"/>
                <a:sym typeface="Symbol" pitchFamily="18" charset="2"/>
              </a:rPr>
              <a:t> MEM[ </a:t>
            </a:r>
            <a:r>
              <a:rPr lang="en-US" altLang="zh-CN" sz="2800" dirty="0">
                <a:solidFill>
                  <a:srgbClr val="FF0000"/>
                </a:solidFill>
                <a:ea typeface="ＭＳ Ｐゴシック" pitchFamily="34" charset="-128"/>
                <a:sym typeface="Symbol" pitchFamily="18" charset="2"/>
              </a:rPr>
              <a:t>translate</a:t>
            </a:r>
            <a:r>
              <a:rPr lang="en-US" altLang="zh-CN" sz="2800" dirty="0">
                <a:solidFill>
                  <a:srgbClr val="00B0F0"/>
                </a:solidFill>
                <a:ea typeface="ＭＳ Ｐゴシック" pitchFamily="34" charset="-128"/>
                <a:sym typeface="Symbol" pitchFamily="18" charset="2"/>
              </a:rPr>
              <a:t>(EA) ] </a:t>
            </a:r>
          </a:p>
          <a:p>
            <a:pPr lvl="2" eaLnBrk="1" fontAlgn="auto" hangingPunct="1">
              <a:spcAft>
                <a:spcPts val="0"/>
              </a:spcAft>
              <a:buFontTx/>
              <a:buNone/>
              <a:defRPr/>
            </a:pPr>
            <a:r>
              <a:rPr lang="en-US" altLang="zh-CN" sz="2800" dirty="0">
                <a:solidFill>
                  <a:srgbClr val="00B0F0"/>
                </a:solidFill>
                <a:ea typeface="ＭＳ Ｐゴシック" pitchFamily="34" charset="-128"/>
                <a:sym typeface="Symbol" pitchFamily="18" charset="2"/>
              </a:rPr>
              <a:t>PC  PC + 4</a:t>
            </a: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p:txBody>
      </p:sp>
      <p:sp>
        <p:nvSpPr>
          <p:cNvPr id="13317" name="Rectangle 4"/>
          <p:cNvSpPr>
            <a:spLocks noChangeArrowheads="1"/>
          </p:cNvSpPr>
          <p:nvPr/>
        </p:nvSpPr>
        <p:spPr bwMode="auto">
          <a:xfrm>
            <a:off x="850900" y="3263900"/>
            <a:ext cx="99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LW</a:t>
            </a:r>
            <a:endParaRPr lang="en-US" altLang="zh-CN" sz="2000" baseline="-25000">
              <a:latin typeface="Calibri" pitchFamily="34" charset="0"/>
            </a:endParaRPr>
          </a:p>
          <a:p>
            <a:r>
              <a:rPr lang="en-US" altLang="zh-CN" sz="1600">
                <a:latin typeface="Calibri" pitchFamily="34" charset="0"/>
              </a:rPr>
              <a:t>6-bit</a:t>
            </a:r>
          </a:p>
        </p:txBody>
      </p:sp>
      <p:sp>
        <p:nvSpPr>
          <p:cNvPr id="13318" name="Rectangle 5"/>
          <p:cNvSpPr>
            <a:spLocks noChangeArrowheads="1"/>
          </p:cNvSpPr>
          <p:nvPr/>
        </p:nvSpPr>
        <p:spPr bwMode="auto">
          <a:xfrm>
            <a:off x="1841500" y="3263900"/>
            <a:ext cx="99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base</a:t>
            </a:r>
          </a:p>
          <a:p>
            <a:r>
              <a:rPr lang="en-US" altLang="zh-CN" sz="1600">
                <a:latin typeface="Calibri" pitchFamily="34" charset="0"/>
              </a:rPr>
              <a:t>5-bit</a:t>
            </a:r>
          </a:p>
        </p:txBody>
      </p:sp>
      <p:sp>
        <p:nvSpPr>
          <p:cNvPr id="13319" name="Rectangle 6"/>
          <p:cNvSpPr>
            <a:spLocks noChangeArrowheads="1"/>
          </p:cNvSpPr>
          <p:nvPr/>
        </p:nvSpPr>
        <p:spPr bwMode="auto">
          <a:xfrm>
            <a:off x="2832100" y="3263900"/>
            <a:ext cx="99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rt</a:t>
            </a:r>
          </a:p>
          <a:p>
            <a:r>
              <a:rPr lang="en-US" altLang="zh-CN" sz="1600">
                <a:latin typeface="Calibri" pitchFamily="34" charset="0"/>
              </a:rPr>
              <a:t>5-bit</a:t>
            </a:r>
          </a:p>
        </p:txBody>
      </p:sp>
      <p:sp>
        <p:nvSpPr>
          <p:cNvPr id="13320" name="Rectangle 7"/>
          <p:cNvSpPr>
            <a:spLocks noChangeArrowheads="1"/>
          </p:cNvSpPr>
          <p:nvPr/>
        </p:nvSpPr>
        <p:spPr bwMode="auto">
          <a:xfrm>
            <a:off x="3822700" y="3263900"/>
            <a:ext cx="28194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offset</a:t>
            </a:r>
          </a:p>
          <a:p>
            <a:r>
              <a:rPr lang="en-US" altLang="zh-CN" sz="1600">
                <a:latin typeface="Calibri" pitchFamily="34" charset="0"/>
              </a:rPr>
              <a:t>16-bit</a:t>
            </a:r>
          </a:p>
        </p:txBody>
      </p:sp>
      <p:sp>
        <p:nvSpPr>
          <p:cNvPr id="13321" name="Text Box 8"/>
          <p:cNvSpPr txBox="1">
            <a:spLocks noChangeArrowheads="1"/>
          </p:cNvSpPr>
          <p:nvPr/>
        </p:nvSpPr>
        <p:spPr bwMode="auto">
          <a:xfrm>
            <a:off x="6967538" y="3133725"/>
            <a:ext cx="1033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800">
                <a:latin typeface="Calibri" pitchFamily="34" charset="0"/>
              </a:rPr>
              <a:t>I-type</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12</a:t>
            </a:fld>
            <a:endParaRPr lang="zh-CN" altLang="en-US"/>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76200"/>
            <a:ext cx="8229600" cy="914400"/>
          </a:xfrm>
        </p:spPr>
        <p:txBody>
          <a:bodyPr/>
          <a:lstStyle/>
          <a:p>
            <a:pPr eaLnBrk="1" hangingPunct="1"/>
            <a:r>
              <a:rPr lang="en-US" altLang="zh-CN" dirty="0"/>
              <a:t>LW </a:t>
            </a:r>
            <a:r>
              <a:rPr lang="zh-CN" altLang="en-US" dirty="0"/>
              <a:t>数据通路</a:t>
            </a:r>
            <a:endParaRPr lang="en-US" altLang="zh-CN" dirty="0"/>
          </a:p>
        </p:txBody>
      </p:sp>
      <p:pic>
        <p:nvPicPr>
          <p:cNvPr id="14340" name="Picture 3" descr="F05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371600"/>
            <a:ext cx="2978150"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4" descr="F0509"/>
          <p:cNvPicPr>
            <a:picLocks noChangeAspect="1" noChangeArrowheads="1"/>
          </p:cNvPicPr>
          <p:nvPr/>
        </p:nvPicPr>
        <p:blipFill>
          <a:blip r:embed="rId3" cstate="print">
            <a:extLst>
              <a:ext uri="{28A0092B-C50C-407E-A947-70E740481C1C}">
                <a14:useLocalDpi xmlns:a14="http://schemas.microsoft.com/office/drawing/2010/main" val="0"/>
              </a:ext>
            </a:extLst>
          </a:blip>
          <a:srcRect l="10663" r="31990"/>
          <a:stretch>
            <a:fillRect/>
          </a:stretch>
        </p:blipFill>
        <p:spPr bwMode="auto">
          <a:xfrm>
            <a:off x="2782888" y="2547938"/>
            <a:ext cx="330835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42" name="Group 5"/>
          <p:cNvGrpSpPr>
            <a:grpSpLocks/>
          </p:cNvGrpSpPr>
          <p:nvPr/>
        </p:nvGrpSpPr>
        <p:grpSpPr bwMode="auto">
          <a:xfrm>
            <a:off x="4640263" y="3613150"/>
            <a:ext cx="1506537" cy="484188"/>
            <a:chOff x="3840" y="2676"/>
            <a:chExt cx="1104" cy="348"/>
          </a:xfrm>
        </p:grpSpPr>
        <p:sp>
          <p:nvSpPr>
            <p:cNvPr id="14372" name="Line 6"/>
            <p:cNvSpPr>
              <a:spLocks noChangeShapeType="1"/>
            </p:cNvSpPr>
            <p:nvPr/>
          </p:nvSpPr>
          <p:spPr bwMode="auto">
            <a:xfrm>
              <a:off x="3972" y="3000"/>
              <a:ext cx="972" cy="24"/>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3" name="Line 7"/>
            <p:cNvSpPr>
              <a:spLocks noChangeShapeType="1"/>
            </p:cNvSpPr>
            <p:nvPr/>
          </p:nvSpPr>
          <p:spPr bwMode="auto">
            <a:xfrm>
              <a:off x="3858" y="2676"/>
              <a:ext cx="0" cy="336"/>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4" name="Line 8"/>
            <p:cNvSpPr>
              <a:spLocks noChangeShapeType="1"/>
            </p:cNvSpPr>
            <p:nvPr/>
          </p:nvSpPr>
          <p:spPr bwMode="auto">
            <a:xfrm rot="5400000">
              <a:off x="3891" y="2955"/>
              <a:ext cx="0" cy="10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343" name="Freeform 9"/>
          <p:cNvSpPr>
            <a:spLocks/>
          </p:cNvSpPr>
          <p:nvPr/>
        </p:nvSpPr>
        <p:spPr bwMode="auto">
          <a:xfrm>
            <a:off x="4846638" y="3371850"/>
            <a:ext cx="131762" cy="533400"/>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4344" name="Freeform 10"/>
          <p:cNvSpPr>
            <a:spLocks/>
          </p:cNvSpPr>
          <p:nvPr/>
        </p:nvSpPr>
        <p:spPr bwMode="auto">
          <a:xfrm>
            <a:off x="4659313" y="3638550"/>
            <a:ext cx="130175" cy="868363"/>
          </a:xfrm>
          <a:custGeom>
            <a:avLst/>
            <a:gdLst>
              <a:gd name="T0" fmla="*/ 0 w 96"/>
              <a:gd name="T1" fmla="*/ 2147483647 h 624"/>
              <a:gd name="T2" fmla="*/ 2147483647 w 96"/>
              <a:gd name="T3" fmla="*/ 2147483647 h 624"/>
              <a:gd name="T4" fmla="*/ 2147483647 w 96"/>
              <a:gd name="T5" fmla="*/ 0 h 624"/>
              <a:gd name="T6" fmla="*/ 0 60000 65536"/>
              <a:gd name="T7" fmla="*/ 0 60000 65536"/>
              <a:gd name="T8" fmla="*/ 0 60000 65536"/>
              <a:gd name="T9" fmla="*/ 0 w 96"/>
              <a:gd name="T10" fmla="*/ 0 h 624"/>
              <a:gd name="T11" fmla="*/ 96 w 96"/>
              <a:gd name="T12" fmla="*/ 624 h 624"/>
            </a:gdLst>
            <a:ahLst/>
            <a:cxnLst>
              <a:cxn ang="T6">
                <a:pos x="T0" y="T1"/>
              </a:cxn>
              <a:cxn ang="T7">
                <a:pos x="T2" y="T3"/>
              </a:cxn>
              <a:cxn ang="T8">
                <a:pos x="T4" y="T5"/>
              </a:cxn>
            </a:cxnLst>
            <a:rect l="T9" t="T10" r="T11" b="T12"/>
            <a:pathLst>
              <a:path w="96" h="624">
                <a:moveTo>
                  <a:pt x="0" y="624"/>
                </a:moveTo>
                <a:lnTo>
                  <a:pt x="96" y="624"/>
                </a:lnTo>
                <a:lnTo>
                  <a:pt x="96" y="0"/>
                </a:lnTo>
              </a:path>
            </a:pathLst>
          </a:custGeom>
          <a:noFill/>
          <a:ln w="762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45" name="Line 11"/>
          <p:cNvSpPr>
            <a:spLocks noChangeShapeType="1"/>
          </p:cNvSpPr>
          <p:nvPr/>
        </p:nvSpPr>
        <p:spPr bwMode="auto">
          <a:xfrm>
            <a:off x="4519613" y="3638550"/>
            <a:ext cx="327025"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6" name="Freeform 12"/>
          <p:cNvSpPr>
            <a:spLocks/>
          </p:cNvSpPr>
          <p:nvPr/>
        </p:nvSpPr>
        <p:spPr bwMode="auto">
          <a:xfrm>
            <a:off x="4649788" y="3771900"/>
            <a:ext cx="196850" cy="735013"/>
          </a:xfrm>
          <a:custGeom>
            <a:avLst/>
            <a:gdLst>
              <a:gd name="T0" fmla="*/ 0 w 144"/>
              <a:gd name="T1" fmla="*/ 2147483647 h 528"/>
              <a:gd name="T2" fmla="*/ 2147483647 w 144"/>
              <a:gd name="T3" fmla="*/ 2147483647 h 528"/>
              <a:gd name="T4" fmla="*/ 2147483647 w 144"/>
              <a:gd name="T5" fmla="*/ 0 h 528"/>
              <a:gd name="T6" fmla="*/ 2147483647 w 144"/>
              <a:gd name="T7" fmla="*/ 0 h 528"/>
              <a:gd name="T8" fmla="*/ 0 60000 65536"/>
              <a:gd name="T9" fmla="*/ 0 60000 65536"/>
              <a:gd name="T10" fmla="*/ 0 60000 65536"/>
              <a:gd name="T11" fmla="*/ 0 60000 65536"/>
              <a:gd name="T12" fmla="*/ 0 w 144"/>
              <a:gd name="T13" fmla="*/ 0 h 528"/>
              <a:gd name="T14" fmla="*/ 144 w 144"/>
              <a:gd name="T15" fmla="*/ 528 h 528"/>
            </a:gdLst>
            <a:ahLst/>
            <a:cxnLst>
              <a:cxn ang="T8">
                <a:pos x="T0" y="T1"/>
              </a:cxn>
              <a:cxn ang="T9">
                <a:pos x="T2" y="T3"/>
              </a:cxn>
              <a:cxn ang="T10">
                <a:pos x="T4" y="T5"/>
              </a:cxn>
              <a:cxn ang="T11">
                <a:pos x="T6" y="T7"/>
              </a:cxn>
            </a:cxnLst>
            <a:rect l="T12" t="T13" r="T14" b="T15"/>
            <a:pathLst>
              <a:path w="144" h="528">
                <a:moveTo>
                  <a:pt x="0" y="528"/>
                </a:moveTo>
                <a:lnTo>
                  <a:pt x="48" y="528"/>
                </a:lnTo>
                <a:lnTo>
                  <a:pt x="48" y="0"/>
                </a:lnTo>
                <a:lnTo>
                  <a:pt x="144"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47" name="Line 13"/>
          <p:cNvSpPr>
            <a:spLocks noChangeShapeType="1"/>
          </p:cNvSpPr>
          <p:nvPr/>
        </p:nvSpPr>
        <p:spPr bwMode="auto">
          <a:xfrm>
            <a:off x="4519613" y="3505200"/>
            <a:ext cx="327025"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8" name="Line 14"/>
          <p:cNvSpPr>
            <a:spLocks noChangeShapeType="1"/>
          </p:cNvSpPr>
          <p:nvPr/>
        </p:nvSpPr>
        <p:spPr bwMode="auto">
          <a:xfrm>
            <a:off x="4911725" y="3838575"/>
            <a:ext cx="0" cy="401638"/>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9" name="Text Box 15"/>
          <p:cNvSpPr txBox="1">
            <a:spLocks noChangeArrowheads="1"/>
          </p:cNvSpPr>
          <p:nvPr/>
        </p:nvSpPr>
        <p:spPr bwMode="auto">
          <a:xfrm>
            <a:off x="4918075" y="4043363"/>
            <a:ext cx="622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ALUSrc</a:t>
            </a:r>
          </a:p>
        </p:txBody>
      </p:sp>
      <p:sp>
        <p:nvSpPr>
          <p:cNvPr id="14350" name="Rectangle 16"/>
          <p:cNvSpPr>
            <a:spLocks noChangeArrowheads="1"/>
          </p:cNvSpPr>
          <p:nvPr/>
        </p:nvSpPr>
        <p:spPr bwMode="auto">
          <a:xfrm>
            <a:off x="0" y="5546725"/>
            <a:ext cx="4911725" cy="1311275"/>
          </a:xfrm>
          <a:prstGeom prst="rect">
            <a:avLst/>
          </a:prstGeom>
          <a:solidFill>
            <a:srgbClr val="C0C0C0"/>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p>
            <a:r>
              <a:rPr lang="en-US" altLang="zh-CN" sz="2000" dirty="0">
                <a:latin typeface="Calibri" pitchFamily="34" charset="0"/>
              </a:rPr>
              <a:t>if MEM[PC]==</a:t>
            </a:r>
            <a:r>
              <a:rPr lang="en-US" altLang="zh-CN" sz="2000" dirty="0" err="1">
                <a:latin typeface="Calibri" pitchFamily="34" charset="0"/>
              </a:rPr>
              <a:t>LW</a:t>
            </a:r>
            <a:r>
              <a:rPr lang="en-US" altLang="zh-CN" sz="2000" dirty="0">
                <a:latin typeface="Calibri" pitchFamily="34" charset="0"/>
              </a:rPr>
              <a:t> rt </a:t>
            </a:r>
            <a:r>
              <a:rPr lang="en-US" altLang="zh-CN" sz="2000" dirty="0" err="1">
                <a:latin typeface="Calibri" pitchFamily="34" charset="0"/>
              </a:rPr>
              <a:t>offset</a:t>
            </a:r>
            <a:r>
              <a:rPr lang="en-US" altLang="zh-CN" sz="2000" baseline="-25000" dirty="0" err="1">
                <a:latin typeface="Calibri" pitchFamily="34" charset="0"/>
              </a:rPr>
              <a:t>16</a:t>
            </a:r>
            <a:r>
              <a:rPr lang="en-US" altLang="zh-CN" sz="2000" dirty="0">
                <a:latin typeface="Calibri" pitchFamily="34" charset="0"/>
              </a:rPr>
              <a:t> (base) </a:t>
            </a:r>
          </a:p>
          <a:p>
            <a:r>
              <a:rPr lang="en-US" altLang="zh-CN" sz="2000" dirty="0">
                <a:latin typeface="Calibri" pitchFamily="34" charset="0"/>
              </a:rPr>
              <a:t>       EA = sign-extend(offset) + </a:t>
            </a:r>
            <a:r>
              <a:rPr lang="en-US" altLang="zh-CN" sz="2000" dirty="0" err="1">
                <a:latin typeface="Calibri" pitchFamily="34" charset="0"/>
              </a:rPr>
              <a:t>GPR</a:t>
            </a:r>
            <a:r>
              <a:rPr lang="en-US" altLang="zh-CN" sz="2000" dirty="0">
                <a:latin typeface="Calibri" pitchFamily="34" charset="0"/>
              </a:rPr>
              <a:t>[base]</a:t>
            </a:r>
          </a:p>
          <a:p>
            <a:r>
              <a:rPr lang="en-US" altLang="zh-CN" sz="2000" dirty="0">
                <a:latin typeface="Calibri" pitchFamily="34" charset="0"/>
              </a:rPr>
              <a:t>       </a:t>
            </a:r>
            <a:r>
              <a:rPr lang="en-US" altLang="zh-CN" sz="2000" dirty="0" err="1">
                <a:latin typeface="Calibri" pitchFamily="34" charset="0"/>
              </a:rPr>
              <a:t>GPR</a:t>
            </a:r>
            <a:r>
              <a:rPr lang="en-US" altLang="zh-CN" sz="2000" dirty="0">
                <a:latin typeface="Calibri" pitchFamily="34" charset="0"/>
              </a:rPr>
              <a:t>[rt] </a:t>
            </a:r>
            <a:r>
              <a:rPr lang="en-US" altLang="zh-CN" sz="2000" dirty="0">
                <a:latin typeface="Calibri" pitchFamily="34" charset="0"/>
                <a:sym typeface="Symbol" pitchFamily="18" charset="2"/>
              </a:rPr>
              <a:t> MEM[ </a:t>
            </a:r>
            <a:r>
              <a:rPr lang="en-US" altLang="zh-CN" sz="2000" dirty="0">
                <a:solidFill>
                  <a:srgbClr val="00B0F0"/>
                </a:solidFill>
                <a:latin typeface="Calibri" pitchFamily="34" charset="0"/>
                <a:sym typeface="Symbol" pitchFamily="18" charset="2"/>
              </a:rPr>
              <a:t>translate</a:t>
            </a:r>
            <a:r>
              <a:rPr lang="en-US" altLang="zh-CN" sz="2000" dirty="0">
                <a:latin typeface="Calibri" pitchFamily="34" charset="0"/>
                <a:sym typeface="Symbol" pitchFamily="18" charset="2"/>
              </a:rPr>
              <a:t>(EA) ] </a:t>
            </a:r>
          </a:p>
          <a:p>
            <a:r>
              <a:rPr lang="en-US" altLang="zh-CN" sz="2000" dirty="0">
                <a:latin typeface="Calibri" pitchFamily="34" charset="0"/>
                <a:sym typeface="Symbol" pitchFamily="18" charset="2"/>
              </a:rPr>
              <a:t>       PC  PC + 4</a:t>
            </a:r>
            <a:endParaRPr lang="en-US" altLang="zh-CN" sz="1400" dirty="0">
              <a:latin typeface="Calibri" pitchFamily="34" charset="0"/>
              <a:sym typeface="Symbol" pitchFamily="18" charset="2"/>
            </a:endParaRPr>
          </a:p>
        </p:txBody>
      </p:sp>
      <p:sp>
        <p:nvSpPr>
          <p:cNvPr id="14351" name="AutoShape 17"/>
          <p:cNvSpPr>
            <a:spLocks noChangeArrowheads="1"/>
          </p:cNvSpPr>
          <p:nvPr/>
        </p:nvSpPr>
        <p:spPr bwMode="auto">
          <a:xfrm>
            <a:off x="5105400" y="6172200"/>
            <a:ext cx="762000" cy="457200"/>
          </a:xfrm>
          <a:prstGeom prst="rightArrow">
            <a:avLst>
              <a:gd name="adj1" fmla="val 50000"/>
              <a:gd name="adj2" fmla="val 41667"/>
            </a:avLst>
          </a:prstGeom>
          <a:solidFill>
            <a:schemeClr val="accent1"/>
          </a:solidFill>
          <a:ln w="19050">
            <a:solidFill>
              <a:schemeClr val="accent1"/>
            </a:solidFill>
            <a:miter lim="800000"/>
            <a:headEnd/>
            <a:tailEnd/>
          </a:ln>
        </p:spPr>
        <p:txBody>
          <a:bodyPr wrap="none" anchor="ctr"/>
          <a:lstStyle/>
          <a:p>
            <a:endParaRPr lang="zh-CN" altLang="zh-CN">
              <a:latin typeface="Calibri" pitchFamily="34" charset="0"/>
            </a:endParaRPr>
          </a:p>
        </p:txBody>
      </p:sp>
      <p:grpSp>
        <p:nvGrpSpPr>
          <p:cNvPr id="14353" name="Group 19"/>
          <p:cNvGrpSpPr>
            <a:grpSpLocks/>
          </p:cNvGrpSpPr>
          <p:nvPr/>
        </p:nvGrpSpPr>
        <p:grpSpPr bwMode="auto">
          <a:xfrm>
            <a:off x="5367338" y="5638800"/>
            <a:ext cx="3700462" cy="304800"/>
            <a:chOff x="1392" y="2976"/>
            <a:chExt cx="3072" cy="240"/>
          </a:xfrm>
        </p:grpSpPr>
        <p:sp>
          <p:nvSpPr>
            <p:cNvPr id="14367" name="Rectangle 20"/>
            <p:cNvSpPr>
              <a:spLocks noChangeArrowheads="1"/>
            </p:cNvSpPr>
            <p:nvPr/>
          </p:nvSpPr>
          <p:spPr bwMode="auto">
            <a:xfrm>
              <a:off x="1392"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IF</a:t>
              </a:r>
            </a:p>
          </p:txBody>
        </p:sp>
        <p:sp>
          <p:nvSpPr>
            <p:cNvPr id="14368" name="Rectangle 21"/>
            <p:cNvSpPr>
              <a:spLocks noChangeArrowheads="1"/>
            </p:cNvSpPr>
            <p:nvPr/>
          </p:nvSpPr>
          <p:spPr bwMode="auto">
            <a:xfrm>
              <a:off x="2016"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ID</a:t>
              </a:r>
            </a:p>
          </p:txBody>
        </p:sp>
        <p:sp>
          <p:nvSpPr>
            <p:cNvPr id="14369" name="Rectangle 22"/>
            <p:cNvSpPr>
              <a:spLocks noChangeArrowheads="1"/>
            </p:cNvSpPr>
            <p:nvPr/>
          </p:nvSpPr>
          <p:spPr bwMode="auto">
            <a:xfrm>
              <a:off x="2640"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EX</a:t>
              </a:r>
            </a:p>
          </p:txBody>
        </p:sp>
        <p:sp>
          <p:nvSpPr>
            <p:cNvPr id="14370" name="Rectangle 23"/>
            <p:cNvSpPr>
              <a:spLocks noChangeArrowheads="1"/>
            </p:cNvSpPr>
            <p:nvPr/>
          </p:nvSpPr>
          <p:spPr bwMode="auto">
            <a:xfrm>
              <a:off x="3264"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MEM</a:t>
              </a:r>
            </a:p>
          </p:txBody>
        </p:sp>
        <p:sp>
          <p:nvSpPr>
            <p:cNvPr id="14371" name="Rectangle 24"/>
            <p:cNvSpPr>
              <a:spLocks noChangeArrowheads="1"/>
            </p:cNvSpPr>
            <p:nvPr/>
          </p:nvSpPr>
          <p:spPr bwMode="auto">
            <a:xfrm>
              <a:off x="3888"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WB</a:t>
              </a:r>
            </a:p>
          </p:txBody>
        </p:sp>
      </p:grpSp>
      <p:pic>
        <p:nvPicPr>
          <p:cNvPr id="14354" name="Picture 25" descr="F0508"/>
          <p:cNvPicPr>
            <a:picLocks noChangeAspect="1" noChangeArrowheads="1"/>
          </p:cNvPicPr>
          <p:nvPr/>
        </p:nvPicPr>
        <p:blipFill>
          <a:blip r:embed="rId4" cstate="print">
            <a:extLst>
              <a:ext uri="{28A0092B-C50C-407E-A947-70E740481C1C}">
                <a14:useLocalDpi xmlns:a14="http://schemas.microsoft.com/office/drawing/2010/main" val="0"/>
              </a:ext>
            </a:extLst>
          </a:blip>
          <a:srcRect r="44247" b="9525"/>
          <a:stretch>
            <a:fillRect/>
          </a:stretch>
        </p:blipFill>
        <p:spPr bwMode="auto">
          <a:xfrm>
            <a:off x="6400800" y="2438400"/>
            <a:ext cx="2074863"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5" name="Text Box 26"/>
          <p:cNvSpPr txBox="1">
            <a:spLocks noChangeArrowheads="1"/>
          </p:cNvSpPr>
          <p:nvPr/>
        </p:nvSpPr>
        <p:spPr bwMode="auto">
          <a:xfrm>
            <a:off x="3606800" y="4108450"/>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chemeClr val="accent1"/>
                </a:solidFill>
                <a:latin typeface="Calibri" pitchFamily="34" charset="0"/>
              </a:rPr>
              <a:t>1</a:t>
            </a:r>
          </a:p>
        </p:txBody>
      </p:sp>
      <p:sp>
        <p:nvSpPr>
          <p:cNvPr id="14356" name="Text Box 27"/>
          <p:cNvSpPr txBox="1">
            <a:spLocks noChangeArrowheads="1"/>
          </p:cNvSpPr>
          <p:nvPr/>
        </p:nvSpPr>
        <p:spPr bwMode="auto">
          <a:xfrm>
            <a:off x="5041900" y="2228850"/>
            <a:ext cx="4972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chemeClr val="accent1"/>
                </a:solidFill>
                <a:latin typeface="Calibri" pitchFamily="34" charset="0"/>
              </a:rPr>
              <a:t>add</a:t>
            </a:r>
          </a:p>
        </p:txBody>
      </p:sp>
      <p:sp>
        <p:nvSpPr>
          <p:cNvPr id="14357" name="Text Box 28"/>
          <p:cNvSpPr txBox="1">
            <a:spLocks noChangeArrowheads="1"/>
          </p:cNvSpPr>
          <p:nvPr/>
        </p:nvSpPr>
        <p:spPr bwMode="auto">
          <a:xfrm>
            <a:off x="4725988" y="4195763"/>
            <a:ext cx="7344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err="1">
                <a:solidFill>
                  <a:schemeClr val="accent1"/>
                </a:solidFill>
                <a:latin typeface="Calibri" pitchFamily="34" charset="0"/>
              </a:rPr>
              <a:t>isItype</a:t>
            </a:r>
            <a:endParaRPr lang="en-US" altLang="zh-CN" sz="1600" b="0" dirty="0">
              <a:solidFill>
                <a:schemeClr val="accent1"/>
              </a:solidFill>
              <a:latin typeface="Calibri" pitchFamily="34" charset="0"/>
            </a:endParaRPr>
          </a:p>
        </p:txBody>
      </p:sp>
      <p:sp>
        <p:nvSpPr>
          <p:cNvPr id="14358" name="Freeform 29"/>
          <p:cNvSpPr>
            <a:spLocks/>
          </p:cNvSpPr>
          <p:nvPr/>
        </p:nvSpPr>
        <p:spPr bwMode="auto">
          <a:xfrm>
            <a:off x="2984500" y="3186113"/>
            <a:ext cx="120650" cy="436562"/>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4359" name="Freeform 30"/>
          <p:cNvSpPr>
            <a:spLocks/>
          </p:cNvSpPr>
          <p:nvPr/>
        </p:nvSpPr>
        <p:spPr bwMode="auto">
          <a:xfrm>
            <a:off x="2914650" y="3124200"/>
            <a:ext cx="69850" cy="187325"/>
          </a:xfrm>
          <a:custGeom>
            <a:avLst/>
            <a:gdLst>
              <a:gd name="T0" fmla="*/ 0 w 48"/>
              <a:gd name="T1" fmla="*/ 0 h 144"/>
              <a:gd name="T2" fmla="*/ 0 w 48"/>
              <a:gd name="T3" fmla="*/ 2147483647 h 144"/>
              <a:gd name="T4" fmla="*/ 2147483647 w 48"/>
              <a:gd name="T5" fmla="*/ 2147483647 h 144"/>
              <a:gd name="T6" fmla="*/ 0 60000 65536"/>
              <a:gd name="T7" fmla="*/ 0 60000 65536"/>
              <a:gd name="T8" fmla="*/ 0 60000 65536"/>
              <a:gd name="T9" fmla="*/ 0 w 48"/>
              <a:gd name="T10" fmla="*/ 0 h 144"/>
              <a:gd name="T11" fmla="*/ 48 w 48"/>
              <a:gd name="T12" fmla="*/ 144 h 144"/>
            </a:gdLst>
            <a:ahLst/>
            <a:cxnLst>
              <a:cxn ang="T6">
                <a:pos x="T0" y="T1"/>
              </a:cxn>
              <a:cxn ang="T7">
                <a:pos x="T2" y="T3"/>
              </a:cxn>
              <a:cxn ang="T8">
                <a:pos x="T4" y="T5"/>
              </a:cxn>
            </a:cxnLst>
            <a:rect l="T9" t="T10" r="T11" b="T12"/>
            <a:pathLst>
              <a:path w="48" h="144">
                <a:moveTo>
                  <a:pt x="0" y="0"/>
                </a:moveTo>
                <a:lnTo>
                  <a:pt x="0" y="144"/>
                </a:lnTo>
                <a:lnTo>
                  <a:pt x="48"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60" name="Text Box 31"/>
          <p:cNvSpPr txBox="1">
            <a:spLocks noChangeArrowheads="1"/>
          </p:cNvSpPr>
          <p:nvPr/>
        </p:nvSpPr>
        <p:spPr bwMode="auto">
          <a:xfrm>
            <a:off x="2124075" y="3902075"/>
            <a:ext cx="695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RegDest</a:t>
            </a:r>
          </a:p>
        </p:txBody>
      </p:sp>
      <p:sp>
        <p:nvSpPr>
          <p:cNvPr id="14361" name="Freeform 32"/>
          <p:cNvSpPr>
            <a:spLocks/>
          </p:cNvSpPr>
          <p:nvPr/>
        </p:nvSpPr>
        <p:spPr bwMode="auto">
          <a:xfrm>
            <a:off x="2633663" y="3560763"/>
            <a:ext cx="420687" cy="374650"/>
          </a:xfrm>
          <a:custGeom>
            <a:avLst/>
            <a:gdLst>
              <a:gd name="T0" fmla="*/ 2147483647 w 288"/>
              <a:gd name="T1" fmla="*/ 0 h 288"/>
              <a:gd name="T2" fmla="*/ 2147483647 w 288"/>
              <a:gd name="T3" fmla="*/ 2147483647 h 288"/>
              <a:gd name="T4" fmla="*/ 0 w 288"/>
              <a:gd name="T5" fmla="*/ 2147483647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288" y="0"/>
                </a:moveTo>
                <a:lnTo>
                  <a:pt x="288" y="96"/>
                </a:lnTo>
                <a:lnTo>
                  <a:pt x="0" y="288"/>
                </a:lnTo>
              </a:path>
            </a:pathLst>
          </a:custGeom>
          <a:noFill/>
          <a:ln w="28575">
            <a:solidFill>
              <a:srgbClr val="FF99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62" name="Rectangle 33"/>
          <p:cNvSpPr>
            <a:spLocks noChangeArrowheads="1"/>
          </p:cNvSpPr>
          <p:nvPr/>
        </p:nvSpPr>
        <p:spPr bwMode="auto">
          <a:xfrm>
            <a:off x="2001838" y="4013200"/>
            <a:ext cx="7344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r>
              <a:rPr lang="en-US" altLang="zh-CN" sz="1600" b="0" dirty="0" err="1">
                <a:solidFill>
                  <a:srgbClr val="CC9900"/>
                </a:solidFill>
                <a:latin typeface="Calibri" pitchFamily="34" charset="0"/>
              </a:rPr>
              <a:t>isItype</a:t>
            </a:r>
            <a:endParaRPr lang="en-US" altLang="zh-CN" sz="1600" b="0" dirty="0">
              <a:solidFill>
                <a:srgbClr val="CC9900"/>
              </a:solidFill>
              <a:latin typeface="Calibri" pitchFamily="34" charset="0"/>
            </a:endParaRPr>
          </a:p>
        </p:txBody>
      </p:sp>
      <p:sp>
        <p:nvSpPr>
          <p:cNvPr id="14363" name="Rectangle 34"/>
          <p:cNvSpPr>
            <a:spLocks noChangeArrowheads="1"/>
          </p:cNvSpPr>
          <p:nvPr/>
        </p:nvSpPr>
        <p:spPr bwMode="auto">
          <a:xfrm>
            <a:off x="5367338" y="3070225"/>
            <a:ext cx="381000" cy="1524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p>
            <a:endParaRPr lang="zh-CN" altLang="zh-CN">
              <a:latin typeface="Calibri" pitchFamily="34" charset="0"/>
            </a:endParaRPr>
          </a:p>
        </p:txBody>
      </p:sp>
      <p:sp>
        <p:nvSpPr>
          <p:cNvPr id="14364" name="Line 35"/>
          <p:cNvSpPr>
            <a:spLocks noChangeShapeType="1"/>
          </p:cNvSpPr>
          <p:nvPr/>
        </p:nvSpPr>
        <p:spPr bwMode="auto">
          <a:xfrm>
            <a:off x="5791200" y="3125788"/>
            <a:ext cx="274638"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65" name="Text Box 26"/>
          <p:cNvSpPr txBox="1">
            <a:spLocks noChangeArrowheads="1"/>
          </p:cNvSpPr>
          <p:nvPr/>
        </p:nvSpPr>
        <p:spPr bwMode="auto">
          <a:xfrm>
            <a:off x="7239000" y="4430713"/>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chemeClr val="accent1"/>
                </a:solidFill>
                <a:latin typeface="Calibri" pitchFamily="34" charset="0"/>
              </a:rPr>
              <a:t>1</a:t>
            </a:r>
          </a:p>
        </p:txBody>
      </p:sp>
      <p:sp>
        <p:nvSpPr>
          <p:cNvPr id="14366" name="Text Box 26"/>
          <p:cNvSpPr txBox="1">
            <a:spLocks noChangeArrowheads="1"/>
          </p:cNvSpPr>
          <p:nvPr/>
        </p:nvSpPr>
        <p:spPr bwMode="auto">
          <a:xfrm>
            <a:off x="7239000" y="2057400"/>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chemeClr val="accent1"/>
                </a:solidFill>
                <a:latin typeface="Calibri" pitchFamily="34" charset="0"/>
              </a:rPr>
              <a:t>0</a:t>
            </a:r>
          </a:p>
        </p:txBody>
      </p:sp>
      <p:sp>
        <p:nvSpPr>
          <p:cNvPr id="38" name="TextBox 37"/>
          <p:cNvSpPr txBox="1"/>
          <p:nvPr/>
        </p:nvSpPr>
        <p:spPr>
          <a:xfrm>
            <a:off x="3878242" y="1371600"/>
            <a:ext cx="4315925" cy="523220"/>
          </a:xfrm>
          <a:prstGeom prst="rect">
            <a:avLst/>
          </a:prstGeom>
          <a:noFill/>
        </p:spPr>
        <p:txBody>
          <a:bodyPr wrap="none" rtlCol="0">
            <a:spAutoFit/>
          </a:bodyPr>
          <a:lstStyle/>
          <a:p>
            <a:r>
              <a:rPr lang="zh-CN" altLang="en-US" sz="2800" b="0" dirty="0">
                <a:solidFill>
                  <a:srgbClr val="FF0000"/>
                </a:solidFill>
                <a:latin typeface="微软雅黑" panose="020B0503020204020204" pitchFamily="34" charset="-122"/>
                <a:ea typeface="微软雅黑" panose="020B0503020204020204" pitchFamily="34" charset="-122"/>
              </a:rPr>
              <a:t>如何完成</a:t>
            </a:r>
            <a:r>
              <a:rPr lang="en-US" altLang="zh-CN" sz="2800" b="0" dirty="0">
                <a:solidFill>
                  <a:srgbClr val="FF0000"/>
                </a:solidFill>
                <a:latin typeface="微软雅黑" panose="020B0503020204020204" pitchFamily="34" charset="-122"/>
                <a:ea typeface="微软雅黑" panose="020B0503020204020204" pitchFamily="34" charset="-122"/>
              </a:rPr>
              <a:t>LW</a:t>
            </a:r>
            <a:r>
              <a:rPr lang="zh-CN" altLang="en-US" sz="2800" b="0" dirty="0">
                <a:solidFill>
                  <a:srgbClr val="FF0000"/>
                </a:solidFill>
                <a:latin typeface="微软雅黑" panose="020B0503020204020204" pitchFamily="34" charset="-122"/>
                <a:ea typeface="微软雅黑" panose="020B0503020204020204" pitchFamily="34" charset="-122"/>
              </a:rPr>
              <a:t>的数据通路？</a:t>
            </a:r>
          </a:p>
        </p:txBody>
      </p:sp>
      <p:sp>
        <p:nvSpPr>
          <p:cNvPr id="39" name="Text Box 8">
            <a:extLst>
              <a:ext uri="{FF2B5EF4-FFF2-40B4-BE49-F238E27FC236}">
                <a16:creationId xmlns:a16="http://schemas.microsoft.com/office/drawing/2014/main" id="{153A257B-9405-40C2-87F5-B124E00D0CE3}"/>
              </a:ext>
            </a:extLst>
          </p:cNvPr>
          <p:cNvSpPr txBox="1">
            <a:spLocks noChangeArrowheads="1"/>
          </p:cNvSpPr>
          <p:nvPr/>
        </p:nvSpPr>
        <p:spPr bwMode="auto">
          <a:xfrm>
            <a:off x="5848509" y="6167735"/>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zh-CN" altLang="en-US" sz="2400" b="0" dirty="0">
                <a:latin typeface="微软雅黑" panose="020B0503020204020204" pitchFamily="34" charset="-122"/>
                <a:ea typeface="微软雅黑" panose="020B0503020204020204" pitchFamily="34" charset="-122"/>
              </a:rPr>
              <a:t>状态更新组合逻辑</a:t>
            </a:r>
            <a:endParaRPr lang="en-US" altLang="zh-CN" sz="2400" b="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13</a:t>
            </a:fld>
            <a:endParaRPr lang="zh-CN" altLang="en-US"/>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76200"/>
            <a:ext cx="8229600" cy="990600"/>
          </a:xfrm>
        </p:spPr>
        <p:txBody>
          <a:bodyPr/>
          <a:lstStyle/>
          <a:p>
            <a:pPr eaLnBrk="1" hangingPunct="1"/>
            <a:r>
              <a:rPr lang="en-US" altLang="zh-CN" dirty="0"/>
              <a:t>I-Type </a:t>
            </a:r>
            <a:r>
              <a:rPr lang="en-US" altLang="zh-CN" dirty="0">
                <a:solidFill>
                  <a:srgbClr val="FF0000"/>
                </a:solidFill>
              </a:rPr>
              <a:t>SW</a:t>
            </a:r>
            <a:r>
              <a:rPr lang="en-US" altLang="zh-CN" dirty="0"/>
              <a:t> </a:t>
            </a:r>
            <a:r>
              <a:rPr lang="zh-CN" altLang="en-US" dirty="0"/>
              <a:t>指令</a:t>
            </a:r>
            <a:endParaRPr lang="en-US" altLang="zh-CN" dirty="0"/>
          </a:p>
        </p:txBody>
      </p:sp>
      <p:sp>
        <p:nvSpPr>
          <p:cNvPr id="16387" name="Content Placeholder 2"/>
          <p:cNvSpPr>
            <a:spLocks noGrp="1"/>
          </p:cNvSpPr>
          <p:nvPr>
            <p:ph idx="1"/>
          </p:nvPr>
        </p:nvSpPr>
        <p:spPr>
          <a:xfrm>
            <a:off x="476054" y="1077011"/>
            <a:ext cx="8229600" cy="5181600"/>
          </a:xfrm>
        </p:spPr>
        <p:txBody>
          <a:bodyPr rtlCol="0">
            <a:normAutofit fontScale="85000" lnSpcReduction="20000"/>
          </a:bodyPr>
          <a:lstStyle/>
          <a:p>
            <a:pPr eaLnBrk="1" fontAlgn="auto" hangingPunct="1">
              <a:spcAft>
                <a:spcPts val="0"/>
              </a:spcAft>
              <a:buFont typeface="Arial" panose="020B0604020202020204" pitchFamily="34" charset="0"/>
              <a:buChar char="•"/>
              <a:defRPr/>
            </a:pPr>
            <a:r>
              <a:rPr lang="zh-CN" altLang="en-US" sz="3300" dirty="0"/>
              <a:t>汇编</a:t>
            </a:r>
            <a:r>
              <a:rPr lang="en-US" altLang="zh-CN" sz="3300" dirty="0"/>
              <a:t> (e.g., store 4-byte word)</a:t>
            </a:r>
          </a:p>
          <a:p>
            <a:pPr eaLnBrk="1" fontAlgn="auto" hangingPunct="1">
              <a:lnSpc>
                <a:spcPct val="120000"/>
              </a:lnSpc>
              <a:spcBef>
                <a:spcPts val="1200"/>
              </a:spcBef>
              <a:spcAft>
                <a:spcPts val="600"/>
              </a:spcAft>
              <a:buFont typeface="Wingdings" pitchFamily="2" charset="2"/>
              <a:buNone/>
              <a:defRPr/>
            </a:pPr>
            <a:r>
              <a:rPr lang="en-US" altLang="zh-CN" dirty="0">
                <a:ea typeface="ＭＳ Ｐゴシック" pitchFamily="34" charset="-128"/>
              </a:rPr>
              <a:t>	</a:t>
            </a:r>
            <a:r>
              <a:rPr lang="en-US" altLang="zh-CN" dirty="0">
                <a:solidFill>
                  <a:srgbClr val="00B0F0"/>
                </a:solidFill>
                <a:ea typeface="ＭＳ Ｐゴシック" pitchFamily="34" charset="-128"/>
              </a:rPr>
              <a:t>SW </a:t>
            </a:r>
            <a:r>
              <a:rPr lang="en-US" altLang="zh-CN" dirty="0" err="1">
                <a:solidFill>
                  <a:srgbClr val="00B0F0"/>
                </a:solidFill>
                <a:ea typeface="ＭＳ Ｐゴシック" pitchFamily="34" charset="-128"/>
              </a:rPr>
              <a:t>rt</a:t>
            </a:r>
            <a:r>
              <a:rPr lang="en-US" altLang="zh-CN" baseline="-25000" dirty="0" err="1">
                <a:solidFill>
                  <a:srgbClr val="00B0F0"/>
                </a:solidFill>
                <a:ea typeface="ＭＳ Ｐゴシック" pitchFamily="34" charset="-128"/>
              </a:rPr>
              <a:t>reg</a:t>
            </a:r>
            <a:r>
              <a:rPr lang="en-US" altLang="zh-CN" dirty="0">
                <a:solidFill>
                  <a:srgbClr val="00B0F0"/>
                </a:solidFill>
                <a:ea typeface="ＭＳ Ｐゴシック" pitchFamily="34" charset="-128"/>
              </a:rPr>
              <a:t> offset</a:t>
            </a:r>
            <a:r>
              <a:rPr lang="en-US" altLang="zh-CN" baseline="-25000" dirty="0">
                <a:solidFill>
                  <a:srgbClr val="00B0F0"/>
                </a:solidFill>
                <a:ea typeface="ＭＳ Ｐゴシック" pitchFamily="34" charset="-128"/>
              </a:rPr>
              <a:t>16</a:t>
            </a:r>
            <a:r>
              <a:rPr lang="en-US" altLang="zh-CN" dirty="0">
                <a:solidFill>
                  <a:srgbClr val="00B0F0"/>
                </a:solidFill>
                <a:ea typeface="ＭＳ Ｐゴシック" pitchFamily="34" charset="-128"/>
              </a:rPr>
              <a:t> (</a:t>
            </a:r>
            <a:r>
              <a:rPr lang="en-US" altLang="zh-CN" dirty="0" err="1">
                <a:solidFill>
                  <a:srgbClr val="00B0F0"/>
                </a:solidFill>
                <a:ea typeface="ＭＳ Ｐゴシック" pitchFamily="34" charset="-128"/>
              </a:rPr>
              <a:t>base</a:t>
            </a:r>
            <a:r>
              <a:rPr lang="en-US" altLang="zh-CN" baseline="-25000" dirty="0" err="1">
                <a:solidFill>
                  <a:srgbClr val="00B0F0"/>
                </a:solidFill>
                <a:ea typeface="ＭＳ Ｐゴシック" pitchFamily="34" charset="-128"/>
              </a:rPr>
              <a:t>reg</a:t>
            </a:r>
            <a:r>
              <a:rPr lang="en-US" altLang="zh-CN" dirty="0">
                <a:solidFill>
                  <a:srgbClr val="00B0F0"/>
                </a:solidFill>
                <a:ea typeface="ＭＳ Ｐゴシック" pitchFamily="34" charset="-128"/>
              </a:rPr>
              <a:t>)</a:t>
            </a: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spcAft>
                <a:spcPts val="0"/>
              </a:spcAft>
              <a:buFont typeface="Arial" panose="020B0604020202020204" pitchFamily="34" charset="0"/>
              <a:buChar char="•"/>
              <a:defRPr/>
            </a:pPr>
            <a:r>
              <a:rPr lang="zh-CN" altLang="en-US" sz="3300" dirty="0"/>
              <a:t>机器编码</a:t>
            </a:r>
            <a:endParaRPr lang="en-US" altLang="zh-CN" sz="3300" dirty="0"/>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a:p>
            <a:pPr eaLnBrk="1" fontAlgn="auto" hangingPunct="1">
              <a:lnSpc>
                <a:spcPct val="120000"/>
              </a:lnSpc>
              <a:spcBef>
                <a:spcPts val="0"/>
              </a:spcBef>
              <a:spcAft>
                <a:spcPts val="600"/>
              </a:spcAft>
              <a:buFont typeface="Arial" panose="020B0604020202020204" pitchFamily="34" charset="0"/>
              <a:buChar char="•"/>
              <a:defRPr/>
            </a:pPr>
            <a:r>
              <a:rPr lang="zh-CN" altLang="en-US" sz="3300" dirty="0"/>
              <a:t>语义</a:t>
            </a:r>
            <a:endParaRPr lang="en-US" altLang="zh-CN" sz="3300" dirty="0"/>
          </a:p>
          <a:p>
            <a:pPr eaLnBrk="1" fontAlgn="auto" hangingPunct="1">
              <a:spcAft>
                <a:spcPts val="0"/>
              </a:spcAft>
              <a:buFont typeface="Wingdings" pitchFamily="2" charset="2"/>
              <a:buNone/>
              <a:defRPr/>
            </a:pPr>
            <a:r>
              <a:rPr lang="en-US" altLang="zh-CN" dirty="0">
                <a:ea typeface="ＭＳ Ｐゴシック" pitchFamily="34" charset="-128"/>
              </a:rPr>
              <a:t>	</a:t>
            </a:r>
            <a:r>
              <a:rPr lang="en-US" altLang="zh-CN" dirty="0">
                <a:solidFill>
                  <a:srgbClr val="00B0F0"/>
                </a:solidFill>
                <a:ea typeface="ＭＳ Ｐゴシック" pitchFamily="34" charset="-128"/>
              </a:rPr>
              <a:t>if MEM[PC]==SW </a:t>
            </a:r>
            <a:r>
              <a:rPr lang="en-US" altLang="zh-CN" dirty="0" err="1">
                <a:solidFill>
                  <a:srgbClr val="00B0F0"/>
                </a:solidFill>
                <a:ea typeface="ＭＳ Ｐゴシック" pitchFamily="34" charset="-128"/>
              </a:rPr>
              <a:t>rt</a:t>
            </a:r>
            <a:r>
              <a:rPr lang="en-US" altLang="zh-CN" dirty="0">
                <a:solidFill>
                  <a:srgbClr val="00B0F0"/>
                </a:solidFill>
                <a:ea typeface="ＭＳ Ｐゴシック" pitchFamily="34" charset="-128"/>
              </a:rPr>
              <a:t> offset</a:t>
            </a:r>
            <a:r>
              <a:rPr lang="en-US" altLang="zh-CN" baseline="-25000" dirty="0">
                <a:solidFill>
                  <a:srgbClr val="00B0F0"/>
                </a:solidFill>
                <a:ea typeface="ＭＳ Ｐゴシック" pitchFamily="34" charset="-128"/>
              </a:rPr>
              <a:t>16</a:t>
            </a:r>
            <a:r>
              <a:rPr lang="en-US" altLang="zh-CN" dirty="0">
                <a:solidFill>
                  <a:srgbClr val="00B0F0"/>
                </a:solidFill>
                <a:ea typeface="ＭＳ Ｐゴシック" pitchFamily="34" charset="-128"/>
              </a:rPr>
              <a:t> (base) </a:t>
            </a:r>
          </a:p>
          <a:p>
            <a:pPr lvl="2" eaLnBrk="1" fontAlgn="auto" hangingPunct="1">
              <a:spcAft>
                <a:spcPts val="0"/>
              </a:spcAft>
              <a:buFontTx/>
              <a:buNone/>
              <a:defRPr/>
            </a:pPr>
            <a:r>
              <a:rPr lang="en-US" altLang="zh-CN" dirty="0">
                <a:solidFill>
                  <a:srgbClr val="00B0F0"/>
                </a:solidFill>
                <a:ea typeface="ＭＳ Ｐゴシック" pitchFamily="34" charset="-128"/>
              </a:rPr>
              <a:t>EA = sign-extend(offset) + GPR[base]</a:t>
            </a:r>
          </a:p>
          <a:p>
            <a:pPr lvl="2" eaLnBrk="1" fontAlgn="auto" hangingPunct="1">
              <a:spcAft>
                <a:spcPts val="0"/>
              </a:spcAft>
              <a:buFontTx/>
              <a:buNone/>
              <a:defRPr/>
            </a:pPr>
            <a:r>
              <a:rPr lang="en-US" altLang="zh-CN" dirty="0">
                <a:solidFill>
                  <a:srgbClr val="00B0F0"/>
                </a:solidFill>
                <a:ea typeface="ＭＳ Ｐゴシック" pitchFamily="34" charset="-128"/>
                <a:sym typeface="Symbol" pitchFamily="18" charset="2"/>
              </a:rPr>
              <a:t>MEM[ </a:t>
            </a:r>
            <a:r>
              <a:rPr lang="en-US" altLang="zh-CN" dirty="0">
                <a:solidFill>
                  <a:srgbClr val="FF0000"/>
                </a:solidFill>
                <a:ea typeface="ＭＳ Ｐゴシック" pitchFamily="34" charset="-128"/>
                <a:sym typeface="Symbol" pitchFamily="18" charset="2"/>
              </a:rPr>
              <a:t>translate</a:t>
            </a:r>
            <a:r>
              <a:rPr lang="en-US" altLang="zh-CN" dirty="0">
                <a:solidFill>
                  <a:srgbClr val="00B0F0"/>
                </a:solidFill>
                <a:ea typeface="ＭＳ Ｐゴシック" pitchFamily="34" charset="-128"/>
                <a:sym typeface="Symbol" pitchFamily="18" charset="2"/>
              </a:rPr>
              <a:t>(EA) ]  </a:t>
            </a:r>
            <a:r>
              <a:rPr lang="en-US" altLang="zh-CN" dirty="0">
                <a:solidFill>
                  <a:srgbClr val="00B0F0"/>
                </a:solidFill>
                <a:ea typeface="ＭＳ Ｐゴシック" pitchFamily="34" charset="-128"/>
              </a:rPr>
              <a:t>GPR[</a:t>
            </a:r>
            <a:r>
              <a:rPr lang="en-US" altLang="zh-CN" dirty="0" err="1">
                <a:solidFill>
                  <a:srgbClr val="00B0F0"/>
                </a:solidFill>
                <a:ea typeface="ＭＳ Ｐゴシック" pitchFamily="34" charset="-128"/>
              </a:rPr>
              <a:t>rt</a:t>
            </a:r>
            <a:r>
              <a:rPr lang="en-US" altLang="zh-CN" dirty="0">
                <a:solidFill>
                  <a:srgbClr val="00B0F0"/>
                </a:solidFill>
                <a:ea typeface="ＭＳ Ｐゴシック" pitchFamily="34" charset="-128"/>
              </a:rPr>
              <a:t>] </a:t>
            </a:r>
            <a:endParaRPr lang="en-US" altLang="zh-CN" dirty="0">
              <a:solidFill>
                <a:srgbClr val="00B0F0"/>
              </a:solidFill>
              <a:ea typeface="ＭＳ Ｐゴシック" pitchFamily="34" charset="-128"/>
              <a:sym typeface="Symbol" pitchFamily="18" charset="2"/>
            </a:endParaRPr>
          </a:p>
          <a:p>
            <a:pPr lvl="2" eaLnBrk="1" fontAlgn="auto" hangingPunct="1">
              <a:spcAft>
                <a:spcPts val="0"/>
              </a:spcAft>
              <a:buFontTx/>
              <a:buNone/>
              <a:defRPr/>
            </a:pPr>
            <a:r>
              <a:rPr lang="en-US" altLang="zh-CN" dirty="0">
                <a:solidFill>
                  <a:srgbClr val="00B0F0"/>
                </a:solidFill>
                <a:ea typeface="ＭＳ Ｐゴシック" pitchFamily="34" charset="-128"/>
                <a:sym typeface="Symbol" pitchFamily="18" charset="2"/>
              </a:rPr>
              <a:t>PC  PC + 4</a:t>
            </a:r>
          </a:p>
          <a:p>
            <a:pPr lvl="1" eaLnBrk="1" fontAlgn="auto" hangingPunct="1">
              <a:spcAft>
                <a:spcPts val="0"/>
              </a:spcAft>
              <a:buFontTx/>
              <a:buNone/>
              <a:defRPr/>
            </a:pPr>
            <a:r>
              <a:rPr lang="en-US" altLang="zh-CN" sz="2400" dirty="0">
                <a:ea typeface="ＭＳ Ｐゴシック" pitchFamily="34" charset="-128"/>
                <a:sym typeface="Symbol" pitchFamily="18" charset="2"/>
              </a:rPr>
              <a:t>			</a:t>
            </a:r>
          </a:p>
          <a:p>
            <a:pPr eaLnBrk="1" fontAlgn="auto" hangingPunct="1">
              <a:spcAft>
                <a:spcPts val="0"/>
              </a:spcAft>
              <a:buFont typeface="Arial" panose="020B0604020202020204" pitchFamily="34" charset="0"/>
              <a:buChar char="•"/>
              <a:defRPr/>
            </a:pPr>
            <a:endParaRPr lang="en-US" altLang="zh-CN" dirty="0">
              <a:ea typeface="ＭＳ Ｐゴシック" pitchFamily="34" charset="-128"/>
            </a:endParaRPr>
          </a:p>
        </p:txBody>
      </p:sp>
      <p:sp>
        <p:nvSpPr>
          <p:cNvPr id="15365" name="Rectangle 4"/>
          <p:cNvSpPr>
            <a:spLocks noChangeArrowheads="1"/>
          </p:cNvSpPr>
          <p:nvPr/>
        </p:nvSpPr>
        <p:spPr bwMode="auto">
          <a:xfrm>
            <a:off x="914400" y="3197911"/>
            <a:ext cx="99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SW</a:t>
            </a:r>
            <a:endParaRPr lang="en-US" altLang="zh-CN" sz="2000" baseline="-25000">
              <a:latin typeface="Calibri" pitchFamily="34" charset="0"/>
            </a:endParaRPr>
          </a:p>
          <a:p>
            <a:r>
              <a:rPr lang="en-US" altLang="zh-CN" sz="1600">
                <a:latin typeface="Calibri" pitchFamily="34" charset="0"/>
              </a:rPr>
              <a:t>6-bit</a:t>
            </a:r>
          </a:p>
        </p:txBody>
      </p:sp>
      <p:sp>
        <p:nvSpPr>
          <p:cNvPr id="15366" name="Rectangle 5"/>
          <p:cNvSpPr>
            <a:spLocks noChangeArrowheads="1"/>
          </p:cNvSpPr>
          <p:nvPr/>
        </p:nvSpPr>
        <p:spPr bwMode="auto">
          <a:xfrm>
            <a:off x="1905000" y="3197911"/>
            <a:ext cx="99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base</a:t>
            </a:r>
          </a:p>
          <a:p>
            <a:r>
              <a:rPr lang="en-US" altLang="zh-CN" sz="1600">
                <a:latin typeface="Calibri" pitchFamily="34" charset="0"/>
              </a:rPr>
              <a:t>5-bit</a:t>
            </a:r>
          </a:p>
        </p:txBody>
      </p:sp>
      <p:sp>
        <p:nvSpPr>
          <p:cNvPr id="15367" name="Rectangle 6"/>
          <p:cNvSpPr>
            <a:spLocks noChangeArrowheads="1"/>
          </p:cNvSpPr>
          <p:nvPr/>
        </p:nvSpPr>
        <p:spPr bwMode="auto">
          <a:xfrm>
            <a:off x="2895600" y="3197911"/>
            <a:ext cx="99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rt</a:t>
            </a:r>
          </a:p>
          <a:p>
            <a:r>
              <a:rPr lang="en-US" altLang="zh-CN" sz="1600">
                <a:latin typeface="Calibri" pitchFamily="34" charset="0"/>
              </a:rPr>
              <a:t>5-bit</a:t>
            </a:r>
          </a:p>
        </p:txBody>
      </p:sp>
      <p:sp>
        <p:nvSpPr>
          <p:cNvPr id="15368" name="Rectangle 7"/>
          <p:cNvSpPr>
            <a:spLocks noChangeArrowheads="1"/>
          </p:cNvSpPr>
          <p:nvPr/>
        </p:nvSpPr>
        <p:spPr bwMode="auto">
          <a:xfrm>
            <a:off x="3886200" y="3197911"/>
            <a:ext cx="28194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offset</a:t>
            </a:r>
          </a:p>
          <a:p>
            <a:r>
              <a:rPr lang="en-US" altLang="zh-CN" sz="1600">
                <a:latin typeface="Calibri" pitchFamily="34" charset="0"/>
              </a:rPr>
              <a:t>16-bit</a:t>
            </a:r>
          </a:p>
        </p:txBody>
      </p:sp>
      <p:sp>
        <p:nvSpPr>
          <p:cNvPr id="15369" name="Text Box 8"/>
          <p:cNvSpPr txBox="1">
            <a:spLocks noChangeArrowheads="1"/>
          </p:cNvSpPr>
          <p:nvPr/>
        </p:nvSpPr>
        <p:spPr bwMode="auto">
          <a:xfrm>
            <a:off x="7031038" y="3067736"/>
            <a:ext cx="1033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800">
                <a:latin typeface="Calibri" pitchFamily="34" charset="0"/>
              </a:rPr>
              <a:t>I-type</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14</a:t>
            </a:fld>
            <a:endParaRPr lang="zh-CN" altLang="en-US"/>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76200"/>
            <a:ext cx="8229600" cy="990600"/>
          </a:xfrm>
        </p:spPr>
        <p:txBody>
          <a:bodyPr/>
          <a:lstStyle/>
          <a:p>
            <a:pPr eaLnBrk="1" hangingPunct="1"/>
            <a:r>
              <a:rPr lang="en-US" altLang="zh-CN" dirty="0"/>
              <a:t>SW </a:t>
            </a:r>
            <a:r>
              <a:rPr lang="zh-CN" altLang="en-US" dirty="0"/>
              <a:t>数据通路</a:t>
            </a:r>
            <a:endParaRPr lang="en-US" altLang="zh-CN" dirty="0"/>
          </a:p>
        </p:txBody>
      </p:sp>
      <p:pic>
        <p:nvPicPr>
          <p:cNvPr id="16388" name="Picture 3" descr="F05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371600"/>
            <a:ext cx="2978150"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4" descr="F0509"/>
          <p:cNvPicPr>
            <a:picLocks noChangeAspect="1" noChangeArrowheads="1"/>
          </p:cNvPicPr>
          <p:nvPr/>
        </p:nvPicPr>
        <p:blipFill>
          <a:blip r:embed="rId3" cstate="print">
            <a:extLst>
              <a:ext uri="{28A0092B-C50C-407E-A947-70E740481C1C}">
                <a14:useLocalDpi xmlns:a14="http://schemas.microsoft.com/office/drawing/2010/main" val="0"/>
              </a:ext>
            </a:extLst>
          </a:blip>
          <a:srcRect l="10663" r="31990"/>
          <a:stretch>
            <a:fillRect/>
          </a:stretch>
        </p:blipFill>
        <p:spPr bwMode="auto">
          <a:xfrm>
            <a:off x="2782888" y="2547938"/>
            <a:ext cx="330835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Line 5"/>
          <p:cNvSpPr>
            <a:spLocks noChangeShapeType="1"/>
          </p:cNvSpPr>
          <p:nvPr/>
        </p:nvSpPr>
        <p:spPr bwMode="auto">
          <a:xfrm>
            <a:off x="4819650" y="4064000"/>
            <a:ext cx="1327150" cy="33338"/>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1" name="Rectangle 6"/>
          <p:cNvSpPr>
            <a:spLocks noChangeArrowheads="1"/>
          </p:cNvSpPr>
          <p:nvPr/>
        </p:nvSpPr>
        <p:spPr bwMode="auto">
          <a:xfrm>
            <a:off x="0" y="5546725"/>
            <a:ext cx="4846638" cy="1311275"/>
          </a:xfrm>
          <a:prstGeom prst="rect">
            <a:avLst/>
          </a:prstGeom>
          <a:solidFill>
            <a:srgbClr val="C0C0C0"/>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p>
            <a:r>
              <a:rPr lang="en-US" altLang="zh-CN" sz="2000" dirty="0">
                <a:latin typeface="Calibri" pitchFamily="34" charset="0"/>
              </a:rPr>
              <a:t>if MEM[PC]==SW </a:t>
            </a:r>
            <a:r>
              <a:rPr lang="en-US" altLang="zh-CN" sz="2000" dirty="0" err="1">
                <a:latin typeface="Calibri" pitchFamily="34" charset="0"/>
              </a:rPr>
              <a:t>rt</a:t>
            </a:r>
            <a:r>
              <a:rPr lang="en-US" altLang="zh-CN" sz="2000" dirty="0">
                <a:latin typeface="Calibri" pitchFamily="34" charset="0"/>
              </a:rPr>
              <a:t> offset</a:t>
            </a:r>
            <a:r>
              <a:rPr lang="en-US" altLang="zh-CN" sz="2000" baseline="-25000" dirty="0">
                <a:latin typeface="Calibri" pitchFamily="34" charset="0"/>
              </a:rPr>
              <a:t>16</a:t>
            </a:r>
            <a:r>
              <a:rPr lang="en-US" altLang="zh-CN" sz="2000" dirty="0">
                <a:latin typeface="Calibri" pitchFamily="34" charset="0"/>
              </a:rPr>
              <a:t> (base) </a:t>
            </a:r>
          </a:p>
          <a:p>
            <a:r>
              <a:rPr lang="en-US" altLang="zh-CN" sz="2000" dirty="0">
                <a:latin typeface="Calibri" pitchFamily="34" charset="0"/>
              </a:rPr>
              <a:t>       EA = sign-extend(offset) + GPR[base]</a:t>
            </a:r>
          </a:p>
          <a:p>
            <a:r>
              <a:rPr lang="en-US" altLang="zh-CN" sz="2000" dirty="0">
                <a:latin typeface="Calibri" pitchFamily="34" charset="0"/>
              </a:rPr>
              <a:t>       </a:t>
            </a:r>
            <a:r>
              <a:rPr lang="en-US" altLang="zh-CN" sz="2000" dirty="0">
                <a:latin typeface="Calibri" pitchFamily="34" charset="0"/>
                <a:sym typeface="Symbol" pitchFamily="18" charset="2"/>
              </a:rPr>
              <a:t>MEM[ </a:t>
            </a:r>
            <a:r>
              <a:rPr lang="en-US" altLang="zh-CN" sz="2000" dirty="0">
                <a:solidFill>
                  <a:srgbClr val="00B0F0"/>
                </a:solidFill>
                <a:latin typeface="Calibri" pitchFamily="34" charset="0"/>
                <a:sym typeface="Symbol" pitchFamily="18" charset="2"/>
              </a:rPr>
              <a:t>translate</a:t>
            </a:r>
            <a:r>
              <a:rPr lang="en-US" altLang="zh-CN" sz="2000" dirty="0">
                <a:latin typeface="Calibri" pitchFamily="34" charset="0"/>
                <a:sym typeface="Symbol" pitchFamily="18" charset="2"/>
              </a:rPr>
              <a:t>(EA) ]  </a:t>
            </a:r>
            <a:r>
              <a:rPr lang="en-US" altLang="zh-CN" sz="2000" dirty="0">
                <a:latin typeface="Calibri" pitchFamily="34" charset="0"/>
              </a:rPr>
              <a:t>GPR[</a:t>
            </a:r>
            <a:r>
              <a:rPr lang="en-US" altLang="zh-CN" sz="2000" dirty="0" err="1">
                <a:latin typeface="Calibri" pitchFamily="34" charset="0"/>
              </a:rPr>
              <a:t>rt</a:t>
            </a:r>
            <a:r>
              <a:rPr lang="en-US" altLang="zh-CN" sz="2000" dirty="0">
                <a:latin typeface="Calibri" pitchFamily="34" charset="0"/>
              </a:rPr>
              <a:t>] </a:t>
            </a:r>
            <a:endParaRPr lang="en-US" altLang="zh-CN" dirty="0">
              <a:latin typeface="Calibri" pitchFamily="34" charset="0"/>
              <a:sym typeface="Symbol" pitchFamily="18" charset="2"/>
            </a:endParaRPr>
          </a:p>
          <a:p>
            <a:r>
              <a:rPr lang="en-US" altLang="zh-CN" dirty="0">
                <a:latin typeface="Calibri" pitchFamily="34" charset="0"/>
                <a:sym typeface="Symbol" pitchFamily="18" charset="2"/>
              </a:rPr>
              <a:t>        </a:t>
            </a:r>
            <a:r>
              <a:rPr lang="en-US" altLang="zh-CN" sz="2000" dirty="0">
                <a:latin typeface="Calibri" pitchFamily="34" charset="0"/>
                <a:sym typeface="Symbol" pitchFamily="18" charset="2"/>
              </a:rPr>
              <a:t>PC  PC + 4</a:t>
            </a:r>
          </a:p>
        </p:txBody>
      </p:sp>
      <p:sp>
        <p:nvSpPr>
          <p:cNvPr id="16392" name="AutoShape 7"/>
          <p:cNvSpPr>
            <a:spLocks noChangeArrowheads="1"/>
          </p:cNvSpPr>
          <p:nvPr/>
        </p:nvSpPr>
        <p:spPr bwMode="auto">
          <a:xfrm>
            <a:off x="5105400" y="6172200"/>
            <a:ext cx="762000" cy="457200"/>
          </a:xfrm>
          <a:prstGeom prst="rightArrow">
            <a:avLst>
              <a:gd name="adj1" fmla="val 50000"/>
              <a:gd name="adj2" fmla="val 41667"/>
            </a:avLst>
          </a:prstGeom>
          <a:solidFill>
            <a:schemeClr val="accent1"/>
          </a:solidFill>
          <a:ln w="19050">
            <a:solidFill>
              <a:schemeClr val="accent1"/>
            </a:solidFill>
            <a:miter lim="800000"/>
            <a:headEnd/>
            <a:tailEnd/>
          </a:ln>
        </p:spPr>
        <p:txBody>
          <a:bodyPr wrap="none" anchor="ctr"/>
          <a:lstStyle/>
          <a:p>
            <a:endParaRPr lang="zh-CN" altLang="zh-CN">
              <a:latin typeface="Calibri" pitchFamily="34" charset="0"/>
            </a:endParaRPr>
          </a:p>
        </p:txBody>
      </p:sp>
      <p:grpSp>
        <p:nvGrpSpPr>
          <p:cNvPr id="16394" name="Group 9"/>
          <p:cNvGrpSpPr>
            <a:grpSpLocks/>
          </p:cNvGrpSpPr>
          <p:nvPr/>
        </p:nvGrpSpPr>
        <p:grpSpPr bwMode="auto">
          <a:xfrm>
            <a:off x="5311775" y="5638800"/>
            <a:ext cx="3756025" cy="304800"/>
            <a:chOff x="1392" y="2976"/>
            <a:chExt cx="3072" cy="240"/>
          </a:xfrm>
        </p:grpSpPr>
        <p:sp>
          <p:nvSpPr>
            <p:cNvPr id="16418" name="Rectangle 10"/>
            <p:cNvSpPr>
              <a:spLocks noChangeArrowheads="1"/>
            </p:cNvSpPr>
            <p:nvPr/>
          </p:nvSpPr>
          <p:spPr bwMode="auto">
            <a:xfrm>
              <a:off x="1392"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IF</a:t>
              </a:r>
            </a:p>
          </p:txBody>
        </p:sp>
        <p:sp>
          <p:nvSpPr>
            <p:cNvPr id="16419" name="Rectangle 11"/>
            <p:cNvSpPr>
              <a:spLocks noChangeArrowheads="1"/>
            </p:cNvSpPr>
            <p:nvPr/>
          </p:nvSpPr>
          <p:spPr bwMode="auto">
            <a:xfrm>
              <a:off x="2016"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ID</a:t>
              </a:r>
            </a:p>
          </p:txBody>
        </p:sp>
        <p:sp>
          <p:nvSpPr>
            <p:cNvPr id="16420" name="Rectangle 12"/>
            <p:cNvSpPr>
              <a:spLocks noChangeArrowheads="1"/>
            </p:cNvSpPr>
            <p:nvPr/>
          </p:nvSpPr>
          <p:spPr bwMode="auto">
            <a:xfrm>
              <a:off x="2640"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EX</a:t>
              </a:r>
            </a:p>
          </p:txBody>
        </p:sp>
        <p:sp>
          <p:nvSpPr>
            <p:cNvPr id="16421" name="Rectangle 13"/>
            <p:cNvSpPr>
              <a:spLocks noChangeArrowheads="1"/>
            </p:cNvSpPr>
            <p:nvPr/>
          </p:nvSpPr>
          <p:spPr bwMode="auto">
            <a:xfrm>
              <a:off x="3264"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MEM</a:t>
              </a:r>
            </a:p>
          </p:txBody>
        </p:sp>
        <p:sp>
          <p:nvSpPr>
            <p:cNvPr id="16422" name="Rectangle 14"/>
            <p:cNvSpPr>
              <a:spLocks noChangeArrowheads="1"/>
            </p:cNvSpPr>
            <p:nvPr/>
          </p:nvSpPr>
          <p:spPr bwMode="auto">
            <a:xfrm>
              <a:off x="3888" y="2976"/>
              <a:ext cx="576" cy="240"/>
            </a:xfrm>
            <a:prstGeom prst="rect">
              <a:avLst/>
            </a:prstGeom>
            <a:solidFill>
              <a:schemeClr val="bg1"/>
            </a:solidFill>
            <a:ln w="28575">
              <a:solidFill>
                <a:schemeClr val="tx1"/>
              </a:solidFill>
              <a:miter lim="800000"/>
              <a:headEnd/>
              <a:tailEnd/>
            </a:ln>
          </p:spPr>
          <p:txBody>
            <a:bodyPr wrap="none" anchor="ctr"/>
            <a:lstStyle/>
            <a:p>
              <a:pPr algn="ctr"/>
              <a:r>
                <a:rPr lang="en-US" altLang="zh-CN" sz="2000">
                  <a:latin typeface="Calibri" pitchFamily="34" charset="0"/>
                </a:rPr>
                <a:t>WB</a:t>
              </a:r>
            </a:p>
          </p:txBody>
        </p:sp>
      </p:grpSp>
      <p:pic>
        <p:nvPicPr>
          <p:cNvPr id="16395" name="Picture 15" descr="F0508"/>
          <p:cNvPicPr>
            <a:picLocks noChangeAspect="1" noChangeArrowheads="1"/>
          </p:cNvPicPr>
          <p:nvPr/>
        </p:nvPicPr>
        <p:blipFill>
          <a:blip r:embed="rId4" cstate="print">
            <a:extLst>
              <a:ext uri="{28A0092B-C50C-407E-A947-70E740481C1C}">
                <a14:useLocalDpi xmlns:a14="http://schemas.microsoft.com/office/drawing/2010/main" val="0"/>
              </a:ext>
            </a:extLst>
          </a:blip>
          <a:srcRect r="44247" b="9525"/>
          <a:stretch>
            <a:fillRect/>
          </a:stretch>
        </p:blipFill>
        <p:spPr bwMode="auto">
          <a:xfrm>
            <a:off x="6400800" y="2438400"/>
            <a:ext cx="2074863"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6" name="Text Box 16"/>
          <p:cNvSpPr txBox="1">
            <a:spLocks noChangeArrowheads="1"/>
          </p:cNvSpPr>
          <p:nvPr/>
        </p:nvSpPr>
        <p:spPr bwMode="auto">
          <a:xfrm>
            <a:off x="3608388" y="4108450"/>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0</a:t>
            </a:r>
          </a:p>
        </p:txBody>
      </p:sp>
      <p:sp>
        <p:nvSpPr>
          <p:cNvPr id="16397" name="Text Box 17"/>
          <p:cNvSpPr txBox="1">
            <a:spLocks noChangeArrowheads="1"/>
          </p:cNvSpPr>
          <p:nvPr/>
        </p:nvSpPr>
        <p:spPr bwMode="auto">
          <a:xfrm>
            <a:off x="5041900" y="2228850"/>
            <a:ext cx="5870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add</a:t>
            </a:r>
          </a:p>
        </p:txBody>
      </p:sp>
      <p:grpSp>
        <p:nvGrpSpPr>
          <p:cNvPr id="16398" name="Group 18"/>
          <p:cNvGrpSpPr>
            <a:grpSpLocks/>
          </p:cNvGrpSpPr>
          <p:nvPr/>
        </p:nvGrpSpPr>
        <p:grpSpPr bwMode="auto">
          <a:xfrm>
            <a:off x="4519613" y="3371851"/>
            <a:ext cx="1081087" cy="1223963"/>
            <a:chOff x="2847" y="2124"/>
            <a:chExt cx="681" cy="771"/>
          </a:xfrm>
        </p:grpSpPr>
        <p:sp>
          <p:nvSpPr>
            <p:cNvPr id="16408" name="Line 19"/>
            <p:cNvSpPr>
              <a:spLocks noChangeShapeType="1"/>
            </p:cNvSpPr>
            <p:nvPr/>
          </p:nvSpPr>
          <p:spPr bwMode="auto">
            <a:xfrm>
              <a:off x="2938" y="2276"/>
              <a:ext cx="0" cy="294"/>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9" name="Line 20"/>
            <p:cNvSpPr>
              <a:spLocks noChangeShapeType="1"/>
            </p:cNvSpPr>
            <p:nvPr/>
          </p:nvSpPr>
          <p:spPr bwMode="auto">
            <a:xfrm rot="5400000">
              <a:off x="2967" y="2521"/>
              <a:ext cx="0" cy="88"/>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0" name="Freeform 21"/>
            <p:cNvSpPr>
              <a:spLocks/>
            </p:cNvSpPr>
            <p:nvPr/>
          </p:nvSpPr>
          <p:spPr bwMode="auto">
            <a:xfrm>
              <a:off x="3053" y="2124"/>
              <a:ext cx="83" cy="336"/>
            </a:xfrm>
            <a:custGeom>
              <a:avLst/>
              <a:gdLst>
                <a:gd name="T0" fmla="*/ 0 w 290"/>
                <a:gd name="T1" fmla="*/ 0 h 768"/>
                <a:gd name="T2" fmla="*/ 0 w 290"/>
                <a:gd name="T3" fmla="*/ 0 h 768"/>
                <a:gd name="T4" fmla="*/ 0 w 290"/>
                <a:gd name="T5" fmla="*/ 0 h 768"/>
                <a:gd name="T6" fmla="*/ 0 w 290"/>
                <a:gd name="T7" fmla="*/ 0 h 768"/>
                <a:gd name="T8" fmla="*/ 0 w 290"/>
                <a:gd name="T9" fmla="*/ 0 h 768"/>
                <a:gd name="T10" fmla="*/ 0 w 290"/>
                <a:gd name="T11" fmla="*/ 0 h 768"/>
                <a:gd name="T12" fmla="*/ 0 w 290"/>
                <a:gd name="T13" fmla="*/ 0 h 768"/>
                <a:gd name="T14" fmla="*/ 0 w 290"/>
                <a:gd name="T15" fmla="*/ 0 h 768"/>
                <a:gd name="T16" fmla="*/ 0 w 290"/>
                <a:gd name="T17" fmla="*/ 0 h 768"/>
                <a:gd name="T18" fmla="*/ 0 w 290"/>
                <a:gd name="T19" fmla="*/ 0 h 768"/>
                <a:gd name="T20" fmla="*/ 0 w 290"/>
                <a:gd name="T21" fmla="*/ 0 h 768"/>
                <a:gd name="T22" fmla="*/ 0 w 290"/>
                <a:gd name="T23" fmla="*/ 0 h 768"/>
                <a:gd name="T24" fmla="*/ 0 w 290"/>
                <a:gd name="T25" fmla="*/ 0 h 768"/>
                <a:gd name="T26" fmla="*/ 0 w 290"/>
                <a:gd name="T27" fmla="*/ 0 h 768"/>
                <a:gd name="T28" fmla="*/ 0 w 290"/>
                <a:gd name="T29" fmla="*/ 0 h 768"/>
                <a:gd name="T30" fmla="*/ 0 w 290"/>
                <a:gd name="T31" fmla="*/ 0 h 768"/>
                <a:gd name="T32" fmla="*/ 0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6411" name="Freeform 22"/>
            <p:cNvSpPr>
              <a:spLocks/>
            </p:cNvSpPr>
            <p:nvPr/>
          </p:nvSpPr>
          <p:spPr bwMode="auto">
            <a:xfrm>
              <a:off x="2935" y="2292"/>
              <a:ext cx="82" cy="547"/>
            </a:xfrm>
            <a:custGeom>
              <a:avLst/>
              <a:gdLst>
                <a:gd name="T0" fmla="*/ 0 w 96"/>
                <a:gd name="T1" fmla="*/ 26 h 624"/>
                <a:gd name="T2" fmla="*/ 3 w 96"/>
                <a:gd name="T3" fmla="*/ 26 h 624"/>
                <a:gd name="T4" fmla="*/ 3 w 96"/>
                <a:gd name="T5" fmla="*/ 0 h 624"/>
                <a:gd name="T6" fmla="*/ 0 60000 65536"/>
                <a:gd name="T7" fmla="*/ 0 60000 65536"/>
                <a:gd name="T8" fmla="*/ 0 60000 65536"/>
                <a:gd name="T9" fmla="*/ 0 w 96"/>
                <a:gd name="T10" fmla="*/ 0 h 624"/>
                <a:gd name="T11" fmla="*/ 96 w 96"/>
                <a:gd name="T12" fmla="*/ 624 h 624"/>
              </a:gdLst>
              <a:ahLst/>
              <a:cxnLst>
                <a:cxn ang="T6">
                  <a:pos x="T0" y="T1"/>
                </a:cxn>
                <a:cxn ang="T7">
                  <a:pos x="T2" y="T3"/>
                </a:cxn>
                <a:cxn ang="T8">
                  <a:pos x="T4" y="T5"/>
                </a:cxn>
              </a:cxnLst>
              <a:rect l="T9" t="T10" r="T11" b="T12"/>
              <a:pathLst>
                <a:path w="96" h="624">
                  <a:moveTo>
                    <a:pt x="0" y="624"/>
                  </a:moveTo>
                  <a:lnTo>
                    <a:pt x="96" y="624"/>
                  </a:lnTo>
                  <a:lnTo>
                    <a:pt x="96" y="0"/>
                  </a:lnTo>
                </a:path>
              </a:pathLst>
            </a:custGeom>
            <a:noFill/>
            <a:ln w="762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12" name="Line 23"/>
            <p:cNvSpPr>
              <a:spLocks noChangeShapeType="1"/>
            </p:cNvSpPr>
            <p:nvPr/>
          </p:nvSpPr>
          <p:spPr bwMode="auto">
            <a:xfrm>
              <a:off x="2847" y="2292"/>
              <a:ext cx="206"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3" name="Freeform 24"/>
            <p:cNvSpPr>
              <a:spLocks/>
            </p:cNvSpPr>
            <p:nvPr/>
          </p:nvSpPr>
          <p:spPr bwMode="auto">
            <a:xfrm>
              <a:off x="2929" y="2376"/>
              <a:ext cx="124" cy="463"/>
            </a:xfrm>
            <a:custGeom>
              <a:avLst/>
              <a:gdLst>
                <a:gd name="T0" fmla="*/ 0 w 144"/>
                <a:gd name="T1" fmla="*/ 23 h 528"/>
                <a:gd name="T2" fmla="*/ 3 w 144"/>
                <a:gd name="T3" fmla="*/ 23 h 528"/>
                <a:gd name="T4" fmla="*/ 3 w 144"/>
                <a:gd name="T5" fmla="*/ 0 h 528"/>
                <a:gd name="T6" fmla="*/ 4 w 144"/>
                <a:gd name="T7" fmla="*/ 0 h 528"/>
                <a:gd name="T8" fmla="*/ 0 60000 65536"/>
                <a:gd name="T9" fmla="*/ 0 60000 65536"/>
                <a:gd name="T10" fmla="*/ 0 60000 65536"/>
                <a:gd name="T11" fmla="*/ 0 60000 65536"/>
                <a:gd name="T12" fmla="*/ 0 w 144"/>
                <a:gd name="T13" fmla="*/ 0 h 528"/>
                <a:gd name="T14" fmla="*/ 144 w 144"/>
                <a:gd name="T15" fmla="*/ 528 h 528"/>
              </a:gdLst>
              <a:ahLst/>
              <a:cxnLst>
                <a:cxn ang="T8">
                  <a:pos x="T0" y="T1"/>
                </a:cxn>
                <a:cxn ang="T9">
                  <a:pos x="T2" y="T3"/>
                </a:cxn>
                <a:cxn ang="T10">
                  <a:pos x="T4" y="T5"/>
                </a:cxn>
                <a:cxn ang="T11">
                  <a:pos x="T6" y="T7"/>
                </a:cxn>
              </a:cxnLst>
              <a:rect l="T12" t="T13" r="T14" b="T15"/>
              <a:pathLst>
                <a:path w="144" h="528">
                  <a:moveTo>
                    <a:pt x="0" y="528"/>
                  </a:moveTo>
                  <a:lnTo>
                    <a:pt x="48" y="528"/>
                  </a:lnTo>
                  <a:lnTo>
                    <a:pt x="48" y="0"/>
                  </a:lnTo>
                  <a:lnTo>
                    <a:pt x="144" y="0"/>
                  </a:ln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14" name="Line 25"/>
            <p:cNvSpPr>
              <a:spLocks noChangeShapeType="1"/>
            </p:cNvSpPr>
            <p:nvPr/>
          </p:nvSpPr>
          <p:spPr bwMode="auto">
            <a:xfrm>
              <a:off x="2847" y="2208"/>
              <a:ext cx="20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5" name="Line 26"/>
            <p:cNvSpPr>
              <a:spLocks noChangeShapeType="1"/>
            </p:cNvSpPr>
            <p:nvPr/>
          </p:nvSpPr>
          <p:spPr bwMode="auto">
            <a:xfrm>
              <a:off x="3094" y="2418"/>
              <a:ext cx="0" cy="253"/>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6" name="Text Box 27"/>
            <p:cNvSpPr txBox="1">
              <a:spLocks noChangeArrowheads="1"/>
            </p:cNvSpPr>
            <p:nvPr/>
          </p:nvSpPr>
          <p:spPr bwMode="auto">
            <a:xfrm>
              <a:off x="3112" y="2566"/>
              <a:ext cx="39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ALUSrc</a:t>
              </a:r>
            </a:p>
          </p:txBody>
        </p:sp>
        <p:sp>
          <p:nvSpPr>
            <p:cNvPr id="16417" name="Text Box 28"/>
            <p:cNvSpPr txBox="1">
              <a:spLocks noChangeArrowheads="1"/>
            </p:cNvSpPr>
            <p:nvPr/>
          </p:nvSpPr>
          <p:spPr bwMode="auto">
            <a:xfrm>
              <a:off x="2977" y="2643"/>
              <a:ext cx="5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err="1">
                  <a:solidFill>
                    <a:schemeClr val="accent1"/>
                  </a:solidFill>
                  <a:latin typeface="Calibri" pitchFamily="34" charset="0"/>
                </a:rPr>
                <a:t>isItype</a:t>
              </a:r>
              <a:endParaRPr lang="en-US" altLang="zh-CN" sz="2000" b="0" dirty="0">
                <a:solidFill>
                  <a:schemeClr val="accent1"/>
                </a:solidFill>
                <a:latin typeface="Calibri" pitchFamily="34" charset="0"/>
              </a:endParaRPr>
            </a:p>
          </p:txBody>
        </p:sp>
      </p:grpSp>
      <p:sp>
        <p:nvSpPr>
          <p:cNvPr id="16399" name="Freeform 29"/>
          <p:cNvSpPr>
            <a:spLocks/>
          </p:cNvSpPr>
          <p:nvPr/>
        </p:nvSpPr>
        <p:spPr bwMode="auto">
          <a:xfrm>
            <a:off x="2984500" y="3186113"/>
            <a:ext cx="120650" cy="436562"/>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6400" name="Freeform 30"/>
          <p:cNvSpPr>
            <a:spLocks/>
          </p:cNvSpPr>
          <p:nvPr/>
        </p:nvSpPr>
        <p:spPr bwMode="auto">
          <a:xfrm>
            <a:off x="2914650" y="3124200"/>
            <a:ext cx="69850" cy="187325"/>
          </a:xfrm>
          <a:custGeom>
            <a:avLst/>
            <a:gdLst>
              <a:gd name="T0" fmla="*/ 0 w 48"/>
              <a:gd name="T1" fmla="*/ 0 h 144"/>
              <a:gd name="T2" fmla="*/ 0 w 48"/>
              <a:gd name="T3" fmla="*/ 2147483647 h 144"/>
              <a:gd name="T4" fmla="*/ 2147483647 w 48"/>
              <a:gd name="T5" fmla="*/ 2147483647 h 144"/>
              <a:gd name="T6" fmla="*/ 0 60000 65536"/>
              <a:gd name="T7" fmla="*/ 0 60000 65536"/>
              <a:gd name="T8" fmla="*/ 0 60000 65536"/>
              <a:gd name="T9" fmla="*/ 0 w 48"/>
              <a:gd name="T10" fmla="*/ 0 h 144"/>
              <a:gd name="T11" fmla="*/ 48 w 48"/>
              <a:gd name="T12" fmla="*/ 144 h 144"/>
            </a:gdLst>
            <a:ahLst/>
            <a:cxnLst>
              <a:cxn ang="T6">
                <a:pos x="T0" y="T1"/>
              </a:cxn>
              <a:cxn ang="T7">
                <a:pos x="T2" y="T3"/>
              </a:cxn>
              <a:cxn ang="T8">
                <a:pos x="T4" y="T5"/>
              </a:cxn>
            </a:cxnLst>
            <a:rect l="T9" t="T10" r="T11" b="T12"/>
            <a:pathLst>
              <a:path w="48" h="144">
                <a:moveTo>
                  <a:pt x="0" y="0"/>
                </a:moveTo>
                <a:lnTo>
                  <a:pt x="0" y="144"/>
                </a:lnTo>
                <a:lnTo>
                  <a:pt x="48"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01" name="Text Box 31"/>
          <p:cNvSpPr txBox="1">
            <a:spLocks noChangeArrowheads="1"/>
          </p:cNvSpPr>
          <p:nvPr/>
        </p:nvSpPr>
        <p:spPr bwMode="auto">
          <a:xfrm>
            <a:off x="2124075" y="3902075"/>
            <a:ext cx="695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RegDest</a:t>
            </a:r>
          </a:p>
        </p:txBody>
      </p:sp>
      <p:sp>
        <p:nvSpPr>
          <p:cNvPr id="16402" name="Freeform 32"/>
          <p:cNvSpPr>
            <a:spLocks/>
          </p:cNvSpPr>
          <p:nvPr/>
        </p:nvSpPr>
        <p:spPr bwMode="auto">
          <a:xfrm>
            <a:off x="2633663" y="3560763"/>
            <a:ext cx="420687" cy="374650"/>
          </a:xfrm>
          <a:custGeom>
            <a:avLst/>
            <a:gdLst>
              <a:gd name="T0" fmla="*/ 2147483647 w 288"/>
              <a:gd name="T1" fmla="*/ 0 h 288"/>
              <a:gd name="T2" fmla="*/ 2147483647 w 288"/>
              <a:gd name="T3" fmla="*/ 2147483647 h 288"/>
              <a:gd name="T4" fmla="*/ 0 w 288"/>
              <a:gd name="T5" fmla="*/ 2147483647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288" y="0"/>
                </a:moveTo>
                <a:lnTo>
                  <a:pt x="288" y="96"/>
                </a:lnTo>
                <a:lnTo>
                  <a:pt x="0" y="288"/>
                </a:lnTo>
              </a:path>
            </a:pathLst>
          </a:custGeom>
          <a:noFill/>
          <a:ln w="28575">
            <a:solidFill>
              <a:srgbClr val="FF99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03" name="Rectangle 33"/>
          <p:cNvSpPr>
            <a:spLocks noChangeArrowheads="1"/>
          </p:cNvSpPr>
          <p:nvPr/>
        </p:nvSpPr>
        <p:spPr bwMode="auto">
          <a:xfrm>
            <a:off x="2001838" y="4013200"/>
            <a:ext cx="8739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r>
              <a:rPr lang="en-US" altLang="zh-CN" sz="2000" b="0" dirty="0" err="1">
                <a:solidFill>
                  <a:srgbClr val="CC9900"/>
                </a:solidFill>
                <a:latin typeface="Calibri" pitchFamily="34" charset="0"/>
              </a:rPr>
              <a:t>isItype</a:t>
            </a:r>
            <a:endParaRPr lang="en-US" altLang="zh-CN" sz="2000" b="0" dirty="0">
              <a:solidFill>
                <a:srgbClr val="CC9900"/>
              </a:solidFill>
              <a:latin typeface="Calibri" pitchFamily="34" charset="0"/>
            </a:endParaRPr>
          </a:p>
        </p:txBody>
      </p:sp>
      <p:sp>
        <p:nvSpPr>
          <p:cNvPr id="16404" name="Rectangle 34"/>
          <p:cNvSpPr>
            <a:spLocks noChangeArrowheads="1"/>
          </p:cNvSpPr>
          <p:nvPr/>
        </p:nvSpPr>
        <p:spPr bwMode="auto">
          <a:xfrm>
            <a:off x="5367338" y="3070225"/>
            <a:ext cx="381000" cy="1524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p>
            <a:endParaRPr lang="zh-CN" altLang="zh-CN">
              <a:latin typeface="Calibri" pitchFamily="34" charset="0"/>
            </a:endParaRPr>
          </a:p>
        </p:txBody>
      </p:sp>
      <p:sp>
        <p:nvSpPr>
          <p:cNvPr id="16405" name="Line 35"/>
          <p:cNvSpPr>
            <a:spLocks noChangeShapeType="1"/>
          </p:cNvSpPr>
          <p:nvPr/>
        </p:nvSpPr>
        <p:spPr bwMode="auto">
          <a:xfrm>
            <a:off x="5791200" y="3125788"/>
            <a:ext cx="298450"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6" name="Text Box 26"/>
          <p:cNvSpPr txBox="1">
            <a:spLocks noChangeArrowheads="1"/>
          </p:cNvSpPr>
          <p:nvPr/>
        </p:nvSpPr>
        <p:spPr bwMode="auto">
          <a:xfrm>
            <a:off x="7239000" y="4430713"/>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0</a:t>
            </a:r>
          </a:p>
        </p:txBody>
      </p:sp>
      <p:sp>
        <p:nvSpPr>
          <p:cNvPr id="16407" name="Text Box 26"/>
          <p:cNvSpPr txBox="1">
            <a:spLocks noChangeArrowheads="1"/>
          </p:cNvSpPr>
          <p:nvPr/>
        </p:nvSpPr>
        <p:spPr bwMode="auto">
          <a:xfrm>
            <a:off x="7239000" y="2057400"/>
            <a:ext cx="314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1</a:t>
            </a:r>
          </a:p>
        </p:txBody>
      </p:sp>
      <p:sp>
        <p:nvSpPr>
          <p:cNvPr id="38" name="TextBox 37"/>
          <p:cNvSpPr txBox="1"/>
          <p:nvPr/>
        </p:nvSpPr>
        <p:spPr>
          <a:xfrm>
            <a:off x="3885326" y="1343680"/>
            <a:ext cx="4347665" cy="523220"/>
          </a:xfrm>
          <a:prstGeom prst="rect">
            <a:avLst/>
          </a:prstGeom>
          <a:noFill/>
        </p:spPr>
        <p:txBody>
          <a:bodyPr wrap="none" rtlCol="0">
            <a:spAutoFit/>
          </a:bodyPr>
          <a:lstStyle/>
          <a:p>
            <a:r>
              <a:rPr lang="zh-CN" altLang="en-US" sz="2800" b="0" dirty="0">
                <a:solidFill>
                  <a:srgbClr val="FF0000"/>
                </a:solidFill>
                <a:latin typeface="微软雅黑" panose="020B0503020204020204" pitchFamily="34" charset="-122"/>
                <a:ea typeface="微软雅黑" panose="020B0503020204020204" pitchFamily="34" charset="-122"/>
              </a:rPr>
              <a:t>如何完成</a:t>
            </a:r>
            <a:r>
              <a:rPr lang="en-US" altLang="zh-CN" sz="2800" b="0" dirty="0">
                <a:solidFill>
                  <a:srgbClr val="FF0000"/>
                </a:solidFill>
                <a:latin typeface="微软雅黑" panose="020B0503020204020204" pitchFamily="34" charset="-122"/>
                <a:ea typeface="微软雅黑" panose="020B0503020204020204" pitchFamily="34" charset="-122"/>
              </a:rPr>
              <a:t>SW</a:t>
            </a:r>
            <a:r>
              <a:rPr lang="zh-CN" altLang="en-US" sz="2800" b="0" dirty="0">
                <a:solidFill>
                  <a:srgbClr val="FF0000"/>
                </a:solidFill>
                <a:latin typeface="微软雅黑" panose="020B0503020204020204" pitchFamily="34" charset="-122"/>
                <a:ea typeface="微软雅黑" panose="020B0503020204020204" pitchFamily="34" charset="-122"/>
              </a:rPr>
              <a:t>的数据通路？</a:t>
            </a:r>
          </a:p>
        </p:txBody>
      </p:sp>
      <p:sp>
        <p:nvSpPr>
          <p:cNvPr id="39" name="Text Box 8">
            <a:extLst>
              <a:ext uri="{FF2B5EF4-FFF2-40B4-BE49-F238E27FC236}">
                <a16:creationId xmlns:a16="http://schemas.microsoft.com/office/drawing/2014/main" id="{01118277-56DE-4CE8-ACE4-04B64C40CC79}"/>
              </a:ext>
            </a:extLst>
          </p:cNvPr>
          <p:cNvSpPr txBox="1">
            <a:spLocks noChangeArrowheads="1"/>
          </p:cNvSpPr>
          <p:nvPr/>
        </p:nvSpPr>
        <p:spPr bwMode="auto">
          <a:xfrm>
            <a:off x="5887522" y="6167735"/>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zh-CN" altLang="en-US" sz="2400" b="0" dirty="0">
                <a:latin typeface="微软雅黑" panose="020B0503020204020204" pitchFamily="34" charset="-122"/>
                <a:ea typeface="微软雅黑" panose="020B0503020204020204" pitchFamily="34" charset="-122"/>
              </a:rPr>
              <a:t>状态更新组合逻辑</a:t>
            </a:r>
            <a:endParaRPr lang="en-US" altLang="zh-CN" sz="2400" b="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15</a:t>
            </a:fld>
            <a:endParaRPr lang="zh-CN" altLang="en-US"/>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152400"/>
            <a:ext cx="8229600" cy="990600"/>
          </a:xfrm>
        </p:spPr>
        <p:txBody>
          <a:bodyPr/>
          <a:lstStyle/>
          <a:p>
            <a:pPr eaLnBrk="1" hangingPunct="1"/>
            <a:r>
              <a:rPr lang="en-US" altLang="zh-CN" dirty="0"/>
              <a:t>Load-Store </a:t>
            </a:r>
            <a:r>
              <a:rPr lang="zh-CN" altLang="en-US" dirty="0"/>
              <a:t>数据通路</a:t>
            </a:r>
            <a:endParaRPr lang="en-US" altLang="zh-CN" dirty="0"/>
          </a:p>
        </p:txBody>
      </p:sp>
      <p:pic>
        <p:nvPicPr>
          <p:cNvPr id="17412" name="Picture 3" descr="F05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475" y="1676400"/>
            <a:ext cx="3463925"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4" descr="F0509"/>
          <p:cNvPicPr>
            <a:picLocks noChangeAspect="1" noChangeArrowheads="1"/>
          </p:cNvPicPr>
          <p:nvPr/>
        </p:nvPicPr>
        <p:blipFill>
          <a:blip r:embed="rId3" cstate="print">
            <a:extLst>
              <a:ext uri="{28A0092B-C50C-407E-A947-70E740481C1C}">
                <a14:useLocalDpi xmlns:a14="http://schemas.microsoft.com/office/drawing/2010/main" val="0"/>
              </a:ext>
            </a:extLst>
          </a:blip>
          <a:srcRect l="10663"/>
          <a:stretch>
            <a:fillRect/>
          </a:stretch>
        </p:blipFill>
        <p:spPr bwMode="auto">
          <a:xfrm>
            <a:off x="3124200" y="3027363"/>
            <a:ext cx="5959475" cy="291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Text Box 5"/>
          <p:cNvSpPr txBox="1">
            <a:spLocks noChangeArrowheads="1"/>
          </p:cNvSpPr>
          <p:nvPr/>
        </p:nvSpPr>
        <p:spPr bwMode="auto">
          <a:xfrm>
            <a:off x="3789363" y="4819650"/>
            <a:ext cx="8211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chemeClr val="accent1"/>
                </a:solidFill>
                <a:latin typeface="Calibri" pitchFamily="34" charset="0"/>
              </a:rPr>
              <a:t>!</a:t>
            </a:r>
            <a:r>
              <a:rPr lang="en-US" altLang="zh-CN" sz="1600" b="0" dirty="0" err="1">
                <a:solidFill>
                  <a:schemeClr val="accent1"/>
                </a:solidFill>
                <a:latin typeface="Calibri" pitchFamily="34" charset="0"/>
              </a:rPr>
              <a:t>isStore</a:t>
            </a:r>
            <a:endParaRPr lang="en-US" altLang="zh-CN" sz="1600" b="0" dirty="0">
              <a:solidFill>
                <a:schemeClr val="accent1"/>
              </a:solidFill>
              <a:latin typeface="Calibri" pitchFamily="34" charset="0"/>
            </a:endParaRPr>
          </a:p>
        </p:txBody>
      </p:sp>
      <p:sp>
        <p:nvSpPr>
          <p:cNvPr id="17415" name="Text Box 6"/>
          <p:cNvSpPr txBox="1">
            <a:spLocks noChangeArrowheads="1"/>
          </p:cNvSpPr>
          <p:nvPr/>
        </p:nvSpPr>
        <p:spPr bwMode="auto">
          <a:xfrm>
            <a:off x="5848350" y="2762250"/>
            <a:ext cx="5774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add</a:t>
            </a:r>
          </a:p>
        </p:txBody>
      </p:sp>
      <p:sp>
        <p:nvSpPr>
          <p:cNvPr id="17416" name="Text Box 7"/>
          <p:cNvSpPr txBox="1">
            <a:spLocks noChangeArrowheads="1"/>
          </p:cNvSpPr>
          <p:nvPr/>
        </p:nvSpPr>
        <p:spPr bwMode="auto">
          <a:xfrm>
            <a:off x="7599363" y="2900363"/>
            <a:ext cx="9134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err="1">
                <a:solidFill>
                  <a:schemeClr val="accent1"/>
                </a:solidFill>
                <a:latin typeface="Calibri" pitchFamily="34" charset="0"/>
              </a:rPr>
              <a:t>isStore</a:t>
            </a:r>
            <a:endParaRPr lang="en-US" altLang="zh-CN" sz="2000" b="0" dirty="0">
              <a:solidFill>
                <a:schemeClr val="accent1"/>
              </a:solidFill>
              <a:latin typeface="Calibri" pitchFamily="34" charset="0"/>
            </a:endParaRPr>
          </a:p>
        </p:txBody>
      </p:sp>
      <p:sp>
        <p:nvSpPr>
          <p:cNvPr id="17417" name="Text Box 8"/>
          <p:cNvSpPr txBox="1">
            <a:spLocks noChangeArrowheads="1"/>
          </p:cNvSpPr>
          <p:nvPr/>
        </p:nvSpPr>
        <p:spPr bwMode="auto">
          <a:xfrm>
            <a:off x="7659688" y="5353050"/>
            <a:ext cx="8451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err="1">
                <a:solidFill>
                  <a:schemeClr val="accent1"/>
                </a:solidFill>
                <a:latin typeface="Calibri" pitchFamily="34" charset="0"/>
              </a:rPr>
              <a:t>isLoad</a:t>
            </a:r>
            <a:endParaRPr lang="en-US" altLang="zh-CN" sz="2000" b="0" dirty="0">
              <a:solidFill>
                <a:schemeClr val="accent1"/>
              </a:solidFill>
              <a:latin typeface="Calibri" pitchFamily="34" charset="0"/>
            </a:endParaRPr>
          </a:p>
        </p:txBody>
      </p:sp>
      <p:sp>
        <p:nvSpPr>
          <p:cNvPr id="17418" name="Freeform 9"/>
          <p:cNvSpPr>
            <a:spLocks/>
          </p:cNvSpPr>
          <p:nvPr/>
        </p:nvSpPr>
        <p:spPr bwMode="auto">
          <a:xfrm>
            <a:off x="5514975" y="3984625"/>
            <a:ext cx="131763" cy="533400"/>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7419" name="Line 10"/>
          <p:cNvSpPr>
            <a:spLocks noChangeShapeType="1"/>
          </p:cNvSpPr>
          <p:nvPr/>
        </p:nvSpPr>
        <p:spPr bwMode="auto">
          <a:xfrm flipH="1">
            <a:off x="5584825" y="4460875"/>
            <a:ext cx="0" cy="53340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0" name="Text Box 11"/>
          <p:cNvSpPr txBox="1">
            <a:spLocks noChangeArrowheads="1"/>
          </p:cNvSpPr>
          <p:nvPr/>
        </p:nvSpPr>
        <p:spPr bwMode="auto">
          <a:xfrm>
            <a:off x="5626100" y="4805363"/>
            <a:ext cx="622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ALUSrc</a:t>
            </a:r>
          </a:p>
        </p:txBody>
      </p:sp>
      <p:sp>
        <p:nvSpPr>
          <p:cNvPr id="17421" name="Text Box 12"/>
          <p:cNvSpPr txBox="1">
            <a:spLocks noChangeArrowheads="1"/>
          </p:cNvSpPr>
          <p:nvPr/>
        </p:nvSpPr>
        <p:spPr bwMode="auto">
          <a:xfrm>
            <a:off x="5564188" y="4957763"/>
            <a:ext cx="8963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err="1">
                <a:solidFill>
                  <a:schemeClr val="accent1"/>
                </a:solidFill>
                <a:latin typeface="Calibri" pitchFamily="34" charset="0"/>
              </a:rPr>
              <a:t>isItype</a:t>
            </a:r>
            <a:endParaRPr lang="en-US" altLang="zh-CN" sz="2000" b="0" dirty="0">
              <a:solidFill>
                <a:schemeClr val="accent1"/>
              </a:solidFill>
              <a:latin typeface="Calibri" pitchFamily="34" charset="0"/>
            </a:endParaRPr>
          </a:p>
        </p:txBody>
      </p:sp>
      <p:sp>
        <p:nvSpPr>
          <p:cNvPr id="17422" name="Line 13"/>
          <p:cNvSpPr>
            <a:spLocks noChangeShapeType="1"/>
          </p:cNvSpPr>
          <p:nvPr/>
        </p:nvSpPr>
        <p:spPr bwMode="auto">
          <a:xfrm flipV="1">
            <a:off x="5130800" y="4254500"/>
            <a:ext cx="374650" cy="63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3" name="Line 14"/>
          <p:cNvSpPr>
            <a:spLocks noChangeShapeType="1"/>
          </p:cNvSpPr>
          <p:nvPr/>
        </p:nvSpPr>
        <p:spPr bwMode="auto">
          <a:xfrm>
            <a:off x="5121275" y="4092575"/>
            <a:ext cx="38735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4" name="Line 15"/>
          <p:cNvSpPr>
            <a:spLocks noChangeShapeType="1"/>
          </p:cNvSpPr>
          <p:nvPr/>
        </p:nvSpPr>
        <p:spPr bwMode="auto">
          <a:xfrm>
            <a:off x="5464175" y="4397375"/>
            <a:ext cx="57150"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5" name="Line 16"/>
          <p:cNvSpPr>
            <a:spLocks noChangeShapeType="1"/>
          </p:cNvSpPr>
          <p:nvPr/>
        </p:nvSpPr>
        <p:spPr bwMode="auto">
          <a:xfrm flipV="1">
            <a:off x="5318125" y="4111625"/>
            <a:ext cx="0" cy="171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6" name="Line 17"/>
          <p:cNvSpPr>
            <a:spLocks noChangeShapeType="1"/>
          </p:cNvSpPr>
          <p:nvPr/>
        </p:nvSpPr>
        <p:spPr bwMode="auto">
          <a:xfrm flipV="1">
            <a:off x="5464175" y="4210050"/>
            <a:ext cx="0" cy="1714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7" name="Freeform 19"/>
          <p:cNvSpPr>
            <a:spLocks/>
          </p:cNvSpPr>
          <p:nvPr/>
        </p:nvSpPr>
        <p:spPr bwMode="auto">
          <a:xfrm>
            <a:off x="3352800" y="3733800"/>
            <a:ext cx="131763" cy="533400"/>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7428" name="Freeform 20"/>
          <p:cNvSpPr>
            <a:spLocks/>
          </p:cNvSpPr>
          <p:nvPr/>
        </p:nvSpPr>
        <p:spPr bwMode="auto">
          <a:xfrm>
            <a:off x="3276600" y="3657600"/>
            <a:ext cx="76200" cy="228600"/>
          </a:xfrm>
          <a:custGeom>
            <a:avLst/>
            <a:gdLst>
              <a:gd name="T0" fmla="*/ 0 w 48"/>
              <a:gd name="T1" fmla="*/ 0 h 144"/>
              <a:gd name="T2" fmla="*/ 0 w 48"/>
              <a:gd name="T3" fmla="*/ 2147483647 h 144"/>
              <a:gd name="T4" fmla="*/ 2147483647 w 48"/>
              <a:gd name="T5" fmla="*/ 2147483647 h 144"/>
              <a:gd name="T6" fmla="*/ 0 60000 65536"/>
              <a:gd name="T7" fmla="*/ 0 60000 65536"/>
              <a:gd name="T8" fmla="*/ 0 60000 65536"/>
              <a:gd name="T9" fmla="*/ 0 w 48"/>
              <a:gd name="T10" fmla="*/ 0 h 144"/>
              <a:gd name="T11" fmla="*/ 48 w 48"/>
              <a:gd name="T12" fmla="*/ 144 h 144"/>
            </a:gdLst>
            <a:ahLst/>
            <a:cxnLst>
              <a:cxn ang="T6">
                <a:pos x="T0" y="T1"/>
              </a:cxn>
              <a:cxn ang="T7">
                <a:pos x="T2" y="T3"/>
              </a:cxn>
              <a:cxn ang="T8">
                <a:pos x="T4" y="T5"/>
              </a:cxn>
            </a:cxnLst>
            <a:rect l="T9" t="T10" r="T11" b="T12"/>
            <a:pathLst>
              <a:path w="48" h="144">
                <a:moveTo>
                  <a:pt x="0" y="0"/>
                </a:moveTo>
                <a:lnTo>
                  <a:pt x="0" y="144"/>
                </a:lnTo>
                <a:lnTo>
                  <a:pt x="48"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429" name="Text Box 21"/>
          <p:cNvSpPr txBox="1">
            <a:spLocks noChangeArrowheads="1"/>
          </p:cNvSpPr>
          <p:nvPr/>
        </p:nvSpPr>
        <p:spPr bwMode="auto">
          <a:xfrm>
            <a:off x="2546350" y="4606925"/>
            <a:ext cx="695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RegDest</a:t>
            </a:r>
          </a:p>
        </p:txBody>
      </p:sp>
      <p:sp>
        <p:nvSpPr>
          <p:cNvPr id="17430" name="Freeform 22"/>
          <p:cNvSpPr>
            <a:spLocks/>
          </p:cNvSpPr>
          <p:nvPr/>
        </p:nvSpPr>
        <p:spPr bwMode="auto">
          <a:xfrm>
            <a:off x="2971800" y="4191000"/>
            <a:ext cx="457200" cy="457200"/>
          </a:xfrm>
          <a:custGeom>
            <a:avLst/>
            <a:gdLst>
              <a:gd name="T0" fmla="*/ 2147483647 w 288"/>
              <a:gd name="T1" fmla="*/ 0 h 288"/>
              <a:gd name="T2" fmla="*/ 2147483647 w 288"/>
              <a:gd name="T3" fmla="*/ 2147483647 h 288"/>
              <a:gd name="T4" fmla="*/ 0 w 288"/>
              <a:gd name="T5" fmla="*/ 2147483647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288" y="0"/>
                </a:moveTo>
                <a:lnTo>
                  <a:pt x="288" y="96"/>
                </a:lnTo>
                <a:lnTo>
                  <a:pt x="0" y="288"/>
                </a:lnTo>
              </a:path>
            </a:pathLst>
          </a:custGeom>
          <a:noFill/>
          <a:ln w="28575">
            <a:solidFill>
              <a:srgbClr val="FF99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431" name="Rectangle 23"/>
          <p:cNvSpPr>
            <a:spLocks noChangeArrowheads="1"/>
          </p:cNvSpPr>
          <p:nvPr/>
        </p:nvSpPr>
        <p:spPr bwMode="auto">
          <a:xfrm>
            <a:off x="2452688" y="4743450"/>
            <a:ext cx="8963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r>
              <a:rPr lang="en-US" altLang="zh-CN" sz="2000" b="0" dirty="0" err="1">
                <a:solidFill>
                  <a:srgbClr val="CC9900"/>
                </a:solidFill>
                <a:latin typeface="Calibri" pitchFamily="34" charset="0"/>
              </a:rPr>
              <a:t>isItype</a:t>
            </a:r>
            <a:endParaRPr lang="en-US" altLang="zh-CN" sz="2000" b="0" dirty="0">
              <a:solidFill>
                <a:srgbClr val="CC9900"/>
              </a:solidFill>
              <a:latin typeface="Calibri" pitchFamily="34" charset="0"/>
            </a:endParaRPr>
          </a:p>
        </p:txBody>
      </p:sp>
      <p:sp>
        <p:nvSpPr>
          <p:cNvPr id="17432" name="Rectangle 24"/>
          <p:cNvSpPr>
            <a:spLocks noChangeArrowheads="1"/>
          </p:cNvSpPr>
          <p:nvPr/>
        </p:nvSpPr>
        <p:spPr bwMode="auto">
          <a:xfrm>
            <a:off x="6172200" y="3614738"/>
            <a:ext cx="381000" cy="1524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p>
            <a:endParaRPr lang="zh-CN" altLang="zh-CN">
              <a:latin typeface="Calibri" pitchFamily="34" charset="0"/>
            </a:endParaRPr>
          </a:p>
        </p:txBody>
      </p:sp>
      <p:sp>
        <p:nvSpPr>
          <p:cNvPr id="17433" name="Line 25"/>
          <p:cNvSpPr>
            <a:spLocks noChangeShapeType="1"/>
          </p:cNvSpPr>
          <p:nvPr/>
        </p:nvSpPr>
        <p:spPr bwMode="auto">
          <a:xfrm>
            <a:off x="6596063" y="3692525"/>
            <a:ext cx="320675" cy="1588"/>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16</a:t>
            </a:fld>
            <a:endParaRPr lang="zh-CN" altLang="en-US"/>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76200"/>
            <a:ext cx="8229600" cy="1066800"/>
          </a:xfrm>
        </p:spPr>
        <p:txBody>
          <a:bodyPr/>
          <a:lstStyle/>
          <a:p>
            <a:pPr eaLnBrk="1" hangingPunct="1"/>
            <a:r>
              <a:rPr lang="zh-CN" altLang="en-US" dirty="0"/>
              <a:t>非控制流指令的数据通路</a:t>
            </a:r>
            <a:endParaRPr lang="en-US" altLang="zh-CN" dirty="0"/>
          </a:p>
        </p:txBody>
      </p:sp>
      <p:pic>
        <p:nvPicPr>
          <p:cNvPr id="18436" name="Picture 3" descr="F05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475" y="1220788"/>
            <a:ext cx="3463925"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4" descr="F0509"/>
          <p:cNvPicPr>
            <a:picLocks noChangeAspect="1" noChangeArrowheads="1"/>
          </p:cNvPicPr>
          <p:nvPr/>
        </p:nvPicPr>
        <p:blipFill>
          <a:blip r:embed="rId3" cstate="print">
            <a:extLst>
              <a:ext uri="{28A0092B-C50C-407E-A947-70E740481C1C}">
                <a14:useLocalDpi xmlns:a14="http://schemas.microsoft.com/office/drawing/2010/main" val="0"/>
              </a:ext>
            </a:extLst>
          </a:blip>
          <a:srcRect l="10663"/>
          <a:stretch>
            <a:fillRect/>
          </a:stretch>
        </p:blipFill>
        <p:spPr bwMode="auto">
          <a:xfrm>
            <a:off x="3124200" y="2571750"/>
            <a:ext cx="5959475"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Text Box 5"/>
          <p:cNvSpPr txBox="1">
            <a:spLocks noChangeArrowheads="1"/>
          </p:cNvSpPr>
          <p:nvPr/>
        </p:nvSpPr>
        <p:spPr bwMode="auto">
          <a:xfrm>
            <a:off x="3789363" y="4364038"/>
            <a:ext cx="8343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chemeClr val="accent1"/>
                </a:solidFill>
                <a:latin typeface="Calibri" pitchFamily="34" charset="0"/>
              </a:rPr>
              <a:t>!</a:t>
            </a:r>
            <a:r>
              <a:rPr lang="en-US" altLang="zh-CN" sz="1600" b="0" dirty="0" err="1">
                <a:solidFill>
                  <a:schemeClr val="accent1"/>
                </a:solidFill>
                <a:latin typeface="Calibri" pitchFamily="34" charset="0"/>
              </a:rPr>
              <a:t>isStore</a:t>
            </a:r>
            <a:endParaRPr lang="en-US" altLang="zh-CN" sz="1600" b="0" dirty="0">
              <a:solidFill>
                <a:schemeClr val="accent1"/>
              </a:solidFill>
              <a:latin typeface="Calibri" pitchFamily="34" charset="0"/>
            </a:endParaRPr>
          </a:p>
        </p:txBody>
      </p:sp>
      <p:sp>
        <p:nvSpPr>
          <p:cNvPr id="18439" name="Text Box 6"/>
          <p:cNvSpPr txBox="1">
            <a:spLocks noChangeArrowheads="1"/>
          </p:cNvSpPr>
          <p:nvPr/>
        </p:nvSpPr>
        <p:spPr bwMode="auto">
          <a:xfrm>
            <a:off x="7599363" y="2444750"/>
            <a:ext cx="7670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err="1">
                <a:solidFill>
                  <a:schemeClr val="accent1"/>
                </a:solidFill>
                <a:latin typeface="Calibri" pitchFamily="34" charset="0"/>
              </a:rPr>
              <a:t>isStore</a:t>
            </a:r>
            <a:endParaRPr lang="en-US" altLang="zh-CN" sz="1600" b="0" dirty="0">
              <a:solidFill>
                <a:schemeClr val="accent1"/>
              </a:solidFill>
              <a:latin typeface="Calibri" pitchFamily="34" charset="0"/>
            </a:endParaRPr>
          </a:p>
        </p:txBody>
      </p:sp>
      <p:sp>
        <p:nvSpPr>
          <p:cNvPr id="18440" name="Text Box 7"/>
          <p:cNvSpPr txBox="1">
            <a:spLocks noChangeArrowheads="1"/>
          </p:cNvSpPr>
          <p:nvPr/>
        </p:nvSpPr>
        <p:spPr bwMode="auto">
          <a:xfrm>
            <a:off x="7659688" y="4897438"/>
            <a:ext cx="71205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err="1">
                <a:solidFill>
                  <a:schemeClr val="accent1"/>
                </a:solidFill>
                <a:latin typeface="Calibri" pitchFamily="34" charset="0"/>
              </a:rPr>
              <a:t>isLoad</a:t>
            </a:r>
            <a:endParaRPr lang="en-US" altLang="zh-CN" sz="1600" b="0" dirty="0">
              <a:solidFill>
                <a:schemeClr val="accent1"/>
              </a:solidFill>
              <a:latin typeface="Calibri" pitchFamily="34" charset="0"/>
            </a:endParaRPr>
          </a:p>
        </p:txBody>
      </p:sp>
      <p:sp>
        <p:nvSpPr>
          <p:cNvPr id="18441" name="Freeform 8"/>
          <p:cNvSpPr>
            <a:spLocks/>
          </p:cNvSpPr>
          <p:nvPr/>
        </p:nvSpPr>
        <p:spPr bwMode="auto">
          <a:xfrm>
            <a:off x="5514975" y="3529013"/>
            <a:ext cx="131763" cy="533400"/>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8442" name="Line 9"/>
          <p:cNvSpPr>
            <a:spLocks noChangeShapeType="1"/>
          </p:cNvSpPr>
          <p:nvPr/>
        </p:nvSpPr>
        <p:spPr bwMode="auto">
          <a:xfrm flipH="1">
            <a:off x="5584825" y="4005263"/>
            <a:ext cx="0" cy="53340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3" name="Text Box 10"/>
          <p:cNvSpPr txBox="1">
            <a:spLocks noChangeArrowheads="1"/>
          </p:cNvSpPr>
          <p:nvPr/>
        </p:nvSpPr>
        <p:spPr bwMode="auto">
          <a:xfrm>
            <a:off x="5626100" y="4349750"/>
            <a:ext cx="622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ALUSrc</a:t>
            </a:r>
          </a:p>
        </p:txBody>
      </p:sp>
      <p:sp>
        <p:nvSpPr>
          <p:cNvPr id="18444" name="Text Box 11"/>
          <p:cNvSpPr txBox="1">
            <a:spLocks noChangeArrowheads="1"/>
          </p:cNvSpPr>
          <p:nvPr/>
        </p:nvSpPr>
        <p:spPr bwMode="auto">
          <a:xfrm>
            <a:off x="5576888" y="4502150"/>
            <a:ext cx="7344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err="1">
                <a:solidFill>
                  <a:schemeClr val="accent1"/>
                </a:solidFill>
                <a:latin typeface="Calibri" pitchFamily="34" charset="0"/>
              </a:rPr>
              <a:t>isItype</a:t>
            </a:r>
            <a:endParaRPr lang="en-US" altLang="zh-CN" sz="1600" b="0" dirty="0">
              <a:solidFill>
                <a:schemeClr val="accent1"/>
              </a:solidFill>
              <a:latin typeface="Calibri" pitchFamily="34" charset="0"/>
            </a:endParaRPr>
          </a:p>
        </p:txBody>
      </p:sp>
      <p:sp>
        <p:nvSpPr>
          <p:cNvPr id="18445" name="Line 12"/>
          <p:cNvSpPr>
            <a:spLocks noChangeShapeType="1"/>
          </p:cNvSpPr>
          <p:nvPr/>
        </p:nvSpPr>
        <p:spPr bwMode="auto">
          <a:xfrm flipV="1">
            <a:off x="5130800" y="3798888"/>
            <a:ext cx="374650" cy="63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6" name="Line 13"/>
          <p:cNvSpPr>
            <a:spLocks noChangeShapeType="1"/>
          </p:cNvSpPr>
          <p:nvPr/>
        </p:nvSpPr>
        <p:spPr bwMode="auto">
          <a:xfrm>
            <a:off x="5121275" y="3636963"/>
            <a:ext cx="387350"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7" name="Line 14"/>
          <p:cNvSpPr>
            <a:spLocks noChangeShapeType="1"/>
          </p:cNvSpPr>
          <p:nvPr/>
        </p:nvSpPr>
        <p:spPr bwMode="auto">
          <a:xfrm>
            <a:off x="5464175" y="3941763"/>
            <a:ext cx="571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8" name="Line 15"/>
          <p:cNvSpPr>
            <a:spLocks noChangeShapeType="1"/>
          </p:cNvSpPr>
          <p:nvPr/>
        </p:nvSpPr>
        <p:spPr bwMode="auto">
          <a:xfrm flipV="1">
            <a:off x="5318125" y="3656013"/>
            <a:ext cx="0" cy="171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9" name="Line 16"/>
          <p:cNvSpPr>
            <a:spLocks noChangeShapeType="1"/>
          </p:cNvSpPr>
          <p:nvPr/>
        </p:nvSpPr>
        <p:spPr bwMode="auto">
          <a:xfrm flipV="1">
            <a:off x="5464175" y="3754438"/>
            <a:ext cx="0" cy="1714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0" name="Freeform 17"/>
          <p:cNvSpPr>
            <a:spLocks/>
          </p:cNvSpPr>
          <p:nvPr/>
        </p:nvSpPr>
        <p:spPr bwMode="auto">
          <a:xfrm flipH="1">
            <a:off x="6116638" y="5202238"/>
            <a:ext cx="131762" cy="533400"/>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8451" name="Freeform 18"/>
          <p:cNvSpPr>
            <a:spLocks/>
          </p:cNvSpPr>
          <p:nvPr/>
        </p:nvSpPr>
        <p:spPr bwMode="auto">
          <a:xfrm>
            <a:off x="6248400" y="3582988"/>
            <a:ext cx="685800" cy="1752600"/>
          </a:xfrm>
          <a:custGeom>
            <a:avLst/>
            <a:gdLst>
              <a:gd name="T0" fmla="*/ 2147483647 w 288"/>
              <a:gd name="T1" fmla="*/ 0 h 624"/>
              <a:gd name="T2" fmla="*/ 2147483647 w 288"/>
              <a:gd name="T3" fmla="*/ 2147483647 h 624"/>
              <a:gd name="T4" fmla="*/ 0 w 288"/>
              <a:gd name="T5" fmla="*/ 2147483647 h 624"/>
              <a:gd name="T6" fmla="*/ 0 60000 65536"/>
              <a:gd name="T7" fmla="*/ 0 60000 65536"/>
              <a:gd name="T8" fmla="*/ 0 60000 65536"/>
              <a:gd name="T9" fmla="*/ 0 w 288"/>
              <a:gd name="T10" fmla="*/ 0 h 624"/>
              <a:gd name="T11" fmla="*/ 288 w 288"/>
              <a:gd name="T12" fmla="*/ 624 h 624"/>
            </a:gdLst>
            <a:ahLst/>
            <a:cxnLst>
              <a:cxn ang="T6">
                <a:pos x="T0" y="T1"/>
              </a:cxn>
              <a:cxn ang="T7">
                <a:pos x="T2" y="T3"/>
              </a:cxn>
              <a:cxn ang="T8">
                <a:pos x="T4" y="T5"/>
              </a:cxn>
            </a:cxnLst>
            <a:rect l="T9" t="T10" r="T11" b="T12"/>
            <a:pathLst>
              <a:path w="288" h="624">
                <a:moveTo>
                  <a:pt x="288" y="0"/>
                </a:moveTo>
                <a:lnTo>
                  <a:pt x="288" y="624"/>
                </a:lnTo>
                <a:lnTo>
                  <a:pt x="0" y="624"/>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2" name="Line 19"/>
          <p:cNvSpPr>
            <a:spLocks noChangeShapeType="1"/>
          </p:cNvSpPr>
          <p:nvPr/>
        </p:nvSpPr>
        <p:spPr bwMode="auto">
          <a:xfrm flipH="1">
            <a:off x="6257925" y="5478463"/>
            <a:ext cx="2895600"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3" name="Freeform 20"/>
          <p:cNvSpPr>
            <a:spLocks/>
          </p:cNvSpPr>
          <p:nvPr/>
        </p:nvSpPr>
        <p:spPr bwMode="auto">
          <a:xfrm>
            <a:off x="6248400" y="5440363"/>
            <a:ext cx="2800350" cy="133350"/>
          </a:xfrm>
          <a:custGeom>
            <a:avLst/>
            <a:gdLst>
              <a:gd name="T0" fmla="*/ 2147483647 w 1764"/>
              <a:gd name="T1" fmla="*/ 0 h 84"/>
              <a:gd name="T2" fmla="*/ 2147483647 w 1764"/>
              <a:gd name="T3" fmla="*/ 2147483647 h 84"/>
              <a:gd name="T4" fmla="*/ 0 w 1764"/>
              <a:gd name="T5" fmla="*/ 2147483647 h 84"/>
              <a:gd name="T6" fmla="*/ 0 60000 65536"/>
              <a:gd name="T7" fmla="*/ 0 60000 65536"/>
              <a:gd name="T8" fmla="*/ 0 60000 65536"/>
              <a:gd name="T9" fmla="*/ 0 w 1764"/>
              <a:gd name="T10" fmla="*/ 0 h 84"/>
              <a:gd name="T11" fmla="*/ 1764 w 1764"/>
              <a:gd name="T12" fmla="*/ 84 h 84"/>
            </a:gdLst>
            <a:ahLst/>
            <a:cxnLst>
              <a:cxn ang="T6">
                <a:pos x="T0" y="T1"/>
              </a:cxn>
              <a:cxn ang="T7">
                <a:pos x="T2" y="T3"/>
              </a:cxn>
              <a:cxn ang="T8">
                <a:pos x="T4" y="T5"/>
              </a:cxn>
            </a:cxnLst>
            <a:rect l="T9" t="T10" r="T11" b="T12"/>
            <a:pathLst>
              <a:path w="1764" h="84">
                <a:moveTo>
                  <a:pt x="1764" y="0"/>
                </a:moveTo>
                <a:lnTo>
                  <a:pt x="1764" y="84"/>
                </a:lnTo>
                <a:lnTo>
                  <a:pt x="0" y="84"/>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4" name="Line 21"/>
          <p:cNvSpPr>
            <a:spLocks noChangeShapeType="1"/>
          </p:cNvSpPr>
          <p:nvPr/>
        </p:nvSpPr>
        <p:spPr bwMode="auto">
          <a:xfrm flipH="1">
            <a:off x="6172200" y="5640388"/>
            <a:ext cx="0" cy="30480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5" name="Text Box 22"/>
          <p:cNvSpPr txBox="1">
            <a:spLocks noChangeArrowheads="1"/>
          </p:cNvSpPr>
          <p:nvPr/>
        </p:nvSpPr>
        <p:spPr bwMode="auto">
          <a:xfrm>
            <a:off x="5349875" y="5797550"/>
            <a:ext cx="876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MemtoReg</a:t>
            </a:r>
          </a:p>
        </p:txBody>
      </p:sp>
      <p:sp>
        <p:nvSpPr>
          <p:cNvPr id="18456" name="Text Box 23"/>
          <p:cNvSpPr txBox="1">
            <a:spLocks noChangeArrowheads="1"/>
          </p:cNvSpPr>
          <p:nvPr/>
        </p:nvSpPr>
        <p:spPr bwMode="auto">
          <a:xfrm>
            <a:off x="5786438" y="6026150"/>
            <a:ext cx="7248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err="1">
                <a:solidFill>
                  <a:schemeClr val="accent1"/>
                </a:solidFill>
                <a:latin typeface="Calibri" pitchFamily="34" charset="0"/>
              </a:rPr>
              <a:t>isLoad</a:t>
            </a:r>
            <a:endParaRPr lang="en-US" altLang="zh-CN" sz="1600" b="0" dirty="0">
              <a:solidFill>
                <a:schemeClr val="accent1"/>
              </a:solidFill>
              <a:latin typeface="Calibri" pitchFamily="34" charset="0"/>
            </a:endParaRPr>
          </a:p>
        </p:txBody>
      </p:sp>
      <p:sp>
        <p:nvSpPr>
          <p:cNvPr id="18457" name="Oval 24"/>
          <p:cNvSpPr>
            <a:spLocks noChangeArrowheads="1"/>
          </p:cNvSpPr>
          <p:nvPr/>
        </p:nvSpPr>
        <p:spPr bwMode="auto">
          <a:xfrm>
            <a:off x="6886575" y="3544888"/>
            <a:ext cx="76200" cy="76200"/>
          </a:xfrm>
          <a:prstGeom prst="ellipse">
            <a:avLst/>
          </a:prstGeom>
          <a:solidFill>
            <a:schemeClr val="tx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zh-CN">
              <a:latin typeface="Calibri" pitchFamily="34" charset="0"/>
            </a:endParaRPr>
          </a:p>
        </p:txBody>
      </p:sp>
      <p:grpSp>
        <p:nvGrpSpPr>
          <p:cNvPr id="18458" name="Group 25"/>
          <p:cNvGrpSpPr>
            <a:grpSpLocks/>
          </p:cNvGrpSpPr>
          <p:nvPr/>
        </p:nvGrpSpPr>
        <p:grpSpPr bwMode="auto">
          <a:xfrm>
            <a:off x="2452688" y="3201988"/>
            <a:ext cx="1031875" cy="1423987"/>
            <a:chOff x="1545" y="2304"/>
            <a:chExt cx="650" cy="897"/>
          </a:xfrm>
        </p:grpSpPr>
        <p:sp>
          <p:nvSpPr>
            <p:cNvPr id="18461" name="Freeform 26"/>
            <p:cNvSpPr>
              <a:spLocks/>
            </p:cNvSpPr>
            <p:nvPr/>
          </p:nvSpPr>
          <p:spPr bwMode="auto">
            <a:xfrm>
              <a:off x="2112" y="2352"/>
              <a:ext cx="83" cy="336"/>
            </a:xfrm>
            <a:custGeom>
              <a:avLst/>
              <a:gdLst>
                <a:gd name="T0" fmla="*/ 0 w 290"/>
                <a:gd name="T1" fmla="*/ 0 h 768"/>
                <a:gd name="T2" fmla="*/ 0 w 290"/>
                <a:gd name="T3" fmla="*/ 0 h 768"/>
                <a:gd name="T4" fmla="*/ 0 w 290"/>
                <a:gd name="T5" fmla="*/ 0 h 768"/>
                <a:gd name="T6" fmla="*/ 0 w 290"/>
                <a:gd name="T7" fmla="*/ 0 h 768"/>
                <a:gd name="T8" fmla="*/ 0 w 290"/>
                <a:gd name="T9" fmla="*/ 0 h 768"/>
                <a:gd name="T10" fmla="*/ 0 w 290"/>
                <a:gd name="T11" fmla="*/ 0 h 768"/>
                <a:gd name="T12" fmla="*/ 0 w 290"/>
                <a:gd name="T13" fmla="*/ 0 h 768"/>
                <a:gd name="T14" fmla="*/ 0 w 290"/>
                <a:gd name="T15" fmla="*/ 0 h 768"/>
                <a:gd name="T16" fmla="*/ 0 w 290"/>
                <a:gd name="T17" fmla="*/ 0 h 768"/>
                <a:gd name="T18" fmla="*/ 0 w 290"/>
                <a:gd name="T19" fmla="*/ 0 h 768"/>
                <a:gd name="T20" fmla="*/ 0 w 290"/>
                <a:gd name="T21" fmla="*/ 0 h 768"/>
                <a:gd name="T22" fmla="*/ 0 w 290"/>
                <a:gd name="T23" fmla="*/ 0 h 768"/>
                <a:gd name="T24" fmla="*/ 0 w 290"/>
                <a:gd name="T25" fmla="*/ 0 h 768"/>
                <a:gd name="T26" fmla="*/ 0 w 290"/>
                <a:gd name="T27" fmla="*/ 0 h 768"/>
                <a:gd name="T28" fmla="*/ 0 w 290"/>
                <a:gd name="T29" fmla="*/ 0 h 768"/>
                <a:gd name="T30" fmla="*/ 0 w 290"/>
                <a:gd name="T31" fmla="*/ 0 h 768"/>
                <a:gd name="T32" fmla="*/ 0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18462" name="Freeform 27"/>
            <p:cNvSpPr>
              <a:spLocks/>
            </p:cNvSpPr>
            <p:nvPr/>
          </p:nvSpPr>
          <p:spPr bwMode="auto">
            <a:xfrm>
              <a:off x="2064" y="2304"/>
              <a:ext cx="48" cy="144"/>
            </a:xfrm>
            <a:custGeom>
              <a:avLst/>
              <a:gdLst>
                <a:gd name="T0" fmla="*/ 0 w 48"/>
                <a:gd name="T1" fmla="*/ 0 h 144"/>
                <a:gd name="T2" fmla="*/ 0 w 48"/>
                <a:gd name="T3" fmla="*/ 144 h 144"/>
                <a:gd name="T4" fmla="*/ 48 w 48"/>
                <a:gd name="T5" fmla="*/ 144 h 144"/>
                <a:gd name="T6" fmla="*/ 0 60000 65536"/>
                <a:gd name="T7" fmla="*/ 0 60000 65536"/>
                <a:gd name="T8" fmla="*/ 0 60000 65536"/>
                <a:gd name="T9" fmla="*/ 0 w 48"/>
                <a:gd name="T10" fmla="*/ 0 h 144"/>
                <a:gd name="T11" fmla="*/ 48 w 48"/>
                <a:gd name="T12" fmla="*/ 144 h 144"/>
              </a:gdLst>
              <a:ahLst/>
              <a:cxnLst>
                <a:cxn ang="T6">
                  <a:pos x="T0" y="T1"/>
                </a:cxn>
                <a:cxn ang="T7">
                  <a:pos x="T2" y="T3"/>
                </a:cxn>
                <a:cxn ang="T8">
                  <a:pos x="T4" y="T5"/>
                </a:cxn>
              </a:cxnLst>
              <a:rect l="T9" t="T10" r="T11" b="T12"/>
              <a:pathLst>
                <a:path w="48" h="144">
                  <a:moveTo>
                    <a:pt x="0" y="0"/>
                  </a:moveTo>
                  <a:lnTo>
                    <a:pt x="0" y="144"/>
                  </a:lnTo>
                  <a:lnTo>
                    <a:pt x="48" y="14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63" name="Text Box 28"/>
            <p:cNvSpPr txBox="1">
              <a:spLocks noChangeArrowheads="1"/>
            </p:cNvSpPr>
            <p:nvPr/>
          </p:nvSpPr>
          <p:spPr bwMode="auto">
            <a:xfrm>
              <a:off x="1604" y="2902"/>
              <a:ext cx="43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RegDest</a:t>
              </a:r>
            </a:p>
          </p:txBody>
        </p:sp>
        <p:sp>
          <p:nvSpPr>
            <p:cNvPr id="18464" name="Freeform 29"/>
            <p:cNvSpPr>
              <a:spLocks/>
            </p:cNvSpPr>
            <p:nvPr/>
          </p:nvSpPr>
          <p:spPr bwMode="auto">
            <a:xfrm>
              <a:off x="1872" y="2640"/>
              <a:ext cx="288" cy="288"/>
            </a:xfrm>
            <a:custGeom>
              <a:avLst/>
              <a:gdLst>
                <a:gd name="T0" fmla="*/ 288 w 288"/>
                <a:gd name="T1" fmla="*/ 0 h 288"/>
                <a:gd name="T2" fmla="*/ 288 w 288"/>
                <a:gd name="T3" fmla="*/ 96 h 288"/>
                <a:gd name="T4" fmla="*/ 0 w 288"/>
                <a:gd name="T5" fmla="*/ 288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288" y="0"/>
                  </a:moveTo>
                  <a:lnTo>
                    <a:pt x="288" y="96"/>
                  </a:lnTo>
                  <a:lnTo>
                    <a:pt x="0" y="288"/>
                  </a:lnTo>
                </a:path>
              </a:pathLst>
            </a:custGeom>
            <a:noFill/>
            <a:ln w="28575">
              <a:solidFill>
                <a:srgbClr val="FF99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65" name="Rectangle 30"/>
            <p:cNvSpPr>
              <a:spLocks noChangeArrowheads="1"/>
            </p:cNvSpPr>
            <p:nvPr/>
          </p:nvSpPr>
          <p:spPr bwMode="auto">
            <a:xfrm>
              <a:off x="1545" y="2988"/>
              <a:ext cx="47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r>
                <a:rPr lang="en-US" altLang="zh-CN" sz="1600" b="0" dirty="0" err="1">
                  <a:latin typeface="Calibri" pitchFamily="34" charset="0"/>
                </a:rPr>
                <a:t>isItype</a:t>
              </a:r>
              <a:endParaRPr lang="en-US" altLang="zh-CN" sz="1600" b="0" dirty="0">
                <a:latin typeface="Calibri" pitchFamily="34" charset="0"/>
              </a:endParaRPr>
            </a:p>
          </p:txBody>
        </p:sp>
      </p:grpSp>
      <p:sp>
        <p:nvSpPr>
          <p:cNvPr id="18459" name="Rectangle 31"/>
          <p:cNvSpPr>
            <a:spLocks noChangeArrowheads="1"/>
          </p:cNvSpPr>
          <p:nvPr/>
        </p:nvSpPr>
        <p:spPr bwMode="auto">
          <a:xfrm>
            <a:off x="6194425" y="3190875"/>
            <a:ext cx="381000" cy="1524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p>
            <a:endParaRPr lang="zh-CN" altLang="zh-CN">
              <a:latin typeface="Calibri" pitchFamily="34" charset="0"/>
            </a:endParaRPr>
          </a:p>
        </p:txBody>
      </p:sp>
      <p:sp>
        <p:nvSpPr>
          <p:cNvPr id="18460" name="Line 32"/>
          <p:cNvSpPr>
            <a:spLocks noChangeShapeType="1"/>
          </p:cNvSpPr>
          <p:nvPr/>
        </p:nvSpPr>
        <p:spPr bwMode="auto">
          <a:xfrm>
            <a:off x="6596063" y="3246438"/>
            <a:ext cx="298450"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17</a:t>
            </a:fld>
            <a:endParaRPr lang="zh-CN" alt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571316"/>
          </a:xfrm>
          <a:prstGeom prst="rect">
            <a:avLst/>
          </a:prstGeom>
        </p:spPr>
        <p:txBody>
          <a:bodyPr vert="horz" wrap="square" lIns="0" tIns="0" rIns="0" bIns="0" rtlCol="0">
            <a:spAutoFit/>
          </a:bodyPr>
          <a:lstStyle/>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指令处理步骤</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算术逻辑指令数据通路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访存指令的数据通路</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solidFill>
                  <a:srgbClr val="FF0000"/>
                </a:solidFill>
                <a:latin typeface="微软雅黑" panose="020B0503020204020204" pitchFamily="34" charset="-122"/>
                <a:ea typeface="微软雅黑" panose="020B0503020204020204" pitchFamily="34" charset="-122"/>
                <a:cs typeface="Calibri" panose="020F0502020204030204"/>
              </a:rPr>
              <a:t>控制流指令数据通路</a:t>
            </a:r>
            <a:endParaRPr lang="en-US" altLang="zh-CN" sz="2800" b="0" spc="-60"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单周期控制逻辑</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单周期性能分析</a:t>
            </a:r>
            <a:endParaRPr sz="2800" b="0" spc="-60" dirty="0">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18</a:t>
            </a:fld>
            <a:endParaRPr lang="zh-CN" altLang="en-US"/>
          </a:p>
        </p:txBody>
      </p:sp>
    </p:spTree>
    <p:extLst>
      <p:ext uri="{BB962C8B-B14F-4D97-AF65-F5344CB8AC3E}">
        <p14:creationId xmlns:p14="http://schemas.microsoft.com/office/powerpoint/2010/main" val="2364108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76200"/>
            <a:ext cx="8229600" cy="990600"/>
          </a:xfrm>
        </p:spPr>
        <p:txBody>
          <a:bodyPr/>
          <a:lstStyle/>
          <a:p>
            <a:pPr eaLnBrk="1" hangingPunct="1"/>
            <a:r>
              <a:rPr lang="zh-CN" altLang="en-US" dirty="0"/>
              <a:t>无条件跳转指令</a:t>
            </a:r>
            <a:endParaRPr lang="en-US" altLang="zh-CN" dirty="0"/>
          </a:p>
        </p:txBody>
      </p:sp>
      <p:sp>
        <p:nvSpPr>
          <p:cNvPr id="20483" name="Content Placeholder 2"/>
          <p:cNvSpPr>
            <a:spLocks noGrp="1"/>
          </p:cNvSpPr>
          <p:nvPr>
            <p:ph idx="1"/>
          </p:nvPr>
        </p:nvSpPr>
        <p:spPr>
          <a:xfrm>
            <a:off x="476054" y="1077011"/>
            <a:ext cx="8229600" cy="5181600"/>
          </a:xfrm>
        </p:spPr>
        <p:txBody>
          <a:bodyPr/>
          <a:lstStyle/>
          <a:p>
            <a:pPr eaLnBrk="1" hangingPunct="1"/>
            <a:r>
              <a:rPr lang="zh-CN" altLang="en-US" dirty="0"/>
              <a:t>汇编</a:t>
            </a:r>
            <a:endParaRPr lang="en-US" altLang="zh-CN" dirty="0"/>
          </a:p>
          <a:p>
            <a:pPr eaLnBrk="1" hangingPunct="1">
              <a:spcBef>
                <a:spcPts val="1200"/>
              </a:spcBef>
              <a:spcAft>
                <a:spcPts val="600"/>
              </a:spcAft>
              <a:buFont typeface="Wingdings" pitchFamily="2" charset="2"/>
              <a:buNone/>
            </a:pPr>
            <a:r>
              <a:rPr lang="en-US" altLang="zh-CN" dirty="0">
                <a:solidFill>
                  <a:srgbClr val="00B0F0"/>
                </a:solidFill>
                <a:ea typeface="ＭＳ Ｐゴシック" pitchFamily="34" charset="-128"/>
              </a:rPr>
              <a:t>	</a:t>
            </a:r>
            <a:r>
              <a:rPr lang="en-US" altLang="zh-CN" sz="2800" dirty="0">
                <a:solidFill>
                  <a:srgbClr val="00B0F0"/>
                </a:solidFill>
                <a:ea typeface="ＭＳ Ｐゴシック" pitchFamily="34" charset="-128"/>
              </a:rPr>
              <a:t>J </a:t>
            </a:r>
            <a:r>
              <a:rPr lang="en-US" altLang="zh-CN" sz="2800" dirty="0" err="1">
                <a:solidFill>
                  <a:srgbClr val="00B0F0"/>
                </a:solidFill>
                <a:ea typeface="ＭＳ Ｐゴシック" pitchFamily="34" charset="-128"/>
              </a:rPr>
              <a:t>immediate</a:t>
            </a:r>
            <a:r>
              <a:rPr lang="en-US" altLang="zh-CN" sz="2800" baseline="-25000" dirty="0" err="1">
                <a:solidFill>
                  <a:srgbClr val="00B0F0"/>
                </a:solidFill>
                <a:ea typeface="ＭＳ Ｐゴシック" pitchFamily="34" charset="-128"/>
              </a:rPr>
              <a:t>26</a:t>
            </a:r>
            <a:endParaRPr lang="en-US" altLang="zh-CN" dirty="0">
              <a:solidFill>
                <a:srgbClr val="00B0F0"/>
              </a:solidFill>
              <a:ea typeface="ＭＳ Ｐゴシック" pitchFamily="34" charset="-128"/>
            </a:endParaRPr>
          </a:p>
          <a:p>
            <a:pPr eaLnBrk="1" hangingPunct="1"/>
            <a:r>
              <a:rPr lang="zh-CN" altLang="en-US" dirty="0"/>
              <a:t>机器编码</a:t>
            </a:r>
            <a:endParaRPr lang="en-US" altLang="zh-CN" dirty="0"/>
          </a:p>
          <a:p>
            <a:pPr eaLnBrk="1" hangingPunct="1"/>
            <a:endParaRPr lang="en-US" altLang="zh-CN" dirty="0">
              <a:ea typeface="ＭＳ Ｐゴシック" pitchFamily="34" charset="-128"/>
            </a:endParaRPr>
          </a:p>
          <a:p>
            <a:pPr eaLnBrk="1" hangingPunct="1"/>
            <a:endParaRPr lang="en-US" altLang="zh-CN" dirty="0">
              <a:ea typeface="ＭＳ Ｐゴシック" pitchFamily="34" charset="-128"/>
            </a:endParaRPr>
          </a:p>
          <a:p>
            <a:pPr eaLnBrk="1" hangingPunct="1"/>
            <a:r>
              <a:rPr lang="zh-CN" altLang="en-US" dirty="0"/>
              <a:t>语义</a:t>
            </a:r>
            <a:endParaRPr lang="en-US" altLang="zh-CN" dirty="0"/>
          </a:p>
          <a:p>
            <a:pPr eaLnBrk="1" hangingPunct="1">
              <a:buFont typeface="Wingdings" pitchFamily="2" charset="2"/>
              <a:buNone/>
            </a:pPr>
            <a:r>
              <a:rPr lang="en-US" altLang="zh-CN" dirty="0">
                <a:ea typeface="ＭＳ Ｐゴシック" pitchFamily="34" charset="-128"/>
              </a:rPr>
              <a:t>	</a:t>
            </a:r>
            <a:r>
              <a:rPr lang="en-US" altLang="zh-CN" sz="2400" dirty="0">
                <a:solidFill>
                  <a:srgbClr val="00B0F0"/>
                </a:solidFill>
                <a:ea typeface="ＭＳ Ｐゴシック" pitchFamily="34" charset="-128"/>
              </a:rPr>
              <a:t>if MEM[PC]==J </a:t>
            </a:r>
            <a:r>
              <a:rPr lang="en-US" altLang="zh-CN" sz="2400" dirty="0" err="1">
                <a:solidFill>
                  <a:srgbClr val="00B0F0"/>
                </a:solidFill>
                <a:ea typeface="ＭＳ Ｐゴシック" pitchFamily="34" charset="-128"/>
              </a:rPr>
              <a:t>immediate</a:t>
            </a:r>
            <a:r>
              <a:rPr lang="en-US" altLang="zh-CN" sz="2400" baseline="-25000" dirty="0" err="1">
                <a:solidFill>
                  <a:srgbClr val="00B0F0"/>
                </a:solidFill>
                <a:ea typeface="ＭＳ Ｐゴシック" pitchFamily="34" charset="-128"/>
              </a:rPr>
              <a:t>26</a:t>
            </a:r>
            <a:endParaRPr lang="en-US" altLang="zh-CN" sz="2400" dirty="0">
              <a:solidFill>
                <a:srgbClr val="00B0F0"/>
              </a:solidFill>
              <a:ea typeface="ＭＳ Ｐゴシック" pitchFamily="34" charset="-128"/>
            </a:endParaRPr>
          </a:p>
          <a:p>
            <a:pPr lvl="1" eaLnBrk="1" hangingPunct="1">
              <a:buFontTx/>
              <a:buNone/>
            </a:pPr>
            <a:r>
              <a:rPr lang="en-US" altLang="zh-CN" sz="2400" dirty="0">
                <a:solidFill>
                  <a:srgbClr val="00B0F0"/>
                </a:solidFill>
                <a:ea typeface="ＭＳ Ｐゴシック" pitchFamily="34" charset="-128"/>
              </a:rPr>
              <a:t>   target =</a:t>
            </a:r>
            <a:r>
              <a:rPr lang="en-US" altLang="zh-CN" sz="2400" dirty="0">
                <a:solidFill>
                  <a:srgbClr val="00B0F0"/>
                </a:solidFill>
                <a:ea typeface="ＭＳ Ｐゴシック" pitchFamily="34" charset="-128"/>
                <a:sym typeface="Symbol" pitchFamily="18" charset="2"/>
              </a:rPr>
              <a:t> { </a:t>
            </a:r>
            <a:r>
              <a:rPr lang="en-US" altLang="zh-CN" dirty="0">
                <a:solidFill>
                  <a:srgbClr val="00B0F0"/>
                </a:solidFill>
                <a:ea typeface="ＭＳ Ｐゴシック" pitchFamily="34" charset="-128"/>
                <a:sym typeface="Symbol" pitchFamily="18" charset="2"/>
              </a:rPr>
              <a:t>(</a:t>
            </a:r>
            <a:r>
              <a:rPr lang="en-US" altLang="zh-CN" dirty="0">
                <a:solidFill>
                  <a:srgbClr val="FF0000"/>
                </a:solidFill>
                <a:ea typeface="ＭＳ Ｐゴシック" pitchFamily="34" charset="-128"/>
                <a:sym typeface="Symbol" pitchFamily="18" charset="2"/>
              </a:rPr>
              <a:t>PC+4</a:t>
            </a:r>
            <a:r>
              <a:rPr lang="en-US" altLang="zh-CN" dirty="0">
                <a:solidFill>
                  <a:srgbClr val="00B0F0"/>
                </a:solidFill>
                <a:ea typeface="ＭＳ Ｐゴシック" pitchFamily="34" charset="-128"/>
                <a:sym typeface="Symbol" pitchFamily="18" charset="2"/>
              </a:rPr>
              <a:t>)</a:t>
            </a:r>
            <a:r>
              <a:rPr lang="en-US" altLang="zh-CN" sz="2400" dirty="0">
                <a:solidFill>
                  <a:srgbClr val="00B0F0"/>
                </a:solidFill>
                <a:ea typeface="ＭＳ Ｐゴシック" pitchFamily="34" charset="-128"/>
                <a:sym typeface="Symbol" pitchFamily="18" charset="2"/>
              </a:rPr>
              <a:t>[31:28],</a:t>
            </a:r>
            <a:r>
              <a:rPr lang="en-US" altLang="zh-CN" sz="2400" dirty="0">
                <a:solidFill>
                  <a:srgbClr val="00B0F0"/>
                </a:solidFill>
                <a:ea typeface="ＭＳ Ｐゴシック" pitchFamily="34" charset="-128"/>
              </a:rPr>
              <a:t> immediate</a:t>
            </a:r>
            <a:r>
              <a:rPr lang="en-US" altLang="zh-CN" sz="2400" baseline="-25000" dirty="0">
                <a:solidFill>
                  <a:srgbClr val="00B0F0"/>
                </a:solidFill>
                <a:ea typeface="ＭＳ Ｐゴシック" pitchFamily="34" charset="-128"/>
              </a:rPr>
              <a:t>26</a:t>
            </a:r>
            <a:r>
              <a:rPr lang="en-US" altLang="zh-CN" sz="2400" dirty="0">
                <a:solidFill>
                  <a:srgbClr val="00B0F0"/>
                </a:solidFill>
                <a:ea typeface="ＭＳ Ｐゴシック" pitchFamily="34" charset="-128"/>
              </a:rPr>
              <a:t>, 2</a:t>
            </a:r>
            <a:r>
              <a:rPr lang="ja-JP" altLang="en-US" sz="2400" dirty="0">
                <a:solidFill>
                  <a:srgbClr val="00B0F0"/>
                </a:solidFill>
                <a:latin typeface="+mn-ea"/>
                <a:ea typeface="+mn-ea"/>
              </a:rPr>
              <a:t>’</a:t>
            </a:r>
            <a:r>
              <a:rPr lang="en-US" altLang="ja-JP" sz="2400" dirty="0">
                <a:solidFill>
                  <a:srgbClr val="00B0F0"/>
                </a:solidFill>
              </a:rPr>
              <a:t>b00 }</a:t>
            </a:r>
            <a:endParaRPr lang="en-US" altLang="ja-JP" sz="2400" dirty="0">
              <a:solidFill>
                <a:srgbClr val="00B0F0"/>
              </a:solidFill>
              <a:sym typeface="Symbol" pitchFamily="18" charset="2"/>
            </a:endParaRPr>
          </a:p>
          <a:p>
            <a:pPr lvl="1" eaLnBrk="1" hangingPunct="1">
              <a:buFontTx/>
              <a:buNone/>
            </a:pPr>
            <a:r>
              <a:rPr lang="en-US" altLang="zh-CN" sz="2400" dirty="0">
                <a:solidFill>
                  <a:srgbClr val="00B0F0"/>
                </a:solidFill>
                <a:ea typeface="ＭＳ Ｐゴシック" pitchFamily="34" charset="-128"/>
                <a:sym typeface="Symbol" pitchFamily="18" charset="2"/>
              </a:rPr>
              <a:t>   PC  target</a:t>
            </a:r>
          </a:p>
          <a:p>
            <a:pPr eaLnBrk="1" hangingPunct="1"/>
            <a:endParaRPr lang="en-US" altLang="zh-CN" dirty="0">
              <a:ea typeface="ＭＳ Ｐゴシック" pitchFamily="34" charset="-128"/>
            </a:endParaRPr>
          </a:p>
        </p:txBody>
      </p:sp>
      <p:sp>
        <p:nvSpPr>
          <p:cNvPr id="20485" name="Rectangle 4"/>
          <p:cNvSpPr>
            <a:spLocks noChangeArrowheads="1"/>
          </p:cNvSpPr>
          <p:nvPr/>
        </p:nvSpPr>
        <p:spPr bwMode="auto">
          <a:xfrm>
            <a:off x="914400" y="3081926"/>
            <a:ext cx="11430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J</a:t>
            </a:r>
          </a:p>
          <a:p>
            <a:r>
              <a:rPr lang="en-US" altLang="zh-CN" sz="1600">
                <a:latin typeface="Calibri" pitchFamily="34" charset="0"/>
              </a:rPr>
              <a:t>6-bit</a:t>
            </a:r>
          </a:p>
        </p:txBody>
      </p:sp>
      <p:sp>
        <p:nvSpPr>
          <p:cNvPr id="20486" name="Rectangle 5"/>
          <p:cNvSpPr>
            <a:spLocks noChangeArrowheads="1"/>
          </p:cNvSpPr>
          <p:nvPr/>
        </p:nvSpPr>
        <p:spPr bwMode="auto">
          <a:xfrm>
            <a:off x="2057400" y="3081926"/>
            <a:ext cx="480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immediate</a:t>
            </a:r>
          </a:p>
          <a:p>
            <a:r>
              <a:rPr lang="en-US" altLang="zh-CN" sz="1600">
                <a:latin typeface="Calibri" pitchFamily="34" charset="0"/>
              </a:rPr>
              <a:t>26-bit</a:t>
            </a:r>
          </a:p>
        </p:txBody>
      </p:sp>
      <p:sp>
        <p:nvSpPr>
          <p:cNvPr id="20487" name="Text Box 6"/>
          <p:cNvSpPr txBox="1">
            <a:spLocks noChangeArrowheads="1"/>
          </p:cNvSpPr>
          <p:nvPr/>
        </p:nvSpPr>
        <p:spPr bwMode="auto">
          <a:xfrm>
            <a:off x="7172325" y="2951751"/>
            <a:ext cx="1057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800">
                <a:latin typeface="Calibri" pitchFamily="34" charset="0"/>
              </a:rPr>
              <a:t>J-type</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19</a:t>
            </a:fld>
            <a:endParaRPr lang="zh-CN" altLang="en-US"/>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76200"/>
            <a:ext cx="8229600" cy="990600"/>
          </a:xfrm>
        </p:spPr>
        <p:txBody>
          <a:bodyPr/>
          <a:lstStyle/>
          <a:p>
            <a:pPr eaLnBrk="1" hangingPunct="1"/>
            <a:r>
              <a:rPr lang="en-US" altLang="zh-CN" dirty="0"/>
              <a:t>J </a:t>
            </a:r>
            <a:r>
              <a:rPr lang="zh-CN" altLang="en-US" dirty="0"/>
              <a:t>数据通路</a:t>
            </a:r>
            <a:endParaRPr lang="en-US" altLang="zh-CN" dirty="0"/>
          </a:p>
        </p:txBody>
      </p:sp>
      <p:pic>
        <p:nvPicPr>
          <p:cNvPr id="21508" name="Picture 3" descr="F050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7513" y="1600200"/>
            <a:ext cx="334645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4" descr="F0509"/>
          <p:cNvPicPr>
            <a:picLocks noChangeAspect="1" noChangeArrowheads="1"/>
          </p:cNvPicPr>
          <p:nvPr/>
        </p:nvPicPr>
        <p:blipFill>
          <a:blip r:embed="rId3" cstate="print">
            <a:extLst>
              <a:ext uri="{28A0092B-C50C-407E-A947-70E740481C1C}">
                <a14:useLocalDpi xmlns:a14="http://schemas.microsoft.com/office/drawing/2010/main" val="0"/>
              </a:ext>
            </a:extLst>
          </a:blip>
          <a:srcRect l="10663"/>
          <a:stretch>
            <a:fillRect/>
          </a:stretch>
        </p:blipFill>
        <p:spPr bwMode="auto">
          <a:xfrm>
            <a:off x="3322638" y="2903538"/>
            <a:ext cx="5756275" cy="281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Freeform 5"/>
          <p:cNvSpPr>
            <a:spLocks/>
          </p:cNvSpPr>
          <p:nvPr/>
        </p:nvSpPr>
        <p:spPr bwMode="auto">
          <a:xfrm>
            <a:off x="5630863" y="3825875"/>
            <a:ext cx="128587" cy="514350"/>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21511" name="Line 6"/>
          <p:cNvSpPr>
            <a:spLocks noChangeShapeType="1"/>
          </p:cNvSpPr>
          <p:nvPr/>
        </p:nvSpPr>
        <p:spPr bwMode="auto">
          <a:xfrm flipH="1">
            <a:off x="5699125" y="4284663"/>
            <a:ext cx="0" cy="51435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2" name="Text Box 7"/>
          <p:cNvSpPr txBox="1">
            <a:spLocks noChangeArrowheads="1"/>
          </p:cNvSpPr>
          <p:nvPr/>
        </p:nvSpPr>
        <p:spPr bwMode="auto">
          <a:xfrm>
            <a:off x="5740400" y="4618038"/>
            <a:ext cx="622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ALUSrc</a:t>
            </a:r>
          </a:p>
        </p:txBody>
      </p:sp>
      <p:sp>
        <p:nvSpPr>
          <p:cNvPr id="21513" name="Line 8"/>
          <p:cNvSpPr>
            <a:spLocks noChangeShapeType="1"/>
          </p:cNvSpPr>
          <p:nvPr/>
        </p:nvSpPr>
        <p:spPr bwMode="auto">
          <a:xfrm flipV="1">
            <a:off x="5260975" y="4086225"/>
            <a:ext cx="361950" cy="63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4" name="Line 9"/>
          <p:cNvSpPr>
            <a:spLocks noChangeShapeType="1"/>
          </p:cNvSpPr>
          <p:nvPr/>
        </p:nvSpPr>
        <p:spPr bwMode="auto">
          <a:xfrm>
            <a:off x="5251450" y="3930650"/>
            <a:ext cx="37465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5" name="Line 10"/>
          <p:cNvSpPr>
            <a:spLocks noChangeShapeType="1"/>
          </p:cNvSpPr>
          <p:nvPr/>
        </p:nvSpPr>
        <p:spPr bwMode="auto">
          <a:xfrm>
            <a:off x="5583238" y="4224338"/>
            <a:ext cx="53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6" name="Line 11"/>
          <p:cNvSpPr>
            <a:spLocks noChangeShapeType="1"/>
          </p:cNvSpPr>
          <p:nvPr/>
        </p:nvSpPr>
        <p:spPr bwMode="auto">
          <a:xfrm flipV="1">
            <a:off x="5441950" y="3948113"/>
            <a:ext cx="0" cy="165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7" name="Line 12"/>
          <p:cNvSpPr>
            <a:spLocks noChangeShapeType="1"/>
          </p:cNvSpPr>
          <p:nvPr/>
        </p:nvSpPr>
        <p:spPr bwMode="auto">
          <a:xfrm flipV="1">
            <a:off x="5583238" y="4043363"/>
            <a:ext cx="0" cy="1651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 name="Group 13"/>
          <p:cNvGrpSpPr>
            <a:grpSpLocks/>
          </p:cNvGrpSpPr>
          <p:nvPr/>
        </p:nvGrpSpPr>
        <p:grpSpPr bwMode="auto">
          <a:xfrm>
            <a:off x="177800" y="1609725"/>
            <a:ext cx="2843213" cy="3114675"/>
            <a:chOff x="112" y="1014"/>
            <a:chExt cx="1791" cy="1962"/>
          </a:xfrm>
        </p:grpSpPr>
        <p:sp>
          <p:nvSpPr>
            <p:cNvPr id="21535" name="Freeform 14"/>
            <p:cNvSpPr>
              <a:spLocks/>
            </p:cNvSpPr>
            <p:nvPr/>
          </p:nvSpPr>
          <p:spPr bwMode="auto">
            <a:xfrm>
              <a:off x="214" y="1872"/>
              <a:ext cx="81" cy="324"/>
            </a:xfrm>
            <a:custGeom>
              <a:avLst/>
              <a:gdLst>
                <a:gd name="T0" fmla="*/ 0 w 290"/>
                <a:gd name="T1" fmla="*/ 0 h 768"/>
                <a:gd name="T2" fmla="*/ 0 w 290"/>
                <a:gd name="T3" fmla="*/ 0 h 768"/>
                <a:gd name="T4" fmla="*/ 0 w 290"/>
                <a:gd name="T5" fmla="*/ 0 h 768"/>
                <a:gd name="T6" fmla="*/ 0 w 290"/>
                <a:gd name="T7" fmla="*/ 0 h 768"/>
                <a:gd name="T8" fmla="*/ 0 w 290"/>
                <a:gd name="T9" fmla="*/ 0 h 768"/>
                <a:gd name="T10" fmla="*/ 0 w 290"/>
                <a:gd name="T11" fmla="*/ 0 h 768"/>
                <a:gd name="T12" fmla="*/ 0 w 290"/>
                <a:gd name="T13" fmla="*/ 0 h 768"/>
                <a:gd name="T14" fmla="*/ 0 w 290"/>
                <a:gd name="T15" fmla="*/ 0 h 768"/>
                <a:gd name="T16" fmla="*/ 0 w 290"/>
                <a:gd name="T17" fmla="*/ 0 h 768"/>
                <a:gd name="T18" fmla="*/ 0 w 290"/>
                <a:gd name="T19" fmla="*/ 0 h 768"/>
                <a:gd name="T20" fmla="*/ 0 w 290"/>
                <a:gd name="T21" fmla="*/ 0 h 768"/>
                <a:gd name="T22" fmla="*/ 0 w 290"/>
                <a:gd name="T23" fmla="*/ 0 h 768"/>
                <a:gd name="T24" fmla="*/ 0 w 290"/>
                <a:gd name="T25" fmla="*/ 0 h 768"/>
                <a:gd name="T26" fmla="*/ 0 w 290"/>
                <a:gd name="T27" fmla="*/ 0 h 768"/>
                <a:gd name="T28" fmla="*/ 0 w 290"/>
                <a:gd name="T29" fmla="*/ 0 h 768"/>
                <a:gd name="T30" fmla="*/ 0 w 290"/>
                <a:gd name="T31" fmla="*/ 0 h 768"/>
                <a:gd name="T32" fmla="*/ 0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21536" name="Line 15"/>
            <p:cNvSpPr>
              <a:spLocks noChangeShapeType="1"/>
            </p:cNvSpPr>
            <p:nvPr/>
          </p:nvSpPr>
          <p:spPr bwMode="auto">
            <a:xfrm>
              <a:off x="277" y="1014"/>
              <a:ext cx="0" cy="912"/>
            </a:xfrm>
            <a:prstGeom prst="line">
              <a:avLst/>
            </a:prstGeom>
            <a:noFill/>
            <a:ln w="571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7" name="Freeform 16"/>
            <p:cNvSpPr>
              <a:spLocks/>
            </p:cNvSpPr>
            <p:nvPr/>
          </p:nvSpPr>
          <p:spPr bwMode="auto">
            <a:xfrm>
              <a:off x="112" y="1017"/>
              <a:ext cx="192" cy="951"/>
            </a:xfrm>
            <a:custGeom>
              <a:avLst/>
              <a:gdLst>
                <a:gd name="T0" fmla="*/ 192 w 192"/>
                <a:gd name="T1" fmla="*/ 0 h 912"/>
                <a:gd name="T2" fmla="*/ 0 w 192"/>
                <a:gd name="T3" fmla="*/ 0 h 912"/>
                <a:gd name="T4" fmla="*/ 0 w 192"/>
                <a:gd name="T5" fmla="*/ 2488 h 912"/>
                <a:gd name="T6" fmla="*/ 96 w 192"/>
                <a:gd name="T7" fmla="*/ 2488 h 912"/>
                <a:gd name="T8" fmla="*/ 0 60000 65536"/>
                <a:gd name="T9" fmla="*/ 0 60000 65536"/>
                <a:gd name="T10" fmla="*/ 0 60000 65536"/>
                <a:gd name="T11" fmla="*/ 0 60000 65536"/>
                <a:gd name="T12" fmla="*/ 0 w 192"/>
                <a:gd name="T13" fmla="*/ 0 h 912"/>
                <a:gd name="T14" fmla="*/ 192 w 192"/>
                <a:gd name="T15" fmla="*/ 912 h 912"/>
              </a:gdLst>
              <a:ahLst/>
              <a:cxnLst>
                <a:cxn ang="T8">
                  <a:pos x="T0" y="T1"/>
                </a:cxn>
                <a:cxn ang="T9">
                  <a:pos x="T2" y="T3"/>
                </a:cxn>
                <a:cxn ang="T10">
                  <a:pos x="T4" y="T5"/>
                </a:cxn>
                <a:cxn ang="T11">
                  <a:pos x="T6" y="T7"/>
                </a:cxn>
              </a:cxnLst>
              <a:rect l="T12" t="T13" r="T14" b="T15"/>
              <a:pathLst>
                <a:path w="192" h="912">
                  <a:moveTo>
                    <a:pt x="192" y="0"/>
                  </a:moveTo>
                  <a:lnTo>
                    <a:pt x="0" y="0"/>
                  </a:lnTo>
                  <a:lnTo>
                    <a:pt x="0" y="912"/>
                  </a:lnTo>
                  <a:lnTo>
                    <a:pt x="96" y="912"/>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38" name="Oval 17"/>
            <p:cNvSpPr>
              <a:spLocks noChangeArrowheads="1"/>
            </p:cNvSpPr>
            <p:nvPr/>
          </p:nvSpPr>
          <p:spPr bwMode="auto">
            <a:xfrm>
              <a:off x="151" y="2496"/>
              <a:ext cx="288" cy="288"/>
            </a:xfrm>
            <a:prstGeom prst="ellipse">
              <a:avLst/>
            </a:prstGeom>
            <a:solidFill>
              <a:schemeClr val="bg1"/>
            </a:solidFill>
            <a:ln w="19050">
              <a:solidFill>
                <a:schemeClr val="tx1"/>
              </a:solidFill>
              <a:round/>
              <a:headEnd/>
              <a:tailEnd/>
            </a:ln>
          </p:spPr>
          <p:txBody>
            <a:bodyPr wrap="none" anchor="ctr"/>
            <a:lstStyle/>
            <a:p>
              <a:r>
                <a:rPr lang="en-US" altLang="zh-CN" sz="800">
                  <a:latin typeface="Calibri" pitchFamily="34" charset="0"/>
                </a:rPr>
                <a:t>concat</a:t>
              </a:r>
            </a:p>
          </p:txBody>
        </p:sp>
        <p:sp>
          <p:nvSpPr>
            <p:cNvPr id="21539" name="Freeform 18"/>
            <p:cNvSpPr>
              <a:spLocks/>
            </p:cNvSpPr>
            <p:nvPr/>
          </p:nvSpPr>
          <p:spPr bwMode="auto">
            <a:xfrm>
              <a:off x="295" y="2352"/>
              <a:ext cx="1584" cy="624"/>
            </a:xfrm>
            <a:custGeom>
              <a:avLst/>
              <a:gdLst>
                <a:gd name="T0" fmla="*/ 1584 w 1584"/>
                <a:gd name="T1" fmla="*/ 0 h 624"/>
                <a:gd name="T2" fmla="*/ 1584 w 1584"/>
                <a:gd name="T3" fmla="*/ 624 h 624"/>
                <a:gd name="T4" fmla="*/ 0 w 1584"/>
                <a:gd name="T5" fmla="*/ 624 h 624"/>
                <a:gd name="T6" fmla="*/ 0 w 1584"/>
                <a:gd name="T7" fmla="*/ 432 h 624"/>
                <a:gd name="T8" fmla="*/ 0 60000 65536"/>
                <a:gd name="T9" fmla="*/ 0 60000 65536"/>
                <a:gd name="T10" fmla="*/ 0 60000 65536"/>
                <a:gd name="T11" fmla="*/ 0 60000 65536"/>
                <a:gd name="T12" fmla="*/ 0 w 1584"/>
                <a:gd name="T13" fmla="*/ 0 h 624"/>
                <a:gd name="T14" fmla="*/ 1584 w 1584"/>
                <a:gd name="T15" fmla="*/ 624 h 624"/>
              </a:gdLst>
              <a:ahLst/>
              <a:cxnLst>
                <a:cxn ang="T8">
                  <a:pos x="T0" y="T1"/>
                </a:cxn>
                <a:cxn ang="T9">
                  <a:pos x="T2" y="T3"/>
                </a:cxn>
                <a:cxn ang="T10">
                  <a:pos x="T4" y="T5"/>
                </a:cxn>
                <a:cxn ang="T11">
                  <a:pos x="T6" y="T7"/>
                </a:cxn>
              </a:cxnLst>
              <a:rect l="T12" t="T13" r="T14" b="T15"/>
              <a:pathLst>
                <a:path w="1584" h="624">
                  <a:moveTo>
                    <a:pt x="1584" y="0"/>
                  </a:moveTo>
                  <a:lnTo>
                    <a:pt x="1584" y="624"/>
                  </a:lnTo>
                  <a:lnTo>
                    <a:pt x="0" y="624"/>
                  </a:lnTo>
                  <a:lnTo>
                    <a:pt x="0" y="432"/>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41" name="Freeform 20"/>
            <p:cNvSpPr>
              <a:spLocks/>
            </p:cNvSpPr>
            <p:nvPr/>
          </p:nvSpPr>
          <p:spPr bwMode="auto">
            <a:xfrm>
              <a:off x="112" y="2112"/>
              <a:ext cx="96" cy="534"/>
            </a:xfrm>
            <a:custGeom>
              <a:avLst/>
              <a:gdLst>
                <a:gd name="T0" fmla="*/ 44 w 96"/>
                <a:gd name="T1" fmla="*/ 528 h 534"/>
                <a:gd name="T2" fmla="*/ 0 w 96"/>
                <a:gd name="T3" fmla="*/ 534 h 534"/>
                <a:gd name="T4" fmla="*/ 0 w 96"/>
                <a:gd name="T5" fmla="*/ 0 h 534"/>
                <a:gd name="T6" fmla="*/ 96 w 96"/>
                <a:gd name="T7" fmla="*/ 0 h 534"/>
                <a:gd name="T8" fmla="*/ 0 60000 65536"/>
                <a:gd name="T9" fmla="*/ 0 60000 65536"/>
                <a:gd name="T10" fmla="*/ 0 60000 65536"/>
                <a:gd name="T11" fmla="*/ 0 60000 65536"/>
                <a:gd name="T12" fmla="*/ 0 w 96"/>
                <a:gd name="T13" fmla="*/ 0 h 534"/>
                <a:gd name="T14" fmla="*/ 96 w 96"/>
                <a:gd name="T15" fmla="*/ 534 h 534"/>
              </a:gdLst>
              <a:ahLst/>
              <a:cxnLst>
                <a:cxn ang="T8">
                  <a:pos x="T0" y="T1"/>
                </a:cxn>
                <a:cxn ang="T9">
                  <a:pos x="T2" y="T3"/>
                </a:cxn>
                <a:cxn ang="T10">
                  <a:pos x="T4" y="T5"/>
                </a:cxn>
                <a:cxn ang="T11">
                  <a:pos x="T6" y="T7"/>
                </a:cxn>
              </a:cxnLst>
              <a:rect l="T12" t="T13" r="T14" b="T15"/>
              <a:pathLst>
                <a:path w="96" h="534">
                  <a:moveTo>
                    <a:pt x="44" y="528"/>
                  </a:moveTo>
                  <a:lnTo>
                    <a:pt x="0" y="534"/>
                  </a:lnTo>
                  <a:lnTo>
                    <a:pt x="0" y="0"/>
                  </a:lnTo>
                  <a:lnTo>
                    <a:pt x="96" y="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42" name="Oval 21"/>
            <p:cNvSpPr>
              <a:spLocks noChangeArrowheads="1"/>
            </p:cNvSpPr>
            <p:nvPr/>
          </p:nvSpPr>
          <p:spPr bwMode="auto">
            <a:xfrm>
              <a:off x="1855" y="2310"/>
              <a:ext cx="48" cy="48"/>
            </a:xfrm>
            <a:prstGeom prst="ellipse">
              <a:avLst/>
            </a:prstGeom>
            <a:solidFill>
              <a:schemeClr val="tx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zh-CN">
                <a:latin typeface="Calibri" pitchFamily="34" charset="0"/>
              </a:endParaRPr>
            </a:p>
          </p:txBody>
        </p:sp>
        <p:sp>
          <p:nvSpPr>
            <p:cNvPr id="21543" name="Line 22"/>
            <p:cNvSpPr>
              <a:spLocks noChangeShapeType="1"/>
            </p:cNvSpPr>
            <p:nvPr/>
          </p:nvSpPr>
          <p:spPr bwMode="auto">
            <a:xfrm flipH="1">
              <a:off x="254" y="1582"/>
              <a:ext cx="0" cy="324"/>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4" name="Text Box 23"/>
            <p:cNvSpPr txBox="1">
              <a:spLocks noChangeArrowheads="1"/>
            </p:cNvSpPr>
            <p:nvPr/>
          </p:nvSpPr>
          <p:spPr bwMode="auto">
            <a:xfrm>
              <a:off x="263" y="1558"/>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p>
          </p:txBody>
        </p:sp>
        <p:sp>
          <p:nvSpPr>
            <p:cNvPr id="21545" name="Text Box 24"/>
            <p:cNvSpPr txBox="1">
              <a:spLocks noChangeArrowheads="1"/>
            </p:cNvSpPr>
            <p:nvPr/>
          </p:nvSpPr>
          <p:spPr bwMode="auto">
            <a:xfrm>
              <a:off x="123" y="1347"/>
              <a:ext cx="27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err="1">
                  <a:solidFill>
                    <a:schemeClr val="accent1"/>
                  </a:solidFill>
                  <a:latin typeface="Calibri" pitchFamily="34" charset="0"/>
                </a:rPr>
                <a:t>isJ</a:t>
              </a:r>
              <a:endParaRPr lang="en-US" altLang="zh-CN" sz="2000" b="0" dirty="0">
                <a:solidFill>
                  <a:schemeClr val="accent1"/>
                </a:solidFill>
                <a:latin typeface="Calibri" pitchFamily="34" charset="0"/>
              </a:endParaRPr>
            </a:p>
          </p:txBody>
        </p:sp>
      </p:grpSp>
      <p:sp>
        <p:nvSpPr>
          <p:cNvPr id="86031" name="Text Box 25"/>
          <p:cNvSpPr txBox="1">
            <a:spLocks noChangeArrowheads="1"/>
          </p:cNvSpPr>
          <p:nvPr/>
        </p:nvSpPr>
        <p:spPr bwMode="auto">
          <a:xfrm>
            <a:off x="5802673" y="5924848"/>
            <a:ext cx="33923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2400" b="0" dirty="0">
                <a:solidFill>
                  <a:srgbClr val="FF0000"/>
                </a:solidFill>
                <a:latin typeface="Calibri" pitchFamily="34" charset="0"/>
              </a:rPr>
              <a:t>JR, JAL, JALR</a:t>
            </a:r>
            <a:r>
              <a:rPr lang="zh-CN" altLang="en-US" sz="2400" b="0" dirty="0">
                <a:solidFill>
                  <a:srgbClr val="FF0000"/>
                </a:solidFill>
                <a:latin typeface="Calibri" pitchFamily="34" charset="0"/>
              </a:rPr>
              <a:t>的数据通路</a:t>
            </a:r>
            <a:r>
              <a:rPr lang="en-US" altLang="zh-CN" sz="2400" b="0" dirty="0">
                <a:solidFill>
                  <a:srgbClr val="FF0000"/>
                </a:solidFill>
                <a:latin typeface="Calibri" pitchFamily="34" charset="0"/>
              </a:rPr>
              <a:t>?</a:t>
            </a:r>
          </a:p>
        </p:txBody>
      </p:sp>
      <p:sp>
        <p:nvSpPr>
          <p:cNvPr id="21522" name="Rectangle 30"/>
          <p:cNvSpPr>
            <a:spLocks noChangeArrowheads="1"/>
          </p:cNvSpPr>
          <p:nvPr/>
        </p:nvSpPr>
        <p:spPr bwMode="auto">
          <a:xfrm>
            <a:off x="6259513" y="3494088"/>
            <a:ext cx="381000" cy="1524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p>
            <a:endParaRPr lang="zh-CN" altLang="zh-CN">
              <a:latin typeface="Calibri" pitchFamily="34" charset="0"/>
            </a:endParaRPr>
          </a:p>
        </p:txBody>
      </p:sp>
      <p:sp>
        <p:nvSpPr>
          <p:cNvPr id="21523" name="Line 31"/>
          <p:cNvSpPr>
            <a:spLocks noChangeShapeType="1"/>
          </p:cNvSpPr>
          <p:nvPr/>
        </p:nvSpPr>
        <p:spPr bwMode="auto">
          <a:xfrm flipV="1">
            <a:off x="6683375" y="3535363"/>
            <a:ext cx="373063" cy="14287"/>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5" name="Group 33"/>
          <p:cNvGrpSpPr>
            <a:grpSpLocks/>
          </p:cNvGrpSpPr>
          <p:nvPr/>
        </p:nvGrpSpPr>
        <p:grpSpPr bwMode="auto">
          <a:xfrm>
            <a:off x="4248150" y="2647950"/>
            <a:ext cx="3994150" cy="2897188"/>
            <a:chOff x="2676" y="1668"/>
            <a:chExt cx="2516" cy="1825"/>
          </a:xfrm>
        </p:grpSpPr>
        <p:sp>
          <p:nvSpPr>
            <p:cNvPr id="21526" name="Text Box 34"/>
            <p:cNvSpPr txBox="1">
              <a:spLocks noChangeArrowheads="1"/>
            </p:cNvSpPr>
            <p:nvPr/>
          </p:nvSpPr>
          <p:spPr bwMode="auto">
            <a:xfrm>
              <a:off x="2676" y="291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0</a:t>
              </a:r>
            </a:p>
          </p:txBody>
        </p:sp>
        <p:grpSp>
          <p:nvGrpSpPr>
            <p:cNvPr id="21527" name="Group 35"/>
            <p:cNvGrpSpPr>
              <a:grpSpLocks/>
            </p:cNvGrpSpPr>
            <p:nvPr/>
          </p:nvGrpSpPr>
          <p:grpSpPr bwMode="auto">
            <a:xfrm>
              <a:off x="2678" y="1668"/>
              <a:ext cx="2514" cy="1825"/>
              <a:chOff x="2678" y="1668"/>
              <a:chExt cx="2514" cy="1825"/>
            </a:xfrm>
          </p:grpSpPr>
          <p:sp>
            <p:nvSpPr>
              <p:cNvPr id="21528" name="Text Box 36"/>
              <p:cNvSpPr txBox="1">
                <a:spLocks noChangeArrowheads="1"/>
              </p:cNvSpPr>
              <p:nvPr/>
            </p:nvSpPr>
            <p:spPr bwMode="auto">
              <a:xfrm>
                <a:off x="3819" y="1668"/>
                <a:ext cx="2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X</a:t>
                </a:r>
              </a:p>
            </p:txBody>
          </p:sp>
          <p:sp>
            <p:nvSpPr>
              <p:cNvPr id="21529" name="Text Box 37"/>
              <p:cNvSpPr txBox="1">
                <a:spLocks noChangeArrowheads="1"/>
              </p:cNvSpPr>
              <p:nvPr/>
            </p:nvSpPr>
            <p:spPr bwMode="auto">
              <a:xfrm>
                <a:off x="4971" y="1752"/>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0</a:t>
                </a:r>
              </a:p>
            </p:txBody>
          </p:sp>
          <p:sp>
            <p:nvSpPr>
              <p:cNvPr id="21530" name="Text Box 38"/>
              <p:cNvSpPr txBox="1">
                <a:spLocks noChangeArrowheads="1"/>
              </p:cNvSpPr>
              <p:nvPr/>
            </p:nvSpPr>
            <p:spPr bwMode="auto">
              <a:xfrm>
                <a:off x="4994" y="3241"/>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0</a:t>
                </a:r>
              </a:p>
            </p:txBody>
          </p:sp>
          <p:sp>
            <p:nvSpPr>
              <p:cNvPr id="21531" name="Text Box 39"/>
              <p:cNvSpPr txBox="1">
                <a:spLocks noChangeArrowheads="1"/>
              </p:cNvSpPr>
              <p:nvPr/>
            </p:nvSpPr>
            <p:spPr bwMode="auto">
              <a:xfrm>
                <a:off x="3491" y="3001"/>
                <a:ext cx="2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000" b="0" dirty="0">
                    <a:solidFill>
                      <a:schemeClr val="accent1"/>
                    </a:solidFill>
                    <a:latin typeface="Calibri" pitchFamily="34" charset="0"/>
                  </a:rPr>
                  <a:t>X</a:t>
                </a:r>
              </a:p>
            </p:txBody>
          </p:sp>
          <p:sp>
            <p:nvSpPr>
              <p:cNvPr id="21532" name="Text Box 40"/>
              <p:cNvSpPr txBox="1">
                <a:spLocks noChangeArrowheads="1"/>
              </p:cNvSpPr>
              <p:nvPr/>
            </p:nvSpPr>
            <p:spPr bwMode="auto">
              <a:xfrm>
                <a:off x="2678" y="2861"/>
                <a:ext cx="1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endParaRPr lang="zh-CN" altLang="zh-CN" sz="2000" dirty="0">
                  <a:latin typeface="Calibri" pitchFamily="34" charset="0"/>
                </a:endParaRPr>
              </a:p>
            </p:txBody>
          </p:sp>
        </p:grpSp>
      </p:grpSp>
      <p:sp>
        <p:nvSpPr>
          <p:cNvPr id="21525" name="Rectangle 41"/>
          <p:cNvSpPr>
            <a:spLocks noChangeArrowheads="1"/>
          </p:cNvSpPr>
          <p:nvPr/>
        </p:nvSpPr>
        <p:spPr bwMode="auto">
          <a:xfrm>
            <a:off x="783" y="6021377"/>
            <a:ext cx="5758667" cy="830997"/>
          </a:xfrm>
          <a:prstGeom prst="rect">
            <a:avLst/>
          </a:prstGeom>
          <a:solidFill>
            <a:srgbClr val="C0C0C0"/>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p>
            <a:r>
              <a:rPr lang="en-US" altLang="zh-CN" sz="2400" dirty="0">
                <a:latin typeface="Calibri" pitchFamily="34" charset="0"/>
              </a:rPr>
              <a:t>if MEM[PC]==J immediate26</a:t>
            </a:r>
          </a:p>
          <a:p>
            <a:r>
              <a:rPr lang="en-US" altLang="zh-CN" sz="2400" dirty="0">
                <a:latin typeface="Calibri" pitchFamily="34" charset="0"/>
              </a:rPr>
              <a:t>    PC =</a:t>
            </a:r>
            <a:r>
              <a:rPr lang="en-US" altLang="zh-CN" sz="2400" dirty="0">
                <a:latin typeface="Calibri" pitchFamily="34" charset="0"/>
                <a:sym typeface="Symbol" pitchFamily="18" charset="2"/>
              </a:rPr>
              <a:t> { PC+4[31:28],</a:t>
            </a:r>
            <a:r>
              <a:rPr lang="en-US" altLang="zh-CN" sz="2400" dirty="0">
                <a:latin typeface="Calibri" pitchFamily="34" charset="0"/>
              </a:rPr>
              <a:t> immediate26, 2</a:t>
            </a:r>
            <a:r>
              <a:rPr lang="ja-JP" altLang="en-US" sz="2400" dirty="0">
                <a:latin typeface="Calibri" pitchFamily="34" charset="0"/>
              </a:rPr>
              <a:t>’</a:t>
            </a:r>
            <a:r>
              <a:rPr lang="en-US" altLang="ja-JP" sz="2400" dirty="0">
                <a:latin typeface="Calibri" pitchFamily="34" charset="0"/>
              </a:rPr>
              <a:t>b00 }</a:t>
            </a:r>
            <a:endParaRPr lang="en-US" altLang="zh-CN" sz="2400" dirty="0">
              <a:latin typeface="Calibri" pitchFamily="34" charset="0"/>
              <a:sym typeface="Symbol" pitchFamily="18" charset="2"/>
            </a:endParaRPr>
          </a:p>
        </p:txBody>
      </p:sp>
      <p:cxnSp>
        <p:nvCxnSpPr>
          <p:cNvPr id="4" name="直接连接符 3">
            <a:extLst>
              <a:ext uri="{FF2B5EF4-FFF2-40B4-BE49-F238E27FC236}">
                <a16:creationId xmlns:a16="http://schemas.microsoft.com/office/drawing/2014/main" id="{B2AA29B8-372A-4DA8-AC5B-174C37B42D85}"/>
              </a:ext>
            </a:extLst>
          </p:cNvPr>
          <p:cNvCxnSpPr>
            <a:cxnSpLocks/>
          </p:cNvCxnSpPr>
          <p:nvPr/>
        </p:nvCxnSpPr>
        <p:spPr>
          <a:xfrm>
            <a:off x="1143000" y="1609725"/>
            <a:ext cx="0" cy="259080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2ABF207C-EBB2-4B82-8B1E-827B9F66B7F2}"/>
              </a:ext>
            </a:extLst>
          </p:cNvPr>
          <p:cNvCxnSpPr>
            <a:cxnSpLocks/>
          </p:cNvCxnSpPr>
          <p:nvPr/>
        </p:nvCxnSpPr>
        <p:spPr>
          <a:xfrm flipH="1">
            <a:off x="696913" y="4183603"/>
            <a:ext cx="44608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20" name="墨迹 19">
                <a:extLst>
                  <a:ext uri="{FF2B5EF4-FFF2-40B4-BE49-F238E27FC236}">
                    <a16:creationId xmlns:a16="http://schemas.microsoft.com/office/drawing/2014/main" id="{26C3AEC6-521F-4FCC-89FC-0C496E62B7EE}"/>
                  </a:ext>
                </a:extLst>
              </p14:cNvPr>
              <p14:cNvContentPartPr/>
              <p14:nvPr/>
            </p14:nvContentPartPr>
            <p14:xfrm>
              <a:off x="1137600" y="1614477"/>
              <a:ext cx="360" cy="360"/>
            </p14:xfrm>
          </p:contentPart>
        </mc:Choice>
        <mc:Fallback xmlns="">
          <p:pic>
            <p:nvPicPr>
              <p:cNvPr id="20" name="墨迹 19">
                <a:extLst>
                  <a:ext uri="{FF2B5EF4-FFF2-40B4-BE49-F238E27FC236}">
                    <a16:creationId xmlns:a16="http://schemas.microsoft.com/office/drawing/2014/main" id="{26C3AEC6-521F-4FCC-89FC-0C496E62B7EE}"/>
                  </a:ext>
                </a:extLst>
              </p:cNvPr>
              <p:cNvPicPr/>
              <p:nvPr/>
            </p:nvPicPr>
            <p:blipFill>
              <a:blip r:embed="rId5"/>
              <a:stretch>
                <a:fillRect/>
              </a:stretch>
            </p:blipFill>
            <p:spPr>
              <a:xfrm>
                <a:off x="1101960" y="1578477"/>
                <a:ext cx="72000" cy="72000"/>
              </a:xfrm>
              <a:prstGeom prst="rect">
                <a:avLst/>
              </a:prstGeom>
            </p:spPr>
          </p:pic>
        </mc:Fallback>
      </mc:AlternateContent>
      <p:sp>
        <p:nvSpPr>
          <p:cNvPr id="2" name="灯片编号占位符 1"/>
          <p:cNvSpPr>
            <a:spLocks noGrp="1"/>
          </p:cNvSpPr>
          <p:nvPr>
            <p:ph type="sldNum" sz="quarter" idx="4"/>
          </p:nvPr>
        </p:nvSpPr>
        <p:spPr/>
        <p:txBody>
          <a:bodyPr/>
          <a:lstStyle/>
          <a:p>
            <a:fld id="{7B9845D8-D779-4563-B1F1-C45D4F729032}" type="slidenum">
              <a:rPr lang="zh-CN" altLang="en-US" smtClean="0"/>
              <a:pPr/>
              <a:t>20</a:t>
            </a:fld>
            <a:endParaRPr lang="zh-CN" altLang="en-US"/>
          </a:p>
        </p:txBody>
      </p:sp>
      <p:sp>
        <p:nvSpPr>
          <p:cNvPr id="40" name="TextBox 37"/>
          <p:cNvSpPr txBox="1"/>
          <p:nvPr/>
        </p:nvSpPr>
        <p:spPr>
          <a:xfrm>
            <a:off x="4370518" y="1716908"/>
            <a:ext cx="3918060" cy="523220"/>
          </a:xfrm>
          <a:prstGeom prst="rect">
            <a:avLst/>
          </a:prstGeom>
          <a:noFill/>
        </p:spPr>
        <p:txBody>
          <a:bodyPr wrap="none" rtlCol="0">
            <a:spAutoFit/>
          </a:bodyPr>
          <a:lstStyle/>
          <a:p>
            <a:r>
              <a:rPr lang="zh-CN" altLang="en-US" sz="2800" b="0" dirty="0">
                <a:solidFill>
                  <a:srgbClr val="FF0000"/>
                </a:solidFill>
                <a:latin typeface="微软雅黑" panose="020B0503020204020204" pitchFamily="34" charset="-122"/>
                <a:ea typeface="微软雅黑" panose="020B0503020204020204" pitchFamily="34" charset="-122"/>
              </a:rPr>
              <a:t>如何完成</a:t>
            </a:r>
            <a:r>
              <a:rPr lang="en-US" altLang="zh-CN" sz="2800" b="0" dirty="0">
                <a:solidFill>
                  <a:srgbClr val="FF0000"/>
                </a:solidFill>
                <a:latin typeface="微软雅黑" panose="020B0503020204020204" pitchFamily="34" charset="-122"/>
                <a:ea typeface="微软雅黑" panose="020B0503020204020204" pitchFamily="34" charset="-122"/>
              </a:rPr>
              <a:t>J</a:t>
            </a:r>
            <a:r>
              <a:rPr lang="zh-CN" altLang="en-US" sz="2800" b="0" dirty="0">
                <a:solidFill>
                  <a:srgbClr val="FF0000"/>
                </a:solidFill>
                <a:latin typeface="微软雅黑" panose="020B0503020204020204" pitchFamily="34" charset="-122"/>
                <a:ea typeface="微软雅黑" panose="020B0503020204020204" pitchFamily="34" charset="-122"/>
              </a:rPr>
              <a:t>的数据通路？</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0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3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76200"/>
            <a:ext cx="8229600" cy="914400"/>
          </a:xfrm>
        </p:spPr>
        <p:txBody>
          <a:bodyPr/>
          <a:lstStyle/>
          <a:p>
            <a:pPr eaLnBrk="1" hangingPunct="1"/>
            <a:r>
              <a:rPr lang="en-US" altLang="zh-CN" dirty="0"/>
              <a:t>I-Type </a:t>
            </a:r>
            <a:r>
              <a:rPr lang="zh-CN" altLang="en-US" dirty="0">
                <a:solidFill>
                  <a:srgbClr val="FF0000"/>
                </a:solidFill>
              </a:rPr>
              <a:t>条件分支</a:t>
            </a:r>
            <a:r>
              <a:rPr lang="zh-CN" altLang="en-US" dirty="0"/>
              <a:t>指令</a:t>
            </a:r>
            <a:endParaRPr lang="en-US" altLang="zh-CN" dirty="0"/>
          </a:p>
        </p:txBody>
      </p:sp>
      <p:sp>
        <p:nvSpPr>
          <p:cNvPr id="23555" name="Content Placeholder 2"/>
          <p:cNvSpPr>
            <a:spLocks noGrp="1"/>
          </p:cNvSpPr>
          <p:nvPr>
            <p:ph idx="1"/>
          </p:nvPr>
        </p:nvSpPr>
        <p:spPr>
          <a:xfrm>
            <a:off x="457200" y="1066800"/>
            <a:ext cx="8229600" cy="5257800"/>
          </a:xfrm>
        </p:spPr>
        <p:txBody>
          <a:bodyPr/>
          <a:lstStyle/>
          <a:p>
            <a:pPr eaLnBrk="1" hangingPunct="1">
              <a:defRPr/>
            </a:pPr>
            <a:r>
              <a:rPr lang="zh-CN" altLang="en-US" dirty="0"/>
              <a:t>汇编</a:t>
            </a:r>
            <a:r>
              <a:rPr lang="en-US" altLang="zh-CN" dirty="0"/>
              <a:t> (e.g., branch if equal)</a:t>
            </a:r>
          </a:p>
          <a:p>
            <a:pPr eaLnBrk="1" hangingPunct="1">
              <a:buFont typeface="Wingdings" pitchFamily="2" charset="2"/>
              <a:buNone/>
              <a:defRPr/>
            </a:pPr>
            <a:r>
              <a:rPr lang="en-US" altLang="zh-CN" dirty="0">
                <a:ea typeface="ＭＳ Ｐゴシック" pitchFamily="34" charset="-128"/>
              </a:rPr>
              <a:t>	</a:t>
            </a:r>
            <a:r>
              <a:rPr lang="en-US" altLang="zh-CN" sz="2800" dirty="0">
                <a:solidFill>
                  <a:srgbClr val="00B0F0"/>
                </a:solidFill>
                <a:ea typeface="ＭＳ Ｐゴシック" pitchFamily="34" charset="-128"/>
              </a:rPr>
              <a:t>BEQ </a:t>
            </a:r>
            <a:r>
              <a:rPr lang="en-US" altLang="zh-CN" sz="2800" dirty="0" err="1">
                <a:solidFill>
                  <a:srgbClr val="00B0F0"/>
                </a:solidFill>
                <a:ea typeface="ＭＳ Ｐゴシック" pitchFamily="34" charset="-128"/>
              </a:rPr>
              <a:t>rs</a:t>
            </a:r>
            <a:r>
              <a:rPr lang="en-US" altLang="zh-CN" sz="2800" baseline="-25000" dirty="0" err="1">
                <a:solidFill>
                  <a:srgbClr val="00B0F0"/>
                </a:solidFill>
                <a:ea typeface="ＭＳ Ｐゴシック" pitchFamily="34" charset="-128"/>
              </a:rPr>
              <a:t>reg</a:t>
            </a:r>
            <a:r>
              <a:rPr lang="en-US" altLang="zh-CN" sz="2800" dirty="0">
                <a:solidFill>
                  <a:srgbClr val="00B0F0"/>
                </a:solidFill>
                <a:ea typeface="ＭＳ Ｐゴシック" pitchFamily="34" charset="-128"/>
              </a:rPr>
              <a:t> </a:t>
            </a:r>
            <a:r>
              <a:rPr lang="en-US" altLang="zh-CN" sz="2800" dirty="0" err="1">
                <a:solidFill>
                  <a:srgbClr val="00B0F0"/>
                </a:solidFill>
                <a:ea typeface="ＭＳ Ｐゴシック" pitchFamily="34" charset="-128"/>
              </a:rPr>
              <a:t>rt</a:t>
            </a:r>
            <a:r>
              <a:rPr lang="en-US" altLang="zh-CN" sz="2800" baseline="-25000" dirty="0" err="1">
                <a:solidFill>
                  <a:srgbClr val="00B0F0"/>
                </a:solidFill>
                <a:ea typeface="ＭＳ Ｐゴシック" pitchFamily="34" charset="-128"/>
              </a:rPr>
              <a:t>reg</a:t>
            </a:r>
            <a:r>
              <a:rPr lang="en-US" altLang="zh-CN" sz="2800" dirty="0">
                <a:solidFill>
                  <a:srgbClr val="00B0F0"/>
                </a:solidFill>
                <a:ea typeface="ＭＳ Ｐゴシック" pitchFamily="34" charset="-128"/>
              </a:rPr>
              <a:t> immediate</a:t>
            </a:r>
            <a:r>
              <a:rPr lang="en-US" altLang="zh-CN" sz="2800" baseline="-25000" dirty="0">
                <a:solidFill>
                  <a:srgbClr val="00B0F0"/>
                </a:solidFill>
                <a:ea typeface="ＭＳ Ｐゴシック" pitchFamily="34" charset="-128"/>
              </a:rPr>
              <a:t>16</a:t>
            </a:r>
            <a:endParaRPr lang="en-US" altLang="zh-CN" dirty="0">
              <a:solidFill>
                <a:srgbClr val="00B0F0"/>
              </a:solidFill>
              <a:ea typeface="ＭＳ Ｐゴシック" pitchFamily="34" charset="-128"/>
            </a:endParaRPr>
          </a:p>
          <a:p>
            <a:pPr eaLnBrk="1" hangingPunct="1">
              <a:defRPr/>
            </a:pPr>
            <a:r>
              <a:rPr lang="zh-CN" altLang="en-US" dirty="0"/>
              <a:t>机器编码</a:t>
            </a:r>
            <a:endParaRPr lang="en-US" altLang="zh-CN" dirty="0"/>
          </a:p>
          <a:p>
            <a:pPr marL="0" indent="0" eaLnBrk="1" hangingPunct="1">
              <a:buFont typeface="Arial" charset="0"/>
              <a:buNone/>
              <a:defRPr/>
            </a:pPr>
            <a:endParaRPr lang="en-US" altLang="zh-CN" dirty="0">
              <a:ea typeface="ＭＳ Ｐゴシック" pitchFamily="34" charset="-128"/>
            </a:endParaRPr>
          </a:p>
          <a:p>
            <a:pPr marL="0" indent="0" eaLnBrk="1" hangingPunct="1">
              <a:buFont typeface="Arial" charset="0"/>
              <a:buNone/>
              <a:defRPr/>
            </a:pPr>
            <a:endParaRPr lang="en-US" altLang="zh-CN" dirty="0">
              <a:ea typeface="ＭＳ Ｐゴシック" pitchFamily="34" charset="-128"/>
            </a:endParaRPr>
          </a:p>
          <a:p>
            <a:pPr eaLnBrk="1" hangingPunct="1">
              <a:defRPr/>
            </a:pPr>
            <a:r>
              <a:rPr lang="zh-CN" altLang="en-US" dirty="0"/>
              <a:t>语义</a:t>
            </a:r>
            <a:r>
              <a:rPr lang="en-US" altLang="zh-CN" dirty="0"/>
              <a:t> (</a:t>
            </a:r>
            <a:r>
              <a:rPr lang="zh-CN" altLang="en-US" dirty="0"/>
              <a:t>假定没有分支延迟槽，</a:t>
            </a:r>
            <a:r>
              <a:rPr lang="en-US" altLang="zh-CN" dirty="0"/>
              <a:t>i.e. delay slot)</a:t>
            </a:r>
          </a:p>
          <a:p>
            <a:pPr eaLnBrk="1" hangingPunct="1">
              <a:buFont typeface="Wingdings" pitchFamily="2" charset="2"/>
              <a:buNone/>
              <a:defRPr/>
            </a:pPr>
            <a:r>
              <a:rPr lang="en-US" altLang="zh-CN" dirty="0">
                <a:ea typeface="ＭＳ Ｐゴシック" pitchFamily="34" charset="-128"/>
              </a:rPr>
              <a:t>	</a:t>
            </a:r>
            <a:r>
              <a:rPr lang="en-US" altLang="zh-CN" sz="2400" dirty="0">
                <a:solidFill>
                  <a:srgbClr val="00B0F0"/>
                </a:solidFill>
                <a:ea typeface="ＭＳ Ｐゴシック" pitchFamily="34" charset="-128"/>
              </a:rPr>
              <a:t>if MEM[PC]==BEQ </a:t>
            </a:r>
            <a:r>
              <a:rPr lang="en-US" altLang="zh-CN" sz="2400" dirty="0" err="1">
                <a:solidFill>
                  <a:srgbClr val="00B0F0"/>
                </a:solidFill>
                <a:ea typeface="ＭＳ Ｐゴシック" pitchFamily="34" charset="-128"/>
              </a:rPr>
              <a:t>rs</a:t>
            </a:r>
            <a:r>
              <a:rPr lang="en-US" altLang="zh-CN" sz="2400" dirty="0">
                <a:solidFill>
                  <a:srgbClr val="00B0F0"/>
                </a:solidFill>
                <a:ea typeface="ＭＳ Ｐゴシック" pitchFamily="34" charset="-128"/>
              </a:rPr>
              <a:t> </a:t>
            </a:r>
            <a:r>
              <a:rPr lang="en-US" altLang="zh-CN" sz="2400" dirty="0" err="1">
                <a:solidFill>
                  <a:srgbClr val="00B0F0"/>
                </a:solidFill>
                <a:ea typeface="ＭＳ Ｐゴシック" pitchFamily="34" charset="-128"/>
              </a:rPr>
              <a:t>rt</a:t>
            </a:r>
            <a:r>
              <a:rPr lang="en-US" altLang="zh-CN" sz="2400" dirty="0">
                <a:solidFill>
                  <a:srgbClr val="00B0F0"/>
                </a:solidFill>
                <a:ea typeface="ＭＳ Ｐゴシック" pitchFamily="34" charset="-128"/>
              </a:rPr>
              <a:t> immediate</a:t>
            </a:r>
            <a:r>
              <a:rPr lang="en-US" altLang="zh-CN" sz="2400" baseline="-25000" dirty="0">
                <a:solidFill>
                  <a:srgbClr val="00B0F0"/>
                </a:solidFill>
                <a:ea typeface="ＭＳ Ｐゴシック" pitchFamily="34" charset="-128"/>
              </a:rPr>
              <a:t>16</a:t>
            </a:r>
            <a:endParaRPr lang="en-US" altLang="zh-CN" sz="2400" dirty="0">
              <a:solidFill>
                <a:srgbClr val="00B0F0"/>
              </a:solidFill>
              <a:ea typeface="ＭＳ Ｐゴシック" pitchFamily="34" charset="-128"/>
            </a:endParaRPr>
          </a:p>
          <a:p>
            <a:pPr lvl="2" eaLnBrk="1" hangingPunct="1">
              <a:buFontTx/>
              <a:buNone/>
              <a:defRPr/>
            </a:pPr>
            <a:r>
              <a:rPr lang="en-US" altLang="zh-CN" dirty="0">
                <a:solidFill>
                  <a:srgbClr val="00B0F0"/>
                </a:solidFill>
                <a:ea typeface="ＭＳ Ｐゴシック" pitchFamily="34" charset="-128"/>
              </a:rPr>
              <a:t>target = </a:t>
            </a:r>
            <a:r>
              <a:rPr lang="en-US" altLang="zh-CN" dirty="0">
                <a:solidFill>
                  <a:srgbClr val="FF0000"/>
                </a:solidFill>
                <a:ea typeface="ＭＳ Ｐゴシック" pitchFamily="34" charset="-128"/>
              </a:rPr>
              <a:t>PC+4 </a:t>
            </a:r>
            <a:r>
              <a:rPr lang="en-US" altLang="zh-CN" dirty="0">
                <a:solidFill>
                  <a:srgbClr val="00B0F0"/>
                </a:solidFill>
                <a:ea typeface="ＭＳ Ｐゴシック" pitchFamily="34" charset="-128"/>
              </a:rPr>
              <a:t>+ sign-extend(immediate) x 4 </a:t>
            </a:r>
          </a:p>
          <a:p>
            <a:pPr lvl="2" eaLnBrk="1" hangingPunct="1">
              <a:buFontTx/>
              <a:buNone/>
              <a:defRPr/>
            </a:pPr>
            <a:r>
              <a:rPr lang="en-US" altLang="zh-CN" dirty="0">
                <a:solidFill>
                  <a:srgbClr val="00B0F0"/>
                </a:solidFill>
                <a:ea typeface="ＭＳ Ｐゴシック" pitchFamily="34" charset="-128"/>
              </a:rPr>
              <a:t>if GPR[</a:t>
            </a:r>
            <a:r>
              <a:rPr lang="en-US" altLang="zh-CN" dirty="0" err="1">
                <a:solidFill>
                  <a:srgbClr val="00B0F0"/>
                </a:solidFill>
                <a:ea typeface="ＭＳ Ｐゴシック" pitchFamily="34" charset="-128"/>
              </a:rPr>
              <a:t>rs</a:t>
            </a:r>
            <a:r>
              <a:rPr lang="en-US" altLang="zh-CN" dirty="0">
                <a:solidFill>
                  <a:srgbClr val="00B0F0"/>
                </a:solidFill>
                <a:ea typeface="ＭＳ Ｐゴシック" pitchFamily="34" charset="-128"/>
              </a:rPr>
              <a:t>]==GPR[rt] then PC </a:t>
            </a:r>
            <a:r>
              <a:rPr lang="en-US" altLang="zh-CN" dirty="0">
                <a:solidFill>
                  <a:srgbClr val="00B0F0"/>
                </a:solidFill>
                <a:ea typeface="ＭＳ Ｐゴシック" pitchFamily="34" charset="-128"/>
                <a:sym typeface="Symbol" pitchFamily="18" charset="2"/>
              </a:rPr>
              <a:t> </a:t>
            </a:r>
            <a:r>
              <a:rPr lang="en-US" altLang="zh-CN" dirty="0">
                <a:solidFill>
                  <a:srgbClr val="00B0F0"/>
                </a:solidFill>
                <a:ea typeface="ＭＳ Ｐゴシック" pitchFamily="34" charset="-128"/>
              </a:rPr>
              <a:t>target</a:t>
            </a:r>
          </a:p>
          <a:p>
            <a:pPr lvl="2" eaLnBrk="1" hangingPunct="1">
              <a:buFontTx/>
              <a:buNone/>
              <a:defRPr/>
            </a:pPr>
            <a:r>
              <a:rPr lang="en-US" altLang="zh-CN" dirty="0">
                <a:solidFill>
                  <a:srgbClr val="00B0F0"/>
                </a:solidFill>
                <a:ea typeface="ＭＳ Ｐゴシック" pitchFamily="34" charset="-128"/>
                <a:sym typeface="Symbol" pitchFamily="18" charset="2"/>
              </a:rPr>
              <a:t>else 	PC  PC + 4</a:t>
            </a:r>
          </a:p>
          <a:p>
            <a:pPr eaLnBrk="1" hangingPunct="1">
              <a:defRPr/>
            </a:pPr>
            <a:endParaRPr lang="en-US" altLang="zh-CN" dirty="0">
              <a:ea typeface="ＭＳ Ｐゴシック" pitchFamily="34" charset="-128"/>
            </a:endParaRPr>
          </a:p>
        </p:txBody>
      </p:sp>
      <p:sp>
        <p:nvSpPr>
          <p:cNvPr id="22533" name="Rectangle 5"/>
          <p:cNvSpPr>
            <a:spLocks noChangeArrowheads="1"/>
          </p:cNvSpPr>
          <p:nvPr/>
        </p:nvSpPr>
        <p:spPr bwMode="auto">
          <a:xfrm>
            <a:off x="914400" y="2893013"/>
            <a:ext cx="11430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BEQ</a:t>
            </a:r>
          </a:p>
          <a:p>
            <a:r>
              <a:rPr lang="en-US" altLang="zh-CN" sz="1600">
                <a:latin typeface="Calibri" pitchFamily="34" charset="0"/>
              </a:rPr>
              <a:t>6-bit</a:t>
            </a:r>
          </a:p>
        </p:txBody>
      </p:sp>
      <p:sp>
        <p:nvSpPr>
          <p:cNvPr id="22534" name="Rectangle 6"/>
          <p:cNvSpPr>
            <a:spLocks noChangeArrowheads="1"/>
          </p:cNvSpPr>
          <p:nvPr/>
        </p:nvSpPr>
        <p:spPr bwMode="auto">
          <a:xfrm>
            <a:off x="2057400" y="2893013"/>
            <a:ext cx="99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rs</a:t>
            </a:r>
          </a:p>
          <a:p>
            <a:r>
              <a:rPr lang="en-US" altLang="zh-CN" sz="1600">
                <a:latin typeface="Calibri" pitchFamily="34" charset="0"/>
              </a:rPr>
              <a:t>5-bit</a:t>
            </a:r>
          </a:p>
        </p:txBody>
      </p:sp>
      <p:sp>
        <p:nvSpPr>
          <p:cNvPr id="22535" name="Rectangle 7"/>
          <p:cNvSpPr>
            <a:spLocks noChangeArrowheads="1"/>
          </p:cNvSpPr>
          <p:nvPr/>
        </p:nvSpPr>
        <p:spPr bwMode="auto">
          <a:xfrm>
            <a:off x="3048000" y="2893013"/>
            <a:ext cx="9906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rt</a:t>
            </a:r>
          </a:p>
          <a:p>
            <a:r>
              <a:rPr lang="en-US" altLang="zh-CN" sz="1600">
                <a:latin typeface="Calibri" pitchFamily="34" charset="0"/>
              </a:rPr>
              <a:t>5-bit</a:t>
            </a:r>
          </a:p>
        </p:txBody>
      </p:sp>
      <p:sp>
        <p:nvSpPr>
          <p:cNvPr id="22536" name="Rectangle 8"/>
          <p:cNvSpPr>
            <a:spLocks noChangeArrowheads="1"/>
          </p:cNvSpPr>
          <p:nvPr/>
        </p:nvSpPr>
        <p:spPr bwMode="auto">
          <a:xfrm>
            <a:off x="4038600" y="2893013"/>
            <a:ext cx="2819400" cy="304800"/>
          </a:xfrm>
          <a:prstGeom prst="rect">
            <a:avLst/>
          </a:prstGeom>
          <a:solidFill>
            <a:schemeClr val="bg1"/>
          </a:solidFill>
          <a:ln w="19050">
            <a:solidFill>
              <a:schemeClr val="tx1"/>
            </a:solidFill>
            <a:miter lim="800000"/>
            <a:headEnd/>
            <a:tailEnd/>
          </a:ln>
        </p:spPr>
        <p:txBody>
          <a:bodyPr wrap="none" tIns="0"/>
          <a:lstStyle/>
          <a:p>
            <a:r>
              <a:rPr lang="en-US" altLang="zh-CN" sz="2000">
                <a:latin typeface="Calibri" pitchFamily="34" charset="0"/>
              </a:rPr>
              <a:t>immediate</a:t>
            </a:r>
          </a:p>
          <a:p>
            <a:r>
              <a:rPr lang="en-US" altLang="zh-CN" sz="1600">
                <a:latin typeface="Calibri" pitchFamily="34" charset="0"/>
              </a:rPr>
              <a:t>16-bit</a:t>
            </a:r>
          </a:p>
        </p:txBody>
      </p:sp>
      <p:sp>
        <p:nvSpPr>
          <p:cNvPr id="22537" name="Text Box 9"/>
          <p:cNvSpPr txBox="1">
            <a:spLocks noChangeArrowheads="1"/>
          </p:cNvSpPr>
          <p:nvPr/>
        </p:nvSpPr>
        <p:spPr bwMode="auto">
          <a:xfrm>
            <a:off x="7183438" y="2762838"/>
            <a:ext cx="1035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800">
                <a:latin typeface="Calibri" pitchFamily="34" charset="0"/>
              </a:rPr>
              <a:t>I-type</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21</a:t>
            </a:fld>
            <a:endParaRPr lang="zh-CN" altLang="en-US"/>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76200" y="76200"/>
            <a:ext cx="8915400" cy="914400"/>
          </a:xfrm>
        </p:spPr>
        <p:txBody>
          <a:bodyPr/>
          <a:lstStyle/>
          <a:p>
            <a:pPr eaLnBrk="1" hangingPunct="1"/>
            <a:r>
              <a:rPr lang="zh-CN" altLang="en-US" dirty="0">
                <a:latin typeface="Tw Cen MT" pitchFamily="34" charset="0"/>
                <a:ea typeface="ＭＳ Ｐゴシック" pitchFamily="34" charset="-128"/>
              </a:rPr>
              <a:t>条件分支数据通路</a:t>
            </a:r>
            <a:r>
              <a:rPr lang="en-US" altLang="zh-CN" dirty="0">
                <a:latin typeface="Tw Cen MT" pitchFamily="34" charset="0"/>
                <a:ea typeface="ＭＳ Ｐゴシック" pitchFamily="34" charset="-128"/>
              </a:rPr>
              <a:t> (</a:t>
            </a:r>
            <a:r>
              <a:rPr lang="zh-CN" altLang="en-US" dirty="0">
                <a:latin typeface="Tw Cen MT" pitchFamily="34" charset="0"/>
                <a:ea typeface="ＭＳ Ｐゴシック" pitchFamily="34" charset="-128"/>
              </a:rPr>
              <a:t>自己完成</a:t>
            </a:r>
            <a:r>
              <a:rPr lang="en-US" altLang="zh-CN" dirty="0">
                <a:latin typeface="Tw Cen MT" pitchFamily="34" charset="0"/>
                <a:ea typeface="ＭＳ Ｐゴシック" pitchFamily="34" charset="-128"/>
              </a:rPr>
              <a:t>)</a:t>
            </a:r>
          </a:p>
        </p:txBody>
      </p:sp>
      <p:pic>
        <p:nvPicPr>
          <p:cNvPr id="23556" name="Picture 3" descr="F0510"/>
          <p:cNvPicPr>
            <a:picLocks noChangeAspect="1" noChangeArrowheads="1"/>
          </p:cNvPicPr>
          <p:nvPr/>
        </p:nvPicPr>
        <p:blipFill>
          <a:blip r:embed="rId2" cstate="print">
            <a:extLst>
              <a:ext uri="{28A0092B-C50C-407E-A947-70E740481C1C}">
                <a14:useLocalDpi xmlns:a14="http://schemas.microsoft.com/office/drawing/2010/main" val="0"/>
              </a:ext>
            </a:extLst>
          </a:blip>
          <a:srcRect l="12668"/>
          <a:stretch>
            <a:fillRect/>
          </a:stretch>
        </p:blipFill>
        <p:spPr bwMode="auto">
          <a:xfrm>
            <a:off x="3998913" y="2198688"/>
            <a:ext cx="4535487" cy="382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4" descr="F050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038" y="1752600"/>
            <a:ext cx="334645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reeform 5"/>
          <p:cNvSpPr>
            <a:spLocks/>
          </p:cNvSpPr>
          <p:nvPr/>
        </p:nvSpPr>
        <p:spPr bwMode="auto">
          <a:xfrm>
            <a:off x="984250" y="3124200"/>
            <a:ext cx="128588" cy="514350"/>
          </a:xfrm>
          <a:custGeom>
            <a:avLst/>
            <a:gdLst>
              <a:gd name="T0" fmla="*/ 2147483647 w 290"/>
              <a:gd name="T1" fmla="*/ 0 h 768"/>
              <a:gd name="T2" fmla="*/ 2147483647 w 290"/>
              <a:gd name="T3" fmla="*/ 2147483647 h 768"/>
              <a:gd name="T4" fmla="*/ 2147483647 w 290"/>
              <a:gd name="T5" fmla="*/ 2147483647 h 768"/>
              <a:gd name="T6" fmla="*/ 2147483647 w 290"/>
              <a:gd name="T7" fmla="*/ 2147483647 h 768"/>
              <a:gd name="T8" fmla="*/ 2147483647 w 290"/>
              <a:gd name="T9" fmla="*/ 2147483647 h 768"/>
              <a:gd name="T10" fmla="*/ 2147483647 w 290"/>
              <a:gd name="T11" fmla="*/ 2147483647 h 768"/>
              <a:gd name="T12" fmla="*/ 2147483647 w 290"/>
              <a:gd name="T13" fmla="*/ 2147483647 h 768"/>
              <a:gd name="T14" fmla="*/ 2147483647 w 290"/>
              <a:gd name="T15" fmla="*/ 2147483647 h 768"/>
              <a:gd name="T16" fmla="*/ 2147483647 w 290"/>
              <a:gd name="T17" fmla="*/ 2147483647 h 768"/>
              <a:gd name="T18" fmla="*/ 2147483647 w 290"/>
              <a:gd name="T19" fmla="*/ 2147483647 h 768"/>
              <a:gd name="T20" fmla="*/ 2147483647 w 290"/>
              <a:gd name="T21" fmla="*/ 2147483647 h 768"/>
              <a:gd name="T22" fmla="*/ 2147483647 w 290"/>
              <a:gd name="T23" fmla="*/ 2147483647 h 768"/>
              <a:gd name="T24" fmla="*/ 0 w 290"/>
              <a:gd name="T25" fmla="*/ 2147483647 h 768"/>
              <a:gd name="T26" fmla="*/ 2147483647 w 290"/>
              <a:gd name="T27" fmla="*/ 2147483647 h 768"/>
              <a:gd name="T28" fmla="*/ 0 w 290"/>
              <a:gd name="T29" fmla="*/ 2147483647 h 768"/>
              <a:gd name="T30" fmla="*/ 0 w 290"/>
              <a:gd name="T31" fmla="*/ 2147483647 h 768"/>
              <a:gd name="T32" fmla="*/ 2147483647 w 290"/>
              <a:gd name="T33" fmla="*/ 0 h 7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0"/>
              <a:gd name="T52" fmla="*/ 0 h 768"/>
              <a:gd name="T53" fmla="*/ 290 w 290"/>
              <a:gd name="T54" fmla="*/ 768 h 7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0" h="768">
                <a:moveTo>
                  <a:pt x="2" y="0"/>
                </a:moveTo>
                <a:lnTo>
                  <a:pt x="80" y="54"/>
                </a:lnTo>
                <a:lnTo>
                  <a:pt x="152" y="102"/>
                </a:lnTo>
                <a:lnTo>
                  <a:pt x="214" y="144"/>
                </a:lnTo>
                <a:lnTo>
                  <a:pt x="290" y="192"/>
                </a:lnTo>
                <a:lnTo>
                  <a:pt x="288" y="386"/>
                </a:lnTo>
                <a:lnTo>
                  <a:pt x="290" y="576"/>
                </a:lnTo>
                <a:lnTo>
                  <a:pt x="216" y="628"/>
                </a:lnTo>
                <a:lnTo>
                  <a:pt x="150" y="670"/>
                </a:lnTo>
                <a:lnTo>
                  <a:pt x="86" y="714"/>
                </a:lnTo>
                <a:lnTo>
                  <a:pt x="2" y="768"/>
                </a:lnTo>
                <a:lnTo>
                  <a:pt x="2" y="574"/>
                </a:lnTo>
                <a:lnTo>
                  <a:pt x="0" y="478"/>
                </a:lnTo>
                <a:lnTo>
                  <a:pt x="2" y="384"/>
                </a:lnTo>
                <a:lnTo>
                  <a:pt x="0" y="288"/>
                </a:lnTo>
                <a:lnTo>
                  <a:pt x="0" y="190"/>
                </a:lnTo>
                <a:lnTo>
                  <a:pt x="2" y="0"/>
                </a:lnTo>
                <a:close/>
              </a:path>
            </a:pathLst>
          </a:custGeom>
          <a:solidFill>
            <a:schemeClr val="bg1"/>
          </a:solidFill>
          <a:ln w="19050">
            <a:solidFill>
              <a:schemeClr val="tx1"/>
            </a:solidFill>
            <a:round/>
            <a:headEnd/>
            <a:tailEnd/>
          </a:ln>
        </p:spPr>
        <p:txBody>
          <a:bodyPr/>
          <a:lstStyle/>
          <a:p>
            <a:endParaRPr lang="zh-CN" altLang="en-US"/>
          </a:p>
        </p:txBody>
      </p:sp>
      <p:sp>
        <p:nvSpPr>
          <p:cNvPr id="23559" name="Line 6"/>
          <p:cNvSpPr>
            <a:spLocks noChangeShapeType="1"/>
          </p:cNvSpPr>
          <p:nvPr/>
        </p:nvSpPr>
        <p:spPr bwMode="auto">
          <a:xfrm>
            <a:off x="1084263" y="1762125"/>
            <a:ext cx="0" cy="1447800"/>
          </a:xfrm>
          <a:prstGeom prst="line">
            <a:avLst/>
          </a:prstGeom>
          <a:noFill/>
          <a:ln w="5715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0" name="Freeform 7"/>
          <p:cNvSpPr>
            <a:spLocks/>
          </p:cNvSpPr>
          <p:nvPr/>
        </p:nvSpPr>
        <p:spPr bwMode="auto">
          <a:xfrm>
            <a:off x="822325" y="1766888"/>
            <a:ext cx="304800" cy="1509712"/>
          </a:xfrm>
          <a:custGeom>
            <a:avLst/>
            <a:gdLst>
              <a:gd name="T0" fmla="*/ 2147483647 w 192"/>
              <a:gd name="T1" fmla="*/ 0 h 912"/>
              <a:gd name="T2" fmla="*/ 0 w 192"/>
              <a:gd name="T3" fmla="*/ 0 h 912"/>
              <a:gd name="T4" fmla="*/ 0 w 192"/>
              <a:gd name="T5" fmla="*/ 2147483647 h 912"/>
              <a:gd name="T6" fmla="*/ 2147483647 w 192"/>
              <a:gd name="T7" fmla="*/ 2147483647 h 912"/>
              <a:gd name="T8" fmla="*/ 0 60000 65536"/>
              <a:gd name="T9" fmla="*/ 0 60000 65536"/>
              <a:gd name="T10" fmla="*/ 0 60000 65536"/>
              <a:gd name="T11" fmla="*/ 0 60000 65536"/>
              <a:gd name="T12" fmla="*/ 0 w 192"/>
              <a:gd name="T13" fmla="*/ 0 h 912"/>
              <a:gd name="T14" fmla="*/ 192 w 192"/>
              <a:gd name="T15" fmla="*/ 912 h 912"/>
            </a:gdLst>
            <a:ahLst/>
            <a:cxnLst>
              <a:cxn ang="T8">
                <a:pos x="T0" y="T1"/>
              </a:cxn>
              <a:cxn ang="T9">
                <a:pos x="T2" y="T3"/>
              </a:cxn>
              <a:cxn ang="T10">
                <a:pos x="T4" y="T5"/>
              </a:cxn>
              <a:cxn ang="T11">
                <a:pos x="T6" y="T7"/>
              </a:cxn>
            </a:cxnLst>
            <a:rect l="T12" t="T13" r="T14" b="T15"/>
            <a:pathLst>
              <a:path w="192" h="912">
                <a:moveTo>
                  <a:pt x="192" y="0"/>
                </a:moveTo>
                <a:lnTo>
                  <a:pt x="0" y="0"/>
                </a:lnTo>
                <a:lnTo>
                  <a:pt x="0" y="912"/>
                </a:lnTo>
                <a:lnTo>
                  <a:pt x="96" y="912"/>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61" name="Line 8"/>
          <p:cNvSpPr>
            <a:spLocks noChangeShapeType="1"/>
          </p:cNvSpPr>
          <p:nvPr/>
        </p:nvSpPr>
        <p:spPr bwMode="auto">
          <a:xfrm flipH="1">
            <a:off x="1047750" y="2663825"/>
            <a:ext cx="0" cy="51435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2" name="Text Box 9"/>
          <p:cNvSpPr txBox="1">
            <a:spLocks noChangeArrowheads="1"/>
          </p:cNvSpPr>
          <p:nvPr/>
        </p:nvSpPr>
        <p:spPr bwMode="auto">
          <a:xfrm>
            <a:off x="1062038" y="2625725"/>
            <a:ext cx="5349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p>
        </p:txBody>
      </p:sp>
      <p:sp>
        <p:nvSpPr>
          <p:cNvPr id="23563" name="Freeform 10"/>
          <p:cNvSpPr>
            <a:spLocks/>
          </p:cNvSpPr>
          <p:nvPr/>
        </p:nvSpPr>
        <p:spPr bwMode="auto">
          <a:xfrm>
            <a:off x="533400" y="1295400"/>
            <a:ext cx="7010400" cy="2085975"/>
          </a:xfrm>
          <a:custGeom>
            <a:avLst/>
            <a:gdLst>
              <a:gd name="T0" fmla="*/ 2147483647 w 4416"/>
              <a:gd name="T1" fmla="*/ 2147483647 h 1314"/>
              <a:gd name="T2" fmla="*/ 2147483647 w 4416"/>
              <a:gd name="T3" fmla="*/ 0 h 1314"/>
              <a:gd name="T4" fmla="*/ 0 w 4416"/>
              <a:gd name="T5" fmla="*/ 0 h 1314"/>
              <a:gd name="T6" fmla="*/ 0 w 4416"/>
              <a:gd name="T7" fmla="*/ 2147483647 h 1314"/>
              <a:gd name="T8" fmla="*/ 2147483647 w 4416"/>
              <a:gd name="T9" fmla="*/ 2147483647 h 1314"/>
              <a:gd name="T10" fmla="*/ 0 60000 65536"/>
              <a:gd name="T11" fmla="*/ 0 60000 65536"/>
              <a:gd name="T12" fmla="*/ 0 60000 65536"/>
              <a:gd name="T13" fmla="*/ 0 60000 65536"/>
              <a:gd name="T14" fmla="*/ 0 60000 65536"/>
              <a:gd name="T15" fmla="*/ 0 w 4416"/>
              <a:gd name="T16" fmla="*/ 0 h 1314"/>
              <a:gd name="T17" fmla="*/ 4416 w 4416"/>
              <a:gd name="T18" fmla="*/ 1314 h 1314"/>
            </a:gdLst>
            <a:ahLst/>
            <a:cxnLst>
              <a:cxn ang="T10">
                <a:pos x="T0" y="T1"/>
              </a:cxn>
              <a:cxn ang="T11">
                <a:pos x="T2" y="T3"/>
              </a:cxn>
              <a:cxn ang="T12">
                <a:pos x="T4" y="T5"/>
              </a:cxn>
              <a:cxn ang="T13">
                <a:pos x="T6" y="T7"/>
              </a:cxn>
              <a:cxn ang="T14">
                <a:pos x="T8" y="T9"/>
              </a:cxn>
            </a:cxnLst>
            <a:rect l="T15" t="T16" r="T17" b="T18"/>
            <a:pathLst>
              <a:path w="4416" h="1314">
                <a:moveTo>
                  <a:pt x="4416" y="960"/>
                </a:moveTo>
                <a:lnTo>
                  <a:pt x="4416" y="0"/>
                </a:lnTo>
                <a:lnTo>
                  <a:pt x="0" y="0"/>
                </a:lnTo>
                <a:lnTo>
                  <a:pt x="0" y="1314"/>
                </a:lnTo>
                <a:lnTo>
                  <a:pt x="282" y="1314"/>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3572" name="Group 13"/>
          <p:cNvGrpSpPr>
            <a:grpSpLocks/>
          </p:cNvGrpSpPr>
          <p:nvPr/>
        </p:nvGrpSpPr>
        <p:grpSpPr bwMode="auto">
          <a:xfrm>
            <a:off x="347663" y="3482975"/>
            <a:ext cx="5880100" cy="2825750"/>
            <a:chOff x="219" y="2194"/>
            <a:chExt cx="3704" cy="1780"/>
          </a:xfrm>
        </p:grpSpPr>
        <p:sp>
          <p:nvSpPr>
            <p:cNvPr id="23573" name="Oval 14"/>
            <p:cNvSpPr>
              <a:spLocks noChangeArrowheads="1"/>
            </p:cNvSpPr>
            <p:nvPr/>
          </p:nvSpPr>
          <p:spPr bwMode="auto">
            <a:xfrm>
              <a:off x="557" y="2592"/>
              <a:ext cx="288" cy="288"/>
            </a:xfrm>
            <a:prstGeom prst="ellipse">
              <a:avLst/>
            </a:prstGeom>
            <a:solidFill>
              <a:schemeClr val="bg1"/>
            </a:solidFill>
            <a:ln w="19050">
              <a:solidFill>
                <a:schemeClr val="tx1"/>
              </a:solidFill>
              <a:round/>
              <a:headEnd/>
              <a:tailEnd/>
            </a:ln>
          </p:spPr>
          <p:txBody>
            <a:bodyPr wrap="none" anchor="ctr"/>
            <a:lstStyle/>
            <a:p>
              <a:r>
                <a:rPr lang="en-US" altLang="zh-CN" sz="1000">
                  <a:latin typeface="Calibri" pitchFamily="34" charset="0"/>
                </a:rPr>
                <a:t>concat</a:t>
              </a:r>
            </a:p>
          </p:txBody>
        </p:sp>
        <p:sp>
          <p:nvSpPr>
            <p:cNvPr id="23574" name="Freeform 15"/>
            <p:cNvSpPr>
              <a:spLocks/>
            </p:cNvSpPr>
            <p:nvPr/>
          </p:nvSpPr>
          <p:spPr bwMode="auto">
            <a:xfrm>
              <a:off x="701" y="2448"/>
              <a:ext cx="1584" cy="624"/>
            </a:xfrm>
            <a:custGeom>
              <a:avLst/>
              <a:gdLst>
                <a:gd name="T0" fmla="*/ 1584 w 1584"/>
                <a:gd name="T1" fmla="*/ 0 h 624"/>
                <a:gd name="T2" fmla="*/ 1584 w 1584"/>
                <a:gd name="T3" fmla="*/ 624 h 624"/>
                <a:gd name="T4" fmla="*/ 0 w 1584"/>
                <a:gd name="T5" fmla="*/ 624 h 624"/>
                <a:gd name="T6" fmla="*/ 0 w 1584"/>
                <a:gd name="T7" fmla="*/ 432 h 624"/>
                <a:gd name="T8" fmla="*/ 0 60000 65536"/>
                <a:gd name="T9" fmla="*/ 0 60000 65536"/>
                <a:gd name="T10" fmla="*/ 0 60000 65536"/>
                <a:gd name="T11" fmla="*/ 0 60000 65536"/>
                <a:gd name="T12" fmla="*/ 0 w 1584"/>
                <a:gd name="T13" fmla="*/ 0 h 624"/>
                <a:gd name="T14" fmla="*/ 1584 w 1584"/>
                <a:gd name="T15" fmla="*/ 624 h 624"/>
              </a:gdLst>
              <a:ahLst/>
              <a:cxnLst>
                <a:cxn ang="T8">
                  <a:pos x="T0" y="T1"/>
                </a:cxn>
                <a:cxn ang="T9">
                  <a:pos x="T2" y="T3"/>
                </a:cxn>
                <a:cxn ang="T10">
                  <a:pos x="T4" y="T5"/>
                </a:cxn>
                <a:cxn ang="T11">
                  <a:pos x="T6" y="T7"/>
                </a:cxn>
              </a:cxnLst>
              <a:rect l="T12" t="T13" r="T14" b="T15"/>
              <a:pathLst>
                <a:path w="1584" h="624">
                  <a:moveTo>
                    <a:pt x="1584" y="0"/>
                  </a:moveTo>
                  <a:lnTo>
                    <a:pt x="1584" y="624"/>
                  </a:lnTo>
                  <a:lnTo>
                    <a:pt x="0" y="624"/>
                  </a:lnTo>
                  <a:lnTo>
                    <a:pt x="0" y="432"/>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75" name="Freeform 16"/>
            <p:cNvSpPr>
              <a:spLocks/>
            </p:cNvSpPr>
            <p:nvPr/>
          </p:nvSpPr>
          <p:spPr bwMode="auto">
            <a:xfrm>
              <a:off x="518" y="2248"/>
              <a:ext cx="92" cy="494"/>
            </a:xfrm>
            <a:custGeom>
              <a:avLst/>
              <a:gdLst>
                <a:gd name="T0" fmla="*/ 16 w 96"/>
                <a:gd name="T1" fmla="*/ 81 h 534"/>
                <a:gd name="T2" fmla="*/ 0 w 96"/>
                <a:gd name="T3" fmla="*/ 82 h 534"/>
                <a:gd name="T4" fmla="*/ 0 w 96"/>
                <a:gd name="T5" fmla="*/ 0 h 534"/>
                <a:gd name="T6" fmla="*/ 35 w 96"/>
                <a:gd name="T7" fmla="*/ 0 h 534"/>
                <a:gd name="T8" fmla="*/ 0 60000 65536"/>
                <a:gd name="T9" fmla="*/ 0 60000 65536"/>
                <a:gd name="T10" fmla="*/ 0 60000 65536"/>
                <a:gd name="T11" fmla="*/ 0 60000 65536"/>
                <a:gd name="T12" fmla="*/ 0 w 96"/>
                <a:gd name="T13" fmla="*/ 0 h 534"/>
                <a:gd name="T14" fmla="*/ 96 w 96"/>
                <a:gd name="T15" fmla="*/ 534 h 534"/>
              </a:gdLst>
              <a:ahLst/>
              <a:cxnLst>
                <a:cxn ang="T8">
                  <a:pos x="T0" y="T1"/>
                </a:cxn>
                <a:cxn ang="T9">
                  <a:pos x="T2" y="T3"/>
                </a:cxn>
                <a:cxn ang="T10">
                  <a:pos x="T4" y="T5"/>
                </a:cxn>
                <a:cxn ang="T11">
                  <a:pos x="T6" y="T7"/>
                </a:cxn>
              </a:cxnLst>
              <a:rect l="T12" t="T13" r="T14" b="T15"/>
              <a:pathLst>
                <a:path w="96" h="534">
                  <a:moveTo>
                    <a:pt x="44" y="528"/>
                  </a:moveTo>
                  <a:lnTo>
                    <a:pt x="0" y="534"/>
                  </a:lnTo>
                  <a:lnTo>
                    <a:pt x="0" y="0"/>
                  </a:lnTo>
                  <a:lnTo>
                    <a:pt x="96" y="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76" name="Oval 17"/>
            <p:cNvSpPr>
              <a:spLocks noChangeArrowheads="1"/>
            </p:cNvSpPr>
            <p:nvPr/>
          </p:nvSpPr>
          <p:spPr bwMode="auto">
            <a:xfrm>
              <a:off x="2261" y="2406"/>
              <a:ext cx="48" cy="48"/>
            </a:xfrm>
            <a:prstGeom prst="ellipse">
              <a:avLst/>
            </a:prstGeom>
            <a:solidFill>
              <a:schemeClr val="tx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zh-CN">
                <a:latin typeface="Calibri" pitchFamily="34" charset="0"/>
              </a:endParaRPr>
            </a:p>
          </p:txBody>
        </p:sp>
        <p:sp>
          <p:nvSpPr>
            <p:cNvPr id="23577" name="Freeform 18"/>
            <p:cNvSpPr>
              <a:spLocks/>
            </p:cNvSpPr>
            <p:nvPr/>
          </p:nvSpPr>
          <p:spPr bwMode="auto">
            <a:xfrm>
              <a:off x="219" y="2194"/>
              <a:ext cx="3704" cy="1780"/>
            </a:xfrm>
            <a:custGeom>
              <a:avLst/>
              <a:gdLst>
                <a:gd name="T0" fmla="*/ 3704 w 3704"/>
                <a:gd name="T1" fmla="*/ 234 h 1780"/>
                <a:gd name="T2" fmla="*/ 3704 w 3704"/>
                <a:gd name="T3" fmla="*/ 1780 h 1780"/>
                <a:gd name="T4" fmla="*/ 0 w 3704"/>
                <a:gd name="T5" fmla="*/ 1780 h 1780"/>
                <a:gd name="T6" fmla="*/ 0 w 3704"/>
                <a:gd name="T7" fmla="*/ 1 h 1780"/>
                <a:gd name="T8" fmla="*/ 393 w 3704"/>
                <a:gd name="T9" fmla="*/ 0 h 1780"/>
                <a:gd name="T10" fmla="*/ 0 60000 65536"/>
                <a:gd name="T11" fmla="*/ 0 60000 65536"/>
                <a:gd name="T12" fmla="*/ 0 60000 65536"/>
                <a:gd name="T13" fmla="*/ 0 60000 65536"/>
                <a:gd name="T14" fmla="*/ 0 60000 65536"/>
                <a:gd name="T15" fmla="*/ 0 w 3704"/>
                <a:gd name="T16" fmla="*/ 0 h 1780"/>
                <a:gd name="T17" fmla="*/ 3704 w 3704"/>
                <a:gd name="T18" fmla="*/ 1780 h 1780"/>
              </a:gdLst>
              <a:ahLst/>
              <a:cxnLst>
                <a:cxn ang="T10">
                  <a:pos x="T0" y="T1"/>
                </a:cxn>
                <a:cxn ang="T11">
                  <a:pos x="T2" y="T3"/>
                </a:cxn>
                <a:cxn ang="T12">
                  <a:pos x="T4" y="T5"/>
                </a:cxn>
                <a:cxn ang="T13">
                  <a:pos x="T6" y="T7"/>
                </a:cxn>
                <a:cxn ang="T14">
                  <a:pos x="T8" y="T9"/>
                </a:cxn>
              </a:cxnLst>
              <a:rect l="T15" t="T16" r="T17" b="T18"/>
              <a:pathLst>
                <a:path w="3704" h="1780">
                  <a:moveTo>
                    <a:pt x="3704" y="234"/>
                  </a:moveTo>
                  <a:lnTo>
                    <a:pt x="3704" y="1780"/>
                  </a:lnTo>
                  <a:lnTo>
                    <a:pt x="0" y="1780"/>
                  </a:lnTo>
                  <a:lnTo>
                    <a:pt x="0" y="1"/>
                  </a:lnTo>
                  <a:lnTo>
                    <a:pt x="393" y="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3565" name="Text Box 19"/>
          <p:cNvSpPr txBox="1">
            <a:spLocks noChangeArrowheads="1"/>
          </p:cNvSpPr>
          <p:nvPr/>
        </p:nvSpPr>
        <p:spPr bwMode="auto">
          <a:xfrm>
            <a:off x="4976617" y="5053601"/>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chemeClr val="accent1"/>
                </a:solidFill>
                <a:latin typeface="Calibri" pitchFamily="34" charset="0"/>
              </a:rPr>
              <a:t>0</a:t>
            </a:r>
          </a:p>
        </p:txBody>
      </p:sp>
      <p:sp>
        <p:nvSpPr>
          <p:cNvPr id="23566" name="Text Box 20"/>
          <p:cNvSpPr txBox="1">
            <a:spLocks noChangeArrowheads="1"/>
          </p:cNvSpPr>
          <p:nvPr/>
        </p:nvSpPr>
        <p:spPr bwMode="auto">
          <a:xfrm>
            <a:off x="6824663" y="3205163"/>
            <a:ext cx="4796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b="0" dirty="0">
                <a:solidFill>
                  <a:schemeClr val="accent1"/>
                </a:solidFill>
                <a:latin typeface="Calibri" pitchFamily="34" charset="0"/>
              </a:rPr>
              <a:t>sub</a:t>
            </a:r>
          </a:p>
        </p:txBody>
      </p:sp>
      <p:sp>
        <p:nvSpPr>
          <p:cNvPr id="23568" name="Text Box 22"/>
          <p:cNvSpPr txBox="1">
            <a:spLocks noChangeArrowheads="1"/>
          </p:cNvSpPr>
          <p:nvPr/>
        </p:nvSpPr>
        <p:spPr bwMode="auto">
          <a:xfrm>
            <a:off x="7167563" y="4162425"/>
            <a:ext cx="292100" cy="138113"/>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900">
                <a:latin typeface="Calibri" pitchFamily="34" charset="0"/>
              </a:rPr>
              <a:t>bcond</a:t>
            </a:r>
          </a:p>
        </p:txBody>
      </p:sp>
      <p:sp>
        <p:nvSpPr>
          <p:cNvPr id="23570" name="AutoShape 24"/>
          <p:cNvSpPr>
            <a:spLocks noChangeArrowheads="1"/>
          </p:cNvSpPr>
          <p:nvPr/>
        </p:nvSpPr>
        <p:spPr bwMode="auto">
          <a:xfrm flipH="1">
            <a:off x="4962427" y="1743957"/>
            <a:ext cx="838200" cy="609600"/>
          </a:xfrm>
          <a:prstGeom prst="lightningBolt">
            <a:avLst/>
          </a:prstGeom>
          <a:solidFill>
            <a:srgbClr val="C0C0C0"/>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p>
            <a:r>
              <a:rPr lang="zh-CN" altLang="en-US" sz="2400" dirty="0">
                <a:solidFill>
                  <a:srgbClr val="FF0000"/>
                </a:solidFill>
                <a:latin typeface="微软雅黑" panose="020B0503020204020204" pitchFamily="34" charset="-122"/>
                <a:ea typeface="微软雅黑" panose="020B0503020204020204" pitchFamily="34" charset="-122"/>
              </a:rPr>
              <a:t>留心</a:t>
            </a:r>
            <a:endParaRPr lang="en-US" altLang="zh-CN" sz="2400" dirty="0">
              <a:solidFill>
                <a:srgbClr val="FF0000"/>
              </a:solidFill>
              <a:latin typeface="微软雅黑" panose="020B0503020204020204" pitchFamily="34" charset="-122"/>
              <a:ea typeface="微软雅黑" panose="020B0503020204020204" pitchFamily="34" charset="-122"/>
            </a:endParaRPr>
          </a:p>
        </p:txBody>
      </p:sp>
      <p:cxnSp>
        <p:nvCxnSpPr>
          <p:cNvPr id="23" name="直接连接符 22">
            <a:extLst>
              <a:ext uri="{FF2B5EF4-FFF2-40B4-BE49-F238E27FC236}">
                <a16:creationId xmlns:a16="http://schemas.microsoft.com/office/drawing/2014/main" id="{33FD2DA7-AA4C-4203-A9EC-C48B3E934ED7}"/>
              </a:ext>
            </a:extLst>
          </p:cNvPr>
          <p:cNvCxnSpPr>
            <a:cxnSpLocks/>
          </p:cNvCxnSpPr>
          <p:nvPr/>
        </p:nvCxnSpPr>
        <p:spPr>
          <a:xfrm>
            <a:off x="1752600" y="1762125"/>
            <a:ext cx="0" cy="259080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7DCD5AE-F6B2-450B-A512-0B01B99EF067}"/>
              </a:ext>
            </a:extLst>
          </p:cNvPr>
          <p:cNvCxnSpPr>
            <a:cxnSpLocks/>
          </p:cNvCxnSpPr>
          <p:nvPr/>
        </p:nvCxnSpPr>
        <p:spPr>
          <a:xfrm flipH="1">
            <a:off x="1306513" y="4336003"/>
            <a:ext cx="44608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25" name="墨迹 24">
                <a:extLst>
                  <a:ext uri="{FF2B5EF4-FFF2-40B4-BE49-F238E27FC236}">
                    <a16:creationId xmlns:a16="http://schemas.microsoft.com/office/drawing/2014/main" id="{2504F121-4C84-4E49-88DA-86B703372EFF}"/>
                  </a:ext>
                </a:extLst>
              </p14:cNvPr>
              <p14:cNvContentPartPr/>
              <p14:nvPr/>
            </p14:nvContentPartPr>
            <p14:xfrm>
              <a:off x="1752240" y="1761765"/>
              <a:ext cx="360" cy="360"/>
            </p14:xfrm>
          </p:contentPart>
        </mc:Choice>
        <mc:Fallback xmlns="">
          <p:pic>
            <p:nvPicPr>
              <p:cNvPr id="25" name="墨迹 24">
                <a:extLst>
                  <a:ext uri="{FF2B5EF4-FFF2-40B4-BE49-F238E27FC236}">
                    <a16:creationId xmlns:a16="http://schemas.microsoft.com/office/drawing/2014/main" id="{2504F121-4C84-4E49-88DA-86B703372EFF}"/>
                  </a:ext>
                </a:extLst>
              </p:cNvPr>
              <p:cNvPicPr/>
              <p:nvPr/>
            </p:nvPicPr>
            <p:blipFill>
              <a:blip r:embed="rId5"/>
              <a:stretch>
                <a:fillRect/>
              </a:stretch>
            </p:blipFill>
            <p:spPr>
              <a:xfrm>
                <a:off x="1716600" y="1725765"/>
                <a:ext cx="72000" cy="72000"/>
              </a:xfrm>
              <a:prstGeom prst="rect">
                <a:avLst/>
              </a:prstGeom>
            </p:spPr>
          </p:pic>
        </mc:Fallback>
      </mc:AlternateContent>
      <p:sp>
        <p:nvSpPr>
          <p:cNvPr id="2" name="灯片编号占位符 1"/>
          <p:cNvSpPr>
            <a:spLocks noGrp="1"/>
          </p:cNvSpPr>
          <p:nvPr>
            <p:ph type="sldNum" sz="quarter" idx="4"/>
          </p:nvPr>
        </p:nvSpPr>
        <p:spPr/>
        <p:txBody>
          <a:bodyPr/>
          <a:lstStyle/>
          <a:p>
            <a:fld id="{7B9845D8-D779-4563-B1F1-C45D4F729032}" type="slidenum">
              <a:rPr lang="zh-CN" altLang="en-US" smtClean="0"/>
              <a:pPr/>
              <a:t>22</a:t>
            </a:fld>
            <a:endParaRPr lang="zh-CN" altLang="en-US"/>
          </a:p>
        </p:txBody>
      </p:sp>
      <p:pic>
        <p:nvPicPr>
          <p:cNvPr id="3" name="图片 2"/>
          <p:cNvPicPr>
            <a:picLocks noChangeAspect="1"/>
          </p:cNvPicPr>
          <p:nvPr/>
        </p:nvPicPr>
        <p:blipFill>
          <a:blip r:embed="rId6"/>
          <a:stretch>
            <a:fillRect/>
          </a:stretch>
        </p:blipFill>
        <p:spPr>
          <a:xfrm>
            <a:off x="1915206" y="3703218"/>
            <a:ext cx="3665538" cy="2347163"/>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28600" y="76200"/>
            <a:ext cx="8458200" cy="914400"/>
          </a:xfrm>
        </p:spPr>
        <p:txBody>
          <a:bodyPr/>
          <a:lstStyle/>
          <a:p>
            <a:pPr eaLnBrk="1" hangingPunct="1"/>
            <a:r>
              <a:rPr lang="zh-CN" altLang="en-US" dirty="0">
                <a:latin typeface="Tw Cen MT" pitchFamily="34" charset="0"/>
                <a:ea typeface="ＭＳ Ｐゴシック" pitchFamily="34" charset="-128"/>
              </a:rPr>
              <a:t>合并版本</a:t>
            </a:r>
            <a:endParaRPr lang="en-US" altLang="zh-CN" dirty="0">
              <a:latin typeface="Tw Cen MT" pitchFamily="34" charset="0"/>
              <a:ea typeface="ＭＳ Ｐゴシック" pitchFamily="34" charset="-128"/>
            </a:endParaRPr>
          </a:p>
        </p:txBody>
      </p:sp>
      <p:pic>
        <p:nvPicPr>
          <p:cNvPr id="24580" name="Picture 3"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327150"/>
            <a:ext cx="8437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 Box 4"/>
          <p:cNvSpPr txBox="1">
            <a:spLocks noChangeArrowheads="1"/>
          </p:cNvSpPr>
          <p:nvPr/>
        </p:nvSpPr>
        <p:spPr bwMode="auto">
          <a:xfrm>
            <a:off x="7569200" y="2474913"/>
            <a:ext cx="121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24582" name="Text Box 5"/>
          <p:cNvSpPr txBox="1">
            <a:spLocks noChangeArrowheads="1"/>
          </p:cNvSpPr>
          <p:nvPr/>
        </p:nvSpPr>
        <p:spPr bwMode="auto">
          <a:xfrm>
            <a:off x="7302500" y="1300163"/>
            <a:ext cx="998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24583" name="Text Box 6"/>
          <p:cNvSpPr txBox="1">
            <a:spLocks noChangeArrowheads="1"/>
          </p:cNvSpPr>
          <p:nvPr/>
        </p:nvSpPr>
        <p:spPr bwMode="auto">
          <a:xfrm>
            <a:off x="6240463" y="5446713"/>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24584" name="Text Box 7"/>
          <p:cNvSpPr txBox="1">
            <a:spLocks noChangeArrowheads="1"/>
          </p:cNvSpPr>
          <p:nvPr/>
        </p:nvSpPr>
        <p:spPr bwMode="auto">
          <a:xfrm>
            <a:off x="6408738" y="4327525"/>
            <a:ext cx="258762" cy="12382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800">
                <a:latin typeface="Calibri" pitchFamily="34" charset="0"/>
              </a:rPr>
              <a:t>bcond</a:t>
            </a:r>
          </a:p>
        </p:txBody>
      </p:sp>
      <p:sp>
        <p:nvSpPr>
          <p:cNvPr id="24585" name="Text Box 9"/>
          <p:cNvSpPr txBox="1">
            <a:spLocks noChangeArrowheads="1"/>
          </p:cNvSpPr>
          <p:nvPr/>
        </p:nvSpPr>
        <p:spPr bwMode="auto">
          <a:xfrm>
            <a:off x="6172200" y="6477000"/>
            <a:ext cx="19563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600" dirty="0">
                <a:solidFill>
                  <a:srgbClr val="FF0000"/>
                </a:solidFill>
                <a:latin typeface="Calibri" pitchFamily="34" charset="0"/>
              </a:rPr>
              <a:t>JAL, JR, JALR omitted</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23</a:t>
            </a:fld>
            <a:endParaRPr lang="zh-CN" altLang="en-US"/>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571316"/>
          </a:xfrm>
          <a:prstGeom prst="rect">
            <a:avLst/>
          </a:prstGeom>
        </p:spPr>
        <p:txBody>
          <a:bodyPr vert="horz" wrap="square" lIns="0" tIns="0" rIns="0" bIns="0" rtlCol="0">
            <a:spAutoFit/>
          </a:bodyPr>
          <a:lstStyle/>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指令处理步骤</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算术逻辑指令数据通路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访存指令的数据通路</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控制流指令数据通路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solidFill>
                  <a:srgbClr val="FF0000"/>
                </a:solidFill>
                <a:latin typeface="微软雅黑" panose="020B0503020204020204" pitchFamily="34" charset="-122"/>
                <a:ea typeface="微软雅黑" panose="020B0503020204020204" pitchFamily="34" charset="-122"/>
                <a:cs typeface="Calibri" panose="020F0502020204030204"/>
              </a:rPr>
              <a:t>MIPS</a:t>
            </a:r>
            <a:r>
              <a:rPr lang="zh-CN" altLang="en-US" sz="2800" b="0" spc="-60" dirty="0">
                <a:solidFill>
                  <a:srgbClr val="FF0000"/>
                </a:solidFill>
                <a:latin typeface="微软雅黑" panose="020B0503020204020204" pitchFamily="34" charset="-122"/>
                <a:ea typeface="微软雅黑" panose="020B0503020204020204" pitchFamily="34" charset="-122"/>
                <a:cs typeface="Calibri" panose="020F0502020204030204"/>
              </a:rPr>
              <a:t>单周期控制逻辑</a:t>
            </a:r>
            <a:endParaRPr lang="en-US" altLang="zh-CN" sz="2800" b="0" spc="-60" dirty="0">
              <a:solidFill>
                <a:srgbClr val="FF0000"/>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单周期性能分析</a:t>
            </a:r>
            <a:endParaRPr sz="2800" b="0" spc="-60" dirty="0">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24</a:t>
            </a:fld>
            <a:endParaRPr lang="zh-CN" altLang="en-US"/>
          </a:p>
        </p:txBody>
      </p:sp>
    </p:spTree>
    <p:extLst>
      <p:ext uri="{BB962C8B-B14F-4D97-AF65-F5344CB8AC3E}">
        <p14:creationId xmlns:p14="http://schemas.microsoft.com/office/powerpoint/2010/main" val="2814236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76200"/>
            <a:ext cx="8229600" cy="990600"/>
          </a:xfrm>
        </p:spPr>
        <p:txBody>
          <a:bodyPr/>
          <a:lstStyle/>
          <a:p>
            <a:pPr eaLnBrk="1" hangingPunct="1"/>
            <a:r>
              <a:rPr lang="zh-CN" altLang="en-US" dirty="0"/>
              <a:t>单周期的硬布线控制</a:t>
            </a:r>
            <a:endParaRPr lang="en-US" altLang="zh-CN" dirty="0"/>
          </a:p>
        </p:txBody>
      </p:sp>
      <p:sp>
        <p:nvSpPr>
          <p:cNvPr id="27651" name="Content Placeholder 2"/>
          <p:cNvSpPr>
            <a:spLocks noGrp="1"/>
          </p:cNvSpPr>
          <p:nvPr>
            <p:ph idx="1"/>
          </p:nvPr>
        </p:nvSpPr>
        <p:spPr>
          <a:xfrm>
            <a:off x="476054" y="1124930"/>
            <a:ext cx="8229600" cy="5656870"/>
          </a:xfrm>
        </p:spPr>
        <p:txBody>
          <a:bodyPr/>
          <a:lstStyle/>
          <a:p>
            <a:pPr eaLnBrk="1" hangingPunct="1">
              <a:defRPr/>
            </a:pPr>
            <a:r>
              <a:rPr lang="zh-CN" altLang="en-US" dirty="0"/>
              <a:t>控制信号由</a:t>
            </a:r>
            <a:r>
              <a:rPr lang="en-US" altLang="zh-CN" dirty="0"/>
              <a:t>Inst=MEM[PC]</a:t>
            </a:r>
            <a:r>
              <a:rPr lang="zh-CN" altLang="en-US" dirty="0"/>
              <a:t>的组合逻辑产生</a:t>
            </a:r>
            <a:endParaRPr lang="en-US" altLang="zh-CN" dirty="0"/>
          </a:p>
          <a:p>
            <a:pPr eaLnBrk="1" hangingPunct="1">
              <a:defRPr/>
            </a:pPr>
            <a:endParaRPr lang="en-US" altLang="zh-CN" dirty="0"/>
          </a:p>
          <a:p>
            <a:pPr eaLnBrk="1" hangingPunct="1">
              <a:defRPr/>
            </a:pPr>
            <a:endParaRPr lang="en-US" altLang="zh-CN" dirty="0"/>
          </a:p>
          <a:p>
            <a:pPr eaLnBrk="1" hangingPunct="1">
              <a:defRPr/>
            </a:pPr>
            <a:endParaRPr lang="en-US" altLang="zh-CN" dirty="0"/>
          </a:p>
          <a:p>
            <a:pPr marL="0" indent="0" eaLnBrk="1" hangingPunct="1">
              <a:buFont typeface="Arial" charset="0"/>
              <a:buNone/>
              <a:defRPr/>
            </a:pPr>
            <a:endParaRPr lang="en-US" altLang="zh-CN" dirty="0"/>
          </a:p>
          <a:p>
            <a:pPr marL="0" indent="0" eaLnBrk="1" hangingPunct="1">
              <a:buFont typeface="Arial" charset="0"/>
              <a:buNone/>
              <a:defRPr/>
            </a:pPr>
            <a:endParaRPr lang="en-US" altLang="zh-CN" dirty="0"/>
          </a:p>
          <a:p>
            <a:pPr eaLnBrk="1" hangingPunct="1">
              <a:defRPr/>
            </a:pPr>
            <a:r>
              <a:rPr lang="zh-CN" altLang="en-US" dirty="0"/>
              <a:t>考虑：</a:t>
            </a:r>
            <a:endParaRPr lang="en-US" altLang="zh-CN" dirty="0"/>
          </a:p>
          <a:p>
            <a:pPr marL="584835" lvl="1" indent="-330835">
              <a:spcBef>
                <a:spcPts val="600"/>
              </a:spcBef>
              <a:spcAft>
                <a:spcPts val="600"/>
              </a:spcAft>
              <a:buClr>
                <a:srgbClr val="151F36"/>
              </a:buClr>
              <a:buSzPct val="100000"/>
              <a:buFont typeface="Arial" panose="020B0604020202020204" pitchFamily="34" charset="0"/>
              <a:buChar char="–"/>
              <a:tabLst>
                <a:tab pos="584835" algn="l"/>
                <a:tab pos="585470" algn="l"/>
              </a:tabLst>
              <a:defRPr/>
            </a:pPr>
            <a:r>
              <a:rPr lang="zh-CN" altLang="en-US" kern="1200" spc="5" dirty="0">
                <a:solidFill>
                  <a:schemeClr val="tx1">
                    <a:lumMod val="95000"/>
                    <a:lumOff val="5000"/>
                  </a:schemeClr>
                </a:solidFill>
                <a:cs typeface="Calibri" panose="020F0502020204030204"/>
              </a:rPr>
              <a:t>所有的</a:t>
            </a:r>
            <a:r>
              <a:rPr lang="en-US" altLang="zh-CN" kern="1200" spc="5" dirty="0">
                <a:solidFill>
                  <a:schemeClr val="tx1">
                    <a:lumMod val="95000"/>
                    <a:lumOff val="5000"/>
                  </a:schemeClr>
                </a:solidFill>
                <a:cs typeface="Calibri" panose="020F0502020204030204"/>
              </a:rPr>
              <a:t>R-type </a:t>
            </a:r>
            <a:r>
              <a:rPr lang="zh-CN" altLang="en-US" kern="1200" spc="5" dirty="0">
                <a:solidFill>
                  <a:schemeClr val="tx1">
                    <a:lumMod val="95000"/>
                    <a:lumOff val="5000"/>
                  </a:schemeClr>
                </a:solidFill>
                <a:cs typeface="Calibri" panose="020F0502020204030204"/>
              </a:rPr>
              <a:t>和</a:t>
            </a:r>
            <a:r>
              <a:rPr lang="en-US" altLang="zh-CN" kern="1200" spc="5" dirty="0">
                <a:solidFill>
                  <a:schemeClr val="tx1">
                    <a:lumMod val="95000"/>
                    <a:lumOff val="5000"/>
                  </a:schemeClr>
                </a:solidFill>
                <a:cs typeface="Calibri" panose="020F0502020204030204"/>
              </a:rPr>
              <a:t> I-type ALU </a:t>
            </a:r>
            <a:r>
              <a:rPr lang="zh-CN" altLang="en-US" kern="1200" spc="5" dirty="0">
                <a:solidFill>
                  <a:schemeClr val="tx1">
                    <a:lumMod val="95000"/>
                    <a:lumOff val="5000"/>
                  </a:schemeClr>
                </a:solidFill>
                <a:cs typeface="Calibri" panose="020F0502020204030204"/>
              </a:rPr>
              <a:t>指令</a:t>
            </a:r>
            <a:endParaRPr lang="en-US" altLang="zh-CN" kern="1200" spc="5" dirty="0">
              <a:solidFill>
                <a:schemeClr val="tx1">
                  <a:lumMod val="95000"/>
                  <a:lumOff val="5000"/>
                </a:schemeClr>
              </a:solidFill>
              <a:cs typeface="Calibri" panose="020F0502020204030204"/>
            </a:endParaRPr>
          </a:p>
          <a:p>
            <a:pPr marL="584835" lvl="1" indent="-330835">
              <a:spcBef>
                <a:spcPts val="600"/>
              </a:spcBef>
              <a:spcAft>
                <a:spcPts val="600"/>
              </a:spcAft>
              <a:buClr>
                <a:srgbClr val="151F36"/>
              </a:buClr>
              <a:buSzPct val="100000"/>
              <a:buFont typeface="Arial" panose="020B0604020202020204" pitchFamily="34" charset="0"/>
              <a:buChar char="–"/>
              <a:tabLst>
                <a:tab pos="584835" algn="l"/>
                <a:tab pos="585470" algn="l"/>
              </a:tabLst>
              <a:defRPr/>
            </a:pPr>
            <a:r>
              <a:rPr lang="en-US" altLang="zh-CN" kern="1200" spc="5" dirty="0">
                <a:solidFill>
                  <a:schemeClr val="tx1">
                    <a:lumMod val="95000"/>
                    <a:lumOff val="5000"/>
                  </a:schemeClr>
                </a:solidFill>
                <a:cs typeface="Calibri" panose="020F0502020204030204"/>
              </a:rPr>
              <a:t>LW </a:t>
            </a:r>
            <a:r>
              <a:rPr lang="zh-CN" altLang="en-US" kern="1200" spc="5" dirty="0">
                <a:solidFill>
                  <a:schemeClr val="tx1">
                    <a:lumMod val="95000"/>
                    <a:lumOff val="5000"/>
                  </a:schemeClr>
                </a:solidFill>
                <a:cs typeface="Calibri" panose="020F0502020204030204"/>
              </a:rPr>
              <a:t>和</a:t>
            </a:r>
            <a:r>
              <a:rPr lang="en-US" altLang="zh-CN" kern="1200" spc="5" dirty="0">
                <a:solidFill>
                  <a:schemeClr val="tx1">
                    <a:lumMod val="95000"/>
                    <a:lumOff val="5000"/>
                  </a:schemeClr>
                </a:solidFill>
                <a:cs typeface="Calibri" panose="020F0502020204030204"/>
              </a:rPr>
              <a:t> SW</a:t>
            </a:r>
          </a:p>
          <a:p>
            <a:pPr marL="584835" lvl="1" indent="-330835">
              <a:spcBef>
                <a:spcPts val="600"/>
              </a:spcBef>
              <a:spcAft>
                <a:spcPts val="600"/>
              </a:spcAft>
              <a:buClr>
                <a:srgbClr val="151F36"/>
              </a:buClr>
              <a:buSzPct val="100000"/>
              <a:buFont typeface="Arial" panose="020B0604020202020204" pitchFamily="34" charset="0"/>
              <a:buChar char="–"/>
              <a:tabLst>
                <a:tab pos="584835" algn="l"/>
                <a:tab pos="585470" algn="l"/>
              </a:tabLst>
              <a:defRPr/>
            </a:pPr>
            <a:r>
              <a:rPr lang="en-US" altLang="zh-CN" kern="1200" spc="5" dirty="0">
                <a:solidFill>
                  <a:schemeClr val="tx1">
                    <a:lumMod val="95000"/>
                    <a:lumOff val="5000"/>
                  </a:schemeClr>
                </a:solidFill>
                <a:cs typeface="Calibri" panose="020F0502020204030204"/>
                <a:sym typeface="Symbol" pitchFamily="18" charset="2"/>
              </a:rPr>
              <a:t>BEQ, BNE, BLEZ, BGTZ</a:t>
            </a:r>
          </a:p>
          <a:p>
            <a:pPr marL="584835" lvl="1" indent="-330835">
              <a:spcBef>
                <a:spcPts val="600"/>
              </a:spcBef>
              <a:spcAft>
                <a:spcPts val="600"/>
              </a:spcAft>
              <a:buClr>
                <a:srgbClr val="151F36"/>
              </a:buClr>
              <a:buSzPct val="100000"/>
              <a:buFont typeface="Arial" panose="020B0604020202020204" pitchFamily="34" charset="0"/>
              <a:buChar char="–"/>
              <a:tabLst>
                <a:tab pos="584835" algn="l"/>
                <a:tab pos="585470" algn="l"/>
              </a:tabLst>
              <a:defRPr/>
            </a:pPr>
            <a:r>
              <a:rPr lang="en-US" altLang="zh-CN" kern="1200" spc="5" dirty="0">
                <a:solidFill>
                  <a:schemeClr val="tx1">
                    <a:lumMod val="95000"/>
                    <a:lumOff val="5000"/>
                  </a:schemeClr>
                </a:solidFill>
                <a:cs typeface="Calibri" panose="020F0502020204030204"/>
                <a:sym typeface="Symbol" pitchFamily="18" charset="2"/>
              </a:rPr>
              <a:t>J, JR, JAL, JALR</a:t>
            </a:r>
          </a:p>
          <a:p>
            <a:pPr eaLnBrk="1" hangingPunct="1">
              <a:defRPr/>
            </a:pPr>
            <a:endParaRPr lang="en-US" altLang="zh-CN" dirty="0"/>
          </a:p>
        </p:txBody>
      </p:sp>
      <p:grpSp>
        <p:nvGrpSpPr>
          <p:cNvPr id="26629" name="Group 4"/>
          <p:cNvGrpSpPr>
            <a:grpSpLocks/>
          </p:cNvGrpSpPr>
          <p:nvPr/>
        </p:nvGrpSpPr>
        <p:grpSpPr bwMode="auto">
          <a:xfrm>
            <a:off x="904875" y="2759957"/>
            <a:ext cx="2895600" cy="304800"/>
            <a:chOff x="720" y="3486"/>
            <a:chExt cx="1968" cy="192"/>
          </a:xfrm>
        </p:grpSpPr>
        <p:sp>
          <p:nvSpPr>
            <p:cNvPr id="26659" name="Rectangle 5"/>
            <p:cNvSpPr>
              <a:spLocks noChangeArrowheads="1"/>
            </p:cNvSpPr>
            <p:nvPr/>
          </p:nvSpPr>
          <p:spPr bwMode="auto">
            <a:xfrm>
              <a:off x="720" y="3486"/>
              <a:ext cx="720" cy="192"/>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opcode</a:t>
              </a:r>
            </a:p>
            <a:p>
              <a:r>
                <a:rPr lang="en-US" altLang="zh-CN" sz="1600">
                  <a:solidFill>
                    <a:srgbClr val="000000"/>
                  </a:solidFill>
                  <a:latin typeface="Calibri" pitchFamily="34" charset="0"/>
                </a:rPr>
                <a:t>6-bit</a:t>
              </a:r>
            </a:p>
          </p:txBody>
        </p:sp>
        <p:sp>
          <p:nvSpPr>
            <p:cNvPr id="26660" name="Rectangle 6"/>
            <p:cNvSpPr>
              <a:spLocks noChangeArrowheads="1"/>
            </p:cNvSpPr>
            <p:nvPr/>
          </p:nvSpPr>
          <p:spPr bwMode="auto">
            <a:xfrm>
              <a:off x="1440" y="3486"/>
              <a:ext cx="624" cy="192"/>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rs</a:t>
              </a:r>
            </a:p>
            <a:p>
              <a:r>
                <a:rPr lang="en-US" altLang="zh-CN" sz="1600">
                  <a:solidFill>
                    <a:srgbClr val="000000"/>
                  </a:solidFill>
                  <a:latin typeface="Calibri" pitchFamily="34" charset="0"/>
                </a:rPr>
                <a:t>5-bit</a:t>
              </a:r>
            </a:p>
          </p:txBody>
        </p:sp>
        <p:sp>
          <p:nvSpPr>
            <p:cNvPr id="26661" name="Rectangle 7"/>
            <p:cNvSpPr>
              <a:spLocks noChangeArrowheads="1"/>
            </p:cNvSpPr>
            <p:nvPr/>
          </p:nvSpPr>
          <p:spPr bwMode="auto">
            <a:xfrm>
              <a:off x="2064" y="3486"/>
              <a:ext cx="624" cy="192"/>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rt</a:t>
              </a:r>
            </a:p>
            <a:p>
              <a:r>
                <a:rPr lang="en-US" altLang="zh-CN" sz="1600">
                  <a:solidFill>
                    <a:srgbClr val="000000"/>
                  </a:solidFill>
                  <a:latin typeface="Calibri" pitchFamily="34" charset="0"/>
                </a:rPr>
                <a:t>5-bit</a:t>
              </a:r>
            </a:p>
          </p:txBody>
        </p:sp>
      </p:grpSp>
      <p:sp>
        <p:nvSpPr>
          <p:cNvPr id="26630" name="Rectangle 8"/>
          <p:cNvSpPr>
            <a:spLocks noChangeArrowheads="1"/>
          </p:cNvSpPr>
          <p:nvPr/>
        </p:nvSpPr>
        <p:spPr bwMode="auto">
          <a:xfrm>
            <a:off x="3800475" y="2759957"/>
            <a:ext cx="2895600" cy="304800"/>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immediate</a:t>
            </a:r>
          </a:p>
          <a:p>
            <a:r>
              <a:rPr lang="en-US" altLang="zh-CN" sz="1600">
                <a:solidFill>
                  <a:srgbClr val="000000"/>
                </a:solidFill>
                <a:latin typeface="Calibri" pitchFamily="34" charset="0"/>
              </a:rPr>
              <a:t>16-bit</a:t>
            </a:r>
          </a:p>
        </p:txBody>
      </p:sp>
      <p:sp>
        <p:nvSpPr>
          <p:cNvPr id="26631" name="Text Box 9"/>
          <p:cNvSpPr txBox="1">
            <a:spLocks noChangeArrowheads="1"/>
          </p:cNvSpPr>
          <p:nvPr/>
        </p:nvSpPr>
        <p:spPr bwMode="auto">
          <a:xfrm>
            <a:off x="7173913" y="2629782"/>
            <a:ext cx="1035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800">
                <a:solidFill>
                  <a:srgbClr val="000000"/>
                </a:solidFill>
                <a:latin typeface="Calibri" pitchFamily="34" charset="0"/>
              </a:rPr>
              <a:t>I-type</a:t>
            </a:r>
          </a:p>
        </p:txBody>
      </p:sp>
      <p:sp>
        <p:nvSpPr>
          <p:cNvPr id="26632" name="Text Box 10"/>
          <p:cNvSpPr txBox="1">
            <a:spLocks noChangeArrowheads="1"/>
          </p:cNvSpPr>
          <p:nvPr/>
        </p:nvSpPr>
        <p:spPr bwMode="auto">
          <a:xfrm>
            <a:off x="7186613" y="1882070"/>
            <a:ext cx="1139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800">
                <a:solidFill>
                  <a:srgbClr val="000000"/>
                </a:solidFill>
                <a:latin typeface="Calibri" pitchFamily="34" charset="0"/>
              </a:rPr>
              <a:t>R-type</a:t>
            </a:r>
          </a:p>
        </p:txBody>
      </p:sp>
      <p:sp>
        <p:nvSpPr>
          <p:cNvPr id="26633" name="Rectangle 11"/>
          <p:cNvSpPr>
            <a:spLocks noChangeArrowheads="1"/>
          </p:cNvSpPr>
          <p:nvPr/>
        </p:nvSpPr>
        <p:spPr bwMode="auto">
          <a:xfrm>
            <a:off x="904875" y="2012245"/>
            <a:ext cx="1066800" cy="304800"/>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0</a:t>
            </a:r>
          </a:p>
          <a:p>
            <a:r>
              <a:rPr lang="en-US" altLang="zh-CN" sz="1600">
                <a:solidFill>
                  <a:srgbClr val="000000"/>
                </a:solidFill>
                <a:latin typeface="Calibri" pitchFamily="34" charset="0"/>
              </a:rPr>
              <a:t>6-bit</a:t>
            </a:r>
          </a:p>
        </p:txBody>
      </p:sp>
      <p:grpSp>
        <p:nvGrpSpPr>
          <p:cNvPr id="26634" name="Group 12"/>
          <p:cNvGrpSpPr>
            <a:grpSpLocks/>
          </p:cNvGrpSpPr>
          <p:nvPr/>
        </p:nvGrpSpPr>
        <p:grpSpPr bwMode="auto">
          <a:xfrm>
            <a:off x="1971675" y="2012245"/>
            <a:ext cx="1830388" cy="304800"/>
            <a:chOff x="1328" y="3015"/>
            <a:chExt cx="1217" cy="192"/>
          </a:xfrm>
        </p:grpSpPr>
        <p:sp>
          <p:nvSpPr>
            <p:cNvPr id="26657" name="Rectangle 13"/>
            <p:cNvSpPr>
              <a:spLocks noChangeArrowheads="1"/>
            </p:cNvSpPr>
            <p:nvPr/>
          </p:nvSpPr>
          <p:spPr bwMode="auto">
            <a:xfrm>
              <a:off x="1328" y="3015"/>
              <a:ext cx="609" cy="192"/>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rs</a:t>
              </a:r>
            </a:p>
            <a:p>
              <a:r>
                <a:rPr lang="en-US" altLang="zh-CN" sz="1600">
                  <a:solidFill>
                    <a:srgbClr val="000000"/>
                  </a:solidFill>
                  <a:latin typeface="Calibri" pitchFamily="34" charset="0"/>
                </a:rPr>
                <a:t>5-bit</a:t>
              </a:r>
            </a:p>
          </p:txBody>
        </p:sp>
        <p:sp>
          <p:nvSpPr>
            <p:cNvPr id="26658" name="Rectangle 14"/>
            <p:cNvSpPr>
              <a:spLocks noChangeArrowheads="1"/>
            </p:cNvSpPr>
            <p:nvPr/>
          </p:nvSpPr>
          <p:spPr bwMode="auto">
            <a:xfrm>
              <a:off x="1937" y="3015"/>
              <a:ext cx="608" cy="192"/>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rt</a:t>
              </a:r>
            </a:p>
            <a:p>
              <a:r>
                <a:rPr lang="en-US" altLang="zh-CN" sz="1600">
                  <a:solidFill>
                    <a:srgbClr val="000000"/>
                  </a:solidFill>
                  <a:latin typeface="Calibri" pitchFamily="34" charset="0"/>
                </a:rPr>
                <a:t>5-bit</a:t>
              </a:r>
            </a:p>
          </p:txBody>
        </p:sp>
      </p:grpSp>
      <p:grpSp>
        <p:nvGrpSpPr>
          <p:cNvPr id="26635" name="Group 15"/>
          <p:cNvGrpSpPr>
            <a:grpSpLocks/>
          </p:cNvGrpSpPr>
          <p:nvPr/>
        </p:nvGrpSpPr>
        <p:grpSpPr bwMode="auto">
          <a:xfrm>
            <a:off x="3800475" y="2015420"/>
            <a:ext cx="2895600" cy="304800"/>
            <a:chOff x="2545" y="3015"/>
            <a:chExt cx="1919" cy="192"/>
          </a:xfrm>
        </p:grpSpPr>
        <p:sp>
          <p:nvSpPr>
            <p:cNvPr id="26654" name="Rectangle 16"/>
            <p:cNvSpPr>
              <a:spLocks noChangeArrowheads="1"/>
            </p:cNvSpPr>
            <p:nvPr/>
          </p:nvSpPr>
          <p:spPr bwMode="auto">
            <a:xfrm>
              <a:off x="2545" y="3015"/>
              <a:ext cx="609" cy="192"/>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rd</a:t>
              </a:r>
            </a:p>
            <a:p>
              <a:r>
                <a:rPr lang="en-US" altLang="zh-CN" sz="1600">
                  <a:solidFill>
                    <a:srgbClr val="000000"/>
                  </a:solidFill>
                  <a:latin typeface="Calibri" pitchFamily="34" charset="0"/>
                </a:rPr>
                <a:t>5-bit</a:t>
              </a:r>
            </a:p>
          </p:txBody>
        </p:sp>
        <p:sp>
          <p:nvSpPr>
            <p:cNvPr id="26655" name="Rectangle 17"/>
            <p:cNvSpPr>
              <a:spLocks noChangeArrowheads="1"/>
            </p:cNvSpPr>
            <p:nvPr/>
          </p:nvSpPr>
          <p:spPr bwMode="auto">
            <a:xfrm>
              <a:off x="3154" y="3015"/>
              <a:ext cx="608" cy="192"/>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shamt</a:t>
              </a:r>
            </a:p>
            <a:p>
              <a:r>
                <a:rPr lang="en-US" altLang="zh-CN" sz="1600">
                  <a:solidFill>
                    <a:srgbClr val="000000"/>
                  </a:solidFill>
                  <a:latin typeface="Calibri" pitchFamily="34" charset="0"/>
                </a:rPr>
                <a:t>5-bit</a:t>
              </a:r>
            </a:p>
          </p:txBody>
        </p:sp>
        <p:sp>
          <p:nvSpPr>
            <p:cNvPr id="26656" name="Rectangle 18"/>
            <p:cNvSpPr>
              <a:spLocks noChangeArrowheads="1"/>
            </p:cNvSpPr>
            <p:nvPr/>
          </p:nvSpPr>
          <p:spPr bwMode="auto">
            <a:xfrm>
              <a:off x="3762" y="3015"/>
              <a:ext cx="702" cy="192"/>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funct</a:t>
              </a:r>
            </a:p>
            <a:p>
              <a:r>
                <a:rPr lang="en-US" altLang="zh-CN" sz="1600">
                  <a:solidFill>
                    <a:srgbClr val="000000"/>
                  </a:solidFill>
                  <a:latin typeface="Calibri" pitchFamily="34" charset="0"/>
                </a:rPr>
                <a:t>6-bit</a:t>
              </a:r>
            </a:p>
          </p:txBody>
        </p:sp>
      </p:grpSp>
      <p:sp>
        <p:nvSpPr>
          <p:cNvPr id="26636" name="Rectangle 19"/>
          <p:cNvSpPr>
            <a:spLocks noChangeArrowheads="1"/>
          </p:cNvSpPr>
          <p:nvPr/>
        </p:nvSpPr>
        <p:spPr bwMode="auto">
          <a:xfrm>
            <a:off x="904875" y="3474332"/>
            <a:ext cx="1066800" cy="304800"/>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opcode</a:t>
            </a:r>
          </a:p>
          <a:p>
            <a:r>
              <a:rPr lang="en-US" altLang="zh-CN" sz="1600">
                <a:solidFill>
                  <a:srgbClr val="000000"/>
                </a:solidFill>
                <a:latin typeface="Calibri" pitchFamily="34" charset="0"/>
              </a:rPr>
              <a:t>6-bit</a:t>
            </a:r>
          </a:p>
        </p:txBody>
      </p:sp>
      <p:sp>
        <p:nvSpPr>
          <p:cNvPr id="26637" name="Rectangle 20"/>
          <p:cNvSpPr>
            <a:spLocks noChangeArrowheads="1"/>
          </p:cNvSpPr>
          <p:nvPr/>
        </p:nvSpPr>
        <p:spPr bwMode="auto">
          <a:xfrm>
            <a:off x="1971675" y="3474332"/>
            <a:ext cx="4724400" cy="304800"/>
          </a:xfrm>
          <a:prstGeom prst="rect">
            <a:avLst/>
          </a:prstGeom>
          <a:solidFill>
            <a:schemeClr val="bg1"/>
          </a:solidFill>
          <a:ln w="19050">
            <a:solidFill>
              <a:schemeClr val="tx1"/>
            </a:solidFill>
            <a:miter lim="800000"/>
            <a:headEnd/>
            <a:tailEnd/>
          </a:ln>
        </p:spPr>
        <p:txBody>
          <a:bodyPr wrap="none" tIns="0"/>
          <a:lstStyle/>
          <a:p>
            <a:r>
              <a:rPr lang="en-US" altLang="zh-CN" sz="2000">
                <a:solidFill>
                  <a:srgbClr val="3B812F"/>
                </a:solidFill>
                <a:latin typeface="Calibri" pitchFamily="34" charset="0"/>
              </a:rPr>
              <a:t>immediate</a:t>
            </a:r>
          </a:p>
          <a:p>
            <a:r>
              <a:rPr lang="en-US" altLang="zh-CN" sz="1600">
                <a:solidFill>
                  <a:srgbClr val="000000"/>
                </a:solidFill>
                <a:latin typeface="Calibri" pitchFamily="34" charset="0"/>
              </a:rPr>
              <a:t>26-bit</a:t>
            </a:r>
          </a:p>
        </p:txBody>
      </p:sp>
      <p:sp>
        <p:nvSpPr>
          <p:cNvPr id="26638" name="Text Box 21"/>
          <p:cNvSpPr txBox="1">
            <a:spLocks noChangeArrowheads="1"/>
          </p:cNvSpPr>
          <p:nvPr/>
        </p:nvSpPr>
        <p:spPr bwMode="auto">
          <a:xfrm>
            <a:off x="7162800" y="3344157"/>
            <a:ext cx="1058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800">
                <a:solidFill>
                  <a:srgbClr val="000000"/>
                </a:solidFill>
                <a:latin typeface="Calibri" pitchFamily="34" charset="0"/>
              </a:rPr>
              <a:t>J-type</a:t>
            </a:r>
          </a:p>
        </p:txBody>
      </p:sp>
      <p:sp>
        <p:nvSpPr>
          <p:cNvPr id="26639" name="Text Box 22"/>
          <p:cNvSpPr txBox="1">
            <a:spLocks noChangeArrowheads="1"/>
          </p:cNvSpPr>
          <p:nvPr/>
        </p:nvSpPr>
        <p:spPr bwMode="auto">
          <a:xfrm>
            <a:off x="6483350" y="1820157"/>
            <a:ext cx="2492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000">
                <a:solidFill>
                  <a:srgbClr val="000000"/>
                </a:solidFill>
                <a:latin typeface="Calibri" pitchFamily="34" charset="0"/>
              </a:rPr>
              <a:t>0</a:t>
            </a:r>
          </a:p>
        </p:txBody>
      </p:sp>
      <p:sp>
        <p:nvSpPr>
          <p:cNvPr id="26640" name="Text Box 23"/>
          <p:cNvSpPr txBox="1">
            <a:spLocks noChangeArrowheads="1"/>
          </p:cNvSpPr>
          <p:nvPr/>
        </p:nvSpPr>
        <p:spPr bwMode="auto">
          <a:xfrm>
            <a:off x="5416550" y="1820157"/>
            <a:ext cx="2492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000">
                <a:solidFill>
                  <a:srgbClr val="000000"/>
                </a:solidFill>
                <a:latin typeface="Calibri" pitchFamily="34" charset="0"/>
              </a:rPr>
              <a:t>6</a:t>
            </a:r>
          </a:p>
        </p:txBody>
      </p:sp>
      <p:sp>
        <p:nvSpPr>
          <p:cNvPr id="26641" name="Text Box 24"/>
          <p:cNvSpPr txBox="1">
            <a:spLocks noChangeArrowheads="1"/>
          </p:cNvSpPr>
          <p:nvPr/>
        </p:nvSpPr>
        <p:spPr bwMode="auto">
          <a:xfrm>
            <a:off x="4476750" y="182015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11</a:t>
            </a:r>
          </a:p>
        </p:txBody>
      </p:sp>
      <p:sp>
        <p:nvSpPr>
          <p:cNvPr id="26642" name="Text Box 25"/>
          <p:cNvSpPr txBox="1">
            <a:spLocks noChangeArrowheads="1"/>
          </p:cNvSpPr>
          <p:nvPr/>
        </p:nvSpPr>
        <p:spPr bwMode="auto">
          <a:xfrm>
            <a:off x="3562350" y="182015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16</a:t>
            </a:r>
          </a:p>
        </p:txBody>
      </p:sp>
      <p:sp>
        <p:nvSpPr>
          <p:cNvPr id="26643" name="Text Box 26"/>
          <p:cNvSpPr txBox="1">
            <a:spLocks noChangeArrowheads="1"/>
          </p:cNvSpPr>
          <p:nvPr/>
        </p:nvSpPr>
        <p:spPr bwMode="auto">
          <a:xfrm>
            <a:off x="2647950" y="182015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21</a:t>
            </a:r>
          </a:p>
        </p:txBody>
      </p:sp>
      <p:sp>
        <p:nvSpPr>
          <p:cNvPr id="26644" name="Text Box 27"/>
          <p:cNvSpPr txBox="1">
            <a:spLocks noChangeArrowheads="1"/>
          </p:cNvSpPr>
          <p:nvPr/>
        </p:nvSpPr>
        <p:spPr bwMode="auto">
          <a:xfrm>
            <a:off x="1733550" y="182015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26</a:t>
            </a:r>
          </a:p>
        </p:txBody>
      </p:sp>
      <p:sp>
        <p:nvSpPr>
          <p:cNvPr id="26645" name="Text Box 28"/>
          <p:cNvSpPr txBox="1">
            <a:spLocks noChangeArrowheads="1"/>
          </p:cNvSpPr>
          <p:nvPr/>
        </p:nvSpPr>
        <p:spPr bwMode="auto">
          <a:xfrm>
            <a:off x="838200" y="182015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31</a:t>
            </a:r>
          </a:p>
        </p:txBody>
      </p:sp>
      <p:sp>
        <p:nvSpPr>
          <p:cNvPr id="26646" name="Text Box 29"/>
          <p:cNvSpPr txBox="1">
            <a:spLocks noChangeArrowheads="1"/>
          </p:cNvSpPr>
          <p:nvPr/>
        </p:nvSpPr>
        <p:spPr bwMode="auto">
          <a:xfrm>
            <a:off x="6483350" y="2563107"/>
            <a:ext cx="2492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000">
                <a:solidFill>
                  <a:srgbClr val="000000"/>
                </a:solidFill>
                <a:latin typeface="Calibri" pitchFamily="34" charset="0"/>
              </a:rPr>
              <a:t>0</a:t>
            </a:r>
          </a:p>
        </p:txBody>
      </p:sp>
      <p:sp>
        <p:nvSpPr>
          <p:cNvPr id="26647" name="Text Box 30"/>
          <p:cNvSpPr txBox="1">
            <a:spLocks noChangeArrowheads="1"/>
          </p:cNvSpPr>
          <p:nvPr/>
        </p:nvSpPr>
        <p:spPr bwMode="auto">
          <a:xfrm>
            <a:off x="3562350" y="256310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16</a:t>
            </a:r>
          </a:p>
        </p:txBody>
      </p:sp>
      <p:sp>
        <p:nvSpPr>
          <p:cNvPr id="26648" name="Text Box 31"/>
          <p:cNvSpPr txBox="1">
            <a:spLocks noChangeArrowheads="1"/>
          </p:cNvSpPr>
          <p:nvPr/>
        </p:nvSpPr>
        <p:spPr bwMode="auto">
          <a:xfrm>
            <a:off x="2647950" y="256310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21</a:t>
            </a:r>
          </a:p>
        </p:txBody>
      </p:sp>
      <p:sp>
        <p:nvSpPr>
          <p:cNvPr id="26649" name="Text Box 32"/>
          <p:cNvSpPr txBox="1">
            <a:spLocks noChangeArrowheads="1"/>
          </p:cNvSpPr>
          <p:nvPr/>
        </p:nvSpPr>
        <p:spPr bwMode="auto">
          <a:xfrm>
            <a:off x="1733550" y="256310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26</a:t>
            </a:r>
          </a:p>
        </p:txBody>
      </p:sp>
      <p:sp>
        <p:nvSpPr>
          <p:cNvPr id="26650" name="Text Box 33"/>
          <p:cNvSpPr txBox="1">
            <a:spLocks noChangeArrowheads="1"/>
          </p:cNvSpPr>
          <p:nvPr/>
        </p:nvSpPr>
        <p:spPr bwMode="auto">
          <a:xfrm>
            <a:off x="838200" y="256310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31</a:t>
            </a:r>
          </a:p>
        </p:txBody>
      </p:sp>
      <p:sp>
        <p:nvSpPr>
          <p:cNvPr id="26651" name="Text Box 34"/>
          <p:cNvSpPr txBox="1">
            <a:spLocks noChangeArrowheads="1"/>
          </p:cNvSpPr>
          <p:nvPr/>
        </p:nvSpPr>
        <p:spPr bwMode="auto">
          <a:xfrm>
            <a:off x="6483350" y="3280657"/>
            <a:ext cx="2492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000">
                <a:solidFill>
                  <a:srgbClr val="000000"/>
                </a:solidFill>
                <a:latin typeface="Calibri" pitchFamily="34" charset="0"/>
              </a:rPr>
              <a:t>0</a:t>
            </a:r>
          </a:p>
        </p:txBody>
      </p:sp>
      <p:sp>
        <p:nvSpPr>
          <p:cNvPr id="26652" name="Text Box 35"/>
          <p:cNvSpPr txBox="1">
            <a:spLocks noChangeArrowheads="1"/>
          </p:cNvSpPr>
          <p:nvPr/>
        </p:nvSpPr>
        <p:spPr bwMode="auto">
          <a:xfrm>
            <a:off x="1733550" y="328065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26</a:t>
            </a:r>
          </a:p>
        </p:txBody>
      </p:sp>
      <p:sp>
        <p:nvSpPr>
          <p:cNvPr id="26653" name="Text Box 36"/>
          <p:cNvSpPr txBox="1">
            <a:spLocks noChangeArrowheads="1"/>
          </p:cNvSpPr>
          <p:nvPr/>
        </p:nvSpPr>
        <p:spPr bwMode="auto">
          <a:xfrm>
            <a:off x="838200" y="3280657"/>
            <a:ext cx="31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000">
                <a:solidFill>
                  <a:srgbClr val="000000"/>
                </a:solidFill>
                <a:latin typeface="Calibri" pitchFamily="34" charset="0"/>
              </a:rPr>
              <a:t>31</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25</a:t>
            </a:fld>
            <a:endParaRPr lang="zh-CN" altLang="en-US"/>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81000" y="76200"/>
            <a:ext cx="8305800" cy="990600"/>
          </a:xfrm>
        </p:spPr>
        <p:txBody>
          <a:bodyPr/>
          <a:lstStyle/>
          <a:p>
            <a:pPr eaLnBrk="1" hangingPunct="1"/>
            <a:r>
              <a:rPr lang="zh-CN" altLang="en-US" dirty="0"/>
              <a:t>单个比特控制信号</a:t>
            </a:r>
            <a:endParaRPr lang="en-US" altLang="zh-CN" dirty="0"/>
          </a:p>
        </p:txBody>
      </p:sp>
      <p:graphicFrame>
        <p:nvGraphicFramePr>
          <p:cNvPr id="7" name="Group 3"/>
          <p:cNvGraphicFramePr>
            <a:graphicFrameLocks noGrp="1"/>
          </p:cNvGraphicFramePr>
          <p:nvPr/>
        </p:nvGraphicFramePr>
        <p:xfrm>
          <a:off x="152400" y="1219200"/>
          <a:ext cx="8839200" cy="4711701"/>
        </p:xfrm>
        <a:graphic>
          <a:graphicData uri="http://schemas.openxmlformats.org/drawingml/2006/table">
            <a:tbl>
              <a:tblPr/>
              <a:tblGrid>
                <a:gridCol w="1457325">
                  <a:extLst>
                    <a:ext uri="{9D8B030D-6E8A-4147-A177-3AD203B41FA5}">
                      <a16:colId xmlns:a16="http://schemas.microsoft.com/office/drawing/2014/main" val="20000"/>
                    </a:ext>
                  </a:extLst>
                </a:gridCol>
                <a:gridCol w="2586038">
                  <a:extLst>
                    <a:ext uri="{9D8B030D-6E8A-4147-A177-3AD203B41FA5}">
                      <a16:colId xmlns:a16="http://schemas.microsoft.com/office/drawing/2014/main" val="20001"/>
                    </a:ext>
                  </a:extLst>
                </a:gridCol>
                <a:gridCol w="2586037">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580936">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endParaRPr kumimoji="0" lang="zh-CN" altLang="zh-CN" sz="1900" b="0" i="0" u="none" strike="noStrike" cap="none" normalizeH="0" baseline="0" dirty="0">
                        <a:ln>
                          <a:noFill/>
                        </a:ln>
                        <a:solidFill>
                          <a:schemeClr val="tx1"/>
                        </a:solidFill>
                        <a:effectLst/>
                        <a:latin typeface="Calibri" pitchFamily="34" charset="0"/>
                        <a:ea typeface="ＭＳ Ｐゴシック" pitchFamily="34" charset="-128"/>
                      </a:endParaRPr>
                    </a:p>
                  </a:txBody>
                  <a:tcPr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zh-CN" altLang="en-US" sz="1900" b="0" i="0" u="none" strike="noStrike" cap="none" normalizeH="0" baseline="0" dirty="0">
                          <a:ln>
                            <a:noFill/>
                          </a:ln>
                          <a:solidFill>
                            <a:schemeClr val="tx1"/>
                          </a:solidFill>
                          <a:effectLst/>
                          <a:latin typeface="Calibri" pitchFamily="34" charset="0"/>
                          <a:ea typeface="ＭＳ Ｐゴシック" pitchFamily="34" charset="-128"/>
                        </a:rPr>
                        <a:t>条件不成立</a:t>
                      </a:r>
                      <a:endPar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endParaRPr>
                    </a:p>
                  </a:txBody>
                  <a:tcPr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zh-CN" altLang="en-US" sz="1900" b="0" i="0" u="none" strike="noStrike" cap="none" normalizeH="0" baseline="0" dirty="0">
                          <a:ln>
                            <a:noFill/>
                          </a:ln>
                          <a:solidFill>
                            <a:schemeClr val="tx1"/>
                          </a:solidFill>
                          <a:effectLst/>
                          <a:latin typeface="Calibri" pitchFamily="34" charset="0"/>
                          <a:ea typeface="ＭＳ Ｐゴシック" pitchFamily="34" charset="-128"/>
                        </a:rPr>
                        <a:t>条件成立</a:t>
                      </a:r>
                      <a:endPar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endParaRPr>
                    </a:p>
                  </a:txBody>
                  <a:tcPr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zh-CN" altLang="en-US" sz="1900" b="0" i="0" u="none" strike="noStrike" cap="none" normalizeH="0" baseline="0" dirty="0">
                          <a:ln>
                            <a:noFill/>
                          </a:ln>
                          <a:solidFill>
                            <a:schemeClr val="tx1"/>
                          </a:solidFill>
                          <a:effectLst/>
                          <a:latin typeface="Calibri" pitchFamily="34" charset="0"/>
                          <a:ea typeface="ＭＳ Ｐゴシック" pitchFamily="34" charset="-128"/>
                        </a:rPr>
                        <a:t>条件</a:t>
                      </a:r>
                      <a:endPar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endParaRPr>
                    </a:p>
                  </a:txBody>
                  <a:tcPr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60291">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rgbClr val="FF9900"/>
                          </a:solidFill>
                          <a:effectLst/>
                          <a:latin typeface="Calibri" pitchFamily="34" charset="0"/>
                          <a:ea typeface="ＭＳ Ｐゴシック" pitchFamily="34" charset="-128"/>
                        </a:rPr>
                        <a:t>RegDest</a:t>
                      </a:r>
                    </a:p>
                  </a:txBody>
                  <a:tcPr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GPR write select according to </a:t>
                      </a: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rt, </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i.e., inst[20:16]</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GPR write select according to </a:t>
                      </a: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rd, </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i.e., inst[15:11]</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err="1">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==0</a:t>
                      </a: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76160">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rgbClr val="FF9900"/>
                          </a:solidFill>
                          <a:effectLst/>
                          <a:latin typeface="Calibri" pitchFamily="34" charset="0"/>
                          <a:ea typeface="ＭＳ Ｐゴシック" pitchFamily="34" charset="-128"/>
                        </a:rPr>
                        <a:t>ALUSrc</a:t>
                      </a:r>
                    </a:p>
                  </a:txBody>
                  <a:tcPr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2</a:t>
                      </a:r>
                      <a:r>
                        <a:rPr kumimoji="0" lang="en-US" altLang="zh-CN" sz="1900" b="0" i="0" u="none" strike="noStrike" cap="none" normalizeH="0" baseline="30000" dirty="0">
                          <a:ln>
                            <a:noFill/>
                          </a:ln>
                          <a:solidFill>
                            <a:schemeClr val="tx1"/>
                          </a:solidFill>
                          <a:effectLst/>
                          <a:latin typeface="Calibri" pitchFamily="34" charset="0"/>
                          <a:ea typeface="ＭＳ Ｐゴシック" pitchFamily="34" charset="-128"/>
                        </a:rPr>
                        <a:t>nd</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 ALU input from 2</a:t>
                      </a:r>
                      <a:r>
                        <a:rPr kumimoji="0" lang="en-US" altLang="zh-CN" sz="1900" b="0" i="0" u="none" strike="noStrike" cap="none" normalizeH="0" baseline="30000" dirty="0">
                          <a:ln>
                            <a:noFill/>
                          </a:ln>
                          <a:solidFill>
                            <a:schemeClr val="tx1"/>
                          </a:solidFill>
                          <a:effectLst/>
                          <a:latin typeface="Calibri" pitchFamily="34" charset="0"/>
                          <a:ea typeface="ＭＳ Ｐゴシック" pitchFamily="34" charset="-128"/>
                        </a:rPr>
                        <a:t>nd</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 GPR read port</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2</a:t>
                      </a:r>
                      <a:r>
                        <a:rPr kumimoji="0" lang="en-US" altLang="zh-CN" sz="1900" b="0" i="0" u="none" strike="noStrike" cap="none" normalizeH="0" baseline="30000">
                          <a:ln>
                            <a:noFill/>
                          </a:ln>
                          <a:solidFill>
                            <a:schemeClr val="tx1"/>
                          </a:solidFill>
                          <a:effectLst/>
                          <a:latin typeface="Calibri" pitchFamily="34" charset="0"/>
                          <a:ea typeface="ＭＳ Ｐゴシック" pitchFamily="34" charset="-128"/>
                        </a:rPr>
                        <a:t>nd</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 ALU input from sign-extended 16-bit immediate</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!=0) </a:t>
                      </a:r>
                      <a:r>
                        <a:rPr kumimoji="0" lang="en-US" altLang="zh-CN" sz="1700" b="0" i="0" u="none" strike="noStrike" cap="none" normalizeH="0" baseline="0">
                          <a:ln>
                            <a:noFill/>
                          </a:ln>
                          <a:solidFill>
                            <a:schemeClr val="tx1"/>
                          </a:solidFill>
                          <a:effectLst/>
                          <a:latin typeface="Calibri" pitchFamily="34" charset="0"/>
                          <a:ea typeface="ＭＳ Ｐゴシック" pitchFamily="34" charset="-128"/>
                        </a:rPr>
                        <a:t>&amp;&amp;</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!=BEQ) </a:t>
                      </a:r>
                      <a:r>
                        <a:rPr kumimoji="0" lang="en-US" altLang="zh-CN" sz="1500" b="1" i="0" u="none" strike="noStrike" cap="none" normalizeH="0" baseline="0">
                          <a:ln>
                            <a:noFill/>
                          </a:ln>
                          <a:solidFill>
                            <a:schemeClr val="tx1"/>
                          </a:solidFill>
                          <a:effectLst/>
                          <a:latin typeface="Calibri" pitchFamily="34" charset="0"/>
                          <a:ea typeface="ＭＳ Ｐゴシック" pitchFamily="34" charset="-128"/>
                        </a:rPr>
                        <a:t>&amp;&amp;</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!=BNE)</a:t>
                      </a: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0543">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err="1">
                          <a:ln>
                            <a:noFill/>
                          </a:ln>
                          <a:solidFill>
                            <a:srgbClr val="FF9900"/>
                          </a:solidFill>
                          <a:effectLst/>
                          <a:latin typeface="Calibri" pitchFamily="34" charset="0"/>
                          <a:ea typeface="ＭＳ Ｐゴシック" pitchFamily="34" charset="-128"/>
                        </a:rPr>
                        <a:t>MemtoReg</a:t>
                      </a:r>
                      <a:endParaRPr kumimoji="0" lang="en-US" altLang="zh-CN" sz="1900" b="0" i="0" u="none" strike="noStrike" cap="none" normalizeH="0" baseline="0" dirty="0">
                        <a:ln>
                          <a:noFill/>
                        </a:ln>
                        <a:solidFill>
                          <a:srgbClr val="FF9900"/>
                        </a:solidFill>
                        <a:effectLst/>
                        <a:latin typeface="Calibri" pitchFamily="34" charset="0"/>
                        <a:ea typeface="ＭＳ Ｐゴシック" pitchFamily="34" charset="-128"/>
                      </a:endParaRPr>
                    </a:p>
                  </a:txBody>
                  <a:tcPr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Steer ALU result to GPR write port</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steer memory load to GPR wr. port</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==LW</a:t>
                      </a: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23770">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rgbClr val="FF9900"/>
                          </a:solidFill>
                          <a:effectLst/>
                          <a:latin typeface="Calibri" pitchFamily="34" charset="0"/>
                          <a:ea typeface="ＭＳ Ｐゴシック" pitchFamily="34" charset="-128"/>
                        </a:rPr>
                        <a:t>RegWrite</a:t>
                      </a:r>
                    </a:p>
                  </a:txBody>
                  <a:tcPr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GPR write disabled</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GPR write enabled</a:t>
                      </a: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dirty="0" err="1">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!=SW) </a:t>
                      </a:r>
                      <a:r>
                        <a:rPr kumimoji="0" lang="en-US" altLang="zh-CN" sz="1700" b="0" i="0" u="none" strike="noStrike" cap="none" normalizeH="0" baseline="0" dirty="0">
                          <a:ln>
                            <a:noFill/>
                          </a:ln>
                          <a:solidFill>
                            <a:schemeClr val="tx1"/>
                          </a:solidFill>
                          <a:effectLst/>
                          <a:latin typeface="Calibri" pitchFamily="34" charset="0"/>
                          <a:ea typeface="ＭＳ Ｐゴシック" pitchFamily="34" charset="-128"/>
                        </a:rPr>
                        <a:t>&amp;&amp;</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dirty="0" err="1">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dirty="0" err="1">
                          <a:ln>
                            <a:noFill/>
                          </a:ln>
                          <a:solidFill>
                            <a:schemeClr val="tx1"/>
                          </a:solidFill>
                          <a:effectLst/>
                          <a:latin typeface="Calibri" pitchFamily="34" charset="0"/>
                          <a:ea typeface="ＭＳ Ｐゴシック" pitchFamily="34" charset="-128"/>
                        </a:rPr>
                        <a:t>Bxx</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 </a:t>
                      </a:r>
                      <a:r>
                        <a:rPr kumimoji="0" lang="en-US" altLang="zh-CN" sz="1700" b="0" i="0" u="none" strike="noStrike" cap="none" normalizeH="0" baseline="0" dirty="0">
                          <a:ln>
                            <a:noFill/>
                          </a:ln>
                          <a:solidFill>
                            <a:schemeClr val="tx1"/>
                          </a:solidFill>
                          <a:effectLst/>
                          <a:latin typeface="Calibri" pitchFamily="34" charset="0"/>
                          <a:ea typeface="ＭＳ Ｐゴシック" pitchFamily="34" charset="-128"/>
                        </a:rPr>
                        <a:t>&amp;&amp;</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dirty="0" err="1">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!=J) </a:t>
                      </a:r>
                      <a:r>
                        <a:rPr kumimoji="0" lang="en-US" altLang="zh-CN" sz="1700" b="0" i="0" u="none" strike="noStrike" cap="none" normalizeH="0" baseline="0" dirty="0">
                          <a:ln>
                            <a:noFill/>
                          </a:ln>
                          <a:solidFill>
                            <a:schemeClr val="tx1"/>
                          </a:solidFill>
                          <a:effectLst/>
                          <a:latin typeface="Calibri" pitchFamily="34" charset="0"/>
                          <a:ea typeface="ＭＳ Ｐゴシック" pitchFamily="34" charset="-128"/>
                        </a:rPr>
                        <a:t>&amp;&amp;</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dirty="0" err="1">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!=JR))</a:t>
                      </a:r>
                    </a:p>
                  </a:txBody>
                  <a:tcPr marT="45712" marB="45712"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Text Box 35"/>
          <p:cNvSpPr txBox="1">
            <a:spLocks noChangeArrowheads="1"/>
          </p:cNvSpPr>
          <p:nvPr/>
        </p:nvSpPr>
        <p:spPr bwMode="auto">
          <a:xfrm>
            <a:off x="1052793" y="6172200"/>
            <a:ext cx="68323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algn="r" fontAlgn="auto">
              <a:spcBef>
                <a:spcPts val="0"/>
              </a:spcBef>
              <a:spcAft>
                <a:spcPts val="0"/>
              </a:spcAft>
              <a:defRPr/>
            </a:pPr>
            <a:r>
              <a:rPr lang="en-US" sz="2000" b="0" i="0" kern="0" dirty="0">
                <a:solidFill>
                  <a:srgbClr val="FF0000"/>
                </a:solidFill>
                <a:latin typeface="微软雅黑" panose="020B0503020204020204" pitchFamily="34" charset="-122"/>
                <a:ea typeface="微软雅黑" panose="020B0503020204020204" pitchFamily="34" charset="-122"/>
              </a:rPr>
              <a:t>JAL and JALR </a:t>
            </a:r>
            <a:r>
              <a:rPr lang="zh-CN" altLang="en-US" sz="2000" b="0" i="0" kern="0" dirty="0">
                <a:solidFill>
                  <a:srgbClr val="FF0000"/>
                </a:solidFill>
                <a:latin typeface="微软雅黑" panose="020B0503020204020204" pitchFamily="34" charset="-122"/>
                <a:ea typeface="微软雅黑" panose="020B0503020204020204" pitchFamily="34" charset="-122"/>
              </a:rPr>
              <a:t>需要额外的</a:t>
            </a:r>
            <a:r>
              <a:rPr lang="en-US" sz="2000" b="0" i="0" kern="0" dirty="0" err="1">
                <a:solidFill>
                  <a:srgbClr val="FF0000"/>
                </a:solidFill>
                <a:latin typeface="微软雅黑" panose="020B0503020204020204" pitchFamily="34" charset="-122"/>
                <a:ea typeface="微软雅黑" panose="020B0503020204020204" pitchFamily="34" charset="-122"/>
              </a:rPr>
              <a:t>RegDest</a:t>
            </a:r>
            <a:r>
              <a:rPr lang="en-US" sz="2000" b="0" i="0" kern="0" dirty="0">
                <a:solidFill>
                  <a:srgbClr val="FF0000"/>
                </a:solidFill>
                <a:latin typeface="微软雅黑" panose="020B0503020204020204" pitchFamily="34" charset="-122"/>
                <a:ea typeface="微软雅黑" panose="020B0503020204020204" pitchFamily="34" charset="-122"/>
              </a:rPr>
              <a:t> and </a:t>
            </a:r>
            <a:r>
              <a:rPr lang="en-US" sz="2000" b="0" i="0" kern="0" dirty="0" err="1">
                <a:solidFill>
                  <a:srgbClr val="FF0000"/>
                </a:solidFill>
                <a:latin typeface="微软雅黑" panose="020B0503020204020204" pitchFamily="34" charset="-122"/>
                <a:ea typeface="微软雅黑" panose="020B0503020204020204" pitchFamily="34" charset="-122"/>
              </a:rPr>
              <a:t>MemtoReg</a:t>
            </a:r>
            <a:r>
              <a:rPr lang="en-US" sz="2000" b="0" i="0" kern="0" dirty="0">
                <a:solidFill>
                  <a:srgbClr val="FF0000"/>
                </a:solidFill>
                <a:latin typeface="微软雅黑" panose="020B0503020204020204" pitchFamily="34" charset="-122"/>
                <a:ea typeface="微软雅黑" panose="020B0503020204020204" pitchFamily="34" charset="-122"/>
              </a:rPr>
              <a:t> </a:t>
            </a:r>
            <a:r>
              <a:rPr lang="zh-CN" altLang="en-US" sz="2000" b="0" i="0" kern="0" dirty="0">
                <a:solidFill>
                  <a:srgbClr val="FF0000"/>
                </a:solidFill>
                <a:latin typeface="微软雅黑" panose="020B0503020204020204" pitchFamily="34" charset="-122"/>
                <a:ea typeface="微软雅黑" panose="020B0503020204020204" pitchFamily="34" charset="-122"/>
              </a:rPr>
              <a:t>选项</a:t>
            </a:r>
            <a:r>
              <a:rPr lang="en-US" sz="2000" b="0" i="0" kern="0" dirty="0">
                <a:solidFill>
                  <a:srgbClr val="FF0000"/>
                </a:solidFill>
                <a:latin typeface="微软雅黑" panose="020B0503020204020204" pitchFamily="34" charset="-122"/>
                <a:ea typeface="微软雅黑" panose="020B0503020204020204" pitchFamily="34" charset="-122"/>
              </a:rPr>
              <a:t> </a:t>
            </a:r>
          </a:p>
        </p:txBody>
      </p:sp>
      <p:sp>
        <p:nvSpPr>
          <p:cNvPr id="2" name="圆角矩形标注 1"/>
          <p:cNvSpPr/>
          <p:nvPr/>
        </p:nvSpPr>
        <p:spPr bwMode="auto">
          <a:xfrm>
            <a:off x="1052793" y="2397638"/>
            <a:ext cx="2270510" cy="585019"/>
          </a:xfrm>
          <a:prstGeom prst="wedgeRoundRectCallout">
            <a:avLst>
              <a:gd name="adj1" fmla="val -46715"/>
              <a:gd name="adj2" fmla="val 111240"/>
              <a:gd name="adj3" fmla="val 16667"/>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ALU</a:t>
            </a: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的第二个源</a:t>
            </a:r>
          </a:p>
        </p:txBody>
      </p:sp>
      <p:sp>
        <p:nvSpPr>
          <p:cNvPr id="6" name="圆角矩形标注 5"/>
          <p:cNvSpPr/>
          <p:nvPr/>
        </p:nvSpPr>
        <p:spPr bwMode="auto">
          <a:xfrm>
            <a:off x="1056968" y="1219199"/>
            <a:ext cx="1671484" cy="585019"/>
          </a:xfrm>
          <a:prstGeom prst="wedgeRoundRectCallout">
            <a:avLst>
              <a:gd name="adj1" fmla="val -46715"/>
              <a:gd name="adj2" fmla="val 111240"/>
              <a:gd name="adj3" fmla="val 16667"/>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目标寄存器</a:t>
            </a:r>
          </a:p>
        </p:txBody>
      </p:sp>
      <p:sp>
        <p:nvSpPr>
          <p:cNvPr id="9" name="圆角矩形标注 8"/>
          <p:cNvSpPr/>
          <p:nvPr/>
        </p:nvSpPr>
        <p:spPr bwMode="auto">
          <a:xfrm>
            <a:off x="1352305" y="3367547"/>
            <a:ext cx="2639591" cy="585019"/>
          </a:xfrm>
          <a:prstGeom prst="wedgeRoundRectCallout">
            <a:avLst>
              <a:gd name="adj1" fmla="val -46715"/>
              <a:gd name="adj2" fmla="val 111240"/>
              <a:gd name="adj3" fmla="val 16667"/>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从</a:t>
            </a:r>
            <a:r>
              <a:rPr kumimoji="0" lang="en-US" altLang="zh-CN"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Mem</a:t>
            </a: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到寄存器</a:t>
            </a:r>
          </a:p>
        </p:txBody>
      </p:sp>
      <p:sp>
        <p:nvSpPr>
          <p:cNvPr id="10" name="圆角矩形标注 9"/>
          <p:cNvSpPr/>
          <p:nvPr/>
        </p:nvSpPr>
        <p:spPr bwMode="auto">
          <a:xfrm>
            <a:off x="1189703" y="4429431"/>
            <a:ext cx="2448231" cy="585019"/>
          </a:xfrm>
          <a:prstGeom prst="wedgeRoundRectCallout">
            <a:avLst>
              <a:gd name="adj1" fmla="val -46715"/>
              <a:gd name="adj2" fmla="val 111240"/>
              <a:gd name="adj3" fmla="val 16667"/>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是否要写寄存器</a:t>
            </a:r>
          </a:p>
        </p:txBody>
      </p:sp>
      <p:sp>
        <p:nvSpPr>
          <p:cNvPr id="3" name="灯片编号占位符 2"/>
          <p:cNvSpPr>
            <a:spLocks noGrp="1"/>
          </p:cNvSpPr>
          <p:nvPr>
            <p:ph type="sldNum" sz="quarter" idx="4"/>
          </p:nvPr>
        </p:nvSpPr>
        <p:spPr/>
        <p:txBody>
          <a:bodyPr/>
          <a:lstStyle/>
          <a:p>
            <a:fld id="{7B9845D8-D779-4563-B1F1-C45D4F729032}" type="slidenum">
              <a:rPr lang="zh-CN" altLang="en-US" smtClean="0"/>
              <a:pPr/>
              <a:t>26</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1" nodeType="clickEffect">
                                  <p:stCondLst>
                                    <p:cond delay="0"/>
                                  </p:stCondLst>
                                  <p:childTnLst>
                                    <p:animEffect transition="out" filter="wipe(down)">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par>
                                <p:cTn id="18" presetID="22" presetClass="exit" presetSubtype="4" fill="hold" grpId="1" nodeType="withEffect">
                                  <p:stCondLst>
                                    <p:cond delay="0"/>
                                  </p:stCondLst>
                                  <p:childTnLst>
                                    <p:animEffect transition="out" filter="wipe(down)">
                                      <p:cBhvr>
                                        <p:cTn id="19" dur="500"/>
                                        <p:tgtEl>
                                          <p:spTgt spid="9"/>
                                        </p:tgtEl>
                                      </p:cBhvr>
                                    </p:animEffect>
                                    <p:set>
                                      <p:cBhvr>
                                        <p:cTn id="20" dur="1" fill="hold">
                                          <p:stCondLst>
                                            <p:cond delay="499"/>
                                          </p:stCondLst>
                                        </p:cTn>
                                        <p:tgtEl>
                                          <p:spTgt spid="9"/>
                                        </p:tgtEl>
                                        <p:attrNameLst>
                                          <p:attrName>style.visibility</p:attrName>
                                        </p:attrNameLst>
                                      </p:cBhvr>
                                      <p:to>
                                        <p:strVal val="hidden"/>
                                      </p:to>
                                    </p:set>
                                  </p:childTnLst>
                                </p:cTn>
                              </p:par>
                              <p:par>
                                <p:cTn id="21" presetID="22" presetClass="exit" presetSubtype="4" fill="hold" grpId="1" nodeType="withEffect">
                                  <p:stCondLst>
                                    <p:cond delay="0"/>
                                  </p:stCondLst>
                                  <p:childTnLst>
                                    <p:animEffect transition="out" filter="wipe(down)">
                                      <p:cBhvr>
                                        <p:cTn id="22" dur="500"/>
                                        <p:tgtEl>
                                          <p:spTgt spid="2"/>
                                        </p:tgtEl>
                                      </p:cBhvr>
                                    </p:animEffect>
                                    <p:set>
                                      <p:cBhvr>
                                        <p:cTn id="23" dur="1" fill="hold">
                                          <p:stCondLst>
                                            <p:cond delay="499"/>
                                          </p:stCondLst>
                                        </p:cTn>
                                        <p:tgtEl>
                                          <p:spTgt spid="2"/>
                                        </p:tgtEl>
                                        <p:attrNameLst>
                                          <p:attrName>style.visibility</p:attrName>
                                        </p:attrNameLst>
                                      </p:cBhvr>
                                      <p:to>
                                        <p:strVal val="hidden"/>
                                      </p:to>
                                    </p:set>
                                  </p:childTnLst>
                                </p:cTn>
                              </p:par>
                              <p:par>
                                <p:cTn id="24" presetID="22" presetClass="exit" presetSubtype="4" fill="hold" grpId="1" nodeType="withEffect">
                                  <p:stCondLst>
                                    <p:cond delay="0"/>
                                  </p:stCondLst>
                                  <p:childTnLst>
                                    <p:animEffect transition="out" filter="wipe(down)">
                                      <p:cBhvr>
                                        <p:cTn id="25" dur="500"/>
                                        <p:tgtEl>
                                          <p:spTgt spid="6"/>
                                        </p:tgtEl>
                                      </p:cBhvr>
                                    </p:animEffect>
                                    <p:set>
                                      <p:cBhvr>
                                        <p:cTn id="26"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6" grpId="0" animBg="1"/>
      <p:bldP spid="6" grpId="1" animBg="1"/>
      <p:bldP spid="9" grpId="0" animBg="1"/>
      <p:bldP spid="9" grpId="1" animBg="1"/>
      <p:bldP spid="10" grpId="0" animBg="1"/>
      <p:bldP spid="10"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76200"/>
            <a:ext cx="8229600" cy="990600"/>
          </a:xfrm>
        </p:spPr>
        <p:txBody>
          <a:bodyPr/>
          <a:lstStyle/>
          <a:p>
            <a:pPr eaLnBrk="1" hangingPunct="1"/>
            <a:r>
              <a:rPr lang="zh-CN" altLang="en-US" dirty="0"/>
              <a:t>单个比特控制信号</a:t>
            </a:r>
            <a:endParaRPr lang="en-US" altLang="zh-CN" dirty="0"/>
          </a:p>
        </p:txBody>
      </p:sp>
      <p:graphicFrame>
        <p:nvGraphicFramePr>
          <p:cNvPr id="7" name="Group 3"/>
          <p:cNvGraphicFramePr>
            <a:graphicFrameLocks noGrp="1"/>
          </p:cNvGraphicFramePr>
          <p:nvPr/>
        </p:nvGraphicFramePr>
        <p:xfrm>
          <a:off x="152400" y="1524000"/>
          <a:ext cx="8839200" cy="3959227"/>
        </p:xfrm>
        <a:graphic>
          <a:graphicData uri="http://schemas.openxmlformats.org/drawingml/2006/table">
            <a:tbl>
              <a:tblPr/>
              <a:tblGrid>
                <a:gridCol w="1457325">
                  <a:extLst>
                    <a:ext uri="{9D8B030D-6E8A-4147-A177-3AD203B41FA5}">
                      <a16:colId xmlns:a16="http://schemas.microsoft.com/office/drawing/2014/main" val="20000"/>
                    </a:ext>
                  </a:extLst>
                </a:gridCol>
                <a:gridCol w="2586038">
                  <a:extLst>
                    <a:ext uri="{9D8B030D-6E8A-4147-A177-3AD203B41FA5}">
                      <a16:colId xmlns:a16="http://schemas.microsoft.com/office/drawing/2014/main" val="20001"/>
                    </a:ext>
                  </a:extLst>
                </a:gridCol>
                <a:gridCol w="2586037">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581025">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endParaRPr kumimoji="0" lang="zh-CN" altLang="zh-CN" sz="1900" b="0" i="0" u="none" strike="noStrike" cap="none" normalizeH="0" baseline="0" dirty="0">
                        <a:ln>
                          <a:noFill/>
                        </a:ln>
                        <a:solidFill>
                          <a:schemeClr val="tx1"/>
                        </a:solidFill>
                        <a:effectLst/>
                        <a:latin typeface="Calibri" pitchFamily="34" charset="0"/>
                        <a:ea typeface="ＭＳ Ｐゴシック" pitchFamily="34" charset="-128"/>
                      </a:endParaRPr>
                    </a:p>
                  </a:txBody>
                  <a:tcPr marT="45697" marB="4569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zh-CN" altLang="en-US" sz="1900" b="0" i="0" u="none" strike="noStrike" cap="none" normalizeH="0" baseline="0" dirty="0">
                          <a:ln>
                            <a:noFill/>
                          </a:ln>
                          <a:solidFill>
                            <a:schemeClr val="tx1"/>
                          </a:solidFill>
                          <a:effectLst/>
                          <a:latin typeface="Calibri" pitchFamily="34" charset="0"/>
                          <a:ea typeface="ＭＳ Ｐゴシック" pitchFamily="34" charset="-128"/>
                        </a:rPr>
                        <a:t>条件不成立</a:t>
                      </a:r>
                      <a:endPar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zh-CN" altLang="en-US" sz="1900" b="0" i="0" u="none" strike="noStrike" cap="none" normalizeH="0" baseline="0" dirty="0">
                          <a:ln>
                            <a:noFill/>
                          </a:ln>
                          <a:solidFill>
                            <a:schemeClr val="tx1"/>
                          </a:solidFill>
                          <a:effectLst/>
                          <a:latin typeface="Calibri" pitchFamily="34" charset="0"/>
                          <a:ea typeface="ＭＳ Ｐゴシック" pitchFamily="34" charset="-128"/>
                        </a:rPr>
                        <a:t>条件成立</a:t>
                      </a:r>
                      <a:endPar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zh-CN" altLang="en-US" sz="1900" b="0" i="0" u="none" strike="noStrike" cap="none" normalizeH="0" baseline="0" dirty="0">
                          <a:ln>
                            <a:noFill/>
                          </a:ln>
                          <a:solidFill>
                            <a:schemeClr val="tx1"/>
                          </a:solidFill>
                          <a:effectLst/>
                          <a:latin typeface="Calibri" pitchFamily="34" charset="0"/>
                          <a:ea typeface="ＭＳ Ｐゴシック" pitchFamily="34" charset="-128"/>
                        </a:rPr>
                        <a:t>条件</a:t>
                      </a:r>
                      <a:endPar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endParaRPr>
                    </a:p>
                  </a:txBody>
                  <a:tcPr marT="45697" marB="4569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8663">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rgbClr val="FF9900"/>
                          </a:solidFill>
                          <a:effectLst/>
                          <a:latin typeface="Calibri" pitchFamily="34" charset="0"/>
                          <a:ea typeface="ＭＳ Ｐゴシック" pitchFamily="34" charset="-128"/>
                        </a:rPr>
                        <a:t>MemRead</a:t>
                      </a:r>
                    </a:p>
                  </a:txBody>
                  <a:tcPr marT="45697" marB="4569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Memory read disabled</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Memory read port return load value</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==LW</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endParaRPr kumimoji="0" lang="en-US" altLang="zh-CN" sz="1900" b="0" i="0" u="none" strike="noStrike" cap="none" normalizeH="0" baseline="0">
                        <a:ln>
                          <a:noFill/>
                        </a:ln>
                        <a:solidFill>
                          <a:schemeClr val="tx1"/>
                        </a:solidFill>
                        <a:effectLst/>
                        <a:latin typeface="Calibri" pitchFamily="34" charset="0"/>
                        <a:ea typeface="ＭＳ Ｐゴシック" pitchFamily="34" charset="-128"/>
                      </a:endParaRPr>
                    </a:p>
                  </a:txBody>
                  <a:tcPr marT="45697" marB="45697"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28663">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rgbClr val="FF9900"/>
                          </a:solidFill>
                          <a:effectLst/>
                          <a:latin typeface="Calibri" pitchFamily="34" charset="0"/>
                          <a:ea typeface="ＭＳ Ｐゴシック" pitchFamily="34" charset="-128"/>
                        </a:rPr>
                        <a:t>MemWrite</a:t>
                      </a:r>
                    </a:p>
                  </a:txBody>
                  <a:tcPr marT="45697" marB="4569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Memory write disabled</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Memory write enabled</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==SW</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endParaRPr kumimoji="0" lang="en-US" altLang="zh-CN" sz="1900" b="0" i="0" u="none" strike="noStrike" cap="none" normalizeH="0" baseline="0">
                        <a:ln>
                          <a:noFill/>
                        </a:ln>
                        <a:solidFill>
                          <a:schemeClr val="tx1"/>
                        </a:solidFill>
                        <a:effectLst/>
                        <a:latin typeface="Calibri" pitchFamily="34" charset="0"/>
                        <a:ea typeface="ＭＳ Ｐゴシック" pitchFamily="34" charset="-128"/>
                      </a:endParaRPr>
                    </a:p>
                  </a:txBody>
                  <a:tcPr marT="45697" marB="45697"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60438">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rgbClr val="FF9900"/>
                          </a:solidFill>
                          <a:effectLst/>
                          <a:latin typeface="Calibri" pitchFamily="34" charset="0"/>
                          <a:ea typeface="ＭＳ Ｐゴシック" pitchFamily="34" charset="-128"/>
                        </a:rPr>
                        <a:t>PCSrc</a:t>
                      </a:r>
                      <a:r>
                        <a:rPr kumimoji="0" lang="en-US" altLang="zh-CN" sz="1900" b="0" i="0" u="none" strike="noStrike" cap="none" normalizeH="0" baseline="-25000">
                          <a:ln>
                            <a:noFill/>
                          </a:ln>
                          <a:solidFill>
                            <a:srgbClr val="FF9900"/>
                          </a:solidFill>
                          <a:effectLst/>
                          <a:latin typeface="Calibri" pitchFamily="34" charset="0"/>
                          <a:ea typeface="ＭＳ Ｐゴシック" pitchFamily="34" charset="-128"/>
                        </a:rPr>
                        <a:t>1</a:t>
                      </a:r>
                    </a:p>
                  </a:txBody>
                  <a:tcPr marT="45697" marB="4569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According to </a:t>
                      </a:r>
                      <a:r>
                        <a:rPr kumimoji="0" lang="en-US" altLang="zh-CN" sz="1900" b="0" i="0" u="none" strike="noStrike" cap="none" normalizeH="0" baseline="0">
                          <a:ln>
                            <a:noFill/>
                          </a:ln>
                          <a:solidFill>
                            <a:srgbClr val="FF9900"/>
                          </a:solidFill>
                          <a:effectLst/>
                          <a:latin typeface="Calibri" pitchFamily="34" charset="0"/>
                          <a:ea typeface="ＭＳ Ｐゴシック" pitchFamily="34" charset="-128"/>
                        </a:rPr>
                        <a:t>PCSrc</a:t>
                      </a:r>
                      <a:r>
                        <a:rPr kumimoji="0" lang="en-US" altLang="zh-CN" sz="1900" b="0" i="0" u="none" strike="noStrike" cap="none" normalizeH="0" baseline="-25000">
                          <a:ln>
                            <a:noFill/>
                          </a:ln>
                          <a:solidFill>
                            <a:srgbClr val="FF9900"/>
                          </a:solidFill>
                          <a:effectLst/>
                          <a:latin typeface="Calibri" pitchFamily="34" charset="0"/>
                          <a:ea typeface="ＭＳ Ｐゴシック" pitchFamily="34" charset="-128"/>
                        </a:rPr>
                        <a:t>2</a:t>
                      </a:r>
                      <a:endParaRPr kumimoji="0" lang="en-US" altLang="zh-CN" sz="1900" b="0" i="0" u="none" strike="noStrike" cap="none" normalizeH="0" baseline="0">
                        <a:ln>
                          <a:noFill/>
                        </a:ln>
                        <a:solidFill>
                          <a:srgbClr val="FF9900"/>
                        </a:solidFill>
                        <a:effectLst/>
                        <a:latin typeface="Calibri" pitchFamily="34" charset="0"/>
                        <a:ea typeface="ＭＳ Ｐゴシック" pitchFamily="34" charset="-128"/>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next PC is based on 26-bit immediate jump target</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==J) </a:t>
                      </a:r>
                      <a:r>
                        <a:rPr kumimoji="0" lang="en-US" altLang="zh-CN" sz="1700" b="0" i="0" u="none" strike="noStrike" cap="none" normalizeH="0" baseline="0">
                          <a:ln>
                            <a:noFill/>
                          </a:ln>
                          <a:solidFill>
                            <a:schemeClr val="tx1"/>
                          </a:solidFill>
                          <a:effectLst/>
                          <a:latin typeface="Calibri" pitchFamily="34" charset="0"/>
                          <a:ea typeface="ＭＳ Ｐゴシック" pitchFamily="34" charset="-128"/>
                        </a:rPr>
                        <a:t>||</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700" b="0" i="0" u="none" strike="noStrike" cap="none" normalizeH="0" baseline="0">
                          <a:ln>
                            <a:noFill/>
                          </a:ln>
                          <a:solidFill>
                            <a:schemeClr val="tx1"/>
                          </a:solidFill>
                          <a:effectLst/>
                          <a:latin typeface="Calibri" pitchFamily="34" charset="0"/>
                          <a:ea typeface="ＭＳ Ｐゴシック" pitchFamily="34" charset="-128"/>
                        </a:rPr>
                        <a:t>(</a:t>
                      </a:r>
                      <a:r>
                        <a:rPr kumimoji="0" lang="en-US" altLang="zh-CN" sz="1700" b="0" i="0" u="none" strike="noStrike" cap="none" normalizeH="0" baseline="0">
                          <a:ln>
                            <a:noFill/>
                          </a:ln>
                          <a:solidFill>
                            <a:schemeClr val="accent2"/>
                          </a:solidFill>
                          <a:effectLst/>
                          <a:latin typeface="Calibri" pitchFamily="34" charset="0"/>
                          <a:ea typeface="ＭＳ Ｐゴシック" pitchFamily="34" charset="-128"/>
                        </a:rPr>
                        <a:t>opcode</a:t>
                      </a:r>
                      <a:r>
                        <a:rPr kumimoji="0" lang="en-US" altLang="zh-CN" sz="1700" b="0" i="0" u="none" strike="noStrike" cap="none" normalizeH="0" baseline="0">
                          <a:ln>
                            <a:noFill/>
                          </a:ln>
                          <a:solidFill>
                            <a:schemeClr val="tx1"/>
                          </a:solidFill>
                          <a:effectLst/>
                          <a:latin typeface="Calibri" pitchFamily="34" charset="0"/>
                          <a:ea typeface="ＭＳ Ｐゴシック" pitchFamily="34" charset="-128"/>
                        </a:rPr>
                        <a:t>==JAL)</a:t>
                      </a:r>
                      <a:endParaRPr kumimoji="0" lang="en-US" altLang="zh-CN" sz="1900" b="0" i="0" u="none" strike="noStrike" cap="none" normalizeH="0" baseline="0">
                        <a:ln>
                          <a:noFill/>
                        </a:ln>
                        <a:solidFill>
                          <a:schemeClr val="tx1"/>
                        </a:solidFill>
                        <a:effectLst/>
                        <a:latin typeface="Calibri" pitchFamily="34" charset="0"/>
                        <a:ea typeface="ＭＳ Ｐゴシック" pitchFamily="34" charset="-128"/>
                      </a:endParaRPr>
                    </a:p>
                  </a:txBody>
                  <a:tcPr marT="45697" marB="45697"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60438">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rgbClr val="FF9900"/>
                          </a:solidFill>
                          <a:effectLst/>
                          <a:latin typeface="Calibri" pitchFamily="34" charset="0"/>
                          <a:ea typeface="ＭＳ Ｐゴシック" pitchFamily="34" charset="-128"/>
                        </a:rPr>
                        <a:t>PCSrc</a:t>
                      </a:r>
                      <a:r>
                        <a:rPr kumimoji="0" lang="en-US" altLang="zh-CN" sz="1900" b="0" i="0" u="none" strike="noStrike" cap="none" normalizeH="0" baseline="-25000">
                          <a:ln>
                            <a:noFill/>
                          </a:ln>
                          <a:solidFill>
                            <a:srgbClr val="FF9900"/>
                          </a:solidFill>
                          <a:effectLst/>
                          <a:latin typeface="Calibri" pitchFamily="34" charset="0"/>
                          <a:ea typeface="ＭＳ Ｐゴシック" pitchFamily="34" charset="-128"/>
                        </a:rPr>
                        <a:t>2</a:t>
                      </a:r>
                      <a:endParaRPr kumimoji="0" lang="en-US" altLang="zh-CN" sz="1900" b="0" i="0" u="none" strike="noStrike" cap="none" normalizeH="0" baseline="0">
                        <a:ln>
                          <a:noFill/>
                        </a:ln>
                        <a:solidFill>
                          <a:srgbClr val="FF9900"/>
                        </a:solidFill>
                        <a:effectLst/>
                        <a:latin typeface="Calibri" pitchFamily="34" charset="0"/>
                        <a:ea typeface="ＭＳ Ｐゴシック" pitchFamily="34" charset="-128"/>
                      </a:endParaRPr>
                    </a:p>
                  </a:txBody>
                  <a:tcPr marT="45697" marB="4569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next PC = PC + 4</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a:ln>
                            <a:noFill/>
                          </a:ln>
                          <a:solidFill>
                            <a:schemeClr val="tx1"/>
                          </a:solidFill>
                          <a:effectLst/>
                          <a:latin typeface="Calibri" pitchFamily="34" charset="0"/>
                          <a:ea typeface="ＭＳ Ｐゴシック" pitchFamily="34" charset="-128"/>
                        </a:rPr>
                        <a:t>next PC is based on 16-bit immediate branch target</a:t>
                      </a: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itchFamily="2" charset="2"/>
                        <a:defRPr sz="2000">
                          <a:solidFill>
                            <a:schemeClr val="tx1"/>
                          </a:solidFill>
                          <a:latin typeface="Tahoma" pitchFamily="34" charset="0"/>
                          <a:ea typeface="ＭＳ Ｐゴシック" pitchFamily="34" charset="-128"/>
                        </a:defRPr>
                      </a:lvl1pPr>
                      <a:lvl2pPr marL="742950" indent="-285750" eaLnBrk="0" hangingPunct="0">
                        <a:spcBef>
                          <a:spcPct val="20000"/>
                        </a:spcBef>
                        <a:buClr>
                          <a:schemeClr val="accent2"/>
                        </a:buClr>
                        <a:buSzPct val="60000"/>
                        <a:buFont typeface="Wingdings" pitchFamily="2" charset="2"/>
                        <a:defRPr sz="2000">
                          <a:solidFill>
                            <a:schemeClr val="tx1"/>
                          </a:solidFill>
                          <a:latin typeface="Tahoma" pitchFamily="34" charset="0"/>
                          <a:ea typeface="ＭＳ Ｐゴシック" pitchFamily="34" charset="-128"/>
                        </a:defRPr>
                      </a:lvl2pPr>
                      <a:lvl3pPr marL="1143000" indent="-228600" eaLnBrk="0" hangingPunct="0">
                        <a:spcBef>
                          <a:spcPct val="20000"/>
                        </a:spcBef>
                        <a:buClr>
                          <a:schemeClr val="accent1"/>
                        </a:buClr>
                        <a:buSzPct val="65000"/>
                        <a:buFont typeface="Wingdings" pitchFamily="2" charset="2"/>
                        <a:defRPr>
                          <a:solidFill>
                            <a:schemeClr val="tx1"/>
                          </a:solidFill>
                          <a:latin typeface="Tahoma" pitchFamily="34" charset="0"/>
                          <a:ea typeface="ＭＳ Ｐゴシック" pitchFamily="34" charset="-128"/>
                        </a:defRPr>
                      </a:lvl3pPr>
                      <a:lvl4pPr marL="1600200" indent="-228600" eaLnBrk="0" hangingPunct="0">
                        <a:spcBef>
                          <a:spcPct val="20000"/>
                        </a:spcBef>
                        <a:buClr>
                          <a:schemeClr val="accent2"/>
                        </a:buClr>
                        <a:buSzPct val="70000"/>
                        <a:buFont typeface="Wingdings" pitchFamily="2" charset="2"/>
                        <a:defRPr sz="1600">
                          <a:solidFill>
                            <a:schemeClr val="tx1"/>
                          </a:solidFill>
                          <a:latin typeface="Tahoma" pitchFamily="34" charset="0"/>
                          <a:ea typeface="ＭＳ Ｐゴシック" pitchFamily="34" charset="-128"/>
                        </a:defRPr>
                      </a:lvl4pPr>
                      <a:lvl5pPr marL="2057400" indent="-228600" eaLnBrk="0" hangingPunct="0">
                        <a:spcBef>
                          <a:spcPct val="20000"/>
                        </a:spcBef>
                        <a:buClr>
                          <a:schemeClr val="accent1"/>
                        </a:buClr>
                        <a:buSzPct val="75000"/>
                        <a:buFont typeface="Wingdings" pitchFamily="2" charset="2"/>
                        <a:defRPr sz="1400">
                          <a:solidFill>
                            <a:schemeClr val="tx1"/>
                          </a:solidFill>
                          <a:latin typeface="Tahoma" pitchFamily="34" charset="0"/>
                          <a:ea typeface="ＭＳ Ｐゴシック" pitchFamily="34" charset="-128"/>
                        </a:defRPr>
                      </a:lvl5pPr>
                      <a:lvl6pPr marL="25146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6pPr>
                      <a:lvl7pPr marL="29718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7pPr>
                      <a:lvl8pPr marL="34290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8pPr>
                      <a:lvl9pPr marL="3886200" indent="-228600" eaLnBrk="0" fontAlgn="base" hangingPunct="0">
                        <a:spcBef>
                          <a:spcPct val="20000"/>
                        </a:spcBef>
                        <a:spcAft>
                          <a:spcPct val="0"/>
                        </a:spcAft>
                        <a:buClr>
                          <a:schemeClr val="accent1"/>
                        </a:buClr>
                        <a:buSzPct val="75000"/>
                        <a:buFont typeface="Wingdings" pitchFamily="2" charset="2"/>
                        <a:defRPr sz="1400">
                          <a:solidFill>
                            <a:schemeClr val="tx1"/>
                          </a:solidFill>
                          <a:latin typeface="Tahoma" pitchFamily="34" charset="0"/>
                          <a:ea typeface="ＭＳ Ｐゴシック" pitchFamily="34" charset="-128"/>
                        </a:defRPr>
                      </a:lvl9pPr>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dirty="0" err="1">
                          <a:ln>
                            <a:noFill/>
                          </a:ln>
                          <a:solidFill>
                            <a:schemeClr val="accent2"/>
                          </a:solidFill>
                          <a:effectLst/>
                          <a:latin typeface="Calibri" pitchFamily="34" charset="0"/>
                          <a:ea typeface="ＭＳ Ｐゴシック" pitchFamily="34" charset="-128"/>
                        </a:rPr>
                        <a:t>opcode</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a:t>
                      </a:r>
                      <a:r>
                        <a:rPr kumimoji="0" lang="en-US" altLang="zh-CN" sz="1900" b="0" i="0" u="none" strike="noStrike" cap="none" normalizeH="0" baseline="0" dirty="0" err="1">
                          <a:ln>
                            <a:noFill/>
                          </a:ln>
                          <a:solidFill>
                            <a:schemeClr val="tx1"/>
                          </a:solidFill>
                          <a:effectLst/>
                          <a:latin typeface="Calibri" pitchFamily="34" charset="0"/>
                          <a:ea typeface="ＭＳ Ｐゴシック" pitchFamily="34" charset="-128"/>
                        </a:rPr>
                        <a:t>Bxx</a:t>
                      </a:r>
                      <a:r>
                        <a:rPr kumimoji="0" lang="en-US" altLang="zh-CN" sz="1900" b="0" i="0" u="none" strike="noStrike" cap="none" normalizeH="0" baseline="0" dirty="0">
                          <a:ln>
                            <a:noFill/>
                          </a:ln>
                          <a:solidFill>
                            <a:schemeClr val="tx1"/>
                          </a:solidFill>
                          <a:effectLst/>
                          <a:latin typeface="Calibri" pitchFamily="34" charset="0"/>
                          <a:ea typeface="ＭＳ Ｐゴシック" pitchFamily="34" charset="-128"/>
                        </a:rPr>
                        <a:t>) </a:t>
                      </a:r>
                      <a:r>
                        <a:rPr kumimoji="0" lang="en-US" altLang="zh-CN" sz="1700" b="0" i="0" u="none" strike="noStrike" cap="none" normalizeH="0" baseline="0" dirty="0">
                          <a:ln>
                            <a:noFill/>
                          </a:ln>
                          <a:solidFill>
                            <a:schemeClr val="tx1"/>
                          </a:solidFill>
                          <a:effectLst/>
                          <a:latin typeface="Calibri" pitchFamily="34" charset="0"/>
                          <a:ea typeface="ＭＳ Ｐゴシック" pitchFamily="34" charset="-128"/>
                        </a:rPr>
                        <a:t>&amp;&amp;</a:t>
                      </a: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itchFamily="2" charset="2"/>
                        <a:buNone/>
                        <a:tabLst/>
                      </a:pPr>
                      <a:r>
                        <a:rPr kumimoji="0" lang="ja-JP" altLang="en-US" sz="1700" b="0" i="0" u="none" strike="noStrike" cap="none" normalizeH="0" baseline="0" dirty="0">
                          <a:ln>
                            <a:noFill/>
                          </a:ln>
                          <a:solidFill>
                            <a:schemeClr val="tx1"/>
                          </a:solidFill>
                          <a:effectLst/>
                          <a:latin typeface="Calibri" pitchFamily="34" charset="0"/>
                          <a:ea typeface="ＭＳ Ｐゴシック" pitchFamily="34" charset="-128"/>
                        </a:rPr>
                        <a:t>“</a:t>
                      </a:r>
                      <a:r>
                        <a:rPr kumimoji="0" lang="en-US" altLang="ja-JP" sz="1700" b="0" i="0" u="none" strike="noStrike" cap="none" normalizeH="0" baseline="0" dirty="0" err="1">
                          <a:ln>
                            <a:noFill/>
                          </a:ln>
                          <a:solidFill>
                            <a:schemeClr val="tx1"/>
                          </a:solidFill>
                          <a:effectLst/>
                          <a:latin typeface="Calibri" pitchFamily="34" charset="0"/>
                          <a:ea typeface="ＭＳ Ｐゴシック" pitchFamily="34" charset="-128"/>
                        </a:rPr>
                        <a:t>bcond</a:t>
                      </a:r>
                      <a:r>
                        <a:rPr kumimoji="0" lang="en-US" altLang="ja-JP" sz="1700" b="0" i="0" u="none" strike="noStrike" cap="none" normalizeH="0" baseline="0" dirty="0">
                          <a:ln>
                            <a:noFill/>
                          </a:ln>
                          <a:solidFill>
                            <a:schemeClr val="tx1"/>
                          </a:solidFill>
                          <a:effectLst/>
                          <a:latin typeface="Calibri" pitchFamily="34" charset="0"/>
                          <a:ea typeface="ＭＳ Ｐゴシック" pitchFamily="34" charset="-128"/>
                        </a:rPr>
                        <a:t> is satisfied</a:t>
                      </a:r>
                      <a:r>
                        <a:rPr kumimoji="0" lang="ja-JP" altLang="en-US" sz="1700" b="0" i="0" u="none" strike="noStrike" cap="none" normalizeH="0" baseline="0" dirty="0">
                          <a:ln>
                            <a:noFill/>
                          </a:ln>
                          <a:solidFill>
                            <a:schemeClr val="tx1"/>
                          </a:solidFill>
                          <a:effectLst/>
                          <a:latin typeface="Calibri" pitchFamily="34" charset="0"/>
                          <a:ea typeface="ＭＳ Ｐゴシック" pitchFamily="34" charset="-128"/>
                        </a:rPr>
                        <a:t>”</a:t>
                      </a:r>
                      <a:endParaRPr kumimoji="0" lang="en-US" altLang="zh-CN" sz="1700" b="0" i="0" u="none" strike="noStrike" cap="none" normalizeH="0" baseline="0" dirty="0">
                        <a:ln>
                          <a:noFill/>
                        </a:ln>
                        <a:solidFill>
                          <a:schemeClr val="tx1"/>
                        </a:solidFill>
                        <a:effectLst/>
                        <a:latin typeface="Calibri" pitchFamily="34" charset="0"/>
                        <a:ea typeface="ＭＳ Ｐゴシック" pitchFamily="34" charset="-128"/>
                      </a:endParaRPr>
                    </a:p>
                  </a:txBody>
                  <a:tcPr marT="45697" marB="45697"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Text Box 35"/>
          <p:cNvSpPr txBox="1">
            <a:spLocks noChangeArrowheads="1"/>
          </p:cNvSpPr>
          <p:nvPr/>
        </p:nvSpPr>
        <p:spPr bwMode="auto">
          <a:xfrm>
            <a:off x="2424617" y="5940427"/>
            <a:ext cx="42947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algn="r" fontAlgn="auto">
              <a:spcBef>
                <a:spcPts val="0"/>
              </a:spcBef>
              <a:spcAft>
                <a:spcPts val="0"/>
              </a:spcAft>
              <a:defRPr/>
            </a:pPr>
            <a:r>
              <a:rPr lang="en-US" sz="2000" b="0" i="0" kern="0" dirty="0">
                <a:solidFill>
                  <a:srgbClr val="FF0000"/>
                </a:solidFill>
                <a:latin typeface="微软雅黑" panose="020B0503020204020204" pitchFamily="34" charset="-122"/>
                <a:ea typeface="微软雅黑" panose="020B0503020204020204" pitchFamily="34" charset="-122"/>
              </a:rPr>
              <a:t>JR and JALR </a:t>
            </a:r>
            <a:r>
              <a:rPr lang="zh-CN" altLang="en-US" sz="2000" b="0" i="0" kern="0" dirty="0">
                <a:solidFill>
                  <a:srgbClr val="FF0000"/>
                </a:solidFill>
                <a:latin typeface="微软雅黑" panose="020B0503020204020204" pitchFamily="34" charset="-122"/>
                <a:ea typeface="微软雅黑" panose="020B0503020204020204" pitchFamily="34" charset="-122"/>
              </a:rPr>
              <a:t>需要额外的</a:t>
            </a:r>
            <a:r>
              <a:rPr lang="en-US" sz="2000" b="0" i="0" kern="0" dirty="0" err="1">
                <a:solidFill>
                  <a:srgbClr val="FF0000"/>
                </a:solidFill>
                <a:latin typeface="微软雅黑" panose="020B0503020204020204" pitchFamily="34" charset="-122"/>
                <a:ea typeface="微软雅黑" panose="020B0503020204020204" pitchFamily="34" charset="-122"/>
              </a:rPr>
              <a:t>PCSrc</a:t>
            </a:r>
            <a:r>
              <a:rPr lang="en-US" sz="2000" b="0" i="0" kern="0" dirty="0">
                <a:solidFill>
                  <a:srgbClr val="FF0000"/>
                </a:solidFill>
                <a:latin typeface="微软雅黑" panose="020B0503020204020204" pitchFamily="34" charset="-122"/>
                <a:ea typeface="微软雅黑" panose="020B0503020204020204" pitchFamily="34" charset="-122"/>
              </a:rPr>
              <a:t> </a:t>
            </a:r>
            <a:r>
              <a:rPr lang="zh-CN" altLang="en-US" sz="2000" b="0" i="0" kern="0" dirty="0">
                <a:solidFill>
                  <a:srgbClr val="FF0000"/>
                </a:solidFill>
                <a:latin typeface="微软雅黑" panose="020B0503020204020204" pitchFamily="34" charset="-122"/>
                <a:ea typeface="微软雅黑" panose="020B0503020204020204" pitchFamily="34" charset="-122"/>
              </a:rPr>
              <a:t>选项</a:t>
            </a:r>
            <a:endParaRPr lang="en-US" sz="2000" b="0" i="0" kern="0" dirty="0">
              <a:solidFill>
                <a:srgbClr val="FF0000"/>
              </a:solidFill>
              <a:latin typeface="微软雅黑" panose="020B0503020204020204" pitchFamily="34" charset="-122"/>
              <a:ea typeface="微软雅黑" panose="020B0503020204020204" pitchFamily="34" charset="-122"/>
            </a:endParaRPr>
          </a:p>
        </p:txBody>
      </p:sp>
      <p:sp>
        <p:nvSpPr>
          <p:cNvPr id="5" name="圆角矩形标注 4"/>
          <p:cNvSpPr/>
          <p:nvPr/>
        </p:nvSpPr>
        <p:spPr bwMode="auto">
          <a:xfrm>
            <a:off x="1278193" y="1524000"/>
            <a:ext cx="2733368" cy="585019"/>
          </a:xfrm>
          <a:prstGeom prst="wedgeRoundRectCallout">
            <a:avLst>
              <a:gd name="adj1" fmla="val -46715"/>
              <a:gd name="adj2" fmla="val 111240"/>
              <a:gd name="adj3" fmla="val 16667"/>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是否需要读</a:t>
            </a:r>
            <a:r>
              <a:rPr kumimoji="0" lang="en-US" altLang="zh-CN"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Mem?</a:t>
            </a:r>
            <a:endPar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 name="圆角矩形标注 5"/>
          <p:cNvSpPr/>
          <p:nvPr/>
        </p:nvSpPr>
        <p:spPr bwMode="auto">
          <a:xfrm>
            <a:off x="1273277" y="2502310"/>
            <a:ext cx="2733368" cy="585019"/>
          </a:xfrm>
          <a:prstGeom prst="wedgeRoundRectCallout">
            <a:avLst>
              <a:gd name="adj1" fmla="val -48154"/>
              <a:gd name="adj2" fmla="val 80988"/>
              <a:gd name="adj3" fmla="val 16667"/>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是否需要</a:t>
            </a:r>
            <a:r>
              <a:rPr lang="zh-CN" altLang="en-US" sz="2000" dirty="0">
                <a:solidFill>
                  <a:schemeClr val="tx1"/>
                </a:solidFill>
                <a:latin typeface="微软雅黑" panose="020B0503020204020204" pitchFamily="34" charset="-122"/>
                <a:ea typeface="微软雅黑" panose="020B0503020204020204" pitchFamily="34" charset="-122"/>
              </a:rPr>
              <a:t>写</a:t>
            </a:r>
            <a:r>
              <a:rPr kumimoji="0" lang="en-US" altLang="zh-CN"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Mem?</a:t>
            </a:r>
            <a:endPar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9" name="圆角矩形标注 8"/>
          <p:cNvSpPr/>
          <p:nvPr/>
        </p:nvSpPr>
        <p:spPr bwMode="auto">
          <a:xfrm>
            <a:off x="1224117" y="3533114"/>
            <a:ext cx="3170904" cy="585019"/>
          </a:xfrm>
          <a:prstGeom prst="wedgeRoundRectCallout">
            <a:avLst>
              <a:gd name="adj1" fmla="val -46715"/>
              <a:gd name="adj2" fmla="val 111240"/>
              <a:gd name="adj3" fmla="val 16667"/>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共同决定下一个</a:t>
            </a:r>
            <a:r>
              <a:rPr kumimoji="0" lang="en-US" altLang="zh-CN"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PC</a:t>
            </a:r>
            <a:r>
              <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的来源</a:t>
            </a:r>
            <a:r>
              <a:rPr kumimoji="0" lang="en-US" altLang="zh-CN"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zh-CN" altLang="en-US" sz="200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10" name="右大括号 9"/>
          <p:cNvSpPr/>
          <p:nvPr/>
        </p:nvSpPr>
        <p:spPr bwMode="auto">
          <a:xfrm>
            <a:off x="983225" y="3923070"/>
            <a:ext cx="196645" cy="1091381"/>
          </a:xfrm>
          <a:prstGeom prst="rightBrace">
            <a:avLst/>
          </a:prstGeom>
          <a:noFill/>
          <a:ln w="25400" cap="flat" cmpd="sng" algn="ctr">
            <a:solidFill>
              <a:schemeClr val="tx2"/>
            </a:solidFill>
            <a:prstDash val="solid"/>
            <a:round/>
            <a:headEnd type="none" w="med" len="med"/>
            <a:tailEnd type="none" w="med" len="med"/>
          </a:ln>
        </p:spPr>
        <p:txBody>
          <a:bodyPr rtlCol="0" anchor="ctr"/>
          <a:lstStyle/>
          <a:p>
            <a:pPr algn="ctr"/>
            <a:endParaRPr lang="zh-CN" altLang="en-US"/>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27</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1" nodeType="clickEffect">
                                  <p:stCondLst>
                                    <p:cond delay="0"/>
                                  </p:stCondLst>
                                  <p:childTnLst>
                                    <p:animEffect transition="out" filter="wipe(down)">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par>
                                <p:cTn id="18" presetID="22" presetClass="exit" presetSubtype="4" fill="hold" grpId="1" nodeType="withEffect">
                                  <p:stCondLst>
                                    <p:cond delay="0"/>
                                  </p:stCondLst>
                                  <p:childTnLst>
                                    <p:animEffect transition="out" filter="wipe(down)">
                                      <p:cBhvr>
                                        <p:cTn id="19" dur="500"/>
                                        <p:tgtEl>
                                          <p:spTgt spid="9"/>
                                        </p:tgtEl>
                                      </p:cBhvr>
                                    </p:animEffect>
                                    <p:set>
                                      <p:cBhvr>
                                        <p:cTn id="20" dur="1" fill="hold">
                                          <p:stCondLst>
                                            <p:cond delay="499"/>
                                          </p:stCondLst>
                                        </p:cTn>
                                        <p:tgtEl>
                                          <p:spTgt spid="9"/>
                                        </p:tgtEl>
                                        <p:attrNameLst>
                                          <p:attrName>style.visibility</p:attrName>
                                        </p:attrNameLst>
                                      </p:cBhvr>
                                      <p:to>
                                        <p:strVal val="hidden"/>
                                      </p:to>
                                    </p:set>
                                  </p:childTnLst>
                                </p:cTn>
                              </p:par>
                              <p:par>
                                <p:cTn id="21" presetID="22" presetClass="exit" presetSubtype="4" fill="hold" grpId="1" nodeType="withEffect">
                                  <p:stCondLst>
                                    <p:cond delay="0"/>
                                  </p:stCondLst>
                                  <p:childTnLst>
                                    <p:animEffect transition="out" filter="wipe(down)">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par>
                                <p:cTn id="24" presetID="22" presetClass="exit" presetSubtype="4" fill="hold" grpId="1" nodeType="withEffect">
                                  <p:stCondLst>
                                    <p:cond delay="0"/>
                                  </p:stCondLst>
                                  <p:childTnLst>
                                    <p:animEffect transition="out" filter="wipe(down)">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9" grpId="0" animBg="1"/>
      <p:bldP spid="9" grpId="1" animBg="1"/>
      <p:bldP spid="10" grpId="0" animBg="1"/>
      <p:bldP spid="10"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76200"/>
            <a:ext cx="8229600" cy="990600"/>
          </a:xfrm>
        </p:spPr>
        <p:txBody>
          <a:bodyPr/>
          <a:lstStyle/>
          <a:p>
            <a:pPr eaLnBrk="1" hangingPunct="1"/>
            <a:r>
              <a:rPr lang="en-US" altLang="zh-CN" dirty="0"/>
              <a:t>ALU </a:t>
            </a:r>
            <a:r>
              <a:rPr lang="zh-CN" altLang="en-US" dirty="0"/>
              <a:t>控制的实现</a:t>
            </a:r>
            <a:endParaRPr lang="en-US" altLang="zh-CN" dirty="0"/>
          </a:p>
        </p:txBody>
      </p:sp>
      <p:sp>
        <p:nvSpPr>
          <p:cNvPr id="29699" name="Content Placeholder 2"/>
          <p:cNvSpPr>
            <a:spLocks noGrp="1"/>
          </p:cNvSpPr>
          <p:nvPr>
            <p:ph idx="1"/>
          </p:nvPr>
        </p:nvSpPr>
        <p:spPr>
          <a:xfrm>
            <a:off x="466627" y="1106076"/>
            <a:ext cx="8432276" cy="5181600"/>
          </a:xfrm>
        </p:spPr>
        <p:txBody>
          <a:bodyPr/>
          <a:lstStyle/>
          <a:p>
            <a:pPr eaLnBrk="1" hangingPunct="1"/>
            <a:r>
              <a:rPr lang="en-US" altLang="zh-CN" dirty="0">
                <a:ea typeface="ＭＳ Ｐゴシック" pitchFamily="34" charset="-128"/>
              </a:rPr>
              <a:t>case </a:t>
            </a:r>
            <a:r>
              <a:rPr lang="en-US" altLang="zh-CN" dirty="0">
                <a:solidFill>
                  <a:schemeClr val="accent2"/>
                </a:solidFill>
                <a:ea typeface="ＭＳ Ｐゴシック" pitchFamily="34" charset="-128"/>
              </a:rPr>
              <a:t>opcode</a:t>
            </a:r>
          </a:p>
          <a:p>
            <a:pPr lvl="1" eaLnBrk="1" hangingPunct="1">
              <a:buFontTx/>
              <a:buNone/>
            </a:pPr>
            <a:r>
              <a:rPr lang="ja-JP" altLang="en-US" sz="2400" dirty="0"/>
              <a:t>‘</a:t>
            </a:r>
            <a:r>
              <a:rPr lang="en-US" altLang="ja-JP" sz="2400" dirty="0"/>
              <a:t>0</a:t>
            </a:r>
            <a:r>
              <a:rPr lang="ja-JP" altLang="en-US" sz="2400" dirty="0"/>
              <a:t>’</a:t>
            </a:r>
            <a:r>
              <a:rPr lang="en-US" altLang="ja-JP" sz="2400" dirty="0"/>
              <a:t>      </a:t>
            </a:r>
            <a:r>
              <a:rPr lang="en-US" altLang="ja-JP" sz="2400" dirty="0">
                <a:sym typeface="Symbol" pitchFamily="18" charset="2"/>
              </a:rPr>
              <a:t> select operation according to </a:t>
            </a:r>
            <a:r>
              <a:rPr lang="en-US" altLang="ja-JP" sz="2400" b="1" dirty="0" err="1">
                <a:solidFill>
                  <a:schemeClr val="accent2"/>
                </a:solidFill>
                <a:sym typeface="Symbol" pitchFamily="18" charset="2"/>
              </a:rPr>
              <a:t>funct</a:t>
            </a:r>
            <a:endParaRPr lang="en-US" altLang="ja-JP" sz="2400" b="1" dirty="0">
              <a:solidFill>
                <a:schemeClr val="accent2"/>
              </a:solidFill>
              <a:sym typeface="Symbol" pitchFamily="18" charset="2"/>
            </a:endParaRPr>
          </a:p>
          <a:p>
            <a:pPr lvl="1" eaLnBrk="1" hangingPunct="1">
              <a:buFontTx/>
              <a:buNone/>
            </a:pPr>
            <a:r>
              <a:rPr lang="ja-JP" altLang="en-US" sz="2400" dirty="0">
                <a:sym typeface="Symbol" pitchFamily="18" charset="2"/>
              </a:rPr>
              <a:t>‘</a:t>
            </a:r>
            <a:r>
              <a:rPr lang="en-US" altLang="ja-JP" sz="2400" dirty="0" err="1">
                <a:sym typeface="Symbol" pitchFamily="18" charset="2"/>
              </a:rPr>
              <a:t>ALUi</a:t>
            </a:r>
            <a:r>
              <a:rPr lang="ja-JP" altLang="en-US" sz="2400" dirty="0">
                <a:sym typeface="Symbol" pitchFamily="18" charset="2"/>
              </a:rPr>
              <a:t>’</a:t>
            </a:r>
            <a:r>
              <a:rPr lang="en-US" altLang="ja-JP" sz="2400" dirty="0">
                <a:sym typeface="Symbol" pitchFamily="18" charset="2"/>
              </a:rPr>
              <a:t>  selection operation according to </a:t>
            </a:r>
            <a:r>
              <a:rPr lang="en-US" altLang="ja-JP" sz="2400" b="1" dirty="0">
                <a:solidFill>
                  <a:schemeClr val="accent2"/>
                </a:solidFill>
                <a:sym typeface="Symbol" pitchFamily="18" charset="2"/>
              </a:rPr>
              <a:t>opcode</a:t>
            </a:r>
            <a:r>
              <a:rPr lang="en-US" altLang="ja-JP" sz="2400" dirty="0">
                <a:sym typeface="Symbol" pitchFamily="18" charset="2"/>
              </a:rPr>
              <a:t> </a:t>
            </a:r>
          </a:p>
          <a:p>
            <a:pPr lvl="1" eaLnBrk="1" hangingPunct="1">
              <a:buFontTx/>
              <a:buNone/>
            </a:pPr>
            <a:r>
              <a:rPr lang="ja-JP" altLang="en-US" sz="2400" dirty="0">
                <a:sym typeface="Symbol" pitchFamily="18" charset="2"/>
              </a:rPr>
              <a:t>‘</a:t>
            </a:r>
            <a:r>
              <a:rPr lang="en-US" altLang="ja-JP" sz="2400" dirty="0">
                <a:sym typeface="Symbol" pitchFamily="18" charset="2"/>
              </a:rPr>
              <a:t>LW</a:t>
            </a:r>
            <a:r>
              <a:rPr lang="ja-JP" altLang="en-US" sz="2400" dirty="0">
                <a:sym typeface="Symbol" pitchFamily="18" charset="2"/>
              </a:rPr>
              <a:t>’</a:t>
            </a:r>
            <a:r>
              <a:rPr lang="en-US" altLang="ja-JP" sz="2400" dirty="0">
                <a:sym typeface="Symbol" pitchFamily="18" charset="2"/>
              </a:rPr>
              <a:t>    select addition</a:t>
            </a:r>
          </a:p>
          <a:p>
            <a:pPr lvl="1" eaLnBrk="1" hangingPunct="1">
              <a:buFontTx/>
              <a:buNone/>
            </a:pPr>
            <a:r>
              <a:rPr lang="ja-JP" altLang="en-US" sz="2400" dirty="0">
                <a:sym typeface="Symbol" pitchFamily="18" charset="2"/>
              </a:rPr>
              <a:t>‘</a:t>
            </a:r>
            <a:r>
              <a:rPr lang="en-US" altLang="ja-JP" sz="2400" dirty="0">
                <a:sym typeface="Symbol" pitchFamily="18" charset="2"/>
              </a:rPr>
              <a:t>SW</a:t>
            </a:r>
            <a:r>
              <a:rPr lang="ja-JP" altLang="en-US" sz="2400" dirty="0">
                <a:sym typeface="Symbol" pitchFamily="18" charset="2"/>
              </a:rPr>
              <a:t>’</a:t>
            </a:r>
            <a:r>
              <a:rPr lang="en-US" altLang="ja-JP" sz="2400" dirty="0">
                <a:sym typeface="Symbol" pitchFamily="18" charset="2"/>
              </a:rPr>
              <a:t>    select addition</a:t>
            </a:r>
          </a:p>
          <a:p>
            <a:pPr lvl="1" eaLnBrk="1" hangingPunct="1">
              <a:buFontTx/>
              <a:buNone/>
            </a:pPr>
            <a:r>
              <a:rPr lang="ja-JP" altLang="en-US" sz="2400" dirty="0">
                <a:sym typeface="Symbol" pitchFamily="18" charset="2"/>
              </a:rPr>
              <a:t>‘</a:t>
            </a:r>
            <a:r>
              <a:rPr lang="en-US" altLang="ja-JP" sz="2400" dirty="0" err="1">
                <a:sym typeface="Symbol" pitchFamily="18" charset="2"/>
              </a:rPr>
              <a:t>Bxx</a:t>
            </a:r>
            <a:r>
              <a:rPr lang="ja-JP" altLang="en-US" sz="2400" dirty="0">
                <a:sym typeface="Symbol" pitchFamily="18" charset="2"/>
              </a:rPr>
              <a:t>’</a:t>
            </a:r>
            <a:r>
              <a:rPr lang="en-US" altLang="ja-JP" sz="2400" dirty="0">
                <a:sym typeface="Symbol" pitchFamily="18" charset="2"/>
              </a:rPr>
              <a:t>    select </a:t>
            </a:r>
            <a:r>
              <a:rPr lang="en-US" altLang="ja-JP" sz="2400" dirty="0" err="1">
                <a:sym typeface="Symbol" pitchFamily="18" charset="2"/>
              </a:rPr>
              <a:t>bcond</a:t>
            </a:r>
            <a:r>
              <a:rPr lang="en-US" altLang="ja-JP" sz="2400" dirty="0">
                <a:sym typeface="Symbol" pitchFamily="18" charset="2"/>
              </a:rPr>
              <a:t> generation function</a:t>
            </a:r>
          </a:p>
          <a:p>
            <a:pPr lvl="1" eaLnBrk="1" hangingPunct="1">
              <a:buFontTx/>
              <a:buNone/>
            </a:pPr>
            <a:r>
              <a:rPr lang="en-US" altLang="zh-CN" dirty="0">
                <a:ea typeface="ＭＳ Ｐゴシック" pitchFamily="34" charset="-128"/>
                <a:sym typeface="Symbol" pitchFamily="18" charset="2"/>
              </a:rPr>
              <a:t>    </a:t>
            </a:r>
            <a:r>
              <a:rPr lang="en-US" altLang="zh-CN" sz="2400" dirty="0">
                <a:ea typeface="ＭＳ Ｐゴシック" pitchFamily="34" charset="-128"/>
                <a:sym typeface="Symbol" pitchFamily="18" charset="2"/>
              </a:rPr>
              <a:t>__         don</a:t>
            </a:r>
            <a:r>
              <a:rPr lang="en-US" altLang="zh-CN" dirty="0">
                <a:latin typeface="+mn-lt"/>
                <a:sym typeface="Symbol" pitchFamily="18" charset="2"/>
              </a:rPr>
              <a:t>’</a:t>
            </a:r>
            <a:r>
              <a:rPr lang="en-US" altLang="ja-JP" sz="2400" dirty="0">
                <a:sym typeface="Symbol" pitchFamily="18" charset="2"/>
              </a:rPr>
              <a:t>t care</a:t>
            </a:r>
            <a:endParaRPr lang="en-US" altLang="zh-CN" dirty="0">
              <a:ea typeface="ＭＳ Ｐゴシック" pitchFamily="34" charset="-128"/>
              <a:sym typeface="Symbol" pitchFamily="18" charset="2"/>
            </a:endParaRPr>
          </a:p>
          <a:p>
            <a:pPr eaLnBrk="1" hangingPunct="1"/>
            <a:r>
              <a:rPr lang="zh-CN" altLang="en-US" dirty="0">
                <a:ea typeface="ＭＳ Ｐゴシック" pitchFamily="34" charset="-128"/>
                <a:sym typeface="Symbol" pitchFamily="18" charset="2"/>
              </a:rPr>
              <a:t>示例</a:t>
            </a:r>
            <a:r>
              <a:rPr lang="en-US" altLang="zh-CN" dirty="0">
                <a:ea typeface="ＭＳ Ｐゴシック" pitchFamily="34" charset="-128"/>
                <a:sym typeface="Symbol" pitchFamily="18" charset="2"/>
              </a:rPr>
              <a:t>ALU </a:t>
            </a:r>
            <a:r>
              <a:rPr lang="zh-CN" altLang="en-US" dirty="0">
                <a:ea typeface="ＭＳ Ｐゴシック" pitchFamily="34" charset="-128"/>
                <a:sym typeface="Symbol" pitchFamily="18" charset="2"/>
              </a:rPr>
              <a:t>操作</a:t>
            </a:r>
            <a:endParaRPr lang="en-US" altLang="zh-CN" dirty="0">
              <a:ea typeface="ＭＳ Ｐゴシック" pitchFamily="34" charset="-128"/>
              <a:sym typeface="Symbol" pitchFamily="18" charset="2"/>
            </a:endParaRPr>
          </a:p>
          <a:p>
            <a:pPr lvl="1" eaLnBrk="1" hangingPunct="1"/>
            <a:r>
              <a:rPr lang="en-US" altLang="zh-CN" sz="2400" dirty="0">
                <a:ea typeface="ＭＳ Ｐゴシック" pitchFamily="34" charset="-128"/>
                <a:sym typeface="Symbol" pitchFamily="18" charset="2"/>
              </a:rPr>
              <a:t>ADD, SUB, AND, OR, XOR, NOR, etc.</a:t>
            </a:r>
          </a:p>
          <a:p>
            <a:pPr lvl="1" eaLnBrk="1" hangingPunct="1"/>
            <a:r>
              <a:rPr lang="en-US" altLang="zh-CN" sz="2400" dirty="0" err="1">
                <a:ea typeface="ＭＳ Ｐゴシック" pitchFamily="34" charset="-128"/>
                <a:sym typeface="Symbol" pitchFamily="18" charset="2"/>
              </a:rPr>
              <a:t>bcond</a:t>
            </a:r>
            <a:r>
              <a:rPr lang="en-US" altLang="zh-CN" sz="2400" dirty="0">
                <a:ea typeface="ＭＳ Ｐゴシック" pitchFamily="34" charset="-128"/>
                <a:sym typeface="Symbol" pitchFamily="18" charset="2"/>
              </a:rPr>
              <a:t> on equal, not equal, LE zero, GT zero, etc.</a:t>
            </a:r>
          </a:p>
          <a:p>
            <a:pPr lvl="1" eaLnBrk="1" hangingPunct="1">
              <a:buFontTx/>
              <a:buNone/>
            </a:pPr>
            <a:endParaRPr lang="en-US" altLang="zh-CN" sz="2400" dirty="0">
              <a:ea typeface="ＭＳ Ｐゴシック" pitchFamily="34" charset="-128"/>
              <a:sym typeface="Symbol" pitchFamily="18" charset="2"/>
            </a:endParaRPr>
          </a:p>
          <a:p>
            <a:pPr eaLnBrk="1" hangingPunct="1"/>
            <a:endParaRPr lang="en-US" altLang="zh-CN" dirty="0">
              <a:ea typeface="ＭＳ Ｐゴシック" pitchFamily="34" charset="-128"/>
            </a:endParaRP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28</a:t>
            </a:fld>
            <a:endParaRPr lang="zh-CN" altLang="en-US"/>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76200"/>
            <a:ext cx="8229600" cy="990600"/>
          </a:xfrm>
        </p:spPr>
        <p:txBody>
          <a:bodyPr/>
          <a:lstStyle/>
          <a:p>
            <a:pPr eaLnBrk="1" hangingPunct="1"/>
            <a:r>
              <a:rPr lang="en-US" altLang="zh-CN" dirty="0"/>
              <a:t>R-Type ALU</a:t>
            </a:r>
          </a:p>
        </p:txBody>
      </p:sp>
      <p:pic>
        <p:nvPicPr>
          <p:cNvPr id="30723" name="Picture 3"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408113"/>
            <a:ext cx="8437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ext Box 4"/>
          <p:cNvSpPr txBox="1">
            <a:spLocks noChangeArrowheads="1"/>
          </p:cNvSpPr>
          <p:nvPr/>
        </p:nvSpPr>
        <p:spPr bwMode="auto">
          <a:xfrm>
            <a:off x="7569200" y="2546350"/>
            <a:ext cx="121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30725" name="Text Box 5"/>
          <p:cNvSpPr txBox="1">
            <a:spLocks noChangeArrowheads="1"/>
          </p:cNvSpPr>
          <p:nvPr/>
        </p:nvSpPr>
        <p:spPr bwMode="auto">
          <a:xfrm>
            <a:off x="7302500" y="1371600"/>
            <a:ext cx="998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30726" name="Text Box 6"/>
          <p:cNvSpPr txBox="1">
            <a:spLocks noChangeArrowheads="1"/>
          </p:cNvSpPr>
          <p:nvPr/>
        </p:nvSpPr>
        <p:spPr bwMode="auto">
          <a:xfrm>
            <a:off x="6240463" y="5518150"/>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25" name="Text Box 15"/>
          <p:cNvSpPr txBox="1">
            <a:spLocks noChangeArrowheads="1"/>
          </p:cNvSpPr>
          <p:nvPr/>
        </p:nvSpPr>
        <p:spPr bwMode="auto">
          <a:xfrm>
            <a:off x="6410325" y="4391025"/>
            <a:ext cx="258763" cy="123825"/>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800" i="0" kern="0">
                <a:solidFill>
                  <a:srgbClr val="000000"/>
                </a:solidFill>
                <a:latin typeface="Calibri" charset="0"/>
              </a:rPr>
              <a:t>bcond</a:t>
            </a:r>
          </a:p>
        </p:txBody>
      </p:sp>
      <p:grpSp>
        <p:nvGrpSpPr>
          <p:cNvPr id="27" name="Group 18"/>
          <p:cNvGrpSpPr>
            <a:grpSpLocks/>
          </p:cNvGrpSpPr>
          <p:nvPr/>
        </p:nvGrpSpPr>
        <p:grpSpPr bwMode="auto">
          <a:xfrm>
            <a:off x="3505200" y="1855788"/>
            <a:ext cx="5105400" cy="4125912"/>
            <a:chOff x="2208" y="1296"/>
            <a:chExt cx="3216" cy="2599"/>
          </a:xfrm>
        </p:grpSpPr>
        <p:sp>
          <p:nvSpPr>
            <p:cNvPr id="28" name="Line 7"/>
            <p:cNvSpPr>
              <a:spLocks noChangeShapeType="1"/>
            </p:cNvSpPr>
            <p:nvPr/>
          </p:nvSpPr>
          <p:spPr bwMode="auto">
            <a:xfrm flipV="1">
              <a:off x="2208" y="3072"/>
              <a:ext cx="144" cy="24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9" name="Line 8"/>
            <p:cNvSpPr>
              <a:spLocks noChangeShapeType="1"/>
            </p:cNvSpPr>
            <p:nvPr/>
          </p:nvSpPr>
          <p:spPr bwMode="auto">
            <a:xfrm>
              <a:off x="3552" y="3024"/>
              <a:ext cx="192" cy="192"/>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0" name="Line 9"/>
            <p:cNvSpPr>
              <a:spLocks noChangeShapeType="1"/>
            </p:cNvSpPr>
            <p:nvPr/>
          </p:nvSpPr>
          <p:spPr bwMode="auto">
            <a:xfrm flipV="1">
              <a:off x="5280" y="3216"/>
              <a:ext cx="144" cy="144"/>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1" name="Line 10"/>
            <p:cNvSpPr>
              <a:spLocks noChangeShapeType="1"/>
            </p:cNvSpPr>
            <p:nvPr/>
          </p:nvSpPr>
          <p:spPr bwMode="auto">
            <a:xfrm>
              <a:off x="4656" y="1296"/>
              <a:ext cx="192" cy="384"/>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2" name="Line 11"/>
            <p:cNvSpPr>
              <a:spLocks noChangeShapeType="1"/>
            </p:cNvSpPr>
            <p:nvPr/>
          </p:nvSpPr>
          <p:spPr bwMode="auto">
            <a:xfrm flipV="1">
              <a:off x="5088" y="1440"/>
              <a:ext cx="144" cy="24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3" name="Text Box 12"/>
            <p:cNvSpPr txBox="1">
              <a:spLocks noChangeArrowheads="1"/>
            </p:cNvSpPr>
            <p:nvPr/>
          </p:nvSpPr>
          <p:spPr bwMode="auto">
            <a:xfrm>
              <a:off x="2805" y="2452"/>
              <a:ext cx="2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i="0" kern="0">
                  <a:solidFill>
                    <a:srgbClr val="FC0128"/>
                  </a:solidFill>
                  <a:latin typeface="Calibri" charset="0"/>
                </a:rPr>
                <a:t>1</a:t>
              </a:r>
            </a:p>
          </p:txBody>
        </p:sp>
        <p:sp>
          <p:nvSpPr>
            <p:cNvPr id="34" name="Text Box 13"/>
            <p:cNvSpPr txBox="1">
              <a:spLocks noChangeArrowheads="1"/>
            </p:cNvSpPr>
            <p:nvPr/>
          </p:nvSpPr>
          <p:spPr bwMode="auto">
            <a:xfrm>
              <a:off x="4725" y="2596"/>
              <a:ext cx="2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i="0" kern="0">
                  <a:solidFill>
                    <a:srgbClr val="FC0128"/>
                  </a:solidFill>
                  <a:latin typeface="Calibri" charset="0"/>
                </a:rPr>
                <a:t>0</a:t>
              </a:r>
            </a:p>
          </p:txBody>
        </p:sp>
        <p:sp>
          <p:nvSpPr>
            <p:cNvPr id="35" name="Text Box 14"/>
            <p:cNvSpPr txBox="1">
              <a:spLocks noChangeArrowheads="1"/>
            </p:cNvSpPr>
            <p:nvPr/>
          </p:nvSpPr>
          <p:spPr bwMode="auto">
            <a:xfrm>
              <a:off x="4708" y="3556"/>
              <a:ext cx="2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i="0" kern="0">
                  <a:solidFill>
                    <a:srgbClr val="FC0128"/>
                  </a:solidFill>
                  <a:latin typeface="Calibri" charset="0"/>
                </a:rPr>
                <a:t>0</a:t>
              </a:r>
            </a:p>
          </p:txBody>
        </p:sp>
        <p:sp>
          <p:nvSpPr>
            <p:cNvPr id="36" name="Text Box 17"/>
            <p:cNvSpPr txBox="1">
              <a:spLocks noChangeArrowheads="1"/>
            </p:cNvSpPr>
            <p:nvPr/>
          </p:nvSpPr>
          <p:spPr bwMode="auto">
            <a:xfrm>
              <a:off x="3507" y="3604"/>
              <a:ext cx="5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i="0" kern="0">
                  <a:solidFill>
                    <a:srgbClr val="FC0128"/>
                  </a:solidFill>
                  <a:latin typeface="Calibri" charset="0"/>
                </a:rPr>
                <a:t>funct</a:t>
              </a:r>
            </a:p>
          </p:txBody>
        </p:sp>
      </p:grpSp>
      <p:sp>
        <p:nvSpPr>
          <p:cNvPr id="2" name="灯片编号占位符 1"/>
          <p:cNvSpPr>
            <a:spLocks noGrp="1"/>
          </p:cNvSpPr>
          <p:nvPr>
            <p:ph type="sldNum" sz="quarter" idx="4"/>
          </p:nvPr>
        </p:nvSpPr>
        <p:spPr/>
        <p:txBody>
          <a:bodyPr/>
          <a:lstStyle/>
          <a:p>
            <a:fld id="{7B9845D8-D779-4563-B1F1-C45D4F729032}" type="slidenum">
              <a:rPr lang="zh-CN" altLang="en-US" smtClean="0"/>
              <a:pPr/>
              <a:t>29</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457200" y="76200"/>
            <a:ext cx="8229600" cy="990600"/>
          </a:xfrm>
        </p:spPr>
        <p:txBody>
          <a:bodyPr/>
          <a:lstStyle/>
          <a:p>
            <a:pPr eaLnBrk="1" hangingPunct="1"/>
            <a:r>
              <a:rPr lang="en-US" altLang="zh-CN" dirty="0"/>
              <a:t>I-Type ALU</a:t>
            </a:r>
          </a:p>
        </p:txBody>
      </p:sp>
      <p:pic>
        <p:nvPicPr>
          <p:cNvPr id="31747" name="Picture 2"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638" y="1322388"/>
            <a:ext cx="8437562"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ext Box 4"/>
          <p:cNvSpPr txBox="1">
            <a:spLocks noChangeArrowheads="1"/>
          </p:cNvSpPr>
          <p:nvPr/>
        </p:nvSpPr>
        <p:spPr bwMode="auto">
          <a:xfrm>
            <a:off x="7569200" y="2470150"/>
            <a:ext cx="121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31749" name="Text Box 5"/>
          <p:cNvSpPr txBox="1">
            <a:spLocks noChangeArrowheads="1"/>
          </p:cNvSpPr>
          <p:nvPr/>
        </p:nvSpPr>
        <p:spPr bwMode="auto">
          <a:xfrm>
            <a:off x="7302500" y="1295400"/>
            <a:ext cx="998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31750" name="Text Box 6"/>
          <p:cNvSpPr txBox="1">
            <a:spLocks noChangeArrowheads="1"/>
          </p:cNvSpPr>
          <p:nvPr/>
        </p:nvSpPr>
        <p:spPr bwMode="auto">
          <a:xfrm>
            <a:off x="6240463" y="5441950"/>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24" name="Line 7"/>
          <p:cNvSpPr>
            <a:spLocks noChangeShapeType="1"/>
          </p:cNvSpPr>
          <p:nvPr/>
        </p:nvSpPr>
        <p:spPr bwMode="auto">
          <a:xfrm>
            <a:off x="3505200" y="4522788"/>
            <a:ext cx="228600" cy="762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5" name="Line 8"/>
          <p:cNvSpPr>
            <a:spLocks noChangeShapeType="1"/>
          </p:cNvSpPr>
          <p:nvPr/>
        </p:nvSpPr>
        <p:spPr bwMode="auto">
          <a:xfrm flipV="1">
            <a:off x="5638800" y="4751388"/>
            <a:ext cx="304800" cy="3048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6" name="Line 9"/>
          <p:cNvSpPr>
            <a:spLocks noChangeShapeType="1"/>
          </p:cNvSpPr>
          <p:nvPr/>
        </p:nvSpPr>
        <p:spPr bwMode="auto">
          <a:xfrm flipV="1">
            <a:off x="8382000" y="4827588"/>
            <a:ext cx="228600" cy="2286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7" name="Line 10"/>
          <p:cNvSpPr>
            <a:spLocks noChangeShapeType="1"/>
          </p:cNvSpPr>
          <p:nvPr/>
        </p:nvSpPr>
        <p:spPr bwMode="auto">
          <a:xfrm>
            <a:off x="7391400" y="1779588"/>
            <a:ext cx="304800" cy="6096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8" name="Line 11"/>
          <p:cNvSpPr>
            <a:spLocks noChangeShapeType="1"/>
          </p:cNvSpPr>
          <p:nvPr/>
        </p:nvSpPr>
        <p:spPr bwMode="auto">
          <a:xfrm flipV="1">
            <a:off x="8077200" y="2008188"/>
            <a:ext cx="228600" cy="3810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1756" name="Text Box 12"/>
          <p:cNvSpPr txBox="1">
            <a:spLocks noChangeArrowheads="1"/>
          </p:cNvSpPr>
          <p:nvPr/>
        </p:nvSpPr>
        <p:spPr bwMode="auto">
          <a:xfrm>
            <a:off x="4452938" y="3614738"/>
            <a:ext cx="341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1</a:t>
            </a:r>
          </a:p>
        </p:txBody>
      </p:sp>
      <p:sp>
        <p:nvSpPr>
          <p:cNvPr id="31757" name="Text Box 13"/>
          <p:cNvSpPr txBox="1">
            <a:spLocks noChangeArrowheads="1"/>
          </p:cNvSpPr>
          <p:nvPr/>
        </p:nvSpPr>
        <p:spPr bwMode="auto">
          <a:xfrm>
            <a:off x="7500938" y="3843338"/>
            <a:ext cx="341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1758" name="Text Box 14"/>
          <p:cNvSpPr txBox="1">
            <a:spLocks noChangeArrowheads="1"/>
          </p:cNvSpPr>
          <p:nvPr/>
        </p:nvSpPr>
        <p:spPr bwMode="auto">
          <a:xfrm>
            <a:off x="7473950" y="5367338"/>
            <a:ext cx="341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2" name="Text Box 15"/>
          <p:cNvSpPr txBox="1">
            <a:spLocks noChangeArrowheads="1"/>
          </p:cNvSpPr>
          <p:nvPr/>
        </p:nvSpPr>
        <p:spPr bwMode="auto">
          <a:xfrm>
            <a:off x="6410325" y="4314825"/>
            <a:ext cx="258763" cy="123825"/>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800" i="0" kern="0">
                <a:solidFill>
                  <a:srgbClr val="000000"/>
                </a:solidFill>
                <a:latin typeface="Calibri" charset="0"/>
                <a:cs typeface="Calibri" charset="0"/>
              </a:rPr>
              <a:t>bcond</a:t>
            </a:r>
          </a:p>
        </p:txBody>
      </p:sp>
      <p:sp>
        <p:nvSpPr>
          <p:cNvPr id="31760" name="Text Box 17"/>
          <p:cNvSpPr txBox="1">
            <a:spLocks noChangeArrowheads="1"/>
          </p:cNvSpPr>
          <p:nvPr/>
        </p:nvSpPr>
        <p:spPr bwMode="auto">
          <a:xfrm>
            <a:off x="5429250" y="5443538"/>
            <a:ext cx="1116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opcode</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30</a:t>
            </a:fld>
            <a:endParaRPr lang="zh-CN" altLang="en-US"/>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76200"/>
            <a:ext cx="8229600" cy="990600"/>
          </a:xfrm>
        </p:spPr>
        <p:txBody>
          <a:bodyPr/>
          <a:lstStyle/>
          <a:p>
            <a:pPr eaLnBrk="1" hangingPunct="1"/>
            <a:r>
              <a:rPr lang="en-US" altLang="zh-CN" dirty="0"/>
              <a:t>LW</a:t>
            </a:r>
          </a:p>
        </p:txBody>
      </p:sp>
      <p:pic>
        <p:nvPicPr>
          <p:cNvPr id="32771" name="Picture 2"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246188"/>
            <a:ext cx="8437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Text Box 4"/>
          <p:cNvSpPr txBox="1">
            <a:spLocks noChangeArrowheads="1"/>
          </p:cNvSpPr>
          <p:nvPr/>
        </p:nvSpPr>
        <p:spPr bwMode="auto">
          <a:xfrm>
            <a:off x="7569200" y="2393950"/>
            <a:ext cx="121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32773" name="Text Box 5"/>
          <p:cNvSpPr txBox="1">
            <a:spLocks noChangeArrowheads="1"/>
          </p:cNvSpPr>
          <p:nvPr/>
        </p:nvSpPr>
        <p:spPr bwMode="auto">
          <a:xfrm>
            <a:off x="7302500" y="1219200"/>
            <a:ext cx="998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32774" name="Text Box 6"/>
          <p:cNvSpPr txBox="1">
            <a:spLocks noChangeArrowheads="1"/>
          </p:cNvSpPr>
          <p:nvPr/>
        </p:nvSpPr>
        <p:spPr bwMode="auto">
          <a:xfrm>
            <a:off x="6240463" y="5365750"/>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24" name="Line 7"/>
          <p:cNvSpPr>
            <a:spLocks noChangeShapeType="1"/>
          </p:cNvSpPr>
          <p:nvPr/>
        </p:nvSpPr>
        <p:spPr bwMode="auto">
          <a:xfrm>
            <a:off x="3505200" y="4446588"/>
            <a:ext cx="228600" cy="762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5" name="Line 8"/>
          <p:cNvSpPr>
            <a:spLocks noChangeShapeType="1"/>
          </p:cNvSpPr>
          <p:nvPr/>
        </p:nvSpPr>
        <p:spPr bwMode="auto">
          <a:xfrm flipV="1">
            <a:off x="5638800" y="4675188"/>
            <a:ext cx="304800" cy="3048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6" name="Line 9"/>
          <p:cNvSpPr>
            <a:spLocks noChangeShapeType="1"/>
          </p:cNvSpPr>
          <p:nvPr/>
        </p:nvSpPr>
        <p:spPr bwMode="auto">
          <a:xfrm>
            <a:off x="8382000" y="4522788"/>
            <a:ext cx="228600" cy="2286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7" name="Line 10"/>
          <p:cNvSpPr>
            <a:spLocks noChangeShapeType="1"/>
          </p:cNvSpPr>
          <p:nvPr/>
        </p:nvSpPr>
        <p:spPr bwMode="auto">
          <a:xfrm>
            <a:off x="7391400" y="1703388"/>
            <a:ext cx="304800" cy="6096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8" name="Line 11"/>
          <p:cNvSpPr>
            <a:spLocks noChangeShapeType="1"/>
          </p:cNvSpPr>
          <p:nvPr/>
        </p:nvSpPr>
        <p:spPr bwMode="auto">
          <a:xfrm flipV="1">
            <a:off x="8077200" y="1931988"/>
            <a:ext cx="228600" cy="3810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2780" name="Text Box 12"/>
          <p:cNvSpPr txBox="1">
            <a:spLocks noChangeArrowheads="1"/>
          </p:cNvSpPr>
          <p:nvPr/>
        </p:nvSpPr>
        <p:spPr bwMode="auto">
          <a:xfrm>
            <a:off x="4452938" y="3538538"/>
            <a:ext cx="341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1</a:t>
            </a:r>
          </a:p>
        </p:txBody>
      </p:sp>
      <p:sp>
        <p:nvSpPr>
          <p:cNvPr id="32781" name="Text Box 13"/>
          <p:cNvSpPr txBox="1">
            <a:spLocks noChangeArrowheads="1"/>
          </p:cNvSpPr>
          <p:nvPr/>
        </p:nvSpPr>
        <p:spPr bwMode="auto">
          <a:xfrm>
            <a:off x="7500938" y="3767138"/>
            <a:ext cx="341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2782" name="Text Box 14"/>
          <p:cNvSpPr txBox="1">
            <a:spLocks noChangeArrowheads="1"/>
          </p:cNvSpPr>
          <p:nvPr/>
        </p:nvSpPr>
        <p:spPr bwMode="auto">
          <a:xfrm>
            <a:off x="7473950" y="5291138"/>
            <a:ext cx="341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1</a:t>
            </a:r>
          </a:p>
        </p:txBody>
      </p:sp>
      <p:sp>
        <p:nvSpPr>
          <p:cNvPr id="32" name="Text Box 15"/>
          <p:cNvSpPr txBox="1">
            <a:spLocks noChangeArrowheads="1"/>
          </p:cNvSpPr>
          <p:nvPr/>
        </p:nvSpPr>
        <p:spPr bwMode="auto">
          <a:xfrm>
            <a:off x="6410325" y="4238625"/>
            <a:ext cx="258763" cy="123825"/>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800" i="0" kern="0">
                <a:solidFill>
                  <a:srgbClr val="000000"/>
                </a:solidFill>
                <a:latin typeface="Calibri" charset="0"/>
                <a:cs typeface="Calibri" charset="0"/>
              </a:rPr>
              <a:t>bcond</a:t>
            </a:r>
          </a:p>
        </p:txBody>
      </p:sp>
      <p:sp>
        <p:nvSpPr>
          <p:cNvPr id="32784" name="Text Box 17"/>
          <p:cNvSpPr txBox="1">
            <a:spLocks noChangeArrowheads="1"/>
          </p:cNvSpPr>
          <p:nvPr/>
        </p:nvSpPr>
        <p:spPr bwMode="auto">
          <a:xfrm>
            <a:off x="5643563" y="5367338"/>
            <a:ext cx="685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Add</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31</a:t>
            </a:fld>
            <a:endParaRPr lang="zh-CN" altLang="en-US"/>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76200"/>
            <a:ext cx="8229600" cy="990600"/>
          </a:xfrm>
        </p:spPr>
        <p:txBody>
          <a:bodyPr/>
          <a:lstStyle/>
          <a:p>
            <a:pPr eaLnBrk="1" hangingPunct="1"/>
            <a:r>
              <a:rPr lang="en-US" altLang="zh-CN" dirty="0"/>
              <a:t>SW</a:t>
            </a:r>
          </a:p>
        </p:txBody>
      </p:sp>
      <p:pic>
        <p:nvPicPr>
          <p:cNvPr id="33795" name="Picture 2"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246188"/>
            <a:ext cx="8437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ext Box 4"/>
          <p:cNvSpPr txBox="1">
            <a:spLocks noChangeArrowheads="1"/>
          </p:cNvSpPr>
          <p:nvPr/>
        </p:nvSpPr>
        <p:spPr bwMode="auto">
          <a:xfrm>
            <a:off x="7569200" y="2393950"/>
            <a:ext cx="121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33797" name="Text Box 5"/>
          <p:cNvSpPr txBox="1">
            <a:spLocks noChangeArrowheads="1"/>
          </p:cNvSpPr>
          <p:nvPr/>
        </p:nvSpPr>
        <p:spPr bwMode="auto">
          <a:xfrm>
            <a:off x="7302500" y="1219200"/>
            <a:ext cx="998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33798" name="Text Box 6"/>
          <p:cNvSpPr txBox="1">
            <a:spLocks noChangeArrowheads="1"/>
          </p:cNvSpPr>
          <p:nvPr/>
        </p:nvSpPr>
        <p:spPr bwMode="auto">
          <a:xfrm>
            <a:off x="6240463" y="5365750"/>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24" name="Line 7"/>
          <p:cNvSpPr>
            <a:spLocks noChangeShapeType="1"/>
          </p:cNvSpPr>
          <p:nvPr/>
        </p:nvSpPr>
        <p:spPr bwMode="auto">
          <a:xfrm flipV="1">
            <a:off x="5638800" y="4675188"/>
            <a:ext cx="304800" cy="3048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5" name="Line 8"/>
          <p:cNvSpPr>
            <a:spLocks noChangeShapeType="1"/>
          </p:cNvSpPr>
          <p:nvPr/>
        </p:nvSpPr>
        <p:spPr bwMode="auto">
          <a:xfrm>
            <a:off x="7391400" y="1703388"/>
            <a:ext cx="304800" cy="6096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6" name="Line 9"/>
          <p:cNvSpPr>
            <a:spLocks noChangeShapeType="1"/>
          </p:cNvSpPr>
          <p:nvPr/>
        </p:nvSpPr>
        <p:spPr bwMode="auto">
          <a:xfrm flipV="1">
            <a:off x="8077200" y="1931988"/>
            <a:ext cx="228600" cy="3810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3802" name="Text Box 10"/>
          <p:cNvSpPr txBox="1">
            <a:spLocks noChangeArrowheads="1"/>
          </p:cNvSpPr>
          <p:nvPr/>
        </p:nvSpPr>
        <p:spPr bwMode="auto">
          <a:xfrm>
            <a:off x="4452938" y="3538538"/>
            <a:ext cx="341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3803" name="Text Box 11"/>
          <p:cNvSpPr txBox="1">
            <a:spLocks noChangeArrowheads="1"/>
          </p:cNvSpPr>
          <p:nvPr/>
        </p:nvSpPr>
        <p:spPr bwMode="auto">
          <a:xfrm>
            <a:off x="7500938" y="3767138"/>
            <a:ext cx="341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1</a:t>
            </a:r>
          </a:p>
        </p:txBody>
      </p:sp>
      <p:sp>
        <p:nvSpPr>
          <p:cNvPr id="33804" name="Text Box 12"/>
          <p:cNvSpPr txBox="1">
            <a:spLocks noChangeArrowheads="1"/>
          </p:cNvSpPr>
          <p:nvPr/>
        </p:nvSpPr>
        <p:spPr bwMode="auto">
          <a:xfrm>
            <a:off x="7473950" y="5291138"/>
            <a:ext cx="341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3805" name="Text Box 13"/>
          <p:cNvSpPr txBox="1">
            <a:spLocks noChangeArrowheads="1"/>
          </p:cNvSpPr>
          <p:nvPr/>
        </p:nvSpPr>
        <p:spPr bwMode="auto">
          <a:xfrm>
            <a:off x="8274050" y="4554538"/>
            <a:ext cx="4238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3806" name="Text Box 14"/>
          <p:cNvSpPr txBox="1">
            <a:spLocks noChangeArrowheads="1"/>
          </p:cNvSpPr>
          <p:nvPr/>
        </p:nvSpPr>
        <p:spPr bwMode="auto">
          <a:xfrm>
            <a:off x="3394075" y="4391025"/>
            <a:ext cx="423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2" name="Text Box 15"/>
          <p:cNvSpPr txBox="1">
            <a:spLocks noChangeArrowheads="1"/>
          </p:cNvSpPr>
          <p:nvPr/>
        </p:nvSpPr>
        <p:spPr bwMode="auto">
          <a:xfrm>
            <a:off x="6410325" y="4238625"/>
            <a:ext cx="258763" cy="123825"/>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800" i="0" kern="0">
                <a:solidFill>
                  <a:srgbClr val="000000"/>
                </a:solidFill>
                <a:latin typeface="Calibri" charset="0"/>
                <a:cs typeface="Calibri" charset="0"/>
              </a:rPr>
              <a:t>bcond</a:t>
            </a:r>
          </a:p>
        </p:txBody>
      </p:sp>
      <p:sp>
        <p:nvSpPr>
          <p:cNvPr id="33808" name="Text Box 17"/>
          <p:cNvSpPr txBox="1">
            <a:spLocks noChangeArrowheads="1"/>
          </p:cNvSpPr>
          <p:nvPr/>
        </p:nvSpPr>
        <p:spPr bwMode="auto">
          <a:xfrm>
            <a:off x="5643563" y="5367338"/>
            <a:ext cx="685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Add</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32</a:t>
            </a:fld>
            <a:endParaRPr lang="zh-CN" altLang="en-US"/>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57200" y="76200"/>
            <a:ext cx="8229600" cy="990600"/>
          </a:xfrm>
        </p:spPr>
        <p:txBody>
          <a:bodyPr/>
          <a:lstStyle/>
          <a:p>
            <a:pPr eaLnBrk="1" hangingPunct="1"/>
            <a:r>
              <a:rPr lang="en-US" altLang="zh-CN" dirty="0"/>
              <a:t>Branch (</a:t>
            </a:r>
            <a:r>
              <a:rPr lang="zh-CN" altLang="en-US" dirty="0"/>
              <a:t>不跳转</a:t>
            </a:r>
            <a:r>
              <a:rPr lang="en-US" altLang="zh-CN" dirty="0"/>
              <a:t>)</a:t>
            </a:r>
          </a:p>
        </p:txBody>
      </p:sp>
      <p:pic>
        <p:nvPicPr>
          <p:cNvPr id="34819" name="Picture 2"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600200"/>
            <a:ext cx="8437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4"/>
          <p:cNvSpPr txBox="1">
            <a:spLocks noChangeArrowheads="1"/>
          </p:cNvSpPr>
          <p:nvPr/>
        </p:nvSpPr>
        <p:spPr bwMode="auto">
          <a:xfrm>
            <a:off x="7569200" y="2747963"/>
            <a:ext cx="121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34821" name="Text Box 5"/>
          <p:cNvSpPr txBox="1">
            <a:spLocks noChangeArrowheads="1"/>
          </p:cNvSpPr>
          <p:nvPr/>
        </p:nvSpPr>
        <p:spPr bwMode="auto">
          <a:xfrm>
            <a:off x="7302500" y="1573213"/>
            <a:ext cx="998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34822" name="Text Box 6"/>
          <p:cNvSpPr txBox="1">
            <a:spLocks noChangeArrowheads="1"/>
          </p:cNvSpPr>
          <p:nvPr/>
        </p:nvSpPr>
        <p:spPr bwMode="auto">
          <a:xfrm>
            <a:off x="6240463" y="5719763"/>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24" name="Line 7"/>
          <p:cNvSpPr>
            <a:spLocks noChangeShapeType="1"/>
          </p:cNvSpPr>
          <p:nvPr/>
        </p:nvSpPr>
        <p:spPr bwMode="auto">
          <a:xfrm>
            <a:off x="5638800" y="4876800"/>
            <a:ext cx="304800" cy="1524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5" name="Line 8"/>
          <p:cNvSpPr>
            <a:spLocks noChangeShapeType="1"/>
          </p:cNvSpPr>
          <p:nvPr/>
        </p:nvSpPr>
        <p:spPr bwMode="auto">
          <a:xfrm>
            <a:off x="7391400" y="2057400"/>
            <a:ext cx="304800" cy="6096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6" name="Line 9"/>
          <p:cNvSpPr>
            <a:spLocks noChangeShapeType="1"/>
          </p:cNvSpPr>
          <p:nvPr/>
        </p:nvSpPr>
        <p:spPr bwMode="auto">
          <a:xfrm flipV="1">
            <a:off x="8077200" y="2286000"/>
            <a:ext cx="228600" cy="3810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4826" name="Text Box 10"/>
          <p:cNvSpPr txBox="1">
            <a:spLocks noChangeArrowheads="1"/>
          </p:cNvSpPr>
          <p:nvPr/>
        </p:nvSpPr>
        <p:spPr bwMode="auto">
          <a:xfrm>
            <a:off x="4452938" y="3892550"/>
            <a:ext cx="341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4827" name="Text Box 11"/>
          <p:cNvSpPr txBox="1">
            <a:spLocks noChangeArrowheads="1"/>
          </p:cNvSpPr>
          <p:nvPr/>
        </p:nvSpPr>
        <p:spPr bwMode="auto">
          <a:xfrm>
            <a:off x="7500938" y="4121150"/>
            <a:ext cx="341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4828" name="Text Box 12"/>
          <p:cNvSpPr txBox="1">
            <a:spLocks noChangeArrowheads="1"/>
          </p:cNvSpPr>
          <p:nvPr/>
        </p:nvSpPr>
        <p:spPr bwMode="auto">
          <a:xfrm>
            <a:off x="7473950" y="5645150"/>
            <a:ext cx="341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4829" name="Text Box 13"/>
          <p:cNvSpPr txBox="1">
            <a:spLocks noChangeArrowheads="1"/>
          </p:cNvSpPr>
          <p:nvPr/>
        </p:nvSpPr>
        <p:spPr bwMode="auto">
          <a:xfrm>
            <a:off x="8274050" y="4908550"/>
            <a:ext cx="423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4830" name="Text Box 14"/>
          <p:cNvSpPr txBox="1">
            <a:spLocks noChangeArrowheads="1"/>
          </p:cNvSpPr>
          <p:nvPr/>
        </p:nvSpPr>
        <p:spPr bwMode="auto">
          <a:xfrm>
            <a:off x="3416300" y="4810125"/>
            <a:ext cx="423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2" name="Text Box 15"/>
          <p:cNvSpPr txBox="1">
            <a:spLocks noChangeArrowheads="1"/>
          </p:cNvSpPr>
          <p:nvPr/>
        </p:nvSpPr>
        <p:spPr bwMode="auto">
          <a:xfrm>
            <a:off x="6410325" y="4592638"/>
            <a:ext cx="258763" cy="123825"/>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800" i="0" kern="0">
                <a:solidFill>
                  <a:srgbClr val="000000"/>
                </a:solidFill>
                <a:latin typeface="Calibri" charset="0"/>
                <a:cs typeface="Calibri" charset="0"/>
              </a:rPr>
              <a:t>bcond</a:t>
            </a:r>
          </a:p>
        </p:txBody>
      </p:sp>
      <p:sp>
        <p:nvSpPr>
          <p:cNvPr id="34832" name="Text Box 17"/>
          <p:cNvSpPr txBox="1">
            <a:spLocks noChangeArrowheads="1"/>
          </p:cNvSpPr>
          <p:nvPr/>
        </p:nvSpPr>
        <p:spPr bwMode="auto">
          <a:xfrm>
            <a:off x="5508625" y="5721350"/>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bcond</a:t>
            </a:r>
          </a:p>
        </p:txBody>
      </p:sp>
      <p:sp>
        <p:nvSpPr>
          <p:cNvPr id="2" name="TextBox 1"/>
          <p:cNvSpPr txBox="1">
            <a:spLocks noChangeArrowheads="1"/>
          </p:cNvSpPr>
          <p:nvPr/>
        </p:nvSpPr>
        <p:spPr bwMode="auto">
          <a:xfrm>
            <a:off x="4002833" y="1091684"/>
            <a:ext cx="5134440"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zh-CN" altLang="en-US" sz="2000" b="0" dirty="0">
                <a:solidFill>
                  <a:srgbClr val="FF0000"/>
                </a:solidFill>
                <a:latin typeface="微软雅黑" panose="020B0503020204020204" pitchFamily="34" charset="-122"/>
                <a:ea typeface="微软雅黑" panose="020B0503020204020204" pitchFamily="34" charset="-122"/>
              </a:rPr>
              <a:t>有些控制信号是在指令的处理过程中产生的</a:t>
            </a:r>
            <a:endParaRPr lang="en-US" altLang="zh-CN" sz="2000" b="0" dirty="0">
              <a:solidFill>
                <a:srgbClr val="FF000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4"/>
          </p:nvPr>
        </p:nvSpPr>
        <p:spPr/>
        <p:txBody>
          <a:bodyPr/>
          <a:lstStyle/>
          <a:p>
            <a:fld id="{7B9845D8-D779-4563-B1F1-C45D4F729032}" type="slidenum">
              <a:rPr lang="zh-CN" altLang="en-US" smtClean="0"/>
              <a:pPr/>
              <a:t>33</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76200"/>
            <a:ext cx="8229600" cy="990600"/>
          </a:xfrm>
        </p:spPr>
        <p:txBody>
          <a:bodyPr/>
          <a:lstStyle/>
          <a:p>
            <a:pPr eaLnBrk="1" hangingPunct="1"/>
            <a:r>
              <a:rPr lang="en-US" altLang="zh-CN" dirty="0"/>
              <a:t>Branch (</a:t>
            </a:r>
            <a:r>
              <a:rPr lang="zh-CN" altLang="en-US" dirty="0"/>
              <a:t>跳转</a:t>
            </a:r>
            <a:r>
              <a:rPr lang="en-US" altLang="zh-CN" dirty="0"/>
              <a:t>)</a:t>
            </a:r>
          </a:p>
        </p:txBody>
      </p:sp>
      <p:pic>
        <p:nvPicPr>
          <p:cNvPr id="35843" name="Picture 2"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600200"/>
            <a:ext cx="8437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Text Box 4"/>
          <p:cNvSpPr txBox="1">
            <a:spLocks noChangeArrowheads="1"/>
          </p:cNvSpPr>
          <p:nvPr/>
        </p:nvSpPr>
        <p:spPr bwMode="auto">
          <a:xfrm>
            <a:off x="7569200" y="2747963"/>
            <a:ext cx="121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35845" name="Text Box 5"/>
          <p:cNvSpPr txBox="1">
            <a:spLocks noChangeArrowheads="1"/>
          </p:cNvSpPr>
          <p:nvPr/>
        </p:nvSpPr>
        <p:spPr bwMode="auto">
          <a:xfrm>
            <a:off x="7302500" y="1573213"/>
            <a:ext cx="998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35846" name="Text Box 6"/>
          <p:cNvSpPr txBox="1">
            <a:spLocks noChangeArrowheads="1"/>
          </p:cNvSpPr>
          <p:nvPr/>
        </p:nvSpPr>
        <p:spPr bwMode="auto">
          <a:xfrm>
            <a:off x="6240463" y="5719763"/>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24" name="Line 7"/>
          <p:cNvSpPr>
            <a:spLocks noChangeShapeType="1"/>
          </p:cNvSpPr>
          <p:nvPr/>
        </p:nvSpPr>
        <p:spPr bwMode="auto">
          <a:xfrm>
            <a:off x="5638800" y="4876800"/>
            <a:ext cx="304800" cy="1524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5" name="Line 8"/>
          <p:cNvSpPr>
            <a:spLocks noChangeShapeType="1"/>
          </p:cNvSpPr>
          <p:nvPr/>
        </p:nvSpPr>
        <p:spPr bwMode="auto">
          <a:xfrm>
            <a:off x="7369175" y="2624138"/>
            <a:ext cx="304800" cy="1587"/>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26" name="Line 9"/>
          <p:cNvSpPr>
            <a:spLocks noChangeShapeType="1"/>
          </p:cNvSpPr>
          <p:nvPr/>
        </p:nvSpPr>
        <p:spPr bwMode="auto">
          <a:xfrm flipV="1">
            <a:off x="8077200" y="2286000"/>
            <a:ext cx="228600" cy="3810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5850" name="Text Box 10"/>
          <p:cNvSpPr txBox="1">
            <a:spLocks noChangeArrowheads="1"/>
          </p:cNvSpPr>
          <p:nvPr/>
        </p:nvSpPr>
        <p:spPr bwMode="auto">
          <a:xfrm>
            <a:off x="4452938" y="3892550"/>
            <a:ext cx="341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5851" name="Text Box 11"/>
          <p:cNvSpPr txBox="1">
            <a:spLocks noChangeArrowheads="1"/>
          </p:cNvSpPr>
          <p:nvPr/>
        </p:nvSpPr>
        <p:spPr bwMode="auto">
          <a:xfrm>
            <a:off x="7500938" y="4121150"/>
            <a:ext cx="341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5852" name="Text Box 12"/>
          <p:cNvSpPr txBox="1">
            <a:spLocks noChangeArrowheads="1"/>
          </p:cNvSpPr>
          <p:nvPr/>
        </p:nvSpPr>
        <p:spPr bwMode="auto">
          <a:xfrm>
            <a:off x="7473950" y="5645150"/>
            <a:ext cx="341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5853" name="Text Box 13"/>
          <p:cNvSpPr txBox="1">
            <a:spLocks noChangeArrowheads="1"/>
          </p:cNvSpPr>
          <p:nvPr/>
        </p:nvSpPr>
        <p:spPr bwMode="auto">
          <a:xfrm>
            <a:off x="8274050" y="4908550"/>
            <a:ext cx="423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5854" name="Text Box 14"/>
          <p:cNvSpPr txBox="1">
            <a:spLocks noChangeArrowheads="1"/>
          </p:cNvSpPr>
          <p:nvPr/>
        </p:nvSpPr>
        <p:spPr bwMode="auto">
          <a:xfrm>
            <a:off x="3371850" y="4810125"/>
            <a:ext cx="423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2" name="Text Box 15"/>
          <p:cNvSpPr txBox="1">
            <a:spLocks noChangeArrowheads="1"/>
          </p:cNvSpPr>
          <p:nvPr/>
        </p:nvSpPr>
        <p:spPr bwMode="auto">
          <a:xfrm>
            <a:off x="6410325" y="4592638"/>
            <a:ext cx="258763" cy="123825"/>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800" i="0" kern="0">
                <a:solidFill>
                  <a:srgbClr val="000000"/>
                </a:solidFill>
                <a:latin typeface="Calibri" charset="0"/>
                <a:cs typeface="Calibri" charset="0"/>
              </a:rPr>
              <a:t>bcond</a:t>
            </a:r>
          </a:p>
        </p:txBody>
      </p:sp>
      <p:sp>
        <p:nvSpPr>
          <p:cNvPr id="35856" name="Text Box 17"/>
          <p:cNvSpPr txBox="1">
            <a:spLocks noChangeArrowheads="1"/>
          </p:cNvSpPr>
          <p:nvPr/>
        </p:nvSpPr>
        <p:spPr bwMode="auto">
          <a:xfrm>
            <a:off x="5508625" y="5721350"/>
            <a:ext cx="96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bcond</a:t>
            </a:r>
          </a:p>
        </p:txBody>
      </p:sp>
      <p:sp>
        <p:nvSpPr>
          <p:cNvPr id="18" name="TextBox 1">
            <a:extLst>
              <a:ext uri="{FF2B5EF4-FFF2-40B4-BE49-F238E27FC236}">
                <a16:creationId xmlns:a16="http://schemas.microsoft.com/office/drawing/2014/main" id="{F93AAD0C-8072-493C-918E-B7EBAE3337F4}"/>
              </a:ext>
            </a:extLst>
          </p:cNvPr>
          <p:cNvSpPr txBox="1">
            <a:spLocks noChangeArrowheads="1"/>
          </p:cNvSpPr>
          <p:nvPr/>
        </p:nvSpPr>
        <p:spPr bwMode="auto">
          <a:xfrm>
            <a:off x="3854444" y="1059375"/>
            <a:ext cx="5096216" cy="4001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zh-CN" altLang="en-US" sz="2000" b="0" dirty="0">
                <a:solidFill>
                  <a:srgbClr val="FF0000"/>
                </a:solidFill>
                <a:latin typeface="微软雅黑" panose="020B0503020204020204" pitchFamily="34" charset="-122"/>
                <a:ea typeface="微软雅黑" panose="020B0503020204020204" pitchFamily="34" charset="-122"/>
              </a:rPr>
              <a:t>有些控制信号是在指令的处理过程中产生的</a:t>
            </a:r>
            <a:endParaRPr lang="en-US" altLang="zh-CN" sz="2000" b="0"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34</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457200" y="76200"/>
            <a:ext cx="8229600" cy="990600"/>
          </a:xfrm>
        </p:spPr>
        <p:txBody>
          <a:bodyPr/>
          <a:lstStyle/>
          <a:p>
            <a:pPr eaLnBrk="1" hangingPunct="1"/>
            <a:r>
              <a:rPr lang="en-US" altLang="zh-CN">
                <a:latin typeface="Tw Cen MT" pitchFamily="34" charset="0"/>
                <a:ea typeface="ＭＳ Ｐゴシック" pitchFamily="34" charset="-128"/>
              </a:rPr>
              <a:t>Jump</a:t>
            </a:r>
          </a:p>
        </p:txBody>
      </p:sp>
      <p:pic>
        <p:nvPicPr>
          <p:cNvPr id="36867" name="Picture 2" descr="F05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246188"/>
            <a:ext cx="8437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Text Box 4"/>
          <p:cNvSpPr txBox="1">
            <a:spLocks noChangeArrowheads="1"/>
          </p:cNvSpPr>
          <p:nvPr/>
        </p:nvSpPr>
        <p:spPr bwMode="auto">
          <a:xfrm>
            <a:off x="7569200" y="2393950"/>
            <a:ext cx="1212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2</a:t>
            </a:r>
            <a:r>
              <a:rPr lang="en-US" altLang="zh-CN" sz="1200">
                <a:solidFill>
                  <a:srgbClr val="FF9900"/>
                </a:solidFill>
                <a:latin typeface="Calibri" pitchFamily="34" charset="0"/>
              </a:rPr>
              <a:t>=Br Taken</a:t>
            </a:r>
            <a:endParaRPr lang="en-US" altLang="zh-CN" sz="1200" baseline="-25000">
              <a:solidFill>
                <a:srgbClr val="FF9900"/>
              </a:solidFill>
              <a:latin typeface="Calibri" pitchFamily="34" charset="0"/>
            </a:endParaRPr>
          </a:p>
        </p:txBody>
      </p:sp>
      <p:sp>
        <p:nvSpPr>
          <p:cNvPr id="36869" name="Text Box 5"/>
          <p:cNvSpPr txBox="1">
            <a:spLocks noChangeArrowheads="1"/>
          </p:cNvSpPr>
          <p:nvPr/>
        </p:nvSpPr>
        <p:spPr bwMode="auto">
          <a:xfrm>
            <a:off x="7302500" y="1219200"/>
            <a:ext cx="998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algn="r" eaLnBrk="1" hangingPunct="1"/>
            <a:r>
              <a:rPr lang="en-US" altLang="zh-CN" sz="1200">
                <a:solidFill>
                  <a:srgbClr val="FF9900"/>
                </a:solidFill>
                <a:latin typeface="Calibri" pitchFamily="34" charset="0"/>
              </a:rPr>
              <a:t>PCSrc</a:t>
            </a:r>
            <a:r>
              <a:rPr lang="en-US" altLang="zh-CN" sz="1200" baseline="-25000">
                <a:solidFill>
                  <a:srgbClr val="FF9900"/>
                </a:solidFill>
                <a:latin typeface="Calibri" pitchFamily="34" charset="0"/>
              </a:rPr>
              <a:t>1</a:t>
            </a:r>
            <a:r>
              <a:rPr lang="en-US" altLang="zh-CN" sz="1200">
                <a:solidFill>
                  <a:srgbClr val="FF9900"/>
                </a:solidFill>
                <a:latin typeface="Calibri" pitchFamily="34" charset="0"/>
              </a:rPr>
              <a:t>=Jump</a:t>
            </a:r>
            <a:endParaRPr lang="en-US" altLang="zh-CN" sz="1200" baseline="-25000">
              <a:solidFill>
                <a:srgbClr val="FF9900"/>
              </a:solidFill>
              <a:latin typeface="Calibri" pitchFamily="34" charset="0"/>
            </a:endParaRPr>
          </a:p>
        </p:txBody>
      </p:sp>
      <p:sp>
        <p:nvSpPr>
          <p:cNvPr id="36870" name="Text Box 6"/>
          <p:cNvSpPr txBox="1">
            <a:spLocks noChangeArrowheads="1"/>
          </p:cNvSpPr>
          <p:nvPr/>
        </p:nvSpPr>
        <p:spPr bwMode="auto">
          <a:xfrm>
            <a:off x="6240463" y="5365750"/>
            <a:ext cx="1085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1200">
                <a:solidFill>
                  <a:srgbClr val="FF9900"/>
                </a:solidFill>
                <a:latin typeface="Calibri" pitchFamily="34" charset="0"/>
              </a:rPr>
              <a:t>ALU operation</a:t>
            </a:r>
          </a:p>
        </p:txBody>
      </p:sp>
      <p:sp>
        <p:nvSpPr>
          <p:cNvPr id="24" name="Line 7"/>
          <p:cNvSpPr>
            <a:spLocks noChangeShapeType="1"/>
          </p:cNvSpPr>
          <p:nvPr/>
        </p:nvSpPr>
        <p:spPr bwMode="auto">
          <a:xfrm>
            <a:off x="8077200" y="1703388"/>
            <a:ext cx="228600" cy="228600"/>
          </a:xfrm>
          <a:prstGeom prst="line">
            <a:avLst/>
          </a:prstGeom>
          <a:noFill/>
          <a:ln w="76200">
            <a:solidFill>
              <a:srgbClr val="FC0128"/>
            </a:solidFill>
            <a:round/>
            <a:headEnd/>
            <a:tailE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ea typeface="ＭＳ Ｐゴシック" charset="0"/>
              <a:cs typeface="ＭＳ Ｐゴシック" charset="0"/>
            </a:endParaRPr>
          </a:p>
        </p:txBody>
      </p:sp>
      <p:sp>
        <p:nvSpPr>
          <p:cNvPr id="36872" name="Text Box 8"/>
          <p:cNvSpPr txBox="1">
            <a:spLocks noChangeArrowheads="1"/>
          </p:cNvSpPr>
          <p:nvPr/>
        </p:nvSpPr>
        <p:spPr bwMode="auto">
          <a:xfrm>
            <a:off x="4452938" y="3538538"/>
            <a:ext cx="341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6873" name="Text Box 9"/>
          <p:cNvSpPr txBox="1">
            <a:spLocks noChangeArrowheads="1"/>
          </p:cNvSpPr>
          <p:nvPr/>
        </p:nvSpPr>
        <p:spPr bwMode="auto">
          <a:xfrm>
            <a:off x="7500938" y="3767138"/>
            <a:ext cx="341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6874" name="Text Box 10"/>
          <p:cNvSpPr txBox="1">
            <a:spLocks noChangeArrowheads="1"/>
          </p:cNvSpPr>
          <p:nvPr/>
        </p:nvSpPr>
        <p:spPr bwMode="auto">
          <a:xfrm>
            <a:off x="7473950" y="5291138"/>
            <a:ext cx="341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2400">
                <a:solidFill>
                  <a:srgbClr val="FF0000"/>
                </a:solidFill>
                <a:latin typeface="Calibri" pitchFamily="34" charset="0"/>
              </a:rPr>
              <a:t>0</a:t>
            </a:r>
          </a:p>
        </p:txBody>
      </p:sp>
      <p:sp>
        <p:nvSpPr>
          <p:cNvPr id="36875" name="Text Box 11"/>
          <p:cNvSpPr txBox="1">
            <a:spLocks noChangeArrowheads="1"/>
          </p:cNvSpPr>
          <p:nvPr/>
        </p:nvSpPr>
        <p:spPr bwMode="auto">
          <a:xfrm>
            <a:off x="8274050" y="4554538"/>
            <a:ext cx="4238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6876" name="Text Box 12"/>
          <p:cNvSpPr txBox="1">
            <a:spLocks noChangeArrowheads="1"/>
          </p:cNvSpPr>
          <p:nvPr/>
        </p:nvSpPr>
        <p:spPr bwMode="auto">
          <a:xfrm>
            <a:off x="3382963" y="4456113"/>
            <a:ext cx="4238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6877" name="Text Box 13"/>
          <p:cNvSpPr txBox="1">
            <a:spLocks noChangeArrowheads="1"/>
          </p:cNvSpPr>
          <p:nvPr/>
        </p:nvSpPr>
        <p:spPr bwMode="auto">
          <a:xfrm>
            <a:off x="7283450" y="1833563"/>
            <a:ext cx="4238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6878" name="Text Box 14"/>
          <p:cNvSpPr txBox="1">
            <a:spLocks noChangeArrowheads="1"/>
          </p:cNvSpPr>
          <p:nvPr/>
        </p:nvSpPr>
        <p:spPr bwMode="auto">
          <a:xfrm>
            <a:off x="5530850" y="4532313"/>
            <a:ext cx="4238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32" name="Text Box 15"/>
          <p:cNvSpPr txBox="1">
            <a:spLocks noChangeArrowheads="1"/>
          </p:cNvSpPr>
          <p:nvPr/>
        </p:nvSpPr>
        <p:spPr bwMode="auto">
          <a:xfrm>
            <a:off x="6410325" y="4238625"/>
            <a:ext cx="258763" cy="123825"/>
          </a:xfrm>
          <a:prstGeom prst="rect">
            <a:avLst/>
          </a:prstGeom>
          <a:solidFill>
            <a:srgbClr val="FF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0" tIns="0" rIns="0" bIns="0">
            <a:spAutoFit/>
          </a:bodyPr>
          <a:lstStyle>
            <a:lvl1pPr>
              <a:defRPr sz="2400" i="1">
                <a:solidFill>
                  <a:schemeClr val="accent1"/>
                </a:solidFill>
                <a:latin typeface="Comic Sans MS" charset="0"/>
                <a:ea typeface="ＭＳ Ｐゴシック" charset="0"/>
                <a:cs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fontAlgn="auto">
              <a:spcBef>
                <a:spcPts val="0"/>
              </a:spcBef>
              <a:spcAft>
                <a:spcPts val="0"/>
              </a:spcAft>
              <a:defRPr/>
            </a:pPr>
            <a:r>
              <a:rPr lang="en-US" sz="800" i="0" kern="0">
                <a:solidFill>
                  <a:srgbClr val="000000"/>
                </a:solidFill>
                <a:latin typeface="Calibri" charset="0"/>
                <a:cs typeface="Calibri" charset="0"/>
              </a:rPr>
              <a:t>bcond</a:t>
            </a:r>
          </a:p>
        </p:txBody>
      </p:sp>
      <p:sp>
        <p:nvSpPr>
          <p:cNvPr id="36880" name="Text Box 17"/>
          <p:cNvSpPr txBox="1">
            <a:spLocks noChangeArrowheads="1"/>
          </p:cNvSpPr>
          <p:nvPr/>
        </p:nvSpPr>
        <p:spPr bwMode="auto">
          <a:xfrm>
            <a:off x="5683250" y="5370513"/>
            <a:ext cx="4238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r>
              <a:rPr lang="en-US" altLang="zh-CN" sz="3600">
                <a:solidFill>
                  <a:srgbClr val="FF0000"/>
                </a:solidFill>
                <a:latin typeface="Calibri" pitchFamily="34" charset="0"/>
              </a:rPr>
              <a:t>X</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35</a:t>
            </a:fld>
            <a:endParaRPr lang="zh-CN" altLang="en-US"/>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457200" y="76200"/>
            <a:ext cx="8229600" cy="990600"/>
          </a:xfrm>
        </p:spPr>
        <p:txBody>
          <a:bodyPr/>
          <a:lstStyle/>
          <a:p>
            <a:pPr eaLnBrk="1" hangingPunct="1"/>
            <a:r>
              <a:rPr lang="zh-CN" altLang="en-US" dirty="0"/>
              <a:t>控制模块里面都有什么</a:t>
            </a:r>
            <a:r>
              <a:rPr lang="en-US" altLang="zh-CN" dirty="0"/>
              <a:t>?</a:t>
            </a:r>
          </a:p>
        </p:txBody>
      </p:sp>
      <p:sp>
        <p:nvSpPr>
          <p:cNvPr id="144386" name="Content Placeholder 2"/>
          <p:cNvSpPr>
            <a:spLocks noGrp="1"/>
          </p:cNvSpPr>
          <p:nvPr>
            <p:ph idx="1"/>
          </p:nvPr>
        </p:nvSpPr>
        <p:spPr>
          <a:xfrm>
            <a:off x="476054" y="1143784"/>
            <a:ext cx="8229600" cy="5181600"/>
          </a:xfrm>
        </p:spPr>
        <p:txBody>
          <a:bodyPr/>
          <a:lstStyle/>
          <a:p>
            <a:pPr eaLnBrk="1" hangingPunct="1"/>
            <a:r>
              <a:rPr lang="zh-CN" altLang="en-US" dirty="0"/>
              <a:t>组合逻辑</a:t>
            </a:r>
            <a:r>
              <a:rPr lang="en-US" altLang="zh-CN" dirty="0">
                <a:sym typeface="Wingdings" pitchFamily="2" charset="2"/>
              </a:rPr>
              <a:t> </a:t>
            </a:r>
            <a:r>
              <a:rPr lang="zh-CN" altLang="en-US" dirty="0">
                <a:solidFill>
                  <a:srgbClr val="0000FF"/>
                </a:solidFill>
                <a:sym typeface="Wingdings" pitchFamily="2" charset="2"/>
              </a:rPr>
              <a:t>硬布线控制</a:t>
            </a:r>
            <a:endParaRPr lang="en-US" altLang="zh-CN" dirty="0">
              <a:solidFill>
                <a:srgbClr val="0000FF"/>
              </a:solidFill>
              <a:sym typeface="Wingdings" pitchFamily="2" charset="2"/>
            </a:endParaRPr>
          </a:p>
          <a:p>
            <a:pPr marL="584835" lvl="1" indent="-33083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sym typeface="Wingdings" pitchFamily="2" charset="2"/>
              </a:rPr>
              <a:t>想法</a:t>
            </a:r>
            <a:r>
              <a:rPr lang="en-US" altLang="zh-CN" kern="1200" spc="5" dirty="0">
                <a:solidFill>
                  <a:schemeClr val="tx1">
                    <a:lumMod val="95000"/>
                    <a:lumOff val="5000"/>
                  </a:schemeClr>
                </a:solidFill>
                <a:cs typeface="Calibri" panose="020F0502020204030204"/>
                <a:sym typeface="Wingdings" pitchFamily="2" charset="2"/>
              </a:rPr>
              <a:t>: </a:t>
            </a:r>
            <a:r>
              <a:rPr lang="zh-CN" altLang="en-US" kern="1200" spc="5" dirty="0">
                <a:solidFill>
                  <a:schemeClr val="tx1">
                    <a:lumMod val="95000"/>
                    <a:lumOff val="5000"/>
                  </a:schemeClr>
                </a:solidFill>
                <a:cs typeface="Calibri" panose="020F0502020204030204"/>
                <a:sym typeface="Wingdings" pitchFamily="2" charset="2"/>
              </a:rPr>
              <a:t>控制信号是用组合逻辑处理指令来生成</a:t>
            </a:r>
            <a:endParaRPr lang="en-US" altLang="zh-CN" kern="1200" spc="5" dirty="0">
              <a:solidFill>
                <a:schemeClr val="tx1">
                  <a:lumMod val="95000"/>
                  <a:lumOff val="5000"/>
                </a:schemeClr>
              </a:solidFill>
              <a:cs typeface="Calibri" panose="020F0502020204030204"/>
              <a:sym typeface="Wingdings" pitchFamily="2" charset="2"/>
            </a:endParaRPr>
          </a:p>
          <a:p>
            <a:pPr marL="584835" lvl="1" indent="-33083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sym typeface="Wingdings" pitchFamily="2" charset="2"/>
              </a:rPr>
              <a:t>当前的</a:t>
            </a:r>
            <a:r>
              <a:rPr lang="en-US" altLang="zh-CN" kern="1200" spc="5" dirty="0">
                <a:solidFill>
                  <a:schemeClr val="tx1">
                    <a:lumMod val="95000"/>
                    <a:lumOff val="5000"/>
                  </a:schemeClr>
                </a:solidFill>
                <a:cs typeface="Calibri" panose="020F0502020204030204"/>
                <a:sym typeface="Wingdings" pitchFamily="2" charset="2"/>
              </a:rPr>
              <a:t>CPU</a:t>
            </a:r>
            <a:r>
              <a:rPr lang="zh-CN" altLang="en-US" kern="1200" spc="5" dirty="0">
                <a:solidFill>
                  <a:schemeClr val="tx1">
                    <a:lumMod val="95000"/>
                    <a:lumOff val="5000"/>
                  </a:schemeClr>
                </a:solidFill>
                <a:cs typeface="Calibri" panose="020F0502020204030204"/>
                <a:sym typeface="Wingdings" pitchFamily="2" charset="2"/>
              </a:rPr>
              <a:t>大多是基于这种方法实现控制</a:t>
            </a:r>
            <a:r>
              <a:rPr lang="en-US" altLang="zh-CN" kern="1200" spc="5" dirty="0">
                <a:solidFill>
                  <a:schemeClr val="tx1">
                    <a:lumMod val="95000"/>
                    <a:lumOff val="5000"/>
                  </a:schemeClr>
                </a:solidFill>
                <a:cs typeface="Calibri" panose="020F0502020204030204"/>
                <a:sym typeface="Wingdings" pitchFamily="2" charset="2"/>
              </a:rPr>
              <a:t>…</a:t>
            </a:r>
            <a:endParaRPr lang="en-US" altLang="zh-CN" kern="1200" spc="5" dirty="0">
              <a:solidFill>
                <a:schemeClr val="tx1">
                  <a:lumMod val="95000"/>
                  <a:lumOff val="5000"/>
                </a:schemeClr>
              </a:solidFill>
              <a:cs typeface="Calibri" panose="020F0502020204030204"/>
            </a:endParaRPr>
          </a:p>
          <a:p>
            <a:pPr eaLnBrk="1" hangingPunct="1"/>
            <a:endParaRPr lang="en-US" altLang="zh-CN" dirty="0"/>
          </a:p>
          <a:p>
            <a:pPr eaLnBrk="1" hangingPunct="1"/>
            <a:r>
              <a:rPr lang="zh-CN" altLang="en-US" dirty="0"/>
              <a:t>时序逻辑</a:t>
            </a:r>
            <a:r>
              <a:rPr lang="en-US" altLang="zh-CN" dirty="0">
                <a:sym typeface="Wingdings" pitchFamily="2" charset="2"/>
              </a:rPr>
              <a:t> </a:t>
            </a:r>
            <a:r>
              <a:rPr lang="zh-CN" altLang="en-US" dirty="0">
                <a:solidFill>
                  <a:srgbClr val="0000FF"/>
                </a:solidFill>
                <a:sym typeface="Wingdings" pitchFamily="2" charset="2"/>
              </a:rPr>
              <a:t>微程序控制</a:t>
            </a:r>
            <a:endParaRPr lang="en-US" altLang="zh-CN" dirty="0">
              <a:solidFill>
                <a:srgbClr val="0000FF"/>
              </a:solidFill>
              <a:sym typeface="Wingdings" pitchFamily="2" charset="2"/>
            </a:endParaRPr>
          </a:p>
          <a:p>
            <a:pPr marL="584835" lvl="1" indent="-33083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sym typeface="Wingdings" pitchFamily="2" charset="2"/>
              </a:rPr>
              <a:t>想法</a:t>
            </a:r>
            <a:r>
              <a:rPr lang="en-US" altLang="zh-CN" kern="1200" spc="5" dirty="0">
                <a:solidFill>
                  <a:schemeClr val="tx1">
                    <a:lumMod val="95000"/>
                    <a:lumOff val="5000"/>
                  </a:schemeClr>
                </a:solidFill>
                <a:cs typeface="Calibri" panose="020F0502020204030204"/>
                <a:sym typeface="Wingdings" pitchFamily="2" charset="2"/>
              </a:rPr>
              <a:t>: </a:t>
            </a:r>
            <a:r>
              <a:rPr lang="zh-CN" altLang="en-US" kern="1200" spc="5" dirty="0">
                <a:solidFill>
                  <a:schemeClr val="tx1">
                    <a:lumMod val="95000"/>
                    <a:lumOff val="5000"/>
                  </a:schemeClr>
                </a:solidFill>
                <a:cs typeface="Calibri" panose="020F0502020204030204"/>
                <a:sym typeface="Wingdings" pitchFamily="2" charset="2"/>
              </a:rPr>
              <a:t>一个存储结构，包含控制信号以及相应的指令（微指令）</a:t>
            </a:r>
            <a:endParaRPr lang="en-US" altLang="zh-CN" kern="1200" spc="5" dirty="0">
              <a:solidFill>
                <a:schemeClr val="tx1">
                  <a:lumMod val="95000"/>
                  <a:lumOff val="5000"/>
                </a:schemeClr>
              </a:solidFill>
              <a:cs typeface="Calibri" panose="020F0502020204030204"/>
            </a:endParaRPr>
          </a:p>
          <a:p>
            <a:pPr marL="584835" lvl="1" indent="-33083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sym typeface="Wingdings" pitchFamily="2" charset="2"/>
              </a:rPr>
              <a:t>控制存储（</a:t>
            </a:r>
            <a:r>
              <a:rPr lang="en-US" altLang="zh-CN" kern="1200" spc="5" dirty="0">
                <a:solidFill>
                  <a:schemeClr val="tx1">
                    <a:lumMod val="95000"/>
                    <a:lumOff val="5000"/>
                  </a:schemeClr>
                </a:solidFill>
                <a:cs typeface="Calibri" panose="020F0502020204030204"/>
                <a:sym typeface="Wingdings" pitchFamily="2" charset="2"/>
              </a:rPr>
              <a:t>Control Store</a:t>
            </a:r>
            <a:r>
              <a:rPr lang="zh-CN" altLang="en-US" kern="1200" spc="5" dirty="0">
                <a:solidFill>
                  <a:schemeClr val="tx1">
                    <a:lumMod val="95000"/>
                    <a:lumOff val="5000"/>
                  </a:schemeClr>
                </a:solidFill>
                <a:cs typeface="Calibri" panose="020F0502020204030204"/>
                <a:sym typeface="Wingdings" pitchFamily="2" charset="2"/>
              </a:rPr>
              <a:t>）</a:t>
            </a:r>
            <a:endParaRPr lang="en-US" altLang="zh-CN" kern="1200" spc="5" dirty="0">
              <a:solidFill>
                <a:schemeClr val="tx1">
                  <a:lumMod val="95000"/>
                  <a:lumOff val="5000"/>
                </a:schemeClr>
              </a:solidFill>
              <a:cs typeface="Calibri" panose="020F0502020204030204"/>
              <a:sym typeface="Wingdings" pitchFamily="2" charset="2"/>
            </a:endParaRPr>
          </a:p>
          <a:p>
            <a:pPr marL="584835" lvl="1" indent="-330835">
              <a:spcBef>
                <a:spcPts val="600"/>
              </a:spcBef>
              <a:spcAft>
                <a:spcPts val="600"/>
              </a:spcAft>
              <a:buClr>
                <a:srgbClr val="151F36"/>
              </a:buClr>
              <a:buFont typeface="Arial" panose="020B0604020202020204" pitchFamily="34" charset="0"/>
              <a:buChar char="–"/>
              <a:tabLst>
                <a:tab pos="584835" algn="l"/>
                <a:tab pos="585470" algn="l"/>
              </a:tabLst>
            </a:pPr>
            <a:r>
              <a:rPr lang="zh-CN" altLang="en-US" b="1" kern="1200" spc="5" dirty="0">
                <a:solidFill>
                  <a:schemeClr val="tx1">
                    <a:lumMod val="95000"/>
                    <a:lumOff val="5000"/>
                  </a:schemeClr>
                </a:solidFill>
                <a:cs typeface="Calibri" panose="020F0502020204030204"/>
                <a:sym typeface="Wingdings" pitchFamily="2" charset="2"/>
              </a:rPr>
              <a:t>计算机组成原理的内容</a:t>
            </a:r>
            <a:endParaRPr lang="en-US" altLang="zh-CN" b="1" kern="1200" spc="5" dirty="0">
              <a:solidFill>
                <a:schemeClr val="tx1">
                  <a:lumMod val="95000"/>
                  <a:lumOff val="5000"/>
                </a:schemeClr>
              </a:solidFill>
              <a:cs typeface="Calibri" panose="020F0502020204030204"/>
              <a:sym typeface="Wingdings" pitchFamily="2" charset="2"/>
            </a:endParaRP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36</a:t>
            </a:fld>
            <a:endParaRPr lang="zh-CN" altLang="en-US"/>
          </a:p>
        </p:txBody>
      </p:sp>
      <p:pic>
        <p:nvPicPr>
          <p:cNvPr id="5" name="图片 4"/>
          <p:cNvPicPr>
            <a:picLocks noChangeAspect="1"/>
          </p:cNvPicPr>
          <p:nvPr/>
        </p:nvPicPr>
        <p:blipFill>
          <a:blip r:embed="rId2"/>
          <a:stretch>
            <a:fillRect/>
          </a:stretch>
        </p:blipFill>
        <p:spPr>
          <a:xfrm>
            <a:off x="811763" y="2736295"/>
            <a:ext cx="6294665" cy="3604572"/>
          </a:xfrm>
          <a:prstGeom prst="rect">
            <a:avLst/>
          </a:prstGeom>
        </p:spPr>
      </p:pic>
      <p:pic>
        <p:nvPicPr>
          <p:cNvPr id="3" name="图片 2">
            <a:extLst>
              <a:ext uri="{FF2B5EF4-FFF2-40B4-BE49-F238E27FC236}">
                <a16:creationId xmlns:a16="http://schemas.microsoft.com/office/drawing/2014/main" id="{0E265E10-2B5A-46B9-BBA1-DA3C1C429F50}"/>
              </a:ext>
            </a:extLst>
          </p:cNvPr>
          <p:cNvPicPr>
            <a:picLocks noChangeAspect="1"/>
          </p:cNvPicPr>
          <p:nvPr/>
        </p:nvPicPr>
        <p:blipFill>
          <a:blip r:embed="rId3"/>
          <a:stretch>
            <a:fillRect/>
          </a:stretch>
        </p:blipFill>
        <p:spPr>
          <a:xfrm>
            <a:off x="0" y="2738177"/>
            <a:ext cx="9144000" cy="3983432"/>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4438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438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38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438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047" y="1055750"/>
            <a:ext cx="8182465" cy="4571316"/>
          </a:xfrm>
          <a:prstGeom prst="rect">
            <a:avLst/>
          </a:prstGeom>
        </p:spPr>
        <p:txBody>
          <a:bodyPr vert="horz" wrap="square" lIns="0" tIns="0" rIns="0" bIns="0" rtlCol="0">
            <a:spAutoFit/>
          </a:bodyPr>
          <a:lstStyle/>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指令处理步骤</a:t>
            </a:r>
            <a:endParaRPr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算术逻辑指令数据通路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访存指令的数据通路</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zh-CN" altLang="en-US" sz="2800" b="0" spc="-60" dirty="0">
                <a:latin typeface="微软雅黑" panose="020B0503020204020204" pitchFamily="34" charset="-122"/>
                <a:ea typeface="微软雅黑" panose="020B0503020204020204" pitchFamily="34" charset="-122"/>
                <a:cs typeface="Calibri" panose="020F0502020204030204"/>
              </a:rPr>
              <a:t>控制流指令数据通路</a:t>
            </a:r>
            <a:endParaRPr lang="en-US" altLang="zh-CN" sz="2400" b="0" spc="5" dirty="0">
              <a:solidFill>
                <a:schemeClr val="tx1">
                  <a:lumMod val="95000"/>
                  <a:lumOff val="5000"/>
                </a:schemeClr>
              </a:solidFill>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latin typeface="微软雅黑" panose="020B0503020204020204" pitchFamily="34" charset="-122"/>
                <a:ea typeface="微软雅黑" panose="020B0503020204020204" pitchFamily="34" charset="-122"/>
                <a:cs typeface="Calibri" panose="020F0502020204030204"/>
              </a:rPr>
              <a:t>MIPS</a:t>
            </a:r>
            <a:r>
              <a:rPr lang="zh-CN" altLang="en-US" sz="2800" b="0" spc="-60" dirty="0">
                <a:latin typeface="微软雅黑" panose="020B0503020204020204" pitchFamily="34" charset="-122"/>
                <a:ea typeface="微软雅黑" panose="020B0503020204020204" pitchFamily="34" charset="-122"/>
                <a:cs typeface="Calibri" panose="020F0502020204030204"/>
              </a:rPr>
              <a:t>单周期控制逻辑</a:t>
            </a:r>
            <a:endParaRPr lang="en-US" altLang="zh-CN" sz="2800" b="0" spc="-60" dirty="0">
              <a:latin typeface="微软雅黑" panose="020B0503020204020204" pitchFamily="34" charset="-122"/>
              <a:ea typeface="微软雅黑" panose="020B0503020204020204" pitchFamily="34" charset="-122"/>
              <a:cs typeface="Calibri" panose="020F0502020204030204"/>
            </a:endParaRPr>
          </a:p>
          <a:p>
            <a:pPr marL="346710" indent="-334010" eaLnBrk="0" hangingPunct="0">
              <a:lnSpc>
                <a:spcPct val="150000"/>
              </a:lnSpc>
              <a:spcBef>
                <a:spcPts val="600"/>
              </a:spcBef>
              <a:spcAft>
                <a:spcPts val="600"/>
              </a:spcAft>
              <a:buClr>
                <a:srgbClr val="151F36"/>
              </a:buClr>
              <a:buSzPct val="100000"/>
              <a:buFont typeface="Arial" panose="020B0604020202020204"/>
              <a:buChar char="•"/>
              <a:tabLst>
                <a:tab pos="346710" algn="l"/>
                <a:tab pos="347345" algn="l"/>
              </a:tabLst>
            </a:pPr>
            <a:r>
              <a:rPr lang="en-US" altLang="zh-CN" sz="2800" b="0" spc="-60" dirty="0">
                <a:solidFill>
                  <a:srgbClr val="FF0000"/>
                </a:solidFill>
                <a:latin typeface="微软雅黑" panose="020B0503020204020204" pitchFamily="34" charset="-122"/>
                <a:ea typeface="微软雅黑" panose="020B0503020204020204" pitchFamily="34" charset="-122"/>
                <a:cs typeface="Calibri" panose="020F0502020204030204"/>
              </a:rPr>
              <a:t>MIPS</a:t>
            </a:r>
            <a:r>
              <a:rPr lang="zh-CN" altLang="en-US" sz="2800" b="0" spc="-60" dirty="0">
                <a:solidFill>
                  <a:srgbClr val="FF0000"/>
                </a:solidFill>
                <a:latin typeface="微软雅黑" panose="020B0503020204020204" pitchFamily="34" charset="-122"/>
                <a:ea typeface="微软雅黑" panose="020B0503020204020204" pitchFamily="34" charset="-122"/>
                <a:cs typeface="Calibri" panose="020F0502020204030204"/>
              </a:rPr>
              <a:t>单周期性能分析</a:t>
            </a:r>
            <a:endParaRPr sz="2800" b="0" spc="-60" dirty="0">
              <a:solidFill>
                <a:srgbClr val="FF0000"/>
              </a:solidFill>
              <a:latin typeface="微软雅黑" panose="020B0503020204020204" pitchFamily="34" charset="-122"/>
              <a:ea typeface="微软雅黑" panose="020B0503020204020204" pitchFamily="34" charset="-122"/>
              <a:cs typeface="Calibri" panose="020F0502020204030204"/>
            </a:endParaRPr>
          </a:p>
        </p:txBody>
      </p:sp>
      <p:sp>
        <p:nvSpPr>
          <p:cNvPr id="6" name="标题 5">
            <a:extLst>
              <a:ext uri="{FF2B5EF4-FFF2-40B4-BE49-F238E27FC236}">
                <a16:creationId xmlns:a16="http://schemas.microsoft.com/office/drawing/2014/main" id="{5925A620-F96A-4962-BEB5-D23807D3C2FD}"/>
              </a:ext>
            </a:extLst>
          </p:cNvPr>
          <p:cNvSpPr>
            <a:spLocks noGrp="1"/>
          </p:cNvSpPr>
          <p:nvPr>
            <p:ph type="title"/>
          </p:nvPr>
        </p:nvSpPr>
        <p:spPr/>
        <p:txBody>
          <a:bodyPr/>
          <a:lstStyle/>
          <a:p>
            <a:r>
              <a:rPr lang="zh-CN" altLang="en-US" dirty="0"/>
              <a:t>本讲提纲</a:t>
            </a: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37</a:t>
            </a:fld>
            <a:endParaRPr lang="zh-CN" altLang="en-US"/>
          </a:p>
        </p:txBody>
      </p:sp>
    </p:spTree>
    <p:extLst>
      <p:ext uri="{BB962C8B-B14F-4D97-AF65-F5344CB8AC3E}">
        <p14:creationId xmlns:p14="http://schemas.microsoft.com/office/powerpoint/2010/main" val="3172753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76200"/>
            <a:ext cx="8229600" cy="990600"/>
          </a:xfrm>
        </p:spPr>
        <p:txBody>
          <a:bodyPr/>
          <a:lstStyle/>
          <a:p>
            <a:pPr eaLnBrk="1" hangingPunct="1"/>
            <a:r>
              <a:rPr lang="zh-CN" altLang="en-US" dirty="0"/>
              <a:t>单周期微架构分析</a:t>
            </a:r>
            <a:endParaRPr lang="en-US" altLang="zh-CN" dirty="0"/>
          </a:p>
        </p:txBody>
      </p:sp>
      <p:sp>
        <p:nvSpPr>
          <p:cNvPr id="3" name="Content Placeholder 2"/>
          <p:cNvSpPr>
            <a:spLocks noGrp="1"/>
          </p:cNvSpPr>
          <p:nvPr>
            <p:ph idx="1"/>
          </p:nvPr>
        </p:nvSpPr>
        <p:spPr>
          <a:xfrm>
            <a:off x="466627" y="1085654"/>
            <a:ext cx="8229600" cy="5257800"/>
          </a:xfrm>
        </p:spPr>
        <p:txBody>
          <a:bodyPr/>
          <a:lstStyle/>
          <a:p>
            <a:pPr eaLnBrk="1" hangingPunct="1">
              <a:spcBef>
                <a:spcPts val="600"/>
              </a:spcBef>
              <a:spcAft>
                <a:spcPts val="600"/>
              </a:spcAft>
            </a:pPr>
            <a:r>
              <a:rPr lang="zh-CN" altLang="en-US" sz="2800" dirty="0"/>
              <a:t>每条指令需要一个时钟周期来执行</a:t>
            </a:r>
            <a:endParaRPr lang="en-US" altLang="zh-CN" sz="2800" dirty="0"/>
          </a:p>
          <a:p>
            <a:pPr marL="584835" lvl="1" indent="-330835">
              <a:spcBef>
                <a:spcPts val="600"/>
              </a:spcBef>
              <a:spcAft>
                <a:spcPts val="600"/>
              </a:spcAft>
              <a:buClr>
                <a:srgbClr val="151F36"/>
              </a:buClr>
              <a:buFont typeface="Arial" panose="020B0604020202020204" pitchFamily="34" charset="0"/>
              <a:buChar char="–"/>
              <a:tabLst>
                <a:tab pos="584835" algn="l"/>
                <a:tab pos="585470" algn="l"/>
              </a:tabLst>
            </a:pPr>
            <a:r>
              <a:rPr lang="en-US" altLang="zh-CN" kern="1200" spc="5" dirty="0">
                <a:solidFill>
                  <a:schemeClr val="tx1">
                    <a:lumMod val="95000"/>
                    <a:lumOff val="5000"/>
                  </a:schemeClr>
                </a:solidFill>
                <a:cs typeface="Calibri" panose="020F0502020204030204"/>
              </a:rPr>
              <a:t>CPI (cycles per instruction) </a:t>
            </a:r>
            <a:r>
              <a:rPr lang="zh-CN" altLang="en-US" kern="1200" spc="5" dirty="0">
                <a:solidFill>
                  <a:schemeClr val="tx1">
                    <a:lumMod val="95000"/>
                    <a:lumOff val="5000"/>
                  </a:schemeClr>
                </a:solidFill>
                <a:cs typeface="Calibri" panose="020F0502020204030204"/>
              </a:rPr>
              <a:t>严格为</a:t>
            </a:r>
            <a:r>
              <a:rPr lang="en-US" altLang="zh-CN" kern="1200" spc="5" dirty="0">
                <a:solidFill>
                  <a:schemeClr val="tx1">
                    <a:lumMod val="95000"/>
                    <a:lumOff val="5000"/>
                  </a:schemeClr>
                </a:solidFill>
                <a:cs typeface="Calibri" panose="020F0502020204030204"/>
              </a:rPr>
              <a:t>1</a:t>
            </a:r>
          </a:p>
          <a:p>
            <a:pPr eaLnBrk="1" hangingPunct="1">
              <a:spcBef>
                <a:spcPts val="600"/>
              </a:spcBef>
              <a:spcAft>
                <a:spcPts val="600"/>
              </a:spcAft>
            </a:pPr>
            <a:r>
              <a:rPr lang="zh-CN" altLang="en-US" sz="2800" dirty="0"/>
              <a:t>每条指令需要多久来处理由</a:t>
            </a:r>
            <a:r>
              <a:rPr lang="zh-CN" altLang="en-US" sz="2800" dirty="0">
                <a:solidFill>
                  <a:srgbClr val="FF0000"/>
                </a:solidFill>
              </a:rPr>
              <a:t>最慢的指令所需要的处理时间</a:t>
            </a:r>
            <a:r>
              <a:rPr lang="zh-CN" altLang="en-US" sz="2800" dirty="0"/>
              <a:t>来确定</a:t>
            </a:r>
            <a:endParaRPr lang="en-US" altLang="zh-CN" sz="2800" dirty="0"/>
          </a:p>
          <a:p>
            <a:pPr marL="584835" lvl="1" indent="-33083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即使很多指令不需要那么长时间来处理</a:t>
            </a:r>
            <a:endParaRPr lang="en-US" altLang="zh-CN" kern="1200" spc="5" dirty="0">
              <a:solidFill>
                <a:schemeClr val="tx1">
                  <a:lumMod val="95000"/>
                  <a:lumOff val="5000"/>
                </a:schemeClr>
              </a:solidFill>
              <a:cs typeface="Calibri" panose="020F0502020204030204"/>
            </a:endParaRPr>
          </a:p>
          <a:p>
            <a:pPr marL="342900" lvl="1" indent="-342900" eaLnBrk="1" hangingPunct="1">
              <a:spcBef>
                <a:spcPts val="600"/>
              </a:spcBef>
              <a:spcAft>
                <a:spcPts val="600"/>
              </a:spcAft>
              <a:buClr>
                <a:srgbClr val="151F36"/>
              </a:buClr>
              <a:buFont typeface="Arial" panose="020B0604020202020204" pitchFamily="34" charset="0"/>
              <a:buChar char="•"/>
              <a:tabLst>
                <a:tab pos="584835" algn="l"/>
                <a:tab pos="585470" algn="l"/>
              </a:tabLst>
            </a:pPr>
            <a:r>
              <a:rPr lang="zh-CN" altLang="en-US" sz="2800" dirty="0">
                <a:cs typeface="+mn-cs"/>
              </a:rPr>
              <a:t>所以，时钟周期由</a:t>
            </a:r>
            <a:r>
              <a:rPr lang="zh-CN" altLang="en-US" sz="2800" dirty="0">
                <a:solidFill>
                  <a:srgbClr val="FF0000"/>
                </a:solidFill>
                <a:cs typeface="+mn-cs"/>
              </a:rPr>
              <a:t>最慢的指令完成执行所需的时间</a:t>
            </a:r>
            <a:r>
              <a:rPr lang="zh-CN" altLang="en-US" sz="2800" dirty="0">
                <a:cs typeface="+mn-cs"/>
              </a:rPr>
              <a:t>来决定</a:t>
            </a:r>
            <a:endParaRPr lang="en-US" altLang="zh-CN" sz="2800" dirty="0">
              <a:cs typeface="+mn-cs"/>
            </a:endParaRPr>
          </a:p>
          <a:p>
            <a:pPr marL="584835" lvl="1" indent="-330835">
              <a:spcBef>
                <a:spcPts val="600"/>
              </a:spcBef>
              <a:spcAft>
                <a:spcPts val="600"/>
              </a:spcAft>
              <a:buClr>
                <a:srgbClr val="151F36"/>
              </a:buClr>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相应的设计的关键路径相应的也由最慢的指令的处理时间来确定</a:t>
            </a:r>
            <a:endParaRPr lang="en-US" altLang="zh-CN" kern="1200" spc="5" dirty="0">
              <a:solidFill>
                <a:schemeClr val="tx1">
                  <a:lumMod val="95000"/>
                  <a:lumOff val="5000"/>
                </a:schemeClr>
              </a:solidFill>
              <a:cs typeface="Calibri" panose="020F0502020204030204"/>
            </a:endParaRPr>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38</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228600" y="152400"/>
            <a:ext cx="8915400" cy="914400"/>
          </a:xfrm>
        </p:spPr>
        <p:txBody>
          <a:bodyPr/>
          <a:lstStyle/>
          <a:p>
            <a:pPr eaLnBrk="1" hangingPunct="1"/>
            <a:r>
              <a:rPr lang="en-US" altLang="zh-CN" dirty="0"/>
              <a:t>MIPS</a:t>
            </a:r>
            <a:r>
              <a:rPr lang="zh-CN" altLang="en-US" dirty="0"/>
              <a:t>中最慢的指令是什么</a:t>
            </a:r>
            <a:r>
              <a:rPr lang="en-US" altLang="zh-CN" dirty="0"/>
              <a:t>?</a:t>
            </a:r>
          </a:p>
        </p:txBody>
      </p:sp>
      <p:sp>
        <p:nvSpPr>
          <p:cNvPr id="3" name="Content Placeholder 2"/>
          <p:cNvSpPr>
            <a:spLocks noGrp="1"/>
          </p:cNvSpPr>
          <p:nvPr>
            <p:ph idx="1"/>
          </p:nvPr>
        </p:nvSpPr>
        <p:spPr>
          <a:xfrm>
            <a:off x="457200" y="990600"/>
            <a:ext cx="8229600" cy="4929433"/>
          </a:xfrm>
        </p:spPr>
        <p:txBody>
          <a:bodyPr/>
          <a:lstStyle/>
          <a:p>
            <a:pPr marL="342900" lvl="1" indent="-342900" eaLnBrk="1" hangingPunct="1">
              <a:spcBef>
                <a:spcPts val="600"/>
              </a:spcBef>
              <a:spcAft>
                <a:spcPts val="600"/>
              </a:spcAft>
              <a:buClr>
                <a:schemeClr val="tx1"/>
              </a:buClr>
              <a:buSzPct val="100000"/>
              <a:defRPr/>
            </a:pPr>
            <a:r>
              <a:rPr lang="zh-CN" altLang="en-US" sz="2800" dirty="0">
                <a:cs typeface="+mn-cs"/>
              </a:rPr>
              <a:t>让我们回到一条指令的处理过程。。。</a:t>
            </a:r>
            <a:endParaRPr lang="en-US" altLang="zh-CN" sz="2800" dirty="0">
              <a:cs typeface="+mn-cs"/>
            </a:endParaRPr>
          </a:p>
          <a:p>
            <a:pPr marL="342900" lvl="1" indent="-342900" eaLnBrk="1" hangingPunct="1">
              <a:spcBef>
                <a:spcPts val="600"/>
              </a:spcBef>
              <a:spcAft>
                <a:spcPts val="600"/>
              </a:spcAft>
              <a:buClr>
                <a:schemeClr val="tx1"/>
              </a:buClr>
              <a:buSzPct val="100000"/>
              <a:defRPr/>
            </a:pPr>
            <a:r>
              <a:rPr lang="zh-CN" altLang="en-US" sz="2800" dirty="0">
                <a:cs typeface="+mn-cs"/>
              </a:rPr>
              <a:t>一条指令的</a:t>
            </a:r>
            <a:r>
              <a:rPr lang="en-US" altLang="zh-CN" sz="2800" dirty="0">
                <a:cs typeface="+mn-cs"/>
              </a:rPr>
              <a:t>5</a:t>
            </a:r>
            <a:r>
              <a:rPr lang="zh-CN" altLang="en-US" sz="2800" dirty="0">
                <a:cs typeface="+mn-cs"/>
              </a:rPr>
              <a:t>个处理阶段均需要在一个机器周期内完成</a:t>
            </a:r>
            <a:endParaRPr lang="en-US" altLang="zh-CN" sz="2800" dirty="0">
              <a:cs typeface="+mn-cs"/>
            </a:endParaRP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取指</a:t>
            </a:r>
            <a:r>
              <a:rPr lang="en-US" altLang="zh-CN" kern="1200" spc="5" dirty="0">
                <a:solidFill>
                  <a:schemeClr val="tx1">
                    <a:lumMod val="95000"/>
                    <a:lumOff val="5000"/>
                  </a:schemeClr>
                </a:solidFill>
                <a:cs typeface="Calibri" panose="020F0502020204030204"/>
              </a:rPr>
              <a:t> (IF)</a:t>
            </a: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译码</a:t>
            </a:r>
            <a:r>
              <a:rPr lang="en-US" altLang="zh-CN" kern="1200" spc="5" dirty="0">
                <a:solidFill>
                  <a:schemeClr val="tx1">
                    <a:lumMod val="95000"/>
                    <a:lumOff val="5000"/>
                  </a:schemeClr>
                </a:solidFill>
                <a:cs typeface="Calibri" panose="020F0502020204030204"/>
              </a:rPr>
              <a:t> &amp; </a:t>
            </a:r>
            <a:r>
              <a:rPr lang="zh-CN" altLang="en-US" kern="1200" spc="5" dirty="0">
                <a:solidFill>
                  <a:schemeClr val="tx1">
                    <a:lumMod val="95000"/>
                    <a:lumOff val="5000"/>
                  </a:schemeClr>
                </a:solidFill>
                <a:cs typeface="Calibri" panose="020F0502020204030204"/>
              </a:rPr>
              <a:t>取寄存器操作数 </a:t>
            </a:r>
            <a:r>
              <a:rPr lang="en-US" altLang="zh-CN" kern="1200" spc="5" dirty="0">
                <a:solidFill>
                  <a:schemeClr val="tx1">
                    <a:lumMod val="95000"/>
                    <a:lumOff val="5000"/>
                  </a:schemeClr>
                </a:solidFill>
                <a:cs typeface="Calibri" panose="020F0502020204030204"/>
              </a:rPr>
              <a:t>(ID&amp;RF)</a:t>
            </a: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执行</a:t>
            </a:r>
            <a:r>
              <a:rPr lang="en-US" altLang="zh-CN" kern="1200" spc="5" dirty="0">
                <a:solidFill>
                  <a:schemeClr val="tx1">
                    <a:lumMod val="95000"/>
                    <a:lumOff val="5000"/>
                  </a:schemeClr>
                </a:solidFill>
                <a:cs typeface="Calibri" panose="020F0502020204030204"/>
              </a:rPr>
              <a:t>/</a:t>
            </a:r>
            <a:r>
              <a:rPr lang="zh-CN" altLang="en-US" kern="1200" spc="5" dirty="0">
                <a:solidFill>
                  <a:schemeClr val="tx1">
                    <a:lumMod val="95000"/>
                    <a:lumOff val="5000"/>
                  </a:schemeClr>
                </a:solidFill>
                <a:cs typeface="Calibri" panose="020F0502020204030204"/>
              </a:rPr>
              <a:t>计算访存地址 </a:t>
            </a:r>
            <a:r>
              <a:rPr lang="en-US" altLang="zh-CN" kern="1200" spc="5" dirty="0">
                <a:solidFill>
                  <a:schemeClr val="tx1">
                    <a:lumMod val="95000"/>
                    <a:lumOff val="5000"/>
                  </a:schemeClr>
                </a:solidFill>
                <a:cs typeface="Calibri" panose="020F0502020204030204"/>
              </a:rPr>
              <a:t>(EX/AG)</a:t>
            </a: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访存 </a:t>
            </a:r>
            <a:r>
              <a:rPr lang="en-US" altLang="zh-CN" kern="1200" spc="5" dirty="0">
                <a:solidFill>
                  <a:schemeClr val="tx1">
                    <a:lumMod val="95000"/>
                    <a:lumOff val="5000"/>
                  </a:schemeClr>
                </a:solidFill>
                <a:cs typeface="Calibri" panose="020F0502020204030204"/>
              </a:rPr>
              <a:t>(MEM)</a:t>
            </a:r>
          </a:p>
          <a:p>
            <a:pPr marL="584835" lvl="1" indent="-330835">
              <a:spcBef>
                <a:spcPts val="0"/>
              </a:spcBef>
              <a:spcAft>
                <a:spcPts val="600"/>
              </a:spcAft>
              <a:buClr>
                <a:srgbClr val="151F36"/>
              </a:buClr>
              <a:buSzPct val="100000"/>
              <a:buFont typeface="Arial" panose="020B0604020202020204" pitchFamily="34" charset="0"/>
              <a:buChar char="–"/>
              <a:tabLst>
                <a:tab pos="584835" algn="l"/>
                <a:tab pos="585470" algn="l"/>
              </a:tabLst>
            </a:pPr>
            <a:r>
              <a:rPr lang="zh-CN" altLang="en-US" kern="1200" spc="5" dirty="0">
                <a:solidFill>
                  <a:schemeClr val="tx1">
                    <a:lumMod val="95000"/>
                    <a:lumOff val="5000"/>
                  </a:schemeClr>
                </a:solidFill>
                <a:cs typeface="Calibri" panose="020F0502020204030204"/>
              </a:rPr>
              <a:t>回写 </a:t>
            </a:r>
            <a:r>
              <a:rPr lang="en-US" altLang="zh-CN" kern="1200" spc="5" dirty="0">
                <a:solidFill>
                  <a:schemeClr val="tx1">
                    <a:lumMod val="95000"/>
                    <a:lumOff val="5000"/>
                  </a:schemeClr>
                </a:solidFill>
                <a:cs typeface="Calibri" panose="020F0502020204030204"/>
              </a:rPr>
              <a:t>(WB) </a:t>
            </a:r>
          </a:p>
          <a:p>
            <a:pPr marL="342900" lvl="1" indent="-342900" eaLnBrk="1" hangingPunct="1">
              <a:spcBef>
                <a:spcPts val="600"/>
              </a:spcBef>
              <a:spcAft>
                <a:spcPts val="600"/>
              </a:spcAft>
              <a:buClr>
                <a:schemeClr val="tx1"/>
              </a:buClr>
              <a:buSzPct val="100000"/>
              <a:defRPr/>
            </a:pPr>
            <a:r>
              <a:rPr lang="zh-CN" altLang="en-US" sz="2800" dirty="0">
                <a:cs typeface="+mn-cs"/>
              </a:rPr>
              <a:t>对所有的指令来说，上述</a:t>
            </a:r>
            <a:r>
              <a:rPr lang="en-US" altLang="zh-CN" sz="2800" dirty="0">
                <a:cs typeface="+mn-cs"/>
              </a:rPr>
              <a:t>5</a:t>
            </a:r>
            <a:r>
              <a:rPr lang="zh-CN" altLang="en-US" sz="2800" dirty="0">
                <a:cs typeface="+mn-cs"/>
              </a:rPr>
              <a:t>个阶段所需要的时间相等吗</a:t>
            </a:r>
            <a:r>
              <a:rPr lang="en-US" altLang="zh-CN" sz="2800" dirty="0">
                <a:cs typeface="+mn-cs"/>
              </a:rPr>
              <a:t>?</a:t>
            </a:r>
          </a:p>
          <a:p>
            <a:pPr eaLnBrk="1" hangingPunct="1">
              <a:defRPr/>
            </a:pPr>
            <a:endParaRPr lang="en-US" altLang="zh-CN" dirty="0"/>
          </a:p>
        </p:txBody>
      </p:sp>
      <p:sp>
        <p:nvSpPr>
          <p:cNvPr id="2" name="灯片编号占位符 1"/>
          <p:cNvSpPr>
            <a:spLocks noGrp="1"/>
          </p:cNvSpPr>
          <p:nvPr>
            <p:ph type="sldNum" sz="quarter" idx="4"/>
          </p:nvPr>
        </p:nvSpPr>
        <p:spPr/>
        <p:txBody>
          <a:bodyPr/>
          <a:lstStyle/>
          <a:p>
            <a:fld id="{7B9845D8-D779-4563-B1F1-C45D4F729032}" type="slidenum">
              <a:rPr lang="zh-CN" altLang="en-US" smtClean="0"/>
              <a:pPr/>
              <a:t>39</a:t>
            </a:fld>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25620D-DC95-46E9-B18A-D3528824EAC6}"/>
              </a:ext>
            </a:extLst>
          </p:cNvPr>
          <p:cNvSpPr>
            <a:spLocks noGrp="1"/>
          </p:cNvSpPr>
          <p:nvPr>
            <p:ph type="title"/>
          </p:nvPr>
        </p:nvSpPr>
        <p:spPr/>
        <p:txBody>
          <a:bodyPr/>
          <a:lstStyle/>
          <a:p>
            <a:r>
              <a:rPr lang="zh-CN" altLang="en-US" dirty="0"/>
              <a:t>总 结</a:t>
            </a:r>
          </a:p>
        </p:txBody>
      </p:sp>
      <p:sp>
        <p:nvSpPr>
          <p:cNvPr id="3" name="内容占位符 2">
            <a:extLst>
              <a:ext uri="{FF2B5EF4-FFF2-40B4-BE49-F238E27FC236}">
                <a16:creationId xmlns:a16="http://schemas.microsoft.com/office/drawing/2014/main" id="{8420C2E3-4E54-4226-85C8-2D4ECB6D8D23}"/>
              </a:ext>
            </a:extLst>
          </p:cNvPr>
          <p:cNvSpPr>
            <a:spLocks noGrp="1"/>
          </p:cNvSpPr>
          <p:nvPr>
            <p:ph idx="1"/>
          </p:nvPr>
        </p:nvSpPr>
        <p:spPr>
          <a:xfrm>
            <a:off x="485775" y="1104900"/>
            <a:ext cx="8191500" cy="4648200"/>
          </a:xfrm>
        </p:spPr>
        <p:txBody>
          <a:bodyPr/>
          <a:lstStyle/>
          <a:p>
            <a:pPr>
              <a:spcBef>
                <a:spcPts val="600"/>
              </a:spcBef>
              <a:spcAft>
                <a:spcPts val="600"/>
              </a:spcAft>
            </a:pPr>
            <a:r>
              <a:rPr lang="en-US" altLang="zh-CN" dirty="0"/>
              <a:t>MIPS</a:t>
            </a:r>
            <a:r>
              <a:rPr lang="zh-CN" altLang="en-US" dirty="0"/>
              <a:t>中指令的处理通常有</a:t>
            </a:r>
            <a:r>
              <a:rPr lang="en-US" altLang="zh-CN" dirty="0"/>
              <a:t>5</a:t>
            </a:r>
            <a:r>
              <a:rPr lang="zh-CN" altLang="en-US" dirty="0"/>
              <a:t>个阶段</a:t>
            </a:r>
            <a:endParaRPr lang="en-US" altLang="zh-CN" dirty="0"/>
          </a:p>
          <a:p>
            <a:pPr marL="628650" lvl="1" indent="-266700">
              <a:spcBef>
                <a:spcPts val="600"/>
              </a:spcBef>
              <a:spcAft>
                <a:spcPts val="600"/>
              </a:spcAft>
              <a:buClr>
                <a:srgbClr val="151F36"/>
              </a:buClr>
              <a:buFont typeface="Arial" panose="020B0604020202020204" pitchFamily="34" charset="0"/>
              <a:buChar char="–"/>
              <a:tabLst>
                <a:tab pos="584200" algn="l"/>
                <a:tab pos="628650" algn="l"/>
              </a:tabLst>
            </a:pPr>
            <a:r>
              <a:rPr lang="zh-CN" altLang="en-US" kern="1200" spc="5" dirty="0">
                <a:solidFill>
                  <a:schemeClr val="tx1">
                    <a:lumMod val="95000"/>
                    <a:lumOff val="5000"/>
                  </a:schemeClr>
                </a:solidFill>
                <a:cs typeface="Calibri" panose="020F0502020204030204"/>
              </a:rPr>
              <a:t>并不是所有指令均涉及这</a:t>
            </a:r>
            <a:r>
              <a:rPr lang="en-US" altLang="zh-CN" kern="1200" spc="5" dirty="0">
                <a:solidFill>
                  <a:schemeClr val="tx1">
                    <a:lumMod val="95000"/>
                    <a:lumOff val="5000"/>
                  </a:schemeClr>
                </a:solidFill>
                <a:cs typeface="Calibri" panose="020F0502020204030204"/>
              </a:rPr>
              <a:t>5</a:t>
            </a:r>
            <a:r>
              <a:rPr lang="zh-CN" altLang="en-US" kern="1200" spc="5" dirty="0">
                <a:solidFill>
                  <a:schemeClr val="tx1">
                    <a:lumMod val="95000"/>
                    <a:lumOff val="5000"/>
                  </a:schemeClr>
                </a:solidFill>
                <a:cs typeface="Calibri" panose="020F0502020204030204"/>
              </a:rPr>
              <a:t>个阶段</a:t>
            </a:r>
            <a:endParaRPr lang="en-US" altLang="zh-CN" kern="1200" spc="5" dirty="0">
              <a:solidFill>
                <a:schemeClr val="tx1">
                  <a:lumMod val="95000"/>
                  <a:lumOff val="5000"/>
                </a:schemeClr>
              </a:solidFill>
              <a:cs typeface="Calibri" panose="020F0502020204030204"/>
            </a:endParaRPr>
          </a:p>
          <a:p>
            <a:pPr>
              <a:spcBef>
                <a:spcPts val="600"/>
              </a:spcBef>
              <a:spcAft>
                <a:spcPts val="600"/>
              </a:spcAft>
            </a:pPr>
            <a:r>
              <a:rPr lang="zh-CN" altLang="en-US" dirty="0"/>
              <a:t>单周期模型中，</a:t>
            </a:r>
            <a:r>
              <a:rPr lang="en-US" altLang="zh-CN" dirty="0"/>
              <a:t>5</a:t>
            </a:r>
            <a:r>
              <a:rPr lang="zh-CN" altLang="en-US" dirty="0"/>
              <a:t>个阶段在同一个周期完成</a:t>
            </a:r>
            <a:endParaRPr lang="en-US" altLang="zh-CN" dirty="0"/>
          </a:p>
          <a:p>
            <a:pPr marL="628650" lvl="1" indent="-266700">
              <a:spcBef>
                <a:spcPts val="600"/>
              </a:spcBef>
              <a:spcAft>
                <a:spcPts val="600"/>
              </a:spcAft>
              <a:buClr>
                <a:srgbClr val="151F36"/>
              </a:buClr>
              <a:buFont typeface="Arial" panose="020B0604020202020204" pitchFamily="34" charset="0"/>
              <a:buChar char="–"/>
              <a:tabLst>
                <a:tab pos="584200" algn="l"/>
                <a:tab pos="628650" algn="l"/>
              </a:tabLst>
            </a:pPr>
            <a:r>
              <a:rPr lang="zh-CN" altLang="en-US" kern="1200" spc="5" dirty="0">
                <a:solidFill>
                  <a:schemeClr val="tx1">
                    <a:lumMod val="95000"/>
                    <a:lumOff val="5000"/>
                  </a:schemeClr>
                </a:solidFill>
                <a:cs typeface="Calibri" panose="020F0502020204030204"/>
              </a:rPr>
              <a:t>优点是实现简单</a:t>
            </a:r>
            <a:endParaRPr lang="en-US" altLang="zh-CN" kern="1200" spc="5" dirty="0">
              <a:solidFill>
                <a:schemeClr val="tx1">
                  <a:lumMod val="95000"/>
                  <a:lumOff val="5000"/>
                </a:schemeClr>
              </a:solidFill>
              <a:cs typeface="Calibri" panose="020F0502020204030204"/>
            </a:endParaRPr>
          </a:p>
          <a:p>
            <a:pPr marL="628650" lvl="1" indent="-266700">
              <a:spcBef>
                <a:spcPts val="600"/>
              </a:spcBef>
              <a:spcAft>
                <a:spcPts val="600"/>
              </a:spcAft>
              <a:buClr>
                <a:srgbClr val="151F36"/>
              </a:buClr>
              <a:buFont typeface="Arial" panose="020B0604020202020204" pitchFamily="34" charset="0"/>
              <a:buChar char="–"/>
              <a:tabLst>
                <a:tab pos="584200" algn="l"/>
                <a:tab pos="628650" algn="l"/>
              </a:tabLst>
            </a:pPr>
            <a:r>
              <a:rPr lang="zh-CN" altLang="en-US" kern="1200" spc="5" dirty="0">
                <a:solidFill>
                  <a:schemeClr val="tx1">
                    <a:lumMod val="95000"/>
                    <a:lumOff val="5000"/>
                  </a:schemeClr>
                </a:solidFill>
                <a:cs typeface="Calibri" panose="020F0502020204030204"/>
              </a:rPr>
              <a:t>缺点是效率不高</a:t>
            </a:r>
            <a:endParaRPr lang="en-US" altLang="zh-CN" kern="1200" spc="5" dirty="0">
              <a:solidFill>
                <a:schemeClr val="tx1">
                  <a:lumMod val="95000"/>
                  <a:lumOff val="5000"/>
                </a:schemeClr>
              </a:solidFill>
              <a:cs typeface="Calibri" panose="020F0502020204030204"/>
            </a:endParaRPr>
          </a:p>
          <a:p>
            <a:pPr>
              <a:spcBef>
                <a:spcPts val="600"/>
              </a:spcBef>
              <a:spcAft>
                <a:spcPts val="600"/>
              </a:spcAft>
            </a:pPr>
            <a:r>
              <a:rPr lang="zh-CN" altLang="en-US" dirty="0"/>
              <a:t>单周期模型是流水线模型的基础</a:t>
            </a:r>
            <a:endParaRPr lang="en-US" altLang="zh-CN" dirty="0"/>
          </a:p>
          <a:p>
            <a:pPr marL="628650" lvl="1" indent="-266700">
              <a:spcBef>
                <a:spcPts val="600"/>
              </a:spcBef>
              <a:spcAft>
                <a:spcPts val="600"/>
              </a:spcAft>
              <a:buClr>
                <a:srgbClr val="151F36"/>
              </a:buClr>
              <a:buFont typeface="Arial" panose="020B0604020202020204" pitchFamily="34" charset="0"/>
              <a:buChar char="–"/>
              <a:tabLst>
                <a:tab pos="584200" algn="l"/>
                <a:tab pos="628650" algn="l"/>
              </a:tabLst>
            </a:pPr>
            <a:r>
              <a:rPr lang="zh-CN" altLang="en-US" kern="1200" spc="5" dirty="0">
                <a:solidFill>
                  <a:schemeClr val="tx1">
                    <a:lumMod val="95000"/>
                    <a:lumOff val="5000"/>
                  </a:schemeClr>
                </a:solidFill>
                <a:cs typeface="Calibri" panose="020F0502020204030204"/>
              </a:rPr>
              <a:t>流水线可以提升指令处理的吞吐率</a:t>
            </a:r>
            <a:endParaRPr lang="en-US" altLang="zh-CN" kern="1200" spc="5" dirty="0">
              <a:solidFill>
                <a:schemeClr val="tx1">
                  <a:lumMod val="95000"/>
                  <a:lumOff val="5000"/>
                </a:schemeClr>
              </a:solidFill>
              <a:cs typeface="Calibri" panose="020F0502020204030204"/>
            </a:endParaRPr>
          </a:p>
          <a:p>
            <a:pPr marL="628650" lvl="1" indent="-266700">
              <a:spcBef>
                <a:spcPts val="600"/>
              </a:spcBef>
              <a:spcAft>
                <a:spcPts val="600"/>
              </a:spcAft>
              <a:buClr>
                <a:srgbClr val="151F36"/>
              </a:buClr>
              <a:buFont typeface="Arial" panose="020B0604020202020204" pitchFamily="34" charset="0"/>
              <a:buChar char="–"/>
              <a:tabLst>
                <a:tab pos="584200" algn="l"/>
                <a:tab pos="628650" algn="l"/>
              </a:tabLst>
            </a:pPr>
            <a:r>
              <a:rPr lang="zh-CN" altLang="en-US" kern="1200" spc="5" dirty="0">
                <a:solidFill>
                  <a:schemeClr val="tx1">
                    <a:lumMod val="95000"/>
                    <a:lumOff val="5000"/>
                  </a:schemeClr>
                </a:solidFill>
                <a:cs typeface="Calibri" panose="020F0502020204030204"/>
              </a:rPr>
              <a:t>流水线并不能缩短单个指令的处理时间</a:t>
            </a:r>
          </a:p>
        </p:txBody>
      </p:sp>
      <p:sp>
        <p:nvSpPr>
          <p:cNvPr id="4" name="灯片编号占位符 3">
            <a:extLst>
              <a:ext uri="{FF2B5EF4-FFF2-40B4-BE49-F238E27FC236}">
                <a16:creationId xmlns:a16="http://schemas.microsoft.com/office/drawing/2014/main" id="{3229E270-0032-4B56-8E23-B3301745B269}"/>
              </a:ext>
            </a:extLst>
          </p:cNvPr>
          <p:cNvSpPr>
            <a:spLocks noGrp="1"/>
          </p:cNvSpPr>
          <p:nvPr>
            <p:ph type="sldNum" sz="quarter" idx="4"/>
          </p:nvPr>
        </p:nvSpPr>
        <p:spPr/>
        <p:txBody>
          <a:bodyPr/>
          <a:lstStyle/>
          <a:p>
            <a:fld id="{7B9845D8-D779-4563-B1F1-C45D4F729032}" type="slidenum">
              <a:rPr lang="zh-CN" altLang="en-US" smtClean="0"/>
              <a:pPr/>
              <a:t>40</a:t>
            </a:fld>
            <a:endParaRPr lang="zh-CN" altLang="en-US"/>
          </a:p>
        </p:txBody>
      </p:sp>
    </p:spTree>
    <p:extLst>
      <p:ext uri="{BB962C8B-B14F-4D97-AF65-F5344CB8AC3E}">
        <p14:creationId xmlns:p14="http://schemas.microsoft.com/office/powerpoint/2010/main" val="17183419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VmMTA2YmI5NmE1MDU3ZmE1Y2I3ZGVhNjA3YjFmZWIifQ=="/>
</p:tagLst>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lumMod val="20000"/>
            <a:lumOff val="80000"/>
          </a:schemeClr>
        </a:solidFill>
        <a:ln>
          <a:headEnd type="none" w="med" len="med"/>
          <a:tailEnd type="none" w="med" len="med"/>
        </a:ln>
      </a:spPr>
      <a:bodyPr vert="horz" wrap="square" lIns="91440" tIns="45720" rIns="91440" bIns="45720" numCol="1" rtlCol="0"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sz="2400" b="0" i="0" u="none" strike="noStrike" cap="none" normalizeH="0" baseline="0" dirty="0" smtClean="0">
            <a:ln>
              <a:noFill/>
            </a:ln>
            <a:solidFill>
              <a:schemeClr val="tx1"/>
            </a:solidFill>
            <a:effectLst/>
          </a:defRPr>
        </a:defPPr>
      </a:lstStyle>
      <a:style>
        <a:lnRef idx="2">
          <a:schemeClr val="accent6"/>
        </a:lnRef>
        <a:fillRef idx="1">
          <a:schemeClr val="lt1"/>
        </a:fillRef>
        <a:effectRef idx="0">
          <a:schemeClr val="accent6"/>
        </a:effectRef>
        <a:fontRef idx="minor">
          <a:schemeClr val="dk1"/>
        </a:fontRef>
      </a:style>
    </a:spDef>
    <a:lnDef>
      <a:spPr bwMode="auto">
        <a:solidFill>
          <a:schemeClr val="accent1"/>
        </a:solidFill>
        <a:ln w="25400" cap="flat" cmpd="sng" algn="ctr">
          <a:solidFill>
            <a:schemeClr val="tx2"/>
          </a:solidFill>
          <a:prstDash val="solid"/>
          <a:round/>
          <a:headEnd type="none" w="med" len="med"/>
          <a:tailEnd type="arrow"/>
        </a:ln>
      </a:spPr>
      <a:body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1720</Words>
  <Application>Microsoft Office PowerPoint</Application>
  <PresentationFormat>全屏显示(4:3)</PresentationFormat>
  <Paragraphs>589</Paragraphs>
  <Slides>40</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40</vt:i4>
      </vt:variant>
    </vt:vector>
  </HeadingPairs>
  <TitlesOfParts>
    <vt:vector size="51" baseType="lpstr">
      <vt:lpstr>Calibri</vt:lpstr>
      <vt:lpstr>Wingdings</vt:lpstr>
      <vt:lpstr>Arial</vt:lpstr>
      <vt:lpstr>宋体</vt:lpstr>
      <vt:lpstr>微软雅黑</vt:lpstr>
      <vt:lpstr>Times New Roman</vt:lpstr>
      <vt:lpstr>楷体</vt:lpstr>
      <vt:lpstr>MS PGothic</vt:lpstr>
      <vt:lpstr>Symbol</vt:lpstr>
      <vt:lpstr>Tw Cen MT</vt:lpstr>
      <vt:lpstr>Default Design</vt:lpstr>
      <vt:lpstr>计算机体系结构</vt:lpstr>
      <vt:lpstr>本讲提纲</vt:lpstr>
      <vt:lpstr>MIPS指令的处理步骤</vt:lpstr>
      <vt:lpstr>相对完整的单周期数据通路</vt:lpstr>
      <vt:lpstr>用logisim搭建的单周期CPU</vt:lpstr>
      <vt:lpstr>本讲提纲</vt:lpstr>
      <vt:lpstr>R-Type ALU 指令</vt:lpstr>
      <vt:lpstr>R-Type ALU 数据通路</vt:lpstr>
      <vt:lpstr>I-Type ALU 指令</vt:lpstr>
      <vt:lpstr>R and I-Type ALU 指令的数据通路</vt:lpstr>
      <vt:lpstr>本讲提纲</vt:lpstr>
      <vt:lpstr>I-Type LW 指令</vt:lpstr>
      <vt:lpstr>LW 数据通路</vt:lpstr>
      <vt:lpstr>I-Type SW 指令</vt:lpstr>
      <vt:lpstr>SW 数据通路</vt:lpstr>
      <vt:lpstr>Load-Store 数据通路</vt:lpstr>
      <vt:lpstr>非控制流指令的数据通路</vt:lpstr>
      <vt:lpstr>本讲提纲</vt:lpstr>
      <vt:lpstr>无条件跳转指令</vt:lpstr>
      <vt:lpstr>J 数据通路</vt:lpstr>
      <vt:lpstr>I-Type 条件分支指令</vt:lpstr>
      <vt:lpstr>条件分支数据通路 (自己完成)</vt:lpstr>
      <vt:lpstr>合并版本</vt:lpstr>
      <vt:lpstr>本讲提纲</vt:lpstr>
      <vt:lpstr>单周期的硬布线控制</vt:lpstr>
      <vt:lpstr>单个比特控制信号</vt:lpstr>
      <vt:lpstr>单个比特控制信号</vt:lpstr>
      <vt:lpstr>ALU 控制的实现</vt:lpstr>
      <vt:lpstr>R-Type ALU</vt:lpstr>
      <vt:lpstr>I-Type ALU</vt:lpstr>
      <vt:lpstr>LW</vt:lpstr>
      <vt:lpstr>SW</vt:lpstr>
      <vt:lpstr>Branch (不跳转)</vt:lpstr>
      <vt:lpstr>Branch (跳转)</vt:lpstr>
      <vt:lpstr>Jump</vt:lpstr>
      <vt:lpstr>控制模块里面都有什么?</vt:lpstr>
      <vt:lpstr>本讲提纲</vt:lpstr>
      <vt:lpstr>单周期微架构分析</vt:lpstr>
      <vt:lpstr>MIPS中最慢的指令是什么?</vt:lpstr>
      <vt:lpstr>总 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2013-10-18T04:54:00Z</dcterms:created>
  <dcterms:modified xsi:type="dcterms:W3CDTF">2025-10-12T03:07:33Z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3AB3F859501A4FFA831B5F550C0FB638</vt:lpwstr>
  </property>
  <property fmtid="{D5CDD505-2E9C-101B-9397-08002B2CF9AE}" pid="3" name="KSOProductBuildVer">
    <vt:lpwstr>2052-11.1.0.12313</vt:lpwstr>
  </property>
</Properties>
</file>