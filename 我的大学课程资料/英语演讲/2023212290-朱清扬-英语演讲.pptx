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Lst>
  <p:sldSz cx="12192000" cy="6858000"/>
  <p:notesSz cx="6858000" cy="9144000"/>
  <p:embeddedFontLst>
    <p:embeddedFont>
      <p:font typeface="OPPOSans H" panose="02010600030101010101" charset="-122"/>
      <p:regular r:id="rId15"/>
    </p:embeddedFont>
    <p:embeddedFont>
      <p:font typeface="OPPOSans L" panose="02010600030101010101" charset="-122"/>
      <p:regular r:id="rId16"/>
    </p:embeddedFont>
    <p:embeddedFont>
      <p:font typeface="OPPOSans R" panose="02010600030101010101" charset="-122"/>
      <p:regular r:id="rId17"/>
    </p:embeddedFont>
    <p:embeddedFont>
      <p:font typeface="Source Han Sans" panose="02010600030101010101" charset="-122"/>
      <p:regular r:id="rId18"/>
    </p:embeddedFont>
    <p:embeddedFont>
      <p:font typeface="Source Han Sans CN Bold" panose="02010600030101010101" charset="-122"/>
      <p:regular r:id="rId19"/>
    </p:embeddedFont>
    <p:embeddedFont>
      <p:font typeface="Source Han Sans CN Regular" panose="02010600030101010101" charset="-122"/>
      <p:regular r:id="rId2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5"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a:stretch>
            <a:fillRect/>
          </a:stretch>
        </p:blipFill>
        <p:spPr>
          <a:xfrm>
            <a:off x="0" y="-22859"/>
            <a:ext cx="12192000" cy="6857999"/>
          </a:xfrm>
          <a:prstGeom prst="rect">
            <a:avLst/>
          </a:prstGeom>
          <a:noFill/>
          <a:ln>
            <a:noFill/>
          </a:ln>
        </p:spPr>
      </p:pic>
      <p:sp>
        <p:nvSpPr>
          <p:cNvPr id="3" name="标题 1"/>
          <p:cNvSpPr txBox="1"/>
          <p:nvPr/>
        </p:nvSpPr>
        <p:spPr>
          <a:xfrm flipH="1">
            <a:off x="7870190"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7580083" y="0"/>
            <a:ext cx="1756865" cy="6858000"/>
          </a:xfrm>
          <a:custGeom>
            <a:avLst/>
            <a:gdLst>
              <a:gd name="connsiteX0" fmla="*/ 542835 w 1756865"/>
              <a:gd name="connsiteY0" fmla="*/ 0 h 6858000"/>
              <a:gd name="connsiteX1" fmla="*/ 0 w 1756865"/>
              <a:gd name="connsiteY1" fmla="*/ 0 h 6858000"/>
              <a:gd name="connsiteX2" fmla="*/ 1214030 w 1756865"/>
              <a:gd name="connsiteY2" fmla="*/ 3429000 h 6858000"/>
              <a:gd name="connsiteX3" fmla="*/ 0 w 1756865"/>
              <a:gd name="connsiteY3" fmla="*/ 6858000 h 6858000"/>
              <a:gd name="connsiteX4" fmla="*/ 542835 w 1756865"/>
              <a:gd name="connsiteY4" fmla="*/ 6858000 h 6858000"/>
              <a:gd name="connsiteX5" fmla="*/ 1756865 w 1756865"/>
              <a:gd name="connsiteY5" fmla="*/ 3429000 h 6858000"/>
            </a:gdLst>
            <a:ahLst/>
            <a:cxnLst/>
            <a:rect l="l" t="t" r="r" b="b"/>
            <a:pathLst>
              <a:path w="1756865" h="6858000">
                <a:moveTo>
                  <a:pt x="542835" y="0"/>
                </a:moveTo>
                <a:lnTo>
                  <a:pt x="0" y="0"/>
                </a:lnTo>
                <a:lnTo>
                  <a:pt x="1214030" y="3429000"/>
                </a:lnTo>
                <a:lnTo>
                  <a:pt x="0" y="6858000"/>
                </a:lnTo>
                <a:lnTo>
                  <a:pt x="542835" y="6858000"/>
                </a:lnTo>
                <a:lnTo>
                  <a:pt x="1756865"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518160" y="1733985"/>
            <a:ext cx="3528039" cy="1239520"/>
          </a:xfrm>
          <a:prstGeom prst="rect">
            <a:avLst/>
          </a:prstGeom>
          <a:noFill/>
          <a:ln>
            <a:noFill/>
          </a:ln>
        </p:spPr>
        <p:txBody>
          <a:bodyPr vert="horz" wrap="square" lIns="91440" tIns="45720" rIns="91440" bIns="45720" rtlCol="0" anchor="t"/>
          <a:lstStyle/>
          <a:p>
            <a:pPr algn="l">
              <a:lnSpc>
                <a:spcPct val="110000"/>
              </a:lnSpc>
            </a:pPr>
            <a:r>
              <a:rPr kumimoji="1" lang="en-US" altLang="zh-CN" sz="8800" dirty="0">
                <a:ln w="12700">
                  <a:noFill/>
                </a:ln>
                <a:gradFill>
                  <a:gsLst>
                    <a:gs pos="1000">
                      <a:srgbClr val="ADE5BB">
                        <a:alpha val="100000"/>
                      </a:srgbClr>
                    </a:gs>
                    <a:gs pos="85000">
                      <a:srgbClr val="D4F2DB">
                        <a:alpha val="0"/>
                      </a:srgbClr>
                    </a:gs>
                  </a:gsLst>
                  <a:lin ang="5400000" scaled="0"/>
                </a:gradFill>
                <a:latin typeface="Source Han Sans CN Regular"/>
                <a:ea typeface="Source Han Sans CN Regular"/>
                <a:cs typeface="Source Han Sans CN Regular"/>
              </a:rPr>
              <a:t>2025</a:t>
            </a:r>
            <a:endParaRPr kumimoji="1" lang="zh-CN" altLang="en-US" dirty="0"/>
          </a:p>
        </p:txBody>
      </p:sp>
      <p:sp>
        <p:nvSpPr>
          <p:cNvPr id="6" name="标题 1"/>
          <p:cNvSpPr txBox="1"/>
          <p:nvPr/>
        </p:nvSpPr>
        <p:spPr>
          <a:xfrm>
            <a:off x="518160" y="2882066"/>
            <a:ext cx="6611798" cy="2166472"/>
          </a:xfrm>
          <a:prstGeom prst="rect">
            <a:avLst/>
          </a:prstGeom>
          <a:noFill/>
          <a:ln>
            <a:noFill/>
          </a:ln>
        </p:spPr>
        <p:txBody>
          <a:bodyPr vert="horz" wrap="square" lIns="91440" tIns="45720" rIns="91440" bIns="45720" rtlCol="0" anchor="t"/>
          <a:lstStyle/>
          <a:p>
            <a:pPr algn="l">
              <a:lnSpc>
                <a:spcPct val="130000"/>
              </a:lnSpc>
            </a:pPr>
            <a:r>
              <a:rPr kumimoji="1" lang="en-US" altLang="zh-CN" sz="2900">
                <a:ln w="12700">
                  <a:noFill/>
                </a:ln>
                <a:solidFill>
                  <a:srgbClr val="262626">
                    <a:alpha val="100000"/>
                  </a:srgbClr>
                </a:solidFill>
                <a:latin typeface="Source Han Sans CN Regular"/>
                <a:ea typeface="Source Han Sans CN Regular"/>
                <a:cs typeface="Source Han Sans CN Regular"/>
              </a:rPr>
              <a:t>A Multi-Dimensional Comparative Study of Chinese and English Linguistics</a:t>
            </a:r>
            <a:endParaRPr kumimoji="1" lang="zh-CN" altLang="en-US"/>
          </a:p>
        </p:txBody>
      </p:sp>
      <p:sp>
        <p:nvSpPr>
          <p:cNvPr id="7" name="标题 1"/>
          <p:cNvSpPr txBox="1"/>
          <p:nvPr/>
        </p:nvSpPr>
        <p:spPr>
          <a:xfrm flipH="1">
            <a:off x="7870190"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flipV="1">
            <a:off x="5726345" y="0"/>
            <a:ext cx="2761198" cy="2380343"/>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944176" y="5549312"/>
            <a:ext cx="1568586" cy="1352230"/>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2366641" y="5465512"/>
            <a:ext cx="2487110" cy="487756"/>
          </a:xfrm>
          <a:prstGeom prst="round1Rect">
            <a:avLst/>
          </a:prstGeom>
          <a:solidFill>
            <a:schemeClr val="bg1"/>
          </a:solidFill>
          <a:ln w="63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516558" y="5298530"/>
            <a:ext cx="724655" cy="723600"/>
          </a:xfrm>
          <a:prstGeom prst="flowChartMagneticTape">
            <a:avLst/>
          </a:prstGeom>
          <a:solidFill>
            <a:schemeClr val="accent1"/>
          </a:solidFill>
          <a:ln w="9525"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730071" y="5496166"/>
            <a:ext cx="281318" cy="304735"/>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dirty="0"/>
          </a:p>
        </p:txBody>
      </p:sp>
      <p:sp>
        <p:nvSpPr>
          <p:cNvPr id="18" name="标题 1"/>
          <p:cNvSpPr txBox="1"/>
          <p:nvPr/>
        </p:nvSpPr>
        <p:spPr>
          <a:xfrm>
            <a:off x="4046199" y="5499338"/>
            <a:ext cx="311641" cy="311641"/>
          </a:xfrm>
          <a:custGeom>
            <a:avLst/>
            <a:gdLst>
              <a:gd name="connsiteX0" fmla="*/ 666750 w 1333500"/>
              <a:gd name="connsiteY0" fmla="*/ 0 h 1333500"/>
              <a:gd name="connsiteX1" fmla="*/ 0 w 1333500"/>
              <a:gd name="connsiteY1" fmla="*/ 666750 h 1333500"/>
              <a:gd name="connsiteX2" fmla="*/ 666750 w 1333500"/>
              <a:gd name="connsiteY2" fmla="*/ 1333500 h 1333500"/>
              <a:gd name="connsiteX3" fmla="*/ 1333500 w 1333500"/>
              <a:gd name="connsiteY3" fmla="*/ 666750 h 1333500"/>
              <a:gd name="connsiteX4" fmla="*/ 666750 w 1333500"/>
              <a:gd name="connsiteY4" fmla="*/ 0 h 1333500"/>
              <a:gd name="connsiteX5" fmla="*/ 1088517 w 1333500"/>
              <a:gd name="connsiteY5" fmla="*/ 965263 h 1333500"/>
              <a:gd name="connsiteX6" fmla="*/ 723900 w 1333500"/>
              <a:gd name="connsiteY6" fmla="*/ 754571 h 1333500"/>
              <a:gd name="connsiteX7" fmla="*/ 578732 w 1333500"/>
              <a:gd name="connsiteY7" fmla="*/ 724872 h 1333500"/>
              <a:gd name="connsiteX8" fmla="*/ 608432 w 1333500"/>
              <a:gd name="connsiteY8" fmla="*/ 579704 h 1333500"/>
              <a:gd name="connsiteX9" fmla="*/ 617125 w 1333500"/>
              <a:gd name="connsiteY9" fmla="*/ 574548 h 1333500"/>
              <a:gd name="connsiteX10" fmla="*/ 617125 w 1333500"/>
              <a:gd name="connsiteY10" fmla="*/ 332232 h 1333500"/>
              <a:gd name="connsiteX11" fmla="*/ 664750 w 1333500"/>
              <a:gd name="connsiteY11" fmla="*/ 284607 h 1333500"/>
              <a:gd name="connsiteX12" fmla="*/ 712375 w 1333500"/>
              <a:gd name="connsiteY12" fmla="*/ 332232 h 1333500"/>
              <a:gd name="connsiteX13" fmla="*/ 712375 w 1333500"/>
              <a:gd name="connsiteY13" fmla="*/ 572453 h 1333500"/>
              <a:gd name="connsiteX14" fmla="*/ 771525 w 1333500"/>
              <a:gd name="connsiteY14" fmla="*/ 666750 h 1333500"/>
              <a:gd name="connsiteX15" fmla="*/ 768287 w 1333500"/>
              <a:gd name="connsiteY15" fmla="*/ 692372 h 1333500"/>
              <a:gd name="connsiteX16" fmla="*/ 1126617 w 1333500"/>
              <a:gd name="connsiteY16" fmla="*/ 899255 h 1333500"/>
              <a:gd name="connsiteX17" fmla="*/ 1140571 w 1333500"/>
              <a:gd name="connsiteY17" fmla="*/ 951309 h 1333500"/>
              <a:gd name="connsiteX18" fmla="*/ 1088517 w 1333500"/>
              <a:gd name="connsiteY18" fmla="*/ 965263 h 1333500"/>
            </a:gdLst>
            <a:ahLst/>
            <a:cxnLst/>
            <a:rect l="l" t="t" r="r" b="b"/>
            <a:pathLst>
              <a:path w="1333500" h="1333500">
                <a:moveTo>
                  <a:pt x="666750" y="0"/>
                </a:moveTo>
                <a:cubicBezTo>
                  <a:pt x="298514" y="0"/>
                  <a:pt x="0" y="298514"/>
                  <a:pt x="0" y="666750"/>
                </a:cubicBezTo>
                <a:cubicBezTo>
                  <a:pt x="0" y="1034987"/>
                  <a:pt x="298514" y="1333500"/>
                  <a:pt x="666750" y="1333500"/>
                </a:cubicBezTo>
                <a:cubicBezTo>
                  <a:pt x="1034987" y="1333500"/>
                  <a:pt x="1333500" y="1034987"/>
                  <a:pt x="1333500" y="666750"/>
                </a:cubicBezTo>
                <a:cubicBezTo>
                  <a:pt x="1333500" y="298514"/>
                  <a:pt x="1034987" y="0"/>
                  <a:pt x="666750" y="0"/>
                </a:cubicBezTo>
                <a:close/>
                <a:moveTo>
                  <a:pt x="1088517" y="965263"/>
                </a:moveTo>
                <a:lnTo>
                  <a:pt x="723900" y="754571"/>
                </a:lnTo>
                <a:cubicBezTo>
                  <a:pt x="675612" y="786456"/>
                  <a:pt x="610618" y="773160"/>
                  <a:pt x="578732" y="724872"/>
                </a:cubicBezTo>
                <a:cubicBezTo>
                  <a:pt x="546847" y="676583"/>
                  <a:pt x="560144" y="611590"/>
                  <a:pt x="608432" y="579704"/>
                </a:cubicBezTo>
                <a:cubicBezTo>
                  <a:pt x="611245" y="577847"/>
                  <a:pt x="614146" y="576125"/>
                  <a:pt x="617125" y="574548"/>
                </a:cubicBezTo>
                <a:lnTo>
                  <a:pt x="617125" y="332232"/>
                </a:lnTo>
                <a:cubicBezTo>
                  <a:pt x="617125" y="305930"/>
                  <a:pt x="638447" y="284607"/>
                  <a:pt x="664750" y="284607"/>
                </a:cubicBezTo>
                <a:cubicBezTo>
                  <a:pt x="691052" y="284607"/>
                  <a:pt x="712375" y="305930"/>
                  <a:pt x="712375" y="332232"/>
                </a:cubicBezTo>
                <a:lnTo>
                  <a:pt x="712375" y="572453"/>
                </a:lnTo>
                <a:cubicBezTo>
                  <a:pt x="748539" y="589946"/>
                  <a:pt x="771516" y="626577"/>
                  <a:pt x="771525" y="666750"/>
                </a:cubicBezTo>
                <a:cubicBezTo>
                  <a:pt x="771475" y="675389"/>
                  <a:pt x="770388" y="683992"/>
                  <a:pt x="768287" y="692372"/>
                </a:cubicBezTo>
                <a:lnTo>
                  <a:pt x="1126617" y="899255"/>
                </a:lnTo>
                <a:cubicBezTo>
                  <a:pt x="1144848" y="909777"/>
                  <a:pt x="1151096" y="933081"/>
                  <a:pt x="1140571" y="951309"/>
                </a:cubicBezTo>
                <a:cubicBezTo>
                  <a:pt x="1130046" y="969540"/>
                  <a:pt x="1106748" y="975789"/>
                  <a:pt x="1088517" y="965263"/>
                </a:cubicBezTo>
                <a:close/>
              </a:path>
            </a:pathLst>
          </a:custGeom>
          <a:solidFill>
            <a:schemeClr val="bg1"/>
          </a:solidFill>
          <a:ln w="9525" cap="flat">
            <a:noFill/>
            <a:miter/>
          </a:ln>
        </p:spPr>
        <p:txBody>
          <a:bodyPr vert="horz" wrap="square" lIns="91440" tIns="45720" rIns="91440" bIns="45720" rtlCol="0" anchor="ctr"/>
          <a:lstStyle/>
          <a:p>
            <a:pPr algn="l">
              <a:lnSpc>
                <a:spcPct val="110000"/>
              </a:lnSpc>
            </a:pPr>
            <a:endParaRPr kumimoji="1" lang="zh-CN" altLang="en-US"/>
          </a:p>
        </p:txBody>
      </p:sp>
      <p:sp>
        <p:nvSpPr>
          <p:cNvPr id="19" name="标题 1"/>
          <p:cNvSpPr txBox="1"/>
          <p:nvPr/>
        </p:nvSpPr>
        <p:spPr>
          <a:xfrm>
            <a:off x="2671876" y="5595408"/>
            <a:ext cx="1657577" cy="271478"/>
          </a:xfrm>
          <a:prstGeom prst="rect">
            <a:avLst/>
          </a:prstGeom>
          <a:noFill/>
          <a:ln>
            <a:noFill/>
          </a:ln>
        </p:spPr>
        <p:txBody>
          <a:bodyPr vert="horz" wrap="square" lIns="0" tIns="0" rIns="0" bIns="0" rtlCol="0" anchor="ctr"/>
          <a:lstStyle/>
          <a:p>
            <a:pPr algn="ctr">
              <a:lnSpc>
                <a:spcPct val="110000"/>
              </a:lnSpc>
            </a:pPr>
            <a:r>
              <a:rPr kumimoji="1" lang="en-US" altLang="zh-CN" sz="1800" dirty="0" err="1">
                <a:ln w="12700">
                  <a:noFill/>
                </a:ln>
                <a:solidFill>
                  <a:srgbClr val="262626">
                    <a:alpha val="100000"/>
                  </a:srgbClr>
                </a:solidFill>
                <a:latin typeface="Source Han Sans"/>
                <a:ea typeface="Source Han Sans"/>
                <a:cs typeface="Source Han Sans"/>
              </a:rPr>
              <a:t>汇报人</a:t>
            </a:r>
            <a:r>
              <a:rPr kumimoji="1" lang="en-US" altLang="zh-CN" sz="1800" dirty="0">
                <a:ln w="12700">
                  <a:noFill/>
                </a:ln>
                <a:solidFill>
                  <a:srgbClr val="262626">
                    <a:alpha val="100000"/>
                  </a:srgbClr>
                </a:solidFill>
                <a:latin typeface="Source Han Sans"/>
                <a:ea typeface="Source Han Sans"/>
                <a:cs typeface="Source Han Sans"/>
              </a:rPr>
              <a:t>：</a:t>
            </a:r>
            <a:r>
              <a:rPr kumimoji="1" lang="zh-CN" altLang="en-US" dirty="0">
                <a:ln w="12700">
                  <a:noFill/>
                </a:ln>
                <a:solidFill>
                  <a:srgbClr val="262626">
                    <a:alpha val="100000"/>
                  </a:srgbClr>
                </a:solidFill>
                <a:latin typeface="Source Han Sans"/>
                <a:ea typeface="Source Han Sans"/>
                <a:cs typeface="Source Han Sans"/>
              </a:rPr>
              <a:t>朱清扬</a:t>
            </a:r>
            <a:endParaRPr kumimoji="1" lang="zh-CN" altLang="en-US" dirty="0"/>
          </a:p>
        </p:txBody>
      </p:sp>
      <p:sp>
        <p:nvSpPr>
          <p:cNvPr id="20" name="标题 1"/>
          <p:cNvSpPr txBox="1"/>
          <p:nvPr/>
        </p:nvSpPr>
        <p:spPr>
          <a:xfrm flipV="1">
            <a:off x="6182887" y="190324"/>
            <a:ext cx="1998550" cy="1722888"/>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7129958" y="5760064"/>
            <a:ext cx="1247088" cy="1075076"/>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4260139" y="2077019"/>
            <a:ext cx="871708" cy="651665"/>
          </a:xfrm>
          <a:prstGeom prst="triangle">
            <a:avLst>
              <a:gd name="adj" fmla="val 45289"/>
            </a:avLst>
          </a:prstGeom>
          <a:solidFill>
            <a:schemeClr val="accent1">
              <a:lumMod val="20000"/>
              <a:lumOff val="80000"/>
              <a:alpha val="4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rot="2157950">
            <a:off x="-133101" y="-191671"/>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rot="19442050" flipV="1">
            <a:off x="-133101" y="6115222"/>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flipH="1">
            <a:off x="8962887" y="0"/>
            <a:ext cx="1966034" cy="6858000"/>
          </a:xfrm>
          <a:custGeom>
            <a:avLst/>
            <a:gdLst>
              <a:gd name="connsiteX0" fmla="*/ 838730 w 1966034"/>
              <a:gd name="connsiteY0" fmla="*/ 0 h 6858000"/>
              <a:gd name="connsiteX1" fmla="*/ 0 w 1966034"/>
              <a:gd name="connsiteY1" fmla="*/ 0 h 6858000"/>
              <a:gd name="connsiteX2" fmla="*/ 1127304 w 1966034"/>
              <a:gd name="connsiteY2" fmla="*/ 3498566 h 6858000"/>
              <a:gd name="connsiteX3" fmla="*/ 44831 w 1966034"/>
              <a:gd name="connsiteY3" fmla="*/ 6858000 h 6858000"/>
              <a:gd name="connsiteX4" fmla="*/ 883561 w 1966034"/>
              <a:gd name="connsiteY4" fmla="*/ 6858000 h 6858000"/>
              <a:gd name="connsiteX5" fmla="*/ 1966034 w 1966034"/>
              <a:gd name="connsiteY5" fmla="*/ 3498566 h 6858000"/>
            </a:gdLst>
            <a:ahLst/>
            <a:cxnLst/>
            <a:rect l="l" t="t" r="r" b="b"/>
            <a:pathLst>
              <a:path w="1966034" h="6858000">
                <a:moveTo>
                  <a:pt x="838730" y="0"/>
                </a:moveTo>
                <a:lnTo>
                  <a:pt x="0" y="0"/>
                </a:lnTo>
                <a:lnTo>
                  <a:pt x="1127304" y="3498566"/>
                </a:lnTo>
                <a:lnTo>
                  <a:pt x="44831" y="6858000"/>
                </a:lnTo>
                <a:lnTo>
                  <a:pt x="883561" y="6858000"/>
                </a:lnTo>
                <a:lnTo>
                  <a:pt x="1966034" y="3498566"/>
                </a:lnTo>
                <a:close/>
              </a:path>
            </a:pathLst>
          </a:cu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flipH="1">
            <a:off x="8377046" y="1622220"/>
            <a:ext cx="2483357" cy="3592635"/>
          </a:xfrm>
          <a:prstGeom prst="chevron">
            <a:avLst>
              <a:gd name="adj" fmla="val 25606"/>
            </a:avLst>
          </a:prstGeom>
          <a:solidFill>
            <a:schemeClr val="accent1">
              <a:lumMod val="40000"/>
              <a:lumOff val="60000"/>
              <a:alpha val="50000"/>
            </a:schemeClr>
          </a:solidFill>
          <a:ln w="12700" cap="sq">
            <a:solidFill>
              <a:schemeClr val="accent1">
                <a:lumMod val="40000"/>
                <a:lumOff val="60000"/>
              </a:schemeClr>
            </a:solidFill>
            <a:miter/>
          </a:ln>
          <a:effectLst/>
        </p:spPr>
        <p:txBody>
          <a:bodyPr vert="horz" wrap="square" lIns="91440" tIns="45720" rIns="91440" bIns="45720" rtlCol="0" anchor="ctr"/>
          <a:lstStyle/>
          <a:p>
            <a:pPr algn="ctr">
              <a:lnSpc>
                <a:spcPct val="110000"/>
              </a:lnSpc>
            </a:pPr>
            <a:endParaRPr kumimoji="1" lang="zh-CN" altLang="en-US"/>
          </a:p>
        </p:txBody>
      </p:sp>
      <p:sp>
        <p:nvSpPr>
          <p:cNvPr id="27" name="标题 1"/>
          <p:cNvSpPr txBox="1"/>
          <p:nvPr/>
        </p:nvSpPr>
        <p:spPr>
          <a:xfrm flipH="1">
            <a:off x="11210740" y="657455"/>
            <a:ext cx="981260" cy="5543093"/>
          </a:xfrm>
          <a:custGeom>
            <a:avLst/>
            <a:gdLst>
              <a:gd name="connsiteX0" fmla="*/ 0 w 981260"/>
              <a:gd name="connsiteY0" fmla="*/ 0 h 5543093"/>
              <a:gd name="connsiteX1" fmla="*/ 0 w 981260"/>
              <a:gd name="connsiteY1" fmla="*/ 532939 h 5543093"/>
              <a:gd name="connsiteX2" fmla="*/ 792574 w 981260"/>
              <a:gd name="connsiteY2" fmla="*/ 2771546 h 5543093"/>
              <a:gd name="connsiteX3" fmla="*/ 0 w 981260"/>
              <a:gd name="connsiteY3" fmla="*/ 5010154 h 5543093"/>
              <a:gd name="connsiteX4" fmla="*/ 0 w 981260"/>
              <a:gd name="connsiteY4" fmla="*/ 5543093 h 5543093"/>
              <a:gd name="connsiteX5" fmla="*/ 981260 w 981260"/>
              <a:gd name="connsiteY5" fmla="*/ 2771546 h 5543093"/>
            </a:gdLst>
            <a:ahLst/>
            <a:cxnLst/>
            <a:rect l="l" t="t" r="r" b="b"/>
            <a:pathLst>
              <a:path w="981260" h="5543093">
                <a:moveTo>
                  <a:pt x="0" y="0"/>
                </a:moveTo>
                <a:lnTo>
                  <a:pt x="0" y="532939"/>
                </a:lnTo>
                <a:lnTo>
                  <a:pt x="792574" y="2771546"/>
                </a:lnTo>
                <a:lnTo>
                  <a:pt x="0" y="5010154"/>
                </a:lnTo>
                <a:lnTo>
                  <a:pt x="0" y="5543093"/>
                </a:lnTo>
                <a:lnTo>
                  <a:pt x="981260" y="2771546"/>
                </a:lnTo>
                <a:close/>
              </a:path>
            </a:pathLst>
          </a:custGeom>
          <a:solidFill>
            <a:schemeClr val="accent1">
              <a:lumMod val="40000"/>
              <a:lumOff val="6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flipH="1">
            <a:off x="10718708" y="0"/>
            <a:ext cx="1473292" cy="6858000"/>
          </a:xfrm>
          <a:custGeom>
            <a:avLst/>
            <a:gdLst>
              <a:gd name="connsiteX0" fmla="*/ 259262 w 1473292"/>
              <a:gd name="connsiteY0" fmla="*/ 0 h 6858000"/>
              <a:gd name="connsiteX1" fmla="*/ 0 w 1473292"/>
              <a:gd name="connsiteY1" fmla="*/ 0 h 6858000"/>
              <a:gd name="connsiteX2" fmla="*/ 0 w 1473292"/>
              <a:gd name="connsiteY2" fmla="*/ 800946 h 6858000"/>
              <a:gd name="connsiteX3" fmla="*/ 930457 w 1473292"/>
              <a:gd name="connsiteY3" fmla="*/ 3429000 h 6858000"/>
              <a:gd name="connsiteX4" fmla="*/ 0 w 1473292"/>
              <a:gd name="connsiteY4" fmla="*/ 6057055 h 6858000"/>
              <a:gd name="connsiteX5" fmla="*/ 0 w 1473292"/>
              <a:gd name="connsiteY5" fmla="*/ 6858000 h 6858000"/>
              <a:gd name="connsiteX6" fmla="*/ 259262 w 1473292"/>
              <a:gd name="connsiteY6" fmla="*/ 6858000 h 6858000"/>
              <a:gd name="connsiteX7" fmla="*/ 1473292 w 1473292"/>
              <a:gd name="connsiteY7" fmla="*/ 3429000 h 6858000"/>
            </a:gdLst>
            <a:ahLst/>
            <a:cxnLst/>
            <a:rect l="l" t="t" r="r" b="b"/>
            <a:pathLst>
              <a:path w="1473292" h="6858000">
                <a:moveTo>
                  <a:pt x="259262" y="0"/>
                </a:moveTo>
                <a:lnTo>
                  <a:pt x="0" y="0"/>
                </a:lnTo>
                <a:lnTo>
                  <a:pt x="0" y="800946"/>
                </a:lnTo>
                <a:lnTo>
                  <a:pt x="930457" y="3429000"/>
                </a:lnTo>
                <a:lnTo>
                  <a:pt x="0" y="6057055"/>
                </a:lnTo>
                <a:lnTo>
                  <a:pt x="0" y="6858000"/>
                </a:lnTo>
                <a:lnTo>
                  <a:pt x="259262" y="6858000"/>
                </a:lnTo>
                <a:lnTo>
                  <a:pt x="1473292"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1"/>
            <a:ext cx="12192000" cy="6858000"/>
          </a:xfrm>
          <a:prstGeom prst="rect">
            <a:avLst/>
          </a:pr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0" y="0"/>
            <a:ext cx="12219921" cy="6858000"/>
          </a:xfrm>
          <a:custGeom>
            <a:avLst/>
            <a:gdLst>
              <a:gd name="connsiteX0" fmla="*/ 0 w 8787426"/>
              <a:gd name="connsiteY0" fmla="*/ 0 h 5938281"/>
              <a:gd name="connsiteX1" fmla="*/ 8787426 w 8787426"/>
              <a:gd name="connsiteY1" fmla="*/ 0 h 5938281"/>
              <a:gd name="connsiteX2" fmla="*/ 8787426 w 8787426"/>
              <a:gd name="connsiteY2" fmla="*/ 5938281 h 5938281"/>
              <a:gd name="connsiteX3" fmla="*/ 0 w 8787426"/>
              <a:gd name="connsiteY3" fmla="*/ 5938281 h 5938281"/>
            </a:gdLst>
            <a:ahLst/>
            <a:cxnLst/>
            <a:rect l="l" t="t" r="r" b="b"/>
            <a:pathLst>
              <a:path w="8787426" h="5938281">
                <a:moveTo>
                  <a:pt x="0" y="0"/>
                </a:moveTo>
                <a:lnTo>
                  <a:pt x="8787426" y="0"/>
                </a:lnTo>
                <a:lnTo>
                  <a:pt x="8787426" y="5938281"/>
                </a:lnTo>
                <a:lnTo>
                  <a:pt x="0" y="5938281"/>
                </a:lnTo>
                <a:close/>
              </a:path>
            </a:pathLst>
          </a:custGeom>
          <a:gradFill>
            <a:gsLst>
              <a:gs pos="0">
                <a:schemeClr val="accent1">
                  <a:lumMod val="60000"/>
                  <a:lumOff val="40000"/>
                </a:schemeClr>
              </a:gs>
              <a:gs pos="100000">
                <a:schemeClr val="accent1"/>
              </a:gs>
            </a:gsLst>
            <a:lin ang="162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77202" y="373380"/>
            <a:ext cx="11837596" cy="6111240"/>
          </a:xfrm>
          <a:prstGeom prst="rect">
            <a:avLst/>
          </a:pr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411480" y="807720"/>
            <a:ext cx="2712720" cy="5440680"/>
          </a:xfrm>
          <a:prstGeom prst="rect">
            <a:avLst/>
          </a:prstGeom>
          <a:noFill/>
          <a:ln w="381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343607" y="2450489"/>
            <a:ext cx="950757" cy="1764907"/>
          </a:xfrm>
          <a:prstGeom prst="rect">
            <a:avLst/>
          </a:prstGeom>
          <a:noFill/>
          <a:ln>
            <a:noFill/>
          </a:ln>
        </p:spPr>
        <p:txBody>
          <a:bodyPr vert="eaVert" wrap="square" lIns="0" tIns="0" rIns="0" bIns="0" rtlCol="0" anchor="ctr"/>
          <a:lstStyle/>
          <a:p>
            <a:pPr algn="ctr">
              <a:lnSpc>
                <a:spcPct val="130000"/>
              </a:lnSpc>
            </a:pPr>
            <a:r>
              <a:rPr kumimoji="1" lang="en-US" altLang="zh-CN" sz="6000">
                <a:ln w="12700">
                  <a:noFill/>
                </a:ln>
                <a:solidFill>
                  <a:srgbClr val="3AB858">
                    <a:alpha val="100000"/>
                  </a:srgbClr>
                </a:solidFill>
                <a:latin typeface="OPPOSans H"/>
                <a:ea typeface="OPPOSans H"/>
                <a:cs typeface="OPPOSans H"/>
              </a:rPr>
              <a:t>目 录</a:t>
            </a:r>
            <a:endParaRPr kumimoji="1" lang="zh-CN" altLang="en-US"/>
          </a:p>
        </p:txBody>
      </p:sp>
      <p:sp>
        <p:nvSpPr>
          <p:cNvPr id="7" name="标题 1"/>
          <p:cNvSpPr txBox="1"/>
          <p:nvPr/>
        </p:nvSpPr>
        <p:spPr>
          <a:xfrm>
            <a:off x="2107015" y="3113103"/>
            <a:ext cx="430887" cy="1979988"/>
          </a:xfrm>
          <a:prstGeom prst="rect">
            <a:avLst/>
          </a:prstGeom>
          <a:noFill/>
          <a:ln>
            <a:noFill/>
          </a:ln>
        </p:spPr>
        <p:txBody>
          <a:bodyPr vert="eaVert" wrap="square" lIns="0" tIns="0" rIns="0" bIns="0" rtlCol="0" anchor="ctr"/>
          <a:lstStyle/>
          <a:p>
            <a:pPr algn="dist">
              <a:lnSpc>
                <a:spcPct val="130000"/>
              </a:lnSpc>
            </a:pPr>
            <a:r>
              <a:rPr kumimoji="1" lang="en-US" altLang="zh-CN" sz="2800">
                <a:ln w="12700">
                  <a:noFill/>
                </a:ln>
                <a:solidFill>
                  <a:srgbClr val="3AB858">
                    <a:alpha val="100000"/>
                  </a:srgbClr>
                </a:solidFill>
                <a:latin typeface="OPPOSans L"/>
                <a:ea typeface="OPPOSans L"/>
                <a:cs typeface="OPPOSans L"/>
              </a:rPr>
              <a:t>CONTENTS</a:t>
            </a:r>
            <a:endParaRPr kumimoji="1" lang="zh-CN" altLang="en-US"/>
          </a:p>
        </p:txBody>
      </p:sp>
      <p:sp>
        <p:nvSpPr>
          <p:cNvPr id="8" name="标题 1"/>
          <p:cNvSpPr txBox="1"/>
          <p:nvPr/>
        </p:nvSpPr>
        <p:spPr>
          <a:xfrm rot="18900000" flipH="1">
            <a:off x="2165021" y="2650744"/>
            <a:ext cx="938498" cy="18000"/>
          </a:xfrm>
          <a:prstGeom prst="rect">
            <a:avLst/>
          </a:pr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rot="18900000" flipH="1">
            <a:off x="378021" y="4427490"/>
            <a:ext cx="938498" cy="18000"/>
          </a:xfrm>
          <a:prstGeom prst="rect">
            <a:avLst/>
          </a:pr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5153901" y="1403045"/>
            <a:ext cx="2427999" cy="787078"/>
          </a:xfrm>
          <a:prstGeom prst="rect">
            <a:avLst/>
          </a:prstGeom>
          <a:noFill/>
          <a:ln>
            <a:noFill/>
          </a:ln>
        </p:spPr>
        <p:txBody>
          <a:bodyPr vert="horz" wrap="square" lIns="0" tIns="0" rIns="0" bIns="0" rtlCol="0" anchor="ctr"/>
          <a:lstStyle/>
          <a:p>
            <a:pPr algn="l">
              <a:lnSpc>
                <a:spcPct val="130000"/>
              </a:lnSpc>
            </a:pPr>
            <a:r>
              <a:rPr kumimoji="1" lang="en-US" altLang="zh-CN" sz="1077">
                <a:ln w="12700">
                  <a:noFill/>
                </a:ln>
                <a:solidFill>
                  <a:srgbClr val="262626">
                    <a:alpha val="100000"/>
                  </a:srgbClr>
                </a:solidFill>
                <a:latin typeface="OPPOSans H"/>
                <a:ea typeface="OPPOSans H"/>
                <a:cs typeface="OPPOSans H"/>
              </a:rPr>
              <a:t>Phonetics and Phonological Systems: The Melody of Tones vs. the Rhythm of Stress</a:t>
            </a:r>
            <a:endParaRPr kumimoji="1" lang="zh-CN" altLang="en-US"/>
          </a:p>
        </p:txBody>
      </p:sp>
      <p:sp>
        <p:nvSpPr>
          <p:cNvPr id="11" name="标题 1"/>
          <p:cNvSpPr txBox="1"/>
          <p:nvPr/>
        </p:nvSpPr>
        <p:spPr>
          <a:xfrm>
            <a:off x="3806745" y="1527859"/>
            <a:ext cx="1165527" cy="532880"/>
          </a:xfrm>
          <a:prstGeom prst="rect">
            <a:avLst/>
          </a:prstGeom>
          <a:solidFill>
            <a:schemeClr val="accent1"/>
          </a:solidFill>
          <a:ln w="12700" cap="sq">
            <a:noFill/>
            <a:miter/>
          </a:ln>
        </p:spPr>
        <p:txBody>
          <a:bodyPr vert="horz" wrap="square" lIns="0" tIns="0" rIns="0" bIns="0" rtlCol="0" anchor="ctr"/>
          <a:lstStyle/>
          <a:p>
            <a:pPr algn="ctr">
              <a:lnSpc>
                <a:spcPct val="100000"/>
              </a:lnSpc>
            </a:pPr>
            <a:endParaRPr kumimoji="1" lang="zh-CN" altLang="en-US"/>
          </a:p>
        </p:txBody>
      </p:sp>
      <p:sp>
        <p:nvSpPr>
          <p:cNvPr id="12" name="标题 1"/>
          <p:cNvSpPr txBox="1"/>
          <p:nvPr/>
        </p:nvSpPr>
        <p:spPr>
          <a:xfrm>
            <a:off x="3755885" y="1466545"/>
            <a:ext cx="1306576" cy="642112"/>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R"/>
                <a:ea typeface="OPPOSans R"/>
                <a:cs typeface="OPPOSans R"/>
              </a:rPr>
              <a:t>01</a:t>
            </a:r>
            <a:endParaRPr kumimoji="1" lang="zh-CN" altLang="en-US"/>
          </a:p>
        </p:txBody>
      </p:sp>
      <p:sp>
        <p:nvSpPr>
          <p:cNvPr id="13" name="标题 1"/>
          <p:cNvSpPr txBox="1"/>
          <p:nvPr/>
        </p:nvSpPr>
        <p:spPr>
          <a:xfrm>
            <a:off x="5153901" y="2613127"/>
            <a:ext cx="2427999" cy="787078"/>
          </a:xfrm>
          <a:prstGeom prst="rect">
            <a:avLst/>
          </a:prstGeom>
          <a:noFill/>
          <a:ln>
            <a:noFill/>
          </a:ln>
        </p:spPr>
        <p:txBody>
          <a:bodyPr vert="horz" wrap="square" lIns="0" tIns="0" rIns="0" bIns="0" rtlCol="0" anchor="ctr"/>
          <a:lstStyle/>
          <a:p>
            <a:pPr algn="l">
              <a:lnSpc>
                <a:spcPct val="130000"/>
              </a:lnSpc>
            </a:pPr>
            <a:r>
              <a:rPr kumimoji="1" lang="en-US" altLang="zh-CN" sz="1077" dirty="0">
                <a:ln w="12700">
                  <a:noFill/>
                </a:ln>
                <a:solidFill>
                  <a:srgbClr val="262626">
                    <a:alpha val="100000"/>
                  </a:srgbClr>
                </a:solidFill>
                <a:latin typeface="OPPOSans H"/>
                <a:ea typeface="OPPOSans H"/>
                <a:cs typeface="OPPOSans H"/>
              </a:rPr>
              <a:t>Core Syntactic Structures: Morphological Simplicity/Complexity and Logical Explicitness/Implicitness</a:t>
            </a:r>
            <a:endParaRPr kumimoji="1" lang="zh-CN" altLang="en-US" dirty="0"/>
          </a:p>
        </p:txBody>
      </p:sp>
      <p:sp>
        <p:nvSpPr>
          <p:cNvPr id="14" name="标题 1"/>
          <p:cNvSpPr txBox="1"/>
          <p:nvPr/>
        </p:nvSpPr>
        <p:spPr>
          <a:xfrm>
            <a:off x="3806745" y="2737941"/>
            <a:ext cx="1165527" cy="532880"/>
          </a:xfrm>
          <a:prstGeom prst="rect">
            <a:avLst/>
          </a:prstGeom>
          <a:solidFill>
            <a:schemeClr val="accent1"/>
          </a:solidFill>
          <a:ln w="12700" cap="sq">
            <a:noFill/>
            <a:miter/>
          </a:ln>
        </p:spPr>
        <p:txBody>
          <a:bodyPr vert="horz" wrap="square" lIns="0" tIns="0" rIns="0" bIns="0" rtlCol="0" anchor="ctr"/>
          <a:lstStyle/>
          <a:p>
            <a:pPr algn="ctr">
              <a:lnSpc>
                <a:spcPct val="100000"/>
              </a:lnSpc>
            </a:pPr>
            <a:endParaRPr kumimoji="1" lang="zh-CN" altLang="en-US"/>
          </a:p>
        </p:txBody>
      </p:sp>
      <p:sp>
        <p:nvSpPr>
          <p:cNvPr id="15" name="标题 1"/>
          <p:cNvSpPr txBox="1"/>
          <p:nvPr/>
        </p:nvSpPr>
        <p:spPr>
          <a:xfrm>
            <a:off x="3755885" y="2676627"/>
            <a:ext cx="1306576" cy="642112"/>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R"/>
                <a:ea typeface="OPPOSans R"/>
                <a:cs typeface="OPPOSans R"/>
              </a:rPr>
              <a:t>03</a:t>
            </a:r>
            <a:endParaRPr kumimoji="1" lang="zh-CN" altLang="en-US"/>
          </a:p>
        </p:txBody>
      </p:sp>
      <p:sp>
        <p:nvSpPr>
          <p:cNvPr id="16" name="标题 1"/>
          <p:cNvSpPr txBox="1"/>
          <p:nvPr/>
        </p:nvSpPr>
        <p:spPr>
          <a:xfrm>
            <a:off x="5153901" y="3823209"/>
            <a:ext cx="2427999" cy="787078"/>
          </a:xfrm>
          <a:prstGeom prst="rect">
            <a:avLst/>
          </a:prstGeom>
          <a:noFill/>
          <a:ln>
            <a:noFill/>
          </a:ln>
        </p:spPr>
        <p:txBody>
          <a:bodyPr vert="horz" wrap="square" lIns="0" tIns="0" rIns="0" bIns="0" rtlCol="0" anchor="ctr"/>
          <a:lstStyle/>
          <a:p>
            <a:pPr algn="l">
              <a:lnSpc>
                <a:spcPct val="130000"/>
              </a:lnSpc>
            </a:pPr>
            <a:r>
              <a:rPr kumimoji="1" lang="en-US" altLang="zh-CN" sz="1077" dirty="0">
                <a:ln w="12700">
                  <a:noFill/>
                </a:ln>
                <a:solidFill>
                  <a:srgbClr val="262626">
                    <a:alpha val="100000"/>
                  </a:srgbClr>
                </a:solidFill>
                <a:latin typeface="OPPOSans H"/>
                <a:ea typeface="OPPOSans H"/>
                <a:cs typeface="OPPOSans H"/>
              </a:rPr>
              <a:t>Discourse Construction and Cohesion Mechanisms: Chain Morphology and Structural Progression</a:t>
            </a:r>
            <a:endParaRPr kumimoji="1" lang="zh-CN" altLang="en-US" dirty="0"/>
          </a:p>
        </p:txBody>
      </p:sp>
      <p:sp>
        <p:nvSpPr>
          <p:cNvPr id="17" name="标题 1"/>
          <p:cNvSpPr txBox="1"/>
          <p:nvPr/>
        </p:nvSpPr>
        <p:spPr>
          <a:xfrm>
            <a:off x="3806745" y="3948023"/>
            <a:ext cx="1165527" cy="532880"/>
          </a:xfrm>
          <a:prstGeom prst="rect">
            <a:avLst/>
          </a:prstGeom>
          <a:solidFill>
            <a:schemeClr val="accent1"/>
          </a:solidFill>
          <a:ln w="12700" cap="sq">
            <a:noFill/>
            <a:miter/>
          </a:ln>
        </p:spPr>
        <p:txBody>
          <a:bodyPr vert="horz" wrap="square" lIns="0" tIns="0" rIns="0" bIns="0" rtlCol="0" anchor="ctr"/>
          <a:lstStyle/>
          <a:p>
            <a:pPr algn="ctr">
              <a:lnSpc>
                <a:spcPct val="100000"/>
              </a:lnSpc>
            </a:pPr>
            <a:endParaRPr kumimoji="1" lang="zh-CN" altLang="en-US"/>
          </a:p>
        </p:txBody>
      </p:sp>
      <p:sp>
        <p:nvSpPr>
          <p:cNvPr id="18" name="标题 1"/>
          <p:cNvSpPr txBox="1"/>
          <p:nvPr/>
        </p:nvSpPr>
        <p:spPr>
          <a:xfrm>
            <a:off x="3755885" y="3886709"/>
            <a:ext cx="1306576" cy="642112"/>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R"/>
                <a:ea typeface="OPPOSans R"/>
                <a:cs typeface="OPPOSans R"/>
              </a:rPr>
              <a:t>05</a:t>
            </a:r>
            <a:endParaRPr kumimoji="1" lang="zh-CN" altLang="en-US"/>
          </a:p>
        </p:txBody>
      </p:sp>
      <p:sp>
        <p:nvSpPr>
          <p:cNvPr id="22" name="标题 1"/>
          <p:cNvSpPr txBox="1"/>
          <p:nvPr/>
        </p:nvSpPr>
        <p:spPr>
          <a:xfrm>
            <a:off x="9590796" y="1403045"/>
            <a:ext cx="2427999" cy="787078"/>
          </a:xfrm>
          <a:prstGeom prst="rect">
            <a:avLst/>
          </a:prstGeom>
          <a:noFill/>
          <a:ln>
            <a:noFill/>
          </a:ln>
        </p:spPr>
        <p:txBody>
          <a:bodyPr vert="horz" wrap="square" lIns="0" tIns="0" rIns="0" bIns="0" rtlCol="0" anchor="ctr"/>
          <a:lstStyle/>
          <a:p>
            <a:pPr algn="l">
              <a:lnSpc>
                <a:spcPct val="130000"/>
              </a:lnSpc>
            </a:pPr>
            <a:r>
              <a:rPr kumimoji="1" lang="en-US" altLang="zh-CN" sz="1077">
                <a:ln w="12700">
                  <a:noFill/>
                </a:ln>
                <a:solidFill>
                  <a:srgbClr val="262626">
                    <a:alpha val="100000"/>
                  </a:srgbClr>
                </a:solidFill>
                <a:latin typeface="OPPOSans H"/>
                <a:ea typeface="OPPOSans H"/>
                <a:cs typeface="OPPOSans H"/>
              </a:rPr>
              <a:t>Writing Systems and Cognitive Processing: Unity of Meaning and Sound vs. Mapping of Sound and Form</a:t>
            </a:r>
            <a:endParaRPr kumimoji="1" lang="zh-CN" altLang="en-US"/>
          </a:p>
        </p:txBody>
      </p:sp>
      <p:sp>
        <p:nvSpPr>
          <p:cNvPr id="23" name="标题 1"/>
          <p:cNvSpPr txBox="1"/>
          <p:nvPr/>
        </p:nvSpPr>
        <p:spPr>
          <a:xfrm>
            <a:off x="8243640" y="1527859"/>
            <a:ext cx="1165527" cy="532880"/>
          </a:xfrm>
          <a:prstGeom prst="rect">
            <a:avLst/>
          </a:prstGeom>
          <a:solidFill>
            <a:schemeClr val="accent1"/>
          </a:solidFill>
          <a:ln w="12700" cap="sq">
            <a:noFill/>
            <a:miter/>
          </a:ln>
        </p:spPr>
        <p:txBody>
          <a:bodyPr vert="horz" wrap="square" lIns="0" tIns="0" rIns="0" bIns="0" rtlCol="0" anchor="ctr"/>
          <a:lstStyle/>
          <a:p>
            <a:pPr algn="ctr">
              <a:lnSpc>
                <a:spcPct val="100000"/>
              </a:lnSpc>
            </a:pPr>
            <a:endParaRPr kumimoji="1" lang="zh-CN" altLang="en-US"/>
          </a:p>
        </p:txBody>
      </p:sp>
      <p:sp>
        <p:nvSpPr>
          <p:cNvPr id="24" name="标题 1"/>
          <p:cNvSpPr txBox="1"/>
          <p:nvPr/>
        </p:nvSpPr>
        <p:spPr>
          <a:xfrm>
            <a:off x="8192780" y="1466545"/>
            <a:ext cx="1306576" cy="642112"/>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R"/>
                <a:ea typeface="OPPOSans R"/>
                <a:cs typeface="OPPOSans R"/>
              </a:rPr>
              <a:t>02</a:t>
            </a:r>
            <a:endParaRPr kumimoji="1" lang="zh-CN" altLang="en-US"/>
          </a:p>
        </p:txBody>
      </p:sp>
      <p:sp>
        <p:nvSpPr>
          <p:cNvPr id="25" name="标题 1"/>
          <p:cNvSpPr txBox="1"/>
          <p:nvPr/>
        </p:nvSpPr>
        <p:spPr>
          <a:xfrm>
            <a:off x="9590796" y="2613127"/>
            <a:ext cx="2427999" cy="787078"/>
          </a:xfrm>
          <a:prstGeom prst="rect">
            <a:avLst/>
          </a:prstGeom>
          <a:noFill/>
          <a:ln>
            <a:noFill/>
          </a:ln>
        </p:spPr>
        <p:txBody>
          <a:bodyPr vert="horz" wrap="square" lIns="0" tIns="0" rIns="0" bIns="0" rtlCol="0" anchor="ctr"/>
          <a:lstStyle/>
          <a:p>
            <a:pPr algn="l">
              <a:lnSpc>
                <a:spcPct val="130000"/>
              </a:lnSpc>
            </a:pPr>
            <a:r>
              <a:rPr kumimoji="1" lang="en-US" altLang="zh-CN" sz="1077">
                <a:ln w="12700">
                  <a:noFill/>
                </a:ln>
                <a:solidFill>
                  <a:srgbClr val="262626">
                    <a:alpha val="100000"/>
                  </a:srgbClr>
                </a:solidFill>
                <a:latin typeface="OPPOSans H"/>
                <a:ea typeface="OPPOSans H"/>
                <a:cs typeface="OPPOSans H"/>
              </a:rPr>
              <a:t>Lexical Systems and Semantic Expression: Categorization Boundaries and Metaphorical Mappings</a:t>
            </a:r>
            <a:endParaRPr kumimoji="1" lang="zh-CN" altLang="en-US"/>
          </a:p>
        </p:txBody>
      </p:sp>
      <p:sp>
        <p:nvSpPr>
          <p:cNvPr id="26" name="标题 1"/>
          <p:cNvSpPr txBox="1"/>
          <p:nvPr/>
        </p:nvSpPr>
        <p:spPr>
          <a:xfrm>
            <a:off x="8243640" y="2737941"/>
            <a:ext cx="1165527" cy="532880"/>
          </a:xfrm>
          <a:prstGeom prst="rect">
            <a:avLst/>
          </a:prstGeom>
          <a:solidFill>
            <a:schemeClr val="accent1"/>
          </a:solidFill>
          <a:ln w="12700" cap="sq">
            <a:noFill/>
            <a:miter/>
          </a:ln>
        </p:spPr>
        <p:txBody>
          <a:bodyPr vert="horz" wrap="square" lIns="0" tIns="0" rIns="0" bIns="0" rtlCol="0" anchor="ctr"/>
          <a:lstStyle/>
          <a:p>
            <a:pPr algn="ctr">
              <a:lnSpc>
                <a:spcPct val="100000"/>
              </a:lnSpc>
            </a:pPr>
            <a:endParaRPr kumimoji="1" lang="zh-CN" altLang="en-US"/>
          </a:p>
        </p:txBody>
      </p:sp>
      <p:sp>
        <p:nvSpPr>
          <p:cNvPr id="27" name="标题 1"/>
          <p:cNvSpPr txBox="1"/>
          <p:nvPr/>
        </p:nvSpPr>
        <p:spPr>
          <a:xfrm>
            <a:off x="8192780" y="2676627"/>
            <a:ext cx="1306576" cy="642112"/>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R"/>
                <a:ea typeface="OPPOSans R"/>
                <a:cs typeface="OPPOSans R"/>
              </a:rPr>
              <a:t>04</a:t>
            </a:r>
            <a:endParaRPr kumimoji="1" lang="zh-CN" altLang="en-US"/>
          </a:p>
        </p:txBody>
      </p:sp>
      <p:sp>
        <p:nvSpPr>
          <p:cNvPr id="28" name="标题 1"/>
          <p:cNvSpPr txBox="1"/>
          <p:nvPr/>
        </p:nvSpPr>
        <p:spPr>
          <a:xfrm>
            <a:off x="9590796" y="3823209"/>
            <a:ext cx="2427999" cy="787078"/>
          </a:xfrm>
          <a:prstGeom prst="rect">
            <a:avLst/>
          </a:prstGeom>
          <a:noFill/>
          <a:ln>
            <a:noFill/>
          </a:ln>
        </p:spPr>
        <p:txBody>
          <a:bodyPr vert="horz" wrap="square" lIns="0" tIns="0" rIns="0" bIns="0" rtlCol="0" anchor="ctr"/>
          <a:lstStyle/>
          <a:p>
            <a:pPr algn="l">
              <a:lnSpc>
                <a:spcPct val="130000"/>
              </a:lnSpc>
            </a:pPr>
            <a:r>
              <a:rPr kumimoji="1" lang="en-US" altLang="zh-CN" sz="1077">
                <a:ln w="12700">
                  <a:noFill/>
                </a:ln>
                <a:solidFill>
                  <a:srgbClr val="262626">
                    <a:alpha val="100000"/>
                  </a:srgbClr>
                </a:solidFill>
                <a:latin typeface="OPPOSans H"/>
                <a:ea typeface="OPPOSans H"/>
                <a:cs typeface="OPPOSans H"/>
              </a:rPr>
              <a:t>Pragmatic Principles and Cultural Interaction: Face Maintenance and Communicative Strategies</a:t>
            </a:r>
            <a:endParaRPr kumimoji="1" lang="zh-CN" altLang="en-US"/>
          </a:p>
        </p:txBody>
      </p:sp>
      <p:sp>
        <p:nvSpPr>
          <p:cNvPr id="29" name="标题 1"/>
          <p:cNvSpPr txBox="1"/>
          <p:nvPr/>
        </p:nvSpPr>
        <p:spPr>
          <a:xfrm>
            <a:off x="8243640" y="3948023"/>
            <a:ext cx="1165527" cy="532880"/>
          </a:xfrm>
          <a:prstGeom prst="rect">
            <a:avLst/>
          </a:prstGeom>
          <a:solidFill>
            <a:schemeClr val="accent1"/>
          </a:solidFill>
          <a:ln w="12700" cap="sq">
            <a:noFill/>
            <a:miter/>
          </a:ln>
        </p:spPr>
        <p:txBody>
          <a:bodyPr vert="horz" wrap="square" lIns="0" tIns="0" rIns="0" bIns="0" rtlCol="0" anchor="ctr"/>
          <a:lstStyle/>
          <a:p>
            <a:pPr algn="ctr">
              <a:lnSpc>
                <a:spcPct val="100000"/>
              </a:lnSpc>
            </a:pPr>
            <a:endParaRPr kumimoji="1" lang="zh-CN" altLang="en-US"/>
          </a:p>
        </p:txBody>
      </p:sp>
      <p:sp>
        <p:nvSpPr>
          <p:cNvPr id="30" name="标题 1"/>
          <p:cNvSpPr txBox="1"/>
          <p:nvPr/>
        </p:nvSpPr>
        <p:spPr>
          <a:xfrm>
            <a:off x="8192780" y="3886709"/>
            <a:ext cx="1306576" cy="642112"/>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R"/>
                <a:ea typeface="OPPOSans R"/>
                <a:cs typeface="OPPOSans R"/>
              </a:rPr>
              <a:t>06</a:t>
            </a: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a:stretch>
            <a:fillRect/>
          </a:stretch>
        </p:blipFill>
        <p:spPr>
          <a:xfrm>
            <a:off x="0" y="0"/>
            <a:ext cx="12192000" cy="6857999"/>
          </a:xfrm>
          <a:prstGeom prst="rect">
            <a:avLst/>
          </a:prstGeom>
          <a:noFill/>
          <a:ln>
            <a:noFill/>
          </a:ln>
        </p:spPr>
      </p:pic>
      <p:sp>
        <p:nvSpPr>
          <p:cNvPr id="3" name="标题 1"/>
          <p:cNvSpPr txBox="1"/>
          <p:nvPr/>
        </p:nvSpPr>
        <p:spPr>
          <a:xfrm>
            <a:off x="249"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855302" y="0"/>
            <a:ext cx="1756865" cy="6858000"/>
          </a:xfrm>
          <a:custGeom>
            <a:avLst/>
            <a:gdLst>
              <a:gd name="connsiteX0" fmla="*/ 542835 w 1756865"/>
              <a:gd name="connsiteY0" fmla="*/ 0 h 6858000"/>
              <a:gd name="connsiteX1" fmla="*/ 0 w 1756865"/>
              <a:gd name="connsiteY1" fmla="*/ 0 h 6858000"/>
              <a:gd name="connsiteX2" fmla="*/ 1214030 w 1756865"/>
              <a:gd name="connsiteY2" fmla="*/ 3429000 h 6858000"/>
              <a:gd name="connsiteX3" fmla="*/ 0 w 1756865"/>
              <a:gd name="connsiteY3" fmla="*/ 6858000 h 6858000"/>
              <a:gd name="connsiteX4" fmla="*/ 542835 w 1756865"/>
              <a:gd name="connsiteY4" fmla="*/ 6858000 h 6858000"/>
              <a:gd name="connsiteX5" fmla="*/ 1756865 w 1756865"/>
              <a:gd name="connsiteY5" fmla="*/ 3429000 h 6858000"/>
            </a:gdLst>
            <a:ahLst/>
            <a:cxnLst/>
            <a:rect l="l" t="t" r="r" b="b"/>
            <a:pathLst>
              <a:path w="1756865" h="6858000">
                <a:moveTo>
                  <a:pt x="542835" y="0"/>
                </a:moveTo>
                <a:lnTo>
                  <a:pt x="0" y="0"/>
                </a:lnTo>
                <a:lnTo>
                  <a:pt x="1214030" y="3429000"/>
                </a:lnTo>
                <a:lnTo>
                  <a:pt x="0" y="6858000"/>
                </a:lnTo>
                <a:lnTo>
                  <a:pt x="542835" y="6858000"/>
                </a:lnTo>
                <a:lnTo>
                  <a:pt x="1756865"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291326" y="2214879"/>
            <a:ext cx="3884281" cy="1239520"/>
          </a:xfrm>
          <a:prstGeom prst="rect">
            <a:avLst/>
          </a:prstGeom>
          <a:noFill/>
          <a:ln>
            <a:noFill/>
          </a:ln>
        </p:spPr>
        <p:txBody>
          <a:bodyPr vert="horz" wrap="square" lIns="91440" tIns="45720" rIns="91440" bIns="45720" rtlCol="0" anchor="b"/>
          <a:lstStyle/>
          <a:p>
            <a:pPr algn="r">
              <a:lnSpc>
                <a:spcPct val="110000"/>
              </a:lnSpc>
            </a:pPr>
            <a:r>
              <a:rPr kumimoji="1" lang="en-US" altLang="zh-CN" sz="8800">
                <a:ln w="12700">
                  <a:noFill/>
                </a:ln>
                <a:solidFill>
                  <a:srgbClr val="3AB858">
                    <a:alpha val="100000"/>
                  </a:srgbClr>
                </a:solidFill>
                <a:latin typeface="Source Han Sans CN Regular"/>
                <a:ea typeface="Source Han Sans CN Regular"/>
                <a:cs typeface="Source Han Sans CN Regular"/>
              </a:rPr>
              <a:t>PART-</a:t>
            </a:r>
            <a:endParaRPr kumimoji="1" lang="zh-CN" altLang="en-US"/>
          </a:p>
        </p:txBody>
      </p:sp>
      <p:sp>
        <p:nvSpPr>
          <p:cNvPr id="6" name="标题 1"/>
          <p:cNvSpPr txBox="1"/>
          <p:nvPr/>
        </p:nvSpPr>
        <p:spPr>
          <a:xfrm>
            <a:off x="4874992" y="3345541"/>
            <a:ext cx="6836531" cy="2628398"/>
          </a:xfrm>
          <a:prstGeom prst="rect">
            <a:avLst/>
          </a:prstGeom>
          <a:noFill/>
          <a:ln>
            <a:noFill/>
          </a:ln>
        </p:spPr>
        <p:txBody>
          <a:bodyPr vert="horz" wrap="square" lIns="91440" tIns="45720" rIns="91440" bIns="45720" rtlCol="0" anchor="t"/>
          <a:lstStyle/>
          <a:p>
            <a:pPr algn="r">
              <a:lnSpc>
                <a:spcPct val="130000"/>
              </a:lnSpc>
            </a:pPr>
            <a:r>
              <a:rPr kumimoji="1" lang="en-US" altLang="zh-CN" sz="3855">
                <a:ln w="12700">
                  <a:noFill/>
                </a:ln>
                <a:solidFill>
                  <a:srgbClr val="262626">
                    <a:alpha val="100000"/>
                  </a:srgbClr>
                </a:solidFill>
                <a:latin typeface="Source Han Sans CN Regular"/>
                <a:ea typeface="Source Han Sans CN Regular"/>
                <a:cs typeface="Source Han Sans CN Regular"/>
              </a:rPr>
              <a:t>Phonetics and Phonological Systems: The Melody of Tones vs. the Rhythm of Stress</a:t>
            </a:r>
            <a:endParaRPr kumimoji="1" lang="zh-CN" altLang="en-US"/>
          </a:p>
        </p:txBody>
      </p:sp>
      <p:sp>
        <p:nvSpPr>
          <p:cNvPr id="7" name="标题 1"/>
          <p:cNvSpPr txBox="1"/>
          <p:nvPr/>
        </p:nvSpPr>
        <p:spPr>
          <a:xfrm>
            <a:off x="249"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flipH="1" flipV="1">
            <a:off x="3704707" y="0"/>
            <a:ext cx="2761198" cy="2380343"/>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flipH="1">
            <a:off x="3679488" y="5549312"/>
            <a:ext cx="1568586" cy="1352230"/>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9570379" y="994769"/>
            <a:ext cx="1805213" cy="251200"/>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flipH="1" flipV="1">
            <a:off x="4010813" y="190324"/>
            <a:ext cx="1998550" cy="1722888"/>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flipH="1">
            <a:off x="3815204" y="5760064"/>
            <a:ext cx="1247088" cy="1075076"/>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rot="19442050" flipH="1">
            <a:off x="11694617" y="-191671"/>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rot="2157950" flipH="1" flipV="1">
            <a:off x="11694617" y="6115222"/>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263329" y="0"/>
            <a:ext cx="1966034" cy="6858000"/>
          </a:xfrm>
          <a:custGeom>
            <a:avLst/>
            <a:gdLst>
              <a:gd name="connsiteX0" fmla="*/ 838730 w 1966034"/>
              <a:gd name="connsiteY0" fmla="*/ 0 h 6858000"/>
              <a:gd name="connsiteX1" fmla="*/ 0 w 1966034"/>
              <a:gd name="connsiteY1" fmla="*/ 0 h 6858000"/>
              <a:gd name="connsiteX2" fmla="*/ 1127304 w 1966034"/>
              <a:gd name="connsiteY2" fmla="*/ 3498566 h 6858000"/>
              <a:gd name="connsiteX3" fmla="*/ 44831 w 1966034"/>
              <a:gd name="connsiteY3" fmla="*/ 6858000 h 6858000"/>
              <a:gd name="connsiteX4" fmla="*/ 883561 w 1966034"/>
              <a:gd name="connsiteY4" fmla="*/ 6858000 h 6858000"/>
              <a:gd name="connsiteX5" fmla="*/ 1966034 w 1966034"/>
              <a:gd name="connsiteY5" fmla="*/ 3498566 h 6858000"/>
            </a:gdLst>
            <a:ahLst/>
            <a:cxnLst/>
            <a:rect l="l" t="t" r="r" b="b"/>
            <a:pathLst>
              <a:path w="1966034" h="6858000">
                <a:moveTo>
                  <a:pt x="838730" y="0"/>
                </a:moveTo>
                <a:lnTo>
                  <a:pt x="0" y="0"/>
                </a:lnTo>
                <a:lnTo>
                  <a:pt x="1127304" y="3498566"/>
                </a:lnTo>
                <a:lnTo>
                  <a:pt x="44831" y="6858000"/>
                </a:lnTo>
                <a:lnTo>
                  <a:pt x="883561" y="6858000"/>
                </a:lnTo>
                <a:lnTo>
                  <a:pt x="1966034" y="3498566"/>
                </a:lnTo>
                <a:close/>
              </a:path>
            </a:pathLst>
          </a:cu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331847" y="1622220"/>
            <a:ext cx="2483357" cy="3592635"/>
          </a:xfrm>
          <a:prstGeom prst="chevron">
            <a:avLst>
              <a:gd name="adj" fmla="val 25606"/>
            </a:avLst>
          </a:prstGeom>
          <a:solidFill>
            <a:schemeClr val="accent1">
              <a:lumMod val="40000"/>
              <a:lumOff val="60000"/>
              <a:alpha val="50000"/>
            </a:schemeClr>
          </a:solidFill>
          <a:ln w="12700" cap="sq">
            <a:solidFill>
              <a:schemeClr val="accent1">
                <a:lumMod val="40000"/>
                <a:lumOff val="60000"/>
              </a:schemeClr>
            </a:solidFill>
            <a:miter/>
          </a:ln>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250" y="657455"/>
            <a:ext cx="981260" cy="5543093"/>
          </a:xfrm>
          <a:custGeom>
            <a:avLst/>
            <a:gdLst>
              <a:gd name="connsiteX0" fmla="*/ 0 w 981260"/>
              <a:gd name="connsiteY0" fmla="*/ 0 h 5543093"/>
              <a:gd name="connsiteX1" fmla="*/ 0 w 981260"/>
              <a:gd name="connsiteY1" fmla="*/ 532939 h 5543093"/>
              <a:gd name="connsiteX2" fmla="*/ 792574 w 981260"/>
              <a:gd name="connsiteY2" fmla="*/ 2771546 h 5543093"/>
              <a:gd name="connsiteX3" fmla="*/ 0 w 981260"/>
              <a:gd name="connsiteY3" fmla="*/ 5010154 h 5543093"/>
              <a:gd name="connsiteX4" fmla="*/ 0 w 981260"/>
              <a:gd name="connsiteY4" fmla="*/ 5543093 h 5543093"/>
              <a:gd name="connsiteX5" fmla="*/ 981260 w 981260"/>
              <a:gd name="connsiteY5" fmla="*/ 2771546 h 5543093"/>
            </a:gdLst>
            <a:ahLst/>
            <a:cxnLst/>
            <a:rect l="l" t="t" r="r" b="b"/>
            <a:pathLst>
              <a:path w="981260" h="5543093">
                <a:moveTo>
                  <a:pt x="0" y="0"/>
                </a:moveTo>
                <a:lnTo>
                  <a:pt x="0" y="532939"/>
                </a:lnTo>
                <a:lnTo>
                  <a:pt x="792574" y="2771546"/>
                </a:lnTo>
                <a:lnTo>
                  <a:pt x="0" y="5010154"/>
                </a:lnTo>
                <a:lnTo>
                  <a:pt x="0" y="5543093"/>
                </a:lnTo>
                <a:lnTo>
                  <a:pt x="981260" y="2771546"/>
                </a:lnTo>
                <a:close/>
              </a:path>
            </a:pathLst>
          </a:custGeom>
          <a:solidFill>
            <a:schemeClr val="accent1">
              <a:lumMod val="40000"/>
              <a:lumOff val="6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250" y="0"/>
            <a:ext cx="1473292" cy="6858000"/>
          </a:xfrm>
          <a:custGeom>
            <a:avLst/>
            <a:gdLst>
              <a:gd name="connsiteX0" fmla="*/ 259262 w 1473292"/>
              <a:gd name="connsiteY0" fmla="*/ 0 h 6858000"/>
              <a:gd name="connsiteX1" fmla="*/ 0 w 1473292"/>
              <a:gd name="connsiteY1" fmla="*/ 0 h 6858000"/>
              <a:gd name="connsiteX2" fmla="*/ 0 w 1473292"/>
              <a:gd name="connsiteY2" fmla="*/ 800946 h 6858000"/>
              <a:gd name="connsiteX3" fmla="*/ 930457 w 1473292"/>
              <a:gd name="connsiteY3" fmla="*/ 3429000 h 6858000"/>
              <a:gd name="connsiteX4" fmla="*/ 0 w 1473292"/>
              <a:gd name="connsiteY4" fmla="*/ 6057055 h 6858000"/>
              <a:gd name="connsiteX5" fmla="*/ 0 w 1473292"/>
              <a:gd name="connsiteY5" fmla="*/ 6858000 h 6858000"/>
              <a:gd name="connsiteX6" fmla="*/ 259262 w 1473292"/>
              <a:gd name="connsiteY6" fmla="*/ 6858000 h 6858000"/>
              <a:gd name="connsiteX7" fmla="*/ 1473292 w 1473292"/>
              <a:gd name="connsiteY7" fmla="*/ 3429000 h 6858000"/>
            </a:gdLst>
            <a:ahLst/>
            <a:cxnLst/>
            <a:rect l="l" t="t" r="r" b="b"/>
            <a:pathLst>
              <a:path w="1473292" h="6858000">
                <a:moveTo>
                  <a:pt x="259262" y="0"/>
                </a:moveTo>
                <a:lnTo>
                  <a:pt x="0" y="0"/>
                </a:lnTo>
                <a:lnTo>
                  <a:pt x="0" y="800946"/>
                </a:lnTo>
                <a:lnTo>
                  <a:pt x="930457" y="3429000"/>
                </a:lnTo>
                <a:lnTo>
                  <a:pt x="0" y="6057055"/>
                </a:lnTo>
                <a:lnTo>
                  <a:pt x="0" y="6858000"/>
                </a:lnTo>
                <a:lnTo>
                  <a:pt x="259262" y="6858000"/>
                </a:lnTo>
                <a:lnTo>
                  <a:pt x="1473292"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9528580" y="657455"/>
            <a:ext cx="2182943" cy="2796944"/>
          </a:xfrm>
          <a:prstGeom prst="rect">
            <a:avLst/>
          </a:prstGeom>
          <a:noFill/>
          <a:ln>
            <a:noFill/>
          </a:ln>
        </p:spPr>
        <p:txBody>
          <a:bodyPr vert="horz" wrap="square" lIns="91440" tIns="45720" rIns="91440" bIns="45720" rtlCol="0" anchor="b"/>
          <a:lstStyle/>
          <a:p>
            <a:pPr algn="r">
              <a:lnSpc>
                <a:spcPct val="110000"/>
              </a:lnSpc>
            </a:pPr>
            <a:r>
              <a:rPr kumimoji="1" lang="en-US" altLang="zh-CN" sz="8800">
                <a:ln w="12700">
                  <a:noFill/>
                </a:ln>
                <a:solidFill>
                  <a:srgbClr val="3AB858">
                    <a:alpha val="100000"/>
                  </a:srgbClr>
                </a:solidFill>
                <a:latin typeface="Source Han Sans CN Regular"/>
                <a:ea typeface="Source Han Sans CN Regular"/>
                <a:cs typeface="Source Han Sans CN Regular"/>
              </a:rPr>
              <a:t>01</a:t>
            </a:r>
            <a:endParaRPr kumimoji="1"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1"/>
            <a:ext cx="12192000" cy="6858000"/>
          </a:xfrm>
          <a:prstGeom prst="rect">
            <a:avLst/>
          </a:pr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970154" y="1674393"/>
            <a:ext cx="3105000" cy="4140000"/>
          </a:xfrm>
          <a:prstGeom prst="roundRect">
            <a:avLst>
              <a:gd name="adj" fmla="val 6196"/>
            </a:avLst>
          </a:prstGeom>
          <a:solidFill>
            <a:schemeClr val="bg1"/>
          </a:solidFill>
          <a:ln cap="sq">
            <a:noFill/>
            <a:prstDash val="solid"/>
            <a:miter/>
          </a:ln>
          <a:effectLst>
            <a:outerShdw blurRad="175260" dist="73025" algn="l" rotWithShape="0">
              <a:schemeClr val="accent1">
                <a:alpha val="20000"/>
              </a:schemeClr>
            </a:outerShdw>
          </a:effectLst>
        </p:spPr>
        <p:txBody>
          <a:bodyPr vert="horz" wrap="square" lIns="105156" tIns="52578" rIns="105156" bIns="52578" rtlCol="0" anchor="ctr"/>
          <a:lstStyle/>
          <a:p>
            <a:pPr algn="ctr">
              <a:lnSpc>
                <a:spcPct val="110000"/>
              </a:lnSpc>
            </a:pPr>
            <a:endParaRPr kumimoji="1" lang="zh-CN" altLang="en-US"/>
          </a:p>
        </p:txBody>
      </p:sp>
      <p:sp>
        <p:nvSpPr>
          <p:cNvPr id="4" name="标题 1"/>
          <p:cNvSpPr txBox="1"/>
          <p:nvPr/>
        </p:nvSpPr>
        <p:spPr>
          <a:xfrm>
            <a:off x="1163396" y="1881391"/>
            <a:ext cx="2718516" cy="1449000"/>
          </a:xfrm>
          <a:prstGeom prst="roundRect">
            <a:avLst>
              <a:gd name="adj" fmla="val 16667"/>
            </a:avLst>
          </a:prstGeom>
          <a:solidFill>
            <a:schemeClr val="accent1"/>
          </a:solidFill>
          <a:ln cap="sq">
            <a:noFill/>
            <a:prstDash val="solid"/>
            <a:miter/>
          </a:ln>
          <a:effectLst/>
        </p:spPr>
        <p:txBody>
          <a:bodyPr vert="horz" wrap="square" lIns="105156" tIns="52578" rIns="105156" bIns="52578" rtlCol="0" anchor="ctr"/>
          <a:lstStyle/>
          <a:p>
            <a:pPr algn="ctr">
              <a:lnSpc>
                <a:spcPct val="110000"/>
              </a:lnSpc>
            </a:pPr>
            <a:endParaRPr kumimoji="1" lang="zh-CN" altLang="en-US"/>
          </a:p>
        </p:txBody>
      </p:sp>
      <p:sp>
        <p:nvSpPr>
          <p:cNvPr id="5" name="标题 1"/>
          <p:cNvSpPr txBox="1"/>
          <p:nvPr/>
        </p:nvSpPr>
        <p:spPr>
          <a:xfrm>
            <a:off x="2299823" y="3093113"/>
            <a:ext cx="445663" cy="447120"/>
          </a:xfrm>
          <a:prstGeom prst="ellipse">
            <a:avLst/>
          </a:prstGeom>
          <a:solidFill>
            <a:schemeClr val="accent1"/>
          </a:solidFill>
          <a:ln w="25400" cap="sq">
            <a:solidFill>
              <a:schemeClr val="bg1"/>
            </a:solidFill>
            <a:miter/>
          </a:ln>
          <a:effectLst>
            <a:outerShdw blurRad="146050" algn="ctr" rotWithShape="0">
              <a:schemeClr val="accent1">
                <a:alpha val="15000"/>
              </a:schemeClr>
            </a:outerShdw>
          </a:effectLst>
        </p:spPr>
        <p:txBody>
          <a:bodyPr vert="horz" wrap="square" lIns="105156" tIns="52578" rIns="105156" bIns="52578" rtlCol="0" anchor="ctr"/>
          <a:lstStyle/>
          <a:p>
            <a:pPr algn="ctr">
              <a:lnSpc>
                <a:spcPct val="110000"/>
              </a:lnSpc>
            </a:pPr>
            <a:endParaRPr kumimoji="1" lang="zh-CN" altLang="en-US"/>
          </a:p>
        </p:txBody>
      </p:sp>
      <p:sp>
        <p:nvSpPr>
          <p:cNvPr id="6" name="标题 1"/>
          <p:cNvSpPr txBox="1"/>
          <p:nvPr/>
        </p:nvSpPr>
        <p:spPr>
          <a:xfrm rot="5400000">
            <a:off x="2442986" y="3208288"/>
            <a:ext cx="159337" cy="216768"/>
          </a:xfrm>
          <a:prstGeom prst="chevron">
            <a:avLst>
              <a:gd name="adj" fmla="val 59091"/>
            </a:avLst>
          </a:prstGeom>
          <a:solidFill>
            <a:schemeClr val="bg1"/>
          </a:solidFill>
          <a:ln w="12700" cap="sq">
            <a:noFill/>
            <a:miter/>
          </a:ln>
          <a:effectLst/>
        </p:spPr>
        <p:txBody>
          <a:bodyPr vert="horz" wrap="square" lIns="105156" tIns="52578" rIns="105156" bIns="52578" rtlCol="0" anchor="ctr"/>
          <a:lstStyle/>
          <a:p>
            <a:pPr algn="ctr">
              <a:lnSpc>
                <a:spcPct val="110000"/>
              </a:lnSpc>
            </a:pPr>
            <a:endParaRPr kumimoji="1" lang="zh-CN" altLang="en-US"/>
          </a:p>
        </p:txBody>
      </p:sp>
      <p:sp>
        <p:nvSpPr>
          <p:cNvPr id="7" name="标题 1"/>
          <p:cNvSpPr txBox="1"/>
          <p:nvPr/>
        </p:nvSpPr>
        <p:spPr>
          <a:xfrm>
            <a:off x="1223665" y="3642792"/>
            <a:ext cx="2597978" cy="1939211"/>
          </a:xfrm>
          <a:prstGeom prst="rect">
            <a:avLst/>
          </a:prstGeom>
          <a:noFill/>
          <a:ln>
            <a:noFill/>
          </a:ln>
          <a:effectLst/>
        </p:spPr>
        <p:txBody>
          <a:bodyPr vert="horz" wrap="square" lIns="0" tIns="52578" rIns="0" bIns="52578" rtlCol="0" anchor="t"/>
          <a:lstStyle/>
          <a:p>
            <a:pPr algn="ctr">
              <a:lnSpc>
                <a:spcPct val="150000"/>
              </a:lnSpc>
            </a:pPr>
            <a:r>
              <a:rPr kumimoji="1" lang="en-US" altLang="zh-CN" sz="966">
                <a:ln w="12700">
                  <a:noFill/>
                </a:ln>
                <a:solidFill>
                  <a:srgbClr val="000000">
                    <a:alpha val="100000"/>
                  </a:srgbClr>
                </a:solidFill>
                <a:latin typeface="Source Han Sans"/>
                <a:ea typeface="Source Han Sans"/>
                <a:cs typeface="Source Han Sans"/>
              </a:rPr>
              <a:t>Chinese is a tonal language with four basic tones and a neutral tone. Tones are essential for distinguishing meanings of syllables with identical consonants and vowels.
English is a stress language where word and sentence rhythm is determined by stress patterns. Stress involves pitch prominence, increased duration, and greater intensity.</a:t>
            </a:r>
            <a:endParaRPr kumimoji="1" lang="zh-CN" altLang="en-US"/>
          </a:p>
        </p:txBody>
      </p:sp>
      <p:sp>
        <p:nvSpPr>
          <p:cNvPr id="8" name="标题 1"/>
          <p:cNvSpPr txBox="1"/>
          <p:nvPr/>
        </p:nvSpPr>
        <p:spPr>
          <a:xfrm>
            <a:off x="2372900" y="1797861"/>
            <a:ext cx="1532365" cy="1628174"/>
          </a:xfrm>
          <a:custGeom>
            <a:avLst/>
            <a:gdLst>
              <a:gd name="connsiteX0" fmla="*/ 0 w 907291"/>
              <a:gd name="connsiteY0" fmla="*/ 0 h 1133322"/>
              <a:gd name="connsiteX1" fmla="*/ 817189 w 907291"/>
              <a:gd name="connsiteY1" fmla="*/ 0 h 1133322"/>
              <a:gd name="connsiteX2" fmla="*/ 907291 w 907291"/>
              <a:gd name="connsiteY2" fmla="*/ 90102 h 1133322"/>
              <a:gd name="connsiteX3" fmla="*/ 907291 w 907291"/>
              <a:gd name="connsiteY3" fmla="*/ 1133322 h 1133322"/>
              <a:gd name="connsiteX4" fmla="*/ 887139 w 907291"/>
              <a:gd name="connsiteY4" fmla="*/ 1001282 h 1133322"/>
              <a:gd name="connsiteX5" fmla="*/ 94166 w 907291"/>
              <a:gd name="connsiteY5" fmla="*/ 34465 h 1133322"/>
              <a:gd name="connsiteX6" fmla="*/ 0 w 907291"/>
              <a:gd name="connsiteY6" fmla="*/ 0 h 1133322"/>
            </a:gdLst>
            <a:ahLst/>
            <a:cxnLst/>
            <a:rect l="l" t="t" r="r" b="b"/>
            <a:pathLst>
              <a:path w="907291" h="1133322">
                <a:moveTo>
                  <a:pt x="0" y="0"/>
                </a:moveTo>
                <a:lnTo>
                  <a:pt x="817189" y="0"/>
                </a:lnTo>
                <a:cubicBezTo>
                  <a:pt x="866951" y="0"/>
                  <a:pt x="907291" y="40340"/>
                  <a:pt x="907291" y="90102"/>
                </a:cubicBezTo>
                <a:lnTo>
                  <a:pt x="907291" y="1133322"/>
                </a:lnTo>
                <a:lnTo>
                  <a:pt x="887139" y="1001282"/>
                </a:lnTo>
                <a:cubicBezTo>
                  <a:pt x="797688" y="564143"/>
                  <a:pt x="495859" y="204367"/>
                  <a:pt x="94166" y="34465"/>
                </a:cubicBezTo>
                <a:lnTo>
                  <a:pt x="0" y="0"/>
                </a:lnTo>
                <a:close/>
              </a:path>
            </a:pathLst>
          </a:custGeom>
          <a:solidFill>
            <a:schemeClr val="bg1">
              <a:alpha val="20000"/>
            </a:schemeClr>
          </a:solidFill>
          <a:ln cap="sq">
            <a:noFill/>
            <a:prstDash val="solid"/>
            <a:miter/>
          </a:ln>
          <a:effectLst/>
        </p:spPr>
        <p:txBody>
          <a:bodyPr vert="horz" wrap="square" lIns="105156" tIns="52578" rIns="105156" bIns="52578" rtlCol="0" anchor="ctr"/>
          <a:lstStyle/>
          <a:p>
            <a:pPr algn="ctr">
              <a:lnSpc>
                <a:spcPct val="110000"/>
              </a:lnSpc>
            </a:pPr>
            <a:endParaRPr kumimoji="1" lang="zh-CN" altLang="en-US"/>
          </a:p>
        </p:txBody>
      </p:sp>
      <p:sp>
        <p:nvSpPr>
          <p:cNvPr id="9" name="标题 1"/>
          <p:cNvSpPr txBox="1"/>
          <p:nvPr/>
        </p:nvSpPr>
        <p:spPr>
          <a:xfrm>
            <a:off x="2870264" y="1858974"/>
            <a:ext cx="1035001" cy="978693"/>
          </a:xfrm>
          <a:custGeom>
            <a:avLst/>
            <a:gdLst>
              <a:gd name="connsiteX0" fmla="*/ 0 w 907291"/>
              <a:gd name="connsiteY0" fmla="*/ 0 h 1133322"/>
              <a:gd name="connsiteX1" fmla="*/ 817189 w 907291"/>
              <a:gd name="connsiteY1" fmla="*/ 0 h 1133322"/>
              <a:gd name="connsiteX2" fmla="*/ 907291 w 907291"/>
              <a:gd name="connsiteY2" fmla="*/ 90102 h 1133322"/>
              <a:gd name="connsiteX3" fmla="*/ 907291 w 907291"/>
              <a:gd name="connsiteY3" fmla="*/ 1133322 h 1133322"/>
              <a:gd name="connsiteX4" fmla="*/ 887139 w 907291"/>
              <a:gd name="connsiteY4" fmla="*/ 1001282 h 1133322"/>
              <a:gd name="connsiteX5" fmla="*/ 94166 w 907291"/>
              <a:gd name="connsiteY5" fmla="*/ 34465 h 1133322"/>
              <a:gd name="connsiteX6" fmla="*/ 0 w 907291"/>
              <a:gd name="connsiteY6" fmla="*/ 0 h 1133322"/>
            </a:gdLst>
            <a:ahLst/>
            <a:cxnLst/>
            <a:rect l="l" t="t" r="r" b="b"/>
            <a:pathLst>
              <a:path w="907291" h="1133322">
                <a:moveTo>
                  <a:pt x="0" y="0"/>
                </a:moveTo>
                <a:lnTo>
                  <a:pt x="817189" y="0"/>
                </a:lnTo>
                <a:cubicBezTo>
                  <a:pt x="866951" y="0"/>
                  <a:pt x="907291" y="40340"/>
                  <a:pt x="907291" y="90102"/>
                </a:cubicBezTo>
                <a:lnTo>
                  <a:pt x="907291" y="1133322"/>
                </a:lnTo>
                <a:lnTo>
                  <a:pt x="887139" y="1001282"/>
                </a:lnTo>
                <a:cubicBezTo>
                  <a:pt x="797688" y="564143"/>
                  <a:pt x="495859" y="204367"/>
                  <a:pt x="94166" y="34465"/>
                </a:cubicBezTo>
                <a:lnTo>
                  <a:pt x="0" y="0"/>
                </a:lnTo>
                <a:close/>
              </a:path>
            </a:pathLst>
          </a:custGeom>
          <a:solidFill>
            <a:schemeClr val="bg1">
              <a:alpha val="10000"/>
            </a:schemeClr>
          </a:solidFill>
          <a:ln cap="sq">
            <a:noFill/>
            <a:prstDash val="solid"/>
            <a:miter/>
          </a:ln>
          <a:effectLst/>
        </p:spPr>
        <p:txBody>
          <a:bodyPr vert="horz" wrap="square" lIns="105156" tIns="52578" rIns="105156" bIns="52578" rtlCol="0" anchor="ctr"/>
          <a:lstStyle/>
          <a:p>
            <a:pPr algn="ctr">
              <a:lnSpc>
                <a:spcPct val="110000"/>
              </a:lnSpc>
            </a:pPr>
            <a:endParaRPr kumimoji="1" lang="zh-CN" altLang="en-US"/>
          </a:p>
        </p:txBody>
      </p:sp>
      <p:sp>
        <p:nvSpPr>
          <p:cNvPr id="10" name="标题 1"/>
          <p:cNvSpPr txBox="1"/>
          <p:nvPr/>
        </p:nvSpPr>
        <p:spPr>
          <a:xfrm>
            <a:off x="3367065" y="1887298"/>
            <a:ext cx="538200" cy="571850"/>
          </a:xfrm>
          <a:custGeom>
            <a:avLst/>
            <a:gdLst>
              <a:gd name="connsiteX0" fmla="*/ 0 w 907291"/>
              <a:gd name="connsiteY0" fmla="*/ 0 h 1133322"/>
              <a:gd name="connsiteX1" fmla="*/ 817189 w 907291"/>
              <a:gd name="connsiteY1" fmla="*/ 0 h 1133322"/>
              <a:gd name="connsiteX2" fmla="*/ 907291 w 907291"/>
              <a:gd name="connsiteY2" fmla="*/ 90102 h 1133322"/>
              <a:gd name="connsiteX3" fmla="*/ 907291 w 907291"/>
              <a:gd name="connsiteY3" fmla="*/ 1133322 h 1133322"/>
              <a:gd name="connsiteX4" fmla="*/ 887139 w 907291"/>
              <a:gd name="connsiteY4" fmla="*/ 1001282 h 1133322"/>
              <a:gd name="connsiteX5" fmla="*/ 94166 w 907291"/>
              <a:gd name="connsiteY5" fmla="*/ 34465 h 1133322"/>
              <a:gd name="connsiteX6" fmla="*/ 0 w 907291"/>
              <a:gd name="connsiteY6" fmla="*/ 0 h 1133322"/>
            </a:gdLst>
            <a:ahLst/>
            <a:cxnLst/>
            <a:rect l="l" t="t" r="r" b="b"/>
            <a:pathLst>
              <a:path w="907291" h="1133322">
                <a:moveTo>
                  <a:pt x="0" y="0"/>
                </a:moveTo>
                <a:lnTo>
                  <a:pt x="817189" y="0"/>
                </a:lnTo>
                <a:cubicBezTo>
                  <a:pt x="866951" y="0"/>
                  <a:pt x="907291" y="40340"/>
                  <a:pt x="907291" y="90102"/>
                </a:cubicBezTo>
                <a:lnTo>
                  <a:pt x="907291" y="1133322"/>
                </a:lnTo>
                <a:lnTo>
                  <a:pt x="887139" y="1001282"/>
                </a:lnTo>
                <a:cubicBezTo>
                  <a:pt x="797688" y="564143"/>
                  <a:pt x="495859" y="204367"/>
                  <a:pt x="94166" y="34465"/>
                </a:cubicBezTo>
                <a:lnTo>
                  <a:pt x="0" y="0"/>
                </a:lnTo>
                <a:close/>
              </a:path>
            </a:pathLst>
          </a:custGeom>
          <a:solidFill>
            <a:schemeClr val="bg1">
              <a:alpha val="10000"/>
            </a:schemeClr>
          </a:solidFill>
          <a:ln cap="sq">
            <a:noFill/>
            <a:prstDash val="solid"/>
            <a:miter/>
          </a:ln>
          <a:effectLst/>
        </p:spPr>
        <p:txBody>
          <a:bodyPr vert="horz" wrap="square" lIns="105156" tIns="52578" rIns="105156" bIns="52578" rtlCol="0" anchor="ctr"/>
          <a:lstStyle/>
          <a:p>
            <a:pPr algn="ctr">
              <a:lnSpc>
                <a:spcPct val="110000"/>
              </a:lnSpc>
            </a:pPr>
            <a:endParaRPr kumimoji="1" lang="zh-CN" altLang="en-US"/>
          </a:p>
        </p:txBody>
      </p:sp>
      <p:sp>
        <p:nvSpPr>
          <p:cNvPr id="11" name="标题 1"/>
          <p:cNvSpPr txBox="1"/>
          <p:nvPr/>
        </p:nvSpPr>
        <p:spPr>
          <a:xfrm>
            <a:off x="4533007" y="1674393"/>
            <a:ext cx="3105000" cy="4140000"/>
          </a:xfrm>
          <a:prstGeom prst="roundRect">
            <a:avLst>
              <a:gd name="adj" fmla="val 6196"/>
            </a:avLst>
          </a:prstGeom>
          <a:solidFill>
            <a:schemeClr val="bg1"/>
          </a:solidFill>
          <a:ln cap="sq">
            <a:noFill/>
            <a:prstDash val="solid"/>
            <a:miter/>
          </a:ln>
          <a:effectLst>
            <a:outerShdw blurRad="175260" dist="73025" algn="l" rotWithShape="0">
              <a:schemeClr val="accent1">
                <a:alpha val="20000"/>
              </a:schemeClr>
            </a:outerShdw>
          </a:effectLst>
        </p:spPr>
        <p:txBody>
          <a:bodyPr vert="horz" wrap="square" lIns="105156" tIns="52578" rIns="105156" bIns="52578" rtlCol="0" anchor="ctr"/>
          <a:lstStyle/>
          <a:p>
            <a:pPr algn="ctr">
              <a:lnSpc>
                <a:spcPct val="110000"/>
              </a:lnSpc>
            </a:pPr>
            <a:endParaRPr kumimoji="1" lang="zh-CN" altLang="en-US"/>
          </a:p>
        </p:txBody>
      </p:sp>
      <p:sp>
        <p:nvSpPr>
          <p:cNvPr id="12" name="标题 1"/>
          <p:cNvSpPr txBox="1"/>
          <p:nvPr/>
        </p:nvSpPr>
        <p:spPr>
          <a:xfrm>
            <a:off x="4726249" y="1881391"/>
            <a:ext cx="2718516" cy="1449000"/>
          </a:xfrm>
          <a:prstGeom prst="roundRect">
            <a:avLst>
              <a:gd name="adj" fmla="val 16667"/>
            </a:avLst>
          </a:prstGeom>
          <a:solidFill>
            <a:schemeClr val="accent1"/>
          </a:solidFill>
          <a:ln cap="sq">
            <a:noFill/>
            <a:prstDash val="solid"/>
            <a:miter/>
          </a:ln>
          <a:effectLst/>
        </p:spPr>
        <p:txBody>
          <a:bodyPr vert="horz" wrap="square" lIns="105156" tIns="52578" rIns="105156" bIns="52578" rtlCol="0" anchor="ctr"/>
          <a:lstStyle/>
          <a:p>
            <a:pPr algn="ctr">
              <a:lnSpc>
                <a:spcPct val="110000"/>
              </a:lnSpc>
            </a:pPr>
            <a:endParaRPr kumimoji="1" lang="zh-CN" altLang="en-US"/>
          </a:p>
        </p:txBody>
      </p:sp>
      <p:sp>
        <p:nvSpPr>
          <p:cNvPr id="13" name="标题 1"/>
          <p:cNvSpPr txBox="1"/>
          <p:nvPr/>
        </p:nvSpPr>
        <p:spPr>
          <a:xfrm>
            <a:off x="4826000" y="2102334"/>
            <a:ext cx="2550087" cy="860660"/>
          </a:xfrm>
          <a:prstGeom prst="rect">
            <a:avLst/>
          </a:prstGeom>
          <a:noFill/>
          <a:ln>
            <a:noFill/>
          </a:ln>
          <a:effectLst/>
        </p:spPr>
        <p:txBody>
          <a:bodyPr vert="horz" wrap="square" lIns="105156" tIns="52578" rIns="105156" bIns="52578" rtlCol="0" anchor="ctr"/>
          <a:lstStyle/>
          <a:p>
            <a:pPr algn="ct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Cognitive Processing of Tones and Stress</a:t>
            </a:r>
            <a:endParaRPr kumimoji="1" lang="zh-CN" altLang="en-US"/>
          </a:p>
        </p:txBody>
      </p:sp>
      <p:sp>
        <p:nvSpPr>
          <p:cNvPr id="14" name="标题 1"/>
          <p:cNvSpPr txBox="1"/>
          <p:nvPr/>
        </p:nvSpPr>
        <p:spPr>
          <a:xfrm>
            <a:off x="5854304" y="3093113"/>
            <a:ext cx="445663" cy="447120"/>
          </a:xfrm>
          <a:prstGeom prst="ellipse">
            <a:avLst/>
          </a:prstGeom>
          <a:solidFill>
            <a:schemeClr val="accent1"/>
          </a:solidFill>
          <a:ln w="25400" cap="sq">
            <a:solidFill>
              <a:schemeClr val="bg1"/>
            </a:solidFill>
            <a:miter/>
          </a:ln>
          <a:effectLst>
            <a:outerShdw blurRad="146050" algn="ctr" rotWithShape="0">
              <a:schemeClr val="accent1">
                <a:alpha val="15000"/>
              </a:schemeClr>
            </a:outerShdw>
          </a:effectLst>
        </p:spPr>
        <p:txBody>
          <a:bodyPr vert="horz" wrap="square" lIns="105156" tIns="52578" rIns="105156" bIns="52578" rtlCol="0" anchor="ctr"/>
          <a:lstStyle/>
          <a:p>
            <a:pPr algn="ctr">
              <a:lnSpc>
                <a:spcPct val="110000"/>
              </a:lnSpc>
            </a:pPr>
            <a:endParaRPr kumimoji="1" lang="zh-CN" altLang="en-US"/>
          </a:p>
        </p:txBody>
      </p:sp>
      <p:sp>
        <p:nvSpPr>
          <p:cNvPr id="15" name="标题 1"/>
          <p:cNvSpPr txBox="1"/>
          <p:nvPr/>
        </p:nvSpPr>
        <p:spPr>
          <a:xfrm rot="5400000">
            <a:off x="5997467" y="3208288"/>
            <a:ext cx="159337" cy="216768"/>
          </a:xfrm>
          <a:prstGeom prst="chevron">
            <a:avLst>
              <a:gd name="adj" fmla="val 59091"/>
            </a:avLst>
          </a:prstGeom>
          <a:solidFill>
            <a:schemeClr val="bg1"/>
          </a:solidFill>
          <a:ln w="12700" cap="sq">
            <a:noFill/>
            <a:miter/>
          </a:ln>
          <a:effectLst/>
        </p:spPr>
        <p:txBody>
          <a:bodyPr vert="horz" wrap="square" lIns="105156" tIns="52578" rIns="105156" bIns="52578" rtlCol="0" anchor="ctr"/>
          <a:lstStyle/>
          <a:p>
            <a:pPr algn="ctr">
              <a:lnSpc>
                <a:spcPct val="110000"/>
              </a:lnSpc>
            </a:pPr>
            <a:endParaRPr kumimoji="1" lang="zh-CN" altLang="en-US"/>
          </a:p>
        </p:txBody>
      </p:sp>
      <p:sp>
        <p:nvSpPr>
          <p:cNvPr id="16" name="标题 1"/>
          <p:cNvSpPr txBox="1"/>
          <p:nvPr/>
        </p:nvSpPr>
        <p:spPr>
          <a:xfrm>
            <a:off x="5945398" y="1797861"/>
            <a:ext cx="1532365" cy="1628174"/>
          </a:xfrm>
          <a:custGeom>
            <a:avLst/>
            <a:gdLst>
              <a:gd name="connsiteX0" fmla="*/ 0 w 907291"/>
              <a:gd name="connsiteY0" fmla="*/ 0 h 1133322"/>
              <a:gd name="connsiteX1" fmla="*/ 817189 w 907291"/>
              <a:gd name="connsiteY1" fmla="*/ 0 h 1133322"/>
              <a:gd name="connsiteX2" fmla="*/ 907291 w 907291"/>
              <a:gd name="connsiteY2" fmla="*/ 90102 h 1133322"/>
              <a:gd name="connsiteX3" fmla="*/ 907291 w 907291"/>
              <a:gd name="connsiteY3" fmla="*/ 1133322 h 1133322"/>
              <a:gd name="connsiteX4" fmla="*/ 887139 w 907291"/>
              <a:gd name="connsiteY4" fmla="*/ 1001282 h 1133322"/>
              <a:gd name="connsiteX5" fmla="*/ 94166 w 907291"/>
              <a:gd name="connsiteY5" fmla="*/ 34465 h 1133322"/>
              <a:gd name="connsiteX6" fmla="*/ 0 w 907291"/>
              <a:gd name="connsiteY6" fmla="*/ 0 h 1133322"/>
            </a:gdLst>
            <a:ahLst/>
            <a:cxnLst/>
            <a:rect l="l" t="t" r="r" b="b"/>
            <a:pathLst>
              <a:path w="907291" h="1133322">
                <a:moveTo>
                  <a:pt x="0" y="0"/>
                </a:moveTo>
                <a:lnTo>
                  <a:pt x="817189" y="0"/>
                </a:lnTo>
                <a:cubicBezTo>
                  <a:pt x="866951" y="0"/>
                  <a:pt x="907291" y="40340"/>
                  <a:pt x="907291" y="90102"/>
                </a:cubicBezTo>
                <a:lnTo>
                  <a:pt x="907291" y="1133322"/>
                </a:lnTo>
                <a:lnTo>
                  <a:pt x="887139" y="1001282"/>
                </a:lnTo>
                <a:cubicBezTo>
                  <a:pt x="797688" y="564143"/>
                  <a:pt x="495859" y="204367"/>
                  <a:pt x="94166" y="34465"/>
                </a:cubicBezTo>
                <a:lnTo>
                  <a:pt x="0" y="0"/>
                </a:lnTo>
                <a:close/>
              </a:path>
            </a:pathLst>
          </a:custGeom>
          <a:solidFill>
            <a:schemeClr val="bg1">
              <a:alpha val="20000"/>
            </a:schemeClr>
          </a:solidFill>
          <a:ln cap="sq">
            <a:noFill/>
            <a:prstDash val="solid"/>
            <a:miter/>
          </a:ln>
          <a:effectLst/>
        </p:spPr>
        <p:txBody>
          <a:bodyPr vert="horz" wrap="square" lIns="105156" tIns="52578" rIns="105156" bIns="52578" rtlCol="0" anchor="ctr"/>
          <a:lstStyle/>
          <a:p>
            <a:pPr algn="ctr">
              <a:lnSpc>
                <a:spcPct val="110000"/>
              </a:lnSpc>
            </a:pPr>
            <a:endParaRPr kumimoji="1" lang="zh-CN" altLang="en-US"/>
          </a:p>
        </p:txBody>
      </p:sp>
      <p:sp>
        <p:nvSpPr>
          <p:cNvPr id="17" name="标题 1"/>
          <p:cNvSpPr txBox="1"/>
          <p:nvPr/>
        </p:nvSpPr>
        <p:spPr>
          <a:xfrm>
            <a:off x="6410923" y="1858974"/>
            <a:ext cx="1035001" cy="978693"/>
          </a:xfrm>
          <a:custGeom>
            <a:avLst/>
            <a:gdLst>
              <a:gd name="connsiteX0" fmla="*/ 0 w 907291"/>
              <a:gd name="connsiteY0" fmla="*/ 0 h 1133322"/>
              <a:gd name="connsiteX1" fmla="*/ 817189 w 907291"/>
              <a:gd name="connsiteY1" fmla="*/ 0 h 1133322"/>
              <a:gd name="connsiteX2" fmla="*/ 907291 w 907291"/>
              <a:gd name="connsiteY2" fmla="*/ 90102 h 1133322"/>
              <a:gd name="connsiteX3" fmla="*/ 907291 w 907291"/>
              <a:gd name="connsiteY3" fmla="*/ 1133322 h 1133322"/>
              <a:gd name="connsiteX4" fmla="*/ 887139 w 907291"/>
              <a:gd name="connsiteY4" fmla="*/ 1001282 h 1133322"/>
              <a:gd name="connsiteX5" fmla="*/ 94166 w 907291"/>
              <a:gd name="connsiteY5" fmla="*/ 34465 h 1133322"/>
              <a:gd name="connsiteX6" fmla="*/ 0 w 907291"/>
              <a:gd name="connsiteY6" fmla="*/ 0 h 1133322"/>
            </a:gdLst>
            <a:ahLst/>
            <a:cxnLst/>
            <a:rect l="l" t="t" r="r" b="b"/>
            <a:pathLst>
              <a:path w="907291" h="1133322">
                <a:moveTo>
                  <a:pt x="0" y="0"/>
                </a:moveTo>
                <a:lnTo>
                  <a:pt x="817189" y="0"/>
                </a:lnTo>
                <a:cubicBezTo>
                  <a:pt x="866951" y="0"/>
                  <a:pt x="907291" y="40340"/>
                  <a:pt x="907291" y="90102"/>
                </a:cubicBezTo>
                <a:lnTo>
                  <a:pt x="907291" y="1133322"/>
                </a:lnTo>
                <a:lnTo>
                  <a:pt x="887139" y="1001282"/>
                </a:lnTo>
                <a:cubicBezTo>
                  <a:pt x="797688" y="564143"/>
                  <a:pt x="495859" y="204367"/>
                  <a:pt x="94166" y="34465"/>
                </a:cubicBezTo>
                <a:lnTo>
                  <a:pt x="0" y="0"/>
                </a:lnTo>
                <a:close/>
              </a:path>
            </a:pathLst>
          </a:custGeom>
          <a:solidFill>
            <a:schemeClr val="bg1">
              <a:alpha val="10000"/>
            </a:schemeClr>
          </a:solidFill>
          <a:ln cap="sq">
            <a:noFill/>
            <a:prstDash val="solid"/>
            <a:miter/>
          </a:ln>
          <a:effectLst/>
        </p:spPr>
        <p:txBody>
          <a:bodyPr vert="horz" wrap="square" lIns="105156" tIns="52578" rIns="105156" bIns="52578" rtlCol="0" anchor="ctr"/>
          <a:lstStyle/>
          <a:p>
            <a:pPr algn="ctr">
              <a:lnSpc>
                <a:spcPct val="110000"/>
              </a:lnSpc>
            </a:pPr>
            <a:endParaRPr kumimoji="1" lang="zh-CN" altLang="en-US"/>
          </a:p>
        </p:txBody>
      </p:sp>
      <p:sp>
        <p:nvSpPr>
          <p:cNvPr id="18" name="标题 1"/>
          <p:cNvSpPr txBox="1"/>
          <p:nvPr/>
        </p:nvSpPr>
        <p:spPr>
          <a:xfrm>
            <a:off x="6907722" y="1887298"/>
            <a:ext cx="538200" cy="571850"/>
          </a:xfrm>
          <a:custGeom>
            <a:avLst/>
            <a:gdLst>
              <a:gd name="connsiteX0" fmla="*/ 0 w 907291"/>
              <a:gd name="connsiteY0" fmla="*/ 0 h 1133322"/>
              <a:gd name="connsiteX1" fmla="*/ 817189 w 907291"/>
              <a:gd name="connsiteY1" fmla="*/ 0 h 1133322"/>
              <a:gd name="connsiteX2" fmla="*/ 907291 w 907291"/>
              <a:gd name="connsiteY2" fmla="*/ 90102 h 1133322"/>
              <a:gd name="connsiteX3" fmla="*/ 907291 w 907291"/>
              <a:gd name="connsiteY3" fmla="*/ 1133322 h 1133322"/>
              <a:gd name="connsiteX4" fmla="*/ 887139 w 907291"/>
              <a:gd name="connsiteY4" fmla="*/ 1001282 h 1133322"/>
              <a:gd name="connsiteX5" fmla="*/ 94166 w 907291"/>
              <a:gd name="connsiteY5" fmla="*/ 34465 h 1133322"/>
              <a:gd name="connsiteX6" fmla="*/ 0 w 907291"/>
              <a:gd name="connsiteY6" fmla="*/ 0 h 1133322"/>
            </a:gdLst>
            <a:ahLst/>
            <a:cxnLst/>
            <a:rect l="l" t="t" r="r" b="b"/>
            <a:pathLst>
              <a:path w="907291" h="1133322">
                <a:moveTo>
                  <a:pt x="0" y="0"/>
                </a:moveTo>
                <a:lnTo>
                  <a:pt x="817189" y="0"/>
                </a:lnTo>
                <a:cubicBezTo>
                  <a:pt x="866951" y="0"/>
                  <a:pt x="907291" y="40340"/>
                  <a:pt x="907291" y="90102"/>
                </a:cubicBezTo>
                <a:lnTo>
                  <a:pt x="907291" y="1133322"/>
                </a:lnTo>
                <a:lnTo>
                  <a:pt x="887139" y="1001282"/>
                </a:lnTo>
                <a:cubicBezTo>
                  <a:pt x="797688" y="564143"/>
                  <a:pt x="495859" y="204367"/>
                  <a:pt x="94166" y="34465"/>
                </a:cubicBezTo>
                <a:lnTo>
                  <a:pt x="0" y="0"/>
                </a:lnTo>
                <a:close/>
              </a:path>
            </a:pathLst>
          </a:custGeom>
          <a:solidFill>
            <a:schemeClr val="bg1">
              <a:alpha val="10000"/>
            </a:schemeClr>
          </a:solidFill>
          <a:ln w="12700" cap="sq">
            <a:noFill/>
            <a:miter/>
          </a:ln>
          <a:effectLst/>
        </p:spPr>
        <p:txBody>
          <a:bodyPr vert="horz" wrap="square" lIns="105156" tIns="52578" rIns="105156" bIns="52578" rtlCol="0" anchor="ctr"/>
          <a:lstStyle/>
          <a:p>
            <a:pPr algn="ctr">
              <a:lnSpc>
                <a:spcPct val="110000"/>
              </a:lnSpc>
            </a:pPr>
            <a:endParaRPr kumimoji="1" lang="zh-CN" altLang="en-US"/>
          </a:p>
        </p:txBody>
      </p:sp>
      <p:sp>
        <p:nvSpPr>
          <p:cNvPr id="19" name="标题 1"/>
          <p:cNvSpPr txBox="1"/>
          <p:nvPr/>
        </p:nvSpPr>
        <p:spPr>
          <a:xfrm>
            <a:off x="8095862" y="1674393"/>
            <a:ext cx="3105000" cy="4140000"/>
          </a:xfrm>
          <a:prstGeom prst="roundRect">
            <a:avLst>
              <a:gd name="adj" fmla="val 6196"/>
            </a:avLst>
          </a:prstGeom>
          <a:solidFill>
            <a:schemeClr val="bg1"/>
          </a:solidFill>
          <a:ln cap="sq">
            <a:noFill/>
            <a:prstDash val="solid"/>
            <a:miter/>
          </a:ln>
          <a:effectLst>
            <a:outerShdw blurRad="175260" dist="73025" algn="l" rotWithShape="0">
              <a:schemeClr val="accent1">
                <a:alpha val="20000"/>
              </a:schemeClr>
            </a:outerShdw>
          </a:effectLst>
        </p:spPr>
        <p:txBody>
          <a:bodyPr vert="horz" wrap="square" lIns="105156" tIns="52578" rIns="105156" bIns="52578" rtlCol="0" anchor="ctr"/>
          <a:lstStyle/>
          <a:p>
            <a:pPr algn="ctr">
              <a:lnSpc>
                <a:spcPct val="110000"/>
              </a:lnSpc>
            </a:pPr>
            <a:endParaRPr kumimoji="1" lang="zh-CN" altLang="en-US"/>
          </a:p>
        </p:txBody>
      </p:sp>
      <p:sp>
        <p:nvSpPr>
          <p:cNvPr id="20" name="标题 1"/>
          <p:cNvSpPr txBox="1"/>
          <p:nvPr/>
        </p:nvSpPr>
        <p:spPr>
          <a:xfrm>
            <a:off x="8289103" y="1881391"/>
            <a:ext cx="2718516" cy="1449000"/>
          </a:xfrm>
          <a:prstGeom prst="roundRect">
            <a:avLst>
              <a:gd name="adj" fmla="val 16667"/>
            </a:avLst>
          </a:prstGeom>
          <a:solidFill>
            <a:schemeClr val="accent1"/>
          </a:solidFill>
          <a:ln cap="sq">
            <a:noFill/>
            <a:prstDash val="solid"/>
            <a:miter/>
          </a:ln>
          <a:effectLst/>
        </p:spPr>
        <p:txBody>
          <a:bodyPr vert="horz" wrap="square" lIns="105156" tIns="52578" rIns="105156" bIns="52578" rtlCol="0" anchor="ctr"/>
          <a:lstStyle/>
          <a:p>
            <a:pPr algn="ctr">
              <a:lnSpc>
                <a:spcPct val="110000"/>
              </a:lnSpc>
            </a:pPr>
            <a:endParaRPr kumimoji="1" lang="zh-CN" altLang="en-US"/>
          </a:p>
        </p:txBody>
      </p:sp>
      <p:sp>
        <p:nvSpPr>
          <p:cNvPr id="21" name="标题 1"/>
          <p:cNvSpPr txBox="1"/>
          <p:nvPr/>
        </p:nvSpPr>
        <p:spPr>
          <a:xfrm>
            <a:off x="8369300" y="2102334"/>
            <a:ext cx="2569640" cy="860660"/>
          </a:xfrm>
          <a:prstGeom prst="rect">
            <a:avLst/>
          </a:prstGeom>
          <a:noFill/>
          <a:ln>
            <a:noFill/>
          </a:ln>
          <a:effectLst/>
        </p:spPr>
        <p:txBody>
          <a:bodyPr vert="horz" wrap="square" lIns="105156" tIns="52578" rIns="105156" bIns="52578" rtlCol="0" anchor="ctr"/>
          <a:lstStyle/>
          <a:p>
            <a:pPr algn="ct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Implications for L2 Acquisition</a:t>
            </a:r>
            <a:endParaRPr kumimoji="1" lang="zh-CN" altLang="en-US"/>
          </a:p>
        </p:txBody>
      </p:sp>
      <p:sp>
        <p:nvSpPr>
          <p:cNvPr id="22" name="标题 1"/>
          <p:cNvSpPr txBox="1"/>
          <p:nvPr/>
        </p:nvSpPr>
        <p:spPr>
          <a:xfrm>
            <a:off x="8373620" y="3642793"/>
            <a:ext cx="2549484" cy="1935682"/>
          </a:xfrm>
          <a:prstGeom prst="rect">
            <a:avLst/>
          </a:prstGeom>
          <a:noFill/>
          <a:ln>
            <a:noFill/>
          </a:ln>
          <a:effectLst/>
        </p:spPr>
        <p:txBody>
          <a:bodyPr vert="horz" wrap="square" lIns="0" tIns="52578" rIns="0" bIns="52578" rtlCol="0" anchor="t"/>
          <a:lstStyle/>
          <a:p>
            <a:pPr algn="ctr">
              <a:lnSpc>
                <a:spcPct val="150000"/>
              </a:lnSpc>
            </a:pPr>
            <a:r>
              <a:rPr kumimoji="1" lang="en-US" altLang="zh-CN" sz="1209">
                <a:ln w="12700">
                  <a:noFill/>
                </a:ln>
                <a:solidFill>
                  <a:srgbClr val="000000">
                    <a:alpha val="100000"/>
                  </a:srgbClr>
                </a:solidFill>
                <a:latin typeface="Source Han Sans"/>
                <a:ea typeface="Source Han Sans"/>
                <a:cs typeface="Source Han Sans"/>
              </a:rPr>
              <a:t>Chinese learners of English often struggle with English stress and rhythm patterns, using the syllable- timed rhythm of Chinese.
English learners of Chinese face challenges in mastering the tonal system, where tonal errors can cause semantic confusion.</a:t>
            </a:r>
            <a:endParaRPr kumimoji="1" lang="zh-CN" altLang="en-US"/>
          </a:p>
        </p:txBody>
      </p:sp>
      <p:sp>
        <p:nvSpPr>
          <p:cNvPr id="23" name="标题 1"/>
          <p:cNvSpPr txBox="1"/>
          <p:nvPr/>
        </p:nvSpPr>
        <p:spPr>
          <a:xfrm rot="5400000">
            <a:off x="9580758" y="3185259"/>
            <a:ext cx="159337" cy="216768"/>
          </a:xfrm>
          <a:prstGeom prst="chevron">
            <a:avLst>
              <a:gd name="adj" fmla="val 59091"/>
            </a:avLst>
          </a:prstGeom>
          <a:solidFill>
            <a:schemeClr val="bg1"/>
          </a:solidFill>
          <a:ln w="12700" cap="sq">
            <a:noFill/>
            <a:miter/>
          </a:ln>
          <a:effectLst/>
        </p:spPr>
        <p:txBody>
          <a:bodyPr vert="horz" wrap="square" lIns="105156" tIns="52578" rIns="105156" bIns="52578" rtlCol="0" anchor="ctr"/>
          <a:lstStyle/>
          <a:p>
            <a:pPr algn="ctr">
              <a:lnSpc>
                <a:spcPct val="110000"/>
              </a:lnSpc>
            </a:pPr>
            <a:endParaRPr kumimoji="1" lang="zh-CN" altLang="en-US"/>
          </a:p>
        </p:txBody>
      </p:sp>
      <p:sp>
        <p:nvSpPr>
          <p:cNvPr id="24" name="标题 1"/>
          <p:cNvSpPr txBox="1"/>
          <p:nvPr/>
        </p:nvSpPr>
        <p:spPr>
          <a:xfrm>
            <a:off x="9512888" y="1797861"/>
            <a:ext cx="1532365" cy="1628174"/>
          </a:xfrm>
          <a:custGeom>
            <a:avLst/>
            <a:gdLst>
              <a:gd name="connsiteX0" fmla="*/ 0 w 907291"/>
              <a:gd name="connsiteY0" fmla="*/ 0 h 1133322"/>
              <a:gd name="connsiteX1" fmla="*/ 817189 w 907291"/>
              <a:gd name="connsiteY1" fmla="*/ 0 h 1133322"/>
              <a:gd name="connsiteX2" fmla="*/ 907291 w 907291"/>
              <a:gd name="connsiteY2" fmla="*/ 90102 h 1133322"/>
              <a:gd name="connsiteX3" fmla="*/ 907291 w 907291"/>
              <a:gd name="connsiteY3" fmla="*/ 1133322 h 1133322"/>
              <a:gd name="connsiteX4" fmla="*/ 887139 w 907291"/>
              <a:gd name="connsiteY4" fmla="*/ 1001282 h 1133322"/>
              <a:gd name="connsiteX5" fmla="*/ 94166 w 907291"/>
              <a:gd name="connsiteY5" fmla="*/ 34465 h 1133322"/>
              <a:gd name="connsiteX6" fmla="*/ 0 w 907291"/>
              <a:gd name="connsiteY6" fmla="*/ 0 h 1133322"/>
            </a:gdLst>
            <a:ahLst/>
            <a:cxnLst/>
            <a:rect l="l" t="t" r="r" b="b"/>
            <a:pathLst>
              <a:path w="907291" h="1133322">
                <a:moveTo>
                  <a:pt x="0" y="0"/>
                </a:moveTo>
                <a:lnTo>
                  <a:pt x="817189" y="0"/>
                </a:lnTo>
                <a:cubicBezTo>
                  <a:pt x="866951" y="0"/>
                  <a:pt x="907291" y="40340"/>
                  <a:pt x="907291" y="90102"/>
                </a:cubicBezTo>
                <a:lnTo>
                  <a:pt x="907291" y="1133322"/>
                </a:lnTo>
                <a:lnTo>
                  <a:pt x="887139" y="1001282"/>
                </a:lnTo>
                <a:cubicBezTo>
                  <a:pt x="797688" y="564143"/>
                  <a:pt x="495859" y="204367"/>
                  <a:pt x="94166" y="34465"/>
                </a:cubicBezTo>
                <a:lnTo>
                  <a:pt x="0" y="0"/>
                </a:lnTo>
                <a:close/>
              </a:path>
            </a:pathLst>
          </a:custGeom>
          <a:solidFill>
            <a:schemeClr val="bg1">
              <a:alpha val="20000"/>
            </a:schemeClr>
          </a:solidFill>
          <a:ln cap="sq">
            <a:noFill/>
            <a:prstDash val="solid"/>
            <a:miter/>
          </a:ln>
          <a:effectLst/>
        </p:spPr>
        <p:txBody>
          <a:bodyPr vert="horz" wrap="square" lIns="105156" tIns="52578" rIns="105156" bIns="52578" rtlCol="0" anchor="ctr"/>
          <a:lstStyle/>
          <a:p>
            <a:pPr algn="ctr">
              <a:lnSpc>
                <a:spcPct val="110000"/>
              </a:lnSpc>
            </a:pPr>
            <a:endParaRPr kumimoji="1" lang="zh-CN" altLang="en-US"/>
          </a:p>
        </p:txBody>
      </p:sp>
      <p:sp>
        <p:nvSpPr>
          <p:cNvPr id="25" name="标题 1"/>
          <p:cNvSpPr txBox="1"/>
          <p:nvPr/>
        </p:nvSpPr>
        <p:spPr>
          <a:xfrm>
            <a:off x="9978412" y="1858974"/>
            <a:ext cx="1035001" cy="978693"/>
          </a:xfrm>
          <a:custGeom>
            <a:avLst/>
            <a:gdLst>
              <a:gd name="connsiteX0" fmla="*/ 0 w 907291"/>
              <a:gd name="connsiteY0" fmla="*/ 0 h 1133322"/>
              <a:gd name="connsiteX1" fmla="*/ 817189 w 907291"/>
              <a:gd name="connsiteY1" fmla="*/ 0 h 1133322"/>
              <a:gd name="connsiteX2" fmla="*/ 907291 w 907291"/>
              <a:gd name="connsiteY2" fmla="*/ 90102 h 1133322"/>
              <a:gd name="connsiteX3" fmla="*/ 907291 w 907291"/>
              <a:gd name="connsiteY3" fmla="*/ 1133322 h 1133322"/>
              <a:gd name="connsiteX4" fmla="*/ 887139 w 907291"/>
              <a:gd name="connsiteY4" fmla="*/ 1001282 h 1133322"/>
              <a:gd name="connsiteX5" fmla="*/ 94166 w 907291"/>
              <a:gd name="connsiteY5" fmla="*/ 34465 h 1133322"/>
              <a:gd name="connsiteX6" fmla="*/ 0 w 907291"/>
              <a:gd name="connsiteY6" fmla="*/ 0 h 1133322"/>
            </a:gdLst>
            <a:ahLst/>
            <a:cxnLst/>
            <a:rect l="l" t="t" r="r" b="b"/>
            <a:pathLst>
              <a:path w="907291" h="1133322">
                <a:moveTo>
                  <a:pt x="0" y="0"/>
                </a:moveTo>
                <a:lnTo>
                  <a:pt x="817189" y="0"/>
                </a:lnTo>
                <a:cubicBezTo>
                  <a:pt x="866951" y="0"/>
                  <a:pt x="907291" y="40340"/>
                  <a:pt x="907291" y="90102"/>
                </a:cubicBezTo>
                <a:lnTo>
                  <a:pt x="907291" y="1133322"/>
                </a:lnTo>
                <a:lnTo>
                  <a:pt x="887139" y="1001282"/>
                </a:lnTo>
                <a:cubicBezTo>
                  <a:pt x="797688" y="564143"/>
                  <a:pt x="495859" y="204367"/>
                  <a:pt x="94166" y="34465"/>
                </a:cubicBezTo>
                <a:lnTo>
                  <a:pt x="0" y="0"/>
                </a:lnTo>
                <a:close/>
              </a:path>
            </a:pathLst>
          </a:custGeom>
          <a:solidFill>
            <a:schemeClr val="bg1">
              <a:alpha val="10000"/>
            </a:schemeClr>
          </a:solidFill>
          <a:ln cap="sq">
            <a:noFill/>
            <a:prstDash val="solid"/>
            <a:miter/>
          </a:ln>
          <a:effectLst/>
        </p:spPr>
        <p:txBody>
          <a:bodyPr vert="horz" wrap="square" lIns="105156" tIns="52578" rIns="105156" bIns="52578" rtlCol="0" anchor="ctr"/>
          <a:lstStyle/>
          <a:p>
            <a:pPr algn="ctr">
              <a:lnSpc>
                <a:spcPct val="110000"/>
              </a:lnSpc>
            </a:pPr>
            <a:endParaRPr kumimoji="1" lang="zh-CN" altLang="en-US"/>
          </a:p>
        </p:txBody>
      </p:sp>
      <p:sp>
        <p:nvSpPr>
          <p:cNvPr id="26" name="标题 1"/>
          <p:cNvSpPr txBox="1"/>
          <p:nvPr/>
        </p:nvSpPr>
        <p:spPr>
          <a:xfrm>
            <a:off x="10475213" y="1887298"/>
            <a:ext cx="538200" cy="571850"/>
          </a:xfrm>
          <a:custGeom>
            <a:avLst/>
            <a:gdLst>
              <a:gd name="connsiteX0" fmla="*/ 0 w 907291"/>
              <a:gd name="connsiteY0" fmla="*/ 0 h 1133322"/>
              <a:gd name="connsiteX1" fmla="*/ 817189 w 907291"/>
              <a:gd name="connsiteY1" fmla="*/ 0 h 1133322"/>
              <a:gd name="connsiteX2" fmla="*/ 907291 w 907291"/>
              <a:gd name="connsiteY2" fmla="*/ 90102 h 1133322"/>
              <a:gd name="connsiteX3" fmla="*/ 907291 w 907291"/>
              <a:gd name="connsiteY3" fmla="*/ 1133322 h 1133322"/>
              <a:gd name="connsiteX4" fmla="*/ 887139 w 907291"/>
              <a:gd name="connsiteY4" fmla="*/ 1001282 h 1133322"/>
              <a:gd name="connsiteX5" fmla="*/ 94166 w 907291"/>
              <a:gd name="connsiteY5" fmla="*/ 34465 h 1133322"/>
              <a:gd name="connsiteX6" fmla="*/ 0 w 907291"/>
              <a:gd name="connsiteY6" fmla="*/ 0 h 1133322"/>
            </a:gdLst>
            <a:ahLst/>
            <a:cxnLst/>
            <a:rect l="l" t="t" r="r" b="b"/>
            <a:pathLst>
              <a:path w="907291" h="1133322">
                <a:moveTo>
                  <a:pt x="0" y="0"/>
                </a:moveTo>
                <a:lnTo>
                  <a:pt x="817189" y="0"/>
                </a:lnTo>
                <a:cubicBezTo>
                  <a:pt x="866951" y="0"/>
                  <a:pt x="907291" y="40340"/>
                  <a:pt x="907291" y="90102"/>
                </a:cubicBezTo>
                <a:lnTo>
                  <a:pt x="907291" y="1133322"/>
                </a:lnTo>
                <a:lnTo>
                  <a:pt x="887139" y="1001282"/>
                </a:lnTo>
                <a:cubicBezTo>
                  <a:pt x="797688" y="564143"/>
                  <a:pt x="495859" y="204367"/>
                  <a:pt x="94166" y="34465"/>
                </a:cubicBezTo>
                <a:lnTo>
                  <a:pt x="0" y="0"/>
                </a:lnTo>
                <a:close/>
              </a:path>
            </a:pathLst>
          </a:custGeom>
          <a:solidFill>
            <a:schemeClr val="bg1">
              <a:alpha val="10000"/>
            </a:schemeClr>
          </a:solidFill>
          <a:ln w="12700" cap="sq">
            <a:noFill/>
            <a:miter/>
          </a:ln>
          <a:effectLst/>
        </p:spPr>
        <p:txBody>
          <a:bodyPr vert="horz" wrap="square" lIns="105156" tIns="52578" rIns="105156" bIns="52578" rtlCol="0" anchor="ctr"/>
          <a:lstStyle/>
          <a:p>
            <a:pPr algn="ctr">
              <a:lnSpc>
                <a:spcPct val="110000"/>
              </a:lnSpc>
            </a:pPr>
            <a:endParaRPr kumimoji="1" lang="zh-CN" altLang="en-US"/>
          </a:p>
        </p:txBody>
      </p:sp>
      <p:sp>
        <p:nvSpPr>
          <p:cNvPr id="27" name="标题 1"/>
          <p:cNvSpPr txBox="1"/>
          <p:nvPr/>
        </p:nvSpPr>
        <p:spPr>
          <a:xfrm>
            <a:off x="1231900" y="2102334"/>
            <a:ext cx="2594033" cy="866526"/>
          </a:xfrm>
          <a:prstGeom prst="rect">
            <a:avLst/>
          </a:prstGeom>
          <a:noFill/>
          <a:ln>
            <a:noFill/>
          </a:ln>
          <a:effectLst/>
        </p:spPr>
        <p:txBody>
          <a:bodyPr vert="horz" wrap="square" lIns="105156" tIns="52578" rIns="105156" bIns="52578" rtlCol="0" anchor="ctr"/>
          <a:lstStyle/>
          <a:p>
            <a:pPr algn="ct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Nature of Tones and Stress</a:t>
            </a:r>
            <a:endParaRPr kumimoji="1" lang="zh-CN" altLang="en-US"/>
          </a:p>
        </p:txBody>
      </p:sp>
      <p:sp>
        <p:nvSpPr>
          <p:cNvPr id="28" name="标题 1"/>
          <p:cNvSpPr txBox="1"/>
          <p:nvPr/>
        </p:nvSpPr>
        <p:spPr>
          <a:xfrm>
            <a:off x="4808566" y="3642792"/>
            <a:ext cx="2553882" cy="1939211"/>
          </a:xfrm>
          <a:prstGeom prst="rect">
            <a:avLst/>
          </a:prstGeom>
          <a:noFill/>
          <a:ln>
            <a:noFill/>
          </a:ln>
          <a:effectLst/>
        </p:spPr>
        <p:txBody>
          <a:bodyPr vert="horz" wrap="square" lIns="0" tIns="52578" rIns="0" bIns="52578" rtlCol="0" anchor="t"/>
          <a:lstStyle/>
          <a:p>
            <a:pPr algn="ctr">
              <a:lnSpc>
                <a:spcPct val="150000"/>
              </a:lnSpc>
            </a:pPr>
            <a:r>
              <a:rPr kumimoji="1" lang="en-US" altLang="zh-CN" sz="966">
                <a:ln w="12700">
                  <a:noFill/>
                </a:ln>
                <a:solidFill>
                  <a:srgbClr val="000000">
                    <a:alpha val="100000"/>
                  </a:srgbClr>
                </a:solidFill>
                <a:latin typeface="Source Han Sans"/>
                <a:ea typeface="Source Han Sans"/>
                <a:cs typeface="Source Han Sans"/>
              </a:rPr>
              <a:t>Neurolinguistic studies show that Chinese speakers activate the right temporal auditory cortex when processing tones, indicating sensitivity to pitch patterns.
Native English speakers processing stress information show significant activation in the left prefrontal motor planning areas, related to articulatory movement planning.</a:t>
            </a:r>
            <a:endParaRPr kumimoji="1" lang="zh-CN" altLang="en-US"/>
          </a:p>
        </p:txBody>
      </p:sp>
      <p:sp>
        <p:nvSpPr>
          <p:cNvPr id="29" name="标题 1"/>
          <p:cNvSpPr txBox="1"/>
          <p:nvPr/>
        </p:nvSpPr>
        <p:spPr>
          <a:xfrm>
            <a:off x="9437595" y="3070082"/>
            <a:ext cx="445663" cy="447120"/>
          </a:xfrm>
          <a:prstGeom prst="ellipse">
            <a:avLst/>
          </a:prstGeom>
          <a:solidFill>
            <a:schemeClr val="accent1"/>
          </a:solidFill>
          <a:ln w="25400" cap="sq">
            <a:solidFill>
              <a:schemeClr val="bg1"/>
            </a:solidFill>
            <a:miter/>
          </a:ln>
          <a:effectLst>
            <a:outerShdw blurRad="146050" algn="ctr" rotWithShape="0">
              <a:schemeClr val="accent1">
                <a:alpha val="15000"/>
              </a:schemeClr>
            </a:outerShdw>
          </a:effectLst>
        </p:spPr>
        <p:txBody>
          <a:bodyPr vert="horz" wrap="square" lIns="105156" tIns="52578" rIns="105156" bIns="52578" rtlCol="0" anchor="ctr"/>
          <a:lstStyle/>
          <a:p>
            <a:pPr algn="ctr">
              <a:lnSpc>
                <a:spcPct val="110000"/>
              </a:lnSpc>
            </a:pPr>
            <a:endParaRPr kumimoji="1" lang="zh-CN" altLang="en-US"/>
          </a:p>
        </p:txBody>
      </p:sp>
      <p:sp>
        <p:nvSpPr>
          <p:cNvPr id="30" name="标题 1"/>
          <p:cNvSpPr txBox="1"/>
          <p:nvPr/>
        </p:nvSpPr>
        <p:spPr>
          <a:xfrm rot="5400000">
            <a:off x="9580759" y="3185258"/>
            <a:ext cx="159337" cy="216768"/>
          </a:xfrm>
          <a:prstGeom prst="chevron">
            <a:avLst>
              <a:gd name="adj" fmla="val 59091"/>
            </a:avLst>
          </a:prstGeom>
          <a:solidFill>
            <a:schemeClr val="bg1"/>
          </a:solidFill>
          <a:ln w="12700" cap="sq">
            <a:noFill/>
            <a:miter/>
          </a:ln>
          <a:effectLst/>
        </p:spPr>
        <p:txBody>
          <a:bodyPr vert="horz" wrap="square" lIns="105156" tIns="52578" rIns="105156" bIns="52578" rtlCol="0" anchor="ctr"/>
          <a:lstStyle/>
          <a:p>
            <a:pPr algn="ctr">
              <a:lnSpc>
                <a:spcPct val="110000"/>
              </a:lnSpc>
            </a:pPr>
            <a:endParaRPr kumimoji="1" lang="zh-CN" altLang="en-US"/>
          </a:p>
        </p:txBody>
      </p:sp>
      <p:sp>
        <p:nvSpPr>
          <p:cNvPr id="31" name="标题 1"/>
          <p:cNvSpPr txBox="1"/>
          <p:nvPr/>
        </p:nvSpPr>
        <p:spPr>
          <a:xfrm>
            <a:off x="0" y="175260"/>
            <a:ext cx="8327425" cy="620632"/>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2" name="标题 1"/>
          <p:cNvSpPr txBox="1"/>
          <p:nvPr/>
        </p:nvSpPr>
        <p:spPr>
          <a:xfrm>
            <a:off x="8742776" y="587097"/>
            <a:ext cx="208231" cy="208795"/>
          </a:xfrm>
          <a:prstGeom prst="rect">
            <a:avLst/>
          </a:prstGeom>
          <a:solidFill>
            <a:schemeClr val="accent1">
              <a:alpha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3" name="标题 1"/>
          <p:cNvSpPr txBox="1"/>
          <p:nvPr/>
        </p:nvSpPr>
        <p:spPr>
          <a:xfrm>
            <a:off x="8535452" y="176388"/>
            <a:ext cx="208231" cy="413840"/>
          </a:xfrm>
          <a:prstGeom prst="rect">
            <a:avLst/>
          </a:prstGeom>
          <a:solidFill>
            <a:schemeClr val="accent1">
              <a:alpha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4" name="标题 1"/>
          <p:cNvSpPr txBox="1"/>
          <p:nvPr/>
        </p:nvSpPr>
        <p:spPr>
          <a:xfrm>
            <a:off x="8743620" y="175022"/>
            <a:ext cx="209004" cy="207106"/>
          </a:xfrm>
          <a:prstGeom prst="rect">
            <a:avLst/>
          </a:prstGeom>
          <a:solidFill>
            <a:schemeClr val="accent1">
              <a:alpha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9161592" y="170358"/>
            <a:ext cx="208231" cy="208795"/>
          </a:xfrm>
          <a:prstGeom prst="rect">
            <a:avLst/>
          </a:prstGeom>
          <a:solidFill>
            <a:schemeClr val="accent1">
              <a:alpha val="2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a:off x="8951946" y="379973"/>
            <a:ext cx="208231" cy="208795"/>
          </a:xfrm>
          <a:prstGeom prst="rect">
            <a:avLst/>
          </a:prstGeom>
          <a:solidFill>
            <a:schemeClr val="accent1">
              <a:alpha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a:off x="8327037" y="175184"/>
            <a:ext cx="208231" cy="621268"/>
          </a:xfrm>
          <a:prstGeom prst="rect">
            <a:avLst/>
          </a:prstGeom>
          <a:solidFill>
            <a:schemeClr val="accent1">
              <a:alpha val="9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a:off x="340170" y="242328"/>
            <a:ext cx="7985452" cy="432000"/>
          </a:xfrm>
          <a:prstGeom prst="rect">
            <a:avLst/>
          </a:prstGeom>
          <a:noFill/>
          <a:ln>
            <a:noFill/>
          </a:ln>
        </p:spPr>
        <p:txBody>
          <a:bodyPr vert="horz" wrap="square" lIns="0" tIns="0" rIns="0" bIns="0" rtlCol="0" anchor="ctr"/>
          <a:lstStyle/>
          <a:p>
            <a:pPr algn="l">
              <a:lnSpc>
                <a:spcPct val="120000"/>
              </a:lnSpc>
            </a:pPr>
            <a:r>
              <a:rPr kumimoji="1" lang="en-US" altLang="zh-CN" sz="2605">
                <a:ln w="12700">
                  <a:noFill/>
                </a:ln>
                <a:solidFill>
                  <a:srgbClr val="FFFFFF">
                    <a:alpha val="100000"/>
                  </a:srgbClr>
                </a:solidFill>
                <a:latin typeface="Source Han Sans CN Bold"/>
                <a:ea typeface="Source Han Sans CN Bold"/>
                <a:cs typeface="Source Han Sans CN Bold"/>
              </a:rPr>
              <a:t>Chinese Tonal System and English Stress System</a:t>
            </a:r>
            <a:endParaRPr kumimoji="1"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a:stretch>
            <a:fillRect/>
          </a:stretch>
        </p:blipFill>
        <p:spPr>
          <a:xfrm>
            <a:off x="0" y="0"/>
            <a:ext cx="12192000" cy="6857999"/>
          </a:xfrm>
          <a:prstGeom prst="rect">
            <a:avLst/>
          </a:prstGeom>
          <a:noFill/>
          <a:ln>
            <a:noFill/>
          </a:ln>
        </p:spPr>
      </p:pic>
      <p:sp>
        <p:nvSpPr>
          <p:cNvPr id="3" name="标题 1"/>
          <p:cNvSpPr txBox="1"/>
          <p:nvPr/>
        </p:nvSpPr>
        <p:spPr>
          <a:xfrm>
            <a:off x="249"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855302" y="0"/>
            <a:ext cx="1756865" cy="6858000"/>
          </a:xfrm>
          <a:custGeom>
            <a:avLst/>
            <a:gdLst>
              <a:gd name="connsiteX0" fmla="*/ 542835 w 1756865"/>
              <a:gd name="connsiteY0" fmla="*/ 0 h 6858000"/>
              <a:gd name="connsiteX1" fmla="*/ 0 w 1756865"/>
              <a:gd name="connsiteY1" fmla="*/ 0 h 6858000"/>
              <a:gd name="connsiteX2" fmla="*/ 1214030 w 1756865"/>
              <a:gd name="connsiteY2" fmla="*/ 3429000 h 6858000"/>
              <a:gd name="connsiteX3" fmla="*/ 0 w 1756865"/>
              <a:gd name="connsiteY3" fmla="*/ 6858000 h 6858000"/>
              <a:gd name="connsiteX4" fmla="*/ 542835 w 1756865"/>
              <a:gd name="connsiteY4" fmla="*/ 6858000 h 6858000"/>
              <a:gd name="connsiteX5" fmla="*/ 1756865 w 1756865"/>
              <a:gd name="connsiteY5" fmla="*/ 3429000 h 6858000"/>
            </a:gdLst>
            <a:ahLst/>
            <a:cxnLst/>
            <a:rect l="l" t="t" r="r" b="b"/>
            <a:pathLst>
              <a:path w="1756865" h="6858000">
                <a:moveTo>
                  <a:pt x="542835" y="0"/>
                </a:moveTo>
                <a:lnTo>
                  <a:pt x="0" y="0"/>
                </a:lnTo>
                <a:lnTo>
                  <a:pt x="1214030" y="3429000"/>
                </a:lnTo>
                <a:lnTo>
                  <a:pt x="0" y="6858000"/>
                </a:lnTo>
                <a:lnTo>
                  <a:pt x="542835" y="6858000"/>
                </a:lnTo>
                <a:lnTo>
                  <a:pt x="1756865"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291326" y="2214879"/>
            <a:ext cx="3884281" cy="1239520"/>
          </a:xfrm>
          <a:prstGeom prst="rect">
            <a:avLst/>
          </a:prstGeom>
          <a:noFill/>
          <a:ln>
            <a:noFill/>
          </a:ln>
        </p:spPr>
        <p:txBody>
          <a:bodyPr vert="horz" wrap="square" lIns="91440" tIns="45720" rIns="91440" bIns="45720" rtlCol="0" anchor="b"/>
          <a:lstStyle/>
          <a:p>
            <a:pPr algn="r">
              <a:lnSpc>
                <a:spcPct val="110000"/>
              </a:lnSpc>
            </a:pPr>
            <a:r>
              <a:rPr kumimoji="1" lang="en-US" altLang="zh-CN" sz="8800">
                <a:ln w="12700">
                  <a:noFill/>
                </a:ln>
                <a:solidFill>
                  <a:srgbClr val="3AB858">
                    <a:alpha val="100000"/>
                  </a:srgbClr>
                </a:solidFill>
                <a:latin typeface="Source Han Sans CN Regular"/>
                <a:ea typeface="Source Han Sans CN Regular"/>
                <a:cs typeface="Source Han Sans CN Regular"/>
              </a:rPr>
              <a:t>PART-</a:t>
            </a:r>
            <a:endParaRPr kumimoji="1" lang="zh-CN" altLang="en-US"/>
          </a:p>
        </p:txBody>
      </p:sp>
      <p:sp>
        <p:nvSpPr>
          <p:cNvPr id="6" name="标题 1"/>
          <p:cNvSpPr txBox="1"/>
          <p:nvPr/>
        </p:nvSpPr>
        <p:spPr>
          <a:xfrm>
            <a:off x="4874992" y="3345541"/>
            <a:ext cx="6836531" cy="2628398"/>
          </a:xfrm>
          <a:prstGeom prst="rect">
            <a:avLst/>
          </a:prstGeom>
          <a:noFill/>
          <a:ln>
            <a:noFill/>
          </a:ln>
        </p:spPr>
        <p:txBody>
          <a:bodyPr vert="horz" wrap="square" lIns="91440" tIns="45720" rIns="91440" bIns="45720" rtlCol="0" anchor="t"/>
          <a:lstStyle/>
          <a:p>
            <a:pPr algn="r">
              <a:lnSpc>
                <a:spcPct val="130000"/>
              </a:lnSpc>
            </a:pPr>
            <a:r>
              <a:rPr kumimoji="1" lang="en-US" altLang="zh-CN" sz="3081">
                <a:ln w="12700">
                  <a:noFill/>
                </a:ln>
                <a:solidFill>
                  <a:srgbClr val="262626">
                    <a:alpha val="100000"/>
                  </a:srgbClr>
                </a:solidFill>
                <a:latin typeface="Source Han Sans CN Regular"/>
                <a:ea typeface="Source Han Sans CN Regular"/>
                <a:cs typeface="Source Han Sans CN Regular"/>
              </a:rPr>
              <a:t>Writing Systems and Cognitive Processing: Unity of Meaning and Sound vs. Mapping of Sound and Form</a:t>
            </a:r>
            <a:endParaRPr kumimoji="1" lang="zh-CN" altLang="en-US"/>
          </a:p>
        </p:txBody>
      </p:sp>
      <p:sp>
        <p:nvSpPr>
          <p:cNvPr id="7" name="标题 1"/>
          <p:cNvSpPr txBox="1"/>
          <p:nvPr/>
        </p:nvSpPr>
        <p:spPr>
          <a:xfrm>
            <a:off x="249"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flipH="1" flipV="1">
            <a:off x="3704707" y="0"/>
            <a:ext cx="2761198" cy="2380343"/>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flipH="1">
            <a:off x="3679488" y="5549312"/>
            <a:ext cx="1568586" cy="1352230"/>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9570379" y="994769"/>
            <a:ext cx="1805213" cy="251200"/>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flipH="1" flipV="1">
            <a:off x="4010813" y="190324"/>
            <a:ext cx="1998550" cy="1722888"/>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flipH="1">
            <a:off x="3815204" y="5760064"/>
            <a:ext cx="1247088" cy="1075076"/>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rot="19442050" flipH="1">
            <a:off x="11694617" y="-191671"/>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rot="2157950" flipH="1" flipV="1">
            <a:off x="11694617" y="6115222"/>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263329" y="0"/>
            <a:ext cx="1966034" cy="6858000"/>
          </a:xfrm>
          <a:custGeom>
            <a:avLst/>
            <a:gdLst>
              <a:gd name="connsiteX0" fmla="*/ 838730 w 1966034"/>
              <a:gd name="connsiteY0" fmla="*/ 0 h 6858000"/>
              <a:gd name="connsiteX1" fmla="*/ 0 w 1966034"/>
              <a:gd name="connsiteY1" fmla="*/ 0 h 6858000"/>
              <a:gd name="connsiteX2" fmla="*/ 1127304 w 1966034"/>
              <a:gd name="connsiteY2" fmla="*/ 3498566 h 6858000"/>
              <a:gd name="connsiteX3" fmla="*/ 44831 w 1966034"/>
              <a:gd name="connsiteY3" fmla="*/ 6858000 h 6858000"/>
              <a:gd name="connsiteX4" fmla="*/ 883561 w 1966034"/>
              <a:gd name="connsiteY4" fmla="*/ 6858000 h 6858000"/>
              <a:gd name="connsiteX5" fmla="*/ 1966034 w 1966034"/>
              <a:gd name="connsiteY5" fmla="*/ 3498566 h 6858000"/>
            </a:gdLst>
            <a:ahLst/>
            <a:cxnLst/>
            <a:rect l="l" t="t" r="r" b="b"/>
            <a:pathLst>
              <a:path w="1966034" h="6858000">
                <a:moveTo>
                  <a:pt x="838730" y="0"/>
                </a:moveTo>
                <a:lnTo>
                  <a:pt x="0" y="0"/>
                </a:lnTo>
                <a:lnTo>
                  <a:pt x="1127304" y="3498566"/>
                </a:lnTo>
                <a:lnTo>
                  <a:pt x="44831" y="6858000"/>
                </a:lnTo>
                <a:lnTo>
                  <a:pt x="883561" y="6858000"/>
                </a:lnTo>
                <a:lnTo>
                  <a:pt x="1966034" y="3498566"/>
                </a:lnTo>
                <a:close/>
              </a:path>
            </a:pathLst>
          </a:cu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331847" y="1622220"/>
            <a:ext cx="2483357" cy="3592635"/>
          </a:xfrm>
          <a:prstGeom prst="chevron">
            <a:avLst>
              <a:gd name="adj" fmla="val 25606"/>
            </a:avLst>
          </a:prstGeom>
          <a:solidFill>
            <a:schemeClr val="accent1">
              <a:lumMod val="40000"/>
              <a:lumOff val="60000"/>
              <a:alpha val="50000"/>
            </a:schemeClr>
          </a:solidFill>
          <a:ln w="12700" cap="sq">
            <a:solidFill>
              <a:schemeClr val="accent1">
                <a:lumMod val="40000"/>
                <a:lumOff val="60000"/>
              </a:schemeClr>
            </a:solidFill>
            <a:miter/>
          </a:ln>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250" y="657455"/>
            <a:ext cx="981260" cy="5543093"/>
          </a:xfrm>
          <a:custGeom>
            <a:avLst/>
            <a:gdLst>
              <a:gd name="connsiteX0" fmla="*/ 0 w 981260"/>
              <a:gd name="connsiteY0" fmla="*/ 0 h 5543093"/>
              <a:gd name="connsiteX1" fmla="*/ 0 w 981260"/>
              <a:gd name="connsiteY1" fmla="*/ 532939 h 5543093"/>
              <a:gd name="connsiteX2" fmla="*/ 792574 w 981260"/>
              <a:gd name="connsiteY2" fmla="*/ 2771546 h 5543093"/>
              <a:gd name="connsiteX3" fmla="*/ 0 w 981260"/>
              <a:gd name="connsiteY3" fmla="*/ 5010154 h 5543093"/>
              <a:gd name="connsiteX4" fmla="*/ 0 w 981260"/>
              <a:gd name="connsiteY4" fmla="*/ 5543093 h 5543093"/>
              <a:gd name="connsiteX5" fmla="*/ 981260 w 981260"/>
              <a:gd name="connsiteY5" fmla="*/ 2771546 h 5543093"/>
            </a:gdLst>
            <a:ahLst/>
            <a:cxnLst/>
            <a:rect l="l" t="t" r="r" b="b"/>
            <a:pathLst>
              <a:path w="981260" h="5543093">
                <a:moveTo>
                  <a:pt x="0" y="0"/>
                </a:moveTo>
                <a:lnTo>
                  <a:pt x="0" y="532939"/>
                </a:lnTo>
                <a:lnTo>
                  <a:pt x="792574" y="2771546"/>
                </a:lnTo>
                <a:lnTo>
                  <a:pt x="0" y="5010154"/>
                </a:lnTo>
                <a:lnTo>
                  <a:pt x="0" y="5543093"/>
                </a:lnTo>
                <a:lnTo>
                  <a:pt x="981260" y="2771546"/>
                </a:lnTo>
                <a:close/>
              </a:path>
            </a:pathLst>
          </a:custGeom>
          <a:solidFill>
            <a:schemeClr val="accent1">
              <a:lumMod val="40000"/>
              <a:lumOff val="6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250" y="0"/>
            <a:ext cx="1473292" cy="6858000"/>
          </a:xfrm>
          <a:custGeom>
            <a:avLst/>
            <a:gdLst>
              <a:gd name="connsiteX0" fmla="*/ 259262 w 1473292"/>
              <a:gd name="connsiteY0" fmla="*/ 0 h 6858000"/>
              <a:gd name="connsiteX1" fmla="*/ 0 w 1473292"/>
              <a:gd name="connsiteY1" fmla="*/ 0 h 6858000"/>
              <a:gd name="connsiteX2" fmla="*/ 0 w 1473292"/>
              <a:gd name="connsiteY2" fmla="*/ 800946 h 6858000"/>
              <a:gd name="connsiteX3" fmla="*/ 930457 w 1473292"/>
              <a:gd name="connsiteY3" fmla="*/ 3429000 h 6858000"/>
              <a:gd name="connsiteX4" fmla="*/ 0 w 1473292"/>
              <a:gd name="connsiteY4" fmla="*/ 6057055 h 6858000"/>
              <a:gd name="connsiteX5" fmla="*/ 0 w 1473292"/>
              <a:gd name="connsiteY5" fmla="*/ 6858000 h 6858000"/>
              <a:gd name="connsiteX6" fmla="*/ 259262 w 1473292"/>
              <a:gd name="connsiteY6" fmla="*/ 6858000 h 6858000"/>
              <a:gd name="connsiteX7" fmla="*/ 1473292 w 1473292"/>
              <a:gd name="connsiteY7" fmla="*/ 3429000 h 6858000"/>
            </a:gdLst>
            <a:ahLst/>
            <a:cxnLst/>
            <a:rect l="l" t="t" r="r" b="b"/>
            <a:pathLst>
              <a:path w="1473292" h="6858000">
                <a:moveTo>
                  <a:pt x="259262" y="0"/>
                </a:moveTo>
                <a:lnTo>
                  <a:pt x="0" y="0"/>
                </a:lnTo>
                <a:lnTo>
                  <a:pt x="0" y="800946"/>
                </a:lnTo>
                <a:lnTo>
                  <a:pt x="930457" y="3429000"/>
                </a:lnTo>
                <a:lnTo>
                  <a:pt x="0" y="6057055"/>
                </a:lnTo>
                <a:lnTo>
                  <a:pt x="0" y="6858000"/>
                </a:lnTo>
                <a:lnTo>
                  <a:pt x="259262" y="6858000"/>
                </a:lnTo>
                <a:lnTo>
                  <a:pt x="1473292"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9528580" y="657455"/>
            <a:ext cx="2182943" cy="2796944"/>
          </a:xfrm>
          <a:prstGeom prst="rect">
            <a:avLst/>
          </a:prstGeom>
          <a:noFill/>
          <a:ln>
            <a:noFill/>
          </a:ln>
        </p:spPr>
        <p:txBody>
          <a:bodyPr vert="horz" wrap="square" lIns="91440" tIns="45720" rIns="91440" bIns="45720" rtlCol="0" anchor="b"/>
          <a:lstStyle/>
          <a:p>
            <a:pPr algn="r">
              <a:lnSpc>
                <a:spcPct val="110000"/>
              </a:lnSpc>
            </a:pPr>
            <a:r>
              <a:rPr kumimoji="1" lang="en-US" altLang="zh-CN" sz="8800">
                <a:ln w="12700">
                  <a:noFill/>
                </a:ln>
                <a:solidFill>
                  <a:srgbClr val="3AB858">
                    <a:alpha val="100000"/>
                  </a:srgbClr>
                </a:solidFill>
                <a:latin typeface="Source Han Sans CN Regular"/>
                <a:ea typeface="Source Han Sans CN Regular"/>
                <a:cs typeface="Source Han Sans CN Regular"/>
              </a:rPr>
              <a:t>02</a:t>
            </a:r>
            <a:endParaRPr kumimoji="1"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1"/>
            <a:ext cx="12192000" cy="6858000"/>
          </a:xfrm>
          <a:prstGeom prst="rect">
            <a:avLst/>
          </a:pr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760575" y="2425421"/>
            <a:ext cx="3194976" cy="3363846"/>
          </a:xfrm>
          <a:prstGeom prst="roundRect">
            <a:avLst>
              <a:gd name="adj" fmla="val 2808"/>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4492161" y="1813172"/>
            <a:ext cx="3194976" cy="3363846"/>
          </a:xfrm>
          <a:prstGeom prst="roundRect">
            <a:avLst>
              <a:gd name="adj" fmla="val 2808"/>
            </a:avLst>
          </a:prstGeom>
          <a:solidFill>
            <a:schemeClr val="accent2">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8223748" y="2425421"/>
            <a:ext cx="3194976" cy="3363846"/>
          </a:xfrm>
          <a:prstGeom prst="roundRect">
            <a:avLst>
              <a:gd name="adj" fmla="val 2808"/>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760575" y="2372081"/>
            <a:ext cx="3194976" cy="3363846"/>
          </a:xfrm>
          <a:prstGeom prst="roundRect">
            <a:avLst>
              <a:gd name="adj" fmla="val 2808"/>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4492161" y="1759832"/>
            <a:ext cx="3194976" cy="3363846"/>
          </a:xfrm>
          <a:prstGeom prst="roundRect">
            <a:avLst>
              <a:gd name="adj" fmla="val 2808"/>
            </a:avLst>
          </a:prstGeom>
          <a:solidFill>
            <a:schemeClr val="bg1"/>
          </a:solidFill>
          <a:ln w="12700" cap="sq">
            <a:solidFill>
              <a:schemeClr val="accent2"/>
            </a:solid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8223748" y="2372081"/>
            <a:ext cx="3194976" cy="3363846"/>
          </a:xfrm>
          <a:prstGeom prst="roundRect">
            <a:avLst>
              <a:gd name="adj" fmla="val 2808"/>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936275" y="2790741"/>
            <a:ext cx="2843577" cy="2318137"/>
          </a:xfrm>
          <a:prstGeom prst="rect">
            <a:avLst/>
          </a:prstGeom>
          <a:noFill/>
          <a:ln>
            <a:noFill/>
          </a:ln>
        </p:spPr>
        <p:txBody>
          <a:bodyPr vert="horz" wrap="square" lIns="0" tIns="0" rIns="0" bIns="0" rtlCol="0" anchor="t"/>
          <a:lstStyle/>
          <a:p>
            <a:pPr algn="ctr">
              <a:lnSpc>
                <a:spcPct val="150000"/>
              </a:lnSpc>
            </a:pPr>
            <a:r>
              <a:rPr kumimoji="1" lang="en-US" altLang="zh-CN" sz="1243">
                <a:ln w="12700">
                  <a:noFill/>
                </a:ln>
                <a:solidFill>
                  <a:srgbClr val="262626">
                    <a:alpha val="100000"/>
                  </a:srgbClr>
                </a:solidFill>
                <a:latin typeface="Source Han Sans"/>
                <a:ea typeface="Source Han Sans"/>
                <a:cs typeface="Source Han Sans"/>
              </a:rPr>
              <a:t>Hanzi is a morphosyllabic/logographic system where each character corresponds to a syllable and carries semantic information directly.
The Latin alphabet is an alphabetic system where letters represent phonemes and meaning is associated with the word entry in the mental lexicon via phonological form.</a:t>
            </a:r>
            <a:endParaRPr kumimoji="1" lang="zh-CN" altLang="en-US"/>
          </a:p>
        </p:txBody>
      </p:sp>
      <p:sp>
        <p:nvSpPr>
          <p:cNvPr id="10" name="标题 1"/>
          <p:cNvSpPr txBox="1"/>
          <p:nvPr/>
        </p:nvSpPr>
        <p:spPr>
          <a:xfrm>
            <a:off x="660400" y="2087382"/>
            <a:ext cx="3395327" cy="485029"/>
          </a:xfrm>
          <a:prstGeom prst="plaque">
            <a:avLst/>
          </a:prstGeom>
          <a:gradFill>
            <a:gsLst>
              <a:gs pos="0">
                <a:schemeClr val="accent1"/>
              </a:gs>
              <a:gs pos="100000">
                <a:schemeClr val="accent1">
                  <a:lumMod val="75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868485" y="2185283"/>
            <a:ext cx="2979157" cy="289229"/>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FFFFFF">
                    <a:alpha val="100000"/>
                  </a:srgbClr>
                </a:solidFill>
                <a:latin typeface="Source Han Sans CN Bold"/>
                <a:ea typeface="Source Han Sans CN Bold"/>
                <a:cs typeface="Source Han Sans CN Bold"/>
              </a:rPr>
              <a:t>Design Principles</a:t>
            </a:r>
            <a:endParaRPr kumimoji="1" lang="zh-CN" altLang="en-US"/>
          </a:p>
        </p:txBody>
      </p:sp>
      <p:sp>
        <p:nvSpPr>
          <p:cNvPr id="12" name="标题 1"/>
          <p:cNvSpPr txBox="1"/>
          <p:nvPr/>
        </p:nvSpPr>
        <p:spPr>
          <a:xfrm>
            <a:off x="4667862" y="2178490"/>
            <a:ext cx="2843577" cy="2318137"/>
          </a:xfrm>
          <a:prstGeom prst="rect">
            <a:avLst/>
          </a:prstGeom>
          <a:noFill/>
          <a:ln>
            <a:noFill/>
          </a:ln>
        </p:spPr>
        <p:txBody>
          <a:bodyPr vert="horz" wrap="square" lIns="0" tIns="0" rIns="0" bIns="0" rtlCol="0" anchor="t"/>
          <a:lstStyle/>
          <a:p>
            <a:pPr algn="ctr">
              <a:lnSpc>
                <a:spcPct val="150000"/>
              </a:lnSpc>
            </a:pPr>
            <a:r>
              <a:rPr kumimoji="1" lang="en-US" altLang="zh-CN" sz="1243">
                <a:ln w="12700">
                  <a:noFill/>
                </a:ln>
                <a:solidFill>
                  <a:srgbClr val="262626">
                    <a:alpha val="100000"/>
                  </a:srgbClr>
                </a:solidFill>
                <a:latin typeface="Source Han Sans"/>
                <a:ea typeface="Source Han Sans"/>
                <a:cs typeface="Source Han Sans"/>
              </a:rPr>
              <a:t>EEG research shows that Hanzi recognition activates the bilateral fusiform gyrus and the left angular gyrus, indicating strong visual- graphic processing and a direct form- meaning connection.
English word recognition primarily activates the left temporo- occipital region (VWFA), focusing on grapheme- to- phoneme conversion.</a:t>
            </a:r>
            <a:endParaRPr kumimoji="1" lang="zh-CN" altLang="en-US"/>
          </a:p>
        </p:txBody>
      </p:sp>
      <p:sp>
        <p:nvSpPr>
          <p:cNvPr id="13" name="标题 1"/>
          <p:cNvSpPr txBox="1"/>
          <p:nvPr/>
        </p:nvSpPr>
        <p:spPr>
          <a:xfrm>
            <a:off x="4391987" y="1475133"/>
            <a:ext cx="3395327" cy="485029"/>
          </a:xfrm>
          <a:prstGeom prst="plaque">
            <a:avLst/>
          </a:prstGeom>
          <a:gradFill>
            <a:gsLst>
              <a:gs pos="0">
                <a:schemeClr val="accent2"/>
              </a:gs>
              <a:gs pos="100000">
                <a:schemeClr val="accent2">
                  <a:lumMod val="75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4600072" y="1573032"/>
            <a:ext cx="2979157" cy="289229"/>
          </a:xfrm>
          <a:prstGeom prst="rect">
            <a:avLst/>
          </a:prstGeom>
          <a:noFill/>
          <a:ln>
            <a:noFill/>
          </a:ln>
        </p:spPr>
        <p:txBody>
          <a:bodyPr vert="horz" wrap="square" lIns="0" tIns="0" rIns="0" bIns="0" rtlCol="0" anchor="ctr"/>
          <a:lstStyle/>
          <a:p>
            <a:pPr algn="ctr">
              <a:lnSpc>
                <a:spcPct val="110000"/>
              </a:lnSpc>
            </a:pPr>
            <a:r>
              <a:rPr kumimoji="1" lang="en-US" altLang="zh-CN" sz="1443">
                <a:ln w="12700">
                  <a:noFill/>
                </a:ln>
                <a:solidFill>
                  <a:srgbClr val="FFFFFF">
                    <a:alpha val="100000"/>
                  </a:srgbClr>
                </a:solidFill>
                <a:latin typeface="Source Han Sans CN Bold"/>
                <a:ea typeface="Source Han Sans CN Bold"/>
                <a:cs typeface="Source Han Sans CN Bold"/>
              </a:rPr>
              <a:t>Cognitive Processing Differences</a:t>
            </a:r>
            <a:endParaRPr kumimoji="1" lang="zh-CN" altLang="en-US"/>
          </a:p>
        </p:txBody>
      </p:sp>
      <p:sp>
        <p:nvSpPr>
          <p:cNvPr id="15" name="标题 1"/>
          <p:cNvSpPr txBox="1"/>
          <p:nvPr/>
        </p:nvSpPr>
        <p:spPr>
          <a:xfrm>
            <a:off x="8399448" y="2790741"/>
            <a:ext cx="2843577" cy="2318137"/>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Chinese word formation relies on character compounding, resulting in high semantic transparency in compounds.
English word formation relies more on derivation and borrowing, leading to a wider range of semantic transparency.</a:t>
            </a:r>
            <a:endParaRPr kumimoji="1" lang="zh-CN" altLang="en-US"/>
          </a:p>
        </p:txBody>
      </p:sp>
      <p:sp>
        <p:nvSpPr>
          <p:cNvPr id="16" name="标题 1"/>
          <p:cNvSpPr txBox="1"/>
          <p:nvPr/>
        </p:nvSpPr>
        <p:spPr>
          <a:xfrm>
            <a:off x="8123573" y="2087382"/>
            <a:ext cx="3395327" cy="485029"/>
          </a:xfrm>
          <a:prstGeom prst="plaque">
            <a:avLst/>
          </a:prstGeom>
          <a:gradFill>
            <a:gsLst>
              <a:gs pos="0">
                <a:schemeClr val="accent1"/>
              </a:gs>
              <a:gs pos="100000">
                <a:schemeClr val="accent1">
                  <a:lumMod val="75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8331657" y="2185283"/>
            <a:ext cx="2979157" cy="289229"/>
          </a:xfrm>
          <a:prstGeom prst="rect">
            <a:avLst/>
          </a:prstGeom>
          <a:noFill/>
          <a:ln>
            <a:noFill/>
          </a:ln>
        </p:spPr>
        <p:txBody>
          <a:bodyPr vert="horz" wrap="square" lIns="0" tIns="0" rIns="0" bIns="0" rtlCol="0" anchor="ctr"/>
          <a:lstStyle/>
          <a:p>
            <a:pPr algn="ctr">
              <a:lnSpc>
                <a:spcPct val="110000"/>
              </a:lnSpc>
            </a:pPr>
            <a:r>
              <a:rPr kumimoji="1" lang="en-US" altLang="zh-CN" sz="1359">
                <a:ln w="12700">
                  <a:noFill/>
                </a:ln>
                <a:solidFill>
                  <a:srgbClr val="FFFFFF">
                    <a:alpha val="100000"/>
                  </a:srgbClr>
                </a:solidFill>
                <a:latin typeface="Source Han Sans CN Bold"/>
                <a:ea typeface="Source Han Sans CN Bold"/>
                <a:cs typeface="Source Han Sans CN Bold"/>
              </a:rPr>
              <a:t>Word Formation and Transparency</a:t>
            </a:r>
            <a:endParaRPr kumimoji="1" lang="zh-CN" altLang="en-US"/>
          </a:p>
        </p:txBody>
      </p:sp>
      <p:sp>
        <p:nvSpPr>
          <p:cNvPr id="18" name="标题 1"/>
          <p:cNvSpPr txBox="1"/>
          <p:nvPr/>
        </p:nvSpPr>
        <p:spPr>
          <a:xfrm>
            <a:off x="0" y="175260"/>
            <a:ext cx="8327425" cy="620632"/>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8742776" y="587097"/>
            <a:ext cx="208231" cy="208795"/>
          </a:xfrm>
          <a:prstGeom prst="rect">
            <a:avLst/>
          </a:prstGeom>
          <a:solidFill>
            <a:schemeClr val="accent1">
              <a:alpha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8535452" y="176388"/>
            <a:ext cx="208231" cy="413840"/>
          </a:xfrm>
          <a:prstGeom prst="rect">
            <a:avLst/>
          </a:prstGeom>
          <a:solidFill>
            <a:schemeClr val="accent1">
              <a:alpha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8743620" y="175022"/>
            <a:ext cx="209004" cy="207106"/>
          </a:xfrm>
          <a:prstGeom prst="rect">
            <a:avLst/>
          </a:prstGeom>
          <a:solidFill>
            <a:schemeClr val="accent1">
              <a:alpha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9161592" y="170358"/>
            <a:ext cx="208231" cy="208795"/>
          </a:xfrm>
          <a:prstGeom prst="rect">
            <a:avLst/>
          </a:prstGeom>
          <a:solidFill>
            <a:schemeClr val="accent1">
              <a:alpha val="2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8951946" y="379973"/>
            <a:ext cx="208231" cy="208795"/>
          </a:xfrm>
          <a:prstGeom prst="rect">
            <a:avLst/>
          </a:prstGeom>
          <a:solidFill>
            <a:schemeClr val="accent1">
              <a:alpha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8327037" y="175184"/>
            <a:ext cx="208231" cy="621268"/>
          </a:xfrm>
          <a:prstGeom prst="rect">
            <a:avLst/>
          </a:prstGeom>
          <a:solidFill>
            <a:schemeClr val="accent1">
              <a:alpha val="9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340170" y="242328"/>
            <a:ext cx="7985452" cy="432000"/>
          </a:xfrm>
          <a:prstGeom prst="rect">
            <a:avLst/>
          </a:prstGeom>
          <a:noFill/>
          <a:ln>
            <a:noFill/>
          </a:ln>
        </p:spPr>
        <p:txBody>
          <a:bodyPr vert="horz" wrap="square" lIns="0" tIns="0" rIns="0" bIns="0" rtlCol="0" anchor="ctr"/>
          <a:lstStyle/>
          <a:p>
            <a:pPr algn="l">
              <a:lnSpc>
                <a:spcPct val="120000"/>
              </a:lnSpc>
            </a:pPr>
            <a:r>
              <a:rPr kumimoji="1" lang="en-US" altLang="zh-CN" sz="3200">
                <a:ln w="12700">
                  <a:noFill/>
                </a:ln>
                <a:solidFill>
                  <a:srgbClr val="FFFFFF">
                    <a:alpha val="100000"/>
                  </a:srgbClr>
                </a:solidFill>
                <a:latin typeface="Source Han Sans CN Bold"/>
                <a:ea typeface="Source Han Sans CN Bold"/>
                <a:cs typeface="Source Han Sans CN Bold"/>
              </a:rPr>
              <a:t>Hanzi and the Latin Alphabet</a:t>
            </a:r>
            <a:endParaRPr kumimoji="1"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a:stretch>
            <a:fillRect/>
          </a:stretch>
        </p:blipFill>
        <p:spPr>
          <a:xfrm>
            <a:off x="0" y="0"/>
            <a:ext cx="12192000" cy="6857999"/>
          </a:xfrm>
          <a:prstGeom prst="rect">
            <a:avLst/>
          </a:prstGeom>
          <a:noFill/>
          <a:ln>
            <a:noFill/>
          </a:ln>
        </p:spPr>
      </p:pic>
      <p:sp>
        <p:nvSpPr>
          <p:cNvPr id="3" name="标题 1"/>
          <p:cNvSpPr txBox="1"/>
          <p:nvPr/>
        </p:nvSpPr>
        <p:spPr>
          <a:xfrm>
            <a:off x="249"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855302" y="0"/>
            <a:ext cx="1756865" cy="6858000"/>
          </a:xfrm>
          <a:custGeom>
            <a:avLst/>
            <a:gdLst>
              <a:gd name="connsiteX0" fmla="*/ 542835 w 1756865"/>
              <a:gd name="connsiteY0" fmla="*/ 0 h 6858000"/>
              <a:gd name="connsiteX1" fmla="*/ 0 w 1756865"/>
              <a:gd name="connsiteY1" fmla="*/ 0 h 6858000"/>
              <a:gd name="connsiteX2" fmla="*/ 1214030 w 1756865"/>
              <a:gd name="connsiteY2" fmla="*/ 3429000 h 6858000"/>
              <a:gd name="connsiteX3" fmla="*/ 0 w 1756865"/>
              <a:gd name="connsiteY3" fmla="*/ 6858000 h 6858000"/>
              <a:gd name="connsiteX4" fmla="*/ 542835 w 1756865"/>
              <a:gd name="connsiteY4" fmla="*/ 6858000 h 6858000"/>
              <a:gd name="connsiteX5" fmla="*/ 1756865 w 1756865"/>
              <a:gd name="connsiteY5" fmla="*/ 3429000 h 6858000"/>
            </a:gdLst>
            <a:ahLst/>
            <a:cxnLst/>
            <a:rect l="l" t="t" r="r" b="b"/>
            <a:pathLst>
              <a:path w="1756865" h="6858000">
                <a:moveTo>
                  <a:pt x="542835" y="0"/>
                </a:moveTo>
                <a:lnTo>
                  <a:pt x="0" y="0"/>
                </a:lnTo>
                <a:lnTo>
                  <a:pt x="1214030" y="3429000"/>
                </a:lnTo>
                <a:lnTo>
                  <a:pt x="0" y="6858000"/>
                </a:lnTo>
                <a:lnTo>
                  <a:pt x="542835" y="6858000"/>
                </a:lnTo>
                <a:lnTo>
                  <a:pt x="1756865"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291326" y="2214879"/>
            <a:ext cx="3884281" cy="1239520"/>
          </a:xfrm>
          <a:prstGeom prst="rect">
            <a:avLst/>
          </a:prstGeom>
          <a:noFill/>
          <a:ln>
            <a:noFill/>
          </a:ln>
        </p:spPr>
        <p:txBody>
          <a:bodyPr vert="horz" wrap="square" lIns="91440" tIns="45720" rIns="91440" bIns="45720" rtlCol="0" anchor="b"/>
          <a:lstStyle/>
          <a:p>
            <a:pPr algn="r">
              <a:lnSpc>
                <a:spcPct val="110000"/>
              </a:lnSpc>
            </a:pPr>
            <a:r>
              <a:rPr kumimoji="1" lang="en-US" altLang="zh-CN" sz="8800">
                <a:ln w="12700">
                  <a:noFill/>
                </a:ln>
                <a:solidFill>
                  <a:srgbClr val="3AB858">
                    <a:alpha val="100000"/>
                  </a:srgbClr>
                </a:solidFill>
                <a:latin typeface="Source Han Sans CN Regular"/>
                <a:ea typeface="Source Han Sans CN Regular"/>
                <a:cs typeface="Source Han Sans CN Regular"/>
              </a:rPr>
              <a:t>PART-</a:t>
            </a:r>
            <a:endParaRPr kumimoji="1" lang="zh-CN" altLang="en-US"/>
          </a:p>
        </p:txBody>
      </p:sp>
      <p:sp>
        <p:nvSpPr>
          <p:cNvPr id="6" name="标题 1"/>
          <p:cNvSpPr txBox="1"/>
          <p:nvPr/>
        </p:nvSpPr>
        <p:spPr>
          <a:xfrm>
            <a:off x="4874992" y="3345541"/>
            <a:ext cx="6836531" cy="2628398"/>
          </a:xfrm>
          <a:prstGeom prst="rect">
            <a:avLst/>
          </a:prstGeom>
          <a:noFill/>
          <a:ln>
            <a:noFill/>
          </a:ln>
        </p:spPr>
        <p:txBody>
          <a:bodyPr vert="horz" wrap="square" lIns="91440" tIns="45720" rIns="91440" bIns="45720" rtlCol="0" anchor="t"/>
          <a:lstStyle/>
          <a:p>
            <a:pPr algn="r">
              <a:lnSpc>
                <a:spcPct val="130000"/>
              </a:lnSpc>
            </a:pPr>
            <a:r>
              <a:rPr kumimoji="1" lang="en-US" altLang="zh-CN" sz="3081">
                <a:ln w="12700">
                  <a:noFill/>
                </a:ln>
                <a:solidFill>
                  <a:srgbClr val="262626">
                    <a:alpha val="100000"/>
                  </a:srgbClr>
                </a:solidFill>
                <a:latin typeface="Source Han Sans CN Regular"/>
                <a:ea typeface="Source Han Sans CN Regular"/>
                <a:cs typeface="Source Han Sans CN Regular"/>
              </a:rPr>
              <a:t>Core Syntactic Structures: Morphological Simplicity/Complexity and Logical Explicitness/Implicitness</a:t>
            </a:r>
            <a:endParaRPr kumimoji="1" lang="zh-CN" altLang="en-US"/>
          </a:p>
        </p:txBody>
      </p:sp>
      <p:sp>
        <p:nvSpPr>
          <p:cNvPr id="7" name="标题 1"/>
          <p:cNvSpPr txBox="1"/>
          <p:nvPr/>
        </p:nvSpPr>
        <p:spPr>
          <a:xfrm>
            <a:off x="249"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flipH="1" flipV="1">
            <a:off x="3704707" y="0"/>
            <a:ext cx="2761198" cy="2380343"/>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flipH="1">
            <a:off x="3679488" y="5549312"/>
            <a:ext cx="1568586" cy="1352230"/>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9570379" y="994769"/>
            <a:ext cx="1805213" cy="251200"/>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flipH="1" flipV="1">
            <a:off x="4010813" y="190324"/>
            <a:ext cx="1998550" cy="1722888"/>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flipH="1">
            <a:off x="3815204" y="5760064"/>
            <a:ext cx="1247088" cy="1075076"/>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rot="19442050" flipH="1">
            <a:off x="11694617" y="-191671"/>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rot="2157950" flipH="1" flipV="1">
            <a:off x="11694617" y="6115222"/>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263329" y="0"/>
            <a:ext cx="1966034" cy="6858000"/>
          </a:xfrm>
          <a:custGeom>
            <a:avLst/>
            <a:gdLst>
              <a:gd name="connsiteX0" fmla="*/ 838730 w 1966034"/>
              <a:gd name="connsiteY0" fmla="*/ 0 h 6858000"/>
              <a:gd name="connsiteX1" fmla="*/ 0 w 1966034"/>
              <a:gd name="connsiteY1" fmla="*/ 0 h 6858000"/>
              <a:gd name="connsiteX2" fmla="*/ 1127304 w 1966034"/>
              <a:gd name="connsiteY2" fmla="*/ 3498566 h 6858000"/>
              <a:gd name="connsiteX3" fmla="*/ 44831 w 1966034"/>
              <a:gd name="connsiteY3" fmla="*/ 6858000 h 6858000"/>
              <a:gd name="connsiteX4" fmla="*/ 883561 w 1966034"/>
              <a:gd name="connsiteY4" fmla="*/ 6858000 h 6858000"/>
              <a:gd name="connsiteX5" fmla="*/ 1966034 w 1966034"/>
              <a:gd name="connsiteY5" fmla="*/ 3498566 h 6858000"/>
            </a:gdLst>
            <a:ahLst/>
            <a:cxnLst/>
            <a:rect l="l" t="t" r="r" b="b"/>
            <a:pathLst>
              <a:path w="1966034" h="6858000">
                <a:moveTo>
                  <a:pt x="838730" y="0"/>
                </a:moveTo>
                <a:lnTo>
                  <a:pt x="0" y="0"/>
                </a:lnTo>
                <a:lnTo>
                  <a:pt x="1127304" y="3498566"/>
                </a:lnTo>
                <a:lnTo>
                  <a:pt x="44831" y="6858000"/>
                </a:lnTo>
                <a:lnTo>
                  <a:pt x="883561" y="6858000"/>
                </a:lnTo>
                <a:lnTo>
                  <a:pt x="1966034" y="3498566"/>
                </a:lnTo>
                <a:close/>
              </a:path>
            </a:pathLst>
          </a:cu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331847" y="1622220"/>
            <a:ext cx="2483357" cy="3592635"/>
          </a:xfrm>
          <a:prstGeom prst="chevron">
            <a:avLst>
              <a:gd name="adj" fmla="val 25606"/>
            </a:avLst>
          </a:prstGeom>
          <a:solidFill>
            <a:schemeClr val="accent1">
              <a:lumMod val="40000"/>
              <a:lumOff val="60000"/>
              <a:alpha val="50000"/>
            </a:schemeClr>
          </a:solidFill>
          <a:ln w="12700" cap="sq">
            <a:solidFill>
              <a:schemeClr val="accent1">
                <a:lumMod val="40000"/>
                <a:lumOff val="60000"/>
              </a:schemeClr>
            </a:solidFill>
            <a:miter/>
          </a:ln>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250" y="657455"/>
            <a:ext cx="981260" cy="5543093"/>
          </a:xfrm>
          <a:custGeom>
            <a:avLst/>
            <a:gdLst>
              <a:gd name="connsiteX0" fmla="*/ 0 w 981260"/>
              <a:gd name="connsiteY0" fmla="*/ 0 h 5543093"/>
              <a:gd name="connsiteX1" fmla="*/ 0 w 981260"/>
              <a:gd name="connsiteY1" fmla="*/ 532939 h 5543093"/>
              <a:gd name="connsiteX2" fmla="*/ 792574 w 981260"/>
              <a:gd name="connsiteY2" fmla="*/ 2771546 h 5543093"/>
              <a:gd name="connsiteX3" fmla="*/ 0 w 981260"/>
              <a:gd name="connsiteY3" fmla="*/ 5010154 h 5543093"/>
              <a:gd name="connsiteX4" fmla="*/ 0 w 981260"/>
              <a:gd name="connsiteY4" fmla="*/ 5543093 h 5543093"/>
              <a:gd name="connsiteX5" fmla="*/ 981260 w 981260"/>
              <a:gd name="connsiteY5" fmla="*/ 2771546 h 5543093"/>
            </a:gdLst>
            <a:ahLst/>
            <a:cxnLst/>
            <a:rect l="l" t="t" r="r" b="b"/>
            <a:pathLst>
              <a:path w="981260" h="5543093">
                <a:moveTo>
                  <a:pt x="0" y="0"/>
                </a:moveTo>
                <a:lnTo>
                  <a:pt x="0" y="532939"/>
                </a:lnTo>
                <a:lnTo>
                  <a:pt x="792574" y="2771546"/>
                </a:lnTo>
                <a:lnTo>
                  <a:pt x="0" y="5010154"/>
                </a:lnTo>
                <a:lnTo>
                  <a:pt x="0" y="5543093"/>
                </a:lnTo>
                <a:lnTo>
                  <a:pt x="981260" y="2771546"/>
                </a:lnTo>
                <a:close/>
              </a:path>
            </a:pathLst>
          </a:custGeom>
          <a:solidFill>
            <a:schemeClr val="accent1">
              <a:lumMod val="40000"/>
              <a:lumOff val="6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250" y="0"/>
            <a:ext cx="1473292" cy="6858000"/>
          </a:xfrm>
          <a:custGeom>
            <a:avLst/>
            <a:gdLst>
              <a:gd name="connsiteX0" fmla="*/ 259262 w 1473292"/>
              <a:gd name="connsiteY0" fmla="*/ 0 h 6858000"/>
              <a:gd name="connsiteX1" fmla="*/ 0 w 1473292"/>
              <a:gd name="connsiteY1" fmla="*/ 0 h 6858000"/>
              <a:gd name="connsiteX2" fmla="*/ 0 w 1473292"/>
              <a:gd name="connsiteY2" fmla="*/ 800946 h 6858000"/>
              <a:gd name="connsiteX3" fmla="*/ 930457 w 1473292"/>
              <a:gd name="connsiteY3" fmla="*/ 3429000 h 6858000"/>
              <a:gd name="connsiteX4" fmla="*/ 0 w 1473292"/>
              <a:gd name="connsiteY4" fmla="*/ 6057055 h 6858000"/>
              <a:gd name="connsiteX5" fmla="*/ 0 w 1473292"/>
              <a:gd name="connsiteY5" fmla="*/ 6858000 h 6858000"/>
              <a:gd name="connsiteX6" fmla="*/ 259262 w 1473292"/>
              <a:gd name="connsiteY6" fmla="*/ 6858000 h 6858000"/>
              <a:gd name="connsiteX7" fmla="*/ 1473292 w 1473292"/>
              <a:gd name="connsiteY7" fmla="*/ 3429000 h 6858000"/>
            </a:gdLst>
            <a:ahLst/>
            <a:cxnLst/>
            <a:rect l="l" t="t" r="r" b="b"/>
            <a:pathLst>
              <a:path w="1473292" h="6858000">
                <a:moveTo>
                  <a:pt x="259262" y="0"/>
                </a:moveTo>
                <a:lnTo>
                  <a:pt x="0" y="0"/>
                </a:lnTo>
                <a:lnTo>
                  <a:pt x="0" y="800946"/>
                </a:lnTo>
                <a:lnTo>
                  <a:pt x="930457" y="3429000"/>
                </a:lnTo>
                <a:lnTo>
                  <a:pt x="0" y="6057055"/>
                </a:lnTo>
                <a:lnTo>
                  <a:pt x="0" y="6858000"/>
                </a:lnTo>
                <a:lnTo>
                  <a:pt x="259262" y="6858000"/>
                </a:lnTo>
                <a:lnTo>
                  <a:pt x="1473292"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9528580" y="657455"/>
            <a:ext cx="2182943" cy="2796944"/>
          </a:xfrm>
          <a:prstGeom prst="rect">
            <a:avLst/>
          </a:prstGeom>
          <a:noFill/>
          <a:ln>
            <a:noFill/>
          </a:ln>
        </p:spPr>
        <p:txBody>
          <a:bodyPr vert="horz" wrap="square" lIns="91440" tIns="45720" rIns="91440" bIns="45720" rtlCol="0" anchor="b"/>
          <a:lstStyle/>
          <a:p>
            <a:pPr algn="r">
              <a:lnSpc>
                <a:spcPct val="110000"/>
              </a:lnSpc>
            </a:pPr>
            <a:r>
              <a:rPr kumimoji="1" lang="en-US" altLang="zh-CN" sz="8800" dirty="0">
                <a:ln w="12700">
                  <a:noFill/>
                </a:ln>
                <a:solidFill>
                  <a:srgbClr val="3AB858">
                    <a:alpha val="100000"/>
                  </a:srgbClr>
                </a:solidFill>
                <a:latin typeface="Source Han Sans CN Regular"/>
                <a:ea typeface="Source Han Sans CN Regular"/>
                <a:cs typeface="Source Han Sans CN Regular"/>
              </a:rPr>
              <a:t>03</a:t>
            </a:r>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1"/>
            <a:ext cx="12192000" cy="6858000"/>
          </a:xfrm>
          <a:prstGeom prst="rect">
            <a:avLst/>
          </a:pr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7918148" y="2182654"/>
            <a:ext cx="2357804" cy="3439636"/>
          </a:xfrm>
          <a:prstGeom prst="rect">
            <a:avLst/>
          </a:prstGeom>
          <a:solidFill>
            <a:schemeClr val="accent3">
              <a:lumMod val="20000"/>
              <a:lumOff val="80000"/>
              <a:alpha val="30000"/>
            </a:schemeClr>
          </a:solidFill>
          <a:ln cap="sq">
            <a:noFill/>
            <a:prstDash val="solid"/>
            <a:miter/>
          </a:ln>
          <a:effectLst>
            <a:outerShdw blurRad="38100" dist="12700" dir="2700000" algn="tl" rotWithShape="0">
              <a:srgbClr val="000000">
                <a:alpha val="15000"/>
              </a:srgbClr>
            </a:outerShdw>
          </a:effectLst>
        </p:spPr>
        <p:txBody>
          <a:bodyPr vert="horz" wrap="square" lIns="251999" tIns="324000" rIns="180000" bIns="396000" rtlCol="0" anchor="t"/>
          <a:lstStyle/>
          <a:p>
            <a:pPr algn="ctr">
              <a:lnSpc>
                <a:spcPct val="130000"/>
              </a:lnSpc>
            </a:pPr>
            <a:endParaRPr kumimoji="1" lang="zh-CN" altLang="en-US"/>
          </a:p>
        </p:txBody>
      </p:sp>
      <p:sp>
        <p:nvSpPr>
          <p:cNvPr id="4" name="标题 1"/>
          <p:cNvSpPr txBox="1"/>
          <p:nvPr/>
        </p:nvSpPr>
        <p:spPr>
          <a:xfrm>
            <a:off x="7918149" y="2183894"/>
            <a:ext cx="2357803" cy="65971"/>
          </a:xfrm>
          <a:prstGeom prst="rect">
            <a:avLst/>
          </a:prstGeom>
          <a:solidFill>
            <a:schemeClr val="tx1">
              <a:alpha val="20000"/>
            </a:schemeClr>
          </a:solidFill>
          <a:ln cap="sq">
            <a:noFill/>
            <a:prstDash val="solid"/>
            <a:miter/>
          </a:ln>
        </p:spPr>
        <p:txBody>
          <a:bodyPr vert="horz" wrap="square" lIns="251999" tIns="324000" rIns="180000" bIns="45720" rtlCol="0" anchor="t"/>
          <a:lstStyle/>
          <a:p>
            <a:pPr algn="l">
              <a:lnSpc>
                <a:spcPct val="130000"/>
              </a:lnSpc>
            </a:pPr>
            <a:endParaRPr kumimoji="1" lang="zh-CN" altLang="en-US"/>
          </a:p>
        </p:txBody>
      </p:sp>
      <p:sp>
        <p:nvSpPr>
          <p:cNvPr id="5" name="标题 1"/>
          <p:cNvSpPr txBox="1"/>
          <p:nvPr/>
        </p:nvSpPr>
        <p:spPr>
          <a:xfrm>
            <a:off x="7918149" y="5042327"/>
            <a:ext cx="2357803" cy="579963"/>
          </a:xfrm>
          <a:prstGeom prst="rect">
            <a:avLst/>
          </a:prstGeom>
          <a:solidFill>
            <a:schemeClr val="tx1">
              <a:alpha val="20000"/>
            </a:schemeClr>
          </a:solidFill>
          <a:ln cap="sq">
            <a:noFill/>
            <a:prstDash val="solid"/>
            <a:miter/>
          </a:ln>
        </p:spPr>
        <p:txBody>
          <a:bodyPr vert="horz" wrap="square" lIns="0" tIns="64008" rIns="0" bIns="45720" rtlCol="0" anchor="ctr"/>
          <a:lstStyle/>
          <a:p>
            <a:pPr algn="ctr">
              <a:lnSpc>
                <a:spcPct val="110000"/>
              </a:lnSpc>
            </a:pPr>
            <a:endParaRPr kumimoji="1" lang="zh-CN" altLang="en-US"/>
          </a:p>
        </p:txBody>
      </p:sp>
      <p:sp>
        <p:nvSpPr>
          <p:cNvPr id="6" name="标题 1"/>
          <p:cNvSpPr txBox="1"/>
          <p:nvPr/>
        </p:nvSpPr>
        <p:spPr>
          <a:xfrm>
            <a:off x="1857374" y="2182654"/>
            <a:ext cx="2357804" cy="3439636"/>
          </a:xfrm>
          <a:prstGeom prst="rect">
            <a:avLst/>
          </a:prstGeom>
          <a:solidFill>
            <a:schemeClr val="accent3">
              <a:lumMod val="20000"/>
              <a:lumOff val="80000"/>
              <a:alpha val="30000"/>
            </a:schemeClr>
          </a:solidFill>
          <a:ln cap="sq">
            <a:noFill/>
            <a:prstDash val="solid"/>
            <a:miter/>
          </a:ln>
          <a:effectLst>
            <a:outerShdw blurRad="38100" dist="12700" dir="2700000" algn="tl" rotWithShape="0">
              <a:srgbClr val="000000">
                <a:alpha val="15000"/>
              </a:srgbClr>
            </a:outerShdw>
          </a:effectLst>
        </p:spPr>
        <p:txBody>
          <a:bodyPr vert="horz" wrap="square" lIns="251999" tIns="324000" rIns="180000" bIns="396000" rtlCol="0" anchor="t"/>
          <a:lstStyle/>
          <a:p>
            <a:pPr algn="ctr">
              <a:lnSpc>
                <a:spcPct val="130000"/>
              </a:lnSpc>
            </a:pPr>
            <a:endParaRPr kumimoji="1" lang="zh-CN" altLang="en-US"/>
          </a:p>
        </p:txBody>
      </p:sp>
      <p:sp>
        <p:nvSpPr>
          <p:cNvPr id="7" name="标题 1"/>
          <p:cNvSpPr txBox="1"/>
          <p:nvPr/>
        </p:nvSpPr>
        <p:spPr>
          <a:xfrm>
            <a:off x="1857375" y="2183894"/>
            <a:ext cx="2357803" cy="65971"/>
          </a:xfrm>
          <a:prstGeom prst="rect">
            <a:avLst/>
          </a:prstGeom>
          <a:solidFill>
            <a:schemeClr val="tx1">
              <a:alpha val="20000"/>
            </a:schemeClr>
          </a:solidFill>
          <a:ln cap="sq">
            <a:noFill/>
            <a:prstDash val="solid"/>
            <a:miter/>
          </a:ln>
        </p:spPr>
        <p:txBody>
          <a:bodyPr vert="horz" wrap="square" lIns="251999" tIns="324000" rIns="180000" bIns="45720" rtlCol="0" anchor="t"/>
          <a:lstStyle/>
          <a:p>
            <a:pPr algn="l">
              <a:lnSpc>
                <a:spcPct val="130000"/>
              </a:lnSpc>
            </a:pPr>
            <a:endParaRPr kumimoji="1" lang="zh-CN" altLang="en-US"/>
          </a:p>
        </p:txBody>
      </p:sp>
      <p:sp>
        <p:nvSpPr>
          <p:cNvPr id="8" name="标题 1"/>
          <p:cNvSpPr txBox="1"/>
          <p:nvPr/>
        </p:nvSpPr>
        <p:spPr>
          <a:xfrm>
            <a:off x="1857375" y="5042327"/>
            <a:ext cx="2357803" cy="579963"/>
          </a:xfrm>
          <a:prstGeom prst="rect">
            <a:avLst/>
          </a:prstGeom>
          <a:solidFill>
            <a:schemeClr val="tx1">
              <a:alpha val="20000"/>
            </a:schemeClr>
          </a:solidFill>
          <a:ln cap="sq">
            <a:noFill/>
            <a:prstDash val="solid"/>
            <a:miter/>
          </a:ln>
        </p:spPr>
        <p:txBody>
          <a:bodyPr vert="horz" wrap="square" lIns="0" tIns="64008" rIns="0" bIns="45720" rtlCol="0" anchor="ctr"/>
          <a:lstStyle/>
          <a:p>
            <a:pPr algn="ctr">
              <a:lnSpc>
                <a:spcPct val="110000"/>
              </a:lnSpc>
            </a:pPr>
            <a:endParaRPr kumimoji="1" lang="zh-CN" altLang="en-US"/>
          </a:p>
        </p:txBody>
      </p:sp>
      <p:sp>
        <p:nvSpPr>
          <p:cNvPr id="9" name="标题 1"/>
          <p:cNvSpPr txBox="1"/>
          <p:nvPr/>
        </p:nvSpPr>
        <p:spPr>
          <a:xfrm>
            <a:off x="4921099" y="1619250"/>
            <a:ext cx="2357804" cy="4003040"/>
          </a:xfrm>
          <a:prstGeom prst="rect">
            <a:avLst/>
          </a:prstGeom>
          <a:solidFill>
            <a:schemeClr val="bg1"/>
          </a:solidFill>
          <a:ln cap="sq">
            <a:noFill/>
            <a:prstDash val="solid"/>
            <a:miter/>
          </a:ln>
          <a:effectLst>
            <a:outerShdw blurRad="762000" dist="254000" dir="5400000" algn="t" rotWithShape="0">
              <a:srgbClr val="000000">
                <a:alpha val="30000"/>
              </a:srgbClr>
            </a:outerShdw>
          </a:effectLst>
        </p:spPr>
        <p:txBody>
          <a:bodyPr vert="horz" wrap="square" lIns="251999" tIns="540000" rIns="180000" bIns="396000" rtlCol="0" anchor="t"/>
          <a:lstStyle/>
          <a:p>
            <a:pPr algn="ctr">
              <a:lnSpc>
                <a:spcPct val="130000"/>
              </a:lnSpc>
            </a:pPr>
            <a:endParaRPr kumimoji="1" lang="zh-CN" altLang="en-US"/>
          </a:p>
        </p:txBody>
      </p:sp>
      <p:sp>
        <p:nvSpPr>
          <p:cNvPr id="10" name="标题 1"/>
          <p:cNvSpPr txBox="1"/>
          <p:nvPr/>
        </p:nvSpPr>
        <p:spPr>
          <a:xfrm>
            <a:off x="4921100" y="1619945"/>
            <a:ext cx="2357803" cy="65971"/>
          </a:xfrm>
          <a:prstGeom prst="rect">
            <a:avLst/>
          </a:prstGeom>
          <a:solidFill>
            <a:schemeClr val="accent1"/>
          </a:solidFill>
          <a:ln cap="sq">
            <a:noFill/>
            <a:prstDash val="solid"/>
            <a:miter/>
          </a:ln>
        </p:spPr>
        <p:txBody>
          <a:bodyPr vert="horz" wrap="square" lIns="251999" tIns="324000" rIns="180000" bIns="45720" rtlCol="0" anchor="t"/>
          <a:lstStyle/>
          <a:p>
            <a:pPr algn="l">
              <a:lnSpc>
                <a:spcPct val="130000"/>
              </a:lnSpc>
            </a:pPr>
            <a:endParaRPr kumimoji="1" lang="zh-CN" altLang="en-US"/>
          </a:p>
        </p:txBody>
      </p:sp>
      <p:sp>
        <p:nvSpPr>
          <p:cNvPr id="11" name="标题 1"/>
          <p:cNvSpPr txBox="1"/>
          <p:nvPr/>
        </p:nvSpPr>
        <p:spPr>
          <a:xfrm>
            <a:off x="4921100" y="5042327"/>
            <a:ext cx="2357803" cy="579963"/>
          </a:xfrm>
          <a:prstGeom prst="rect">
            <a:avLst/>
          </a:prstGeom>
          <a:solidFill>
            <a:schemeClr val="accent1"/>
          </a:solidFill>
          <a:ln cap="sq">
            <a:noFill/>
            <a:prstDash val="solid"/>
            <a:miter/>
          </a:ln>
        </p:spPr>
        <p:txBody>
          <a:bodyPr vert="horz" wrap="square" lIns="0" tIns="64008" rIns="0" bIns="45720" rtlCol="0" anchor="ctr"/>
          <a:lstStyle/>
          <a:p>
            <a:pPr algn="ctr">
              <a:lnSpc>
                <a:spcPct val="110000"/>
              </a:lnSpc>
            </a:pPr>
            <a:endParaRPr kumimoji="1" lang="zh-CN" altLang="en-US"/>
          </a:p>
        </p:txBody>
      </p:sp>
      <p:cxnSp>
        <p:nvCxnSpPr>
          <p:cNvPr id="12" name="标题 1"/>
          <p:cNvCxnSpPr/>
          <p:nvPr/>
        </p:nvCxnSpPr>
        <p:spPr>
          <a:xfrm>
            <a:off x="5930817" y="3407439"/>
            <a:ext cx="338368" cy="0"/>
          </a:xfrm>
          <a:prstGeom prst="line">
            <a:avLst/>
          </a:prstGeom>
          <a:noFill/>
          <a:ln w="25400" cap="sq">
            <a:solidFill>
              <a:schemeClr val="accent1"/>
            </a:solidFill>
            <a:miter/>
          </a:ln>
        </p:spPr>
      </p:cxnSp>
      <p:cxnSp>
        <p:nvCxnSpPr>
          <p:cNvPr id="13" name="标题 1"/>
          <p:cNvCxnSpPr/>
          <p:nvPr/>
        </p:nvCxnSpPr>
        <p:spPr>
          <a:xfrm>
            <a:off x="8927866" y="3648739"/>
            <a:ext cx="338368" cy="0"/>
          </a:xfrm>
          <a:prstGeom prst="line">
            <a:avLst/>
          </a:prstGeom>
          <a:noFill/>
          <a:ln w="25400" cap="sq">
            <a:solidFill>
              <a:schemeClr val="tx1"/>
            </a:solidFill>
            <a:miter/>
          </a:ln>
        </p:spPr>
      </p:cxnSp>
      <p:sp>
        <p:nvSpPr>
          <p:cNvPr id="14" name="标题 1"/>
          <p:cNvSpPr txBox="1"/>
          <p:nvPr/>
        </p:nvSpPr>
        <p:spPr>
          <a:xfrm>
            <a:off x="8807723" y="2448838"/>
            <a:ext cx="578655" cy="626823"/>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tx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15" name="标题 1"/>
          <p:cNvSpPr txBox="1"/>
          <p:nvPr/>
        </p:nvSpPr>
        <p:spPr>
          <a:xfrm>
            <a:off x="5786590" y="2186901"/>
            <a:ext cx="626823" cy="626823"/>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accent1"/>
          </a:solidFill>
          <a:ln cap="sq">
            <a:noFill/>
            <a:prstDash val="solid"/>
          </a:ln>
        </p:spPr>
        <p:txBody>
          <a:bodyPr vert="horz" wrap="square" lIns="91440" tIns="45720" rIns="91440" bIns="45720" rtlCol="0" anchor="t"/>
          <a:lstStyle/>
          <a:p>
            <a:pPr algn="l">
              <a:lnSpc>
                <a:spcPct val="110000"/>
              </a:lnSpc>
            </a:pPr>
            <a:endParaRPr kumimoji="1" lang="zh-CN" altLang="en-US"/>
          </a:p>
        </p:txBody>
      </p:sp>
      <p:cxnSp>
        <p:nvCxnSpPr>
          <p:cNvPr id="16" name="标题 1"/>
          <p:cNvCxnSpPr/>
          <p:nvPr/>
        </p:nvCxnSpPr>
        <p:spPr>
          <a:xfrm>
            <a:off x="2867092" y="3636039"/>
            <a:ext cx="338368" cy="0"/>
          </a:xfrm>
          <a:prstGeom prst="line">
            <a:avLst/>
          </a:prstGeom>
          <a:noFill/>
          <a:ln w="25400" cap="sq">
            <a:solidFill>
              <a:schemeClr val="tx1"/>
            </a:solidFill>
            <a:miter/>
          </a:ln>
        </p:spPr>
      </p:cxnSp>
      <p:sp>
        <p:nvSpPr>
          <p:cNvPr id="17" name="标题 1"/>
          <p:cNvSpPr txBox="1"/>
          <p:nvPr/>
        </p:nvSpPr>
        <p:spPr>
          <a:xfrm>
            <a:off x="2722864" y="2472322"/>
            <a:ext cx="626823" cy="579855"/>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tx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18" name="标题 1"/>
          <p:cNvSpPr txBox="1"/>
          <p:nvPr/>
        </p:nvSpPr>
        <p:spPr>
          <a:xfrm>
            <a:off x="2000082" y="3173411"/>
            <a:ext cx="2082968" cy="365899"/>
          </a:xfrm>
          <a:prstGeom prst="rect">
            <a:avLst/>
          </a:prstGeom>
          <a:noFill/>
          <a:ln>
            <a:noFill/>
          </a:ln>
        </p:spPr>
        <p:txBody>
          <a:bodyPr vert="horz" wrap="square" lIns="0" tIns="0" rIns="0" bIns="0" rtlCol="0" anchor="ctr"/>
          <a:lstStyle/>
          <a:p>
            <a:pPr algn="ctr">
              <a:lnSpc>
                <a:spcPct val="130000"/>
              </a:lnSpc>
            </a:pPr>
            <a:r>
              <a:rPr kumimoji="1" lang="en-US" altLang="zh-CN" sz="1243">
                <a:ln w="12700">
                  <a:noFill/>
                </a:ln>
                <a:solidFill>
                  <a:srgbClr val="262626">
                    <a:alpha val="100000"/>
                  </a:srgbClr>
                </a:solidFill>
                <a:latin typeface="Source Han Sans CN Bold"/>
                <a:ea typeface="Source Han Sans CN Bold"/>
                <a:cs typeface="Source Han Sans CN Bold"/>
              </a:rPr>
              <a:t>Chinese Analytic Structure</a:t>
            </a:r>
            <a:endParaRPr kumimoji="1" lang="zh-CN" altLang="en-US"/>
          </a:p>
        </p:txBody>
      </p:sp>
      <p:sp>
        <p:nvSpPr>
          <p:cNvPr id="19" name="标题 1"/>
          <p:cNvSpPr txBox="1"/>
          <p:nvPr/>
        </p:nvSpPr>
        <p:spPr>
          <a:xfrm>
            <a:off x="1991181" y="3722249"/>
            <a:ext cx="2088072" cy="1262564"/>
          </a:xfrm>
          <a:prstGeom prst="rect">
            <a:avLst/>
          </a:prstGeom>
          <a:noFill/>
          <a:ln>
            <a:noFill/>
          </a:ln>
        </p:spPr>
        <p:txBody>
          <a:bodyPr vert="horz" wrap="square" lIns="0" tIns="0" rIns="0" bIns="0" rtlCol="0" anchor="t"/>
          <a:lstStyle/>
          <a:p>
            <a:pPr algn="ctr">
              <a:lnSpc>
                <a:spcPct val="150000"/>
              </a:lnSpc>
            </a:pPr>
            <a:r>
              <a:rPr kumimoji="1" lang="en-US" altLang="zh-CN" sz="847">
                <a:ln w="12700">
                  <a:noFill/>
                </a:ln>
                <a:solidFill>
                  <a:srgbClr val="262626">
                    <a:alpha val="100000"/>
                  </a:srgbClr>
                </a:solidFill>
                <a:latin typeface="Source Han Sans"/>
                <a:ea typeface="Source Han Sans"/>
                <a:cs typeface="Source Han Sans"/>
              </a:rPr>
              <a:t>Chinese is an analytic language with minimal inflectional morphology. Grammatical relationships are indicated through word order and function words.
For example, the verb 吃 (chī) does not mark tense and requires contextual cues for temporal specification.</a:t>
            </a:r>
            <a:endParaRPr kumimoji="1" lang="zh-CN" altLang="en-US"/>
          </a:p>
        </p:txBody>
      </p:sp>
      <p:sp>
        <p:nvSpPr>
          <p:cNvPr id="20" name="标题 1"/>
          <p:cNvSpPr txBox="1"/>
          <p:nvPr/>
        </p:nvSpPr>
        <p:spPr>
          <a:xfrm>
            <a:off x="5051881" y="3544449"/>
            <a:ext cx="2088072" cy="1262564"/>
          </a:xfrm>
          <a:prstGeom prst="rect">
            <a:avLst/>
          </a:prstGeom>
          <a:noFill/>
          <a:ln>
            <a:noFill/>
          </a:ln>
        </p:spPr>
        <p:txBody>
          <a:bodyPr vert="horz" wrap="square" lIns="0" tIns="0" rIns="0" bIns="0" rtlCol="0" anchor="t"/>
          <a:lstStyle/>
          <a:p>
            <a:pPr algn="ctr">
              <a:lnSpc>
                <a:spcPct val="150000"/>
              </a:lnSpc>
            </a:pPr>
            <a:r>
              <a:rPr kumimoji="1" lang="en-US" altLang="zh-CN" sz="973">
                <a:ln w="12700">
                  <a:noFill/>
                </a:ln>
                <a:solidFill>
                  <a:srgbClr val="262626">
                    <a:alpha val="100000"/>
                  </a:srgbClr>
                </a:solidFill>
                <a:latin typeface="Source Han Sans"/>
                <a:ea typeface="Source Han Sans"/>
                <a:cs typeface="Source Han Sans"/>
              </a:rPr>
              <a:t>English is an inflectional language with morphological changes for tense, aspect, number, and case.
These inflections directly mark grammatical information in words.</a:t>
            </a:r>
            <a:endParaRPr kumimoji="1" lang="zh-CN" altLang="en-US"/>
          </a:p>
        </p:txBody>
      </p:sp>
      <p:sp>
        <p:nvSpPr>
          <p:cNvPr id="21" name="标题 1"/>
          <p:cNvSpPr txBox="1"/>
          <p:nvPr/>
        </p:nvSpPr>
        <p:spPr>
          <a:xfrm>
            <a:off x="5060782" y="2995611"/>
            <a:ext cx="2082968" cy="365899"/>
          </a:xfrm>
          <a:prstGeom prst="rect">
            <a:avLst/>
          </a:prstGeom>
          <a:noFill/>
          <a:ln>
            <a:noFill/>
          </a:ln>
        </p:spPr>
        <p:txBody>
          <a:bodyPr vert="horz" wrap="square" lIns="0" tIns="0" rIns="0" bIns="0" rtlCol="0" anchor="ctr"/>
          <a:lstStyle/>
          <a:p>
            <a:pPr algn="ctr">
              <a:lnSpc>
                <a:spcPct val="130000"/>
              </a:lnSpc>
            </a:pPr>
            <a:r>
              <a:rPr kumimoji="1" lang="en-US" altLang="zh-CN" sz="1125">
                <a:ln w="12700">
                  <a:noFill/>
                </a:ln>
                <a:solidFill>
                  <a:srgbClr val="262626">
                    <a:alpha val="100000"/>
                  </a:srgbClr>
                </a:solidFill>
                <a:latin typeface="Source Han Sans CN Bold"/>
                <a:ea typeface="Source Han Sans CN Bold"/>
                <a:cs typeface="Source Han Sans CN Bold"/>
              </a:rPr>
              <a:t>English Inflectional Structure</a:t>
            </a:r>
            <a:endParaRPr kumimoji="1" lang="zh-CN" altLang="en-US"/>
          </a:p>
        </p:txBody>
      </p:sp>
      <p:sp>
        <p:nvSpPr>
          <p:cNvPr id="22" name="标题 1"/>
          <p:cNvSpPr txBox="1"/>
          <p:nvPr/>
        </p:nvSpPr>
        <p:spPr>
          <a:xfrm>
            <a:off x="8049081" y="3722249"/>
            <a:ext cx="2088072" cy="1262564"/>
          </a:xfrm>
          <a:prstGeom prst="rect">
            <a:avLst/>
          </a:prstGeom>
          <a:noFill/>
          <a:ln>
            <a:noFill/>
          </a:ln>
        </p:spPr>
        <p:txBody>
          <a:bodyPr vert="horz" wrap="square" lIns="0" tIns="0" rIns="0" bIns="0" rtlCol="0" anchor="t"/>
          <a:lstStyle/>
          <a:p>
            <a:pPr algn="ctr">
              <a:lnSpc>
                <a:spcPct val="150000"/>
              </a:lnSpc>
            </a:pPr>
            <a:r>
              <a:rPr kumimoji="1" lang="en-US" altLang="zh-CN" sz="847">
                <a:ln w="12700">
                  <a:noFill/>
                </a:ln>
                <a:solidFill>
                  <a:srgbClr val="262626">
                    <a:alpha val="100000"/>
                  </a:srgbClr>
                </a:solidFill>
                <a:latin typeface="Source Han Sans"/>
                <a:ea typeface="Source Han Sans"/>
                <a:cs typeface="Source Han Sans"/>
              </a:rPr>
              <a:t>Chinese sentences often follow a "bamboo- like" linear structure, emphasizing temporal sequence and logical exposition.
English sentences form a "tree- like" hierarchical structure, relying on subject- predicate framework and subordination.</a:t>
            </a:r>
            <a:endParaRPr kumimoji="1" lang="zh-CN" altLang="en-US"/>
          </a:p>
        </p:txBody>
      </p:sp>
      <p:sp>
        <p:nvSpPr>
          <p:cNvPr id="23" name="标题 1"/>
          <p:cNvSpPr txBox="1"/>
          <p:nvPr/>
        </p:nvSpPr>
        <p:spPr>
          <a:xfrm>
            <a:off x="8057982" y="3173411"/>
            <a:ext cx="2082968" cy="365899"/>
          </a:xfrm>
          <a:prstGeom prst="rect">
            <a:avLst/>
          </a:prstGeom>
          <a:noFill/>
          <a:ln>
            <a:noFill/>
          </a:ln>
        </p:spPr>
        <p:txBody>
          <a:bodyPr vert="horz" wrap="square" lIns="0" tIns="0" rIns="0" bIns="0" rtlCol="0" anchor="ctr"/>
          <a:lstStyle/>
          <a:p>
            <a:pPr algn="ctr">
              <a:lnSpc>
                <a:spcPct val="130000"/>
              </a:lnSpc>
            </a:pPr>
            <a:r>
              <a:rPr kumimoji="1" lang="en-US" altLang="zh-CN" sz="937">
                <a:ln w="12700">
                  <a:noFill/>
                </a:ln>
                <a:solidFill>
                  <a:srgbClr val="262626">
                    <a:alpha val="100000"/>
                  </a:srgbClr>
                </a:solidFill>
                <a:latin typeface="Source Han Sans CN Bold"/>
                <a:ea typeface="Source Han Sans CN Bold"/>
                <a:cs typeface="Source Han Sans CN Bold"/>
              </a:rPr>
              <a:t>Implications for Sentence Construction</a:t>
            </a:r>
            <a:endParaRPr kumimoji="1" lang="zh-CN" altLang="en-US"/>
          </a:p>
        </p:txBody>
      </p:sp>
      <p:sp>
        <p:nvSpPr>
          <p:cNvPr id="24" name="标题 1"/>
          <p:cNvSpPr txBox="1"/>
          <p:nvPr/>
        </p:nvSpPr>
        <p:spPr>
          <a:xfrm>
            <a:off x="0" y="175260"/>
            <a:ext cx="8327425" cy="620632"/>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8742776" y="587097"/>
            <a:ext cx="208231" cy="208795"/>
          </a:xfrm>
          <a:prstGeom prst="rect">
            <a:avLst/>
          </a:prstGeom>
          <a:solidFill>
            <a:schemeClr val="accent1">
              <a:alpha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8535452" y="176388"/>
            <a:ext cx="208231" cy="413840"/>
          </a:xfrm>
          <a:prstGeom prst="rect">
            <a:avLst/>
          </a:prstGeom>
          <a:solidFill>
            <a:schemeClr val="accent1">
              <a:alpha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7" name="标题 1"/>
          <p:cNvSpPr txBox="1"/>
          <p:nvPr/>
        </p:nvSpPr>
        <p:spPr>
          <a:xfrm>
            <a:off x="8743620" y="175022"/>
            <a:ext cx="209004" cy="207106"/>
          </a:xfrm>
          <a:prstGeom prst="rect">
            <a:avLst/>
          </a:prstGeom>
          <a:solidFill>
            <a:schemeClr val="accent1">
              <a:alpha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a:off x="9161592" y="170358"/>
            <a:ext cx="208231" cy="208795"/>
          </a:xfrm>
          <a:prstGeom prst="rect">
            <a:avLst/>
          </a:prstGeom>
          <a:solidFill>
            <a:schemeClr val="accent1">
              <a:alpha val="2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a:off x="8951946" y="379973"/>
            <a:ext cx="208231" cy="208795"/>
          </a:xfrm>
          <a:prstGeom prst="rect">
            <a:avLst/>
          </a:prstGeom>
          <a:solidFill>
            <a:schemeClr val="accent1">
              <a:alpha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a:off x="8327037" y="175184"/>
            <a:ext cx="208231" cy="621268"/>
          </a:xfrm>
          <a:prstGeom prst="rect">
            <a:avLst/>
          </a:prstGeom>
          <a:solidFill>
            <a:schemeClr val="accent1">
              <a:alpha val="9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1" name="标题 1"/>
          <p:cNvSpPr txBox="1"/>
          <p:nvPr/>
        </p:nvSpPr>
        <p:spPr>
          <a:xfrm>
            <a:off x="340170" y="242328"/>
            <a:ext cx="7985452" cy="432000"/>
          </a:xfrm>
          <a:prstGeom prst="rect">
            <a:avLst/>
          </a:prstGeom>
          <a:noFill/>
          <a:ln>
            <a:noFill/>
          </a:ln>
        </p:spPr>
        <p:txBody>
          <a:bodyPr vert="horz" wrap="square" lIns="0" tIns="0" rIns="0" bIns="0" rtlCol="0" anchor="ctr"/>
          <a:lstStyle/>
          <a:p>
            <a:pPr algn="l">
              <a:lnSpc>
                <a:spcPct val="120000"/>
              </a:lnSpc>
            </a:pPr>
            <a:r>
              <a:rPr kumimoji="1" lang="en-US" altLang="zh-CN" sz="2726">
                <a:ln w="12700">
                  <a:noFill/>
                </a:ln>
                <a:solidFill>
                  <a:srgbClr val="FFFFFF">
                    <a:alpha val="100000"/>
                  </a:srgbClr>
                </a:solidFill>
                <a:latin typeface="Source Han Sans CN Bold"/>
                <a:ea typeface="Source Han Sans CN Bold"/>
                <a:cs typeface="Source Han Sans CN Bold"/>
              </a:rPr>
              <a:t>Syntactic Morphology: Analytic vs. Inflectional</a:t>
            </a:r>
            <a:endParaRPr kumimoji="1"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a:stretch>
            <a:fillRect/>
          </a:stretch>
        </p:blipFill>
        <p:spPr>
          <a:xfrm>
            <a:off x="0" y="0"/>
            <a:ext cx="12192000" cy="6857999"/>
          </a:xfrm>
          <a:prstGeom prst="rect">
            <a:avLst/>
          </a:prstGeom>
          <a:noFill/>
          <a:ln>
            <a:noFill/>
          </a:ln>
        </p:spPr>
      </p:pic>
      <p:sp>
        <p:nvSpPr>
          <p:cNvPr id="3" name="标题 1"/>
          <p:cNvSpPr txBox="1"/>
          <p:nvPr/>
        </p:nvSpPr>
        <p:spPr>
          <a:xfrm>
            <a:off x="249"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855302" y="0"/>
            <a:ext cx="1756865" cy="6858000"/>
          </a:xfrm>
          <a:custGeom>
            <a:avLst/>
            <a:gdLst>
              <a:gd name="connsiteX0" fmla="*/ 542835 w 1756865"/>
              <a:gd name="connsiteY0" fmla="*/ 0 h 6858000"/>
              <a:gd name="connsiteX1" fmla="*/ 0 w 1756865"/>
              <a:gd name="connsiteY1" fmla="*/ 0 h 6858000"/>
              <a:gd name="connsiteX2" fmla="*/ 1214030 w 1756865"/>
              <a:gd name="connsiteY2" fmla="*/ 3429000 h 6858000"/>
              <a:gd name="connsiteX3" fmla="*/ 0 w 1756865"/>
              <a:gd name="connsiteY3" fmla="*/ 6858000 h 6858000"/>
              <a:gd name="connsiteX4" fmla="*/ 542835 w 1756865"/>
              <a:gd name="connsiteY4" fmla="*/ 6858000 h 6858000"/>
              <a:gd name="connsiteX5" fmla="*/ 1756865 w 1756865"/>
              <a:gd name="connsiteY5" fmla="*/ 3429000 h 6858000"/>
            </a:gdLst>
            <a:ahLst/>
            <a:cxnLst/>
            <a:rect l="l" t="t" r="r" b="b"/>
            <a:pathLst>
              <a:path w="1756865" h="6858000">
                <a:moveTo>
                  <a:pt x="542835" y="0"/>
                </a:moveTo>
                <a:lnTo>
                  <a:pt x="0" y="0"/>
                </a:lnTo>
                <a:lnTo>
                  <a:pt x="1214030" y="3429000"/>
                </a:lnTo>
                <a:lnTo>
                  <a:pt x="0" y="6858000"/>
                </a:lnTo>
                <a:lnTo>
                  <a:pt x="542835" y="6858000"/>
                </a:lnTo>
                <a:lnTo>
                  <a:pt x="1756865"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291326" y="2214879"/>
            <a:ext cx="3884281" cy="1239520"/>
          </a:xfrm>
          <a:prstGeom prst="rect">
            <a:avLst/>
          </a:prstGeom>
          <a:noFill/>
          <a:ln>
            <a:noFill/>
          </a:ln>
        </p:spPr>
        <p:txBody>
          <a:bodyPr vert="horz" wrap="square" lIns="91440" tIns="45720" rIns="91440" bIns="45720" rtlCol="0" anchor="b"/>
          <a:lstStyle/>
          <a:p>
            <a:pPr algn="r">
              <a:lnSpc>
                <a:spcPct val="110000"/>
              </a:lnSpc>
            </a:pPr>
            <a:r>
              <a:rPr kumimoji="1" lang="en-US" altLang="zh-CN" sz="8800">
                <a:ln w="12700">
                  <a:noFill/>
                </a:ln>
                <a:solidFill>
                  <a:srgbClr val="3AB858">
                    <a:alpha val="100000"/>
                  </a:srgbClr>
                </a:solidFill>
                <a:latin typeface="Source Han Sans CN Regular"/>
                <a:ea typeface="Source Han Sans CN Regular"/>
                <a:cs typeface="Source Han Sans CN Regular"/>
              </a:rPr>
              <a:t>PART-</a:t>
            </a:r>
            <a:endParaRPr kumimoji="1" lang="zh-CN" altLang="en-US"/>
          </a:p>
        </p:txBody>
      </p:sp>
      <p:sp>
        <p:nvSpPr>
          <p:cNvPr id="6" name="标题 1"/>
          <p:cNvSpPr txBox="1"/>
          <p:nvPr/>
        </p:nvSpPr>
        <p:spPr>
          <a:xfrm>
            <a:off x="4874992" y="3345541"/>
            <a:ext cx="6836531" cy="2628398"/>
          </a:xfrm>
          <a:prstGeom prst="rect">
            <a:avLst/>
          </a:prstGeom>
          <a:noFill/>
          <a:ln>
            <a:noFill/>
          </a:ln>
        </p:spPr>
        <p:txBody>
          <a:bodyPr vert="horz" wrap="square" lIns="91440" tIns="45720" rIns="91440" bIns="45720" rtlCol="0" anchor="t"/>
          <a:lstStyle/>
          <a:p>
            <a:pPr algn="r">
              <a:lnSpc>
                <a:spcPct val="130000"/>
              </a:lnSpc>
            </a:pPr>
            <a:r>
              <a:rPr kumimoji="1" lang="en-US" altLang="zh-CN" sz="3081">
                <a:ln w="12700">
                  <a:noFill/>
                </a:ln>
                <a:solidFill>
                  <a:srgbClr val="262626">
                    <a:alpha val="100000"/>
                  </a:srgbClr>
                </a:solidFill>
                <a:latin typeface="Source Han Sans CN Regular"/>
                <a:ea typeface="Source Han Sans CN Regular"/>
                <a:cs typeface="Source Han Sans CN Regular"/>
              </a:rPr>
              <a:t>Lexical Systems and Semantic Expression: Categorization Boundaries and Metaphorical Mappings</a:t>
            </a:r>
            <a:endParaRPr kumimoji="1" lang="zh-CN" altLang="en-US"/>
          </a:p>
        </p:txBody>
      </p:sp>
      <p:sp>
        <p:nvSpPr>
          <p:cNvPr id="7" name="标题 1"/>
          <p:cNvSpPr txBox="1"/>
          <p:nvPr/>
        </p:nvSpPr>
        <p:spPr>
          <a:xfrm>
            <a:off x="249"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flipH="1" flipV="1">
            <a:off x="3704707" y="0"/>
            <a:ext cx="2761198" cy="2380343"/>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flipH="1">
            <a:off x="3679488" y="5549312"/>
            <a:ext cx="1568586" cy="1352230"/>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9570379" y="994769"/>
            <a:ext cx="1805213" cy="251200"/>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flipH="1" flipV="1">
            <a:off x="4010813" y="190324"/>
            <a:ext cx="1998550" cy="1722888"/>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flipH="1">
            <a:off x="3815204" y="5760064"/>
            <a:ext cx="1247088" cy="1075076"/>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rot="19442050" flipH="1">
            <a:off x="11694617" y="-191671"/>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rot="2157950" flipH="1" flipV="1">
            <a:off x="11694617" y="6115222"/>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263329" y="0"/>
            <a:ext cx="1966034" cy="6858000"/>
          </a:xfrm>
          <a:custGeom>
            <a:avLst/>
            <a:gdLst>
              <a:gd name="connsiteX0" fmla="*/ 838730 w 1966034"/>
              <a:gd name="connsiteY0" fmla="*/ 0 h 6858000"/>
              <a:gd name="connsiteX1" fmla="*/ 0 w 1966034"/>
              <a:gd name="connsiteY1" fmla="*/ 0 h 6858000"/>
              <a:gd name="connsiteX2" fmla="*/ 1127304 w 1966034"/>
              <a:gd name="connsiteY2" fmla="*/ 3498566 h 6858000"/>
              <a:gd name="connsiteX3" fmla="*/ 44831 w 1966034"/>
              <a:gd name="connsiteY3" fmla="*/ 6858000 h 6858000"/>
              <a:gd name="connsiteX4" fmla="*/ 883561 w 1966034"/>
              <a:gd name="connsiteY4" fmla="*/ 6858000 h 6858000"/>
              <a:gd name="connsiteX5" fmla="*/ 1966034 w 1966034"/>
              <a:gd name="connsiteY5" fmla="*/ 3498566 h 6858000"/>
            </a:gdLst>
            <a:ahLst/>
            <a:cxnLst/>
            <a:rect l="l" t="t" r="r" b="b"/>
            <a:pathLst>
              <a:path w="1966034" h="6858000">
                <a:moveTo>
                  <a:pt x="838730" y="0"/>
                </a:moveTo>
                <a:lnTo>
                  <a:pt x="0" y="0"/>
                </a:lnTo>
                <a:lnTo>
                  <a:pt x="1127304" y="3498566"/>
                </a:lnTo>
                <a:lnTo>
                  <a:pt x="44831" y="6858000"/>
                </a:lnTo>
                <a:lnTo>
                  <a:pt x="883561" y="6858000"/>
                </a:lnTo>
                <a:lnTo>
                  <a:pt x="1966034" y="3498566"/>
                </a:lnTo>
                <a:close/>
              </a:path>
            </a:pathLst>
          </a:cu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331847" y="1622220"/>
            <a:ext cx="2483357" cy="3592635"/>
          </a:xfrm>
          <a:prstGeom prst="chevron">
            <a:avLst>
              <a:gd name="adj" fmla="val 25606"/>
            </a:avLst>
          </a:prstGeom>
          <a:solidFill>
            <a:schemeClr val="accent1">
              <a:lumMod val="40000"/>
              <a:lumOff val="60000"/>
              <a:alpha val="50000"/>
            </a:schemeClr>
          </a:solidFill>
          <a:ln w="12700" cap="sq">
            <a:solidFill>
              <a:schemeClr val="accent1">
                <a:lumMod val="40000"/>
                <a:lumOff val="60000"/>
              </a:schemeClr>
            </a:solidFill>
            <a:miter/>
          </a:ln>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250" y="657455"/>
            <a:ext cx="981260" cy="5543093"/>
          </a:xfrm>
          <a:custGeom>
            <a:avLst/>
            <a:gdLst>
              <a:gd name="connsiteX0" fmla="*/ 0 w 981260"/>
              <a:gd name="connsiteY0" fmla="*/ 0 h 5543093"/>
              <a:gd name="connsiteX1" fmla="*/ 0 w 981260"/>
              <a:gd name="connsiteY1" fmla="*/ 532939 h 5543093"/>
              <a:gd name="connsiteX2" fmla="*/ 792574 w 981260"/>
              <a:gd name="connsiteY2" fmla="*/ 2771546 h 5543093"/>
              <a:gd name="connsiteX3" fmla="*/ 0 w 981260"/>
              <a:gd name="connsiteY3" fmla="*/ 5010154 h 5543093"/>
              <a:gd name="connsiteX4" fmla="*/ 0 w 981260"/>
              <a:gd name="connsiteY4" fmla="*/ 5543093 h 5543093"/>
              <a:gd name="connsiteX5" fmla="*/ 981260 w 981260"/>
              <a:gd name="connsiteY5" fmla="*/ 2771546 h 5543093"/>
            </a:gdLst>
            <a:ahLst/>
            <a:cxnLst/>
            <a:rect l="l" t="t" r="r" b="b"/>
            <a:pathLst>
              <a:path w="981260" h="5543093">
                <a:moveTo>
                  <a:pt x="0" y="0"/>
                </a:moveTo>
                <a:lnTo>
                  <a:pt x="0" y="532939"/>
                </a:lnTo>
                <a:lnTo>
                  <a:pt x="792574" y="2771546"/>
                </a:lnTo>
                <a:lnTo>
                  <a:pt x="0" y="5010154"/>
                </a:lnTo>
                <a:lnTo>
                  <a:pt x="0" y="5543093"/>
                </a:lnTo>
                <a:lnTo>
                  <a:pt x="981260" y="2771546"/>
                </a:lnTo>
                <a:close/>
              </a:path>
            </a:pathLst>
          </a:custGeom>
          <a:solidFill>
            <a:schemeClr val="accent1">
              <a:lumMod val="40000"/>
              <a:lumOff val="6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250" y="0"/>
            <a:ext cx="1473292" cy="6858000"/>
          </a:xfrm>
          <a:custGeom>
            <a:avLst/>
            <a:gdLst>
              <a:gd name="connsiteX0" fmla="*/ 259262 w 1473292"/>
              <a:gd name="connsiteY0" fmla="*/ 0 h 6858000"/>
              <a:gd name="connsiteX1" fmla="*/ 0 w 1473292"/>
              <a:gd name="connsiteY1" fmla="*/ 0 h 6858000"/>
              <a:gd name="connsiteX2" fmla="*/ 0 w 1473292"/>
              <a:gd name="connsiteY2" fmla="*/ 800946 h 6858000"/>
              <a:gd name="connsiteX3" fmla="*/ 930457 w 1473292"/>
              <a:gd name="connsiteY3" fmla="*/ 3429000 h 6858000"/>
              <a:gd name="connsiteX4" fmla="*/ 0 w 1473292"/>
              <a:gd name="connsiteY4" fmla="*/ 6057055 h 6858000"/>
              <a:gd name="connsiteX5" fmla="*/ 0 w 1473292"/>
              <a:gd name="connsiteY5" fmla="*/ 6858000 h 6858000"/>
              <a:gd name="connsiteX6" fmla="*/ 259262 w 1473292"/>
              <a:gd name="connsiteY6" fmla="*/ 6858000 h 6858000"/>
              <a:gd name="connsiteX7" fmla="*/ 1473292 w 1473292"/>
              <a:gd name="connsiteY7" fmla="*/ 3429000 h 6858000"/>
            </a:gdLst>
            <a:ahLst/>
            <a:cxnLst/>
            <a:rect l="l" t="t" r="r" b="b"/>
            <a:pathLst>
              <a:path w="1473292" h="6858000">
                <a:moveTo>
                  <a:pt x="259262" y="0"/>
                </a:moveTo>
                <a:lnTo>
                  <a:pt x="0" y="0"/>
                </a:lnTo>
                <a:lnTo>
                  <a:pt x="0" y="800946"/>
                </a:lnTo>
                <a:lnTo>
                  <a:pt x="930457" y="3429000"/>
                </a:lnTo>
                <a:lnTo>
                  <a:pt x="0" y="6057055"/>
                </a:lnTo>
                <a:lnTo>
                  <a:pt x="0" y="6858000"/>
                </a:lnTo>
                <a:lnTo>
                  <a:pt x="259262" y="6858000"/>
                </a:lnTo>
                <a:lnTo>
                  <a:pt x="1473292"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9528580" y="657455"/>
            <a:ext cx="2182943" cy="2796944"/>
          </a:xfrm>
          <a:prstGeom prst="rect">
            <a:avLst/>
          </a:prstGeom>
          <a:noFill/>
          <a:ln>
            <a:noFill/>
          </a:ln>
        </p:spPr>
        <p:txBody>
          <a:bodyPr vert="horz" wrap="square" lIns="91440" tIns="45720" rIns="91440" bIns="45720" rtlCol="0" anchor="b"/>
          <a:lstStyle/>
          <a:p>
            <a:pPr algn="r">
              <a:lnSpc>
                <a:spcPct val="110000"/>
              </a:lnSpc>
            </a:pPr>
            <a:r>
              <a:rPr kumimoji="1" lang="en-US" altLang="zh-CN" sz="8800">
                <a:ln w="12700">
                  <a:noFill/>
                </a:ln>
                <a:solidFill>
                  <a:srgbClr val="3AB858">
                    <a:alpha val="100000"/>
                  </a:srgbClr>
                </a:solidFill>
                <a:latin typeface="Source Han Sans CN Regular"/>
                <a:ea typeface="Source Han Sans CN Regular"/>
                <a:cs typeface="Source Han Sans CN Regular"/>
              </a:rPr>
              <a:t>04</a:t>
            </a:r>
            <a:endParaRPr kumimoji="1"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1"/>
            <a:ext cx="12192000" cy="6858000"/>
          </a:xfrm>
          <a:prstGeom prst="rect">
            <a:avLst/>
          </a:pr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729206" y="4039195"/>
            <a:ext cx="13079394" cy="2002420"/>
          </a:xfrm>
          <a:custGeom>
            <a:avLst/>
            <a:gdLst>
              <a:gd name="connsiteX0" fmla="*/ 0 w 12616405"/>
              <a:gd name="connsiteY0" fmla="*/ 2002420 h 2002420"/>
              <a:gd name="connsiteX1" fmla="*/ 1967696 w 12616405"/>
              <a:gd name="connsiteY1" fmla="*/ 972273 h 2002420"/>
              <a:gd name="connsiteX2" fmla="*/ 4942390 w 12616405"/>
              <a:gd name="connsiteY2" fmla="*/ 289367 h 2002420"/>
              <a:gd name="connsiteX3" fmla="*/ 7211027 w 12616405"/>
              <a:gd name="connsiteY3" fmla="*/ 636608 h 2002420"/>
              <a:gd name="connsiteX4" fmla="*/ 9051404 w 12616405"/>
              <a:gd name="connsiteY4" fmla="*/ 1203767 h 2002420"/>
              <a:gd name="connsiteX5" fmla="*/ 10822329 w 12616405"/>
              <a:gd name="connsiteY5" fmla="*/ 879675 h 2002420"/>
              <a:gd name="connsiteX6" fmla="*/ 11817753 w 12616405"/>
              <a:gd name="connsiteY6" fmla="*/ 335665 h 2002420"/>
              <a:gd name="connsiteX7" fmla="*/ 12546957 w 12616405"/>
              <a:gd name="connsiteY7" fmla="*/ 23149 h 2002420"/>
              <a:gd name="connsiteX8" fmla="*/ 12616405 w 12616405"/>
              <a:gd name="connsiteY8" fmla="*/ 0 h 2002420"/>
              <a:gd name="connsiteX9" fmla="*/ 12616405 w 12616405"/>
              <a:gd name="connsiteY9" fmla="*/ 0 h 2002420"/>
              <a:gd name="connsiteX10" fmla="*/ 12616405 w 12616405"/>
              <a:gd name="connsiteY10" fmla="*/ 0 h 2002420"/>
              <a:gd name="connsiteX11" fmla="*/ 12616405 w 12616405"/>
              <a:gd name="connsiteY11" fmla="*/ 0 h 2002420"/>
              <a:gd name="connsiteX12" fmla="*/ 12616405 w 12616405"/>
              <a:gd name="connsiteY12" fmla="*/ 0 h 2002420"/>
              <a:gd name="connsiteX13" fmla="*/ 12616405 w 12616405"/>
              <a:gd name="connsiteY13" fmla="*/ 0 h 2002420"/>
              <a:gd name="connsiteX14" fmla="*/ 12616405 w 12616405"/>
              <a:gd name="connsiteY14" fmla="*/ 0 h 2002420"/>
              <a:gd name="connsiteX15" fmla="*/ 12616405 w 12616405"/>
              <a:gd name="connsiteY15" fmla="*/ 0 h 2002420"/>
              <a:gd name="connsiteX16" fmla="*/ 12616405 w 12616405"/>
              <a:gd name="connsiteY16" fmla="*/ 0 h 2002420"/>
            </a:gdLst>
            <a:ahLst/>
            <a:cxnLst/>
            <a:rect l="l" t="t" r="r" b="b"/>
            <a:pathLst>
              <a:path w="12616405" h="2002420">
                <a:moveTo>
                  <a:pt x="0" y="2002420"/>
                </a:moveTo>
                <a:cubicBezTo>
                  <a:pt x="506393" y="1749224"/>
                  <a:pt x="1153952" y="1285116"/>
                  <a:pt x="1967696" y="972273"/>
                </a:cubicBezTo>
                <a:cubicBezTo>
                  <a:pt x="2860876" y="628891"/>
                  <a:pt x="4068502" y="345311"/>
                  <a:pt x="4942390" y="289367"/>
                </a:cubicBezTo>
                <a:cubicBezTo>
                  <a:pt x="5816279" y="233423"/>
                  <a:pt x="6526192" y="484208"/>
                  <a:pt x="7211027" y="636608"/>
                </a:cubicBezTo>
                <a:cubicBezTo>
                  <a:pt x="7895862" y="789008"/>
                  <a:pt x="8449520" y="1163256"/>
                  <a:pt x="9051404" y="1203767"/>
                </a:cubicBezTo>
                <a:cubicBezTo>
                  <a:pt x="9653288" y="1244278"/>
                  <a:pt x="10029726" y="1211462"/>
                  <a:pt x="10822329" y="879675"/>
                </a:cubicBezTo>
                <a:lnTo>
                  <a:pt x="11817753" y="335665"/>
                </a:lnTo>
                <a:cubicBezTo>
                  <a:pt x="12105191" y="192911"/>
                  <a:pt x="12379124" y="92597"/>
                  <a:pt x="12546957" y="23149"/>
                </a:cubicBezTo>
                <a:cubicBezTo>
                  <a:pt x="12569854" y="14713"/>
                  <a:pt x="12616405" y="0"/>
                  <a:pt x="12616405" y="0"/>
                </a:cubicBezTo>
              </a:path>
            </a:pathLst>
          </a:custGeom>
          <a:noFill/>
          <a:ln w="41275" cap="sq">
            <a:gradFill>
              <a:gsLst>
                <a:gs pos="0">
                  <a:schemeClr val="bg1">
                    <a:lumMod val="95000"/>
                  </a:schemeClr>
                </a:gs>
                <a:gs pos="53000">
                  <a:schemeClr val="bg1">
                    <a:lumMod val="85000"/>
                  </a:schemeClr>
                </a:gs>
                <a:gs pos="98000">
                  <a:schemeClr val="bg1">
                    <a:lumMod val="75000"/>
                  </a:schemeClr>
                </a:gs>
              </a:gsLst>
              <a:lin ang="0" scaled="0"/>
            </a:gra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995423" y="4895721"/>
            <a:ext cx="289367" cy="289367"/>
          </a:xfrm>
          <a:prstGeom prst="ellipse">
            <a:avLst/>
          </a:prstGeom>
          <a:solidFill>
            <a:schemeClr val="accent1"/>
          </a:solidFill>
          <a:ln w="12700" cap="sq">
            <a:noFill/>
            <a:miter/>
          </a:ln>
          <a:effectLst>
            <a:outerShdw blurRad="50800" dist="38100" dir="8100000" algn="tr"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4421529" y="4219085"/>
            <a:ext cx="289367" cy="289367"/>
          </a:xfrm>
          <a:prstGeom prst="ellipse">
            <a:avLst/>
          </a:prstGeom>
          <a:solidFill>
            <a:schemeClr val="accent1"/>
          </a:solidFill>
          <a:ln w="12700" cap="sq">
            <a:noFill/>
            <a:miter/>
          </a:ln>
          <a:effectLst>
            <a:outerShdw blurRad="50800" dist="38100" dir="8100000" algn="tr"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8252750" y="5040405"/>
            <a:ext cx="289367" cy="289367"/>
          </a:xfrm>
          <a:prstGeom prst="ellipse">
            <a:avLst/>
          </a:prstGeom>
          <a:solidFill>
            <a:schemeClr val="accent1"/>
          </a:solidFill>
          <a:ln w="12700" cap="sq">
            <a:noFill/>
            <a:miter/>
          </a:ln>
          <a:effectLst>
            <a:outerShdw blurRad="50800" dist="38100" dir="8100000" algn="tr"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660400" y="1983065"/>
            <a:ext cx="3113590" cy="1897526"/>
          </a:xfrm>
          <a:prstGeom prst="roundRect">
            <a:avLst>
              <a:gd name="adj" fmla="val 4278"/>
            </a:avLst>
          </a:prstGeom>
          <a:solidFill>
            <a:schemeClr val="bg1">
              <a:lumMod val="95000"/>
            </a:schemeClr>
          </a:solidFill>
          <a:ln w="12700" cap="sq">
            <a:noFill/>
            <a:miter/>
          </a:ln>
          <a:effectLst>
            <a:outerShdw blurRad="50800" dist="38100" dir="8100000" algn="tr" rotWithShape="0">
              <a:schemeClr val="bg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5400000">
            <a:off x="1396317" y="2545619"/>
            <a:ext cx="808376" cy="2673750"/>
          </a:xfrm>
          <a:custGeom>
            <a:avLst/>
            <a:gdLst>
              <a:gd name="connsiteX0" fmla="*/ 0 w 808376"/>
              <a:gd name="connsiteY0" fmla="*/ 2556071 h 2673750"/>
              <a:gd name="connsiteX1" fmla="*/ 0 w 808376"/>
              <a:gd name="connsiteY1" fmla="*/ 117679 h 2673750"/>
              <a:gd name="connsiteX2" fmla="*/ 117679 w 808376"/>
              <a:gd name="connsiteY2" fmla="*/ 0 h 2673750"/>
              <a:gd name="connsiteX3" fmla="*/ 588380 w 808376"/>
              <a:gd name="connsiteY3" fmla="*/ 0 h 2673750"/>
              <a:gd name="connsiteX4" fmla="*/ 706059 w 808376"/>
              <a:gd name="connsiteY4" fmla="*/ 117679 h 2673750"/>
              <a:gd name="connsiteX5" fmla="*/ 706059 w 808376"/>
              <a:gd name="connsiteY5" fmla="*/ 2140379 h 2673750"/>
              <a:gd name="connsiteX6" fmla="*/ 808376 w 808376"/>
              <a:gd name="connsiteY6" fmla="*/ 2316788 h 2673750"/>
              <a:gd name="connsiteX7" fmla="*/ 706059 w 808376"/>
              <a:gd name="connsiteY7" fmla="*/ 2316788 h 2673750"/>
              <a:gd name="connsiteX8" fmla="*/ 706059 w 808376"/>
              <a:gd name="connsiteY8" fmla="*/ 2556071 h 2673750"/>
              <a:gd name="connsiteX9" fmla="*/ 588380 w 808376"/>
              <a:gd name="connsiteY9" fmla="*/ 2673750 h 2673750"/>
              <a:gd name="connsiteX10" fmla="*/ 117679 w 808376"/>
              <a:gd name="connsiteY10" fmla="*/ 2673750 h 2673750"/>
              <a:gd name="connsiteX11" fmla="*/ 0 w 808376"/>
              <a:gd name="connsiteY11" fmla="*/ 2556071 h 2673750"/>
            </a:gdLst>
            <a:ahLst/>
            <a:cxnLst/>
            <a:rect l="l" t="t" r="r" b="b"/>
            <a:pathLst>
              <a:path w="808376" h="2673750">
                <a:moveTo>
                  <a:pt x="0" y="2556071"/>
                </a:moveTo>
                <a:lnTo>
                  <a:pt x="0" y="117679"/>
                </a:lnTo>
                <a:cubicBezTo>
                  <a:pt x="0" y="52687"/>
                  <a:pt x="52687" y="0"/>
                  <a:pt x="117679" y="0"/>
                </a:cubicBezTo>
                <a:lnTo>
                  <a:pt x="588380" y="0"/>
                </a:lnTo>
                <a:cubicBezTo>
                  <a:pt x="653372" y="0"/>
                  <a:pt x="706059" y="52687"/>
                  <a:pt x="706059" y="117679"/>
                </a:cubicBezTo>
                <a:lnTo>
                  <a:pt x="706059" y="2140379"/>
                </a:lnTo>
                <a:lnTo>
                  <a:pt x="808376" y="2316788"/>
                </a:lnTo>
                <a:lnTo>
                  <a:pt x="706059" y="2316788"/>
                </a:lnTo>
                <a:lnTo>
                  <a:pt x="706059" y="2556071"/>
                </a:lnTo>
                <a:cubicBezTo>
                  <a:pt x="706059" y="2621063"/>
                  <a:pt x="653372" y="2673750"/>
                  <a:pt x="588380" y="2673750"/>
                </a:cubicBezTo>
                <a:lnTo>
                  <a:pt x="117679" y="2673750"/>
                </a:lnTo>
                <a:cubicBezTo>
                  <a:pt x="52687" y="2673750"/>
                  <a:pt x="0" y="2621063"/>
                  <a:pt x="0" y="2556071"/>
                </a:cubicBezTo>
                <a:close/>
              </a:path>
            </a:pathLst>
          </a:custGeom>
          <a:gradFill>
            <a:gsLst>
              <a:gs pos="0">
                <a:schemeClr val="accent1">
                  <a:alpha val="100000"/>
                </a:schemeClr>
              </a:gs>
              <a:gs pos="100000">
                <a:schemeClr val="accent1">
                  <a:lumMod val="75000"/>
                  <a:alpha val="100000"/>
                </a:schemeClr>
              </a:gs>
            </a:gsLst>
            <a:lin ang="2700000" scaled="0"/>
          </a:gradFill>
          <a:ln w="12700" cap="sq">
            <a:noFill/>
            <a:miter/>
          </a:ln>
          <a:effectLst>
            <a:outerShdw blurRad="50800" dist="38100" dir="8100000" algn="tr"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4532855" y="1362485"/>
            <a:ext cx="3113590" cy="1915097"/>
          </a:xfrm>
          <a:prstGeom prst="roundRect">
            <a:avLst>
              <a:gd name="adj" fmla="val 4278"/>
            </a:avLst>
          </a:prstGeom>
          <a:solidFill>
            <a:schemeClr val="bg1">
              <a:lumMod val="95000"/>
            </a:schemeClr>
          </a:solidFill>
          <a:ln w="12700" cap="sq">
            <a:noFill/>
            <a:miter/>
          </a:ln>
          <a:effectLst>
            <a:outerShdw blurRad="50800" dist="38100" dir="8100000" algn="tr" rotWithShape="0">
              <a:schemeClr val="bg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rot="5400000">
            <a:off x="5248156" y="1955311"/>
            <a:ext cx="808376" cy="2673750"/>
          </a:xfrm>
          <a:custGeom>
            <a:avLst/>
            <a:gdLst>
              <a:gd name="connsiteX0" fmla="*/ 0 w 808376"/>
              <a:gd name="connsiteY0" fmla="*/ 2556071 h 2673750"/>
              <a:gd name="connsiteX1" fmla="*/ 0 w 808376"/>
              <a:gd name="connsiteY1" fmla="*/ 117679 h 2673750"/>
              <a:gd name="connsiteX2" fmla="*/ 117679 w 808376"/>
              <a:gd name="connsiteY2" fmla="*/ 0 h 2673750"/>
              <a:gd name="connsiteX3" fmla="*/ 588380 w 808376"/>
              <a:gd name="connsiteY3" fmla="*/ 0 h 2673750"/>
              <a:gd name="connsiteX4" fmla="*/ 706059 w 808376"/>
              <a:gd name="connsiteY4" fmla="*/ 117679 h 2673750"/>
              <a:gd name="connsiteX5" fmla="*/ 706059 w 808376"/>
              <a:gd name="connsiteY5" fmla="*/ 2140379 h 2673750"/>
              <a:gd name="connsiteX6" fmla="*/ 808376 w 808376"/>
              <a:gd name="connsiteY6" fmla="*/ 2316788 h 2673750"/>
              <a:gd name="connsiteX7" fmla="*/ 706059 w 808376"/>
              <a:gd name="connsiteY7" fmla="*/ 2316788 h 2673750"/>
              <a:gd name="connsiteX8" fmla="*/ 706059 w 808376"/>
              <a:gd name="connsiteY8" fmla="*/ 2556071 h 2673750"/>
              <a:gd name="connsiteX9" fmla="*/ 588380 w 808376"/>
              <a:gd name="connsiteY9" fmla="*/ 2673750 h 2673750"/>
              <a:gd name="connsiteX10" fmla="*/ 117679 w 808376"/>
              <a:gd name="connsiteY10" fmla="*/ 2673750 h 2673750"/>
              <a:gd name="connsiteX11" fmla="*/ 0 w 808376"/>
              <a:gd name="connsiteY11" fmla="*/ 2556071 h 2673750"/>
            </a:gdLst>
            <a:ahLst/>
            <a:cxnLst/>
            <a:rect l="l" t="t" r="r" b="b"/>
            <a:pathLst>
              <a:path w="808376" h="2673750">
                <a:moveTo>
                  <a:pt x="0" y="2556071"/>
                </a:moveTo>
                <a:lnTo>
                  <a:pt x="0" y="117679"/>
                </a:lnTo>
                <a:cubicBezTo>
                  <a:pt x="0" y="52687"/>
                  <a:pt x="52687" y="0"/>
                  <a:pt x="117679" y="0"/>
                </a:cubicBezTo>
                <a:lnTo>
                  <a:pt x="588380" y="0"/>
                </a:lnTo>
                <a:cubicBezTo>
                  <a:pt x="653372" y="0"/>
                  <a:pt x="706059" y="52687"/>
                  <a:pt x="706059" y="117679"/>
                </a:cubicBezTo>
                <a:lnTo>
                  <a:pt x="706059" y="2140379"/>
                </a:lnTo>
                <a:lnTo>
                  <a:pt x="808376" y="2316788"/>
                </a:lnTo>
                <a:lnTo>
                  <a:pt x="706059" y="2316788"/>
                </a:lnTo>
                <a:lnTo>
                  <a:pt x="706059" y="2556071"/>
                </a:lnTo>
                <a:cubicBezTo>
                  <a:pt x="706059" y="2621063"/>
                  <a:pt x="653372" y="2673750"/>
                  <a:pt x="588380" y="2673750"/>
                </a:cubicBezTo>
                <a:lnTo>
                  <a:pt x="117679" y="2673750"/>
                </a:lnTo>
                <a:cubicBezTo>
                  <a:pt x="52687" y="2673750"/>
                  <a:pt x="0" y="2621063"/>
                  <a:pt x="0" y="2556071"/>
                </a:cubicBezTo>
                <a:close/>
              </a:path>
            </a:pathLst>
          </a:custGeom>
          <a:gradFill>
            <a:gsLst>
              <a:gs pos="0">
                <a:schemeClr val="accent1">
                  <a:alpha val="100000"/>
                </a:schemeClr>
              </a:gs>
              <a:gs pos="100000">
                <a:schemeClr val="accent1">
                  <a:lumMod val="75000"/>
                  <a:alpha val="100000"/>
                </a:schemeClr>
              </a:gs>
            </a:gsLst>
            <a:lin ang="2700000" scaled="0"/>
          </a:gradFill>
          <a:ln w="12700" cap="sq">
            <a:noFill/>
            <a:miter/>
          </a:ln>
          <a:effectLst>
            <a:outerShdw blurRad="50800" dist="38100" dir="8100000" algn="tr"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8405310" y="2341881"/>
            <a:ext cx="3113590" cy="1823719"/>
          </a:xfrm>
          <a:prstGeom prst="roundRect">
            <a:avLst>
              <a:gd name="adj" fmla="val 4278"/>
            </a:avLst>
          </a:prstGeom>
          <a:solidFill>
            <a:schemeClr val="bg1">
              <a:lumMod val="95000"/>
            </a:schemeClr>
          </a:solidFill>
          <a:ln w="12700" cap="sq">
            <a:noFill/>
            <a:miter/>
          </a:ln>
          <a:effectLst>
            <a:outerShdw blurRad="50800" dist="38100" dir="8100000" algn="tr" rotWithShape="0">
              <a:schemeClr val="bg1">
                <a:lumMod val="50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5400000">
            <a:off x="9130296" y="2866526"/>
            <a:ext cx="808376" cy="2673750"/>
          </a:xfrm>
          <a:custGeom>
            <a:avLst/>
            <a:gdLst>
              <a:gd name="connsiteX0" fmla="*/ 0 w 808376"/>
              <a:gd name="connsiteY0" fmla="*/ 2556071 h 2673750"/>
              <a:gd name="connsiteX1" fmla="*/ 0 w 808376"/>
              <a:gd name="connsiteY1" fmla="*/ 117679 h 2673750"/>
              <a:gd name="connsiteX2" fmla="*/ 117679 w 808376"/>
              <a:gd name="connsiteY2" fmla="*/ 0 h 2673750"/>
              <a:gd name="connsiteX3" fmla="*/ 588380 w 808376"/>
              <a:gd name="connsiteY3" fmla="*/ 0 h 2673750"/>
              <a:gd name="connsiteX4" fmla="*/ 706059 w 808376"/>
              <a:gd name="connsiteY4" fmla="*/ 117679 h 2673750"/>
              <a:gd name="connsiteX5" fmla="*/ 706059 w 808376"/>
              <a:gd name="connsiteY5" fmla="*/ 2140379 h 2673750"/>
              <a:gd name="connsiteX6" fmla="*/ 808376 w 808376"/>
              <a:gd name="connsiteY6" fmla="*/ 2316788 h 2673750"/>
              <a:gd name="connsiteX7" fmla="*/ 706059 w 808376"/>
              <a:gd name="connsiteY7" fmla="*/ 2316788 h 2673750"/>
              <a:gd name="connsiteX8" fmla="*/ 706059 w 808376"/>
              <a:gd name="connsiteY8" fmla="*/ 2556071 h 2673750"/>
              <a:gd name="connsiteX9" fmla="*/ 588380 w 808376"/>
              <a:gd name="connsiteY9" fmla="*/ 2673750 h 2673750"/>
              <a:gd name="connsiteX10" fmla="*/ 117679 w 808376"/>
              <a:gd name="connsiteY10" fmla="*/ 2673750 h 2673750"/>
              <a:gd name="connsiteX11" fmla="*/ 0 w 808376"/>
              <a:gd name="connsiteY11" fmla="*/ 2556071 h 2673750"/>
            </a:gdLst>
            <a:ahLst/>
            <a:cxnLst/>
            <a:rect l="l" t="t" r="r" b="b"/>
            <a:pathLst>
              <a:path w="808376" h="2673750">
                <a:moveTo>
                  <a:pt x="0" y="2556071"/>
                </a:moveTo>
                <a:lnTo>
                  <a:pt x="0" y="117679"/>
                </a:lnTo>
                <a:cubicBezTo>
                  <a:pt x="0" y="52687"/>
                  <a:pt x="52687" y="0"/>
                  <a:pt x="117679" y="0"/>
                </a:cubicBezTo>
                <a:lnTo>
                  <a:pt x="588380" y="0"/>
                </a:lnTo>
                <a:cubicBezTo>
                  <a:pt x="653372" y="0"/>
                  <a:pt x="706059" y="52687"/>
                  <a:pt x="706059" y="117679"/>
                </a:cubicBezTo>
                <a:lnTo>
                  <a:pt x="706059" y="2140379"/>
                </a:lnTo>
                <a:lnTo>
                  <a:pt x="808376" y="2316788"/>
                </a:lnTo>
                <a:lnTo>
                  <a:pt x="706059" y="2316788"/>
                </a:lnTo>
                <a:lnTo>
                  <a:pt x="706059" y="2556071"/>
                </a:lnTo>
                <a:cubicBezTo>
                  <a:pt x="706059" y="2621063"/>
                  <a:pt x="653372" y="2673750"/>
                  <a:pt x="588380" y="2673750"/>
                </a:cubicBezTo>
                <a:lnTo>
                  <a:pt x="117679" y="2673750"/>
                </a:lnTo>
                <a:cubicBezTo>
                  <a:pt x="52687" y="2673750"/>
                  <a:pt x="0" y="2621063"/>
                  <a:pt x="0" y="2556071"/>
                </a:cubicBezTo>
                <a:close/>
              </a:path>
            </a:pathLst>
          </a:custGeom>
          <a:gradFill>
            <a:gsLst>
              <a:gs pos="0">
                <a:schemeClr val="accent1">
                  <a:alpha val="100000"/>
                </a:schemeClr>
              </a:gs>
              <a:gs pos="100000">
                <a:schemeClr val="accent1">
                  <a:lumMod val="75000"/>
                  <a:alpha val="100000"/>
                </a:schemeClr>
              </a:gs>
            </a:gsLst>
            <a:lin ang="2700000" scaled="0"/>
          </a:gradFill>
          <a:ln w="12700" cap="sq">
            <a:noFill/>
            <a:miter/>
          </a:ln>
          <a:effectLst>
            <a:outerShdw blurRad="50800" dist="38100" dir="8100000" algn="tr"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579377" y="3479431"/>
            <a:ext cx="2442257" cy="696740"/>
          </a:xfrm>
          <a:prstGeom prst="rect">
            <a:avLst/>
          </a:prstGeom>
          <a:noFill/>
          <a:ln>
            <a:noFill/>
          </a:ln>
        </p:spPr>
        <p:txBody>
          <a:bodyPr vert="horz" wrap="square" lIns="0" tIns="0" rIns="0" bIns="0" rtlCol="0" anchor="ctr"/>
          <a:lstStyle/>
          <a:p>
            <a:pPr algn="ctr">
              <a:lnSpc>
                <a:spcPct val="120000"/>
              </a:lnSpc>
            </a:pPr>
            <a:r>
              <a:rPr kumimoji="1" lang="en-US" altLang="zh-CN" sz="1600">
                <a:ln w="12700">
                  <a:noFill/>
                </a:ln>
                <a:solidFill>
                  <a:srgbClr val="FFFFFF">
                    <a:alpha val="100000"/>
                  </a:srgbClr>
                </a:solidFill>
                <a:latin typeface="Source Han Sans CN Bold"/>
                <a:ea typeface="Source Han Sans CN Bold"/>
                <a:cs typeface="Source Han Sans CN Bold"/>
              </a:rPr>
              <a:t>Verbs of "Saying" and "Writing"</a:t>
            </a:r>
            <a:endParaRPr kumimoji="1" lang="zh-CN" altLang="en-US"/>
          </a:p>
        </p:txBody>
      </p:sp>
      <p:sp>
        <p:nvSpPr>
          <p:cNvPr id="14" name="标题 1"/>
          <p:cNvSpPr txBox="1"/>
          <p:nvPr/>
        </p:nvSpPr>
        <p:spPr>
          <a:xfrm>
            <a:off x="4338617" y="2855513"/>
            <a:ext cx="2627454" cy="777763"/>
          </a:xfrm>
          <a:prstGeom prst="rect">
            <a:avLst/>
          </a:prstGeom>
          <a:noFill/>
          <a:ln>
            <a:noFill/>
          </a:ln>
        </p:spPr>
        <p:txBody>
          <a:bodyPr vert="horz" wrap="square" lIns="0" tIns="0" rIns="0" bIns="0" rtlCol="0" anchor="ctr"/>
          <a:lstStyle/>
          <a:p>
            <a:pPr algn="ctr">
              <a:lnSpc>
                <a:spcPct val="120000"/>
              </a:lnSpc>
            </a:pPr>
            <a:r>
              <a:rPr kumimoji="1" lang="en-US" altLang="zh-CN" sz="1600">
                <a:ln w="12700">
                  <a:noFill/>
                </a:ln>
                <a:solidFill>
                  <a:srgbClr val="FFFFFF">
                    <a:alpha val="100000"/>
                  </a:srgbClr>
                </a:solidFill>
                <a:latin typeface="Source Han Sans CN Bold"/>
                <a:ea typeface="Source Han Sans CN Bold"/>
                <a:cs typeface="Source Han Sans CN Bold"/>
              </a:rPr>
              <a:t>Cultural Imprints on Metaphor Systems</a:t>
            </a:r>
            <a:endParaRPr kumimoji="1" lang="zh-CN" altLang="en-US"/>
          </a:p>
        </p:txBody>
      </p:sp>
      <p:sp>
        <p:nvSpPr>
          <p:cNvPr id="15" name="标题 1"/>
          <p:cNvSpPr txBox="1"/>
          <p:nvPr/>
        </p:nvSpPr>
        <p:spPr>
          <a:xfrm>
            <a:off x="8220757" y="3800338"/>
            <a:ext cx="2627454" cy="696740"/>
          </a:xfrm>
          <a:prstGeom prst="rect">
            <a:avLst/>
          </a:prstGeom>
          <a:noFill/>
          <a:ln>
            <a:noFill/>
          </a:ln>
        </p:spPr>
        <p:txBody>
          <a:bodyPr vert="horz" wrap="square" lIns="0" tIns="0" rIns="0" bIns="0" rtlCol="0" anchor="ctr"/>
          <a:lstStyle/>
          <a:p>
            <a:pPr algn="ctr">
              <a:lnSpc>
                <a:spcPct val="120000"/>
              </a:lnSpc>
            </a:pPr>
            <a:r>
              <a:rPr kumimoji="1" lang="en-US" altLang="zh-CN" sz="1177">
                <a:ln w="12700">
                  <a:noFill/>
                </a:ln>
                <a:solidFill>
                  <a:srgbClr val="FFFFFF">
                    <a:alpha val="100000"/>
                  </a:srgbClr>
                </a:solidFill>
                <a:latin typeface="Source Han Sans CN Bold"/>
                <a:ea typeface="Source Han Sans CN Bold"/>
                <a:cs typeface="Source Han Sans CN Bold"/>
              </a:rPr>
              <a:t>Semantic Transparency and Lexicalization Process</a:t>
            </a:r>
            <a:endParaRPr kumimoji="1" lang="zh-CN" altLang="en-US"/>
          </a:p>
        </p:txBody>
      </p:sp>
      <p:sp>
        <p:nvSpPr>
          <p:cNvPr id="16" name="标题 1"/>
          <p:cNvSpPr txBox="1"/>
          <p:nvPr/>
        </p:nvSpPr>
        <p:spPr>
          <a:xfrm>
            <a:off x="862378" y="2135929"/>
            <a:ext cx="2709634" cy="906300"/>
          </a:xfrm>
          <a:prstGeom prst="rect">
            <a:avLst/>
          </a:prstGeom>
          <a:noFill/>
          <a:ln>
            <a:noFill/>
          </a:ln>
        </p:spPr>
        <p:txBody>
          <a:bodyPr vert="horz" wrap="square" lIns="0" tIns="0" rIns="0" bIns="0" rtlCol="0" anchor="t"/>
          <a:lstStyle/>
          <a:p>
            <a:pPr algn="l">
              <a:lnSpc>
                <a:spcPct val="150000"/>
              </a:lnSpc>
            </a:pPr>
            <a:r>
              <a:rPr kumimoji="1" lang="en-US" altLang="zh-CN" sz="871">
                <a:ln w="12700">
                  <a:noFill/>
                </a:ln>
                <a:solidFill>
                  <a:srgbClr val="262626">
                    <a:alpha val="100000"/>
                  </a:srgbClr>
                </a:solidFill>
                <a:latin typeface="Source Han Sans"/>
                <a:ea typeface="Source Han Sans"/>
                <a:cs typeface="Source Han Sans"/>
              </a:rPr>
              <a:t>Chinese verbs of "saying" focus on content and effect, often being compounds.
English verbs of "saying" emphasize manner and instrument, frequently being simple words.</a:t>
            </a:r>
            <a:endParaRPr kumimoji="1" lang="zh-CN" altLang="en-US"/>
          </a:p>
        </p:txBody>
      </p:sp>
      <p:sp>
        <p:nvSpPr>
          <p:cNvPr id="17" name="标题 1"/>
          <p:cNvSpPr txBox="1"/>
          <p:nvPr/>
        </p:nvSpPr>
        <p:spPr>
          <a:xfrm>
            <a:off x="4716748" y="1534046"/>
            <a:ext cx="2709634" cy="906300"/>
          </a:xfrm>
          <a:prstGeom prst="rect">
            <a:avLst/>
          </a:prstGeom>
          <a:noFill/>
          <a:ln>
            <a:noFill/>
          </a:ln>
        </p:spPr>
        <p:txBody>
          <a:bodyPr vert="horz" wrap="square" lIns="0" tIns="0" rIns="0" bIns="0" rtlCol="0" anchor="t"/>
          <a:lstStyle/>
          <a:p>
            <a:pPr algn="l">
              <a:lnSpc>
                <a:spcPct val="150000"/>
              </a:lnSpc>
            </a:pPr>
            <a:r>
              <a:rPr kumimoji="1" lang="en-US" altLang="zh-CN" sz="871">
                <a:ln w="12700">
                  <a:noFill/>
                </a:ln>
                <a:solidFill>
                  <a:srgbClr val="262626">
                    <a:alpha val="100000"/>
                  </a:srgbClr>
                </a:solidFill>
                <a:latin typeface="Source Han Sans"/>
                <a:ea typeface="Source Han Sans"/>
                <a:cs typeface="Source Han Sans"/>
              </a:rPr>
              <a:t>Chinese uses the vertical dimension in metaphors more frequently than English, related to traditional cultural concepts.
English offers richer metaphorical expressions along the horizontal dimension.</a:t>
            </a:r>
            <a:endParaRPr kumimoji="1" lang="zh-CN" altLang="en-US"/>
          </a:p>
        </p:txBody>
      </p:sp>
      <p:sp>
        <p:nvSpPr>
          <p:cNvPr id="18" name="标题 1"/>
          <p:cNvSpPr txBox="1"/>
          <p:nvPr/>
        </p:nvSpPr>
        <p:spPr>
          <a:xfrm>
            <a:off x="8594267" y="2495325"/>
            <a:ext cx="2709634" cy="906300"/>
          </a:xfrm>
          <a:prstGeom prst="rect">
            <a:avLst/>
          </a:prstGeom>
          <a:noFill/>
          <a:ln>
            <a:noFill/>
          </a:ln>
        </p:spPr>
        <p:txBody>
          <a:bodyPr vert="horz" wrap="square" lIns="0" tIns="0" rIns="0" bIns="0" rtlCol="0" anchor="t"/>
          <a:lstStyle/>
          <a:p>
            <a:pPr algn="l">
              <a:lnSpc>
                <a:spcPct val="150000"/>
              </a:lnSpc>
            </a:pPr>
            <a:r>
              <a:rPr kumimoji="1" lang="en-US" altLang="zh-CN" sz="871">
                <a:ln w="12700">
                  <a:noFill/>
                </a:ln>
                <a:solidFill>
                  <a:srgbClr val="262626">
                    <a:alpha val="100000"/>
                  </a:srgbClr>
                </a:solidFill>
                <a:latin typeface="Source Han Sans"/>
                <a:ea typeface="Source Han Sans"/>
                <a:cs typeface="Source Han Sans"/>
              </a:rPr>
              <a:t>Chinese compounds generally have high semantic transparency and exist on a continuum from transparent to opaque.
High frequency of use accelerates the lexicalization process in Chinese.</a:t>
            </a:r>
            <a:endParaRPr kumimoji="1" lang="zh-CN" altLang="en-US"/>
          </a:p>
        </p:txBody>
      </p:sp>
      <p:sp>
        <p:nvSpPr>
          <p:cNvPr id="19" name="标题 1"/>
          <p:cNvSpPr txBox="1"/>
          <p:nvPr/>
        </p:nvSpPr>
        <p:spPr>
          <a:xfrm>
            <a:off x="0" y="175260"/>
            <a:ext cx="8327425" cy="620632"/>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8742776" y="587097"/>
            <a:ext cx="208231" cy="208795"/>
          </a:xfrm>
          <a:prstGeom prst="rect">
            <a:avLst/>
          </a:prstGeom>
          <a:solidFill>
            <a:schemeClr val="accent1">
              <a:alpha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8535452" y="176388"/>
            <a:ext cx="208231" cy="413840"/>
          </a:xfrm>
          <a:prstGeom prst="rect">
            <a:avLst/>
          </a:prstGeom>
          <a:solidFill>
            <a:schemeClr val="accent1">
              <a:alpha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8743620" y="175022"/>
            <a:ext cx="209004" cy="207106"/>
          </a:xfrm>
          <a:prstGeom prst="rect">
            <a:avLst/>
          </a:prstGeom>
          <a:solidFill>
            <a:schemeClr val="accent1">
              <a:alpha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9161592" y="170358"/>
            <a:ext cx="208231" cy="208795"/>
          </a:xfrm>
          <a:prstGeom prst="rect">
            <a:avLst/>
          </a:prstGeom>
          <a:solidFill>
            <a:schemeClr val="accent1">
              <a:alpha val="2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8951946" y="379973"/>
            <a:ext cx="208231" cy="208795"/>
          </a:xfrm>
          <a:prstGeom prst="rect">
            <a:avLst/>
          </a:prstGeom>
          <a:solidFill>
            <a:schemeClr val="accent1">
              <a:alpha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8327037" y="175184"/>
            <a:ext cx="208231" cy="621268"/>
          </a:xfrm>
          <a:prstGeom prst="rect">
            <a:avLst/>
          </a:prstGeom>
          <a:solidFill>
            <a:schemeClr val="accent1">
              <a:alpha val="9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340170" y="242328"/>
            <a:ext cx="7985452" cy="432000"/>
          </a:xfrm>
          <a:prstGeom prst="rect">
            <a:avLst/>
          </a:prstGeom>
          <a:noFill/>
          <a:ln>
            <a:noFill/>
          </a:ln>
        </p:spPr>
        <p:txBody>
          <a:bodyPr vert="horz" wrap="square" lIns="0" tIns="0" rIns="0" bIns="0" rtlCol="0" anchor="ctr"/>
          <a:lstStyle/>
          <a:p>
            <a:pPr algn="l">
              <a:lnSpc>
                <a:spcPct val="120000"/>
              </a:lnSpc>
            </a:pPr>
            <a:r>
              <a:rPr kumimoji="1" lang="en-US" altLang="zh-CN" sz="2730">
                <a:ln w="12700">
                  <a:noFill/>
                </a:ln>
                <a:solidFill>
                  <a:srgbClr val="FFFFFF">
                    <a:alpha val="100000"/>
                  </a:srgbClr>
                </a:solidFill>
                <a:latin typeface="Source Han Sans CN Bold"/>
                <a:ea typeface="Source Han Sans CN Bold"/>
                <a:cs typeface="Source Han Sans CN Bold"/>
              </a:rPr>
              <a:t>Semantic Fields and Lexicalization Differences</a:t>
            </a:r>
            <a:endParaRPr kumimoji="1"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a:stretch>
            <a:fillRect/>
          </a:stretch>
        </p:blipFill>
        <p:spPr>
          <a:xfrm>
            <a:off x="0" y="0"/>
            <a:ext cx="12192000" cy="6857999"/>
          </a:xfrm>
          <a:prstGeom prst="rect">
            <a:avLst/>
          </a:prstGeom>
          <a:noFill/>
          <a:ln>
            <a:noFill/>
          </a:ln>
        </p:spPr>
      </p:pic>
      <p:sp>
        <p:nvSpPr>
          <p:cNvPr id="3" name="标题 1"/>
          <p:cNvSpPr txBox="1"/>
          <p:nvPr/>
        </p:nvSpPr>
        <p:spPr>
          <a:xfrm>
            <a:off x="249"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855302" y="0"/>
            <a:ext cx="1756865" cy="6858000"/>
          </a:xfrm>
          <a:custGeom>
            <a:avLst/>
            <a:gdLst>
              <a:gd name="connsiteX0" fmla="*/ 542835 w 1756865"/>
              <a:gd name="connsiteY0" fmla="*/ 0 h 6858000"/>
              <a:gd name="connsiteX1" fmla="*/ 0 w 1756865"/>
              <a:gd name="connsiteY1" fmla="*/ 0 h 6858000"/>
              <a:gd name="connsiteX2" fmla="*/ 1214030 w 1756865"/>
              <a:gd name="connsiteY2" fmla="*/ 3429000 h 6858000"/>
              <a:gd name="connsiteX3" fmla="*/ 0 w 1756865"/>
              <a:gd name="connsiteY3" fmla="*/ 6858000 h 6858000"/>
              <a:gd name="connsiteX4" fmla="*/ 542835 w 1756865"/>
              <a:gd name="connsiteY4" fmla="*/ 6858000 h 6858000"/>
              <a:gd name="connsiteX5" fmla="*/ 1756865 w 1756865"/>
              <a:gd name="connsiteY5" fmla="*/ 3429000 h 6858000"/>
            </a:gdLst>
            <a:ahLst/>
            <a:cxnLst/>
            <a:rect l="l" t="t" r="r" b="b"/>
            <a:pathLst>
              <a:path w="1756865" h="6858000">
                <a:moveTo>
                  <a:pt x="542835" y="0"/>
                </a:moveTo>
                <a:lnTo>
                  <a:pt x="0" y="0"/>
                </a:lnTo>
                <a:lnTo>
                  <a:pt x="1214030" y="3429000"/>
                </a:lnTo>
                <a:lnTo>
                  <a:pt x="0" y="6858000"/>
                </a:lnTo>
                <a:lnTo>
                  <a:pt x="542835" y="6858000"/>
                </a:lnTo>
                <a:lnTo>
                  <a:pt x="1756865"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291326" y="2214879"/>
            <a:ext cx="3884281" cy="1239520"/>
          </a:xfrm>
          <a:prstGeom prst="rect">
            <a:avLst/>
          </a:prstGeom>
          <a:noFill/>
          <a:ln>
            <a:noFill/>
          </a:ln>
        </p:spPr>
        <p:txBody>
          <a:bodyPr vert="horz" wrap="square" lIns="91440" tIns="45720" rIns="91440" bIns="45720" rtlCol="0" anchor="b"/>
          <a:lstStyle/>
          <a:p>
            <a:pPr algn="r">
              <a:lnSpc>
                <a:spcPct val="110000"/>
              </a:lnSpc>
            </a:pPr>
            <a:r>
              <a:rPr kumimoji="1" lang="en-US" altLang="zh-CN" sz="8800">
                <a:ln w="12700">
                  <a:noFill/>
                </a:ln>
                <a:solidFill>
                  <a:srgbClr val="3AB858">
                    <a:alpha val="100000"/>
                  </a:srgbClr>
                </a:solidFill>
                <a:latin typeface="Source Han Sans CN Regular"/>
                <a:ea typeface="Source Han Sans CN Regular"/>
                <a:cs typeface="Source Han Sans CN Regular"/>
              </a:rPr>
              <a:t>PART-</a:t>
            </a:r>
            <a:endParaRPr kumimoji="1" lang="zh-CN" altLang="en-US"/>
          </a:p>
        </p:txBody>
      </p:sp>
      <p:sp>
        <p:nvSpPr>
          <p:cNvPr id="6" name="标题 1"/>
          <p:cNvSpPr txBox="1"/>
          <p:nvPr/>
        </p:nvSpPr>
        <p:spPr>
          <a:xfrm>
            <a:off x="4874992" y="3345541"/>
            <a:ext cx="6836531" cy="2628398"/>
          </a:xfrm>
          <a:prstGeom prst="rect">
            <a:avLst/>
          </a:prstGeom>
          <a:noFill/>
          <a:ln>
            <a:noFill/>
          </a:ln>
        </p:spPr>
        <p:txBody>
          <a:bodyPr vert="horz" wrap="square" lIns="91440" tIns="45720" rIns="91440" bIns="45720" rtlCol="0" anchor="t"/>
          <a:lstStyle/>
          <a:p>
            <a:pPr algn="r">
              <a:lnSpc>
                <a:spcPct val="130000"/>
              </a:lnSpc>
            </a:pPr>
            <a:r>
              <a:rPr kumimoji="1" lang="en-US" altLang="zh-CN" sz="3081">
                <a:ln w="12700">
                  <a:noFill/>
                </a:ln>
                <a:solidFill>
                  <a:srgbClr val="262626">
                    <a:alpha val="100000"/>
                  </a:srgbClr>
                </a:solidFill>
                <a:latin typeface="Source Han Sans CN Regular"/>
                <a:ea typeface="Source Han Sans CN Regular"/>
                <a:cs typeface="Source Han Sans CN Regular"/>
              </a:rPr>
              <a:t>Discourse Construction and Cohesion Mechanisms: Chain Morphology and Structural Progression</a:t>
            </a:r>
            <a:endParaRPr kumimoji="1" lang="zh-CN" altLang="en-US"/>
          </a:p>
        </p:txBody>
      </p:sp>
      <p:sp>
        <p:nvSpPr>
          <p:cNvPr id="7" name="标题 1"/>
          <p:cNvSpPr txBox="1"/>
          <p:nvPr/>
        </p:nvSpPr>
        <p:spPr>
          <a:xfrm>
            <a:off x="249"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flipH="1" flipV="1">
            <a:off x="3704707" y="0"/>
            <a:ext cx="2761198" cy="2380343"/>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flipH="1">
            <a:off x="3679488" y="5549312"/>
            <a:ext cx="1568586" cy="1352230"/>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9570379" y="994769"/>
            <a:ext cx="1805213" cy="251200"/>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flipH="1" flipV="1">
            <a:off x="4010813" y="190324"/>
            <a:ext cx="1998550" cy="1722888"/>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flipH="1">
            <a:off x="3815204" y="5760064"/>
            <a:ext cx="1247088" cy="1075076"/>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rot="19442050" flipH="1">
            <a:off x="11694617" y="-191671"/>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rot="2157950" flipH="1" flipV="1">
            <a:off x="11694617" y="6115222"/>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263329" y="0"/>
            <a:ext cx="1966034" cy="6858000"/>
          </a:xfrm>
          <a:custGeom>
            <a:avLst/>
            <a:gdLst>
              <a:gd name="connsiteX0" fmla="*/ 838730 w 1966034"/>
              <a:gd name="connsiteY0" fmla="*/ 0 h 6858000"/>
              <a:gd name="connsiteX1" fmla="*/ 0 w 1966034"/>
              <a:gd name="connsiteY1" fmla="*/ 0 h 6858000"/>
              <a:gd name="connsiteX2" fmla="*/ 1127304 w 1966034"/>
              <a:gd name="connsiteY2" fmla="*/ 3498566 h 6858000"/>
              <a:gd name="connsiteX3" fmla="*/ 44831 w 1966034"/>
              <a:gd name="connsiteY3" fmla="*/ 6858000 h 6858000"/>
              <a:gd name="connsiteX4" fmla="*/ 883561 w 1966034"/>
              <a:gd name="connsiteY4" fmla="*/ 6858000 h 6858000"/>
              <a:gd name="connsiteX5" fmla="*/ 1966034 w 1966034"/>
              <a:gd name="connsiteY5" fmla="*/ 3498566 h 6858000"/>
            </a:gdLst>
            <a:ahLst/>
            <a:cxnLst/>
            <a:rect l="l" t="t" r="r" b="b"/>
            <a:pathLst>
              <a:path w="1966034" h="6858000">
                <a:moveTo>
                  <a:pt x="838730" y="0"/>
                </a:moveTo>
                <a:lnTo>
                  <a:pt x="0" y="0"/>
                </a:lnTo>
                <a:lnTo>
                  <a:pt x="1127304" y="3498566"/>
                </a:lnTo>
                <a:lnTo>
                  <a:pt x="44831" y="6858000"/>
                </a:lnTo>
                <a:lnTo>
                  <a:pt x="883561" y="6858000"/>
                </a:lnTo>
                <a:lnTo>
                  <a:pt x="1966034" y="3498566"/>
                </a:lnTo>
                <a:close/>
              </a:path>
            </a:pathLst>
          </a:cu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331847" y="1622220"/>
            <a:ext cx="2483357" cy="3592635"/>
          </a:xfrm>
          <a:prstGeom prst="chevron">
            <a:avLst>
              <a:gd name="adj" fmla="val 25606"/>
            </a:avLst>
          </a:prstGeom>
          <a:solidFill>
            <a:schemeClr val="accent1">
              <a:lumMod val="40000"/>
              <a:lumOff val="60000"/>
              <a:alpha val="50000"/>
            </a:schemeClr>
          </a:solidFill>
          <a:ln w="12700" cap="sq">
            <a:solidFill>
              <a:schemeClr val="accent1">
                <a:lumMod val="40000"/>
                <a:lumOff val="60000"/>
              </a:schemeClr>
            </a:solidFill>
            <a:miter/>
          </a:ln>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250" y="657455"/>
            <a:ext cx="981260" cy="5543093"/>
          </a:xfrm>
          <a:custGeom>
            <a:avLst/>
            <a:gdLst>
              <a:gd name="connsiteX0" fmla="*/ 0 w 981260"/>
              <a:gd name="connsiteY0" fmla="*/ 0 h 5543093"/>
              <a:gd name="connsiteX1" fmla="*/ 0 w 981260"/>
              <a:gd name="connsiteY1" fmla="*/ 532939 h 5543093"/>
              <a:gd name="connsiteX2" fmla="*/ 792574 w 981260"/>
              <a:gd name="connsiteY2" fmla="*/ 2771546 h 5543093"/>
              <a:gd name="connsiteX3" fmla="*/ 0 w 981260"/>
              <a:gd name="connsiteY3" fmla="*/ 5010154 h 5543093"/>
              <a:gd name="connsiteX4" fmla="*/ 0 w 981260"/>
              <a:gd name="connsiteY4" fmla="*/ 5543093 h 5543093"/>
              <a:gd name="connsiteX5" fmla="*/ 981260 w 981260"/>
              <a:gd name="connsiteY5" fmla="*/ 2771546 h 5543093"/>
            </a:gdLst>
            <a:ahLst/>
            <a:cxnLst/>
            <a:rect l="l" t="t" r="r" b="b"/>
            <a:pathLst>
              <a:path w="981260" h="5543093">
                <a:moveTo>
                  <a:pt x="0" y="0"/>
                </a:moveTo>
                <a:lnTo>
                  <a:pt x="0" y="532939"/>
                </a:lnTo>
                <a:lnTo>
                  <a:pt x="792574" y="2771546"/>
                </a:lnTo>
                <a:lnTo>
                  <a:pt x="0" y="5010154"/>
                </a:lnTo>
                <a:lnTo>
                  <a:pt x="0" y="5543093"/>
                </a:lnTo>
                <a:lnTo>
                  <a:pt x="981260" y="2771546"/>
                </a:lnTo>
                <a:close/>
              </a:path>
            </a:pathLst>
          </a:custGeom>
          <a:solidFill>
            <a:schemeClr val="accent1">
              <a:lumMod val="40000"/>
              <a:lumOff val="6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250" y="0"/>
            <a:ext cx="1473292" cy="6858000"/>
          </a:xfrm>
          <a:custGeom>
            <a:avLst/>
            <a:gdLst>
              <a:gd name="connsiteX0" fmla="*/ 259262 w 1473292"/>
              <a:gd name="connsiteY0" fmla="*/ 0 h 6858000"/>
              <a:gd name="connsiteX1" fmla="*/ 0 w 1473292"/>
              <a:gd name="connsiteY1" fmla="*/ 0 h 6858000"/>
              <a:gd name="connsiteX2" fmla="*/ 0 w 1473292"/>
              <a:gd name="connsiteY2" fmla="*/ 800946 h 6858000"/>
              <a:gd name="connsiteX3" fmla="*/ 930457 w 1473292"/>
              <a:gd name="connsiteY3" fmla="*/ 3429000 h 6858000"/>
              <a:gd name="connsiteX4" fmla="*/ 0 w 1473292"/>
              <a:gd name="connsiteY4" fmla="*/ 6057055 h 6858000"/>
              <a:gd name="connsiteX5" fmla="*/ 0 w 1473292"/>
              <a:gd name="connsiteY5" fmla="*/ 6858000 h 6858000"/>
              <a:gd name="connsiteX6" fmla="*/ 259262 w 1473292"/>
              <a:gd name="connsiteY6" fmla="*/ 6858000 h 6858000"/>
              <a:gd name="connsiteX7" fmla="*/ 1473292 w 1473292"/>
              <a:gd name="connsiteY7" fmla="*/ 3429000 h 6858000"/>
            </a:gdLst>
            <a:ahLst/>
            <a:cxnLst/>
            <a:rect l="l" t="t" r="r" b="b"/>
            <a:pathLst>
              <a:path w="1473292" h="6858000">
                <a:moveTo>
                  <a:pt x="259262" y="0"/>
                </a:moveTo>
                <a:lnTo>
                  <a:pt x="0" y="0"/>
                </a:lnTo>
                <a:lnTo>
                  <a:pt x="0" y="800946"/>
                </a:lnTo>
                <a:lnTo>
                  <a:pt x="930457" y="3429000"/>
                </a:lnTo>
                <a:lnTo>
                  <a:pt x="0" y="6057055"/>
                </a:lnTo>
                <a:lnTo>
                  <a:pt x="0" y="6858000"/>
                </a:lnTo>
                <a:lnTo>
                  <a:pt x="259262" y="6858000"/>
                </a:lnTo>
                <a:lnTo>
                  <a:pt x="1473292"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9528580" y="657455"/>
            <a:ext cx="2182943" cy="2796944"/>
          </a:xfrm>
          <a:prstGeom prst="rect">
            <a:avLst/>
          </a:prstGeom>
          <a:noFill/>
          <a:ln>
            <a:noFill/>
          </a:ln>
        </p:spPr>
        <p:txBody>
          <a:bodyPr vert="horz" wrap="square" lIns="91440" tIns="45720" rIns="91440" bIns="45720" rtlCol="0" anchor="b"/>
          <a:lstStyle/>
          <a:p>
            <a:pPr algn="r">
              <a:lnSpc>
                <a:spcPct val="110000"/>
              </a:lnSpc>
            </a:pPr>
            <a:r>
              <a:rPr kumimoji="1" lang="en-US" altLang="zh-CN" sz="8800">
                <a:ln w="12700">
                  <a:noFill/>
                </a:ln>
                <a:solidFill>
                  <a:srgbClr val="3AB858">
                    <a:alpha val="100000"/>
                  </a:srgbClr>
                </a:solidFill>
                <a:latin typeface="Source Han Sans CN Regular"/>
                <a:ea typeface="Source Han Sans CN Regular"/>
                <a:cs typeface="Source Han Sans CN Regular"/>
              </a:rPr>
              <a:t>05</a:t>
            </a:r>
            <a:endParaRPr kumimoji="1"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1"/>
            <a:ext cx="12192000" cy="6858000"/>
          </a:xfrm>
          <a:prstGeom prst="rect">
            <a:avLst/>
          </a:pr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5888" y="1217197"/>
            <a:ext cx="5353912" cy="2343867"/>
          </a:xfrm>
          <a:prstGeom prst="roundRect">
            <a:avLst>
              <a:gd name="adj" fmla="val 3513"/>
            </a:avLst>
          </a:prstGeom>
          <a:noFill/>
          <a:ln w="19050" cap="sq">
            <a:solidFill>
              <a:schemeClr val="accent1">
                <a:lumMod val="60000"/>
                <a:lumOff val="4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6163427" y="1218483"/>
            <a:ext cx="5353912" cy="2343867"/>
          </a:xfrm>
          <a:prstGeom prst="roundRect">
            <a:avLst>
              <a:gd name="adj" fmla="val 3513"/>
            </a:avLst>
          </a:prstGeom>
          <a:solidFill>
            <a:schemeClr val="accent1">
              <a:lumMod val="20000"/>
              <a:lumOff val="80000"/>
            </a:schemeClr>
          </a:solidFill>
          <a:ln w="19050" cap="sq">
            <a:solidFill>
              <a:schemeClr val="accent1">
                <a:lumMod val="60000"/>
                <a:lumOff val="4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811548" y="1753962"/>
            <a:ext cx="4426246" cy="1624238"/>
          </a:xfrm>
          <a:prstGeom prst="rect">
            <a:avLst/>
          </a:prstGeom>
          <a:noFill/>
          <a:ln>
            <a:noFill/>
          </a:ln>
        </p:spPr>
        <p:txBody>
          <a:bodyPr vert="horz" wrap="square" lIns="91440" tIns="45720" rIns="91440" bIns="45720" rtlCol="0" anchor="t"/>
          <a:lstStyle/>
          <a:p>
            <a:pPr algn="l">
              <a:lnSpc>
                <a:spcPct val="150000"/>
              </a:lnSpc>
            </a:pPr>
            <a:r>
              <a:rPr kumimoji="1" lang="en-US" altLang="zh-CN" sz="1400">
                <a:ln w="12700">
                  <a:noFill/>
                </a:ln>
                <a:solidFill>
                  <a:srgbClr val="3A3A3A">
                    <a:alpha val="100000"/>
                  </a:srgbClr>
                </a:solidFill>
                <a:latin typeface="Source Han Sans"/>
                <a:ea typeface="Source Han Sans"/>
                <a:cs typeface="Source Han Sans"/>
              </a:rPr>
              <a:t>English discourse progresses step- by- step according to chronological order or logical relations.
This aligns with English subject- prominence, hypotactic features, and analytic thinking patterns.</a:t>
            </a:r>
            <a:endParaRPr kumimoji="1" lang="zh-CN" altLang="en-US"/>
          </a:p>
        </p:txBody>
      </p:sp>
      <p:grpSp>
        <p:nvGrpSpPr>
          <p:cNvPr id="6" name="组合 5"/>
          <p:cNvGrpSpPr/>
          <p:nvPr/>
        </p:nvGrpSpPr>
        <p:grpSpPr>
          <a:xfrm>
            <a:off x="6338456" y="1372640"/>
            <a:ext cx="388740" cy="388740"/>
            <a:chOff x="6338456" y="1372640"/>
            <a:chExt cx="388740" cy="388740"/>
          </a:xfrm>
        </p:grpSpPr>
        <p:sp>
          <p:nvSpPr>
            <p:cNvPr id="7" name="标题 1"/>
            <p:cNvSpPr txBox="1"/>
            <p:nvPr/>
          </p:nvSpPr>
          <p:spPr>
            <a:xfrm>
              <a:off x="6338456" y="1372640"/>
              <a:ext cx="388740" cy="388740"/>
            </a:xfrm>
            <a:prstGeom prst="flowChartConnector">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18864410">
              <a:off x="6415483" y="1464084"/>
              <a:ext cx="234687" cy="150331"/>
            </a:xfrm>
            <a:custGeom>
              <a:avLst/>
              <a:gdLst>
                <a:gd name="connsiteX0" fmla="*/ 598101 w 598101"/>
                <a:gd name="connsiteY0" fmla="*/ 294512 h 383119"/>
                <a:gd name="connsiteX1" fmla="*/ 598101 w 598101"/>
                <a:gd name="connsiteY1" fmla="*/ 383119 h 383119"/>
                <a:gd name="connsiteX2" fmla="*/ 1844 w 598101"/>
                <a:gd name="connsiteY2" fmla="*/ 383119 h 383119"/>
                <a:gd name="connsiteX3" fmla="*/ 1844 w 598101"/>
                <a:gd name="connsiteY3" fmla="*/ 368685 h 383119"/>
                <a:gd name="connsiteX4" fmla="*/ 0 w 598101"/>
                <a:gd name="connsiteY4" fmla="*/ 368613 h 383119"/>
                <a:gd name="connsiteX5" fmla="*/ 1844 w 598101"/>
                <a:gd name="connsiteY5" fmla="*/ 321357 h 383119"/>
                <a:gd name="connsiteX6" fmla="*/ 1844 w 598101"/>
                <a:gd name="connsiteY6" fmla="*/ 294512 h 383119"/>
                <a:gd name="connsiteX7" fmla="*/ 2892 w 598101"/>
                <a:gd name="connsiteY7" fmla="*/ 294512 h 383119"/>
                <a:gd name="connsiteX8" fmla="*/ 14387 w 598101"/>
                <a:gd name="connsiteY8" fmla="*/ 0 h 383119"/>
                <a:gd name="connsiteX9" fmla="*/ 102926 w 598101"/>
                <a:gd name="connsiteY9" fmla="*/ 3456 h 383119"/>
                <a:gd name="connsiteX10" fmla="*/ 91566 w 598101"/>
                <a:gd name="connsiteY10" fmla="*/ 294512 h 383119"/>
              </a:gdLst>
              <a:ahLst/>
              <a:cxnLst/>
              <a:rect l="l" t="t" r="r" b="b"/>
              <a:pathLst>
                <a:path w="598101" h="383119">
                  <a:moveTo>
                    <a:pt x="598101" y="294512"/>
                  </a:moveTo>
                  <a:lnTo>
                    <a:pt x="598101" y="383119"/>
                  </a:lnTo>
                  <a:lnTo>
                    <a:pt x="1844" y="383119"/>
                  </a:lnTo>
                  <a:lnTo>
                    <a:pt x="1844" y="368685"/>
                  </a:lnTo>
                  <a:lnTo>
                    <a:pt x="0" y="368613"/>
                  </a:lnTo>
                  <a:lnTo>
                    <a:pt x="1844" y="321357"/>
                  </a:lnTo>
                  <a:lnTo>
                    <a:pt x="1844" y="294512"/>
                  </a:lnTo>
                  <a:lnTo>
                    <a:pt x="2892" y="294512"/>
                  </a:lnTo>
                  <a:lnTo>
                    <a:pt x="14387" y="0"/>
                  </a:lnTo>
                  <a:lnTo>
                    <a:pt x="102926" y="3456"/>
                  </a:lnTo>
                  <a:lnTo>
                    <a:pt x="91566" y="294512"/>
                  </a:lnTo>
                  <a:close/>
                </a:path>
              </a:pathLst>
            </a:cu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grpSp>
      <p:sp>
        <p:nvSpPr>
          <p:cNvPr id="9" name="标题 1"/>
          <p:cNvSpPr txBox="1"/>
          <p:nvPr/>
        </p:nvSpPr>
        <p:spPr>
          <a:xfrm>
            <a:off x="1259664" y="1752676"/>
            <a:ext cx="4426246" cy="1587306"/>
          </a:xfrm>
          <a:prstGeom prst="rect">
            <a:avLst/>
          </a:prstGeom>
          <a:noFill/>
          <a:ln>
            <a:noFill/>
          </a:ln>
        </p:spPr>
        <p:txBody>
          <a:bodyPr vert="horz" wrap="square" lIns="91440" tIns="45720" rIns="91440" bIns="45720" rtlCol="0" anchor="t"/>
          <a:lstStyle/>
          <a:p>
            <a:pPr algn="l">
              <a:lnSpc>
                <a:spcPct val="150000"/>
              </a:lnSpc>
            </a:pPr>
            <a:r>
              <a:rPr kumimoji="1" lang="en-US" altLang="zh-CN" sz="1400">
                <a:ln w="12700">
                  <a:noFill/>
                </a:ln>
                <a:solidFill>
                  <a:srgbClr val="3A3A3A">
                    <a:alpha val="100000"/>
                  </a:srgbClr>
                </a:solidFill>
                <a:latin typeface="Source Han Sans"/>
                <a:ea typeface="Source Han Sans"/>
                <a:cs typeface="Source Han Sans"/>
              </a:rPr>
              <a:t>Chinese discourse develops information in parallel through topic chains, forming a holistic picture.
This structure is related to Chinese holistic thinking and topic- prominent features.</a:t>
            </a:r>
            <a:endParaRPr kumimoji="1" lang="zh-CN" altLang="en-US"/>
          </a:p>
        </p:txBody>
      </p:sp>
      <p:sp>
        <p:nvSpPr>
          <p:cNvPr id="10" name="标题 1"/>
          <p:cNvSpPr txBox="1"/>
          <p:nvPr/>
        </p:nvSpPr>
        <p:spPr>
          <a:xfrm>
            <a:off x="845133" y="1371354"/>
            <a:ext cx="388740" cy="388740"/>
          </a:xfrm>
          <a:prstGeom prst="flowChartConnector">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rot="18864410">
            <a:off x="922160" y="1462798"/>
            <a:ext cx="234687" cy="150331"/>
          </a:xfrm>
          <a:custGeom>
            <a:avLst/>
            <a:gdLst>
              <a:gd name="connsiteX0" fmla="*/ 598101 w 598101"/>
              <a:gd name="connsiteY0" fmla="*/ 294512 h 383119"/>
              <a:gd name="connsiteX1" fmla="*/ 598101 w 598101"/>
              <a:gd name="connsiteY1" fmla="*/ 383119 h 383119"/>
              <a:gd name="connsiteX2" fmla="*/ 1844 w 598101"/>
              <a:gd name="connsiteY2" fmla="*/ 383119 h 383119"/>
              <a:gd name="connsiteX3" fmla="*/ 1844 w 598101"/>
              <a:gd name="connsiteY3" fmla="*/ 368685 h 383119"/>
              <a:gd name="connsiteX4" fmla="*/ 0 w 598101"/>
              <a:gd name="connsiteY4" fmla="*/ 368613 h 383119"/>
              <a:gd name="connsiteX5" fmla="*/ 1844 w 598101"/>
              <a:gd name="connsiteY5" fmla="*/ 321357 h 383119"/>
              <a:gd name="connsiteX6" fmla="*/ 1844 w 598101"/>
              <a:gd name="connsiteY6" fmla="*/ 294512 h 383119"/>
              <a:gd name="connsiteX7" fmla="*/ 2892 w 598101"/>
              <a:gd name="connsiteY7" fmla="*/ 294512 h 383119"/>
              <a:gd name="connsiteX8" fmla="*/ 14387 w 598101"/>
              <a:gd name="connsiteY8" fmla="*/ 0 h 383119"/>
              <a:gd name="connsiteX9" fmla="*/ 102926 w 598101"/>
              <a:gd name="connsiteY9" fmla="*/ 3456 h 383119"/>
              <a:gd name="connsiteX10" fmla="*/ 91566 w 598101"/>
              <a:gd name="connsiteY10" fmla="*/ 294512 h 383119"/>
            </a:gdLst>
            <a:ahLst/>
            <a:cxnLst/>
            <a:rect l="l" t="t" r="r" b="b"/>
            <a:pathLst>
              <a:path w="598101" h="383119">
                <a:moveTo>
                  <a:pt x="598101" y="294512"/>
                </a:moveTo>
                <a:lnTo>
                  <a:pt x="598101" y="383119"/>
                </a:lnTo>
                <a:lnTo>
                  <a:pt x="1844" y="383119"/>
                </a:lnTo>
                <a:lnTo>
                  <a:pt x="1844" y="368685"/>
                </a:lnTo>
                <a:lnTo>
                  <a:pt x="0" y="368613"/>
                </a:lnTo>
                <a:lnTo>
                  <a:pt x="1844" y="321357"/>
                </a:lnTo>
                <a:lnTo>
                  <a:pt x="1844" y="294512"/>
                </a:lnTo>
                <a:lnTo>
                  <a:pt x="2892" y="294512"/>
                </a:lnTo>
                <a:lnTo>
                  <a:pt x="14387" y="0"/>
                </a:lnTo>
                <a:lnTo>
                  <a:pt x="102926" y="3456"/>
                </a:lnTo>
                <a:lnTo>
                  <a:pt x="91566" y="294512"/>
                </a:lnTo>
                <a:close/>
              </a:path>
            </a:pathLst>
          </a:cu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665888" y="3755308"/>
            <a:ext cx="5353912" cy="2343867"/>
          </a:xfrm>
          <a:prstGeom prst="roundRect">
            <a:avLst>
              <a:gd name="adj" fmla="val 3513"/>
            </a:avLst>
          </a:prstGeom>
          <a:solidFill>
            <a:schemeClr val="accent1">
              <a:lumMod val="20000"/>
              <a:lumOff val="80000"/>
            </a:schemeClr>
          </a:solidFill>
          <a:ln w="19050" cap="sq">
            <a:solidFill>
              <a:schemeClr val="accent1">
                <a:lumMod val="60000"/>
                <a:lumOff val="4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259664" y="4290787"/>
            <a:ext cx="4426246" cy="1624238"/>
          </a:xfrm>
          <a:prstGeom prst="rect">
            <a:avLst/>
          </a:prstGeom>
          <a:noFill/>
          <a:ln>
            <a:noFill/>
          </a:ln>
        </p:spPr>
        <p:txBody>
          <a:bodyPr vert="horz" wrap="square" lIns="91440" tIns="45720" rIns="91440" bIns="45720" rtlCol="0" anchor="t"/>
          <a:lstStyle/>
          <a:p>
            <a:pPr algn="l">
              <a:lnSpc>
                <a:spcPct val="150000"/>
              </a:lnSpc>
            </a:pPr>
            <a:r>
              <a:rPr kumimoji="1" lang="en-US" altLang="zh-CN" sz="1400">
                <a:ln w="12700">
                  <a:noFill/>
                </a:ln>
                <a:solidFill>
                  <a:srgbClr val="3A3A3A">
                    <a:alpha val="100000"/>
                  </a:srgbClr>
                </a:solidFill>
                <a:latin typeface="Source Han Sans"/>
                <a:ea typeface="Source Han Sans"/>
                <a:cs typeface="Source Han Sans"/>
              </a:rPr>
              <a:t>Chinese discourse prefers lexical repetition and zero anaphora to maintain coherence.
English discourse relies more on pronominal reference and explicit conjunctions.</a:t>
            </a:r>
            <a:endParaRPr kumimoji="1" lang="zh-CN" altLang="en-US"/>
          </a:p>
        </p:txBody>
      </p:sp>
      <p:grpSp>
        <p:nvGrpSpPr>
          <p:cNvPr id="14" name="组合 13"/>
          <p:cNvGrpSpPr/>
          <p:nvPr/>
        </p:nvGrpSpPr>
        <p:grpSpPr>
          <a:xfrm>
            <a:off x="840917" y="3909465"/>
            <a:ext cx="388740" cy="388740"/>
            <a:chOff x="840917" y="3909465"/>
            <a:chExt cx="388740" cy="388740"/>
          </a:xfrm>
        </p:grpSpPr>
        <p:sp>
          <p:nvSpPr>
            <p:cNvPr id="15" name="标题 1"/>
            <p:cNvSpPr txBox="1"/>
            <p:nvPr/>
          </p:nvSpPr>
          <p:spPr>
            <a:xfrm>
              <a:off x="840917" y="3909465"/>
              <a:ext cx="388740" cy="388740"/>
            </a:xfrm>
            <a:prstGeom prst="flowChartConnector">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rot="18864410">
              <a:off x="917944" y="4000909"/>
              <a:ext cx="234687" cy="150331"/>
            </a:xfrm>
            <a:custGeom>
              <a:avLst/>
              <a:gdLst>
                <a:gd name="connsiteX0" fmla="*/ 598101 w 598101"/>
                <a:gd name="connsiteY0" fmla="*/ 294512 h 383119"/>
                <a:gd name="connsiteX1" fmla="*/ 598101 w 598101"/>
                <a:gd name="connsiteY1" fmla="*/ 383119 h 383119"/>
                <a:gd name="connsiteX2" fmla="*/ 1844 w 598101"/>
                <a:gd name="connsiteY2" fmla="*/ 383119 h 383119"/>
                <a:gd name="connsiteX3" fmla="*/ 1844 w 598101"/>
                <a:gd name="connsiteY3" fmla="*/ 368685 h 383119"/>
                <a:gd name="connsiteX4" fmla="*/ 0 w 598101"/>
                <a:gd name="connsiteY4" fmla="*/ 368613 h 383119"/>
                <a:gd name="connsiteX5" fmla="*/ 1844 w 598101"/>
                <a:gd name="connsiteY5" fmla="*/ 321357 h 383119"/>
                <a:gd name="connsiteX6" fmla="*/ 1844 w 598101"/>
                <a:gd name="connsiteY6" fmla="*/ 294512 h 383119"/>
                <a:gd name="connsiteX7" fmla="*/ 2892 w 598101"/>
                <a:gd name="connsiteY7" fmla="*/ 294512 h 383119"/>
                <a:gd name="connsiteX8" fmla="*/ 14387 w 598101"/>
                <a:gd name="connsiteY8" fmla="*/ 0 h 383119"/>
                <a:gd name="connsiteX9" fmla="*/ 102926 w 598101"/>
                <a:gd name="connsiteY9" fmla="*/ 3456 h 383119"/>
                <a:gd name="connsiteX10" fmla="*/ 91566 w 598101"/>
                <a:gd name="connsiteY10" fmla="*/ 294512 h 383119"/>
              </a:gdLst>
              <a:ahLst/>
              <a:cxnLst/>
              <a:rect l="l" t="t" r="r" b="b"/>
              <a:pathLst>
                <a:path w="598101" h="383119">
                  <a:moveTo>
                    <a:pt x="598101" y="294512"/>
                  </a:moveTo>
                  <a:lnTo>
                    <a:pt x="598101" y="383119"/>
                  </a:lnTo>
                  <a:lnTo>
                    <a:pt x="1844" y="383119"/>
                  </a:lnTo>
                  <a:lnTo>
                    <a:pt x="1844" y="368685"/>
                  </a:lnTo>
                  <a:lnTo>
                    <a:pt x="0" y="368613"/>
                  </a:lnTo>
                  <a:lnTo>
                    <a:pt x="1844" y="321357"/>
                  </a:lnTo>
                  <a:lnTo>
                    <a:pt x="1844" y="294512"/>
                  </a:lnTo>
                  <a:lnTo>
                    <a:pt x="2892" y="294512"/>
                  </a:lnTo>
                  <a:lnTo>
                    <a:pt x="14387" y="0"/>
                  </a:lnTo>
                  <a:lnTo>
                    <a:pt x="102926" y="3456"/>
                  </a:lnTo>
                  <a:lnTo>
                    <a:pt x="91566" y="294512"/>
                  </a:lnTo>
                  <a:close/>
                </a:path>
              </a:pathLst>
            </a:cu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grpSp>
      <p:sp>
        <p:nvSpPr>
          <p:cNvPr id="17" name="标题 1"/>
          <p:cNvSpPr txBox="1"/>
          <p:nvPr/>
        </p:nvSpPr>
        <p:spPr>
          <a:xfrm>
            <a:off x="1259664" y="1411188"/>
            <a:ext cx="4436286" cy="369332"/>
          </a:xfrm>
          <a:prstGeom prst="rect">
            <a:avLst/>
          </a:prstGeom>
          <a:noFill/>
          <a:ln>
            <a:noFill/>
          </a:ln>
        </p:spPr>
        <p:txBody>
          <a:bodyPr vert="horz" wrap="square" lIns="91440" tIns="45720" rIns="91440" bIns="45720" rtlCol="0" anchor="t"/>
          <a:lstStyle/>
          <a:p>
            <a:pPr algn="l">
              <a:lnSpc>
                <a:spcPct val="110000"/>
              </a:lnSpc>
            </a:pPr>
            <a:r>
              <a:rPr kumimoji="1" lang="en-US" altLang="zh-CN" sz="1600">
                <a:ln w="12700">
                  <a:noFill/>
                </a:ln>
                <a:solidFill>
                  <a:srgbClr val="262626">
                    <a:alpha val="100000"/>
                  </a:srgbClr>
                </a:solidFill>
                <a:latin typeface="Source Han Sans CN Bold"/>
                <a:ea typeface="Source Han Sans CN Bold"/>
                <a:cs typeface="Source Han Sans CN Bold"/>
              </a:rPr>
              <a:t>Chinese Spatial Block-like Structure</a:t>
            </a:r>
            <a:endParaRPr kumimoji="1" lang="zh-CN" altLang="en-US"/>
          </a:p>
        </p:txBody>
      </p:sp>
      <p:sp>
        <p:nvSpPr>
          <p:cNvPr id="18" name="标题 1"/>
          <p:cNvSpPr txBox="1"/>
          <p:nvPr/>
        </p:nvSpPr>
        <p:spPr>
          <a:xfrm>
            <a:off x="6811548" y="1392250"/>
            <a:ext cx="4436286" cy="369332"/>
          </a:xfrm>
          <a:prstGeom prst="rect">
            <a:avLst/>
          </a:prstGeom>
          <a:noFill/>
          <a:ln>
            <a:noFill/>
          </a:ln>
        </p:spPr>
        <p:txBody>
          <a:bodyPr vert="horz" wrap="square" lIns="91440" tIns="45720" rIns="91440" bIns="45720" rtlCol="0" anchor="t"/>
          <a:lstStyle/>
          <a:p>
            <a:pPr algn="l">
              <a:lnSpc>
                <a:spcPct val="110000"/>
              </a:lnSpc>
            </a:pPr>
            <a:r>
              <a:rPr kumimoji="1" lang="en-US" altLang="zh-CN" sz="1600">
                <a:ln w="12700">
                  <a:noFill/>
                </a:ln>
                <a:solidFill>
                  <a:srgbClr val="262626">
                    <a:alpha val="100000"/>
                  </a:srgbClr>
                </a:solidFill>
                <a:latin typeface="Source Han Sans CN Bold"/>
                <a:ea typeface="Source Han Sans CN Bold"/>
                <a:cs typeface="Source Han Sans CN Bold"/>
              </a:rPr>
              <a:t>English Temporal Linear Structure</a:t>
            </a:r>
            <a:endParaRPr kumimoji="1" lang="zh-CN" altLang="en-US"/>
          </a:p>
        </p:txBody>
      </p:sp>
      <p:sp>
        <p:nvSpPr>
          <p:cNvPr id="19" name="标题 1"/>
          <p:cNvSpPr txBox="1"/>
          <p:nvPr/>
        </p:nvSpPr>
        <p:spPr>
          <a:xfrm>
            <a:off x="1259664" y="3934730"/>
            <a:ext cx="4436286" cy="369332"/>
          </a:xfrm>
          <a:prstGeom prst="rect">
            <a:avLst/>
          </a:prstGeom>
          <a:noFill/>
          <a:ln>
            <a:noFill/>
          </a:ln>
        </p:spPr>
        <p:txBody>
          <a:bodyPr vert="horz" wrap="square" lIns="91440" tIns="45720" rIns="91440" bIns="45720" rtlCol="0" anchor="t"/>
          <a:lstStyle/>
          <a:p>
            <a:pPr algn="l">
              <a:lnSpc>
                <a:spcPct val="110000"/>
              </a:lnSpc>
            </a:pPr>
            <a:r>
              <a:rPr kumimoji="1" lang="en-US" altLang="zh-CN" sz="1600">
                <a:ln w="12700">
                  <a:noFill/>
                </a:ln>
                <a:solidFill>
                  <a:srgbClr val="262626">
                    <a:alpha val="100000"/>
                  </a:srgbClr>
                </a:solidFill>
                <a:latin typeface="Source Han Sans CN Bold"/>
                <a:ea typeface="Source Han Sans CN Bold"/>
                <a:cs typeface="Source Han Sans CN Bold"/>
              </a:rPr>
              <a:t>Cohesion Device Preferences</a:t>
            </a:r>
            <a:endParaRPr kumimoji="1" lang="zh-CN" altLang="en-US"/>
          </a:p>
        </p:txBody>
      </p:sp>
      <p:sp>
        <p:nvSpPr>
          <p:cNvPr id="20" name="标题 1"/>
          <p:cNvSpPr txBox="1"/>
          <p:nvPr/>
        </p:nvSpPr>
        <p:spPr>
          <a:xfrm>
            <a:off x="0" y="175260"/>
            <a:ext cx="8327425" cy="620632"/>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8742776" y="587097"/>
            <a:ext cx="208231" cy="208795"/>
          </a:xfrm>
          <a:prstGeom prst="rect">
            <a:avLst/>
          </a:prstGeom>
          <a:solidFill>
            <a:schemeClr val="accent1">
              <a:alpha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8535452" y="176388"/>
            <a:ext cx="208231" cy="413840"/>
          </a:xfrm>
          <a:prstGeom prst="rect">
            <a:avLst/>
          </a:prstGeom>
          <a:solidFill>
            <a:schemeClr val="accent1">
              <a:alpha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8743620" y="175022"/>
            <a:ext cx="209004" cy="207106"/>
          </a:xfrm>
          <a:prstGeom prst="rect">
            <a:avLst/>
          </a:prstGeom>
          <a:solidFill>
            <a:schemeClr val="accent1">
              <a:alpha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9161592" y="170358"/>
            <a:ext cx="208231" cy="208795"/>
          </a:xfrm>
          <a:prstGeom prst="rect">
            <a:avLst/>
          </a:prstGeom>
          <a:solidFill>
            <a:schemeClr val="accent1">
              <a:alpha val="2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8951946" y="379973"/>
            <a:ext cx="208231" cy="208795"/>
          </a:xfrm>
          <a:prstGeom prst="rect">
            <a:avLst/>
          </a:prstGeom>
          <a:solidFill>
            <a:schemeClr val="accent1">
              <a:alpha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8327037" y="175184"/>
            <a:ext cx="208231" cy="621268"/>
          </a:xfrm>
          <a:prstGeom prst="rect">
            <a:avLst/>
          </a:prstGeom>
          <a:solidFill>
            <a:schemeClr val="accent1">
              <a:alpha val="9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7" name="标题 1"/>
          <p:cNvSpPr txBox="1"/>
          <p:nvPr/>
        </p:nvSpPr>
        <p:spPr>
          <a:xfrm>
            <a:off x="340170" y="242328"/>
            <a:ext cx="7985452" cy="432000"/>
          </a:xfrm>
          <a:prstGeom prst="rect">
            <a:avLst/>
          </a:prstGeom>
          <a:noFill/>
          <a:ln>
            <a:noFill/>
          </a:ln>
        </p:spPr>
        <p:txBody>
          <a:bodyPr vert="horz" wrap="square" lIns="0" tIns="0" rIns="0" bIns="0" rtlCol="0" anchor="ctr"/>
          <a:lstStyle/>
          <a:p>
            <a:pPr algn="l">
              <a:lnSpc>
                <a:spcPct val="120000"/>
              </a:lnSpc>
            </a:pPr>
            <a:r>
              <a:rPr kumimoji="1" lang="en-US" altLang="zh-CN" sz="2430">
                <a:ln w="12700">
                  <a:noFill/>
                </a:ln>
                <a:solidFill>
                  <a:srgbClr val="FFFFFF">
                    <a:alpha val="100000"/>
                  </a:srgbClr>
                </a:solidFill>
                <a:latin typeface="Source Han Sans CN Bold"/>
                <a:ea typeface="Source Han Sans CN Bold"/>
                <a:cs typeface="Source Han Sans CN Bold"/>
              </a:rPr>
              <a:t>Discourse Macrostructure: "Spatial" vs. "Temporal"</a:t>
            </a:r>
            <a:endParaRPr kumimoji="1"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alphaModFix/>
          </a:blip>
          <a:srcRect/>
          <a:stretch>
            <a:fillRect/>
          </a:stretch>
        </p:blipFill>
        <p:spPr>
          <a:xfrm>
            <a:off x="0" y="0"/>
            <a:ext cx="12192000" cy="6857999"/>
          </a:xfrm>
          <a:prstGeom prst="rect">
            <a:avLst/>
          </a:prstGeom>
          <a:noFill/>
          <a:ln>
            <a:noFill/>
          </a:ln>
        </p:spPr>
      </p:pic>
      <p:sp>
        <p:nvSpPr>
          <p:cNvPr id="3" name="标题 1"/>
          <p:cNvSpPr txBox="1"/>
          <p:nvPr/>
        </p:nvSpPr>
        <p:spPr>
          <a:xfrm flipH="1">
            <a:off x="7870190"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7580083" y="0"/>
            <a:ext cx="1756865" cy="6858000"/>
          </a:xfrm>
          <a:custGeom>
            <a:avLst/>
            <a:gdLst>
              <a:gd name="connsiteX0" fmla="*/ 542835 w 1756865"/>
              <a:gd name="connsiteY0" fmla="*/ 0 h 6858000"/>
              <a:gd name="connsiteX1" fmla="*/ 0 w 1756865"/>
              <a:gd name="connsiteY1" fmla="*/ 0 h 6858000"/>
              <a:gd name="connsiteX2" fmla="*/ 1214030 w 1756865"/>
              <a:gd name="connsiteY2" fmla="*/ 3429000 h 6858000"/>
              <a:gd name="connsiteX3" fmla="*/ 0 w 1756865"/>
              <a:gd name="connsiteY3" fmla="*/ 6858000 h 6858000"/>
              <a:gd name="connsiteX4" fmla="*/ 542835 w 1756865"/>
              <a:gd name="connsiteY4" fmla="*/ 6858000 h 6858000"/>
              <a:gd name="connsiteX5" fmla="*/ 1756865 w 1756865"/>
              <a:gd name="connsiteY5" fmla="*/ 3429000 h 6858000"/>
            </a:gdLst>
            <a:ahLst/>
            <a:cxnLst/>
            <a:rect l="l" t="t" r="r" b="b"/>
            <a:pathLst>
              <a:path w="1756865" h="6858000">
                <a:moveTo>
                  <a:pt x="542835" y="0"/>
                </a:moveTo>
                <a:lnTo>
                  <a:pt x="0" y="0"/>
                </a:lnTo>
                <a:lnTo>
                  <a:pt x="1214030" y="3429000"/>
                </a:lnTo>
                <a:lnTo>
                  <a:pt x="0" y="6858000"/>
                </a:lnTo>
                <a:lnTo>
                  <a:pt x="542835" y="6858000"/>
                </a:lnTo>
                <a:lnTo>
                  <a:pt x="1756865"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518160" y="1733985"/>
            <a:ext cx="3528039" cy="1239520"/>
          </a:xfrm>
          <a:prstGeom prst="rect">
            <a:avLst/>
          </a:prstGeom>
          <a:noFill/>
          <a:ln>
            <a:noFill/>
          </a:ln>
        </p:spPr>
        <p:txBody>
          <a:bodyPr vert="horz" wrap="square" lIns="91440" tIns="45720" rIns="91440" bIns="45720" rtlCol="0" anchor="t"/>
          <a:lstStyle/>
          <a:p>
            <a:pPr algn="l">
              <a:lnSpc>
                <a:spcPct val="110000"/>
              </a:lnSpc>
            </a:pPr>
            <a:r>
              <a:rPr kumimoji="1" lang="en-US" altLang="zh-CN" sz="8800" dirty="0">
                <a:ln w="12700">
                  <a:noFill/>
                </a:ln>
                <a:gradFill>
                  <a:gsLst>
                    <a:gs pos="1000">
                      <a:srgbClr val="ADE5BB">
                        <a:alpha val="100000"/>
                      </a:srgbClr>
                    </a:gs>
                    <a:gs pos="85000">
                      <a:srgbClr val="D4F2DB">
                        <a:alpha val="0"/>
                      </a:srgbClr>
                    </a:gs>
                  </a:gsLst>
                  <a:lin ang="5400000" scaled="0"/>
                </a:gradFill>
                <a:latin typeface="Source Han Sans CN Regular"/>
                <a:ea typeface="Source Han Sans CN Regular"/>
                <a:cs typeface="Source Han Sans CN Regular"/>
              </a:rPr>
              <a:t>2025</a:t>
            </a:r>
            <a:endParaRPr kumimoji="1" lang="zh-CN" altLang="en-US" dirty="0"/>
          </a:p>
        </p:txBody>
      </p:sp>
      <p:sp>
        <p:nvSpPr>
          <p:cNvPr id="6" name="标题 1"/>
          <p:cNvSpPr txBox="1"/>
          <p:nvPr/>
        </p:nvSpPr>
        <p:spPr>
          <a:xfrm>
            <a:off x="523911" y="2882066"/>
            <a:ext cx="6611798" cy="2166472"/>
          </a:xfrm>
          <a:prstGeom prst="rect">
            <a:avLst/>
          </a:prstGeom>
          <a:noFill/>
          <a:ln>
            <a:noFill/>
          </a:ln>
        </p:spPr>
        <p:txBody>
          <a:bodyPr vert="horz" wrap="square" lIns="91440" tIns="45720" rIns="91440" bIns="45720" rtlCol="0" anchor="t"/>
          <a:lstStyle/>
          <a:p>
            <a:pPr algn="l">
              <a:lnSpc>
                <a:spcPct val="130000"/>
              </a:lnSpc>
            </a:pPr>
            <a:r>
              <a:rPr kumimoji="1" lang="en-US" altLang="zh-CN" sz="5000" dirty="0">
                <a:ln w="12700">
                  <a:noFill/>
                </a:ln>
                <a:solidFill>
                  <a:srgbClr val="262626">
                    <a:alpha val="100000"/>
                  </a:srgbClr>
                </a:solidFill>
                <a:latin typeface="Source Han Sans CN Regular"/>
                <a:ea typeface="Source Han Sans CN Regular"/>
              </a:rPr>
              <a:t>Thank you</a:t>
            </a:r>
            <a:endParaRPr kumimoji="1" lang="zh-CN" altLang="en-US" dirty="0"/>
          </a:p>
        </p:txBody>
      </p:sp>
      <p:sp>
        <p:nvSpPr>
          <p:cNvPr id="7" name="标题 1"/>
          <p:cNvSpPr txBox="1"/>
          <p:nvPr/>
        </p:nvSpPr>
        <p:spPr>
          <a:xfrm flipH="1">
            <a:off x="7870190" y="0"/>
            <a:ext cx="4321811" cy="6858000"/>
          </a:xfrm>
          <a:custGeom>
            <a:avLst/>
            <a:gdLst>
              <a:gd name="connsiteX0" fmla="*/ 3107782 w 4321811"/>
              <a:gd name="connsiteY0" fmla="*/ 0 h 6858000"/>
              <a:gd name="connsiteX1" fmla="*/ 0 w 4321811"/>
              <a:gd name="connsiteY1" fmla="*/ 0 h 6858000"/>
              <a:gd name="connsiteX2" fmla="*/ 0 w 4321811"/>
              <a:gd name="connsiteY2" fmla="*/ 663017 h 6858000"/>
              <a:gd name="connsiteX3" fmla="*/ 979290 w 4321811"/>
              <a:gd name="connsiteY3" fmla="*/ 3429000 h 6858000"/>
              <a:gd name="connsiteX4" fmla="*/ 0 w 4321811"/>
              <a:gd name="connsiteY4" fmla="*/ 6194983 h 6858000"/>
              <a:gd name="connsiteX5" fmla="*/ 0 w 4321811"/>
              <a:gd name="connsiteY5" fmla="*/ 6858000 h 6858000"/>
              <a:gd name="connsiteX6" fmla="*/ 3107782 w 4321811"/>
              <a:gd name="connsiteY6" fmla="*/ 6858000 h 6858000"/>
              <a:gd name="connsiteX7" fmla="*/ 4321811 w 4321811"/>
              <a:gd name="connsiteY7" fmla="*/ 3429000 h 6858000"/>
            </a:gdLst>
            <a:ahLst/>
            <a:cxnLst/>
            <a:rect l="l" t="t" r="r" b="b"/>
            <a:pathLst>
              <a:path w="4321811" h="6858000">
                <a:moveTo>
                  <a:pt x="3107782" y="0"/>
                </a:moveTo>
                <a:lnTo>
                  <a:pt x="0" y="0"/>
                </a:lnTo>
                <a:lnTo>
                  <a:pt x="0" y="663017"/>
                </a:lnTo>
                <a:lnTo>
                  <a:pt x="979290" y="3429000"/>
                </a:lnTo>
                <a:lnTo>
                  <a:pt x="0" y="6194983"/>
                </a:lnTo>
                <a:lnTo>
                  <a:pt x="0" y="6858000"/>
                </a:lnTo>
                <a:lnTo>
                  <a:pt x="3107782" y="6858000"/>
                </a:lnTo>
                <a:lnTo>
                  <a:pt x="4321811" y="3429000"/>
                </a:ln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flipV="1">
            <a:off x="5726345" y="0"/>
            <a:ext cx="2761198" cy="2380343"/>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944176" y="5549312"/>
            <a:ext cx="1568586" cy="1352230"/>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816658" y="994769"/>
            <a:ext cx="1805213" cy="251200"/>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9525" cap="flat">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4706428" y="5507792"/>
            <a:ext cx="2118472" cy="294733"/>
          </a:xfrm>
          <a:prstGeom prst="rect">
            <a:avLst/>
          </a:prstGeom>
          <a:noFill/>
          <a:ln>
            <a:noFill/>
          </a:ln>
        </p:spPr>
        <p:txBody>
          <a:bodyPr vert="horz" wrap="square" lIns="0" tIns="0" rIns="0" bIns="0" rtlCol="0" anchor="ctr"/>
          <a:lstStyle/>
          <a:p>
            <a:pPr algn="ctr">
              <a:lnSpc>
                <a:spcPct val="110000"/>
              </a:lnSpc>
            </a:pPr>
            <a:endParaRPr kumimoji="1" lang="zh-CN" altLang="en-US" dirty="0"/>
          </a:p>
        </p:txBody>
      </p:sp>
      <p:sp>
        <p:nvSpPr>
          <p:cNvPr id="17" name="标题 1"/>
          <p:cNvSpPr txBox="1"/>
          <p:nvPr/>
        </p:nvSpPr>
        <p:spPr>
          <a:xfrm>
            <a:off x="848811" y="5502791"/>
            <a:ext cx="281318" cy="304735"/>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20" name="标题 1"/>
          <p:cNvSpPr txBox="1"/>
          <p:nvPr/>
        </p:nvSpPr>
        <p:spPr>
          <a:xfrm flipV="1">
            <a:off x="6182887" y="190324"/>
            <a:ext cx="1998550" cy="1722888"/>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7129958" y="5760064"/>
            <a:ext cx="1247088" cy="1075076"/>
          </a:xfrm>
          <a:prstGeom prst="triangle">
            <a:avLst>
              <a:gd name="adj" fmla="val 70075"/>
            </a:avLst>
          </a:prstGeom>
          <a:solidFill>
            <a:schemeClr val="accent1">
              <a:lumMod val="20000"/>
              <a:lumOff val="80000"/>
              <a:alpha val="5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4260139" y="2077019"/>
            <a:ext cx="871708" cy="651665"/>
          </a:xfrm>
          <a:prstGeom prst="triangle">
            <a:avLst>
              <a:gd name="adj" fmla="val 45289"/>
            </a:avLst>
          </a:prstGeom>
          <a:solidFill>
            <a:schemeClr val="accent1">
              <a:lumMod val="20000"/>
              <a:lumOff val="80000"/>
              <a:alpha val="45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rot="2157950">
            <a:off x="-133101" y="-191671"/>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rot="19442050" flipV="1">
            <a:off x="-133101" y="6115222"/>
            <a:ext cx="630734" cy="954926"/>
          </a:xfrm>
          <a:custGeom>
            <a:avLst/>
            <a:gdLst>
              <a:gd name="connsiteX0" fmla="*/ 0 w 630734"/>
              <a:gd name="connsiteY0" fmla="*/ 353199 h 954926"/>
              <a:gd name="connsiteX1" fmla="*/ 486747 w 630734"/>
              <a:gd name="connsiteY1" fmla="*/ 0 h 954926"/>
              <a:gd name="connsiteX2" fmla="*/ 630734 w 630734"/>
              <a:gd name="connsiteY2" fmla="*/ 406690 h 954926"/>
              <a:gd name="connsiteX3" fmla="*/ 436633 w 630734"/>
              <a:gd name="connsiteY3" fmla="*/ 954926 h 954926"/>
            </a:gdLst>
            <a:ahLst/>
            <a:cxnLst/>
            <a:rect l="l" t="t" r="r" b="b"/>
            <a:pathLst>
              <a:path w="630734" h="954926">
                <a:moveTo>
                  <a:pt x="0" y="353199"/>
                </a:moveTo>
                <a:lnTo>
                  <a:pt x="486747" y="0"/>
                </a:lnTo>
                <a:lnTo>
                  <a:pt x="630734" y="406690"/>
                </a:lnTo>
                <a:lnTo>
                  <a:pt x="436633" y="954926"/>
                </a:lnTo>
                <a:close/>
              </a:path>
            </a:pathLst>
          </a:custGeom>
          <a:solidFill>
            <a:schemeClr val="accent1">
              <a:lumMod val="20000"/>
              <a:lumOff val="8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flipH="1">
            <a:off x="8962887" y="0"/>
            <a:ext cx="1966034" cy="6858000"/>
          </a:xfrm>
          <a:custGeom>
            <a:avLst/>
            <a:gdLst>
              <a:gd name="connsiteX0" fmla="*/ 838730 w 1966034"/>
              <a:gd name="connsiteY0" fmla="*/ 0 h 6858000"/>
              <a:gd name="connsiteX1" fmla="*/ 0 w 1966034"/>
              <a:gd name="connsiteY1" fmla="*/ 0 h 6858000"/>
              <a:gd name="connsiteX2" fmla="*/ 1127304 w 1966034"/>
              <a:gd name="connsiteY2" fmla="*/ 3498566 h 6858000"/>
              <a:gd name="connsiteX3" fmla="*/ 44831 w 1966034"/>
              <a:gd name="connsiteY3" fmla="*/ 6858000 h 6858000"/>
              <a:gd name="connsiteX4" fmla="*/ 883561 w 1966034"/>
              <a:gd name="connsiteY4" fmla="*/ 6858000 h 6858000"/>
              <a:gd name="connsiteX5" fmla="*/ 1966034 w 1966034"/>
              <a:gd name="connsiteY5" fmla="*/ 3498566 h 6858000"/>
            </a:gdLst>
            <a:ahLst/>
            <a:cxnLst/>
            <a:rect l="l" t="t" r="r" b="b"/>
            <a:pathLst>
              <a:path w="1966034" h="6858000">
                <a:moveTo>
                  <a:pt x="838730" y="0"/>
                </a:moveTo>
                <a:lnTo>
                  <a:pt x="0" y="0"/>
                </a:lnTo>
                <a:lnTo>
                  <a:pt x="1127304" y="3498566"/>
                </a:lnTo>
                <a:lnTo>
                  <a:pt x="44831" y="6858000"/>
                </a:lnTo>
                <a:lnTo>
                  <a:pt x="883561" y="6858000"/>
                </a:lnTo>
                <a:lnTo>
                  <a:pt x="1966034" y="3498566"/>
                </a:lnTo>
                <a:close/>
              </a:path>
            </a:pathLst>
          </a:custGeom>
          <a:solidFill>
            <a:schemeClr val="accent1">
              <a:lumMod val="40000"/>
              <a:lumOff val="60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flipH="1">
            <a:off x="8377046" y="1622220"/>
            <a:ext cx="2483357" cy="3592635"/>
          </a:xfrm>
          <a:prstGeom prst="chevron">
            <a:avLst>
              <a:gd name="adj" fmla="val 25606"/>
            </a:avLst>
          </a:prstGeom>
          <a:solidFill>
            <a:schemeClr val="accent1">
              <a:lumMod val="40000"/>
              <a:lumOff val="60000"/>
              <a:alpha val="50000"/>
            </a:schemeClr>
          </a:solidFill>
          <a:ln w="12700" cap="sq">
            <a:solidFill>
              <a:schemeClr val="accent1">
                <a:lumMod val="40000"/>
                <a:lumOff val="60000"/>
              </a:schemeClr>
            </a:solidFill>
            <a:miter/>
          </a:ln>
          <a:effectLst/>
        </p:spPr>
        <p:txBody>
          <a:bodyPr vert="horz" wrap="square" lIns="91440" tIns="45720" rIns="91440" bIns="45720" rtlCol="0" anchor="ctr"/>
          <a:lstStyle/>
          <a:p>
            <a:pPr algn="ctr">
              <a:lnSpc>
                <a:spcPct val="110000"/>
              </a:lnSpc>
            </a:pPr>
            <a:endParaRPr kumimoji="1" lang="zh-CN" altLang="en-US"/>
          </a:p>
        </p:txBody>
      </p:sp>
      <p:sp>
        <p:nvSpPr>
          <p:cNvPr id="27" name="标题 1"/>
          <p:cNvSpPr txBox="1"/>
          <p:nvPr/>
        </p:nvSpPr>
        <p:spPr>
          <a:xfrm flipH="1">
            <a:off x="11210740" y="657455"/>
            <a:ext cx="981260" cy="5543093"/>
          </a:xfrm>
          <a:custGeom>
            <a:avLst/>
            <a:gdLst>
              <a:gd name="connsiteX0" fmla="*/ 0 w 981260"/>
              <a:gd name="connsiteY0" fmla="*/ 0 h 5543093"/>
              <a:gd name="connsiteX1" fmla="*/ 0 w 981260"/>
              <a:gd name="connsiteY1" fmla="*/ 532939 h 5543093"/>
              <a:gd name="connsiteX2" fmla="*/ 792574 w 981260"/>
              <a:gd name="connsiteY2" fmla="*/ 2771546 h 5543093"/>
              <a:gd name="connsiteX3" fmla="*/ 0 w 981260"/>
              <a:gd name="connsiteY3" fmla="*/ 5010154 h 5543093"/>
              <a:gd name="connsiteX4" fmla="*/ 0 w 981260"/>
              <a:gd name="connsiteY4" fmla="*/ 5543093 h 5543093"/>
              <a:gd name="connsiteX5" fmla="*/ 981260 w 981260"/>
              <a:gd name="connsiteY5" fmla="*/ 2771546 h 5543093"/>
            </a:gdLst>
            <a:ahLst/>
            <a:cxnLst/>
            <a:rect l="l" t="t" r="r" b="b"/>
            <a:pathLst>
              <a:path w="981260" h="5543093">
                <a:moveTo>
                  <a:pt x="0" y="0"/>
                </a:moveTo>
                <a:lnTo>
                  <a:pt x="0" y="532939"/>
                </a:lnTo>
                <a:lnTo>
                  <a:pt x="792574" y="2771546"/>
                </a:lnTo>
                <a:lnTo>
                  <a:pt x="0" y="5010154"/>
                </a:lnTo>
                <a:lnTo>
                  <a:pt x="0" y="5543093"/>
                </a:lnTo>
                <a:lnTo>
                  <a:pt x="981260" y="2771546"/>
                </a:lnTo>
                <a:close/>
              </a:path>
            </a:pathLst>
          </a:custGeom>
          <a:solidFill>
            <a:schemeClr val="accent1">
              <a:lumMod val="40000"/>
              <a:lumOff val="6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flipH="1">
            <a:off x="10718708" y="0"/>
            <a:ext cx="1473292" cy="6858000"/>
          </a:xfrm>
          <a:custGeom>
            <a:avLst/>
            <a:gdLst>
              <a:gd name="connsiteX0" fmla="*/ 259262 w 1473292"/>
              <a:gd name="connsiteY0" fmla="*/ 0 h 6858000"/>
              <a:gd name="connsiteX1" fmla="*/ 0 w 1473292"/>
              <a:gd name="connsiteY1" fmla="*/ 0 h 6858000"/>
              <a:gd name="connsiteX2" fmla="*/ 0 w 1473292"/>
              <a:gd name="connsiteY2" fmla="*/ 800946 h 6858000"/>
              <a:gd name="connsiteX3" fmla="*/ 930457 w 1473292"/>
              <a:gd name="connsiteY3" fmla="*/ 3429000 h 6858000"/>
              <a:gd name="connsiteX4" fmla="*/ 0 w 1473292"/>
              <a:gd name="connsiteY4" fmla="*/ 6057055 h 6858000"/>
              <a:gd name="connsiteX5" fmla="*/ 0 w 1473292"/>
              <a:gd name="connsiteY5" fmla="*/ 6858000 h 6858000"/>
              <a:gd name="connsiteX6" fmla="*/ 259262 w 1473292"/>
              <a:gd name="connsiteY6" fmla="*/ 6858000 h 6858000"/>
              <a:gd name="connsiteX7" fmla="*/ 1473292 w 1473292"/>
              <a:gd name="connsiteY7" fmla="*/ 3429000 h 6858000"/>
            </a:gdLst>
            <a:ahLst/>
            <a:cxnLst/>
            <a:rect l="l" t="t" r="r" b="b"/>
            <a:pathLst>
              <a:path w="1473292" h="6858000">
                <a:moveTo>
                  <a:pt x="259262" y="0"/>
                </a:moveTo>
                <a:lnTo>
                  <a:pt x="0" y="0"/>
                </a:lnTo>
                <a:lnTo>
                  <a:pt x="0" y="800946"/>
                </a:lnTo>
                <a:lnTo>
                  <a:pt x="930457" y="3429000"/>
                </a:lnTo>
                <a:lnTo>
                  <a:pt x="0" y="6057055"/>
                </a:lnTo>
                <a:lnTo>
                  <a:pt x="0" y="6858000"/>
                </a:lnTo>
                <a:lnTo>
                  <a:pt x="259262" y="6858000"/>
                </a:lnTo>
                <a:lnTo>
                  <a:pt x="1473292" y="3429000"/>
                </a:lnTo>
                <a:close/>
              </a:path>
            </a:pathLst>
          </a:custGeom>
          <a:solidFill>
            <a:schemeClr val="accent1">
              <a:lumMod val="40000"/>
              <a:lumOff val="60000"/>
              <a:alpha val="50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3AB858"/>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845</Words>
  <Application>Microsoft Office PowerPoint</Application>
  <PresentationFormat>宽屏</PresentationFormat>
  <Paragraphs>69</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Source Han Sans CN Bold</vt:lpstr>
      <vt:lpstr>Arial</vt:lpstr>
      <vt:lpstr>Source Han Sans</vt:lpstr>
      <vt:lpstr>Source Han Sans CN Regular</vt:lpstr>
      <vt:lpstr>OPPOSans L</vt:lpstr>
      <vt:lpstr>OPPOSans H</vt:lpstr>
      <vt:lpstr>OPPOSans R</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QY Z</cp:lastModifiedBy>
  <cp:revision>2</cp:revision>
  <dcterms:modified xsi:type="dcterms:W3CDTF">2025-06-06T01:09:42Z</dcterms:modified>
</cp:coreProperties>
</file>