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82" r:id="rId14"/>
    <p:sldId id="283" r:id="rId15"/>
    <p:sldId id="284" r:id="rId16"/>
    <p:sldId id="285" r:id="rId17"/>
    <p:sldId id="286" r:id="rId18"/>
    <p:sldId id="287" r:id="rId19"/>
    <p:sldId id="270" r:id="rId20"/>
    <p:sldId id="271" r:id="rId21"/>
    <p:sldId id="272" r:id="rId22"/>
    <p:sldId id="273" r:id="rId23"/>
    <p:sldId id="274" r:id="rId24"/>
    <p:sldId id="276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75" y="28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3943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4.jpe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5.jpe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5.jpe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085850"/>
            <a:ext cx="7810500" cy="2971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1500188"/>
            <a:ext cx="80010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二分图最大匹配算法实现与应用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571500" y="2243138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endParaRPr lang="en-US" sz="2250" dirty="0"/>
          </a:p>
        </p:txBody>
      </p:sp>
      <p:sp>
        <p:nvSpPr>
          <p:cNvPr id="6" name="Shape 3"/>
          <p:cNvSpPr/>
          <p:nvPr/>
        </p:nvSpPr>
        <p:spPr>
          <a:xfrm>
            <a:off x="571500" y="2976563"/>
            <a:ext cx="604838" cy="1143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" y="3424238"/>
            <a:ext cx="8001000" cy="219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2023212290 </a:t>
            </a: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计科</a:t>
            </a:r>
            <a:r>
              <a:rPr lang="en-US" altLang="zh-CN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23-3</a:t>
            </a: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班 </a:t>
            </a:r>
            <a:r>
              <a:rPr lang="en-US" sz="1200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朱清扬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295275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3433763"/>
            <a:ext cx="1857375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571500" y="4176713"/>
            <a:ext cx="18097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3524250" y="673894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274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75" dirty="0"/>
          </a:p>
        </p:txBody>
      </p:sp>
      <p:sp>
        <p:nvSpPr>
          <p:cNvPr id="7" name="Text 4"/>
          <p:cNvSpPr/>
          <p:nvPr/>
        </p:nvSpPr>
        <p:spPr>
          <a:xfrm>
            <a:off x="3990975" y="745331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项目背景与问题描述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990975" y="992981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524250" y="1302544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274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75" dirty="0"/>
          </a:p>
        </p:txBody>
      </p:sp>
      <p:sp>
        <p:nvSpPr>
          <p:cNvPr id="10" name="Text 7"/>
          <p:cNvSpPr/>
          <p:nvPr/>
        </p:nvSpPr>
        <p:spPr>
          <a:xfrm>
            <a:off x="3990975" y="1373981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算法设计与实现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990975" y="1621631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524250" y="1931194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274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75" dirty="0"/>
          </a:p>
        </p:txBody>
      </p:sp>
      <p:sp>
        <p:nvSpPr>
          <p:cNvPr id="13" name="Text 10"/>
          <p:cNvSpPr/>
          <p:nvPr/>
        </p:nvSpPr>
        <p:spPr>
          <a:xfrm>
            <a:off x="3990975" y="2002631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系统架构与模块设计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990975" y="2250281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524250" y="2559844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274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875" dirty="0"/>
          </a:p>
        </p:txBody>
      </p:sp>
      <p:sp>
        <p:nvSpPr>
          <p:cNvPr id="16" name="Text 13"/>
          <p:cNvSpPr/>
          <p:nvPr/>
        </p:nvSpPr>
        <p:spPr>
          <a:xfrm>
            <a:off x="3990975" y="2631281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代码详细解析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990975" y="2878931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524250" y="3188494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274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875" dirty="0"/>
          </a:p>
        </p:txBody>
      </p:sp>
      <p:sp>
        <p:nvSpPr>
          <p:cNvPr id="19" name="Text 16"/>
          <p:cNvSpPr/>
          <p:nvPr/>
        </p:nvSpPr>
        <p:spPr>
          <a:xfrm>
            <a:off x="3990975" y="3259931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调试测试与性能分析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990975" y="3507581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524250" y="3817144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274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875" dirty="0"/>
          </a:p>
        </p:txBody>
      </p:sp>
      <p:sp>
        <p:nvSpPr>
          <p:cNvPr id="22" name="Text 19"/>
          <p:cNvSpPr/>
          <p:nvPr/>
        </p:nvSpPr>
        <p:spPr>
          <a:xfrm>
            <a:off x="3990975" y="3888581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实验总结与个人感悟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990975" y="4136231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项目背景与问题描述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274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二战飞行员配对难题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2000250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历史背景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2247900"/>
            <a:ext cx="17145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二战期间，英国招募外籍飞行员，需与英籍飞行员高效配对。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667000" y="2000250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实际问题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667000" y="2247900"/>
            <a:ext cx="17145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最大化飞机派遣，确保航行技能与语言配合，提升作战效能。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762500" y="2000250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数学抽象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762500" y="2247900"/>
            <a:ext cx="17145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问题转化为二分图最大匹配，外籍与英籍飞行员为顶点，配合关系为边。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858000" y="2000250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算法挑战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58000" y="2247900"/>
            <a:ext cx="171450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需设计算法，寻找最优配对方案，解决实际战争需求。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t="11728" b="11728"/>
          <a:stretch/>
        </p:blipFill>
        <p:spPr>
          <a:xfrm>
            <a:off x="5286375" y="0"/>
            <a:ext cx="3857625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40386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二分图最大匹配概念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40386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71500" y="1333500"/>
            <a:ext cx="1881187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274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1662112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二分图定义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71500" y="2265404"/>
            <a:ext cx="1881187" cy="48255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80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二分图是一种特殊的图，其顶点可以分为两个互不相交的集合，每条边都连接这两个集合中的顶点</a:t>
            </a: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</a:p>
          <a:p>
            <a:pPr>
              <a:lnSpc>
                <a:spcPts val="1650"/>
              </a:lnSpc>
            </a:pPr>
            <a:r>
              <a:rPr lang="en-US" altLang="zh-CN" sz="80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设G</a:t>
            </a:r>
            <a:r>
              <a:rPr lang="en-US" altLang="zh-CN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=(V,E)，</a:t>
            </a:r>
            <a:r>
              <a:rPr lang="en-US" altLang="zh-CN" sz="80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V可划分为X∪Y，X∩Y</a:t>
            </a:r>
            <a:r>
              <a:rPr lang="en-US" altLang="zh-CN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=∅，E⊆{(</a:t>
            </a:r>
            <a:r>
              <a:rPr lang="en-US" altLang="zh-CN" sz="80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x,y</a:t>
            </a:r>
            <a:r>
              <a:rPr lang="en-US" altLang="zh-CN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)|</a:t>
            </a:r>
            <a:r>
              <a:rPr lang="en-US" altLang="zh-CN" sz="80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x∈X,y∈Y</a:t>
            </a:r>
            <a:r>
              <a:rPr lang="en-US" altLang="zh-CN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}。</a:t>
            </a:r>
            <a:endParaRPr lang="en-US" altLang="zh-CN" sz="800" dirty="0"/>
          </a:p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2833688" y="1333500"/>
            <a:ext cx="1881187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274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2833688" y="1662112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最大匹配意义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833688" y="1909762"/>
            <a:ext cx="1881187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最大匹配是指在图中选取一组边，使得任意两条边都不共享相同的顶点，且边的数量达到最大。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71500" y="2938463"/>
            <a:ext cx="1881187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274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71500" y="3267075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71500" y="3514725"/>
            <a:ext cx="1881187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在资源分配、人员调度等场景中，最大匹配能帮助找到最优的配对方案，最大化效率或满足度。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2833688" y="2938463"/>
            <a:ext cx="1881187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274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833688" y="3267075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算法目标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2833688" y="3514725"/>
            <a:ext cx="1881187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本项目的目标是通过算法找出二分图中的最大匹配，解决飞行员配对问题。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算法设计与实现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274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DFS增广路径搜索详解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2000250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DFS核心逻辑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2247900"/>
            <a:ext cx="1714500" cy="1047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从外籍飞行员出发，深度探索所有可能的英国飞行员配合，标记访问，递归查找未匹配或可替代匹配的英国飞行员。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667000" y="2000250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访问标记管理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667000" y="2247900"/>
            <a:ext cx="17145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每次搜索新外籍飞行员时重置标记，确保独立搜索，避免遗漏有效增广路径。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762500" y="2000250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匹配更新策略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762500" y="2247900"/>
            <a:ext cx="171450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单向记录匹配，简化逻辑，避免双向更新带来的数据一致性问题，确保匹配关系正确更新。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858000" y="2000250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递归终止条件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58000" y="2247900"/>
            <a:ext cx="171450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当找到未匹配或可替代匹配的英国飞行员时，递归终止，沿路径更新匹配，增加匹配数。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最大匹配算法框架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66750" y="3048000"/>
            <a:ext cx="222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算法概述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66750" y="3295650"/>
            <a:ext cx="22225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基于DFS的增广路径算法，通过迭代寻找增广路径，逐步增加匹配数，直至无法找到更多路径。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3460750" y="3048000"/>
            <a:ext cx="222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核心步骤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460750" y="3295650"/>
            <a:ext cx="22225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初始化所有顶点为未匹配状态，对每个外籍飞行员进行DFS搜索，寻找至未匹配英国飞行员的路径。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254750" y="3048000"/>
            <a:ext cx="222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更新策略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254750" y="3295650"/>
            <a:ext cx="22225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沿增广路径更新匹配关系，若英国飞行员已匹配，则递归寻找新匹配对象，直至匹配数不再增加。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系统架构与模块设计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274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52387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模块化设计思路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00050" y="1447800"/>
            <a:ext cx="2085975" cy="25479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228850"/>
            <a:ext cx="138112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模块划分原则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2475" y="2519363"/>
            <a:ext cx="1381125" cy="1085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将系统功能细分为图管理、算法实现、文件处理与主控流程四大模块，确保代码结构清晰，易于维护与扩展。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486025" y="1447800"/>
            <a:ext cx="2085975" cy="254793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838450" y="2228850"/>
            <a:ext cx="138112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独立功能单元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838450" y="2519363"/>
            <a:ext cx="1381125" cy="1085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每个模块聚焦单一职责，如图管理专注于邻接表构建与维护，提升代码复用率与测试效率。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72000" y="1447800"/>
            <a:ext cx="2085975" cy="254793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24425" y="2228850"/>
            <a:ext cx="138112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接口标准化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924425" y="2519363"/>
            <a:ext cx="1381125" cy="1085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定义明确的模块间通信接口，如readInput()与writeOutput()，保证数据交换的规范性与程序的健壮性。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657975" y="1447800"/>
            <a:ext cx="2085975" cy="254793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010400" y="2228850"/>
            <a:ext cx="138112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逻辑层次分明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7010400" y="2519363"/>
            <a:ext cx="1381125" cy="1085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从底层数据结构到高层算法逻辑，层层递进，形成自底向上的模块化架构，便于理解和调试。</a:t>
            </a:r>
            <a:endParaRPr lang="en-US" sz="1050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F41CAAE6-5869-0597-832E-2625AB229AC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57525" y="83069"/>
            <a:ext cx="3137868" cy="141782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l="12500" r="12500"/>
          <a:stretch/>
        </p:blipFill>
        <p:spPr>
          <a:xfrm>
            <a:off x="5286375" y="0"/>
            <a:ext cx="3857625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40386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核心函数与数据结构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40386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73969" y="1143000"/>
            <a:ext cx="476250" cy="4762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71500" y="1733550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关键函数模块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571500" y="1981200"/>
            <a:ext cx="1881187" cy="1257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dfs: 深度优先搜索，寻找增广路径。</a:t>
            </a:r>
            <a:endParaRPr lang="en-US" sz="1050" dirty="0"/>
          </a:p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maxMatching: 计算最大匹配数。</a:t>
            </a:r>
            <a:endParaRPr lang="en-US" sz="1050" dirty="0"/>
          </a:p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readInput/writeOutput: 文件读写处理。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536156" y="1143000"/>
            <a:ext cx="476250" cy="4762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833688" y="1733550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核心数据结构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2833688" y="1981200"/>
            <a:ext cx="1881187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graph: 邻接表存储图结构。</a:t>
            </a:r>
            <a:endParaRPr lang="en-US" sz="1050" dirty="0"/>
          </a:p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match: 记录匹配关系。</a:t>
            </a:r>
            <a:endParaRPr lang="en-US" sz="1050" dirty="0"/>
          </a:p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used: DFS访问标记。</a:t>
            </a:r>
            <a:endParaRPr lang="en-US" sz="1050" dirty="0"/>
          </a:p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result: 存储匹配结果。</a:t>
            </a:r>
            <a:endParaRPr lang="en-US" sz="10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273969" y="3429000"/>
            <a:ext cx="476250" cy="4762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71500" y="4019550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模块化优势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571500" y="4267200"/>
            <a:ext cx="1881187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提高代码可维护性与扩展性。</a:t>
            </a:r>
            <a:endParaRPr lang="en-US" sz="1050" dirty="0"/>
          </a:p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简化调试与测试过程。</a:t>
            </a:r>
            <a:endParaRPr lang="en-US" sz="1050" dirty="0"/>
          </a:p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加速功能迭代与升级。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zh-CN" alt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代码详细解析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274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2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扫描输入文件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00050" y="1447800"/>
            <a:ext cx="2085975" cy="25479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228850"/>
            <a:ext cx="138112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函数概览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2475" y="2519363"/>
            <a:ext cx="1381125" cy="1085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scanInputFiles() 函数负责扫描当前目录下所有 input*.txt 文件，返回一个按文件名排序的列表。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486025" y="1447800"/>
            <a:ext cx="2085975" cy="254793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838450" y="2228850"/>
            <a:ext cx="138112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API调用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838450" y="2519363"/>
            <a:ext cx="1381125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 Windows API FindFirstFileA 和 FindNextFileA 遍历文件，FindClose 关闭句柄。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72000" y="1447800"/>
            <a:ext cx="2085975" cy="254793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24425" y="2228850"/>
            <a:ext cx="138112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文件名排序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924425" y="2519363"/>
            <a:ext cx="1381125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 sort() 函数确保文件名列表按字典序升序排列，提供稳定的文件处理顺序。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657975" y="1447800"/>
            <a:ext cx="2085975" cy="254793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010400" y="2228850"/>
            <a:ext cx="138112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功能实现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7010400" y="2519363"/>
            <a:ext cx="1381125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通过循环和条件判断，收集所有符合条件的文件名至 vector&lt;string&gt;，便于后续处理。</a:t>
            </a:r>
            <a:endParaRPr lang="en-US" sz="1050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02BE6882-D364-74A0-5A85-A3BA17B1557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76118" y="74655"/>
            <a:ext cx="2416563" cy="141303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深度优先搜索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00050" y="2019300"/>
            <a:ext cx="2781151" cy="22669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869406"/>
            <a:ext cx="2076301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DFS原理概述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2475" y="3159919"/>
            <a:ext cx="2076301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深度优先搜索（DFS）在二分图中寻找增广路径，实现左侧顶点与右侧顶点的匹配。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181201" y="2019300"/>
            <a:ext cx="2781151" cy="22669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533626" y="2869406"/>
            <a:ext cx="2076301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关键步骤解析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533626" y="3159919"/>
            <a:ext cx="2076301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遍历左侧顶点的邻接边，标记访问状态，判断右侧顶点是否空闲或可替换，更新匹配状态。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962352" y="2019300"/>
            <a:ext cx="2781151" cy="22669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14777" y="2869406"/>
            <a:ext cx="2076301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递归机制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314777" y="3159919"/>
            <a:ext cx="2076301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利用递归调用，尝试替换已匹配的左侧顶点，寻找新的匹配机会，实现路径增广。</a:t>
            </a:r>
            <a:endParaRPr lang="en-US" sz="1050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33785ADB-F134-F637-6A5B-B40FE764DB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44345" y="126826"/>
            <a:ext cx="5462716" cy="181568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最大匹配计算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00050" y="1447800"/>
            <a:ext cx="2085975" cy="25479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228850"/>
            <a:ext cx="138112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匈牙利算法精髓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2475" y="2519363"/>
            <a:ext cx="1381125" cy="1085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maxMatching() 函数运用匈牙利算法核心，遍历左侧顶点，通过 dfs() 寻找增广路径，逐步构建最大匹配。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486025" y="1447800"/>
            <a:ext cx="2085975" cy="254793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838450" y="2228850"/>
            <a:ext cx="138112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动态更新匹配状态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838450" y="2519363"/>
            <a:ext cx="1381125" cy="1085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match 数组记录右侧顶点匹配状态，每次 dfs() 成功，更新 match[v]，累积 matchCount，直至最大匹配数。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72000" y="1447800"/>
            <a:ext cx="2085975" cy="254793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24425" y="2228850"/>
            <a:ext cx="138112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DFS 实现增广路径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924425" y="2519363"/>
            <a:ext cx="1381125" cy="1085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dfs() 函数深度优先搜索，尝试为左侧顶点 u 找到未匹配或可替换的右侧顶点，实现匹配的增广。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657975" y="1447800"/>
            <a:ext cx="2085975" cy="254793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010400" y="2228850"/>
            <a:ext cx="138112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结果收集与返回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7010400" y="2519363"/>
            <a:ext cx="1381125" cy="1085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遍历右侧顶点，将所有成功匹配对 (u, v) 收集至 result，最终返回 matchCount，即最大匹配数。</a:t>
            </a:r>
            <a:endParaRPr lang="en-US" sz="1050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31D41126-2FD5-FE8D-22A7-76E3FC50BC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73517" y="47111"/>
            <a:ext cx="2644158" cy="140068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读取输入文件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00050" y="2019300"/>
            <a:ext cx="2781151" cy="22669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974181"/>
            <a:ext cx="2076301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函数概览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2475" y="3264694"/>
            <a:ext cx="20763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readInput(...) 从指定文件读取二分图信息，构造邻接表。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181201" y="2019300"/>
            <a:ext cx="2781151" cy="22669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533626" y="2974181"/>
            <a:ext cx="2076301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输入格式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533626" y="3264694"/>
            <a:ext cx="20763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文件首行为 m n，后跟 i j 对，以 -1 -1 结束。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962352" y="2019300"/>
            <a:ext cx="2781151" cy="22669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14777" y="2974181"/>
            <a:ext cx="2076301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处理流程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314777" y="3264694"/>
            <a:ext cx="20763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打开文件，读取 m, n，验证格式，构建 graph。</a:t>
            </a:r>
            <a:endParaRPr lang="en-US" sz="1050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DC79C9A7-5702-79E1-3BF3-DA285F0DD0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61752" y="84953"/>
            <a:ext cx="2294882" cy="193434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写入输出文件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90625" y="2000250"/>
            <a:ext cx="476250" cy="4762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2590800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函数概述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2838450"/>
            <a:ext cx="171450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writeOutput(...) 将最大匹配结果写入指定文件，格式化输出匹配对数与具体匹配对。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286125" y="2000250"/>
            <a:ext cx="476250" cy="4762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667000" y="2590800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输出规则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667000" y="2838450"/>
            <a:ext cx="171450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若无匹配，输出 "No Solution!"；若有匹配，首行为匹配总数，后续每行为 "左侧顶点 右侧顶点"。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381625" y="2000250"/>
            <a:ext cx="476250" cy="4762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762500" y="2590800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文件操作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762500" y="2838450"/>
            <a:ext cx="171450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 ofstream 打开输出文件，检查文件是否成功打开，否则输出错误信息并返回。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477125" y="2000250"/>
            <a:ext cx="476250" cy="4762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858000" y="2590800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结果写入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6858000" y="2838450"/>
            <a:ext cx="17145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遍历匹配对，格式化输出至文件，确保输出清晰、有序。</a:t>
            </a:r>
            <a:endParaRPr lang="en-US" sz="1050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0E3A1AC5-7F2D-8053-09F7-5FEE7C75D2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67000" y="65042"/>
            <a:ext cx="3917092" cy="187805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菜单与用户交互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2000250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展示菜单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2247900"/>
            <a:ext cx="24130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displayMenu() 函数以编号列表形式输出所有可用的 input*.txt 文件，提供清晰的菜单界面供用户选择。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365500" y="2000250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获取用户选择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365500" y="2247900"/>
            <a:ext cx="24130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getUserChoice() 读取用户输入，确保选择在有效范围内，支持错误处理与重新输入机制。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159500" y="2000250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交互设计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159500" y="2247900"/>
            <a:ext cx="24130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通过简洁的控制台交互，用户可轻松选择文件或退出程序，增强用户体验与操作流畅性。</a:t>
            </a:r>
            <a:endParaRPr lang="en-US" sz="1050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7687D276-57C2-6BEF-70A1-4CBEE3987F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7781" y="485775"/>
            <a:ext cx="2762186" cy="1204633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4139A351-2D47-96FA-A78C-6B96265708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2163" y="3072875"/>
            <a:ext cx="2903836" cy="1393117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F58EE4CF-3E2B-D198-1871-46C726200B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2819" y="3072875"/>
            <a:ext cx="2723472" cy="101040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调试测试与性能分析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274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2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运行结果与调试过程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66750" y="3048000"/>
            <a:ext cx="222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DFS 访问标记管理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66750" y="3295650"/>
            <a:ext cx="222250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初始实现中，访问标记重置不当，导致有效路径被忽略。调整策略，每次搜索新外籍飞行员时重置标记，确保搜索独立性。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3460750" y="3048000"/>
            <a:ext cx="222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匹配关系更新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460750" y="3295650"/>
            <a:ext cx="22225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原设计双向记录匹配，引发数据一致性问题。改为单向记录（英飞至外籍），简化逻辑，避免一致性错误。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254750" y="3048000"/>
            <a:ext cx="222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输出格式控制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254750" y="3295650"/>
            <a:ext cx="22225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忽视了输出格式中特定的空格要求，导致格式不符。仔细对比样例，修正输出格式，确保符合规范。</a:t>
            </a:r>
            <a:endParaRPr lang="en-US" sz="105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75F7E0B-E80B-710F-54AC-A8B62C3404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835" y="922221"/>
            <a:ext cx="3217279" cy="181315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时空效率评估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00050" y="1447800"/>
            <a:ext cx="4171950" cy="14097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0075" y="1759744"/>
            <a:ext cx="257175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时间复杂度分析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00075" y="2050256"/>
            <a:ext cx="25717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DFS搜索：O(V)，主匹配算法：O(VxE)，整体：O(VxE)，V为顶点数，E为边数。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572000" y="1447800"/>
            <a:ext cx="4171950" cy="2819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72175" y="1759744"/>
            <a:ext cx="257175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空间复杂度分析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972175" y="2050256"/>
            <a:ext cx="25717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邻接表存储：O(V+E)，匹配与访问标记：O(V)，整体：O(V+E)。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00050" y="2857500"/>
            <a:ext cx="4171950" cy="14097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00075" y="3169444"/>
            <a:ext cx="257175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性能表现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00075" y="3459956"/>
            <a:ext cx="25717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在n&lt;100约束下，算法性能优异，毫秒级完成计算。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实验总结与个人感悟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274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2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t="11728" b="11728"/>
          <a:stretch/>
        </p:blipFill>
        <p:spPr>
          <a:xfrm>
            <a:off x="5286375" y="0"/>
            <a:ext cx="3857625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40386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项目挑战与收获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40386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71500" y="1333500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深入了解二分图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499" y="2231682"/>
            <a:ext cx="1881187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zh-CN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对二分图匹配算法有了更为深入且直观的理解。在理论学习阶段，二分图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看起来非常简单，而且</a:t>
            </a:r>
            <a:r>
              <a:rPr lang="zh-CN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最大匹配算法看似并不复杂，但真正着手实现后，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明白</a:t>
            </a:r>
            <a:r>
              <a:rPr lang="zh-CN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其中蕴含了许多需要精细考量的细节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，而且实现逻辑并不像想象中的简单。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5"/>
          <p:cNvSpPr/>
          <p:nvPr/>
        </p:nvSpPr>
        <p:spPr>
          <a:xfrm>
            <a:off x="2833688" y="1333500"/>
            <a:ext cx="212549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学习利用</a:t>
            </a: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STL</a:t>
            </a:r>
            <a:r>
              <a:rPr lang="zh-CN" alt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</a:t>
            </a:r>
            <a:r>
              <a:rPr lang="en-US" altLang="zh-CN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API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2833688" y="2190750"/>
            <a:ext cx="1881187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查阅学习</a:t>
            </a:r>
            <a:r>
              <a:rPr lang="en-US" sz="105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利用STL容器提升开发效率，专注算法优化而非基础结构实现</a:t>
            </a: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</a:p>
          <a:p>
            <a:pPr marL="0" indent="0" algn="l">
              <a:lnSpc>
                <a:spcPts val="1650"/>
              </a:lnSpc>
              <a:buNone/>
            </a:pP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查阅学习使用</a:t>
            </a:r>
            <a:r>
              <a:rPr lang="en-US" altLang="zh-CN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windows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自带的</a:t>
            </a:r>
            <a:r>
              <a:rPr lang="en-US" altLang="zh-CN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API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，利用</a:t>
            </a:r>
            <a:r>
              <a:rPr lang="en-US" altLang="zh-CN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windows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写好的文件管理逻辑，不用写复杂的文件操作逻辑。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3241589" y="3406862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085850"/>
            <a:ext cx="5486400" cy="2971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>
            <a:off x="571500" y="2014538"/>
            <a:ext cx="80010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THANKS</a:t>
            </a:r>
            <a:endParaRPr lang="en-US" sz="3750" dirty="0"/>
          </a:p>
        </p:txBody>
      </p:sp>
      <p:sp>
        <p:nvSpPr>
          <p:cNvPr id="5" name="Shape 2"/>
          <p:cNvSpPr/>
          <p:nvPr/>
        </p:nvSpPr>
        <p:spPr>
          <a:xfrm>
            <a:off x="571500" y="3014663"/>
            <a:ext cx="604838" cy="11430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</TotalTime>
  <Words>760</Words>
  <Application>Microsoft Office PowerPoint</Application>
  <PresentationFormat>全屏显示(16:9)</PresentationFormat>
  <Paragraphs>183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8" baseType="lpstr">
      <vt:lpstr>Microsoft YaHei</vt:lpstr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QY Z</cp:lastModifiedBy>
  <cp:revision>8</cp:revision>
  <dcterms:created xsi:type="dcterms:W3CDTF">2025-06-05T07:28:06Z</dcterms:created>
  <dcterms:modified xsi:type="dcterms:W3CDTF">2025-06-06T06:23:34Z</dcterms:modified>
</cp:coreProperties>
</file>