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6" r:id="rId32"/>
  </p:sldIdLst>
  <p:sldSz cx="14630400" cy="8229600"/>
  <p:notesSz cx="8229600" cy="14630400"/>
  <p:embeddedFontLst>
    <p:embeddedFont>
      <p:font typeface="Consolas" panose="020B0609020204030204" pitchFamily="49" charset="0"/>
      <p:regular r:id="rId34"/>
      <p:bold r:id="rId35"/>
      <p:italic r:id="rId36"/>
      <p:boldItalic r:id="rId37"/>
    </p:embeddedFont>
    <p:embeddedFont>
      <p:font typeface="Libre Baskerville" pitchFamily="2" charset="0"/>
      <p:regular r:id="rId38"/>
      <p:bold r:id="rId39"/>
      <p:italic r:id="rId40"/>
    </p:embeddedFont>
    <p:embeddedFont>
      <p:font typeface="Open Sans" pitchFamily="2" charset="0"/>
      <p:regular r:id="rId41"/>
      <p:bold r:id="rId42"/>
      <p:italic r:id="rId43"/>
      <p:boldItalic r:id="rId4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43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9688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E3C4B-2169-6206-818C-D064AD997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C19E69-1EF1-C2E7-CAD3-BAC7E1FD7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E7996-6B5A-C0B4-4589-AEB5AECC5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2B16C-E633-8CC0-B3B3-DAF214DB4D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46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288744"/>
            <a:ext cx="979574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基于LangChain 1.0的多模态RAG问答系统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430565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本项目是一个企业级的多模态智能问答系统,支持文本、图像、PDF文档、音频四种输入方式,基于LangChain 1.0框架实现统一的内容处理管道,提供流式交互体验和企业级扩展性。</a:t>
            </a:r>
            <a:endParaRPr lang="en-US" sz="155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044190-4933-B474-A15A-588A7318FF9B}"/>
              </a:ext>
            </a:extLst>
          </p:cNvPr>
          <p:cNvSpPr txBox="1"/>
          <p:nvPr/>
        </p:nvSpPr>
        <p:spPr>
          <a:xfrm>
            <a:off x="10589538" y="5959737"/>
            <a:ext cx="41632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Open Sans" pitchFamily="2" charset="0"/>
                <a:cs typeface="Open Sans" pitchFamily="2" charset="0"/>
              </a:rPr>
              <a:t>计科 </a:t>
            </a:r>
            <a:r>
              <a:rPr lang="en-US" altLang="zh-CN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23-3</a:t>
            </a:r>
            <a:r>
              <a:rPr lang="zh-CN" altLang="en-US" sz="2400" dirty="0">
                <a:latin typeface="Open Sans" pitchFamily="2" charset="0"/>
                <a:cs typeface="Open Sans" pitchFamily="2" charset="0"/>
              </a:rPr>
              <a:t>班</a:t>
            </a:r>
            <a:endParaRPr lang="en-US" altLang="zh-CN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zh-CN" altLang="en-US" sz="2400" dirty="0">
                <a:latin typeface="Open Sans" pitchFamily="2" charset="0"/>
                <a:cs typeface="Open Sans" pitchFamily="2" charset="0"/>
              </a:rPr>
              <a:t>朱清扬 </a:t>
            </a:r>
            <a:r>
              <a:rPr lang="en-US" altLang="zh-CN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2023212290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4360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前置知识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3533061"/>
            <a:ext cx="576572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LangChain 1.0 核心特性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445079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LangChain已成为国内大模型求职市场的敲门砖,在明确提及开源框架的岗位中,LangChain以近乎90%以上的出现频率高居榜首。LangChain 1.0 相比于早期版本带来了革命性的改进。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33374"/>
            <a:ext cx="500848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为什么选择 LangChain 1.0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3126343"/>
            <a:ext cx="13042821" cy="2869763"/>
          </a:xfrm>
          <a:prstGeom prst="roundRect">
            <a:avLst>
              <a:gd name="adj" fmla="val 103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13396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00006" y="3260646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特性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260652" y="3260646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LangChain 0.x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17487" y="3260646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LangChain 1.0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774323" y="3260646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改进说明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1410" y="3704868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0006" y="3831550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模型初始化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260652" y="3831550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复杂的手动配置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17487" y="3831550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init_chat_model() 统一接口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774323" y="3831550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简化90%的配置代码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1410" y="427577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0006" y="4402455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流式处理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260652" y="4402455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实现复杂,性能差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517487" y="4402455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原生异步流式支持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774323" y="4402455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性能提升3-5倍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01410" y="4846677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00006" y="4973360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错误处理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260652" y="4973360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错误信息模糊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517487" y="4973360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详细的错误追踪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774323" y="4973360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调试效率提升80%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01410" y="5417582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00006" y="5544264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多模态支持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4260652" y="5544264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需要额外封装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517487" y="5544264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原生多模态消息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0774323" y="5544264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开发时间减少50%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48495"/>
            <a:ext cx="4762024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消息模型采用标准化内容块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314146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1.0 版本引入了全新的 content_blocks 属性,用于以结构化方式传递文本、图片、文件等内容: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682246"/>
            <a:ext cx="13042821" cy="2298859"/>
          </a:xfrm>
          <a:prstGeom prst="roundRect">
            <a:avLst>
              <a:gd name="adj" fmla="val 129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689866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0006" y="3816548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Block类型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260652" y="3816548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数据格式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17487" y="3816548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应用场景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774323" y="3816548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编码要求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01410" y="4260771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00006" y="4387453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260652" y="4387453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纯文本字符串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17487" y="4387453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文本对话、指令传递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774323" y="4387453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无需编码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01410" y="4831675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00006" y="4958358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image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260652" y="4958358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base64或URL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517487" y="4958358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图像理解、视觉问答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774323" y="4958358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base64编码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01410" y="5402580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00006" y="5529263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260652" y="5529263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文件内容+元数据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517487" y="5529263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文档分析、表格处理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0774323" y="5529263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结构化封装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3062"/>
            <a:ext cx="5511522" cy="471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LangChain 1.0 统一模型初始化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793790" y="1531382"/>
            <a:ext cx="13042821" cy="6015037"/>
          </a:xfrm>
          <a:prstGeom prst="roundRect">
            <a:avLst>
              <a:gd name="adj" fmla="val 470"/>
            </a:avLst>
          </a:prstGeom>
          <a:solidFill>
            <a:srgbClr val="EEEDF2"/>
          </a:solidFill>
          <a:ln/>
        </p:spPr>
      </p:sp>
      <p:sp>
        <p:nvSpPr>
          <p:cNvPr id="4" name="Shape 2"/>
          <p:cNvSpPr/>
          <p:nvPr/>
        </p:nvSpPr>
        <p:spPr>
          <a:xfrm>
            <a:off x="784384" y="1531382"/>
            <a:ext cx="13061633" cy="6015037"/>
          </a:xfrm>
          <a:prstGeom prst="roundRect">
            <a:avLst>
              <a:gd name="adj" fmla="val 470"/>
            </a:avLst>
          </a:prstGeom>
          <a:solidFill>
            <a:srgbClr val="EEEDF2"/>
          </a:solidFill>
          <a:ln/>
        </p:spPr>
      </p:sp>
      <p:sp>
        <p:nvSpPr>
          <p:cNvPr id="5" name="Text 3"/>
          <p:cNvSpPr/>
          <p:nvPr/>
        </p:nvSpPr>
        <p:spPr>
          <a:xfrm>
            <a:off x="972860" y="1672709"/>
            <a:ext cx="12684681" cy="5732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1.0 </a:t>
            </a:r>
            <a:r>
              <a:rPr lang="zh-CN" alt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统一模型初始化演示</a:t>
            </a: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langchain.chat_models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import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init_chat_model</a:t>
            </a:r>
            <a:endParaRPr lang="en-US" sz="1450" dirty="0">
              <a:solidFill>
                <a:srgbClr val="49495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langchain_core.messages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import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HumanMessage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AIMessage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SystemMessage</a:t>
            </a:r>
            <a:endParaRPr lang="en-US" sz="1450" dirty="0">
              <a:solidFill>
                <a:srgbClr val="49495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ts val="2350"/>
              </a:lnSpc>
            </a:pPr>
            <a:endParaRPr lang="en-US" sz="1450" dirty="0">
              <a:solidFill>
                <a:srgbClr val="49495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get_chat_model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model_name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 = "gpt-4o"):</a:t>
            </a: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1.0 </a:t>
            </a:r>
            <a:r>
              <a:rPr lang="zh-CN" alt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的统一模型初始化方式</a:t>
            </a:r>
            <a:r>
              <a:rPr lang="en-US" altLang="zh-CN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</a:p>
          <a:p>
            <a:pPr>
              <a:lnSpc>
                <a:spcPts val="2350"/>
              </a:lnSpc>
            </a:pPr>
            <a:r>
              <a:rPr lang="en-US" altLang="zh-CN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 =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init_chat_model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f"openai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:{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model_name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}",</a:t>
            </a: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your_api_key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base_url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="https://api.openai.com/v1",</a:t>
            </a: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temperature=0.7,</a:t>
            </a: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max_tokens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=2048,</a:t>
            </a: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streaming=True</a:t>
            </a: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model</a:t>
            </a: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</a:t>
            </a:r>
            <a:r>
              <a:rPr lang="zh-CN" alt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模型初始化失败</a:t>
            </a:r>
            <a:r>
              <a:rPr lang="en-US" altLang="zh-CN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e}")</a:t>
            </a: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None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55269"/>
            <a:ext cx="753641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全新的 Agent 框架构建在 LangGraph 上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304823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LangGraph 采用图结构组织 Agent 的执行流程,带来以下核心优势: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589020"/>
            <a:ext cx="6422231" cy="1143476"/>
          </a:xfrm>
          <a:prstGeom prst="roundRect">
            <a:avLst>
              <a:gd name="adj" fmla="val 2604"/>
            </a:avLst>
          </a:prstGeom>
          <a:solidFill>
            <a:srgbClr val="EAE8F3"/>
          </a:solidFill>
          <a:ln/>
        </p:spPr>
      </p:sp>
      <p:sp>
        <p:nvSpPr>
          <p:cNvPr id="5" name="Text 3"/>
          <p:cNvSpPr/>
          <p:nvPr/>
        </p:nvSpPr>
        <p:spPr>
          <a:xfrm>
            <a:off x="992148" y="378737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可持久化执行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2148" y="4216598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支持长时间运行的任务,即使中断也能恢复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3589020"/>
            <a:ext cx="6422231" cy="1143476"/>
          </a:xfrm>
          <a:prstGeom prst="roundRect">
            <a:avLst>
              <a:gd name="adj" fmla="val 2604"/>
            </a:avLst>
          </a:prstGeom>
          <a:solidFill>
            <a:srgbClr val="EAE8F3"/>
          </a:solidFill>
          <a:ln/>
        </p:spPr>
      </p:sp>
      <p:sp>
        <p:nvSpPr>
          <p:cNvPr id="8" name="Text 6"/>
          <p:cNvSpPr/>
          <p:nvPr/>
        </p:nvSpPr>
        <p:spPr>
          <a:xfrm>
            <a:off x="7612737" y="378737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并发处理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612737" y="4216598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多个节点可以并行执行,提高效率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3790" y="4930854"/>
            <a:ext cx="6422231" cy="1143476"/>
          </a:xfrm>
          <a:prstGeom prst="roundRect">
            <a:avLst>
              <a:gd name="adj" fmla="val 2604"/>
            </a:avLst>
          </a:prstGeom>
          <a:solidFill>
            <a:srgbClr val="EAE8F3"/>
          </a:solidFill>
          <a:ln/>
        </p:spPr>
      </p:sp>
      <p:sp>
        <p:nvSpPr>
          <p:cNvPr id="11" name="Text 9"/>
          <p:cNvSpPr/>
          <p:nvPr/>
        </p:nvSpPr>
        <p:spPr>
          <a:xfrm>
            <a:off x="992148" y="512921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容错机制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92148" y="5558433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内置错误处理和重试机制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14379" y="4930854"/>
            <a:ext cx="6422231" cy="1143476"/>
          </a:xfrm>
          <a:prstGeom prst="roundRect">
            <a:avLst>
              <a:gd name="adj" fmla="val 2604"/>
            </a:avLst>
          </a:prstGeom>
          <a:solidFill>
            <a:srgbClr val="EAE8F3"/>
          </a:solidFill>
          <a:ln/>
        </p:spPr>
      </p:sp>
      <p:sp>
        <p:nvSpPr>
          <p:cNvPr id="14" name="Text 12"/>
          <p:cNvSpPr/>
          <p:nvPr/>
        </p:nvSpPr>
        <p:spPr>
          <a:xfrm>
            <a:off x="7612737" y="512921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可视化调试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612737" y="5558433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图结构让执行流程一目了然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3062"/>
            <a:ext cx="5606891" cy="471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LangChain 1.0 Agent 构建示例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793790" y="1531382"/>
            <a:ext cx="13042821" cy="6015037"/>
          </a:xfrm>
          <a:prstGeom prst="roundRect">
            <a:avLst>
              <a:gd name="adj" fmla="val 470"/>
            </a:avLst>
          </a:prstGeom>
          <a:solidFill>
            <a:srgbClr val="EEEDF2"/>
          </a:solidFill>
          <a:ln/>
        </p:spPr>
      </p:sp>
      <p:sp>
        <p:nvSpPr>
          <p:cNvPr id="4" name="Shape 2"/>
          <p:cNvSpPr/>
          <p:nvPr/>
        </p:nvSpPr>
        <p:spPr>
          <a:xfrm>
            <a:off x="784384" y="1531382"/>
            <a:ext cx="13061633" cy="6015037"/>
          </a:xfrm>
          <a:prstGeom prst="roundRect">
            <a:avLst>
              <a:gd name="adj" fmla="val 470"/>
            </a:avLst>
          </a:prstGeom>
          <a:solidFill>
            <a:srgbClr val="EEEDF2"/>
          </a:solidFill>
          <a:ln/>
        </p:spPr>
      </p:sp>
      <p:sp>
        <p:nvSpPr>
          <p:cNvPr id="5" name="Text 3"/>
          <p:cNvSpPr/>
          <p:nvPr/>
        </p:nvSpPr>
        <p:spPr>
          <a:xfrm>
            <a:off x="972860" y="1672709"/>
            <a:ext cx="12684681" cy="5732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1.0 Agent </a:t>
            </a:r>
            <a:r>
              <a:rPr lang="zh-CN" alt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构建示例</a:t>
            </a: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langchain.agents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import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create_agent</a:t>
            </a:r>
            <a:endParaRPr lang="en-US" sz="1450" dirty="0">
              <a:solidFill>
                <a:srgbClr val="49495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langchain_community.tools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import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DuckDuckGoSearchRun</a:t>
            </a:r>
            <a:endParaRPr lang="en-US" sz="1450" dirty="0">
              <a:solidFill>
                <a:srgbClr val="49495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langchain_openai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import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ChatOpenAI</a:t>
            </a:r>
            <a:endParaRPr lang="en-US" sz="1450" dirty="0">
              <a:solidFill>
                <a:srgbClr val="49495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ts val="2350"/>
              </a:lnSpc>
            </a:pPr>
            <a:endParaRPr lang="en-US" sz="1450" dirty="0">
              <a:solidFill>
                <a:srgbClr val="49495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zh-CN" alt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准备工具集</a:t>
            </a:r>
          </a:p>
          <a:p>
            <a:pPr>
              <a:lnSpc>
                <a:spcPts val="2350"/>
              </a:lnSpc>
            </a:pP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search_tool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DuckDuckGoSearchRun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search_tool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</a:p>
          <a:p>
            <a:pPr>
              <a:lnSpc>
                <a:spcPts val="2350"/>
              </a:lnSpc>
            </a:pPr>
            <a:endParaRPr lang="en-US" sz="1450" dirty="0">
              <a:solidFill>
                <a:srgbClr val="49495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get_chat_model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>
              <a:lnSpc>
                <a:spcPts val="2350"/>
              </a:lnSpc>
            </a:pPr>
            <a:endParaRPr lang="en-US" sz="1450" dirty="0">
              <a:solidFill>
                <a:srgbClr val="49495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zh-CN" alt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创建基于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</a:t>
            </a:r>
            <a:r>
              <a:rPr lang="zh-CN" alt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的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create_agent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model=model,</a:t>
            </a: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tools=tools,</a:t>
            </a: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>
              <a:lnSpc>
                <a:spcPts val="2350"/>
              </a:lnSpc>
            </a:pPr>
            <a:endParaRPr lang="en-US" sz="1450" dirty="0">
              <a:solidFill>
                <a:srgbClr val="49495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</a:t>
            </a:r>
            <a:r>
              <a:rPr lang="zh-CN" alt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会自动进行推理、工具调用和结果整合</a:t>
            </a:r>
          </a:p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</a:t>
            </a:r>
            <a:r>
              <a:rPr lang="en-US" sz="145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agent.invoke</a:t>
            </a:r>
            <a:r>
              <a:rPr lang="en-US" sz="145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({"messages": [{"role": "user", "content": query}]})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3829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第一部分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3990737"/>
            <a:ext cx="7532251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项目结构以及所用技术栈</a:t>
            </a:r>
            <a:endParaRPr lang="en-US" sz="5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09549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项目整体架构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300251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这个多模态RAG工作台是基于真实企业需求设计的系统,具备以下核心能力: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543300"/>
            <a:ext cx="6422231" cy="1189196"/>
          </a:xfrm>
          <a:prstGeom prst="roundRect">
            <a:avLst>
              <a:gd name="adj" fmla="val 9227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0" y="3543300"/>
            <a:ext cx="91440" cy="11891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83588" y="376451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多模态输入处理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83588" y="4193738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支持文本、图像、PDF文档、音频四种输入方式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414379" y="3543300"/>
            <a:ext cx="6422231" cy="1189196"/>
          </a:xfrm>
          <a:prstGeom prst="roundRect">
            <a:avLst>
              <a:gd name="adj" fmla="val 9227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519" y="3543300"/>
            <a:ext cx="91440" cy="11891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04177" y="376451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智能内容理解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7704177" y="4193738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基于 LangChain 1.0 框架实现统一的内容处理管道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793790" y="4930854"/>
            <a:ext cx="6422231" cy="1189196"/>
          </a:xfrm>
          <a:prstGeom prst="roundRect">
            <a:avLst>
              <a:gd name="adj" fmla="val 9227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0" y="4930854"/>
            <a:ext cx="91440" cy="11891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83588" y="515207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流式交互体验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1083588" y="5581293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实时响应用户输入,提供流畅的对话体验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7414379" y="4930854"/>
            <a:ext cx="6422231" cy="1189196"/>
          </a:xfrm>
          <a:prstGeom prst="roundRect">
            <a:avLst>
              <a:gd name="adj" fmla="val 9227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519" y="4930854"/>
            <a:ext cx="91440" cy="11891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04177" y="515207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企业级扩展性</a:t>
            </a:r>
            <a:endParaRPr lang="en-US" sz="1950" dirty="0"/>
          </a:p>
        </p:txBody>
      </p:sp>
      <p:sp>
        <p:nvSpPr>
          <p:cNvPr id="19" name="Text 13"/>
          <p:cNvSpPr/>
          <p:nvPr/>
        </p:nvSpPr>
        <p:spPr>
          <a:xfrm>
            <a:off x="7704177" y="5581293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模块化设计,支持快速集成和定制化开发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7077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技术架构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2270046"/>
            <a:ext cx="13042821" cy="4582478"/>
          </a:xfrm>
          <a:prstGeom prst="roundRect">
            <a:avLst>
              <a:gd name="adj" fmla="val 65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277666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9887" y="2404348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分类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609142" y="2404348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技术/工具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17368" y="2404348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用途描述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01410" y="2848570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99887" y="2975253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前端技术栈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609142" y="2975253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 + TypeScript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17368" y="2975253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提供类型安全的组件化开发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1410" y="3419475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99887" y="3546158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609142" y="3546158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Tailwind CSS + Radix UI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17368" y="3546158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现代化的样式框架和组件库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01410" y="3990380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99887" y="4117062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609142" y="4117062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Framer Motion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517368" y="4117062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丰富的动画效果提升用户体验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01410" y="4561284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99887" y="4687967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609142" y="4687967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Vite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517368" y="4687967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快速的开发构建工具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01410" y="5132189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99887" y="5258872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后端技术栈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3609142" y="5258872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FastAPI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517368" y="5258872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高性能的Python异步Web框架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801410" y="5703094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99887" y="5829776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3609142" y="5829776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LangChain 1.0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517368" y="5829776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最新版本的AI应用开发框架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801410" y="6273998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99887" y="6400681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3609142" y="6400681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Pydantic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7517368" y="6400681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数据验证和设置管理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33374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核心特性实现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3126343"/>
            <a:ext cx="13042821" cy="2869763"/>
          </a:xfrm>
          <a:prstGeom prst="roundRect">
            <a:avLst>
              <a:gd name="adj" fmla="val 103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13396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00006" y="3260646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模态类型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2957870" y="3260646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处理方式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563314" y="3260646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技术实现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471541" y="3260646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优势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1410" y="3704868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0006" y="3831550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文本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2957870" y="3831550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直接LLM处理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563314" y="3831550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GPT-4O 原生能力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471541" y="3831550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强大的语言理解与生成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1410" y="427577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0006" y="4402455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图像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2957870" y="4402455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多模态LLM理解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563314" y="4402455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base64编码直传GPT-4O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471541" y="4402455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语义级图像理解,无需预处理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01410" y="4846677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00006" y="4973360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音频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2957870" y="4973360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语音转文字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563314" y="4973360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阿里云 Qwen3-ASR API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471541" y="4973360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高精度多语言转录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01410" y="5417582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00006" y="5544264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PDF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2957870" y="5544264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向量化检索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5563314" y="5544264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UnstructuredPDFLoader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471541" y="5544264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精确的文档问答与引用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4287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项目目录结构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1981319"/>
            <a:ext cx="6279356" cy="5060752"/>
          </a:xfrm>
          <a:prstGeom prst="roundRect">
            <a:avLst>
              <a:gd name="adj" fmla="val 588"/>
            </a:avLst>
          </a:prstGeom>
          <a:solidFill>
            <a:srgbClr val="EEEDF2"/>
          </a:solidFill>
          <a:ln/>
        </p:spPr>
      </p:sp>
      <p:sp>
        <p:nvSpPr>
          <p:cNvPr id="4" name="Shape 2"/>
          <p:cNvSpPr/>
          <p:nvPr/>
        </p:nvSpPr>
        <p:spPr>
          <a:xfrm>
            <a:off x="783908" y="1981319"/>
            <a:ext cx="6299121" cy="5060752"/>
          </a:xfrm>
          <a:prstGeom prst="roundRect">
            <a:avLst>
              <a:gd name="adj" fmla="val 588"/>
            </a:avLst>
          </a:prstGeom>
          <a:solidFill>
            <a:srgbClr val="EEEDF2"/>
          </a:solidFill>
          <a:ln/>
        </p:spPr>
      </p:sp>
      <p:sp>
        <p:nvSpPr>
          <p:cNvPr id="5" name="Text 3"/>
          <p:cNvSpPr/>
          <p:nvPr/>
        </p:nvSpPr>
        <p:spPr>
          <a:xfrm>
            <a:off x="982266" y="2130147"/>
            <a:ext cx="5902404" cy="4763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10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ocr_rag</a:t>
            </a:r>
            <a:r>
              <a:rPr 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                         # </a:t>
            </a: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项目根目录</a:t>
            </a:r>
          </a:p>
          <a:p>
            <a:pPr>
              <a:lnSpc>
                <a:spcPts val="2500"/>
              </a:lnSpc>
            </a:pP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                      # </a:t>
            </a: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后端服务层 </a:t>
            </a:r>
            <a:r>
              <a:rPr lang="en-US" altLang="zh-CN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r>
              <a:rPr 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10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</a:t>
            </a:r>
            <a:r>
              <a:rPr 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>
              <a:lnSpc>
                <a:spcPts val="2500"/>
              </a:lnSpc>
            </a:pPr>
            <a:r>
              <a:rPr 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main.py                   # </a:t>
            </a:r>
            <a:r>
              <a:rPr lang="en-US" sz="110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应用主入口 </a:t>
            </a:r>
            <a:r>
              <a:rPr lang="en-US" altLang="zh-CN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多模态</a:t>
            </a:r>
            <a:r>
              <a:rPr 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</a:p>
          <a:p>
            <a:pPr>
              <a:lnSpc>
                <a:spcPts val="2500"/>
              </a:lnSpc>
            </a:pPr>
            <a:r>
              <a:rPr 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config.py                 # </a:t>
            </a: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配置文件 </a:t>
            </a:r>
            <a:r>
              <a:rPr lang="en-US" altLang="zh-CN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OpenAI、</a:t>
            </a: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模型参数等</a:t>
            </a:r>
            <a:r>
              <a:rPr lang="en-US" altLang="zh-CN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>
              <a:lnSpc>
                <a:spcPts val="2500"/>
              </a:lnSpc>
            </a:pPr>
            <a:r>
              <a:rPr lang="en-US" altLang="zh-CN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audio_processor.py        # </a:t>
            </a: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音频处理模块 </a:t>
            </a:r>
            <a:r>
              <a:rPr lang="en-US" altLang="zh-CN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Whisper</a:t>
            </a: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集成</a:t>
            </a:r>
            <a:r>
              <a:rPr lang="en-US" altLang="zh-CN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>
              <a:lnSpc>
                <a:spcPts val="2500"/>
              </a:lnSpc>
            </a:pPr>
            <a:r>
              <a:rPr lang="en-US" altLang="zh-CN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pdf_processor.py          # PDF</a:t>
            </a: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解析模块 </a:t>
            </a:r>
            <a:r>
              <a:rPr lang="en-US" altLang="zh-CN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文本提取</a:t>
            </a:r>
            <a:r>
              <a:rPr lang="en-US" altLang="zh-CN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OCR)</a:t>
            </a:r>
          </a:p>
          <a:p>
            <a:pPr>
              <a:lnSpc>
                <a:spcPts val="2500"/>
              </a:lnSpc>
            </a:pPr>
            <a:r>
              <a:rPr 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env_config.py            # </a:t>
            </a: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环境变量配置</a:t>
            </a:r>
          </a:p>
          <a:p>
            <a:pPr>
              <a:lnSpc>
                <a:spcPts val="2500"/>
              </a:lnSpc>
            </a:pP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</a:t>
            </a:r>
            <a:r>
              <a:rPr 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         # Python</a:t>
            </a: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后端依赖</a:t>
            </a:r>
          </a:p>
          <a:p>
            <a:pPr>
              <a:lnSpc>
                <a:spcPts val="2500"/>
              </a:lnSpc>
            </a:pP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</a:p>
          <a:p>
            <a:pPr>
              <a:lnSpc>
                <a:spcPts val="2500"/>
              </a:lnSpc>
            </a:pP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10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                        # </a:t>
            </a: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前端</a:t>
            </a:r>
            <a:r>
              <a:rPr 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</a:t>
            </a: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应用源码</a:t>
            </a:r>
          </a:p>
          <a:p>
            <a:pPr>
              <a:lnSpc>
                <a:spcPts val="2500"/>
              </a:lnSpc>
            </a:pP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110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App.tsx</a:t>
            </a:r>
            <a:r>
              <a:rPr 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# </a:t>
            </a: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主应用组件 </a:t>
            </a:r>
            <a:r>
              <a:rPr lang="en-US" altLang="zh-CN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聊天界面</a:t>
            </a:r>
            <a:r>
              <a:rPr lang="en-US" altLang="zh-CN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>
              <a:lnSpc>
                <a:spcPts val="2500"/>
              </a:lnSpc>
            </a:pPr>
            <a:r>
              <a:rPr lang="en-US" altLang="zh-CN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110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main.tsx</a:t>
            </a:r>
            <a:r>
              <a:rPr 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# React</a:t>
            </a: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应用入口</a:t>
            </a:r>
          </a:p>
          <a:p>
            <a:pPr>
              <a:lnSpc>
                <a:spcPts val="2500"/>
              </a:lnSpc>
            </a:pP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              # React</a:t>
            </a: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组件库</a:t>
            </a:r>
          </a:p>
          <a:p>
            <a:pPr>
              <a:lnSpc>
                <a:spcPts val="2500"/>
              </a:lnSpc>
            </a:pP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types/                   # TypeScript</a:t>
            </a: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类型定义</a:t>
            </a:r>
          </a:p>
          <a:p>
            <a:pPr>
              <a:lnSpc>
                <a:spcPts val="2500"/>
              </a:lnSpc>
            </a:pP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</a:t>
            </a:r>
            <a:r>
              <a:rPr lang="en-US" sz="1100" dirty="0" err="1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                    # API</a:t>
            </a:r>
            <a:r>
              <a:rPr lang="zh-CN" altLang="en-US" sz="11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接口封装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64874" y="358271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系统分层架构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564874" y="409122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前端层:</a:t>
            </a: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React 18 + TypeScript + Vite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447817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API层:</a:t>
            </a: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FastAPI + Pydantic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486513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AI层:</a:t>
            </a: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LangChain 1.0 + OpenAI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525208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处理层:</a:t>
            </a: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PDF解析 + 音频转写 + 图像OCR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3829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第二部分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3990737"/>
            <a:ext cx="10271165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项目核心后端代码的最小演示示例</a:t>
            </a:r>
            <a:endParaRPr lang="en-US" sz="5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3F6AC64-820A-3FB4-40E2-BEDA0259B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945" y="1527909"/>
            <a:ext cx="12349779" cy="500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306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191" y="530662"/>
            <a:ext cx="3265170" cy="40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功能一:文本对话系统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768191" y="1265158"/>
            <a:ext cx="13094018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文本对话是整个系统的基础功能,支持上下文记忆、角色扮演等高级特性。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68191" y="1709857"/>
            <a:ext cx="13094018" cy="5989082"/>
          </a:xfrm>
          <a:prstGeom prst="roundRect">
            <a:avLst>
              <a:gd name="adj" fmla="val 409"/>
            </a:avLst>
          </a:prstGeom>
          <a:solidFill>
            <a:srgbClr val="EEEDF2"/>
          </a:solidFill>
          <a:ln/>
        </p:spPr>
      </p:sp>
      <p:sp>
        <p:nvSpPr>
          <p:cNvPr id="5" name="Shape 3"/>
          <p:cNvSpPr/>
          <p:nvPr/>
        </p:nvSpPr>
        <p:spPr>
          <a:xfrm>
            <a:off x="751999" y="1709856"/>
            <a:ext cx="13110210" cy="5989082"/>
          </a:xfrm>
          <a:prstGeom prst="roundRect">
            <a:avLst>
              <a:gd name="adj" fmla="val 409"/>
            </a:avLst>
          </a:prstGeom>
          <a:solidFill>
            <a:srgbClr val="EEEDF2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Text 4"/>
          <p:cNvSpPr/>
          <p:nvPr/>
        </p:nvSpPr>
        <p:spPr>
          <a:xfrm>
            <a:off x="923330" y="1832253"/>
            <a:ext cx="12783741" cy="5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1600" dirty="0">
                <a:highlight>
                  <a:srgbClr val="EEEDF2"/>
                </a:highlight>
              </a:rPr>
              <a:t># </a:t>
            </a:r>
            <a:r>
              <a:rPr lang="zh-CN" altLang="en-US" sz="1600" dirty="0">
                <a:highlight>
                  <a:srgbClr val="EEEDF2"/>
                </a:highlight>
              </a:rPr>
              <a:t>文本对话系统最小运行示例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import </a:t>
            </a:r>
            <a:r>
              <a:rPr lang="en-US" altLang="zh-CN" sz="1600" dirty="0" err="1">
                <a:highlight>
                  <a:srgbClr val="EEEDF2"/>
                </a:highlight>
              </a:rPr>
              <a:t>os</a:t>
            </a:r>
            <a:endParaRPr lang="en-US" altLang="zh-CN" sz="1600" dirty="0">
              <a:highlight>
                <a:srgbClr val="EEEDF2"/>
              </a:highlight>
            </a:endParaRPr>
          </a:p>
          <a:p>
            <a:r>
              <a:rPr lang="en-US" altLang="zh-CN" sz="1600" dirty="0">
                <a:highlight>
                  <a:srgbClr val="EEEDF2"/>
                </a:highlight>
              </a:rPr>
              <a:t>from </a:t>
            </a:r>
            <a:r>
              <a:rPr lang="en-US" altLang="zh-CN" sz="1600" dirty="0" err="1">
                <a:highlight>
                  <a:srgbClr val="EEEDF2"/>
                </a:highlight>
              </a:rPr>
              <a:t>langchain_openai</a:t>
            </a:r>
            <a:r>
              <a:rPr lang="en-US" altLang="zh-CN" sz="1600" dirty="0">
                <a:highlight>
                  <a:srgbClr val="EEEDF2"/>
                </a:highlight>
              </a:rPr>
              <a:t> import </a:t>
            </a:r>
            <a:r>
              <a:rPr lang="en-US" altLang="zh-CN" sz="1600" dirty="0" err="1">
                <a:highlight>
                  <a:srgbClr val="EEEDF2"/>
                </a:highlight>
              </a:rPr>
              <a:t>ChatOpenAI</a:t>
            </a:r>
            <a:endParaRPr lang="en-US" altLang="zh-CN" sz="1600" dirty="0">
              <a:highlight>
                <a:srgbClr val="EEEDF2"/>
              </a:highlight>
            </a:endParaRPr>
          </a:p>
          <a:p>
            <a:r>
              <a:rPr lang="en-US" altLang="zh-CN" sz="1600" dirty="0">
                <a:highlight>
                  <a:srgbClr val="EEEDF2"/>
                </a:highlight>
              </a:rPr>
              <a:t>from </a:t>
            </a:r>
            <a:r>
              <a:rPr lang="en-US" altLang="zh-CN" sz="1600" dirty="0" err="1">
                <a:highlight>
                  <a:srgbClr val="EEEDF2"/>
                </a:highlight>
              </a:rPr>
              <a:t>langchain_core.messages</a:t>
            </a:r>
            <a:r>
              <a:rPr lang="en-US" altLang="zh-CN" sz="1600" dirty="0">
                <a:highlight>
                  <a:srgbClr val="EEEDF2"/>
                </a:highlight>
              </a:rPr>
              <a:t> import </a:t>
            </a:r>
            <a:r>
              <a:rPr lang="en-US" altLang="zh-CN" sz="1600" dirty="0" err="1">
                <a:highlight>
                  <a:srgbClr val="EEEDF2"/>
                </a:highlight>
              </a:rPr>
              <a:t>HumanMessage</a:t>
            </a:r>
            <a:r>
              <a:rPr lang="en-US" altLang="zh-CN" sz="1600" dirty="0">
                <a:highlight>
                  <a:srgbClr val="EEEDF2"/>
                </a:highlight>
              </a:rPr>
              <a:t>, </a:t>
            </a:r>
            <a:r>
              <a:rPr lang="en-US" altLang="zh-CN" sz="1600" dirty="0" err="1">
                <a:highlight>
                  <a:srgbClr val="EEEDF2"/>
                </a:highlight>
              </a:rPr>
              <a:t>AIMessage</a:t>
            </a:r>
            <a:r>
              <a:rPr lang="en-US" altLang="zh-CN" sz="1600" dirty="0">
                <a:highlight>
                  <a:srgbClr val="EEEDF2"/>
                </a:highlight>
              </a:rPr>
              <a:t>, </a:t>
            </a:r>
            <a:r>
              <a:rPr lang="en-US" altLang="zh-CN" sz="1600" dirty="0" err="1">
                <a:highlight>
                  <a:srgbClr val="EEEDF2"/>
                </a:highlight>
              </a:rPr>
              <a:t>SystemMessage</a:t>
            </a:r>
            <a:endParaRPr lang="en-US" altLang="zh-CN" sz="1600" dirty="0">
              <a:highlight>
                <a:srgbClr val="EEEDF2"/>
              </a:highlight>
            </a:endParaRPr>
          </a:p>
          <a:p>
            <a:endParaRPr lang="en-US" altLang="zh-CN" sz="1600" dirty="0">
              <a:highlight>
                <a:srgbClr val="EEEDF2"/>
              </a:highlight>
            </a:endParaRPr>
          </a:p>
          <a:p>
            <a:r>
              <a:rPr lang="en-US" altLang="zh-CN" sz="1600" dirty="0">
                <a:highlight>
                  <a:srgbClr val="EEEDF2"/>
                </a:highlight>
              </a:rPr>
              <a:t>class </a:t>
            </a:r>
            <a:r>
              <a:rPr lang="en-US" altLang="zh-CN" sz="1600" dirty="0" err="1">
                <a:highlight>
                  <a:srgbClr val="EEEDF2"/>
                </a:highlight>
              </a:rPr>
              <a:t>TextChatSystem</a:t>
            </a:r>
            <a:r>
              <a:rPr lang="en-US" altLang="zh-CN" sz="1600" dirty="0">
                <a:highlight>
                  <a:srgbClr val="EEEDF2"/>
                </a:highlight>
              </a:rPr>
              <a:t>: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"""</a:t>
            </a:r>
            <a:r>
              <a:rPr lang="zh-CN" altLang="en-US" sz="1600" dirty="0">
                <a:highlight>
                  <a:srgbClr val="EEEDF2"/>
                </a:highlight>
              </a:rPr>
              <a:t>简单文本对话系统</a:t>
            </a:r>
            <a:r>
              <a:rPr lang="en-US" altLang="zh-CN" sz="1600" dirty="0">
                <a:highlight>
                  <a:srgbClr val="EEEDF2"/>
                </a:highlight>
              </a:rPr>
              <a:t>"""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def __</a:t>
            </a:r>
            <a:r>
              <a:rPr lang="en-US" altLang="zh-CN" sz="1600" dirty="0" err="1">
                <a:highlight>
                  <a:srgbClr val="EEEDF2"/>
                </a:highlight>
              </a:rPr>
              <a:t>init</a:t>
            </a:r>
            <a:r>
              <a:rPr lang="en-US" altLang="zh-CN" sz="1600" dirty="0">
                <a:highlight>
                  <a:srgbClr val="EEEDF2"/>
                </a:highlight>
              </a:rPr>
              <a:t>__(self, </a:t>
            </a:r>
            <a:r>
              <a:rPr lang="en-US" altLang="zh-CN" sz="1600" dirty="0" err="1">
                <a:highlight>
                  <a:srgbClr val="EEEDF2"/>
                </a:highlight>
              </a:rPr>
              <a:t>api_key</a:t>
            </a:r>
            <a:r>
              <a:rPr lang="en-US" altLang="zh-CN" sz="1600" dirty="0">
                <a:highlight>
                  <a:srgbClr val="EEEDF2"/>
                </a:highlight>
              </a:rPr>
              <a:t>: str, </a:t>
            </a:r>
            <a:r>
              <a:rPr lang="en-US" altLang="zh-CN" sz="1600" dirty="0" err="1">
                <a:highlight>
                  <a:srgbClr val="EEEDF2"/>
                </a:highlight>
              </a:rPr>
              <a:t>base_url</a:t>
            </a:r>
            <a:r>
              <a:rPr lang="en-US" altLang="zh-CN" sz="1600" dirty="0">
                <a:highlight>
                  <a:srgbClr val="EEEDF2"/>
                </a:highlight>
              </a:rPr>
              <a:t>: str = "https://api.openai.com/v1"):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</a:t>
            </a:r>
            <a:r>
              <a:rPr lang="en-US" altLang="zh-CN" sz="1600" dirty="0" err="1">
                <a:highlight>
                  <a:srgbClr val="EEEDF2"/>
                </a:highlight>
              </a:rPr>
              <a:t>self.model</a:t>
            </a:r>
            <a:r>
              <a:rPr lang="en-US" altLang="zh-CN" sz="1600" dirty="0">
                <a:highlight>
                  <a:srgbClr val="EEEDF2"/>
                </a:highlight>
              </a:rPr>
              <a:t> = </a:t>
            </a:r>
            <a:r>
              <a:rPr lang="en-US" altLang="zh-CN" sz="1600" dirty="0" err="1">
                <a:highlight>
                  <a:srgbClr val="EEEDF2"/>
                </a:highlight>
              </a:rPr>
              <a:t>ChatOpenAI</a:t>
            </a:r>
            <a:r>
              <a:rPr lang="en-US" altLang="zh-CN" sz="1600" dirty="0">
                <a:highlight>
                  <a:srgbClr val="EEEDF2"/>
                </a:highlight>
              </a:rPr>
              <a:t>(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model="gpt-4o",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</a:t>
            </a:r>
            <a:r>
              <a:rPr lang="en-US" altLang="zh-CN" sz="1600" dirty="0" err="1">
                <a:highlight>
                  <a:srgbClr val="EEEDF2"/>
                </a:highlight>
              </a:rPr>
              <a:t>api_key</a:t>
            </a:r>
            <a:r>
              <a:rPr lang="en-US" altLang="zh-CN" sz="1600" dirty="0">
                <a:highlight>
                  <a:srgbClr val="EEEDF2"/>
                </a:highlight>
              </a:rPr>
              <a:t>=</a:t>
            </a:r>
            <a:r>
              <a:rPr lang="en-US" altLang="zh-CN" sz="1600" dirty="0" err="1">
                <a:highlight>
                  <a:srgbClr val="EEEDF2"/>
                </a:highlight>
              </a:rPr>
              <a:t>api_key</a:t>
            </a:r>
            <a:r>
              <a:rPr lang="en-US" altLang="zh-CN" sz="1600" dirty="0">
                <a:highlight>
                  <a:srgbClr val="EEEDF2"/>
                </a:highlight>
              </a:rPr>
              <a:t>,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</a:t>
            </a:r>
            <a:r>
              <a:rPr lang="en-US" altLang="zh-CN" sz="1600" dirty="0" err="1">
                <a:highlight>
                  <a:srgbClr val="EEEDF2"/>
                </a:highlight>
              </a:rPr>
              <a:t>base_url</a:t>
            </a:r>
            <a:r>
              <a:rPr lang="en-US" altLang="zh-CN" sz="1600" dirty="0">
                <a:highlight>
                  <a:srgbClr val="EEEDF2"/>
                </a:highlight>
              </a:rPr>
              <a:t>=</a:t>
            </a:r>
            <a:r>
              <a:rPr lang="en-US" altLang="zh-CN" sz="1600" dirty="0" err="1">
                <a:highlight>
                  <a:srgbClr val="EEEDF2"/>
                </a:highlight>
              </a:rPr>
              <a:t>base_url</a:t>
            </a:r>
            <a:r>
              <a:rPr lang="en-US" altLang="zh-CN" sz="1600" dirty="0">
                <a:highlight>
                  <a:srgbClr val="EEEDF2"/>
                </a:highlight>
              </a:rPr>
              <a:t>,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temperature=0.7,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</a:t>
            </a:r>
            <a:r>
              <a:rPr lang="en-US" altLang="zh-CN" sz="1600" dirty="0" err="1">
                <a:highlight>
                  <a:srgbClr val="EEEDF2"/>
                </a:highlight>
              </a:rPr>
              <a:t>max_tokens</a:t>
            </a:r>
            <a:r>
              <a:rPr lang="en-US" altLang="zh-CN" sz="1600" dirty="0">
                <a:highlight>
                  <a:srgbClr val="EEEDF2"/>
                </a:highlight>
              </a:rPr>
              <a:t>=2048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)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</a:t>
            </a:r>
            <a:r>
              <a:rPr lang="en-US" altLang="zh-CN" sz="1600" dirty="0" err="1">
                <a:highlight>
                  <a:srgbClr val="EEEDF2"/>
                </a:highlight>
              </a:rPr>
              <a:t>self.conversation_history</a:t>
            </a:r>
            <a:r>
              <a:rPr lang="en-US" altLang="zh-CN" sz="1600" dirty="0">
                <a:highlight>
                  <a:srgbClr val="EEEDF2"/>
                </a:highlight>
              </a:rPr>
              <a:t> = []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</a:t>
            </a:r>
            <a:r>
              <a:rPr lang="en-US" altLang="zh-CN" sz="1600" dirty="0" err="1">
                <a:highlight>
                  <a:srgbClr val="EEEDF2"/>
                </a:highlight>
              </a:rPr>
              <a:t>self.system_prompt</a:t>
            </a:r>
            <a:r>
              <a:rPr lang="en-US" altLang="zh-CN" sz="1600" dirty="0">
                <a:highlight>
                  <a:srgbClr val="EEEDF2"/>
                </a:highlight>
              </a:rPr>
              <a:t> = """</a:t>
            </a:r>
            <a:r>
              <a:rPr lang="zh-CN" altLang="en-US" sz="1600" dirty="0">
                <a:highlight>
                  <a:srgbClr val="EEEDF2"/>
                </a:highlight>
              </a:rPr>
              <a:t>你是一个专业的</a:t>
            </a:r>
            <a:r>
              <a:rPr lang="en-US" altLang="zh-CN" sz="1600" dirty="0">
                <a:highlight>
                  <a:srgbClr val="EEEDF2"/>
                </a:highlight>
              </a:rPr>
              <a:t>AI</a:t>
            </a:r>
            <a:r>
              <a:rPr lang="zh-CN" altLang="en-US" sz="1600" dirty="0">
                <a:highlight>
                  <a:srgbClr val="EEEDF2"/>
                </a:highlight>
              </a:rPr>
              <a:t>助手</a:t>
            </a:r>
            <a:r>
              <a:rPr lang="en-US" altLang="zh-CN" sz="1600" dirty="0">
                <a:highlight>
                  <a:srgbClr val="EEEDF2"/>
                </a:highlight>
              </a:rPr>
              <a:t>,</a:t>
            </a:r>
            <a:r>
              <a:rPr lang="zh-CN" altLang="en-US" sz="1600" dirty="0">
                <a:highlight>
                  <a:srgbClr val="EEEDF2"/>
                </a:highlight>
              </a:rPr>
              <a:t>具备以下特点</a:t>
            </a:r>
            <a:r>
              <a:rPr lang="en-US" altLang="zh-CN" sz="1600" dirty="0">
                <a:highlight>
                  <a:srgbClr val="EEEDF2"/>
                </a:highlight>
              </a:rPr>
              <a:t>: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1. </a:t>
            </a:r>
            <a:r>
              <a:rPr lang="zh-CN" altLang="en-US" sz="1600" dirty="0">
                <a:highlight>
                  <a:srgbClr val="EEEDF2"/>
                </a:highlight>
              </a:rPr>
              <a:t>回答准确、详细且有帮助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2. </a:t>
            </a:r>
            <a:r>
              <a:rPr lang="zh-CN" altLang="en-US" sz="1600" dirty="0">
                <a:highlight>
                  <a:srgbClr val="EEEDF2"/>
                </a:highlight>
              </a:rPr>
              <a:t>语言风格友好、专业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3. </a:t>
            </a:r>
            <a:r>
              <a:rPr lang="zh-CN" altLang="en-US" sz="1600" dirty="0">
                <a:highlight>
                  <a:srgbClr val="EEEDF2"/>
                </a:highlight>
              </a:rPr>
              <a:t>能够理解上下文并保持对话连贯性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4. </a:t>
            </a:r>
            <a:r>
              <a:rPr lang="zh-CN" altLang="en-US" sz="1600" dirty="0">
                <a:highlight>
                  <a:srgbClr val="EEEDF2"/>
                </a:highlight>
              </a:rPr>
              <a:t>遇到不确定的问题会主动说明</a:t>
            </a:r>
            <a:r>
              <a:rPr lang="en-US" altLang="zh-CN" sz="1600" dirty="0">
                <a:highlight>
                  <a:srgbClr val="EEEDF2"/>
                </a:highlight>
              </a:rPr>
              <a:t>"""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1753"/>
            <a:ext cx="328398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文本对话系统 - 核心方法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93790" y="1361480"/>
            <a:ext cx="13042821" cy="6176248"/>
          </a:xfrm>
          <a:prstGeom prst="roundRect">
            <a:avLst>
              <a:gd name="adj" fmla="val 362"/>
            </a:avLst>
          </a:prstGeom>
          <a:solidFill>
            <a:srgbClr val="EEEDF2"/>
          </a:solidFill>
          <a:ln/>
        </p:spPr>
      </p:sp>
      <p:sp>
        <p:nvSpPr>
          <p:cNvPr id="4" name="Shape 2"/>
          <p:cNvSpPr/>
          <p:nvPr/>
        </p:nvSpPr>
        <p:spPr>
          <a:xfrm>
            <a:off x="786408" y="1361480"/>
            <a:ext cx="13057584" cy="6176248"/>
          </a:xfrm>
          <a:prstGeom prst="roundRect">
            <a:avLst>
              <a:gd name="adj" fmla="val 362"/>
            </a:avLst>
          </a:prstGeom>
          <a:solidFill>
            <a:srgbClr val="EEEDF2"/>
          </a:solidFill>
          <a:ln/>
        </p:spPr>
      </p:sp>
      <p:sp>
        <p:nvSpPr>
          <p:cNvPr id="5" name="Text 3"/>
          <p:cNvSpPr/>
          <p:nvPr/>
        </p:nvSpPr>
        <p:spPr>
          <a:xfrm>
            <a:off x="935236" y="1473041"/>
            <a:ext cx="12759928" cy="5953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1600" dirty="0">
                <a:highlight>
                  <a:srgbClr val="EEEDF2"/>
                </a:highlight>
              </a:rPr>
              <a:t> def chat(self, </a:t>
            </a:r>
            <a:r>
              <a:rPr lang="en-US" altLang="zh-CN" sz="1600" dirty="0" err="1">
                <a:highlight>
                  <a:srgbClr val="EEEDF2"/>
                </a:highlight>
              </a:rPr>
              <a:t>user_input</a:t>
            </a:r>
            <a:r>
              <a:rPr lang="en-US" altLang="zh-CN" sz="1600" dirty="0">
                <a:highlight>
                  <a:srgbClr val="EEEDF2"/>
                </a:highlight>
              </a:rPr>
              <a:t>: str) -&gt; str: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"""</a:t>
            </a:r>
            <a:r>
              <a:rPr lang="zh-CN" altLang="en-US" sz="1600" dirty="0">
                <a:highlight>
                  <a:srgbClr val="EEEDF2"/>
                </a:highlight>
              </a:rPr>
              <a:t>同步聊天方法</a:t>
            </a:r>
            <a:r>
              <a:rPr lang="en-US" altLang="zh-CN" sz="1600" dirty="0">
                <a:highlight>
                  <a:srgbClr val="EEEDF2"/>
                </a:highlight>
              </a:rPr>
              <a:t>"""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try: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# </a:t>
            </a:r>
            <a:r>
              <a:rPr lang="zh-CN" altLang="en-US" sz="1600" dirty="0">
                <a:highlight>
                  <a:srgbClr val="EEEDF2"/>
                </a:highlight>
              </a:rPr>
              <a:t>添加系统消息</a:t>
            </a:r>
          </a:p>
          <a:p>
            <a:r>
              <a:rPr lang="zh-CN" altLang="en-US" sz="1600" dirty="0">
                <a:highlight>
                  <a:srgbClr val="EEEDF2"/>
                </a:highlight>
              </a:rPr>
              <a:t> </a:t>
            </a:r>
            <a:r>
              <a:rPr lang="en-US" altLang="zh-CN" sz="1600" dirty="0">
                <a:highlight>
                  <a:srgbClr val="EEEDF2"/>
                </a:highlight>
              </a:rPr>
              <a:t>if not </a:t>
            </a:r>
            <a:r>
              <a:rPr lang="en-US" altLang="zh-CN" sz="1600" dirty="0" err="1">
                <a:highlight>
                  <a:srgbClr val="EEEDF2"/>
                </a:highlight>
              </a:rPr>
              <a:t>self.conversation_history</a:t>
            </a:r>
            <a:r>
              <a:rPr lang="en-US" altLang="zh-CN" sz="1600" dirty="0">
                <a:highlight>
                  <a:srgbClr val="EEEDF2"/>
                </a:highlight>
              </a:rPr>
              <a:t>: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</a:t>
            </a:r>
            <a:r>
              <a:rPr lang="en-US" altLang="zh-CN" sz="1600" dirty="0" err="1">
                <a:highlight>
                  <a:srgbClr val="EEEDF2"/>
                </a:highlight>
              </a:rPr>
              <a:t>self.conversation_history.append</a:t>
            </a:r>
            <a:r>
              <a:rPr lang="en-US" altLang="zh-CN" sz="1600" dirty="0">
                <a:highlight>
                  <a:srgbClr val="EEEDF2"/>
                </a:highlight>
              </a:rPr>
              <a:t>(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</a:t>
            </a:r>
            <a:r>
              <a:rPr lang="en-US" altLang="zh-CN" sz="1600" dirty="0" err="1">
                <a:highlight>
                  <a:srgbClr val="EEEDF2"/>
                </a:highlight>
              </a:rPr>
              <a:t>SystemMessage</a:t>
            </a:r>
            <a:r>
              <a:rPr lang="en-US" altLang="zh-CN" sz="1600" dirty="0">
                <a:highlight>
                  <a:srgbClr val="EEEDF2"/>
                </a:highlight>
              </a:rPr>
              <a:t>(content=</a:t>
            </a:r>
            <a:r>
              <a:rPr lang="en-US" altLang="zh-CN" sz="1600" dirty="0" err="1">
                <a:highlight>
                  <a:srgbClr val="EEEDF2"/>
                </a:highlight>
              </a:rPr>
              <a:t>self.system_prompt</a:t>
            </a:r>
            <a:r>
              <a:rPr lang="en-US" altLang="zh-CN" sz="1600" dirty="0">
                <a:highlight>
                  <a:srgbClr val="EEEDF2"/>
                </a:highlight>
              </a:rPr>
              <a:t>)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)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# </a:t>
            </a:r>
            <a:r>
              <a:rPr lang="zh-CN" altLang="en-US" sz="1600" dirty="0">
                <a:highlight>
                  <a:srgbClr val="EEEDF2"/>
                </a:highlight>
              </a:rPr>
              <a:t>添加用户消息</a:t>
            </a:r>
          </a:p>
          <a:p>
            <a:r>
              <a:rPr lang="zh-CN" altLang="en-US" sz="1600" dirty="0">
                <a:highlight>
                  <a:srgbClr val="EEEDF2"/>
                </a:highlight>
              </a:rPr>
              <a:t> </a:t>
            </a:r>
            <a:r>
              <a:rPr lang="en-US" altLang="zh-CN" sz="1600" dirty="0" err="1">
                <a:highlight>
                  <a:srgbClr val="EEEDF2"/>
                </a:highlight>
              </a:rPr>
              <a:t>self.conversation_history.append</a:t>
            </a:r>
            <a:r>
              <a:rPr lang="en-US" altLang="zh-CN" sz="1600" dirty="0">
                <a:highlight>
                  <a:srgbClr val="EEEDF2"/>
                </a:highlight>
              </a:rPr>
              <a:t>(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</a:t>
            </a:r>
            <a:r>
              <a:rPr lang="en-US" altLang="zh-CN" sz="1600" dirty="0" err="1">
                <a:highlight>
                  <a:srgbClr val="EEEDF2"/>
                </a:highlight>
              </a:rPr>
              <a:t>HumanMessage</a:t>
            </a:r>
            <a:r>
              <a:rPr lang="en-US" altLang="zh-CN" sz="1600" dirty="0">
                <a:highlight>
                  <a:srgbClr val="EEEDF2"/>
                </a:highlight>
              </a:rPr>
              <a:t>(content=</a:t>
            </a:r>
            <a:r>
              <a:rPr lang="en-US" altLang="zh-CN" sz="1600" dirty="0" err="1">
                <a:highlight>
                  <a:srgbClr val="EEEDF2"/>
                </a:highlight>
              </a:rPr>
              <a:t>user_input</a:t>
            </a:r>
            <a:r>
              <a:rPr lang="en-US" altLang="zh-CN" sz="1600" dirty="0">
                <a:highlight>
                  <a:srgbClr val="EEEDF2"/>
                </a:highlight>
              </a:rPr>
              <a:t>)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)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# </a:t>
            </a:r>
            <a:r>
              <a:rPr lang="zh-CN" altLang="en-US" sz="1600" dirty="0">
                <a:highlight>
                  <a:srgbClr val="EEEDF2"/>
                </a:highlight>
              </a:rPr>
              <a:t>获取</a:t>
            </a:r>
            <a:r>
              <a:rPr lang="en-US" altLang="zh-CN" sz="1600" dirty="0">
                <a:highlight>
                  <a:srgbClr val="EEEDF2"/>
                </a:highlight>
              </a:rPr>
              <a:t>AI</a:t>
            </a:r>
            <a:r>
              <a:rPr lang="zh-CN" altLang="en-US" sz="1600" dirty="0">
                <a:highlight>
                  <a:srgbClr val="EEEDF2"/>
                </a:highlight>
              </a:rPr>
              <a:t>回复</a:t>
            </a:r>
          </a:p>
          <a:p>
            <a:r>
              <a:rPr lang="zh-CN" altLang="en-US" sz="1600" dirty="0">
                <a:highlight>
                  <a:srgbClr val="EEEDF2"/>
                </a:highlight>
              </a:rPr>
              <a:t> </a:t>
            </a:r>
            <a:r>
              <a:rPr lang="en-US" altLang="zh-CN" sz="1600" dirty="0">
                <a:highlight>
                  <a:srgbClr val="EEEDF2"/>
                </a:highlight>
              </a:rPr>
              <a:t>response = </a:t>
            </a:r>
            <a:r>
              <a:rPr lang="en-US" altLang="zh-CN" sz="1600" dirty="0" err="1">
                <a:highlight>
                  <a:srgbClr val="EEEDF2"/>
                </a:highlight>
              </a:rPr>
              <a:t>self.model.invoke</a:t>
            </a:r>
            <a:r>
              <a:rPr lang="en-US" altLang="zh-CN" sz="1600" dirty="0">
                <a:highlight>
                  <a:srgbClr val="EEEDF2"/>
                </a:highlight>
              </a:rPr>
              <a:t>(</a:t>
            </a:r>
            <a:r>
              <a:rPr lang="en-US" altLang="zh-CN" sz="1600" dirty="0" err="1">
                <a:highlight>
                  <a:srgbClr val="EEEDF2"/>
                </a:highlight>
              </a:rPr>
              <a:t>self.conversation_history</a:t>
            </a:r>
            <a:r>
              <a:rPr lang="en-US" altLang="zh-CN" sz="1600" dirty="0">
                <a:highlight>
                  <a:srgbClr val="EEEDF2"/>
                </a:highlight>
              </a:rPr>
              <a:t>)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# </a:t>
            </a:r>
            <a:r>
              <a:rPr lang="zh-CN" altLang="en-US" sz="1600" dirty="0">
                <a:highlight>
                  <a:srgbClr val="EEEDF2"/>
                </a:highlight>
              </a:rPr>
              <a:t>添加</a:t>
            </a:r>
            <a:r>
              <a:rPr lang="en-US" altLang="zh-CN" sz="1600" dirty="0">
                <a:highlight>
                  <a:srgbClr val="EEEDF2"/>
                </a:highlight>
              </a:rPr>
              <a:t>AI</a:t>
            </a:r>
            <a:r>
              <a:rPr lang="zh-CN" altLang="en-US" sz="1600" dirty="0">
                <a:highlight>
                  <a:srgbClr val="EEEDF2"/>
                </a:highlight>
              </a:rPr>
              <a:t>回复到历史</a:t>
            </a:r>
          </a:p>
          <a:p>
            <a:r>
              <a:rPr lang="zh-CN" altLang="en-US" sz="1600" dirty="0">
                <a:highlight>
                  <a:srgbClr val="EEEDF2"/>
                </a:highlight>
              </a:rPr>
              <a:t> </a:t>
            </a:r>
            <a:r>
              <a:rPr lang="en-US" altLang="zh-CN" sz="1600" dirty="0" err="1">
                <a:highlight>
                  <a:srgbClr val="EEEDF2"/>
                </a:highlight>
              </a:rPr>
              <a:t>self.conversation_history.append</a:t>
            </a:r>
            <a:r>
              <a:rPr lang="en-US" altLang="zh-CN" sz="1600" dirty="0">
                <a:highlight>
                  <a:srgbClr val="EEEDF2"/>
                </a:highlight>
              </a:rPr>
              <a:t>(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</a:t>
            </a:r>
            <a:r>
              <a:rPr lang="en-US" altLang="zh-CN" sz="1600" dirty="0" err="1">
                <a:highlight>
                  <a:srgbClr val="EEEDF2"/>
                </a:highlight>
              </a:rPr>
              <a:t>AIMessage</a:t>
            </a:r>
            <a:r>
              <a:rPr lang="en-US" altLang="zh-CN" sz="1600" dirty="0">
                <a:highlight>
                  <a:srgbClr val="EEEDF2"/>
                </a:highlight>
              </a:rPr>
              <a:t>(content=</a:t>
            </a:r>
            <a:r>
              <a:rPr lang="en-US" altLang="zh-CN" sz="1600" dirty="0" err="1">
                <a:highlight>
                  <a:srgbClr val="EEEDF2"/>
                </a:highlight>
              </a:rPr>
              <a:t>response.content</a:t>
            </a:r>
            <a:r>
              <a:rPr lang="en-US" altLang="zh-CN" sz="1600" dirty="0">
                <a:highlight>
                  <a:srgbClr val="EEEDF2"/>
                </a:highlight>
              </a:rPr>
              <a:t>)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)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return </a:t>
            </a:r>
            <a:r>
              <a:rPr lang="en-US" altLang="zh-CN" sz="1600" dirty="0" err="1">
                <a:highlight>
                  <a:srgbClr val="EEEDF2"/>
                </a:highlight>
              </a:rPr>
              <a:t>response.content</a:t>
            </a:r>
            <a:endParaRPr lang="en-US" altLang="zh-CN" sz="1600" dirty="0">
              <a:highlight>
                <a:srgbClr val="EEEDF2"/>
              </a:highlight>
            </a:endParaRPr>
          </a:p>
          <a:p>
            <a:r>
              <a:rPr lang="en-US" altLang="zh-CN" sz="1600" dirty="0">
                <a:highlight>
                  <a:srgbClr val="EEEDF2"/>
                </a:highlight>
              </a:rPr>
              <a:t> except Exception as e: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return f"</a:t>
            </a:r>
            <a:r>
              <a:rPr lang="zh-CN" altLang="en-US" sz="1600" dirty="0">
                <a:highlight>
                  <a:srgbClr val="EEEDF2"/>
                </a:highlight>
              </a:rPr>
              <a:t>对话出错</a:t>
            </a:r>
            <a:r>
              <a:rPr lang="en-US" altLang="zh-CN" sz="1600" dirty="0">
                <a:highlight>
                  <a:srgbClr val="EEEDF2"/>
                </a:highlight>
              </a:rPr>
              <a:t>: {str(e)}"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0210"/>
            <a:ext cx="2778562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功能二:图像对话系统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93790" y="1355288"/>
            <a:ext cx="1304282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图像对话能够理解图片内容、回答相关问题,甚至进行图片分析和比较。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93790" y="1733788"/>
            <a:ext cx="13042821" cy="5765602"/>
          </a:xfrm>
          <a:prstGeom prst="roundRect">
            <a:avLst>
              <a:gd name="adj" fmla="val 361"/>
            </a:avLst>
          </a:prstGeom>
          <a:solidFill>
            <a:srgbClr val="EEEDF2"/>
          </a:solidFill>
          <a:ln/>
        </p:spPr>
      </p:sp>
      <p:sp>
        <p:nvSpPr>
          <p:cNvPr id="5" name="Shape 3"/>
          <p:cNvSpPr/>
          <p:nvPr/>
        </p:nvSpPr>
        <p:spPr>
          <a:xfrm>
            <a:off x="786884" y="1733788"/>
            <a:ext cx="13056632" cy="5765602"/>
          </a:xfrm>
          <a:prstGeom prst="roundRect">
            <a:avLst>
              <a:gd name="adj" fmla="val 361"/>
            </a:avLst>
          </a:prstGeom>
          <a:solidFill>
            <a:srgbClr val="EEEDF2"/>
          </a:solidFill>
          <a:ln/>
        </p:spPr>
      </p:sp>
      <p:sp>
        <p:nvSpPr>
          <p:cNvPr id="6" name="Text 4"/>
          <p:cNvSpPr/>
          <p:nvPr/>
        </p:nvSpPr>
        <p:spPr>
          <a:xfrm>
            <a:off x="925711" y="1837968"/>
            <a:ext cx="12778978" cy="5557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1400" dirty="0">
                <a:highlight>
                  <a:srgbClr val="EEEDF2"/>
                </a:highlight>
              </a:rPr>
              <a:t># </a:t>
            </a:r>
            <a:r>
              <a:rPr lang="zh-CN" altLang="en-US" sz="1400" dirty="0">
                <a:highlight>
                  <a:srgbClr val="EEEDF2"/>
                </a:highlight>
              </a:rPr>
              <a:t>图像对话系统最小运行示例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import base64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import io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from PIL import Image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from </a:t>
            </a:r>
            <a:r>
              <a:rPr lang="en-US" altLang="zh-CN" sz="1400" dirty="0" err="1">
                <a:highlight>
                  <a:srgbClr val="EEEDF2"/>
                </a:highlight>
              </a:rPr>
              <a:t>langchain_openai</a:t>
            </a:r>
            <a:r>
              <a:rPr lang="en-US" altLang="zh-CN" sz="1400" dirty="0">
                <a:highlight>
                  <a:srgbClr val="EEEDF2"/>
                </a:highlight>
              </a:rPr>
              <a:t> import </a:t>
            </a:r>
            <a:r>
              <a:rPr lang="en-US" altLang="zh-CN" sz="1400" dirty="0" err="1">
                <a:highlight>
                  <a:srgbClr val="EEEDF2"/>
                </a:highlight>
              </a:rPr>
              <a:t>ChatOpenAI</a:t>
            </a:r>
            <a:endParaRPr lang="en-US" altLang="zh-CN" sz="1400" dirty="0">
              <a:highlight>
                <a:srgbClr val="EEEDF2"/>
              </a:highlight>
            </a:endParaRPr>
          </a:p>
          <a:p>
            <a:r>
              <a:rPr lang="en-US" altLang="zh-CN" sz="1400" dirty="0">
                <a:highlight>
                  <a:srgbClr val="EEEDF2"/>
                </a:highlight>
              </a:rPr>
              <a:t>from </a:t>
            </a:r>
            <a:r>
              <a:rPr lang="en-US" altLang="zh-CN" sz="1400" dirty="0" err="1">
                <a:highlight>
                  <a:srgbClr val="EEEDF2"/>
                </a:highlight>
              </a:rPr>
              <a:t>langchain_core.messages</a:t>
            </a:r>
            <a:r>
              <a:rPr lang="en-US" altLang="zh-CN" sz="1400" dirty="0">
                <a:highlight>
                  <a:srgbClr val="EEEDF2"/>
                </a:highlight>
              </a:rPr>
              <a:t> import </a:t>
            </a:r>
            <a:r>
              <a:rPr lang="en-US" altLang="zh-CN" sz="1400" dirty="0" err="1">
                <a:highlight>
                  <a:srgbClr val="EEEDF2"/>
                </a:highlight>
              </a:rPr>
              <a:t>HumanMessage</a:t>
            </a:r>
            <a:endParaRPr lang="en-US" altLang="zh-CN" sz="1400" dirty="0">
              <a:highlight>
                <a:srgbClr val="EEEDF2"/>
              </a:highlight>
            </a:endParaRPr>
          </a:p>
          <a:p>
            <a:endParaRPr lang="en-US" altLang="zh-CN" sz="1400" dirty="0">
              <a:highlight>
                <a:srgbClr val="EEEDF2"/>
              </a:highlight>
            </a:endParaRPr>
          </a:p>
          <a:p>
            <a:r>
              <a:rPr lang="en-US" altLang="zh-CN" sz="1400" dirty="0">
                <a:highlight>
                  <a:srgbClr val="EEEDF2"/>
                </a:highlight>
              </a:rPr>
              <a:t>class </a:t>
            </a:r>
            <a:r>
              <a:rPr lang="en-US" altLang="zh-CN" sz="1400" dirty="0" err="1">
                <a:highlight>
                  <a:srgbClr val="EEEDF2"/>
                </a:highlight>
              </a:rPr>
              <a:t>ImageChatSystem</a:t>
            </a:r>
            <a:r>
              <a:rPr lang="en-US" altLang="zh-CN" sz="1400" dirty="0">
                <a:highlight>
                  <a:srgbClr val="EEEDF2"/>
                </a:highlight>
              </a:rPr>
              <a:t>: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"""</a:t>
            </a:r>
            <a:r>
              <a:rPr lang="zh-CN" altLang="en-US" sz="1400" dirty="0">
                <a:highlight>
                  <a:srgbClr val="EEEDF2"/>
                </a:highlight>
              </a:rPr>
              <a:t>图像对话系统 </a:t>
            </a:r>
            <a:r>
              <a:rPr lang="en-US" altLang="zh-CN" sz="1400" dirty="0">
                <a:highlight>
                  <a:srgbClr val="EEEDF2"/>
                </a:highlight>
              </a:rPr>
              <a:t>- </a:t>
            </a:r>
            <a:r>
              <a:rPr lang="zh-CN" altLang="en-US" sz="1400" dirty="0">
                <a:highlight>
                  <a:srgbClr val="EEEDF2"/>
                </a:highlight>
              </a:rPr>
              <a:t>支持图片理解与智能问答</a:t>
            </a:r>
            <a:r>
              <a:rPr lang="en-US" altLang="zh-CN" sz="1400" dirty="0">
                <a:highlight>
                  <a:srgbClr val="EEEDF2"/>
                </a:highlight>
              </a:rPr>
              <a:t>"""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def __</a:t>
            </a:r>
            <a:r>
              <a:rPr lang="en-US" altLang="zh-CN" sz="1400" dirty="0" err="1">
                <a:highlight>
                  <a:srgbClr val="EEEDF2"/>
                </a:highlight>
              </a:rPr>
              <a:t>init</a:t>
            </a:r>
            <a:r>
              <a:rPr lang="en-US" altLang="zh-CN" sz="1400" dirty="0">
                <a:highlight>
                  <a:srgbClr val="EEEDF2"/>
                </a:highlight>
              </a:rPr>
              <a:t>__(self, </a:t>
            </a:r>
            <a:r>
              <a:rPr lang="en-US" altLang="zh-CN" sz="1400" dirty="0" err="1">
                <a:highlight>
                  <a:srgbClr val="EEEDF2"/>
                </a:highlight>
              </a:rPr>
              <a:t>api_key</a:t>
            </a:r>
            <a:r>
              <a:rPr lang="en-US" altLang="zh-CN" sz="1400" dirty="0">
                <a:highlight>
                  <a:srgbClr val="EEEDF2"/>
                </a:highlight>
              </a:rPr>
              <a:t>: str):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</a:t>
            </a:r>
            <a:r>
              <a:rPr lang="en-US" altLang="zh-CN" sz="1400" dirty="0" err="1">
                <a:highlight>
                  <a:srgbClr val="EEEDF2"/>
                </a:highlight>
              </a:rPr>
              <a:t>self.model</a:t>
            </a:r>
            <a:r>
              <a:rPr lang="en-US" altLang="zh-CN" sz="1400" dirty="0">
                <a:highlight>
                  <a:srgbClr val="EEEDF2"/>
                </a:highlight>
              </a:rPr>
              <a:t> = </a:t>
            </a:r>
            <a:r>
              <a:rPr lang="en-US" altLang="zh-CN" sz="1400" dirty="0" err="1">
                <a:highlight>
                  <a:srgbClr val="EEEDF2"/>
                </a:highlight>
              </a:rPr>
              <a:t>ChatOpenAI</a:t>
            </a:r>
            <a:r>
              <a:rPr lang="en-US" altLang="zh-CN" sz="1400" dirty="0">
                <a:highlight>
                  <a:srgbClr val="EEEDF2"/>
                </a:highlight>
              </a:rPr>
              <a:t>(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model="gpt-4o", # GPT-4o </a:t>
            </a:r>
            <a:r>
              <a:rPr lang="zh-CN" altLang="en-US" sz="1400" dirty="0">
                <a:highlight>
                  <a:srgbClr val="EEEDF2"/>
                </a:highlight>
              </a:rPr>
              <a:t>支持图像理解</a:t>
            </a:r>
          </a:p>
          <a:p>
            <a:r>
              <a:rPr lang="zh-CN" altLang="en-US" sz="1400" dirty="0">
                <a:highlight>
                  <a:srgbClr val="EEEDF2"/>
                </a:highlight>
              </a:rPr>
              <a:t> </a:t>
            </a:r>
            <a:r>
              <a:rPr lang="en-US" altLang="zh-CN" sz="1400" dirty="0" err="1">
                <a:highlight>
                  <a:srgbClr val="EEEDF2"/>
                </a:highlight>
              </a:rPr>
              <a:t>api_key</a:t>
            </a:r>
            <a:r>
              <a:rPr lang="en-US" altLang="zh-CN" sz="1400" dirty="0">
                <a:highlight>
                  <a:srgbClr val="EEEDF2"/>
                </a:highlight>
              </a:rPr>
              <a:t>=</a:t>
            </a:r>
            <a:r>
              <a:rPr lang="en-US" altLang="zh-CN" sz="1400" dirty="0" err="1">
                <a:highlight>
                  <a:srgbClr val="EEEDF2"/>
                </a:highlight>
              </a:rPr>
              <a:t>api_key</a:t>
            </a:r>
            <a:r>
              <a:rPr lang="en-US" altLang="zh-CN" sz="1400" dirty="0">
                <a:highlight>
                  <a:srgbClr val="EEEDF2"/>
                </a:highlight>
              </a:rPr>
              <a:t>,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temperature=0.3,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</a:t>
            </a:r>
            <a:r>
              <a:rPr lang="en-US" altLang="zh-CN" sz="1400" dirty="0" err="1">
                <a:highlight>
                  <a:srgbClr val="EEEDF2"/>
                </a:highlight>
              </a:rPr>
              <a:t>max_tokens</a:t>
            </a:r>
            <a:r>
              <a:rPr lang="en-US" altLang="zh-CN" sz="1400" dirty="0">
                <a:highlight>
                  <a:srgbClr val="EEEDF2"/>
                </a:highlight>
              </a:rPr>
              <a:t>=1500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)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</a:t>
            </a:r>
            <a:r>
              <a:rPr lang="en-US" altLang="zh-CN" sz="1400" dirty="0" err="1">
                <a:highlight>
                  <a:srgbClr val="EEEDF2"/>
                </a:highlight>
              </a:rPr>
              <a:t>self.conversation_history</a:t>
            </a:r>
            <a:r>
              <a:rPr lang="en-US" altLang="zh-CN" sz="1400" dirty="0">
                <a:highlight>
                  <a:srgbClr val="EEEDF2"/>
                </a:highlight>
              </a:rPr>
              <a:t> = []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def image_to_base64(self, </a:t>
            </a:r>
            <a:r>
              <a:rPr lang="en-US" altLang="zh-CN" sz="1400" dirty="0" err="1">
                <a:highlight>
                  <a:srgbClr val="EEEDF2"/>
                </a:highlight>
              </a:rPr>
              <a:t>image_path</a:t>
            </a:r>
            <a:r>
              <a:rPr lang="en-US" altLang="zh-CN" sz="1400" dirty="0">
                <a:highlight>
                  <a:srgbClr val="EEEDF2"/>
                </a:highlight>
              </a:rPr>
              <a:t>: str) -&gt; str: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"""</a:t>
            </a:r>
            <a:r>
              <a:rPr lang="zh-CN" altLang="en-US" sz="1400" dirty="0">
                <a:highlight>
                  <a:srgbClr val="EEEDF2"/>
                </a:highlight>
              </a:rPr>
              <a:t>将图片转换为</a:t>
            </a:r>
            <a:r>
              <a:rPr lang="en-US" altLang="zh-CN" sz="1400" dirty="0">
                <a:highlight>
                  <a:srgbClr val="EEEDF2"/>
                </a:highlight>
              </a:rPr>
              <a:t>base64</a:t>
            </a:r>
            <a:r>
              <a:rPr lang="zh-CN" altLang="en-US" sz="1400" dirty="0">
                <a:highlight>
                  <a:srgbClr val="EEEDF2"/>
                </a:highlight>
              </a:rPr>
              <a:t>编码</a:t>
            </a:r>
            <a:r>
              <a:rPr lang="en-US" altLang="zh-CN" sz="1400" dirty="0">
                <a:highlight>
                  <a:srgbClr val="EEEDF2"/>
                </a:highlight>
              </a:rPr>
              <a:t>"""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with </a:t>
            </a:r>
            <a:r>
              <a:rPr lang="en-US" altLang="zh-CN" sz="1400" dirty="0" err="1">
                <a:highlight>
                  <a:srgbClr val="EEEDF2"/>
                </a:highlight>
              </a:rPr>
              <a:t>Image.open</a:t>
            </a:r>
            <a:r>
              <a:rPr lang="en-US" altLang="zh-CN" sz="1400" dirty="0">
                <a:highlight>
                  <a:srgbClr val="EEEDF2"/>
                </a:highlight>
              </a:rPr>
              <a:t>(</a:t>
            </a:r>
            <a:r>
              <a:rPr lang="en-US" altLang="zh-CN" sz="1400" dirty="0" err="1">
                <a:highlight>
                  <a:srgbClr val="EEEDF2"/>
                </a:highlight>
              </a:rPr>
              <a:t>image_path</a:t>
            </a:r>
            <a:r>
              <a:rPr lang="en-US" altLang="zh-CN" sz="1400" dirty="0">
                <a:highlight>
                  <a:srgbClr val="EEEDF2"/>
                </a:highlight>
              </a:rPr>
              <a:t>) as </a:t>
            </a:r>
            <a:r>
              <a:rPr lang="en-US" altLang="zh-CN" sz="1400" dirty="0" err="1">
                <a:highlight>
                  <a:srgbClr val="EEEDF2"/>
                </a:highlight>
              </a:rPr>
              <a:t>img</a:t>
            </a:r>
            <a:r>
              <a:rPr lang="en-US" altLang="zh-CN" sz="1400" dirty="0">
                <a:highlight>
                  <a:srgbClr val="EEEDF2"/>
                </a:highlight>
              </a:rPr>
              <a:t>: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# </a:t>
            </a:r>
            <a:r>
              <a:rPr lang="zh-CN" altLang="en-US" sz="1400" dirty="0">
                <a:highlight>
                  <a:srgbClr val="EEEDF2"/>
                </a:highlight>
              </a:rPr>
              <a:t>优化图片尺寸</a:t>
            </a:r>
          </a:p>
          <a:p>
            <a:r>
              <a:rPr lang="zh-CN" altLang="en-US" sz="1400" dirty="0">
                <a:highlight>
                  <a:srgbClr val="EEEDF2"/>
                </a:highlight>
              </a:rPr>
              <a:t> </a:t>
            </a:r>
            <a:r>
              <a:rPr lang="en-US" altLang="zh-CN" sz="1400" dirty="0" err="1">
                <a:highlight>
                  <a:srgbClr val="EEEDF2"/>
                </a:highlight>
              </a:rPr>
              <a:t>max_size</a:t>
            </a:r>
            <a:r>
              <a:rPr lang="en-US" altLang="zh-CN" sz="1400" dirty="0">
                <a:highlight>
                  <a:srgbClr val="EEEDF2"/>
                </a:highlight>
              </a:rPr>
              <a:t> = (1024, 1024)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</a:t>
            </a:r>
            <a:r>
              <a:rPr lang="en-US" altLang="zh-CN" sz="1400" dirty="0" err="1">
                <a:highlight>
                  <a:srgbClr val="EEEDF2"/>
                </a:highlight>
              </a:rPr>
              <a:t>img.thumbnail</a:t>
            </a:r>
            <a:r>
              <a:rPr lang="en-US" altLang="zh-CN" sz="1400" dirty="0">
                <a:highlight>
                  <a:srgbClr val="EEEDF2"/>
                </a:highlight>
              </a:rPr>
              <a:t>(</a:t>
            </a:r>
            <a:r>
              <a:rPr lang="en-US" altLang="zh-CN" sz="1400" dirty="0" err="1">
                <a:highlight>
                  <a:srgbClr val="EEEDF2"/>
                </a:highlight>
              </a:rPr>
              <a:t>max_size</a:t>
            </a:r>
            <a:r>
              <a:rPr lang="en-US" altLang="zh-CN" sz="1400" dirty="0">
                <a:highlight>
                  <a:srgbClr val="EEEDF2"/>
                </a:highlight>
              </a:rPr>
              <a:t>, </a:t>
            </a:r>
            <a:r>
              <a:rPr lang="en-US" altLang="zh-CN" sz="1400" dirty="0" err="1">
                <a:highlight>
                  <a:srgbClr val="EEEDF2"/>
                </a:highlight>
              </a:rPr>
              <a:t>Image.Resampling.LANCZOS</a:t>
            </a:r>
            <a:r>
              <a:rPr lang="en-US" altLang="zh-CN" sz="1400" dirty="0">
                <a:highlight>
                  <a:srgbClr val="EEEDF2"/>
                </a:highlight>
              </a:rPr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1630"/>
            <a:ext cx="437995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图像对话系统 - 核心方法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1554599"/>
            <a:ext cx="13042821" cy="6013371"/>
          </a:xfrm>
          <a:prstGeom prst="roundRect">
            <a:avLst>
              <a:gd name="adj" fmla="val 495"/>
            </a:avLst>
          </a:prstGeom>
          <a:solidFill>
            <a:srgbClr val="EEEDF2"/>
          </a:solidFill>
          <a:ln/>
        </p:spPr>
      </p:sp>
      <p:sp>
        <p:nvSpPr>
          <p:cNvPr id="4" name="Shape 2"/>
          <p:cNvSpPr/>
          <p:nvPr/>
        </p:nvSpPr>
        <p:spPr>
          <a:xfrm>
            <a:off x="783908" y="1554599"/>
            <a:ext cx="13062585" cy="6013371"/>
          </a:xfrm>
          <a:prstGeom prst="roundRect">
            <a:avLst>
              <a:gd name="adj" fmla="val 495"/>
            </a:avLst>
          </a:prstGeom>
          <a:solidFill>
            <a:srgbClr val="EEEDF2"/>
          </a:solidFill>
          <a:ln/>
        </p:spPr>
      </p:sp>
      <p:sp>
        <p:nvSpPr>
          <p:cNvPr id="5" name="Text 3"/>
          <p:cNvSpPr/>
          <p:nvPr/>
        </p:nvSpPr>
        <p:spPr>
          <a:xfrm>
            <a:off x="982266" y="1703427"/>
            <a:ext cx="12665869" cy="571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dirty="0">
                <a:highlight>
                  <a:srgbClr val="EEEDF2"/>
                </a:highlight>
              </a:rPr>
              <a:t> def </a:t>
            </a:r>
            <a:r>
              <a:rPr lang="en-US" altLang="zh-CN" dirty="0" err="1">
                <a:highlight>
                  <a:srgbClr val="EEEDF2"/>
                </a:highlight>
              </a:rPr>
              <a:t>chat_with_image</a:t>
            </a:r>
            <a:r>
              <a:rPr lang="en-US" altLang="zh-CN" dirty="0">
                <a:highlight>
                  <a:srgbClr val="EEEDF2"/>
                </a:highlight>
              </a:rPr>
              <a:t>(self, question: str, image_base64: str) -&gt; str: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"""</a:t>
            </a:r>
            <a:r>
              <a:rPr lang="zh-CN" altLang="en-US" dirty="0">
                <a:highlight>
                  <a:srgbClr val="EEEDF2"/>
                </a:highlight>
              </a:rPr>
              <a:t>带图片的对话</a:t>
            </a:r>
            <a:r>
              <a:rPr lang="en-US" altLang="zh-CN" dirty="0">
                <a:highlight>
                  <a:srgbClr val="EEEDF2"/>
                </a:highlight>
              </a:rPr>
              <a:t>"""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</a:t>
            </a:r>
            <a:r>
              <a:rPr lang="en-US" altLang="zh-CN" dirty="0" err="1">
                <a:highlight>
                  <a:srgbClr val="EEEDF2"/>
                </a:highlight>
              </a:rPr>
              <a:t>message_content</a:t>
            </a:r>
            <a:r>
              <a:rPr lang="en-US" altLang="zh-CN" dirty="0">
                <a:highlight>
                  <a:srgbClr val="EEEDF2"/>
                </a:highlight>
              </a:rPr>
              <a:t> = [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{"type": "text", "text": question},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{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"type": "</a:t>
            </a:r>
            <a:r>
              <a:rPr lang="en-US" altLang="zh-CN" dirty="0" err="1">
                <a:highlight>
                  <a:srgbClr val="EEEDF2"/>
                </a:highlight>
              </a:rPr>
              <a:t>image_url</a:t>
            </a:r>
            <a:r>
              <a:rPr lang="en-US" altLang="zh-CN" dirty="0">
                <a:highlight>
                  <a:srgbClr val="EEEDF2"/>
                </a:highlight>
              </a:rPr>
              <a:t>",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"</a:t>
            </a:r>
            <a:r>
              <a:rPr lang="en-US" altLang="zh-CN" dirty="0" err="1">
                <a:highlight>
                  <a:srgbClr val="EEEDF2"/>
                </a:highlight>
              </a:rPr>
              <a:t>image_url</a:t>
            </a:r>
            <a:r>
              <a:rPr lang="en-US" altLang="zh-CN" dirty="0">
                <a:highlight>
                  <a:srgbClr val="EEEDF2"/>
                </a:highlight>
              </a:rPr>
              <a:t>": {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"</a:t>
            </a:r>
            <a:r>
              <a:rPr lang="en-US" altLang="zh-CN" dirty="0" err="1">
                <a:highlight>
                  <a:srgbClr val="EEEDF2"/>
                </a:highlight>
              </a:rPr>
              <a:t>url</a:t>
            </a:r>
            <a:r>
              <a:rPr lang="en-US" altLang="zh-CN" dirty="0">
                <a:highlight>
                  <a:srgbClr val="EEEDF2"/>
                </a:highlight>
              </a:rPr>
              <a:t>": </a:t>
            </a:r>
            <a:r>
              <a:rPr lang="en-US" altLang="zh-CN" dirty="0" err="1">
                <a:highlight>
                  <a:srgbClr val="EEEDF2"/>
                </a:highlight>
              </a:rPr>
              <a:t>f"data:image</a:t>
            </a:r>
            <a:r>
              <a:rPr lang="en-US" altLang="zh-CN" dirty="0">
                <a:highlight>
                  <a:srgbClr val="EEEDF2"/>
                </a:highlight>
              </a:rPr>
              <a:t>/jpeg;base64,{image_base64}",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"detail": "high"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}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}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]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</a:t>
            </a:r>
            <a:r>
              <a:rPr lang="en-US" altLang="zh-CN" dirty="0" err="1">
                <a:highlight>
                  <a:srgbClr val="EEEDF2"/>
                </a:highlight>
              </a:rPr>
              <a:t>self.conversation_history.append</a:t>
            </a:r>
            <a:r>
              <a:rPr lang="en-US" altLang="zh-CN" dirty="0">
                <a:highlight>
                  <a:srgbClr val="EEEDF2"/>
                </a:highlight>
              </a:rPr>
              <a:t>(</a:t>
            </a:r>
            <a:r>
              <a:rPr lang="en-US" altLang="zh-CN" dirty="0" err="1">
                <a:highlight>
                  <a:srgbClr val="EEEDF2"/>
                </a:highlight>
              </a:rPr>
              <a:t>HumanMessage</a:t>
            </a:r>
            <a:r>
              <a:rPr lang="en-US" altLang="zh-CN" dirty="0">
                <a:highlight>
                  <a:srgbClr val="EEEDF2"/>
                </a:highlight>
              </a:rPr>
              <a:t>(content=</a:t>
            </a:r>
            <a:r>
              <a:rPr lang="en-US" altLang="zh-CN" dirty="0" err="1">
                <a:highlight>
                  <a:srgbClr val="EEEDF2"/>
                </a:highlight>
              </a:rPr>
              <a:t>message_content</a:t>
            </a:r>
            <a:r>
              <a:rPr lang="en-US" altLang="zh-CN" dirty="0">
                <a:highlight>
                  <a:srgbClr val="EEEDF2"/>
                </a:highlight>
              </a:rPr>
              <a:t>))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response = </a:t>
            </a:r>
            <a:r>
              <a:rPr lang="en-US" altLang="zh-CN" dirty="0" err="1">
                <a:highlight>
                  <a:srgbClr val="EEEDF2"/>
                </a:highlight>
              </a:rPr>
              <a:t>self.model.invoke</a:t>
            </a:r>
            <a:r>
              <a:rPr lang="en-US" altLang="zh-CN" dirty="0">
                <a:highlight>
                  <a:srgbClr val="EEEDF2"/>
                </a:highlight>
              </a:rPr>
              <a:t>(</a:t>
            </a:r>
            <a:r>
              <a:rPr lang="en-US" altLang="zh-CN" dirty="0" err="1">
                <a:highlight>
                  <a:srgbClr val="EEEDF2"/>
                </a:highlight>
              </a:rPr>
              <a:t>self.conversation_history</a:t>
            </a:r>
            <a:r>
              <a:rPr lang="en-US" altLang="zh-CN" dirty="0">
                <a:highlight>
                  <a:srgbClr val="EEEDF2"/>
                </a:highlight>
              </a:rPr>
              <a:t>)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</a:t>
            </a:r>
            <a:r>
              <a:rPr lang="en-US" altLang="zh-CN" dirty="0" err="1">
                <a:highlight>
                  <a:srgbClr val="EEEDF2"/>
                </a:highlight>
              </a:rPr>
              <a:t>self.conversation_history.append</a:t>
            </a:r>
            <a:r>
              <a:rPr lang="en-US" altLang="zh-CN" dirty="0">
                <a:highlight>
                  <a:srgbClr val="EEEDF2"/>
                </a:highlight>
              </a:rPr>
              <a:t>(</a:t>
            </a:r>
            <a:r>
              <a:rPr lang="en-US" altLang="zh-CN" dirty="0" err="1">
                <a:highlight>
                  <a:srgbClr val="EEEDF2"/>
                </a:highlight>
              </a:rPr>
              <a:t>AIMessage</a:t>
            </a:r>
            <a:r>
              <a:rPr lang="en-US" altLang="zh-CN" dirty="0">
                <a:highlight>
                  <a:srgbClr val="EEEDF2"/>
                </a:highlight>
              </a:rPr>
              <a:t>(content=</a:t>
            </a:r>
            <a:r>
              <a:rPr lang="en-US" altLang="zh-CN" dirty="0" err="1">
                <a:highlight>
                  <a:srgbClr val="EEEDF2"/>
                </a:highlight>
              </a:rPr>
              <a:t>response.content</a:t>
            </a:r>
            <a:r>
              <a:rPr lang="en-US" altLang="zh-CN" dirty="0">
                <a:highlight>
                  <a:srgbClr val="EEEDF2"/>
                </a:highlight>
              </a:rPr>
              <a:t>))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return </a:t>
            </a:r>
            <a:r>
              <a:rPr lang="en-US" altLang="zh-CN" dirty="0" err="1">
                <a:highlight>
                  <a:srgbClr val="EEEDF2"/>
                </a:highlight>
              </a:rPr>
              <a:t>response.content</a:t>
            </a:r>
            <a:endParaRPr lang="en-US" altLang="zh-CN" dirty="0">
              <a:highlight>
                <a:srgbClr val="EEEDF2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2902"/>
            <a:ext cx="496562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功能三:PDF文档解析与问答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20587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PDF文档处理需要处理复杂的文档布局、表格、图片等多种元素。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8210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RAG工作原理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42888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传统方法的问题: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396966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将整篇文档放入Prompt会包含大量无关信息,影响推理效果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35661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大模型存在最大Token限制,无法容纳大量文档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489739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解决方案 - 文档分块(Chunking):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43818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将知识库中的原始数据切分成小块(chunk)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93790" y="582513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每个chunk可以是一个段落或特定索引的值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621208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使用Embedding将chunks转换成向量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659903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通过向量数据库进行相似度检索</a:t>
            </a:r>
            <a:endParaRPr lang="en-US" sz="155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352794C-5CE9-6A16-AE17-B44BD638A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446" y="626225"/>
            <a:ext cx="5522187" cy="205714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4DE97E8-7AF3-7C7C-E659-F6807F663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3229" y="2888154"/>
            <a:ext cx="7315200" cy="258425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95DCD89-96F9-7869-EE43-AE7F06B0EF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6106" y="5360026"/>
            <a:ext cx="6129446" cy="267668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86026"/>
            <a:ext cx="2851428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PDF处理系统 - 初始化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93790" y="1211104"/>
            <a:ext cx="13042821" cy="6432471"/>
          </a:xfrm>
          <a:prstGeom prst="roundRect">
            <a:avLst>
              <a:gd name="adj" fmla="val 324"/>
            </a:avLst>
          </a:prstGeom>
          <a:solidFill>
            <a:srgbClr val="EEEDF2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1211103"/>
            <a:ext cx="13056632" cy="6432471"/>
          </a:xfrm>
          <a:prstGeom prst="roundRect">
            <a:avLst>
              <a:gd name="adj" fmla="val 324"/>
            </a:avLst>
          </a:prstGeom>
          <a:solidFill>
            <a:srgbClr val="EEEDF2"/>
          </a:solidFill>
          <a:ln/>
        </p:spPr>
      </p:sp>
      <p:sp>
        <p:nvSpPr>
          <p:cNvPr id="5" name="Text 3"/>
          <p:cNvSpPr/>
          <p:nvPr/>
        </p:nvSpPr>
        <p:spPr>
          <a:xfrm>
            <a:off x="925711" y="1315283"/>
            <a:ext cx="12778978" cy="6224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1400" dirty="0">
                <a:highlight>
                  <a:srgbClr val="EEEDF2"/>
                </a:highlight>
              </a:rPr>
              <a:t># PDF</a:t>
            </a:r>
            <a:r>
              <a:rPr lang="zh-CN" altLang="en-US" sz="1400" dirty="0">
                <a:highlight>
                  <a:srgbClr val="EEEDF2"/>
                </a:highlight>
              </a:rPr>
              <a:t>文档解析与问答最小运行示例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import </a:t>
            </a:r>
            <a:r>
              <a:rPr lang="en-US" altLang="zh-CN" sz="1400" dirty="0" err="1">
                <a:highlight>
                  <a:srgbClr val="EEEDF2"/>
                </a:highlight>
              </a:rPr>
              <a:t>tempfile</a:t>
            </a:r>
            <a:endParaRPr lang="en-US" altLang="zh-CN" sz="1400" dirty="0">
              <a:highlight>
                <a:srgbClr val="EEEDF2"/>
              </a:highlight>
            </a:endParaRPr>
          </a:p>
          <a:p>
            <a:r>
              <a:rPr lang="en-US" altLang="zh-CN" sz="1400" dirty="0">
                <a:highlight>
                  <a:srgbClr val="EEEDF2"/>
                </a:highlight>
              </a:rPr>
              <a:t>import </a:t>
            </a:r>
            <a:r>
              <a:rPr lang="en-US" altLang="zh-CN" sz="1400" dirty="0" err="1">
                <a:highlight>
                  <a:srgbClr val="EEEDF2"/>
                </a:highlight>
              </a:rPr>
              <a:t>os</a:t>
            </a:r>
            <a:endParaRPr lang="en-US" altLang="zh-CN" sz="1400" dirty="0">
              <a:highlight>
                <a:srgbClr val="EEEDF2"/>
              </a:highlight>
            </a:endParaRPr>
          </a:p>
          <a:p>
            <a:r>
              <a:rPr lang="en-US" altLang="zh-CN" sz="1400" dirty="0">
                <a:highlight>
                  <a:srgbClr val="EEEDF2"/>
                </a:highlight>
              </a:rPr>
              <a:t>from typing import List, </a:t>
            </a:r>
            <a:r>
              <a:rPr lang="en-US" altLang="zh-CN" sz="1400" dirty="0" err="1">
                <a:highlight>
                  <a:srgbClr val="EEEDF2"/>
                </a:highlight>
              </a:rPr>
              <a:t>Dict</a:t>
            </a:r>
            <a:r>
              <a:rPr lang="en-US" altLang="zh-CN" sz="1400" dirty="0">
                <a:highlight>
                  <a:srgbClr val="EEEDF2"/>
                </a:highlight>
              </a:rPr>
              <a:t>, Any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from </a:t>
            </a:r>
            <a:r>
              <a:rPr lang="en-US" altLang="zh-CN" sz="1400" dirty="0" err="1">
                <a:highlight>
                  <a:srgbClr val="EEEDF2"/>
                </a:highlight>
              </a:rPr>
              <a:t>langchain_unstructured</a:t>
            </a:r>
            <a:r>
              <a:rPr lang="en-US" altLang="zh-CN" sz="1400" dirty="0">
                <a:highlight>
                  <a:srgbClr val="EEEDF2"/>
                </a:highlight>
              </a:rPr>
              <a:t> import </a:t>
            </a:r>
            <a:r>
              <a:rPr lang="en-US" altLang="zh-CN" sz="1400" dirty="0" err="1">
                <a:highlight>
                  <a:srgbClr val="EEEDF2"/>
                </a:highlight>
              </a:rPr>
              <a:t>UnstructuredLoader</a:t>
            </a:r>
            <a:endParaRPr lang="en-US" altLang="zh-CN" sz="1400" dirty="0">
              <a:highlight>
                <a:srgbClr val="EEEDF2"/>
              </a:highlight>
            </a:endParaRPr>
          </a:p>
          <a:p>
            <a:r>
              <a:rPr lang="en-US" altLang="zh-CN" sz="1400" dirty="0">
                <a:highlight>
                  <a:srgbClr val="EEEDF2"/>
                </a:highlight>
              </a:rPr>
              <a:t>from </a:t>
            </a:r>
            <a:r>
              <a:rPr lang="en-US" altLang="zh-CN" sz="1400" dirty="0" err="1">
                <a:highlight>
                  <a:srgbClr val="EEEDF2"/>
                </a:highlight>
              </a:rPr>
              <a:t>langchain_text_splitters</a:t>
            </a:r>
            <a:r>
              <a:rPr lang="en-US" altLang="zh-CN" sz="1400" dirty="0">
                <a:highlight>
                  <a:srgbClr val="EEEDF2"/>
                </a:highlight>
              </a:rPr>
              <a:t> import </a:t>
            </a:r>
            <a:r>
              <a:rPr lang="en-US" altLang="zh-CN" sz="1400" dirty="0" err="1">
                <a:highlight>
                  <a:srgbClr val="EEEDF2"/>
                </a:highlight>
              </a:rPr>
              <a:t>RecursiveCharacterTextSplitter</a:t>
            </a:r>
            <a:endParaRPr lang="en-US" altLang="zh-CN" sz="1400" dirty="0">
              <a:highlight>
                <a:srgbClr val="EEEDF2"/>
              </a:highlight>
            </a:endParaRPr>
          </a:p>
          <a:p>
            <a:r>
              <a:rPr lang="en-US" altLang="zh-CN" sz="1400" dirty="0">
                <a:highlight>
                  <a:srgbClr val="EEEDF2"/>
                </a:highlight>
              </a:rPr>
              <a:t>from </a:t>
            </a:r>
            <a:r>
              <a:rPr lang="en-US" altLang="zh-CN" sz="1400" dirty="0" err="1">
                <a:highlight>
                  <a:srgbClr val="EEEDF2"/>
                </a:highlight>
              </a:rPr>
              <a:t>langchain_openai</a:t>
            </a:r>
            <a:r>
              <a:rPr lang="en-US" altLang="zh-CN" sz="1400" dirty="0">
                <a:highlight>
                  <a:srgbClr val="EEEDF2"/>
                </a:highlight>
              </a:rPr>
              <a:t> import </a:t>
            </a:r>
            <a:r>
              <a:rPr lang="en-US" altLang="zh-CN" sz="1400" dirty="0" err="1">
                <a:highlight>
                  <a:srgbClr val="EEEDF2"/>
                </a:highlight>
              </a:rPr>
              <a:t>ChatOpenAI</a:t>
            </a:r>
            <a:endParaRPr lang="en-US" altLang="zh-CN" sz="1400" dirty="0">
              <a:highlight>
                <a:srgbClr val="EEEDF2"/>
              </a:highlight>
            </a:endParaRPr>
          </a:p>
          <a:p>
            <a:r>
              <a:rPr lang="en-US" altLang="zh-CN" sz="1400" dirty="0">
                <a:highlight>
                  <a:srgbClr val="EEEDF2"/>
                </a:highlight>
              </a:rPr>
              <a:t>from </a:t>
            </a:r>
            <a:r>
              <a:rPr lang="en-US" altLang="zh-CN" sz="1400" dirty="0" err="1">
                <a:highlight>
                  <a:srgbClr val="EEEDF2"/>
                </a:highlight>
              </a:rPr>
              <a:t>langchain_core.messages</a:t>
            </a:r>
            <a:r>
              <a:rPr lang="en-US" altLang="zh-CN" sz="1400" dirty="0">
                <a:highlight>
                  <a:srgbClr val="EEEDF2"/>
                </a:highlight>
              </a:rPr>
              <a:t> import </a:t>
            </a:r>
            <a:r>
              <a:rPr lang="en-US" altLang="zh-CN" sz="1400" dirty="0" err="1">
                <a:highlight>
                  <a:srgbClr val="EEEDF2"/>
                </a:highlight>
              </a:rPr>
              <a:t>HumanMessage</a:t>
            </a:r>
            <a:r>
              <a:rPr lang="en-US" altLang="zh-CN" sz="1400" dirty="0">
                <a:highlight>
                  <a:srgbClr val="EEEDF2"/>
                </a:highlight>
              </a:rPr>
              <a:t>, </a:t>
            </a:r>
            <a:r>
              <a:rPr lang="en-US" altLang="zh-CN" sz="1400" dirty="0" err="1">
                <a:highlight>
                  <a:srgbClr val="EEEDF2"/>
                </a:highlight>
              </a:rPr>
              <a:t>SystemMessage</a:t>
            </a:r>
            <a:endParaRPr lang="en-US" altLang="zh-CN" sz="1400" dirty="0">
              <a:highlight>
                <a:srgbClr val="EEEDF2"/>
              </a:highlight>
            </a:endParaRPr>
          </a:p>
          <a:p>
            <a:endParaRPr lang="en-US" altLang="zh-CN" sz="1400" dirty="0">
              <a:highlight>
                <a:srgbClr val="EEEDF2"/>
              </a:highlight>
            </a:endParaRPr>
          </a:p>
          <a:p>
            <a:r>
              <a:rPr lang="en-US" altLang="zh-CN" sz="1400" dirty="0">
                <a:highlight>
                  <a:srgbClr val="EEEDF2"/>
                </a:highlight>
              </a:rPr>
              <a:t>class </a:t>
            </a:r>
            <a:r>
              <a:rPr lang="en-US" altLang="zh-CN" sz="1400" dirty="0" err="1">
                <a:highlight>
                  <a:srgbClr val="EEEDF2"/>
                </a:highlight>
              </a:rPr>
              <a:t>PDFChatSystem</a:t>
            </a:r>
            <a:r>
              <a:rPr lang="en-US" altLang="zh-CN" sz="1400" dirty="0">
                <a:highlight>
                  <a:srgbClr val="EEEDF2"/>
                </a:highlight>
              </a:rPr>
              <a:t>: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"""PDF</a:t>
            </a:r>
            <a:r>
              <a:rPr lang="zh-CN" altLang="en-US" sz="1400" dirty="0">
                <a:highlight>
                  <a:srgbClr val="EEEDF2"/>
                </a:highlight>
              </a:rPr>
              <a:t>文档问答系统</a:t>
            </a:r>
            <a:r>
              <a:rPr lang="en-US" altLang="zh-CN" sz="1400" dirty="0">
                <a:highlight>
                  <a:srgbClr val="EEEDF2"/>
                </a:highlight>
              </a:rPr>
              <a:t>"""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def __</a:t>
            </a:r>
            <a:r>
              <a:rPr lang="en-US" altLang="zh-CN" sz="1400" dirty="0" err="1">
                <a:highlight>
                  <a:srgbClr val="EEEDF2"/>
                </a:highlight>
              </a:rPr>
              <a:t>init</a:t>
            </a:r>
            <a:r>
              <a:rPr lang="en-US" altLang="zh-CN" sz="1400" dirty="0">
                <a:highlight>
                  <a:srgbClr val="EEEDF2"/>
                </a:highlight>
              </a:rPr>
              <a:t>__(self, </a:t>
            </a:r>
            <a:r>
              <a:rPr lang="en-US" altLang="zh-CN" sz="1400" dirty="0" err="1">
                <a:highlight>
                  <a:srgbClr val="EEEDF2"/>
                </a:highlight>
              </a:rPr>
              <a:t>api_key</a:t>
            </a:r>
            <a:r>
              <a:rPr lang="en-US" altLang="zh-CN" sz="1400" dirty="0">
                <a:highlight>
                  <a:srgbClr val="EEEDF2"/>
                </a:highlight>
              </a:rPr>
              <a:t>: str):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</a:t>
            </a:r>
            <a:r>
              <a:rPr lang="en-US" altLang="zh-CN" sz="1400" dirty="0" err="1">
                <a:highlight>
                  <a:srgbClr val="EEEDF2"/>
                </a:highlight>
              </a:rPr>
              <a:t>self.model</a:t>
            </a:r>
            <a:r>
              <a:rPr lang="en-US" altLang="zh-CN" sz="1400" dirty="0">
                <a:highlight>
                  <a:srgbClr val="EEEDF2"/>
                </a:highlight>
              </a:rPr>
              <a:t> = </a:t>
            </a:r>
            <a:r>
              <a:rPr lang="en-US" altLang="zh-CN" sz="1400" dirty="0" err="1">
                <a:highlight>
                  <a:srgbClr val="EEEDF2"/>
                </a:highlight>
              </a:rPr>
              <a:t>ChatOpenAI</a:t>
            </a:r>
            <a:r>
              <a:rPr lang="en-US" altLang="zh-CN" sz="1400" dirty="0">
                <a:highlight>
                  <a:srgbClr val="EEEDF2"/>
                </a:highlight>
              </a:rPr>
              <a:t>(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model="gpt-4o",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</a:t>
            </a:r>
            <a:r>
              <a:rPr lang="en-US" altLang="zh-CN" sz="1400" dirty="0" err="1">
                <a:highlight>
                  <a:srgbClr val="EEEDF2"/>
                </a:highlight>
              </a:rPr>
              <a:t>api_key</a:t>
            </a:r>
            <a:r>
              <a:rPr lang="en-US" altLang="zh-CN" sz="1400" dirty="0">
                <a:highlight>
                  <a:srgbClr val="EEEDF2"/>
                </a:highlight>
              </a:rPr>
              <a:t>=</a:t>
            </a:r>
            <a:r>
              <a:rPr lang="en-US" altLang="zh-CN" sz="1400" dirty="0" err="1">
                <a:highlight>
                  <a:srgbClr val="EEEDF2"/>
                </a:highlight>
              </a:rPr>
              <a:t>api_key</a:t>
            </a:r>
            <a:r>
              <a:rPr lang="en-US" altLang="zh-CN" sz="1400" dirty="0">
                <a:highlight>
                  <a:srgbClr val="EEEDF2"/>
                </a:highlight>
              </a:rPr>
              <a:t>,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temperature=0.3,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</a:t>
            </a:r>
            <a:r>
              <a:rPr lang="en-US" altLang="zh-CN" sz="1400" dirty="0" err="1">
                <a:highlight>
                  <a:srgbClr val="EEEDF2"/>
                </a:highlight>
              </a:rPr>
              <a:t>max_tokens</a:t>
            </a:r>
            <a:r>
              <a:rPr lang="en-US" altLang="zh-CN" sz="1400" dirty="0">
                <a:highlight>
                  <a:srgbClr val="EEEDF2"/>
                </a:highlight>
              </a:rPr>
              <a:t>=2048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)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# </a:t>
            </a:r>
            <a:r>
              <a:rPr lang="zh-CN" altLang="en-US" sz="1400" dirty="0">
                <a:highlight>
                  <a:srgbClr val="EEEDF2"/>
                </a:highlight>
              </a:rPr>
              <a:t>文本分块器</a:t>
            </a:r>
          </a:p>
          <a:p>
            <a:r>
              <a:rPr lang="zh-CN" altLang="en-US" sz="1400" dirty="0">
                <a:highlight>
                  <a:srgbClr val="EEEDF2"/>
                </a:highlight>
              </a:rPr>
              <a:t> </a:t>
            </a:r>
            <a:r>
              <a:rPr lang="en-US" altLang="zh-CN" sz="1400" dirty="0" err="1">
                <a:highlight>
                  <a:srgbClr val="EEEDF2"/>
                </a:highlight>
              </a:rPr>
              <a:t>self.text_splitter</a:t>
            </a:r>
            <a:r>
              <a:rPr lang="en-US" altLang="zh-CN" sz="1400" dirty="0">
                <a:highlight>
                  <a:srgbClr val="EEEDF2"/>
                </a:highlight>
              </a:rPr>
              <a:t> = </a:t>
            </a:r>
            <a:r>
              <a:rPr lang="en-US" altLang="zh-CN" sz="1400" dirty="0" err="1">
                <a:highlight>
                  <a:srgbClr val="EEEDF2"/>
                </a:highlight>
              </a:rPr>
              <a:t>RecursiveCharacterTextSplitter</a:t>
            </a:r>
            <a:r>
              <a:rPr lang="en-US" altLang="zh-CN" sz="1400" dirty="0">
                <a:highlight>
                  <a:srgbClr val="EEEDF2"/>
                </a:highlight>
              </a:rPr>
              <a:t>(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</a:t>
            </a:r>
            <a:r>
              <a:rPr lang="en-US" altLang="zh-CN" sz="1400" dirty="0" err="1">
                <a:highlight>
                  <a:srgbClr val="EEEDF2"/>
                </a:highlight>
              </a:rPr>
              <a:t>chunk_size</a:t>
            </a:r>
            <a:r>
              <a:rPr lang="en-US" altLang="zh-CN" sz="1400" dirty="0">
                <a:highlight>
                  <a:srgbClr val="EEEDF2"/>
                </a:highlight>
              </a:rPr>
              <a:t>=1000,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</a:t>
            </a:r>
            <a:r>
              <a:rPr lang="en-US" altLang="zh-CN" sz="1400" dirty="0" err="1">
                <a:highlight>
                  <a:srgbClr val="EEEDF2"/>
                </a:highlight>
              </a:rPr>
              <a:t>chunk_overlap</a:t>
            </a:r>
            <a:r>
              <a:rPr lang="en-US" altLang="zh-CN" sz="1400" dirty="0">
                <a:highlight>
                  <a:srgbClr val="EEEDF2"/>
                </a:highlight>
              </a:rPr>
              <a:t>=200,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separators=["\n\n", "\n", " ", ""]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)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</a:t>
            </a:r>
          </a:p>
          <a:p>
            <a:r>
              <a:rPr lang="en-US" altLang="zh-CN" sz="1400" dirty="0">
                <a:highlight>
                  <a:srgbClr val="EEEDF2"/>
                </a:highlight>
              </a:rPr>
              <a:t> </a:t>
            </a:r>
            <a:r>
              <a:rPr lang="en-US" altLang="zh-CN" sz="1400" dirty="0" err="1">
                <a:highlight>
                  <a:srgbClr val="EEEDF2"/>
                </a:highlight>
              </a:rPr>
              <a:t>self.document_chunks</a:t>
            </a:r>
            <a:r>
              <a:rPr lang="en-US" altLang="zh-CN" sz="1400" dirty="0">
                <a:highlight>
                  <a:srgbClr val="EEEDF2"/>
                </a:highlight>
              </a:rPr>
              <a:t> = []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773" y="455057"/>
            <a:ext cx="2411611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PDF处理系统 - 文档处理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658773" y="936665"/>
            <a:ext cx="13312854" cy="6837759"/>
          </a:xfrm>
          <a:prstGeom prst="roundRect">
            <a:avLst>
              <a:gd name="adj" fmla="val 235"/>
            </a:avLst>
          </a:prstGeom>
          <a:solidFill>
            <a:srgbClr val="EEEDF2"/>
          </a:solidFill>
          <a:ln/>
        </p:spPr>
      </p:sp>
      <p:sp>
        <p:nvSpPr>
          <p:cNvPr id="4" name="Shape 2"/>
          <p:cNvSpPr/>
          <p:nvPr/>
        </p:nvSpPr>
        <p:spPr>
          <a:xfrm>
            <a:off x="653534" y="936665"/>
            <a:ext cx="13323332" cy="6837759"/>
          </a:xfrm>
          <a:prstGeom prst="roundRect">
            <a:avLst>
              <a:gd name="adj" fmla="val 235"/>
            </a:avLst>
          </a:prstGeom>
          <a:solidFill>
            <a:srgbClr val="EEEDF2"/>
          </a:solidFill>
          <a:ln/>
        </p:spPr>
      </p:sp>
      <p:sp>
        <p:nvSpPr>
          <p:cNvPr id="5" name="Text 3"/>
          <p:cNvSpPr/>
          <p:nvPr/>
        </p:nvSpPr>
        <p:spPr>
          <a:xfrm>
            <a:off x="760571" y="1016913"/>
            <a:ext cx="13109258" cy="667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1100" dirty="0">
                <a:highlight>
                  <a:srgbClr val="EEEDF2"/>
                </a:highlight>
              </a:rPr>
              <a:t> def </a:t>
            </a:r>
            <a:r>
              <a:rPr lang="en-US" altLang="zh-CN" sz="1100" dirty="0" err="1">
                <a:highlight>
                  <a:srgbClr val="EEEDF2"/>
                </a:highlight>
              </a:rPr>
              <a:t>process_pdf</a:t>
            </a:r>
            <a:r>
              <a:rPr lang="en-US" altLang="zh-CN" sz="1100" dirty="0">
                <a:highlight>
                  <a:srgbClr val="EEEDF2"/>
                </a:highlight>
              </a:rPr>
              <a:t>(self, </a:t>
            </a:r>
            <a:r>
              <a:rPr lang="en-US" altLang="zh-CN" sz="1100" dirty="0" err="1">
                <a:highlight>
                  <a:srgbClr val="EEEDF2"/>
                </a:highlight>
              </a:rPr>
              <a:t>file_content</a:t>
            </a:r>
            <a:r>
              <a:rPr lang="en-US" altLang="zh-CN" sz="1100" dirty="0">
                <a:highlight>
                  <a:srgbClr val="EEEDF2"/>
                </a:highlight>
              </a:rPr>
              <a:t>: bytes, filename: str) -&gt; List[</a:t>
            </a:r>
            <a:r>
              <a:rPr lang="en-US" altLang="zh-CN" sz="1100" dirty="0" err="1">
                <a:highlight>
                  <a:srgbClr val="EEEDF2"/>
                </a:highlight>
              </a:rPr>
              <a:t>Dict</a:t>
            </a:r>
            <a:r>
              <a:rPr lang="en-US" altLang="zh-CN" sz="1100" dirty="0">
                <a:highlight>
                  <a:srgbClr val="EEEDF2"/>
                </a:highlight>
              </a:rPr>
              <a:t>[str, Any]]: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"""</a:t>
            </a:r>
            <a:r>
              <a:rPr lang="zh-CN" altLang="en-US" sz="1100" dirty="0">
                <a:highlight>
                  <a:srgbClr val="EEEDF2"/>
                </a:highlight>
              </a:rPr>
              <a:t>处理</a:t>
            </a:r>
            <a:r>
              <a:rPr lang="en-US" altLang="zh-CN" sz="1100" dirty="0">
                <a:highlight>
                  <a:srgbClr val="EEEDF2"/>
                </a:highlight>
              </a:rPr>
              <a:t>PDF</a:t>
            </a:r>
            <a:r>
              <a:rPr lang="zh-CN" altLang="en-US" sz="1100" dirty="0">
                <a:highlight>
                  <a:srgbClr val="EEEDF2"/>
                </a:highlight>
              </a:rPr>
              <a:t>文档</a:t>
            </a:r>
            <a:r>
              <a:rPr lang="en-US" altLang="zh-CN" sz="1100" dirty="0">
                <a:highlight>
                  <a:srgbClr val="EEEDF2"/>
                </a:highlight>
              </a:rPr>
              <a:t>"""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with </a:t>
            </a:r>
            <a:r>
              <a:rPr lang="en-US" altLang="zh-CN" sz="1100" dirty="0" err="1">
                <a:highlight>
                  <a:srgbClr val="EEEDF2"/>
                </a:highlight>
              </a:rPr>
              <a:t>tempfile.NamedTemporaryFile</a:t>
            </a:r>
            <a:r>
              <a:rPr lang="en-US" altLang="zh-CN" sz="1100" dirty="0">
                <a:highlight>
                  <a:srgbClr val="EEEDF2"/>
                </a:highlight>
              </a:rPr>
              <a:t>(delete=False, suffix='.pdf') as </a:t>
            </a:r>
            <a:r>
              <a:rPr lang="en-US" altLang="zh-CN" sz="1100" dirty="0" err="1">
                <a:highlight>
                  <a:srgbClr val="EEEDF2"/>
                </a:highlight>
              </a:rPr>
              <a:t>tmp_file</a:t>
            </a:r>
            <a:r>
              <a:rPr lang="en-US" altLang="zh-CN" sz="1100" dirty="0">
                <a:highlight>
                  <a:srgbClr val="EEEDF2"/>
                </a:highlight>
              </a:rPr>
              <a:t>: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</a:t>
            </a:r>
            <a:r>
              <a:rPr lang="en-US" altLang="zh-CN" sz="1100" dirty="0" err="1">
                <a:highlight>
                  <a:srgbClr val="EEEDF2"/>
                </a:highlight>
              </a:rPr>
              <a:t>tmp_file.write</a:t>
            </a:r>
            <a:r>
              <a:rPr lang="en-US" altLang="zh-CN" sz="1100" dirty="0">
                <a:highlight>
                  <a:srgbClr val="EEEDF2"/>
                </a:highlight>
              </a:rPr>
              <a:t>(</a:t>
            </a:r>
            <a:r>
              <a:rPr lang="en-US" altLang="zh-CN" sz="1100" dirty="0" err="1">
                <a:highlight>
                  <a:srgbClr val="EEEDF2"/>
                </a:highlight>
              </a:rPr>
              <a:t>file_content</a:t>
            </a:r>
            <a:r>
              <a:rPr lang="en-US" altLang="zh-CN" sz="1100" dirty="0">
                <a:highlight>
                  <a:srgbClr val="EEEDF2"/>
                </a:highlight>
              </a:rPr>
              <a:t>)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</a:t>
            </a:r>
            <a:r>
              <a:rPr lang="en-US" altLang="zh-CN" sz="1100" dirty="0" err="1">
                <a:highlight>
                  <a:srgbClr val="EEEDF2"/>
                </a:highlight>
              </a:rPr>
              <a:t>tmp_file_path</a:t>
            </a:r>
            <a:r>
              <a:rPr lang="en-US" altLang="zh-CN" sz="1100" dirty="0">
                <a:highlight>
                  <a:srgbClr val="EEEDF2"/>
                </a:highlight>
              </a:rPr>
              <a:t> = tmp_file.name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try: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# </a:t>
            </a:r>
            <a:r>
              <a:rPr lang="zh-CN" altLang="en-US" sz="1100" dirty="0">
                <a:highlight>
                  <a:srgbClr val="EEEDF2"/>
                </a:highlight>
              </a:rPr>
              <a:t>使用</a:t>
            </a:r>
            <a:r>
              <a:rPr lang="en-US" altLang="zh-CN" sz="1100" dirty="0" err="1">
                <a:highlight>
                  <a:srgbClr val="EEEDF2"/>
                </a:highlight>
              </a:rPr>
              <a:t>UnstructuredLoader</a:t>
            </a:r>
            <a:r>
              <a:rPr lang="zh-CN" altLang="en-US" sz="1100" dirty="0">
                <a:highlight>
                  <a:srgbClr val="EEEDF2"/>
                </a:highlight>
              </a:rPr>
              <a:t>加载</a:t>
            </a:r>
            <a:r>
              <a:rPr lang="en-US" altLang="zh-CN" sz="1100" dirty="0">
                <a:highlight>
                  <a:srgbClr val="EEEDF2"/>
                </a:highlight>
              </a:rPr>
              <a:t>PDF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loader = </a:t>
            </a:r>
            <a:r>
              <a:rPr lang="en-US" altLang="zh-CN" sz="1100" dirty="0" err="1">
                <a:highlight>
                  <a:srgbClr val="EEEDF2"/>
                </a:highlight>
              </a:rPr>
              <a:t>UnstructuredLoader</a:t>
            </a:r>
            <a:r>
              <a:rPr lang="en-US" altLang="zh-CN" sz="1100" dirty="0">
                <a:highlight>
                  <a:srgbClr val="EEEDF2"/>
                </a:highlight>
              </a:rPr>
              <a:t>(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</a:t>
            </a:r>
            <a:r>
              <a:rPr lang="en-US" altLang="zh-CN" sz="1100" dirty="0" err="1">
                <a:highlight>
                  <a:srgbClr val="EEEDF2"/>
                </a:highlight>
              </a:rPr>
              <a:t>file_path</a:t>
            </a:r>
            <a:r>
              <a:rPr lang="en-US" altLang="zh-CN" sz="1100" dirty="0">
                <a:highlight>
                  <a:srgbClr val="EEEDF2"/>
                </a:highlight>
              </a:rPr>
              <a:t>=</a:t>
            </a:r>
            <a:r>
              <a:rPr lang="en-US" altLang="zh-CN" sz="1100" dirty="0" err="1">
                <a:highlight>
                  <a:srgbClr val="EEEDF2"/>
                </a:highlight>
              </a:rPr>
              <a:t>tmp_file_path</a:t>
            </a:r>
            <a:r>
              <a:rPr lang="en-US" altLang="zh-CN" sz="1100" dirty="0">
                <a:highlight>
                  <a:srgbClr val="EEEDF2"/>
                </a:highlight>
              </a:rPr>
              <a:t>,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strategy="</a:t>
            </a:r>
            <a:r>
              <a:rPr lang="en-US" altLang="zh-CN" sz="1100" dirty="0" err="1">
                <a:highlight>
                  <a:srgbClr val="EEEDF2"/>
                </a:highlight>
              </a:rPr>
              <a:t>hi_res</a:t>
            </a:r>
            <a:r>
              <a:rPr lang="en-US" altLang="zh-CN" sz="1100" dirty="0">
                <a:highlight>
                  <a:srgbClr val="EEEDF2"/>
                </a:highlight>
              </a:rPr>
              <a:t>", # </a:t>
            </a:r>
            <a:r>
              <a:rPr lang="zh-CN" altLang="en-US" sz="1100" dirty="0">
                <a:highlight>
                  <a:srgbClr val="EEEDF2"/>
                </a:highlight>
              </a:rPr>
              <a:t>高分辨率策略</a:t>
            </a:r>
          </a:p>
          <a:p>
            <a:r>
              <a:rPr lang="zh-CN" altLang="en-US" sz="1100" dirty="0">
                <a:highlight>
                  <a:srgbClr val="EEEDF2"/>
                </a:highlight>
              </a:rPr>
              <a:t> </a:t>
            </a:r>
            <a:r>
              <a:rPr lang="en-US" altLang="zh-CN" sz="1100" dirty="0" err="1">
                <a:highlight>
                  <a:srgbClr val="EEEDF2"/>
                </a:highlight>
              </a:rPr>
              <a:t>extract_images_in_pdf</a:t>
            </a:r>
            <a:r>
              <a:rPr lang="en-US" altLang="zh-CN" sz="1100" dirty="0">
                <a:highlight>
                  <a:srgbClr val="EEEDF2"/>
                </a:highlight>
              </a:rPr>
              <a:t>=True, # </a:t>
            </a:r>
            <a:r>
              <a:rPr lang="zh-CN" altLang="en-US" sz="1100" dirty="0">
                <a:highlight>
                  <a:srgbClr val="EEEDF2"/>
                </a:highlight>
              </a:rPr>
              <a:t>提取图像</a:t>
            </a:r>
          </a:p>
          <a:p>
            <a:r>
              <a:rPr lang="zh-CN" altLang="en-US" sz="1100" dirty="0">
                <a:highlight>
                  <a:srgbClr val="EEEDF2"/>
                </a:highlight>
              </a:rPr>
              <a:t> </a:t>
            </a:r>
            <a:r>
              <a:rPr lang="en-US" altLang="zh-CN" sz="1100" dirty="0" err="1">
                <a:highlight>
                  <a:srgbClr val="EEEDF2"/>
                </a:highlight>
              </a:rPr>
              <a:t>infer_table_structure</a:t>
            </a:r>
            <a:r>
              <a:rPr lang="en-US" altLang="zh-CN" sz="1100" dirty="0">
                <a:highlight>
                  <a:srgbClr val="EEEDF2"/>
                </a:highlight>
              </a:rPr>
              <a:t>=True, # </a:t>
            </a:r>
            <a:r>
              <a:rPr lang="zh-CN" altLang="en-US" sz="1100" dirty="0">
                <a:highlight>
                  <a:srgbClr val="EEEDF2"/>
                </a:highlight>
              </a:rPr>
              <a:t>推断表格结构</a:t>
            </a:r>
          </a:p>
          <a:p>
            <a:r>
              <a:rPr lang="zh-CN" altLang="en-US" sz="1100" dirty="0">
                <a:highlight>
                  <a:srgbClr val="EEEDF2"/>
                </a:highlight>
              </a:rPr>
              <a:t> </a:t>
            </a:r>
            <a:r>
              <a:rPr lang="en-US" altLang="zh-CN" sz="1100" dirty="0">
                <a:highlight>
                  <a:srgbClr val="EEEDF2"/>
                </a:highlight>
              </a:rPr>
              <a:t>)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documents = list(</a:t>
            </a:r>
            <a:r>
              <a:rPr lang="en-US" altLang="zh-CN" sz="1100" dirty="0" err="1">
                <a:highlight>
                  <a:srgbClr val="EEEDF2"/>
                </a:highlight>
              </a:rPr>
              <a:t>loader.lazy_load</a:t>
            </a:r>
            <a:r>
              <a:rPr lang="en-US" altLang="zh-CN" sz="1100" dirty="0">
                <a:highlight>
                  <a:srgbClr val="EEEDF2"/>
                </a:highlight>
              </a:rPr>
              <a:t>())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</a:t>
            </a:r>
            <a:r>
              <a:rPr lang="en-US" altLang="zh-CN" sz="1100" dirty="0" err="1">
                <a:highlight>
                  <a:srgbClr val="EEEDF2"/>
                </a:highlight>
              </a:rPr>
              <a:t>full_text</a:t>
            </a:r>
            <a:r>
              <a:rPr lang="en-US" altLang="zh-CN" sz="1100" dirty="0">
                <a:highlight>
                  <a:srgbClr val="EEEDF2"/>
                </a:highlight>
              </a:rPr>
              <a:t> = "\n\</a:t>
            </a:r>
            <a:r>
              <a:rPr lang="en-US" altLang="zh-CN" sz="1100" dirty="0" err="1">
                <a:highlight>
                  <a:srgbClr val="EEEDF2"/>
                </a:highlight>
              </a:rPr>
              <a:t>n".join</a:t>
            </a:r>
            <a:r>
              <a:rPr lang="en-US" altLang="zh-CN" sz="1100" dirty="0">
                <a:highlight>
                  <a:srgbClr val="EEEDF2"/>
                </a:highlight>
              </a:rPr>
              <a:t>([</a:t>
            </a:r>
            <a:r>
              <a:rPr lang="en-US" altLang="zh-CN" sz="1100" dirty="0" err="1">
                <a:highlight>
                  <a:srgbClr val="EEEDF2"/>
                </a:highlight>
              </a:rPr>
              <a:t>doc.page_content</a:t>
            </a:r>
            <a:r>
              <a:rPr lang="en-US" altLang="zh-CN" sz="1100" dirty="0">
                <a:highlight>
                  <a:srgbClr val="EEEDF2"/>
                </a:highlight>
              </a:rPr>
              <a:t> for doc in documents])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# </a:t>
            </a:r>
            <a:r>
              <a:rPr lang="zh-CN" altLang="en-US" sz="1100" dirty="0">
                <a:highlight>
                  <a:srgbClr val="EEEDF2"/>
                </a:highlight>
              </a:rPr>
              <a:t>文本分块</a:t>
            </a:r>
          </a:p>
          <a:p>
            <a:r>
              <a:rPr lang="zh-CN" altLang="en-US" sz="1100" dirty="0">
                <a:highlight>
                  <a:srgbClr val="EEEDF2"/>
                </a:highlight>
              </a:rPr>
              <a:t> </a:t>
            </a:r>
            <a:r>
              <a:rPr lang="en-US" altLang="zh-CN" sz="1100" dirty="0" err="1">
                <a:highlight>
                  <a:srgbClr val="EEEDF2"/>
                </a:highlight>
              </a:rPr>
              <a:t>text_chunks</a:t>
            </a:r>
            <a:r>
              <a:rPr lang="en-US" altLang="zh-CN" sz="1100" dirty="0">
                <a:highlight>
                  <a:srgbClr val="EEEDF2"/>
                </a:highlight>
              </a:rPr>
              <a:t> = </a:t>
            </a:r>
            <a:r>
              <a:rPr lang="en-US" altLang="zh-CN" sz="1100" dirty="0" err="1">
                <a:highlight>
                  <a:srgbClr val="EEEDF2"/>
                </a:highlight>
              </a:rPr>
              <a:t>self.text_splitter.split_text</a:t>
            </a:r>
            <a:r>
              <a:rPr lang="en-US" altLang="zh-CN" sz="1100" dirty="0">
                <a:highlight>
                  <a:srgbClr val="EEEDF2"/>
                </a:highlight>
              </a:rPr>
              <a:t>(</a:t>
            </a:r>
            <a:r>
              <a:rPr lang="en-US" altLang="zh-CN" sz="1100" dirty="0" err="1">
                <a:highlight>
                  <a:srgbClr val="EEEDF2"/>
                </a:highlight>
              </a:rPr>
              <a:t>full_text</a:t>
            </a:r>
            <a:r>
              <a:rPr lang="en-US" altLang="zh-CN" sz="1100" dirty="0">
                <a:highlight>
                  <a:srgbClr val="EEEDF2"/>
                </a:highlight>
              </a:rPr>
              <a:t>)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# </a:t>
            </a:r>
            <a:r>
              <a:rPr lang="zh-CN" altLang="en-US" sz="1100" dirty="0">
                <a:highlight>
                  <a:srgbClr val="EEEDF2"/>
                </a:highlight>
              </a:rPr>
              <a:t>构建文档块信息</a:t>
            </a:r>
          </a:p>
          <a:p>
            <a:r>
              <a:rPr lang="zh-CN" altLang="en-US" sz="1100" dirty="0">
                <a:highlight>
                  <a:srgbClr val="EEEDF2"/>
                </a:highlight>
              </a:rPr>
              <a:t> </a:t>
            </a:r>
            <a:r>
              <a:rPr lang="en-US" altLang="zh-CN" sz="1100" dirty="0">
                <a:highlight>
                  <a:srgbClr val="EEEDF2"/>
                </a:highlight>
              </a:rPr>
              <a:t>chunks = []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for </a:t>
            </a:r>
            <a:r>
              <a:rPr lang="en-US" altLang="zh-CN" sz="1100" dirty="0" err="1">
                <a:highlight>
                  <a:srgbClr val="EEEDF2"/>
                </a:highlight>
              </a:rPr>
              <a:t>i</a:t>
            </a:r>
            <a:r>
              <a:rPr lang="en-US" altLang="zh-CN" sz="1100" dirty="0">
                <a:highlight>
                  <a:srgbClr val="EEEDF2"/>
                </a:highlight>
              </a:rPr>
              <a:t>, </a:t>
            </a:r>
            <a:r>
              <a:rPr lang="en-US" altLang="zh-CN" sz="1100" dirty="0" err="1">
                <a:highlight>
                  <a:srgbClr val="EEEDF2"/>
                </a:highlight>
              </a:rPr>
              <a:t>chunk_text</a:t>
            </a:r>
            <a:r>
              <a:rPr lang="en-US" altLang="zh-CN" sz="1100" dirty="0">
                <a:highlight>
                  <a:srgbClr val="EEEDF2"/>
                </a:highlight>
              </a:rPr>
              <a:t> in enumerate(</a:t>
            </a:r>
            <a:r>
              <a:rPr lang="en-US" altLang="zh-CN" sz="1100" dirty="0" err="1">
                <a:highlight>
                  <a:srgbClr val="EEEDF2"/>
                </a:highlight>
              </a:rPr>
              <a:t>text_chunks</a:t>
            </a:r>
            <a:r>
              <a:rPr lang="en-US" altLang="zh-CN" sz="1100" dirty="0">
                <a:highlight>
                  <a:srgbClr val="EEEDF2"/>
                </a:highlight>
              </a:rPr>
              <a:t>):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</a:t>
            </a:r>
            <a:r>
              <a:rPr lang="en-US" altLang="zh-CN" sz="1100" dirty="0" err="1">
                <a:highlight>
                  <a:srgbClr val="EEEDF2"/>
                </a:highlight>
              </a:rPr>
              <a:t>chunk_info</a:t>
            </a:r>
            <a:r>
              <a:rPr lang="en-US" altLang="zh-CN" sz="1100" dirty="0">
                <a:highlight>
                  <a:srgbClr val="EEEDF2"/>
                </a:highlight>
              </a:rPr>
              <a:t> = {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"id": </a:t>
            </a:r>
            <a:r>
              <a:rPr lang="en-US" altLang="zh-CN" sz="1100" dirty="0" err="1">
                <a:highlight>
                  <a:srgbClr val="EEEDF2"/>
                </a:highlight>
              </a:rPr>
              <a:t>f"chunk</a:t>
            </a:r>
            <a:r>
              <a:rPr lang="en-US" altLang="zh-CN" sz="1100" dirty="0">
                <a:highlight>
                  <a:srgbClr val="EEEDF2"/>
                </a:highlight>
              </a:rPr>
              <a:t>_{</a:t>
            </a:r>
            <a:r>
              <a:rPr lang="en-US" altLang="zh-CN" sz="1100" dirty="0" err="1">
                <a:highlight>
                  <a:srgbClr val="EEEDF2"/>
                </a:highlight>
              </a:rPr>
              <a:t>i</a:t>
            </a:r>
            <a:r>
              <a:rPr lang="en-US" altLang="zh-CN" sz="1100" dirty="0">
                <a:highlight>
                  <a:srgbClr val="EEEDF2"/>
                </a:highlight>
              </a:rPr>
              <a:t>}",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"content": </a:t>
            </a:r>
            <a:r>
              <a:rPr lang="en-US" altLang="zh-CN" sz="1100" dirty="0" err="1">
                <a:highlight>
                  <a:srgbClr val="EEEDF2"/>
                </a:highlight>
              </a:rPr>
              <a:t>chunk_text</a:t>
            </a:r>
            <a:r>
              <a:rPr lang="en-US" altLang="zh-CN" sz="1100" dirty="0">
                <a:highlight>
                  <a:srgbClr val="EEEDF2"/>
                </a:highlight>
              </a:rPr>
              <a:t>,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"metadata": {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"filename": filename,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"</a:t>
            </a:r>
            <a:r>
              <a:rPr lang="en-US" altLang="zh-CN" sz="1100" dirty="0" err="1">
                <a:highlight>
                  <a:srgbClr val="EEEDF2"/>
                </a:highlight>
              </a:rPr>
              <a:t>chunk_index</a:t>
            </a:r>
            <a:r>
              <a:rPr lang="en-US" altLang="zh-CN" sz="1100" dirty="0">
                <a:highlight>
                  <a:srgbClr val="EEEDF2"/>
                </a:highlight>
              </a:rPr>
              <a:t>": </a:t>
            </a:r>
            <a:r>
              <a:rPr lang="en-US" altLang="zh-CN" sz="1100" dirty="0" err="1">
                <a:highlight>
                  <a:srgbClr val="EEEDF2"/>
                </a:highlight>
              </a:rPr>
              <a:t>i</a:t>
            </a:r>
            <a:r>
              <a:rPr lang="en-US" altLang="zh-CN" sz="1100" dirty="0">
                <a:highlight>
                  <a:srgbClr val="EEEDF2"/>
                </a:highlight>
              </a:rPr>
              <a:t>,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"</a:t>
            </a:r>
            <a:r>
              <a:rPr lang="en-US" altLang="zh-CN" sz="1100" dirty="0" err="1">
                <a:highlight>
                  <a:srgbClr val="EEEDF2"/>
                </a:highlight>
              </a:rPr>
              <a:t>total_chunks</a:t>
            </a:r>
            <a:r>
              <a:rPr lang="en-US" altLang="zh-CN" sz="1100" dirty="0">
                <a:highlight>
                  <a:srgbClr val="EEEDF2"/>
                </a:highlight>
              </a:rPr>
              <a:t>": </a:t>
            </a:r>
            <a:r>
              <a:rPr lang="en-US" altLang="zh-CN" sz="1100" dirty="0" err="1">
                <a:highlight>
                  <a:srgbClr val="EEEDF2"/>
                </a:highlight>
              </a:rPr>
              <a:t>len</a:t>
            </a:r>
            <a:r>
              <a:rPr lang="en-US" altLang="zh-CN" sz="1100" dirty="0">
                <a:highlight>
                  <a:srgbClr val="EEEDF2"/>
                </a:highlight>
              </a:rPr>
              <a:t>(</a:t>
            </a:r>
            <a:r>
              <a:rPr lang="en-US" altLang="zh-CN" sz="1100" dirty="0" err="1">
                <a:highlight>
                  <a:srgbClr val="EEEDF2"/>
                </a:highlight>
              </a:rPr>
              <a:t>text_chunks</a:t>
            </a:r>
            <a:r>
              <a:rPr lang="en-US" altLang="zh-CN" sz="1100" dirty="0">
                <a:highlight>
                  <a:srgbClr val="EEEDF2"/>
                </a:highlight>
              </a:rPr>
              <a:t>)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}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}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</a:t>
            </a:r>
            <a:r>
              <a:rPr lang="en-US" altLang="zh-CN" sz="1100" dirty="0" err="1">
                <a:highlight>
                  <a:srgbClr val="EEEDF2"/>
                </a:highlight>
              </a:rPr>
              <a:t>chunks.append</a:t>
            </a:r>
            <a:r>
              <a:rPr lang="en-US" altLang="zh-CN" sz="1100" dirty="0">
                <a:highlight>
                  <a:srgbClr val="EEEDF2"/>
                </a:highlight>
              </a:rPr>
              <a:t>(</a:t>
            </a:r>
            <a:r>
              <a:rPr lang="en-US" altLang="zh-CN" sz="1100" dirty="0" err="1">
                <a:highlight>
                  <a:srgbClr val="EEEDF2"/>
                </a:highlight>
              </a:rPr>
              <a:t>chunk_info</a:t>
            </a:r>
            <a:r>
              <a:rPr lang="en-US" altLang="zh-CN" sz="1100" dirty="0">
                <a:highlight>
                  <a:srgbClr val="EEEDF2"/>
                </a:highlight>
              </a:rPr>
              <a:t>)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</a:t>
            </a:r>
            <a:r>
              <a:rPr lang="en-US" altLang="zh-CN" sz="1100" dirty="0" err="1">
                <a:highlight>
                  <a:srgbClr val="EEEDF2"/>
                </a:highlight>
              </a:rPr>
              <a:t>self.document_chunks</a:t>
            </a:r>
            <a:r>
              <a:rPr lang="en-US" altLang="zh-CN" sz="1100" dirty="0">
                <a:highlight>
                  <a:srgbClr val="EEEDF2"/>
                </a:highlight>
              </a:rPr>
              <a:t> = chunks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return chunks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finally:</a:t>
            </a:r>
          </a:p>
          <a:p>
            <a:r>
              <a:rPr lang="en-US" altLang="zh-CN" sz="1100" dirty="0">
                <a:highlight>
                  <a:srgbClr val="EEEDF2"/>
                </a:highlight>
              </a:rPr>
              <a:t> </a:t>
            </a:r>
            <a:r>
              <a:rPr lang="en-US" altLang="zh-CN" sz="1100" dirty="0" err="1">
                <a:highlight>
                  <a:srgbClr val="EEEDF2"/>
                </a:highlight>
              </a:rPr>
              <a:t>os.unlink</a:t>
            </a:r>
            <a:r>
              <a:rPr lang="en-US" altLang="zh-CN" sz="1100" dirty="0">
                <a:highlight>
                  <a:srgbClr val="EEEDF2"/>
                </a:highlight>
              </a:rPr>
              <a:t>(</a:t>
            </a:r>
            <a:r>
              <a:rPr lang="en-US" altLang="zh-CN" sz="1100" dirty="0" err="1">
                <a:highlight>
                  <a:srgbClr val="EEEDF2"/>
                </a:highlight>
              </a:rPr>
              <a:t>tmp_file_path</a:t>
            </a:r>
            <a:r>
              <a:rPr lang="en-US" altLang="zh-CN" sz="1100" dirty="0">
                <a:highlight>
                  <a:srgbClr val="EEEDF2"/>
                </a:highlight>
              </a:rPr>
              <a:t>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9847"/>
            <a:ext cx="3373993" cy="421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功能四:音频对话系统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438870"/>
            <a:ext cx="1304282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音频处理能够转写音频内容,并基于转写结果进行智能问答。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3790" y="1898571"/>
            <a:ext cx="13042821" cy="5651183"/>
          </a:xfrm>
          <a:prstGeom prst="roundRect">
            <a:avLst>
              <a:gd name="adj" fmla="val 448"/>
            </a:avLst>
          </a:prstGeom>
          <a:solidFill>
            <a:srgbClr val="EEEDF2"/>
          </a:solidFill>
          <a:ln/>
        </p:spPr>
      </p:sp>
      <p:sp>
        <p:nvSpPr>
          <p:cNvPr id="5" name="Shape 3"/>
          <p:cNvSpPr/>
          <p:nvPr/>
        </p:nvSpPr>
        <p:spPr>
          <a:xfrm>
            <a:off x="785455" y="1898571"/>
            <a:ext cx="13059489" cy="5651183"/>
          </a:xfrm>
          <a:prstGeom prst="roundRect">
            <a:avLst>
              <a:gd name="adj" fmla="val 448"/>
            </a:avLst>
          </a:prstGeom>
          <a:solidFill>
            <a:srgbClr val="EEEDF2"/>
          </a:solidFill>
          <a:ln/>
        </p:spPr>
      </p:sp>
      <p:sp>
        <p:nvSpPr>
          <p:cNvPr id="6" name="Text 4"/>
          <p:cNvSpPr/>
          <p:nvPr/>
        </p:nvSpPr>
        <p:spPr>
          <a:xfrm>
            <a:off x="954048" y="2025015"/>
            <a:ext cx="12722304" cy="5398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1600" dirty="0">
                <a:highlight>
                  <a:srgbClr val="EEEDF2"/>
                </a:highlight>
              </a:rPr>
              <a:t># </a:t>
            </a:r>
            <a:r>
              <a:rPr lang="zh-CN" altLang="en-US" sz="1600" dirty="0">
                <a:highlight>
                  <a:srgbClr val="EEEDF2"/>
                </a:highlight>
              </a:rPr>
              <a:t>音频对话系统最小运行示例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import </a:t>
            </a:r>
            <a:r>
              <a:rPr lang="en-US" altLang="zh-CN" sz="1600" dirty="0" err="1">
                <a:highlight>
                  <a:srgbClr val="EEEDF2"/>
                </a:highlight>
              </a:rPr>
              <a:t>tempfile</a:t>
            </a:r>
            <a:endParaRPr lang="en-US" altLang="zh-CN" sz="1600" dirty="0">
              <a:highlight>
                <a:srgbClr val="EEEDF2"/>
              </a:highlight>
            </a:endParaRPr>
          </a:p>
          <a:p>
            <a:r>
              <a:rPr lang="en-US" altLang="zh-CN" sz="1600" dirty="0">
                <a:highlight>
                  <a:srgbClr val="EEEDF2"/>
                </a:highlight>
              </a:rPr>
              <a:t>from </a:t>
            </a:r>
            <a:r>
              <a:rPr lang="en-US" altLang="zh-CN" sz="1600" dirty="0" err="1">
                <a:highlight>
                  <a:srgbClr val="EEEDF2"/>
                </a:highlight>
              </a:rPr>
              <a:t>pathlib</a:t>
            </a:r>
            <a:r>
              <a:rPr lang="en-US" altLang="zh-CN" sz="1600" dirty="0">
                <a:highlight>
                  <a:srgbClr val="EEEDF2"/>
                </a:highlight>
              </a:rPr>
              <a:t> import Path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from </a:t>
            </a:r>
            <a:r>
              <a:rPr lang="en-US" altLang="zh-CN" sz="1600" dirty="0" err="1">
                <a:highlight>
                  <a:srgbClr val="EEEDF2"/>
                </a:highlight>
              </a:rPr>
              <a:t>openai</a:t>
            </a:r>
            <a:r>
              <a:rPr lang="en-US" altLang="zh-CN" sz="1600" dirty="0">
                <a:highlight>
                  <a:srgbClr val="EEEDF2"/>
                </a:highlight>
              </a:rPr>
              <a:t> import OpenAI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from </a:t>
            </a:r>
            <a:r>
              <a:rPr lang="en-US" altLang="zh-CN" sz="1600" dirty="0" err="1">
                <a:highlight>
                  <a:srgbClr val="EEEDF2"/>
                </a:highlight>
              </a:rPr>
              <a:t>pydub</a:t>
            </a:r>
            <a:r>
              <a:rPr lang="en-US" altLang="zh-CN" sz="1600" dirty="0">
                <a:highlight>
                  <a:srgbClr val="EEEDF2"/>
                </a:highlight>
              </a:rPr>
              <a:t> import </a:t>
            </a:r>
            <a:r>
              <a:rPr lang="en-US" altLang="zh-CN" sz="1600" dirty="0" err="1">
                <a:highlight>
                  <a:srgbClr val="EEEDF2"/>
                </a:highlight>
              </a:rPr>
              <a:t>AudioSegment</a:t>
            </a:r>
            <a:endParaRPr lang="en-US" altLang="zh-CN" sz="1600" dirty="0">
              <a:highlight>
                <a:srgbClr val="EEEDF2"/>
              </a:highlight>
            </a:endParaRPr>
          </a:p>
          <a:p>
            <a:r>
              <a:rPr lang="en-US" altLang="zh-CN" sz="1600" dirty="0">
                <a:highlight>
                  <a:srgbClr val="EEEDF2"/>
                </a:highlight>
              </a:rPr>
              <a:t>from </a:t>
            </a:r>
            <a:r>
              <a:rPr lang="en-US" altLang="zh-CN" sz="1600" dirty="0" err="1">
                <a:highlight>
                  <a:srgbClr val="EEEDF2"/>
                </a:highlight>
              </a:rPr>
              <a:t>moviepy.editor</a:t>
            </a:r>
            <a:r>
              <a:rPr lang="en-US" altLang="zh-CN" sz="1600" dirty="0">
                <a:highlight>
                  <a:srgbClr val="EEEDF2"/>
                </a:highlight>
              </a:rPr>
              <a:t> import </a:t>
            </a:r>
            <a:r>
              <a:rPr lang="en-US" altLang="zh-CN" sz="1600" dirty="0" err="1">
                <a:highlight>
                  <a:srgbClr val="EEEDF2"/>
                </a:highlight>
              </a:rPr>
              <a:t>VideoFileClip</a:t>
            </a:r>
            <a:endParaRPr lang="en-US" altLang="zh-CN" sz="1600" dirty="0">
              <a:highlight>
                <a:srgbClr val="EEEDF2"/>
              </a:highlight>
            </a:endParaRPr>
          </a:p>
          <a:p>
            <a:r>
              <a:rPr lang="en-US" altLang="zh-CN" sz="1600" dirty="0">
                <a:highlight>
                  <a:srgbClr val="EEEDF2"/>
                </a:highlight>
              </a:rPr>
              <a:t>from </a:t>
            </a:r>
            <a:r>
              <a:rPr lang="en-US" altLang="zh-CN" sz="1600" dirty="0" err="1">
                <a:highlight>
                  <a:srgbClr val="EEEDF2"/>
                </a:highlight>
              </a:rPr>
              <a:t>langchain_openai</a:t>
            </a:r>
            <a:r>
              <a:rPr lang="en-US" altLang="zh-CN" sz="1600" dirty="0">
                <a:highlight>
                  <a:srgbClr val="EEEDF2"/>
                </a:highlight>
              </a:rPr>
              <a:t> import </a:t>
            </a:r>
            <a:r>
              <a:rPr lang="en-US" altLang="zh-CN" sz="1600" dirty="0" err="1">
                <a:highlight>
                  <a:srgbClr val="EEEDF2"/>
                </a:highlight>
              </a:rPr>
              <a:t>ChatOpenAI</a:t>
            </a:r>
            <a:endParaRPr lang="en-US" altLang="zh-CN" sz="1600" dirty="0">
              <a:highlight>
                <a:srgbClr val="EEEDF2"/>
              </a:highlight>
            </a:endParaRPr>
          </a:p>
          <a:p>
            <a:r>
              <a:rPr lang="en-US" altLang="zh-CN" sz="1600" dirty="0">
                <a:highlight>
                  <a:srgbClr val="EEEDF2"/>
                </a:highlight>
              </a:rPr>
              <a:t>from </a:t>
            </a:r>
            <a:r>
              <a:rPr lang="en-US" altLang="zh-CN" sz="1600" dirty="0" err="1">
                <a:highlight>
                  <a:srgbClr val="EEEDF2"/>
                </a:highlight>
              </a:rPr>
              <a:t>langchain_core.messages</a:t>
            </a:r>
            <a:r>
              <a:rPr lang="en-US" altLang="zh-CN" sz="1600" dirty="0">
                <a:highlight>
                  <a:srgbClr val="EEEDF2"/>
                </a:highlight>
              </a:rPr>
              <a:t> import </a:t>
            </a:r>
            <a:r>
              <a:rPr lang="en-US" altLang="zh-CN" sz="1600" dirty="0" err="1">
                <a:highlight>
                  <a:srgbClr val="EEEDF2"/>
                </a:highlight>
              </a:rPr>
              <a:t>HumanMessage</a:t>
            </a:r>
            <a:r>
              <a:rPr lang="en-US" altLang="zh-CN" sz="1600" dirty="0">
                <a:highlight>
                  <a:srgbClr val="EEEDF2"/>
                </a:highlight>
              </a:rPr>
              <a:t>, </a:t>
            </a:r>
            <a:r>
              <a:rPr lang="en-US" altLang="zh-CN" sz="1600" dirty="0" err="1">
                <a:highlight>
                  <a:srgbClr val="EEEDF2"/>
                </a:highlight>
              </a:rPr>
              <a:t>SystemMessage</a:t>
            </a:r>
            <a:endParaRPr lang="en-US" altLang="zh-CN" sz="1600" dirty="0">
              <a:highlight>
                <a:srgbClr val="EEEDF2"/>
              </a:highlight>
            </a:endParaRPr>
          </a:p>
          <a:p>
            <a:endParaRPr lang="en-US" altLang="zh-CN" sz="1600" dirty="0">
              <a:highlight>
                <a:srgbClr val="EEEDF2"/>
              </a:highlight>
            </a:endParaRPr>
          </a:p>
          <a:p>
            <a:r>
              <a:rPr lang="en-US" altLang="zh-CN" sz="1600" dirty="0">
                <a:highlight>
                  <a:srgbClr val="EEEDF2"/>
                </a:highlight>
              </a:rPr>
              <a:t>class </a:t>
            </a:r>
            <a:r>
              <a:rPr lang="en-US" altLang="zh-CN" sz="1600" dirty="0" err="1">
                <a:highlight>
                  <a:srgbClr val="EEEDF2"/>
                </a:highlight>
              </a:rPr>
              <a:t>AudioChatSystem</a:t>
            </a:r>
            <a:r>
              <a:rPr lang="en-US" altLang="zh-CN" sz="1600" dirty="0">
                <a:highlight>
                  <a:srgbClr val="EEEDF2"/>
                </a:highlight>
              </a:rPr>
              <a:t>: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"""</a:t>
            </a:r>
            <a:r>
              <a:rPr lang="zh-CN" altLang="en-US" sz="1600" dirty="0">
                <a:highlight>
                  <a:srgbClr val="EEEDF2"/>
                </a:highlight>
              </a:rPr>
              <a:t>音频对话系统 </a:t>
            </a:r>
            <a:r>
              <a:rPr lang="en-US" altLang="zh-CN" sz="1600" dirty="0">
                <a:highlight>
                  <a:srgbClr val="EEEDF2"/>
                </a:highlight>
              </a:rPr>
              <a:t>- </a:t>
            </a:r>
            <a:r>
              <a:rPr lang="zh-CN" altLang="en-US" sz="1600" dirty="0">
                <a:highlight>
                  <a:srgbClr val="EEEDF2"/>
                </a:highlight>
              </a:rPr>
              <a:t>支持音频转写与智能问答</a:t>
            </a:r>
            <a:r>
              <a:rPr lang="en-US" altLang="zh-CN" sz="1600" dirty="0">
                <a:highlight>
                  <a:srgbClr val="EEEDF2"/>
                </a:highlight>
              </a:rPr>
              <a:t>"""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def __</a:t>
            </a:r>
            <a:r>
              <a:rPr lang="en-US" altLang="zh-CN" sz="1600" dirty="0" err="1">
                <a:highlight>
                  <a:srgbClr val="EEEDF2"/>
                </a:highlight>
              </a:rPr>
              <a:t>init</a:t>
            </a:r>
            <a:r>
              <a:rPr lang="en-US" altLang="zh-CN" sz="1600" dirty="0">
                <a:highlight>
                  <a:srgbClr val="EEEDF2"/>
                </a:highlight>
              </a:rPr>
              <a:t>__(self, </a:t>
            </a:r>
            <a:r>
              <a:rPr lang="en-US" altLang="zh-CN" sz="1600" dirty="0" err="1">
                <a:highlight>
                  <a:srgbClr val="EEEDF2"/>
                </a:highlight>
              </a:rPr>
              <a:t>api_key</a:t>
            </a:r>
            <a:r>
              <a:rPr lang="en-US" altLang="zh-CN" sz="1600" dirty="0">
                <a:highlight>
                  <a:srgbClr val="EEEDF2"/>
                </a:highlight>
              </a:rPr>
              <a:t>: str, </a:t>
            </a:r>
            <a:r>
              <a:rPr lang="en-US" altLang="zh-CN" sz="1600" dirty="0" err="1">
                <a:highlight>
                  <a:srgbClr val="EEEDF2"/>
                </a:highlight>
              </a:rPr>
              <a:t>base_url</a:t>
            </a:r>
            <a:r>
              <a:rPr lang="en-US" altLang="zh-CN" sz="1600" dirty="0">
                <a:highlight>
                  <a:srgbClr val="EEEDF2"/>
                </a:highlight>
              </a:rPr>
              <a:t>: str = "https://api.openai.com/v1"):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</a:t>
            </a:r>
            <a:r>
              <a:rPr lang="en-US" altLang="zh-CN" sz="1600" dirty="0" err="1">
                <a:highlight>
                  <a:srgbClr val="EEEDF2"/>
                </a:highlight>
              </a:rPr>
              <a:t>self.openai_client</a:t>
            </a:r>
            <a:r>
              <a:rPr lang="en-US" altLang="zh-CN" sz="1600" dirty="0">
                <a:highlight>
                  <a:srgbClr val="EEEDF2"/>
                </a:highlight>
              </a:rPr>
              <a:t> = OpenAI(</a:t>
            </a:r>
            <a:r>
              <a:rPr lang="en-US" altLang="zh-CN" sz="1600" dirty="0" err="1">
                <a:highlight>
                  <a:srgbClr val="EEEDF2"/>
                </a:highlight>
              </a:rPr>
              <a:t>api_key</a:t>
            </a:r>
            <a:r>
              <a:rPr lang="en-US" altLang="zh-CN" sz="1600" dirty="0">
                <a:highlight>
                  <a:srgbClr val="EEEDF2"/>
                </a:highlight>
              </a:rPr>
              <a:t>=</a:t>
            </a:r>
            <a:r>
              <a:rPr lang="en-US" altLang="zh-CN" sz="1600" dirty="0" err="1">
                <a:highlight>
                  <a:srgbClr val="EEEDF2"/>
                </a:highlight>
              </a:rPr>
              <a:t>api_key</a:t>
            </a:r>
            <a:r>
              <a:rPr lang="en-US" altLang="zh-CN" sz="1600" dirty="0">
                <a:highlight>
                  <a:srgbClr val="EEEDF2"/>
                </a:highlight>
              </a:rPr>
              <a:t>, </a:t>
            </a:r>
            <a:r>
              <a:rPr lang="en-US" altLang="zh-CN" sz="1600" dirty="0" err="1">
                <a:highlight>
                  <a:srgbClr val="EEEDF2"/>
                </a:highlight>
              </a:rPr>
              <a:t>base_url</a:t>
            </a:r>
            <a:r>
              <a:rPr lang="en-US" altLang="zh-CN" sz="1600" dirty="0">
                <a:highlight>
                  <a:srgbClr val="EEEDF2"/>
                </a:highlight>
              </a:rPr>
              <a:t>=</a:t>
            </a:r>
            <a:r>
              <a:rPr lang="en-US" altLang="zh-CN" sz="1600" dirty="0" err="1">
                <a:highlight>
                  <a:srgbClr val="EEEDF2"/>
                </a:highlight>
              </a:rPr>
              <a:t>base_url</a:t>
            </a:r>
            <a:r>
              <a:rPr lang="en-US" altLang="zh-CN" sz="1600" dirty="0">
                <a:highlight>
                  <a:srgbClr val="EEEDF2"/>
                </a:highlight>
              </a:rPr>
              <a:t>)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</a:t>
            </a:r>
            <a:r>
              <a:rPr lang="en-US" altLang="zh-CN" sz="1600" dirty="0" err="1">
                <a:highlight>
                  <a:srgbClr val="EEEDF2"/>
                </a:highlight>
              </a:rPr>
              <a:t>self.chat_model</a:t>
            </a:r>
            <a:r>
              <a:rPr lang="en-US" altLang="zh-CN" sz="1600" dirty="0">
                <a:highlight>
                  <a:srgbClr val="EEEDF2"/>
                </a:highlight>
              </a:rPr>
              <a:t> = </a:t>
            </a:r>
            <a:r>
              <a:rPr lang="en-US" altLang="zh-CN" sz="1600" dirty="0" err="1">
                <a:highlight>
                  <a:srgbClr val="EEEDF2"/>
                </a:highlight>
              </a:rPr>
              <a:t>ChatOpenAI</a:t>
            </a:r>
            <a:r>
              <a:rPr lang="en-US" altLang="zh-CN" sz="1600" dirty="0">
                <a:highlight>
                  <a:srgbClr val="EEEDF2"/>
                </a:highlight>
              </a:rPr>
              <a:t>(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model="gpt-4o",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</a:t>
            </a:r>
            <a:r>
              <a:rPr lang="en-US" altLang="zh-CN" sz="1600" dirty="0" err="1">
                <a:highlight>
                  <a:srgbClr val="EEEDF2"/>
                </a:highlight>
              </a:rPr>
              <a:t>api_key</a:t>
            </a:r>
            <a:r>
              <a:rPr lang="en-US" altLang="zh-CN" sz="1600" dirty="0">
                <a:highlight>
                  <a:srgbClr val="EEEDF2"/>
                </a:highlight>
              </a:rPr>
              <a:t>=</a:t>
            </a:r>
            <a:r>
              <a:rPr lang="en-US" altLang="zh-CN" sz="1600" dirty="0" err="1">
                <a:highlight>
                  <a:srgbClr val="EEEDF2"/>
                </a:highlight>
              </a:rPr>
              <a:t>api_key</a:t>
            </a:r>
            <a:r>
              <a:rPr lang="en-US" altLang="zh-CN" sz="1600" dirty="0">
                <a:highlight>
                  <a:srgbClr val="EEEDF2"/>
                </a:highlight>
              </a:rPr>
              <a:t>,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temperature=0.7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)</a:t>
            </a:r>
          </a:p>
          <a:p>
            <a:r>
              <a:rPr lang="en-US" altLang="zh-CN" sz="1600" dirty="0">
                <a:highlight>
                  <a:srgbClr val="EEEDF2"/>
                </a:highlight>
              </a:rPr>
              <a:t> </a:t>
            </a:r>
            <a:r>
              <a:rPr lang="en-US" altLang="zh-CN" sz="1600" dirty="0" err="1">
                <a:highlight>
                  <a:srgbClr val="EEEDF2"/>
                </a:highlight>
              </a:rPr>
              <a:t>self.transcriptions</a:t>
            </a:r>
            <a:r>
              <a:rPr lang="en-US" altLang="zh-CN" sz="1600" dirty="0">
                <a:highlight>
                  <a:srgbClr val="EEEDF2"/>
                </a:highlight>
              </a:rPr>
              <a:t> = []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3829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第三部分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3990737"/>
            <a:ext cx="6847642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项目实际核心逻辑展示</a:t>
            </a:r>
            <a:endParaRPr lang="en-US" sz="5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6319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多模态消息处理架构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91928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系统采用统一的消息处理架构,支持文本、图像、音频、PDF四种模态的混合输入: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460069"/>
            <a:ext cx="13042821" cy="4743212"/>
          </a:xfrm>
          <a:prstGeom prst="roundRect">
            <a:avLst>
              <a:gd name="adj" fmla="val 628"/>
            </a:avLst>
          </a:prstGeom>
          <a:solidFill>
            <a:srgbClr val="EEEDF2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2460069"/>
            <a:ext cx="13062585" cy="4743212"/>
          </a:xfrm>
          <a:prstGeom prst="roundRect">
            <a:avLst>
              <a:gd name="adj" fmla="val 628"/>
            </a:avLst>
          </a:prstGeom>
          <a:solidFill>
            <a:srgbClr val="EEEDF2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2608898"/>
            <a:ext cx="12665869" cy="4445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dirty="0">
                <a:highlight>
                  <a:srgbClr val="EEEDF2"/>
                </a:highlight>
              </a:rPr>
              <a:t># </a:t>
            </a:r>
            <a:r>
              <a:rPr lang="zh-CN" altLang="en-US" dirty="0">
                <a:highlight>
                  <a:srgbClr val="EEEDF2"/>
                </a:highlight>
              </a:rPr>
              <a:t>内容块模型</a:t>
            </a:r>
            <a:r>
              <a:rPr lang="en-US" altLang="zh-CN" dirty="0">
                <a:highlight>
                  <a:srgbClr val="EEEDF2"/>
                </a:highlight>
              </a:rPr>
              <a:t>(</a:t>
            </a:r>
            <a:r>
              <a:rPr lang="zh-CN" altLang="en-US" dirty="0">
                <a:highlight>
                  <a:srgbClr val="EEEDF2"/>
                </a:highlight>
              </a:rPr>
              <a:t>支持多模态</a:t>
            </a:r>
            <a:r>
              <a:rPr lang="en-US" altLang="zh-CN" dirty="0">
                <a:highlight>
                  <a:srgbClr val="EEEDF2"/>
                </a:highlight>
              </a:rPr>
              <a:t>)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class </a:t>
            </a:r>
            <a:r>
              <a:rPr lang="en-US" altLang="zh-CN" dirty="0" err="1">
                <a:highlight>
                  <a:srgbClr val="EEEDF2"/>
                </a:highlight>
              </a:rPr>
              <a:t>ContentBlock</a:t>
            </a:r>
            <a:r>
              <a:rPr lang="en-US" altLang="zh-CN" dirty="0">
                <a:highlight>
                  <a:srgbClr val="EEEDF2"/>
                </a:highlight>
              </a:rPr>
              <a:t>(</a:t>
            </a:r>
            <a:r>
              <a:rPr lang="en-US" altLang="zh-CN" dirty="0" err="1">
                <a:highlight>
                  <a:srgbClr val="EEEDF2"/>
                </a:highlight>
              </a:rPr>
              <a:t>BaseModel</a:t>
            </a:r>
            <a:r>
              <a:rPr lang="en-US" altLang="zh-CN" dirty="0">
                <a:highlight>
                  <a:srgbClr val="EEEDF2"/>
                </a:highlight>
              </a:rPr>
              <a:t>):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type: str = Field(..., description="</a:t>
            </a:r>
            <a:r>
              <a:rPr lang="zh-CN" altLang="en-US" dirty="0">
                <a:highlight>
                  <a:srgbClr val="EEEDF2"/>
                </a:highlight>
              </a:rPr>
              <a:t>内容类型</a:t>
            </a:r>
            <a:r>
              <a:rPr lang="en-US" altLang="zh-CN" dirty="0">
                <a:highlight>
                  <a:srgbClr val="EEEDF2"/>
                </a:highlight>
              </a:rPr>
              <a:t>: text, image, audio, pdf")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content: str = Field(..., description="</a:t>
            </a:r>
            <a:r>
              <a:rPr lang="zh-CN" altLang="en-US" dirty="0">
                <a:highlight>
                  <a:srgbClr val="EEEDF2"/>
                </a:highlight>
              </a:rPr>
              <a:t>内容数据</a:t>
            </a:r>
            <a:r>
              <a:rPr lang="en-US" altLang="zh-CN" dirty="0">
                <a:highlight>
                  <a:srgbClr val="EEEDF2"/>
                </a:highlight>
              </a:rPr>
              <a:t>")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thumbnail: str = Field(default="", description="</a:t>
            </a:r>
            <a:r>
              <a:rPr lang="zh-CN" altLang="en-US" dirty="0">
                <a:highlight>
                  <a:srgbClr val="EEEDF2"/>
                </a:highlight>
              </a:rPr>
              <a:t>缩略图</a:t>
            </a:r>
            <a:r>
              <a:rPr lang="en-US" altLang="zh-CN" dirty="0">
                <a:highlight>
                  <a:srgbClr val="EEEDF2"/>
                </a:highlight>
              </a:rPr>
              <a:t>(</a:t>
            </a:r>
            <a:r>
              <a:rPr lang="zh-CN" altLang="en-US" dirty="0">
                <a:highlight>
                  <a:srgbClr val="EEEDF2"/>
                </a:highlight>
              </a:rPr>
              <a:t>可选</a:t>
            </a:r>
            <a:r>
              <a:rPr lang="en-US" altLang="zh-CN" dirty="0">
                <a:highlight>
                  <a:srgbClr val="EEEDF2"/>
                </a:highlight>
              </a:rPr>
              <a:t>)")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transcription: str = Field(default="", description="</a:t>
            </a:r>
            <a:r>
              <a:rPr lang="zh-CN" altLang="en-US" dirty="0">
                <a:highlight>
                  <a:srgbClr val="EEEDF2"/>
                </a:highlight>
              </a:rPr>
              <a:t>音频转写文本</a:t>
            </a:r>
            <a:r>
              <a:rPr lang="en-US" altLang="zh-CN" dirty="0">
                <a:highlight>
                  <a:srgbClr val="EEEDF2"/>
                </a:highlight>
              </a:rPr>
              <a:t>(</a:t>
            </a:r>
            <a:r>
              <a:rPr lang="zh-CN" altLang="en-US" dirty="0">
                <a:highlight>
                  <a:srgbClr val="EEEDF2"/>
                </a:highlight>
              </a:rPr>
              <a:t>音频类型专用</a:t>
            </a:r>
            <a:r>
              <a:rPr lang="en-US" altLang="zh-CN" dirty="0">
                <a:highlight>
                  <a:srgbClr val="EEEDF2"/>
                </a:highlight>
              </a:rPr>
              <a:t>)")</a:t>
            </a:r>
          </a:p>
          <a:p>
            <a:endParaRPr lang="en-US" altLang="zh-CN" dirty="0">
              <a:highlight>
                <a:srgbClr val="EEEDF2"/>
              </a:highlight>
            </a:endParaRPr>
          </a:p>
          <a:p>
            <a:r>
              <a:rPr lang="en-US" altLang="zh-CN" dirty="0">
                <a:highlight>
                  <a:srgbClr val="EEEDF2"/>
                </a:highlight>
              </a:rPr>
              <a:t># </a:t>
            </a:r>
            <a:r>
              <a:rPr lang="zh-CN" altLang="en-US" dirty="0">
                <a:highlight>
                  <a:srgbClr val="EEEDF2"/>
                </a:highlight>
              </a:rPr>
              <a:t>请求模型</a:t>
            </a:r>
            <a:r>
              <a:rPr lang="en-US" altLang="zh-CN" dirty="0">
                <a:highlight>
                  <a:srgbClr val="EEEDF2"/>
                </a:highlight>
              </a:rPr>
              <a:t>(</a:t>
            </a:r>
            <a:r>
              <a:rPr lang="zh-CN" altLang="en-US" dirty="0">
                <a:highlight>
                  <a:srgbClr val="EEEDF2"/>
                </a:highlight>
              </a:rPr>
              <a:t>支持多模态</a:t>
            </a:r>
            <a:r>
              <a:rPr lang="en-US" altLang="zh-CN" dirty="0">
                <a:highlight>
                  <a:srgbClr val="EEEDF2"/>
                </a:highlight>
              </a:rPr>
              <a:t>)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class </a:t>
            </a:r>
            <a:r>
              <a:rPr lang="en-US" altLang="zh-CN" dirty="0" err="1">
                <a:highlight>
                  <a:srgbClr val="EEEDF2"/>
                </a:highlight>
              </a:rPr>
              <a:t>MessageRequest</a:t>
            </a:r>
            <a:r>
              <a:rPr lang="en-US" altLang="zh-CN" dirty="0">
                <a:highlight>
                  <a:srgbClr val="EEEDF2"/>
                </a:highlight>
              </a:rPr>
              <a:t>(</a:t>
            </a:r>
            <a:r>
              <a:rPr lang="en-US" altLang="zh-CN" dirty="0" err="1">
                <a:highlight>
                  <a:srgbClr val="EEEDF2"/>
                </a:highlight>
              </a:rPr>
              <a:t>BaseModel</a:t>
            </a:r>
            <a:r>
              <a:rPr lang="en-US" altLang="zh-CN" dirty="0">
                <a:highlight>
                  <a:srgbClr val="EEEDF2"/>
                </a:highlight>
              </a:rPr>
              <a:t>):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content: str = Field(default="", description="</a:t>
            </a:r>
            <a:r>
              <a:rPr lang="zh-CN" altLang="en-US" dirty="0">
                <a:highlight>
                  <a:srgbClr val="EEEDF2"/>
                </a:highlight>
              </a:rPr>
              <a:t>纯文本内容</a:t>
            </a:r>
            <a:r>
              <a:rPr lang="en-US" altLang="zh-CN" dirty="0">
                <a:highlight>
                  <a:srgbClr val="EEEDF2"/>
                </a:highlight>
              </a:rPr>
              <a:t>(</a:t>
            </a:r>
            <a:r>
              <a:rPr lang="zh-CN" altLang="en-US" dirty="0">
                <a:highlight>
                  <a:srgbClr val="EEEDF2"/>
                </a:highlight>
              </a:rPr>
              <a:t>兼容旧版</a:t>
            </a:r>
            <a:r>
              <a:rPr lang="en-US" altLang="zh-CN" dirty="0">
                <a:highlight>
                  <a:srgbClr val="EEEDF2"/>
                </a:highlight>
              </a:rPr>
              <a:t>)")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</a:t>
            </a:r>
            <a:r>
              <a:rPr lang="en-US" altLang="zh-CN" dirty="0" err="1">
                <a:highlight>
                  <a:srgbClr val="EEEDF2"/>
                </a:highlight>
              </a:rPr>
              <a:t>content_blocks</a:t>
            </a:r>
            <a:r>
              <a:rPr lang="en-US" altLang="zh-CN" dirty="0">
                <a:highlight>
                  <a:srgbClr val="EEEDF2"/>
                </a:highlight>
              </a:rPr>
              <a:t>: List[</a:t>
            </a:r>
            <a:r>
              <a:rPr lang="en-US" altLang="zh-CN" dirty="0" err="1">
                <a:highlight>
                  <a:srgbClr val="EEEDF2"/>
                </a:highlight>
              </a:rPr>
              <a:t>ContentBlock</a:t>
            </a:r>
            <a:r>
              <a:rPr lang="en-US" altLang="zh-CN" dirty="0">
                <a:highlight>
                  <a:srgbClr val="EEEDF2"/>
                </a:highlight>
              </a:rPr>
              <a:t>] = Field(default=[], description="</a:t>
            </a:r>
            <a:r>
              <a:rPr lang="zh-CN" altLang="en-US" dirty="0">
                <a:highlight>
                  <a:srgbClr val="EEEDF2"/>
                </a:highlight>
              </a:rPr>
              <a:t>多模态内容块</a:t>
            </a:r>
            <a:r>
              <a:rPr lang="en-US" altLang="zh-CN" dirty="0">
                <a:highlight>
                  <a:srgbClr val="EEEDF2"/>
                </a:highlight>
              </a:rPr>
              <a:t>")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</a:t>
            </a:r>
            <a:r>
              <a:rPr lang="en-US" altLang="zh-CN" dirty="0" err="1">
                <a:highlight>
                  <a:srgbClr val="EEEDF2"/>
                </a:highlight>
              </a:rPr>
              <a:t>pdf_chunks</a:t>
            </a:r>
            <a:r>
              <a:rPr lang="en-US" altLang="zh-CN" dirty="0">
                <a:highlight>
                  <a:srgbClr val="EEEDF2"/>
                </a:highlight>
              </a:rPr>
              <a:t>: List[</a:t>
            </a:r>
            <a:r>
              <a:rPr lang="en-US" altLang="zh-CN" dirty="0" err="1">
                <a:highlight>
                  <a:srgbClr val="EEEDF2"/>
                </a:highlight>
              </a:rPr>
              <a:t>Dict</a:t>
            </a:r>
            <a:r>
              <a:rPr lang="en-US" altLang="zh-CN" dirty="0">
                <a:highlight>
                  <a:srgbClr val="EEEDF2"/>
                </a:highlight>
              </a:rPr>
              <a:t>[str, Any]] = Field(default=[], description="PDF</a:t>
            </a:r>
            <a:r>
              <a:rPr lang="zh-CN" altLang="en-US" dirty="0">
                <a:highlight>
                  <a:srgbClr val="EEEDF2"/>
                </a:highlight>
              </a:rPr>
              <a:t>文档块信息</a:t>
            </a:r>
            <a:r>
              <a:rPr lang="en-US" altLang="zh-CN" dirty="0">
                <a:highlight>
                  <a:srgbClr val="EEEDF2"/>
                </a:highlight>
              </a:rPr>
              <a:t>")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history: List[</a:t>
            </a:r>
            <a:r>
              <a:rPr lang="en-US" altLang="zh-CN" dirty="0" err="1">
                <a:highlight>
                  <a:srgbClr val="EEEDF2"/>
                </a:highlight>
              </a:rPr>
              <a:t>Dict</a:t>
            </a:r>
            <a:r>
              <a:rPr lang="en-US" altLang="zh-CN" dirty="0">
                <a:highlight>
                  <a:srgbClr val="EEEDF2"/>
                </a:highlight>
              </a:rPr>
              <a:t>[str, Any]] = Field(default=[], description="</a:t>
            </a:r>
            <a:r>
              <a:rPr lang="zh-CN" altLang="en-US" dirty="0">
                <a:highlight>
                  <a:srgbClr val="EEEDF2"/>
                </a:highlight>
              </a:rPr>
              <a:t>对话历史</a:t>
            </a:r>
            <a:r>
              <a:rPr lang="en-US" altLang="zh-CN" dirty="0">
                <a:highlight>
                  <a:srgbClr val="EEEDF2"/>
                </a:highlight>
              </a:rPr>
              <a:t>")</a:t>
            </a:r>
          </a:p>
          <a:p>
            <a:r>
              <a:rPr lang="en-US" altLang="zh-CN" dirty="0">
                <a:highlight>
                  <a:srgbClr val="EEEDF2"/>
                </a:highlight>
              </a:rPr>
              <a:t> model: str = Field(default="qwen-3-235b-a22b-thinking-2507", description="</a:t>
            </a:r>
            <a:r>
              <a:rPr lang="zh-CN" altLang="en-US" dirty="0">
                <a:highlight>
                  <a:srgbClr val="EEEDF2"/>
                </a:highlight>
              </a:rPr>
              <a:t>使用的模型</a:t>
            </a:r>
            <a:r>
              <a:rPr lang="en-US" altLang="zh-CN" dirty="0">
                <a:highlight>
                  <a:srgbClr val="EEEDF2"/>
                </a:highlight>
              </a:rPr>
              <a:t>")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350" y="486251"/>
            <a:ext cx="2299097" cy="28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统一的流式响应生成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7350" y="1003459"/>
            <a:ext cx="13215699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系统实现了高性能的流式响应机制,支持实时返回AI生成的内容: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07350" y="1316712"/>
            <a:ext cx="13215699" cy="6426756"/>
          </a:xfrm>
          <a:prstGeom prst="roundRect">
            <a:avLst>
              <a:gd name="adj" fmla="val 268"/>
            </a:avLst>
          </a:prstGeom>
          <a:solidFill>
            <a:srgbClr val="EEEDF2"/>
          </a:solidFill>
          <a:ln/>
        </p:spPr>
      </p:sp>
      <p:sp>
        <p:nvSpPr>
          <p:cNvPr id="5" name="Shape 3"/>
          <p:cNvSpPr/>
          <p:nvPr/>
        </p:nvSpPr>
        <p:spPr>
          <a:xfrm>
            <a:off x="701635" y="1316712"/>
            <a:ext cx="13227129" cy="6426756"/>
          </a:xfrm>
          <a:prstGeom prst="roundRect">
            <a:avLst>
              <a:gd name="adj" fmla="val 268"/>
            </a:avLst>
          </a:prstGeom>
          <a:solidFill>
            <a:srgbClr val="EEEDF2"/>
          </a:solidFill>
          <a:ln/>
        </p:spPr>
      </p:sp>
      <p:sp>
        <p:nvSpPr>
          <p:cNvPr id="6" name="Text 4"/>
          <p:cNvSpPr/>
          <p:nvPr/>
        </p:nvSpPr>
        <p:spPr>
          <a:xfrm>
            <a:off x="816531" y="1402913"/>
            <a:ext cx="12997339" cy="6254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1200" dirty="0">
                <a:highlight>
                  <a:srgbClr val="EEEDF2"/>
                </a:highlight>
              </a:rPr>
              <a:t>async def </a:t>
            </a:r>
            <a:r>
              <a:rPr lang="en-US" altLang="zh-CN" sz="1200" dirty="0" err="1">
                <a:highlight>
                  <a:srgbClr val="EEEDF2"/>
                </a:highlight>
              </a:rPr>
              <a:t>generate_streaming_response</a:t>
            </a:r>
            <a:r>
              <a:rPr lang="en-US" altLang="zh-CN" sz="1200" dirty="0">
                <a:highlight>
                  <a:srgbClr val="EEEDF2"/>
                </a:highlight>
              </a:rPr>
              <a:t>(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messages: List[</a:t>
            </a:r>
            <a:r>
              <a:rPr lang="en-US" altLang="zh-CN" sz="1200" dirty="0" err="1">
                <a:highlight>
                  <a:srgbClr val="EEEDF2"/>
                </a:highlight>
              </a:rPr>
              <a:t>BaseMessage</a:t>
            </a:r>
            <a:r>
              <a:rPr lang="en-US" altLang="zh-CN" sz="1200" dirty="0">
                <a:highlight>
                  <a:srgbClr val="EEEDF2"/>
                </a:highlight>
              </a:rPr>
              <a:t>],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</a:t>
            </a:r>
            <a:r>
              <a:rPr lang="en-US" altLang="zh-CN" sz="1200" dirty="0" err="1">
                <a:highlight>
                  <a:srgbClr val="EEEDF2"/>
                </a:highlight>
              </a:rPr>
              <a:t>model_name</a:t>
            </a:r>
            <a:r>
              <a:rPr lang="en-US" altLang="zh-CN" sz="1200" dirty="0">
                <a:highlight>
                  <a:srgbClr val="EEEDF2"/>
                </a:highlight>
              </a:rPr>
              <a:t>: str,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</a:t>
            </a:r>
            <a:r>
              <a:rPr lang="en-US" altLang="zh-CN" sz="1200" dirty="0" err="1">
                <a:highlight>
                  <a:srgbClr val="EEEDF2"/>
                </a:highlight>
              </a:rPr>
              <a:t>pdf_chunks</a:t>
            </a:r>
            <a:r>
              <a:rPr lang="en-US" altLang="zh-CN" sz="1200" dirty="0">
                <a:highlight>
                  <a:srgbClr val="EEEDF2"/>
                </a:highlight>
              </a:rPr>
              <a:t>: List[</a:t>
            </a:r>
            <a:r>
              <a:rPr lang="en-US" altLang="zh-CN" sz="1200" dirty="0" err="1">
                <a:highlight>
                  <a:srgbClr val="EEEDF2"/>
                </a:highlight>
              </a:rPr>
              <a:t>Dict</a:t>
            </a:r>
            <a:r>
              <a:rPr lang="en-US" altLang="zh-CN" sz="1200" dirty="0">
                <a:highlight>
                  <a:srgbClr val="EEEDF2"/>
                </a:highlight>
              </a:rPr>
              <a:t>[str, Any]] = None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) -&gt; </a:t>
            </a:r>
            <a:r>
              <a:rPr lang="en-US" altLang="zh-CN" sz="1200" dirty="0" err="1">
                <a:highlight>
                  <a:srgbClr val="EEEDF2"/>
                </a:highlight>
              </a:rPr>
              <a:t>AsyncGenerator</a:t>
            </a:r>
            <a:r>
              <a:rPr lang="en-US" altLang="zh-CN" sz="1200" dirty="0">
                <a:highlight>
                  <a:srgbClr val="EEEDF2"/>
                </a:highlight>
              </a:rPr>
              <a:t>[str, None]: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"""</a:t>
            </a:r>
            <a:r>
              <a:rPr lang="zh-CN" altLang="en-US" sz="1200" dirty="0">
                <a:highlight>
                  <a:srgbClr val="EEEDF2"/>
                </a:highlight>
              </a:rPr>
              <a:t>生成流式响应</a:t>
            </a:r>
            <a:r>
              <a:rPr lang="en-US" altLang="zh-CN" sz="1200" dirty="0">
                <a:highlight>
                  <a:srgbClr val="EEEDF2"/>
                </a:highlight>
              </a:rPr>
              <a:t>"""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# </a:t>
            </a:r>
            <a:r>
              <a:rPr lang="zh-CN" altLang="en-US" sz="1200" dirty="0">
                <a:highlight>
                  <a:srgbClr val="EEEDF2"/>
                </a:highlight>
              </a:rPr>
              <a:t>如果有</a:t>
            </a:r>
            <a:r>
              <a:rPr lang="en-US" altLang="zh-CN" sz="1200" dirty="0">
                <a:highlight>
                  <a:srgbClr val="EEEDF2"/>
                </a:highlight>
              </a:rPr>
              <a:t>PDF</a:t>
            </a:r>
            <a:r>
              <a:rPr lang="zh-CN" altLang="en-US" sz="1200" dirty="0">
                <a:highlight>
                  <a:srgbClr val="EEEDF2"/>
                </a:highlight>
              </a:rPr>
              <a:t>内容</a:t>
            </a:r>
            <a:r>
              <a:rPr lang="en-US" altLang="zh-CN" sz="1200" dirty="0">
                <a:highlight>
                  <a:srgbClr val="EEEDF2"/>
                </a:highlight>
              </a:rPr>
              <a:t>,</a:t>
            </a:r>
            <a:r>
              <a:rPr lang="zh-CN" altLang="en-US" sz="1200" dirty="0">
                <a:highlight>
                  <a:srgbClr val="EEEDF2"/>
                </a:highlight>
              </a:rPr>
              <a:t>添加到上下文</a:t>
            </a:r>
          </a:p>
          <a:p>
            <a:r>
              <a:rPr lang="zh-CN" altLang="en-US" sz="1200" dirty="0">
                <a:highlight>
                  <a:srgbClr val="EEEDF2"/>
                </a:highlight>
              </a:rPr>
              <a:t> </a:t>
            </a:r>
            <a:r>
              <a:rPr lang="en-US" altLang="zh-CN" sz="1200" dirty="0">
                <a:highlight>
                  <a:srgbClr val="EEEDF2"/>
                </a:highlight>
              </a:rPr>
              <a:t>if </a:t>
            </a:r>
            <a:r>
              <a:rPr lang="en-US" altLang="zh-CN" sz="1200" dirty="0" err="1">
                <a:highlight>
                  <a:srgbClr val="EEEDF2"/>
                </a:highlight>
              </a:rPr>
              <a:t>pdf_chunks</a:t>
            </a:r>
            <a:r>
              <a:rPr lang="en-US" altLang="zh-CN" sz="1200" dirty="0">
                <a:highlight>
                  <a:srgbClr val="EEEDF2"/>
                </a:highlight>
              </a:rPr>
              <a:t>: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</a:t>
            </a:r>
            <a:r>
              <a:rPr lang="en-US" altLang="zh-CN" sz="1200" dirty="0" err="1">
                <a:highlight>
                  <a:srgbClr val="EEEDF2"/>
                </a:highlight>
              </a:rPr>
              <a:t>pdf_content</a:t>
            </a:r>
            <a:r>
              <a:rPr lang="en-US" altLang="zh-CN" sz="1200" dirty="0">
                <a:highlight>
                  <a:srgbClr val="EEEDF2"/>
                </a:highlight>
              </a:rPr>
              <a:t> = "\n\n=== </a:t>
            </a:r>
            <a:r>
              <a:rPr lang="zh-CN" altLang="en-US" sz="1200" dirty="0">
                <a:highlight>
                  <a:srgbClr val="EEEDF2"/>
                </a:highlight>
              </a:rPr>
              <a:t>参考文档内容 </a:t>
            </a:r>
            <a:r>
              <a:rPr lang="en-US" altLang="zh-CN" sz="1200" dirty="0">
                <a:highlight>
                  <a:srgbClr val="EEEDF2"/>
                </a:highlight>
              </a:rPr>
              <a:t>===\n"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for </a:t>
            </a:r>
            <a:r>
              <a:rPr lang="en-US" altLang="zh-CN" sz="1200" dirty="0" err="1">
                <a:highlight>
                  <a:srgbClr val="EEEDF2"/>
                </a:highlight>
              </a:rPr>
              <a:t>i</a:t>
            </a:r>
            <a:r>
              <a:rPr lang="en-US" altLang="zh-CN" sz="1200" dirty="0">
                <a:highlight>
                  <a:srgbClr val="EEEDF2"/>
                </a:highlight>
              </a:rPr>
              <a:t>, chunk in enumerate(</a:t>
            </a:r>
            <a:r>
              <a:rPr lang="en-US" altLang="zh-CN" sz="1200" dirty="0" err="1">
                <a:highlight>
                  <a:srgbClr val="EEEDF2"/>
                </a:highlight>
              </a:rPr>
              <a:t>pdf_chunks</a:t>
            </a:r>
            <a:r>
              <a:rPr lang="en-US" altLang="zh-CN" sz="1200" dirty="0">
                <a:highlight>
                  <a:srgbClr val="EEEDF2"/>
                </a:highlight>
              </a:rPr>
              <a:t>, 1):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content = </a:t>
            </a:r>
            <a:r>
              <a:rPr lang="en-US" altLang="zh-CN" sz="1200" dirty="0" err="1">
                <a:highlight>
                  <a:srgbClr val="EEEDF2"/>
                </a:highlight>
              </a:rPr>
              <a:t>chunk.get</a:t>
            </a:r>
            <a:r>
              <a:rPr lang="en-US" altLang="zh-CN" sz="1200" dirty="0">
                <a:highlight>
                  <a:srgbClr val="EEEDF2"/>
                </a:highlight>
              </a:rPr>
              <a:t>("content", "")[:500]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</a:t>
            </a:r>
            <a:r>
              <a:rPr lang="en-US" altLang="zh-CN" sz="1200" dirty="0" err="1">
                <a:highlight>
                  <a:srgbClr val="EEEDF2"/>
                </a:highlight>
              </a:rPr>
              <a:t>source_info</a:t>
            </a:r>
            <a:r>
              <a:rPr lang="en-US" altLang="zh-CN" sz="1200" dirty="0">
                <a:highlight>
                  <a:srgbClr val="EEEDF2"/>
                </a:highlight>
              </a:rPr>
              <a:t> = </a:t>
            </a:r>
            <a:r>
              <a:rPr lang="en-US" altLang="zh-CN" sz="1200" dirty="0" err="1">
                <a:highlight>
                  <a:srgbClr val="EEEDF2"/>
                </a:highlight>
              </a:rPr>
              <a:t>chunk.get</a:t>
            </a:r>
            <a:r>
              <a:rPr lang="en-US" altLang="zh-CN" sz="1200" dirty="0">
                <a:highlight>
                  <a:srgbClr val="EEEDF2"/>
                </a:highlight>
              </a:rPr>
              <a:t>("metadata", {}).get("</a:t>
            </a:r>
            <a:r>
              <a:rPr lang="en-US" altLang="zh-CN" sz="1200" dirty="0" err="1">
                <a:highlight>
                  <a:srgbClr val="EEEDF2"/>
                </a:highlight>
              </a:rPr>
              <a:t>source_info</a:t>
            </a:r>
            <a:r>
              <a:rPr lang="en-US" altLang="zh-CN" sz="1200" dirty="0">
                <a:highlight>
                  <a:srgbClr val="EEEDF2"/>
                </a:highlight>
              </a:rPr>
              <a:t>", f"</a:t>
            </a:r>
            <a:r>
              <a:rPr lang="zh-CN" altLang="en-US" sz="1200" dirty="0">
                <a:highlight>
                  <a:srgbClr val="EEEDF2"/>
                </a:highlight>
              </a:rPr>
              <a:t>文档块 </a:t>
            </a:r>
            <a:r>
              <a:rPr lang="en-US" altLang="zh-CN" sz="1200" dirty="0">
                <a:highlight>
                  <a:srgbClr val="EEEDF2"/>
                </a:highlight>
              </a:rPr>
              <a:t>{</a:t>
            </a:r>
            <a:r>
              <a:rPr lang="en-US" altLang="zh-CN" sz="1200" dirty="0" err="1">
                <a:highlight>
                  <a:srgbClr val="EEEDF2"/>
                </a:highlight>
              </a:rPr>
              <a:t>i</a:t>
            </a:r>
            <a:r>
              <a:rPr lang="en-US" altLang="zh-CN" sz="1200" dirty="0">
                <a:highlight>
                  <a:srgbClr val="EEEDF2"/>
                </a:highlight>
              </a:rPr>
              <a:t>}")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</a:t>
            </a:r>
            <a:r>
              <a:rPr lang="en-US" altLang="zh-CN" sz="1200" dirty="0" err="1">
                <a:highlight>
                  <a:srgbClr val="EEEDF2"/>
                </a:highlight>
              </a:rPr>
              <a:t>pdf_content</a:t>
            </a:r>
            <a:r>
              <a:rPr lang="en-US" altLang="zh-CN" sz="1200" dirty="0">
                <a:highlight>
                  <a:srgbClr val="EEEDF2"/>
                </a:highlight>
              </a:rPr>
              <a:t> += f"\n[{</a:t>
            </a:r>
            <a:r>
              <a:rPr lang="en-US" altLang="zh-CN" sz="1200" dirty="0" err="1">
                <a:highlight>
                  <a:srgbClr val="EEEDF2"/>
                </a:highlight>
              </a:rPr>
              <a:t>i</a:t>
            </a:r>
            <a:r>
              <a:rPr lang="en-US" altLang="zh-CN" sz="1200" dirty="0">
                <a:highlight>
                  <a:srgbClr val="EEEDF2"/>
                </a:highlight>
              </a:rPr>
              <a:t>}] {content}\n</a:t>
            </a:r>
            <a:r>
              <a:rPr lang="zh-CN" altLang="en-US" sz="1200" dirty="0">
                <a:highlight>
                  <a:srgbClr val="EEEDF2"/>
                </a:highlight>
              </a:rPr>
              <a:t>来源</a:t>
            </a:r>
            <a:r>
              <a:rPr lang="en-US" altLang="zh-CN" sz="1200" dirty="0">
                <a:highlight>
                  <a:srgbClr val="EEEDF2"/>
                </a:highlight>
              </a:rPr>
              <a:t>: {</a:t>
            </a:r>
            <a:r>
              <a:rPr lang="en-US" altLang="zh-CN" sz="1200" dirty="0" err="1">
                <a:highlight>
                  <a:srgbClr val="EEEDF2"/>
                </a:highlight>
              </a:rPr>
              <a:t>source_info</a:t>
            </a:r>
            <a:r>
              <a:rPr lang="en-US" altLang="zh-CN" sz="1200" dirty="0">
                <a:highlight>
                  <a:srgbClr val="EEEDF2"/>
                </a:highlight>
              </a:rPr>
              <a:t>}\n"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# </a:t>
            </a:r>
            <a:r>
              <a:rPr lang="zh-CN" altLang="en-US" sz="1200" dirty="0">
                <a:highlight>
                  <a:srgbClr val="EEEDF2"/>
                </a:highlight>
              </a:rPr>
              <a:t>添加到最后一条用户消息</a:t>
            </a:r>
          </a:p>
          <a:p>
            <a:r>
              <a:rPr lang="zh-CN" altLang="en-US" sz="1200" dirty="0">
                <a:highlight>
                  <a:srgbClr val="EEEDF2"/>
                </a:highlight>
              </a:rPr>
              <a:t> </a:t>
            </a:r>
            <a:r>
              <a:rPr lang="en-US" altLang="zh-CN" sz="1200" dirty="0">
                <a:highlight>
                  <a:srgbClr val="EEEDF2"/>
                </a:highlight>
              </a:rPr>
              <a:t>if messages and </a:t>
            </a:r>
            <a:r>
              <a:rPr lang="en-US" altLang="zh-CN" sz="1200" dirty="0" err="1">
                <a:highlight>
                  <a:srgbClr val="EEEDF2"/>
                </a:highlight>
              </a:rPr>
              <a:t>isinstance</a:t>
            </a:r>
            <a:r>
              <a:rPr lang="en-US" altLang="zh-CN" sz="1200" dirty="0">
                <a:highlight>
                  <a:srgbClr val="EEEDF2"/>
                </a:highlight>
              </a:rPr>
              <a:t>(messages[-1], </a:t>
            </a:r>
            <a:r>
              <a:rPr lang="en-US" altLang="zh-CN" sz="1200" dirty="0" err="1">
                <a:highlight>
                  <a:srgbClr val="EEEDF2"/>
                </a:highlight>
              </a:rPr>
              <a:t>HumanMessage</a:t>
            </a:r>
            <a:r>
              <a:rPr lang="en-US" altLang="zh-CN" sz="1200" dirty="0">
                <a:highlight>
                  <a:srgbClr val="EEEDF2"/>
                </a:highlight>
              </a:rPr>
              <a:t>):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if </a:t>
            </a:r>
            <a:r>
              <a:rPr lang="en-US" altLang="zh-CN" sz="1200" dirty="0" err="1">
                <a:highlight>
                  <a:srgbClr val="EEEDF2"/>
                </a:highlight>
              </a:rPr>
              <a:t>isinstance</a:t>
            </a:r>
            <a:r>
              <a:rPr lang="en-US" altLang="zh-CN" sz="1200" dirty="0">
                <a:highlight>
                  <a:srgbClr val="EEEDF2"/>
                </a:highlight>
              </a:rPr>
              <a:t>(messages[-1].content, str):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messages[-1].content += </a:t>
            </a:r>
            <a:r>
              <a:rPr lang="en-US" altLang="zh-CN" sz="1200" dirty="0" err="1">
                <a:highlight>
                  <a:srgbClr val="EEEDF2"/>
                </a:highlight>
              </a:rPr>
              <a:t>pdf_content</a:t>
            </a:r>
            <a:endParaRPr lang="en-US" altLang="zh-CN" sz="1200" dirty="0">
              <a:highlight>
                <a:srgbClr val="EEEDF2"/>
              </a:highlight>
            </a:endParaRPr>
          </a:p>
          <a:p>
            <a:r>
              <a:rPr lang="en-US" altLang="zh-CN" sz="1200" dirty="0">
                <a:highlight>
                  <a:srgbClr val="EEEDF2"/>
                </a:highlight>
              </a:rPr>
              <a:t> 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model = </a:t>
            </a:r>
            <a:r>
              <a:rPr lang="en-US" altLang="zh-CN" sz="1200" dirty="0" err="1">
                <a:highlight>
                  <a:srgbClr val="EEEDF2"/>
                </a:highlight>
              </a:rPr>
              <a:t>get_chat_model</a:t>
            </a:r>
            <a:r>
              <a:rPr lang="en-US" altLang="zh-CN" sz="1200" dirty="0">
                <a:highlight>
                  <a:srgbClr val="EEEDF2"/>
                </a:highlight>
              </a:rPr>
              <a:t>(</a:t>
            </a:r>
            <a:r>
              <a:rPr lang="en-US" altLang="zh-CN" sz="1200" dirty="0" err="1">
                <a:highlight>
                  <a:srgbClr val="EEEDF2"/>
                </a:highlight>
              </a:rPr>
              <a:t>model_name</a:t>
            </a:r>
            <a:r>
              <a:rPr lang="en-US" altLang="zh-CN" sz="1200" dirty="0">
                <a:highlight>
                  <a:srgbClr val="EEEDF2"/>
                </a:highlight>
              </a:rPr>
              <a:t>)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# </a:t>
            </a:r>
            <a:r>
              <a:rPr lang="zh-CN" altLang="en-US" sz="1200" dirty="0">
                <a:highlight>
                  <a:srgbClr val="EEEDF2"/>
                </a:highlight>
              </a:rPr>
              <a:t>流式生成</a:t>
            </a:r>
          </a:p>
          <a:p>
            <a:r>
              <a:rPr lang="zh-CN" altLang="en-US" sz="1200" dirty="0">
                <a:highlight>
                  <a:srgbClr val="EEEDF2"/>
                </a:highlight>
              </a:rPr>
              <a:t> </a:t>
            </a:r>
            <a:r>
              <a:rPr lang="en-US" altLang="zh-CN" sz="1200" dirty="0" err="1">
                <a:highlight>
                  <a:srgbClr val="EEEDF2"/>
                </a:highlight>
              </a:rPr>
              <a:t>full_response</a:t>
            </a:r>
            <a:r>
              <a:rPr lang="en-US" altLang="zh-CN" sz="1200" dirty="0">
                <a:highlight>
                  <a:srgbClr val="EEEDF2"/>
                </a:highlight>
              </a:rPr>
              <a:t> = ""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async for chunk in </a:t>
            </a:r>
            <a:r>
              <a:rPr lang="en-US" altLang="zh-CN" sz="1200" dirty="0" err="1">
                <a:highlight>
                  <a:srgbClr val="EEEDF2"/>
                </a:highlight>
              </a:rPr>
              <a:t>model.astream</a:t>
            </a:r>
            <a:r>
              <a:rPr lang="en-US" altLang="zh-CN" sz="1200" dirty="0">
                <a:highlight>
                  <a:srgbClr val="EEEDF2"/>
                </a:highlight>
              </a:rPr>
              <a:t>(messages):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if </a:t>
            </a:r>
            <a:r>
              <a:rPr lang="en-US" altLang="zh-CN" sz="1200" dirty="0" err="1">
                <a:highlight>
                  <a:srgbClr val="EEEDF2"/>
                </a:highlight>
              </a:rPr>
              <a:t>hasattr</a:t>
            </a:r>
            <a:r>
              <a:rPr lang="en-US" altLang="zh-CN" sz="1200" dirty="0">
                <a:highlight>
                  <a:srgbClr val="EEEDF2"/>
                </a:highlight>
              </a:rPr>
              <a:t>(chunk, 'content') and </a:t>
            </a:r>
            <a:r>
              <a:rPr lang="en-US" altLang="zh-CN" sz="1200" dirty="0" err="1">
                <a:highlight>
                  <a:srgbClr val="EEEDF2"/>
                </a:highlight>
              </a:rPr>
              <a:t>chunk.content</a:t>
            </a:r>
            <a:r>
              <a:rPr lang="en-US" altLang="zh-CN" sz="1200" dirty="0">
                <a:highlight>
                  <a:srgbClr val="EEEDF2"/>
                </a:highlight>
              </a:rPr>
              <a:t>: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</a:t>
            </a:r>
            <a:r>
              <a:rPr lang="en-US" altLang="zh-CN" sz="1200" dirty="0" err="1">
                <a:highlight>
                  <a:srgbClr val="EEEDF2"/>
                </a:highlight>
              </a:rPr>
              <a:t>full_response</a:t>
            </a:r>
            <a:r>
              <a:rPr lang="en-US" altLang="zh-CN" sz="1200" dirty="0">
                <a:highlight>
                  <a:srgbClr val="EEEDF2"/>
                </a:highlight>
              </a:rPr>
              <a:t> += </a:t>
            </a:r>
            <a:r>
              <a:rPr lang="en-US" altLang="zh-CN" sz="1200" dirty="0" err="1">
                <a:highlight>
                  <a:srgbClr val="EEEDF2"/>
                </a:highlight>
              </a:rPr>
              <a:t>chunk.content</a:t>
            </a:r>
            <a:endParaRPr lang="en-US" altLang="zh-CN" sz="1200" dirty="0">
              <a:highlight>
                <a:srgbClr val="EEEDF2"/>
              </a:highlight>
            </a:endParaRPr>
          </a:p>
          <a:p>
            <a:r>
              <a:rPr lang="en-US" altLang="zh-CN" sz="1200" dirty="0">
                <a:highlight>
                  <a:srgbClr val="EEEDF2"/>
                </a:highlight>
              </a:rPr>
              <a:t> 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data = {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"type": "</a:t>
            </a:r>
            <a:r>
              <a:rPr lang="en-US" altLang="zh-CN" sz="1200" dirty="0" err="1">
                <a:highlight>
                  <a:srgbClr val="EEEDF2"/>
                </a:highlight>
              </a:rPr>
              <a:t>content_delta</a:t>
            </a:r>
            <a:r>
              <a:rPr lang="en-US" altLang="zh-CN" sz="1200" dirty="0">
                <a:highlight>
                  <a:srgbClr val="EEEDF2"/>
                </a:highlight>
              </a:rPr>
              <a:t>",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"content": </a:t>
            </a:r>
            <a:r>
              <a:rPr lang="en-US" altLang="zh-CN" sz="1200" dirty="0" err="1">
                <a:highlight>
                  <a:srgbClr val="EEEDF2"/>
                </a:highlight>
              </a:rPr>
              <a:t>chunk.content</a:t>
            </a:r>
            <a:r>
              <a:rPr lang="en-US" altLang="zh-CN" sz="1200" dirty="0">
                <a:highlight>
                  <a:srgbClr val="EEEDF2"/>
                </a:highlight>
              </a:rPr>
              <a:t>,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"timestamp": </a:t>
            </a:r>
            <a:r>
              <a:rPr lang="en-US" altLang="zh-CN" sz="1200" dirty="0" err="1">
                <a:highlight>
                  <a:srgbClr val="EEEDF2"/>
                </a:highlight>
              </a:rPr>
              <a:t>datetime.now</a:t>
            </a:r>
            <a:r>
              <a:rPr lang="en-US" altLang="zh-CN" sz="1200" dirty="0">
                <a:highlight>
                  <a:srgbClr val="EEEDF2"/>
                </a:highlight>
              </a:rPr>
              <a:t>().</a:t>
            </a:r>
            <a:r>
              <a:rPr lang="en-US" altLang="zh-CN" sz="1200" dirty="0" err="1">
                <a:highlight>
                  <a:srgbClr val="EEEDF2"/>
                </a:highlight>
              </a:rPr>
              <a:t>isoformat</a:t>
            </a:r>
            <a:r>
              <a:rPr lang="en-US" altLang="zh-CN" sz="1200" dirty="0">
                <a:highlight>
                  <a:srgbClr val="EEEDF2"/>
                </a:highlight>
              </a:rPr>
              <a:t>()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}</a:t>
            </a:r>
          </a:p>
          <a:p>
            <a:r>
              <a:rPr lang="en-US" altLang="zh-CN" sz="1200" dirty="0">
                <a:highlight>
                  <a:srgbClr val="EEEDF2"/>
                </a:highlight>
              </a:rPr>
              <a:t> yield </a:t>
            </a:r>
            <a:r>
              <a:rPr lang="en-US" altLang="zh-CN" sz="1200" dirty="0" err="1">
                <a:highlight>
                  <a:srgbClr val="EEEDF2"/>
                </a:highlight>
              </a:rPr>
              <a:t>f"data</a:t>
            </a:r>
            <a:r>
              <a:rPr lang="en-US" altLang="zh-CN" sz="1200" dirty="0">
                <a:highlight>
                  <a:srgbClr val="EEEDF2"/>
                </a:highlight>
              </a:rPr>
              <a:t>: {</a:t>
            </a:r>
            <a:r>
              <a:rPr lang="en-US" altLang="zh-CN" sz="1200" dirty="0" err="1">
                <a:highlight>
                  <a:srgbClr val="EEEDF2"/>
                </a:highlight>
              </a:rPr>
              <a:t>json.dumps</a:t>
            </a:r>
            <a:r>
              <a:rPr lang="en-US" altLang="zh-CN" sz="1200" dirty="0">
                <a:highlight>
                  <a:srgbClr val="EEEDF2"/>
                </a:highlight>
              </a:rPr>
              <a:t>(data, </a:t>
            </a:r>
            <a:r>
              <a:rPr lang="en-US" altLang="zh-CN" sz="1200" dirty="0" err="1">
                <a:highlight>
                  <a:srgbClr val="EEEDF2"/>
                </a:highlight>
              </a:rPr>
              <a:t>ensure_ascii</a:t>
            </a:r>
            <a:r>
              <a:rPr lang="en-US" altLang="zh-CN" sz="1200" dirty="0">
                <a:highlight>
                  <a:srgbClr val="EEEDF2"/>
                </a:highlight>
              </a:rPr>
              <a:t>=False)}\n\n"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0793"/>
            <a:ext cx="436518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项目核心价值与应用场景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572941"/>
            <a:ext cx="41821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5150" dirty="0"/>
          </a:p>
        </p:txBody>
      </p:sp>
      <p:sp>
        <p:nvSpPr>
          <p:cNvPr id="4" name="Text 2"/>
          <p:cNvSpPr/>
          <p:nvPr/>
        </p:nvSpPr>
        <p:spPr>
          <a:xfrm>
            <a:off x="1644372" y="34759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多模态支持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905131"/>
            <a:ext cx="41821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文本、图像、PDF、音频四种输入方式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223986" y="2572941"/>
            <a:ext cx="41823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60%</a:t>
            </a:r>
            <a:endParaRPr lang="en-US" sz="5150" dirty="0"/>
          </a:p>
        </p:txBody>
      </p:sp>
      <p:sp>
        <p:nvSpPr>
          <p:cNvPr id="7" name="Text 5"/>
          <p:cNvSpPr/>
          <p:nvPr/>
        </p:nvSpPr>
        <p:spPr>
          <a:xfrm>
            <a:off x="6074688" y="34759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效率提升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223986" y="3905131"/>
            <a:ext cx="41823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减少信息查找时间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54302" y="2572941"/>
            <a:ext cx="41823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3-5x</a:t>
            </a:r>
            <a:endParaRPr lang="en-US" sz="5150" dirty="0"/>
          </a:p>
        </p:txBody>
      </p:sp>
      <p:sp>
        <p:nvSpPr>
          <p:cNvPr id="10" name="Text 8"/>
          <p:cNvSpPr/>
          <p:nvPr/>
        </p:nvSpPr>
        <p:spPr>
          <a:xfrm>
            <a:off x="10505003" y="34759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性能优化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654302" y="3905131"/>
            <a:ext cx="41823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流式处理性能提升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452032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核心应用场景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93790" y="532649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知识管理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93790" y="5835015"/>
            <a:ext cx="402431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文档智能问答、技术文档查询,快速获取关键信息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309830" y="532649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业务支持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5309830" y="5835015"/>
            <a:ext cx="402431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合同条款分析、财务报表解读,快速分析文档关键内容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825871" y="532649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客户服务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825871" y="5835015"/>
            <a:ext cx="402431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产品说明书问答、售后支持,快速定位问题解决方案</a:t>
            </a:r>
            <a:endParaRPr lang="en-US" sz="15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8B324-1FA9-4169-F957-0059EB18C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5682249-68EE-28C4-6E76-B31F5E93D304}"/>
              </a:ext>
            </a:extLst>
          </p:cNvPr>
          <p:cNvSpPr/>
          <p:nvPr/>
        </p:nvSpPr>
        <p:spPr>
          <a:xfrm>
            <a:off x="793790" y="33829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第</a:t>
            </a:r>
            <a:r>
              <a:rPr lang="zh-CN" alt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四</a:t>
            </a:r>
            <a:r>
              <a:rPr lang="en-US" sz="1950" dirty="0" err="1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部分</a:t>
            </a:r>
            <a:endParaRPr lang="en-US" sz="1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FF54B5-3120-9434-CD74-B70FEA8212EA}"/>
              </a:ext>
            </a:extLst>
          </p:cNvPr>
          <p:cNvSpPr/>
          <p:nvPr/>
        </p:nvSpPr>
        <p:spPr>
          <a:xfrm>
            <a:off x="793790" y="3990737"/>
            <a:ext cx="6847642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 err="1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项目展示</a:t>
            </a:r>
            <a:endParaRPr lang="en-US" sz="5350" dirty="0"/>
          </a:p>
        </p:txBody>
      </p:sp>
    </p:spTree>
    <p:extLst>
      <p:ext uri="{BB962C8B-B14F-4D97-AF65-F5344CB8AC3E}">
        <p14:creationId xmlns:p14="http://schemas.microsoft.com/office/powerpoint/2010/main" val="16197817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8076AF3-58F6-E5ED-2651-A9E4A75D3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355" y="1123081"/>
            <a:ext cx="5270090" cy="654712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1A9244C-63C7-06CD-F061-D2147EC89ED3}"/>
              </a:ext>
            </a:extLst>
          </p:cNvPr>
          <p:cNvSpPr txBox="1"/>
          <p:nvPr/>
        </p:nvSpPr>
        <p:spPr>
          <a:xfrm>
            <a:off x="376517" y="408790"/>
            <a:ext cx="7315200" cy="846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6700"/>
              </a:lnSpc>
              <a:buNone/>
            </a:pPr>
            <a:r>
              <a:rPr lang="zh-CN" altLang="en-US" sz="3200" dirty="0">
                <a:solidFill>
                  <a:srgbClr val="403CCF"/>
                </a:solidFill>
                <a:latin typeface="Libre Baskerville" pitchFamily="34" charset="0"/>
              </a:rPr>
              <a:t>基础问答</a:t>
            </a:r>
            <a:endParaRPr lang="en-US" altLang="zh-CN" sz="32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E352852-CAEB-2AC6-0457-ADCF22A63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1421" y="1879166"/>
            <a:ext cx="5474522" cy="240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439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8AC35-63D2-7C71-AF26-EC88D1ADD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66A5EE7-0F73-11E2-0EC5-D37A315BAEC1}"/>
              </a:ext>
            </a:extLst>
          </p:cNvPr>
          <p:cNvSpPr txBox="1"/>
          <p:nvPr/>
        </p:nvSpPr>
        <p:spPr>
          <a:xfrm>
            <a:off x="376517" y="408790"/>
            <a:ext cx="7315200" cy="846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6700"/>
              </a:lnSpc>
              <a:buNone/>
            </a:pPr>
            <a:r>
              <a:rPr lang="zh-CN" altLang="en-US" sz="3200" dirty="0">
                <a:solidFill>
                  <a:srgbClr val="403CCF"/>
                </a:solidFill>
                <a:latin typeface="Libre Baskerville" pitchFamily="34" charset="0"/>
              </a:rPr>
              <a:t>图片识别</a:t>
            </a:r>
            <a:endParaRPr lang="en-US" altLang="zh-CN" sz="32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99A7141-52DF-CD1F-7836-3B7C53EEC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76984"/>
            <a:ext cx="9144000" cy="661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8583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E782D-7B5E-6759-141C-95366A1B9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6703631-6314-16BD-B03E-561E0DD9E21A}"/>
              </a:ext>
            </a:extLst>
          </p:cNvPr>
          <p:cNvSpPr txBox="1"/>
          <p:nvPr/>
        </p:nvSpPr>
        <p:spPr>
          <a:xfrm>
            <a:off x="376517" y="408790"/>
            <a:ext cx="7315200" cy="846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6700"/>
              </a:lnSpc>
              <a:buNone/>
            </a:pPr>
            <a:r>
              <a:rPr lang="en-US" altLang="zh-CN" sz="3200" dirty="0">
                <a:solidFill>
                  <a:srgbClr val="403CCF"/>
                </a:solidFill>
                <a:latin typeface="Libre Baskerville" pitchFamily="34" charset="0"/>
              </a:rPr>
              <a:t>Pdf</a:t>
            </a:r>
            <a:r>
              <a:rPr lang="zh-CN" altLang="en-US" sz="3200" dirty="0">
                <a:solidFill>
                  <a:srgbClr val="403CCF"/>
                </a:solidFill>
                <a:latin typeface="Libre Baskerville" pitchFamily="34" charset="0"/>
              </a:rPr>
              <a:t>切分与引用</a:t>
            </a:r>
            <a:endParaRPr lang="en-US" altLang="zh-CN" sz="32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614029F-AC2F-A46C-58DF-66E583340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568" y="1600985"/>
            <a:ext cx="7400925" cy="62198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F135F5D-E0A4-DB91-151A-D551FD81F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104" y="2861534"/>
            <a:ext cx="7766657" cy="417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579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DB124-6E2E-6CB7-837A-9ED842294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ABD5E66-42DF-6A05-08D8-123193EE6408}"/>
              </a:ext>
            </a:extLst>
          </p:cNvPr>
          <p:cNvSpPr txBox="1"/>
          <p:nvPr/>
        </p:nvSpPr>
        <p:spPr>
          <a:xfrm>
            <a:off x="376517" y="268940"/>
            <a:ext cx="7315200" cy="846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6700"/>
              </a:lnSpc>
              <a:buNone/>
            </a:pPr>
            <a:r>
              <a:rPr lang="zh-CN" altLang="en-US" sz="3200" dirty="0">
                <a:solidFill>
                  <a:srgbClr val="403CCF"/>
                </a:solidFill>
                <a:latin typeface="Libre Baskerville" pitchFamily="34" charset="0"/>
              </a:rPr>
              <a:t>音频转录与回答</a:t>
            </a:r>
            <a:endParaRPr lang="en-US" altLang="zh-CN" sz="32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3B30348-244E-99FC-1E1A-D4988964E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860" y="1853915"/>
            <a:ext cx="7953389" cy="546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222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2692</Words>
  <Application>Microsoft Office PowerPoint</Application>
  <PresentationFormat>自定义</PresentationFormat>
  <Paragraphs>473</Paragraphs>
  <Slides>31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6" baseType="lpstr">
      <vt:lpstr>Open Sans</vt:lpstr>
      <vt:lpstr>Arial</vt:lpstr>
      <vt:lpstr>Libre Baskerville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QY Z</cp:lastModifiedBy>
  <cp:revision>4</cp:revision>
  <dcterms:created xsi:type="dcterms:W3CDTF">2025-11-05T14:05:50Z</dcterms:created>
  <dcterms:modified xsi:type="dcterms:W3CDTF">2025-11-05T15:32:22Z</dcterms:modified>
</cp:coreProperties>
</file>