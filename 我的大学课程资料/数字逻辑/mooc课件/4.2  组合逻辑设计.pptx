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9" r:id="rId2"/>
    <p:sldId id="314" r:id="rId3"/>
    <p:sldId id="316" r:id="rId4"/>
    <p:sldId id="317" r:id="rId5"/>
    <p:sldId id="318" r:id="rId6"/>
    <p:sldId id="319" r:id="rId7"/>
    <p:sldId id="320" r:id="rId8"/>
    <p:sldId id="329" r:id="rId9"/>
    <p:sldId id="323" r:id="rId10"/>
    <p:sldId id="322" r:id="rId11"/>
    <p:sldId id="324" r:id="rId12"/>
    <p:sldId id="327" r:id="rId13"/>
    <p:sldId id="328" r:id="rId1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98916" autoAdjust="0"/>
  </p:normalViewPr>
  <p:slideViewPr>
    <p:cSldViewPr>
      <p:cViewPr varScale="1">
        <p:scale>
          <a:sx n="126" d="100"/>
          <a:sy n="126" d="100"/>
        </p:scale>
        <p:origin x="-90" y="-3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w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emf"/><Relationship Id="rId1" Type="http://schemas.openxmlformats.org/officeDocument/2006/relationships/image" Target="../media/image17.wmf"/><Relationship Id="rId6" Type="http://schemas.openxmlformats.org/officeDocument/2006/relationships/image" Target="../media/image22.e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wmf"/><Relationship Id="rId1" Type="http://schemas.openxmlformats.org/officeDocument/2006/relationships/image" Target="../media/image27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2020/12/27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组合逻辑设计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组合逻辑设计的步骤：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95400" y="1428750"/>
            <a:ext cx="161454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  列出真值表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295400" y="2154019"/>
            <a:ext cx="2971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  列出最简逻辑表达式</a:t>
            </a:r>
            <a:endParaRPr kumimoji="1"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r>
              <a:rPr kumimoji="1" lang="en-US" altLang="zh-CN" b="1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（卡诺图进行化简）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295400" y="3193018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  画出电路图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2" grpId="0" autoUpdateAnimBg="0"/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Rectangle 2"/>
          <p:cNvSpPr>
            <a:spLocks noGrp="1" noChangeArrowheads="1"/>
          </p:cNvSpPr>
          <p:nvPr>
            <p:ph type="title"/>
          </p:nvPr>
        </p:nvSpPr>
        <p:spPr>
          <a:xfrm>
            <a:off x="501650" y="1047750"/>
            <a:ext cx="8642350" cy="981075"/>
          </a:xfrm>
        </p:spPr>
        <p:txBody>
          <a:bodyPr/>
          <a:lstStyle/>
          <a:p>
            <a:pPr algn="l"/>
            <a:r>
              <a:rPr lang="zh-CN" altLang="en-US" sz="1400" b="1" dirty="0" smtClean="0">
                <a:solidFill>
                  <a:schemeClr val="tx1"/>
                </a:solidFill>
                <a:latin typeface="微软雅黑" pitchFamily="34" charset="-122"/>
              </a:rPr>
              <a:t>设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</a:rPr>
              <a:t>两个一位二进制数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</a:rPr>
              <a:t>和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</a:rPr>
              <a:t>B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itchFamily="34" charset="-122"/>
              </a:rPr>
              <a:t>，设计一个判别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</a:rPr>
              <a:t>器，若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</a:rPr>
              <a:t>A&gt;B,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</a:rPr>
              <a:t>则输出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</a:rPr>
              <a:t>Y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</a:rPr>
              <a:t>为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</a:rPr>
              <a:t>1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</a:rPr>
              <a:t>，否则输出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</a:rPr>
              <a:t>Y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</a:rPr>
              <a:t>为</a:t>
            </a:r>
            <a:r>
              <a:rPr lang="en-US" altLang="zh-CN" sz="1400" b="1" dirty="0">
                <a:solidFill>
                  <a:schemeClr val="tx1"/>
                </a:solidFill>
                <a:latin typeface="微软雅黑" pitchFamily="34" charset="-122"/>
              </a:rPr>
              <a:t>0.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143000" y="1809750"/>
          <a:ext cx="1292039" cy="2057399"/>
        </p:xfrm>
        <a:graphic>
          <a:graphicData uri="http://schemas.openxmlformats.org/presentationml/2006/ole">
            <p:oleObj spid="_x0000_s1026" name="Visio" r:id="rId3" imgW="739654" imgH="1177715" progId="Visio.Drawing.11">
              <p:embed/>
            </p:oleObj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4953000" y="1809750"/>
          <a:ext cx="971550" cy="381000"/>
        </p:xfrm>
        <a:graphic>
          <a:graphicData uri="http://schemas.openxmlformats.org/presentationml/2006/ole">
            <p:oleObj spid="_x0000_s1027" name="Equation" r:id="rId4" imgW="647640" imgH="253800" progId="Equation.DSMT4">
              <p:embed/>
            </p:oleObj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4419600" y="2571750"/>
          <a:ext cx="2387600" cy="1060450"/>
        </p:xfrm>
        <a:graphic>
          <a:graphicData uri="http://schemas.openxmlformats.org/presentationml/2006/ole">
            <p:oleObj spid="_x0000_s1029" name="Visio" r:id="rId5" imgW="1828761" imgH="774691" progId="Visio.Drawing.11">
              <p:embed/>
            </p:oleObj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1219200" y="142875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-85703" y="0"/>
            <a:ext cx="3243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66800" y="135255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2 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85800" y="590550"/>
            <a:ext cx="6096000" cy="6096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    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设计一位全减器，它有三个输入端：被减数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A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，减数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B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，低位借位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；输出：差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F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，向高位的借位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C’</a:t>
            </a:r>
            <a:r>
              <a:rPr lang="en-US" altLang="zh-CN" sz="1400" kern="0" dirty="0" smtClean="0">
                <a:latin typeface="微软雅黑" pitchFamily="34" charset="-122"/>
                <a:ea typeface="微软雅黑" pitchFamily="34" charset="-122"/>
              </a:rPr>
              <a:t>.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3" name="Picture 5" descr="C:\Users\hfutliujun\AppData\Roaming\Tencent\Users\350654676\QQ\WinTemp\RichOle\LT{@D@H%]3X)YF4ZKU0O5I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733550"/>
            <a:ext cx="1688495" cy="2438400"/>
          </a:xfrm>
          <a:prstGeom prst="rect">
            <a:avLst/>
          </a:prstGeom>
          <a:noFill/>
        </p:spPr>
      </p:pic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3352800" y="1581150"/>
          <a:ext cx="1981200" cy="1084052"/>
        </p:xfrm>
        <a:graphic>
          <a:graphicData uri="http://schemas.openxmlformats.org/presentationml/2006/ole">
            <p:oleObj spid="_x0000_s2054" name="Visio" r:id="rId4" imgW="1357337" imgH="737119" progId="Visio.Drawing.11">
              <p:embed/>
            </p:oleObj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886200" y="1352550"/>
            <a:ext cx="144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的卡诺图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7" name="Object 6"/>
          <p:cNvGraphicFramePr>
            <a:graphicFrameLocks noChangeAspect="1"/>
          </p:cNvGraphicFramePr>
          <p:nvPr/>
        </p:nvGraphicFramePr>
        <p:xfrm>
          <a:off x="3352800" y="3486150"/>
          <a:ext cx="1981200" cy="1084052"/>
        </p:xfrm>
        <a:graphic>
          <a:graphicData uri="http://schemas.openxmlformats.org/presentationml/2006/ole">
            <p:oleObj spid="_x0000_s2055" name="Visio" r:id="rId5" imgW="1357337" imgH="737119" progId="Visio.Drawing.11">
              <p:embed/>
            </p:oleObj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886200" y="3257550"/>
            <a:ext cx="144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C’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的卡诺图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6" name="Picture 8" descr="C:\Users\hfutliujun\AppData\Roaming\Tencent\Users\350654676\QQ\WinTemp\RichOle\@6~WNNFVO0QDS1%O9W~XNQI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62600" y="2038350"/>
            <a:ext cx="2514600" cy="310200"/>
          </a:xfrm>
          <a:prstGeom prst="rect">
            <a:avLst/>
          </a:prstGeom>
          <a:noFill/>
        </p:spPr>
      </p:pic>
      <p:pic>
        <p:nvPicPr>
          <p:cNvPr id="2057" name="Picture 9" descr="C:\Users\hfutliujun\AppData\Roaming\Tencent\Users\350654676\QQ\WinTemp\RichOle\P8K6SUH}Y80[9S_C_N1{~MA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5000" y="3943349"/>
            <a:ext cx="1524000" cy="313765"/>
          </a:xfrm>
          <a:prstGeom prst="rect">
            <a:avLst/>
          </a:prstGeom>
          <a:noFill/>
        </p:spPr>
      </p:pic>
      <p:sp>
        <p:nvSpPr>
          <p:cNvPr id="44" name="椭圆 43"/>
          <p:cNvSpPr/>
          <p:nvPr/>
        </p:nvSpPr>
        <p:spPr>
          <a:xfrm>
            <a:off x="4168329" y="3898008"/>
            <a:ext cx="609600" cy="228600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4495800" y="3897378"/>
            <a:ext cx="609600" cy="228600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 rot="5400000">
            <a:off x="4305300" y="4057650"/>
            <a:ext cx="609600" cy="228600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66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67200" y="26479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91000" y="45529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utoUpdateAnimBg="0"/>
      <p:bldP spid="91" grpId="1"/>
      <p:bldP spid="26" grpId="0"/>
      <p:bldP spid="28" grpId="0"/>
      <p:bldP spid="44" grpId="0" animBg="1"/>
      <p:bldP spid="45" grpId="0" animBg="1"/>
      <p:bldP spid="46" grpId="0" animBg="1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C:\Users\hfutliujun\AppData\Roaming\Tencent\Users\350654676\QQ\WinTemp\RichOle\U0~Z]T`)GRHFW~)309MRLYU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590550"/>
            <a:ext cx="6007510" cy="3581400"/>
          </a:xfrm>
          <a:prstGeom prst="rect">
            <a:avLst/>
          </a:prstGeom>
          <a:noFill/>
        </p:spPr>
      </p:pic>
      <p:sp>
        <p:nvSpPr>
          <p:cNvPr id="98" name="矩形 97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33800" y="4400550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4  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的电路图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047750"/>
            <a:ext cx="8664575" cy="762000"/>
          </a:xfrm>
        </p:spPr>
        <p:txBody>
          <a:bodyPr/>
          <a:lstStyle/>
          <a:p>
            <a:pPr algn="l"/>
            <a:r>
              <a:rPr lang="zh-CN" alt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设 </a:t>
            </a:r>
            <a:r>
              <a:rPr lang="en-US" altLang="zh-CN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zh-CN" alt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是两个两位的二进制数，其中</a:t>
            </a:r>
            <a:r>
              <a:rPr lang="en-US" altLang="zh-CN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400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CN" sz="1400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1400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</a:t>
            </a:r>
            <a:r>
              <a:rPr lang="en-US" altLang="zh-CN" sz="1400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，试设计一判别器，当</a:t>
            </a:r>
            <a:r>
              <a:rPr lang="en-US" altLang="zh-CN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altLang="zh-CN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zh-CN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zh-CN" alt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时，输出为</a:t>
            </a:r>
            <a:r>
              <a:rPr lang="en-US" altLang="zh-CN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； 否则为</a:t>
            </a:r>
            <a:r>
              <a:rPr lang="en-US" altLang="zh-CN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0.</a:t>
            </a:r>
            <a:endParaRPr lang="zh-CN" alt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Group 127"/>
          <p:cNvGraphicFramePr>
            <a:graphicFrameLocks noGrp="1"/>
          </p:cNvGraphicFramePr>
          <p:nvPr/>
        </p:nvGraphicFramePr>
        <p:xfrm>
          <a:off x="381000" y="2038350"/>
          <a:ext cx="2362200" cy="1467758"/>
        </p:xfrm>
        <a:graphic>
          <a:graphicData uri="http://schemas.openxmlformats.org/drawingml/2006/table">
            <a:tbl>
              <a:tblPr/>
              <a:tblGrid>
                <a:gridCol w="787400"/>
                <a:gridCol w="787400"/>
                <a:gridCol w="787400"/>
              </a:tblGrid>
              <a:tr h="4436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  <a:r>
                        <a:rPr kumimoji="1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  <a:r>
                        <a:rPr kumimoji="1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y</a:t>
                      </a:r>
                      <a:r>
                        <a:rPr kumimoji="1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y</a:t>
                      </a:r>
                      <a:r>
                        <a:rPr kumimoji="1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517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</a:t>
                      </a:r>
                      <a:r>
                        <a:rPr kumimoji="1" lang="el-GR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Φ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</a:t>
                      </a:r>
                      <a:r>
                        <a:rPr kumimoji="1" lang="el-GR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Φ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3200400" y="1713097"/>
          <a:ext cx="2073275" cy="1828800"/>
        </p:xfrm>
        <a:graphic>
          <a:graphicData uri="http://schemas.openxmlformats.org/presentationml/2006/ole">
            <p:oleObj spid="_x0000_s20486" name="Visio" r:id="rId3" imgW="1399703" imgH="1383686" progId="Visio.Drawing.11">
              <p:embed/>
            </p:oleObj>
          </a:graphicData>
        </a:graphic>
      </p:graphicFrame>
      <p:sp>
        <p:nvSpPr>
          <p:cNvPr id="15" name="椭圆 14"/>
          <p:cNvSpPr/>
          <p:nvPr/>
        </p:nvSpPr>
        <p:spPr>
          <a:xfrm>
            <a:off x="3810000" y="2876550"/>
            <a:ext cx="609600" cy="609600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 rot="5400000">
            <a:off x="3619500" y="2747136"/>
            <a:ext cx="609600" cy="228600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66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 rot="5400000">
            <a:off x="3839219" y="2877559"/>
            <a:ext cx="230617" cy="228600"/>
            <a:chOff x="5868353" y="2733732"/>
            <a:chExt cx="303847" cy="447618"/>
          </a:xfrm>
        </p:grpSpPr>
        <p:sp>
          <p:nvSpPr>
            <p:cNvPr id="22" name="Arc 13"/>
            <p:cNvSpPr>
              <a:spLocks/>
            </p:cNvSpPr>
            <p:nvPr/>
          </p:nvSpPr>
          <p:spPr bwMode="auto">
            <a:xfrm rot="16104053">
              <a:off x="5912887" y="2691197"/>
              <a:ext cx="215744" cy="300814"/>
            </a:xfrm>
            <a:custGeom>
              <a:avLst/>
              <a:gdLst>
                <a:gd name="T0" fmla="*/ 0 w 21600"/>
                <a:gd name="T1" fmla="*/ 0 h 42204"/>
                <a:gd name="T2" fmla="*/ 0 w 21600"/>
                <a:gd name="T3" fmla="*/ 0 h 42204"/>
                <a:gd name="T4" fmla="*/ 0 w 21600"/>
                <a:gd name="T5" fmla="*/ 0 h 4220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204"/>
                <a:gd name="T11" fmla="*/ 21600 w 21600"/>
                <a:gd name="T12" fmla="*/ 42204 h 422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20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031"/>
                    <a:pt x="15481" y="39372"/>
                    <a:pt x="6484" y="42203"/>
                  </a:cubicBezTo>
                </a:path>
                <a:path w="21600" h="4220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031"/>
                    <a:pt x="15481" y="39372"/>
                    <a:pt x="6484" y="4220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5868353" y="2944512"/>
              <a:ext cx="0" cy="22860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172200" y="2866254"/>
              <a:ext cx="0" cy="31509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 rot="16200000">
            <a:off x="4853122" y="2885744"/>
            <a:ext cx="230616" cy="228599"/>
            <a:chOff x="5868353" y="2733732"/>
            <a:chExt cx="303847" cy="447618"/>
          </a:xfrm>
        </p:grpSpPr>
        <p:sp>
          <p:nvSpPr>
            <p:cNvPr id="18" name="Arc 13"/>
            <p:cNvSpPr>
              <a:spLocks/>
            </p:cNvSpPr>
            <p:nvPr/>
          </p:nvSpPr>
          <p:spPr bwMode="auto">
            <a:xfrm rot="16104053">
              <a:off x="5912887" y="2691197"/>
              <a:ext cx="215744" cy="300814"/>
            </a:xfrm>
            <a:custGeom>
              <a:avLst/>
              <a:gdLst>
                <a:gd name="T0" fmla="*/ 0 w 21600"/>
                <a:gd name="T1" fmla="*/ 0 h 42204"/>
                <a:gd name="T2" fmla="*/ 0 w 21600"/>
                <a:gd name="T3" fmla="*/ 0 h 42204"/>
                <a:gd name="T4" fmla="*/ 0 w 21600"/>
                <a:gd name="T5" fmla="*/ 0 h 4220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204"/>
                <a:gd name="T11" fmla="*/ 21600 w 21600"/>
                <a:gd name="T12" fmla="*/ 42204 h 422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20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031"/>
                    <a:pt x="15481" y="39372"/>
                    <a:pt x="6484" y="42203"/>
                  </a:cubicBezTo>
                </a:path>
                <a:path w="21600" h="4220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031"/>
                    <a:pt x="15481" y="39372"/>
                    <a:pt x="6484" y="4220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5868353" y="2944512"/>
              <a:ext cx="0" cy="22860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6172200" y="2866254"/>
              <a:ext cx="0" cy="31509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5624513" y="2343150"/>
          <a:ext cx="2390775" cy="350838"/>
        </p:xfrm>
        <a:graphic>
          <a:graphicData uri="http://schemas.openxmlformats.org/presentationml/2006/ole">
            <p:oleObj spid="_x0000_s20488" name="Equation" r:id="rId4" imgW="2158920" imgH="317160" progId="Equation.DSMT4">
              <p:embed/>
            </p:oleObj>
          </a:graphicData>
        </a:graphic>
      </p:graphicFrame>
      <p:sp>
        <p:nvSpPr>
          <p:cNvPr id="40" name="矩形 39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158115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91000" y="3638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362200" y="971550"/>
          <a:ext cx="3582988" cy="3617912"/>
        </p:xfrm>
        <a:graphic>
          <a:graphicData uri="http://schemas.openxmlformats.org/presentationml/2006/ole">
            <p:oleObj spid="_x0000_s21508" name="Visio" r:id="rId3" imgW="2081879" imgH="2112696" progId="Visio.Drawing.11">
              <p:embed/>
            </p:oleObj>
          </a:graphicData>
        </a:graphic>
      </p:graphicFrame>
      <p:sp>
        <p:nvSpPr>
          <p:cNvPr id="27" name="矩形 26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52800" y="4400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6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: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5638800" y="1733550"/>
          <a:ext cx="3124200" cy="1463094"/>
        </p:xfrm>
        <a:graphic>
          <a:graphicData uri="http://schemas.openxmlformats.org/presentationml/2006/ole">
            <p:oleObj spid="_x0000_s32772" name="Visio" r:id="rId3" imgW="4029104" imgH="1848880" progId="Visio.Drawing.11">
              <p:embed/>
            </p:oleObj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914400" y="104775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990600" y="687074"/>
            <a:ext cx="7391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设计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一个判别电路，以判别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8421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码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所表示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的十进制数之值是否大于等于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５。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" name="Picture 4" descr="C:\Users\hfutliujun\AppData\Roaming\Tencent\Users\350654676\QQ\WinTemp\RichOle\@~`UE)QQ{E2T[ACN(VT@6]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8400" y="1504950"/>
            <a:ext cx="2784008" cy="1981200"/>
          </a:xfrm>
          <a:prstGeom prst="rect">
            <a:avLst/>
          </a:prstGeom>
          <a:noFill/>
        </p:spPr>
      </p:pic>
      <p:sp>
        <p:nvSpPr>
          <p:cNvPr id="21" name="Text Box 60"/>
          <p:cNvSpPr txBox="1">
            <a:spLocks noChangeArrowheads="1"/>
          </p:cNvSpPr>
          <p:nvPr/>
        </p:nvSpPr>
        <p:spPr bwMode="auto">
          <a:xfrm>
            <a:off x="3581400" y="3081849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23" name="AutoShape 8"/>
          <p:cNvSpPr>
            <a:spLocks noChangeArrowheads="1"/>
          </p:cNvSpPr>
          <p:nvPr/>
        </p:nvSpPr>
        <p:spPr bwMode="auto">
          <a:xfrm rot="5400000">
            <a:off x="3619498" y="2152651"/>
            <a:ext cx="762002" cy="990599"/>
          </a:xfrm>
          <a:prstGeom prst="flowChartTerminator">
            <a:avLst/>
          </a:prstGeom>
          <a:noFill/>
          <a:ln w="28575" cap="sq">
            <a:solidFill>
              <a:schemeClr val="accent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Text Box 60"/>
          <p:cNvSpPr txBox="1">
            <a:spLocks noChangeArrowheads="1"/>
          </p:cNvSpPr>
          <p:nvPr/>
        </p:nvSpPr>
        <p:spPr bwMode="auto">
          <a:xfrm>
            <a:off x="3581400" y="22669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25" name="Text Box 60"/>
          <p:cNvSpPr txBox="1">
            <a:spLocks noChangeArrowheads="1"/>
          </p:cNvSpPr>
          <p:nvPr/>
        </p:nvSpPr>
        <p:spPr bwMode="auto">
          <a:xfrm>
            <a:off x="4724400" y="22669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26" name="Text Box 60"/>
          <p:cNvSpPr txBox="1">
            <a:spLocks noChangeArrowheads="1"/>
          </p:cNvSpPr>
          <p:nvPr/>
        </p:nvSpPr>
        <p:spPr bwMode="auto">
          <a:xfrm>
            <a:off x="4187825" y="22669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27" name="Text Box 60"/>
          <p:cNvSpPr txBox="1">
            <a:spLocks noChangeArrowheads="1"/>
          </p:cNvSpPr>
          <p:nvPr/>
        </p:nvSpPr>
        <p:spPr bwMode="auto">
          <a:xfrm>
            <a:off x="3044825" y="3065463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pic>
        <p:nvPicPr>
          <p:cNvPr id="32773" name="Picture 5" descr="C:\Users\hfutliujun\AppData\Roaming\Tencent\Users\350654676\QQ\WinTemp\RichOle\K_OJ](Z1N8[N]4~3U0@FDKO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8199" y="1428750"/>
            <a:ext cx="1151673" cy="3352800"/>
          </a:xfrm>
          <a:prstGeom prst="rect">
            <a:avLst/>
          </a:prstGeom>
          <a:noFill/>
        </p:spPr>
      </p:pic>
      <p:sp>
        <p:nvSpPr>
          <p:cNvPr id="29" name="Text Box 48"/>
          <p:cNvSpPr txBox="1">
            <a:spLocks noChangeArrowheads="1"/>
          </p:cNvSpPr>
          <p:nvPr/>
        </p:nvSpPr>
        <p:spPr bwMode="auto">
          <a:xfrm>
            <a:off x="3048000" y="27241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30" name="Text Box 48"/>
          <p:cNvSpPr txBox="1">
            <a:spLocks noChangeArrowheads="1"/>
          </p:cNvSpPr>
          <p:nvPr/>
        </p:nvSpPr>
        <p:spPr bwMode="auto">
          <a:xfrm>
            <a:off x="3505200" y="27241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4114800" y="27241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32" name="Text Box 48"/>
          <p:cNvSpPr txBox="1">
            <a:spLocks noChangeArrowheads="1"/>
          </p:cNvSpPr>
          <p:nvPr/>
        </p:nvSpPr>
        <p:spPr bwMode="auto">
          <a:xfrm>
            <a:off x="4648200" y="27241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33" name="Text Box 48"/>
          <p:cNvSpPr txBox="1">
            <a:spLocks noChangeArrowheads="1"/>
          </p:cNvSpPr>
          <p:nvPr/>
        </p:nvSpPr>
        <p:spPr bwMode="auto">
          <a:xfrm>
            <a:off x="4114800" y="31051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34" name="Text Box 48"/>
          <p:cNvSpPr txBox="1">
            <a:spLocks noChangeArrowheads="1"/>
          </p:cNvSpPr>
          <p:nvPr/>
        </p:nvSpPr>
        <p:spPr bwMode="auto">
          <a:xfrm>
            <a:off x="4648200" y="31051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33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35" name="AutoShape 8"/>
          <p:cNvSpPr>
            <a:spLocks noChangeArrowheads="1"/>
          </p:cNvSpPr>
          <p:nvPr/>
        </p:nvSpPr>
        <p:spPr bwMode="auto">
          <a:xfrm rot="5400000">
            <a:off x="3733801" y="2038353"/>
            <a:ext cx="685798" cy="2057400"/>
          </a:xfrm>
          <a:prstGeom prst="flowChartTerminator">
            <a:avLst/>
          </a:prstGeom>
          <a:noFill/>
          <a:ln w="28575" cap="sq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AutoShape 8"/>
          <p:cNvSpPr>
            <a:spLocks noChangeArrowheads="1"/>
          </p:cNvSpPr>
          <p:nvPr/>
        </p:nvSpPr>
        <p:spPr bwMode="auto">
          <a:xfrm rot="5400000">
            <a:off x="4229099" y="2121792"/>
            <a:ext cx="762000" cy="990601"/>
          </a:xfrm>
          <a:prstGeom prst="flowChartTerminator">
            <a:avLst/>
          </a:prstGeom>
          <a:noFill/>
          <a:ln w="28575" cap="sq">
            <a:solidFill>
              <a:srgbClr val="6600CC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Text Box 66"/>
          <p:cNvSpPr txBox="1">
            <a:spLocks noChangeArrowheads="1"/>
          </p:cNvSpPr>
          <p:nvPr/>
        </p:nvSpPr>
        <p:spPr bwMode="auto">
          <a:xfrm>
            <a:off x="5943600" y="1276350"/>
            <a:ext cx="15163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dirty="0" smtClean="0">
                <a:latin typeface="Tahoma" pitchFamily="34" charset="0"/>
              </a:rPr>
              <a:t>F=BD+BC+A</a:t>
            </a:r>
            <a:endParaRPr kumimoji="1" lang="en-US" altLang="zh-CN" dirty="0">
              <a:latin typeface="Tahoma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57600" y="35623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29400" y="34861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21" grpId="0"/>
      <p:bldP spid="23" grpId="0" animBg="1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6" grpId="0" animBg="1"/>
      <p:bldP spid="38" grpId="0"/>
      <p:bldP spid="43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304800" y="590551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用与非门实现逻辑函数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228600" y="10477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用与非门实现逻辑函数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2743200" y="1200150"/>
          <a:ext cx="533400" cy="254000"/>
        </p:xfrm>
        <a:graphic>
          <a:graphicData uri="http://schemas.openxmlformats.org/presentationml/2006/ole">
            <p:oleObj spid="_x0000_s24578" name="Equation" r:id="rId3" imgW="533160" imgH="253800" progId="Equation.DSMT4">
              <p:embed/>
            </p:oleObj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4114800" y="1504950"/>
          <a:ext cx="2667000" cy="1060450"/>
        </p:xfrm>
        <a:graphic>
          <a:graphicData uri="http://schemas.openxmlformats.org/presentationml/2006/ole">
            <p:oleObj spid="_x0000_s24579" name="Visio" r:id="rId4" imgW="1828761" imgH="774691" progId="Visio.Drawing.11">
              <p:embed/>
            </p:oleObj>
          </a:graphicData>
        </a:graphic>
      </p:graphicFrame>
      <p:graphicFrame>
        <p:nvGraphicFramePr>
          <p:cNvPr id="22539" name="Object 11"/>
          <p:cNvGraphicFramePr>
            <a:graphicFrameLocks noChangeAspect="1"/>
          </p:cNvGraphicFramePr>
          <p:nvPr/>
        </p:nvGraphicFramePr>
        <p:xfrm>
          <a:off x="1143000" y="1885950"/>
          <a:ext cx="1066800" cy="301214"/>
        </p:xfrm>
        <a:graphic>
          <a:graphicData uri="http://schemas.openxmlformats.org/presentationml/2006/ole">
            <p:oleObj spid="_x0000_s24584" name="Equation" r:id="rId5" imgW="1079280" imgH="304560" progId="Equation.DSMT4">
              <p:embed/>
            </p:oleObj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228600" y="27241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用与非门实现逻辑函数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2768600" y="2908300"/>
          <a:ext cx="736600" cy="190500"/>
        </p:xfrm>
        <a:graphic>
          <a:graphicData uri="http://schemas.openxmlformats.org/presentationml/2006/ole">
            <p:oleObj spid="_x0000_s24585" name="Equation" r:id="rId6" imgW="736560" imgH="190440" progId="Equation.DSMT4">
              <p:embed/>
            </p:oleObj>
          </a:graphicData>
        </a:graphic>
      </p:graphicFrame>
      <p:graphicFrame>
        <p:nvGraphicFramePr>
          <p:cNvPr id="16" name="Object 11"/>
          <p:cNvGraphicFramePr>
            <a:graphicFrameLocks noChangeAspect="1"/>
          </p:cNvGraphicFramePr>
          <p:nvPr/>
        </p:nvGraphicFramePr>
        <p:xfrm>
          <a:off x="1042988" y="3544888"/>
          <a:ext cx="1266825" cy="338137"/>
        </p:xfrm>
        <a:graphic>
          <a:graphicData uri="http://schemas.openxmlformats.org/presentationml/2006/ole">
            <p:oleObj spid="_x0000_s24586" name="Equation" r:id="rId7" imgW="1282680" imgH="342720" progId="Equation.DSMT4">
              <p:embed/>
            </p:oleObj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3962400" y="2571750"/>
          <a:ext cx="4683125" cy="2057400"/>
        </p:xfrm>
        <a:graphic>
          <a:graphicData uri="http://schemas.openxmlformats.org/presentationml/2006/ole">
            <p:oleObj spid="_x0000_s24587" name="Visio" r:id="rId8" imgW="2800485" imgH="1230694" progId="Visio.Drawing.11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81600" y="2266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9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38800" y="4095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304800" y="590551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用与非门实现逻辑函数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457200" y="10477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用与非门实现逻辑函数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" name="Object 6"/>
          <p:cNvGraphicFramePr>
            <a:graphicFrameLocks noChangeAspect="1"/>
          </p:cNvGraphicFramePr>
          <p:nvPr/>
        </p:nvGraphicFramePr>
        <p:xfrm>
          <a:off x="2976628" y="1245807"/>
          <a:ext cx="863600" cy="190500"/>
        </p:xfrm>
        <a:graphic>
          <a:graphicData uri="http://schemas.openxmlformats.org/presentationml/2006/ole">
            <p:oleObj spid="_x0000_s23569" name="Equation" r:id="rId3" imgW="863280" imgH="190440" progId="Equation.DSMT4">
              <p:embed/>
            </p:oleObj>
          </a:graphicData>
        </a:graphic>
      </p:graphicFrame>
      <p:graphicFrame>
        <p:nvGraphicFramePr>
          <p:cNvPr id="24" name="Object 7"/>
          <p:cNvGraphicFramePr>
            <a:graphicFrameLocks noChangeAspect="1"/>
          </p:cNvGraphicFramePr>
          <p:nvPr/>
        </p:nvGraphicFramePr>
        <p:xfrm>
          <a:off x="1295400" y="1657350"/>
          <a:ext cx="863600" cy="635000"/>
        </p:xfrm>
        <a:graphic>
          <a:graphicData uri="http://schemas.openxmlformats.org/presentationml/2006/ole">
            <p:oleObj spid="_x0000_s23570" name="Equation" r:id="rId4" imgW="863280" imgH="634680" progId="Equation.DSMT4">
              <p:embed/>
            </p:oleObj>
          </a:graphicData>
        </a:graphic>
      </p:graphicFrame>
      <p:graphicFrame>
        <p:nvGraphicFramePr>
          <p:cNvPr id="25" name="Object 8"/>
          <p:cNvGraphicFramePr>
            <a:graphicFrameLocks noChangeAspect="1"/>
          </p:cNvGraphicFramePr>
          <p:nvPr/>
        </p:nvGraphicFramePr>
        <p:xfrm>
          <a:off x="1295400" y="2114550"/>
          <a:ext cx="685800" cy="660400"/>
        </p:xfrm>
        <a:graphic>
          <a:graphicData uri="http://schemas.openxmlformats.org/presentationml/2006/ole">
            <p:oleObj spid="_x0000_s23571" name="Equation" r:id="rId5" imgW="685800" imgH="660240" progId="Equation.DSMT4">
              <p:embed/>
            </p:oleObj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962400" y="1047750"/>
          <a:ext cx="4682909" cy="2057400"/>
        </p:xfrm>
        <a:graphic>
          <a:graphicData uri="http://schemas.openxmlformats.org/presentationml/2006/ole">
            <p:oleObj spid="_x0000_s23572" name="Visio" r:id="rId6" imgW="2800485" imgH="1230694" progId="Visio.Drawing.11">
              <p:embed/>
            </p:oleObj>
          </a:graphicData>
        </a:graphic>
      </p:graphicFrame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1219200" y="3333750"/>
            <a:ext cx="549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转化为与非表达式方法：原函数</a:t>
            </a:r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二次反演，一次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展开</a:t>
            </a:r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0" y="2647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11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152400" y="6667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用与非门实现逻辑函数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2743200" y="803406"/>
          <a:ext cx="2362200" cy="350838"/>
        </p:xfrm>
        <a:graphic>
          <a:graphicData uri="http://schemas.openxmlformats.org/presentationml/2006/ole">
            <p:oleObj spid="_x0000_s27650" name="Equation" r:id="rId3" imgW="2133360" imgH="317160" progId="Equation.DSMT4">
              <p:embed/>
            </p:oleObj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457200" y="1504950"/>
          <a:ext cx="2405062" cy="1290638"/>
        </p:xfrm>
        <a:graphic>
          <a:graphicData uri="http://schemas.openxmlformats.org/presentationml/2006/ole">
            <p:oleObj spid="_x0000_s27651" name="Equation" r:id="rId4" imgW="2171520" imgH="1168200" progId="Equation.DSMT4">
              <p:embed/>
            </p:oleObj>
          </a:graphicData>
        </a:graphic>
      </p:graphicFrame>
      <p:sp>
        <p:nvSpPr>
          <p:cNvPr id="7" name="矩形 6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105400" y="438150"/>
          <a:ext cx="3276600" cy="3776531"/>
        </p:xfrm>
        <a:graphic>
          <a:graphicData uri="http://schemas.openxmlformats.org/presentationml/2006/ole">
            <p:oleObj spid="_x0000_s27652" name="Visio" r:id="rId5" imgW="2346870" imgH="2699527" progId="Visio.Drawing.11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19800" y="42481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12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304800" y="590551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用或非门实现逻辑函数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990600" y="1352550"/>
            <a:ext cx="36936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求原函数对偶式的与或表达式；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196215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 2.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对偶式转换成与非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表达式；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                                     </a:t>
            </a:r>
          </a:p>
          <a:p>
            <a:pPr marL="457200" indent="-457200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                                     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90600" y="2579937"/>
            <a:ext cx="4386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再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求对偶，得到原函数的或非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表达式；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152400" y="6667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用或非门实现逻辑函数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2895600" y="819150"/>
          <a:ext cx="2362200" cy="350838"/>
        </p:xfrm>
        <a:graphic>
          <a:graphicData uri="http://schemas.openxmlformats.org/presentationml/2006/ole">
            <p:oleObj spid="_x0000_s31746" name="Equation" r:id="rId3" imgW="2133360" imgH="317160" progId="Equation.DSMT4">
              <p:embed/>
            </p:oleObj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457200" y="1276350"/>
          <a:ext cx="3656013" cy="728663"/>
        </p:xfrm>
        <a:graphic>
          <a:graphicData uri="http://schemas.openxmlformats.org/presentationml/2006/ole">
            <p:oleObj spid="_x0000_s31747" name="Equation" r:id="rId4" imgW="3301920" imgH="660240" progId="Equation.DSMT4">
              <p:embed/>
            </p:oleObj>
          </a:graphicData>
        </a:graphic>
      </p:graphicFrame>
      <p:sp>
        <p:nvSpPr>
          <p:cNvPr id="7" name="矩形 6"/>
          <p:cNvSpPr/>
          <p:nvPr/>
        </p:nvSpPr>
        <p:spPr>
          <a:xfrm>
            <a:off x="76200" y="0"/>
            <a:ext cx="2919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：组合逻辑设计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648200" y="438150"/>
          <a:ext cx="4718050" cy="4117975"/>
        </p:xfrm>
        <a:graphic>
          <a:graphicData uri="http://schemas.openxmlformats.org/presentationml/2006/ole">
            <p:oleObj spid="_x0000_s31748" name="Visio" r:id="rId5" imgW="3457835" imgH="2961722" progId="Visio.Drawing.11">
              <p:embed/>
            </p:oleObj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457200" y="2266950"/>
          <a:ext cx="3290887" cy="1247775"/>
        </p:xfrm>
        <a:graphic>
          <a:graphicData uri="http://schemas.openxmlformats.org/presentationml/2006/ole">
            <p:oleObj spid="_x0000_s31749" name="Equation" r:id="rId6" imgW="2971800" imgH="1130040" progId="Equation.DSMT4">
              <p:embed/>
            </p:oleObj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381000" y="3562350"/>
          <a:ext cx="4443413" cy="757238"/>
        </p:xfrm>
        <a:graphic>
          <a:graphicData uri="http://schemas.openxmlformats.org/presentationml/2006/ole">
            <p:oleObj spid="_x0000_s31750" name="Equation" r:id="rId7" imgW="4012920" imgH="685800" progId="Equation.DSMT4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29400" y="43243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13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4321</TotalTime>
  <Words>429</Words>
  <Application>Microsoft Office PowerPoint</Application>
  <PresentationFormat>全屏显示(16:9)</PresentationFormat>
  <Paragraphs>123</Paragraphs>
  <Slides>13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默认设计模板</vt:lpstr>
      <vt:lpstr>Visio</vt:lpstr>
      <vt:lpstr>Equation</vt:lpstr>
      <vt:lpstr>Microsoft Visio 绘图</vt:lpstr>
      <vt:lpstr>MathType 6.0 Equation</vt:lpstr>
      <vt:lpstr>幻灯片 1</vt:lpstr>
      <vt:lpstr>幻灯片 2</vt:lpstr>
      <vt:lpstr>设两个一位二进制数A和B，设计一个判别器，若A&gt;B,则输出Y为1，否则输出Y为0.</vt:lpstr>
      <vt:lpstr>幻灯片 4</vt:lpstr>
      <vt:lpstr>幻灯片 5</vt:lpstr>
      <vt:lpstr>设 x 和y 是两个两位的二进制数，其中x＝x1 x2，y＝y1 y2，试设计一判别器，当x &gt; y 时，输出为1； 否则为0.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501</cp:revision>
  <cp:lastPrinted>2113-01-01T00:00:00Z</cp:lastPrinted>
  <dcterms:created xsi:type="dcterms:W3CDTF">2113-01-01T00:00:00Z</dcterms:created>
  <dcterms:modified xsi:type="dcterms:W3CDTF">2020-12-27T09:33:16Z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