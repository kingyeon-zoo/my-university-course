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9" r:id="rId2"/>
    <p:sldId id="314" r:id="rId3"/>
    <p:sldId id="341" r:id="rId4"/>
    <p:sldId id="345" r:id="rId5"/>
    <p:sldId id="346" r:id="rId6"/>
    <p:sldId id="347" r:id="rId7"/>
    <p:sldId id="348" r:id="rId8"/>
    <p:sldId id="353" r:id="rId9"/>
    <p:sldId id="354" r:id="rId10"/>
    <p:sldId id="349" r:id="rId11"/>
    <p:sldId id="350" r:id="rId12"/>
    <p:sldId id="352" r:id="rId13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61" autoAdjust="0"/>
    <p:restoredTop sz="98916" autoAdjust="0"/>
  </p:normalViewPr>
  <p:slideViewPr>
    <p:cSldViewPr>
      <p:cViewPr varScale="1">
        <p:scale>
          <a:sx n="125" d="100"/>
          <a:sy n="125" d="100"/>
        </p:scale>
        <p:origin x="-102" y="-3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2020/12/31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2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组合逻辑电路的竞争</a:t>
            </a:r>
            <a:r>
              <a:rPr lang="en-US" altLang="zh-CN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冒险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78547" y="0"/>
            <a:ext cx="2579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：竞争</a:t>
            </a: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冒险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260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66800" y="1200150"/>
          <a:ext cx="2780488" cy="1066800"/>
        </p:xfrm>
        <a:graphic>
          <a:graphicData uri="http://schemas.openxmlformats.org/presentationml/2006/ole">
            <p:oleObj spid="_x0000_s18437" name="Visio" r:id="rId3" imgW="2722499" imgH="1044725" progId="Visio.Drawing.11">
              <p:embed/>
            </p:oleObj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1676400" y="2800350"/>
          <a:ext cx="1651000" cy="233363"/>
        </p:xfrm>
        <a:graphic>
          <a:graphicData uri="http://schemas.openxmlformats.org/presentationml/2006/ole">
            <p:oleObj spid="_x0000_s18438" name="Equation" r:id="rId4" imgW="1790640" imgH="253800" progId="Equation.DSMT4">
              <p:embed/>
            </p:oleObj>
          </a:graphicData>
        </a:graphic>
      </p:graphicFrame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4724400" y="2190750"/>
            <a:ext cx="152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endParaRPr lang="en-US" altLang="zh-CN" dirty="0"/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4724400" y="2870081"/>
            <a:ext cx="1397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F</a:t>
            </a:r>
            <a:endParaRPr lang="en-US" altLang="zh-CN"/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 flipH="1">
            <a:off x="4983228" y="2369758"/>
            <a:ext cx="931865" cy="0"/>
          </a:xfrm>
          <a:prstGeom prst="line">
            <a:avLst/>
          </a:prstGeom>
          <a:noFill/>
          <a:ln w="2698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6307137" y="2871668"/>
            <a:ext cx="1587" cy="360363"/>
          </a:xfrm>
          <a:prstGeom prst="line">
            <a:avLst/>
          </a:prstGeom>
          <a:noFill/>
          <a:ln w="2698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>
            <a:off x="6126162" y="3232031"/>
            <a:ext cx="180975" cy="1588"/>
          </a:xfrm>
          <a:prstGeom prst="line">
            <a:avLst/>
          </a:prstGeom>
          <a:noFill/>
          <a:ln w="2698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>
            <a:off x="6307137" y="2871668"/>
            <a:ext cx="627063" cy="0"/>
          </a:xfrm>
          <a:prstGeom prst="line">
            <a:avLst/>
          </a:prstGeom>
          <a:noFill/>
          <a:ln w="2698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5014086" y="2868363"/>
            <a:ext cx="1115121" cy="1890"/>
            <a:chOff x="5011737" y="2229622"/>
            <a:chExt cx="1115121" cy="1890"/>
          </a:xfrm>
        </p:grpSpPr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5341557" y="2231512"/>
              <a:ext cx="785301" cy="0"/>
            </a:xfrm>
            <a:prstGeom prst="line">
              <a:avLst/>
            </a:prstGeom>
            <a:noFill/>
            <a:ln w="269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 flipH="1">
              <a:off x="5011737" y="2229622"/>
              <a:ext cx="381000" cy="0"/>
            </a:xfrm>
            <a:prstGeom prst="line">
              <a:avLst/>
            </a:prstGeom>
            <a:noFill/>
            <a:ln w="269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752975" y="971550"/>
            <a:ext cx="2085149" cy="574674"/>
            <a:chOff x="4752975" y="1243013"/>
            <a:chExt cx="2085149" cy="574674"/>
          </a:xfrm>
        </p:grpSpPr>
        <p:sp>
          <p:nvSpPr>
            <p:cNvPr id="18" name="Line 14"/>
            <p:cNvSpPr>
              <a:spLocks noChangeShapeType="1"/>
            </p:cNvSpPr>
            <p:nvPr/>
          </p:nvSpPr>
          <p:spPr bwMode="auto">
            <a:xfrm flipH="1">
              <a:off x="4989512" y="1425575"/>
              <a:ext cx="920750" cy="0"/>
            </a:xfrm>
            <a:prstGeom prst="line">
              <a:avLst/>
            </a:prstGeom>
            <a:noFill/>
            <a:ln w="269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4752975" y="1243013"/>
              <a:ext cx="1651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altLang="zh-CN" dirty="0"/>
            </a:p>
          </p:txBody>
        </p:sp>
        <p:sp>
          <p:nvSpPr>
            <p:cNvPr id="33" name="Line 14"/>
            <p:cNvSpPr>
              <a:spLocks noChangeShapeType="1"/>
            </p:cNvSpPr>
            <p:nvPr/>
          </p:nvSpPr>
          <p:spPr bwMode="auto">
            <a:xfrm flipH="1">
              <a:off x="5917373" y="1817687"/>
              <a:ext cx="920751" cy="0"/>
            </a:xfrm>
            <a:prstGeom prst="line">
              <a:avLst/>
            </a:prstGeom>
            <a:noFill/>
            <a:ln w="269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41" name="直接连接符 40"/>
          <p:cNvCxnSpPr/>
          <p:nvPr/>
        </p:nvCxnSpPr>
        <p:spPr>
          <a:xfrm>
            <a:off x="5898258" y="978476"/>
            <a:ext cx="30228" cy="252000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Line 23"/>
          <p:cNvSpPr>
            <a:spLocks noChangeShapeType="1"/>
          </p:cNvSpPr>
          <p:nvPr/>
        </p:nvSpPr>
        <p:spPr bwMode="auto">
          <a:xfrm>
            <a:off x="5943600" y="2365821"/>
            <a:ext cx="180975" cy="1588"/>
          </a:xfrm>
          <a:prstGeom prst="line">
            <a:avLst/>
          </a:prstGeom>
          <a:noFill/>
          <a:ln w="2698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6126228" y="971550"/>
            <a:ext cx="0" cy="252000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Line 18"/>
          <p:cNvSpPr>
            <a:spLocks noChangeShapeType="1"/>
          </p:cNvSpPr>
          <p:nvPr/>
        </p:nvSpPr>
        <p:spPr bwMode="auto">
          <a:xfrm flipH="1">
            <a:off x="6157086" y="1993008"/>
            <a:ext cx="724215" cy="0"/>
          </a:xfrm>
          <a:prstGeom prst="line">
            <a:avLst/>
          </a:prstGeom>
          <a:noFill/>
          <a:ln w="2698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Rectangle 15"/>
          <p:cNvSpPr>
            <a:spLocks noChangeArrowheads="1"/>
          </p:cNvSpPr>
          <p:nvPr/>
        </p:nvSpPr>
        <p:spPr bwMode="auto">
          <a:xfrm>
            <a:off x="4800600" y="643449"/>
            <a:ext cx="381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1400" baseline="-25000" dirty="0" smtClean="0">
                <a:solidFill>
                  <a:srgbClr val="000000"/>
                </a:solidFill>
                <a:latin typeface="Times New Roman" pitchFamily="18" charset="0"/>
              </a:rPr>
              <a:t>0</a:t>
            </a:r>
            <a:endParaRPr lang="en-US" altLang="zh-CN" sz="1400" baseline="-25000" dirty="0"/>
          </a:p>
        </p:txBody>
      </p:sp>
      <p:sp>
        <p:nvSpPr>
          <p:cNvPr id="55" name="Rectangle 15"/>
          <p:cNvSpPr>
            <a:spLocks noChangeArrowheads="1"/>
          </p:cNvSpPr>
          <p:nvPr/>
        </p:nvSpPr>
        <p:spPr bwMode="auto">
          <a:xfrm>
            <a:off x="5638800" y="666750"/>
            <a:ext cx="381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1400" baseline="-25000" dirty="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US" altLang="zh-CN" sz="1400" baseline="-25000" dirty="0"/>
          </a:p>
        </p:txBody>
      </p:sp>
      <p:sp>
        <p:nvSpPr>
          <p:cNvPr id="57" name="Rectangle 15"/>
          <p:cNvSpPr>
            <a:spLocks noChangeArrowheads="1"/>
          </p:cNvSpPr>
          <p:nvPr/>
        </p:nvSpPr>
        <p:spPr bwMode="auto">
          <a:xfrm>
            <a:off x="5943600" y="664403"/>
            <a:ext cx="381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1400" baseline="-25000" dirty="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US" altLang="zh-CN" sz="1400" baseline="-25000" dirty="0"/>
          </a:p>
        </p:txBody>
      </p:sp>
      <p:sp>
        <p:nvSpPr>
          <p:cNvPr id="64" name="TextBox 63"/>
          <p:cNvSpPr txBox="1"/>
          <p:nvPr/>
        </p:nvSpPr>
        <p:spPr>
          <a:xfrm>
            <a:off x="6096000" y="3257550"/>
            <a:ext cx="457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 smtClean="0">
                <a:solidFill>
                  <a:srgbClr val="C00000"/>
                </a:solidFill>
              </a:rPr>
              <a:t>毛刺</a:t>
            </a:r>
            <a:endParaRPr lang="zh-CN" altLang="en-US" sz="1000" b="1" dirty="0">
              <a:solidFill>
                <a:srgbClr val="C0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943600" y="3790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/>
              <a:t> 图 </a:t>
            </a:r>
            <a:r>
              <a:rPr lang="en-US" altLang="zh-CN" sz="1400" b="1" dirty="0" smtClean="0"/>
              <a:t>2</a:t>
            </a:r>
            <a:endParaRPr lang="zh-CN" altLang="en-US" sz="1400" b="1" dirty="0"/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5913372" y="1169292"/>
            <a:ext cx="1587" cy="360363"/>
          </a:xfrm>
          <a:prstGeom prst="line">
            <a:avLst/>
          </a:prstGeom>
          <a:noFill/>
          <a:ln w="2698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2133600" y="2190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/>
              <a:t> 图 </a:t>
            </a:r>
            <a:r>
              <a:rPr lang="en-US" altLang="zh-CN" sz="1400" b="1" dirty="0" smtClean="0"/>
              <a:t>1</a:t>
            </a:r>
            <a:endParaRPr lang="zh-CN" altLang="en-US" sz="1400" b="1" dirty="0"/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6134415" y="2008122"/>
            <a:ext cx="1587" cy="360363"/>
          </a:xfrm>
          <a:prstGeom prst="line">
            <a:avLst/>
          </a:prstGeom>
          <a:noFill/>
          <a:ln w="2698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>
            <a:off x="6133785" y="2875920"/>
            <a:ext cx="1587" cy="360363"/>
          </a:xfrm>
          <a:prstGeom prst="line">
            <a:avLst/>
          </a:prstGeom>
          <a:noFill/>
          <a:ln w="2698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40" name="直接连接符 39"/>
          <p:cNvCxnSpPr/>
          <p:nvPr/>
        </p:nvCxnSpPr>
        <p:spPr>
          <a:xfrm>
            <a:off x="6308856" y="972810"/>
            <a:ext cx="0" cy="252000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5"/>
          <p:cNvSpPr>
            <a:spLocks noChangeArrowheads="1"/>
          </p:cNvSpPr>
          <p:nvPr/>
        </p:nvSpPr>
        <p:spPr bwMode="auto">
          <a:xfrm>
            <a:off x="6172200" y="666750"/>
            <a:ext cx="381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1400" baseline="-25000" dirty="0" smtClean="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US" altLang="zh-CN" sz="1400" baseline="-25000" dirty="0"/>
          </a:p>
        </p:txBody>
      </p:sp>
      <p:sp>
        <p:nvSpPr>
          <p:cNvPr id="35" name="TextBox 34"/>
          <p:cNvSpPr txBox="1"/>
          <p:nvPr/>
        </p:nvSpPr>
        <p:spPr>
          <a:xfrm>
            <a:off x="1447800" y="1123950"/>
            <a:ext cx="68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 smtClean="0">
                <a:solidFill>
                  <a:srgbClr val="C00000"/>
                </a:solidFill>
              </a:rPr>
              <a:t>扇出点</a:t>
            </a:r>
            <a:endParaRPr lang="zh-CN" altLang="en-US" sz="1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  <p:bldP spid="24" grpId="0" animBg="1"/>
      <p:bldP spid="27" grpId="0" animBg="1"/>
      <p:bldP spid="28" grpId="0" animBg="1"/>
      <p:bldP spid="45" grpId="0" animBg="1"/>
      <p:bldP spid="48" grpId="0" animBg="1"/>
      <p:bldP spid="54" grpId="0"/>
      <p:bldP spid="55" grpId="0"/>
      <p:bldP spid="57" grpId="0"/>
      <p:bldP spid="57" grpId="1"/>
      <p:bldP spid="64" grpId="0"/>
      <p:bldP spid="65" grpId="0"/>
      <p:bldP spid="31" grpId="0" animBg="1"/>
      <p:bldP spid="32" grpId="0" animBg="1"/>
      <p:bldP spid="34" grpId="0" animBg="1"/>
      <p:bldP spid="42" grpId="0"/>
      <p:bldP spid="4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28600" y="666750"/>
            <a:ext cx="1143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200000"/>
              </a:lnSpc>
            </a:pP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竞 争：</a:t>
            </a:r>
            <a:r>
              <a:rPr kumimoji="1" lang="zh-CN" altLang="en-US" sz="1400" b="1" dirty="0" smtClean="0"/>
              <a:t>当一个门的输入有两个或两个以上变量发生改变时，由于这些变量（信号）是经过不同路径产生的，</a:t>
            </a:r>
            <a:endParaRPr kumimoji="1" lang="en-US" altLang="zh-CN" sz="1400" b="1" dirty="0" smtClean="0"/>
          </a:p>
          <a:p>
            <a:r>
              <a:rPr kumimoji="1" lang="zh-CN" altLang="en-US" sz="1400" b="1" dirty="0" smtClean="0"/>
              <a:t>使得它们状态改变的时刻有先有后，这种时差引起的现象称为</a:t>
            </a:r>
            <a:r>
              <a:rPr kumimoji="1" lang="zh-CN" altLang="en-US" sz="1400" b="1" dirty="0" smtClean="0">
                <a:solidFill>
                  <a:srgbClr val="FF0000"/>
                </a:solidFill>
              </a:rPr>
              <a:t>竞争</a:t>
            </a:r>
            <a:r>
              <a:rPr kumimoji="1" lang="zh-CN" altLang="en-US" sz="1400" b="1" dirty="0" smtClean="0"/>
              <a:t>。</a:t>
            </a:r>
            <a:endParaRPr kumimoji="1" lang="en-US" altLang="zh-CN" sz="1400" b="1" dirty="0" smtClean="0"/>
          </a:p>
          <a:p>
            <a:pPr eaLnBrk="1" hangingPunct="1"/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52400" y="590550"/>
            <a:ext cx="7924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en-US" altLang="zh-CN" sz="1400" b="1" dirty="0" smtClean="0"/>
          </a:p>
          <a:p>
            <a:endParaRPr kumimoji="1" lang="zh-CN" altLang="en-US" sz="1400" b="1" dirty="0"/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866775" y="1809750"/>
            <a:ext cx="8277225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有冒险一定存在竞争，有竞争不一定存在冒险！</a:t>
            </a:r>
            <a:endParaRPr lang="zh-CN" altLang="en-US" sz="14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3671" name="Object 7"/>
          <p:cNvGraphicFramePr>
            <a:graphicFrameLocks noChangeAspect="1"/>
          </p:cNvGraphicFramePr>
          <p:nvPr/>
        </p:nvGraphicFramePr>
        <p:xfrm>
          <a:off x="3962400" y="2419350"/>
          <a:ext cx="2752725" cy="1885950"/>
        </p:xfrm>
        <a:graphic>
          <a:graphicData uri="http://schemas.openxmlformats.org/presentationml/2006/ole">
            <p:oleObj spid="_x0000_s45064" name="Visio" r:id="rId3" imgW="3089223" imgH="1898075" progId="Visio.Drawing.11">
              <p:embed/>
            </p:oleObj>
          </a:graphicData>
        </a:graphic>
      </p:graphicFrame>
      <p:sp>
        <p:nvSpPr>
          <p:cNvPr id="20" name="矩形 19"/>
          <p:cNvSpPr/>
          <p:nvPr/>
        </p:nvSpPr>
        <p:spPr>
          <a:xfrm>
            <a:off x="-78547" y="0"/>
            <a:ext cx="2579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：竞争</a:t>
            </a: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冒险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5066" name="Object 10"/>
          <p:cNvGraphicFramePr>
            <a:graphicFrameLocks noChangeAspect="1"/>
          </p:cNvGraphicFramePr>
          <p:nvPr/>
        </p:nvGraphicFramePr>
        <p:xfrm>
          <a:off x="609600" y="2952750"/>
          <a:ext cx="2779713" cy="1066800"/>
        </p:xfrm>
        <a:graphic>
          <a:graphicData uri="http://schemas.openxmlformats.org/presentationml/2006/ole">
            <p:oleObj spid="_x0000_s45066" name="Visio" r:id="rId4" imgW="2722499" imgH="1044725" progId="Visio.Drawing.11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676400" y="38671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/>
              <a:t> 图 </a:t>
            </a:r>
            <a:r>
              <a:rPr lang="en-US" altLang="zh-CN" sz="1400" b="1" dirty="0" smtClean="0"/>
              <a:t>1</a:t>
            </a:r>
            <a:endParaRPr lang="zh-CN" altLang="en-US" sz="1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105400" y="43243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/>
              <a:t> 图 </a:t>
            </a:r>
            <a:r>
              <a:rPr lang="en-US" altLang="zh-CN" sz="1400" b="1" dirty="0" smtClean="0"/>
              <a:t>3</a:t>
            </a:r>
            <a:endParaRPr lang="zh-CN" altLang="en-US" sz="1400" b="1" dirty="0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28600" y="1352550"/>
            <a:ext cx="1143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冒险：</a:t>
            </a:r>
            <a:r>
              <a:rPr lang="zh-CN" altLang="en-US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由于竞争而在电路输出端产生毛刺的现象。</a:t>
            </a:r>
          </a:p>
          <a:p>
            <a:pPr eaLnBrk="1" hangingPunct="1"/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533400" y="1581150"/>
            <a:ext cx="7924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200000"/>
              </a:lnSpc>
            </a:pPr>
            <a:endParaRPr lang="zh-CN" altLang="en-US" sz="1400" b="1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2422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：竞争冒险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52400" y="666750"/>
            <a:ext cx="1143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检查竞 争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冒险的方法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(1)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228600" y="1123950"/>
            <a:ext cx="9007475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在输入变量每次只有一个改变状态的简单情况下</a:t>
            </a:r>
            <a:r>
              <a:rPr lang="zh-CN" altLang="en-US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endParaRPr lang="zh-CN" altLang="en-US" sz="1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114800" y="1123950"/>
            <a:ext cx="8574087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只要输出端的逻辑函数在一定条件下能简化成：</a:t>
            </a: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228600" y="1962150"/>
            <a:ext cx="5318125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即可判定存在</a:t>
            </a:r>
            <a:r>
              <a:rPr lang="zh-CN" altLang="en-US" sz="1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竞争</a:t>
            </a:r>
            <a:r>
              <a:rPr lang="en-US" altLang="zh-CN" sz="1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zh-CN" altLang="en-US" sz="1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冒险。</a:t>
            </a:r>
          </a:p>
        </p:txBody>
      </p:sp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2127250" y="1580952"/>
          <a:ext cx="2222500" cy="304800"/>
        </p:xfrm>
        <a:graphic>
          <a:graphicData uri="http://schemas.openxmlformats.org/presentationml/2006/ole">
            <p:oleObj spid="_x0000_s49154" name="Equation" r:id="rId3" imgW="2222280" imgH="30456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52400" y="285750"/>
            <a:ext cx="7924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200000"/>
              </a:lnSpc>
            </a:pPr>
            <a:r>
              <a:rPr lang="zh-CN" altLang="en-US" sz="1600" b="1" dirty="0" smtClean="0"/>
              <a:t>试判断图</a:t>
            </a:r>
            <a:r>
              <a:rPr lang="en-US" altLang="zh-CN" sz="1600" b="1" dirty="0" smtClean="0"/>
              <a:t>4</a:t>
            </a:r>
            <a:r>
              <a:rPr lang="zh-CN" altLang="en-US" sz="1600" b="1" dirty="0" smtClean="0"/>
              <a:t>的电路中是否存在竞争</a:t>
            </a:r>
            <a:r>
              <a:rPr lang="en-US" altLang="zh-CN" sz="1600" b="1" dirty="0" smtClean="0"/>
              <a:t>-</a:t>
            </a:r>
            <a:r>
              <a:rPr lang="zh-CN" altLang="en-US" sz="1600" b="1" dirty="0" smtClean="0"/>
              <a:t>冒险现象。已知任何瞬间输入变量只可能有一个状态改变。</a:t>
            </a:r>
          </a:p>
        </p:txBody>
      </p:sp>
      <p:sp>
        <p:nvSpPr>
          <p:cNvPr id="20" name="矩形 19"/>
          <p:cNvSpPr/>
          <p:nvPr/>
        </p:nvSpPr>
        <p:spPr>
          <a:xfrm>
            <a:off x="0" y="0"/>
            <a:ext cx="2422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：竞争冒险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60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Group 74"/>
          <p:cNvGrpSpPr>
            <a:grpSpLocks/>
          </p:cNvGrpSpPr>
          <p:nvPr/>
        </p:nvGrpSpPr>
        <p:grpSpPr bwMode="auto">
          <a:xfrm>
            <a:off x="1524000" y="1885950"/>
            <a:ext cx="2990607" cy="2211084"/>
            <a:chOff x="702" y="1158"/>
            <a:chExt cx="2012" cy="1253"/>
          </a:xfrm>
        </p:grpSpPr>
        <p:grpSp>
          <p:nvGrpSpPr>
            <p:cNvPr id="15" name="Group 65"/>
            <p:cNvGrpSpPr>
              <a:grpSpLocks/>
            </p:cNvGrpSpPr>
            <p:nvPr/>
          </p:nvGrpSpPr>
          <p:grpSpPr bwMode="auto">
            <a:xfrm>
              <a:off x="702" y="1158"/>
              <a:ext cx="2012" cy="873"/>
              <a:chOff x="702" y="1158"/>
              <a:chExt cx="2012" cy="873"/>
            </a:xfrm>
          </p:grpSpPr>
          <p:sp>
            <p:nvSpPr>
              <p:cNvPr id="17" name="AutoShape 12"/>
              <p:cNvSpPr>
                <a:spLocks noChangeArrowheads="1"/>
              </p:cNvSpPr>
              <p:nvPr/>
            </p:nvSpPr>
            <p:spPr bwMode="auto">
              <a:xfrm>
                <a:off x="1033" y="1158"/>
                <a:ext cx="260" cy="225"/>
              </a:xfrm>
              <a:prstGeom prst="flowChartDelay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8" name="Group 13"/>
              <p:cNvGrpSpPr>
                <a:grpSpLocks/>
              </p:cNvGrpSpPr>
              <p:nvPr/>
            </p:nvGrpSpPr>
            <p:grpSpPr bwMode="auto">
              <a:xfrm>
                <a:off x="2204" y="1606"/>
                <a:ext cx="302" cy="252"/>
                <a:chOff x="2745" y="2745"/>
                <a:chExt cx="348" cy="252"/>
              </a:xfrm>
            </p:grpSpPr>
            <p:grpSp>
              <p:nvGrpSpPr>
                <p:cNvPr id="40" name="Group 14"/>
                <p:cNvGrpSpPr>
                  <a:grpSpLocks/>
                </p:cNvGrpSpPr>
                <p:nvPr/>
              </p:nvGrpSpPr>
              <p:grpSpPr bwMode="auto">
                <a:xfrm>
                  <a:off x="2763" y="2745"/>
                  <a:ext cx="330" cy="249"/>
                  <a:chOff x="1404" y="3312"/>
                  <a:chExt cx="330" cy="330"/>
                </a:xfrm>
              </p:grpSpPr>
              <p:sp>
                <p:nvSpPr>
                  <p:cNvPr id="42" name="Freeform 15"/>
                  <p:cNvSpPr>
                    <a:spLocks/>
                  </p:cNvSpPr>
                  <p:nvPr/>
                </p:nvSpPr>
                <p:spPr bwMode="auto">
                  <a:xfrm>
                    <a:off x="1404" y="3312"/>
                    <a:ext cx="324" cy="16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97" y="72"/>
                      </a:cxn>
                      <a:cxn ang="0">
                        <a:pos x="405" y="198"/>
                      </a:cxn>
                    </a:cxnLst>
                    <a:rect l="0" t="0" r="r" b="b"/>
                    <a:pathLst>
                      <a:path w="405" h="198">
                        <a:moveTo>
                          <a:pt x="0" y="0"/>
                        </a:moveTo>
                        <a:cubicBezTo>
                          <a:pt x="115" y="19"/>
                          <a:pt x="230" y="39"/>
                          <a:pt x="297" y="72"/>
                        </a:cubicBezTo>
                        <a:cubicBezTo>
                          <a:pt x="364" y="105"/>
                          <a:pt x="384" y="151"/>
                          <a:pt x="405" y="198"/>
                        </a:cubicBezTo>
                      </a:path>
                    </a:pathLst>
                  </a:custGeom>
                  <a:noFill/>
                  <a:ln w="28575" cap="sq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" name="Freeform 16"/>
                  <p:cNvSpPr>
                    <a:spLocks/>
                  </p:cNvSpPr>
                  <p:nvPr/>
                </p:nvSpPr>
                <p:spPr bwMode="auto">
                  <a:xfrm flipV="1">
                    <a:off x="1410" y="3480"/>
                    <a:ext cx="324" cy="16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97" y="72"/>
                      </a:cxn>
                      <a:cxn ang="0">
                        <a:pos x="405" y="198"/>
                      </a:cxn>
                    </a:cxnLst>
                    <a:rect l="0" t="0" r="r" b="b"/>
                    <a:pathLst>
                      <a:path w="405" h="198">
                        <a:moveTo>
                          <a:pt x="0" y="0"/>
                        </a:moveTo>
                        <a:cubicBezTo>
                          <a:pt x="115" y="19"/>
                          <a:pt x="230" y="39"/>
                          <a:pt x="297" y="72"/>
                        </a:cubicBezTo>
                        <a:cubicBezTo>
                          <a:pt x="364" y="105"/>
                          <a:pt x="384" y="151"/>
                          <a:pt x="405" y="198"/>
                        </a:cubicBezTo>
                      </a:path>
                    </a:pathLst>
                  </a:custGeom>
                  <a:noFill/>
                  <a:ln w="28575" cap="sq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1" name="Freeform 17"/>
                <p:cNvSpPr>
                  <a:spLocks/>
                </p:cNvSpPr>
                <p:nvPr/>
              </p:nvSpPr>
              <p:spPr bwMode="auto">
                <a:xfrm>
                  <a:off x="2745" y="2745"/>
                  <a:ext cx="65" cy="25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4" y="135"/>
                    </a:cxn>
                    <a:cxn ang="0">
                      <a:pos x="9" y="252"/>
                    </a:cxn>
                  </a:cxnLst>
                  <a:rect l="0" t="0" r="r" b="b"/>
                  <a:pathLst>
                    <a:path w="56" h="252">
                      <a:moveTo>
                        <a:pt x="0" y="0"/>
                      </a:moveTo>
                      <a:cubicBezTo>
                        <a:pt x="26" y="46"/>
                        <a:pt x="52" y="93"/>
                        <a:pt x="54" y="135"/>
                      </a:cubicBezTo>
                      <a:cubicBezTo>
                        <a:pt x="56" y="177"/>
                        <a:pt x="32" y="214"/>
                        <a:pt x="9" y="252"/>
                      </a:cubicBezTo>
                    </a:path>
                  </a:pathLst>
                </a:cu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AutoShape 19"/>
              <p:cNvSpPr>
                <a:spLocks noChangeArrowheads="1"/>
              </p:cNvSpPr>
              <p:nvPr/>
            </p:nvSpPr>
            <p:spPr bwMode="auto">
              <a:xfrm rot="-5400000">
                <a:off x="1022" y="1630"/>
                <a:ext cx="252" cy="224"/>
              </a:xfrm>
              <a:prstGeom prst="flowChartMerg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Oval 20"/>
              <p:cNvSpPr>
                <a:spLocks noChangeArrowheads="1"/>
              </p:cNvSpPr>
              <p:nvPr/>
            </p:nvSpPr>
            <p:spPr bwMode="auto">
              <a:xfrm>
                <a:off x="1269" y="1706"/>
                <a:ext cx="72" cy="72"/>
              </a:xfrm>
              <a:prstGeom prst="ellips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AutoShape 21"/>
              <p:cNvSpPr>
                <a:spLocks noChangeArrowheads="1"/>
              </p:cNvSpPr>
              <p:nvPr/>
            </p:nvSpPr>
            <p:spPr bwMode="auto">
              <a:xfrm>
                <a:off x="1718" y="1688"/>
                <a:ext cx="260" cy="225"/>
              </a:xfrm>
              <a:prstGeom prst="flowChartDelay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22"/>
              <p:cNvSpPr>
                <a:spLocks noChangeShapeType="1"/>
              </p:cNvSpPr>
              <p:nvPr/>
            </p:nvSpPr>
            <p:spPr bwMode="auto">
              <a:xfrm>
                <a:off x="1352" y="1747"/>
                <a:ext cx="35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" name="Line 23"/>
              <p:cNvSpPr>
                <a:spLocks noChangeShapeType="1"/>
              </p:cNvSpPr>
              <p:nvPr/>
            </p:nvSpPr>
            <p:spPr bwMode="auto">
              <a:xfrm>
                <a:off x="1982" y="1793"/>
                <a:ext cx="25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6" name="Line 24"/>
              <p:cNvSpPr>
                <a:spLocks noChangeShapeType="1"/>
              </p:cNvSpPr>
              <p:nvPr/>
            </p:nvSpPr>
            <p:spPr bwMode="auto">
              <a:xfrm>
                <a:off x="702" y="1208"/>
                <a:ext cx="32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" name="Line 25"/>
              <p:cNvSpPr>
                <a:spLocks noChangeShapeType="1"/>
              </p:cNvSpPr>
              <p:nvPr/>
            </p:nvSpPr>
            <p:spPr bwMode="auto">
              <a:xfrm>
                <a:off x="703" y="1326"/>
                <a:ext cx="32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8" name="Freeform 26"/>
              <p:cNvSpPr>
                <a:spLocks/>
              </p:cNvSpPr>
              <p:nvPr/>
            </p:nvSpPr>
            <p:spPr bwMode="auto">
              <a:xfrm>
                <a:off x="876" y="1208"/>
                <a:ext cx="156" cy="5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30"/>
                  </a:cxn>
                  <a:cxn ang="0">
                    <a:pos x="156" y="530"/>
                  </a:cxn>
                </a:cxnLst>
                <a:rect l="0" t="0" r="r" b="b"/>
                <a:pathLst>
                  <a:path w="156" h="530">
                    <a:moveTo>
                      <a:pt x="0" y="0"/>
                    </a:moveTo>
                    <a:lnTo>
                      <a:pt x="0" y="530"/>
                    </a:lnTo>
                    <a:lnTo>
                      <a:pt x="156" y="530"/>
                    </a:lnTo>
                  </a:path>
                </a:pathLst>
              </a:cu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" name="Freeform 27"/>
              <p:cNvSpPr>
                <a:spLocks/>
              </p:cNvSpPr>
              <p:nvPr/>
            </p:nvSpPr>
            <p:spPr bwMode="auto">
              <a:xfrm>
                <a:off x="712" y="1839"/>
                <a:ext cx="996" cy="192"/>
              </a:xfrm>
              <a:custGeom>
                <a:avLst/>
                <a:gdLst/>
                <a:ahLst/>
                <a:cxnLst>
                  <a:cxn ang="0">
                    <a:pos x="0" y="183"/>
                  </a:cxn>
                  <a:cxn ang="0">
                    <a:pos x="1042" y="183"/>
                  </a:cxn>
                  <a:cxn ang="0">
                    <a:pos x="1042" y="0"/>
                  </a:cxn>
                  <a:cxn ang="0">
                    <a:pos x="1188" y="0"/>
                  </a:cxn>
                </a:cxnLst>
                <a:rect l="0" t="0" r="r" b="b"/>
                <a:pathLst>
                  <a:path w="1188" h="183">
                    <a:moveTo>
                      <a:pt x="0" y="183"/>
                    </a:moveTo>
                    <a:lnTo>
                      <a:pt x="1042" y="183"/>
                    </a:lnTo>
                    <a:lnTo>
                      <a:pt x="1042" y="0"/>
                    </a:lnTo>
                    <a:lnTo>
                      <a:pt x="1188" y="0"/>
                    </a:lnTo>
                  </a:path>
                </a:pathLst>
              </a:cu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" name="Line 28"/>
              <p:cNvSpPr>
                <a:spLocks noChangeShapeType="1"/>
              </p:cNvSpPr>
              <p:nvPr/>
            </p:nvSpPr>
            <p:spPr bwMode="auto">
              <a:xfrm>
                <a:off x="2513" y="1738"/>
                <a:ext cx="201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" name="Freeform 29"/>
              <p:cNvSpPr>
                <a:spLocks/>
              </p:cNvSpPr>
              <p:nvPr/>
            </p:nvSpPr>
            <p:spPr bwMode="auto">
              <a:xfrm>
                <a:off x="1297" y="1263"/>
                <a:ext cx="923" cy="4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40" y="0"/>
                  </a:cxn>
                  <a:cxn ang="0">
                    <a:pos x="740" y="384"/>
                  </a:cxn>
                  <a:cxn ang="0">
                    <a:pos x="923" y="384"/>
                  </a:cxn>
                </a:cxnLst>
                <a:rect l="0" t="0" r="r" b="b"/>
                <a:pathLst>
                  <a:path w="923" h="384">
                    <a:moveTo>
                      <a:pt x="0" y="0"/>
                    </a:moveTo>
                    <a:lnTo>
                      <a:pt x="740" y="0"/>
                    </a:lnTo>
                    <a:lnTo>
                      <a:pt x="740" y="384"/>
                    </a:lnTo>
                    <a:lnTo>
                      <a:pt x="923" y="384"/>
                    </a:lnTo>
                  </a:path>
                </a:pathLst>
              </a:cu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6" name="Text Box 72"/>
            <p:cNvSpPr txBox="1">
              <a:spLocks noChangeArrowheads="1"/>
            </p:cNvSpPr>
            <p:nvPr/>
          </p:nvSpPr>
          <p:spPr bwMode="auto">
            <a:xfrm>
              <a:off x="1394" y="2237"/>
              <a:ext cx="443" cy="17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 smtClean="0"/>
                <a:t>图 </a:t>
              </a:r>
              <a:r>
                <a:rPr lang="en-US" altLang="zh-CN" sz="1400" b="1" dirty="0" smtClean="0"/>
                <a:t>4</a:t>
              </a:r>
              <a:endParaRPr lang="en-US" altLang="zh-CN" sz="1400" b="1" dirty="0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196153" y="177873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211897" y="198529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81039" y="3257389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33839" y="2723989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zh-CN" altLang="en-US" sz="1600" b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0187" name="Object 11"/>
          <p:cNvGraphicFramePr>
            <a:graphicFrameLocks noChangeAspect="1"/>
          </p:cNvGraphicFramePr>
          <p:nvPr/>
        </p:nvGraphicFramePr>
        <p:xfrm>
          <a:off x="5715000" y="2190750"/>
          <a:ext cx="990600" cy="241891"/>
        </p:xfrm>
        <a:graphic>
          <a:graphicData uri="http://schemas.openxmlformats.org/presentationml/2006/ole">
            <p:oleObj spid="_x0000_s50187" name="Equation" r:id="rId3" imgW="1091880" imgH="266400" progId="Equation.DSMT4">
              <p:embed/>
            </p:oleObj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5638800" y="2647950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B=1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C=1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时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/>
          </a:p>
        </p:txBody>
      </p:sp>
      <p:graphicFrame>
        <p:nvGraphicFramePr>
          <p:cNvPr id="50188" name="Object 12"/>
          <p:cNvGraphicFramePr>
            <a:graphicFrameLocks noChangeAspect="1"/>
          </p:cNvGraphicFramePr>
          <p:nvPr/>
        </p:nvGraphicFramePr>
        <p:xfrm>
          <a:off x="5829300" y="3033713"/>
          <a:ext cx="760413" cy="230187"/>
        </p:xfrm>
        <a:graphic>
          <a:graphicData uri="http://schemas.openxmlformats.org/presentationml/2006/ole">
            <p:oleObj spid="_x0000_s50188" name="Equation" r:id="rId4" imgW="838080" imgH="2538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52400" y="285750"/>
            <a:ext cx="7924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200000"/>
              </a:lnSpc>
            </a:pPr>
            <a:r>
              <a:rPr lang="zh-CN" altLang="en-US" sz="1600" b="1" dirty="0" smtClean="0"/>
              <a:t>试判断图</a:t>
            </a:r>
            <a:r>
              <a:rPr lang="en-US" altLang="zh-CN" sz="1600" b="1" dirty="0" smtClean="0"/>
              <a:t>5</a:t>
            </a:r>
            <a:r>
              <a:rPr lang="zh-CN" altLang="en-US" sz="1600" b="1" dirty="0" smtClean="0"/>
              <a:t>的电路中是否存在竞争</a:t>
            </a:r>
            <a:r>
              <a:rPr lang="en-US" altLang="zh-CN" sz="1600" b="1" dirty="0" smtClean="0"/>
              <a:t>-</a:t>
            </a:r>
            <a:r>
              <a:rPr lang="zh-CN" altLang="en-US" sz="1600" b="1" dirty="0" smtClean="0"/>
              <a:t>冒险现象。已知任何瞬间输入变量只可能有一个状态改变。</a:t>
            </a:r>
          </a:p>
        </p:txBody>
      </p:sp>
      <p:sp>
        <p:nvSpPr>
          <p:cNvPr id="20" name="矩形 19"/>
          <p:cNvSpPr/>
          <p:nvPr/>
        </p:nvSpPr>
        <p:spPr>
          <a:xfrm>
            <a:off x="0" y="0"/>
            <a:ext cx="2422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：竞争冒险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60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71600" y="18097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71600" y="20383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371600" y="35623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33839" y="2723989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zh-CN" altLang="en-US" sz="1600" b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0187" name="Object 11"/>
          <p:cNvGraphicFramePr>
            <a:graphicFrameLocks noChangeAspect="1"/>
          </p:cNvGraphicFramePr>
          <p:nvPr/>
        </p:nvGraphicFramePr>
        <p:xfrm>
          <a:off x="5497513" y="2190750"/>
          <a:ext cx="1427162" cy="241300"/>
        </p:xfrm>
        <a:graphic>
          <a:graphicData uri="http://schemas.openxmlformats.org/presentationml/2006/ole">
            <p:oleObj spid="_x0000_s51202" name="Equation" r:id="rId3" imgW="1574640" imgH="266400" progId="Equation.DSMT4">
              <p:embed/>
            </p:oleObj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5638800" y="2647950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C=0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时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/>
          </a:p>
        </p:txBody>
      </p:sp>
      <p:graphicFrame>
        <p:nvGraphicFramePr>
          <p:cNvPr id="50188" name="Object 12"/>
          <p:cNvGraphicFramePr>
            <a:graphicFrameLocks noChangeAspect="1"/>
          </p:cNvGraphicFramePr>
          <p:nvPr/>
        </p:nvGraphicFramePr>
        <p:xfrm>
          <a:off x="5886450" y="3033713"/>
          <a:ext cx="644525" cy="230187"/>
        </p:xfrm>
        <a:graphic>
          <a:graphicData uri="http://schemas.openxmlformats.org/presentationml/2006/ole">
            <p:oleObj spid="_x0000_s51203" name="Equation" r:id="rId4" imgW="711000" imgH="253800" progId="Equation.DSMT4">
              <p:embed/>
            </p:oleObj>
          </a:graphicData>
        </a:graphic>
      </p:graphicFrame>
      <p:grpSp>
        <p:nvGrpSpPr>
          <p:cNvPr id="34" name="Group 71"/>
          <p:cNvGrpSpPr>
            <a:grpSpLocks/>
          </p:cNvGrpSpPr>
          <p:nvPr/>
        </p:nvGrpSpPr>
        <p:grpSpPr bwMode="auto">
          <a:xfrm>
            <a:off x="1714561" y="1843127"/>
            <a:ext cx="2990607" cy="1864699"/>
            <a:chOff x="3473" y="1147"/>
            <a:chExt cx="2012" cy="891"/>
          </a:xfrm>
        </p:grpSpPr>
        <p:grpSp>
          <p:nvGrpSpPr>
            <p:cNvPr id="36" name="Group 41"/>
            <p:cNvGrpSpPr>
              <a:grpSpLocks/>
            </p:cNvGrpSpPr>
            <p:nvPr/>
          </p:nvGrpSpPr>
          <p:grpSpPr bwMode="auto">
            <a:xfrm>
              <a:off x="3768" y="1147"/>
              <a:ext cx="302" cy="252"/>
              <a:chOff x="2745" y="2745"/>
              <a:chExt cx="348" cy="252"/>
            </a:xfrm>
          </p:grpSpPr>
          <p:grpSp>
            <p:nvGrpSpPr>
              <p:cNvPr id="69" name="Group 42"/>
              <p:cNvGrpSpPr>
                <a:grpSpLocks/>
              </p:cNvGrpSpPr>
              <p:nvPr/>
            </p:nvGrpSpPr>
            <p:grpSpPr bwMode="auto">
              <a:xfrm>
                <a:off x="2763" y="2745"/>
                <a:ext cx="330" cy="249"/>
                <a:chOff x="1404" y="3312"/>
                <a:chExt cx="330" cy="330"/>
              </a:xfrm>
            </p:grpSpPr>
            <p:sp>
              <p:nvSpPr>
                <p:cNvPr id="71" name="Freeform 43"/>
                <p:cNvSpPr>
                  <a:spLocks/>
                </p:cNvSpPr>
                <p:nvPr/>
              </p:nvSpPr>
              <p:spPr bwMode="auto">
                <a:xfrm>
                  <a:off x="1404" y="3312"/>
                  <a:ext cx="324" cy="16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97" y="72"/>
                    </a:cxn>
                    <a:cxn ang="0">
                      <a:pos x="405" y="198"/>
                    </a:cxn>
                  </a:cxnLst>
                  <a:rect l="0" t="0" r="r" b="b"/>
                  <a:pathLst>
                    <a:path w="405" h="198">
                      <a:moveTo>
                        <a:pt x="0" y="0"/>
                      </a:moveTo>
                      <a:cubicBezTo>
                        <a:pt x="115" y="19"/>
                        <a:pt x="230" y="39"/>
                        <a:pt x="297" y="72"/>
                      </a:cubicBezTo>
                      <a:cubicBezTo>
                        <a:pt x="364" y="105"/>
                        <a:pt x="384" y="151"/>
                        <a:pt x="405" y="198"/>
                      </a:cubicBezTo>
                    </a:path>
                  </a:pathLst>
                </a:cu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2" name="Freeform 44"/>
                <p:cNvSpPr>
                  <a:spLocks/>
                </p:cNvSpPr>
                <p:nvPr/>
              </p:nvSpPr>
              <p:spPr bwMode="auto">
                <a:xfrm flipV="1">
                  <a:off x="1410" y="3480"/>
                  <a:ext cx="324" cy="16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97" y="72"/>
                    </a:cxn>
                    <a:cxn ang="0">
                      <a:pos x="405" y="198"/>
                    </a:cxn>
                  </a:cxnLst>
                  <a:rect l="0" t="0" r="r" b="b"/>
                  <a:pathLst>
                    <a:path w="405" h="198">
                      <a:moveTo>
                        <a:pt x="0" y="0"/>
                      </a:moveTo>
                      <a:cubicBezTo>
                        <a:pt x="115" y="19"/>
                        <a:pt x="230" y="39"/>
                        <a:pt x="297" y="72"/>
                      </a:cubicBezTo>
                      <a:cubicBezTo>
                        <a:pt x="364" y="105"/>
                        <a:pt x="384" y="151"/>
                        <a:pt x="405" y="198"/>
                      </a:cubicBezTo>
                    </a:path>
                  </a:pathLst>
                </a:cu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70" name="Freeform 45"/>
              <p:cNvSpPr>
                <a:spLocks/>
              </p:cNvSpPr>
              <p:nvPr/>
            </p:nvSpPr>
            <p:spPr bwMode="auto">
              <a:xfrm>
                <a:off x="2745" y="2745"/>
                <a:ext cx="65" cy="25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4" y="135"/>
                  </a:cxn>
                  <a:cxn ang="0">
                    <a:pos x="9" y="252"/>
                  </a:cxn>
                </a:cxnLst>
                <a:rect l="0" t="0" r="r" b="b"/>
                <a:pathLst>
                  <a:path w="56" h="252">
                    <a:moveTo>
                      <a:pt x="0" y="0"/>
                    </a:moveTo>
                    <a:cubicBezTo>
                      <a:pt x="26" y="46"/>
                      <a:pt x="52" y="93"/>
                      <a:pt x="54" y="135"/>
                    </a:cubicBezTo>
                    <a:cubicBezTo>
                      <a:pt x="56" y="177"/>
                      <a:pt x="32" y="214"/>
                      <a:pt x="9" y="252"/>
                    </a:cubicBezTo>
                  </a:path>
                </a:pathLst>
              </a:cu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7" name="AutoShape 46"/>
            <p:cNvSpPr>
              <a:spLocks noChangeArrowheads="1"/>
            </p:cNvSpPr>
            <p:nvPr/>
          </p:nvSpPr>
          <p:spPr bwMode="auto">
            <a:xfrm rot="-5400000">
              <a:off x="3793" y="1637"/>
              <a:ext cx="252" cy="224"/>
            </a:xfrm>
            <a:prstGeom prst="flowChartMerg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Oval 47"/>
            <p:cNvSpPr>
              <a:spLocks noChangeArrowheads="1"/>
            </p:cNvSpPr>
            <p:nvPr/>
          </p:nvSpPr>
          <p:spPr bwMode="auto">
            <a:xfrm>
              <a:off x="4040" y="1713"/>
              <a:ext cx="72" cy="72"/>
            </a:xfrm>
            <a:prstGeom prst="ellips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AutoShape 48"/>
            <p:cNvSpPr>
              <a:spLocks noChangeArrowheads="1"/>
            </p:cNvSpPr>
            <p:nvPr/>
          </p:nvSpPr>
          <p:spPr bwMode="auto">
            <a:xfrm>
              <a:off x="5010" y="1622"/>
              <a:ext cx="260" cy="225"/>
            </a:xfrm>
            <a:prstGeom prst="flowChartDelay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49"/>
            <p:cNvSpPr>
              <a:spLocks noChangeShapeType="1"/>
            </p:cNvSpPr>
            <p:nvPr/>
          </p:nvSpPr>
          <p:spPr bwMode="auto">
            <a:xfrm>
              <a:off x="4123" y="1754"/>
              <a:ext cx="3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Line 50"/>
            <p:cNvSpPr>
              <a:spLocks noChangeShapeType="1"/>
            </p:cNvSpPr>
            <p:nvPr/>
          </p:nvSpPr>
          <p:spPr bwMode="auto">
            <a:xfrm>
              <a:off x="4753" y="1800"/>
              <a:ext cx="2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Line 51"/>
            <p:cNvSpPr>
              <a:spLocks noChangeShapeType="1"/>
            </p:cNvSpPr>
            <p:nvPr/>
          </p:nvSpPr>
          <p:spPr bwMode="auto">
            <a:xfrm>
              <a:off x="3473" y="1215"/>
              <a:ext cx="3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>
              <a:off x="3474" y="1333"/>
              <a:ext cx="3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" name="Freeform 53"/>
            <p:cNvSpPr>
              <a:spLocks/>
            </p:cNvSpPr>
            <p:nvPr/>
          </p:nvSpPr>
          <p:spPr bwMode="auto">
            <a:xfrm>
              <a:off x="3647" y="1215"/>
              <a:ext cx="156" cy="5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30"/>
                </a:cxn>
                <a:cxn ang="0">
                  <a:pos x="156" y="530"/>
                </a:cxn>
              </a:cxnLst>
              <a:rect l="0" t="0" r="r" b="b"/>
              <a:pathLst>
                <a:path w="156" h="530">
                  <a:moveTo>
                    <a:pt x="0" y="0"/>
                  </a:moveTo>
                  <a:lnTo>
                    <a:pt x="0" y="530"/>
                  </a:lnTo>
                  <a:lnTo>
                    <a:pt x="156" y="530"/>
                  </a:lnTo>
                </a:path>
              </a:pathLst>
            </a:cu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" name="Freeform 54"/>
            <p:cNvSpPr>
              <a:spLocks/>
            </p:cNvSpPr>
            <p:nvPr/>
          </p:nvSpPr>
          <p:spPr bwMode="auto">
            <a:xfrm>
              <a:off x="3483" y="1846"/>
              <a:ext cx="996" cy="192"/>
            </a:xfrm>
            <a:custGeom>
              <a:avLst/>
              <a:gdLst/>
              <a:ahLst/>
              <a:cxnLst>
                <a:cxn ang="0">
                  <a:pos x="0" y="183"/>
                </a:cxn>
                <a:cxn ang="0">
                  <a:pos x="1042" y="183"/>
                </a:cxn>
                <a:cxn ang="0">
                  <a:pos x="1042" y="0"/>
                </a:cxn>
                <a:cxn ang="0">
                  <a:pos x="1188" y="0"/>
                </a:cxn>
              </a:cxnLst>
              <a:rect l="0" t="0" r="r" b="b"/>
              <a:pathLst>
                <a:path w="1188" h="183">
                  <a:moveTo>
                    <a:pt x="0" y="183"/>
                  </a:moveTo>
                  <a:lnTo>
                    <a:pt x="1042" y="183"/>
                  </a:lnTo>
                  <a:lnTo>
                    <a:pt x="1042" y="0"/>
                  </a:lnTo>
                  <a:lnTo>
                    <a:pt x="1188" y="0"/>
                  </a:lnTo>
                </a:path>
              </a:pathLst>
            </a:cu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Line 55"/>
            <p:cNvSpPr>
              <a:spLocks noChangeShapeType="1"/>
            </p:cNvSpPr>
            <p:nvPr/>
          </p:nvSpPr>
          <p:spPr bwMode="auto">
            <a:xfrm>
              <a:off x="5284" y="1736"/>
              <a:ext cx="20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5" name="Freeform 56"/>
            <p:cNvSpPr>
              <a:spLocks/>
            </p:cNvSpPr>
            <p:nvPr/>
          </p:nvSpPr>
          <p:spPr bwMode="auto">
            <a:xfrm>
              <a:off x="4068" y="1270"/>
              <a:ext cx="923" cy="41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40" y="0"/>
                </a:cxn>
                <a:cxn ang="0">
                  <a:pos x="740" y="384"/>
                </a:cxn>
                <a:cxn ang="0">
                  <a:pos x="923" y="384"/>
                </a:cxn>
              </a:cxnLst>
              <a:rect l="0" t="0" r="r" b="b"/>
              <a:pathLst>
                <a:path w="923" h="384">
                  <a:moveTo>
                    <a:pt x="0" y="0"/>
                  </a:moveTo>
                  <a:lnTo>
                    <a:pt x="740" y="0"/>
                  </a:lnTo>
                  <a:lnTo>
                    <a:pt x="740" y="384"/>
                  </a:lnTo>
                  <a:lnTo>
                    <a:pt x="923" y="384"/>
                  </a:lnTo>
                </a:path>
              </a:pathLst>
            </a:cu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64" name="Group 66"/>
            <p:cNvGrpSpPr>
              <a:grpSpLocks/>
            </p:cNvGrpSpPr>
            <p:nvPr/>
          </p:nvGrpSpPr>
          <p:grpSpPr bwMode="auto">
            <a:xfrm>
              <a:off x="4452" y="1667"/>
              <a:ext cx="302" cy="252"/>
              <a:chOff x="2745" y="2745"/>
              <a:chExt cx="348" cy="252"/>
            </a:xfrm>
          </p:grpSpPr>
          <p:grpSp>
            <p:nvGrpSpPr>
              <p:cNvPr id="65" name="Group 67"/>
              <p:cNvGrpSpPr>
                <a:grpSpLocks/>
              </p:cNvGrpSpPr>
              <p:nvPr/>
            </p:nvGrpSpPr>
            <p:grpSpPr bwMode="auto">
              <a:xfrm>
                <a:off x="2763" y="2745"/>
                <a:ext cx="330" cy="249"/>
                <a:chOff x="1404" y="3312"/>
                <a:chExt cx="330" cy="330"/>
              </a:xfrm>
            </p:grpSpPr>
            <p:sp>
              <p:nvSpPr>
                <p:cNvPr id="67" name="Freeform 68"/>
                <p:cNvSpPr>
                  <a:spLocks/>
                </p:cNvSpPr>
                <p:nvPr/>
              </p:nvSpPr>
              <p:spPr bwMode="auto">
                <a:xfrm>
                  <a:off x="1404" y="3312"/>
                  <a:ext cx="324" cy="16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97" y="72"/>
                    </a:cxn>
                    <a:cxn ang="0">
                      <a:pos x="405" y="198"/>
                    </a:cxn>
                  </a:cxnLst>
                  <a:rect l="0" t="0" r="r" b="b"/>
                  <a:pathLst>
                    <a:path w="405" h="198">
                      <a:moveTo>
                        <a:pt x="0" y="0"/>
                      </a:moveTo>
                      <a:cubicBezTo>
                        <a:pt x="115" y="19"/>
                        <a:pt x="230" y="39"/>
                        <a:pt x="297" y="72"/>
                      </a:cubicBezTo>
                      <a:cubicBezTo>
                        <a:pt x="364" y="105"/>
                        <a:pt x="384" y="151"/>
                        <a:pt x="405" y="198"/>
                      </a:cubicBezTo>
                    </a:path>
                  </a:pathLst>
                </a:cu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69"/>
                <p:cNvSpPr>
                  <a:spLocks/>
                </p:cNvSpPr>
                <p:nvPr/>
              </p:nvSpPr>
              <p:spPr bwMode="auto">
                <a:xfrm flipV="1">
                  <a:off x="1410" y="3480"/>
                  <a:ext cx="324" cy="16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97" y="72"/>
                    </a:cxn>
                    <a:cxn ang="0">
                      <a:pos x="405" y="198"/>
                    </a:cxn>
                  </a:cxnLst>
                  <a:rect l="0" t="0" r="r" b="b"/>
                  <a:pathLst>
                    <a:path w="405" h="198">
                      <a:moveTo>
                        <a:pt x="0" y="0"/>
                      </a:moveTo>
                      <a:cubicBezTo>
                        <a:pt x="115" y="19"/>
                        <a:pt x="230" y="39"/>
                        <a:pt x="297" y="72"/>
                      </a:cubicBezTo>
                      <a:cubicBezTo>
                        <a:pt x="364" y="105"/>
                        <a:pt x="384" y="151"/>
                        <a:pt x="405" y="198"/>
                      </a:cubicBezTo>
                    </a:path>
                  </a:pathLst>
                </a:cu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66" name="Freeform 70"/>
              <p:cNvSpPr>
                <a:spLocks/>
              </p:cNvSpPr>
              <p:nvPr/>
            </p:nvSpPr>
            <p:spPr bwMode="auto">
              <a:xfrm>
                <a:off x="2745" y="2745"/>
                <a:ext cx="65" cy="25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4" y="135"/>
                  </a:cxn>
                  <a:cxn ang="0">
                    <a:pos x="9" y="252"/>
                  </a:cxn>
                </a:cxnLst>
                <a:rect l="0" t="0" r="r" b="b"/>
                <a:pathLst>
                  <a:path w="56" h="252">
                    <a:moveTo>
                      <a:pt x="0" y="0"/>
                    </a:moveTo>
                    <a:cubicBezTo>
                      <a:pt x="26" y="46"/>
                      <a:pt x="52" y="93"/>
                      <a:pt x="54" y="135"/>
                    </a:cubicBezTo>
                    <a:cubicBezTo>
                      <a:pt x="56" y="177"/>
                      <a:pt x="32" y="214"/>
                      <a:pt x="9" y="252"/>
                    </a:cubicBezTo>
                  </a:path>
                </a:pathLst>
              </a:cu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73" name="Text Box 72"/>
          <p:cNvSpPr txBox="1">
            <a:spLocks noChangeArrowheads="1"/>
          </p:cNvSpPr>
          <p:nvPr/>
        </p:nvSpPr>
        <p:spPr bwMode="auto">
          <a:xfrm>
            <a:off x="2286000" y="38671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5</a:t>
            </a:r>
            <a:endParaRPr lang="en-US" altLang="zh-CN" sz="1400" b="1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2422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：竞争冒险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590550"/>
            <a:ext cx="1143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检查竞 争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冒险的方法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(2)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0" y="1047750"/>
            <a:ext cx="9144000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400" b="1" dirty="0" smtClean="0">
                <a:latin typeface="Times New Roman" pitchFamily="18" charset="0"/>
              </a:rPr>
              <a:t>若卡诺图中存在相切的卡诺圈，即两个卡诺圈之间存在不被同一卡诺圈包含的相邻最小项，则此电路存在竞争冒险。</a:t>
            </a:r>
            <a:endParaRPr lang="zh-CN" altLang="en-US" sz="1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228600" y="1428750"/>
          <a:ext cx="5699125" cy="252413"/>
        </p:xfrm>
        <a:graphic>
          <a:graphicData uri="http://schemas.openxmlformats.org/presentationml/2006/ole">
            <p:oleObj spid="_x0000_s52228" name="Equation" r:id="rId3" imgW="6286320" imgH="279360" progId="Equation.DSMT4">
              <p:embed/>
            </p:oleObj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5562600" y="2038350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B=1,  D=1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时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/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6111875" y="2495550"/>
          <a:ext cx="712788" cy="241300"/>
        </p:xfrm>
        <a:graphic>
          <a:graphicData uri="http://schemas.openxmlformats.org/presentationml/2006/ole">
            <p:oleObj spid="_x0000_s52229" name="Equation" r:id="rId4" imgW="787320" imgH="266400" progId="Equation.DSMT4">
              <p:embed/>
            </p:oleObj>
          </a:graphicData>
        </a:graphic>
      </p:graphicFrame>
      <p:grpSp>
        <p:nvGrpSpPr>
          <p:cNvPr id="62" name="组合 61"/>
          <p:cNvGrpSpPr/>
          <p:nvPr/>
        </p:nvGrpSpPr>
        <p:grpSpPr>
          <a:xfrm>
            <a:off x="457200" y="2114550"/>
            <a:ext cx="4124522" cy="2440646"/>
            <a:chOff x="838200" y="1428750"/>
            <a:chExt cx="4124522" cy="2440646"/>
          </a:xfrm>
        </p:grpSpPr>
        <p:grpSp>
          <p:nvGrpSpPr>
            <p:cNvPr id="50" name="组合 49"/>
            <p:cNvGrpSpPr/>
            <p:nvPr/>
          </p:nvGrpSpPr>
          <p:grpSpPr>
            <a:xfrm>
              <a:off x="838200" y="1428750"/>
              <a:ext cx="4124522" cy="2151459"/>
              <a:chOff x="3733800" y="1733550"/>
              <a:chExt cx="4124522" cy="2151459"/>
            </a:xfrm>
          </p:grpSpPr>
          <p:grpSp>
            <p:nvGrpSpPr>
              <p:cNvPr id="14" name="组合 96"/>
              <p:cNvGrpSpPr>
                <a:grpSpLocks/>
              </p:cNvGrpSpPr>
              <p:nvPr/>
            </p:nvGrpSpPr>
            <p:grpSpPr bwMode="auto">
              <a:xfrm>
                <a:off x="3733800" y="1733550"/>
                <a:ext cx="4124522" cy="2151459"/>
                <a:chOff x="251520" y="1700809"/>
                <a:chExt cx="4123096" cy="2868613"/>
              </a:xfrm>
            </p:grpSpPr>
            <p:grpSp>
              <p:nvGrpSpPr>
                <p:cNvPr id="15" name="组合 61"/>
                <p:cNvGrpSpPr>
                  <a:grpSpLocks/>
                </p:cNvGrpSpPr>
                <p:nvPr/>
              </p:nvGrpSpPr>
              <p:grpSpPr bwMode="auto">
                <a:xfrm>
                  <a:off x="251520" y="1700809"/>
                  <a:ext cx="3930315" cy="2868613"/>
                  <a:chOff x="539552" y="2564905"/>
                  <a:chExt cx="3930315" cy="2868613"/>
                </a:xfrm>
              </p:grpSpPr>
              <p:grpSp>
                <p:nvGrpSpPr>
                  <p:cNvPr id="22" name="组合 34"/>
                  <p:cNvGrpSpPr>
                    <a:grpSpLocks/>
                  </p:cNvGrpSpPr>
                  <p:nvPr/>
                </p:nvGrpSpPr>
                <p:grpSpPr bwMode="auto">
                  <a:xfrm>
                    <a:off x="539552" y="2564905"/>
                    <a:ext cx="3838575" cy="2868613"/>
                    <a:chOff x="1691680" y="2060849"/>
                    <a:chExt cx="3838575" cy="2868613"/>
                  </a:xfrm>
                </p:grpSpPr>
                <p:grpSp>
                  <p:nvGrpSpPr>
                    <p:cNvPr id="26" name="Group 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91680" y="2060849"/>
                      <a:ext cx="3838575" cy="2868613"/>
                      <a:chOff x="1190" y="2284"/>
                      <a:chExt cx="2418" cy="1807"/>
                    </a:xfrm>
                  </p:grpSpPr>
                  <p:sp>
                    <p:nvSpPr>
                      <p:cNvPr id="28" name="Text Box 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544" y="2372"/>
                        <a:ext cx="2064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b="1" dirty="0">
                            <a:ea typeface="楷体_GB2312" pitchFamily="49" charset="-122"/>
                          </a:rPr>
                          <a:t>    </a:t>
                        </a:r>
                        <a:r>
                          <a:rPr lang="en-US" altLang="zh-CN" sz="2000" b="1" dirty="0">
                            <a:ea typeface="楷体_GB2312" pitchFamily="49" charset="-122"/>
                          </a:rPr>
                          <a:t>00      01       11      10</a:t>
                        </a:r>
                        <a:r>
                          <a:rPr lang="en-US" altLang="zh-CN" b="1" dirty="0">
                            <a:ea typeface="楷体_GB2312" pitchFamily="49" charset="-122"/>
                          </a:rPr>
                          <a:t> </a:t>
                        </a:r>
                      </a:p>
                    </p:txBody>
                  </p:sp>
                  <p:sp>
                    <p:nvSpPr>
                      <p:cNvPr id="29" name="Rectangle 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49" y="2597"/>
                        <a:ext cx="1923" cy="138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" name="Line 1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49" y="2933"/>
                        <a:ext cx="1923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" name="Line 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49" y="3304"/>
                        <a:ext cx="1923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" name="Line 1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49" y="3657"/>
                        <a:ext cx="1923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" name="Line 1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90" y="2597"/>
                        <a:ext cx="0" cy="1389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85" y="2597"/>
                        <a:ext cx="0" cy="1389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" name="Line 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98" y="2597"/>
                        <a:ext cx="0" cy="1389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211" y="2383"/>
                        <a:ext cx="438" cy="21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" name="Text Box 1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3791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10</a:t>
                        </a:r>
                      </a:p>
                    </p:txBody>
                  </p:sp>
                  <p:sp>
                    <p:nvSpPr>
                      <p:cNvPr id="38" name="Text Box 1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3392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11</a:t>
                        </a:r>
                      </a:p>
                    </p:txBody>
                  </p:sp>
                  <p:sp>
                    <p:nvSpPr>
                      <p:cNvPr id="39" name="Text Box 1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3031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01</a:t>
                        </a:r>
                      </a:p>
                    </p:txBody>
                  </p:sp>
                  <p:sp>
                    <p:nvSpPr>
                      <p:cNvPr id="40" name="Text Box 2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2694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00</a:t>
                        </a:r>
                      </a:p>
                    </p:txBody>
                  </p:sp>
                  <p:sp>
                    <p:nvSpPr>
                      <p:cNvPr id="41" name="Text Box 2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415" y="2284"/>
                        <a:ext cx="432" cy="2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b="1">
                            <a:ea typeface="楷体_GB2312" pitchFamily="49" charset="-122"/>
                          </a:rPr>
                          <a:t>CD</a:t>
                        </a:r>
                      </a:p>
                    </p:txBody>
                  </p:sp>
                  <p:sp>
                    <p:nvSpPr>
                      <p:cNvPr id="42" name="Text Box 2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190" y="2484"/>
                        <a:ext cx="432" cy="2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b="1">
                            <a:ea typeface="楷体_GB2312" pitchFamily="49" charset="-122"/>
                          </a:rPr>
                          <a:t>AB</a:t>
                        </a:r>
                      </a:p>
                    </p:txBody>
                  </p:sp>
                </p:grpSp>
                <p:sp>
                  <p:nvSpPr>
                    <p:cNvPr id="27" name="TextBox 3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91327" y="3178449"/>
                      <a:ext cx="792087" cy="49244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p:grpSp>
              <p:sp>
                <p:nvSpPr>
                  <p:cNvPr id="23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12153" y="4797154"/>
                    <a:ext cx="792087" cy="49244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24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77780" y="3729131"/>
                    <a:ext cx="792087" cy="49244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25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77109" y="3717033"/>
                    <a:ext cx="792087" cy="49244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  <p:sp>
              <p:nvSpPr>
                <p:cNvPr id="1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399645" y="2422365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0             1               3              2</a:t>
                  </a:r>
                </a:p>
              </p:txBody>
            </p:sp>
            <p:sp>
              <p:nvSpPr>
                <p:cNvPr id="1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389926" y="3014647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4             5               7              6</a:t>
                  </a:r>
                </a:p>
              </p:txBody>
            </p:sp>
            <p:sp>
              <p:nvSpPr>
                <p:cNvPr id="18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317951" y="3559838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12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  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13            15            14</a:t>
                  </a:r>
                </a:p>
              </p:txBody>
            </p:sp>
            <p:sp>
              <p:nvSpPr>
                <p:cNvPr id="2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389926" y="4079024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8   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 9            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11  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10</a:t>
                  </a:r>
                  <a:endParaRPr lang="en-US" altLang="zh-CN" sz="1400" b="1" dirty="0">
                    <a:solidFill>
                      <a:schemeClr val="accent6"/>
                    </a:solidFill>
                    <a:ea typeface="楷体_GB2312" pitchFamily="49" charset="-122"/>
                  </a:endParaRPr>
                </a:p>
              </p:txBody>
            </p:sp>
          </p:grpSp>
          <p:sp>
            <p:nvSpPr>
              <p:cNvPr id="43" name="TextBox 31"/>
              <p:cNvSpPr txBox="1">
                <a:spLocks noChangeArrowheads="1"/>
              </p:cNvSpPr>
              <p:nvPr/>
            </p:nvSpPr>
            <p:spPr bwMode="auto">
              <a:xfrm>
                <a:off x="5349113" y="2123623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Box 31"/>
              <p:cNvSpPr txBox="1">
                <a:spLocks noChangeArrowheads="1"/>
              </p:cNvSpPr>
              <p:nvPr/>
            </p:nvSpPr>
            <p:spPr bwMode="auto">
              <a:xfrm>
                <a:off x="4648200" y="21145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TextBox 31"/>
              <p:cNvSpPr txBox="1">
                <a:spLocks noChangeArrowheads="1"/>
              </p:cNvSpPr>
              <p:nvPr/>
            </p:nvSpPr>
            <p:spPr bwMode="auto">
              <a:xfrm>
                <a:off x="6888227" y="3007795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TextBox 31"/>
              <p:cNvSpPr txBox="1">
                <a:spLocks noChangeArrowheads="1"/>
              </p:cNvSpPr>
              <p:nvPr/>
            </p:nvSpPr>
            <p:spPr bwMode="auto">
              <a:xfrm>
                <a:off x="6187314" y="2998722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7" name="TextBox 31"/>
              <p:cNvSpPr txBox="1">
                <a:spLocks noChangeArrowheads="1"/>
              </p:cNvSpPr>
              <p:nvPr/>
            </p:nvSpPr>
            <p:spPr bwMode="auto">
              <a:xfrm>
                <a:off x="4572000" y="34099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8" name="AutoShape 3"/>
            <p:cNvSpPr>
              <a:spLocks noChangeArrowheads="1"/>
            </p:cNvSpPr>
            <p:nvPr/>
          </p:nvSpPr>
          <p:spPr bwMode="auto">
            <a:xfrm>
              <a:off x="3048630" y="2343150"/>
              <a:ext cx="1447800" cy="685800"/>
            </a:xfrm>
            <a:prstGeom prst="flowChartTerminator">
              <a:avLst/>
            </a:prstGeom>
            <a:noFill/>
            <a:ln w="28575">
              <a:solidFill>
                <a:schemeClr val="accent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AutoShape 3"/>
            <p:cNvSpPr>
              <a:spLocks noChangeArrowheads="1"/>
            </p:cNvSpPr>
            <p:nvPr/>
          </p:nvSpPr>
          <p:spPr bwMode="auto">
            <a:xfrm>
              <a:off x="2415099" y="1870836"/>
              <a:ext cx="609600" cy="685800"/>
            </a:xfrm>
            <a:prstGeom prst="flowChartTerminator">
              <a:avLst/>
            </a:prstGeom>
            <a:noFill/>
            <a:ln w="28575">
              <a:solidFill>
                <a:schemeClr val="accent6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左中括号 50"/>
            <p:cNvSpPr/>
            <p:nvPr/>
          </p:nvSpPr>
          <p:spPr>
            <a:xfrm rot="16200000">
              <a:off x="2116095" y="1522457"/>
              <a:ext cx="263611" cy="990598"/>
            </a:xfrm>
            <a:prstGeom prst="lef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左中括号 51"/>
            <p:cNvSpPr/>
            <p:nvPr/>
          </p:nvSpPr>
          <p:spPr>
            <a:xfrm rot="5400000">
              <a:off x="2039893" y="2817857"/>
              <a:ext cx="263611" cy="990598"/>
            </a:xfrm>
            <a:prstGeom prst="lef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3048630" y="2114550"/>
              <a:ext cx="0" cy="57150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 Box 72"/>
            <p:cNvSpPr txBox="1">
              <a:spLocks noChangeArrowheads="1"/>
            </p:cNvSpPr>
            <p:nvPr/>
          </p:nvSpPr>
          <p:spPr bwMode="auto">
            <a:xfrm>
              <a:off x="2590800" y="3562350"/>
              <a:ext cx="658469" cy="30704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 smtClean="0"/>
                <a:t>图  </a:t>
              </a:r>
              <a:r>
                <a:rPr lang="en-US" altLang="zh-CN" sz="1400" b="1" dirty="0" smtClean="0"/>
                <a:t>4</a:t>
              </a:r>
              <a:endParaRPr lang="en-US" altLang="zh-CN" sz="1400" b="1" dirty="0"/>
            </a:p>
          </p:txBody>
        </p:sp>
      </p:grpSp>
      <p:sp>
        <p:nvSpPr>
          <p:cNvPr id="53" name="AutoShape 9"/>
          <p:cNvSpPr>
            <a:spLocks noChangeArrowheads="1"/>
          </p:cNvSpPr>
          <p:nvPr/>
        </p:nvSpPr>
        <p:spPr bwMode="auto">
          <a:xfrm>
            <a:off x="4572001" y="3181350"/>
            <a:ext cx="838200" cy="481013"/>
          </a:xfrm>
          <a:prstGeom prst="wedgeRoundRectCallout">
            <a:avLst>
              <a:gd name="adj1" fmla="val -104903"/>
              <a:gd name="adj2" fmla="val 6139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 dirty="0" smtClean="0">
                <a:solidFill>
                  <a:srgbClr val="FF0000"/>
                </a:solidFill>
              </a:rPr>
              <a:t>BC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2057400" y="1733551"/>
            <a:ext cx="990600" cy="381000"/>
            <a:chOff x="2057400" y="1733551"/>
            <a:chExt cx="990600" cy="381000"/>
          </a:xfrm>
        </p:grpSpPr>
        <p:sp>
          <p:nvSpPr>
            <p:cNvPr id="54" name="AutoShape 9"/>
            <p:cNvSpPr>
              <a:spLocks noChangeArrowheads="1"/>
            </p:cNvSpPr>
            <p:nvPr/>
          </p:nvSpPr>
          <p:spPr bwMode="auto">
            <a:xfrm>
              <a:off x="2057400" y="1733551"/>
              <a:ext cx="990600" cy="381000"/>
            </a:xfrm>
            <a:prstGeom prst="wedgeRoundRectCallout">
              <a:avLst>
                <a:gd name="adj1" fmla="val -358"/>
                <a:gd name="adj2" fmla="val 162614"/>
                <a:gd name="adj3" fmla="val 1666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/>
              <a:r>
                <a:rPr lang="en-US" altLang="zh-CN" sz="2400" b="1" dirty="0" smtClean="0">
                  <a:solidFill>
                    <a:srgbClr val="FF0000"/>
                  </a:solidFill>
                </a:rPr>
                <a:t>ACD</a:t>
              </a:r>
              <a:endParaRPr lang="en-US" altLang="zh-CN" sz="24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2232660" y="1809750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2468880" y="1809750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组合 63"/>
          <p:cNvGrpSpPr/>
          <p:nvPr/>
        </p:nvGrpSpPr>
        <p:grpSpPr>
          <a:xfrm>
            <a:off x="990600" y="4324350"/>
            <a:ext cx="990600" cy="381000"/>
            <a:chOff x="2057400" y="1733551"/>
            <a:chExt cx="990600" cy="381000"/>
          </a:xfrm>
        </p:grpSpPr>
        <p:sp>
          <p:nvSpPr>
            <p:cNvPr id="65" name="AutoShape 9"/>
            <p:cNvSpPr>
              <a:spLocks noChangeArrowheads="1"/>
            </p:cNvSpPr>
            <p:nvPr/>
          </p:nvSpPr>
          <p:spPr bwMode="auto">
            <a:xfrm>
              <a:off x="2057400" y="1733551"/>
              <a:ext cx="990600" cy="381000"/>
            </a:xfrm>
            <a:prstGeom prst="wedgeRoundRectCallout">
              <a:avLst>
                <a:gd name="adj1" fmla="val 55027"/>
                <a:gd name="adj2" fmla="val -93386"/>
                <a:gd name="adj3" fmla="val 1666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/>
              <a:r>
                <a:rPr lang="en-US" altLang="zh-CN" sz="2400" b="1" dirty="0" smtClean="0">
                  <a:solidFill>
                    <a:srgbClr val="FF0000"/>
                  </a:solidFill>
                </a:rPr>
                <a:t>BC</a:t>
              </a:r>
              <a:endParaRPr lang="en-US" altLang="zh-CN" sz="24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66" name="直接连接符 65"/>
            <p:cNvCxnSpPr/>
            <p:nvPr/>
          </p:nvCxnSpPr>
          <p:spPr>
            <a:xfrm>
              <a:off x="2346960" y="1809750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2583180" y="1809750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2422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：竞争冒险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52400" y="666750"/>
            <a:ext cx="1143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消除竞 争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冒险的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方法（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）：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36525" y="1123950"/>
            <a:ext cx="9007475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加选通脉冲</a:t>
            </a:r>
            <a:endParaRPr lang="zh-CN" altLang="en-US" sz="1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304800" y="1504950"/>
          <a:ext cx="3503689" cy="1981200"/>
        </p:xfrm>
        <a:graphic>
          <a:graphicData uri="http://schemas.openxmlformats.org/presentationml/2006/ole">
            <p:oleObj spid="_x0000_s57348" name="Visio" r:id="rId3" imgW="2884408" imgH="1671020" progId="Visio.Drawing.11">
              <p:embed/>
            </p:oleObj>
          </a:graphicData>
        </a:graphic>
      </p:graphicFrame>
      <p:sp>
        <p:nvSpPr>
          <p:cNvPr id="53" name="Text Box 72"/>
          <p:cNvSpPr txBox="1">
            <a:spLocks noChangeArrowheads="1"/>
          </p:cNvSpPr>
          <p:nvPr/>
        </p:nvSpPr>
        <p:spPr bwMode="auto">
          <a:xfrm>
            <a:off x="1219200" y="35623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5</a:t>
            </a:r>
            <a:endParaRPr lang="en-US" altLang="zh-CN" sz="1400" b="1" dirty="0"/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4038600" y="1733550"/>
          <a:ext cx="3503613" cy="1981200"/>
        </p:xfrm>
        <a:graphic>
          <a:graphicData uri="http://schemas.openxmlformats.org/presentationml/2006/ole">
            <p:oleObj spid="_x0000_s57349" name="Visio" r:id="rId4" imgW="2884408" imgH="1671020" progId="Visio.Drawing.11">
              <p:embed/>
            </p:oleObj>
          </a:graphicData>
        </a:graphic>
      </p:graphicFrame>
      <p:sp>
        <p:nvSpPr>
          <p:cNvPr id="54" name="Text Box 72"/>
          <p:cNvSpPr txBox="1">
            <a:spLocks noChangeArrowheads="1"/>
          </p:cNvSpPr>
          <p:nvPr/>
        </p:nvSpPr>
        <p:spPr bwMode="auto">
          <a:xfrm>
            <a:off x="5410200" y="35623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6</a:t>
            </a:r>
            <a:endParaRPr lang="en-US" altLang="zh-CN" sz="1400" b="1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2422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：竞争冒险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52400" y="666750"/>
            <a:ext cx="1143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消除竞 争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冒险的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方法（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）：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36525" y="1123950"/>
            <a:ext cx="9007475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加选通脉冲</a:t>
            </a:r>
            <a:endParaRPr lang="zh-CN" altLang="en-US" sz="1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304800" y="1581150"/>
          <a:ext cx="3503613" cy="1981200"/>
        </p:xfrm>
        <a:graphic>
          <a:graphicData uri="http://schemas.openxmlformats.org/presentationml/2006/ole">
            <p:oleObj spid="_x0000_s58371" name="Visio" r:id="rId3" imgW="2884408" imgH="1671020" progId="Visio.Drawing.11">
              <p:embed/>
            </p:oleObj>
          </a:graphicData>
        </a:graphic>
      </p:graphicFrame>
      <p:sp>
        <p:nvSpPr>
          <p:cNvPr id="54" name="Text Box 72"/>
          <p:cNvSpPr txBox="1">
            <a:spLocks noChangeArrowheads="1"/>
          </p:cNvSpPr>
          <p:nvPr/>
        </p:nvSpPr>
        <p:spPr bwMode="auto">
          <a:xfrm>
            <a:off x="1676400" y="34099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6</a:t>
            </a:r>
            <a:endParaRPr lang="en-US" altLang="zh-CN" sz="1400" b="1" dirty="0"/>
          </a:p>
        </p:txBody>
      </p:sp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4572000" y="1428750"/>
          <a:ext cx="2849562" cy="2009654"/>
        </p:xfrm>
        <a:graphic>
          <a:graphicData uri="http://schemas.openxmlformats.org/presentationml/2006/ole">
            <p:oleObj spid="_x0000_s58373" name="Visio" r:id="rId4" imgW="1990401" imgH="1479104" progId="Visio.Drawing.11">
              <p:embed/>
            </p:oleObj>
          </a:graphicData>
        </a:graphic>
      </p:graphicFrame>
      <p:sp>
        <p:nvSpPr>
          <p:cNvPr id="13" name="Text Box 72"/>
          <p:cNvSpPr txBox="1">
            <a:spLocks noChangeArrowheads="1"/>
          </p:cNvSpPr>
          <p:nvPr/>
        </p:nvSpPr>
        <p:spPr bwMode="auto">
          <a:xfrm>
            <a:off x="5715000" y="33337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7</a:t>
            </a:r>
            <a:endParaRPr lang="en-US" altLang="zh-CN" sz="1400" b="1" dirty="0"/>
          </a:p>
        </p:txBody>
      </p:sp>
      <p:sp>
        <p:nvSpPr>
          <p:cNvPr id="14" name="矩形 13"/>
          <p:cNvSpPr/>
          <p:nvPr/>
        </p:nvSpPr>
        <p:spPr>
          <a:xfrm>
            <a:off x="1447800" y="3890486"/>
            <a:ext cx="5867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方法简单，不需增加电路元件；但必须得一与输入信号同步的选通脉冲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14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这一脉冲的宽度和作用时间要求严格。</a:t>
            </a:r>
            <a:endParaRPr lang="zh-CN" altLang="en-US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2422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：竞争冒险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52400" y="666750"/>
            <a:ext cx="1143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消除竞 争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冒险的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(2)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36525" y="1123950"/>
            <a:ext cx="9007475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修改逻辑设计</a:t>
            </a:r>
            <a:endParaRPr lang="zh-CN" altLang="en-US" sz="1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5715000" y="1733550"/>
          <a:ext cx="1508125" cy="241300"/>
        </p:xfrm>
        <a:graphic>
          <a:graphicData uri="http://schemas.openxmlformats.org/presentationml/2006/ole">
            <p:oleObj spid="_x0000_s53250" name="Equation" r:id="rId3" imgW="1663560" imgH="266400" progId="Equation.DSMT4">
              <p:embed/>
            </p:oleObj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5562600" y="2038350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B=1,  D=1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时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/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6111875" y="2495550"/>
          <a:ext cx="712788" cy="241300"/>
        </p:xfrm>
        <a:graphic>
          <a:graphicData uri="http://schemas.openxmlformats.org/presentationml/2006/ole">
            <p:oleObj spid="_x0000_s53251" name="Equation" r:id="rId4" imgW="787320" imgH="266400" progId="Equation.DSMT4">
              <p:embed/>
            </p:oleObj>
          </a:graphicData>
        </a:graphic>
      </p:graphicFrame>
      <p:grpSp>
        <p:nvGrpSpPr>
          <p:cNvPr id="50" name="组合 49"/>
          <p:cNvGrpSpPr/>
          <p:nvPr/>
        </p:nvGrpSpPr>
        <p:grpSpPr>
          <a:xfrm>
            <a:off x="838200" y="1428750"/>
            <a:ext cx="4124522" cy="2440646"/>
            <a:chOff x="838200" y="1428750"/>
            <a:chExt cx="4124522" cy="2440646"/>
          </a:xfrm>
        </p:grpSpPr>
        <p:grpSp>
          <p:nvGrpSpPr>
            <p:cNvPr id="2" name="组合 49"/>
            <p:cNvGrpSpPr/>
            <p:nvPr/>
          </p:nvGrpSpPr>
          <p:grpSpPr>
            <a:xfrm>
              <a:off x="838200" y="1428750"/>
              <a:ext cx="4124522" cy="2151459"/>
              <a:chOff x="3733800" y="1733550"/>
              <a:chExt cx="4124522" cy="2151459"/>
            </a:xfrm>
          </p:grpSpPr>
          <p:grpSp>
            <p:nvGrpSpPr>
              <p:cNvPr id="3" name="组合 96"/>
              <p:cNvGrpSpPr>
                <a:grpSpLocks/>
              </p:cNvGrpSpPr>
              <p:nvPr/>
            </p:nvGrpSpPr>
            <p:grpSpPr bwMode="auto">
              <a:xfrm>
                <a:off x="3733800" y="1733550"/>
                <a:ext cx="4124522" cy="2151459"/>
                <a:chOff x="251520" y="1700809"/>
                <a:chExt cx="4123096" cy="2868613"/>
              </a:xfrm>
            </p:grpSpPr>
            <p:grpSp>
              <p:nvGrpSpPr>
                <p:cNvPr id="4" name="组合 61"/>
                <p:cNvGrpSpPr>
                  <a:grpSpLocks/>
                </p:cNvGrpSpPr>
                <p:nvPr/>
              </p:nvGrpSpPr>
              <p:grpSpPr bwMode="auto">
                <a:xfrm>
                  <a:off x="251520" y="1700809"/>
                  <a:ext cx="3930315" cy="2868613"/>
                  <a:chOff x="539552" y="2564905"/>
                  <a:chExt cx="3930315" cy="2868613"/>
                </a:xfrm>
              </p:grpSpPr>
              <p:grpSp>
                <p:nvGrpSpPr>
                  <p:cNvPr id="5" name="组合 34"/>
                  <p:cNvGrpSpPr>
                    <a:grpSpLocks/>
                  </p:cNvGrpSpPr>
                  <p:nvPr/>
                </p:nvGrpSpPr>
                <p:grpSpPr bwMode="auto">
                  <a:xfrm>
                    <a:off x="539552" y="2564905"/>
                    <a:ext cx="3838575" cy="2868613"/>
                    <a:chOff x="1691680" y="2060849"/>
                    <a:chExt cx="3838575" cy="2868613"/>
                  </a:xfrm>
                </p:grpSpPr>
                <p:grpSp>
                  <p:nvGrpSpPr>
                    <p:cNvPr id="6" name="Group 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91680" y="2060849"/>
                      <a:ext cx="3838575" cy="2868613"/>
                      <a:chOff x="1190" y="2284"/>
                      <a:chExt cx="2418" cy="1807"/>
                    </a:xfrm>
                  </p:grpSpPr>
                  <p:sp>
                    <p:nvSpPr>
                      <p:cNvPr id="28" name="Text Box 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544" y="2372"/>
                        <a:ext cx="2064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b="1" dirty="0">
                            <a:ea typeface="楷体_GB2312" pitchFamily="49" charset="-122"/>
                          </a:rPr>
                          <a:t>    </a:t>
                        </a:r>
                        <a:r>
                          <a:rPr lang="en-US" altLang="zh-CN" sz="2000" b="1" dirty="0">
                            <a:ea typeface="楷体_GB2312" pitchFamily="49" charset="-122"/>
                          </a:rPr>
                          <a:t>00      01       11      10</a:t>
                        </a:r>
                        <a:r>
                          <a:rPr lang="en-US" altLang="zh-CN" b="1" dirty="0">
                            <a:ea typeface="楷体_GB2312" pitchFamily="49" charset="-122"/>
                          </a:rPr>
                          <a:t> </a:t>
                        </a:r>
                      </a:p>
                    </p:txBody>
                  </p:sp>
                  <p:sp>
                    <p:nvSpPr>
                      <p:cNvPr id="29" name="Rectangle 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49" y="2597"/>
                        <a:ext cx="1923" cy="138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" name="Line 1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49" y="2933"/>
                        <a:ext cx="1923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" name="Line 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49" y="3304"/>
                        <a:ext cx="1923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" name="Line 1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49" y="3657"/>
                        <a:ext cx="1923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" name="Line 1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90" y="2597"/>
                        <a:ext cx="0" cy="1389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85" y="2597"/>
                        <a:ext cx="0" cy="1389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" name="Line 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98" y="2597"/>
                        <a:ext cx="0" cy="1389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211" y="2383"/>
                        <a:ext cx="438" cy="21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" name="Text Box 1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3791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10</a:t>
                        </a:r>
                      </a:p>
                    </p:txBody>
                  </p:sp>
                  <p:sp>
                    <p:nvSpPr>
                      <p:cNvPr id="38" name="Text Box 1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3392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11</a:t>
                        </a:r>
                      </a:p>
                    </p:txBody>
                  </p:sp>
                  <p:sp>
                    <p:nvSpPr>
                      <p:cNvPr id="39" name="Text Box 1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3031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01</a:t>
                        </a:r>
                      </a:p>
                    </p:txBody>
                  </p:sp>
                  <p:sp>
                    <p:nvSpPr>
                      <p:cNvPr id="40" name="Text Box 2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2694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00</a:t>
                        </a:r>
                      </a:p>
                    </p:txBody>
                  </p:sp>
                  <p:sp>
                    <p:nvSpPr>
                      <p:cNvPr id="41" name="Text Box 2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415" y="2284"/>
                        <a:ext cx="432" cy="2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b="1">
                            <a:ea typeface="楷体_GB2312" pitchFamily="49" charset="-122"/>
                          </a:rPr>
                          <a:t>CD</a:t>
                        </a:r>
                      </a:p>
                    </p:txBody>
                  </p:sp>
                  <p:sp>
                    <p:nvSpPr>
                      <p:cNvPr id="42" name="Text Box 2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190" y="2484"/>
                        <a:ext cx="432" cy="2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b="1">
                            <a:ea typeface="楷体_GB2312" pitchFamily="49" charset="-122"/>
                          </a:rPr>
                          <a:t>AB</a:t>
                        </a:r>
                      </a:p>
                    </p:txBody>
                  </p:sp>
                </p:grpSp>
                <p:sp>
                  <p:nvSpPr>
                    <p:cNvPr id="27" name="TextBox 3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91327" y="3178449"/>
                      <a:ext cx="792087" cy="49244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p:grpSp>
              <p:sp>
                <p:nvSpPr>
                  <p:cNvPr id="23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12153" y="4797154"/>
                    <a:ext cx="792087" cy="49244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24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77780" y="3729131"/>
                    <a:ext cx="792087" cy="49244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25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77109" y="3717033"/>
                    <a:ext cx="792087" cy="49244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  <p:sp>
              <p:nvSpPr>
                <p:cNvPr id="1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399645" y="2422365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0             1               3              2</a:t>
                  </a:r>
                </a:p>
              </p:txBody>
            </p:sp>
            <p:sp>
              <p:nvSpPr>
                <p:cNvPr id="1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389926" y="3014647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4             5               7              6</a:t>
                  </a:r>
                </a:p>
              </p:txBody>
            </p:sp>
            <p:sp>
              <p:nvSpPr>
                <p:cNvPr id="18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317951" y="3559838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12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  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13            15            14</a:t>
                  </a:r>
                </a:p>
              </p:txBody>
            </p:sp>
            <p:sp>
              <p:nvSpPr>
                <p:cNvPr id="2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389926" y="4079024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8   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 9            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11  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10</a:t>
                  </a:r>
                  <a:endParaRPr lang="en-US" altLang="zh-CN" sz="1400" b="1" dirty="0">
                    <a:solidFill>
                      <a:schemeClr val="accent6"/>
                    </a:solidFill>
                    <a:ea typeface="楷体_GB2312" pitchFamily="49" charset="-122"/>
                  </a:endParaRPr>
                </a:p>
              </p:txBody>
            </p:sp>
          </p:grpSp>
          <p:sp>
            <p:nvSpPr>
              <p:cNvPr id="43" name="TextBox 31"/>
              <p:cNvSpPr txBox="1">
                <a:spLocks noChangeArrowheads="1"/>
              </p:cNvSpPr>
              <p:nvPr/>
            </p:nvSpPr>
            <p:spPr bwMode="auto">
              <a:xfrm>
                <a:off x="5349113" y="2123623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Box 31"/>
              <p:cNvSpPr txBox="1">
                <a:spLocks noChangeArrowheads="1"/>
              </p:cNvSpPr>
              <p:nvPr/>
            </p:nvSpPr>
            <p:spPr bwMode="auto">
              <a:xfrm>
                <a:off x="4648200" y="21145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TextBox 31"/>
              <p:cNvSpPr txBox="1">
                <a:spLocks noChangeArrowheads="1"/>
              </p:cNvSpPr>
              <p:nvPr/>
            </p:nvSpPr>
            <p:spPr bwMode="auto">
              <a:xfrm>
                <a:off x="6888227" y="3007795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TextBox 31"/>
              <p:cNvSpPr txBox="1">
                <a:spLocks noChangeArrowheads="1"/>
              </p:cNvSpPr>
              <p:nvPr/>
            </p:nvSpPr>
            <p:spPr bwMode="auto">
              <a:xfrm>
                <a:off x="6187314" y="2998722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7" name="TextBox 31"/>
              <p:cNvSpPr txBox="1">
                <a:spLocks noChangeArrowheads="1"/>
              </p:cNvSpPr>
              <p:nvPr/>
            </p:nvSpPr>
            <p:spPr bwMode="auto">
              <a:xfrm>
                <a:off x="4572000" y="34099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8" name="AutoShape 3"/>
            <p:cNvSpPr>
              <a:spLocks noChangeArrowheads="1"/>
            </p:cNvSpPr>
            <p:nvPr/>
          </p:nvSpPr>
          <p:spPr bwMode="auto">
            <a:xfrm>
              <a:off x="3048630" y="2343150"/>
              <a:ext cx="1447800" cy="685800"/>
            </a:xfrm>
            <a:prstGeom prst="flowChartTerminator">
              <a:avLst/>
            </a:prstGeom>
            <a:noFill/>
            <a:ln w="28575">
              <a:solidFill>
                <a:schemeClr val="accent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AutoShape 3"/>
            <p:cNvSpPr>
              <a:spLocks noChangeArrowheads="1"/>
            </p:cNvSpPr>
            <p:nvPr/>
          </p:nvSpPr>
          <p:spPr bwMode="auto">
            <a:xfrm>
              <a:off x="2415099" y="1870836"/>
              <a:ext cx="609600" cy="685800"/>
            </a:xfrm>
            <a:prstGeom prst="flowChartTerminator">
              <a:avLst/>
            </a:prstGeom>
            <a:noFill/>
            <a:ln w="28575">
              <a:solidFill>
                <a:schemeClr val="accent6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左中括号 50"/>
            <p:cNvSpPr/>
            <p:nvPr/>
          </p:nvSpPr>
          <p:spPr>
            <a:xfrm rot="16200000">
              <a:off x="2116095" y="1522457"/>
              <a:ext cx="263611" cy="990598"/>
            </a:xfrm>
            <a:prstGeom prst="lef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左中括号 51"/>
            <p:cNvSpPr/>
            <p:nvPr/>
          </p:nvSpPr>
          <p:spPr>
            <a:xfrm rot="5400000">
              <a:off x="2039893" y="2817857"/>
              <a:ext cx="263611" cy="990598"/>
            </a:xfrm>
            <a:prstGeom prst="lef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直接连接符 57"/>
            <p:cNvCxnSpPr>
              <a:endCxn id="48" idx="1"/>
            </p:cNvCxnSpPr>
            <p:nvPr/>
          </p:nvCxnSpPr>
          <p:spPr>
            <a:xfrm>
              <a:off x="3048630" y="2114550"/>
              <a:ext cx="0" cy="57150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 Box 72"/>
            <p:cNvSpPr txBox="1">
              <a:spLocks noChangeArrowheads="1"/>
            </p:cNvSpPr>
            <p:nvPr/>
          </p:nvSpPr>
          <p:spPr bwMode="auto">
            <a:xfrm>
              <a:off x="2590800" y="3562350"/>
              <a:ext cx="658469" cy="30704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 smtClean="0"/>
                <a:t>图  </a:t>
              </a:r>
              <a:r>
                <a:rPr lang="en-US" altLang="zh-CN" sz="1400" b="1" dirty="0" smtClean="0"/>
                <a:t>4</a:t>
              </a:r>
              <a:endParaRPr lang="en-US" altLang="zh-CN" sz="1400" b="1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2422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：竞争冒险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52400" y="666750"/>
            <a:ext cx="1143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消除竞 争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冒险的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(2)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36525" y="1123950"/>
            <a:ext cx="9007475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修改逻辑设计</a:t>
            </a:r>
            <a:endParaRPr lang="zh-CN" altLang="en-US" sz="1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5715000" y="3020763"/>
          <a:ext cx="1992313" cy="241300"/>
        </p:xfrm>
        <a:graphic>
          <a:graphicData uri="http://schemas.openxmlformats.org/presentationml/2006/ole">
            <p:oleObj spid="_x0000_s54274" name="Equation" r:id="rId3" imgW="2197080" imgH="266400" progId="Equation.DSMT4">
              <p:embed/>
            </p:oleObj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5803900" y="3325563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B=1,  D=1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时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/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6186488" y="3782763"/>
          <a:ext cx="1046162" cy="241300"/>
        </p:xfrm>
        <a:graphic>
          <a:graphicData uri="http://schemas.openxmlformats.org/presentationml/2006/ole">
            <p:oleObj spid="_x0000_s54275" name="Equation" r:id="rId4" imgW="1155600" imgH="266400" progId="Equation.DSMT4">
              <p:embed/>
            </p:oleObj>
          </a:graphicData>
        </a:graphic>
      </p:graphicFrame>
      <p:grpSp>
        <p:nvGrpSpPr>
          <p:cNvPr id="2" name="组合 49"/>
          <p:cNvGrpSpPr/>
          <p:nvPr/>
        </p:nvGrpSpPr>
        <p:grpSpPr>
          <a:xfrm>
            <a:off x="838200" y="1428750"/>
            <a:ext cx="4124522" cy="2440646"/>
            <a:chOff x="838200" y="1428750"/>
            <a:chExt cx="4124522" cy="2440646"/>
          </a:xfrm>
        </p:grpSpPr>
        <p:grpSp>
          <p:nvGrpSpPr>
            <p:cNvPr id="3" name="组合 49"/>
            <p:cNvGrpSpPr/>
            <p:nvPr/>
          </p:nvGrpSpPr>
          <p:grpSpPr>
            <a:xfrm>
              <a:off x="838200" y="1428750"/>
              <a:ext cx="4124522" cy="2151459"/>
              <a:chOff x="3733800" y="1733550"/>
              <a:chExt cx="4124522" cy="2151459"/>
            </a:xfrm>
          </p:grpSpPr>
          <p:grpSp>
            <p:nvGrpSpPr>
              <p:cNvPr id="4" name="组合 96"/>
              <p:cNvGrpSpPr>
                <a:grpSpLocks/>
              </p:cNvGrpSpPr>
              <p:nvPr/>
            </p:nvGrpSpPr>
            <p:grpSpPr bwMode="auto">
              <a:xfrm>
                <a:off x="3733800" y="1733550"/>
                <a:ext cx="4124522" cy="2151459"/>
                <a:chOff x="251520" y="1700809"/>
                <a:chExt cx="4123096" cy="2868613"/>
              </a:xfrm>
            </p:grpSpPr>
            <p:grpSp>
              <p:nvGrpSpPr>
                <p:cNvPr id="5" name="组合 61"/>
                <p:cNvGrpSpPr>
                  <a:grpSpLocks/>
                </p:cNvGrpSpPr>
                <p:nvPr/>
              </p:nvGrpSpPr>
              <p:grpSpPr bwMode="auto">
                <a:xfrm>
                  <a:off x="251520" y="1700809"/>
                  <a:ext cx="3930315" cy="2868613"/>
                  <a:chOff x="539552" y="2564905"/>
                  <a:chExt cx="3930315" cy="2868613"/>
                </a:xfrm>
              </p:grpSpPr>
              <p:grpSp>
                <p:nvGrpSpPr>
                  <p:cNvPr id="6" name="组合 34"/>
                  <p:cNvGrpSpPr>
                    <a:grpSpLocks/>
                  </p:cNvGrpSpPr>
                  <p:nvPr/>
                </p:nvGrpSpPr>
                <p:grpSpPr bwMode="auto">
                  <a:xfrm>
                    <a:off x="539552" y="2564905"/>
                    <a:ext cx="3838575" cy="2868613"/>
                    <a:chOff x="1691680" y="2060849"/>
                    <a:chExt cx="3838575" cy="2868613"/>
                  </a:xfrm>
                </p:grpSpPr>
                <p:grpSp>
                  <p:nvGrpSpPr>
                    <p:cNvPr id="7" name="Group 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91680" y="2060849"/>
                      <a:ext cx="3838575" cy="2868613"/>
                      <a:chOff x="1190" y="2284"/>
                      <a:chExt cx="2418" cy="1807"/>
                    </a:xfrm>
                  </p:grpSpPr>
                  <p:sp>
                    <p:nvSpPr>
                      <p:cNvPr id="28" name="Text Box 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544" y="2372"/>
                        <a:ext cx="2064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b="1" dirty="0">
                            <a:ea typeface="楷体_GB2312" pitchFamily="49" charset="-122"/>
                          </a:rPr>
                          <a:t>    </a:t>
                        </a:r>
                        <a:r>
                          <a:rPr lang="en-US" altLang="zh-CN" sz="2000" b="1" dirty="0">
                            <a:ea typeface="楷体_GB2312" pitchFamily="49" charset="-122"/>
                          </a:rPr>
                          <a:t>00      01       11      10</a:t>
                        </a:r>
                        <a:r>
                          <a:rPr lang="en-US" altLang="zh-CN" b="1" dirty="0">
                            <a:ea typeface="楷体_GB2312" pitchFamily="49" charset="-122"/>
                          </a:rPr>
                          <a:t> </a:t>
                        </a:r>
                      </a:p>
                    </p:txBody>
                  </p:sp>
                  <p:sp>
                    <p:nvSpPr>
                      <p:cNvPr id="29" name="Rectangle 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49" y="2597"/>
                        <a:ext cx="1923" cy="138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" name="Line 1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49" y="2933"/>
                        <a:ext cx="1923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" name="Line 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49" y="3304"/>
                        <a:ext cx="1923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" name="Line 1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49" y="3657"/>
                        <a:ext cx="1923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" name="Line 1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90" y="2597"/>
                        <a:ext cx="0" cy="1389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85" y="2597"/>
                        <a:ext cx="0" cy="1389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" name="Line 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98" y="2597"/>
                        <a:ext cx="0" cy="1389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211" y="2383"/>
                        <a:ext cx="438" cy="21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" name="Text Box 1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3791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10</a:t>
                        </a:r>
                      </a:p>
                    </p:txBody>
                  </p:sp>
                  <p:sp>
                    <p:nvSpPr>
                      <p:cNvPr id="38" name="Text Box 1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3392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11</a:t>
                        </a:r>
                      </a:p>
                    </p:txBody>
                  </p:sp>
                  <p:sp>
                    <p:nvSpPr>
                      <p:cNvPr id="39" name="Text Box 1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3031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01</a:t>
                        </a:r>
                      </a:p>
                    </p:txBody>
                  </p:sp>
                  <p:sp>
                    <p:nvSpPr>
                      <p:cNvPr id="40" name="Text Box 2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82" y="2694"/>
                        <a:ext cx="336" cy="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sz="2000" b="1">
                            <a:ea typeface="楷体_GB2312" pitchFamily="49" charset="-122"/>
                          </a:rPr>
                          <a:t>00</a:t>
                        </a:r>
                      </a:p>
                    </p:txBody>
                  </p:sp>
                  <p:sp>
                    <p:nvSpPr>
                      <p:cNvPr id="41" name="Text Box 2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415" y="2284"/>
                        <a:ext cx="432" cy="2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b="1">
                            <a:ea typeface="楷体_GB2312" pitchFamily="49" charset="-122"/>
                          </a:rPr>
                          <a:t>CD</a:t>
                        </a:r>
                      </a:p>
                    </p:txBody>
                  </p:sp>
                  <p:sp>
                    <p:nvSpPr>
                      <p:cNvPr id="42" name="Text Box 2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190" y="2484"/>
                        <a:ext cx="432" cy="2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79068" tIns="39534" rIns="79068" bIns="39534">
                        <a:spAutoFit/>
                      </a:bodyPr>
                      <a:lstStyle/>
                      <a:p>
                        <a:pPr defTabSz="790575">
                          <a:lnSpc>
                            <a:spcPct val="90000"/>
                          </a:lnSpc>
                          <a:spcBef>
                            <a:spcPct val="50000"/>
                          </a:spcBef>
                          <a:buClr>
                            <a:schemeClr val="folHlink"/>
                          </a:buClr>
                          <a:buSzPct val="60000"/>
                        </a:pPr>
                        <a:r>
                          <a:rPr lang="en-US" altLang="zh-CN" b="1">
                            <a:ea typeface="楷体_GB2312" pitchFamily="49" charset="-122"/>
                          </a:rPr>
                          <a:t>AB</a:t>
                        </a:r>
                      </a:p>
                    </p:txBody>
                  </p:sp>
                </p:grpSp>
                <p:sp>
                  <p:nvSpPr>
                    <p:cNvPr id="27" name="TextBox 3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91327" y="3178449"/>
                      <a:ext cx="792087" cy="49244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p:grpSp>
              <p:sp>
                <p:nvSpPr>
                  <p:cNvPr id="23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12153" y="4797154"/>
                    <a:ext cx="792087" cy="49244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24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77780" y="3729131"/>
                    <a:ext cx="792087" cy="49244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25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77109" y="3717033"/>
                    <a:ext cx="792087" cy="49244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  <p:sp>
              <p:nvSpPr>
                <p:cNvPr id="1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399645" y="2422365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0             1               3              2</a:t>
                  </a:r>
                </a:p>
              </p:txBody>
            </p:sp>
            <p:sp>
              <p:nvSpPr>
                <p:cNvPr id="1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389926" y="3014647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4             5               7              6</a:t>
                  </a:r>
                </a:p>
              </p:txBody>
            </p:sp>
            <p:sp>
              <p:nvSpPr>
                <p:cNvPr id="18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317951" y="3559838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12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  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13            15            14</a:t>
                  </a:r>
                </a:p>
              </p:txBody>
            </p:sp>
            <p:sp>
              <p:nvSpPr>
                <p:cNvPr id="2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389926" y="4079024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8   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 9            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11  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10</a:t>
                  </a:r>
                  <a:endParaRPr lang="en-US" altLang="zh-CN" sz="1400" b="1" dirty="0">
                    <a:solidFill>
                      <a:schemeClr val="accent6"/>
                    </a:solidFill>
                    <a:ea typeface="楷体_GB2312" pitchFamily="49" charset="-122"/>
                  </a:endParaRPr>
                </a:p>
              </p:txBody>
            </p:sp>
          </p:grpSp>
          <p:sp>
            <p:nvSpPr>
              <p:cNvPr id="43" name="TextBox 31"/>
              <p:cNvSpPr txBox="1">
                <a:spLocks noChangeArrowheads="1"/>
              </p:cNvSpPr>
              <p:nvPr/>
            </p:nvSpPr>
            <p:spPr bwMode="auto">
              <a:xfrm>
                <a:off x="5349113" y="2123623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Box 31"/>
              <p:cNvSpPr txBox="1">
                <a:spLocks noChangeArrowheads="1"/>
              </p:cNvSpPr>
              <p:nvPr/>
            </p:nvSpPr>
            <p:spPr bwMode="auto">
              <a:xfrm>
                <a:off x="4648200" y="21145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TextBox 31"/>
              <p:cNvSpPr txBox="1">
                <a:spLocks noChangeArrowheads="1"/>
              </p:cNvSpPr>
              <p:nvPr/>
            </p:nvSpPr>
            <p:spPr bwMode="auto">
              <a:xfrm>
                <a:off x="6888227" y="3007795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TextBox 31"/>
              <p:cNvSpPr txBox="1">
                <a:spLocks noChangeArrowheads="1"/>
              </p:cNvSpPr>
              <p:nvPr/>
            </p:nvSpPr>
            <p:spPr bwMode="auto">
              <a:xfrm>
                <a:off x="6187314" y="2998722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7" name="TextBox 31"/>
              <p:cNvSpPr txBox="1">
                <a:spLocks noChangeArrowheads="1"/>
              </p:cNvSpPr>
              <p:nvPr/>
            </p:nvSpPr>
            <p:spPr bwMode="auto">
              <a:xfrm>
                <a:off x="4572000" y="34099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8" name="AutoShape 3"/>
            <p:cNvSpPr>
              <a:spLocks noChangeArrowheads="1"/>
            </p:cNvSpPr>
            <p:nvPr/>
          </p:nvSpPr>
          <p:spPr bwMode="auto">
            <a:xfrm>
              <a:off x="3048630" y="2343150"/>
              <a:ext cx="1447800" cy="685800"/>
            </a:xfrm>
            <a:prstGeom prst="flowChartTerminator">
              <a:avLst/>
            </a:prstGeom>
            <a:noFill/>
            <a:ln w="28575">
              <a:solidFill>
                <a:schemeClr val="accent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AutoShape 3"/>
            <p:cNvSpPr>
              <a:spLocks noChangeArrowheads="1"/>
            </p:cNvSpPr>
            <p:nvPr/>
          </p:nvSpPr>
          <p:spPr bwMode="auto">
            <a:xfrm>
              <a:off x="2415099" y="1870836"/>
              <a:ext cx="609600" cy="685800"/>
            </a:xfrm>
            <a:prstGeom prst="flowChartTerminator">
              <a:avLst/>
            </a:prstGeom>
            <a:noFill/>
            <a:ln w="28575">
              <a:solidFill>
                <a:schemeClr val="accent6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左中括号 50"/>
            <p:cNvSpPr/>
            <p:nvPr/>
          </p:nvSpPr>
          <p:spPr>
            <a:xfrm rot="16200000">
              <a:off x="2116095" y="1522457"/>
              <a:ext cx="263611" cy="990598"/>
            </a:xfrm>
            <a:prstGeom prst="lef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左中括号 51"/>
            <p:cNvSpPr/>
            <p:nvPr/>
          </p:nvSpPr>
          <p:spPr>
            <a:xfrm rot="5400000">
              <a:off x="2039893" y="2817857"/>
              <a:ext cx="263611" cy="990598"/>
            </a:xfrm>
            <a:prstGeom prst="lef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Text Box 72"/>
            <p:cNvSpPr txBox="1">
              <a:spLocks noChangeArrowheads="1"/>
            </p:cNvSpPr>
            <p:nvPr/>
          </p:nvSpPr>
          <p:spPr bwMode="auto">
            <a:xfrm>
              <a:off x="2590800" y="3562350"/>
              <a:ext cx="658469" cy="30704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 smtClean="0"/>
                <a:t>图  </a:t>
              </a:r>
              <a:r>
                <a:rPr lang="en-US" altLang="zh-CN" sz="1400" b="1" dirty="0" smtClean="0"/>
                <a:t>8</a:t>
              </a:r>
              <a:endParaRPr lang="en-US" altLang="zh-CN" sz="1400" b="1" dirty="0"/>
            </a:p>
          </p:txBody>
        </p:sp>
      </p:grpSp>
      <p:sp>
        <p:nvSpPr>
          <p:cNvPr id="50" name="AutoShape 3"/>
          <p:cNvSpPr>
            <a:spLocks noChangeArrowheads="1"/>
          </p:cNvSpPr>
          <p:nvPr/>
        </p:nvSpPr>
        <p:spPr bwMode="auto">
          <a:xfrm>
            <a:off x="2514600" y="2236092"/>
            <a:ext cx="990600" cy="381000"/>
          </a:xfrm>
          <a:prstGeom prst="flowChartTerminator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5867400" y="1733550"/>
          <a:ext cx="1508125" cy="241300"/>
        </p:xfrm>
        <a:graphic>
          <a:graphicData uri="http://schemas.openxmlformats.org/presentationml/2006/ole">
            <p:oleObj spid="_x0000_s54276" name="Equation" r:id="rId5" imgW="1663560" imgH="266400" progId="Equation.DSMT4">
              <p:embed/>
            </p:oleObj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5715000" y="2038350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B=1,  D=1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时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/>
          </a:p>
        </p:txBody>
      </p:sp>
      <p:graphicFrame>
        <p:nvGraphicFramePr>
          <p:cNvPr id="55" name="Object 5"/>
          <p:cNvGraphicFramePr>
            <a:graphicFrameLocks noChangeAspect="1"/>
          </p:cNvGraphicFramePr>
          <p:nvPr/>
        </p:nvGraphicFramePr>
        <p:xfrm>
          <a:off x="6264275" y="2495550"/>
          <a:ext cx="712788" cy="241300"/>
        </p:xfrm>
        <a:graphic>
          <a:graphicData uri="http://schemas.openxmlformats.org/presentationml/2006/ole">
            <p:oleObj spid="_x0000_s54277" name="Equation" r:id="rId6" imgW="787320" imgH="2664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2422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：竞争冒险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52400" y="666750"/>
            <a:ext cx="1143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消除竞 争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冒险的方法：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36525" y="1123950"/>
            <a:ext cx="9007475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练习</a:t>
            </a:r>
            <a:r>
              <a:rPr lang="en-US" altLang="zh-CN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1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endParaRPr lang="zh-CN" altLang="en-US" sz="1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228600" y="1657350"/>
            <a:ext cx="4124522" cy="2440646"/>
            <a:chOff x="838200" y="1428750"/>
            <a:chExt cx="4124522" cy="2440646"/>
          </a:xfrm>
        </p:grpSpPr>
        <p:grpSp>
          <p:nvGrpSpPr>
            <p:cNvPr id="2" name="组合 49"/>
            <p:cNvGrpSpPr/>
            <p:nvPr/>
          </p:nvGrpSpPr>
          <p:grpSpPr>
            <a:xfrm>
              <a:off x="838200" y="1428750"/>
              <a:ext cx="4124522" cy="2151459"/>
              <a:chOff x="3733800" y="1733550"/>
              <a:chExt cx="4124522" cy="2151459"/>
            </a:xfrm>
          </p:grpSpPr>
          <p:grpSp>
            <p:nvGrpSpPr>
              <p:cNvPr id="3" name="组合 96"/>
              <p:cNvGrpSpPr>
                <a:grpSpLocks/>
              </p:cNvGrpSpPr>
              <p:nvPr/>
            </p:nvGrpSpPr>
            <p:grpSpPr bwMode="auto">
              <a:xfrm>
                <a:off x="3733800" y="1733550"/>
                <a:ext cx="4124522" cy="2151459"/>
                <a:chOff x="251520" y="1700809"/>
                <a:chExt cx="4123096" cy="2868613"/>
              </a:xfrm>
            </p:grpSpPr>
            <p:grpSp>
              <p:nvGrpSpPr>
                <p:cNvPr id="4" name="组合 61"/>
                <p:cNvGrpSpPr>
                  <a:grpSpLocks/>
                </p:cNvGrpSpPr>
                <p:nvPr/>
              </p:nvGrpSpPr>
              <p:grpSpPr bwMode="auto">
                <a:xfrm>
                  <a:off x="251520" y="1700809"/>
                  <a:ext cx="3838575" cy="2868613"/>
                  <a:chOff x="539552" y="2564905"/>
                  <a:chExt cx="3838575" cy="2868613"/>
                </a:xfrm>
              </p:grpSpPr>
              <p:grpSp>
                <p:nvGrpSpPr>
                  <p:cNvPr id="5" name="Group 7"/>
                  <p:cNvGrpSpPr>
                    <a:grpSpLocks/>
                  </p:cNvGrpSpPr>
                  <p:nvPr/>
                </p:nvGrpSpPr>
                <p:grpSpPr bwMode="auto">
                  <a:xfrm>
                    <a:off x="539552" y="2564905"/>
                    <a:ext cx="3838575" cy="2868613"/>
                    <a:chOff x="1190" y="2284"/>
                    <a:chExt cx="2418" cy="1807"/>
                  </a:xfrm>
                </p:grpSpPr>
                <p:sp>
                  <p:nvSpPr>
                    <p:cNvPr id="28" name="Text Box 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544" y="2372"/>
                      <a:ext cx="2064" cy="3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b="1" dirty="0">
                          <a:ea typeface="楷体_GB2312" pitchFamily="49" charset="-122"/>
                        </a:rPr>
                        <a:t>    </a:t>
                      </a:r>
                      <a:r>
                        <a:rPr lang="en-US" altLang="zh-CN" sz="2000" b="1" dirty="0">
                          <a:ea typeface="楷体_GB2312" pitchFamily="49" charset="-122"/>
                        </a:rPr>
                        <a:t>00      01       11      </a:t>
                      </a:r>
                      <a:r>
                        <a:rPr lang="en-US" altLang="zh-CN" sz="2000" b="1" dirty="0" smtClean="0">
                          <a:ea typeface="楷体_GB2312" pitchFamily="49" charset="-122"/>
                        </a:rPr>
                        <a:t> 10</a:t>
                      </a:r>
                      <a:r>
                        <a:rPr lang="en-US" altLang="zh-CN" b="1" dirty="0" smtClean="0">
                          <a:ea typeface="楷体_GB2312" pitchFamily="49" charset="-122"/>
                        </a:rPr>
                        <a:t> </a:t>
                      </a:r>
                      <a:endParaRPr lang="en-US" altLang="zh-CN" b="1" dirty="0"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29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49" y="2597"/>
                      <a:ext cx="1923" cy="138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49" y="2933"/>
                      <a:ext cx="1923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1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49" y="3304"/>
                      <a:ext cx="1923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49" y="3657"/>
                      <a:ext cx="1923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90" y="2597"/>
                      <a:ext cx="0" cy="1389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85" y="2597"/>
                      <a:ext cx="0" cy="1389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98" y="2597"/>
                      <a:ext cx="0" cy="1389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6" name="Line 16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1" y="2383"/>
                      <a:ext cx="438" cy="21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" name="Text Box 1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82" y="3791"/>
                      <a:ext cx="336" cy="3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sz="2000" b="1">
                          <a:ea typeface="楷体_GB2312" pitchFamily="49" charset="-122"/>
                        </a:rPr>
                        <a:t>10</a:t>
                      </a:r>
                    </a:p>
                  </p:txBody>
                </p:sp>
                <p:sp>
                  <p:nvSpPr>
                    <p:cNvPr id="38" name="Text Box 1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82" y="3392"/>
                      <a:ext cx="336" cy="3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sz="2000" b="1">
                          <a:ea typeface="楷体_GB2312" pitchFamily="49" charset="-122"/>
                        </a:rPr>
                        <a:t>11</a:t>
                      </a:r>
                    </a:p>
                  </p:txBody>
                </p:sp>
                <p:sp>
                  <p:nvSpPr>
                    <p:cNvPr id="39" name="Text Box 1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82" y="3031"/>
                      <a:ext cx="336" cy="3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sz="2000" b="1">
                          <a:ea typeface="楷体_GB2312" pitchFamily="49" charset="-122"/>
                        </a:rPr>
                        <a:t>01</a:t>
                      </a:r>
                    </a:p>
                  </p:txBody>
                </p:sp>
                <p:sp>
                  <p:nvSpPr>
                    <p:cNvPr id="40" name="Text Box 2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82" y="2694"/>
                      <a:ext cx="336" cy="3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sz="2000" b="1">
                          <a:ea typeface="楷体_GB2312" pitchFamily="49" charset="-122"/>
                        </a:rPr>
                        <a:t>00</a:t>
                      </a:r>
                    </a:p>
                  </p:txBody>
                </p:sp>
                <p:sp>
                  <p:nvSpPr>
                    <p:cNvPr id="41" name="Text Box 2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415" y="2284"/>
                      <a:ext cx="432" cy="27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b="1">
                          <a:ea typeface="楷体_GB2312" pitchFamily="49" charset="-122"/>
                        </a:rPr>
                        <a:t>CD</a:t>
                      </a:r>
                    </a:p>
                  </p:txBody>
                </p:sp>
                <p:sp>
                  <p:nvSpPr>
                    <p:cNvPr id="42" name="Text Box 2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90" y="2484"/>
                      <a:ext cx="432" cy="27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b="1">
                          <a:ea typeface="楷体_GB2312" pitchFamily="49" charset="-122"/>
                        </a:rPr>
                        <a:t>AB</a:t>
                      </a:r>
                    </a:p>
                  </p:txBody>
                </p:sp>
              </p:grpSp>
              <p:sp>
                <p:nvSpPr>
                  <p:cNvPr id="23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12153" y="4797154"/>
                    <a:ext cx="792087" cy="49244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  <p:sp>
              <p:nvSpPr>
                <p:cNvPr id="1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399645" y="2422365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0             1               3              2</a:t>
                  </a:r>
                </a:p>
              </p:txBody>
            </p:sp>
            <p:sp>
              <p:nvSpPr>
                <p:cNvPr id="1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389926" y="3014647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4             5               7              6</a:t>
                  </a:r>
                </a:p>
              </p:txBody>
            </p:sp>
            <p:sp>
              <p:nvSpPr>
                <p:cNvPr id="18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317951" y="3559838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12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  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13            15            14</a:t>
                  </a:r>
                </a:p>
              </p:txBody>
            </p:sp>
            <p:sp>
              <p:nvSpPr>
                <p:cNvPr id="2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389926" y="4079024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8   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 9            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11  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10</a:t>
                  </a:r>
                  <a:endParaRPr lang="en-US" altLang="zh-CN" sz="1400" b="1" dirty="0">
                    <a:solidFill>
                      <a:schemeClr val="accent6"/>
                    </a:solidFill>
                    <a:ea typeface="楷体_GB2312" pitchFamily="49" charset="-122"/>
                  </a:endParaRPr>
                </a:p>
              </p:txBody>
            </p:sp>
          </p:grpSp>
          <p:sp>
            <p:nvSpPr>
              <p:cNvPr id="43" name="TextBox 31"/>
              <p:cNvSpPr txBox="1">
                <a:spLocks noChangeArrowheads="1"/>
              </p:cNvSpPr>
              <p:nvPr/>
            </p:nvSpPr>
            <p:spPr bwMode="auto">
              <a:xfrm>
                <a:off x="6133155" y="21145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 smtClean="0">
                    <a:solidFill>
                      <a:srgbClr val="FF0000"/>
                    </a:solidFill>
                  </a:rPr>
                  <a:t> 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Box 31"/>
              <p:cNvSpPr txBox="1">
                <a:spLocks noChangeArrowheads="1"/>
              </p:cNvSpPr>
              <p:nvPr/>
            </p:nvSpPr>
            <p:spPr bwMode="auto">
              <a:xfrm>
                <a:off x="4572000" y="21145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TextBox 31"/>
              <p:cNvSpPr txBox="1">
                <a:spLocks noChangeArrowheads="1"/>
              </p:cNvSpPr>
              <p:nvPr/>
            </p:nvSpPr>
            <p:spPr bwMode="auto">
              <a:xfrm>
                <a:off x="6888227" y="3007795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TextBox 31"/>
              <p:cNvSpPr txBox="1">
                <a:spLocks noChangeArrowheads="1"/>
              </p:cNvSpPr>
              <p:nvPr/>
            </p:nvSpPr>
            <p:spPr bwMode="auto">
              <a:xfrm>
                <a:off x="6187314" y="2998722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7" name="TextBox 31"/>
              <p:cNvSpPr txBox="1">
                <a:spLocks noChangeArrowheads="1"/>
              </p:cNvSpPr>
              <p:nvPr/>
            </p:nvSpPr>
            <p:spPr bwMode="auto">
              <a:xfrm>
                <a:off x="4572000" y="34099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9" name="AutoShape 3"/>
            <p:cNvSpPr>
              <a:spLocks noChangeArrowheads="1"/>
            </p:cNvSpPr>
            <p:nvPr/>
          </p:nvSpPr>
          <p:spPr bwMode="auto">
            <a:xfrm>
              <a:off x="1676400" y="1885950"/>
              <a:ext cx="381000" cy="685800"/>
            </a:xfrm>
            <a:prstGeom prst="flowChartTerminator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Text Box 72"/>
            <p:cNvSpPr txBox="1">
              <a:spLocks noChangeArrowheads="1"/>
            </p:cNvSpPr>
            <p:nvPr/>
          </p:nvSpPr>
          <p:spPr bwMode="auto">
            <a:xfrm>
              <a:off x="2590800" y="3562350"/>
              <a:ext cx="658469" cy="30704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 smtClean="0"/>
                <a:t>图  </a:t>
              </a:r>
              <a:r>
                <a:rPr lang="en-US" altLang="zh-CN" sz="1400" b="1" dirty="0" smtClean="0"/>
                <a:t>9</a:t>
              </a:r>
              <a:endParaRPr lang="en-US" altLang="zh-CN" sz="1400" b="1" dirty="0"/>
            </a:p>
          </p:txBody>
        </p:sp>
        <p:sp>
          <p:nvSpPr>
            <p:cNvPr id="50" name="AutoShape 3"/>
            <p:cNvSpPr>
              <a:spLocks noChangeArrowheads="1"/>
            </p:cNvSpPr>
            <p:nvPr/>
          </p:nvSpPr>
          <p:spPr bwMode="auto">
            <a:xfrm>
              <a:off x="3276600" y="1847535"/>
              <a:ext cx="990600" cy="304800"/>
            </a:xfrm>
            <a:prstGeom prst="flowChartTerminator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TextBox 31"/>
            <p:cNvSpPr txBox="1">
              <a:spLocks noChangeArrowheads="1"/>
            </p:cNvSpPr>
            <p:nvPr/>
          </p:nvSpPr>
          <p:spPr bwMode="auto">
            <a:xfrm>
              <a:off x="1676400" y="2266950"/>
              <a:ext cx="79236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9" name="TextBox 31"/>
            <p:cNvSpPr txBox="1">
              <a:spLocks noChangeArrowheads="1"/>
            </p:cNvSpPr>
            <p:nvPr/>
          </p:nvSpPr>
          <p:spPr bwMode="auto">
            <a:xfrm>
              <a:off x="3962400" y="1809750"/>
              <a:ext cx="79236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4" name="AutoShape 3"/>
            <p:cNvSpPr>
              <a:spLocks noChangeArrowheads="1"/>
            </p:cNvSpPr>
            <p:nvPr/>
          </p:nvSpPr>
          <p:spPr bwMode="auto">
            <a:xfrm>
              <a:off x="1676400" y="3105150"/>
              <a:ext cx="990600" cy="304800"/>
            </a:xfrm>
            <a:prstGeom prst="flowChartTerminator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AutoShape 3"/>
            <p:cNvSpPr>
              <a:spLocks noChangeArrowheads="1"/>
            </p:cNvSpPr>
            <p:nvPr/>
          </p:nvSpPr>
          <p:spPr bwMode="auto">
            <a:xfrm>
              <a:off x="3276600" y="2724150"/>
              <a:ext cx="990600" cy="304800"/>
            </a:xfrm>
            <a:prstGeom prst="flowChartTerminator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6322" name="Object 2"/>
          <p:cNvGraphicFramePr>
            <a:graphicFrameLocks noChangeAspect="1"/>
          </p:cNvGraphicFramePr>
          <p:nvPr/>
        </p:nvGraphicFramePr>
        <p:xfrm>
          <a:off x="838200" y="1159806"/>
          <a:ext cx="2314575" cy="241300"/>
        </p:xfrm>
        <a:graphic>
          <a:graphicData uri="http://schemas.openxmlformats.org/presentationml/2006/ole">
            <p:oleObj spid="_x0000_s56322" name="Equation" r:id="rId3" imgW="2552400" imgH="266400" progId="Equation.DSMT4">
              <p:embed/>
            </p:oleObj>
          </a:graphicData>
        </a:graphic>
      </p:graphicFrame>
      <p:grpSp>
        <p:nvGrpSpPr>
          <p:cNvPr id="51" name="组合 50"/>
          <p:cNvGrpSpPr/>
          <p:nvPr/>
        </p:nvGrpSpPr>
        <p:grpSpPr>
          <a:xfrm>
            <a:off x="4343400" y="1733550"/>
            <a:ext cx="4124522" cy="2440646"/>
            <a:chOff x="838200" y="1428750"/>
            <a:chExt cx="4124522" cy="2440646"/>
          </a:xfrm>
        </p:grpSpPr>
        <p:grpSp>
          <p:nvGrpSpPr>
            <p:cNvPr id="52" name="组合 49"/>
            <p:cNvGrpSpPr/>
            <p:nvPr/>
          </p:nvGrpSpPr>
          <p:grpSpPr>
            <a:xfrm>
              <a:off x="838200" y="1428750"/>
              <a:ext cx="4124522" cy="2151459"/>
              <a:chOff x="3733800" y="1733550"/>
              <a:chExt cx="4124522" cy="2151459"/>
            </a:xfrm>
          </p:grpSpPr>
          <p:grpSp>
            <p:nvGrpSpPr>
              <p:cNvPr id="66" name="组合 96"/>
              <p:cNvGrpSpPr>
                <a:grpSpLocks/>
              </p:cNvGrpSpPr>
              <p:nvPr/>
            </p:nvGrpSpPr>
            <p:grpSpPr bwMode="auto">
              <a:xfrm>
                <a:off x="3733800" y="1733550"/>
                <a:ext cx="4124522" cy="2151459"/>
                <a:chOff x="251520" y="1700809"/>
                <a:chExt cx="4123096" cy="2868613"/>
              </a:xfrm>
            </p:grpSpPr>
            <p:grpSp>
              <p:nvGrpSpPr>
                <p:cNvPr id="72" name="组合 61"/>
                <p:cNvGrpSpPr>
                  <a:grpSpLocks/>
                </p:cNvGrpSpPr>
                <p:nvPr/>
              </p:nvGrpSpPr>
              <p:grpSpPr bwMode="auto">
                <a:xfrm>
                  <a:off x="251520" y="1700809"/>
                  <a:ext cx="3838575" cy="2868613"/>
                  <a:chOff x="539552" y="2564905"/>
                  <a:chExt cx="3838575" cy="2868613"/>
                </a:xfrm>
              </p:grpSpPr>
              <p:grpSp>
                <p:nvGrpSpPr>
                  <p:cNvPr id="77" name="Group 7"/>
                  <p:cNvGrpSpPr>
                    <a:grpSpLocks/>
                  </p:cNvGrpSpPr>
                  <p:nvPr/>
                </p:nvGrpSpPr>
                <p:grpSpPr bwMode="auto">
                  <a:xfrm>
                    <a:off x="539552" y="2564905"/>
                    <a:ext cx="3838575" cy="2868613"/>
                    <a:chOff x="1190" y="2284"/>
                    <a:chExt cx="2418" cy="1807"/>
                  </a:xfrm>
                </p:grpSpPr>
                <p:sp>
                  <p:nvSpPr>
                    <p:cNvPr id="79" name="Text Box 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544" y="2372"/>
                      <a:ext cx="2064" cy="3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b="1" dirty="0">
                          <a:ea typeface="楷体_GB2312" pitchFamily="49" charset="-122"/>
                        </a:rPr>
                        <a:t>    </a:t>
                      </a:r>
                      <a:r>
                        <a:rPr lang="en-US" altLang="zh-CN" sz="2000" b="1" dirty="0">
                          <a:ea typeface="楷体_GB2312" pitchFamily="49" charset="-122"/>
                        </a:rPr>
                        <a:t>00      01       11      </a:t>
                      </a:r>
                      <a:r>
                        <a:rPr lang="en-US" altLang="zh-CN" sz="2000" b="1" dirty="0" smtClean="0">
                          <a:ea typeface="楷体_GB2312" pitchFamily="49" charset="-122"/>
                        </a:rPr>
                        <a:t> 10</a:t>
                      </a:r>
                      <a:r>
                        <a:rPr lang="en-US" altLang="zh-CN" b="1" dirty="0" smtClean="0">
                          <a:ea typeface="楷体_GB2312" pitchFamily="49" charset="-122"/>
                        </a:rPr>
                        <a:t> </a:t>
                      </a:r>
                      <a:endParaRPr lang="en-US" altLang="zh-CN" b="1" dirty="0"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80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49" y="2597"/>
                      <a:ext cx="1923" cy="138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1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49" y="2933"/>
                      <a:ext cx="1923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2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49" y="3304"/>
                      <a:ext cx="1923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49" y="3657"/>
                      <a:ext cx="1923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90" y="2597"/>
                      <a:ext cx="0" cy="1389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85" y="2597"/>
                      <a:ext cx="0" cy="1389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98" y="2597"/>
                      <a:ext cx="0" cy="1389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" name="Line 16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1" y="2383"/>
                      <a:ext cx="438" cy="21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" name="Text Box 1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82" y="3791"/>
                      <a:ext cx="336" cy="3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sz="2000" b="1">
                          <a:ea typeface="楷体_GB2312" pitchFamily="49" charset="-122"/>
                        </a:rPr>
                        <a:t>10</a:t>
                      </a:r>
                    </a:p>
                  </p:txBody>
                </p:sp>
                <p:sp>
                  <p:nvSpPr>
                    <p:cNvPr id="89" name="Text Box 1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82" y="3392"/>
                      <a:ext cx="336" cy="3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sz="2000" b="1">
                          <a:ea typeface="楷体_GB2312" pitchFamily="49" charset="-122"/>
                        </a:rPr>
                        <a:t>11</a:t>
                      </a:r>
                    </a:p>
                  </p:txBody>
                </p:sp>
                <p:sp>
                  <p:nvSpPr>
                    <p:cNvPr id="90" name="Text Box 1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82" y="3031"/>
                      <a:ext cx="336" cy="3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sz="2000" b="1">
                          <a:ea typeface="楷体_GB2312" pitchFamily="49" charset="-122"/>
                        </a:rPr>
                        <a:t>01</a:t>
                      </a:r>
                    </a:p>
                  </p:txBody>
                </p:sp>
                <p:sp>
                  <p:nvSpPr>
                    <p:cNvPr id="91" name="Text Box 2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82" y="2694"/>
                      <a:ext cx="336" cy="3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sz="2000" b="1">
                          <a:ea typeface="楷体_GB2312" pitchFamily="49" charset="-122"/>
                        </a:rPr>
                        <a:t>00</a:t>
                      </a:r>
                    </a:p>
                  </p:txBody>
                </p:sp>
                <p:sp>
                  <p:nvSpPr>
                    <p:cNvPr id="92" name="Text Box 2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415" y="2284"/>
                      <a:ext cx="432" cy="27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b="1">
                          <a:ea typeface="楷体_GB2312" pitchFamily="49" charset="-122"/>
                        </a:rPr>
                        <a:t>CD</a:t>
                      </a:r>
                    </a:p>
                  </p:txBody>
                </p:sp>
                <p:sp>
                  <p:nvSpPr>
                    <p:cNvPr id="93" name="Text Box 2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90" y="2484"/>
                      <a:ext cx="432" cy="27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79068" tIns="39534" rIns="79068" bIns="39534">
                      <a:spAutoFit/>
                    </a:bodyPr>
                    <a:lstStyle/>
                    <a:p>
                      <a:pPr defTabSz="790575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chemeClr val="folHlink"/>
                        </a:buClr>
                        <a:buSzPct val="60000"/>
                      </a:pPr>
                      <a:r>
                        <a:rPr lang="en-US" altLang="zh-CN" b="1">
                          <a:ea typeface="楷体_GB2312" pitchFamily="49" charset="-122"/>
                        </a:rPr>
                        <a:t>AB</a:t>
                      </a:r>
                    </a:p>
                  </p:txBody>
                </p:sp>
              </p:grpSp>
              <p:sp>
                <p:nvSpPr>
                  <p:cNvPr id="78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12153" y="4797154"/>
                    <a:ext cx="792087" cy="49244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FF0000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  <p:sp>
              <p:nvSpPr>
                <p:cNvPr id="73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399645" y="2422365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0             1               3              2</a:t>
                  </a:r>
                </a:p>
              </p:txBody>
            </p:sp>
            <p:sp>
              <p:nvSpPr>
                <p:cNvPr id="74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389926" y="3014647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4             5               7              6</a:t>
                  </a:r>
                </a:p>
              </p:txBody>
            </p:sp>
            <p:sp>
              <p:nvSpPr>
                <p:cNvPr id="75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317951" y="3559838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12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  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13            15            14</a:t>
                  </a:r>
                </a:p>
              </p:txBody>
            </p:sp>
            <p:sp>
              <p:nvSpPr>
                <p:cNvPr id="76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389926" y="4079024"/>
                  <a:ext cx="2974971" cy="3649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79068" tIns="39534" rIns="79068" bIns="39534">
                  <a:spAutoFit/>
                </a:bodyPr>
                <a:lstStyle/>
                <a:p>
                  <a:pPr defTabSz="790575">
                    <a:lnSpc>
                      <a:spcPct val="9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60000"/>
                  </a:pPr>
                  <a:r>
                    <a:rPr lang="en-US" altLang="zh-CN" sz="1400" b="1" dirty="0">
                      <a:solidFill>
                        <a:schemeClr val="accent6"/>
                      </a:solidFill>
                      <a:latin typeface="CG Times" pitchFamily="18" charset="0"/>
                      <a:ea typeface="楷体_GB2312" pitchFamily="49" charset="-122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8   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 9             </a:t>
                  </a:r>
                  <a:r>
                    <a:rPr lang="en-US" altLang="zh-CN" sz="1400" b="1" dirty="0">
                      <a:solidFill>
                        <a:schemeClr val="accent6"/>
                      </a:solidFill>
                      <a:ea typeface="楷体_GB2312" pitchFamily="49" charset="-122"/>
                    </a:rPr>
                    <a:t>11            </a:t>
                  </a:r>
                  <a:r>
                    <a:rPr lang="en-US" altLang="zh-CN" sz="1400" b="1" dirty="0" smtClean="0">
                      <a:solidFill>
                        <a:schemeClr val="accent6"/>
                      </a:solidFill>
                      <a:ea typeface="楷体_GB2312" pitchFamily="49" charset="-122"/>
                    </a:rPr>
                    <a:t>10</a:t>
                  </a:r>
                  <a:endParaRPr lang="en-US" altLang="zh-CN" sz="1400" b="1" dirty="0">
                    <a:solidFill>
                      <a:schemeClr val="accent6"/>
                    </a:solidFill>
                    <a:ea typeface="楷体_GB2312" pitchFamily="49" charset="-122"/>
                  </a:endParaRPr>
                </a:p>
              </p:txBody>
            </p:sp>
          </p:grpSp>
          <p:sp>
            <p:nvSpPr>
              <p:cNvPr id="67" name="TextBox 31"/>
              <p:cNvSpPr txBox="1">
                <a:spLocks noChangeArrowheads="1"/>
              </p:cNvSpPr>
              <p:nvPr/>
            </p:nvSpPr>
            <p:spPr bwMode="auto">
              <a:xfrm>
                <a:off x="6133155" y="21145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 smtClean="0">
                    <a:solidFill>
                      <a:srgbClr val="FF0000"/>
                    </a:solidFill>
                  </a:rPr>
                  <a:t> 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8" name="TextBox 31"/>
              <p:cNvSpPr txBox="1">
                <a:spLocks noChangeArrowheads="1"/>
              </p:cNvSpPr>
              <p:nvPr/>
            </p:nvSpPr>
            <p:spPr bwMode="auto">
              <a:xfrm>
                <a:off x="4572000" y="21145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9" name="TextBox 31"/>
              <p:cNvSpPr txBox="1">
                <a:spLocks noChangeArrowheads="1"/>
              </p:cNvSpPr>
              <p:nvPr/>
            </p:nvSpPr>
            <p:spPr bwMode="auto">
              <a:xfrm>
                <a:off x="6888227" y="3007795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70" name="TextBox 31"/>
              <p:cNvSpPr txBox="1">
                <a:spLocks noChangeArrowheads="1"/>
              </p:cNvSpPr>
              <p:nvPr/>
            </p:nvSpPr>
            <p:spPr bwMode="auto">
              <a:xfrm>
                <a:off x="6187314" y="2998722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TextBox 31"/>
              <p:cNvSpPr txBox="1">
                <a:spLocks noChangeArrowheads="1"/>
              </p:cNvSpPr>
              <p:nvPr/>
            </p:nvSpPr>
            <p:spPr bwMode="auto">
              <a:xfrm>
                <a:off x="4572000" y="3409950"/>
                <a:ext cx="7923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3" name="AutoShape 3"/>
            <p:cNvSpPr>
              <a:spLocks noChangeArrowheads="1"/>
            </p:cNvSpPr>
            <p:nvPr/>
          </p:nvSpPr>
          <p:spPr bwMode="auto">
            <a:xfrm>
              <a:off x="1676400" y="1885950"/>
              <a:ext cx="381000" cy="685800"/>
            </a:xfrm>
            <a:prstGeom prst="flowChartTerminator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Text Box 72"/>
            <p:cNvSpPr txBox="1">
              <a:spLocks noChangeArrowheads="1"/>
            </p:cNvSpPr>
            <p:nvPr/>
          </p:nvSpPr>
          <p:spPr bwMode="auto">
            <a:xfrm>
              <a:off x="2590800" y="3562350"/>
              <a:ext cx="658469" cy="30704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 smtClean="0"/>
                <a:t>图  </a:t>
              </a:r>
              <a:r>
                <a:rPr lang="en-US" altLang="zh-CN" sz="1400" b="1" smtClean="0"/>
                <a:t>10</a:t>
              </a:r>
              <a:endParaRPr lang="en-US" altLang="zh-CN" sz="1400" b="1" dirty="0"/>
            </a:p>
          </p:txBody>
        </p:sp>
        <p:sp>
          <p:nvSpPr>
            <p:cNvPr id="55" name="AutoShape 3"/>
            <p:cNvSpPr>
              <a:spLocks noChangeArrowheads="1"/>
            </p:cNvSpPr>
            <p:nvPr/>
          </p:nvSpPr>
          <p:spPr bwMode="auto">
            <a:xfrm>
              <a:off x="3276600" y="1847535"/>
              <a:ext cx="990600" cy="304800"/>
            </a:xfrm>
            <a:prstGeom prst="flowChartTerminator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TextBox 31"/>
            <p:cNvSpPr txBox="1">
              <a:spLocks noChangeArrowheads="1"/>
            </p:cNvSpPr>
            <p:nvPr/>
          </p:nvSpPr>
          <p:spPr bwMode="auto">
            <a:xfrm>
              <a:off x="1676400" y="2266950"/>
              <a:ext cx="79236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31"/>
            <p:cNvSpPr txBox="1">
              <a:spLocks noChangeArrowheads="1"/>
            </p:cNvSpPr>
            <p:nvPr/>
          </p:nvSpPr>
          <p:spPr bwMode="auto">
            <a:xfrm>
              <a:off x="3962400" y="1809750"/>
              <a:ext cx="79236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0" name="AutoShape 3"/>
            <p:cNvSpPr>
              <a:spLocks noChangeArrowheads="1"/>
            </p:cNvSpPr>
            <p:nvPr/>
          </p:nvSpPr>
          <p:spPr bwMode="auto">
            <a:xfrm>
              <a:off x="1676400" y="3105150"/>
              <a:ext cx="990600" cy="304800"/>
            </a:xfrm>
            <a:prstGeom prst="flowChartTerminator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AutoShape 3"/>
            <p:cNvSpPr>
              <a:spLocks noChangeArrowheads="1"/>
            </p:cNvSpPr>
            <p:nvPr/>
          </p:nvSpPr>
          <p:spPr bwMode="auto">
            <a:xfrm>
              <a:off x="3276600" y="2724150"/>
              <a:ext cx="990600" cy="304800"/>
            </a:xfrm>
            <a:prstGeom prst="flowChartTerminator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4" name="左中括号 93"/>
          <p:cNvSpPr/>
          <p:nvPr/>
        </p:nvSpPr>
        <p:spPr>
          <a:xfrm rot="16200000">
            <a:off x="5257799" y="2114550"/>
            <a:ext cx="228601" cy="381000"/>
          </a:xfrm>
          <a:prstGeom prst="leftBracket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左中括号 94"/>
          <p:cNvSpPr/>
          <p:nvPr/>
        </p:nvSpPr>
        <p:spPr>
          <a:xfrm rot="5400000">
            <a:off x="5181599" y="3409951"/>
            <a:ext cx="228601" cy="381000"/>
          </a:xfrm>
          <a:prstGeom prst="leftBracket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左中括号 95"/>
          <p:cNvSpPr/>
          <p:nvPr/>
        </p:nvSpPr>
        <p:spPr>
          <a:xfrm rot="10800000">
            <a:off x="5486400" y="2114550"/>
            <a:ext cx="228601" cy="381000"/>
          </a:xfrm>
          <a:prstGeom prst="leftBracket">
            <a:avLst/>
          </a:prstGeom>
          <a:ln w="28575">
            <a:solidFill>
              <a:srgbClr val="66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左中括号 96"/>
          <p:cNvSpPr/>
          <p:nvPr/>
        </p:nvSpPr>
        <p:spPr>
          <a:xfrm rot="21406892">
            <a:off x="7478114" y="2120667"/>
            <a:ext cx="228601" cy="381000"/>
          </a:xfrm>
          <a:prstGeom prst="leftBracket">
            <a:avLst/>
          </a:prstGeom>
          <a:ln w="28575">
            <a:solidFill>
              <a:srgbClr val="66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4724400" y="1200150"/>
          <a:ext cx="3340100" cy="241300"/>
        </p:xfrm>
        <a:graphic>
          <a:graphicData uri="http://schemas.openxmlformats.org/presentationml/2006/ole">
            <p:oleObj spid="_x0000_s56323" name="Equation" r:id="rId4" imgW="3682800" imgH="2664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5" grpId="0" animBg="1"/>
      <p:bldP spid="96" grpId="0" animBg="1"/>
      <p:bldP spid="97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5540</TotalTime>
  <Words>677</Words>
  <Application>Microsoft Office PowerPoint</Application>
  <PresentationFormat>全屏显示(16:9)</PresentationFormat>
  <Paragraphs>196</Paragraphs>
  <Slides>12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默认设计模板</vt:lpstr>
      <vt:lpstr>Visio</vt:lpstr>
      <vt:lpstr>Equation</vt:lpstr>
      <vt:lpstr>Microsoft Visio 绘图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608</cp:revision>
  <cp:lastPrinted>2113-01-01T00:00:00Z</cp:lastPrinted>
  <dcterms:created xsi:type="dcterms:W3CDTF">2113-01-01T00:00:00Z</dcterms:created>
  <dcterms:modified xsi:type="dcterms:W3CDTF">2020-12-31T08:17:49Z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