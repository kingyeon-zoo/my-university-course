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309" r:id="rId2"/>
    <p:sldId id="523" r:id="rId3"/>
    <p:sldId id="524" r:id="rId4"/>
    <p:sldId id="526" r:id="rId5"/>
    <p:sldId id="527" r:id="rId6"/>
    <p:sldId id="530" r:id="rId7"/>
    <p:sldId id="531" r:id="rId8"/>
    <p:sldId id="528" r:id="rId9"/>
    <p:sldId id="533" r:id="rId10"/>
    <p:sldId id="534" r:id="rId11"/>
    <p:sldId id="535" r:id="rId12"/>
    <p:sldId id="542" r:id="rId13"/>
    <p:sldId id="547" r:id="rId14"/>
    <p:sldId id="545" r:id="rId15"/>
    <p:sldId id="550" r:id="rId16"/>
    <p:sldId id="551" r:id="rId17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CC"/>
    <a:srgbClr val="DBE4BA"/>
    <a:srgbClr val="00FFFF"/>
    <a:srgbClr val="2D1341"/>
    <a:srgbClr val="3333CC"/>
    <a:srgbClr val="2D2D8A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20" autoAdjust="0"/>
    <p:restoredTop sz="98916" autoAdjust="0"/>
  </p:normalViewPr>
  <p:slideViewPr>
    <p:cSldViewPr>
      <p:cViewPr varScale="1">
        <p:scale>
          <a:sx n="100" d="100"/>
          <a:sy n="100" d="100"/>
        </p:scale>
        <p:origin x="780" y="10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68FF4-A610-4CCF-A92A-54B8EBE33021}" type="datetimeFigureOut">
              <a:rPr lang="zh-CN" altLang="en-US" smtClean="0"/>
              <a:pPr/>
              <a:t>2021/7/20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48513-AA6D-4F8A-B41C-3BE1F5014A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616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9E5F32BA-079D-492C-A71C-25B1AC211EF7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101730A-013B-4CB4-BA74-6B5A2DA383A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ea typeface="微软雅黑" panose="020B0503020204020204" pitchFamily="3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D708CB0-180E-480A-B5E9-304EDB71A67E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F519ABF-577E-4AA5-A198-446EB778942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35A92FF-C25D-44F5-BA10-134AA412F22C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C5F3488-9DEE-45BA-87B6-C85FA6C76AB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>
                <a:ea typeface="微软雅黑" panose="020B0503020204020204" pitchFamily="34" charset="-122"/>
              </a:defRPr>
            </a:lvl1pPr>
            <a:lvl2pPr>
              <a:defRPr sz="2800">
                <a:ea typeface="微软雅黑" panose="020B0503020204020204" pitchFamily="34" charset="-122"/>
              </a:defRPr>
            </a:lvl2pPr>
            <a:lvl3pPr>
              <a:defRPr sz="2400">
                <a:ea typeface="微软雅黑" panose="020B0503020204020204" pitchFamily="34" charset="-122"/>
              </a:defRPr>
            </a:lvl3pPr>
            <a:lvl4pPr>
              <a:defRPr sz="2000">
                <a:ea typeface="微软雅黑" panose="020B0503020204020204" pitchFamily="34" charset="-122"/>
              </a:defRPr>
            </a:lvl4pPr>
            <a:lvl5pPr>
              <a:defRPr sz="2000"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75ABF99-AFDD-4392-BE13-BE42827BA07F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7E1D088-313E-48D8-BECE-41A274E0B5D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4B0AB86-F7AE-4867-ADFF-354DE647AB0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3CEB1D2-F23D-4EFF-A6C7-152E930DD57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07513-19AE-47F0-ABD9-53914FA698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 userDrawn="1"/>
        </p:nvSpPr>
        <p:spPr bwMode="auto">
          <a:xfrm>
            <a:off x="76318" y="514404"/>
            <a:ext cx="8950418" cy="67865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0 w 1000"/>
              <a:gd name="T11" fmla="*/ 0 h 1000"/>
              <a:gd name="T12" fmla="*/ 1000 w 1000"/>
              <a:gd name="T13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6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Line 5"/>
          <p:cNvSpPr>
            <a:spLocks noChangeShapeType="1"/>
          </p:cNvSpPr>
          <p:nvPr userDrawn="1"/>
        </p:nvSpPr>
        <p:spPr bwMode="auto">
          <a:xfrm>
            <a:off x="76318" y="4933888"/>
            <a:ext cx="8950418" cy="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8" name="图片 7" descr="校标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6215019" y="0"/>
            <a:ext cx="2545745" cy="4776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6.wmf"/><Relationship Id="rId7" Type="http://schemas.openxmlformats.org/officeDocument/2006/relationships/image" Target="../media/image8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9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609704" y="1233568"/>
            <a:ext cx="82294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5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构建任意模值计数器</a:t>
            </a:r>
            <a:endParaRPr lang="zh-CN" altLang="zh-CN" sz="5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0" name="Rectangle 59"/>
          <p:cNvSpPr>
            <a:spLocks noChangeArrowheads="1"/>
          </p:cNvSpPr>
          <p:nvPr/>
        </p:nvSpPr>
        <p:spPr bwMode="auto">
          <a:xfrm>
            <a:off x="1524000" y="2571750"/>
            <a:ext cx="6477692" cy="152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+mn-ea"/>
                <a:ea typeface="+mn-ea"/>
              </a:rPr>
              <a:t>刘 军</a:t>
            </a:r>
            <a:endParaRPr lang="en-US" altLang="zh-CN" sz="2800" b="1" dirty="0">
              <a:latin typeface="+mn-ea"/>
              <a:ea typeface="+mn-ea"/>
            </a:endParaRPr>
          </a:p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+mn-ea"/>
                <a:ea typeface="+mn-ea"/>
              </a:rPr>
              <a:t>合肥工业大学计算机与信息学院</a:t>
            </a:r>
            <a:endParaRPr lang="en-US" altLang="zh-CN" sz="2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44735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计数器：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74LS163</a:t>
            </a: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438400" y="4476750"/>
            <a:ext cx="3124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2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计数器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74LS163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电路图</a:t>
            </a:r>
          </a:p>
        </p:txBody>
      </p:sp>
      <p:grpSp>
        <p:nvGrpSpPr>
          <p:cNvPr id="2" name="组合 47"/>
          <p:cNvGrpSpPr/>
          <p:nvPr/>
        </p:nvGrpSpPr>
        <p:grpSpPr>
          <a:xfrm>
            <a:off x="2057400" y="590550"/>
            <a:ext cx="3706823" cy="3873335"/>
            <a:chOff x="2057400" y="590550"/>
            <a:chExt cx="3706823" cy="3873335"/>
          </a:xfrm>
        </p:grpSpPr>
        <p:pic>
          <p:nvPicPr>
            <p:cNvPr id="46" name="Picture 4" descr="R9BBD]6VME[3AXJFM[57}3L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057400" y="590550"/>
              <a:ext cx="3706823" cy="37417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aphicFrame>
          <p:nvGraphicFramePr>
            <p:cNvPr id="47" name="Object 210"/>
            <p:cNvGraphicFramePr>
              <a:graphicFrameLocks noChangeAspect="1"/>
            </p:cNvGraphicFramePr>
            <p:nvPr/>
          </p:nvGraphicFramePr>
          <p:xfrm>
            <a:off x="2667000" y="4171950"/>
            <a:ext cx="304800" cy="2919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706" name="Equation" r:id="rId3" imgW="215640" imgH="215640" progId="Equation.DSMT4">
                    <p:embed/>
                  </p:oleObj>
                </mc:Choice>
                <mc:Fallback>
                  <p:oleObj name="Equation" r:id="rId3" imgW="215640" imgH="215640" progId="Equation.DSMT4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7000" y="4171950"/>
                          <a:ext cx="304800" cy="2919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8707" name="Object 3"/>
          <p:cNvGraphicFramePr>
            <a:graphicFrameLocks noChangeAspect="1"/>
          </p:cNvGraphicFramePr>
          <p:nvPr/>
        </p:nvGraphicFramePr>
        <p:xfrm>
          <a:off x="6019800" y="1352550"/>
          <a:ext cx="26289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07" name="Equation" r:id="rId5" imgW="2628720" imgH="812520" progId="Equation.DSMT4">
                  <p:embed/>
                </p:oleObj>
              </mc:Choice>
              <mc:Fallback>
                <p:oleObj name="Equation" r:id="rId5" imgW="2628720" imgH="81252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1352550"/>
                        <a:ext cx="26289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629400" y="272415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加法计数器进位信号</a:t>
            </a:r>
          </a:p>
        </p:txBody>
      </p:sp>
      <p:sp>
        <p:nvSpPr>
          <p:cNvPr id="12" name="矩形 11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8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8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计数器：</a:t>
            </a: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graphicFrame>
        <p:nvGraphicFramePr>
          <p:cNvPr id="328707" name="Object 3"/>
          <p:cNvGraphicFramePr>
            <a:graphicFrameLocks noChangeAspect="1"/>
          </p:cNvGraphicFramePr>
          <p:nvPr/>
        </p:nvGraphicFramePr>
        <p:xfrm>
          <a:off x="2133600" y="1733550"/>
          <a:ext cx="2692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731" name="Equation" r:id="rId2" imgW="2692080" imgH="685800" progId="Equation.DSMT4">
                  <p:embed/>
                </p:oleObj>
              </mc:Choice>
              <mc:Fallback>
                <p:oleObj name="Equation" r:id="rId2" imgW="2692080" imgH="6858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733550"/>
                        <a:ext cx="26924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0" y="241935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减法计数器借位信号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8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8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2923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构建任意模值的计数器：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用已有的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进制芯片，组成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M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进制计数器。</a:t>
            </a: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graphicFrame>
        <p:nvGraphicFramePr>
          <p:cNvPr id="346115" name="Object 3"/>
          <p:cNvGraphicFramePr>
            <a:graphicFrameLocks noChangeAspect="1"/>
          </p:cNvGraphicFramePr>
          <p:nvPr/>
        </p:nvGraphicFramePr>
        <p:xfrm>
          <a:off x="2286000" y="1200150"/>
          <a:ext cx="106962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115" name="公式" r:id="rId2" imgW="583920" imgH="457200" progId="">
                  <p:embed/>
                </p:oleObj>
              </mc:Choice>
              <mc:Fallback>
                <p:oleObj name="公式" r:id="rId2" imgW="583920" imgH="45720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200150"/>
                        <a:ext cx="1069622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429000" y="1200150"/>
            <a:ext cx="2438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一块芯片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657350"/>
            <a:ext cx="2438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多块芯片级联</a:t>
            </a:r>
          </a:p>
        </p:txBody>
      </p:sp>
      <p:graphicFrame>
        <p:nvGraphicFramePr>
          <p:cNvPr id="346116" name="Object 4"/>
          <p:cNvGraphicFramePr>
            <a:graphicFrameLocks noChangeAspect="1"/>
          </p:cNvGraphicFramePr>
          <p:nvPr/>
        </p:nvGraphicFramePr>
        <p:xfrm>
          <a:off x="2286000" y="2266950"/>
          <a:ext cx="10541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116" name="Equation" r:id="rId4" imgW="1054080" imgH="1828800" progId="Equation.DSMT4">
                  <p:embed/>
                </p:oleObj>
              </mc:Choice>
              <mc:Fallback>
                <p:oleObj name="Equation" r:id="rId4" imgW="1054080" imgH="18288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266950"/>
                        <a:ext cx="105410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6118" name="Object 6"/>
          <p:cNvGraphicFramePr>
            <a:graphicFrameLocks noChangeAspect="1"/>
          </p:cNvGraphicFramePr>
          <p:nvPr/>
        </p:nvGraphicFramePr>
        <p:xfrm>
          <a:off x="3429000" y="3600450"/>
          <a:ext cx="11811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118" name="Equation" r:id="rId6" imgW="1180800" imgH="761760" progId="Equation.DSMT4">
                  <p:embed/>
                </p:oleObj>
              </mc:Choice>
              <mc:Fallback>
                <p:oleObj name="Equation" r:id="rId6" imgW="1180800" imgH="76176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600450"/>
                        <a:ext cx="11811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6119" name="Object 7"/>
          <p:cNvGraphicFramePr>
            <a:graphicFrameLocks noChangeAspect="1"/>
          </p:cNvGraphicFramePr>
          <p:nvPr/>
        </p:nvGraphicFramePr>
        <p:xfrm>
          <a:off x="3429000" y="2457450"/>
          <a:ext cx="11811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119" name="Equation" r:id="rId8" imgW="1180800" imgH="761760" progId="Equation.DSMT4">
                  <p:embed/>
                </p:oleObj>
              </mc:Choice>
              <mc:Fallback>
                <p:oleObj name="Equation" r:id="rId8" imgW="1180800" imgH="76176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457450"/>
                        <a:ext cx="11811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6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6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6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6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3662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构建任意模值的计数器：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N&gt;M  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同步预置法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381000" y="971550"/>
            <a:ext cx="76962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：用可逆模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10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计数器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74LS168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构成模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6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的计数器。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74LS168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预置功能为同步预置</a:t>
            </a:r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。</a:t>
            </a:r>
            <a:endParaRPr kumimoji="0" lang="zh-CN" altLang="en-US" sz="3200" b="1" i="0" dirty="0"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12" name="Group 22"/>
          <p:cNvGrpSpPr>
            <a:grpSpLocks/>
          </p:cNvGrpSpPr>
          <p:nvPr/>
        </p:nvGrpSpPr>
        <p:grpSpPr bwMode="auto">
          <a:xfrm>
            <a:off x="2209800" y="2063750"/>
            <a:ext cx="3735388" cy="1441450"/>
            <a:chOff x="-7" y="2912"/>
            <a:chExt cx="2353" cy="908"/>
          </a:xfrm>
        </p:grpSpPr>
        <p:sp>
          <p:nvSpPr>
            <p:cNvPr id="13" name="Text Box 23"/>
            <p:cNvSpPr txBox="1">
              <a:spLocks noChangeArrowheads="1"/>
            </p:cNvSpPr>
            <p:nvPr/>
          </p:nvSpPr>
          <p:spPr bwMode="auto">
            <a:xfrm>
              <a:off x="892" y="2912"/>
              <a:ext cx="131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>
                  <a:latin typeface="Arial" pitchFamily="34" charset="0"/>
                </a:rPr>
                <a:t>Q</a:t>
              </a:r>
              <a:r>
                <a:rPr kumimoji="0" lang="en-US" altLang="zh-CN" sz="2000" b="1" i="0" baseline="-2000">
                  <a:latin typeface="Arial" pitchFamily="34" charset="0"/>
                </a:rPr>
                <a:t>D</a:t>
              </a:r>
              <a:r>
                <a:rPr kumimoji="0" lang="en-US" altLang="zh-CN" sz="2000" b="1" i="0">
                  <a:latin typeface="Arial" pitchFamily="34" charset="0"/>
                </a:rPr>
                <a:t> Q</a:t>
              </a:r>
              <a:r>
                <a:rPr kumimoji="0" lang="en-US" altLang="zh-CN" sz="2000" b="1" i="0" baseline="-2000">
                  <a:latin typeface="Arial" pitchFamily="34" charset="0"/>
                </a:rPr>
                <a:t>C</a:t>
              </a:r>
              <a:r>
                <a:rPr kumimoji="0" lang="en-US" altLang="zh-CN" sz="2000" b="1" i="0">
                  <a:latin typeface="Arial" pitchFamily="34" charset="0"/>
                </a:rPr>
                <a:t> Q</a:t>
              </a:r>
              <a:r>
                <a:rPr kumimoji="0" lang="en-US" altLang="zh-CN" sz="2000" b="1" i="0" baseline="-2000">
                  <a:latin typeface="Arial" pitchFamily="34" charset="0"/>
                </a:rPr>
                <a:t>B</a:t>
              </a:r>
              <a:r>
                <a:rPr kumimoji="0" lang="en-US" altLang="zh-CN" sz="2000" b="1" i="0">
                  <a:latin typeface="Arial" pitchFamily="34" charset="0"/>
                </a:rPr>
                <a:t> Q</a:t>
              </a:r>
              <a:r>
                <a:rPr kumimoji="0" lang="en-US" altLang="zh-CN" sz="2000" b="1" i="0" baseline="-2000">
                  <a:latin typeface="Arial" pitchFamily="34" charset="0"/>
                </a:rPr>
                <a:t>A</a:t>
              </a:r>
            </a:p>
          </p:txBody>
        </p:sp>
        <p:sp>
          <p:nvSpPr>
            <p:cNvPr id="14" name="Rectangle 24"/>
            <p:cNvSpPr>
              <a:spLocks noChangeArrowheads="1"/>
            </p:cNvSpPr>
            <p:nvPr/>
          </p:nvSpPr>
          <p:spPr bwMode="auto">
            <a:xfrm>
              <a:off x="577" y="2912"/>
              <a:ext cx="1588" cy="81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15" name="Text Box 25"/>
            <p:cNvSpPr txBox="1">
              <a:spLocks noChangeArrowheads="1"/>
            </p:cNvSpPr>
            <p:nvPr/>
          </p:nvSpPr>
          <p:spPr bwMode="auto">
            <a:xfrm>
              <a:off x="1802" y="3140"/>
              <a:ext cx="408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>
                  <a:latin typeface="Arial" pitchFamily="34" charset="0"/>
                </a:rPr>
                <a:t>COBO</a:t>
              </a:r>
            </a:p>
          </p:txBody>
        </p:sp>
        <p:sp>
          <p:nvSpPr>
            <p:cNvPr id="16" name="Text Box 26"/>
            <p:cNvSpPr txBox="1">
              <a:spLocks noChangeArrowheads="1"/>
            </p:cNvSpPr>
            <p:nvPr/>
          </p:nvSpPr>
          <p:spPr bwMode="auto">
            <a:xfrm>
              <a:off x="667" y="3513"/>
              <a:ext cx="134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>
                  <a:latin typeface="Arial" pitchFamily="34" charset="0"/>
                </a:rPr>
                <a:t>         D  C  B  A</a:t>
              </a:r>
            </a:p>
          </p:txBody>
        </p:sp>
        <p:sp>
          <p:nvSpPr>
            <p:cNvPr id="17" name="Line 27"/>
            <p:cNvSpPr>
              <a:spLocks noChangeShapeType="1"/>
            </p:cNvSpPr>
            <p:nvPr/>
          </p:nvSpPr>
          <p:spPr bwMode="auto">
            <a:xfrm>
              <a:off x="1892" y="3175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Box 28"/>
            <p:cNvSpPr txBox="1">
              <a:spLocks noChangeArrowheads="1"/>
            </p:cNvSpPr>
            <p:nvPr/>
          </p:nvSpPr>
          <p:spPr bwMode="auto">
            <a:xfrm>
              <a:off x="669" y="3119"/>
              <a:ext cx="49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>
                  <a:latin typeface="Arial" pitchFamily="34" charset="0"/>
                </a:rPr>
                <a:t>CK</a:t>
              </a:r>
              <a:endParaRPr kumimoji="0" lang="en-US" altLang="zh-CN" sz="2000" b="1" i="0" baseline="-2000">
                <a:latin typeface="Arial" pitchFamily="34" charset="0"/>
              </a:endParaRPr>
            </a:p>
          </p:txBody>
        </p:sp>
        <p:sp>
          <p:nvSpPr>
            <p:cNvPr id="19" name="Text Box 29"/>
            <p:cNvSpPr txBox="1">
              <a:spLocks noChangeArrowheads="1"/>
            </p:cNvSpPr>
            <p:nvPr/>
          </p:nvSpPr>
          <p:spPr bwMode="auto">
            <a:xfrm>
              <a:off x="1069" y="3206"/>
              <a:ext cx="105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 dirty="0">
                  <a:latin typeface="Arial" pitchFamily="34" charset="0"/>
                </a:rPr>
                <a:t>74LS168</a:t>
              </a:r>
            </a:p>
          </p:txBody>
        </p:sp>
        <p:sp>
          <p:nvSpPr>
            <p:cNvPr id="20" name="AutoShape 30"/>
            <p:cNvSpPr>
              <a:spLocks noChangeArrowheads="1"/>
            </p:cNvSpPr>
            <p:nvPr/>
          </p:nvSpPr>
          <p:spPr bwMode="auto">
            <a:xfrm rot="5400000">
              <a:off x="565" y="3179"/>
              <a:ext cx="151" cy="117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21" name="Line 31"/>
            <p:cNvSpPr>
              <a:spLocks noChangeShapeType="1"/>
            </p:cNvSpPr>
            <p:nvPr/>
          </p:nvSpPr>
          <p:spPr bwMode="auto">
            <a:xfrm>
              <a:off x="635" y="2944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 Box 32"/>
            <p:cNvSpPr txBox="1">
              <a:spLocks noChangeArrowheads="1"/>
            </p:cNvSpPr>
            <p:nvPr/>
          </p:nvSpPr>
          <p:spPr bwMode="auto">
            <a:xfrm>
              <a:off x="582" y="2931"/>
              <a:ext cx="42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>
                  <a:latin typeface="Arial" pitchFamily="34" charset="0"/>
                </a:rPr>
                <a:t>LD</a:t>
              </a:r>
            </a:p>
          </p:txBody>
        </p:sp>
        <p:sp>
          <p:nvSpPr>
            <p:cNvPr id="23" name="Line 33"/>
            <p:cNvSpPr>
              <a:spLocks noChangeShapeType="1"/>
            </p:cNvSpPr>
            <p:nvPr/>
          </p:nvSpPr>
          <p:spPr bwMode="auto">
            <a:xfrm>
              <a:off x="1876" y="3369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4" name="Group 34"/>
            <p:cNvGrpSpPr>
              <a:grpSpLocks/>
            </p:cNvGrpSpPr>
            <p:nvPr/>
          </p:nvGrpSpPr>
          <p:grpSpPr bwMode="auto">
            <a:xfrm>
              <a:off x="396" y="3024"/>
              <a:ext cx="1950" cy="227"/>
              <a:chOff x="612" y="2840"/>
              <a:chExt cx="1950" cy="227"/>
            </a:xfrm>
          </p:grpSpPr>
          <p:sp>
            <p:nvSpPr>
              <p:cNvPr id="43" name="Line 35"/>
              <p:cNvSpPr>
                <a:spLocks noChangeShapeType="1"/>
              </p:cNvSpPr>
              <p:nvPr/>
            </p:nvSpPr>
            <p:spPr bwMode="auto">
              <a:xfrm flipH="1">
                <a:off x="612" y="2840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" name="Line 39"/>
              <p:cNvSpPr>
                <a:spLocks noChangeShapeType="1"/>
              </p:cNvSpPr>
              <p:nvPr/>
            </p:nvSpPr>
            <p:spPr bwMode="auto">
              <a:xfrm flipH="1">
                <a:off x="2381" y="3067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8" name="Line 43"/>
            <p:cNvSpPr>
              <a:spLocks noChangeShapeType="1"/>
            </p:cNvSpPr>
            <p:nvPr/>
          </p:nvSpPr>
          <p:spPr bwMode="auto">
            <a:xfrm flipV="1">
              <a:off x="1794" y="3729"/>
              <a:ext cx="0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44"/>
            <p:cNvSpPr>
              <a:spLocks noChangeShapeType="1"/>
            </p:cNvSpPr>
            <p:nvPr/>
          </p:nvSpPr>
          <p:spPr bwMode="auto">
            <a:xfrm>
              <a:off x="1575" y="3729"/>
              <a:ext cx="0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45"/>
            <p:cNvSpPr>
              <a:spLocks noChangeShapeType="1"/>
            </p:cNvSpPr>
            <p:nvPr/>
          </p:nvSpPr>
          <p:spPr bwMode="auto">
            <a:xfrm>
              <a:off x="1213" y="3729"/>
              <a:ext cx="0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3" name="Group 48"/>
            <p:cNvGrpSpPr>
              <a:grpSpLocks/>
            </p:cNvGrpSpPr>
            <p:nvPr/>
          </p:nvGrpSpPr>
          <p:grpSpPr bwMode="auto">
            <a:xfrm>
              <a:off x="63" y="3091"/>
              <a:ext cx="514" cy="250"/>
              <a:chOff x="279" y="2907"/>
              <a:chExt cx="514" cy="250"/>
            </a:xfrm>
          </p:grpSpPr>
          <p:sp>
            <p:nvSpPr>
              <p:cNvPr id="41" name="Line 49"/>
              <p:cNvSpPr>
                <a:spLocks noChangeShapeType="1"/>
              </p:cNvSpPr>
              <p:nvPr/>
            </p:nvSpPr>
            <p:spPr bwMode="auto">
              <a:xfrm flipH="1">
                <a:off x="567" y="3022"/>
                <a:ext cx="22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" name="Text Box 50"/>
              <p:cNvSpPr txBox="1">
                <a:spLocks noChangeArrowheads="1"/>
              </p:cNvSpPr>
              <p:nvPr/>
            </p:nvSpPr>
            <p:spPr bwMode="auto">
              <a:xfrm>
                <a:off x="279" y="2907"/>
                <a:ext cx="45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2000" b="1" i="0">
                    <a:latin typeface="Arial" pitchFamily="34" charset="0"/>
                  </a:rPr>
                  <a:t>CLK</a:t>
                </a:r>
              </a:p>
            </p:txBody>
          </p:sp>
        </p:grpSp>
        <p:sp>
          <p:nvSpPr>
            <p:cNvPr id="39" name="Line 52"/>
            <p:cNvSpPr>
              <a:spLocks noChangeShapeType="1"/>
            </p:cNvSpPr>
            <p:nvPr/>
          </p:nvSpPr>
          <p:spPr bwMode="auto">
            <a:xfrm>
              <a:off x="1391" y="3734"/>
              <a:ext cx="0" cy="7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 Box 54"/>
            <p:cNvSpPr txBox="1">
              <a:spLocks noChangeArrowheads="1"/>
            </p:cNvSpPr>
            <p:nvPr/>
          </p:nvSpPr>
          <p:spPr bwMode="auto">
            <a:xfrm>
              <a:off x="532" y="3321"/>
              <a:ext cx="49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>
                  <a:latin typeface="Arial" pitchFamily="34" charset="0"/>
                </a:rPr>
                <a:t>U/D</a:t>
              </a:r>
              <a:endParaRPr kumimoji="0" lang="en-US" altLang="zh-CN" sz="2000" b="1" i="0" baseline="-2000">
                <a:latin typeface="Arial" pitchFamily="34" charset="0"/>
              </a:endParaRPr>
            </a:p>
          </p:txBody>
        </p:sp>
        <p:sp>
          <p:nvSpPr>
            <p:cNvPr id="36" name="Line 55"/>
            <p:cNvSpPr>
              <a:spLocks noChangeShapeType="1"/>
            </p:cNvSpPr>
            <p:nvPr/>
          </p:nvSpPr>
          <p:spPr bwMode="auto">
            <a:xfrm>
              <a:off x="761" y="3350"/>
              <a:ext cx="9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56"/>
            <p:cNvSpPr>
              <a:spLocks noChangeShapeType="1"/>
            </p:cNvSpPr>
            <p:nvPr/>
          </p:nvSpPr>
          <p:spPr bwMode="auto">
            <a:xfrm flipH="1">
              <a:off x="351" y="3438"/>
              <a:ext cx="2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Text Box 57"/>
            <p:cNvSpPr txBox="1">
              <a:spLocks noChangeArrowheads="1"/>
            </p:cNvSpPr>
            <p:nvPr/>
          </p:nvSpPr>
          <p:spPr bwMode="auto">
            <a:xfrm>
              <a:off x="-7" y="3321"/>
              <a:ext cx="4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>
                  <a:latin typeface="Arial" pitchFamily="34" charset="0"/>
                </a:rPr>
                <a:t>+5V</a:t>
              </a:r>
            </a:p>
          </p:txBody>
        </p:sp>
      </p:grpSp>
      <p:sp>
        <p:nvSpPr>
          <p:cNvPr id="34" name="矩形 33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124200" y="3714750"/>
            <a:ext cx="2362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14 74LS168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框图</a:t>
            </a: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3662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构建任意模值的计数器：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N&gt;M   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同步预置法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457200" y="1047750"/>
            <a:ext cx="7696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1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加法计数器、预置法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：用模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10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计数器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74LS168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构成模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6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的计数器。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74LS168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预置功能为同步预置</a:t>
            </a:r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。</a:t>
            </a:r>
            <a:endParaRPr kumimoji="0" lang="zh-CN" altLang="en-US" sz="3200" b="1" i="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2" name="Text Box 50"/>
          <p:cNvSpPr txBox="1">
            <a:spLocks noChangeArrowheads="1"/>
          </p:cNvSpPr>
          <p:nvPr/>
        </p:nvSpPr>
        <p:spPr bwMode="auto">
          <a:xfrm>
            <a:off x="0" y="2809199"/>
            <a:ext cx="7191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en-US" altLang="zh-CN" sz="2000" b="1" i="0" dirty="0">
                <a:latin typeface="Arial" pitchFamily="34" charset="0"/>
              </a:rPr>
              <a:t>CLK</a:t>
            </a:r>
          </a:p>
        </p:txBody>
      </p:sp>
      <p:grpSp>
        <p:nvGrpSpPr>
          <p:cNvPr id="2" name="Group 82"/>
          <p:cNvGrpSpPr>
            <a:grpSpLocks/>
          </p:cNvGrpSpPr>
          <p:nvPr/>
        </p:nvGrpSpPr>
        <p:grpSpPr bwMode="auto">
          <a:xfrm>
            <a:off x="4402138" y="2038350"/>
            <a:ext cx="3464823" cy="2100003"/>
            <a:chOff x="2925" y="1162"/>
            <a:chExt cx="2416" cy="1588"/>
          </a:xfrm>
        </p:grpSpPr>
        <p:grpSp>
          <p:nvGrpSpPr>
            <p:cNvPr id="3" name="Group 83"/>
            <p:cNvGrpSpPr>
              <a:grpSpLocks/>
            </p:cNvGrpSpPr>
            <p:nvPr/>
          </p:nvGrpSpPr>
          <p:grpSpPr bwMode="auto">
            <a:xfrm>
              <a:off x="2925" y="1525"/>
              <a:ext cx="454" cy="317"/>
              <a:chOff x="1746" y="3385"/>
              <a:chExt cx="454" cy="317"/>
            </a:xfrm>
          </p:grpSpPr>
          <p:sp>
            <p:nvSpPr>
              <p:cNvPr id="121" name="AutoShape 84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22" name="Text Box 85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400">
                    <a:solidFill>
                      <a:srgbClr val="FF0000"/>
                    </a:solidFill>
                    <a:effectLst/>
                    <a:latin typeface="Arial" charset="0"/>
                  </a:rPr>
                  <a:t>0000</a:t>
                </a:r>
              </a:p>
            </p:txBody>
          </p:sp>
        </p:grpSp>
        <p:grpSp>
          <p:nvGrpSpPr>
            <p:cNvPr id="4" name="Group 86"/>
            <p:cNvGrpSpPr>
              <a:grpSpLocks/>
            </p:cNvGrpSpPr>
            <p:nvPr/>
          </p:nvGrpSpPr>
          <p:grpSpPr bwMode="auto">
            <a:xfrm>
              <a:off x="3832" y="1525"/>
              <a:ext cx="454" cy="317"/>
              <a:chOff x="1746" y="3385"/>
              <a:chExt cx="454" cy="317"/>
            </a:xfrm>
          </p:grpSpPr>
          <p:sp>
            <p:nvSpPr>
              <p:cNvPr id="119" name="AutoShape 87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20" name="Text Box 88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>
                    <a:solidFill>
                      <a:srgbClr val="FF0000"/>
                    </a:solidFill>
                    <a:effectLst/>
                    <a:latin typeface="Arial" charset="0"/>
                  </a:rPr>
                  <a:t>0010</a:t>
                </a:r>
              </a:p>
            </p:txBody>
          </p:sp>
        </p:grpSp>
        <p:grpSp>
          <p:nvGrpSpPr>
            <p:cNvPr id="5" name="Group 89"/>
            <p:cNvGrpSpPr>
              <a:grpSpLocks/>
            </p:cNvGrpSpPr>
            <p:nvPr/>
          </p:nvGrpSpPr>
          <p:grpSpPr bwMode="auto">
            <a:xfrm>
              <a:off x="3378" y="1525"/>
              <a:ext cx="454" cy="317"/>
              <a:chOff x="1746" y="3385"/>
              <a:chExt cx="454" cy="317"/>
            </a:xfrm>
          </p:grpSpPr>
          <p:sp>
            <p:nvSpPr>
              <p:cNvPr id="117" name="AutoShape 90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18" name="Text Box 91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>
                    <a:solidFill>
                      <a:srgbClr val="FF0000"/>
                    </a:solidFill>
                    <a:effectLst/>
                    <a:latin typeface="Arial" charset="0"/>
                  </a:rPr>
                  <a:t>0001</a:t>
                </a:r>
              </a:p>
            </p:txBody>
          </p:sp>
        </p:grpSp>
        <p:grpSp>
          <p:nvGrpSpPr>
            <p:cNvPr id="6" name="Group 92"/>
            <p:cNvGrpSpPr>
              <a:grpSpLocks/>
            </p:cNvGrpSpPr>
            <p:nvPr/>
          </p:nvGrpSpPr>
          <p:grpSpPr bwMode="auto">
            <a:xfrm>
              <a:off x="4286" y="2433"/>
              <a:ext cx="454" cy="317"/>
              <a:chOff x="1746" y="3385"/>
              <a:chExt cx="454" cy="317"/>
            </a:xfrm>
          </p:grpSpPr>
          <p:sp>
            <p:nvSpPr>
              <p:cNvPr id="115" name="AutoShape 93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16" name="Text Box 94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>
                    <a:solidFill>
                      <a:srgbClr val="FF0000"/>
                    </a:solidFill>
                    <a:effectLst/>
                    <a:latin typeface="Arial" charset="0"/>
                  </a:rPr>
                  <a:t>0101</a:t>
                </a:r>
              </a:p>
            </p:txBody>
          </p:sp>
        </p:grpSp>
        <p:grpSp>
          <p:nvGrpSpPr>
            <p:cNvPr id="7" name="Group 95"/>
            <p:cNvGrpSpPr>
              <a:grpSpLocks/>
            </p:cNvGrpSpPr>
            <p:nvPr/>
          </p:nvGrpSpPr>
          <p:grpSpPr bwMode="auto">
            <a:xfrm>
              <a:off x="4286" y="1979"/>
              <a:ext cx="454" cy="317"/>
              <a:chOff x="1746" y="3385"/>
              <a:chExt cx="454" cy="317"/>
            </a:xfrm>
          </p:grpSpPr>
          <p:sp>
            <p:nvSpPr>
              <p:cNvPr id="113" name="AutoShape 96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14" name="Text Box 97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>
                    <a:solidFill>
                      <a:srgbClr val="FF0000"/>
                    </a:solidFill>
                    <a:effectLst/>
                    <a:latin typeface="Arial" charset="0"/>
                  </a:rPr>
                  <a:t>0100</a:t>
                </a:r>
              </a:p>
            </p:txBody>
          </p:sp>
        </p:grpSp>
        <p:grpSp>
          <p:nvGrpSpPr>
            <p:cNvPr id="8" name="Group 98"/>
            <p:cNvGrpSpPr>
              <a:grpSpLocks/>
            </p:cNvGrpSpPr>
            <p:nvPr/>
          </p:nvGrpSpPr>
          <p:grpSpPr bwMode="auto">
            <a:xfrm>
              <a:off x="4285" y="1525"/>
              <a:ext cx="454" cy="317"/>
              <a:chOff x="1746" y="3385"/>
              <a:chExt cx="454" cy="317"/>
            </a:xfrm>
          </p:grpSpPr>
          <p:sp>
            <p:nvSpPr>
              <p:cNvPr id="111" name="AutoShape 99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12" name="Text Box 100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>
                    <a:solidFill>
                      <a:srgbClr val="FF0000"/>
                    </a:solidFill>
                    <a:effectLst/>
                    <a:latin typeface="Arial" charset="0"/>
                  </a:rPr>
                  <a:t>0011</a:t>
                </a:r>
              </a:p>
            </p:txBody>
          </p:sp>
        </p:grpSp>
        <p:grpSp>
          <p:nvGrpSpPr>
            <p:cNvPr id="9" name="Group 119"/>
            <p:cNvGrpSpPr>
              <a:grpSpLocks/>
            </p:cNvGrpSpPr>
            <p:nvPr/>
          </p:nvGrpSpPr>
          <p:grpSpPr bwMode="auto">
            <a:xfrm>
              <a:off x="2925" y="2432"/>
              <a:ext cx="454" cy="317"/>
              <a:chOff x="1746" y="3385"/>
              <a:chExt cx="454" cy="317"/>
            </a:xfrm>
          </p:grpSpPr>
          <p:sp>
            <p:nvSpPr>
              <p:cNvPr id="97" name="AutoShape 120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98" name="Text Box 121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1000</a:t>
                </a:r>
              </a:p>
            </p:txBody>
          </p:sp>
        </p:grpSp>
        <p:grpSp>
          <p:nvGrpSpPr>
            <p:cNvPr id="10" name="Group 122"/>
            <p:cNvGrpSpPr>
              <a:grpSpLocks/>
            </p:cNvGrpSpPr>
            <p:nvPr/>
          </p:nvGrpSpPr>
          <p:grpSpPr bwMode="auto">
            <a:xfrm>
              <a:off x="2925" y="1979"/>
              <a:ext cx="454" cy="317"/>
              <a:chOff x="1746" y="3385"/>
              <a:chExt cx="454" cy="317"/>
            </a:xfrm>
          </p:grpSpPr>
          <p:sp>
            <p:nvSpPr>
              <p:cNvPr id="95" name="AutoShape 123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96" name="Text Box 124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>
                    <a:solidFill>
                      <a:srgbClr val="FF0000"/>
                    </a:solidFill>
                    <a:effectLst/>
                    <a:latin typeface="Arial" charset="0"/>
                  </a:rPr>
                  <a:t>1001</a:t>
                </a:r>
              </a:p>
            </p:txBody>
          </p:sp>
        </p:grpSp>
        <p:grpSp>
          <p:nvGrpSpPr>
            <p:cNvPr id="12" name="Group 125"/>
            <p:cNvGrpSpPr>
              <a:grpSpLocks/>
            </p:cNvGrpSpPr>
            <p:nvPr/>
          </p:nvGrpSpPr>
          <p:grpSpPr bwMode="auto">
            <a:xfrm>
              <a:off x="3379" y="2432"/>
              <a:ext cx="454" cy="317"/>
              <a:chOff x="1746" y="3385"/>
              <a:chExt cx="454" cy="317"/>
            </a:xfrm>
          </p:grpSpPr>
          <p:sp>
            <p:nvSpPr>
              <p:cNvPr id="93" name="AutoShape 126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94" name="Text Box 127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>
                    <a:solidFill>
                      <a:srgbClr val="FF0000"/>
                    </a:solidFill>
                    <a:effectLst/>
                    <a:latin typeface="Arial" charset="0"/>
                  </a:rPr>
                  <a:t>0111</a:t>
                </a:r>
              </a:p>
            </p:txBody>
          </p:sp>
        </p:grpSp>
        <p:grpSp>
          <p:nvGrpSpPr>
            <p:cNvPr id="24" name="Group 128"/>
            <p:cNvGrpSpPr>
              <a:grpSpLocks/>
            </p:cNvGrpSpPr>
            <p:nvPr/>
          </p:nvGrpSpPr>
          <p:grpSpPr bwMode="auto">
            <a:xfrm>
              <a:off x="3833" y="2433"/>
              <a:ext cx="454" cy="317"/>
              <a:chOff x="1746" y="3385"/>
              <a:chExt cx="454" cy="317"/>
            </a:xfrm>
          </p:grpSpPr>
          <p:sp>
            <p:nvSpPr>
              <p:cNvPr id="91" name="AutoShape 129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92" name="Text Box 130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>
                    <a:solidFill>
                      <a:srgbClr val="FF0000"/>
                    </a:solidFill>
                    <a:effectLst/>
                    <a:latin typeface="Arial" charset="0"/>
                  </a:rPr>
                  <a:t>0110</a:t>
                </a:r>
              </a:p>
            </p:txBody>
          </p:sp>
        </p:grpSp>
        <p:sp>
          <p:nvSpPr>
            <p:cNvPr id="71" name="Line 131"/>
            <p:cNvSpPr>
              <a:spLocks noChangeShapeType="1"/>
            </p:cNvSpPr>
            <p:nvPr/>
          </p:nvSpPr>
          <p:spPr bwMode="auto">
            <a:xfrm>
              <a:off x="3288" y="1661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72" name="Line 132"/>
            <p:cNvSpPr>
              <a:spLocks noChangeShapeType="1"/>
            </p:cNvSpPr>
            <p:nvPr/>
          </p:nvSpPr>
          <p:spPr bwMode="auto">
            <a:xfrm>
              <a:off x="3742" y="1661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74" name="Line 134"/>
            <p:cNvSpPr>
              <a:spLocks noChangeShapeType="1"/>
            </p:cNvSpPr>
            <p:nvPr/>
          </p:nvSpPr>
          <p:spPr bwMode="auto">
            <a:xfrm rot="16200000" flipH="1">
              <a:off x="4400" y="2365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75" name="Line 135"/>
            <p:cNvSpPr>
              <a:spLocks noChangeShapeType="1"/>
            </p:cNvSpPr>
            <p:nvPr/>
          </p:nvSpPr>
          <p:spPr bwMode="auto">
            <a:xfrm rot="-5400000">
              <a:off x="3061" y="1911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76" name="Line 136"/>
            <p:cNvSpPr>
              <a:spLocks noChangeShapeType="1"/>
            </p:cNvSpPr>
            <p:nvPr/>
          </p:nvSpPr>
          <p:spPr bwMode="auto">
            <a:xfrm rot="-5400000">
              <a:off x="3061" y="2365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79" name="Line 139"/>
            <p:cNvSpPr>
              <a:spLocks noChangeShapeType="1"/>
            </p:cNvSpPr>
            <p:nvPr/>
          </p:nvSpPr>
          <p:spPr bwMode="auto">
            <a:xfrm flipH="1">
              <a:off x="3288" y="2614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80" name="Line 140"/>
            <p:cNvSpPr>
              <a:spLocks noChangeShapeType="1"/>
            </p:cNvSpPr>
            <p:nvPr/>
          </p:nvSpPr>
          <p:spPr bwMode="auto">
            <a:xfrm flipH="1">
              <a:off x="3742" y="2614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81" name="Line 141"/>
            <p:cNvSpPr>
              <a:spLocks noChangeShapeType="1"/>
            </p:cNvSpPr>
            <p:nvPr/>
          </p:nvSpPr>
          <p:spPr bwMode="auto">
            <a:xfrm flipH="1">
              <a:off x="4195" y="2614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82" name="Line 142"/>
            <p:cNvSpPr>
              <a:spLocks noChangeShapeType="1"/>
            </p:cNvSpPr>
            <p:nvPr/>
          </p:nvSpPr>
          <p:spPr bwMode="auto">
            <a:xfrm>
              <a:off x="4195" y="1661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84" name="Line 144"/>
            <p:cNvSpPr>
              <a:spLocks noChangeShapeType="1"/>
            </p:cNvSpPr>
            <p:nvPr/>
          </p:nvSpPr>
          <p:spPr bwMode="auto">
            <a:xfrm rot="5400000" flipV="1">
              <a:off x="4400" y="1911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89" name="AutoShape 146"/>
            <p:cNvSpPr>
              <a:spLocks noChangeArrowheads="1"/>
            </p:cNvSpPr>
            <p:nvPr/>
          </p:nvSpPr>
          <p:spPr bwMode="auto">
            <a:xfrm>
              <a:off x="4797" y="1162"/>
              <a:ext cx="544" cy="544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</p:grpSp>
      <p:grpSp>
        <p:nvGrpSpPr>
          <p:cNvPr id="25" name="组合 124"/>
          <p:cNvGrpSpPr/>
          <p:nvPr/>
        </p:nvGrpSpPr>
        <p:grpSpPr>
          <a:xfrm>
            <a:off x="76200" y="2504399"/>
            <a:ext cx="3817623" cy="2167354"/>
            <a:chOff x="76200" y="2190750"/>
            <a:chExt cx="3817623" cy="2167354"/>
          </a:xfrm>
        </p:grpSpPr>
        <p:sp>
          <p:nvSpPr>
            <p:cNvPr id="13" name="Text Box 23"/>
            <p:cNvSpPr txBox="1">
              <a:spLocks noChangeArrowheads="1"/>
            </p:cNvSpPr>
            <p:nvPr/>
          </p:nvSpPr>
          <p:spPr bwMode="auto">
            <a:xfrm>
              <a:off x="1566863" y="2190750"/>
              <a:ext cx="209232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>
                  <a:latin typeface="Arial" pitchFamily="34" charset="0"/>
                </a:rPr>
                <a:t>Q</a:t>
              </a:r>
              <a:r>
                <a:rPr kumimoji="0" lang="en-US" altLang="zh-CN" sz="2000" b="1" i="0" baseline="-2000">
                  <a:latin typeface="Arial" pitchFamily="34" charset="0"/>
                </a:rPr>
                <a:t>D</a:t>
              </a:r>
              <a:r>
                <a:rPr kumimoji="0" lang="en-US" altLang="zh-CN" sz="2000" b="1" i="0">
                  <a:latin typeface="Arial" pitchFamily="34" charset="0"/>
                </a:rPr>
                <a:t> Q</a:t>
              </a:r>
              <a:r>
                <a:rPr kumimoji="0" lang="en-US" altLang="zh-CN" sz="2000" b="1" i="0" baseline="-2000">
                  <a:latin typeface="Arial" pitchFamily="34" charset="0"/>
                </a:rPr>
                <a:t>C</a:t>
              </a:r>
              <a:r>
                <a:rPr kumimoji="0" lang="en-US" altLang="zh-CN" sz="2000" b="1" i="0">
                  <a:latin typeface="Arial" pitchFamily="34" charset="0"/>
                </a:rPr>
                <a:t> Q</a:t>
              </a:r>
              <a:r>
                <a:rPr kumimoji="0" lang="en-US" altLang="zh-CN" sz="2000" b="1" i="0" baseline="-2000">
                  <a:latin typeface="Arial" pitchFamily="34" charset="0"/>
                </a:rPr>
                <a:t>B</a:t>
              </a:r>
              <a:r>
                <a:rPr kumimoji="0" lang="en-US" altLang="zh-CN" sz="2000" b="1" i="0">
                  <a:latin typeface="Arial" pitchFamily="34" charset="0"/>
                </a:rPr>
                <a:t> Q</a:t>
              </a:r>
              <a:r>
                <a:rPr kumimoji="0" lang="en-US" altLang="zh-CN" sz="2000" b="1" i="0" baseline="-2000">
                  <a:latin typeface="Arial" pitchFamily="34" charset="0"/>
                </a:rPr>
                <a:t>A</a:t>
              </a:r>
            </a:p>
          </p:txBody>
        </p:sp>
        <p:sp>
          <p:nvSpPr>
            <p:cNvPr id="14" name="Rectangle 24"/>
            <p:cNvSpPr>
              <a:spLocks noChangeArrowheads="1"/>
            </p:cNvSpPr>
            <p:nvPr/>
          </p:nvSpPr>
          <p:spPr bwMode="auto">
            <a:xfrm>
              <a:off x="1066800" y="2190750"/>
              <a:ext cx="2520950" cy="1295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15" name="Text Box 25"/>
            <p:cNvSpPr txBox="1">
              <a:spLocks noChangeArrowheads="1"/>
            </p:cNvSpPr>
            <p:nvPr/>
          </p:nvSpPr>
          <p:spPr bwMode="auto">
            <a:xfrm>
              <a:off x="3011488" y="2552700"/>
              <a:ext cx="647700" cy="701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>
                  <a:latin typeface="Arial" pitchFamily="34" charset="0"/>
                </a:rPr>
                <a:t>COBO</a:t>
              </a:r>
            </a:p>
          </p:txBody>
        </p:sp>
        <p:sp>
          <p:nvSpPr>
            <p:cNvPr id="16" name="Text Box 26"/>
            <p:cNvSpPr txBox="1">
              <a:spLocks noChangeArrowheads="1"/>
            </p:cNvSpPr>
            <p:nvPr/>
          </p:nvSpPr>
          <p:spPr bwMode="auto">
            <a:xfrm>
              <a:off x="1209675" y="3144838"/>
              <a:ext cx="213995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>
                  <a:latin typeface="Arial" pitchFamily="34" charset="0"/>
                </a:rPr>
                <a:t>         D  C  B  A</a:t>
              </a:r>
            </a:p>
          </p:txBody>
        </p:sp>
        <p:sp>
          <p:nvSpPr>
            <p:cNvPr id="17" name="Line 27"/>
            <p:cNvSpPr>
              <a:spLocks noChangeShapeType="1"/>
            </p:cNvSpPr>
            <p:nvPr/>
          </p:nvSpPr>
          <p:spPr bwMode="auto">
            <a:xfrm>
              <a:off x="3154363" y="2608263"/>
              <a:ext cx="2889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Box 28"/>
            <p:cNvSpPr txBox="1">
              <a:spLocks noChangeArrowheads="1"/>
            </p:cNvSpPr>
            <p:nvPr/>
          </p:nvSpPr>
          <p:spPr bwMode="auto">
            <a:xfrm>
              <a:off x="1212850" y="2519363"/>
              <a:ext cx="7921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>
                  <a:latin typeface="Arial" pitchFamily="34" charset="0"/>
                </a:rPr>
                <a:t>CK</a:t>
              </a:r>
              <a:endParaRPr kumimoji="0" lang="en-US" altLang="zh-CN" sz="2000" b="1" i="0" baseline="-2000">
                <a:latin typeface="Arial" pitchFamily="34" charset="0"/>
              </a:endParaRPr>
            </a:p>
          </p:txBody>
        </p:sp>
        <p:sp>
          <p:nvSpPr>
            <p:cNvPr id="19" name="Text Box 29"/>
            <p:cNvSpPr txBox="1">
              <a:spLocks noChangeArrowheads="1"/>
            </p:cNvSpPr>
            <p:nvPr/>
          </p:nvSpPr>
          <p:spPr bwMode="auto">
            <a:xfrm>
              <a:off x="1752600" y="2647950"/>
              <a:ext cx="16684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 dirty="0">
                  <a:latin typeface="Arial" pitchFamily="34" charset="0"/>
                </a:rPr>
                <a:t>74LS168</a:t>
              </a:r>
            </a:p>
          </p:txBody>
        </p:sp>
        <p:sp>
          <p:nvSpPr>
            <p:cNvPr id="20" name="AutoShape 30"/>
            <p:cNvSpPr>
              <a:spLocks noChangeArrowheads="1"/>
            </p:cNvSpPr>
            <p:nvPr/>
          </p:nvSpPr>
          <p:spPr bwMode="auto">
            <a:xfrm rot="5400000">
              <a:off x="1047750" y="2614612"/>
              <a:ext cx="239713" cy="185738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21" name="Line 31"/>
            <p:cNvSpPr>
              <a:spLocks noChangeShapeType="1"/>
            </p:cNvSpPr>
            <p:nvPr/>
          </p:nvSpPr>
          <p:spPr bwMode="auto">
            <a:xfrm>
              <a:off x="1158875" y="2241550"/>
              <a:ext cx="2889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 Box 32"/>
            <p:cNvSpPr txBox="1">
              <a:spLocks noChangeArrowheads="1"/>
            </p:cNvSpPr>
            <p:nvPr/>
          </p:nvSpPr>
          <p:spPr bwMode="auto">
            <a:xfrm>
              <a:off x="1074738" y="2220913"/>
              <a:ext cx="67627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>
                  <a:latin typeface="Arial" pitchFamily="34" charset="0"/>
                </a:rPr>
                <a:t>LD</a:t>
              </a:r>
            </a:p>
          </p:txBody>
        </p:sp>
        <p:sp>
          <p:nvSpPr>
            <p:cNvPr id="23" name="Line 33"/>
            <p:cNvSpPr>
              <a:spLocks noChangeShapeType="1"/>
            </p:cNvSpPr>
            <p:nvPr/>
          </p:nvSpPr>
          <p:spPr bwMode="auto">
            <a:xfrm>
              <a:off x="3128963" y="2916238"/>
              <a:ext cx="2889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35"/>
            <p:cNvSpPr>
              <a:spLocks noChangeShapeType="1"/>
            </p:cNvSpPr>
            <p:nvPr/>
          </p:nvSpPr>
          <p:spPr bwMode="auto">
            <a:xfrm flipH="1">
              <a:off x="779463" y="2368550"/>
              <a:ext cx="2873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39"/>
            <p:cNvSpPr>
              <a:spLocks noChangeShapeType="1"/>
            </p:cNvSpPr>
            <p:nvPr/>
          </p:nvSpPr>
          <p:spPr bwMode="auto">
            <a:xfrm flipH="1">
              <a:off x="3587751" y="2728913"/>
              <a:ext cx="2873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49"/>
            <p:cNvSpPr>
              <a:spLocks noChangeShapeType="1"/>
            </p:cNvSpPr>
            <p:nvPr/>
          </p:nvSpPr>
          <p:spPr bwMode="auto">
            <a:xfrm flipH="1">
              <a:off x="708025" y="2657476"/>
              <a:ext cx="3587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52"/>
            <p:cNvSpPr>
              <a:spLocks noChangeShapeType="1"/>
            </p:cNvSpPr>
            <p:nvPr/>
          </p:nvSpPr>
          <p:spPr bwMode="auto">
            <a:xfrm>
              <a:off x="2359026" y="3495675"/>
              <a:ext cx="0" cy="360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 Box 54"/>
            <p:cNvSpPr txBox="1">
              <a:spLocks noChangeArrowheads="1"/>
            </p:cNvSpPr>
            <p:nvPr/>
          </p:nvSpPr>
          <p:spPr bwMode="auto">
            <a:xfrm>
              <a:off x="995363" y="2840038"/>
              <a:ext cx="7921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>
                  <a:latin typeface="Arial" pitchFamily="34" charset="0"/>
                </a:rPr>
                <a:t>U/D</a:t>
              </a:r>
              <a:endParaRPr kumimoji="0" lang="en-US" altLang="zh-CN" sz="2000" b="1" i="0" baseline="-2000">
                <a:latin typeface="Arial" pitchFamily="34" charset="0"/>
              </a:endParaRPr>
            </a:p>
          </p:txBody>
        </p:sp>
        <p:sp>
          <p:nvSpPr>
            <p:cNvPr id="36" name="Line 55"/>
            <p:cNvSpPr>
              <a:spLocks noChangeShapeType="1"/>
            </p:cNvSpPr>
            <p:nvPr/>
          </p:nvSpPr>
          <p:spPr bwMode="auto">
            <a:xfrm>
              <a:off x="1358900" y="2886075"/>
              <a:ext cx="1428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56"/>
            <p:cNvSpPr>
              <a:spLocks noChangeShapeType="1"/>
            </p:cNvSpPr>
            <p:nvPr/>
          </p:nvSpPr>
          <p:spPr bwMode="auto">
            <a:xfrm flipH="1">
              <a:off x="708025" y="3025775"/>
              <a:ext cx="342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Text Box 57"/>
            <p:cNvSpPr txBox="1">
              <a:spLocks noChangeArrowheads="1"/>
            </p:cNvSpPr>
            <p:nvPr/>
          </p:nvSpPr>
          <p:spPr bwMode="auto">
            <a:xfrm>
              <a:off x="76200" y="2876550"/>
              <a:ext cx="65405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 dirty="0">
                  <a:latin typeface="Arial" pitchFamily="34" charset="0"/>
                </a:rPr>
                <a:t>+5V</a:t>
              </a:r>
            </a:p>
          </p:txBody>
        </p:sp>
        <p:sp>
          <p:nvSpPr>
            <p:cNvPr id="49" name="Line 52"/>
            <p:cNvSpPr>
              <a:spLocks noChangeShapeType="1"/>
            </p:cNvSpPr>
            <p:nvPr/>
          </p:nvSpPr>
          <p:spPr bwMode="auto">
            <a:xfrm>
              <a:off x="2006285" y="3490978"/>
              <a:ext cx="0" cy="360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52"/>
            <p:cNvSpPr>
              <a:spLocks noChangeShapeType="1"/>
            </p:cNvSpPr>
            <p:nvPr/>
          </p:nvSpPr>
          <p:spPr bwMode="auto">
            <a:xfrm>
              <a:off x="2989328" y="3506722"/>
              <a:ext cx="0" cy="360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52"/>
            <p:cNvSpPr>
              <a:spLocks noChangeShapeType="1"/>
            </p:cNvSpPr>
            <p:nvPr/>
          </p:nvSpPr>
          <p:spPr bwMode="auto">
            <a:xfrm>
              <a:off x="2636587" y="3502025"/>
              <a:ext cx="0" cy="360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39"/>
            <p:cNvSpPr>
              <a:spLocks noChangeShapeType="1"/>
            </p:cNvSpPr>
            <p:nvPr/>
          </p:nvSpPr>
          <p:spPr bwMode="auto">
            <a:xfrm flipH="1">
              <a:off x="3606485" y="3049522"/>
              <a:ext cx="2873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1295400" y="4019550"/>
              <a:ext cx="2362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微软雅黑" pitchFamily="34" charset="-122"/>
                  <a:ea typeface="微软雅黑" pitchFamily="34" charset="-122"/>
                </a:rPr>
                <a:t>  </a:t>
              </a:r>
              <a:r>
                <a:rPr lang="zh-CN" altLang="en-US" sz="1600" b="1" dirty="0">
                  <a:latin typeface="微软雅黑" pitchFamily="34" charset="-122"/>
                  <a:ea typeface="微软雅黑" pitchFamily="34" charset="-122"/>
                </a:rPr>
                <a:t>图 </a:t>
              </a:r>
              <a:r>
                <a:rPr lang="en-US" altLang="zh-CN" sz="1600" b="1" dirty="0">
                  <a:latin typeface="微软雅黑" pitchFamily="34" charset="-122"/>
                  <a:ea typeface="微软雅黑" pitchFamily="34" charset="-122"/>
                </a:rPr>
                <a:t>14 74LS168</a:t>
              </a:r>
              <a:r>
                <a:rPr lang="zh-CN" altLang="en-US" sz="1600" b="1" dirty="0">
                  <a:latin typeface="微软雅黑" pitchFamily="34" charset="-122"/>
                  <a:ea typeface="微软雅黑" pitchFamily="34" charset="-122"/>
                </a:rPr>
                <a:t>框图</a:t>
              </a:r>
            </a:p>
          </p:txBody>
        </p:sp>
      </p:grpSp>
      <p:graphicFrame>
        <p:nvGraphicFramePr>
          <p:cNvPr id="349187" name="Object 3"/>
          <p:cNvGraphicFramePr>
            <a:graphicFrameLocks noChangeAspect="1"/>
          </p:cNvGraphicFramePr>
          <p:nvPr/>
        </p:nvGraphicFramePr>
        <p:xfrm>
          <a:off x="7086600" y="2299011"/>
          <a:ext cx="762000" cy="2153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210" name="Equation" r:id="rId2" imgW="1168200" imgH="330120" progId="Equation.DSMT4">
                  <p:embed/>
                </p:oleObj>
              </mc:Choice>
              <mc:Fallback>
                <p:oleObj name="Equation" r:id="rId2" imgW="1168200" imgH="33012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2299011"/>
                        <a:ext cx="762000" cy="2153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7" name="直接箭头连接符 126"/>
          <p:cNvCxnSpPr>
            <a:stCxn id="95" idx="6"/>
            <a:endCxn id="113" idx="2"/>
          </p:cNvCxnSpPr>
          <p:nvPr/>
        </p:nvCxnSpPr>
        <p:spPr>
          <a:xfrm>
            <a:off x="4922721" y="3328371"/>
            <a:ext cx="1495783" cy="0"/>
          </a:xfrm>
          <a:prstGeom prst="straightConnector1">
            <a:avLst/>
          </a:prstGeom>
          <a:ln w="38100">
            <a:solidFill>
              <a:schemeClr val="accent6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4648200" y="4333199"/>
            <a:ext cx="2362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15  74LS168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状态图</a:t>
            </a:r>
          </a:p>
        </p:txBody>
      </p:sp>
      <p:sp>
        <p:nvSpPr>
          <p:cNvPr id="78" name="矩形 77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7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3662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构建任意模值的计数器：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N&gt;M     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同步预置法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457200" y="1047750"/>
            <a:ext cx="7696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1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加法计数器、预置法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：用可逆模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10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计数器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74LS168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构成模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6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的计数器。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74LS168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预置功能为同步预置</a:t>
            </a:r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。</a:t>
            </a:r>
            <a:endParaRPr kumimoji="0" lang="zh-CN" altLang="en-US" sz="3200" b="1" i="0" dirty="0"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Group 82"/>
          <p:cNvGrpSpPr>
            <a:grpSpLocks/>
          </p:cNvGrpSpPr>
          <p:nvPr/>
        </p:nvGrpSpPr>
        <p:grpSpPr bwMode="auto">
          <a:xfrm>
            <a:off x="4402138" y="1701490"/>
            <a:ext cx="3464823" cy="2100003"/>
            <a:chOff x="2925" y="1162"/>
            <a:chExt cx="2416" cy="1588"/>
          </a:xfrm>
        </p:grpSpPr>
        <p:grpSp>
          <p:nvGrpSpPr>
            <p:cNvPr id="3" name="Group 83"/>
            <p:cNvGrpSpPr>
              <a:grpSpLocks/>
            </p:cNvGrpSpPr>
            <p:nvPr/>
          </p:nvGrpSpPr>
          <p:grpSpPr bwMode="auto">
            <a:xfrm>
              <a:off x="2925" y="1525"/>
              <a:ext cx="454" cy="317"/>
              <a:chOff x="1746" y="3385"/>
              <a:chExt cx="454" cy="317"/>
            </a:xfrm>
          </p:grpSpPr>
          <p:sp>
            <p:nvSpPr>
              <p:cNvPr id="121" name="AutoShape 84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22" name="Text Box 85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400">
                    <a:solidFill>
                      <a:srgbClr val="FF0000"/>
                    </a:solidFill>
                    <a:effectLst/>
                    <a:latin typeface="Arial" charset="0"/>
                  </a:rPr>
                  <a:t>0000</a:t>
                </a:r>
              </a:p>
            </p:txBody>
          </p:sp>
        </p:grpSp>
        <p:grpSp>
          <p:nvGrpSpPr>
            <p:cNvPr id="4" name="Group 86"/>
            <p:cNvGrpSpPr>
              <a:grpSpLocks/>
            </p:cNvGrpSpPr>
            <p:nvPr/>
          </p:nvGrpSpPr>
          <p:grpSpPr bwMode="auto">
            <a:xfrm>
              <a:off x="3832" y="1525"/>
              <a:ext cx="454" cy="317"/>
              <a:chOff x="1746" y="3385"/>
              <a:chExt cx="454" cy="317"/>
            </a:xfrm>
          </p:grpSpPr>
          <p:sp>
            <p:nvSpPr>
              <p:cNvPr id="119" name="AutoShape 87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20" name="Text Box 88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>
                    <a:solidFill>
                      <a:srgbClr val="FF0000"/>
                    </a:solidFill>
                    <a:effectLst/>
                    <a:latin typeface="Arial" charset="0"/>
                  </a:rPr>
                  <a:t>0010</a:t>
                </a:r>
              </a:p>
            </p:txBody>
          </p:sp>
        </p:grpSp>
        <p:grpSp>
          <p:nvGrpSpPr>
            <p:cNvPr id="5" name="Group 89"/>
            <p:cNvGrpSpPr>
              <a:grpSpLocks/>
            </p:cNvGrpSpPr>
            <p:nvPr/>
          </p:nvGrpSpPr>
          <p:grpSpPr bwMode="auto">
            <a:xfrm>
              <a:off x="3378" y="1525"/>
              <a:ext cx="454" cy="317"/>
              <a:chOff x="1746" y="3385"/>
              <a:chExt cx="454" cy="317"/>
            </a:xfrm>
          </p:grpSpPr>
          <p:sp>
            <p:nvSpPr>
              <p:cNvPr id="117" name="AutoShape 90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18" name="Text Box 91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>
                    <a:solidFill>
                      <a:srgbClr val="FF0000"/>
                    </a:solidFill>
                    <a:effectLst/>
                    <a:latin typeface="Arial" charset="0"/>
                  </a:rPr>
                  <a:t>0001</a:t>
                </a:r>
              </a:p>
            </p:txBody>
          </p:sp>
        </p:grpSp>
        <p:grpSp>
          <p:nvGrpSpPr>
            <p:cNvPr id="6" name="Group 92"/>
            <p:cNvGrpSpPr>
              <a:grpSpLocks/>
            </p:cNvGrpSpPr>
            <p:nvPr/>
          </p:nvGrpSpPr>
          <p:grpSpPr bwMode="auto">
            <a:xfrm>
              <a:off x="4286" y="2433"/>
              <a:ext cx="454" cy="317"/>
              <a:chOff x="1746" y="3385"/>
              <a:chExt cx="454" cy="317"/>
            </a:xfrm>
          </p:grpSpPr>
          <p:sp>
            <p:nvSpPr>
              <p:cNvPr id="115" name="AutoShape 93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16" name="Text Box 94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>
                    <a:solidFill>
                      <a:srgbClr val="FF0000"/>
                    </a:solidFill>
                    <a:effectLst/>
                    <a:latin typeface="Arial" charset="0"/>
                  </a:rPr>
                  <a:t>0101</a:t>
                </a:r>
              </a:p>
            </p:txBody>
          </p:sp>
        </p:grpSp>
        <p:grpSp>
          <p:nvGrpSpPr>
            <p:cNvPr id="7" name="Group 95"/>
            <p:cNvGrpSpPr>
              <a:grpSpLocks/>
            </p:cNvGrpSpPr>
            <p:nvPr/>
          </p:nvGrpSpPr>
          <p:grpSpPr bwMode="auto">
            <a:xfrm>
              <a:off x="4286" y="1979"/>
              <a:ext cx="454" cy="317"/>
              <a:chOff x="1746" y="3385"/>
              <a:chExt cx="454" cy="317"/>
            </a:xfrm>
          </p:grpSpPr>
          <p:sp>
            <p:nvSpPr>
              <p:cNvPr id="113" name="AutoShape 96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14" name="Text Box 97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>
                    <a:solidFill>
                      <a:srgbClr val="FF0000"/>
                    </a:solidFill>
                    <a:effectLst/>
                    <a:latin typeface="Arial" charset="0"/>
                  </a:rPr>
                  <a:t>0100</a:t>
                </a:r>
              </a:p>
            </p:txBody>
          </p:sp>
        </p:grpSp>
        <p:grpSp>
          <p:nvGrpSpPr>
            <p:cNvPr id="8" name="Group 98"/>
            <p:cNvGrpSpPr>
              <a:grpSpLocks/>
            </p:cNvGrpSpPr>
            <p:nvPr/>
          </p:nvGrpSpPr>
          <p:grpSpPr bwMode="auto">
            <a:xfrm>
              <a:off x="4285" y="1525"/>
              <a:ext cx="454" cy="317"/>
              <a:chOff x="1746" y="3385"/>
              <a:chExt cx="454" cy="317"/>
            </a:xfrm>
          </p:grpSpPr>
          <p:sp>
            <p:nvSpPr>
              <p:cNvPr id="111" name="AutoShape 99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12" name="Text Box 100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>
                    <a:solidFill>
                      <a:srgbClr val="FF0000"/>
                    </a:solidFill>
                    <a:effectLst/>
                    <a:latin typeface="Arial" charset="0"/>
                  </a:rPr>
                  <a:t>0011</a:t>
                </a:r>
              </a:p>
            </p:txBody>
          </p:sp>
        </p:grpSp>
        <p:grpSp>
          <p:nvGrpSpPr>
            <p:cNvPr id="9" name="Group 119"/>
            <p:cNvGrpSpPr>
              <a:grpSpLocks/>
            </p:cNvGrpSpPr>
            <p:nvPr/>
          </p:nvGrpSpPr>
          <p:grpSpPr bwMode="auto">
            <a:xfrm>
              <a:off x="2925" y="2432"/>
              <a:ext cx="454" cy="317"/>
              <a:chOff x="1746" y="3385"/>
              <a:chExt cx="454" cy="317"/>
            </a:xfrm>
          </p:grpSpPr>
          <p:sp>
            <p:nvSpPr>
              <p:cNvPr id="97" name="AutoShape 120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98" name="Text Box 121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1000</a:t>
                </a:r>
              </a:p>
            </p:txBody>
          </p:sp>
        </p:grpSp>
        <p:grpSp>
          <p:nvGrpSpPr>
            <p:cNvPr id="10" name="Group 122"/>
            <p:cNvGrpSpPr>
              <a:grpSpLocks/>
            </p:cNvGrpSpPr>
            <p:nvPr/>
          </p:nvGrpSpPr>
          <p:grpSpPr bwMode="auto">
            <a:xfrm>
              <a:off x="2925" y="1979"/>
              <a:ext cx="454" cy="317"/>
              <a:chOff x="1746" y="3385"/>
              <a:chExt cx="454" cy="317"/>
            </a:xfrm>
          </p:grpSpPr>
          <p:sp>
            <p:nvSpPr>
              <p:cNvPr id="95" name="AutoShape 123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96" name="Text Box 124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>
                    <a:solidFill>
                      <a:srgbClr val="FF0000"/>
                    </a:solidFill>
                    <a:effectLst/>
                    <a:latin typeface="Arial" charset="0"/>
                  </a:rPr>
                  <a:t>1001</a:t>
                </a:r>
              </a:p>
            </p:txBody>
          </p:sp>
        </p:grpSp>
        <p:grpSp>
          <p:nvGrpSpPr>
            <p:cNvPr id="12" name="Group 125"/>
            <p:cNvGrpSpPr>
              <a:grpSpLocks/>
            </p:cNvGrpSpPr>
            <p:nvPr/>
          </p:nvGrpSpPr>
          <p:grpSpPr bwMode="auto">
            <a:xfrm>
              <a:off x="3379" y="2432"/>
              <a:ext cx="454" cy="317"/>
              <a:chOff x="1746" y="3385"/>
              <a:chExt cx="454" cy="317"/>
            </a:xfrm>
          </p:grpSpPr>
          <p:sp>
            <p:nvSpPr>
              <p:cNvPr id="93" name="AutoShape 126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94" name="Text Box 127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>
                    <a:solidFill>
                      <a:srgbClr val="FF0000"/>
                    </a:solidFill>
                    <a:effectLst/>
                    <a:latin typeface="Arial" charset="0"/>
                  </a:rPr>
                  <a:t>0111</a:t>
                </a:r>
              </a:p>
            </p:txBody>
          </p:sp>
        </p:grpSp>
        <p:grpSp>
          <p:nvGrpSpPr>
            <p:cNvPr id="24" name="Group 128"/>
            <p:cNvGrpSpPr>
              <a:grpSpLocks/>
            </p:cNvGrpSpPr>
            <p:nvPr/>
          </p:nvGrpSpPr>
          <p:grpSpPr bwMode="auto">
            <a:xfrm>
              <a:off x="3833" y="2433"/>
              <a:ext cx="454" cy="317"/>
              <a:chOff x="1746" y="3385"/>
              <a:chExt cx="454" cy="317"/>
            </a:xfrm>
          </p:grpSpPr>
          <p:sp>
            <p:nvSpPr>
              <p:cNvPr id="91" name="AutoShape 129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92" name="Text Box 130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>
                    <a:solidFill>
                      <a:srgbClr val="FF0000"/>
                    </a:solidFill>
                    <a:effectLst/>
                    <a:latin typeface="Arial" charset="0"/>
                  </a:rPr>
                  <a:t>0110</a:t>
                </a:r>
              </a:p>
            </p:txBody>
          </p:sp>
        </p:grpSp>
        <p:sp>
          <p:nvSpPr>
            <p:cNvPr id="71" name="Line 131"/>
            <p:cNvSpPr>
              <a:spLocks noChangeShapeType="1"/>
            </p:cNvSpPr>
            <p:nvPr/>
          </p:nvSpPr>
          <p:spPr bwMode="auto">
            <a:xfrm>
              <a:off x="3288" y="1661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72" name="Line 132"/>
            <p:cNvSpPr>
              <a:spLocks noChangeShapeType="1"/>
            </p:cNvSpPr>
            <p:nvPr/>
          </p:nvSpPr>
          <p:spPr bwMode="auto">
            <a:xfrm>
              <a:off x="3742" y="1661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74" name="Line 134"/>
            <p:cNvSpPr>
              <a:spLocks noChangeShapeType="1"/>
            </p:cNvSpPr>
            <p:nvPr/>
          </p:nvSpPr>
          <p:spPr bwMode="auto">
            <a:xfrm rot="16200000" flipH="1">
              <a:off x="4400" y="2365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75" name="Line 135"/>
            <p:cNvSpPr>
              <a:spLocks noChangeShapeType="1"/>
            </p:cNvSpPr>
            <p:nvPr/>
          </p:nvSpPr>
          <p:spPr bwMode="auto">
            <a:xfrm rot="-5400000">
              <a:off x="3061" y="1911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76" name="Line 136"/>
            <p:cNvSpPr>
              <a:spLocks noChangeShapeType="1"/>
            </p:cNvSpPr>
            <p:nvPr/>
          </p:nvSpPr>
          <p:spPr bwMode="auto">
            <a:xfrm rot="-5400000">
              <a:off x="3061" y="2365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79" name="Line 139"/>
            <p:cNvSpPr>
              <a:spLocks noChangeShapeType="1"/>
            </p:cNvSpPr>
            <p:nvPr/>
          </p:nvSpPr>
          <p:spPr bwMode="auto">
            <a:xfrm flipH="1">
              <a:off x="3288" y="2614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80" name="Line 140"/>
            <p:cNvSpPr>
              <a:spLocks noChangeShapeType="1"/>
            </p:cNvSpPr>
            <p:nvPr/>
          </p:nvSpPr>
          <p:spPr bwMode="auto">
            <a:xfrm flipH="1">
              <a:off x="3742" y="2614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81" name="Line 141"/>
            <p:cNvSpPr>
              <a:spLocks noChangeShapeType="1"/>
            </p:cNvSpPr>
            <p:nvPr/>
          </p:nvSpPr>
          <p:spPr bwMode="auto">
            <a:xfrm flipH="1">
              <a:off x="4195" y="2614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82" name="Line 142"/>
            <p:cNvSpPr>
              <a:spLocks noChangeShapeType="1"/>
            </p:cNvSpPr>
            <p:nvPr/>
          </p:nvSpPr>
          <p:spPr bwMode="auto">
            <a:xfrm>
              <a:off x="4195" y="1661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84" name="Line 144"/>
            <p:cNvSpPr>
              <a:spLocks noChangeShapeType="1"/>
            </p:cNvSpPr>
            <p:nvPr/>
          </p:nvSpPr>
          <p:spPr bwMode="auto">
            <a:xfrm rot="5400000" flipV="1">
              <a:off x="4400" y="1911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89" name="AutoShape 146"/>
            <p:cNvSpPr>
              <a:spLocks noChangeArrowheads="1"/>
            </p:cNvSpPr>
            <p:nvPr/>
          </p:nvSpPr>
          <p:spPr bwMode="auto">
            <a:xfrm>
              <a:off x="4797" y="1162"/>
              <a:ext cx="544" cy="544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349187" name="Object 3"/>
          <p:cNvGraphicFramePr>
            <a:graphicFrameLocks noChangeAspect="1"/>
          </p:cNvGraphicFramePr>
          <p:nvPr/>
        </p:nvGraphicFramePr>
        <p:xfrm>
          <a:off x="7086600" y="1962151"/>
          <a:ext cx="762000" cy="2153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234" name="Equation" r:id="rId2" imgW="1168200" imgH="330120" progId="Equation.DSMT4">
                  <p:embed/>
                </p:oleObj>
              </mc:Choice>
              <mc:Fallback>
                <p:oleObj name="Equation" r:id="rId2" imgW="1168200" imgH="33012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1962151"/>
                        <a:ext cx="762000" cy="2153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7" name="直接箭头连接符 126"/>
          <p:cNvCxnSpPr>
            <a:stCxn id="95" idx="6"/>
            <a:endCxn id="113" idx="2"/>
          </p:cNvCxnSpPr>
          <p:nvPr/>
        </p:nvCxnSpPr>
        <p:spPr>
          <a:xfrm>
            <a:off x="4922721" y="2991512"/>
            <a:ext cx="1495783" cy="0"/>
          </a:xfrm>
          <a:prstGeom prst="straightConnector1">
            <a:avLst/>
          </a:prstGeom>
          <a:ln w="38100">
            <a:solidFill>
              <a:schemeClr val="accent6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4724400" y="4324350"/>
            <a:ext cx="2362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15  74LS168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状态图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95400" y="4400550"/>
            <a:ext cx="2362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14 74LS168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框图</a:t>
            </a:r>
          </a:p>
        </p:txBody>
      </p:sp>
      <p:grpSp>
        <p:nvGrpSpPr>
          <p:cNvPr id="85" name="Group 22"/>
          <p:cNvGrpSpPr>
            <a:grpSpLocks/>
          </p:cNvGrpSpPr>
          <p:nvPr/>
        </p:nvGrpSpPr>
        <p:grpSpPr bwMode="auto">
          <a:xfrm>
            <a:off x="381000" y="2190750"/>
            <a:ext cx="3735388" cy="2270125"/>
            <a:chOff x="-7" y="2752"/>
            <a:chExt cx="2353" cy="1430"/>
          </a:xfrm>
        </p:grpSpPr>
        <p:sp>
          <p:nvSpPr>
            <p:cNvPr id="86" name="Text Box 23"/>
            <p:cNvSpPr txBox="1">
              <a:spLocks noChangeArrowheads="1"/>
            </p:cNvSpPr>
            <p:nvPr/>
          </p:nvSpPr>
          <p:spPr bwMode="auto">
            <a:xfrm>
              <a:off x="892" y="2912"/>
              <a:ext cx="131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>
                  <a:latin typeface="Arial" pitchFamily="34" charset="0"/>
                </a:rPr>
                <a:t>Q</a:t>
              </a:r>
              <a:r>
                <a:rPr kumimoji="0" lang="en-US" altLang="zh-CN" sz="2000" b="1" i="0" baseline="-2000">
                  <a:latin typeface="Arial" pitchFamily="34" charset="0"/>
                </a:rPr>
                <a:t>D</a:t>
              </a:r>
              <a:r>
                <a:rPr kumimoji="0" lang="en-US" altLang="zh-CN" sz="2000" b="1" i="0">
                  <a:latin typeface="Arial" pitchFamily="34" charset="0"/>
                </a:rPr>
                <a:t> Q</a:t>
              </a:r>
              <a:r>
                <a:rPr kumimoji="0" lang="en-US" altLang="zh-CN" sz="2000" b="1" i="0" baseline="-2000">
                  <a:latin typeface="Arial" pitchFamily="34" charset="0"/>
                </a:rPr>
                <a:t>C</a:t>
              </a:r>
              <a:r>
                <a:rPr kumimoji="0" lang="en-US" altLang="zh-CN" sz="2000" b="1" i="0">
                  <a:latin typeface="Arial" pitchFamily="34" charset="0"/>
                </a:rPr>
                <a:t> Q</a:t>
              </a:r>
              <a:r>
                <a:rPr kumimoji="0" lang="en-US" altLang="zh-CN" sz="2000" b="1" i="0" baseline="-2000">
                  <a:latin typeface="Arial" pitchFamily="34" charset="0"/>
                </a:rPr>
                <a:t>B</a:t>
              </a:r>
              <a:r>
                <a:rPr kumimoji="0" lang="en-US" altLang="zh-CN" sz="2000" b="1" i="0">
                  <a:latin typeface="Arial" pitchFamily="34" charset="0"/>
                </a:rPr>
                <a:t> Q</a:t>
              </a:r>
              <a:r>
                <a:rPr kumimoji="0" lang="en-US" altLang="zh-CN" sz="2000" b="1" i="0" baseline="-2000">
                  <a:latin typeface="Arial" pitchFamily="34" charset="0"/>
                </a:rPr>
                <a:t>A</a:t>
              </a:r>
            </a:p>
          </p:txBody>
        </p:sp>
        <p:sp>
          <p:nvSpPr>
            <p:cNvPr id="87" name="Rectangle 24"/>
            <p:cNvSpPr>
              <a:spLocks noChangeArrowheads="1"/>
            </p:cNvSpPr>
            <p:nvPr/>
          </p:nvSpPr>
          <p:spPr bwMode="auto">
            <a:xfrm>
              <a:off x="577" y="2912"/>
              <a:ext cx="1588" cy="81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88" name="Text Box 25"/>
            <p:cNvSpPr txBox="1">
              <a:spLocks noChangeArrowheads="1"/>
            </p:cNvSpPr>
            <p:nvPr/>
          </p:nvSpPr>
          <p:spPr bwMode="auto">
            <a:xfrm>
              <a:off x="1802" y="3140"/>
              <a:ext cx="408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>
                  <a:latin typeface="Arial" pitchFamily="34" charset="0"/>
                </a:rPr>
                <a:t>COBO</a:t>
              </a:r>
            </a:p>
          </p:txBody>
        </p:sp>
        <p:sp>
          <p:nvSpPr>
            <p:cNvPr id="90" name="Text Box 26"/>
            <p:cNvSpPr txBox="1">
              <a:spLocks noChangeArrowheads="1"/>
            </p:cNvSpPr>
            <p:nvPr/>
          </p:nvSpPr>
          <p:spPr bwMode="auto">
            <a:xfrm>
              <a:off x="667" y="3513"/>
              <a:ext cx="134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>
                  <a:latin typeface="Arial" pitchFamily="34" charset="0"/>
                </a:rPr>
                <a:t>         D  C  B  A</a:t>
              </a:r>
            </a:p>
          </p:txBody>
        </p:sp>
        <p:sp>
          <p:nvSpPr>
            <p:cNvPr id="99" name="Line 27"/>
            <p:cNvSpPr>
              <a:spLocks noChangeShapeType="1"/>
            </p:cNvSpPr>
            <p:nvPr/>
          </p:nvSpPr>
          <p:spPr bwMode="auto">
            <a:xfrm>
              <a:off x="1892" y="3175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Text Box 28"/>
            <p:cNvSpPr txBox="1">
              <a:spLocks noChangeArrowheads="1"/>
            </p:cNvSpPr>
            <p:nvPr/>
          </p:nvSpPr>
          <p:spPr bwMode="auto">
            <a:xfrm>
              <a:off x="669" y="3119"/>
              <a:ext cx="49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>
                  <a:latin typeface="Arial" pitchFamily="34" charset="0"/>
                </a:rPr>
                <a:t>CK</a:t>
              </a:r>
              <a:endParaRPr kumimoji="0" lang="en-US" altLang="zh-CN" sz="2000" b="1" i="0" baseline="-2000">
                <a:latin typeface="Arial" pitchFamily="34" charset="0"/>
              </a:endParaRPr>
            </a:p>
          </p:txBody>
        </p:sp>
        <p:sp>
          <p:nvSpPr>
            <p:cNvPr id="101" name="Text Box 29"/>
            <p:cNvSpPr txBox="1">
              <a:spLocks noChangeArrowheads="1"/>
            </p:cNvSpPr>
            <p:nvPr/>
          </p:nvSpPr>
          <p:spPr bwMode="auto">
            <a:xfrm>
              <a:off x="1069" y="3206"/>
              <a:ext cx="105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 dirty="0">
                  <a:latin typeface="Arial" pitchFamily="34" charset="0"/>
                </a:rPr>
                <a:t>74LS168</a:t>
              </a:r>
            </a:p>
          </p:txBody>
        </p:sp>
        <p:sp>
          <p:nvSpPr>
            <p:cNvPr id="102" name="AutoShape 30"/>
            <p:cNvSpPr>
              <a:spLocks noChangeArrowheads="1"/>
            </p:cNvSpPr>
            <p:nvPr/>
          </p:nvSpPr>
          <p:spPr bwMode="auto">
            <a:xfrm rot="5400000">
              <a:off x="565" y="3179"/>
              <a:ext cx="151" cy="117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103" name="Line 31"/>
            <p:cNvSpPr>
              <a:spLocks noChangeShapeType="1"/>
            </p:cNvSpPr>
            <p:nvPr/>
          </p:nvSpPr>
          <p:spPr bwMode="auto">
            <a:xfrm>
              <a:off x="635" y="2944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Text Box 32"/>
            <p:cNvSpPr txBox="1">
              <a:spLocks noChangeArrowheads="1"/>
            </p:cNvSpPr>
            <p:nvPr/>
          </p:nvSpPr>
          <p:spPr bwMode="auto">
            <a:xfrm>
              <a:off x="582" y="2931"/>
              <a:ext cx="42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>
                  <a:latin typeface="Arial" pitchFamily="34" charset="0"/>
                </a:rPr>
                <a:t>LD</a:t>
              </a:r>
            </a:p>
          </p:txBody>
        </p:sp>
        <p:sp>
          <p:nvSpPr>
            <p:cNvPr id="105" name="Line 33"/>
            <p:cNvSpPr>
              <a:spLocks noChangeShapeType="1"/>
            </p:cNvSpPr>
            <p:nvPr/>
          </p:nvSpPr>
          <p:spPr bwMode="auto">
            <a:xfrm>
              <a:off x="1876" y="3369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6" name="Group 34"/>
            <p:cNvGrpSpPr>
              <a:grpSpLocks/>
            </p:cNvGrpSpPr>
            <p:nvPr/>
          </p:nvGrpSpPr>
          <p:grpSpPr bwMode="auto">
            <a:xfrm>
              <a:off x="396" y="2752"/>
              <a:ext cx="1950" cy="499"/>
              <a:chOff x="612" y="2568"/>
              <a:chExt cx="1950" cy="499"/>
            </a:xfrm>
          </p:grpSpPr>
          <p:sp>
            <p:nvSpPr>
              <p:cNvPr id="139" name="Line 35"/>
              <p:cNvSpPr>
                <a:spLocks noChangeShapeType="1"/>
              </p:cNvSpPr>
              <p:nvPr/>
            </p:nvSpPr>
            <p:spPr bwMode="auto">
              <a:xfrm flipH="1">
                <a:off x="612" y="2840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0" name="Line 36"/>
              <p:cNvSpPr>
                <a:spLocks noChangeShapeType="1"/>
              </p:cNvSpPr>
              <p:nvPr/>
            </p:nvSpPr>
            <p:spPr bwMode="auto">
              <a:xfrm flipV="1">
                <a:off x="612" y="2568"/>
                <a:ext cx="0" cy="2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" name="Line 37"/>
              <p:cNvSpPr>
                <a:spLocks noChangeShapeType="1"/>
              </p:cNvSpPr>
              <p:nvPr/>
            </p:nvSpPr>
            <p:spPr bwMode="auto">
              <a:xfrm>
                <a:off x="612" y="2568"/>
                <a:ext cx="195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2" name="Line 38"/>
              <p:cNvSpPr>
                <a:spLocks noChangeShapeType="1"/>
              </p:cNvSpPr>
              <p:nvPr/>
            </p:nvSpPr>
            <p:spPr bwMode="auto">
              <a:xfrm>
                <a:off x="2562" y="2568"/>
                <a:ext cx="0" cy="49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" name="Line 39"/>
              <p:cNvSpPr>
                <a:spLocks noChangeShapeType="1"/>
              </p:cNvSpPr>
              <p:nvPr/>
            </p:nvSpPr>
            <p:spPr bwMode="auto">
              <a:xfrm flipH="1">
                <a:off x="2381" y="3067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7" name="Line 40"/>
            <p:cNvSpPr>
              <a:spLocks noChangeShapeType="1"/>
            </p:cNvSpPr>
            <p:nvPr/>
          </p:nvSpPr>
          <p:spPr bwMode="auto">
            <a:xfrm>
              <a:off x="441" y="3825"/>
              <a:ext cx="0" cy="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Line 41"/>
            <p:cNvSpPr>
              <a:spLocks noChangeShapeType="1"/>
            </p:cNvSpPr>
            <p:nvPr/>
          </p:nvSpPr>
          <p:spPr bwMode="auto">
            <a:xfrm>
              <a:off x="351" y="3977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Line 42"/>
            <p:cNvSpPr>
              <a:spLocks noChangeShapeType="1"/>
            </p:cNvSpPr>
            <p:nvPr/>
          </p:nvSpPr>
          <p:spPr bwMode="auto">
            <a:xfrm>
              <a:off x="441" y="3825"/>
              <a:ext cx="136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Line 43"/>
            <p:cNvSpPr>
              <a:spLocks noChangeShapeType="1"/>
            </p:cNvSpPr>
            <p:nvPr/>
          </p:nvSpPr>
          <p:spPr bwMode="auto">
            <a:xfrm flipV="1">
              <a:off x="1794" y="3729"/>
              <a:ext cx="0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Line 44"/>
            <p:cNvSpPr>
              <a:spLocks noChangeShapeType="1"/>
            </p:cNvSpPr>
            <p:nvPr/>
          </p:nvSpPr>
          <p:spPr bwMode="auto">
            <a:xfrm>
              <a:off x="1575" y="3729"/>
              <a:ext cx="0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Line 45"/>
            <p:cNvSpPr>
              <a:spLocks noChangeShapeType="1"/>
            </p:cNvSpPr>
            <p:nvPr/>
          </p:nvSpPr>
          <p:spPr bwMode="auto">
            <a:xfrm>
              <a:off x="1213" y="3729"/>
              <a:ext cx="0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Text Box 46"/>
            <p:cNvSpPr txBox="1">
              <a:spLocks noChangeArrowheads="1"/>
            </p:cNvSpPr>
            <p:nvPr/>
          </p:nvSpPr>
          <p:spPr bwMode="auto">
            <a:xfrm>
              <a:off x="1130" y="3698"/>
              <a:ext cx="37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0" dirty="0">
                  <a:latin typeface="Arial" pitchFamily="34" charset="0"/>
                  <a:cs typeface="Arial" pitchFamily="34" charset="0"/>
                </a:rPr>
                <a:t>•</a:t>
              </a:r>
            </a:p>
          </p:txBody>
        </p:sp>
        <p:sp>
          <p:nvSpPr>
            <p:cNvPr id="128" name="Text Box 47"/>
            <p:cNvSpPr txBox="1">
              <a:spLocks noChangeArrowheads="1"/>
            </p:cNvSpPr>
            <p:nvPr/>
          </p:nvSpPr>
          <p:spPr bwMode="auto">
            <a:xfrm>
              <a:off x="1490" y="3698"/>
              <a:ext cx="37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0">
                  <a:latin typeface="Arial" pitchFamily="34" charset="0"/>
                  <a:cs typeface="Arial" pitchFamily="34" charset="0"/>
                </a:rPr>
                <a:t>•</a:t>
              </a:r>
            </a:p>
          </p:txBody>
        </p:sp>
        <p:grpSp>
          <p:nvGrpSpPr>
            <p:cNvPr id="129" name="Group 48"/>
            <p:cNvGrpSpPr>
              <a:grpSpLocks/>
            </p:cNvGrpSpPr>
            <p:nvPr/>
          </p:nvGrpSpPr>
          <p:grpSpPr bwMode="auto">
            <a:xfrm>
              <a:off x="63" y="3091"/>
              <a:ext cx="514" cy="250"/>
              <a:chOff x="279" y="2907"/>
              <a:chExt cx="514" cy="250"/>
            </a:xfrm>
          </p:grpSpPr>
          <p:sp>
            <p:nvSpPr>
              <p:cNvPr id="137" name="Line 49"/>
              <p:cNvSpPr>
                <a:spLocks noChangeShapeType="1"/>
              </p:cNvSpPr>
              <p:nvPr/>
            </p:nvSpPr>
            <p:spPr bwMode="auto">
              <a:xfrm flipH="1">
                <a:off x="567" y="3022"/>
                <a:ext cx="22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" name="Text Box 50"/>
              <p:cNvSpPr txBox="1">
                <a:spLocks noChangeArrowheads="1"/>
              </p:cNvSpPr>
              <p:nvPr/>
            </p:nvSpPr>
            <p:spPr bwMode="auto">
              <a:xfrm>
                <a:off x="279" y="2907"/>
                <a:ext cx="45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2000" b="1" i="0" dirty="0">
                    <a:latin typeface="Arial" pitchFamily="34" charset="0"/>
                  </a:rPr>
                  <a:t>CLK</a:t>
                </a:r>
              </a:p>
            </p:txBody>
          </p:sp>
        </p:grpSp>
        <p:grpSp>
          <p:nvGrpSpPr>
            <p:cNvPr id="130" name="Group 51"/>
            <p:cNvGrpSpPr>
              <a:grpSpLocks/>
            </p:cNvGrpSpPr>
            <p:nvPr/>
          </p:nvGrpSpPr>
          <p:grpSpPr bwMode="auto">
            <a:xfrm>
              <a:off x="1232" y="3734"/>
              <a:ext cx="407" cy="448"/>
              <a:chOff x="1448" y="3550"/>
              <a:chExt cx="407" cy="448"/>
            </a:xfrm>
          </p:grpSpPr>
          <p:sp>
            <p:nvSpPr>
              <p:cNvPr id="135" name="Line 52"/>
              <p:cNvSpPr>
                <a:spLocks noChangeShapeType="1"/>
              </p:cNvSpPr>
              <p:nvPr/>
            </p:nvSpPr>
            <p:spPr bwMode="auto">
              <a:xfrm>
                <a:off x="1607" y="3550"/>
                <a:ext cx="0" cy="22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" name="Text Box 53"/>
              <p:cNvSpPr txBox="1">
                <a:spLocks noChangeArrowheads="1"/>
              </p:cNvSpPr>
              <p:nvPr/>
            </p:nvSpPr>
            <p:spPr bwMode="auto">
              <a:xfrm>
                <a:off x="1448" y="3748"/>
                <a:ext cx="407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2000" b="1" i="0">
                    <a:latin typeface="Arial" pitchFamily="34" charset="0"/>
                  </a:rPr>
                  <a:t>+5V</a:t>
                </a:r>
              </a:p>
            </p:txBody>
          </p:sp>
        </p:grpSp>
        <p:sp>
          <p:nvSpPr>
            <p:cNvPr id="131" name="Text Box 54"/>
            <p:cNvSpPr txBox="1">
              <a:spLocks noChangeArrowheads="1"/>
            </p:cNvSpPr>
            <p:nvPr/>
          </p:nvSpPr>
          <p:spPr bwMode="auto">
            <a:xfrm>
              <a:off x="532" y="3321"/>
              <a:ext cx="49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>
                  <a:latin typeface="Arial" pitchFamily="34" charset="0"/>
                </a:rPr>
                <a:t>U/D</a:t>
              </a:r>
              <a:endParaRPr kumimoji="0" lang="en-US" altLang="zh-CN" sz="2000" b="1" i="0" baseline="-2000">
                <a:latin typeface="Arial" pitchFamily="34" charset="0"/>
              </a:endParaRPr>
            </a:p>
          </p:txBody>
        </p:sp>
        <p:sp>
          <p:nvSpPr>
            <p:cNvPr id="132" name="Line 55"/>
            <p:cNvSpPr>
              <a:spLocks noChangeShapeType="1"/>
            </p:cNvSpPr>
            <p:nvPr/>
          </p:nvSpPr>
          <p:spPr bwMode="auto">
            <a:xfrm>
              <a:off x="761" y="3350"/>
              <a:ext cx="9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Line 56"/>
            <p:cNvSpPr>
              <a:spLocks noChangeShapeType="1"/>
            </p:cNvSpPr>
            <p:nvPr/>
          </p:nvSpPr>
          <p:spPr bwMode="auto">
            <a:xfrm flipH="1">
              <a:off x="351" y="3438"/>
              <a:ext cx="2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Text Box 57"/>
            <p:cNvSpPr txBox="1">
              <a:spLocks noChangeArrowheads="1"/>
            </p:cNvSpPr>
            <p:nvPr/>
          </p:nvSpPr>
          <p:spPr bwMode="auto">
            <a:xfrm>
              <a:off x="-7" y="3321"/>
              <a:ext cx="4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>
                  <a:latin typeface="Arial" pitchFamily="34" charset="0"/>
                </a:rPr>
                <a:t>+5V</a:t>
              </a:r>
            </a:p>
          </p:txBody>
        </p:sp>
      </p:grpSp>
      <p:sp>
        <p:nvSpPr>
          <p:cNvPr id="123" name="矩形 122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aphicFrame>
        <p:nvGraphicFramePr>
          <p:cNvPr id="43010" name="Object 96"/>
          <p:cNvGraphicFramePr>
            <a:graphicFrameLocks noChangeAspect="1"/>
          </p:cNvGraphicFramePr>
          <p:nvPr/>
        </p:nvGraphicFramePr>
        <p:xfrm>
          <a:off x="333375" y="2649538"/>
          <a:ext cx="7656513" cy="229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162" name="Visio" r:id="rId2" imgW="3981611" imgH="1221774" progId="Visio.Drawing.11">
                  <p:embed/>
                </p:oleObj>
              </mc:Choice>
              <mc:Fallback>
                <p:oleObj name="Visio" r:id="rId2" imgW="3981611" imgH="1221774" progId="Visio.Drawing.11">
                  <p:embed/>
                  <p:pic>
                    <p:nvPicPr>
                      <p:cNvPr id="0" name="Object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375" y="2649538"/>
                        <a:ext cx="7656513" cy="229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3662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构建任意模值的计数器：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N&gt;M  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同步预置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2800" y="4552950"/>
            <a:ext cx="2362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16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时序图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123950"/>
            <a:ext cx="3276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加法计数器同步预置值</a:t>
            </a:r>
            <a:endParaRPr lang="en-US" altLang="zh-CN" sz="20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    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      N-M</a:t>
            </a:r>
            <a:endParaRPr lang="zh-CN" altLang="en-US" sz="20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Picture 3" descr="C:\Users\hfutliujun\AppData\Roaming\Tencent\Users\350654676\QQ\WinTemp\RichOle\JJ)FS$}XIP8SK(~C6ZKCE9L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5800" y="971550"/>
            <a:ext cx="4333875" cy="146690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3662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构建任意模值的计数器：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N&gt;M    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同步预置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457200" y="1047750"/>
            <a:ext cx="7696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2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减法计数器、预置法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：用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可逆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模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10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计数器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74LS168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构成模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6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的计数器。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74LS168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预置功能为同步预置</a:t>
            </a:r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。</a:t>
            </a:r>
            <a:endParaRPr kumimoji="0" lang="zh-CN" altLang="en-US" sz="3200" b="1" i="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2" name="Text Box 50"/>
          <p:cNvSpPr txBox="1">
            <a:spLocks noChangeArrowheads="1"/>
          </p:cNvSpPr>
          <p:nvPr/>
        </p:nvSpPr>
        <p:spPr bwMode="auto">
          <a:xfrm>
            <a:off x="0" y="2495550"/>
            <a:ext cx="7191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en-US" altLang="zh-CN" sz="2000" b="1" i="0" dirty="0">
                <a:latin typeface="Arial" pitchFamily="34" charset="0"/>
              </a:rPr>
              <a:t>CLK</a:t>
            </a:r>
          </a:p>
        </p:txBody>
      </p:sp>
      <p:grpSp>
        <p:nvGrpSpPr>
          <p:cNvPr id="2" name="Group 82"/>
          <p:cNvGrpSpPr>
            <a:grpSpLocks/>
          </p:cNvGrpSpPr>
          <p:nvPr/>
        </p:nvGrpSpPr>
        <p:grpSpPr bwMode="auto">
          <a:xfrm>
            <a:off x="4402138" y="1701490"/>
            <a:ext cx="3464823" cy="2100003"/>
            <a:chOff x="2925" y="1162"/>
            <a:chExt cx="2416" cy="1588"/>
          </a:xfrm>
        </p:grpSpPr>
        <p:grpSp>
          <p:nvGrpSpPr>
            <p:cNvPr id="3" name="Group 83"/>
            <p:cNvGrpSpPr>
              <a:grpSpLocks/>
            </p:cNvGrpSpPr>
            <p:nvPr/>
          </p:nvGrpSpPr>
          <p:grpSpPr bwMode="auto">
            <a:xfrm>
              <a:off x="2925" y="1525"/>
              <a:ext cx="454" cy="317"/>
              <a:chOff x="1746" y="3385"/>
              <a:chExt cx="454" cy="317"/>
            </a:xfrm>
          </p:grpSpPr>
          <p:sp>
            <p:nvSpPr>
              <p:cNvPr id="121" name="AutoShape 84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22" name="Text Box 85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1001</a:t>
                </a:r>
              </a:p>
            </p:txBody>
          </p:sp>
        </p:grpSp>
        <p:grpSp>
          <p:nvGrpSpPr>
            <p:cNvPr id="4" name="Group 86"/>
            <p:cNvGrpSpPr>
              <a:grpSpLocks/>
            </p:cNvGrpSpPr>
            <p:nvPr/>
          </p:nvGrpSpPr>
          <p:grpSpPr bwMode="auto">
            <a:xfrm>
              <a:off x="3832" y="1525"/>
              <a:ext cx="454" cy="317"/>
              <a:chOff x="1746" y="3385"/>
              <a:chExt cx="454" cy="317"/>
            </a:xfrm>
          </p:grpSpPr>
          <p:sp>
            <p:nvSpPr>
              <p:cNvPr id="119" name="AutoShape 87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20" name="Text Box 88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0111</a:t>
                </a:r>
              </a:p>
            </p:txBody>
          </p:sp>
        </p:grpSp>
        <p:grpSp>
          <p:nvGrpSpPr>
            <p:cNvPr id="5" name="Group 89"/>
            <p:cNvGrpSpPr>
              <a:grpSpLocks/>
            </p:cNvGrpSpPr>
            <p:nvPr/>
          </p:nvGrpSpPr>
          <p:grpSpPr bwMode="auto">
            <a:xfrm>
              <a:off x="3378" y="1525"/>
              <a:ext cx="454" cy="317"/>
              <a:chOff x="1746" y="3385"/>
              <a:chExt cx="454" cy="317"/>
            </a:xfrm>
          </p:grpSpPr>
          <p:sp>
            <p:nvSpPr>
              <p:cNvPr id="117" name="AutoShape 90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18" name="Text Box 91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1000</a:t>
                </a:r>
              </a:p>
            </p:txBody>
          </p:sp>
        </p:grpSp>
        <p:grpSp>
          <p:nvGrpSpPr>
            <p:cNvPr id="6" name="Group 92"/>
            <p:cNvGrpSpPr>
              <a:grpSpLocks/>
            </p:cNvGrpSpPr>
            <p:nvPr/>
          </p:nvGrpSpPr>
          <p:grpSpPr bwMode="auto">
            <a:xfrm>
              <a:off x="4286" y="2433"/>
              <a:ext cx="454" cy="317"/>
              <a:chOff x="1746" y="3385"/>
              <a:chExt cx="454" cy="317"/>
            </a:xfrm>
          </p:grpSpPr>
          <p:sp>
            <p:nvSpPr>
              <p:cNvPr id="115" name="AutoShape 93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16" name="Text Box 94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0100</a:t>
                </a:r>
              </a:p>
            </p:txBody>
          </p:sp>
        </p:grpSp>
        <p:grpSp>
          <p:nvGrpSpPr>
            <p:cNvPr id="7" name="Group 95"/>
            <p:cNvGrpSpPr>
              <a:grpSpLocks/>
            </p:cNvGrpSpPr>
            <p:nvPr/>
          </p:nvGrpSpPr>
          <p:grpSpPr bwMode="auto">
            <a:xfrm>
              <a:off x="4286" y="1979"/>
              <a:ext cx="454" cy="317"/>
              <a:chOff x="1746" y="3385"/>
              <a:chExt cx="454" cy="317"/>
            </a:xfrm>
          </p:grpSpPr>
          <p:sp>
            <p:nvSpPr>
              <p:cNvPr id="113" name="AutoShape 96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14" name="Text Box 97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0101</a:t>
                </a:r>
              </a:p>
            </p:txBody>
          </p:sp>
        </p:grpSp>
        <p:grpSp>
          <p:nvGrpSpPr>
            <p:cNvPr id="8" name="Group 98"/>
            <p:cNvGrpSpPr>
              <a:grpSpLocks/>
            </p:cNvGrpSpPr>
            <p:nvPr/>
          </p:nvGrpSpPr>
          <p:grpSpPr bwMode="auto">
            <a:xfrm>
              <a:off x="4285" y="1525"/>
              <a:ext cx="454" cy="317"/>
              <a:chOff x="1746" y="3385"/>
              <a:chExt cx="454" cy="317"/>
            </a:xfrm>
          </p:grpSpPr>
          <p:sp>
            <p:nvSpPr>
              <p:cNvPr id="111" name="AutoShape 99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12" name="Text Box 100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0110</a:t>
                </a:r>
              </a:p>
            </p:txBody>
          </p:sp>
        </p:grpSp>
        <p:grpSp>
          <p:nvGrpSpPr>
            <p:cNvPr id="9" name="Group 119"/>
            <p:cNvGrpSpPr>
              <a:grpSpLocks/>
            </p:cNvGrpSpPr>
            <p:nvPr/>
          </p:nvGrpSpPr>
          <p:grpSpPr bwMode="auto">
            <a:xfrm>
              <a:off x="2925" y="2432"/>
              <a:ext cx="454" cy="317"/>
              <a:chOff x="1746" y="3385"/>
              <a:chExt cx="454" cy="317"/>
            </a:xfrm>
          </p:grpSpPr>
          <p:sp>
            <p:nvSpPr>
              <p:cNvPr id="97" name="AutoShape 120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98" name="Text Box 121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0001</a:t>
                </a:r>
              </a:p>
            </p:txBody>
          </p:sp>
        </p:grpSp>
        <p:grpSp>
          <p:nvGrpSpPr>
            <p:cNvPr id="10" name="Group 122"/>
            <p:cNvGrpSpPr>
              <a:grpSpLocks/>
            </p:cNvGrpSpPr>
            <p:nvPr/>
          </p:nvGrpSpPr>
          <p:grpSpPr bwMode="auto">
            <a:xfrm>
              <a:off x="2925" y="1979"/>
              <a:ext cx="454" cy="317"/>
              <a:chOff x="1746" y="3385"/>
              <a:chExt cx="454" cy="317"/>
            </a:xfrm>
          </p:grpSpPr>
          <p:sp>
            <p:nvSpPr>
              <p:cNvPr id="95" name="AutoShape 123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96" name="Text Box 124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0000</a:t>
                </a:r>
              </a:p>
            </p:txBody>
          </p:sp>
        </p:grpSp>
        <p:grpSp>
          <p:nvGrpSpPr>
            <p:cNvPr id="12" name="Group 125"/>
            <p:cNvGrpSpPr>
              <a:grpSpLocks/>
            </p:cNvGrpSpPr>
            <p:nvPr/>
          </p:nvGrpSpPr>
          <p:grpSpPr bwMode="auto">
            <a:xfrm>
              <a:off x="3379" y="2432"/>
              <a:ext cx="454" cy="317"/>
              <a:chOff x="1746" y="3385"/>
              <a:chExt cx="454" cy="317"/>
            </a:xfrm>
          </p:grpSpPr>
          <p:sp>
            <p:nvSpPr>
              <p:cNvPr id="93" name="AutoShape 126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94" name="Text Box 127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0010</a:t>
                </a:r>
              </a:p>
            </p:txBody>
          </p:sp>
        </p:grpSp>
        <p:grpSp>
          <p:nvGrpSpPr>
            <p:cNvPr id="24" name="Group 128"/>
            <p:cNvGrpSpPr>
              <a:grpSpLocks/>
            </p:cNvGrpSpPr>
            <p:nvPr/>
          </p:nvGrpSpPr>
          <p:grpSpPr bwMode="auto">
            <a:xfrm>
              <a:off x="3833" y="2433"/>
              <a:ext cx="454" cy="317"/>
              <a:chOff x="1746" y="3385"/>
              <a:chExt cx="454" cy="317"/>
            </a:xfrm>
          </p:grpSpPr>
          <p:sp>
            <p:nvSpPr>
              <p:cNvPr id="91" name="AutoShape 129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92" name="Text Box 130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0011</a:t>
                </a:r>
              </a:p>
            </p:txBody>
          </p:sp>
        </p:grpSp>
        <p:sp>
          <p:nvSpPr>
            <p:cNvPr id="71" name="Line 131"/>
            <p:cNvSpPr>
              <a:spLocks noChangeShapeType="1"/>
            </p:cNvSpPr>
            <p:nvPr/>
          </p:nvSpPr>
          <p:spPr bwMode="auto">
            <a:xfrm>
              <a:off x="3288" y="1661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72" name="Line 132"/>
            <p:cNvSpPr>
              <a:spLocks noChangeShapeType="1"/>
            </p:cNvSpPr>
            <p:nvPr/>
          </p:nvSpPr>
          <p:spPr bwMode="auto">
            <a:xfrm>
              <a:off x="3742" y="1661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74" name="Line 134"/>
            <p:cNvSpPr>
              <a:spLocks noChangeShapeType="1"/>
            </p:cNvSpPr>
            <p:nvPr/>
          </p:nvSpPr>
          <p:spPr bwMode="auto">
            <a:xfrm rot="16200000" flipH="1">
              <a:off x="4400" y="2365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75" name="Line 135"/>
            <p:cNvSpPr>
              <a:spLocks noChangeShapeType="1"/>
            </p:cNvSpPr>
            <p:nvPr/>
          </p:nvSpPr>
          <p:spPr bwMode="auto">
            <a:xfrm rot="-5400000">
              <a:off x="3061" y="1911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76" name="Line 136"/>
            <p:cNvSpPr>
              <a:spLocks noChangeShapeType="1"/>
            </p:cNvSpPr>
            <p:nvPr/>
          </p:nvSpPr>
          <p:spPr bwMode="auto">
            <a:xfrm rot="-5400000">
              <a:off x="3061" y="2365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79" name="Line 139"/>
            <p:cNvSpPr>
              <a:spLocks noChangeShapeType="1"/>
            </p:cNvSpPr>
            <p:nvPr/>
          </p:nvSpPr>
          <p:spPr bwMode="auto">
            <a:xfrm flipH="1">
              <a:off x="3288" y="2614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80" name="Line 140"/>
            <p:cNvSpPr>
              <a:spLocks noChangeShapeType="1"/>
            </p:cNvSpPr>
            <p:nvPr/>
          </p:nvSpPr>
          <p:spPr bwMode="auto">
            <a:xfrm flipH="1">
              <a:off x="3742" y="2614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81" name="Line 141"/>
            <p:cNvSpPr>
              <a:spLocks noChangeShapeType="1"/>
            </p:cNvSpPr>
            <p:nvPr/>
          </p:nvSpPr>
          <p:spPr bwMode="auto">
            <a:xfrm flipH="1">
              <a:off x="4195" y="2614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82" name="Line 142"/>
            <p:cNvSpPr>
              <a:spLocks noChangeShapeType="1"/>
            </p:cNvSpPr>
            <p:nvPr/>
          </p:nvSpPr>
          <p:spPr bwMode="auto">
            <a:xfrm>
              <a:off x="4195" y="1661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84" name="Line 144"/>
            <p:cNvSpPr>
              <a:spLocks noChangeShapeType="1"/>
            </p:cNvSpPr>
            <p:nvPr/>
          </p:nvSpPr>
          <p:spPr bwMode="auto">
            <a:xfrm rot="5400000" flipV="1">
              <a:off x="4400" y="1911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89" name="AutoShape 146"/>
            <p:cNvSpPr>
              <a:spLocks noChangeArrowheads="1"/>
            </p:cNvSpPr>
            <p:nvPr/>
          </p:nvSpPr>
          <p:spPr bwMode="auto">
            <a:xfrm>
              <a:off x="4797" y="1162"/>
              <a:ext cx="544" cy="544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</p:grpSp>
      <p:grpSp>
        <p:nvGrpSpPr>
          <p:cNvPr id="25" name="组合 124"/>
          <p:cNvGrpSpPr/>
          <p:nvPr/>
        </p:nvGrpSpPr>
        <p:grpSpPr>
          <a:xfrm>
            <a:off x="152400" y="2190750"/>
            <a:ext cx="3741423" cy="2167354"/>
            <a:chOff x="152400" y="2190750"/>
            <a:chExt cx="3741423" cy="2167354"/>
          </a:xfrm>
        </p:grpSpPr>
        <p:sp>
          <p:nvSpPr>
            <p:cNvPr id="13" name="Text Box 23"/>
            <p:cNvSpPr txBox="1">
              <a:spLocks noChangeArrowheads="1"/>
            </p:cNvSpPr>
            <p:nvPr/>
          </p:nvSpPr>
          <p:spPr bwMode="auto">
            <a:xfrm>
              <a:off x="1566863" y="2190750"/>
              <a:ext cx="209232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>
                  <a:latin typeface="Arial" pitchFamily="34" charset="0"/>
                </a:rPr>
                <a:t>Q</a:t>
              </a:r>
              <a:r>
                <a:rPr kumimoji="0" lang="en-US" altLang="zh-CN" sz="2000" b="1" i="0" baseline="-2000">
                  <a:latin typeface="Arial" pitchFamily="34" charset="0"/>
                </a:rPr>
                <a:t>D</a:t>
              </a:r>
              <a:r>
                <a:rPr kumimoji="0" lang="en-US" altLang="zh-CN" sz="2000" b="1" i="0">
                  <a:latin typeface="Arial" pitchFamily="34" charset="0"/>
                </a:rPr>
                <a:t> Q</a:t>
              </a:r>
              <a:r>
                <a:rPr kumimoji="0" lang="en-US" altLang="zh-CN" sz="2000" b="1" i="0" baseline="-2000">
                  <a:latin typeface="Arial" pitchFamily="34" charset="0"/>
                </a:rPr>
                <a:t>C</a:t>
              </a:r>
              <a:r>
                <a:rPr kumimoji="0" lang="en-US" altLang="zh-CN" sz="2000" b="1" i="0">
                  <a:latin typeface="Arial" pitchFamily="34" charset="0"/>
                </a:rPr>
                <a:t> Q</a:t>
              </a:r>
              <a:r>
                <a:rPr kumimoji="0" lang="en-US" altLang="zh-CN" sz="2000" b="1" i="0" baseline="-2000">
                  <a:latin typeface="Arial" pitchFamily="34" charset="0"/>
                </a:rPr>
                <a:t>B</a:t>
              </a:r>
              <a:r>
                <a:rPr kumimoji="0" lang="en-US" altLang="zh-CN" sz="2000" b="1" i="0">
                  <a:latin typeface="Arial" pitchFamily="34" charset="0"/>
                </a:rPr>
                <a:t> Q</a:t>
              </a:r>
              <a:r>
                <a:rPr kumimoji="0" lang="en-US" altLang="zh-CN" sz="2000" b="1" i="0" baseline="-2000">
                  <a:latin typeface="Arial" pitchFamily="34" charset="0"/>
                </a:rPr>
                <a:t>A</a:t>
              </a:r>
            </a:p>
          </p:txBody>
        </p:sp>
        <p:sp>
          <p:nvSpPr>
            <p:cNvPr id="14" name="Rectangle 24"/>
            <p:cNvSpPr>
              <a:spLocks noChangeArrowheads="1"/>
            </p:cNvSpPr>
            <p:nvPr/>
          </p:nvSpPr>
          <p:spPr bwMode="auto">
            <a:xfrm>
              <a:off x="1066800" y="2190750"/>
              <a:ext cx="2520950" cy="1295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15" name="Text Box 25"/>
            <p:cNvSpPr txBox="1">
              <a:spLocks noChangeArrowheads="1"/>
            </p:cNvSpPr>
            <p:nvPr/>
          </p:nvSpPr>
          <p:spPr bwMode="auto">
            <a:xfrm>
              <a:off x="3011488" y="2552700"/>
              <a:ext cx="647700" cy="701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>
                  <a:latin typeface="Arial" pitchFamily="34" charset="0"/>
                </a:rPr>
                <a:t>COBO</a:t>
              </a:r>
            </a:p>
          </p:txBody>
        </p:sp>
        <p:sp>
          <p:nvSpPr>
            <p:cNvPr id="16" name="Text Box 26"/>
            <p:cNvSpPr txBox="1">
              <a:spLocks noChangeArrowheads="1"/>
            </p:cNvSpPr>
            <p:nvPr/>
          </p:nvSpPr>
          <p:spPr bwMode="auto">
            <a:xfrm>
              <a:off x="1209675" y="3144838"/>
              <a:ext cx="213995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>
                  <a:latin typeface="Arial" pitchFamily="34" charset="0"/>
                </a:rPr>
                <a:t>         D  C  B  A</a:t>
              </a:r>
            </a:p>
          </p:txBody>
        </p:sp>
        <p:sp>
          <p:nvSpPr>
            <p:cNvPr id="17" name="Line 27"/>
            <p:cNvSpPr>
              <a:spLocks noChangeShapeType="1"/>
            </p:cNvSpPr>
            <p:nvPr/>
          </p:nvSpPr>
          <p:spPr bwMode="auto">
            <a:xfrm>
              <a:off x="3154363" y="2608263"/>
              <a:ext cx="2889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Box 28"/>
            <p:cNvSpPr txBox="1">
              <a:spLocks noChangeArrowheads="1"/>
            </p:cNvSpPr>
            <p:nvPr/>
          </p:nvSpPr>
          <p:spPr bwMode="auto">
            <a:xfrm>
              <a:off x="1212850" y="2519363"/>
              <a:ext cx="7921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>
                  <a:latin typeface="Arial" pitchFamily="34" charset="0"/>
                </a:rPr>
                <a:t>CK</a:t>
              </a:r>
              <a:endParaRPr kumimoji="0" lang="en-US" altLang="zh-CN" sz="2000" b="1" i="0" baseline="-2000">
                <a:latin typeface="Arial" pitchFamily="34" charset="0"/>
              </a:endParaRPr>
            </a:p>
          </p:txBody>
        </p:sp>
        <p:sp>
          <p:nvSpPr>
            <p:cNvPr id="19" name="Text Box 29"/>
            <p:cNvSpPr txBox="1">
              <a:spLocks noChangeArrowheads="1"/>
            </p:cNvSpPr>
            <p:nvPr/>
          </p:nvSpPr>
          <p:spPr bwMode="auto">
            <a:xfrm>
              <a:off x="1752600" y="2647950"/>
              <a:ext cx="16684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 dirty="0">
                  <a:latin typeface="Arial" pitchFamily="34" charset="0"/>
                </a:rPr>
                <a:t>74LS168</a:t>
              </a:r>
            </a:p>
          </p:txBody>
        </p:sp>
        <p:sp>
          <p:nvSpPr>
            <p:cNvPr id="20" name="AutoShape 30"/>
            <p:cNvSpPr>
              <a:spLocks noChangeArrowheads="1"/>
            </p:cNvSpPr>
            <p:nvPr/>
          </p:nvSpPr>
          <p:spPr bwMode="auto">
            <a:xfrm rot="5400000">
              <a:off x="1047750" y="2614612"/>
              <a:ext cx="239713" cy="185738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21" name="Line 31"/>
            <p:cNvSpPr>
              <a:spLocks noChangeShapeType="1"/>
            </p:cNvSpPr>
            <p:nvPr/>
          </p:nvSpPr>
          <p:spPr bwMode="auto">
            <a:xfrm>
              <a:off x="1158875" y="2241550"/>
              <a:ext cx="2889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 Box 32"/>
            <p:cNvSpPr txBox="1">
              <a:spLocks noChangeArrowheads="1"/>
            </p:cNvSpPr>
            <p:nvPr/>
          </p:nvSpPr>
          <p:spPr bwMode="auto">
            <a:xfrm>
              <a:off x="1074738" y="2220913"/>
              <a:ext cx="67627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>
                  <a:latin typeface="Arial" pitchFamily="34" charset="0"/>
                </a:rPr>
                <a:t>LD</a:t>
              </a:r>
            </a:p>
          </p:txBody>
        </p:sp>
        <p:sp>
          <p:nvSpPr>
            <p:cNvPr id="23" name="Line 33"/>
            <p:cNvSpPr>
              <a:spLocks noChangeShapeType="1"/>
            </p:cNvSpPr>
            <p:nvPr/>
          </p:nvSpPr>
          <p:spPr bwMode="auto">
            <a:xfrm>
              <a:off x="3128963" y="2916238"/>
              <a:ext cx="2889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35"/>
            <p:cNvSpPr>
              <a:spLocks noChangeShapeType="1"/>
            </p:cNvSpPr>
            <p:nvPr/>
          </p:nvSpPr>
          <p:spPr bwMode="auto">
            <a:xfrm flipH="1">
              <a:off x="779463" y="2368550"/>
              <a:ext cx="2873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39"/>
            <p:cNvSpPr>
              <a:spLocks noChangeShapeType="1"/>
            </p:cNvSpPr>
            <p:nvPr/>
          </p:nvSpPr>
          <p:spPr bwMode="auto">
            <a:xfrm flipH="1">
              <a:off x="3587751" y="2728913"/>
              <a:ext cx="2873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49"/>
            <p:cNvSpPr>
              <a:spLocks noChangeShapeType="1"/>
            </p:cNvSpPr>
            <p:nvPr/>
          </p:nvSpPr>
          <p:spPr bwMode="auto">
            <a:xfrm flipH="1">
              <a:off x="708025" y="2657476"/>
              <a:ext cx="3587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52"/>
            <p:cNvSpPr>
              <a:spLocks noChangeShapeType="1"/>
            </p:cNvSpPr>
            <p:nvPr/>
          </p:nvSpPr>
          <p:spPr bwMode="auto">
            <a:xfrm>
              <a:off x="2359026" y="3495675"/>
              <a:ext cx="0" cy="360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 Box 54"/>
            <p:cNvSpPr txBox="1">
              <a:spLocks noChangeArrowheads="1"/>
            </p:cNvSpPr>
            <p:nvPr/>
          </p:nvSpPr>
          <p:spPr bwMode="auto">
            <a:xfrm>
              <a:off x="995363" y="2840038"/>
              <a:ext cx="7921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>
                  <a:latin typeface="Arial" pitchFamily="34" charset="0"/>
                </a:rPr>
                <a:t>U/D</a:t>
              </a:r>
              <a:endParaRPr kumimoji="0" lang="en-US" altLang="zh-CN" sz="2000" b="1" i="0" baseline="-2000">
                <a:latin typeface="Arial" pitchFamily="34" charset="0"/>
              </a:endParaRPr>
            </a:p>
          </p:txBody>
        </p:sp>
        <p:sp>
          <p:nvSpPr>
            <p:cNvPr id="36" name="Line 55"/>
            <p:cNvSpPr>
              <a:spLocks noChangeShapeType="1"/>
            </p:cNvSpPr>
            <p:nvPr/>
          </p:nvSpPr>
          <p:spPr bwMode="auto">
            <a:xfrm>
              <a:off x="1358900" y="2886075"/>
              <a:ext cx="1428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56"/>
            <p:cNvSpPr>
              <a:spLocks noChangeShapeType="1"/>
            </p:cNvSpPr>
            <p:nvPr/>
          </p:nvSpPr>
          <p:spPr bwMode="auto">
            <a:xfrm flipH="1">
              <a:off x="708025" y="3025775"/>
              <a:ext cx="342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Text Box 57"/>
            <p:cNvSpPr txBox="1">
              <a:spLocks noChangeArrowheads="1"/>
            </p:cNvSpPr>
            <p:nvPr/>
          </p:nvSpPr>
          <p:spPr bwMode="auto">
            <a:xfrm>
              <a:off x="152400" y="2800350"/>
              <a:ext cx="65405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 dirty="0">
                  <a:solidFill>
                    <a:srgbClr val="FF0000"/>
                  </a:solidFill>
                  <a:latin typeface="Arial" pitchFamily="34" charset="0"/>
                </a:rPr>
                <a:t>0</a:t>
              </a:r>
            </a:p>
          </p:txBody>
        </p:sp>
        <p:sp>
          <p:nvSpPr>
            <p:cNvPr id="49" name="Line 52"/>
            <p:cNvSpPr>
              <a:spLocks noChangeShapeType="1"/>
            </p:cNvSpPr>
            <p:nvPr/>
          </p:nvSpPr>
          <p:spPr bwMode="auto">
            <a:xfrm>
              <a:off x="2006285" y="3490978"/>
              <a:ext cx="0" cy="360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52"/>
            <p:cNvSpPr>
              <a:spLocks noChangeShapeType="1"/>
            </p:cNvSpPr>
            <p:nvPr/>
          </p:nvSpPr>
          <p:spPr bwMode="auto">
            <a:xfrm>
              <a:off x="2989328" y="3506722"/>
              <a:ext cx="0" cy="360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52"/>
            <p:cNvSpPr>
              <a:spLocks noChangeShapeType="1"/>
            </p:cNvSpPr>
            <p:nvPr/>
          </p:nvSpPr>
          <p:spPr bwMode="auto">
            <a:xfrm>
              <a:off x="2636587" y="3502025"/>
              <a:ext cx="0" cy="360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39"/>
            <p:cNvSpPr>
              <a:spLocks noChangeShapeType="1"/>
            </p:cNvSpPr>
            <p:nvPr/>
          </p:nvSpPr>
          <p:spPr bwMode="auto">
            <a:xfrm flipH="1">
              <a:off x="3606485" y="3049522"/>
              <a:ext cx="2873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1295400" y="4019550"/>
              <a:ext cx="2362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微软雅黑" pitchFamily="34" charset="-122"/>
                  <a:ea typeface="微软雅黑" pitchFamily="34" charset="-122"/>
                </a:rPr>
                <a:t>  </a:t>
              </a:r>
              <a:r>
                <a:rPr lang="zh-CN" altLang="en-US" sz="1600" b="1" dirty="0">
                  <a:latin typeface="微软雅黑" pitchFamily="34" charset="-122"/>
                  <a:ea typeface="微软雅黑" pitchFamily="34" charset="-122"/>
                </a:rPr>
                <a:t>图 </a:t>
              </a:r>
              <a:r>
                <a:rPr lang="en-US" altLang="zh-CN" sz="1600" b="1" dirty="0">
                  <a:latin typeface="微软雅黑" pitchFamily="34" charset="-122"/>
                  <a:ea typeface="微软雅黑" pitchFamily="34" charset="-122"/>
                </a:rPr>
                <a:t>17 74LS168</a:t>
              </a:r>
              <a:r>
                <a:rPr lang="zh-CN" altLang="en-US" sz="1600" b="1" dirty="0">
                  <a:latin typeface="微软雅黑" pitchFamily="34" charset="-122"/>
                  <a:ea typeface="微软雅黑" pitchFamily="34" charset="-122"/>
                </a:rPr>
                <a:t>框图</a:t>
              </a:r>
            </a:p>
          </p:txBody>
        </p:sp>
      </p:grpSp>
      <p:graphicFrame>
        <p:nvGraphicFramePr>
          <p:cNvPr id="349187" name="Object 3"/>
          <p:cNvGraphicFramePr>
            <a:graphicFrameLocks noChangeAspect="1"/>
          </p:cNvGraphicFramePr>
          <p:nvPr/>
        </p:nvGraphicFramePr>
        <p:xfrm>
          <a:off x="7086600" y="1962151"/>
          <a:ext cx="762000" cy="2153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330" name="Equation" r:id="rId2" imgW="1168200" imgH="330120" progId="Equation.DSMT4">
                  <p:embed/>
                </p:oleObj>
              </mc:Choice>
              <mc:Fallback>
                <p:oleObj name="Equation" r:id="rId2" imgW="1168200" imgH="33012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1962151"/>
                        <a:ext cx="762000" cy="2153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TextBox 76"/>
          <p:cNvSpPr txBox="1"/>
          <p:nvPr/>
        </p:nvSpPr>
        <p:spPr>
          <a:xfrm>
            <a:off x="4648200" y="4019550"/>
            <a:ext cx="2362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18  74LS168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状态图</a:t>
            </a:r>
          </a:p>
        </p:txBody>
      </p:sp>
      <p:cxnSp>
        <p:nvCxnSpPr>
          <p:cNvPr id="78" name="直接箭头连接符 77"/>
          <p:cNvCxnSpPr/>
          <p:nvPr/>
        </p:nvCxnSpPr>
        <p:spPr>
          <a:xfrm>
            <a:off x="4922721" y="2991512"/>
            <a:ext cx="1495783" cy="0"/>
          </a:xfrm>
          <a:prstGeom prst="straightConnector1">
            <a:avLst/>
          </a:prstGeom>
          <a:ln w="38100">
            <a:solidFill>
              <a:schemeClr val="accent6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矩形 82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3662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构建任意模值的计数器：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N&gt;M    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同步预置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457200" y="1047750"/>
            <a:ext cx="7696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2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减法计数器、预置法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：用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可逆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模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10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计数器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74LS168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构成模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6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的计数器。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74LS168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预置功能为同步预置</a:t>
            </a:r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。</a:t>
            </a:r>
            <a:endParaRPr kumimoji="0" lang="zh-CN" altLang="en-US" sz="3200" b="1" i="0" dirty="0"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Group 82"/>
          <p:cNvGrpSpPr>
            <a:grpSpLocks/>
          </p:cNvGrpSpPr>
          <p:nvPr/>
        </p:nvGrpSpPr>
        <p:grpSpPr bwMode="auto">
          <a:xfrm>
            <a:off x="4402138" y="1699796"/>
            <a:ext cx="3464823" cy="2100003"/>
            <a:chOff x="2925" y="1162"/>
            <a:chExt cx="2416" cy="1588"/>
          </a:xfrm>
        </p:grpSpPr>
        <p:grpSp>
          <p:nvGrpSpPr>
            <p:cNvPr id="3" name="Group 83"/>
            <p:cNvGrpSpPr>
              <a:grpSpLocks/>
            </p:cNvGrpSpPr>
            <p:nvPr/>
          </p:nvGrpSpPr>
          <p:grpSpPr bwMode="auto">
            <a:xfrm>
              <a:off x="2925" y="1525"/>
              <a:ext cx="454" cy="317"/>
              <a:chOff x="1746" y="3385"/>
              <a:chExt cx="454" cy="317"/>
            </a:xfrm>
          </p:grpSpPr>
          <p:sp>
            <p:nvSpPr>
              <p:cNvPr id="121" name="AutoShape 84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22" name="Text Box 85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1001</a:t>
                </a:r>
              </a:p>
            </p:txBody>
          </p:sp>
        </p:grpSp>
        <p:grpSp>
          <p:nvGrpSpPr>
            <p:cNvPr id="4" name="Group 86"/>
            <p:cNvGrpSpPr>
              <a:grpSpLocks/>
            </p:cNvGrpSpPr>
            <p:nvPr/>
          </p:nvGrpSpPr>
          <p:grpSpPr bwMode="auto">
            <a:xfrm>
              <a:off x="3832" y="1525"/>
              <a:ext cx="454" cy="317"/>
              <a:chOff x="1746" y="3385"/>
              <a:chExt cx="454" cy="317"/>
            </a:xfrm>
          </p:grpSpPr>
          <p:sp>
            <p:nvSpPr>
              <p:cNvPr id="119" name="AutoShape 87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20" name="Text Box 88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0111</a:t>
                </a:r>
              </a:p>
            </p:txBody>
          </p:sp>
        </p:grpSp>
        <p:grpSp>
          <p:nvGrpSpPr>
            <p:cNvPr id="5" name="Group 89"/>
            <p:cNvGrpSpPr>
              <a:grpSpLocks/>
            </p:cNvGrpSpPr>
            <p:nvPr/>
          </p:nvGrpSpPr>
          <p:grpSpPr bwMode="auto">
            <a:xfrm>
              <a:off x="3378" y="1525"/>
              <a:ext cx="454" cy="317"/>
              <a:chOff x="1746" y="3385"/>
              <a:chExt cx="454" cy="317"/>
            </a:xfrm>
          </p:grpSpPr>
          <p:sp>
            <p:nvSpPr>
              <p:cNvPr id="117" name="AutoShape 90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18" name="Text Box 91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1000</a:t>
                </a:r>
              </a:p>
            </p:txBody>
          </p:sp>
        </p:grpSp>
        <p:grpSp>
          <p:nvGrpSpPr>
            <p:cNvPr id="6" name="Group 92"/>
            <p:cNvGrpSpPr>
              <a:grpSpLocks/>
            </p:cNvGrpSpPr>
            <p:nvPr/>
          </p:nvGrpSpPr>
          <p:grpSpPr bwMode="auto">
            <a:xfrm>
              <a:off x="4286" y="2433"/>
              <a:ext cx="454" cy="317"/>
              <a:chOff x="1746" y="3385"/>
              <a:chExt cx="454" cy="317"/>
            </a:xfrm>
          </p:grpSpPr>
          <p:sp>
            <p:nvSpPr>
              <p:cNvPr id="115" name="AutoShape 93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16" name="Text Box 94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0100</a:t>
                </a:r>
              </a:p>
            </p:txBody>
          </p:sp>
        </p:grpSp>
        <p:grpSp>
          <p:nvGrpSpPr>
            <p:cNvPr id="7" name="Group 95"/>
            <p:cNvGrpSpPr>
              <a:grpSpLocks/>
            </p:cNvGrpSpPr>
            <p:nvPr/>
          </p:nvGrpSpPr>
          <p:grpSpPr bwMode="auto">
            <a:xfrm>
              <a:off x="4286" y="1979"/>
              <a:ext cx="454" cy="317"/>
              <a:chOff x="1746" y="3385"/>
              <a:chExt cx="454" cy="317"/>
            </a:xfrm>
          </p:grpSpPr>
          <p:sp>
            <p:nvSpPr>
              <p:cNvPr id="113" name="AutoShape 96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14" name="Text Box 97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0101</a:t>
                </a:r>
              </a:p>
            </p:txBody>
          </p:sp>
        </p:grpSp>
        <p:grpSp>
          <p:nvGrpSpPr>
            <p:cNvPr id="8" name="Group 98"/>
            <p:cNvGrpSpPr>
              <a:grpSpLocks/>
            </p:cNvGrpSpPr>
            <p:nvPr/>
          </p:nvGrpSpPr>
          <p:grpSpPr bwMode="auto">
            <a:xfrm>
              <a:off x="4285" y="1525"/>
              <a:ext cx="454" cy="317"/>
              <a:chOff x="1746" y="3385"/>
              <a:chExt cx="454" cy="317"/>
            </a:xfrm>
          </p:grpSpPr>
          <p:sp>
            <p:nvSpPr>
              <p:cNvPr id="111" name="AutoShape 99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12" name="Text Box 100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0110</a:t>
                </a:r>
              </a:p>
            </p:txBody>
          </p:sp>
        </p:grpSp>
        <p:grpSp>
          <p:nvGrpSpPr>
            <p:cNvPr id="9" name="Group 119"/>
            <p:cNvGrpSpPr>
              <a:grpSpLocks/>
            </p:cNvGrpSpPr>
            <p:nvPr/>
          </p:nvGrpSpPr>
          <p:grpSpPr bwMode="auto">
            <a:xfrm>
              <a:off x="2925" y="2432"/>
              <a:ext cx="454" cy="317"/>
              <a:chOff x="1746" y="3385"/>
              <a:chExt cx="454" cy="317"/>
            </a:xfrm>
          </p:grpSpPr>
          <p:sp>
            <p:nvSpPr>
              <p:cNvPr id="97" name="AutoShape 120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98" name="Text Box 121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0001</a:t>
                </a:r>
              </a:p>
            </p:txBody>
          </p:sp>
        </p:grpSp>
        <p:grpSp>
          <p:nvGrpSpPr>
            <p:cNvPr id="10" name="Group 122"/>
            <p:cNvGrpSpPr>
              <a:grpSpLocks/>
            </p:cNvGrpSpPr>
            <p:nvPr/>
          </p:nvGrpSpPr>
          <p:grpSpPr bwMode="auto">
            <a:xfrm>
              <a:off x="2925" y="1979"/>
              <a:ext cx="454" cy="317"/>
              <a:chOff x="1746" y="3385"/>
              <a:chExt cx="454" cy="317"/>
            </a:xfrm>
          </p:grpSpPr>
          <p:sp>
            <p:nvSpPr>
              <p:cNvPr id="95" name="AutoShape 123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96" name="Text Box 124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0000</a:t>
                </a:r>
              </a:p>
            </p:txBody>
          </p:sp>
        </p:grpSp>
        <p:grpSp>
          <p:nvGrpSpPr>
            <p:cNvPr id="12" name="Group 125"/>
            <p:cNvGrpSpPr>
              <a:grpSpLocks/>
            </p:cNvGrpSpPr>
            <p:nvPr/>
          </p:nvGrpSpPr>
          <p:grpSpPr bwMode="auto">
            <a:xfrm>
              <a:off x="3379" y="2432"/>
              <a:ext cx="454" cy="317"/>
              <a:chOff x="1746" y="3385"/>
              <a:chExt cx="454" cy="317"/>
            </a:xfrm>
          </p:grpSpPr>
          <p:sp>
            <p:nvSpPr>
              <p:cNvPr id="93" name="AutoShape 126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94" name="Text Box 127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0010</a:t>
                </a:r>
              </a:p>
            </p:txBody>
          </p:sp>
        </p:grpSp>
        <p:grpSp>
          <p:nvGrpSpPr>
            <p:cNvPr id="24" name="Group 128"/>
            <p:cNvGrpSpPr>
              <a:grpSpLocks/>
            </p:cNvGrpSpPr>
            <p:nvPr/>
          </p:nvGrpSpPr>
          <p:grpSpPr bwMode="auto">
            <a:xfrm>
              <a:off x="3833" y="2433"/>
              <a:ext cx="454" cy="317"/>
              <a:chOff x="1746" y="3385"/>
              <a:chExt cx="454" cy="317"/>
            </a:xfrm>
          </p:grpSpPr>
          <p:sp>
            <p:nvSpPr>
              <p:cNvPr id="91" name="AutoShape 129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92" name="Text Box 130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0011</a:t>
                </a:r>
              </a:p>
            </p:txBody>
          </p:sp>
        </p:grpSp>
        <p:sp>
          <p:nvSpPr>
            <p:cNvPr id="71" name="Line 131"/>
            <p:cNvSpPr>
              <a:spLocks noChangeShapeType="1"/>
            </p:cNvSpPr>
            <p:nvPr/>
          </p:nvSpPr>
          <p:spPr bwMode="auto">
            <a:xfrm>
              <a:off x="3288" y="1661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72" name="Line 132"/>
            <p:cNvSpPr>
              <a:spLocks noChangeShapeType="1"/>
            </p:cNvSpPr>
            <p:nvPr/>
          </p:nvSpPr>
          <p:spPr bwMode="auto">
            <a:xfrm>
              <a:off x="3742" y="1661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74" name="Line 134"/>
            <p:cNvSpPr>
              <a:spLocks noChangeShapeType="1"/>
            </p:cNvSpPr>
            <p:nvPr/>
          </p:nvSpPr>
          <p:spPr bwMode="auto">
            <a:xfrm rot="16200000" flipH="1">
              <a:off x="4400" y="2365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75" name="Line 135"/>
            <p:cNvSpPr>
              <a:spLocks noChangeShapeType="1"/>
            </p:cNvSpPr>
            <p:nvPr/>
          </p:nvSpPr>
          <p:spPr bwMode="auto">
            <a:xfrm rot="-5400000">
              <a:off x="3061" y="1911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76" name="Line 136"/>
            <p:cNvSpPr>
              <a:spLocks noChangeShapeType="1"/>
            </p:cNvSpPr>
            <p:nvPr/>
          </p:nvSpPr>
          <p:spPr bwMode="auto">
            <a:xfrm rot="-5400000">
              <a:off x="3061" y="2365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79" name="Line 139"/>
            <p:cNvSpPr>
              <a:spLocks noChangeShapeType="1"/>
            </p:cNvSpPr>
            <p:nvPr/>
          </p:nvSpPr>
          <p:spPr bwMode="auto">
            <a:xfrm flipH="1">
              <a:off x="3288" y="2614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80" name="Line 140"/>
            <p:cNvSpPr>
              <a:spLocks noChangeShapeType="1"/>
            </p:cNvSpPr>
            <p:nvPr/>
          </p:nvSpPr>
          <p:spPr bwMode="auto">
            <a:xfrm flipH="1">
              <a:off x="3742" y="2614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81" name="Line 141"/>
            <p:cNvSpPr>
              <a:spLocks noChangeShapeType="1"/>
            </p:cNvSpPr>
            <p:nvPr/>
          </p:nvSpPr>
          <p:spPr bwMode="auto">
            <a:xfrm flipH="1">
              <a:off x="4195" y="2614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82" name="Line 142"/>
            <p:cNvSpPr>
              <a:spLocks noChangeShapeType="1"/>
            </p:cNvSpPr>
            <p:nvPr/>
          </p:nvSpPr>
          <p:spPr bwMode="auto">
            <a:xfrm>
              <a:off x="4195" y="1661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84" name="Line 144"/>
            <p:cNvSpPr>
              <a:spLocks noChangeShapeType="1"/>
            </p:cNvSpPr>
            <p:nvPr/>
          </p:nvSpPr>
          <p:spPr bwMode="auto">
            <a:xfrm rot="5400000" flipV="1">
              <a:off x="4400" y="1911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89" name="AutoShape 146"/>
            <p:cNvSpPr>
              <a:spLocks noChangeArrowheads="1"/>
            </p:cNvSpPr>
            <p:nvPr/>
          </p:nvSpPr>
          <p:spPr bwMode="auto">
            <a:xfrm>
              <a:off x="4797" y="1162"/>
              <a:ext cx="544" cy="544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349187" name="Object 3"/>
          <p:cNvGraphicFramePr>
            <a:graphicFrameLocks noChangeAspect="1"/>
          </p:cNvGraphicFramePr>
          <p:nvPr/>
        </p:nvGraphicFramePr>
        <p:xfrm>
          <a:off x="7086600" y="1960457"/>
          <a:ext cx="762000" cy="2153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354" name="Equation" r:id="rId2" imgW="1168200" imgH="330120" progId="Equation.DSMT4">
                  <p:embed/>
                </p:oleObj>
              </mc:Choice>
              <mc:Fallback>
                <p:oleObj name="Equation" r:id="rId2" imgW="1168200" imgH="33012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1960457"/>
                        <a:ext cx="762000" cy="2153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TextBox 76"/>
          <p:cNvSpPr txBox="1"/>
          <p:nvPr/>
        </p:nvSpPr>
        <p:spPr>
          <a:xfrm>
            <a:off x="4724400" y="4290596"/>
            <a:ext cx="2362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18  74LS168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状态图</a:t>
            </a:r>
          </a:p>
        </p:txBody>
      </p:sp>
      <p:cxnSp>
        <p:nvCxnSpPr>
          <p:cNvPr id="78" name="直接箭头连接符 77"/>
          <p:cNvCxnSpPr/>
          <p:nvPr/>
        </p:nvCxnSpPr>
        <p:spPr>
          <a:xfrm>
            <a:off x="4922721" y="2989818"/>
            <a:ext cx="1495783" cy="0"/>
          </a:xfrm>
          <a:prstGeom prst="straightConnector1">
            <a:avLst/>
          </a:prstGeom>
          <a:ln w="38100">
            <a:solidFill>
              <a:schemeClr val="accent6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oup 58"/>
          <p:cNvGrpSpPr>
            <a:grpSpLocks/>
          </p:cNvGrpSpPr>
          <p:nvPr/>
        </p:nvGrpSpPr>
        <p:grpSpPr bwMode="auto">
          <a:xfrm>
            <a:off x="304800" y="2112856"/>
            <a:ext cx="3771900" cy="2270125"/>
            <a:chOff x="2364" y="2739"/>
            <a:chExt cx="2376" cy="1430"/>
          </a:xfrm>
        </p:grpSpPr>
        <p:sp>
          <p:nvSpPr>
            <p:cNvPr id="85" name="Text Box 59"/>
            <p:cNvSpPr txBox="1">
              <a:spLocks noChangeArrowheads="1"/>
            </p:cNvSpPr>
            <p:nvPr/>
          </p:nvSpPr>
          <p:spPr bwMode="auto">
            <a:xfrm>
              <a:off x="3286" y="2899"/>
              <a:ext cx="131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>
                  <a:latin typeface="Arial" pitchFamily="34" charset="0"/>
                </a:rPr>
                <a:t>Q</a:t>
              </a:r>
              <a:r>
                <a:rPr kumimoji="0" lang="en-US" altLang="zh-CN" sz="2000" b="1" i="0" baseline="-2000">
                  <a:latin typeface="Arial" pitchFamily="34" charset="0"/>
                </a:rPr>
                <a:t>D</a:t>
              </a:r>
              <a:r>
                <a:rPr kumimoji="0" lang="en-US" altLang="zh-CN" sz="2000" b="1" i="0">
                  <a:latin typeface="Arial" pitchFamily="34" charset="0"/>
                </a:rPr>
                <a:t> Q</a:t>
              </a:r>
              <a:r>
                <a:rPr kumimoji="0" lang="en-US" altLang="zh-CN" sz="2000" b="1" i="0" baseline="-2000">
                  <a:latin typeface="Arial" pitchFamily="34" charset="0"/>
                </a:rPr>
                <a:t>C</a:t>
              </a:r>
              <a:r>
                <a:rPr kumimoji="0" lang="en-US" altLang="zh-CN" sz="2000" b="1" i="0">
                  <a:latin typeface="Arial" pitchFamily="34" charset="0"/>
                </a:rPr>
                <a:t> Q</a:t>
              </a:r>
              <a:r>
                <a:rPr kumimoji="0" lang="en-US" altLang="zh-CN" sz="2000" b="1" i="0" baseline="-2000">
                  <a:latin typeface="Arial" pitchFamily="34" charset="0"/>
                </a:rPr>
                <a:t>B</a:t>
              </a:r>
              <a:r>
                <a:rPr kumimoji="0" lang="en-US" altLang="zh-CN" sz="2000" b="1" i="0">
                  <a:latin typeface="Arial" pitchFamily="34" charset="0"/>
                </a:rPr>
                <a:t> Q</a:t>
              </a:r>
              <a:r>
                <a:rPr kumimoji="0" lang="en-US" altLang="zh-CN" sz="2000" b="1" i="0" baseline="-2000">
                  <a:latin typeface="Arial" pitchFamily="34" charset="0"/>
                </a:rPr>
                <a:t>A</a:t>
              </a:r>
            </a:p>
          </p:txBody>
        </p:sp>
        <p:sp>
          <p:nvSpPr>
            <p:cNvPr id="86" name="Rectangle 60"/>
            <p:cNvSpPr>
              <a:spLocks noChangeArrowheads="1"/>
            </p:cNvSpPr>
            <p:nvPr/>
          </p:nvSpPr>
          <p:spPr bwMode="auto">
            <a:xfrm>
              <a:off x="2971" y="2899"/>
              <a:ext cx="1588" cy="81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87" name="Text Box 61"/>
            <p:cNvSpPr txBox="1">
              <a:spLocks noChangeArrowheads="1"/>
            </p:cNvSpPr>
            <p:nvPr/>
          </p:nvSpPr>
          <p:spPr bwMode="auto">
            <a:xfrm>
              <a:off x="4196" y="3127"/>
              <a:ext cx="408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>
                  <a:latin typeface="Arial" pitchFamily="34" charset="0"/>
                </a:rPr>
                <a:t>COBO</a:t>
              </a:r>
            </a:p>
          </p:txBody>
        </p:sp>
        <p:sp>
          <p:nvSpPr>
            <p:cNvPr id="88" name="Text Box 62"/>
            <p:cNvSpPr txBox="1">
              <a:spLocks noChangeArrowheads="1"/>
            </p:cNvSpPr>
            <p:nvPr/>
          </p:nvSpPr>
          <p:spPr bwMode="auto">
            <a:xfrm>
              <a:off x="3061" y="3500"/>
              <a:ext cx="134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>
                  <a:latin typeface="Arial" pitchFamily="34" charset="0"/>
                </a:rPr>
                <a:t>         D  C  B  A</a:t>
              </a:r>
            </a:p>
          </p:txBody>
        </p:sp>
        <p:sp>
          <p:nvSpPr>
            <p:cNvPr id="90" name="Line 63"/>
            <p:cNvSpPr>
              <a:spLocks noChangeShapeType="1"/>
            </p:cNvSpPr>
            <p:nvPr/>
          </p:nvSpPr>
          <p:spPr bwMode="auto">
            <a:xfrm>
              <a:off x="4286" y="3162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Text Box 64"/>
            <p:cNvSpPr txBox="1">
              <a:spLocks noChangeArrowheads="1"/>
            </p:cNvSpPr>
            <p:nvPr/>
          </p:nvSpPr>
          <p:spPr bwMode="auto">
            <a:xfrm>
              <a:off x="3063" y="3106"/>
              <a:ext cx="49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>
                  <a:latin typeface="Arial" pitchFamily="34" charset="0"/>
                </a:rPr>
                <a:t>CP</a:t>
              </a:r>
              <a:endParaRPr kumimoji="0" lang="en-US" altLang="zh-CN" sz="2000" b="1" i="0" baseline="-2000">
                <a:latin typeface="Arial" pitchFamily="34" charset="0"/>
              </a:endParaRPr>
            </a:p>
          </p:txBody>
        </p:sp>
        <p:sp>
          <p:nvSpPr>
            <p:cNvPr id="100" name="Text Box 65"/>
            <p:cNvSpPr txBox="1">
              <a:spLocks noChangeArrowheads="1"/>
            </p:cNvSpPr>
            <p:nvPr/>
          </p:nvSpPr>
          <p:spPr bwMode="auto">
            <a:xfrm>
              <a:off x="3463" y="3193"/>
              <a:ext cx="105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>
                  <a:latin typeface="Arial" pitchFamily="34" charset="0"/>
                </a:rPr>
                <a:t>74LS168</a:t>
              </a:r>
            </a:p>
          </p:txBody>
        </p:sp>
        <p:sp>
          <p:nvSpPr>
            <p:cNvPr id="101" name="AutoShape 66"/>
            <p:cNvSpPr>
              <a:spLocks noChangeArrowheads="1"/>
            </p:cNvSpPr>
            <p:nvPr/>
          </p:nvSpPr>
          <p:spPr bwMode="auto">
            <a:xfrm rot="5400000">
              <a:off x="2959" y="3166"/>
              <a:ext cx="151" cy="117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102" name="Line 67"/>
            <p:cNvSpPr>
              <a:spLocks noChangeShapeType="1"/>
            </p:cNvSpPr>
            <p:nvPr/>
          </p:nvSpPr>
          <p:spPr bwMode="auto">
            <a:xfrm>
              <a:off x="3029" y="2931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Text Box 68"/>
            <p:cNvSpPr txBox="1">
              <a:spLocks noChangeArrowheads="1"/>
            </p:cNvSpPr>
            <p:nvPr/>
          </p:nvSpPr>
          <p:spPr bwMode="auto">
            <a:xfrm>
              <a:off x="2976" y="2918"/>
              <a:ext cx="42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>
                  <a:latin typeface="Arial" pitchFamily="34" charset="0"/>
                </a:rPr>
                <a:t>LD</a:t>
              </a:r>
            </a:p>
          </p:txBody>
        </p:sp>
        <p:sp>
          <p:nvSpPr>
            <p:cNvPr id="104" name="Line 69"/>
            <p:cNvSpPr>
              <a:spLocks noChangeShapeType="1"/>
            </p:cNvSpPr>
            <p:nvPr/>
          </p:nvSpPr>
          <p:spPr bwMode="auto">
            <a:xfrm>
              <a:off x="4270" y="3356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5" name="Group 70"/>
            <p:cNvGrpSpPr>
              <a:grpSpLocks/>
            </p:cNvGrpSpPr>
            <p:nvPr/>
          </p:nvGrpSpPr>
          <p:grpSpPr bwMode="auto">
            <a:xfrm>
              <a:off x="2790" y="2739"/>
              <a:ext cx="1950" cy="699"/>
              <a:chOff x="2790" y="2739"/>
              <a:chExt cx="1950" cy="699"/>
            </a:xfrm>
          </p:grpSpPr>
          <p:sp>
            <p:nvSpPr>
              <p:cNvPr id="138" name="Line 71"/>
              <p:cNvSpPr>
                <a:spLocks noChangeShapeType="1"/>
              </p:cNvSpPr>
              <p:nvPr/>
            </p:nvSpPr>
            <p:spPr bwMode="auto">
              <a:xfrm flipH="1">
                <a:off x="2790" y="3011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9" name="Line 72"/>
              <p:cNvSpPr>
                <a:spLocks noChangeShapeType="1"/>
              </p:cNvSpPr>
              <p:nvPr/>
            </p:nvSpPr>
            <p:spPr bwMode="auto">
              <a:xfrm flipV="1">
                <a:off x="2790" y="2739"/>
                <a:ext cx="0" cy="2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0" name="Line 73"/>
              <p:cNvSpPr>
                <a:spLocks noChangeShapeType="1"/>
              </p:cNvSpPr>
              <p:nvPr/>
            </p:nvSpPr>
            <p:spPr bwMode="auto">
              <a:xfrm>
                <a:off x="2790" y="2739"/>
                <a:ext cx="195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" name="Line 74"/>
              <p:cNvSpPr>
                <a:spLocks noChangeShapeType="1"/>
              </p:cNvSpPr>
              <p:nvPr/>
            </p:nvSpPr>
            <p:spPr bwMode="auto">
              <a:xfrm>
                <a:off x="4740" y="2739"/>
                <a:ext cx="0" cy="69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2" name="Line 75"/>
              <p:cNvSpPr>
                <a:spLocks noChangeShapeType="1"/>
              </p:cNvSpPr>
              <p:nvPr/>
            </p:nvSpPr>
            <p:spPr bwMode="auto">
              <a:xfrm flipH="1">
                <a:off x="4559" y="3438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6" name="Line 76"/>
            <p:cNvSpPr>
              <a:spLocks noChangeShapeType="1"/>
            </p:cNvSpPr>
            <p:nvPr/>
          </p:nvSpPr>
          <p:spPr bwMode="auto">
            <a:xfrm>
              <a:off x="2835" y="3812"/>
              <a:ext cx="0" cy="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Line 77"/>
            <p:cNvSpPr>
              <a:spLocks noChangeShapeType="1"/>
            </p:cNvSpPr>
            <p:nvPr/>
          </p:nvSpPr>
          <p:spPr bwMode="auto">
            <a:xfrm>
              <a:off x="2745" y="3964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Line 78"/>
            <p:cNvSpPr>
              <a:spLocks noChangeShapeType="1"/>
            </p:cNvSpPr>
            <p:nvPr/>
          </p:nvSpPr>
          <p:spPr bwMode="auto">
            <a:xfrm flipV="1">
              <a:off x="2835" y="3812"/>
              <a:ext cx="113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Line 79"/>
            <p:cNvSpPr>
              <a:spLocks noChangeShapeType="1"/>
            </p:cNvSpPr>
            <p:nvPr/>
          </p:nvSpPr>
          <p:spPr bwMode="auto">
            <a:xfrm>
              <a:off x="3969" y="3716"/>
              <a:ext cx="0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Line 80"/>
            <p:cNvSpPr>
              <a:spLocks noChangeShapeType="1"/>
            </p:cNvSpPr>
            <p:nvPr/>
          </p:nvSpPr>
          <p:spPr bwMode="auto">
            <a:xfrm>
              <a:off x="3607" y="3716"/>
              <a:ext cx="0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Text Box 81"/>
            <p:cNvSpPr txBox="1">
              <a:spLocks noChangeArrowheads="1"/>
            </p:cNvSpPr>
            <p:nvPr/>
          </p:nvSpPr>
          <p:spPr bwMode="auto">
            <a:xfrm>
              <a:off x="3519" y="3689"/>
              <a:ext cx="37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0" dirty="0">
                  <a:latin typeface="Arial" pitchFamily="34" charset="0"/>
                  <a:cs typeface="Arial" pitchFamily="34" charset="0"/>
                </a:rPr>
                <a:t>•</a:t>
              </a:r>
            </a:p>
          </p:txBody>
        </p:sp>
        <p:grpSp>
          <p:nvGrpSpPr>
            <p:cNvPr id="125" name="Group 82"/>
            <p:cNvGrpSpPr>
              <a:grpSpLocks/>
            </p:cNvGrpSpPr>
            <p:nvPr/>
          </p:nvGrpSpPr>
          <p:grpSpPr bwMode="auto">
            <a:xfrm>
              <a:off x="2364" y="3123"/>
              <a:ext cx="610" cy="250"/>
              <a:chOff x="183" y="2931"/>
              <a:chExt cx="610" cy="250"/>
            </a:xfrm>
          </p:grpSpPr>
          <p:sp>
            <p:nvSpPr>
              <p:cNvPr id="136" name="Line 83"/>
              <p:cNvSpPr>
                <a:spLocks noChangeShapeType="1"/>
              </p:cNvSpPr>
              <p:nvPr/>
            </p:nvSpPr>
            <p:spPr bwMode="auto">
              <a:xfrm flipH="1">
                <a:off x="567" y="3022"/>
                <a:ext cx="22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7" name="Text Box 84"/>
              <p:cNvSpPr txBox="1">
                <a:spLocks noChangeArrowheads="1"/>
              </p:cNvSpPr>
              <p:nvPr/>
            </p:nvSpPr>
            <p:spPr bwMode="auto">
              <a:xfrm>
                <a:off x="183" y="2931"/>
                <a:ext cx="45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2000" b="1" i="0" dirty="0">
                    <a:latin typeface="Arial" pitchFamily="34" charset="0"/>
                  </a:rPr>
                  <a:t>CLK</a:t>
                </a:r>
              </a:p>
            </p:txBody>
          </p:sp>
        </p:grpSp>
        <p:grpSp>
          <p:nvGrpSpPr>
            <p:cNvPr id="126" name="Group 85"/>
            <p:cNvGrpSpPr>
              <a:grpSpLocks/>
            </p:cNvGrpSpPr>
            <p:nvPr/>
          </p:nvGrpSpPr>
          <p:grpSpPr bwMode="auto">
            <a:xfrm>
              <a:off x="3626" y="3716"/>
              <a:ext cx="562" cy="453"/>
              <a:chOff x="3626" y="3716"/>
              <a:chExt cx="562" cy="453"/>
            </a:xfrm>
          </p:grpSpPr>
          <p:sp>
            <p:nvSpPr>
              <p:cNvPr id="131" name="Text Box 86"/>
              <p:cNvSpPr txBox="1">
                <a:spLocks noChangeArrowheads="1"/>
              </p:cNvSpPr>
              <p:nvPr/>
            </p:nvSpPr>
            <p:spPr bwMode="auto">
              <a:xfrm>
                <a:off x="3698" y="3760"/>
                <a:ext cx="37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b="1" i="0" dirty="0">
                    <a:latin typeface="Arial" pitchFamily="34" charset="0"/>
                    <a:cs typeface="Arial" pitchFamily="34" charset="0"/>
                  </a:rPr>
                  <a:t>•</a:t>
                </a:r>
              </a:p>
            </p:txBody>
          </p:sp>
          <p:sp>
            <p:nvSpPr>
              <p:cNvPr id="132" name="Line 87"/>
              <p:cNvSpPr>
                <a:spLocks noChangeShapeType="1"/>
              </p:cNvSpPr>
              <p:nvPr/>
            </p:nvSpPr>
            <p:spPr bwMode="auto">
              <a:xfrm>
                <a:off x="3785" y="3721"/>
                <a:ext cx="0" cy="22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" name="Text Box 88"/>
              <p:cNvSpPr txBox="1">
                <a:spLocks noChangeArrowheads="1"/>
              </p:cNvSpPr>
              <p:nvPr/>
            </p:nvSpPr>
            <p:spPr bwMode="auto">
              <a:xfrm>
                <a:off x="3626" y="3919"/>
                <a:ext cx="407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2000" b="1" i="0">
                    <a:latin typeface="Arial" pitchFamily="34" charset="0"/>
                  </a:rPr>
                  <a:t>+5V</a:t>
                </a:r>
              </a:p>
            </p:txBody>
          </p:sp>
          <p:sp>
            <p:nvSpPr>
              <p:cNvPr id="134" name="Line 89"/>
              <p:cNvSpPr>
                <a:spLocks noChangeShapeType="1"/>
              </p:cNvSpPr>
              <p:nvPr/>
            </p:nvSpPr>
            <p:spPr bwMode="auto">
              <a:xfrm>
                <a:off x="3785" y="3879"/>
                <a:ext cx="40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" name="Line 90"/>
              <p:cNvSpPr>
                <a:spLocks noChangeShapeType="1"/>
              </p:cNvSpPr>
              <p:nvPr/>
            </p:nvSpPr>
            <p:spPr bwMode="auto">
              <a:xfrm flipV="1">
                <a:off x="4188" y="3716"/>
                <a:ext cx="0" cy="16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7" name="Text Box 91"/>
            <p:cNvSpPr txBox="1">
              <a:spLocks noChangeArrowheads="1"/>
            </p:cNvSpPr>
            <p:nvPr/>
          </p:nvSpPr>
          <p:spPr bwMode="auto">
            <a:xfrm>
              <a:off x="2931" y="3295"/>
              <a:ext cx="49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>
                  <a:latin typeface="Arial" pitchFamily="34" charset="0"/>
                </a:rPr>
                <a:t>U/D</a:t>
              </a:r>
              <a:endParaRPr kumimoji="0" lang="en-US" altLang="zh-CN" sz="2000" b="1" i="0" baseline="-2000">
                <a:latin typeface="Arial" pitchFamily="34" charset="0"/>
              </a:endParaRPr>
            </a:p>
          </p:txBody>
        </p:sp>
        <p:sp>
          <p:nvSpPr>
            <p:cNvPr id="128" name="Line 92"/>
            <p:cNvSpPr>
              <a:spLocks noChangeShapeType="1"/>
            </p:cNvSpPr>
            <p:nvPr/>
          </p:nvSpPr>
          <p:spPr bwMode="auto">
            <a:xfrm flipH="1">
              <a:off x="2744" y="3423"/>
              <a:ext cx="2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Line 94"/>
            <p:cNvSpPr>
              <a:spLocks noChangeShapeType="1"/>
            </p:cNvSpPr>
            <p:nvPr/>
          </p:nvSpPr>
          <p:spPr bwMode="auto">
            <a:xfrm>
              <a:off x="3153" y="3338"/>
              <a:ext cx="9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3" name="Text Box 57"/>
          <p:cNvSpPr txBox="1">
            <a:spLocks noChangeArrowheads="1"/>
          </p:cNvSpPr>
          <p:nvPr/>
        </p:nvSpPr>
        <p:spPr bwMode="auto">
          <a:xfrm>
            <a:off x="457200" y="3027256"/>
            <a:ext cx="6540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en-US" altLang="zh-CN" sz="2000" b="1" i="0" dirty="0">
                <a:solidFill>
                  <a:srgbClr val="FF0000"/>
                </a:solidFill>
                <a:latin typeface="Arial" pitchFamily="34" charset="0"/>
              </a:rPr>
              <a:t>0</a:t>
            </a:r>
          </a:p>
        </p:txBody>
      </p:sp>
      <p:sp>
        <p:nvSpPr>
          <p:cNvPr id="123" name="矩形 122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1295400" y="4290596"/>
            <a:ext cx="2362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17 74LS168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框图</a:t>
            </a: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aphicFrame>
        <p:nvGraphicFramePr>
          <p:cNvPr id="43010" name="Object 96"/>
          <p:cNvGraphicFramePr>
            <a:graphicFrameLocks noChangeAspect="1"/>
          </p:cNvGraphicFramePr>
          <p:nvPr/>
        </p:nvGraphicFramePr>
        <p:xfrm>
          <a:off x="333375" y="2649538"/>
          <a:ext cx="7656513" cy="229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02" name="Visio" r:id="rId2" imgW="3981611" imgH="1221774" progId="Visio.Drawing.11">
                  <p:embed/>
                </p:oleObj>
              </mc:Choice>
              <mc:Fallback>
                <p:oleObj name="Visio" r:id="rId2" imgW="3981611" imgH="1221774" progId="Visio.Drawing.11">
                  <p:embed/>
                  <p:pic>
                    <p:nvPicPr>
                      <p:cNvPr id="0" name="Object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375" y="2649538"/>
                        <a:ext cx="7656513" cy="229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352800" y="4552950"/>
            <a:ext cx="2362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19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时序图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123950"/>
            <a:ext cx="3276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减法计数器同步预置值</a:t>
            </a:r>
            <a:endParaRPr lang="en-US" altLang="zh-CN" sz="20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    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              M-1</a:t>
            </a:r>
            <a:endParaRPr lang="zh-CN" altLang="en-US" sz="20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3662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构建任意模值的计数器：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N&gt;M  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同步预置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" name="矩形 10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Picture 3" descr="C:\Users\hfutliujun\AppData\Roaming\Tencent\Users\350654676\QQ\WinTemp\RichOle\J14N6})@1M2Z(7L%MMOTF[X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90600" y="971550"/>
            <a:ext cx="4073979" cy="15430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3662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构建任意模值的计数器：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N&gt;M  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异步预置法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381000" y="1047750"/>
            <a:ext cx="845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：用可逆模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10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计数器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74LS192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构成模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6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的加法计数器。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74LS192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预置功能为异步步预置。</a:t>
            </a:r>
            <a:endParaRPr kumimoji="0" lang="zh-CN" altLang="en-US" sz="1600" b="1" i="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9" name="Group 131"/>
          <p:cNvGrpSpPr>
            <a:grpSpLocks/>
          </p:cNvGrpSpPr>
          <p:nvPr/>
        </p:nvGrpSpPr>
        <p:grpSpPr bwMode="auto">
          <a:xfrm>
            <a:off x="1752600" y="1911353"/>
            <a:ext cx="3852863" cy="1498601"/>
            <a:chOff x="-81" y="2597"/>
            <a:chExt cx="2427" cy="944"/>
          </a:xfrm>
        </p:grpSpPr>
        <p:grpSp>
          <p:nvGrpSpPr>
            <p:cNvPr id="50" name="Group 94"/>
            <p:cNvGrpSpPr>
              <a:grpSpLocks/>
            </p:cNvGrpSpPr>
            <p:nvPr/>
          </p:nvGrpSpPr>
          <p:grpSpPr bwMode="auto">
            <a:xfrm>
              <a:off x="577" y="2597"/>
              <a:ext cx="1633" cy="851"/>
              <a:chOff x="793" y="2728"/>
              <a:chExt cx="1633" cy="851"/>
            </a:xfrm>
          </p:grpSpPr>
          <p:sp>
            <p:nvSpPr>
              <p:cNvPr id="76" name="Text Box 95"/>
              <p:cNvSpPr txBox="1">
                <a:spLocks noChangeArrowheads="1"/>
              </p:cNvSpPr>
              <p:nvPr/>
            </p:nvSpPr>
            <p:spPr bwMode="auto">
              <a:xfrm>
                <a:off x="1108" y="2728"/>
                <a:ext cx="1318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2000" b="1" i="0">
                    <a:latin typeface="Arial" pitchFamily="34" charset="0"/>
                  </a:rPr>
                  <a:t>Q</a:t>
                </a:r>
                <a:r>
                  <a:rPr kumimoji="0" lang="en-US" altLang="zh-CN" sz="2000" b="1" i="0" baseline="-2000">
                    <a:latin typeface="Arial" pitchFamily="34" charset="0"/>
                  </a:rPr>
                  <a:t>D</a:t>
                </a:r>
                <a:r>
                  <a:rPr kumimoji="0" lang="en-US" altLang="zh-CN" sz="2000" b="1" i="0">
                    <a:latin typeface="Arial" pitchFamily="34" charset="0"/>
                  </a:rPr>
                  <a:t> Q</a:t>
                </a:r>
                <a:r>
                  <a:rPr kumimoji="0" lang="en-US" altLang="zh-CN" sz="2000" b="1" i="0" baseline="-2000">
                    <a:latin typeface="Arial" pitchFamily="34" charset="0"/>
                  </a:rPr>
                  <a:t>C</a:t>
                </a:r>
                <a:r>
                  <a:rPr kumimoji="0" lang="en-US" altLang="zh-CN" sz="2000" b="1" i="0">
                    <a:latin typeface="Arial" pitchFamily="34" charset="0"/>
                  </a:rPr>
                  <a:t> Q</a:t>
                </a:r>
                <a:r>
                  <a:rPr kumimoji="0" lang="en-US" altLang="zh-CN" sz="2000" b="1" i="0" baseline="-2000">
                    <a:latin typeface="Arial" pitchFamily="34" charset="0"/>
                  </a:rPr>
                  <a:t>B</a:t>
                </a:r>
                <a:r>
                  <a:rPr kumimoji="0" lang="en-US" altLang="zh-CN" sz="2000" b="1" i="0">
                    <a:latin typeface="Arial" pitchFamily="34" charset="0"/>
                  </a:rPr>
                  <a:t> Q</a:t>
                </a:r>
                <a:r>
                  <a:rPr kumimoji="0" lang="en-US" altLang="zh-CN" sz="2000" b="1" i="0" baseline="-2000">
                    <a:latin typeface="Arial" pitchFamily="34" charset="0"/>
                  </a:rPr>
                  <a:t>A</a:t>
                </a:r>
              </a:p>
            </p:txBody>
          </p:sp>
          <p:sp>
            <p:nvSpPr>
              <p:cNvPr id="77" name="Rectangle 96"/>
              <p:cNvSpPr>
                <a:spLocks noChangeArrowheads="1"/>
              </p:cNvSpPr>
              <p:nvPr/>
            </p:nvSpPr>
            <p:spPr bwMode="auto">
              <a:xfrm>
                <a:off x="793" y="2728"/>
                <a:ext cx="1588" cy="81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78" name="Text Box 97"/>
              <p:cNvSpPr txBox="1">
                <a:spLocks noChangeArrowheads="1"/>
              </p:cNvSpPr>
              <p:nvPr/>
            </p:nvSpPr>
            <p:spPr bwMode="auto">
              <a:xfrm>
                <a:off x="2018" y="2956"/>
                <a:ext cx="408" cy="4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2000" b="1" i="0">
                    <a:latin typeface="Arial" pitchFamily="34" charset="0"/>
                  </a:rPr>
                  <a:t>COBO</a:t>
                </a:r>
              </a:p>
            </p:txBody>
          </p:sp>
          <p:sp>
            <p:nvSpPr>
              <p:cNvPr id="79" name="Text Box 98"/>
              <p:cNvSpPr txBox="1">
                <a:spLocks noChangeArrowheads="1"/>
              </p:cNvSpPr>
              <p:nvPr/>
            </p:nvSpPr>
            <p:spPr bwMode="auto">
              <a:xfrm>
                <a:off x="883" y="3329"/>
                <a:ext cx="1348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2000" b="1" i="0">
                    <a:latin typeface="Arial" pitchFamily="34" charset="0"/>
                  </a:rPr>
                  <a:t>CR    D  C  B  A</a:t>
                </a:r>
              </a:p>
            </p:txBody>
          </p:sp>
          <p:sp>
            <p:nvSpPr>
              <p:cNvPr id="80" name="Line 99"/>
              <p:cNvSpPr>
                <a:spLocks noChangeShapeType="1"/>
              </p:cNvSpPr>
              <p:nvPr/>
            </p:nvSpPr>
            <p:spPr bwMode="auto">
              <a:xfrm>
                <a:off x="2108" y="2991"/>
                <a:ext cx="18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" name="Text Box 100"/>
              <p:cNvSpPr txBox="1">
                <a:spLocks noChangeArrowheads="1"/>
              </p:cNvSpPr>
              <p:nvPr/>
            </p:nvSpPr>
            <p:spPr bwMode="auto">
              <a:xfrm>
                <a:off x="885" y="2935"/>
                <a:ext cx="499" cy="4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2000" b="1" i="0">
                    <a:latin typeface="Arial" pitchFamily="34" charset="0"/>
                  </a:rPr>
                  <a:t>CP</a:t>
                </a:r>
                <a:r>
                  <a:rPr kumimoji="0" lang="en-US" altLang="zh-CN" sz="2000" b="1" i="0" baseline="-2000">
                    <a:latin typeface="Arial" pitchFamily="34" charset="0"/>
                  </a:rPr>
                  <a:t>U</a:t>
                </a:r>
                <a:r>
                  <a:rPr kumimoji="0" lang="en-US" altLang="zh-CN" sz="2000" b="1" i="0">
                    <a:latin typeface="Arial" pitchFamily="34" charset="0"/>
                  </a:rPr>
                  <a:t>CP</a:t>
                </a:r>
                <a:r>
                  <a:rPr kumimoji="0" lang="en-US" altLang="zh-CN" sz="2000" b="1" i="0" baseline="-2000">
                    <a:latin typeface="Arial" pitchFamily="34" charset="0"/>
                  </a:rPr>
                  <a:t>D</a:t>
                </a:r>
              </a:p>
            </p:txBody>
          </p:sp>
          <p:sp>
            <p:nvSpPr>
              <p:cNvPr id="82" name="AutoShape 101"/>
              <p:cNvSpPr>
                <a:spLocks noChangeArrowheads="1"/>
              </p:cNvSpPr>
              <p:nvPr/>
            </p:nvSpPr>
            <p:spPr bwMode="auto">
              <a:xfrm rot="5400000">
                <a:off x="776" y="3182"/>
                <a:ext cx="151" cy="117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83" name="Text Box 102"/>
              <p:cNvSpPr txBox="1">
                <a:spLocks noChangeArrowheads="1"/>
              </p:cNvSpPr>
              <p:nvPr/>
            </p:nvSpPr>
            <p:spPr bwMode="auto">
              <a:xfrm>
                <a:off x="1285" y="3022"/>
                <a:ext cx="1051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2000" b="1" i="0">
                    <a:latin typeface="Arial" pitchFamily="34" charset="0"/>
                  </a:rPr>
                  <a:t>74LS192</a:t>
                </a:r>
              </a:p>
            </p:txBody>
          </p:sp>
          <p:sp>
            <p:nvSpPr>
              <p:cNvPr id="84" name="AutoShape 103"/>
              <p:cNvSpPr>
                <a:spLocks noChangeArrowheads="1"/>
              </p:cNvSpPr>
              <p:nvPr/>
            </p:nvSpPr>
            <p:spPr bwMode="auto">
              <a:xfrm rot="5400000">
                <a:off x="781" y="2995"/>
                <a:ext cx="151" cy="117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85" name="Line 104"/>
              <p:cNvSpPr>
                <a:spLocks noChangeShapeType="1"/>
              </p:cNvSpPr>
              <p:nvPr/>
            </p:nvSpPr>
            <p:spPr bwMode="auto">
              <a:xfrm>
                <a:off x="851" y="2760"/>
                <a:ext cx="18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" name="Text Box 105"/>
              <p:cNvSpPr txBox="1">
                <a:spLocks noChangeArrowheads="1"/>
              </p:cNvSpPr>
              <p:nvPr/>
            </p:nvSpPr>
            <p:spPr bwMode="auto">
              <a:xfrm>
                <a:off x="798" y="2747"/>
                <a:ext cx="42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2000" b="1" i="0">
                    <a:latin typeface="Arial" pitchFamily="34" charset="0"/>
                  </a:rPr>
                  <a:t>LD</a:t>
                </a:r>
              </a:p>
            </p:txBody>
          </p:sp>
          <p:sp>
            <p:nvSpPr>
              <p:cNvPr id="87" name="Line 106"/>
              <p:cNvSpPr>
                <a:spLocks noChangeShapeType="1"/>
              </p:cNvSpPr>
              <p:nvPr/>
            </p:nvSpPr>
            <p:spPr bwMode="auto">
              <a:xfrm>
                <a:off x="2092" y="3185"/>
                <a:ext cx="18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1" name="Group 107"/>
            <p:cNvGrpSpPr>
              <a:grpSpLocks/>
            </p:cNvGrpSpPr>
            <p:nvPr/>
          </p:nvGrpSpPr>
          <p:grpSpPr bwMode="auto">
            <a:xfrm>
              <a:off x="396" y="2709"/>
              <a:ext cx="1950" cy="227"/>
              <a:chOff x="612" y="2840"/>
              <a:chExt cx="1950" cy="227"/>
            </a:xfrm>
          </p:grpSpPr>
          <p:sp>
            <p:nvSpPr>
              <p:cNvPr id="71" name="Line 108"/>
              <p:cNvSpPr>
                <a:spLocks noChangeShapeType="1"/>
              </p:cNvSpPr>
              <p:nvPr/>
            </p:nvSpPr>
            <p:spPr bwMode="auto">
              <a:xfrm flipH="1">
                <a:off x="612" y="2840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" name="Line 112"/>
              <p:cNvSpPr>
                <a:spLocks noChangeShapeType="1"/>
              </p:cNvSpPr>
              <p:nvPr/>
            </p:nvSpPr>
            <p:spPr bwMode="auto">
              <a:xfrm flipH="1">
                <a:off x="2381" y="3067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2" name="Group 113"/>
            <p:cNvGrpSpPr>
              <a:grpSpLocks/>
            </p:cNvGrpSpPr>
            <p:nvPr/>
          </p:nvGrpSpPr>
          <p:grpSpPr bwMode="auto">
            <a:xfrm>
              <a:off x="441" y="3344"/>
              <a:ext cx="965" cy="162"/>
              <a:chOff x="441" y="3344"/>
              <a:chExt cx="965" cy="162"/>
            </a:xfrm>
          </p:grpSpPr>
          <p:sp>
            <p:nvSpPr>
              <p:cNvPr id="63" name="Line 114"/>
              <p:cNvSpPr>
                <a:spLocks noChangeShapeType="1"/>
              </p:cNvSpPr>
              <p:nvPr/>
            </p:nvSpPr>
            <p:spPr bwMode="auto">
              <a:xfrm flipH="1">
                <a:off x="441" y="3344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" name="Line 118"/>
              <p:cNvSpPr>
                <a:spLocks noChangeShapeType="1"/>
              </p:cNvSpPr>
              <p:nvPr/>
            </p:nvSpPr>
            <p:spPr bwMode="auto">
              <a:xfrm>
                <a:off x="1406" y="3415"/>
                <a:ext cx="0" cy="9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" name="Line 119"/>
              <p:cNvSpPr>
                <a:spLocks noChangeShapeType="1"/>
              </p:cNvSpPr>
              <p:nvPr/>
            </p:nvSpPr>
            <p:spPr bwMode="auto">
              <a:xfrm>
                <a:off x="1213" y="3414"/>
                <a:ext cx="0" cy="9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3" name="Group 122"/>
            <p:cNvGrpSpPr>
              <a:grpSpLocks/>
            </p:cNvGrpSpPr>
            <p:nvPr/>
          </p:nvGrpSpPr>
          <p:grpSpPr bwMode="auto">
            <a:xfrm>
              <a:off x="-81" y="2773"/>
              <a:ext cx="658" cy="250"/>
              <a:chOff x="135" y="2904"/>
              <a:chExt cx="658" cy="250"/>
            </a:xfrm>
          </p:grpSpPr>
          <p:sp>
            <p:nvSpPr>
              <p:cNvPr id="60" name="Line 123"/>
              <p:cNvSpPr>
                <a:spLocks noChangeShapeType="1"/>
              </p:cNvSpPr>
              <p:nvPr/>
            </p:nvSpPr>
            <p:spPr bwMode="auto">
              <a:xfrm flipH="1">
                <a:off x="567" y="3022"/>
                <a:ext cx="22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Text Box 124"/>
              <p:cNvSpPr txBox="1">
                <a:spLocks noChangeArrowheads="1"/>
              </p:cNvSpPr>
              <p:nvPr/>
            </p:nvSpPr>
            <p:spPr bwMode="auto">
              <a:xfrm>
                <a:off x="135" y="2904"/>
                <a:ext cx="45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2000" b="1" i="0" dirty="0">
                    <a:latin typeface="Arial" pitchFamily="34" charset="0"/>
                  </a:rPr>
                  <a:t>CLK</a:t>
                </a:r>
              </a:p>
            </p:txBody>
          </p:sp>
        </p:grpSp>
        <p:grpSp>
          <p:nvGrpSpPr>
            <p:cNvPr id="54" name="Group 125"/>
            <p:cNvGrpSpPr>
              <a:grpSpLocks/>
            </p:cNvGrpSpPr>
            <p:nvPr/>
          </p:nvGrpSpPr>
          <p:grpSpPr bwMode="auto">
            <a:xfrm>
              <a:off x="1599" y="3410"/>
              <a:ext cx="195" cy="131"/>
              <a:chOff x="1599" y="3410"/>
              <a:chExt cx="195" cy="131"/>
            </a:xfrm>
          </p:grpSpPr>
          <p:sp>
            <p:nvSpPr>
              <p:cNvPr id="55" name="Line 126"/>
              <p:cNvSpPr>
                <a:spLocks noChangeShapeType="1"/>
              </p:cNvSpPr>
              <p:nvPr/>
            </p:nvSpPr>
            <p:spPr bwMode="auto">
              <a:xfrm flipV="1">
                <a:off x="1794" y="3414"/>
                <a:ext cx="0" cy="9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" name="Line 128"/>
              <p:cNvSpPr>
                <a:spLocks noChangeShapeType="1"/>
              </p:cNvSpPr>
              <p:nvPr/>
            </p:nvSpPr>
            <p:spPr bwMode="auto">
              <a:xfrm>
                <a:off x="1599" y="3410"/>
                <a:ext cx="0" cy="13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88" name="TextBox 87"/>
          <p:cNvSpPr txBox="1"/>
          <p:nvPr/>
        </p:nvSpPr>
        <p:spPr>
          <a:xfrm>
            <a:off x="3048000" y="3943350"/>
            <a:ext cx="2362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20 74LS192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框图</a:t>
            </a:r>
          </a:p>
        </p:txBody>
      </p:sp>
      <p:sp>
        <p:nvSpPr>
          <p:cNvPr id="89" name="Line 112"/>
          <p:cNvSpPr>
            <a:spLocks noChangeShapeType="1"/>
          </p:cNvSpPr>
          <p:nvPr/>
        </p:nvSpPr>
        <p:spPr bwMode="auto">
          <a:xfrm flipH="1">
            <a:off x="5334000" y="2724150"/>
            <a:ext cx="2873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3662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构建任意模值的计数器：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N&gt;M  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异步预置法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381000" y="1047750"/>
            <a:ext cx="845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：用可逆模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10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计数器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74LS192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构成模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6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的加法计数器。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74LS192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预置功能为异步步预置。</a:t>
            </a:r>
            <a:endParaRPr kumimoji="0" lang="zh-CN" altLang="en-US" sz="1600" b="1" i="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Group 131"/>
          <p:cNvGrpSpPr>
            <a:grpSpLocks/>
          </p:cNvGrpSpPr>
          <p:nvPr/>
        </p:nvGrpSpPr>
        <p:grpSpPr bwMode="auto">
          <a:xfrm>
            <a:off x="152400" y="1962150"/>
            <a:ext cx="3852863" cy="1600201"/>
            <a:chOff x="-81" y="2597"/>
            <a:chExt cx="2427" cy="1008"/>
          </a:xfrm>
        </p:grpSpPr>
        <p:grpSp>
          <p:nvGrpSpPr>
            <p:cNvPr id="3" name="Group 94"/>
            <p:cNvGrpSpPr>
              <a:grpSpLocks/>
            </p:cNvGrpSpPr>
            <p:nvPr/>
          </p:nvGrpSpPr>
          <p:grpSpPr bwMode="auto">
            <a:xfrm>
              <a:off x="577" y="2597"/>
              <a:ext cx="1633" cy="851"/>
              <a:chOff x="793" y="2728"/>
              <a:chExt cx="1633" cy="851"/>
            </a:xfrm>
          </p:grpSpPr>
          <p:sp>
            <p:nvSpPr>
              <p:cNvPr id="76" name="Text Box 95"/>
              <p:cNvSpPr txBox="1">
                <a:spLocks noChangeArrowheads="1"/>
              </p:cNvSpPr>
              <p:nvPr/>
            </p:nvSpPr>
            <p:spPr bwMode="auto">
              <a:xfrm>
                <a:off x="1108" y="2728"/>
                <a:ext cx="1318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2000" b="1" i="0">
                    <a:latin typeface="Arial" pitchFamily="34" charset="0"/>
                  </a:rPr>
                  <a:t>Q</a:t>
                </a:r>
                <a:r>
                  <a:rPr kumimoji="0" lang="en-US" altLang="zh-CN" sz="2000" b="1" i="0" baseline="-2000">
                    <a:latin typeface="Arial" pitchFamily="34" charset="0"/>
                  </a:rPr>
                  <a:t>D</a:t>
                </a:r>
                <a:r>
                  <a:rPr kumimoji="0" lang="en-US" altLang="zh-CN" sz="2000" b="1" i="0">
                    <a:latin typeface="Arial" pitchFamily="34" charset="0"/>
                  </a:rPr>
                  <a:t> Q</a:t>
                </a:r>
                <a:r>
                  <a:rPr kumimoji="0" lang="en-US" altLang="zh-CN" sz="2000" b="1" i="0" baseline="-2000">
                    <a:latin typeface="Arial" pitchFamily="34" charset="0"/>
                  </a:rPr>
                  <a:t>C</a:t>
                </a:r>
                <a:r>
                  <a:rPr kumimoji="0" lang="en-US" altLang="zh-CN" sz="2000" b="1" i="0">
                    <a:latin typeface="Arial" pitchFamily="34" charset="0"/>
                  </a:rPr>
                  <a:t> Q</a:t>
                </a:r>
                <a:r>
                  <a:rPr kumimoji="0" lang="en-US" altLang="zh-CN" sz="2000" b="1" i="0" baseline="-2000">
                    <a:latin typeface="Arial" pitchFamily="34" charset="0"/>
                  </a:rPr>
                  <a:t>B</a:t>
                </a:r>
                <a:r>
                  <a:rPr kumimoji="0" lang="en-US" altLang="zh-CN" sz="2000" b="1" i="0">
                    <a:latin typeface="Arial" pitchFamily="34" charset="0"/>
                  </a:rPr>
                  <a:t> Q</a:t>
                </a:r>
                <a:r>
                  <a:rPr kumimoji="0" lang="en-US" altLang="zh-CN" sz="2000" b="1" i="0" baseline="-2000">
                    <a:latin typeface="Arial" pitchFamily="34" charset="0"/>
                  </a:rPr>
                  <a:t>A</a:t>
                </a:r>
              </a:p>
            </p:txBody>
          </p:sp>
          <p:sp>
            <p:nvSpPr>
              <p:cNvPr id="77" name="Rectangle 96"/>
              <p:cNvSpPr>
                <a:spLocks noChangeArrowheads="1"/>
              </p:cNvSpPr>
              <p:nvPr/>
            </p:nvSpPr>
            <p:spPr bwMode="auto">
              <a:xfrm>
                <a:off x="793" y="2728"/>
                <a:ext cx="1588" cy="81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78" name="Text Box 97"/>
              <p:cNvSpPr txBox="1">
                <a:spLocks noChangeArrowheads="1"/>
              </p:cNvSpPr>
              <p:nvPr/>
            </p:nvSpPr>
            <p:spPr bwMode="auto">
              <a:xfrm>
                <a:off x="2018" y="2956"/>
                <a:ext cx="408" cy="4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2000" b="1" i="0">
                    <a:latin typeface="Arial" pitchFamily="34" charset="0"/>
                  </a:rPr>
                  <a:t>COBO</a:t>
                </a:r>
              </a:p>
            </p:txBody>
          </p:sp>
          <p:sp>
            <p:nvSpPr>
              <p:cNvPr id="79" name="Text Box 98"/>
              <p:cNvSpPr txBox="1">
                <a:spLocks noChangeArrowheads="1"/>
              </p:cNvSpPr>
              <p:nvPr/>
            </p:nvSpPr>
            <p:spPr bwMode="auto">
              <a:xfrm>
                <a:off x="883" y="3329"/>
                <a:ext cx="1348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2000" b="1" i="0">
                    <a:latin typeface="Arial" pitchFamily="34" charset="0"/>
                  </a:rPr>
                  <a:t>CR    D  C  B  A</a:t>
                </a:r>
              </a:p>
            </p:txBody>
          </p:sp>
          <p:sp>
            <p:nvSpPr>
              <p:cNvPr id="80" name="Line 99"/>
              <p:cNvSpPr>
                <a:spLocks noChangeShapeType="1"/>
              </p:cNvSpPr>
              <p:nvPr/>
            </p:nvSpPr>
            <p:spPr bwMode="auto">
              <a:xfrm>
                <a:off x="2108" y="2991"/>
                <a:ext cx="18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" name="Text Box 100"/>
              <p:cNvSpPr txBox="1">
                <a:spLocks noChangeArrowheads="1"/>
              </p:cNvSpPr>
              <p:nvPr/>
            </p:nvSpPr>
            <p:spPr bwMode="auto">
              <a:xfrm>
                <a:off x="885" y="2935"/>
                <a:ext cx="499" cy="4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2000" b="1" i="0">
                    <a:latin typeface="Arial" pitchFamily="34" charset="0"/>
                  </a:rPr>
                  <a:t>CP</a:t>
                </a:r>
                <a:r>
                  <a:rPr kumimoji="0" lang="en-US" altLang="zh-CN" sz="2000" b="1" i="0" baseline="-2000">
                    <a:latin typeface="Arial" pitchFamily="34" charset="0"/>
                  </a:rPr>
                  <a:t>U</a:t>
                </a:r>
                <a:r>
                  <a:rPr kumimoji="0" lang="en-US" altLang="zh-CN" sz="2000" b="1" i="0">
                    <a:latin typeface="Arial" pitchFamily="34" charset="0"/>
                  </a:rPr>
                  <a:t>CP</a:t>
                </a:r>
                <a:r>
                  <a:rPr kumimoji="0" lang="en-US" altLang="zh-CN" sz="2000" b="1" i="0" baseline="-2000">
                    <a:latin typeface="Arial" pitchFamily="34" charset="0"/>
                  </a:rPr>
                  <a:t>D</a:t>
                </a:r>
              </a:p>
            </p:txBody>
          </p:sp>
          <p:sp>
            <p:nvSpPr>
              <p:cNvPr id="82" name="AutoShape 101"/>
              <p:cNvSpPr>
                <a:spLocks noChangeArrowheads="1"/>
              </p:cNvSpPr>
              <p:nvPr/>
            </p:nvSpPr>
            <p:spPr bwMode="auto">
              <a:xfrm rot="5400000">
                <a:off x="776" y="3182"/>
                <a:ext cx="151" cy="117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83" name="Text Box 102"/>
              <p:cNvSpPr txBox="1">
                <a:spLocks noChangeArrowheads="1"/>
              </p:cNvSpPr>
              <p:nvPr/>
            </p:nvSpPr>
            <p:spPr bwMode="auto">
              <a:xfrm>
                <a:off x="1285" y="3022"/>
                <a:ext cx="1051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2000" b="1" i="0">
                    <a:latin typeface="Arial" pitchFamily="34" charset="0"/>
                  </a:rPr>
                  <a:t>74LS192</a:t>
                </a:r>
              </a:p>
            </p:txBody>
          </p:sp>
          <p:sp>
            <p:nvSpPr>
              <p:cNvPr id="84" name="AutoShape 103"/>
              <p:cNvSpPr>
                <a:spLocks noChangeArrowheads="1"/>
              </p:cNvSpPr>
              <p:nvPr/>
            </p:nvSpPr>
            <p:spPr bwMode="auto">
              <a:xfrm rot="5400000">
                <a:off x="781" y="2995"/>
                <a:ext cx="151" cy="117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85" name="Line 104"/>
              <p:cNvSpPr>
                <a:spLocks noChangeShapeType="1"/>
              </p:cNvSpPr>
              <p:nvPr/>
            </p:nvSpPr>
            <p:spPr bwMode="auto">
              <a:xfrm>
                <a:off x="851" y="2760"/>
                <a:ext cx="18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" name="Text Box 105"/>
              <p:cNvSpPr txBox="1">
                <a:spLocks noChangeArrowheads="1"/>
              </p:cNvSpPr>
              <p:nvPr/>
            </p:nvSpPr>
            <p:spPr bwMode="auto">
              <a:xfrm>
                <a:off x="798" y="2747"/>
                <a:ext cx="42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2000" b="1" i="0">
                    <a:latin typeface="Arial" pitchFamily="34" charset="0"/>
                  </a:rPr>
                  <a:t>LD</a:t>
                </a:r>
              </a:p>
            </p:txBody>
          </p:sp>
          <p:sp>
            <p:nvSpPr>
              <p:cNvPr id="87" name="Line 106"/>
              <p:cNvSpPr>
                <a:spLocks noChangeShapeType="1"/>
              </p:cNvSpPr>
              <p:nvPr/>
            </p:nvSpPr>
            <p:spPr bwMode="auto">
              <a:xfrm>
                <a:off x="2092" y="3185"/>
                <a:ext cx="18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" name="Group 107"/>
            <p:cNvGrpSpPr>
              <a:grpSpLocks/>
            </p:cNvGrpSpPr>
            <p:nvPr/>
          </p:nvGrpSpPr>
          <p:grpSpPr bwMode="auto">
            <a:xfrm>
              <a:off x="396" y="2709"/>
              <a:ext cx="1950" cy="227"/>
              <a:chOff x="612" y="2840"/>
              <a:chExt cx="1950" cy="227"/>
            </a:xfrm>
          </p:grpSpPr>
          <p:sp>
            <p:nvSpPr>
              <p:cNvPr id="71" name="Line 108"/>
              <p:cNvSpPr>
                <a:spLocks noChangeShapeType="1"/>
              </p:cNvSpPr>
              <p:nvPr/>
            </p:nvSpPr>
            <p:spPr bwMode="auto">
              <a:xfrm flipH="1">
                <a:off x="612" y="2840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" name="Line 112"/>
              <p:cNvSpPr>
                <a:spLocks noChangeShapeType="1"/>
              </p:cNvSpPr>
              <p:nvPr/>
            </p:nvSpPr>
            <p:spPr bwMode="auto">
              <a:xfrm flipH="1">
                <a:off x="2381" y="3067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3" name="Line 114"/>
            <p:cNvSpPr>
              <a:spLocks noChangeShapeType="1"/>
            </p:cNvSpPr>
            <p:nvPr/>
          </p:nvSpPr>
          <p:spPr bwMode="auto">
            <a:xfrm flipH="1">
              <a:off x="441" y="3344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" name="Group 122"/>
            <p:cNvGrpSpPr>
              <a:grpSpLocks/>
            </p:cNvGrpSpPr>
            <p:nvPr/>
          </p:nvGrpSpPr>
          <p:grpSpPr bwMode="auto">
            <a:xfrm>
              <a:off x="-81" y="2773"/>
              <a:ext cx="658" cy="250"/>
              <a:chOff x="135" y="2904"/>
              <a:chExt cx="658" cy="250"/>
            </a:xfrm>
          </p:grpSpPr>
          <p:sp>
            <p:nvSpPr>
              <p:cNvPr id="60" name="Line 123"/>
              <p:cNvSpPr>
                <a:spLocks noChangeShapeType="1"/>
              </p:cNvSpPr>
              <p:nvPr/>
            </p:nvSpPr>
            <p:spPr bwMode="auto">
              <a:xfrm flipH="1">
                <a:off x="567" y="3022"/>
                <a:ext cx="22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Text Box 124"/>
              <p:cNvSpPr txBox="1">
                <a:spLocks noChangeArrowheads="1"/>
              </p:cNvSpPr>
              <p:nvPr/>
            </p:nvSpPr>
            <p:spPr bwMode="auto">
              <a:xfrm>
                <a:off x="135" y="2904"/>
                <a:ext cx="45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2000" b="1" i="0" dirty="0">
                    <a:latin typeface="Arial" pitchFamily="34" charset="0"/>
                  </a:rPr>
                  <a:t>CLK</a:t>
                </a:r>
              </a:p>
            </p:txBody>
          </p:sp>
        </p:grpSp>
        <p:sp>
          <p:nvSpPr>
            <p:cNvPr id="57" name="Line 128"/>
            <p:cNvSpPr>
              <a:spLocks noChangeShapeType="1"/>
            </p:cNvSpPr>
            <p:nvPr/>
          </p:nvSpPr>
          <p:spPr bwMode="auto">
            <a:xfrm>
              <a:off x="1589" y="3410"/>
              <a:ext cx="0" cy="19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8" name="TextBox 87"/>
          <p:cNvSpPr txBox="1"/>
          <p:nvPr/>
        </p:nvSpPr>
        <p:spPr>
          <a:xfrm>
            <a:off x="1447800" y="3994147"/>
            <a:ext cx="2362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20 74LS192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框图</a:t>
            </a:r>
          </a:p>
        </p:txBody>
      </p:sp>
      <p:sp>
        <p:nvSpPr>
          <p:cNvPr id="89" name="Line 112"/>
          <p:cNvSpPr>
            <a:spLocks noChangeShapeType="1"/>
          </p:cNvSpPr>
          <p:nvPr/>
        </p:nvSpPr>
        <p:spPr bwMode="auto">
          <a:xfrm flipH="1">
            <a:off x="3733800" y="2774947"/>
            <a:ext cx="2873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8" name="组合 102"/>
          <p:cNvGrpSpPr/>
          <p:nvPr/>
        </p:nvGrpSpPr>
        <p:grpSpPr>
          <a:xfrm>
            <a:off x="4648200" y="1657350"/>
            <a:ext cx="3464823" cy="2100003"/>
            <a:chOff x="4402138" y="1701490"/>
            <a:chExt cx="3464823" cy="2100003"/>
          </a:xfrm>
        </p:grpSpPr>
        <p:grpSp>
          <p:nvGrpSpPr>
            <p:cNvPr id="9" name="Group 82"/>
            <p:cNvGrpSpPr>
              <a:grpSpLocks/>
            </p:cNvGrpSpPr>
            <p:nvPr/>
          </p:nvGrpSpPr>
          <p:grpSpPr bwMode="auto">
            <a:xfrm>
              <a:off x="4402138" y="1701490"/>
              <a:ext cx="3464823" cy="2100003"/>
              <a:chOff x="2925" y="1162"/>
              <a:chExt cx="2416" cy="1588"/>
            </a:xfrm>
          </p:grpSpPr>
          <p:grpSp>
            <p:nvGrpSpPr>
              <p:cNvPr id="10" name="Group 83"/>
              <p:cNvGrpSpPr>
                <a:grpSpLocks/>
              </p:cNvGrpSpPr>
              <p:nvPr/>
            </p:nvGrpSpPr>
            <p:grpSpPr bwMode="auto">
              <a:xfrm>
                <a:off x="2925" y="1525"/>
                <a:ext cx="454" cy="317"/>
                <a:chOff x="1746" y="3385"/>
                <a:chExt cx="454" cy="317"/>
              </a:xfrm>
            </p:grpSpPr>
            <p:sp>
              <p:nvSpPr>
                <p:cNvPr id="101" name="AutoShape 84"/>
                <p:cNvSpPr>
                  <a:spLocks noChangeArrowheads="1"/>
                </p:cNvSpPr>
                <p:nvPr/>
              </p:nvSpPr>
              <p:spPr bwMode="auto">
                <a:xfrm>
                  <a:off x="1791" y="3385"/>
                  <a:ext cx="318" cy="317"/>
                </a:xfrm>
                <a:prstGeom prst="flowChartConnector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4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02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1746" y="3430"/>
                  <a:ext cx="45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sz="1400">
                      <a:solidFill>
                        <a:srgbClr val="FF0000"/>
                      </a:solidFill>
                      <a:effectLst/>
                      <a:latin typeface="Arial" charset="0"/>
                    </a:rPr>
                    <a:t>0000</a:t>
                  </a:r>
                </a:p>
              </p:txBody>
            </p:sp>
          </p:grpSp>
          <p:grpSp>
            <p:nvGrpSpPr>
              <p:cNvPr id="12" name="Group 86"/>
              <p:cNvGrpSpPr>
                <a:grpSpLocks/>
              </p:cNvGrpSpPr>
              <p:nvPr/>
            </p:nvGrpSpPr>
            <p:grpSpPr bwMode="auto">
              <a:xfrm>
                <a:off x="3832" y="1525"/>
                <a:ext cx="454" cy="317"/>
                <a:chOff x="1746" y="3385"/>
                <a:chExt cx="454" cy="317"/>
              </a:xfrm>
            </p:grpSpPr>
            <p:sp>
              <p:nvSpPr>
                <p:cNvPr id="99" name="AutoShape 87"/>
                <p:cNvSpPr>
                  <a:spLocks noChangeArrowheads="1"/>
                </p:cNvSpPr>
                <p:nvPr/>
              </p:nvSpPr>
              <p:spPr bwMode="auto">
                <a:xfrm>
                  <a:off x="1791" y="3385"/>
                  <a:ext cx="318" cy="317"/>
                </a:xfrm>
                <a:prstGeom prst="flowChartConnector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4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00" name="Text Box 88"/>
                <p:cNvSpPr txBox="1">
                  <a:spLocks noChangeArrowheads="1"/>
                </p:cNvSpPr>
                <p:nvPr/>
              </p:nvSpPr>
              <p:spPr bwMode="auto">
                <a:xfrm>
                  <a:off x="1746" y="3430"/>
                  <a:ext cx="45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kumimoji="0" lang="en-US" altLang="zh-CN" sz="1400">
                      <a:solidFill>
                        <a:srgbClr val="FF0000"/>
                      </a:solidFill>
                      <a:effectLst/>
                      <a:latin typeface="Arial" charset="0"/>
                    </a:rPr>
                    <a:t>0010</a:t>
                  </a:r>
                </a:p>
              </p:txBody>
            </p:sp>
          </p:grpSp>
          <p:grpSp>
            <p:nvGrpSpPr>
              <p:cNvPr id="13" name="Group 89"/>
              <p:cNvGrpSpPr>
                <a:grpSpLocks/>
              </p:cNvGrpSpPr>
              <p:nvPr/>
            </p:nvGrpSpPr>
            <p:grpSpPr bwMode="auto">
              <a:xfrm>
                <a:off x="3378" y="1525"/>
                <a:ext cx="454" cy="317"/>
                <a:chOff x="1746" y="3385"/>
                <a:chExt cx="454" cy="317"/>
              </a:xfrm>
            </p:grpSpPr>
            <p:sp>
              <p:nvSpPr>
                <p:cNvPr id="97" name="AutoShape 90"/>
                <p:cNvSpPr>
                  <a:spLocks noChangeArrowheads="1"/>
                </p:cNvSpPr>
                <p:nvPr/>
              </p:nvSpPr>
              <p:spPr bwMode="auto">
                <a:xfrm>
                  <a:off x="1791" y="3385"/>
                  <a:ext cx="318" cy="317"/>
                </a:xfrm>
                <a:prstGeom prst="flowChartConnector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4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98" name="Text Box 91"/>
                <p:cNvSpPr txBox="1">
                  <a:spLocks noChangeArrowheads="1"/>
                </p:cNvSpPr>
                <p:nvPr/>
              </p:nvSpPr>
              <p:spPr bwMode="auto">
                <a:xfrm>
                  <a:off x="1746" y="3430"/>
                  <a:ext cx="45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kumimoji="0" lang="en-US" altLang="zh-CN" sz="1400" dirty="0">
                      <a:solidFill>
                        <a:srgbClr val="FF0000"/>
                      </a:solidFill>
                      <a:effectLst/>
                      <a:latin typeface="Arial" charset="0"/>
                    </a:rPr>
                    <a:t>0001</a:t>
                  </a:r>
                </a:p>
              </p:txBody>
            </p:sp>
          </p:grpSp>
          <p:grpSp>
            <p:nvGrpSpPr>
              <p:cNvPr id="14" name="Group 92"/>
              <p:cNvGrpSpPr>
                <a:grpSpLocks/>
              </p:cNvGrpSpPr>
              <p:nvPr/>
            </p:nvGrpSpPr>
            <p:grpSpPr bwMode="auto">
              <a:xfrm>
                <a:off x="4286" y="2433"/>
                <a:ext cx="454" cy="317"/>
                <a:chOff x="1746" y="3385"/>
                <a:chExt cx="454" cy="317"/>
              </a:xfrm>
            </p:grpSpPr>
            <p:sp>
              <p:nvSpPr>
                <p:cNvPr id="95" name="AutoShape 93"/>
                <p:cNvSpPr>
                  <a:spLocks noChangeArrowheads="1"/>
                </p:cNvSpPr>
                <p:nvPr/>
              </p:nvSpPr>
              <p:spPr bwMode="auto">
                <a:xfrm>
                  <a:off x="1791" y="3385"/>
                  <a:ext cx="318" cy="317"/>
                </a:xfrm>
                <a:prstGeom prst="flowChartConnector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4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96" name="Text Box 94"/>
                <p:cNvSpPr txBox="1">
                  <a:spLocks noChangeArrowheads="1"/>
                </p:cNvSpPr>
                <p:nvPr/>
              </p:nvSpPr>
              <p:spPr bwMode="auto">
                <a:xfrm>
                  <a:off x="1746" y="3430"/>
                  <a:ext cx="45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kumimoji="0" lang="en-US" altLang="zh-CN" sz="1400">
                      <a:solidFill>
                        <a:srgbClr val="FF0000"/>
                      </a:solidFill>
                      <a:effectLst/>
                      <a:latin typeface="Arial" charset="0"/>
                    </a:rPr>
                    <a:t>0101</a:t>
                  </a:r>
                </a:p>
              </p:txBody>
            </p:sp>
          </p:grpSp>
          <p:grpSp>
            <p:nvGrpSpPr>
              <p:cNvPr id="15" name="Group 95"/>
              <p:cNvGrpSpPr>
                <a:grpSpLocks/>
              </p:cNvGrpSpPr>
              <p:nvPr/>
            </p:nvGrpSpPr>
            <p:grpSpPr bwMode="auto">
              <a:xfrm>
                <a:off x="4286" y="1979"/>
                <a:ext cx="454" cy="317"/>
                <a:chOff x="1746" y="3385"/>
                <a:chExt cx="454" cy="317"/>
              </a:xfrm>
            </p:grpSpPr>
            <p:sp>
              <p:nvSpPr>
                <p:cNvPr id="93" name="AutoShape 96"/>
                <p:cNvSpPr>
                  <a:spLocks noChangeArrowheads="1"/>
                </p:cNvSpPr>
                <p:nvPr/>
              </p:nvSpPr>
              <p:spPr bwMode="auto">
                <a:xfrm>
                  <a:off x="1791" y="3385"/>
                  <a:ext cx="318" cy="317"/>
                </a:xfrm>
                <a:prstGeom prst="flowChartConnector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4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94" name="Text Box 97"/>
                <p:cNvSpPr txBox="1">
                  <a:spLocks noChangeArrowheads="1"/>
                </p:cNvSpPr>
                <p:nvPr/>
              </p:nvSpPr>
              <p:spPr bwMode="auto">
                <a:xfrm>
                  <a:off x="1746" y="3430"/>
                  <a:ext cx="45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kumimoji="0" lang="en-US" altLang="zh-CN" sz="1400">
                      <a:solidFill>
                        <a:srgbClr val="FF0000"/>
                      </a:solidFill>
                      <a:effectLst/>
                      <a:latin typeface="Arial" charset="0"/>
                    </a:rPr>
                    <a:t>0100</a:t>
                  </a:r>
                </a:p>
              </p:txBody>
            </p:sp>
          </p:grpSp>
          <p:grpSp>
            <p:nvGrpSpPr>
              <p:cNvPr id="16" name="Group 98"/>
              <p:cNvGrpSpPr>
                <a:grpSpLocks/>
              </p:cNvGrpSpPr>
              <p:nvPr/>
            </p:nvGrpSpPr>
            <p:grpSpPr bwMode="auto">
              <a:xfrm>
                <a:off x="4285" y="1525"/>
                <a:ext cx="454" cy="317"/>
                <a:chOff x="1746" y="3385"/>
                <a:chExt cx="454" cy="317"/>
              </a:xfrm>
            </p:grpSpPr>
            <p:sp>
              <p:nvSpPr>
                <p:cNvPr id="91" name="AutoShape 99"/>
                <p:cNvSpPr>
                  <a:spLocks noChangeArrowheads="1"/>
                </p:cNvSpPr>
                <p:nvPr/>
              </p:nvSpPr>
              <p:spPr bwMode="auto">
                <a:xfrm>
                  <a:off x="1791" y="3385"/>
                  <a:ext cx="318" cy="317"/>
                </a:xfrm>
                <a:prstGeom prst="flowChartConnector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4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92" name="Text Box 100"/>
                <p:cNvSpPr txBox="1">
                  <a:spLocks noChangeArrowheads="1"/>
                </p:cNvSpPr>
                <p:nvPr/>
              </p:nvSpPr>
              <p:spPr bwMode="auto">
                <a:xfrm>
                  <a:off x="1746" y="3430"/>
                  <a:ext cx="45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kumimoji="0" lang="en-US" altLang="zh-CN" sz="1400">
                      <a:solidFill>
                        <a:srgbClr val="FF0000"/>
                      </a:solidFill>
                      <a:effectLst/>
                      <a:latin typeface="Arial" charset="0"/>
                    </a:rPr>
                    <a:t>0011</a:t>
                  </a:r>
                </a:p>
              </p:txBody>
            </p:sp>
          </p:grpSp>
          <p:grpSp>
            <p:nvGrpSpPr>
              <p:cNvPr id="17" name="Group 119"/>
              <p:cNvGrpSpPr>
                <a:grpSpLocks/>
              </p:cNvGrpSpPr>
              <p:nvPr/>
            </p:nvGrpSpPr>
            <p:grpSpPr bwMode="auto">
              <a:xfrm>
                <a:off x="2925" y="2432"/>
                <a:ext cx="454" cy="317"/>
                <a:chOff x="1746" y="3385"/>
                <a:chExt cx="454" cy="317"/>
              </a:xfrm>
            </p:grpSpPr>
            <p:sp>
              <p:nvSpPr>
                <p:cNvPr id="74" name="AutoShape 120"/>
                <p:cNvSpPr>
                  <a:spLocks noChangeArrowheads="1"/>
                </p:cNvSpPr>
                <p:nvPr/>
              </p:nvSpPr>
              <p:spPr bwMode="auto">
                <a:xfrm>
                  <a:off x="1791" y="3385"/>
                  <a:ext cx="318" cy="317"/>
                </a:xfrm>
                <a:prstGeom prst="flowChartConnector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4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90" name="Text Box 121"/>
                <p:cNvSpPr txBox="1">
                  <a:spLocks noChangeArrowheads="1"/>
                </p:cNvSpPr>
                <p:nvPr/>
              </p:nvSpPr>
              <p:spPr bwMode="auto">
                <a:xfrm>
                  <a:off x="1746" y="3430"/>
                  <a:ext cx="45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kumimoji="0" lang="en-US" altLang="zh-CN" sz="1400" dirty="0">
                      <a:solidFill>
                        <a:srgbClr val="FF0000"/>
                      </a:solidFill>
                      <a:effectLst/>
                      <a:latin typeface="Arial" charset="0"/>
                    </a:rPr>
                    <a:t>1000</a:t>
                  </a:r>
                </a:p>
              </p:txBody>
            </p:sp>
          </p:grpSp>
          <p:grpSp>
            <p:nvGrpSpPr>
              <p:cNvPr id="18" name="Group 122"/>
              <p:cNvGrpSpPr>
                <a:grpSpLocks/>
              </p:cNvGrpSpPr>
              <p:nvPr/>
            </p:nvGrpSpPr>
            <p:grpSpPr bwMode="auto">
              <a:xfrm>
                <a:off x="2925" y="1979"/>
                <a:ext cx="454" cy="317"/>
                <a:chOff x="1746" y="3385"/>
                <a:chExt cx="454" cy="317"/>
              </a:xfrm>
            </p:grpSpPr>
            <p:sp>
              <p:nvSpPr>
                <p:cNvPr id="72" name="AutoShape 123"/>
                <p:cNvSpPr>
                  <a:spLocks noChangeArrowheads="1"/>
                </p:cNvSpPr>
                <p:nvPr/>
              </p:nvSpPr>
              <p:spPr bwMode="auto">
                <a:xfrm>
                  <a:off x="1791" y="3385"/>
                  <a:ext cx="318" cy="317"/>
                </a:xfrm>
                <a:prstGeom prst="flowChartConnector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4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73" name="Text Box 124"/>
                <p:cNvSpPr txBox="1">
                  <a:spLocks noChangeArrowheads="1"/>
                </p:cNvSpPr>
                <p:nvPr/>
              </p:nvSpPr>
              <p:spPr bwMode="auto">
                <a:xfrm>
                  <a:off x="1746" y="3430"/>
                  <a:ext cx="45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kumimoji="0" lang="en-US" altLang="zh-CN" sz="1400">
                      <a:solidFill>
                        <a:srgbClr val="FF0000"/>
                      </a:solidFill>
                      <a:effectLst/>
                      <a:latin typeface="Arial" charset="0"/>
                    </a:rPr>
                    <a:t>1001</a:t>
                  </a:r>
                </a:p>
              </p:txBody>
            </p:sp>
          </p:grpSp>
          <p:grpSp>
            <p:nvGrpSpPr>
              <p:cNvPr id="19" name="Group 125"/>
              <p:cNvGrpSpPr>
                <a:grpSpLocks/>
              </p:cNvGrpSpPr>
              <p:nvPr/>
            </p:nvGrpSpPr>
            <p:grpSpPr bwMode="auto">
              <a:xfrm>
                <a:off x="3379" y="2432"/>
                <a:ext cx="454" cy="317"/>
                <a:chOff x="1746" y="3385"/>
                <a:chExt cx="454" cy="317"/>
              </a:xfrm>
            </p:grpSpPr>
            <p:sp>
              <p:nvSpPr>
                <p:cNvPr id="69" name="AutoShape 126"/>
                <p:cNvSpPr>
                  <a:spLocks noChangeArrowheads="1"/>
                </p:cNvSpPr>
                <p:nvPr/>
              </p:nvSpPr>
              <p:spPr bwMode="auto">
                <a:xfrm>
                  <a:off x="1791" y="3385"/>
                  <a:ext cx="318" cy="317"/>
                </a:xfrm>
                <a:prstGeom prst="flowChartConnector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4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70" name="Text Box 127"/>
                <p:cNvSpPr txBox="1">
                  <a:spLocks noChangeArrowheads="1"/>
                </p:cNvSpPr>
                <p:nvPr/>
              </p:nvSpPr>
              <p:spPr bwMode="auto">
                <a:xfrm>
                  <a:off x="1746" y="3430"/>
                  <a:ext cx="45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kumimoji="0" lang="en-US" altLang="zh-CN" sz="1400">
                      <a:solidFill>
                        <a:srgbClr val="FF0000"/>
                      </a:solidFill>
                      <a:effectLst/>
                      <a:latin typeface="Arial" charset="0"/>
                    </a:rPr>
                    <a:t>0111</a:t>
                  </a:r>
                </a:p>
              </p:txBody>
            </p:sp>
          </p:grpSp>
          <p:grpSp>
            <p:nvGrpSpPr>
              <p:cNvPr id="20" name="Group 128"/>
              <p:cNvGrpSpPr>
                <a:grpSpLocks/>
              </p:cNvGrpSpPr>
              <p:nvPr/>
            </p:nvGrpSpPr>
            <p:grpSpPr bwMode="auto">
              <a:xfrm>
                <a:off x="3833" y="2433"/>
                <a:ext cx="454" cy="317"/>
                <a:chOff x="1746" y="3385"/>
                <a:chExt cx="454" cy="317"/>
              </a:xfrm>
            </p:grpSpPr>
            <p:sp>
              <p:nvSpPr>
                <p:cNvPr id="65" name="AutoShape 129"/>
                <p:cNvSpPr>
                  <a:spLocks noChangeArrowheads="1"/>
                </p:cNvSpPr>
                <p:nvPr/>
              </p:nvSpPr>
              <p:spPr bwMode="auto">
                <a:xfrm>
                  <a:off x="1791" y="3385"/>
                  <a:ext cx="318" cy="317"/>
                </a:xfrm>
                <a:prstGeom prst="flowChartConnector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4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66" name="Text Box 130"/>
                <p:cNvSpPr txBox="1">
                  <a:spLocks noChangeArrowheads="1"/>
                </p:cNvSpPr>
                <p:nvPr/>
              </p:nvSpPr>
              <p:spPr bwMode="auto">
                <a:xfrm>
                  <a:off x="1746" y="3430"/>
                  <a:ext cx="45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kumimoji="0" lang="en-US" altLang="zh-CN" sz="1400">
                      <a:solidFill>
                        <a:srgbClr val="FF0000"/>
                      </a:solidFill>
                      <a:effectLst/>
                      <a:latin typeface="Arial" charset="0"/>
                    </a:rPr>
                    <a:t>0110</a:t>
                  </a:r>
                </a:p>
              </p:txBody>
            </p:sp>
          </p:grpSp>
          <p:sp>
            <p:nvSpPr>
              <p:cNvPr id="48" name="Line 131"/>
              <p:cNvSpPr>
                <a:spLocks noChangeShapeType="1"/>
              </p:cNvSpPr>
              <p:nvPr/>
            </p:nvSpPr>
            <p:spPr bwMode="auto">
              <a:xfrm>
                <a:off x="3288" y="1661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49" name="Line 132"/>
              <p:cNvSpPr>
                <a:spLocks noChangeShapeType="1"/>
              </p:cNvSpPr>
              <p:nvPr/>
            </p:nvSpPr>
            <p:spPr bwMode="auto">
              <a:xfrm>
                <a:off x="3742" y="1661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50" name="Line 134"/>
              <p:cNvSpPr>
                <a:spLocks noChangeShapeType="1"/>
              </p:cNvSpPr>
              <p:nvPr/>
            </p:nvSpPr>
            <p:spPr bwMode="auto">
              <a:xfrm rot="16200000" flipH="1">
                <a:off x="4400" y="2365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51" name="Line 135"/>
              <p:cNvSpPr>
                <a:spLocks noChangeShapeType="1"/>
              </p:cNvSpPr>
              <p:nvPr/>
            </p:nvSpPr>
            <p:spPr bwMode="auto">
              <a:xfrm rot="-5400000">
                <a:off x="3061" y="1911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52" name="Line 136"/>
              <p:cNvSpPr>
                <a:spLocks noChangeShapeType="1"/>
              </p:cNvSpPr>
              <p:nvPr/>
            </p:nvSpPr>
            <p:spPr bwMode="auto">
              <a:xfrm rot="-5400000">
                <a:off x="3061" y="2365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53" name="Line 139"/>
              <p:cNvSpPr>
                <a:spLocks noChangeShapeType="1"/>
              </p:cNvSpPr>
              <p:nvPr/>
            </p:nvSpPr>
            <p:spPr bwMode="auto">
              <a:xfrm flipH="1">
                <a:off x="3288" y="2614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54" name="Line 140"/>
              <p:cNvSpPr>
                <a:spLocks noChangeShapeType="1"/>
              </p:cNvSpPr>
              <p:nvPr/>
            </p:nvSpPr>
            <p:spPr bwMode="auto">
              <a:xfrm flipH="1">
                <a:off x="3742" y="2614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56" name="Line 141"/>
              <p:cNvSpPr>
                <a:spLocks noChangeShapeType="1"/>
              </p:cNvSpPr>
              <p:nvPr/>
            </p:nvSpPr>
            <p:spPr bwMode="auto">
              <a:xfrm flipH="1">
                <a:off x="4195" y="2614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58" name="Line 142"/>
              <p:cNvSpPr>
                <a:spLocks noChangeShapeType="1"/>
              </p:cNvSpPr>
              <p:nvPr/>
            </p:nvSpPr>
            <p:spPr bwMode="auto">
              <a:xfrm>
                <a:off x="4195" y="1661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59" name="Line 144"/>
              <p:cNvSpPr>
                <a:spLocks noChangeShapeType="1"/>
              </p:cNvSpPr>
              <p:nvPr/>
            </p:nvSpPr>
            <p:spPr bwMode="auto">
              <a:xfrm rot="5400000" flipV="1">
                <a:off x="4400" y="1911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64" name="AutoShape 146"/>
              <p:cNvSpPr>
                <a:spLocks noChangeArrowheads="1"/>
              </p:cNvSpPr>
              <p:nvPr/>
            </p:nvSpPr>
            <p:spPr bwMode="auto">
              <a:xfrm>
                <a:off x="4797" y="1162"/>
                <a:ext cx="544" cy="544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</p:grpSp>
        <p:graphicFrame>
          <p:nvGraphicFramePr>
            <p:cNvPr id="369666" name="Object 2"/>
            <p:cNvGraphicFramePr>
              <a:graphicFrameLocks noChangeAspect="1"/>
            </p:cNvGraphicFramePr>
            <p:nvPr/>
          </p:nvGraphicFramePr>
          <p:xfrm>
            <a:off x="7086600" y="1962150"/>
            <a:ext cx="7620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690" name="Equation" r:id="rId2" imgW="1168200" imgH="330120" progId="Equation.DSMT4">
                    <p:embed/>
                  </p:oleObj>
                </mc:Choice>
                <mc:Fallback>
                  <p:oleObj name="Equation" r:id="rId2" imgW="1168200" imgH="330120" progId="Equation.DSMT4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86600" y="1962150"/>
                          <a:ext cx="762000" cy="215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104" name="直接箭头连接符 103"/>
          <p:cNvCxnSpPr>
            <a:endCxn id="91" idx="3"/>
          </p:cNvCxnSpPr>
          <p:nvPr/>
        </p:nvCxnSpPr>
        <p:spPr>
          <a:xfrm flipV="1">
            <a:off x="5181600" y="2495204"/>
            <a:ext cx="1548319" cy="457546"/>
          </a:xfrm>
          <a:prstGeom prst="straightConnector1">
            <a:avLst/>
          </a:prstGeom>
          <a:ln w="38100">
            <a:solidFill>
              <a:schemeClr val="accent6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609600" y="2952750"/>
            <a:ext cx="38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05" name="Line 36"/>
          <p:cNvSpPr>
            <a:spLocks noChangeShapeType="1"/>
          </p:cNvSpPr>
          <p:nvPr/>
        </p:nvSpPr>
        <p:spPr bwMode="auto">
          <a:xfrm flipV="1">
            <a:off x="914400" y="1718436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6" name="Line 37"/>
          <p:cNvSpPr>
            <a:spLocks noChangeShapeType="1"/>
          </p:cNvSpPr>
          <p:nvPr/>
        </p:nvSpPr>
        <p:spPr bwMode="auto">
          <a:xfrm>
            <a:off x="914400" y="1725993"/>
            <a:ext cx="30956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Line 38"/>
          <p:cNvSpPr>
            <a:spLocks noChangeShapeType="1"/>
          </p:cNvSpPr>
          <p:nvPr/>
        </p:nvSpPr>
        <p:spPr bwMode="auto">
          <a:xfrm>
            <a:off x="4010025" y="1711574"/>
            <a:ext cx="0" cy="7921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8" name="Line 128"/>
          <p:cNvSpPr>
            <a:spLocks noChangeShapeType="1"/>
          </p:cNvSpPr>
          <p:nvPr/>
        </p:nvSpPr>
        <p:spPr bwMode="auto">
          <a:xfrm>
            <a:off x="2156271" y="3257550"/>
            <a:ext cx="0" cy="3095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Line 128"/>
          <p:cNvSpPr>
            <a:spLocks noChangeShapeType="1"/>
          </p:cNvSpPr>
          <p:nvPr/>
        </p:nvSpPr>
        <p:spPr bwMode="auto">
          <a:xfrm>
            <a:off x="2499486" y="3257550"/>
            <a:ext cx="0" cy="3095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" name="Line 128"/>
          <p:cNvSpPr>
            <a:spLocks noChangeShapeType="1"/>
          </p:cNvSpPr>
          <p:nvPr/>
        </p:nvSpPr>
        <p:spPr bwMode="auto">
          <a:xfrm>
            <a:off x="3124200" y="3257550"/>
            <a:ext cx="0" cy="3095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TextBox 133"/>
          <p:cNvSpPr txBox="1"/>
          <p:nvPr/>
        </p:nvSpPr>
        <p:spPr>
          <a:xfrm>
            <a:off x="1988757" y="3562350"/>
            <a:ext cx="38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2338899" y="3562350"/>
            <a:ext cx="38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2651886" y="3562350"/>
            <a:ext cx="38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2971800" y="3562350"/>
            <a:ext cx="38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aphicFrame>
        <p:nvGraphicFramePr>
          <p:cNvPr id="43010" name="Object 96"/>
          <p:cNvGraphicFramePr>
            <a:graphicFrameLocks noChangeAspect="1"/>
          </p:cNvGraphicFramePr>
          <p:nvPr/>
        </p:nvGraphicFramePr>
        <p:xfrm>
          <a:off x="333375" y="2649538"/>
          <a:ext cx="7656513" cy="229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42" name="Visio" r:id="rId2" imgW="3981611" imgH="1221774" progId="Visio.Drawing.11">
                  <p:embed/>
                </p:oleObj>
              </mc:Choice>
              <mc:Fallback>
                <p:oleObj name="Visio" r:id="rId2" imgW="3981611" imgH="1221774" progId="Visio.Drawing.11">
                  <p:embed/>
                  <p:pic>
                    <p:nvPicPr>
                      <p:cNvPr id="0" name="Object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375" y="2649538"/>
                        <a:ext cx="7656513" cy="229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3662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构建任意模值的计数器：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N&gt;M  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同步预置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2800" y="4552950"/>
            <a:ext cx="2362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21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时序图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123950"/>
            <a:ext cx="3276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加法计数器异步预置值</a:t>
            </a:r>
            <a:endParaRPr lang="en-US" altLang="zh-CN" sz="20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    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      N-M-1</a:t>
            </a:r>
            <a:endParaRPr lang="zh-CN" altLang="en-US" sz="20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68643" name="Picture 3" descr="C:\Users\hfutliujun\AppData\Roaming\Tencent\Users\350654676\QQ\WinTemp\RichOle\2PD0U`E]P6~GQ6{GRCESC6E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" y="971550"/>
            <a:ext cx="4762500" cy="1361356"/>
          </a:xfrm>
          <a:prstGeom prst="rect">
            <a:avLst/>
          </a:prstGeom>
          <a:noFill/>
        </p:spPr>
      </p:pic>
      <p:sp>
        <p:nvSpPr>
          <p:cNvPr id="11" name="矩形 10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3662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构建任意模值的计数器：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N&gt;M  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异步预置法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381000" y="1047750"/>
            <a:ext cx="845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：用可逆模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10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计数器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74LS192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构成模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6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的减法计数器。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74LS192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预置功能为异步步预置。</a:t>
            </a:r>
            <a:endParaRPr kumimoji="0" lang="zh-CN" altLang="en-US" sz="1600" b="1" i="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Group 131"/>
          <p:cNvGrpSpPr>
            <a:grpSpLocks/>
          </p:cNvGrpSpPr>
          <p:nvPr/>
        </p:nvGrpSpPr>
        <p:grpSpPr bwMode="auto">
          <a:xfrm>
            <a:off x="152400" y="1962150"/>
            <a:ext cx="3852863" cy="1600201"/>
            <a:chOff x="-81" y="2597"/>
            <a:chExt cx="2427" cy="1008"/>
          </a:xfrm>
        </p:grpSpPr>
        <p:grpSp>
          <p:nvGrpSpPr>
            <p:cNvPr id="3" name="Group 94"/>
            <p:cNvGrpSpPr>
              <a:grpSpLocks/>
            </p:cNvGrpSpPr>
            <p:nvPr/>
          </p:nvGrpSpPr>
          <p:grpSpPr bwMode="auto">
            <a:xfrm>
              <a:off x="577" y="2597"/>
              <a:ext cx="1633" cy="851"/>
              <a:chOff x="793" y="2728"/>
              <a:chExt cx="1633" cy="851"/>
            </a:xfrm>
          </p:grpSpPr>
          <p:sp>
            <p:nvSpPr>
              <p:cNvPr id="76" name="Text Box 95"/>
              <p:cNvSpPr txBox="1">
                <a:spLocks noChangeArrowheads="1"/>
              </p:cNvSpPr>
              <p:nvPr/>
            </p:nvSpPr>
            <p:spPr bwMode="auto">
              <a:xfrm>
                <a:off x="1108" y="2728"/>
                <a:ext cx="1318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2000" b="1" i="0">
                    <a:latin typeface="Arial" pitchFamily="34" charset="0"/>
                  </a:rPr>
                  <a:t>Q</a:t>
                </a:r>
                <a:r>
                  <a:rPr kumimoji="0" lang="en-US" altLang="zh-CN" sz="2000" b="1" i="0" baseline="-2000">
                    <a:latin typeface="Arial" pitchFamily="34" charset="0"/>
                  </a:rPr>
                  <a:t>D</a:t>
                </a:r>
                <a:r>
                  <a:rPr kumimoji="0" lang="en-US" altLang="zh-CN" sz="2000" b="1" i="0">
                    <a:latin typeface="Arial" pitchFamily="34" charset="0"/>
                  </a:rPr>
                  <a:t> Q</a:t>
                </a:r>
                <a:r>
                  <a:rPr kumimoji="0" lang="en-US" altLang="zh-CN" sz="2000" b="1" i="0" baseline="-2000">
                    <a:latin typeface="Arial" pitchFamily="34" charset="0"/>
                  </a:rPr>
                  <a:t>C</a:t>
                </a:r>
                <a:r>
                  <a:rPr kumimoji="0" lang="en-US" altLang="zh-CN" sz="2000" b="1" i="0">
                    <a:latin typeface="Arial" pitchFamily="34" charset="0"/>
                  </a:rPr>
                  <a:t> Q</a:t>
                </a:r>
                <a:r>
                  <a:rPr kumimoji="0" lang="en-US" altLang="zh-CN" sz="2000" b="1" i="0" baseline="-2000">
                    <a:latin typeface="Arial" pitchFamily="34" charset="0"/>
                  </a:rPr>
                  <a:t>B</a:t>
                </a:r>
                <a:r>
                  <a:rPr kumimoji="0" lang="en-US" altLang="zh-CN" sz="2000" b="1" i="0">
                    <a:latin typeface="Arial" pitchFamily="34" charset="0"/>
                  </a:rPr>
                  <a:t> Q</a:t>
                </a:r>
                <a:r>
                  <a:rPr kumimoji="0" lang="en-US" altLang="zh-CN" sz="2000" b="1" i="0" baseline="-2000">
                    <a:latin typeface="Arial" pitchFamily="34" charset="0"/>
                  </a:rPr>
                  <a:t>A</a:t>
                </a:r>
              </a:p>
            </p:txBody>
          </p:sp>
          <p:sp>
            <p:nvSpPr>
              <p:cNvPr id="77" name="Rectangle 96"/>
              <p:cNvSpPr>
                <a:spLocks noChangeArrowheads="1"/>
              </p:cNvSpPr>
              <p:nvPr/>
            </p:nvSpPr>
            <p:spPr bwMode="auto">
              <a:xfrm>
                <a:off x="793" y="2728"/>
                <a:ext cx="1588" cy="81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78" name="Text Box 97"/>
              <p:cNvSpPr txBox="1">
                <a:spLocks noChangeArrowheads="1"/>
              </p:cNvSpPr>
              <p:nvPr/>
            </p:nvSpPr>
            <p:spPr bwMode="auto">
              <a:xfrm>
                <a:off x="2018" y="2956"/>
                <a:ext cx="408" cy="4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2000" b="1" i="0">
                    <a:latin typeface="Arial" pitchFamily="34" charset="0"/>
                  </a:rPr>
                  <a:t>COBO</a:t>
                </a:r>
              </a:p>
            </p:txBody>
          </p:sp>
          <p:sp>
            <p:nvSpPr>
              <p:cNvPr id="79" name="Text Box 98"/>
              <p:cNvSpPr txBox="1">
                <a:spLocks noChangeArrowheads="1"/>
              </p:cNvSpPr>
              <p:nvPr/>
            </p:nvSpPr>
            <p:spPr bwMode="auto">
              <a:xfrm>
                <a:off x="883" y="3329"/>
                <a:ext cx="1348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2000" b="1" i="0">
                    <a:latin typeface="Arial" pitchFamily="34" charset="0"/>
                  </a:rPr>
                  <a:t>CR    D  C  B  A</a:t>
                </a:r>
              </a:p>
            </p:txBody>
          </p:sp>
          <p:sp>
            <p:nvSpPr>
              <p:cNvPr id="80" name="Line 99"/>
              <p:cNvSpPr>
                <a:spLocks noChangeShapeType="1"/>
              </p:cNvSpPr>
              <p:nvPr/>
            </p:nvSpPr>
            <p:spPr bwMode="auto">
              <a:xfrm>
                <a:off x="2108" y="2991"/>
                <a:ext cx="18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" name="Text Box 100"/>
              <p:cNvSpPr txBox="1">
                <a:spLocks noChangeArrowheads="1"/>
              </p:cNvSpPr>
              <p:nvPr/>
            </p:nvSpPr>
            <p:spPr bwMode="auto">
              <a:xfrm>
                <a:off x="885" y="2935"/>
                <a:ext cx="499" cy="4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2000" b="1" i="0">
                    <a:latin typeface="Arial" pitchFamily="34" charset="0"/>
                  </a:rPr>
                  <a:t>CP</a:t>
                </a:r>
                <a:r>
                  <a:rPr kumimoji="0" lang="en-US" altLang="zh-CN" sz="2000" b="1" i="0" baseline="-2000">
                    <a:latin typeface="Arial" pitchFamily="34" charset="0"/>
                  </a:rPr>
                  <a:t>U</a:t>
                </a:r>
                <a:r>
                  <a:rPr kumimoji="0" lang="en-US" altLang="zh-CN" sz="2000" b="1" i="0">
                    <a:latin typeface="Arial" pitchFamily="34" charset="0"/>
                  </a:rPr>
                  <a:t>CP</a:t>
                </a:r>
                <a:r>
                  <a:rPr kumimoji="0" lang="en-US" altLang="zh-CN" sz="2000" b="1" i="0" baseline="-2000">
                    <a:latin typeface="Arial" pitchFamily="34" charset="0"/>
                  </a:rPr>
                  <a:t>D</a:t>
                </a:r>
              </a:p>
            </p:txBody>
          </p:sp>
          <p:sp>
            <p:nvSpPr>
              <p:cNvPr id="82" name="AutoShape 101"/>
              <p:cNvSpPr>
                <a:spLocks noChangeArrowheads="1"/>
              </p:cNvSpPr>
              <p:nvPr/>
            </p:nvSpPr>
            <p:spPr bwMode="auto">
              <a:xfrm rot="5400000">
                <a:off x="776" y="3182"/>
                <a:ext cx="151" cy="117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83" name="Text Box 102"/>
              <p:cNvSpPr txBox="1">
                <a:spLocks noChangeArrowheads="1"/>
              </p:cNvSpPr>
              <p:nvPr/>
            </p:nvSpPr>
            <p:spPr bwMode="auto">
              <a:xfrm>
                <a:off x="1285" y="3022"/>
                <a:ext cx="1051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2000" b="1" i="0">
                    <a:latin typeface="Arial" pitchFamily="34" charset="0"/>
                  </a:rPr>
                  <a:t>74LS192</a:t>
                </a:r>
              </a:p>
            </p:txBody>
          </p:sp>
          <p:sp>
            <p:nvSpPr>
              <p:cNvPr id="84" name="AutoShape 103"/>
              <p:cNvSpPr>
                <a:spLocks noChangeArrowheads="1"/>
              </p:cNvSpPr>
              <p:nvPr/>
            </p:nvSpPr>
            <p:spPr bwMode="auto">
              <a:xfrm rot="5400000">
                <a:off x="781" y="2995"/>
                <a:ext cx="151" cy="117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85" name="Line 104"/>
              <p:cNvSpPr>
                <a:spLocks noChangeShapeType="1"/>
              </p:cNvSpPr>
              <p:nvPr/>
            </p:nvSpPr>
            <p:spPr bwMode="auto">
              <a:xfrm>
                <a:off x="851" y="2760"/>
                <a:ext cx="18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" name="Text Box 105"/>
              <p:cNvSpPr txBox="1">
                <a:spLocks noChangeArrowheads="1"/>
              </p:cNvSpPr>
              <p:nvPr/>
            </p:nvSpPr>
            <p:spPr bwMode="auto">
              <a:xfrm>
                <a:off x="798" y="2747"/>
                <a:ext cx="42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2000" b="1" i="0">
                    <a:latin typeface="Arial" pitchFamily="34" charset="0"/>
                  </a:rPr>
                  <a:t>LD</a:t>
                </a:r>
              </a:p>
            </p:txBody>
          </p:sp>
          <p:sp>
            <p:nvSpPr>
              <p:cNvPr id="87" name="Line 106"/>
              <p:cNvSpPr>
                <a:spLocks noChangeShapeType="1"/>
              </p:cNvSpPr>
              <p:nvPr/>
            </p:nvSpPr>
            <p:spPr bwMode="auto">
              <a:xfrm>
                <a:off x="2092" y="3185"/>
                <a:ext cx="18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" name="Group 107"/>
            <p:cNvGrpSpPr>
              <a:grpSpLocks/>
            </p:cNvGrpSpPr>
            <p:nvPr/>
          </p:nvGrpSpPr>
          <p:grpSpPr bwMode="auto">
            <a:xfrm>
              <a:off x="396" y="2709"/>
              <a:ext cx="1950" cy="227"/>
              <a:chOff x="612" y="2840"/>
              <a:chExt cx="1950" cy="227"/>
            </a:xfrm>
          </p:grpSpPr>
          <p:sp>
            <p:nvSpPr>
              <p:cNvPr id="71" name="Line 108"/>
              <p:cNvSpPr>
                <a:spLocks noChangeShapeType="1"/>
              </p:cNvSpPr>
              <p:nvPr/>
            </p:nvSpPr>
            <p:spPr bwMode="auto">
              <a:xfrm flipH="1">
                <a:off x="612" y="2840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" name="Line 112"/>
              <p:cNvSpPr>
                <a:spLocks noChangeShapeType="1"/>
              </p:cNvSpPr>
              <p:nvPr/>
            </p:nvSpPr>
            <p:spPr bwMode="auto">
              <a:xfrm flipH="1">
                <a:off x="2381" y="3067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3" name="Line 114"/>
            <p:cNvSpPr>
              <a:spLocks noChangeShapeType="1"/>
            </p:cNvSpPr>
            <p:nvPr/>
          </p:nvSpPr>
          <p:spPr bwMode="auto">
            <a:xfrm flipH="1">
              <a:off x="441" y="3344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" name="Group 122"/>
            <p:cNvGrpSpPr>
              <a:grpSpLocks/>
            </p:cNvGrpSpPr>
            <p:nvPr/>
          </p:nvGrpSpPr>
          <p:grpSpPr bwMode="auto">
            <a:xfrm>
              <a:off x="-81" y="2773"/>
              <a:ext cx="658" cy="250"/>
              <a:chOff x="135" y="2904"/>
              <a:chExt cx="658" cy="250"/>
            </a:xfrm>
          </p:grpSpPr>
          <p:sp>
            <p:nvSpPr>
              <p:cNvPr id="60" name="Line 123"/>
              <p:cNvSpPr>
                <a:spLocks noChangeShapeType="1"/>
              </p:cNvSpPr>
              <p:nvPr/>
            </p:nvSpPr>
            <p:spPr bwMode="auto">
              <a:xfrm flipH="1">
                <a:off x="567" y="3022"/>
                <a:ext cx="22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Text Box 124"/>
              <p:cNvSpPr txBox="1">
                <a:spLocks noChangeArrowheads="1"/>
              </p:cNvSpPr>
              <p:nvPr/>
            </p:nvSpPr>
            <p:spPr bwMode="auto">
              <a:xfrm>
                <a:off x="135" y="2904"/>
                <a:ext cx="45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2000" b="1" i="0" dirty="0">
                    <a:latin typeface="Arial" pitchFamily="34" charset="0"/>
                  </a:rPr>
                  <a:t>CLK</a:t>
                </a:r>
              </a:p>
            </p:txBody>
          </p:sp>
        </p:grpSp>
        <p:sp>
          <p:nvSpPr>
            <p:cNvPr id="57" name="Line 128"/>
            <p:cNvSpPr>
              <a:spLocks noChangeShapeType="1"/>
            </p:cNvSpPr>
            <p:nvPr/>
          </p:nvSpPr>
          <p:spPr bwMode="auto">
            <a:xfrm>
              <a:off x="1589" y="3410"/>
              <a:ext cx="0" cy="19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8" name="TextBox 87"/>
          <p:cNvSpPr txBox="1"/>
          <p:nvPr/>
        </p:nvSpPr>
        <p:spPr>
          <a:xfrm>
            <a:off x="1447800" y="3994147"/>
            <a:ext cx="2362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22 74LS192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框图</a:t>
            </a:r>
          </a:p>
        </p:txBody>
      </p:sp>
      <p:sp>
        <p:nvSpPr>
          <p:cNvPr id="89" name="Line 112"/>
          <p:cNvSpPr>
            <a:spLocks noChangeShapeType="1"/>
          </p:cNvSpPr>
          <p:nvPr/>
        </p:nvSpPr>
        <p:spPr bwMode="auto">
          <a:xfrm flipH="1">
            <a:off x="3733800" y="2774947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TextBox 102"/>
          <p:cNvSpPr txBox="1"/>
          <p:nvPr/>
        </p:nvSpPr>
        <p:spPr>
          <a:xfrm>
            <a:off x="609600" y="2952750"/>
            <a:ext cx="38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05" name="Line 36"/>
          <p:cNvSpPr>
            <a:spLocks noChangeShapeType="1"/>
          </p:cNvSpPr>
          <p:nvPr/>
        </p:nvSpPr>
        <p:spPr bwMode="auto">
          <a:xfrm flipV="1">
            <a:off x="914400" y="1718436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6" name="Line 37"/>
          <p:cNvSpPr>
            <a:spLocks noChangeShapeType="1"/>
          </p:cNvSpPr>
          <p:nvPr/>
        </p:nvSpPr>
        <p:spPr bwMode="auto">
          <a:xfrm>
            <a:off x="914400" y="1725993"/>
            <a:ext cx="3276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Line 38"/>
          <p:cNvSpPr>
            <a:spLocks noChangeShapeType="1"/>
          </p:cNvSpPr>
          <p:nvPr/>
        </p:nvSpPr>
        <p:spPr bwMode="auto">
          <a:xfrm>
            <a:off x="4191000" y="1733551"/>
            <a:ext cx="0" cy="104406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8" name="Line 128"/>
          <p:cNvSpPr>
            <a:spLocks noChangeShapeType="1"/>
          </p:cNvSpPr>
          <p:nvPr/>
        </p:nvSpPr>
        <p:spPr bwMode="auto">
          <a:xfrm>
            <a:off x="2156271" y="3257550"/>
            <a:ext cx="0" cy="3095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Line 128"/>
          <p:cNvSpPr>
            <a:spLocks noChangeShapeType="1"/>
          </p:cNvSpPr>
          <p:nvPr/>
        </p:nvSpPr>
        <p:spPr bwMode="auto">
          <a:xfrm>
            <a:off x="2499486" y="3257550"/>
            <a:ext cx="0" cy="3095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" name="Line 128"/>
          <p:cNvSpPr>
            <a:spLocks noChangeShapeType="1"/>
          </p:cNvSpPr>
          <p:nvPr/>
        </p:nvSpPr>
        <p:spPr bwMode="auto">
          <a:xfrm>
            <a:off x="3124200" y="3257550"/>
            <a:ext cx="0" cy="3095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TextBox 133"/>
          <p:cNvSpPr txBox="1"/>
          <p:nvPr/>
        </p:nvSpPr>
        <p:spPr>
          <a:xfrm>
            <a:off x="1988757" y="3562350"/>
            <a:ext cx="38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2338899" y="3562350"/>
            <a:ext cx="38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2651886" y="3562350"/>
            <a:ext cx="38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2971800" y="3562350"/>
            <a:ext cx="38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161" name="直接箭头连接符 160"/>
          <p:cNvCxnSpPr>
            <a:stCxn id="188" idx="6"/>
          </p:cNvCxnSpPr>
          <p:nvPr/>
        </p:nvCxnSpPr>
        <p:spPr>
          <a:xfrm flipV="1">
            <a:off x="5016383" y="2495550"/>
            <a:ext cx="1536817" cy="451821"/>
          </a:xfrm>
          <a:prstGeom prst="straightConnector1">
            <a:avLst/>
          </a:prstGeom>
          <a:ln w="38100">
            <a:solidFill>
              <a:schemeClr val="accent6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5" name="组合 204"/>
          <p:cNvGrpSpPr/>
          <p:nvPr/>
        </p:nvGrpSpPr>
        <p:grpSpPr>
          <a:xfrm>
            <a:off x="4495800" y="1657350"/>
            <a:ext cx="3505200" cy="2100003"/>
            <a:chOff x="4495800" y="1657350"/>
            <a:chExt cx="3505200" cy="2100003"/>
          </a:xfrm>
        </p:grpSpPr>
        <p:grpSp>
          <p:nvGrpSpPr>
            <p:cNvPr id="162" name="Group 82"/>
            <p:cNvGrpSpPr>
              <a:grpSpLocks/>
            </p:cNvGrpSpPr>
            <p:nvPr/>
          </p:nvGrpSpPr>
          <p:grpSpPr bwMode="auto">
            <a:xfrm>
              <a:off x="4495800" y="1657350"/>
              <a:ext cx="3464823" cy="2100003"/>
              <a:chOff x="2925" y="1162"/>
              <a:chExt cx="2416" cy="1588"/>
            </a:xfrm>
          </p:grpSpPr>
          <p:grpSp>
            <p:nvGrpSpPr>
              <p:cNvPr id="163" name="Group 83"/>
              <p:cNvGrpSpPr>
                <a:grpSpLocks/>
              </p:cNvGrpSpPr>
              <p:nvPr/>
            </p:nvGrpSpPr>
            <p:grpSpPr bwMode="auto">
              <a:xfrm>
                <a:off x="2925" y="1525"/>
                <a:ext cx="454" cy="317"/>
                <a:chOff x="1746" y="3385"/>
                <a:chExt cx="454" cy="317"/>
              </a:xfrm>
            </p:grpSpPr>
            <p:sp>
              <p:nvSpPr>
                <p:cNvPr id="202" name="AutoShape 84"/>
                <p:cNvSpPr>
                  <a:spLocks noChangeArrowheads="1"/>
                </p:cNvSpPr>
                <p:nvPr/>
              </p:nvSpPr>
              <p:spPr bwMode="auto">
                <a:xfrm>
                  <a:off x="1791" y="3385"/>
                  <a:ext cx="318" cy="317"/>
                </a:xfrm>
                <a:prstGeom prst="flowChartConnector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4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03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1746" y="3430"/>
                  <a:ext cx="45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sz="1400" dirty="0">
                      <a:solidFill>
                        <a:srgbClr val="FF0000"/>
                      </a:solidFill>
                      <a:effectLst/>
                      <a:latin typeface="Arial" charset="0"/>
                    </a:rPr>
                    <a:t>1001</a:t>
                  </a:r>
                </a:p>
              </p:txBody>
            </p:sp>
          </p:grpSp>
          <p:grpSp>
            <p:nvGrpSpPr>
              <p:cNvPr id="164" name="Group 86"/>
              <p:cNvGrpSpPr>
                <a:grpSpLocks/>
              </p:cNvGrpSpPr>
              <p:nvPr/>
            </p:nvGrpSpPr>
            <p:grpSpPr bwMode="auto">
              <a:xfrm>
                <a:off x="3832" y="1525"/>
                <a:ext cx="454" cy="317"/>
                <a:chOff x="1746" y="3385"/>
                <a:chExt cx="454" cy="317"/>
              </a:xfrm>
            </p:grpSpPr>
            <p:sp>
              <p:nvSpPr>
                <p:cNvPr id="200" name="AutoShape 87"/>
                <p:cNvSpPr>
                  <a:spLocks noChangeArrowheads="1"/>
                </p:cNvSpPr>
                <p:nvPr/>
              </p:nvSpPr>
              <p:spPr bwMode="auto">
                <a:xfrm>
                  <a:off x="1791" y="3385"/>
                  <a:ext cx="318" cy="317"/>
                </a:xfrm>
                <a:prstGeom prst="flowChartConnector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4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01" name="Text Box 88"/>
                <p:cNvSpPr txBox="1">
                  <a:spLocks noChangeArrowheads="1"/>
                </p:cNvSpPr>
                <p:nvPr/>
              </p:nvSpPr>
              <p:spPr bwMode="auto">
                <a:xfrm>
                  <a:off x="1746" y="3430"/>
                  <a:ext cx="45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kumimoji="0" lang="en-US" altLang="zh-CN" sz="1400" dirty="0">
                      <a:solidFill>
                        <a:srgbClr val="FF0000"/>
                      </a:solidFill>
                      <a:effectLst/>
                      <a:latin typeface="Arial" charset="0"/>
                    </a:rPr>
                    <a:t>0111</a:t>
                  </a:r>
                </a:p>
              </p:txBody>
            </p:sp>
          </p:grpSp>
          <p:grpSp>
            <p:nvGrpSpPr>
              <p:cNvPr id="165" name="Group 89"/>
              <p:cNvGrpSpPr>
                <a:grpSpLocks/>
              </p:cNvGrpSpPr>
              <p:nvPr/>
            </p:nvGrpSpPr>
            <p:grpSpPr bwMode="auto">
              <a:xfrm>
                <a:off x="3378" y="1525"/>
                <a:ext cx="454" cy="317"/>
                <a:chOff x="1746" y="3385"/>
                <a:chExt cx="454" cy="317"/>
              </a:xfrm>
            </p:grpSpPr>
            <p:sp>
              <p:nvSpPr>
                <p:cNvPr id="198" name="AutoShape 90"/>
                <p:cNvSpPr>
                  <a:spLocks noChangeArrowheads="1"/>
                </p:cNvSpPr>
                <p:nvPr/>
              </p:nvSpPr>
              <p:spPr bwMode="auto">
                <a:xfrm>
                  <a:off x="1791" y="3385"/>
                  <a:ext cx="318" cy="317"/>
                </a:xfrm>
                <a:prstGeom prst="flowChartConnector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4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99" name="Text Box 91"/>
                <p:cNvSpPr txBox="1">
                  <a:spLocks noChangeArrowheads="1"/>
                </p:cNvSpPr>
                <p:nvPr/>
              </p:nvSpPr>
              <p:spPr bwMode="auto">
                <a:xfrm>
                  <a:off x="1746" y="3430"/>
                  <a:ext cx="45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kumimoji="0" lang="en-US" altLang="zh-CN" sz="1400" dirty="0">
                      <a:solidFill>
                        <a:srgbClr val="FF0000"/>
                      </a:solidFill>
                      <a:effectLst/>
                      <a:latin typeface="Arial" charset="0"/>
                    </a:rPr>
                    <a:t>1000</a:t>
                  </a:r>
                </a:p>
              </p:txBody>
            </p:sp>
          </p:grpSp>
          <p:grpSp>
            <p:nvGrpSpPr>
              <p:cNvPr id="166" name="Group 92"/>
              <p:cNvGrpSpPr>
                <a:grpSpLocks/>
              </p:cNvGrpSpPr>
              <p:nvPr/>
            </p:nvGrpSpPr>
            <p:grpSpPr bwMode="auto">
              <a:xfrm>
                <a:off x="4286" y="2433"/>
                <a:ext cx="454" cy="317"/>
                <a:chOff x="1746" y="3385"/>
                <a:chExt cx="454" cy="317"/>
              </a:xfrm>
            </p:grpSpPr>
            <p:sp>
              <p:nvSpPr>
                <p:cNvPr id="196" name="AutoShape 93"/>
                <p:cNvSpPr>
                  <a:spLocks noChangeArrowheads="1"/>
                </p:cNvSpPr>
                <p:nvPr/>
              </p:nvSpPr>
              <p:spPr bwMode="auto">
                <a:xfrm>
                  <a:off x="1791" y="3385"/>
                  <a:ext cx="318" cy="317"/>
                </a:xfrm>
                <a:prstGeom prst="flowChartConnector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4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97" name="Text Box 94"/>
                <p:cNvSpPr txBox="1">
                  <a:spLocks noChangeArrowheads="1"/>
                </p:cNvSpPr>
                <p:nvPr/>
              </p:nvSpPr>
              <p:spPr bwMode="auto">
                <a:xfrm>
                  <a:off x="1746" y="3430"/>
                  <a:ext cx="45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kumimoji="0" lang="en-US" altLang="zh-CN" sz="1400" dirty="0">
                      <a:solidFill>
                        <a:srgbClr val="FF0000"/>
                      </a:solidFill>
                      <a:effectLst/>
                      <a:latin typeface="Arial" charset="0"/>
                    </a:rPr>
                    <a:t>0100</a:t>
                  </a:r>
                </a:p>
              </p:txBody>
            </p:sp>
          </p:grpSp>
          <p:grpSp>
            <p:nvGrpSpPr>
              <p:cNvPr id="167" name="Group 95"/>
              <p:cNvGrpSpPr>
                <a:grpSpLocks/>
              </p:cNvGrpSpPr>
              <p:nvPr/>
            </p:nvGrpSpPr>
            <p:grpSpPr bwMode="auto">
              <a:xfrm>
                <a:off x="4286" y="1979"/>
                <a:ext cx="454" cy="317"/>
                <a:chOff x="1746" y="3385"/>
                <a:chExt cx="454" cy="317"/>
              </a:xfrm>
            </p:grpSpPr>
            <p:sp>
              <p:nvSpPr>
                <p:cNvPr id="194" name="AutoShape 96"/>
                <p:cNvSpPr>
                  <a:spLocks noChangeArrowheads="1"/>
                </p:cNvSpPr>
                <p:nvPr/>
              </p:nvSpPr>
              <p:spPr bwMode="auto">
                <a:xfrm>
                  <a:off x="1791" y="3385"/>
                  <a:ext cx="318" cy="317"/>
                </a:xfrm>
                <a:prstGeom prst="flowChartConnector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4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95" name="Text Box 97"/>
                <p:cNvSpPr txBox="1">
                  <a:spLocks noChangeArrowheads="1"/>
                </p:cNvSpPr>
                <p:nvPr/>
              </p:nvSpPr>
              <p:spPr bwMode="auto">
                <a:xfrm>
                  <a:off x="1746" y="3430"/>
                  <a:ext cx="45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kumimoji="0" lang="en-US" altLang="zh-CN" sz="1400" dirty="0">
                      <a:solidFill>
                        <a:srgbClr val="FF0000"/>
                      </a:solidFill>
                      <a:effectLst/>
                      <a:latin typeface="Arial" charset="0"/>
                    </a:rPr>
                    <a:t>0101</a:t>
                  </a:r>
                </a:p>
              </p:txBody>
            </p:sp>
          </p:grpSp>
          <p:grpSp>
            <p:nvGrpSpPr>
              <p:cNvPr id="168" name="Group 98"/>
              <p:cNvGrpSpPr>
                <a:grpSpLocks/>
              </p:cNvGrpSpPr>
              <p:nvPr/>
            </p:nvGrpSpPr>
            <p:grpSpPr bwMode="auto">
              <a:xfrm>
                <a:off x="4285" y="1525"/>
                <a:ext cx="454" cy="317"/>
                <a:chOff x="1746" y="3385"/>
                <a:chExt cx="454" cy="317"/>
              </a:xfrm>
            </p:grpSpPr>
            <p:sp>
              <p:nvSpPr>
                <p:cNvPr id="192" name="AutoShape 99"/>
                <p:cNvSpPr>
                  <a:spLocks noChangeArrowheads="1"/>
                </p:cNvSpPr>
                <p:nvPr/>
              </p:nvSpPr>
              <p:spPr bwMode="auto">
                <a:xfrm>
                  <a:off x="1791" y="3385"/>
                  <a:ext cx="318" cy="317"/>
                </a:xfrm>
                <a:prstGeom prst="flowChartConnector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4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93" name="Text Box 100"/>
                <p:cNvSpPr txBox="1">
                  <a:spLocks noChangeArrowheads="1"/>
                </p:cNvSpPr>
                <p:nvPr/>
              </p:nvSpPr>
              <p:spPr bwMode="auto">
                <a:xfrm>
                  <a:off x="1746" y="3430"/>
                  <a:ext cx="45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kumimoji="0" lang="en-US" altLang="zh-CN" sz="1400" dirty="0">
                      <a:solidFill>
                        <a:srgbClr val="FF0000"/>
                      </a:solidFill>
                      <a:effectLst/>
                      <a:latin typeface="Arial" charset="0"/>
                    </a:rPr>
                    <a:t>0110</a:t>
                  </a:r>
                </a:p>
              </p:txBody>
            </p:sp>
          </p:grpSp>
          <p:grpSp>
            <p:nvGrpSpPr>
              <p:cNvPr id="169" name="Group 119"/>
              <p:cNvGrpSpPr>
                <a:grpSpLocks/>
              </p:cNvGrpSpPr>
              <p:nvPr/>
            </p:nvGrpSpPr>
            <p:grpSpPr bwMode="auto">
              <a:xfrm>
                <a:off x="2925" y="2432"/>
                <a:ext cx="454" cy="317"/>
                <a:chOff x="1746" y="3385"/>
                <a:chExt cx="454" cy="317"/>
              </a:xfrm>
            </p:grpSpPr>
            <p:sp>
              <p:nvSpPr>
                <p:cNvPr id="190" name="AutoShape 120"/>
                <p:cNvSpPr>
                  <a:spLocks noChangeArrowheads="1"/>
                </p:cNvSpPr>
                <p:nvPr/>
              </p:nvSpPr>
              <p:spPr bwMode="auto">
                <a:xfrm>
                  <a:off x="1791" y="3385"/>
                  <a:ext cx="318" cy="317"/>
                </a:xfrm>
                <a:prstGeom prst="flowChartConnector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4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91" name="Text Box 121"/>
                <p:cNvSpPr txBox="1">
                  <a:spLocks noChangeArrowheads="1"/>
                </p:cNvSpPr>
                <p:nvPr/>
              </p:nvSpPr>
              <p:spPr bwMode="auto">
                <a:xfrm>
                  <a:off x="1746" y="3430"/>
                  <a:ext cx="45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kumimoji="0" lang="en-US" altLang="zh-CN" sz="1400" dirty="0">
                      <a:solidFill>
                        <a:srgbClr val="FF0000"/>
                      </a:solidFill>
                      <a:effectLst/>
                      <a:latin typeface="Arial" charset="0"/>
                    </a:rPr>
                    <a:t>0001</a:t>
                  </a:r>
                </a:p>
              </p:txBody>
            </p:sp>
          </p:grpSp>
          <p:grpSp>
            <p:nvGrpSpPr>
              <p:cNvPr id="170" name="Group 122"/>
              <p:cNvGrpSpPr>
                <a:grpSpLocks/>
              </p:cNvGrpSpPr>
              <p:nvPr/>
            </p:nvGrpSpPr>
            <p:grpSpPr bwMode="auto">
              <a:xfrm>
                <a:off x="2925" y="1979"/>
                <a:ext cx="454" cy="317"/>
                <a:chOff x="1746" y="3385"/>
                <a:chExt cx="454" cy="317"/>
              </a:xfrm>
            </p:grpSpPr>
            <p:sp>
              <p:nvSpPr>
                <p:cNvPr id="188" name="AutoShape 123"/>
                <p:cNvSpPr>
                  <a:spLocks noChangeArrowheads="1"/>
                </p:cNvSpPr>
                <p:nvPr/>
              </p:nvSpPr>
              <p:spPr bwMode="auto">
                <a:xfrm>
                  <a:off x="1791" y="3385"/>
                  <a:ext cx="318" cy="317"/>
                </a:xfrm>
                <a:prstGeom prst="flowChartConnector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4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89" name="Text Box 124"/>
                <p:cNvSpPr txBox="1">
                  <a:spLocks noChangeArrowheads="1"/>
                </p:cNvSpPr>
                <p:nvPr/>
              </p:nvSpPr>
              <p:spPr bwMode="auto">
                <a:xfrm>
                  <a:off x="1746" y="3430"/>
                  <a:ext cx="45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kumimoji="0" lang="en-US" altLang="zh-CN" sz="1400" dirty="0">
                      <a:solidFill>
                        <a:srgbClr val="FF0000"/>
                      </a:solidFill>
                      <a:effectLst/>
                      <a:latin typeface="Arial" charset="0"/>
                    </a:rPr>
                    <a:t>0000</a:t>
                  </a:r>
                </a:p>
              </p:txBody>
            </p:sp>
          </p:grpSp>
          <p:grpSp>
            <p:nvGrpSpPr>
              <p:cNvPr id="171" name="Group 125"/>
              <p:cNvGrpSpPr>
                <a:grpSpLocks/>
              </p:cNvGrpSpPr>
              <p:nvPr/>
            </p:nvGrpSpPr>
            <p:grpSpPr bwMode="auto">
              <a:xfrm>
                <a:off x="3379" y="2432"/>
                <a:ext cx="454" cy="317"/>
                <a:chOff x="1746" y="3385"/>
                <a:chExt cx="454" cy="317"/>
              </a:xfrm>
            </p:grpSpPr>
            <p:sp>
              <p:nvSpPr>
                <p:cNvPr id="186" name="AutoShape 126"/>
                <p:cNvSpPr>
                  <a:spLocks noChangeArrowheads="1"/>
                </p:cNvSpPr>
                <p:nvPr/>
              </p:nvSpPr>
              <p:spPr bwMode="auto">
                <a:xfrm>
                  <a:off x="1791" y="3385"/>
                  <a:ext cx="318" cy="317"/>
                </a:xfrm>
                <a:prstGeom prst="flowChartConnector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4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87" name="Text Box 127"/>
                <p:cNvSpPr txBox="1">
                  <a:spLocks noChangeArrowheads="1"/>
                </p:cNvSpPr>
                <p:nvPr/>
              </p:nvSpPr>
              <p:spPr bwMode="auto">
                <a:xfrm>
                  <a:off x="1746" y="3430"/>
                  <a:ext cx="45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kumimoji="0" lang="en-US" altLang="zh-CN" sz="1400" dirty="0">
                      <a:solidFill>
                        <a:srgbClr val="FF0000"/>
                      </a:solidFill>
                      <a:effectLst/>
                      <a:latin typeface="Arial" charset="0"/>
                    </a:rPr>
                    <a:t>0010</a:t>
                  </a:r>
                </a:p>
              </p:txBody>
            </p:sp>
          </p:grpSp>
          <p:grpSp>
            <p:nvGrpSpPr>
              <p:cNvPr id="172" name="Group 128"/>
              <p:cNvGrpSpPr>
                <a:grpSpLocks/>
              </p:cNvGrpSpPr>
              <p:nvPr/>
            </p:nvGrpSpPr>
            <p:grpSpPr bwMode="auto">
              <a:xfrm>
                <a:off x="3833" y="2433"/>
                <a:ext cx="454" cy="317"/>
                <a:chOff x="1746" y="3385"/>
                <a:chExt cx="454" cy="317"/>
              </a:xfrm>
            </p:grpSpPr>
            <p:sp>
              <p:nvSpPr>
                <p:cNvPr id="184" name="AutoShape 129"/>
                <p:cNvSpPr>
                  <a:spLocks noChangeArrowheads="1"/>
                </p:cNvSpPr>
                <p:nvPr/>
              </p:nvSpPr>
              <p:spPr bwMode="auto">
                <a:xfrm>
                  <a:off x="1791" y="3385"/>
                  <a:ext cx="318" cy="317"/>
                </a:xfrm>
                <a:prstGeom prst="flowChartConnector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4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85" name="Text Box 130"/>
                <p:cNvSpPr txBox="1">
                  <a:spLocks noChangeArrowheads="1"/>
                </p:cNvSpPr>
                <p:nvPr/>
              </p:nvSpPr>
              <p:spPr bwMode="auto">
                <a:xfrm>
                  <a:off x="1746" y="3430"/>
                  <a:ext cx="45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kumimoji="0" lang="en-US" altLang="zh-CN" sz="1400" dirty="0">
                      <a:solidFill>
                        <a:srgbClr val="FF0000"/>
                      </a:solidFill>
                      <a:effectLst/>
                      <a:latin typeface="Arial" charset="0"/>
                    </a:rPr>
                    <a:t>0011</a:t>
                  </a:r>
                </a:p>
              </p:txBody>
            </p:sp>
          </p:grpSp>
          <p:sp>
            <p:nvSpPr>
              <p:cNvPr id="173" name="Line 131"/>
              <p:cNvSpPr>
                <a:spLocks noChangeShapeType="1"/>
              </p:cNvSpPr>
              <p:nvPr/>
            </p:nvSpPr>
            <p:spPr bwMode="auto">
              <a:xfrm>
                <a:off x="3288" y="1661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74" name="Line 132"/>
              <p:cNvSpPr>
                <a:spLocks noChangeShapeType="1"/>
              </p:cNvSpPr>
              <p:nvPr/>
            </p:nvSpPr>
            <p:spPr bwMode="auto">
              <a:xfrm>
                <a:off x="3742" y="1661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75" name="Line 134"/>
              <p:cNvSpPr>
                <a:spLocks noChangeShapeType="1"/>
              </p:cNvSpPr>
              <p:nvPr/>
            </p:nvSpPr>
            <p:spPr bwMode="auto">
              <a:xfrm rot="16200000" flipH="1">
                <a:off x="4400" y="2365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76" name="Line 135"/>
              <p:cNvSpPr>
                <a:spLocks noChangeShapeType="1"/>
              </p:cNvSpPr>
              <p:nvPr/>
            </p:nvSpPr>
            <p:spPr bwMode="auto">
              <a:xfrm rot="-5400000">
                <a:off x="3061" y="1911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77" name="Line 136"/>
              <p:cNvSpPr>
                <a:spLocks noChangeShapeType="1"/>
              </p:cNvSpPr>
              <p:nvPr/>
            </p:nvSpPr>
            <p:spPr bwMode="auto">
              <a:xfrm rot="-5400000">
                <a:off x="3061" y="2365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78" name="Line 139"/>
              <p:cNvSpPr>
                <a:spLocks noChangeShapeType="1"/>
              </p:cNvSpPr>
              <p:nvPr/>
            </p:nvSpPr>
            <p:spPr bwMode="auto">
              <a:xfrm flipH="1">
                <a:off x="3288" y="2614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79" name="Line 140"/>
              <p:cNvSpPr>
                <a:spLocks noChangeShapeType="1"/>
              </p:cNvSpPr>
              <p:nvPr/>
            </p:nvSpPr>
            <p:spPr bwMode="auto">
              <a:xfrm flipH="1">
                <a:off x="3742" y="2614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80" name="Line 141"/>
              <p:cNvSpPr>
                <a:spLocks noChangeShapeType="1"/>
              </p:cNvSpPr>
              <p:nvPr/>
            </p:nvSpPr>
            <p:spPr bwMode="auto">
              <a:xfrm flipH="1">
                <a:off x="4195" y="2614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81" name="Line 142"/>
              <p:cNvSpPr>
                <a:spLocks noChangeShapeType="1"/>
              </p:cNvSpPr>
              <p:nvPr/>
            </p:nvSpPr>
            <p:spPr bwMode="auto">
              <a:xfrm>
                <a:off x="4195" y="1661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82" name="Line 144"/>
              <p:cNvSpPr>
                <a:spLocks noChangeShapeType="1"/>
              </p:cNvSpPr>
              <p:nvPr/>
            </p:nvSpPr>
            <p:spPr bwMode="auto">
              <a:xfrm rot="5400000" flipV="1">
                <a:off x="4400" y="1911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83" name="AutoShape 146"/>
              <p:cNvSpPr>
                <a:spLocks noChangeArrowheads="1"/>
              </p:cNvSpPr>
              <p:nvPr/>
            </p:nvSpPr>
            <p:spPr bwMode="auto">
              <a:xfrm>
                <a:off x="4797" y="1162"/>
                <a:ext cx="544" cy="544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</p:grpSp>
        <p:graphicFrame>
          <p:nvGraphicFramePr>
            <p:cNvPr id="204" name="Object 2"/>
            <p:cNvGraphicFramePr>
              <a:graphicFrameLocks noChangeAspect="1"/>
            </p:cNvGraphicFramePr>
            <p:nvPr/>
          </p:nvGraphicFramePr>
          <p:xfrm>
            <a:off x="7239000" y="1885950"/>
            <a:ext cx="7620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3764" name="Equation" r:id="rId2" imgW="1168200" imgH="330120" progId="Equation.DSMT4">
                    <p:embed/>
                  </p:oleObj>
                </mc:Choice>
                <mc:Fallback>
                  <p:oleObj name="Equation" r:id="rId2" imgW="1168200" imgH="330120" progId="Equation.DSMT4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39000" y="1885950"/>
                          <a:ext cx="762000" cy="215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0" name="矩形 89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aphicFrame>
        <p:nvGraphicFramePr>
          <p:cNvPr id="43010" name="Object 96"/>
          <p:cNvGraphicFramePr>
            <a:graphicFrameLocks noChangeAspect="1"/>
          </p:cNvGraphicFramePr>
          <p:nvPr/>
        </p:nvGraphicFramePr>
        <p:xfrm>
          <a:off x="333375" y="2649538"/>
          <a:ext cx="7656513" cy="229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786" name="Visio" r:id="rId2" imgW="3981611" imgH="1221774" progId="Visio.Drawing.11">
                  <p:embed/>
                </p:oleObj>
              </mc:Choice>
              <mc:Fallback>
                <p:oleObj name="Visio" r:id="rId2" imgW="3981611" imgH="1221774" progId="Visio.Drawing.11">
                  <p:embed/>
                  <p:pic>
                    <p:nvPicPr>
                      <p:cNvPr id="0" name="Object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375" y="2649538"/>
                        <a:ext cx="7656513" cy="229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3662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构建任意模值的计数器：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N&gt;M  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异步预置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2800" y="4552950"/>
            <a:ext cx="2362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23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时序图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800" y="1047750"/>
            <a:ext cx="3276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减法计数器异步预置值</a:t>
            </a:r>
            <a:endParaRPr lang="en-US" altLang="zh-CN" sz="20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    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            M</a:t>
            </a:r>
            <a:endParaRPr lang="zh-CN" altLang="en-US" sz="20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74788" name="Picture 4" descr="C:\Users\hfutliujun\AppData\Roaming\Tencent\Users\350654676\QQ\WinTemp\RichOle\P7)}Q`WLNL_)LZ2F81[GB@R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3400" y="971550"/>
            <a:ext cx="5391150" cy="1615268"/>
          </a:xfrm>
          <a:prstGeom prst="rect">
            <a:avLst/>
          </a:prstGeom>
          <a:noFill/>
        </p:spPr>
      </p:pic>
      <p:sp>
        <p:nvSpPr>
          <p:cNvPr id="11" name="矩形 10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heme/theme1.xml><?xml version="1.0" encoding="utf-8"?>
<a:theme xmlns:a="http://schemas.openxmlformats.org/drawingml/2006/main" name="默认设计模板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2D2D8A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9230</TotalTime>
  <Words>851</Words>
  <Application>Microsoft Office PowerPoint</Application>
  <PresentationFormat>全屏显示(16:9)</PresentationFormat>
  <Paragraphs>328</Paragraphs>
  <Slides>16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黑体</vt:lpstr>
      <vt:lpstr>宋体</vt:lpstr>
      <vt:lpstr>微软雅黑</vt:lpstr>
      <vt:lpstr>Arial</vt:lpstr>
      <vt:lpstr>Calibri</vt:lpstr>
      <vt:lpstr>Wingdings</vt:lpstr>
      <vt:lpstr>默认设计模板</vt:lpstr>
      <vt:lpstr>Equation</vt:lpstr>
      <vt:lpstr>公式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zhaole</dc:creator>
  <cp:lastModifiedBy>DELL</cp:lastModifiedBy>
  <cp:revision>983</cp:revision>
  <cp:lastPrinted>2113-01-01T00:00:00Z</cp:lastPrinted>
  <dcterms:created xsi:type="dcterms:W3CDTF">2113-01-01T00:00:00Z</dcterms:created>
  <dcterms:modified xsi:type="dcterms:W3CDTF">2021-07-20T01:57:57Z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2052-11.1.0.8696</vt:lpwstr>
  </property>
</Properties>
</file>