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09" r:id="rId2"/>
    <p:sldId id="518" r:id="rId3"/>
    <p:sldId id="519" r:id="rId4"/>
    <p:sldId id="483" r:id="rId5"/>
    <p:sldId id="505" r:id="rId6"/>
    <p:sldId id="506" r:id="rId7"/>
    <p:sldId id="507" r:id="rId8"/>
    <p:sldId id="510" r:id="rId9"/>
    <p:sldId id="511" r:id="rId10"/>
    <p:sldId id="512" r:id="rId11"/>
    <p:sldId id="513" r:id="rId12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8A"/>
    <a:srgbClr val="3333CC"/>
    <a:srgbClr val="DBE4BA"/>
    <a:srgbClr val="6600CC"/>
    <a:srgbClr val="00FFFF"/>
    <a:srgbClr val="2D1341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417" autoAdjust="0"/>
  </p:normalViewPr>
  <p:slideViewPr>
    <p:cSldViewPr>
      <p:cViewPr varScale="1">
        <p:scale>
          <a:sx n="100" d="100"/>
          <a:sy n="100" d="100"/>
        </p:scale>
        <p:origin x="7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状态图设计和化简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0" y="666750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r>
              <a:rPr lang="zh-CN" altLang="en-US" b="1" kern="0" dirty="0">
                <a:solidFill>
                  <a:srgbClr val="2D2D8A"/>
                </a:solidFill>
                <a:ea typeface="微软雅黑" panose="020B0503020204020204" pitchFamily="34" charset="-122"/>
              </a:rPr>
              <a:t>输入序列未知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047750"/>
            <a:ext cx="472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D2D8A"/>
                </a:solidFill>
              </a:rPr>
              <a:t>画状态图时，根据输入序列产生的结果来区分状态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3400" y="1352550"/>
            <a:ext cx="91805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例</a:t>
            </a:r>
            <a:r>
              <a:rPr kumimoji="0" lang="en-US" altLang="zh-CN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4</a:t>
            </a:r>
            <a:r>
              <a:rPr kumimoji="0" lang="zh-CN" altLang="en-US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：列出同步二进制串行一位加法器的控制电路状态表。</a:t>
            </a:r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152400" y="1657350"/>
            <a:ext cx="3313112" cy="2590800"/>
            <a:chOff x="131" y="440"/>
            <a:chExt cx="2087" cy="1632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43" y="895"/>
              <a:ext cx="916" cy="117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826" y="867"/>
              <a:ext cx="622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 sz="2000" b="1" i="0" dirty="0">
                  <a:latin typeface="Arial" pitchFamily="34" charset="0"/>
                  <a:ea typeface="黑体" pitchFamily="49" charset="-122"/>
                </a:rPr>
                <a:t>串行一位加法器</a:t>
              </a: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731" y="1768"/>
              <a:ext cx="87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 sz="2000" b="1" i="0">
                  <a:latin typeface="Arial" pitchFamily="34" charset="0"/>
                  <a:ea typeface="黑体" pitchFamily="49" charset="-122"/>
                </a:rPr>
                <a:t>控制电路</a:t>
              </a: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643" y="1768"/>
              <a:ext cx="9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8"/>
            <p:cNvGrpSpPr>
              <a:grpSpLocks/>
            </p:cNvGrpSpPr>
            <p:nvPr/>
          </p:nvGrpSpPr>
          <p:grpSpPr bwMode="auto">
            <a:xfrm>
              <a:off x="973" y="1484"/>
              <a:ext cx="549" cy="250"/>
              <a:chOff x="3742" y="1457"/>
              <a:chExt cx="680" cy="299"/>
            </a:xfrm>
          </p:grpSpPr>
          <p:sp>
            <p:nvSpPr>
              <p:cNvPr id="29" name="Rectangle 9"/>
              <p:cNvSpPr>
                <a:spLocks noChangeArrowheads="1"/>
              </p:cNvSpPr>
              <p:nvPr/>
            </p:nvSpPr>
            <p:spPr bwMode="auto">
              <a:xfrm>
                <a:off x="3742" y="1480"/>
                <a:ext cx="317" cy="2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0" name="Text Box 10"/>
              <p:cNvSpPr txBox="1">
                <a:spLocks noChangeArrowheads="1"/>
              </p:cNvSpPr>
              <p:nvPr/>
            </p:nvSpPr>
            <p:spPr bwMode="auto">
              <a:xfrm>
                <a:off x="3787" y="1457"/>
                <a:ext cx="635" cy="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2000" b="1" i="0">
                    <a:latin typeface="Arial" pitchFamily="34" charset="0"/>
                  </a:rPr>
                  <a:t>C</a:t>
                </a:r>
              </a:p>
            </p:txBody>
          </p:sp>
        </p:grp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H="1">
              <a:off x="643" y="1598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1229" y="1598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87" y="1066"/>
              <a:ext cx="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387" y="1218"/>
              <a:ext cx="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H="1">
              <a:off x="497" y="1598"/>
              <a:ext cx="1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V="1">
              <a:off x="497" y="1341"/>
              <a:ext cx="0" cy="2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497" y="1341"/>
              <a:ext cx="1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V="1">
              <a:off x="1705" y="1341"/>
              <a:ext cx="0" cy="2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H="1">
              <a:off x="1559" y="1341"/>
              <a:ext cx="1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H="1">
              <a:off x="1559" y="1602"/>
              <a:ext cx="1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1559" y="1104"/>
              <a:ext cx="2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rot="5400000">
              <a:off x="967" y="759"/>
              <a:ext cx="2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954" y="440"/>
              <a:ext cx="40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CP</a:t>
              </a:r>
              <a:endParaRPr kumimoji="0" lang="en-US" altLang="zh-CN" b="1" i="0" baseline="-2000">
                <a:latin typeface="Arial" pitchFamily="34" charset="0"/>
              </a:endParaRP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131" y="920"/>
              <a:ext cx="40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X</a:t>
              </a:r>
              <a:r>
                <a:rPr kumimoji="0" lang="en-US" altLang="zh-CN" b="1" i="0" baseline="-2000">
                  <a:latin typeface="Arial" pitchFamily="34" charset="0"/>
                </a:rPr>
                <a:t>1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131" y="1100"/>
              <a:ext cx="40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X</a:t>
              </a:r>
              <a:r>
                <a:rPr kumimoji="0" lang="en-US" altLang="zh-CN" b="1" i="0" baseline="-2000">
                  <a:latin typeface="Arial" pitchFamily="34" charset="0"/>
                </a:rPr>
                <a:t>2</a:t>
              </a: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1815" y="983"/>
              <a:ext cx="40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Z</a:t>
              </a:r>
              <a:endParaRPr kumimoji="0" lang="en-US" altLang="zh-CN" b="1" i="0" baseline="-2000">
                <a:latin typeface="Arial" pitchFamily="34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3846513" y="2057400"/>
            <a:ext cx="4318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输入端：被加数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Century" pitchFamily="18" charset="0"/>
                <a:ea typeface="黑体" pitchFamily="49" charset="-122"/>
              </a:rPr>
              <a:t>(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X</a:t>
            </a:r>
            <a:r>
              <a:rPr kumimoji="0" lang="en-US" altLang="zh-CN" sz="1600" b="1" i="0" baseline="-200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Century" pitchFamily="18" charset="0"/>
                <a:ea typeface="黑体" pitchFamily="49" charset="-122"/>
              </a:rPr>
              <a:t>)</a:t>
            </a:r>
            <a:r>
              <a:rPr kumimoji="0" lang="zh-CN" altLang="en-US" sz="1600" b="1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和加数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Century" pitchFamily="18" charset="0"/>
                <a:ea typeface="黑体" pitchFamily="49" charset="-122"/>
              </a:rPr>
              <a:t>(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X</a:t>
            </a:r>
            <a:r>
              <a:rPr kumimoji="0" lang="en-US" altLang="zh-CN" sz="1600" b="1" i="0" baseline="-200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2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Century" pitchFamily="18" charset="0"/>
                <a:ea typeface="黑体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输出端：两数之和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Z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3829050" y="2724150"/>
            <a:ext cx="409575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solidFill>
                  <a:srgbClr val="2D2D8A"/>
                </a:solidFill>
                <a:latin typeface="Century" pitchFamily="18" charset="0"/>
                <a:ea typeface="黑体" pitchFamily="49" charset="-122"/>
              </a:rPr>
              <a:t>在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</a:rPr>
              <a:t>CP</a:t>
            </a:r>
            <a:r>
              <a:rPr kumimoji="0" lang="zh-CN" altLang="en-US" sz="1600" b="1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脉冲作用下</a:t>
            </a:r>
            <a:r>
              <a:rPr kumimoji="0" lang="zh-CN" altLang="en-US" sz="1600" b="1" i="0" dirty="0">
                <a:solidFill>
                  <a:srgbClr val="2D2D8A"/>
                </a:solidFill>
                <a:latin typeface="Arial" pitchFamily="34" charset="0"/>
              </a:rPr>
              <a:t>， 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</a:rPr>
              <a:t>X</a:t>
            </a:r>
            <a:r>
              <a:rPr kumimoji="0" lang="en-US" altLang="zh-CN" sz="1600" b="1" i="0" baseline="-2000" dirty="0">
                <a:solidFill>
                  <a:srgbClr val="2D2D8A"/>
                </a:solidFill>
                <a:latin typeface="Arial" pitchFamily="34" charset="0"/>
              </a:rPr>
              <a:t>1</a:t>
            </a:r>
            <a:r>
              <a:rPr kumimoji="0" lang="zh-CN" altLang="en-US" sz="1600" b="1" i="0" dirty="0">
                <a:solidFill>
                  <a:srgbClr val="2D2D8A"/>
                </a:solidFill>
                <a:latin typeface="Arial" pitchFamily="34" charset="0"/>
              </a:rPr>
              <a:t>、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</a:rPr>
              <a:t>X</a:t>
            </a:r>
            <a:r>
              <a:rPr kumimoji="0" lang="en-US" altLang="zh-CN" sz="1600" b="1" i="0" baseline="-2000" dirty="0">
                <a:solidFill>
                  <a:srgbClr val="2D2D8A"/>
                </a:solidFill>
                <a:latin typeface="Arial" pitchFamily="34" charset="0"/>
              </a:rPr>
              <a:t>2</a:t>
            </a:r>
            <a:r>
              <a:rPr kumimoji="0" lang="zh-CN" altLang="en-US" sz="1600" b="1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由低位到高位逐位相加，其和由低位到高位逐位输出。每一位产生的进位信号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C</a:t>
            </a:r>
            <a:r>
              <a:rPr kumimoji="0" lang="zh-CN" altLang="en-US" sz="1600" b="1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暂存在加法器中，以便在下一个脉冲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CP</a:t>
            </a:r>
            <a:r>
              <a:rPr kumimoji="0" lang="zh-CN" altLang="en-US" sz="1600" b="1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到达时，与高一位的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X</a:t>
            </a:r>
            <a:r>
              <a:rPr kumimoji="0" lang="en-US" altLang="zh-CN" sz="1600" b="1" i="0" baseline="-200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1</a:t>
            </a:r>
            <a:r>
              <a:rPr kumimoji="0" lang="zh-CN" altLang="en-US" sz="1600" b="1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、</a:t>
            </a:r>
            <a:r>
              <a:rPr kumimoji="0" lang="en-US" altLang="zh-CN" sz="1600" b="1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X</a:t>
            </a:r>
            <a:r>
              <a:rPr kumimoji="0" lang="en-US" altLang="zh-CN" sz="1600" b="1" i="0" baseline="-200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2</a:t>
            </a:r>
            <a:r>
              <a:rPr kumimoji="0" lang="zh-CN" altLang="en-US" sz="1600" b="1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相加。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3400" y="44767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D2D8A"/>
                </a:solidFill>
              </a:rPr>
              <a:t>图</a:t>
            </a:r>
            <a:r>
              <a:rPr lang="en-US" altLang="zh-CN" sz="1400" b="1" dirty="0">
                <a:solidFill>
                  <a:srgbClr val="2D2D8A"/>
                </a:solidFill>
              </a:rPr>
              <a:t>4     </a:t>
            </a:r>
            <a:r>
              <a:rPr lang="zh-CN" altLang="en-US" sz="1400" b="1" dirty="0">
                <a:solidFill>
                  <a:srgbClr val="2D2D8A"/>
                </a:solidFill>
              </a:rPr>
              <a:t>串行一位加法器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29"/>
          <p:cNvSpPr txBox="1">
            <a:spLocks noChangeArrowheads="1"/>
          </p:cNvSpPr>
          <p:nvPr/>
        </p:nvSpPr>
        <p:spPr bwMode="auto">
          <a:xfrm>
            <a:off x="762000" y="1200150"/>
            <a:ext cx="6446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依据输入序列产生的结果进行状态划分。</a:t>
            </a:r>
          </a:p>
        </p:txBody>
      </p: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2701925" y="2495550"/>
            <a:ext cx="869950" cy="538163"/>
            <a:chOff x="3698" y="1538"/>
            <a:chExt cx="548" cy="339"/>
          </a:xfrm>
        </p:grpSpPr>
        <p:sp>
          <p:nvSpPr>
            <p:cNvPr id="6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7" name="Text Box 32"/>
            <p:cNvSpPr txBox="1">
              <a:spLocks noChangeArrowheads="1"/>
            </p:cNvSpPr>
            <p:nvPr/>
          </p:nvSpPr>
          <p:spPr bwMode="auto">
            <a:xfrm>
              <a:off x="3725" y="1562"/>
              <a:ext cx="52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 dirty="0">
                  <a:latin typeface="Arial" pitchFamily="34" charset="0"/>
                </a:rPr>
                <a:t> A </a:t>
              </a:r>
              <a:endParaRPr kumimoji="0" lang="en-US" altLang="zh-CN" sz="2000" b="1" i="0" baseline="-2000" dirty="0">
                <a:latin typeface="Arial" pitchFamily="34" charset="0"/>
              </a:endParaRPr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4318000" y="2462213"/>
            <a:ext cx="869950" cy="538162"/>
            <a:chOff x="3698" y="1538"/>
            <a:chExt cx="548" cy="339"/>
          </a:xfrm>
        </p:grpSpPr>
        <p:sp>
          <p:nvSpPr>
            <p:cNvPr id="9" name="Oval 34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0" name="Text Box 35"/>
            <p:cNvSpPr txBox="1">
              <a:spLocks noChangeArrowheads="1"/>
            </p:cNvSpPr>
            <p:nvPr/>
          </p:nvSpPr>
          <p:spPr bwMode="auto">
            <a:xfrm>
              <a:off x="3725" y="1562"/>
              <a:ext cx="52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000" b="1" i="0" dirty="0">
                  <a:latin typeface="Arial" pitchFamily="34" charset="0"/>
                </a:rPr>
                <a:t> B </a:t>
              </a:r>
              <a:endParaRPr kumimoji="0" lang="en-US" altLang="zh-CN" sz="2000" b="1" i="0" baseline="-2000" dirty="0">
                <a:latin typeface="Arial" pitchFamily="34" charset="0"/>
              </a:endParaRPr>
            </a:p>
          </p:txBody>
        </p:sp>
      </p:grp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3276600" y="2266950"/>
            <a:ext cx="1047750" cy="457200"/>
            <a:chOff x="1767" y="3243"/>
            <a:chExt cx="660" cy="288"/>
          </a:xfrm>
        </p:grpSpPr>
        <p:sp>
          <p:nvSpPr>
            <p:cNvPr id="12" name="Line 37"/>
            <p:cNvSpPr>
              <a:spLocks noChangeShapeType="1"/>
            </p:cNvSpPr>
            <p:nvPr/>
          </p:nvSpPr>
          <p:spPr bwMode="auto">
            <a:xfrm>
              <a:off x="1767" y="3472"/>
              <a:ext cx="6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38"/>
            <p:cNvSpPr txBox="1">
              <a:spLocks noChangeArrowheads="1"/>
            </p:cNvSpPr>
            <p:nvPr/>
          </p:nvSpPr>
          <p:spPr bwMode="auto">
            <a:xfrm>
              <a:off x="1839" y="3243"/>
              <a:ext cx="5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11/0</a:t>
              </a:r>
            </a:p>
          </p:txBody>
        </p:sp>
      </p:grp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3284537" y="2806700"/>
            <a:ext cx="1039813" cy="457200"/>
            <a:chOff x="1772" y="3583"/>
            <a:chExt cx="655" cy="288"/>
          </a:xfrm>
        </p:grpSpPr>
        <p:sp>
          <p:nvSpPr>
            <p:cNvPr id="15" name="Line 40"/>
            <p:cNvSpPr>
              <a:spLocks noChangeShapeType="1"/>
            </p:cNvSpPr>
            <p:nvPr/>
          </p:nvSpPr>
          <p:spPr bwMode="auto">
            <a:xfrm>
              <a:off x="1772" y="3621"/>
              <a:ext cx="6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41"/>
            <p:cNvSpPr txBox="1">
              <a:spLocks noChangeArrowheads="1"/>
            </p:cNvSpPr>
            <p:nvPr/>
          </p:nvSpPr>
          <p:spPr bwMode="auto">
            <a:xfrm>
              <a:off x="1839" y="3583"/>
              <a:ext cx="5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00/1</a:t>
              </a:r>
            </a:p>
          </p:txBody>
        </p:sp>
      </p:grpSp>
      <p:grpSp>
        <p:nvGrpSpPr>
          <p:cNvPr id="17" name="Group 42"/>
          <p:cNvGrpSpPr>
            <a:grpSpLocks/>
          </p:cNvGrpSpPr>
          <p:nvPr/>
        </p:nvGrpSpPr>
        <p:grpSpPr bwMode="auto">
          <a:xfrm>
            <a:off x="1643062" y="2305050"/>
            <a:ext cx="1155700" cy="1112838"/>
            <a:chOff x="738" y="3267"/>
            <a:chExt cx="728" cy="701"/>
          </a:xfrm>
        </p:grpSpPr>
        <p:sp>
          <p:nvSpPr>
            <p:cNvPr id="18" name="Arc 43"/>
            <p:cNvSpPr>
              <a:spLocks/>
            </p:cNvSpPr>
            <p:nvPr/>
          </p:nvSpPr>
          <p:spPr bwMode="auto">
            <a:xfrm>
              <a:off x="1175" y="3399"/>
              <a:ext cx="291" cy="327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44"/>
            <p:cNvSpPr txBox="1">
              <a:spLocks noChangeArrowheads="1"/>
            </p:cNvSpPr>
            <p:nvPr/>
          </p:nvSpPr>
          <p:spPr bwMode="auto">
            <a:xfrm>
              <a:off x="738" y="3267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00/0</a:t>
              </a:r>
            </a:p>
          </p:txBody>
        </p:sp>
        <p:sp>
          <p:nvSpPr>
            <p:cNvPr id="20" name="Text Box 45"/>
            <p:cNvSpPr txBox="1">
              <a:spLocks noChangeArrowheads="1"/>
            </p:cNvSpPr>
            <p:nvPr/>
          </p:nvSpPr>
          <p:spPr bwMode="auto">
            <a:xfrm>
              <a:off x="739" y="3477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01/1</a:t>
              </a:r>
            </a:p>
          </p:txBody>
        </p:sp>
        <p:sp>
          <p:nvSpPr>
            <p:cNvPr id="21" name="Text Box 46"/>
            <p:cNvSpPr txBox="1">
              <a:spLocks noChangeArrowheads="1"/>
            </p:cNvSpPr>
            <p:nvPr/>
          </p:nvSpPr>
          <p:spPr bwMode="auto">
            <a:xfrm>
              <a:off x="739" y="3680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10/1</a:t>
              </a:r>
            </a:p>
          </p:txBody>
        </p:sp>
      </p:grpSp>
      <p:grpSp>
        <p:nvGrpSpPr>
          <p:cNvPr id="22" name="Group 47"/>
          <p:cNvGrpSpPr>
            <a:grpSpLocks/>
          </p:cNvGrpSpPr>
          <p:nvPr/>
        </p:nvGrpSpPr>
        <p:grpSpPr bwMode="auto">
          <a:xfrm>
            <a:off x="4791075" y="2220913"/>
            <a:ext cx="1331912" cy="1135062"/>
            <a:chOff x="2721" y="3214"/>
            <a:chExt cx="839" cy="715"/>
          </a:xfrm>
        </p:grpSpPr>
        <p:sp>
          <p:nvSpPr>
            <p:cNvPr id="23" name="Arc 48"/>
            <p:cNvSpPr>
              <a:spLocks/>
            </p:cNvSpPr>
            <p:nvPr/>
          </p:nvSpPr>
          <p:spPr bwMode="auto">
            <a:xfrm flipH="1">
              <a:off x="2721" y="3382"/>
              <a:ext cx="291" cy="327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" name="Group 49"/>
            <p:cNvGrpSpPr>
              <a:grpSpLocks/>
            </p:cNvGrpSpPr>
            <p:nvPr/>
          </p:nvGrpSpPr>
          <p:grpSpPr bwMode="auto">
            <a:xfrm>
              <a:off x="2971" y="3214"/>
              <a:ext cx="589" cy="715"/>
              <a:chOff x="2971" y="3373"/>
              <a:chExt cx="589" cy="715"/>
            </a:xfrm>
          </p:grpSpPr>
          <p:sp>
            <p:nvSpPr>
              <p:cNvPr id="25" name="Text Box 50"/>
              <p:cNvSpPr txBox="1">
                <a:spLocks noChangeArrowheads="1"/>
              </p:cNvSpPr>
              <p:nvPr/>
            </p:nvSpPr>
            <p:spPr bwMode="auto">
              <a:xfrm>
                <a:off x="2971" y="3373"/>
                <a:ext cx="5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0">
                    <a:latin typeface="Arial" pitchFamily="34" charset="0"/>
                  </a:rPr>
                  <a:t>01/0</a:t>
                </a:r>
              </a:p>
            </p:txBody>
          </p:sp>
          <p:sp>
            <p:nvSpPr>
              <p:cNvPr id="26" name="Text Box 51"/>
              <p:cNvSpPr txBox="1">
                <a:spLocks noChangeArrowheads="1"/>
              </p:cNvSpPr>
              <p:nvPr/>
            </p:nvSpPr>
            <p:spPr bwMode="auto">
              <a:xfrm>
                <a:off x="2972" y="3583"/>
                <a:ext cx="5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0">
                    <a:latin typeface="Arial" pitchFamily="34" charset="0"/>
                  </a:rPr>
                  <a:t>10/0</a:t>
                </a:r>
              </a:p>
            </p:txBody>
          </p:sp>
          <p:sp>
            <p:nvSpPr>
              <p:cNvPr id="27" name="Text Box 52"/>
              <p:cNvSpPr txBox="1">
                <a:spLocks noChangeArrowheads="1"/>
              </p:cNvSpPr>
              <p:nvPr/>
            </p:nvSpPr>
            <p:spPr bwMode="auto">
              <a:xfrm>
                <a:off x="2984" y="3800"/>
                <a:ext cx="5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0">
                    <a:latin typeface="Arial" pitchFamily="34" charset="0"/>
                  </a:rPr>
                  <a:t>11/1</a:t>
                </a:r>
              </a:p>
            </p:txBody>
          </p:sp>
        </p:grpSp>
      </p:grpSp>
      <p:sp>
        <p:nvSpPr>
          <p:cNvPr id="28" name="Text Box 53"/>
          <p:cNvSpPr txBox="1">
            <a:spLocks noChangeArrowheads="1"/>
          </p:cNvSpPr>
          <p:nvPr/>
        </p:nvSpPr>
        <p:spPr bwMode="auto">
          <a:xfrm>
            <a:off x="762000" y="1676400"/>
            <a:ext cx="67341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两个状态：</a:t>
            </a:r>
            <a:r>
              <a:rPr kumimoji="0" lang="en-US" altLang="zh-CN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A</a:t>
            </a:r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表示无进位，</a:t>
            </a:r>
            <a:r>
              <a:rPr kumimoji="0" lang="en-US" altLang="zh-CN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B</a:t>
            </a:r>
            <a:r>
              <a:rPr kumimoji="0" lang="zh-CN" altLang="en-US" sz="1600" i="0" dirty="0">
                <a:solidFill>
                  <a:srgbClr val="2D2D8A"/>
                </a:solidFill>
                <a:latin typeface="黑体" pitchFamily="49" charset="-122"/>
                <a:ea typeface="黑体" pitchFamily="49" charset="-122"/>
              </a:rPr>
              <a:t>表示有进位</a:t>
            </a:r>
            <a:r>
              <a:rPr kumimoji="0" lang="zh-CN" altLang="en-US" sz="1600" i="0" dirty="0">
                <a:solidFill>
                  <a:srgbClr val="2D2D8A"/>
                </a:solidFill>
                <a:latin typeface="Arial" pitchFamily="34" charset="0"/>
              </a:rPr>
              <a:t>。</a:t>
            </a: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533400" y="742950"/>
            <a:ext cx="91805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例</a:t>
            </a:r>
            <a:r>
              <a:rPr kumimoji="0" lang="en-US" altLang="zh-CN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4</a:t>
            </a:r>
            <a:r>
              <a:rPr kumimoji="0" lang="zh-CN" altLang="en-US" sz="1600" i="0" dirty="0">
                <a:solidFill>
                  <a:srgbClr val="2D2D8A"/>
                </a:solidFill>
                <a:latin typeface="Arial" pitchFamily="34" charset="0"/>
                <a:ea typeface="黑体" pitchFamily="49" charset="-122"/>
              </a:rPr>
              <a:t>：列出同步二进制串行一位加法器的控制电路状态表。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40995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D2D8A"/>
                </a:solidFill>
              </a:rPr>
              <a:t>图</a:t>
            </a:r>
            <a:r>
              <a:rPr lang="en-US" altLang="zh-CN" sz="1400" b="1" dirty="0">
                <a:solidFill>
                  <a:srgbClr val="2D2D8A"/>
                </a:solidFill>
              </a:rPr>
              <a:t>5     </a:t>
            </a:r>
            <a:r>
              <a:rPr lang="zh-CN" altLang="en-US" sz="1400" b="1" dirty="0">
                <a:solidFill>
                  <a:srgbClr val="2D2D8A"/>
                </a:solidFill>
              </a:rPr>
              <a:t>例</a:t>
            </a:r>
            <a:r>
              <a:rPr lang="en-US" altLang="zh-CN" sz="1400" b="1" dirty="0">
                <a:solidFill>
                  <a:srgbClr val="2D2D8A"/>
                </a:solidFill>
              </a:rPr>
              <a:t>4</a:t>
            </a:r>
            <a:r>
              <a:rPr lang="zh-CN" altLang="en-US" sz="1400" b="1" dirty="0">
                <a:solidFill>
                  <a:srgbClr val="2D2D8A"/>
                </a:solidFill>
              </a:rPr>
              <a:t>的状态图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等价状态：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5" name="矩形 64"/>
          <p:cNvSpPr/>
          <p:nvPr/>
        </p:nvSpPr>
        <p:spPr>
          <a:xfrm>
            <a:off x="609600" y="971550"/>
            <a:ext cx="6096000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如果以时序电路的状态</a:t>
            </a:r>
            <a:r>
              <a:rPr lang="en-US" altLang="zh-CN" sz="1400" dirty="0" err="1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err="1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作为初始状态，把各种可能的输入加到该时序电路上，所得到的状态和输 出都完全相同，那么状态</a:t>
            </a:r>
            <a:r>
              <a:rPr lang="en-US" altLang="zh-CN" sz="1400" dirty="0" err="1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err="1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就是等价的。</a:t>
            </a:r>
          </a:p>
        </p:txBody>
      </p:sp>
      <p:graphicFrame>
        <p:nvGraphicFramePr>
          <p:cNvPr id="66" name="Group 6"/>
          <p:cNvGraphicFramePr>
            <a:graphicFrameLocks noGrp="1"/>
          </p:cNvGraphicFramePr>
          <p:nvPr/>
        </p:nvGraphicFramePr>
        <p:xfrm>
          <a:off x="990600" y="2419350"/>
          <a:ext cx="2057400" cy="1819531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1219200" y="2038350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状态表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8200" y="4476750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等价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3600" y="4476750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次态相同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33185" y="2365821"/>
            <a:ext cx="381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</a:t>
            </a: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86" name="TextBox 85"/>
          <p:cNvSpPr txBox="1"/>
          <p:nvPr/>
        </p:nvSpPr>
        <p:spPr>
          <a:xfrm>
            <a:off x="929514" y="2595086"/>
            <a:ext cx="76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现态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graphicFrame>
        <p:nvGraphicFramePr>
          <p:cNvPr id="87" name="Group 6"/>
          <p:cNvGraphicFramePr>
            <a:graphicFrameLocks noGrp="1"/>
          </p:cNvGraphicFramePr>
          <p:nvPr/>
        </p:nvGraphicFramePr>
        <p:xfrm>
          <a:off x="4343400" y="2495550"/>
          <a:ext cx="2057400" cy="1544893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8" name="TextBox 87"/>
          <p:cNvSpPr txBox="1"/>
          <p:nvPr/>
        </p:nvSpPr>
        <p:spPr>
          <a:xfrm>
            <a:off x="4343400" y="211455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等价状态例</a:t>
            </a:r>
            <a:r>
              <a:rPr lang="en-US" altLang="zh-CN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的化简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85985" y="2442021"/>
            <a:ext cx="381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</a:t>
            </a: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90" name="TextBox 89"/>
          <p:cNvSpPr txBox="1"/>
          <p:nvPr/>
        </p:nvSpPr>
        <p:spPr>
          <a:xfrm>
            <a:off x="4282314" y="2647950"/>
            <a:ext cx="76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现态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18" name="矩形 17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8" grpId="0"/>
      <p:bldP spid="79" grpId="0"/>
      <p:bldP spid="85" grpId="0"/>
      <p:bldP spid="86" grpId="0"/>
      <p:bldP spid="88" grpId="0"/>
      <p:bldP spid="89" grpId="0"/>
      <p:bldP spid="9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等价状态：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5" name="矩形 64"/>
          <p:cNvSpPr/>
          <p:nvPr/>
        </p:nvSpPr>
        <p:spPr>
          <a:xfrm>
            <a:off x="609600" y="971550"/>
            <a:ext cx="6096000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如果以时序电路的状态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作为初始状态，把各种可能的输入序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列加到该时序电路上，所得到的状态和输 出序列都完全相同，那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么状态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就是等价的。</a:t>
            </a:r>
          </a:p>
        </p:txBody>
      </p:sp>
      <p:graphicFrame>
        <p:nvGraphicFramePr>
          <p:cNvPr id="80" name="Group 6"/>
          <p:cNvGraphicFramePr>
            <a:graphicFrameLocks noGrp="1"/>
          </p:cNvGraphicFramePr>
          <p:nvPr/>
        </p:nvGraphicFramePr>
        <p:xfrm>
          <a:off x="1143000" y="2385596"/>
          <a:ext cx="2057400" cy="1819531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1371600" y="2004596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6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等价状态例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0600" y="4442996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B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等价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86000" y="4442996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次态交错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0471" y="2365821"/>
            <a:ext cx="381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</a:t>
            </a: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1135443" y="2571750"/>
            <a:ext cx="76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现态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graphicFrame>
        <p:nvGraphicFramePr>
          <p:cNvPr id="18" name="Group 6"/>
          <p:cNvGraphicFramePr>
            <a:graphicFrameLocks noGrp="1"/>
          </p:cNvGraphicFramePr>
          <p:nvPr/>
        </p:nvGraphicFramePr>
        <p:xfrm>
          <a:off x="4724400" y="2419350"/>
          <a:ext cx="2057400" cy="1544893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800600" y="2038350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7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等价状态例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化简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1871" y="2399575"/>
            <a:ext cx="381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</a:t>
            </a: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716843" y="2571750"/>
            <a:ext cx="76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现态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/>
          </a:p>
          <a:p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  <p:bldP spid="16" grpId="0"/>
      <p:bldP spid="17" grpId="0"/>
      <p:bldP spid="19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等价状态：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5" name="矩形 64"/>
          <p:cNvSpPr/>
          <p:nvPr/>
        </p:nvSpPr>
        <p:spPr>
          <a:xfrm>
            <a:off x="609600" y="971550"/>
            <a:ext cx="6096000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如果以时序电路的状态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作为初始状态，把各种可能的输入序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列加到该时序电路上，所得到的状态和输 出序列都完全相同，那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么状态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en-US" altLang="zh-CN" sz="1400" baseline="-25000" dirty="0" err="1"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就是等价的。</a:t>
            </a:r>
          </a:p>
        </p:txBody>
      </p:sp>
      <p:graphicFrame>
        <p:nvGraphicFramePr>
          <p:cNvPr id="80" name="Group 6"/>
          <p:cNvGraphicFramePr>
            <a:graphicFrameLocks noGrp="1"/>
          </p:cNvGraphicFramePr>
          <p:nvPr/>
        </p:nvGraphicFramePr>
        <p:xfrm>
          <a:off x="1143000" y="2385596"/>
          <a:ext cx="2057400" cy="1819531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E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1371600" y="2004596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等价状态例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6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0600" y="4400550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A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等价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14600" y="4400550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次态循环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0471" y="2365821"/>
            <a:ext cx="381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</a:t>
            </a: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1135443" y="2518221"/>
            <a:ext cx="76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现态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graphicFrame>
        <p:nvGraphicFramePr>
          <p:cNvPr id="18" name="Group 6"/>
          <p:cNvGraphicFramePr>
            <a:graphicFrameLocks noGrp="1"/>
          </p:cNvGraphicFramePr>
          <p:nvPr/>
        </p:nvGraphicFramePr>
        <p:xfrm>
          <a:off x="5562600" y="2495550"/>
          <a:ext cx="1948180" cy="1271842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38800" y="211455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9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等价状态例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化简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0071" y="2475775"/>
            <a:ext cx="381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</a:t>
            </a: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5486400" y="2647950"/>
            <a:ext cx="769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现态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505200" y="264795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等价条件是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200" y="325755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E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等价条件是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</a:t>
            </a:r>
          </a:p>
        </p:txBody>
      </p:sp>
      <p:sp>
        <p:nvSpPr>
          <p:cNvPr id="24" name="矩形 23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  <p:bldP spid="16" grpId="0"/>
      <p:bldP spid="17" grpId="0"/>
      <p:bldP spid="19" grpId="0"/>
      <p:bldP spid="22" grpId="0"/>
      <p:bldP spid="23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状态化简：隐含表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18" name="Group 6"/>
          <p:cNvGraphicFramePr>
            <a:graphicFrameLocks noGrp="1"/>
          </p:cNvGraphicFramePr>
          <p:nvPr/>
        </p:nvGraphicFramePr>
        <p:xfrm>
          <a:off x="304800" y="1428750"/>
          <a:ext cx="1871662" cy="240131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       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现态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28600" y="104775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10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状态表化简例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2" name="Group 48"/>
          <p:cNvGrpSpPr>
            <a:grpSpLocks/>
          </p:cNvGrpSpPr>
          <p:nvPr/>
        </p:nvGrpSpPr>
        <p:grpSpPr bwMode="auto">
          <a:xfrm>
            <a:off x="4038600" y="1657350"/>
            <a:ext cx="2789238" cy="2333625"/>
            <a:chOff x="3878" y="2822"/>
            <a:chExt cx="1757" cy="1470"/>
          </a:xfrm>
        </p:grpSpPr>
        <p:grpSp>
          <p:nvGrpSpPr>
            <p:cNvPr id="43" name="Group 49"/>
            <p:cNvGrpSpPr>
              <a:grpSpLocks/>
            </p:cNvGrpSpPr>
            <p:nvPr/>
          </p:nvGrpSpPr>
          <p:grpSpPr bwMode="auto">
            <a:xfrm>
              <a:off x="3878" y="2822"/>
              <a:ext cx="1587" cy="1470"/>
              <a:chOff x="3878" y="2822"/>
              <a:chExt cx="1587" cy="1470"/>
            </a:xfrm>
          </p:grpSpPr>
          <p:grpSp>
            <p:nvGrpSpPr>
              <p:cNvPr id="46" name="Group 50"/>
              <p:cNvGrpSpPr>
                <a:grpSpLocks/>
              </p:cNvGrpSpPr>
              <p:nvPr/>
            </p:nvGrpSpPr>
            <p:grpSpPr bwMode="auto">
              <a:xfrm>
                <a:off x="4105" y="2840"/>
                <a:ext cx="1360" cy="1225"/>
                <a:chOff x="4105" y="2840"/>
                <a:chExt cx="1360" cy="1225"/>
              </a:xfrm>
            </p:grpSpPr>
            <p:sp>
              <p:nvSpPr>
                <p:cNvPr id="49" name="Line 51"/>
                <p:cNvSpPr>
                  <a:spLocks noChangeShapeType="1"/>
                </p:cNvSpPr>
                <p:nvPr/>
              </p:nvSpPr>
              <p:spPr bwMode="auto">
                <a:xfrm>
                  <a:off x="4105" y="2840"/>
                  <a:ext cx="0" cy="12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0" name="Line 52"/>
                <p:cNvSpPr>
                  <a:spLocks noChangeShapeType="1"/>
                </p:cNvSpPr>
                <p:nvPr/>
              </p:nvSpPr>
              <p:spPr bwMode="auto">
                <a:xfrm>
                  <a:off x="4105" y="2840"/>
                  <a:ext cx="22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1" name="Line 53"/>
                <p:cNvSpPr>
                  <a:spLocks noChangeShapeType="1"/>
                </p:cNvSpPr>
                <p:nvPr/>
              </p:nvSpPr>
              <p:spPr bwMode="auto">
                <a:xfrm>
                  <a:off x="4105" y="3044"/>
                  <a:ext cx="45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2" name="Line 54"/>
                <p:cNvSpPr>
                  <a:spLocks noChangeShapeType="1"/>
                </p:cNvSpPr>
                <p:nvPr/>
              </p:nvSpPr>
              <p:spPr bwMode="auto">
                <a:xfrm>
                  <a:off x="4105" y="3241"/>
                  <a:ext cx="68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3" name="Line 55"/>
                <p:cNvSpPr>
                  <a:spLocks noChangeShapeType="1"/>
                </p:cNvSpPr>
                <p:nvPr/>
              </p:nvSpPr>
              <p:spPr bwMode="auto">
                <a:xfrm>
                  <a:off x="4105" y="3430"/>
                  <a:ext cx="90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4" name="Line 56"/>
                <p:cNvSpPr>
                  <a:spLocks noChangeShapeType="1"/>
                </p:cNvSpPr>
                <p:nvPr/>
              </p:nvSpPr>
              <p:spPr bwMode="auto">
                <a:xfrm>
                  <a:off x="4105" y="3634"/>
                  <a:ext cx="1134" cy="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5" name="Line 57"/>
                <p:cNvSpPr>
                  <a:spLocks noChangeShapeType="1"/>
                </p:cNvSpPr>
                <p:nvPr/>
              </p:nvSpPr>
              <p:spPr bwMode="auto">
                <a:xfrm>
                  <a:off x="4105" y="3847"/>
                  <a:ext cx="13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6" name="Line 58"/>
                <p:cNvSpPr>
                  <a:spLocks noChangeShapeType="1"/>
                </p:cNvSpPr>
                <p:nvPr/>
              </p:nvSpPr>
              <p:spPr bwMode="auto">
                <a:xfrm>
                  <a:off x="4105" y="4065"/>
                  <a:ext cx="13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7" name="Line 59"/>
                <p:cNvSpPr>
                  <a:spLocks noChangeShapeType="1"/>
                </p:cNvSpPr>
                <p:nvPr/>
              </p:nvSpPr>
              <p:spPr bwMode="auto">
                <a:xfrm>
                  <a:off x="4332" y="2840"/>
                  <a:ext cx="0" cy="12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" name="Line 60"/>
                <p:cNvSpPr>
                  <a:spLocks noChangeShapeType="1"/>
                </p:cNvSpPr>
                <p:nvPr/>
              </p:nvSpPr>
              <p:spPr bwMode="auto">
                <a:xfrm>
                  <a:off x="4558" y="3022"/>
                  <a:ext cx="0" cy="104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9" name="Line 61"/>
                <p:cNvSpPr>
                  <a:spLocks noChangeShapeType="1"/>
                </p:cNvSpPr>
                <p:nvPr/>
              </p:nvSpPr>
              <p:spPr bwMode="auto">
                <a:xfrm>
                  <a:off x="4785" y="3249"/>
                  <a:ext cx="0" cy="8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0" name="Line 62"/>
                <p:cNvSpPr>
                  <a:spLocks noChangeShapeType="1"/>
                </p:cNvSpPr>
                <p:nvPr/>
              </p:nvSpPr>
              <p:spPr bwMode="auto">
                <a:xfrm>
                  <a:off x="5012" y="3430"/>
                  <a:ext cx="0" cy="63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1" name="Line 63"/>
                <p:cNvSpPr>
                  <a:spLocks noChangeShapeType="1"/>
                </p:cNvSpPr>
                <p:nvPr/>
              </p:nvSpPr>
              <p:spPr bwMode="auto">
                <a:xfrm>
                  <a:off x="5239" y="3612"/>
                  <a:ext cx="0" cy="45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3" name="Line 64"/>
                <p:cNvSpPr>
                  <a:spLocks noChangeShapeType="1"/>
                </p:cNvSpPr>
                <p:nvPr/>
              </p:nvSpPr>
              <p:spPr bwMode="auto">
                <a:xfrm>
                  <a:off x="5465" y="3838"/>
                  <a:ext cx="0" cy="2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4" name="Rectangle 65"/>
                <p:cNvSpPr>
                  <a:spLocks noChangeArrowheads="1"/>
                </p:cNvSpPr>
                <p:nvPr/>
              </p:nvSpPr>
              <p:spPr bwMode="auto">
                <a:xfrm>
                  <a:off x="4468" y="2990"/>
                  <a:ext cx="136" cy="4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Rectangle 66"/>
                <p:cNvSpPr>
                  <a:spLocks noChangeArrowheads="1"/>
                </p:cNvSpPr>
                <p:nvPr/>
              </p:nvSpPr>
              <p:spPr bwMode="auto">
                <a:xfrm>
                  <a:off x="5148" y="3566"/>
                  <a:ext cx="136" cy="5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47" name="Text Box 67"/>
              <p:cNvSpPr txBox="1">
                <a:spLocks noChangeArrowheads="1"/>
              </p:cNvSpPr>
              <p:nvPr/>
            </p:nvSpPr>
            <p:spPr bwMode="auto">
              <a:xfrm>
                <a:off x="3878" y="2822"/>
                <a:ext cx="214" cy="12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1800" i="0" dirty="0"/>
                  <a:t>B</a:t>
                </a:r>
              </a:p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1800" i="0" dirty="0"/>
                  <a:t>C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D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E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F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G</a:t>
                </a:r>
              </a:p>
            </p:txBody>
          </p:sp>
          <p:sp>
            <p:nvSpPr>
              <p:cNvPr id="48" name="Text Box 68"/>
              <p:cNvSpPr txBox="1">
                <a:spLocks noChangeArrowheads="1"/>
              </p:cNvSpPr>
              <p:nvPr/>
            </p:nvSpPr>
            <p:spPr bwMode="auto">
              <a:xfrm>
                <a:off x="4137" y="4061"/>
                <a:ext cx="130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800" i="0"/>
                  <a:t>A   B   C   D   E   F</a:t>
                </a:r>
              </a:p>
            </p:txBody>
          </p:sp>
        </p:grpSp>
        <p:sp>
          <p:nvSpPr>
            <p:cNvPr id="45" name="Text Box 69"/>
            <p:cNvSpPr txBox="1">
              <a:spLocks noChangeArrowheads="1"/>
            </p:cNvSpPr>
            <p:nvPr/>
          </p:nvSpPr>
          <p:spPr bwMode="auto">
            <a:xfrm>
              <a:off x="5375" y="3035"/>
              <a:ext cx="260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800" i="0">
                  <a:ea typeface="黑体" pitchFamily="49" charset="-122"/>
                </a:rPr>
                <a:t>隐</a:t>
              </a:r>
            </a:p>
            <a:p>
              <a:pPr eaLnBrk="1" hangingPunct="1"/>
              <a:r>
                <a:rPr lang="zh-CN" altLang="en-US" sz="1800" i="0">
                  <a:ea typeface="黑体" pitchFamily="49" charset="-122"/>
                </a:rPr>
                <a:t>含</a:t>
              </a:r>
            </a:p>
            <a:p>
              <a:pPr eaLnBrk="1" hangingPunct="1"/>
              <a:r>
                <a:rPr lang="zh-CN" altLang="en-US" sz="1800" i="0">
                  <a:ea typeface="黑体" pitchFamily="49" charset="-122"/>
                </a:rPr>
                <a:t>表</a:t>
              </a:r>
            </a:p>
          </p:txBody>
        </p:sp>
      </p:grp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3505200" y="895350"/>
            <a:ext cx="45354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1600" i="0" dirty="0">
                <a:latin typeface="微软雅黑" pitchFamily="34" charset="-122"/>
                <a:ea typeface="微软雅黑" pitchFamily="34" charset="-122"/>
              </a:rPr>
              <a:t>由原始状态表“缺头”、“少尾”构造出的直角三角形表格。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0600" y="401955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隐含表</a:t>
            </a:r>
          </a:p>
        </p:txBody>
      </p:sp>
      <p:sp>
        <p:nvSpPr>
          <p:cNvPr id="33" name="矩形 32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69" grpId="0" autoUpdateAnimBg="0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状态化简：隐含表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3" name="Text Box 70"/>
          <p:cNvSpPr txBox="1">
            <a:spLocks noChangeArrowheads="1"/>
          </p:cNvSpPr>
          <p:nvPr/>
        </p:nvSpPr>
        <p:spPr bwMode="auto">
          <a:xfrm>
            <a:off x="1036637" y="1108075"/>
            <a:ext cx="124936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75000"/>
            </a:pPr>
            <a:r>
              <a:rPr lang="zh-CN" altLang="en-US" sz="1400" i="0" dirty="0">
                <a:latin typeface="微软雅黑" pitchFamily="34" charset="-122"/>
                <a:ea typeface="微软雅黑" pitchFamily="34" charset="-122"/>
              </a:rPr>
              <a:t>顺序比较</a:t>
            </a:r>
          </a:p>
        </p:txBody>
      </p:sp>
      <p:sp>
        <p:nvSpPr>
          <p:cNvPr id="34" name="Text Box 71"/>
          <p:cNvSpPr txBox="1">
            <a:spLocks noChangeArrowheads="1"/>
          </p:cNvSpPr>
          <p:nvPr/>
        </p:nvSpPr>
        <p:spPr bwMode="auto">
          <a:xfrm>
            <a:off x="1295400" y="1504950"/>
            <a:ext cx="233046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1400" i="0" dirty="0">
                <a:latin typeface="微软雅黑" pitchFamily="34" charset="-122"/>
                <a:ea typeface="微软雅黑" pitchFamily="34" charset="-122"/>
              </a:rPr>
              <a:t>状态比较和标注的三种情况：</a:t>
            </a:r>
          </a:p>
        </p:txBody>
      </p:sp>
      <p:sp>
        <p:nvSpPr>
          <p:cNvPr id="35" name="Text Box 72"/>
          <p:cNvSpPr txBox="1">
            <a:spLocks noChangeArrowheads="1"/>
          </p:cNvSpPr>
          <p:nvPr/>
        </p:nvSpPr>
        <p:spPr bwMode="auto">
          <a:xfrm>
            <a:off x="1311275" y="1901825"/>
            <a:ext cx="43275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/>
            <a:r>
              <a:rPr lang="en-US" altLang="zh-CN" sz="1400" i="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400" i="0" dirty="0">
                <a:latin typeface="微软雅黑" pitchFamily="34" charset="-122"/>
                <a:ea typeface="微软雅黑" pitchFamily="34" charset="-122"/>
              </a:rPr>
              <a:t>输出不相同，在相应的方格上打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，</a:t>
            </a:r>
            <a:r>
              <a:rPr lang="zh-CN" altLang="en-US" sz="1400" i="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以示不等价。</a:t>
            </a:r>
          </a:p>
        </p:txBody>
      </p:sp>
      <p:sp>
        <p:nvSpPr>
          <p:cNvPr id="36" name="Text Box 73"/>
          <p:cNvSpPr txBox="1">
            <a:spLocks noChangeArrowheads="1"/>
          </p:cNvSpPr>
          <p:nvPr/>
        </p:nvSpPr>
        <p:spPr bwMode="auto">
          <a:xfrm>
            <a:off x="1295400" y="2518886"/>
            <a:ext cx="545782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i="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400" i="0" dirty="0">
                <a:latin typeface="微软雅黑" pitchFamily="34" charset="-122"/>
                <a:ea typeface="微软雅黑" pitchFamily="34" charset="-122"/>
              </a:rPr>
              <a:t>输出完全相同，次态相同或交错为原状态对的，在相应方格上打 </a:t>
            </a:r>
            <a:endParaRPr lang="en-US" altLang="zh-CN" sz="1400" i="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400" i="0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1400" i="0" dirty="0">
                <a:latin typeface="微软雅黑" pitchFamily="34" charset="-122"/>
                <a:ea typeface="微软雅黑" pitchFamily="34" charset="-122"/>
              </a:rPr>
              <a:t>上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，</a:t>
            </a:r>
            <a:r>
              <a:rPr lang="zh-CN" altLang="en-US" sz="1400" i="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以示等价。</a:t>
            </a:r>
          </a:p>
        </p:txBody>
      </p:sp>
      <p:sp>
        <p:nvSpPr>
          <p:cNvPr id="37" name="Text Box 74"/>
          <p:cNvSpPr txBox="1">
            <a:spLocks noChangeArrowheads="1"/>
          </p:cNvSpPr>
          <p:nvPr/>
        </p:nvSpPr>
        <p:spPr bwMode="auto">
          <a:xfrm>
            <a:off x="1371600" y="3509486"/>
            <a:ext cx="53800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i="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400" i="0" dirty="0">
                <a:latin typeface="微软雅黑" pitchFamily="34" charset="-122"/>
                <a:ea typeface="微软雅黑" pitchFamily="34" charset="-122"/>
              </a:rPr>
              <a:t>输出完全相同，将既不相同又不交错为原状态对的次态列入相应</a:t>
            </a:r>
            <a:endParaRPr lang="en-US" altLang="zh-CN" sz="1400" i="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 sz="1400" i="0" dirty="0">
                <a:latin typeface="微软雅黑" pitchFamily="34" charset="-122"/>
                <a:ea typeface="微软雅黑" pitchFamily="34" charset="-122"/>
              </a:rPr>
              <a:t>   方格中，以待进一步比较。</a:t>
            </a:r>
            <a:endParaRPr lang="zh-CN" altLang="en-US" sz="1400" b="1" i="0" dirty="0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  <p:bldP spid="34" grpId="0" autoUpdateAnimBg="0"/>
      <p:bldP spid="35" grpId="0" autoUpdateAnimBg="0"/>
      <p:bldP spid="36" grpId="0" autoUpdateAnimBg="0"/>
      <p:bldP spid="3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状态化简：隐含表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18" name="Group 6"/>
          <p:cNvGraphicFramePr>
            <a:graphicFrameLocks noGrp="1"/>
          </p:cNvGraphicFramePr>
          <p:nvPr/>
        </p:nvGraphicFramePr>
        <p:xfrm>
          <a:off x="304800" y="1428750"/>
          <a:ext cx="1871662" cy="240131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       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现态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04800" y="1062864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10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等价状态例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化简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2438400" y="1428750"/>
            <a:ext cx="2789238" cy="2333625"/>
            <a:chOff x="3878" y="2822"/>
            <a:chExt cx="1757" cy="1470"/>
          </a:xfrm>
        </p:grpSpPr>
        <p:grpSp>
          <p:nvGrpSpPr>
            <p:cNvPr id="3" name="Group 49"/>
            <p:cNvGrpSpPr>
              <a:grpSpLocks/>
            </p:cNvGrpSpPr>
            <p:nvPr/>
          </p:nvGrpSpPr>
          <p:grpSpPr bwMode="auto">
            <a:xfrm>
              <a:off x="3878" y="2822"/>
              <a:ext cx="1587" cy="1470"/>
              <a:chOff x="3878" y="2822"/>
              <a:chExt cx="1587" cy="1470"/>
            </a:xfrm>
          </p:grpSpPr>
          <p:grpSp>
            <p:nvGrpSpPr>
              <p:cNvPr id="4" name="Group 50"/>
              <p:cNvGrpSpPr>
                <a:grpSpLocks/>
              </p:cNvGrpSpPr>
              <p:nvPr/>
            </p:nvGrpSpPr>
            <p:grpSpPr bwMode="auto">
              <a:xfrm>
                <a:off x="4105" y="2840"/>
                <a:ext cx="1360" cy="1225"/>
                <a:chOff x="4105" y="2840"/>
                <a:chExt cx="1360" cy="1225"/>
              </a:xfrm>
            </p:grpSpPr>
            <p:sp>
              <p:nvSpPr>
                <p:cNvPr id="49" name="Line 51"/>
                <p:cNvSpPr>
                  <a:spLocks noChangeShapeType="1"/>
                </p:cNvSpPr>
                <p:nvPr/>
              </p:nvSpPr>
              <p:spPr bwMode="auto">
                <a:xfrm>
                  <a:off x="4105" y="2840"/>
                  <a:ext cx="0" cy="12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0" name="Line 52"/>
                <p:cNvSpPr>
                  <a:spLocks noChangeShapeType="1"/>
                </p:cNvSpPr>
                <p:nvPr/>
              </p:nvSpPr>
              <p:spPr bwMode="auto">
                <a:xfrm>
                  <a:off x="4105" y="2840"/>
                  <a:ext cx="22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1" name="Line 53"/>
                <p:cNvSpPr>
                  <a:spLocks noChangeShapeType="1"/>
                </p:cNvSpPr>
                <p:nvPr/>
              </p:nvSpPr>
              <p:spPr bwMode="auto">
                <a:xfrm>
                  <a:off x="4105" y="3044"/>
                  <a:ext cx="45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2" name="Line 54"/>
                <p:cNvSpPr>
                  <a:spLocks noChangeShapeType="1"/>
                </p:cNvSpPr>
                <p:nvPr/>
              </p:nvSpPr>
              <p:spPr bwMode="auto">
                <a:xfrm>
                  <a:off x="4105" y="3241"/>
                  <a:ext cx="68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3" name="Line 55"/>
                <p:cNvSpPr>
                  <a:spLocks noChangeShapeType="1"/>
                </p:cNvSpPr>
                <p:nvPr/>
              </p:nvSpPr>
              <p:spPr bwMode="auto">
                <a:xfrm>
                  <a:off x="4105" y="3430"/>
                  <a:ext cx="90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4" name="Line 56"/>
                <p:cNvSpPr>
                  <a:spLocks noChangeShapeType="1"/>
                </p:cNvSpPr>
                <p:nvPr/>
              </p:nvSpPr>
              <p:spPr bwMode="auto">
                <a:xfrm>
                  <a:off x="4105" y="3634"/>
                  <a:ext cx="1134" cy="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5" name="Line 57"/>
                <p:cNvSpPr>
                  <a:spLocks noChangeShapeType="1"/>
                </p:cNvSpPr>
                <p:nvPr/>
              </p:nvSpPr>
              <p:spPr bwMode="auto">
                <a:xfrm>
                  <a:off x="4105" y="3847"/>
                  <a:ext cx="13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6" name="Line 58"/>
                <p:cNvSpPr>
                  <a:spLocks noChangeShapeType="1"/>
                </p:cNvSpPr>
                <p:nvPr/>
              </p:nvSpPr>
              <p:spPr bwMode="auto">
                <a:xfrm>
                  <a:off x="4105" y="4065"/>
                  <a:ext cx="13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7" name="Line 59"/>
                <p:cNvSpPr>
                  <a:spLocks noChangeShapeType="1"/>
                </p:cNvSpPr>
                <p:nvPr/>
              </p:nvSpPr>
              <p:spPr bwMode="auto">
                <a:xfrm>
                  <a:off x="4332" y="2840"/>
                  <a:ext cx="0" cy="12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" name="Line 60"/>
                <p:cNvSpPr>
                  <a:spLocks noChangeShapeType="1"/>
                </p:cNvSpPr>
                <p:nvPr/>
              </p:nvSpPr>
              <p:spPr bwMode="auto">
                <a:xfrm>
                  <a:off x="4558" y="3022"/>
                  <a:ext cx="0" cy="104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9" name="Line 61"/>
                <p:cNvSpPr>
                  <a:spLocks noChangeShapeType="1"/>
                </p:cNvSpPr>
                <p:nvPr/>
              </p:nvSpPr>
              <p:spPr bwMode="auto">
                <a:xfrm>
                  <a:off x="4785" y="3249"/>
                  <a:ext cx="0" cy="8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0" name="Line 62"/>
                <p:cNvSpPr>
                  <a:spLocks noChangeShapeType="1"/>
                </p:cNvSpPr>
                <p:nvPr/>
              </p:nvSpPr>
              <p:spPr bwMode="auto">
                <a:xfrm>
                  <a:off x="5012" y="3430"/>
                  <a:ext cx="0" cy="63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1" name="Line 63"/>
                <p:cNvSpPr>
                  <a:spLocks noChangeShapeType="1"/>
                </p:cNvSpPr>
                <p:nvPr/>
              </p:nvSpPr>
              <p:spPr bwMode="auto">
                <a:xfrm>
                  <a:off x="5239" y="3612"/>
                  <a:ext cx="0" cy="45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3" name="Line 64"/>
                <p:cNvSpPr>
                  <a:spLocks noChangeShapeType="1"/>
                </p:cNvSpPr>
                <p:nvPr/>
              </p:nvSpPr>
              <p:spPr bwMode="auto">
                <a:xfrm>
                  <a:off x="5465" y="3838"/>
                  <a:ext cx="0" cy="2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4" name="Rectangle 65"/>
                <p:cNvSpPr>
                  <a:spLocks noChangeArrowheads="1"/>
                </p:cNvSpPr>
                <p:nvPr/>
              </p:nvSpPr>
              <p:spPr bwMode="auto">
                <a:xfrm>
                  <a:off x="4468" y="2990"/>
                  <a:ext cx="136" cy="4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Rectangle 66"/>
                <p:cNvSpPr>
                  <a:spLocks noChangeArrowheads="1"/>
                </p:cNvSpPr>
                <p:nvPr/>
              </p:nvSpPr>
              <p:spPr bwMode="auto">
                <a:xfrm>
                  <a:off x="5148" y="3566"/>
                  <a:ext cx="136" cy="5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47" name="Text Box 67"/>
              <p:cNvSpPr txBox="1">
                <a:spLocks noChangeArrowheads="1"/>
              </p:cNvSpPr>
              <p:nvPr/>
            </p:nvSpPr>
            <p:spPr bwMode="auto">
              <a:xfrm>
                <a:off x="3878" y="2822"/>
                <a:ext cx="214" cy="12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1800" i="0" dirty="0"/>
                  <a:t>B</a:t>
                </a:r>
              </a:p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1800" i="0" dirty="0"/>
                  <a:t>C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D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E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F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G</a:t>
                </a:r>
              </a:p>
            </p:txBody>
          </p:sp>
          <p:sp>
            <p:nvSpPr>
              <p:cNvPr id="48" name="Text Box 68"/>
              <p:cNvSpPr txBox="1">
                <a:spLocks noChangeArrowheads="1"/>
              </p:cNvSpPr>
              <p:nvPr/>
            </p:nvSpPr>
            <p:spPr bwMode="auto">
              <a:xfrm>
                <a:off x="4137" y="4061"/>
                <a:ext cx="130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800" i="0"/>
                  <a:t>A   B   C   D   E   F</a:t>
                </a:r>
              </a:p>
            </p:txBody>
          </p:sp>
        </p:grpSp>
        <p:sp>
          <p:nvSpPr>
            <p:cNvPr id="45" name="Text Box 69"/>
            <p:cNvSpPr txBox="1">
              <a:spLocks noChangeArrowheads="1"/>
            </p:cNvSpPr>
            <p:nvPr/>
          </p:nvSpPr>
          <p:spPr bwMode="auto">
            <a:xfrm>
              <a:off x="5375" y="3035"/>
              <a:ext cx="260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800" i="0">
                  <a:ea typeface="黑体" pitchFamily="49" charset="-122"/>
                </a:rPr>
                <a:t>隐</a:t>
              </a:r>
            </a:p>
            <a:p>
              <a:pPr eaLnBrk="1" hangingPunct="1"/>
              <a:r>
                <a:rPr lang="zh-CN" altLang="en-US" sz="1800" i="0">
                  <a:ea typeface="黑体" pitchFamily="49" charset="-122"/>
                </a:rPr>
                <a:t>含</a:t>
              </a:r>
            </a:p>
            <a:p>
              <a:pPr eaLnBrk="1" hangingPunct="1"/>
              <a:r>
                <a:rPr lang="zh-CN" altLang="en-US" sz="1800" i="0">
                  <a:ea typeface="黑体" pitchFamily="49" charset="-122"/>
                </a:rPr>
                <a:t>表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3200400" y="379095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隐含表</a:t>
            </a:r>
          </a:p>
        </p:txBody>
      </p:sp>
      <p:sp>
        <p:nvSpPr>
          <p:cNvPr id="33" name="Text Box 70"/>
          <p:cNvSpPr txBox="1">
            <a:spLocks noChangeArrowheads="1"/>
          </p:cNvSpPr>
          <p:nvPr/>
        </p:nvSpPr>
        <p:spPr bwMode="auto">
          <a:xfrm>
            <a:off x="5502275" y="811689"/>
            <a:ext cx="111283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75000"/>
            </a:pPr>
            <a:r>
              <a:rPr lang="zh-CN" altLang="en-US" sz="1200" i="0" dirty="0">
                <a:latin typeface="微软雅黑" pitchFamily="34" charset="-122"/>
                <a:ea typeface="微软雅黑" pitchFamily="34" charset="-122"/>
              </a:rPr>
              <a:t>顺序比较</a:t>
            </a:r>
          </a:p>
        </p:txBody>
      </p:sp>
      <p:sp>
        <p:nvSpPr>
          <p:cNvPr id="34" name="Text Box 71"/>
          <p:cNvSpPr txBox="1">
            <a:spLocks noChangeArrowheads="1"/>
          </p:cNvSpPr>
          <p:nvPr/>
        </p:nvSpPr>
        <p:spPr bwMode="auto">
          <a:xfrm>
            <a:off x="5562600" y="1253014"/>
            <a:ext cx="268287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1200" i="0" dirty="0">
                <a:latin typeface="微软雅黑" pitchFamily="34" charset="-122"/>
                <a:ea typeface="微软雅黑" pitchFamily="34" charset="-122"/>
              </a:rPr>
              <a:t>状态比较和标注的三种情况：</a:t>
            </a:r>
          </a:p>
        </p:txBody>
      </p:sp>
      <p:sp>
        <p:nvSpPr>
          <p:cNvPr id="35" name="Text Box 72"/>
          <p:cNvSpPr txBox="1">
            <a:spLocks noChangeArrowheads="1"/>
          </p:cNvSpPr>
          <p:nvPr/>
        </p:nvSpPr>
        <p:spPr bwMode="auto">
          <a:xfrm>
            <a:off x="5273675" y="1649889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180000" eaLnBrk="1" hangingPunct="1"/>
            <a:r>
              <a:rPr lang="en-US" altLang="zh-CN" sz="1200" i="0" dirty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1200" i="0" dirty="0">
                <a:latin typeface="微软雅黑" pitchFamily="34" charset="-122"/>
                <a:ea typeface="微软雅黑" pitchFamily="34" charset="-122"/>
              </a:rPr>
              <a:t>输出不相同，在相应的方格上打</a:t>
            </a:r>
            <a:r>
              <a:rPr lang="zh-CN" altLang="en-US" sz="1200" i="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，以示不等价。</a:t>
            </a:r>
          </a:p>
        </p:txBody>
      </p:sp>
      <p:sp>
        <p:nvSpPr>
          <p:cNvPr id="36" name="Text Box 73"/>
          <p:cNvSpPr txBox="1">
            <a:spLocks noChangeArrowheads="1"/>
          </p:cNvSpPr>
          <p:nvPr/>
        </p:nvSpPr>
        <p:spPr bwMode="auto">
          <a:xfrm>
            <a:off x="5562600" y="2266950"/>
            <a:ext cx="30638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1200" i="0" dirty="0">
                <a:latin typeface="微软雅黑" pitchFamily="34" charset="-122"/>
                <a:ea typeface="微软雅黑" pitchFamily="34" charset="-122"/>
              </a:rPr>
              <a:t>输出完全相同，次态相同或交错为  原状态对的，在相应方格上打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上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，以示等价。</a:t>
            </a:r>
          </a:p>
          <a:p>
            <a:pPr eaLnBrk="1" hangingPunct="1"/>
            <a:endParaRPr lang="en-US" altLang="zh-CN" sz="1200" i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 Box 74"/>
          <p:cNvSpPr txBox="1">
            <a:spLocks noChangeArrowheads="1"/>
          </p:cNvSpPr>
          <p:nvPr/>
        </p:nvSpPr>
        <p:spPr bwMode="auto">
          <a:xfrm>
            <a:off x="5654675" y="3097689"/>
            <a:ext cx="302020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200" i="0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200" i="0" dirty="0">
                <a:latin typeface="微软雅黑" pitchFamily="34" charset="-122"/>
                <a:ea typeface="微软雅黑" pitchFamily="34" charset="-122"/>
              </a:rPr>
              <a:t>输出完全相同，将既不相同又不交错为原状态对的次态列入相应</a:t>
            </a:r>
            <a:endParaRPr lang="en-US" altLang="zh-CN" sz="1200" i="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 sz="1200" i="0" dirty="0">
                <a:latin typeface="微软雅黑" pitchFamily="34" charset="-122"/>
                <a:ea typeface="微软雅黑" pitchFamily="34" charset="-122"/>
              </a:rPr>
              <a:t>方格中，以待进一步比较。</a:t>
            </a:r>
            <a:endParaRPr lang="zh-CN" altLang="en-US" sz="1200" i="0" dirty="0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38" name="Text Box 75"/>
          <p:cNvSpPr txBox="1">
            <a:spLocks noChangeArrowheads="1"/>
          </p:cNvSpPr>
          <p:nvPr/>
        </p:nvSpPr>
        <p:spPr bwMode="auto">
          <a:xfrm>
            <a:off x="2751387" y="1497393"/>
            <a:ext cx="4010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i="0" dirty="0">
                <a:latin typeface="微软雅黑" pitchFamily="34" charset="-122"/>
                <a:ea typeface="微软雅黑" pitchFamily="34" charset="-122"/>
              </a:rPr>
              <a:t>CF</a:t>
            </a:r>
          </a:p>
        </p:txBody>
      </p:sp>
      <p:sp>
        <p:nvSpPr>
          <p:cNvPr id="39" name="Text Box 76"/>
          <p:cNvSpPr txBox="1">
            <a:spLocks noChangeArrowheads="1"/>
          </p:cNvSpPr>
          <p:nvPr/>
        </p:nvSpPr>
        <p:spPr bwMode="auto">
          <a:xfrm>
            <a:off x="2751387" y="2434018"/>
            <a:ext cx="396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i="0">
                <a:latin typeface="微软雅黑" pitchFamily="34" charset="-122"/>
                <a:ea typeface="微软雅黑" pitchFamily="34" charset="-122"/>
              </a:rPr>
              <a:t>BE</a:t>
            </a:r>
          </a:p>
        </p:txBody>
      </p:sp>
      <p:sp>
        <p:nvSpPr>
          <p:cNvPr id="40" name="Text Box 77"/>
          <p:cNvSpPr txBox="1">
            <a:spLocks noChangeArrowheads="1"/>
          </p:cNvSpPr>
          <p:nvPr/>
        </p:nvSpPr>
        <p:spPr bwMode="auto">
          <a:xfrm>
            <a:off x="3160962" y="2332418"/>
            <a:ext cx="410690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i="0">
                <a:latin typeface="微软雅黑" pitchFamily="34" charset="-122"/>
                <a:ea typeface="微软雅黑" pitchFamily="34" charset="-122"/>
              </a:rPr>
              <a:t>CF</a:t>
            </a:r>
          </a:p>
          <a:p>
            <a:pPr eaLnBrk="1" hangingPunct="1">
              <a:lnSpc>
                <a:spcPct val="75000"/>
              </a:lnSpc>
            </a:pPr>
            <a:r>
              <a:rPr lang="en-US" altLang="zh-CN" sz="1400" i="0">
                <a:latin typeface="微软雅黑" pitchFamily="34" charset="-122"/>
                <a:ea typeface="微软雅黑" pitchFamily="34" charset="-122"/>
              </a:rPr>
              <a:t>AE</a:t>
            </a:r>
          </a:p>
        </p:txBody>
      </p:sp>
      <p:sp>
        <p:nvSpPr>
          <p:cNvPr id="41" name="Text Box 78"/>
          <p:cNvSpPr txBox="1">
            <a:spLocks noChangeArrowheads="1"/>
          </p:cNvSpPr>
          <p:nvPr/>
        </p:nvSpPr>
        <p:spPr bwMode="auto">
          <a:xfrm>
            <a:off x="3881687" y="3019806"/>
            <a:ext cx="441146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i="0">
                <a:latin typeface="微软雅黑" pitchFamily="34" charset="-122"/>
                <a:ea typeface="微软雅黑" pitchFamily="34" charset="-122"/>
              </a:rPr>
              <a:t>DE</a:t>
            </a:r>
          </a:p>
          <a:p>
            <a:pPr eaLnBrk="1" hangingPunct="1">
              <a:lnSpc>
                <a:spcPct val="75000"/>
              </a:lnSpc>
            </a:pPr>
            <a:r>
              <a:rPr lang="en-US" altLang="zh-CN" sz="1400" i="0">
                <a:latin typeface="微软雅黑" pitchFamily="34" charset="-122"/>
                <a:ea typeface="微软雅黑" pitchFamily="34" charset="-122"/>
              </a:rPr>
              <a:t>CD</a:t>
            </a:r>
          </a:p>
        </p:txBody>
      </p:sp>
      <p:sp>
        <p:nvSpPr>
          <p:cNvPr id="42" name="Text Box 79"/>
          <p:cNvSpPr txBox="1">
            <a:spLocks noChangeArrowheads="1"/>
          </p:cNvSpPr>
          <p:nvPr/>
        </p:nvSpPr>
        <p:spPr bwMode="auto">
          <a:xfrm>
            <a:off x="2803775" y="1756221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 dirty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 dirty="0">
              <a:latin typeface="+mn-lt"/>
              <a:ea typeface="微软雅黑" pitchFamily="34" charset="-122"/>
            </a:endParaRPr>
          </a:p>
        </p:txBody>
      </p:sp>
      <p:sp>
        <p:nvSpPr>
          <p:cNvPr id="43" name="Text Box 80"/>
          <p:cNvSpPr txBox="1">
            <a:spLocks noChangeArrowheads="1"/>
          </p:cNvSpPr>
          <p:nvPr/>
        </p:nvSpPr>
        <p:spPr bwMode="auto">
          <a:xfrm>
            <a:off x="2803775" y="2043558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46" name="Text Box 81"/>
          <p:cNvSpPr txBox="1">
            <a:spLocks noChangeArrowheads="1"/>
          </p:cNvSpPr>
          <p:nvPr/>
        </p:nvSpPr>
        <p:spPr bwMode="auto">
          <a:xfrm>
            <a:off x="2803775" y="2691258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65" name="Text Box 82"/>
          <p:cNvSpPr txBox="1">
            <a:spLocks noChangeArrowheads="1"/>
          </p:cNvSpPr>
          <p:nvPr/>
        </p:nvSpPr>
        <p:spPr bwMode="auto">
          <a:xfrm>
            <a:off x="2803775" y="3051621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66" name="Text Box 83"/>
          <p:cNvSpPr txBox="1">
            <a:spLocks noChangeArrowheads="1"/>
          </p:cNvSpPr>
          <p:nvPr/>
        </p:nvSpPr>
        <p:spPr bwMode="auto">
          <a:xfrm>
            <a:off x="3164137" y="17562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68" name="Text Box 84"/>
          <p:cNvSpPr txBox="1">
            <a:spLocks noChangeArrowheads="1"/>
          </p:cNvSpPr>
          <p:nvPr/>
        </p:nvSpPr>
        <p:spPr bwMode="auto">
          <a:xfrm>
            <a:off x="3164137" y="2043558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1" name="Text Box 85"/>
          <p:cNvSpPr txBox="1">
            <a:spLocks noChangeArrowheads="1"/>
          </p:cNvSpPr>
          <p:nvPr/>
        </p:nvSpPr>
        <p:spPr bwMode="auto">
          <a:xfrm>
            <a:off x="3164137" y="2691258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2" name="Text Box 86"/>
          <p:cNvSpPr txBox="1">
            <a:spLocks noChangeArrowheads="1"/>
          </p:cNvSpPr>
          <p:nvPr/>
        </p:nvSpPr>
        <p:spPr bwMode="auto">
          <a:xfrm>
            <a:off x="3164137" y="30516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3" name="Text Box 87"/>
          <p:cNvSpPr txBox="1">
            <a:spLocks noChangeArrowheads="1"/>
          </p:cNvSpPr>
          <p:nvPr/>
        </p:nvSpPr>
        <p:spPr bwMode="auto">
          <a:xfrm>
            <a:off x="3532437" y="20483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4" name="Text Box 88"/>
          <p:cNvSpPr txBox="1">
            <a:spLocks noChangeArrowheads="1"/>
          </p:cNvSpPr>
          <p:nvPr/>
        </p:nvSpPr>
        <p:spPr bwMode="auto">
          <a:xfrm>
            <a:off x="3522912" y="2337246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6" name="Text Box 89"/>
          <p:cNvSpPr txBox="1">
            <a:spLocks noChangeArrowheads="1"/>
          </p:cNvSpPr>
          <p:nvPr/>
        </p:nvSpPr>
        <p:spPr bwMode="auto">
          <a:xfrm>
            <a:off x="3522912" y="30516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7" name="Text Box 90"/>
          <p:cNvSpPr txBox="1">
            <a:spLocks noChangeArrowheads="1"/>
          </p:cNvSpPr>
          <p:nvPr/>
        </p:nvSpPr>
        <p:spPr bwMode="auto">
          <a:xfrm>
            <a:off x="3892800" y="2697608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8" name="Text Box 91"/>
          <p:cNvSpPr txBox="1">
            <a:spLocks noChangeArrowheads="1"/>
          </p:cNvSpPr>
          <p:nvPr/>
        </p:nvSpPr>
        <p:spPr bwMode="auto">
          <a:xfrm>
            <a:off x="3883275" y="2337246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9" name="Text Box 92"/>
          <p:cNvSpPr txBox="1">
            <a:spLocks noChangeArrowheads="1"/>
          </p:cNvSpPr>
          <p:nvPr/>
        </p:nvSpPr>
        <p:spPr bwMode="auto">
          <a:xfrm>
            <a:off x="4253162" y="2691258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80" name="Text Box 93"/>
          <p:cNvSpPr txBox="1">
            <a:spLocks noChangeArrowheads="1"/>
          </p:cNvSpPr>
          <p:nvPr/>
        </p:nvSpPr>
        <p:spPr bwMode="auto">
          <a:xfrm>
            <a:off x="4253162" y="30516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81" name="Text Box 94"/>
          <p:cNvSpPr txBox="1">
            <a:spLocks noChangeArrowheads="1"/>
          </p:cNvSpPr>
          <p:nvPr/>
        </p:nvSpPr>
        <p:spPr bwMode="auto">
          <a:xfrm>
            <a:off x="4611937" y="30516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82" name="Text Box 95"/>
          <p:cNvSpPr txBox="1">
            <a:spLocks noChangeArrowheads="1"/>
          </p:cNvSpPr>
          <p:nvPr/>
        </p:nvSpPr>
        <p:spPr bwMode="auto">
          <a:xfrm>
            <a:off x="3522912" y="2709862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i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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  <p:bldP spid="39" grpId="0" autoUpdateAnimBg="0"/>
      <p:bldP spid="40" grpId="0" autoUpdateAnimBg="0"/>
      <p:bldP spid="41" grpId="0" autoUpdateAnimBg="0"/>
      <p:bldP spid="42" grpId="0" autoUpdateAnimBg="0"/>
      <p:bldP spid="43" grpId="0" autoUpdateAnimBg="0"/>
      <p:bldP spid="46" grpId="0" autoUpdateAnimBg="0"/>
      <p:bldP spid="65" grpId="0" autoUpdateAnimBg="0"/>
      <p:bldP spid="66" grpId="0" autoUpdateAnimBg="0"/>
      <p:bldP spid="68" grpId="0" autoUpdateAnimBg="0"/>
      <p:bldP spid="71" grpId="0" autoUpdateAnimBg="0"/>
      <p:bldP spid="72" grpId="0" autoUpdateAnimBg="0"/>
      <p:bldP spid="73" grpId="0" autoUpdateAnimBg="0"/>
      <p:bldP spid="74" grpId="0" autoUpdateAnimBg="0"/>
      <p:bldP spid="76" grpId="0" autoUpdateAnimBg="0"/>
      <p:bldP spid="77" grpId="0" autoUpdateAnimBg="0"/>
      <p:bldP spid="78" grpId="0" autoUpdateAnimBg="0"/>
      <p:bldP spid="79" grpId="0" autoUpdateAnimBg="0"/>
      <p:bldP spid="80" grpId="0" autoUpdateAnimBg="0"/>
      <p:bldP spid="81" grpId="0" autoUpdateAnimBg="0"/>
      <p:bldP spid="8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状态化简：隐含表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18" name="Group 6"/>
          <p:cNvGraphicFramePr>
            <a:graphicFrameLocks noGrp="1"/>
          </p:cNvGraphicFramePr>
          <p:nvPr/>
        </p:nvGraphicFramePr>
        <p:xfrm>
          <a:off x="304800" y="1428750"/>
          <a:ext cx="1871662" cy="240131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       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现态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</a:t>
                      </a:r>
                    </a:p>
                  </a:txBody>
                  <a:tcPr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C/1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2438400" y="1428750"/>
            <a:ext cx="2789238" cy="2333625"/>
            <a:chOff x="3878" y="2822"/>
            <a:chExt cx="1757" cy="1470"/>
          </a:xfrm>
        </p:grpSpPr>
        <p:grpSp>
          <p:nvGrpSpPr>
            <p:cNvPr id="3" name="Group 49"/>
            <p:cNvGrpSpPr>
              <a:grpSpLocks/>
            </p:cNvGrpSpPr>
            <p:nvPr/>
          </p:nvGrpSpPr>
          <p:grpSpPr bwMode="auto">
            <a:xfrm>
              <a:off x="3878" y="2822"/>
              <a:ext cx="1587" cy="1470"/>
              <a:chOff x="3878" y="2822"/>
              <a:chExt cx="1587" cy="1470"/>
            </a:xfrm>
          </p:grpSpPr>
          <p:grpSp>
            <p:nvGrpSpPr>
              <p:cNvPr id="4" name="Group 50"/>
              <p:cNvGrpSpPr>
                <a:grpSpLocks/>
              </p:cNvGrpSpPr>
              <p:nvPr/>
            </p:nvGrpSpPr>
            <p:grpSpPr bwMode="auto">
              <a:xfrm>
                <a:off x="4105" y="2840"/>
                <a:ext cx="1360" cy="1225"/>
                <a:chOff x="4105" y="2840"/>
                <a:chExt cx="1360" cy="1225"/>
              </a:xfrm>
            </p:grpSpPr>
            <p:sp>
              <p:nvSpPr>
                <p:cNvPr id="49" name="Line 51"/>
                <p:cNvSpPr>
                  <a:spLocks noChangeShapeType="1"/>
                </p:cNvSpPr>
                <p:nvPr/>
              </p:nvSpPr>
              <p:spPr bwMode="auto">
                <a:xfrm>
                  <a:off x="4105" y="2840"/>
                  <a:ext cx="0" cy="12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0" name="Line 52"/>
                <p:cNvSpPr>
                  <a:spLocks noChangeShapeType="1"/>
                </p:cNvSpPr>
                <p:nvPr/>
              </p:nvSpPr>
              <p:spPr bwMode="auto">
                <a:xfrm>
                  <a:off x="4105" y="2840"/>
                  <a:ext cx="22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1" name="Line 53"/>
                <p:cNvSpPr>
                  <a:spLocks noChangeShapeType="1"/>
                </p:cNvSpPr>
                <p:nvPr/>
              </p:nvSpPr>
              <p:spPr bwMode="auto">
                <a:xfrm>
                  <a:off x="4105" y="3044"/>
                  <a:ext cx="45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2" name="Line 54"/>
                <p:cNvSpPr>
                  <a:spLocks noChangeShapeType="1"/>
                </p:cNvSpPr>
                <p:nvPr/>
              </p:nvSpPr>
              <p:spPr bwMode="auto">
                <a:xfrm>
                  <a:off x="4105" y="3241"/>
                  <a:ext cx="68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3" name="Line 55"/>
                <p:cNvSpPr>
                  <a:spLocks noChangeShapeType="1"/>
                </p:cNvSpPr>
                <p:nvPr/>
              </p:nvSpPr>
              <p:spPr bwMode="auto">
                <a:xfrm>
                  <a:off x="4105" y="3430"/>
                  <a:ext cx="90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4" name="Line 56"/>
                <p:cNvSpPr>
                  <a:spLocks noChangeShapeType="1"/>
                </p:cNvSpPr>
                <p:nvPr/>
              </p:nvSpPr>
              <p:spPr bwMode="auto">
                <a:xfrm>
                  <a:off x="4105" y="3634"/>
                  <a:ext cx="1134" cy="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5" name="Line 57"/>
                <p:cNvSpPr>
                  <a:spLocks noChangeShapeType="1"/>
                </p:cNvSpPr>
                <p:nvPr/>
              </p:nvSpPr>
              <p:spPr bwMode="auto">
                <a:xfrm>
                  <a:off x="4105" y="3847"/>
                  <a:ext cx="13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6" name="Line 58"/>
                <p:cNvSpPr>
                  <a:spLocks noChangeShapeType="1"/>
                </p:cNvSpPr>
                <p:nvPr/>
              </p:nvSpPr>
              <p:spPr bwMode="auto">
                <a:xfrm>
                  <a:off x="4105" y="4065"/>
                  <a:ext cx="13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7" name="Line 59"/>
                <p:cNvSpPr>
                  <a:spLocks noChangeShapeType="1"/>
                </p:cNvSpPr>
                <p:nvPr/>
              </p:nvSpPr>
              <p:spPr bwMode="auto">
                <a:xfrm>
                  <a:off x="4332" y="2840"/>
                  <a:ext cx="0" cy="12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" name="Line 60"/>
                <p:cNvSpPr>
                  <a:spLocks noChangeShapeType="1"/>
                </p:cNvSpPr>
                <p:nvPr/>
              </p:nvSpPr>
              <p:spPr bwMode="auto">
                <a:xfrm>
                  <a:off x="4558" y="3022"/>
                  <a:ext cx="0" cy="104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9" name="Line 61"/>
                <p:cNvSpPr>
                  <a:spLocks noChangeShapeType="1"/>
                </p:cNvSpPr>
                <p:nvPr/>
              </p:nvSpPr>
              <p:spPr bwMode="auto">
                <a:xfrm>
                  <a:off x="4785" y="3249"/>
                  <a:ext cx="0" cy="81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0" name="Line 62"/>
                <p:cNvSpPr>
                  <a:spLocks noChangeShapeType="1"/>
                </p:cNvSpPr>
                <p:nvPr/>
              </p:nvSpPr>
              <p:spPr bwMode="auto">
                <a:xfrm>
                  <a:off x="5012" y="3430"/>
                  <a:ext cx="0" cy="63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1" name="Line 63"/>
                <p:cNvSpPr>
                  <a:spLocks noChangeShapeType="1"/>
                </p:cNvSpPr>
                <p:nvPr/>
              </p:nvSpPr>
              <p:spPr bwMode="auto">
                <a:xfrm>
                  <a:off x="5239" y="3612"/>
                  <a:ext cx="0" cy="45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3" name="Line 64"/>
                <p:cNvSpPr>
                  <a:spLocks noChangeShapeType="1"/>
                </p:cNvSpPr>
                <p:nvPr/>
              </p:nvSpPr>
              <p:spPr bwMode="auto">
                <a:xfrm>
                  <a:off x="5465" y="3838"/>
                  <a:ext cx="0" cy="2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4" name="Rectangle 65"/>
                <p:cNvSpPr>
                  <a:spLocks noChangeArrowheads="1"/>
                </p:cNvSpPr>
                <p:nvPr/>
              </p:nvSpPr>
              <p:spPr bwMode="auto">
                <a:xfrm>
                  <a:off x="4468" y="2990"/>
                  <a:ext cx="136" cy="4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Rectangle 66"/>
                <p:cNvSpPr>
                  <a:spLocks noChangeArrowheads="1"/>
                </p:cNvSpPr>
                <p:nvPr/>
              </p:nvSpPr>
              <p:spPr bwMode="auto">
                <a:xfrm>
                  <a:off x="5148" y="3566"/>
                  <a:ext cx="136" cy="5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47" name="Text Box 67"/>
              <p:cNvSpPr txBox="1">
                <a:spLocks noChangeArrowheads="1"/>
              </p:cNvSpPr>
              <p:nvPr/>
            </p:nvSpPr>
            <p:spPr bwMode="auto">
              <a:xfrm>
                <a:off x="3878" y="2822"/>
                <a:ext cx="214" cy="12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1800" i="0" dirty="0"/>
                  <a:t>B</a:t>
                </a:r>
              </a:p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1800" i="0" dirty="0"/>
                  <a:t>C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D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E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F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1800" i="0" dirty="0"/>
                  <a:t>G</a:t>
                </a:r>
              </a:p>
            </p:txBody>
          </p:sp>
          <p:sp>
            <p:nvSpPr>
              <p:cNvPr id="48" name="Text Box 68"/>
              <p:cNvSpPr txBox="1">
                <a:spLocks noChangeArrowheads="1"/>
              </p:cNvSpPr>
              <p:nvPr/>
            </p:nvSpPr>
            <p:spPr bwMode="auto">
              <a:xfrm>
                <a:off x="4137" y="4061"/>
                <a:ext cx="130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800" i="0"/>
                  <a:t>A   B   C   D   E   F</a:t>
                </a:r>
              </a:p>
            </p:txBody>
          </p:sp>
        </p:grpSp>
        <p:sp>
          <p:nvSpPr>
            <p:cNvPr id="45" name="Text Box 69"/>
            <p:cNvSpPr txBox="1">
              <a:spLocks noChangeArrowheads="1"/>
            </p:cNvSpPr>
            <p:nvPr/>
          </p:nvSpPr>
          <p:spPr bwMode="auto">
            <a:xfrm>
              <a:off x="5375" y="3035"/>
              <a:ext cx="260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800" i="0">
                  <a:ea typeface="黑体" pitchFamily="49" charset="-122"/>
                </a:rPr>
                <a:t>隐</a:t>
              </a:r>
            </a:p>
            <a:p>
              <a:pPr eaLnBrk="1" hangingPunct="1"/>
              <a:r>
                <a:rPr lang="zh-CN" altLang="en-US" sz="1800" i="0">
                  <a:ea typeface="黑体" pitchFamily="49" charset="-122"/>
                </a:rPr>
                <a:t>含</a:t>
              </a:r>
            </a:p>
            <a:p>
              <a:pPr eaLnBrk="1" hangingPunct="1"/>
              <a:r>
                <a:rPr lang="zh-CN" altLang="en-US" sz="1800" i="0">
                  <a:ea typeface="黑体" pitchFamily="49" charset="-122"/>
                </a:rPr>
                <a:t>表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3200400" y="379095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隐含表</a:t>
            </a:r>
          </a:p>
        </p:txBody>
      </p:sp>
      <p:sp>
        <p:nvSpPr>
          <p:cNvPr id="38" name="Text Box 75"/>
          <p:cNvSpPr txBox="1">
            <a:spLocks noChangeArrowheads="1"/>
          </p:cNvSpPr>
          <p:nvPr/>
        </p:nvSpPr>
        <p:spPr bwMode="auto">
          <a:xfrm>
            <a:off x="2751387" y="1497393"/>
            <a:ext cx="4010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i="0" dirty="0">
                <a:latin typeface="微软雅黑" pitchFamily="34" charset="-122"/>
                <a:ea typeface="微软雅黑" pitchFamily="34" charset="-122"/>
              </a:rPr>
              <a:t>CF</a:t>
            </a:r>
          </a:p>
        </p:txBody>
      </p:sp>
      <p:sp>
        <p:nvSpPr>
          <p:cNvPr id="39" name="Text Box 76"/>
          <p:cNvSpPr txBox="1">
            <a:spLocks noChangeArrowheads="1"/>
          </p:cNvSpPr>
          <p:nvPr/>
        </p:nvSpPr>
        <p:spPr bwMode="auto">
          <a:xfrm>
            <a:off x="2751387" y="2434018"/>
            <a:ext cx="3962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i="0">
                <a:latin typeface="微软雅黑" pitchFamily="34" charset="-122"/>
                <a:ea typeface="微软雅黑" pitchFamily="34" charset="-122"/>
              </a:rPr>
              <a:t>BE</a:t>
            </a:r>
          </a:p>
        </p:txBody>
      </p:sp>
      <p:sp>
        <p:nvSpPr>
          <p:cNvPr id="40" name="Text Box 77"/>
          <p:cNvSpPr txBox="1">
            <a:spLocks noChangeArrowheads="1"/>
          </p:cNvSpPr>
          <p:nvPr/>
        </p:nvSpPr>
        <p:spPr bwMode="auto">
          <a:xfrm>
            <a:off x="3160962" y="2332418"/>
            <a:ext cx="410690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i="0" dirty="0">
                <a:latin typeface="微软雅黑" pitchFamily="34" charset="-122"/>
                <a:ea typeface="微软雅黑" pitchFamily="34" charset="-122"/>
              </a:rPr>
              <a:t>CF</a:t>
            </a:r>
          </a:p>
          <a:p>
            <a:pPr eaLnBrk="1" hangingPunct="1">
              <a:lnSpc>
                <a:spcPct val="75000"/>
              </a:lnSpc>
            </a:pPr>
            <a:r>
              <a:rPr lang="en-US" altLang="zh-CN" sz="1400" i="0" dirty="0">
                <a:latin typeface="微软雅黑" pitchFamily="34" charset="-122"/>
                <a:ea typeface="微软雅黑" pitchFamily="34" charset="-122"/>
              </a:rPr>
              <a:t>AE</a:t>
            </a:r>
          </a:p>
        </p:txBody>
      </p:sp>
      <p:sp>
        <p:nvSpPr>
          <p:cNvPr id="41" name="Text Box 78"/>
          <p:cNvSpPr txBox="1">
            <a:spLocks noChangeArrowheads="1"/>
          </p:cNvSpPr>
          <p:nvPr/>
        </p:nvSpPr>
        <p:spPr bwMode="auto">
          <a:xfrm>
            <a:off x="3881687" y="3019806"/>
            <a:ext cx="441146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i="0">
                <a:latin typeface="微软雅黑" pitchFamily="34" charset="-122"/>
                <a:ea typeface="微软雅黑" pitchFamily="34" charset="-122"/>
              </a:rPr>
              <a:t>DE</a:t>
            </a:r>
          </a:p>
          <a:p>
            <a:pPr eaLnBrk="1" hangingPunct="1">
              <a:lnSpc>
                <a:spcPct val="75000"/>
              </a:lnSpc>
            </a:pPr>
            <a:r>
              <a:rPr lang="en-US" altLang="zh-CN" sz="1400" i="0">
                <a:latin typeface="微软雅黑" pitchFamily="34" charset="-122"/>
                <a:ea typeface="微软雅黑" pitchFamily="34" charset="-122"/>
              </a:rPr>
              <a:t>CD</a:t>
            </a:r>
          </a:p>
        </p:txBody>
      </p:sp>
      <p:sp>
        <p:nvSpPr>
          <p:cNvPr id="42" name="Text Box 79"/>
          <p:cNvSpPr txBox="1">
            <a:spLocks noChangeArrowheads="1"/>
          </p:cNvSpPr>
          <p:nvPr/>
        </p:nvSpPr>
        <p:spPr bwMode="auto">
          <a:xfrm>
            <a:off x="2803775" y="1756221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 dirty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 dirty="0">
              <a:latin typeface="+mn-lt"/>
              <a:ea typeface="微软雅黑" pitchFamily="34" charset="-122"/>
            </a:endParaRPr>
          </a:p>
        </p:txBody>
      </p:sp>
      <p:sp>
        <p:nvSpPr>
          <p:cNvPr id="43" name="Text Box 80"/>
          <p:cNvSpPr txBox="1">
            <a:spLocks noChangeArrowheads="1"/>
          </p:cNvSpPr>
          <p:nvPr/>
        </p:nvSpPr>
        <p:spPr bwMode="auto">
          <a:xfrm>
            <a:off x="2803775" y="2043558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46" name="Text Box 81"/>
          <p:cNvSpPr txBox="1">
            <a:spLocks noChangeArrowheads="1"/>
          </p:cNvSpPr>
          <p:nvPr/>
        </p:nvSpPr>
        <p:spPr bwMode="auto">
          <a:xfrm>
            <a:off x="2803775" y="2691258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65" name="Text Box 82"/>
          <p:cNvSpPr txBox="1">
            <a:spLocks noChangeArrowheads="1"/>
          </p:cNvSpPr>
          <p:nvPr/>
        </p:nvSpPr>
        <p:spPr bwMode="auto">
          <a:xfrm>
            <a:off x="2803775" y="3051621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66" name="Text Box 83"/>
          <p:cNvSpPr txBox="1">
            <a:spLocks noChangeArrowheads="1"/>
          </p:cNvSpPr>
          <p:nvPr/>
        </p:nvSpPr>
        <p:spPr bwMode="auto">
          <a:xfrm>
            <a:off x="3164137" y="17562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68" name="Text Box 84"/>
          <p:cNvSpPr txBox="1">
            <a:spLocks noChangeArrowheads="1"/>
          </p:cNvSpPr>
          <p:nvPr/>
        </p:nvSpPr>
        <p:spPr bwMode="auto">
          <a:xfrm>
            <a:off x="3164137" y="2043558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1" name="Text Box 85"/>
          <p:cNvSpPr txBox="1">
            <a:spLocks noChangeArrowheads="1"/>
          </p:cNvSpPr>
          <p:nvPr/>
        </p:nvSpPr>
        <p:spPr bwMode="auto">
          <a:xfrm>
            <a:off x="3164137" y="2691258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2" name="Text Box 86"/>
          <p:cNvSpPr txBox="1">
            <a:spLocks noChangeArrowheads="1"/>
          </p:cNvSpPr>
          <p:nvPr/>
        </p:nvSpPr>
        <p:spPr bwMode="auto">
          <a:xfrm>
            <a:off x="3164137" y="30516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3" name="Text Box 87"/>
          <p:cNvSpPr txBox="1">
            <a:spLocks noChangeArrowheads="1"/>
          </p:cNvSpPr>
          <p:nvPr/>
        </p:nvSpPr>
        <p:spPr bwMode="auto">
          <a:xfrm>
            <a:off x="3532437" y="20483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4" name="Text Box 88"/>
          <p:cNvSpPr txBox="1">
            <a:spLocks noChangeArrowheads="1"/>
          </p:cNvSpPr>
          <p:nvPr/>
        </p:nvSpPr>
        <p:spPr bwMode="auto">
          <a:xfrm>
            <a:off x="3522912" y="2337246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6" name="Text Box 89"/>
          <p:cNvSpPr txBox="1">
            <a:spLocks noChangeArrowheads="1"/>
          </p:cNvSpPr>
          <p:nvPr/>
        </p:nvSpPr>
        <p:spPr bwMode="auto">
          <a:xfrm>
            <a:off x="3522912" y="30516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7" name="Text Box 90"/>
          <p:cNvSpPr txBox="1">
            <a:spLocks noChangeArrowheads="1"/>
          </p:cNvSpPr>
          <p:nvPr/>
        </p:nvSpPr>
        <p:spPr bwMode="auto">
          <a:xfrm>
            <a:off x="3892800" y="2697608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8" name="Text Box 91"/>
          <p:cNvSpPr txBox="1">
            <a:spLocks noChangeArrowheads="1"/>
          </p:cNvSpPr>
          <p:nvPr/>
        </p:nvSpPr>
        <p:spPr bwMode="auto">
          <a:xfrm>
            <a:off x="3883275" y="2337246"/>
            <a:ext cx="3508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79" name="Text Box 92"/>
          <p:cNvSpPr txBox="1">
            <a:spLocks noChangeArrowheads="1"/>
          </p:cNvSpPr>
          <p:nvPr/>
        </p:nvSpPr>
        <p:spPr bwMode="auto">
          <a:xfrm>
            <a:off x="4253162" y="2691258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80" name="Text Box 93"/>
          <p:cNvSpPr txBox="1">
            <a:spLocks noChangeArrowheads="1"/>
          </p:cNvSpPr>
          <p:nvPr/>
        </p:nvSpPr>
        <p:spPr bwMode="auto">
          <a:xfrm>
            <a:off x="4253162" y="30516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81" name="Text Box 94"/>
          <p:cNvSpPr txBox="1">
            <a:spLocks noChangeArrowheads="1"/>
          </p:cNvSpPr>
          <p:nvPr/>
        </p:nvSpPr>
        <p:spPr bwMode="auto">
          <a:xfrm>
            <a:off x="4611937" y="3051621"/>
            <a:ext cx="350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eaLnBrk="1" hangingPunct="1"/>
            <a:r>
              <a:rPr lang="en-US" altLang="zh-CN" sz="2000" b="1" i="0">
                <a:latin typeface="+mn-lt"/>
                <a:ea typeface="微软雅黑" pitchFamily="34" charset="-122"/>
                <a:sym typeface="Symbol" pitchFamily="18" charset="2"/>
              </a:rPr>
              <a:t></a:t>
            </a:r>
            <a:endParaRPr lang="en-US" altLang="zh-CN" sz="2000" b="1" i="0">
              <a:latin typeface="+mn-lt"/>
              <a:ea typeface="微软雅黑" pitchFamily="34" charset="-122"/>
            </a:endParaRPr>
          </a:p>
        </p:txBody>
      </p:sp>
      <p:sp>
        <p:nvSpPr>
          <p:cNvPr id="82" name="Text Box 95"/>
          <p:cNvSpPr txBox="1">
            <a:spLocks noChangeArrowheads="1"/>
          </p:cNvSpPr>
          <p:nvPr/>
        </p:nvSpPr>
        <p:spPr bwMode="auto">
          <a:xfrm>
            <a:off x="3522912" y="2709862"/>
            <a:ext cx="3113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i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</a:t>
            </a:r>
          </a:p>
        </p:txBody>
      </p:sp>
      <p:sp>
        <p:nvSpPr>
          <p:cNvPr id="95" name="Text Box 3"/>
          <p:cNvSpPr txBox="1">
            <a:spLocks noChangeArrowheads="1"/>
          </p:cNvSpPr>
          <p:nvPr/>
        </p:nvSpPr>
        <p:spPr bwMode="auto">
          <a:xfrm>
            <a:off x="5257800" y="666750"/>
            <a:ext cx="12191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75000"/>
            </a:pPr>
            <a:r>
              <a:rPr lang="zh-CN" altLang="en-US" sz="1400" i="0" dirty="0">
                <a:latin typeface="+mn-lt"/>
                <a:ea typeface="黑体" pitchFamily="49" charset="-122"/>
              </a:rPr>
              <a:t>关连比较</a:t>
            </a:r>
          </a:p>
        </p:txBody>
      </p:sp>
      <p:sp>
        <p:nvSpPr>
          <p:cNvPr id="96" name="Text Box 48"/>
          <p:cNvSpPr txBox="1">
            <a:spLocks noChangeArrowheads="1"/>
          </p:cNvSpPr>
          <p:nvPr/>
        </p:nvSpPr>
        <p:spPr bwMode="auto">
          <a:xfrm>
            <a:off x="5486400" y="971550"/>
            <a:ext cx="338931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400" i="0" dirty="0">
                <a:latin typeface="+mn-lt"/>
                <a:ea typeface="黑体" pitchFamily="49" charset="-122"/>
              </a:rPr>
              <a:t>对隐含表中所填状态对进行检查，有时要进行多次追寻，直到有明确的状态等价或不等价为止。</a:t>
            </a:r>
          </a:p>
        </p:txBody>
      </p:sp>
      <p:sp>
        <p:nvSpPr>
          <p:cNvPr id="97" name="Text Box 53"/>
          <p:cNvSpPr txBox="1">
            <a:spLocks noChangeArrowheads="1"/>
          </p:cNvSpPr>
          <p:nvPr/>
        </p:nvSpPr>
        <p:spPr bwMode="auto">
          <a:xfrm>
            <a:off x="5410200" y="1962150"/>
            <a:ext cx="20462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75000"/>
            </a:pPr>
            <a:r>
              <a:rPr lang="en-US" altLang="zh-CN" sz="1400" i="0" dirty="0">
                <a:latin typeface="+mn-lt"/>
              </a:rPr>
              <a:t> </a:t>
            </a:r>
            <a:r>
              <a:rPr lang="zh-CN" altLang="en-US" sz="1400" i="0" dirty="0">
                <a:latin typeface="+mn-lt"/>
                <a:ea typeface="黑体" pitchFamily="49" charset="-122"/>
              </a:rPr>
              <a:t>列出最大等价类</a:t>
            </a:r>
          </a:p>
        </p:txBody>
      </p:sp>
      <p:sp>
        <p:nvSpPr>
          <p:cNvPr id="98" name="Text Box 54"/>
          <p:cNvSpPr txBox="1">
            <a:spLocks noChangeArrowheads="1"/>
          </p:cNvSpPr>
          <p:nvPr/>
        </p:nvSpPr>
        <p:spPr bwMode="auto">
          <a:xfrm>
            <a:off x="5562600" y="2343150"/>
            <a:ext cx="34448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400" i="0" dirty="0">
                <a:latin typeface="+mn-lt"/>
                <a:ea typeface="黑体" pitchFamily="49" charset="-122"/>
              </a:rPr>
              <a:t>根据隐含表的结果，列出所有的等价对：</a:t>
            </a:r>
          </a:p>
        </p:txBody>
      </p:sp>
      <p:sp>
        <p:nvSpPr>
          <p:cNvPr id="99" name="Text Box 55"/>
          <p:cNvSpPr txBox="1">
            <a:spLocks noChangeArrowheads="1"/>
          </p:cNvSpPr>
          <p:nvPr/>
        </p:nvSpPr>
        <p:spPr bwMode="auto">
          <a:xfrm>
            <a:off x="5638800" y="2647950"/>
            <a:ext cx="2590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i="0" dirty="0">
                <a:latin typeface="+mn-lt"/>
                <a:ea typeface="黑体" pitchFamily="49" charset="-122"/>
              </a:rPr>
              <a:t>(C, F),  (B, E),  (A, B),  (A, E)  </a:t>
            </a:r>
          </a:p>
        </p:txBody>
      </p:sp>
      <p:sp>
        <p:nvSpPr>
          <p:cNvPr id="100" name="Text Box 57"/>
          <p:cNvSpPr txBox="1">
            <a:spLocks noChangeArrowheads="1"/>
          </p:cNvSpPr>
          <p:nvPr/>
        </p:nvSpPr>
        <p:spPr bwMode="auto">
          <a:xfrm>
            <a:off x="5715000" y="3028950"/>
            <a:ext cx="26165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400" i="0" dirty="0">
                <a:latin typeface="+mn-lt"/>
                <a:ea typeface="黑体" pitchFamily="49" charset="-122"/>
              </a:rPr>
              <a:t>最大等价类：</a:t>
            </a:r>
            <a:r>
              <a:rPr lang="en-US" altLang="zh-CN" sz="1400" i="0" dirty="0">
                <a:latin typeface="+mn-lt"/>
                <a:ea typeface="黑体" pitchFamily="49" charset="-122"/>
              </a:rPr>
              <a:t>(C, F),  (A, B, E),  (D),  (G)</a:t>
            </a:r>
          </a:p>
        </p:txBody>
      </p:sp>
      <p:sp>
        <p:nvSpPr>
          <p:cNvPr id="101" name="Text Box 58"/>
          <p:cNvSpPr txBox="1">
            <a:spLocks noChangeArrowheads="1"/>
          </p:cNvSpPr>
          <p:nvPr/>
        </p:nvSpPr>
        <p:spPr bwMode="auto">
          <a:xfrm>
            <a:off x="5562600" y="3562350"/>
            <a:ext cx="37418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i="0" dirty="0">
                <a:solidFill>
                  <a:srgbClr val="FF0000"/>
                </a:solidFill>
                <a:latin typeface="+mn-lt"/>
                <a:ea typeface="黑体" pitchFamily="49" charset="-122"/>
              </a:rPr>
              <a:t>(</a:t>
            </a:r>
            <a:r>
              <a:rPr lang="zh-CN" altLang="en-US" sz="1400" i="0" dirty="0">
                <a:solidFill>
                  <a:srgbClr val="FF0000"/>
                </a:solidFill>
                <a:latin typeface="+mn-lt"/>
                <a:ea typeface="黑体" pitchFamily="49" charset="-122"/>
              </a:rPr>
              <a:t>不与其它任何状态等价的单个状态也算是一个最大等价类</a:t>
            </a:r>
            <a:r>
              <a:rPr lang="en-US" altLang="zh-CN" sz="1400" i="0" dirty="0">
                <a:solidFill>
                  <a:srgbClr val="FF0000"/>
                </a:solidFill>
                <a:latin typeface="+mn-lt"/>
                <a:ea typeface="黑体" pitchFamily="49" charset="-122"/>
              </a:rPr>
              <a:t>)</a:t>
            </a:r>
          </a:p>
        </p:txBody>
      </p:sp>
      <p:sp>
        <p:nvSpPr>
          <p:cNvPr id="102" name="Text Box 49"/>
          <p:cNvSpPr txBox="1">
            <a:spLocks noChangeArrowheads="1"/>
          </p:cNvSpPr>
          <p:nvPr/>
        </p:nvSpPr>
        <p:spPr bwMode="auto">
          <a:xfrm>
            <a:off x="2933569" y="1421193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>
                <a:solidFill>
                  <a:srgbClr val="FF0000"/>
                </a:solidFill>
                <a:sym typeface="Symbol" pitchFamily="18" charset="2"/>
              </a:rPr>
              <a:t></a:t>
            </a:r>
          </a:p>
        </p:txBody>
      </p:sp>
      <p:sp>
        <p:nvSpPr>
          <p:cNvPr id="103" name="Text Box 49"/>
          <p:cNvSpPr txBox="1">
            <a:spLocks noChangeArrowheads="1"/>
          </p:cNvSpPr>
          <p:nvPr/>
        </p:nvSpPr>
        <p:spPr bwMode="auto">
          <a:xfrm>
            <a:off x="2895600" y="234315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>
                <a:solidFill>
                  <a:srgbClr val="FF0000"/>
                </a:solidFill>
                <a:sym typeface="Symbol" pitchFamily="18" charset="2"/>
              </a:rPr>
              <a:t></a:t>
            </a:r>
          </a:p>
        </p:txBody>
      </p:sp>
      <p:sp>
        <p:nvSpPr>
          <p:cNvPr id="104" name="Text Box 49"/>
          <p:cNvSpPr txBox="1">
            <a:spLocks noChangeArrowheads="1"/>
          </p:cNvSpPr>
          <p:nvPr/>
        </p:nvSpPr>
        <p:spPr bwMode="auto">
          <a:xfrm>
            <a:off x="3200400" y="241935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400" b="1" i="0" dirty="0">
                <a:solidFill>
                  <a:srgbClr val="FF0000"/>
                </a:solidFill>
                <a:sym typeface="Symbol" pitchFamily="18" charset="2"/>
              </a:rPr>
              <a:t></a:t>
            </a:r>
          </a:p>
        </p:txBody>
      </p:sp>
      <p:sp>
        <p:nvSpPr>
          <p:cNvPr id="105" name="Text Box 49"/>
          <p:cNvSpPr txBox="1">
            <a:spLocks noChangeArrowheads="1"/>
          </p:cNvSpPr>
          <p:nvPr/>
        </p:nvSpPr>
        <p:spPr bwMode="auto">
          <a:xfrm>
            <a:off x="3855342" y="2800350"/>
            <a:ext cx="46679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4000" b="1" i="0" dirty="0">
                <a:solidFill>
                  <a:srgbClr val="FF0000"/>
                </a:solidFill>
                <a:sym typeface="Symbol"/>
              </a:rPr>
              <a:t></a:t>
            </a:r>
            <a:endParaRPr lang="en-US" altLang="zh-CN" sz="4000" b="1" i="0" dirty="0">
              <a:solidFill>
                <a:srgbClr val="FF0000"/>
              </a:solidFill>
              <a:sym typeface="Symbol" pitchFamily="18" charset="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04800" y="1062864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10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等价状态例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化简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utoUpdateAnimBg="0"/>
      <p:bldP spid="96" grpId="0" autoUpdateAnimBg="0"/>
      <p:bldP spid="97" grpId="0" autoUpdateAnimBg="0"/>
      <p:bldP spid="98" grpId="0" autoUpdateAnimBg="0"/>
      <p:bldP spid="99" grpId="0" autoUpdateAnimBg="0"/>
      <p:bldP spid="100" grpId="0" autoUpdateAnimBg="0"/>
      <p:bldP spid="101" grpId="0" autoUpdateAnimBg="0"/>
      <p:bldP spid="102" grpId="0" autoUpdateAnimBg="0"/>
      <p:bldP spid="103" grpId="0" autoUpdateAnimBg="0"/>
      <p:bldP spid="104" grpId="0" autoUpdateAnimBg="0"/>
      <p:bldP spid="10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Text Box 2"/>
          <p:cNvSpPr txBox="1">
            <a:spLocks noChangeArrowheads="1"/>
          </p:cNvSpPr>
          <p:nvPr/>
        </p:nvSpPr>
        <p:spPr bwMode="auto">
          <a:xfrm>
            <a:off x="914400" y="1047750"/>
            <a:ext cx="162095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Clr>
                <a:schemeClr val="hlink"/>
              </a:buClr>
              <a:buSzPct val="75000"/>
            </a:pPr>
            <a:r>
              <a:rPr lang="zh-CN" altLang="en-US" sz="1600" i="0" dirty="0">
                <a:latin typeface="微软雅黑" pitchFamily="34" charset="-122"/>
                <a:ea typeface="微软雅黑" pitchFamily="34" charset="-122"/>
              </a:rPr>
              <a:t>建立最简状态表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03324" y="1452561"/>
            <a:ext cx="2994025" cy="814388"/>
            <a:chOff x="975" y="1729"/>
            <a:chExt cx="1886" cy="684"/>
          </a:xfrm>
        </p:grpSpPr>
        <p:sp>
          <p:nvSpPr>
            <p:cNvPr id="191561" name="Rectangle 4"/>
            <p:cNvSpPr>
              <a:spLocks noChangeArrowheads="1"/>
            </p:cNvSpPr>
            <p:nvPr/>
          </p:nvSpPr>
          <p:spPr bwMode="auto">
            <a:xfrm>
              <a:off x="975" y="1729"/>
              <a:ext cx="1886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0">
                  <a:latin typeface="微软雅黑" pitchFamily="34" charset="-122"/>
                  <a:ea typeface="微软雅黑" pitchFamily="34" charset="-122"/>
                </a:rPr>
                <a:t>(A, B, E),    (C, F),     (D),    (G)</a:t>
              </a:r>
            </a:p>
          </p:txBody>
        </p:sp>
        <p:sp>
          <p:nvSpPr>
            <p:cNvPr id="191562" name="Text Box 5"/>
            <p:cNvSpPr txBox="1">
              <a:spLocks noChangeArrowheads="1"/>
            </p:cNvSpPr>
            <p:nvPr/>
          </p:nvSpPr>
          <p:spPr bwMode="auto">
            <a:xfrm>
              <a:off x="1129" y="2129"/>
              <a:ext cx="168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0" dirty="0">
                  <a:latin typeface="微软雅黑" pitchFamily="34" charset="-122"/>
                  <a:ea typeface="微软雅黑" pitchFamily="34" charset="-122"/>
                </a:rPr>
                <a:t>a               b         c        d</a:t>
              </a:r>
            </a:p>
          </p:txBody>
        </p:sp>
        <p:sp>
          <p:nvSpPr>
            <p:cNvPr id="191563" name="Line 6"/>
            <p:cNvSpPr>
              <a:spLocks noChangeShapeType="1"/>
            </p:cNvSpPr>
            <p:nvPr/>
          </p:nvSpPr>
          <p:spPr bwMode="auto">
            <a:xfrm>
              <a:off x="1237" y="202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1564" name="Line 7"/>
            <p:cNvSpPr>
              <a:spLocks noChangeShapeType="1"/>
            </p:cNvSpPr>
            <p:nvPr/>
          </p:nvSpPr>
          <p:spPr bwMode="auto">
            <a:xfrm>
              <a:off x="1849" y="202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1565" name="Line 8"/>
            <p:cNvSpPr>
              <a:spLocks noChangeShapeType="1"/>
            </p:cNvSpPr>
            <p:nvPr/>
          </p:nvSpPr>
          <p:spPr bwMode="auto">
            <a:xfrm>
              <a:off x="2281" y="202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1566" name="Line 9"/>
            <p:cNvSpPr>
              <a:spLocks noChangeShapeType="1"/>
            </p:cNvSpPr>
            <p:nvPr/>
          </p:nvSpPr>
          <p:spPr bwMode="auto">
            <a:xfrm>
              <a:off x="2665" y="202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 sz="16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109578" name="Group 10"/>
          <p:cNvGraphicFramePr>
            <a:graphicFrameLocks noGrp="1"/>
          </p:cNvGraphicFramePr>
          <p:nvPr/>
        </p:nvGraphicFramePr>
        <p:xfrm>
          <a:off x="5307011" y="2830115"/>
          <a:ext cx="1800225" cy="1175262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4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       </a:t>
                      </a: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现态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607" name="Text Box 39"/>
          <p:cNvSpPr txBox="1">
            <a:spLocks noChangeArrowheads="1"/>
          </p:cNvSpPr>
          <p:nvPr/>
        </p:nvSpPr>
        <p:spPr bwMode="auto">
          <a:xfrm>
            <a:off x="5486400" y="2495550"/>
            <a:ext cx="149701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400" dirty="0">
                <a:ea typeface="黑体" pitchFamily="49" charset="-122"/>
              </a:rPr>
              <a:t>表</a:t>
            </a:r>
            <a:r>
              <a:rPr lang="en-US" altLang="zh-CN" sz="1400" dirty="0">
                <a:ea typeface="黑体" pitchFamily="49" charset="-122"/>
              </a:rPr>
              <a:t>11 </a:t>
            </a:r>
            <a:r>
              <a:rPr lang="zh-CN" altLang="en-US" sz="1400" i="0" dirty="0">
                <a:ea typeface="黑体" pitchFamily="49" charset="-122"/>
              </a:rPr>
              <a:t>最简状态表</a:t>
            </a:r>
          </a:p>
        </p:txBody>
      </p:sp>
      <p:graphicFrame>
        <p:nvGraphicFramePr>
          <p:cNvPr id="109608" name="Group 40"/>
          <p:cNvGraphicFramePr>
            <a:graphicFrameLocks noGrp="1"/>
          </p:cNvGraphicFramePr>
          <p:nvPr/>
        </p:nvGraphicFramePr>
        <p:xfrm>
          <a:off x="1419224" y="2397918"/>
          <a:ext cx="1871662" cy="1810580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4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         </a:t>
                      </a:r>
                      <a:r>
                        <a:rPr kumimoji="1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现态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9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9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G</a:t>
                      </a:r>
                    </a:p>
                  </a:txBody>
                  <a:tcPr marT="14288" marB="1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C/1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D/0</a:t>
                      </a:r>
                    </a:p>
                  </a:txBody>
                  <a:tcPr marT="14288" marB="14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9650" name="Rectangle 82"/>
          <p:cNvSpPr>
            <a:spLocks noChangeArrowheads="1"/>
          </p:cNvSpPr>
          <p:nvPr/>
        </p:nvSpPr>
        <p:spPr bwMode="auto">
          <a:xfrm>
            <a:off x="3940174" y="3050381"/>
            <a:ext cx="6399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600" i="0">
                <a:sym typeface="Symbol" pitchFamily="18" charset="2"/>
              </a:rPr>
              <a:t>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状态化简：隐含表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7" name="矩形 16"/>
          <p:cNvSpPr/>
          <p:nvPr/>
        </p:nvSpPr>
        <p:spPr>
          <a:xfrm>
            <a:off x="0" y="0"/>
            <a:ext cx="38587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：状态图设计和化简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9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9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9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9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9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9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9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9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9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9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07" grpId="0" autoUpdateAnimBg="0"/>
      <p:bldP spid="109650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7951</TotalTime>
  <Words>1460</Words>
  <Application>Microsoft Office PowerPoint</Application>
  <PresentationFormat>全屏显示(16:9)</PresentationFormat>
  <Paragraphs>448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黑体</vt:lpstr>
      <vt:lpstr>宋体</vt:lpstr>
      <vt:lpstr>微软雅黑</vt:lpstr>
      <vt:lpstr>Arial</vt:lpstr>
      <vt:lpstr>Calibri</vt:lpstr>
      <vt:lpstr>Century</vt:lpstr>
      <vt:lpstr>Tahoma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927</cp:revision>
  <cp:lastPrinted>2113-01-01T00:00:00Z</cp:lastPrinted>
  <dcterms:created xsi:type="dcterms:W3CDTF">2113-01-01T00:00:00Z</dcterms:created>
  <dcterms:modified xsi:type="dcterms:W3CDTF">2021-07-20T02:41:02Z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