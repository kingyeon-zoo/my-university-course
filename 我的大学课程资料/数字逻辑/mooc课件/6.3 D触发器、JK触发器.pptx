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9" r:id="rId2"/>
    <p:sldId id="388" r:id="rId3"/>
    <p:sldId id="397" r:id="rId4"/>
    <p:sldId id="398" r:id="rId5"/>
    <p:sldId id="399" r:id="rId6"/>
    <p:sldId id="400" r:id="rId7"/>
    <p:sldId id="444" r:id="rId8"/>
    <p:sldId id="404" r:id="rId9"/>
    <p:sldId id="402" r:id="rId10"/>
    <p:sldId id="393" r:id="rId11"/>
    <p:sldId id="408" r:id="rId12"/>
    <p:sldId id="409" r:id="rId13"/>
    <p:sldId id="410" r:id="rId14"/>
    <p:sldId id="411" r:id="rId1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50" autoAdjust="0"/>
    <p:restoredTop sz="96711" autoAdjust="0"/>
  </p:normalViewPr>
  <p:slideViewPr>
    <p:cSldViewPr>
      <p:cViewPr varScale="1">
        <p:scale>
          <a:sx n="95" d="100"/>
          <a:sy n="95" d="100"/>
        </p:scale>
        <p:origin x="270" y="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oleObject" Target="../embeddings/oleObject15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12" Type="http://schemas.openxmlformats.org/officeDocument/2006/relationships/image" Target="../media/image25.wmf"/><Relationship Id="rId2" Type="http://schemas.openxmlformats.org/officeDocument/2006/relationships/oleObject" Target="../embeddings/oleObject10.bin"/><Relationship Id="rId16" Type="http://schemas.openxmlformats.org/officeDocument/2006/relationships/image" Target="../media/image2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4.bin"/><Relationship Id="rId5" Type="http://schemas.openxmlformats.org/officeDocument/2006/relationships/image" Target="../media/image21.wmf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24.wmf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762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复习门控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9400" y="4552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4934" name="Picture 6" descr="C:\Users\hfutliujun\AppData\Roaming\Tencent\Users\350654676\QQ\WinTemp\RichOle\Q[%_P02F`LJMAC2T0I46Q}U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666750"/>
            <a:ext cx="2227529" cy="3790950"/>
          </a:xfrm>
          <a:prstGeom prst="rect">
            <a:avLst/>
          </a:prstGeom>
          <a:noFill/>
        </p:spPr>
      </p:pic>
      <p:graphicFrame>
        <p:nvGraphicFramePr>
          <p:cNvPr id="60" name="Object 53"/>
          <p:cNvGraphicFramePr>
            <a:graphicFrameLocks noChangeAspect="1"/>
          </p:cNvGraphicFramePr>
          <p:nvPr/>
        </p:nvGraphicFramePr>
        <p:xfrm>
          <a:off x="5181600" y="819150"/>
          <a:ext cx="1735137" cy="288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7" name="Equation" r:id="rId3" imgW="1752480" imgH="291960" progId="Equation.DSMT4">
                  <p:embed/>
                </p:oleObj>
              </mc:Choice>
              <mc:Fallback>
                <p:oleObj name="Equation" r:id="rId3" imgW="1752480" imgH="29196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19150"/>
                        <a:ext cx="1735137" cy="288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96" descr="243R1L3[V@~6{N8C]5C2JV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0" y="1352550"/>
            <a:ext cx="1447800" cy="2417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715000" y="4095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锁存器：练习题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33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5172" name="Picture 4" descr="C:\Users\hfutliujun\AppData\Roaming\Tencent\Users\350654676\QQ\WinTemp\RichOle\FFK4XKLWNH5RX26N4F{0[T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28750"/>
            <a:ext cx="4201115" cy="1524000"/>
          </a:xfrm>
          <a:prstGeom prst="rect">
            <a:avLst/>
          </a:prstGeom>
          <a:noFill/>
        </p:spPr>
      </p:pic>
      <p:graphicFrame>
        <p:nvGraphicFramePr>
          <p:cNvPr id="135173" name="Object 66"/>
          <p:cNvGraphicFramePr>
            <a:graphicFrameLocks noChangeAspect="1"/>
          </p:cNvGraphicFramePr>
          <p:nvPr/>
        </p:nvGraphicFramePr>
        <p:xfrm>
          <a:off x="5334000" y="1352550"/>
          <a:ext cx="2667000" cy="117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3" name="Visio" r:id="rId3" imgW="1400005" imgH="619190" progId="Visio.Drawing.11">
                  <p:embed/>
                </p:oleObj>
              </mc:Choice>
              <mc:Fallback>
                <p:oleObj name="Visio" r:id="rId3" imgW="1400005" imgH="619190" progId="Visio.Drawing.11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352550"/>
                        <a:ext cx="2667000" cy="1179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4600" y="3257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锁存器：练习题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357746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5172" name="Picture 4" descr="C:\Users\hfutliujun\AppData\Roaming\Tencent\Users\350654676\QQ\WinTemp\RichOle\FFK4XKLWNH5RX26N4F{0[T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28750"/>
            <a:ext cx="4201115" cy="1524000"/>
          </a:xfrm>
          <a:prstGeom prst="rect">
            <a:avLst/>
          </a:prstGeom>
          <a:noFill/>
        </p:spPr>
      </p:pic>
      <p:graphicFrame>
        <p:nvGraphicFramePr>
          <p:cNvPr id="138243" name="Object 32"/>
          <p:cNvGraphicFramePr>
            <a:graphicFrameLocks noChangeAspect="1"/>
          </p:cNvGraphicFramePr>
          <p:nvPr/>
        </p:nvGraphicFramePr>
        <p:xfrm>
          <a:off x="5029200" y="819150"/>
          <a:ext cx="3124200" cy="283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3" name="Visio" r:id="rId3" imgW="1493070" imgH="1300973" progId="Visio.Drawing.11">
                  <p:embed/>
                </p:oleObj>
              </mc:Choice>
              <mc:Fallback>
                <p:oleObj name="Visio" r:id="rId3" imgW="1493070" imgH="1300973" progId="Visio.Drawing.11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819150"/>
                        <a:ext cx="3124200" cy="2833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4600" y="3635573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286000" y="4095750"/>
            <a:ext cx="411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Q2</a:t>
            </a:r>
            <a:r>
              <a:rPr lang="zh-CN" altLang="en-US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的值仅在时钟的下降沿发生了变化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905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05600" y="5905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5000" y="9715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9715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3409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5172" name="Picture 4" descr="C:\Users\hfutliujun\AppData\Roaming\Tencent\Users\350654676\QQ\WinTemp\RichOle\FFK4XKLWNH5RX26N4F{0[T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28750"/>
            <a:ext cx="4201115" cy="15240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5638800" y="3486150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 D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触发器逻辑框图</a:t>
            </a:r>
          </a:p>
        </p:txBody>
      </p:sp>
      <p:pic>
        <p:nvPicPr>
          <p:cNvPr id="12" name="Picture 29"/>
          <p:cNvPicPr>
            <a:picLocks noChangeAspect="1" noChangeArrowheads="1"/>
          </p:cNvPicPr>
          <p:nvPr/>
        </p:nvPicPr>
        <p:blipFill>
          <a:blip r:embed="rId3" cstate="print"/>
          <a:srcRect r="78320"/>
          <a:stretch>
            <a:fillRect/>
          </a:stretch>
        </p:blipFill>
        <p:spPr bwMode="auto">
          <a:xfrm>
            <a:off x="5486400" y="1200150"/>
            <a:ext cx="1893887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30"/>
          <p:cNvSpPr txBox="1">
            <a:spLocks noChangeArrowheads="1"/>
          </p:cNvSpPr>
          <p:nvPr/>
        </p:nvSpPr>
        <p:spPr bwMode="auto">
          <a:xfrm>
            <a:off x="6248400" y="3028950"/>
            <a:ext cx="533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CP</a:t>
            </a:r>
            <a:endParaRPr lang="zh-CN" altLang="en-US" sz="14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2309813" y="1463675"/>
            <a:ext cx="1587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289425" y="1457325"/>
            <a:ext cx="1588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6235700" y="1457325"/>
            <a:ext cx="1588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8210550" y="1450975"/>
            <a:ext cx="1588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1963738" y="1627187"/>
            <a:ext cx="304800" cy="1981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5832475" y="1627187"/>
            <a:ext cx="304800" cy="1981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3887788" y="1627187"/>
            <a:ext cx="304800" cy="1981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AutoShape 11"/>
          <p:cNvSpPr>
            <a:spLocks noChangeAspect="1" noChangeArrowheads="1" noTextEdit="1"/>
          </p:cNvSpPr>
          <p:nvPr/>
        </p:nvSpPr>
        <p:spPr bwMode="auto">
          <a:xfrm>
            <a:off x="592138" y="1387475"/>
            <a:ext cx="7924800" cy="253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858838" y="2076450"/>
            <a:ext cx="7616825" cy="425450"/>
          </a:xfrm>
          <a:custGeom>
            <a:avLst/>
            <a:gdLst>
              <a:gd name="T0" fmla="*/ 0 w 4798"/>
              <a:gd name="T1" fmla="*/ 2147483647 h 268"/>
              <a:gd name="T2" fmla="*/ 2147483647 w 4798"/>
              <a:gd name="T3" fmla="*/ 2147483647 h 268"/>
              <a:gd name="T4" fmla="*/ 2147483647 w 4798"/>
              <a:gd name="T5" fmla="*/ 0 h 268"/>
              <a:gd name="T6" fmla="*/ 2147483647 w 4798"/>
              <a:gd name="T7" fmla="*/ 0 h 268"/>
              <a:gd name="T8" fmla="*/ 2147483647 w 4798"/>
              <a:gd name="T9" fmla="*/ 2147483647 h 268"/>
              <a:gd name="T10" fmla="*/ 2147483647 w 4798"/>
              <a:gd name="T11" fmla="*/ 2147483647 h 268"/>
              <a:gd name="T12" fmla="*/ 2147483647 w 4798"/>
              <a:gd name="T13" fmla="*/ 0 h 268"/>
              <a:gd name="T14" fmla="*/ 2147483647 w 4798"/>
              <a:gd name="T15" fmla="*/ 0 h 268"/>
              <a:gd name="T16" fmla="*/ 2147483647 w 4798"/>
              <a:gd name="T17" fmla="*/ 2147483647 h 268"/>
              <a:gd name="T18" fmla="*/ 2147483647 w 4798"/>
              <a:gd name="T19" fmla="*/ 2147483647 h 2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798"/>
              <a:gd name="T31" fmla="*/ 0 h 268"/>
              <a:gd name="T32" fmla="*/ 4798 w 4798"/>
              <a:gd name="T33" fmla="*/ 268 h 2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798" h="268">
                <a:moveTo>
                  <a:pt x="0" y="268"/>
                </a:moveTo>
                <a:lnTo>
                  <a:pt x="154" y="268"/>
                </a:lnTo>
                <a:lnTo>
                  <a:pt x="154" y="0"/>
                </a:lnTo>
                <a:lnTo>
                  <a:pt x="1238" y="0"/>
                </a:lnTo>
                <a:lnTo>
                  <a:pt x="1238" y="268"/>
                </a:lnTo>
                <a:lnTo>
                  <a:pt x="2476" y="268"/>
                </a:lnTo>
                <a:lnTo>
                  <a:pt x="2476" y="0"/>
                </a:lnTo>
                <a:lnTo>
                  <a:pt x="3715" y="0"/>
                </a:lnTo>
                <a:lnTo>
                  <a:pt x="3715" y="268"/>
                </a:lnTo>
                <a:lnTo>
                  <a:pt x="4798" y="268"/>
                </a:lnTo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838200" y="1428750"/>
            <a:ext cx="7616825" cy="423862"/>
          </a:xfrm>
          <a:custGeom>
            <a:avLst/>
            <a:gdLst>
              <a:gd name="T0" fmla="*/ 0 w 4798"/>
              <a:gd name="T1" fmla="*/ 2147483647 h 267"/>
              <a:gd name="T2" fmla="*/ 2147483647 w 4798"/>
              <a:gd name="T3" fmla="*/ 2147483647 h 267"/>
              <a:gd name="T4" fmla="*/ 2147483647 w 4798"/>
              <a:gd name="T5" fmla="*/ 0 h 267"/>
              <a:gd name="T6" fmla="*/ 2147483647 w 4798"/>
              <a:gd name="T7" fmla="*/ 0 h 267"/>
              <a:gd name="T8" fmla="*/ 2147483647 w 4798"/>
              <a:gd name="T9" fmla="*/ 2147483647 h 267"/>
              <a:gd name="T10" fmla="*/ 2147483647 w 4798"/>
              <a:gd name="T11" fmla="*/ 2147483647 h 267"/>
              <a:gd name="T12" fmla="*/ 2147483647 w 4798"/>
              <a:gd name="T13" fmla="*/ 0 h 267"/>
              <a:gd name="T14" fmla="*/ 2147483647 w 4798"/>
              <a:gd name="T15" fmla="*/ 0 h 267"/>
              <a:gd name="T16" fmla="*/ 2147483647 w 4798"/>
              <a:gd name="T17" fmla="*/ 2147483647 h 267"/>
              <a:gd name="T18" fmla="*/ 2147483647 w 4798"/>
              <a:gd name="T19" fmla="*/ 2147483647 h 267"/>
              <a:gd name="T20" fmla="*/ 2147483647 w 4798"/>
              <a:gd name="T21" fmla="*/ 0 h 267"/>
              <a:gd name="T22" fmla="*/ 2147483647 w 4798"/>
              <a:gd name="T23" fmla="*/ 0 h 267"/>
              <a:gd name="T24" fmla="*/ 2147483647 w 4798"/>
              <a:gd name="T25" fmla="*/ 2147483647 h 267"/>
              <a:gd name="T26" fmla="*/ 2147483647 w 4798"/>
              <a:gd name="T27" fmla="*/ 2147483647 h 267"/>
              <a:gd name="T28" fmla="*/ 2147483647 w 4798"/>
              <a:gd name="T29" fmla="*/ 0 h 267"/>
              <a:gd name="T30" fmla="*/ 2147483647 w 4798"/>
              <a:gd name="T31" fmla="*/ 0 h 267"/>
              <a:gd name="T32" fmla="*/ 2147483647 w 4798"/>
              <a:gd name="T33" fmla="*/ 2147483647 h 267"/>
              <a:gd name="T34" fmla="*/ 2147483647 w 4798"/>
              <a:gd name="T35" fmla="*/ 2147483647 h 26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4798"/>
              <a:gd name="T55" fmla="*/ 0 h 267"/>
              <a:gd name="T56" fmla="*/ 4798 w 4798"/>
              <a:gd name="T57" fmla="*/ 267 h 267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4798" h="267">
                <a:moveTo>
                  <a:pt x="0" y="267"/>
                </a:moveTo>
                <a:lnTo>
                  <a:pt x="309" y="267"/>
                </a:lnTo>
                <a:lnTo>
                  <a:pt x="309" y="0"/>
                </a:lnTo>
                <a:lnTo>
                  <a:pt x="929" y="0"/>
                </a:lnTo>
                <a:lnTo>
                  <a:pt x="929" y="267"/>
                </a:lnTo>
                <a:lnTo>
                  <a:pt x="1548" y="267"/>
                </a:lnTo>
                <a:lnTo>
                  <a:pt x="1548" y="0"/>
                </a:lnTo>
                <a:lnTo>
                  <a:pt x="2167" y="0"/>
                </a:lnTo>
                <a:lnTo>
                  <a:pt x="2167" y="267"/>
                </a:lnTo>
                <a:lnTo>
                  <a:pt x="2786" y="267"/>
                </a:lnTo>
                <a:lnTo>
                  <a:pt x="2786" y="0"/>
                </a:lnTo>
                <a:lnTo>
                  <a:pt x="3405" y="0"/>
                </a:lnTo>
                <a:lnTo>
                  <a:pt x="3405" y="267"/>
                </a:lnTo>
                <a:lnTo>
                  <a:pt x="4024" y="267"/>
                </a:lnTo>
                <a:lnTo>
                  <a:pt x="4024" y="0"/>
                </a:lnTo>
                <a:lnTo>
                  <a:pt x="4644" y="0"/>
                </a:lnTo>
                <a:lnTo>
                  <a:pt x="4644" y="267"/>
                </a:lnTo>
                <a:lnTo>
                  <a:pt x="4798" y="267"/>
                </a:lnTo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838200" y="3331636"/>
            <a:ext cx="7314946" cy="405339"/>
          </a:xfrm>
          <a:custGeom>
            <a:avLst/>
            <a:gdLst>
              <a:gd name="T0" fmla="*/ 0 w 4798"/>
              <a:gd name="T1" fmla="*/ 2147483647 h 255"/>
              <a:gd name="T2" fmla="*/ 2147483647 w 4798"/>
              <a:gd name="T3" fmla="*/ 2147483647 h 255"/>
              <a:gd name="T4" fmla="*/ 2147483647 w 4798"/>
              <a:gd name="T5" fmla="*/ 0 h 255"/>
              <a:gd name="T6" fmla="*/ 2147483647 w 4798"/>
              <a:gd name="T7" fmla="*/ 0 h 255"/>
              <a:gd name="T8" fmla="*/ 2147483647 w 4798"/>
              <a:gd name="T9" fmla="*/ 2147483647 h 255"/>
              <a:gd name="T10" fmla="*/ 2147483647 w 4798"/>
              <a:gd name="T11" fmla="*/ 2147483647 h 255"/>
              <a:gd name="T12" fmla="*/ 2147483647 w 4798"/>
              <a:gd name="T13" fmla="*/ 0 h 255"/>
              <a:gd name="T14" fmla="*/ 2147483647 w 4798"/>
              <a:gd name="T15" fmla="*/ 0 h 2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98"/>
              <a:gd name="T25" fmla="*/ 0 h 255"/>
              <a:gd name="T26" fmla="*/ 4798 w 4798"/>
              <a:gd name="T27" fmla="*/ 255 h 255"/>
              <a:gd name="connsiteX0" fmla="*/ 0 w 9806"/>
              <a:gd name="connsiteY0" fmla="*/ 10013 h 10013"/>
              <a:gd name="connsiteX1" fmla="*/ 1936 w 9806"/>
              <a:gd name="connsiteY1" fmla="*/ 10013 h 10013"/>
              <a:gd name="connsiteX2" fmla="*/ 1936 w 9806"/>
              <a:gd name="connsiteY2" fmla="*/ 13 h 10013"/>
              <a:gd name="connsiteX3" fmla="*/ 4516 w 9806"/>
              <a:gd name="connsiteY3" fmla="*/ 13 h 10013"/>
              <a:gd name="connsiteX4" fmla="*/ 4516 w 9806"/>
              <a:gd name="connsiteY4" fmla="*/ 10013 h 10013"/>
              <a:gd name="connsiteX5" fmla="*/ 7097 w 9806"/>
              <a:gd name="connsiteY5" fmla="*/ 10013 h 10013"/>
              <a:gd name="connsiteX6" fmla="*/ 7097 w 9806"/>
              <a:gd name="connsiteY6" fmla="*/ 13 h 10013"/>
              <a:gd name="connsiteX7" fmla="*/ 9806 w 9806"/>
              <a:gd name="connsiteY7" fmla="*/ 0 h 10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06" h="10013">
                <a:moveTo>
                  <a:pt x="0" y="10013"/>
                </a:moveTo>
                <a:lnTo>
                  <a:pt x="1936" y="10013"/>
                </a:lnTo>
                <a:lnTo>
                  <a:pt x="1936" y="13"/>
                </a:lnTo>
                <a:lnTo>
                  <a:pt x="4516" y="13"/>
                </a:lnTo>
                <a:lnTo>
                  <a:pt x="4516" y="10013"/>
                </a:lnTo>
                <a:lnTo>
                  <a:pt x="7097" y="10013"/>
                </a:lnTo>
                <a:lnTo>
                  <a:pt x="7097" y="13"/>
                </a:lnTo>
                <a:lnTo>
                  <a:pt x="9806" y="0"/>
                </a:lnTo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592138" y="1387475"/>
            <a:ext cx="17399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533400" y="1717516"/>
            <a:ext cx="2628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CP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533400" y="2344579"/>
            <a:ext cx="15709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33400" y="3620929"/>
            <a:ext cx="16671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 bwMode="auto">
          <a:xfrm>
            <a:off x="8153474" y="3331641"/>
            <a:ext cx="0" cy="432048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/>
          <p:cNvCxnSpPr/>
          <p:nvPr/>
        </p:nvCxnSpPr>
        <p:spPr bwMode="auto">
          <a:xfrm>
            <a:off x="8153474" y="3763689"/>
            <a:ext cx="504056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1" name="Freeform 9"/>
          <p:cNvSpPr>
            <a:spLocks/>
          </p:cNvSpPr>
          <p:nvPr/>
        </p:nvSpPr>
        <p:spPr bwMode="auto">
          <a:xfrm>
            <a:off x="7865442" y="1675457"/>
            <a:ext cx="304800" cy="1981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下降沿触发的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触发器波形图举例：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800" y="4095750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336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198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010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1" grpId="0" animBg="1"/>
      <p:bldP spid="24" grpId="0"/>
      <p:bldP spid="25" grpId="1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24000" y="2876550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上升沿触发的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</a:t>
            </a: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6629400" y="1276350"/>
          <a:ext cx="214630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7" name="Visio" r:id="rId2" imgW="2146373" imgH="1518568" progId="Visio.Drawing.11">
                  <p:embed/>
                </p:oleObj>
              </mc:Choice>
              <mc:Fallback>
                <p:oleObj name="Visio" r:id="rId2" imgW="2146373" imgH="1518568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276350"/>
                        <a:ext cx="2146300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5588" name="Picture 4" descr="C:\Users\hfutliujun\AppData\Roaming\Tencent\Users\350654676\QQ\WinTemp\RichOle\WF5}6[QAMB%XD_4P[2`Z8I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200150"/>
            <a:ext cx="6015690" cy="1600200"/>
          </a:xfrm>
          <a:prstGeom prst="rect">
            <a:avLst/>
          </a:prstGeom>
          <a:noFill/>
        </p:spPr>
      </p:pic>
      <p:sp>
        <p:nvSpPr>
          <p:cNvPr id="37" name="TextBox 36"/>
          <p:cNvSpPr txBox="1"/>
          <p:nvPr/>
        </p:nvSpPr>
        <p:spPr>
          <a:xfrm>
            <a:off x="7391400" y="2873573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38" name="矩形 37"/>
          <p:cNvSpPr/>
          <p:nvPr/>
        </p:nvSpPr>
        <p:spPr>
          <a:xfrm>
            <a:off x="381000" y="666750"/>
            <a:ext cx="2675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上升沿触发的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zh-CN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575686" y="173355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2271" y="173355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锁存器和触发器的区别：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57200" y="1123950"/>
            <a:ext cx="21595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>
                <a:latin typeface="楷体_GB2312" pitchFamily="49" charset="-122"/>
                <a:ea typeface="楷体_GB2312" pitchFamily="49" charset="-122"/>
              </a:rPr>
              <a:t>CP</a:t>
            </a:r>
            <a:r>
              <a:rPr lang="zh-CN" altLang="en-US" sz="1400" b="1" i="0" dirty="0">
                <a:latin typeface="楷体_GB2312" pitchFamily="49" charset="-122"/>
                <a:ea typeface="楷体_GB2312" pitchFamily="49" charset="-122"/>
              </a:rPr>
              <a:t>脉冲有四个不同阶段：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498725" y="1985963"/>
            <a:ext cx="7232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400" b="1" i="0">
                <a:latin typeface="楷体_GB2312" pitchFamily="49" charset="-122"/>
                <a:ea typeface="楷体_GB2312" pitchFamily="49" charset="-122"/>
              </a:rPr>
              <a:t>低电平</a:t>
            </a:r>
          </a:p>
        </p:txBody>
      </p: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625475" y="1814512"/>
            <a:ext cx="822325" cy="358378"/>
            <a:chOff x="960" y="2751"/>
            <a:chExt cx="518" cy="301"/>
          </a:xfrm>
        </p:grpSpPr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960" y="2751"/>
              <a:ext cx="45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 dirty="0">
                  <a:latin typeface="楷体_GB2312" pitchFamily="49" charset="-122"/>
                  <a:ea typeface="楷体_GB2312" pitchFamily="49" charset="-122"/>
                </a:rPr>
                <a:t>上升沿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V="1">
              <a:off x="1478" y="286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</p:grp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295400" y="1504950"/>
            <a:ext cx="7232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400" b="1" i="0">
                <a:latin typeface="楷体_GB2312" pitchFamily="49" charset="-122"/>
                <a:ea typeface="楷体_GB2312" pitchFamily="49" charset="-122"/>
              </a:rPr>
              <a:t>高电平</a:t>
            </a:r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1905001" y="1814517"/>
            <a:ext cx="739775" cy="308372"/>
            <a:chOff x="1766" y="2751"/>
            <a:chExt cx="466" cy="259"/>
          </a:xfrm>
        </p:grpSpPr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766" y="27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776" y="2751"/>
              <a:ext cx="45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>
                  <a:latin typeface="楷体_GB2312" pitchFamily="49" charset="-122"/>
                  <a:ea typeface="楷体_GB2312" pitchFamily="49" charset="-122"/>
                </a:rPr>
                <a:t>下降沿</a:t>
              </a:r>
            </a:p>
          </p:txBody>
        </p:sp>
      </p:grp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60375" y="3102770"/>
            <a:ext cx="9028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400" b="1" i="0" dirty="0">
                <a:latin typeface="楷体_GB2312" pitchFamily="49" charset="-122"/>
                <a:ea typeface="楷体_GB2312" pitchFamily="49" charset="-122"/>
              </a:rPr>
              <a:t>触发方式</a:t>
            </a:r>
          </a:p>
        </p:txBody>
      </p: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1365251" y="2834878"/>
            <a:ext cx="1414463" cy="1032272"/>
            <a:chOff x="1604" y="3302"/>
            <a:chExt cx="891" cy="672"/>
          </a:xfrm>
        </p:grpSpPr>
        <p:sp>
          <p:nvSpPr>
            <p:cNvPr id="23" name="AutoShape 18"/>
            <p:cNvSpPr>
              <a:spLocks/>
            </p:cNvSpPr>
            <p:nvPr/>
          </p:nvSpPr>
          <p:spPr bwMode="auto">
            <a:xfrm>
              <a:off x="1604" y="3350"/>
              <a:ext cx="144" cy="624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 sz="1400" i="0">
                <a:latin typeface="Times New Roman" pitchFamily="18" charset="0"/>
              </a:endParaRPr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1700" y="3302"/>
              <a:ext cx="795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 dirty="0">
                  <a:latin typeface="楷体_GB2312" pitchFamily="49" charset="-122"/>
                  <a:ea typeface="楷体_GB2312" pitchFamily="49" charset="-122"/>
                </a:rPr>
                <a:t>电平触发方式</a:t>
              </a:r>
            </a:p>
          </p:txBody>
        </p:sp>
      </p:grpSp>
      <p:sp>
        <p:nvSpPr>
          <p:cNvPr id="25" name="Text Box 20"/>
          <p:cNvSpPr txBox="1">
            <a:spLocks noChangeArrowheads="1"/>
          </p:cNvSpPr>
          <p:nvPr/>
        </p:nvSpPr>
        <p:spPr bwMode="auto">
          <a:xfrm>
            <a:off x="1517650" y="3635573"/>
            <a:ext cx="12618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400" b="1" i="0" dirty="0">
                <a:latin typeface="楷体_GB2312" pitchFamily="49" charset="-122"/>
                <a:ea typeface="楷体_GB2312" pitchFamily="49" charset="-122"/>
              </a:rPr>
              <a:t>边沿触发方式</a:t>
            </a:r>
          </a:p>
        </p:txBody>
      </p:sp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2819400" y="2618185"/>
            <a:ext cx="952500" cy="583406"/>
            <a:chOff x="2736" y="3120"/>
            <a:chExt cx="600" cy="490"/>
          </a:xfrm>
        </p:grpSpPr>
        <p:sp>
          <p:nvSpPr>
            <p:cNvPr id="27" name="AutoShape 22"/>
            <p:cNvSpPr>
              <a:spLocks/>
            </p:cNvSpPr>
            <p:nvPr/>
          </p:nvSpPr>
          <p:spPr bwMode="auto">
            <a:xfrm>
              <a:off x="2736" y="3226"/>
              <a:ext cx="144" cy="384"/>
            </a:xfrm>
            <a:prstGeom prst="leftBrace">
              <a:avLst>
                <a:gd name="adj1" fmla="val 22222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 sz="1400" i="0">
                <a:latin typeface="Times New Roman" pitchFamily="18" charset="0"/>
              </a:endParaRP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2880" y="3120"/>
              <a:ext cx="45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>
                  <a:latin typeface="楷体_GB2312" pitchFamily="49" charset="-122"/>
                  <a:ea typeface="楷体_GB2312" pitchFamily="49" charset="-122"/>
                </a:rPr>
                <a:t>高电平</a:t>
              </a:r>
            </a:p>
          </p:txBody>
        </p:sp>
      </p:grp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3016250" y="2972991"/>
            <a:ext cx="7232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400" b="1" i="0" dirty="0">
                <a:latin typeface="楷体_GB2312" pitchFamily="49" charset="-122"/>
                <a:ea typeface="楷体_GB2312" pitchFamily="49" charset="-122"/>
              </a:rPr>
              <a:t>低电平</a:t>
            </a:r>
          </a:p>
        </p:txBody>
      </p:sp>
      <p:grpSp>
        <p:nvGrpSpPr>
          <p:cNvPr id="30" name="Group 25"/>
          <p:cNvGrpSpPr>
            <a:grpSpLocks/>
          </p:cNvGrpSpPr>
          <p:nvPr/>
        </p:nvGrpSpPr>
        <p:grpSpPr bwMode="auto">
          <a:xfrm>
            <a:off x="2819400" y="3462337"/>
            <a:ext cx="920750" cy="557213"/>
            <a:chOff x="2736" y="3622"/>
            <a:chExt cx="580" cy="468"/>
          </a:xfrm>
        </p:grpSpPr>
        <p:sp>
          <p:nvSpPr>
            <p:cNvPr id="31" name="AutoShape 26"/>
            <p:cNvSpPr>
              <a:spLocks/>
            </p:cNvSpPr>
            <p:nvPr/>
          </p:nvSpPr>
          <p:spPr bwMode="auto">
            <a:xfrm>
              <a:off x="2736" y="3706"/>
              <a:ext cx="144" cy="384"/>
            </a:xfrm>
            <a:prstGeom prst="leftBrace">
              <a:avLst>
                <a:gd name="adj1" fmla="val 22222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 sz="1400" i="0">
                <a:latin typeface="Times New Roman" pitchFamily="18" charset="0"/>
              </a:endParaRP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860" y="3622"/>
              <a:ext cx="45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>
                  <a:latin typeface="楷体_GB2312" pitchFamily="49" charset="-122"/>
                  <a:ea typeface="楷体_GB2312" pitchFamily="49" charset="-122"/>
                </a:rPr>
                <a:t>上升沿</a:t>
              </a:r>
            </a:p>
          </p:txBody>
        </p:sp>
      </p:grp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3016250" y="3790950"/>
            <a:ext cx="7232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400" b="1" i="0" dirty="0">
                <a:latin typeface="楷体_GB2312" pitchFamily="49" charset="-122"/>
                <a:ea typeface="楷体_GB2312" pitchFamily="49" charset="-122"/>
              </a:rPr>
              <a:t>下降沿</a:t>
            </a:r>
          </a:p>
        </p:txBody>
      </p:sp>
      <p:grpSp>
        <p:nvGrpSpPr>
          <p:cNvPr id="34" name="Group 29"/>
          <p:cNvGrpSpPr>
            <a:grpSpLocks/>
          </p:cNvGrpSpPr>
          <p:nvPr/>
        </p:nvGrpSpPr>
        <p:grpSpPr bwMode="auto">
          <a:xfrm>
            <a:off x="5029200" y="1123950"/>
            <a:ext cx="2446337" cy="3113484"/>
            <a:chOff x="3696" y="2219"/>
            <a:chExt cx="1541" cy="2615"/>
          </a:xfrm>
        </p:grpSpPr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4272" y="4395"/>
              <a:ext cx="965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en-US" altLang="zh-CN" sz="1400" b="1" i="0" dirty="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/>
              <a:r>
                <a:rPr lang="zh-CN" altLang="en-US" sz="1400" b="1" i="0" dirty="0">
                  <a:latin typeface="楷体_GB2312" pitchFamily="49" charset="-122"/>
                  <a:ea typeface="楷体_GB2312" pitchFamily="49" charset="-122"/>
                </a:rPr>
                <a:t>   图</a:t>
              </a:r>
              <a:r>
                <a:rPr lang="en-US" altLang="zh-CN" sz="1400" b="1" i="0" dirty="0">
                  <a:latin typeface="楷体_GB2312" pitchFamily="49" charset="-122"/>
                  <a:ea typeface="楷体_GB2312" pitchFamily="49" charset="-122"/>
                </a:rPr>
                <a:t>9 </a:t>
              </a:r>
              <a:r>
                <a:rPr lang="zh-CN" altLang="en-US" sz="1400" b="1" i="0" dirty="0">
                  <a:latin typeface="楷体_GB2312" pitchFamily="49" charset="-122"/>
                  <a:ea typeface="楷体_GB2312" pitchFamily="49" charset="-122"/>
                </a:rPr>
                <a:t>电路匡图</a:t>
              </a:r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4175" y="2544"/>
              <a:ext cx="443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 sz="1400" i="0">
                <a:latin typeface="Times New Roman" pitchFamily="18" charset="0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 flipV="1">
              <a:off x="4545" y="244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38" name="Text Box 33"/>
            <p:cNvSpPr txBox="1">
              <a:spLocks noChangeArrowheads="1"/>
            </p:cNvSpPr>
            <p:nvPr/>
          </p:nvSpPr>
          <p:spPr bwMode="auto">
            <a:xfrm>
              <a:off x="4426" y="2219"/>
              <a:ext cx="17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 b="1" i="0">
                  <a:latin typeface="楷体_GB2312" pitchFamily="49" charset="-122"/>
                  <a:ea typeface="楷体_GB2312" pitchFamily="49" charset="-122"/>
                </a:rPr>
                <a:t>Q</a:t>
              </a:r>
            </a:p>
          </p:txBody>
        </p:sp>
        <p:sp>
          <p:nvSpPr>
            <p:cNvPr id="39" name="Text Box 34"/>
            <p:cNvSpPr txBox="1">
              <a:spLocks noChangeArrowheads="1"/>
            </p:cNvSpPr>
            <p:nvPr/>
          </p:nvSpPr>
          <p:spPr bwMode="auto">
            <a:xfrm>
              <a:off x="4123" y="2219"/>
              <a:ext cx="17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 b="1" i="0" dirty="0">
                  <a:latin typeface="楷体_GB2312" pitchFamily="49" charset="-122"/>
                  <a:ea typeface="楷体_GB2312" pitchFamily="49" charset="-122"/>
                </a:rPr>
                <a:t>Q</a:t>
              </a: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4175" y="2273"/>
              <a:ext cx="1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4172" y="2490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zh-CN" sz="1400" b="1" i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4378" y="2784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 sz="1400" i="0">
                <a:latin typeface="Times New Roman" pitchFamily="18" charset="0"/>
              </a:endParaRPr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>
              <a:off x="4400" y="283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 flipV="1">
              <a:off x="4234" y="244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5" name="Rectangle 40"/>
            <p:cNvSpPr>
              <a:spLocks noChangeArrowheads="1"/>
            </p:cNvSpPr>
            <p:nvPr/>
          </p:nvSpPr>
          <p:spPr bwMode="auto">
            <a:xfrm>
              <a:off x="4736" y="2544"/>
              <a:ext cx="443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 sz="1400" i="0">
                <a:latin typeface="Times New Roman" pitchFamily="18" charset="0"/>
              </a:endParaRP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V="1">
              <a:off x="5106" y="244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7" name="Text Box 42"/>
            <p:cNvSpPr txBox="1">
              <a:spLocks noChangeArrowheads="1"/>
            </p:cNvSpPr>
            <p:nvPr/>
          </p:nvSpPr>
          <p:spPr bwMode="auto">
            <a:xfrm>
              <a:off x="4987" y="2219"/>
              <a:ext cx="17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 b="1" i="0">
                  <a:latin typeface="楷体_GB2312" pitchFamily="49" charset="-122"/>
                  <a:ea typeface="楷体_GB2312" pitchFamily="49" charset="-122"/>
                </a:rPr>
                <a:t>Q</a:t>
              </a:r>
            </a:p>
          </p:txBody>
        </p:sp>
        <p:sp>
          <p:nvSpPr>
            <p:cNvPr id="48" name="Text Box 43"/>
            <p:cNvSpPr txBox="1">
              <a:spLocks noChangeArrowheads="1"/>
            </p:cNvSpPr>
            <p:nvPr/>
          </p:nvSpPr>
          <p:spPr bwMode="auto">
            <a:xfrm>
              <a:off x="4684" y="2219"/>
              <a:ext cx="17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 b="1" i="0">
                  <a:latin typeface="楷体_GB2312" pitchFamily="49" charset="-122"/>
                  <a:ea typeface="楷体_GB2312" pitchFamily="49" charset="-122"/>
                </a:rPr>
                <a:t>Q</a:t>
              </a:r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4736" y="2273"/>
              <a:ext cx="1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0" name="Text Box 45"/>
            <p:cNvSpPr txBox="1">
              <a:spLocks noChangeArrowheads="1"/>
            </p:cNvSpPr>
            <p:nvPr/>
          </p:nvSpPr>
          <p:spPr bwMode="auto">
            <a:xfrm>
              <a:off x="4733" y="2490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zh-CN" sz="1400" b="1" i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4954" y="278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 flipV="1">
              <a:off x="4795" y="2448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3" name="Text Box 48"/>
            <p:cNvSpPr txBox="1">
              <a:spLocks noChangeArrowheads="1"/>
            </p:cNvSpPr>
            <p:nvPr/>
          </p:nvSpPr>
          <p:spPr bwMode="auto">
            <a:xfrm>
              <a:off x="3696" y="2539"/>
              <a:ext cx="34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 dirty="0">
                  <a:latin typeface="楷体_GB2312" pitchFamily="49" charset="-122"/>
                  <a:ea typeface="楷体_GB2312" pitchFamily="49" charset="-122"/>
                </a:rPr>
                <a:t>电平</a:t>
              </a:r>
            </a:p>
          </p:txBody>
        </p:sp>
        <p:sp>
          <p:nvSpPr>
            <p:cNvPr id="54" name="Text Box 49"/>
            <p:cNvSpPr txBox="1">
              <a:spLocks noChangeArrowheads="1"/>
            </p:cNvSpPr>
            <p:nvPr/>
          </p:nvSpPr>
          <p:spPr bwMode="auto">
            <a:xfrm>
              <a:off x="4162" y="2775"/>
              <a:ext cx="22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 b="1" i="0">
                  <a:latin typeface="楷体_GB2312" pitchFamily="49" charset="-122"/>
                  <a:ea typeface="楷体_GB2312" pitchFamily="49" charset="-122"/>
                </a:rPr>
                <a:t>CP</a:t>
              </a:r>
            </a:p>
          </p:txBody>
        </p:sp>
        <p:sp>
          <p:nvSpPr>
            <p:cNvPr id="55" name="Text Box 50"/>
            <p:cNvSpPr txBox="1">
              <a:spLocks noChangeArrowheads="1"/>
            </p:cNvSpPr>
            <p:nvPr/>
          </p:nvSpPr>
          <p:spPr bwMode="auto">
            <a:xfrm>
              <a:off x="4378" y="2782"/>
              <a:ext cx="22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 dirty="0">
                  <a:latin typeface="楷体_GB2312" pitchFamily="49" charset="-122"/>
                  <a:ea typeface="楷体_GB2312" pitchFamily="49" charset="-122"/>
                </a:rPr>
                <a:t>低</a:t>
              </a:r>
            </a:p>
          </p:txBody>
        </p:sp>
        <p:sp>
          <p:nvSpPr>
            <p:cNvPr id="56" name="Text Box 51"/>
            <p:cNvSpPr txBox="1">
              <a:spLocks noChangeArrowheads="1"/>
            </p:cNvSpPr>
            <p:nvPr/>
          </p:nvSpPr>
          <p:spPr bwMode="auto">
            <a:xfrm>
              <a:off x="4714" y="2775"/>
              <a:ext cx="22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 b="1" i="0">
                  <a:latin typeface="楷体_GB2312" pitchFamily="49" charset="-122"/>
                  <a:ea typeface="楷体_GB2312" pitchFamily="49" charset="-122"/>
                </a:rPr>
                <a:t>CP</a:t>
              </a:r>
            </a:p>
          </p:txBody>
        </p:sp>
        <p:sp>
          <p:nvSpPr>
            <p:cNvPr id="57" name="Text Box 52"/>
            <p:cNvSpPr txBox="1">
              <a:spLocks noChangeArrowheads="1"/>
            </p:cNvSpPr>
            <p:nvPr/>
          </p:nvSpPr>
          <p:spPr bwMode="auto">
            <a:xfrm>
              <a:off x="4950" y="2779"/>
              <a:ext cx="22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 dirty="0">
                  <a:latin typeface="楷体_GB2312" pitchFamily="49" charset="-122"/>
                  <a:ea typeface="楷体_GB2312" pitchFamily="49" charset="-122"/>
                </a:rPr>
                <a:t>高</a:t>
              </a:r>
            </a:p>
          </p:txBody>
        </p:sp>
      </p:grpSp>
      <p:grpSp>
        <p:nvGrpSpPr>
          <p:cNvPr id="58" name="Group 53"/>
          <p:cNvGrpSpPr>
            <a:grpSpLocks/>
          </p:cNvGrpSpPr>
          <p:nvPr/>
        </p:nvGrpSpPr>
        <p:grpSpPr bwMode="auto">
          <a:xfrm>
            <a:off x="5104595" y="2571751"/>
            <a:ext cx="2879139" cy="1074043"/>
            <a:chOff x="3734" y="3168"/>
            <a:chExt cx="1629" cy="783"/>
          </a:xfrm>
        </p:grpSpPr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3734" y="3446"/>
              <a:ext cx="308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b="1" i="0" dirty="0">
                  <a:ea typeface="黑体" pitchFamily="49" charset="-122"/>
                </a:rPr>
                <a:t>边沿</a:t>
              </a:r>
            </a:p>
          </p:txBody>
        </p:sp>
        <p:grpSp>
          <p:nvGrpSpPr>
            <p:cNvPr id="60" name="Group 55"/>
            <p:cNvGrpSpPr>
              <a:grpSpLocks/>
            </p:cNvGrpSpPr>
            <p:nvPr/>
          </p:nvGrpSpPr>
          <p:grpSpPr bwMode="auto">
            <a:xfrm>
              <a:off x="4138" y="3168"/>
              <a:ext cx="1225" cy="783"/>
              <a:chOff x="4138" y="3168"/>
              <a:chExt cx="1225" cy="783"/>
            </a:xfrm>
          </p:grpSpPr>
          <p:sp>
            <p:nvSpPr>
              <p:cNvPr id="61" name="Rectangle 56"/>
              <p:cNvSpPr>
                <a:spLocks noChangeArrowheads="1"/>
              </p:cNvSpPr>
              <p:nvPr/>
            </p:nvSpPr>
            <p:spPr bwMode="auto">
              <a:xfrm>
                <a:off x="4190" y="3456"/>
                <a:ext cx="443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zh-CN" sz="1400" i="0">
                  <a:latin typeface="Times New Roman" pitchFamily="18" charset="0"/>
                </a:endParaRPr>
              </a:p>
            </p:txBody>
          </p:sp>
          <p:sp>
            <p:nvSpPr>
              <p:cNvPr id="62" name="Line 57"/>
              <p:cNvSpPr>
                <a:spLocks noChangeShapeType="1"/>
              </p:cNvSpPr>
              <p:nvPr/>
            </p:nvSpPr>
            <p:spPr bwMode="auto">
              <a:xfrm flipV="1">
                <a:off x="4560" y="3360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63" name="Text Box 58"/>
              <p:cNvSpPr txBox="1">
                <a:spLocks noChangeArrowheads="1"/>
              </p:cNvSpPr>
              <p:nvPr/>
            </p:nvSpPr>
            <p:spPr bwMode="auto">
              <a:xfrm>
                <a:off x="4441" y="3168"/>
                <a:ext cx="183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b="1" i="0"/>
                  <a:t>Q</a:t>
                </a:r>
              </a:p>
            </p:txBody>
          </p:sp>
          <p:sp>
            <p:nvSpPr>
              <p:cNvPr id="64" name="Text Box 59"/>
              <p:cNvSpPr txBox="1">
                <a:spLocks noChangeArrowheads="1"/>
              </p:cNvSpPr>
              <p:nvPr/>
            </p:nvSpPr>
            <p:spPr bwMode="auto">
              <a:xfrm>
                <a:off x="4138" y="3168"/>
                <a:ext cx="183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b="1" i="0"/>
                  <a:t>Q</a:t>
                </a:r>
              </a:p>
            </p:txBody>
          </p:sp>
          <p:sp>
            <p:nvSpPr>
              <p:cNvPr id="65" name="Line 60"/>
              <p:cNvSpPr>
                <a:spLocks noChangeShapeType="1"/>
              </p:cNvSpPr>
              <p:nvPr/>
            </p:nvSpPr>
            <p:spPr bwMode="auto">
              <a:xfrm>
                <a:off x="4190" y="3185"/>
                <a:ext cx="1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66" name="Text Box 61"/>
              <p:cNvSpPr txBox="1">
                <a:spLocks noChangeArrowheads="1"/>
              </p:cNvSpPr>
              <p:nvPr/>
            </p:nvSpPr>
            <p:spPr bwMode="auto">
              <a:xfrm>
                <a:off x="4187" y="3435"/>
                <a:ext cx="105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endParaRPr lang="zh-CN" altLang="zh-CN" sz="1400" b="1" i="0"/>
              </a:p>
            </p:txBody>
          </p:sp>
          <p:sp>
            <p:nvSpPr>
              <p:cNvPr id="67" name="Oval 62"/>
              <p:cNvSpPr>
                <a:spLocks noChangeArrowheads="1"/>
              </p:cNvSpPr>
              <p:nvPr/>
            </p:nvSpPr>
            <p:spPr bwMode="auto">
              <a:xfrm>
                <a:off x="4393" y="3696"/>
                <a:ext cx="48" cy="4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zh-CN" sz="1400" i="0">
                  <a:latin typeface="Times New Roman" pitchFamily="18" charset="0"/>
                </a:endParaRPr>
              </a:p>
            </p:txBody>
          </p:sp>
          <p:sp>
            <p:nvSpPr>
              <p:cNvPr id="68" name="Line 63"/>
              <p:cNvSpPr>
                <a:spLocks noChangeShapeType="1"/>
              </p:cNvSpPr>
              <p:nvPr/>
            </p:nvSpPr>
            <p:spPr bwMode="auto">
              <a:xfrm>
                <a:off x="4415" y="3744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69" name="Line 64"/>
              <p:cNvSpPr>
                <a:spLocks noChangeShapeType="1"/>
              </p:cNvSpPr>
              <p:nvPr/>
            </p:nvSpPr>
            <p:spPr bwMode="auto">
              <a:xfrm flipV="1">
                <a:off x="4249" y="3360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0" name="Rectangle 65"/>
              <p:cNvSpPr>
                <a:spLocks noChangeArrowheads="1"/>
              </p:cNvSpPr>
              <p:nvPr/>
            </p:nvSpPr>
            <p:spPr bwMode="auto">
              <a:xfrm>
                <a:off x="4751" y="3456"/>
                <a:ext cx="443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zh-CN" sz="1400" i="0">
                  <a:latin typeface="Times New Roman" pitchFamily="18" charset="0"/>
                </a:endParaRPr>
              </a:p>
            </p:txBody>
          </p:sp>
          <p:sp>
            <p:nvSpPr>
              <p:cNvPr id="71" name="Line 66"/>
              <p:cNvSpPr>
                <a:spLocks noChangeShapeType="1"/>
              </p:cNvSpPr>
              <p:nvPr/>
            </p:nvSpPr>
            <p:spPr bwMode="auto">
              <a:xfrm flipV="1">
                <a:off x="5121" y="3360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2" name="Text Box 67"/>
              <p:cNvSpPr txBox="1">
                <a:spLocks noChangeArrowheads="1"/>
              </p:cNvSpPr>
              <p:nvPr/>
            </p:nvSpPr>
            <p:spPr bwMode="auto">
              <a:xfrm>
                <a:off x="5002" y="3168"/>
                <a:ext cx="183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b="1" i="0"/>
                  <a:t>Q</a:t>
                </a:r>
              </a:p>
            </p:txBody>
          </p:sp>
          <p:sp>
            <p:nvSpPr>
              <p:cNvPr id="73" name="Text Box 68"/>
              <p:cNvSpPr txBox="1">
                <a:spLocks noChangeArrowheads="1"/>
              </p:cNvSpPr>
              <p:nvPr/>
            </p:nvSpPr>
            <p:spPr bwMode="auto">
              <a:xfrm>
                <a:off x="4699" y="3168"/>
                <a:ext cx="183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b="1" i="0"/>
                  <a:t>Q</a:t>
                </a:r>
              </a:p>
            </p:txBody>
          </p:sp>
          <p:sp>
            <p:nvSpPr>
              <p:cNvPr id="74" name="Line 69"/>
              <p:cNvSpPr>
                <a:spLocks noChangeShapeType="1"/>
              </p:cNvSpPr>
              <p:nvPr/>
            </p:nvSpPr>
            <p:spPr bwMode="auto">
              <a:xfrm>
                <a:off x="4751" y="3185"/>
                <a:ext cx="1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5" name="Text Box 70"/>
              <p:cNvSpPr txBox="1">
                <a:spLocks noChangeArrowheads="1"/>
              </p:cNvSpPr>
              <p:nvPr/>
            </p:nvSpPr>
            <p:spPr bwMode="auto">
              <a:xfrm>
                <a:off x="4748" y="3435"/>
                <a:ext cx="105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endParaRPr lang="zh-CN" altLang="zh-CN" sz="1400" b="1" i="0"/>
              </a:p>
            </p:txBody>
          </p:sp>
          <p:sp>
            <p:nvSpPr>
              <p:cNvPr id="76" name="Line 71"/>
              <p:cNvSpPr>
                <a:spLocks noChangeShapeType="1"/>
              </p:cNvSpPr>
              <p:nvPr/>
            </p:nvSpPr>
            <p:spPr bwMode="auto">
              <a:xfrm>
                <a:off x="5002" y="369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7" name="Line 72"/>
              <p:cNvSpPr>
                <a:spLocks noChangeShapeType="1"/>
              </p:cNvSpPr>
              <p:nvPr/>
            </p:nvSpPr>
            <p:spPr bwMode="auto">
              <a:xfrm flipV="1">
                <a:off x="4810" y="3360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8" name="Line 73"/>
              <p:cNvSpPr>
                <a:spLocks noChangeShapeType="1"/>
              </p:cNvSpPr>
              <p:nvPr/>
            </p:nvSpPr>
            <p:spPr bwMode="auto">
              <a:xfrm flipH="1">
                <a:off x="4364" y="3600"/>
                <a:ext cx="4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9" name="Line 74"/>
              <p:cNvSpPr>
                <a:spLocks noChangeShapeType="1"/>
              </p:cNvSpPr>
              <p:nvPr/>
            </p:nvSpPr>
            <p:spPr bwMode="auto">
              <a:xfrm>
                <a:off x="4409" y="3600"/>
                <a:ext cx="7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0" name="Line 75"/>
              <p:cNvSpPr>
                <a:spLocks noChangeShapeType="1"/>
              </p:cNvSpPr>
              <p:nvPr/>
            </p:nvSpPr>
            <p:spPr bwMode="auto">
              <a:xfrm flipH="1">
                <a:off x="4942" y="3600"/>
                <a:ext cx="4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1" name="Line 76"/>
              <p:cNvSpPr>
                <a:spLocks noChangeShapeType="1"/>
              </p:cNvSpPr>
              <p:nvPr/>
            </p:nvSpPr>
            <p:spPr bwMode="auto">
              <a:xfrm>
                <a:off x="4978" y="3600"/>
                <a:ext cx="7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82" name="Text Box 77"/>
              <p:cNvSpPr txBox="1">
                <a:spLocks noChangeArrowheads="1"/>
              </p:cNvSpPr>
              <p:nvPr/>
            </p:nvSpPr>
            <p:spPr bwMode="auto">
              <a:xfrm>
                <a:off x="4186" y="3724"/>
                <a:ext cx="246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b="1" i="0"/>
                  <a:t>CP</a:t>
                </a:r>
              </a:p>
            </p:txBody>
          </p:sp>
          <p:sp>
            <p:nvSpPr>
              <p:cNvPr id="83" name="Text Box 78"/>
              <p:cNvSpPr txBox="1">
                <a:spLocks noChangeArrowheads="1"/>
              </p:cNvSpPr>
              <p:nvPr/>
            </p:nvSpPr>
            <p:spPr bwMode="auto">
              <a:xfrm>
                <a:off x="4786" y="3724"/>
                <a:ext cx="246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b="1" i="0" dirty="0"/>
                  <a:t>CP</a:t>
                </a:r>
              </a:p>
            </p:txBody>
          </p:sp>
          <p:sp>
            <p:nvSpPr>
              <p:cNvPr id="84" name="Text Box 79"/>
              <p:cNvSpPr txBox="1">
                <a:spLocks noChangeArrowheads="1"/>
              </p:cNvSpPr>
              <p:nvPr/>
            </p:nvSpPr>
            <p:spPr bwMode="auto">
              <a:xfrm>
                <a:off x="4378" y="3724"/>
                <a:ext cx="409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1400" b="1" i="0" dirty="0">
                    <a:ea typeface="黑体" pitchFamily="49" charset="-122"/>
                  </a:rPr>
                  <a:t>下降沿</a:t>
                </a:r>
              </a:p>
            </p:txBody>
          </p:sp>
          <p:sp>
            <p:nvSpPr>
              <p:cNvPr id="85" name="Text Box 80"/>
              <p:cNvSpPr txBox="1">
                <a:spLocks noChangeArrowheads="1"/>
              </p:cNvSpPr>
              <p:nvPr/>
            </p:nvSpPr>
            <p:spPr bwMode="auto">
              <a:xfrm>
                <a:off x="4954" y="3727"/>
                <a:ext cx="409" cy="2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1400" b="1" i="0" dirty="0">
                    <a:ea typeface="黑体" pitchFamily="49" charset="-122"/>
                  </a:rPr>
                  <a:t>上升沿</a:t>
                </a:r>
              </a:p>
            </p:txBody>
          </p:sp>
        </p:grpSp>
      </p:grpSp>
      <p:grpSp>
        <p:nvGrpSpPr>
          <p:cNvPr id="86" name="Group 81"/>
          <p:cNvGrpSpPr>
            <a:grpSpLocks/>
          </p:cNvGrpSpPr>
          <p:nvPr/>
        </p:nvGrpSpPr>
        <p:grpSpPr bwMode="auto">
          <a:xfrm>
            <a:off x="762000" y="1829990"/>
            <a:ext cx="1751012" cy="346472"/>
            <a:chOff x="1046" y="2764"/>
            <a:chExt cx="1103" cy="291"/>
          </a:xfrm>
        </p:grpSpPr>
        <p:sp>
          <p:nvSpPr>
            <p:cNvPr id="87" name="Line 82"/>
            <p:cNvSpPr>
              <a:spLocks noChangeShapeType="1"/>
            </p:cNvSpPr>
            <p:nvPr/>
          </p:nvSpPr>
          <p:spPr bwMode="auto">
            <a:xfrm>
              <a:off x="1046" y="305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 flipV="1">
              <a:off x="1478" y="276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89" name="Line 84"/>
            <p:cNvSpPr>
              <a:spLocks noChangeShapeType="1"/>
            </p:cNvSpPr>
            <p:nvPr/>
          </p:nvSpPr>
          <p:spPr bwMode="auto">
            <a:xfrm>
              <a:off x="1478" y="276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90" name="Line 85"/>
            <p:cNvSpPr>
              <a:spLocks noChangeShapeType="1"/>
            </p:cNvSpPr>
            <p:nvPr/>
          </p:nvSpPr>
          <p:spPr bwMode="auto">
            <a:xfrm>
              <a:off x="1766" y="276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91" name="Line 86"/>
            <p:cNvSpPr>
              <a:spLocks noChangeShapeType="1"/>
            </p:cNvSpPr>
            <p:nvPr/>
          </p:nvSpPr>
          <p:spPr bwMode="auto">
            <a:xfrm>
              <a:off x="1765" y="305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5943600" y="203835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  <p:sp>
        <p:nvSpPr>
          <p:cNvPr id="93" name="TextBox 92"/>
          <p:cNvSpPr txBox="1"/>
          <p:nvPr/>
        </p:nvSpPr>
        <p:spPr>
          <a:xfrm>
            <a:off x="6781800" y="203835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</a:t>
            </a:r>
            <a:endParaRPr lang="zh-CN" altLang="en-US" sz="1600" dirty="0"/>
          </a:p>
        </p:txBody>
      </p:sp>
      <p:sp>
        <p:nvSpPr>
          <p:cNvPr id="94" name="TextBox 93"/>
          <p:cNvSpPr txBox="1"/>
          <p:nvPr/>
        </p:nvSpPr>
        <p:spPr>
          <a:xfrm>
            <a:off x="6096000" y="363855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 (c)</a:t>
            </a:r>
            <a:endParaRPr lang="zh-CN" altLang="en-US" sz="1600" dirty="0"/>
          </a:p>
        </p:txBody>
      </p:sp>
      <p:sp>
        <p:nvSpPr>
          <p:cNvPr id="95" name="TextBox 94"/>
          <p:cNvSpPr txBox="1"/>
          <p:nvPr/>
        </p:nvSpPr>
        <p:spPr>
          <a:xfrm>
            <a:off x="6934200" y="363855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   (d)</a:t>
            </a:r>
            <a:endParaRPr lang="zh-CN" altLang="en-US" sz="1600" dirty="0"/>
          </a:p>
        </p:txBody>
      </p:sp>
      <p:sp>
        <p:nvSpPr>
          <p:cNvPr id="96" name="矩形 95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17" grpId="0" autoUpdateAnimBg="0"/>
      <p:bldP spid="21" grpId="0" autoUpdateAnimBg="0"/>
      <p:bldP spid="25" grpId="0" autoUpdateAnimBg="0"/>
      <p:bldP spid="29" grpId="0" autoUpdateAnimBg="0"/>
      <p:bldP spid="33" grpId="0" autoUpdateAnimBg="0"/>
      <p:bldP spid="92" grpId="0"/>
      <p:bldP spid="93" grpId="0"/>
      <p:bldP spid="94" grpId="0"/>
      <p:bldP spid="9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触发器：练习题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00150"/>
            <a:ext cx="197021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276600" y="1276350"/>
            <a:ext cx="43211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b="1" i="0" dirty="0"/>
              <a:t>初始状态</a:t>
            </a:r>
            <a:r>
              <a:rPr lang="en-US" altLang="zh-CN" sz="1600" b="1" i="0" dirty="0"/>
              <a:t>Q=0</a:t>
            </a:r>
            <a:r>
              <a:rPr lang="zh-CN" altLang="en-US" sz="1600" b="1" i="0" dirty="0"/>
              <a:t>，</a:t>
            </a:r>
            <a:r>
              <a:rPr lang="en-US" altLang="zh-CN" sz="1600" b="1" i="0" dirty="0"/>
              <a:t>1000</a:t>
            </a:r>
            <a:r>
              <a:rPr lang="zh-CN" altLang="en-US" sz="1600" b="1" i="0" dirty="0"/>
              <a:t>个时钟周期后，</a:t>
            </a:r>
            <a:r>
              <a:rPr lang="en-US" altLang="zh-CN" sz="1600" b="1" i="0" dirty="0"/>
              <a:t>Q=?</a:t>
            </a:r>
            <a:endParaRPr lang="zh-CN" altLang="en-US" sz="1600" b="1" i="0" dirty="0"/>
          </a:p>
        </p:txBody>
      </p:sp>
      <p:sp>
        <p:nvSpPr>
          <p:cNvPr id="11" name="TextBox 10"/>
          <p:cNvSpPr txBox="1"/>
          <p:nvPr/>
        </p:nvSpPr>
        <p:spPr>
          <a:xfrm>
            <a:off x="1219200" y="2876550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10 D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触发器练习</a:t>
            </a:r>
          </a:p>
        </p:txBody>
      </p:sp>
      <p:graphicFrame>
        <p:nvGraphicFramePr>
          <p:cNvPr id="5173" name="Object 53"/>
          <p:cNvGraphicFramePr>
            <a:graphicFrameLocks noChangeAspect="1"/>
          </p:cNvGraphicFramePr>
          <p:nvPr/>
        </p:nvGraphicFramePr>
        <p:xfrm>
          <a:off x="4648200" y="1809750"/>
          <a:ext cx="10048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93" name="Equation" r:id="rId3" imgW="1015920" imgH="330120" progId="Equation.DSMT4">
                  <p:embed/>
                </p:oleObj>
              </mc:Choice>
              <mc:Fallback>
                <p:oleObj name="Equation" r:id="rId3" imgW="1015920" imgH="33012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809750"/>
                        <a:ext cx="1004888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锁存器的缺陷：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52800" y="447675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11  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锁存器的缺陷</a:t>
            </a:r>
          </a:p>
        </p:txBody>
      </p:sp>
      <p:sp>
        <p:nvSpPr>
          <p:cNvPr id="50" name="Text Box 55"/>
          <p:cNvSpPr txBox="1">
            <a:spLocks noChangeArrowheads="1"/>
          </p:cNvSpPr>
          <p:nvPr/>
        </p:nvSpPr>
        <p:spPr bwMode="auto">
          <a:xfrm>
            <a:off x="1905000" y="666750"/>
            <a:ext cx="6553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1600" b="1" i="0" dirty="0">
                <a:ea typeface="黑体" pitchFamily="49" charset="-122"/>
              </a:rPr>
              <a:t>当</a:t>
            </a:r>
            <a:r>
              <a:rPr lang="en-US" altLang="zh-CN" sz="1600" b="1" i="0" dirty="0">
                <a:ea typeface="黑体" pitchFamily="49" charset="-122"/>
              </a:rPr>
              <a:t>CP=1</a:t>
            </a:r>
            <a:r>
              <a:rPr lang="zh-CN" altLang="en-US" sz="1600" b="1" i="0" dirty="0">
                <a:ea typeface="黑体" pitchFamily="49" charset="-122"/>
              </a:rPr>
              <a:t>持续较长时，触发器将会连续反转，我们把这时的翻转称</a:t>
            </a:r>
            <a:r>
              <a:rPr lang="zh-CN" altLang="en-US" sz="1600" b="1" i="0" dirty="0">
                <a:solidFill>
                  <a:srgbClr val="FF0000"/>
                </a:solidFill>
                <a:ea typeface="黑体" pitchFamily="49" charset="-122"/>
              </a:rPr>
              <a:t>空翻</a:t>
            </a:r>
          </a:p>
        </p:txBody>
      </p:sp>
      <p:pic>
        <p:nvPicPr>
          <p:cNvPr id="160" name="Picture 4" descr="C:\Users\hfutliujun\AppData\Roaming\Tencent\Users\350654676\QQ\WinTemp\RichOle\S175E[((4NX46O47KX7I8X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200150"/>
            <a:ext cx="1962969" cy="2819400"/>
          </a:xfrm>
          <a:prstGeom prst="rect">
            <a:avLst/>
          </a:prstGeom>
          <a:noFill/>
        </p:spPr>
      </p:pic>
      <p:grpSp>
        <p:nvGrpSpPr>
          <p:cNvPr id="161" name="Group 121"/>
          <p:cNvGrpSpPr>
            <a:grpSpLocks/>
          </p:cNvGrpSpPr>
          <p:nvPr/>
        </p:nvGrpSpPr>
        <p:grpSpPr bwMode="auto">
          <a:xfrm>
            <a:off x="3505200" y="4095760"/>
            <a:ext cx="1638300" cy="315913"/>
            <a:chOff x="3072" y="4075"/>
            <a:chExt cx="1032" cy="199"/>
          </a:xfrm>
        </p:grpSpPr>
        <p:sp>
          <p:nvSpPr>
            <p:cNvPr id="162" name="Text Box 122"/>
            <p:cNvSpPr txBox="1">
              <a:spLocks noChangeArrowheads="1"/>
            </p:cNvSpPr>
            <p:nvPr/>
          </p:nvSpPr>
          <p:spPr bwMode="auto">
            <a:xfrm>
              <a:off x="3072" y="4080"/>
              <a:ext cx="17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b="1" i="0" dirty="0"/>
                <a:t>1</a:t>
              </a:r>
            </a:p>
          </p:txBody>
        </p:sp>
        <p:sp>
          <p:nvSpPr>
            <p:cNvPr id="163" name="Text Box 123"/>
            <p:cNvSpPr txBox="1">
              <a:spLocks noChangeArrowheads="1"/>
            </p:cNvSpPr>
            <p:nvPr/>
          </p:nvSpPr>
          <p:spPr bwMode="auto">
            <a:xfrm>
              <a:off x="3925" y="4080"/>
              <a:ext cx="17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b="1" i="0"/>
                <a:t>1</a:t>
              </a:r>
            </a:p>
          </p:txBody>
        </p:sp>
        <p:sp>
          <p:nvSpPr>
            <p:cNvPr id="164" name="Text Box 124"/>
            <p:cNvSpPr txBox="1">
              <a:spLocks noChangeArrowheads="1"/>
            </p:cNvSpPr>
            <p:nvPr/>
          </p:nvSpPr>
          <p:spPr bwMode="auto">
            <a:xfrm>
              <a:off x="3541" y="4075"/>
              <a:ext cx="17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b="1" i="0" dirty="0"/>
                <a:t>1</a:t>
              </a:r>
            </a:p>
          </p:txBody>
        </p:sp>
      </p:grpSp>
      <p:grpSp>
        <p:nvGrpSpPr>
          <p:cNvPr id="168" name="Group 125"/>
          <p:cNvGrpSpPr>
            <a:grpSpLocks/>
          </p:cNvGrpSpPr>
          <p:nvPr/>
        </p:nvGrpSpPr>
        <p:grpSpPr bwMode="auto">
          <a:xfrm>
            <a:off x="3581400" y="971550"/>
            <a:ext cx="1389063" cy="396875"/>
            <a:chOff x="3157" y="2160"/>
            <a:chExt cx="875" cy="250"/>
          </a:xfrm>
        </p:grpSpPr>
        <p:sp>
          <p:nvSpPr>
            <p:cNvPr id="169" name="Text Box 126"/>
            <p:cNvSpPr txBox="1">
              <a:spLocks noChangeArrowheads="1"/>
            </p:cNvSpPr>
            <p:nvPr/>
          </p:nvSpPr>
          <p:spPr bwMode="auto">
            <a:xfrm>
              <a:off x="3829" y="216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0"/>
                <a:t>1</a:t>
              </a:r>
            </a:p>
          </p:txBody>
        </p:sp>
        <p:sp>
          <p:nvSpPr>
            <p:cNvPr id="170" name="Text Box 127"/>
            <p:cNvSpPr txBox="1">
              <a:spLocks noChangeArrowheads="1"/>
            </p:cNvSpPr>
            <p:nvPr/>
          </p:nvSpPr>
          <p:spPr bwMode="auto">
            <a:xfrm>
              <a:off x="3157" y="216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0"/>
                <a:t>0</a:t>
              </a:r>
            </a:p>
          </p:txBody>
        </p:sp>
      </p:grpSp>
      <p:grpSp>
        <p:nvGrpSpPr>
          <p:cNvPr id="171" name="Group 128"/>
          <p:cNvGrpSpPr>
            <a:grpSpLocks/>
          </p:cNvGrpSpPr>
          <p:nvPr/>
        </p:nvGrpSpPr>
        <p:grpSpPr bwMode="auto">
          <a:xfrm>
            <a:off x="3733802" y="971550"/>
            <a:ext cx="1106488" cy="400050"/>
            <a:chOff x="3253" y="2160"/>
            <a:chExt cx="697" cy="252"/>
          </a:xfrm>
        </p:grpSpPr>
        <p:sp>
          <p:nvSpPr>
            <p:cNvPr id="172" name="Text Box 129"/>
            <p:cNvSpPr txBox="1">
              <a:spLocks noChangeArrowheads="1"/>
            </p:cNvSpPr>
            <p:nvPr/>
          </p:nvSpPr>
          <p:spPr bwMode="auto">
            <a:xfrm>
              <a:off x="3744" y="2160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173" name="Text Box 130"/>
            <p:cNvSpPr txBox="1">
              <a:spLocks noChangeArrowheads="1"/>
            </p:cNvSpPr>
            <p:nvPr/>
          </p:nvSpPr>
          <p:spPr bwMode="auto">
            <a:xfrm>
              <a:off x="3253" y="2160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0" dirty="0">
                  <a:solidFill>
                    <a:schemeClr val="accent6"/>
                  </a:solidFill>
                </a:rPr>
                <a:t>1</a:t>
              </a:r>
            </a:p>
          </p:txBody>
        </p:sp>
      </p:grpSp>
      <p:grpSp>
        <p:nvGrpSpPr>
          <p:cNvPr id="174" name="Group 131"/>
          <p:cNvGrpSpPr>
            <a:grpSpLocks/>
          </p:cNvGrpSpPr>
          <p:nvPr/>
        </p:nvGrpSpPr>
        <p:grpSpPr bwMode="auto">
          <a:xfrm>
            <a:off x="3581400" y="971550"/>
            <a:ext cx="1389063" cy="396875"/>
            <a:chOff x="3157" y="2160"/>
            <a:chExt cx="875" cy="250"/>
          </a:xfrm>
        </p:grpSpPr>
        <p:sp>
          <p:nvSpPr>
            <p:cNvPr id="175" name="Text Box 132"/>
            <p:cNvSpPr txBox="1">
              <a:spLocks noChangeArrowheads="1"/>
            </p:cNvSpPr>
            <p:nvPr/>
          </p:nvSpPr>
          <p:spPr bwMode="auto">
            <a:xfrm>
              <a:off x="3829" y="216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76" name="Text Box 133"/>
            <p:cNvSpPr txBox="1">
              <a:spLocks noChangeArrowheads="1"/>
            </p:cNvSpPr>
            <p:nvPr/>
          </p:nvSpPr>
          <p:spPr bwMode="auto">
            <a:xfrm>
              <a:off x="3157" y="216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0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20" name="矩形 19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2000" y="379095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12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</a:t>
            </a:r>
          </a:p>
        </p:txBody>
      </p:sp>
      <p:pic>
        <p:nvPicPr>
          <p:cNvPr id="151553" name="Picture 1" descr="C:\Users\hfutliujun\AppData\Roaming\Tencent\Users\350654676\QQ\WinTemp\RichOle\L(BO406~E~KRGD474D4IT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047749"/>
            <a:ext cx="1600200" cy="2664619"/>
          </a:xfrm>
          <a:prstGeom prst="rect">
            <a:avLst/>
          </a:prstGeom>
          <a:noFill/>
        </p:spPr>
      </p:pic>
      <p:sp>
        <p:nvSpPr>
          <p:cNvPr id="21" name="Rectangle 100"/>
          <p:cNvSpPr>
            <a:spLocks noChangeArrowheads="1"/>
          </p:cNvSpPr>
          <p:nvPr/>
        </p:nvSpPr>
        <p:spPr bwMode="auto">
          <a:xfrm>
            <a:off x="3538538" y="988219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 i="0">
                <a:latin typeface="黑体" pitchFamily="49" charset="-122"/>
                <a:ea typeface="黑体" pitchFamily="49" charset="-122"/>
              </a:rPr>
              <a:t>主从</a:t>
            </a:r>
            <a:r>
              <a:rPr lang="en-US" altLang="zh-CN" sz="1400" i="0">
                <a:latin typeface="黑体" pitchFamily="49" charset="-122"/>
                <a:ea typeface="黑体" pitchFamily="49" charset="-122"/>
              </a:rPr>
              <a:t>JK</a:t>
            </a:r>
            <a:r>
              <a:rPr lang="zh-CN" altLang="en-US" sz="1400" i="0">
                <a:latin typeface="黑体" pitchFamily="49" charset="-122"/>
                <a:ea typeface="黑体" pitchFamily="49" charset="-122"/>
              </a:rPr>
              <a:t>触发器的工作原理：</a:t>
            </a:r>
          </a:p>
        </p:txBody>
      </p:sp>
      <p:grpSp>
        <p:nvGrpSpPr>
          <p:cNvPr id="22" name="Group 101"/>
          <p:cNvGrpSpPr>
            <a:grpSpLocks/>
          </p:cNvGrpSpPr>
          <p:nvPr/>
        </p:nvGrpSpPr>
        <p:grpSpPr bwMode="auto">
          <a:xfrm>
            <a:off x="3233739" y="1331118"/>
            <a:ext cx="5578475" cy="522684"/>
            <a:chOff x="2016" y="1574"/>
            <a:chExt cx="3514" cy="439"/>
          </a:xfrm>
        </p:grpSpPr>
        <p:sp>
          <p:nvSpPr>
            <p:cNvPr id="23" name="Text Box 102"/>
            <p:cNvSpPr txBox="1">
              <a:spLocks noChangeArrowheads="1"/>
            </p:cNvSpPr>
            <p:nvPr/>
          </p:nvSpPr>
          <p:spPr bwMode="auto">
            <a:xfrm>
              <a:off x="2016" y="1574"/>
              <a:ext cx="3514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/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1.  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当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CP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＝</a:t>
              </a:r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1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时，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CP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＝</a:t>
              </a:r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，从触发器被封锁，保持原状态不变：主触发器工作，接收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J 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和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K 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端的输入信号。</a:t>
              </a:r>
            </a:p>
          </p:txBody>
        </p:sp>
        <p:sp>
          <p:nvSpPr>
            <p:cNvPr id="24" name="Line 103"/>
            <p:cNvSpPr>
              <a:spLocks noChangeShapeType="1"/>
            </p:cNvSpPr>
            <p:nvPr/>
          </p:nvSpPr>
          <p:spPr bwMode="auto">
            <a:xfrm>
              <a:off x="2907" y="159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</p:grpSp>
      <p:grpSp>
        <p:nvGrpSpPr>
          <p:cNvPr id="25" name="Group 104"/>
          <p:cNvGrpSpPr>
            <a:grpSpLocks/>
          </p:cNvGrpSpPr>
          <p:nvPr/>
        </p:nvGrpSpPr>
        <p:grpSpPr bwMode="auto">
          <a:xfrm>
            <a:off x="3124200" y="2238375"/>
            <a:ext cx="5502275" cy="738188"/>
            <a:chOff x="1995" y="2360"/>
            <a:chExt cx="3466" cy="620"/>
          </a:xfrm>
        </p:grpSpPr>
        <p:sp>
          <p:nvSpPr>
            <p:cNvPr id="26" name="Text Box 105"/>
            <p:cNvSpPr txBox="1">
              <a:spLocks noChangeArrowheads="1"/>
            </p:cNvSpPr>
            <p:nvPr/>
          </p:nvSpPr>
          <p:spPr bwMode="auto">
            <a:xfrm>
              <a:off x="1995" y="2360"/>
              <a:ext cx="3466" cy="6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/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2.  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当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CP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由</a:t>
              </a:r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1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跃变到</a:t>
              </a:r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时，即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CP</a:t>
              </a:r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=0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、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CP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＝</a:t>
              </a:r>
              <a:r>
                <a:rPr lang="en-US" altLang="zh-CN" sz="1400" i="0" dirty="0">
                  <a:latin typeface="黑体" pitchFamily="49" charset="-122"/>
                  <a:ea typeface="黑体" pitchFamily="49" charset="-122"/>
                </a:rPr>
                <a:t>1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。主触发器被封锁，输入信号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J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、</a:t>
              </a:r>
              <a:r>
                <a:rPr lang="en-US" altLang="zh-CN" sz="1400" dirty="0">
                  <a:latin typeface="黑体" pitchFamily="49" charset="-122"/>
                  <a:ea typeface="黑体" pitchFamily="49" charset="-122"/>
                </a:rPr>
                <a:t>K</a:t>
              </a:r>
              <a:r>
                <a:rPr lang="zh-CN" altLang="en-US" sz="1400" i="0" dirty="0">
                  <a:latin typeface="黑体" pitchFamily="49" charset="-122"/>
                  <a:ea typeface="黑体" pitchFamily="49" charset="-122"/>
                </a:rPr>
                <a:t>不再影响主触发器的状态；从触发器工作，接收主触发器输出端的状态。</a:t>
              </a:r>
            </a:p>
          </p:txBody>
        </p:sp>
        <p:sp>
          <p:nvSpPr>
            <p:cNvPr id="27" name="Line 106"/>
            <p:cNvSpPr>
              <a:spLocks noChangeShapeType="1"/>
            </p:cNvSpPr>
            <p:nvPr/>
          </p:nvSpPr>
          <p:spPr bwMode="auto">
            <a:xfrm>
              <a:off x="3723" y="238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</p:grpSp>
      <p:sp>
        <p:nvSpPr>
          <p:cNvPr id="13" name="矩形 12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7" name="Picture 1" descr="C:\Users\hfutliujun\AppData\Roaming\Tencent\Users\350654676\QQ\WinTemp\RichOle\7CCL5N9$]_X24X3@5[O~KOJ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3950"/>
            <a:ext cx="5181600" cy="1901163"/>
          </a:xfrm>
          <a:prstGeom prst="rect">
            <a:avLst/>
          </a:prstGeom>
          <a:noFill/>
        </p:spPr>
      </p:pic>
      <p:sp>
        <p:nvSpPr>
          <p:cNvPr id="12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47800" y="33337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13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触发器电路图</a:t>
            </a:r>
          </a:p>
        </p:txBody>
      </p:sp>
      <p:graphicFrame>
        <p:nvGraphicFramePr>
          <p:cNvPr id="157698" name="Object 2"/>
          <p:cNvGraphicFramePr>
            <a:graphicFrameLocks noChangeAspect="1"/>
          </p:cNvGraphicFramePr>
          <p:nvPr/>
        </p:nvGraphicFramePr>
        <p:xfrm>
          <a:off x="5638800" y="971550"/>
          <a:ext cx="198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98" name="Equation" r:id="rId3" imgW="1981080" imgH="380880" progId="Equation.DSMT4">
                  <p:embed/>
                </p:oleObj>
              </mc:Choice>
              <mc:Fallback>
                <p:oleObj name="Equation" r:id="rId3" imgW="1981080" imgH="3808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971550"/>
                        <a:ext cx="1981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6019800" y="1809750"/>
          <a:ext cx="1600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00" name="Equation" r:id="rId5" imgW="1600200" imgH="317160" progId="Equation.DSMT4">
                  <p:embed/>
                </p:oleObj>
              </mc:Choice>
              <mc:Fallback>
                <p:oleObj name="Equation" r:id="rId5" imgW="1600200" imgH="3171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809750"/>
                        <a:ext cx="1600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5638800" y="142875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主触发器状态方程：</a:t>
            </a:r>
          </a:p>
        </p:txBody>
      </p:sp>
      <p:graphicFrame>
        <p:nvGraphicFramePr>
          <p:cNvPr id="157701" name="Object 5"/>
          <p:cNvGraphicFramePr>
            <a:graphicFrameLocks noChangeAspect="1"/>
          </p:cNvGraphicFramePr>
          <p:nvPr/>
        </p:nvGraphicFramePr>
        <p:xfrm>
          <a:off x="6400800" y="2343150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01" name="Equation" r:id="rId7" imgW="1257120" imgH="342720" progId="Equation.DSMT4">
                  <p:embed/>
                </p:oleObj>
              </mc:Choice>
              <mc:Fallback>
                <p:oleObj name="Equation" r:id="rId7" imgW="1257120" imgH="3427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343150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TextBox 134"/>
          <p:cNvSpPr txBox="1"/>
          <p:nvPr/>
        </p:nvSpPr>
        <p:spPr>
          <a:xfrm>
            <a:off x="5638800" y="287655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约束条件：</a:t>
            </a:r>
          </a:p>
        </p:txBody>
      </p:sp>
      <p:graphicFrame>
        <p:nvGraphicFramePr>
          <p:cNvPr id="157702" name="Object 6"/>
          <p:cNvGraphicFramePr>
            <a:graphicFrameLocks noChangeAspect="1"/>
          </p:cNvGraphicFramePr>
          <p:nvPr/>
        </p:nvGraphicFramePr>
        <p:xfrm>
          <a:off x="5638800" y="3257550"/>
          <a:ext cx="201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02" name="Equation" r:id="rId9" imgW="2019240" imgH="342720" progId="Equation.DSMT4">
                  <p:embed/>
                </p:oleObj>
              </mc:Choice>
              <mc:Fallback>
                <p:oleObj name="Equation" r:id="rId9" imgW="2019240" imgH="3427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257550"/>
                        <a:ext cx="2019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6019800" y="3790950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无约束条件</a:t>
            </a:r>
          </a:p>
        </p:txBody>
      </p:sp>
      <p:sp>
        <p:nvSpPr>
          <p:cNvPr id="13" name="矩形 12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5" grpId="0"/>
      <p:bldP spid="1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47800" y="33337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14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触发器电路图</a:t>
            </a:r>
          </a:p>
        </p:txBody>
      </p:sp>
      <p:graphicFrame>
        <p:nvGraphicFramePr>
          <p:cNvPr id="157698" name="Object 2"/>
          <p:cNvGraphicFramePr>
            <a:graphicFrameLocks noChangeAspect="1"/>
          </p:cNvGraphicFramePr>
          <p:nvPr/>
        </p:nvGraphicFramePr>
        <p:xfrm>
          <a:off x="5657850" y="984250"/>
          <a:ext cx="1943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2" name="Equation" r:id="rId2" imgW="1942920" imgH="355320" progId="Equation.DSMT4">
                  <p:embed/>
                </p:oleObj>
              </mc:Choice>
              <mc:Fallback>
                <p:oleObj name="Equation" r:id="rId2" imgW="1942920" imgH="3553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984250"/>
                        <a:ext cx="1943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6045200" y="1803400"/>
          <a:ext cx="154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3" name="Equation" r:id="rId4" imgW="1549080" imgH="330120" progId="Equation.DSMT4">
                  <p:embed/>
                </p:oleObj>
              </mc:Choice>
              <mc:Fallback>
                <p:oleObj name="Equation" r:id="rId4" imgW="1549080" imgH="33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1803400"/>
                        <a:ext cx="1549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5638800" y="142875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从触发器状态方程：</a:t>
            </a:r>
          </a:p>
        </p:txBody>
      </p:sp>
      <p:graphicFrame>
        <p:nvGraphicFramePr>
          <p:cNvPr id="157701" name="Object 5"/>
          <p:cNvGraphicFramePr>
            <a:graphicFrameLocks noChangeAspect="1"/>
          </p:cNvGraphicFramePr>
          <p:nvPr/>
        </p:nvGraphicFramePr>
        <p:xfrm>
          <a:off x="6400800" y="2190750"/>
          <a:ext cx="1193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4" name="Equation" r:id="rId6" imgW="1193760" imgH="304560" progId="Equation.DSMT4">
                  <p:embed/>
                </p:oleObj>
              </mc:Choice>
              <mc:Fallback>
                <p:oleObj name="Equation" r:id="rId6" imgW="1193760" imgH="3045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190750"/>
                        <a:ext cx="1193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726" name="Picture 6" descr="C:\Users\hfutliujun\AppData\Roaming\Tencent\Users\350654676\QQ\WinTemp\RichOle\6AIAM{D4H%_2]2@U4~8QT)Q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8600" y="1276350"/>
            <a:ext cx="5177118" cy="1905000"/>
          </a:xfrm>
          <a:prstGeom prst="rect">
            <a:avLst/>
          </a:prstGeom>
          <a:noFill/>
        </p:spPr>
      </p:pic>
      <p:graphicFrame>
        <p:nvGraphicFramePr>
          <p:cNvPr id="158727" name="Object 7"/>
          <p:cNvGraphicFramePr>
            <a:graphicFrameLocks noChangeAspect="1"/>
          </p:cNvGraphicFramePr>
          <p:nvPr/>
        </p:nvGraphicFramePr>
        <p:xfrm>
          <a:off x="6477000" y="2571750"/>
          <a:ext cx="495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7" name="Equation" r:id="rId9" imgW="495000" imgH="304560" progId="Equation.DSMT4">
                  <p:embed/>
                </p:oleObj>
              </mc:Choice>
              <mc:Fallback>
                <p:oleObj name="Equation" r:id="rId9" imgW="495000" imgH="3045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571750"/>
                        <a:ext cx="495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8" name="Object 8"/>
          <p:cNvGraphicFramePr>
            <a:graphicFrameLocks noChangeAspect="1"/>
          </p:cNvGraphicFramePr>
          <p:nvPr/>
        </p:nvGraphicFramePr>
        <p:xfrm>
          <a:off x="6096000" y="2952750"/>
          <a:ext cx="161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8" name="Equation" r:id="rId11" imgW="1612800" imgH="342720" progId="Equation.DSMT4">
                  <p:embed/>
                </p:oleObj>
              </mc:Choice>
              <mc:Fallback>
                <p:oleObj name="Equation" r:id="rId11" imgW="1612800" imgH="34272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952750"/>
                        <a:ext cx="1612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9" name="Object 9"/>
          <p:cNvGraphicFramePr>
            <a:graphicFrameLocks noChangeAspect="1"/>
          </p:cNvGraphicFramePr>
          <p:nvPr/>
        </p:nvGraphicFramePr>
        <p:xfrm>
          <a:off x="6496050" y="3346450"/>
          <a:ext cx="965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9" name="Equation" r:id="rId13" imgW="965160" imgH="317160" progId="Equation.DSMT4">
                  <p:embed/>
                </p:oleObj>
              </mc:Choice>
              <mc:Fallback>
                <p:oleObj name="Equation" r:id="rId13" imgW="965160" imgH="3171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3346450"/>
                        <a:ext cx="965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828800" y="4095750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触发器状态方程：</a:t>
            </a:r>
          </a:p>
        </p:txBody>
      </p:sp>
      <p:graphicFrame>
        <p:nvGraphicFramePr>
          <p:cNvPr id="158730" name="Object 10"/>
          <p:cNvGraphicFramePr>
            <a:graphicFrameLocks noChangeAspect="1"/>
          </p:cNvGraphicFramePr>
          <p:nvPr/>
        </p:nvGraphicFramePr>
        <p:xfrm>
          <a:off x="4038600" y="4095750"/>
          <a:ext cx="1320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30" name="Equation" r:id="rId15" imgW="1320480" imgH="317160" progId="Equation.DSMT4">
                  <p:embed/>
                </p:oleObj>
              </mc:Choice>
              <mc:Fallback>
                <p:oleObj name="Equation" r:id="rId15" imgW="1320480" imgH="31716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095750"/>
                        <a:ext cx="1320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触发器波形图举例：初始状态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Q=0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95750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15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触发器波形图</a:t>
            </a:r>
          </a:p>
        </p:txBody>
      </p:sp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609600" y="1504950"/>
          <a:ext cx="7924800" cy="253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46" name="图片" r:id="rId2" imgW="3686040" imgH="1190520" progId="Word.Picture.8">
                  <p:embed/>
                </p:oleObj>
              </mc:Choice>
              <mc:Fallback>
                <p:oleObj name="图片" r:id="rId2" imgW="3686040" imgH="119052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04950"/>
                        <a:ext cx="7924800" cy="253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F8F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3"/>
          <p:cNvSpPr>
            <a:spLocks noChangeShapeType="1"/>
          </p:cNvSpPr>
          <p:nvPr/>
        </p:nvSpPr>
        <p:spPr bwMode="auto">
          <a:xfrm>
            <a:off x="2327275" y="1581150"/>
            <a:ext cx="1587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4"/>
          <p:cNvSpPr>
            <a:spLocks noChangeShapeType="1"/>
          </p:cNvSpPr>
          <p:nvPr/>
        </p:nvSpPr>
        <p:spPr bwMode="auto">
          <a:xfrm>
            <a:off x="4306887" y="1574800"/>
            <a:ext cx="1588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5"/>
          <p:cNvSpPr>
            <a:spLocks noChangeShapeType="1"/>
          </p:cNvSpPr>
          <p:nvPr/>
        </p:nvSpPr>
        <p:spPr bwMode="auto">
          <a:xfrm>
            <a:off x="6253162" y="1574800"/>
            <a:ext cx="1588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6"/>
          <p:cNvSpPr>
            <a:spLocks noChangeShapeType="1"/>
          </p:cNvSpPr>
          <p:nvPr/>
        </p:nvSpPr>
        <p:spPr bwMode="auto">
          <a:xfrm>
            <a:off x="8228012" y="1568450"/>
            <a:ext cx="1588" cy="3810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Freeform 7"/>
          <p:cNvSpPr>
            <a:spLocks/>
          </p:cNvSpPr>
          <p:nvPr/>
        </p:nvSpPr>
        <p:spPr bwMode="auto">
          <a:xfrm>
            <a:off x="1981200" y="1744662"/>
            <a:ext cx="304800" cy="1981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Freeform 8"/>
          <p:cNvSpPr>
            <a:spLocks/>
          </p:cNvSpPr>
          <p:nvPr/>
        </p:nvSpPr>
        <p:spPr bwMode="auto">
          <a:xfrm>
            <a:off x="5937250" y="1744662"/>
            <a:ext cx="304800" cy="1981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Freeform 9"/>
          <p:cNvSpPr>
            <a:spLocks/>
          </p:cNvSpPr>
          <p:nvPr/>
        </p:nvSpPr>
        <p:spPr bwMode="auto">
          <a:xfrm>
            <a:off x="3962400" y="1744662"/>
            <a:ext cx="304800" cy="1981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Freeform 8"/>
          <p:cNvSpPr>
            <a:spLocks/>
          </p:cNvSpPr>
          <p:nvPr/>
        </p:nvSpPr>
        <p:spPr bwMode="auto">
          <a:xfrm>
            <a:off x="7882904" y="1720924"/>
            <a:ext cx="216024" cy="1800200"/>
          </a:xfrm>
          <a:custGeom>
            <a:avLst/>
            <a:gdLst>
              <a:gd name="T0" fmla="*/ 2147483647 w 192"/>
              <a:gd name="T1" fmla="*/ 0 h 1248"/>
              <a:gd name="T2" fmla="*/ 0 w 192"/>
              <a:gd name="T3" fmla="*/ 2147483647 h 1248"/>
              <a:gd name="T4" fmla="*/ 2147483647 w 192"/>
              <a:gd name="T5" fmla="*/ 2147483647 h 1248"/>
              <a:gd name="T6" fmla="*/ 0 60000 65536"/>
              <a:gd name="T7" fmla="*/ 0 60000 65536"/>
              <a:gd name="T8" fmla="*/ 0 60000 65536"/>
              <a:gd name="T9" fmla="*/ 0 w 192"/>
              <a:gd name="T10" fmla="*/ 0 h 1248"/>
              <a:gd name="T11" fmla="*/ 192 w 192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1248">
                <a:moveTo>
                  <a:pt x="192" y="0"/>
                </a:moveTo>
                <a:cubicBezTo>
                  <a:pt x="96" y="208"/>
                  <a:pt x="0" y="416"/>
                  <a:pt x="0" y="624"/>
                </a:cubicBezTo>
                <a:cubicBezTo>
                  <a:pt x="0" y="832"/>
                  <a:pt x="96" y="1040"/>
                  <a:pt x="192" y="1248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36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198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1123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15" grpId="0"/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6995</TotalTime>
  <Words>465</Words>
  <Application>Microsoft Office PowerPoint</Application>
  <PresentationFormat>全屏显示(16:9)</PresentationFormat>
  <Paragraphs>180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黑体</vt:lpstr>
      <vt:lpstr>楷体_GB2312</vt:lpstr>
      <vt:lpstr>宋体</vt:lpstr>
      <vt:lpstr>微软雅黑</vt:lpstr>
      <vt:lpstr>Arial</vt:lpstr>
      <vt:lpstr>Calibri</vt:lpstr>
      <vt:lpstr>Times New Roman</vt:lpstr>
      <vt:lpstr>Wingdings</vt:lpstr>
      <vt:lpstr>默认设计模板</vt:lpstr>
      <vt:lpstr>Equation</vt:lpstr>
      <vt:lpstr>Visio</vt:lpstr>
      <vt:lpstr>图片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795</cp:revision>
  <cp:lastPrinted>2113-01-01T00:00:00Z</cp:lastPrinted>
  <dcterms:created xsi:type="dcterms:W3CDTF">2113-01-01T00:00:00Z</dcterms:created>
  <dcterms:modified xsi:type="dcterms:W3CDTF">2021-07-20T00:44:07Z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