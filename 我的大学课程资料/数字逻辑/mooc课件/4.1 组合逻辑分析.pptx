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309" r:id="rId2"/>
    <p:sldId id="313" r:id="rId3"/>
    <p:sldId id="314" r:id="rId4"/>
    <p:sldId id="316" r:id="rId5"/>
    <p:sldId id="318" r:id="rId6"/>
    <p:sldId id="319" r:id="rId7"/>
    <p:sldId id="320" r:id="rId8"/>
    <p:sldId id="321" r:id="rId9"/>
    <p:sldId id="323" r:id="rId10"/>
    <p:sldId id="322" r:id="rId11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CC"/>
    <a:srgbClr val="2D1341"/>
    <a:srgbClr val="3333CC"/>
    <a:srgbClr val="2D2D8A"/>
    <a:srgbClr val="0000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20" autoAdjust="0"/>
    <p:restoredTop sz="98916" autoAdjust="0"/>
  </p:normalViewPr>
  <p:slideViewPr>
    <p:cSldViewPr>
      <p:cViewPr varScale="1">
        <p:scale>
          <a:sx n="142" d="100"/>
          <a:sy n="142" d="100"/>
        </p:scale>
        <p:origin x="-264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image" Target="../media/image24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12" Type="http://schemas.openxmlformats.org/officeDocument/2006/relationships/image" Target="../media/image23.wmf"/><Relationship Id="rId2" Type="http://schemas.openxmlformats.org/officeDocument/2006/relationships/image" Target="../media/image13.wmf"/><Relationship Id="rId1" Type="http://schemas.openxmlformats.org/officeDocument/2006/relationships/image" Target="../media/image12.emf"/><Relationship Id="rId6" Type="http://schemas.openxmlformats.org/officeDocument/2006/relationships/image" Target="../media/image17.wmf"/><Relationship Id="rId11" Type="http://schemas.openxmlformats.org/officeDocument/2006/relationships/image" Target="../media/image22.wmf"/><Relationship Id="rId5" Type="http://schemas.openxmlformats.org/officeDocument/2006/relationships/image" Target="../media/image16.wmf"/><Relationship Id="rId10" Type="http://schemas.openxmlformats.org/officeDocument/2006/relationships/image" Target="../media/image21.wmf"/><Relationship Id="rId4" Type="http://schemas.openxmlformats.org/officeDocument/2006/relationships/image" Target="../media/image15.wmf"/><Relationship Id="rId9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wmf"/><Relationship Id="rId1" Type="http://schemas.openxmlformats.org/officeDocument/2006/relationships/image" Target="../media/image27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emf"/><Relationship Id="rId4" Type="http://schemas.openxmlformats.org/officeDocument/2006/relationships/image" Target="../media/image34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41.emf"/><Relationship Id="rId5" Type="http://schemas.openxmlformats.org/officeDocument/2006/relationships/image" Target="../media/image40.emf"/><Relationship Id="rId4" Type="http://schemas.openxmlformats.org/officeDocument/2006/relationships/image" Target="../media/image3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2020/12/26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9.jpeg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1.png"/><Relationship Id="rId10" Type="http://schemas.openxmlformats.org/officeDocument/2006/relationships/oleObject" Target="../embeddings/oleObject5.bin"/><Relationship Id="rId4" Type="http://schemas.openxmlformats.org/officeDocument/2006/relationships/image" Target="../media/image10.png"/><Relationship Id="rId9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26.png"/><Relationship Id="rId3" Type="http://schemas.openxmlformats.org/officeDocument/2006/relationships/image" Target="../media/image25.png"/><Relationship Id="rId7" Type="http://schemas.openxmlformats.org/officeDocument/2006/relationships/oleObject" Target="../embeddings/oleObject9.bin"/><Relationship Id="rId12" Type="http://schemas.openxmlformats.org/officeDocument/2006/relationships/oleObject" Target="../embeddings/oleObject14.bin"/><Relationship Id="rId1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7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6.bin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6.bin"/><Relationship Id="rId9" Type="http://schemas.openxmlformats.org/officeDocument/2006/relationships/oleObject" Target="../embeddings/oleObject11.bin"/><Relationship Id="rId14" Type="http://schemas.openxmlformats.org/officeDocument/2006/relationships/oleObject" Target="../embeddings/oleObject15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1.bin"/><Relationship Id="rId5" Type="http://schemas.openxmlformats.org/officeDocument/2006/relationships/oleObject" Target="../embeddings/oleObject20.bin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5.bin"/><Relationship Id="rId5" Type="http://schemas.openxmlformats.org/officeDocument/2006/relationships/oleObject" Target="../embeddings/oleObject24.bin"/><Relationship Id="rId4" Type="http://schemas.openxmlformats.org/officeDocument/2006/relationships/oleObject" Target="../embeddings/oleObject2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image" Target="../media/image35.png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8.bin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27.bin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6.bin"/><Relationship Id="rId9" Type="http://schemas.openxmlformats.org/officeDocument/2006/relationships/oleObject" Target="../embeddings/oleObject3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image" Target="../media/image35.png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6.bin"/><Relationship Id="rId5" Type="http://schemas.openxmlformats.org/officeDocument/2006/relationships/oleObject" Target="../embeddings/oleObject35.bin"/><Relationship Id="rId4" Type="http://schemas.openxmlformats.org/officeDocument/2006/relationships/oleObject" Target="../embeddings/oleObject34.bin"/><Relationship Id="rId9" Type="http://schemas.openxmlformats.org/officeDocument/2006/relationships/oleObject" Target="../embeddings/oleObject3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组合逻辑分析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刘 军</a:t>
            </a:r>
            <a:endParaRPr lang="en-US" altLang="zh-CN" sz="2800" b="1" dirty="0" smtClean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4473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85703" y="0"/>
            <a:ext cx="32431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：组合逻辑分析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组合逻辑的定义：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685800" y="1123950"/>
            <a:ext cx="7199312" cy="3810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是指电路在任何时刻产生的稳定输出信号，仅取决于该时刻电路的输入信号。</a:t>
            </a:r>
          </a:p>
        </p:txBody>
      </p:sp>
      <p:pic>
        <p:nvPicPr>
          <p:cNvPr id="4101" name="Picture 5" descr="C:\Users\hfutliujun\AppData\Roaming\Tencent\Users\350654676\QQ\WinTemp\RichOle\FS87CK5@~VL_5{Y$95MFJSH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809750"/>
            <a:ext cx="5092161" cy="1600200"/>
          </a:xfrm>
          <a:prstGeom prst="rect">
            <a:avLst/>
          </a:prstGeom>
          <a:noFill/>
        </p:spPr>
      </p:pic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352800" y="3257550"/>
            <a:ext cx="1676400" cy="3810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zh-CN" altLang="en-US" sz="1600" kern="0" noProof="0" dirty="0" smtClean="0">
                <a:latin typeface="微软雅黑" pitchFamily="34" charset="-122"/>
                <a:ea typeface="微软雅黑" pitchFamily="34" charset="-122"/>
              </a:rPr>
              <a:t>                                              图 </a:t>
            </a:r>
            <a:r>
              <a:rPr lang="en-US" altLang="zh-CN" sz="1600" kern="0" noProof="0" dirty="0" smtClean="0">
                <a:latin typeface="微软雅黑" pitchFamily="34" charset="-122"/>
                <a:ea typeface="微软雅黑" pitchFamily="34" charset="-122"/>
              </a:rPr>
              <a:t>1</a:t>
            </a:r>
            <a:endParaRPr kumimoji="0" lang="zh-CN" alt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组合逻辑分析的步骤：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295400" y="1428750"/>
            <a:ext cx="415370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b="1" dirty="0" smtClean="0">
                <a:latin typeface="微软雅黑" pitchFamily="34" charset="-122"/>
                <a:ea typeface="微软雅黑" pitchFamily="34" charset="-122"/>
              </a:rPr>
              <a:t>  写出逻辑表达式（需要时进行化简）</a:t>
            </a:r>
            <a:endParaRPr kumimoji="1"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295400" y="2114550"/>
            <a:ext cx="1981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b="1" dirty="0" smtClean="0">
                <a:latin typeface="微软雅黑" pitchFamily="34" charset="-122"/>
                <a:ea typeface="微软雅黑" pitchFamily="34" charset="-122"/>
              </a:rPr>
              <a:t>  列出真值表</a:t>
            </a:r>
            <a:endParaRPr kumimoji="1"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1295400" y="2888218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b="1" dirty="0" smtClean="0">
                <a:latin typeface="微软雅黑" pitchFamily="34" charset="-122"/>
                <a:ea typeface="微软雅黑" pitchFamily="34" charset="-122"/>
              </a:rPr>
              <a:t>  指出电路的功能</a:t>
            </a:r>
            <a:endParaRPr kumimoji="1"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-85703" y="0"/>
            <a:ext cx="32431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：组合逻辑分析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2" grpId="0" autoUpdateAnimBg="0"/>
      <p:bldP spid="1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4"/>
          <p:cNvGrpSpPr>
            <a:grpSpLocks/>
          </p:cNvGrpSpPr>
          <p:nvPr/>
        </p:nvGrpSpPr>
        <p:grpSpPr bwMode="auto">
          <a:xfrm>
            <a:off x="703092" y="2138425"/>
            <a:ext cx="2805159" cy="698139"/>
            <a:chOff x="518" y="2542"/>
            <a:chExt cx="1365" cy="450"/>
          </a:xfrm>
        </p:grpSpPr>
        <p:sp>
          <p:nvSpPr>
            <p:cNvPr id="30805" name="Text Box 51"/>
            <p:cNvSpPr txBox="1">
              <a:spLocks noChangeArrowheads="1"/>
            </p:cNvSpPr>
            <p:nvPr/>
          </p:nvSpPr>
          <p:spPr bwMode="auto">
            <a:xfrm>
              <a:off x="518" y="2542"/>
              <a:ext cx="31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kumimoji="1" lang="en-US" altLang="zh-CN" sz="2000" dirty="0">
                  <a:latin typeface="Tahoma" pitchFamily="34" charset="0"/>
                </a:rPr>
                <a:t>P</a:t>
              </a:r>
              <a:r>
                <a:rPr kumimoji="1" lang="en-US" altLang="zh-CN" sz="2000" baseline="-250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30806" name="Text Box 52"/>
            <p:cNvSpPr txBox="1">
              <a:spLocks noChangeArrowheads="1"/>
            </p:cNvSpPr>
            <p:nvPr/>
          </p:nvSpPr>
          <p:spPr bwMode="auto">
            <a:xfrm>
              <a:off x="1078" y="2552"/>
              <a:ext cx="303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kumimoji="1" lang="en-US" altLang="zh-CN" sz="2000" dirty="0">
                  <a:latin typeface="Tahoma" pitchFamily="34" charset="0"/>
                </a:rPr>
                <a:t>P</a:t>
              </a:r>
              <a:r>
                <a:rPr kumimoji="1" lang="en-US" altLang="zh-CN" sz="2000" baseline="-25000" dirty="0">
                  <a:latin typeface="Tahoma" pitchFamily="34" charset="0"/>
                </a:rPr>
                <a:t>2</a:t>
              </a:r>
            </a:p>
          </p:txBody>
        </p:sp>
        <p:sp>
          <p:nvSpPr>
            <p:cNvPr id="30807" name="Text Box 53"/>
            <p:cNvSpPr txBox="1">
              <a:spLocks noChangeArrowheads="1"/>
            </p:cNvSpPr>
            <p:nvPr/>
          </p:nvSpPr>
          <p:spPr bwMode="auto">
            <a:xfrm>
              <a:off x="1622" y="2656"/>
              <a:ext cx="261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kumimoji="1" lang="en-US" altLang="zh-CN" sz="2000" dirty="0">
                  <a:latin typeface="Tahoma" pitchFamily="34" charset="0"/>
                </a:rPr>
                <a:t>P</a:t>
              </a:r>
              <a:r>
                <a:rPr kumimoji="1" lang="en-US" altLang="zh-CN" sz="2000" baseline="-25000" dirty="0">
                  <a:latin typeface="Tahoma" pitchFamily="34" charset="0"/>
                </a:rPr>
                <a:t>3</a:t>
              </a:r>
            </a:p>
          </p:txBody>
        </p:sp>
      </p:grpSp>
      <p:grpSp>
        <p:nvGrpSpPr>
          <p:cNvPr id="3" name="Group 87"/>
          <p:cNvGrpSpPr>
            <a:grpSpLocks/>
          </p:cNvGrpSpPr>
          <p:nvPr/>
        </p:nvGrpSpPr>
        <p:grpSpPr bwMode="auto">
          <a:xfrm>
            <a:off x="4327523" y="1015603"/>
            <a:ext cx="1184275" cy="461963"/>
            <a:chOff x="2634" y="1749"/>
            <a:chExt cx="746" cy="388"/>
          </a:xfrm>
        </p:grpSpPr>
        <p:sp>
          <p:nvSpPr>
            <p:cNvPr id="30803" name="Text Box 55"/>
            <p:cNvSpPr txBox="1">
              <a:spLocks noChangeArrowheads="1"/>
            </p:cNvSpPr>
            <p:nvPr/>
          </p:nvSpPr>
          <p:spPr bwMode="auto">
            <a:xfrm>
              <a:off x="2634" y="1749"/>
              <a:ext cx="74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400" dirty="0">
                  <a:latin typeface="Tahoma" pitchFamily="34" charset="0"/>
                </a:rPr>
                <a:t>s=</a:t>
              </a:r>
              <a:r>
                <a:rPr kumimoji="1" lang="en-US" altLang="zh-CN" sz="2000" dirty="0">
                  <a:latin typeface="Tahoma" pitchFamily="34" charset="0"/>
                </a:rPr>
                <a:t>P</a:t>
              </a:r>
              <a:r>
                <a:rPr kumimoji="1" lang="en-US" altLang="zh-CN" sz="2000" baseline="-25000" dirty="0">
                  <a:latin typeface="Tahoma" pitchFamily="34" charset="0"/>
                </a:rPr>
                <a:t>1</a:t>
              </a:r>
              <a:r>
                <a:rPr kumimoji="1" lang="en-US" altLang="zh-CN" sz="2000" dirty="0">
                  <a:latin typeface="Times New Roman" pitchFamily="18" charset="0"/>
                  <a:cs typeface="Tahoma" pitchFamily="34" charset="0"/>
                </a:rPr>
                <a:t>•</a:t>
              </a:r>
              <a:r>
                <a:rPr kumimoji="1" lang="en-US" altLang="zh-CN" sz="2000" dirty="0">
                  <a:latin typeface="Tahoma" pitchFamily="34" charset="0"/>
                  <a:cs typeface="Tahoma" pitchFamily="34" charset="0"/>
                </a:rPr>
                <a:t> </a:t>
              </a:r>
              <a:r>
                <a:rPr kumimoji="1" lang="en-US" altLang="zh-CN" sz="2000" dirty="0">
                  <a:latin typeface="Tahoma" pitchFamily="34" charset="0"/>
                </a:rPr>
                <a:t>P</a:t>
              </a:r>
              <a:r>
                <a:rPr kumimoji="1" lang="en-US" altLang="zh-CN" sz="2000" baseline="-25000" dirty="0">
                  <a:latin typeface="Tahoma" pitchFamily="34" charset="0"/>
                </a:rPr>
                <a:t>2</a:t>
              </a:r>
            </a:p>
          </p:txBody>
        </p:sp>
        <p:sp>
          <p:nvSpPr>
            <p:cNvPr id="30804" name="Line 56"/>
            <p:cNvSpPr>
              <a:spLocks noChangeShapeType="1"/>
            </p:cNvSpPr>
            <p:nvPr/>
          </p:nvSpPr>
          <p:spPr bwMode="auto">
            <a:xfrm>
              <a:off x="2884" y="1776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" name="Group 60"/>
          <p:cNvGrpSpPr>
            <a:grpSpLocks/>
          </p:cNvGrpSpPr>
          <p:nvPr/>
        </p:nvGrpSpPr>
        <p:grpSpPr bwMode="auto">
          <a:xfrm>
            <a:off x="5334000" y="1047750"/>
            <a:ext cx="1293813" cy="461963"/>
            <a:chOff x="3120" y="1776"/>
            <a:chExt cx="815" cy="388"/>
          </a:xfrm>
        </p:grpSpPr>
        <p:sp>
          <p:nvSpPr>
            <p:cNvPr id="30800" name="Line 57"/>
            <p:cNvSpPr>
              <a:spLocks noChangeShapeType="1"/>
            </p:cNvSpPr>
            <p:nvPr/>
          </p:nvSpPr>
          <p:spPr bwMode="auto">
            <a:xfrm>
              <a:off x="3360" y="1824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801" name="Line 58"/>
            <p:cNvSpPr>
              <a:spLocks noChangeShapeType="1"/>
            </p:cNvSpPr>
            <p:nvPr/>
          </p:nvSpPr>
          <p:spPr bwMode="auto">
            <a:xfrm>
              <a:off x="3696" y="1824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802" name="Text Box 59"/>
            <p:cNvSpPr txBox="1">
              <a:spLocks noChangeArrowheads="1"/>
            </p:cNvSpPr>
            <p:nvPr/>
          </p:nvSpPr>
          <p:spPr bwMode="auto">
            <a:xfrm>
              <a:off x="3120" y="1776"/>
              <a:ext cx="815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400" dirty="0">
                  <a:latin typeface="Tahoma" pitchFamily="34" charset="0"/>
                </a:rPr>
                <a:t>= </a:t>
              </a:r>
              <a:r>
                <a:rPr kumimoji="1" lang="en-US" altLang="zh-CN" sz="2000" dirty="0">
                  <a:latin typeface="Tahoma" pitchFamily="34" charset="0"/>
                </a:rPr>
                <a:t>P</a:t>
              </a:r>
              <a:r>
                <a:rPr kumimoji="1" lang="en-US" altLang="zh-CN" sz="2000" baseline="-25000" dirty="0">
                  <a:latin typeface="Tahoma" pitchFamily="34" charset="0"/>
                </a:rPr>
                <a:t>1</a:t>
              </a:r>
              <a:r>
                <a:rPr kumimoji="1" lang="en-US" altLang="zh-CN" sz="2400" dirty="0">
                  <a:latin typeface="Tahoma" pitchFamily="34" charset="0"/>
                </a:rPr>
                <a:t>+ </a:t>
              </a:r>
              <a:r>
                <a:rPr kumimoji="1" lang="en-US" altLang="zh-CN" sz="2000" dirty="0">
                  <a:latin typeface="Tahoma" pitchFamily="34" charset="0"/>
                </a:rPr>
                <a:t>P</a:t>
              </a:r>
              <a:r>
                <a:rPr kumimoji="1" lang="en-US" altLang="zh-CN" sz="2000" baseline="-25000" dirty="0">
                  <a:latin typeface="Tahoma" pitchFamily="34" charset="0"/>
                </a:rPr>
                <a:t>2</a:t>
              </a:r>
            </a:p>
          </p:txBody>
        </p:sp>
      </p:grpSp>
      <p:grpSp>
        <p:nvGrpSpPr>
          <p:cNvPr id="5" name="Group 64"/>
          <p:cNvGrpSpPr>
            <a:grpSpLocks/>
          </p:cNvGrpSpPr>
          <p:nvPr/>
        </p:nvGrpSpPr>
        <p:grpSpPr bwMode="auto">
          <a:xfrm>
            <a:off x="6476999" y="1047750"/>
            <a:ext cx="1300163" cy="461963"/>
            <a:chOff x="3878" y="1749"/>
            <a:chExt cx="819" cy="388"/>
          </a:xfrm>
        </p:grpSpPr>
        <p:sp>
          <p:nvSpPr>
            <p:cNvPr id="30797" name="Text Box 61"/>
            <p:cNvSpPr txBox="1">
              <a:spLocks noChangeArrowheads="1"/>
            </p:cNvSpPr>
            <p:nvPr/>
          </p:nvSpPr>
          <p:spPr bwMode="auto">
            <a:xfrm>
              <a:off x="3878" y="1749"/>
              <a:ext cx="819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400">
                  <a:latin typeface="Tahoma" pitchFamily="34" charset="0"/>
                </a:rPr>
                <a:t>= </a:t>
              </a:r>
              <a:r>
                <a:rPr kumimoji="1" lang="en-US" altLang="zh-CN" sz="2000">
                  <a:latin typeface="Tahoma" pitchFamily="34" charset="0"/>
                </a:rPr>
                <a:t>AB+AB</a:t>
              </a:r>
            </a:p>
          </p:txBody>
        </p:sp>
        <p:sp>
          <p:nvSpPr>
            <p:cNvPr id="30798" name="Line 62"/>
            <p:cNvSpPr>
              <a:spLocks noChangeShapeType="1"/>
            </p:cNvSpPr>
            <p:nvPr/>
          </p:nvSpPr>
          <p:spPr bwMode="auto">
            <a:xfrm>
              <a:off x="4128" y="1824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99" name="Line 63"/>
            <p:cNvSpPr>
              <a:spLocks noChangeShapeType="1"/>
            </p:cNvSpPr>
            <p:nvPr/>
          </p:nvSpPr>
          <p:spPr bwMode="auto">
            <a:xfrm>
              <a:off x="4534" y="1824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6" name="Group 88"/>
          <p:cNvGrpSpPr>
            <a:grpSpLocks/>
          </p:cNvGrpSpPr>
          <p:nvPr/>
        </p:nvGrpSpPr>
        <p:grpSpPr bwMode="auto">
          <a:xfrm>
            <a:off x="4314826" y="1472804"/>
            <a:ext cx="785813" cy="461963"/>
            <a:chOff x="2626" y="2112"/>
            <a:chExt cx="495" cy="388"/>
          </a:xfrm>
        </p:grpSpPr>
        <p:sp>
          <p:nvSpPr>
            <p:cNvPr id="30795" name="Text Box 65"/>
            <p:cNvSpPr txBox="1">
              <a:spLocks noChangeArrowheads="1"/>
            </p:cNvSpPr>
            <p:nvPr/>
          </p:nvSpPr>
          <p:spPr bwMode="auto">
            <a:xfrm>
              <a:off x="2626" y="2112"/>
              <a:ext cx="495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400">
                  <a:latin typeface="Tahoma" pitchFamily="34" charset="0"/>
                </a:rPr>
                <a:t>c=</a:t>
              </a:r>
              <a:r>
                <a:rPr kumimoji="1" lang="en-US" altLang="zh-CN" sz="2000">
                  <a:latin typeface="Tahoma" pitchFamily="34" charset="0"/>
                </a:rPr>
                <a:t>P</a:t>
              </a:r>
              <a:r>
                <a:rPr kumimoji="1" lang="en-US" altLang="zh-CN" sz="2000" baseline="-25000">
                  <a:latin typeface="Tahoma" pitchFamily="34" charset="0"/>
                </a:rPr>
                <a:t>3</a:t>
              </a:r>
            </a:p>
          </p:txBody>
        </p:sp>
        <p:sp>
          <p:nvSpPr>
            <p:cNvPr id="30796" name="Line 66"/>
            <p:cNvSpPr>
              <a:spLocks noChangeShapeType="1"/>
            </p:cNvSpPr>
            <p:nvPr/>
          </p:nvSpPr>
          <p:spPr bwMode="auto">
            <a:xfrm>
              <a:off x="2895" y="2187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3379" name="Text Box 67"/>
          <p:cNvSpPr txBox="1">
            <a:spLocks noChangeArrowheads="1"/>
          </p:cNvSpPr>
          <p:nvPr/>
        </p:nvSpPr>
        <p:spPr bwMode="auto">
          <a:xfrm>
            <a:off x="4924423" y="1472801"/>
            <a:ext cx="71365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400">
                <a:latin typeface="Tahoma" pitchFamily="34" charset="0"/>
              </a:rPr>
              <a:t>=</a:t>
            </a:r>
            <a:r>
              <a:rPr kumimoji="1" lang="en-US" altLang="zh-CN" sz="2000">
                <a:latin typeface="Tahoma" pitchFamily="34" charset="0"/>
              </a:rPr>
              <a:t>AB</a:t>
            </a:r>
          </a:p>
        </p:txBody>
      </p:sp>
      <p:sp>
        <p:nvSpPr>
          <p:cNvPr id="13396" name="Text Box 84"/>
          <p:cNvSpPr txBox="1">
            <a:spLocks noChangeArrowheads="1"/>
          </p:cNvSpPr>
          <p:nvPr/>
        </p:nvSpPr>
        <p:spPr bwMode="auto">
          <a:xfrm>
            <a:off x="6781800" y="4095750"/>
            <a:ext cx="130516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400" dirty="0">
                <a:latin typeface="Tahoma" pitchFamily="34" charset="0"/>
              </a:rPr>
              <a:t>s= </a:t>
            </a:r>
            <a:r>
              <a:rPr kumimoji="1" lang="en-US" altLang="zh-CN" sz="2000" dirty="0">
                <a:latin typeface="Tahoma" pitchFamily="34" charset="0"/>
              </a:rPr>
              <a:t>A </a:t>
            </a:r>
            <a:r>
              <a:rPr kumimoji="1" lang="en-US" altLang="zh-CN" sz="2000" dirty="0">
                <a:latin typeface="黑体" pitchFamily="49" charset="-122"/>
                <a:ea typeface="黑体" pitchFamily="49" charset="-122"/>
                <a:sym typeface="Symbol" pitchFamily="18" charset="2"/>
              </a:rPr>
              <a:t></a:t>
            </a:r>
            <a:r>
              <a:rPr kumimoji="1" lang="en-US" altLang="zh-CN" sz="2000" dirty="0">
                <a:latin typeface="Tahoma" pitchFamily="34" charset="0"/>
              </a:rPr>
              <a:t> B</a:t>
            </a:r>
          </a:p>
        </p:txBody>
      </p:sp>
      <p:sp>
        <p:nvSpPr>
          <p:cNvPr id="30732" name="Text Box 89"/>
          <p:cNvSpPr txBox="1">
            <a:spLocks noChangeArrowheads="1"/>
          </p:cNvSpPr>
          <p:nvPr/>
        </p:nvSpPr>
        <p:spPr bwMode="auto">
          <a:xfrm>
            <a:off x="6870812" y="3668222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kumimoji="1" lang="zh-CN" altLang="zh-CN" sz="2400">
              <a:latin typeface="Tahoma" pitchFamily="34" charset="0"/>
            </a:endParaRPr>
          </a:p>
        </p:txBody>
      </p:sp>
      <p:grpSp>
        <p:nvGrpSpPr>
          <p:cNvPr id="8" name="Group 91"/>
          <p:cNvGrpSpPr>
            <a:grpSpLocks/>
          </p:cNvGrpSpPr>
          <p:nvPr/>
        </p:nvGrpSpPr>
        <p:grpSpPr bwMode="auto">
          <a:xfrm>
            <a:off x="6858118" y="2125174"/>
            <a:ext cx="1181101" cy="1927622"/>
            <a:chOff x="4264" y="2016"/>
            <a:chExt cx="744" cy="1619"/>
          </a:xfrm>
        </p:grpSpPr>
        <p:grpSp>
          <p:nvGrpSpPr>
            <p:cNvPr id="9" name="Group 83"/>
            <p:cNvGrpSpPr>
              <a:grpSpLocks/>
            </p:cNvGrpSpPr>
            <p:nvPr/>
          </p:nvGrpSpPr>
          <p:grpSpPr bwMode="auto">
            <a:xfrm>
              <a:off x="4272" y="2016"/>
              <a:ext cx="605" cy="1344"/>
              <a:chOff x="4310" y="2112"/>
              <a:chExt cx="605" cy="1344"/>
            </a:xfrm>
          </p:grpSpPr>
          <p:sp>
            <p:nvSpPr>
              <p:cNvPr id="30780" name="Text Box 73"/>
              <p:cNvSpPr txBox="1">
                <a:spLocks noChangeArrowheads="1"/>
              </p:cNvSpPr>
              <p:nvPr/>
            </p:nvSpPr>
            <p:spPr bwMode="auto">
              <a:xfrm>
                <a:off x="4438" y="2640"/>
                <a:ext cx="353" cy="336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kumimoji="1" lang="en-US" altLang="zh-CN" sz="2000">
                    <a:latin typeface="Tahoma" pitchFamily="34" charset="0"/>
                  </a:rPr>
                  <a:t>HA</a:t>
                </a:r>
              </a:p>
            </p:txBody>
          </p:sp>
          <p:sp>
            <p:nvSpPr>
              <p:cNvPr id="30781" name="Rectangle 74"/>
              <p:cNvSpPr>
                <a:spLocks noChangeArrowheads="1"/>
              </p:cNvSpPr>
              <p:nvPr/>
            </p:nvSpPr>
            <p:spPr bwMode="auto">
              <a:xfrm>
                <a:off x="4320" y="2592"/>
                <a:ext cx="576" cy="33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82" name="Line 75"/>
              <p:cNvSpPr>
                <a:spLocks noChangeShapeType="1"/>
              </p:cNvSpPr>
              <p:nvPr/>
            </p:nvSpPr>
            <p:spPr bwMode="auto">
              <a:xfrm>
                <a:off x="4416" y="292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783" name="Line 76"/>
              <p:cNvSpPr>
                <a:spLocks noChangeShapeType="1"/>
              </p:cNvSpPr>
              <p:nvPr/>
            </p:nvSpPr>
            <p:spPr bwMode="auto">
              <a:xfrm>
                <a:off x="4800" y="292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784" name="Line 77"/>
              <p:cNvSpPr>
                <a:spLocks noChangeShapeType="1"/>
              </p:cNvSpPr>
              <p:nvPr/>
            </p:nvSpPr>
            <p:spPr bwMode="auto">
              <a:xfrm flipV="1">
                <a:off x="4416" y="2400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785" name="Line 78"/>
              <p:cNvSpPr>
                <a:spLocks noChangeShapeType="1"/>
              </p:cNvSpPr>
              <p:nvPr/>
            </p:nvSpPr>
            <p:spPr bwMode="auto">
              <a:xfrm flipV="1">
                <a:off x="4800" y="2400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786" name="Text Box 79"/>
              <p:cNvSpPr txBox="1">
                <a:spLocks noChangeArrowheads="1"/>
              </p:cNvSpPr>
              <p:nvPr/>
            </p:nvSpPr>
            <p:spPr bwMode="auto">
              <a:xfrm>
                <a:off x="4310" y="2112"/>
                <a:ext cx="203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400">
                    <a:latin typeface="Tahoma" pitchFamily="34" charset="0"/>
                  </a:rPr>
                  <a:t>s</a:t>
                </a:r>
              </a:p>
            </p:txBody>
          </p:sp>
          <p:sp>
            <p:nvSpPr>
              <p:cNvPr id="30787" name="Text Box 80"/>
              <p:cNvSpPr txBox="1">
                <a:spLocks noChangeArrowheads="1"/>
              </p:cNvSpPr>
              <p:nvPr/>
            </p:nvSpPr>
            <p:spPr bwMode="auto">
              <a:xfrm>
                <a:off x="4704" y="2112"/>
                <a:ext cx="206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400">
                    <a:latin typeface="Tahoma" pitchFamily="34" charset="0"/>
                  </a:rPr>
                  <a:t>c</a:t>
                </a:r>
              </a:p>
            </p:txBody>
          </p:sp>
          <p:sp>
            <p:nvSpPr>
              <p:cNvPr id="30788" name="Text Box 81"/>
              <p:cNvSpPr txBox="1">
                <a:spLocks noChangeArrowheads="1"/>
              </p:cNvSpPr>
              <p:nvPr/>
            </p:nvSpPr>
            <p:spPr bwMode="auto">
              <a:xfrm>
                <a:off x="4310" y="3120"/>
                <a:ext cx="213" cy="3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>
                    <a:latin typeface="Tahoma" pitchFamily="34" charset="0"/>
                  </a:rPr>
                  <a:t>A</a:t>
                </a:r>
              </a:p>
            </p:txBody>
          </p:sp>
          <p:sp>
            <p:nvSpPr>
              <p:cNvPr id="30789" name="Text Box 82"/>
              <p:cNvSpPr txBox="1">
                <a:spLocks noChangeArrowheads="1"/>
              </p:cNvSpPr>
              <p:nvPr/>
            </p:nvSpPr>
            <p:spPr bwMode="auto">
              <a:xfrm>
                <a:off x="4704" y="3110"/>
                <a:ext cx="211" cy="3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>
                    <a:latin typeface="Tahoma" pitchFamily="34" charset="0"/>
                  </a:rPr>
                  <a:t>B</a:t>
                </a:r>
              </a:p>
            </p:txBody>
          </p:sp>
        </p:grpSp>
        <p:sp>
          <p:nvSpPr>
            <p:cNvPr id="30779" name="Text Box 90"/>
            <p:cNvSpPr txBox="1">
              <a:spLocks noChangeArrowheads="1"/>
            </p:cNvSpPr>
            <p:nvPr/>
          </p:nvSpPr>
          <p:spPr bwMode="auto">
            <a:xfrm>
              <a:off x="4264" y="3351"/>
              <a:ext cx="744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1600" dirty="0" smtClean="0">
                  <a:latin typeface="Tahoma" pitchFamily="34" charset="0"/>
                  <a:ea typeface="黑体" pitchFamily="49" charset="-122"/>
                </a:rPr>
                <a:t>图</a:t>
              </a:r>
              <a:r>
                <a:rPr kumimoji="1" lang="en-US" altLang="zh-CN" sz="1600" dirty="0" smtClean="0">
                  <a:latin typeface="Tahoma" pitchFamily="34" charset="0"/>
                  <a:ea typeface="黑体" pitchFamily="49" charset="-122"/>
                </a:rPr>
                <a:t>2 </a:t>
              </a:r>
              <a:r>
                <a:rPr kumimoji="1" lang="zh-CN" altLang="en-US" sz="1600" dirty="0" smtClean="0">
                  <a:latin typeface="Tahoma" pitchFamily="34" charset="0"/>
                  <a:ea typeface="黑体" pitchFamily="49" charset="-122"/>
                </a:rPr>
                <a:t>半加器</a:t>
              </a:r>
              <a:endParaRPr kumimoji="1" lang="zh-CN" altLang="en-US" sz="1600" dirty="0">
                <a:latin typeface="Tahoma" pitchFamily="34" charset="0"/>
                <a:ea typeface="黑体" pitchFamily="49" charset="-122"/>
              </a:endParaRPr>
            </a:p>
          </p:txBody>
        </p:sp>
      </p:grpSp>
      <p:grpSp>
        <p:nvGrpSpPr>
          <p:cNvPr id="10" name="Group 97"/>
          <p:cNvGrpSpPr>
            <a:grpSpLocks/>
          </p:cNvGrpSpPr>
          <p:nvPr/>
        </p:nvGrpSpPr>
        <p:grpSpPr bwMode="auto">
          <a:xfrm>
            <a:off x="273051" y="1174469"/>
            <a:ext cx="3048000" cy="3276600"/>
            <a:chOff x="412" y="1814"/>
            <a:chExt cx="1673" cy="2112"/>
          </a:xfrm>
        </p:grpSpPr>
        <p:grpSp>
          <p:nvGrpSpPr>
            <p:cNvPr id="11" name="Group 50"/>
            <p:cNvGrpSpPr>
              <a:grpSpLocks/>
            </p:cNvGrpSpPr>
            <p:nvPr/>
          </p:nvGrpSpPr>
          <p:grpSpPr bwMode="auto">
            <a:xfrm>
              <a:off x="412" y="1814"/>
              <a:ext cx="1673" cy="2112"/>
              <a:chOff x="316" y="1680"/>
              <a:chExt cx="1673" cy="2112"/>
            </a:xfrm>
          </p:grpSpPr>
          <p:sp>
            <p:nvSpPr>
              <p:cNvPr id="30737" name="AutoShape 5"/>
              <p:cNvSpPr>
                <a:spLocks noChangeArrowheads="1"/>
              </p:cNvSpPr>
              <p:nvPr/>
            </p:nvSpPr>
            <p:spPr bwMode="auto">
              <a:xfrm rot="-5400000">
                <a:off x="840" y="2184"/>
                <a:ext cx="288" cy="240"/>
              </a:xfrm>
              <a:prstGeom prst="flowChartDelay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38" name="Line 6"/>
              <p:cNvSpPr>
                <a:spLocks noChangeShapeType="1"/>
              </p:cNvSpPr>
              <p:nvPr/>
            </p:nvSpPr>
            <p:spPr bwMode="auto">
              <a:xfrm flipV="1">
                <a:off x="986" y="187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739" name="Line 7"/>
              <p:cNvSpPr>
                <a:spLocks noChangeShapeType="1"/>
              </p:cNvSpPr>
              <p:nvPr/>
            </p:nvSpPr>
            <p:spPr bwMode="auto">
              <a:xfrm flipH="1">
                <a:off x="912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740" name="Line 8"/>
              <p:cNvSpPr>
                <a:spLocks noChangeShapeType="1"/>
              </p:cNvSpPr>
              <p:nvPr/>
            </p:nvSpPr>
            <p:spPr bwMode="auto">
              <a:xfrm flipH="1">
                <a:off x="1056" y="244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741" name="Text Box 9"/>
              <p:cNvSpPr txBox="1">
                <a:spLocks noChangeArrowheads="1"/>
              </p:cNvSpPr>
              <p:nvPr/>
            </p:nvSpPr>
            <p:spPr bwMode="auto">
              <a:xfrm>
                <a:off x="800" y="1680"/>
                <a:ext cx="203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400" dirty="0">
                    <a:latin typeface="Tahoma" pitchFamily="34" charset="0"/>
                  </a:rPr>
                  <a:t>s</a:t>
                </a:r>
              </a:p>
            </p:txBody>
          </p:sp>
          <p:sp>
            <p:nvSpPr>
              <p:cNvPr id="30742" name="Oval 12"/>
              <p:cNvSpPr>
                <a:spLocks noChangeArrowheads="1"/>
              </p:cNvSpPr>
              <p:nvPr/>
            </p:nvSpPr>
            <p:spPr bwMode="auto">
              <a:xfrm flipH="1">
                <a:off x="960" y="2112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43" name="Line 15"/>
              <p:cNvSpPr>
                <a:spLocks noChangeShapeType="1"/>
              </p:cNvSpPr>
              <p:nvPr/>
            </p:nvSpPr>
            <p:spPr bwMode="auto">
              <a:xfrm flipH="1">
                <a:off x="576" y="3072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744" name="Line 16"/>
              <p:cNvSpPr>
                <a:spLocks noChangeShapeType="1"/>
              </p:cNvSpPr>
              <p:nvPr/>
            </p:nvSpPr>
            <p:spPr bwMode="auto">
              <a:xfrm flipH="1">
                <a:off x="672" y="307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12" name="Group 20"/>
              <p:cNvGrpSpPr>
                <a:grpSpLocks/>
              </p:cNvGrpSpPr>
              <p:nvPr/>
            </p:nvGrpSpPr>
            <p:grpSpPr bwMode="auto">
              <a:xfrm>
                <a:off x="505" y="2736"/>
                <a:ext cx="240" cy="336"/>
                <a:chOff x="528" y="2736"/>
                <a:chExt cx="240" cy="336"/>
              </a:xfrm>
            </p:grpSpPr>
            <p:sp>
              <p:nvSpPr>
                <p:cNvPr id="30776" name="AutoShape 13"/>
                <p:cNvSpPr>
                  <a:spLocks noChangeArrowheads="1"/>
                </p:cNvSpPr>
                <p:nvPr/>
              </p:nvSpPr>
              <p:spPr bwMode="auto">
                <a:xfrm rot="-5400000">
                  <a:off x="504" y="2808"/>
                  <a:ext cx="288" cy="240"/>
                </a:xfrm>
                <a:prstGeom prst="flowChartDelay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777" name="Oval 17"/>
                <p:cNvSpPr>
                  <a:spLocks noChangeArrowheads="1"/>
                </p:cNvSpPr>
                <p:nvPr/>
              </p:nvSpPr>
              <p:spPr bwMode="auto">
                <a:xfrm flipH="1">
                  <a:off x="624" y="2736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0746" name="Line 18"/>
              <p:cNvSpPr>
                <a:spLocks noChangeShapeType="1"/>
              </p:cNvSpPr>
              <p:nvPr/>
            </p:nvSpPr>
            <p:spPr bwMode="auto">
              <a:xfrm flipV="1">
                <a:off x="624" y="2592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747" name="Line 19"/>
              <p:cNvSpPr>
                <a:spLocks noChangeShapeType="1"/>
              </p:cNvSpPr>
              <p:nvPr/>
            </p:nvSpPr>
            <p:spPr bwMode="auto">
              <a:xfrm>
                <a:off x="615" y="2592"/>
                <a:ext cx="29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748" name="Line 21"/>
              <p:cNvSpPr>
                <a:spLocks noChangeShapeType="1"/>
              </p:cNvSpPr>
              <p:nvPr/>
            </p:nvSpPr>
            <p:spPr bwMode="auto">
              <a:xfrm flipH="1">
                <a:off x="1296" y="3072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749" name="Line 22"/>
              <p:cNvSpPr>
                <a:spLocks noChangeShapeType="1"/>
              </p:cNvSpPr>
              <p:nvPr/>
            </p:nvSpPr>
            <p:spPr bwMode="auto">
              <a:xfrm flipH="1">
                <a:off x="1440" y="3072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13" name="Group 23"/>
              <p:cNvGrpSpPr>
                <a:grpSpLocks/>
              </p:cNvGrpSpPr>
              <p:nvPr/>
            </p:nvGrpSpPr>
            <p:grpSpPr bwMode="auto">
              <a:xfrm>
                <a:off x="1248" y="2736"/>
                <a:ext cx="240" cy="336"/>
                <a:chOff x="528" y="2736"/>
                <a:chExt cx="240" cy="336"/>
              </a:xfrm>
            </p:grpSpPr>
            <p:sp>
              <p:nvSpPr>
                <p:cNvPr id="30774" name="AutoShape 24"/>
                <p:cNvSpPr>
                  <a:spLocks noChangeArrowheads="1"/>
                </p:cNvSpPr>
                <p:nvPr/>
              </p:nvSpPr>
              <p:spPr bwMode="auto">
                <a:xfrm rot="-5400000">
                  <a:off x="504" y="2808"/>
                  <a:ext cx="288" cy="240"/>
                </a:xfrm>
                <a:prstGeom prst="flowChartDelay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775" name="Oval 25"/>
                <p:cNvSpPr>
                  <a:spLocks noChangeArrowheads="1"/>
                </p:cNvSpPr>
                <p:nvPr/>
              </p:nvSpPr>
              <p:spPr bwMode="auto">
                <a:xfrm flipH="1">
                  <a:off x="624" y="2736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0751" name="Line 26"/>
              <p:cNvSpPr>
                <a:spLocks noChangeShapeType="1"/>
              </p:cNvSpPr>
              <p:nvPr/>
            </p:nvSpPr>
            <p:spPr bwMode="auto">
              <a:xfrm flipV="1">
                <a:off x="1367" y="2592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752" name="Line 27"/>
              <p:cNvSpPr>
                <a:spLocks noChangeShapeType="1"/>
              </p:cNvSpPr>
              <p:nvPr/>
            </p:nvSpPr>
            <p:spPr bwMode="auto">
              <a:xfrm>
                <a:off x="1044" y="2592"/>
                <a:ext cx="33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753" name="Line 28"/>
              <p:cNvSpPr>
                <a:spLocks noChangeShapeType="1"/>
              </p:cNvSpPr>
              <p:nvPr/>
            </p:nvSpPr>
            <p:spPr bwMode="auto">
              <a:xfrm flipH="1">
                <a:off x="1728" y="3072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754" name="Line 29"/>
              <p:cNvSpPr>
                <a:spLocks noChangeShapeType="1"/>
              </p:cNvSpPr>
              <p:nvPr/>
            </p:nvSpPr>
            <p:spPr bwMode="auto">
              <a:xfrm flipH="1">
                <a:off x="1872" y="3072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14" name="Group 30"/>
              <p:cNvGrpSpPr>
                <a:grpSpLocks/>
              </p:cNvGrpSpPr>
              <p:nvPr/>
            </p:nvGrpSpPr>
            <p:grpSpPr bwMode="auto">
              <a:xfrm>
                <a:off x="1680" y="2736"/>
                <a:ext cx="240" cy="336"/>
                <a:chOff x="528" y="2736"/>
                <a:chExt cx="240" cy="336"/>
              </a:xfrm>
            </p:grpSpPr>
            <p:sp>
              <p:nvSpPr>
                <p:cNvPr id="30772" name="AutoShape 31"/>
                <p:cNvSpPr>
                  <a:spLocks noChangeArrowheads="1"/>
                </p:cNvSpPr>
                <p:nvPr/>
              </p:nvSpPr>
              <p:spPr bwMode="auto">
                <a:xfrm rot="-5400000">
                  <a:off x="504" y="2808"/>
                  <a:ext cx="288" cy="240"/>
                </a:xfrm>
                <a:prstGeom prst="flowChartDelay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773" name="Oval 32"/>
                <p:cNvSpPr>
                  <a:spLocks noChangeArrowheads="1"/>
                </p:cNvSpPr>
                <p:nvPr/>
              </p:nvSpPr>
              <p:spPr bwMode="auto">
                <a:xfrm flipH="1">
                  <a:off x="624" y="2736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Group 36"/>
              <p:cNvGrpSpPr>
                <a:grpSpLocks/>
              </p:cNvGrpSpPr>
              <p:nvPr/>
            </p:nvGrpSpPr>
            <p:grpSpPr bwMode="auto">
              <a:xfrm>
                <a:off x="1680" y="2160"/>
                <a:ext cx="240" cy="288"/>
                <a:chOff x="1584" y="2112"/>
                <a:chExt cx="240" cy="288"/>
              </a:xfrm>
            </p:grpSpPr>
            <p:sp>
              <p:nvSpPr>
                <p:cNvPr id="30770" name="AutoShape 34"/>
                <p:cNvSpPr>
                  <a:spLocks noChangeArrowheads="1"/>
                </p:cNvSpPr>
                <p:nvPr/>
              </p:nvSpPr>
              <p:spPr bwMode="auto">
                <a:xfrm>
                  <a:off x="1584" y="2160"/>
                  <a:ext cx="240" cy="240"/>
                </a:xfrm>
                <a:prstGeom prst="triangle">
                  <a:avLst>
                    <a:gd name="adj" fmla="val 5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771" name="Oval 35"/>
                <p:cNvSpPr>
                  <a:spLocks noChangeArrowheads="1"/>
                </p:cNvSpPr>
                <p:nvPr/>
              </p:nvSpPr>
              <p:spPr bwMode="auto">
                <a:xfrm>
                  <a:off x="1680" y="2112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0757" name="Line 37"/>
              <p:cNvSpPr>
                <a:spLocks noChangeShapeType="1"/>
              </p:cNvSpPr>
              <p:nvPr/>
            </p:nvSpPr>
            <p:spPr bwMode="auto">
              <a:xfrm flipV="1">
                <a:off x="1802" y="2448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758" name="Line 38"/>
              <p:cNvSpPr>
                <a:spLocks noChangeShapeType="1"/>
              </p:cNvSpPr>
              <p:nvPr/>
            </p:nvSpPr>
            <p:spPr bwMode="auto">
              <a:xfrm flipV="1">
                <a:off x="1802" y="1872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759" name="Text Box 39"/>
              <p:cNvSpPr txBox="1">
                <a:spLocks noChangeArrowheads="1"/>
              </p:cNvSpPr>
              <p:nvPr/>
            </p:nvSpPr>
            <p:spPr bwMode="auto">
              <a:xfrm>
                <a:off x="1574" y="1680"/>
                <a:ext cx="206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400">
                    <a:latin typeface="Tahoma" pitchFamily="34" charset="0"/>
                  </a:rPr>
                  <a:t>c</a:t>
                </a:r>
              </a:p>
            </p:txBody>
          </p:sp>
          <p:sp>
            <p:nvSpPr>
              <p:cNvPr id="30760" name="Line 40"/>
              <p:cNvSpPr>
                <a:spLocks noChangeShapeType="1"/>
              </p:cNvSpPr>
              <p:nvPr/>
            </p:nvSpPr>
            <p:spPr bwMode="auto">
              <a:xfrm>
                <a:off x="1440" y="3216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761" name="Text Box 41"/>
              <p:cNvSpPr txBox="1">
                <a:spLocks noChangeArrowheads="1"/>
              </p:cNvSpPr>
              <p:nvPr/>
            </p:nvSpPr>
            <p:spPr bwMode="auto">
              <a:xfrm>
                <a:off x="1792" y="3067"/>
                <a:ext cx="184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400" dirty="0">
                    <a:latin typeface="Times New Roman" pitchFamily="18" charset="0"/>
                    <a:cs typeface="Tahoma" pitchFamily="34" charset="0"/>
                  </a:rPr>
                  <a:t>•</a:t>
                </a:r>
                <a:endParaRPr kumimoji="1" lang="en-US" altLang="zh-CN" sz="2400" dirty="0">
                  <a:latin typeface="Tahoma" pitchFamily="34" charset="0"/>
                </a:endParaRPr>
              </a:p>
            </p:txBody>
          </p:sp>
          <p:sp>
            <p:nvSpPr>
              <p:cNvPr id="30762" name="Line 42"/>
              <p:cNvSpPr>
                <a:spLocks noChangeShapeType="1"/>
              </p:cNvSpPr>
              <p:nvPr/>
            </p:nvSpPr>
            <p:spPr bwMode="auto">
              <a:xfrm>
                <a:off x="672" y="3312"/>
                <a:ext cx="105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763" name="Text Box 43"/>
              <p:cNvSpPr txBox="1">
                <a:spLocks noChangeArrowheads="1"/>
              </p:cNvSpPr>
              <p:nvPr/>
            </p:nvSpPr>
            <p:spPr bwMode="auto">
              <a:xfrm>
                <a:off x="1649" y="3158"/>
                <a:ext cx="184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400" dirty="0">
                    <a:latin typeface="Times New Roman" pitchFamily="18" charset="0"/>
                    <a:cs typeface="Tahoma" pitchFamily="34" charset="0"/>
                  </a:rPr>
                  <a:t>•</a:t>
                </a:r>
                <a:endParaRPr kumimoji="1" lang="en-US" altLang="zh-CN" sz="2400" dirty="0">
                  <a:latin typeface="Tahoma" pitchFamily="34" charset="0"/>
                </a:endParaRPr>
              </a:p>
            </p:txBody>
          </p:sp>
          <p:sp>
            <p:nvSpPr>
              <p:cNvPr id="30764" name="Text Box 44"/>
              <p:cNvSpPr txBox="1">
                <a:spLocks noChangeArrowheads="1"/>
              </p:cNvSpPr>
              <p:nvPr/>
            </p:nvSpPr>
            <p:spPr bwMode="auto">
              <a:xfrm>
                <a:off x="1584" y="3456"/>
                <a:ext cx="211" cy="3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>
                    <a:latin typeface="Tahoma" pitchFamily="34" charset="0"/>
                  </a:rPr>
                  <a:t>B</a:t>
                </a:r>
              </a:p>
            </p:txBody>
          </p:sp>
          <p:sp>
            <p:nvSpPr>
              <p:cNvPr id="30765" name="Text Box 45"/>
              <p:cNvSpPr txBox="1">
                <a:spLocks noChangeArrowheads="1"/>
              </p:cNvSpPr>
              <p:nvPr/>
            </p:nvSpPr>
            <p:spPr bwMode="auto">
              <a:xfrm>
                <a:off x="1104" y="3072"/>
                <a:ext cx="211" cy="3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>
                    <a:latin typeface="Tahoma" pitchFamily="34" charset="0"/>
                  </a:rPr>
                  <a:t>B</a:t>
                </a:r>
              </a:p>
            </p:txBody>
          </p:sp>
          <p:sp>
            <p:nvSpPr>
              <p:cNvPr id="30766" name="Text Box 46"/>
              <p:cNvSpPr txBox="1">
                <a:spLocks noChangeArrowheads="1"/>
              </p:cNvSpPr>
              <p:nvPr/>
            </p:nvSpPr>
            <p:spPr bwMode="auto">
              <a:xfrm>
                <a:off x="1776" y="3456"/>
                <a:ext cx="213" cy="3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>
                    <a:latin typeface="Tahoma" pitchFamily="34" charset="0"/>
                  </a:rPr>
                  <a:t>A</a:t>
                </a:r>
              </a:p>
            </p:txBody>
          </p:sp>
          <p:sp>
            <p:nvSpPr>
              <p:cNvPr id="30767" name="Text Box 47"/>
              <p:cNvSpPr txBox="1">
                <a:spLocks noChangeArrowheads="1"/>
              </p:cNvSpPr>
              <p:nvPr/>
            </p:nvSpPr>
            <p:spPr bwMode="auto">
              <a:xfrm>
                <a:off x="316" y="3072"/>
                <a:ext cx="213" cy="3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000">
                    <a:latin typeface="Tahoma" pitchFamily="34" charset="0"/>
                  </a:rPr>
                  <a:t>A</a:t>
                </a:r>
              </a:p>
            </p:txBody>
          </p:sp>
          <p:sp>
            <p:nvSpPr>
              <p:cNvPr id="30768" name="Line 48"/>
              <p:cNvSpPr>
                <a:spLocks noChangeShapeType="1"/>
              </p:cNvSpPr>
              <p:nvPr/>
            </p:nvSpPr>
            <p:spPr bwMode="auto">
              <a:xfrm>
                <a:off x="362" y="3120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769" name="Line 49"/>
              <p:cNvSpPr>
                <a:spLocks noChangeShapeType="1"/>
              </p:cNvSpPr>
              <p:nvPr/>
            </p:nvSpPr>
            <p:spPr bwMode="auto">
              <a:xfrm>
                <a:off x="1143" y="3120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30736" name="Rectangle 96"/>
            <p:cNvSpPr>
              <a:spLocks noChangeArrowheads="1"/>
            </p:cNvSpPr>
            <p:nvPr/>
          </p:nvSpPr>
          <p:spPr bwMode="auto">
            <a:xfrm>
              <a:off x="1473" y="2640"/>
              <a:ext cx="48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0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9937" name="Picture 1" descr="C:\Users\hfutliujun\AppData\Roaming\Tencent\Users\350654676\QQ\WinTemp\RichOle\MZX1FA[Q0P$Z`ZQK$}32)O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2495550"/>
            <a:ext cx="1907812" cy="1752600"/>
          </a:xfrm>
          <a:prstGeom prst="rect">
            <a:avLst/>
          </a:prstGeom>
          <a:noFill/>
        </p:spPr>
      </p:pic>
      <p:sp>
        <p:nvSpPr>
          <p:cNvPr id="83" name="TextBox 82"/>
          <p:cNvSpPr txBox="1"/>
          <p:nvPr/>
        </p:nvSpPr>
        <p:spPr>
          <a:xfrm>
            <a:off x="4724400" y="219075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表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4" name="Text Box 90"/>
          <p:cNvSpPr txBox="1">
            <a:spLocks noChangeArrowheads="1"/>
          </p:cNvSpPr>
          <p:nvPr/>
        </p:nvSpPr>
        <p:spPr bwMode="auto">
          <a:xfrm>
            <a:off x="1600200" y="4171950"/>
            <a:ext cx="50206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600" dirty="0" smtClean="0">
                <a:latin typeface="Tahoma" pitchFamily="34" charset="0"/>
                <a:ea typeface="黑体" pitchFamily="49" charset="-122"/>
              </a:rPr>
              <a:t>图</a:t>
            </a:r>
            <a:r>
              <a:rPr kumimoji="1" lang="en-US" altLang="zh-CN" sz="1600" dirty="0" smtClean="0">
                <a:latin typeface="Tahoma" pitchFamily="34" charset="0"/>
                <a:ea typeface="黑体" pitchFamily="49" charset="-122"/>
              </a:rPr>
              <a:t>1</a:t>
            </a:r>
            <a:endParaRPr kumimoji="1" lang="zh-CN" altLang="en-US" sz="1600" dirty="0">
              <a:latin typeface="Tahoma" pitchFamily="34" charset="0"/>
              <a:ea typeface="黑体" pitchFamily="49" charset="-122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-85703" y="0"/>
            <a:ext cx="32431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：组合逻辑分析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9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9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3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79" grpId="0" autoUpdateAnimBg="0"/>
      <p:bldP spid="13396" grpId="0" autoUpdateAnimBg="0"/>
      <p:bldP spid="83" grpId="0"/>
      <p:bldP spid="8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3" name="Picture 48" descr="KEYFW(_7@5EBW2@7)S5W4KW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123950"/>
            <a:ext cx="3024188" cy="187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 descr="C:\Users\hfutliujun\AppData\Roaming\Tencent\Users\350654676\QQ\WinTemp\RichOle\S~TNAEW(V6TL@F14F@Y76XQ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45384" y="1047750"/>
            <a:ext cx="1598216" cy="2438399"/>
          </a:xfrm>
          <a:prstGeom prst="rect">
            <a:avLst/>
          </a:prstGeom>
          <a:noFill/>
        </p:spPr>
      </p:pic>
      <p:pic>
        <p:nvPicPr>
          <p:cNvPr id="1029" name="Picture 5" descr="C:\Users\hfutliujun\AppData\Roaming\Tencent\Users\350654676\QQ\WinTemp\RichOle\CX1882(0O)NF5]Q`H2IJ]89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00800" y="1428750"/>
            <a:ext cx="1632422" cy="175260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4953000" y="788328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表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276600" y="2343150"/>
            <a:ext cx="4572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200400" y="2266950"/>
            <a:ext cx="60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CN" sz="1600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endParaRPr lang="zh-CN" altLang="en-US" sz="16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81000" y="1657350"/>
            <a:ext cx="4572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73466" y="1535772"/>
            <a:ext cx="60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en-US" altLang="zh-CN" sz="1600" baseline="-25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i-1</a:t>
            </a:r>
            <a:endParaRPr lang="zh-CN" altLang="en-US" sz="1600" baseline="-250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4" name="Text Box 51"/>
          <p:cNvSpPr txBox="1">
            <a:spLocks noChangeArrowheads="1"/>
          </p:cNvSpPr>
          <p:nvPr/>
        </p:nvSpPr>
        <p:spPr bwMode="auto">
          <a:xfrm>
            <a:off x="1600200" y="1047750"/>
            <a:ext cx="64939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kumimoji="1" lang="en-US" altLang="zh-CN" sz="1600" b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15" name="Text Box 51"/>
          <p:cNvSpPr txBox="1">
            <a:spLocks noChangeArrowheads="1"/>
          </p:cNvSpPr>
          <p:nvPr/>
        </p:nvSpPr>
        <p:spPr bwMode="auto">
          <a:xfrm>
            <a:off x="2286000" y="1885950"/>
            <a:ext cx="64939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kumimoji="1" lang="en-US" altLang="zh-CN" sz="1600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kumimoji="1" lang="en-US" altLang="zh-CN" sz="1600" b="1" baseline="-25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Box 51"/>
          <p:cNvSpPr txBox="1">
            <a:spLocks noChangeArrowheads="1"/>
          </p:cNvSpPr>
          <p:nvPr/>
        </p:nvSpPr>
        <p:spPr bwMode="auto">
          <a:xfrm>
            <a:off x="2362200" y="2647950"/>
            <a:ext cx="64939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kumimoji="1" lang="en-US" altLang="zh-CN" sz="1600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kumimoji="1" lang="en-US" altLang="zh-CN" sz="1600" b="1" baseline="-25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276600" y="1428750"/>
            <a:ext cx="4572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200400" y="1352550"/>
            <a:ext cx="60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1600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endParaRPr lang="zh-CN" altLang="en-US" sz="16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0484" name="Object 4"/>
          <p:cNvGraphicFramePr>
            <a:graphicFrameLocks noChangeAspect="1"/>
          </p:cNvGraphicFramePr>
          <p:nvPr/>
        </p:nvGraphicFramePr>
        <p:xfrm>
          <a:off x="914400" y="3656011"/>
          <a:ext cx="1295400" cy="364331"/>
        </p:xfrm>
        <a:graphic>
          <a:graphicData uri="http://schemas.openxmlformats.org/presentationml/2006/ole">
            <p:oleObj spid="_x0000_s20484" name="Equation" r:id="rId6" imgW="812520" imgH="228600" progId="Equation.DSMT4">
              <p:embed/>
            </p:oleObj>
          </a:graphicData>
        </a:graphic>
      </p:graphicFrame>
      <p:graphicFrame>
        <p:nvGraphicFramePr>
          <p:cNvPr id="20485" name="Object 5"/>
          <p:cNvGraphicFramePr>
            <a:graphicFrameLocks noChangeAspect="1"/>
          </p:cNvGraphicFramePr>
          <p:nvPr/>
        </p:nvGraphicFramePr>
        <p:xfrm>
          <a:off x="2209800" y="3656012"/>
          <a:ext cx="1558925" cy="363538"/>
        </p:xfrm>
        <a:graphic>
          <a:graphicData uri="http://schemas.openxmlformats.org/presentationml/2006/ole">
            <p:oleObj spid="_x0000_s20485" name="Equation" r:id="rId7" imgW="977760" imgH="228600" progId="Equation.DSMT4">
              <p:embed/>
            </p:oleObj>
          </a:graphicData>
        </a:graphic>
      </p:graphicFrame>
      <p:sp>
        <p:nvSpPr>
          <p:cNvPr id="21" name="矩形 20"/>
          <p:cNvSpPr/>
          <p:nvPr/>
        </p:nvSpPr>
        <p:spPr>
          <a:xfrm>
            <a:off x="360452" y="1123950"/>
            <a:ext cx="4572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457200" y="1123950"/>
            <a:ext cx="60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1600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endParaRPr lang="zh-CN" altLang="en-US" sz="16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1317446"/>
            <a:ext cx="60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1600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endParaRPr lang="zh-CN" altLang="en-US" sz="16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0486" name="Object 6"/>
          <p:cNvGraphicFramePr>
            <a:graphicFrameLocks noChangeAspect="1"/>
          </p:cNvGraphicFramePr>
          <p:nvPr/>
        </p:nvGraphicFramePr>
        <p:xfrm>
          <a:off x="908050" y="4162872"/>
          <a:ext cx="1154113" cy="363538"/>
        </p:xfrm>
        <a:graphic>
          <a:graphicData uri="http://schemas.openxmlformats.org/presentationml/2006/ole">
            <p:oleObj spid="_x0000_s20486" name="Equation" r:id="rId8" imgW="723600" imgH="228600" progId="Equation.DSMT4">
              <p:embed/>
            </p:oleObj>
          </a:graphicData>
        </a:graphic>
      </p:graphicFrame>
      <p:graphicFrame>
        <p:nvGraphicFramePr>
          <p:cNvPr id="20487" name="Object 7"/>
          <p:cNvGraphicFramePr>
            <a:graphicFrameLocks noChangeAspect="1"/>
          </p:cNvGraphicFramePr>
          <p:nvPr/>
        </p:nvGraphicFramePr>
        <p:xfrm>
          <a:off x="2057400" y="4162872"/>
          <a:ext cx="1803400" cy="363538"/>
        </p:xfrm>
        <a:graphic>
          <a:graphicData uri="http://schemas.openxmlformats.org/presentationml/2006/ole">
            <p:oleObj spid="_x0000_s20487" name="Equation" r:id="rId9" imgW="1130040" imgH="228600" progId="Equation.DSMT4">
              <p:embed/>
            </p:oleObj>
          </a:graphicData>
        </a:graphic>
      </p:graphicFrame>
      <p:graphicFrame>
        <p:nvGraphicFramePr>
          <p:cNvPr id="20488" name="Object 8"/>
          <p:cNvGraphicFramePr>
            <a:graphicFrameLocks noChangeAspect="1"/>
          </p:cNvGraphicFramePr>
          <p:nvPr/>
        </p:nvGraphicFramePr>
        <p:xfrm>
          <a:off x="3886200" y="4162872"/>
          <a:ext cx="2471738" cy="363538"/>
        </p:xfrm>
        <a:graphic>
          <a:graphicData uri="http://schemas.openxmlformats.org/presentationml/2006/ole">
            <p:oleObj spid="_x0000_s20488" name="Equation" r:id="rId10" imgW="1549080" imgH="228600" progId="Equation.DSMT4">
              <p:embed/>
            </p:oleObj>
          </a:graphicData>
        </a:graphic>
      </p:graphicFrame>
      <p:sp>
        <p:nvSpPr>
          <p:cNvPr id="27" name="Text Box 90"/>
          <p:cNvSpPr txBox="1">
            <a:spLocks noChangeArrowheads="1"/>
          </p:cNvSpPr>
          <p:nvPr/>
        </p:nvSpPr>
        <p:spPr bwMode="auto">
          <a:xfrm>
            <a:off x="1676400" y="3028950"/>
            <a:ext cx="50206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600" dirty="0" smtClean="0">
                <a:latin typeface="Tahoma" pitchFamily="34" charset="0"/>
                <a:ea typeface="黑体" pitchFamily="49" charset="-122"/>
              </a:rPr>
              <a:t>图</a:t>
            </a:r>
            <a:r>
              <a:rPr kumimoji="1" lang="en-US" altLang="zh-CN" sz="1600" dirty="0" smtClean="0">
                <a:latin typeface="Tahoma" pitchFamily="34" charset="0"/>
                <a:ea typeface="黑体" pitchFamily="49" charset="-122"/>
              </a:rPr>
              <a:t>3</a:t>
            </a:r>
            <a:endParaRPr kumimoji="1" lang="zh-CN" altLang="en-US" sz="1600" dirty="0">
              <a:latin typeface="Tahoma" pitchFamily="34" charset="0"/>
              <a:ea typeface="黑体" pitchFamily="49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781800" y="2952750"/>
            <a:ext cx="6858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 Box 90"/>
          <p:cNvSpPr txBox="1">
            <a:spLocks noChangeArrowheads="1"/>
          </p:cNvSpPr>
          <p:nvPr/>
        </p:nvSpPr>
        <p:spPr bwMode="auto">
          <a:xfrm>
            <a:off x="6934200" y="2891106"/>
            <a:ext cx="50206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600" dirty="0" smtClean="0">
                <a:latin typeface="Tahoma" pitchFamily="34" charset="0"/>
                <a:ea typeface="黑体" pitchFamily="49" charset="-122"/>
              </a:rPr>
              <a:t>图</a:t>
            </a:r>
            <a:r>
              <a:rPr kumimoji="1" lang="en-US" altLang="zh-CN" sz="1600" dirty="0" smtClean="0">
                <a:latin typeface="Tahoma" pitchFamily="34" charset="0"/>
                <a:ea typeface="黑体" pitchFamily="49" charset="-122"/>
              </a:rPr>
              <a:t>4</a:t>
            </a:r>
            <a:endParaRPr kumimoji="1" lang="zh-CN" altLang="en-US" sz="1600" dirty="0">
              <a:latin typeface="Tahoma" pitchFamily="34" charset="0"/>
              <a:ea typeface="黑体" pitchFamily="49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-85703" y="0"/>
            <a:ext cx="32431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：组合逻辑分析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5" grpId="0"/>
      <p:bldP spid="16" grpId="0"/>
      <p:bldP spid="30" grpId="0" animBg="1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52400" y="1200150"/>
            <a:ext cx="2324100" cy="2286000"/>
            <a:chOff x="960" y="1776"/>
            <a:chExt cx="1464" cy="1440"/>
          </a:xfrm>
        </p:grpSpPr>
        <p:pic>
          <p:nvPicPr>
            <p:cNvPr id="108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56" y="1776"/>
              <a:ext cx="1368" cy="14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9" name="Text Box 5"/>
            <p:cNvSpPr txBox="1">
              <a:spLocks noChangeArrowheads="1"/>
            </p:cNvSpPr>
            <p:nvPr/>
          </p:nvSpPr>
          <p:spPr bwMode="auto">
            <a:xfrm>
              <a:off x="960" y="1776"/>
              <a:ext cx="193" cy="36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600" dirty="0" smtClean="0">
                  <a:latin typeface="Tahoma" pitchFamily="34" charset="0"/>
                </a:rPr>
                <a:t>B</a:t>
              </a:r>
              <a:endParaRPr kumimoji="1" lang="en-US" altLang="zh-CN" sz="1600" dirty="0">
                <a:latin typeface="Tahoma" pitchFamily="34" charset="0"/>
              </a:endParaRPr>
            </a:p>
            <a:p>
              <a:pPr eaLnBrk="1" hangingPunct="1"/>
              <a:r>
                <a:rPr kumimoji="1" lang="en-US" altLang="zh-CN" sz="1600" dirty="0" smtClean="0">
                  <a:latin typeface="Tahoma" pitchFamily="34" charset="0"/>
                </a:rPr>
                <a:t>A</a:t>
              </a:r>
              <a:endParaRPr kumimoji="1" lang="en-US" altLang="zh-CN" sz="1600" dirty="0">
                <a:latin typeface="Tahoma" pitchFamily="34" charset="0"/>
              </a:endParaRPr>
            </a:p>
          </p:txBody>
        </p:sp>
      </p:grpSp>
      <p:graphicFrame>
        <p:nvGraphicFramePr>
          <p:cNvPr id="120" name="对象 119"/>
          <p:cNvGraphicFramePr>
            <a:graphicFrameLocks noChangeAspect="1"/>
          </p:cNvGraphicFramePr>
          <p:nvPr/>
        </p:nvGraphicFramePr>
        <p:xfrm>
          <a:off x="3505200" y="1200150"/>
          <a:ext cx="2590800" cy="2447607"/>
        </p:xfrm>
        <a:graphic>
          <a:graphicData uri="http://schemas.openxmlformats.org/presentationml/2006/ole">
            <p:oleObj spid="_x0000_s21506" name="Visio" r:id="rId4" imgW="1990401" imgH="1494511" progId="Visio.Drawing.11">
              <p:embed/>
            </p:oleObj>
          </a:graphicData>
        </a:graphic>
      </p:graphicFrame>
      <p:sp>
        <p:nvSpPr>
          <p:cNvPr id="121" name="TextBox 120"/>
          <p:cNvSpPr txBox="1"/>
          <p:nvPr/>
        </p:nvSpPr>
        <p:spPr>
          <a:xfrm>
            <a:off x="4572000" y="89535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表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2" name="Text Box 5"/>
          <p:cNvSpPr txBox="1">
            <a:spLocks noChangeArrowheads="1"/>
          </p:cNvSpPr>
          <p:nvPr/>
        </p:nvSpPr>
        <p:spPr bwMode="auto">
          <a:xfrm>
            <a:off x="2362200" y="3638550"/>
            <a:ext cx="914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  <a:buFont typeface="Wingdings" pitchFamily="2" charset="2"/>
              <a:buChar char="l"/>
            </a:pPr>
            <a:endParaRPr kumimoji="1"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b="1" dirty="0" smtClean="0">
                <a:latin typeface="微软雅黑" pitchFamily="34" charset="-122"/>
                <a:ea typeface="微软雅黑" pitchFamily="34" charset="-122"/>
              </a:rPr>
              <a:t>译码器</a:t>
            </a:r>
            <a:endParaRPr kumimoji="1"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3" name="Text Box 5"/>
          <p:cNvSpPr txBox="1">
            <a:spLocks noChangeArrowheads="1"/>
          </p:cNvSpPr>
          <p:nvPr/>
        </p:nvSpPr>
        <p:spPr bwMode="auto">
          <a:xfrm>
            <a:off x="3200400" y="3714750"/>
            <a:ext cx="34290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b="1" dirty="0" smtClean="0">
                <a:latin typeface="微软雅黑" pitchFamily="34" charset="-122"/>
                <a:ea typeface="微软雅黑" pitchFamily="34" charset="-122"/>
              </a:rPr>
              <a:t>最小项生成器，输出信号中只有一个有效信号，其余的输出信号为无效信号。</a:t>
            </a:r>
            <a:endParaRPr kumimoji="1" lang="en-US" altLang="zh-CN" b="1" dirty="0" smtClean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2552385" y="1322322"/>
          <a:ext cx="579438" cy="304800"/>
        </p:xfrm>
        <a:graphic>
          <a:graphicData uri="http://schemas.openxmlformats.org/presentationml/2006/ole">
            <p:oleObj spid="_x0000_s21507" name="Equation" r:id="rId5" imgW="482400" imgH="253800" progId="Equation.DSMT4">
              <p:embed/>
            </p:oleObj>
          </a:graphicData>
        </a:graphic>
      </p:graphicFrame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2415729" y="1276350"/>
            <a:ext cx="184731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kumimoji="1" lang="en-US" altLang="zh-CN" sz="1600" dirty="0">
              <a:latin typeface="Tahoma" pitchFamily="34" charset="0"/>
            </a:endParaRPr>
          </a:p>
        </p:txBody>
      </p:sp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2430843" y="1885950"/>
            <a:ext cx="184731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kumimoji="1" lang="en-US" altLang="zh-CN" sz="1600" dirty="0">
              <a:latin typeface="Tahoma" pitchFamily="34" charset="0"/>
            </a:endParaRPr>
          </a:p>
        </p:txBody>
      </p:sp>
      <p:sp>
        <p:nvSpPr>
          <p:cNvPr id="25" name="Text Box 5"/>
          <p:cNvSpPr txBox="1">
            <a:spLocks noChangeArrowheads="1"/>
          </p:cNvSpPr>
          <p:nvPr/>
        </p:nvSpPr>
        <p:spPr bwMode="auto">
          <a:xfrm>
            <a:off x="2423286" y="2495550"/>
            <a:ext cx="184731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kumimoji="1" lang="en-US" altLang="zh-CN" sz="1600" dirty="0">
              <a:latin typeface="Tahoma" pitchFamily="34" charset="0"/>
            </a:endParaRPr>
          </a:p>
        </p:txBody>
      </p:sp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2438400" y="3105150"/>
            <a:ext cx="184731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kumimoji="1" lang="en-US" altLang="zh-CN" sz="1600" dirty="0">
              <a:latin typeface="Tahoma" pitchFamily="34" charset="0"/>
            </a:endParaRPr>
          </a:p>
        </p:txBody>
      </p:sp>
      <p:graphicFrame>
        <p:nvGraphicFramePr>
          <p:cNvPr id="21508" name="Object 3"/>
          <p:cNvGraphicFramePr>
            <a:graphicFrameLocks noChangeAspect="1"/>
          </p:cNvGraphicFramePr>
          <p:nvPr/>
        </p:nvGraphicFramePr>
        <p:xfrm>
          <a:off x="2552385" y="1870836"/>
          <a:ext cx="547688" cy="304800"/>
        </p:xfrm>
        <a:graphic>
          <a:graphicData uri="http://schemas.openxmlformats.org/presentationml/2006/ole">
            <p:oleObj spid="_x0000_s21508" name="Equation" r:id="rId6" imgW="457200" imgH="253800" progId="Equation.DSMT4">
              <p:embed/>
            </p:oleObj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2552385" y="2411793"/>
          <a:ext cx="579438" cy="304800"/>
        </p:xfrm>
        <a:graphic>
          <a:graphicData uri="http://schemas.openxmlformats.org/presentationml/2006/ole">
            <p:oleObj spid="_x0000_s21509" name="Equation" r:id="rId7" imgW="482400" imgH="253800" progId="Equation.DSMT4">
              <p:embed/>
            </p:oleObj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2552385" y="3082479"/>
          <a:ext cx="565150" cy="228600"/>
        </p:xfrm>
        <a:graphic>
          <a:graphicData uri="http://schemas.openxmlformats.org/presentationml/2006/ole">
            <p:oleObj spid="_x0000_s21510" name="Equation" r:id="rId8" imgW="469800" imgH="190440" progId="Equation.DSMT4">
              <p:embed/>
            </p:oleObj>
          </a:graphicData>
        </a:graphic>
      </p:graphicFrame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304800" y="5143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286000" y="1428750"/>
            <a:ext cx="152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286000" y="1962150"/>
            <a:ext cx="152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286000" y="2571750"/>
            <a:ext cx="152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2286000" y="3105150"/>
            <a:ext cx="152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1511" name="Object 3"/>
          <p:cNvGraphicFramePr>
            <a:graphicFrameLocks noChangeAspect="1"/>
          </p:cNvGraphicFramePr>
          <p:nvPr/>
        </p:nvGraphicFramePr>
        <p:xfrm>
          <a:off x="2286000" y="1352550"/>
          <a:ext cx="290512" cy="334963"/>
        </p:xfrm>
        <a:graphic>
          <a:graphicData uri="http://schemas.openxmlformats.org/presentationml/2006/ole">
            <p:oleObj spid="_x0000_s21511" name="Equation" r:id="rId9" imgW="241200" imgH="279360" progId="Equation.DSMT4">
              <p:embed/>
            </p:oleObj>
          </a:graphicData>
        </a:graphic>
      </p:graphicFrame>
      <p:graphicFrame>
        <p:nvGraphicFramePr>
          <p:cNvPr id="21512" name="Object 3"/>
          <p:cNvGraphicFramePr>
            <a:graphicFrameLocks noChangeAspect="1"/>
          </p:cNvGraphicFramePr>
          <p:nvPr/>
        </p:nvGraphicFramePr>
        <p:xfrm>
          <a:off x="2292350" y="1885950"/>
          <a:ext cx="276225" cy="334963"/>
        </p:xfrm>
        <a:graphic>
          <a:graphicData uri="http://schemas.openxmlformats.org/presentationml/2006/ole">
            <p:oleObj spid="_x0000_s21512" name="Equation" r:id="rId10" imgW="228600" imgH="279360" progId="Equation.DSMT4">
              <p:embed/>
            </p:oleObj>
          </a:graphicData>
        </a:graphic>
      </p:graphicFrame>
      <p:graphicFrame>
        <p:nvGraphicFramePr>
          <p:cNvPr id="21513" name="Object 3"/>
          <p:cNvGraphicFramePr>
            <a:graphicFrameLocks noChangeAspect="1"/>
          </p:cNvGraphicFramePr>
          <p:nvPr/>
        </p:nvGraphicFramePr>
        <p:xfrm>
          <a:off x="2279650" y="2441575"/>
          <a:ext cx="304800" cy="334963"/>
        </p:xfrm>
        <a:graphic>
          <a:graphicData uri="http://schemas.openxmlformats.org/presentationml/2006/ole">
            <p:oleObj spid="_x0000_s21513" name="Equation" r:id="rId11" imgW="253800" imgH="279360" progId="Equation.DSMT4">
              <p:embed/>
            </p:oleObj>
          </a:graphicData>
        </a:graphic>
      </p:graphicFrame>
      <p:graphicFrame>
        <p:nvGraphicFramePr>
          <p:cNvPr id="21514" name="Object 3"/>
          <p:cNvGraphicFramePr>
            <a:graphicFrameLocks noChangeAspect="1"/>
          </p:cNvGraphicFramePr>
          <p:nvPr/>
        </p:nvGraphicFramePr>
        <p:xfrm>
          <a:off x="2286000" y="3028950"/>
          <a:ext cx="290513" cy="334963"/>
        </p:xfrm>
        <a:graphic>
          <a:graphicData uri="http://schemas.openxmlformats.org/presentationml/2006/ole">
            <p:oleObj spid="_x0000_s21514" name="Equation" r:id="rId12" imgW="241200" imgH="279360" progId="Equation.DSMT4">
              <p:embed/>
            </p:oleObj>
          </a:graphicData>
        </a:graphic>
      </p:graphicFrame>
      <p:grpSp>
        <p:nvGrpSpPr>
          <p:cNvPr id="37" name="组合 36"/>
          <p:cNvGrpSpPr/>
          <p:nvPr/>
        </p:nvGrpSpPr>
        <p:grpSpPr>
          <a:xfrm>
            <a:off x="6324600" y="1123950"/>
            <a:ext cx="2454275" cy="2295525"/>
            <a:chOff x="6324600" y="1123950"/>
            <a:chExt cx="2454275" cy="2295525"/>
          </a:xfrm>
        </p:grpSpPr>
        <p:pic>
          <p:nvPicPr>
            <p:cNvPr id="20" name="Picture 17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6477000" y="1123950"/>
              <a:ext cx="2171700" cy="2295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9" name="Text Box 5"/>
            <p:cNvSpPr txBox="1">
              <a:spLocks noChangeArrowheads="1"/>
            </p:cNvSpPr>
            <p:nvPr/>
          </p:nvSpPr>
          <p:spPr bwMode="auto">
            <a:xfrm>
              <a:off x="6324600" y="1123950"/>
              <a:ext cx="306388" cy="58102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600" dirty="0" smtClean="0">
                  <a:latin typeface="Tahoma" pitchFamily="34" charset="0"/>
                </a:rPr>
                <a:t>B</a:t>
              </a:r>
              <a:endParaRPr kumimoji="1" lang="en-US" altLang="zh-CN" sz="1600" dirty="0">
                <a:latin typeface="Tahoma" pitchFamily="34" charset="0"/>
              </a:endParaRPr>
            </a:p>
            <a:p>
              <a:pPr eaLnBrk="1" hangingPunct="1"/>
              <a:r>
                <a:rPr kumimoji="1" lang="en-US" altLang="zh-CN" sz="1600" dirty="0" smtClean="0">
                  <a:latin typeface="Tahoma" pitchFamily="34" charset="0"/>
                </a:rPr>
                <a:t>A</a:t>
              </a:r>
              <a:endParaRPr kumimoji="1" lang="en-US" altLang="zh-CN" sz="1600" dirty="0">
                <a:latin typeface="Tahoma" pitchFamily="34" charset="0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8382000" y="1276350"/>
              <a:ext cx="228600" cy="22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8435529" y="1863279"/>
              <a:ext cx="228600" cy="22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8435529" y="2419350"/>
              <a:ext cx="228600" cy="22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8450643" y="2945193"/>
              <a:ext cx="228600" cy="22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1515" name="Object 3"/>
            <p:cNvGraphicFramePr>
              <a:graphicFrameLocks noChangeAspect="1"/>
            </p:cNvGraphicFramePr>
            <p:nvPr/>
          </p:nvGraphicFramePr>
          <p:xfrm>
            <a:off x="8459788" y="1200150"/>
            <a:ext cx="319087" cy="381000"/>
          </p:xfrm>
          <a:graphic>
            <a:graphicData uri="http://schemas.openxmlformats.org/presentationml/2006/ole">
              <p:oleObj spid="_x0000_s21515" name="Equation" r:id="rId14" imgW="266400" imgH="317160" progId="Equation.DSMT4">
                <p:embed/>
              </p:oleObj>
            </a:graphicData>
          </a:graphic>
        </p:graphicFrame>
        <p:graphicFrame>
          <p:nvGraphicFramePr>
            <p:cNvPr id="21516" name="Object 12"/>
            <p:cNvGraphicFramePr>
              <a:graphicFrameLocks noChangeAspect="1"/>
            </p:cNvGraphicFramePr>
            <p:nvPr/>
          </p:nvGraphicFramePr>
          <p:xfrm>
            <a:off x="8474075" y="1758950"/>
            <a:ext cx="288925" cy="381000"/>
          </p:xfrm>
          <a:graphic>
            <a:graphicData uri="http://schemas.openxmlformats.org/presentationml/2006/ole">
              <p:oleObj spid="_x0000_s21516" name="Equation" r:id="rId15" imgW="241200" imgH="317160" progId="Equation.DSMT4">
                <p:embed/>
              </p:oleObj>
            </a:graphicData>
          </a:graphic>
        </p:graphicFrame>
        <p:graphicFrame>
          <p:nvGraphicFramePr>
            <p:cNvPr id="21517" name="Object 13"/>
            <p:cNvGraphicFramePr>
              <a:graphicFrameLocks noChangeAspect="1"/>
            </p:cNvGraphicFramePr>
            <p:nvPr/>
          </p:nvGraphicFramePr>
          <p:xfrm>
            <a:off x="8458200" y="2317750"/>
            <a:ext cx="320675" cy="381000"/>
          </p:xfrm>
          <a:graphic>
            <a:graphicData uri="http://schemas.openxmlformats.org/presentationml/2006/ole">
              <p:oleObj spid="_x0000_s21517" name="Equation" r:id="rId16" imgW="266400" imgH="317160" progId="Equation.DSMT4">
                <p:embed/>
              </p:oleObj>
            </a:graphicData>
          </a:graphic>
        </p:graphicFrame>
        <p:graphicFrame>
          <p:nvGraphicFramePr>
            <p:cNvPr id="21518" name="Object 14"/>
            <p:cNvGraphicFramePr>
              <a:graphicFrameLocks noChangeAspect="1"/>
            </p:cNvGraphicFramePr>
            <p:nvPr/>
          </p:nvGraphicFramePr>
          <p:xfrm>
            <a:off x="8458200" y="2876550"/>
            <a:ext cx="320675" cy="381000"/>
          </p:xfrm>
          <a:graphic>
            <a:graphicData uri="http://schemas.openxmlformats.org/presentationml/2006/ole">
              <p:oleObj spid="_x0000_s21518" name="Equation" r:id="rId17" imgW="266400" imgH="317160" progId="Equation.DSMT4">
                <p:embed/>
              </p:oleObj>
            </a:graphicData>
          </a:graphic>
        </p:graphicFrame>
      </p:grpSp>
      <p:sp>
        <p:nvSpPr>
          <p:cNvPr id="38" name="Text Box 90"/>
          <p:cNvSpPr txBox="1">
            <a:spLocks noChangeArrowheads="1"/>
          </p:cNvSpPr>
          <p:nvPr/>
        </p:nvSpPr>
        <p:spPr bwMode="auto">
          <a:xfrm>
            <a:off x="990600" y="3638550"/>
            <a:ext cx="50206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600" dirty="0" smtClean="0">
                <a:latin typeface="Tahoma" pitchFamily="34" charset="0"/>
                <a:ea typeface="黑体" pitchFamily="49" charset="-122"/>
              </a:rPr>
              <a:t>图</a:t>
            </a:r>
            <a:r>
              <a:rPr kumimoji="1" lang="en-US" altLang="zh-CN" sz="1600" dirty="0" smtClean="0">
                <a:latin typeface="Tahoma" pitchFamily="34" charset="0"/>
                <a:ea typeface="黑体" pitchFamily="49" charset="-122"/>
              </a:rPr>
              <a:t>4</a:t>
            </a:r>
            <a:endParaRPr kumimoji="1" lang="zh-CN" altLang="en-US" sz="1600" dirty="0">
              <a:latin typeface="Tahoma" pitchFamily="34" charset="0"/>
              <a:ea typeface="黑体" pitchFamily="49" charset="-122"/>
            </a:endParaRPr>
          </a:p>
        </p:txBody>
      </p:sp>
      <p:sp>
        <p:nvSpPr>
          <p:cNvPr id="39" name="Text Box 90"/>
          <p:cNvSpPr txBox="1">
            <a:spLocks noChangeArrowheads="1"/>
          </p:cNvSpPr>
          <p:nvPr/>
        </p:nvSpPr>
        <p:spPr bwMode="auto">
          <a:xfrm>
            <a:off x="7239000" y="3409950"/>
            <a:ext cx="50206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600" dirty="0" smtClean="0">
                <a:latin typeface="Tahoma" pitchFamily="34" charset="0"/>
                <a:ea typeface="黑体" pitchFamily="49" charset="-122"/>
              </a:rPr>
              <a:t>图</a:t>
            </a:r>
            <a:r>
              <a:rPr kumimoji="1" lang="en-US" altLang="zh-CN" sz="1600" dirty="0" smtClean="0">
                <a:latin typeface="Tahoma" pitchFamily="34" charset="0"/>
                <a:ea typeface="黑体" pitchFamily="49" charset="-122"/>
              </a:rPr>
              <a:t>5</a:t>
            </a:r>
            <a:endParaRPr kumimoji="1" lang="zh-CN" altLang="en-US" sz="1600" dirty="0">
              <a:latin typeface="Tahoma" pitchFamily="34" charset="0"/>
              <a:ea typeface="黑体" pitchFamily="49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-85703" y="0"/>
            <a:ext cx="32431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：组合逻辑分析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  <p:bldP spid="122" grpId="0"/>
      <p:bldP spid="123" grpId="0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4"/>
          <p:cNvSpPr>
            <a:spLocks noChangeArrowheads="1"/>
          </p:cNvSpPr>
          <p:nvPr/>
        </p:nvSpPr>
        <p:spPr bwMode="auto">
          <a:xfrm>
            <a:off x="304800" y="5143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0" name="对象 119"/>
          <p:cNvGraphicFramePr>
            <a:graphicFrameLocks noChangeAspect="1"/>
          </p:cNvGraphicFramePr>
          <p:nvPr/>
        </p:nvGraphicFramePr>
        <p:xfrm>
          <a:off x="3581400" y="1733550"/>
          <a:ext cx="2590800" cy="2447607"/>
        </p:xfrm>
        <a:graphic>
          <a:graphicData uri="http://schemas.openxmlformats.org/presentationml/2006/ole">
            <p:oleObj spid="_x0000_s22530" name="Visio" r:id="rId3" imgW="1990401" imgH="1494511" progId="Visio.Drawing.11">
              <p:embed/>
            </p:oleObj>
          </a:graphicData>
        </a:graphic>
      </p:graphicFrame>
      <p:sp>
        <p:nvSpPr>
          <p:cNvPr id="121" name="TextBox 120"/>
          <p:cNvSpPr txBox="1"/>
          <p:nvPr/>
        </p:nvSpPr>
        <p:spPr>
          <a:xfrm>
            <a:off x="4267200" y="150495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表 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2" name="Text Box 5"/>
          <p:cNvSpPr txBox="1">
            <a:spLocks noChangeArrowheads="1"/>
          </p:cNvSpPr>
          <p:nvPr/>
        </p:nvSpPr>
        <p:spPr bwMode="auto">
          <a:xfrm>
            <a:off x="6705600" y="742950"/>
            <a:ext cx="2286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  <a:buFont typeface="Wingdings" pitchFamily="2" charset="2"/>
              <a:buChar char="l"/>
            </a:pPr>
            <a:endParaRPr kumimoji="1"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b="1" dirty="0" smtClean="0">
                <a:latin typeface="微软雅黑" pitchFamily="34" charset="-122"/>
                <a:ea typeface="微软雅黑" pitchFamily="34" charset="-122"/>
              </a:rPr>
              <a:t>数据选择器</a:t>
            </a:r>
            <a:r>
              <a:rPr kumimoji="1" lang="en-US" altLang="zh-CN" b="1" dirty="0" smtClean="0">
                <a:latin typeface="微软雅黑" pitchFamily="34" charset="-122"/>
                <a:ea typeface="微软雅黑" pitchFamily="34" charset="-122"/>
              </a:rPr>
              <a:t>(MUX)</a:t>
            </a:r>
            <a:endParaRPr kumimoji="1"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Rectangle 1055"/>
          <p:cNvSpPr>
            <a:spLocks noChangeArrowheads="1"/>
          </p:cNvSpPr>
          <p:nvPr/>
        </p:nvSpPr>
        <p:spPr bwMode="auto">
          <a:xfrm>
            <a:off x="1600200" y="3867150"/>
            <a:ext cx="381000" cy="228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457200" y="895350"/>
            <a:ext cx="2716854" cy="3848415"/>
            <a:chOff x="281430" y="1108206"/>
            <a:chExt cx="2716854" cy="3848415"/>
          </a:xfrm>
        </p:grpSpPr>
        <p:grpSp>
          <p:nvGrpSpPr>
            <p:cNvPr id="24" name="Group 1056"/>
            <p:cNvGrpSpPr>
              <a:grpSpLocks/>
            </p:cNvGrpSpPr>
            <p:nvPr/>
          </p:nvGrpSpPr>
          <p:grpSpPr bwMode="auto">
            <a:xfrm>
              <a:off x="381000" y="1200150"/>
              <a:ext cx="2514600" cy="3048000"/>
              <a:chOff x="703" y="1706"/>
              <a:chExt cx="1920" cy="1968"/>
            </a:xfrm>
          </p:grpSpPr>
          <p:pic>
            <p:nvPicPr>
              <p:cNvPr id="25" name="Picture 1029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703" y="1706"/>
                <a:ext cx="1920" cy="19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6" name="Rectangle 1055"/>
              <p:cNvSpPr>
                <a:spLocks noChangeArrowheads="1"/>
              </p:cNvSpPr>
              <p:nvPr/>
            </p:nvSpPr>
            <p:spPr bwMode="auto">
              <a:xfrm>
                <a:off x="1632" y="3456"/>
                <a:ext cx="240" cy="14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7" name="Text Box 1057"/>
            <p:cNvSpPr txBox="1">
              <a:spLocks noChangeArrowheads="1"/>
            </p:cNvSpPr>
            <p:nvPr/>
          </p:nvSpPr>
          <p:spPr bwMode="auto">
            <a:xfrm>
              <a:off x="281430" y="1108206"/>
              <a:ext cx="407484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>
                  <a:latin typeface="+mj-lt"/>
                </a:rPr>
                <a:t>D</a:t>
              </a:r>
              <a:r>
                <a:rPr kumimoji="1" lang="en-US" altLang="zh-CN" sz="1600" baseline="-25000" dirty="0">
                  <a:latin typeface="+mj-lt"/>
                </a:rPr>
                <a:t>0</a:t>
              </a: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28" name="Text Box 1057"/>
            <p:cNvSpPr txBox="1">
              <a:spLocks noChangeArrowheads="1"/>
            </p:cNvSpPr>
            <p:nvPr/>
          </p:nvSpPr>
          <p:spPr bwMode="auto">
            <a:xfrm>
              <a:off x="281430" y="1580520"/>
              <a:ext cx="407484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D</a:t>
              </a:r>
              <a:r>
                <a:rPr kumimoji="1" lang="en-US" altLang="zh-CN" sz="1600" baseline="-25000" dirty="0" smtClean="0">
                  <a:latin typeface="+mj-lt"/>
                </a:rPr>
                <a:t>1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29" name="Text Box 1057"/>
            <p:cNvSpPr txBox="1">
              <a:spLocks noChangeArrowheads="1"/>
            </p:cNvSpPr>
            <p:nvPr/>
          </p:nvSpPr>
          <p:spPr bwMode="auto">
            <a:xfrm>
              <a:off x="281430" y="2022606"/>
              <a:ext cx="407484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D</a:t>
              </a:r>
              <a:r>
                <a:rPr kumimoji="1" lang="en-US" altLang="zh-CN" sz="1600" baseline="-25000" dirty="0" smtClean="0">
                  <a:latin typeface="+mj-lt"/>
                </a:rPr>
                <a:t>2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30" name="Text Box 1057"/>
            <p:cNvSpPr txBox="1">
              <a:spLocks noChangeArrowheads="1"/>
            </p:cNvSpPr>
            <p:nvPr/>
          </p:nvSpPr>
          <p:spPr bwMode="auto">
            <a:xfrm>
              <a:off x="281430" y="2472249"/>
              <a:ext cx="407484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D</a:t>
              </a:r>
              <a:r>
                <a:rPr kumimoji="1" lang="en-US" altLang="zh-CN" sz="1600" baseline="-25000" dirty="0" smtClean="0">
                  <a:latin typeface="+mj-lt"/>
                </a:rPr>
                <a:t>3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31" name="Text Box 1057"/>
            <p:cNvSpPr txBox="1">
              <a:spLocks noChangeArrowheads="1"/>
            </p:cNvSpPr>
            <p:nvPr/>
          </p:nvSpPr>
          <p:spPr bwMode="auto">
            <a:xfrm>
              <a:off x="1119630" y="3920049"/>
              <a:ext cx="407484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B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32" name="Text Box 1057"/>
            <p:cNvSpPr txBox="1">
              <a:spLocks noChangeArrowheads="1"/>
            </p:cNvSpPr>
            <p:nvPr/>
          </p:nvSpPr>
          <p:spPr bwMode="auto">
            <a:xfrm>
              <a:off x="810456" y="3928647"/>
              <a:ext cx="407484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A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33" name="Text Box 1057"/>
            <p:cNvSpPr txBox="1">
              <a:spLocks noChangeArrowheads="1"/>
            </p:cNvSpPr>
            <p:nvPr/>
          </p:nvSpPr>
          <p:spPr bwMode="auto">
            <a:xfrm>
              <a:off x="2590800" y="1962150"/>
              <a:ext cx="407484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Y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</p:grpSp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2743200" y="971550"/>
          <a:ext cx="3779423" cy="381000"/>
        </p:xfrm>
        <a:graphic>
          <a:graphicData uri="http://schemas.openxmlformats.org/presentationml/2006/ole">
            <p:oleObj spid="_x0000_s22531" name="Equation" r:id="rId5" imgW="3149280" imgH="317160" progId="Equation.DSMT4">
              <p:embed/>
            </p:oleObj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6477000" y="1352550"/>
          <a:ext cx="2443163" cy="2274888"/>
        </p:xfrm>
        <a:graphic>
          <a:graphicData uri="http://schemas.openxmlformats.org/presentationml/2006/ole">
            <p:oleObj spid="_x0000_s22532" name="Visio" r:id="rId6" imgW="2295329" imgH="2195410" progId="Visio.Drawing.11">
              <p:embed/>
            </p:oleObj>
          </a:graphicData>
        </a:graphic>
      </p:graphicFrame>
      <p:sp>
        <p:nvSpPr>
          <p:cNvPr id="21" name="Text Box 90"/>
          <p:cNvSpPr txBox="1">
            <a:spLocks noChangeArrowheads="1"/>
          </p:cNvSpPr>
          <p:nvPr/>
        </p:nvSpPr>
        <p:spPr bwMode="auto">
          <a:xfrm>
            <a:off x="990600" y="4171950"/>
            <a:ext cx="50206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600" dirty="0" smtClean="0">
                <a:latin typeface="Tahoma" pitchFamily="34" charset="0"/>
                <a:ea typeface="黑体" pitchFamily="49" charset="-122"/>
              </a:rPr>
              <a:t>图</a:t>
            </a:r>
            <a:r>
              <a:rPr kumimoji="1" lang="en-US" altLang="zh-CN" sz="1600" dirty="0" smtClean="0">
                <a:latin typeface="Tahoma" pitchFamily="34" charset="0"/>
                <a:ea typeface="黑体" pitchFamily="49" charset="-122"/>
              </a:rPr>
              <a:t>6</a:t>
            </a:r>
            <a:endParaRPr kumimoji="1" lang="zh-CN" altLang="en-US" sz="1600" dirty="0">
              <a:latin typeface="Tahoma" pitchFamily="34" charset="0"/>
              <a:ea typeface="黑体" pitchFamily="49" charset="-122"/>
            </a:endParaRPr>
          </a:p>
        </p:txBody>
      </p:sp>
      <p:sp>
        <p:nvSpPr>
          <p:cNvPr id="22" name="Text Box 90"/>
          <p:cNvSpPr txBox="1">
            <a:spLocks noChangeArrowheads="1"/>
          </p:cNvSpPr>
          <p:nvPr/>
        </p:nvSpPr>
        <p:spPr bwMode="auto">
          <a:xfrm>
            <a:off x="7620000" y="3790950"/>
            <a:ext cx="50206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600" dirty="0" smtClean="0">
                <a:latin typeface="Tahoma" pitchFamily="34" charset="0"/>
                <a:ea typeface="黑体" pitchFamily="49" charset="-122"/>
              </a:rPr>
              <a:t>图</a:t>
            </a:r>
            <a:r>
              <a:rPr kumimoji="1" lang="en-US" altLang="zh-CN" sz="1600" dirty="0" smtClean="0">
                <a:latin typeface="Tahoma" pitchFamily="34" charset="0"/>
                <a:ea typeface="黑体" pitchFamily="49" charset="-122"/>
              </a:rPr>
              <a:t>7</a:t>
            </a:r>
            <a:endParaRPr kumimoji="1" lang="zh-CN" altLang="en-US" sz="1600" dirty="0">
              <a:latin typeface="Tahoma" pitchFamily="34" charset="0"/>
              <a:ea typeface="黑体" pitchFamily="49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-85703" y="0"/>
            <a:ext cx="32431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：组合逻辑分析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  <p:bldP spid="122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Box 5"/>
          <p:cNvSpPr txBox="1">
            <a:spLocks noChangeArrowheads="1"/>
          </p:cNvSpPr>
          <p:nvPr/>
        </p:nvSpPr>
        <p:spPr bwMode="auto">
          <a:xfrm>
            <a:off x="457200" y="590550"/>
            <a:ext cx="28956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  <a:buFont typeface="Wingdings" pitchFamily="2" charset="2"/>
              <a:buChar char="l"/>
            </a:pPr>
            <a:endParaRPr kumimoji="1"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b="1" dirty="0" smtClean="0">
                <a:latin typeface="微软雅黑" pitchFamily="34" charset="-122"/>
                <a:ea typeface="微软雅黑" pitchFamily="34" charset="-122"/>
              </a:rPr>
              <a:t>数据选择</a:t>
            </a:r>
            <a:r>
              <a:rPr kumimoji="1" lang="en-US" altLang="zh-CN" b="1" dirty="0" smtClean="0">
                <a:latin typeface="微软雅黑" pitchFamily="34" charset="-122"/>
                <a:ea typeface="微软雅黑" pitchFamily="34" charset="-122"/>
              </a:rPr>
              <a:t>(MUX):  </a:t>
            </a:r>
            <a:r>
              <a:rPr kumimoji="1" lang="zh-CN" altLang="en-US" b="1" dirty="0" smtClean="0">
                <a:latin typeface="微软雅黑" pitchFamily="34" charset="-122"/>
                <a:ea typeface="微软雅黑" pitchFamily="34" charset="-122"/>
              </a:rPr>
              <a:t>二选一</a:t>
            </a:r>
            <a:endParaRPr kumimoji="1"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Rectangle 1055"/>
          <p:cNvSpPr>
            <a:spLocks noChangeArrowheads="1"/>
          </p:cNvSpPr>
          <p:nvPr/>
        </p:nvSpPr>
        <p:spPr bwMode="auto">
          <a:xfrm>
            <a:off x="1600200" y="3867150"/>
            <a:ext cx="381000" cy="228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1524000" y="1428750"/>
          <a:ext cx="2443163" cy="2274888"/>
        </p:xfrm>
        <a:graphic>
          <a:graphicData uri="http://schemas.openxmlformats.org/presentationml/2006/ole">
            <p:oleObj spid="_x0000_s23556" name="Visio" r:id="rId3" imgW="2295329" imgH="2195410" progId="Visio.Drawing.11">
              <p:embed/>
            </p:oleObj>
          </a:graphicData>
        </a:graphic>
      </p:graphicFrame>
      <p:graphicFrame>
        <p:nvGraphicFramePr>
          <p:cNvPr id="23557" name="Object 3"/>
          <p:cNvGraphicFramePr>
            <a:graphicFrameLocks noChangeAspect="1"/>
          </p:cNvGraphicFramePr>
          <p:nvPr/>
        </p:nvGraphicFramePr>
        <p:xfrm>
          <a:off x="6089650" y="2084388"/>
          <a:ext cx="1843088" cy="379412"/>
        </p:xfrm>
        <a:graphic>
          <a:graphicData uri="http://schemas.openxmlformats.org/presentationml/2006/ole">
            <p:oleObj spid="_x0000_s23557" name="Equation" r:id="rId4" imgW="1536480" imgH="317160" progId="Equation.DSMT4">
              <p:embed/>
            </p:oleObj>
          </a:graphicData>
        </a:graphic>
      </p:graphicFrame>
      <p:graphicFrame>
        <p:nvGraphicFramePr>
          <p:cNvPr id="23558" name="Object 3"/>
          <p:cNvGraphicFramePr>
            <a:graphicFrameLocks noChangeAspect="1"/>
          </p:cNvGraphicFramePr>
          <p:nvPr/>
        </p:nvGraphicFramePr>
        <p:xfrm>
          <a:off x="4297363" y="1574800"/>
          <a:ext cx="1341437" cy="334963"/>
        </p:xfrm>
        <a:graphic>
          <a:graphicData uri="http://schemas.openxmlformats.org/presentationml/2006/ole">
            <p:oleObj spid="_x0000_s23558" name="Equation" r:id="rId5" imgW="1117440" imgH="279360" progId="Equation.DSMT4">
              <p:embed/>
            </p:oleObj>
          </a:graphicData>
        </a:graphic>
      </p:graphicFrame>
      <p:graphicFrame>
        <p:nvGraphicFramePr>
          <p:cNvPr id="23559" name="Object 3"/>
          <p:cNvGraphicFramePr>
            <a:graphicFrameLocks noChangeAspect="1"/>
          </p:cNvGraphicFramePr>
          <p:nvPr/>
        </p:nvGraphicFramePr>
        <p:xfrm>
          <a:off x="4313238" y="2778125"/>
          <a:ext cx="1265237" cy="333375"/>
        </p:xfrm>
        <a:graphic>
          <a:graphicData uri="http://schemas.openxmlformats.org/presentationml/2006/ole">
            <p:oleObj spid="_x0000_s23559" name="Equation" r:id="rId6" imgW="1054080" imgH="279360" progId="Equation.DSMT4">
              <p:embed/>
            </p:oleObj>
          </a:graphicData>
        </a:graphic>
      </p:graphicFrame>
      <p:sp>
        <p:nvSpPr>
          <p:cNvPr id="24" name="右大括号 23"/>
          <p:cNvSpPr/>
          <p:nvPr/>
        </p:nvSpPr>
        <p:spPr>
          <a:xfrm>
            <a:off x="5638800" y="1657350"/>
            <a:ext cx="381000" cy="12954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 Box 90"/>
          <p:cNvSpPr txBox="1">
            <a:spLocks noChangeArrowheads="1"/>
          </p:cNvSpPr>
          <p:nvPr/>
        </p:nvSpPr>
        <p:spPr bwMode="auto">
          <a:xfrm>
            <a:off x="2438400" y="3562350"/>
            <a:ext cx="50206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600" dirty="0" smtClean="0">
                <a:latin typeface="Tahoma" pitchFamily="34" charset="0"/>
                <a:ea typeface="黑体" pitchFamily="49" charset="-122"/>
              </a:rPr>
              <a:t>图</a:t>
            </a:r>
            <a:r>
              <a:rPr kumimoji="1" lang="en-US" altLang="zh-CN" sz="1600" dirty="0" smtClean="0">
                <a:latin typeface="Tahoma" pitchFamily="34" charset="0"/>
                <a:ea typeface="黑体" pitchFamily="49" charset="-122"/>
              </a:rPr>
              <a:t>8</a:t>
            </a:r>
            <a:endParaRPr kumimoji="1" lang="zh-CN" altLang="en-US" sz="1600" dirty="0">
              <a:latin typeface="Tahoma" pitchFamily="34" charset="0"/>
              <a:ea typeface="黑体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-85703" y="0"/>
            <a:ext cx="32431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：组合逻辑分析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4"/>
          <p:cNvSpPr>
            <a:spLocks noChangeArrowheads="1"/>
          </p:cNvSpPr>
          <p:nvPr/>
        </p:nvSpPr>
        <p:spPr bwMode="auto">
          <a:xfrm>
            <a:off x="0" y="5143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34"/>
          <p:cNvGrpSpPr/>
          <p:nvPr/>
        </p:nvGrpSpPr>
        <p:grpSpPr>
          <a:xfrm>
            <a:off x="0" y="971550"/>
            <a:ext cx="3131757" cy="3938688"/>
            <a:chOff x="99501" y="971550"/>
            <a:chExt cx="3131757" cy="3938688"/>
          </a:xfrm>
        </p:grpSpPr>
        <p:pic>
          <p:nvPicPr>
            <p:cNvPr id="21" name="Picture 1030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52400" y="1047750"/>
              <a:ext cx="2895600" cy="3124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" name="Rectangle 1055"/>
            <p:cNvSpPr>
              <a:spLocks noChangeArrowheads="1"/>
            </p:cNvSpPr>
            <p:nvPr/>
          </p:nvSpPr>
          <p:spPr bwMode="auto">
            <a:xfrm>
              <a:off x="914400" y="3867150"/>
              <a:ext cx="381000" cy="2286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" name="组合 33"/>
            <p:cNvGrpSpPr/>
            <p:nvPr/>
          </p:nvGrpSpPr>
          <p:grpSpPr>
            <a:xfrm>
              <a:off x="99501" y="971550"/>
              <a:ext cx="3058740" cy="3938688"/>
              <a:chOff x="-76269" y="1184406"/>
              <a:chExt cx="3058740" cy="3938688"/>
            </a:xfrm>
          </p:grpSpPr>
          <p:sp>
            <p:nvSpPr>
              <p:cNvPr id="26" name="Rectangle 1055"/>
              <p:cNvSpPr>
                <a:spLocks noChangeArrowheads="1"/>
              </p:cNvSpPr>
              <p:nvPr/>
            </p:nvSpPr>
            <p:spPr bwMode="auto">
              <a:xfrm>
                <a:off x="1597700" y="3910516"/>
                <a:ext cx="314325" cy="22302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Text Box 1057"/>
              <p:cNvSpPr txBox="1">
                <a:spLocks noChangeArrowheads="1"/>
              </p:cNvSpPr>
              <p:nvPr/>
            </p:nvSpPr>
            <p:spPr bwMode="auto">
              <a:xfrm>
                <a:off x="-76269" y="1184406"/>
                <a:ext cx="1066800" cy="102797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3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kumimoji="1" lang="en-US" altLang="zh-CN" sz="1600" dirty="0" smtClean="0">
                    <a:latin typeface="+mj-lt"/>
                  </a:rPr>
                  <a:t>           D</a:t>
                </a:r>
                <a:endParaRPr kumimoji="1" lang="en-US" altLang="zh-CN" sz="1600" baseline="-25000" dirty="0">
                  <a:latin typeface="+mj-lt"/>
                </a:endParaRPr>
              </a:p>
              <a:p>
                <a:pPr eaLnBrk="1" hangingPunct="1">
                  <a:lnSpc>
                    <a:spcPct val="13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endParaRPr kumimoji="1" lang="en-US" altLang="zh-CN" sz="1600" baseline="-25000" dirty="0">
                  <a:latin typeface="+mj-lt"/>
                </a:endParaRPr>
              </a:p>
              <a:p>
                <a:pPr eaLnBrk="1" hangingPunct="1"/>
                <a:endParaRPr kumimoji="1" lang="en-US" altLang="zh-CN" sz="2400" dirty="0">
                  <a:latin typeface="Tahoma" pitchFamily="34" charset="0"/>
                </a:endParaRPr>
              </a:p>
            </p:txBody>
          </p:sp>
          <p:sp>
            <p:nvSpPr>
              <p:cNvPr id="28" name="Text Box 1057"/>
              <p:cNvSpPr txBox="1">
                <a:spLocks noChangeArrowheads="1"/>
              </p:cNvSpPr>
              <p:nvPr/>
            </p:nvSpPr>
            <p:spPr bwMode="auto">
              <a:xfrm>
                <a:off x="2574987" y="1428750"/>
                <a:ext cx="407484" cy="102797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3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kumimoji="1" lang="en-US" altLang="zh-CN" sz="1600" dirty="0" smtClean="0">
                    <a:latin typeface="+mj-lt"/>
                  </a:rPr>
                  <a:t>Y</a:t>
                </a:r>
                <a:r>
                  <a:rPr kumimoji="1" lang="en-US" altLang="zh-CN" sz="1600" baseline="-25000" dirty="0" smtClean="0">
                    <a:latin typeface="+mj-lt"/>
                  </a:rPr>
                  <a:t>0</a:t>
                </a:r>
                <a:endParaRPr kumimoji="1" lang="en-US" altLang="zh-CN" sz="1600" baseline="-25000" dirty="0">
                  <a:latin typeface="+mj-lt"/>
                </a:endParaRPr>
              </a:p>
              <a:p>
                <a:pPr eaLnBrk="1" hangingPunct="1">
                  <a:lnSpc>
                    <a:spcPct val="13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endParaRPr kumimoji="1" lang="en-US" altLang="zh-CN" sz="1600" baseline="-25000" dirty="0">
                  <a:latin typeface="+mj-lt"/>
                </a:endParaRPr>
              </a:p>
              <a:p>
                <a:pPr eaLnBrk="1" hangingPunct="1"/>
                <a:endParaRPr kumimoji="1" lang="en-US" altLang="zh-CN" sz="2400" dirty="0">
                  <a:latin typeface="Tahoma" pitchFamily="34" charset="0"/>
                </a:endParaRPr>
              </a:p>
            </p:txBody>
          </p:sp>
          <p:sp>
            <p:nvSpPr>
              <p:cNvPr id="31" name="Text Box 1057"/>
              <p:cNvSpPr txBox="1">
                <a:spLocks noChangeArrowheads="1"/>
              </p:cNvSpPr>
              <p:nvPr/>
            </p:nvSpPr>
            <p:spPr bwMode="auto">
              <a:xfrm>
                <a:off x="1424430" y="4095120"/>
                <a:ext cx="407484" cy="102797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3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kumimoji="1" lang="en-US" altLang="zh-CN" sz="1600" dirty="0" smtClean="0">
                    <a:latin typeface="+mj-lt"/>
                  </a:rPr>
                  <a:t>B</a:t>
                </a:r>
                <a:endParaRPr kumimoji="1" lang="en-US" altLang="zh-CN" sz="1600" baseline="-25000" dirty="0">
                  <a:latin typeface="+mj-lt"/>
                </a:endParaRPr>
              </a:p>
              <a:p>
                <a:pPr eaLnBrk="1" hangingPunct="1">
                  <a:lnSpc>
                    <a:spcPct val="13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endParaRPr kumimoji="1" lang="en-US" altLang="zh-CN" sz="1600" baseline="-25000" dirty="0">
                  <a:latin typeface="+mj-lt"/>
                </a:endParaRPr>
              </a:p>
              <a:p>
                <a:pPr eaLnBrk="1" hangingPunct="1"/>
                <a:endParaRPr kumimoji="1" lang="en-US" altLang="zh-CN" sz="2400" dirty="0">
                  <a:latin typeface="Tahoma" pitchFamily="34" charset="0"/>
                </a:endParaRPr>
              </a:p>
            </p:txBody>
          </p:sp>
          <p:sp>
            <p:nvSpPr>
              <p:cNvPr id="32" name="Text Box 1057"/>
              <p:cNvSpPr txBox="1">
                <a:spLocks noChangeArrowheads="1"/>
              </p:cNvSpPr>
              <p:nvPr/>
            </p:nvSpPr>
            <p:spPr bwMode="auto">
              <a:xfrm>
                <a:off x="1119630" y="4080006"/>
                <a:ext cx="407484" cy="102797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3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kumimoji="1" lang="en-US" altLang="zh-CN" sz="1600" dirty="0" smtClean="0">
                    <a:latin typeface="+mj-lt"/>
                  </a:rPr>
                  <a:t>A</a:t>
                </a:r>
                <a:endParaRPr kumimoji="1" lang="en-US" altLang="zh-CN" sz="1600" baseline="-25000" dirty="0">
                  <a:latin typeface="+mj-lt"/>
                </a:endParaRPr>
              </a:p>
              <a:p>
                <a:pPr eaLnBrk="1" hangingPunct="1">
                  <a:lnSpc>
                    <a:spcPct val="13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endParaRPr kumimoji="1" lang="en-US" altLang="zh-CN" sz="1600" baseline="-25000" dirty="0">
                  <a:latin typeface="+mj-lt"/>
                </a:endParaRPr>
              </a:p>
              <a:p>
                <a:pPr eaLnBrk="1" hangingPunct="1"/>
                <a:endParaRPr kumimoji="1" lang="en-US" altLang="zh-CN" sz="2400" dirty="0">
                  <a:latin typeface="Tahoma" pitchFamily="34" charset="0"/>
                </a:endParaRPr>
              </a:p>
            </p:txBody>
          </p:sp>
        </p:grpSp>
        <p:sp>
          <p:nvSpPr>
            <p:cNvPr id="22" name="Text Box 1057"/>
            <p:cNvSpPr txBox="1">
              <a:spLocks noChangeArrowheads="1"/>
            </p:cNvSpPr>
            <p:nvPr/>
          </p:nvSpPr>
          <p:spPr bwMode="auto">
            <a:xfrm>
              <a:off x="2774058" y="1657350"/>
              <a:ext cx="457200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Y</a:t>
              </a:r>
              <a:r>
                <a:rPr kumimoji="1" lang="en-US" altLang="zh-CN" sz="1600" baseline="-25000" dirty="0" smtClean="0">
                  <a:latin typeface="+mj-lt"/>
                </a:rPr>
                <a:t>1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24" name="Text Box 1057"/>
            <p:cNvSpPr txBox="1">
              <a:spLocks noChangeArrowheads="1"/>
            </p:cNvSpPr>
            <p:nvPr/>
          </p:nvSpPr>
          <p:spPr bwMode="auto">
            <a:xfrm>
              <a:off x="2721159" y="2114550"/>
              <a:ext cx="407484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Y</a:t>
              </a:r>
              <a:r>
                <a:rPr kumimoji="1" lang="en-US" altLang="zh-CN" sz="1600" baseline="-25000" dirty="0" smtClean="0">
                  <a:latin typeface="+mj-lt"/>
                </a:rPr>
                <a:t>2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34" name="Text Box 1057"/>
            <p:cNvSpPr txBox="1">
              <a:spLocks noChangeArrowheads="1"/>
            </p:cNvSpPr>
            <p:nvPr/>
          </p:nvSpPr>
          <p:spPr bwMode="auto">
            <a:xfrm>
              <a:off x="2743200" y="2571750"/>
              <a:ext cx="407484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Y</a:t>
              </a:r>
              <a:r>
                <a:rPr kumimoji="1" lang="en-US" altLang="zh-CN" sz="1600" baseline="-25000" dirty="0" smtClean="0">
                  <a:latin typeface="+mj-lt"/>
                </a:rPr>
                <a:t>3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</p:grp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4061901" y="2525778"/>
            <a:ext cx="184731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kumimoji="1" lang="en-US" altLang="zh-CN" sz="1600" dirty="0">
              <a:latin typeface="Tahoma" pitchFamily="34" charset="0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3847785" y="1657350"/>
            <a:ext cx="2203135" cy="1066735"/>
            <a:chOff x="3847785" y="1657350"/>
            <a:chExt cx="2203135" cy="1066735"/>
          </a:xfrm>
        </p:grpSpPr>
        <p:grpSp>
          <p:nvGrpSpPr>
            <p:cNvPr id="42" name="组合 41"/>
            <p:cNvGrpSpPr/>
            <p:nvPr/>
          </p:nvGrpSpPr>
          <p:grpSpPr>
            <a:xfrm>
              <a:off x="3886200" y="1657350"/>
              <a:ext cx="845823" cy="411163"/>
              <a:chOff x="3924615" y="1306578"/>
              <a:chExt cx="845823" cy="411163"/>
            </a:xfrm>
          </p:grpSpPr>
          <p:graphicFrame>
            <p:nvGraphicFramePr>
              <p:cNvPr id="17" name="Object 3"/>
              <p:cNvGraphicFramePr>
                <a:graphicFrameLocks noChangeAspect="1"/>
              </p:cNvGraphicFramePr>
              <p:nvPr/>
            </p:nvGraphicFramePr>
            <p:xfrm>
              <a:off x="4191000" y="1352550"/>
              <a:ext cx="579438" cy="304800"/>
            </p:xfrm>
            <a:graphic>
              <a:graphicData uri="http://schemas.openxmlformats.org/presentationml/2006/ole">
                <p:oleObj spid="_x0000_s44034" name="Equation" r:id="rId4" imgW="482400" imgH="253800" progId="Equation.DSMT4">
                  <p:embed/>
                </p:oleObj>
              </a:graphicData>
            </a:graphic>
          </p:graphicFrame>
          <p:sp>
            <p:nvSpPr>
              <p:cNvPr id="18" name="Text Box 5"/>
              <p:cNvSpPr txBox="1">
                <a:spLocks noChangeArrowheads="1"/>
              </p:cNvSpPr>
              <p:nvPr/>
            </p:nvSpPr>
            <p:spPr bwMode="auto">
              <a:xfrm>
                <a:off x="4054344" y="1306578"/>
                <a:ext cx="184731" cy="33855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endParaRPr kumimoji="1" lang="en-US" altLang="zh-CN" sz="1600" dirty="0">
                  <a:latin typeface="Tahoma" pitchFamily="34" charset="0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3924615" y="1458978"/>
                <a:ext cx="152400" cy="152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38" name="Object 3"/>
              <p:cNvGraphicFramePr>
                <a:graphicFrameLocks noChangeAspect="1"/>
              </p:cNvGraphicFramePr>
              <p:nvPr/>
            </p:nvGraphicFramePr>
            <p:xfrm>
              <a:off x="3924615" y="1382778"/>
              <a:ext cx="290512" cy="334963"/>
            </p:xfrm>
            <a:graphic>
              <a:graphicData uri="http://schemas.openxmlformats.org/presentationml/2006/ole">
                <p:oleObj spid="_x0000_s44038" name="Equation" r:id="rId5" imgW="241200" imgH="279360" progId="Equation.DSMT4">
                  <p:embed/>
                </p:oleObj>
              </a:graphicData>
            </a:graphic>
          </p:graphicFrame>
        </p:grpSp>
        <p:grpSp>
          <p:nvGrpSpPr>
            <p:cNvPr id="43" name="组合 42"/>
            <p:cNvGrpSpPr/>
            <p:nvPr/>
          </p:nvGrpSpPr>
          <p:grpSpPr>
            <a:xfrm>
              <a:off x="5219385" y="1703322"/>
              <a:ext cx="814073" cy="353668"/>
              <a:chOff x="3924615" y="1901064"/>
              <a:chExt cx="814073" cy="353668"/>
            </a:xfrm>
          </p:grpSpPr>
          <p:sp>
            <p:nvSpPr>
              <p:cNvPr id="19" name="Text Box 5"/>
              <p:cNvSpPr txBox="1">
                <a:spLocks noChangeArrowheads="1"/>
              </p:cNvSpPr>
              <p:nvPr/>
            </p:nvSpPr>
            <p:spPr bwMode="auto">
              <a:xfrm>
                <a:off x="4069458" y="1916178"/>
                <a:ext cx="184731" cy="33855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endParaRPr kumimoji="1" lang="en-US" altLang="zh-CN" sz="1600" dirty="0">
                  <a:latin typeface="Tahoma" pitchFamily="34" charset="0"/>
                </a:endParaRPr>
              </a:p>
            </p:txBody>
          </p:sp>
          <p:graphicFrame>
            <p:nvGraphicFramePr>
              <p:cNvPr id="25" name="Object 3"/>
              <p:cNvGraphicFramePr>
                <a:graphicFrameLocks noChangeAspect="1"/>
              </p:cNvGraphicFramePr>
              <p:nvPr/>
            </p:nvGraphicFramePr>
            <p:xfrm>
              <a:off x="4191000" y="1901064"/>
              <a:ext cx="547688" cy="304800"/>
            </p:xfrm>
            <a:graphic>
              <a:graphicData uri="http://schemas.openxmlformats.org/presentationml/2006/ole">
                <p:oleObj spid="_x0000_s44035" name="Equation" r:id="rId6" imgW="457200" imgH="253800" progId="Equation.DSMT4">
                  <p:embed/>
                </p:oleObj>
              </a:graphicData>
            </a:graphic>
          </p:graphicFrame>
          <p:sp>
            <p:nvSpPr>
              <p:cNvPr id="35" name="矩形 34"/>
              <p:cNvSpPr/>
              <p:nvPr/>
            </p:nvSpPr>
            <p:spPr>
              <a:xfrm>
                <a:off x="3924615" y="1992378"/>
                <a:ext cx="152400" cy="152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39" name="Object 3"/>
              <p:cNvGraphicFramePr>
                <a:graphicFrameLocks noChangeAspect="1"/>
              </p:cNvGraphicFramePr>
              <p:nvPr/>
            </p:nvGraphicFramePr>
            <p:xfrm>
              <a:off x="3930965" y="1916178"/>
              <a:ext cx="276225" cy="334963"/>
            </p:xfrm>
            <a:graphic>
              <a:graphicData uri="http://schemas.openxmlformats.org/presentationml/2006/ole">
                <p:oleObj spid="_x0000_s44039" name="Equation" r:id="rId7" imgW="228600" imgH="279360" progId="Equation.DSMT4">
                  <p:embed/>
                </p:oleObj>
              </a:graphicData>
            </a:graphic>
          </p:graphicFrame>
        </p:grpSp>
        <p:grpSp>
          <p:nvGrpSpPr>
            <p:cNvPr id="44" name="组合 43"/>
            <p:cNvGrpSpPr/>
            <p:nvPr/>
          </p:nvGrpSpPr>
          <p:grpSpPr>
            <a:xfrm>
              <a:off x="3847785" y="2312922"/>
              <a:ext cx="852173" cy="364745"/>
              <a:chOff x="3918265" y="2442021"/>
              <a:chExt cx="852173" cy="364745"/>
            </a:xfrm>
          </p:grpSpPr>
          <p:graphicFrame>
            <p:nvGraphicFramePr>
              <p:cNvPr id="29" name="Object 5"/>
              <p:cNvGraphicFramePr>
                <a:graphicFrameLocks noChangeAspect="1"/>
              </p:cNvGraphicFramePr>
              <p:nvPr/>
            </p:nvGraphicFramePr>
            <p:xfrm>
              <a:off x="4191000" y="2442021"/>
              <a:ext cx="579438" cy="304800"/>
            </p:xfrm>
            <a:graphic>
              <a:graphicData uri="http://schemas.openxmlformats.org/presentationml/2006/ole">
                <p:oleObj spid="_x0000_s44036" name="Equation" r:id="rId8" imgW="482400" imgH="253800" progId="Equation.DSMT4">
                  <p:embed/>
                </p:oleObj>
              </a:graphicData>
            </a:graphic>
          </p:graphicFrame>
          <p:sp>
            <p:nvSpPr>
              <p:cNvPr id="36" name="矩形 35"/>
              <p:cNvSpPr/>
              <p:nvPr/>
            </p:nvSpPr>
            <p:spPr>
              <a:xfrm>
                <a:off x="3924615" y="2601978"/>
                <a:ext cx="152400" cy="152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40" name="Object 3"/>
              <p:cNvGraphicFramePr>
                <a:graphicFrameLocks noChangeAspect="1"/>
              </p:cNvGraphicFramePr>
              <p:nvPr/>
            </p:nvGraphicFramePr>
            <p:xfrm>
              <a:off x="3918265" y="2471803"/>
              <a:ext cx="304800" cy="334963"/>
            </p:xfrm>
            <a:graphic>
              <a:graphicData uri="http://schemas.openxmlformats.org/presentationml/2006/ole">
                <p:oleObj spid="_x0000_s44040" name="Equation" r:id="rId9" imgW="253800" imgH="279360" progId="Equation.DSMT4">
                  <p:embed/>
                </p:oleObj>
              </a:graphicData>
            </a:graphic>
          </p:graphicFrame>
        </p:grpSp>
        <p:grpSp>
          <p:nvGrpSpPr>
            <p:cNvPr id="45" name="组合 44"/>
            <p:cNvGrpSpPr/>
            <p:nvPr/>
          </p:nvGrpSpPr>
          <p:grpSpPr>
            <a:xfrm>
              <a:off x="5219385" y="2389122"/>
              <a:ext cx="831535" cy="334963"/>
              <a:chOff x="3924615" y="3059178"/>
              <a:chExt cx="831535" cy="334963"/>
            </a:xfrm>
          </p:grpSpPr>
          <p:graphicFrame>
            <p:nvGraphicFramePr>
              <p:cNvPr id="30" name="Object 6"/>
              <p:cNvGraphicFramePr>
                <a:graphicFrameLocks noChangeAspect="1"/>
              </p:cNvGraphicFramePr>
              <p:nvPr/>
            </p:nvGraphicFramePr>
            <p:xfrm>
              <a:off x="4191000" y="3112707"/>
              <a:ext cx="565150" cy="228600"/>
            </p:xfrm>
            <a:graphic>
              <a:graphicData uri="http://schemas.openxmlformats.org/presentationml/2006/ole">
                <p:oleObj spid="_x0000_s44037" name="Equation" r:id="rId10" imgW="469800" imgH="190440" progId="Equation.DSMT4">
                  <p:embed/>
                </p:oleObj>
              </a:graphicData>
            </a:graphic>
          </p:graphicFrame>
          <p:sp>
            <p:nvSpPr>
              <p:cNvPr id="37" name="矩形 36"/>
              <p:cNvSpPr/>
              <p:nvPr/>
            </p:nvSpPr>
            <p:spPr>
              <a:xfrm>
                <a:off x="3924615" y="3135378"/>
                <a:ext cx="152400" cy="152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41" name="Object 3"/>
              <p:cNvGraphicFramePr>
                <a:graphicFrameLocks noChangeAspect="1"/>
              </p:cNvGraphicFramePr>
              <p:nvPr/>
            </p:nvGraphicFramePr>
            <p:xfrm>
              <a:off x="3924615" y="3059178"/>
              <a:ext cx="290513" cy="334963"/>
            </p:xfrm>
            <a:graphic>
              <a:graphicData uri="http://schemas.openxmlformats.org/presentationml/2006/ole">
                <p:oleObj spid="_x0000_s44041" name="Equation" r:id="rId11" imgW="241200" imgH="279360" progId="Equation.DSMT4">
                  <p:embed/>
                </p:oleObj>
              </a:graphicData>
            </a:graphic>
          </p:graphicFrame>
        </p:grpSp>
      </p:grpSp>
      <p:sp>
        <p:nvSpPr>
          <p:cNvPr id="47" name="Text Box 90"/>
          <p:cNvSpPr txBox="1">
            <a:spLocks noChangeArrowheads="1"/>
          </p:cNvSpPr>
          <p:nvPr/>
        </p:nvSpPr>
        <p:spPr bwMode="auto">
          <a:xfrm>
            <a:off x="1219200" y="4400550"/>
            <a:ext cx="50206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600" dirty="0" smtClean="0">
                <a:latin typeface="Tahoma" pitchFamily="34" charset="0"/>
                <a:ea typeface="黑体" pitchFamily="49" charset="-122"/>
              </a:rPr>
              <a:t>图</a:t>
            </a:r>
            <a:r>
              <a:rPr kumimoji="1" lang="en-US" altLang="zh-CN" sz="1600" dirty="0" smtClean="0">
                <a:latin typeface="Tahoma" pitchFamily="34" charset="0"/>
                <a:ea typeface="黑体" pitchFamily="49" charset="-122"/>
              </a:rPr>
              <a:t>8</a:t>
            </a:r>
            <a:endParaRPr kumimoji="1" lang="zh-CN" altLang="en-US" sz="1600" dirty="0">
              <a:latin typeface="Tahoma" pitchFamily="34" charset="0"/>
              <a:ea typeface="黑体" pitchFamily="49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-85703" y="0"/>
            <a:ext cx="32431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：组合逻辑分析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4"/>
          <p:cNvSpPr>
            <a:spLocks noChangeArrowheads="1"/>
          </p:cNvSpPr>
          <p:nvPr/>
        </p:nvSpPr>
        <p:spPr bwMode="auto">
          <a:xfrm>
            <a:off x="0" y="5143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Text Box 5"/>
          <p:cNvSpPr txBox="1">
            <a:spLocks noChangeArrowheads="1"/>
          </p:cNvSpPr>
          <p:nvPr/>
        </p:nvSpPr>
        <p:spPr bwMode="auto">
          <a:xfrm>
            <a:off x="6553200" y="1047750"/>
            <a:ext cx="1981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  <a:buFont typeface="Wingdings" pitchFamily="2" charset="2"/>
              <a:buChar char="l"/>
            </a:pPr>
            <a:endParaRPr kumimoji="1"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dirty="0" smtClean="0">
                <a:latin typeface="微软雅黑" pitchFamily="34" charset="-122"/>
                <a:ea typeface="微软雅黑" pitchFamily="34" charset="-122"/>
              </a:rPr>
              <a:t>数据分配器</a:t>
            </a:r>
            <a:r>
              <a:rPr kumimoji="1" lang="en-US" altLang="zh-CN" sz="1400" dirty="0" smtClean="0">
                <a:latin typeface="微软雅黑" pitchFamily="34" charset="-122"/>
                <a:ea typeface="微软雅黑" pitchFamily="34" charset="-122"/>
              </a:rPr>
              <a:t>(DMUX)</a:t>
            </a:r>
            <a:endParaRPr kumimoji="1"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-457200" y="1204812"/>
            <a:ext cx="3762374" cy="3938688"/>
            <a:chOff x="0" y="971550"/>
            <a:chExt cx="3762374" cy="3938688"/>
          </a:xfrm>
        </p:grpSpPr>
        <p:grpSp>
          <p:nvGrpSpPr>
            <p:cNvPr id="35" name="组合 34"/>
            <p:cNvGrpSpPr/>
            <p:nvPr/>
          </p:nvGrpSpPr>
          <p:grpSpPr>
            <a:xfrm>
              <a:off x="0" y="971550"/>
              <a:ext cx="2948499" cy="3938688"/>
              <a:chOff x="99501" y="971550"/>
              <a:chExt cx="2948499" cy="3938688"/>
            </a:xfrm>
          </p:grpSpPr>
          <p:pic>
            <p:nvPicPr>
              <p:cNvPr id="21" name="Picture 1030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52400" y="1047750"/>
                <a:ext cx="2895600" cy="3124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3" name="Rectangle 1055"/>
              <p:cNvSpPr>
                <a:spLocks noChangeArrowheads="1"/>
              </p:cNvSpPr>
              <p:nvPr/>
            </p:nvSpPr>
            <p:spPr bwMode="auto">
              <a:xfrm>
                <a:off x="914400" y="3867150"/>
                <a:ext cx="381000" cy="22860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" name="组合 33"/>
              <p:cNvGrpSpPr/>
              <p:nvPr/>
            </p:nvGrpSpPr>
            <p:grpSpPr>
              <a:xfrm>
                <a:off x="99501" y="971550"/>
                <a:ext cx="1988294" cy="3938688"/>
                <a:chOff x="-76269" y="1184406"/>
                <a:chExt cx="1988294" cy="3938688"/>
              </a:xfrm>
            </p:grpSpPr>
            <p:sp>
              <p:nvSpPr>
                <p:cNvPr id="26" name="Rectangle 1055"/>
                <p:cNvSpPr>
                  <a:spLocks noChangeArrowheads="1"/>
                </p:cNvSpPr>
                <p:nvPr/>
              </p:nvSpPr>
              <p:spPr bwMode="auto">
                <a:xfrm>
                  <a:off x="1597700" y="3910516"/>
                  <a:ext cx="314325" cy="223024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" name="Text Box 1057"/>
                <p:cNvSpPr txBox="1">
                  <a:spLocks noChangeArrowheads="1"/>
                </p:cNvSpPr>
                <p:nvPr/>
              </p:nvSpPr>
              <p:spPr bwMode="auto">
                <a:xfrm>
                  <a:off x="-76269" y="1184406"/>
                  <a:ext cx="1066800" cy="1027974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pPr eaLnBrk="1" hangingPunct="1">
                    <a:lnSpc>
                      <a:spcPct val="130000"/>
                    </a:lnSpc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None/>
                  </a:pPr>
                  <a:r>
                    <a:rPr kumimoji="1" lang="en-US" altLang="zh-CN" sz="1600" dirty="0" smtClean="0">
                      <a:latin typeface="+mj-lt"/>
                    </a:rPr>
                    <a:t>           D</a:t>
                  </a:r>
                  <a:endParaRPr kumimoji="1" lang="en-US" altLang="zh-CN" sz="1600" baseline="-25000" dirty="0">
                    <a:latin typeface="+mj-lt"/>
                  </a:endParaRPr>
                </a:p>
                <a:p>
                  <a:pPr eaLnBrk="1" hangingPunct="1">
                    <a:lnSpc>
                      <a:spcPct val="130000"/>
                    </a:lnSpc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None/>
                  </a:pPr>
                  <a:endParaRPr kumimoji="1" lang="en-US" altLang="zh-CN" sz="1600" baseline="-25000" dirty="0">
                    <a:latin typeface="+mj-lt"/>
                  </a:endParaRPr>
                </a:p>
                <a:p>
                  <a:pPr eaLnBrk="1" hangingPunct="1"/>
                  <a:endParaRPr kumimoji="1" lang="en-US" altLang="zh-CN" sz="2400" dirty="0">
                    <a:latin typeface="Tahoma" pitchFamily="34" charset="0"/>
                  </a:endParaRPr>
                </a:p>
              </p:txBody>
            </p:sp>
            <p:sp>
              <p:nvSpPr>
                <p:cNvPr id="31" name="Text Box 1057"/>
                <p:cNvSpPr txBox="1">
                  <a:spLocks noChangeArrowheads="1"/>
                </p:cNvSpPr>
                <p:nvPr/>
              </p:nvSpPr>
              <p:spPr bwMode="auto">
                <a:xfrm>
                  <a:off x="1424430" y="4095120"/>
                  <a:ext cx="407484" cy="1027974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pPr eaLnBrk="1" hangingPunct="1">
                    <a:lnSpc>
                      <a:spcPct val="130000"/>
                    </a:lnSpc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None/>
                  </a:pPr>
                  <a:r>
                    <a:rPr kumimoji="1" lang="en-US" altLang="zh-CN" sz="1600" dirty="0" smtClean="0">
                      <a:latin typeface="+mj-lt"/>
                    </a:rPr>
                    <a:t>B</a:t>
                  </a:r>
                  <a:endParaRPr kumimoji="1" lang="en-US" altLang="zh-CN" sz="1600" baseline="-25000" dirty="0">
                    <a:latin typeface="+mj-lt"/>
                  </a:endParaRPr>
                </a:p>
                <a:p>
                  <a:pPr eaLnBrk="1" hangingPunct="1">
                    <a:lnSpc>
                      <a:spcPct val="130000"/>
                    </a:lnSpc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None/>
                  </a:pPr>
                  <a:endParaRPr kumimoji="1" lang="en-US" altLang="zh-CN" sz="1600" baseline="-25000" dirty="0">
                    <a:latin typeface="+mj-lt"/>
                  </a:endParaRPr>
                </a:p>
                <a:p>
                  <a:pPr eaLnBrk="1" hangingPunct="1"/>
                  <a:endParaRPr kumimoji="1" lang="en-US" altLang="zh-CN" sz="2400" dirty="0">
                    <a:latin typeface="Tahoma" pitchFamily="34" charset="0"/>
                  </a:endParaRPr>
                </a:p>
              </p:txBody>
            </p:sp>
            <p:sp>
              <p:nvSpPr>
                <p:cNvPr id="32" name="Text Box 1057"/>
                <p:cNvSpPr txBox="1">
                  <a:spLocks noChangeArrowheads="1"/>
                </p:cNvSpPr>
                <p:nvPr/>
              </p:nvSpPr>
              <p:spPr bwMode="auto">
                <a:xfrm>
                  <a:off x="1119630" y="4080006"/>
                  <a:ext cx="407484" cy="1027974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pPr eaLnBrk="1" hangingPunct="1">
                    <a:lnSpc>
                      <a:spcPct val="130000"/>
                    </a:lnSpc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None/>
                  </a:pPr>
                  <a:r>
                    <a:rPr kumimoji="1" lang="en-US" altLang="zh-CN" sz="1600" dirty="0" smtClean="0">
                      <a:latin typeface="+mj-lt"/>
                    </a:rPr>
                    <a:t>A</a:t>
                  </a:r>
                  <a:endParaRPr kumimoji="1" lang="en-US" altLang="zh-CN" sz="1600" baseline="-25000" dirty="0">
                    <a:latin typeface="+mj-lt"/>
                  </a:endParaRPr>
                </a:p>
                <a:p>
                  <a:pPr eaLnBrk="1" hangingPunct="1">
                    <a:lnSpc>
                      <a:spcPct val="130000"/>
                    </a:lnSpc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None/>
                  </a:pPr>
                  <a:endParaRPr kumimoji="1" lang="en-US" altLang="zh-CN" sz="1600" baseline="-25000" dirty="0">
                    <a:latin typeface="+mj-lt"/>
                  </a:endParaRPr>
                </a:p>
                <a:p>
                  <a:pPr eaLnBrk="1" hangingPunct="1"/>
                  <a:endParaRPr kumimoji="1" lang="en-US" altLang="zh-CN" sz="2400" dirty="0">
                    <a:latin typeface="Tahoma" pitchFamily="34" charset="0"/>
                  </a:endParaRPr>
                </a:p>
              </p:txBody>
            </p:sp>
          </p:grpSp>
        </p:grpSp>
        <p:graphicFrame>
          <p:nvGraphicFramePr>
            <p:cNvPr id="43018" name="Object 3"/>
            <p:cNvGraphicFramePr>
              <a:graphicFrameLocks noChangeAspect="1"/>
            </p:cNvGraphicFramePr>
            <p:nvPr/>
          </p:nvGraphicFramePr>
          <p:xfrm>
            <a:off x="2901950" y="1679758"/>
            <a:ext cx="838200" cy="303879"/>
          </p:xfrm>
          <a:graphic>
            <a:graphicData uri="http://schemas.openxmlformats.org/presentationml/2006/ole">
              <p:oleObj spid="_x0000_s43018" name="Equation" r:id="rId4" imgW="876240" imgH="317160" progId="Equation.DSMT4">
                <p:embed/>
              </p:oleObj>
            </a:graphicData>
          </a:graphic>
        </p:graphicFrame>
        <p:sp>
          <p:nvSpPr>
            <p:cNvPr id="38" name="Text Box 1057"/>
            <p:cNvSpPr txBox="1">
              <a:spLocks noChangeArrowheads="1"/>
            </p:cNvSpPr>
            <p:nvPr/>
          </p:nvSpPr>
          <p:spPr bwMode="auto">
            <a:xfrm>
              <a:off x="2667000" y="1123950"/>
              <a:ext cx="228600" cy="67505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graphicFrame>
          <p:nvGraphicFramePr>
            <p:cNvPr id="22531" name="Object 3"/>
            <p:cNvGraphicFramePr>
              <a:graphicFrameLocks noChangeAspect="1"/>
            </p:cNvGraphicFramePr>
            <p:nvPr/>
          </p:nvGraphicFramePr>
          <p:xfrm>
            <a:off x="2901950" y="1200150"/>
            <a:ext cx="731308" cy="304800"/>
          </p:xfrm>
          <a:graphic>
            <a:graphicData uri="http://schemas.openxmlformats.org/presentationml/2006/ole">
              <p:oleObj spid="_x0000_s43011" name="Equation" r:id="rId5" imgW="914400" imgH="317160" progId="Equation.DSMT4">
                <p:embed/>
              </p:oleObj>
            </a:graphicData>
          </a:graphic>
        </p:graphicFrame>
        <p:sp>
          <p:nvSpPr>
            <p:cNvPr id="25" name="Text Box 1057"/>
            <p:cNvSpPr txBox="1">
              <a:spLocks noChangeArrowheads="1"/>
            </p:cNvSpPr>
            <p:nvPr/>
          </p:nvSpPr>
          <p:spPr bwMode="auto">
            <a:xfrm>
              <a:off x="2667000" y="1733550"/>
              <a:ext cx="228600" cy="67505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28" name="Text Box 1057"/>
            <p:cNvSpPr txBox="1">
              <a:spLocks noChangeArrowheads="1"/>
            </p:cNvSpPr>
            <p:nvPr/>
          </p:nvSpPr>
          <p:spPr bwMode="auto">
            <a:xfrm>
              <a:off x="2667000" y="2495550"/>
              <a:ext cx="228600" cy="67505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graphicFrame>
          <p:nvGraphicFramePr>
            <p:cNvPr id="43020" name="Object 12"/>
            <p:cNvGraphicFramePr>
              <a:graphicFrameLocks noChangeAspect="1"/>
            </p:cNvGraphicFramePr>
            <p:nvPr/>
          </p:nvGraphicFramePr>
          <p:xfrm>
            <a:off x="2901950" y="2170113"/>
            <a:ext cx="860424" cy="298845"/>
          </p:xfrm>
          <a:graphic>
            <a:graphicData uri="http://schemas.openxmlformats.org/presentationml/2006/ole">
              <p:oleObj spid="_x0000_s43020" name="Equation" r:id="rId6" imgW="914400" imgH="317160" progId="Equation.DSMT4">
                <p:embed/>
              </p:oleObj>
            </a:graphicData>
          </a:graphic>
        </p:graphicFrame>
        <p:graphicFrame>
          <p:nvGraphicFramePr>
            <p:cNvPr id="43021" name="Object 13"/>
            <p:cNvGraphicFramePr>
              <a:graphicFrameLocks noChangeAspect="1"/>
            </p:cNvGraphicFramePr>
            <p:nvPr/>
          </p:nvGraphicFramePr>
          <p:xfrm>
            <a:off x="2901950" y="2665413"/>
            <a:ext cx="847725" cy="261937"/>
          </p:xfrm>
          <a:graphic>
            <a:graphicData uri="http://schemas.openxmlformats.org/presentationml/2006/ole">
              <p:oleObj spid="_x0000_s43021" name="Equation" r:id="rId7" imgW="901440" imgH="279360" progId="Equation.DSMT4">
                <p:embed/>
              </p:oleObj>
            </a:graphicData>
          </a:graphic>
        </p:graphicFrame>
      </p:grpSp>
      <p:graphicFrame>
        <p:nvGraphicFramePr>
          <p:cNvPr id="43023" name="Object 15"/>
          <p:cNvGraphicFramePr>
            <a:graphicFrameLocks noChangeAspect="1"/>
          </p:cNvGraphicFramePr>
          <p:nvPr/>
        </p:nvGraphicFramePr>
        <p:xfrm>
          <a:off x="3429000" y="1657350"/>
          <a:ext cx="2590800" cy="2447925"/>
        </p:xfrm>
        <a:graphic>
          <a:graphicData uri="http://schemas.openxmlformats.org/presentationml/2006/ole">
            <p:oleObj spid="_x0000_s43023" name="Visio" r:id="rId8" imgW="1990401" imgH="1494511" progId="Visio.Drawing.11">
              <p:embed/>
            </p:oleObj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4267200" y="127635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表 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43025" name="Object 17"/>
          <p:cNvGraphicFramePr>
            <a:graphicFrameLocks noChangeAspect="1"/>
          </p:cNvGraphicFramePr>
          <p:nvPr/>
        </p:nvGraphicFramePr>
        <p:xfrm>
          <a:off x="6324600" y="1657350"/>
          <a:ext cx="2443163" cy="2274888"/>
        </p:xfrm>
        <a:graphic>
          <a:graphicData uri="http://schemas.openxmlformats.org/presentationml/2006/ole">
            <p:oleObj spid="_x0000_s43025" name="Visio" r:id="rId9" imgW="2295329" imgH="2195410" progId="Visio.Drawing.11">
              <p:embed/>
            </p:oleObj>
          </a:graphicData>
        </a:graphic>
      </p:graphicFrame>
      <p:sp>
        <p:nvSpPr>
          <p:cNvPr id="24" name="Text Box 90"/>
          <p:cNvSpPr txBox="1">
            <a:spLocks noChangeArrowheads="1"/>
          </p:cNvSpPr>
          <p:nvPr/>
        </p:nvSpPr>
        <p:spPr bwMode="auto">
          <a:xfrm>
            <a:off x="762000" y="4476750"/>
            <a:ext cx="50206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600" dirty="0" smtClean="0">
                <a:latin typeface="Tahoma" pitchFamily="34" charset="0"/>
                <a:ea typeface="黑体" pitchFamily="49" charset="-122"/>
              </a:rPr>
              <a:t>图</a:t>
            </a:r>
            <a:r>
              <a:rPr kumimoji="1" lang="en-US" altLang="zh-CN" sz="1600" dirty="0" smtClean="0">
                <a:latin typeface="Tahoma" pitchFamily="34" charset="0"/>
                <a:ea typeface="黑体" pitchFamily="49" charset="-122"/>
              </a:rPr>
              <a:t>8</a:t>
            </a:r>
            <a:endParaRPr kumimoji="1" lang="zh-CN" altLang="en-US" sz="1600" dirty="0">
              <a:latin typeface="Tahoma" pitchFamily="34" charset="0"/>
              <a:ea typeface="黑体" pitchFamily="49" charset="-122"/>
            </a:endParaRPr>
          </a:p>
        </p:txBody>
      </p:sp>
      <p:sp>
        <p:nvSpPr>
          <p:cNvPr id="30" name="Text Box 90"/>
          <p:cNvSpPr txBox="1">
            <a:spLocks noChangeArrowheads="1"/>
          </p:cNvSpPr>
          <p:nvPr/>
        </p:nvSpPr>
        <p:spPr bwMode="auto">
          <a:xfrm>
            <a:off x="7315200" y="3867150"/>
            <a:ext cx="50206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600" dirty="0" smtClean="0">
                <a:latin typeface="Tahoma" pitchFamily="34" charset="0"/>
                <a:ea typeface="黑体" pitchFamily="49" charset="-122"/>
              </a:rPr>
              <a:t>图</a:t>
            </a:r>
            <a:r>
              <a:rPr kumimoji="1" lang="en-US" altLang="zh-CN" sz="1600" dirty="0" smtClean="0">
                <a:latin typeface="Tahoma" pitchFamily="34" charset="0"/>
                <a:ea typeface="黑体" pitchFamily="49" charset="-122"/>
              </a:rPr>
              <a:t>9</a:t>
            </a:r>
            <a:endParaRPr kumimoji="1" lang="zh-CN" altLang="en-US" sz="1600" dirty="0">
              <a:latin typeface="Tahoma" pitchFamily="34" charset="0"/>
              <a:ea typeface="黑体" pitchFamily="49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-85703" y="0"/>
            <a:ext cx="32431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：组合逻辑分析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33" grpId="0"/>
      <p:bldP spid="30" grpId="0"/>
    </p:bld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3947</TotalTime>
  <Words>267</Words>
  <Application>Microsoft Office PowerPoint</Application>
  <PresentationFormat>全屏显示(16:9)</PresentationFormat>
  <Paragraphs>126</Paragraphs>
  <Slides>10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默认设计模板</vt:lpstr>
      <vt:lpstr>Equation</vt:lpstr>
      <vt:lpstr>Visio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NTKO</cp:lastModifiedBy>
  <cp:revision>441</cp:revision>
  <cp:lastPrinted>2113-01-01T00:00:00Z</cp:lastPrinted>
  <dcterms:created xsi:type="dcterms:W3CDTF">2113-01-01T00:00:00Z</dcterms:created>
  <dcterms:modified xsi:type="dcterms:W3CDTF">2020-12-26T07:57:31Z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