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09" r:id="rId2"/>
    <p:sldId id="483" r:id="rId3"/>
    <p:sldId id="467" r:id="rId4"/>
    <p:sldId id="475" r:id="rId5"/>
    <p:sldId id="476" r:id="rId6"/>
    <p:sldId id="477" r:id="rId7"/>
    <p:sldId id="478" r:id="rId8"/>
    <p:sldId id="479" r:id="rId9"/>
    <p:sldId id="480" r:id="rId10"/>
    <p:sldId id="481" r:id="rId11"/>
    <p:sldId id="482" r:id="rId12"/>
    <p:sldId id="484" r:id="rId13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4BA"/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98916" autoAdjust="0"/>
  </p:normalViewPr>
  <p:slideViewPr>
    <p:cSldViewPr>
      <p:cViewPr varScale="1">
        <p:scale>
          <a:sx n="100" d="100"/>
          <a:sy n="100" d="100"/>
        </p:scale>
        <p:origin x="780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8.png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2.wmf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8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2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2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2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时序电路设计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733800" y="4552950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时序电路模型</a:t>
            </a:r>
          </a:p>
        </p:txBody>
      </p:sp>
      <p:grpSp>
        <p:nvGrpSpPr>
          <p:cNvPr id="2" name="Group 109"/>
          <p:cNvGrpSpPr>
            <a:grpSpLocks/>
          </p:cNvGrpSpPr>
          <p:nvPr/>
        </p:nvGrpSpPr>
        <p:grpSpPr bwMode="auto">
          <a:xfrm>
            <a:off x="2362200" y="1428750"/>
            <a:ext cx="3455988" cy="2133600"/>
            <a:chOff x="2354" y="770"/>
            <a:chExt cx="2177" cy="1344"/>
          </a:xfrm>
        </p:grpSpPr>
        <p:sp>
          <p:nvSpPr>
            <p:cNvPr id="11" name="Rectangle 76"/>
            <p:cNvSpPr>
              <a:spLocks noChangeArrowheads="1"/>
            </p:cNvSpPr>
            <p:nvPr/>
          </p:nvSpPr>
          <p:spPr bwMode="auto">
            <a:xfrm>
              <a:off x="2943" y="770"/>
              <a:ext cx="998" cy="49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78"/>
            <p:cNvSpPr>
              <a:spLocks noChangeShapeType="1"/>
            </p:cNvSpPr>
            <p:nvPr/>
          </p:nvSpPr>
          <p:spPr bwMode="auto">
            <a:xfrm>
              <a:off x="2354" y="816"/>
              <a:ext cx="5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79"/>
            <p:cNvSpPr>
              <a:spLocks noChangeShapeType="1"/>
            </p:cNvSpPr>
            <p:nvPr/>
          </p:nvSpPr>
          <p:spPr bwMode="auto">
            <a:xfrm>
              <a:off x="2354" y="997"/>
              <a:ext cx="5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80"/>
            <p:cNvSpPr>
              <a:spLocks noChangeShapeType="1"/>
            </p:cNvSpPr>
            <p:nvPr/>
          </p:nvSpPr>
          <p:spPr bwMode="auto">
            <a:xfrm>
              <a:off x="3942" y="816"/>
              <a:ext cx="5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81"/>
            <p:cNvSpPr>
              <a:spLocks noChangeShapeType="1"/>
            </p:cNvSpPr>
            <p:nvPr/>
          </p:nvSpPr>
          <p:spPr bwMode="auto">
            <a:xfrm>
              <a:off x="3942" y="997"/>
              <a:ext cx="5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82"/>
            <p:cNvSpPr>
              <a:spLocks noChangeShapeType="1"/>
            </p:cNvSpPr>
            <p:nvPr/>
          </p:nvSpPr>
          <p:spPr bwMode="auto">
            <a:xfrm>
              <a:off x="2626" y="1088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83"/>
            <p:cNvSpPr>
              <a:spLocks noChangeShapeType="1"/>
            </p:cNvSpPr>
            <p:nvPr/>
          </p:nvSpPr>
          <p:spPr bwMode="auto">
            <a:xfrm>
              <a:off x="3941" y="1088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84"/>
            <p:cNvSpPr>
              <a:spLocks noChangeShapeType="1"/>
            </p:cNvSpPr>
            <p:nvPr/>
          </p:nvSpPr>
          <p:spPr bwMode="auto">
            <a:xfrm>
              <a:off x="2762" y="122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85"/>
            <p:cNvSpPr>
              <a:spLocks noChangeShapeType="1"/>
            </p:cNvSpPr>
            <p:nvPr/>
          </p:nvSpPr>
          <p:spPr bwMode="auto">
            <a:xfrm>
              <a:off x="3942" y="122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86"/>
            <p:cNvSpPr>
              <a:spLocks noChangeShapeType="1"/>
            </p:cNvSpPr>
            <p:nvPr/>
          </p:nvSpPr>
          <p:spPr bwMode="auto">
            <a:xfrm>
              <a:off x="2762" y="1224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87"/>
            <p:cNvSpPr>
              <a:spLocks noChangeShapeType="1"/>
            </p:cNvSpPr>
            <p:nvPr/>
          </p:nvSpPr>
          <p:spPr bwMode="auto">
            <a:xfrm>
              <a:off x="4123" y="1224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88"/>
            <p:cNvSpPr>
              <a:spLocks noChangeShapeType="1"/>
            </p:cNvSpPr>
            <p:nvPr/>
          </p:nvSpPr>
          <p:spPr bwMode="auto">
            <a:xfrm>
              <a:off x="2762" y="1496"/>
              <a:ext cx="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89"/>
            <p:cNvSpPr>
              <a:spLocks noChangeShapeType="1"/>
            </p:cNvSpPr>
            <p:nvPr/>
          </p:nvSpPr>
          <p:spPr bwMode="auto">
            <a:xfrm>
              <a:off x="3650" y="1496"/>
              <a:ext cx="4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90"/>
            <p:cNvSpPr>
              <a:spLocks noChangeShapeType="1"/>
            </p:cNvSpPr>
            <p:nvPr/>
          </p:nvSpPr>
          <p:spPr bwMode="auto">
            <a:xfrm>
              <a:off x="2626" y="1088"/>
              <a:ext cx="0" cy="9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91"/>
            <p:cNvSpPr>
              <a:spLocks noChangeShapeType="1"/>
            </p:cNvSpPr>
            <p:nvPr/>
          </p:nvSpPr>
          <p:spPr bwMode="auto">
            <a:xfrm>
              <a:off x="4259" y="1088"/>
              <a:ext cx="0" cy="10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92"/>
            <p:cNvSpPr>
              <a:spLocks noChangeShapeType="1"/>
            </p:cNvSpPr>
            <p:nvPr/>
          </p:nvSpPr>
          <p:spPr bwMode="auto">
            <a:xfrm>
              <a:off x="2626" y="2066"/>
              <a:ext cx="7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93"/>
            <p:cNvSpPr>
              <a:spLocks noChangeShapeType="1"/>
            </p:cNvSpPr>
            <p:nvPr/>
          </p:nvSpPr>
          <p:spPr bwMode="auto">
            <a:xfrm>
              <a:off x="3650" y="2104"/>
              <a:ext cx="6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Box 98"/>
            <p:cNvSpPr txBox="1">
              <a:spLocks noChangeArrowheads="1"/>
            </p:cNvSpPr>
            <p:nvPr/>
          </p:nvSpPr>
          <p:spPr bwMode="auto">
            <a:xfrm>
              <a:off x="2989" y="907"/>
              <a:ext cx="90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600" b="1" dirty="0">
                  <a:latin typeface="微软雅黑" pitchFamily="34" charset="-122"/>
                  <a:ea typeface="微软雅黑" pitchFamily="34" charset="-122"/>
                </a:rPr>
                <a:t>组合逻辑电路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939416" y="1495645"/>
            <a:ext cx="461665" cy="304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…</a:t>
            </a:r>
            <a:endParaRPr lang="zh-CN" altLang="en-US" b="1" dirty="0">
              <a:solidFill>
                <a:schemeClr val="accent6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955718" y="1495645"/>
            <a:ext cx="461665" cy="304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…</a:t>
            </a:r>
            <a:endParaRPr lang="zh-CN" altLang="en-US" b="1" dirty="0">
              <a:solidFill>
                <a:schemeClr val="accent6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048000" y="3105150"/>
            <a:ext cx="461665" cy="304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…</a:t>
            </a:r>
            <a:endParaRPr lang="zh-CN" altLang="en-US" b="1" dirty="0">
              <a:solidFill>
                <a:schemeClr val="accent6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876800" y="3105150"/>
            <a:ext cx="461665" cy="304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…</a:t>
            </a:r>
            <a:endParaRPr lang="zh-CN" altLang="en-US" b="1" dirty="0">
              <a:solidFill>
                <a:schemeClr val="accent6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97074" y="1256625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X</a:t>
            </a:r>
            <a:r>
              <a:rPr lang="en-US" altLang="zh-CN" sz="1600" b="1" baseline="-25000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1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997074" y="1614049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X</a:t>
            </a:r>
            <a:r>
              <a:rPr lang="en-US" altLang="zh-CN" sz="1600" b="1" baseline="-25000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n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850384" y="1303777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Z</a:t>
            </a:r>
            <a:r>
              <a:rPr lang="en-US" altLang="zh-CN" sz="1600" b="1" baseline="-25000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1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850384" y="1661201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Z</a:t>
            </a:r>
            <a:r>
              <a:rPr lang="en-US" altLang="zh-CN" sz="1600" b="1" baseline="-25000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m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816474" y="2270801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Y</a:t>
            </a:r>
            <a:r>
              <a:rPr lang="en-US" altLang="zh-CN" sz="1600" b="1" baseline="-25000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1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892674" y="3562350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Y</a:t>
            </a:r>
            <a:r>
              <a:rPr lang="en-US" altLang="zh-CN" sz="1600" b="1" baseline="-25000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k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967940" y="2220913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Q</a:t>
            </a:r>
            <a:r>
              <a:rPr lang="en-US" altLang="zh-CN" sz="1600" b="1" baseline="-25000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1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987674" y="3486150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Q</a:t>
            </a:r>
            <a:r>
              <a:rPr lang="en-US" altLang="zh-CN" sz="1600" b="1" baseline="-25000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k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3962400" y="2495551"/>
            <a:ext cx="585787" cy="609599"/>
            <a:chOff x="1828800" y="2343150"/>
            <a:chExt cx="585787" cy="609599"/>
          </a:xfrm>
        </p:grpSpPr>
        <p:sp>
          <p:nvSpPr>
            <p:cNvPr id="49" name="Rectangle 1175"/>
            <p:cNvSpPr>
              <a:spLocks noChangeArrowheads="1"/>
            </p:cNvSpPr>
            <p:nvPr/>
          </p:nvSpPr>
          <p:spPr bwMode="auto">
            <a:xfrm>
              <a:off x="1828800" y="2343150"/>
              <a:ext cx="457200" cy="60959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3" name="Object 1182"/>
            <p:cNvGraphicFramePr>
              <a:graphicFrameLocks noChangeAspect="1"/>
            </p:cNvGraphicFramePr>
            <p:nvPr/>
          </p:nvGraphicFramePr>
          <p:xfrm>
            <a:off x="2057400" y="2343150"/>
            <a:ext cx="184913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506" name="Equation" r:id="rId2" imgW="4572000" imgH="5486400" progId="Equation.DSMT4">
                    <p:embed/>
                  </p:oleObj>
                </mc:Choice>
                <mc:Fallback>
                  <p:oleObj name="Equation" r:id="rId2" imgW="4572000" imgH="548640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400" y="2343150"/>
                          <a:ext cx="184913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1183"/>
            <p:cNvGraphicFramePr>
              <a:graphicFrameLocks noChangeAspect="1"/>
            </p:cNvGraphicFramePr>
            <p:nvPr/>
          </p:nvGraphicFramePr>
          <p:xfrm>
            <a:off x="2133600" y="2571750"/>
            <a:ext cx="280987" cy="15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507" name="Equation" r:id="rId4" imgW="126720" imgH="126720" progId="Equation.DSMT4">
                    <p:embed/>
                  </p:oleObj>
                </mc:Choice>
                <mc:Fallback>
                  <p:oleObj name="Equation" r:id="rId4" imgW="126720" imgH="12672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3600" y="2571750"/>
                          <a:ext cx="280987" cy="152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" name="组合 67"/>
          <p:cNvGrpSpPr/>
          <p:nvPr/>
        </p:nvGrpSpPr>
        <p:grpSpPr>
          <a:xfrm>
            <a:off x="3962400" y="3403023"/>
            <a:ext cx="585787" cy="616526"/>
            <a:chOff x="1828800" y="2336223"/>
            <a:chExt cx="585787" cy="616526"/>
          </a:xfrm>
        </p:grpSpPr>
        <p:sp>
          <p:nvSpPr>
            <p:cNvPr id="69" name="Rectangle 1175"/>
            <p:cNvSpPr>
              <a:spLocks noChangeArrowheads="1"/>
            </p:cNvSpPr>
            <p:nvPr/>
          </p:nvSpPr>
          <p:spPr bwMode="auto">
            <a:xfrm>
              <a:off x="1828800" y="2343150"/>
              <a:ext cx="457200" cy="60959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0" name="Object 1182"/>
            <p:cNvGraphicFramePr>
              <a:graphicFrameLocks noChangeAspect="1"/>
            </p:cNvGraphicFramePr>
            <p:nvPr/>
          </p:nvGraphicFramePr>
          <p:xfrm>
            <a:off x="2057400" y="2336223"/>
            <a:ext cx="2286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510" name="Equation" r:id="rId6" imgW="215640" imgH="228600" progId="Equation.DSMT4">
                    <p:embed/>
                  </p:oleObj>
                </mc:Choice>
                <mc:Fallback>
                  <p:oleObj name="Equation" r:id="rId6" imgW="215640" imgH="22860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400" y="2336223"/>
                          <a:ext cx="2286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1183"/>
            <p:cNvGraphicFramePr>
              <a:graphicFrameLocks noChangeAspect="1"/>
            </p:cNvGraphicFramePr>
            <p:nvPr/>
          </p:nvGraphicFramePr>
          <p:xfrm>
            <a:off x="2133600" y="2571750"/>
            <a:ext cx="280987" cy="15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511" name="Equation" r:id="rId8" imgW="126720" imgH="126720" progId="Equation.DSMT4">
                    <p:embed/>
                  </p:oleObj>
                </mc:Choice>
                <mc:Fallback>
                  <p:oleObj name="Equation" r:id="rId8" imgW="126720" imgH="12672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3600" y="2571750"/>
                          <a:ext cx="280987" cy="152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" name="TextBox 72"/>
          <p:cNvSpPr txBox="1"/>
          <p:nvPr/>
        </p:nvSpPr>
        <p:spPr>
          <a:xfrm>
            <a:off x="4038600" y="3105150"/>
            <a:ext cx="461665" cy="304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…</a:t>
            </a:r>
            <a:endParaRPr lang="zh-CN" altLang="en-US" b="1" dirty="0">
              <a:solidFill>
                <a:schemeClr val="accent6"/>
              </a:solidFill>
            </a:endParaRPr>
          </a:p>
        </p:txBody>
      </p:sp>
      <p:graphicFrame>
        <p:nvGraphicFramePr>
          <p:cNvPr id="74" name="Object 1219"/>
          <p:cNvGraphicFramePr>
            <a:graphicFrameLocks noChangeAspect="1"/>
          </p:cNvGraphicFramePr>
          <p:nvPr/>
        </p:nvGraphicFramePr>
        <p:xfrm>
          <a:off x="3962400" y="3409950"/>
          <a:ext cx="194352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13" name="Equation" r:id="rId10" imgW="203040" imgH="228600" progId="Equation.DSMT4">
                  <p:embed/>
                </p:oleObj>
              </mc:Choice>
              <mc:Fallback>
                <p:oleObj name="Equation" r:id="rId10" imgW="203040" imgH="2286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409950"/>
                        <a:ext cx="194352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时序电路的模型：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58" name="Line 85"/>
          <p:cNvSpPr>
            <a:spLocks noChangeShapeType="1"/>
          </p:cNvSpPr>
          <p:nvPr/>
        </p:nvSpPr>
        <p:spPr bwMode="auto">
          <a:xfrm>
            <a:off x="4419600" y="2800350"/>
            <a:ext cx="28733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9" name="Line 87"/>
          <p:cNvSpPr>
            <a:spLocks noChangeShapeType="1"/>
          </p:cNvSpPr>
          <p:nvPr/>
        </p:nvSpPr>
        <p:spPr bwMode="auto">
          <a:xfrm>
            <a:off x="4706938" y="2793626"/>
            <a:ext cx="0" cy="137832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0" name="Line 85"/>
          <p:cNvSpPr>
            <a:spLocks noChangeShapeType="1"/>
          </p:cNvSpPr>
          <p:nvPr/>
        </p:nvSpPr>
        <p:spPr bwMode="auto">
          <a:xfrm>
            <a:off x="4419600" y="3714750"/>
            <a:ext cx="28733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4495800" y="4248150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CLK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77514" name="Object 10"/>
          <p:cNvGraphicFramePr>
            <a:graphicFrameLocks noChangeAspect="1"/>
          </p:cNvGraphicFramePr>
          <p:nvPr/>
        </p:nvGraphicFramePr>
        <p:xfrm>
          <a:off x="3968750" y="2495550"/>
          <a:ext cx="1809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14" name="Equation" r:id="rId12" imgW="190440" imgH="228600" progId="Equation.DSMT4">
                  <p:embed/>
                </p:oleObj>
              </mc:Choice>
              <mc:Fallback>
                <p:oleObj name="Equation" r:id="rId12" imgW="190440" imgH="2286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2495550"/>
                        <a:ext cx="18097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时序逻辑设计的步骤：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762"/>
          <p:cNvSpPr txBox="1">
            <a:spLocks noChangeArrowheads="1"/>
          </p:cNvSpPr>
          <p:nvPr/>
        </p:nvSpPr>
        <p:spPr bwMode="auto">
          <a:xfrm>
            <a:off x="685800" y="10477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1.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逻辑抽象，得出电路的状态转换图和状态转换表。</a:t>
            </a:r>
          </a:p>
        </p:txBody>
      </p:sp>
      <p:sp>
        <p:nvSpPr>
          <p:cNvPr id="14" name="Text Box 763"/>
          <p:cNvSpPr txBox="1">
            <a:spLocks noChangeArrowheads="1"/>
          </p:cNvSpPr>
          <p:nvPr/>
        </p:nvSpPr>
        <p:spPr bwMode="auto">
          <a:xfrm>
            <a:off x="685800" y="1504950"/>
            <a:ext cx="3298825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状态化简。</a:t>
            </a:r>
          </a:p>
        </p:txBody>
      </p:sp>
      <p:sp>
        <p:nvSpPr>
          <p:cNvPr id="15" name="Text Box 764"/>
          <p:cNvSpPr txBox="1">
            <a:spLocks noChangeArrowheads="1"/>
          </p:cNvSpPr>
          <p:nvPr/>
        </p:nvSpPr>
        <p:spPr bwMode="auto">
          <a:xfrm>
            <a:off x="685800" y="1962150"/>
            <a:ext cx="5741988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3.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状态分配（状态编码）。</a:t>
            </a:r>
          </a:p>
        </p:txBody>
      </p:sp>
      <p:sp>
        <p:nvSpPr>
          <p:cNvPr id="16" name="Text Box 765"/>
          <p:cNvSpPr txBox="1">
            <a:spLocks noChangeArrowheads="1"/>
          </p:cNvSpPr>
          <p:nvPr/>
        </p:nvSpPr>
        <p:spPr bwMode="auto">
          <a:xfrm>
            <a:off x="685800" y="2419350"/>
            <a:ext cx="8208962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4.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选定触发器类型，求出电路的驱动方程和输出方程。</a:t>
            </a:r>
          </a:p>
        </p:txBody>
      </p:sp>
      <p:sp>
        <p:nvSpPr>
          <p:cNvPr id="17" name="Text Box 766"/>
          <p:cNvSpPr txBox="1">
            <a:spLocks noChangeArrowheads="1"/>
          </p:cNvSpPr>
          <p:nvPr/>
        </p:nvSpPr>
        <p:spPr bwMode="auto">
          <a:xfrm>
            <a:off x="685800" y="2885242"/>
            <a:ext cx="63563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5.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根据得到的方程式画出逻辑图。</a:t>
            </a:r>
          </a:p>
        </p:txBody>
      </p:sp>
      <p:sp>
        <p:nvSpPr>
          <p:cNvPr id="18" name="Text Box 767"/>
          <p:cNvSpPr txBox="1">
            <a:spLocks noChangeArrowheads="1"/>
          </p:cNvSpPr>
          <p:nvPr/>
        </p:nvSpPr>
        <p:spPr bwMode="auto">
          <a:xfrm>
            <a:off x="685800" y="3452396"/>
            <a:ext cx="6053137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6.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检查设计的电路能否自启动。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14" grpId="0" build="p" autoUpdateAnimBg="0"/>
      <p:bldP spid="15" grpId="0" build="p" autoUpdateAnimBg="0"/>
      <p:bldP spid="16" grpId="0" uiExpand="1" build="p" autoUpdateAnimBg="0"/>
      <p:bldP spid="17" grpId="0" build="p" autoUpdateAnimBg="0"/>
      <p:bldP spid="18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5623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的状态图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228600" y="666750"/>
            <a:ext cx="5347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触发器设计一个同步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进制加法计数器</a:t>
            </a: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762000" y="11239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第一步：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得出电路的状态转换图和状态转换表。</a:t>
            </a:r>
          </a:p>
        </p:txBody>
      </p:sp>
      <p:grpSp>
        <p:nvGrpSpPr>
          <p:cNvPr id="154" name="Group 6"/>
          <p:cNvGrpSpPr>
            <a:grpSpLocks/>
          </p:cNvGrpSpPr>
          <p:nvPr/>
        </p:nvGrpSpPr>
        <p:grpSpPr bwMode="auto">
          <a:xfrm>
            <a:off x="1295400" y="1962150"/>
            <a:ext cx="2209800" cy="1371600"/>
            <a:chOff x="1958" y="2064"/>
            <a:chExt cx="1626" cy="912"/>
          </a:xfrm>
        </p:grpSpPr>
        <p:grpSp>
          <p:nvGrpSpPr>
            <p:cNvPr id="158" name="Group 7"/>
            <p:cNvGrpSpPr>
              <a:grpSpLocks/>
            </p:cNvGrpSpPr>
            <p:nvPr/>
          </p:nvGrpSpPr>
          <p:grpSpPr bwMode="auto">
            <a:xfrm>
              <a:off x="1958" y="2064"/>
              <a:ext cx="394" cy="336"/>
              <a:chOff x="3110" y="2544"/>
              <a:chExt cx="394" cy="336"/>
            </a:xfrm>
          </p:grpSpPr>
          <p:sp>
            <p:nvSpPr>
              <p:cNvPr id="215" name="Text Box 8"/>
              <p:cNvSpPr txBox="1">
                <a:spLocks noChangeArrowheads="1"/>
              </p:cNvSpPr>
              <p:nvPr/>
            </p:nvSpPr>
            <p:spPr bwMode="auto">
              <a:xfrm>
                <a:off x="3110" y="2596"/>
                <a:ext cx="37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i="0" dirty="0">
                    <a:latin typeface="微软雅黑" pitchFamily="34" charset="-122"/>
                    <a:ea typeface="微软雅黑" pitchFamily="34" charset="-122"/>
                  </a:rPr>
                  <a:t>S</a:t>
                </a:r>
                <a:r>
                  <a:rPr lang="en-US" altLang="zh-CN" sz="1600" i="0" baseline="-25000" dirty="0">
                    <a:latin typeface="微软雅黑" pitchFamily="34" charset="-122"/>
                    <a:ea typeface="微软雅黑" pitchFamily="34" charset="-122"/>
                  </a:rPr>
                  <a:t>0</a:t>
                </a:r>
                <a:r>
                  <a:rPr lang="en-US" altLang="zh-CN" sz="1600" i="0" dirty="0">
                    <a:latin typeface="微软雅黑" pitchFamily="34" charset="-122"/>
                    <a:ea typeface="微软雅黑" pitchFamily="34" charset="-122"/>
                  </a:rPr>
                  <a:t>/0</a:t>
                </a:r>
              </a:p>
            </p:txBody>
          </p:sp>
          <p:sp>
            <p:nvSpPr>
              <p:cNvPr id="216" name="Oval 9"/>
              <p:cNvSpPr>
                <a:spLocks noChangeArrowheads="1"/>
              </p:cNvSpPr>
              <p:nvPr/>
            </p:nvSpPr>
            <p:spPr bwMode="auto">
              <a:xfrm>
                <a:off x="3120" y="2544"/>
                <a:ext cx="38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98" name="Line 10"/>
            <p:cNvSpPr>
              <a:spLocks noChangeShapeType="1"/>
            </p:cNvSpPr>
            <p:nvPr/>
          </p:nvSpPr>
          <p:spPr bwMode="auto">
            <a:xfrm>
              <a:off x="2352" y="225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99" name="Group 11"/>
            <p:cNvGrpSpPr>
              <a:grpSpLocks/>
            </p:cNvGrpSpPr>
            <p:nvPr/>
          </p:nvGrpSpPr>
          <p:grpSpPr bwMode="auto">
            <a:xfrm>
              <a:off x="2592" y="2064"/>
              <a:ext cx="394" cy="336"/>
              <a:chOff x="3110" y="2544"/>
              <a:chExt cx="394" cy="336"/>
            </a:xfrm>
          </p:grpSpPr>
          <p:sp>
            <p:nvSpPr>
              <p:cNvPr id="213" name="Text Box 12"/>
              <p:cNvSpPr txBox="1">
                <a:spLocks noChangeArrowheads="1"/>
              </p:cNvSpPr>
              <p:nvPr/>
            </p:nvSpPr>
            <p:spPr bwMode="auto">
              <a:xfrm>
                <a:off x="3110" y="2596"/>
                <a:ext cx="37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i="0" dirty="0">
                    <a:latin typeface="微软雅黑" pitchFamily="34" charset="-122"/>
                    <a:ea typeface="微软雅黑" pitchFamily="34" charset="-122"/>
                  </a:rPr>
                  <a:t>S</a:t>
                </a:r>
                <a:r>
                  <a:rPr lang="en-US" altLang="zh-CN" sz="1600" i="0" baseline="-25000" dirty="0">
                    <a:latin typeface="微软雅黑" pitchFamily="34" charset="-122"/>
                    <a:ea typeface="微软雅黑" pitchFamily="34" charset="-122"/>
                  </a:rPr>
                  <a:t>1</a:t>
                </a:r>
                <a:r>
                  <a:rPr lang="en-US" altLang="zh-CN" sz="1600" i="0" dirty="0">
                    <a:latin typeface="微软雅黑" pitchFamily="34" charset="-122"/>
                    <a:ea typeface="微软雅黑" pitchFamily="34" charset="-122"/>
                  </a:rPr>
                  <a:t>/0</a:t>
                </a:r>
              </a:p>
            </p:txBody>
          </p:sp>
          <p:sp>
            <p:nvSpPr>
              <p:cNvPr id="214" name="Oval 13"/>
              <p:cNvSpPr>
                <a:spLocks noChangeArrowheads="1"/>
              </p:cNvSpPr>
              <p:nvPr/>
            </p:nvSpPr>
            <p:spPr bwMode="auto">
              <a:xfrm>
                <a:off x="3120" y="2544"/>
                <a:ext cx="38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00" name="Group 14"/>
            <p:cNvGrpSpPr>
              <a:grpSpLocks/>
            </p:cNvGrpSpPr>
            <p:nvPr/>
          </p:nvGrpSpPr>
          <p:grpSpPr bwMode="auto">
            <a:xfrm>
              <a:off x="3190" y="2064"/>
              <a:ext cx="394" cy="336"/>
              <a:chOff x="3110" y="2544"/>
              <a:chExt cx="394" cy="336"/>
            </a:xfrm>
          </p:grpSpPr>
          <p:sp>
            <p:nvSpPr>
              <p:cNvPr id="211" name="Text Box 15"/>
              <p:cNvSpPr txBox="1">
                <a:spLocks noChangeArrowheads="1"/>
              </p:cNvSpPr>
              <p:nvPr/>
            </p:nvSpPr>
            <p:spPr bwMode="auto">
              <a:xfrm>
                <a:off x="3110" y="2596"/>
                <a:ext cx="37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i="0">
                    <a:latin typeface="微软雅黑" pitchFamily="34" charset="-122"/>
                    <a:ea typeface="微软雅黑" pitchFamily="34" charset="-122"/>
                  </a:rPr>
                  <a:t>S</a:t>
                </a:r>
                <a:r>
                  <a:rPr lang="en-US" altLang="zh-CN" sz="1600" i="0" baseline="-25000">
                    <a:latin typeface="微软雅黑" pitchFamily="34" charset="-122"/>
                    <a:ea typeface="微软雅黑" pitchFamily="34" charset="-122"/>
                  </a:rPr>
                  <a:t>2</a:t>
                </a:r>
                <a:r>
                  <a:rPr lang="en-US" altLang="zh-CN" sz="1600" i="0">
                    <a:latin typeface="微软雅黑" pitchFamily="34" charset="-122"/>
                    <a:ea typeface="微软雅黑" pitchFamily="34" charset="-122"/>
                  </a:rPr>
                  <a:t>/0</a:t>
                </a:r>
              </a:p>
            </p:txBody>
          </p:sp>
          <p:sp>
            <p:nvSpPr>
              <p:cNvPr id="212" name="Oval 16"/>
              <p:cNvSpPr>
                <a:spLocks noChangeArrowheads="1"/>
              </p:cNvSpPr>
              <p:nvPr/>
            </p:nvSpPr>
            <p:spPr bwMode="auto">
              <a:xfrm>
                <a:off x="3120" y="2544"/>
                <a:ext cx="38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01" name="Group 17"/>
            <p:cNvGrpSpPr>
              <a:grpSpLocks/>
            </p:cNvGrpSpPr>
            <p:nvPr/>
          </p:nvGrpSpPr>
          <p:grpSpPr bwMode="auto">
            <a:xfrm>
              <a:off x="2640" y="2640"/>
              <a:ext cx="394" cy="336"/>
              <a:chOff x="3110" y="2544"/>
              <a:chExt cx="394" cy="336"/>
            </a:xfrm>
          </p:grpSpPr>
          <p:sp>
            <p:nvSpPr>
              <p:cNvPr id="209" name="Text Box 18"/>
              <p:cNvSpPr txBox="1">
                <a:spLocks noChangeArrowheads="1"/>
              </p:cNvSpPr>
              <p:nvPr/>
            </p:nvSpPr>
            <p:spPr bwMode="auto">
              <a:xfrm>
                <a:off x="3110" y="2596"/>
                <a:ext cx="37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i="0">
                    <a:latin typeface="微软雅黑" pitchFamily="34" charset="-122"/>
                    <a:ea typeface="微软雅黑" pitchFamily="34" charset="-122"/>
                  </a:rPr>
                  <a:t>S</a:t>
                </a:r>
                <a:r>
                  <a:rPr lang="en-US" altLang="zh-CN" sz="1600" i="0" baseline="-25000">
                    <a:latin typeface="微软雅黑" pitchFamily="34" charset="-122"/>
                    <a:ea typeface="微软雅黑" pitchFamily="34" charset="-122"/>
                  </a:rPr>
                  <a:t>3</a:t>
                </a:r>
                <a:r>
                  <a:rPr lang="en-US" altLang="zh-CN" sz="1600" i="0">
                    <a:latin typeface="微软雅黑" pitchFamily="34" charset="-122"/>
                    <a:ea typeface="微软雅黑" pitchFamily="34" charset="-122"/>
                  </a:rPr>
                  <a:t>/0</a:t>
                </a:r>
              </a:p>
            </p:txBody>
          </p:sp>
          <p:sp>
            <p:nvSpPr>
              <p:cNvPr id="210" name="Oval 19"/>
              <p:cNvSpPr>
                <a:spLocks noChangeArrowheads="1"/>
              </p:cNvSpPr>
              <p:nvPr/>
            </p:nvSpPr>
            <p:spPr bwMode="auto">
              <a:xfrm>
                <a:off x="3120" y="2544"/>
                <a:ext cx="38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02" name="Group 20"/>
            <p:cNvGrpSpPr>
              <a:grpSpLocks/>
            </p:cNvGrpSpPr>
            <p:nvPr/>
          </p:nvGrpSpPr>
          <p:grpSpPr bwMode="auto">
            <a:xfrm>
              <a:off x="1990" y="2640"/>
              <a:ext cx="394" cy="336"/>
              <a:chOff x="3110" y="2544"/>
              <a:chExt cx="394" cy="336"/>
            </a:xfrm>
          </p:grpSpPr>
          <p:sp>
            <p:nvSpPr>
              <p:cNvPr id="207" name="Text Box 21"/>
              <p:cNvSpPr txBox="1">
                <a:spLocks noChangeArrowheads="1"/>
              </p:cNvSpPr>
              <p:nvPr/>
            </p:nvSpPr>
            <p:spPr bwMode="auto">
              <a:xfrm>
                <a:off x="3110" y="2596"/>
                <a:ext cx="37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i="0">
                    <a:latin typeface="微软雅黑" pitchFamily="34" charset="-122"/>
                    <a:ea typeface="微软雅黑" pitchFamily="34" charset="-122"/>
                  </a:rPr>
                  <a:t>S</a:t>
                </a:r>
                <a:r>
                  <a:rPr lang="en-US" altLang="zh-CN" sz="1600" i="0" baseline="-25000">
                    <a:latin typeface="微软雅黑" pitchFamily="34" charset="-122"/>
                    <a:ea typeface="微软雅黑" pitchFamily="34" charset="-122"/>
                  </a:rPr>
                  <a:t>4</a:t>
                </a:r>
                <a:r>
                  <a:rPr lang="en-US" altLang="zh-CN" sz="1600" i="0">
                    <a:latin typeface="微软雅黑" pitchFamily="34" charset="-122"/>
                    <a:ea typeface="微软雅黑" pitchFamily="34" charset="-122"/>
                  </a:rPr>
                  <a:t>/1</a:t>
                </a:r>
              </a:p>
            </p:txBody>
          </p:sp>
          <p:sp>
            <p:nvSpPr>
              <p:cNvPr id="208" name="Oval 22"/>
              <p:cNvSpPr>
                <a:spLocks noChangeArrowheads="1"/>
              </p:cNvSpPr>
              <p:nvPr/>
            </p:nvSpPr>
            <p:spPr bwMode="auto">
              <a:xfrm>
                <a:off x="3120" y="2544"/>
                <a:ext cx="38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03" name="Line 23"/>
            <p:cNvSpPr>
              <a:spLocks noChangeShapeType="1"/>
            </p:cNvSpPr>
            <p:nvPr/>
          </p:nvSpPr>
          <p:spPr bwMode="auto">
            <a:xfrm>
              <a:off x="2976" y="225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4" name="Line 24"/>
            <p:cNvSpPr>
              <a:spLocks noChangeShapeType="1"/>
            </p:cNvSpPr>
            <p:nvPr/>
          </p:nvSpPr>
          <p:spPr bwMode="auto">
            <a:xfrm flipH="1">
              <a:off x="2976" y="2400"/>
              <a:ext cx="336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5" name="Line 25"/>
            <p:cNvSpPr>
              <a:spLocks noChangeShapeType="1"/>
            </p:cNvSpPr>
            <p:nvPr/>
          </p:nvSpPr>
          <p:spPr bwMode="auto">
            <a:xfrm flipH="1">
              <a:off x="2400" y="283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6" name="Line 26"/>
            <p:cNvSpPr>
              <a:spLocks noChangeShapeType="1"/>
            </p:cNvSpPr>
            <p:nvPr/>
          </p:nvSpPr>
          <p:spPr bwMode="auto">
            <a:xfrm flipV="1">
              <a:off x="2160" y="240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217" name="Group 27"/>
          <p:cNvGraphicFramePr>
            <a:graphicFrameLocks noGrp="1"/>
          </p:cNvGraphicFramePr>
          <p:nvPr/>
        </p:nvGraphicFramePr>
        <p:xfrm>
          <a:off x="4953000" y="1885950"/>
          <a:ext cx="2438400" cy="2011680"/>
        </p:xfrm>
        <a:graphic>
          <a:graphicData uri="http://schemas.openxmlformats.org/drawingml/2006/table">
            <a:tbl>
              <a:tblPr/>
              <a:tblGrid>
                <a:gridCol w="705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现态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次态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进位输出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</a:t>
                      </a:r>
                      <a:r>
                        <a:rPr kumimoji="1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</a:t>
                      </a:r>
                      <a:r>
                        <a:rPr kumimoji="1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</a:t>
                      </a:r>
                      <a:r>
                        <a:rPr kumimoji="1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</a:t>
                      </a:r>
                      <a:r>
                        <a:rPr kumimoji="1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</a:t>
                      </a:r>
                      <a:r>
                        <a:rPr kumimoji="1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</a:t>
                      </a:r>
                      <a:r>
                        <a:rPr kumimoji="1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</a:t>
                      </a:r>
                      <a:r>
                        <a:rPr kumimoji="1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</a:t>
                      </a:r>
                      <a:r>
                        <a:rPr kumimoji="1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8" name="TextBox 217"/>
          <p:cNvSpPr txBox="1"/>
          <p:nvPr/>
        </p:nvSpPr>
        <p:spPr>
          <a:xfrm>
            <a:off x="5105400" y="15811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的状态表</a:t>
            </a:r>
          </a:p>
        </p:txBody>
      </p:sp>
      <p:sp>
        <p:nvSpPr>
          <p:cNvPr id="219" name="Text Box 762"/>
          <p:cNvSpPr txBox="1">
            <a:spLocks noChangeArrowheads="1"/>
          </p:cNvSpPr>
          <p:nvPr/>
        </p:nvSpPr>
        <p:spPr bwMode="auto">
          <a:xfrm>
            <a:off x="609600" y="43243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第二步：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状态图不需要化简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"/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3" grpId="0" build="p" autoUpdateAnimBg="0"/>
      <p:bldP spid="218" grpId="0"/>
      <p:bldP spid="21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762000" y="11239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第三步：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状态分配（状态编码）。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143000" y="16573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的编码表</a:t>
            </a: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914400" y="1962150"/>
          <a:ext cx="2385060" cy="2235519"/>
        </p:xfrm>
        <a:graphic>
          <a:graphicData uri="http://schemas.openxmlformats.org/drawingml/2006/table">
            <a:tbl>
              <a:tblPr/>
              <a:tblGrid>
                <a:gridCol w="596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337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Calibri"/>
                          <a:ea typeface="微软雅黑"/>
                          <a:cs typeface="Times New Roman"/>
                        </a:rPr>
                        <a:t>状态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Calibri"/>
                          <a:ea typeface="微软雅黑"/>
                          <a:cs typeface="Times New Roman"/>
                        </a:rPr>
                        <a:t>编码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Q</a:t>
                      </a:r>
                      <a:r>
                        <a:rPr lang="en-US" sz="1600" b="1" kern="100" baseline="-25000" dirty="0">
                          <a:latin typeface="微软雅黑"/>
                          <a:ea typeface="宋体"/>
                          <a:cs typeface="Times New Roman"/>
                        </a:rPr>
                        <a:t>2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Q</a:t>
                      </a:r>
                      <a:r>
                        <a:rPr lang="en-US" sz="1600" b="1" kern="100" baseline="-25000" dirty="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Q</a:t>
                      </a:r>
                      <a:r>
                        <a:rPr lang="en-US" sz="1600" b="1" kern="100" baseline="-250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3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S</a:t>
                      </a:r>
                      <a:r>
                        <a:rPr lang="en-US" sz="1600" b="1" kern="100" baseline="-250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S</a:t>
                      </a:r>
                      <a:r>
                        <a:rPr lang="en-US" sz="1600" b="1" kern="100" baseline="-250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S</a:t>
                      </a:r>
                      <a:r>
                        <a:rPr lang="en-US" sz="1600" b="1" kern="100" baseline="-25000">
                          <a:latin typeface="微软雅黑"/>
                          <a:ea typeface="宋体"/>
                          <a:cs typeface="Times New Roman"/>
                        </a:rPr>
                        <a:t>2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3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S</a:t>
                      </a:r>
                      <a:r>
                        <a:rPr lang="en-US" sz="1600" b="1" kern="100" baseline="-25000">
                          <a:latin typeface="微软雅黑"/>
                          <a:ea typeface="宋体"/>
                          <a:cs typeface="Times New Roman"/>
                        </a:rPr>
                        <a:t>3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S</a:t>
                      </a:r>
                      <a:r>
                        <a:rPr lang="en-US" sz="1600" b="1" kern="100" baseline="-25000">
                          <a:latin typeface="微软雅黑"/>
                          <a:ea typeface="宋体"/>
                          <a:cs typeface="Times New Roman"/>
                        </a:rPr>
                        <a:t>4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70337" name="Picture 1" descr="C:\Users\hfutliujun\AppData\Roaming\Tencent\Users\350654676\QQ\WinTemp\RichOle\AQXZM[SVDE7V]4GKV}@1_0U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733551"/>
            <a:ext cx="2642774" cy="2514600"/>
          </a:xfrm>
          <a:prstGeom prst="rect">
            <a:avLst/>
          </a:prstGeom>
          <a:noFill/>
        </p:spPr>
      </p:pic>
      <p:sp>
        <p:nvSpPr>
          <p:cNvPr id="15" name="矩形 14"/>
          <p:cNvSpPr/>
          <p:nvPr/>
        </p:nvSpPr>
        <p:spPr>
          <a:xfrm>
            <a:off x="228600" y="666750"/>
            <a:ext cx="5347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触发器设计一个同步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进制加法计数器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0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0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build="p" autoUpdateAnimBg="0"/>
      <p:bldP spid="2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762000" y="11239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第三步：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状态分配（状态编码）。</a:t>
            </a:r>
          </a:p>
        </p:txBody>
      </p:sp>
      <p:graphicFrame>
        <p:nvGraphicFramePr>
          <p:cNvPr id="270343" name="Object 7"/>
          <p:cNvGraphicFramePr>
            <a:graphicFrameLocks noChangeAspect="1"/>
          </p:cNvGraphicFramePr>
          <p:nvPr/>
        </p:nvGraphicFramePr>
        <p:xfrm>
          <a:off x="0" y="0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62" name="Equation" r:id="rId2" imgW="304536" imgH="355292" progId="Equation.DSMT4">
                  <p:embed/>
                </p:oleObj>
              </mc:Choice>
              <mc:Fallback>
                <p:oleObj name="Equation" r:id="rId2" imgW="304536" imgH="355292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2" name="Object 6"/>
          <p:cNvGraphicFramePr>
            <a:graphicFrameLocks noChangeAspect="1"/>
          </p:cNvGraphicFramePr>
          <p:nvPr/>
        </p:nvGraphicFramePr>
        <p:xfrm>
          <a:off x="0" y="0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63" name="Equation" r:id="rId4" imgW="304536" imgH="355292" progId="Equation.DSMT4">
                  <p:embed/>
                </p:oleObj>
              </mc:Choice>
              <mc:Fallback>
                <p:oleObj name="Equation" r:id="rId4" imgW="304536" imgH="35529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1" name="Object 5"/>
          <p:cNvGraphicFramePr>
            <a:graphicFrameLocks noChangeAspect="1"/>
          </p:cNvGraphicFramePr>
          <p:nvPr/>
        </p:nvGraphicFramePr>
        <p:xfrm>
          <a:off x="0" y="0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64" name="Equation" r:id="rId6" imgW="304536" imgH="355292" progId="Equation.DSMT4">
                  <p:embed/>
                </p:oleObj>
              </mc:Choice>
              <mc:Fallback>
                <p:oleObj name="Equation" r:id="rId6" imgW="304536" imgH="355292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0" name="Object 4"/>
          <p:cNvGraphicFramePr>
            <a:graphicFrameLocks noChangeAspect="1"/>
          </p:cNvGraphicFramePr>
          <p:nvPr/>
        </p:nvGraphicFramePr>
        <p:xfrm>
          <a:off x="0" y="0"/>
          <a:ext cx="4572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65" name="Equation" r:id="rId8" imgW="457002" imgH="355446" progId="Equation.DSMT4">
                  <p:embed/>
                </p:oleObj>
              </mc:Choice>
              <mc:Fallback>
                <p:oleObj name="Equation" r:id="rId8" imgW="457002" imgH="355446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4572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39" name="Object 3"/>
          <p:cNvGraphicFramePr>
            <a:graphicFrameLocks noChangeAspect="1"/>
          </p:cNvGraphicFramePr>
          <p:nvPr/>
        </p:nvGraphicFramePr>
        <p:xfrm>
          <a:off x="0" y="0"/>
          <a:ext cx="4572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66" name="Equation" r:id="rId10" imgW="457002" imgH="355446" progId="Equation.DSMT4">
                  <p:embed/>
                </p:oleObj>
              </mc:Choice>
              <mc:Fallback>
                <p:oleObj name="Equation" r:id="rId10" imgW="457002" imgH="355446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4572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38" name="Object 2"/>
          <p:cNvGraphicFramePr>
            <a:graphicFrameLocks noChangeAspect="1"/>
          </p:cNvGraphicFramePr>
          <p:nvPr/>
        </p:nvGraphicFramePr>
        <p:xfrm>
          <a:off x="0" y="0"/>
          <a:ext cx="4572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67" name="Equation" r:id="rId12" imgW="457002" imgH="355446" progId="Equation.DSMT4">
                  <p:embed/>
                </p:oleObj>
              </mc:Choice>
              <mc:Fallback>
                <p:oleObj name="Equation" r:id="rId12" imgW="457002" imgH="355446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4572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0345" name="Picture 9" descr="C:\Users\hfutliujun\AppData\Roaming\Tencent\Users\350654676\QQ\WinTemp\RichOle\9}_%I[R@8K]B85`4RV$GDR3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886200" y="1885950"/>
            <a:ext cx="4343400" cy="2299447"/>
          </a:xfrm>
          <a:prstGeom prst="rect">
            <a:avLst/>
          </a:prstGeom>
          <a:noFill/>
        </p:spPr>
      </p:pic>
      <p:pic>
        <p:nvPicPr>
          <p:cNvPr id="16" name="Picture 1" descr="C:\Users\hfutliujun\AppData\Roaming\Tencent\Users\350654676\QQ\WinTemp\RichOle\AQXZM[SVDE7V]4GKV}@1_0U.png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38200" y="1581150"/>
            <a:ext cx="2642774" cy="25146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5029200" y="15811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3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编码后的状态表</a:t>
            </a:r>
          </a:p>
        </p:txBody>
      </p:sp>
      <p:sp>
        <p:nvSpPr>
          <p:cNvPr id="15" name="矩形 14"/>
          <p:cNvSpPr/>
          <p:nvPr/>
        </p:nvSpPr>
        <p:spPr>
          <a:xfrm>
            <a:off x="228600" y="666750"/>
            <a:ext cx="5347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触发器设计一个同步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进制加法计数器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762000" y="10477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第四步：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求出驱动方程和输出方程。</a:t>
            </a:r>
          </a:p>
        </p:txBody>
      </p:sp>
      <p:graphicFrame>
        <p:nvGraphicFramePr>
          <p:cNvPr id="19" name="Group 4"/>
          <p:cNvGraphicFramePr>
            <a:graphicFrameLocks noGrp="1"/>
          </p:cNvGraphicFramePr>
          <p:nvPr/>
        </p:nvGraphicFramePr>
        <p:xfrm>
          <a:off x="304800" y="1733550"/>
          <a:ext cx="6096000" cy="245364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现态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次态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激励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激励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激励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进位输出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  <a:r>
                        <a:rPr kumimoji="1" lang="en-US" altLang="zh-CN" sz="16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 </a:t>
                      </a: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  <a:r>
                        <a:rPr kumimoji="1" lang="en-US" altLang="zh-CN" sz="16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    </a:t>
                      </a: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  <a:r>
                        <a:rPr kumimoji="1" lang="en-US" altLang="zh-CN" sz="16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  <a:r>
                        <a:rPr kumimoji="1" lang="en-US" altLang="zh-CN" sz="16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  <a:r>
                        <a:rPr kumimoji="1" lang="en-US" altLang="zh-CN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+1</a:t>
                      </a: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  <a:r>
                        <a:rPr kumimoji="1" lang="en-US" altLang="zh-CN" sz="16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  <a:r>
                        <a:rPr kumimoji="1" lang="en-US" altLang="zh-CN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+1</a:t>
                      </a: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  <a:r>
                        <a:rPr kumimoji="1" lang="en-US" altLang="zh-CN" sz="16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  <a:r>
                        <a:rPr kumimoji="1" lang="en-US" altLang="zh-CN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+1</a:t>
                      </a:r>
                      <a:endParaRPr kumimoji="1" lang="en-US" altLang="zh-CN" sz="1600" b="0" i="1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J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k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J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k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J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k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0    0    0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0    1    1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1    0    0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0    1    1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1    0    0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0    0    0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Box 60"/>
          <p:cNvSpPr txBox="1">
            <a:spLocks noChangeArrowheads="1"/>
          </p:cNvSpPr>
          <p:nvPr/>
        </p:nvSpPr>
        <p:spPr bwMode="auto">
          <a:xfrm>
            <a:off x="3429000" y="2622550"/>
            <a:ext cx="2476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000" i="0" dirty="0"/>
              <a:t>0   </a:t>
            </a:r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    </a:t>
            </a:r>
            <a:r>
              <a:rPr lang="en-US" altLang="zh-CN" sz="2000" i="0" dirty="0"/>
              <a:t>0   </a:t>
            </a:r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     </a:t>
            </a:r>
            <a:r>
              <a:rPr lang="en-US" altLang="zh-CN" sz="2000" i="0" dirty="0"/>
              <a:t>1   </a:t>
            </a:r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</a:t>
            </a:r>
          </a:p>
        </p:txBody>
      </p:sp>
      <p:sp>
        <p:nvSpPr>
          <p:cNvPr id="21" name="Text Box 61"/>
          <p:cNvSpPr txBox="1">
            <a:spLocks noChangeArrowheads="1"/>
          </p:cNvSpPr>
          <p:nvPr/>
        </p:nvSpPr>
        <p:spPr bwMode="auto">
          <a:xfrm>
            <a:off x="3429000" y="2891664"/>
            <a:ext cx="2514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i="0" dirty="0"/>
              <a:t>0   </a:t>
            </a:r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    </a:t>
            </a:r>
            <a:r>
              <a:rPr lang="en-US" altLang="zh-CN" sz="2000" i="0" dirty="0"/>
              <a:t>1   </a:t>
            </a:r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         </a:t>
            </a:r>
            <a:r>
              <a:rPr lang="en-US" altLang="zh-CN" sz="2000" i="0" dirty="0">
                <a:ea typeface="黑体" pitchFamily="49" charset="-122"/>
                <a:sym typeface="Symbol" pitchFamily="18" charset="2"/>
              </a:rPr>
              <a:t>1</a:t>
            </a:r>
          </a:p>
        </p:txBody>
      </p:sp>
      <p:sp>
        <p:nvSpPr>
          <p:cNvPr id="22" name="Text Box 62"/>
          <p:cNvSpPr txBox="1">
            <a:spLocks noChangeArrowheads="1"/>
          </p:cNvSpPr>
          <p:nvPr/>
        </p:nvSpPr>
        <p:spPr bwMode="auto">
          <a:xfrm>
            <a:off x="3429000" y="3196464"/>
            <a:ext cx="2819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i="0" dirty="0"/>
              <a:t>0   </a:t>
            </a:r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        </a:t>
            </a:r>
            <a:r>
              <a:rPr lang="en-US" altLang="zh-CN" sz="2000" i="0" dirty="0">
                <a:ea typeface="黑体" pitchFamily="49" charset="-122"/>
                <a:sym typeface="Symbol" pitchFamily="18" charset="2"/>
              </a:rPr>
              <a:t>0</a:t>
            </a:r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     </a:t>
            </a:r>
            <a:r>
              <a:rPr lang="en-US" altLang="zh-CN" sz="2000" i="0" dirty="0">
                <a:ea typeface="黑体" pitchFamily="49" charset="-122"/>
                <a:sym typeface="Symbol" pitchFamily="18" charset="2"/>
              </a:rPr>
              <a:t>1   </a:t>
            </a:r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</a:t>
            </a:r>
            <a:endParaRPr lang="en-US" altLang="zh-CN" sz="2000" i="0" dirty="0">
              <a:ea typeface="黑体" pitchFamily="49" charset="-122"/>
              <a:sym typeface="Symbol" pitchFamily="18" charset="2"/>
            </a:endParaRPr>
          </a:p>
        </p:txBody>
      </p:sp>
      <p:sp>
        <p:nvSpPr>
          <p:cNvPr id="23" name="Text Box 63"/>
          <p:cNvSpPr txBox="1">
            <a:spLocks noChangeArrowheads="1"/>
          </p:cNvSpPr>
          <p:nvPr/>
        </p:nvSpPr>
        <p:spPr bwMode="auto">
          <a:xfrm>
            <a:off x="3429000" y="3501264"/>
            <a:ext cx="2400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000" i="0" dirty="0"/>
              <a:t>1   </a:t>
            </a:r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        </a:t>
            </a:r>
            <a:r>
              <a:rPr lang="en-US" altLang="zh-CN" sz="2000" i="0" dirty="0">
                <a:ea typeface="黑体" pitchFamily="49" charset="-122"/>
                <a:sym typeface="Symbol" pitchFamily="18" charset="2"/>
              </a:rPr>
              <a:t>1</a:t>
            </a:r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         </a:t>
            </a:r>
            <a:r>
              <a:rPr lang="en-US" altLang="zh-CN" sz="2000" i="0" dirty="0">
                <a:ea typeface="黑体" pitchFamily="49" charset="-122"/>
                <a:sym typeface="Symbol" pitchFamily="18" charset="2"/>
              </a:rPr>
              <a:t>1 </a:t>
            </a:r>
          </a:p>
        </p:txBody>
      </p:sp>
      <p:sp>
        <p:nvSpPr>
          <p:cNvPr id="24" name="Text Box 64"/>
          <p:cNvSpPr txBox="1">
            <a:spLocks noChangeArrowheads="1"/>
          </p:cNvSpPr>
          <p:nvPr/>
        </p:nvSpPr>
        <p:spPr bwMode="auto">
          <a:xfrm>
            <a:off x="3429000" y="3790950"/>
            <a:ext cx="2400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   </a:t>
            </a:r>
            <a:r>
              <a:rPr lang="en-US" altLang="zh-CN" sz="2000" i="0" dirty="0"/>
              <a:t>1</a:t>
            </a:r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     </a:t>
            </a:r>
            <a:r>
              <a:rPr lang="en-US" altLang="zh-CN" sz="2000" i="0" dirty="0">
                <a:ea typeface="黑体" pitchFamily="49" charset="-122"/>
                <a:sym typeface="Symbol" pitchFamily="18" charset="2"/>
              </a:rPr>
              <a:t>0   </a:t>
            </a:r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   </a:t>
            </a:r>
            <a:r>
              <a:rPr lang="en-US" altLang="zh-CN" sz="2000" i="0" dirty="0">
                <a:ea typeface="黑体" pitchFamily="49" charset="-122"/>
                <a:sym typeface="Symbol" pitchFamily="18" charset="2"/>
              </a:rPr>
              <a:t> 0</a:t>
            </a:r>
            <a:r>
              <a:rPr lang="en-US" altLang="zh-CN" sz="1600" i="0" dirty="0">
                <a:ea typeface="黑体" pitchFamily="49" charset="-122"/>
                <a:sym typeface="Symbol" pitchFamily="18" charset="2"/>
              </a:rPr>
              <a:t>      </a:t>
            </a:r>
            <a:endParaRPr lang="en-US" altLang="zh-CN" sz="2000" i="0" dirty="0">
              <a:ea typeface="黑体" pitchFamily="49" charset="-122"/>
              <a:sym typeface="Symbol" pitchFamily="18" charset="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57400" y="1352550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4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激励、输出函数真值表</a:t>
            </a:r>
          </a:p>
        </p:txBody>
      </p:sp>
      <p:sp>
        <p:nvSpPr>
          <p:cNvPr id="25" name="矩形 24"/>
          <p:cNvSpPr/>
          <p:nvPr/>
        </p:nvSpPr>
        <p:spPr>
          <a:xfrm>
            <a:off x="228600" y="666750"/>
            <a:ext cx="5347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触发器设计一个同步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进制加法计数器</a:t>
            </a:r>
          </a:p>
        </p:txBody>
      </p:sp>
      <p:graphicFrame>
        <p:nvGraphicFramePr>
          <p:cNvPr id="27" name="Group 34"/>
          <p:cNvGraphicFramePr>
            <a:graphicFrameLocks noGrp="1"/>
          </p:cNvGraphicFramePr>
          <p:nvPr/>
        </p:nvGraphicFramePr>
        <p:xfrm>
          <a:off x="6858000" y="1809750"/>
          <a:ext cx="2057400" cy="1676400"/>
        </p:xfrm>
        <a:graphic>
          <a:graphicData uri="http://schemas.openxmlformats.org/drawingml/2006/table">
            <a:tbl>
              <a:tblPr/>
              <a:tblGrid>
                <a:gridCol w="10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 </a:t>
                      </a:r>
                      <a:r>
                        <a:rPr kumimoji="1" lang="en-US" altLang="zh-CN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Q </a:t>
                      </a:r>
                      <a:r>
                        <a:rPr kumimoji="1" lang="en-US" altLang="zh-CN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n+1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58000" y="1428750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5 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触发器状态表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0343" name="Object 7"/>
          <p:cNvGraphicFramePr>
            <a:graphicFrameLocks noChangeAspect="1"/>
          </p:cNvGraphicFramePr>
          <p:nvPr/>
        </p:nvGraphicFramePr>
        <p:xfrm>
          <a:off x="0" y="0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10" name="Equation" r:id="rId2" imgW="304536" imgH="355292" progId="Equation.DSMT4">
                  <p:embed/>
                </p:oleObj>
              </mc:Choice>
              <mc:Fallback>
                <p:oleObj name="Equation" r:id="rId2" imgW="304536" imgH="355292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2" name="Object 6"/>
          <p:cNvGraphicFramePr>
            <a:graphicFrameLocks noChangeAspect="1"/>
          </p:cNvGraphicFramePr>
          <p:nvPr/>
        </p:nvGraphicFramePr>
        <p:xfrm>
          <a:off x="0" y="0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11" name="Equation" r:id="rId4" imgW="304536" imgH="355292" progId="Equation.DSMT4">
                  <p:embed/>
                </p:oleObj>
              </mc:Choice>
              <mc:Fallback>
                <p:oleObj name="Equation" r:id="rId4" imgW="304536" imgH="35529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1" name="Object 5"/>
          <p:cNvGraphicFramePr>
            <a:graphicFrameLocks noChangeAspect="1"/>
          </p:cNvGraphicFramePr>
          <p:nvPr/>
        </p:nvGraphicFramePr>
        <p:xfrm>
          <a:off x="0" y="0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12" name="Equation" r:id="rId6" imgW="304536" imgH="355292" progId="Equation.DSMT4">
                  <p:embed/>
                </p:oleObj>
              </mc:Choice>
              <mc:Fallback>
                <p:oleObj name="Equation" r:id="rId6" imgW="304536" imgH="355292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0" name="Object 4"/>
          <p:cNvGraphicFramePr>
            <a:graphicFrameLocks noChangeAspect="1"/>
          </p:cNvGraphicFramePr>
          <p:nvPr/>
        </p:nvGraphicFramePr>
        <p:xfrm>
          <a:off x="0" y="0"/>
          <a:ext cx="4572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13" name="Equation" r:id="rId8" imgW="457002" imgH="355446" progId="Equation.DSMT4">
                  <p:embed/>
                </p:oleObj>
              </mc:Choice>
              <mc:Fallback>
                <p:oleObj name="Equation" r:id="rId8" imgW="457002" imgH="355446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4572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39" name="Object 3"/>
          <p:cNvGraphicFramePr>
            <a:graphicFrameLocks noChangeAspect="1"/>
          </p:cNvGraphicFramePr>
          <p:nvPr/>
        </p:nvGraphicFramePr>
        <p:xfrm>
          <a:off x="0" y="0"/>
          <a:ext cx="4572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14" name="Equation" r:id="rId10" imgW="457002" imgH="355446" progId="Equation.DSMT4">
                  <p:embed/>
                </p:oleObj>
              </mc:Choice>
              <mc:Fallback>
                <p:oleObj name="Equation" r:id="rId10" imgW="457002" imgH="355446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4572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38" name="Object 2"/>
          <p:cNvGraphicFramePr>
            <a:graphicFrameLocks noChangeAspect="1"/>
          </p:cNvGraphicFramePr>
          <p:nvPr/>
        </p:nvGraphicFramePr>
        <p:xfrm>
          <a:off x="0" y="0"/>
          <a:ext cx="4572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15" name="Equation" r:id="rId12" imgW="457002" imgH="355446" progId="Equation.DSMT4">
                  <p:embed/>
                </p:oleObj>
              </mc:Choice>
              <mc:Fallback>
                <p:oleObj name="Equation" r:id="rId12" imgW="457002" imgH="355446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4572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Group 4"/>
          <p:cNvGraphicFramePr>
            <a:graphicFrameLocks noGrp="1"/>
          </p:cNvGraphicFramePr>
          <p:nvPr/>
        </p:nvGraphicFramePr>
        <p:xfrm>
          <a:off x="1143000" y="1428750"/>
          <a:ext cx="6096000" cy="245364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现态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次态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激励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激励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激励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进位输出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  <a:r>
                        <a:rPr kumimoji="1" lang="en-US" altLang="zh-CN" sz="16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 </a:t>
                      </a: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  <a:r>
                        <a:rPr kumimoji="1" lang="en-US" altLang="zh-CN" sz="16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    </a:t>
                      </a: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  <a:r>
                        <a:rPr kumimoji="1" lang="en-US" altLang="zh-CN" sz="16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  <a:r>
                        <a:rPr kumimoji="1" lang="en-US" altLang="zh-CN" sz="16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  <a:r>
                        <a:rPr kumimoji="1" lang="en-US" altLang="zh-CN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+1</a:t>
                      </a: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  <a:r>
                        <a:rPr kumimoji="1" lang="en-US" altLang="zh-CN" sz="16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  <a:r>
                        <a:rPr kumimoji="1" lang="en-US" altLang="zh-CN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+1</a:t>
                      </a:r>
                      <a:r>
                        <a:rPr kumimoji="1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  <a:r>
                        <a:rPr kumimoji="1" lang="en-US" altLang="zh-CN" sz="16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  <a:r>
                        <a:rPr kumimoji="1" lang="en-US" altLang="zh-CN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+1</a:t>
                      </a:r>
                      <a:endParaRPr kumimoji="1" lang="en-US" altLang="zh-CN" sz="1600" b="0" i="1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J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k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J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k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J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k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0    0    0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0    1    1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1    0    0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0    1    1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1    0    0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0    0    0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Box 60"/>
          <p:cNvSpPr txBox="1">
            <a:spLocks noChangeArrowheads="1"/>
          </p:cNvSpPr>
          <p:nvPr/>
        </p:nvSpPr>
        <p:spPr bwMode="auto">
          <a:xfrm>
            <a:off x="4267200" y="2317750"/>
            <a:ext cx="2476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000" b="1" i="0" dirty="0"/>
              <a:t>0   </a:t>
            </a:r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    </a:t>
            </a:r>
            <a:r>
              <a:rPr lang="en-US" altLang="zh-CN" sz="2000" b="1" i="0" dirty="0"/>
              <a:t>0   </a:t>
            </a:r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     </a:t>
            </a:r>
            <a:r>
              <a:rPr lang="en-US" altLang="zh-CN" sz="2000" b="1" i="0" dirty="0"/>
              <a:t>1   </a:t>
            </a:r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</a:t>
            </a:r>
          </a:p>
        </p:txBody>
      </p:sp>
      <p:sp>
        <p:nvSpPr>
          <p:cNvPr id="21" name="Text Box 61"/>
          <p:cNvSpPr txBox="1">
            <a:spLocks noChangeArrowheads="1"/>
          </p:cNvSpPr>
          <p:nvPr/>
        </p:nvSpPr>
        <p:spPr bwMode="auto">
          <a:xfrm>
            <a:off x="4267200" y="2586864"/>
            <a:ext cx="2514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i="0" dirty="0"/>
              <a:t>0   </a:t>
            </a:r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    </a:t>
            </a:r>
            <a:r>
              <a:rPr lang="en-US" altLang="zh-CN" sz="2000" b="1" i="0" dirty="0"/>
              <a:t>1   </a:t>
            </a:r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         </a:t>
            </a:r>
            <a:r>
              <a:rPr lang="en-US" altLang="zh-CN" sz="2000" b="1" i="0" dirty="0">
                <a:ea typeface="黑体" pitchFamily="49" charset="-122"/>
                <a:sym typeface="Symbol" pitchFamily="18" charset="2"/>
              </a:rPr>
              <a:t>1</a:t>
            </a:r>
          </a:p>
        </p:txBody>
      </p:sp>
      <p:sp>
        <p:nvSpPr>
          <p:cNvPr id="22" name="Text Box 62"/>
          <p:cNvSpPr txBox="1">
            <a:spLocks noChangeArrowheads="1"/>
          </p:cNvSpPr>
          <p:nvPr/>
        </p:nvSpPr>
        <p:spPr bwMode="auto">
          <a:xfrm>
            <a:off x="4267200" y="2891664"/>
            <a:ext cx="2819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i="0" dirty="0"/>
              <a:t>0   </a:t>
            </a:r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        </a:t>
            </a:r>
            <a:r>
              <a:rPr lang="en-US" altLang="zh-CN" sz="2000" b="1" i="0" dirty="0">
                <a:ea typeface="黑体" pitchFamily="49" charset="-122"/>
                <a:sym typeface="Symbol" pitchFamily="18" charset="2"/>
              </a:rPr>
              <a:t>0</a:t>
            </a:r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     </a:t>
            </a:r>
            <a:r>
              <a:rPr lang="en-US" altLang="zh-CN" sz="2000" b="1" i="0" dirty="0">
                <a:ea typeface="黑体" pitchFamily="49" charset="-122"/>
                <a:sym typeface="Symbol" pitchFamily="18" charset="2"/>
              </a:rPr>
              <a:t>1   </a:t>
            </a:r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</a:t>
            </a:r>
            <a:endParaRPr lang="en-US" altLang="zh-CN" sz="2000" b="1" i="0" dirty="0">
              <a:ea typeface="黑体" pitchFamily="49" charset="-122"/>
              <a:sym typeface="Symbol" pitchFamily="18" charset="2"/>
            </a:endParaRPr>
          </a:p>
        </p:txBody>
      </p:sp>
      <p:sp>
        <p:nvSpPr>
          <p:cNvPr id="23" name="Text Box 63"/>
          <p:cNvSpPr txBox="1">
            <a:spLocks noChangeArrowheads="1"/>
          </p:cNvSpPr>
          <p:nvPr/>
        </p:nvSpPr>
        <p:spPr bwMode="auto">
          <a:xfrm>
            <a:off x="4267200" y="3196464"/>
            <a:ext cx="2400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000" b="1" i="0" dirty="0"/>
              <a:t>1   </a:t>
            </a:r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        </a:t>
            </a:r>
            <a:r>
              <a:rPr lang="en-US" altLang="zh-CN" sz="2000" b="1" i="0" dirty="0">
                <a:ea typeface="黑体" pitchFamily="49" charset="-122"/>
                <a:sym typeface="Symbol" pitchFamily="18" charset="2"/>
              </a:rPr>
              <a:t>1</a:t>
            </a:r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         </a:t>
            </a:r>
            <a:r>
              <a:rPr lang="en-US" altLang="zh-CN" sz="2000" b="1" i="0" dirty="0">
                <a:ea typeface="黑体" pitchFamily="49" charset="-122"/>
                <a:sym typeface="Symbol" pitchFamily="18" charset="2"/>
              </a:rPr>
              <a:t>1 </a:t>
            </a:r>
          </a:p>
        </p:txBody>
      </p:sp>
      <p:sp>
        <p:nvSpPr>
          <p:cNvPr id="24" name="Text Box 64"/>
          <p:cNvSpPr txBox="1">
            <a:spLocks noChangeArrowheads="1"/>
          </p:cNvSpPr>
          <p:nvPr/>
        </p:nvSpPr>
        <p:spPr bwMode="auto">
          <a:xfrm>
            <a:off x="4267200" y="3486150"/>
            <a:ext cx="2400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   </a:t>
            </a:r>
            <a:r>
              <a:rPr lang="en-US" altLang="zh-CN" sz="2000" b="1" i="0" dirty="0"/>
              <a:t>1</a:t>
            </a:r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     </a:t>
            </a:r>
            <a:r>
              <a:rPr lang="en-US" altLang="zh-CN" sz="2000" b="1" i="0" dirty="0">
                <a:ea typeface="黑体" pitchFamily="49" charset="-122"/>
                <a:sym typeface="Symbol" pitchFamily="18" charset="2"/>
              </a:rPr>
              <a:t>0   </a:t>
            </a:r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   </a:t>
            </a:r>
            <a:r>
              <a:rPr lang="en-US" altLang="zh-CN" sz="2000" b="1" i="0" dirty="0">
                <a:ea typeface="黑体" pitchFamily="49" charset="-122"/>
                <a:sym typeface="Symbol" pitchFamily="18" charset="2"/>
              </a:rPr>
              <a:t> 0</a:t>
            </a:r>
            <a:r>
              <a:rPr lang="en-US" altLang="zh-CN" sz="1600" b="1" i="0" dirty="0">
                <a:ea typeface="黑体" pitchFamily="49" charset="-122"/>
                <a:sym typeface="Symbol" pitchFamily="18" charset="2"/>
              </a:rPr>
              <a:t>      </a:t>
            </a:r>
            <a:endParaRPr lang="en-US" altLang="zh-CN" sz="2000" b="1" i="0" dirty="0">
              <a:ea typeface="黑体" pitchFamily="49" charset="-122"/>
              <a:sym typeface="Symbol" pitchFamily="18" charset="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95600" y="1047750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4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激励、输出函数真值表</a:t>
            </a:r>
          </a:p>
        </p:txBody>
      </p:sp>
      <p:graphicFrame>
        <p:nvGraphicFramePr>
          <p:cNvPr id="25" name="Group 66"/>
          <p:cNvGraphicFramePr>
            <a:graphicFrameLocks noGrp="1"/>
          </p:cNvGraphicFramePr>
          <p:nvPr/>
        </p:nvGraphicFramePr>
        <p:xfrm>
          <a:off x="1143000" y="3914329"/>
          <a:ext cx="6096000" cy="92075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20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1    0    1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1    1    0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1    1    1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        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        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        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   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   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   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   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   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   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   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   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   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sym typeface="Symbol" pitchFamily="18" charset="2"/>
                        </a:rPr>
                        <a:t>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228600" y="666750"/>
            <a:ext cx="5347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触发器设计一个同步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进制加法计数器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762000" y="10477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第四步：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选定触发器类型，求出</a:t>
            </a: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激励方程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和输出方程。</a:t>
            </a:r>
          </a:p>
        </p:txBody>
      </p:sp>
      <p:graphicFrame>
        <p:nvGraphicFramePr>
          <p:cNvPr id="270339" name="Object 3"/>
          <p:cNvGraphicFramePr>
            <a:graphicFrameLocks noChangeAspect="1"/>
          </p:cNvGraphicFramePr>
          <p:nvPr/>
        </p:nvGraphicFramePr>
        <p:xfrm>
          <a:off x="6324600" y="2952750"/>
          <a:ext cx="13081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438" name="Equation" r:id="rId2" imgW="1307880" imgH="355320" progId="Equation.DSMT4">
                  <p:embed/>
                </p:oleObj>
              </mc:Choice>
              <mc:Fallback>
                <p:oleObj name="Equation" r:id="rId2" imgW="1307880" imgH="3553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952750"/>
                        <a:ext cx="13081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Group 4"/>
          <p:cNvGraphicFramePr>
            <a:graphicFrameLocks noGrp="1"/>
          </p:cNvGraphicFramePr>
          <p:nvPr/>
        </p:nvGraphicFramePr>
        <p:xfrm>
          <a:off x="1600200" y="1841500"/>
          <a:ext cx="1752600" cy="68580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8" name="Group 21"/>
          <p:cNvGrpSpPr>
            <a:grpSpLocks/>
          </p:cNvGrpSpPr>
          <p:nvPr/>
        </p:nvGrpSpPr>
        <p:grpSpPr bwMode="auto">
          <a:xfrm>
            <a:off x="762000" y="1428750"/>
            <a:ext cx="2513013" cy="1403350"/>
            <a:chOff x="528" y="1564"/>
            <a:chExt cx="1583" cy="884"/>
          </a:xfrm>
        </p:grpSpPr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816" y="1680"/>
              <a:ext cx="24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Text Box 23"/>
            <p:cNvSpPr txBox="1">
              <a:spLocks noChangeArrowheads="1"/>
            </p:cNvSpPr>
            <p:nvPr/>
          </p:nvSpPr>
          <p:spPr bwMode="auto">
            <a:xfrm>
              <a:off x="852" y="1564"/>
              <a:ext cx="50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dirty="0">
                  <a:ea typeface="黑体" pitchFamily="49" charset="-122"/>
                </a:rPr>
                <a:t>Q</a:t>
              </a:r>
              <a:r>
                <a:rPr lang="en-US" altLang="zh-CN" sz="1600" i="0" baseline="-25000" dirty="0">
                  <a:ea typeface="黑体" pitchFamily="49" charset="-122"/>
                </a:rPr>
                <a:t>2</a:t>
              </a:r>
              <a:r>
                <a:rPr lang="en-US" altLang="zh-CN" sz="1600" baseline="30000" dirty="0">
                  <a:ea typeface="黑体" pitchFamily="49" charset="-122"/>
                </a:rPr>
                <a:t>n</a:t>
              </a:r>
              <a:r>
                <a:rPr lang="en-US" altLang="zh-CN" sz="1600" dirty="0">
                  <a:ea typeface="黑体" pitchFamily="49" charset="-122"/>
                </a:rPr>
                <a:t>Q</a:t>
              </a:r>
              <a:r>
                <a:rPr lang="en-US" altLang="zh-CN" sz="1600" i="0" baseline="-25000" dirty="0">
                  <a:ea typeface="黑体" pitchFamily="49" charset="-122"/>
                </a:rPr>
                <a:t>1</a:t>
              </a:r>
              <a:r>
                <a:rPr lang="en-US" altLang="zh-CN" sz="1600" baseline="30000" dirty="0">
                  <a:ea typeface="黑体" pitchFamily="49" charset="-122"/>
                </a:rPr>
                <a:t>n</a:t>
              </a:r>
            </a:p>
          </p:txBody>
        </p:sp>
        <p:sp>
          <p:nvSpPr>
            <p:cNvPr id="31" name="Text Box 24"/>
            <p:cNvSpPr txBox="1">
              <a:spLocks noChangeArrowheads="1"/>
            </p:cNvSpPr>
            <p:nvPr/>
          </p:nvSpPr>
          <p:spPr bwMode="auto">
            <a:xfrm>
              <a:off x="720" y="1728"/>
              <a:ext cx="31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>
                  <a:ea typeface="黑体" pitchFamily="49" charset="-122"/>
                </a:rPr>
                <a:t>Q</a:t>
              </a:r>
              <a:r>
                <a:rPr lang="en-US" altLang="zh-CN" sz="1600" i="0" baseline="-25000" dirty="0">
                  <a:ea typeface="黑体" pitchFamily="49" charset="-122"/>
                </a:rPr>
                <a:t>0</a:t>
              </a:r>
              <a:r>
                <a:rPr lang="en-US" altLang="zh-CN" sz="1600" baseline="30000" dirty="0">
                  <a:ea typeface="黑体" pitchFamily="49" charset="-122"/>
                </a:rPr>
                <a:t>n</a:t>
              </a:r>
              <a:endParaRPr lang="en-US" altLang="zh-CN" i="0" dirty="0"/>
            </a:p>
          </p:txBody>
        </p:sp>
        <p:sp>
          <p:nvSpPr>
            <p:cNvPr id="32" name="Text Box 25"/>
            <p:cNvSpPr txBox="1">
              <a:spLocks noChangeArrowheads="1"/>
            </p:cNvSpPr>
            <p:nvPr/>
          </p:nvSpPr>
          <p:spPr bwMode="auto">
            <a:xfrm>
              <a:off x="1776" y="1612"/>
              <a:ext cx="27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>
                  <a:ea typeface="黑体" pitchFamily="49" charset="-122"/>
                </a:rPr>
                <a:t>y</a:t>
              </a:r>
              <a:r>
                <a:rPr lang="en-US" altLang="zh-CN" sz="1600" i="0" baseline="-25000">
                  <a:ea typeface="黑体" pitchFamily="49" charset="-122"/>
                </a:rPr>
                <a:t>2</a:t>
              </a:r>
              <a:r>
                <a:rPr lang="en-US" altLang="zh-CN" sz="1600" baseline="30000">
                  <a:ea typeface="黑体" pitchFamily="49" charset="-122"/>
                </a:rPr>
                <a:t>n</a:t>
              </a:r>
            </a:p>
          </p:txBody>
        </p:sp>
        <p:sp>
          <p:nvSpPr>
            <p:cNvPr id="33" name="Text Box 26"/>
            <p:cNvSpPr txBox="1">
              <a:spLocks noChangeArrowheads="1"/>
            </p:cNvSpPr>
            <p:nvPr/>
          </p:nvSpPr>
          <p:spPr bwMode="auto">
            <a:xfrm>
              <a:off x="1488" y="2236"/>
              <a:ext cx="27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>
                  <a:ea typeface="黑体" pitchFamily="49" charset="-122"/>
                </a:rPr>
                <a:t>y</a:t>
              </a:r>
              <a:r>
                <a:rPr lang="en-US" altLang="zh-CN" sz="1600" i="0" baseline="-25000">
                  <a:ea typeface="黑体" pitchFamily="49" charset="-122"/>
                </a:rPr>
                <a:t>1</a:t>
              </a:r>
              <a:r>
                <a:rPr lang="en-US" altLang="zh-CN" sz="1600" baseline="30000">
                  <a:ea typeface="黑体" pitchFamily="49" charset="-122"/>
                </a:rPr>
                <a:t>n</a:t>
              </a:r>
            </a:p>
          </p:txBody>
        </p:sp>
        <p:sp>
          <p:nvSpPr>
            <p:cNvPr id="35" name="Text Box 28"/>
            <p:cNvSpPr txBox="1">
              <a:spLocks noChangeArrowheads="1"/>
            </p:cNvSpPr>
            <p:nvPr/>
          </p:nvSpPr>
          <p:spPr bwMode="auto">
            <a:xfrm>
              <a:off x="528" y="1920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>
                  <a:ea typeface="黑体" pitchFamily="49" charset="-122"/>
                </a:rPr>
                <a:t>J</a:t>
              </a:r>
              <a:r>
                <a:rPr lang="en-US" altLang="zh-CN" sz="2000" i="0" baseline="-25000">
                  <a:ea typeface="黑体" pitchFamily="49" charset="-122"/>
                </a:rPr>
                <a:t>2</a:t>
              </a:r>
            </a:p>
          </p:txBody>
        </p:sp>
        <p:sp>
          <p:nvSpPr>
            <p:cNvPr id="36" name="Rectangle 29"/>
            <p:cNvSpPr>
              <a:spLocks noChangeArrowheads="1"/>
            </p:cNvSpPr>
            <p:nvPr/>
          </p:nvSpPr>
          <p:spPr bwMode="auto">
            <a:xfrm>
              <a:off x="1920" y="1824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37" name="Rectangle 30"/>
            <p:cNvSpPr>
              <a:spLocks noChangeArrowheads="1"/>
            </p:cNvSpPr>
            <p:nvPr/>
          </p:nvSpPr>
          <p:spPr bwMode="auto">
            <a:xfrm>
              <a:off x="1920" y="2016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38" name="Rectangle 31"/>
            <p:cNvSpPr>
              <a:spLocks noChangeArrowheads="1"/>
            </p:cNvSpPr>
            <p:nvPr/>
          </p:nvSpPr>
          <p:spPr bwMode="auto">
            <a:xfrm>
              <a:off x="1389" y="2025"/>
              <a:ext cx="19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>
                  <a:sym typeface="Symbol" pitchFamily="18" charset="2"/>
                </a:rPr>
                <a:t>1</a:t>
              </a:r>
            </a:p>
          </p:txBody>
        </p:sp>
        <p:sp>
          <p:nvSpPr>
            <p:cNvPr id="39" name="Rectangle 32"/>
            <p:cNvSpPr>
              <a:spLocks noChangeArrowheads="1"/>
            </p:cNvSpPr>
            <p:nvPr/>
          </p:nvSpPr>
          <p:spPr bwMode="auto">
            <a:xfrm>
              <a:off x="1633" y="2016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1633" y="1824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41" name="AutoShape 34"/>
            <p:cNvSpPr>
              <a:spLocks noChangeArrowheads="1"/>
            </p:cNvSpPr>
            <p:nvPr/>
          </p:nvSpPr>
          <p:spPr bwMode="auto">
            <a:xfrm>
              <a:off x="1392" y="2064"/>
              <a:ext cx="432" cy="144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42" name="Group 35"/>
          <p:cNvGraphicFramePr>
            <a:graphicFrameLocks noGrp="1"/>
          </p:cNvGraphicFramePr>
          <p:nvPr/>
        </p:nvGraphicFramePr>
        <p:xfrm>
          <a:off x="4191000" y="1841500"/>
          <a:ext cx="1752600" cy="68580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3" name="Group 52"/>
          <p:cNvGrpSpPr>
            <a:grpSpLocks/>
          </p:cNvGrpSpPr>
          <p:nvPr/>
        </p:nvGrpSpPr>
        <p:grpSpPr bwMode="auto">
          <a:xfrm>
            <a:off x="3581400" y="1841500"/>
            <a:ext cx="2290763" cy="671513"/>
            <a:chOff x="2304" y="1824"/>
            <a:chExt cx="1443" cy="423"/>
          </a:xfrm>
        </p:grpSpPr>
        <p:sp>
          <p:nvSpPr>
            <p:cNvPr id="44" name="Rectangle 53"/>
            <p:cNvSpPr>
              <a:spLocks noChangeArrowheads="1"/>
            </p:cNvSpPr>
            <p:nvPr/>
          </p:nvSpPr>
          <p:spPr bwMode="auto">
            <a:xfrm>
              <a:off x="3552" y="1824"/>
              <a:ext cx="19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>
                  <a:sym typeface="Symbol" pitchFamily="18" charset="2"/>
                </a:rPr>
                <a:t>1</a:t>
              </a:r>
            </a:p>
          </p:txBody>
        </p:sp>
        <p:sp>
          <p:nvSpPr>
            <p:cNvPr id="45" name="Rectangle 54"/>
            <p:cNvSpPr>
              <a:spLocks noChangeArrowheads="1"/>
            </p:cNvSpPr>
            <p:nvPr/>
          </p:nvSpPr>
          <p:spPr bwMode="auto">
            <a:xfrm>
              <a:off x="3025" y="1824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46" name="Rectangle 55"/>
            <p:cNvSpPr>
              <a:spLocks noChangeArrowheads="1"/>
            </p:cNvSpPr>
            <p:nvPr/>
          </p:nvSpPr>
          <p:spPr bwMode="auto">
            <a:xfrm>
              <a:off x="3025" y="2016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47" name="Rectangle 56"/>
            <p:cNvSpPr>
              <a:spLocks noChangeArrowheads="1"/>
            </p:cNvSpPr>
            <p:nvPr/>
          </p:nvSpPr>
          <p:spPr bwMode="auto">
            <a:xfrm>
              <a:off x="2738" y="2016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48" name="Rectangle 57"/>
            <p:cNvSpPr>
              <a:spLocks noChangeArrowheads="1"/>
            </p:cNvSpPr>
            <p:nvPr/>
          </p:nvSpPr>
          <p:spPr bwMode="auto">
            <a:xfrm>
              <a:off x="2738" y="1824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49" name="Rectangle 58"/>
            <p:cNvSpPr>
              <a:spLocks noChangeArrowheads="1"/>
            </p:cNvSpPr>
            <p:nvPr/>
          </p:nvSpPr>
          <p:spPr bwMode="auto">
            <a:xfrm>
              <a:off x="3552" y="2016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50" name="Rectangle 59"/>
            <p:cNvSpPr>
              <a:spLocks noChangeArrowheads="1"/>
            </p:cNvSpPr>
            <p:nvPr/>
          </p:nvSpPr>
          <p:spPr bwMode="auto">
            <a:xfrm>
              <a:off x="3265" y="2016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51" name="Rectangle 60"/>
            <p:cNvSpPr>
              <a:spLocks noChangeArrowheads="1"/>
            </p:cNvSpPr>
            <p:nvPr/>
          </p:nvSpPr>
          <p:spPr bwMode="auto">
            <a:xfrm>
              <a:off x="3265" y="1824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52" name="Text Box 61"/>
            <p:cNvSpPr txBox="1">
              <a:spLocks noChangeArrowheads="1"/>
            </p:cNvSpPr>
            <p:nvPr/>
          </p:nvSpPr>
          <p:spPr bwMode="auto">
            <a:xfrm>
              <a:off x="2304" y="1910"/>
              <a:ext cx="25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>
                  <a:ea typeface="黑体" pitchFamily="49" charset="-122"/>
                </a:rPr>
                <a:t>k</a:t>
              </a:r>
              <a:r>
                <a:rPr lang="en-US" altLang="zh-CN" sz="2000" i="0" baseline="-25000">
                  <a:ea typeface="黑体" pitchFamily="49" charset="-122"/>
                </a:rPr>
                <a:t>2</a:t>
              </a:r>
            </a:p>
          </p:txBody>
        </p:sp>
        <p:sp>
          <p:nvSpPr>
            <p:cNvPr id="53" name="AutoShape 62"/>
            <p:cNvSpPr>
              <a:spLocks noChangeArrowheads="1"/>
            </p:cNvSpPr>
            <p:nvPr/>
          </p:nvSpPr>
          <p:spPr bwMode="auto">
            <a:xfrm>
              <a:off x="2784" y="1872"/>
              <a:ext cx="912" cy="33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57" name="Group 66"/>
          <p:cNvGraphicFramePr>
            <a:graphicFrameLocks noGrp="1"/>
          </p:cNvGraphicFramePr>
          <p:nvPr/>
        </p:nvGraphicFramePr>
        <p:xfrm>
          <a:off x="1600200" y="2908300"/>
          <a:ext cx="1752600" cy="68580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8" name="Group 83"/>
          <p:cNvGrpSpPr>
            <a:grpSpLocks/>
          </p:cNvGrpSpPr>
          <p:nvPr/>
        </p:nvGrpSpPr>
        <p:grpSpPr bwMode="auto">
          <a:xfrm>
            <a:off x="762000" y="2908300"/>
            <a:ext cx="2514600" cy="685800"/>
            <a:chOff x="528" y="2496"/>
            <a:chExt cx="1584" cy="432"/>
          </a:xfrm>
        </p:grpSpPr>
        <p:sp>
          <p:nvSpPr>
            <p:cNvPr id="59" name="Rectangle 84"/>
            <p:cNvSpPr>
              <a:spLocks noChangeArrowheads="1"/>
            </p:cNvSpPr>
            <p:nvPr/>
          </p:nvSpPr>
          <p:spPr bwMode="auto">
            <a:xfrm>
              <a:off x="528" y="2592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>
                  <a:ea typeface="黑体" pitchFamily="49" charset="-122"/>
                </a:rPr>
                <a:t>J</a:t>
              </a:r>
              <a:r>
                <a:rPr lang="en-US" altLang="zh-CN" sz="2000" i="0" baseline="-25000">
                  <a:ea typeface="黑体" pitchFamily="49" charset="-122"/>
                </a:rPr>
                <a:t>1</a:t>
              </a:r>
            </a:p>
          </p:txBody>
        </p:sp>
        <p:sp>
          <p:nvSpPr>
            <p:cNvPr id="60" name="Rectangle 85"/>
            <p:cNvSpPr>
              <a:spLocks noChangeArrowheads="1"/>
            </p:cNvSpPr>
            <p:nvPr/>
          </p:nvSpPr>
          <p:spPr bwMode="auto">
            <a:xfrm>
              <a:off x="1104" y="2697"/>
              <a:ext cx="19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>
                  <a:sym typeface="Symbol" pitchFamily="18" charset="2"/>
                </a:rPr>
                <a:t>1</a:t>
              </a:r>
            </a:p>
          </p:txBody>
        </p:sp>
        <p:sp>
          <p:nvSpPr>
            <p:cNvPr id="61" name="Rectangle 86"/>
            <p:cNvSpPr>
              <a:spLocks noChangeArrowheads="1"/>
            </p:cNvSpPr>
            <p:nvPr/>
          </p:nvSpPr>
          <p:spPr bwMode="auto">
            <a:xfrm>
              <a:off x="1631" y="2496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62" name="Rectangle 87"/>
            <p:cNvSpPr>
              <a:spLocks noChangeArrowheads="1"/>
            </p:cNvSpPr>
            <p:nvPr/>
          </p:nvSpPr>
          <p:spPr bwMode="auto">
            <a:xfrm>
              <a:off x="1344" y="2496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63" name="Rectangle 88"/>
            <p:cNvSpPr>
              <a:spLocks noChangeArrowheads="1"/>
            </p:cNvSpPr>
            <p:nvPr/>
          </p:nvSpPr>
          <p:spPr bwMode="auto">
            <a:xfrm>
              <a:off x="1631" y="2697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64" name="Rectangle 89"/>
            <p:cNvSpPr>
              <a:spLocks noChangeArrowheads="1"/>
            </p:cNvSpPr>
            <p:nvPr/>
          </p:nvSpPr>
          <p:spPr bwMode="auto">
            <a:xfrm>
              <a:off x="1344" y="2697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65" name="Rectangle 90"/>
            <p:cNvSpPr>
              <a:spLocks noChangeArrowheads="1"/>
            </p:cNvSpPr>
            <p:nvPr/>
          </p:nvSpPr>
          <p:spPr bwMode="auto">
            <a:xfrm>
              <a:off x="1920" y="2697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66" name="AutoShape 91"/>
            <p:cNvSpPr>
              <a:spLocks noChangeArrowheads="1"/>
            </p:cNvSpPr>
            <p:nvPr/>
          </p:nvSpPr>
          <p:spPr bwMode="auto">
            <a:xfrm>
              <a:off x="1104" y="2736"/>
              <a:ext cx="1008" cy="144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67" name="Group 92"/>
          <p:cNvGraphicFramePr>
            <a:graphicFrameLocks noGrp="1"/>
          </p:cNvGraphicFramePr>
          <p:nvPr/>
        </p:nvGraphicFramePr>
        <p:xfrm>
          <a:off x="4191000" y="2908300"/>
          <a:ext cx="1752600" cy="68580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8" name="Group 109"/>
          <p:cNvGrpSpPr>
            <a:grpSpLocks/>
          </p:cNvGrpSpPr>
          <p:nvPr/>
        </p:nvGrpSpPr>
        <p:grpSpPr bwMode="auto">
          <a:xfrm>
            <a:off x="3636963" y="2908300"/>
            <a:ext cx="2230437" cy="685800"/>
            <a:chOff x="2339" y="2496"/>
            <a:chExt cx="1405" cy="432"/>
          </a:xfrm>
        </p:grpSpPr>
        <p:sp>
          <p:nvSpPr>
            <p:cNvPr id="69" name="Rectangle 110"/>
            <p:cNvSpPr>
              <a:spLocks noChangeArrowheads="1"/>
            </p:cNvSpPr>
            <p:nvPr/>
          </p:nvSpPr>
          <p:spPr bwMode="auto">
            <a:xfrm>
              <a:off x="2339" y="2582"/>
              <a:ext cx="25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>
                  <a:ea typeface="黑体" pitchFamily="49" charset="-122"/>
                </a:rPr>
                <a:t>k</a:t>
              </a:r>
              <a:r>
                <a:rPr lang="en-US" altLang="zh-CN" sz="2000" i="0" baseline="-25000">
                  <a:ea typeface="黑体" pitchFamily="49" charset="-122"/>
                </a:rPr>
                <a:t>1</a:t>
              </a:r>
            </a:p>
          </p:txBody>
        </p:sp>
        <p:sp>
          <p:nvSpPr>
            <p:cNvPr id="70" name="Rectangle 111"/>
            <p:cNvSpPr>
              <a:spLocks noChangeArrowheads="1"/>
            </p:cNvSpPr>
            <p:nvPr/>
          </p:nvSpPr>
          <p:spPr bwMode="auto">
            <a:xfrm>
              <a:off x="3021" y="2697"/>
              <a:ext cx="19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>
                  <a:sym typeface="Symbol" pitchFamily="18" charset="2"/>
                </a:rPr>
                <a:t>1</a:t>
              </a:r>
            </a:p>
          </p:txBody>
        </p:sp>
        <p:sp>
          <p:nvSpPr>
            <p:cNvPr id="71" name="Rectangle 112"/>
            <p:cNvSpPr>
              <a:spLocks noChangeArrowheads="1"/>
            </p:cNvSpPr>
            <p:nvPr/>
          </p:nvSpPr>
          <p:spPr bwMode="auto">
            <a:xfrm>
              <a:off x="3551" y="2505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72" name="Rectangle 113"/>
            <p:cNvSpPr>
              <a:spLocks noChangeArrowheads="1"/>
            </p:cNvSpPr>
            <p:nvPr/>
          </p:nvSpPr>
          <p:spPr bwMode="auto">
            <a:xfrm>
              <a:off x="3551" y="2697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73" name="Rectangle 114"/>
            <p:cNvSpPr>
              <a:spLocks noChangeArrowheads="1"/>
            </p:cNvSpPr>
            <p:nvPr/>
          </p:nvSpPr>
          <p:spPr bwMode="auto">
            <a:xfrm>
              <a:off x="3264" y="2697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74" name="Rectangle 115"/>
            <p:cNvSpPr>
              <a:spLocks noChangeArrowheads="1"/>
            </p:cNvSpPr>
            <p:nvPr/>
          </p:nvSpPr>
          <p:spPr bwMode="auto">
            <a:xfrm>
              <a:off x="3264" y="2505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75" name="Rectangle 116"/>
            <p:cNvSpPr>
              <a:spLocks noChangeArrowheads="1"/>
            </p:cNvSpPr>
            <p:nvPr/>
          </p:nvSpPr>
          <p:spPr bwMode="auto">
            <a:xfrm>
              <a:off x="2736" y="2496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76" name="Rectangle 117"/>
            <p:cNvSpPr>
              <a:spLocks noChangeArrowheads="1"/>
            </p:cNvSpPr>
            <p:nvPr/>
          </p:nvSpPr>
          <p:spPr bwMode="auto">
            <a:xfrm>
              <a:off x="2736" y="2688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77" name="AutoShape 118"/>
            <p:cNvSpPr>
              <a:spLocks noChangeArrowheads="1"/>
            </p:cNvSpPr>
            <p:nvPr/>
          </p:nvSpPr>
          <p:spPr bwMode="auto">
            <a:xfrm>
              <a:off x="2736" y="2736"/>
              <a:ext cx="1008" cy="144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82" name="Group 123"/>
          <p:cNvGraphicFramePr>
            <a:graphicFrameLocks noGrp="1"/>
          </p:cNvGraphicFramePr>
          <p:nvPr/>
        </p:nvGraphicFramePr>
        <p:xfrm>
          <a:off x="1600200" y="3898900"/>
          <a:ext cx="1752600" cy="68580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" name="Group 140"/>
          <p:cNvGraphicFramePr>
            <a:graphicFrameLocks noGrp="1"/>
          </p:cNvGraphicFramePr>
          <p:nvPr/>
        </p:nvGraphicFramePr>
        <p:xfrm>
          <a:off x="4191000" y="3898900"/>
          <a:ext cx="1752600" cy="68580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4" name="Group 157"/>
          <p:cNvGrpSpPr>
            <a:grpSpLocks/>
          </p:cNvGrpSpPr>
          <p:nvPr/>
        </p:nvGrpSpPr>
        <p:grpSpPr bwMode="auto">
          <a:xfrm>
            <a:off x="762000" y="3898900"/>
            <a:ext cx="2513013" cy="685800"/>
            <a:chOff x="528" y="3120"/>
            <a:chExt cx="1583" cy="432"/>
          </a:xfrm>
        </p:grpSpPr>
        <p:sp>
          <p:nvSpPr>
            <p:cNvPr id="85" name="Rectangle 158"/>
            <p:cNvSpPr>
              <a:spLocks noChangeArrowheads="1"/>
            </p:cNvSpPr>
            <p:nvPr/>
          </p:nvSpPr>
          <p:spPr bwMode="auto">
            <a:xfrm>
              <a:off x="528" y="3216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>
                  <a:ea typeface="黑体" pitchFamily="49" charset="-122"/>
                </a:rPr>
                <a:t>J</a:t>
              </a:r>
              <a:r>
                <a:rPr lang="en-US" altLang="zh-CN" sz="2000" i="0" baseline="-25000">
                  <a:ea typeface="黑体" pitchFamily="49" charset="-122"/>
                </a:rPr>
                <a:t>0</a:t>
              </a:r>
            </a:p>
          </p:txBody>
        </p:sp>
        <p:sp>
          <p:nvSpPr>
            <p:cNvPr id="86" name="Rectangle 159"/>
            <p:cNvSpPr>
              <a:spLocks noChangeArrowheads="1"/>
            </p:cNvSpPr>
            <p:nvPr/>
          </p:nvSpPr>
          <p:spPr bwMode="auto">
            <a:xfrm>
              <a:off x="1104" y="3120"/>
              <a:ext cx="19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>
                  <a:sym typeface="Symbol" pitchFamily="18" charset="2"/>
                </a:rPr>
                <a:t>1</a:t>
              </a:r>
            </a:p>
          </p:txBody>
        </p:sp>
        <p:sp>
          <p:nvSpPr>
            <p:cNvPr id="87" name="Rectangle 160"/>
            <p:cNvSpPr>
              <a:spLocks noChangeArrowheads="1"/>
            </p:cNvSpPr>
            <p:nvPr/>
          </p:nvSpPr>
          <p:spPr bwMode="auto">
            <a:xfrm>
              <a:off x="1631" y="3120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88" name="Rectangle 161"/>
            <p:cNvSpPr>
              <a:spLocks noChangeArrowheads="1"/>
            </p:cNvSpPr>
            <p:nvPr/>
          </p:nvSpPr>
          <p:spPr bwMode="auto">
            <a:xfrm>
              <a:off x="1104" y="3312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89" name="Rectangle 162"/>
            <p:cNvSpPr>
              <a:spLocks noChangeArrowheads="1"/>
            </p:cNvSpPr>
            <p:nvPr/>
          </p:nvSpPr>
          <p:spPr bwMode="auto">
            <a:xfrm>
              <a:off x="1631" y="3321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90" name="Rectangle 163"/>
            <p:cNvSpPr>
              <a:spLocks noChangeArrowheads="1"/>
            </p:cNvSpPr>
            <p:nvPr/>
          </p:nvSpPr>
          <p:spPr bwMode="auto">
            <a:xfrm>
              <a:off x="1393" y="3321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91" name="Rectangle 164"/>
            <p:cNvSpPr>
              <a:spLocks noChangeArrowheads="1"/>
            </p:cNvSpPr>
            <p:nvPr/>
          </p:nvSpPr>
          <p:spPr bwMode="auto">
            <a:xfrm>
              <a:off x="1920" y="3321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92" name="Rectangle 165"/>
            <p:cNvSpPr>
              <a:spLocks noChangeArrowheads="1"/>
            </p:cNvSpPr>
            <p:nvPr/>
          </p:nvSpPr>
          <p:spPr bwMode="auto">
            <a:xfrm>
              <a:off x="1389" y="3120"/>
              <a:ext cx="19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>
                  <a:sym typeface="Symbol" pitchFamily="18" charset="2"/>
                </a:rPr>
                <a:t>1</a:t>
              </a:r>
            </a:p>
          </p:txBody>
        </p:sp>
        <p:sp>
          <p:nvSpPr>
            <p:cNvPr id="93" name="AutoShape 166"/>
            <p:cNvSpPr>
              <a:spLocks noChangeArrowheads="1"/>
            </p:cNvSpPr>
            <p:nvPr/>
          </p:nvSpPr>
          <p:spPr bwMode="auto">
            <a:xfrm>
              <a:off x="1152" y="3168"/>
              <a:ext cx="384" cy="33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grpSp>
        <p:nvGrpSpPr>
          <p:cNvPr id="94" name="Group 167"/>
          <p:cNvGrpSpPr>
            <a:grpSpLocks/>
          </p:cNvGrpSpPr>
          <p:nvPr/>
        </p:nvGrpSpPr>
        <p:grpSpPr bwMode="auto">
          <a:xfrm>
            <a:off x="3636963" y="3898900"/>
            <a:ext cx="2230437" cy="685800"/>
            <a:chOff x="2339" y="3120"/>
            <a:chExt cx="1405" cy="432"/>
          </a:xfrm>
        </p:grpSpPr>
        <p:sp>
          <p:nvSpPr>
            <p:cNvPr id="95" name="Rectangle 168"/>
            <p:cNvSpPr>
              <a:spLocks noChangeArrowheads="1"/>
            </p:cNvSpPr>
            <p:nvPr/>
          </p:nvSpPr>
          <p:spPr bwMode="auto">
            <a:xfrm>
              <a:off x="2339" y="3206"/>
              <a:ext cx="25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>
                  <a:ea typeface="黑体" pitchFamily="49" charset="-122"/>
                </a:rPr>
                <a:t>k</a:t>
              </a:r>
              <a:r>
                <a:rPr lang="en-US" altLang="zh-CN" sz="2000" i="0" baseline="-25000">
                  <a:ea typeface="黑体" pitchFamily="49" charset="-122"/>
                </a:rPr>
                <a:t>0</a:t>
              </a:r>
            </a:p>
          </p:txBody>
        </p:sp>
        <p:sp>
          <p:nvSpPr>
            <p:cNvPr id="96" name="Rectangle 169"/>
            <p:cNvSpPr>
              <a:spLocks noChangeArrowheads="1"/>
            </p:cNvSpPr>
            <p:nvPr/>
          </p:nvSpPr>
          <p:spPr bwMode="auto">
            <a:xfrm>
              <a:off x="3021" y="3321"/>
              <a:ext cx="19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>
                  <a:sym typeface="Symbol" pitchFamily="18" charset="2"/>
                </a:rPr>
                <a:t>1</a:t>
              </a:r>
            </a:p>
          </p:txBody>
        </p:sp>
        <p:sp>
          <p:nvSpPr>
            <p:cNvPr id="97" name="Rectangle 170"/>
            <p:cNvSpPr>
              <a:spLocks noChangeArrowheads="1"/>
            </p:cNvSpPr>
            <p:nvPr/>
          </p:nvSpPr>
          <p:spPr bwMode="auto">
            <a:xfrm>
              <a:off x="3551" y="3129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98" name="Rectangle 171"/>
            <p:cNvSpPr>
              <a:spLocks noChangeArrowheads="1"/>
            </p:cNvSpPr>
            <p:nvPr/>
          </p:nvSpPr>
          <p:spPr bwMode="auto">
            <a:xfrm>
              <a:off x="3551" y="3321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99" name="Rectangle 172"/>
            <p:cNvSpPr>
              <a:spLocks noChangeArrowheads="1"/>
            </p:cNvSpPr>
            <p:nvPr/>
          </p:nvSpPr>
          <p:spPr bwMode="auto">
            <a:xfrm>
              <a:off x="3264" y="3321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100" name="Rectangle 173"/>
            <p:cNvSpPr>
              <a:spLocks noChangeArrowheads="1"/>
            </p:cNvSpPr>
            <p:nvPr/>
          </p:nvSpPr>
          <p:spPr bwMode="auto">
            <a:xfrm>
              <a:off x="3264" y="3129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101" name="Rectangle 174"/>
            <p:cNvSpPr>
              <a:spLocks noChangeArrowheads="1"/>
            </p:cNvSpPr>
            <p:nvPr/>
          </p:nvSpPr>
          <p:spPr bwMode="auto">
            <a:xfrm>
              <a:off x="2736" y="3120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102" name="Rectangle 175"/>
            <p:cNvSpPr>
              <a:spLocks noChangeArrowheads="1"/>
            </p:cNvSpPr>
            <p:nvPr/>
          </p:nvSpPr>
          <p:spPr bwMode="auto">
            <a:xfrm>
              <a:off x="3024" y="3120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103" name="AutoShape 176"/>
            <p:cNvSpPr>
              <a:spLocks noChangeArrowheads="1"/>
            </p:cNvSpPr>
            <p:nvPr/>
          </p:nvSpPr>
          <p:spPr bwMode="auto">
            <a:xfrm>
              <a:off x="2736" y="3168"/>
              <a:ext cx="1008" cy="33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04" name="Rectangle 177"/>
            <p:cNvSpPr>
              <a:spLocks noChangeArrowheads="1"/>
            </p:cNvSpPr>
            <p:nvPr/>
          </p:nvSpPr>
          <p:spPr bwMode="auto">
            <a:xfrm>
              <a:off x="2736" y="3321"/>
              <a:ext cx="19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>
                  <a:sym typeface="Symbol" pitchFamily="18" charset="2"/>
                </a:rPr>
                <a:t>1</a:t>
              </a:r>
            </a:p>
          </p:txBody>
        </p:sp>
      </p:grpSp>
      <p:graphicFrame>
        <p:nvGraphicFramePr>
          <p:cNvPr id="274440" name="Object 8"/>
          <p:cNvGraphicFramePr>
            <a:graphicFrameLocks noChangeAspect="1"/>
          </p:cNvGraphicFramePr>
          <p:nvPr/>
        </p:nvGraphicFramePr>
        <p:xfrm>
          <a:off x="6248400" y="1885950"/>
          <a:ext cx="1981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440" name="Equation" r:id="rId4" imgW="1981080" imgH="355320" progId="Equation.DSMT4">
                  <p:embed/>
                </p:oleObj>
              </mc:Choice>
              <mc:Fallback>
                <p:oleObj name="Equation" r:id="rId4" imgW="1981080" imgH="35532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885950"/>
                        <a:ext cx="1981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1" name="Object 9"/>
          <p:cNvGraphicFramePr>
            <a:graphicFrameLocks noChangeAspect="1"/>
          </p:cNvGraphicFramePr>
          <p:nvPr/>
        </p:nvGraphicFramePr>
        <p:xfrm>
          <a:off x="6324600" y="3943350"/>
          <a:ext cx="170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441" name="Equation" r:id="rId6" imgW="1701720" imgH="406080" progId="Equation.DSMT4">
                  <p:embed/>
                </p:oleObj>
              </mc:Choice>
              <mc:Fallback>
                <p:oleObj name="Equation" r:id="rId6" imgW="1701720" imgH="40608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943350"/>
                        <a:ext cx="1701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矩形 78"/>
          <p:cNvSpPr/>
          <p:nvPr/>
        </p:nvSpPr>
        <p:spPr>
          <a:xfrm>
            <a:off x="228600" y="666750"/>
            <a:ext cx="5347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触发器设计一个同步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进制加法计数器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762000" y="10477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第四步：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选定触发器类型，求出电路的激励方程和</a:t>
            </a: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输出方程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aphicFrame>
        <p:nvGraphicFramePr>
          <p:cNvPr id="270343" name="Object 7"/>
          <p:cNvGraphicFramePr>
            <a:graphicFrameLocks noChangeAspect="1"/>
          </p:cNvGraphicFramePr>
          <p:nvPr/>
        </p:nvGraphicFramePr>
        <p:xfrm>
          <a:off x="0" y="0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58" name="Equation" r:id="rId2" imgW="304536" imgH="355292" progId="Equation.DSMT4">
                  <p:embed/>
                </p:oleObj>
              </mc:Choice>
              <mc:Fallback>
                <p:oleObj name="Equation" r:id="rId2" imgW="304536" imgH="355292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2" name="Object 6"/>
          <p:cNvGraphicFramePr>
            <a:graphicFrameLocks noChangeAspect="1"/>
          </p:cNvGraphicFramePr>
          <p:nvPr/>
        </p:nvGraphicFramePr>
        <p:xfrm>
          <a:off x="0" y="0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59" name="Equation" r:id="rId4" imgW="304536" imgH="355292" progId="Equation.DSMT4">
                  <p:embed/>
                </p:oleObj>
              </mc:Choice>
              <mc:Fallback>
                <p:oleObj name="Equation" r:id="rId4" imgW="304536" imgH="35529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1" name="Object 5"/>
          <p:cNvGraphicFramePr>
            <a:graphicFrameLocks noChangeAspect="1"/>
          </p:cNvGraphicFramePr>
          <p:nvPr/>
        </p:nvGraphicFramePr>
        <p:xfrm>
          <a:off x="5867400" y="2114550"/>
          <a:ext cx="7366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60" name="Equation" r:id="rId6" imgW="736560" imgH="355320" progId="Equation.DSMT4">
                  <p:embed/>
                </p:oleObj>
              </mc:Choice>
              <mc:Fallback>
                <p:oleObj name="Equation" r:id="rId6" imgW="736560" imgH="3553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114550"/>
                        <a:ext cx="7366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Group 182"/>
          <p:cNvGraphicFramePr>
            <a:graphicFrameLocks noGrp="1"/>
          </p:cNvGraphicFramePr>
          <p:nvPr/>
        </p:nvGraphicFramePr>
        <p:xfrm>
          <a:off x="2209800" y="1962150"/>
          <a:ext cx="1752600" cy="68580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" name="Group 199"/>
          <p:cNvGrpSpPr>
            <a:grpSpLocks/>
          </p:cNvGrpSpPr>
          <p:nvPr/>
        </p:nvGrpSpPr>
        <p:grpSpPr bwMode="auto">
          <a:xfrm>
            <a:off x="1143000" y="1962150"/>
            <a:ext cx="2747963" cy="671513"/>
            <a:chOff x="1152" y="3744"/>
            <a:chExt cx="1731" cy="423"/>
          </a:xfrm>
        </p:grpSpPr>
        <p:sp>
          <p:nvSpPr>
            <p:cNvPr id="111" name="Rectangle 200"/>
            <p:cNvSpPr>
              <a:spLocks noChangeArrowheads="1"/>
            </p:cNvSpPr>
            <p:nvPr/>
          </p:nvSpPr>
          <p:spPr bwMode="auto">
            <a:xfrm>
              <a:off x="1152" y="3840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>
                  <a:ea typeface="黑体" pitchFamily="49" charset="-122"/>
                </a:rPr>
                <a:t>Z</a:t>
              </a:r>
            </a:p>
          </p:txBody>
        </p:sp>
        <p:sp>
          <p:nvSpPr>
            <p:cNvPr id="112" name="Rectangle 201"/>
            <p:cNvSpPr>
              <a:spLocks noChangeArrowheads="1"/>
            </p:cNvSpPr>
            <p:nvPr/>
          </p:nvSpPr>
          <p:spPr bwMode="auto">
            <a:xfrm>
              <a:off x="2688" y="3753"/>
              <a:ext cx="19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>
                  <a:sym typeface="Symbol" pitchFamily="18" charset="2"/>
                </a:rPr>
                <a:t>1</a:t>
              </a:r>
            </a:p>
          </p:txBody>
        </p:sp>
        <p:sp>
          <p:nvSpPr>
            <p:cNvPr id="113" name="Rectangle 202"/>
            <p:cNvSpPr>
              <a:spLocks noChangeArrowheads="1"/>
            </p:cNvSpPr>
            <p:nvPr/>
          </p:nvSpPr>
          <p:spPr bwMode="auto">
            <a:xfrm>
              <a:off x="2687" y="3936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114" name="Rectangle 203"/>
            <p:cNvSpPr>
              <a:spLocks noChangeArrowheads="1"/>
            </p:cNvSpPr>
            <p:nvPr/>
          </p:nvSpPr>
          <p:spPr bwMode="auto">
            <a:xfrm>
              <a:off x="2400" y="3936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ym typeface="Symbol" pitchFamily="18" charset="2"/>
                </a:rPr>
                <a:t></a:t>
              </a:r>
            </a:p>
          </p:txBody>
        </p:sp>
        <p:sp>
          <p:nvSpPr>
            <p:cNvPr id="115" name="Rectangle 204"/>
            <p:cNvSpPr>
              <a:spLocks noChangeArrowheads="1"/>
            </p:cNvSpPr>
            <p:nvPr/>
          </p:nvSpPr>
          <p:spPr bwMode="auto">
            <a:xfrm>
              <a:off x="2400" y="3744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dirty="0">
                  <a:sym typeface="Symbol" pitchFamily="18" charset="2"/>
                </a:rPr>
                <a:t></a:t>
              </a:r>
            </a:p>
          </p:txBody>
        </p:sp>
        <p:sp>
          <p:nvSpPr>
            <p:cNvPr id="116" name="AutoShape 205"/>
            <p:cNvSpPr>
              <a:spLocks noChangeArrowheads="1"/>
            </p:cNvSpPr>
            <p:nvPr/>
          </p:nvSpPr>
          <p:spPr bwMode="auto">
            <a:xfrm>
              <a:off x="2448" y="3792"/>
              <a:ext cx="384" cy="33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105" name="Line 22"/>
          <p:cNvSpPr>
            <a:spLocks noChangeShapeType="1"/>
          </p:cNvSpPr>
          <p:nvPr/>
        </p:nvSpPr>
        <p:spPr bwMode="auto">
          <a:xfrm>
            <a:off x="1840293" y="1727515"/>
            <a:ext cx="38100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0" name="Text Box 23"/>
          <p:cNvSpPr txBox="1">
            <a:spLocks noChangeArrowheads="1"/>
          </p:cNvSpPr>
          <p:nvPr/>
        </p:nvSpPr>
        <p:spPr bwMode="auto">
          <a:xfrm>
            <a:off x="1897443" y="1543365"/>
            <a:ext cx="8066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dirty="0">
                <a:ea typeface="黑体" pitchFamily="49" charset="-122"/>
              </a:rPr>
              <a:t>Q</a:t>
            </a:r>
            <a:r>
              <a:rPr lang="en-US" altLang="zh-CN" sz="1600" i="0" baseline="-25000" dirty="0">
                <a:ea typeface="黑体" pitchFamily="49" charset="-122"/>
              </a:rPr>
              <a:t>2</a:t>
            </a:r>
            <a:r>
              <a:rPr lang="en-US" altLang="zh-CN" sz="1600" baseline="30000" dirty="0">
                <a:ea typeface="黑体" pitchFamily="49" charset="-122"/>
              </a:rPr>
              <a:t>n</a:t>
            </a:r>
            <a:r>
              <a:rPr lang="en-US" altLang="zh-CN" sz="1600" dirty="0">
                <a:ea typeface="黑体" pitchFamily="49" charset="-122"/>
              </a:rPr>
              <a:t>Q</a:t>
            </a:r>
            <a:r>
              <a:rPr lang="en-US" altLang="zh-CN" sz="1600" i="0" baseline="-25000" dirty="0">
                <a:ea typeface="黑体" pitchFamily="49" charset="-122"/>
              </a:rPr>
              <a:t>1</a:t>
            </a:r>
            <a:r>
              <a:rPr lang="en-US" altLang="zh-CN" sz="1600" baseline="30000" dirty="0">
                <a:ea typeface="黑体" pitchFamily="49" charset="-122"/>
              </a:rPr>
              <a:t>n</a:t>
            </a:r>
          </a:p>
        </p:txBody>
      </p:sp>
      <p:sp>
        <p:nvSpPr>
          <p:cNvPr id="117" name="Text Box 24"/>
          <p:cNvSpPr txBox="1">
            <a:spLocks noChangeArrowheads="1"/>
          </p:cNvSpPr>
          <p:nvPr/>
        </p:nvSpPr>
        <p:spPr bwMode="auto">
          <a:xfrm>
            <a:off x="1687893" y="1803715"/>
            <a:ext cx="49564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600" dirty="0">
                <a:ea typeface="黑体" pitchFamily="49" charset="-122"/>
              </a:rPr>
              <a:t>Q</a:t>
            </a:r>
            <a:r>
              <a:rPr lang="en-US" altLang="zh-CN" sz="1600" i="0" baseline="-25000" dirty="0">
                <a:ea typeface="黑体" pitchFamily="49" charset="-122"/>
              </a:rPr>
              <a:t>0</a:t>
            </a:r>
            <a:r>
              <a:rPr lang="en-US" altLang="zh-CN" sz="1600" baseline="30000" dirty="0">
                <a:ea typeface="黑体" pitchFamily="49" charset="-122"/>
              </a:rPr>
              <a:t>n</a:t>
            </a:r>
            <a:endParaRPr lang="en-US" altLang="zh-CN" i="0" dirty="0"/>
          </a:p>
        </p:txBody>
      </p:sp>
      <p:sp>
        <p:nvSpPr>
          <p:cNvPr id="20" name="矩形 19"/>
          <p:cNvSpPr/>
          <p:nvPr/>
        </p:nvSpPr>
        <p:spPr>
          <a:xfrm>
            <a:off x="228600" y="666750"/>
            <a:ext cx="5347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触发器设计一个同步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进制加法计数器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10" grpId="0"/>
      <p:bldP spid="1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762000" y="10477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第五步：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根据得到的方程式画出逻辑图。</a:t>
            </a:r>
          </a:p>
        </p:txBody>
      </p:sp>
      <p:graphicFrame>
        <p:nvGraphicFramePr>
          <p:cNvPr id="270343" name="Object 7"/>
          <p:cNvGraphicFramePr>
            <a:graphicFrameLocks noChangeAspect="1"/>
          </p:cNvGraphicFramePr>
          <p:nvPr/>
        </p:nvGraphicFramePr>
        <p:xfrm>
          <a:off x="0" y="0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82" name="Equation" r:id="rId2" imgW="304536" imgH="355292" progId="Equation.DSMT4">
                  <p:embed/>
                </p:oleObj>
              </mc:Choice>
              <mc:Fallback>
                <p:oleObj name="Equation" r:id="rId2" imgW="304536" imgH="355292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2" name="Object 6"/>
          <p:cNvGraphicFramePr>
            <a:graphicFrameLocks noChangeAspect="1"/>
          </p:cNvGraphicFramePr>
          <p:nvPr/>
        </p:nvGraphicFramePr>
        <p:xfrm>
          <a:off x="0" y="0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83" name="Equation" r:id="rId4" imgW="304536" imgH="355292" progId="Equation.DSMT4">
                  <p:embed/>
                </p:oleObj>
              </mc:Choice>
              <mc:Fallback>
                <p:oleObj name="Equation" r:id="rId4" imgW="304536" imgH="35529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36"/>
          <p:cNvGrpSpPr>
            <a:grpSpLocks/>
          </p:cNvGrpSpPr>
          <p:nvPr/>
        </p:nvGrpSpPr>
        <p:grpSpPr bwMode="auto">
          <a:xfrm>
            <a:off x="1066800" y="1484762"/>
            <a:ext cx="6189662" cy="2178050"/>
            <a:chOff x="1525" y="1344"/>
            <a:chExt cx="3899" cy="1372"/>
          </a:xfrm>
        </p:grpSpPr>
        <p:grpSp>
          <p:nvGrpSpPr>
            <p:cNvPr id="9" name="Group 37"/>
            <p:cNvGrpSpPr>
              <a:grpSpLocks/>
            </p:cNvGrpSpPr>
            <p:nvPr/>
          </p:nvGrpSpPr>
          <p:grpSpPr bwMode="auto">
            <a:xfrm>
              <a:off x="1525" y="1344"/>
              <a:ext cx="3899" cy="1372"/>
              <a:chOff x="668" y="1580"/>
              <a:chExt cx="3899" cy="1372"/>
            </a:xfrm>
          </p:grpSpPr>
          <p:sp>
            <p:nvSpPr>
              <p:cNvPr id="16" name="Rectangle 38"/>
              <p:cNvSpPr>
                <a:spLocks noChangeArrowheads="1"/>
              </p:cNvSpPr>
              <p:nvPr/>
            </p:nvSpPr>
            <p:spPr bwMode="auto">
              <a:xfrm>
                <a:off x="1482" y="2093"/>
                <a:ext cx="442" cy="707"/>
              </a:xfrm>
              <a:prstGeom prst="rect">
                <a:avLst/>
              </a:prstGeom>
              <a:noFill/>
              <a:ln w="14288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7" name="Rectangle 39"/>
              <p:cNvSpPr>
                <a:spLocks noChangeArrowheads="1"/>
              </p:cNvSpPr>
              <p:nvPr/>
            </p:nvSpPr>
            <p:spPr bwMode="auto">
              <a:xfrm>
                <a:off x="1800" y="2202"/>
                <a:ext cx="124" cy="150"/>
              </a:xfrm>
              <a:prstGeom prst="rect">
                <a:avLst/>
              </a:prstGeom>
              <a:noFill/>
              <a:ln w="14288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8" name="Rectangle 40"/>
              <p:cNvSpPr>
                <a:spLocks noChangeArrowheads="1"/>
              </p:cNvSpPr>
              <p:nvPr/>
            </p:nvSpPr>
            <p:spPr bwMode="auto">
              <a:xfrm>
                <a:off x="3418" y="2102"/>
                <a:ext cx="442" cy="707"/>
              </a:xfrm>
              <a:prstGeom prst="rect">
                <a:avLst/>
              </a:prstGeom>
              <a:noFill/>
              <a:ln w="14288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9" name="Rectangle 41"/>
              <p:cNvSpPr>
                <a:spLocks noChangeArrowheads="1"/>
              </p:cNvSpPr>
              <p:nvPr/>
            </p:nvSpPr>
            <p:spPr bwMode="auto">
              <a:xfrm>
                <a:off x="2436" y="2093"/>
                <a:ext cx="442" cy="707"/>
              </a:xfrm>
              <a:prstGeom prst="rect">
                <a:avLst/>
              </a:prstGeom>
              <a:noFill/>
              <a:ln w="14288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20" name="Line 42"/>
              <p:cNvSpPr>
                <a:spLocks noChangeShapeType="1"/>
              </p:cNvSpPr>
              <p:nvPr/>
            </p:nvSpPr>
            <p:spPr bwMode="auto">
              <a:xfrm flipV="1">
                <a:off x="2100" y="1987"/>
                <a:ext cx="1" cy="265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43"/>
              <p:cNvSpPr>
                <a:spLocks noChangeShapeType="1"/>
              </p:cNvSpPr>
              <p:nvPr/>
            </p:nvSpPr>
            <p:spPr bwMode="auto">
              <a:xfrm>
                <a:off x="3948" y="2429"/>
                <a:ext cx="239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44"/>
              <p:cNvSpPr>
                <a:spLocks noChangeShapeType="1"/>
              </p:cNvSpPr>
              <p:nvPr/>
            </p:nvSpPr>
            <p:spPr bwMode="auto">
              <a:xfrm>
                <a:off x="2100" y="1987"/>
                <a:ext cx="1167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46"/>
              <p:cNvSpPr>
                <a:spLocks noChangeShapeType="1"/>
              </p:cNvSpPr>
              <p:nvPr/>
            </p:nvSpPr>
            <p:spPr bwMode="auto">
              <a:xfrm flipH="1">
                <a:off x="2012" y="2420"/>
                <a:ext cx="230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47"/>
              <p:cNvSpPr>
                <a:spLocks noChangeShapeType="1"/>
              </p:cNvSpPr>
              <p:nvPr/>
            </p:nvSpPr>
            <p:spPr bwMode="auto">
              <a:xfrm flipV="1">
                <a:off x="2242" y="2420"/>
                <a:ext cx="1" cy="477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48"/>
              <p:cNvSpPr>
                <a:spLocks noChangeShapeType="1"/>
              </p:cNvSpPr>
              <p:nvPr/>
            </p:nvSpPr>
            <p:spPr bwMode="auto">
              <a:xfrm>
                <a:off x="4187" y="2429"/>
                <a:ext cx="1" cy="468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49"/>
              <p:cNvSpPr>
                <a:spLocks noChangeShapeType="1"/>
              </p:cNvSpPr>
              <p:nvPr/>
            </p:nvSpPr>
            <p:spPr bwMode="auto">
              <a:xfrm>
                <a:off x="1924" y="2252"/>
                <a:ext cx="176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50"/>
              <p:cNvSpPr>
                <a:spLocks noChangeShapeType="1"/>
              </p:cNvSpPr>
              <p:nvPr/>
            </p:nvSpPr>
            <p:spPr bwMode="auto">
              <a:xfrm>
                <a:off x="2242" y="2897"/>
                <a:ext cx="919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51"/>
              <p:cNvSpPr>
                <a:spLocks noChangeShapeType="1"/>
              </p:cNvSpPr>
              <p:nvPr/>
            </p:nvSpPr>
            <p:spPr bwMode="auto">
              <a:xfrm>
                <a:off x="3966" y="1872"/>
                <a:ext cx="1" cy="354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52"/>
              <p:cNvSpPr>
                <a:spLocks noChangeShapeType="1"/>
              </p:cNvSpPr>
              <p:nvPr/>
            </p:nvSpPr>
            <p:spPr bwMode="auto">
              <a:xfrm flipV="1">
                <a:off x="1243" y="1872"/>
                <a:ext cx="1" cy="716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53"/>
              <p:cNvSpPr>
                <a:spLocks noChangeShapeType="1"/>
              </p:cNvSpPr>
              <p:nvPr/>
            </p:nvSpPr>
            <p:spPr bwMode="auto">
              <a:xfrm flipH="1">
                <a:off x="1243" y="2588"/>
                <a:ext cx="150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Line 54"/>
              <p:cNvSpPr>
                <a:spLocks noChangeShapeType="1"/>
              </p:cNvSpPr>
              <p:nvPr/>
            </p:nvSpPr>
            <p:spPr bwMode="auto">
              <a:xfrm flipH="1">
                <a:off x="3869" y="2226"/>
                <a:ext cx="97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Line 55"/>
              <p:cNvSpPr>
                <a:spLocks noChangeShapeType="1"/>
              </p:cNvSpPr>
              <p:nvPr/>
            </p:nvSpPr>
            <p:spPr bwMode="auto">
              <a:xfrm>
                <a:off x="1243" y="1872"/>
                <a:ext cx="2723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Line 56"/>
              <p:cNvSpPr>
                <a:spLocks noChangeShapeType="1"/>
              </p:cNvSpPr>
              <p:nvPr/>
            </p:nvSpPr>
            <p:spPr bwMode="auto">
              <a:xfrm>
                <a:off x="1924" y="2296"/>
                <a:ext cx="344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Line 57"/>
              <p:cNvSpPr>
                <a:spLocks noChangeShapeType="1"/>
              </p:cNvSpPr>
              <p:nvPr/>
            </p:nvSpPr>
            <p:spPr bwMode="auto">
              <a:xfrm flipH="1">
                <a:off x="1340" y="2279"/>
                <a:ext cx="142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58"/>
              <p:cNvSpPr>
                <a:spLocks noChangeShapeType="1"/>
              </p:cNvSpPr>
              <p:nvPr/>
            </p:nvSpPr>
            <p:spPr bwMode="auto">
              <a:xfrm>
                <a:off x="2268" y="1757"/>
                <a:ext cx="1" cy="539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Line 60"/>
              <p:cNvSpPr>
                <a:spLocks noChangeShapeType="1"/>
              </p:cNvSpPr>
              <p:nvPr/>
            </p:nvSpPr>
            <p:spPr bwMode="auto">
              <a:xfrm>
                <a:off x="1340" y="1757"/>
                <a:ext cx="1" cy="522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62"/>
              <p:cNvSpPr>
                <a:spLocks noChangeShapeType="1"/>
              </p:cNvSpPr>
              <p:nvPr/>
            </p:nvSpPr>
            <p:spPr bwMode="auto">
              <a:xfrm>
                <a:off x="4187" y="2897"/>
                <a:ext cx="203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63"/>
              <p:cNvSpPr>
                <a:spLocks noChangeShapeType="1"/>
              </p:cNvSpPr>
              <p:nvPr/>
            </p:nvSpPr>
            <p:spPr bwMode="auto">
              <a:xfrm>
                <a:off x="2967" y="2420"/>
                <a:ext cx="194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Line 64"/>
              <p:cNvSpPr>
                <a:spLocks noChangeShapeType="1"/>
              </p:cNvSpPr>
              <p:nvPr/>
            </p:nvSpPr>
            <p:spPr bwMode="auto">
              <a:xfrm>
                <a:off x="3161" y="2420"/>
                <a:ext cx="1" cy="477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Line 66"/>
              <p:cNvSpPr>
                <a:spLocks noChangeShapeType="1"/>
              </p:cNvSpPr>
              <p:nvPr/>
            </p:nvSpPr>
            <p:spPr bwMode="auto">
              <a:xfrm>
                <a:off x="3161" y="2897"/>
                <a:ext cx="1026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Oval 67"/>
              <p:cNvSpPr>
                <a:spLocks noChangeArrowheads="1"/>
              </p:cNvSpPr>
              <p:nvPr/>
            </p:nvSpPr>
            <p:spPr bwMode="auto">
              <a:xfrm>
                <a:off x="4169" y="2880"/>
                <a:ext cx="35" cy="35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46" name="Line 68"/>
              <p:cNvSpPr>
                <a:spLocks noChangeShapeType="1"/>
              </p:cNvSpPr>
              <p:nvPr/>
            </p:nvSpPr>
            <p:spPr bwMode="auto">
              <a:xfrm>
                <a:off x="2878" y="2252"/>
                <a:ext cx="151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Line 69"/>
              <p:cNvSpPr>
                <a:spLocks noChangeShapeType="1"/>
              </p:cNvSpPr>
              <p:nvPr/>
            </p:nvSpPr>
            <p:spPr bwMode="auto">
              <a:xfrm>
                <a:off x="3024" y="2256"/>
                <a:ext cx="1" cy="416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Line 71"/>
              <p:cNvSpPr>
                <a:spLocks noChangeShapeType="1"/>
              </p:cNvSpPr>
              <p:nvPr/>
            </p:nvSpPr>
            <p:spPr bwMode="auto">
              <a:xfrm flipH="1">
                <a:off x="2876" y="2668"/>
                <a:ext cx="153" cy="0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72"/>
              <p:cNvSpPr>
                <a:spLocks noChangeShapeType="1"/>
              </p:cNvSpPr>
              <p:nvPr/>
            </p:nvSpPr>
            <p:spPr bwMode="auto">
              <a:xfrm>
                <a:off x="3029" y="2252"/>
                <a:ext cx="238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73"/>
              <p:cNvSpPr>
                <a:spLocks noChangeShapeType="1"/>
              </p:cNvSpPr>
              <p:nvPr/>
            </p:nvSpPr>
            <p:spPr bwMode="auto">
              <a:xfrm>
                <a:off x="3267" y="1766"/>
                <a:ext cx="1" cy="22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74"/>
              <p:cNvSpPr>
                <a:spLocks noChangeShapeType="1"/>
              </p:cNvSpPr>
              <p:nvPr/>
            </p:nvSpPr>
            <p:spPr bwMode="auto">
              <a:xfrm>
                <a:off x="3267" y="2252"/>
                <a:ext cx="142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75"/>
              <p:cNvSpPr>
                <a:spLocks noChangeShapeType="1"/>
              </p:cNvSpPr>
              <p:nvPr/>
            </p:nvSpPr>
            <p:spPr bwMode="auto">
              <a:xfrm>
                <a:off x="2268" y="2296"/>
                <a:ext cx="168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76"/>
              <p:cNvSpPr>
                <a:spLocks noChangeShapeType="1"/>
              </p:cNvSpPr>
              <p:nvPr/>
            </p:nvSpPr>
            <p:spPr bwMode="auto">
              <a:xfrm flipH="1">
                <a:off x="986" y="2279"/>
                <a:ext cx="354" cy="1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Line 77"/>
              <p:cNvSpPr>
                <a:spLocks noChangeShapeType="1"/>
              </p:cNvSpPr>
              <p:nvPr/>
            </p:nvSpPr>
            <p:spPr bwMode="auto">
              <a:xfrm>
                <a:off x="3267" y="1987"/>
                <a:ext cx="1" cy="265"/>
              </a:xfrm>
              <a:prstGeom prst="line">
                <a:avLst/>
              </a:prstGeom>
              <a:noFill/>
              <a:ln w="142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Oval 78"/>
              <p:cNvSpPr>
                <a:spLocks noChangeArrowheads="1"/>
              </p:cNvSpPr>
              <p:nvPr/>
            </p:nvSpPr>
            <p:spPr bwMode="auto">
              <a:xfrm>
                <a:off x="3250" y="2234"/>
                <a:ext cx="35" cy="36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57" name="Oval 79"/>
              <p:cNvSpPr>
                <a:spLocks noChangeArrowheads="1"/>
              </p:cNvSpPr>
              <p:nvPr/>
            </p:nvSpPr>
            <p:spPr bwMode="auto">
              <a:xfrm>
                <a:off x="1924" y="2385"/>
                <a:ext cx="88" cy="88"/>
              </a:xfrm>
              <a:prstGeom prst="ellipse">
                <a:avLst/>
              </a:prstGeom>
              <a:noFill/>
              <a:ln w="1428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58" name="Oval 80"/>
              <p:cNvSpPr>
                <a:spLocks noChangeArrowheads="1"/>
              </p:cNvSpPr>
              <p:nvPr/>
            </p:nvSpPr>
            <p:spPr bwMode="auto">
              <a:xfrm>
                <a:off x="2878" y="2385"/>
                <a:ext cx="89" cy="88"/>
              </a:xfrm>
              <a:prstGeom prst="ellipse">
                <a:avLst/>
              </a:prstGeom>
              <a:noFill/>
              <a:ln w="1428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59" name="Oval 81"/>
              <p:cNvSpPr>
                <a:spLocks noChangeArrowheads="1"/>
              </p:cNvSpPr>
              <p:nvPr/>
            </p:nvSpPr>
            <p:spPr bwMode="auto">
              <a:xfrm>
                <a:off x="3860" y="2394"/>
                <a:ext cx="88" cy="88"/>
              </a:xfrm>
              <a:prstGeom prst="ellipse">
                <a:avLst/>
              </a:prstGeom>
              <a:noFill/>
              <a:ln w="1428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60" name="Oval 82"/>
              <p:cNvSpPr>
                <a:spLocks noChangeArrowheads="1"/>
              </p:cNvSpPr>
              <p:nvPr/>
            </p:nvSpPr>
            <p:spPr bwMode="auto">
              <a:xfrm>
                <a:off x="1393" y="2553"/>
                <a:ext cx="89" cy="88"/>
              </a:xfrm>
              <a:prstGeom prst="ellipse">
                <a:avLst/>
              </a:prstGeom>
              <a:noFill/>
              <a:ln w="1428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61" name="Oval 83"/>
              <p:cNvSpPr>
                <a:spLocks noChangeArrowheads="1"/>
              </p:cNvSpPr>
              <p:nvPr/>
            </p:nvSpPr>
            <p:spPr bwMode="auto">
              <a:xfrm>
                <a:off x="2348" y="2579"/>
                <a:ext cx="88" cy="89"/>
              </a:xfrm>
              <a:prstGeom prst="ellipse">
                <a:avLst/>
              </a:prstGeom>
              <a:noFill/>
              <a:ln w="1428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62" name="Oval 84"/>
              <p:cNvSpPr>
                <a:spLocks noChangeArrowheads="1"/>
              </p:cNvSpPr>
              <p:nvPr/>
            </p:nvSpPr>
            <p:spPr bwMode="auto">
              <a:xfrm>
                <a:off x="3329" y="2597"/>
                <a:ext cx="89" cy="88"/>
              </a:xfrm>
              <a:prstGeom prst="ellipse">
                <a:avLst/>
              </a:prstGeom>
              <a:noFill/>
              <a:ln w="1428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69" name="Rectangle 91"/>
              <p:cNvSpPr>
                <a:spLocks noChangeArrowheads="1"/>
              </p:cNvSpPr>
              <p:nvPr/>
            </p:nvSpPr>
            <p:spPr bwMode="auto">
              <a:xfrm rot="16200000">
                <a:off x="3757" y="2373"/>
                <a:ext cx="104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300" i="0">
                    <a:solidFill>
                      <a:srgbClr val="400080"/>
                    </a:solidFill>
                    <a:latin typeface="宋体" pitchFamily="2" charset="-122"/>
                  </a:rPr>
                  <a:t>∧</a:t>
                </a:r>
                <a:endParaRPr lang="en-US" altLang="zh-CN" i="0"/>
              </a:p>
            </p:txBody>
          </p:sp>
          <p:sp>
            <p:nvSpPr>
              <p:cNvPr id="72" name="Rectangle 94"/>
              <p:cNvSpPr>
                <a:spLocks noChangeArrowheads="1"/>
              </p:cNvSpPr>
              <p:nvPr/>
            </p:nvSpPr>
            <p:spPr bwMode="auto">
              <a:xfrm rot="16200000">
                <a:off x="2776" y="2364"/>
                <a:ext cx="104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300" i="0" dirty="0">
                    <a:solidFill>
                      <a:srgbClr val="400080"/>
                    </a:solidFill>
                    <a:latin typeface="宋体" pitchFamily="2" charset="-122"/>
                  </a:rPr>
                  <a:t>∧</a:t>
                </a:r>
                <a:endParaRPr lang="en-US" altLang="zh-CN" i="0" dirty="0"/>
              </a:p>
            </p:txBody>
          </p:sp>
          <p:sp>
            <p:nvSpPr>
              <p:cNvPr id="77" name="Rectangle 99"/>
              <p:cNvSpPr>
                <a:spLocks noChangeArrowheads="1"/>
              </p:cNvSpPr>
              <p:nvPr/>
            </p:nvSpPr>
            <p:spPr bwMode="auto">
              <a:xfrm rot="16200000">
                <a:off x="1821" y="2364"/>
                <a:ext cx="104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300" i="0" dirty="0">
                    <a:solidFill>
                      <a:srgbClr val="400080"/>
                    </a:solidFill>
                    <a:latin typeface="宋体" pitchFamily="2" charset="-122"/>
                  </a:rPr>
                  <a:t>∧</a:t>
                </a:r>
                <a:endParaRPr lang="en-US" altLang="zh-CN" i="0" dirty="0"/>
              </a:p>
            </p:txBody>
          </p:sp>
          <p:sp>
            <p:nvSpPr>
              <p:cNvPr id="78" name="Rectangle 100"/>
              <p:cNvSpPr>
                <a:spLocks noChangeArrowheads="1"/>
              </p:cNvSpPr>
              <p:nvPr/>
            </p:nvSpPr>
            <p:spPr bwMode="auto">
              <a:xfrm>
                <a:off x="1367" y="1633"/>
                <a:ext cx="40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0">
                    <a:latin typeface="Times New Roman" pitchFamily="18" charset="0"/>
                  </a:rPr>
                  <a:t>2</a:t>
                </a:r>
                <a:endParaRPr lang="en-US" altLang="zh-CN" i="0"/>
              </a:p>
            </p:txBody>
          </p:sp>
          <p:sp>
            <p:nvSpPr>
              <p:cNvPr id="79" name="Rectangle 101"/>
              <p:cNvSpPr>
                <a:spLocks noChangeArrowheads="1"/>
              </p:cNvSpPr>
              <p:nvPr/>
            </p:nvSpPr>
            <p:spPr bwMode="auto">
              <a:xfrm>
                <a:off x="3205" y="1616"/>
                <a:ext cx="76" cy="1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300" dirty="0">
                    <a:latin typeface="Times New Roman" pitchFamily="18" charset="0"/>
                  </a:rPr>
                  <a:t>Q</a:t>
                </a:r>
                <a:endParaRPr lang="en-US" altLang="zh-CN" i="0" dirty="0"/>
              </a:p>
            </p:txBody>
          </p:sp>
          <p:sp>
            <p:nvSpPr>
              <p:cNvPr id="80" name="Rectangle 102"/>
              <p:cNvSpPr>
                <a:spLocks noChangeArrowheads="1"/>
              </p:cNvSpPr>
              <p:nvPr/>
            </p:nvSpPr>
            <p:spPr bwMode="auto">
              <a:xfrm>
                <a:off x="3294" y="1669"/>
                <a:ext cx="40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0">
                    <a:latin typeface="Times New Roman" pitchFamily="18" charset="0"/>
                  </a:rPr>
                  <a:t>0</a:t>
                </a:r>
                <a:endParaRPr lang="en-US" altLang="zh-CN" i="0"/>
              </a:p>
            </p:txBody>
          </p:sp>
          <p:sp>
            <p:nvSpPr>
              <p:cNvPr id="81" name="Rectangle 103"/>
              <p:cNvSpPr>
                <a:spLocks noChangeArrowheads="1"/>
              </p:cNvSpPr>
              <p:nvPr/>
            </p:nvSpPr>
            <p:spPr bwMode="auto">
              <a:xfrm>
                <a:off x="1278" y="1580"/>
                <a:ext cx="76" cy="1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300" dirty="0">
                    <a:latin typeface="Times New Roman" pitchFamily="18" charset="0"/>
                  </a:rPr>
                  <a:t>Q</a:t>
                </a:r>
                <a:endParaRPr lang="en-US" altLang="zh-CN" i="0" dirty="0"/>
              </a:p>
            </p:txBody>
          </p:sp>
          <p:sp>
            <p:nvSpPr>
              <p:cNvPr id="82" name="Rectangle 104"/>
              <p:cNvSpPr>
                <a:spLocks noChangeArrowheads="1"/>
              </p:cNvSpPr>
              <p:nvPr/>
            </p:nvSpPr>
            <p:spPr bwMode="auto">
              <a:xfrm>
                <a:off x="2215" y="1607"/>
                <a:ext cx="76" cy="1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300" dirty="0">
                    <a:latin typeface="Times New Roman" pitchFamily="18" charset="0"/>
                  </a:rPr>
                  <a:t>Q</a:t>
                </a:r>
                <a:endParaRPr lang="en-US" altLang="zh-CN" i="0" dirty="0"/>
              </a:p>
            </p:txBody>
          </p:sp>
          <p:sp>
            <p:nvSpPr>
              <p:cNvPr id="83" name="Rectangle 105"/>
              <p:cNvSpPr>
                <a:spLocks noChangeArrowheads="1"/>
              </p:cNvSpPr>
              <p:nvPr/>
            </p:nvSpPr>
            <p:spPr bwMode="auto">
              <a:xfrm>
                <a:off x="2304" y="1660"/>
                <a:ext cx="40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0">
                    <a:latin typeface="Times New Roman" pitchFamily="18" charset="0"/>
                  </a:rPr>
                  <a:t>1</a:t>
                </a:r>
                <a:endParaRPr lang="en-US" altLang="zh-CN" i="0"/>
              </a:p>
            </p:txBody>
          </p:sp>
          <p:sp>
            <p:nvSpPr>
              <p:cNvPr id="84" name="Rectangle 106"/>
              <p:cNvSpPr>
                <a:spLocks noChangeArrowheads="1"/>
              </p:cNvSpPr>
              <p:nvPr/>
            </p:nvSpPr>
            <p:spPr bwMode="auto">
              <a:xfrm>
                <a:off x="4434" y="2827"/>
                <a:ext cx="133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300">
                    <a:solidFill>
                      <a:srgbClr val="400080"/>
                    </a:solidFill>
                    <a:latin typeface="Times New Roman" pitchFamily="18" charset="0"/>
                  </a:rPr>
                  <a:t>CP</a:t>
                </a:r>
                <a:endParaRPr lang="en-US" altLang="zh-CN" i="0"/>
              </a:p>
            </p:txBody>
          </p:sp>
          <p:sp>
            <p:nvSpPr>
              <p:cNvPr id="85" name="Rectangle 107"/>
              <p:cNvSpPr>
                <a:spLocks noChangeArrowheads="1"/>
              </p:cNvSpPr>
              <p:nvPr/>
            </p:nvSpPr>
            <p:spPr bwMode="auto">
              <a:xfrm>
                <a:off x="863" y="2199"/>
                <a:ext cx="65" cy="1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300">
                    <a:latin typeface="Times New Roman" pitchFamily="18" charset="0"/>
                  </a:rPr>
                  <a:t>Z</a:t>
                </a:r>
                <a:endParaRPr lang="en-US" altLang="zh-CN" i="0"/>
              </a:p>
            </p:txBody>
          </p:sp>
          <p:sp>
            <p:nvSpPr>
              <p:cNvPr id="86" name="Rectangle 108"/>
              <p:cNvSpPr>
                <a:spLocks noChangeArrowheads="1"/>
              </p:cNvSpPr>
              <p:nvPr/>
            </p:nvSpPr>
            <p:spPr bwMode="auto">
              <a:xfrm>
                <a:off x="668" y="2349"/>
                <a:ext cx="512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zh-CN" altLang="en-US" sz="1600" i="0" dirty="0">
                    <a:latin typeface="黑体" pitchFamily="49" charset="-122"/>
                    <a:ea typeface="黑体" pitchFamily="49" charset="-122"/>
                  </a:rPr>
                  <a:t>进位输出</a:t>
                </a:r>
              </a:p>
            </p:txBody>
          </p:sp>
          <p:sp>
            <p:nvSpPr>
              <p:cNvPr id="39" name="Oval 61"/>
              <p:cNvSpPr>
                <a:spLocks noChangeArrowheads="1"/>
              </p:cNvSpPr>
              <p:nvPr/>
            </p:nvSpPr>
            <p:spPr bwMode="auto">
              <a:xfrm>
                <a:off x="1322" y="2261"/>
                <a:ext cx="36" cy="35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37" name="Oval 59"/>
              <p:cNvSpPr>
                <a:spLocks noChangeArrowheads="1"/>
              </p:cNvSpPr>
              <p:nvPr/>
            </p:nvSpPr>
            <p:spPr bwMode="auto">
              <a:xfrm>
                <a:off x="2251" y="2279"/>
                <a:ext cx="35" cy="35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48" name="Oval 70"/>
              <p:cNvSpPr>
                <a:spLocks noChangeArrowheads="1"/>
              </p:cNvSpPr>
              <p:nvPr/>
            </p:nvSpPr>
            <p:spPr bwMode="auto">
              <a:xfrm>
                <a:off x="3011" y="2234"/>
                <a:ext cx="35" cy="36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43" name="Oval 65"/>
              <p:cNvSpPr>
                <a:spLocks noChangeArrowheads="1"/>
              </p:cNvSpPr>
              <p:nvPr/>
            </p:nvSpPr>
            <p:spPr bwMode="auto">
              <a:xfrm>
                <a:off x="3144" y="2880"/>
                <a:ext cx="35" cy="35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23" name="Oval 45"/>
              <p:cNvSpPr>
                <a:spLocks noChangeArrowheads="1"/>
              </p:cNvSpPr>
              <p:nvPr/>
            </p:nvSpPr>
            <p:spPr bwMode="auto">
              <a:xfrm>
                <a:off x="3250" y="1969"/>
                <a:ext cx="35" cy="36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5" name="Line 114"/>
            <p:cNvSpPr>
              <a:spLocks noChangeShapeType="1"/>
            </p:cNvSpPr>
            <p:nvPr/>
          </p:nvSpPr>
          <p:spPr bwMode="auto">
            <a:xfrm>
              <a:off x="4293" y="2328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5463892" y="2440528"/>
            <a:ext cx="204788" cy="236538"/>
            <a:chOff x="5463892" y="2689316"/>
            <a:chExt cx="204788" cy="236538"/>
          </a:xfrm>
        </p:grpSpPr>
        <p:sp>
          <p:nvSpPr>
            <p:cNvPr id="87" name="Rectangle 101"/>
            <p:cNvSpPr>
              <a:spLocks noChangeArrowheads="1"/>
            </p:cNvSpPr>
            <p:nvPr/>
          </p:nvSpPr>
          <p:spPr bwMode="auto">
            <a:xfrm>
              <a:off x="5463892" y="2689316"/>
              <a:ext cx="120226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dirty="0">
                  <a:latin typeface="Times New Roman" pitchFamily="18" charset="0"/>
                </a:rPr>
                <a:t>Q</a:t>
              </a:r>
              <a:endParaRPr lang="en-US" altLang="zh-CN" i="0" dirty="0"/>
            </a:p>
          </p:txBody>
        </p:sp>
        <p:sp>
          <p:nvSpPr>
            <p:cNvPr id="88" name="Rectangle 102"/>
            <p:cNvSpPr>
              <a:spLocks noChangeArrowheads="1"/>
            </p:cNvSpPr>
            <p:nvPr/>
          </p:nvSpPr>
          <p:spPr bwMode="auto">
            <a:xfrm>
              <a:off x="5605180" y="2773454"/>
              <a:ext cx="63500" cy="152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 i="0">
                  <a:latin typeface="Times New Roman" pitchFamily="18" charset="0"/>
                </a:rPr>
                <a:t>0</a:t>
              </a:r>
              <a:endParaRPr lang="en-US" altLang="zh-CN" i="0"/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5486400" y="3037894"/>
            <a:ext cx="204788" cy="236538"/>
            <a:chOff x="5246687" y="1943100"/>
            <a:chExt cx="204788" cy="236538"/>
          </a:xfrm>
        </p:grpSpPr>
        <p:sp>
          <p:nvSpPr>
            <p:cNvPr id="89" name="Rectangle 101"/>
            <p:cNvSpPr>
              <a:spLocks noChangeArrowheads="1"/>
            </p:cNvSpPr>
            <p:nvPr/>
          </p:nvSpPr>
          <p:spPr bwMode="auto">
            <a:xfrm>
              <a:off x="5246687" y="1943100"/>
              <a:ext cx="120226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dirty="0">
                  <a:latin typeface="Times New Roman" pitchFamily="18" charset="0"/>
                </a:rPr>
                <a:t>Q</a:t>
              </a:r>
              <a:endParaRPr lang="en-US" altLang="zh-CN" i="0" dirty="0"/>
            </a:p>
          </p:txBody>
        </p:sp>
        <p:sp>
          <p:nvSpPr>
            <p:cNvPr id="90" name="Rectangle 102"/>
            <p:cNvSpPr>
              <a:spLocks noChangeArrowheads="1"/>
            </p:cNvSpPr>
            <p:nvPr/>
          </p:nvSpPr>
          <p:spPr bwMode="auto">
            <a:xfrm>
              <a:off x="5387975" y="2027238"/>
              <a:ext cx="63500" cy="152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 i="0" dirty="0">
                  <a:latin typeface="Times New Roman" pitchFamily="18" charset="0"/>
                </a:rPr>
                <a:t>0</a:t>
              </a:r>
              <a:endParaRPr lang="en-US" altLang="zh-CN" i="0" dirty="0"/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5943600" y="2399162"/>
            <a:ext cx="124100" cy="236538"/>
            <a:chOff x="7467600" y="2038350"/>
            <a:chExt cx="124100" cy="236538"/>
          </a:xfrm>
        </p:grpSpPr>
        <p:sp>
          <p:nvSpPr>
            <p:cNvPr id="93" name="Rectangle 101"/>
            <p:cNvSpPr>
              <a:spLocks noChangeArrowheads="1"/>
            </p:cNvSpPr>
            <p:nvPr/>
          </p:nvSpPr>
          <p:spPr bwMode="auto">
            <a:xfrm>
              <a:off x="7467600" y="2038350"/>
              <a:ext cx="64120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dirty="0">
                  <a:latin typeface="Times New Roman" pitchFamily="18" charset="0"/>
                </a:rPr>
                <a:t>J</a:t>
              </a:r>
              <a:endParaRPr lang="en-US" altLang="zh-CN" i="0" dirty="0"/>
            </a:p>
          </p:txBody>
        </p:sp>
        <p:sp>
          <p:nvSpPr>
            <p:cNvPr id="94" name="Rectangle 102"/>
            <p:cNvSpPr>
              <a:spLocks noChangeArrowheads="1"/>
            </p:cNvSpPr>
            <p:nvPr/>
          </p:nvSpPr>
          <p:spPr bwMode="auto">
            <a:xfrm>
              <a:off x="7528200" y="2122488"/>
              <a:ext cx="63500" cy="152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 i="0" dirty="0">
                  <a:latin typeface="Times New Roman" pitchFamily="18" charset="0"/>
                </a:rPr>
                <a:t>0</a:t>
              </a:r>
              <a:endParaRPr lang="en-US" altLang="zh-CN" i="0" dirty="0"/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5867400" y="3161162"/>
            <a:ext cx="205408" cy="238026"/>
            <a:chOff x="7467600" y="2038350"/>
            <a:chExt cx="205408" cy="238026"/>
          </a:xfrm>
        </p:grpSpPr>
        <p:sp>
          <p:nvSpPr>
            <p:cNvPr id="97" name="Rectangle 101"/>
            <p:cNvSpPr>
              <a:spLocks noChangeArrowheads="1"/>
            </p:cNvSpPr>
            <p:nvPr/>
          </p:nvSpPr>
          <p:spPr bwMode="auto">
            <a:xfrm>
              <a:off x="7467600" y="2038350"/>
              <a:ext cx="120226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dirty="0">
                  <a:latin typeface="Times New Roman" pitchFamily="18" charset="0"/>
                </a:rPr>
                <a:t>K</a:t>
              </a:r>
              <a:endParaRPr lang="en-US" altLang="zh-CN" i="0" dirty="0"/>
            </a:p>
          </p:txBody>
        </p:sp>
        <p:sp>
          <p:nvSpPr>
            <p:cNvPr id="98" name="Rectangle 102"/>
            <p:cNvSpPr>
              <a:spLocks noChangeArrowheads="1"/>
            </p:cNvSpPr>
            <p:nvPr/>
          </p:nvSpPr>
          <p:spPr bwMode="auto">
            <a:xfrm>
              <a:off x="7608888" y="2122488"/>
              <a:ext cx="64120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 i="0" dirty="0">
                  <a:latin typeface="Times New Roman" pitchFamily="18" charset="0"/>
                </a:rPr>
                <a:t>0</a:t>
              </a:r>
              <a:endParaRPr lang="en-US" altLang="zh-CN" i="0" dirty="0"/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4419600" y="2399162"/>
            <a:ext cx="124100" cy="236538"/>
            <a:chOff x="7467600" y="2038350"/>
            <a:chExt cx="124100" cy="236538"/>
          </a:xfrm>
        </p:grpSpPr>
        <p:sp>
          <p:nvSpPr>
            <p:cNvPr id="100" name="Rectangle 101"/>
            <p:cNvSpPr>
              <a:spLocks noChangeArrowheads="1"/>
            </p:cNvSpPr>
            <p:nvPr/>
          </p:nvSpPr>
          <p:spPr bwMode="auto">
            <a:xfrm>
              <a:off x="7467600" y="2038350"/>
              <a:ext cx="64120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dirty="0">
                  <a:latin typeface="Times New Roman" pitchFamily="18" charset="0"/>
                </a:rPr>
                <a:t>J</a:t>
              </a:r>
              <a:endParaRPr lang="en-US" altLang="zh-CN" i="0" dirty="0"/>
            </a:p>
          </p:txBody>
        </p:sp>
        <p:sp>
          <p:nvSpPr>
            <p:cNvPr id="101" name="Rectangle 102"/>
            <p:cNvSpPr>
              <a:spLocks noChangeArrowheads="1"/>
            </p:cNvSpPr>
            <p:nvPr/>
          </p:nvSpPr>
          <p:spPr bwMode="auto">
            <a:xfrm>
              <a:off x="7528200" y="2122488"/>
              <a:ext cx="63500" cy="152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 i="0" dirty="0">
                  <a:latin typeface="Times New Roman" pitchFamily="18" charset="0"/>
                </a:rPr>
                <a:t>1</a:t>
              </a:r>
              <a:endParaRPr lang="en-US" altLang="zh-CN" i="0" dirty="0"/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4343400" y="3084962"/>
            <a:ext cx="205408" cy="238026"/>
            <a:chOff x="7467600" y="2038350"/>
            <a:chExt cx="205408" cy="238026"/>
          </a:xfrm>
        </p:grpSpPr>
        <p:sp>
          <p:nvSpPr>
            <p:cNvPr id="103" name="Rectangle 101"/>
            <p:cNvSpPr>
              <a:spLocks noChangeArrowheads="1"/>
            </p:cNvSpPr>
            <p:nvPr/>
          </p:nvSpPr>
          <p:spPr bwMode="auto">
            <a:xfrm>
              <a:off x="7467600" y="2038350"/>
              <a:ext cx="120226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dirty="0">
                  <a:latin typeface="Times New Roman" pitchFamily="18" charset="0"/>
                </a:rPr>
                <a:t>K</a:t>
              </a:r>
              <a:endParaRPr lang="en-US" altLang="zh-CN" i="0" dirty="0"/>
            </a:p>
          </p:txBody>
        </p:sp>
        <p:sp>
          <p:nvSpPr>
            <p:cNvPr id="104" name="Rectangle 102"/>
            <p:cNvSpPr>
              <a:spLocks noChangeArrowheads="1"/>
            </p:cNvSpPr>
            <p:nvPr/>
          </p:nvSpPr>
          <p:spPr bwMode="auto">
            <a:xfrm>
              <a:off x="7608888" y="2122488"/>
              <a:ext cx="64120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 i="0" dirty="0">
                  <a:latin typeface="Times New Roman" pitchFamily="18" charset="0"/>
                </a:rPr>
                <a:t>1</a:t>
              </a:r>
              <a:endParaRPr lang="en-US" altLang="zh-CN" i="0" dirty="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886200" y="2475362"/>
            <a:ext cx="204788" cy="236538"/>
            <a:chOff x="5463892" y="2689316"/>
            <a:chExt cx="204788" cy="236538"/>
          </a:xfrm>
        </p:grpSpPr>
        <p:sp>
          <p:nvSpPr>
            <p:cNvPr id="107" name="Rectangle 101"/>
            <p:cNvSpPr>
              <a:spLocks noChangeArrowheads="1"/>
            </p:cNvSpPr>
            <p:nvPr/>
          </p:nvSpPr>
          <p:spPr bwMode="auto">
            <a:xfrm>
              <a:off x="5463892" y="2689316"/>
              <a:ext cx="120226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dirty="0">
                  <a:latin typeface="Times New Roman" pitchFamily="18" charset="0"/>
                </a:rPr>
                <a:t>Q</a:t>
              </a:r>
              <a:endParaRPr lang="en-US" altLang="zh-CN" i="0" dirty="0"/>
            </a:p>
          </p:txBody>
        </p:sp>
        <p:sp>
          <p:nvSpPr>
            <p:cNvPr id="108" name="Rectangle 102"/>
            <p:cNvSpPr>
              <a:spLocks noChangeArrowheads="1"/>
            </p:cNvSpPr>
            <p:nvPr/>
          </p:nvSpPr>
          <p:spPr bwMode="auto">
            <a:xfrm>
              <a:off x="5605180" y="2773454"/>
              <a:ext cx="63500" cy="152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 i="0" dirty="0">
                  <a:latin typeface="Times New Roman" pitchFamily="18" charset="0"/>
                </a:rPr>
                <a:t>1</a:t>
              </a:r>
              <a:endParaRPr lang="en-US" altLang="zh-CN" i="0" dirty="0"/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3908708" y="3079452"/>
            <a:ext cx="204788" cy="236538"/>
            <a:chOff x="5246687" y="1943100"/>
            <a:chExt cx="204788" cy="236538"/>
          </a:xfrm>
        </p:grpSpPr>
        <p:sp>
          <p:nvSpPr>
            <p:cNvPr id="110" name="Rectangle 101"/>
            <p:cNvSpPr>
              <a:spLocks noChangeArrowheads="1"/>
            </p:cNvSpPr>
            <p:nvPr/>
          </p:nvSpPr>
          <p:spPr bwMode="auto">
            <a:xfrm>
              <a:off x="5246687" y="1943100"/>
              <a:ext cx="120226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dirty="0">
                  <a:latin typeface="Times New Roman" pitchFamily="18" charset="0"/>
                </a:rPr>
                <a:t>Q</a:t>
              </a:r>
              <a:endParaRPr lang="en-US" altLang="zh-CN" i="0" dirty="0"/>
            </a:p>
          </p:txBody>
        </p:sp>
        <p:sp>
          <p:nvSpPr>
            <p:cNvPr id="111" name="Rectangle 102"/>
            <p:cNvSpPr>
              <a:spLocks noChangeArrowheads="1"/>
            </p:cNvSpPr>
            <p:nvPr/>
          </p:nvSpPr>
          <p:spPr bwMode="auto">
            <a:xfrm>
              <a:off x="5387975" y="2027238"/>
              <a:ext cx="63500" cy="152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 i="0" dirty="0">
                  <a:latin typeface="Times New Roman" pitchFamily="18" charset="0"/>
                </a:rPr>
                <a:t>1</a:t>
              </a:r>
              <a:endParaRPr lang="en-US" altLang="zh-CN" i="0" dirty="0"/>
            </a:p>
          </p:txBody>
        </p:sp>
      </p:grpSp>
      <p:sp>
        <p:nvSpPr>
          <p:cNvPr id="112" name="Line 114"/>
          <p:cNvSpPr>
            <a:spLocks noChangeShapeType="1"/>
          </p:cNvSpPr>
          <p:nvPr/>
        </p:nvSpPr>
        <p:spPr bwMode="auto">
          <a:xfrm>
            <a:off x="3886200" y="3084962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3" name="Line 114"/>
          <p:cNvSpPr>
            <a:spLocks noChangeShapeType="1"/>
          </p:cNvSpPr>
          <p:nvPr/>
        </p:nvSpPr>
        <p:spPr bwMode="auto">
          <a:xfrm>
            <a:off x="2362200" y="3008762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14" name="组合 113"/>
          <p:cNvGrpSpPr/>
          <p:nvPr/>
        </p:nvGrpSpPr>
        <p:grpSpPr>
          <a:xfrm>
            <a:off x="2667000" y="2475362"/>
            <a:ext cx="124100" cy="236538"/>
            <a:chOff x="7467600" y="2038350"/>
            <a:chExt cx="124100" cy="236538"/>
          </a:xfrm>
        </p:grpSpPr>
        <p:sp>
          <p:nvSpPr>
            <p:cNvPr id="115" name="Rectangle 101"/>
            <p:cNvSpPr>
              <a:spLocks noChangeArrowheads="1"/>
            </p:cNvSpPr>
            <p:nvPr/>
          </p:nvSpPr>
          <p:spPr bwMode="auto">
            <a:xfrm>
              <a:off x="7467600" y="2038350"/>
              <a:ext cx="64120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dirty="0">
                  <a:latin typeface="Times New Roman" pitchFamily="18" charset="0"/>
                </a:rPr>
                <a:t>J</a:t>
              </a:r>
              <a:endParaRPr lang="en-US" altLang="zh-CN" i="0" dirty="0"/>
            </a:p>
          </p:txBody>
        </p:sp>
        <p:sp>
          <p:nvSpPr>
            <p:cNvPr id="116" name="Rectangle 102"/>
            <p:cNvSpPr>
              <a:spLocks noChangeArrowheads="1"/>
            </p:cNvSpPr>
            <p:nvPr/>
          </p:nvSpPr>
          <p:spPr bwMode="auto">
            <a:xfrm>
              <a:off x="7528200" y="2122488"/>
              <a:ext cx="63500" cy="152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 i="0" dirty="0">
                  <a:latin typeface="Times New Roman" pitchFamily="18" charset="0"/>
                </a:rPr>
                <a:t>2</a:t>
              </a:r>
              <a:endParaRPr lang="en-US" altLang="zh-CN" i="0" dirty="0"/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2819400" y="3161162"/>
            <a:ext cx="205408" cy="238026"/>
            <a:chOff x="7467600" y="2038350"/>
            <a:chExt cx="205408" cy="238026"/>
          </a:xfrm>
        </p:grpSpPr>
        <p:sp>
          <p:nvSpPr>
            <p:cNvPr id="118" name="Rectangle 101"/>
            <p:cNvSpPr>
              <a:spLocks noChangeArrowheads="1"/>
            </p:cNvSpPr>
            <p:nvPr/>
          </p:nvSpPr>
          <p:spPr bwMode="auto">
            <a:xfrm>
              <a:off x="7467600" y="2038350"/>
              <a:ext cx="120226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dirty="0">
                  <a:latin typeface="Times New Roman" pitchFamily="18" charset="0"/>
                </a:rPr>
                <a:t>K</a:t>
              </a:r>
              <a:endParaRPr lang="en-US" altLang="zh-CN" i="0" dirty="0"/>
            </a:p>
          </p:txBody>
        </p:sp>
        <p:sp>
          <p:nvSpPr>
            <p:cNvPr id="120" name="Rectangle 102"/>
            <p:cNvSpPr>
              <a:spLocks noChangeArrowheads="1"/>
            </p:cNvSpPr>
            <p:nvPr/>
          </p:nvSpPr>
          <p:spPr bwMode="auto">
            <a:xfrm>
              <a:off x="7608888" y="2122488"/>
              <a:ext cx="64120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 i="0" dirty="0">
                  <a:latin typeface="Times New Roman" pitchFamily="18" charset="0"/>
                </a:rPr>
                <a:t>2</a:t>
              </a:r>
              <a:endParaRPr lang="en-US" altLang="zh-CN" i="0" dirty="0"/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2371160" y="2475362"/>
            <a:ext cx="204788" cy="236538"/>
            <a:chOff x="5463892" y="2689316"/>
            <a:chExt cx="204788" cy="236538"/>
          </a:xfrm>
        </p:grpSpPr>
        <p:sp>
          <p:nvSpPr>
            <p:cNvPr id="123" name="Rectangle 101"/>
            <p:cNvSpPr>
              <a:spLocks noChangeArrowheads="1"/>
            </p:cNvSpPr>
            <p:nvPr/>
          </p:nvSpPr>
          <p:spPr bwMode="auto">
            <a:xfrm>
              <a:off x="5463892" y="2689316"/>
              <a:ext cx="120226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dirty="0">
                  <a:latin typeface="Times New Roman" pitchFamily="18" charset="0"/>
                </a:rPr>
                <a:t>Q</a:t>
              </a:r>
              <a:endParaRPr lang="en-US" altLang="zh-CN" i="0" dirty="0"/>
            </a:p>
          </p:txBody>
        </p:sp>
        <p:sp>
          <p:nvSpPr>
            <p:cNvPr id="124" name="Rectangle 102"/>
            <p:cNvSpPr>
              <a:spLocks noChangeArrowheads="1"/>
            </p:cNvSpPr>
            <p:nvPr/>
          </p:nvSpPr>
          <p:spPr bwMode="auto">
            <a:xfrm>
              <a:off x="5605180" y="2773454"/>
              <a:ext cx="63500" cy="152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 i="0" dirty="0">
                  <a:latin typeface="Times New Roman" pitchFamily="18" charset="0"/>
                </a:rPr>
                <a:t>2</a:t>
              </a:r>
              <a:endParaRPr lang="en-US" altLang="zh-CN" i="0" dirty="0"/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2375648" y="3008762"/>
            <a:ext cx="204788" cy="236538"/>
            <a:chOff x="5246687" y="1943100"/>
            <a:chExt cx="204788" cy="236538"/>
          </a:xfrm>
        </p:grpSpPr>
        <p:sp>
          <p:nvSpPr>
            <p:cNvPr id="126" name="Rectangle 101"/>
            <p:cNvSpPr>
              <a:spLocks noChangeArrowheads="1"/>
            </p:cNvSpPr>
            <p:nvPr/>
          </p:nvSpPr>
          <p:spPr bwMode="auto">
            <a:xfrm>
              <a:off x="5246687" y="1943100"/>
              <a:ext cx="120226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dirty="0">
                  <a:latin typeface="Times New Roman" pitchFamily="18" charset="0"/>
                </a:rPr>
                <a:t>Q</a:t>
              </a:r>
              <a:endParaRPr lang="en-US" altLang="zh-CN" i="0" dirty="0"/>
            </a:p>
          </p:txBody>
        </p:sp>
        <p:sp>
          <p:nvSpPr>
            <p:cNvPr id="127" name="Rectangle 102"/>
            <p:cNvSpPr>
              <a:spLocks noChangeArrowheads="1"/>
            </p:cNvSpPr>
            <p:nvPr/>
          </p:nvSpPr>
          <p:spPr bwMode="auto">
            <a:xfrm>
              <a:off x="5387975" y="2027238"/>
              <a:ext cx="63500" cy="152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 i="0" dirty="0">
                  <a:latin typeface="Times New Roman" pitchFamily="18" charset="0"/>
                </a:rPr>
                <a:t>2</a:t>
              </a:r>
              <a:endParaRPr lang="en-US" altLang="zh-CN" i="0" dirty="0"/>
            </a:p>
          </p:txBody>
        </p:sp>
      </p:grpSp>
      <p:sp>
        <p:nvSpPr>
          <p:cNvPr id="128" name="TextBox 127"/>
          <p:cNvSpPr txBox="1"/>
          <p:nvPr/>
        </p:nvSpPr>
        <p:spPr>
          <a:xfrm>
            <a:off x="3276600" y="37909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4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的电路图</a:t>
            </a:r>
          </a:p>
        </p:txBody>
      </p:sp>
      <p:sp>
        <p:nvSpPr>
          <p:cNvPr id="121" name="矩形 120"/>
          <p:cNvSpPr/>
          <p:nvPr/>
        </p:nvSpPr>
        <p:spPr>
          <a:xfrm>
            <a:off x="228600" y="666750"/>
            <a:ext cx="5347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触发器设计一个同步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进制加法计数器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762000" y="10477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第六步：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检查设计的电路能否自启动</a:t>
            </a:r>
          </a:p>
        </p:txBody>
      </p:sp>
      <p:graphicFrame>
        <p:nvGraphicFramePr>
          <p:cNvPr id="270343" name="Object 7"/>
          <p:cNvGraphicFramePr>
            <a:graphicFrameLocks noChangeAspect="1"/>
          </p:cNvGraphicFramePr>
          <p:nvPr/>
        </p:nvGraphicFramePr>
        <p:xfrm>
          <a:off x="0" y="0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38" name="Equation" r:id="rId2" imgW="304536" imgH="355292" progId="Equation.DSMT4">
                  <p:embed/>
                </p:oleObj>
              </mc:Choice>
              <mc:Fallback>
                <p:oleObj name="Equation" r:id="rId2" imgW="304536" imgH="355292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2" name="Object 6"/>
          <p:cNvGraphicFramePr>
            <a:graphicFrameLocks noChangeAspect="1"/>
          </p:cNvGraphicFramePr>
          <p:nvPr/>
        </p:nvGraphicFramePr>
        <p:xfrm>
          <a:off x="0" y="0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39" name="Equation" r:id="rId4" imgW="304536" imgH="355292" progId="Equation.DSMT4">
                  <p:embed/>
                </p:oleObj>
              </mc:Choice>
              <mc:Fallback>
                <p:oleObj name="Equation" r:id="rId4" imgW="304536" imgH="35529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TextBox 127"/>
          <p:cNvSpPr txBox="1"/>
          <p:nvPr/>
        </p:nvSpPr>
        <p:spPr>
          <a:xfrm>
            <a:off x="2971800" y="3333750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5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设计电路（图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）的状态图</a:t>
            </a:r>
          </a:p>
        </p:txBody>
      </p:sp>
      <p:grpSp>
        <p:nvGrpSpPr>
          <p:cNvPr id="109" name="Group 5"/>
          <p:cNvGrpSpPr>
            <a:grpSpLocks/>
          </p:cNvGrpSpPr>
          <p:nvPr/>
        </p:nvGrpSpPr>
        <p:grpSpPr bwMode="auto">
          <a:xfrm>
            <a:off x="2057400" y="1657350"/>
            <a:ext cx="4897438" cy="1447800"/>
            <a:chOff x="2435" y="3168"/>
            <a:chExt cx="3085" cy="912"/>
          </a:xfrm>
        </p:grpSpPr>
        <p:grpSp>
          <p:nvGrpSpPr>
            <p:cNvPr id="114" name="Group 6"/>
            <p:cNvGrpSpPr>
              <a:grpSpLocks/>
            </p:cNvGrpSpPr>
            <p:nvPr/>
          </p:nvGrpSpPr>
          <p:grpSpPr bwMode="auto">
            <a:xfrm>
              <a:off x="3107" y="3168"/>
              <a:ext cx="445" cy="336"/>
              <a:chOff x="3110" y="2544"/>
              <a:chExt cx="445" cy="336"/>
            </a:xfrm>
          </p:grpSpPr>
          <p:sp>
            <p:nvSpPr>
              <p:cNvPr id="152" name="Text Box 7"/>
              <p:cNvSpPr txBox="1">
                <a:spLocks noChangeArrowheads="1"/>
              </p:cNvSpPr>
              <p:nvPr/>
            </p:nvSpPr>
            <p:spPr bwMode="auto">
              <a:xfrm>
                <a:off x="3110" y="2627"/>
                <a:ext cx="445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i="0"/>
                  <a:t>000/0</a:t>
                </a:r>
              </a:p>
            </p:txBody>
          </p:sp>
          <p:sp>
            <p:nvSpPr>
              <p:cNvPr id="154" name="Oval 8"/>
              <p:cNvSpPr>
                <a:spLocks noChangeArrowheads="1"/>
              </p:cNvSpPr>
              <p:nvPr/>
            </p:nvSpPr>
            <p:spPr bwMode="auto">
              <a:xfrm>
                <a:off x="3120" y="2544"/>
                <a:ext cx="38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17" name="Line 9"/>
            <p:cNvSpPr>
              <a:spLocks noChangeShapeType="1"/>
            </p:cNvSpPr>
            <p:nvPr/>
          </p:nvSpPr>
          <p:spPr bwMode="auto">
            <a:xfrm>
              <a:off x="3514" y="33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21" name="Group 10"/>
            <p:cNvGrpSpPr>
              <a:grpSpLocks/>
            </p:cNvGrpSpPr>
            <p:nvPr/>
          </p:nvGrpSpPr>
          <p:grpSpPr bwMode="auto">
            <a:xfrm>
              <a:off x="3754" y="3168"/>
              <a:ext cx="445" cy="336"/>
              <a:chOff x="3110" y="2544"/>
              <a:chExt cx="445" cy="336"/>
            </a:xfrm>
          </p:grpSpPr>
          <p:sp>
            <p:nvSpPr>
              <p:cNvPr id="150" name="Text Box 11"/>
              <p:cNvSpPr txBox="1">
                <a:spLocks noChangeArrowheads="1"/>
              </p:cNvSpPr>
              <p:nvPr/>
            </p:nvSpPr>
            <p:spPr bwMode="auto">
              <a:xfrm>
                <a:off x="3110" y="2627"/>
                <a:ext cx="445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i="0"/>
                  <a:t>001/0</a:t>
                </a:r>
              </a:p>
            </p:txBody>
          </p:sp>
          <p:sp>
            <p:nvSpPr>
              <p:cNvPr id="151" name="Oval 12"/>
              <p:cNvSpPr>
                <a:spLocks noChangeArrowheads="1"/>
              </p:cNvSpPr>
              <p:nvPr/>
            </p:nvSpPr>
            <p:spPr bwMode="auto">
              <a:xfrm>
                <a:off x="3120" y="2544"/>
                <a:ext cx="38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22" name="Group 13"/>
            <p:cNvGrpSpPr>
              <a:grpSpLocks/>
            </p:cNvGrpSpPr>
            <p:nvPr/>
          </p:nvGrpSpPr>
          <p:grpSpPr bwMode="auto">
            <a:xfrm>
              <a:off x="4352" y="3168"/>
              <a:ext cx="445" cy="336"/>
              <a:chOff x="3110" y="2544"/>
              <a:chExt cx="445" cy="336"/>
            </a:xfrm>
          </p:grpSpPr>
          <p:sp>
            <p:nvSpPr>
              <p:cNvPr id="148" name="Text Box 14"/>
              <p:cNvSpPr txBox="1">
                <a:spLocks noChangeArrowheads="1"/>
              </p:cNvSpPr>
              <p:nvPr/>
            </p:nvSpPr>
            <p:spPr bwMode="auto">
              <a:xfrm>
                <a:off x="3110" y="2627"/>
                <a:ext cx="445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i="0"/>
                  <a:t>010/0</a:t>
                </a:r>
              </a:p>
            </p:txBody>
          </p:sp>
          <p:sp>
            <p:nvSpPr>
              <p:cNvPr id="149" name="Oval 15"/>
              <p:cNvSpPr>
                <a:spLocks noChangeArrowheads="1"/>
              </p:cNvSpPr>
              <p:nvPr/>
            </p:nvSpPr>
            <p:spPr bwMode="auto">
              <a:xfrm>
                <a:off x="3120" y="2544"/>
                <a:ext cx="38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25" name="Group 16"/>
            <p:cNvGrpSpPr>
              <a:grpSpLocks/>
            </p:cNvGrpSpPr>
            <p:nvPr/>
          </p:nvGrpSpPr>
          <p:grpSpPr bwMode="auto">
            <a:xfrm>
              <a:off x="3802" y="3744"/>
              <a:ext cx="445" cy="336"/>
              <a:chOff x="3110" y="2544"/>
              <a:chExt cx="445" cy="336"/>
            </a:xfrm>
          </p:grpSpPr>
          <p:sp>
            <p:nvSpPr>
              <p:cNvPr id="146" name="Text Box 17"/>
              <p:cNvSpPr txBox="1">
                <a:spLocks noChangeArrowheads="1"/>
              </p:cNvSpPr>
              <p:nvPr/>
            </p:nvSpPr>
            <p:spPr bwMode="auto">
              <a:xfrm>
                <a:off x="3110" y="2627"/>
                <a:ext cx="445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i="0"/>
                  <a:t>011/0</a:t>
                </a:r>
              </a:p>
            </p:txBody>
          </p:sp>
          <p:sp>
            <p:nvSpPr>
              <p:cNvPr id="147" name="Oval 18"/>
              <p:cNvSpPr>
                <a:spLocks noChangeArrowheads="1"/>
              </p:cNvSpPr>
              <p:nvPr/>
            </p:nvSpPr>
            <p:spPr bwMode="auto">
              <a:xfrm>
                <a:off x="3120" y="2544"/>
                <a:ext cx="38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29" name="Group 19"/>
            <p:cNvGrpSpPr>
              <a:grpSpLocks/>
            </p:cNvGrpSpPr>
            <p:nvPr/>
          </p:nvGrpSpPr>
          <p:grpSpPr bwMode="auto">
            <a:xfrm>
              <a:off x="3152" y="3744"/>
              <a:ext cx="445" cy="336"/>
              <a:chOff x="3110" y="2544"/>
              <a:chExt cx="445" cy="336"/>
            </a:xfrm>
          </p:grpSpPr>
          <p:sp>
            <p:nvSpPr>
              <p:cNvPr id="143" name="Text Box 20"/>
              <p:cNvSpPr txBox="1">
                <a:spLocks noChangeArrowheads="1"/>
              </p:cNvSpPr>
              <p:nvPr/>
            </p:nvSpPr>
            <p:spPr bwMode="auto">
              <a:xfrm>
                <a:off x="3110" y="2627"/>
                <a:ext cx="445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i="0"/>
                  <a:t>100/1</a:t>
                </a:r>
              </a:p>
            </p:txBody>
          </p:sp>
          <p:sp>
            <p:nvSpPr>
              <p:cNvPr id="145" name="Oval 21"/>
              <p:cNvSpPr>
                <a:spLocks noChangeArrowheads="1"/>
              </p:cNvSpPr>
              <p:nvPr/>
            </p:nvSpPr>
            <p:spPr bwMode="auto">
              <a:xfrm>
                <a:off x="3120" y="2544"/>
                <a:ext cx="38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30" name="Line 22"/>
            <p:cNvSpPr>
              <a:spLocks noChangeShapeType="1"/>
            </p:cNvSpPr>
            <p:nvPr/>
          </p:nvSpPr>
          <p:spPr bwMode="auto">
            <a:xfrm>
              <a:off x="4138" y="33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1" name="Line 23"/>
            <p:cNvSpPr>
              <a:spLocks noChangeShapeType="1"/>
            </p:cNvSpPr>
            <p:nvPr/>
          </p:nvSpPr>
          <p:spPr bwMode="auto">
            <a:xfrm flipH="1">
              <a:off x="4138" y="3504"/>
              <a:ext cx="336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2" name="Line 24"/>
            <p:cNvSpPr>
              <a:spLocks noChangeShapeType="1"/>
            </p:cNvSpPr>
            <p:nvPr/>
          </p:nvSpPr>
          <p:spPr bwMode="auto">
            <a:xfrm flipH="1">
              <a:off x="3562" y="393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" name="Line 25"/>
            <p:cNvSpPr>
              <a:spLocks noChangeShapeType="1"/>
            </p:cNvSpPr>
            <p:nvPr/>
          </p:nvSpPr>
          <p:spPr bwMode="auto">
            <a:xfrm flipV="1">
              <a:off x="3322" y="350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4" name="Text Box 26"/>
            <p:cNvSpPr txBox="1">
              <a:spLocks noChangeArrowheads="1"/>
            </p:cNvSpPr>
            <p:nvPr/>
          </p:nvSpPr>
          <p:spPr bwMode="auto">
            <a:xfrm>
              <a:off x="2435" y="3251"/>
              <a:ext cx="44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i="0"/>
                <a:t>111/1</a:t>
              </a:r>
            </a:p>
          </p:txBody>
        </p:sp>
        <p:sp>
          <p:nvSpPr>
            <p:cNvPr id="135" name="Oval 27"/>
            <p:cNvSpPr>
              <a:spLocks noChangeArrowheads="1"/>
            </p:cNvSpPr>
            <p:nvPr/>
          </p:nvSpPr>
          <p:spPr bwMode="auto">
            <a:xfrm>
              <a:off x="2445" y="3168"/>
              <a:ext cx="384" cy="33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36" name="Line 28"/>
            <p:cNvSpPr>
              <a:spLocks noChangeShapeType="1"/>
            </p:cNvSpPr>
            <p:nvPr/>
          </p:nvSpPr>
          <p:spPr bwMode="auto">
            <a:xfrm>
              <a:off x="2832" y="3360"/>
              <a:ext cx="28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7" name="Text Box 29"/>
            <p:cNvSpPr txBox="1">
              <a:spLocks noChangeArrowheads="1"/>
            </p:cNvSpPr>
            <p:nvPr/>
          </p:nvSpPr>
          <p:spPr bwMode="auto">
            <a:xfrm>
              <a:off x="5075" y="3251"/>
              <a:ext cx="44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i="0"/>
                <a:t>110/1</a:t>
              </a:r>
            </a:p>
          </p:txBody>
        </p:sp>
        <p:sp>
          <p:nvSpPr>
            <p:cNvPr id="138" name="Oval 30"/>
            <p:cNvSpPr>
              <a:spLocks noChangeArrowheads="1"/>
            </p:cNvSpPr>
            <p:nvPr/>
          </p:nvSpPr>
          <p:spPr bwMode="auto">
            <a:xfrm>
              <a:off x="5085" y="3168"/>
              <a:ext cx="384" cy="33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39" name="Text Box 31"/>
            <p:cNvSpPr txBox="1">
              <a:spLocks noChangeArrowheads="1"/>
            </p:cNvSpPr>
            <p:nvPr/>
          </p:nvSpPr>
          <p:spPr bwMode="auto">
            <a:xfrm>
              <a:off x="4595" y="3827"/>
              <a:ext cx="44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i="0"/>
                <a:t>101/1</a:t>
              </a:r>
            </a:p>
          </p:txBody>
        </p:sp>
        <p:sp>
          <p:nvSpPr>
            <p:cNvPr id="140" name="Oval 32"/>
            <p:cNvSpPr>
              <a:spLocks noChangeArrowheads="1"/>
            </p:cNvSpPr>
            <p:nvPr/>
          </p:nvSpPr>
          <p:spPr bwMode="auto">
            <a:xfrm>
              <a:off x="4605" y="3744"/>
              <a:ext cx="384" cy="33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41" name="Line 33"/>
            <p:cNvSpPr>
              <a:spLocks noChangeShapeType="1"/>
            </p:cNvSpPr>
            <p:nvPr/>
          </p:nvSpPr>
          <p:spPr bwMode="auto">
            <a:xfrm flipH="1">
              <a:off x="4752" y="3360"/>
              <a:ext cx="33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2" name="Line 34"/>
            <p:cNvSpPr>
              <a:spLocks noChangeShapeType="1"/>
            </p:cNvSpPr>
            <p:nvPr/>
          </p:nvSpPr>
          <p:spPr bwMode="auto">
            <a:xfrm flipH="1" flipV="1">
              <a:off x="4656" y="3504"/>
              <a:ext cx="96" cy="24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55" name="Text Box 762"/>
          <p:cNvSpPr txBox="1">
            <a:spLocks noChangeArrowheads="1"/>
          </p:cNvSpPr>
          <p:nvPr/>
        </p:nvSpPr>
        <p:spPr bwMode="auto">
          <a:xfrm>
            <a:off x="6324600" y="1047750"/>
            <a:ext cx="190500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电路可以自启动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28600" y="666750"/>
            <a:ext cx="5347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触发器设计一个同步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进制加法计数器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8203</TotalTime>
  <Words>929</Words>
  <Application>Microsoft Office PowerPoint</Application>
  <PresentationFormat>全屏显示(16:9)</PresentationFormat>
  <Paragraphs>404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黑体</vt:lpstr>
      <vt:lpstr>宋体</vt:lpstr>
      <vt:lpstr>微软雅黑</vt:lpstr>
      <vt:lpstr>Arial</vt:lpstr>
      <vt:lpstr>Calibri</vt:lpstr>
      <vt:lpstr>Tahoma</vt:lpstr>
      <vt:lpstr>Times New Roman</vt:lpstr>
      <vt:lpstr>Wingdings</vt:lpstr>
      <vt:lpstr>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896</cp:revision>
  <cp:lastPrinted>2113-01-01T00:00:00Z</cp:lastPrinted>
  <dcterms:created xsi:type="dcterms:W3CDTF">2113-01-01T00:00:00Z</dcterms:created>
  <dcterms:modified xsi:type="dcterms:W3CDTF">2021-07-20T02:29:42Z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