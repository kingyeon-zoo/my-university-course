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309" r:id="rId2"/>
    <p:sldId id="386" r:id="rId3"/>
    <p:sldId id="374" r:id="rId4"/>
    <p:sldId id="375" r:id="rId5"/>
    <p:sldId id="390" r:id="rId6"/>
    <p:sldId id="391" r:id="rId7"/>
    <p:sldId id="392" r:id="rId8"/>
    <p:sldId id="377" r:id="rId9"/>
    <p:sldId id="378" r:id="rId10"/>
    <p:sldId id="379" r:id="rId11"/>
    <p:sldId id="380" r:id="rId12"/>
    <p:sldId id="381" r:id="rId13"/>
    <p:sldId id="382" r:id="rId14"/>
    <p:sldId id="383" r:id="rId15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CC"/>
    <a:srgbClr val="00FFFF"/>
    <a:srgbClr val="2D1341"/>
    <a:srgbClr val="3333CC"/>
    <a:srgbClr val="2D2D8A"/>
    <a:srgbClr val="0000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20" autoAdjust="0"/>
    <p:restoredTop sz="98916" autoAdjust="0"/>
  </p:normalViewPr>
  <p:slideViewPr>
    <p:cSldViewPr>
      <p:cViewPr varScale="1">
        <p:scale>
          <a:sx n="142" d="100"/>
          <a:sy n="142" d="100"/>
        </p:scale>
        <p:origin x="-210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1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锁 存 器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刘 军</a:t>
            </a:r>
            <a:endParaRPr lang="en-US" altLang="zh-CN" sz="2800" b="1" dirty="0" smtClean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4473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20633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877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(Latch)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的特点：</a:t>
            </a:r>
            <a:r>
              <a:rPr lang="zh-CN" altLang="en-US" sz="1400" b="1" dirty="0" smtClean="0"/>
              <a:t>能够存储</a:t>
            </a:r>
            <a:r>
              <a:rPr lang="en-US" altLang="zh-CN" sz="1400" b="1" dirty="0" smtClean="0"/>
              <a:t>(</a:t>
            </a:r>
            <a:r>
              <a:rPr lang="zh-CN" altLang="en-US" sz="1400" b="1" dirty="0" smtClean="0"/>
              <a:t>记忆</a:t>
            </a:r>
            <a:r>
              <a:rPr lang="en-US" altLang="zh-CN" sz="1400" b="1" dirty="0" smtClean="0"/>
              <a:t>)</a:t>
            </a:r>
            <a:r>
              <a:rPr lang="zh-CN" altLang="en-US" sz="1400" b="1" dirty="0" smtClean="0"/>
              <a:t>一位二进制数的基本单元电路。由门电路构成，输出具有两个稳定的物理状态。</a:t>
            </a:r>
            <a:r>
              <a:rPr lang="zh-CN" altLang="en-US" sz="1400" dirty="0" smtClean="0"/>
              <a:t> </a:t>
            </a: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533400" y="1504950"/>
            <a:ext cx="1938251" cy="2746177"/>
            <a:chOff x="533400" y="1504950"/>
            <a:chExt cx="1938251" cy="2746177"/>
          </a:xfrm>
        </p:grpSpPr>
        <p:grpSp>
          <p:nvGrpSpPr>
            <p:cNvPr id="11" name="Group 9"/>
            <p:cNvGrpSpPr>
              <a:grpSpLocks/>
            </p:cNvGrpSpPr>
            <p:nvPr/>
          </p:nvGrpSpPr>
          <p:grpSpPr bwMode="auto">
            <a:xfrm>
              <a:off x="1787525" y="2038350"/>
              <a:ext cx="533400" cy="687387"/>
              <a:chOff x="792" y="2183"/>
              <a:chExt cx="336" cy="433"/>
            </a:xfrm>
          </p:grpSpPr>
          <p:sp>
            <p:nvSpPr>
              <p:cNvPr id="12" name="AutoShape 10"/>
              <p:cNvSpPr>
                <a:spLocks noChangeArrowheads="1"/>
              </p:cNvSpPr>
              <p:nvPr/>
            </p:nvSpPr>
            <p:spPr bwMode="auto">
              <a:xfrm rot="-5400000">
                <a:off x="768" y="2256"/>
                <a:ext cx="384" cy="336"/>
              </a:xfrm>
              <a:prstGeom prst="flowChartDelay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3" name="Oval 11"/>
              <p:cNvSpPr>
                <a:spLocks noChangeArrowheads="1"/>
              </p:cNvSpPr>
              <p:nvPr/>
            </p:nvSpPr>
            <p:spPr bwMode="auto">
              <a:xfrm>
                <a:off x="934" y="2183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 flipV="1">
              <a:off x="990600" y="1657350"/>
              <a:ext cx="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" name="Line 17"/>
            <p:cNvSpPr>
              <a:spLocks noChangeShapeType="1"/>
            </p:cNvSpPr>
            <p:nvPr/>
          </p:nvSpPr>
          <p:spPr bwMode="auto">
            <a:xfrm>
              <a:off x="990600" y="1885950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" name="Line 18"/>
            <p:cNvSpPr>
              <a:spLocks noChangeShapeType="1"/>
            </p:cNvSpPr>
            <p:nvPr/>
          </p:nvSpPr>
          <p:spPr bwMode="auto">
            <a:xfrm>
              <a:off x="1752600" y="1885950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" name="Line 19"/>
            <p:cNvSpPr>
              <a:spLocks noChangeShapeType="1"/>
            </p:cNvSpPr>
            <p:nvPr/>
          </p:nvSpPr>
          <p:spPr bwMode="auto">
            <a:xfrm>
              <a:off x="2057400" y="1657350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" name="Line 20"/>
            <p:cNvSpPr>
              <a:spLocks noChangeShapeType="1"/>
            </p:cNvSpPr>
            <p:nvPr/>
          </p:nvSpPr>
          <p:spPr bwMode="auto">
            <a:xfrm flipH="1">
              <a:off x="1295400" y="1885950"/>
              <a:ext cx="457200" cy="1143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" name="Line 21"/>
            <p:cNvSpPr>
              <a:spLocks noChangeShapeType="1"/>
            </p:cNvSpPr>
            <p:nvPr/>
          </p:nvSpPr>
          <p:spPr bwMode="auto">
            <a:xfrm>
              <a:off x="1295400" y="1885950"/>
              <a:ext cx="457200" cy="1143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" name="Line 22"/>
            <p:cNvSpPr>
              <a:spLocks noChangeShapeType="1"/>
            </p:cNvSpPr>
            <p:nvPr/>
          </p:nvSpPr>
          <p:spPr bwMode="auto">
            <a:xfrm>
              <a:off x="1752600" y="3028950"/>
              <a:ext cx="15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" name="Line 23"/>
            <p:cNvSpPr>
              <a:spLocks noChangeShapeType="1"/>
            </p:cNvSpPr>
            <p:nvPr/>
          </p:nvSpPr>
          <p:spPr bwMode="auto">
            <a:xfrm flipV="1">
              <a:off x="1905000" y="2724150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" name="Line 24"/>
            <p:cNvSpPr>
              <a:spLocks noChangeShapeType="1"/>
            </p:cNvSpPr>
            <p:nvPr/>
          </p:nvSpPr>
          <p:spPr bwMode="auto">
            <a:xfrm flipH="1">
              <a:off x="1143000" y="3028950"/>
              <a:ext cx="15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" name="Line 25"/>
            <p:cNvSpPr>
              <a:spLocks noChangeShapeType="1"/>
            </p:cNvSpPr>
            <p:nvPr/>
          </p:nvSpPr>
          <p:spPr bwMode="auto">
            <a:xfrm flipV="1">
              <a:off x="1143000" y="2724150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" name="Line 29"/>
            <p:cNvSpPr>
              <a:spLocks noChangeShapeType="1"/>
            </p:cNvSpPr>
            <p:nvPr/>
          </p:nvSpPr>
          <p:spPr bwMode="auto">
            <a:xfrm>
              <a:off x="838200" y="2724150"/>
              <a:ext cx="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" name="Line 30"/>
            <p:cNvSpPr>
              <a:spLocks noChangeShapeType="1"/>
            </p:cNvSpPr>
            <p:nvPr/>
          </p:nvSpPr>
          <p:spPr bwMode="auto">
            <a:xfrm>
              <a:off x="2209800" y="2724150"/>
              <a:ext cx="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26" name="Group 31"/>
            <p:cNvGrpSpPr>
              <a:grpSpLocks/>
            </p:cNvGrpSpPr>
            <p:nvPr/>
          </p:nvGrpSpPr>
          <p:grpSpPr bwMode="auto">
            <a:xfrm>
              <a:off x="723900" y="2074862"/>
              <a:ext cx="533400" cy="687388"/>
              <a:chOff x="792" y="2183"/>
              <a:chExt cx="336" cy="433"/>
            </a:xfrm>
          </p:grpSpPr>
          <p:sp>
            <p:nvSpPr>
              <p:cNvPr id="27" name="AutoShape 32"/>
              <p:cNvSpPr>
                <a:spLocks noChangeArrowheads="1"/>
              </p:cNvSpPr>
              <p:nvPr/>
            </p:nvSpPr>
            <p:spPr bwMode="auto">
              <a:xfrm rot="-5400000">
                <a:off x="768" y="2256"/>
                <a:ext cx="384" cy="336"/>
              </a:xfrm>
              <a:prstGeom prst="flowChartDelay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28" name="Oval 33"/>
              <p:cNvSpPr>
                <a:spLocks noChangeArrowheads="1"/>
              </p:cNvSpPr>
              <p:nvPr/>
            </p:nvSpPr>
            <p:spPr bwMode="auto">
              <a:xfrm>
                <a:off x="934" y="2183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9" name="Text Box 34"/>
            <p:cNvSpPr txBox="1">
              <a:spLocks noChangeArrowheads="1"/>
            </p:cNvSpPr>
            <p:nvPr/>
          </p:nvSpPr>
          <p:spPr bwMode="auto">
            <a:xfrm>
              <a:off x="1932735" y="1699930"/>
              <a:ext cx="29051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0" dirty="0">
                  <a:latin typeface="Times New Roman" pitchFamily="18" charset="0"/>
                  <a:cs typeface="Tahoma" pitchFamily="34" charset="0"/>
                </a:rPr>
                <a:t>•</a:t>
              </a:r>
              <a:endParaRPr lang="en-US" altLang="zh-CN" i="0" dirty="0"/>
            </a:p>
          </p:txBody>
        </p:sp>
        <p:sp>
          <p:nvSpPr>
            <p:cNvPr id="30" name="Text Box 35"/>
            <p:cNvSpPr txBox="1">
              <a:spLocks noChangeArrowheads="1"/>
            </p:cNvSpPr>
            <p:nvPr/>
          </p:nvSpPr>
          <p:spPr bwMode="auto">
            <a:xfrm>
              <a:off x="863683" y="1704418"/>
              <a:ext cx="29051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0" dirty="0">
                  <a:latin typeface="Times New Roman" pitchFamily="18" charset="0"/>
                  <a:cs typeface="Tahoma" pitchFamily="34" charset="0"/>
                </a:rPr>
                <a:t>•</a:t>
              </a:r>
              <a:endParaRPr lang="en-US" altLang="zh-CN" i="0" dirty="0"/>
            </a:p>
          </p:txBody>
        </p:sp>
        <p:sp>
          <p:nvSpPr>
            <p:cNvPr id="31" name="Text Box 39"/>
            <p:cNvSpPr txBox="1">
              <a:spLocks noChangeArrowheads="1"/>
            </p:cNvSpPr>
            <p:nvPr/>
          </p:nvSpPr>
          <p:spPr bwMode="auto">
            <a:xfrm>
              <a:off x="2057400" y="1504950"/>
              <a:ext cx="363537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/>
                <a:t>Q</a:t>
              </a:r>
            </a:p>
          </p:txBody>
        </p:sp>
        <p:grpSp>
          <p:nvGrpSpPr>
            <p:cNvPr id="32" name="Group 46"/>
            <p:cNvGrpSpPr>
              <a:grpSpLocks/>
            </p:cNvGrpSpPr>
            <p:nvPr/>
          </p:nvGrpSpPr>
          <p:grpSpPr bwMode="auto">
            <a:xfrm>
              <a:off x="533400" y="1504950"/>
              <a:ext cx="363537" cy="396875"/>
              <a:chOff x="672" y="1824"/>
              <a:chExt cx="229" cy="250"/>
            </a:xfrm>
          </p:grpSpPr>
          <p:sp>
            <p:nvSpPr>
              <p:cNvPr id="33" name="Text Box 38"/>
              <p:cNvSpPr txBox="1">
                <a:spLocks noChangeArrowheads="1"/>
              </p:cNvSpPr>
              <p:nvPr/>
            </p:nvSpPr>
            <p:spPr bwMode="auto">
              <a:xfrm>
                <a:off x="672" y="1824"/>
                <a:ext cx="229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dirty="0"/>
                  <a:t>Q</a:t>
                </a:r>
              </a:p>
            </p:txBody>
          </p:sp>
          <p:sp>
            <p:nvSpPr>
              <p:cNvPr id="34" name="Line 40"/>
              <p:cNvSpPr>
                <a:spLocks noChangeShapeType="1"/>
              </p:cNvSpPr>
              <p:nvPr/>
            </p:nvSpPr>
            <p:spPr bwMode="auto">
              <a:xfrm>
                <a:off x="737" y="1872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2020887" y="3394075"/>
              <a:ext cx="45076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dirty="0" smtClean="0"/>
                <a:t>X</a:t>
              </a:r>
              <a:r>
                <a:rPr lang="en-US" altLang="zh-CN" sz="2000" baseline="-25000" dirty="0" smtClean="0"/>
                <a:t>1</a:t>
              </a:r>
              <a:endParaRPr lang="en-US" altLang="zh-CN" sz="2000" baseline="-2500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143000" y="3943350"/>
              <a:ext cx="762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图</a:t>
              </a:r>
              <a:r>
                <a:rPr lang="en-US" altLang="zh-CN" sz="1400" dirty="0" smtClean="0"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4" name="Text Box 4"/>
          <p:cNvSpPr txBox="1">
            <a:spLocks noChangeArrowheads="1"/>
          </p:cNvSpPr>
          <p:nvPr/>
        </p:nvSpPr>
        <p:spPr bwMode="auto">
          <a:xfrm>
            <a:off x="2819400" y="2952750"/>
            <a:ext cx="56388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1400" b="1" i="0" dirty="0">
                <a:ea typeface="黑体" pitchFamily="49" charset="-122"/>
              </a:rPr>
              <a:t>次态方程 </a:t>
            </a:r>
            <a:r>
              <a:rPr lang="en-US" altLang="zh-CN" sz="1400" b="1" i="0" dirty="0">
                <a:latin typeface="Times New Roman" pitchFamily="18" charset="0"/>
                <a:ea typeface="黑体" pitchFamily="49" charset="-122"/>
              </a:rPr>
              <a:t>–</a:t>
            </a:r>
            <a:r>
              <a:rPr lang="zh-CN" altLang="en-US" sz="1400" b="1" i="0" dirty="0"/>
              <a:t>锁存器</a:t>
            </a:r>
            <a:r>
              <a:rPr lang="zh-CN" altLang="en-US" sz="1400" b="1" i="0" dirty="0">
                <a:ea typeface="黑体" pitchFamily="49" charset="-122"/>
              </a:rPr>
              <a:t>的次态是它的现态和</a:t>
            </a:r>
            <a:r>
              <a:rPr lang="zh-CN" altLang="en-US" sz="1400" b="1" i="0" dirty="0" smtClean="0">
                <a:ea typeface="黑体" pitchFamily="49" charset="-122"/>
              </a:rPr>
              <a:t>输入信号的</a:t>
            </a:r>
            <a:r>
              <a:rPr lang="zh-CN" altLang="en-US" sz="1400" b="1" i="0" dirty="0">
                <a:ea typeface="黑体" pitchFamily="49" charset="-122"/>
              </a:rPr>
              <a:t>函数</a:t>
            </a:r>
            <a:r>
              <a:rPr lang="en-US" altLang="zh-CN" sz="1400" b="1" i="0" dirty="0">
                <a:ea typeface="黑体" pitchFamily="49" charset="-122"/>
              </a:rPr>
              <a:t>(</a:t>
            </a:r>
            <a:r>
              <a:rPr lang="zh-CN" altLang="en-US" sz="1400" b="1" i="0" dirty="0">
                <a:ea typeface="黑体" pitchFamily="49" charset="-122"/>
              </a:rPr>
              <a:t>状态方程，特征方程</a:t>
            </a:r>
            <a:r>
              <a:rPr lang="en-US" altLang="zh-CN" sz="1400" b="1" i="0" dirty="0">
                <a:ea typeface="黑体" pitchFamily="49" charset="-122"/>
              </a:rPr>
              <a:t>)</a:t>
            </a:r>
            <a:r>
              <a:rPr lang="zh-CN" altLang="en-US" sz="1400" b="1" i="0" dirty="0" smtClean="0">
                <a:ea typeface="黑体" pitchFamily="49" charset="-122"/>
              </a:rPr>
              <a:t>，</a:t>
            </a:r>
            <a:r>
              <a:rPr lang="zh-CN" altLang="en-US" sz="1400" b="1" dirty="0" smtClean="0">
                <a:ea typeface="黑体" pitchFamily="49" charset="-122"/>
              </a:rPr>
              <a:t>即 </a:t>
            </a:r>
            <a:endParaRPr lang="en-US" altLang="zh-CN" sz="1400" b="1" dirty="0" smtClean="0">
              <a:ea typeface="黑体" pitchFamily="49" charset="-122"/>
            </a:endParaRPr>
          </a:p>
          <a:p>
            <a:pPr eaLnBrk="1" hangingPunct="1"/>
            <a:r>
              <a:rPr lang="en-US" altLang="zh-CN" sz="1400" b="1" dirty="0" smtClean="0">
                <a:solidFill>
                  <a:schemeClr val="hlink"/>
                </a:solidFill>
                <a:ea typeface="黑体" pitchFamily="49" charset="-122"/>
              </a:rPr>
              <a:t>                                 </a:t>
            </a:r>
          </a:p>
          <a:p>
            <a:pPr eaLnBrk="1" hangingPunct="1"/>
            <a:r>
              <a:rPr lang="en-US" altLang="zh-CN" sz="1400" b="1" dirty="0" smtClean="0">
                <a:solidFill>
                  <a:schemeClr val="hlink"/>
                </a:solidFill>
                <a:ea typeface="黑体" pitchFamily="49" charset="-122"/>
              </a:rPr>
              <a:t>                             </a:t>
            </a:r>
            <a:r>
              <a:rPr lang="en-US" altLang="zh-CN" sz="1400" b="1" dirty="0" smtClean="0">
                <a:solidFill>
                  <a:srgbClr val="FF0000"/>
                </a:solidFill>
                <a:ea typeface="黑体" pitchFamily="49" charset="-122"/>
              </a:rPr>
              <a:t>Q</a:t>
            </a:r>
            <a:r>
              <a:rPr lang="en-US" altLang="zh-CN" sz="1400" b="1" baseline="30000" dirty="0" smtClean="0">
                <a:solidFill>
                  <a:srgbClr val="FF0000"/>
                </a:solidFill>
                <a:ea typeface="黑体" pitchFamily="49" charset="-122"/>
              </a:rPr>
              <a:t>n</a:t>
            </a:r>
            <a:r>
              <a:rPr lang="en-US" altLang="zh-CN" sz="1400" b="1" i="0" baseline="30000" dirty="0" smtClean="0">
                <a:solidFill>
                  <a:srgbClr val="FF0000"/>
                </a:solidFill>
                <a:ea typeface="黑体" pitchFamily="49" charset="-122"/>
              </a:rPr>
              <a:t>+1</a:t>
            </a:r>
            <a:r>
              <a:rPr lang="en-US" altLang="zh-CN" sz="1400" b="1" i="0" dirty="0" smtClean="0">
                <a:solidFill>
                  <a:srgbClr val="FF0000"/>
                </a:solidFill>
                <a:ea typeface="黑体" pitchFamily="49" charset="-122"/>
              </a:rPr>
              <a:t>=</a:t>
            </a:r>
            <a:r>
              <a:rPr lang="en-US" altLang="zh-CN" sz="1400" b="1" dirty="0" smtClean="0">
                <a:solidFill>
                  <a:srgbClr val="FF0000"/>
                </a:solidFill>
                <a:ea typeface="黑体" pitchFamily="49" charset="-122"/>
              </a:rPr>
              <a:t>f </a:t>
            </a:r>
            <a:r>
              <a:rPr lang="en-US" altLang="zh-CN" sz="1400" b="1" i="0" dirty="0">
                <a:solidFill>
                  <a:srgbClr val="FF0000"/>
                </a:solidFill>
                <a:ea typeface="黑体" pitchFamily="49" charset="-122"/>
              </a:rPr>
              <a:t>(</a:t>
            </a:r>
            <a:r>
              <a:rPr lang="en-US" altLang="zh-CN" sz="1400" b="1" dirty="0" err="1" smtClean="0">
                <a:solidFill>
                  <a:srgbClr val="FF0000"/>
                </a:solidFill>
                <a:ea typeface="黑体" pitchFamily="49" charset="-122"/>
              </a:rPr>
              <a:t>Q</a:t>
            </a:r>
            <a:r>
              <a:rPr lang="en-US" altLang="zh-CN" sz="1400" b="1" baseline="30000" dirty="0" err="1" smtClean="0">
                <a:solidFill>
                  <a:srgbClr val="FF0000"/>
                </a:solidFill>
                <a:ea typeface="黑体" pitchFamily="49" charset="-122"/>
              </a:rPr>
              <a:t>n</a:t>
            </a:r>
            <a:r>
              <a:rPr lang="en-US" altLang="zh-CN" sz="1400" b="1" dirty="0" err="1" smtClean="0">
                <a:solidFill>
                  <a:srgbClr val="FF0000"/>
                </a:solidFill>
                <a:ea typeface="黑体" pitchFamily="49" charset="-122"/>
              </a:rPr>
              <a:t>,X</a:t>
            </a:r>
            <a:r>
              <a:rPr lang="en-US" altLang="zh-CN" sz="1400" b="1" dirty="0" smtClean="0">
                <a:solidFill>
                  <a:srgbClr val="FF0000"/>
                </a:solidFill>
                <a:ea typeface="黑体" pitchFamily="49" charset="-122"/>
              </a:rPr>
              <a:t> </a:t>
            </a:r>
            <a:r>
              <a:rPr lang="en-US" altLang="zh-CN" sz="1400" b="1" i="0" dirty="0">
                <a:solidFill>
                  <a:srgbClr val="FF0000"/>
                </a:solidFill>
                <a:ea typeface="黑体" pitchFamily="49" charset="-122"/>
              </a:rPr>
              <a:t>) </a:t>
            </a:r>
          </a:p>
        </p:txBody>
      </p:sp>
      <p:sp>
        <p:nvSpPr>
          <p:cNvPr id="45" name="Text Box 6"/>
          <p:cNvSpPr txBox="1">
            <a:spLocks noChangeArrowheads="1"/>
          </p:cNvSpPr>
          <p:nvPr/>
        </p:nvSpPr>
        <p:spPr bwMode="auto">
          <a:xfrm>
            <a:off x="2743200" y="1352550"/>
            <a:ext cx="60960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1400" b="1" i="0" dirty="0">
                <a:ea typeface="黑体" pitchFamily="49" charset="-122"/>
              </a:rPr>
              <a:t>现态 </a:t>
            </a:r>
            <a:r>
              <a:rPr lang="en-US" altLang="zh-CN" sz="1400" b="1" i="0" dirty="0">
                <a:latin typeface="Times New Roman" pitchFamily="18" charset="0"/>
                <a:ea typeface="黑体" pitchFamily="49" charset="-122"/>
              </a:rPr>
              <a:t>–</a:t>
            </a:r>
            <a:r>
              <a:rPr lang="en-US" altLang="zh-CN" sz="1400" b="1" i="0" dirty="0">
                <a:ea typeface="黑体" pitchFamily="49" charset="-122"/>
              </a:rPr>
              <a:t> </a:t>
            </a:r>
            <a:r>
              <a:rPr lang="zh-CN" altLang="en-US" sz="1400" b="1" dirty="0" smtClean="0">
                <a:ea typeface="黑体" pitchFamily="49" charset="-122"/>
              </a:rPr>
              <a:t>输入信号发生变化前</a:t>
            </a:r>
            <a:r>
              <a:rPr lang="zh-CN" altLang="en-US" sz="1400" b="1" i="0" dirty="0" smtClean="0">
                <a:ea typeface="黑体" pitchFamily="49" charset="-122"/>
              </a:rPr>
              <a:t>的锁存器状态称为现态，用</a:t>
            </a:r>
            <a:r>
              <a:rPr lang="zh-CN" altLang="en-US" sz="1400" b="1" i="0" dirty="0" smtClean="0">
                <a:solidFill>
                  <a:schemeClr val="hlink"/>
                </a:solidFill>
                <a:ea typeface="黑体" pitchFamily="49" charset="-122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ea typeface="黑体" pitchFamily="49" charset="-122"/>
              </a:rPr>
              <a:t>Q </a:t>
            </a:r>
            <a:r>
              <a:rPr lang="en-US" altLang="zh-CN" sz="1400" b="1" baseline="30000" dirty="0">
                <a:solidFill>
                  <a:srgbClr val="FF0000"/>
                </a:solidFill>
                <a:ea typeface="黑体" pitchFamily="49" charset="-122"/>
              </a:rPr>
              <a:t>n</a:t>
            </a:r>
            <a:r>
              <a:rPr lang="en-US" altLang="zh-CN" sz="1400" b="1" i="0" baseline="30000" dirty="0">
                <a:ea typeface="黑体" pitchFamily="49" charset="-122"/>
              </a:rPr>
              <a:t> </a:t>
            </a:r>
            <a:r>
              <a:rPr lang="zh-CN" altLang="en-US" sz="1400" b="1" i="0" dirty="0">
                <a:ea typeface="黑体" pitchFamily="49" charset="-122"/>
              </a:rPr>
              <a:t>表示。</a:t>
            </a:r>
          </a:p>
        </p:txBody>
      </p:sp>
      <p:sp>
        <p:nvSpPr>
          <p:cNvPr id="46" name="Text Box 7"/>
          <p:cNvSpPr txBox="1">
            <a:spLocks noChangeArrowheads="1"/>
          </p:cNvSpPr>
          <p:nvPr/>
        </p:nvSpPr>
        <p:spPr bwMode="auto">
          <a:xfrm>
            <a:off x="2759075" y="2188210"/>
            <a:ext cx="58319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1400" b="1" i="0" dirty="0">
                <a:ea typeface="黑体" pitchFamily="49" charset="-122"/>
              </a:rPr>
              <a:t>次态 </a:t>
            </a:r>
            <a:r>
              <a:rPr lang="en-US" altLang="zh-CN" sz="1400" b="1" i="0" dirty="0" smtClean="0">
                <a:latin typeface="Times New Roman" pitchFamily="18" charset="0"/>
                <a:ea typeface="黑体" pitchFamily="49" charset="-122"/>
              </a:rPr>
              <a:t>–</a:t>
            </a:r>
            <a:r>
              <a:rPr lang="zh-CN" altLang="en-US" sz="1400" b="1" dirty="0" smtClean="0">
                <a:ea typeface="黑体" pitchFamily="49" charset="-122"/>
              </a:rPr>
              <a:t>输入信号发生变化后的锁存器状态称为次</a:t>
            </a:r>
            <a:r>
              <a:rPr lang="zh-CN" altLang="en-US" sz="1400" b="1" i="0" dirty="0" smtClean="0">
                <a:ea typeface="黑体" pitchFamily="49" charset="-122"/>
              </a:rPr>
              <a:t>态，  用 </a:t>
            </a:r>
            <a:r>
              <a:rPr lang="en-US" altLang="zh-CN" sz="1400" b="1" dirty="0">
                <a:solidFill>
                  <a:srgbClr val="FF0000"/>
                </a:solidFill>
                <a:ea typeface="黑体" pitchFamily="49" charset="-122"/>
              </a:rPr>
              <a:t>Q </a:t>
            </a:r>
            <a:r>
              <a:rPr lang="en-US" altLang="zh-CN" sz="1400" b="1" baseline="30000" dirty="0">
                <a:solidFill>
                  <a:srgbClr val="FF0000"/>
                </a:solidFill>
                <a:ea typeface="黑体" pitchFamily="49" charset="-122"/>
              </a:rPr>
              <a:t>n</a:t>
            </a:r>
            <a:r>
              <a:rPr lang="en-US" altLang="zh-CN" sz="1400" b="1" i="0" baseline="30000" dirty="0">
                <a:solidFill>
                  <a:srgbClr val="FF0000"/>
                </a:solidFill>
                <a:ea typeface="黑体" pitchFamily="49" charset="-122"/>
              </a:rPr>
              <a:t>+1 </a:t>
            </a:r>
            <a:r>
              <a:rPr lang="zh-CN" altLang="en-US" sz="1400" b="1" i="0" dirty="0">
                <a:ea typeface="黑体" pitchFamily="49" charset="-122"/>
              </a:rPr>
              <a:t>表示。</a:t>
            </a:r>
          </a:p>
        </p:txBody>
      </p:sp>
      <p:sp>
        <p:nvSpPr>
          <p:cNvPr id="47" name="Text Box 37"/>
          <p:cNvSpPr txBox="1">
            <a:spLocks noChangeArrowheads="1"/>
          </p:cNvSpPr>
          <p:nvPr/>
        </p:nvSpPr>
        <p:spPr bwMode="auto">
          <a:xfrm>
            <a:off x="609600" y="3409950"/>
            <a:ext cx="4507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dirty="0" smtClean="0"/>
              <a:t>X</a:t>
            </a:r>
            <a:r>
              <a:rPr lang="en-US" altLang="zh-CN" sz="2000" baseline="-25000" dirty="0" smtClean="0"/>
              <a:t>2</a:t>
            </a:r>
            <a:endParaRPr lang="en-US" altLang="zh-CN" sz="2000" baseline="-25000" dirty="0"/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utoUpdateAnimBg="0"/>
      <p:bldP spid="45" grpId="0" autoUpdateAnimBg="0"/>
      <p:bldP spid="4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20633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Group 9"/>
          <p:cNvGrpSpPr>
            <a:grpSpLocks/>
          </p:cNvGrpSpPr>
          <p:nvPr/>
        </p:nvGrpSpPr>
        <p:grpSpPr bwMode="auto">
          <a:xfrm>
            <a:off x="2854325" y="2038350"/>
            <a:ext cx="533400" cy="687387"/>
            <a:chOff x="792" y="2183"/>
            <a:chExt cx="336" cy="433"/>
          </a:xfrm>
        </p:grpSpPr>
        <p:sp>
          <p:nvSpPr>
            <p:cNvPr id="12" name="AutoShape 10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3" name="Oval 11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sp>
        <p:nvSpPr>
          <p:cNvPr id="14" name="Line 12"/>
          <p:cNvSpPr>
            <a:spLocks noChangeShapeType="1"/>
          </p:cNvSpPr>
          <p:nvPr/>
        </p:nvSpPr>
        <p:spPr bwMode="auto">
          <a:xfrm flipV="1">
            <a:off x="2057400" y="165735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5" name="Line 17"/>
          <p:cNvSpPr>
            <a:spLocks noChangeShapeType="1"/>
          </p:cNvSpPr>
          <p:nvPr/>
        </p:nvSpPr>
        <p:spPr bwMode="auto">
          <a:xfrm>
            <a:off x="2057400" y="188595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6" name="Line 18"/>
          <p:cNvSpPr>
            <a:spLocks noChangeShapeType="1"/>
          </p:cNvSpPr>
          <p:nvPr/>
        </p:nvSpPr>
        <p:spPr bwMode="auto">
          <a:xfrm>
            <a:off x="2819400" y="188595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7" name="Line 19"/>
          <p:cNvSpPr>
            <a:spLocks noChangeShapeType="1"/>
          </p:cNvSpPr>
          <p:nvPr/>
        </p:nvSpPr>
        <p:spPr bwMode="auto">
          <a:xfrm>
            <a:off x="3124200" y="165735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8" name="Line 20"/>
          <p:cNvSpPr>
            <a:spLocks noChangeShapeType="1"/>
          </p:cNvSpPr>
          <p:nvPr/>
        </p:nvSpPr>
        <p:spPr bwMode="auto">
          <a:xfrm flipH="1">
            <a:off x="2362200" y="1885950"/>
            <a:ext cx="4572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9" name="Line 21"/>
          <p:cNvSpPr>
            <a:spLocks noChangeShapeType="1"/>
          </p:cNvSpPr>
          <p:nvPr/>
        </p:nvSpPr>
        <p:spPr bwMode="auto">
          <a:xfrm>
            <a:off x="2362200" y="1885950"/>
            <a:ext cx="4572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0" name="Line 22"/>
          <p:cNvSpPr>
            <a:spLocks noChangeShapeType="1"/>
          </p:cNvSpPr>
          <p:nvPr/>
        </p:nvSpPr>
        <p:spPr bwMode="auto">
          <a:xfrm>
            <a:off x="2819400" y="302895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 flipV="1">
            <a:off x="2971800" y="272415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 flipH="1">
            <a:off x="2209800" y="302895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 flipV="1">
            <a:off x="2209800" y="272415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4" name="Line 29"/>
          <p:cNvSpPr>
            <a:spLocks noChangeShapeType="1"/>
          </p:cNvSpPr>
          <p:nvPr/>
        </p:nvSpPr>
        <p:spPr bwMode="auto">
          <a:xfrm>
            <a:off x="1905000" y="272415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5" name="Line 30"/>
          <p:cNvSpPr>
            <a:spLocks noChangeShapeType="1"/>
          </p:cNvSpPr>
          <p:nvPr/>
        </p:nvSpPr>
        <p:spPr bwMode="auto">
          <a:xfrm>
            <a:off x="3276600" y="272415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26" name="Group 31"/>
          <p:cNvGrpSpPr>
            <a:grpSpLocks/>
          </p:cNvGrpSpPr>
          <p:nvPr/>
        </p:nvGrpSpPr>
        <p:grpSpPr bwMode="auto">
          <a:xfrm>
            <a:off x="1790700" y="2074862"/>
            <a:ext cx="533400" cy="687388"/>
            <a:chOff x="792" y="2183"/>
            <a:chExt cx="336" cy="433"/>
          </a:xfrm>
        </p:grpSpPr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28" name="Oval 33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sp>
        <p:nvSpPr>
          <p:cNvPr id="29" name="Text Box 34"/>
          <p:cNvSpPr txBox="1">
            <a:spLocks noChangeArrowheads="1"/>
          </p:cNvSpPr>
          <p:nvPr/>
        </p:nvSpPr>
        <p:spPr bwMode="auto">
          <a:xfrm>
            <a:off x="2999535" y="1699930"/>
            <a:ext cx="290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i="0" dirty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 dirty="0"/>
          </a:p>
        </p:txBody>
      </p:sp>
      <p:sp>
        <p:nvSpPr>
          <p:cNvPr id="30" name="Text Box 35"/>
          <p:cNvSpPr txBox="1">
            <a:spLocks noChangeArrowheads="1"/>
          </p:cNvSpPr>
          <p:nvPr/>
        </p:nvSpPr>
        <p:spPr bwMode="auto">
          <a:xfrm>
            <a:off x="1930483" y="1704418"/>
            <a:ext cx="290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i="0" dirty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 dirty="0"/>
          </a:p>
        </p:txBody>
      </p:sp>
      <p:sp>
        <p:nvSpPr>
          <p:cNvPr id="31" name="Text Box 39"/>
          <p:cNvSpPr txBox="1">
            <a:spLocks noChangeArrowheads="1"/>
          </p:cNvSpPr>
          <p:nvPr/>
        </p:nvSpPr>
        <p:spPr bwMode="auto">
          <a:xfrm>
            <a:off x="3124200" y="1504950"/>
            <a:ext cx="3635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/>
              <a:t>Q</a:t>
            </a:r>
          </a:p>
        </p:txBody>
      </p:sp>
      <p:grpSp>
        <p:nvGrpSpPr>
          <p:cNvPr id="32" name="Group 46"/>
          <p:cNvGrpSpPr>
            <a:grpSpLocks/>
          </p:cNvGrpSpPr>
          <p:nvPr/>
        </p:nvGrpSpPr>
        <p:grpSpPr bwMode="auto">
          <a:xfrm>
            <a:off x="1600200" y="1504950"/>
            <a:ext cx="363537" cy="396875"/>
            <a:chOff x="672" y="1824"/>
            <a:chExt cx="229" cy="250"/>
          </a:xfrm>
        </p:grpSpPr>
        <p:sp>
          <p:nvSpPr>
            <p:cNvPr id="33" name="Text Box 38"/>
            <p:cNvSpPr txBox="1">
              <a:spLocks noChangeArrowheads="1"/>
            </p:cNvSpPr>
            <p:nvPr/>
          </p:nvSpPr>
          <p:spPr bwMode="auto">
            <a:xfrm>
              <a:off x="672" y="1824"/>
              <a:ext cx="22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/>
                <a:t>Q</a:t>
              </a:r>
            </a:p>
          </p:txBody>
        </p:sp>
        <p:sp>
          <p:nvSpPr>
            <p:cNvPr id="34" name="Line 40"/>
            <p:cNvSpPr>
              <a:spLocks noChangeShapeType="1"/>
            </p:cNvSpPr>
            <p:nvPr/>
          </p:nvSpPr>
          <p:spPr bwMode="auto">
            <a:xfrm>
              <a:off x="737" y="187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5" name="Group 43"/>
          <p:cNvGrpSpPr>
            <a:grpSpLocks/>
          </p:cNvGrpSpPr>
          <p:nvPr/>
        </p:nvGrpSpPr>
        <p:grpSpPr bwMode="auto">
          <a:xfrm>
            <a:off x="1716087" y="3409950"/>
            <a:ext cx="341313" cy="396875"/>
            <a:chOff x="662" y="3124"/>
            <a:chExt cx="215" cy="250"/>
          </a:xfrm>
        </p:grpSpPr>
        <p:sp>
          <p:nvSpPr>
            <p:cNvPr id="36" name="Text Box 36"/>
            <p:cNvSpPr txBox="1">
              <a:spLocks noChangeArrowheads="1"/>
            </p:cNvSpPr>
            <p:nvPr/>
          </p:nvSpPr>
          <p:spPr bwMode="auto">
            <a:xfrm>
              <a:off x="662" y="3124"/>
              <a:ext cx="21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/>
                <a:t>R</a:t>
              </a:r>
            </a:p>
          </p:txBody>
        </p:sp>
        <p:sp>
          <p:nvSpPr>
            <p:cNvPr id="37" name="Line 41"/>
            <p:cNvSpPr>
              <a:spLocks noChangeShapeType="1"/>
            </p:cNvSpPr>
            <p:nvPr/>
          </p:nvSpPr>
          <p:spPr bwMode="auto">
            <a:xfrm>
              <a:off x="715" y="317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8" name="Group 45"/>
          <p:cNvGrpSpPr>
            <a:grpSpLocks/>
          </p:cNvGrpSpPr>
          <p:nvPr/>
        </p:nvGrpSpPr>
        <p:grpSpPr bwMode="auto">
          <a:xfrm>
            <a:off x="3087687" y="3394075"/>
            <a:ext cx="325438" cy="396875"/>
            <a:chOff x="1609" y="3014"/>
            <a:chExt cx="205" cy="250"/>
          </a:xfrm>
        </p:grpSpPr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1609" y="3014"/>
              <a:ext cx="2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/>
                <a:t>S</a:t>
              </a:r>
            </a:p>
          </p:txBody>
        </p:sp>
        <p:sp>
          <p:nvSpPr>
            <p:cNvPr id="40" name="Line 42"/>
            <p:cNvSpPr>
              <a:spLocks noChangeShapeType="1"/>
            </p:cNvSpPr>
            <p:nvPr/>
          </p:nvSpPr>
          <p:spPr bwMode="auto">
            <a:xfrm>
              <a:off x="1680" y="306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2" name="Text Box 222"/>
          <p:cNvSpPr txBox="1">
            <a:spLocks noChangeArrowheads="1"/>
          </p:cNvSpPr>
          <p:nvPr/>
        </p:nvSpPr>
        <p:spPr bwMode="auto">
          <a:xfrm>
            <a:off x="3352800" y="3333750"/>
            <a:ext cx="5699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i="0" dirty="0">
                <a:solidFill>
                  <a:srgbClr val="FF0000"/>
                </a:solidFill>
              </a:rPr>
              <a:t>Set</a:t>
            </a:r>
          </a:p>
        </p:txBody>
      </p:sp>
      <p:sp>
        <p:nvSpPr>
          <p:cNvPr id="43" name="Text Box 223"/>
          <p:cNvSpPr txBox="1">
            <a:spLocks noChangeArrowheads="1"/>
          </p:cNvSpPr>
          <p:nvPr/>
        </p:nvSpPr>
        <p:spPr bwMode="auto">
          <a:xfrm>
            <a:off x="990600" y="3333750"/>
            <a:ext cx="8540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i="0" dirty="0">
                <a:solidFill>
                  <a:srgbClr val="FF0000"/>
                </a:solidFill>
              </a:rPr>
              <a:t>Reset</a:t>
            </a:r>
          </a:p>
        </p:txBody>
      </p:sp>
      <p:grpSp>
        <p:nvGrpSpPr>
          <p:cNvPr id="44" name="Group 243"/>
          <p:cNvGrpSpPr>
            <a:grpSpLocks/>
          </p:cNvGrpSpPr>
          <p:nvPr/>
        </p:nvGrpSpPr>
        <p:grpSpPr bwMode="auto">
          <a:xfrm>
            <a:off x="5314950" y="1743076"/>
            <a:ext cx="855662" cy="1449388"/>
            <a:chOff x="2784" y="1488"/>
            <a:chExt cx="539" cy="913"/>
          </a:xfrm>
        </p:grpSpPr>
        <p:sp>
          <p:nvSpPr>
            <p:cNvPr id="45" name="Rectangle 244"/>
            <p:cNvSpPr>
              <a:spLocks noChangeArrowheads="1"/>
            </p:cNvSpPr>
            <p:nvPr/>
          </p:nvSpPr>
          <p:spPr bwMode="auto">
            <a:xfrm>
              <a:off x="2799" y="1776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46" name="Line 245"/>
            <p:cNvSpPr>
              <a:spLocks noChangeShapeType="1"/>
            </p:cNvSpPr>
            <p:nvPr/>
          </p:nvSpPr>
          <p:spPr bwMode="auto">
            <a:xfrm flipV="1">
              <a:off x="2895" y="1680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" name="Line 246"/>
            <p:cNvSpPr>
              <a:spLocks noChangeShapeType="1"/>
            </p:cNvSpPr>
            <p:nvPr/>
          </p:nvSpPr>
          <p:spPr bwMode="auto">
            <a:xfrm flipV="1">
              <a:off x="3183" y="1680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8" name="Line 247"/>
            <p:cNvSpPr>
              <a:spLocks noChangeShapeType="1"/>
            </p:cNvSpPr>
            <p:nvPr/>
          </p:nvSpPr>
          <p:spPr bwMode="auto">
            <a:xfrm>
              <a:off x="2895" y="2064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" name="Line 248"/>
            <p:cNvSpPr>
              <a:spLocks noChangeShapeType="1"/>
            </p:cNvSpPr>
            <p:nvPr/>
          </p:nvSpPr>
          <p:spPr bwMode="auto">
            <a:xfrm>
              <a:off x="3183" y="2064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" name="Text Box 249"/>
            <p:cNvSpPr txBox="1">
              <a:spLocks noChangeArrowheads="1"/>
            </p:cNvSpPr>
            <p:nvPr/>
          </p:nvSpPr>
          <p:spPr bwMode="auto">
            <a:xfrm>
              <a:off x="2784" y="1488"/>
              <a:ext cx="254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dirty="0" smtClean="0"/>
                <a:t> Q</a:t>
              </a:r>
              <a:endParaRPr lang="en-US" altLang="zh-CN" sz="1600" dirty="0"/>
            </a:p>
          </p:txBody>
        </p:sp>
        <p:sp>
          <p:nvSpPr>
            <p:cNvPr id="51" name="Text Box 250"/>
            <p:cNvSpPr txBox="1">
              <a:spLocks noChangeArrowheads="1"/>
            </p:cNvSpPr>
            <p:nvPr/>
          </p:nvSpPr>
          <p:spPr bwMode="auto">
            <a:xfrm>
              <a:off x="3072" y="1488"/>
              <a:ext cx="20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/>
                <a:t>Q</a:t>
              </a:r>
            </a:p>
          </p:txBody>
        </p:sp>
        <p:sp>
          <p:nvSpPr>
            <p:cNvPr id="52" name="Line 251"/>
            <p:cNvSpPr>
              <a:spLocks noChangeShapeType="1"/>
            </p:cNvSpPr>
            <p:nvPr/>
          </p:nvSpPr>
          <p:spPr bwMode="auto">
            <a:xfrm>
              <a:off x="2870" y="1513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" name="Text Box 252"/>
            <p:cNvSpPr txBox="1">
              <a:spLocks noChangeArrowheads="1"/>
            </p:cNvSpPr>
            <p:nvPr/>
          </p:nvSpPr>
          <p:spPr bwMode="auto">
            <a:xfrm>
              <a:off x="2784" y="2188"/>
              <a:ext cx="20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dirty="0" smtClean="0"/>
                <a:t>R</a:t>
              </a:r>
              <a:endParaRPr lang="en-US" altLang="zh-CN" sz="1600" dirty="0"/>
            </a:p>
          </p:txBody>
        </p:sp>
        <p:sp>
          <p:nvSpPr>
            <p:cNvPr id="54" name="Text Box 253"/>
            <p:cNvSpPr txBox="1">
              <a:spLocks noChangeArrowheads="1"/>
            </p:cNvSpPr>
            <p:nvPr/>
          </p:nvSpPr>
          <p:spPr bwMode="auto">
            <a:xfrm>
              <a:off x="3084" y="2188"/>
              <a:ext cx="23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dirty="0" smtClean="0"/>
                <a:t> S</a:t>
              </a:r>
              <a:endParaRPr lang="en-US" altLang="zh-CN" sz="1600" dirty="0"/>
            </a:p>
          </p:txBody>
        </p:sp>
        <p:sp>
          <p:nvSpPr>
            <p:cNvPr id="55" name="Line 254"/>
            <p:cNvSpPr>
              <a:spLocks noChangeShapeType="1"/>
            </p:cNvSpPr>
            <p:nvPr/>
          </p:nvSpPr>
          <p:spPr bwMode="auto">
            <a:xfrm>
              <a:off x="2847" y="2208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" name="Line 255"/>
            <p:cNvSpPr>
              <a:spLocks noChangeShapeType="1"/>
            </p:cNvSpPr>
            <p:nvPr/>
          </p:nvSpPr>
          <p:spPr bwMode="auto">
            <a:xfrm>
              <a:off x="3158" y="2208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" name="Text Box 256"/>
            <p:cNvSpPr txBox="1">
              <a:spLocks noChangeArrowheads="1"/>
            </p:cNvSpPr>
            <p:nvPr/>
          </p:nvSpPr>
          <p:spPr bwMode="auto">
            <a:xfrm>
              <a:off x="2799" y="1852"/>
              <a:ext cx="19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/>
                <a:t>R</a:t>
              </a:r>
            </a:p>
          </p:txBody>
        </p:sp>
        <p:sp>
          <p:nvSpPr>
            <p:cNvPr id="58" name="Text Box 257"/>
            <p:cNvSpPr txBox="1">
              <a:spLocks noChangeArrowheads="1"/>
            </p:cNvSpPr>
            <p:nvPr/>
          </p:nvSpPr>
          <p:spPr bwMode="auto">
            <a:xfrm>
              <a:off x="3092" y="1852"/>
              <a:ext cx="18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/>
                <a:t>S</a:t>
              </a:r>
            </a:p>
          </p:txBody>
        </p:sp>
        <p:sp>
          <p:nvSpPr>
            <p:cNvPr id="59" name="Oval 258"/>
            <p:cNvSpPr>
              <a:spLocks noChangeArrowheads="1"/>
            </p:cNvSpPr>
            <p:nvPr/>
          </p:nvSpPr>
          <p:spPr bwMode="auto">
            <a:xfrm>
              <a:off x="2870" y="2016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60" name="Oval 259"/>
            <p:cNvSpPr>
              <a:spLocks noChangeArrowheads="1"/>
            </p:cNvSpPr>
            <p:nvPr/>
          </p:nvSpPr>
          <p:spPr bwMode="auto">
            <a:xfrm>
              <a:off x="3155" y="2016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2209800" y="40195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562600" y="40195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6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20633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854325" y="2038350"/>
            <a:ext cx="533400" cy="687387"/>
            <a:chOff x="792" y="2183"/>
            <a:chExt cx="336" cy="433"/>
          </a:xfrm>
        </p:grpSpPr>
        <p:sp>
          <p:nvSpPr>
            <p:cNvPr id="12" name="AutoShape 10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3" name="Oval 11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sp>
        <p:nvSpPr>
          <p:cNvPr id="14" name="Line 12"/>
          <p:cNvSpPr>
            <a:spLocks noChangeShapeType="1"/>
          </p:cNvSpPr>
          <p:nvPr/>
        </p:nvSpPr>
        <p:spPr bwMode="auto">
          <a:xfrm flipV="1">
            <a:off x="2057400" y="165735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5" name="Line 17"/>
          <p:cNvSpPr>
            <a:spLocks noChangeShapeType="1"/>
          </p:cNvSpPr>
          <p:nvPr/>
        </p:nvSpPr>
        <p:spPr bwMode="auto">
          <a:xfrm>
            <a:off x="2057400" y="188595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6" name="Line 18"/>
          <p:cNvSpPr>
            <a:spLocks noChangeShapeType="1"/>
          </p:cNvSpPr>
          <p:nvPr/>
        </p:nvSpPr>
        <p:spPr bwMode="auto">
          <a:xfrm>
            <a:off x="2819400" y="188595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7" name="Line 19"/>
          <p:cNvSpPr>
            <a:spLocks noChangeShapeType="1"/>
          </p:cNvSpPr>
          <p:nvPr/>
        </p:nvSpPr>
        <p:spPr bwMode="auto">
          <a:xfrm>
            <a:off x="3124200" y="165735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8" name="Line 20"/>
          <p:cNvSpPr>
            <a:spLocks noChangeShapeType="1"/>
          </p:cNvSpPr>
          <p:nvPr/>
        </p:nvSpPr>
        <p:spPr bwMode="auto">
          <a:xfrm flipH="1">
            <a:off x="2362200" y="1885950"/>
            <a:ext cx="4572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9" name="Line 21"/>
          <p:cNvSpPr>
            <a:spLocks noChangeShapeType="1"/>
          </p:cNvSpPr>
          <p:nvPr/>
        </p:nvSpPr>
        <p:spPr bwMode="auto">
          <a:xfrm>
            <a:off x="2362200" y="1885950"/>
            <a:ext cx="4572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0" name="Line 22"/>
          <p:cNvSpPr>
            <a:spLocks noChangeShapeType="1"/>
          </p:cNvSpPr>
          <p:nvPr/>
        </p:nvSpPr>
        <p:spPr bwMode="auto">
          <a:xfrm>
            <a:off x="2819400" y="302895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 flipV="1">
            <a:off x="2971800" y="272415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 flipH="1">
            <a:off x="2209800" y="302895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 flipV="1">
            <a:off x="2209800" y="272415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4" name="Line 29"/>
          <p:cNvSpPr>
            <a:spLocks noChangeShapeType="1"/>
          </p:cNvSpPr>
          <p:nvPr/>
        </p:nvSpPr>
        <p:spPr bwMode="auto">
          <a:xfrm>
            <a:off x="1905000" y="272415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5" name="Line 30"/>
          <p:cNvSpPr>
            <a:spLocks noChangeShapeType="1"/>
          </p:cNvSpPr>
          <p:nvPr/>
        </p:nvSpPr>
        <p:spPr bwMode="auto">
          <a:xfrm>
            <a:off x="3276600" y="272415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1790700" y="2074862"/>
            <a:ext cx="533400" cy="687388"/>
            <a:chOff x="792" y="2183"/>
            <a:chExt cx="336" cy="433"/>
          </a:xfrm>
        </p:grpSpPr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28" name="Oval 33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sp>
        <p:nvSpPr>
          <p:cNvPr id="29" name="Text Box 34"/>
          <p:cNvSpPr txBox="1">
            <a:spLocks noChangeArrowheads="1"/>
          </p:cNvSpPr>
          <p:nvPr/>
        </p:nvSpPr>
        <p:spPr bwMode="auto">
          <a:xfrm>
            <a:off x="2999535" y="1699930"/>
            <a:ext cx="290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i="0" dirty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 dirty="0"/>
          </a:p>
        </p:txBody>
      </p:sp>
      <p:sp>
        <p:nvSpPr>
          <p:cNvPr id="30" name="Text Box 35"/>
          <p:cNvSpPr txBox="1">
            <a:spLocks noChangeArrowheads="1"/>
          </p:cNvSpPr>
          <p:nvPr/>
        </p:nvSpPr>
        <p:spPr bwMode="auto">
          <a:xfrm>
            <a:off x="1930483" y="1704418"/>
            <a:ext cx="290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i="0" dirty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 dirty="0"/>
          </a:p>
        </p:txBody>
      </p:sp>
      <p:sp>
        <p:nvSpPr>
          <p:cNvPr id="31" name="Text Box 39"/>
          <p:cNvSpPr txBox="1">
            <a:spLocks noChangeArrowheads="1"/>
          </p:cNvSpPr>
          <p:nvPr/>
        </p:nvSpPr>
        <p:spPr bwMode="auto">
          <a:xfrm>
            <a:off x="3124200" y="1504950"/>
            <a:ext cx="3635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/>
              <a:t>Q</a:t>
            </a:r>
          </a:p>
        </p:txBody>
      </p: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1600200" y="1504950"/>
            <a:ext cx="363537" cy="396875"/>
            <a:chOff x="672" y="1824"/>
            <a:chExt cx="229" cy="250"/>
          </a:xfrm>
        </p:grpSpPr>
        <p:sp>
          <p:nvSpPr>
            <p:cNvPr id="33" name="Text Box 38"/>
            <p:cNvSpPr txBox="1">
              <a:spLocks noChangeArrowheads="1"/>
            </p:cNvSpPr>
            <p:nvPr/>
          </p:nvSpPr>
          <p:spPr bwMode="auto">
            <a:xfrm>
              <a:off x="672" y="1824"/>
              <a:ext cx="22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/>
                <a:t>Q</a:t>
              </a:r>
            </a:p>
          </p:txBody>
        </p:sp>
        <p:sp>
          <p:nvSpPr>
            <p:cNvPr id="34" name="Line 40"/>
            <p:cNvSpPr>
              <a:spLocks noChangeShapeType="1"/>
            </p:cNvSpPr>
            <p:nvPr/>
          </p:nvSpPr>
          <p:spPr bwMode="auto">
            <a:xfrm>
              <a:off x="737" y="187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" name="Group 43"/>
          <p:cNvGrpSpPr>
            <a:grpSpLocks/>
          </p:cNvGrpSpPr>
          <p:nvPr/>
        </p:nvGrpSpPr>
        <p:grpSpPr bwMode="auto">
          <a:xfrm>
            <a:off x="1716087" y="3409950"/>
            <a:ext cx="341313" cy="396875"/>
            <a:chOff x="662" y="3124"/>
            <a:chExt cx="215" cy="250"/>
          </a:xfrm>
        </p:grpSpPr>
        <p:sp>
          <p:nvSpPr>
            <p:cNvPr id="36" name="Text Box 36"/>
            <p:cNvSpPr txBox="1">
              <a:spLocks noChangeArrowheads="1"/>
            </p:cNvSpPr>
            <p:nvPr/>
          </p:nvSpPr>
          <p:spPr bwMode="auto">
            <a:xfrm>
              <a:off x="662" y="3124"/>
              <a:ext cx="21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/>
                <a:t>R</a:t>
              </a:r>
            </a:p>
          </p:txBody>
        </p:sp>
        <p:sp>
          <p:nvSpPr>
            <p:cNvPr id="37" name="Line 41"/>
            <p:cNvSpPr>
              <a:spLocks noChangeShapeType="1"/>
            </p:cNvSpPr>
            <p:nvPr/>
          </p:nvSpPr>
          <p:spPr bwMode="auto">
            <a:xfrm>
              <a:off x="715" y="317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" name="Group 45"/>
          <p:cNvGrpSpPr>
            <a:grpSpLocks/>
          </p:cNvGrpSpPr>
          <p:nvPr/>
        </p:nvGrpSpPr>
        <p:grpSpPr bwMode="auto">
          <a:xfrm>
            <a:off x="3087687" y="3394075"/>
            <a:ext cx="325438" cy="396875"/>
            <a:chOff x="1609" y="3014"/>
            <a:chExt cx="205" cy="250"/>
          </a:xfrm>
        </p:grpSpPr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1609" y="3014"/>
              <a:ext cx="2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/>
                <a:t>S</a:t>
              </a:r>
            </a:p>
          </p:txBody>
        </p:sp>
        <p:sp>
          <p:nvSpPr>
            <p:cNvPr id="40" name="Line 42"/>
            <p:cNvSpPr>
              <a:spLocks noChangeShapeType="1"/>
            </p:cNvSpPr>
            <p:nvPr/>
          </p:nvSpPr>
          <p:spPr bwMode="auto">
            <a:xfrm>
              <a:off x="1680" y="306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9" name="Group 225"/>
          <p:cNvGrpSpPr>
            <a:grpSpLocks/>
          </p:cNvGrpSpPr>
          <p:nvPr/>
        </p:nvGrpSpPr>
        <p:grpSpPr bwMode="auto">
          <a:xfrm>
            <a:off x="990600" y="3333750"/>
            <a:ext cx="2932112" cy="400050"/>
            <a:chOff x="576" y="2880"/>
            <a:chExt cx="1847" cy="252"/>
          </a:xfrm>
        </p:grpSpPr>
        <p:sp>
          <p:nvSpPr>
            <p:cNvPr id="42" name="Text Box 222"/>
            <p:cNvSpPr txBox="1">
              <a:spLocks noChangeArrowheads="1"/>
            </p:cNvSpPr>
            <p:nvPr/>
          </p:nvSpPr>
          <p:spPr bwMode="auto">
            <a:xfrm>
              <a:off x="2064" y="2880"/>
              <a:ext cx="35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 dirty="0">
                  <a:solidFill>
                    <a:srgbClr val="FF0000"/>
                  </a:solidFill>
                </a:rPr>
                <a:t>Set</a:t>
              </a:r>
            </a:p>
          </p:txBody>
        </p:sp>
        <p:sp>
          <p:nvSpPr>
            <p:cNvPr id="43" name="Text Box 223"/>
            <p:cNvSpPr txBox="1">
              <a:spLocks noChangeArrowheads="1"/>
            </p:cNvSpPr>
            <p:nvPr/>
          </p:nvSpPr>
          <p:spPr bwMode="auto">
            <a:xfrm>
              <a:off x="576" y="2880"/>
              <a:ext cx="53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 dirty="0">
                  <a:solidFill>
                    <a:srgbClr val="FF0000"/>
                  </a:solidFill>
                </a:rPr>
                <a:t>Reset</a:t>
              </a:r>
            </a:p>
          </p:txBody>
        </p:sp>
      </p:grpSp>
      <p:graphicFrame>
        <p:nvGraphicFramePr>
          <p:cNvPr id="61" name="Group 46"/>
          <p:cNvGraphicFramePr>
            <a:graphicFrameLocks noGrp="1"/>
          </p:cNvGraphicFramePr>
          <p:nvPr/>
        </p:nvGraphicFramePr>
        <p:xfrm>
          <a:off x="4876800" y="1504950"/>
          <a:ext cx="1828800" cy="1859148"/>
        </p:xfrm>
        <a:graphic>
          <a:graphicData uri="http://schemas.openxmlformats.org/drawingml/2006/table">
            <a:tbl>
              <a:tblPr/>
              <a:tblGrid>
                <a:gridCol w="990600"/>
                <a:gridCol w="838200"/>
              </a:tblGrid>
              <a:tr h="3961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    </a:t>
                      </a:r>
                      <a:r>
                        <a:rPr kumimoji="1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R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Q </a:t>
                      </a:r>
                      <a:r>
                        <a:rPr kumimoji="1" lang="en-US" altLang="zh-CN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n+1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0     0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0     1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1     0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1     1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zh-CN" sz="18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62" name="Group 81"/>
          <p:cNvGrpSpPr>
            <a:grpSpLocks/>
          </p:cNvGrpSpPr>
          <p:nvPr/>
        </p:nvGrpSpPr>
        <p:grpSpPr bwMode="auto">
          <a:xfrm>
            <a:off x="5078424" y="1123953"/>
            <a:ext cx="1500190" cy="444501"/>
            <a:chOff x="4111" y="1200"/>
            <a:chExt cx="945" cy="280"/>
          </a:xfrm>
        </p:grpSpPr>
        <p:grpSp>
          <p:nvGrpSpPr>
            <p:cNvPr id="63" name="Group 82"/>
            <p:cNvGrpSpPr>
              <a:grpSpLocks/>
            </p:cNvGrpSpPr>
            <p:nvPr/>
          </p:nvGrpSpPr>
          <p:grpSpPr bwMode="auto">
            <a:xfrm>
              <a:off x="4111" y="1474"/>
              <a:ext cx="353" cy="6"/>
              <a:chOff x="4111" y="1474"/>
              <a:chExt cx="353" cy="6"/>
            </a:xfrm>
          </p:grpSpPr>
          <p:sp>
            <p:nvSpPr>
              <p:cNvPr id="65" name="Line 83"/>
              <p:cNvSpPr>
                <a:spLocks noChangeShapeType="1"/>
              </p:cNvSpPr>
              <p:nvPr/>
            </p:nvSpPr>
            <p:spPr bwMode="auto">
              <a:xfrm>
                <a:off x="4111" y="1480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6" name="Line 84"/>
              <p:cNvSpPr>
                <a:spLocks noChangeShapeType="1"/>
              </p:cNvSpPr>
              <p:nvPr/>
            </p:nvSpPr>
            <p:spPr bwMode="auto">
              <a:xfrm>
                <a:off x="4368" y="1474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64" name="Text Box 85"/>
            <p:cNvSpPr txBox="1">
              <a:spLocks noChangeArrowheads="1"/>
            </p:cNvSpPr>
            <p:nvPr/>
          </p:nvSpPr>
          <p:spPr bwMode="auto">
            <a:xfrm>
              <a:off x="4128" y="1200"/>
              <a:ext cx="928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400" i="0" dirty="0" smtClean="0">
                  <a:latin typeface="微软雅黑" pitchFamily="34" charset="-122"/>
                  <a:ea typeface="微软雅黑" pitchFamily="34" charset="-122"/>
                </a:rPr>
                <a:t>表 </a:t>
              </a:r>
              <a:r>
                <a:rPr lang="en-US" altLang="zh-CN" sz="1400" i="0" dirty="0" smtClean="0">
                  <a:latin typeface="微软雅黑" pitchFamily="34" charset="-122"/>
                  <a:ea typeface="微软雅黑" pitchFamily="34" charset="-122"/>
                </a:rPr>
                <a:t>1 </a:t>
              </a:r>
              <a:r>
                <a:rPr lang="zh-CN" altLang="en-US" sz="1400" i="0" dirty="0" smtClean="0">
                  <a:latin typeface="微软雅黑" pitchFamily="34" charset="-122"/>
                  <a:ea typeface="微软雅黑" pitchFamily="34" charset="-122"/>
                </a:rPr>
                <a:t>次态真值表</a:t>
              </a:r>
              <a:endParaRPr lang="zh-CN" altLang="en-US" sz="1400" i="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2209800" y="44005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124200" y="38671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752600" y="38671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200400" y="11239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828800" y="11239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096000" y="18859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20633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854325" y="2038350"/>
            <a:ext cx="533400" cy="687387"/>
            <a:chOff x="792" y="2183"/>
            <a:chExt cx="336" cy="433"/>
          </a:xfrm>
        </p:grpSpPr>
        <p:sp>
          <p:nvSpPr>
            <p:cNvPr id="12" name="AutoShape 10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3" name="Oval 11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sp>
        <p:nvSpPr>
          <p:cNvPr id="14" name="Line 12"/>
          <p:cNvSpPr>
            <a:spLocks noChangeShapeType="1"/>
          </p:cNvSpPr>
          <p:nvPr/>
        </p:nvSpPr>
        <p:spPr bwMode="auto">
          <a:xfrm flipV="1">
            <a:off x="2057400" y="165735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5" name="Line 17"/>
          <p:cNvSpPr>
            <a:spLocks noChangeShapeType="1"/>
          </p:cNvSpPr>
          <p:nvPr/>
        </p:nvSpPr>
        <p:spPr bwMode="auto">
          <a:xfrm>
            <a:off x="2057400" y="188595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6" name="Line 18"/>
          <p:cNvSpPr>
            <a:spLocks noChangeShapeType="1"/>
          </p:cNvSpPr>
          <p:nvPr/>
        </p:nvSpPr>
        <p:spPr bwMode="auto">
          <a:xfrm>
            <a:off x="2819400" y="188595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7" name="Line 19"/>
          <p:cNvSpPr>
            <a:spLocks noChangeShapeType="1"/>
          </p:cNvSpPr>
          <p:nvPr/>
        </p:nvSpPr>
        <p:spPr bwMode="auto">
          <a:xfrm>
            <a:off x="3124200" y="165735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8" name="Line 20"/>
          <p:cNvSpPr>
            <a:spLocks noChangeShapeType="1"/>
          </p:cNvSpPr>
          <p:nvPr/>
        </p:nvSpPr>
        <p:spPr bwMode="auto">
          <a:xfrm flipH="1">
            <a:off x="2362200" y="1885950"/>
            <a:ext cx="4572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9" name="Line 21"/>
          <p:cNvSpPr>
            <a:spLocks noChangeShapeType="1"/>
          </p:cNvSpPr>
          <p:nvPr/>
        </p:nvSpPr>
        <p:spPr bwMode="auto">
          <a:xfrm>
            <a:off x="2362200" y="1885950"/>
            <a:ext cx="4572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0" name="Line 22"/>
          <p:cNvSpPr>
            <a:spLocks noChangeShapeType="1"/>
          </p:cNvSpPr>
          <p:nvPr/>
        </p:nvSpPr>
        <p:spPr bwMode="auto">
          <a:xfrm>
            <a:off x="2819400" y="302895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 flipV="1">
            <a:off x="2971800" y="272415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 flipH="1">
            <a:off x="2209800" y="302895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 flipV="1">
            <a:off x="2209800" y="272415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4" name="Line 29"/>
          <p:cNvSpPr>
            <a:spLocks noChangeShapeType="1"/>
          </p:cNvSpPr>
          <p:nvPr/>
        </p:nvSpPr>
        <p:spPr bwMode="auto">
          <a:xfrm>
            <a:off x="1905000" y="272415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5" name="Line 30"/>
          <p:cNvSpPr>
            <a:spLocks noChangeShapeType="1"/>
          </p:cNvSpPr>
          <p:nvPr/>
        </p:nvSpPr>
        <p:spPr bwMode="auto">
          <a:xfrm>
            <a:off x="3276600" y="272415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1790700" y="2074862"/>
            <a:ext cx="533400" cy="687388"/>
            <a:chOff x="792" y="2183"/>
            <a:chExt cx="336" cy="433"/>
          </a:xfrm>
        </p:grpSpPr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28" name="Oval 33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sp>
        <p:nvSpPr>
          <p:cNvPr id="29" name="Text Box 34"/>
          <p:cNvSpPr txBox="1">
            <a:spLocks noChangeArrowheads="1"/>
          </p:cNvSpPr>
          <p:nvPr/>
        </p:nvSpPr>
        <p:spPr bwMode="auto">
          <a:xfrm>
            <a:off x="2999535" y="1699930"/>
            <a:ext cx="290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i="0" dirty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 dirty="0"/>
          </a:p>
        </p:txBody>
      </p:sp>
      <p:sp>
        <p:nvSpPr>
          <p:cNvPr id="30" name="Text Box 35"/>
          <p:cNvSpPr txBox="1">
            <a:spLocks noChangeArrowheads="1"/>
          </p:cNvSpPr>
          <p:nvPr/>
        </p:nvSpPr>
        <p:spPr bwMode="auto">
          <a:xfrm>
            <a:off x="1930483" y="1704418"/>
            <a:ext cx="290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i="0" dirty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 dirty="0"/>
          </a:p>
        </p:txBody>
      </p:sp>
      <p:sp>
        <p:nvSpPr>
          <p:cNvPr id="31" name="Text Box 39"/>
          <p:cNvSpPr txBox="1">
            <a:spLocks noChangeArrowheads="1"/>
          </p:cNvSpPr>
          <p:nvPr/>
        </p:nvSpPr>
        <p:spPr bwMode="auto">
          <a:xfrm>
            <a:off x="3124200" y="1504950"/>
            <a:ext cx="3635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/>
              <a:t>Q</a:t>
            </a:r>
          </a:p>
        </p:txBody>
      </p: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1600200" y="1504950"/>
            <a:ext cx="363537" cy="396875"/>
            <a:chOff x="672" y="1824"/>
            <a:chExt cx="229" cy="250"/>
          </a:xfrm>
        </p:grpSpPr>
        <p:sp>
          <p:nvSpPr>
            <p:cNvPr id="33" name="Text Box 38"/>
            <p:cNvSpPr txBox="1">
              <a:spLocks noChangeArrowheads="1"/>
            </p:cNvSpPr>
            <p:nvPr/>
          </p:nvSpPr>
          <p:spPr bwMode="auto">
            <a:xfrm>
              <a:off x="672" y="1824"/>
              <a:ext cx="22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/>
                <a:t>Q</a:t>
              </a:r>
            </a:p>
          </p:txBody>
        </p:sp>
        <p:sp>
          <p:nvSpPr>
            <p:cNvPr id="34" name="Line 40"/>
            <p:cNvSpPr>
              <a:spLocks noChangeShapeType="1"/>
            </p:cNvSpPr>
            <p:nvPr/>
          </p:nvSpPr>
          <p:spPr bwMode="auto">
            <a:xfrm>
              <a:off x="737" y="187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" name="Group 43"/>
          <p:cNvGrpSpPr>
            <a:grpSpLocks/>
          </p:cNvGrpSpPr>
          <p:nvPr/>
        </p:nvGrpSpPr>
        <p:grpSpPr bwMode="auto">
          <a:xfrm>
            <a:off x="1716087" y="3409950"/>
            <a:ext cx="341313" cy="396875"/>
            <a:chOff x="662" y="3124"/>
            <a:chExt cx="215" cy="250"/>
          </a:xfrm>
        </p:grpSpPr>
        <p:sp>
          <p:nvSpPr>
            <p:cNvPr id="36" name="Text Box 36"/>
            <p:cNvSpPr txBox="1">
              <a:spLocks noChangeArrowheads="1"/>
            </p:cNvSpPr>
            <p:nvPr/>
          </p:nvSpPr>
          <p:spPr bwMode="auto">
            <a:xfrm>
              <a:off x="662" y="3124"/>
              <a:ext cx="21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/>
                <a:t>R</a:t>
              </a:r>
            </a:p>
          </p:txBody>
        </p:sp>
        <p:sp>
          <p:nvSpPr>
            <p:cNvPr id="37" name="Line 41"/>
            <p:cNvSpPr>
              <a:spLocks noChangeShapeType="1"/>
            </p:cNvSpPr>
            <p:nvPr/>
          </p:nvSpPr>
          <p:spPr bwMode="auto">
            <a:xfrm>
              <a:off x="715" y="317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" name="Group 45"/>
          <p:cNvGrpSpPr>
            <a:grpSpLocks/>
          </p:cNvGrpSpPr>
          <p:nvPr/>
        </p:nvGrpSpPr>
        <p:grpSpPr bwMode="auto">
          <a:xfrm>
            <a:off x="3087687" y="3394075"/>
            <a:ext cx="325438" cy="396875"/>
            <a:chOff x="1609" y="3014"/>
            <a:chExt cx="205" cy="250"/>
          </a:xfrm>
        </p:grpSpPr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1609" y="3014"/>
              <a:ext cx="2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/>
                <a:t>S</a:t>
              </a:r>
            </a:p>
          </p:txBody>
        </p:sp>
        <p:sp>
          <p:nvSpPr>
            <p:cNvPr id="40" name="Line 42"/>
            <p:cNvSpPr>
              <a:spLocks noChangeShapeType="1"/>
            </p:cNvSpPr>
            <p:nvPr/>
          </p:nvSpPr>
          <p:spPr bwMode="auto">
            <a:xfrm>
              <a:off x="1680" y="306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9" name="Group 225"/>
          <p:cNvGrpSpPr>
            <a:grpSpLocks/>
          </p:cNvGrpSpPr>
          <p:nvPr/>
        </p:nvGrpSpPr>
        <p:grpSpPr bwMode="auto">
          <a:xfrm>
            <a:off x="990600" y="3333750"/>
            <a:ext cx="2932112" cy="400050"/>
            <a:chOff x="576" y="2880"/>
            <a:chExt cx="1847" cy="252"/>
          </a:xfrm>
        </p:grpSpPr>
        <p:sp>
          <p:nvSpPr>
            <p:cNvPr id="42" name="Text Box 222"/>
            <p:cNvSpPr txBox="1">
              <a:spLocks noChangeArrowheads="1"/>
            </p:cNvSpPr>
            <p:nvPr/>
          </p:nvSpPr>
          <p:spPr bwMode="auto">
            <a:xfrm>
              <a:off x="2064" y="2880"/>
              <a:ext cx="35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 dirty="0">
                  <a:solidFill>
                    <a:srgbClr val="FF0000"/>
                  </a:solidFill>
                </a:rPr>
                <a:t>Set</a:t>
              </a:r>
            </a:p>
          </p:txBody>
        </p:sp>
        <p:sp>
          <p:nvSpPr>
            <p:cNvPr id="43" name="Text Box 223"/>
            <p:cNvSpPr txBox="1">
              <a:spLocks noChangeArrowheads="1"/>
            </p:cNvSpPr>
            <p:nvPr/>
          </p:nvSpPr>
          <p:spPr bwMode="auto">
            <a:xfrm>
              <a:off x="576" y="2880"/>
              <a:ext cx="53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 dirty="0">
                  <a:solidFill>
                    <a:srgbClr val="FF0000"/>
                  </a:solidFill>
                </a:rPr>
                <a:t>Reset</a:t>
              </a:r>
            </a:p>
          </p:txBody>
        </p:sp>
      </p:grpSp>
      <p:graphicFrame>
        <p:nvGraphicFramePr>
          <p:cNvPr id="61" name="Group 46"/>
          <p:cNvGraphicFramePr>
            <a:graphicFrameLocks noGrp="1"/>
          </p:cNvGraphicFramePr>
          <p:nvPr/>
        </p:nvGraphicFramePr>
        <p:xfrm>
          <a:off x="4876800" y="1504950"/>
          <a:ext cx="1828800" cy="1859148"/>
        </p:xfrm>
        <a:graphic>
          <a:graphicData uri="http://schemas.openxmlformats.org/drawingml/2006/table">
            <a:tbl>
              <a:tblPr/>
              <a:tblGrid>
                <a:gridCol w="990600"/>
                <a:gridCol w="838200"/>
              </a:tblGrid>
              <a:tr h="3961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    </a:t>
                      </a:r>
                      <a:r>
                        <a:rPr kumimoji="1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R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Q </a:t>
                      </a:r>
                      <a:r>
                        <a:rPr kumimoji="1" lang="en-US" altLang="zh-CN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n+1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0     0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0     1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1     0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1     1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zh-CN" sz="18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0" name="Group 81"/>
          <p:cNvGrpSpPr>
            <a:grpSpLocks/>
          </p:cNvGrpSpPr>
          <p:nvPr/>
        </p:nvGrpSpPr>
        <p:grpSpPr bwMode="auto">
          <a:xfrm>
            <a:off x="5078424" y="1123953"/>
            <a:ext cx="1500190" cy="444501"/>
            <a:chOff x="4111" y="1200"/>
            <a:chExt cx="945" cy="280"/>
          </a:xfrm>
        </p:grpSpPr>
        <p:grpSp>
          <p:nvGrpSpPr>
            <p:cNvPr id="11" name="Group 82"/>
            <p:cNvGrpSpPr>
              <a:grpSpLocks/>
            </p:cNvGrpSpPr>
            <p:nvPr/>
          </p:nvGrpSpPr>
          <p:grpSpPr bwMode="auto">
            <a:xfrm>
              <a:off x="4111" y="1474"/>
              <a:ext cx="353" cy="6"/>
              <a:chOff x="4111" y="1474"/>
              <a:chExt cx="353" cy="6"/>
            </a:xfrm>
          </p:grpSpPr>
          <p:sp>
            <p:nvSpPr>
              <p:cNvPr id="65" name="Line 83"/>
              <p:cNvSpPr>
                <a:spLocks noChangeShapeType="1"/>
              </p:cNvSpPr>
              <p:nvPr/>
            </p:nvSpPr>
            <p:spPr bwMode="auto">
              <a:xfrm>
                <a:off x="4111" y="1480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6" name="Line 84"/>
              <p:cNvSpPr>
                <a:spLocks noChangeShapeType="1"/>
              </p:cNvSpPr>
              <p:nvPr/>
            </p:nvSpPr>
            <p:spPr bwMode="auto">
              <a:xfrm>
                <a:off x="4368" y="1474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64" name="Text Box 85"/>
            <p:cNvSpPr txBox="1">
              <a:spLocks noChangeArrowheads="1"/>
            </p:cNvSpPr>
            <p:nvPr/>
          </p:nvSpPr>
          <p:spPr bwMode="auto">
            <a:xfrm>
              <a:off x="4128" y="1200"/>
              <a:ext cx="928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400" i="0" dirty="0" smtClean="0">
                  <a:latin typeface="微软雅黑" pitchFamily="34" charset="-122"/>
                  <a:ea typeface="微软雅黑" pitchFamily="34" charset="-122"/>
                </a:rPr>
                <a:t>表 </a:t>
              </a:r>
              <a:r>
                <a:rPr lang="en-US" altLang="zh-CN" sz="1400" i="0" dirty="0" smtClean="0">
                  <a:latin typeface="微软雅黑" pitchFamily="34" charset="-122"/>
                  <a:ea typeface="微软雅黑" pitchFamily="34" charset="-122"/>
                </a:rPr>
                <a:t>1 </a:t>
              </a:r>
              <a:r>
                <a:rPr lang="zh-CN" altLang="en-US" sz="1400" i="0" dirty="0" smtClean="0">
                  <a:latin typeface="微软雅黑" pitchFamily="34" charset="-122"/>
                  <a:ea typeface="微软雅黑" pitchFamily="34" charset="-122"/>
                </a:rPr>
                <a:t>次态真值表</a:t>
              </a:r>
              <a:endParaRPr lang="zh-CN" altLang="en-US" sz="1400" i="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2209800" y="44005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124200" y="38671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752600" y="38671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200400" y="11239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828800" y="11239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72200" y="22669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20633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854325" y="2038350"/>
            <a:ext cx="533400" cy="687387"/>
            <a:chOff x="792" y="2183"/>
            <a:chExt cx="336" cy="433"/>
          </a:xfrm>
        </p:grpSpPr>
        <p:sp>
          <p:nvSpPr>
            <p:cNvPr id="12" name="AutoShape 10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3" name="Oval 11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sp>
        <p:nvSpPr>
          <p:cNvPr id="14" name="Line 12"/>
          <p:cNvSpPr>
            <a:spLocks noChangeShapeType="1"/>
          </p:cNvSpPr>
          <p:nvPr/>
        </p:nvSpPr>
        <p:spPr bwMode="auto">
          <a:xfrm flipV="1">
            <a:off x="2057400" y="165735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5" name="Line 17"/>
          <p:cNvSpPr>
            <a:spLocks noChangeShapeType="1"/>
          </p:cNvSpPr>
          <p:nvPr/>
        </p:nvSpPr>
        <p:spPr bwMode="auto">
          <a:xfrm>
            <a:off x="2057400" y="188595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6" name="Line 18"/>
          <p:cNvSpPr>
            <a:spLocks noChangeShapeType="1"/>
          </p:cNvSpPr>
          <p:nvPr/>
        </p:nvSpPr>
        <p:spPr bwMode="auto">
          <a:xfrm>
            <a:off x="2819400" y="188595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7" name="Line 19"/>
          <p:cNvSpPr>
            <a:spLocks noChangeShapeType="1"/>
          </p:cNvSpPr>
          <p:nvPr/>
        </p:nvSpPr>
        <p:spPr bwMode="auto">
          <a:xfrm>
            <a:off x="3124200" y="165735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8" name="Line 20"/>
          <p:cNvSpPr>
            <a:spLocks noChangeShapeType="1"/>
          </p:cNvSpPr>
          <p:nvPr/>
        </p:nvSpPr>
        <p:spPr bwMode="auto">
          <a:xfrm flipH="1">
            <a:off x="2362200" y="1885950"/>
            <a:ext cx="4572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9" name="Line 21"/>
          <p:cNvSpPr>
            <a:spLocks noChangeShapeType="1"/>
          </p:cNvSpPr>
          <p:nvPr/>
        </p:nvSpPr>
        <p:spPr bwMode="auto">
          <a:xfrm>
            <a:off x="2362200" y="1885950"/>
            <a:ext cx="4572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0" name="Line 22"/>
          <p:cNvSpPr>
            <a:spLocks noChangeShapeType="1"/>
          </p:cNvSpPr>
          <p:nvPr/>
        </p:nvSpPr>
        <p:spPr bwMode="auto">
          <a:xfrm>
            <a:off x="2819400" y="302895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 flipV="1">
            <a:off x="2971800" y="272415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 flipH="1">
            <a:off x="2209800" y="302895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 flipV="1">
            <a:off x="2209800" y="272415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4" name="Line 29"/>
          <p:cNvSpPr>
            <a:spLocks noChangeShapeType="1"/>
          </p:cNvSpPr>
          <p:nvPr/>
        </p:nvSpPr>
        <p:spPr bwMode="auto">
          <a:xfrm>
            <a:off x="1905000" y="272415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5" name="Line 30"/>
          <p:cNvSpPr>
            <a:spLocks noChangeShapeType="1"/>
          </p:cNvSpPr>
          <p:nvPr/>
        </p:nvSpPr>
        <p:spPr bwMode="auto">
          <a:xfrm>
            <a:off x="3276600" y="272415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1790700" y="2074862"/>
            <a:ext cx="533400" cy="687388"/>
            <a:chOff x="792" y="2183"/>
            <a:chExt cx="336" cy="433"/>
          </a:xfrm>
        </p:grpSpPr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28" name="Oval 33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sp>
        <p:nvSpPr>
          <p:cNvPr id="29" name="Text Box 34"/>
          <p:cNvSpPr txBox="1">
            <a:spLocks noChangeArrowheads="1"/>
          </p:cNvSpPr>
          <p:nvPr/>
        </p:nvSpPr>
        <p:spPr bwMode="auto">
          <a:xfrm>
            <a:off x="2999535" y="1699930"/>
            <a:ext cx="290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i="0" dirty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 dirty="0"/>
          </a:p>
        </p:txBody>
      </p:sp>
      <p:sp>
        <p:nvSpPr>
          <p:cNvPr id="30" name="Text Box 35"/>
          <p:cNvSpPr txBox="1">
            <a:spLocks noChangeArrowheads="1"/>
          </p:cNvSpPr>
          <p:nvPr/>
        </p:nvSpPr>
        <p:spPr bwMode="auto">
          <a:xfrm>
            <a:off x="1930483" y="1704418"/>
            <a:ext cx="290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i="0" dirty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 dirty="0"/>
          </a:p>
        </p:txBody>
      </p:sp>
      <p:sp>
        <p:nvSpPr>
          <p:cNvPr id="31" name="Text Box 39"/>
          <p:cNvSpPr txBox="1">
            <a:spLocks noChangeArrowheads="1"/>
          </p:cNvSpPr>
          <p:nvPr/>
        </p:nvSpPr>
        <p:spPr bwMode="auto">
          <a:xfrm>
            <a:off x="3124200" y="1504950"/>
            <a:ext cx="3635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/>
              <a:t>Q</a:t>
            </a:r>
          </a:p>
        </p:txBody>
      </p: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1600200" y="1504950"/>
            <a:ext cx="363537" cy="396875"/>
            <a:chOff x="672" y="1824"/>
            <a:chExt cx="229" cy="250"/>
          </a:xfrm>
        </p:grpSpPr>
        <p:sp>
          <p:nvSpPr>
            <p:cNvPr id="33" name="Text Box 38"/>
            <p:cNvSpPr txBox="1">
              <a:spLocks noChangeArrowheads="1"/>
            </p:cNvSpPr>
            <p:nvPr/>
          </p:nvSpPr>
          <p:spPr bwMode="auto">
            <a:xfrm>
              <a:off x="672" y="1824"/>
              <a:ext cx="22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/>
                <a:t>Q</a:t>
              </a:r>
            </a:p>
          </p:txBody>
        </p:sp>
        <p:sp>
          <p:nvSpPr>
            <p:cNvPr id="34" name="Line 40"/>
            <p:cNvSpPr>
              <a:spLocks noChangeShapeType="1"/>
            </p:cNvSpPr>
            <p:nvPr/>
          </p:nvSpPr>
          <p:spPr bwMode="auto">
            <a:xfrm>
              <a:off x="737" y="187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" name="Group 43"/>
          <p:cNvGrpSpPr>
            <a:grpSpLocks/>
          </p:cNvGrpSpPr>
          <p:nvPr/>
        </p:nvGrpSpPr>
        <p:grpSpPr bwMode="auto">
          <a:xfrm>
            <a:off x="1716087" y="3409950"/>
            <a:ext cx="341313" cy="396875"/>
            <a:chOff x="662" y="3124"/>
            <a:chExt cx="215" cy="250"/>
          </a:xfrm>
        </p:grpSpPr>
        <p:sp>
          <p:nvSpPr>
            <p:cNvPr id="36" name="Text Box 36"/>
            <p:cNvSpPr txBox="1">
              <a:spLocks noChangeArrowheads="1"/>
            </p:cNvSpPr>
            <p:nvPr/>
          </p:nvSpPr>
          <p:spPr bwMode="auto">
            <a:xfrm>
              <a:off x="662" y="3124"/>
              <a:ext cx="21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/>
                <a:t>R</a:t>
              </a:r>
            </a:p>
          </p:txBody>
        </p:sp>
        <p:sp>
          <p:nvSpPr>
            <p:cNvPr id="37" name="Line 41"/>
            <p:cNvSpPr>
              <a:spLocks noChangeShapeType="1"/>
            </p:cNvSpPr>
            <p:nvPr/>
          </p:nvSpPr>
          <p:spPr bwMode="auto">
            <a:xfrm>
              <a:off x="715" y="317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" name="Group 45"/>
          <p:cNvGrpSpPr>
            <a:grpSpLocks/>
          </p:cNvGrpSpPr>
          <p:nvPr/>
        </p:nvGrpSpPr>
        <p:grpSpPr bwMode="auto">
          <a:xfrm>
            <a:off x="3087687" y="3394075"/>
            <a:ext cx="325438" cy="396875"/>
            <a:chOff x="1609" y="3014"/>
            <a:chExt cx="205" cy="250"/>
          </a:xfrm>
        </p:grpSpPr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1609" y="3014"/>
              <a:ext cx="2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/>
                <a:t>S</a:t>
              </a:r>
            </a:p>
          </p:txBody>
        </p:sp>
        <p:sp>
          <p:nvSpPr>
            <p:cNvPr id="40" name="Line 42"/>
            <p:cNvSpPr>
              <a:spLocks noChangeShapeType="1"/>
            </p:cNvSpPr>
            <p:nvPr/>
          </p:nvSpPr>
          <p:spPr bwMode="auto">
            <a:xfrm>
              <a:off x="1680" y="306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9" name="Group 225"/>
          <p:cNvGrpSpPr>
            <a:grpSpLocks/>
          </p:cNvGrpSpPr>
          <p:nvPr/>
        </p:nvGrpSpPr>
        <p:grpSpPr bwMode="auto">
          <a:xfrm>
            <a:off x="990600" y="3333750"/>
            <a:ext cx="2932112" cy="400050"/>
            <a:chOff x="576" y="2880"/>
            <a:chExt cx="1847" cy="252"/>
          </a:xfrm>
        </p:grpSpPr>
        <p:sp>
          <p:nvSpPr>
            <p:cNvPr id="42" name="Text Box 222"/>
            <p:cNvSpPr txBox="1">
              <a:spLocks noChangeArrowheads="1"/>
            </p:cNvSpPr>
            <p:nvPr/>
          </p:nvSpPr>
          <p:spPr bwMode="auto">
            <a:xfrm>
              <a:off x="2064" y="2880"/>
              <a:ext cx="35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 dirty="0">
                  <a:solidFill>
                    <a:srgbClr val="FF0000"/>
                  </a:solidFill>
                </a:rPr>
                <a:t>Set</a:t>
              </a:r>
            </a:p>
          </p:txBody>
        </p:sp>
        <p:sp>
          <p:nvSpPr>
            <p:cNvPr id="43" name="Text Box 223"/>
            <p:cNvSpPr txBox="1">
              <a:spLocks noChangeArrowheads="1"/>
            </p:cNvSpPr>
            <p:nvPr/>
          </p:nvSpPr>
          <p:spPr bwMode="auto">
            <a:xfrm>
              <a:off x="576" y="2880"/>
              <a:ext cx="53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 dirty="0">
                  <a:solidFill>
                    <a:srgbClr val="FF0000"/>
                  </a:solidFill>
                </a:rPr>
                <a:t>Reset</a:t>
              </a:r>
            </a:p>
          </p:txBody>
        </p:sp>
      </p:grpSp>
      <p:graphicFrame>
        <p:nvGraphicFramePr>
          <p:cNvPr id="61" name="Group 46"/>
          <p:cNvGraphicFramePr>
            <a:graphicFrameLocks noGrp="1"/>
          </p:cNvGraphicFramePr>
          <p:nvPr/>
        </p:nvGraphicFramePr>
        <p:xfrm>
          <a:off x="4876800" y="1504950"/>
          <a:ext cx="1828800" cy="1859148"/>
        </p:xfrm>
        <a:graphic>
          <a:graphicData uri="http://schemas.openxmlformats.org/drawingml/2006/table">
            <a:tbl>
              <a:tblPr/>
              <a:tblGrid>
                <a:gridCol w="990600"/>
                <a:gridCol w="838200"/>
              </a:tblGrid>
              <a:tr h="3961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    </a:t>
                      </a:r>
                      <a:r>
                        <a:rPr kumimoji="1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R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Q </a:t>
                      </a:r>
                      <a:r>
                        <a:rPr kumimoji="1" lang="en-US" altLang="zh-CN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n+1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0     0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0     1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1     0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1     1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zh-CN" sz="18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0" name="Group 81"/>
          <p:cNvGrpSpPr>
            <a:grpSpLocks/>
          </p:cNvGrpSpPr>
          <p:nvPr/>
        </p:nvGrpSpPr>
        <p:grpSpPr bwMode="auto">
          <a:xfrm>
            <a:off x="5078424" y="1123953"/>
            <a:ext cx="1500190" cy="444501"/>
            <a:chOff x="4111" y="1200"/>
            <a:chExt cx="945" cy="280"/>
          </a:xfrm>
        </p:grpSpPr>
        <p:grpSp>
          <p:nvGrpSpPr>
            <p:cNvPr id="11" name="Group 82"/>
            <p:cNvGrpSpPr>
              <a:grpSpLocks/>
            </p:cNvGrpSpPr>
            <p:nvPr/>
          </p:nvGrpSpPr>
          <p:grpSpPr bwMode="auto">
            <a:xfrm>
              <a:off x="4111" y="1474"/>
              <a:ext cx="353" cy="6"/>
              <a:chOff x="4111" y="1474"/>
              <a:chExt cx="353" cy="6"/>
            </a:xfrm>
          </p:grpSpPr>
          <p:sp>
            <p:nvSpPr>
              <p:cNvPr id="65" name="Line 83"/>
              <p:cNvSpPr>
                <a:spLocks noChangeShapeType="1"/>
              </p:cNvSpPr>
              <p:nvPr/>
            </p:nvSpPr>
            <p:spPr bwMode="auto">
              <a:xfrm>
                <a:off x="4111" y="1480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6" name="Line 84"/>
              <p:cNvSpPr>
                <a:spLocks noChangeShapeType="1"/>
              </p:cNvSpPr>
              <p:nvPr/>
            </p:nvSpPr>
            <p:spPr bwMode="auto">
              <a:xfrm>
                <a:off x="4368" y="1474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64" name="Text Box 85"/>
            <p:cNvSpPr txBox="1">
              <a:spLocks noChangeArrowheads="1"/>
            </p:cNvSpPr>
            <p:nvPr/>
          </p:nvSpPr>
          <p:spPr bwMode="auto">
            <a:xfrm>
              <a:off x="4128" y="1200"/>
              <a:ext cx="928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400" i="0" dirty="0" smtClean="0">
                  <a:latin typeface="微软雅黑" pitchFamily="34" charset="-122"/>
                  <a:ea typeface="微软雅黑" pitchFamily="34" charset="-122"/>
                </a:rPr>
                <a:t>表 </a:t>
              </a:r>
              <a:r>
                <a:rPr lang="en-US" altLang="zh-CN" sz="1400" i="0" dirty="0" smtClean="0">
                  <a:latin typeface="微软雅黑" pitchFamily="34" charset="-122"/>
                  <a:ea typeface="微软雅黑" pitchFamily="34" charset="-122"/>
                </a:rPr>
                <a:t>1 </a:t>
              </a:r>
              <a:r>
                <a:rPr lang="zh-CN" altLang="en-US" sz="1400" i="0" dirty="0" smtClean="0">
                  <a:latin typeface="微软雅黑" pitchFamily="34" charset="-122"/>
                  <a:ea typeface="微软雅黑" pitchFamily="34" charset="-122"/>
                </a:rPr>
                <a:t>次态真值表</a:t>
              </a:r>
              <a:endParaRPr lang="zh-CN" altLang="en-US" sz="1400" i="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2209800" y="44005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124200" y="38671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752600" y="38671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200400" y="11239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828800" y="11239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72200" y="22669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172200" y="26479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20633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854325" y="2038350"/>
            <a:ext cx="533400" cy="687387"/>
            <a:chOff x="792" y="2183"/>
            <a:chExt cx="336" cy="433"/>
          </a:xfrm>
        </p:grpSpPr>
        <p:sp>
          <p:nvSpPr>
            <p:cNvPr id="12" name="AutoShape 10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3" name="Oval 11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sp>
        <p:nvSpPr>
          <p:cNvPr id="14" name="Line 12"/>
          <p:cNvSpPr>
            <a:spLocks noChangeShapeType="1"/>
          </p:cNvSpPr>
          <p:nvPr/>
        </p:nvSpPr>
        <p:spPr bwMode="auto">
          <a:xfrm flipV="1">
            <a:off x="2057400" y="165735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5" name="Line 17"/>
          <p:cNvSpPr>
            <a:spLocks noChangeShapeType="1"/>
          </p:cNvSpPr>
          <p:nvPr/>
        </p:nvSpPr>
        <p:spPr bwMode="auto">
          <a:xfrm>
            <a:off x="2057400" y="188595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6" name="Line 18"/>
          <p:cNvSpPr>
            <a:spLocks noChangeShapeType="1"/>
          </p:cNvSpPr>
          <p:nvPr/>
        </p:nvSpPr>
        <p:spPr bwMode="auto">
          <a:xfrm>
            <a:off x="2819400" y="188595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7" name="Line 19"/>
          <p:cNvSpPr>
            <a:spLocks noChangeShapeType="1"/>
          </p:cNvSpPr>
          <p:nvPr/>
        </p:nvSpPr>
        <p:spPr bwMode="auto">
          <a:xfrm>
            <a:off x="3124200" y="165735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8" name="Line 20"/>
          <p:cNvSpPr>
            <a:spLocks noChangeShapeType="1"/>
          </p:cNvSpPr>
          <p:nvPr/>
        </p:nvSpPr>
        <p:spPr bwMode="auto">
          <a:xfrm flipH="1">
            <a:off x="2362200" y="1885950"/>
            <a:ext cx="4572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9" name="Line 21"/>
          <p:cNvSpPr>
            <a:spLocks noChangeShapeType="1"/>
          </p:cNvSpPr>
          <p:nvPr/>
        </p:nvSpPr>
        <p:spPr bwMode="auto">
          <a:xfrm>
            <a:off x="2362200" y="1885950"/>
            <a:ext cx="4572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0" name="Line 22"/>
          <p:cNvSpPr>
            <a:spLocks noChangeShapeType="1"/>
          </p:cNvSpPr>
          <p:nvPr/>
        </p:nvSpPr>
        <p:spPr bwMode="auto">
          <a:xfrm>
            <a:off x="2819400" y="302895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 flipV="1">
            <a:off x="2971800" y="272415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 flipH="1">
            <a:off x="2209800" y="302895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 flipV="1">
            <a:off x="2209800" y="272415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4" name="Line 29"/>
          <p:cNvSpPr>
            <a:spLocks noChangeShapeType="1"/>
          </p:cNvSpPr>
          <p:nvPr/>
        </p:nvSpPr>
        <p:spPr bwMode="auto">
          <a:xfrm>
            <a:off x="1905000" y="272415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5" name="Line 30"/>
          <p:cNvSpPr>
            <a:spLocks noChangeShapeType="1"/>
          </p:cNvSpPr>
          <p:nvPr/>
        </p:nvSpPr>
        <p:spPr bwMode="auto">
          <a:xfrm>
            <a:off x="3276600" y="272415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1790700" y="2074862"/>
            <a:ext cx="533400" cy="687388"/>
            <a:chOff x="792" y="2183"/>
            <a:chExt cx="336" cy="433"/>
          </a:xfrm>
        </p:grpSpPr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28" name="Oval 33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sp>
        <p:nvSpPr>
          <p:cNvPr id="29" name="Text Box 34"/>
          <p:cNvSpPr txBox="1">
            <a:spLocks noChangeArrowheads="1"/>
          </p:cNvSpPr>
          <p:nvPr/>
        </p:nvSpPr>
        <p:spPr bwMode="auto">
          <a:xfrm>
            <a:off x="2999535" y="1699930"/>
            <a:ext cx="290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i="0" dirty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 dirty="0"/>
          </a:p>
        </p:txBody>
      </p:sp>
      <p:sp>
        <p:nvSpPr>
          <p:cNvPr id="30" name="Text Box 35"/>
          <p:cNvSpPr txBox="1">
            <a:spLocks noChangeArrowheads="1"/>
          </p:cNvSpPr>
          <p:nvPr/>
        </p:nvSpPr>
        <p:spPr bwMode="auto">
          <a:xfrm>
            <a:off x="1930483" y="1704418"/>
            <a:ext cx="290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i="0" dirty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 dirty="0"/>
          </a:p>
        </p:txBody>
      </p:sp>
      <p:sp>
        <p:nvSpPr>
          <p:cNvPr id="31" name="Text Box 39"/>
          <p:cNvSpPr txBox="1">
            <a:spLocks noChangeArrowheads="1"/>
          </p:cNvSpPr>
          <p:nvPr/>
        </p:nvSpPr>
        <p:spPr bwMode="auto">
          <a:xfrm>
            <a:off x="3124200" y="1504950"/>
            <a:ext cx="3635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/>
              <a:t>Q</a:t>
            </a:r>
          </a:p>
        </p:txBody>
      </p: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1600200" y="1504950"/>
            <a:ext cx="363537" cy="396875"/>
            <a:chOff x="672" y="1824"/>
            <a:chExt cx="229" cy="250"/>
          </a:xfrm>
        </p:grpSpPr>
        <p:sp>
          <p:nvSpPr>
            <p:cNvPr id="33" name="Text Box 38"/>
            <p:cNvSpPr txBox="1">
              <a:spLocks noChangeArrowheads="1"/>
            </p:cNvSpPr>
            <p:nvPr/>
          </p:nvSpPr>
          <p:spPr bwMode="auto">
            <a:xfrm>
              <a:off x="672" y="1824"/>
              <a:ext cx="22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/>
                <a:t>Q</a:t>
              </a:r>
            </a:p>
          </p:txBody>
        </p:sp>
        <p:sp>
          <p:nvSpPr>
            <p:cNvPr id="34" name="Line 40"/>
            <p:cNvSpPr>
              <a:spLocks noChangeShapeType="1"/>
            </p:cNvSpPr>
            <p:nvPr/>
          </p:nvSpPr>
          <p:spPr bwMode="auto">
            <a:xfrm>
              <a:off x="737" y="187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" name="Group 43"/>
          <p:cNvGrpSpPr>
            <a:grpSpLocks/>
          </p:cNvGrpSpPr>
          <p:nvPr/>
        </p:nvGrpSpPr>
        <p:grpSpPr bwMode="auto">
          <a:xfrm>
            <a:off x="1716087" y="3409950"/>
            <a:ext cx="341313" cy="396875"/>
            <a:chOff x="662" y="3124"/>
            <a:chExt cx="215" cy="250"/>
          </a:xfrm>
        </p:grpSpPr>
        <p:sp>
          <p:nvSpPr>
            <p:cNvPr id="36" name="Text Box 36"/>
            <p:cNvSpPr txBox="1">
              <a:spLocks noChangeArrowheads="1"/>
            </p:cNvSpPr>
            <p:nvPr/>
          </p:nvSpPr>
          <p:spPr bwMode="auto">
            <a:xfrm>
              <a:off x="662" y="3124"/>
              <a:ext cx="21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/>
                <a:t>R</a:t>
              </a:r>
            </a:p>
          </p:txBody>
        </p:sp>
        <p:sp>
          <p:nvSpPr>
            <p:cNvPr id="37" name="Line 41"/>
            <p:cNvSpPr>
              <a:spLocks noChangeShapeType="1"/>
            </p:cNvSpPr>
            <p:nvPr/>
          </p:nvSpPr>
          <p:spPr bwMode="auto">
            <a:xfrm>
              <a:off x="715" y="317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" name="Group 45"/>
          <p:cNvGrpSpPr>
            <a:grpSpLocks/>
          </p:cNvGrpSpPr>
          <p:nvPr/>
        </p:nvGrpSpPr>
        <p:grpSpPr bwMode="auto">
          <a:xfrm>
            <a:off x="3087687" y="3394075"/>
            <a:ext cx="325438" cy="396875"/>
            <a:chOff x="1609" y="3014"/>
            <a:chExt cx="205" cy="250"/>
          </a:xfrm>
        </p:grpSpPr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1609" y="3014"/>
              <a:ext cx="2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/>
                <a:t>S</a:t>
              </a:r>
            </a:p>
          </p:txBody>
        </p:sp>
        <p:sp>
          <p:nvSpPr>
            <p:cNvPr id="40" name="Line 42"/>
            <p:cNvSpPr>
              <a:spLocks noChangeShapeType="1"/>
            </p:cNvSpPr>
            <p:nvPr/>
          </p:nvSpPr>
          <p:spPr bwMode="auto">
            <a:xfrm>
              <a:off x="1680" y="306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9" name="Group 225"/>
          <p:cNvGrpSpPr>
            <a:grpSpLocks/>
          </p:cNvGrpSpPr>
          <p:nvPr/>
        </p:nvGrpSpPr>
        <p:grpSpPr bwMode="auto">
          <a:xfrm>
            <a:off x="990600" y="3333750"/>
            <a:ext cx="2932112" cy="400050"/>
            <a:chOff x="576" y="2880"/>
            <a:chExt cx="1847" cy="252"/>
          </a:xfrm>
        </p:grpSpPr>
        <p:sp>
          <p:nvSpPr>
            <p:cNvPr id="42" name="Text Box 222"/>
            <p:cNvSpPr txBox="1">
              <a:spLocks noChangeArrowheads="1"/>
            </p:cNvSpPr>
            <p:nvPr/>
          </p:nvSpPr>
          <p:spPr bwMode="auto">
            <a:xfrm>
              <a:off x="2064" y="2880"/>
              <a:ext cx="35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 dirty="0">
                  <a:solidFill>
                    <a:srgbClr val="FF0000"/>
                  </a:solidFill>
                </a:rPr>
                <a:t>Set</a:t>
              </a:r>
            </a:p>
          </p:txBody>
        </p:sp>
        <p:sp>
          <p:nvSpPr>
            <p:cNvPr id="43" name="Text Box 223"/>
            <p:cNvSpPr txBox="1">
              <a:spLocks noChangeArrowheads="1"/>
            </p:cNvSpPr>
            <p:nvPr/>
          </p:nvSpPr>
          <p:spPr bwMode="auto">
            <a:xfrm>
              <a:off x="576" y="2880"/>
              <a:ext cx="53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 dirty="0">
                  <a:solidFill>
                    <a:srgbClr val="FF0000"/>
                  </a:solidFill>
                </a:rPr>
                <a:t>Reset</a:t>
              </a:r>
            </a:p>
          </p:txBody>
        </p:sp>
      </p:grpSp>
      <p:graphicFrame>
        <p:nvGraphicFramePr>
          <p:cNvPr id="61" name="Group 46"/>
          <p:cNvGraphicFramePr>
            <a:graphicFrameLocks noGrp="1"/>
          </p:cNvGraphicFramePr>
          <p:nvPr/>
        </p:nvGraphicFramePr>
        <p:xfrm>
          <a:off x="4876800" y="1504950"/>
          <a:ext cx="1828800" cy="1859148"/>
        </p:xfrm>
        <a:graphic>
          <a:graphicData uri="http://schemas.openxmlformats.org/drawingml/2006/table">
            <a:tbl>
              <a:tblPr/>
              <a:tblGrid>
                <a:gridCol w="990600"/>
                <a:gridCol w="838200"/>
              </a:tblGrid>
              <a:tr h="3961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    </a:t>
                      </a:r>
                      <a:r>
                        <a:rPr kumimoji="1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R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Q </a:t>
                      </a:r>
                      <a:r>
                        <a:rPr kumimoji="1" lang="en-US" altLang="zh-CN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n+1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0     0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0     1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1     0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1     1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zh-CN" sz="18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0" name="Group 81"/>
          <p:cNvGrpSpPr>
            <a:grpSpLocks/>
          </p:cNvGrpSpPr>
          <p:nvPr/>
        </p:nvGrpSpPr>
        <p:grpSpPr bwMode="auto">
          <a:xfrm>
            <a:off x="5078424" y="1123953"/>
            <a:ext cx="1500190" cy="444501"/>
            <a:chOff x="4111" y="1200"/>
            <a:chExt cx="945" cy="280"/>
          </a:xfrm>
        </p:grpSpPr>
        <p:grpSp>
          <p:nvGrpSpPr>
            <p:cNvPr id="11" name="Group 82"/>
            <p:cNvGrpSpPr>
              <a:grpSpLocks/>
            </p:cNvGrpSpPr>
            <p:nvPr/>
          </p:nvGrpSpPr>
          <p:grpSpPr bwMode="auto">
            <a:xfrm>
              <a:off x="4111" y="1474"/>
              <a:ext cx="353" cy="6"/>
              <a:chOff x="4111" y="1474"/>
              <a:chExt cx="353" cy="6"/>
            </a:xfrm>
          </p:grpSpPr>
          <p:sp>
            <p:nvSpPr>
              <p:cNvPr id="65" name="Line 83"/>
              <p:cNvSpPr>
                <a:spLocks noChangeShapeType="1"/>
              </p:cNvSpPr>
              <p:nvPr/>
            </p:nvSpPr>
            <p:spPr bwMode="auto">
              <a:xfrm>
                <a:off x="4111" y="1480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6" name="Line 84"/>
              <p:cNvSpPr>
                <a:spLocks noChangeShapeType="1"/>
              </p:cNvSpPr>
              <p:nvPr/>
            </p:nvSpPr>
            <p:spPr bwMode="auto">
              <a:xfrm>
                <a:off x="4368" y="1474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64" name="Text Box 85"/>
            <p:cNvSpPr txBox="1">
              <a:spLocks noChangeArrowheads="1"/>
            </p:cNvSpPr>
            <p:nvPr/>
          </p:nvSpPr>
          <p:spPr bwMode="auto">
            <a:xfrm>
              <a:off x="4128" y="1200"/>
              <a:ext cx="928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400" i="0" dirty="0" smtClean="0">
                  <a:latin typeface="微软雅黑" pitchFamily="34" charset="-122"/>
                  <a:ea typeface="微软雅黑" pitchFamily="34" charset="-122"/>
                </a:rPr>
                <a:t>表 </a:t>
              </a:r>
              <a:r>
                <a:rPr lang="en-US" altLang="zh-CN" sz="1400" i="0" dirty="0" smtClean="0">
                  <a:latin typeface="微软雅黑" pitchFamily="34" charset="-122"/>
                  <a:ea typeface="微软雅黑" pitchFamily="34" charset="-122"/>
                </a:rPr>
                <a:t>1 </a:t>
              </a:r>
              <a:r>
                <a:rPr lang="zh-CN" altLang="en-US" sz="1400" i="0" dirty="0" smtClean="0">
                  <a:latin typeface="微软雅黑" pitchFamily="34" charset="-122"/>
                  <a:ea typeface="微软雅黑" pitchFamily="34" charset="-122"/>
                </a:rPr>
                <a:t>次态真值表</a:t>
              </a:r>
              <a:endParaRPr lang="zh-CN" altLang="en-US" sz="1400" i="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2209800" y="44005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124200" y="38671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752600" y="38671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200400" y="11239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Q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828800" y="11239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Q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72200" y="22669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172200" y="26479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53" name="直接连接符 52"/>
          <p:cNvCxnSpPr/>
          <p:nvPr/>
        </p:nvCxnSpPr>
        <p:spPr>
          <a:xfrm>
            <a:off x="609600" y="1504950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Line 40"/>
          <p:cNvSpPr>
            <a:spLocks noChangeShapeType="1"/>
          </p:cNvSpPr>
          <p:nvPr/>
        </p:nvSpPr>
        <p:spPr bwMode="auto">
          <a:xfrm>
            <a:off x="1935480" y="1200150"/>
            <a:ext cx="1524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6096000" y="302895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 smtClean="0">
                <a:solidFill>
                  <a:srgbClr val="FF0000"/>
                </a:solidFill>
              </a:rPr>
              <a:t>Q</a:t>
            </a:r>
            <a:r>
              <a:rPr lang="en-US" altLang="zh-CN" b="1" baseline="30000" dirty="0" err="1" smtClean="0">
                <a:solidFill>
                  <a:srgbClr val="FF0000"/>
                </a:solidFill>
              </a:rPr>
              <a:t>n</a:t>
            </a:r>
            <a:endParaRPr lang="zh-CN" altLang="en-US" b="1" baseline="30000" dirty="0">
              <a:solidFill>
                <a:srgbClr val="FF0000"/>
              </a:solidFill>
            </a:endParaRPr>
          </a:p>
        </p:txBody>
      </p:sp>
      <p:sp>
        <p:nvSpPr>
          <p:cNvPr id="56" name="Text Box 63"/>
          <p:cNvSpPr txBox="1">
            <a:spLocks noChangeArrowheads="1"/>
          </p:cNvSpPr>
          <p:nvPr/>
        </p:nvSpPr>
        <p:spPr bwMode="auto">
          <a:xfrm>
            <a:off x="1874520" y="2366451"/>
            <a:ext cx="39145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 i="0" dirty="0" smtClean="0">
                <a:solidFill>
                  <a:schemeClr val="accent6"/>
                </a:solidFill>
              </a:rPr>
              <a:t>G</a:t>
            </a:r>
            <a:r>
              <a:rPr lang="en-US" altLang="zh-CN" sz="1400" b="1" i="0" baseline="-25000" dirty="0" smtClean="0">
                <a:solidFill>
                  <a:schemeClr val="accent6"/>
                </a:solidFill>
              </a:rPr>
              <a:t>1</a:t>
            </a:r>
            <a:endParaRPr lang="en-US" altLang="zh-CN" sz="1400" b="1" i="0" baseline="-25000" dirty="0">
              <a:solidFill>
                <a:schemeClr val="accent6"/>
              </a:solidFill>
            </a:endParaRPr>
          </a:p>
        </p:txBody>
      </p:sp>
      <p:sp>
        <p:nvSpPr>
          <p:cNvPr id="57" name="Text Box 63"/>
          <p:cNvSpPr txBox="1">
            <a:spLocks noChangeArrowheads="1"/>
          </p:cNvSpPr>
          <p:nvPr/>
        </p:nvSpPr>
        <p:spPr bwMode="auto">
          <a:xfrm>
            <a:off x="2941320" y="2343150"/>
            <a:ext cx="39145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 i="0" dirty="0" smtClean="0">
                <a:solidFill>
                  <a:schemeClr val="accent6"/>
                </a:solidFill>
              </a:rPr>
              <a:t>G</a:t>
            </a:r>
            <a:r>
              <a:rPr lang="en-US" altLang="zh-CN" sz="1400" b="1" i="0" baseline="-25000" dirty="0" smtClean="0">
                <a:solidFill>
                  <a:schemeClr val="accent6"/>
                </a:solidFill>
              </a:rPr>
              <a:t>2</a:t>
            </a:r>
            <a:endParaRPr lang="en-US" altLang="zh-CN" sz="1400" b="1" i="0" baseline="-250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54" grpId="0" animBg="1"/>
      <p:bldP spid="5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4"/>
          <p:cNvGrpSpPr>
            <a:grpSpLocks/>
          </p:cNvGrpSpPr>
          <p:nvPr/>
        </p:nvGrpSpPr>
        <p:grpSpPr bwMode="auto">
          <a:xfrm>
            <a:off x="533399" y="1428750"/>
            <a:ext cx="2343149" cy="2632075"/>
            <a:chOff x="2336" y="1752"/>
            <a:chExt cx="1476" cy="1658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3243" y="2296"/>
              <a:ext cx="336" cy="433"/>
              <a:chOff x="792" y="2183"/>
              <a:chExt cx="336" cy="433"/>
            </a:xfrm>
          </p:grpSpPr>
          <p:sp>
            <p:nvSpPr>
              <p:cNvPr id="37" name="AutoShape 4"/>
              <p:cNvSpPr>
                <a:spLocks noChangeArrowheads="1"/>
              </p:cNvSpPr>
              <p:nvPr/>
            </p:nvSpPr>
            <p:spPr bwMode="auto">
              <a:xfrm rot="-5400000">
                <a:off x="768" y="2256"/>
                <a:ext cx="384" cy="336"/>
              </a:xfrm>
              <a:prstGeom prst="flowChartDelay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38" name="Oval 5"/>
              <p:cNvSpPr>
                <a:spLocks noChangeArrowheads="1"/>
              </p:cNvSpPr>
              <p:nvPr/>
            </p:nvSpPr>
            <p:spPr bwMode="auto">
              <a:xfrm>
                <a:off x="934" y="2183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6" name="Line 6"/>
            <p:cNvSpPr>
              <a:spLocks noChangeShapeType="1"/>
            </p:cNvSpPr>
            <p:nvPr/>
          </p:nvSpPr>
          <p:spPr bwMode="auto">
            <a:xfrm flipV="1">
              <a:off x="2741" y="2056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2741" y="2200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3221" y="2200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3413" y="205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2933" y="2200"/>
              <a:ext cx="288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2933" y="2200"/>
              <a:ext cx="288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3221" y="292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 flipV="1">
              <a:off x="3317" y="272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 flipH="1">
              <a:off x="2837" y="292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 flipV="1">
              <a:off x="2837" y="272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2645" y="272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3509" y="272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8" name="Group 18"/>
            <p:cNvGrpSpPr>
              <a:grpSpLocks/>
            </p:cNvGrpSpPr>
            <p:nvPr/>
          </p:nvGrpSpPr>
          <p:grpSpPr bwMode="auto">
            <a:xfrm>
              <a:off x="2573" y="2319"/>
              <a:ext cx="336" cy="433"/>
              <a:chOff x="792" y="2183"/>
              <a:chExt cx="336" cy="433"/>
            </a:xfrm>
          </p:grpSpPr>
          <p:sp>
            <p:nvSpPr>
              <p:cNvPr id="35" name="AutoShape 19"/>
              <p:cNvSpPr>
                <a:spLocks noChangeArrowheads="1"/>
              </p:cNvSpPr>
              <p:nvPr/>
            </p:nvSpPr>
            <p:spPr bwMode="auto">
              <a:xfrm rot="-5400000">
                <a:off x="768" y="2256"/>
                <a:ext cx="384" cy="336"/>
              </a:xfrm>
              <a:prstGeom prst="flowChartDelay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36" name="Oval 20"/>
              <p:cNvSpPr>
                <a:spLocks noChangeArrowheads="1"/>
              </p:cNvSpPr>
              <p:nvPr/>
            </p:nvSpPr>
            <p:spPr bwMode="auto">
              <a:xfrm>
                <a:off x="934" y="2183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9" name="Text Box 21"/>
            <p:cNvSpPr txBox="1">
              <a:spLocks noChangeArrowheads="1"/>
            </p:cNvSpPr>
            <p:nvPr/>
          </p:nvSpPr>
          <p:spPr bwMode="auto">
            <a:xfrm>
              <a:off x="3334" y="2083"/>
              <a:ext cx="18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0" dirty="0">
                  <a:latin typeface="Times New Roman" pitchFamily="18" charset="0"/>
                  <a:cs typeface="Tahoma" pitchFamily="34" charset="0"/>
                </a:rPr>
                <a:t>•</a:t>
              </a:r>
              <a:endParaRPr lang="en-US" altLang="zh-CN" i="0" dirty="0"/>
            </a:p>
          </p:txBody>
        </p:sp>
        <p:sp>
          <p:nvSpPr>
            <p:cNvPr id="20" name="Text Box 22"/>
            <p:cNvSpPr txBox="1">
              <a:spLocks noChangeArrowheads="1"/>
            </p:cNvSpPr>
            <p:nvPr/>
          </p:nvSpPr>
          <p:spPr bwMode="auto">
            <a:xfrm>
              <a:off x="2663" y="2083"/>
              <a:ext cx="18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0" dirty="0">
                  <a:latin typeface="Times New Roman" pitchFamily="18" charset="0"/>
                  <a:cs typeface="Tahoma" pitchFamily="34" charset="0"/>
                </a:rPr>
                <a:t>•</a:t>
              </a:r>
              <a:endParaRPr lang="en-US" altLang="zh-CN" i="0" dirty="0"/>
            </a:p>
          </p:txBody>
        </p:sp>
        <p:sp>
          <p:nvSpPr>
            <p:cNvPr id="21" name="Text Box 23"/>
            <p:cNvSpPr txBox="1">
              <a:spLocks noChangeArrowheads="1"/>
            </p:cNvSpPr>
            <p:nvPr/>
          </p:nvSpPr>
          <p:spPr bwMode="auto">
            <a:xfrm>
              <a:off x="3413" y="1960"/>
              <a:ext cx="22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/>
                <a:t>Q</a:t>
              </a:r>
            </a:p>
          </p:txBody>
        </p:sp>
        <p:grpSp>
          <p:nvGrpSpPr>
            <p:cNvPr id="22" name="Group 24"/>
            <p:cNvGrpSpPr>
              <a:grpSpLocks/>
            </p:cNvGrpSpPr>
            <p:nvPr/>
          </p:nvGrpSpPr>
          <p:grpSpPr bwMode="auto">
            <a:xfrm>
              <a:off x="2453" y="1960"/>
              <a:ext cx="286" cy="252"/>
              <a:chOff x="672" y="1824"/>
              <a:chExt cx="286" cy="252"/>
            </a:xfrm>
          </p:grpSpPr>
          <p:sp>
            <p:nvSpPr>
              <p:cNvPr id="33" name="Text Box 25"/>
              <p:cNvSpPr txBox="1">
                <a:spLocks noChangeArrowheads="1"/>
              </p:cNvSpPr>
              <p:nvPr/>
            </p:nvSpPr>
            <p:spPr bwMode="auto">
              <a:xfrm>
                <a:off x="672" y="1824"/>
                <a:ext cx="286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dirty="0" smtClean="0"/>
                  <a:t> Q</a:t>
                </a:r>
                <a:endParaRPr lang="en-US" altLang="zh-CN" sz="2000" dirty="0"/>
              </a:p>
            </p:txBody>
          </p:sp>
          <p:sp>
            <p:nvSpPr>
              <p:cNvPr id="34" name="Line 26"/>
              <p:cNvSpPr>
                <a:spLocks noChangeShapeType="1"/>
              </p:cNvSpPr>
              <p:nvPr/>
            </p:nvSpPr>
            <p:spPr bwMode="auto">
              <a:xfrm>
                <a:off x="768" y="1872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23" name="Group 27"/>
            <p:cNvGrpSpPr>
              <a:grpSpLocks/>
            </p:cNvGrpSpPr>
            <p:nvPr/>
          </p:nvGrpSpPr>
          <p:grpSpPr bwMode="auto">
            <a:xfrm>
              <a:off x="2517" y="3158"/>
              <a:ext cx="215" cy="250"/>
              <a:chOff x="662" y="3124"/>
              <a:chExt cx="215" cy="250"/>
            </a:xfrm>
          </p:grpSpPr>
          <p:sp>
            <p:nvSpPr>
              <p:cNvPr id="31" name="Text Box 28"/>
              <p:cNvSpPr txBox="1">
                <a:spLocks noChangeArrowheads="1"/>
              </p:cNvSpPr>
              <p:nvPr/>
            </p:nvSpPr>
            <p:spPr bwMode="auto">
              <a:xfrm>
                <a:off x="662" y="3124"/>
                <a:ext cx="21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/>
                  <a:t>R</a:t>
                </a:r>
              </a:p>
            </p:txBody>
          </p:sp>
          <p:sp>
            <p:nvSpPr>
              <p:cNvPr id="32" name="Line 29"/>
              <p:cNvSpPr>
                <a:spLocks noChangeShapeType="1"/>
              </p:cNvSpPr>
              <p:nvPr/>
            </p:nvSpPr>
            <p:spPr bwMode="auto">
              <a:xfrm>
                <a:off x="745" y="3168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24" name="Group 30"/>
            <p:cNvGrpSpPr>
              <a:grpSpLocks/>
            </p:cNvGrpSpPr>
            <p:nvPr/>
          </p:nvGrpSpPr>
          <p:grpSpPr bwMode="auto">
            <a:xfrm>
              <a:off x="3390" y="3150"/>
              <a:ext cx="205" cy="250"/>
              <a:chOff x="1609" y="3014"/>
              <a:chExt cx="205" cy="250"/>
            </a:xfrm>
          </p:grpSpPr>
          <p:sp>
            <p:nvSpPr>
              <p:cNvPr id="29" name="Text Box 31"/>
              <p:cNvSpPr txBox="1">
                <a:spLocks noChangeArrowheads="1"/>
              </p:cNvSpPr>
              <p:nvPr/>
            </p:nvSpPr>
            <p:spPr bwMode="auto">
              <a:xfrm>
                <a:off x="1609" y="3014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/>
                  <a:t>S</a:t>
                </a:r>
              </a:p>
            </p:txBody>
          </p:sp>
          <p:sp>
            <p:nvSpPr>
              <p:cNvPr id="30" name="Line 32"/>
              <p:cNvSpPr>
                <a:spLocks noChangeShapeType="1"/>
              </p:cNvSpPr>
              <p:nvPr/>
            </p:nvSpPr>
            <p:spPr bwMode="auto">
              <a:xfrm>
                <a:off x="1680" y="3060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25" name="Text Box 59"/>
            <p:cNvSpPr txBox="1">
              <a:spLocks noChangeArrowheads="1"/>
            </p:cNvSpPr>
            <p:nvPr/>
          </p:nvSpPr>
          <p:spPr bwMode="auto">
            <a:xfrm>
              <a:off x="3606" y="3158"/>
              <a:ext cx="20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6" name="Text Box 60"/>
            <p:cNvSpPr txBox="1">
              <a:spLocks noChangeArrowheads="1"/>
            </p:cNvSpPr>
            <p:nvPr/>
          </p:nvSpPr>
          <p:spPr bwMode="auto">
            <a:xfrm>
              <a:off x="2336" y="3113"/>
              <a:ext cx="20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7" name="Text Box 62"/>
            <p:cNvSpPr txBox="1">
              <a:spLocks noChangeArrowheads="1"/>
            </p:cNvSpPr>
            <p:nvPr/>
          </p:nvSpPr>
          <p:spPr bwMode="auto">
            <a:xfrm>
              <a:off x="2562" y="1752"/>
              <a:ext cx="20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3470" y="1752"/>
              <a:ext cx="20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grpSp>
        <p:nvGrpSpPr>
          <p:cNvPr id="39" name="Group 100"/>
          <p:cNvGrpSpPr>
            <a:grpSpLocks/>
          </p:cNvGrpSpPr>
          <p:nvPr/>
        </p:nvGrpSpPr>
        <p:grpSpPr bwMode="auto">
          <a:xfrm>
            <a:off x="3268663" y="1501775"/>
            <a:ext cx="2343151" cy="2632075"/>
            <a:chOff x="2290" y="1752"/>
            <a:chExt cx="1476" cy="1658"/>
          </a:xfrm>
        </p:grpSpPr>
        <p:grpSp>
          <p:nvGrpSpPr>
            <p:cNvPr id="40" name="Group 66"/>
            <p:cNvGrpSpPr>
              <a:grpSpLocks/>
            </p:cNvGrpSpPr>
            <p:nvPr/>
          </p:nvGrpSpPr>
          <p:grpSpPr bwMode="auto">
            <a:xfrm>
              <a:off x="3197" y="2296"/>
              <a:ext cx="336" cy="433"/>
              <a:chOff x="792" y="2183"/>
              <a:chExt cx="336" cy="433"/>
            </a:xfrm>
          </p:grpSpPr>
          <p:sp>
            <p:nvSpPr>
              <p:cNvPr id="72" name="AutoShape 67"/>
              <p:cNvSpPr>
                <a:spLocks noChangeArrowheads="1"/>
              </p:cNvSpPr>
              <p:nvPr/>
            </p:nvSpPr>
            <p:spPr bwMode="auto">
              <a:xfrm rot="-5400000">
                <a:off x="768" y="2256"/>
                <a:ext cx="384" cy="336"/>
              </a:xfrm>
              <a:prstGeom prst="flowChartDelay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73" name="Oval 68"/>
              <p:cNvSpPr>
                <a:spLocks noChangeArrowheads="1"/>
              </p:cNvSpPr>
              <p:nvPr/>
            </p:nvSpPr>
            <p:spPr bwMode="auto">
              <a:xfrm>
                <a:off x="934" y="2183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41" name="Line 69"/>
            <p:cNvSpPr>
              <a:spLocks noChangeShapeType="1"/>
            </p:cNvSpPr>
            <p:nvPr/>
          </p:nvSpPr>
          <p:spPr bwMode="auto">
            <a:xfrm flipV="1">
              <a:off x="2695" y="2056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" name="Line 70"/>
            <p:cNvSpPr>
              <a:spLocks noChangeShapeType="1"/>
            </p:cNvSpPr>
            <p:nvPr/>
          </p:nvSpPr>
          <p:spPr bwMode="auto">
            <a:xfrm>
              <a:off x="2695" y="2200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" name="Line 71"/>
            <p:cNvSpPr>
              <a:spLocks noChangeShapeType="1"/>
            </p:cNvSpPr>
            <p:nvPr/>
          </p:nvSpPr>
          <p:spPr bwMode="auto">
            <a:xfrm>
              <a:off x="3175" y="2200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" name="Line 72"/>
            <p:cNvSpPr>
              <a:spLocks noChangeShapeType="1"/>
            </p:cNvSpPr>
            <p:nvPr/>
          </p:nvSpPr>
          <p:spPr bwMode="auto">
            <a:xfrm>
              <a:off x="3367" y="205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" name="Line 73"/>
            <p:cNvSpPr>
              <a:spLocks noChangeShapeType="1"/>
            </p:cNvSpPr>
            <p:nvPr/>
          </p:nvSpPr>
          <p:spPr bwMode="auto">
            <a:xfrm flipH="1">
              <a:off x="2887" y="2200"/>
              <a:ext cx="288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6" name="Line 74"/>
            <p:cNvSpPr>
              <a:spLocks noChangeShapeType="1"/>
            </p:cNvSpPr>
            <p:nvPr/>
          </p:nvSpPr>
          <p:spPr bwMode="auto">
            <a:xfrm>
              <a:off x="2887" y="2200"/>
              <a:ext cx="288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" name="Line 75"/>
            <p:cNvSpPr>
              <a:spLocks noChangeShapeType="1"/>
            </p:cNvSpPr>
            <p:nvPr/>
          </p:nvSpPr>
          <p:spPr bwMode="auto">
            <a:xfrm>
              <a:off x="3175" y="292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8" name="Line 76"/>
            <p:cNvSpPr>
              <a:spLocks noChangeShapeType="1"/>
            </p:cNvSpPr>
            <p:nvPr/>
          </p:nvSpPr>
          <p:spPr bwMode="auto">
            <a:xfrm flipV="1">
              <a:off x="3271" y="272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" name="Line 77"/>
            <p:cNvSpPr>
              <a:spLocks noChangeShapeType="1"/>
            </p:cNvSpPr>
            <p:nvPr/>
          </p:nvSpPr>
          <p:spPr bwMode="auto">
            <a:xfrm flipH="1">
              <a:off x="2791" y="292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" name="Line 78"/>
            <p:cNvSpPr>
              <a:spLocks noChangeShapeType="1"/>
            </p:cNvSpPr>
            <p:nvPr/>
          </p:nvSpPr>
          <p:spPr bwMode="auto">
            <a:xfrm flipV="1">
              <a:off x="2791" y="272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" name="Line 79"/>
            <p:cNvSpPr>
              <a:spLocks noChangeShapeType="1"/>
            </p:cNvSpPr>
            <p:nvPr/>
          </p:nvSpPr>
          <p:spPr bwMode="auto">
            <a:xfrm>
              <a:off x="2599" y="272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" name="Line 80"/>
            <p:cNvSpPr>
              <a:spLocks noChangeShapeType="1"/>
            </p:cNvSpPr>
            <p:nvPr/>
          </p:nvSpPr>
          <p:spPr bwMode="auto">
            <a:xfrm>
              <a:off x="3463" y="272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53" name="Group 81"/>
            <p:cNvGrpSpPr>
              <a:grpSpLocks/>
            </p:cNvGrpSpPr>
            <p:nvPr/>
          </p:nvGrpSpPr>
          <p:grpSpPr bwMode="auto">
            <a:xfrm>
              <a:off x="2527" y="2319"/>
              <a:ext cx="336" cy="433"/>
              <a:chOff x="792" y="2183"/>
              <a:chExt cx="336" cy="433"/>
            </a:xfrm>
          </p:grpSpPr>
          <p:sp>
            <p:nvSpPr>
              <p:cNvPr id="70" name="AutoShape 82"/>
              <p:cNvSpPr>
                <a:spLocks noChangeArrowheads="1"/>
              </p:cNvSpPr>
              <p:nvPr/>
            </p:nvSpPr>
            <p:spPr bwMode="auto">
              <a:xfrm rot="-5400000">
                <a:off x="768" y="2256"/>
                <a:ext cx="384" cy="336"/>
              </a:xfrm>
              <a:prstGeom prst="flowChartDelay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71" name="Oval 83"/>
              <p:cNvSpPr>
                <a:spLocks noChangeArrowheads="1"/>
              </p:cNvSpPr>
              <p:nvPr/>
            </p:nvSpPr>
            <p:spPr bwMode="auto">
              <a:xfrm>
                <a:off x="934" y="2183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4" name="Text Box 84"/>
            <p:cNvSpPr txBox="1">
              <a:spLocks noChangeArrowheads="1"/>
            </p:cNvSpPr>
            <p:nvPr/>
          </p:nvSpPr>
          <p:spPr bwMode="auto">
            <a:xfrm>
              <a:off x="3285" y="2080"/>
              <a:ext cx="18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0" dirty="0">
                  <a:latin typeface="Times New Roman" pitchFamily="18" charset="0"/>
                  <a:cs typeface="Tahoma" pitchFamily="34" charset="0"/>
                </a:rPr>
                <a:t>•</a:t>
              </a:r>
              <a:endParaRPr lang="en-US" altLang="zh-CN" i="0" dirty="0"/>
            </a:p>
          </p:txBody>
        </p:sp>
        <p:sp>
          <p:nvSpPr>
            <p:cNvPr id="55" name="Text Box 85"/>
            <p:cNvSpPr txBox="1">
              <a:spLocks noChangeArrowheads="1"/>
            </p:cNvSpPr>
            <p:nvPr/>
          </p:nvSpPr>
          <p:spPr bwMode="auto">
            <a:xfrm>
              <a:off x="2617" y="2085"/>
              <a:ext cx="18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0" dirty="0">
                  <a:latin typeface="Times New Roman" pitchFamily="18" charset="0"/>
                  <a:cs typeface="Tahoma" pitchFamily="34" charset="0"/>
                </a:rPr>
                <a:t>•</a:t>
              </a:r>
              <a:endParaRPr lang="en-US" altLang="zh-CN" i="0" dirty="0"/>
            </a:p>
          </p:txBody>
        </p:sp>
        <p:sp>
          <p:nvSpPr>
            <p:cNvPr id="56" name="Text Box 86"/>
            <p:cNvSpPr txBox="1">
              <a:spLocks noChangeArrowheads="1"/>
            </p:cNvSpPr>
            <p:nvPr/>
          </p:nvSpPr>
          <p:spPr bwMode="auto">
            <a:xfrm>
              <a:off x="3367" y="1960"/>
              <a:ext cx="22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/>
                <a:t>Q</a:t>
              </a:r>
            </a:p>
          </p:txBody>
        </p:sp>
        <p:grpSp>
          <p:nvGrpSpPr>
            <p:cNvPr id="57" name="Group 87"/>
            <p:cNvGrpSpPr>
              <a:grpSpLocks/>
            </p:cNvGrpSpPr>
            <p:nvPr/>
          </p:nvGrpSpPr>
          <p:grpSpPr bwMode="auto">
            <a:xfrm>
              <a:off x="2407" y="1960"/>
              <a:ext cx="286" cy="252"/>
              <a:chOff x="672" y="1824"/>
              <a:chExt cx="286" cy="252"/>
            </a:xfrm>
          </p:grpSpPr>
          <p:sp>
            <p:nvSpPr>
              <p:cNvPr id="68" name="Text Box 88"/>
              <p:cNvSpPr txBox="1">
                <a:spLocks noChangeArrowheads="1"/>
              </p:cNvSpPr>
              <p:nvPr/>
            </p:nvSpPr>
            <p:spPr bwMode="auto">
              <a:xfrm>
                <a:off x="672" y="1824"/>
                <a:ext cx="286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dirty="0" smtClean="0"/>
                  <a:t> Q</a:t>
                </a:r>
                <a:endParaRPr lang="en-US" altLang="zh-CN" sz="2000" dirty="0"/>
              </a:p>
            </p:txBody>
          </p:sp>
          <p:sp>
            <p:nvSpPr>
              <p:cNvPr id="69" name="Line 89"/>
              <p:cNvSpPr>
                <a:spLocks noChangeShapeType="1"/>
              </p:cNvSpPr>
              <p:nvPr/>
            </p:nvSpPr>
            <p:spPr bwMode="auto">
              <a:xfrm>
                <a:off x="768" y="1872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58" name="Group 90"/>
            <p:cNvGrpSpPr>
              <a:grpSpLocks/>
            </p:cNvGrpSpPr>
            <p:nvPr/>
          </p:nvGrpSpPr>
          <p:grpSpPr bwMode="auto">
            <a:xfrm>
              <a:off x="2471" y="3158"/>
              <a:ext cx="215" cy="250"/>
              <a:chOff x="662" y="3124"/>
              <a:chExt cx="215" cy="250"/>
            </a:xfrm>
          </p:grpSpPr>
          <p:sp>
            <p:nvSpPr>
              <p:cNvPr id="66" name="Text Box 91"/>
              <p:cNvSpPr txBox="1">
                <a:spLocks noChangeArrowheads="1"/>
              </p:cNvSpPr>
              <p:nvPr/>
            </p:nvSpPr>
            <p:spPr bwMode="auto">
              <a:xfrm>
                <a:off x="662" y="3124"/>
                <a:ext cx="21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/>
                  <a:t>R</a:t>
                </a:r>
              </a:p>
            </p:txBody>
          </p:sp>
          <p:sp>
            <p:nvSpPr>
              <p:cNvPr id="67" name="Line 92"/>
              <p:cNvSpPr>
                <a:spLocks noChangeShapeType="1"/>
              </p:cNvSpPr>
              <p:nvPr/>
            </p:nvSpPr>
            <p:spPr bwMode="auto">
              <a:xfrm>
                <a:off x="726" y="3168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59" name="Group 93"/>
            <p:cNvGrpSpPr>
              <a:grpSpLocks/>
            </p:cNvGrpSpPr>
            <p:nvPr/>
          </p:nvGrpSpPr>
          <p:grpSpPr bwMode="auto">
            <a:xfrm>
              <a:off x="3344" y="3150"/>
              <a:ext cx="205" cy="250"/>
              <a:chOff x="1609" y="3014"/>
              <a:chExt cx="205" cy="250"/>
            </a:xfrm>
          </p:grpSpPr>
          <p:sp>
            <p:nvSpPr>
              <p:cNvPr id="64" name="Text Box 94"/>
              <p:cNvSpPr txBox="1">
                <a:spLocks noChangeArrowheads="1"/>
              </p:cNvSpPr>
              <p:nvPr/>
            </p:nvSpPr>
            <p:spPr bwMode="auto">
              <a:xfrm>
                <a:off x="1609" y="3014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/>
                  <a:t>S</a:t>
                </a:r>
              </a:p>
            </p:txBody>
          </p:sp>
          <p:sp>
            <p:nvSpPr>
              <p:cNvPr id="65" name="Line 95"/>
              <p:cNvSpPr>
                <a:spLocks noChangeShapeType="1"/>
              </p:cNvSpPr>
              <p:nvPr/>
            </p:nvSpPr>
            <p:spPr bwMode="auto">
              <a:xfrm>
                <a:off x="1680" y="3060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60" name="Text Box 96"/>
            <p:cNvSpPr txBox="1">
              <a:spLocks noChangeArrowheads="1"/>
            </p:cNvSpPr>
            <p:nvPr/>
          </p:nvSpPr>
          <p:spPr bwMode="auto">
            <a:xfrm>
              <a:off x="3560" y="3158"/>
              <a:ext cx="20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1" name="Text Box 97"/>
            <p:cNvSpPr txBox="1">
              <a:spLocks noChangeArrowheads="1"/>
            </p:cNvSpPr>
            <p:nvPr/>
          </p:nvSpPr>
          <p:spPr bwMode="auto">
            <a:xfrm>
              <a:off x="2290" y="3113"/>
              <a:ext cx="20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2" name="Text Box 98"/>
            <p:cNvSpPr txBox="1">
              <a:spLocks noChangeArrowheads="1"/>
            </p:cNvSpPr>
            <p:nvPr/>
          </p:nvSpPr>
          <p:spPr bwMode="auto">
            <a:xfrm>
              <a:off x="2521" y="1752"/>
              <a:ext cx="20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3" name="Text Box 99"/>
            <p:cNvSpPr txBox="1">
              <a:spLocks noChangeArrowheads="1"/>
            </p:cNvSpPr>
            <p:nvPr/>
          </p:nvSpPr>
          <p:spPr bwMode="auto">
            <a:xfrm>
              <a:off x="3424" y="1752"/>
              <a:ext cx="20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 dirty="0">
                  <a:solidFill>
                    <a:srgbClr val="FF0000"/>
                  </a:solidFill>
                </a:rPr>
                <a:t>0</a:t>
              </a:r>
            </a:p>
          </p:txBody>
        </p:sp>
      </p:grpSp>
      <p:grpSp>
        <p:nvGrpSpPr>
          <p:cNvPr id="74" name="Group 101"/>
          <p:cNvGrpSpPr>
            <a:grpSpLocks/>
          </p:cNvGrpSpPr>
          <p:nvPr/>
        </p:nvGrpSpPr>
        <p:grpSpPr bwMode="auto">
          <a:xfrm>
            <a:off x="6005513" y="1501775"/>
            <a:ext cx="2343151" cy="2632075"/>
            <a:chOff x="2290" y="1752"/>
            <a:chExt cx="1476" cy="1658"/>
          </a:xfrm>
        </p:grpSpPr>
        <p:grpSp>
          <p:nvGrpSpPr>
            <p:cNvPr id="75" name="Group 102"/>
            <p:cNvGrpSpPr>
              <a:grpSpLocks/>
            </p:cNvGrpSpPr>
            <p:nvPr/>
          </p:nvGrpSpPr>
          <p:grpSpPr bwMode="auto">
            <a:xfrm>
              <a:off x="3197" y="2296"/>
              <a:ext cx="336" cy="433"/>
              <a:chOff x="792" y="2183"/>
              <a:chExt cx="336" cy="433"/>
            </a:xfrm>
          </p:grpSpPr>
          <p:sp>
            <p:nvSpPr>
              <p:cNvPr id="107" name="AutoShape 103"/>
              <p:cNvSpPr>
                <a:spLocks noChangeArrowheads="1"/>
              </p:cNvSpPr>
              <p:nvPr/>
            </p:nvSpPr>
            <p:spPr bwMode="auto">
              <a:xfrm rot="-5400000">
                <a:off x="768" y="2256"/>
                <a:ext cx="384" cy="336"/>
              </a:xfrm>
              <a:prstGeom prst="flowChartDelay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8" name="Oval 104"/>
              <p:cNvSpPr>
                <a:spLocks noChangeArrowheads="1"/>
              </p:cNvSpPr>
              <p:nvPr/>
            </p:nvSpPr>
            <p:spPr bwMode="auto">
              <a:xfrm>
                <a:off x="934" y="2183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76" name="Line 105"/>
            <p:cNvSpPr>
              <a:spLocks noChangeShapeType="1"/>
            </p:cNvSpPr>
            <p:nvPr/>
          </p:nvSpPr>
          <p:spPr bwMode="auto">
            <a:xfrm flipV="1">
              <a:off x="2695" y="2056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7" name="Line 106"/>
            <p:cNvSpPr>
              <a:spLocks noChangeShapeType="1"/>
            </p:cNvSpPr>
            <p:nvPr/>
          </p:nvSpPr>
          <p:spPr bwMode="auto">
            <a:xfrm>
              <a:off x="2695" y="2200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8" name="Line 107"/>
            <p:cNvSpPr>
              <a:spLocks noChangeShapeType="1"/>
            </p:cNvSpPr>
            <p:nvPr/>
          </p:nvSpPr>
          <p:spPr bwMode="auto">
            <a:xfrm>
              <a:off x="3175" y="2200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9" name="Line 108"/>
            <p:cNvSpPr>
              <a:spLocks noChangeShapeType="1"/>
            </p:cNvSpPr>
            <p:nvPr/>
          </p:nvSpPr>
          <p:spPr bwMode="auto">
            <a:xfrm>
              <a:off x="3367" y="205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" name="Line 109"/>
            <p:cNvSpPr>
              <a:spLocks noChangeShapeType="1"/>
            </p:cNvSpPr>
            <p:nvPr/>
          </p:nvSpPr>
          <p:spPr bwMode="auto">
            <a:xfrm flipH="1">
              <a:off x="2887" y="2200"/>
              <a:ext cx="288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1" name="Line 110"/>
            <p:cNvSpPr>
              <a:spLocks noChangeShapeType="1"/>
            </p:cNvSpPr>
            <p:nvPr/>
          </p:nvSpPr>
          <p:spPr bwMode="auto">
            <a:xfrm>
              <a:off x="2887" y="2200"/>
              <a:ext cx="288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" name="Line 111"/>
            <p:cNvSpPr>
              <a:spLocks noChangeShapeType="1"/>
            </p:cNvSpPr>
            <p:nvPr/>
          </p:nvSpPr>
          <p:spPr bwMode="auto">
            <a:xfrm>
              <a:off x="3175" y="292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3" name="Line 112"/>
            <p:cNvSpPr>
              <a:spLocks noChangeShapeType="1"/>
            </p:cNvSpPr>
            <p:nvPr/>
          </p:nvSpPr>
          <p:spPr bwMode="auto">
            <a:xfrm flipV="1">
              <a:off x="3271" y="272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4" name="Line 113"/>
            <p:cNvSpPr>
              <a:spLocks noChangeShapeType="1"/>
            </p:cNvSpPr>
            <p:nvPr/>
          </p:nvSpPr>
          <p:spPr bwMode="auto">
            <a:xfrm flipH="1">
              <a:off x="2791" y="292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" name="Line 114"/>
            <p:cNvSpPr>
              <a:spLocks noChangeShapeType="1"/>
            </p:cNvSpPr>
            <p:nvPr/>
          </p:nvSpPr>
          <p:spPr bwMode="auto">
            <a:xfrm flipV="1">
              <a:off x="2791" y="272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6" name="Line 115"/>
            <p:cNvSpPr>
              <a:spLocks noChangeShapeType="1"/>
            </p:cNvSpPr>
            <p:nvPr/>
          </p:nvSpPr>
          <p:spPr bwMode="auto">
            <a:xfrm>
              <a:off x="2599" y="272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7" name="Line 116"/>
            <p:cNvSpPr>
              <a:spLocks noChangeShapeType="1"/>
            </p:cNvSpPr>
            <p:nvPr/>
          </p:nvSpPr>
          <p:spPr bwMode="auto">
            <a:xfrm>
              <a:off x="3463" y="272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88" name="Group 117"/>
            <p:cNvGrpSpPr>
              <a:grpSpLocks/>
            </p:cNvGrpSpPr>
            <p:nvPr/>
          </p:nvGrpSpPr>
          <p:grpSpPr bwMode="auto">
            <a:xfrm>
              <a:off x="2527" y="2319"/>
              <a:ext cx="336" cy="433"/>
              <a:chOff x="792" y="2183"/>
              <a:chExt cx="336" cy="433"/>
            </a:xfrm>
          </p:grpSpPr>
          <p:sp>
            <p:nvSpPr>
              <p:cNvPr id="105" name="AutoShape 118"/>
              <p:cNvSpPr>
                <a:spLocks noChangeArrowheads="1"/>
              </p:cNvSpPr>
              <p:nvPr/>
            </p:nvSpPr>
            <p:spPr bwMode="auto">
              <a:xfrm rot="-5400000">
                <a:off x="768" y="2256"/>
                <a:ext cx="384" cy="336"/>
              </a:xfrm>
              <a:prstGeom prst="flowChartDelay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06" name="Oval 119"/>
              <p:cNvSpPr>
                <a:spLocks noChangeArrowheads="1"/>
              </p:cNvSpPr>
              <p:nvPr/>
            </p:nvSpPr>
            <p:spPr bwMode="auto">
              <a:xfrm>
                <a:off x="934" y="2183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89" name="Text Box 120"/>
            <p:cNvSpPr txBox="1">
              <a:spLocks noChangeArrowheads="1"/>
            </p:cNvSpPr>
            <p:nvPr/>
          </p:nvSpPr>
          <p:spPr bwMode="auto">
            <a:xfrm>
              <a:off x="3285" y="2080"/>
              <a:ext cx="18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0" dirty="0">
                  <a:latin typeface="Times New Roman" pitchFamily="18" charset="0"/>
                  <a:cs typeface="Tahoma" pitchFamily="34" charset="0"/>
                </a:rPr>
                <a:t>•</a:t>
              </a:r>
              <a:endParaRPr lang="en-US" altLang="zh-CN" i="0" dirty="0"/>
            </a:p>
          </p:txBody>
        </p:sp>
        <p:sp>
          <p:nvSpPr>
            <p:cNvPr id="90" name="Text Box 121"/>
            <p:cNvSpPr txBox="1">
              <a:spLocks noChangeArrowheads="1"/>
            </p:cNvSpPr>
            <p:nvPr/>
          </p:nvSpPr>
          <p:spPr bwMode="auto">
            <a:xfrm>
              <a:off x="2616" y="2085"/>
              <a:ext cx="18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0" dirty="0">
                  <a:latin typeface="Times New Roman" pitchFamily="18" charset="0"/>
                  <a:cs typeface="Tahoma" pitchFamily="34" charset="0"/>
                </a:rPr>
                <a:t>•</a:t>
              </a:r>
              <a:endParaRPr lang="en-US" altLang="zh-CN" i="0" dirty="0"/>
            </a:p>
          </p:txBody>
        </p:sp>
        <p:sp>
          <p:nvSpPr>
            <p:cNvPr id="91" name="Text Box 122"/>
            <p:cNvSpPr txBox="1">
              <a:spLocks noChangeArrowheads="1"/>
            </p:cNvSpPr>
            <p:nvPr/>
          </p:nvSpPr>
          <p:spPr bwMode="auto">
            <a:xfrm>
              <a:off x="3367" y="1960"/>
              <a:ext cx="22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/>
                <a:t>Q</a:t>
              </a:r>
            </a:p>
          </p:txBody>
        </p:sp>
        <p:grpSp>
          <p:nvGrpSpPr>
            <p:cNvPr id="92" name="Group 123"/>
            <p:cNvGrpSpPr>
              <a:grpSpLocks/>
            </p:cNvGrpSpPr>
            <p:nvPr/>
          </p:nvGrpSpPr>
          <p:grpSpPr bwMode="auto">
            <a:xfrm>
              <a:off x="2407" y="1960"/>
              <a:ext cx="286" cy="252"/>
              <a:chOff x="672" y="1824"/>
              <a:chExt cx="286" cy="252"/>
            </a:xfrm>
          </p:grpSpPr>
          <p:sp>
            <p:nvSpPr>
              <p:cNvPr id="103" name="Text Box 124"/>
              <p:cNvSpPr txBox="1">
                <a:spLocks noChangeArrowheads="1"/>
              </p:cNvSpPr>
              <p:nvPr/>
            </p:nvSpPr>
            <p:spPr bwMode="auto">
              <a:xfrm>
                <a:off x="672" y="1824"/>
                <a:ext cx="286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dirty="0" smtClean="0"/>
                  <a:t> Q</a:t>
                </a:r>
                <a:endParaRPr lang="en-US" altLang="zh-CN" sz="2000" dirty="0"/>
              </a:p>
            </p:txBody>
          </p:sp>
          <p:sp>
            <p:nvSpPr>
              <p:cNvPr id="104" name="Line 125"/>
              <p:cNvSpPr>
                <a:spLocks noChangeShapeType="1"/>
              </p:cNvSpPr>
              <p:nvPr/>
            </p:nvSpPr>
            <p:spPr bwMode="auto">
              <a:xfrm>
                <a:off x="768" y="1872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93" name="Group 126"/>
            <p:cNvGrpSpPr>
              <a:grpSpLocks/>
            </p:cNvGrpSpPr>
            <p:nvPr/>
          </p:nvGrpSpPr>
          <p:grpSpPr bwMode="auto">
            <a:xfrm>
              <a:off x="2471" y="3158"/>
              <a:ext cx="215" cy="250"/>
              <a:chOff x="662" y="3124"/>
              <a:chExt cx="215" cy="250"/>
            </a:xfrm>
          </p:grpSpPr>
          <p:sp>
            <p:nvSpPr>
              <p:cNvPr id="101" name="Text Box 127"/>
              <p:cNvSpPr txBox="1">
                <a:spLocks noChangeArrowheads="1"/>
              </p:cNvSpPr>
              <p:nvPr/>
            </p:nvSpPr>
            <p:spPr bwMode="auto">
              <a:xfrm>
                <a:off x="662" y="3124"/>
                <a:ext cx="21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/>
                  <a:t>R</a:t>
                </a:r>
              </a:p>
            </p:txBody>
          </p:sp>
          <p:sp>
            <p:nvSpPr>
              <p:cNvPr id="102" name="Line 128"/>
              <p:cNvSpPr>
                <a:spLocks noChangeShapeType="1"/>
              </p:cNvSpPr>
              <p:nvPr/>
            </p:nvSpPr>
            <p:spPr bwMode="auto">
              <a:xfrm>
                <a:off x="730" y="3168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94" name="Group 129"/>
            <p:cNvGrpSpPr>
              <a:grpSpLocks/>
            </p:cNvGrpSpPr>
            <p:nvPr/>
          </p:nvGrpSpPr>
          <p:grpSpPr bwMode="auto">
            <a:xfrm>
              <a:off x="3344" y="3150"/>
              <a:ext cx="205" cy="250"/>
              <a:chOff x="1609" y="3014"/>
              <a:chExt cx="205" cy="250"/>
            </a:xfrm>
          </p:grpSpPr>
          <p:sp>
            <p:nvSpPr>
              <p:cNvPr id="99" name="Text Box 130"/>
              <p:cNvSpPr txBox="1">
                <a:spLocks noChangeArrowheads="1"/>
              </p:cNvSpPr>
              <p:nvPr/>
            </p:nvSpPr>
            <p:spPr bwMode="auto">
              <a:xfrm>
                <a:off x="1609" y="3014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/>
                  <a:t>S</a:t>
                </a:r>
              </a:p>
            </p:txBody>
          </p:sp>
          <p:sp>
            <p:nvSpPr>
              <p:cNvPr id="100" name="Line 131"/>
              <p:cNvSpPr>
                <a:spLocks noChangeShapeType="1"/>
              </p:cNvSpPr>
              <p:nvPr/>
            </p:nvSpPr>
            <p:spPr bwMode="auto">
              <a:xfrm>
                <a:off x="1680" y="3060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95" name="Text Box 132"/>
            <p:cNvSpPr txBox="1">
              <a:spLocks noChangeArrowheads="1"/>
            </p:cNvSpPr>
            <p:nvPr/>
          </p:nvSpPr>
          <p:spPr bwMode="auto">
            <a:xfrm>
              <a:off x="3560" y="3158"/>
              <a:ext cx="20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96" name="Text Box 133"/>
            <p:cNvSpPr txBox="1">
              <a:spLocks noChangeArrowheads="1"/>
            </p:cNvSpPr>
            <p:nvPr/>
          </p:nvSpPr>
          <p:spPr bwMode="auto">
            <a:xfrm>
              <a:off x="2290" y="3113"/>
              <a:ext cx="20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97" name="Text Box 134"/>
            <p:cNvSpPr txBox="1">
              <a:spLocks noChangeArrowheads="1"/>
            </p:cNvSpPr>
            <p:nvPr/>
          </p:nvSpPr>
          <p:spPr bwMode="auto">
            <a:xfrm>
              <a:off x="2477" y="1752"/>
              <a:ext cx="20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98" name="Text Box 135"/>
            <p:cNvSpPr txBox="1">
              <a:spLocks noChangeArrowheads="1"/>
            </p:cNvSpPr>
            <p:nvPr/>
          </p:nvSpPr>
          <p:spPr bwMode="auto">
            <a:xfrm>
              <a:off x="3424" y="1752"/>
              <a:ext cx="20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109" name="矩形 108"/>
          <p:cNvSpPr/>
          <p:nvPr/>
        </p:nvSpPr>
        <p:spPr>
          <a:xfrm>
            <a:off x="0" y="0"/>
            <a:ext cx="20633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Text Box 63"/>
          <p:cNvSpPr txBox="1">
            <a:spLocks noChangeArrowheads="1"/>
          </p:cNvSpPr>
          <p:nvPr/>
        </p:nvSpPr>
        <p:spPr bwMode="auto">
          <a:xfrm>
            <a:off x="990600" y="2571750"/>
            <a:ext cx="39145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 i="0" dirty="0" smtClean="0">
                <a:solidFill>
                  <a:schemeClr val="accent6"/>
                </a:solidFill>
              </a:rPr>
              <a:t>G</a:t>
            </a:r>
            <a:r>
              <a:rPr lang="en-US" altLang="zh-CN" sz="1400" b="1" i="0" baseline="-25000" dirty="0" smtClean="0">
                <a:solidFill>
                  <a:schemeClr val="accent6"/>
                </a:solidFill>
              </a:rPr>
              <a:t>1</a:t>
            </a:r>
            <a:endParaRPr lang="en-US" altLang="zh-CN" sz="1400" b="1" i="0" baseline="-25000" dirty="0">
              <a:solidFill>
                <a:schemeClr val="accent6"/>
              </a:solidFill>
            </a:endParaRPr>
          </a:p>
        </p:txBody>
      </p:sp>
      <p:sp>
        <p:nvSpPr>
          <p:cNvPr id="112" name="Text Box 63"/>
          <p:cNvSpPr txBox="1">
            <a:spLocks noChangeArrowheads="1"/>
          </p:cNvSpPr>
          <p:nvPr/>
        </p:nvSpPr>
        <p:spPr bwMode="auto">
          <a:xfrm>
            <a:off x="2057400" y="2548449"/>
            <a:ext cx="39145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 i="0" dirty="0" smtClean="0">
                <a:solidFill>
                  <a:schemeClr val="accent6"/>
                </a:solidFill>
              </a:rPr>
              <a:t>G</a:t>
            </a:r>
            <a:r>
              <a:rPr lang="en-US" altLang="zh-CN" sz="1400" b="1" i="0" baseline="-25000" dirty="0" smtClean="0">
                <a:solidFill>
                  <a:schemeClr val="accent6"/>
                </a:solidFill>
              </a:rPr>
              <a:t>2</a:t>
            </a:r>
            <a:endParaRPr lang="en-US" altLang="zh-CN" sz="1400" b="1" i="0" baseline="-25000" dirty="0">
              <a:solidFill>
                <a:schemeClr val="accent6"/>
              </a:solidFill>
            </a:endParaRPr>
          </a:p>
        </p:txBody>
      </p:sp>
      <p:sp>
        <p:nvSpPr>
          <p:cNvPr id="113" name="Text Box 63"/>
          <p:cNvSpPr txBox="1">
            <a:spLocks noChangeArrowheads="1"/>
          </p:cNvSpPr>
          <p:nvPr/>
        </p:nvSpPr>
        <p:spPr bwMode="auto">
          <a:xfrm>
            <a:off x="3733800" y="2671251"/>
            <a:ext cx="39145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 i="0" dirty="0" smtClean="0">
                <a:solidFill>
                  <a:schemeClr val="accent6"/>
                </a:solidFill>
              </a:rPr>
              <a:t>G</a:t>
            </a:r>
            <a:r>
              <a:rPr lang="en-US" altLang="zh-CN" sz="1400" b="1" i="0" baseline="-25000" dirty="0" smtClean="0">
                <a:solidFill>
                  <a:schemeClr val="accent6"/>
                </a:solidFill>
              </a:rPr>
              <a:t>1</a:t>
            </a:r>
            <a:endParaRPr lang="en-US" altLang="zh-CN" sz="1400" b="1" i="0" baseline="-25000" dirty="0">
              <a:solidFill>
                <a:schemeClr val="accent6"/>
              </a:solidFill>
            </a:endParaRPr>
          </a:p>
        </p:txBody>
      </p:sp>
      <p:sp>
        <p:nvSpPr>
          <p:cNvPr id="114" name="Text Box 63"/>
          <p:cNvSpPr txBox="1">
            <a:spLocks noChangeArrowheads="1"/>
          </p:cNvSpPr>
          <p:nvPr/>
        </p:nvSpPr>
        <p:spPr bwMode="auto">
          <a:xfrm>
            <a:off x="4800600" y="2647950"/>
            <a:ext cx="39145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 i="0" dirty="0" smtClean="0">
                <a:solidFill>
                  <a:schemeClr val="accent6"/>
                </a:solidFill>
              </a:rPr>
              <a:t>G</a:t>
            </a:r>
            <a:r>
              <a:rPr lang="en-US" altLang="zh-CN" sz="1400" b="1" i="0" baseline="-25000" dirty="0" smtClean="0">
                <a:solidFill>
                  <a:schemeClr val="accent6"/>
                </a:solidFill>
              </a:rPr>
              <a:t>2</a:t>
            </a:r>
            <a:endParaRPr lang="en-US" altLang="zh-CN" sz="1400" b="1" i="0" baseline="-25000" dirty="0">
              <a:solidFill>
                <a:schemeClr val="accent6"/>
              </a:solidFill>
            </a:endParaRPr>
          </a:p>
        </p:txBody>
      </p:sp>
      <p:sp>
        <p:nvSpPr>
          <p:cNvPr id="115" name="Text Box 63"/>
          <p:cNvSpPr txBox="1">
            <a:spLocks noChangeArrowheads="1"/>
          </p:cNvSpPr>
          <p:nvPr/>
        </p:nvSpPr>
        <p:spPr bwMode="auto">
          <a:xfrm>
            <a:off x="6477000" y="2671251"/>
            <a:ext cx="39145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 i="0" dirty="0" smtClean="0">
                <a:solidFill>
                  <a:schemeClr val="accent6"/>
                </a:solidFill>
              </a:rPr>
              <a:t>G</a:t>
            </a:r>
            <a:r>
              <a:rPr lang="en-US" altLang="zh-CN" sz="1400" b="1" i="0" baseline="-25000" dirty="0" smtClean="0">
                <a:solidFill>
                  <a:schemeClr val="accent6"/>
                </a:solidFill>
              </a:rPr>
              <a:t>1</a:t>
            </a:r>
            <a:endParaRPr lang="en-US" altLang="zh-CN" sz="1400" b="1" i="0" baseline="-25000" dirty="0">
              <a:solidFill>
                <a:schemeClr val="accent6"/>
              </a:solidFill>
            </a:endParaRPr>
          </a:p>
        </p:txBody>
      </p:sp>
      <p:sp>
        <p:nvSpPr>
          <p:cNvPr id="116" name="Text Box 63"/>
          <p:cNvSpPr txBox="1">
            <a:spLocks noChangeArrowheads="1"/>
          </p:cNvSpPr>
          <p:nvPr/>
        </p:nvSpPr>
        <p:spPr bwMode="auto">
          <a:xfrm>
            <a:off x="7543800" y="2647950"/>
            <a:ext cx="39145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 i="0" dirty="0" smtClean="0">
                <a:solidFill>
                  <a:schemeClr val="accent6"/>
                </a:solidFill>
              </a:rPr>
              <a:t>G</a:t>
            </a:r>
            <a:r>
              <a:rPr lang="en-US" altLang="zh-CN" sz="1400" b="1" i="0" baseline="-25000" dirty="0" smtClean="0">
                <a:solidFill>
                  <a:schemeClr val="accent6"/>
                </a:solidFill>
              </a:rPr>
              <a:t>2</a:t>
            </a:r>
            <a:endParaRPr lang="en-US" altLang="zh-CN" sz="1400" b="1" i="0" baseline="-25000" dirty="0">
              <a:solidFill>
                <a:schemeClr val="accent6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1295400" y="42481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4267200" y="42481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6934200" y="43243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6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/>
      <p:bldP spid="114" grpId="0"/>
      <p:bldP spid="115" grpId="0"/>
      <p:bldP spid="116" grpId="0"/>
      <p:bldP spid="118" grpId="0"/>
      <p:bldP spid="1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20633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854325" y="2038350"/>
            <a:ext cx="533400" cy="687387"/>
            <a:chOff x="792" y="2183"/>
            <a:chExt cx="336" cy="433"/>
          </a:xfrm>
        </p:grpSpPr>
        <p:sp>
          <p:nvSpPr>
            <p:cNvPr id="12" name="AutoShape 10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3" name="Oval 11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sp>
        <p:nvSpPr>
          <p:cNvPr id="14" name="Line 12"/>
          <p:cNvSpPr>
            <a:spLocks noChangeShapeType="1"/>
          </p:cNvSpPr>
          <p:nvPr/>
        </p:nvSpPr>
        <p:spPr bwMode="auto">
          <a:xfrm flipV="1">
            <a:off x="2057400" y="165735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5" name="Line 17"/>
          <p:cNvSpPr>
            <a:spLocks noChangeShapeType="1"/>
          </p:cNvSpPr>
          <p:nvPr/>
        </p:nvSpPr>
        <p:spPr bwMode="auto">
          <a:xfrm>
            <a:off x="2057400" y="188595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6" name="Line 18"/>
          <p:cNvSpPr>
            <a:spLocks noChangeShapeType="1"/>
          </p:cNvSpPr>
          <p:nvPr/>
        </p:nvSpPr>
        <p:spPr bwMode="auto">
          <a:xfrm>
            <a:off x="2819400" y="188595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7" name="Line 19"/>
          <p:cNvSpPr>
            <a:spLocks noChangeShapeType="1"/>
          </p:cNvSpPr>
          <p:nvPr/>
        </p:nvSpPr>
        <p:spPr bwMode="auto">
          <a:xfrm>
            <a:off x="3124200" y="165735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8" name="Line 20"/>
          <p:cNvSpPr>
            <a:spLocks noChangeShapeType="1"/>
          </p:cNvSpPr>
          <p:nvPr/>
        </p:nvSpPr>
        <p:spPr bwMode="auto">
          <a:xfrm flipH="1">
            <a:off x="2362200" y="1885950"/>
            <a:ext cx="4572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9" name="Line 21"/>
          <p:cNvSpPr>
            <a:spLocks noChangeShapeType="1"/>
          </p:cNvSpPr>
          <p:nvPr/>
        </p:nvSpPr>
        <p:spPr bwMode="auto">
          <a:xfrm>
            <a:off x="2362200" y="1885950"/>
            <a:ext cx="4572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0" name="Line 22"/>
          <p:cNvSpPr>
            <a:spLocks noChangeShapeType="1"/>
          </p:cNvSpPr>
          <p:nvPr/>
        </p:nvSpPr>
        <p:spPr bwMode="auto">
          <a:xfrm>
            <a:off x="2819400" y="302895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 flipV="1">
            <a:off x="2971800" y="272415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 flipH="1">
            <a:off x="2209800" y="302895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 flipV="1">
            <a:off x="2209800" y="272415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4" name="Line 29"/>
          <p:cNvSpPr>
            <a:spLocks noChangeShapeType="1"/>
          </p:cNvSpPr>
          <p:nvPr/>
        </p:nvSpPr>
        <p:spPr bwMode="auto">
          <a:xfrm>
            <a:off x="1905000" y="272415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5" name="Line 30"/>
          <p:cNvSpPr>
            <a:spLocks noChangeShapeType="1"/>
          </p:cNvSpPr>
          <p:nvPr/>
        </p:nvSpPr>
        <p:spPr bwMode="auto">
          <a:xfrm>
            <a:off x="3276600" y="272415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1790700" y="2074862"/>
            <a:ext cx="533400" cy="687388"/>
            <a:chOff x="792" y="2183"/>
            <a:chExt cx="336" cy="433"/>
          </a:xfrm>
        </p:grpSpPr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28" name="Oval 33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sp>
        <p:nvSpPr>
          <p:cNvPr id="29" name="Text Box 34"/>
          <p:cNvSpPr txBox="1">
            <a:spLocks noChangeArrowheads="1"/>
          </p:cNvSpPr>
          <p:nvPr/>
        </p:nvSpPr>
        <p:spPr bwMode="auto">
          <a:xfrm>
            <a:off x="2999535" y="1699930"/>
            <a:ext cx="290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i="0" dirty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 dirty="0"/>
          </a:p>
        </p:txBody>
      </p:sp>
      <p:sp>
        <p:nvSpPr>
          <p:cNvPr id="30" name="Text Box 35"/>
          <p:cNvSpPr txBox="1">
            <a:spLocks noChangeArrowheads="1"/>
          </p:cNvSpPr>
          <p:nvPr/>
        </p:nvSpPr>
        <p:spPr bwMode="auto">
          <a:xfrm>
            <a:off x="1930483" y="1704418"/>
            <a:ext cx="290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i="0" dirty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 dirty="0"/>
          </a:p>
        </p:txBody>
      </p:sp>
      <p:sp>
        <p:nvSpPr>
          <p:cNvPr id="31" name="Text Box 39"/>
          <p:cNvSpPr txBox="1">
            <a:spLocks noChangeArrowheads="1"/>
          </p:cNvSpPr>
          <p:nvPr/>
        </p:nvSpPr>
        <p:spPr bwMode="auto">
          <a:xfrm>
            <a:off x="3124200" y="1504950"/>
            <a:ext cx="3635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/>
              <a:t>Q</a:t>
            </a:r>
          </a:p>
        </p:txBody>
      </p: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1600200" y="1504950"/>
            <a:ext cx="363537" cy="396875"/>
            <a:chOff x="672" y="1824"/>
            <a:chExt cx="229" cy="250"/>
          </a:xfrm>
        </p:grpSpPr>
        <p:sp>
          <p:nvSpPr>
            <p:cNvPr id="33" name="Text Box 38"/>
            <p:cNvSpPr txBox="1">
              <a:spLocks noChangeArrowheads="1"/>
            </p:cNvSpPr>
            <p:nvPr/>
          </p:nvSpPr>
          <p:spPr bwMode="auto">
            <a:xfrm>
              <a:off x="672" y="1824"/>
              <a:ext cx="22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/>
                <a:t>Q</a:t>
              </a:r>
            </a:p>
          </p:txBody>
        </p:sp>
        <p:sp>
          <p:nvSpPr>
            <p:cNvPr id="34" name="Line 40"/>
            <p:cNvSpPr>
              <a:spLocks noChangeShapeType="1"/>
            </p:cNvSpPr>
            <p:nvPr/>
          </p:nvSpPr>
          <p:spPr bwMode="auto">
            <a:xfrm>
              <a:off x="737" y="187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" name="Group 43"/>
          <p:cNvGrpSpPr>
            <a:grpSpLocks/>
          </p:cNvGrpSpPr>
          <p:nvPr/>
        </p:nvGrpSpPr>
        <p:grpSpPr bwMode="auto">
          <a:xfrm>
            <a:off x="1716087" y="3409950"/>
            <a:ext cx="341313" cy="396875"/>
            <a:chOff x="662" y="3124"/>
            <a:chExt cx="215" cy="250"/>
          </a:xfrm>
        </p:grpSpPr>
        <p:sp>
          <p:nvSpPr>
            <p:cNvPr id="36" name="Text Box 36"/>
            <p:cNvSpPr txBox="1">
              <a:spLocks noChangeArrowheads="1"/>
            </p:cNvSpPr>
            <p:nvPr/>
          </p:nvSpPr>
          <p:spPr bwMode="auto">
            <a:xfrm>
              <a:off x="662" y="3124"/>
              <a:ext cx="21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/>
                <a:t>R</a:t>
              </a:r>
            </a:p>
          </p:txBody>
        </p:sp>
        <p:sp>
          <p:nvSpPr>
            <p:cNvPr id="37" name="Line 41"/>
            <p:cNvSpPr>
              <a:spLocks noChangeShapeType="1"/>
            </p:cNvSpPr>
            <p:nvPr/>
          </p:nvSpPr>
          <p:spPr bwMode="auto">
            <a:xfrm>
              <a:off x="715" y="317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" name="Group 45"/>
          <p:cNvGrpSpPr>
            <a:grpSpLocks/>
          </p:cNvGrpSpPr>
          <p:nvPr/>
        </p:nvGrpSpPr>
        <p:grpSpPr bwMode="auto">
          <a:xfrm>
            <a:off x="3087687" y="3394075"/>
            <a:ext cx="325438" cy="396875"/>
            <a:chOff x="1609" y="3014"/>
            <a:chExt cx="205" cy="250"/>
          </a:xfrm>
        </p:grpSpPr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1609" y="3014"/>
              <a:ext cx="2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/>
                <a:t>S</a:t>
              </a:r>
            </a:p>
          </p:txBody>
        </p:sp>
        <p:sp>
          <p:nvSpPr>
            <p:cNvPr id="40" name="Line 42"/>
            <p:cNvSpPr>
              <a:spLocks noChangeShapeType="1"/>
            </p:cNvSpPr>
            <p:nvPr/>
          </p:nvSpPr>
          <p:spPr bwMode="auto">
            <a:xfrm>
              <a:off x="1680" y="306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9" name="Group 225"/>
          <p:cNvGrpSpPr>
            <a:grpSpLocks/>
          </p:cNvGrpSpPr>
          <p:nvPr/>
        </p:nvGrpSpPr>
        <p:grpSpPr bwMode="auto">
          <a:xfrm>
            <a:off x="990600" y="3333750"/>
            <a:ext cx="2932112" cy="400050"/>
            <a:chOff x="576" y="2880"/>
            <a:chExt cx="1847" cy="252"/>
          </a:xfrm>
        </p:grpSpPr>
        <p:sp>
          <p:nvSpPr>
            <p:cNvPr id="42" name="Text Box 222"/>
            <p:cNvSpPr txBox="1">
              <a:spLocks noChangeArrowheads="1"/>
            </p:cNvSpPr>
            <p:nvPr/>
          </p:nvSpPr>
          <p:spPr bwMode="auto">
            <a:xfrm>
              <a:off x="2064" y="2880"/>
              <a:ext cx="35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 dirty="0">
                  <a:solidFill>
                    <a:srgbClr val="FF0000"/>
                  </a:solidFill>
                </a:rPr>
                <a:t>Set</a:t>
              </a:r>
            </a:p>
          </p:txBody>
        </p:sp>
        <p:sp>
          <p:nvSpPr>
            <p:cNvPr id="43" name="Text Box 223"/>
            <p:cNvSpPr txBox="1">
              <a:spLocks noChangeArrowheads="1"/>
            </p:cNvSpPr>
            <p:nvPr/>
          </p:nvSpPr>
          <p:spPr bwMode="auto">
            <a:xfrm>
              <a:off x="576" y="2880"/>
              <a:ext cx="53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 dirty="0">
                  <a:solidFill>
                    <a:srgbClr val="FF0000"/>
                  </a:solidFill>
                </a:rPr>
                <a:t>Reset</a:t>
              </a:r>
            </a:p>
          </p:txBody>
        </p:sp>
      </p:grpSp>
      <p:sp>
        <p:nvSpPr>
          <p:cNvPr id="64" name="Text Box 85"/>
          <p:cNvSpPr txBox="1">
            <a:spLocks noChangeArrowheads="1"/>
          </p:cNvSpPr>
          <p:nvPr/>
        </p:nvSpPr>
        <p:spPr bwMode="auto">
          <a:xfrm>
            <a:off x="5105400" y="1200150"/>
            <a:ext cx="14734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表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次态真值表</a:t>
            </a:r>
          </a:p>
        </p:txBody>
      </p:sp>
      <p:graphicFrame>
        <p:nvGraphicFramePr>
          <p:cNvPr id="44" name="Group 34"/>
          <p:cNvGraphicFramePr>
            <a:graphicFrameLocks noGrp="1"/>
          </p:cNvGraphicFramePr>
          <p:nvPr/>
        </p:nvGraphicFramePr>
        <p:xfrm>
          <a:off x="4953000" y="1581150"/>
          <a:ext cx="1828800" cy="1859280"/>
        </p:xfrm>
        <a:graphic>
          <a:graphicData uri="http://schemas.openxmlformats.org/drawingml/2006/table">
            <a:tbl>
              <a:tblPr/>
              <a:tblGrid>
                <a:gridCol w="990600"/>
                <a:gridCol w="838200"/>
              </a:tblGrid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S    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n+1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0     0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禁用</a:t>
                      </a:r>
                      <a:endParaRPr kumimoji="1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0     1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1     0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1     1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1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5" name="Line 83"/>
          <p:cNvSpPr>
            <a:spLocks noChangeShapeType="1"/>
          </p:cNvSpPr>
          <p:nvPr/>
        </p:nvSpPr>
        <p:spPr bwMode="auto">
          <a:xfrm>
            <a:off x="5181600" y="165735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46" name="Line 84"/>
          <p:cNvSpPr>
            <a:spLocks noChangeShapeType="1"/>
          </p:cNvSpPr>
          <p:nvPr/>
        </p:nvSpPr>
        <p:spPr bwMode="auto">
          <a:xfrm>
            <a:off x="5638800" y="1648572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41" name="Text Box 62"/>
          <p:cNvSpPr txBox="1">
            <a:spLocks noChangeArrowheads="1"/>
          </p:cNvSpPr>
          <p:nvPr/>
        </p:nvSpPr>
        <p:spPr bwMode="auto">
          <a:xfrm>
            <a:off x="1143000" y="4019550"/>
            <a:ext cx="5867400" cy="1061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1400" b="1" i="0" dirty="0" smtClean="0"/>
              <a:t>当    和    同时</a:t>
            </a:r>
            <a:r>
              <a:rPr lang="zh-CN" altLang="en-US" sz="1400" b="1" i="0" dirty="0"/>
              <a:t>由 </a:t>
            </a:r>
            <a:r>
              <a:rPr lang="en-US" altLang="zh-CN" sz="1400" b="1" i="0" dirty="0"/>
              <a:t>0 </a:t>
            </a:r>
            <a:r>
              <a:rPr lang="zh-CN" altLang="en-US" sz="1400" b="1" i="0" dirty="0"/>
              <a:t>变 </a:t>
            </a:r>
            <a:r>
              <a:rPr lang="en-US" altLang="zh-CN" sz="1400" b="1" i="0" dirty="0"/>
              <a:t>1 </a:t>
            </a:r>
            <a:r>
              <a:rPr lang="zh-CN" altLang="en-US" sz="1400" b="1" i="0" dirty="0"/>
              <a:t>时，输出状态可能为 </a:t>
            </a:r>
            <a:r>
              <a:rPr lang="en-US" altLang="zh-CN" sz="1400" b="1" i="0" dirty="0"/>
              <a:t>0</a:t>
            </a:r>
            <a:r>
              <a:rPr lang="zh-CN" altLang="en-US" sz="1400" b="1" i="0" dirty="0"/>
              <a:t>，也可能为 </a:t>
            </a:r>
            <a:r>
              <a:rPr lang="en-US" altLang="zh-CN" sz="1400" b="1" i="0" dirty="0"/>
              <a:t>1</a:t>
            </a:r>
            <a:r>
              <a:rPr lang="zh-CN" altLang="en-US" sz="1400" b="1" i="0" dirty="0"/>
              <a:t>，即输出</a:t>
            </a:r>
            <a:r>
              <a:rPr lang="zh-CN" altLang="en-US" sz="1400" b="1" i="0" dirty="0" smtClean="0"/>
              <a:t>状</a:t>
            </a:r>
            <a:endParaRPr lang="en-US" altLang="zh-CN" sz="1400" b="1" i="0" dirty="0" smtClean="0"/>
          </a:p>
          <a:p>
            <a:pPr eaLnBrk="1" hangingPunct="1"/>
            <a:endParaRPr lang="en-US" altLang="zh-CN" sz="1400" b="1" i="0" dirty="0" smtClean="0"/>
          </a:p>
          <a:p>
            <a:pPr eaLnBrk="1" hangingPunct="1"/>
            <a:r>
              <a:rPr lang="zh-CN" altLang="en-US" sz="1400" b="1" i="0" dirty="0" smtClean="0"/>
              <a:t>态</a:t>
            </a:r>
            <a:r>
              <a:rPr lang="zh-CN" altLang="en-US" sz="1400" b="1" i="0" dirty="0"/>
              <a:t>不定。因此，这种情况禁用。</a:t>
            </a:r>
          </a:p>
          <a:p>
            <a:pPr eaLnBrk="1" hangingPunct="1">
              <a:spcBef>
                <a:spcPct val="50000"/>
              </a:spcBef>
            </a:pPr>
            <a:endParaRPr lang="en-US" altLang="zh-CN" sz="1400" dirty="0"/>
          </a:p>
        </p:txBody>
      </p:sp>
      <p:graphicFrame>
        <p:nvGraphicFramePr>
          <p:cNvPr id="95235" name="Object 3"/>
          <p:cNvGraphicFramePr>
            <a:graphicFrameLocks noChangeAspect="1"/>
          </p:cNvGraphicFramePr>
          <p:nvPr/>
        </p:nvGraphicFramePr>
        <p:xfrm>
          <a:off x="1422400" y="4019550"/>
          <a:ext cx="177800" cy="254000"/>
        </p:xfrm>
        <a:graphic>
          <a:graphicData uri="http://schemas.openxmlformats.org/presentationml/2006/ole">
            <p:oleObj spid="_x0000_s95235" name="Equation" r:id="rId3" imgW="177480" imgH="253800" progId="Equation.DSMT4">
              <p:embed/>
            </p:oleObj>
          </a:graphicData>
        </a:graphic>
      </p:graphicFrame>
      <p:graphicFrame>
        <p:nvGraphicFramePr>
          <p:cNvPr id="95236" name="Object 4"/>
          <p:cNvGraphicFramePr>
            <a:graphicFrameLocks noChangeAspect="1"/>
          </p:cNvGraphicFramePr>
          <p:nvPr/>
        </p:nvGraphicFramePr>
        <p:xfrm>
          <a:off x="1828800" y="4019550"/>
          <a:ext cx="165100" cy="266700"/>
        </p:xfrm>
        <a:graphic>
          <a:graphicData uri="http://schemas.openxmlformats.org/presentationml/2006/ole">
            <p:oleObj spid="_x0000_s95236" name="Equation" r:id="rId4" imgW="164880" imgH="266400" progId="Equation.DSMT4">
              <p:embed/>
            </p:oleObj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2286000" y="37147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 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20633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锁存器：状态方程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Text Box 85"/>
          <p:cNvSpPr txBox="1">
            <a:spLocks noChangeArrowheads="1"/>
          </p:cNvSpPr>
          <p:nvPr/>
        </p:nvSpPr>
        <p:spPr bwMode="auto">
          <a:xfrm>
            <a:off x="533400" y="1276350"/>
            <a:ext cx="14734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表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次态真值表</a:t>
            </a:r>
          </a:p>
        </p:txBody>
      </p:sp>
      <p:graphicFrame>
        <p:nvGraphicFramePr>
          <p:cNvPr id="44" name="Group 34"/>
          <p:cNvGraphicFramePr>
            <a:graphicFrameLocks noGrp="1"/>
          </p:cNvGraphicFramePr>
          <p:nvPr/>
        </p:nvGraphicFramePr>
        <p:xfrm>
          <a:off x="381000" y="1657350"/>
          <a:ext cx="1828800" cy="1859280"/>
        </p:xfrm>
        <a:graphic>
          <a:graphicData uri="http://schemas.openxmlformats.org/drawingml/2006/table">
            <a:tbl>
              <a:tblPr/>
              <a:tblGrid>
                <a:gridCol w="990600"/>
                <a:gridCol w="838200"/>
              </a:tblGrid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S    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n+1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0     0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禁用</a:t>
                      </a:r>
                      <a:endParaRPr kumimoji="1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0     1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1     0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1     1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1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5" name="Line 83"/>
          <p:cNvSpPr>
            <a:spLocks noChangeShapeType="1"/>
          </p:cNvSpPr>
          <p:nvPr/>
        </p:nvSpPr>
        <p:spPr bwMode="auto">
          <a:xfrm>
            <a:off x="609600" y="173355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46" name="Line 84"/>
          <p:cNvSpPr>
            <a:spLocks noChangeShapeType="1"/>
          </p:cNvSpPr>
          <p:nvPr/>
        </p:nvSpPr>
        <p:spPr bwMode="auto">
          <a:xfrm>
            <a:off x="1066800" y="1724772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96261" name="Object 5"/>
          <p:cNvGraphicFramePr>
            <a:graphicFrameLocks noChangeAspect="1"/>
          </p:cNvGraphicFramePr>
          <p:nvPr/>
        </p:nvGraphicFramePr>
        <p:xfrm>
          <a:off x="2514600" y="1352550"/>
          <a:ext cx="2616200" cy="685800"/>
        </p:xfrm>
        <a:graphic>
          <a:graphicData uri="http://schemas.openxmlformats.org/presentationml/2006/ole">
            <p:oleObj spid="_x0000_s96261" name="Equation" r:id="rId3" imgW="2616120" imgH="685800" progId="Equation.DSMT4">
              <p:embed/>
            </p:oleObj>
          </a:graphicData>
        </a:graphic>
      </p:graphicFrame>
      <p:graphicFrame>
        <p:nvGraphicFramePr>
          <p:cNvPr id="96263" name="Object 7"/>
          <p:cNvGraphicFramePr>
            <a:graphicFrameLocks noChangeAspect="1"/>
          </p:cNvGraphicFramePr>
          <p:nvPr/>
        </p:nvGraphicFramePr>
        <p:xfrm>
          <a:off x="5562600" y="1276350"/>
          <a:ext cx="1892300" cy="609600"/>
        </p:xfrm>
        <a:graphic>
          <a:graphicData uri="http://schemas.openxmlformats.org/presentationml/2006/ole">
            <p:oleObj spid="_x0000_s96263" name="Equation" r:id="rId4" imgW="1892160" imgH="609480" progId="Equation.DSMT4">
              <p:embed/>
            </p:oleObj>
          </a:graphicData>
        </a:graphic>
      </p:graphicFrame>
      <p:graphicFrame>
        <p:nvGraphicFramePr>
          <p:cNvPr id="96264" name="Object 8"/>
          <p:cNvGraphicFramePr>
            <a:graphicFrameLocks noChangeAspect="1"/>
          </p:cNvGraphicFramePr>
          <p:nvPr/>
        </p:nvGraphicFramePr>
        <p:xfrm>
          <a:off x="6019800" y="1733550"/>
          <a:ext cx="977900" cy="609600"/>
        </p:xfrm>
        <a:graphic>
          <a:graphicData uri="http://schemas.openxmlformats.org/presentationml/2006/ole">
            <p:oleObj spid="_x0000_s96264" name="Equation" r:id="rId5" imgW="977760" imgH="609480" progId="Equation.DSMT4">
              <p:embed/>
            </p:oleObj>
          </a:graphicData>
        </a:graphic>
      </p:graphicFrame>
      <p:graphicFrame>
        <p:nvGraphicFramePr>
          <p:cNvPr id="96265" name="Object 9"/>
          <p:cNvGraphicFramePr>
            <a:graphicFrameLocks noChangeAspect="1"/>
          </p:cNvGraphicFramePr>
          <p:nvPr/>
        </p:nvGraphicFramePr>
        <p:xfrm>
          <a:off x="6019800" y="2190750"/>
          <a:ext cx="850900" cy="609600"/>
        </p:xfrm>
        <a:graphic>
          <a:graphicData uri="http://schemas.openxmlformats.org/presentationml/2006/ole">
            <p:oleObj spid="_x0000_s96265" name="Equation" r:id="rId6" imgW="850680" imgH="609480" progId="Equation.DSMT4">
              <p:embed/>
            </p:oleObj>
          </a:graphicData>
        </a:graphic>
      </p:graphicFrame>
      <p:graphicFrame>
        <p:nvGraphicFramePr>
          <p:cNvPr id="96266" name="Object 10"/>
          <p:cNvGraphicFramePr>
            <a:graphicFrameLocks noChangeAspect="1"/>
          </p:cNvGraphicFramePr>
          <p:nvPr/>
        </p:nvGraphicFramePr>
        <p:xfrm>
          <a:off x="3733800" y="3028950"/>
          <a:ext cx="2730500" cy="609600"/>
        </p:xfrm>
        <a:graphic>
          <a:graphicData uri="http://schemas.openxmlformats.org/presentationml/2006/ole">
            <p:oleObj spid="_x0000_s96266" name="Equation" r:id="rId7" imgW="2730240" imgH="609480" progId="Equation.DSMT4">
              <p:embed/>
            </p:oleObj>
          </a:graphicData>
        </a:graphic>
      </p:graphicFrame>
      <p:graphicFrame>
        <p:nvGraphicFramePr>
          <p:cNvPr id="96267" name="Object 11"/>
          <p:cNvGraphicFramePr>
            <a:graphicFrameLocks noChangeAspect="1"/>
          </p:cNvGraphicFramePr>
          <p:nvPr/>
        </p:nvGraphicFramePr>
        <p:xfrm>
          <a:off x="3733800" y="3562350"/>
          <a:ext cx="1981200" cy="584200"/>
        </p:xfrm>
        <a:graphic>
          <a:graphicData uri="http://schemas.openxmlformats.org/presentationml/2006/ole">
            <p:oleObj spid="_x0000_s96267" name="Equation" r:id="rId8" imgW="1981080" imgH="58392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6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6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6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6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6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6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6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6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6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6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 108"/>
          <p:cNvSpPr/>
          <p:nvPr/>
        </p:nvSpPr>
        <p:spPr>
          <a:xfrm>
            <a:off x="0" y="0"/>
            <a:ext cx="20633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锁存器：状态转换图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7" name="Group 2"/>
          <p:cNvGrpSpPr>
            <a:grpSpLocks/>
          </p:cNvGrpSpPr>
          <p:nvPr/>
        </p:nvGrpSpPr>
        <p:grpSpPr bwMode="auto">
          <a:xfrm>
            <a:off x="3009900" y="2190750"/>
            <a:ext cx="609600" cy="609600"/>
            <a:chOff x="1776" y="2025"/>
            <a:chExt cx="384" cy="384"/>
          </a:xfrm>
        </p:grpSpPr>
        <p:sp>
          <p:nvSpPr>
            <p:cNvPr id="118" name="Oval 3"/>
            <p:cNvSpPr>
              <a:spLocks noChangeArrowheads="1"/>
            </p:cNvSpPr>
            <p:nvPr/>
          </p:nvSpPr>
          <p:spPr bwMode="auto">
            <a:xfrm>
              <a:off x="1776" y="2025"/>
              <a:ext cx="384" cy="384"/>
            </a:xfrm>
            <a:prstGeom prst="ellipse">
              <a:avLst/>
            </a:prstGeom>
            <a:solidFill>
              <a:srgbClr val="00CC00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19" name="Text Box 4"/>
            <p:cNvSpPr txBox="1">
              <a:spLocks noChangeArrowheads="1"/>
            </p:cNvSpPr>
            <p:nvPr/>
          </p:nvSpPr>
          <p:spPr bwMode="auto">
            <a:xfrm>
              <a:off x="1872" y="2102"/>
              <a:ext cx="2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 dirty="0">
                  <a:latin typeface="Arial" pitchFamily="34" charset="0"/>
                </a:rPr>
                <a:t>0</a:t>
              </a:r>
            </a:p>
          </p:txBody>
        </p:sp>
      </p:grpSp>
      <p:grpSp>
        <p:nvGrpSpPr>
          <p:cNvPr id="120" name="Group 5"/>
          <p:cNvGrpSpPr>
            <a:grpSpLocks/>
          </p:cNvGrpSpPr>
          <p:nvPr/>
        </p:nvGrpSpPr>
        <p:grpSpPr bwMode="auto">
          <a:xfrm>
            <a:off x="4914900" y="2190750"/>
            <a:ext cx="704850" cy="609600"/>
            <a:chOff x="2976" y="2025"/>
            <a:chExt cx="444" cy="384"/>
          </a:xfrm>
        </p:grpSpPr>
        <p:sp>
          <p:nvSpPr>
            <p:cNvPr id="121" name="Oval 6"/>
            <p:cNvSpPr>
              <a:spLocks noChangeArrowheads="1"/>
            </p:cNvSpPr>
            <p:nvPr/>
          </p:nvSpPr>
          <p:spPr bwMode="auto">
            <a:xfrm>
              <a:off x="2976" y="2025"/>
              <a:ext cx="384" cy="384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22" name="Text Box 7"/>
            <p:cNvSpPr txBox="1">
              <a:spLocks noChangeArrowheads="1"/>
            </p:cNvSpPr>
            <p:nvPr/>
          </p:nvSpPr>
          <p:spPr bwMode="auto">
            <a:xfrm>
              <a:off x="3076" y="2092"/>
              <a:ext cx="3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 dirty="0">
                  <a:latin typeface="Arial" pitchFamily="34" charset="0"/>
                </a:rPr>
                <a:t>1</a:t>
              </a:r>
            </a:p>
          </p:txBody>
        </p:sp>
      </p:grpSp>
      <p:grpSp>
        <p:nvGrpSpPr>
          <p:cNvPr id="123" name="Group 9"/>
          <p:cNvGrpSpPr>
            <a:grpSpLocks/>
          </p:cNvGrpSpPr>
          <p:nvPr/>
        </p:nvGrpSpPr>
        <p:grpSpPr bwMode="auto">
          <a:xfrm>
            <a:off x="3581400" y="1428750"/>
            <a:ext cx="1492250" cy="1404937"/>
            <a:chOff x="2136" y="1545"/>
            <a:chExt cx="940" cy="885"/>
          </a:xfrm>
        </p:grpSpPr>
        <p:grpSp>
          <p:nvGrpSpPr>
            <p:cNvPr id="124" name="Group 10"/>
            <p:cNvGrpSpPr>
              <a:grpSpLocks/>
            </p:cNvGrpSpPr>
            <p:nvPr/>
          </p:nvGrpSpPr>
          <p:grpSpPr bwMode="auto">
            <a:xfrm>
              <a:off x="2136" y="1545"/>
              <a:ext cx="940" cy="885"/>
              <a:chOff x="2136" y="1545"/>
              <a:chExt cx="880" cy="885"/>
            </a:xfrm>
          </p:grpSpPr>
          <p:sp>
            <p:nvSpPr>
              <p:cNvPr id="127" name="Arc 11"/>
              <p:cNvSpPr>
                <a:spLocks/>
              </p:cNvSpPr>
              <p:nvPr/>
            </p:nvSpPr>
            <p:spPr bwMode="auto">
              <a:xfrm rot="13927233" flipV="1">
                <a:off x="2192" y="1606"/>
                <a:ext cx="768" cy="880"/>
              </a:xfrm>
              <a:custGeom>
                <a:avLst/>
                <a:gdLst>
                  <a:gd name="T0" fmla="*/ 0 w 21600"/>
                  <a:gd name="T1" fmla="*/ 0 h 25552"/>
                  <a:gd name="T2" fmla="*/ 0 w 21600"/>
                  <a:gd name="T3" fmla="*/ 0 h 25552"/>
                  <a:gd name="T4" fmla="*/ 0 w 21600"/>
                  <a:gd name="T5" fmla="*/ 0 h 2555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552"/>
                  <a:gd name="T11" fmla="*/ 21600 w 21600"/>
                  <a:gd name="T12" fmla="*/ 25552 h 255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552" fill="none" extrusionOk="0">
                    <a:moveTo>
                      <a:pt x="2034" y="0"/>
                    </a:moveTo>
                    <a:cubicBezTo>
                      <a:pt x="13126" y="1049"/>
                      <a:pt x="21600" y="10362"/>
                      <a:pt x="21600" y="21504"/>
                    </a:cubicBezTo>
                    <a:cubicBezTo>
                      <a:pt x="21600" y="22862"/>
                      <a:pt x="21471" y="24217"/>
                      <a:pt x="21217" y="25552"/>
                    </a:cubicBezTo>
                  </a:path>
                  <a:path w="21600" h="25552" stroke="0" extrusionOk="0">
                    <a:moveTo>
                      <a:pt x="2034" y="0"/>
                    </a:moveTo>
                    <a:cubicBezTo>
                      <a:pt x="13126" y="1049"/>
                      <a:pt x="21600" y="10362"/>
                      <a:pt x="21600" y="21504"/>
                    </a:cubicBezTo>
                    <a:cubicBezTo>
                      <a:pt x="21600" y="22862"/>
                      <a:pt x="21471" y="24217"/>
                      <a:pt x="21217" y="25552"/>
                    </a:cubicBezTo>
                    <a:lnTo>
                      <a:pt x="0" y="21504"/>
                    </a:lnTo>
                    <a:lnTo>
                      <a:pt x="2034" y="0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" name="Text Box 12"/>
              <p:cNvSpPr txBox="1">
                <a:spLocks noChangeArrowheads="1"/>
              </p:cNvSpPr>
              <p:nvPr/>
            </p:nvSpPr>
            <p:spPr bwMode="auto">
              <a:xfrm>
                <a:off x="2248" y="1545"/>
                <a:ext cx="705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i="0" dirty="0" smtClean="0">
                    <a:solidFill>
                      <a:srgbClr val="FF0000"/>
                    </a:solidFill>
                    <a:latin typeface="Arial" pitchFamily="34" charset="0"/>
                  </a:rPr>
                  <a:t>S R=01</a:t>
                </a:r>
                <a:endParaRPr lang="en-US" altLang="zh-CN" b="1" i="0" dirty="0">
                  <a:solidFill>
                    <a:srgbClr val="FF0000"/>
                  </a:solidFill>
                  <a:latin typeface="Arial" pitchFamily="34" charset="0"/>
                </a:endParaRPr>
              </a:p>
            </p:txBody>
          </p:sp>
        </p:grpSp>
        <p:sp>
          <p:nvSpPr>
            <p:cNvPr id="125" name="Line 13"/>
            <p:cNvSpPr>
              <a:spLocks noChangeShapeType="1"/>
            </p:cNvSpPr>
            <p:nvPr/>
          </p:nvSpPr>
          <p:spPr bwMode="auto">
            <a:xfrm>
              <a:off x="2316" y="1585"/>
              <a:ext cx="11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6" name="Line 14"/>
            <p:cNvSpPr>
              <a:spLocks noChangeShapeType="1"/>
            </p:cNvSpPr>
            <p:nvPr/>
          </p:nvSpPr>
          <p:spPr bwMode="auto">
            <a:xfrm>
              <a:off x="2452" y="1585"/>
              <a:ext cx="11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29" name="Group 15"/>
          <p:cNvGrpSpPr>
            <a:grpSpLocks/>
          </p:cNvGrpSpPr>
          <p:nvPr/>
        </p:nvGrpSpPr>
        <p:grpSpPr bwMode="auto">
          <a:xfrm>
            <a:off x="3619500" y="2230436"/>
            <a:ext cx="1454150" cy="1320800"/>
            <a:chOff x="2160" y="2050"/>
            <a:chExt cx="916" cy="832"/>
          </a:xfrm>
        </p:grpSpPr>
        <p:grpSp>
          <p:nvGrpSpPr>
            <p:cNvPr id="130" name="Group 16"/>
            <p:cNvGrpSpPr>
              <a:grpSpLocks/>
            </p:cNvGrpSpPr>
            <p:nvPr/>
          </p:nvGrpSpPr>
          <p:grpSpPr bwMode="auto">
            <a:xfrm>
              <a:off x="2160" y="2050"/>
              <a:ext cx="916" cy="832"/>
              <a:chOff x="2195" y="2050"/>
              <a:chExt cx="814" cy="832"/>
            </a:xfrm>
          </p:grpSpPr>
          <p:sp>
            <p:nvSpPr>
              <p:cNvPr id="133" name="Text Box 17"/>
              <p:cNvSpPr txBox="1">
                <a:spLocks noChangeArrowheads="1"/>
              </p:cNvSpPr>
              <p:nvPr/>
            </p:nvSpPr>
            <p:spPr bwMode="auto">
              <a:xfrm>
                <a:off x="2312" y="2649"/>
                <a:ext cx="67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i="0" dirty="0" smtClean="0">
                    <a:solidFill>
                      <a:srgbClr val="00CC00"/>
                    </a:solidFill>
                    <a:latin typeface="Arial" pitchFamily="34" charset="0"/>
                  </a:rPr>
                  <a:t> S R=10</a:t>
                </a:r>
                <a:endParaRPr lang="en-US" altLang="zh-CN" b="1" i="0" dirty="0">
                  <a:solidFill>
                    <a:srgbClr val="00CC00"/>
                  </a:solidFill>
                  <a:latin typeface="Arial" pitchFamily="34" charset="0"/>
                </a:endParaRPr>
              </a:p>
            </p:txBody>
          </p:sp>
          <p:sp>
            <p:nvSpPr>
              <p:cNvPr id="134" name="Arc 18"/>
              <p:cNvSpPr>
                <a:spLocks/>
              </p:cNvSpPr>
              <p:nvPr/>
            </p:nvSpPr>
            <p:spPr bwMode="auto">
              <a:xfrm rot="2964061" flipV="1">
                <a:off x="2244" y="2001"/>
                <a:ext cx="715" cy="814"/>
              </a:xfrm>
              <a:custGeom>
                <a:avLst/>
                <a:gdLst>
                  <a:gd name="T0" fmla="*/ 0 w 22170"/>
                  <a:gd name="T1" fmla="*/ 0 h 21600"/>
                  <a:gd name="T2" fmla="*/ 0 w 22170"/>
                  <a:gd name="T3" fmla="*/ 0 h 21600"/>
                  <a:gd name="T4" fmla="*/ 0 w 2217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170"/>
                  <a:gd name="T10" fmla="*/ 0 h 21600"/>
                  <a:gd name="T11" fmla="*/ 22170 w 2217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170" h="21600" fill="none" extrusionOk="0">
                    <a:moveTo>
                      <a:pt x="-1" y="7"/>
                    </a:moveTo>
                    <a:cubicBezTo>
                      <a:pt x="195" y="2"/>
                      <a:pt x="390" y="-1"/>
                      <a:pt x="586" y="0"/>
                    </a:cubicBezTo>
                    <a:cubicBezTo>
                      <a:pt x="12191" y="0"/>
                      <a:pt x="21722" y="9170"/>
                      <a:pt x="22169" y="20767"/>
                    </a:cubicBezTo>
                  </a:path>
                  <a:path w="22170" h="21600" stroke="0" extrusionOk="0">
                    <a:moveTo>
                      <a:pt x="-1" y="7"/>
                    </a:moveTo>
                    <a:cubicBezTo>
                      <a:pt x="195" y="2"/>
                      <a:pt x="390" y="-1"/>
                      <a:pt x="586" y="0"/>
                    </a:cubicBezTo>
                    <a:cubicBezTo>
                      <a:pt x="12191" y="0"/>
                      <a:pt x="21722" y="9170"/>
                      <a:pt x="22169" y="20767"/>
                    </a:cubicBezTo>
                    <a:lnTo>
                      <a:pt x="586" y="21600"/>
                    </a:lnTo>
                    <a:lnTo>
                      <a:pt x="-1" y="7"/>
                    </a:lnTo>
                    <a:close/>
                  </a:path>
                </a:pathLst>
              </a:custGeom>
              <a:noFill/>
              <a:ln w="28575">
                <a:solidFill>
                  <a:srgbClr val="00CC00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1" name="Line 19"/>
            <p:cNvSpPr>
              <a:spLocks noChangeShapeType="1"/>
            </p:cNvSpPr>
            <p:nvPr/>
          </p:nvSpPr>
          <p:spPr bwMode="auto">
            <a:xfrm>
              <a:off x="2340" y="2689"/>
              <a:ext cx="136" cy="0"/>
            </a:xfrm>
            <a:prstGeom prst="line">
              <a:avLst/>
            </a:prstGeom>
            <a:noFill/>
            <a:ln w="28575">
              <a:solidFill>
                <a:srgbClr val="33CC33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2" name="Line 20"/>
            <p:cNvSpPr>
              <a:spLocks noChangeShapeType="1"/>
            </p:cNvSpPr>
            <p:nvPr/>
          </p:nvSpPr>
          <p:spPr bwMode="auto">
            <a:xfrm>
              <a:off x="2492" y="2689"/>
              <a:ext cx="136" cy="0"/>
            </a:xfrm>
            <a:prstGeom prst="line">
              <a:avLst/>
            </a:prstGeom>
            <a:noFill/>
            <a:ln w="28575">
              <a:solidFill>
                <a:srgbClr val="33CC33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35" name="Group 21"/>
          <p:cNvGrpSpPr>
            <a:grpSpLocks/>
          </p:cNvGrpSpPr>
          <p:nvPr/>
        </p:nvGrpSpPr>
        <p:grpSpPr bwMode="auto">
          <a:xfrm>
            <a:off x="1676337" y="2266950"/>
            <a:ext cx="1411288" cy="519112"/>
            <a:chOff x="911" y="2073"/>
            <a:chExt cx="889" cy="327"/>
          </a:xfrm>
        </p:grpSpPr>
        <p:grpSp>
          <p:nvGrpSpPr>
            <p:cNvPr id="136" name="Group 22"/>
            <p:cNvGrpSpPr>
              <a:grpSpLocks/>
            </p:cNvGrpSpPr>
            <p:nvPr/>
          </p:nvGrpSpPr>
          <p:grpSpPr bwMode="auto">
            <a:xfrm>
              <a:off x="911" y="2073"/>
              <a:ext cx="889" cy="327"/>
              <a:chOff x="911" y="2073"/>
              <a:chExt cx="889" cy="327"/>
            </a:xfrm>
          </p:grpSpPr>
          <p:sp>
            <p:nvSpPr>
              <p:cNvPr id="139" name="Arc 23"/>
              <p:cNvSpPr>
                <a:spLocks/>
              </p:cNvSpPr>
              <p:nvPr/>
            </p:nvSpPr>
            <p:spPr bwMode="auto">
              <a:xfrm>
                <a:off x="1509" y="2073"/>
                <a:ext cx="291" cy="327"/>
              </a:xfrm>
              <a:custGeom>
                <a:avLst/>
                <a:gdLst>
                  <a:gd name="T0" fmla="*/ 0 w 37363"/>
                  <a:gd name="T1" fmla="*/ 0 h 43200"/>
                  <a:gd name="T2" fmla="*/ 0 w 37363"/>
                  <a:gd name="T3" fmla="*/ 0 h 43200"/>
                  <a:gd name="T4" fmla="*/ 0 w 37363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37363"/>
                  <a:gd name="T10" fmla="*/ 0 h 43200"/>
                  <a:gd name="T11" fmla="*/ 37363 w 37363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363" h="43200" fill="none" extrusionOk="0">
                    <a:moveTo>
                      <a:pt x="37362" y="36367"/>
                    </a:moveTo>
                    <a:cubicBezTo>
                      <a:pt x="33279" y="40726"/>
                      <a:pt x="27572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6608" y="-1"/>
                      <a:pt x="31461" y="1740"/>
                      <a:pt x="35328" y="4924"/>
                    </a:cubicBezTo>
                  </a:path>
                  <a:path w="37363" h="43200" stroke="0" extrusionOk="0">
                    <a:moveTo>
                      <a:pt x="37362" y="36367"/>
                    </a:moveTo>
                    <a:cubicBezTo>
                      <a:pt x="33279" y="40726"/>
                      <a:pt x="27572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6608" y="-1"/>
                      <a:pt x="31461" y="1740"/>
                      <a:pt x="35328" y="4924"/>
                    </a:cubicBezTo>
                    <a:lnTo>
                      <a:pt x="21600" y="21600"/>
                    </a:lnTo>
                    <a:lnTo>
                      <a:pt x="37362" y="36367"/>
                    </a:lnTo>
                    <a:close/>
                  </a:path>
                </a:pathLst>
              </a:custGeom>
              <a:noFill/>
              <a:ln w="28575">
                <a:solidFill>
                  <a:srgbClr val="00CC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" name="Text Box 24"/>
              <p:cNvSpPr txBox="1">
                <a:spLocks noChangeArrowheads="1"/>
              </p:cNvSpPr>
              <p:nvPr/>
            </p:nvSpPr>
            <p:spPr bwMode="auto">
              <a:xfrm>
                <a:off x="911" y="2120"/>
                <a:ext cx="720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i="0" dirty="0" smtClean="0">
                    <a:solidFill>
                      <a:srgbClr val="00CC00"/>
                    </a:solidFill>
                    <a:latin typeface="Arial" pitchFamily="34" charset="0"/>
                  </a:rPr>
                  <a:t>S R=1X</a:t>
                </a:r>
                <a:endParaRPr lang="en-US" altLang="zh-CN" b="1" i="0" dirty="0">
                  <a:solidFill>
                    <a:srgbClr val="00CC00"/>
                  </a:solidFill>
                  <a:latin typeface="Arial" pitchFamily="34" charset="0"/>
                </a:endParaRPr>
              </a:p>
            </p:txBody>
          </p:sp>
        </p:grpSp>
        <p:sp>
          <p:nvSpPr>
            <p:cNvPr id="137" name="Line 25"/>
            <p:cNvSpPr>
              <a:spLocks noChangeShapeType="1"/>
            </p:cNvSpPr>
            <p:nvPr/>
          </p:nvSpPr>
          <p:spPr bwMode="auto">
            <a:xfrm>
              <a:off x="936" y="2145"/>
              <a:ext cx="136" cy="0"/>
            </a:xfrm>
            <a:prstGeom prst="line">
              <a:avLst/>
            </a:prstGeom>
            <a:noFill/>
            <a:ln w="28575">
              <a:solidFill>
                <a:srgbClr val="33CC33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8" name="Line 26"/>
            <p:cNvSpPr>
              <a:spLocks noChangeShapeType="1"/>
            </p:cNvSpPr>
            <p:nvPr/>
          </p:nvSpPr>
          <p:spPr bwMode="auto">
            <a:xfrm>
              <a:off x="1088" y="2145"/>
              <a:ext cx="136" cy="0"/>
            </a:xfrm>
            <a:prstGeom prst="line">
              <a:avLst/>
            </a:prstGeom>
            <a:noFill/>
            <a:ln w="28575">
              <a:solidFill>
                <a:srgbClr val="33CC33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41" name="Group 27"/>
          <p:cNvGrpSpPr>
            <a:grpSpLocks/>
          </p:cNvGrpSpPr>
          <p:nvPr/>
        </p:nvGrpSpPr>
        <p:grpSpPr bwMode="auto">
          <a:xfrm>
            <a:off x="5448300" y="2190750"/>
            <a:ext cx="1612900" cy="519112"/>
            <a:chOff x="3312" y="2025"/>
            <a:chExt cx="1016" cy="327"/>
          </a:xfrm>
        </p:grpSpPr>
        <p:grpSp>
          <p:nvGrpSpPr>
            <p:cNvPr id="142" name="Group 28"/>
            <p:cNvGrpSpPr>
              <a:grpSpLocks/>
            </p:cNvGrpSpPr>
            <p:nvPr/>
          </p:nvGrpSpPr>
          <p:grpSpPr bwMode="auto">
            <a:xfrm>
              <a:off x="3312" y="2025"/>
              <a:ext cx="1016" cy="327"/>
              <a:chOff x="3312" y="2025"/>
              <a:chExt cx="1016" cy="327"/>
            </a:xfrm>
          </p:grpSpPr>
          <p:sp>
            <p:nvSpPr>
              <p:cNvPr id="145" name="Arc 29"/>
              <p:cNvSpPr>
                <a:spLocks/>
              </p:cNvSpPr>
              <p:nvPr/>
            </p:nvSpPr>
            <p:spPr bwMode="auto">
              <a:xfrm rot="-10578293">
                <a:off x="3312" y="2025"/>
                <a:ext cx="291" cy="327"/>
              </a:xfrm>
              <a:custGeom>
                <a:avLst/>
                <a:gdLst>
                  <a:gd name="T0" fmla="*/ 0 w 37363"/>
                  <a:gd name="T1" fmla="*/ 0 h 43200"/>
                  <a:gd name="T2" fmla="*/ 0 w 37363"/>
                  <a:gd name="T3" fmla="*/ 0 h 43200"/>
                  <a:gd name="T4" fmla="*/ 0 w 37363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37363"/>
                  <a:gd name="T10" fmla="*/ 0 h 43200"/>
                  <a:gd name="T11" fmla="*/ 37363 w 37363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363" h="43200" fill="none" extrusionOk="0">
                    <a:moveTo>
                      <a:pt x="37362" y="36367"/>
                    </a:moveTo>
                    <a:cubicBezTo>
                      <a:pt x="33279" y="40726"/>
                      <a:pt x="27572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6608" y="-1"/>
                      <a:pt x="31461" y="1740"/>
                      <a:pt x="35328" y="4924"/>
                    </a:cubicBezTo>
                  </a:path>
                  <a:path w="37363" h="43200" stroke="0" extrusionOk="0">
                    <a:moveTo>
                      <a:pt x="37362" y="36367"/>
                    </a:moveTo>
                    <a:cubicBezTo>
                      <a:pt x="33279" y="40726"/>
                      <a:pt x="27572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6608" y="-1"/>
                      <a:pt x="31461" y="1740"/>
                      <a:pt x="35328" y="4924"/>
                    </a:cubicBezTo>
                    <a:lnTo>
                      <a:pt x="21600" y="21600"/>
                    </a:lnTo>
                    <a:lnTo>
                      <a:pt x="37362" y="36367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6" name="Text Box 30"/>
              <p:cNvSpPr txBox="1">
                <a:spLocks noChangeArrowheads="1"/>
              </p:cNvSpPr>
              <p:nvPr/>
            </p:nvSpPr>
            <p:spPr bwMode="auto">
              <a:xfrm>
                <a:off x="3603" y="2076"/>
                <a:ext cx="725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i="0" dirty="0" smtClean="0">
                    <a:solidFill>
                      <a:srgbClr val="FF0000"/>
                    </a:solidFill>
                    <a:latin typeface="Arial" pitchFamily="34" charset="0"/>
                  </a:rPr>
                  <a:t>S R=X1</a:t>
                </a:r>
                <a:endParaRPr lang="en-US" altLang="zh-CN" b="1" i="0" dirty="0">
                  <a:solidFill>
                    <a:srgbClr val="FF0000"/>
                  </a:solidFill>
                  <a:latin typeface="Arial" pitchFamily="34" charset="0"/>
                </a:endParaRPr>
              </a:p>
            </p:txBody>
          </p:sp>
        </p:grpSp>
        <p:sp>
          <p:nvSpPr>
            <p:cNvPr id="143" name="Line 31"/>
            <p:cNvSpPr>
              <a:spLocks noChangeShapeType="1"/>
            </p:cNvSpPr>
            <p:nvPr/>
          </p:nvSpPr>
          <p:spPr bwMode="auto">
            <a:xfrm>
              <a:off x="3644" y="2113"/>
              <a:ext cx="13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4" name="Line 32"/>
            <p:cNvSpPr>
              <a:spLocks noChangeShapeType="1"/>
            </p:cNvSpPr>
            <p:nvPr/>
          </p:nvSpPr>
          <p:spPr bwMode="auto">
            <a:xfrm>
              <a:off x="3796" y="2113"/>
              <a:ext cx="13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47" name="TextBox 146"/>
          <p:cNvSpPr txBox="1"/>
          <p:nvPr/>
        </p:nvSpPr>
        <p:spPr>
          <a:xfrm>
            <a:off x="4038600" y="37909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7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 108"/>
          <p:cNvSpPr/>
          <p:nvPr/>
        </p:nvSpPr>
        <p:spPr>
          <a:xfrm>
            <a:off x="0" y="0"/>
            <a:ext cx="20633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4" name="Group 2"/>
          <p:cNvGrpSpPr>
            <a:grpSpLocks/>
          </p:cNvGrpSpPr>
          <p:nvPr/>
        </p:nvGrpSpPr>
        <p:grpSpPr bwMode="auto">
          <a:xfrm>
            <a:off x="3048000" y="666750"/>
            <a:ext cx="4160838" cy="1066800"/>
            <a:chOff x="370" y="1025"/>
            <a:chExt cx="2621" cy="672"/>
          </a:xfrm>
        </p:grpSpPr>
        <p:sp>
          <p:nvSpPr>
            <p:cNvPr id="35" name="Line 3"/>
            <p:cNvSpPr>
              <a:spLocks noChangeShapeType="1"/>
            </p:cNvSpPr>
            <p:nvPr/>
          </p:nvSpPr>
          <p:spPr bwMode="auto">
            <a:xfrm>
              <a:off x="700" y="1269"/>
              <a:ext cx="3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4"/>
            <p:cNvSpPr>
              <a:spLocks noChangeShapeType="1"/>
            </p:cNvSpPr>
            <p:nvPr/>
          </p:nvSpPr>
          <p:spPr bwMode="auto">
            <a:xfrm>
              <a:off x="1081" y="1269"/>
              <a:ext cx="0" cy="2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5"/>
            <p:cNvSpPr>
              <a:spLocks noChangeShapeType="1"/>
            </p:cNvSpPr>
            <p:nvPr/>
          </p:nvSpPr>
          <p:spPr bwMode="auto">
            <a:xfrm>
              <a:off x="1074" y="1549"/>
              <a:ext cx="3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 Box 6"/>
            <p:cNvSpPr txBox="1">
              <a:spLocks noChangeArrowheads="1"/>
            </p:cNvSpPr>
            <p:nvPr/>
          </p:nvSpPr>
          <p:spPr bwMode="auto">
            <a:xfrm>
              <a:off x="2735" y="1466"/>
              <a:ext cx="256" cy="23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 b="1" i="0">
                  <a:latin typeface="Arial" pitchFamily="34" charset="0"/>
                </a:rPr>
                <a:t>T</a:t>
              </a:r>
            </a:p>
          </p:txBody>
        </p:sp>
        <p:sp>
          <p:nvSpPr>
            <p:cNvPr id="39" name="Line 7"/>
            <p:cNvSpPr>
              <a:spLocks noChangeShapeType="1"/>
            </p:cNvSpPr>
            <p:nvPr/>
          </p:nvSpPr>
          <p:spPr bwMode="auto">
            <a:xfrm flipV="1">
              <a:off x="692" y="1031"/>
              <a:ext cx="0" cy="56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8"/>
            <p:cNvSpPr>
              <a:spLocks noChangeShapeType="1"/>
            </p:cNvSpPr>
            <p:nvPr/>
          </p:nvSpPr>
          <p:spPr bwMode="auto">
            <a:xfrm>
              <a:off x="692" y="1590"/>
              <a:ext cx="20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" name="Group 9"/>
            <p:cNvGrpSpPr>
              <a:grpSpLocks/>
            </p:cNvGrpSpPr>
            <p:nvPr/>
          </p:nvGrpSpPr>
          <p:grpSpPr bwMode="auto">
            <a:xfrm>
              <a:off x="370" y="1025"/>
              <a:ext cx="421" cy="231"/>
              <a:chOff x="2610" y="1321"/>
              <a:chExt cx="421" cy="231"/>
            </a:xfrm>
          </p:grpSpPr>
          <p:sp>
            <p:nvSpPr>
              <p:cNvPr id="48" name="Text Box 10"/>
              <p:cNvSpPr txBox="1">
                <a:spLocks noChangeArrowheads="1"/>
              </p:cNvSpPr>
              <p:nvPr/>
            </p:nvSpPr>
            <p:spPr bwMode="auto">
              <a:xfrm>
                <a:off x="2610" y="1321"/>
                <a:ext cx="421" cy="23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b="1" i="0">
                    <a:latin typeface="Arial" pitchFamily="34" charset="0"/>
                  </a:rPr>
                  <a:t>S</a:t>
                </a:r>
              </a:p>
            </p:txBody>
          </p:sp>
          <p:sp>
            <p:nvSpPr>
              <p:cNvPr id="49" name="Line 11"/>
              <p:cNvSpPr>
                <a:spLocks noChangeShapeType="1"/>
              </p:cNvSpPr>
              <p:nvPr/>
            </p:nvSpPr>
            <p:spPr bwMode="auto">
              <a:xfrm>
                <a:off x="2776" y="1328"/>
                <a:ext cx="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" name="Line 12"/>
            <p:cNvSpPr>
              <a:spLocks noChangeShapeType="1"/>
            </p:cNvSpPr>
            <p:nvPr/>
          </p:nvSpPr>
          <p:spPr bwMode="auto">
            <a:xfrm>
              <a:off x="1449" y="1277"/>
              <a:ext cx="0" cy="2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13"/>
            <p:cNvSpPr>
              <a:spLocks noChangeShapeType="1"/>
            </p:cNvSpPr>
            <p:nvPr/>
          </p:nvSpPr>
          <p:spPr bwMode="auto">
            <a:xfrm>
              <a:off x="2225" y="1269"/>
              <a:ext cx="0" cy="2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14"/>
            <p:cNvSpPr>
              <a:spLocks noChangeShapeType="1"/>
            </p:cNvSpPr>
            <p:nvPr/>
          </p:nvSpPr>
          <p:spPr bwMode="auto">
            <a:xfrm>
              <a:off x="1841" y="1269"/>
              <a:ext cx="0" cy="2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15"/>
            <p:cNvSpPr>
              <a:spLocks noChangeShapeType="1"/>
            </p:cNvSpPr>
            <p:nvPr/>
          </p:nvSpPr>
          <p:spPr bwMode="auto">
            <a:xfrm>
              <a:off x="1850" y="1541"/>
              <a:ext cx="3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16"/>
            <p:cNvSpPr>
              <a:spLocks noChangeShapeType="1"/>
            </p:cNvSpPr>
            <p:nvPr/>
          </p:nvSpPr>
          <p:spPr bwMode="auto">
            <a:xfrm>
              <a:off x="2218" y="1269"/>
              <a:ext cx="3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17"/>
            <p:cNvSpPr>
              <a:spLocks noChangeShapeType="1"/>
            </p:cNvSpPr>
            <p:nvPr/>
          </p:nvSpPr>
          <p:spPr bwMode="auto">
            <a:xfrm>
              <a:off x="1458" y="1277"/>
              <a:ext cx="3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" name="Group 18"/>
          <p:cNvGrpSpPr>
            <a:grpSpLocks/>
          </p:cNvGrpSpPr>
          <p:nvPr/>
        </p:nvGrpSpPr>
        <p:grpSpPr bwMode="auto">
          <a:xfrm>
            <a:off x="3082925" y="2659063"/>
            <a:ext cx="4098925" cy="1069975"/>
            <a:chOff x="377" y="2267"/>
            <a:chExt cx="2582" cy="674"/>
          </a:xfrm>
        </p:grpSpPr>
        <p:sp>
          <p:nvSpPr>
            <p:cNvPr id="51" name="Text Box 19"/>
            <p:cNvSpPr txBox="1">
              <a:spLocks noChangeArrowheads="1"/>
            </p:cNvSpPr>
            <p:nvPr/>
          </p:nvSpPr>
          <p:spPr bwMode="auto">
            <a:xfrm>
              <a:off x="377" y="2267"/>
              <a:ext cx="421" cy="23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i="0">
                  <a:latin typeface="Arial" pitchFamily="34" charset="0"/>
                </a:rPr>
                <a:t>Q</a:t>
              </a:r>
            </a:p>
          </p:txBody>
        </p:sp>
        <p:sp>
          <p:nvSpPr>
            <p:cNvPr id="52" name="Text Box 20"/>
            <p:cNvSpPr txBox="1">
              <a:spLocks noChangeArrowheads="1"/>
            </p:cNvSpPr>
            <p:nvPr/>
          </p:nvSpPr>
          <p:spPr bwMode="auto">
            <a:xfrm>
              <a:off x="2734" y="2710"/>
              <a:ext cx="225" cy="23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 b="1" i="0">
                  <a:latin typeface="Arial" pitchFamily="34" charset="0"/>
                </a:rPr>
                <a:t>T</a:t>
              </a:r>
            </a:p>
          </p:txBody>
        </p:sp>
        <p:sp>
          <p:nvSpPr>
            <p:cNvPr id="53" name="Line 21"/>
            <p:cNvSpPr>
              <a:spLocks noChangeShapeType="1"/>
            </p:cNvSpPr>
            <p:nvPr/>
          </p:nvSpPr>
          <p:spPr bwMode="auto">
            <a:xfrm flipV="1">
              <a:off x="704" y="2336"/>
              <a:ext cx="0" cy="5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22"/>
            <p:cNvSpPr>
              <a:spLocks noChangeShapeType="1"/>
            </p:cNvSpPr>
            <p:nvPr/>
          </p:nvSpPr>
          <p:spPr bwMode="auto">
            <a:xfrm flipV="1">
              <a:off x="706" y="2838"/>
              <a:ext cx="20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5" name="Line 23"/>
          <p:cNvSpPr>
            <a:spLocks noChangeShapeType="1"/>
          </p:cNvSpPr>
          <p:nvPr/>
        </p:nvSpPr>
        <p:spPr bwMode="auto">
          <a:xfrm>
            <a:off x="4175125" y="1503363"/>
            <a:ext cx="0" cy="29591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Line 24"/>
          <p:cNvSpPr>
            <a:spLocks noChangeShapeType="1"/>
          </p:cNvSpPr>
          <p:nvPr/>
        </p:nvSpPr>
        <p:spPr bwMode="auto">
          <a:xfrm>
            <a:off x="4746625" y="1528763"/>
            <a:ext cx="0" cy="29591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Line 25"/>
          <p:cNvSpPr>
            <a:spLocks noChangeShapeType="1"/>
          </p:cNvSpPr>
          <p:nvPr/>
        </p:nvSpPr>
        <p:spPr bwMode="auto">
          <a:xfrm>
            <a:off x="5368925" y="1516063"/>
            <a:ext cx="0" cy="29591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Line 26"/>
          <p:cNvSpPr>
            <a:spLocks noChangeShapeType="1"/>
          </p:cNvSpPr>
          <p:nvPr/>
        </p:nvSpPr>
        <p:spPr bwMode="auto">
          <a:xfrm>
            <a:off x="5978525" y="1503363"/>
            <a:ext cx="0" cy="29591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9" name="Group 27"/>
          <p:cNvGrpSpPr>
            <a:grpSpLocks/>
          </p:cNvGrpSpPr>
          <p:nvPr/>
        </p:nvGrpSpPr>
        <p:grpSpPr bwMode="auto">
          <a:xfrm>
            <a:off x="3089275" y="1697038"/>
            <a:ext cx="4100513" cy="1069975"/>
            <a:chOff x="396" y="1674"/>
            <a:chExt cx="2583" cy="674"/>
          </a:xfrm>
        </p:grpSpPr>
        <p:sp>
          <p:nvSpPr>
            <p:cNvPr id="60" name="Line 28"/>
            <p:cNvSpPr>
              <a:spLocks noChangeShapeType="1"/>
            </p:cNvSpPr>
            <p:nvPr/>
          </p:nvSpPr>
          <p:spPr bwMode="auto">
            <a:xfrm flipH="1" flipV="1">
              <a:off x="697" y="1722"/>
              <a:ext cx="0" cy="52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29"/>
            <p:cNvSpPr>
              <a:spLocks noChangeShapeType="1"/>
            </p:cNvSpPr>
            <p:nvPr/>
          </p:nvSpPr>
          <p:spPr bwMode="auto">
            <a:xfrm>
              <a:off x="1446" y="1929"/>
              <a:ext cx="0" cy="2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Text Box 30"/>
            <p:cNvSpPr txBox="1">
              <a:spLocks noChangeArrowheads="1"/>
            </p:cNvSpPr>
            <p:nvPr/>
          </p:nvSpPr>
          <p:spPr bwMode="auto">
            <a:xfrm>
              <a:off x="2738" y="2117"/>
              <a:ext cx="241" cy="23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 b="1" i="0">
                  <a:latin typeface="Arial" pitchFamily="34" charset="0"/>
                </a:rPr>
                <a:t>T</a:t>
              </a:r>
            </a:p>
          </p:txBody>
        </p:sp>
        <p:grpSp>
          <p:nvGrpSpPr>
            <p:cNvPr id="63" name="Group 31"/>
            <p:cNvGrpSpPr>
              <a:grpSpLocks/>
            </p:cNvGrpSpPr>
            <p:nvPr/>
          </p:nvGrpSpPr>
          <p:grpSpPr bwMode="auto">
            <a:xfrm>
              <a:off x="396" y="1674"/>
              <a:ext cx="421" cy="231"/>
              <a:chOff x="2636" y="1930"/>
              <a:chExt cx="421" cy="231"/>
            </a:xfrm>
          </p:grpSpPr>
          <p:sp>
            <p:nvSpPr>
              <p:cNvPr id="71" name="Text Box 32"/>
              <p:cNvSpPr txBox="1">
                <a:spLocks noChangeArrowheads="1"/>
              </p:cNvSpPr>
              <p:nvPr/>
            </p:nvSpPr>
            <p:spPr bwMode="auto">
              <a:xfrm>
                <a:off x="2636" y="1930"/>
                <a:ext cx="421" cy="23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b="1" i="0">
                    <a:latin typeface="Arial" pitchFamily="34" charset="0"/>
                  </a:rPr>
                  <a:t>R</a:t>
                </a:r>
              </a:p>
            </p:txBody>
          </p:sp>
          <p:sp>
            <p:nvSpPr>
              <p:cNvPr id="72" name="Line 33"/>
              <p:cNvSpPr>
                <a:spLocks noChangeShapeType="1"/>
              </p:cNvSpPr>
              <p:nvPr/>
            </p:nvSpPr>
            <p:spPr bwMode="auto">
              <a:xfrm>
                <a:off x="2776" y="1960"/>
                <a:ext cx="1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" name="Line 34"/>
            <p:cNvSpPr>
              <a:spLocks noChangeShapeType="1"/>
            </p:cNvSpPr>
            <p:nvPr/>
          </p:nvSpPr>
          <p:spPr bwMode="auto">
            <a:xfrm>
              <a:off x="690" y="2238"/>
              <a:ext cx="20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35"/>
            <p:cNvSpPr>
              <a:spLocks noChangeShapeType="1"/>
            </p:cNvSpPr>
            <p:nvPr/>
          </p:nvSpPr>
          <p:spPr bwMode="auto">
            <a:xfrm>
              <a:off x="696" y="1936"/>
              <a:ext cx="7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36"/>
            <p:cNvSpPr>
              <a:spLocks noChangeShapeType="1"/>
            </p:cNvSpPr>
            <p:nvPr/>
          </p:nvSpPr>
          <p:spPr bwMode="auto">
            <a:xfrm>
              <a:off x="1458" y="2197"/>
              <a:ext cx="3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37"/>
            <p:cNvSpPr>
              <a:spLocks noChangeShapeType="1"/>
            </p:cNvSpPr>
            <p:nvPr/>
          </p:nvSpPr>
          <p:spPr bwMode="auto">
            <a:xfrm>
              <a:off x="2234" y="2203"/>
              <a:ext cx="3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38"/>
            <p:cNvSpPr>
              <a:spLocks noChangeShapeType="1"/>
            </p:cNvSpPr>
            <p:nvPr/>
          </p:nvSpPr>
          <p:spPr bwMode="auto">
            <a:xfrm>
              <a:off x="1834" y="1941"/>
              <a:ext cx="3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39"/>
            <p:cNvSpPr>
              <a:spLocks noChangeShapeType="1"/>
            </p:cNvSpPr>
            <p:nvPr/>
          </p:nvSpPr>
          <p:spPr bwMode="auto">
            <a:xfrm>
              <a:off x="1830" y="1933"/>
              <a:ext cx="0" cy="2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40"/>
            <p:cNvSpPr>
              <a:spLocks noChangeShapeType="1"/>
            </p:cNvSpPr>
            <p:nvPr/>
          </p:nvSpPr>
          <p:spPr bwMode="auto">
            <a:xfrm>
              <a:off x="2222" y="1937"/>
              <a:ext cx="0" cy="2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3" name="Group 41"/>
          <p:cNvGrpSpPr>
            <a:grpSpLocks/>
          </p:cNvGrpSpPr>
          <p:nvPr/>
        </p:nvGrpSpPr>
        <p:grpSpPr bwMode="auto">
          <a:xfrm>
            <a:off x="3578225" y="3484563"/>
            <a:ext cx="617538" cy="525462"/>
            <a:chOff x="654" y="2365"/>
            <a:chExt cx="389" cy="331"/>
          </a:xfrm>
        </p:grpSpPr>
        <p:sp>
          <p:nvSpPr>
            <p:cNvPr id="74" name="Line 42"/>
            <p:cNvSpPr>
              <a:spLocks noChangeShapeType="1"/>
            </p:cNvSpPr>
            <p:nvPr/>
          </p:nvSpPr>
          <p:spPr bwMode="auto">
            <a:xfrm>
              <a:off x="654" y="2365"/>
              <a:ext cx="38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43"/>
            <p:cNvSpPr>
              <a:spLocks noChangeShapeType="1"/>
            </p:cNvSpPr>
            <p:nvPr/>
          </p:nvSpPr>
          <p:spPr bwMode="auto">
            <a:xfrm>
              <a:off x="680" y="2696"/>
              <a:ext cx="344" cy="0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6" name="Group 44"/>
          <p:cNvGrpSpPr>
            <a:grpSpLocks/>
          </p:cNvGrpSpPr>
          <p:nvPr/>
        </p:nvGrpSpPr>
        <p:grpSpPr bwMode="auto">
          <a:xfrm>
            <a:off x="4165600" y="3049588"/>
            <a:ext cx="620713" cy="1400175"/>
            <a:chOff x="1072" y="2091"/>
            <a:chExt cx="391" cy="882"/>
          </a:xfrm>
        </p:grpSpPr>
        <p:sp>
          <p:nvSpPr>
            <p:cNvPr id="77" name="Line 45"/>
            <p:cNvSpPr>
              <a:spLocks noChangeShapeType="1"/>
            </p:cNvSpPr>
            <p:nvPr/>
          </p:nvSpPr>
          <p:spPr bwMode="auto">
            <a:xfrm>
              <a:off x="1074" y="2091"/>
              <a:ext cx="38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46"/>
            <p:cNvSpPr>
              <a:spLocks noChangeShapeType="1"/>
            </p:cNvSpPr>
            <p:nvPr/>
          </p:nvSpPr>
          <p:spPr bwMode="auto">
            <a:xfrm>
              <a:off x="1081" y="2093"/>
              <a:ext cx="0" cy="2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47"/>
            <p:cNvSpPr>
              <a:spLocks noChangeShapeType="1"/>
            </p:cNvSpPr>
            <p:nvPr/>
          </p:nvSpPr>
          <p:spPr bwMode="auto">
            <a:xfrm>
              <a:off x="1081" y="2693"/>
              <a:ext cx="0" cy="280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48"/>
            <p:cNvSpPr>
              <a:spLocks noChangeShapeType="1"/>
            </p:cNvSpPr>
            <p:nvPr/>
          </p:nvSpPr>
          <p:spPr bwMode="auto">
            <a:xfrm>
              <a:off x="1072" y="2968"/>
              <a:ext cx="376" cy="0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1" name="Group 49"/>
          <p:cNvGrpSpPr>
            <a:grpSpLocks/>
          </p:cNvGrpSpPr>
          <p:nvPr/>
        </p:nvGrpSpPr>
        <p:grpSpPr bwMode="auto">
          <a:xfrm>
            <a:off x="4764088" y="3065463"/>
            <a:ext cx="622300" cy="1397000"/>
            <a:chOff x="1473" y="2101"/>
            <a:chExt cx="392" cy="880"/>
          </a:xfrm>
        </p:grpSpPr>
        <p:sp>
          <p:nvSpPr>
            <p:cNvPr id="82" name="Line 50"/>
            <p:cNvSpPr>
              <a:spLocks noChangeShapeType="1"/>
            </p:cNvSpPr>
            <p:nvPr/>
          </p:nvSpPr>
          <p:spPr bwMode="auto">
            <a:xfrm>
              <a:off x="1473" y="2101"/>
              <a:ext cx="0" cy="2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51"/>
            <p:cNvSpPr>
              <a:spLocks noChangeShapeType="1"/>
            </p:cNvSpPr>
            <p:nvPr/>
          </p:nvSpPr>
          <p:spPr bwMode="auto">
            <a:xfrm>
              <a:off x="1476" y="2373"/>
              <a:ext cx="38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52"/>
            <p:cNvSpPr>
              <a:spLocks noChangeShapeType="1"/>
            </p:cNvSpPr>
            <p:nvPr/>
          </p:nvSpPr>
          <p:spPr bwMode="auto">
            <a:xfrm>
              <a:off x="1473" y="2701"/>
              <a:ext cx="0" cy="280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53"/>
            <p:cNvSpPr>
              <a:spLocks noChangeShapeType="1"/>
            </p:cNvSpPr>
            <p:nvPr/>
          </p:nvSpPr>
          <p:spPr bwMode="auto">
            <a:xfrm>
              <a:off x="1480" y="2704"/>
              <a:ext cx="376" cy="0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6" name="Group 54"/>
          <p:cNvGrpSpPr>
            <a:grpSpLocks/>
          </p:cNvGrpSpPr>
          <p:nvPr/>
        </p:nvGrpSpPr>
        <p:grpSpPr bwMode="auto">
          <a:xfrm>
            <a:off x="5373688" y="3065463"/>
            <a:ext cx="622300" cy="1397000"/>
            <a:chOff x="1913" y="2101"/>
            <a:chExt cx="392" cy="880"/>
          </a:xfrm>
        </p:grpSpPr>
        <p:sp>
          <p:nvSpPr>
            <p:cNvPr id="87" name="Line 55"/>
            <p:cNvSpPr>
              <a:spLocks noChangeShapeType="1"/>
            </p:cNvSpPr>
            <p:nvPr/>
          </p:nvSpPr>
          <p:spPr bwMode="auto">
            <a:xfrm>
              <a:off x="1913" y="2101"/>
              <a:ext cx="0" cy="2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56"/>
            <p:cNvSpPr>
              <a:spLocks noChangeShapeType="1"/>
            </p:cNvSpPr>
            <p:nvPr/>
          </p:nvSpPr>
          <p:spPr bwMode="auto">
            <a:xfrm>
              <a:off x="1916" y="2101"/>
              <a:ext cx="38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57"/>
            <p:cNvSpPr>
              <a:spLocks noChangeShapeType="1"/>
            </p:cNvSpPr>
            <p:nvPr/>
          </p:nvSpPr>
          <p:spPr bwMode="auto">
            <a:xfrm>
              <a:off x="1921" y="2701"/>
              <a:ext cx="0" cy="280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58"/>
            <p:cNvSpPr>
              <a:spLocks noChangeShapeType="1"/>
            </p:cNvSpPr>
            <p:nvPr/>
          </p:nvSpPr>
          <p:spPr bwMode="auto">
            <a:xfrm>
              <a:off x="1920" y="2968"/>
              <a:ext cx="376" cy="0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1" name="Group 59"/>
          <p:cNvGrpSpPr>
            <a:grpSpLocks/>
          </p:cNvGrpSpPr>
          <p:nvPr/>
        </p:nvGrpSpPr>
        <p:grpSpPr bwMode="auto">
          <a:xfrm>
            <a:off x="5988050" y="3052763"/>
            <a:ext cx="617538" cy="1393825"/>
            <a:chOff x="2420" y="2093"/>
            <a:chExt cx="389" cy="878"/>
          </a:xfrm>
        </p:grpSpPr>
        <p:sp>
          <p:nvSpPr>
            <p:cNvPr id="92" name="Line 60"/>
            <p:cNvSpPr>
              <a:spLocks noChangeShapeType="1"/>
            </p:cNvSpPr>
            <p:nvPr/>
          </p:nvSpPr>
          <p:spPr bwMode="auto">
            <a:xfrm>
              <a:off x="2425" y="2093"/>
              <a:ext cx="0" cy="2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61"/>
            <p:cNvSpPr>
              <a:spLocks noChangeShapeType="1"/>
            </p:cNvSpPr>
            <p:nvPr/>
          </p:nvSpPr>
          <p:spPr bwMode="auto">
            <a:xfrm>
              <a:off x="2420" y="2365"/>
              <a:ext cx="38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62"/>
            <p:cNvSpPr>
              <a:spLocks noChangeShapeType="1"/>
            </p:cNvSpPr>
            <p:nvPr/>
          </p:nvSpPr>
          <p:spPr bwMode="auto">
            <a:xfrm>
              <a:off x="2425" y="2691"/>
              <a:ext cx="0" cy="280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Line 63"/>
            <p:cNvSpPr>
              <a:spLocks noChangeShapeType="1"/>
            </p:cNvSpPr>
            <p:nvPr/>
          </p:nvSpPr>
          <p:spPr bwMode="auto">
            <a:xfrm>
              <a:off x="2432" y="2696"/>
              <a:ext cx="376" cy="0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1" name="Group 69"/>
          <p:cNvGrpSpPr>
            <a:grpSpLocks/>
          </p:cNvGrpSpPr>
          <p:nvPr/>
        </p:nvGrpSpPr>
        <p:grpSpPr bwMode="auto">
          <a:xfrm>
            <a:off x="3109913" y="3649663"/>
            <a:ext cx="4087812" cy="1030287"/>
            <a:chOff x="737" y="3312"/>
            <a:chExt cx="2575" cy="649"/>
          </a:xfrm>
        </p:grpSpPr>
        <p:sp>
          <p:nvSpPr>
            <p:cNvPr id="102" name="Line 70"/>
            <p:cNvSpPr>
              <a:spLocks noChangeShapeType="1"/>
            </p:cNvSpPr>
            <p:nvPr/>
          </p:nvSpPr>
          <p:spPr bwMode="auto">
            <a:xfrm flipH="1" flipV="1">
              <a:off x="1032" y="3341"/>
              <a:ext cx="1" cy="5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Text Box 71"/>
            <p:cNvSpPr txBox="1">
              <a:spLocks noChangeArrowheads="1"/>
            </p:cNvSpPr>
            <p:nvPr/>
          </p:nvSpPr>
          <p:spPr bwMode="auto">
            <a:xfrm>
              <a:off x="3086" y="3730"/>
              <a:ext cx="226" cy="23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 b="1" i="0">
                  <a:latin typeface="Arial" pitchFamily="34" charset="0"/>
                </a:rPr>
                <a:t>T</a:t>
              </a:r>
            </a:p>
          </p:txBody>
        </p:sp>
        <p:grpSp>
          <p:nvGrpSpPr>
            <p:cNvPr id="104" name="Group 72"/>
            <p:cNvGrpSpPr>
              <a:grpSpLocks/>
            </p:cNvGrpSpPr>
            <p:nvPr/>
          </p:nvGrpSpPr>
          <p:grpSpPr bwMode="auto">
            <a:xfrm>
              <a:off x="737" y="3312"/>
              <a:ext cx="421" cy="231"/>
              <a:chOff x="2723" y="3312"/>
              <a:chExt cx="421" cy="231"/>
            </a:xfrm>
          </p:grpSpPr>
          <p:sp>
            <p:nvSpPr>
              <p:cNvPr id="106" name="Text Box 73"/>
              <p:cNvSpPr txBox="1">
                <a:spLocks noChangeArrowheads="1"/>
              </p:cNvSpPr>
              <p:nvPr/>
            </p:nvSpPr>
            <p:spPr bwMode="auto">
              <a:xfrm>
                <a:off x="2723" y="3312"/>
                <a:ext cx="421" cy="23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b="1" i="0">
                    <a:latin typeface="Arial" pitchFamily="34" charset="0"/>
                  </a:rPr>
                  <a:t>Q</a:t>
                </a:r>
              </a:p>
            </p:txBody>
          </p:sp>
          <p:sp>
            <p:nvSpPr>
              <p:cNvPr id="107" name="Line 74"/>
              <p:cNvSpPr>
                <a:spLocks noChangeShapeType="1"/>
              </p:cNvSpPr>
              <p:nvPr/>
            </p:nvSpPr>
            <p:spPr bwMode="auto">
              <a:xfrm>
                <a:off x="2880" y="3330"/>
                <a:ext cx="10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5" name="Line 75"/>
            <p:cNvSpPr>
              <a:spLocks noChangeShapeType="1"/>
            </p:cNvSpPr>
            <p:nvPr/>
          </p:nvSpPr>
          <p:spPr bwMode="auto">
            <a:xfrm>
              <a:off x="1032" y="3840"/>
              <a:ext cx="203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08" name="矩形 107"/>
          <p:cNvSpPr/>
          <p:nvPr/>
        </p:nvSpPr>
        <p:spPr>
          <a:xfrm>
            <a:off x="228600" y="742950"/>
            <a:ext cx="2667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 smtClean="0">
                <a:solidFill>
                  <a:schemeClr val="accent6"/>
                </a:solidFill>
                <a:latin typeface="黑体" pitchFamily="49" charset="-122"/>
                <a:ea typeface="黑体" pitchFamily="49" charset="-122"/>
              </a:rPr>
              <a:t>例：已知基本</a:t>
            </a:r>
            <a:r>
              <a:rPr lang="en-US" altLang="zh-CN" sz="1400" b="1" dirty="0" smtClean="0">
                <a:solidFill>
                  <a:schemeClr val="accent6"/>
                </a:solidFill>
                <a:ea typeface="黑体" pitchFamily="49" charset="-122"/>
              </a:rPr>
              <a:t>SR</a:t>
            </a:r>
            <a:r>
              <a:rPr lang="zh-CN" altLang="en-US" sz="1400" b="1" dirty="0" smtClean="0">
                <a:solidFill>
                  <a:schemeClr val="accent6"/>
                </a:solidFill>
                <a:ea typeface="黑体" pitchFamily="49" charset="-122"/>
              </a:rPr>
              <a:t>锁存</a:t>
            </a:r>
            <a:r>
              <a:rPr lang="zh-CN" altLang="en-US" sz="1400" b="1" dirty="0" smtClean="0">
                <a:solidFill>
                  <a:schemeClr val="accent6"/>
                </a:solidFill>
                <a:latin typeface="黑体" pitchFamily="49" charset="-122"/>
                <a:ea typeface="黑体" pitchFamily="49" charset="-122"/>
              </a:rPr>
              <a:t>器的输入</a:t>
            </a:r>
            <a:endParaRPr lang="en-US" altLang="zh-CN" sz="1400" b="1" dirty="0" smtClean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r>
              <a:rPr lang="zh-CN" altLang="en-US" sz="1400" b="1" dirty="0" smtClean="0">
                <a:solidFill>
                  <a:schemeClr val="accent6"/>
                </a:solidFill>
                <a:latin typeface="黑体" pitchFamily="49" charset="-122"/>
                <a:ea typeface="黑体" pitchFamily="49" charset="-122"/>
              </a:rPr>
              <a:t>信号波形如图</a:t>
            </a:r>
            <a:r>
              <a:rPr lang="en-US" altLang="zh-CN" sz="1400" b="1" dirty="0" smtClean="0">
                <a:solidFill>
                  <a:schemeClr val="accent6"/>
                </a:solidFill>
                <a:latin typeface="黑体" pitchFamily="49" charset="-122"/>
                <a:ea typeface="黑体" pitchFamily="49" charset="-122"/>
              </a:rPr>
              <a:t>8</a:t>
            </a:r>
            <a:r>
              <a:rPr lang="zh-CN" altLang="en-US" sz="1400" b="1" dirty="0" smtClean="0">
                <a:solidFill>
                  <a:schemeClr val="accent6"/>
                </a:solidFill>
                <a:latin typeface="黑体" pitchFamily="49" charset="-122"/>
                <a:ea typeface="黑体" pitchFamily="49" charset="-122"/>
              </a:rPr>
              <a:t>所示，</a:t>
            </a:r>
            <a:r>
              <a:rPr lang="en-US" altLang="zh-CN" sz="1400" b="1" dirty="0" smtClean="0">
                <a:solidFill>
                  <a:schemeClr val="accent6"/>
                </a:solidFill>
                <a:latin typeface="黑体" pitchFamily="49" charset="-122"/>
                <a:ea typeface="黑体" pitchFamily="49" charset="-122"/>
              </a:rPr>
              <a:t>Q</a:t>
            </a:r>
            <a:r>
              <a:rPr lang="zh-CN" altLang="en-US" sz="1400" b="1" dirty="0" smtClean="0">
                <a:solidFill>
                  <a:schemeClr val="accent6"/>
                </a:solidFill>
                <a:latin typeface="黑体" pitchFamily="49" charset="-122"/>
                <a:ea typeface="黑体" pitchFamily="49" charset="-122"/>
              </a:rPr>
              <a:t>的初始状态为</a:t>
            </a:r>
            <a:r>
              <a:rPr lang="en-US" altLang="zh-CN" sz="1400" b="1" dirty="0" smtClean="0">
                <a:solidFill>
                  <a:schemeClr val="accent6"/>
                </a:solidFill>
                <a:latin typeface="黑体" pitchFamily="49" charset="-122"/>
                <a:ea typeface="黑体" pitchFamily="49" charset="-122"/>
              </a:rPr>
              <a:t>0</a:t>
            </a:r>
            <a:r>
              <a:rPr lang="zh-CN" altLang="en-US" sz="1400" b="1" dirty="0" smtClean="0">
                <a:solidFill>
                  <a:schemeClr val="accent6"/>
                </a:solidFill>
                <a:latin typeface="黑体" pitchFamily="49" charset="-122"/>
                <a:ea typeface="黑体" pitchFamily="49" charset="-122"/>
              </a:rPr>
              <a:t>。</a:t>
            </a:r>
            <a:endParaRPr lang="zh-CN" altLang="en-US" sz="1400" dirty="0">
              <a:solidFill>
                <a:schemeClr val="accent6"/>
              </a:solidFill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4800600" y="46291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8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5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 108"/>
          <p:cNvSpPr/>
          <p:nvPr/>
        </p:nvSpPr>
        <p:spPr>
          <a:xfrm>
            <a:off x="0" y="0"/>
            <a:ext cx="20633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锁存器：或非门构成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4" name="组合 37"/>
          <p:cNvGrpSpPr>
            <a:grpSpLocks/>
          </p:cNvGrpSpPr>
          <p:nvPr/>
        </p:nvGrpSpPr>
        <p:grpSpPr bwMode="auto">
          <a:xfrm>
            <a:off x="533401" y="1123950"/>
            <a:ext cx="1752600" cy="2590800"/>
            <a:chOff x="945631" y="2204864"/>
            <a:chExt cx="1916186" cy="3457017"/>
          </a:xfrm>
        </p:grpSpPr>
        <p:grpSp>
          <p:nvGrpSpPr>
            <p:cNvPr id="35" name="Group 22"/>
            <p:cNvGrpSpPr>
              <a:grpSpLocks/>
            </p:cNvGrpSpPr>
            <p:nvPr/>
          </p:nvGrpSpPr>
          <p:grpSpPr bwMode="auto">
            <a:xfrm rot="-5400000">
              <a:off x="419374" y="3235946"/>
              <a:ext cx="2925763" cy="1873250"/>
              <a:chOff x="-29" y="29"/>
              <a:chExt cx="1843" cy="1180"/>
            </a:xfrm>
          </p:grpSpPr>
          <p:grpSp>
            <p:nvGrpSpPr>
              <p:cNvPr id="40" name="Group 23"/>
              <p:cNvGrpSpPr>
                <a:grpSpLocks/>
              </p:cNvGrpSpPr>
              <p:nvPr/>
            </p:nvGrpSpPr>
            <p:grpSpPr bwMode="auto">
              <a:xfrm>
                <a:off x="614" y="57"/>
                <a:ext cx="624" cy="384"/>
                <a:chOff x="0" y="0"/>
                <a:chExt cx="624" cy="384"/>
              </a:xfrm>
            </p:grpSpPr>
            <p:sp>
              <p:nvSpPr>
                <p:cNvPr id="59" name="Arc 24"/>
                <p:cNvSpPr>
                  <a:spLocks/>
                </p:cNvSpPr>
                <p:nvPr/>
              </p:nvSpPr>
              <p:spPr bwMode="auto">
                <a:xfrm>
                  <a:off x="0" y="0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bevel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Arc 25"/>
                <p:cNvSpPr>
                  <a:spLocks/>
                </p:cNvSpPr>
                <p:nvPr/>
              </p:nvSpPr>
              <p:spPr bwMode="auto">
                <a:xfrm flipV="1">
                  <a:off x="0" y="192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bevel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" name="Arc 26"/>
                <p:cNvSpPr>
                  <a:spLocks/>
                </p:cNvSpPr>
                <p:nvPr/>
              </p:nvSpPr>
              <p:spPr bwMode="auto">
                <a:xfrm>
                  <a:off x="0" y="0"/>
                  <a:ext cx="96" cy="375"/>
                </a:xfrm>
                <a:custGeom>
                  <a:avLst/>
                  <a:gdLst>
                    <a:gd name="T0" fmla="*/ 0 w 21600"/>
                    <a:gd name="T1" fmla="*/ 0 h 42159"/>
                    <a:gd name="T2" fmla="*/ 0 w 21600"/>
                    <a:gd name="T3" fmla="*/ 0 h 42159"/>
                    <a:gd name="T4" fmla="*/ 0 w 21600"/>
                    <a:gd name="T5" fmla="*/ 0 h 42159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2159"/>
                    <a:gd name="T11" fmla="*/ 21600 w 21600"/>
                    <a:gd name="T12" fmla="*/ 42159 h 4215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2159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0976"/>
                        <a:pt x="15550" y="39282"/>
                        <a:pt x="6624" y="42158"/>
                      </a:cubicBezTo>
                    </a:path>
                    <a:path w="21600" h="42159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0976"/>
                        <a:pt x="15550" y="39282"/>
                        <a:pt x="6624" y="42158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bevel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Oval 27"/>
                <p:cNvSpPr>
                  <a:spLocks noChangeArrowheads="1"/>
                </p:cNvSpPr>
                <p:nvPr/>
              </p:nvSpPr>
              <p:spPr bwMode="auto">
                <a:xfrm>
                  <a:off x="528" y="144"/>
                  <a:ext cx="96" cy="96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bevel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1" name="Line 28"/>
              <p:cNvSpPr>
                <a:spLocks noChangeShapeType="1"/>
              </p:cNvSpPr>
              <p:nvPr/>
            </p:nvSpPr>
            <p:spPr bwMode="auto">
              <a:xfrm flipH="1">
                <a:off x="230" y="153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42" name="Group 29"/>
              <p:cNvGrpSpPr>
                <a:grpSpLocks/>
              </p:cNvGrpSpPr>
              <p:nvPr/>
            </p:nvGrpSpPr>
            <p:grpSpPr bwMode="auto">
              <a:xfrm>
                <a:off x="614" y="825"/>
                <a:ext cx="624" cy="384"/>
                <a:chOff x="0" y="0"/>
                <a:chExt cx="624" cy="384"/>
              </a:xfrm>
            </p:grpSpPr>
            <p:sp>
              <p:nvSpPr>
                <p:cNvPr id="55" name="Arc 30"/>
                <p:cNvSpPr>
                  <a:spLocks/>
                </p:cNvSpPr>
                <p:nvPr/>
              </p:nvSpPr>
              <p:spPr bwMode="auto">
                <a:xfrm>
                  <a:off x="0" y="0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bevel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Arc 31"/>
                <p:cNvSpPr>
                  <a:spLocks/>
                </p:cNvSpPr>
                <p:nvPr/>
              </p:nvSpPr>
              <p:spPr bwMode="auto">
                <a:xfrm flipV="1">
                  <a:off x="0" y="192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bevel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Arc 32"/>
                <p:cNvSpPr>
                  <a:spLocks/>
                </p:cNvSpPr>
                <p:nvPr/>
              </p:nvSpPr>
              <p:spPr bwMode="auto">
                <a:xfrm>
                  <a:off x="0" y="0"/>
                  <a:ext cx="96" cy="375"/>
                </a:xfrm>
                <a:custGeom>
                  <a:avLst/>
                  <a:gdLst>
                    <a:gd name="T0" fmla="*/ 0 w 21600"/>
                    <a:gd name="T1" fmla="*/ 0 h 42159"/>
                    <a:gd name="T2" fmla="*/ 0 w 21600"/>
                    <a:gd name="T3" fmla="*/ 0 h 42159"/>
                    <a:gd name="T4" fmla="*/ 0 w 21600"/>
                    <a:gd name="T5" fmla="*/ 0 h 42159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2159"/>
                    <a:gd name="T11" fmla="*/ 21600 w 21600"/>
                    <a:gd name="T12" fmla="*/ 42159 h 4215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2159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0976"/>
                        <a:pt x="15550" y="39282"/>
                        <a:pt x="6624" y="42158"/>
                      </a:cubicBezTo>
                    </a:path>
                    <a:path w="21600" h="42159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0976"/>
                        <a:pt x="15550" y="39282"/>
                        <a:pt x="6624" y="42158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bevel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Oval 33"/>
                <p:cNvSpPr>
                  <a:spLocks noChangeArrowheads="1"/>
                </p:cNvSpPr>
                <p:nvPr/>
              </p:nvSpPr>
              <p:spPr bwMode="auto">
                <a:xfrm>
                  <a:off x="528" y="144"/>
                  <a:ext cx="96" cy="96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bevel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3" name="Line 34"/>
              <p:cNvSpPr>
                <a:spLocks noChangeShapeType="1"/>
              </p:cNvSpPr>
              <p:nvPr/>
            </p:nvSpPr>
            <p:spPr bwMode="auto">
              <a:xfrm flipH="1">
                <a:off x="230" y="1113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" name="Line 35"/>
              <p:cNvSpPr>
                <a:spLocks noChangeShapeType="1"/>
              </p:cNvSpPr>
              <p:nvPr/>
            </p:nvSpPr>
            <p:spPr bwMode="auto">
              <a:xfrm>
                <a:off x="422" y="345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" name="Line 36"/>
              <p:cNvSpPr>
                <a:spLocks noChangeShapeType="1"/>
              </p:cNvSpPr>
              <p:nvPr/>
            </p:nvSpPr>
            <p:spPr bwMode="auto">
              <a:xfrm>
                <a:off x="1238" y="249"/>
                <a:ext cx="57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" name="Line 37"/>
              <p:cNvSpPr>
                <a:spLocks noChangeShapeType="1"/>
              </p:cNvSpPr>
              <p:nvPr/>
            </p:nvSpPr>
            <p:spPr bwMode="auto">
              <a:xfrm>
                <a:off x="422" y="921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7" name="Line 38"/>
              <p:cNvSpPr>
                <a:spLocks noChangeShapeType="1"/>
              </p:cNvSpPr>
              <p:nvPr/>
            </p:nvSpPr>
            <p:spPr bwMode="auto">
              <a:xfrm>
                <a:off x="1238" y="1017"/>
                <a:ext cx="57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" name="Line 39"/>
              <p:cNvSpPr>
                <a:spLocks noChangeShapeType="1"/>
              </p:cNvSpPr>
              <p:nvPr/>
            </p:nvSpPr>
            <p:spPr bwMode="auto">
              <a:xfrm>
                <a:off x="1430" y="249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 type="oval" w="med" len="med"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9" name="Line 40"/>
              <p:cNvSpPr>
                <a:spLocks noChangeShapeType="1"/>
              </p:cNvSpPr>
              <p:nvPr/>
            </p:nvSpPr>
            <p:spPr bwMode="auto">
              <a:xfrm flipV="1">
                <a:off x="1430" y="825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 type="oval" w="med" len="med"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0" name="Line 41"/>
              <p:cNvSpPr>
                <a:spLocks noChangeShapeType="1"/>
              </p:cNvSpPr>
              <p:nvPr/>
            </p:nvSpPr>
            <p:spPr bwMode="auto">
              <a:xfrm>
                <a:off x="422" y="336"/>
                <a:ext cx="0" cy="15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1" name="Line 42"/>
              <p:cNvSpPr>
                <a:spLocks noChangeShapeType="1"/>
              </p:cNvSpPr>
              <p:nvPr/>
            </p:nvSpPr>
            <p:spPr bwMode="auto">
              <a:xfrm>
                <a:off x="422" y="480"/>
                <a:ext cx="1008" cy="34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2" name="Line 43"/>
              <p:cNvSpPr>
                <a:spLocks noChangeShapeType="1"/>
              </p:cNvSpPr>
              <p:nvPr/>
            </p:nvSpPr>
            <p:spPr bwMode="auto">
              <a:xfrm>
                <a:off x="422" y="777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3" name="Line 44"/>
              <p:cNvSpPr>
                <a:spLocks noChangeShapeType="1"/>
              </p:cNvSpPr>
              <p:nvPr/>
            </p:nvSpPr>
            <p:spPr bwMode="auto">
              <a:xfrm flipV="1">
                <a:off x="422" y="441"/>
                <a:ext cx="1008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4" name="Text Box 47"/>
              <p:cNvSpPr txBox="1">
                <a:spLocks noChangeArrowheads="1"/>
              </p:cNvSpPr>
              <p:nvPr/>
            </p:nvSpPr>
            <p:spPr bwMode="auto">
              <a:xfrm rot="5400000">
                <a:off x="0" y="0"/>
                <a:ext cx="23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/>
                  <a:t>R</a:t>
                </a:r>
              </a:p>
            </p:txBody>
          </p:sp>
        </p:grpSp>
        <p:sp>
          <p:nvSpPr>
            <p:cNvPr id="36" name="Text Box 47"/>
            <p:cNvSpPr txBox="1">
              <a:spLocks noChangeArrowheads="1"/>
            </p:cNvSpPr>
            <p:nvPr/>
          </p:nvSpPr>
          <p:spPr bwMode="auto">
            <a:xfrm>
              <a:off x="2411760" y="5229199"/>
              <a:ext cx="450057" cy="4326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dirty="0" smtClean="0"/>
                <a:t>   S</a:t>
              </a:r>
              <a:endParaRPr lang="en-US" altLang="zh-CN" dirty="0"/>
            </a:p>
          </p:txBody>
        </p:sp>
        <p:sp>
          <p:nvSpPr>
            <p:cNvPr id="37" name="Text Box 47"/>
            <p:cNvSpPr txBox="1">
              <a:spLocks noChangeArrowheads="1"/>
            </p:cNvSpPr>
            <p:nvPr/>
          </p:nvSpPr>
          <p:spPr bwMode="auto">
            <a:xfrm>
              <a:off x="1115616" y="2204864"/>
              <a:ext cx="40267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/>
                <a:t>Q</a:t>
              </a:r>
            </a:p>
          </p:txBody>
        </p:sp>
        <p:sp>
          <p:nvSpPr>
            <p:cNvPr id="38" name="Text Box 47"/>
            <p:cNvSpPr txBox="1">
              <a:spLocks noChangeArrowheads="1"/>
            </p:cNvSpPr>
            <p:nvPr/>
          </p:nvSpPr>
          <p:spPr bwMode="auto">
            <a:xfrm>
              <a:off x="2374579" y="2204864"/>
              <a:ext cx="40267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/>
                <a:t>Q</a:t>
              </a:r>
            </a:p>
          </p:txBody>
        </p:sp>
        <p:cxnSp>
          <p:nvCxnSpPr>
            <p:cNvPr id="39" name="直接连接符 34"/>
            <p:cNvCxnSpPr>
              <a:cxnSpLocks noChangeShapeType="1"/>
            </p:cNvCxnSpPr>
            <p:nvPr/>
          </p:nvCxnSpPr>
          <p:spPr bwMode="auto">
            <a:xfrm>
              <a:off x="2467811" y="2273129"/>
              <a:ext cx="158703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</p:cxnSp>
      </p:grpSp>
      <p:sp>
        <p:nvSpPr>
          <p:cNvPr id="63" name="TextBox 62"/>
          <p:cNvSpPr txBox="1"/>
          <p:nvPr/>
        </p:nvSpPr>
        <p:spPr>
          <a:xfrm>
            <a:off x="914400" y="37909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9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" name="Text Box 85"/>
          <p:cNvSpPr txBox="1">
            <a:spLocks noChangeArrowheads="1"/>
          </p:cNvSpPr>
          <p:nvPr/>
        </p:nvSpPr>
        <p:spPr bwMode="auto">
          <a:xfrm>
            <a:off x="5105400" y="1200150"/>
            <a:ext cx="14734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表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次态真值表</a:t>
            </a:r>
          </a:p>
        </p:txBody>
      </p:sp>
      <p:graphicFrame>
        <p:nvGraphicFramePr>
          <p:cNvPr id="65" name="Group 34"/>
          <p:cNvGraphicFramePr>
            <a:graphicFrameLocks noGrp="1"/>
          </p:cNvGraphicFramePr>
          <p:nvPr/>
        </p:nvGraphicFramePr>
        <p:xfrm>
          <a:off x="4953000" y="1581150"/>
          <a:ext cx="1828800" cy="1859280"/>
        </p:xfrm>
        <a:graphic>
          <a:graphicData uri="http://schemas.openxmlformats.org/drawingml/2006/table">
            <a:tbl>
              <a:tblPr/>
              <a:tblGrid>
                <a:gridCol w="990600"/>
                <a:gridCol w="838200"/>
              </a:tblGrid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S    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n+1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0     0</a:t>
                      </a:r>
                      <a:endParaRPr kumimoji="1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zh-CN" sz="1800" b="0" i="0" u="none" strike="noStrike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0     1</a:t>
                      </a:r>
                      <a:endParaRPr kumimoji="1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1     0</a:t>
                      </a:r>
                      <a:endParaRPr kumimoji="1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1     1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66" name="Group 243"/>
          <p:cNvGrpSpPr>
            <a:grpSpLocks/>
          </p:cNvGrpSpPr>
          <p:nvPr/>
        </p:nvGrpSpPr>
        <p:grpSpPr bwMode="auto">
          <a:xfrm>
            <a:off x="2971800" y="1733550"/>
            <a:ext cx="1143000" cy="1566899"/>
            <a:chOff x="2784" y="1488"/>
            <a:chExt cx="539" cy="894"/>
          </a:xfrm>
        </p:grpSpPr>
        <p:sp>
          <p:nvSpPr>
            <p:cNvPr id="67" name="Rectangle 244"/>
            <p:cNvSpPr>
              <a:spLocks noChangeArrowheads="1"/>
            </p:cNvSpPr>
            <p:nvPr/>
          </p:nvSpPr>
          <p:spPr bwMode="auto">
            <a:xfrm>
              <a:off x="2799" y="1776"/>
              <a:ext cx="48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68" name="Line 245"/>
            <p:cNvSpPr>
              <a:spLocks noChangeShapeType="1"/>
            </p:cNvSpPr>
            <p:nvPr/>
          </p:nvSpPr>
          <p:spPr bwMode="auto">
            <a:xfrm flipV="1">
              <a:off x="2895" y="1680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" name="Line 246"/>
            <p:cNvSpPr>
              <a:spLocks noChangeShapeType="1"/>
            </p:cNvSpPr>
            <p:nvPr/>
          </p:nvSpPr>
          <p:spPr bwMode="auto">
            <a:xfrm flipV="1">
              <a:off x="3183" y="1680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" name="Line 247"/>
            <p:cNvSpPr>
              <a:spLocks noChangeShapeType="1"/>
            </p:cNvSpPr>
            <p:nvPr/>
          </p:nvSpPr>
          <p:spPr bwMode="auto">
            <a:xfrm>
              <a:off x="2895" y="2010"/>
              <a:ext cx="0" cy="1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" name="Line 248"/>
            <p:cNvSpPr>
              <a:spLocks noChangeShapeType="1"/>
            </p:cNvSpPr>
            <p:nvPr/>
          </p:nvSpPr>
          <p:spPr bwMode="auto">
            <a:xfrm>
              <a:off x="3183" y="2010"/>
              <a:ext cx="0" cy="1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" name="Text Box 249"/>
            <p:cNvSpPr txBox="1">
              <a:spLocks noChangeArrowheads="1"/>
            </p:cNvSpPr>
            <p:nvPr/>
          </p:nvSpPr>
          <p:spPr bwMode="auto">
            <a:xfrm>
              <a:off x="2784" y="1488"/>
              <a:ext cx="254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dirty="0" smtClean="0"/>
                <a:t> Q</a:t>
              </a:r>
              <a:endParaRPr lang="en-US" altLang="zh-CN" sz="1600" dirty="0"/>
            </a:p>
          </p:txBody>
        </p:sp>
        <p:sp>
          <p:nvSpPr>
            <p:cNvPr id="73" name="Text Box 250"/>
            <p:cNvSpPr txBox="1">
              <a:spLocks noChangeArrowheads="1"/>
            </p:cNvSpPr>
            <p:nvPr/>
          </p:nvSpPr>
          <p:spPr bwMode="auto">
            <a:xfrm>
              <a:off x="3084" y="1488"/>
              <a:ext cx="20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dirty="0"/>
                <a:t>Q</a:t>
              </a:r>
            </a:p>
          </p:txBody>
        </p:sp>
        <p:sp>
          <p:nvSpPr>
            <p:cNvPr id="74" name="Line 251"/>
            <p:cNvSpPr>
              <a:spLocks noChangeShapeType="1"/>
            </p:cNvSpPr>
            <p:nvPr/>
          </p:nvSpPr>
          <p:spPr bwMode="auto">
            <a:xfrm>
              <a:off x="3107" y="1528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" name="Text Box 252"/>
            <p:cNvSpPr txBox="1">
              <a:spLocks noChangeArrowheads="1"/>
            </p:cNvSpPr>
            <p:nvPr/>
          </p:nvSpPr>
          <p:spPr bwMode="auto">
            <a:xfrm>
              <a:off x="2820" y="2163"/>
              <a:ext cx="20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dirty="0" smtClean="0"/>
                <a:t>R</a:t>
              </a:r>
              <a:endParaRPr lang="en-US" altLang="zh-CN" sz="1600" dirty="0"/>
            </a:p>
          </p:txBody>
        </p:sp>
        <p:sp>
          <p:nvSpPr>
            <p:cNvPr id="76" name="Text Box 253"/>
            <p:cNvSpPr txBox="1">
              <a:spLocks noChangeArrowheads="1"/>
            </p:cNvSpPr>
            <p:nvPr/>
          </p:nvSpPr>
          <p:spPr bwMode="auto">
            <a:xfrm>
              <a:off x="3084" y="2169"/>
              <a:ext cx="23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dirty="0" smtClean="0"/>
                <a:t> S</a:t>
              </a:r>
              <a:endParaRPr lang="en-US" altLang="zh-CN" sz="1600" dirty="0"/>
            </a:p>
          </p:txBody>
        </p:sp>
        <p:sp>
          <p:nvSpPr>
            <p:cNvPr id="79" name="Text Box 256"/>
            <p:cNvSpPr txBox="1">
              <a:spLocks noChangeArrowheads="1"/>
            </p:cNvSpPr>
            <p:nvPr/>
          </p:nvSpPr>
          <p:spPr bwMode="auto">
            <a:xfrm>
              <a:off x="2799" y="1852"/>
              <a:ext cx="184" cy="1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dirty="0" smtClean="0"/>
                <a:t> R</a:t>
              </a:r>
              <a:endParaRPr lang="en-US" altLang="zh-CN" sz="1600" dirty="0"/>
            </a:p>
          </p:txBody>
        </p:sp>
        <p:sp>
          <p:nvSpPr>
            <p:cNvPr id="80" name="Text Box 257"/>
            <p:cNvSpPr txBox="1">
              <a:spLocks noChangeArrowheads="1"/>
            </p:cNvSpPr>
            <p:nvPr/>
          </p:nvSpPr>
          <p:spPr bwMode="auto">
            <a:xfrm>
              <a:off x="3092" y="1852"/>
              <a:ext cx="179" cy="1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dirty="0" smtClean="0"/>
                <a:t> S</a:t>
              </a:r>
              <a:endParaRPr lang="en-US" altLang="zh-CN" sz="1600" dirty="0"/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3200400" y="35623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10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 108"/>
          <p:cNvSpPr/>
          <p:nvPr/>
        </p:nvSpPr>
        <p:spPr>
          <a:xfrm>
            <a:off x="0" y="0"/>
            <a:ext cx="20633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锁存器：或非门构成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37"/>
          <p:cNvGrpSpPr>
            <a:grpSpLocks/>
          </p:cNvGrpSpPr>
          <p:nvPr/>
        </p:nvGrpSpPr>
        <p:grpSpPr bwMode="auto">
          <a:xfrm>
            <a:off x="533400" y="1123950"/>
            <a:ext cx="2260449" cy="2950870"/>
            <a:chOff x="945631" y="2204864"/>
            <a:chExt cx="1916186" cy="3457017"/>
          </a:xfrm>
        </p:grpSpPr>
        <p:grpSp>
          <p:nvGrpSpPr>
            <p:cNvPr id="3" name="Group 22"/>
            <p:cNvGrpSpPr>
              <a:grpSpLocks/>
            </p:cNvGrpSpPr>
            <p:nvPr/>
          </p:nvGrpSpPr>
          <p:grpSpPr bwMode="auto">
            <a:xfrm rot="-5400000">
              <a:off x="419374" y="3235946"/>
              <a:ext cx="2925763" cy="1873250"/>
              <a:chOff x="-29" y="29"/>
              <a:chExt cx="1843" cy="1180"/>
            </a:xfrm>
          </p:grpSpPr>
          <p:grpSp>
            <p:nvGrpSpPr>
              <p:cNvPr id="4" name="Group 23"/>
              <p:cNvGrpSpPr>
                <a:grpSpLocks/>
              </p:cNvGrpSpPr>
              <p:nvPr/>
            </p:nvGrpSpPr>
            <p:grpSpPr bwMode="auto">
              <a:xfrm>
                <a:off x="614" y="57"/>
                <a:ext cx="624" cy="384"/>
                <a:chOff x="0" y="0"/>
                <a:chExt cx="624" cy="384"/>
              </a:xfrm>
            </p:grpSpPr>
            <p:sp>
              <p:nvSpPr>
                <p:cNvPr id="59" name="Arc 24"/>
                <p:cNvSpPr>
                  <a:spLocks/>
                </p:cNvSpPr>
                <p:nvPr/>
              </p:nvSpPr>
              <p:spPr bwMode="auto">
                <a:xfrm>
                  <a:off x="0" y="0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bevel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Arc 25"/>
                <p:cNvSpPr>
                  <a:spLocks/>
                </p:cNvSpPr>
                <p:nvPr/>
              </p:nvSpPr>
              <p:spPr bwMode="auto">
                <a:xfrm flipV="1">
                  <a:off x="0" y="192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bevel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" name="Arc 26"/>
                <p:cNvSpPr>
                  <a:spLocks/>
                </p:cNvSpPr>
                <p:nvPr/>
              </p:nvSpPr>
              <p:spPr bwMode="auto">
                <a:xfrm>
                  <a:off x="0" y="0"/>
                  <a:ext cx="96" cy="375"/>
                </a:xfrm>
                <a:custGeom>
                  <a:avLst/>
                  <a:gdLst>
                    <a:gd name="T0" fmla="*/ 0 w 21600"/>
                    <a:gd name="T1" fmla="*/ 0 h 42159"/>
                    <a:gd name="T2" fmla="*/ 0 w 21600"/>
                    <a:gd name="T3" fmla="*/ 0 h 42159"/>
                    <a:gd name="T4" fmla="*/ 0 w 21600"/>
                    <a:gd name="T5" fmla="*/ 0 h 42159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2159"/>
                    <a:gd name="T11" fmla="*/ 21600 w 21600"/>
                    <a:gd name="T12" fmla="*/ 42159 h 4215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2159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0976"/>
                        <a:pt x="15550" y="39282"/>
                        <a:pt x="6624" y="42158"/>
                      </a:cubicBezTo>
                    </a:path>
                    <a:path w="21600" h="42159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0976"/>
                        <a:pt x="15550" y="39282"/>
                        <a:pt x="6624" y="42158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bevel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Oval 27"/>
                <p:cNvSpPr>
                  <a:spLocks noChangeArrowheads="1"/>
                </p:cNvSpPr>
                <p:nvPr/>
              </p:nvSpPr>
              <p:spPr bwMode="auto">
                <a:xfrm>
                  <a:off x="528" y="144"/>
                  <a:ext cx="96" cy="96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bevel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1" name="Line 28"/>
              <p:cNvSpPr>
                <a:spLocks noChangeShapeType="1"/>
              </p:cNvSpPr>
              <p:nvPr/>
            </p:nvSpPr>
            <p:spPr bwMode="auto">
              <a:xfrm flipH="1">
                <a:off x="230" y="153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5" name="Group 29"/>
              <p:cNvGrpSpPr>
                <a:grpSpLocks/>
              </p:cNvGrpSpPr>
              <p:nvPr/>
            </p:nvGrpSpPr>
            <p:grpSpPr bwMode="auto">
              <a:xfrm>
                <a:off x="614" y="825"/>
                <a:ext cx="624" cy="384"/>
                <a:chOff x="0" y="0"/>
                <a:chExt cx="624" cy="384"/>
              </a:xfrm>
            </p:grpSpPr>
            <p:sp>
              <p:nvSpPr>
                <p:cNvPr id="55" name="Arc 30"/>
                <p:cNvSpPr>
                  <a:spLocks/>
                </p:cNvSpPr>
                <p:nvPr/>
              </p:nvSpPr>
              <p:spPr bwMode="auto">
                <a:xfrm>
                  <a:off x="0" y="0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bevel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Arc 31"/>
                <p:cNvSpPr>
                  <a:spLocks/>
                </p:cNvSpPr>
                <p:nvPr/>
              </p:nvSpPr>
              <p:spPr bwMode="auto">
                <a:xfrm flipV="1">
                  <a:off x="0" y="192"/>
                  <a:ext cx="528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bevel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Arc 32"/>
                <p:cNvSpPr>
                  <a:spLocks/>
                </p:cNvSpPr>
                <p:nvPr/>
              </p:nvSpPr>
              <p:spPr bwMode="auto">
                <a:xfrm>
                  <a:off x="0" y="0"/>
                  <a:ext cx="96" cy="375"/>
                </a:xfrm>
                <a:custGeom>
                  <a:avLst/>
                  <a:gdLst>
                    <a:gd name="T0" fmla="*/ 0 w 21600"/>
                    <a:gd name="T1" fmla="*/ 0 h 42159"/>
                    <a:gd name="T2" fmla="*/ 0 w 21600"/>
                    <a:gd name="T3" fmla="*/ 0 h 42159"/>
                    <a:gd name="T4" fmla="*/ 0 w 21600"/>
                    <a:gd name="T5" fmla="*/ 0 h 42159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2159"/>
                    <a:gd name="T11" fmla="*/ 21600 w 21600"/>
                    <a:gd name="T12" fmla="*/ 42159 h 4215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2159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0976"/>
                        <a:pt x="15550" y="39282"/>
                        <a:pt x="6624" y="42158"/>
                      </a:cubicBezTo>
                    </a:path>
                    <a:path w="21600" h="42159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0976"/>
                        <a:pt x="15550" y="39282"/>
                        <a:pt x="6624" y="42158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bevel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Oval 33"/>
                <p:cNvSpPr>
                  <a:spLocks noChangeArrowheads="1"/>
                </p:cNvSpPr>
                <p:nvPr/>
              </p:nvSpPr>
              <p:spPr bwMode="auto">
                <a:xfrm>
                  <a:off x="528" y="144"/>
                  <a:ext cx="96" cy="96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bevel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3" name="Line 34"/>
              <p:cNvSpPr>
                <a:spLocks noChangeShapeType="1"/>
              </p:cNvSpPr>
              <p:nvPr/>
            </p:nvSpPr>
            <p:spPr bwMode="auto">
              <a:xfrm flipH="1">
                <a:off x="230" y="1113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" name="Line 35"/>
              <p:cNvSpPr>
                <a:spLocks noChangeShapeType="1"/>
              </p:cNvSpPr>
              <p:nvPr/>
            </p:nvSpPr>
            <p:spPr bwMode="auto">
              <a:xfrm>
                <a:off x="422" y="345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5" name="Line 36"/>
              <p:cNvSpPr>
                <a:spLocks noChangeShapeType="1"/>
              </p:cNvSpPr>
              <p:nvPr/>
            </p:nvSpPr>
            <p:spPr bwMode="auto">
              <a:xfrm>
                <a:off x="1238" y="249"/>
                <a:ext cx="57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" name="Line 37"/>
              <p:cNvSpPr>
                <a:spLocks noChangeShapeType="1"/>
              </p:cNvSpPr>
              <p:nvPr/>
            </p:nvSpPr>
            <p:spPr bwMode="auto">
              <a:xfrm>
                <a:off x="422" y="921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7" name="Line 38"/>
              <p:cNvSpPr>
                <a:spLocks noChangeShapeType="1"/>
              </p:cNvSpPr>
              <p:nvPr/>
            </p:nvSpPr>
            <p:spPr bwMode="auto">
              <a:xfrm>
                <a:off x="1238" y="1017"/>
                <a:ext cx="57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8" name="Line 39"/>
              <p:cNvSpPr>
                <a:spLocks noChangeShapeType="1"/>
              </p:cNvSpPr>
              <p:nvPr/>
            </p:nvSpPr>
            <p:spPr bwMode="auto">
              <a:xfrm>
                <a:off x="1430" y="249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 type="oval" w="med" len="med"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9" name="Line 40"/>
              <p:cNvSpPr>
                <a:spLocks noChangeShapeType="1"/>
              </p:cNvSpPr>
              <p:nvPr/>
            </p:nvSpPr>
            <p:spPr bwMode="auto">
              <a:xfrm flipV="1">
                <a:off x="1430" y="825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 type="oval" w="med" len="med"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0" name="Line 41"/>
              <p:cNvSpPr>
                <a:spLocks noChangeShapeType="1"/>
              </p:cNvSpPr>
              <p:nvPr/>
            </p:nvSpPr>
            <p:spPr bwMode="auto">
              <a:xfrm>
                <a:off x="422" y="336"/>
                <a:ext cx="0" cy="15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1" name="Line 42"/>
              <p:cNvSpPr>
                <a:spLocks noChangeShapeType="1"/>
              </p:cNvSpPr>
              <p:nvPr/>
            </p:nvSpPr>
            <p:spPr bwMode="auto">
              <a:xfrm>
                <a:off x="422" y="480"/>
                <a:ext cx="1008" cy="34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2" name="Line 43"/>
              <p:cNvSpPr>
                <a:spLocks noChangeShapeType="1"/>
              </p:cNvSpPr>
              <p:nvPr/>
            </p:nvSpPr>
            <p:spPr bwMode="auto">
              <a:xfrm>
                <a:off x="422" y="777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3" name="Line 44"/>
              <p:cNvSpPr>
                <a:spLocks noChangeShapeType="1"/>
              </p:cNvSpPr>
              <p:nvPr/>
            </p:nvSpPr>
            <p:spPr bwMode="auto">
              <a:xfrm flipV="1">
                <a:off x="422" y="441"/>
                <a:ext cx="1008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bevel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4" name="Text Box 47"/>
              <p:cNvSpPr txBox="1">
                <a:spLocks noChangeArrowheads="1"/>
              </p:cNvSpPr>
              <p:nvPr/>
            </p:nvSpPr>
            <p:spPr bwMode="auto">
              <a:xfrm rot="5400000">
                <a:off x="0" y="0"/>
                <a:ext cx="23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/>
                  <a:t>R</a:t>
                </a:r>
              </a:p>
            </p:txBody>
          </p:sp>
        </p:grpSp>
        <p:sp>
          <p:nvSpPr>
            <p:cNvPr id="36" name="Text Box 47"/>
            <p:cNvSpPr txBox="1">
              <a:spLocks noChangeArrowheads="1"/>
            </p:cNvSpPr>
            <p:nvPr/>
          </p:nvSpPr>
          <p:spPr bwMode="auto">
            <a:xfrm>
              <a:off x="2411760" y="5229199"/>
              <a:ext cx="450057" cy="4326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dirty="0" smtClean="0"/>
                <a:t>   S</a:t>
              </a:r>
              <a:endParaRPr lang="en-US" altLang="zh-CN" dirty="0"/>
            </a:p>
          </p:txBody>
        </p:sp>
        <p:sp>
          <p:nvSpPr>
            <p:cNvPr id="37" name="Text Box 47"/>
            <p:cNvSpPr txBox="1">
              <a:spLocks noChangeArrowheads="1"/>
            </p:cNvSpPr>
            <p:nvPr/>
          </p:nvSpPr>
          <p:spPr bwMode="auto">
            <a:xfrm>
              <a:off x="1115616" y="2204864"/>
              <a:ext cx="40267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/>
                <a:t>Q</a:t>
              </a:r>
            </a:p>
          </p:txBody>
        </p:sp>
        <p:sp>
          <p:nvSpPr>
            <p:cNvPr id="38" name="Text Box 47"/>
            <p:cNvSpPr txBox="1">
              <a:spLocks noChangeArrowheads="1"/>
            </p:cNvSpPr>
            <p:nvPr/>
          </p:nvSpPr>
          <p:spPr bwMode="auto">
            <a:xfrm>
              <a:off x="2374579" y="2204864"/>
              <a:ext cx="40267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/>
                <a:t>Q</a:t>
              </a:r>
            </a:p>
          </p:txBody>
        </p:sp>
        <p:cxnSp>
          <p:nvCxnSpPr>
            <p:cNvPr id="39" name="直接连接符 34"/>
            <p:cNvCxnSpPr>
              <a:cxnSpLocks noChangeShapeType="1"/>
            </p:cNvCxnSpPr>
            <p:nvPr/>
          </p:nvCxnSpPr>
          <p:spPr bwMode="auto">
            <a:xfrm>
              <a:off x="2467811" y="2273129"/>
              <a:ext cx="158703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</p:cxnSp>
      </p:grpSp>
      <p:sp>
        <p:nvSpPr>
          <p:cNvPr id="63" name="TextBox 62"/>
          <p:cNvSpPr txBox="1"/>
          <p:nvPr/>
        </p:nvSpPr>
        <p:spPr>
          <a:xfrm>
            <a:off x="1143000" y="41719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9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" name="Text Box 85"/>
          <p:cNvSpPr txBox="1">
            <a:spLocks noChangeArrowheads="1"/>
          </p:cNvSpPr>
          <p:nvPr/>
        </p:nvSpPr>
        <p:spPr bwMode="auto">
          <a:xfrm>
            <a:off x="5105400" y="1200150"/>
            <a:ext cx="14734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表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次态真值表</a:t>
            </a:r>
          </a:p>
        </p:txBody>
      </p:sp>
      <p:graphicFrame>
        <p:nvGraphicFramePr>
          <p:cNvPr id="65" name="Group 34"/>
          <p:cNvGraphicFramePr>
            <a:graphicFrameLocks noGrp="1"/>
          </p:cNvGraphicFramePr>
          <p:nvPr/>
        </p:nvGraphicFramePr>
        <p:xfrm>
          <a:off x="4953000" y="1581150"/>
          <a:ext cx="1828800" cy="1859280"/>
        </p:xfrm>
        <a:graphic>
          <a:graphicData uri="http://schemas.openxmlformats.org/drawingml/2006/table">
            <a:tbl>
              <a:tblPr/>
              <a:tblGrid>
                <a:gridCol w="990600"/>
                <a:gridCol w="838200"/>
              </a:tblGrid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S    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n+1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1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0     1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1     0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禁用</a:t>
                      </a:r>
                      <a:endParaRPr kumimoji="1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7282" name="Object 2"/>
          <p:cNvGraphicFramePr>
            <a:graphicFrameLocks noChangeAspect="1"/>
          </p:cNvGraphicFramePr>
          <p:nvPr/>
        </p:nvGraphicFramePr>
        <p:xfrm>
          <a:off x="4800600" y="3790950"/>
          <a:ext cx="2730500" cy="609600"/>
        </p:xfrm>
        <a:graphic>
          <a:graphicData uri="http://schemas.openxmlformats.org/presentationml/2006/ole">
            <p:oleObj spid="_x0000_s97282" name="Equation" r:id="rId3" imgW="2730240" imgH="609480" progId="Equation.DSMT4">
              <p:embed/>
            </p:oleObj>
          </a:graphicData>
        </a:graphic>
      </p:graphicFrame>
      <p:graphicFrame>
        <p:nvGraphicFramePr>
          <p:cNvPr id="97283" name="Object 3"/>
          <p:cNvGraphicFramePr>
            <a:graphicFrameLocks noChangeAspect="1"/>
          </p:cNvGraphicFramePr>
          <p:nvPr/>
        </p:nvGraphicFramePr>
        <p:xfrm>
          <a:off x="4800600" y="4324350"/>
          <a:ext cx="1981200" cy="584200"/>
        </p:xfrm>
        <a:graphic>
          <a:graphicData uri="http://schemas.openxmlformats.org/presentationml/2006/ole">
            <p:oleObj spid="_x0000_s97283" name="Equation" r:id="rId4" imgW="1981080" imgH="58392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7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7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5825</TotalTime>
  <Words>649</Words>
  <Application>Microsoft Office PowerPoint</Application>
  <PresentationFormat>全屏显示(16:9)</PresentationFormat>
  <Paragraphs>334</Paragraphs>
  <Slides>14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6" baseType="lpstr">
      <vt:lpstr>默认设计模板</vt:lpstr>
      <vt:lpstr>Equation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NTKO</cp:lastModifiedBy>
  <cp:revision>675</cp:revision>
  <cp:lastPrinted>2113-01-01T00:00:00Z</cp:lastPrinted>
  <dcterms:created xsi:type="dcterms:W3CDTF">2113-01-01T00:00:00Z</dcterms:created>
  <dcterms:modified xsi:type="dcterms:W3CDTF">2021-02-02T10:19:47Z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