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09" r:id="rId2"/>
    <p:sldId id="332" r:id="rId3"/>
    <p:sldId id="333" r:id="rId4"/>
    <p:sldId id="324" r:id="rId5"/>
    <p:sldId id="326" r:id="rId6"/>
    <p:sldId id="327" r:id="rId7"/>
    <p:sldId id="328" r:id="rId8"/>
    <p:sldId id="329" r:id="rId9"/>
    <p:sldId id="330" r:id="rId10"/>
    <p:sldId id="331" r:id="rId11"/>
    <p:sldId id="335" r:id="rId12"/>
    <p:sldId id="336" r:id="rId13"/>
    <p:sldId id="337" r:id="rId14"/>
    <p:sldId id="338" r:id="rId15"/>
    <p:sldId id="339" r:id="rId16"/>
    <p:sldId id="340" r:id="rId17"/>
    <p:sldId id="342" r:id="rId1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2E"/>
    <a:srgbClr val="001007"/>
    <a:srgbClr val="3333CC"/>
    <a:srgbClr val="2D2D8A"/>
    <a:srgbClr val="0000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99" autoAdjust="0"/>
    <p:restoredTop sz="95250" autoAdjust="0"/>
  </p:normalViewPr>
  <p:slideViewPr>
    <p:cSldViewPr>
      <p:cViewPr varScale="1">
        <p:scale>
          <a:sx n="89" d="100"/>
          <a:sy n="89" d="100"/>
        </p:scale>
        <p:origin x="-378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2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2020/12/22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7.bin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Relationship Id="rId9" Type="http://schemas.openxmlformats.org/officeDocument/2006/relationships/oleObject" Target="../embeddings/oleObject2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5" Type="http://schemas.openxmlformats.org/officeDocument/2006/relationships/oleObject" Target="../embeddings/oleObject29.bin"/><Relationship Id="rId4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4.bin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39.bin"/><Relationship Id="rId4" Type="http://schemas.openxmlformats.org/officeDocument/2006/relationships/oleObject" Target="../embeddings/oleObject38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布尔代数三个规则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0668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39225" y="495153"/>
            <a:ext cx="86106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代入规则：</a:t>
            </a:r>
            <a:endParaRPr lang="en-US" altLang="zh-CN" sz="28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81000" y="112395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任何一个含有变量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的等式，如果将所有出现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的位置，都代之以一个逻辑函数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，此等式仍然成立。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609600" y="1962150"/>
            <a:ext cx="8002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例如：</a:t>
            </a:r>
            <a:endParaRPr lang="en-US" altLang="zh-CN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1371600" y="1997100"/>
          <a:ext cx="1600200" cy="257504"/>
        </p:xfrm>
        <a:graphic>
          <a:graphicData uri="http://schemas.openxmlformats.org/presentationml/2006/ole">
            <p:oleObj spid="_x0000_s111621" name="Equation" r:id="rId3" imgW="2209680" imgH="355320" progId="Equation.DSMT4">
              <p:embed/>
            </p:oleObj>
          </a:graphicData>
        </a:graphic>
      </p:graphicFrame>
      <p:sp>
        <p:nvSpPr>
          <p:cNvPr id="56" name="Text Box 6"/>
          <p:cNvSpPr txBox="1">
            <a:spLocks noChangeArrowheads="1"/>
          </p:cNvSpPr>
          <p:nvPr/>
        </p:nvSpPr>
        <p:spPr bwMode="auto">
          <a:xfrm>
            <a:off x="4114800" y="1962150"/>
            <a:ext cx="8002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证明：</a:t>
            </a:r>
            <a:endParaRPr lang="en-US" altLang="zh-CN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4953000" y="2038350"/>
          <a:ext cx="809625" cy="219075"/>
        </p:xfrm>
        <a:graphic>
          <a:graphicData uri="http://schemas.openxmlformats.org/presentationml/2006/ole">
            <p:oleObj spid="_x0000_s111622" name="Equation" r:id="rId4" imgW="1117440" imgH="304560" progId="Equation.DSMT4">
              <p:embed/>
            </p:oleObj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/>
        </p:nvGraphicFramePr>
        <p:xfrm>
          <a:off x="4764088" y="2343150"/>
          <a:ext cx="900112" cy="257175"/>
        </p:xfrm>
        <a:graphic>
          <a:graphicData uri="http://schemas.openxmlformats.org/presentationml/2006/ole">
            <p:oleObj spid="_x0000_s111623" name="Equation" r:id="rId5" imgW="1244520" imgH="355320" progId="Equation.DSMT4">
              <p:embed/>
            </p:oleObj>
          </a:graphicData>
        </a:graphic>
      </p:graphicFrame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4764088" y="2647950"/>
          <a:ext cx="762000" cy="257175"/>
        </p:xfrm>
        <a:graphic>
          <a:graphicData uri="http://schemas.openxmlformats.org/presentationml/2006/ole">
            <p:oleObj spid="_x0000_s111624" name="Equation" r:id="rId6" imgW="1054080" imgH="35532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39225" y="495153"/>
            <a:ext cx="8610600" cy="213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代入规则：</a:t>
            </a:r>
            <a:endParaRPr lang="en-US" altLang="zh-CN" sz="28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81000" y="112395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任何一个含有变量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的等式，如果将所有出现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A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的位置，都代之以一个逻辑函数</a:t>
            </a:r>
            <a:r>
              <a:rPr lang="en-US" altLang="zh-CN" b="1" dirty="0" smtClean="0">
                <a:solidFill>
                  <a:srgbClr val="FF0000"/>
                </a:solidFill>
                <a:ea typeface="黑体" pitchFamily="49" charset="-122"/>
              </a:rPr>
              <a:t>F</a:t>
            </a:r>
            <a:r>
              <a:rPr lang="zh-CN" altLang="en-US" dirty="0" smtClean="0">
                <a:solidFill>
                  <a:schemeClr val="accent6"/>
                </a:solidFill>
                <a:ea typeface="黑体" pitchFamily="49" charset="-122"/>
              </a:rPr>
              <a:t>，此等式仍然成立。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609600" y="1962150"/>
            <a:ext cx="8002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例如：</a:t>
            </a:r>
            <a:endParaRPr lang="en-US" altLang="zh-CN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1371600" y="1997100"/>
          <a:ext cx="1600200" cy="257504"/>
        </p:xfrm>
        <a:graphic>
          <a:graphicData uri="http://schemas.openxmlformats.org/presentationml/2006/ole">
            <p:oleObj spid="_x0000_s112642" name="Equation" r:id="rId3" imgW="2209680" imgH="355320" progId="Equation.DSMT4">
              <p:embed/>
            </p:oleObj>
          </a:graphicData>
        </a:graphic>
      </p:graphicFrame>
      <p:sp>
        <p:nvSpPr>
          <p:cNvPr id="12" name="矩形 11"/>
          <p:cNvSpPr/>
          <p:nvPr/>
        </p:nvSpPr>
        <p:spPr>
          <a:xfrm>
            <a:off x="1219200" y="2343150"/>
            <a:ext cx="2286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将函数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F=A+B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代入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则等式还成立，即：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2646" name="Object 6"/>
          <p:cNvGraphicFramePr>
            <a:graphicFrameLocks noChangeAspect="1"/>
          </p:cNvGraphicFramePr>
          <p:nvPr/>
        </p:nvGraphicFramePr>
        <p:xfrm>
          <a:off x="304800" y="3486150"/>
          <a:ext cx="1741488" cy="261937"/>
        </p:xfrm>
        <a:graphic>
          <a:graphicData uri="http://schemas.openxmlformats.org/presentationml/2006/ole">
            <p:oleObj spid="_x0000_s112646" name="Equation" r:id="rId4" imgW="2031840" imgH="304560" progId="Equation.DSMT4">
              <p:embed/>
            </p:oleObj>
          </a:graphicData>
        </a:graphic>
      </p:graphicFrame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105400" y="1733550"/>
            <a:ext cx="8002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证明：</a:t>
            </a:r>
            <a:endParaRPr lang="en-US" altLang="zh-CN" sz="16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5867400" y="1757285"/>
          <a:ext cx="2055812" cy="261938"/>
        </p:xfrm>
        <a:graphic>
          <a:graphicData uri="http://schemas.openxmlformats.org/presentationml/2006/ole">
            <p:oleObj spid="_x0000_s112650" name="Equation" r:id="rId5" imgW="2400120" imgH="304560" progId="Equation.DSMT4">
              <p:embed/>
            </p:oleObj>
          </a:graphicData>
        </a:graphic>
      </p:graphicFrame>
      <p:graphicFrame>
        <p:nvGraphicFramePr>
          <p:cNvPr id="112651" name="Object 11"/>
          <p:cNvGraphicFramePr>
            <a:graphicFrameLocks noChangeAspect="1"/>
          </p:cNvGraphicFramePr>
          <p:nvPr/>
        </p:nvGraphicFramePr>
        <p:xfrm>
          <a:off x="6089650" y="2119313"/>
          <a:ext cx="1762125" cy="250825"/>
        </p:xfrm>
        <a:graphic>
          <a:graphicData uri="http://schemas.openxmlformats.org/presentationml/2006/ole">
            <p:oleObj spid="_x0000_s112651" name="Equation" r:id="rId6" imgW="2057400" imgH="291960" progId="Equation.DSMT4">
              <p:embed/>
            </p:oleObj>
          </a:graphicData>
        </a:graphic>
      </p:graphicFrame>
      <p:graphicFrame>
        <p:nvGraphicFramePr>
          <p:cNvPr id="112652" name="Object 12"/>
          <p:cNvGraphicFramePr>
            <a:graphicFrameLocks noChangeAspect="1"/>
          </p:cNvGraphicFramePr>
          <p:nvPr/>
        </p:nvGraphicFramePr>
        <p:xfrm>
          <a:off x="6096000" y="2495550"/>
          <a:ext cx="903288" cy="250825"/>
        </p:xfrm>
        <a:graphic>
          <a:graphicData uri="http://schemas.openxmlformats.org/presentationml/2006/ole">
            <p:oleObj spid="_x0000_s112652" name="Equation" r:id="rId7" imgW="1054080" imgH="291960" progId="Equation.DSMT4">
              <p:embed/>
            </p:oleObj>
          </a:graphicData>
        </a:graphic>
      </p:graphicFrame>
      <p:graphicFrame>
        <p:nvGraphicFramePr>
          <p:cNvPr id="112653" name="Object 13"/>
          <p:cNvGraphicFramePr>
            <a:graphicFrameLocks noChangeAspect="1"/>
          </p:cNvGraphicFramePr>
          <p:nvPr/>
        </p:nvGraphicFramePr>
        <p:xfrm>
          <a:off x="7010400" y="2563005"/>
          <a:ext cx="293688" cy="196850"/>
        </p:xfrm>
        <a:graphic>
          <a:graphicData uri="http://schemas.openxmlformats.org/presentationml/2006/ole">
            <p:oleObj spid="_x0000_s112653" name="Equation" r:id="rId8" imgW="342720" imgH="228600" progId="Equation.DSMT4">
              <p:embed/>
            </p:oleObj>
          </a:graphicData>
        </a:graphic>
      </p:graphicFrame>
      <p:graphicFrame>
        <p:nvGraphicFramePr>
          <p:cNvPr id="112655" name="Object 15"/>
          <p:cNvGraphicFramePr>
            <a:graphicFrameLocks noChangeAspect="1"/>
          </p:cNvGraphicFramePr>
          <p:nvPr/>
        </p:nvGraphicFramePr>
        <p:xfrm>
          <a:off x="5867400" y="2952750"/>
          <a:ext cx="1744662" cy="342900"/>
        </p:xfrm>
        <a:graphic>
          <a:graphicData uri="http://schemas.openxmlformats.org/presentationml/2006/ole">
            <p:oleObj spid="_x0000_s112655" name="Equation" r:id="rId9" imgW="2006280" imgH="393480" progId="Equation.DSMT4">
              <p:embed/>
            </p:oleObj>
          </a:graphicData>
        </a:graphic>
      </p:graphicFrame>
      <p:graphicFrame>
        <p:nvGraphicFramePr>
          <p:cNvPr id="112656" name="Object 16"/>
          <p:cNvGraphicFramePr>
            <a:graphicFrameLocks noChangeAspect="1"/>
          </p:cNvGraphicFramePr>
          <p:nvPr/>
        </p:nvGraphicFramePr>
        <p:xfrm>
          <a:off x="6096000" y="3333750"/>
          <a:ext cx="1657350" cy="309562"/>
        </p:xfrm>
        <a:graphic>
          <a:graphicData uri="http://schemas.openxmlformats.org/presentationml/2006/ole">
            <p:oleObj spid="_x0000_s112656" name="Equation" r:id="rId10" imgW="1904760" imgH="355320" progId="Equation.DSMT4">
              <p:embed/>
            </p:oleObj>
          </a:graphicData>
        </a:graphic>
      </p:graphicFrame>
      <p:graphicFrame>
        <p:nvGraphicFramePr>
          <p:cNvPr id="112657" name="Object 17"/>
          <p:cNvGraphicFramePr>
            <a:graphicFrameLocks noChangeAspect="1"/>
          </p:cNvGraphicFramePr>
          <p:nvPr/>
        </p:nvGraphicFramePr>
        <p:xfrm>
          <a:off x="6167438" y="3840163"/>
          <a:ext cx="309562" cy="252412"/>
        </p:xfrm>
        <a:graphic>
          <a:graphicData uri="http://schemas.openxmlformats.org/presentationml/2006/ole">
            <p:oleObj spid="_x0000_s112657" name="Equation" r:id="rId11" imgW="355320" imgH="291960" progId="Equation.DSMT4">
              <p:embed/>
            </p:oleObj>
          </a:graphicData>
        </a:graphic>
      </p:graphicFrame>
      <p:graphicFrame>
        <p:nvGraphicFramePr>
          <p:cNvPr id="112658" name="Object 18"/>
          <p:cNvGraphicFramePr>
            <a:graphicFrameLocks noChangeAspect="1"/>
          </p:cNvGraphicFramePr>
          <p:nvPr/>
        </p:nvGraphicFramePr>
        <p:xfrm>
          <a:off x="2514600" y="3486150"/>
          <a:ext cx="1228725" cy="304800"/>
        </p:xfrm>
        <a:graphic>
          <a:graphicData uri="http://schemas.openxmlformats.org/presentationml/2006/ole">
            <p:oleObj spid="_x0000_s112658" name="Equation" r:id="rId12" imgW="1434960" imgH="355320" progId="Equation.DSMT4">
              <p:embed/>
            </p:oleObj>
          </a:graphicData>
        </a:graphic>
      </p:graphicFrame>
      <p:graphicFrame>
        <p:nvGraphicFramePr>
          <p:cNvPr id="112659" name="Object 19"/>
          <p:cNvGraphicFramePr>
            <a:graphicFrameLocks noChangeAspect="1"/>
          </p:cNvGraphicFramePr>
          <p:nvPr/>
        </p:nvGraphicFramePr>
        <p:xfrm>
          <a:off x="2133600" y="3542804"/>
          <a:ext cx="304800" cy="286871"/>
        </p:xfrm>
        <a:graphic>
          <a:graphicData uri="http://schemas.openxmlformats.org/presentationml/2006/ole">
            <p:oleObj spid="_x0000_s112659" name="Equation" r:id="rId13" imgW="19044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2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2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228600" y="4381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32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反演规则：</a:t>
            </a:r>
            <a:endParaRPr lang="en-US" altLang="zh-CN" sz="32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76200" y="1200150"/>
            <a:ext cx="4248150" cy="3048000"/>
            <a:chOff x="588" y="1728"/>
            <a:chExt cx="2676" cy="1920"/>
          </a:xfrm>
        </p:grpSpPr>
        <p:grpSp>
          <p:nvGrpSpPr>
            <p:cNvPr id="9" name="Group 19"/>
            <p:cNvGrpSpPr>
              <a:grpSpLocks/>
            </p:cNvGrpSpPr>
            <p:nvPr/>
          </p:nvGrpSpPr>
          <p:grpSpPr bwMode="auto">
            <a:xfrm>
              <a:off x="588" y="1846"/>
              <a:ext cx="2676" cy="1802"/>
              <a:chOff x="1200" y="1680"/>
              <a:chExt cx="2676" cy="1802"/>
            </a:xfrm>
          </p:grpSpPr>
          <p:sp>
            <p:nvSpPr>
              <p:cNvPr id="11" name="Text Box 20"/>
              <p:cNvSpPr txBox="1">
                <a:spLocks noChangeArrowheads="1"/>
              </p:cNvSpPr>
              <p:nvPr/>
            </p:nvSpPr>
            <p:spPr bwMode="auto">
              <a:xfrm>
                <a:off x="1200" y="1680"/>
                <a:ext cx="628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3200" dirty="0">
                    <a:solidFill>
                      <a:schemeClr val="accent6"/>
                    </a:solidFill>
                    <a:ea typeface="黑体" pitchFamily="49" charset="-122"/>
                  </a:rPr>
                  <a:t>已知</a:t>
                </a:r>
              </a:p>
            </p:txBody>
          </p:sp>
          <p:sp>
            <p:nvSpPr>
              <p:cNvPr id="12" name="Text Box 21"/>
              <p:cNvSpPr txBox="1">
                <a:spLocks noChangeArrowheads="1"/>
              </p:cNvSpPr>
              <p:nvPr/>
            </p:nvSpPr>
            <p:spPr bwMode="auto">
              <a:xfrm>
                <a:off x="2102" y="1685"/>
                <a:ext cx="274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chemeClr val="accent6"/>
                    </a:solidFill>
                    <a:ea typeface="黑体" pitchFamily="49" charset="-122"/>
                  </a:rPr>
                  <a:t>F</a:t>
                </a:r>
              </a:p>
            </p:txBody>
          </p:sp>
          <p:sp>
            <p:nvSpPr>
              <p:cNvPr id="13" name="Line 22"/>
              <p:cNvSpPr>
                <a:spLocks noChangeShapeType="1"/>
              </p:cNvSpPr>
              <p:nvPr/>
            </p:nvSpPr>
            <p:spPr bwMode="auto">
              <a:xfrm>
                <a:off x="2496" y="1872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4" name="Text Box 23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274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ea typeface="黑体" pitchFamily="49" charset="-122"/>
                  </a:rPr>
                  <a:t>F</a:t>
                </a:r>
              </a:p>
            </p:txBody>
          </p:sp>
          <p:sp>
            <p:nvSpPr>
              <p:cNvPr id="15" name="Line 24"/>
              <p:cNvSpPr>
                <a:spLocks noChangeShapeType="1"/>
              </p:cNvSpPr>
              <p:nvPr/>
            </p:nvSpPr>
            <p:spPr bwMode="auto">
              <a:xfrm>
                <a:off x="3456" y="1680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6" name="Text Box 25"/>
              <p:cNvSpPr txBox="1">
                <a:spLocks noChangeArrowheads="1"/>
              </p:cNvSpPr>
              <p:nvPr/>
            </p:nvSpPr>
            <p:spPr bwMode="auto">
              <a:xfrm>
                <a:off x="2016" y="1920"/>
                <a:ext cx="43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•”</a:t>
                </a:r>
                <a:endParaRPr lang="en-US" altLang="zh-CN" sz="3200" dirty="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17" name="Text Box 26"/>
              <p:cNvSpPr txBox="1">
                <a:spLocks noChangeArrowheads="1"/>
              </p:cNvSpPr>
              <p:nvPr/>
            </p:nvSpPr>
            <p:spPr bwMode="auto">
              <a:xfrm>
                <a:off x="1968" y="2208"/>
                <a:ext cx="498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>
                    <a:solidFill>
                      <a:schemeClr val="accent6"/>
                    </a:solidFill>
                    <a:cs typeface="Tahoma" pitchFamily="34" charset="0"/>
                  </a:rPr>
                  <a:t>+</a:t>
                </a:r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18" name="Text Box 27"/>
              <p:cNvSpPr txBox="1">
                <a:spLocks noChangeArrowheads="1"/>
              </p:cNvSpPr>
              <p:nvPr/>
            </p:nvSpPr>
            <p:spPr bwMode="auto">
              <a:xfrm>
                <a:off x="2012" y="2496"/>
                <a:ext cx="49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 dirty="0">
                    <a:solidFill>
                      <a:schemeClr val="accent6"/>
                    </a:solidFill>
                    <a:cs typeface="Tahoma" pitchFamily="34" charset="0"/>
                  </a:rPr>
                  <a:t>0</a:t>
                </a:r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 dirty="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19" name="Text Box 28"/>
              <p:cNvSpPr txBox="1">
                <a:spLocks noChangeArrowheads="1"/>
              </p:cNvSpPr>
              <p:nvPr/>
            </p:nvSpPr>
            <p:spPr bwMode="auto">
              <a:xfrm>
                <a:off x="2016" y="2851"/>
                <a:ext cx="49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 dirty="0">
                    <a:solidFill>
                      <a:schemeClr val="accent6"/>
                    </a:solidFill>
                    <a:cs typeface="Tahoma" pitchFamily="34" charset="0"/>
                  </a:rPr>
                  <a:t>1</a:t>
                </a:r>
                <a:r>
                  <a:rPr lang="en-US" altLang="zh-CN" sz="3200" dirty="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 dirty="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20" name="Text Box 29"/>
              <p:cNvSpPr txBox="1">
                <a:spLocks noChangeArrowheads="1"/>
              </p:cNvSpPr>
              <p:nvPr/>
            </p:nvSpPr>
            <p:spPr bwMode="auto">
              <a:xfrm>
                <a:off x="1916" y="3155"/>
                <a:ext cx="56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chemeClr val="accent6"/>
                    </a:solidFill>
                    <a:ea typeface="黑体" pitchFamily="49" charset="-122"/>
                  </a:rPr>
                  <a:t>变量</a:t>
                </a:r>
              </a:p>
            </p:txBody>
          </p:sp>
          <p:sp>
            <p:nvSpPr>
              <p:cNvPr id="21" name="Text Box 30"/>
              <p:cNvSpPr txBox="1">
                <a:spLocks noChangeArrowheads="1"/>
              </p:cNvSpPr>
              <p:nvPr/>
            </p:nvSpPr>
            <p:spPr bwMode="auto">
              <a:xfrm>
                <a:off x="3312" y="3153"/>
                <a:ext cx="56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800" dirty="0">
                    <a:solidFill>
                      <a:schemeClr val="accent6"/>
                    </a:solidFill>
                    <a:ea typeface="黑体" pitchFamily="49" charset="-122"/>
                  </a:rPr>
                  <a:t>变量</a:t>
                </a:r>
              </a:p>
            </p:txBody>
          </p:sp>
          <p:sp>
            <p:nvSpPr>
              <p:cNvPr id="22" name="Text Box 31"/>
              <p:cNvSpPr txBox="1">
                <a:spLocks noChangeArrowheads="1"/>
              </p:cNvSpPr>
              <p:nvPr/>
            </p:nvSpPr>
            <p:spPr bwMode="auto">
              <a:xfrm>
                <a:off x="3360" y="2208"/>
                <a:ext cx="434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•”</a:t>
                </a:r>
                <a:endParaRPr lang="en-US" altLang="zh-CN" sz="320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23" name="Text Box 32"/>
              <p:cNvSpPr txBox="1">
                <a:spLocks noChangeArrowheads="1"/>
              </p:cNvSpPr>
              <p:nvPr/>
            </p:nvSpPr>
            <p:spPr bwMode="auto">
              <a:xfrm>
                <a:off x="3312" y="1942"/>
                <a:ext cx="498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>
                    <a:solidFill>
                      <a:schemeClr val="accent6"/>
                    </a:solidFill>
                    <a:cs typeface="Tahoma" pitchFamily="34" charset="0"/>
                  </a:rPr>
                  <a:t>+</a:t>
                </a:r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24" name="Text Box 33"/>
              <p:cNvSpPr txBox="1">
                <a:spLocks noChangeArrowheads="1"/>
              </p:cNvSpPr>
              <p:nvPr/>
            </p:nvSpPr>
            <p:spPr bwMode="auto">
              <a:xfrm>
                <a:off x="3360" y="2851"/>
                <a:ext cx="49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>
                    <a:solidFill>
                      <a:schemeClr val="accent6"/>
                    </a:solidFill>
                    <a:cs typeface="Tahoma" pitchFamily="34" charset="0"/>
                  </a:rPr>
                  <a:t>0</a:t>
                </a:r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25" name="Text Box 34"/>
              <p:cNvSpPr txBox="1">
                <a:spLocks noChangeArrowheads="1"/>
              </p:cNvSpPr>
              <p:nvPr/>
            </p:nvSpPr>
            <p:spPr bwMode="auto">
              <a:xfrm>
                <a:off x="3356" y="2467"/>
                <a:ext cx="490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ea typeface="黑体" pitchFamily="49" charset="-122"/>
                  </a:rPr>
                  <a:t>“</a:t>
                </a:r>
                <a:r>
                  <a:rPr lang="en-US" altLang="zh-CN" sz="3200">
                    <a:solidFill>
                      <a:schemeClr val="accent6"/>
                    </a:solidFill>
                    <a:cs typeface="Tahoma" pitchFamily="34" charset="0"/>
                  </a:rPr>
                  <a:t>1</a:t>
                </a:r>
                <a:r>
                  <a:rPr lang="en-US" altLang="zh-CN" sz="3200">
                    <a:solidFill>
                      <a:schemeClr val="accent6"/>
                    </a:solidFill>
                    <a:latin typeface="Times New Roman" pitchFamily="18" charset="0"/>
                    <a:cs typeface="Tahoma" pitchFamily="34" charset="0"/>
                  </a:rPr>
                  <a:t>”</a:t>
                </a:r>
                <a:endParaRPr lang="en-US" altLang="zh-CN" sz="3200">
                  <a:solidFill>
                    <a:schemeClr val="accent6"/>
                  </a:solidFill>
                  <a:ea typeface="黑体" pitchFamily="49" charset="-122"/>
                </a:endParaRPr>
              </a:p>
            </p:txBody>
          </p:sp>
          <p:sp>
            <p:nvSpPr>
              <p:cNvPr id="27" name="Line 35"/>
              <p:cNvSpPr>
                <a:spLocks noChangeShapeType="1"/>
              </p:cNvSpPr>
              <p:nvPr/>
            </p:nvSpPr>
            <p:spPr bwMode="auto">
              <a:xfrm>
                <a:off x="2496" y="2112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8" name="Line 36"/>
              <p:cNvSpPr>
                <a:spLocks noChangeShapeType="1"/>
              </p:cNvSpPr>
              <p:nvPr/>
            </p:nvSpPr>
            <p:spPr bwMode="auto">
              <a:xfrm>
                <a:off x="2496" y="2400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0" name="Line 37"/>
              <p:cNvSpPr>
                <a:spLocks noChangeShapeType="1"/>
              </p:cNvSpPr>
              <p:nvPr/>
            </p:nvSpPr>
            <p:spPr bwMode="auto">
              <a:xfrm>
                <a:off x="2496" y="2688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2" name="Line 38"/>
              <p:cNvSpPr>
                <a:spLocks noChangeShapeType="1"/>
              </p:cNvSpPr>
              <p:nvPr/>
            </p:nvSpPr>
            <p:spPr bwMode="auto">
              <a:xfrm>
                <a:off x="2496" y="2995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3" name="Line 39"/>
              <p:cNvSpPr>
                <a:spLocks noChangeShapeType="1"/>
              </p:cNvSpPr>
              <p:nvPr/>
            </p:nvSpPr>
            <p:spPr bwMode="auto">
              <a:xfrm>
                <a:off x="2496" y="3312"/>
                <a:ext cx="7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zh-CN" altLang="en-US">
                  <a:solidFill>
                    <a:schemeClr val="accent6"/>
                  </a:solidFill>
                </a:endParaRPr>
              </a:p>
            </p:txBody>
          </p:sp>
          <p:sp>
            <p:nvSpPr>
              <p:cNvPr id="34" name="Text Box 40"/>
              <p:cNvSpPr txBox="1">
                <a:spLocks noChangeArrowheads="1"/>
              </p:cNvSpPr>
              <p:nvPr/>
            </p:nvSpPr>
            <p:spPr bwMode="auto">
              <a:xfrm>
                <a:off x="2592" y="3024"/>
                <a:ext cx="40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accent6"/>
                    </a:solidFill>
                    <a:ea typeface="黑体" pitchFamily="49" charset="-122"/>
                  </a:rPr>
                  <a:t>取反</a:t>
                </a:r>
              </a:p>
            </p:txBody>
          </p:sp>
        </p:grpSp>
        <p:sp>
          <p:nvSpPr>
            <p:cNvPr id="10" name="Text Box 41"/>
            <p:cNvSpPr txBox="1">
              <a:spLocks noChangeArrowheads="1"/>
            </p:cNvSpPr>
            <p:nvPr/>
          </p:nvSpPr>
          <p:spPr bwMode="auto">
            <a:xfrm>
              <a:off x="2016" y="1728"/>
              <a:ext cx="3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solidFill>
                    <a:schemeClr val="accent6"/>
                  </a:solidFill>
                  <a:ea typeface="黑体" pitchFamily="49" charset="-122"/>
                </a:rPr>
                <a:t> </a:t>
              </a:r>
              <a:r>
                <a:rPr lang="zh-CN" altLang="en-US">
                  <a:solidFill>
                    <a:schemeClr val="accent6"/>
                  </a:solidFill>
                  <a:ea typeface="黑体" pitchFamily="49" charset="-122"/>
                </a:rPr>
                <a:t>求</a:t>
              </a:r>
            </a:p>
          </p:txBody>
        </p:sp>
      </p:grpSp>
      <p:grpSp>
        <p:nvGrpSpPr>
          <p:cNvPr id="57" name="Group 4"/>
          <p:cNvGrpSpPr>
            <a:grpSpLocks/>
          </p:cNvGrpSpPr>
          <p:nvPr/>
        </p:nvGrpSpPr>
        <p:grpSpPr bwMode="auto">
          <a:xfrm>
            <a:off x="6807200" y="1733550"/>
            <a:ext cx="990600" cy="762000"/>
            <a:chOff x="4608" y="2544"/>
            <a:chExt cx="624" cy="480"/>
          </a:xfrm>
        </p:grpSpPr>
        <p:sp>
          <p:nvSpPr>
            <p:cNvPr id="58" name="Line 5"/>
            <p:cNvSpPr>
              <a:spLocks noChangeShapeType="1"/>
            </p:cNvSpPr>
            <p:nvPr/>
          </p:nvSpPr>
          <p:spPr bwMode="auto">
            <a:xfrm>
              <a:off x="4608" y="2544"/>
              <a:ext cx="624" cy="48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9" name="Line 6"/>
            <p:cNvSpPr>
              <a:spLocks noChangeShapeType="1"/>
            </p:cNvSpPr>
            <p:nvPr/>
          </p:nvSpPr>
          <p:spPr bwMode="auto">
            <a:xfrm flipV="1">
              <a:off x="4608" y="2544"/>
              <a:ext cx="576" cy="48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4975225" y="2343150"/>
            <a:ext cx="12362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F=AB+CD</a:t>
            </a:r>
            <a:endParaRPr lang="en-US" altLang="zh-CN" dirty="0"/>
          </a:p>
        </p:txBody>
      </p:sp>
      <p:sp>
        <p:nvSpPr>
          <p:cNvPr id="63" name="AutoShape 10"/>
          <p:cNvSpPr>
            <a:spLocks/>
          </p:cNvSpPr>
          <p:nvPr/>
        </p:nvSpPr>
        <p:spPr bwMode="auto">
          <a:xfrm>
            <a:off x="6499225" y="2038350"/>
            <a:ext cx="76200" cy="990600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6578600" y="1885950"/>
            <a:ext cx="1866900" cy="457200"/>
            <a:chOff x="6578600" y="1885950"/>
            <a:chExt cx="1866900" cy="457200"/>
          </a:xfrm>
        </p:grpSpPr>
        <p:sp>
          <p:nvSpPr>
            <p:cNvPr id="65" name="Text Box 12"/>
            <p:cNvSpPr txBox="1">
              <a:spLocks noChangeArrowheads="1"/>
            </p:cNvSpPr>
            <p:nvPr/>
          </p:nvSpPr>
          <p:spPr bwMode="auto">
            <a:xfrm>
              <a:off x="6578600" y="1885950"/>
              <a:ext cx="18669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F=A+B</a:t>
              </a:r>
              <a:r>
                <a:rPr lang="en-US" altLang="zh-CN" dirty="0">
                  <a:latin typeface="Times New Roman" pitchFamily="18" charset="0"/>
                  <a:cs typeface="Tahoma" pitchFamily="34" charset="0"/>
                </a:rPr>
                <a:t>•</a:t>
              </a:r>
              <a:r>
                <a:rPr lang="en-US" altLang="zh-CN" dirty="0"/>
                <a:t>C+D</a:t>
              </a:r>
            </a:p>
          </p:txBody>
        </p:sp>
        <p:sp>
          <p:nvSpPr>
            <p:cNvPr id="66" name="Line 13"/>
            <p:cNvSpPr>
              <a:spLocks noChangeShapeType="1"/>
            </p:cNvSpPr>
            <p:nvPr/>
          </p:nvSpPr>
          <p:spPr bwMode="auto">
            <a:xfrm>
              <a:off x="6919680" y="1945573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" name="Line 14"/>
            <p:cNvSpPr>
              <a:spLocks noChangeShapeType="1"/>
            </p:cNvSpPr>
            <p:nvPr/>
          </p:nvSpPr>
          <p:spPr bwMode="auto">
            <a:xfrm>
              <a:off x="7188200" y="1945573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" name="Line 15"/>
            <p:cNvSpPr>
              <a:spLocks noChangeShapeType="1"/>
            </p:cNvSpPr>
            <p:nvPr/>
          </p:nvSpPr>
          <p:spPr bwMode="auto">
            <a:xfrm>
              <a:off x="7455525" y="1945573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" name="Line 16"/>
            <p:cNvSpPr>
              <a:spLocks noChangeShapeType="1"/>
            </p:cNvSpPr>
            <p:nvPr/>
          </p:nvSpPr>
          <p:spPr bwMode="auto">
            <a:xfrm>
              <a:off x="7721600" y="1945573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0" name="Line 17"/>
            <p:cNvSpPr>
              <a:spLocks noChangeShapeType="1"/>
            </p:cNvSpPr>
            <p:nvPr/>
          </p:nvSpPr>
          <p:spPr bwMode="auto">
            <a:xfrm>
              <a:off x="6654800" y="194591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578600" y="2724150"/>
            <a:ext cx="2336800" cy="457200"/>
            <a:chOff x="6400800" y="2952750"/>
            <a:chExt cx="2336800" cy="457200"/>
          </a:xfrm>
        </p:grpSpPr>
        <p:sp>
          <p:nvSpPr>
            <p:cNvPr id="72" name="Text Box 43"/>
            <p:cNvSpPr txBox="1">
              <a:spLocks noChangeArrowheads="1"/>
            </p:cNvSpPr>
            <p:nvPr/>
          </p:nvSpPr>
          <p:spPr bwMode="auto">
            <a:xfrm>
              <a:off x="6400800" y="2952750"/>
              <a:ext cx="2336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dirty="0"/>
                <a:t>F=(A+B)</a:t>
              </a:r>
              <a:r>
                <a:rPr lang="en-US" altLang="zh-CN" dirty="0">
                  <a:latin typeface="Times New Roman" pitchFamily="18" charset="0"/>
                  <a:cs typeface="Tahoma" pitchFamily="34" charset="0"/>
                </a:rPr>
                <a:t>•</a:t>
              </a:r>
              <a:r>
                <a:rPr lang="en-US" altLang="zh-CN" dirty="0">
                  <a:cs typeface="Tahoma" pitchFamily="34" charset="0"/>
                </a:rPr>
                <a:t>(</a:t>
              </a:r>
              <a:r>
                <a:rPr lang="en-US" altLang="zh-CN" dirty="0"/>
                <a:t>C+D)</a:t>
              </a:r>
            </a:p>
          </p:txBody>
        </p:sp>
        <p:sp>
          <p:nvSpPr>
            <p:cNvPr id="73" name="Line 44"/>
            <p:cNvSpPr>
              <a:spLocks noChangeShapeType="1"/>
            </p:cNvSpPr>
            <p:nvPr/>
          </p:nvSpPr>
          <p:spPr bwMode="auto">
            <a:xfrm>
              <a:off x="7086600" y="299897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Line 45"/>
            <p:cNvSpPr>
              <a:spLocks noChangeShapeType="1"/>
            </p:cNvSpPr>
            <p:nvPr/>
          </p:nvSpPr>
          <p:spPr bwMode="auto">
            <a:xfrm>
              <a:off x="6477000" y="3005215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" name="Line 46"/>
            <p:cNvSpPr>
              <a:spLocks noChangeShapeType="1"/>
            </p:cNvSpPr>
            <p:nvPr/>
          </p:nvSpPr>
          <p:spPr bwMode="auto">
            <a:xfrm>
              <a:off x="7467600" y="299897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6" name="Line 47"/>
            <p:cNvSpPr>
              <a:spLocks noChangeShapeType="1"/>
            </p:cNvSpPr>
            <p:nvPr/>
          </p:nvSpPr>
          <p:spPr bwMode="auto">
            <a:xfrm>
              <a:off x="7772400" y="2998970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7" name="Line 48"/>
            <p:cNvSpPr>
              <a:spLocks noChangeShapeType="1"/>
            </p:cNvSpPr>
            <p:nvPr/>
          </p:nvSpPr>
          <p:spPr bwMode="auto">
            <a:xfrm>
              <a:off x="6843010" y="3005215"/>
              <a:ext cx="152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5410200" y="3257550"/>
          <a:ext cx="1671418" cy="381000"/>
        </p:xfrm>
        <a:graphic>
          <a:graphicData uri="http://schemas.openxmlformats.org/presentationml/2006/ole">
            <p:oleObj spid="_x0000_s58371" name="Equation" r:id="rId3" imgW="1002960" imgH="228600" progId="Equation.DSMT4">
              <p:embed/>
            </p:oleObj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5348990" y="3867150"/>
          <a:ext cx="2161801" cy="457200"/>
        </p:xfrm>
        <a:graphic>
          <a:graphicData uri="http://schemas.openxmlformats.org/presentationml/2006/ole">
            <p:oleObj spid="_x0000_s58373" name="Equation" r:id="rId4" imgW="1320480" imgH="279360" progId="Equation.DSMT4">
              <p:embed/>
            </p:oleObj>
          </a:graphicData>
        </a:graphic>
      </p:graphicFrame>
      <p:sp>
        <p:nvSpPr>
          <p:cNvPr id="49" name="矩形 48"/>
          <p:cNvSpPr/>
          <p:nvPr/>
        </p:nvSpPr>
        <p:spPr>
          <a:xfrm>
            <a:off x="6096000" y="2324838"/>
            <a:ext cx="412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ym typeface="Symbol" pitchFamily="18" charset="2"/>
              </a:rPr>
              <a:t>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animBg="1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143000" y="819150"/>
            <a:ext cx="52341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dirty="0" smtClean="0">
                <a:ea typeface="黑体" pitchFamily="49" charset="-122"/>
              </a:rPr>
              <a:t>                </a:t>
            </a:r>
            <a:r>
              <a:rPr lang="en-US" altLang="zh-CN" sz="3200" dirty="0" smtClean="0">
                <a:ea typeface="黑体" pitchFamily="49" charset="-122"/>
              </a:rPr>
              <a:t>F=B</a:t>
            </a:r>
            <a:r>
              <a:rPr lang="en-US" altLang="zh-CN" sz="3200" dirty="0">
                <a:ea typeface="黑体" pitchFamily="49" charset="-122"/>
              </a:rPr>
              <a:t>[(A+CD)+E]   </a:t>
            </a: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4776787" y="846534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5486400" y="85367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906712" y="1482329"/>
            <a:ext cx="3298825" cy="597694"/>
            <a:chOff x="1766" y="1968"/>
            <a:chExt cx="2078" cy="502"/>
          </a:xfrm>
        </p:grpSpPr>
        <p:sp>
          <p:nvSpPr>
            <p:cNvPr id="85032" name="Text Box 11"/>
            <p:cNvSpPr txBox="1">
              <a:spLocks noChangeArrowheads="1"/>
            </p:cNvSpPr>
            <p:nvPr/>
          </p:nvSpPr>
          <p:spPr bwMode="auto">
            <a:xfrm>
              <a:off x="1766" y="1979"/>
              <a:ext cx="2078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3200" dirty="0">
                  <a:ea typeface="黑体" pitchFamily="49" charset="-122"/>
                </a:rPr>
                <a:t> </a:t>
              </a:r>
              <a:r>
                <a:rPr lang="en-US" altLang="zh-CN" sz="3200" dirty="0">
                  <a:ea typeface="黑体" pitchFamily="49" charset="-122"/>
                </a:rPr>
                <a:t>F=B[(A+CD)+E] </a:t>
              </a:r>
            </a:p>
          </p:txBody>
        </p:sp>
        <p:sp>
          <p:nvSpPr>
            <p:cNvPr id="85033" name="Line 12"/>
            <p:cNvSpPr>
              <a:spLocks noChangeShapeType="1"/>
            </p:cNvSpPr>
            <p:nvPr/>
          </p:nvSpPr>
          <p:spPr bwMode="auto">
            <a:xfrm>
              <a:off x="3007" y="20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4" name="Line 13"/>
            <p:cNvSpPr>
              <a:spLocks noChangeShapeType="1"/>
            </p:cNvSpPr>
            <p:nvPr/>
          </p:nvSpPr>
          <p:spPr bwMode="auto">
            <a:xfrm>
              <a:off x="3439" y="20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5" name="Line 14"/>
            <p:cNvSpPr>
              <a:spLocks noChangeShapeType="1"/>
            </p:cNvSpPr>
            <p:nvPr/>
          </p:nvSpPr>
          <p:spPr bwMode="auto">
            <a:xfrm>
              <a:off x="1872" y="201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6" name="Line 15"/>
            <p:cNvSpPr>
              <a:spLocks noChangeShapeType="1"/>
            </p:cNvSpPr>
            <p:nvPr/>
          </p:nvSpPr>
          <p:spPr bwMode="auto">
            <a:xfrm>
              <a:off x="2191" y="1968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3227387" y="2807845"/>
            <a:ext cx="2593975" cy="607219"/>
            <a:chOff x="1968" y="2880"/>
            <a:chExt cx="1634" cy="510"/>
          </a:xfrm>
        </p:grpSpPr>
        <p:sp>
          <p:nvSpPr>
            <p:cNvPr id="85026" name="Line 17"/>
            <p:cNvSpPr>
              <a:spLocks noChangeShapeType="1"/>
            </p:cNvSpPr>
            <p:nvPr/>
          </p:nvSpPr>
          <p:spPr bwMode="auto">
            <a:xfrm>
              <a:off x="3120" y="29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7" name="Text Box 18"/>
            <p:cNvSpPr txBox="1">
              <a:spLocks noChangeArrowheads="1"/>
            </p:cNvSpPr>
            <p:nvPr/>
          </p:nvSpPr>
          <p:spPr bwMode="auto">
            <a:xfrm>
              <a:off x="1968" y="2899"/>
              <a:ext cx="1634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ea typeface="黑体" pitchFamily="49" charset="-122"/>
                </a:rPr>
                <a:t>=B+(A+CD)E</a:t>
              </a:r>
            </a:p>
          </p:txBody>
        </p:sp>
        <p:sp>
          <p:nvSpPr>
            <p:cNvPr id="85028" name="Line 19"/>
            <p:cNvSpPr>
              <a:spLocks noChangeShapeType="1"/>
            </p:cNvSpPr>
            <p:nvPr/>
          </p:nvSpPr>
          <p:spPr bwMode="auto">
            <a:xfrm>
              <a:off x="3343" y="29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9" name="Line 20"/>
            <p:cNvSpPr>
              <a:spLocks noChangeShapeType="1"/>
            </p:cNvSpPr>
            <p:nvPr/>
          </p:nvSpPr>
          <p:spPr bwMode="auto">
            <a:xfrm>
              <a:off x="2143" y="2928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0" name="Line 21"/>
            <p:cNvSpPr>
              <a:spLocks noChangeShapeType="1"/>
            </p:cNvSpPr>
            <p:nvPr/>
          </p:nvSpPr>
          <p:spPr bwMode="auto">
            <a:xfrm>
              <a:off x="2544" y="288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31" name="Line 22"/>
            <p:cNvSpPr>
              <a:spLocks noChangeShapeType="1"/>
            </p:cNvSpPr>
            <p:nvPr/>
          </p:nvSpPr>
          <p:spPr bwMode="auto">
            <a:xfrm>
              <a:off x="3343" y="288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3227387" y="3562350"/>
            <a:ext cx="2081213" cy="607219"/>
            <a:chOff x="1968" y="3312"/>
            <a:chExt cx="1311" cy="510"/>
          </a:xfrm>
        </p:grpSpPr>
        <p:sp>
          <p:nvSpPr>
            <p:cNvPr id="85021" name="Rectangle 24"/>
            <p:cNvSpPr>
              <a:spLocks noChangeArrowheads="1"/>
            </p:cNvSpPr>
            <p:nvPr/>
          </p:nvSpPr>
          <p:spPr bwMode="auto">
            <a:xfrm>
              <a:off x="1968" y="3331"/>
              <a:ext cx="1311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ea typeface="黑体" pitchFamily="49" charset="-122"/>
                </a:rPr>
                <a:t>=B+ACDE</a:t>
              </a:r>
            </a:p>
          </p:txBody>
        </p:sp>
        <p:sp>
          <p:nvSpPr>
            <p:cNvPr id="85022" name="Line 25"/>
            <p:cNvSpPr>
              <a:spLocks noChangeShapeType="1"/>
            </p:cNvSpPr>
            <p:nvPr/>
          </p:nvSpPr>
          <p:spPr bwMode="auto">
            <a:xfrm>
              <a:off x="2143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3" name="Line 26"/>
            <p:cNvSpPr>
              <a:spLocks noChangeShapeType="1"/>
            </p:cNvSpPr>
            <p:nvPr/>
          </p:nvSpPr>
          <p:spPr bwMode="auto">
            <a:xfrm>
              <a:off x="2832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4" name="Line 27"/>
            <p:cNvSpPr>
              <a:spLocks noChangeShapeType="1"/>
            </p:cNvSpPr>
            <p:nvPr/>
          </p:nvSpPr>
          <p:spPr bwMode="auto">
            <a:xfrm>
              <a:off x="2496" y="3312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5" name="Line 28"/>
            <p:cNvSpPr>
              <a:spLocks noChangeShapeType="1"/>
            </p:cNvSpPr>
            <p:nvPr/>
          </p:nvSpPr>
          <p:spPr bwMode="auto">
            <a:xfrm>
              <a:off x="2736" y="3312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5330825" y="3564731"/>
            <a:ext cx="2593975" cy="607219"/>
            <a:chOff x="3339" y="3312"/>
            <a:chExt cx="1634" cy="510"/>
          </a:xfrm>
        </p:grpSpPr>
        <p:sp>
          <p:nvSpPr>
            <p:cNvPr id="85015" name="Rectangle 30"/>
            <p:cNvSpPr>
              <a:spLocks noChangeArrowheads="1"/>
            </p:cNvSpPr>
            <p:nvPr/>
          </p:nvSpPr>
          <p:spPr bwMode="auto">
            <a:xfrm>
              <a:off x="3339" y="3331"/>
              <a:ext cx="1634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 smtClean="0">
                  <a:ea typeface="黑体" pitchFamily="49" charset="-122"/>
                </a:rPr>
                <a:t>=B+A(C+D)E</a:t>
              </a:r>
              <a:endParaRPr lang="en-US" altLang="zh-CN" sz="3200" dirty="0">
                <a:ea typeface="黑体" pitchFamily="49" charset="-122"/>
              </a:endParaRPr>
            </a:p>
          </p:txBody>
        </p:sp>
        <p:sp>
          <p:nvSpPr>
            <p:cNvPr id="85016" name="Line 31"/>
            <p:cNvSpPr>
              <a:spLocks noChangeShapeType="1"/>
            </p:cNvSpPr>
            <p:nvPr/>
          </p:nvSpPr>
          <p:spPr bwMode="auto">
            <a:xfrm>
              <a:off x="3514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17" name="Line 32"/>
            <p:cNvSpPr>
              <a:spLocks noChangeShapeType="1"/>
            </p:cNvSpPr>
            <p:nvPr/>
          </p:nvSpPr>
          <p:spPr bwMode="auto">
            <a:xfrm>
              <a:off x="3850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18" name="Line 33"/>
            <p:cNvSpPr>
              <a:spLocks noChangeShapeType="1"/>
            </p:cNvSpPr>
            <p:nvPr/>
          </p:nvSpPr>
          <p:spPr bwMode="auto">
            <a:xfrm>
              <a:off x="4138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19" name="Line 34"/>
            <p:cNvSpPr>
              <a:spLocks noChangeShapeType="1"/>
            </p:cNvSpPr>
            <p:nvPr/>
          </p:nvSpPr>
          <p:spPr bwMode="auto">
            <a:xfrm>
              <a:off x="4426" y="336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20" name="Line 35"/>
            <p:cNvSpPr>
              <a:spLocks noChangeShapeType="1"/>
            </p:cNvSpPr>
            <p:nvPr/>
          </p:nvSpPr>
          <p:spPr bwMode="auto">
            <a:xfrm>
              <a:off x="4426" y="3312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35326" y="4196952"/>
            <a:ext cx="2593975" cy="584598"/>
            <a:chOff x="1968" y="3888"/>
            <a:chExt cx="1634" cy="491"/>
          </a:xfrm>
        </p:grpSpPr>
        <p:sp>
          <p:nvSpPr>
            <p:cNvPr id="85011" name="Text Box 37"/>
            <p:cNvSpPr txBox="1">
              <a:spLocks noChangeArrowheads="1"/>
            </p:cNvSpPr>
            <p:nvPr/>
          </p:nvSpPr>
          <p:spPr bwMode="auto">
            <a:xfrm>
              <a:off x="1968" y="3888"/>
              <a:ext cx="1634" cy="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ea typeface="黑体" pitchFamily="49" charset="-122"/>
                </a:rPr>
                <a:t>=B+A(C+D)E</a:t>
              </a:r>
            </a:p>
          </p:txBody>
        </p:sp>
        <p:sp>
          <p:nvSpPr>
            <p:cNvPr id="85012" name="Line 38"/>
            <p:cNvSpPr>
              <a:spLocks noChangeShapeType="1"/>
            </p:cNvSpPr>
            <p:nvPr/>
          </p:nvSpPr>
          <p:spPr bwMode="auto">
            <a:xfrm>
              <a:off x="2138" y="3982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13" name="Line 39"/>
            <p:cNvSpPr>
              <a:spLocks noChangeShapeType="1"/>
            </p:cNvSpPr>
            <p:nvPr/>
          </p:nvSpPr>
          <p:spPr bwMode="auto">
            <a:xfrm>
              <a:off x="2474" y="397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014" name="Line 40"/>
            <p:cNvSpPr>
              <a:spLocks noChangeShapeType="1"/>
            </p:cNvSpPr>
            <p:nvPr/>
          </p:nvSpPr>
          <p:spPr bwMode="auto">
            <a:xfrm>
              <a:off x="2743" y="397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3227386" y="2191943"/>
            <a:ext cx="2895600" cy="590550"/>
            <a:chOff x="1968" y="2448"/>
            <a:chExt cx="1824" cy="496"/>
          </a:xfrm>
        </p:grpSpPr>
        <p:grpSp>
          <p:nvGrpSpPr>
            <p:cNvPr id="8" name="Group 42"/>
            <p:cNvGrpSpPr>
              <a:grpSpLocks/>
            </p:cNvGrpSpPr>
            <p:nvPr/>
          </p:nvGrpSpPr>
          <p:grpSpPr bwMode="auto">
            <a:xfrm>
              <a:off x="1968" y="2448"/>
              <a:ext cx="1824" cy="496"/>
              <a:chOff x="1968" y="2448"/>
              <a:chExt cx="1824" cy="496"/>
            </a:xfrm>
          </p:grpSpPr>
          <p:sp>
            <p:nvSpPr>
              <p:cNvPr id="85007" name="Text Box 43"/>
              <p:cNvSpPr txBox="1">
                <a:spLocks noChangeArrowheads="1"/>
              </p:cNvSpPr>
              <p:nvPr/>
            </p:nvSpPr>
            <p:spPr bwMode="auto">
              <a:xfrm>
                <a:off x="1968" y="2453"/>
                <a:ext cx="1785" cy="4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dirty="0">
                    <a:ea typeface="黑体" pitchFamily="49" charset="-122"/>
                  </a:rPr>
                  <a:t>=B+(A+CD)+E</a:t>
                </a:r>
              </a:p>
            </p:txBody>
          </p:sp>
          <p:sp>
            <p:nvSpPr>
              <p:cNvPr id="85008" name="Line 44"/>
              <p:cNvSpPr>
                <a:spLocks noChangeShapeType="1"/>
              </p:cNvSpPr>
              <p:nvPr/>
            </p:nvSpPr>
            <p:spPr bwMode="auto">
              <a:xfrm>
                <a:off x="3487" y="2496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009" name="Line 45"/>
              <p:cNvSpPr>
                <a:spLocks noChangeShapeType="1"/>
              </p:cNvSpPr>
              <p:nvPr/>
            </p:nvSpPr>
            <p:spPr bwMode="auto">
              <a:xfrm>
                <a:off x="2191" y="2511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5010" name="Line 46"/>
              <p:cNvSpPr>
                <a:spLocks noChangeShapeType="1"/>
              </p:cNvSpPr>
              <p:nvPr/>
            </p:nvSpPr>
            <p:spPr bwMode="auto">
              <a:xfrm>
                <a:off x="2544" y="2448"/>
                <a:ext cx="12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85006" name="Line 47"/>
            <p:cNvSpPr>
              <a:spLocks noChangeShapeType="1"/>
            </p:cNvSpPr>
            <p:nvPr/>
          </p:nvSpPr>
          <p:spPr bwMode="auto">
            <a:xfrm>
              <a:off x="3055" y="2496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85004" name="Text Box 48"/>
          <p:cNvSpPr txBox="1">
            <a:spLocks noChangeArrowheads="1"/>
          </p:cNvSpPr>
          <p:nvPr/>
        </p:nvSpPr>
        <p:spPr bwMode="auto">
          <a:xfrm>
            <a:off x="1839912" y="241220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lang="zh-CN" altLang="zh-CN"/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0" y="742950"/>
            <a:ext cx="2895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：求</a:t>
            </a:r>
            <a:r>
              <a:rPr lang="en-US" altLang="zh-CN" sz="2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的反函数</a:t>
            </a:r>
            <a:endParaRPr lang="en-US" altLang="zh-CN" sz="24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304800" y="666750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对偶函数：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04800" y="1504950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ea typeface="黑体" pitchFamily="49" charset="-122"/>
              </a:rPr>
              <a:t>已知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143000" y="1276350"/>
            <a:ext cx="3111500" cy="3048000"/>
            <a:chOff x="1593850" y="3276600"/>
            <a:chExt cx="3111500" cy="3048000"/>
          </a:xfrm>
        </p:grpSpPr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1889125" y="3471863"/>
              <a:ext cx="396875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ea typeface="黑体" pitchFamily="49" charset="-122"/>
                </a:rPr>
                <a:t>F</a:t>
              </a: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2514600" y="37687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3962400" y="3465513"/>
              <a:ext cx="531813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ea typeface="黑体" pitchFamily="49" charset="-122"/>
                </a:rPr>
                <a:t>F</a:t>
              </a:r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’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1752600" y="3844925"/>
              <a:ext cx="6889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•”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1676400" y="4302125"/>
              <a:ext cx="8413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+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2" name="Text Box 11"/>
            <p:cNvSpPr txBox="1">
              <a:spLocks noChangeArrowheads="1"/>
            </p:cNvSpPr>
            <p:nvPr/>
          </p:nvSpPr>
          <p:spPr bwMode="auto">
            <a:xfrm>
              <a:off x="1746250" y="4759325"/>
              <a:ext cx="76835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 dirty="0">
                  <a:cs typeface="Tahoma" pitchFamily="34" charset="0"/>
                </a:rPr>
                <a:t>0</a:t>
              </a:r>
              <a:r>
                <a:rPr lang="en-US" altLang="zh-CN" sz="3200" dirty="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 dirty="0">
                <a:ea typeface="黑体" pitchFamily="49" charset="-122"/>
              </a:endParaRP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1752600" y="53228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1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4" name="Text Box 13"/>
            <p:cNvSpPr txBox="1">
              <a:spLocks noChangeArrowheads="1"/>
            </p:cNvSpPr>
            <p:nvPr/>
          </p:nvSpPr>
          <p:spPr bwMode="auto">
            <a:xfrm>
              <a:off x="1593850" y="5805488"/>
              <a:ext cx="8953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>
                  <a:ea typeface="黑体" pitchFamily="49" charset="-122"/>
                </a:rPr>
                <a:t>变量</a:t>
              </a:r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3810000" y="5802313"/>
              <a:ext cx="8953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>
                  <a:ea typeface="黑体" pitchFamily="49" charset="-122"/>
                </a:rPr>
                <a:t>变量</a:t>
              </a:r>
            </a:p>
          </p:txBody>
        </p: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3886200" y="4302125"/>
              <a:ext cx="6889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•”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3810000" y="3879850"/>
              <a:ext cx="8413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+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3886200" y="53228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0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3879850" y="47132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1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40" name="Line 19"/>
            <p:cNvSpPr>
              <a:spLocks noChangeShapeType="1"/>
            </p:cNvSpPr>
            <p:nvPr/>
          </p:nvSpPr>
          <p:spPr bwMode="auto">
            <a:xfrm>
              <a:off x="2514600" y="41497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2514600" y="46069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21"/>
            <p:cNvSpPr>
              <a:spLocks noChangeShapeType="1"/>
            </p:cNvSpPr>
            <p:nvPr/>
          </p:nvSpPr>
          <p:spPr bwMode="auto">
            <a:xfrm>
              <a:off x="2514600" y="50641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2514600" y="5551488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2514600" y="60547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2667000" y="5715000"/>
              <a:ext cx="79375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dirty="0">
                  <a:ea typeface="黑体" pitchFamily="49" charset="-122"/>
                </a:rPr>
                <a:t>不变</a:t>
              </a:r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2724150" y="3276600"/>
              <a:ext cx="584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ea typeface="黑体" pitchFamily="49" charset="-122"/>
                </a:rPr>
                <a:t> </a:t>
              </a:r>
              <a:r>
                <a:rPr lang="zh-CN" altLang="en-US">
                  <a:ea typeface="黑体" pitchFamily="49" charset="-122"/>
                </a:rPr>
                <a:t>求</a:t>
              </a:r>
            </a:p>
          </p:txBody>
        </p:sp>
      </p:grpSp>
      <p:sp>
        <p:nvSpPr>
          <p:cNvPr id="48" name="矩形 47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304800" y="666750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对偶函数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04800" y="1504950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ea typeface="黑体" pitchFamily="49" charset="-122"/>
              </a:rPr>
              <a:t>已知</a:t>
            </a:r>
          </a:p>
        </p:txBody>
      </p:sp>
      <p:grpSp>
        <p:nvGrpSpPr>
          <p:cNvPr id="2" name="组合 25"/>
          <p:cNvGrpSpPr/>
          <p:nvPr/>
        </p:nvGrpSpPr>
        <p:grpSpPr>
          <a:xfrm>
            <a:off x="1143000" y="1276350"/>
            <a:ext cx="3111500" cy="3048000"/>
            <a:chOff x="1593850" y="3276600"/>
            <a:chExt cx="3111500" cy="3048000"/>
          </a:xfrm>
        </p:grpSpPr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1889125" y="3471863"/>
              <a:ext cx="396875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ea typeface="黑体" pitchFamily="49" charset="-122"/>
                </a:rPr>
                <a:t>F</a:t>
              </a: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2514600" y="37687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3962400" y="3465513"/>
              <a:ext cx="531813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ea typeface="黑体" pitchFamily="49" charset="-122"/>
                </a:rPr>
                <a:t>F</a:t>
              </a:r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’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0" name="Text Box 9"/>
            <p:cNvSpPr txBox="1">
              <a:spLocks noChangeArrowheads="1"/>
            </p:cNvSpPr>
            <p:nvPr/>
          </p:nvSpPr>
          <p:spPr bwMode="auto">
            <a:xfrm>
              <a:off x="1752600" y="3844925"/>
              <a:ext cx="6889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•”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1" name="Text Box 10"/>
            <p:cNvSpPr txBox="1">
              <a:spLocks noChangeArrowheads="1"/>
            </p:cNvSpPr>
            <p:nvPr/>
          </p:nvSpPr>
          <p:spPr bwMode="auto">
            <a:xfrm>
              <a:off x="1676400" y="4302125"/>
              <a:ext cx="8413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+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2" name="Text Box 11"/>
            <p:cNvSpPr txBox="1">
              <a:spLocks noChangeArrowheads="1"/>
            </p:cNvSpPr>
            <p:nvPr/>
          </p:nvSpPr>
          <p:spPr bwMode="auto">
            <a:xfrm>
              <a:off x="1746250" y="4759325"/>
              <a:ext cx="768350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dirty="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 dirty="0">
                  <a:cs typeface="Tahoma" pitchFamily="34" charset="0"/>
                </a:rPr>
                <a:t>0</a:t>
              </a:r>
              <a:r>
                <a:rPr lang="en-US" altLang="zh-CN" sz="3200" dirty="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 dirty="0">
                <a:ea typeface="黑体" pitchFamily="49" charset="-122"/>
              </a:endParaRPr>
            </a:p>
          </p:txBody>
        </p:sp>
        <p:sp>
          <p:nvSpPr>
            <p:cNvPr id="33" name="Text Box 12"/>
            <p:cNvSpPr txBox="1">
              <a:spLocks noChangeArrowheads="1"/>
            </p:cNvSpPr>
            <p:nvPr/>
          </p:nvSpPr>
          <p:spPr bwMode="auto">
            <a:xfrm>
              <a:off x="1752600" y="53228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1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4" name="Text Box 13"/>
            <p:cNvSpPr txBox="1">
              <a:spLocks noChangeArrowheads="1"/>
            </p:cNvSpPr>
            <p:nvPr/>
          </p:nvSpPr>
          <p:spPr bwMode="auto">
            <a:xfrm>
              <a:off x="1593850" y="5805488"/>
              <a:ext cx="8953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C00000"/>
                  </a:solidFill>
                  <a:ea typeface="黑体" pitchFamily="49" charset="-122"/>
                </a:rPr>
                <a:t>变量</a:t>
              </a:r>
            </a:p>
          </p:txBody>
        </p:sp>
        <p:sp>
          <p:nvSpPr>
            <p:cNvPr id="35" name="Text Box 14"/>
            <p:cNvSpPr txBox="1">
              <a:spLocks noChangeArrowheads="1"/>
            </p:cNvSpPr>
            <p:nvPr/>
          </p:nvSpPr>
          <p:spPr bwMode="auto">
            <a:xfrm>
              <a:off x="3810000" y="5802313"/>
              <a:ext cx="895350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>
                  <a:solidFill>
                    <a:srgbClr val="C00000"/>
                  </a:solidFill>
                  <a:ea typeface="黑体" pitchFamily="49" charset="-122"/>
                </a:rPr>
                <a:t>变量</a:t>
              </a:r>
            </a:p>
          </p:txBody>
        </p:sp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3886200" y="4302125"/>
              <a:ext cx="6889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•”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7" name="Text Box 16"/>
            <p:cNvSpPr txBox="1">
              <a:spLocks noChangeArrowheads="1"/>
            </p:cNvSpPr>
            <p:nvPr/>
          </p:nvSpPr>
          <p:spPr bwMode="auto">
            <a:xfrm>
              <a:off x="3810000" y="3879850"/>
              <a:ext cx="841375" cy="579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+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>
              <a:off x="3886200" y="53228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0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3879850" y="4713288"/>
              <a:ext cx="768350" cy="5794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>
                  <a:latin typeface="Times New Roman" pitchFamily="18" charset="0"/>
                  <a:ea typeface="黑体" pitchFamily="49" charset="-122"/>
                </a:rPr>
                <a:t>“</a:t>
              </a:r>
              <a:r>
                <a:rPr lang="en-US" altLang="zh-CN" sz="3200">
                  <a:cs typeface="Tahoma" pitchFamily="34" charset="0"/>
                </a:rPr>
                <a:t>1</a:t>
              </a:r>
              <a:r>
                <a:rPr lang="en-US" altLang="zh-CN" sz="3200">
                  <a:latin typeface="Times New Roman" pitchFamily="18" charset="0"/>
                  <a:cs typeface="Tahoma" pitchFamily="34" charset="0"/>
                </a:rPr>
                <a:t>”</a:t>
              </a:r>
              <a:endParaRPr lang="en-US" altLang="zh-CN" sz="3200">
                <a:ea typeface="黑体" pitchFamily="49" charset="-122"/>
              </a:endParaRPr>
            </a:p>
          </p:txBody>
        </p:sp>
        <p:sp>
          <p:nvSpPr>
            <p:cNvPr id="40" name="Line 19"/>
            <p:cNvSpPr>
              <a:spLocks noChangeShapeType="1"/>
            </p:cNvSpPr>
            <p:nvPr/>
          </p:nvSpPr>
          <p:spPr bwMode="auto">
            <a:xfrm>
              <a:off x="2514600" y="41497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2514600" y="46069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2" name="Line 21"/>
            <p:cNvSpPr>
              <a:spLocks noChangeShapeType="1"/>
            </p:cNvSpPr>
            <p:nvPr/>
          </p:nvSpPr>
          <p:spPr bwMode="auto">
            <a:xfrm>
              <a:off x="2514600" y="5064125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2514600" y="5551488"/>
              <a:ext cx="1219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2514600" y="6054725"/>
              <a:ext cx="1219200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>
                <a:solidFill>
                  <a:srgbClr val="C00000"/>
                </a:solidFill>
              </a:endParaRPr>
            </a:p>
          </p:txBody>
        </p: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2667000" y="5726668"/>
              <a:ext cx="64633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C00000"/>
                  </a:solidFill>
                  <a:ea typeface="黑体" pitchFamily="49" charset="-122"/>
                </a:rPr>
                <a:t>不变</a:t>
              </a:r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2724150" y="3276600"/>
              <a:ext cx="584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>
                  <a:ea typeface="黑体" pitchFamily="49" charset="-122"/>
                </a:rPr>
                <a:t> </a:t>
              </a:r>
              <a:r>
                <a:rPr lang="zh-CN" altLang="en-US">
                  <a:ea typeface="黑体" pitchFamily="49" charset="-122"/>
                </a:rPr>
                <a:t>求</a:t>
              </a:r>
            </a:p>
          </p:txBody>
        </p:sp>
      </p:grp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5638800" y="1809750"/>
          <a:ext cx="1671638" cy="381000"/>
        </p:xfrm>
        <a:graphic>
          <a:graphicData uri="http://schemas.openxmlformats.org/presentationml/2006/ole">
            <p:oleObj spid="_x0000_s59394" name="Equation" r:id="rId3" imgW="1002960" imgH="228600" progId="Equation.DSMT4">
              <p:embed/>
            </p:oleObj>
          </a:graphicData>
        </a:graphic>
      </p:graphicFrame>
      <p:sp>
        <p:nvSpPr>
          <p:cNvPr id="48" name="Text Box 5"/>
          <p:cNvSpPr txBox="1">
            <a:spLocks noChangeArrowheads="1"/>
          </p:cNvSpPr>
          <p:nvPr/>
        </p:nvSpPr>
        <p:spPr bwMode="auto">
          <a:xfrm>
            <a:off x="5181600" y="1276350"/>
            <a:ext cx="9717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 smtClean="0">
                <a:solidFill>
                  <a:schemeClr val="accent6"/>
                </a:solidFill>
                <a:ea typeface="黑体" pitchFamily="49" charset="-122"/>
              </a:rPr>
              <a:t>例</a:t>
            </a:r>
            <a:r>
              <a:rPr lang="en-US" altLang="zh-CN" sz="2400" b="1" dirty="0" smtClean="0">
                <a:solidFill>
                  <a:schemeClr val="accent6"/>
                </a:solidFill>
                <a:ea typeface="黑体" pitchFamily="49" charset="-122"/>
              </a:rPr>
              <a:t>2</a:t>
            </a:r>
            <a:r>
              <a:rPr lang="zh-CN" altLang="en-US" sz="2400" b="1" dirty="0" smtClean="0">
                <a:solidFill>
                  <a:schemeClr val="accent6"/>
                </a:solidFill>
                <a:ea typeface="黑体" pitchFamily="49" charset="-122"/>
              </a:rPr>
              <a:t>：</a:t>
            </a:r>
            <a:endParaRPr lang="zh-CN" altLang="en-US" sz="2400" b="1" dirty="0">
              <a:solidFill>
                <a:schemeClr val="accent6"/>
              </a:solidFill>
              <a:ea typeface="黑体" pitchFamily="49" charset="-122"/>
            </a:endParaRP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5562600" y="2266950"/>
          <a:ext cx="2205037" cy="457200"/>
        </p:xfrm>
        <a:graphic>
          <a:graphicData uri="http://schemas.openxmlformats.org/presentationml/2006/ole">
            <p:oleObj spid="_x0000_s59396" name="Equation" r:id="rId4" imgW="1346040" imgH="279360" progId="Equation.DSMT4">
              <p:embed/>
            </p:oleObj>
          </a:graphicData>
        </a:graphic>
      </p:graphicFrame>
      <p:sp>
        <p:nvSpPr>
          <p:cNvPr id="49" name="矩形 48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的反函数   和对偶函数   的区别？</a:t>
            </a: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1071562" y="1733550"/>
          <a:ext cx="1671638" cy="381000"/>
        </p:xfrm>
        <a:graphic>
          <a:graphicData uri="http://schemas.openxmlformats.org/presentationml/2006/ole">
            <p:oleObj spid="_x0000_s60418" name="Equation" r:id="rId3" imgW="1002960" imgH="228600" progId="Equation.DSMT4">
              <p:embed/>
            </p:oleObj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3281362" y="2266950"/>
          <a:ext cx="2205038" cy="457200"/>
        </p:xfrm>
        <a:graphic>
          <a:graphicData uri="http://schemas.openxmlformats.org/presentationml/2006/ole">
            <p:oleObj spid="_x0000_s60419" name="Equation" r:id="rId4" imgW="1346040" imgH="279360" progId="Equation.DSMT4">
              <p:embed/>
            </p:oleObj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3281362" y="1428750"/>
          <a:ext cx="2162175" cy="457200"/>
        </p:xfrm>
        <a:graphic>
          <a:graphicData uri="http://schemas.openxmlformats.org/presentationml/2006/ole">
            <p:oleObj spid="_x0000_s60420" name="Equation" r:id="rId5" imgW="1320480" imgH="279360" progId="Equation.DSMT4">
              <p:embed/>
            </p:oleObj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1905000" y="742950"/>
          <a:ext cx="190500" cy="254000"/>
        </p:xfrm>
        <a:graphic>
          <a:graphicData uri="http://schemas.openxmlformats.org/presentationml/2006/ole">
            <p:oleObj spid="_x0000_s60423" name="Equation" r:id="rId6" imgW="190440" imgH="253800" progId="Equation.DSMT4">
              <p:embed/>
            </p:oleObj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3200400" y="727960"/>
          <a:ext cx="215900" cy="241300"/>
        </p:xfrm>
        <a:graphic>
          <a:graphicData uri="http://schemas.openxmlformats.org/presentationml/2006/ole">
            <p:oleObj spid="_x0000_s60424" name="Equation" r:id="rId7" imgW="215640" imgH="241200" progId="Equation.DSMT4">
              <p:embed/>
            </p:oleObj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371600" y="3101935"/>
            <a:ext cx="5029200" cy="1908215"/>
            <a:chOff x="1371600" y="3101935"/>
            <a:chExt cx="5029200" cy="1908215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371600" y="3101935"/>
              <a:ext cx="5029200" cy="1908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与   中的变量是相反的，其余相同。</a:t>
              </a:r>
              <a:endParaRPr lang="en-US" altLang="zh-CN" sz="1600" dirty="0" smtClean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0" lvl="1" indent="457200">
                <a:lnSpc>
                  <a:spcPct val="150000"/>
                </a:lnSpc>
              </a:pPr>
              <a:endParaRPr lang="en-US" altLang="zh-CN" dirty="0" smtClean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 indent="457200">
                <a:lnSpc>
                  <a:spcPct val="150000"/>
                </a:lnSpc>
              </a:pPr>
              <a:endPara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dirty="0" smtClean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dirty="0" smtClean="0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60425" name="Object 9"/>
            <p:cNvGraphicFramePr>
              <a:graphicFrameLocks noChangeAspect="1"/>
            </p:cNvGraphicFramePr>
            <p:nvPr/>
          </p:nvGraphicFramePr>
          <p:xfrm>
            <a:off x="1447800" y="3257550"/>
            <a:ext cx="190500" cy="254000"/>
          </p:xfrm>
          <a:graphic>
            <a:graphicData uri="http://schemas.openxmlformats.org/presentationml/2006/ole">
              <p:oleObj spid="_x0000_s60425" name="Equation" r:id="rId8" imgW="190440" imgH="253800" progId="Equation.DSMT4">
                <p:embed/>
              </p:oleObj>
            </a:graphicData>
          </a:graphic>
        </p:graphicFrame>
        <p:graphicFrame>
          <p:nvGraphicFramePr>
            <p:cNvPr id="60426" name="Object 10"/>
            <p:cNvGraphicFramePr>
              <a:graphicFrameLocks noChangeAspect="1"/>
            </p:cNvGraphicFramePr>
            <p:nvPr/>
          </p:nvGraphicFramePr>
          <p:xfrm>
            <a:off x="1956425" y="3241310"/>
            <a:ext cx="215900" cy="241300"/>
          </p:xfrm>
          <a:graphic>
            <a:graphicData uri="http://schemas.openxmlformats.org/presentationml/2006/ole">
              <p:oleObj spid="_x0000_s60426" name="Equation" r:id="rId9" imgW="215640" imgH="241200" progId="Equation.DSMT4">
                <p:embed/>
              </p:oleObj>
            </a:graphicData>
          </a:graphic>
        </p:graphicFrame>
      </p:grpSp>
      <p:sp>
        <p:nvSpPr>
          <p:cNvPr id="13" name="矩形 12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1447800" y="742950"/>
          <a:ext cx="2641600" cy="407987"/>
        </p:xfrm>
        <a:graphic>
          <a:graphicData uri="http://schemas.openxmlformats.org/presentationml/2006/ole">
            <p:oleObj spid="_x0000_s61442" name="Equation" r:id="rId3" imgW="1168200" imgH="241200" progId="Equation.DSMT4">
              <p:embed/>
            </p:oleObj>
          </a:graphicData>
        </a:graphic>
      </p:graphicFrame>
      <p:sp>
        <p:nvSpPr>
          <p:cNvPr id="7173" name="TextBox 5"/>
          <p:cNvSpPr txBox="1">
            <a:spLocks noChangeArrowheads="1"/>
          </p:cNvSpPr>
          <p:nvPr/>
        </p:nvSpPr>
        <p:spPr bwMode="auto">
          <a:xfrm>
            <a:off x="4114800" y="742950"/>
            <a:ext cx="57610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求</a:t>
            </a:r>
            <a:r>
              <a:rPr lang="en-US" altLang="zh-CN" sz="2400" dirty="0"/>
              <a:t>F</a:t>
            </a:r>
            <a:r>
              <a:rPr lang="zh-CN" altLang="en-US" sz="2400" dirty="0"/>
              <a:t>’</a:t>
            </a:r>
            <a:r>
              <a:rPr lang="en-US" altLang="zh-CN" sz="2400" dirty="0"/>
              <a:t>=</a:t>
            </a:r>
            <a:r>
              <a:rPr lang="zh-CN" altLang="en-US" sz="2400" dirty="0" smtClean="0"/>
              <a:t>？</a:t>
            </a:r>
            <a:endParaRPr lang="zh-CN" altLang="en-US" sz="2400" dirty="0"/>
          </a:p>
        </p:txBody>
      </p:sp>
      <p:graphicFrame>
        <p:nvGraphicFramePr>
          <p:cNvPr id="205827" name="Object 3"/>
          <p:cNvGraphicFramePr>
            <a:graphicFrameLocks noChangeAspect="1"/>
          </p:cNvGraphicFramePr>
          <p:nvPr/>
        </p:nvGraphicFramePr>
        <p:xfrm>
          <a:off x="2133600" y="1276350"/>
          <a:ext cx="2255837" cy="392113"/>
        </p:xfrm>
        <a:graphic>
          <a:graphicData uri="http://schemas.openxmlformats.org/presentationml/2006/ole">
            <p:oleObj spid="_x0000_s61443" name="Equation" r:id="rId4" imgW="927000" imgH="215640" progId="Equation.DSMT4">
              <p:embed/>
            </p:oleObj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04800" y="666750"/>
            <a:ext cx="1124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219200" y="2343150"/>
          <a:ext cx="4021138" cy="407988"/>
        </p:xfrm>
        <a:graphic>
          <a:graphicData uri="http://schemas.openxmlformats.org/presentationml/2006/ole">
            <p:oleObj spid="_x0000_s61444" name="Equation" r:id="rId5" imgW="1777680" imgH="241200" progId="Equation.DSMT4">
              <p:embed/>
            </p:oleObj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2043112" y="2876550"/>
          <a:ext cx="2300287" cy="423062"/>
        </p:xfrm>
        <a:graphic>
          <a:graphicData uri="http://schemas.openxmlformats.org/presentationml/2006/ole">
            <p:oleObj spid="_x0000_s61445" name="Equation" r:id="rId6" imgW="876240" imgH="215640" progId="Equation.DSMT4">
              <p:embed/>
            </p:oleObj>
          </a:graphicData>
        </a:graphic>
      </p:graphicFrame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152400" y="2266950"/>
            <a:ext cx="1124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42" name="Text Box 26"/>
          <p:cNvSpPr txBox="1">
            <a:spLocks noChangeArrowheads="1"/>
          </p:cNvSpPr>
          <p:nvPr/>
        </p:nvSpPr>
        <p:spPr bwMode="auto">
          <a:xfrm>
            <a:off x="914400" y="1200150"/>
            <a:ext cx="7315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两个逻辑函数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相等</a:t>
            </a:r>
            <a:r>
              <a:rPr lang="zh-CN" altLang="en-US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，那么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它们各自的对偶式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F’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en-US" altLang="zh-CN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’</a:t>
            </a:r>
            <a:r>
              <a:rPr lang="zh-CN" altLang="en-US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en-US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相等。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304800" y="666750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对偶规则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1162050" y="2114550"/>
          <a:ext cx="1466850" cy="381000"/>
        </p:xfrm>
        <a:graphic>
          <a:graphicData uri="http://schemas.openxmlformats.org/presentationml/2006/ole">
            <p:oleObj spid="_x0000_s62466" name="Equation" r:id="rId3" imgW="977760" imgH="253800" progId="Equation.DSMT4">
              <p:embed/>
            </p:oleObj>
          </a:graphicData>
        </a:graphic>
      </p:graphicFrame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4000500" y="2190750"/>
          <a:ext cx="1276350" cy="304800"/>
        </p:xfrm>
        <a:graphic>
          <a:graphicData uri="http://schemas.openxmlformats.org/presentationml/2006/ole">
            <p:oleObj spid="_x0000_s62467" name="Equation" r:id="rId4" imgW="850680" imgH="203040" progId="Equation.DSMT4">
              <p:embed/>
            </p:oleObj>
          </a:graphicData>
        </a:graphic>
      </p:graphicFrame>
      <p:graphicFrame>
        <p:nvGraphicFramePr>
          <p:cNvPr id="62468" name="Object 4"/>
          <p:cNvGraphicFramePr>
            <a:graphicFrameLocks noChangeAspect="1"/>
          </p:cNvGraphicFramePr>
          <p:nvPr/>
        </p:nvGraphicFramePr>
        <p:xfrm>
          <a:off x="6419850" y="2190750"/>
          <a:ext cx="819150" cy="304800"/>
        </p:xfrm>
        <a:graphic>
          <a:graphicData uri="http://schemas.openxmlformats.org/presentationml/2006/ole">
            <p:oleObj spid="_x0000_s62468" name="Equation" r:id="rId5" imgW="545760" imgH="203040" progId="Equation.DSMT4">
              <p:embed/>
            </p:oleObj>
          </a:graphicData>
        </a:graphic>
      </p:graphicFrame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876300" y="3143250"/>
          <a:ext cx="2609850" cy="571500"/>
        </p:xfrm>
        <a:graphic>
          <a:graphicData uri="http://schemas.openxmlformats.org/presentationml/2006/ole">
            <p:oleObj spid="_x0000_s62469" name="Equation" r:id="rId6" imgW="1739880" imgH="380880" progId="Equation.DSMT4">
              <p:embed/>
            </p:oleObj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4048125" y="3181350"/>
          <a:ext cx="1066800" cy="381000"/>
        </p:xfrm>
        <a:graphic>
          <a:graphicData uri="http://schemas.openxmlformats.org/presentationml/2006/ole">
            <p:oleObj spid="_x0000_s62470" name="Equation" r:id="rId7" imgW="711000" imgH="253800" progId="Equation.DSMT4">
              <p:embed/>
            </p:oleObj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6381750" y="3181350"/>
          <a:ext cx="933450" cy="381000"/>
        </p:xfrm>
        <a:graphic>
          <a:graphicData uri="http://schemas.openxmlformats.org/presentationml/2006/ole">
            <p:oleObj spid="_x0000_s62471" name="Equation" r:id="rId8" imgW="622080" imgH="253800" progId="Equation.DSMT4">
              <p:embed/>
            </p:oleObj>
          </a:graphicData>
        </a:graphic>
      </p:graphicFrame>
      <p:sp>
        <p:nvSpPr>
          <p:cNvPr id="11" name="矩形 10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304800" y="666750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对偶规则应用</a:t>
            </a:r>
            <a:endParaRPr lang="zh-CN" altLang="en-US" sz="28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2467" name="Object 3"/>
          <p:cNvGraphicFramePr>
            <a:graphicFrameLocks noChangeAspect="1"/>
          </p:cNvGraphicFramePr>
          <p:nvPr/>
        </p:nvGraphicFramePr>
        <p:xfrm>
          <a:off x="914400" y="1276350"/>
          <a:ext cx="5905500" cy="457200"/>
        </p:xfrm>
        <a:graphic>
          <a:graphicData uri="http://schemas.openxmlformats.org/presentationml/2006/ole">
            <p:oleObj spid="_x0000_s131075" name="Equation" r:id="rId3" imgW="3936960" imgH="304560" progId="Equation.DSMT4">
              <p:embed/>
            </p:oleObj>
          </a:graphicData>
        </a:graphic>
      </p:graphicFrame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2743200" y="2374380"/>
          <a:ext cx="2228850" cy="400050"/>
        </p:xfrm>
        <a:graphic>
          <a:graphicData uri="http://schemas.openxmlformats.org/presentationml/2006/ole">
            <p:oleObj spid="_x0000_s131078" name="Equation" r:id="rId4" imgW="1485720" imgH="266400" progId="Equation.DSMT4">
              <p:embed/>
            </p:oleObj>
          </a:graphicData>
        </a:graphic>
      </p:graphicFrame>
      <p:sp>
        <p:nvSpPr>
          <p:cNvPr id="11" name="矩形 10"/>
          <p:cNvSpPr/>
          <p:nvPr/>
        </p:nvSpPr>
        <p:spPr>
          <a:xfrm>
            <a:off x="0" y="0"/>
            <a:ext cx="3637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：布尔代数三个规则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209800" y="1885950"/>
            <a:ext cx="32624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证明左右两边的对偶式相等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31081" name="Object 9"/>
          <p:cNvGraphicFramePr>
            <a:graphicFrameLocks noChangeAspect="1"/>
          </p:cNvGraphicFramePr>
          <p:nvPr/>
        </p:nvGraphicFramePr>
        <p:xfrm>
          <a:off x="2743200" y="2952750"/>
          <a:ext cx="1657350" cy="400050"/>
        </p:xfrm>
        <a:graphic>
          <a:graphicData uri="http://schemas.openxmlformats.org/presentationml/2006/ole">
            <p:oleObj spid="_x0000_s131081" name="Equation" r:id="rId5" imgW="1104840" imgH="266400" progId="Equation.DSMT4">
              <p:embed/>
            </p:oleObj>
          </a:graphicData>
        </a:graphic>
      </p:graphicFrame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2590800" y="3562350"/>
            <a:ext cx="191911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包含律，左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右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正 负 逻 辑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0668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：正 负 逻 辑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7200" y="819150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正逻辑：用高电平表示逻辑</a:t>
            </a:r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1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，用低电平表示逻辑</a:t>
            </a:r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0</a:t>
            </a:r>
            <a:endParaRPr lang="en-US" altLang="zh-CN" sz="2000" b="1" dirty="0">
              <a:solidFill>
                <a:schemeClr val="accent6"/>
              </a:solidFill>
              <a:latin typeface="Times New Roman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24600" y="819150"/>
            <a:ext cx="1487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NPN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晶体管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" y="1428750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负逻辑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：用高电平表示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逻辑</a:t>
            </a:r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0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，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用低电平表示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逻辑</a:t>
            </a:r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1</a:t>
            </a:r>
            <a:endParaRPr lang="en-US" altLang="zh-CN" sz="2000" b="1" dirty="0">
              <a:solidFill>
                <a:schemeClr val="accent6"/>
              </a:solidFill>
              <a:latin typeface="Times New Roman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324600" y="1428750"/>
            <a:ext cx="14590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accent6"/>
                </a:solidFill>
                <a:latin typeface="Times New Roman" pitchFamily="18" charset="0"/>
              </a:rPr>
              <a:t>PNP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晶体管</a:t>
            </a:r>
            <a:endParaRPr lang="zh-CN" altLang="en-US" sz="2000" dirty="0">
              <a:solidFill>
                <a:schemeClr val="accent6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828800" y="4457640"/>
            <a:ext cx="431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今后除非特别说明，一律采用正逻辑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132101" name="Picture 5" descr="C:\Users\hfu\AppData\Roaming\Tencent\Users\350654676\QQ\WinTemp\RichOle\]4BT8[JC~7[QRJ{%FJRN@(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1418"/>
            <a:ext cx="1432965" cy="2086397"/>
          </a:xfrm>
          <a:prstGeom prst="rect">
            <a:avLst/>
          </a:prstGeom>
          <a:noFill/>
        </p:spPr>
      </p:pic>
      <p:pic>
        <p:nvPicPr>
          <p:cNvPr id="132102" name="Picture 6" descr="C:\Users\hfu\AppData\Roaming\Tencent\Users\350654676\QQ\WinTemp\RichOle\BXKL$)1(5HOQ1(CB}ER3{A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821418"/>
            <a:ext cx="1295400" cy="2097860"/>
          </a:xfrm>
          <a:prstGeom prst="rect">
            <a:avLst/>
          </a:prstGeom>
          <a:noFill/>
        </p:spPr>
      </p:pic>
      <p:sp>
        <p:nvSpPr>
          <p:cNvPr id="29" name="矩形 28"/>
          <p:cNvSpPr/>
          <p:nvPr/>
        </p:nvSpPr>
        <p:spPr>
          <a:xfrm>
            <a:off x="1524000" y="4031218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图</a:t>
            </a:r>
            <a:r>
              <a:rPr lang="en-US" altLang="zh-CN" b="1" dirty="0" smtClean="0"/>
              <a:t>1 </a:t>
            </a:r>
            <a:r>
              <a:rPr lang="zh-CN" altLang="en-US" b="1" dirty="0" smtClean="0"/>
              <a:t>正逻辑</a:t>
            </a:r>
            <a:endParaRPr lang="zh-CN" altLang="en-US" b="1" dirty="0"/>
          </a:p>
        </p:txBody>
      </p:sp>
      <p:sp>
        <p:nvSpPr>
          <p:cNvPr id="30" name="矩形 29"/>
          <p:cNvSpPr/>
          <p:nvPr/>
        </p:nvSpPr>
        <p:spPr>
          <a:xfrm>
            <a:off x="5257800" y="4031218"/>
            <a:ext cx="1306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图</a:t>
            </a:r>
            <a:r>
              <a:rPr lang="en-US" altLang="zh-CN" b="1" dirty="0" smtClean="0"/>
              <a:t>2 </a:t>
            </a:r>
            <a:r>
              <a:rPr lang="zh-CN" altLang="en-US" b="1" dirty="0" smtClean="0"/>
              <a:t>负逻辑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9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：正 负 逻 辑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295400" y="1288442"/>
            <a:ext cx="2519363" cy="2187575"/>
            <a:chOff x="431" y="761"/>
            <a:chExt cx="1587" cy="1378"/>
          </a:xfrm>
        </p:grpSpPr>
        <p:grpSp>
          <p:nvGrpSpPr>
            <p:cNvPr id="15" name="Group 3"/>
            <p:cNvGrpSpPr>
              <a:grpSpLocks/>
            </p:cNvGrpSpPr>
            <p:nvPr/>
          </p:nvGrpSpPr>
          <p:grpSpPr bwMode="auto">
            <a:xfrm>
              <a:off x="431" y="761"/>
              <a:ext cx="1587" cy="1126"/>
              <a:chOff x="431" y="1305"/>
              <a:chExt cx="1587" cy="1126"/>
            </a:xfrm>
          </p:grpSpPr>
          <p:sp>
            <p:nvSpPr>
              <p:cNvPr id="20" name="Line 4"/>
              <p:cNvSpPr>
                <a:spLocks noChangeShapeType="1"/>
              </p:cNvSpPr>
              <p:nvPr/>
            </p:nvSpPr>
            <p:spPr bwMode="auto">
              <a:xfrm>
                <a:off x="479" y="1538"/>
                <a:ext cx="9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 Box 5"/>
              <p:cNvSpPr txBox="1">
                <a:spLocks noChangeArrowheads="1"/>
              </p:cNvSpPr>
              <p:nvPr/>
            </p:nvSpPr>
            <p:spPr bwMode="auto">
              <a:xfrm>
                <a:off x="527" y="1305"/>
                <a:ext cx="96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b="1" dirty="0">
                    <a:latin typeface="Arial" pitchFamily="34" charset="0"/>
                  </a:rPr>
                  <a:t>V</a:t>
                </a:r>
                <a:r>
                  <a:rPr kumimoji="0" lang="en-US" altLang="zh-CN" b="1" baseline="-5000" dirty="0">
                    <a:latin typeface="Arial" pitchFamily="34" charset="0"/>
                  </a:rPr>
                  <a:t>A </a:t>
                </a:r>
                <a:r>
                  <a:rPr kumimoji="0" lang="en-US" altLang="zh-CN" b="1" dirty="0">
                    <a:latin typeface="Arial" pitchFamily="34" charset="0"/>
                  </a:rPr>
                  <a:t>  V</a:t>
                </a:r>
                <a:r>
                  <a:rPr kumimoji="0" lang="en-US" altLang="zh-CN" b="1" baseline="-5000" dirty="0">
                    <a:latin typeface="Arial" pitchFamily="34" charset="0"/>
                  </a:rPr>
                  <a:t>B</a:t>
                </a:r>
                <a:r>
                  <a:rPr kumimoji="0" lang="en-US" altLang="zh-CN" b="1" dirty="0">
                    <a:latin typeface="Arial" pitchFamily="34" charset="0"/>
                  </a:rPr>
                  <a:t>    </a:t>
                </a:r>
                <a:r>
                  <a:rPr kumimoji="0" lang="en-US" altLang="zh-CN" b="1" dirty="0" smtClean="0">
                    <a:latin typeface="Arial" pitchFamily="34" charset="0"/>
                  </a:rPr>
                  <a:t> V</a:t>
                </a:r>
                <a:r>
                  <a:rPr kumimoji="0" lang="en-US" altLang="zh-CN" b="1" baseline="-5000" dirty="0" smtClean="0">
                    <a:latin typeface="Arial" pitchFamily="34" charset="0"/>
                  </a:rPr>
                  <a:t>L</a:t>
                </a:r>
                <a:endParaRPr kumimoji="0" lang="en-US" altLang="zh-CN" b="1" baseline="-5000" dirty="0">
                  <a:latin typeface="Arial" pitchFamily="34" charset="0"/>
                </a:endParaRPr>
              </a:p>
            </p:txBody>
          </p:sp>
          <p:sp>
            <p:nvSpPr>
              <p:cNvPr id="22" name="Line 6"/>
              <p:cNvSpPr>
                <a:spLocks noChangeShapeType="1"/>
              </p:cNvSpPr>
              <p:nvPr/>
            </p:nvSpPr>
            <p:spPr bwMode="auto">
              <a:xfrm>
                <a:off x="1103" y="1375"/>
                <a:ext cx="0" cy="10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Text Box 7"/>
              <p:cNvSpPr txBox="1">
                <a:spLocks noChangeArrowheads="1"/>
              </p:cNvSpPr>
              <p:nvPr/>
            </p:nvSpPr>
            <p:spPr bwMode="auto">
              <a:xfrm>
                <a:off x="431" y="1543"/>
                <a:ext cx="158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800" dirty="0">
                    <a:latin typeface="Arial" pitchFamily="34" charset="0"/>
                  </a:rPr>
                  <a:t>   </a:t>
                </a:r>
                <a:r>
                  <a:rPr kumimoji="0" lang="en-US" altLang="zh-CN" b="1" dirty="0">
                    <a:latin typeface="Arial" pitchFamily="34" charset="0"/>
                  </a:rPr>
                  <a:t>L     </a:t>
                </a:r>
                <a:r>
                  <a:rPr kumimoji="0" lang="en-US" altLang="zh-CN" b="1" dirty="0" err="1">
                    <a:latin typeface="Arial" pitchFamily="34" charset="0"/>
                  </a:rPr>
                  <a:t>L</a:t>
                </a:r>
                <a:r>
                  <a:rPr kumimoji="0" lang="en-US" altLang="zh-CN" b="1" dirty="0">
                    <a:latin typeface="Arial" pitchFamily="34" charset="0"/>
                  </a:rPr>
                  <a:t>      H</a:t>
                </a:r>
              </a:p>
            </p:txBody>
          </p:sp>
          <p:sp>
            <p:nvSpPr>
              <p:cNvPr id="24" name="Text Box 8"/>
              <p:cNvSpPr txBox="1">
                <a:spLocks noChangeArrowheads="1"/>
              </p:cNvSpPr>
              <p:nvPr/>
            </p:nvSpPr>
            <p:spPr bwMode="auto">
              <a:xfrm>
                <a:off x="431" y="1761"/>
                <a:ext cx="158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dirty="0">
                    <a:latin typeface="Arial" pitchFamily="34" charset="0"/>
                  </a:rPr>
                  <a:t>   </a:t>
                </a:r>
                <a:r>
                  <a:rPr kumimoji="0" lang="en-US" altLang="zh-CN" b="1" dirty="0">
                    <a:latin typeface="Arial" pitchFamily="34" charset="0"/>
                  </a:rPr>
                  <a:t>L     H      </a:t>
                </a:r>
                <a:r>
                  <a:rPr kumimoji="0" lang="en-US" altLang="zh-CN" b="1" dirty="0" err="1">
                    <a:latin typeface="Arial" pitchFamily="34" charset="0"/>
                  </a:rPr>
                  <a:t>H</a:t>
                </a:r>
                <a:endParaRPr kumimoji="0" lang="en-US" altLang="zh-CN" b="1" dirty="0">
                  <a:latin typeface="Arial" pitchFamily="34" charset="0"/>
                </a:endParaRPr>
              </a:p>
            </p:txBody>
          </p:sp>
          <p:sp>
            <p:nvSpPr>
              <p:cNvPr id="25" name="Text Box 9"/>
              <p:cNvSpPr txBox="1">
                <a:spLocks noChangeArrowheads="1"/>
              </p:cNvSpPr>
              <p:nvPr/>
            </p:nvSpPr>
            <p:spPr bwMode="auto">
              <a:xfrm>
                <a:off x="431" y="1970"/>
                <a:ext cx="158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800" dirty="0">
                    <a:latin typeface="Arial" pitchFamily="34" charset="0"/>
                  </a:rPr>
                  <a:t>   </a:t>
                </a:r>
                <a:r>
                  <a:rPr kumimoji="0" lang="en-US" altLang="zh-CN" b="1" dirty="0">
                    <a:latin typeface="Arial" pitchFamily="34" charset="0"/>
                  </a:rPr>
                  <a:t>H     L      H</a:t>
                </a:r>
              </a:p>
            </p:txBody>
          </p:sp>
          <p:sp>
            <p:nvSpPr>
              <p:cNvPr id="26" name="Text Box 10"/>
              <p:cNvSpPr txBox="1">
                <a:spLocks noChangeArrowheads="1"/>
              </p:cNvSpPr>
              <p:nvPr/>
            </p:nvSpPr>
            <p:spPr bwMode="auto">
              <a:xfrm>
                <a:off x="431" y="2196"/>
                <a:ext cx="158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800" dirty="0">
                    <a:latin typeface="Arial" pitchFamily="34" charset="0"/>
                  </a:rPr>
                  <a:t>   </a:t>
                </a:r>
                <a:r>
                  <a:rPr kumimoji="0" lang="en-US" altLang="zh-CN" b="1" dirty="0">
                    <a:latin typeface="Arial" pitchFamily="34" charset="0"/>
                  </a:rPr>
                  <a:t>H     </a:t>
                </a:r>
                <a:r>
                  <a:rPr kumimoji="0" lang="en-US" altLang="zh-CN" b="1" dirty="0" err="1">
                    <a:latin typeface="Arial" pitchFamily="34" charset="0"/>
                  </a:rPr>
                  <a:t>H</a:t>
                </a:r>
                <a:r>
                  <a:rPr kumimoji="0" lang="en-US" altLang="zh-CN" b="1" dirty="0">
                    <a:latin typeface="Arial" pitchFamily="34" charset="0"/>
                  </a:rPr>
                  <a:t>      L</a:t>
                </a:r>
              </a:p>
            </p:txBody>
          </p:sp>
        </p:grp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445" y="1906"/>
              <a:ext cx="9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zh-CN" altLang="en-US" b="1" dirty="0" smtClean="0">
                  <a:latin typeface="Arial" pitchFamily="34" charset="0"/>
                  <a:ea typeface="黑体" pitchFamily="49" charset="-122"/>
                </a:rPr>
                <a:t>  </a:t>
              </a:r>
              <a:r>
                <a:rPr lang="zh-CN" altLang="en-US" b="1" dirty="0" smtClean="0">
                  <a:solidFill>
                    <a:schemeClr val="accent2"/>
                  </a:solidFill>
                  <a:ea typeface="黑体" pitchFamily="49" charset="-122"/>
                </a:rPr>
                <a:t>图</a:t>
              </a:r>
              <a:r>
                <a:rPr lang="en-US" altLang="zh-CN" b="1" dirty="0" smtClean="0">
                  <a:solidFill>
                    <a:schemeClr val="accent2"/>
                  </a:solidFill>
                  <a:ea typeface="黑体" pitchFamily="49" charset="-122"/>
                </a:rPr>
                <a:t>3 </a:t>
              </a:r>
              <a:r>
                <a:rPr kumimoji="0" lang="zh-CN" altLang="en-US" b="1" dirty="0" smtClean="0">
                  <a:solidFill>
                    <a:schemeClr val="accent2"/>
                  </a:solidFill>
                  <a:latin typeface="Arial" pitchFamily="34" charset="0"/>
                  <a:ea typeface="黑体" pitchFamily="49" charset="-122"/>
                </a:rPr>
                <a:t>电 </a:t>
              </a:r>
              <a:r>
                <a:rPr kumimoji="0" lang="zh-CN" altLang="en-US" b="1" dirty="0">
                  <a:solidFill>
                    <a:schemeClr val="accent2"/>
                  </a:solidFill>
                  <a:latin typeface="Arial" pitchFamily="34" charset="0"/>
                  <a:ea typeface="黑体" pitchFamily="49" charset="-122"/>
                </a:rPr>
                <a:t>平 表</a:t>
              </a:r>
            </a:p>
          </p:txBody>
        </p:sp>
      </p:grpSp>
      <p:grpSp>
        <p:nvGrpSpPr>
          <p:cNvPr id="62" name="Group 3"/>
          <p:cNvGrpSpPr>
            <a:grpSpLocks/>
          </p:cNvGrpSpPr>
          <p:nvPr/>
        </p:nvGrpSpPr>
        <p:grpSpPr bwMode="auto">
          <a:xfrm>
            <a:off x="4724400" y="590550"/>
            <a:ext cx="2519363" cy="1787525"/>
            <a:chOff x="431" y="1305"/>
            <a:chExt cx="1587" cy="1126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8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9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70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276600" y="1352550"/>
            <a:ext cx="1439863" cy="762980"/>
            <a:chOff x="2819400" y="1504950"/>
            <a:chExt cx="1439863" cy="762980"/>
          </a:xfrm>
        </p:grpSpPr>
        <p:sp>
          <p:nvSpPr>
            <p:cNvPr id="44" name="Text Box 33"/>
            <p:cNvSpPr txBox="1">
              <a:spLocks noChangeArrowheads="1"/>
            </p:cNvSpPr>
            <p:nvPr/>
          </p:nvSpPr>
          <p:spPr bwMode="auto">
            <a:xfrm rot="20423472">
              <a:off x="2819400" y="1504950"/>
              <a:ext cx="1439863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solidFill>
                    <a:srgbClr val="FF3300"/>
                  </a:solidFill>
                  <a:latin typeface="Arial" pitchFamily="34" charset="0"/>
                </a:rPr>
                <a:t>H=1,L=0</a:t>
              </a:r>
            </a:p>
          </p:txBody>
        </p: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 rot="20470783">
              <a:off x="3078763" y="1898042"/>
              <a:ext cx="1081088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zh-CN" altLang="en-US" b="1" dirty="0">
                  <a:latin typeface="Arial" pitchFamily="34" charset="0"/>
                  <a:ea typeface="黑体" pitchFamily="49" charset="-122"/>
                </a:rPr>
                <a:t>正逻辑</a:t>
              </a:r>
            </a:p>
          </p:txBody>
        </p:sp>
        <p:cxnSp>
          <p:nvCxnSpPr>
            <p:cNvPr id="72" name="直接箭头连接符 71"/>
            <p:cNvCxnSpPr/>
            <p:nvPr/>
          </p:nvCxnSpPr>
          <p:spPr>
            <a:xfrm flipV="1">
              <a:off x="2819400" y="1692478"/>
              <a:ext cx="1368660" cy="4562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/>
        </p:nvGrpSpPr>
        <p:grpSpPr>
          <a:xfrm>
            <a:off x="3155212" y="2801330"/>
            <a:ext cx="1569561" cy="697758"/>
            <a:chOff x="3155212" y="2801330"/>
            <a:chExt cx="1569561" cy="697758"/>
          </a:xfrm>
        </p:grpSpPr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 rot="1587018">
              <a:off x="3284910" y="2815500"/>
              <a:ext cx="1439863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2000" b="1" dirty="0">
                  <a:solidFill>
                    <a:srgbClr val="0000FF"/>
                  </a:solidFill>
                  <a:latin typeface="Arial" pitchFamily="34" charset="0"/>
                </a:rPr>
                <a:t>H=0,L=1</a:t>
              </a:r>
            </a:p>
          </p:txBody>
        </p:sp>
        <p:sp>
          <p:nvSpPr>
            <p:cNvPr id="49" name="Text Box 38"/>
            <p:cNvSpPr txBox="1">
              <a:spLocks noChangeArrowheads="1"/>
            </p:cNvSpPr>
            <p:nvPr/>
          </p:nvSpPr>
          <p:spPr bwMode="auto">
            <a:xfrm rot="1627994">
              <a:off x="3155212" y="3102213"/>
              <a:ext cx="10810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zh-CN" altLang="en-US" sz="2000" b="1" dirty="0">
                  <a:latin typeface="Arial" pitchFamily="34" charset="0"/>
                  <a:ea typeface="黑体" pitchFamily="49" charset="-122"/>
                </a:rPr>
                <a:t>负逻辑</a:t>
              </a:r>
            </a:p>
          </p:txBody>
        </p:sp>
        <p:cxnSp>
          <p:nvCxnSpPr>
            <p:cNvPr id="75" name="直接箭头连接符 74"/>
            <p:cNvCxnSpPr/>
            <p:nvPr/>
          </p:nvCxnSpPr>
          <p:spPr>
            <a:xfrm>
              <a:off x="3200400" y="2801330"/>
              <a:ext cx="1219200" cy="6096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3"/>
          <p:cNvGrpSpPr>
            <a:grpSpLocks/>
          </p:cNvGrpSpPr>
          <p:nvPr/>
        </p:nvGrpSpPr>
        <p:grpSpPr bwMode="auto">
          <a:xfrm>
            <a:off x="4648200" y="2877530"/>
            <a:ext cx="2519363" cy="1787525"/>
            <a:chOff x="431" y="1305"/>
            <a:chExt cx="1587" cy="1126"/>
          </a:xfrm>
        </p:grpSpPr>
        <p:sp>
          <p:nvSpPr>
            <p:cNvPr id="80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82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4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6553200" y="1199170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与非门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8" name="Text Box 20"/>
          <p:cNvSpPr txBox="1">
            <a:spLocks noChangeArrowheads="1"/>
          </p:cNvSpPr>
          <p:nvPr/>
        </p:nvSpPr>
        <p:spPr bwMode="auto">
          <a:xfrm>
            <a:off x="6553200" y="3562350"/>
            <a:ext cx="1584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或非门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0" name="Text Box 11"/>
          <p:cNvSpPr txBox="1">
            <a:spLocks noChangeArrowheads="1"/>
          </p:cNvSpPr>
          <p:nvPr/>
        </p:nvSpPr>
        <p:spPr bwMode="auto">
          <a:xfrm>
            <a:off x="4876800" y="2419350"/>
            <a:ext cx="1584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图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4 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正逻辑</a:t>
            </a:r>
            <a:endParaRPr kumimoji="0" lang="zh-CN" altLang="en-US" b="1" dirty="0">
              <a:solidFill>
                <a:schemeClr val="accent2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1" name="Text Box 11"/>
          <p:cNvSpPr txBox="1">
            <a:spLocks noChangeArrowheads="1"/>
          </p:cNvSpPr>
          <p:nvPr/>
        </p:nvSpPr>
        <p:spPr bwMode="auto">
          <a:xfrm>
            <a:off x="4724400" y="4629150"/>
            <a:ext cx="1584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图</a:t>
            </a:r>
            <a:r>
              <a:rPr lang="en-US" altLang="zh-CN" b="1" dirty="0" smtClean="0">
                <a:solidFill>
                  <a:schemeClr val="accent2"/>
                </a:solidFill>
                <a:ea typeface="黑体" pitchFamily="49" charset="-122"/>
              </a:rPr>
              <a:t>5 </a:t>
            </a:r>
            <a:r>
              <a:rPr lang="zh-CN" altLang="en-US" b="1" dirty="0" smtClean="0">
                <a:solidFill>
                  <a:schemeClr val="accent2"/>
                </a:solidFill>
                <a:ea typeface="黑体" pitchFamily="49" charset="-122"/>
              </a:rPr>
              <a:t>负逻辑</a:t>
            </a:r>
            <a:endParaRPr kumimoji="0" lang="zh-CN" altLang="en-US" b="1" dirty="0">
              <a:solidFill>
                <a:schemeClr val="accent2"/>
              </a:solidFill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90" grpId="0"/>
      <p:bldP spid="9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：正 负 逻 辑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2438400" y="1200150"/>
          <a:ext cx="3581400" cy="2514600"/>
        </p:xfrm>
        <a:graphic>
          <a:graphicData uri="http://schemas.openxmlformats.org/drawingml/2006/table">
            <a:tbl>
              <a:tblPr/>
              <a:tblGrid>
                <a:gridCol w="1790700"/>
                <a:gridCol w="1790700"/>
              </a:tblGrid>
              <a:tr h="497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Calibri"/>
                          <a:ea typeface="宋体"/>
                          <a:cs typeface="Times New Roman"/>
                        </a:rPr>
                        <a:t>正逻辑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Calibri"/>
                          <a:ea typeface="宋体"/>
                          <a:cs typeface="Times New Roman"/>
                        </a:rPr>
                        <a:t>负逻辑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与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或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或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与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99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与非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或非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6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>
                          <a:latin typeface="Calibri"/>
                          <a:ea typeface="宋体"/>
                          <a:cs typeface="Times New Roman"/>
                        </a:rPr>
                        <a:t>或非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100" dirty="0">
                          <a:latin typeface="Calibri"/>
                          <a:ea typeface="宋体"/>
                          <a:cs typeface="Times New Roman"/>
                        </a:rPr>
                        <a:t>与非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矩形 40"/>
          <p:cNvSpPr/>
          <p:nvPr/>
        </p:nvSpPr>
        <p:spPr>
          <a:xfrm>
            <a:off x="3048000" y="742950"/>
            <a:ext cx="2468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表</a:t>
            </a:r>
            <a:r>
              <a:rPr lang="en-US" altLang="zh-CN" b="1" dirty="0" smtClean="0"/>
              <a:t>1 </a:t>
            </a:r>
            <a:r>
              <a:rPr lang="zh-CN" altLang="en-US" b="1" dirty="0" smtClean="0"/>
              <a:t>正负逻辑对应关系</a:t>
            </a:r>
            <a:endParaRPr lang="zh-CN" altLang="en-US" b="1" dirty="0"/>
          </a:p>
        </p:txBody>
      </p:sp>
      <p:sp>
        <p:nvSpPr>
          <p:cNvPr id="42" name="矩形 41"/>
          <p:cNvSpPr/>
          <p:nvPr/>
        </p:nvSpPr>
        <p:spPr>
          <a:xfrm>
            <a:off x="1600200" y="4019550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正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逻辑下的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异或</a:t>
            </a:r>
            <a:r>
              <a:rPr lang="zh-CN" altLang="en-US" sz="2000" b="1" dirty="0" smtClean="0">
                <a:solidFill>
                  <a:schemeClr val="accent6"/>
                </a:solidFill>
                <a:latin typeface="Times New Roman" pitchFamily="18" charset="0"/>
              </a:rPr>
              <a:t>对应负逻辑下什么逻辑关系？</a:t>
            </a:r>
            <a:endParaRPr lang="en-US" altLang="zh-CN" sz="2000" b="1" dirty="0">
              <a:solidFill>
                <a:schemeClr val="accent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：正 负 逻 辑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524000" y="1428750"/>
            <a:ext cx="2519363" cy="1787525"/>
            <a:chOff x="431" y="1305"/>
            <a:chExt cx="1587" cy="1126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8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9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70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4724400" y="1504950"/>
            <a:ext cx="2519363" cy="1787525"/>
            <a:chOff x="431" y="1305"/>
            <a:chExt cx="1587" cy="1126"/>
          </a:xfrm>
        </p:grpSpPr>
        <p:sp>
          <p:nvSpPr>
            <p:cNvPr id="80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82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4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1447800" y="3486150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图</a:t>
            </a:r>
            <a:r>
              <a:rPr kumimoji="0" lang="en-US" altLang="zh-CN" b="1" dirty="0" smtClean="0">
                <a:latin typeface="Arial" pitchFamily="34" charset="0"/>
                <a:ea typeface="黑体" pitchFamily="49" charset="-122"/>
              </a:rPr>
              <a:t>6 </a:t>
            </a: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正逻辑：异或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9" name="Text Box 20"/>
          <p:cNvSpPr txBox="1">
            <a:spLocks noChangeArrowheads="1"/>
          </p:cNvSpPr>
          <p:nvPr/>
        </p:nvSpPr>
        <p:spPr bwMode="auto">
          <a:xfrm>
            <a:off x="4724400" y="3486150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图</a:t>
            </a:r>
            <a:r>
              <a:rPr kumimoji="0" lang="en-US" altLang="zh-CN" b="1" dirty="0" smtClean="0">
                <a:latin typeface="Arial" pitchFamily="34" charset="0"/>
                <a:ea typeface="黑体" pitchFamily="49" charset="-122"/>
              </a:rPr>
              <a:t>7 </a:t>
            </a: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负逻辑：同或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2523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：正 负 逻 辑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0" y="1428750"/>
            <a:ext cx="2519363" cy="1787525"/>
            <a:chOff x="431" y="1305"/>
            <a:chExt cx="1587" cy="1126"/>
          </a:xfrm>
        </p:grpSpPr>
        <p:sp>
          <p:nvSpPr>
            <p:cNvPr id="64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8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69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70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4724400" y="1504950"/>
            <a:ext cx="2519363" cy="1787525"/>
            <a:chOff x="431" y="1305"/>
            <a:chExt cx="1587" cy="1126"/>
          </a:xfrm>
        </p:grpSpPr>
        <p:sp>
          <p:nvSpPr>
            <p:cNvPr id="80" name="Line 4"/>
            <p:cNvSpPr>
              <a:spLocks noChangeShapeType="1"/>
            </p:cNvSpPr>
            <p:nvPr/>
          </p:nvSpPr>
          <p:spPr bwMode="auto">
            <a:xfrm>
              <a:off x="479" y="1538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527" y="1305"/>
              <a:ext cx="96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b="1" dirty="0">
                  <a:latin typeface="Arial" pitchFamily="34" charset="0"/>
                </a:rPr>
                <a:t>V</a:t>
              </a:r>
              <a:r>
                <a:rPr kumimoji="0" lang="en-US" altLang="zh-CN" b="1" baseline="-5000" dirty="0">
                  <a:latin typeface="Arial" pitchFamily="34" charset="0"/>
                </a:rPr>
                <a:t>A </a:t>
              </a:r>
              <a:r>
                <a:rPr kumimoji="0" lang="en-US" altLang="zh-CN" b="1" dirty="0">
                  <a:latin typeface="Arial" pitchFamily="34" charset="0"/>
                </a:rPr>
                <a:t>  V</a:t>
              </a:r>
              <a:r>
                <a:rPr kumimoji="0" lang="en-US" altLang="zh-CN" b="1" baseline="-5000" dirty="0">
                  <a:latin typeface="Arial" pitchFamily="34" charset="0"/>
                </a:rPr>
                <a:t>B</a:t>
              </a:r>
              <a:r>
                <a:rPr kumimoji="0" lang="en-US" altLang="zh-CN" b="1" dirty="0">
                  <a:latin typeface="Arial" pitchFamily="34" charset="0"/>
                </a:rPr>
                <a:t>    </a:t>
              </a:r>
              <a:r>
                <a:rPr kumimoji="0" lang="en-US" altLang="zh-CN" b="1" dirty="0" smtClean="0">
                  <a:latin typeface="Arial" pitchFamily="34" charset="0"/>
                </a:rPr>
                <a:t> V</a:t>
              </a:r>
              <a:r>
                <a:rPr kumimoji="0" lang="en-US" altLang="zh-CN" b="1" baseline="-5000" dirty="0" smtClean="0">
                  <a:latin typeface="Arial" pitchFamily="34" charset="0"/>
                </a:rPr>
                <a:t>L</a:t>
              </a:r>
              <a:endParaRPr kumimoji="0" lang="en-US" altLang="zh-CN" b="1" baseline="-5000" dirty="0">
                <a:latin typeface="Arial" pitchFamily="34" charset="0"/>
              </a:endParaRPr>
            </a:p>
          </p:txBody>
        </p:sp>
        <p:sp>
          <p:nvSpPr>
            <p:cNvPr id="82" name="Line 6"/>
            <p:cNvSpPr>
              <a:spLocks noChangeShapeType="1"/>
            </p:cNvSpPr>
            <p:nvPr/>
          </p:nvSpPr>
          <p:spPr bwMode="auto">
            <a:xfrm>
              <a:off x="1103" y="1375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7"/>
            <p:cNvSpPr txBox="1">
              <a:spLocks noChangeArrowheads="1"/>
            </p:cNvSpPr>
            <p:nvPr/>
          </p:nvSpPr>
          <p:spPr bwMode="auto">
            <a:xfrm>
              <a:off x="431" y="1543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1     1      0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4" name="Text Box 8"/>
            <p:cNvSpPr txBox="1">
              <a:spLocks noChangeArrowheads="1"/>
            </p:cNvSpPr>
            <p:nvPr/>
          </p:nvSpPr>
          <p:spPr bwMode="auto">
            <a:xfrm>
              <a:off x="431" y="1761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1     0      1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431" y="1970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 smtClean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0     1      1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  <p:sp>
          <p:nvSpPr>
            <p:cNvPr id="86" name="Text Box 10"/>
            <p:cNvSpPr txBox="1">
              <a:spLocks noChangeArrowheads="1"/>
            </p:cNvSpPr>
            <p:nvPr/>
          </p:nvSpPr>
          <p:spPr bwMode="auto">
            <a:xfrm>
              <a:off x="431" y="2196"/>
              <a:ext cx="15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1800" dirty="0">
                  <a:latin typeface="Arial" pitchFamily="34" charset="0"/>
                </a:rPr>
                <a:t>   </a:t>
              </a:r>
              <a:r>
                <a:rPr kumimoji="0" lang="en-US" altLang="zh-CN" b="1" dirty="0" smtClean="0">
                  <a:latin typeface="Arial" pitchFamily="34" charset="0"/>
                </a:rPr>
                <a:t>0     0      0</a:t>
              </a:r>
              <a:endParaRPr kumimoji="0" lang="en-US" altLang="zh-CN" b="1" dirty="0">
                <a:latin typeface="Arial" pitchFamily="34" charset="0"/>
              </a:endParaRPr>
            </a:p>
          </p:txBody>
        </p:sp>
      </p:grpSp>
      <p:sp>
        <p:nvSpPr>
          <p:cNvPr id="87" name="Text Box 20"/>
          <p:cNvSpPr txBox="1">
            <a:spLocks noChangeArrowheads="1"/>
          </p:cNvSpPr>
          <p:nvPr/>
        </p:nvSpPr>
        <p:spPr bwMode="auto">
          <a:xfrm>
            <a:off x="1447800" y="3486150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图</a:t>
            </a:r>
            <a:r>
              <a:rPr kumimoji="0" lang="en-US" altLang="zh-CN" b="1" dirty="0" smtClean="0">
                <a:latin typeface="Arial" pitchFamily="34" charset="0"/>
                <a:ea typeface="黑体" pitchFamily="49" charset="-122"/>
              </a:rPr>
              <a:t>8 </a:t>
            </a: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正逻辑：同或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9" name="Text Box 20"/>
          <p:cNvSpPr txBox="1">
            <a:spLocks noChangeArrowheads="1"/>
          </p:cNvSpPr>
          <p:nvPr/>
        </p:nvSpPr>
        <p:spPr bwMode="auto">
          <a:xfrm>
            <a:off x="4724400" y="3486150"/>
            <a:ext cx="2362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图</a:t>
            </a:r>
            <a:r>
              <a:rPr kumimoji="0" lang="en-US" altLang="zh-CN" b="1" dirty="0" smtClean="0">
                <a:latin typeface="Arial" pitchFamily="34" charset="0"/>
                <a:ea typeface="黑体" pitchFamily="49" charset="-122"/>
              </a:rPr>
              <a:t>9</a:t>
            </a:r>
            <a:r>
              <a:rPr kumimoji="0" lang="zh-CN" altLang="en-US" b="1" dirty="0" smtClean="0">
                <a:latin typeface="Arial" pitchFamily="34" charset="0"/>
                <a:ea typeface="黑体" pitchFamily="49" charset="-122"/>
              </a:rPr>
              <a:t>负逻辑：异或</a:t>
            </a:r>
            <a:endParaRPr kumimoji="0" lang="zh-CN" altLang="en-US" b="1" dirty="0">
              <a:latin typeface="Arial" pitchFamily="34" charset="0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3525</TotalTime>
  <Words>683</Words>
  <Application>Microsoft Office PowerPoint</Application>
  <PresentationFormat>全屏显示(16:9)</PresentationFormat>
  <Paragraphs>188</Paragraphs>
  <Slides>17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默认设计模板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hfu</cp:lastModifiedBy>
  <cp:revision>392</cp:revision>
  <cp:lastPrinted>2113-01-01T00:00:00Z</cp:lastPrinted>
  <dcterms:created xsi:type="dcterms:W3CDTF">2113-01-01T00:00:00Z</dcterms:created>
  <dcterms:modified xsi:type="dcterms:W3CDTF">2020-12-22T11:17:51Z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