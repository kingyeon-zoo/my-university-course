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309" r:id="rId2"/>
    <p:sldId id="561" r:id="rId3"/>
    <p:sldId id="560" r:id="rId4"/>
    <p:sldId id="570" r:id="rId5"/>
    <p:sldId id="562" r:id="rId6"/>
    <p:sldId id="563" r:id="rId7"/>
    <p:sldId id="564" r:id="rId8"/>
    <p:sldId id="566" r:id="rId9"/>
  </p:sldIdLst>
  <p:sldSz cx="9144000" cy="5143500" type="screen16x9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CC"/>
    <a:srgbClr val="DBE4BA"/>
    <a:srgbClr val="00FFFF"/>
    <a:srgbClr val="2D1341"/>
    <a:srgbClr val="3333CC"/>
    <a:srgbClr val="2D2D8A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654" autoAdjust="0"/>
    <p:restoredTop sz="98916" autoAdjust="0"/>
  </p:normalViewPr>
  <p:slideViewPr>
    <p:cSldViewPr>
      <p:cViewPr varScale="1">
        <p:scale>
          <a:sx n="100" d="100"/>
          <a:sy n="100" d="100"/>
        </p:scale>
        <p:origin x="180" y="10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E68FF4-A610-4CCF-A92A-54B8EBE33021}" type="datetimeFigureOut">
              <a:rPr lang="zh-CN" altLang="en-US" smtClean="0"/>
              <a:pPr/>
              <a:t>2021/7/20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D48513-AA6D-4F8A-B41C-3BE1F5014A0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9616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ea typeface="微软雅黑" panose="020B0503020204020204" pitchFamily="34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9E5F32BA-079D-492C-A71C-25B1AC211EF7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101730A-013B-4CB4-BA74-6B5A2DA383AB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ea typeface="微软雅黑" panose="020B0503020204020204" pitchFamily="34" charset="-122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7D708CB0-180E-480A-B5E9-304EDB71A67E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>
                <a:ea typeface="微软雅黑" panose="020B0503020204020204" pitchFamily="34" charset="-122"/>
              </a:defRPr>
            </a:lvl1pPr>
            <a:lvl2pPr>
              <a:defRPr sz="2400">
                <a:ea typeface="微软雅黑" panose="020B0503020204020204" pitchFamily="34" charset="-122"/>
              </a:defRPr>
            </a:lvl2pPr>
            <a:lvl3pPr>
              <a:defRPr sz="2000">
                <a:ea typeface="微软雅黑" panose="020B0503020204020204" pitchFamily="34" charset="-122"/>
              </a:defRPr>
            </a:lvl3pPr>
            <a:lvl4pPr>
              <a:defRPr sz="1800">
                <a:ea typeface="微软雅黑" panose="020B0503020204020204" pitchFamily="34" charset="-122"/>
              </a:defRPr>
            </a:lvl4pPr>
            <a:lvl5pPr>
              <a:defRPr sz="1800">
                <a:ea typeface="微软雅黑" panose="020B0503020204020204" pitchFamily="34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>
                <a:ea typeface="微软雅黑" panose="020B0503020204020204" pitchFamily="34" charset="-122"/>
              </a:defRPr>
            </a:lvl1pPr>
            <a:lvl2pPr>
              <a:defRPr sz="2400">
                <a:ea typeface="微软雅黑" panose="020B0503020204020204" pitchFamily="34" charset="-122"/>
              </a:defRPr>
            </a:lvl2pPr>
            <a:lvl3pPr>
              <a:defRPr sz="2000">
                <a:ea typeface="微软雅黑" panose="020B0503020204020204" pitchFamily="34" charset="-122"/>
              </a:defRPr>
            </a:lvl3pPr>
            <a:lvl4pPr>
              <a:defRPr sz="1800">
                <a:ea typeface="微软雅黑" panose="020B0503020204020204" pitchFamily="34" charset="-122"/>
              </a:defRPr>
            </a:lvl4pPr>
            <a:lvl5pPr>
              <a:defRPr sz="1800">
                <a:ea typeface="微软雅黑" panose="020B0503020204020204" pitchFamily="34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BF519ABF-577E-4AA5-A198-446EB7789424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>
                <a:ea typeface="微软雅黑" panose="020B0503020204020204" pitchFamily="34" charset="-122"/>
              </a:defRPr>
            </a:lvl1pPr>
            <a:lvl2pPr>
              <a:defRPr sz="2000">
                <a:ea typeface="微软雅黑" panose="020B0503020204020204" pitchFamily="34" charset="-122"/>
              </a:defRPr>
            </a:lvl2pPr>
            <a:lvl3pPr>
              <a:defRPr sz="1800">
                <a:ea typeface="微软雅黑" panose="020B0503020204020204" pitchFamily="34" charset="-122"/>
              </a:defRPr>
            </a:lvl3pPr>
            <a:lvl4pPr>
              <a:defRPr sz="1600">
                <a:ea typeface="微软雅黑" panose="020B0503020204020204" pitchFamily="34" charset="-122"/>
              </a:defRPr>
            </a:lvl4pPr>
            <a:lvl5pPr>
              <a:defRPr sz="1600">
                <a:ea typeface="微软雅黑" panose="020B0503020204020204" pitchFamily="34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>
                <a:ea typeface="微软雅黑" panose="020B0503020204020204" pitchFamily="34" charset="-122"/>
              </a:defRPr>
            </a:lvl1pPr>
            <a:lvl2pPr>
              <a:defRPr sz="2000">
                <a:ea typeface="微软雅黑" panose="020B0503020204020204" pitchFamily="34" charset="-122"/>
              </a:defRPr>
            </a:lvl2pPr>
            <a:lvl3pPr>
              <a:defRPr sz="1800">
                <a:ea typeface="微软雅黑" panose="020B0503020204020204" pitchFamily="34" charset="-122"/>
              </a:defRPr>
            </a:lvl3pPr>
            <a:lvl4pPr>
              <a:defRPr sz="1600">
                <a:ea typeface="微软雅黑" panose="020B0503020204020204" pitchFamily="34" charset="-122"/>
              </a:defRPr>
            </a:lvl4pPr>
            <a:lvl5pPr>
              <a:defRPr sz="1600">
                <a:ea typeface="微软雅黑" panose="020B0503020204020204" pitchFamily="34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D35A92FF-C25D-44F5-BA10-134AA412F22C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CC5F3488-9DEE-45BA-87B6-C85FA6C76AB1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>
                <a:ea typeface="微软雅黑" panose="020B0503020204020204" pitchFamily="34" charset="-122"/>
              </a:defRPr>
            </a:lvl1pPr>
            <a:lvl2pPr>
              <a:defRPr sz="2800">
                <a:ea typeface="微软雅黑" panose="020B0503020204020204" pitchFamily="34" charset="-122"/>
              </a:defRPr>
            </a:lvl2pPr>
            <a:lvl3pPr>
              <a:defRPr sz="2400">
                <a:ea typeface="微软雅黑" panose="020B0503020204020204" pitchFamily="34" charset="-122"/>
              </a:defRPr>
            </a:lvl3pPr>
            <a:lvl4pPr>
              <a:defRPr sz="2000">
                <a:ea typeface="微软雅黑" panose="020B0503020204020204" pitchFamily="34" charset="-122"/>
              </a:defRPr>
            </a:lvl4pPr>
            <a:lvl5pPr>
              <a:defRPr sz="2000">
                <a:ea typeface="微软雅黑" panose="020B0503020204020204" pitchFamily="34" charset="-122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ea typeface="微软雅黑" panose="020B0503020204020204" pitchFamily="34" charset="-12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D75ABF99-AFDD-4392-BE13-BE42827BA07F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ea typeface="微软雅黑" panose="020B0503020204020204" pitchFamily="34" charset="-122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ea typeface="微软雅黑" panose="020B0503020204020204" pitchFamily="34" charset="-12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7E1D088-313E-48D8-BECE-41A274E0B5DB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F4B0AB86-F7AE-4867-ADFF-354DE647AB01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3CEB1D2-F23D-4EFF-A6C7-152E930DD571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407513-19AE-47F0-ABD9-53914FA6981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4"/>
          <p:cNvSpPr>
            <a:spLocks noChangeArrowheads="1"/>
          </p:cNvSpPr>
          <p:nvPr userDrawn="1"/>
        </p:nvSpPr>
        <p:spPr bwMode="auto">
          <a:xfrm>
            <a:off x="76318" y="514404"/>
            <a:ext cx="8950418" cy="67865"/>
          </a:xfrm>
          <a:custGeom>
            <a:avLst/>
            <a:gdLst>
              <a:gd name="T0" fmla="*/ 0 w 1000"/>
              <a:gd name="T1" fmla="*/ 0 h 1000"/>
              <a:gd name="T2" fmla="*/ 585 w 1000"/>
              <a:gd name="T3" fmla="*/ 0 h 1000"/>
              <a:gd name="T4" fmla="*/ 585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0 w 1000"/>
              <a:gd name="T11" fmla="*/ 0 h 1000"/>
              <a:gd name="T12" fmla="*/ 1000 w 1000"/>
              <a:gd name="T13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6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6" name="Line 5"/>
          <p:cNvSpPr>
            <a:spLocks noChangeShapeType="1"/>
          </p:cNvSpPr>
          <p:nvPr userDrawn="1"/>
        </p:nvSpPr>
        <p:spPr bwMode="auto">
          <a:xfrm>
            <a:off x="76318" y="4933888"/>
            <a:ext cx="8950418" cy="0"/>
          </a:xfrm>
          <a:prstGeom prst="line">
            <a:avLst/>
          </a:prstGeom>
          <a:noFill/>
          <a:ln w="158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pic>
        <p:nvPicPr>
          <p:cNvPr id="8" name="图片 7" descr="校标.png"/>
          <p:cNvPicPr>
            <a:picLocks noChangeAspect="1"/>
          </p:cNvPicPr>
          <p:nvPr userDrawn="1"/>
        </p:nvPicPr>
        <p:blipFill>
          <a:blip r:embed="rId14" cstate="print"/>
          <a:stretch>
            <a:fillRect/>
          </a:stretch>
        </p:blipFill>
        <p:spPr>
          <a:xfrm>
            <a:off x="6215019" y="0"/>
            <a:ext cx="2545745" cy="47760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wmf"/><Relationship Id="rId4" Type="http://schemas.openxmlformats.org/officeDocument/2006/relationships/oleObject" Target="../embeddings/oleObject4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矩形 121"/>
          <p:cNvSpPr/>
          <p:nvPr/>
        </p:nvSpPr>
        <p:spPr>
          <a:xfrm>
            <a:off x="609704" y="1233568"/>
            <a:ext cx="822949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54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构建任意模值计数器</a:t>
            </a:r>
            <a:endParaRPr lang="zh-CN" altLang="zh-CN" sz="54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650" name="Rectangle 59"/>
          <p:cNvSpPr>
            <a:spLocks noChangeArrowheads="1"/>
          </p:cNvSpPr>
          <p:nvPr/>
        </p:nvSpPr>
        <p:spPr bwMode="auto">
          <a:xfrm>
            <a:off x="1524000" y="2571750"/>
            <a:ext cx="6477692" cy="1523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567055" indent="-567055" algn="ctr" defTabSz="827405">
              <a:spcBef>
                <a:spcPct val="20000"/>
              </a:spcBef>
              <a:buClr>
                <a:srgbClr val="FFFF00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+mn-ea"/>
                <a:ea typeface="+mn-ea"/>
              </a:rPr>
              <a:t>刘 军</a:t>
            </a:r>
            <a:endParaRPr lang="en-US" altLang="zh-CN" sz="2800" b="1" dirty="0">
              <a:latin typeface="+mn-ea"/>
              <a:ea typeface="+mn-ea"/>
            </a:endParaRPr>
          </a:p>
          <a:p>
            <a:pPr marL="567055" indent="-567055" algn="ctr" defTabSz="827405">
              <a:spcBef>
                <a:spcPct val="20000"/>
              </a:spcBef>
              <a:buClr>
                <a:srgbClr val="FFFF00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+mn-ea"/>
                <a:ea typeface="+mn-ea"/>
              </a:rPr>
              <a:t>合肥工业大学计算机与信息学院</a:t>
            </a:r>
            <a:endParaRPr lang="en-US" altLang="zh-CN" sz="28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447353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2" name="AutoShape 4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4933" name="AutoShape 5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2" name="Rectangle 14"/>
          <p:cNvSpPr>
            <a:spLocks noChangeArrowheads="1"/>
          </p:cNvSpPr>
          <p:nvPr/>
        </p:nvSpPr>
        <p:spPr bwMode="auto">
          <a:xfrm>
            <a:off x="152400" y="590550"/>
            <a:ext cx="8001000" cy="3662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构建任意模值的计数器：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N&lt;M   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多片芯片级联</a:t>
            </a:r>
            <a:endParaRPr lang="en-US" altLang="zh-CN" sz="1600" dirty="0">
              <a:latin typeface="微软雅黑" pitchFamily="34" charset="-122"/>
              <a:ea typeface="微软雅黑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1" name="Text Box 2"/>
          <p:cNvSpPr txBox="1">
            <a:spLocks noChangeArrowheads="1"/>
          </p:cNvSpPr>
          <p:nvPr/>
        </p:nvSpPr>
        <p:spPr bwMode="auto">
          <a:xfrm>
            <a:off x="381000" y="971550"/>
            <a:ext cx="7696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0" lang="zh-CN" altLang="en-US" sz="1600" b="1" i="0" dirty="0">
                <a:latin typeface="微软雅黑" pitchFamily="34" charset="-122"/>
                <a:ea typeface="微软雅黑" pitchFamily="34" charset="-122"/>
              </a:rPr>
              <a:t>例</a:t>
            </a:r>
            <a:r>
              <a:rPr kumimoji="0" lang="en-US" altLang="zh-CN" sz="1600" b="1" i="0" dirty="0">
                <a:latin typeface="微软雅黑" pitchFamily="34" charset="-122"/>
                <a:ea typeface="微软雅黑" pitchFamily="34" charset="-122"/>
              </a:rPr>
              <a:t>8</a:t>
            </a:r>
            <a:r>
              <a:rPr kumimoji="0" lang="zh-CN" altLang="en-US" sz="1600" b="1" i="0" dirty="0">
                <a:latin typeface="微软雅黑" pitchFamily="34" charset="-122"/>
                <a:ea typeface="微软雅黑" pitchFamily="34" charset="-122"/>
              </a:rPr>
              <a:t>：用两片</a:t>
            </a:r>
            <a:r>
              <a:rPr kumimoji="0" lang="en-US" altLang="zh-CN" sz="1600" b="1" i="0" dirty="0">
                <a:latin typeface="微软雅黑" pitchFamily="34" charset="-122"/>
                <a:ea typeface="微软雅黑" pitchFamily="34" charset="-122"/>
              </a:rPr>
              <a:t>10</a:t>
            </a:r>
            <a:r>
              <a:rPr kumimoji="0" lang="zh-CN" altLang="en-US" sz="1600" b="1" i="0" dirty="0">
                <a:latin typeface="微软雅黑" pitchFamily="34" charset="-122"/>
                <a:ea typeface="微软雅黑" pitchFamily="34" charset="-122"/>
              </a:rPr>
              <a:t>计数器</a:t>
            </a:r>
            <a:r>
              <a:rPr kumimoji="0" lang="en-US" altLang="zh-CN" sz="1600" b="1" i="0" dirty="0">
                <a:latin typeface="微软雅黑" pitchFamily="34" charset="-122"/>
                <a:ea typeface="微软雅黑" pitchFamily="34" charset="-122"/>
              </a:rPr>
              <a:t>74LS192</a:t>
            </a:r>
            <a:r>
              <a:rPr kumimoji="0" lang="zh-CN" altLang="en-US" sz="1600" b="1" i="0" dirty="0">
                <a:latin typeface="微软雅黑" pitchFamily="34" charset="-122"/>
                <a:ea typeface="微软雅黑" pitchFamily="34" charset="-122"/>
              </a:rPr>
              <a:t>构成模</a:t>
            </a:r>
            <a:r>
              <a:rPr kumimoji="0" lang="en-US" altLang="zh-CN" sz="1600" b="1" i="0" dirty="0">
                <a:latin typeface="微软雅黑" pitchFamily="34" charset="-122"/>
                <a:ea typeface="微软雅黑" pitchFamily="34" charset="-122"/>
              </a:rPr>
              <a:t>100</a:t>
            </a:r>
            <a:r>
              <a:rPr kumimoji="0" lang="zh-CN" altLang="en-US" sz="1600" b="1" i="0" dirty="0">
                <a:latin typeface="微软雅黑" pitchFamily="34" charset="-122"/>
                <a:ea typeface="微软雅黑" pitchFamily="34" charset="-122"/>
              </a:rPr>
              <a:t>的计数器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。</a:t>
            </a:r>
            <a:endParaRPr kumimoji="0" lang="zh-CN" altLang="en-US" sz="1600" b="1" i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5" name="Text Box 2"/>
          <p:cNvSpPr txBox="1">
            <a:spLocks noChangeArrowheads="1"/>
          </p:cNvSpPr>
          <p:nvPr/>
        </p:nvSpPr>
        <p:spPr bwMode="auto">
          <a:xfrm>
            <a:off x="3048000" y="4171950"/>
            <a:ext cx="2362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图 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36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   </a:t>
            </a:r>
            <a:r>
              <a:rPr kumimoji="0" lang="en-US" altLang="zh-CN" sz="1600" b="1" i="0" dirty="0">
                <a:latin typeface="微软雅黑" pitchFamily="34" charset="-122"/>
                <a:ea typeface="微软雅黑" pitchFamily="34" charset="-122"/>
              </a:rPr>
              <a:t>74LS192</a:t>
            </a:r>
            <a:r>
              <a:rPr kumimoji="0" lang="zh-CN" altLang="en-US" sz="1600" b="1" i="0" dirty="0">
                <a:latin typeface="微软雅黑" pitchFamily="34" charset="-122"/>
                <a:ea typeface="微软雅黑" pitchFamily="34" charset="-122"/>
              </a:rPr>
              <a:t>级联</a:t>
            </a:r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635000" y="2516187"/>
            <a:ext cx="625475" cy="279400"/>
            <a:chOff x="567" y="1751"/>
            <a:chExt cx="394" cy="176"/>
          </a:xfrm>
        </p:grpSpPr>
        <p:sp>
          <p:nvSpPr>
            <p:cNvPr id="83" name="Line 3"/>
            <p:cNvSpPr>
              <a:spLocks noChangeShapeType="1"/>
            </p:cNvSpPr>
            <p:nvPr/>
          </p:nvSpPr>
          <p:spPr bwMode="auto">
            <a:xfrm flipH="1">
              <a:off x="567" y="1927"/>
              <a:ext cx="39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" name="Line 6"/>
            <p:cNvSpPr>
              <a:spLocks noChangeShapeType="1"/>
            </p:cNvSpPr>
            <p:nvPr/>
          </p:nvSpPr>
          <p:spPr bwMode="auto">
            <a:xfrm flipH="1">
              <a:off x="576" y="1751"/>
              <a:ext cx="38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7" name="Line 7"/>
          <p:cNvSpPr>
            <a:spLocks noChangeShapeType="1"/>
          </p:cNvSpPr>
          <p:nvPr/>
        </p:nvSpPr>
        <p:spPr bwMode="auto">
          <a:xfrm>
            <a:off x="3795713" y="2516187"/>
            <a:ext cx="1666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4" name="Group 10"/>
          <p:cNvGrpSpPr>
            <a:grpSpLocks/>
          </p:cNvGrpSpPr>
          <p:nvPr/>
        </p:nvGrpSpPr>
        <p:grpSpPr bwMode="auto">
          <a:xfrm>
            <a:off x="1663701" y="3111502"/>
            <a:ext cx="3081338" cy="450850"/>
            <a:chOff x="1215" y="2126"/>
            <a:chExt cx="1941" cy="284"/>
          </a:xfrm>
        </p:grpSpPr>
        <p:sp>
          <p:nvSpPr>
            <p:cNvPr id="89" name="Line 11"/>
            <p:cNvSpPr>
              <a:spLocks noChangeShapeType="1"/>
            </p:cNvSpPr>
            <p:nvPr/>
          </p:nvSpPr>
          <p:spPr bwMode="auto">
            <a:xfrm flipH="1">
              <a:off x="2960" y="2126"/>
              <a:ext cx="1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" name="Line 13"/>
            <p:cNvSpPr>
              <a:spLocks noChangeShapeType="1"/>
            </p:cNvSpPr>
            <p:nvPr/>
          </p:nvSpPr>
          <p:spPr bwMode="auto">
            <a:xfrm>
              <a:off x="1215" y="2228"/>
              <a:ext cx="0" cy="18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" name="Group 18"/>
          <p:cNvGrpSpPr>
            <a:grpSpLocks/>
          </p:cNvGrpSpPr>
          <p:nvPr/>
        </p:nvGrpSpPr>
        <p:grpSpPr bwMode="auto">
          <a:xfrm>
            <a:off x="1274762" y="1581150"/>
            <a:ext cx="2592388" cy="1747837"/>
            <a:chOff x="970" y="1162"/>
            <a:chExt cx="1633" cy="1101"/>
          </a:xfrm>
        </p:grpSpPr>
        <p:grpSp>
          <p:nvGrpSpPr>
            <p:cNvPr id="6" name="Group 19"/>
            <p:cNvGrpSpPr>
              <a:grpSpLocks/>
            </p:cNvGrpSpPr>
            <p:nvPr/>
          </p:nvGrpSpPr>
          <p:grpSpPr bwMode="auto">
            <a:xfrm>
              <a:off x="970" y="1162"/>
              <a:ext cx="1633" cy="1101"/>
              <a:chOff x="970" y="1162"/>
              <a:chExt cx="1633" cy="1101"/>
            </a:xfrm>
          </p:grpSpPr>
          <p:sp>
            <p:nvSpPr>
              <p:cNvPr id="98" name="Text Box 20"/>
              <p:cNvSpPr txBox="1">
                <a:spLocks noChangeArrowheads="1"/>
              </p:cNvSpPr>
              <p:nvPr/>
            </p:nvSpPr>
            <p:spPr bwMode="auto">
              <a:xfrm>
                <a:off x="1285" y="1412"/>
                <a:ext cx="1318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kumimoji="0" lang="en-US" altLang="zh-CN" sz="2000" b="1" i="0">
                    <a:latin typeface="Arial" pitchFamily="34" charset="0"/>
                  </a:rPr>
                  <a:t>Q</a:t>
                </a:r>
                <a:r>
                  <a:rPr kumimoji="0" lang="en-US" altLang="zh-CN" sz="2000" b="1" i="0" baseline="-2000">
                    <a:latin typeface="Arial" pitchFamily="34" charset="0"/>
                  </a:rPr>
                  <a:t>D</a:t>
                </a:r>
                <a:r>
                  <a:rPr kumimoji="0" lang="en-US" altLang="zh-CN" sz="2000" b="1" i="0">
                    <a:latin typeface="Arial" pitchFamily="34" charset="0"/>
                  </a:rPr>
                  <a:t>   Q</a:t>
                </a:r>
                <a:r>
                  <a:rPr kumimoji="0" lang="en-US" altLang="zh-CN" sz="2000" b="1" i="0" baseline="-2000">
                    <a:latin typeface="Arial" pitchFamily="34" charset="0"/>
                  </a:rPr>
                  <a:t>C</a:t>
                </a:r>
                <a:r>
                  <a:rPr kumimoji="0" lang="en-US" altLang="zh-CN" sz="2000" b="1" i="0">
                    <a:latin typeface="Arial" pitchFamily="34" charset="0"/>
                  </a:rPr>
                  <a:t>   Q</a:t>
                </a:r>
                <a:r>
                  <a:rPr kumimoji="0" lang="en-US" altLang="zh-CN" sz="2000" b="1" i="0" baseline="-2000">
                    <a:latin typeface="Arial" pitchFamily="34" charset="0"/>
                  </a:rPr>
                  <a:t>B</a:t>
                </a:r>
                <a:r>
                  <a:rPr kumimoji="0" lang="en-US" altLang="zh-CN" sz="2000" b="1" i="0">
                    <a:latin typeface="Arial" pitchFamily="34" charset="0"/>
                  </a:rPr>
                  <a:t>   Q</a:t>
                </a:r>
                <a:r>
                  <a:rPr kumimoji="0" lang="en-US" altLang="zh-CN" sz="2000" b="1" i="0" baseline="-2000">
                    <a:latin typeface="Arial" pitchFamily="34" charset="0"/>
                  </a:rPr>
                  <a:t>A</a:t>
                </a:r>
              </a:p>
            </p:txBody>
          </p:sp>
          <p:grpSp>
            <p:nvGrpSpPr>
              <p:cNvPr id="7" name="Group 21"/>
              <p:cNvGrpSpPr>
                <a:grpSpLocks/>
              </p:cNvGrpSpPr>
              <p:nvPr/>
            </p:nvGrpSpPr>
            <p:grpSpPr bwMode="auto">
              <a:xfrm>
                <a:off x="970" y="1162"/>
                <a:ext cx="1633" cy="1101"/>
                <a:chOff x="970" y="1162"/>
                <a:chExt cx="1633" cy="1101"/>
              </a:xfrm>
            </p:grpSpPr>
            <p:sp>
              <p:nvSpPr>
                <p:cNvPr id="100" name="Rectangle 22"/>
                <p:cNvSpPr>
                  <a:spLocks noChangeArrowheads="1"/>
                </p:cNvSpPr>
                <p:nvPr/>
              </p:nvSpPr>
              <p:spPr bwMode="auto">
                <a:xfrm>
                  <a:off x="970" y="1412"/>
                  <a:ext cx="1588" cy="81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01" name="Text Box 23"/>
                <p:cNvSpPr txBox="1">
                  <a:spLocks noChangeArrowheads="1"/>
                </p:cNvSpPr>
                <p:nvPr/>
              </p:nvSpPr>
              <p:spPr bwMode="auto">
                <a:xfrm>
                  <a:off x="2195" y="1640"/>
                  <a:ext cx="408" cy="44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</a:pPr>
                  <a:r>
                    <a:rPr kumimoji="0" lang="en-US" altLang="zh-CN" sz="2000" b="1" i="0">
                      <a:latin typeface="Arial" pitchFamily="34" charset="0"/>
                    </a:rPr>
                    <a:t>COBO</a:t>
                  </a:r>
                </a:p>
              </p:txBody>
            </p:sp>
            <p:sp>
              <p:nvSpPr>
                <p:cNvPr id="102" name="Text Box 24"/>
                <p:cNvSpPr txBox="1">
                  <a:spLocks noChangeArrowheads="1"/>
                </p:cNvSpPr>
                <p:nvPr/>
              </p:nvSpPr>
              <p:spPr bwMode="auto">
                <a:xfrm>
                  <a:off x="1060" y="2013"/>
                  <a:ext cx="1348" cy="25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</a:pPr>
                  <a:r>
                    <a:rPr kumimoji="0" lang="en-US" altLang="zh-CN" sz="2000" b="1" i="0">
                      <a:latin typeface="Arial" pitchFamily="34" charset="0"/>
                    </a:rPr>
                    <a:t>CR    D  C  B  A</a:t>
                  </a:r>
                </a:p>
              </p:txBody>
            </p:sp>
            <p:sp>
              <p:nvSpPr>
                <p:cNvPr id="103" name="Line 25"/>
                <p:cNvSpPr>
                  <a:spLocks noChangeShapeType="1"/>
                </p:cNvSpPr>
                <p:nvPr/>
              </p:nvSpPr>
              <p:spPr bwMode="auto">
                <a:xfrm>
                  <a:off x="2285" y="1675"/>
                  <a:ext cx="182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" name="Text Box 26"/>
                <p:cNvSpPr txBox="1">
                  <a:spLocks noChangeArrowheads="1"/>
                </p:cNvSpPr>
                <p:nvPr/>
              </p:nvSpPr>
              <p:spPr bwMode="auto">
                <a:xfrm>
                  <a:off x="1062" y="1619"/>
                  <a:ext cx="499" cy="44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</a:pPr>
                  <a:r>
                    <a:rPr kumimoji="0" lang="en-US" altLang="zh-CN" sz="2000" b="1" i="0">
                      <a:latin typeface="Arial" pitchFamily="34" charset="0"/>
                    </a:rPr>
                    <a:t>CP</a:t>
                  </a:r>
                  <a:r>
                    <a:rPr kumimoji="0" lang="en-US" altLang="zh-CN" sz="2000" b="1" i="0" baseline="-2000">
                      <a:latin typeface="Arial" pitchFamily="34" charset="0"/>
                    </a:rPr>
                    <a:t>U</a:t>
                  </a:r>
                  <a:r>
                    <a:rPr kumimoji="0" lang="en-US" altLang="zh-CN" sz="2000" b="1" i="0">
                      <a:latin typeface="Arial" pitchFamily="34" charset="0"/>
                    </a:rPr>
                    <a:t>CP</a:t>
                  </a:r>
                  <a:r>
                    <a:rPr kumimoji="0" lang="en-US" altLang="zh-CN" sz="2000" b="1" i="0" baseline="-2000">
                      <a:latin typeface="Arial" pitchFamily="34" charset="0"/>
                    </a:rPr>
                    <a:t>D</a:t>
                  </a:r>
                </a:p>
              </p:txBody>
            </p:sp>
            <p:sp>
              <p:nvSpPr>
                <p:cNvPr id="105" name="AutoShape 27"/>
                <p:cNvSpPr>
                  <a:spLocks noChangeArrowheads="1"/>
                </p:cNvSpPr>
                <p:nvPr/>
              </p:nvSpPr>
              <p:spPr bwMode="auto">
                <a:xfrm rot="5400000">
                  <a:off x="953" y="1866"/>
                  <a:ext cx="151" cy="117"/>
                </a:xfrm>
                <a:prstGeom prst="triangle">
                  <a:avLst>
                    <a:gd name="adj" fmla="val 50000"/>
                  </a:avLst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06" name="Text Box 28"/>
                <p:cNvSpPr txBox="1">
                  <a:spLocks noChangeArrowheads="1"/>
                </p:cNvSpPr>
                <p:nvPr/>
              </p:nvSpPr>
              <p:spPr bwMode="auto">
                <a:xfrm>
                  <a:off x="1288" y="1162"/>
                  <a:ext cx="1051" cy="25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</a:pPr>
                  <a:r>
                    <a:rPr kumimoji="0" lang="en-US" altLang="zh-CN" sz="2000" b="1" i="0">
                      <a:latin typeface="Arial" pitchFamily="34" charset="0"/>
                    </a:rPr>
                    <a:t>74LS192</a:t>
                  </a:r>
                </a:p>
              </p:txBody>
            </p:sp>
            <p:sp>
              <p:nvSpPr>
                <p:cNvPr id="107" name="AutoShape 29"/>
                <p:cNvSpPr>
                  <a:spLocks noChangeArrowheads="1"/>
                </p:cNvSpPr>
                <p:nvPr/>
              </p:nvSpPr>
              <p:spPr bwMode="auto">
                <a:xfrm rot="5400000">
                  <a:off x="958" y="1679"/>
                  <a:ext cx="151" cy="117"/>
                </a:xfrm>
                <a:prstGeom prst="triangle">
                  <a:avLst>
                    <a:gd name="adj" fmla="val 50000"/>
                  </a:avLst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08" name="Line 30"/>
                <p:cNvSpPr>
                  <a:spLocks noChangeShapeType="1"/>
                </p:cNvSpPr>
                <p:nvPr/>
              </p:nvSpPr>
              <p:spPr bwMode="auto">
                <a:xfrm>
                  <a:off x="1028" y="1444"/>
                  <a:ext cx="182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9" name="Text Box 31"/>
                <p:cNvSpPr txBox="1">
                  <a:spLocks noChangeArrowheads="1"/>
                </p:cNvSpPr>
                <p:nvPr/>
              </p:nvSpPr>
              <p:spPr bwMode="auto">
                <a:xfrm>
                  <a:off x="975" y="1431"/>
                  <a:ext cx="426" cy="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</a:pPr>
                  <a:r>
                    <a:rPr kumimoji="0" lang="en-US" altLang="zh-CN" sz="1800" b="1" i="0">
                      <a:latin typeface="Arial" pitchFamily="34" charset="0"/>
                    </a:rPr>
                    <a:t>LD</a:t>
                  </a:r>
                </a:p>
              </p:txBody>
            </p:sp>
            <p:sp>
              <p:nvSpPr>
                <p:cNvPr id="110" name="Line 32"/>
                <p:cNvSpPr>
                  <a:spLocks noChangeShapeType="1"/>
                </p:cNvSpPr>
                <p:nvPr/>
              </p:nvSpPr>
              <p:spPr bwMode="auto">
                <a:xfrm>
                  <a:off x="2269" y="1869"/>
                  <a:ext cx="182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97" name="Text Box 33"/>
            <p:cNvSpPr txBox="1">
              <a:spLocks noChangeArrowheads="1"/>
            </p:cNvSpPr>
            <p:nvPr/>
          </p:nvSpPr>
          <p:spPr bwMode="auto">
            <a:xfrm>
              <a:off x="1611" y="1662"/>
              <a:ext cx="674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sz="2000" b="1" i="0">
                  <a:latin typeface="Century" pitchFamily="18" charset="0"/>
                </a:rPr>
                <a:t>(</a:t>
              </a:r>
              <a:r>
                <a:rPr kumimoji="0" lang="en-US" altLang="zh-CN" sz="1800" b="1" i="0">
                  <a:latin typeface="Arial" pitchFamily="34" charset="0"/>
                </a:rPr>
                <a:t>1</a:t>
              </a:r>
              <a:r>
                <a:rPr kumimoji="0" lang="en-US" altLang="zh-CN" sz="2000" b="1" i="0">
                  <a:latin typeface="Century" pitchFamily="18" charset="0"/>
                </a:rPr>
                <a:t>)</a:t>
              </a:r>
            </a:p>
          </p:txBody>
        </p:sp>
      </p:grpSp>
      <p:grpSp>
        <p:nvGrpSpPr>
          <p:cNvPr id="8" name="Group 34"/>
          <p:cNvGrpSpPr>
            <a:grpSpLocks/>
          </p:cNvGrpSpPr>
          <p:nvPr/>
        </p:nvGrpSpPr>
        <p:grpSpPr bwMode="auto">
          <a:xfrm>
            <a:off x="4752975" y="1581150"/>
            <a:ext cx="3143250" cy="1755775"/>
            <a:chOff x="3161" y="1162"/>
            <a:chExt cx="1980" cy="1106"/>
          </a:xfrm>
        </p:grpSpPr>
        <p:grpSp>
          <p:nvGrpSpPr>
            <p:cNvPr id="9" name="Group 35"/>
            <p:cNvGrpSpPr>
              <a:grpSpLocks/>
            </p:cNvGrpSpPr>
            <p:nvPr/>
          </p:nvGrpSpPr>
          <p:grpSpPr bwMode="auto">
            <a:xfrm>
              <a:off x="3161" y="1162"/>
              <a:ext cx="1980" cy="1106"/>
              <a:chOff x="3161" y="1162"/>
              <a:chExt cx="1980" cy="1106"/>
            </a:xfrm>
          </p:grpSpPr>
          <p:sp>
            <p:nvSpPr>
              <p:cNvPr id="114" name="Text Box 36"/>
              <p:cNvSpPr txBox="1">
                <a:spLocks noChangeArrowheads="1"/>
              </p:cNvSpPr>
              <p:nvPr/>
            </p:nvSpPr>
            <p:spPr bwMode="auto">
              <a:xfrm>
                <a:off x="3446" y="1412"/>
                <a:ext cx="1350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kumimoji="0" lang="en-US" altLang="zh-CN" sz="2000" b="1" i="0" dirty="0">
                    <a:latin typeface="Arial" pitchFamily="34" charset="0"/>
                  </a:rPr>
                  <a:t>Q</a:t>
                </a:r>
                <a:r>
                  <a:rPr kumimoji="0" lang="en-US" altLang="zh-CN" sz="2000" b="1" i="0" baseline="-2000" dirty="0">
                    <a:latin typeface="Arial" pitchFamily="34" charset="0"/>
                  </a:rPr>
                  <a:t>D</a:t>
                </a:r>
                <a:r>
                  <a:rPr kumimoji="0" lang="en-US" altLang="zh-CN" sz="2000" b="1" i="0" dirty="0">
                    <a:latin typeface="Arial" pitchFamily="34" charset="0"/>
                  </a:rPr>
                  <a:t>   Q</a:t>
                </a:r>
                <a:r>
                  <a:rPr kumimoji="0" lang="en-US" altLang="zh-CN" sz="2000" b="1" i="0" baseline="-2000" dirty="0">
                    <a:latin typeface="Arial" pitchFamily="34" charset="0"/>
                  </a:rPr>
                  <a:t>C</a:t>
                </a:r>
                <a:r>
                  <a:rPr kumimoji="0" lang="en-US" altLang="zh-CN" sz="2000" b="1" i="0" dirty="0">
                    <a:latin typeface="Arial" pitchFamily="34" charset="0"/>
                  </a:rPr>
                  <a:t>   Q</a:t>
                </a:r>
                <a:r>
                  <a:rPr kumimoji="0" lang="en-US" altLang="zh-CN" sz="2000" b="1" i="0" baseline="-2000" dirty="0">
                    <a:latin typeface="Arial" pitchFamily="34" charset="0"/>
                  </a:rPr>
                  <a:t>B</a:t>
                </a:r>
                <a:r>
                  <a:rPr kumimoji="0" lang="en-US" altLang="zh-CN" sz="2000" b="1" i="0" dirty="0">
                    <a:latin typeface="Arial" pitchFamily="34" charset="0"/>
                  </a:rPr>
                  <a:t>   Q</a:t>
                </a:r>
                <a:r>
                  <a:rPr kumimoji="0" lang="en-US" altLang="zh-CN" sz="2000" b="1" i="0" baseline="-2000" dirty="0">
                    <a:latin typeface="Arial" pitchFamily="34" charset="0"/>
                  </a:rPr>
                  <a:t>A</a:t>
                </a:r>
              </a:p>
            </p:txBody>
          </p:sp>
          <p:grpSp>
            <p:nvGrpSpPr>
              <p:cNvPr id="10" name="Group 37"/>
              <p:cNvGrpSpPr>
                <a:grpSpLocks/>
              </p:cNvGrpSpPr>
              <p:nvPr/>
            </p:nvGrpSpPr>
            <p:grpSpPr bwMode="auto">
              <a:xfrm>
                <a:off x="3161" y="1162"/>
                <a:ext cx="1635" cy="1106"/>
                <a:chOff x="3161" y="1162"/>
                <a:chExt cx="1635" cy="1106"/>
              </a:xfrm>
            </p:grpSpPr>
            <p:sp>
              <p:nvSpPr>
                <p:cNvPr id="119" name="Rectangle 38"/>
                <p:cNvSpPr>
                  <a:spLocks noChangeArrowheads="1"/>
                </p:cNvSpPr>
                <p:nvPr/>
              </p:nvSpPr>
              <p:spPr bwMode="auto">
                <a:xfrm>
                  <a:off x="3163" y="1412"/>
                  <a:ext cx="1588" cy="81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21" name="Text Box 39"/>
                <p:cNvSpPr txBox="1">
                  <a:spLocks noChangeArrowheads="1"/>
                </p:cNvSpPr>
                <p:nvPr/>
              </p:nvSpPr>
              <p:spPr bwMode="auto">
                <a:xfrm>
                  <a:off x="4388" y="1640"/>
                  <a:ext cx="408" cy="44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</a:pPr>
                  <a:r>
                    <a:rPr kumimoji="0" lang="en-US" altLang="zh-CN" sz="2000" b="1" i="0">
                      <a:latin typeface="Arial" pitchFamily="34" charset="0"/>
                    </a:rPr>
                    <a:t>COBO</a:t>
                  </a:r>
                </a:p>
              </p:txBody>
            </p:sp>
            <p:sp>
              <p:nvSpPr>
                <p:cNvPr id="146" name="Text Box 40"/>
                <p:cNvSpPr txBox="1">
                  <a:spLocks noChangeArrowheads="1"/>
                </p:cNvSpPr>
                <p:nvPr/>
              </p:nvSpPr>
              <p:spPr bwMode="auto">
                <a:xfrm>
                  <a:off x="3268" y="2018"/>
                  <a:ext cx="1315" cy="25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</a:pPr>
                  <a:r>
                    <a:rPr kumimoji="0" lang="en-US" altLang="zh-CN" sz="2000" b="1" i="0">
                      <a:latin typeface="Arial" pitchFamily="34" charset="0"/>
                    </a:rPr>
                    <a:t>CR    D  C  B  A</a:t>
                  </a:r>
                </a:p>
              </p:txBody>
            </p:sp>
            <p:sp>
              <p:nvSpPr>
                <p:cNvPr id="147" name="Line 41"/>
                <p:cNvSpPr>
                  <a:spLocks noChangeShapeType="1"/>
                </p:cNvSpPr>
                <p:nvPr/>
              </p:nvSpPr>
              <p:spPr bwMode="auto">
                <a:xfrm>
                  <a:off x="4478" y="1675"/>
                  <a:ext cx="182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6" name="Line 42"/>
                <p:cNvSpPr>
                  <a:spLocks noChangeShapeType="1"/>
                </p:cNvSpPr>
                <p:nvPr/>
              </p:nvSpPr>
              <p:spPr bwMode="auto">
                <a:xfrm>
                  <a:off x="4460" y="1869"/>
                  <a:ext cx="182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7" name="Text Box 43"/>
                <p:cNvSpPr txBox="1">
                  <a:spLocks noChangeArrowheads="1"/>
                </p:cNvSpPr>
                <p:nvPr/>
              </p:nvSpPr>
              <p:spPr bwMode="auto">
                <a:xfrm>
                  <a:off x="3247" y="1630"/>
                  <a:ext cx="499" cy="44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</a:pPr>
                  <a:r>
                    <a:rPr kumimoji="0" lang="en-US" altLang="zh-CN" sz="2000" b="1" i="0">
                      <a:latin typeface="Arial" pitchFamily="34" charset="0"/>
                    </a:rPr>
                    <a:t>CP</a:t>
                  </a:r>
                  <a:r>
                    <a:rPr kumimoji="0" lang="en-US" altLang="zh-CN" sz="2000" b="1" i="0" baseline="-2000">
                      <a:latin typeface="Arial" pitchFamily="34" charset="0"/>
                    </a:rPr>
                    <a:t>U</a:t>
                  </a:r>
                  <a:r>
                    <a:rPr kumimoji="0" lang="en-US" altLang="zh-CN" sz="2000" b="1" i="0">
                      <a:latin typeface="Arial" pitchFamily="34" charset="0"/>
                    </a:rPr>
                    <a:t>CP</a:t>
                  </a:r>
                  <a:r>
                    <a:rPr kumimoji="0" lang="en-US" altLang="zh-CN" sz="2000" b="1" i="0" baseline="-2000">
                      <a:latin typeface="Arial" pitchFamily="34" charset="0"/>
                    </a:rPr>
                    <a:t>D</a:t>
                  </a:r>
                </a:p>
              </p:txBody>
            </p:sp>
            <p:sp>
              <p:nvSpPr>
                <p:cNvPr id="158" name="Text Box 44"/>
                <p:cNvSpPr txBox="1">
                  <a:spLocks noChangeArrowheads="1"/>
                </p:cNvSpPr>
                <p:nvPr/>
              </p:nvSpPr>
              <p:spPr bwMode="auto">
                <a:xfrm>
                  <a:off x="3617" y="1162"/>
                  <a:ext cx="1051" cy="25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</a:pPr>
                  <a:r>
                    <a:rPr kumimoji="0" lang="en-US" altLang="zh-CN" sz="2000" b="1" i="0">
                      <a:latin typeface="Arial" pitchFamily="34" charset="0"/>
                    </a:rPr>
                    <a:t>74LS192</a:t>
                  </a:r>
                </a:p>
              </p:txBody>
            </p:sp>
            <p:grpSp>
              <p:nvGrpSpPr>
                <p:cNvPr id="12" name="Group 45"/>
                <p:cNvGrpSpPr>
                  <a:grpSpLocks/>
                </p:cNvGrpSpPr>
                <p:nvPr/>
              </p:nvGrpSpPr>
              <p:grpSpPr bwMode="auto">
                <a:xfrm>
                  <a:off x="3175" y="1441"/>
                  <a:ext cx="426" cy="231"/>
                  <a:chOff x="1103" y="2936"/>
                  <a:chExt cx="426" cy="231"/>
                </a:xfrm>
              </p:grpSpPr>
              <p:sp>
                <p:nvSpPr>
                  <p:cNvPr id="162" name="Line 46"/>
                  <p:cNvSpPr>
                    <a:spLocks noChangeShapeType="1"/>
                  </p:cNvSpPr>
                  <p:nvPr/>
                </p:nvSpPr>
                <p:spPr bwMode="auto">
                  <a:xfrm>
                    <a:off x="1156" y="2949"/>
                    <a:ext cx="182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63" name="Text Box 4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103" y="2936"/>
                    <a:ext cx="426" cy="231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>
                    <a:spAutoFit/>
                  </a:bodyPr>
                  <a:lstStyle/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kumimoji="0" lang="en-US" altLang="zh-CN" sz="1800" b="1" i="0">
                        <a:latin typeface="Arial" pitchFamily="34" charset="0"/>
                      </a:rPr>
                      <a:t>LD</a:t>
                    </a:r>
                  </a:p>
                </p:txBody>
              </p:sp>
            </p:grpSp>
            <p:sp>
              <p:nvSpPr>
                <p:cNvPr id="160" name="AutoShape 48"/>
                <p:cNvSpPr>
                  <a:spLocks noChangeArrowheads="1"/>
                </p:cNvSpPr>
                <p:nvPr/>
              </p:nvSpPr>
              <p:spPr bwMode="auto">
                <a:xfrm rot="5400000">
                  <a:off x="3144" y="1867"/>
                  <a:ext cx="151" cy="117"/>
                </a:xfrm>
                <a:prstGeom prst="triangle">
                  <a:avLst>
                    <a:gd name="adj" fmla="val 50000"/>
                  </a:avLst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61" name="AutoShape 49"/>
                <p:cNvSpPr>
                  <a:spLocks noChangeArrowheads="1"/>
                </p:cNvSpPr>
                <p:nvPr/>
              </p:nvSpPr>
              <p:spPr bwMode="auto">
                <a:xfrm rot="5400000">
                  <a:off x="3149" y="1680"/>
                  <a:ext cx="151" cy="117"/>
                </a:xfrm>
                <a:prstGeom prst="triangle">
                  <a:avLst>
                    <a:gd name="adj" fmla="val 50000"/>
                  </a:avLst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hangingPunct="1"/>
                  <a:endParaRPr lang="zh-CN" altLang="en-US"/>
                </a:p>
              </p:txBody>
            </p:sp>
          </p:grpSp>
          <p:sp>
            <p:nvSpPr>
              <p:cNvPr id="117" name="Line 50"/>
              <p:cNvSpPr>
                <a:spLocks noChangeShapeType="1"/>
              </p:cNvSpPr>
              <p:nvPr/>
            </p:nvSpPr>
            <p:spPr bwMode="auto">
              <a:xfrm flipH="1">
                <a:off x="4747" y="1927"/>
                <a:ext cx="39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8" name="Line 51"/>
              <p:cNvSpPr>
                <a:spLocks noChangeShapeType="1"/>
              </p:cNvSpPr>
              <p:nvPr/>
            </p:nvSpPr>
            <p:spPr bwMode="auto">
              <a:xfrm flipH="1">
                <a:off x="4756" y="1751"/>
                <a:ext cx="38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13" name="Text Box 52"/>
            <p:cNvSpPr txBox="1">
              <a:spLocks noChangeArrowheads="1"/>
            </p:cNvSpPr>
            <p:nvPr/>
          </p:nvSpPr>
          <p:spPr bwMode="auto">
            <a:xfrm>
              <a:off x="3834" y="1656"/>
              <a:ext cx="674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sz="2000" b="1" i="0">
                  <a:latin typeface="Century" pitchFamily="18" charset="0"/>
                </a:rPr>
                <a:t>(</a:t>
              </a:r>
              <a:r>
                <a:rPr kumimoji="0" lang="en-US" altLang="zh-CN" sz="1800" b="1" i="0">
                  <a:latin typeface="Arial" pitchFamily="34" charset="0"/>
                </a:rPr>
                <a:t>2</a:t>
              </a:r>
              <a:r>
                <a:rPr kumimoji="0" lang="en-US" altLang="zh-CN" sz="2000" b="1" i="0">
                  <a:latin typeface="Century" pitchFamily="18" charset="0"/>
                </a:rPr>
                <a:t>)</a:t>
              </a:r>
            </a:p>
          </p:txBody>
        </p:sp>
      </p:grpSp>
      <p:sp>
        <p:nvSpPr>
          <p:cNvPr id="164" name="Line 55"/>
          <p:cNvSpPr>
            <a:spLocks noChangeShapeType="1"/>
          </p:cNvSpPr>
          <p:nvPr/>
        </p:nvSpPr>
        <p:spPr bwMode="auto">
          <a:xfrm>
            <a:off x="4495800" y="2805112"/>
            <a:ext cx="2571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Line 55"/>
          <p:cNvSpPr>
            <a:spLocks noChangeShapeType="1"/>
          </p:cNvSpPr>
          <p:nvPr/>
        </p:nvSpPr>
        <p:spPr bwMode="auto">
          <a:xfrm>
            <a:off x="4495800" y="2495550"/>
            <a:ext cx="2571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矩形 57"/>
          <p:cNvSpPr/>
          <p:nvPr/>
        </p:nvSpPr>
        <p:spPr>
          <a:xfrm>
            <a:off x="0" y="0"/>
            <a:ext cx="421782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27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：构建任意模值计数器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927049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2" name="AutoShape 4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4933" name="AutoShape 5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2" name="Rectangle 14"/>
          <p:cNvSpPr>
            <a:spLocks noChangeArrowheads="1"/>
          </p:cNvSpPr>
          <p:nvPr/>
        </p:nvSpPr>
        <p:spPr bwMode="auto">
          <a:xfrm>
            <a:off x="152400" y="590550"/>
            <a:ext cx="8001000" cy="3662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构建任意模值的计数器：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N&lt;M   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多片芯片级联</a:t>
            </a:r>
            <a:endParaRPr lang="en-US" altLang="zh-CN" sz="1600" dirty="0">
              <a:latin typeface="微软雅黑" pitchFamily="34" charset="-122"/>
              <a:ea typeface="微软雅黑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1" name="Text Box 2"/>
          <p:cNvSpPr txBox="1">
            <a:spLocks noChangeArrowheads="1"/>
          </p:cNvSpPr>
          <p:nvPr/>
        </p:nvSpPr>
        <p:spPr bwMode="auto">
          <a:xfrm>
            <a:off x="381000" y="971550"/>
            <a:ext cx="7696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0" lang="zh-CN" altLang="en-US" sz="1600" b="1" i="0" dirty="0">
                <a:latin typeface="微软雅黑" pitchFamily="34" charset="-122"/>
                <a:ea typeface="微软雅黑" pitchFamily="34" charset="-122"/>
              </a:rPr>
              <a:t>例</a:t>
            </a:r>
            <a:r>
              <a:rPr kumimoji="0" lang="en-US" altLang="zh-CN" sz="1600" b="1" i="0" dirty="0">
                <a:latin typeface="微软雅黑" pitchFamily="34" charset="-122"/>
                <a:ea typeface="微软雅黑" pitchFamily="34" charset="-122"/>
              </a:rPr>
              <a:t>8</a:t>
            </a:r>
            <a:r>
              <a:rPr kumimoji="0" lang="zh-CN" altLang="en-US" sz="1600" b="1" i="0" dirty="0">
                <a:latin typeface="微软雅黑" pitchFamily="34" charset="-122"/>
                <a:ea typeface="微软雅黑" pitchFamily="34" charset="-122"/>
              </a:rPr>
              <a:t>：用两片模</a:t>
            </a:r>
            <a:r>
              <a:rPr kumimoji="0" lang="en-US" altLang="zh-CN" sz="1600" b="1" i="0" dirty="0">
                <a:latin typeface="微软雅黑" pitchFamily="34" charset="-122"/>
                <a:ea typeface="微软雅黑" pitchFamily="34" charset="-122"/>
              </a:rPr>
              <a:t>10</a:t>
            </a:r>
            <a:r>
              <a:rPr kumimoji="0" lang="zh-CN" altLang="en-US" sz="1600" b="1" i="0" dirty="0">
                <a:latin typeface="微软雅黑" pitchFamily="34" charset="-122"/>
                <a:ea typeface="微软雅黑" pitchFamily="34" charset="-122"/>
              </a:rPr>
              <a:t>计数器</a:t>
            </a:r>
            <a:r>
              <a:rPr kumimoji="0" lang="en-US" altLang="zh-CN" sz="1600" b="1" i="0" dirty="0">
                <a:latin typeface="微软雅黑" pitchFamily="34" charset="-122"/>
                <a:ea typeface="微软雅黑" pitchFamily="34" charset="-122"/>
              </a:rPr>
              <a:t>74LS192</a:t>
            </a:r>
            <a:r>
              <a:rPr kumimoji="0" lang="zh-CN" altLang="en-US" sz="1600" b="1" i="0" dirty="0">
                <a:latin typeface="微软雅黑" pitchFamily="34" charset="-122"/>
                <a:ea typeface="微软雅黑" pitchFamily="34" charset="-122"/>
              </a:rPr>
              <a:t>构成模</a:t>
            </a:r>
            <a:r>
              <a:rPr kumimoji="0" lang="en-US" altLang="zh-CN" sz="1600" b="1" i="0" dirty="0">
                <a:latin typeface="微软雅黑" pitchFamily="34" charset="-122"/>
                <a:ea typeface="微软雅黑" pitchFamily="34" charset="-122"/>
              </a:rPr>
              <a:t>100</a:t>
            </a:r>
            <a:r>
              <a:rPr kumimoji="0" lang="zh-CN" altLang="en-US" sz="1600" b="1" i="0" dirty="0">
                <a:latin typeface="微软雅黑" pitchFamily="34" charset="-122"/>
                <a:ea typeface="微软雅黑" pitchFamily="34" charset="-122"/>
              </a:rPr>
              <a:t>的计数器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。</a:t>
            </a:r>
            <a:endParaRPr kumimoji="0" lang="zh-CN" altLang="en-US" sz="1600" b="1" i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5" name="Text Box 2"/>
          <p:cNvSpPr txBox="1">
            <a:spLocks noChangeArrowheads="1"/>
          </p:cNvSpPr>
          <p:nvPr/>
        </p:nvSpPr>
        <p:spPr bwMode="auto">
          <a:xfrm>
            <a:off x="3048000" y="4171950"/>
            <a:ext cx="2362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图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36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    </a:t>
            </a:r>
            <a:r>
              <a:rPr kumimoji="0" lang="en-US" altLang="zh-CN" sz="1600" b="1" i="0" dirty="0">
                <a:latin typeface="微软雅黑" pitchFamily="34" charset="-122"/>
                <a:ea typeface="微软雅黑" pitchFamily="34" charset="-122"/>
              </a:rPr>
              <a:t>74LS163</a:t>
            </a:r>
            <a:r>
              <a:rPr kumimoji="0" lang="zh-CN" altLang="en-US" sz="1600" b="1" i="0" dirty="0">
                <a:latin typeface="微软雅黑" pitchFamily="34" charset="-122"/>
                <a:ea typeface="微软雅黑" pitchFamily="34" charset="-122"/>
              </a:rPr>
              <a:t>级联</a:t>
            </a:r>
          </a:p>
        </p:txBody>
      </p:sp>
      <p:grpSp>
        <p:nvGrpSpPr>
          <p:cNvPr id="82" name="Group 2"/>
          <p:cNvGrpSpPr>
            <a:grpSpLocks/>
          </p:cNvGrpSpPr>
          <p:nvPr/>
        </p:nvGrpSpPr>
        <p:grpSpPr bwMode="auto">
          <a:xfrm>
            <a:off x="0" y="2300287"/>
            <a:ext cx="1260475" cy="495300"/>
            <a:chOff x="167" y="1615"/>
            <a:chExt cx="794" cy="312"/>
          </a:xfrm>
        </p:grpSpPr>
        <p:sp>
          <p:nvSpPr>
            <p:cNvPr id="83" name="Line 3"/>
            <p:cNvSpPr>
              <a:spLocks noChangeShapeType="1"/>
            </p:cNvSpPr>
            <p:nvPr/>
          </p:nvSpPr>
          <p:spPr bwMode="auto">
            <a:xfrm flipH="1">
              <a:off x="567" y="1927"/>
              <a:ext cx="39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84" name="Group 4"/>
            <p:cNvGrpSpPr>
              <a:grpSpLocks/>
            </p:cNvGrpSpPr>
            <p:nvPr/>
          </p:nvGrpSpPr>
          <p:grpSpPr bwMode="auto">
            <a:xfrm>
              <a:off x="167" y="1615"/>
              <a:ext cx="794" cy="250"/>
              <a:chOff x="167" y="1615"/>
              <a:chExt cx="794" cy="250"/>
            </a:xfrm>
          </p:grpSpPr>
          <p:sp>
            <p:nvSpPr>
              <p:cNvPr id="85" name="Text Box 5"/>
              <p:cNvSpPr txBox="1">
                <a:spLocks noChangeArrowheads="1"/>
              </p:cNvSpPr>
              <p:nvPr/>
            </p:nvSpPr>
            <p:spPr bwMode="auto">
              <a:xfrm>
                <a:off x="167" y="1615"/>
                <a:ext cx="674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kumimoji="0" lang="en-US" altLang="zh-CN" sz="2000" b="1" i="0" dirty="0">
                    <a:solidFill>
                      <a:srgbClr val="FF0000"/>
                    </a:solidFill>
                    <a:latin typeface="Arial" pitchFamily="34" charset="0"/>
                  </a:rPr>
                  <a:t>CLK</a:t>
                </a:r>
              </a:p>
            </p:txBody>
          </p:sp>
          <p:sp>
            <p:nvSpPr>
              <p:cNvPr id="86" name="Line 6"/>
              <p:cNvSpPr>
                <a:spLocks noChangeShapeType="1"/>
              </p:cNvSpPr>
              <p:nvPr/>
            </p:nvSpPr>
            <p:spPr bwMode="auto">
              <a:xfrm flipH="1">
                <a:off x="576" y="1751"/>
                <a:ext cx="385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87" name="Line 7"/>
          <p:cNvSpPr>
            <a:spLocks noChangeShapeType="1"/>
          </p:cNvSpPr>
          <p:nvPr/>
        </p:nvSpPr>
        <p:spPr bwMode="auto">
          <a:xfrm>
            <a:off x="3795712" y="2516187"/>
            <a:ext cx="96837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88" name="Group 10"/>
          <p:cNvGrpSpPr>
            <a:grpSpLocks/>
          </p:cNvGrpSpPr>
          <p:nvPr/>
        </p:nvGrpSpPr>
        <p:grpSpPr bwMode="auto">
          <a:xfrm>
            <a:off x="1663701" y="3111500"/>
            <a:ext cx="3081338" cy="776287"/>
            <a:chOff x="1215" y="2126"/>
            <a:chExt cx="1941" cy="489"/>
          </a:xfrm>
        </p:grpSpPr>
        <p:sp>
          <p:nvSpPr>
            <p:cNvPr id="89" name="Line 11"/>
            <p:cNvSpPr>
              <a:spLocks noChangeShapeType="1"/>
            </p:cNvSpPr>
            <p:nvPr/>
          </p:nvSpPr>
          <p:spPr bwMode="auto">
            <a:xfrm flipH="1">
              <a:off x="2960" y="2126"/>
              <a:ext cx="196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" name="Line 12"/>
            <p:cNvSpPr>
              <a:spLocks noChangeShapeType="1"/>
            </p:cNvSpPr>
            <p:nvPr/>
          </p:nvSpPr>
          <p:spPr bwMode="auto">
            <a:xfrm>
              <a:off x="2969" y="2126"/>
              <a:ext cx="0" cy="26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" name="Line 13"/>
            <p:cNvSpPr>
              <a:spLocks noChangeShapeType="1"/>
            </p:cNvSpPr>
            <p:nvPr/>
          </p:nvSpPr>
          <p:spPr bwMode="auto">
            <a:xfrm>
              <a:off x="1215" y="2228"/>
              <a:ext cx="0" cy="38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" name="Line 14"/>
            <p:cNvSpPr>
              <a:spLocks noChangeShapeType="1"/>
            </p:cNvSpPr>
            <p:nvPr/>
          </p:nvSpPr>
          <p:spPr bwMode="auto">
            <a:xfrm>
              <a:off x="1215" y="2394"/>
              <a:ext cx="1752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5" name="Group 18"/>
          <p:cNvGrpSpPr>
            <a:grpSpLocks/>
          </p:cNvGrpSpPr>
          <p:nvPr/>
        </p:nvGrpSpPr>
        <p:grpSpPr bwMode="auto">
          <a:xfrm>
            <a:off x="1274762" y="1581150"/>
            <a:ext cx="2592388" cy="1747837"/>
            <a:chOff x="970" y="1162"/>
            <a:chExt cx="1633" cy="1101"/>
          </a:xfrm>
        </p:grpSpPr>
        <p:grpSp>
          <p:nvGrpSpPr>
            <p:cNvPr id="96" name="Group 19"/>
            <p:cNvGrpSpPr>
              <a:grpSpLocks/>
            </p:cNvGrpSpPr>
            <p:nvPr/>
          </p:nvGrpSpPr>
          <p:grpSpPr bwMode="auto">
            <a:xfrm>
              <a:off x="970" y="1162"/>
              <a:ext cx="1633" cy="1101"/>
              <a:chOff x="970" y="1162"/>
              <a:chExt cx="1633" cy="1101"/>
            </a:xfrm>
          </p:grpSpPr>
          <p:sp>
            <p:nvSpPr>
              <p:cNvPr id="98" name="Text Box 20"/>
              <p:cNvSpPr txBox="1">
                <a:spLocks noChangeArrowheads="1"/>
              </p:cNvSpPr>
              <p:nvPr/>
            </p:nvSpPr>
            <p:spPr bwMode="auto">
              <a:xfrm>
                <a:off x="1285" y="1412"/>
                <a:ext cx="1318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kumimoji="0" lang="en-US" altLang="zh-CN" sz="2000" b="1" i="0">
                    <a:latin typeface="Arial" pitchFamily="34" charset="0"/>
                  </a:rPr>
                  <a:t>Q</a:t>
                </a:r>
                <a:r>
                  <a:rPr kumimoji="0" lang="en-US" altLang="zh-CN" sz="2000" b="1" i="0" baseline="-2000">
                    <a:latin typeface="Arial" pitchFamily="34" charset="0"/>
                  </a:rPr>
                  <a:t>D</a:t>
                </a:r>
                <a:r>
                  <a:rPr kumimoji="0" lang="en-US" altLang="zh-CN" sz="2000" b="1" i="0">
                    <a:latin typeface="Arial" pitchFamily="34" charset="0"/>
                  </a:rPr>
                  <a:t>   Q</a:t>
                </a:r>
                <a:r>
                  <a:rPr kumimoji="0" lang="en-US" altLang="zh-CN" sz="2000" b="1" i="0" baseline="-2000">
                    <a:latin typeface="Arial" pitchFamily="34" charset="0"/>
                  </a:rPr>
                  <a:t>C</a:t>
                </a:r>
                <a:r>
                  <a:rPr kumimoji="0" lang="en-US" altLang="zh-CN" sz="2000" b="1" i="0">
                    <a:latin typeface="Arial" pitchFamily="34" charset="0"/>
                  </a:rPr>
                  <a:t>   Q</a:t>
                </a:r>
                <a:r>
                  <a:rPr kumimoji="0" lang="en-US" altLang="zh-CN" sz="2000" b="1" i="0" baseline="-2000">
                    <a:latin typeface="Arial" pitchFamily="34" charset="0"/>
                  </a:rPr>
                  <a:t>B</a:t>
                </a:r>
                <a:r>
                  <a:rPr kumimoji="0" lang="en-US" altLang="zh-CN" sz="2000" b="1" i="0">
                    <a:latin typeface="Arial" pitchFamily="34" charset="0"/>
                  </a:rPr>
                  <a:t>   Q</a:t>
                </a:r>
                <a:r>
                  <a:rPr kumimoji="0" lang="en-US" altLang="zh-CN" sz="2000" b="1" i="0" baseline="-2000">
                    <a:latin typeface="Arial" pitchFamily="34" charset="0"/>
                  </a:rPr>
                  <a:t>A</a:t>
                </a:r>
              </a:p>
            </p:txBody>
          </p:sp>
          <p:grpSp>
            <p:nvGrpSpPr>
              <p:cNvPr id="99" name="Group 21"/>
              <p:cNvGrpSpPr>
                <a:grpSpLocks/>
              </p:cNvGrpSpPr>
              <p:nvPr/>
            </p:nvGrpSpPr>
            <p:grpSpPr bwMode="auto">
              <a:xfrm>
                <a:off x="970" y="1162"/>
                <a:ext cx="1633" cy="1101"/>
                <a:chOff x="970" y="1162"/>
                <a:chExt cx="1633" cy="1101"/>
              </a:xfrm>
            </p:grpSpPr>
            <p:sp>
              <p:nvSpPr>
                <p:cNvPr id="100" name="Rectangle 22"/>
                <p:cNvSpPr>
                  <a:spLocks noChangeArrowheads="1"/>
                </p:cNvSpPr>
                <p:nvPr/>
              </p:nvSpPr>
              <p:spPr bwMode="auto">
                <a:xfrm>
                  <a:off x="970" y="1412"/>
                  <a:ext cx="1588" cy="81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01" name="Text Box 23"/>
                <p:cNvSpPr txBox="1">
                  <a:spLocks noChangeArrowheads="1"/>
                </p:cNvSpPr>
                <p:nvPr/>
              </p:nvSpPr>
              <p:spPr bwMode="auto">
                <a:xfrm>
                  <a:off x="2195" y="1640"/>
                  <a:ext cx="408" cy="44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</a:pPr>
                  <a:r>
                    <a:rPr kumimoji="0" lang="en-US" altLang="zh-CN" sz="2000" b="1" i="0">
                      <a:latin typeface="Arial" pitchFamily="34" charset="0"/>
                    </a:rPr>
                    <a:t>COBO</a:t>
                  </a:r>
                </a:p>
              </p:txBody>
            </p:sp>
            <p:sp>
              <p:nvSpPr>
                <p:cNvPr id="102" name="Text Box 24"/>
                <p:cNvSpPr txBox="1">
                  <a:spLocks noChangeArrowheads="1"/>
                </p:cNvSpPr>
                <p:nvPr/>
              </p:nvSpPr>
              <p:spPr bwMode="auto">
                <a:xfrm>
                  <a:off x="1060" y="2013"/>
                  <a:ext cx="1348" cy="25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</a:pPr>
                  <a:r>
                    <a:rPr kumimoji="0" lang="en-US" altLang="zh-CN" sz="2000" b="1" i="0">
                      <a:latin typeface="Arial" pitchFamily="34" charset="0"/>
                    </a:rPr>
                    <a:t>CR    D  C  B  A</a:t>
                  </a:r>
                </a:p>
              </p:txBody>
            </p:sp>
            <p:sp>
              <p:nvSpPr>
                <p:cNvPr id="103" name="Line 25"/>
                <p:cNvSpPr>
                  <a:spLocks noChangeShapeType="1"/>
                </p:cNvSpPr>
                <p:nvPr/>
              </p:nvSpPr>
              <p:spPr bwMode="auto">
                <a:xfrm>
                  <a:off x="2285" y="1675"/>
                  <a:ext cx="182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" name="Text Box 26"/>
                <p:cNvSpPr txBox="1">
                  <a:spLocks noChangeArrowheads="1"/>
                </p:cNvSpPr>
                <p:nvPr/>
              </p:nvSpPr>
              <p:spPr bwMode="auto">
                <a:xfrm>
                  <a:off x="1062" y="1619"/>
                  <a:ext cx="499" cy="44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</a:pPr>
                  <a:r>
                    <a:rPr kumimoji="0" lang="en-US" altLang="zh-CN" sz="2000" b="1" i="0">
                      <a:latin typeface="Arial" pitchFamily="34" charset="0"/>
                    </a:rPr>
                    <a:t>CP</a:t>
                  </a:r>
                  <a:r>
                    <a:rPr kumimoji="0" lang="en-US" altLang="zh-CN" sz="2000" b="1" i="0" baseline="-2000">
                      <a:latin typeface="Arial" pitchFamily="34" charset="0"/>
                    </a:rPr>
                    <a:t>U</a:t>
                  </a:r>
                  <a:r>
                    <a:rPr kumimoji="0" lang="en-US" altLang="zh-CN" sz="2000" b="1" i="0">
                      <a:latin typeface="Arial" pitchFamily="34" charset="0"/>
                    </a:rPr>
                    <a:t>CP</a:t>
                  </a:r>
                  <a:r>
                    <a:rPr kumimoji="0" lang="en-US" altLang="zh-CN" sz="2000" b="1" i="0" baseline="-2000">
                      <a:latin typeface="Arial" pitchFamily="34" charset="0"/>
                    </a:rPr>
                    <a:t>D</a:t>
                  </a:r>
                </a:p>
              </p:txBody>
            </p:sp>
            <p:sp>
              <p:nvSpPr>
                <p:cNvPr id="105" name="AutoShape 27"/>
                <p:cNvSpPr>
                  <a:spLocks noChangeArrowheads="1"/>
                </p:cNvSpPr>
                <p:nvPr/>
              </p:nvSpPr>
              <p:spPr bwMode="auto">
                <a:xfrm rot="5400000">
                  <a:off x="953" y="1866"/>
                  <a:ext cx="151" cy="117"/>
                </a:xfrm>
                <a:prstGeom prst="triangle">
                  <a:avLst>
                    <a:gd name="adj" fmla="val 50000"/>
                  </a:avLst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06" name="Text Box 28"/>
                <p:cNvSpPr txBox="1">
                  <a:spLocks noChangeArrowheads="1"/>
                </p:cNvSpPr>
                <p:nvPr/>
              </p:nvSpPr>
              <p:spPr bwMode="auto">
                <a:xfrm>
                  <a:off x="1288" y="1162"/>
                  <a:ext cx="1051" cy="25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</a:pPr>
                  <a:r>
                    <a:rPr kumimoji="0" lang="en-US" altLang="zh-CN" sz="2000" b="1" i="0">
                      <a:latin typeface="Arial" pitchFamily="34" charset="0"/>
                    </a:rPr>
                    <a:t>74LS192</a:t>
                  </a:r>
                </a:p>
              </p:txBody>
            </p:sp>
            <p:sp>
              <p:nvSpPr>
                <p:cNvPr id="107" name="AutoShape 29"/>
                <p:cNvSpPr>
                  <a:spLocks noChangeArrowheads="1"/>
                </p:cNvSpPr>
                <p:nvPr/>
              </p:nvSpPr>
              <p:spPr bwMode="auto">
                <a:xfrm rot="5400000">
                  <a:off x="958" y="1679"/>
                  <a:ext cx="151" cy="117"/>
                </a:xfrm>
                <a:prstGeom prst="triangle">
                  <a:avLst>
                    <a:gd name="adj" fmla="val 50000"/>
                  </a:avLst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08" name="Line 30"/>
                <p:cNvSpPr>
                  <a:spLocks noChangeShapeType="1"/>
                </p:cNvSpPr>
                <p:nvPr/>
              </p:nvSpPr>
              <p:spPr bwMode="auto">
                <a:xfrm>
                  <a:off x="1028" y="1444"/>
                  <a:ext cx="182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9" name="Text Box 31"/>
                <p:cNvSpPr txBox="1">
                  <a:spLocks noChangeArrowheads="1"/>
                </p:cNvSpPr>
                <p:nvPr/>
              </p:nvSpPr>
              <p:spPr bwMode="auto">
                <a:xfrm>
                  <a:off x="975" y="1431"/>
                  <a:ext cx="426" cy="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</a:pPr>
                  <a:r>
                    <a:rPr kumimoji="0" lang="en-US" altLang="zh-CN" sz="1800" b="1" i="0">
                      <a:latin typeface="Arial" pitchFamily="34" charset="0"/>
                    </a:rPr>
                    <a:t>LD</a:t>
                  </a:r>
                </a:p>
              </p:txBody>
            </p:sp>
            <p:sp>
              <p:nvSpPr>
                <p:cNvPr id="110" name="Line 32"/>
                <p:cNvSpPr>
                  <a:spLocks noChangeShapeType="1"/>
                </p:cNvSpPr>
                <p:nvPr/>
              </p:nvSpPr>
              <p:spPr bwMode="auto">
                <a:xfrm>
                  <a:off x="2269" y="1869"/>
                  <a:ext cx="182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97" name="Text Box 33"/>
            <p:cNvSpPr txBox="1">
              <a:spLocks noChangeArrowheads="1"/>
            </p:cNvSpPr>
            <p:nvPr/>
          </p:nvSpPr>
          <p:spPr bwMode="auto">
            <a:xfrm>
              <a:off x="1611" y="1662"/>
              <a:ext cx="674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sz="2000" b="1" i="0">
                  <a:latin typeface="Century" pitchFamily="18" charset="0"/>
                </a:rPr>
                <a:t>(</a:t>
              </a:r>
              <a:r>
                <a:rPr kumimoji="0" lang="en-US" altLang="zh-CN" sz="1800" b="1" i="0">
                  <a:latin typeface="Arial" pitchFamily="34" charset="0"/>
                </a:rPr>
                <a:t>1</a:t>
              </a:r>
              <a:r>
                <a:rPr kumimoji="0" lang="en-US" altLang="zh-CN" sz="2000" b="1" i="0">
                  <a:latin typeface="Century" pitchFamily="18" charset="0"/>
                </a:rPr>
                <a:t>)</a:t>
              </a:r>
            </a:p>
          </p:txBody>
        </p:sp>
      </p:grpSp>
      <p:grpSp>
        <p:nvGrpSpPr>
          <p:cNvPr id="111" name="Group 34"/>
          <p:cNvGrpSpPr>
            <a:grpSpLocks/>
          </p:cNvGrpSpPr>
          <p:nvPr/>
        </p:nvGrpSpPr>
        <p:grpSpPr bwMode="auto">
          <a:xfrm>
            <a:off x="4752975" y="1581150"/>
            <a:ext cx="3143250" cy="1755775"/>
            <a:chOff x="3161" y="1162"/>
            <a:chExt cx="1980" cy="1106"/>
          </a:xfrm>
        </p:grpSpPr>
        <p:grpSp>
          <p:nvGrpSpPr>
            <p:cNvPr id="112" name="Group 35"/>
            <p:cNvGrpSpPr>
              <a:grpSpLocks/>
            </p:cNvGrpSpPr>
            <p:nvPr/>
          </p:nvGrpSpPr>
          <p:grpSpPr bwMode="auto">
            <a:xfrm>
              <a:off x="3161" y="1162"/>
              <a:ext cx="1980" cy="1106"/>
              <a:chOff x="3161" y="1162"/>
              <a:chExt cx="1980" cy="1106"/>
            </a:xfrm>
          </p:grpSpPr>
          <p:sp>
            <p:nvSpPr>
              <p:cNvPr id="114" name="Text Box 36"/>
              <p:cNvSpPr txBox="1">
                <a:spLocks noChangeArrowheads="1"/>
              </p:cNvSpPr>
              <p:nvPr/>
            </p:nvSpPr>
            <p:spPr bwMode="auto">
              <a:xfrm>
                <a:off x="3446" y="1412"/>
                <a:ext cx="1350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kumimoji="0" lang="en-US" altLang="zh-CN" sz="2000" b="1" i="0" dirty="0">
                    <a:latin typeface="Arial" pitchFamily="34" charset="0"/>
                  </a:rPr>
                  <a:t>Q</a:t>
                </a:r>
                <a:r>
                  <a:rPr kumimoji="0" lang="en-US" altLang="zh-CN" sz="2000" b="1" i="0" baseline="-2000" dirty="0">
                    <a:latin typeface="Arial" pitchFamily="34" charset="0"/>
                  </a:rPr>
                  <a:t>D</a:t>
                </a:r>
                <a:r>
                  <a:rPr kumimoji="0" lang="en-US" altLang="zh-CN" sz="2000" b="1" i="0" dirty="0">
                    <a:latin typeface="Arial" pitchFamily="34" charset="0"/>
                  </a:rPr>
                  <a:t>   Q</a:t>
                </a:r>
                <a:r>
                  <a:rPr kumimoji="0" lang="en-US" altLang="zh-CN" sz="2000" b="1" i="0" baseline="-2000" dirty="0">
                    <a:latin typeface="Arial" pitchFamily="34" charset="0"/>
                  </a:rPr>
                  <a:t>C</a:t>
                </a:r>
                <a:r>
                  <a:rPr kumimoji="0" lang="en-US" altLang="zh-CN" sz="2000" b="1" i="0" dirty="0">
                    <a:latin typeface="Arial" pitchFamily="34" charset="0"/>
                  </a:rPr>
                  <a:t>   Q</a:t>
                </a:r>
                <a:r>
                  <a:rPr kumimoji="0" lang="en-US" altLang="zh-CN" sz="2000" b="1" i="0" baseline="-2000" dirty="0">
                    <a:latin typeface="Arial" pitchFamily="34" charset="0"/>
                  </a:rPr>
                  <a:t>B</a:t>
                </a:r>
                <a:r>
                  <a:rPr kumimoji="0" lang="en-US" altLang="zh-CN" sz="2000" b="1" i="0" dirty="0">
                    <a:latin typeface="Arial" pitchFamily="34" charset="0"/>
                  </a:rPr>
                  <a:t>   Q</a:t>
                </a:r>
                <a:r>
                  <a:rPr kumimoji="0" lang="en-US" altLang="zh-CN" sz="2000" b="1" i="0" baseline="-2000" dirty="0">
                    <a:latin typeface="Arial" pitchFamily="34" charset="0"/>
                  </a:rPr>
                  <a:t>A</a:t>
                </a:r>
              </a:p>
            </p:txBody>
          </p:sp>
          <p:grpSp>
            <p:nvGrpSpPr>
              <p:cNvPr id="115" name="Group 37"/>
              <p:cNvGrpSpPr>
                <a:grpSpLocks/>
              </p:cNvGrpSpPr>
              <p:nvPr/>
            </p:nvGrpSpPr>
            <p:grpSpPr bwMode="auto">
              <a:xfrm>
                <a:off x="3161" y="1162"/>
                <a:ext cx="1635" cy="1106"/>
                <a:chOff x="3161" y="1162"/>
                <a:chExt cx="1635" cy="1106"/>
              </a:xfrm>
            </p:grpSpPr>
            <p:sp>
              <p:nvSpPr>
                <p:cNvPr id="119" name="Rectangle 38"/>
                <p:cNvSpPr>
                  <a:spLocks noChangeArrowheads="1"/>
                </p:cNvSpPr>
                <p:nvPr/>
              </p:nvSpPr>
              <p:spPr bwMode="auto">
                <a:xfrm>
                  <a:off x="3163" y="1412"/>
                  <a:ext cx="1588" cy="81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21" name="Text Box 39"/>
                <p:cNvSpPr txBox="1">
                  <a:spLocks noChangeArrowheads="1"/>
                </p:cNvSpPr>
                <p:nvPr/>
              </p:nvSpPr>
              <p:spPr bwMode="auto">
                <a:xfrm>
                  <a:off x="4388" y="1640"/>
                  <a:ext cx="408" cy="44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</a:pPr>
                  <a:r>
                    <a:rPr kumimoji="0" lang="en-US" altLang="zh-CN" sz="2000" b="1" i="0">
                      <a:latin typeface="Arial" pitchFamily="34" charset="0"/>
                    </a:rPr>
                    <a:t>COBO</a:t>
                  </a:r>
                </a:p>
              </p:txBody>
            </p:sp>
            <p:sp>
              <p:nvSpPr>
                <p:cNvPr id="146" name="Text Box 40"/>
                <p:cNvSpPr txBox="1">
                  <a:spLocks noChangeArrowheads="1"/>
                </p:cNvSpPr>
                <p:nvPr/>
              </p:nvSpPr>
              <p:spPr bwMode="auto">
                <a:xfrm>
                  <a:off x="3268" y="2018"/>
                  <a:ext cx="1315" cy="25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</a:pPr>
                  <a:r>
                    <a:rPr kumimoji="0" lang="en-US" altLang="zh-CN" sz="2000" b="1" i="0">
                      <a:latin typeface="Arial" pitchFamily="34" charset="0"/>
                    </a:rPr>
                    <a:t>CR    D  C  B  A</a:t>
                  </a:r>
                </a:p>
              </p:txBody>
            </p:sp>
            <p:sp>
              <p:nvSpPr>
                <p:cNvPr id="147" name="Line 41"/>
                <p:cNvSpPr>
                  <a:spLocks noChangeShapeType="1"/>
                </p:cNvSpPr>
                <p:nvPr/>
              </p:nvSpPr>
              <p:spPr bwMode="auto">
                <a:xfrm>
                  <a:off x="4478" y="1675"/>
                  <a:ext cx="182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6" name="Line 42"/>
                <p:cNvSpPr>
                  <a:spLocks noChangeShapeType="1"/>
                </p:cNvSpPr>
                <p:nvPr/>
              </p:nvSpPr>
              <p:spPr bwMode="auto">
                <a:xfrm>
                  <a:off x="4460" y="1869"/>
                  <a:ext cx="182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7" name="Text Box 43"/>
                <p:cNvSpPr txBox="1">
                  <a:spLocks noChangeArrowheads="1"/>
                </p:cNvSpPr>
                <p:nvPr/>
              </p:nvSpPr>
              <p:spPr bwMode="auto">
                <a:xfrm>
                  <a:off x="3247" y="1630"/>
                  <a:ext cx="499" cy="44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</a:pPr>
                  <a:r>
                    <a:rPr kumimoji="0" lang="en-US" altLang="zh-CN" sz="2000" b="1" i="0">
                      <a:latin typeface="Arial" pitchFamily="34" charset="0"/>
                    </a:rPr>
                    <a:t>CP</a:t>
                  </a:r>
                  <a:r>
                    <a:rPr kumimoji="0" lang="en-US" altLang="zh-CN" sz="2000" b="1" i="0" baseline="-2000">
                      <a:latin typeface="Arial" pitchFamily="34" charset="0"/>
                    </a:rPr>
                    <a:t>U</a:t>
                  </a:r>
                  <a:r>
                    <a:rPr kumimoji="0" lang="en-US" altLang="zh-CN" sz="2000" b="1" i="0">
                      <a:latin typeface="Arial" pitchFamily="34" charset="0"/>
                    </a:rPr>
                    <a:t>CP</a:t>
                  </a:r>
                  <a:r>
                    <a:rPr kumimoji="0" lang="en-US" altLang="zh-CN" sz="2000" b="1" i="0" baseline="-2000">
                      <a:latin typeface="Arial" pitchFamily="34" charset="0"/>
                    </a:rPr>
                    <a:t>D</a:t>
                  </a:r>
                </a:p>
              </p:txBody>
            </p:sp>
            <p:sp>
              <p:nvSpPr>
                <p:cNvPr id="158" name="Text Box 44"/>
                <p:cNvSpPr txBox="1">
                  <a:spLocks noChangeArrowheads="1"/>
                </p:cNvSpPr>
                <p:nvPr/>
              </p:nvSpPr>
              <p:spPr bwMode="auto">
                <a:xfrm>
                  <a:off x="3617" y="1162"/>
                  <a:ext cx="1051" cy="25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</a:pPr>
                  <a:r>
                    <a:rPr kumimoji="0" lang="en-US" altLang="zh-CN" sz="2000" b="1" i="0">
                      <a:latin typeface="Arial" pitchFamily="34" charset="0"/>
                    </a:rPr>
                    <a:t>74LS192</a:t>
                  </a:r>
                </a:p>
              </p:txBody>
            </p:sp>
            <p:grpSp>
              <p:nvGrpSpPr>
                <p:cNvPr id="159" name="Group 45"/>
                <p:cNvGrpSpPr>
                  <a:grpSpLocks/>
                </p:cNvGrpSpPr>
                <p:nvPr/>
              </p:nvGrpSpPr>
              <p:grpSpPr bwMode="auto">
                <a:xfrm>
                  <a:off x="3175" y="1441"/>
                  <a:ext cx="426" cy="231"/>
                  <a:chOff x="1103" y="2936"/>
                  <a:chExt cx="426" cy="231"/>
                </a:xfrm>
              </p:grpSpPr>
              <p:sp>
                <p:nvSpPr>
                  <p:cNvPr id="162" name="Line 46"/>
                  <p:cNvSpPr>
                    <a:spLocks noChangeShapeType="1"/>
                  </p:cNvSpPr>
                  <p:nvPr/>
                </p:nvSpPr>
                <p:spPr bwMode="auto">
                  <a:xfrm>
                    <a:off x="1156" y="2949"/>
                    <a:ext cx="182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63" name="Text Box 4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103" y="2936"/>
                    <a:ext cx="426" cy="231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>
                    <a:spAutoFit/>
                  </a:bodyPr>
                  <a:lstStyle/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kumimoji="0" lang="en-US" altLang="zh-CN" sz="1800" b="1" i="0">
                        <a:latin typeface="Arial" pitchFamily="34" charset="0"/>
                      </a:rPr>
                      <a:t>LD</a:t>
                    </a:r>
                  </a:p>
                </p:txBody>
              </p:sp>
            </p:grpSp>
            <p:sp>
              <p:nvSpPr>
                <p:cNvPr id="160" name="AutoShape 48"/>
                <p:cNvSpPr>
                  <a:spLocks noChangeArrowheads="1"/>
                </p:cNvSpPr>
                <p:nvPr/>
              </p:nvSpPr>
              <p:spPr bwMode="auto">
                <a:xfrm rot="5400000">
                  <a:off x="3144" y="1867"/>
                  <a:ext cx="151" cy="117"/>
                </a:xfrm>
                <a:prstGeom prst="triangle">
                  <a:avLst>
                    <a:gd name="adj" fmla="val 50000"/>
                  </a:avLst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61" name="AutoShape 49"/>
                <p:cNvSpPr>
                  <a:spLocks noChangeArrowheads="1"/>
                </p:cNvSpPr>
                <p:nvPr/>
              </p:nvSpPr>
              <p:spPr bwMode="auto">
                <a:xfrm rot="5400000">
                  <a:off x="3149" y="1680"/>
                  <a:ext cx="151" cy="117"/>
                </a:xfrm>
                <a:prstGeom prst="triangle">
                  <a:avLst>
                    <a:gd name="adj" fmla="val 50000"/>
                  </a:avLst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hangingPunct="1"/>
                  <a:endParaRPr lang="zh-CN" altLang="en-US"/>
                </a:p>
              </p:txBody>
            </p:sp>
          </p:grpSp>
          <p:sp>
            <p:nvSpPr>
              <p:cNvPr id="117" name="Line 50"/>
              <p:cNvSpPr>
                <a:spLocks noChangeShapeType="1"/>
              </p:cNvSpPr>
              <p:nvPr/>
            </p:nvSpPr>
            <p:spPr bwMode="auto">
              <a:xfrm flipH="1">
                <a:off x="4747" y="1927"/>
                <a:ext cx="39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8" name="Line 51"/>
              <p:cNvSpPr>
                <a:spLocks noChangeShapeType="1"/>
              </p:cNvSpPr>
              <p:nvPr/>
            </p:nvSpPr>
            <p:spPr bwMode="auto">
              <a:xfrm flipH="1">
                <a:off x="4756" y="1751"/>
                <a:ext cx="38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13" name="Text Box 52"/>
            <p:cNvSpPr txBox="1">
              <a:spLocks noChangeArrowheads="1"/>
            </p:cNvSpPr>
            <p:nvPr/>
          </p:nvSpPr>
          <p:spPr bwMode="auto">
            <a:xfrm>
              <a:off x="3834" y="1656"/>
              <a:ext cx="674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sz="2000" b="1" i="0">
                  <a:latin typeface="Century" pitchFamily="18" charset="0"/>
                </a:rPr>
                <a:t>(</a:t>
              </a:r>
              <a:r>
                <a:rPr kumimoji="0" lang="en-US" altLang="zh-CN" sz="1800" b="1" i="0">
                  <a:latin typeface="Arial" pitchFamily="34" charset="0"/>
                </a:rPr>
                <a:t>2</a:t>
              </a:r>
              <a:r>
                <a:rPr kumimoji="0" lang="en-US" altLang="zh-CN" sz="2000" b="1" i="0">
                  <a:latin typeface="Century" pitchFamily="18" charset="0"/>
                </a:rPr>
                <a:t>)</a:t>
              </a:r>
            </a:p>
          </p:txBody>
        </p:sp>
      </p:grpSp>
      <p:sp>
        <p:nvSpPr>
          <p:cNvPr id="164" name="Line 55"/>
          <p:cNvSpPr>
            <a:spLocks noChangeShapeType="1"/>
          </p:cNvSpPr>
          <p:nvPr/>
        </p:nvSpPr>
        <p:spPr bwMode="auto">
          <a:xfrm>
            <a:off x="4248150" y="2805112"/>
            <a:ext cx="5048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5" name="Text Box 5"/>
          <p:cNvSpPr txBox="1">
            <a:spLocks noChangeArrowheads="1"/>
          </p:cNvSpPr>
          <p:nvPr/>
        </p:nvSpPr>
        <p:spPr bwMode="auto">
          <a:xfrm>
            <a:off x="1524001" y="3943350"/>
            <a:ext cx="533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0" lang="en-US" altLang="zh-CN" sz="2000" b="1" i="0" dirty="0">
                <a:solidFill>
                  <a:srgbClr val="FF0000"/>
                </a:solidFill>
                <a:latin typeface="Arial" pitchFamily="34" charset="0"/>
              </a:rPr>
              <a:t>0</a:t>
            </a:r>
          </a:p>
        </p:txBody>
      </p:sp>
      <p:sp>
        <p:nvSpPr>
          <p:cNvPr id="166" name="Text Box 2"/>
          <p:cNvSpPr txBox="1">
            <a:spLocks noChangeArrowheads="1"/>
          </p:cNvSpPr>
          <p:nvPr/>
        </p:nvSpPr>
        <p:spPr bwMode="auto">
          <a:xfrm>
            <a:off x="6248400" y="971550"/>
            <a:ext cx="17526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异步级联</a:t>
            </a:r>
            <a:endParaRPr kumimoji="0" lang="zh-CN" altLang="en-US" sz="2000" b="1" i="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7" name="矩形 166"/>
          <p:cNvSpPr/>
          <p:nvPr/>
        </p:nvSpPr>
        <p:spPr>
          <a:xfrm>
            <a:off x="0" y="0"/>
            <a:ext cx="421782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27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：构建任意模值计数器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92704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0" y="1943100"/>
          <a:ext cx="8681819" cy="320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6291" name="Visio" r:id="rId2" imgW="6280448" imgH="1980518" progId="Visio.Drawing.11">
                  <p:embed/>
                </p:oleObj>
              </mc:Choice>
              <mc:Fallback>
                <p:oleObj name="Visio" r:id="rId2" imgW="6280448" imgH="1980518" progId="Visio.Drawing.11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943100"/>
                        <a:ext cx="8681819" cy="3200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2"/>
          <p:cNvSpPr txBox="1">
            <a:spLocks noChangeArrowheads="1"/>
          </p:cNvSpPr>
          <p:nvPr/>
        </p:nvSpPr>
        <p:spPr bwMode="auto">
          <a:xfrm>
            <a:off x="3048000" y="4400550"/>
            <a:ext cx="3352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图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37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    </a:t>
            </a:r>
            <a:r>
              <a:rPr kumimoji="0" lang="en-US" altLang="zh-CN" sz="1600" b="1" i="0" dirty="0">
                <a:latin typeface="微软雅黑" pitchFamily="34" charset="-122"/>
                <a:ea typeface="微软雅黑" pitchFamily="34" charset="-122"/>
              </a:rPr>
              <a:t>74LS163</a:t>
            </a:r>
            <a:r>
              <a:rPr kumimoji="0" lang="zh-CN" altLang="en-US" sz="1600" b="1" i="0" dirty="0">
                <a:latin typeface="微软雅黑" pitchFamily="34" charset="-122"/>
                <a:ea typeface="微软雅黑" pitchFamily="34" charset="-122"/>
              </a:rPr>
              <a:t>级联时序图</a:t>
            </a:r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421782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27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：构建任意模值计数器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96292" name="Picture 4" descr="C:\Users\hfutliujun\AppData\Roaming\Tencent\Users\350654676\QQ\WinTemp\RichOle\W)O}K1]R%U$[3VOO(K9HV77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600200" y="666750"/>
            <a:ext cx="4973525" cy="1828800"/>
          </a:xfrm>
          <a:prstGeom prst="rect">
            <a:avLst/>
          </a:prstGeom>
          <a:noFill/>
        </p:spPr>
      </p:pic>
      <p:sp>
        <p:nvSpPr>
          <p:cNvPr id="10" name="TextBox 9"/>
          <p:cNvSpPr txBox="1"/>
          <p:nvPr/>
        </p:nvSpPr>
        <p:spPr>
          <a:xfrm>
            <a:off x="5791200" y="2419350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T1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324600" y="2419350"/>
            <a:ext cx="4572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T2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58000" y="2419350"/>
            <a:ext cx="4572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T3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2" name="AutoShape 4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4933" name="AutoShape 5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2" name="Rectangle 14"/>
          <p:cNvSpPr>
            <a:spLocks noChangeArrowheads="1"/>
          </p:cNvSpPr>
          <p:nvPr/>
        </p:nvSpPr>
        <p:spPr bwMode="auto">
          <a:xfrm>
            <a:off x="152400" y="590550"/>
            <a:ext cx="8001000" cy="3662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构建任意模值的计数器：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N&lt;M   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多片芯片级联</a:t>
            </a:r>
            <a:endParaRPr lang="en-US" altLang="zh-CN" sz="1600" dirty="0">
              <a:latin typeface="微软雅黑" pitchFamily="34" charset="-122"/>
              <a:ea typeface="微软雅黑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1" name="Text Box 2"/>
          <p:cNvSpPr txBox="1">
            <a:spLocks noChangeArrowheads="1"/>
          </p:cNvSpPr>
          <p:nvPr/>
        </p:nvSpPr>
        <p:spPr bwMode="auto">
          <a:xfrm>
            <a:off x="228600" y="971550"/>
            <a:ext cx="78486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0" lang="zh-CN" altLang="en-US" sz="1600" b="1" i="0" dirty="0">
                <a:latin typeface="微软雅黑" pitchFamily="34" charset="-122"/>
                <a:ea typeface="微软雅黑" pitchFamily="34" charset="-122"/>
              </a:rPr>
              <a:t>例</a:t>
            </a:r>
            <a:r>
              <a:rPr kumimoji="0" lang="en-US" altLang="zh-CN" sz="1600" b="1" i="0" dirty="0">
                <a:latin typeface="微软雅黑" pitchFamily="34" charset="-122"/>
                <a:ea typeface="微软雅黑" pitchFamily="34" charset="-122"/>
              </a:rPr>
              <a:t>9</a:t>
            </a:r>
            <a:r>
              <a:rPr kumimoji="0" lang="zh-CN" altLang="en-US" sz="1600" b="1" i="0" dirty="0">
                <a:latin typeface="微软雅黑" pitchFamily="34" charset="-122"/>
                <a:ea typeface="微软雅黑" pitchFamily="34" charset="-122"/>
              </a:rPr>
              <a:t>：用两片模</a:t>
            </a:r>
            <a:r>
              <a:rPr kumimoji="0" lang="en-US" altLang="zh-CN" sz="1600" b="1" i="0" dirty="0">
                <a:latin typeface="微软雅黑" pitchFamily="34" charset="-122"/>
                <a:ea typeface="微软雅黑" pitchFamily="34" charset="-122"/>
              </a:rPr>
              <a:t>16</a:t>
            </a:r>
            <a:r>
              <a:rPr kumimoji="0" lang="zh-CN" altLang="en-US" sz="1600" b="1" i="0" dirty="0">
                <a:latin typeface="微软雅黑" pitchFamily="34" charset="-122"/>
                <a:ea typeface="微软雅黑" pitchFamily="34" charset="-122"/>
              </a:rPr>
              <a:t>计数器</a:t>
            </a:r>
            <a:r>
              <a:rPr kumimoji="0" lang="en-US" altLang="zh-CN" sz="1600" b="1" i="0" dirty="0">
                <a:latin typeface="微软雅黑" pitchFamily="34" charset="-122"/>
                <a:ea typeface="微软雅黑" pitchFamily="34" charset="-122"/>
              </a:rPr>
              <a:t>74LS161</a:t>
            </a:r>
            <a:r>
              <a:rPr kumimoji="0" lang="zh-CN" altLang="en-US" sz="1600" b="1" i="0" dirty="0">
                <a:latin typeface="微软雅黑" pitchFamily="34" charset="-122"/>
                <a:ea typeface="微软雅黑" pitchFamily="34" charset="-122"/>
              </a:rPr>
              <a:t>构成模</a:t>
            </a:r>
            <a:r>
              <a:rPr kumimoji="0" lang="en-US" altLang="zh-CN" sz="1600" b="1" i="0" dirty="0">
                <a:latin typeface="微软雅黑" pitchFamily="34" charset="-122"/>
                <a:ea typeface="微软雅黑" pitchFamily="34" charset="-122"/>
              </a:rPr>
              <a:t>60</a:t>
            </a:r>
            <a:r>
              <a:rPr kumimoji="0" lang="zh-CN" altLang="en-US" sz="1600" b="1" i="0" dirty="0">
                <a:latin typeface="微软雅黑" pitchFamily="34" charset="-122"/>
                <a:ea typeface="微软雅黑" pitchFamily="34" charset="-122"/>
              </a:rPr>
              <a:t>的计数器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。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 74LS161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是同步预置、异步清零。</a:t>
            </a:r>
            <a:endParaRPr kumimoji="0" lang="zh-CN" altLang="en-US" sz="1600" b="1" i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5" name="Text Box 2"/>
          <p:cNvSpPr txBox="1">
            <a:spLocks noChangeArrowheads="1"/>
          </p:cNvSpPr>
          <p:nvPr/>
        </p:nvSpPr>
        <p:spPr bwMode="auto">
          <a:xfrm>
            <a:off x="2286000" y="4171950"/>
            <a:ext cx="3429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图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38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    </a:t>
            </a:r>
            <a:r>
              <a:rPr kumimoji="0" lang="en-US" altLang="zh-CN" sz="1600" b="1" i="0" dirty="0">
                <a:latin typeface="微软雅黑" pitchFamily="34" charset="-122"/>
                <a:ea typeface="微软雅黑" pitchFamily="34" charset="-122"/>
              </a:rPr>
              <a:t>74LS161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计数器</a:t>
            </a:r>
            <a:endParaRPr kumimoji="0" lang="zh-CN" altLang="en-US" sz="1600" b="1" i="0" dirty="0"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53" name="对象 52"/>
          <p:cNvGraphicFramePr>
            <a:graphicFrameLocks noChangeAspect="1"/>
          </p:cNvGraphicFramePr>
          <p:nvPr/>
        </p:nvGraphicFramePr>
        <p:xfrm>
          <a:off x="1524000" y="1504950"/>
          <a:ext cx="5249870" cy="236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7075" name="Visio" r:id="rId2" imgW="3362849" imgH="1356656" progId="Visio.Drawing.11">
                  <p:embed/>
                </p:oleObj>
              </mc:Choice>
              <mc:Fallback>
                <p:oleObj name="Visio" r:id="rId2" imgW="3362849" imgH="1356656" progId="Visio.Drawing.11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504950"/>
                        <a:ext cx="5249870" cy="2362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" name="矩形 53"/>
          <p:cNvSpPr/>
          <p:nvPr/>
        </p:nvSpPr>
        <p:spPr>
          <a:xfrm>
            <a:off x="0" y="0"/>
            <a:ext cx="421782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27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：构建任意模值计数器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558668" y="2419350"/>
            <a:ext cx="8382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1#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876800" y="2419350"/>
            <a:ext cx="8382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2#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27049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2" name="AutoShape 4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4933" name="AutoShape 5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2" name="Rectangle 14"/>
          <p:cNvSpPr>
            <a:spLocks noChangeArrowheads="1"/>
          </p:cNvSpPr>
          <p:nvPr/>
        </p:nvSpPr>
        <p:spPr bwMode="auto">
          <a:xfrm>
            <a:off x="152400" y="590550"/>
            <a:ext cx="8001000" cy="3662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构建任意模值的计数器：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N&lt;M   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多片芯片级联</a:t>
            </a:r>
            <a:endParaRPr lang="en-US" altLang="zh-CN" sz="1600" dirty="0">
              <a:latin typeface="微软雅黑" pitchFamily="34" charset="-122"/>
              <a:ea typeface="微软雅黑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1" name="Text Box 2"/>
          <p:cNvSpPr txBox="1">
            <a:spLocks noChangeArrowheads="1"/>
          </p:cNvSpPr>
          <p:nvPr/>
        </p:nvSpPr>
        <p:spPr bwMode="auto">
          <a:xfrm>
            <a:off x="381000" y="971550"/>
            <a:ext cx="7696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0" lang="zh-CN" altLang="en-US" sz="1600" b="1" i="0" dirty="0">
                <a:latin typeface="微软雅黑" pitchFamily="34" charset="-122"/>
                <a:ea typeface="微软雅黑" pitchFamily="34" charset="-122"/>
              </a:rPr>
              <a:t>例</a:t>
            </a:r>
            <a:r>
              <a:rPr kumimoji="0" lang="en-US" altLang="zh-CN" sz="1600" b="1" i="0" dirty="0">
                <a:latin typeface="微软雅黑" pitchFamily="34" charset="-122"/>
                <a:ea typeface="微软雅黑" pitchFamily="34" charset="-122"/>
              </a:rPr>
              <a:t>9</a:t>
            </a:r>
            <a:r>
              <a:rPr kumimoji="0" lang="zh-CN" altLang="en-US" sz="1600" b="1" i="0" dirty="0">
                <a:latin typeface="微软雅黑" pitchFamily="34" charset="-122"/>
                <a:ea typeface="微软雅黑" pitchFamily="34" charset="-122"/>
              </a:rPr>
              <a:t>：用模</a:t>
            </a:r>
            <a:r>
              <a:rPr kumimoji="0" lang="en-US" altLang="zh-CN" sz="1600" b="1" i="0" dirty="0">
                <a:latin typeface="微软雅黑" pitchFamily="34" charset="-122"/>
                <a:ea typeface="微软雅黑" pitchFamily="34" charset="-122"/>
              </a:rPr>
              <a:t>16</a:t>
            </a:r>
            <a:r>
              <a:rPr kumimoji="0" lang="zh-CN" altLang="en-US" sz="1600" b="1" i="0" dirty="0">
                <a:latin typeface="微软雅黑" pitchFamily="34" charset="-122"/>
                <a:ea typeface="微软雅黑" pitchFamily="34" charset="-122"/>
              </a:rPr>
              <a:t>计数器</a:t>
            </a:r>
            <a:r>
              <a:rPr kumimoji="0" lang="en-US" altLang="zh-CN" sz="1600" b="1" i="0" dirty="0">
                <a:latin typeface="微软雅黑" pitchFamily="34" charset="-122"/>
                <a:ea typeface="微软雅黑" pitchFamily="34" charset="-122"/>
              </a:rPr>
              <a:t>74LS161</a:t>
            </a:r>
            <a:r>
              <a:rPr kumimoji="0" lang="zh-CN" altLang="en-US" sz="1600" b="1" i="0" dirty="0">
                <a:latin typeface="微软雅黑" pitchFamily="34" charset="-122"/>
                <a:ea typeface="微软雅黑" pitchFamily="34" charset="-122"/>
              </a:rPr>
              <a:t>构成模</a:t>
            </a:r>
            <a:r>
              <a:rPr kumimoji="0" lang="en-US" altLang="zh-CN" sz="1600" b="1" i="0" dirty="0">
                <a:latin typeface="微软雅黑" pitchFamily="34" charset="-122"/>
                <a:ea typeface="微软雅黑" pitchFamily="34" charset="-122"/>
              </a:rPr>
              <a:t>60</a:t>
            </a:r>
            <a:r>
              <a:rPr kumimoji="0" lang="zh-CN" altLang="en-US" sz="1600" b="1" i="0" dirty="0">
                <a:latin typeface="微软雅黑" pitchFamily="34" charset="-122"/>
                <a:ea typeface="微软雅黑" pitchFamily="34" charset="-122"/>
              </a:rPr>
              <a:t>的计数器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。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 74LS161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是同步预置、异步清零。</a:t>
            </a:r>
            <a:endParaRPr kumimoji="0" lang="zh-CN" altLang="en-US" sz="1600" b="1" i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5" name="Text Box 2"/>
          <p:cNvSpPr txBox="1">
            <a:spLocks noChangeArrowheads="1"/>
          </p:cNvSpPr>
          <p:nvPr/>
        </p:nvSpPr>
        <p:spPr bwMode="auto">
          <a:xfrm>
            <a:off x="1676400" y="3790950"/>
            <a:ext cx="2362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图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39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    整体置数法</a:t>
            </a:r>
            <a:endParaRPr kumimoji="0" lang="zh-CN" altLang="en-US" sz="1600" b="1" i="0" dirty="0"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53" name="对象 52"/>
          <p:cNvGraphicFramePr>
            <a:graphicFrameLocks noChangeAspect="1"/>
          </p:cNvGraphicFramePr>
          <p:nvPr/>
        </p:nvGraphicFramePr>
        <p:xfrm>
          <a:off x="76200" y="1504950"/>
          <a:ext cx="5249870" cy="236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8098" name="Visio" r:id="rId2" imgW="3362849" imgH="1356656" progId="Visio.Drawing.11">
                  <p:embed/>
                </p:oleObj>
              </mc:Choice>
              <mc:Fallback>
                <p:oleObj name="Visio" r:id="rId2" imgW="3362849" imgH="1356656" progId="Visio.Drawing.11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1504950"/>
                        <a:ext cx="5249870" cy="2362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0" y="1657350"/>
            <a:ext cx="3581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微软雅黑" pitchFamily="34" charset="-122"/>
                <a:ea typeface="微软雅黑" pitchFamily="34" charset="-122"/>
              </a:rPr>
              <a:t>74LS161</a:t>
            </a:r>
            <a:r>
              <a:rPr lang="zh-CN" altLang="en-US" sz="1400" b="1" dirty="0">
                <a:latin typeface="微软雅黑" pitchFamily="34" charset="-122"/>
                <a:ea typeface="微软雅黑" pitchFamily="34" charset="-122"/>
              </a:rPr>
              <a:t>计数器级联后的模值</a:t>
            </a:r>
            <a:r>
              <a:rPr lang="en-US" altLang="zh-CN" sz="1400" b="1" dirty="0">
                <a:latin typeface="微软雅黑" pitchFamily="34" charset="-122"/>
                <a:ea typeface="微软雅黑" pitchFamily="34" charset="-122"/>
              </a:rPr>
              <a:t>:</a:t>
            </a:r>
            <a:r>
              <a:rPr lang="zh-CN" altLang="en-US" sz="1400" b="1" dirty="0">
                <a:latin typeface="微软雅黑" pitchFamily="34" charset="-122"/>
                <a:ea typeface="微软雅黑" pitchFamily="34" charset="-122"/>
                <a:sym typeface="Wingdings" pitchFamily="2" charset="2"/>
              </a:rPr>
              <a:t>  </a:t>
            </a:r>
            <a:r>
              <a:rPr lang="en-US" altLang="zh-CN" sz="1400" b="1" dirty="0">
                <a:latin typeface="微软雅黑" pitchFamily="34" charset="-122"/>
                <a:ea typeface="微软雅黑" pitchFamily="34" charset="-122"/>
                <a:sym typeface="Wingdings" pitchFamily="2" charset="2"/>
              </a:rPr>
              <a:t>(100)</a:t>
            </a:r>
            <a:r>
              <a:rPr lang="en-US" altLang="zh-CN" sz="1400" b="1" baseline="-25000" dirty="0">
                <a:latin typeface="微软雅黑" pitchFamily="34" charset="-122"/>
                <a:ea typeface="微软雅黑" pitchFamily="34" charset="-122"/>
                <a:sym typeface="Wingdings" pitchFamily="2" charset="2"/>
              </a:rPr>
              <a:t>16</a:t>
            </a:r>
            <a:endParaRPr lang="zh-CN" altLang="en-US" sz="1400" b="1" baseline="-25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0" y="2343150"/>
            <a:ext cx="3581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微软雅黑" pitchFamily="34" charset="-122"/>
                <a:ea typeface="微软雅黑" pitchFamily="34" charset="-122"/>
              </a:rPr>
              <a:t>预置值</a:t>
            </a:r>
            <a:r>
              <a:rPr lang="en-US" altLang="zh-CN" sz="1400" b="1" dirty="0">
                <a:latin typeface="微软雅黑" pitchFamily="34" charset="-122"/>
                <a:ea typeface="微软雅黑" pitchFamily="34" charset="-122"/>
              </a:rPr>
              <a:t>:</a:t>
            </a:r>
            <a:r>
              <a:rPr lang="zh-CN" altLang="en-US" sz="1400" b="1" dirty="0">
                <a:latin typeface="微软雅黑" pitchFamily="34" charset="-122"/>
                <a:ea typeface="微软雅黑" pitchFamily="34" charset="-122"/>
                <a:sym typeface="Wingdings" pitchFamily="2" charset="2"/>
              </a:rPr>
              <a:t>  </a:t>
            </a:r>
            <a:r>
              <a:rPr lang="en-US" altLang="zh-CN" sz="1400" b="1" dirty="0">
                <a:latin typeface="微软雅黑" pitchFamily="34" charset="-122"/>
                <a:ea typeface="微软雅黑" pitchFamily="34" charset="-122"/>
                <a:sym typeface="Wingdings" pitchFamily="2" charset="2"/>
              </a:rPr>
              <a:t>(C4)</a:t>
            </a:r>
            <a:r>
              <a:rPr lang="en-US" altLang="zh-CN" sz="1400" b="1" baseline="-25000" dirty="0">
                <a:latin typeface="微软雅黑" pitchFamily="34" charset="-122"/>
                <a:ea typeface="微软雅黑" pitchFamily="34" charset="-122"/>
                <a:sym typeface="Wingdings" pitchFamily="2" charset="2"/>
              </a:rPr>
              <a:t>16</a:t>
            </a:r>
            <a:endParaRPr lang="zh-CN" altLang="en-US" sz="1400" b="1" baseline="-25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562600" y="3105150"/>
            <a:ext cx="1600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微软雅黑" pitchFamily="34" charset="-122"/>
                <a:ea typeface="微软雅黑" pitchFamily="34" charset="-122"/>
              </a:rPr>
              <a:t>计数器级的模值</a:t>
            </a:r>
            <a:r>
              <a:rPr lang="en-US" altLang="zh-CN" sz="1400" b="1" dirty="0">
                <a:latin typeface="微软雅黑" pitchFamily="34" charset="-122"/>
                <a:ea typeface="微软雅黑" pitchFamily="34" charset="-122"/>
              </a:rPr>
              <a:t>:</a:t>
            </a:r>
            <a:endParaRPr lang="zh-CN" altLang="en-US" sz="1400" b="1" baseline="-25000" dirty="0"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388099" name="Object 3"/>
          <p:cNvGraphicFramePr>
            <a:graphicFrameLocks noChangeAspect="1"/>
          </p:cNvGraphicFramePr>
          <p:nvPr/>
        </p:nvGraphicFramePr>
        <p:xfrm>
          <a:off x="5791200" y="3486150"/>
          <a:ext cx="2590800" cy="2571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8099" name="Equation" r:id="rId4" imgW="3327120" imgH="330120" progId="Equation.DSMT4">
                  <p:embed/>
                </p:oleObj>
              </mc:Choice>
              <mc:Fallback>
                <p:oleObj name="Equation" r:id="rId4" imgW="3327120" imgH="33012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3486150"/>
                        <a:ext cx="2590800" cy="2571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5867400" y="4019550"/>
            <a:ext cx="17526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0" lang="zh-CN" altLang="en-US" sz="2000" b="1" i="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整体置数</a:t>
            </a:r>
          </a:p>
        </p:txBody>
      </p:sp>
      <p:sp>
        <p:nvSpPr>
          <p:cNvPr id="14" name="矩形 13"/>
          <p:cNvSpPr/>
          <p:nvPr/>
        </p:nvSpPr>
        <p:spPr>
          <a:xfrm>
            <a:off x="0" y="0"/>
            <a:ext cx="421782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27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：构建任意模值计数器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306417" y="2354167"/>
            <a:ext cx="8382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1#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624549" y="2354167"/>
            <a:ext cx="8382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2#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2704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880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880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2" grpId="0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2" name="AutoShape 4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4933" name="AutoShape 5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2" name="Rectangle 14"/>
          <p:cNvSpPr>
            <a:spLocks noChangeArrowheads="1"/>
          </p:cNvSpPr>
          <p:nvPr/>
        </p:nvSpPr>
        <p:spPr bwMode="auto">
          <a:xfrm>
            <a:off x="152400" y="590550"/>
            <a:ext cx="8001000" cy="3662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构建任意模值的计数器：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N&lt;M   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多片芯片级联</a:t>
            </a:r>
            <a:endParaRPr lang="en-US" altLang="zh-CN" sz="1600" dirty="0">
              <a:latin typeface="微软雅黑" pitchFamily="34" charset="-122"/>
              <a:ea typeface="微软雅黑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1" name="Text Box 2"/>
          <p:cNvSpPr txBox="1">
            <a:spLocks noChangeArrowheads="1"/>
          </p:cNvSpPr>
          <p:nvPr/>
        </p:nvSpPr>
        <p:spPr bwMode="auto">
          <a:xfrm>
            <a:off x="381000" y="1013996"/>
            <a:ext cx="7696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0" lang="zh-CN" altLang="en-US" sz="1600" b="1" i="0" dirty="0">
                <a:latin typeface="微软雅黑" pitchFamily="34" charset="-122"/>
                <a:ea typeface="微软雅黑" pitchFamily="34" charset="-122"/>
              </a:rPr>
              <a:t>例</a:t>
            </a:r>
            <a:r>
              <a:rPr kumimoji="0" lang="en-US" altLang="zh-CN" sz="1600" b="1" i="0" dirty="0">
                <a:latin typeface="微软雅黑" pitchFamily="34" charset="-122"/>
                <a:ea typeface="微软雅黑" pitchFamily="34" charset="-122"/>
              </a:rPr>
              <a:t>9</a:t>
            </a:r>
            <a:r>
              <a:rPr kumimoji="0" lang="zh-CN" altLang="en-US" sz="1600" b="1" i="0" dirty="0">
                <a:latin typeface="微软雅黑" pitchFamily="34" charset="-122"/>
                <a:ea typeface="微软雅黑" pitchFamily="34" charset="-122"/>
              </a:rPr>
              <a:t>：用模</a:t>
            </a:r>
            <a:r>
              <a:rPr kumimoji="0" lang="en-US" altLang="zh-CN" sz="1600" b="1" i="0" dirty="0">
                <a:latin typeface="微软雅黑" pitchFamily="34" charset="-122"/>
                <a:ea typeface="微软雅黑" pitchFamily="34" charset="-122"/>
              </a:rPr>
              <a:t>16</a:t>
            </a:r>
            <a:r>
              <a:rPr kumimoji="0" lang="zh-CN" altLang="en-US" sz="1600" b="1" i="0" dirty="0">
                <a:latin typeface="微软雅黑" pitchFamily="34" charset="-122"/>
                <a:ea typeface="微软雅黑" pitchFamily="34" charset="-122"/>
              </a:rPr>
              <a:t>计数器</a:t>
            </a:r>
            <a:r>
              <a:rPr kumimoji="0" lang="en-US" altLang="zh-CN" sz="1600" b="1" i="0" dirty="0">
                <a:latin typeface="微软雅黑" pitchFamily="34" charset="-122"/>
                <a:ea typeface="微软雅黑" pitchFamily="34" charset="-122"/>
              </a:rPr>
              <a:t>74LS161</a:t>
            </a:r>
            <a:r>
              <a:rPr kumimoji="0" lang="zh-CN" altLang="en-US" sz="1600" b="1" i="0" dirty="0">
                <a:latin typeface="微软雅黑" pitchFamily="34" charset="-122"/>
                <a:ea typeface="微软雅黑" pitchFamily="34" charset="-122"/>
              </a:rPr>
              <a:t>构成模</a:t>
            </a:r>
            <a:r>
              <a:rPr kumimoji="0" lang="en-US" altLang="zh-CN" sz="1600" b="1" i="0" dirty="0">
                <a:latin typeface="微软雅黑" pitchFamily="34" charset="-122"/>
                <a:ea typeface="微软雅黑" pitchFamily="34" charset="-122"/>
              </a:rPr>
              <a:t>60</a:t>
            </a:r>
            <a:r>
              <a:rPr kumimoji="0" lang="zh-CN" altLang="en-US" sz="1600" b="1" i="0" dirty="0">
                <a:latin typeface="微软雅黑" pitchFamily="34" charset="-122"/>
                <a:ea typeface="微软雅黑" pitchFamily="34" charset="-122"/>
              </a:rPr>
              <a:t>的计数器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。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 74LS161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是同步预置、异步清零。</a:t>
            </a:r>
            <a:endParaRPr kumimoji="0" lang="zh-CN" altLang="en-US" sz="1600" b="1" i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5" name="Text Box 2"/>
          <p:cNvSpPr txBox="1">
            <a:spLocks noChangeArrowheads="1"/>
          </p:cNvSpPr>
          <p:nvPr/>
        </p:nvSpPr>
        <p:spPr bwMode="auto">
          <a:xfrm>
            <a:off x="2895600" y="4095750"/>
            <a:ext cx="2362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图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40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    大模分解方式</a:t>
            </a:r>
            <a:endParaRPr kumimoji="0" lang="zh-CN" altLang="en-US" sz="1600" b="1" i="0" dirty="0"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53" name="对象 52"/>
          <p:cNvGraphicFramePr>
            <a:graphicFrameLocks noChangeAspect="1"/>
          </p:cNvGraphicFramePr>
          <p:nvPr/>
        </p:nvGraphicFramePr>
        <p:xfrm>
          <a:off x="381000" y="1428750"/>
          <a:ext cx="6434137" cy="2663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122" name="Visio" r:id="rId2" imgW="3538250" imgH="1356656" progId="Visio.Drawing.11">
                  <p:embed/>
                </p:oleObj>
              </mc:Choice>
              <mc:Fallback>
                <p:oleObj name="Visio" r:id="rId2" imgW="3538250" imgH="1356656" progId="Visio.Drawing.11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428750"/>
                        <a:ext cx="6434137" cy="2663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219200" y="1501973"/>
            <a:ext cx="228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模值：</a:t>
            </a:r>
            <a:r>
              <a:rPr lang="en-US" altLang="zh-CN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16-10=6</a:t>
            </a:r>
            <a:endParaRPr lang="zh-CN" altLang="en-US" sz="1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343400" y="1501973"/>
            <a:ext cx="228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模值：</a:t>
            </a:r>
            <a:r>
              <a:rPr lang="en-US" altLang="zh-CN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16-6=10</a:t>
            </a:r>
            <a:endParaRPr lang="zh-CN" altLang="en-US" sz="1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TextBox 11"/>
          <p:cNvSpPr txBox="1"/>
          <p:nvPr/>
        </p:nvSpPr>
        <p:spPr>
          <a:xfrm>
            <a:off x="7086600" y="2114550"/>
            <a:ext cx="1600200" cy="451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r>
              <a:rPr lang="zh-CN" altLang="en-US" sz="1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计数器级的模值</a:t>
            </a:r>
            <a:r>
              <a:rPr lang="en-US" altLang="zh-CN" sz="1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:</a:t>
            </a:r>
          </a:p>
          <a:p>
            <a:endParaRPr lang="zh-CN" altLang="en-US" sz="1400" b="1" baseline="-250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TextBox 11"/>
          <p:cNvSpPr txBox="1"/>
          <p:nvPr/>
        </p:nvSpPr>
        <p:spPr>
          <a:xfrm>
            <a:off x="7391400" y="2495550"/>
            <a:ext cx="1143000" cy="451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r>
              <a:rPr lang="en-US" altLang="zh-CN" sz="1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10×6=60</a:t>
            </a:r>
          </a:p>
          <a:p>
            <a:endParaRPr lang="zh-CN" altLang="en-US" sz="1400" b="1" baseline="-250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" name="TextBox 11"/>
          <p:cNvSpPr txBox="1"/>
          <p:nvPr/>
        </p:nvSpPr>
        <p:spPr>
          <a:xfrm>
            <a:off x="7315200" y="3181350"/>
            <a:ext cx="1143000" cy="512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大模分解</a:t>
            </a:r>
            <a:endParaRPr lang="en-US" altLang="zh-CN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endParaRPr lang="zh-CN" altLang="en-US" sz="1400" b="1" baseline="-250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0" y="0"/>
            <a:ext cx="421782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27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：构建任意模值计数器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524000" y="2571750"/>
            <a:ext cx="8382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1#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724400" y="2571750"/>
            <a:ext cx="8382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2#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2704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6" grpId="0"/>
      <p:bldP spid="1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890" name="Picture 2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457200" y="1885951"/>
            <a:ext cx="6477000" cy="2500778"/>
          </a:xfrm>
          <a:noFill/>
        </p:spPr>
      </p:pic>
      <p:sp>
        <p:nvSpPr>
          <p:cNvPr id="165891" name="Rectangle 3"/>
          <p:cNvSpPr>
            <a:spLocks noChangeArrowheads="1"/>
          </p:cNvSpPr>
          <p:nvPr/>
        </p:nvSpPr>
        <p:spPr bwMode="auto">
          <a:xfrm>
            <a:off x="152401" y="666750"/>
            <a:ext cx="74676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indent="133350" eaLnBrk="1" hangingPunct="1">
              <a:tabLst>
                <a:tab pos="266700" algn="l"/>
              </a:tabLst>
            </a:pPr>
            <a:r>
              <a:rPr lang="zh-CN" altLang="en-US" b="1" i="0" dirty="0">
                <a:solidFill>
                  <a:schemeClr val="accent6"/>
                </a:solidFill>
              </a:rPr>
              <a:t>练习题</a:t>
            </a:r>
            <a:r>
              <a:rPr lang="en-US" altLang="zh-CN" b="1" i="0" dirty="0">
                <a:solidFill>
                  <a:schemeClr val="accent6"/>
                </a:solidFill>
              </a:rPr>
              <a:t>1</a:t>
            </a:r>
            <a:r>
              <a:rPr lang="zh-CN" altLang="en-US" b="1" i="0" dirty="0">
                <a:solidFill>
                  <a:schemeClr val="accent6"/>
                </a:solidFill>
              </a:rPr>
              <a:t>：</a:t>
            </a:r>
            <a:r>
              <a:rPr lang="zh-CN" altLang="en-US" b="1" i="0" dirty="0"/>
              <a:t>由两片</a:t>
            </a:r>
            <a:r>
              <a:rPr lang="en-US" altLang="zh-CN" b="1" i="0" dirty="0"/>
              <a:t>74LS163</a:t>
            </a:r>
            <a:r>
              <a:rPr lang="zh-CN" altLang="en-US" b="1" i="0" dirty="0"/>
              <a:t>（同步模</a:t>
            </a:r>
            <a:r>
              <a:rPr lang="en-US" altLang="zh-CN" b="1" i="0" dirty="0"/>
              <a:t>16</a:t>
            </a:r>
            <a:r>
              <a:rPr lang="zh-CN" altLang="en-US" b="1" i="0" dirty="0"/>
              <a:t>加法计数器，同步复位，同步预 置）级联组成的计数器，分析：</a:t>
            </a:r>
            <a:endParaRPr lang="zh-CN" altLang="en-US" i="0" dirty="0"/>
          </a:p>
          <a:p>
            <a:pPr indent="133350" algn="ctr" eaLnBrk="1" hangingPunct="1">
              <a:tabLst>
                <a:tab pos="266700" algn="l"/>
              </a:tabLst>
            </a:pPr>
            <a:r>
              <a:rPr lang="zh-CN" altLang="en-US" b="1" i="0" dirty="0"/>
              <a:t>  ⑴ 两个芯片的计数模值各为多少？各采用了哪种变模方式？</a:t>
            </a:r>
            <a:endParaRPr lang="zh-CN" altLang="en-US" i="0" dirty="0"/>
          </a:p>
          <a:p>
            <a:pPr indent="133350" algn="ctr" eaLnBrk="1" hangingPunct="1">
              <a:tabLst>
                <a:tab pos="266700" algn="l"/>
              </a:tabLst>
            </a:pPr>
            <a:r>
              <a:rPr lang="zh-CN" altLang="en-US" b="1" i="0" dirty="0"/>
              <a:t>⑵ 整个计数器的模是多少？该电路采用了哪种级联方式？</a:t>
            </a:r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421782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27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：构建任意模值计数器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828800" y="3409950"/>
            <a:ext cx="8382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1#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10200" y="3409950"/>
            <a:ext cx="8382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2#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3124200" y="4552950"/>
            <a:ext cx="2362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图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41  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练习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1</a:t>
            </a:r>
            <a:endParaRPr kumimoji="0" lang="zh-CN" altLang="en-US" sz="1600" b="1" i="0" dirty="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自定义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2D2D8A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9225</TotalTime>
  <Words>480</Words>
  <Application>Microsoft Office PowerPoint</Application>
  <PresentationFormat>全屏显示(16:9)</PresentationFormat>
  <Paragraphs>121</Paragraphs>
  <Slides>8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宋体</vt:lpstr>
      <vt:lpstr>微软雅黑</vt:lpstr>
      <vt:lpstr>Arial</vt:lpstr>
      <vt:lpstr>Calibri</vt:lpstr>
      <vt:lpstr>Century</vt:lpstr>
      <vt:lpstr>Wingdings</vt:lpstr>
      <vt:lpstr>默认设计模板</vt:lpstr>
      <vt:lpstr>Visio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zhaole</dc:creator>
  <cp:lastModifiedBy>DELL</cp:lastModifiedBy>
  <cp:revision>982</cp:revision>
  <cp:lastPrinted>2113-01-01T00:00:00Z</cp:lastPrinted>
  <dcterms:created xsi:type="dcterms:W3CDTF">2113-01-01T00:00:00Z</dcterms:created>
  <dcterms:modified xsi:type="dcterms:W3CDTF">2021-07-20T02:18:57Z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KSOProductBuildVer">
    <vt:lpwstr>2052-11.1.0.8696</vt:lpwstr>
  </property>
</Properties>
</file>