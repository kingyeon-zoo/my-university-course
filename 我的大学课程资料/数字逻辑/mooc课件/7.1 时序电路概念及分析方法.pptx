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09" r:id="rId2"/>
    <p:sldId id="491" r:id="rId3"/>
    <p:sldId id="439" r:id="rId4"/>
    <p:sldId id="458" r:id="rId5"/>
    <p:sldId id="459" r:id="rId6"/>
    <p:sldId id="460" r:id="rId7"/>
    <p:sldId id="462" r:id="rId8"/>
    <p:sldId id="466" r:id="rId9"/>
    <p:sldId id="464" r:id="rId10"/>
    <p:sldId id="465" r:id="rId11"/>
    <p:sldId id="467" r:id="rId1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48513-AA6D-4F8A-B41C-3BE1F5014A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2.bin"/><Relationship Id="rId26" Type="http://schemas.openxmlformats.org/officeDocument/2006/relationships/oleObject" Target="../embeddings/oleObject17.bin"/><Relationship Id="rId3" Type="http://schemas.openxmlformats.org/officeDocument/2006/relationships/image" Target="../media/image7.wmf"/><Relationship Id="rId21" Type="http://schemas.openxmlformats.org/officeDocument/2006/relationships/image" Target="../media/image16.emf"/><Relationship Id="rId34" Type="http://schemas.openxmlformats.org/officeDocument/2006/relationships/oleObject" Target="../embeddings/oleObject22.bin"/><Relationship Id="rId7" Type="http://schemas.openxmlformats.org/officeDocument/2006/relationships/image" Target="../media/image9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4.emf"/><Relationship Id="rId25" Type="http://schemas.openxmlformats.org/officeDocument/2006/relationships/oleObject" Target="../embeddings/oleObject16.bin"/><Relationship Id="rId33" Type="http://schemas.openxmlformats.org/officeDocument/2006/relationships/oleObject" Target="../embeddings/oleObject21.bin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29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15.bin"/><Relationship Id="rId32" Type="http://schemas.openxmlformats.org/officeDocument/2006/relationships/image" Target="../media/image20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23" Type="http://schemas.openxmlformats.org/officeDocument/2006/relationships/image" Target="../media/image17.emf"/><Relationship Id="rId28" Type="http://schemas.openxmlformats.org/officeDocument/2006/relationships/oleObject" Target="../embeddings/oleObject18.bin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5.emf"/><Relationship Id="rId31" Type="http://schemas.openxmlformats.org/officeDocument/2006/relationships/oleObject" Target="../embeddings/oleObject20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18.wmf"/><Relationship Id="rId30" Type="http://schemas.openxmlformats.org/officeDocument/2006/relationships/image" Target="../media/image19.wmf"/><Relationship Id="rId8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时序电路分析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2495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4" name="矩形 43"/>
          <p:cNvSpPr/>
          <p:nvPr/>
        </p:nvSpPr>
        <p:spPr>
          <a:xfrm>
            <a:off x="381000" y="742950"/>
            <a:ext cx="1210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组合电路：</a:t>
            </a:r>
            <a:endParaRPr lang="zh-CN" altLang="en-US" sz="1400" dirty="0"/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76200" y="1123950"/>
          <a:ext cx="405987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2" name="Visio" r:id="rId3" imgW="2627782" imgH="710900" progId="Visio.Drawing.11">
                  <p:embed/>
                </p:oleObj>
              </mc:Choice>
              <mc:Fallback>
                <p:oleObj name="Visio" r:id="rId3" imgW="2627782" imgH="710900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23950"/>
                        <a:ext cx="405987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2362200" y="2952750"/>
            <a:ext cx="533400" cy="1066800"/>
            <a:chOff x="3216" y="912"/>
            <a:chExt cx="336" cy="672"/>
          </a:xfrm>
        </p:grpSpPr>
        <p:sp>
          <p:nvSpPr>
            <p:cNvPr id="64" name="Line 52"/>
            <p:cNvSpPr>
              <a:spLocks noChangeShapeType="1"/>
            </p:cNvSpPr>
            <p:nvPr/>
          </p:nvSpPr>
          <p:spPr bwMode="auto">
            <a:xfrm flipV="1">
              <a:off x="3216" y="912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" name="Line 53"/>
            <p:cNvSpPr>
              <a:spLocks noChangeShapeType="1"/>
            </p:cNvSpPr>
            <p:nvPr/>
          </p:nvSpPr>
          <p:spPr bwMode="auto">
            <a:xfrm>
              <a:off x="3216" y="91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" name="Line 54"/>
            <p:cNvSpPr>
              <a:spLocks noChangeShapeType="1"/>
            </p:cNvSpPr>
            <p:nvPr/>
          </p:nvSpPr>
          <p:spPr bwMode="auto">
            <a:xfrm flipV="1">
              <a:off x="3216" y="1344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" name="Line 55"/>
            <p:cNvSpPr>
              <a:spLocks noChangeShapeType="1"/>
            </p:cNvSpPr>
            <p:nvPr/>
          </p:nvSpPr>
          <p:spPr bwMode="auto">
            <a:xfrm>
              <a:off x="3216" y="134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2895600" y="2952750"/>
            <a:ext cx="609600" cy="1066800"/>
            <a:chOff x="3552" y="912"/>
            <a:chExt cx="384" cy="672"/>
          </a:xfrm>
        </p:grpSpPr>
        <p:sp>
          <p:nvSpPr>
            <p:cNvPr id="69" name="Line 57"/>
            <p:cNvSpPr>
              <a:spLocks noChangeShapeType="1"/>
            </p:cNvSpPr>
            <p:nvPr/>
          </p:nvSpPr>
          <p:spPr bwMode="auto">
            <a:xfrm>
              <a:off x="3552" y="912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" name="Line 58"/>
            <p:cNvSpPr>
              <a:spLocks noChangeShapeType="1"/>
            </p:cNvSpPr>
            <p:nvPr/>
          </p:nvSpPr>
          <p:spPr bwMode="auto">
            <a:xfrm>
              <a:off x="3552" y="1344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" name="Line 59"/>
            <p:cNvSpPr>
              <a:spLocks noChangeShapeType="1"/>
            </p:cNvSpPr>
            <p:nvPr/>
          </p:nvSpPr>
          <p:spPr bwMode="auto">
            <a:xfrm>
              <a:off x="3552" y="1152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" name="Line 60"/>
            <p:cNvSpPr>
              <a:spLocks noChangeShapeType="1"/>
            </p:cNvSpPr>
            <p:nvPr/>
          </p:nvSpPr>
          <p:spPr bwMode="auto">
            <a:xfrm>
              <a:off x="3552" y="1584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1624013" y="3071813"/>
            <a:ext cx="762000" cy="1177925"/>
            <a:chOff x="2784" y="919"/>
            <a:chExt cx="480" cy="742"/>
          </a:xfrm>
        </p:grpSpPr>
        <p:grpSp>
          <p:nvGrpSpPr>
            <p:cNvPr id="6" name="Group 62"/>
            <p:cNvGrpSpPr>
              <a:grpSpLocks/>
            </p:cNvGrpSpPr>
            <p:nvPr/>
          </p:nvGrpSpPr>
          <p:grpSpPr bwMode="auto">
            <a:xfrm>
              <a:off x="2976" y="1082"/>
              <a:ext cx="288" cy="432"/>
              <a:chOff x="2976" y="1082"/>
              <a:chExt cx="288" cy="432"/>
            </a:xfrm>
          </p:grpSpPr>
          <p:sp>
            <p:nvSpPr>
              <p:cNvPr id="77" name="Line 63"/>
              <p:cNvSpPr>
                <a:spLocks noChangeShapeType="1"/>
              </p:cNvSpPr>
              <p:nvPr/>
            </p:nvSpPr>
            <p:spPr bwMode="auto">
              <a:xfrm>
                <a:off x="2976" y="108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" name="Line 64"/>
              <p:cNvSpPr>
                <a:spLocks noChangeShapeType="1"/>
              </p:cNvSpPr>
              <p:nvPr/>
            </p:nvSpPr>
            <p:spPr bwMode="auto">
              <a:xfrm>
                <a:off x="2976" y="1514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5" name="Text Box 65"/>
            <p:cNvSpPr txBox="1">
              <a:spLocks noChangeArrowheads="1"/>
            </p:cNvSpPr>
            <p:nvPr/>
          </p:nvSpPr>
          <p:spPr bwMode="auto">
            <a:xfrm>
              <a:off x="2784" y="919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X</a:t>
              </a:r>
            </a:p>
          </p:txBody>
        </p:sp>
        <p:sp>
          <p:nvSpPr>
            <p:cNvPr id="76" name="Text Box 66"/>
            <p:cNvSpPr txBox="1">
              <a:spLocks noChangeArrowheads="1"/>
            </p:cNvSpPr>
            <p:nvPr/>
          </p:nvSpPr>
          <p:spPr bwMode="auto">
            <a:xfrm>
              <a:off x="2784" y="1373"/>
              <a:ext cx="1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F</a:t>
              </a:r>
            </a:p>
          </p:txBody>
        </p:sp>
      </p:grpSp>
      <p:sp>
        <p:nvSpPr>
          <p:cNvPr id="79" name="Text Box 67"/>
          <p:cNvSpPr txBox="1">
            <a:spLocks noChangeArrowheads="1"/>
          </p:cNvSpPr>
          <p:nvPr/>
        </p:nvSpPr>
        <p:spPr bwMode="auto">
          <a:xfrm>
            <a:off x="242888" y="3179763"/>
            <a:ext cx="1101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F=X</a:t>
            </a:r>
          </a:p>
        </p:txBody>
      </p:sp>
      <p:sp>
        <p:nvSpPr>
          <p:cNvPr id="80" name="矩形 79"/>
          <p:cNvSpPr/>
          <p:nvPr/>
        </p:nvSpPr>
        <p:spPr>
          <a:xfrm>
            <a:off x="4953000" y="742950"/>
            <a:ext cx="1210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时序电路：</a:t>
            </a:r>
            <a:endParaRPr lang="zh-CN" altLang="en-US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4876800" y="1276350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触发器状态方程：</a:t>
            </a:r>
          </a:p>
        </p:txBody>
      </p:sp>
      <p:graphicFrame>
        <p:nvGraphicFramePr>
          <p:cNvPr id="73" name="Object 10"/>
          <p:cNvGraphicFramePr>
            <a:graphicFrameLocks noChangeAspect="1"/>
          </p:cNvGraphicFramePr>
          <p:nvPr/>
        </p:nvGraphicFramePr>
        <p:xfrm>
          <a:off x="6705600" y="1276350"/>
          <a:ext cx="1320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3" name="Equation" r:id="rId5" imgW="1320480" imgH="317160" progId="Equation.DSMT4">
                  <p:embed/>
                </p:oleObj>
              </mc:Choice>
              <mc:Fallback>
                <p:oleObj name="Equation" r:id="rId5" imgW="1320480" imgH="3171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276350"/>
                        <a:ext cx="1320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85"/>
          <p:cNvSpPr txBox="1">
            <a:spLocks noChangeArrowheads="1"/>
          </p:cNvSpPr>
          <p:nvPr/>
        </p:nvSpPr>
        <p:spPr bwMode="auto">
          <a:xfrm>
            <a:off x="5334000" y="1733550"/>
            <a:ext cx="19812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  JK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触发器功能表</a:t>
            </a:r>
          </a:p>
        </p:txBody>
      </p:sp>
      <p:pic>
        <p:nvPicPr>
          <p:cNvPr id="85" name="Picture 5" descr="C:\Users\hfutliujun\AppData\Roaming\Tencent\Users\350654676\QQ\WinTemp\RichOle\5OK2KX~93AIE%0(M{~1Q777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53000" y="2038350"/>
            <a:ext cx="3337921" cy="2514600"/>
          </a:xfrm>
          <a:prstGeom prst="rect">
            <a:avLst/>
          </a:prstGeom>
          <a:noFill/>
        </p:spPr>
      </p:pic>
      <p:cxnSp>
        <p:nvCxnSpPr>
          <p:cNvPr id="98" name="直接连接符 97"/>
          <p:cNvCxnSpPr/>
          <p:nvPr/>
        </p:nvCxnSpPr>
        <p:spPr>
          <a:xfrm>
            <a:off x="5029200" y="4248150"/>
            <a:ext cx="685800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5029200" y="4552950"/>
            <a:ext cx="685800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椭圆 100"/>
          <p:cNvSpPr/>
          <p:nvPr/>
        </p:nvSpPr>
        <p:spPr>
          <a:xfrm>
            <a:off x="6172200" y="4019550"/>
            <a:ext cx="2286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6172200" y="4324350"/>
            <a:ext cx="2286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9" grpId="0" autoUpdateAnimBg="0"/>
      <p:bldP spid="80" grpId="0"/>
      <p:bldP spid="68" grpId="0"/>
      <p:bldP spid="101" grpId="0" animBg="1"/>
      <p:bldP spid="10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752600" y="3562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457200" y="1428750"/>
            <a:ext cx="3455988" cy="1873250"/>
            <a:chOff x="2354" y="770"/>
            <a:chExt cx="2177" cy="1180"/>
          </a:xfrm>
        </p:grpSpPr>
        <p:sp>
          <p:nvSpPr>
            <p:cNvPr id="11" name="Rectangle 76"/>
            <p:cNvSpPr>
              <a:spLocks noChangeArrowheads="1"/>
            </p:cNvSpPr>
            <p:nvPr/>
          </p:nvSpPr>
          <p:spPr bwMode="auto">
            <a:xfrm>
              <a:off x="2943" y="770"/>
              <a:ext cx="998" cy="4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77"/>
            <p:cNvSpPr>
              <a:spLocks noChangeArrowheads="1"/>
            </p:cNvSpPr>
            <p:nvPr/>
          </p:nvSpPr>
          <p:spPr bwMode="auto">
            <a:xfrm>
              <a:off x="2943" y="1451"/>
              <a:ext cx="998" cy="4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78"/>
            <p:cNvSpPr>
              <a:spLocks noChangeShapeType="1"/>
            </p:cNvSpPr>
            <p:nvPr/>
          </p:nvSpPr>
          <p:spPr bwMode="auto">
            <a:xfrm>
              <a:off x="2354" y="81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9"/>
            <p:cNvSpPr>
              <a:spLocks noChangeShapeType="1"/>
            </p:cNvSpPr>
            <p:nvPr/>
          </p:nvSpPr>
          <p:spPr bwMode="auto">
            <a:xfrm>
              <a:off x="2354" y="997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80"/>
            <p:cNvSpPr>
              <a:spLocks noChangeShapeType="1"/>
            </p:cNvSpPr>
            <p:nvPr/>
          </p:nvSpPr>
          <p:spPr bwMode="auto">
            <a:xfrm>
              <a:off x="3942" y="81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81"/>
            <p:cNvSpPr>
              <a:spLocks noChangeShapeType="1"/>
            </p:cNvSpPr>
            <p:nvPr/>
          </p:nvSpPr>
          <p:spPr bwMode="auto">
            <a:xfrm>
              <a:off x="3942" y="997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2"/>
            <p:cNvSpPr>
              <a:spLocks noChangeShapeType="1"/>
            </p:cNvSpPr>
            <p:nvPr/>
          </p:nvSpPr>
          <p:spPr bwMode="auto">
            <a:xfrm>
              <a:off x="2626" y="1088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83"/>
            <p:cNvSpPr>
              <a:spLocks noChangeShapeType="1"/>
            </p:cNvSpPr>
            <p:nvPr/>
          </p:nvSpPr>
          <p:spPr bwMode="auto">
            <a:xfrm>
              <a:off x="3941" y="1088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84"/>
            <p:cNvSpPr>
              <a:spLocks noChangeShapeType="1"/>
            </p:cNvSpPr>
            <p:nvPr/>
          </p:nvSpPr>
          <p:spPr bwMode="auto">
            <a:xfrm>
              <a:off x="2762" y="122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85"/>
            <p:cNvSpPr>
              <a:spLocks noChangeShapeType="1"/>
            </p:cNvSpPr>
            <p:nvPr/>
          </p:nvSpPr>
          <p:spPr bwMode="auto">
            <a:xfrm>
              <a:off x="3942" y="122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86"/>
            <p:cNvSpPr>
              <a:spLocks noChangeShapeType="1"/>
            </p:cNvSpPr>
            <p:nvPr/>
          </p:nvSpPr>
          <p:spPr bwMode="auto">
            <a:xfrm>
              <a:off x="2762" y="12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87"/>
            <p:cNvSpPr>
              <a:spLocks noChangeShapeType="1"/>
            </p:cNvSpPr>
            <p:nvPr/>
          </p:nvSpPr>
          <p:spPr bwMode="auto">
            <a:xfrm>
              <a:off x="4123" y="12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2762" y="1496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3941" y="1496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2626" y="1088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4259" y="1088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92"/>
            <p:cNvSpPr>
              <a:spLocks noChangeShapeType="1"/>
            </p:cNvSpPr>
            <p:nvPr/>
          </p:nvSpPr>
          <p:spPr bwMode="auto">
            <a:xfrm>
              <a:off x="2626" y="1859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93"/>
            <p:cNvSpPr>
              <a:spLocks noChangeShapeType="1"/>
            </p:cNvSpPr>
            <p:nvPr/>
          </p:nvSpPr>
          <p:spPr bwMode="auto">
            <a:xfrm>
              <a:off x="3941" y="1859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98"/>
            <p:cNvSpPr txBox="1">
              <a:spLocks noChangeArrowheads="1"/>
            </p:cNvSpPr>
            <p:nvPr/>
          </p:nvSpPr>
          <p:spPr bwMode="auto">
            <a:xfrm>
              <a:off x="2989" y="907"/>
              <a:ext cx="90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 dirty="0">
                  <a:latin typeface="微软雅黑" pitchFamily="34" charset="-122"/>
                  <a:ea typeface="微软雅黑" pitchFamily="34" charset="-122"/>
                </a:rPr>
                <a:t>组合逻辑电路</a:t>
              </a:r>
            </a:p>
          </p:txBody>
        </p:sp>
        <p:sp>
          <p:nvSpPr>
            <p:cNvPr id="35" name="Text Box 99"/>
            <p:cNvSpPr txBox="1">
              <a:spLocks noChangeArrowheads="1"/>
            </p:cNvSpPr>
            <p:nvPr/>
          </p:nvSpPr>
          <p:spPr bwMode="auto">
            <a:xfrm>
              <a:off x="3125" y="1587"/>
              <a:ext cx="77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 dirty="0">
                  <a:latin typeface="微软雅黑" pitchFamily="34" charset="-122"/>
                  <a:ea typeface="微软雅黑" pitchFamily="34" charset="-122"/>
                </a:rPr>
                <a:t>存储电路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34416" y="1495645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50718" y="1495645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2674" y="2714845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74518" y="2714845"/>
            <a:ext cx="461665" cy="304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…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2074" y="1256625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X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074" y="1614049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X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n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945384" y="1303777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Z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945384" y="1661201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Z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m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911474" y="2270801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Y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987674" y="3211513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Y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k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62940" y="2220913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Q</a:t>
            </a:r>
            <a:r>
              <a:rPr lang="en-US" altLang="zh-CN" sz="1600" b="1" baseline="-25000" dirty="0">
                <a:solidFill>
                  <a:schemeClr val="accent6"/>
                </a:solidFill>
                <a:latin typeface="+mn-lt"/>
                <a:ea typeface="微软雅黑" pitchFamily="34" charset="-122"/>
              </a:rPr>
              <a:t>1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82674" y="3135313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Q</a:t>
            </a:r>
            <a:r>
              <a:rPr lang="en-US" altLang="zh-CN" sz="1600" b="1" baseline="-25000" dirty="0" err="1">
                <a:solidFill>
                  <a:schemeClr val="accent6"/>
                </a:solidFill>
                <a:latin typeface="+mn-lt"/>
                <a:ea typeface="微软雅黑" pitchFamily="34" charset="-122"/>
              </a:rPr>
              <a:t>k</a:t>
            </a:r>
            <a:endParaRPr lang="zh-CN" altLang="en-US" sz="1600" b="1" baseline="-25000" dirty="0">
              <a:solidFill>
                <a:schemeClr val="accent6"/>
              </a:solidFill>
              <a:latin typeface="+mn-lt"/>
              <a:ea typeface="微软雅黑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495800" y="135255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外部输入信号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95800" y="2724150"/>
            <a:ext cx="4572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触发器的输出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状态变量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，内部输入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 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495800" y="1809750"/>
            <a:ext cx="4572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对外输出信号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495800" y="2266950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触发器的激励信号，内部输出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时序电路的信号：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692235" y="2800350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200" b="1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676400" y="3268884"/>
            <a:ext cx="541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输出方程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Z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400" b="1" baseline="30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) 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…m 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676400" y="3786540"/>
            <a:ext cx="533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(2)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激励方程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400" b="1" baseline="30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)  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…k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53729" y="3878484"/>
            <a:ext cx="5410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(3)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状态方程 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n+1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=h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baseline="30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baseline="-25000" dirty="0" err="1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400" b="1" baseline="300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400" b="1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…k 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时序电路的方程：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31425" name="Picture 1" descr="C:\Users\hfutliujun\AppData\Roaming\Tencent\Users\350654676\QQ\WinTemp\RichOle\10J3N_YA0W[Q6NQJ{5%U%$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4435" y="819150"/>
            <a:ext cx="3810000" cy="20173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时序电路的分类：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381000" y="1123950"/>
            <a:ext cx="8001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根据储存电路中触发器的动作特点不同分为： 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同步时序电路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异步时序电路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时序电路的分类：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228600" y="104775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同步时序电路：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在同步时序电路中，所有触发器状态的变化都是在同一时钟信号操 作下 </a:t>
            </a:r>
            <a:endParaRPr lang="en-US" altLang="zh-CN" sz="16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spcBef>
                <a:spcPct val="50000"/>
              </a:spcBef>
            </a:pPr>
            <a:r>
              <a:rPr lang="en-US" altLang="zh-C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                      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同时发生的。</a:t>
            </a:r>
          </a:p>
          <a:p>
            <a:pPr algn="just">
              <a:spcBef>
                <a:spcPct val="50000"/>
              </a:spcBef>
            </a:pPr>
            <a:endParaRPr lang="zh-CN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600200" y="1809750"/>
          <a:ext cx="4084637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54" name="Visio" r:id="rId2" imgW="3610569" imgH="2622490" progId="Visio.Drawing.11">
                  <p:embed/>
                </p:oleObj>
              </mc:Choice>
              <mc:Fallback>
                <p:oleObj name="Visio" r:id="rId2" imgW="3610569" imgH="2622490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09750"/>
                        <a:ext cx="4084637" cy="281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38671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3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同步时序电路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时序电路的分类：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228600" y="1047750"/>
            <a:ext cx="8001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异步时序电路：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在异步时序电路中，触发器状态的变化不是同时发生的。</a:t>
            </a:r>
          </a:p>
          <a:p>
            <a:pPr algn="just">
              <a:spcBef>
                <a:spcPct val="50000"/>
              </a:spcBef>
            </a:pPr>
            <a:endParaRPr lang="zh-CN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90800" y="38671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异步时序电路</a:t>
            </a:r>
          </a:p>
        </p:txBody>
      </p:sp>
      <p:grpSp>
        <p:nvGrpSpPr>
          <p:cNvPr id="12" name="Group 213"/>
          <p:cNvGrpSpPr>
            <a:grpSpLocks/>
          </p:cNvGrpSpPr>
          <p:nvPr/>
        </p:nvGrpSpPr>
        <p:grpSpPr bwMode="auto">
          <a:xfrm>
            <a:off x="914400" y="1931987"/>
            <a:ext cx="5703887" cy="1400175"/>
            <a:chOff x="943" y="817"/>
            <a:chExt cx="3593" cy="882"/>
          </a:xfrm>
        </p:grpSpPr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3766" y="1085"/>
              <a:ext cx="514" cy="59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4280" y="1515"/>
              <a:ext cx="256" cy="53"/>
              <a:chOff x="250" y="2568"/>
              <a:chExt cx="680" cy="182"/>
            </a:xfrm>
          </p:grpSpPr>
          <p:sp>
            <p:nvSpPr>
              <p:cNvPr id="70" name="Oval 11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3637" y="1192"/>
              <a:ext cx="12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3637" y="1568"/>
              <a:ext cx="1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" name="Object 18"/>
            <p:cNvGraphicFramePr>
              <a:graphicFrameLocks noChangeAspect="1"/>
            </p:cNvGraphicFramePr>
            <p:nvPr/>
          </p:nvGraphicFramePr>
          <p:xfrm>
            <a:off x="3766" y="1462"/>
            <a:ext cx="23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1" name="Equation" r:id="rId2" imgW="5181600" imgH="5486400" progId="Equation.DSMT4">
                    <p:embed/>
                  </p:oleObj>
                </mc:Choice>
                <mc:Fallback>
                  <p:oleObj name="Equation" r:id="rId2" imgW="5181600" imgH="5486400" progId="Equation.DSMT4">
                    <p:embed/>
                    <p:pic>
                      <p:nvPicPr>
                        <p:cNvPr id="0" name="Picture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1462"/>
                          <a:ext cx="234" cy="2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0"/>
            <p:cNvGraphicFramePr>
              <a:graphicFrameLocks noChangeAspect="1"/>
            </p:cNvGraphicFramePr>
            <p:nvPr/>
          </p:nvGraphicFramePr>
          <p:xfrm>
            <a:off x="3781" y="1076"/>
            <a:ext cx="20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2" name="Equation" r:id="rId4" imgW="3962400" imgH="5486400" progId="Equation.DSMT4">
                    <p:embed/>
                  </p:oleObj>
                </mc:Choice>
                <mc:Fallback>
                  <p:oleObj name="Equation" r:id="rId4" imgW="3962400" imgH="5486400" progId="Equation.DSMT4">
                    <p:embed/>
                    <p:pic>
                      <p:nvPicPr>
                        <p:cNvPr id="0" name="Picture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1" y="1076"/>
                          <a:ext cx="204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2795" y="1085"/>
              <a:ext cx="514" cy="59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22"/>
            <p:cNvGrpSpPr>
              <a:grpSpLocks/>
            </p:cNvGrpSpPr>
            <p:nvPr/>
          </p:nvGrpSpPr>
          <p:grpSpPr bwMode="auto">
            <a:xfrm flipH="1">
              <a:off x="2538" y="1354"/>
              <a:ext cx="257" cy="53"/>
              <a:chOff x="250" y="2568"/>
              <a:chExt cx="680" cy="182"/>
            </a:xfrm>
          </p:grpSpPr>
          <p:sp>
            <p:nvSpPr>
              <p:cNvPr id="68" name="Oval 23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24"/>
              <p:cNvSpPr>
                <a:spLocks noChangeShapeType="1"/>
              </p:cNvSpPr>
              <p:nvPr/>
            </p:nvSpPr>
            <p:spPr bwMode="auto">
              <a:xfrm flipH="1"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2667" y="1192"/>
              <a:ext cx="12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2667" y="1568"/>
              <a:ext cx="1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" name="Object 27"/>
            <p:cNvGraphicFramePr>
              <a:graphicFrameLocks noChangeAspect="1"/>
            </p:cNvGraphicFramePr>
            <p:nvPr/>
          </p:nvGraphicFramePr>
          <p:xfrm>
            <a:off x="2820" y="1439"/>
            <a:ext cx="27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3" name="Equation" r:id="rId6" imgW="4876800" imgH="5486400" progId="Equation.DSMT4">
                    <p:embed/>
                  </p:oleObj>
                </mc:Choice>
                <mc:Fallback>
                  <p:oleObj name="Equation" r:id="rId6" imgW="4876800" imgH="5486400" progId="Equation.DSMT4">
                    <p:embed/>
                    <p:pic>
                      <p:nvPicPr>
                        <p:cNvPr id="0" name="Picture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1439"/>
                          <a:ext cx="270" cy="2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9"/>
            <p:cNvGraphicFramePr>
              <a:graphicFrameLocks noChangeAspect="1"/>
            </p:cNvGraphicFramePr>
            <p:nvPr/>
          </p:nvGraphicFramePr>
          <p:xfrm>
            <a:off x="2840" y="1085"/>
            <a:ext cx="17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4" name="Equation" r:id="rId8" imgW="3352800" imgH="5486400" progId="Equation.DSMT4">
                    <p:embed/>
                  </p:oleObj>
                </mc:Choice>
                <mc:Fallback>
                  <p:oleObj name="Equation" r:id="rId8" imgW="3352800" imgH="5486400" progId="Equation.DSMT4">
                    <p:embed/>
                    <p:pic>
                      <p:nvPicPr>
                        <p:cNvPr id="0" name="Picture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" y="1085"/>
                          <a:ext cx="172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30"/>
            <p:cNvSpPr>
              <a:spLocks noChangeArrowheads="1"/>
            </p:cNvSpPr>
            <p:nvPr/>
          </p:nvSpPr>
          <p:spPr bwMode="auto">
            <a:xfrm>
              <a:off x="1769" y="1085"/>
              <a:ext cx="514" cy="59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" name="Group 31"/>
            <p:cNvGrpSpPr>
              <a:grpSpLocks/>
            </p:cNvGrpSpPr>
            <p:nvPr/>
          </p:nvGrpSpPr>
          <p:grpSpPr bwMode="auto">
            <a:xfrm>
              <a:off x="2283" y="1515"/>
              <a:ext cx="256" cy="53"/>
              <a:chOff x="250" y="2568"/>
              <a:chExt cx="680" cy="182"/>
            </a:xfrm>
          </p:grpSpPr>
          <p:sp>
            <p:nvSpPr>
              <p:cNvPr id="66" name="Oval 32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33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" name="Group 34"/>
            <p:cNvGrpSpPr>
              <a:grpSpLocks/>
            </p:cNvGrpSpPr>
            <p:nvPr/>
          </p:nvGrpSpPr>
          <p:grpSpPr bwMode="auto">
            <a:xfrm flipH="1">
              <a:off x="1383" y="1354"/>
              <a:ext cx="386" cy="53"/>
              <a:chOff x="250" y="2568"/>
              <a:chExt cx="680" cy="182"/>
            </a:xfrm>
          </p:grpSpPr>
          <p:sp>
            <p:nvSpPr>
              <p:cNvPr id="64" name="Oval 35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36"/>
              <p:cNvSpPr>
                <a:spLocks noChangeShapeType="1"/>
              </p:cNvSpPr>
              <p:nvPr/>
            </p:nvSpPr>
            <p:spPr bwMode="auto">
              <a:xfrm flipH="1"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Line 37"/>
            <p:cNvSpPr>
              <a:spLocks noChangeShapeType="1"/>
            </p:cNvSpPr>
            <p:nvPr/>
          </p:nvSpPr>
          <p:spPr bwMode="auto">
            <a:xfrm>
              <a:off x="1641" y="1192"/>
              <a:ext cx="12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8"/>
            <p:cNvSpPr>
              <a:spLocks noChangeShapeType="1"/>
            </p:cNvSpPr>
            <p:nvPr/>
          </p:nvSpPr>
          <p:spPr bwMode="auto">
            <a:xfrm>
              <a:off x="1641" y="1568"/>
              <a:ext cx="1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" name="Object 39"/>
            <p:cNvGraphicFramePr>
              <a:graphicFrameLocks noChangeAspect="1"/>
            </p:cNvGraphicFramePr>
            <p:nvPr/>
          </p:nvGraphicFramePr>
          <p:xfrm>
            <a:off x="1769" y="1458"/>
            <a:ext cx="273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5" name="Equation" r:id="rId10" imgW="5181600" imgH="5486400" progId="Equation.DSMT4">
                    <p:embed/>
                  </p:oleObj>
                </mc:Choice>
                <mc:Fallback>
                  <p:oleObj name="Equation" r:id="rId10" imgW="5181600" imgH="5486400" progId="Equation.DSMT4">
                    <p:embed/>
                    <p:pic>
                      <p:nvPicPr>
                        <p:cNvPr id="0" name="Picture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" y="1458"/>
                          <a:ext cx="273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40"/>
            <p:cNvGraphicFramePr>
              <a:graphicFrameLocks noChangeAspect="1"/>
            </p:cNvGraphicFramePr>
            <p:nvPr/>
          </p:nvGraphicFramePr>
          <p:xfrm>
            <a:off x="1764" y="1337"/>
            <a:ext cx="113" cy="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6" name="Equation" r:id="rId12" imgW="3048000" imgH="3048000" progId="Equation.DSMT4">
                    <p:embed/>
                  </p:oleObj>
                </mc:Choice>
                <mc:Fallback>
                  <p:oleObj name="Equation" r:id="rId12" imgW="3048000" imgH="3048000" progId="Equation.DSMT4">
                    <p:embed/>
                    <p:pic>
                      <p:nvPicPr>
                        <p:cNvPr id="0" name="Picture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4" y="1337"/>
                          <a:ext cx="113" cy="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41"/>
            <p:cNvGraphicFramePr>
              <a:graphicFrameLocks noChangeAspect="1"/>
            </p:cNvGraphicFramePr>
            <p:nvPr/>
          </p:nvGraphicFramePr>
          <p:xfrm>
            <a:off x="1808" y="1093"/>
            <a:ext cx="208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7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Picture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8" y="1093"/>
                          <a:ext cx="208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42"/>
            <p:cNvSpPr>
              <a:spLocks noChangeShapeType="1"/>
            </p:cNvSpPr>
            <p:nvPr/>
          </p:nvSpPr>
          <p:spPr bwMode="auto">
            <a:xfrm flipV="1">
              <a:off x="3637" y="978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43"/>
            <p:cNvSpPr>
              <a:spLocks noChangeShapeType="1"/>
            </p:cNvSpPr>
            <p:nvPr/>
          </p:nvSpPr>
          <p:spPr bwMode="auto">
            <a:xfrm flipH="1" flipV="1">
              <a:off x="1383" y="978"/>
              <a:ext cx="2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44"/>
            <p:cNvSpPr>
              <a:spLocks noChangeShapeType="1"/>
            </p:cNvSpPr>
            <p:nvPr/>
          </p:nvSpPr>
          <p:spPr bwMode="auto">
            <a:xfrm flipV="1">
              <a:off x="3438" y="817"/>
              <a:ext cx="0" cy="5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Oval 47"/>
            <p:cNvSpPr>
              <a:spLocks noChangeArrowheads="1"/>
            </p:cNvSpPr>
            <p:nvPr/>
          </p:nvSpPr>
          <p:spPr bwMode="auto">
            <a:xfrm flipH="1" flipV="1">
              <a:off x="3715" y="1353"/>
              <a:ext cx="51" cy="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48"/>
            <p:cNvSpPr>
              <a:spLocks noChangeShapeType="1"/>
            </p:cNvSpPr>
            <p:nvPr/>
          </p:nvSpPr>
          <p:spPr bwMode="auto">
            <a:xfrm flipH="1" flipV="1">
              <a:off x="3428" y="1380"/>
              <a:ext cx="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" name="Group 50"/>
            <p:cNvGrpSpPr>
              <a:grpSpLocks/>
            </p:cNvGrpSpPr>
            <p:nvPr/>
          </p:nvGrpSpPr>
          <p:grpSpPr bwMode="auto">
            <a:xfrm flipV="1">
              <a:off x="2538" y="1300"/>
              <a:ext cx="257" cy="107"/>
              <a:chOff x="3742" y="3430"/>
              <a:chExt cx="816" cy="363"/>
            </a:xfrm>
          </p:grpSpPr>
          <p:grpSp>
            <p:nvGrpSpPr>
              <p:cNvPr id="59" name="Group 51"/>
              <p:cNvGrpSpPr>
                <a:grpSpLocks/>
              </p:cNvGrpSpPr>
              <p:nvPr/>
            </p:nvGrpSpPr>
            <p:grpSpPr bwMode="auto">
              <a:xfrm flipH="1">
                <a:off x="3742" y="3430"/>
                <a:ext cx="816" cy="182"/>
                <a:chOff x="250" y="2568"/>
                <a:chExt cx="680" cy="182"/>
              </a:xfrm>
            </p:grpSpPr>
            <p:sp>
              <p:nvSpPr>
                <p:cNvPr id="61" name="Oval 52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53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" name="Line 54"/>
              <p:cNvSpPr>
                <a:spLocks noChangeShapeType="1"/>
              </p:cNvSpPr>
              <p:nvPr/>
            </p:nvSpPr>
            <p:spPr bwMode="auto">
              <a:xfrm>
                <a:off x="3742" y="3521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 flipV="1">
              <a:off x="3309" y="1192"/>
              <a:ext cx="1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56"/>
            <p:cNvSpPr>
              <a:spLocks noChangeShapeType="1"/>
            </p:cNvSpPr>
            <p:nvPr/>
          </p:nvSpPr>
          <p:spPr bwMode="auto">
            <a:xfrm>
              <a:off x="4280" y="1192"/>
              <a:ext cx="1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57"/>
            <p:cNvSpPr>
              <a:spLocks noChangeShapeType="1"/>
            </p:cNvSpPr>
            <p:nvPr/>
          </p:nvSpPr>
          <p:spPr bwMode="auto">
            <a:xfrm flipV="1">
              <a:off x="4409" y="817"/>
              <a:ext cx="0" cy="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58"/>
            <p:cNvSpPr>
              <a:spLocks noChangeShapeType="1"/>
            </p:cNvSpPr>
            <p:nvPr/>
          </p:nvSpPr>
          <p:spPr bwMode="auto">
            <a:xfrm flipV="1">
              <a:off x="2539" y="817"/>
              <a:ext cx="0" cy="4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59"/>
            <p:cNvSpPr>
              <a:spLocks noChangeShapeType="1"/>
            </p:cNvSpPr>
            <p:nvPr/>
          </p:nvSpPr>
          <p:spPr bwMode="auto">
            <a:xfrm flipV="1">
              <a:off x="2667" y="978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60"/>
            <p:cNvSpPr>
              <a:spLocks noChangeShapeType="1"/>
            </p:cNvSpPr>
            <p:nvPr/>
          </p:nvSpPr>
          <p:spPr bwMode="auto">
            <a:xfrm>
              <a:off x="2282" y="1192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61"/>
            <p:cNvSpPr>
              <a:spLocks noChangeShapeType="1"/>
            </p:cNvSpPr>
            <p:nvPr/>
          </p:nvSpPr>
          <p:spPr bwMode="auto">
            <a:xfrm flipV="1">
              <a:off x="1639" y="978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" name="Object 72"/>
            <p:cNvGraphicFramePr>
              <a:graphicFrameLocks noChangeAspect="1"/>
            </p:cNvGraphicFramePr>
            <p:nvPr/>
          </p:nvGraphicFramePr>
          <p:xfrm>
            <a:off x="1238" y="835"/>
            <a:ext cx="145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8" name="公式" r:id="rId16" imgW="2203560" imgH="4094640" progId="">
                    <p:embed/>
                  </p:oleObj>
                </mc:Choice>
                <mc:Fallback>
                  <p:oleObj name="公式" r:id="rId16" imgW="2203560" imgH="4094640" progId="">
                    <p:embed/>
                    <p:pic>
                      <p:nvPicPr>
                        <p:cNvPr id="0" name="Picture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8" y="835"/>
                          <a:ext cx="145" cy="2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73"/>
            <p:cNvGraphicFramePr>
              <a:graphicFrameLocks noChangeAspect="1"/>
            </p:cNvGraphicFramePr>
            <p:nvPr/>
          </p:nvGraphicFramePr>
          <p:xfrm>
            <a:off x="943" y="1271"/>
            <a:ext cx="384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49" name="Equation" r:id="rId18" imgW="8527680" imgH="4726080" progId="Equation.DSMT4">
                    <p:embed/>
                  </p:oleObj>
                </mc:Choice>
                <mc:Fallback>
                  <p:oleObj name="Equation" r:id="rId18" imgW="8527680" imgH="4726080" progId="Equation.DSMT4">
                    <p:embed/>
                    <p:pic>
                      <p:nvPicPr>
                        <p:cNvPr id="0" name="Picture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3" y="1271"/>
                          <a:ext cx="384" cy="1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77"/>
            <p:cNvGraphicFramePr>
              <a:graphicFrameLocks noChangeAspect="1"/>
            </p:cNvGraphicFramePr>
            <p:nvPr/>
          </p:nvGraphicFramePr>
          <p:xfrm>
            <a:off x="2290" y="1370"/>
            <a:ext cx="36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50" name="Equation" r:id="rId20" imgW="8211240" imgH="4726080" progId="Equation.DSMT4">
                    <p:embed/>
                  </p:oleObj>
                </mc:Choice>
                <mc:Fallback>
                  <p:oleObj name="Equation" r:id="rId20" imgW="8211240" imgH="4726080" progId="Equation.DSMT4">
                    <p:embed/>
                    <p:pic>
                      <p:nvPicPr>
                        <p:cNvPr id="0" name="Picture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370"/>
                          <a:ext cx="362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78"/>
            <p:cNvGraphicFramePr>
              <a:graphicFrameLocks noChangeAspect="1"/>
            </p:cNvGraphicFramePr>
            <p:nvPr/>
          </p:nvGraphicFramePr>
          <p:xfrm>
            <a:off x="3297" y="1402"/>
            <a:ext cx="357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51" name="Equation" r:id="rId22" imgW="8527680" imgH="4726080" progId="Equation.DSMT4">
                    <p:embed/>
                  </p:oleObj>
                </mc:Choice>
                <mc:Fallback>
                  <p:oleObj name="Equation" r:id="rId22" imgW="8527680" imgH="4726080" progId="Equation.DSMT4">
                    <p:embed/>
                    <p:pic>
                      <p:nvPicPr>
                        <p:cNvPr id="0" name="Picture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7" y="1402"/>
                          <a:ext cx="357" cy="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2" name="Object 40"/>
          <p:cNvGraphicFramePr>
            <a:graphicFrameLocks noChangeAspect="1"/>
          </p:cNvGraphicFramePr>
          <p:nvPr/>
        </p:nvGraphicFramePr>
        <p:xfrm>
          <a:off x="3840228" y="2754378"/>
          <a:ext cx="179388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2" name="Equation" r:id="rId24" imgW="3048000" imgH="3048000" progId="Equation.DSMT4">
                  <p:embed/>
                </p:oleObj>
              </mc:Choice>
              <mc:Fallback>
                <p:oleObj name="Equation" r:id="rId24" imgW="3048000" imgH="3048000" progId="Equation.DSMT4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228" y="2754378"/>
                        <a:ext cx="179388" cy="149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40"/>
          <p:cNvGraphicFramePr>
            <a:graphicFrameLocks noChangeAspect="1"/>
          </p:cNvGraphicFramePr>
          <p:nvPr/>
        </p:nvGraphicFramePr>
        <p:xfrm>
          <a:off x="5379972" y="2755008"/>
          <a:ext cx="179388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3" name="Equation" r:id="rId25" imgW="3048000" imgH="3048000" progId="Equation.DSMT4">
                  <p:embed/>
                </p:oleObj>
              </mc:Choice>
              <mc:Fallback>
                <p:oleObj name="Equation" r:id="rId25" imgW="3048000" imgH="3048000" progId="Equation.DSMT4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972" y="2755008"/>
                        <a:ext cx="179388" cy="149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41"/>
          <p:cNvGraphicFramePr>
            <a:graphicFrameLocks noChangeAspect="1"/>
          </p:cNvGraphicFramePr>
          <p:nvPr/>
        </p:nvGraphicFramePr>
        <p:xfrm>
          <a:off x="2667000" y="2343150"/>
          <a:ext cx="4064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4" name="Equation" r:id="rId26" imgW="4876800" imgH="5486400" progId="Equation.DSMT4">
                  <p:embed/>
                </p:oleObj>
              </mc:Choice>
              <mc:Fallback>
                <p:oleObj name="Equation" r:id="rId26" imgW="4876800" imgH="5486400" progId="Equation.DSMT4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343150"/>
                        <a:ext cx="4064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98" name="Object 26"/>
          <p:cNvGraphicFramePr>
            <a:graphicFrameLocks noChangeAspect="1"/>
          </p:cNvGraphicFramePr>
          <p:nvPr/>
        </p:nvGraphicFramePr>
        <p:xfrm>
          <a:off x="3276600" y="1581150"/>
          <a:ext cx="4064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5" name="Equation" r:id="rId28" imgW="4876800" imgH="5486400" progId="Equation.DSMT4">
                  <p:embed/>
                </p:oleObj>
              </mc:Choice>
              <mc:Fallback>
                <p:oleObj name="Equation" r:id="rId28" imgW="4876800" imgH="5486400" progId="Equation.DSMT4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81150"/>
                        <a:ext cx="4064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99" name="Object 27"/>
          <p:cNvGraphicFramePr>
            <a:graphicFrameLocks noChangeAspect="1"/>
          </p:cNvGraphicFramePr>
          <p:nvPr/>
        </p:nvGraphicFramePr>
        <p:xfrm>
          <a:off x="4737100" y="1581150"/>
          <a:ext cx="3810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6" name="Equation" r:id="rId29" imgW="4572000" imgH="5486400" progId="Equation.DSMT4">
                  <p:embed/>
                </p:oleObj>
              </mc:Choice>
              <mc:Fallback>
                <p:oleObj name="Equation" r:id="rId29" imgW="4572000" imgH="5486400" progId="Equation.DSMT4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1581150"/>
                        <a:ext cx="3810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00" name="Object 28"/>
          <p:cNvGraphicFramePr>
            <a:graphicFrameLocks noChangeAspect="1"/>
          </p:cNvGraphicFramePr>
          <p:nvPr/>
        </p:nvGraphicFramePr>
        <p:xfrm>
          <a:off x="6248400" y="1581150"/>
          <a:ext cx="4064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7" name="Equation" r:id="rId31" imgW="4876800" imgH="5486400" progId="Equation.DSMT4">
                  <p:embed/>
                </p:oleObj>
              </mc:Choice>
              <mc:Fallback>
                <p:oleObj name="Equation" r:id="rId31" imgW="4876800" imgH="5486400" progId="Equation.DSMT4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581150"/>
                        <a:ext cx="4064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01" name="Object 29"/>
          <p:cNvGraphicFramePr>
            <a:graphicFrameLocks noChangeAspect="1"/>
          </p:cNvGraphicFramePr>
          <p:nvPr/>
        </p:nvGraphicFramePr>
        <p:xfrm>
          <a:off x="4267200" y="2343150"/>
          <a:ext cx="3810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8" name="Equation" r:id="rId33" imgW="4572000" imgH="5486400" progId="Equation.DSMT4">
                  <p:embed/>
                </p:oleObj>
              </mc:Choice>
              <mc:Fallback>
                <p:oleObj name="Equation" r:id="rId33" imgW="4572000" imgH="5486400" progId="Equation.DSMT4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343150"/>
                        <a:ext cx="3810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02" name="Object 30"/>
          <p:cNvGraphicFramePr>
            <a:graphicFrameLocks noChangeAspect="1"/>
          </p:cNvGraphicFramePr>
          <p:nvPr/>
        </p:nvGraphicFramePr>
        <p:xfrm>
          <a:off x="5791200" y="2343150"/>
          <a:ext cx="4064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59" name="Equation" r:id="rId34" imgW="4876800" imgH="5486400" progId="Equation.DSMT4">
                  <p:embed/>
                </p:oleObj>
              </mc:Choice>
              <mc:Fallback>
                <p:oleObj name="Equation" r:id="rId34" imgW="4876800" imgH="5486400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343150"/>
                        <a:ext cx="4064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2410695" y="257175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59385" y="257175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597235" y="257175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时序电路的分类：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381000" y="1123950"/>
            <a:ext cx="8001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根据储存电路中触发器的动作特点不同分为： 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同步时序电路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异步时序电路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381000" y="2114550"/>
            <a:ext cx="8001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根据输出信号的特点分为：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Mealy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型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Moore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型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。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时序电路的分类：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57200" y="104775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Mealy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型电路：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输出信号不仅取决于存储电路的状态，而且还取决于输入变量。</a:t>
            </a:r>
          </a:p>
          <a:p>
            <a:pPr algn="just">
              <a:spcBef>
                <a:spcPct val="50000"/>
              </a:spcBef>
            </a:pPr>
            <a:endParaRPr lang="zh-CN" alt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>
              <a:spcBef>
                <a:spcPct val="50000"/>
              </a:spcBef>
            </a:pPr>
            <a:endParaRPr lang="zh-CN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33400" y="1657350"/>
          <a:ext cx="4084637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04" name="Visio" r:id="rId2" imgW="3610569" imgH="2622490" progId="Visio.Drawing.11">
                  <p:embed/>
                </p:oleObj>
              </mc:Choice>
              <mc:Fallback>
                <p:oleObj name="Visio" r:id="rId2" imgW="3610569" imgH="262249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57350"/>
                        <a:ext cx="4084637" cy="281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24000" y="3714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  Mealy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型时序电路</a:t>
            </a:r>
          </a:p>
        </p:txBody>
      </p:sp>
      <p:graphicFrame>
        <p:nvGraphicFramePr>
          <p:cNvPr id="234499" name="Object 3"/>
          <p:cNvGraphicFramePr>
            <a:graphicFrameLocks noChangeAspect="1"/>
          </p:cNvGraphicFramePr>
          <p:nvPr/>
        </p:nvGraphicFramePr>
        <p:xfrm>
          <a:off x="5257800" y="2343150"/>
          <a:ext cx="1752600" cy="34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05" name="Equation" r:id="rId4" imgW="36880800" imgH="7315200" progId="Equation.DSMT4">
                  <p:embed/>
                </p:oleObj>
              </mc:Choice>
              <mc:Fallback>
                <p:oleObj name="Equation" r:id="rId4" imgW="36880800" imgH="7315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343150"/>
                        <a:ext cx="1752600" cy="348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时序电路的分类：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57200" y="104775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Moore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型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电路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：</a:t>
            </a: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输出信号仅仅取决于存储电路的状态。</a:t>
            </a:r>
          </a:p>
          <a:p>
            <a:pPr algn="just">
              <a:spcBef>
                <a:spcPct val="50000"/>
              </a:spcBef>
            </a:pPr>
            <a:r>
              <a: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just">
              <a:spcBef>
                <a:spcPct val="50000"/>
              </a:spcBef>
            </a:pPr>
            <a:endParaRPr lang="zh-CN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8" name="对象 107"/>
          <p:cNvGraphicFramePr>
            <a:graphicFrameLocks noChangeAspect="1"/>
          </p:cNvGraphicFramePr>
          <p:nvPr/>
        </p:nvGraphicFramePr>
        <p:xfrm>
          <a:off x="381000" y="1414968"/>
          <a:ext cx="4153181" cy="245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0" name="Visio" r:id="rId2" imgW="3652396" imgH="2071881" progId="Visio.Drawing.11">
                  <p:embed/>
                </p:oleObj>
              </mc:Choice>
              <mc:Fallback>
                <p:oleObj name="Visio" r:id="rId2" imgW="3652396" imgH="2071881" progId="Visio.Drawing.11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14968"/>
                        <a:ext cx="4153181" cy="24521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1066800" y="38671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  Moore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型时序电路</a:t>
            </a:r>
          </a:p>
        </p:txBody>
      </p:sp>
      <p:graphicFrame>
        <p:nvGraphicFramePr>
          <p:cNvPr id="111" name="Object 3"/>
          <p:cNvGraphicFramePr>
            <a:graphicFrameLocks noChangeAspect="1"/>
          </p:cNvGraphicFramePr>
          <p:nvPr/>
        </p:nvGraphicFramePr>
        <p:xfrm>
          <a:off x="5430838" y="2343150"/>
          <a:ext cx="14049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1" name="Equation" r:id="rId4" imgW="29565600" imgH="7315200" progId="Equation.DSMT4">
                  <p:embed/>
                </p:oleObj>
              </mc:Choice>
              <mc:Fallback>
                <p:oleObj name="Equation" r:id="rId4" imgW="29565600" imgH="73152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838" y="2343150"/>
                        <a:ext cx="140493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时序逻辑分析的步骤：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95400" y="1428750"/>
            <a:ext cx="69236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  写出逻辑表达式（三个方程，输出方程、激励方程和状态方程）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295400" y="2114550"/>
            <a:ext cx="3276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  列出状态转移表表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295400" y="2888218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  画出状态图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295400" y="3638550"/>
            <a:ext cx="281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  分析出时序电路的功能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2" grpId="0" autoUpdateAnimBg="0"/>
      <p:bldP spid="13" grpId="0" autoUpdateAnimBg="0"/>
      <p:bldP spid="10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7456</TotalTime>
  <Words>453</Words>
  <Application>Microsoft Office PowerPoint</Application>
  <PresentationFormat>全屏显示(16:9)</PresentationFormat>
  <Paragraphs>129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Wingdings</vt:lpstr>
      <vt:lpstr>默认设计模板</vt:lpstr>
      <vt:lpstr>Visio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869</cp:revision>
  <cp:lastPrinted>2113-01-01T00:00:00Z</cp:lastPrinted>
  <dcterms:created xsi:type="dcterms:W3CDTF">2113-01-01T00:00:00Z</dcterms:created>
  <dcterms:modified xsi:type="dcterms:W3CDTF">2021-07-20T01:21:27Z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