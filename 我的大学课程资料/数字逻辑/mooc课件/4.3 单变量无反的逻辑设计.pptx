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309" r:id="rId2"/>
    <p:sldId id="314" r:id="rId3"/>
    <p:sldId id="330" r:id="rId4"/>
    <p:sldId id="331" r:id="rId5"/>
    <p:sldId id="333" r:id="rId6"/>
    <p:sldId id="335" r:id="rId7"/>
    <p:sldId id="341" r:id="rId8"/>
    <p:sldId id="334" r:id="rId9"/>
    <p:sldId id="336" r:id="rId10"/>
    <p:sldId id="342" r:id="rId11"/>
    <p:sldId id="344" r:id="rId12"/>
    <p:sldId id="340" r:id="rId13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6600CC"/>
    <a:srgbClr val="2D1341"/>
    <a:srgbClr val="3333CC"/>
    <a:srgbClr val="2D2D8A"/>
    <a:srgbClr val="0000CC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20" autoAdjust="0"/>
    <p:restoredTop sz="98916" autoAdjust="0"/>
  </p:normalViewPr>
  <p:slideViewPr>
    <p:cSldViewPr>
      <p:cViewPr varScale="1">
        <p:scale>
          <a:sx n="126" d="100"/>
          <a:sy n="126" d="100"/>
        </p:scale>
        <p:origin x="-90" y="-34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image" Target="../media/image22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29.wmf"/><Relationship Id="rId1" Type="http://schemas.openxmlformats.org/officeDocument/2006/relationships/image" Target="../media/image31.wmf"/><Relationship Id="rId4" Type="http://schemas.openxmlformats.org/officeDocument/2006/relationships/image" Target="../media/image33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2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E68FF4-A610-4CCF-A92A-54B8EBE33021}" type="datetimeFigureOut">
              <a:rPr lang="zh-CN" altLang="en-US" smtClean="0"/>
              <a:pPr/>
              <a:t>2020/12/28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48513-AA6D-4F8A-B41C-3BE1F5014A0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1329616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ea typeface="微软雅黑" panose="020B0503020204020204" pitchFamily="34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9E5F32BA-079D-492C-A71C-25B1AC211EF7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101730A-013B-4CB4-BA74-6B5A2DA383A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ea typeface="微软雅黑" panose="020B0503020204020204" pitchFamily="34" charset="-122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7D708CB0-180E-480A-B5E9-304EDB71A67E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BF519ABF-577E-4AA5-A198-446EB778942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35A92FF-C25D-44F5-BA10-134AA412F22C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C5F3488-9DEE-45BA-87B6-C85FA6C76AB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>
                <a:ea typeface="微软雅黑" panose="020B0503020204020204" pitchFamily="34" charset="-122"/>
              </a:defRPr>
            </a:lvl1pPr>
            <a:lvl2pPr>
              <a:defRPr sz="2800">
                <a:ea typeface="微软雅黑" panose="020B0503020204020204" pitchFamily="34" charset="-122"/>
              </a:defRPr>
            </a:lvl2pPr>
            <a:lvl3pPr>
              <a:defRPr sz="2400">
                <a:ea typeface="微软雅黑" panose="020B0503020204020204" pitchFamily="34" charset="-122"/>
              </a:defRPr>
            </a:lvl3pPr>
            <a:lvl4pPr>
              <a:defRPr sz="2000">
                <a:ea typeface="微软雅黑" panose="020B0503020204020204" pitchFamily="34" charset="-122"/>
              </a:defRPr>
            </a:lvl4pPr>
            <a:lvl5pPr>
              <a:defRPr sz="2000">
                <a:ea typeface="微软雅黑" panose="020B0503020204020204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75ABF99-AFDD-4392-BE13-BE42827BA07F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ea typeface="微软雅黑" panose="020B0503020204020204" pitchFamily="34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dirty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7E1D088-313E-48D8-BECE-41A274E0B5D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F4B0AB86-F7AE-4867-ADFF-354DE647AB0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3CEB1D2-F23D-4EFF-A6C7-152E930DD57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407513-19AE-47F0-ABD9-53914FA698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/>
          <p:cNvSpPr>
            <a:spLocks noChangeArrowheads="1"/>
          </p:cNvSpPr>
          <p:nvPr userDrawn="1"/>
        </p:nvSpPr>
        <p:spPr bwMode="auto">
          <a:xfrm>
            <a:off x="76318" y="514404"/>
            <a:ext cx="8950418" cy="67865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0 w 1000"/>
              <a:gd name="T11" fmla="*/ 0 h 1000"/>
              <a:gd name="T12" fmla="*/ 1000 w 1000"/>
              <a:gd name="T13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6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Line 5"/>
          <p:cNvSpPr>
            <a:spLocks noChangeShapeType="1"/>
          </p:cNvSpPr>
          <p:nvPr userDrawn="1"/>
        </p:nvSpPr>
        <p:spPr bwMode="auto">
          <a:xfrm>
            <a:off x="76318" y="4933888"/>
            <a:ext cx="8950418" cy="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pic>
        <p:nvPicPr>
          <p:cNvPr id="8" name="图片 7" descr="校标.pn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6215019" y="0"/>
            <a:ext cx="2545745" cy="4776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7.bin"/><Relationship Id="rId5" Type="http://schemas.openxmlformats.org/officeDocument/2006/relationships/oleObject" Target="../embeddings/oleObject6.bin"/><Relationship Id="rId4" Type="http://schemas.openxmlformats.org/officeDocument/2006/relationships/oleObject" Target="../embeddings/oleObject5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3.bin"/><Relationship Id="rId5" Type="http://schemas.openxmlformats.org/officeDocument/2006/relationships/oleObject" Target="../embeddings/oleObject12.bin"/><Relationship Id="rId4" Type="http://schemas.openxmlformats.org/officeDocument/2006/relationships/oleObject" Target="../embeddings/oleObject11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8.bin"/><Relationship Id="rId5" Type="http://schemas.openxmlformats.org/officeDocument/2006/relationships/oleObject" Target="../embeddings/oleObject17.bin"/><Relationship Id="rId4" Type="http://schemas.openxmlformats.org/officeDocument/2006/relationships/oleObject" Target="../embeddings/oleObject16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oleObject" Target="../embeddings/oleObject23.bin"/><Relationship Id="rId4" Type="http://schemas.openxmlformats.org/officeDocument/2006/relationships/oleObject" Target="../embeddings/oleObject22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oleObject" Target="../embeddings/oleObject25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oleObject" Target="../embeddings/oleObject27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5" Type="http://schemas.openxmlformats.org/officeDocument/2006/relationships/oleObject" Target="../embeddings/oleObject30.bin"/><Relationship Id="rId4" Type="http://schemas.openxmlformats.org/officeDocument/2006/relationships/oleObject" Target="../embeddings/oleObject29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34.bin"/><Relationship Id="rId5" Type="http://schemas.openxmlformats.org/officeDocument/2006/relationships/oleObject" Target="../embeddings/oleObject33.bin"/><Relationship Id="rId4" Type="http://schemas.openxmlformats.org/officeDocument/2006/relationships/oleObject" Target="../embeddings/oleObject32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4" Type="http://schemas.openxmlformats.org/officeDocument/2006/relationships/oleObject" Target="../embeddings/oleObject3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 121"/>
          <p:cNvSpPr/>
          <p:nvPr/>
        </p:nvSpPr>
        <p:spPr>
          <a:xfrm>
            <a:off x="609704" y="1233568"/>
            <a:ext cx="82294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54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单变量无反逻辑设计</a:t>
            </a:r>
            <a:endParaRPr lang="zh-CN" altLang="zh-CN" sz="54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0" name="Rectangle 59"/>
          <p:cNvSpPr>
            <a:spLocks noChangeArrowheads="1"/>
          </p:cNvSpPr>
          <p:nvPr/>
        </p:nvSpPr>
        <p:spPr bwMode="auto">
          <a:xfrm>
            <a:off x="1524000" y="2571750"/>
            <a:ext cx="6477692" cy="1523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 smtClean="0">
                <a:latin typeface="+mn-ea"/>
                <a:ea typeface="+mn-ea"/>
              </a:rPr>
              <a:t>刘 军</a:t>
            </a:r>
            <a:endParaRPr lang="en-US" altLang="zh-CN" sz="2800" b="1" dirty="0" smtClean="0">
              <a:latin typeface="+mn-ea"/>
              <a:ea typeface="+mn-ea"/>
            </a:endParaRPr>
          </a:p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 smtClean="0">
                <a:latin typeface="+mn-ea"/>
                <a:ea typeface="+mn-ea"/>
              </a:rPr>
              <a:t>合肥工业大学计算机与信息学院</a:t>
            </a:r>
            <a:endParaRPr lang="en-US" altLang="zh-CN" sz="28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44735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43556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：单变量无反的逻辑设计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输入中单变量无反的逻辑设计：</a:t>
            </a:r>
            <a:endParaRPr lang="en-US" altLang="zh-CN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8433" name="Object 1"/>
          <p:cNvGraphicFramePr>
            <a:graphicFrameLocks noChangeAspect="1"/>
          </p:cNvGraphicFramePr>
          <p:nvPr/>
        </p:nvGraphicFramePr>
        <p:xfrm>
          <a:off x="2362200" y="1433215"/>
          <a:ext cx="792480" cy="304800"/>
        </p:xfrm>
        <a:graphic>
          <a:graphicData uri="http://schemas.openxmlformats.org/presentationml/2006/ole">
            <p:oleObj spid="_x0000_s18433" name="Equation" r:id="rId3" imgW="660240" imgH="253800" progId="Equation.DSMT4">
              <p:embed/>
            </p:oleObj>
          </a:graphicData>
        </a:graphic>
      </p:graphicFrame>
      <p:graphicFrame>
        <p:nvGraphicFramePr>
          <p:cNvPr id="18435" name="Object 3"/>
          <p:cNvGraphicFramePr>
            <a:graphicFrameLocks noChangeAspect="1"/>
          </p:cNvGraphicFramePr>
          <p:nvPr/>
        </p:nvGraphicFramePr>
        <p:xfrm>
          <a:off x="3587750" y="1425575"/>
          <a:ext cx="1036638" cy="320675"/>
        </p:xfrm>
        <a:graphic>
          <a:graphicData uri="http://schemas.openxmlformats.org/presentationml/2006/ole">
            <p:oleObj spid="_x0000_s18435" name="Equation" r:id="rId4" imgW="863280" imgH="266400" progId="Equation.DSMT4">
              <p:embed/>
            </p:oleObj>
          </a:graphicData>
        </a:graphic>
      </p:graphicFrame>
      <p:graphicFrame>
        <p:nvGraphicFramePr>
          <p:cNvPr id="18436" name="Object 4"/>
          <p:cNvGraphicFramePr>
            <a:graphicFrameLocks noChangeAspect="1"/>
          </p:cNvGraphicFramePr>
          <p:nvPr/>
        </p:nvGraphicFramePr>
        <p:xfrm>
          <a:off x="2895600" y="2038350"/>
          <a:ext cx="1370013" cy="1190625"/>
        </p:xfrm>
        <a:graphic>
          <a:graphicData uri="http://schemas.openxmlformats.org/presentationml/2006/ole">
            <p:oleObj spid="_x0000_s18436" name="Equation" r:id="rId5" imgW="1143000" imgH="990360" progId="Equation.DSMT4">
              <p:embed/>
            </p:oleObj>
          </a:graphicData>
        </a:graphic>
      </p:graphicFrame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2514600" y="3486150"/>
            <a:ext cx="1905000" cy="149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卡诺图禁止法</a:t>
            </a:r>
            <a:endParaRPr lang="en-US" altLang="zh-CN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600200" y="1368294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43556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：单变量无反的逻辑设计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250825" y="907018"/>
            <a:ext cx="28257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en-US" dirty="0">
                <a:ea typeface="黑体" pitchFamily="49" charset="-122"/>
              </a:rPr>
              <a:t>、</a:t>
            </a:r>
            <a:r>
              <a:rPr lang="en-US" altLang="zh-CN" b="1" dirty="0">
                <a:ea typeface="黑体" pitchFamily="49" charset="-122"/>
              </a:rPr>
              <a:t>K</a:t>
            </a:r>
            <a:r>
              <a:rPr lang="zh-CN" altLang="en-US" b="1" dirty="0">
                <a:latin typeface="黑体" pitchFamily="49" charset="-122"/>
                <a:ea typeface="黑体" pitchFamily="49" charset="-122"/>
              </a:rPr>
              <a:t>图重心理论</a:t>
            </a:r>
          </a:p>
        </p:txBody>
      </p:sp>
      <p:sp>
        <p:nvSpPr>
          <p:cNvPr id="9" name="AutoShape 3"/>
          <p:cNvSpPr>
            <a:spLocks/>
          </p:cNvSpPr>
          <p:nvPr/>
        </p:nvSpPr>
        <p:spPr bwMode="auto">
          <a:xfrm>
            <a:off x="2127250" y="698500"/>
            <a:ext cx="158750" cy="863600"/>
          </a:xfrm>
          <a:prstGeom prst="leftBrace">
            <a:avLst>
              <a:gd name="adj1" fmla="val 45333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2286000" y="590550"/>
            <a:ext cx="533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/>
              <a:t>m</a:t>
            </a:r>
            <a:r>
              <a:rPr lang="en-US" altLang="zh-CN" b="1" baseline="-5000"/>
              <a:t>15</a:t>
            </a:r>
            <a:r>
              <a:rPr lang="zh-CN" altLang="en-US" b="1"/>
              <a:t>：</a:t>
            </a:r>
            <a:r>
              <a:rPr lang="en-US" altLang="zh-CN" b="1"/>
              <a:t>1</a:t>
            </a:r>
            <a:r>
              <a:rPr lang="zh-CN" altLang="en-US" b="1">
                <a:latin typeface="华文中宋" pitchFamily="2" charset="-122"/>
                <a:ea typeface="华文中宋" pitchFamily="2" charset="-122"/>
              </a:rPr>
              <a:t>重心</a:t>
            </a:r>
            <a:r>
              <a:rPr lang="en-US" altLang="zh-CN" b="1">
                <a:latin typeface="Century" pitchFamily="18" charset="0"/>
              </a:rPr>
              <a:t>(</a:t>
            </a:r>
            <a:r>
              <a:rPr lang="zh-CN" altLang="en-US" b="1">
                <a:latin typeface="华文中宋" pitchFamily="2" charset="-122"/>
                <a:ea typeface="华文中宋" pitchFamily="2" charset="-122"/>
              </a:rPr>
              <a:t>原码表示</a:t>
            </a:r>
            <a:r>
              <a:rPr lang="en-US" altLang="zh-CN" b="1"/>
              <a:t>ABCD</a:t>
            </a:r>
            <a:r>
              <a:rPr lang="en-US" altLang="zh-CN" b="1">
                <a:latin typeface="Century" pitchFamily="18" charset="0"/>
              </a:rPr>
              <a:t>)</a:t>
            </a: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250825" y="1581150"/>
            <a:ext cx="8893175" cy="1615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accent6"/>
                </a:solidFill>
                <a:latin typeface="黑体" pitchFamily="49" charset="-122"/>
                <a:ea typeface="黑体" pitchFamily="49" charset="-122"/>
              </a:rPr>
              <a:t>规律</a:t>
            </a:r>
            <a:r>
              <a:rPr lang="zh-CN" altLang="en-US" b="1" dirty="0">
                <a:solidFill>
                  <a:schemeClr val="accent6"/>
                </a:solidFill>
                <a:latin typeface="黑体" pitchFamily="49" charset="-122"/>
                <a:ea typeface="黑体" pitchFamily="49" charset="-122"/>
                <a:sym typeface="Wingdings" pitchFamily="2" charset="2"/>
              </a:rPr>
              <a:t>：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黑体" pitchFamily="49" charset="-122"/>
                <a:ea typeface="黑体" pitchFamily="49" charset="-122"/>
                <a:sym typeface="Wingdings" pitchFamily="2" charset="2"/>
              </a:rPr>
              <a:t>  </a:t>
            </a:r>
            <a:r>
              <a:rPr lang="en-US" altLang="zh-CN" b="1" dirty="0">
                <a:latin typeface="Century" pitchFamily="18" charset="0"/>
                <a:ea typeface="黑体" pitchFamily="49" charset="-122"/>
                <a:sym typeface="Wingdings" pitchFamily="2" charset="2"/>
              </a:rPr>
              <a:t>(</a:t>
            </a:r>
            <a:r>
              <a:rPr lang="en-US" altLang="zh-CN" b="1" dirty="0">
                <a:ea typeface="黑体" pitchFamily="49" charset="-122"/>
                <a:sym typeface="Wingdings" pitchFamily="2" charset="2"/>
              </a:rPr>
              <a:t>1</a:t>
            </a:r>
            <a:r>
              <a:rPr lang="en-US" altLang="zh-CN" b="1" dirty="0">
                <a:latin typeface="Century" pitchFamily="18" charset="0"/>
                <a:ea typeface="黑体" pitchFamily="49" charset="-122"/>
                <a:sym typeface="Wingdings" pitchFamily="2" charset="2"/>
              </a:rPr>
              <a:t>)</a:t>
            </a:r>
            <a:r>
              <a:rPr lang="zh-CN" altLang="en-US" b="1" dirty="0">
                <a:latin typeface="华文中宋" pitchFamily="2" charset="-122"/>
                <a:ea typeface="华文中宋" pitchFamily="2" charset="-122"/>
              </a:rPr>
              <a:t>凡包含</a:t>
            </a:r>
            <a:r>
              <a:rPr lang="en-US" altLang="zh-CN" b="1" dirty="0">
                <a:ea typeface="华文中宋" pitchFamily="2" charset="-122"/>
              </a:rPr>
              <a:t>1</a:t>
            </a:r>
            <a:r>
              <a:rPr lang="zh-CN" altLang="en-US" b="1" dirty="0">
                <a:latin typeface="华文中宋" pitchFamily="2" charset="-122"/>
                <a:ea typeface="华文中宋" pitchFamily="2" charset="-122"/>
              </a:rPr>
              <a:t>重心</a:t>
            </a:r>
            <a:r>
              <a:rPr lang="en-US" altLang="zh-CN" b="1" dirty="0">
                <a:ea typeface="华文中宋" pitchFamily="2" charset="-122"/>
              </a:rPr>
              <a:t>m</a:t>
            </a:r>
            <a:r>
              <a:rPr lang="en-US" altLang="zh-CN" b="1" baseline="-5000" dirty="0">
                <a:ea typeface="华文中宋" pitchFamily="2" charset="-122"/>
              </a:rPr>
              <a:t>15</a:t>
            </a:r>
            <a:r>
              <a:rPr lang="zh-CN" altLang="en-US" b="1" dirty="0">
                <a:latin typeface="华文中宋" pitchFamily="2" charset="-122"/>
                <a:ea typeface="华文中宋" pitchFamily="2" charset="-122"/>
              </a:rPr>
              <a:t>的</a:t>
            </a:r>
            <a:r>
              <a:rPr lang="en-US" altLang="zh-CN" b="1" dirty="0">
                <a:ea typeface="华文中宋" pitchFamily="2" charset="-122"/>
              </a:rPr>
              <a:t>K</a:t>
            </a:r>
            <a:r>
              <a:rPr lang="zh-CN" altLang="en-US" b="1" dirty="0">
                <a:latin typeface="华文中宋" pitchFamily="2" charset="-122"/>
                <a:ea typeface="华文中宋" pitchFamily="2" charset="-122"/>
              </a:rPr>
              <a:t>圈组合后的化简函数必然是全原码标注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黑体" pitchFamily="49" charset="-122"/>
                <a:ea typeface="黑体" pitchFamily="49" charset="-122"/>
              </a:rPr>
              <a:t>  </a:t>
            </a:r>
            <a:r>
              <a:rPr lang="en-US" altLang="zh-CN" b="1" dirty="0">
                <a:latin typeface="Century" pitchFamily="18" charset="0"/>
                <a:ea typeface="黑体" pitchFamily="49" charset="-122"/>
                <a:sym typeface="Wingdings" pitchFamily="2" charset="2"/>
              </a:rPr>
              <a:t>(</a:t>
            </a:r>
            <a:r>
              <a:rPr lang="en-US" altLang="zh-CN" b="1" dirty="0">
                <a:ea typeface="黑体" pitchFamily="49" charset="-122"/>
                <a:sym typeface="Wingdings" pitchFamily="2" charset="2"/>
              </a:rPr>
              <a:t>2</a:t>
            </a:r>
            <a:r>
              <a:rPr lang="en-US" altLang="zh-CN" b="1" dirty="0">
                <a:latin typeface="Century" pitchFamily="18" charset="0"/>
                <a:ea typeface="黑体" pitchFamily="49" charset="-122"/>
                <a:sym typeface="Wingdings" pitchFamily="2" charset="2"/>
              </a:rPr>
              <a:t>)</a:t>
            </a:r>
            <a:r>
              <a:rPr lang="zh-CN" altLang="en-US" b="1" dirty="0">
                <a:latin typeface="华文中宋" pitchFamily="2" charset="-122"/>
                <a:ea typeface="华文中宋" pitchFamily="2" charset="-122"/>
              </a:rPr>
              <a:t>凡包含</a:t>
            </a:r>
            <a:r>
              <a:rPr lang="en-US" altLang="zh-CN" b="1" dirty="0">
                <a:ea typeface="华文中宋" pitchFamily="2" charset="-122"/>
              </a:rPr>
              <a:t>0</a:t>
            </a:r>
            <a:r>
              <a:rPr lang="zh-CN" altLang="en-US" b="1" dirty="0">
                <a:latin typeface="华文中宋" pitchFamily="2" charset="-122"/>
                <a:ea typeface="华文中宋" pitchFamily="2" charset="-122"/>
              </a:rPr>
              <a:t>重心</a:t>
            </a:r>
            <a:r>
              <a:rPr lang="en-US" altLang="zh-CN" b="1" dirty="0">
                <a:ea typeface="华文中宋" pitchFamily="2" charset="-122"/>
              </a:rPr>
              <a:t>m</a:t>
            </a:r>
            <a:r>
              <a:rPr lang="en-US" altLang="zh-CN" b="1" baseline="-5000" dirty="0">
                <a:ea typeface="华文中宋" pitchFamily="2" charset="-122"/>
              </a:rPr>
              <a:t>0</a:t>
            </a:r>
            <a:r>
              <a:rPr lang="zh-CN" altLang="en-US" b="1" dirty="0">
                <a:latin typeface="华文中宋" pitchFamily="2" charset="-122"/>
                <a:ea typeface="华文中宋" pitchFamily="2" charset="-122"/>
              </a:rPr>
              <a:t>的</a:t>
            </a:r>
            <a:r>
              <a:rPr lang="en-US" altLang="zh-CN" b="1" dirty="0">
                <a:ea typeface="华文中宋" pitchFamily="2" charset="-122"/>
              </a:rPr>
              <a:t>K</a:t>
            </a:r>
            <a:r>
              <a:rPr lang="zh-CN" altLang="en-US" b="1" dirty="0">
                <a:latin typeface="华文中宋" pitchFamily="2" charset="-122"/>
                <a:ea typeface="华文中宋" pitchFamily="2" charset="-122"/>
              </a:rPr>
              <a:t>圈组合后的化简函数必然是全反码标注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黑体" pitchFamily="49" charset="-122"/>
                <a:ea typeface="黑体" pitchFamily="49" charset="-122"/>
              </a:rPr>
              <a:t>  </a:t>
            </a:r>
            <a:endParaRPr lang="zh-CN" altLang="en-US" b="1" dirty="0"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304800" y="3028950"/>
            <a:ext cx="8442325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accent6"/>
                </a:solidFill>
                <a:latin typeface="黑体" pitchFamily="49" charset="-122"/>
                <a:ea typeface="黑体" pitchFamily="49" charset="-122"/>
              </a:rPr>
              <a:t>要求：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  </a:t>
            </a:r>
            <a:r>
              <a:rPr lang="en-US" altLang="zh-CN" b="1" dirty="0">
                <a:latin typeface="Century" pitchFamily="18" charset="0"/>
                <a:ea typeface="黑体" pitchFamily="49" charset="-122"/>
                <a:sym typeface="Wingdings" pitchFamily="2" charset="2"/>
              </a:rPr>
              <a:t>(</a:t>
            </a:r>
            <a:r>
              <a:rPr lang="en-US" altLang="zh-CN" b="1" dirty="0">
                <a:ea typeface="黑体" pitchFamily="49" charset="-122"/>
                <a:sym typeface="Wingdings" pitchFamily="2" charset="2"/>
              </a:rPr>
              <a:t>1</a:t>
            </a:r>
            <a:r>
              <a:rPr lang="en-US" altLang="zh-CN" b="1" dirty="0">
                <a:latin typeface="Century" pitchFamily="18" charset="0"/>
                <a:ea typeface="黑体" pitchFamily="49" charset="-122"/>
                <a:sym typeface="Wingdings" pitchFamily="2" charset="2"/>
              </a:rPr>
              <a:t>)</a:t>
            </a:r>
            <a:r>
              <a:rPr lang="zh-CN" altLang="en-US" b="1" dirty="0">
                <a:latin typeface="黑体" pitchFamily="49" charset="-122"/>
                <a:ea typeface="华文中宋" pitchFamily="2" charset="-122"/>
                <a:sym typeface="Wingdings" pitchFamily="2" charset="2"/>
              </a:rPr>
              <a:t>结果式为</a:t>
            </a:r>
            <a:r>
              <a:rPr lang="zh-CN" altLang="en-US" b="1" dirty="0">
                <a:ea typeface="华文中宋" pitchFamily="2" charset="-122"/>
                <a:sym typeface="Wingdings" pitchFamily="2" charset="2"/>
              </a:rPr>
              <a:t>无反码输入</a:t>
            </a:r>
            <a:r>
              <a:rPr lang="en-US" altLang="zh-CN" b="1" dirty="0">
                <a:latin typeface="华文中宋" pitchFamily="2" charset="-122"/>
                <a:ea typeface="华文中宋" pitchFamily="2" charset="-122"/>
                <a:sym typeface="Wingdings" pitchFamily="2" charset="2"/>
              </a:rPr>
              <a:t>——</a:t>
            </a:r>
            <a:r>
              <a:rPr lang="zh-CN" altLang="en-US" b="1" dirty="0">
                <a:latin typeface="黑体" pitchFamily="49" charset="-122"/>
                <a:ea typeface="华文中宋" pitchFamily="2" charset="-122"/>
                <a:sym typeface="Wingdings" pitchFamily="2" charset="2"/>
              </a:rPr>
              <a:t>圈</a:t>
            </a:r>
            <a:r>
              <a:rPr lang="en-US" altLang="zh-CN" b="1" dirty="0">
                <a:ea typeface="黑体" pitchFamily="49" charset="-122"/>
                <a:sym typeface="Wingdings" pitchFamily="2" charset="2"/>
              </a:rPr>
              <a:t>1</a:t>
            </a:r>
            <a:r>
              <a:rPr lang="zh-CN" altLang="en-US" b="1" dirty="0">
                <a:latin typeface="华文中宋" pitchFamily="2" charset="-122"/>
                <a:ea typeface="华文中宋" pitchFamily="2" charset="-122"/>
                <a:sym typeface="Wingdings" pitchFamily="2" charset="2"/>
              </a:rPr>
              <a:t>重心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黑体" pitchFamily="49" charset="-122"/>
                <a:ea typeface="黑体" pitchFamily="49" charset="-122"/>
                <a:sym typeface="Wingdings" pitchFamily="2" charset="2"/>
              </a:rPr>
              <a:t>  </a:t>
            </a:r>
            <a:r>
              <a:rPr lang="en-US" altLang="zh-CN" b="1" dirty="0">
                <a:latin typeface="Century" pitchFamily="18" charset="0"/>
                <a:ea typeface="黑体" pitchFamily="49" charset="-122"/>
                <a:sym typeface="Wingdings" pitchFamily="2" charset="2"/>
              </a:rPr>
              <a:t>(</a:t>
            </a:r>
            <a:r>
              <a:rPr lang="en-US" altLang="zh-CN" b="1" dirty="0">
                <a:ea typeface="黑体" pitchFamily="49" charset="-122"/>
                <a:sym typeface="Wingdings" pitchFamily="2" charset="2"/>
              </a:rPr>
              <a:t>2</a:t>
            </a:r>
            <a:r>
              <a:rPr lang="en-US" altLang="zh-CN" b="1" dirty="0">
                <a:latin typeface="Century" pitchFamily="18" charset="0"/>
                <a:ea typeface="黑体" pitchFamily="49" charset="-122"/>
                <a:sym typeface="Wingdings" pitchFamily="2" charset="2"/>
              </a:rPr>
              <a:t>)</a:t>
            </a:r>
            <a:r>
              <a:rPr lang="zh-CN" altLang="en-US" b="1" dirty="0">
                <a:latin typeface="黑体" pitchFamily="49" charset="-122"/>
                <a:ea typeface="华文中宋" pitchFamily="2" charset="-122"/>
                <a:sym typeface="Wingdings" pitchFamily="2" charset="2"/>
              </a:rPr>
              <a:t>结果式为</a:t>
            </a:r>
            <a:r>
              <a:rPr lang="zh-CN" altLang="en-US" b="1" dirty="0">
                <a:ea typeface="华文中宋" pitchFamily="2" charset="-122"/>
                <a:sym typeface="Wingdings" pitchFamily="2" charset="2"/>
              </a:rPr>
              <a:t>反码输入</a:t>
            </a:r>
            <a:r>
              <a:rPr lang="en-US" altLang="zh-CN" b="1" dirty="0">
                <a:latin typeface="华文中宋" pitchFamily="2" charset="-122"/>
                <a:ea typeface="华文中宋" pitchFamily="2" charset="-122"/>
                <a:sym typeface="Wingdings" pitchFamily="2" charset="2"/>
              </a:rPr>
              <a:t>——</a:t>
            </a:r>
            <a:r>
              <a:rPr lang="zh-CN" altLang="en-US" b="1" dirty="0">
                <a:latin typeface="黑体" pitchFamily="49" charset="-122"/>
                <a:ea typeface="华文中宋" pitchFamily="2" charset="-122"/>
                <a:sym typeface="Wingdings" pitchFamily="2" charset="2"/>
              </a:rPr>
              <a:t>圈</a:t>
            </a:r>
            <a:r>
              <a:rPr lang="en-US" altLang="zh-CN" b="1" dirty="0">
                <a:ea typeface="黑体" pitchFamily="49" charset="-122"/>
                <a:sym typeface="Wingdings" pitchFamily="2" charset="2"/>
              </a:rPr>
              <a:t>0</a:t>
            </a:r>
            <a:r>
              <a:rPr lang="zh-CN" altLang="en-US" b="1" dirty="0">
                <a:latin typeface="华文中宋" pitchFamily="2" charset="-122"/>
                <a:ea typeface="华文中宋" pitchFamily="2" charset="-122"/>
                <a:sym typeface="Wingdings" pitchFamily="2" charset="2"/>
              </a:rPr>
              <a:t>重心</a:t>
            </a:r>
          </a:p>
        </p:txBody>
      </p:sp>
      <p:grpSp>
        <p:nvGrpSpPr>
          <p:cNvPr id="13" name="Group 7"/>
          <p:cNvGrpSpPr>
            <a:grpSpLocks/>
          </p:cNvGrpSpPr>
          <p:nvPr/>
        </p:nvGrpSpPr>
        <p:grpSpPr bwMode="auto">
          <a:xfrm>
            <a:off x="2286000" y="1123950"/>
            <a:ext cx="5073650" cy="369887"/>
            <a:chOff x="2018" y="683"/>
            <a:chExt cx="3196" cy="233"/>
          </a:xfrm>
        </p:grpSpPr>
        <p:sp>
          <p:nvSpPr>
            <p:cNvPr id="15" name="Text Box 8"/>
            <p:cNvSpPr txBox="1">
              <a:spLocks noChangeArrowheads="1"/>
            </p:cNvSpPr>
            <p:nvPr/>
          </p:nvSpPr>
          <p:spPr bwMode="auto">
            <a:xfrm>
              <a:off x="2018" y="683"/>
              <a:ext cx="3196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dirty="0"/>
                <a:t>m</a:t>
              </a:r>
              <a:r>
                <a:rPr lang="en-US" altLang="zh-CN" b="1" baseline="-5000" dirty="0"/>
                <a:t>0</a:t>
              </a:r>
              <a:r>
                <a:rPr lang="zh-CN" altLang="en-US" b="1" dirty="0"/>
                <a:t>： </a:t>
              </a:r>
              <a:r>
                <a:rPr lang="en-US" altLang="zh-CN" b="1" dirty="0"/>
                <a:t>0</a:t>
              </a:r>
              <a:r>
                <a:rPr lang="zh-CN" altLang="en-US" b="1" dirty="0">
                  <a:latin typeface="华文中宋" pitchFamily="2" charset="-122"/>
                  <a:ea typeface="华文中宋" pitchFamily="2" charset="-122"/>
                </a:rPr>
                <a:t>重心</a:t>
              </a:r>
              <a:r>
                <a:rPr lang="en-US" altLang="zh-CN" b="1" dirty="0">
                  <a:latin typeface="Century" pitchFamily="18" charset="0"/>
                  <a:ea typeface="黑体" pitchFamily="49" charset="-122"/>
                </a:rPr>
                <a:t>(</a:t>
              </a:r>
              <a:r>
                <a:rPr lang="zh-CN" altLang="en-US" b="1" dirty="0">
                  <a:latin typeface="华文中宋" pitchFamily="2" charset="-122"/>
                  <a:ea typeface="华文中宋" pitchFamily="2" charset="-122"/>
                </a:rPr>
                <a:t>反码表示</a:t>
              </a:r>
              <a:r>
                <a:rPr lang="en-US" altLang="zh-CN" b="1" dirty="0" smtClean="0"/>
                <a:t>A BCD</a:t>
              </a:r>
              <a:r>
                <a:rPr lang="en-US" altLang="zh-CN" b="1" dirty="0">
                  <a:latin typeface="Century" pitchFamily="18" charset="0"/>
                </a:rPr>
                <a:t>)</a:t>
              </a:r>
            </a:p>
          </p:txBody>
        </p:sp>
        <p:sp>
          <p:nvSpPr>
            <p:cNvPr id="16" name="Line 9"/>
            <p:cNvSpPr>
              <a:spLocks noChangeShapeType="1"/>
            </p:cNvSpPr>
            <p:nvPr/>
          </p:nvSpPr>
          <p:spPr bwMode="auto">
            <a:xfrm>
              <a:off x="3451" y="730"/>
              <a:ext cx="9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0"/>
            <p:cNvSpPr>
              <a:spLocks noChangeShapeType="1"/>
            </p:cNvSpPr>
            <p:nvPr/>
          </p:nvSpPr>
          <p:spPr bwMode="auto">
            <a:xfrm>
              <a:off x="3572" y="730"/>
              <a:ext cx="9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1"/>
            <p:cNvSpPr>
              <a:spLocks noChangeShapeType="1"/>
            </p:cNvSpPr>
            <p:nvPr/>
          </p:nvSpPr>
          <p:spPr bwMode="auto">
            <a:xfrm>
              <a:off x="3672" y="730"/>
              <a:ext cx="9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2"/>
            <p:cNvSpPr>
              <a:spLocks noChangeShapeType="1"/>
            </p:cNvSpPr>
            <p:nvPr/>
          </p:nvSpPr>
          <p:spPr bwMode="auto">
            <a:xfrm>
              <a:off x="3784" y="731"/>
              <a:ext cx="9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/>
      <p:bldP spid="11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43556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：单变量无反的逻辑设计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304800" y="666750"/>
            <a:ext cx="223996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r>
              <a:rPr kumimoji="1"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禁止</a:t>
            </a:r>
            <a:r>
              <a:rPr kumimoji="1" lang="zh-CN" altLang="en-US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逻辑</a:t>
            </a:r>
            <a:r>
              <a:rPr kumimoji="1"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法的相关定理：</a:t>
            </a:r>
            <a:endParaRPr kumimoji="1" lang="zh-CN" altLang="en-US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304800" y="971550"/>
            <a:ext cx="7183438" cy="54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r>
              <a:rPr kumimoji="1" lang="zh-CN" altLang="en-US" sz="1400" b="1" dirty="0" smtClean="0">
                <a:solidFill>
                  <a:schemeClr val="accent6"/>
                </a:solidFill>
                <a:latin typeface="Times New Roman" pitchFamily="18" charset="0"/>
              </a:rPr>
              <a:t>定理</a:t>
            </a:r>
            <a:r>
              <a:rPr kumimoji="1" lang="en-US" altLang="zh-CN" sz="1400" b="1" dirty="0" smtClean="0">
                <a:solidFill>
                  <a:schemeClr val="accent6"/>
                </a:solidFill>
                <a:latin typeface="Times New Roman" pitchFamily="18" charset="0"/>
              </a:rPr>
              <a:t>1</a:t>
            </a:r>
            <a:r>
              <a:rPr kumimoji="1" lang="zh-CN" altLang="en-US" sz="1400" b="1" dirty="0" smtClean="0">
                <a:solidFill>
                  <a:schemeClr val="accent6"/>
                </a:solidFill>
                <a:latin typeface="Times New Roman" pitchFamily="18" charset="0"/>
              </a:rPr>
              <a:t>：</a:t>
            </a:r>
            <a:r>
              <a:rPr kumimoji="1" lang="zh-CN" altLang="en-US" sz="1400" b="1" dirty="0" smtClean="0">
                <a:latin typeface="Times New Roman" pitchFamily="18" charset="0"/>
              </a:rPr>
              <a:t>任何</a:t>
            </a:r>
            <a:r>
              <a:rPr kumimoji="1" lang="zh-CN" altLang="en-US" sz="1400" b="1" dirty="0">
                <a:latin typeface="Times New Roman" pitchFamily="18" charset="0"/>
              </a:rPr>
              <a:t>函数同不属于它的最小项之非相“与”，其逻辑功能不变。</a:t>
            </a:r>
          </a:p>
        </p:txBody>
      </p:sp>
      <p:graphicFrame>
        <p:nvGraphicFramePr>
          <p:cNvPr id="10" name="Object 4"/>
          <p:cNvGraphicFramePr>
            <a:graphicFrameLocks noChangeAspect="1"/>
          </p:cNvGraphicFramePr>
          <p:nvPr/>
        </p:nvGraphicFramePr>
        <p:xfrm>
          <a:off x="1981200" y="4095750"/>
          <a:ext cx="2971800" cy="392011"/>
        </p:xfrm>
        <a:graphic>
          <a:graphicData uri="http://schemas.openxmlformats.org/presentationml/2006/ole">
            <p:oleObj spid="_x0000_s34821" name="Equation" r:id="rId3" imgW="1879560" imgH="253800" progId="Equation.DSMT4">
              <p:embed/>
            </p:oleObj>
          </a:graphicData>
        </a:graphic>
      </p:graphicFrame>
      <p:graphicFrame>
        <p:nvGraphicFramePr>
          <p:cNvPr id="34823" name="Object 4"/>
          <p:cNvGraphicFramePr>
            <a:graphicFrameLocks noChangeAspect="1"/>
          </p:cNvGraphicFramePr>
          <p:nvPr/>
        </p:nvGraphicFramePr>
        <p:xfrm>
          <a:off x="1371600" y="1581150"/>
          <a:ext cx="3600450" cy="309563"/>
        </p:xfrm>
        <a:graphic>
          <a:graphicData uri="http://schemas.openxmlformats.org/presentationml/2006/ole">
            <p:oleObj spid="_x0000_s34823" name="Equation" r:id="rId4" imgW="2869920" imgH="253800" progId="Equation.DSMT4">
              <p:embed/>
            </p:oleObj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65162" y="1578173"/>
            <a:ext cx="838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例如：</a:t>
            </a:r>
            <a:endParaRPr lang="zh-CN" altLang="en-US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34824" name="Object 8"/>
          <p:cNvGraphicFramePr>
            <a:graphicFrameLocks noChangeAspect="1"/>
          </p:cNvGraphicFramePr>
          <p:nvPr/>
        </p:nvGraphicFramePr>
        <p:xfrm>
          <a:off x="1447800" y="2038350"/>
          <a:ext cx="3074987" cy="342900"/>
        </p:xfrm>
        <a:graphic>
          <a:graphicData uri="http://schemas.openxmlformats.org/presentationml/2006/ole">
            <p:oleObj spid="_x0000_s34824" name="Equation" r:id="rId5" imgW="2450880" imgH="279360" progId="Equation.DSMT4">
              <p:embed/>
            </p:oleObj>
          </a:graphicData>
        </a:graphic>
      </p:graphicFrame>
      <p:sp>
        <p:nvSpPr>
          <p:cNvPr id="17" name="Rectangle 3"/>
          <p:cNvSpPr>
            <a:spLocks noChangeArrowheads="1"/>
          </p:cNvSpPr>
          <p:nvPr/>
        </p:nvSpPr>
        <p:spPr bwMode="auto">
          <a:xfrm>
            <a:off x="1046162" y="2419350"/>
            <a:ext cx="7183438" cy="54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r>
              <a:rPr kumimoji="1" lang="zh-CN" altLang="en-US" sz="1400" b="1" dirty="0" smtClean="0">
                <a:latin typeface="Times New Roman" pitchFamily="18" charset="0"/>
              </a:rPr>
              <a:t>当</a:t>
            </a:r>
            <a:r>
              <a:rPr kumimoji="1" lang="en-US" altLang="zh-CN" sz="1400" b="1" dirty="0" smtClean="0">
                <a:latin typeface="Times New Roman" pitchFamily="18" charset="0"/>
              </a:rPr>
              <a:t>F=0</a:t>
            </a:r>
            <a:r>
              <a:rPr kumimoji="1" lang="zh-CN" altLang="en-US" sz="1400" b="1" dirty="0" smtClean="0">
                <a:latin typeface="Times New Roman" pitchFamily="18" charset="0"/>
              </a:rPr>
              <a:t>时，</a:t>
            </a:r>
            <a:endParaRPr kumimoji="1" lang="zh-CN" altLang="en-US" sz="1400" b="1" dirty="0">
              <a:latin typeface="Times New Roman" pitchFamily="18" charset="0"/>
            </a:endParaRPr>
          </a:p>
        </p:txBody>
      </p:sp>
      <p:graphicFrame>
        <p:nvGraphicFramePr>
          <p:cNvPr id="34825" name="Object 9"/>
          <p:cNvGraphicFramePr>
            <a:graphicFrameLocks noChangeAspect="1"/>
          </p:cNvGraphicFramePr>
          <p:nvPr/>
        </p:nvGraphicFramePr>
        <p:xfrm>
          <a:off x="2030413" y="2535238"/>
          <a:ext cx="1082675" cy="311150"/>
        </p:xfrm>
        <a:graphic>
          <a:graphicData uri="http://schemas.openxmlformats.org/presentationml/2006/ole">
            <p:oleObj spid="_x0000_s34825" name="Equation" r:id="rId6" imgW="863280" imgH="253800" progId="Equation.DSMT4">
              <p:embed/>
            </p:oleObj>
          </a:graphicData>
        </a:graphic>
      </p:graphicFrame>
      <p:sp>
        <p:nvSpPr>
          <p:cNvPr id="19" name="Rectangle 3"/>
          <p:cNvSpPr>
            <a:spLocks noChangeArrowheads="1"/>
          </p:cNvSpPr>
          <p:nvPr/>
        </p:nvSpPr>
        <p:spPr bwMode="auto">
          <a:xfrm>
            <a:off x="1066800" y="2868612"/>
            <a:ext cx="6629400" cy="54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r>
              <a:rPr kumimoji="1" lang="zh-CN" altLang="en-US" sz="1400" b="1" dirty="0" smtClean="0">
                <a:latin typeface="Times New Roman" pitchFamily="18" charset="0"/>
              </a:rPr>
              <a:t>当</a:t>
            </a:r>
            <a:r>
              <a:rPr kumimoji="1" lang="en-US" altLang="zh-CN" sz="1400" b="1" dirty="0" smtClean="0">
                <a:latin typeface="Times New Roman" pitchFamily="18" charset="0"/>
              </a:rPr>
              <a:t>F=1</a:t>
            </a:r>
            <a:r>
              <a:rPr kumimoji="1" lang="zh-CN" altLang="en-US" sz="1400" b="1" dirty="0" smtClean="0">
                <a:latin typeface="Times New Roman" pitchFamily="18" charset="0"/>
              </a:rPr>
              <a:t>时，</a:t>
            </a:r>
            <a:r>
              <a:rPr kumimoji="1" lang="en-US" altLang="zh-CN" sz="1400" b="1" dirty="0" smtClean="0">
                <a:latin typeface="Times New Roman" pitchFamily="18" charset="0"/>
              </a:rPr>
              <a:t>A</a:t>
            </a:r>
            <a:r>
              <a:rPr kumimoji="1" lang="zh-CN" altLang="en-US" sz="1400" b="1" dirty="0" smtClean="0">
                <a:latin typeface="Times New Roman" pitchFamily="18" charset="0"/>
              </a:rPr>
              <a:t>、</a:t>
            </a:r>
            <a:r>
              <a:rPr kumimoji="1" lang="en-US" altLang="zh-CN" sz="1400" b="1" dirty="0" smtClean="0">
                <a:latin typeface="Times New Roman" pitchFamily="18" charset="0"/>
              </a:rPr>
              <a:t>B</a:t>
            </a:r>
            <a:r>
              <a:rPr kumimoji="1" lang="zh-CN" altLang="en-US" sz="1400" b="1" dirty="0" smtClean="0">
                <a:latin typeface="Times New Roman" pitchFamily="18" charset="0"/>
              </a:rPr>
              <a:t>、</a:t>
            </a:r>
            <a:r>
              <a:rPr kumimoji="1" lang="en-US" altLang="zh-CN" sz="1400" b="1" dirty="0" smtClean="0">
                <a:latin typeface="Times New Roman" pitchFamily="18" charset="0"/>
              </a:rPr>
              <a:t>C</a:t>
            </a:r>
            <a:r>
              <a:rPr kumimoji="1" lang="zh-CN" altLang="en-US" sz="1400" b="1" dirty="0" smtClean="0">
                <a:latin typeface="Times New Roman" pitchFamily="18" charset="0"/>
              </a:rPr>
              <a:t>的取值只能为</a:t>
            </a:r>
            <a:r>
              <a:rPr kumimoji="1" lang="en-US" altLang="zh-CN" sz="1400" b="1" dirty="0" smtClean="0">
                <a:latin typeface="Times New Roman" pitchFamily="18" charset="0"/>
              </a:rPr>
              <a:t>001</a:t>
            </a:r>
            <a:r>
              <a:rPr kumimoji="1" lang="zh-CN" altLang="en-US" sz="1400" b="1" dirty="0" smtClean="0">
                <a:latin typeface="Times New Roman" pitchFamily="18" charset="0"/>
              </a:rPr>
              <a:t>、</a:t>
            </a:r>
            <a:r>
              <a:rPr kumimoji="1" lang="en-US" altLang="zh-CN" sz="1400" b="1" dirty="0" smtClean="0">
                <a:latin typeface="Times New Roman" pitchFamily="18" charset="0"/>
              </a:rPr>
              <a:t>011</a:t>
            </a:r>
            <a:r>
              <a:rPr kumimoji="1" lang="zh-CN" altLang="en-US" sz="1400" b="1" dirty="0" smtClean="0">
                <a:latin typeface="Times New Roman" pitchFamily="18" charset="0"/>
              </a:rPr>
              <a:t>、</a:t>
            </a:r>
            <a:r>
              <a:rPr kumimoji="1" lang="en-US" altLang="zh-CN" sz="1400" b="1" dirty="0" smtClean="0">
                <a:latin typeface="Times New Roman" pitchFamily="18" charset="0"/>
              </a:rPr>
              <a:t>101</a:t>
            </a:r>
            <a:r>
              <a:rPr kumimoji="1" lang="zh-CN" altLang="en-US" sz="1400" b="1" dirty="0" smtClean="0">
                <a:latin typeface="Times New Roman" pitchFamily="18" charset="0"/>
              </a:rPr>
              <a:t>这三种情况，这三种情况下</a:t>
            </a:r>
            <a:endParaRPr kumimoji="1" lang="zh-CN" altLang="en-US" sz="1400" b="1" dirty="0">
              <a:latin typeface="Times New Roman" pitchFamily="18" charset="0"/>
            </a:endParaRPr>
          </a:p>
        </p:txBody>
      </p:sp>
      <p:graphicFrame>
        <p:nvGraphicFramePr>
          <p:cNvPr id="34826" name="Object 10"/>
          <p:cNvGraphicFramePr>
            <a:graphicFrameLocks noChangeAspect="1"/>
          </p:cNvGraphicFramePr>
          <p:nvPr/>
        </p:nvGraphicFramePr>
        <p:xfrm>
          <a:off x="7162800" y="2944812"/>
          <a:ext cx="1038225" cy="342900"/>
        </p:xfrm>
        <a:graphic>
          <a:graphicData uri="http://schemas.openxmlformats.org/presentationml/2006/ole">
            <p:oleObj spid="_x0000_s34826" name="Equation" r:id="rId7" imgW="825480" imgH="279360" progId="Equation.DSMT4">
              <p:embed/>
            </p:oleObj>
          </a:graphicData>
        </a:graphic>
      </p:graphicFrame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990600" y="3325812"/>
            <a:ext cx="6629400" cy="54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r>
              <a:rPr kumimoji="1" lang="en-US" altLang="zh-CN" sz="1400" b="1" dirty="0" smtClean="0">
                <a:latin typeface="Times New Roman" pitchFamily="18" charset="0"/>
              </a:rPr>
              <a:t>  </a:t>
            </a:r>
            <a:r>
              <a:rPr kumimoji="1" lang="zh-CN" altLang="en-US" sz="1400" b="1" dirty="0" smtClean="0">
                <a:latin typeface="Times New Roman" pitchFamily="18" charset="0"/>
              </a:rPr>
              <a:t>因此，</a:t>
            </a:r>
            <a:endParaRPr kumimoji="1" lang="zh-CN" altLang="en-US" sz="1400" b="1" dirty="0">
              <a:latin typeface="Times New Roman" pitchFamily="18" charset="0"/>
            </a:endParaRPr>
          </a:p>
        </p:txBody>
      </p:sp>
      <p:graphicFrame>
        <p:nvGraphicFramePr>
          <p:cNvPr id="34827" name="Object 11"/>
          <p:cNvGraphicFramePr>
            <a:graphicFrameLocks noChangeAspect="1"/>
          </p:cNvGraphicFramePr>
          <p:nvPr/>
        </p:nvGraphicFramePr>
        <p:xfrm>
          <a:off x="1684338" y="3435350"/>
          <a:ext cx="1050925" cy="311150"/>
        </p:xfrm>
        <a:graphic>
          <a:graphicData uri="http://schemas.openxmlformats.org/presentationml/2006/ole">
            <p:oleObj spid="_x0000_s34827" name="Equation" r:id="rId8" imgW="838080" imgH="253800" progId="Equation.DSMT4">
              <p:embed/>
            </p:oleObj>
          </a:graphicData>
        </a:graphic>
      </p:graphicFrame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48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48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8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8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9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43556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：单变量无反的逻辑设计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304800" y="666750"/>
            <a:ext cx="223996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r>
              <a:rPr kumimoji="1"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禁止</a:t>
            </a:r>
            <a:r>
              <a:rPr kumimoji="1" lang="zh-CN" altLang="en-US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逻辑</a:t>
            </a:r>
            <a:r>
              <a:rPr kumimoji="1"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法的相关定理：</a:t>
            </a:r>
            <a:endParaRPr kumimoji="1" lang="zh-CN" altLang="en-US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Rectangle 8"/>
          <p:cNvSpPr>
            <a:spLocks noChangeArrowheads="1"/>
          </p:cNvSpPr>
          <p:nvPr/>
        </p:nvSpPr>
        <p:spPr bwMode="auto">
          <a:xfrm>
            <a:off x="381000" y="971550"/>
            <a:ext cx="7793038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r>
              <a:rPr kumimoji="1" lang="zh-CN" altLang="en-US" sz="1400" b="1" dirty="0" smtClean="0">
                <a:solidFill>
                  <a:schemeClr val="accent6"/>
                </a:solidFill>
                <a:latin typeface="Times New Roman" pitchFamily="18" charset="0"/>
              </a:rPr>
              <a:t>定理</a:t>
            </a:r>
            <a:r>
              <a:rPr kumimoji="1" lang="en-US" altLang="zh-CN" sz="1400" b="1" dirty="0" smtClean="0">
                <a:solidFill>
                  <a:schemeClr val="accent6"/>
                </a:solidFill>
                <a:latin typeface="Times New Roman" pitchFamily="18" charset="0"/>
              </a:rPr>
              <a:t>2</a:t>
            </a:r>
            <a:r>
              <a:rPr kumimoji="1" lang="zh-CN" altLang="en-US" sz="1400" b="1" dirty="0" smtClean="0">
                <a:solidFill>
                  <a:schemeClr val="accent6"/>
                </a:solidFill>
                <a:latin typeface="Times New Roman" pitchFamily="18" charset="0"/>
              </a:rPr>
              <a:t>：</a:t>
            </a:r>
            <a:r>
              <a:rPr kumimoji="1" lang="zh-CN" altLang="en-US" sz="1400" b="1" dirty="0" smtClean="0">
                <a:latin typeface="Times New Roman" pitchFamily="18" charset="0"/>
              </a:rPr>
              <a:t>任何</a:t>
            </a:r>
            <a:r>
              <a:rPr kumimoji="1" lang="zh-CN" altLang="en-US" sz="1400" b="1" dirty="0">
                <a:latin typeface="Times New Roman" pitchFamily="18" charset="0"/>
              </a:rPr>
              <a:t>函数同不属于它的最小项之和的非相“与”</a:t>
            </a:r>
            <a:r>
              <a:rPr kumimoji="1" lang="zh-CN" altLang="en-US" sz="1400" b="1" dirty="0" smtClean="0">
                <a:latin typeface="Times New Roman" pitchFamily="18" charset="0"/>
              </a:rPr>
              <a:t>，其</a:t>
            </a:r>
            <a:r>
              <a:rPr kumimoji="1" lang="zh-CN" altLang="en-US" sz="1400" b="1" dirty="0">
                <a:latin typeface="Times New Roman" pitchFamily="18" charset="0"/>
              </a:rPr>
              <a:t>逻辑功能不变。</a:t>
            </a:r>
          </a:p>
        </p:txBody>
      </p:sp>
      <p:graphicFrame>
        <p:nvGraphicFramePr>
          <p:cNvPr id="18" name="Object 9"/>
          <p:cNvGraphicFramePr>
            <a:graphicFrameLocks noChangeAspect="1"/>
          </p:cNvGraphicFramePr>
          <p:nvPr/>
        </p:nvGraphicFramePr>
        <p:xfrm>
          <a:off x="1558925" y="1581150"/>
          <a:ext cx="3662363" cy="368300"/>
        </p:xfrm>
        <a:graphic>
          <a:graphicData uri="http://schemas.openxmlformats.org/presentationml/2006/ole">
            <p:oleObj spid="_x0000_s36872" name="Equation" r:id="rId3" imgW="2577960" imgH="266400" progId="Equation.DSMT4">
              <p:embed/>
            </p:oleObj>
          </a:graphicData>
        </a:graphic>
      </p:graphicFrame>
      <p:graphicFrame>
        <p:nvGraphicFramePr>
          <p:cNvPr id="36873" name="Object 9"/>
          <p:cNvGraphicFramePr>
            <a:graphicFrameLocks noChangeAspect="1"/>
          </p:cNvGraphicFramePr>
          <p:nvPr/>
        </p:nvGraphicFramePr>
        <p:xfrm>
          <a:off x="2362200" y="2114550"/>
          <a:ext cx="1912937" cy="368300"/>
        </p:xfrm>
        <a:graphic>
          <a:graphicData uri="http://schemas.openxmlformats.org/presentationml/2006/ole">
            <p:oleObj spid="_x0000_s36873" name="Equation" r:id="rId4" imgW="1346040" imgH="266400" progId="Equation.DSMT4">
              <p:embed/>
            </p:oleObj>
          </a:graphicData>
        </a:graphic>
      </p:graphicFrame>
      <p:graphicFrame>
        <p:nvGraphicFramePr>
          <p:cNvPr id="36874" name="Object 9"/>
          <p:cNvGraphicFramePr>
            <a:graphicFrameLocks noChangeAspect="1"/>
          </p:cNvGraphicFramePr>
          <p:nvPr/>
        </p:nvGraphicFramePr>
        <p:xfrm>
          <a:off x="1981200" y="2724150"/>
          <a:ext cx="2832100" cy="368300"/>
        </p:xfrm>
        <a:graphic>
          <a:graphicData uri="http://schemas.openxmlformats.org/presentationml/2006/ole">
            <p:oleObj spid="_x0000_s36874" name="Equation" r:id="rId5" imgW="1993680" imgH="266400" progId="Equation.DSMT4">
              <p:embed/>
            </p:oleObj>
          </a:graphicData>
        </a:graphic>
      </p:graphicFrame>
      <p:graphicFrame>
        <p:nvGraphicFramePr>
          <p:cNvPr id="36875" name="Object 9"/>
          <p:cNvGraphicFramePr>
            <a:graphicFrameLocks noChangeAspect="1"/>
          </p:cNvGraphicFramePr>
          <p:nvPr/>
        </p:nvGraphicFramePr>
        <p:xfrm>
          <a:off x="2819400" y="3327929"/>
          <a:ext cx="920750" cy="368300"/>
        </p:xfrm>
        <a:graphic>
          <a:graphicData uri="http://schemas.openxmlformats.org/presentationml/2006/ole">
            <p:oleObj spid="_x0000_s36875" name="Equation" r:id="rId6" imgW="647640" imgH="266400" progId="Equation.DSMT4">
              <p:embed/>
            </p:oleObj>
          </a:graphicData>
        </a:graphic>
      </p:graphicFrame>
      <p:graphicFrame>
        <p:nvGraphicFramePr>
          <p:cNvPr id="36877" name="Object 9"/>
          <p:cNvGraphicFramePr>
            <a:graphicFrameLocks noChangeAspect="1"/>
          </p:cNvGraphicFramePr>
          <p:nvPr/>
        </p:nvGraphicFramePr>
        <p:xfrm>
          <a:off x="2133600" y="3943350"/>
          <a:ext cx="2292350" cy="368300"/>
        </p:xfrm>
        <a:graphic>
          <a:graphicData uri="http://schemas.openxmlformats.org/presentationml/2006/ole">
            <p:oleObj spid="_x0000_s36877" name="Equation" r:id="rId7" imgW="1612800" imgH="266400" progId="Equation.DSMT4">
              <p:embed/>
            </p:oleObj>
          </a:graphicData>
        </a:graphic>
      </p:graphicFrame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8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8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6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68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68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8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43556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：单变量无反的逻辑设计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304800" y="666750"/>
            <a:ext cx="223996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r>
              <a:rPr kumimoji="1"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禁止</a:t>
            </a:r>
            <a:r>
              <a:rPr kumimoji="1" lang="zh-CN" altLang="en-US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逻辑</a:t>
            </a:r>
            <a:r>
              <a:rPr kumimoji="1"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法的相关定理：</a:t>
            </a:r>
            <a:endParaRPr kumimoji="1" lang="zh-CN" altLang="en-US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Rectangle 8"/>
          <p:cNvSpPr>
            <a:spLocks noChangeArrowheads="1"/>
          </p:cNvSpPr>
          <p:nvPr/>
        </p:nvSpPr>
        <p:spPr bwMode="auto">
          <a:xfrm>
            <a:off x="381000" y="971550"/>
            <a:ext cx="8305800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r>
              <a:rPr kumimoji="1"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定理</a:t>
            </a:r>
            <a:r>
              <a:rPr kumimoji="1"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kumimoji="1"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kumimoji="1" lang="zh-CN" altLang="en-US" sz="1400" dirty="0" smtClean="0">
                <a:latin typeface="微软雅黑" pitchFamily="34" charset="-122"/>
                <a:ea typeface="微软雅黑" pitchFamily="34" charset="-122"/>
              </a:rPr>
              <a:t>任何函数同属于它的最小项之和的非相“与”，则相当于从该函数中扣除这些最小项。</a:t>
            </a: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33400" y="1504950"/>
            <a:ext cx="7793037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r>
              <a:rPr kumimoji="1" lang="zh-CN" altLang="en-US" sz="2000" b="1" dirty="0" smtClean="0">
                <a:latin typeface="Times New Roman" pitchFamily="18" charset="0"/>
              </a:rPr>
              <a:t>   </a:t>
            </a:r>
            <a:endParaRPr kumimoji="1" lang="zh-CN" altLang="en-US" sz="1400" b="1" dirty="0">
              <a:latin typeface="Times New Roman" pitchFamily="18" charset="0"/>
            </a:endParaRPr>
          </a:p>
        </p:txBody>
      </p:sp>
      <p:graphicFrame>
        <p:nvGraphicFramePr>
          <p:cNvPr id="11" name="Object 3"/>
          <p:cNvGraphicFramePr>
            <a:graphicFrameLocks noChangeAspect="1"/>
          </p:cNvGraphicFramePr>
          <p:nvPr/>
        </p:nvGraphicFramePr>
        <p:xfrm>
          <a:off x="2062163" y="1504950"/>
          <a:ext cx="2655887" cy="323850"/>
        </p:xfrm>
        <a:graphic>
          <a:graphicData uri="http://schemas.openxmlformats.org/presentationml/2006/ole">
            <p:oleObj spid="_x0000_s38919" name="Equation" r:id="rId3" imgW="1968480" imgH="228600" progId="Equation.DSMT4">
              <p:embed/>
            </p:oleObj>
          </a:graphicData>
        </a:graphic>
      </p:graphicFrame>
      <p:graphicFrame>
        <p:nvGraphicFramePr>
          <p:cNvPr id="38921" name="Object 3"/>
          <p:cNvGraphicFramePr>
            <a:graphicFrameLocks noChangeAspect="1"/>
          </p:cNvGraphicFramePr>
          <p:nvPr/>
        </p:nvGraphicFramePr>
        <p:xfrm>
          <a:off x="1676400" y="2038350"/>
          <a:ext cx="3273425" cy="609600"/>
        </p:xfrm>
        <a:graphic>
          <a:graphicData uri="http://schemas.openxmlformats.org/presentationml/2006/ole">
            <p:oleObj spid="_x0000_s38921" name="Equation" r:id="rId4" imgW="2730240" imgH="482400" progId="Equation.DSMT4">
              <p:embed/>
            </p:oleObj>
          </a:graphicData>
        </a:graphic>
      </p:graphicFrame>
      <p:graphicFrame>
        <p:nvGraphicFramePr>
          <p:cNvPr id="38922" name="Object 3"/>
          <p:cNvGraphicFramePr>
            <a:graphicFrameLocks noChangeAspect="1"/>
          </p:cNvGraphicFramePr>
          <p:nvPr/>
        </p:nvGraphicFramePr>
        <p:xfrm>
          <a:off x="2667000" y="2495550"/>
          <a:ext cx="2954338" cy="609600"/>
        </p:xfrm>
        <a:graphic>
          <a:graphicData uri="http://schemas.openxmlformats.org/presentationml/2006/ole">
            <p:oleObj spid="_x0000_s38922" name="Equation" r:id="rId5" imgW="2463480" imgH="482400" progId="Equation.DSMT4">
              <p:embed/>
            </p:oleObj>
          </a:graphicData>
        </a:graphic>
      </p:graphicFrame>
      <p:graphicFrame>
        <p:nvGraphicFramePr>
          <p:cNvPr id="38923" name="Object 3"/>
          <p:cNvGraphicFramePr>
            <a:graphicFrameLocks noChangeAspect="1"/>
          </p:cNvGraphicFramePr>
          <p:nvPr/>
        </p:nvGraphicFramePr>
        <p:xfrm>
          <a:off x="2667000" y="2876550"/>
          <a:ext cx="1492250" cy="609600"/>
        </p:xfrm>
        <a:graphic>
          <a:graphicData uri="http://schemas.openxmlformats.org/presentationml/2006/ole">
            <p:oleObj spid="_x0000_s38923" name="Equation" r:id="rId6" imgW="1244520" imgH="482400" progId="Equation.DSMT4">
              <p:embed/>
            </p:oleObj>
          </a:graphicData>
        </a:graphic>
      </p:graphicFrame>
      <p:graphicFrame>
        <p:nvGraphicFramePr>
          <p:cNvPr id="38924" name="Object 3"/>
          <p:cNvGraphicFramePr>
            <a:graphicFrameLocks noChangeAspect="1"/>
          </p:cNvGraphicFramePr>
          <p:nvPr/>
        </p:nvGraphicFramePr>
        <p:xfrm>
          <a:off x="2833688" y="3257550"/>
          <a:ext cx="715962" cy="577850"/>
        </p:xfrm>
        <a:graphic>
          <a:graphicData uri="http://schemas.openxmlformats.org/presentationml/2006/ole">
            <p:oleObj spid="_x0000_s38924" name="Equation" r:id="rId7" imgW="596880" imgH="457200" progId="Equation.DSMT4">
              <p:embed/>
            </p:oleObj>
          </a:graphicData>
        </a:graphic>
      </p:graphicFrame>
      <p:sp>
        <p:nvSpPr>
          <p:cNvPr id="20" name="Rectangle 8"/>
          <p:cNvSpPr>
            <a:spLocks noChangeArrowheads="1"/>
          </p:cNvSpPr>
          <p:nvPr/>
        </p:nvSpPr>
        <p:spPr bwMode="auto">
          <a:xfrm>
            <a:off x="381000" y="4171950"/>
            <a:ext cx="8305800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kumimoji="1" lang="zh-CN" altLang="en-US" sz="1400" dirty="0" smtClean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38927" name="Object 15"/>
          <p:cNvGraphicFramePr>
            <a:graphicFrameLocks noChangeAspect="1"/>
          </p:cNvGraphicFramePr>
          <p:nvPr/>
        </p:nvGraphicFramePr>
        <p:xfrm>
          <a:off x="1143000" y="3867150"/>
          <a:ext cx="5027612" cy="609600"/>
        </p:xfrm>
        <a:graphic>
          <a:graphicData uri="http://schemas.openxmlformats.org/presentationml/2006/ole">
            <p:oleObj spid="_x0000_s38927" name="Equation" r:id="rId8" imgW="4190760" imgH="482400" progId="Equation.DSMT4">
              <p:embed/>
            </p:oleObj>
          </a:graphicData>
        </a:graphic>
      </p:graphicFrame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9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9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9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9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89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89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43556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：单变量无反的逻辑设计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304800" y="666750"/>
            <a:ext cx="223996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r>
              <a:rPr kumimoji="1"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kumimoji="1"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kumimoji="1"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：将函数</a:t>
            </a:r>
            <a:endParaRPr kumimoji="1" lang="zh-CN" altLang="en-US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37899" name="Object 11"/>
          <p:cNvGraphicFramePr>
            <a:graphicFrameLocks noChangeAspect="1"/>
          </p:cNvGraphicFramePr>
          <p:nvPr/>
        </p:nvGraphicFramePr>
        <p:xfrm>
          <a:off x="1443038" y="768350"/>
          <a:ext cx="620712" cy="233363"/>
        </p:xfrm>
        <a:graphic>
          <a:graphicData uri="http://schemas.openxmlformats.org/presentationml/2006/ole">
            <p:oleObj spid="_x0000_s45058" name="Equation" r:id="rId3" imgW="672840" imgH="253800" progId="Equation.DSMT4">
              <p:embed/>
            </p:oleObj>
          </a:graphicData>
        </a:graphic>
      </p:graphicFrame>
      <p:sp>
        <p:nvSpPr>
          <p:cNvPr id="96" name="Rectangle 2"/>
          <p:cNvSpPr>
            <a:spLocks noChangeArrowheads="1"/>
          </p:cNvSpPr>
          <p:nvPr/>
        </p:nvSpPr>
        <p:spPr bwMode="auto">
          <a:xfrm>
            <a:off x="1981200" y="666750"/>
            <a:ext cx="223996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r>
              <a:rPr kumimoji="1"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化成单变量无反的逻辑函数</a:t>
            </a:r>
            <a:endParaRPr kumimoji="1" lang="zh-CN" altLang="en-US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37901" name="Object 13"/>
          <p:cNvGraphicFramePr>
            <a:graphicFrameLocks noChangeAspect="1"/>
          </p:cNvGraphicFramePr>
          <p:nvPr/>
        </p:nvGraphicFramePr>
        <p:xfrm>
          <a:off x="2209800" y="1200150"/>
          <a:ext cx="1487488" cy="279400"/>
        </p:xfrm>
        <a:graphic>
          <a:graphicData uri="http://schemas.openxmlformats.org/presentationml/2006/ole">
            <p:oleObj spid="_x0000_s45060" name="Equation" r:id="rId4" imgW="1612800" imgH="304560" progId="Equation.DSMT4">
              <p:embed/>
            </p:oleObj>
          </a:graphicData>
        </a:graphic>
      </p:graphicFrame>
      <p:graphicFrame>
        <p:nvGraphicFramePr>
          <p:cNvPr id="37902" name="Object 14"/>
          <p:cNvGraphicFramePr>
            <a:graphicFrameLocks noChangeAspect="1"/>
          </p:cNvGraphicFramePr>
          <p:nvPr/>
        </p:nvGraphicFramePr>
        <p:xfrm>
          <a:off x="2438400" y="1657350"/>
          <a:ext cx="620712" cy="233363"/>
        </p:xfrm>
        <a:graphic>
          <a:graphicData uri="http://schemas.openxmlformats.org/presentationml/2006/ole">
            <p:oleObj spid="_x0000_s45061" name="Equation" r:id="rId5" imgW="672840" imgH="253800" progId="Equation.DSMT4">
              <p:embed/>
            </p:oleObj>
          </a:graphicData>
        </a:graphic>
      </p:graphicFrame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9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9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9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43556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：单变量无反的逻辑设计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304800" y="666750"/>
            <a:ext cx="223996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r>
              <a:rPr kumimoji="1"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kumimoji="1"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kumimoji="1"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：将函数</a:t>
            </a:r>
            <a:endParaRPr kumimoji="1" lang="zh-CN" altLang="en-US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4" name="Rectangle 2"/>
          <p:cNvSpPr>
            <a:spLocks noChangeArrowheads="1"/>
          </p:cNvSpPr>
          <p:nvPr/>
        </p:nvSpPr>
        <p:spPr bwMode="auto">
          <a:xfrm>
            <a:off x="2335213" y="2847975"/>
            <a:ext cx="695325" cy="639762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" name="AutoShape 6"/>
          <p:cNvSpPr>
            <a:spLocks noChangeArrowheads="1"/>
          </p:cNvSpPr>
          <p:nvPr/>
        </p:nvSpPr>
        <p:spPr bwMode="auto">
          <a:xfrm rot="5400000">
            <a:off x="2205831" y="3283744"/>
            <a:ext cx="962025" cy="446088"/>
          </a:xfrm>
          <a:prstGeom prst="flowChartTerminator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" name="AutoShape 7"/>
          <p:cNvSpPr>
            <a:spLocks noChangeArrowheads="1"/>
          </p:cNvSpPr>
          <p:nvPr/>
        </p:nvSpPr>
        <p:spPr bwMode="auto">
          <a:xfrm>
            <a:off x="3449638" y="3360737"/>
            <a:ext cx="935037" cy="576263"/>
          </a:xfrm>
          <a:prstGeom prst="wedgeRoundRectCallout">
            <a:avLst>
              <a:gd name="adj1" fmla="val -108912"/>
              <a:gd name="adj2" fmla="val 8954"/>
              <a:gd name="adj3" fmla="val 16667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60" name="Oval 8"/>
          <p:cNvSpPr>
            <a:spLocks noChangeArrowheads="1"/>
          </p:cNvSpPr>
          <p:nvPr/>
        </p:nvSpPr>
        <p:spPr bwMode="auto">
          <a:xfrm>
            <a:off x="6053138" y="2906712"/>
            <a:ext cx="492125" cy="490538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" name="AutoShape 9"/>
          <p:cNvSpPr>
            <a:spLocks noChangeArrowheads="1"/>
          </p:cNvSpPr>
          <p:nvPr/>
        </p:nvSpPr>
        <p:spPr bwMode="auto">
          <a:xfrm>
            <a:off x="7050088" y="2871787"/>
            <a:ext cx="1042987" cy="633413"/>
          </a:xfrm>
          <a:prstGeom prst="wedgeRoundRectCallout">
            <a:avLst>
              <a:gd name="adj1" fmla="val -94903"/>
              <a:gd name="adj2" fmla="val 6139"/>
              <a:gd name="adj3" fmla="val 16667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AB</a:t>
            </a:r>
          </a:p>
        </p:txBody>
      </p:sp>
      <p:grpSp>
        <p:nvGrpSpPr>
          <p:cNvPr id="65" name="Group 13"/>
          <p:cNvGrpSpPr>
            <a:grpSpLocks/>
          </p:cNvGrpSpPr>
          <p:nvPr/>
        </p:nvGrpSpPr>
        <p:grpSpPr bwMode="auto">
          <a:xfrm>
            <a:off x="3810000" y="2039937"/>
            <a:ext cx="1220787" cy="457200"/>
            <a:chOff x="2211" y="2364"/>
            <a:chExt cx="769" cy="288"/>
          </a:xfrm>
        </p:grpSpPr>
        <p:sp>
          <p:nvSpPr>
            <p:cNvPr id="66" name="Line 14"/>
            <p:cNvSpPr>
              <a:spLocks noChangeShapeType="1"/>
            </p:cNvSpPr>
            <p:nvPr/>
          </p:nvSpPr>
          <p:spPr bwMode="auto">
            <a:xfrm>
              <a:off x="2211" y="2614"/>
              <a:ext cx="63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Text Box 15"/>
            <p:cNvSpPr txBox="1">
              <a:spLocks noChangeArrowheads="1"/>
            </p:cNvSpPr>
            <p:nvPr/>
          </p:nvSpPr>
          <p:spPr bwMode="auto">
            <a:xfrm>
              <a:off x="2317" y="2364"/>
              <a:ext cx="6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ahoma" pitchFamily="34" charset="0"/>
                  <a:ea typeface="华文中宋" pitchFamily="2" charset="-122"/>
                </a:rPr>
                <a:t>取反</a:t>
              </a:r>
            </a:p>
          </p:txBody>
        </p:sp>
      </p:grpSp>
      <p:grpSp>
        <p:nvGrpSpPr>
          <p:cNvPr id="69" name="Group 17"/>
          <p:cNvGrpSpPr>
            <a:grpSpLocks/>
          </p:cNvGrpSpPr>
          <p:nvPr/>
        </p:nvGrpSpPr>
        <p:grpSpPr bwMode="auto">
          <a:xfrm>
            <a:off x="1447800" y="1200150"/>
            <a:ext cx="1598613" cy="2900362"/>
            <a:chOff x="576" y="1797"/>
            <a:chExt cx="1007" cy="1827"/>
          </a:xfrm>
        </p:grpSpPr>
        <p:sp>
          <p:nvSpPr>
            <p:cNvPr id="70" name="Text Box 18"/>
            <p:cNvSpPr txBox="1">
              <a:spLocks noChangeArrowheads="1"/>
            </p:cNvSpPr>
            <p:nvPr/>
          </p:nvSpPr>
          <p:spPr bwMode="auto">
            <a:xfrm>
              <a:off x="1243" y="2122"/>
              <a:ext cx="339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9068" tIns="39534" rIns="79068" bIns="39534">
              <a:spAutoFit/>
            </a:bodyPr>
            <a:lstStyle/>
            <a:p>
              <a:pPr defTabSz="790575" eaLnBrk="1" hangingPunct="1">
                <a:spcBef>
                  <a:spcPct val="50000"/>
                </a:spcBef>
              </a:pPr>
              <a:r>
                <a:rPr lang="en-US" altLang="zh-CN" sz="2400" b="1" dirty="0"/>
                <a:t>0</a:t>
              </a:r>
            </a:p>
          </p:txBody>
        </p:sp>
        <p:sp>
          <p:nvSpPr>
            <p:cNvPr id="71" name="Rectangle 19"/>
            <p:cNvSpPr>
              <a:spLocks noChangeArrowheads="1"/>
            </p:cNvSpPr>
            <p:nvPr/>
          </p:nvSpPr>
          <p:spPr bwMode="auto">
            <a:xfrm>
              <a:off x="1140" y="2019"/>
              <a:ext cx="443" cy="1605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" name="Line 20"/>
            <p:cNvSpPr>
              <a:spLocks noChangeShapeType="1"/>
            </p:cNvSpPr>
            <p:nvPr/>
          </p:nvSpPr>
          <p:spPr bwMode="auto">
            <a:xfrm rot="-5400000">
              <a:off x="1362" y="2180"/>
              <a:ext cx="0" cy="4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Text Box 21"/>
            <p:cNvSpPr txBox="1">
              <a:spLocks noChangeArrowheads="1"/>
            </p:cNvSpPr>
            <p:nvPr/>
          </p:nvSpPr>
          <p:spPr bwMode="auto">
            <a:xfrm>
              <a:off x="576" y="1891"/>
              <a:ext cx="518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9068" tIns="39534" rIns="79068" bIns="39534">
              <a:spAutoFit/>
            </a:bodyPr>
            <a:lstStyle/>
            <a:p>
              <a:pPr defTabSz="790575" eaLnBrk="1" hangingPunct="1">
                <a:spcBef>
                  <a:spcPct val="50000"/>
                </a:spcBef>
              </a:pPr>
              <a:r>
                <a:rPr lang="en-US" altLang="zh-CN" sz="2400" b="1" dirty="0"/>
                <a:t>  AB</a:t>
              </a:r>
            </a:p>
          </p:txBody>
        </p:sp>
        <p:sp>
          <p:nvSpPr>
            <p:cNvPr id="74" name="Text Box 22"/>
            <p:cNvSpPr txBox="1">
              <a:spLocks noChangeArrowheads="1"/>
            </p:cNvSpPr>
            <p:nvPr/>
          </p:nvSpPr>
          <p:spPr bwMode="auto">
            <a:xfrm>
              <a:off x="751" y="2145"/>
              <a:ext cx="429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9068" tIns="39534" rIns="79068" bIns="39534">
              <a:spAutoFit/>
            </a:bodyPr>
            <a:lstStyle/>
            <a:p>
              <a:pPr algn="ctr" defTabSz="790575" eaLnBrk="1" hangingPunct="1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sz="2400" b="1" dirty="0"/>
                <a:t>00</a:t>
              </a:r>
            </a:p>
          </p:txBody>
        </p:sp>
        <p:sp>
          <p:nvSpPr>
            <p:cNvPr id="75" name="Text Box 23"/>
            <p:cNvSpPr txBox="1">
              <a:spLocks noChangeArrowheads="1"/>
            </p:cNvSpPr>
            <p:nvPr/>
          </p:nvSpPr>
          <p:spPr bwMode="auto">
            <a:xfrm>
              <a:off x="751" y="2981"/>
              <a:ext cx="429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9068" tIns="39534" rIns="79068" bIns="39534">
              <a:spAutoFit/>
            </a:bodyPr>
            <a:lstStyle/>
            <a:p>
              <a:pPr algn="ctr" defTabSz="790575" eaLnBrk="1" hangingPunct="1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sz="2400" b="1"/>
                <a:t>11</a:t>
              </a:r>
            </a:p>
          </p:txBody>
        </p:sp>
        <p:sp>
          <p:nvSpPr>
            <p:cNvPr id="76" name="Text Box 24"/>
            <p:cNvSpPr txBox="1">
              <a:spLocks noChangeArrowheads="1"/>
            </p:cNvSpPr>
            <p:nvPr/>
          </p:nvSpPr>
          <p:spPr bwMode="auto">
            <a:xfrm>
              <a:off x="751" y="2528"/>
              <a:ext cx="429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9068" tIns="39534" rIns="79068" bIns="39534">
              <a:spAutoFit/>
            </a:bodyPr>
            <a:lstStyle/>
            <a:p>
              <a:pPr algn="ctr" defTabSz="790575" eaLnBrk="1" hangingPunct="1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sz="2400" b="1"/>
                <a:t>01</a:t>
              </a:r>
            </a:p>
          </p:txBody>
        </p:sp>
        <p:sp>
          <p:nvSpPr>
            <p:cNvPr id="77" name="Text Box 25"/>
            <p:cNvSpPr txBox="1">
              <a:spLocks noChangeArrowheads="1"/>
            </p:cNvSpPr>
            <p:nvPr/>
          </p:nvSpPr>
          <p:spPr bwMode="auto">
            <a:xfrm>
              <a:off x="751" y="3349"/>
              <a:ext cx="429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9068" tIns="39534" rIns="79068" bIns="39534">
              <a:spAutoFit/>
            </a:bodyPr>
            <a:lstStyle/>
            <a:p>
              <a:pPr algn="ctr" defTabSz="790575" eaLnBrk="1" hangingPunct="1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sz="2400" b="1"/>
                <a:t>10</a:t>
              </a:r>
            </a:p>
          </p:txBody>
        </p:sp>
        <p:sp>
          <p:nvSpPr>
            <p:cNvPr id="78" name="Line 26"/>
            <p:cNvSpPr>
              <a:spLocks noChangeShapeType="1"/>
            </p:cNvSpPr>
            <p:nvPr/>
          </p:nvSpPr>
          <p:spPr bwMode="auto">
            <a:xfrm flipH="1" flipV="1">
              <a:off x="778" y="1797"/>
              <a:ext cx="361" cy="22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" name="Line 27"/>
            <p:cNvSpPr>
              <a:spLocks noChangeShapeType="1"/>
            </p:cNvSpPr>
            <p:nvPr/>
          </p:nvSpPr>
          <p:spPr bwMode="auto">
            <a:xfrm rot="-5400000">
              <a:off x="1361" y="2613"/>
              <a:ext cx="0" cy="4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Line 28"/>
            <p:cNvSpPr>
              <a:spLocks noChangeShapeType="1"/>
            </p:cNvSpPr>
            <p:nvPr/>
          </p:nvSpPr>
          <p:spPr bwMode="auto">
            <a:xfrm rot="-5400000">
              <a:off x="1362" y="3028"/>
              <a:ext cx="0" cy="4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Text Box 29"/>
            <p:cNvSpPr txBox="1">
              <a:spLocks noChangeArrowheads="1"/>
            </p:cNvSpPr>
            <p:nvPr/>
          </p:nvSpPr>
          <p:spPr bwMode="auto">
            <a:xfrm>
              <a:off x="1251" y="3314"/>
              <a:ext cx="271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9068" tIns="39534" rIns="79068" bIns="39534">
              <a:spAutoFit/>
            </a:bodyPr>
            <a:lstStyle/>
            <a:p>
              <a:pPr defTabSz="790575" eaLnBrk="1" hangingPunct="1">
                <a:spcBef>
                  <a:spcPct val="50000"/>
                </a:spcBef>
              </a:pPr>
              <a:r>
                <a:rPr lang="en-US" altLang="zh-CN" sz="2400" b="1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82" name="Text Box 30"/>
            <p:cNvSpPr txBox="1">
              <a:spLocks noChangeArrowheads="1"/>
            </p:cNvSpPr>
            <p:nvPr/>
          </p:nvSpPr>
          <p:spPr bwMode="auto">
            <a:xfrm>
              <a:off x="1243" y="2506"/>
              <a:ext cx="330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9068" tIns="39534" rIns="79068" bIns="39534">
              <a:spAutoFit/>
            </a:bodyPr>
            <a:lstStyle/>
            <a:p>
              <a:pPr defTabSz="790575" eaLnBrk="1" hangingPunct="1">
                <a:spcBef>
                  <a:spcPct val="50000"/>
                </a:spcBef>
              </a:pPr>
              <a:r>
                <a:rPr lang="en-US" altLang="zh-CN" sz="2400" b="1"/>
                <a:t>0</a:t>
              </a:r>
            </a:p>
          </p:txBody>
        </p:sp>
        <p:sp>
          <p:nvSpPr>
            <p:cNvPr id="83" name="Text Box 31"/>
            <p:cNvSpPr txBox="1">
              <a:spLocks noChangeArrowheads="1"/>
            </p:cNvSpPr>
            <p:nvPr/>
          </p:nvSpPr>
          <p:spPr bwMode="auto">
            <a:xfrm>
              <a:off x="1245" y="2929"/>
              <a:ext cx="297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9068" tIns="39534" rIns="79068" bIns="39534">
              <a:spAutoFit/>
            </a:bodyPr>
            <a:lstStyle/>
            <a:p>
              <a:pPr defTabSz="790575" eaLnBrk="1" hangingPunct="1">
                <a:spcBef>
                  <a:spcPct val="50000"/>
                </a:spcBef>
              </a:pPr>
              <a:r>
                <a:rPr lang="en-US" altLang="zh-CN" sz="2400" b="1"/>
                <a:t>0</a:t>
              </a:r>
            </a:p>
          </p:txBody>
        </p:sp>
      </p:grpSp>
      <p:grpSp>
        <p:nvGrpSpPr>
          <p:cNvPr id="84" name="Group 32"/>
          <p:cNvGrpSpPr>
            <a:grpSpLocks/>
          </p:cNvGrpSpPr>
          <p:nvPr/>
        </p:nvGrpSpPr>
        <p:grpSpPr bwMode="auto">
          <a:xfrm>
            <a:off x="5051425" y="1144587"/>
            <a:ext cx="1598613" cy="2900363"/>
            <a:chOff x="4506" y="1921"/>
            <a:chExt cx="1007" cy="1827"/>
          </a:xfrm>
        </p:grpSpPr>
        <p:sp>
          <p:nvSpPr>
            <p:cNvPr id="85" name="Rectangle 33"/>
            <p:cNvSpPr>
              <a:spLocks noChangeArrowheads="1"/>
            </p:cNvSpPr>
            <p:nvPr/>
          </p:nvSpPr>
          <p:spPr bwMode="auto">
            <a:xfrm>
              <a:off x="5070" y="2143"/>
              <a:ext cx="443" cy="1605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" name="Line 34"/>
            <p:cNvSpPr>
              <a:spLocks noChangeShapeType="1"/>
            </p:cNvSpPr>
            <p:nvPr/>
          </p:nvSpPr>
          <p:spPr bwMode="auto">
            <a:xfrm rot="-5400000">
              <a:off x="5292" y="2304"/>
              <a:ext cx="0" cy="4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Text Box 35"/>
            <p:cNvSpPr txBox="1">
              <a:spLocks noChangeArrowheads="1"/>
            </p:cNvSpPr>
            <p:nvPr/>
          </p:nvSpPr>
          <p:spPr bwMode="auto">
            <a:xfrm>
              <a:off x="4506" y="2015"/>
              <a:ext cx="518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9068" tIns="39534" rIns="79068" bIns="39534">
              <a:spAutoFit/>
            </a:bodyPr>
            <a:lstStyle/>
            <a:p>
              <a:pPr defTabSz="790575" eaLnBrk="1" hangingPunct="1">
                <a:spcBef>
                  <a:spcPct val="50000"/>
                </a:spcBef>
              </a:pPr>
              <a:r>
                <a:rPr lang="en-US" altLang="zh-CN" sz="2400" b="1"/>
                <a:t>  AB</a:t>
              </a:r>
            </a:p>
          </p:txBody>
        </p:sp>
        <p:sp>
          <p:nvSpPr>
            <p:cNvPr id="88" name="Text Box 36"/>
            <p:cNvSpPr txBox="1">
              <a:spLocks noChangeArrowheads="1"/>
            </p:cNvSpPr>
            <p:nvPr/>
          </p:nvSpPr>
          <p:spPr bwMode="auto">
            <a:xfrm>
              <a:off x="4681" y="2269"/>
              <a:ext cx="429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9068" tIns="39534" rIns="79068" bIns="39534">
              <a:spAutoFit/>
            </a:bodyPr>
            <a:lstStyle/>
            <a:p>
              <a:pPr algn="ctr" defTabSz="790575" eaLnBrk="1" hangingPunct="1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sz="2400" b="1"/>
                <a:t>00</a:t>
              </a:r>
            </a:p>
          </p:txBody>
        </p:sp>
        <p:sp>
          <p:nvSpPr>
            <p:cNvPr id="89" name="Text Box 37"/>
            <p:cNvSpPr txBox="1">
              <a:spLocks noChangeArrowheads="1"/>
            </p:cNvSpPr>
            <p:nvPr/>
          </p:nvSpPr>
          <p:spPr bwMode="auto">
            <a:xfrm>
              <a:off x="4681" y="3105"/>
              <a:ext cx="429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9068" tIns="39534" rIns="79068" bIns="39534">
              <a:spAutoFit/>
            </a:bodyPr>
            <a:lstStyle/>
            <a:p>
              <a:pPr algn="ctr" defTabSz="790575" eaLnBrk="1" hangingPunct="1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sz="2400" b="1"/>
                <a:t>11</a:t>
              </a:r>
            </a:p>
          </p:txBody>
        </p:sp>
        <p:sp>
          <p:nvSpPr>
            <p:cNvPr id="90" name="Text Box 38"/>
            <p:cNvSpPr txBox="1">
              <a:spLocks noChangeArrowheads="1"/>
            </p:cNvSpPr>
            <p:nvPr/>
          </p:nvSpPr>
          <p:spPr bwMode="auto">
            <a:xfrm>
              <a:off x="4681" y="2652"/>
              <a:ext cx="429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9068" tIns="39534" rIns="79068" bIns="39534">
              <a:spAutoFit/>
            </a:bodyPr>
            <a:lstStyle/>
            <a:p>
              <a:pPr algn="ctr" defTabSz="790575" eaLnBrk="1" hangingPunct="1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sz="2400" b="1"/>
                <a:t>01</a:t>
              </a:r>
            </a:p>
          </p:txBody>
        </p:sp>
        <p:sp>
          <p:nvSpPr>
            <p:cNvPr id="91" name="Text Box 39"/>
            <p:cNvSpPr txBox="1">
              <a:spLocks noChangeArrowheads="1"/>
            </p:cNvSpPr>
            <p:nvPr/>
          </p:nvSpPr>
          <p:spPr bwMode="auto">
            <a:xfrm>
              <a:off x="4681" y="3473"/>
              <a:ext cx="429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9068" tIns="39534" rIns="79068" bIns="39534">
              <a:spAutoFit/>
            </a:bodyPr>
            <a:lstStyle/>
            <a:p>
              <a:pPr algn="ctr" defTabSz="790575" eaLnBrk="1" hangingPunct="1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sz="2400" b="1"/>
                <a:t>10</a:t>
              </a:r>
            </a:p>
          </p:txBody>
        </p:sp>
        <p:sp>
          <p:nvSpPr>
            <p:cNvPr id="92" name="Line 40"/>
            <p:cNvSpPr>
              <a:spLocks noChangeShapeType="1"/>
            </p:cNvSpPr>
            <p:nvPr/>
          </p:nvSpPr>
          <p:spPr bwMode="auto">
            <a:xfrm flipH="1" flipV="1">
              <a:off x="4708" y="1921"/>
              <a:ext cx="361" cy="22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" name="Line 41"/>
            <p:cNvSpPr>
              <a:spLocks noChangeShapeType="1"/>
            </p:cNvSpPr>
            <p:nvPr/>
          </p:nvSpPr>
          <p:spPr bwMode="auto">
            <a:xfrm rot="-5400000">
              <a:off x="5291" y="2737"/>
              <a:ext cx="0" cy="4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Line 42"/>
            <p:cNvSpPr>
              <a:spLocks noChangeShapeType="1"/>
            </p:cNvSpPr>
            <p:nvPr/>
          </p:nvSpPr>
          <p:spPr bwMode="auto">
            <a:xfrm rot="-5400000">
              <a:off x="5292" y="3152"/>
              <a:ext cx="0" cy="4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Text Box 43"/>
            <p:cNvSpPr txBox="1">
              <a:spLocks noChangeArrowheads="1"/>
            </p:cNvSpPr>
            <p:nvPr/>
          </p:nvSpPr>
          <p:spPr bwMode="auto">
            <a:xfrm>
              <a:off x="5175" y="3053"/>
              <a:ext cx="297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9068" tIns="39534" rIns="79068" bIns="39534">
              <a:spAutoFit/>
            </a:bodyPr>
            <a:lstStyle/>
            <a:p>
              <a:pPr defTabSz="790575" eaLnBrk="1" hangingPunct="1">
                <a:spcBef>
                  <a:spcPct val="50000"/>
                </a:spcBef>
              </a:pPr>
              <a:r>
                <a:rPr lang="en-US" altLang="zh-CN" sz="2400" b="1">
                  <a:solidFill>
                    <a:srgbClr val="FF0000"/>
                  </a:solidFill>
                </a:rPr>
                <a:t>1</a:t>
              </a:r>
            </a:p>
          </p:txBody>
        </p:sp>
      </p:grpSp>
      <p:graphicFrame>
        <p:nvGraphicFramePr>
          <p:cNvPr id="37899" name="Object 11"/>
          <p:cNvGraphicFramePr>
            <a:graphicFrameLocks noChangeAspect="1"/>
          </p:cNvGraphicFramePr>
          <p:nvPr/>
        </p:nvGraphicFramePr>
        <p:xfrm>
          <a:off x="1443038" y="768350"/>
          <a:ext cx="620712" cy="233363"/>
        </p:xfrm>
        <a:graphic>
          <a:graphicData uri="http://schemas.openxmlformats.org/presentationml/2006/ole">
            <p:oleObj spid="_x0000_s37899" name="Equation" r:id="rId3" imgW="672840" imgH="253800" progId="Equation.DSMT4">
              <p:embed/>
            </p:oleObj>
          </a:graphicData>
        </a:graphic>
      </p:graphicFrame>
      <p:sp>
        <p:nvSpPr>
          <p:cNvPr id="96" name="Rectangle 2"/>
          <p:cNvSpPr>
            <a:spLocks noChangeArrowheads="1"/>
          </p:cNvSpPr>
          <p:nvPr/>
        </p:nvSpPr>
        <p:spPr bwMode="auto">
          <a:xfrm>
            <a:off x="1981200" y="666750"/>
            <a:ext cx="223996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r>
              <a:rPr kumimoji="1"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化成单变量无反的逻辑函数</a:t>
            </a:r>
            <a:endParaRPr kumimoji="1" lang="zh-CN" altLang="en-US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37900" name="Object 12"/>
          <p:cNvGraphicFramePr>
            <a:graphicFrameLocks noChangeAspect="1"/>
          </p:cNvGraphicFramePr>
          <p:nvPr/>
        </p:nvGraphicFramePr>
        <p:xfrm>
          <a:off x="3429000" y="4466374"/>
          <a:ext cx="990600" cy="285578"/>
        </p:xfrm>
        <a:graphic>
          <a:graphicData uri="http://schemas.openxmlformats.org/presentationml/2006/ole">
            <p:oleObj spid="_x0000_s37900" name="Equation" r:id="rId4" imgW="876240" imgH="253800" progId="Equation.DSMT4">
              <p:embed/>
            </p:oleObj>
          </a:graphicData>
        </a:graphic>
      </p:graphicFrame>
      <p:sp>
        <p:nvSpPr>
          <p:cNvPr id="97" name="Text Box 16"/>
          <p:cNvSpPr txBox="1">
            <a:spLocks noChangeArrowheads="1"/>
          </p:cNvSpPr>
          <p:nvPr/>
        </p:nvSpPr>
        <p:spPr bwMode="auto">
          <a:xfrm>
            <a:off x="4430712" y="4484937"/>
            <a:ext cx="235108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600" b="1" dirty="0">
                <a:latin typeface="Century" pitchFamily="18" charset="0"/>
                <a:ea typeface="黑体" pitchFamily="49" charset="-122"/>
              </a:rPr>
              <a:t>(</a:t>
            </a:r>
            <a:r>
              <a:rPr lang="zh-CN" altLang="en-US" sz="1600" b="1" dirty="0">
                <a:latin typeface="黑体" pitchFamily="49" charset="-122"/>
                <a:ea typeface="黑体" pitchFamily="49" charset="-122"/>
              </a:rPr>
              <a:t>输入变量无反变量</a:t>
            </a:r>
            <a:r>
              <a:rPr lang="en-US" altLang="zh-CN" sz="1600" b="1" dirty="0">
                <a:latin typeface="Century" pitchFamily="18" charset="0"/>
                <a:ea typeface="黑体" pitchFamily="49" charset="-122"/>
              </a:rPr>
              <a:t>)</a:t>
            </a:r>
          </a:p>
        </p:txBody>
      </p:sp>
      <p:sp>
        <p:nvSpPr>
          <p:cNvPr id="43" name="Text Box 16"/>
          <p:cNvSpPr txBox="1">
            <a:spLocks noChangeArrowheads="1"/>
          </p:cNvSpPr>
          <p:nvPr/>
        </p:nvSpPr>
        <p:spPr bwMode="auto">
          <a:xfrm>
            <a:off x="2438400" y="4171950"/>
            <a:ext cx="609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600" b="1" dirty="0" smtClean="0">
                <a:latin typeface="Century" pitchFamily="18" charset="0"/>
                <a:ea typeface="黑体" pitchFamily="49" charset="-122"/>
              </a:rPr>
              <a:t>图</a:t>
            </a:r>
            <a:r>
              <a:rPr lang="en-US" altLang="zh-CN" sz="1600" b="1" dirty="0" smtClean="0">
                <a:latin typeface="Century" pitchFamily="18" charset="0"/>
                <a:ea typeface="黑体" pitchFamily="49" charset="-122"/>
              </a:rPr>
              <a:t>1</a:t>
            </a:r>
            <a:endParaRPr lang="en-US" altLang="zh-CN" sz="1600" b="1" dirty="0">
              <a:latin typeface="Century" pitchFamily="18" charset="0"/>
              <a:ea typeface="黑体" pitchFamily="49" charset="-122"/>
            </a:endParaRPr>
          </a:p>
        </p:txBody>
      </p:sp>
      <p:sp>
        <p:nvSpPr>
          <p:cNvPr id="44" name="Text Box 16"/>
          <p:cNvSpPr txBox="1">
            <a:spLocks noChangeArrowheads="1"/>
          </p:cNvSpPr>
          <p:nvPr/>
        </p:nvSpPr>
        <p:spPr bwMode="auto">
          <a:xfrm>
            <a:off x="6019800" y="4095750"/>
            <a:ext cx="609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600" b="1" dirty="0" smtClean="0">
                <a:latin typeface="Century" pitchFamily="18" charset="0"/>
                <a:ea typeface="黑体" pitchFamily="49" charset="-122"/>
              </a:rPr>
              <a:t>图</a:t>
            </a:r>
            <a:r>
              <a:rPr lang="en-US" altLang="zh-CN" sz="1600" b="1" dirty="0" smtClean="0">
                <a:latin typeface="Century" pitchFamily="18" charset="0"/>
                <a:ea typeface="黑体" pitchFamily="49" charset="-122"/>
              </a:rPr>
              <a:t>2</a:t>
            </a:r>
            <a:endParaRPr lang="en-US" altLang="zh-CN" sz="1600" b="1" dirty="0">
              <a:latin typeface="Century" pitchFamily="18" charset="0"/>
              <a:ea typeface="黑体" pitchFamily="49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3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79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7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8" grpId="0" animBg="1"/>
      <p:bldP spid="59" grpId="0" animBg="1"/>
      <p:bldP spid="60" grpId="0" animBg="1"/>
      <p:bldP spid="61" grpId="0" animBg="1"/>
      <p:bldP spid="97" grpId="0"/>
      <p:bldP spid="43" grpId="0"/>
      <p:bldP spid="4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43556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：单变量无反的逻辑设计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304800" y="666750"/>
            <a:ext cx="223996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r>
              <a:rPr kumimoji="1"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kumimoji="1"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kumimoji="1"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：将函数</a:t>
            </a:r>
            <a:endParaRPr kumimoji="1" lang="zh-CN" altLang="en-US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37899" name="Object 11"/>
          <p:cNvGraphicFramePr>
            <a:graphicFrameLocks noChangeAspect="1"/>
          </p:cNvGraphicFramePr>
          <p:nvPr/>
        </p:nvGraphicFramePr>
        <p:xfrm>
          <a:off x="1447800" y="771459"/>
          <a:ext cx="1463675" cy="246063"/>
        </p:xfrm>
        <a:graphic>
          <a:graphicData uri="http://schemas.openxmlformats.org/presentationml/2006/ole">
            <p:oleObj spid="_x0000_s40962" name="Equation" r:id="rId3" imgW="1587240" imgH="266400" progId="Equation.DSMT4">
              <p:embed/>
            </p:oleObj>
          </a:graphicData>
        </a:graphic>
      </p:graphicFrame>
      <p:sp>
        <p:nvSpPr>
          <p:cNvPr id="96" name="Rectangle 2"/>
          <p:cNvSpPr>
            <a:spLocks noChangeArrowheads="1"/>
          </p:cNvSpPr>
          <p:nvPr/>
        </p:nvSpPr>
        <p:spPr bwMode="auto">
          <a:xfrm>
            <a:off x="2828217" y="666750"/>
            <a:ext cx="223996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r>
              <a:rPr kumimoji="1"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化成单变量无反的逻辑函数</a:t>
            </a:r>
            <a:endParaRPr kumimoji="1" lang="zh-CN" altLang="en-US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3" name="Rectangle 2"/>
          <p:cNvSpPr>
            <a:spLocks noChangeArrowheads="1"/>
          </p:cNvSpPr>
          <p:nvPr/>
        </p:nvSpPr>
        <p:spPr bwMode="auto">
          <a:xfrm>
            <a:off x="2254250" y="2803525"/>
            <a:ext cx="871537" cy="685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" name="AutoShape 3"/>
          <p:cNvSpPr>
            <a:spLocks noChangeArrowheads="1"/>
          </p:cNvSpPr>
          <p:nvPr/>
        </p:nvSpPr>
        <p:spPr bwMode="auto">
          <a:xfrm>
            <a:off x="1443037" y="2198688"/>
            <a:ext cx="1492250" cy="1192212"/>
          </a:xfrm>
          <a:prstGeom prst="flowChartTerminator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" name="AutoShape 4"/>
          <p:cNvSpPr>
            <a:spLocks noChangeArrowheads="1"/>
          </p:cNvSpPr>
          <p:nvPr/>
        </p:nvSpPr>
        <p:spPr bwMode="auto">
          <a:xfrm>
            <a:off x="1484312" y="2859088"/>
            <a:ext cx="1431925" cy="1198562"/>
          </a:xfrm>
          <a:prstGeom prst="flowChartTerminator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" name="AutoShape 5"/>
          <p:cNvSpPr>
            <a:spLocks noChangeArrowheads="1"/>
          </p:cNvSpPr>
          <p:nvPr/>
        </p:nvSpPr>
        <p:spPr bwMode="auto">
          <a:xfrm>
            <a:off x="3336925" y="2595563"/>
            <a:ext cx="660400" cy="431800"/>
          </a:xfrm>
          <a:prstGeom prst="wedgeRoundRectCallout">
            <a:avLst>
              <a:gd name="adj1" fmla="val -107454"/>
              <a:gd name="adj2" fmla="val 27940"/>
              <a:gd name="adj3" fmla="val 16667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47" name="AutoShape 6"/>
          <p:cNvSpPr>
            <a:spLocks noChangeArrowheads="1"/>
          </p:cNvSpPr>
          <p:nvPr/>
        </p:nvSpPr>
        <p:spPr bwMode="auto">
          <a:xfrm>
            <a:off x="3351212" y="3575050"/>
            <a:ext cx="646113" cy="431800"/>
          </a:xfrm>
          <a:prstGeom prst="wedgeRoundRectCallout">
            <a:avLst>
              <a:gd name="adj1" fmla="val -112653"/>
              <a:gd name="adj2" fmla="val -11764"/>
              <a:gd name="adj3" fmla="val 16667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48" name="AutoShape 7"/>
          <p:cNvSpPr>
            <a:spLocks noChangeArrowheads="1"/>
          </p:cNvSpPr>
          <p:nvPr/>
        </p:nvSpPr>
        <p:spPr bwMode="auto">
          <a:xfrm>
            <a:off x="8001000" y="2767013"/>
            <a:ext cx="914400" cy="581025"/>
          </a:xfrm>
          <a:prstGeom prst="wedgeRoundRectCallout">
            <a:avLst>
              <a:gd name="adj1" fmla="val -96806"/>
              <a:gd name="adj2" fmla="val 6556"/>
              <a:gd name="adj3" fmla="val 16667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ABC</a:t>
            </a:r>
          </a:p>
        </p:txBody>
      </p:sp>
      <p:grpSp>
        <p:nvGrpSpPr>
          <p:cNvPr id="52" name="Group 11"/>
          <p:cNvGrpSpPr>
            <a:grpSpLocks/>
          </p:cNvGrpSpPr>
          <p:nvPr/>
        </p:nvGrpSpPr>
        <p:grpSpPr bwMode="auto">
          <a:xfrm>
            <a:off x="4343400" y="2451100"/>
            <a:ext cx="800100" cy="457200"/>
            <a:chOff x="2734" y="1866"/>
            <a:chExt cx="504" cy="288"/>
          </a:xfrm>
        </p:grpSpPr>
        <p:sp>
          <p:nvSpPr>
            <p:cNvPr id="53" name="Line 12"/>
            <p:cNvSpPr>
              <a:spLocks noChangeShapeType="1"/>
            </p:cNvSpPr>
            <p:nvPr/>
          </p:nvSpPr>
          <p:spPr bwMode="auto">
            <a:xfrm>
              <a:off x="2769" y="2119"/>
              <a:ext cx="39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Text Box 13"/>
            <p:cNvSpPr txBox="1">
              <a:spLocks noChangeArrowheads="1"/>
            </p:cNvSpPr>
            <p:nvPr/>
          </p:nvSpPr>
          <p:spPr bwMode="auto">
            <a:xfrm>
              <a:off x="2734" y="1866"/>
              <a:ext cx="50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>
                  <a:latin typeface="Tahoma" pitchFamily="34" charset="0"/>
                  <a:ea typeface="华文中宋" pitchFamily="2" charset="-122"/>
                </a:rPr>
                <a:t>取反</a:t>
              </a:r>
            </a:p>
          </p:txBody>
        </p:sp>
      </p:grpSp>
      <p:sp>
        <p:nvSpPr>
          <p:cNvPr id="56" name="Oval 14"/>
          <p:cNvSpPr>
            <a:spLocks noChangeArrowheads="1"/>
          </p:cNvSpPr>
          <p:nvPr/>
        </p:nvSpPr>
        <p:spPr bwMode="auto">
          <a:xfrm>
            <a:off x="6924675" y="2847975"/>
            <a:ext cx="568325" cy="468313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7" name="Group 15"/>
          <p:cNvGrpSpPr>
            <a:grpSpLocks/>
          </p:cNvGrpSpPr>
          <p:nvPr/>
        </p:nvGrpSpPr>
        <p:grpSpPr bwMode="auto">
          <a:xfrm>
            <a:off x="668337" y="1047750"/>
            <a:ext cx="2913063" cy="3097213"/>
            <a:chOff x="348" y="982"/>
            <a:chExt cx="1835" cy="1951"/>
          </a:xfrm>
        </p:grpSpPr>
        <p:sp>
          <p:nvSpPr>
            <p:cNvPr id="62" name="Text Box 16"/>
            <p:cNvSpPr txBox="1">
              <a:spLocks noChangeArrowheads="1"/>
            </p:cNvSpPr>
            <p:nvPr/>
          </p:nvSpPr>
          <p:spPr bwMode="auto">
            <a:xfrm>
              <a:off x="348" y="1212"/>
              <a:ext cx="488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9068" tIns="39534" rIns="79068" bIns="39534">
              <a:spAutoFit/>
            </a:bodyPr>
            <a:lstStyle/>
            <a:p>
              <a:pPr defTabSz="790575" eaLnBrk="1" hangingPunct="1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kumimoji="1" lang="en-US" altLang="zh-CN" sz="2400" b="1">
                  <a:ea typeface="楷体_GB2312" pitchFamily="49" charset="-122"/>
                </a:rPr>
                <a:t>AB</a:t>
              </a:r>
            </a:p>
          </p:txBody>
        </p:sp>
        <p:grpSp>
          <p:nvGrpSpPr>
            <p:cNvPr id="63" name="Group 17"/>
            <p:cNvGrpSpPr>
              <a:grpSpLocks/>
            </p:cNvGrpSpPr>
            <p:nvPr/>
          </p:nvGrpSpPr>
          <p:grpSpPr bwMode="auto">
            <a:xfrm>
              <a:off x="475" y="982"/>
              <a:ext cx="1708" cy="1951"/>
              <a:chOff x="2828" y="2432"/>
              <a:chExt cx="1708" cy="1951"/>
            </a:xfrm>
          </p:grpSpPr>
          <p:sp>
            <p:nvSpPr>
              <p:cNvPr id="64" name="Text Box 18"/>
              <p:cNvSpPr txBox="1">
                <a:spLocks noChangeArrowheads="1"/>
              </p:cNvSpPr>
              <p:nvPr/>
            </p:nvSpPr>
            <p:spPr bwMode="auto">
              <a:xfrm>
                <a:off x="3520" y="4156"/>
                <a:ext cx="449" cy="2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79068" tIns="39534" rIns="79068" bIns="39534">
                <a:spAutoFit/>
              </a:bodyPr>
              <a:lstStyle/>
              <a:p>
                <a:pPr defTabSz="790575" eaLnBrk="1" hangingPunct="1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r>
                  <a:rPr kumimoji="1" lang="en-US" altLang="zh-CN" sz="2000" b="1">
                    <a:solidFill>
                      <a:schemeClr val="accent6"/>
                    </a:solidFill>
                    <a:ea typeface="楷体_GB2312" pitchFamily="49" charset="-122"/>
                  </a:rPr>
                  <a:t>4</a:t>
                </a:r>
              </a:p>
            </p:txBody>
          </p:sp>
          <p:sp>
            <p:nvSpPr>
              <p:cNvPr id="65" name="Text Box 19"/>
              <p:cNvSpPr txBox="1">
                <a:spLocks noChangeArrowheads="1"/>
              </p:cNvSpPr>
              <p:nvPr/>
            </p:nvSpPr>
            <p:spPr bwMode="auto">
              <a:xfrm>
                <a:off x="4059" y="3774"/>
                <a:ext cx="431" cy="2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79068" tIns="39534" rIns="79068" bIns="39534">
                <a:spAutoFit/>
              </a:bodyPr>
              <a:lstStyle/>
              <a:p>
                <a:pPr defTabSz="790575" eaLnBrk="1" hangingPunct="1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r>
                  <a:rPr kumimoji="1" lang="en-US" altLang="zh-CN" sz="2000" b="1">
                    <a:solidFill>
                      <a:schemeClr val="accent6"/>
                    </a:solidFill>
                    <a:ea typeface="楷体_GB2312" pitchFamily="49" charset="-122"/>
                  </a:rPr>
                  <a:t>7</a:t>
                </a:r>
              </a:p>
            </p:txBody>
          </p:sp>
          <p:sp>
            <p:nvSpPr>
              <p:cNvPr id="68" name="Text Box 20"/>
              <p:cNvSpPr txBox="1">
                <a:spLocks noChangeArrowheads="1"/>
              </p:cNvSpPr>
              <p:nvPr/>
            </p:nvSpPr>
            <p:spPr bwMode="auto">
              <a:xfrm>
                <a:off x="2837" y="2835"/>
                <a:ext cx="378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79068" tIns="39534" rIns="79068" bIns="39534">
                <a:spAutoFit/>
              </a:bodyPr>
              <a:lstStyle/>
              <a:p>
                <a:pPr defTabSz="790575" eaLnBrk="1" hangingPunct="1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r>
                  <a:rPr kumimoji="1" lang="en-US" altLang="zh-CN" sz="2400" b="1">
                    <a:ea typeface="楷体_GB2312" pitchFamily="49" charset="-122"/>
                  </a:rPr>
                  <a:t>00</a:t>
                </a:r>
              </a:p>
            </p:txBody>
          </p:sp>
          <p:sp>
            <p:nvSpPr>
              <p:cNvPr id="69" name="Line 21"/>
              <p:cNvSpPr>
                <a:spLocks noChangeShapeType="1"/>
              </p:cNvSpPr>
              <p:nvPr/>
            </p:nvSpPr>
            <p:spPr bwMode="auto">
              <a:xfrm>
                <a:off x="3683" y="2730"/>
                <a:ext cx="0" cy="1623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" name="Line 22"/>
              <p:cNvSpPr>
                <a:spLocks noChangeShapeType="1"/>
              </p:cNvSpPr>
              <p:nvPr/>
            </p:nvSpPr>
            <p:spPr bwMode="auto">
              <a:xfrm flipV="1">
                <a:off x="3145" y="3123"/>
                <a:ext cx="1094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8" name="Line 23"/>
              <p:cNvSpPr>
                <a:spLocks noChangeShapeType="1"/>
              </p:cNvSpPr>
              <p:nvPr/>
            </p:nvSpPr>
            <p:spPr bwMode="auto">
              <a:xfrm flipH="1" flipV="1">
                <a:off x="2831" y="2545"/>
                <a:ext cx="318" cy="18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9" name="Text Box 24"/>
              <p:cNvSpPr txBox="1">
                <a:spLocks noChangeArrowheads="1"/>
              </p:cNvSpPr>
              <p:nvPr/>
            </p:nvSpPr>
            <p:spPr bwMode="auto">
              <a:xfrm>
                <a:off x="2864" y="2432"/>
                <a:ext cx="364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79068" tIns="39534" rIns="79068" bIns="39534">
                <a:spAutoFit/>
              </a:bodyPr>
              <a:lstStyle/>
              <a:p>
                <a:pPr algn="ctr" defTabSz="790575" eaLnBrk="1" hangingPunct="1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r>
                  <a:rPr kumimoji="1" lang="en-US" altLang="zh-CN" sz="2400" b="1">
                    <a:ea typeface="幼圆" pitchFamily="49" charset="-122"/>
                  </a:rPr>
                  <a:t>C</a:t>
                </a:r>
              </a:p>
            </p:txBody>
          </p:sp>
          <p:sp>
            <p:nvSpPr>
              <p:cNvPr id="100" name="Text Box 25"/>
              <p:cNvSpPr txBox="1">
                <a:spLocks noChangeArrowheads="1"/>
              </p:cNvSpPr>
              <p:nvPr/>
            </p:nvSpPr>
            <p:spPr bwMode="auto">
              <a:xfrm>
                <a:off x="3262" y="2509"/>
                <a:ext cx="328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79068" tIns="39534" rIns="79068" bIns="39534">
                <a:spAutoFit/>
              </a:bodyPr>
              <a:lstStyle/>
              <a:p>
                <a:pPr algn="ctr" defTabSz="790575" eaLnBrk="1" hangingPunct="1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r>
                  <a:rPr kumimoji="1" lang="en-US" altLang="zh-CN" sz="2400" b="1"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101" name="Text Box 26"/>
              <p:cNvSpPr txBox="1">
                <a:spLocks noChangeArrowheads="1"/>
              </p:cNvSpPr>
              <p:nvPr/>
            </p:nvSpPr>
            <p:spPr bwMode="auto">
              <a:xfrm>
                <a:off x="3766" y="2505"/>
                <a:ext cx="422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79068" tIns="39534" rIns="79068" bIns="39534">
                <a:spAutoFit/>
              </a:bodyPr>
              <a:lstStyle/>
              <a:p>
                <a:pPr algn="ctr" defTabSz="790575" eaLnBrk="1" hangingPunct="1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r>
                  <a:rPr kumimoji="1" lang="en-US" altLang="zh-CN" sz="2400" b="1"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102" name="Line 27"/>
              <p:cNvSpPr>
                <a:spLocks noChangeShapeType="1"/>
              </p:cNvSpPr>
              <p:nvPr/>
            </p:nvSpPr>
            <p:spPr bwMode="auto">
              <a:xfrm>
                <a:off x="3153" y="2727"/>
                <a:ext cx="1088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" name="Line 28"/>
              <p:cNvSpPr>
                <a:spLocks noChangeShapeType="1"/>
              </p:cNvSpPr>
              <p:nvPr/>
            </p:nvSpPr>
            <p:spPr bwMode="auto">
              <a:xfrm>
                <a:off x="3153" y="3540"/>
                <a:ext cx="1086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" name="Line 29"/>
              <p:cNvSpPr>
                <a:spLocks noChangeShapeType="1"/>
              </p:cNvSpPr>
              <p:nvPr/>
            </p:nvSpPr>
            <p:spPr bwMode="auto">
              <a:xfrm flipH="1">
                <a:off x="3145" y="2736"/>
                <a:ext cx="4" cy="161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" name="Line 30"/>
              <p:cNvSpPr>
                <a:spLocks noChangeShapeType="1"/>
              </p:cNvSpPr>
              <p:nvPr/>
            </p:nvSpPr>
            <p:spPr bwMode="auto">
              <a:xfrm>
                <a:off x="4239" y="2736"/>
                <a:ext cx="2" cy="161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6" name="Line 31"/>
              <p:cNvSpPr>
                <a:spLocks noChangeShapeType="1"/>
              </p:cNvSpPr>
              <p:nvPr/>
            </p:nvSpPr>
            <p:spPr bwMode="auto">
              <a:xfrm>
                <a:off x="3149" y="3967"/>
                <a:ext cx="1092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7" name="Line 32"/>
              <p:cNvSpPr>
                <a:spLocks noChangeShapeType="1"/>
              </p:cNvSpPr>
              <p:nvPr/>
            </p:nvSpPr>
            <p:spPr bwMode="auto">
              <a:xfrm>
                <a:off x="3135" y="4353"/>
                <a:ext cx="110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8" name="Text Box 33"/>
              <p:cNvSpPr txBox="1">
                <a:spLocks noChangeArrowheads="1"/>
              </p:cNvSpPr>
              <p:nvPr/>
            </p:nvSpPr>
            <p:spPr bwMode="auto">
              <a:xfrm>
                <a:off x="2828" y="3278"/>
                <a:ext cx="42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79068" tIns="39534" rIns="79068" bIns="39534">
                <a:spAutoFit/>
              </a:bodyPr>
              <a:lstStyle/>
              <a:p>
                <a:pPr defTabSz="790575" eaLnBrk="1" hangingPunct="1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r>
                  <a:rPr kumimoji="1" lang="en-US" altLang="zh-CN" sz="2400" b="1">
                    <a:ea typeface="楷体_GB2312" pitchFamily="49" charset="-122"/>
                  </a:rPr>
                  <a:t>01</a:t>
                </a:r>
              </a:p>
            </p:txBody>
          </p:sp>
          <p:sp>
            <p:nvSpPr>
              <p:cNvPr id="109" name="Text Box 34"/>
              <p:cNvSpPr txBox="1">
                <a:spLocks noChangeArrowheads="1"/>
              </p:cNvSpPr>
              <p:nvPr/>
            </p:nvSpPr>
            <p:spPr bwMode="auto">
              <a:xfrm>
                <a:off x="2833" y="4089"/>
                <a:ext cx="512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79068" tIns="39534" rIns="79068" bIns="39534">
                <a:spAutoFit/>
              </a:bodyPr>
              <a:lstStyle/>
              <a:p>
                <a:pPr defTabSz="790575" eaLnBrk="1" hangingPunct="1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r>
                  <a:rPr kumimoji="1" lang="en-US" altLang="zh-CN" sz="2400" b="1">
                    <a:ea typeface="楷体_GB2312" pitchFamily="49" charset="-122"/>
                  </a:rPr>
                  <a:t>10</a:t>
                </a:r>
              </a:p>
            </p:txBody>
          </p:sp>
          <p:sp>
            <p:nvSpPr>
              <p:cNvPr id="110" name="Text Box 35"/>
              <p:cNvSpPr txBox="1">
                <a:spLocks noChangeArrowheads="1"/>
              </p:cNvSpPr>
              <p:nvPr/>
            </p:nvSpPr>
            <p:spPr bwMode="auto">
              <a:xfrm>
                <a:off x="2838" y="3666"/>
                <a:ext cx="512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79068" tIns="39534" rIns="79068" bIns="39534">
                <a:spAutoFit/>
              </a:bodyPr>
              <a:lstStyle/>
              <a:p>
                <a:pPr defTabSz="790575" eaLnBrk="1" hangingPunct="1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r>
                  <a:rPr kumimoji="1" lang="en-US" altLang="zh-CN" sz="2400" b="1">
                    <a:ea typeface="楷体_GB2312" pitchFamily="49" charset="-122"/>
                  </a:rPr>
                  <a:t>11</a:t>
                </a:r>
              </a:p>
            </p:txBody>
          </p:sp>
          <p:sp>
            <p:nvSpPr>
              <p:cNvPr id="111" name="Text Box 36"/>
              <p:cNvSpPr txBox="1">
                <a:spLocks noChangeArrowheads="1"/>
              </p:cNvSpPr>
              <p:nvPr/>
            </p:nvSpPr>
            <p:spPr bwMode="auto">
              <a:xfrm>
                <a:off x="3501" y="2935"/>
                <a:ext cx="422" cy="2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79068" tIns="39534" rIns="79068" bIns="39534">
                <a:spAutoFit/>
              </a:bodyPr>
              <a:lstStyle/>
              <a:p>
                <a:pPr defTabSz="790575" eaLnBrk="1" hangingPunct="1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r>
                  <a:rPr kumimoji="1" lang="en-US" altLang="zh-CN" sz="2000" b="1" dirty="0">
                    <a:solidFill>
                      <a:schemeClr val="accent6"/>
                    </a:solidFill>
                    <a:ea typeface="楷体_GB2312" pitchFamily="49" charset="-122"/>
                  </a:rPr>
                  <a:t>0</a:t>
                </a:r>
                <a:r>
                  <a:rPr kumimoji="1" lang="en-US" altLang="zh-CN" sz="2000" b="1" baseline="-25000" dirty="0">
                    <a:solidFill>
                      <a:schemeClr val="accent6"/>
                    </a:solidFill>
                    <a:ea typeface="楷体_GB2312" pitchFamily="49" charset="-122"/>
                  </a:rPr>
                  <a:t> </a:t>
                </a:r>
              </a:p>
            </p:txBody>
          </p:sp>
          <p:sp>
            <p:nvSpPr>
              <p:cNvPr id="112" name="Text Box 37"/>
              <p:cNvSpPr txBox="1">
                <a:spLocks noChangeArrowheads="1"/>
              </p:cNvSpPr>
              <p:nvPr/>
            </p:nvSpPr>
            <p:spPr bwMode="auto">
              <a:xfrm>
                <a:off x="3500" y="3343"/>
                <a:ext cx="378" cy="2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79068" tIns="39534" rIns="79068" bIns="39534">
                <a:spAutoFit/>
              </a:bodyPr>
              <a:lstStyle/>
              <a:p>
                <a:pPr defTabSz="790575" eaLnBrk="1" hangingPunct="1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r>
                  <a:rPr kumimoji="1" lang="en-US" altLang="zh-CN" sz="2000" b="1" dirty="0">
                    <a:solidFill>
                      <a:schemeClr val="accent6"/>
                    </a:solidFill>
                    <a:ea typeface="楷体_GB2312" pitchFamily="49" charset="-122"/>
                  </a:rPr>
                  <a:t>2</a:t>
                </a:r>
              </a:p>
            </p:txBody>
          </p:sp>
          <p:sp>
            <p:nvSpPr>
              <p:cNvPr id="113" name="Text Box 38"/>
              <p:cNvSpPr txBox="1">
                <a:spLocks noChangeArrowheads="1"/>
              </p:cNvSpPr>
              <p:nvPr/>
            </p:nvSpPr>
            <p:spPr bwMode="auto">
              <a:xfrm>
                <a:off x="3507" y="3774"/>
                <a:ext cx="439" cy="2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79068" tIns="39534" rIns="79068" bIns="39534">
                <a:spAutoFit/>
              </a:bodyPr>
              <a:lstStyle/>
              <a:p>
                <a:pPr defTabSz="790575" eaLnBrk="1" hangingPunct="1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r>
                  <a:rPr kumimoji="1" lang="en-US" altLang="zh-CN" sz="2000" b="1">
                    <a:solidFill>
                      <a:schemeClr val="accent6"/>
                    </a:solidFill>
                    <a:ea typeface="楷体_GB2312" pitchFamily="49" charset="-122"/>
                  </a:rPr>
                  <a:t>6</a:t>
                </a:r>
              </a:p>
            </p:txBody>
          </p:sp>
          <p:sp>
            <p:nvSpPr>
              <p:cNvPr id="114" name="Text Box 39"/>
              <p:cNvSpPr txBox="1">
                <a:spLocks noChangeArrowheads="1"/>
              </p:cNvSpPr>
              <p:nvPr/>
            </p:nvSpPr>
            <p:spPr bwMode="auto">
              <a:xfrm>
                <a:off x="4065" y="4160"/>
                <a:ext cx="471" cy="2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79068" tIns="39534" rIns="79068" bIns="39534">
                <a:spAutoFit/>
              </a:bodyPr>
              <a:lstStyle/>
              <a:p>
                <a:pPr defTabSz="790575" eaLnBrk="1" hangingPunct="1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r>
                  <a:rPr kumimoji="1" lang="en-US" altLang="zh-CN" sz="2000" b="1">
                    <a:solidFill>
                      <a:schemeClr val="accent6"/>
                    </a:solidFill>
                    <a:ea typeface="楷体_GB2312" pitchFamily="49" charset="-122"/>
                  </a:rPr>
                  <a:t>5</a:t>
                </a:r>
              </a:p>
            </p:txBody>
          </p:sp>
          <p:sp>
            <p:nvSpPr>
              <p:cNvPr id="115" name="Text Box 40"/>
              <p:cNvSpPr txBox="1">
                <a:spLocks noChangeArrowheads="1"/>
              </p:cNvSpPr>
              <p:nvPr/>
            </p:nvSpPr>
            <p:spPr bwMode="auto">
              <a:xfrm>
                <a:off x="4067" y="3343"/>
                <a:ext cx="401" cy="2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79068" tIns="39534" rIns="79068" bIns="39534">
                <a:spAutoFit/>
              </a:bodyPr>
              <a:lstStyle/>
              <a:p>
                <a:pPr defTabSz="790575" eaLnBrk="1" hangingPunct="1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r>
                  <a:rPr kumimoji="1" lang="en-US" altLang="zh-CN" sz="2000" b="1">
                    <a:solidFill>
                      <a:schemeClr val="accent6"/>
                    </a:solidFill>
                    <a:ea typeface="楷体_GB2312" pitchFamily="49" charset="-122"/>
                  </a:rPr>
                  <a:t>3</a:t>
                </a:r>
              </a:p>
            </p:txBody>
          </p:sp>
          <p:sp>
            <p:nvSpPr>
              <p:cNvPr id="116" name="Text Box 41"/>
              <p:cNvSpPr txBox="1">
                <a:spLocks noChangeArrowheads="1"/>
              </p:cNvSpPr>
              <p:nvPr/>
            </p:nvSpPr>
            <p:spPr bwMode="auto">
              <a:xfrm>
                <a:off x="4060" y="2935"/>
                <a:ext cx="430" cy="2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79068" tIns="39534" rIns="79068" bIns="39534">
                <a:spAutoFit/>
              </a:bodyPr>
              <a:lstStyle/>
              <a:p>
                <a:pPr defTabSz="790575" eaLnBrk="1" hangingPunct="1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r>
                  <a:rPr kumimoji="1" lang="en-US" altLang="zh-CN" sz="2000" b="1" dirty="0">
                    <a:solidFill>
                      <a:schemeClr val="accent6"/>
                    </a:solidFill>
                    <a:ea typeface="楷体_GB2312" pitchFamily="49" charset="-122"/>
                  </a:rPr>
                  <a:t>1</a:t>
                </a:r>
              </a:p>
            </p:txBody>
          </p:sp>
        </p:grpSp>
      </p:grpSp>
      <p:sp>
        <p:nvSpPr>
          <p:cNvPr id="117" name="Text Box 42"/>
          <p:cNvSpPr txBox="1">
            <a:spLocks noChangeArrowheads="1"/>
          </p:cNvSpPr>
          <p:nvPr/>
        </p:nvSpPr>
        <p:spPr bwMode="auto">
          <a:xfrm>
            <a:off x="1627187" y="1687513"/>
            <a:ext cx="669925" cy="407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9068" tIns="39534" rIns="79068" bIns="39534">
            <a:spAutoFit/>
          </a:bodyPr>
          <a:lstStyle/>
          <a:p>
            <a:pPr defTabSz="790575" eaLnBrk="1" hangingPunct="1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kumimoji="1" lang="en-US" altLang="zh-CN" sz="2400" b="1">
                <a:ea typeface="楷体_GB2312" pitchFamily="49" charset="-122"/>
              </a:rPr>
              <a:t>0</a:t>
            </a:r>
            <a:r>
              <a:rPr kumimoji="1" lang="en-US" altLang="zh-CN" sz="2000" b="1" baseline="-25000">
                <a:ea typeface="楷体_GB2312" pitchFamily="49" charset="-122"/>
              </a:rPr>
              <a:t> </a:t>
            </a:r>
          </a:p>
        </p:txBody>
      </p:sp>
      <p:sp>
        <p:nvSpPr>
          <p:cNvPr id="118" name="Text Box 43"/>
          <p:cNvSpPr txBox="1">
            <a:spLocks noChangeArrowheads="1"/>
          </p:cNvSpPr>
          <p:nvPr/>
        </p:nvSpPr>
        <p:spPr bwMode="auto">
          <a:xfrm>
            <a:off x="2527300" y="1663700"/>
            <a:ext cx="669925" cy="407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9068" tIns="39534" rIns="79068" bIns="39534">
            <a:spAutoFit/>
          </a:bodyPr>
          <a:lstStyle/>
          <a:p>
            <a:pPr defTabSz="790575" eaLnBrk="1" hangingPunct="1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kumimoji="1" lang="en-US" altLang="zh-CN" sz="2400" b="1">
                <a:ea typeface="楷体_GB2312" pitchFamily="49" charset="-122"/>
              </a:rPr>
              <a:t>0</a:t>
            </a:r>
            <a:r>
              <a:rPr kumimoji="1" lang="en-US" altLang="zh-CN" sz="2000" b="1" baseline="-25000">
                <a:ea typeface="楷体_GB2312" pitchFamily="49" charset="-122"/>
              </a:rPr>
              <a:t> </a:t>
            </a:r>
          </a:p>
        </p:txBody>
      </p:sp>
      <p:sp>
        <p:nvSpPr>
          <p:cNvPr id="119" name="Text Box 44"/>
          <p:cNvSpPr txBox="1">
            <a:spLocks noChangeArrowheads="1"/>
          </p:cNvSpPr>
          <p:nvPr/>
        </p:nvSpPr>
        <p:spPr bwMode="auto">
          <a:xfrm>
            <a:off x="2513012" y="2371725"/>
            <a:ext cx="669925" cy="407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9068" tIns="39534" rIns="79068" bIns="39534">
            <a:spAutoFit/>
          </a:bodyPr>
          <a:lstStyle/>
          <a:p>
            <a:pPr defTabSz="790575" eaLnBrk="1" hangingPunct="1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kumimoji="1" lang="en-US" altLang="zh-CN" sz="2400" b="1">
                <a:solidFill>
                  <a:srgbClr val="FF0000"/>
                </a:solidFill>
                <a:ea typeface="楷体_GB2312" pitchFamily="49" charset="-122"/>
              </a:rPr>
              <a:t>1</a:t>
            </a:r>
            <a:r>
              <a:rPr kumimoji="1" lang="en-US" altLang="zh-CN" sz="2000" b="1" baseline="-25000">
                <a:solidFill>
                  <a:srgbClr val="FF0000"/>
                </a:solidFill>
                <a:ea typeface="楷体_GB2312" pitchFamily="49" charset="-122"/>
              </a:rPr>
              <a:t> </a:t>
            </a:r>
          </a:p>
        </p:txBody>
      </p:sp>
      <p:sp>
        <p:nvSpPr>
          <p:cNvPr id="120" name="Text Box 45"/>
          <p:cNvSpPr txBox="1">
            <a:spLocks noChangeArrowheads="1"/>
          </p:cNvSpPr>
          <p:nvPr/>
        </p:nvSpPr>
        <p:spPr bwMode="auto">
          <a:xfrm>
            <a:off x="1628775" y="2371725"/>
            <a:ext cx="669925" cy="407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9068" tIns="39534" rIns="79068" bIns="39534">
            <a:spAutoFit/>
          </a:bodyPr>
          <a:lstStyle/>
          <a:p>
            <a:pPr defTabSz="790575" eaLnBrk="1" hangingPunct="1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kumimoji="1" lang="en-US" altLang="zh-CN" sz="2400" b="1">
                <a:solidFill>
                  <a:srgbClr val="FF0000"/>
                </a:solidFill>
                <a:ea typeface="楷体_GB2312" pitchFamily="49" charset="-122"/>
              </a:rPr>
              <a:t>1</a:t>
            </a:r>
            <a:r>
              <a:rPr kumimoji="1" lang="en-US" altLang="zh-CN" sz="2000" b="1" baseline="-25000">
                <a:solidFill>
                  <a:srgbClr val="FF0000"/>
                </a:solidFill>
                <a:ea typeface="楷体_GB2312" pitchFamily="49" charset="-122"/>
              </a:rPr>
              <a:t> </a:t>
            </a:r>
          </a:p>
        </p:txBody>
      </p:sp>
      <p:sp>
        <p:nvSpPr>
          <p:cNvPr id="121" name="Text Box 46"/>
          <p:cNvSpPr txBox="1">
            <a:spLocks noChangeArrowheads="1"/>
          </p:cNvSpPr>
          <p:nvPr/>
        </p:nvSpPr>
        <p:spPr bwMode="auto">
          <a:xfrm>
            <a:off x="1649412" y="3643313"/>
            <a:ext cx="669925" cy="407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9068" tIns="39534" rIns="79068" bIns="39534">
            <a:spAutoFit/>
          </a:bodyPr>
          <a:lstStyle/>
          <a:p>
            <a:pPr defTabSz="790575" eaLnBrk="1" hangingPunct="1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kumimoji="1" lang="en-US" altLang="zh-CN" sz="2400" b="1">
                <a:solidFill>
                  <a:srgbClr val="FF0000"/>
                </a:solidFill>
                <a:ea typeface="楷体_GB2312" pitchFamily="49" charset="-122"/>
              </a:rPr>
              <a:t>1</a:t>
            </a:r>
            <a:r>
              <a:rPr kumimoji="1" lang="en-US" altLang="zh-CN" sz="2000" b="1" baseline="-25000">
                <a:solidFill>
                  <a:srgbClr val="FF0000"/>
                </a:solidFill>
                <a:ea typeface="楷体_GB2312" pitchFamily="49" charset="-122"/>
              </a:rPr>
              <a:t> </a:t>
            </a:r>
          </a:p>
        </p:txBody>
      </p:sp>
      <p:sp>
        <p:nvSpPr>
          <p:cNvPr id="122" name="Text Box 47"/>
          <p:cNvSpPr txBox="1">
            <a:spLocks noChangeArrowheads="1"/>
          </p:cNvSpPr>
          <p:nvPr/>
        </p:nvSpPr>
        <p:spPr bwMode="auto">
          <a:xfrm>
            <a:off x="2478087" y="3643313"/>
            <a:ext cx="669925" cy="407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9068" tIns="39534" rIns="79068" bIns="39534">
            <a:spAutoFit/>
          </a:bodyPr>
          <a:lstStyle/>
          <a:p>
            <a:pPr defTabSz="790575" eaLnBrk="1" hangingPunct="1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kumimoji="1" lang="en-US" altLang="zh-CN" sz="2400" b="1">
                <a:solidFill>
                  <a:srgbClr val="FF0000"/>
                </a:solidFill>
                <a:ea typeface="楷体_GB2312" pitchFamily="49" charset="-122"/>
              </a:rPr>
              <a:t>1</a:t>
            </a:r>
            <a:r>
              <a:rPr kumimoji="1" lang="en-US" altLang="zh-CN" sz="2000" b="1" baseline="-25000">
                <a:solidFill>
                  <a:srgbClr val="FF0000"/>
                </a:solidFill>
                <a:ea typeface="楷体_GB2312" pitchFamily="49" charset="-122"/>
              </a:rPr>
              <a:t> </a:t>
            </a:r>
          </a:p>
        </p:txBody>
      </p:sp>
      <p:sp>
        <p:nvSpPr>
          <p:cNvPr id="123" name="Text Box 48"/>
          <p:cNvSpPr txBox="1">
            <a:spLocks noChangeArrowheads="1"/>
          </p:cNvSpPr>
          <p:nvPr/>
        </p:nvSpPr>
        <p:spPr bwMode="auto">
          <a:xfrm>
            <a:off x="1627187" y="3009900"/>
            <a:ext cx="669925" cy="407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9068" tIns="39534" rIns="79068" bIns="39534">
            <a:spAutoFit/>
          </a:bodyPr>
          <a:lstStyle/>
          <a:p>
            <a:pPr defTabSz="790575" eaLnBrk="1" hangingPunct="1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kumimoji="1" lang="en-US" altLang="zh-CN" sz="2400" b="1">
                <a:solidFill>
                  <a:srgbClr val="FF0000"/>
                </a:solidFill>
                <a:ea typeface="楷体_GB2312" pitchFamily="49" charset="-122"/>
              </a:rPr>
              <a:t>1</a:t>
            </a:r>
            <a:r>
              <a:rPr kumimoji="1" lang="en-US" altLang="zh-CN" sz="2000" b="1" baseline="-25000">
                <a:solidFill>
                  <a:srgbClr val="FF0000"/>
                </a:solidFill>
                <a:ea typeface="楷体_GB2312" pitchFamily="49" charset="-122"/>
              </a:rPr>
              <a:t> </a:t>
            </a:r>
          </a:p>
        </p:txBody>
      </p:sp>
      <p:sp>
        <p:nvSpPr>
          <p:cNvPr id="124" name="Text Box 49"/>
          <p:cNvSpPr txBox="1">
            <a:spLocks noChangeArrowheads="1"/>
          </p:cNvSpPr>
          <p:nvPr/>
        </p:nvSpPr>
        <p:spPr bwMode="auto">
          <a:xfrm>
            <a:off x="2527300" y="2982913"/>
            <a:ext cx="669925" cy="407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9068" tIns="39534" rIns="79068" bIns="39534">
            <a:spAutoFit/>
          </a:bodyPr>
          <a:lstStyle/>
          <a:p>
            <a:pPr defTabSz="790575" eaLnBrk="1" hangingPunct="1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kumimoji="1" lang="en-US" altLang="zh-CN" sz="2400" b="1">
                <a:ea typeface="楷体_GB2312" pitchFamily="49" charset="-122"/>
              </a:rPr>
              <a:t>0</a:t>
            </a:r>
            <a:r>
              <a:rPr kumimoji="1" lang="en-US" altLang="zh-CN" sz="2000" b="1" baseline="-25000">
                <a:ea typeface="楷体_GB2312" pitchFamily="49" charset="-122"/>
              </a:rPr>
              <a:t> </a:t>
            </a:r>
          </a:p>
        </p:txBody>
      </p:sp>
      <p:sp>
        <p:nvSpPr>
          <p:cNvPr id="125" name="Text Box 50"/>
          <p:cNvSpPr txBox="1">
            <a:spLocks noChangeArrowheads="1"/>
          </p:cNvSpPr>
          <p:nvPr/>
        </p:nvSpPr>
        <p:spPr bwMode="auto">
          <a:xfrm>
            <a:off x="7042150" y="2917825"/>
            <a:ext cx="669925" cy="407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9068" tIns="39534" rIns="79068" bIns="39534">
            <a:spAutoFit/>
          </a:bodyPr>
          <a:lstStyle/>
          <a:p>
            <a:pPr defTabSz="790575" eaLnBrk="1" hangingPunct="1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kumimoji="1" lang="en-US" altLang="zh-CN" sz="2400" b="1">
                <a:solidFill>
                  <a:srgbClr val="FF0000"/>
                </a:solidFill>
                <a:ea typeface="楷体_GB2312" pitchFamily="49" charset="-122"/>
              </a:rPr>
              <a:t>1</a:t>
            </a:r>
            <a:r>
              <a:rPr kumimoji="1" lang="en-US" altLang="zh-CN" sz="2000" b="1" baseline="-25000">
                <a:solidFill>
                  <a:srgbClr val="FF0000"/>
                </a:solidFill>
                <a:ea typeface="楷体_GB2312" pitchFamily="49" charset="-122"/>
              </a:rPr>
              <a:t> </a:t>
            </a:r>
          </a:p>
        </p:txBody>
      </p:sp>
      <p:grpSp>
        <p:nvGrpSpPr>
          <p:cNvPr id="126" name="Group 51"/>
          <p:cNvGrpSpPr>
            <a:grpSpLocks/>
          </p:cNvGrpSpPr>
          <p:nvPr/>
        </p:nvGrpSpPr>
        <p:grpSpPr bwMode="auto">
          <a:xfrm>
            <a:off x="5195887" y="1008063"/>
            <a:ext cx="2913063" cy="3097212"/>
            <a:chOff x="348" y="982"/>
            <a:chExt cx="1835" cy="1951"/>
          </a:xfrm>
        </p:grpSpPr>
        <p:sp>
          <p:nvSpPr>
            <p:cNvPr id="127" name="Text Box 52"/>
            <p:cNvSpPr txBox="1">
              <a:spLocks noChangeArrowheads="1"/>
            </p:cNvSpPr>
            <p:nvPr/>
          </p:nvSpPr>
          <p:spPr bwMode="auto">
            <a:xfrm>
              <a:off x="348" y="1212"/>
              <a:ext cx="488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9068" tIns="39534" rIns="79068" bIns="39534">
              <a:spAutoFit/>
            </a:bodyPr>
            <a:lstStyle/>
            <a:p>
              <a:pPr defTabSz="790575" eaLnBrk="1" hangingPunct="1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kumimoji="1" lang="en-US" altLang="zh-CN" sz="2400" b="1">
                  <a:ea typeface="楷体_GB2312" pitchFamily="49" charset="-122"/>
                </a:rPr>
                <a:t>AB</a:t>
              </a:r>
            </a:p>
          </p:txBody>
        </p:sp>
        <p:grpSp>
          <p:nvGrpSpPr>
            <p:cNvPr id="128" name="Group 53"/>
            <p:cNvGrpSpPr>
              <a:grpSpLocks/>
            </p:cNvGrpSpPr>
            <p:nvPr/>
          </p:nvGrpSpPr>
          <p:grpSpPr bwMode="auto">
            <a:xfrm>
              <a:off x="475" y="982"/>
              <a:ext cx="1708" cy="1951"/>
              <a:chOff x="2828" y="2432"/>
              <a:chExt cx="1708" cy="1951"/>
            </a:xfrm>
          </p:grpSpPr>
          <p:sp>
            <p:nvSpPr>
              <p:cNvPr id="129" name="Text Box 54"/>
              <p:cNvSpPr txBox="1">
                <a:spLocks noChangeArrowheads="1"/>
              </p:cNvSpPr>
              <p:nvPr/>
            </p:nvSpPr>
            <p:spPr bwMode="auto">
              <a:xfrm>
                <a:off x="3520" y="4156"/>
                <a:ext cx="449" cy="2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79068" tIns="39534" rIns="79068" bIns="39534">
                <a:spAutoFit/>
              </a:bodyPr>
              <a:lstStyle/>
              <a:p>
                <a:pPr defTabSz="790575" eaLnBrk="1" hangingPunct="1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r>
                  <a:rPr kumimoji="1" lang="en-US" altLang="zh-CN" sz="2000" b="1">
                    <a:solidFill>
                      <a:schemeClr val="accent6"/>
                    </a:solidFill>
                    <a:ea typeface="楷体_GB2312" pitchFamily="49" charset="-122"/>
                  </a:rPr>
                  <a:t>4</a:t>
                </a:r>
              </a:p>
            </p:txBody>
          </p:sp>
          <p:sp>
            <p:nvSpPr>
              <p:cNvPr id="130" name="Text Box 55"/>
              <p:cNvSpPr txBox="1">
                <a:spLocks noChangeArrowheads="1"/>
              </p:cNvSpPr>
              <p:nvPr/>
            </p:nvSpPr>
            <p:spPr bwMode="auto">
              <a:xfrm>
                <a:off x="4059" y="3774"/>
                <a:ext cx="431" cy="2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79068" tIns="39534" rIns="79068" bIns="39534">
                <a:spAutoFit/>
              </a:bodyPr>
              <a:lstStyle/>
              <a:p>
                <a:pPr defTabSz="790575" eaLnBrk="1" hangingPunct="1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r>
                  <a:rPr kumimoji="1" lang="en-US" altLang="zh-CN" sz="2000" b="1">
                    <a:solidFill>
                      <a:schemeClr val="accent6"/>
                    </a:solidFill>
                    <a:ea typeface="楷体_GB2312" pitchFamily="49" charset="-122"/>
                  </a:rPr>
                  <a:t>7</a:t>
                </a:r>
              </a:p>
            </p:txBody>
          </p:sp>
          <p:sp>
            <p:nvSpPr>
              <p:cNvPr id="131" name="Text Box 56"/>
              <p:cNvSpPr txBox="1">
                <a:spLocks noChangeArrowheads="1"/>
              </p:cNvSpPr>
              <p:nvPr/>
            </p:nvSpPr>
            <p:spPr bwMode="auto">
              <a:xfrm>
                <a:off x="2837" y="2835"/>
                <a:ext cx="378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79068" tIns="39534" rIns="79068" bIns="39534">
                <a:spAutoFit/>
              </a:bodyPr>
              <a:lstStyle/>
              <a:p>
                <a:pPr defTabSz="790575" eaLnBrk="1" hangingPunct="1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r>
                  <a:rPr kumimoji="1" lang="en-US" altLang="zh-CN" sz="2400" b="1">
                    <a:ea typeface="楷体_GB2312" pitchFamily="49" charset="-122"/>
                  </a:rPr>
                  <a:t>00</a:t>
                </a:r>
              </a:p>
            </p:txBody>
          </p:sp>
          <p:sp>
            <p:nvSpPr>
              <p:cNvPr id="132" name="Line 57"/>
              <p:cNvSpPr>
                <a:spLocks noChangeShapeType="1"/>
              </p:cNvSpPr>
              <p:nvPr/>
            </p:nvSpPr>
            <p:spPr bwMode="auto">
              <a:xfrm>
                <a:off x="3683" y="2730"/>
                <a:ext cx="0" cy="1623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" name="Line 58"/>
              <p:cNvSpPr>
                <a:spLocks noChangeShapeType="1"/>
              </p:cNvSpPr>
              <p:nvPr/>
            </p:nvSpPr>
            <p:spPr bwMode="auto">
              <a:xfrm flipV="1">
                <a:off x="3145" y="3123"/>
                <a:ext cx="1094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" name="Line 59"/>
              <p:cNvSpPr>
                <a:spLocks noChangeShapeType="1"/>
              </p:cNvSpPr>
              <p:nvPr/>
            </p:nvSpPr>
            <p:spPr bwMode="auto">
              <a:xfrm flipH="1" flipV="1">
                <a:off x="2831" y="2545"/>
                <a:ext cx="318" cy="18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5" name="Text Box 60"/>
              <p:cNvSpPr txBox="1">
                <a:spLocks noChangeArrowheads="1"/>
              </p:cNvSpPr>
              <p:nvPr/>
            </p:nvSpPr>
            <p:spPr bwMode="auto">
              <a:xfrm>
                <a:off x="2864" y="2432"/>
                <a:ext cx="364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79068" tIns="39534" rIns="79068" bIns="39534">
                <a:spAutoFit/>
              </a:bodyPr>
              <a:lstStyle/>
              <a:p>
                <a:pPr algn="ctr" defTabSz="790575" eaLnBrk="1" hangingPunct="1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r>
                  <a:rPr kumimoji="1" lang="en-US" altLang="zh-CN" sz="2400" b="1">
                    <a:ea typeface="幼圆" pitchFamily="49" charset="-122"/>
                  </a:rPr>
                  <a:t>C</a:t>
                </a:r>
              </a:p>
            </p:txBody>
          </p:sp>
          <p:sp>
            <p:nvSpPr>
              <p:cNvPr id="136" name="Text Box 61"/>
              <p:cNvSpPr txBox="1">
                <a:spLocks noChangeArrowheads="1"/>
              </p:cNvSpPr>
              <p:nvPr/>
            </p:nvSpPr>
            <p:spPr bwMode="auto">
              <a:xfrm>
                <a:off x="3262" y="2509"/>
                <a:ext cx="328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79068" tIns="39534" rIns="79068" bIns="39534">
                <a:spAutoFit/>
              </a:bodyPr>
              <a:lstStyle/>
              <a:p>
                <a:pPr algn="ctr" defTabSz="790575" eaLnBrk="1" hangingPunct="1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r>
                  <a:rPr kumimoji="1" lang="en-US" altLang="zh-CN" sz="2400" b="1"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137" name="Text Box 62"/>
              <p:cNvSpPr txBox="1">
                <a:spLocks noChangeArrowheads="1"/>
              </p:cNvSpPr>
              <p:nvPr/>
            </p:nvSpPr>
            <p:spPr bwMode="auto">
              <a:xfrm>
                <a:off x="3766" y="2505"/>
                <a:ext cx="422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79068" tIns="39534" rIns="79068" bIns="39534">
                <a:spAutoFit/>
              </a:bodyPr>
              <a:lstStyle/>
              <a:p>
                <a:pPr algn="ctr" defTabSz="790575" eaLnBrk="1" hangingPunct="1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r>
                  <a:rPr kumimoji="1" lang="en-US" altLang="zh-CN" sz="2400" b="1"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138" name="Line 63"/>
              <p:cNvSpPr>
                <a:spLocks noChangeShapeType="1"/>
              </p:cNvSpPr>
              <p:nvPr/>
            </p:nvSpPr>
            <p:spPr bwMode="auto">
              <a:xfrm>
                <a:off x="3153" y="2727"/>
                <a:ext cx="1088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9" name="Line 64"/>
              <p:cNvSpPr>
                <a:spLocks noChangeShapeType="1"/>
              </p:cNvSpPr>
              <p:nvPr/>
            </p:nvSpPr>
            <p:spPr bwMode="auto">
              <a:xfrm>
                <a:off x="3153" y="3540"/>
                <a:ext cx="1086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0" name="Line 65"/>
              <p:cNvSpPr>
                <a:spLocks noChangeShapeType="1"/>
              </p:cNvSpPr>
              <p:nvPr/>
            </p:nvSpPr>
            <p:spPr bwMode="auto">
              <a:xfrm flipH="1">
                <a:off x="3145" y="2736"/>
                <a:ext cx="4" cy="161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1" name="Line 66"/>
              <p:cNvSpPr>
                <a:spLocks noChangeShapeType="1"/>
              </p:cNvSpPr>
              <p:nvPr/>
            </p:nvSpPr>
            <p:spPr bwMode="auto">
              <a:xfrm>
                <a:off x="4239" y="2736"/>
                <a:ext cx="2" cy="161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2" name="Line 67"/>
              <p:cNvSpPr>
                <a:spLocks noChangeShapeType="1"/>
              </p:cNvSpPr>
              <p:nvPr/>
            </p:nvSpPr>
            <p:spPr bwMode="auto">
              <a:xfrm>
                <a:off x="3149" y="3967"/>
                <a:ext cx="1092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" name="Line 68"/>
              <p:cNvSpPr>
                <a:spLocks noChangeShapeType="1"/>
              </p:cNvSpPr>
              <p:nvPr/>
            </p:nvSpPr>
            <p:spPr bwMode="auto">
              <a:xfrm>
                <a:off x="3135" y="4353"/>
                <a:ext cx="110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" name="Text Box 69"/>
              <p:cNvSpPr txBox="1">
                <a:spLocks noChangeArrowheads="1"/>
              </p:cNvSpPr>
              <p:nvPr/>
            </p:nvSpPr>
            <p:spPr bwMode="auto">
              <a:xfrm>
                <a:off x="2828" y="3278"/>
                <a:ext cx="42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79068" tIns="39534" rIns="79068" bIns="39534">
                <a:spAutoFit/>
              </a:bodyPr>
              <a:lstStyle/>
              <a:p>
                <a:pPr defTabSz="790575" eaLnBrk="1" hangingPunct="1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r>
                  <a:rPr kumimoji="1" lang="en-US" altLang="zh-CN" sz="2400" b="1">
                    <a:ea typeface="楷体_GB2312" pitchFamily="49" charset="-122"/>
                  </a:rPr>
                  <a:t>01</a:t>
                </a:r>
              </a:p>
            </p:txBody>
          </p:sp>
          <p:sp>
            <p:nvSpPr>
              <p:cNvPr id="145" name="Text Box 70"/>
              <p:cNvSpPr txBox="1">
                <a:spLocks noChangeArrowheads="1"/>
              </p:cNvSpPr>
              <p:nvPr/>
            </p:nvSpPr>
            <p:spPr bwMode="auto">
              <a:xfrm>
                <a:off x="2833" y="4089"/>
                <a:ext cx="512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79068" tIns="39534" rIns="79068" bIns="39534">
                <a:spAutoFit/>
              </a:bodyPr>
              <a:lstStyle/>
              <a:p>
                <a:pPr defTabSz="790575" eaLnBrk="1" hangingPunct="1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r>
                  <a:rPr kumimoji="1" lang="en-US" altLang="zh-CN" sz="2400" b="1">
                    <a:ea typeface="楷体_GB2312" pitchFamily="49" charset="-122"/>
                  </a:rPr>
                  <a:t>10</a:t>
                </a:r>
              </a:p>
            </p:txBody>
          </p:sp>
          <p:sp>
            <p:nvSpPr>
              <p:cNvPr id="146" name="Text Box 71"/>
              <p:cNvSpPr txBox="1">
                <a:spLocks noChangeArrowheads="1"/>
              </p:cNvSpPr>
              <p:nvPr/>
            </p:nvSpPr>
            <p:spPr bwMode="auto">
              <a:xfrm>
                <a:off x="2838" y="3666"/>
                <a:ext cx="512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79068" tIns="39534" rIns="79068" bIns="39534">
                <a:spAutoFit/>
              </a:bodyPr>
              <a:lstStyle/>
              <a:p>
                <a:pPr defTabSz="790575" eaLnBrk="1" hangingPunct="1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r>
                  <a:rPr kumimoji="1" lang="en-US" altLang="zh-CN" sz="2400" b="1">
                    <a:ea typeface="楷体_GB2312" pitchFamily="49" charset="-122"/>
                  </a:rPr>
                  <a:t>11</a:t>
                </a:r>
              </a:p>
            </p:txBody>
          </p:sp>
          <p:sp>
            <p:nvSpPr>
              <p:cNvPr id="147" name="Text Box 72"/>
              <p:cNvSpPr txBox="1">
                <a:spLocks noChangeArrowheads="1"/>
              </p:cNvSpPr>
              <p:nvPr/>
            </p:nvSpPr>
            <p:spPr bwMode="auto">
              <a:xfrm>
                <a:off x="3501" y="2935"/>
                <a:ext cx="422" cy="2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79068" tIns="39534" rIns="79068" bIns="39534">
                <a:spAutoFit/>
              </a:bodyPr>
              <a:lstStyle/>
              <a:p>
                <a:pPr defTabSz="790575" eaLnBrk="1" hangingPunct="1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r>
                  <a:rPr kumimoji="1" lang="en-US" altLang="zh-CN" sz="2000" b="1" dirty="0">
                    <a:solidFill>
                      <a:schemeClr val="accent6"/>
                    </a:solidFill>
                    <a:ea typeface="楷体_GB2312" pitchFamily="49" charset="-122"/>
                  </a:rPr>
                  <a:t>0</a:t>
                </a:r>
                <a:r>
                  <a:rPr kumimoji="1" lang="en-US" altLang="zh-CN" sz="2000" b="1" baseline="-25000" dirty="0">
                    <a:solidFill>
                      <a:schemeClr val="accent6"/>
                    </a:solidFill>
                    <a:ea typeface="楷体_GB2312" pitchFamily="49" charset="-122"/>
                  </a:rPr>
                  <a:t> </a:t>
                </a:r>
              </a:p>
            </p:txBody>
          </p:sp>
          <p:sp>
            <p:nvSpPr>
              <p:cNvPr id="148" name="Text Box 73"/>
              <p:cNvSpPr txBox="1">
                <a:spLocks noChangeArrowheads="1"/>
              </p:cNvSpPr>
              <p:nvPr/>
            </p:nvSpPr>
            <p:spPr bwMode="auto">
              <a:xfrm>
                <a:off x="3500" y="3343"/>
                <a:ext cx="378" cy="2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79068" tIns="39534" rIns="79068" bIns="39534">
                <a:spAutoFit/>
              </a:bodyPr>
              <a:lstStyle/>
              <a:p>
                <a:pPr defTabSz="790575" eaLnBrk="1" hangingPunct="1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r>
                  <a:rPr kumimoji="1" lang="en-US" altLang="zh-CN" sz="2000" b="1">
                    <a:solidFill>
                      <a:schemeClr val="accent6"/>
                    </a:solidFill>
                    <a:ea typeface="楷体_GB2312" pitchFamily="49" charset="-122"/>
                  </a:rPr>
                  <a:t>2</a:t>
                </a:r>
              </a:p>
            </p:txBody>
          </p:sp>
          <p:sp>
            <p:nvSpPr>
              <p:cNvPr id="149" name="Text Box 74"/>
              <p:cNvSpPr txBox="1">
                <a:spLocks noChangeArrowheads="1"/>
              </p:cNvSpPr>
              <p:nvPr/>
            </p:nvSpPr>
            <p:spPr bwMode="auto">
              <a:xfrm>
                <a:off x="3507" y="3774"/>
                <a:ext cx="439" cy="2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79068" tIns="39534" rIns="79068" bIns="39534">
                <a:spAutoFit/>
              </a:bodyPr>
              <a:lstStyle/>
              <a:p>
                <a:pPr defTabSz="790575" eaLnBrk="1" hangingPunct="1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r>
                  <a:rPr kumimoji="1" lang="en-US" altLang="zh-CN" sz="2000" b="1">
                    <a:solidFill>
                      <a:schemeClr val="accent6"/>
                    </a:solidFill>
                    <a:ea typeface="楷体_GB2312" pitchFamily="49" charset="-122"/>
                  </a:rPr>
                  <a:t>6</a:t>
                </a:r>
              </a:p>
            </p:txBody>
          </p:sp>
          <p:sp>
            <p:nvSpPr>
              <p:cNvPr id="150" name="Text Box 75"/>
              <p:cNvSpPr txBox="1">
                <a:spLocks noChangeArrowheads="1"/>
              </p:cNvSpPr>
              <p:nvPr/>
            </p:nvSpPr>
            <p:spPr bwMode="auto">
              <a:xfrm>
                <a:off x="4065" y="4160"/>
                <a:ext cx="471" cy="2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79068" tIns="39534" rIns="79068" bIns="39534">
                <a:spAutoFit/>
              </a:bodyPr>
              <a:lstStyle/>
              <a:p>
                <a:pPr defTabSz="790575" eaLnBrk="1" hangingPunct="1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r>
                  <a:rPr kumimoji="1" lang="en-US" altLang="zh-CN" sz="2000" b="1">
                    <a:solidFill>
                      <a:schemeClr val="accent6"/>
                    </a:solidFill>
                    <a:ea typeface="楷体_GB2312" pitchFamily="49" charset="-122"/>
                  </a:rPr>
                  <a:t>5</a:t>
                </a:r>
              </a:p>
            </p:txBody>
          </p:sp>
          <p:sp>
            <p:nvSpPr>
              <p:cNvPr id="151" name="Text Box 76"/>
              <p:cNvSpPr txBox="1">
                <a:spLocks noChangeArrowheads="1"/>
              </p:cNvSpPr>
              <p:nvPr/>
            </p:nvSpPr>
            <p:spPr bwMode="auto">
              <a:xfrm>
                <a:off x="4067" y="3343"/>
                <a:ext cx="401" cy="2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79068" tIns="39534" rIns="79068" bIns="39534">
                <a:spAutoFit/>
              </a:bodyPr>
              <a:lstStyle/>
              <a:p>
                <a:pPr defTabSz="790575" eaLnBrk="1" hangingPunct="1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r>
                  <a:rPr kumimoji="1" lang="en-US" altLang="zh-CN" sz="2000" b="1">
                    <a:solidFill>
                      <a:schemeClr val="accent6"/>
                    </a:solidFill>
                    <a:ea typeface="楷体_GB2312" pitchFamily="49" charset="-122"/>
                  </a:rPr>
                  <a:t>3</a:t>
                </a:r>
              </a:p>
            </p:txBody>
          </p:sp>
          <p:sp>
            <p:nvSpPr>
              <p:cNvPr id="152" name="Text Box 77"/>
              <p:cNvSpPr txBox="1">
                <a:spLocks noChangeArrowheads="1"/>
              </p:cNvSpPr>
              <p:nvPr/>
            </p:nvSpPr>
            <p:spPr bwMode="auto">
              <a:xfrm>
                <a:off x="4060" y="2935"/>
                <a:ext cx="430" cy="2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79068" tIns="39534" rIns="79068" bIns="39534">
                <a:spAutoFit/>
              </a:bodyPr>
              <a:lstStyle/>
              <a:p>
                <a:pPr defTabSz="790575" eaLnBrk="1" hangingPunct="1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60000"/>
                </a:pPr>
                <a:r>
                  <a:rPr kumimoji="1" lang="en-US" altLang="zh-CN" sz="2000" b="1">
                    <a:solidFill>
                      <a:schemeClr val="accent6"/>
                    </a:solidFill>
                    <a:ea typeface="楷体_GB2312" pitchFamily="49" charset="-122"/>
                  </a:rPr>
                  <a:t>1</a:t>
                </a:r>
              </a:p>
            </p:txBody>
          </p:sp>
        </p:grpSp>
      </p:grpSp>
      <p:graphicFrame>
        <p:nvGraphicFramePr>
          <p:cNvPr id="40965" name="Object 5"/>
          <p:cNvGraphicFramePr>
            <a:graphicFrameLocks noChangeAspect="1"/>
          </p:cNvGraphicFramePr>
          <p:nvPr/>
        </p:nvGraphicFramePr>
        <p:xfrm>
          <a:off x="3124200" y="4400550"/>
          <a:ext cx="2857500" cy="279400"/>
        </p:xfrm>
        <a:graphic>
          <a:graphicData uri="http://schemas.openxmlformats.org/presentationml/2006/ole">
            <p:oleObj spid="_x0000_s40965" name="Equation" r:id="rId4" imgW="3098520" imgH="304560" progId="Equation.DSMT4">
              <p:embed/>
            </p:oleObj>
          </a:graphicData>
        </a:graphic>
      </p:graphicFrame>
      <p:sp>
        <p:nvSpPr>
          <p:cNvPr id="82" name="Text Box 16"/>
          <p:cNvSpPr txBox="1">
            <a:spLocks noChangeArrowheads="1"/>
          </p:cNvSpPr>
          <p:nvPr/>
        </p:nvSpPr>
        <p:spPr bwMode="auto">
          <a:xfrm>
            <a:off x="1828800" y="4171950"/>
            <a:ext cx="609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600" b="1" dirty="0" smtClean="0">
                <a:latin typeface="Century" pitchFamily="18" charset="0"/>
                <a:ea typeface="黑体" pitchFamily="49" charset="-122"/>
              </a:rPr>
              <a:t>图</a:t>
            </a:r>
            <a:r>
              <a:rPr lang="en-US" altLang="zh-CN" sz="1600" b="1" dirty="0" smtClean="0">
                <a:latin typeface="Century" pitchFamily="18" charset="0"/>
                <a:ea typeface="黑体" pitchFamily="49" charset="-122"/>
              </a:rPr>
              <a:t>3</a:t>
            </a:r>
            <a:endParaRPr lang="en-US" altLang="zh-CN" sz="1600" b="1" dirty="0">
              <a:latin typeface="Century" pitchFamily="18" charset="0"/>
              <a:ea typeface="黑体" pitchFamily="49" charset="-122"/>
            </a:endParaRPr>
          </a:p>
        </p:txBody>
      </p:sp>
      <p:sp>
        <p:nvSpPr>
          <p:cNvPr id="83" name="Text Box 16"/>
          <p:cNvSpPr txBox="1">
            <a:spLocks noChangeArrowheads="1"/>
          </p:cNvSpPr>
          <p:nvPr/>
        </p:nvSpPr>
        <p:spPr bwMode="auto">
          <a:xfrm>
            <a:off x="6553200" y="4171950"/>
            <a:ext cx="609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600" b="1" dirty="0" smtClean="0">
                <a:latin typeface="Century" pitchFamily="18" charset="0"/>
                <a:ea typeface="黑体" pitchFamily="49" charset="-122"/>
              </a:rPr>
              <a:t>图</a:t>
            </a:r>
            <a:r>
              <a:rPr lang="en-US" altLang="zh-CN" sz="1600" b="1" dirty="0" smtClean="0">
                <a:latin typeface="Century" pitchFamily="18" charset="0"/>
                <a:ea typeface="黑体" pitchFamily="49" charset="-122"/>
              </a:rPr>
              <a:t>4</a:t>
            </a:r>
            <a:endParaRPr lang="en-US" altLang="zh-CN" sz="1600" b="1" dirty="0">
              <a:latin typeface="Century" pitchFamily="18" charset="0"/>
              <a:ea typeface="黑体" pitchFamily="49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3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5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9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09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09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56" grpId="0" animBg="1"/>
      <p:bldP spid="117" grpId="0"/>
      <p:bldP spid="118" grpId="0"/>
      <p:bldP spid="119" grpId="0"/>
      <p:bldP spid="120" grpId="0"/>
      <p:bldP spid="121" grpId="0"/>
      <p:bldP spid="122" grpId="0"/>
      <p:bldP spid="123" grpId="0"/>
      <p:bldP spid="124" grpId="0"/>
      <p:bldP spid="125" grpId="0"/>
      <p:bldP spid="82" grpId="0"/>
      <p:bldP spid="8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96"/>
          <p:cNvGrpSpPr>
            <a:grpSpLocks/>
          </p:cNvGrpSpPr>
          <p:nvPr/>
        </p:nvGrpSpPr>
        <p:grpSpPr bwMode="auto">
          <a:xfrm>
            <a:off x="152400" y="1200150"/>
            <a:ext cx="4124522" cy="2151459"/>
            <a:chOff x="251520" y="1700809"/>
            <a:chExt cx="4123096" cy="2868613"/>
          </a:xfrm>
        </p:grpSpPr>
        <p:grpSp>
          <p:nvGrpSpPr>
            <p:cNvPr id="3" name="组合 61"/>
            <p:cNvGrpSpPr>
              <a:grpSpLocks/>
            </p:cNvGrpSpPr>
            <p:nvPr/>
          </p:nvGrpSpPr>
          <p:grpSpPr bwMode="auto">
            <a:xfrm>
              <a:off x="251520" y="1700809"/>
              <a:ext cx="3930315" cy="2868613"/>
              <a:chOff x="539552" y="2564905"/>
              <a:chExt cx="3930315" cy="2868613"/>
            </a:xfrm>
          </p:grpSpPr>
          <p:grpSp>
            <p:nvGrpSpPr>
              <p:cNvPr id="4" name="组合 34"/>
              <p:cNvGrpSpPr>
                <a:grpSpLocks/>
              </p:cNvGrpSpPr>
              <p:nvPr/>
            </p:nvGrpSpPr>
            <p:grpSpPr bwMode="auto">
              <a:xfrm>
                <a:off x="539552" y="2564905"/>
                <a:ext cx="3838575" cy="2868613"/>
                <a:chOff x="1691680" y="2060849"/>
                <a:chExt cx="3838575" cy="2868613"/>
              </a:xfrm>
            </p:grpSpPr>
            <p:grpSp>
              <p:nvGrpSpPr>
                <p:cNvPr id="5" name="Group 7"/>
                <p:cNvGrpSpPr>
                  <a:grpSpLocks/>
                </p:cNvGrpSpPr>
                <p:nvPr/>
              </p:nvGrpSpPr>
              <p:grpSpPr bwMode="auto">
                <a:xfrm>
                  <a:off x="1691680" y="2060849"/>
                  <a:ext cx="3838575" cy="2868613"/>
                  <a:chOff x="1190" y="2284"/>
                  <a:chExt cx="2418" cy="1807"/>
                </a:xfrm>
              </p:grpSpPr>
              <p:sp>
                <p:nvSpPr>
                  <p:cNvPr id="10288" name="Text Box 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44" y="2372"/>
                    <a:ext cx="2064" cy="3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79068" tIns="39534" rIns="79068" bIns="39534">
                    <a:spAutoFit/>
                  </a:bodyPr>
                  <a:lstStyle/>
                  <a:p>
                    <a:pPr defTabSz="790575">
                      <a:lnSpc>
                        <a:spcPct val="90000"/>
                      </a:lnSpc>
                      <a:spcBef>
                        <a:spcPct val="50000"/>
                      </a:spcBef>
                      <a:buClr>
                        <a:schemeClr val="folHlink"/>
                      </a:buClr>
                      <a:buSzPct val="60000"/>
                    </a:pPr>
                    <a:r>
                      <a:rPr lang="en-US" altLang="zh-CN" b="1" dirty="0">
                        <a:ea typeface="楷体_GB2312" pitchFamily="49" charset="-122"/>
                      </a:rPr>
                      <a:t>    </a:t>
                    </a:r>
                    <a:r>
                      <a:rPr lang="en-US" altLang="zh-CN" sz="2000" b="1" dirty="0">
                        <a:ea typeface="楷体_GB2312" pitchFamily="49" charset="-122"/>
                      </a:rPr>
                      <a:t>00      01       11      10</a:t>
                    </a:r>
                    <a:r>
                      <a:rPr lang="en-US" altLang="zh-CN" b="1" dirty="0">
                        <a:ea typeface="楷体_GB2312" pitchFamily="49" charset="-122"/>
                      </a:rPr>
                      <a:t> </a:t>
                    </a:r>
                  </a:p>
                </p:txBody>
              </p:sp>
              <p:sp>
                <p:nvSpPr>
                  <p:cNvPr id="10289" name="Rectangle 9"/>
                  <p:cNvSpPr>
                    <a:spLocks noChangeArrowheads="1"/>
                  </p:cNvSpPr>
                  <p:nvPr/>
                </p:nvSpPr>
                <p:spPr bwMode="auto">
                  <a:xfrm>
                    <a:off x="1649" y="2597"/>
                    <a:ext cx="1923" cy="1389"/>
                  </a:xfrm>
                  <a:prstGeom prst="rect">
                    <a:avLst/>
                  </a:prstGeom>
                  <a:noFill/>
                  <a:ln w="2857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290" name="Line 10"/>
                  <p:cNvSpPr>
                    <a:spLocks noChangeShapeType="1"/>
                  </p:cNvSpPr>
                  <p:nvPr/>
                </p:nvSpPr>
                <p:spPr bwMode="auto">
                  <a:xfrm>
                    <a:off x="1649" y="2933"/>
                    <a:ext cx="1923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291" name="Line 11"/>
                  <p:cNvSpPr>
                    <a:spLocks noChangeShapeType="1"/>
                  </p:cNvSpPr>
                  <p:nvPr/>
                </p:nvSpPr>
                <p:spPr bwMode="auto">
                  <a:xfrm>
                    <a:off x="1649" y="3304"/>
                    <a:ext cx="1923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292" name="Line 12"/>
                  <p:cNvSpPr>
                    <a:spLocks noChangeShapeType="1"/>
                  </p:cNvSpPr>
                  <p:nvPr/>
                </p:nvSpPr>
                <p:spPr bwMode="auto">
                  <a:xfrm>
                    <a:off x="1649" y="3657"/>
                    <a:ext cx="1923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293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2090" y="2597"/>
                    <a:ext cx="0" cy="1389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294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2585" y="2597"/>
                    <a:ext cx="0" cy="1389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295" name="Line 15"/>
                  <p:cNvSpPr>
                    <a:spLocks noChangeShapeType="1"/>
                  </p:cNvSpPr>
                  <p:nvPr/>
                </p:nvSpPr>
                <p:spPr bwMode="auto">
                  <a:xfrm>
                    <a:off x="3098" y="2597"/>
                    <a:ext cx="0" cy="1389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296" name="Line 16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1211" y="2383"/>
                    <a:ext cx="438" cy="214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297" name="Text Box 1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2" y="3791"/>
                    <a:ext cx="336" cy="3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79068" tIns="39534" rIns="79068" bIns="39534">
                    <a:spAutoFit/>
                  </a:bodyPr>
                  <a:lstStyle/>
                  <a:p>
                    <a:pPr defTabSz="790575">
                      <a:lnSpc>
                        <a:spcPct val="90000"/>
                      </a:lnSpc>
                      <a:spcBef>
                        <a:spcPct val="50000"/>
                      </a:spcBef>
                      <a:buClr>
                        <a:schemeClr val="folHlink"/>
                      </a:buClr>
                      <a:buSzPct val="60000"/>
                    </a:pPr>
                    <a:r>
                      <a:rPr lang="en-US" altLang="zh-CN" sz="2000" b="1">
                        <a:ea typeface="楷体_GB2312" pitchFamily="49" charset="-122"/>
                      </a:rPr>
                      <a:t>10</a:t>
                    </a:r>
                  </a:p>
                </p:txBody>
              </p:sp>
              <p:sp>
                <p:nvSpPr>
                  <p:cNvPr id="10298" name="Text Box 1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2" y="3392"/>
                    <a:ext cx="336" cy="3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79068" tIns="39534" rIns="79068" bIns="39534">
                    <a:spAutoFit/>
                  </a:bodyPr>
                  <a:lstStyle/>
                  <a:p>
                    <a:pPr defTabSz="790575">
                      <a:lnSpc>
                        <a:spcPct val="90000"/>
                      </a:lnSpc>
                      <a:spcBef>
                        <a:spcPct val="50000"/>
                      </a:spcBef>
                      <a:buClr>
                        <a:schemeClr val="folHlink"/>
                      </a:buClr>
                      <a:buSzPct val="60000"/>
                    </a:pPr>
                    <a:r>
                      <a:rPr lang="en-US" altLang="zh-CN" sz="2000" b="1">
                        <a:ea typeface="楷体_GB2312" pitchFamily="49" charset="-122"/>
                      </a:rPr>
                      <a:t>11</a:t>
                    </a:r>
                  </a:p>
                </p:txBody>
              </p:sp>
              <p:sp>
                <p:nvSpPr>
                  <p:cNvPr id="10299" name="Text Box 1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2" y="3031"/>
                    <a:ext cx="336" cy="3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79068" tIns="39534" rIns="79068" bIns="39534">
                    <a:spAutoFit/>
                  </a:bodyPr>
                  <a:lstStyle/>
                  <a:p>
                    <a:pPr defTabSz="790575">
                      <a:lnSpc>
                        <a:spcPct val="90000"/>
                      </a:lnSpc>
                      <a:spcBef>
                        <a:spcPct val="50000"/>
                      </a:spcBef>
                      <a:buClr>
                        <a:schemeClr val="folHlink"/>
                      </a:buClr>
                      <a:buSzPct val="60000"/>
                    </a:pPr>
                    <a:r>
                      <a:rPr lang="en-US" altLang="zh-CN" sz="2000" b="1">
                        <a:ea typeface="楷体_GB2312" pitchFamily="49" charset="-122"/>
                      </a:rPr>
                      <a:t>01</a:t>
                    </a:r>
                  </a:p>
                </p:txBody>
              </p:sp>
              <p:sp>
                <p:nvSpPr>
                  <p:cNvPr id="10300" name="Text Box 2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2" y="2694"/>
                    <a:ext cx="336" cy="3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79068" tIns="39534" rIns="79068" bIns="39534">
                    <a:spAutoFit/>
                  </a:bodyPr>
                  <a:lstStyle/>
                  <a:p>
                    <a:pPr defTabSz="790575">
                      <a:lnSpc>
                        <a:spcPct val="90000"/>
                      </a:lnSpc>
                      <a:spcBef>
                        <a:spcPct val="50000"/>
                      </a:spcBef>
                      <a:buClr>
                        <a:schemeClr val="folHlink"/>
                      </a:buClr>
                      <a:buSzPct val="60000"/>
                    </a:pPr>
                    <a:r>
                      <a:rPr lang="en-US" altLang="zh-CN" sz="2000" b="1">
                        <a:ea typeface="楷体_GB2312" pitchFamily="49" charset="-122"/>
                      </a:rPr>
                      <a:t>00</a:t>
                    </a:r>
                  </a:p>
                </p:txBody>
              </p:sp>
              <p:sp>
                <p:nvSpPr>
                  <p:cNvPr id="10301" name="Text Box 2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15" y="2284"/>
                    <a:ext cx="432" cy="276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79068" tIns="39534" rIns="79068" bIns="39534">
                    <a:spAutoFit/>
                  </a:bodyPr>
                  <a:lstStyle/>
                  <a:p>
                    <a:pPr defTabSz="790575">
                      <a:lnSpc>
                        <a:spcPct val="90000"/>
                      </a:lnSpc>
                      <a:spcBef>
                        <a:spcPct val="50000"/>
                      </a:spcBef>
                      <a:buClr>
                        <a:schemeClr val="folHlink"/>
                      </a:buClr>
                      <a:buSzPct val="60000"/>
                    </a:pPr>
                    <a:r>
                      <a:rPr lang="en-US" altLang="zh-CN" b="1">
                        <a:ea typeface="楷体_GB2312" pitchFamily="49" charset="-122"/>
                      </a:rPr>
                      <a:t>CD</a:t>
                    </a:r>
                  </a:p>
                </p:txBody>
              </p:sp>
              <p:sp>
                <p:nvSpPr>
                  <p:cNvPr id="10302" name="Text Box 2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90" y="2484"/>
                    <a:ext cx="432" cy="276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79068" tIns="39534" rIns="79068" bIns="39534">
                    <a:spAutoFit/>
                  </a:bodyPr>
                  <a:lstStyle/>
                  <a:p>
                    <a:pPr defTabSz="790575">
                      <a:lnSpc>
                        <a:spcPct val="90000"/>
                      </a:lnSpc>
                      <a:spcBef>
                        <a:spcPct val="50000"/>
                      </a:spcBef>
                      <a:buClr>
                        <a:schemeClr val="folHlink"/>
                      </a:buClr>
                      <a:buSzPct val="60000"/>
                    </a:pPr>
                    <a:r>
                      <a:rPr lang="en-US" altLang="zh-CN" b="1">
                        <a:ea typeface="楷体_GB2312" pitchFamily="49" charset="-122"/>
                      </a:rPr>
                      <a:t>AB</a:t>
                    </a:r>
                  </a:p>
                </p:txBody>
              </p:sp>
            </p:grpSp>
            <p:sp>
              <p:nvSpPr>
                <p:cNvPr id="10287" name="TextBox 31"/>
                <p:cNvSpPr txBox="1">
                  <a:spLocks noChangeArrowheads="1"/>
                </p:cNvSpPr>
                <p:nvPr/>
              </p:nvSpPr>
              <p:spPr bwMode="auto">
                <a:xfrm>
                  <a:off x="3245154" y="3697492"/>
                  <a:ext cx="792087" cy="49244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altLang="zh-CN">
                      <a:solidFill>
                        <a:srgbClr val="FF0000"/>
                      </a:solidFill>
                    </a:rPr>
                    <a:t>1</a:t>
                  </a:r>
                  <a:endParaRPr lang="zh-CN" altLang="en-US">
                    <a:solidFill>
                      <a:srgbClr val="FF0000"/>
                    </a:solidFill>
                  </a:endParaRPr>
                </a:p>
              </p:txBody>
            </p:sp>
          </p:grpSp>
          <p:sp>
            <p:nvSpPr>
              <p:cNvPr id="10283" name="TextBox 31"/>
              <p:cNvSpPr txBox="1">
                <a:spLocks noChangeArrowheads="1"/>
              </p:cNvSpPr>
              <p:nvPr/>
            </p:nvSpPr>
            <p:spPr bwMode="auto">
              <a:xfrm>
                <a:off x="2112153" y="4797154"/>
                <a:ext cx="792087" cy="4924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dirty="0">
                    <a:solidFill>
                      <a:srgbClr val="FF0000"/>
                    </a:solidFill>
                  </a:rPr>
                  <a:t>1</a:t>
                </a:r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0284" name="TextBox 31"/>
              <p:cNvSpPr txBox="1">
                <a:spLocks noChangeArrowheads="1"/>
              </p:cNvSpPr>
              <p:nvPr/>
            </p:nvSpPr>
            <p:spPr bwMode="auto">
              <a:xfrm>
                <a:off x="3677780" y="3729131"/>
                <a:ext cx="792087" cy="4924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>
                    <a:solidFill>
                      <a:srgbClr val="FF0000"/>
                    </a:solidFill>
                  </a:rPr>
                  <a:t>1</a:t>
                </a:r>
                <a:endParaRPr lang="zh-CN" alt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10285" name="TextBox 31"/>
              <p:cNvSpPr txBox="1">
                <a:spLocks noChangeArrowheads="1"/>
              </p:cNvSpPr>
              <p:nvPr/>
            </p:nvSpPr>
            <p:spPr bwMode="auto">
              <a:xfrm>
                <a:off x="2977109" y="3717033"/>
                <a:ext cx="792087" cy="4924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dirty="0">
                    <a:solidFill>
                      <a:srgbClr val="FF0000"/>
                    </a:solidFill>
                  </a:rPr>
                  <a:t>1</a:t>
                </a:r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10278" name="Text Box 32"/>
            <p:cNvSpPr txBox="1">
              <a:spLocks noChangeArrowheads="1"/>
            </p:cNvSpPr>
            <p:nvPr/>
          </p:nvSpPr>
          <p:spPr bwMode="auto">
            <a:xfrm>
              <a:off x="1399645" y="2422365"/>
              <a:ext cx="2974971" cy="3649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9068" tIns="39534" rIns="79068" bIns="39534">
              <a:spAutoFit/>
            </a:bodyPr>
            <a:lstStyle/>
            <a:p>
              <a:pPr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sz="1400" b="1" dirty="0">
                  <a:solidFill>
                    <a:schemeClr val="accent6"/>
                  </a:solidFill>
                  <a:latin typeface="CG Times" pitchFamily="18" charset="0"/>
                  <a:ea typeface="楷体_GB2312" pitchFamily="49" charset="-122"/>
                </a:rPr>
                <a:t> </a:t>
              </a:r>
              <a:r>
                <a:rPr lang="en-US" altLang="zh-CN" sz="1400" b="1" dirty="0">
                  <a:solidFill>
                    <a:schemeClr val="accent6"/>
                  </a:solidFill>
                  <a:ea typeface="楷体_GB2312" pitchFamily="49" charset="-122"/>
                </a:rPr>
                <a:t>0             1               3              2</a:t>
              </a:r>
            </a:p>
          </p:txBody>
        </p:sp>
        <p:sp>
          <p:nvSpPr>
            <p:cNvPr id="10279" name="Text Box 33"/>
            <p:cNvSpPr txBox="1">
              <a:spLocks noChangeArrowheads="1"/>
            </p:cNvSpPr>
            <p:nvPr/>
          </p:nvSpPr>
          <p:spPr bwMode="auto">
            <a:xfrm>
              <a:off x="1389926" y="3014647"/>
              <a:ext cx="2974971" cy="3649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9068" tIns="39534" rIns="79068" bIns="39534">
              <a:spAutoFit/>
            </a:bodyPr>
            <a:lstStyle/>
            <a:p>
              <a:pPr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sz="1400" b="1" dirty="0">
                  <a:solidFill>
                    <a:schemeClr val="accent6"/>
                  </a:solidFill>
                  <a:latin typeface="CG Times" pitchFamily="18" charset="0"/>
                  <a:ea typeface="楷体_GB2312" pitchFamily="49" charset="-122"/>
                </a:rPr>
                <a:t> </a:t>
              </a:r>
              <a:r>
                <a:rPr lang="en-US" altLang="zh-CN" sz="1400" b="1" dirty="0">
                  <a:solidFill>
                    <a:schemeClr val="accent6"/>
                  </a:solidFill>
                  <a:ea typeface="楷体_GB2312" pitchFamily="49" charset="-122"/>
                </a:rPr>
                <a:t>4             5               7              6</a:t>
              </a:r>
            </a:p>
          </p:txBody>
        </p:sp>
        <p:sp>
          <p:nvSpPr>
            <p:cNvPr id="10280" name="Text Box 34"/>
            <p:cNvSpPr txBox="1">
              <a:spLocks noChangeArrowheads="1"/>
            </p:cNvSpPr>
            <p:nvPr/>
          </p:nvSpPr>
          <p:spPr bwMode="auto">
            <a:xfrm>
              <a:off x="1317951" y="3559838"/>
              <a:ext cx="2974971" cy="3649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9068" tIns="39534" rIns="79068" bIns="39534">
              <a:spAutoFit/>
            </a:bodyPr>
            <a:lstStyle/>
            <a:p>
              <a:pPr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sz="1400" b="1" dirty="0">
                  <a:solidFill>
                    <a:schemeClr val="accent6"/>
                  </a:solidFill>
                  <a:ea typeface="楷体_GB2312" pitchFamily="49" charset="-122"/>
                </a:rPr>
                <a:t>12          </a:t>
              </a:r>
              <a:r>
                <a:rPr lang="en-US" altLang="zh-CN" sz="1400" b="1" dirty="0" smtClean="0">
                  <a:solidFill>
                    <a:schemeClr val="accent6"/>
                  </a:solidFill>
                  <a:ea typeface="楷体_GB2312" pitchFamily="49" charset="-122"/>
                </a:rPr>
                <a:t>   </a:t>
              </a:r>
              <a:r>
                <a:rPr lang="en-US" altLang="zh-CN" sz="1400" b="1" dirty="0">
                  <a:solidFill>
                    <a:schemeClr val="accent6"/>
                  </a:solidFill>
                  <a:ea typeface="楷体_GB2312" pitchFamily="49" charset="-122"/>
                </a:rPr>
                <a:t>13            15            14</a:t>
              </a:r>
            </a:p>
          </p:txBody>
        </p:sp>
        <p:sp>
          <p:nvSpPr>
            <p:cNvPr id="10281" name="Text Box 35"/>
            <p:cNvSpPr txBox="1">
              <a:spLocks noChangeArrowheads="1"/>
            </p:cNvSpPr>
            <p:nvPr/>
          </p:nvSpPr>
          <p:spPr bwMode="auto">
            <a:xfrm>
              <a:off x="1389926" y="4079024"/>
              <a:ext cx="2974971" cy="3649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9068" tIns="39534" rIns="79068" bIns="39534">
              <a:spAutoFit/>
            </a:bodyPr>
            <a:lstStyle/>
            <a:p>
              <a:pPr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sz="1400" b="1" dirty="0">
                  <a:solidFill>
                    <a:schemeClr val="accent6"/>
                  </a:solidFill>
                  <a:latin typeface="CG Times" pitchFamily="18" charset="0"/>
                  <a:ea typeface="楷体_GB2312" pitchFamily="49" charset="-122"/>
                </a:rPr>
                <a:t> </a:t>
              </a:r>
              <a:r>
                <a:rPr lang="en-US" altLang="zh-CN" sz="1400" b="1" dirty="0">
                  <a:solidFill>
                    <a:schemeClr val="accent6"/>
                  </a:solidFill>
                  <a:ea typeface="楷体_GB2312" pitchFamily="49" charset="-122"/>
                </a:rPr>
                <a:t>8             </a:t>
              </a:r>
              <a:r>
                <a:rPr lang="en-US" altLang="zh-CN" sz="1400" b="1" dirty="0" smtClean="0">
                  <a:solidFill>
                    <a:schemeClr val="accent6"/>
                  </a:solidFill>
                  <a:ea typeface="楷体_GB2312" pitchFamily="49" charset="-122"/>
                </a:rPr>
                <a:t> 9             </a:t>
              </a:r>
              <a:r>
                <a:rPr lang="en-US" altLang="zh-CN" sz="1400" b="1" dirty="0">
                  <a:solidFill>
                    <a:schemeClr val="accent6"/>
                  </a:solidFill>
                  <a:ea typeface="楷体_GB2312" pitchFamily="49" charset="-122"/>
                </a:rPr>
                <a:t>11            </a:t>
              </a:r>
              <a:r>
                <a:rPr lang="en-US" altLang="zh-CN" sz="1400" b="1" dirty="0" smtClean="0">
                  <a:solidFill>
                    <a:schemeClr val="accent6"/>
                  </a:solidFill>
                  <a:ea typeface="楷体_GB2312" pitchFamily="49" charset="-122"/>
                </a:rPr>
                <a:t>10</a:t>
              </a:r>
              <a:endParaRPr lang="en-US" altLang="zh-CN" sz="1400" b="1" dirty="0">
                <a:solidFill>
                  <a:schemeClr val="accent6"/>
                </a:solidFill>
                <a:ea typeface="楷体_GB2312" pitchFamily="49" charset="-122"/>
              </a:endParaRPr>
            </a:p>
          </p:txBody>
        </p:sp>
      </p:grpSp>
      <p:graphicFrame>
        <p:nvGraphicFramePr>
          <p:cNvPr id="233477" name="Object 5"/>
          <p:cNvGraphicFramePr>
            <a:graphicFrameLocks noChangeAspect="1"/>
          </p:cNvGraphicFramePr>
          <p:nvPr/>
        </p:nvGraphicFramePr>
        <p:xfrm>
          <a:off x="2133600" y="3790950"/>
          <a:ext cx="4030663" cy="304800"/>
        </p:xfrm>
        <a:graphic>
          <a:graphicData uri="http://schemas.openxmlformats.org/presentationml/2006/ole">
            <p:oleObj spid="_x0000_s46082" name="Equation" r:id="rId3" imgW="3416040" imgH="342720" progId="Equation.DSMT4">
              <p:embed/>
            </p:oleObj>
          </a:graphicData>
        </a:graphic>
      </p:graphicFrame>
      <p:sp>
        <p:nvSpPr>
          <p:cNvPr id="63" name="矩形 62"/>
          <p:cNvSpPr/>
          <p:nvPr/>
        </p:nvSpPr>
        <p:spPr>
          <a:xfrm>
            <a:off x="0" y="0"/>
            <a:ext cx="43556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：单变量无反的逻辑设计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Rectangle 2"/>
          <p:cNvSpPr>
            <a:spLocks noChangeArrowheads="1"/>
          </p:cNvSpPr>
          <p:nvPr/>
        </p:nvSpPr>
        <p:spPr bwMode="auto">
          <a:xfrm>
            <a:off x="304800" y="666750"/>
            <a:ext cx="223996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r>
              <a:rPr kumimoji="1"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kumimoji="1"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kumimoji="1"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：将函数</a:t>
            </a:r>
            <a:endParaRPr kumimoji="1" lang="zh-CN" altLang="en-US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41990" name="Object 6"/>
          <p:cNvGraphicFramePr>
            <a:graphicFrameLocks noChangeAspect="1"/>
          </p:cNvGraphicFramePr>
          <p:nvPr/>
        </p:nvGraphicFramePr>
        <p:xfrm>
          <a:off x="1447800" y="819150"/>
          <a:ext cx="1698625" cy="257175"/>
        </p:xfrm>
        <a:graphic>
          <a:graphicData uri="http://schemas.openxmlformats.org/presentationml/2006/ole">
            <p:oleObj spid="_x0000_s46083" name="Equation" r:id="rId4" imgW="1841400" imgH="279360" progId="Equation.DSMT4">
              <p:embed/>
            </p:oleObj>
          </a:graphicData>
        </a:graphic>
      </p:graphicFrame>
      <p:sp>
        <p:nvSpPr>
          <p:cNvPr id="94" name="TextBox 32"/>
          <p:cNvSpPr txBox="1">
            <a:spLocks noChangeArrowheads="1"/>
          </p:cNvSpPr>
          <p:nvPr/>
        </p:nvSpPr>
        <p:spPr bwMode="auto">
          <a:xfrm>
            <a:off x="6781800" y="2495550"/>
            <a:ext cx="792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pSp>
        <p:nvGrpSpPr>
          <p:cNvPr id="6" name="组合 96"/>
          <p:cNvGrpSpPr>
            <a:grpSpLocks/>
          </p:cNvGrpSpPr>
          <p:nvPr/>
        </p:nvGrpSpPr>
        <p:grpSpPr bwMode="auto">
          <a:xfrm>
            <a:off x="4419600" y="1276350"/>
            <a:ext cx="4124522" cy="2151459"/>
            <a:chOff x="251520" y="1700809"/>
            <a:chExt cx="4123096" cy="2868613"/>
          </a:xfrm>
        </p:grpSpPr>
        <p:grpSp>
          <p:nvGrpSpPr>
            <p:cNvPr id="7" name="组合 61"/>
            <p:cNvGrpSpPr>
              <a:grpSpLocks/>
            </p:cNvGrpSpPr>
            <p:nvPr/>
          </p:nvGrpSpPr>
          <p:grpSpPr bwMode="auto">
            <a:xfrm>
              <a:off x="251520" y="1700809"/>
              <a:ext cx="3930315" cy="2868613"/>
              <a:chOff x="539552" y="2564905"/>
              <a:chExt cx="3930315" cy="2868613"/>
            </a:xfrm>
          </p:grpSpPr>
          <p:grpSp>
            <p:nvGrpSpPr>
              <p:cNvPr id="8" name="组合 34"/>
              <p:cNvGrpSpPr>
                <a:grpSpLocks/>
              </p:cNvGrpSpPr>
              <p:nvPr/>
            </p:nvGrpSpPr>
            <p:grpSpPr bwMode="auto">
              <a:xfrm>
                <a:off x="539552" y="2564905"/>
                <a:ext cx="3838575" cy="2868613"/>
                <a:chOff x="1691680" y="2060849"/>
                <a:chExt cx="3838575" cy="2868613"/>
              </a:xfrm>
            </p:grpSpPr>
            <p:grpSp>
              <p:nvGrpSpPr>
                <p:cNvPr id="9" name="Group 7"/>
                <p:cNvGrpSpPr>
                  <a:grpSpLocks/>
                </p:cNvGrpSpPr>
                <p:nvPr/>
              </p:nvGrpSpPr>
              <p:grpSpPr bwMode="auto">
                <a:xfrm>
                  <a:off x="1691680" y="2060849"/>
                  <a:ext cx="3838575" cy="2868613"/>
                  <a:chOff x="1190" y="2284"/>
                  <a:chExt cx="2418" cy="1807"/>
                </a:xfrm>
              </p:grpSpPr>
              <p:sp>
                <p:nvSpPr>
                  <p:cNvPr id="107" name="Text Box 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44" y="2372"/>
                    <a:ext cx="2064" cy="3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79068" tIns="39534" rIns="79068" bIns="39534">
                    <a:spAutoFit/>
                  </a:bodyPr>
                  <a:lstStyle/>
                  <a:p>
                    <a:pPr defTabSz="790575">
                      <a:lnSpc>
                        <a:spcPct val="90000"/>
                      </a:lnSpc>
                      <a:spcBef>
                        <a:spcPct val="50000"/>
                      </a:spcBef>
                      <a:buClr>
                        <a:schemeClr val="folHlink"/>
                      </a:buClr>
                      <a:buSzPct val="60000"/>
                    </a:pPr>
                    <a:r>
                      <a:rPr lang="en-US" altLang="zh-CN" b="1" dirty="0">
                        <a:ea typeface="楷体_GB2312" pitchFamily="49" charset="-122"/>
                      </a:rPr>
                      <a:t>    </a:t>
                    </a:r>
                    <a:r>
                      <a:rPr lang="en-US" altLang="zh-CN" sz="2000" b="1" dirty="0">
                        <a:ea typeface="楷体_GB2312" pitchFamily="49" charset="-122"/>
                      </a:rPr>
                      <a:t>00      01       11      10</a:t>
                    </a:r>
                    <a:r>
                      <a:rPr lang="en-US" altLang="zh-CN" b="1" dirty="0">
                        <a:ea typeface="楷体_GB2312" pitchFamily="49" charset="-122"/>
                      </a:rPr>
                      <a:t> </a:t>
                    </a:r>
                  </a:p>
                </p:txBody>
              </p:sp>
              <p:sp>
                <p:nvSpPr>
                  <p:cNvPr id="108" name="Rectangle 9"/>
                  <p:cNvSpPr>
                    <a:spLocks noChangeArrowheads="1"/>
                  </p:cNvSpPr>
                  <p:nvPr/>
                </p:nvSpPr>
                <p:spPr bwMode="auto">
                  <a:xfrm>
                    <a:off x="1649" y="2597"/>
                    <a:ext cx="1923" cy="1389"/>
                  </a:xfrm>
                  <a:prstGeom prst="rect">
                    <a:avLst/>
                  </a:prstGeom>
                  <a:noFill/>
                  <a:ln w="2857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9" name="Line 10"/>
                  <p:cNvSpPr>
                    <a:spLocks noChangeShapeType="1"/>
                  </p:cNvSpPr>
                  <p:nvPr/>
                </p:nvSpPr>
                <p:spPr bwMode="auto">
                  <a:xfrm>
                    <a:off x="1649" y="2933"/>
                    <a:ext cx="1923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0" name="Line 11"/>
                  <p:cNvSpPr>
                    <a:spLocks noChangeShapeType="1"/>
                  </p:cNvSpPr>
                  <p:nvPr/>
                </p:nvSpPr>
                <p:spPr bwMode="auto">
                  <a:xfrm>
                    <a:off x="1649" y="3304"/>
                    <a:ext cx="1923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1" name="Line 12"/>
                  <p:cNvSpPr>
                    <a:spLocks noChangeShapeType="1"/>
                  </p:cNvSpPr>
                  <p:nvPr/>
                </p:nvSpPr>
                <p:spPr bwMode="auto">
                  <a:xfrm>
                    <a:off x="1649" y="3657"/>
                    <a:ext cx="1923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2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2090" y="2597"/>
                    <a:ext cx="0" cy="1389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3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2585" y="2597"/>
                    <a:ext cx="0" cy="1389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4" name="Line 15"/>
                  <p:cNvSpPr>
                    <a:spLocks noChangeShapeType="1"/>
                  </p:cNvSpPr>
                  <p:nvPr/>
                </p:nvSpPr>
                <p:spPr bwMode="auto">
                  <a:xfrm>
                    <a:off x="3098" y="2597"/>
                    <a:ext cx="0" cy="1389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5" name="Line 16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1211" y="2383"/>
                    <a:ext cx="438" cy="214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6" name="Text Box 1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2" y="3791"/>
                    <a:ext cx="336" cy="3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79068" tIns="39534" rIns="79068" bIns="39534">
                    <a:spAutoFit/>
                  </a:bodyPr>
                  <a:lstStyle/>
                  <a:p>
                    <a:pPr defTabSz="790575">
                      <a:lnSpc>
                        <a:spcPct val="90000"/>
                      </a:lnSpc>
                      <a:spcBef>
                        <a:spcPct val="50000"/>
                      </a:spcBef>
                      <a:buClr>
                        <a:schemeClr val="folHlink"/>
                      </a:buClr>
                      <a:buSzPct val="60000"/>
                    </a:pPr>
                    <a:r>
                      <a:rPr lang="en-US" altLang="zh-CN" sz="2000" b="1">
                        <a:ea typeface="楷体_GB2312" pitchFamily="49" charset="-122"/>
                      </a:rPr>
                      <a:t>10</a:t>
                    </a:r>
                  </a:p>
                </p:txBody>
              </p:sp>
              <p:sp>
                <p:nvSpPr>
                  <p:cNvPr id="117" name="Text Box 1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2" y="3392"/>
                    <a:ext cx="336" cy="3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79068" tIns="39534" rIns="79068" bIns="39534">
                    <a:spAutoFit/>
                  </a:bodyPr>
                  <a:lstStyle/>
                  <a:p>
                    <a:pPr defTabSz="790575">
                      <a:lnSpc>
                        <a:spcPct val="90000"/>
                      </a:lnSpc>
                      <a:spcBef>
                        <a:spcPct val="50000"/>
                      </a:spcBef>
                      <a:buClr>
                        <a:schemeClr val="folHlink"/>
                      </a:buClr>
                      <a:buSzPct val="60000"/>
                    </a:pPr>
                    <a:r>
                      <a:rPr lang="en-US" altLang="zh-CN" sz="2000" b="1">
                        <a:ea typeface="楷体_GB2312" pitchFamily="49" charset="-122"/>
                      </a:rPr>
                      <a:t>11</a:t>
                    </a:r>
                  </a:p>
                </p:txBody>
              </p:sp>
              <p:sp>
                <p:nvSpPr>
                  <p:cNvPr id="118" name="Text Box 1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2" y="3031"/>
                    <a:ext cx="336" cy="3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79068" tIns="39534" rIns="79068" bIns="39534">
                    <a:spAutoFit/>
                  </a:bodyPr>
                  <a:lstStyle/>
                  <a:p>
                    <a:pPr defTabSz="790575">
                      <a:lnSpc>
                        <a:spcPct val="90000"/>
                      </a:lnSpc>
                      <a:spcBef>
                        <a:spcPct val="50000"/>
                      </a:spcBef>
                      <a:buClr>
                        <a:schemeClr val="folHlink"/>
                      </a:buClr>
                      <a:buSzPct val="60000"/>
                    </a:pPr>
                    <a:r>
                      <a:rPr lang="en-US" altLang="zh-CN" sz="2000" b="1">
                        <a:ea typeface="楷体_GB2312" pitchFamily="49" charset="-122"/>
                      </a:rPr>
                      <a:t>01</a:t>
                    </a:r>
                  </a:p>
                </p:txBody>
              </p:sp>
              <p:sp>
                <p:nvSpPr>
                  <p:cNvPr id="119" name="Text Box 2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2" y="2694"/>
                    <a:ext cx="336" cy="3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79068" tIns="39534" rIns="79068" bIns="39534">
                    <a:spAutoFit/>
                  </a:bodyPr>
                  <a:lstStyle/>
                  <a:p>
                    <a:pPr defTabSz="790575">
                      <a:lnSpc>
                        <a:spcPct val="90000"/>
                      </a:lnSpc>
                      <a:spcBef>
                        <a:spcPct val="50000"/>
                      </a:spcBef>
                      <a:buClr>
                        <a:schemeClr val="folHlink"/>
                      </a:buClr>
                      <a:buSzPct val="60000"/>
                    </a:pPr>
                    <a:r>
                      <a:rPr lang="en-US" altLang="zh-CN" sz="2000" b="1">
                        <a:ea typeface="楷体_GB2312" pitchFamily="49" charset="-122"/>
                      </a:rPr>
                      <a:t>00</a:t>
                    </a:r>
                  </a:p>
                </p:txBody>
              </p:sp>
              <p:sp>
                <p:nvSpPr>
                  <p:cNvPr id="120" name="Text Box 2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15" y="2284"/>
                    <a:ext cx="432" cy="276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79068" tIns="39534" rIns="79068" bIns="39534">
                    <a:spAutoFit/>
                  </a:bodyPr>
                  <a:lstStyle/>
                  <a:p>
                    <a:pPr defTabSz="790575">
                      <a:lnSpc>
                        <a:spcPct val="90000"/>
                      </a:lnSpc>
                      <a:spcBef>
                        <a:spcPct val="50000"/>
                      </a:spcBef>
                      <a:buClr>
                        <a:schemeClr val="folHlink"/>
                      </a:buClr>
                      <a:buSzPct val="60000"/>
                    </a:pPr>
                    <a:r>
                      <a:rPr lang="en-US" altLang="zh-CN" b="1">
                        <a:ea typeface="楷体_GB2312" pitchFamily="49" charset="-122"/>
                      </a:rPr>
                      <a:t>CD</a:t>
                    </a:r>
                  </a:p>
                </p:txBody>
              </p:sp>
              <p:sp>
                <p:nvSpPr>
                  <p:cNvPr id="121" name="Text Box 2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90" y="2484"/>
                    <a:ext cx="432" cy="276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79068" tIns="39534" rIns="79068" bIns="39534">
                    <a:spAutoFit/>
                  </a:bodyPr>
                  <a:lstStyle/>
                  <a:p>
                    <a:pPr defTabSz="790575">
                      <a:lnSpc>
                        <a:spcPct val="90000"/>
                      </a:lnSpc>
                      <a:spcBef>
                        <a:spcPct val="50000"/>
                      </a:spcBef>
                      <a:buClr>
                        <a:schemeClr val="folHlink"/>
                      </a:buClr>
                      <a:buSzPct val="60000"/>
                    </a:pPr>
                    <a:r>
                      <a:rPr lang="en-US" altLang="zh-CN" b="1">
                        <a:ea typeface="楷体_GB2312" pitchFamily="49" charset="-122"/>
                      </a:rPr>
                      <a:t>AB</a:t>
                    </a:r>
                  </a:p>
                </p:txBody>
              </p:sp>
            </p:grpSp>
            <p:sp>
              <p:nvSpPr>
                <p:cNvPr id="106" name="TextBox 31"/>
                <p:cNvSpPr txBox="1">
                  <a:spLocks noChangeArrowheads="1"/>
                </p:cNvSpPr>
                <p:nvPr/>
              </p:nvSpPr>
              <p:spPr bwMode="auto">
                <a:xfrm>
                  <a:off x="3245154" y="3697492"/>
                  <a:ext cx="792087" cy="49244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altLang="zh-CN">
                      <a:solidFill>
                        <a:srgbClr val="FF0000"/>
                      </a:solidFill>
                    </a:rPr>
                    <a:t>1</a:t>
                  </a:r>
                  <a:endParaRPr lang="zh-CN" altLang="en-US">
                    <a:solidFill>
                      <a:srgbClr val="FF0000"/>
                    </a:solidFill>
                  </a:endParaRPr>
                </a:p>
              </p:txBody>
            </p:sp>
          </p:grpSp>
          <p:sp>
            <p:nvSpPr>
              <p:cNvPr id="102" name="TextBox 31"/>
              <p:cNvSpPr txBox="1">
                <a:spLocks noChangeArrowheads="1"/>
              </p:cNvSpPr>
              <p:nvPr/>
            </p:nvSpPr>
            <p:spPr bwMode="auto">
              <a:xfrm>
                <a:off x="2112153" y="4797154"/>
                <a:ext cx="792087" cy="4924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dirty="0">
                    <a:solidFill>
                      <a:srgbClr val="FF0000"/>
                    </a:solidFill>
                  </a:rPr>
                  <a:t>1</a:t>
                </a:r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03" name="TextBox 31"/>
              <p:cNvSpPr txBox="1">
                <a:spLocks noChangeArrowheads="1"/>
              </p:cNvSpPr>
              <p:nvPr/>
            </p:nvSpPr>
            <p:spPr bwMode="auto">
              <a:xfrm>
                <a:off x="3677780" y="3729131"/>
                <a:ext cx="792087" cy="4924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>
                    <a:solidFill>
                      <a:srgbClr val="FF0000"/>
                    </a:solidFill>
                  </a:rPr>
                  <a:t>1</a:t>
                </a:r>
                <a:endParaRPr lang="zh-CN" alt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104" name="TextBox 31"/>
              <p:cNvSpPr txBox="1">
                <a:spLocks noChangeArrowheads="1"/>
              </p:cNvSpPr>
              <p:nvPr/>
            </p:nvSpPr>
            <p:spPr bwMode="auto">
              <a:xfrm>
                <a:off x="2977109" y="3717033"/>
                <a:ext cx="792087" cy="4924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dirty="0">
                    <a:solidFill>
                      <a:srgbClr val="FF0000"/>
                    </a:solidFill>
                  </a:rPr>
                  <a:t>1</a:t>
                </a:r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97" name="Text Box 32"/>
            <p:cNvSpPr txBox="1">
              <a:spLocks noChangeArrowheads="1"/>
            </p:cNvSpPr>
            <p:nvPr/>
          </p:nvSpPr>
          <p:spPr bwMode="auto">
            <a:xfrm>
              <a:off x="1399645" y="2422365"/>
              <a:ext cx="2974971" cy="3649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9068" tIns="39534" rIns="79068" bIns="39534">
              <a:spAutoFit/>
            </a:bodyPr>
            <a:lstStyle/>
            <a:p>
              <a:pPr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sz="1400" b="1" dirty="0">
                  <a:solidFill>
                    <a:schemeClr val="accent6"/>
                  </a:solidFill>
                  <a:latin typeface="CG Times" pitchFamily="18" charset="0"/>
                  <a:ea typeface="楷体_GB2312" pitchFamily="49" charset="-122"/>
                </a:rPr>
                <a:t> </a:t>
              </a:r>
              <a:r>
                <a:rPr lang="en-US" altLang="zh-CN" sz="1400" b="1" dirty="0">
                  <a:solidFill>
                    <a:schemeClr val="accent6"/>
                  </a:solidFill>
                  <a:ea typeface="楷体_GB2312" pitchFamily="49" charset="-122"/>
                </a:rPr>
                <a:t>0             1               3              2</a:t>
              </a:r>
            </a:p>
          </p:txBody>
        </p:sp>
        <p:sp>
          <p:nvSpPr>
            <p:cNvPr id="98" name="Text Box 33"/>
            <p:cNvSpPr txBox="1">
              <a:spLocks noChangeArrowheads="1"/>
            </p:cNvSpPr>
            <p:nvPr/>
          </p:nvSpPr>
          <p:spPr bwMode="auto">
            <a:xfrm>
              <a:off x="1389926" y="3014647"/>
              <a:ext cx="2974971" cy="3649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9068" tIns="39534" rIns="79068" bIns="39534">
              <a:spAutoFit/>
            </a:bodyPr>
            <a:lstStyle/>
            <a:p>
              <a:pPr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sz="1400" b="1" dirty="0">
                  <a:solidFill>
                    <a:schemeClr val="accent6"/>
                  </a:solidFill>
                  <a:latin typeface="CG Times" pitchFamily="18" charset="0"/>
                  <a:ea typeface="楷体_GB2312" pitchFamily="49" charset="-122"/>
                </a:rPr>
                <a:t> </a:t>
              </a:r>
              <a:r>
                <a:rPr lang="en-US" altLang="zh-CN" sz="1400" b="1" dirty="0">
                  <a:solidFill>
                    <a:schemeClr val="accent6"/>
                  </a:solidFill>
                  <a:ea typeface="楷体_GB2312" pitchFamily="49" charset="-122"/>
                </a:rPr>
                <a:t>4             5               7              6</a:t>
              </a:r>
            </a:p>
          </p:txBody>
        </p:sp>
        <p:sp>
          <p:nvSpPr>
            <p:cNvPr id="99" name="Text Box 34"/>
            <p:cNvSpPr txBox="1">
              <a:spLocks noChangeArrowheads="1"/>
            </p:cNvSpPr>
            <p:nvPr/>
          </p:nvSpPr>
          <p:spPr bwMode="auto">
            <a:xfrm>
              <a:off x="1317951" y="3559838"/>
              <a:ext cx="2974971" cy="3649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9068" tIns="39534" rIns="79068" bIns="39534">
              <a:spAutoFit/>
            </a:bodyPr>
            <a:lstStyle/>
            <a:p>
              <a:pPr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sz="1400" b="1" dirty="0">
                  <a:solidFill>
                    <a:schemeClr val="accent6"/>
                  </a:solidFill>
                  <a:ea typeface="楷体_GB2312" pitchFamily="49" charset="-122"/>
                </a:rPr>
                <a:t>12          </a:t>
              </a:r>
              <a:r>
                <a:rPr lang="en-US" altLang="zh-CN" sz="1400" b="1" dirty="0" smtClean="0">
                  <a:solidFill>
                    <a:schemeClr val="accent6"/>
                  </a:solidFill>
                  <a:ea typeface="楷体_GB2312" pitchFamily="49" charset="-122"/>
                </a:rPr>
                <a:t>   </a:t>
              </a:r>
              <a:r>
                <a:rPr lang="en-US" altLang="zh-CN" sz="1400" b="1" dirty="0">
                  <a:solidFill>
                    <a:schemeClr val="accent6"/>
                  </a:solidFill>
                  <a:ea typeface="楷体_GB2312" pitchFamily="49" charset="-122"/>
                </a:rPr>
                <a:t>13            15            14</a:t>
              </a:r>
            </a:p>
          </p:txBody>
        </p:sp>
        <p:sp>
          <p:nvSpPr>
            <p:cNvPr id="100" name="Text Box 35"/>
            <p:cNvSpPr txBox="1">
              <a:spLocks noChangeArrowheads="1"/>
            </p:cNvSpPr>
            <p:nvPr/>
          </p:nvSpPr>
          <p:spPr bwMode="auto">
            <a:xfrm>
              <a:off x="1389926" y="4079024"/>
              <a:ext cx="2974971" cy="3649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9068" tIns="39534" rIns="79068" bIns="39534">
              <a:spAutoFit/>
            </a:bodyPr>
            <a:lstStyle/>
            <a:p>
              <a:pPr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sz="1400" b="1" dirty="0">
                  <a:solidFill>
                    <a:schemeClr val="accent6"/>
                  </a:solidFill>
                  <a:latin typeface="CG Times" pitchFamily="18" charset="0"/>
                  <a:ea typeface="楷体_GB2312" pitchFamily="49" charset="-122"/>
                </a:rPr>
                <a:t> </a:t>
              </a:r>
              <a:r>
                <a:rPr lang="en-US" altLang="zh-CN" sz="1400" b="1" dirty="0">
                  <a:solidFill>
                    <a:schemeClr val="accent6"/>
                  </a:solidFill>
                  <a:ea typeface="楷体_GB2312" pitchFamily="49" charset="-122"/>
                </a:rPr>
                <a:t>8             </a:t>
              </a:r>
              <a:r>
                <a:rPr lang="en-US" altLang="zh-CN" sz="1400" b="1" dirty="0" smtClean="0">
                  <a:solidFill>
                    <a:schemeClr val="accent6"/>
                  </a:solidFill>
                  <a:ea typeface="楷体_GB2312" pitchFamily="49" charset="-122"/>
                </a:rPr>
                <a:t> 9             </a:t>
              </a:r>
              <a:r>
                <a:rPr lang="en-US" altLang="zh-CN" sz="1400" b="1" dirty="0">
                  <a:solidFill>
                    <a:schemeClr val="accent6"/>
                  </a:solidFill>
                  <a:ea typeface="楷体_GB2312" pitchFamily="49" charset="-122"/>
                </a:rPr>
                <a:t>11            </a:t>
              </a:r>
              <a:r>
                <a:rPr lang="en-US" altLang="zh-CN" sz="1400" b="1" dirty="0" smtClean="0">
                  <a:solidFill>
                    <a:schemeClr val="accent6"/>
                  </a:solidFill>
                  <a:ea typeface="楷体_GB2312" pitchFamily="49" charset="-122"/>
                </a:rPr>
                <a:t>10</a:t>
              </a:r>
              <a:endParaRPr lang="en-US" altLang="zh-CN" sz="1400" b="1" dirty="0">
                <a:solidFill>
                  <a:schemeClr val="accent6"/>
                </a:solidFill>
                <a:ea typeface="楷体_GB2312" pitchFamily="49" charset="-122"/>
              </a:endParaRPr>
            </a:p>
          </p:txBody>
        </p:sp>
      </p:grpSp>
      <p:sp>
        <p:nvSpPr>
          <p:cNvPr id="122" name="TextBox 32"/>
          <p:cNvSpPr txBox="1">
            <a:spLocks noChangeArrowheads="1"/>
          </p:cNvSpPr>
          <p:nvPr/>
        </p:nvSpPr>
        <p:spPr bwMode="auto">
          <a:xfrm>
            <a:off x="6827951" y="2952750"/>
            <a:ext cx="792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23" name="TextBox 32"/>
          <p:cNvSpPr txBox="1">
            <a:spLocks noChangeArrowheads="1"/>
          </p:cNvSpPr>
          <p:nvPr/>
        </p:nvSpPr>
        <p:spPr bwMode="auto">
          <a:xfrm>
            <a:off x="7543800" y="2495550"/>
            <a:ext cx="792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24" name="AutoShape 3"/>
          <p:cNvSpPr>
            <a:spLocks noChangeArrowheads="1"/>
          </p:cNvSpPr>
          <p:nvPr/>
        </p:nvSpPr>
        <p:spPr bwMode="auto">
          <a:xfrm>
            <a:off x="6713157" y="2175636"/>
            <a:ext cx="1295400" cy="685800"/>
          </a:xfrm>
          <a:prstGeom prst="flowChartTerminator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5" name="AutoShape 3"/>
          <p:cNvSpPr>
            <a:spLocks noChangeArrowheads="1"/>
          </p:cNvSpPr>
          <p:nvPr/>
        </p:nvSpPr>
        <p:spPr bwMode="auto">
          <a:xfrm>
            <a:off x="5867400" y="2571750"/>
            <a:ext cx="1295400" cy="685800"/>
          </a:xfrm>
          <a:prstGeom prst="flowChartTerminator">
            <a:avLst/>
          </a:prstGeom>
          <a:noFill/>
          <a:ln w="28575">
            <a:solidFill>
              <a:schemeClr val="accent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0" name="Object 5"/>
          <p:cNvGraphicFramePr>
            <a:graphicFrameLocks noChangeAspect="1"/>
          </p:cNvGraphicFramePr>
          <p:nvPr/>
        </p:nvGraphicFramePr>
        <p:xfrm>
          <a:off x="2057400" y="4400550"/>
          <a:ext cx="4711700" cy="303213"/>
        </p:xfrm>
        <a:graphic>
          <a:graphicData uri="http://schemas.openxmlformats.org/presentationml/2006/ole">
            <p:oleObj spid="_x0000_s46084" name="Equation" r:id="rId5" imgW="4736880" imgH="304560" progId="Equation.DSMT4">
              <p:embed/>
            </p:oleObj>
          </a:graphicData>
        </a:graphic>
      </p:graphicFrame>
      <p:sp>
        <p:nvSpPr>
          <p:cNvPr id="69" name="Rectangle 2"/>
          <p:cNvSpPr>
            <a:spLocks noChangeArrowheads="1"/>
          </p:cNvSpPr>
          <p:nvPr/>
        </p:nvSpPr>
        <p:spPr bwMode="auto">
          <a:xfrm>
            <a:off x="3054724" y="686922"/>
            <a:ext cx="223996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r>
              <a:rPr kumimoji="1"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化成单变量无反的逻辑函数</a:t>
            </a:r>
            <a:endParaRPr kumimoji="1" lang="zh-CN" altLang="en-US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0" name="AutoShape 7"/>
          <p:cNvSpPr>
            <a:spLocks noChangeArrowheads="1"/>
          </p:cNvSpPr>
          <p:nvPr/>
        </p:nvSpPr>
        <p:spPr bwMode="auto">
          <a:xfrm>
            <a:off x="8077200" y="895350"/>
            <a:ext cx="914400" cy="457200"/>
          </a:xfrm>
          <a:prstGeom prst="wedgeRoundRectCallout">
            <a:avLst>
              <a:gd name="adj1" fmla="val -67880"/>
              <a:gd name="adj2" fmla="val 240830"/>
              <a:gd name="adj3" fmla="val 16667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/>
            <a:r>
              <a:rPr lang="en-US" altLang="zh-CN" sz="2400" b="1" dirty="0" smtClean="0">
                <a:solidFill>
                  <a:srgbClr val="FF0000"/>
                </a:solidFill>
              </a:rPr>
              <a:t>BC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sp>
        <p:nvSpPr>
          <p:cNvPr id="71" name="AutoShape 7"/>
          <p:cNvSpPr>
            <a:spLocks noChangeArrowheads="1"/>
          </p:cNvSpPr>
          <p:nvPr/>
        </p:nvSpPr>
        <p:spPr bwMode="auto">
          <a:xfrm>
            <a:off x="5791200" y="742950"/>
            <a:ext cx="762000" cy="457200"/>
          </a:xfrm>
          <a:prstGeom prst="wedgeRoundRectCallout">
            <a:avLst>
              <a:gd name="adj1" fmla="val -1764"/>
              <a:gd name="adj2" fmla="val 344962"/>
              <a:gd name="adj3" fmla="val 16667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/>
            <a:r>
              <a:rPr lang="en-US" altLang="zh-CN" sz="2400" b="1" dirty="0" smtClean="0">
                <a:solidFill>
                  <a:srgbClr val="FF0000"/>
                </a:solidFill>
              </a:rPr>
              <a:t>AD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sp>
        <p:nvSpPr>
          <p:cNvPr id="72" name="Text Box 16"/>
          <p:cNvSpPr txBox="1">
            <a:spLocks noChangeArrowheads="1"/>
          </p:cNvSpPr>
          <p:nvPr/>
        </p:nvSpPr>
        <p:spPr bwMode="auto">
          <a:xfrm>
            <a:off x="1905000" y="3340677"/>
            <a:ext cx="609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600" b="1" dirty="0" smtClean="0">
                <a:latin typeface="Century" pitchFamily="18" charset="0"/>
                <a:ea typeface="黑体" pitchFamily="49" charset="-122"/>
              </a:rPr>
              <a:t>图</a:t>
            </a:r>
            <a:r>
              <a:rPr lang="en-US" altLang="zh-CN" sz="1600" b="1" dirty="0" smtClean="0">
                <a:latin typeface="Century" pitchFamily="18" charset="0"/>
                <a:ea typeface="黑体" pitchFamily="49" charset="-122"/>
              </a:rPr>
              <a:t>5</a:t>
            </a:r>
            <a:endParaRPr lang="en-US" altLang="zh-CN" sz="1600" b="1" dirty="0">
              <a:latin typeface="Century" pitchFamily="18" charset="0"/>
              <a:ea typeface="黑体" pitchFamily="49" charset="-122"/>
            </a:endParaRPr>
          </a:p>
        </p:txBody>
      </p:sp>
      <p:sp>
        <p:nvSpPr>
          <p:cNvPr id="73" name="Text Box 16"/>
          <p:cNvSpPr txBox="1">
            <a:spLocks noChangeArrowheads="1"/>
          </p:cNvSpPr>
          <p:nvPr/>
        </p:nvSpPr>
        <p:spPr bwMode="auto">
          <a:xfrm>
            <a:off x="6400800" y="3333750"/>
            <a:ext cx="609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600" b="1" dirty="0" smtClean="0">
                <a:latin typeface="Century" pitchFamily="18" charset="0"/>
                <a:ea typeface="黑体" pitchFamily="49" charset="-122"/>
              </a:rPr>
              <a:t>图</a:t>
            </a:r>
            <a:r>
              <a:rPr lang="en-US" altLang="zh-CN" sz="1600" b="1" dirty="0" smtClean="0">
                <a:latin typeface="Century" pitchFamily="18" charset="0"/>
                <a:ea typeface="黑体" pitchFamily="49" charset="-122"/>
              </a:rPr>
              <a:t>6</a:t>
            </a:r>
            <a:endParaRPr lang="en-US" altLang="zh-CN" sz="1600" b="1" dirty="0">
              <a:latin typeface="Century" pitchFamily="18" charset="0"/>
              <a:ea typeface="黑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33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334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/>
      <p:bldP spid="122" grpId="0"/>
      <p:bldP spid="123" grpId="0"/>
      <p:bldP spid="124" grpId="0" animBg="1"/>
      <p:bldP spid="125" grpId="0" animBg="1"/>
      <p:bldP spid="70" grpId="0" animBg="1"/>
      <p:bldP spid="71" grpId="0" animBg="1"/>
      <p:bldP spid="72" grpId="0"/>
      <p:bldP spid="7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96"/>
          <p:cNvGrpSpPr>
            <a:grpSpLocks/>
          </p:cNvGrpSpPr>
          <p:nvPr/>
        </p:nvGrpSpPr>
        <p:grpSpPr bwMode="auto">
          <a:xfrm>
            <a:off x="152400" y="1200150"/>
            <a:ext cx="4124522" cy="2151459"/>
            <a:chOff x="251520" y="1700809"/>
            <a:chExt cx="4123096" cy="2868613"/>
          </a:xfrm>
        </p:grpSpPr>
        <p:grpSp>
          <p:nvGrpSpPr>
            <p:cNvPr id="3" name="组合 61"/>
            <p:cNvGrpSpPr>
              <a:grpSpLocks/>
            </p:cNvGrpSpPr>
            <p:nvPr/>
          </p:nvGrpSpPr>
          <p:grpSpPr bwMode="auto">
            <a:xfrm>
              <a:off x="251520" y="1700809"/>
              <a:ext cx="3930315" cy="2868613"/>
              <a:chOff x="539552" y="2564905"/>
              <a:chExt cx="3930315" cy="2868613"/>
            </a:xfrm>
          </p:grpSpPr>
          <p:grpSp>
            <p:nvGrpSpPr>
              <p:cNvPr id="4" name="组合 34"/>
              <p:cNvGrpSpPr>
                <a:grpSpLocks/>
              </p:cNvGrpSpPr>
              <p:nvPr/>
            </p:nvGrpSpPr>
            <p:grpSpPr bwMode="auto">
              <a:xfrm>
                <a:off x="539552" y="2564905"/>
                <a:ext cx="3838575" cy="2868613"/>
                <a:chOff x="1691680" y="2060849"/>
                <a:chExt cx="3838575" cy="2868613"/>
              </a:xfrm>
            </p:grpSpPr>
            <p:grpSp>
              <p:nvGrpSpPr>
                <p:cNvPr id="5" name="Group 7"/>
                <p:cNvGrpSpPr>
                  <a:grpSpLocks/>
                </p:cNvGrpSpPr>
                <p:nvPr/>
              </p:nvGrpSpPr>
              <p:grpSpPr bwMode="auto">
                <a:xfrm>
                  <a:off x="1691680" y="2060849"/>
                  <a:ext cx="3838575" cy="2868613"/>
                  <a:chOff x="1190" y="2284"/>
                  <a:chExt cx="2418" cy="1807"/>
                </a:xfrm>
              </p:grpSpPr>
              <p:sp>
                <p:nvSpPr>
                  <p:cNvPr id="10288" name="Text Box 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44" y="2372"/>
                    <a:ext cx="2064" cy="3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79068" tIns="39534" rIns="79068" bIns="39534">
                    <a:spAutoFit/>
                  </a:bodyPr>
                  <a:lstStyle/>
                  <a:p>
                    <a:pPr defTabSz="790575">
                      <a:lnSpc>
                        <a:spcPct val="90000"/>
                      </a:lnSpc>
                      <a:spcBef>
                        <a:spcPct val="50000"/>
                      </a:spcBef>
                      <a:buClr>
                        <a:schemeClr val="folHlink"/>
                      </a:buClr>
                      <a:buSzPct val="60000"/>
                    </a:pPr>
                    <a:r>
                      <a:rPr lang="en-US" altLang="zh-CN" b="1" dirty="0">
                        <a:ea typeface="楷体_GB2312" pitchFamily="49" charset="-122"/>
                      </a:rPr>
                      <a:t>    </a:t>
                    </a:r>
                    <a:r>
                      <a:rPr lang="en-US" altLang="zh-CN" sz="2000" b="1" dirty="0">
                        <a:ea typeface="楷体_GB2312" pitchFamily="49" charset="-122"/>
                      </a:rPr>
                      <a:t>00      01       11      10</a:t>
                    </a:r>
                    <a:r>
                      <a:rPr lang="en-US" altLang="zh-CN" b="1" dirty="0">
                        <a:ea typeface="楷体_GB2312" pitchFamily="49" charset="-122"/>
                      </a:rPr>
                      <a:t> </a:t>
                    </a:r>
                  </a:p>
                </p:txBody>
              </p:sp>
              <p:sp>
                <p:nvSpPr>
                  <p:cNvPr id="10289" name="Rectangle 9"/>
                  <p:cNvSpPr>
                    <a:spLocks noChangeArrowheads="1"/>
                  </p:cNvSpPr>
                  <p:nvPr/>
                </p:nvSpPr>
                <p:spPr bwMode="auto">
                  <a:xfrm>
                    <a:off x="1649" y="2597"/>
                    <a:ext cx="1923" cy="1389"/>
                  </a:xfrm>
                  <a:prstGeom prst="rect">
                    <a:avLst/>
                  </a:prstGeom>
                  <a:noFill/>
                  <a:ln w="2857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290" name="Line 10"/>
                  <p:cNvSpPr>
                    <a:spLocks noChangeShapeType="1"/>
                  </p:cNvSpPr>
                  <p:nvPr/>
                </p:nvSpPr>
                <p:spPr bwMode="auto">
                  <a:xfrm>
                    <a:off x="1649" y="2933"/>
                    <a:ext cx="1923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291" name="Line 11"/>
                  <p:cNvSpPr>
                    <a:spLocks noChangeShapeType="1"/>
                  </p:cNvSpPr>
                  <p:nvPr/>
                </p:nvSpPr>
                <p:spPr bwMode="auto">
                  <a:xfrm>
                    <a:off x="1649" y="3304"/>
                    <a:ext cx="1923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292" name="Line 12"/>
                  <p:cNvSpPr>
                    <a:spLocks noChangeShapeType="1"/>
                  </p:cNvSpPr>
                  <p:nvPr/>
                </p:nvSpPr>
                <p:spPr bwMode="auto">
                  <a:xfrm>
                    <a:off x="1649" y="3657"/>
                    <a:ext cx="1923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293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2090" y="2597"/>
                    <a:ext cx="0" cy="1389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294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2585" y="2597"/>
                    <a:ext cx="0" cy="1389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295" name="Line 15"/>
                  <p:cNvSpPr>
                    <a:spLocks noChangeShapeType="1"/>
                  </p:cNvSpPr>
                  <p:nvPr/>
                </p:nvSpPr>
                <p:spPr bwMode="auto">
                  <a:xfrm>
                    <a:off x="3098" y="2597"/>
                    <a:ext cx="0" cy="1389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296" name="Line 16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1211" y="2383"/>
                    <a:ext cx="438" cy="214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297" name="Text Box 1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2" y="3791"/>
                    <a:ext cx="336" cy="3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79068" tIns="39534" rIns="79068" bIns="39534">
                    <a:spAutoFit/>
                  </a:bodyPr>
                  <a:lstStyle/>
                  <a:p>
                    <a:pPr defTabSz="790575">
                      <a:lnSpc>
                        <a:spcPct val="90000"/>
                      </a:lnSpc>
                      <a:spcBef>
                        <a:spcPct val="50000"/>
                      </a:spcBef>
                      <a:buClr>
                        <a:schemeClr val="folHlink"/>
                      </a:buClr>
                      <a:buSzPct val="60000"/>
                    </a:pPr>
                    <a:r>
                      <a:rPr lang="en-US" altLang="zh-CN" sz="2000" b="1">
                        <a:ea typeface="楷体_GB2312" pitchFamily="49" charset="-122"/>
                      </a:rPr>
                      <a:t>10</a:t>
                    </a:r>
                  </a:p>
                </p:txBody>
              </p:sp>
              <p:sp>
                <p:nvSpPr>
                  <p:cNvPr id="10298" name="Text Box 1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2" y="3392"/>
                    <a:ext cx="336" cy="3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79068" tIns="39534" rIns="79068" bIns="39534">
                    <a:spAutoFit/>
                  </a:bodyPr>
                  <a:lstStyle/>
                  <a:p>
                    <a:pPr defTabSz="790575">
                      <a:lnSpc>
                        <a:spcPct val="90000"/>
                      </a:lnSpc>
                      <a:spcBef>
                        <a:spcPct val="50000"/>
                      </a:spcBef>
                      <a:buClr>
                        <a:schemeClr val="folHlink"/>
                      </a:buClr>
                      <a:buSzPct val="60000"/>
                    </a:pPr>
                    <a:r>
                      <a:rPr lang="en-US" altLang="zh-CN" sz="2000" b="1">
                        <a:ea typeface="楷体_GB2312" pitchFamily="49" charset="-122"/>
                      </a:rPr>
                      <a:t>11</a:t>
                    </a:r>
                  </a:p>
                </p:txBody>
              </p:sp>
              <p:sp>
                <p:nvSpPr>
                  <p:cNvPr id="10299" name="Text Box 1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2" y="3031"/>
                    <a:ext cx="336" cy="3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79068" tIns="39534" rIns="79068" bIns="39534">
                    <a:spAutoFit/>
                  </a:bodyPr>
                  <a:lstStyle/>
                  <a:p>
                    <a:pPr defTabSz="790575">
                      <a:lnSpc>
                        <a:spcPct val="90000"/>
                      </a:lnSpc>
                      <a:spcBef>
                        <a:spcPct val="50000"/>
                      </a:spcBef>
                      <a:buClr>
                        <a:schemeClr val="folHlink"/>
                      </a:buClr>
                      <a:buSzPct val="60000"/>
                    </a:pPr>
                    <a:r>
                      <a:rPr lang="en-US" altLang="zh-CN" sz="2000" b="1">
                        <a:ea typeface="楷体_GB2312" pitchFamily="49" charset="-122"/>
                      </a:rPr>
                      <a:t>01</a:t>
                    </a:r>
                  </a:p>
                </p:txBody>
              </p:sp>
              <p:sp>
                <p:nvSpPr>
                  <p:cNvPr id="10300" name="Text Box 2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2" y="2694"/>
                    <a:ext cx="336" cy="3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79068" tIns="39534" rIns="79068" bIns="39534">
                    <a:spAutoFit/>
                  </a:bodyPr>
                  <a:lstStyle/>
                  <a:p>
                    <a:pPr defTabSz="790575">
                      <a:lnSpc>
                        <a:spcPct val="90000"/>
                      </a:lnSpc>
                      <a:spcBef>
                        <a:spcPct val="50000"/>
                      </a:spcBef>
                      <a:buClr>
                        <a:schemeClr val="folHlink"/>
                      </a:buClr>
                      <a:buSzPct val="60000"/>
                    </a:pPr>
                    <a:r>
                      <a:rPr lang="en-US" altLang="zh-CN" sz="2000" b="1">
                        <a:ea typeface="楷体_GB2312" pitchFamily="49" charset="-122"/>
                      </a:rPr>
                      <a:t>00</a:t>
                    </a:r>
                  </a:p>
                </p:txBody>
              </p:sp>
              <p:sp>
                <p:nvSpPr>
                  <p:cNvPr id="10301" name="Text Box 2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15" y="2284"/>
                    <a:ext cx="432" cy="276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79068" tIns="39534" rIns="79068" bIns="39534">
                    <a:spAutoFit/>
                  </a:bodyPr>
                  <a:lstStyle/>
                  <a:p>
                    <a:pPr defTabSz="790575">
                      <a:lnSpc>
                        <a:spcPct val="90000"/>
                      </a:lnSpc>
                      <a:spcBef>
                        <a:spcPct val="50000"/>
                      </a:spcBef>
                      <a:buClr>
                        <a:schemeClr val="folHlink"/>
                      </a:buClr>
                      <a:buSzPct val="60000"/>
                    </a:pPr>
                    <a:r>
                      <a:rPr lang="en-US" altLang="zh-CN" b="1">
                        <a:ea typeface="楷体_GB2312" pitchFamily="49" charset="-122"/>
                      </a:rPr>
                      <a:t>CD</a:t>
                    </a:r>
                  </a:p>
                </p:txBody>
              </p:sp>
              <p:sp>
                <p:nvSpPr>
                  <p:cNvPr id="10302" name="Text Box 2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90" y="2484"/>
                    <a:ext cx="432" cy="276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79068" tIns="39534" rIns="79068" bIns="39534">
                    <a:spAutoFit/>
                  </a:bodyPr>
                  <a:lstStyle/>
                  <a:p>
                    <a:pPr defTabSz="790575">
                      <a:lnSpc>
                        <a:spcPct val="90000"/>
                      </a:lnSpc>
                      <a:spcBef>
                        <a:spcPct val="50000"/>
                      </a:spcBef>
                      <a:buClr>
                        <a:schemeClr val="folHlink"/>
                      </a:buClr>
                      <a:buSzPct val="60000"/>
                    </a:pPr>
                    <a:r>
                      <a:rPr lang="en-US" altLang="zh-CN" b="1">
                        <a:ea typeface="楷体_GB2312" pitchFamily="49" charset="-122"/>
                      </a:rPr>
                      <a:t>AB</a:t>
                    </a:r>
                  </a:p>
                </p:txBody>
              </p:sp>
            </p:grpSp>
            <p:sp>
              <p:nvSpPr>
                <p:cNvPr id="10287" name="TextBox 31"/>
                <p:cNvSpPr txBox="1">
                  <a:spLocks noChangeArrowheads="1"/>
                </p:cNvSpPr>
                <p:nvPr/>
              </p:nvSpPr>
              <p:spPr bwMode="auto">
                <a:xfrm>
                  <a:off x="3245154" y="3697492"/>
                  <a:ext cx="792087" cy="49244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altLang="zh-CN">
                      <a:solidFill>
                        <a:srgbClr val="FF0000"/>
                      </a:solidFill>
                    </a:rPr>
                    <a:t>1</a:t>
                  </a:r>
                  <a:endParaRPr lang="zh-CN" altLang="en-US">
                    <a:solidFill>
                      <a:srgbClr val="FF0000"/>
                    </a:solidFill>
                  </a:endParaRPr>
                </a:p>
              </p:txBody>
            </p:sp>
          </p:grpSp>
          <p:sp>
            <p:nvSpPr>
              <p:cNvPr id="10283" name="TextBox 31"/>
              <p:cNvSpPr txBox="1">
                <a:spLocks noChangeArrowheads="1"/>
              </p:cNvSpPr>
              <p:nvPr/>
            </p:nvSpPr>
            <p:spPr bwMode="auto">
              <a:xfrm>
                <a:off x="2112153" y="4797154"/>
                <a:ext cx="792087" cy="4924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dirty="0">
                    <a:solidFill>
                      <a:srgbClr val="FF0000"/>
                    </a:solidFill>
                  </a:rPr>
                  <a:t>1</a:t>
                </a:r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0284" name="TextBox 31"/>
              <p:cNvSpPr txBox="1">
                <a:spLocks noChangeArrowheads="1"/>
              </p:cNvSpPr>
              <p:nvPr/>
            </p:nvSpPr>
            <p:spPr bwMode="auto">
              <a:xfrm>
                <a:off x="3677780" y="3729131"/>
                <a:ext cx="792087" cy="4924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>
                    <a:solidFill>
                      <a:srgbClr val="FF0000"/>
                    </a:solidFill>
                  </a:rPr>
                  <a:t>1</a:t>
                </a:r>
                <a:endParaRPr lang="zh-CN" alt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10285" name="TextBox 31"/>
              <p:cNvSpPr txBox="1">
                <a:spLocks noChangeArrowheads="1"/>
              </p:cNvSpPr>
              <p:nvPr/>
            </p:nvSpPr>
            <p:spPr bwMode="auto">
              <a:xfrm>
                <a:off x="2977109" y="3717033"/>
                <a:ext cx="792087" cy="4924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dirty="0">
                    <a:solidFill>
                      <a:srgbClr val="FF0000"/>
                    </a:solidFill>
                  </a:rPr>
                  <a:t>1</a:t>
                </a:r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10278" name="Text Box 32"/>
            <p:cNvSpPr txBox="1">
              <a:spLocks noChangeArrowheads="1"/>
            </p:cNvSpPr>
            <p:nvPr/>
          </p:nvSpPr>
          <p:spPr bwMode="auto">
            <a:xfrm>
              <a:off x="1399645" y="2422365"/>
              <a:ext cx="2974971" cy="3649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9068" tIns="39534" rIns="79068" bIns="39534">
              <a:spAutoFit/>
            </a:bodyPr>
            <a:lstStyle/>
            <a:p>
              <a:pPr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sz="1400" b="1" dirty="0">
                  <a:solidFill>
                    <a:schemeClr val="accent6"/>
                  </a:solidFill>
                  <a:latin typeface="CG Times" pitchFamily="18" charset="0"/>
                  <a:ea typeface="楷体_GB2312" pitchFamily="49" charset="-122"/>
                </a:rPr>
                <a:t> </a:t>
              </a:r>
              <a:r>
                <a:rPr lang="en-US" altLang="zh-CN" sz="1400" b="1" dirty="0">
                  <a:solidFill>
                    <a:schemeClr val="accent6"/>
                  </a:solidFill>
                  <a:ea typeface="楷体_GB2312" pitchFamily="49" charset="-122"/>
                </a:rPr>
                <a:t>0             1               3              2</a:t>
              </a:r>
            </a:p>
          </p:txBody>
        </p:sp>
        <p:sp>
          <p:nvSpPr>
            <p:cNvPr id="10279" name="Text Box 33"/>
            <p:cNvSpPr txBox="1">
              <a:spLocks noChangeArrowheads="1"/>
            </p:cNvSpPr>
            <p:nvPr/>
          </p:nvSpPr>
          <p:spPr bwMode="auto">
            <a:xfrm>
              <a:off x="1389926" y="3014647"/>
              <a:ext cx="2974971" cy="3649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9068" tIns="39534" rIns="79068" bIns="39534">
              <a:spAutoFit/>
            </a:bodyPr>
            <a:lstStyle/>
            <a:p>
              <a:pPr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sz="1400" b="1" dirty="0">
                  <a:solidFill>
                    <a:schemeClr val="accent6"/>
                  </a:solidFill>
                  <a:latin typeface="CG Times" pitchFamily="18" charset="0"/>
                  <a:ea typeface="楷体_GB2312" pitchFamily="49" charset="-122"/>
                </a:rPr>
                <a:t> </a:t>
              </a:r>
              <a:r>
                <a:rPr lang="en-US" altLang="zh-CN" sz="1400" b="1" dirty="0">
                  <a:solidFill>
                    <a:schemeClr val="accent6"/>
                  </a:solidFill>
                  <a:ea typeface="楷体_GB2312" pitchFamily="49" charset="-122"/>
                </a:rPr>
                <a:t>4             5               7              6</a:t>
              </a:r>
            </a:p>
          </p:txBody>
        </p:sp>
        <p:sp>
          <p:nvSpPr>
            <p:cNvPr id="10280" name="Text Box 34"/>
            <p:cNvSpPr txBox="1">
              <a:spLocks noChangeArrowheads="1"/>
            </p:cNvSpPr>
            <p:nvPr/>
          </p:nvSpPr>
          <p:spPr bwMode="auto">
            <a:xfrm>
              <a:off x="1317951" y="3559838"/>
              <a:ext cx="2974971" cy="3649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9068" tIns="39534" rIns="79068" bIns="39534">
              <a:spAutoFit/>
            </a:bodyPr>
            <a:lstStyle/>
            <a:p>
              <a:pPr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sz="1400" b="1" dirty="0">
                  <a:solidFill>
                    <a:schemeClr val="accent6"/>
                  </a:solidFill>
                  <a:ea typeface="楷体_GB2312" pitchFamily="49" charset="-122"/>
                </a:rPr>
                <a:t>12          </a:t>
              </a:r>
              <a:r>
                <a:rPr lang="en-US" altLang="zh-CN" sz="1400" b="1" dirty="0" smtClean="0">
                  <a:solidFill>
                    <a:schemeClr val="accent6"/>
                  </a:solidFill>
                  <a:ea typeface="楷体_GB2312" pitchFamily="49" charset="-122"/>
                </a:rPr>
                <a:t>   </a:t>
              </a:r>
              <a:r>
                <a:rPr lang="en-US" altLang="zh-CN" sz="1400" b="1" dirty="0">
                  <a:solidFill>
                    <a:schemeClr val="accent6"/>
                  </a:solidFill>
                  <a:ea typeface="楷体_GB2312" pitchFamily="49" charset="-122"/>
                </a:rPr>
                <a:t>13            15            14</a:t>
              </a:r>
            </a:p>
          </p:txBody>
        </p:sp>
        <p:sp>
          <p:nvSpPr>
            <p:cNvPr id="10281" name="Text Box 35"/>
            <p:cNvSpPr txBox="1">
              <a:spLocks noChangeArrowheads="1"/>
            </p:cNvSpPr>
            <p:nvPr/>
          </p:nvSpPr>
          <p:spPr bwMode="auto">
            <a:xfrm>
              <a:off x="1389926" y="4079024"/>
              <a:ext cx="2974971" cy="3649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9068" tIns="39534" rIns="79068" bIns="39534">
              <a:spAutoFit/>
            </a:bodyPr>
            <a:lstStyle/>
            <a:p>
              <a:pPr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sz="1400" b="1" dirty="0">
                  <a:solidFill>
                    <a:schemeClr val="accent6"/>
                  </a:solidFill>
                  <a:latin typeface="CG Times" pitchFamily="18" charset="0"/>
                  <a:ea typeface="楷体_GB2312" pitchFamily="49" charset="-122"/>
                </a:rPr>
                <a:t> </a:t>
              </a:r>
              <a:r>
                <a:rPr lang="en-US" altLang="zh-CN" sz="1400" b="1" dirty="0">
                  <a:solidFill>
                    <a:schemeClr val="accent6"/>
                  </a:solidFill>
                  <a:ea typeface="楷体_GB2312" pitchFamily="49" charset="-122"/>
                </a:rPr>
                <a:t>8             </a:t>
              </a:r>
              <a:r>
                <a:rPr lang="en-US" altLang="zh-CN" sz="1400" b="1" dirty="0" smtClean="0">
                  <a:solidFill>
                    <a:schemeClr val="accent6"/>
                  </a:solidFill>
                  <a:ea typeface="楷体_GB2312" pitchFamily="49" charset="-122"/>
                </a:rPr>
                <a:t> 9             </a:t>
              </a:r>
              <a:r>
                <a:rPr lang="en-US" altLang="zh-CN" sz="1400" b="1" dirty="0">
                  <a:solidFill>
                    <a:schemeClr val="accent6"/>
                  </a:solidFill>
                  <a:ea typeface="楷体_GB2312" pitchFamily="49" charset="-122"/>
                </a:rPr>
                <a:t>11            </a:t>
              </a:r>
              <a:r>
                <a:rPr lang="en-US" altLang="zh-CN" sz="1400" b="1" dirty="0" smtClean="0">
                  <a:solidFill>
                    <a:schemeClr val="accent6"/>
                  </a:solidFill>
                  <a:ea typeface="楷体_GB2312" pitchFamily="49" charset="-122"/>
                </a:rPr>
                <a:t>10</a:t>
              </a:r>
              <a:endParaRPr lang="en-US" altLang="zh-CN" sz="1400" b="1" dirty="0">
                <a:solidFill>
                  <a:schemeClr val="accent6"/>
                </a:solidFill>
                <a:ea typeface="楷体_GB2312" pitchFamily="49" charset="-122"/>
              </a:endParaRPr>
            </a:p>
          </p:txBody>
        </p:sp>
      </p:grpSp>
      <p:graphicFrame>
        <p:nvGraphicFramePr>
          <p:cNvPr id="233477" name="Object 5"/>
          <p:cNvGraphicFramePr>
            <a:graphicFrameLocks noChangeAspect="1"/>
          </p:cNvGraphicFramePr>
          <p:nvPr/>
        </p:nvGraphicFramePr>
        <p:xfrm>
          <a:off x="457200" y="3714750"/>
          <a:ext cx="4779963" cy="304800"/>
        </p:xfrm>
        <a:graphic>
          <a:graphicData uri="http://schemas.openxmlformats.org/presentationml/2006/ole">
            <p:oleObj spid="_x0000_s48130" name="Equation" r:id="rId3" imgW="4051080" imgH="342720" progId="Equation.DSMT4">
              <p:embed/>
            </p:oleObj>
          </a:graphicData>
        </a:graphic>
      </p:graphicFrame>
      <p:sp>
        <p:nvSpPr>
          <p:cNvPr id="63" name="矩形 62"/>
          <p:cNvSpPr/>
          <p:nvPr/>
        </p:nvSpPr>
        <p:spPr>
          <a:xfrm>
            <a:off x="0" y="0"/>
            <a:ext cx="43556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：单变量无反的逻辑设计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Rectangle 2"/>
          <p:cNvSpPr>
            <a:spLocks noChangeArrowheads="1"/>
          </p:cNvSpPr>
          <p:nvPr/>
        </p:nvSpPr>
        <p:spPr bwMode="auto">
          <a:xfrm>
            <a:off x="304800" y="666750"/>
            <a:ext cx="223996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r>
              <a:rPr kumimoji="1"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kumimoji="1"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kumimoji="1"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：将函数</a:t>
            </a:r>
            <a:endParaRPr kumimoji="1" lang="zh-CN" altLang="en-US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41990" name="Object 6"/>
          <p:cNvGraphicFramePr>
            <a:graphicFrameLocks noChangeAspect="1"/>
          </p:cNvGraphicFramePr>
          <p:nvPr/>
        </p:nvGraphicFramePr>
        <p:xfrm>
          <a:off x="1447800" y="819150"/>
          <a:ext cx="1698625" cy="257175"/>
        </p:xfrm>
        <a:graphic>
          <a:graphicData uri="http://schemas.openxmlformats.org/presentationml/2006/ole">
            <p:oleObj spid="_x0000_s48131" name="Equation" r:id="rId4" imgW="1841400" imgH="279360" progId="Equation.DSMT4">
              <p:embed/>
            </p:oleObj>
          </a:graphicData>
        </a:graphic>
      </p:graphicFrame>
      <p:sp>
        <p:nvSpPr>
          <p:cNvPr id="94" name="TextBox 32"/>
          <p:cNvSpPr txBox="1">
            <a:spLocks noChangeArrowheads="1"/>
          </p:cNvSpPr>
          <p:nvPr/>
        </p:nvSpPr>
        <p:spPr bwMode="auto">
          <a:xfrm>
            <a:off x="6781800" y="2495550"/>
            <a:ext cx="792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pSp>
        <p:nvGrpSpPr>
          <p:cNvPr id="6" name="组合 96"/>
          <p:cNvGrpSpPr>
            <a:grpSpLocks/>
          </p:cNvGrpSpPr>
          <p:nvPr/>
        </p:nvGrpSpPr>
        <p:grpSpPr bwMode="auto">
          <a:xfrm>
            <a:off x="4419600" y="1276350"/>
            <a:ext cx="4124522" cy="2151459"/>
            <a:chOff x="251520" y="1700809"/>
            <a:chExt cx="4123096" cy="2868613"/>
          </a:xfrm>
        </p:grpSpPr>
        <p:grpSp>
          <p:nvGrpSpPr>
            <p:cNvPr id="7" name="组合 61"/>
            <p:cNvGrpSpPr>
              <a:grpSpLocks/>
            </p:cNvGrpSpPr>
            <p:nvPr/>
          </p:nvGrpSpPr>
          <p:grpSpPr bwMode="auto">
            <a:xfrm>
              <a:off x="251520" y="1700809"/>
              <a:ext cx="3930315" cy="2868613"/>
              <a:chOff x="539552" y="2564905"/>
              <a:chExt cx="3930315" cy="2868613"/>
            </a:xfrm>
          </p:grpSpPr>
          <p:grpSp>
            <p:nvGrpSpPr>
              <p:cNvPr id="8" name="组合 34"/>
              <p:cNvGrpSpPr>
                <a:grpSpLocks/>
              </p:cNvGrpSpPr>
              <p:nvPr/>
            </p:nvGrpSpPr>
            <p:grpSpPr bwMode="auto">
              <a:xfrm>
                <a:off x="539552" y="2564905"/>
                <a:ext cx="3838575" cy="2868613"/>
                <a:chOff x="1691680" y="2060849"/>
                <a:chExt cx="3838575" cy="2868613"/>
              </a:xfrm>
            </p:grpSpPr>
            <p:grpSp>
              <p:nvGrpSpPr>
                <p:cNvPr id="9" name="Group 7"/>
                <p:cNvGrpSpPr>
                  <a:grpSpLocks/>
                </p:cNvGrpSpPr>
                <p:nvPr/>
              </p:nvGrpSpPr>
              <p:grpSpPr bwMode="auto">
                <a:xfrm>
                  <a:off x="1691680" y="2060849"/>
                  <a:ext cx="3838575" cy="2868613"/>
                  <a:chOff x="1190" y="2284"/>
                  <a:chExt cx="2418" cy="1807"/>
                </a:xfrm>
              </p:grpSpPr>
              <p:sp>
                <p:nvSpPr>
                  <p:cNvPr id="107" name="Text Box 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44" y="2372"/>
                    <a:ext cx="2064" cy="3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79068" tIns="39534" rIns="79068" bIns="39534">
                    <a:spAutoFit/>
                  </a:bodyPr>
                  <a:lstStyle/>
                  <a:p>
                    <a:pPr defTabSz="790575">
                      <a:lnSpc>
                        <a:spcPct val="90000"/>
                      </a:lnSpc>
                      <a:spcBef>
                        <a:spcPct val="50000"/>
                      </a:spcBef>
                      <a:buClr>
                        <a:schemeClr val="folHlink"/>
                      </a:buClr>
                      <a:buSzPct val="60000"/>
                    </a:pPr>
                    <a:r>
                      <a:rPr lang="en-US" altLang="zh-CN" b="1" dirty="0">
                        <a:ea typeface="楷体_GB2312" pitchFamily="49" charset="-122"/>
                      </a:rPr>
                      <a:t>    </a:t>
                    </a:r>
                    <a:r>
                      <a:rPr lang="en-US" altLang="zh-CN" sz="2000" b="1" dirty="0">
                        <a:ea typeface="楷体_GB2312" pitchFamily="49" charset="-122"/>
                      </a:rPr>
                      <a:t>00      01       11      10</a:t>
                    </a:r>
                    <a:r>
                      <a:rPr lang="en-US" altLang="zh-CN" b="1" dirty="0">
                        <a:ea typeface="楷体_GB2312" pitchFamily="49" charset="-122"/>
                      </a:rPr>
                      <a:t> </a:t>
                    </a:r>
                  </a:p>
                </p:txBody>
              </p:sp>
              <p:sp>
                <p:nvSpPr>
                  <p:cNvPr id="108" name="Rectangle 9"/>
                  <p:cNvSpPr>
                    <a:spLocks noChangeArrowheads="1"/>
                  </p:cNvSpPr>
                  <p:nvPr/>
                </p:nvSpPr>
                <p:spPr bwMode="auto">
                  <a:xfrm>
                    <a:off x="1649" y="2597"/>
                    <a:ext cx="1923" cy="1389"/>
                  </a:xfrm>
                  <a:prstGeom prst="rect">
                    <a:avLst/>
                  </a:prstGeom>
                  <a:noFill/>
                  <a:ln w="2857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9" name="Line 10"/>
                  <p:cNvSpPr>
                    <a:spLocks noChangeShapeType="1"/>
                  </p:cNvSpPr>
                  <p:nvPr/>
                </p:nvSpPr>
                <p:spPr bwMode="auto">
                  <a:xfrm>
                    <a:off x="1649" y="2933"/>
                    <a:ext cx="1923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0" name="Line 11"/>
                  <p:cNvSpPr>
                    <a:spLocks noChangeShapeType="1"/>
                  </p:cNvSpPr>
                  <p:nvPr/>
                </p:nvSpPr>
                <p:spPr bwMode="auto">
                  <a:xfrm>
                    <a:off x="1649" y="3304"/>
                    <a:ext cx="1923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1" name="Line 12"/>
                  <p:cNvSpPr>
                    <a:spLocks noChangeShapeType="1"/>
                  </p:cNvSpPr>
                  <p:nvPr/>
                </p:nvSpPr>
                <p:spPr bwMode="auto">
                  <a:xfrm>
                    <a:off x="1649" y="3657"/>
                    <a:ext cx="1923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2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2090" y="2597"/>
                    <a:ext cx="0" cy="1389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3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2585" y="2597"/>
                    <a:ext cx="0" cy="1389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4" name="Line 15"/>
                  <p:cNvSpPr>
                    <a:spLocks noChangeShapeType="1"/>
                  </p:cNvSpPr>
                  <p:nvPr/>
                </p:nvSpPr>
                <p:spPr bwMode="auto">
                  <a:xfrm>
                    <a:off x="3098" y="2597"/>
                    <a:ext cx="0" cy="1389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5" name="Line 16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1211" y="2383"/>
                    <a:ext cx="438" cy="214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6" name="Text Box 1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2" y="3791"/>
                    <a:ext cx="336" cy="3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79068" tIns="39534" rIns="79068" bIns="39534">
                    <a:spAutoFit/>
                  </a:bodyPr>
                  <a:lstStyle/>
                  <a:p>
                    <a:pPr defTabSz="790575">
                      <a:lnSpc>
                        <a:spcPct val="90000"/>
                      </a:lnSpc>
                      <a:spcBef>
                        <a:spcPct val="50000"/>
                      </a:spcBef>
                      <a:buClr>
                        <a:schemeClr val="folHlink"/>
                      </a:buClr>
                      <a:buSzPct val="60000"/>
                    </a:pPr>
                    <a:r>
                      <a:rPr lang="en-US" altLang="zh-CN" sz="2000" b="1">
                        <a:ea typeface="楷体_GB2312" pitchFamily="49" charset="-122"/>
                      </a:rPr>
                      <a:t>10</a:t>
                    </a:r>
                  </a:p>
                </p:txBody>
              </p:sp>
              <p:sp>
                <p:nvSpPr>
                  <p:cNvPr id="117" name="Text Box 1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2" y="3392"/>
                    <a:ext cx="336" cy="3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79068" tIns="39534" rIns="79068" bIns="39534">
                    <a:spAutoFit/>
                  </a:bodyPr>
                  <a:lstStyle/>
                  <a:p>
                    <a:pPr defTabSz="790575">
                      <a:lnSpc>
                        <a:spcPct val="90000"/>
                      </a:lnSpc>
                      <a:spcBef>
                        <a:spcPct val="50000"/>
                      </a:spcBef>
                      <a:buClr>
                        <a:schemeClr val="folHlink"/>
                      </a:buClr>
                      <a:buSzPct val="60000"/>
                    </a:pPr>
                    <a:r>
                      <a:rPr lang="en-US" altLang="zh-CN" sz="2000" b="1">
                        <a:ea typeface="楷体_GB2312" pitchFamily="49" charset="-122"/>
                      </a:rPr>
                      <a:t>11</a:t>
                    </a:r>
                  </a:p>
                </p:txBody>
              </p:sp>
              <p:sp>
                <p:nvSpPr>
                  <p:cNvPr id="118" name="Text Box 1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2" y="3031"/>
                    <a:ext cx="336" cy="3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79068" tIns="39534" rIns="79068" bIns="39534">
                    <a:spAutoFit/>
                  </a:bodyPr>
                  <a:lstStyle/>
                  <a:p>
                    <a:pPr defTabSz="790575">
                      <a:lnSpc>
                        <a:spcPct val="90000"/>
                      </a:lnSpc>
                      <a:spcBef>
                        <a:spcPct val="50000"/>
                      </a:spcBef>
                      <a:buClr>
                        <a:schemeClr val="folHlink"/>
                      </a:buClr>
                      <a:buSzPct val="60000"/>
                    </a:pPr>
                    <a:r>
                      <a:rPr lang="en-US" altLang="zh-CN" sz="2000" b="1">
                        <a:ea typeface="楷体_GB2312" pitchFamily="49" charset="-122"/>
                      </a:rPr>
                      <a:t>01</a:t>
                    </a:r>
                  </a:p>
                </p:txBody>
              </p:sp>
              <p:sp>
                <p:nvSpPr>
                  <p:cNvPr id="119" name="Text Box 2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2" y="2694"/>
                    <a:ext cx="336" cy="3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79068" tIns="39534" rIns="79068" bIns="39534">
                    <a:spAutoFit/>
                  </a:bodyPr>
                  <a:lstStyle/>
                  <a:p>
                    <a:pPr defTabSz="790575">
                      <a:lnSpc>
                        <a:spcPct val="90000"/>
                      </a:lnSpc>
                      <a:spcBef>
                        <a:spcPct val="50000"/>
                      </a:spcBef>
                      <a:buClr>
                        <a:schemeClr val="folHlink"/>
                      </a:buClr>
                      <a:buSzPct val="60000"/>
                    </a:pPr>
                    <a:r>
                      <a:rPr lang="en-US" altLang="zh-CN" sz="2000" b="1">
                        <a:ea typeface="楷体_GB2312" pitchFamily="49" charset="-122"/>
                      </a:rPr>
                      <a:t>00</a:t>
                    </a:r>
                  </a:p>
                </p:txBody>
              </p:sp>
              <p:sp>
                <p:nvSpPr>
                  <p:cNvPr id="120" name="Text Box 2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15" y="2284"/>
                    <a:ext cx="432" cy="276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79068" tIns="39534" rIns="79068" bIns="39534">
                    <a:spAutoFit/>
                  </a:bodyPr>
                  <a:lstStyle/>
                  <a:p>
                    <a:pPr defTabSz="790575">
                      <a:lnSpc>
                        <a:spcPct val="90000"/>
                      </a:lnSpc>
                      <a:spcBef>
                        <a:spcPct val="50000"/>
                      </a:spcBef>
                      <a:buClr>
                        <a:schemeClr val="folHlink"/>
                      </a:buClr>
                      <a:buSzPct val="60000"/>
                    </a:pPr>
                    <a:r>
                      <a:rPr lang="en-US" altLang="zh-CN" b="1">
                        <a:ea typeface="楷体_GB2312" pitchFamily="49" charset="-122"/>
                      </a:rPr>
                      <a:t>CD</a:t>
                    </a:r>
                  </a:p>
                </p:txBody>
              </p:sp>
              <p:sp>
                <p:nvSpPr>
                  <p:cNvPr id="121" name="Text Box 2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90" y="2484"/>
                    <a:ext cx="432" cy="276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79068" tIns="39534" rIns="79068" bIns="39534">
                    <a:spAutoFit/>
                  </a:bodyPr>
                  <a:lstStyle/>
                  <a:p>
                    <a:pPr defTabSz="790575">
                      <a:lnSpc>
                        <a:spcPct val="90000"/>
                      </a:lnSpc>
                      <a:spcBef>
                        <a:spcPct val="50000"/>
                      </a:spcBef>
                      <a:buClr>
                        <a:schemeClr val="folHlink"/>
                      </a:buClr>
                      <a:buSzPct val="60000"/>
                    </a:pPr>
                    <a:r>
                      <a:rPr lang="en-US" altLang="zh-CN" b="1">
                        <a:ea typeface="楷体_GB2312" pitchFamily="49" charset="-122"/>
                      </a:rPr>
                      <a:t>AB</a:t>
                    </a:r>
                  </a:p>
                </p:txBody>
              </p:sp>
            </p:grpSp>
            <p:sp>
              <p:nvSpPr>
                <p:cNvPr id="106" name="TextBox 31"/>
                <p:cNvSpPr txBox="1">
                  <a:spLocks noChangeArrowheads="1"/>
                </p:cNvSpPr>
                <p:nvPr/>
              </p:nvSpPr>
              <p:spPr bwMode="auto">
                <a:xfrm>
                  <a:off x="3245154" y="3697492"/>
                  <a:ext cx="792087" cy="49244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altLang="zh-CN">
                      <a:solidFill>
                        <a:srgbClr val="FF0000"/>
                      </a:solidFill>
                    </a:rPr>
                    <a:t>1</a:t>
                  </a:r>
                  <a:endParaRPr lang="zh-CN" altLang="en-US">
                    <a:solidFill>
                      <a:srgbClr val="FF0000"/>
                    </a:solidFill>
                  </a:endParaRPr>
                </a:p>
              </p:txBody>
            </p:sp>
          </p:grpSp>
          <p:sp>
            <p:nvSpPr>
              <p:cNvPr id="102" name="TextBox 31"/>
              <p:cNvSpPr txBox="1">
                <a:spLocks noChangeArrowheads="1"/>
              </p:cNvSpPr>
              <p:nvPr/>
            </p:nvSpPr>
            <p:spPr bwMode="auto">
              <a:xfrm>
                <a:off x="2112153" y="4797154"/>
                <a:ext cx="792087" cy="4924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dirty="0">
                    <a:solidFill>
                      <a:srgbClr val="FF0000"/>
                    </a:solidFill>
                  </a:rPr>
                  <a:t>1</a:t>
                </a:r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03" name="TextBox 31"/>
              <p:cNvSpPr txBox="1">
                <a:spLocks noChangeArrowheads="1"/>
              </p:cNvSpPr>
              <p:nvPr/>
            </p:nvSpPr>
            <p:spPr bwMode="auto">
              <a:xfrm>
                <a:off x="3677780" y="3729131"/>
                <a:ext cx="792087" cy="4924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>
                    <a:solidFill>
                      <a:srgbClr val="FF0000"/>
                    </a:solidFill>
                  </a:rPr>
                  <a:t>1</a:t>
                </a:r>
                <a:endParaRPr lang="zh-CN" alt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104" name="TextBox 31"/>
              <p:cNvSpPr txBox="1">
                <a:spLocks noChangeArrowheads="1"/>
              </p:cNvSpPr>
              <p:nvPr/>
            </p:nvSpPr>
            <p:spPr bwMode="auto">
              <a:xfrm>
                <a:off x="2977109" y="3717033"/>
                <a:ext cx="792087" cy="4924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dirty="0">
                    <a:solidFill>
                      <a:srgbClr val="FF0000"/>
                    </a:solidFill>
                  </a:rPr>
                  <a:t>1</a:t>
                </a:r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97" name="Text Box 32"/>
            <p:cNvSpPr txBox="1">
              <a:spLocks noChangeArrowheads="1"/>
            </p:cNvSpPr>
            <p:nvPr/>
          </p:nvSpPr>
          <p:spPr bwMode="auto">
            <a:xfrm>
              <a:off x="1399645" y="2422365"/>
              <a:ext cx="2974971" cy="3649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9068" tIns="39534" rIns="79068" bIns="39534">
              <a:spAutoFit/>
            </a:bodyPr>
            <a:lstStyle/>
            <a:p>
              <a:pPr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sz="1400" b="1" dirty="0">
                  <a:solidFill>
                    <a:schemeClr val="accent6"/>
                  </a:solidFill>
                  <a:latin typeface="CG Times" pitchFamily="18" charset="0"/>
                  <a:ea typeface="楷体_GB2312" pitchFamily="49" charset="-122"/>
                </a:rPr>
                <a:t> </a:t>
              </a:r>
              <a:r>
                <a:rPr lang="en-US" altLang="zh-CN" sz="1400" b="1" dirty="0">
                  <a:solidFill>
                    <a:schemeClr val="accent6"/>
                  </a:solidFill>
                  <a:ea typeface="楷体_GB2312" pitchFamily="49" charset="-122"/>
                </a:rPr>
                <a:t>0             1               3              2</a:t>
              </a:r>
            </a:p>
          </p:txBody>
        </p:sp>
        <p:sp>
          <p:nvSpPr>
            <p:cNvPr id="98" name="Text Box 33"/>
            <p:cNvSpPr txBox="1">
              <a:spLocks noChangeArrowheads="1"/>
            </p:cNvSpPr>
            <p:nvPr/>
          </p:nvSpPr>
          <p:spPr bwMode="auto">
            <a:xfrm>
              <a:off x="1389926" y="3014647"/>
              <a:ext cx="2974971" cy="3649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9068" tIns="39534" rIns="79068" bIns="39534">
              <a:spAutoFit/>
            </a:bodyPr>
            <a:lstStyle/>
            <a:p>
              <a:pPr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sz="1400" b="1" dirty="0">
                  <a:solidFill>
                    <a:schemeClr val="accent6"/>
                  </a:solidFill>
                  <a:latin typeface="CG Times" pitchFamily="18" charset="0"/>
                  <a:ea typeface="楷体_GB2312" pitchFamily="49" charset="-122"/>
                </a:rPr>
                <a:t> </a:t>
              </a:r>
              <a:r>
                <a:rPr lang="en-US" altLang="zh-CN" sz="1400" b="1" dirty="0">
                  <a:solidFill>
                    <a:schemeClr val="accent6"/>
                  </a:solidFill>
                  <a:ea typeface="楷体_GB2312" pitchFamily="49" charset="-122"/>
                </a:rPr>
                <a:t>4             5               7              6</a:t>
              </a:r>
            </a:p>
          </p:txBody>
        </p:sp>
        <p:sp>
          <p:nvSpPr>
            <p:cNvPr id="99" name="Text Box 34"/>
            <p:cNvSpPr txBox="1">
              <a:spLocks noChangeArrowheads="1"/>
            </p:cNvSpPr>
            <p:nvPr/>
          </p:nvSpPr>
          <p:spPr bwMode="auto">
            <a:xfrm>
              <a:off x="1317951" y="3559838"/>
              <a:ext cx="2974971" cy="3649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9068" tIns="39534" rIns="79068" bIns="39534">
              <a:spAutoFit/>
            </a:bodyPr>
            <a:lstStyle/>
            <a:p>
              <a:pPr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sz="1400" b="1" dirty="0">
                  <a:solidFill>
                    <a:schemeClr val="accent6"/>
                  </a:solidFill>
                  <a:ea typeface="楷体_GB2312" pitchFamily="49" charset="-122"/>
                </a:rPr>
                <a:t>12          </a:t>
              </a:r>
              <a:r>
                <a:rPr lang="en-US" altLang="zh-CN" sz="1400" b="1" dirty="0" smtClean="0">
                  <a:solidFill>
                    <a:schemeClr val="accent6"/>
                  </a:solidFill>
                  <a:ea typeface="楷体_GB2312" pitchFamily="49" charset="-122"/>
                </a:rPr>
                <a:t>   </a:t>
              </a:r>
              <a:r>
                <a:rPr lang="en-US" altLang="zh-CN" sz="1400" b="1" dirty="0">
                  <a:solidFill>
                    <a:schemeClr val="accent6"/>
                  </a:solidFill>
                  <a:ea typeface="楷体_GB2312" pitchFamily="49" charset="-122"/>
                </a:rPr>
                <a:t>13            15            14</a:t>
              </a:r>
            </a:p>
          </p:txBody>
        </p:sp>
        <p:sp>
          <p:nvSpPr>
            <p:cNvPr id="100" name="Text Box 35"/>
            <p:cNvSpPr txBox="1">
              <a:spLocks noChangeArrowheads="1"/>
            </p:cNvSpPr>
            <p:nvPr/>
          </p:nvSpPr>
          <p:spPr bwMode="auto">
            <a:xfrm>
              <a:off x="1389926" y="4079024"/>
              <a:ext cx="2974971" cy="3649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9068" tIns="39534" rIns="79068" bIns="39534">
              <a:spAutoFit/>
            </a:bodyPr>
            <a:lstStyle/>
            <a:p>
              <a:pPr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sz="1400" b="1" dirty="0">
                  <a:solidFill>
                    <a:schemeClr val="accent6"/>
                  </a:solidFill>
                  <a:latin typeface="CG Times" pitchFamily="18" charset="0"/>
                  <a:ea typeface="楷体_GB2312" pitchFamily="49" charset="-122"/>
                </a:rPr>
                <a:t> </a:t>
              </a:r>
              <a:r>
                <a:rPr lang="en-US" altLang="zh-CN" sz="1400" b="1" dirty="0">
                  <a:solidFill>
                    <a:schemeClr val="accent6"/>
                  </a:solidFill>
                  <a:ea typeface="楷体_GB2312" pitchFamily="49" charset="-122"/>
                </a:rPr>
                <a:t>8             </a:t>
              </a:r>
              <a:r>
                <a:rPr lang="en-US" altLang="zh-CN" sz="1400" b="1" dirty="0" smtClean="0">
                  <a:solidFill>
                    <a:schemeClr val="accent6"/>
                  </a:solidFill>
                  <a:ea typeface="楷体_GB2312" pitchFamily="49" charset="-122"/>
                </a:rPr>
                <a:t> 9             </a:t>
              </a:r>
              <a:r>
                <a:rPr lang="en-US" altLang="zh-CN" sz="1400" b="1" dirty="0">
                  <a:solidFill>
                    <a:schemeClr val="accent6"/>
                  </a:solidFill>
                  <a:ea typeface="楷体_GB2312" pitchFamily="49" charset="-122"/>
                </a:rPr>
                <a:t>11            </a:t>
              </a:r>
              <a:r>
                <a:rPr lang="en-US" altLang="zh-CN" sz="1400" b="1" dirty="0" smtClean="0">
                  <a:solidFill>
                    <a:schemeClr val="accent6"/>
                  </a:solidFill>
                  <a:ea typeface="楷体_GB2312" pitchFamily="49" charset="-122"/>
                </a:rPr>
                <a:t>10</a:t>
              </a:r>
              <a:endParaRPr lang="en-US" altLang="zh-CN" sz="1400" b="1" dirty="0">
                <a:solidFill>
                  <a:schemeClr val="accent6"/>
                </a:solidFill>
                <a:ea typeface="楷体_GB2312" pitchFamily="49" charset="-122"/>
              </a:endParaRPr>
            </a:p>
          </p:txBody>
        </p:sp>
      </p:grpSp>
      <p:sp>
        <p:nvSpPr>
          <p:cNvPr id="122" name="TextBox 32"/>
          <p:cNvSpPr txBox="1">
            <a:spLocks noChangeArrowheads="1"/>
          </p:cNvSpPr>
          <p:nvPr/>
        </p:nvSpPr>
        <p:spPr bwMode="auto">
          <a:xfrm>
            <a:off x="6827951" y="2952750"/>
            <a:ext cx="792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23" name="TextBox 32"/>
          <p:cNvSpPr txBox="1">
            <a:spLocks noChangeArrowheads="1"/>
          </p:cNvSpPr>
          <p:nvPr/>
        </p:nvSpPr>
        <p:spPr bwMode="auto">
          <a:xfrm>
            <a:off x="7543800" y="2495550"/>
            <a:ext cx="792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24" name="AutoShape 3"/>
          <p:cNvSpPr>
            <a:spLocks noChangeArrowheads="1"/>
          </p:cNvSpPr>
          <p:nvPr/>
        </p:nvSpPr>
        <p:spPr bwMode="auto">
          <a:xfrm>
            <a:off x="6713157" y="2175636"/>
            <a:ext cx="1295400" cy="685800"/>
          </a:xfrm>
          <a:prstGeom prst="flowChartTerminator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5" name="AutoShape 3"/>
          <p:cNvSpPr>
            <a:spLocks noChangeArrowheads="1"/>
          </p:cNvSpPr>
          <p:nvPr/>
        </p:nvSpPr>
        <p:spPr bwMode="auto">
          <a:xfrm>
            <a:off x="5867400" y="2571750"/>
            <a:ext cx="1295400" cy="685800"/>
          </a:xfrm>
          <a:prstGeom prst="flowChartTerminator">
            <a:avLst/>
          </a:prstGeom>
          <a:noFill/>
          <a:ln w="28575">
            <a:solidFill>
              <a:schemeClr val="accent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" name="Rectangle 2"/>
          <p:cNvSpPr>
            <a:spLocks noChangeArrowheads="1"/>
          </p:cNvSpPr>
          <p:nvPr/>
        </p:nvSpPr>
        <p:spPr bwMode="auto">
          <a:xfrm>
            <a:off x="3054724" y="686922"/>
            <a:ext cx="223996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r>
              <a:rPr kumimoji="1"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化成单变量无反的逻辑函数</a:t>
            </a:r>
            <a:endParaRPr kumimoji="1" lang="zh-CN" altLang="en-US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0" name="AutoShape 7"/>
          <p:cNvSpPr>
            <a:spLocks noChangeArrowheads="1"/>
          </p:cNvSpPr>
          <p:nvPr/>
        </p:nvSpPr>
        <p:spPr bwMode="auto">
          <a:xfrm>
            <a:off x="8077200" y="895350"/>
            <a:ext cx="914400" cy="457200"/>
          </a:xfrm>
          <a:prstGeom prst="wedgeRoundRectCallout">
            <a:avLst>
              <a:gd name="adj1" fmla="val -67880"/>
              <a:gd name="adj2" fmla="val 240830"/>
              <a:gd name="adj3" fmla="val 16667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/>
            <a:r>
              <a:rPr lang="en-US" altLang="zh-CN" sz="2400" b="1" dirty="0" smtClean="0">
                <a:solidFill>
                  <a:srgbClr val="FF0000"/>
                </a:solidFill>
              </a:rPr>
              <a:t>BC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sp>
        <p:nvSpPr>
          <p:cNvPr id="71" name="AutoShape 7"/>
          <p:cNvSpPr>
            <a:spLocks noChangeArrowheads="1"/>
          </p:cNvSpPr>
          <p:nvPr/>
        </p:nvSpPr>
        <p:spPr bwMode="auto">
          <a:xfrm>
            <a:off x="5791200" y="742950"/>
            <a:ext cx="762000" cy="457200"/>
          </a:xfrm>
          <a:prstGeom prst="wedgeRoundRectCallout">
            <a:avLst>
              <a:gd name="adj1" fmla="val -1764"/>
              <a:gd name="adj2" fmla="val 344962"/>
              <a:gd name="adj3" fmla="val 16667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/>
            <a:r>
              <a:rPr lang="en-US" altLang="zh-CN" sz="2400" b="1" dirty="0" smtClean="0">
                <a:solidFill>
                  <a:srgbClr val="FF0000"/>
                </a:solidFill>
              </a:rPr>
              <a:t>AD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sp>
        <p:nvSpPr>
          <p:cNvPr id="72" name="Text Box 16"/>
          <p:cNvSpPr txBox="1">
            <a:spLocks noChangeArrowheads="1"/>
          </p:cNvSpPr>
          <p:nvPr/>
        </p:nvSpPr>
        <p:spPr bwMode="auto">
          <a:xfrm>
            <a:off x="1905000" y="3340677"/>
            <a:ext cx="609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600" b="1" dirty="0" smtClean="0">
                <a:latin typeface="Century" pitchFamily="18" charset="0"/>
                <a:ea typeface="黑体" pitchFamily="49" charset="-122"/>
              </a:rPr>
              <a:t>图</a:t>
            </a:r>
            <a:r>
              <a:rPr lang="en-US" altLang="zh-CN" sz="1600" b="1" dirty="0" smtClean="0">
                <a:latin typeface="Century" pitchFamily="18" charset="0"/>
                <a:ea typeface="黑体" pitchFamily="49" charset="-122"/>
              </a:rPr>
              <a:t>5</a:t>
            </a:r>
            <a:endParaRPr lang="en-US" altLang="zh-CN" sz="1600" b="1" dirty="0">
              <a:latin typeface="Century" pitchFamily="18" charset="0"/>
              <a:ea typeface="黑体" pitchFamily="49" charset="-122"/>
            </a:endParaRPr>
          </a:p>
        </p:txBody>
      </p:sp>
      <p:sp>
        <p:nvSpPr>
          <p:cNvPr id="73" name="Text Box 16"/>
          <p:cNvSpPr txBox="1">
            <a:spLocks noChangeArrowheads="1"/>
          </p:cNvSpPr>
          <p:nvPr/>
        </p:nvSpPr>
        <p:spPr bwMode="auto">
          <a:xfrm>
            <a:off x="6400800" y="3333750"/>
            <a:ext cx="609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600" b="1" dirty="0" smtClean="0">
                <a:latin typeface="Century" pitchFamily="18" charset="0"/>
                <a:ea typeface="黑体" pitchFamily="49" charset="-122"/>
              </a:rPr>
              <a:t>图</a:t>
            </a:r>
            <a:r>
              <a:rPr lang="en-US" altLang="zh-CN" sz="1600" b="1" dirty="0" smtClean="0">
                <a:latin typeface="Century" pitchFamily="18" charset="0"/>
                <a:ea typeface="黑体" pitchFamily="49" charset="-122"/>
              </a:rPr>
              <a:t>6</a:t>
            </a:r>
            <a:endParaRPr lang="en-US" altLang="zh-CN" sz="1600" b="1" dirty="0">
              <a:latin typeface="Century" pitchFamily="18" charset="0"/>
              <a:ea typeface="黑体" pitchFamily="49" charset="-122"/>
            </a:endParaRPr>
          </a:p>
        </p:txBody>
      </p:sp>
      <p:graphicFrame>
        <p:nvGraphicFramePr>
          <p:cNvPr id="11" name="Object 5"/>
          <p:cNvGraphicFramePr>
            <a:graphicFrameLocks noChangeAspect="1"/>
          </p:cNvGraphicFramePr>
          <p:nvPr/>
        </p:nvGraphicFramePr>
        <p:xfrm>
          <a:off x="685800" y="4209735"/>
          <a:ext cx="4689475" cy="304800"/>
        </p:xfrm>
        <a:graphic>
          <a:graphicData uri="http://schemas.openxmlformats.org/presentationml/2006/ole">
            <p:oleObj spid="_x0000_s48133" name="Equation" r:id="rId5" imgW="3974760" imgH="342720" progId="Equation.DSMT4">
              <p:embed/>
            </p:oleObj>
          </a:graphicData>
        </a:graphic>
      </p:graphicFrame>
      <p:graphicFrame>
        <p:nvGraphicFramePr>
          <p:cNvPr id="233479" name="Object 7"/>
          <p:cNvGraphicFramePr>
            <a:graphicFrameLocks noChangeAspect="1"/>
          </p:cNvGraphicFramePr>
          <p:nvPr/>
        </p:nvGraphicFramePr>
        <p:xfrm>
          <a:off x="6248400" y="3867150"/>
          <a:ext cx="1752600" cy="307975"/>
        </p:xfrm>
        <a:graphic>
          <a:graphicData uri="http://schemas.openxmlformats.org/presentationml/2006/ole">
            <p:oleObj spid="_x0000_s48134" name="Equation" r:id="rId6" imgW="1739880" imgH="304560" progId="Equation.DSMT4">
              <p:embed/>
            </p:oleObj>
          </a:graphicData>
        </a:graphic>
      </p:graphicFrame>
      <p:sp>
        <p:nvSpPr>
          <p:cNvPr id="74" name="TextBox 32"/>
          <p:cNvSpPr txBox="1">
            <a:spLocks noChangeArrowheads="1"/>
          </p:cNvSpPr>
          <p:nvPr/>
        </p:nvSpPr>
        <p:spPr bwMode="auto">
          <a:xfrm>
            <a:off x="7467600" y="2952750"/>
            <a:ext cx="792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0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3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34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34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34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96"/>
          <p:cNvGrpSpPr>
            <a:grpSpLocks/>
          </p:cNvGrpSpPr>
          <p:nvPr/>
        </p:nvGrpSpPr>
        <p:grpSpPr bwMode="auto">
          <a:xfrm>
            <a:off x="152400" y="1200150"/>
            <a:ext cx="4124522" cy="2151459"/>
            <a:chOff x="251520" y="1700809"/>
            <a:chExt cx="4123096" cy="2868613"/>
          </a:xfrm>
        </p:grpSpPr>
        <p:grpSp>
          <p:nvGrpSpPr>
            <p:cNvPr id="3" name="组合 61"/>
            <p:cNvGrpSpPr>
              <a:grpSpLocks/>
            </p:cNvGrpSpPr>
            <p:nvPr/>
          </p:nvGrpSpPr>
          <p:grpSpPr bwMode="auto">
            <a:xfrm>
              <a:off x="251520" y="1700809"/>
              <a:ext cx="3930315" cy="2868613"/>
              <a:chOff x="539552" y="2564905"/>
              <a:chExt cx="3930315" cy="2868613"/>
            </a:xfrm>
          </p:grpSpPr>
          <p:grpSp>
            <p:nvGrpSpPr>
              <p:cNvPr id="4" name="组合 34"/>
              <p:cNvGrpSpPr>
                <a:grpSpLocks/>
              </p:cNvGrpSpPr>
              <p:nvPr/>
            </p:nvGrpSpPr>
            <p:grpSpPr bwMode="auto">
              <a:xfrm>
                <a:off x="539552" y="2564905"/>
                <a:ext cx="3838575" cy="2868613"/>
                <a:chOff x="1691680" y="2060849"/>
                <a:chExt cx="3838575" cy="2868613"/>
              </a:xfrm>
            </p:grpSpPr>
            <p:grpSp>
              <p:nvGrpSpPr>
                <p:cNvPr id="5" name="Group 7"/>
                <p:cNvGrpSpPr>
                  <a:grpSpLocks/>
                </p:cNvGrpSpPr>
                <p:nvPr/>
              </p:nvGrpSpPr>
              <p:grpSpPr bwMode="auto">
                <a:xfrm>
                  <a:off x="1691680" y="2060849"/>
                  <a:ext cx="3838575" cy="2868613"/>
                  <a:chOff x="1190" y="2284"/>
                  <a:chExt cx="2418" cy="1807"/>
                </a:xfrm>
              </p:grpSpPr>
              <p:sp>
                <p:nvSpPr>
                  <p:cNvPr id="10288" name="Text Box 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44" y="2372"/>
                    <a:ext cx="2064" cy="3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79068" tIns="39534" rIns="79068" bIns="39534">
                    <a:spAutoFit/>
                  </a:bodyPr>
                  <a:lstStyle/>
                  <a:p>
                    <a:pPr defTabSz="790575">
                      <a:lnSpc>
                        <a:spcPct val="90000"/>
                      </a:lnSpc>
                      <a:spcBef>
                        <a:spcPct val="50000"/>
                      </a:spcBef>
                      <a:buClr>
                        <a:schemeClr val="folHlink"/>
                      </a:buClr>
                      <a:buSzPct val="60000"/>
                    </a:pPr>
                    <a:r>
                      <a:rPr lang="en-US" altLang="zh-CN" b="1" dirty="0">
                        <a:ea typeface="楷体_GB2312" pitchFamily="49" charset="-122"/>
                      </a:rPr>
                      <a:t>    </a:t>
                    </a:r>
                    <a:r>
                      <a:rPr lang="en-US" altLang="zh-CN" sz="2000" b="1" dirty="0">
                        <a:ea typeface="楷体_GB2312" pitchFamily="49" charset="-122"/>
                      </a:rPr>
                      <a:t>00      01       11      10</a:t>
                    </a:r>
                    <a:r>
                      <a:rPr lang="en-US" altLang="zh-CN" b="1" dirty="0">
                        <a:ea typeface="楷体_GB2312" pitchFamily="49" charset="-122"/>
                      </a:rPr>
                      <a:t> </a:t>
                    </a:r>
                  </a:p>
                </p:txBody>
              </p:sp>
              <p:sp>
                <p:nvSpPr>
                  <p:cNvPr id="10289" name="Rectangle 9"/>
                  <p:cNvSpPr>
                    <a:spLocks noChangeArrowheads="1"/>
                  </p:cNvSpPr>
                  <p:nvPr/>
                </p:nvSpPr>
                <p:spPr bwMode="auto">
                  <a:xfrm>
                    <a:off x="1649" y="2597"/>
                    <a:ext cx="1923" cy="1389"/>
                  </a:xfrm>
                  <a:prstGeom prst="rect">
                    <a:avLst/>
                  </a:prstGeom>
                  <a:noFill/>
                  <a:ln w="2857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290" name="Line 10"/>
                  <p:cNvSpPr>
                    <a:spLocks noChangeShapeType="1"/>
                  </p:cNvSpPr>
                  <p:nvPr/>
                </p:nvSpPr>
                <p:spPr bwMode="auto">
                  <a:xfrm>
                    <a:off x="1649" y="2933"/>
                    <a:ext cx="1923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291" name="Line 11"/>
                  <p:cNvSpPr>
                    <a:spLocks noChangeShapeType="1"/>
                  </p:cNvSpPr>
                  <p:nvPr/>
                </p:nvSpPr>
                <p:spPr bwMode="auto">
                  <a:xfrm>
                    <a:off x="1649" y="3304"/>
                    <a:ext cx="1923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292" name="Line 12"/>
                  <p:cNvSpPr>
                    <a:spLocks noChangeShapeType="1"/>
                  </p:cNvSpPr>
                  <p:nvPr/>
                </p:nvSpPr>
                <p:spPr bwMode="auto">
                  <a:xfrm>
                    <a:off x="1649" y="3657"/>
                    <a:ext cx="1923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293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2090" y="2597"/>
                    <a:ext cx="0" cy="1389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294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2585" y="2597"/>
                    <a:ext cx="0" cy="1389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295" name="Line 15"/>
                  <p:cNvSpPr>
                    <a:spLocks noChangeShapeType="1"/>
                  </p:cNvSpPr>
                  <p:nvPr/>
                </p:nvSpPr>
                <p:spPr bwMode="auto">
                  <a:xfrm>
                    <a:off x="3098" y="2597"/>
                    <a:ext cx="0" cy="1389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296" name="Line 16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1211" y="2383"/>
                    <a:ext cx="438" cy="214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297" name="Text Box 1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2" y="3791"/>
                    <a:ext cx="336" cy="3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79068" tIns="39534" rIns="79068" bIns="39534">
                    <a:spAutoFit/>
                  </a:bodyPr>
                  <a:lstStyle/>
                  <a:p>
                    <a:pPr defTabSz="790575">
                      <a:lnSpc>
                        <a:spcPct val="90000"/>
                      </a:lnSpc>
                      <a:spcBef>
                        <a:spcPct val="50000"/>
                      </a:spcBef>
                      <a:buClr>
                        <a:schemeClr val="folHlink"/>
                      </a:buClr>
                      <a:buSzPct val="60000"/>
                    </a:pPr>
                    <a:r>
                      <a:rPr lang="en-US" altLang="zh-CN" sz="2000" b="1">
                        <a:ea typeface="楷体_GB2312" pitchFamily="49" charset="-122"/>
                      </a:rPr>
                      <a:t>10</a:t>
                    </a:r>
                  </a:p>
                </p:txBody>
              </p:sp>
              <p:sp>
                <p:nvSpPr>
                  <p:cNvPr id="10298" name="Text Box 1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2" y="3392"/>
                    <a:ext cx="336" cy="3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79068" tIns="39534" rIns="79068" bIns="39534">
                    <a:spAutoFit/>
                  </a:bodyPr>
                  <a:lstStyle/>
                  <a:p>
                    <a:pPr defTabSz="790575">
                      <a:lnSpc>
                        <a:spcPct val="90000"/>
                      </a:lnSpc>
                      <a:spcBef>
                        <a:spcPct val="50000"/>
                      </a:spcBef>
                      <a:buClr>
                        <a:schemeClr val="folHlink"/>
                      </a:buClr>
                      <a:buSzPct val="60000"/>
                    </a:pPr>
                    <a:r>
                      <a:rPr lang="en-US" altLang="zh-CN" sz="2000" b="1">
                        <a:ea typeface="楷体_GB2312" pitchFamily="49" charset="-122"/>
                      </a:rPr>
                      <a:t>11</a:t>
                    </a:r>
                  </a:p>
                </p:txBody>
              </p:sp>
              <p:sp>
                <p:nvSpPr>
                  <p:cNvPr id="10299" name="Text Box 1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2" y="3031"/>
                    <a:ext cx="336" cy="3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79068" tIns="39534" rIns="79068" bIns="39534">
                    <a:spAutoFit/>
                  </a:bodyPr>
                  <a:lstStyle/>
                  <a:p>
                    <a:pPr defTabSz="790575">
                      <a:lnSpc>
                        <a:spcPct val="90000"/>
                      </a:lnSpc>
                      <a:spcBef>
                        <a:spcPct val="50000"/>
                      </a:spcBef>
                      <a:buClr>
                        <a:schemeClr val="folHlink"/>
                      </a:buClr>
                      <a:buSzPct val="60000"/>
                    </a:pPr>
                    <a:r>
                      <a:rPr lang="en-US" altLang="zh-CN" sz="2000" b="1">
                        <a:ea typeface="楷体_GB2312" pitchFamily="49" charset="-122"/>
                      </a:rPr>
                      <a:t>01</a:t>
                    </a:r>
                  </a:p>
                </p:txBody>
              </p:sp>
              <p:sp>
                <p:nvSpPr>
                  <p:cNvPr id="10300" name="Text Box 2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2" y="2694"/>
                    <a:ext cx="336" cy="3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79068" tIns="39534" rIns="79068" bIns="39534">
                    <a:spAutoFit/>
                  </a:bodyPr>
                  <a:lstStyle/>
                  <a:p>
                    <a:pPr defTabSz="790575">
                      <a:lnSpc>
                        <a:spcPct val="90000"/>
                      </a:lnSpc>
                      <a:spcBef>
                        <a:spcPct val="50000"/>
                      </a:spcBef>
                      <a:buClr>
                        <a:schemeClr val="folHlink"/>
                      </a:buClr>
                      <a:buSzPct val="60000"/>
                    </a:pPr>
                    <a:r>
                      <a:rPr lang="en-US" altLang="zh-CN" sz="2000" b="1" dirty="0">
                        <a:ea typeface="楷体_GB2312" pitchFamily="49" charset="-122"/>
                      </a:rPr>
                      <a:t>00</a:t>
                    </a:r>
                  </a:p>
                </p:txBody>
              </p:sp>
              <p:sp>
                <p:nvSpPr>
                  <p:cNvPr id="10301" name="Text Box 2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15" y="2284"/>
                    <a:ext cx="432" cy="276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79068" tIns="39534" rIns="79068" bIns="39534">
                    <a:spAutoFit/>
                  </a:bodyPr>
                  <a:lstStyle/>
                  <a:p>
                    <a:pPr defTabSz="790575">
                      <a:lnSpc>
                        <a:spcPct val="90000"/>
                      </a:lnSpc>
                      <a:spcBef>
                        <a:spcPct val="50000"/>
                      </a:spcBef>
                      <a:buClr>
                        <a:schemeClr val="folHlink"/>
                      </a:buClr>
                      <a:buSzPct val="60000"/>
                    </a:pPr>
                    <a:r>
                      <a:rPr lang="en-US" altLang="zh-CN" b="1">
                        <a:ea typeface="楷体_GB2312" pitchFamily="49" charset="-122"/>
                      </a:rPr>
                      <a:t>CD</a:t>
                    </a:r>
                  </a:p>
                </p:txBody>
              </p:sp>
              <p:sp>
                <p:nvSpPr>
                  <p:cNvPr id="10302" name="Text Box 2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90" y="2484"/>
                    <a:ext cx="432" cy="276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79068" tIns="39534" rIns="79068" bIns="39534">
                    <a:spAutoFit/>
                  </a:bodyPr>
                  <a:lstStyle/>
                  <a:p>
                    <a:pPr defTabSz="790575">
                      <a:lnSpc>
                        <a:spcPct val="90000"/>
                      </a:lnSpc>
                      <a:spcBef>
                        <a:spcPct val="50000"/>
                      </a:spcBef>
                      <a:buClr>
                        <a:schemeClr val="folHlink"/>
                      </a:buClr>
                      <a:buSzPct val="60000"/>
                    </a:pPr>
                    <a:r>
                      <a:rPr lang="en-US" altLang="zh-CN" b="1">
                        <a:ea typeface="楷体_GB2312" pitchFamily="49" charset="-122"/>
                      </a:rPr>
                      <a:t>AB</a:t>
                    </a:r>
                  </a:p>
                </p:txBody>
              </p:sp>
            </p:grpSp>
            <p:sp>
              <p:nvSpPr>
                <p:cNvPr id="10287" name="TextBox 31"/>
                <p:cNvSpPr txBox="1">
                  <a:spLocks noChangeArrowheads="1"/>
                </p:cNvSpPr>
                <p:nvPr/>
              </p:nvSpPr>
              <p:spPr bwMode="auto">
                <a:xfrm>
                  <a:off x="3291327" y="3178449"/>
                  <a:ext cx="792087" cy="49244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FF0000"/>
                      </a:solidFill>
                    </a:rPr>
                    <a:t>1</a:t>
                  </a:r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p:grpSp>
          <p:sp>
            <p:nvSpPr>
              <p:cNvPr id="10284" name="TextBox 31"/>
              <p:cNvSpPr txBox="1">
                <a:spLocks noChangeArrowheads="1"/>
              </p:cNvSpPr>
              <p:nvPr/>
            </p:nvSpPr>
            <p:spPr bwMode="auto">
              <a:xfrm>
                <a:off x="3677780" y="3729131"/>
                <a:ext cx="792087" cy="4924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>
                    <a:solidFill>
                      <a:srgbClr val="FF0000"/>
                    </a:solidFill>
                  </a:rPr>
                  <a:t>1</a:t>
                </a:r>
                <a:endParaRPr lang="zh-CN" alt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10285" name="TextBox 31"/>
              <p:cNvSpPr txBox="1">
                <a:spLocks noChangeArrowheads="1"/>
              </p:cNvSpPr>
              <p:nvPr/>
            </p:nvSpPr>
            <p:spPr bwMode="auto">
              <a:xfrm>
                <a:off x="2977109" y="3717033"/>
                <a:ext cx="792087" cy="4924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dirty="0">
                    <a:solidFill>
                      <a:srgbClr val="FF0000"/>
                    </a:solidFill>
                  </a:rPr>
                  <a:t>1</a:t>
                </a:r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10278" name="Text Box 32"/>
            <p:cNvSpPr txBox="1">
              <a:spLocks noChangeArrowheads="1"/>
            </p:cNvSpPr>
            <p:nvPr/>
          </p:nvSpPr>
          <p:spPr bwMode="auto">
            <a:xfrm>
              <a:off x="1399645" y="2422365"/>
              <a:ext cx="2974971" cy="3649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9068" tIns="39534" rIns="79068" bIns="39534">
              <a:spAutoFit/>
            </a:bodyPr>
            <a:lstStyle/>
            <a:p>
              <a:pPr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sz="1400" b="1" dirty="0">
                  <a:solidFill>
                    <a:schemeClr val="accent6"/>
                  </a:solidFill>
                  <a:latin typeface="CG Times" pitchFamily="18" charset="0"/>
                  <a:ea typeface="楷体_GB2312" pitchFamily="49" charset="-122"/>
                </a:rPr>
                <a:t> </a:t>
              </a:r>
              <a:r>
                <a:rPr lang="en-US" altLang="zh-CN" sz="1400" b="1" dirty="0">
                  <a:solidFill>
                    <a:schemeClr val="accent6"/>
                  </a:solidFill>
                  <a:ea typeface="楷体_GB2312" pitchFamily="49" charset="-122"/>
                </a:rPr>
                <a:t>0             1               3              2</a:t>
              </a:r>
            </a:p>
          </p:txBody>
        </p:sp>
        <p:sp>
          <p:nvSpPr>
            <p:cNvPr id="10279" name="Text Box 33"/>
            <p:cNvSpPr txBox="1">
              <a:spLocks noChangeArrowheads="1"/>
            </p:cNvSpPr>
            <p:nvPr/>
          </p:nvSpPr>
          <p:spPr bwMode="auto">
            <a:xfrm>
              <a:off x="1389926" y="3014647"/>
              <a:ext cx="2974971" cy="3649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9068" tIns="39534" rIns="79068" bIns="39534">
              <a:spAutoFit/>
            </a:bodyPr>
            <a:lstStyle/>
            <a:p>
              <a:pPr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sz="1400" b="1" dirty="0">
                  <a:solidFill>
                    <a:schemeClr val="accent6"/>
                  </a:solidFill>
                  <a:latin typeface="CG Times" pitchFamily="18" charset="0"/>
                  <a:ea typeface="楷体_GB2312" pitchFamily="49" charset="-122"/>
                </a:rPr>
                <a:t> </a:t>
              </a:r>
              <a:r>
                <a:rPr lang="en-US" altLang="zh-CN" sz="1400" b="1" dirty="0">
                  <a:solidFill>
                    <a:schemeClr val="accent6"/>
                  </a:solidFill>
                  <a:ea typeface="楷体_GB2312" pitchFamily="49" charset="-122"/>
                </a:rPr>
                <a:t>4             5               7              6</a:t>
              </a:r>
            </a:p>
          </p:txBody>
        </p:sp>
        <p:sp>
          <p:nvSpPr>
            <p:cNvPr id="10280" name="Text Box 34"/>
            <p:cNvSpPr txBox="1">
              <a:spLocks noChangeArrowheads="1"/>
            </p:cNvSpPr>
            <p:nvPr/>
          </p:nvSpPr>
          <p:spPr bwMode="auto">
            <a:xfrm>
              <a:off x="1317951" y="3559838"/>
              <a:ext cx="2974971" cy="3649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9068" tIns="39534" rIns="79068" bIns="39534">
              <a:spAutoFit/>
            </a:bodyPr>
            <a:lstStyle/>
            <a:p>
              <a:pPr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sz="1400" b="1" dirty="0">
                  <a:solidFill>
                    <a:schemeClr val="accent6"/>
                  </a:solidFill>
                  <a:ea typeface="楷体_GB2312" pitchFamily="49" charset="-122"/>
                </a:rPr>
                <a:t>12          </a:t>
              </a:r>
              <a:r>
                <a:rPr lang="en-US" altLang="zh-CN" sz="1400" b="1" dirty="0" smtClean="0">
                  <a:solidFill>
                    <a:schemeClr val="accent6"/>
                  </a:solidFill>
                  <a:ea typeface="楷体_GB2312" pitchFamily="49" charset="-122"/>
                </a:rPr>
                <a:t>   </a:t>
              </a:r>
              <a:r>
                <a:rPr lang="en-US" altLang="zh-CN" sz="1400" b="1" dirty="0">
                  <a:solidFill>
                    <a:schemeClr val="accent6"/>
                  </a:solidFill>
                  <a:ea typeface="楷体_GB2312" pitchFamily="49" charset="-122"/>
                </a:rPr>
                <a:t>13            15            14</a:t>
              </a:r>
            </a:p>
          </p:txBody>
        </p:sp>
        <p:sp>
          <p:nvSpPr>
            <p:cNvPr id="10281" name="Text Box 35"/>
            <p:cNvSpPr txBox="1">
              <a:spLocks noChangeArrowheads="1"/>
            </p:cNvSpPr>
            <p:nvPr/>
          </p:nvSpPr>
          <p:spPr bwMode="auto">
            <a:xfrm>
              <a:off x="1389926" y="4079024"/>
              <a:ext cx="2974971" cy="3649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9068" tIns="39534" rIns="79068" bIns="39534">
              <a:spAutoFit/>
            </a:bodyPr>
            <a:lstStyle/>
            <a:p>
              <a:pPr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sz="1400" b="1" dirty="0">
                  <a:solidFill>
                    <a:schemeClr val="accent6"/>
                  </a:solidFill>
                  <a:latin typeface="CG Times" pitchFamily="18" charset="0"/>
                  <a:ea typeface="楷体_GB2312" pitchFamily="49" charset="-122"/>
                </a:rPr>
                <a:t> </a:t>
              </a:r>
              <a:r>
                <a:rPr lang="en-US" altLang="zh-CN" sz="1400" b="1" dirty="0">
                  <a:solidFill>
                    <a:schemeClr val="accent6"/>
                  </a:solidFill>
                  <a:ea typeface="楷体_GB2312" pitchFamily="49" charset="-122"/>
                </a:rPr>
                <a:t>8             </a:t>
              </a:r>
              <a:r>
                <a:rPr lang="en-US" altLang="zh-CN" sz="1400" b="1" dirty="0" smtClean="0">
                  <a:solidFill>
                    <a:schemeClr val="accent6"/>
                  </a:solidFill>
                  <a:ea typeface="楷体_GB2312" pitchFamily="49" charset="-122"/>
                </a:rPr>
                <a:t> 9             </a:t>
              </a:r>
              <a:r>
                <a:rPr lang="en-US" altLang="zh-CN" sz="1400" b="1" dirty="0">
                  <a:solidFill>
                    <a:schemeClr val="accent6"/>
                  </a:solidFill>
                  <a:ea typeface="楷体_GB2312" pitchFamily="49" charset="-122"/>
                </a:rPr>
                <a:t>11            </a:t>
              </a:r>
              <a:r>
                <a:rPr lang="en-US" altLang="zh-CN" sz="1400" b="1" dirty="0" smtClean="0">
                  <a:solidFill>
                    <a:schemeClr val="accent6"/>
                  </a:solidFill>
                  <a:ea typeface="楷体_GB2312" pitchFamily="49" charset="-122"/>
                </a:rPr>
                <a:t>10</a:t>
              </a:r>
              <a:endParaRPr lang="en-US" altLang="zh-CN" sz="1400" b="1" dirty="0">
                <a:solidFill>
                  <a:schemeClr val="accent6"/>
                </a:solidFill>
                <a:ea typeface="楷体_GB2312" pitchFamily="49" charset="-122"/>
              </a:endParaRPr>
            </a:p>
          </p:txBody>
        </p:sp>
      </p:grpSp>
      <p:sp>
        <p:nvSpPr>
          <p:cNvPr id="63" name="矩形 62"/>
          <p:cNvSpPr/>
          <p:nvPr/>
        </p:nvSpPr>
        <p:spPr>
          <a:xfrm>
            <a:off x="0" y="0"/>
            <a:ext cx="43556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：单变量无反的逻辑设计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Rectangle 2"/>
          <p:cNvSpPr>
            <a:spLocks noChangeArrowheads="1"/>
          </p:cNvSpPr>
          <p:nvPr/>
        </p:nvSpPr>
        <p:spPr bwMode="auto">
          <a:xfrm>
            <a:off x="304800" y="666750"/>
            <a:ext cx="223996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r>
              <a:rPr kumimoji="1"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练习</a:t>
            </a:r>
            <a:r>
              <a:rPr kumimoji="1" lang="en-US" altLang="zh-CN" sz="1400" b="1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kumimoji="1" lang="zh-CN" altLang="en-US" sz="1400" b="1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kumimoji="1"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将函数</a:t>
            </a:r>
            <a:endParaRPr kumimoji="1" lang="zh-CN" altLang="en-US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41990" name="Object 6"/>
          <p:cNvGraphicFramePr>
            <a:graphicFrameLocks noChangeAspect="1"/>
          </p:cNvGraphicFramePr>
          <p:nvPr/>
        </p:nvGraphicFramePr>
        <p:xfrm>
          <a:off x="1447800" y="819150"/>
          <a:ext cx="1698625" cy="257175"/>
        </p:xfrm>
        <a:graphic>
          <a:graphicData uri="http://schemas.openxmlformats.org/presentationml/2006/ole">
            <p:oleObj spid="_x0000_s44035" name="Equation" r:id="rId3" imgW="1841400" imgH="279360" progId="Equation.DSMT4">
              <p:embed/>
            </p:oleObj>
          </a:graphicData>
        </a:graphic>
      </p:graphicFrame>
      <p:sp>
        <p:nvSpPr>
          <p:cNvPr id="124" name="AutoShape 3"/>
          <p:cNvSpPr>
            <a:spLocks noChangeArrowheads="1"/>
          </p:cNvSpPr>
          <p:nvPr/>
        </p:nvSpPr>
        <p:spPr bwMode="auto">
          <a:xfrm>
            <a:off x="6477000" y="2114550"/>
            <a:ext cx="1295400" cy="685800"/>
          </a:xfrm>
          <a:prstGeom prst="flowChartTerminator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5" name="AutoShape 3"/>
          <p:cNvSpPr>
            <a:spLocks noChangeArrowheads="1"/>
          </p:cNvSpPr>
          <p:nvPr/>
        </p:nvSpPr>
        <p:spPr bwMode="auto">
          <a:xfrm>
            <a:off x="5715000" y="2114550"/>
            <a:ext cx="1295400" cy="685800"/>
          </a:xfrm>
          <a:prstGeom prst="flowChartTerminator">
            <a:avLst/>
          </a:prstGeom>
          <a:noFill/>
          <a:ln w="28575">
            <a:solidFill>
              <a:schemeClr val="accent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2" name="Object 7"/>
          <p:cNvGraphicFramePr>
            <a:graphicFrameLocks noChangeAspect="1"/>
          </p:cNvGraphicFramePr>
          <p:nvPr/>
        </p:nvGraphicFramePr>
        <p:xfrm>
          <a:off x="5105400" y="3486150"/>
          <a:ext cx="2687638" cy="307975"/>
        </p:xfrm>
        <a:graphic>
          <a:graphicData uri="http://schemas.openxmlformats.org/presentationml/2006/ole">
            <p:oleObj spid="_x0000_s44038" name="Equation" r:id="rId4" imgW="2666880" imgH="304560" progId="Equation.DSMT4">
              <p:embed/>
            </p:oleObj>
          </a:graphicData>
        </a:graphic>
      </p:graphicFrame>
      <p:sp>
        <p:nvSpPr>
          <p:cNvPr id="69" name="Rectangle 2"/>
          <p:cNvSpPr>
            <a:spLocks noChangeArrowheads="1"/>
          </p:cNvSpPr>
          <p:nvPr/>
        </p:nvSpPr>
        <p:spPr bwMode="auto">
          <a:xfrm>
            <a:off x="3054724" y="686922"/>
            <a:ext cx="223996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r>
              <a:rPr kumimoji="1"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化成单变量无反的逻辑函数</a:t>
            </a:r>
            <a:endParaRPr kumimoji="1" lang="zh-CN" altLang="en-US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39" name="组合 138"/>
          <p:cNvGrpSpPr/>
          <p:nvPr/>
        </p:nvGrpSpPr>
        <p:grpSpPr>
          <a:xfrm>
            <a:off x="1752600" y="2826246"/>
            <a:ext cx="2331474" cy="378405"/>
            <a:chOff x="1752600" y="2826246"/>
            <a:chExt cx="2331474" cy="378405"/>
          </a:xfrm>
        </p:grpSpPr>
        <p:sp>
          <p:nvSpPr>
            <p:cNvPr id="70" name="TextBox 31"/>
            <p:cNvSpPr txBox="1">
              <a:spLocks noChangeArrowheads="1"/>
            </p:cNvSpPr>
            <p:nvPr/>
          </p:nvSpPr>
          <p:spPr bwMode="auto">
            <a:xfrm>
              <a:off x="1752600" y="2827246"/>
              <a:ext cx="792361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1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71" name="TextBox 31"/>
            <p:cNvSpPr txBox="1">
              <a:spLocks noChangeArrowheads="1"/>
            </p:cNvSpPr>
            <p:nvPr/>
          </p:nvSpPr>
          <p:spPr bwMode="auto">
            <a:xfrm>
              <a:off x="3291713" y="2835319"/>
              <a:ext cx="792361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</a:rPr>
                <a:t>1</a:t>
              </a:r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72" name="TextBox 31"/>
            <p:cNvSpPr txBox="1">
              <a:spLocks noChangeArrowheads="1"/>
            </p:cNvSpPr>
            <p:nvPr/>
          </p:nvSpPr>
          <p:spPr bwMode="auto">
            <a:xfrm>
              <a:off x="2590800" y="2826246"/>
              <a:ext cx="792361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1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75" name="组合 96"/>
          <p:cNvGrpSpPr>
            <a:grpSpLocks/>
          </p:cNvGrpSpPr>
          <p:nvPr/>
        </p:nvGrpSpPr>
        <p:grpSpPr bwMode="auto">
          <a:xfrm>
            <a:off x="4191000" y="1206874"/>
            <a:ext cx="4124522" cy="2151459"/>
            <a:chOff x="251520" y="1700809"/>
            <a:chExt cx="4123096" cy="2868613"/>
          </a:xfrm>
        </p:grpSpPr>
        <p:grpSp>
          <p:nvGrpSpPr>
            <p:cNvPr id="76" name="组合 61"/>
            <p:cNvGrpSpPr>
              <a:grpSpLocks/>
            </p:cNvGrpSpPr>
            <p:nvPr/>
          </p:nvGrpSpPr>
          <p:grpSpPr bwMode="auto">
            <a:xfrm>
              <a:off x="251520" y="1700809"/>
              <a:ext cx="3930315" cy="2868613"/>
              <a:chOff x="539552" y="2564905"/>
              <a:chExt cx="3930315" cy="2868613"/>
            </a:xfrm>
          </p:grpSpPr>
          <p:grpSp>
            <p:nvGrpSpPr>
              <p:cNvPr id="81" name="组合 34"/>
              <p:cNvGrpSpPr>
                <a:grpSpLocks/>
              </p:cNvGrpSpPr>
              <p:nvPr/>
            </p:nvGrpSpPr>
            <p:grpSpPr bwMode="auto">
              <a:xfrm>
                <a:off x="539552" y="2564905"/>
                <a:ext cx="3838575" cy="2868613"/>
                <a:chOff x="1691680" y="2060849"/>
                <a:chExt cx="3838575" cy="2868613"/>
              </a:xfrm>
            </p:grpSpPr>
            <p:grpSp>
              <p:nvGrpSpPr>
                <p:cNvPr id="84" name="Group 7"/>
                <p:cNvGrpSpPr>
                  <a:grpSpLocks/>
                </p:cNvGrpSpPr>
                <p:nvPr/>
              </p:nvGrpSpPr>
              <p:grpSpPr bwMode="auto">
                <a:xfrm>
                  <a:off x="1691680" y="2060849"/>
                  <a:ext cx="3838575" cy="2868613"/>
                  <a:chOff x="1190" y="2284"/>
                  <a:chExt cx="2418" cy="1807"/>
                </a:xfrm>
              </p:grpSpPr>
              <p:sp>
                <p:nvSpPr>
                  <p:cNvPr id="86" name="Text Box 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44" y="2372"/>
                    <a:ext cx="2064" cy="3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79068" tIns="39534" rIns="79068" bIns="39534">
                    <a:spAutoFit/>
                  </a:bodyPr>
                  <a:lstStyle/>
                  <a:p>
                    <a:pPr defTabSz="790575">
                      <a:lnSpc>
                        <a:spcPct val="90000"/>
                      </a:lnSpc>
                      <a:spcBef>
                        <a:spcPct val="50000"/>
                      </a:spcBef>
                      <a:buClr>
                        <a:schemeClr val="folHlink"/>
                      </a:buClr>
                      <a:buSzPct val="60000"/>
                    </a:pPr>
                    <a:r>
                      <a:rPr lang="en-US" altLang="zh-CN" b="1" dirty="0">
                        <a:ea typeface="楷体_GB2312" pitchFamily="49" charset="-122"/>
                      </a:rPr>
                      <a:t>    </a:t>
                    </a:r>
                    <a:r>
                      <a:rPr lang="en-US" altLang="zh-CN" sz="2000" b="1" dirty="0">
                        <a:ea typeface="楷体_GB2312" pitchFamily="49" charset="-122"/>
                      </a:rPr>
                      <a:t>00      01       11      10</a:t>
                    </a:r>
                    <a:r>
                      <a:rPr lang="en-US" altLang="zh-CN" b="1" dirty="0">
                        <a:ea typeface="楷体_GB2312" pitchFamily="49" charset="-122"/>
                      </a:rPr>
                      <a:t> </a:t>
                    </a:r>
                  </a:p>
                </p:txBody>
              </p:sp>
              <p:sp>
                <p:nvSpPr>
                  <p:cNvPr id="87" name="Rectangle 9"/>
                  <p:cNvSpPr>
                    <a:spLocks noChangeArrowheads="1"/>
                  </p:cNvSpPr>
                  <p:nvPr/>
                </p:nvSpPr>
                <p:spPr bwMode="auto">
                  <a:xfrm>
                    <a:off x="1649" y="2597"/>
                    <a:ext cx="1923" cy="1389"/>
                  </a:xfrm>
                  <a:prstGeom prst="rect">
                    <a:avLst/>
                  </a:prstGeom>
                  <a:noFill/>
                  <a:ln w="2857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8" name="Line 10"/>
                  <p:cNvSpPr>
                    <a:spLocks noChangeShapeType="1"/>
                  </p:cNvSpPr>
                  <p:nvPr/>
                </p:nvSpPr>
                <p:spPr bwMode="auto">
                  <a:xfrm>
                    <a:off x="1649" y="2933"/>
                    <a:ext cx="1923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9" name="Line 11"/>
                  <p:cNvSpPr>
                    <a:spLocks noChangeShapeType="1"/>
                  </p:cNvSpPr>
                  <p:nvPr/>
                </p:nvSpPr>
                <p:spPr bwMode="auto">
                  <a:xfrm>
                    <a:off x="1649" y="3304"/>
                    <a:ext cx="1923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0" name="Line 12"/>
                  <p:cNvSpPr>
                    <a:spLocks noChangeShapeType="1"/>
                  </p:cNvSpPr>
                  <p:nvPr/>
                </p:nvSpPr>
                <p:spPr bwMode="auto">
                  <a:xfrm>
                    <a:off x="1649" y="3657"/>
                    <a:ext cx="1923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1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2090" y="2597"/>
                    <a:ext cx="0" cy="1389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2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2585" y="2597"/>
                    <a:ext cx="0" cy="1389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3" name="Line 15"/>
                  <p:cNvSpPr>
                    <a:spLocks noChangeShapeType="1"/>
                  </p:cNvSpPr>
                  <p:nvPr/>
                </p:nvSpPr>
                <p:spPr bwMode="auto">
                  <a:xfrm>
                    <a:off x="3098" y="2597"/>
                    <a:ext cx="0" cy="1389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5" name="Line 16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1211" y="2383"/>
                    <a:ext cx="438" cy="214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6" name="Text Box 1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2" y="3791"/>
                    <a:ext cx="336" cy="3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79068" tIns="39534" rIns="79068" bIns="39534">
                    <a:spAutoFit/>
                  </a:bodyPr>
                  <a:lstStyle/>
                  <a:p>
                    <a:pPr defTabSz="790575">
                      <a:lnSpc>
                        <a:spcPct val="90000"/>
                      </a:lnSpc>
                      <a:spcBef>
                        <a:spcPct val="50000"/>
                      </a:spcBef>
                      <a:buClr>
                        <a:schemeClr val="folHlink"/>
                      </a:buClr>
                      <a:buSzPct val="60000"/>
                    </a:pPr>
                    <a:r>
                      <a:rPr lang="en-US" altLang="zh-CN" sz="2000" b="1">
                        <a:ea typeface="楷体_GB2312" pitchFamily="49" charset="-122"/>
                      </a:rPr>
                      <a:t>10</a:t>
                    </a:r>
                  </a:p>
                </p:txBody>
              </p:sp>
              <p:sp>
                <p:nvSpPr>
                  <p:cNvPr id="101" name="Text Box 1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2" y="3392"/>
                    <a:ext cx="336" cy="3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79068" tIns="39534" rIns="79068" bIns="39534">
                    <a:spAutoFit/>
                  </a:bodyPr>
                  <a:lstStyle/>
                  <a:p>
                    <a:pPr defTabSz="790575">
                      <a:lnSpc>
                        <a:spcPct val="90000"/>
                      </a:lnSpc>
                      <a:spcBef>
                        <a:spcPct val="50000"/>
                      </a:spcBef>
                      <a:buClr>
                        <a:schemeClr val="folHlink"/>
                      </a:buClr>
                      <a:buSzPct val="60000"/>
                    </a:pPr>
                    <a:r>
                      <a:rPr lang="en-US" altLang="zh-CN" sz="2000" b="1">
                        <a:ea typeface="楷体_GB2312" pitchFamily="49" charset="-122"/>
                      </a:rPr>
                      <a:t>11</a:t>
                    </a:r>
                  </a:p>
                </p:txBody>
              </p:sp>
              <p:sp>
                <p:nvSpPr>
                  <p:cNvPr id="105" name="Text Box 1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2" y="3031"/>
                    <a:ext cx="336" cy="3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79068" tIns="39534" rIns="79068" bIns="39534">
                    <a:spAutoFit/>
                  </a:bodyPr>
                  <a:lstStyle/>
                  <a:p>
                    <a:pPr defTabSz="790575">
                      <a:lnSpc>
                        <a:spcPct val="90000"/>
                      </a:lnSpc>
                      <a:spcBef>
                        <a:spcPct val="50000"/>
                      </a:spcBef>
                      <a:buClr>
                        <a:schemeClr val="folHlink"/>
                      </a:buClr>
                      <a:buSzPct val="60000"/>
                    </a:pPr>
                    <a:r>
                      <a:rPr lang="en-US" altLang="zh-CN" sz="2000" b="1">
                        <a:ea typeface="楷体_GB2312" pitchFamily="49" charset="-122"/>
                      </a:rPr>
                      <a:t>01</a:t>
                    </a:r>
                  </a:p>
                </p:txBody>
              </p:sp>
              <p:sp>
                <p:nvSpPr>
                  <p:cNvPr id="126" name="Text Box 2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2" y="2694"/>
                    <a:ext cx="336" cy="3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79068" tIns="39534" rIns="79068" bIns="39534">
                    <a:spAutoFit/>
                  </a:bodyPr>
                  <a:lstStyle/>
                  <a:p>
                    <a:pPr defTabSz="790575">
                      <a:lnSpc>
                        <a:spcPct val="90000"/>
                      </a:lnSpc>
                      <a:spcBef>
                        <a:spcPct val="50000"/>
                      </a:spcBef>
                      <a:buClr>
                        <a:schemeClr val="folHlink"/>
                      </a:buClr>
                      <a:buSzPct val="60000"/>
                    </a:pPr>
                    <a:r>
                      <a:rPr lang="en-US" altLang="zh-CN" sz="2000" b="1">
                        <a:ea typeface="楷体_GB2312" pitchFamily="49" charset="-122"/>
                      </a:rPr>
                      <a:t>00</a:t>
                    </a:r>
                  </a:p>
                </p:txBody>
              </p:sp>
              <p:sp>
                <p:nvSpPr>
                  <p:cNvPr id="127" name="Text Box 2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15" y="2284"/>
                    <a:ext cx="432" cy="276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79068" tIns="39534" rIns="79068" bIns="39534">
                    <a:spAutoFit/>
                  </a:bodyPr>
                  <a:lstStyle/>
                  <a:p>
                    <a:pPr defTabSz="790575">
                      <a:lnSpc>
                        <a:spcPct val="90000"/>
                      </a:lnSpc>
                      <a:spcBef>
                        <a:spcPct val="50000"/>
                      </a:spcBef>
                      <a:buClr>
                        <a:schemeClr val="folHlink"/>
                      </a:buClr>
                      <a:buSzPct val="60000"/>
                    </a:pPr>
                    <a:r>
                      <a:rPr lang="en-US" altLang="zh-CN" b="1">
                        <a:ea typeface="楷体_GB2312" pitchFamily="49" charset="-122"/>
                      </a:rPr>
                      <a:t>CD</a:t>
                    </a:r>
                  </a:p>
                </p:txBody>
              </p:sp>
              <p:sp>
                <p:nvSpPr>
                  <p:cNvPr id="128" name="Text Box 2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90" y="2484"/>
                    <a:ext cx="432" cy="276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79068" tIns="39534" rIns="79068" bIns="39534">
                    <a:spAutoFit/>
                  </a:bodyPr>
                  <a:lstStyle/>
                  <a:p>
                    <a:pPr defTabSz="790575">
                      <a:lnSpc>
                        <a:spcPct val="90000"/>
                      </a:lnSpc>
                      <a:spcBef>
                        <a:spcPct val="50000"/>
                      </a:spcBef>
                      <a:buClr>
                        <a:schemeClr val="folHlink"/>
                      </a:buClr>
                      <a:buSzPct val="60000"/>
                    </a:pPr>
                    <a:r>
                      <a:rPr lang="en-US" altLang="zh-CN" b="1">
                        <a:ea typeface="楷体_GB2312" pitchFamily="49" charset="-122"/>
                      </a:rPr>
                      <a:t>AB</a:t>
                    </a:r>
                  </a:p>
                </p:txBody>
              </p:sp>
            </p:grpSp>
            <p:sp>
              <p:nvSpPr>
                <p:cNvPr id="85" name="TextBox 31"/>
                <p:cNvSpPr txBox="1">
                  <a:spLocks noChangeArrowheads="1"/>
                </p:cNvSpPr>
                <p:nvPr/>
              </p:nvSpPr>
              <p:spPr bwMode="auto">
                <a:xfrm>
                  <a:off x="3291327" y="3178449"/>
                  <a:ext cx="792087" cy="49244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FF0000"/>
                      </a:solidFill>
                    </a:rPr>
                    <a:t>1</a:t>
                  </a:r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p:grpSp>
          <p:sp>
            <p:nvSpPr>
              <p:cNvPr id="82" name="TextBox 31"/>
              <p:cNvSpPr txBox="1">
                <a:spLocks noChangeArrowheads="1"/>
              </p:cNvSpPr>
              <p:nvPr/>
            </p:nvSpPr>
            <p:spPr bwMode="auto">
              <a:xfrm>
                <a:off x="3677780" y="3729131"/>
                <a:ext cx="792087" cy="4924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>
                    <a:solidFill>
                      <a:srgbClr val="FF0000"/>
                    </a:solidFill>
                  </a:rPr>
                  <a:t>1</a:t>
                </a:r>
                <a:endParaRPr lang="zh-CN" alt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83" name="TextBox 31"/>
              <p:cNvSpPr txBox="1">
                <a:spLocks noChangeArrowheads="1"/>
              </p:cNvSpPr>
              <p:nvPr/>
            </p:nvSpPr>
            <p:spPr bwMode="auto">
              <a:xfrm>
                <a:off x="2977109" y="3717033"/>
                <a:ext cx="792087" cy="4924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dirty="0">
                    <a:solidFill>
                      <a:srgbClr val="FF0000"/>
                    </a:solidFill>
                  </a:rPr>
                  <a:t>1</a:t>
                </a:r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77" name="Text Box 32"/>
            <p:cNvSpPr txBox="1">
              <a:spLocks noChangeArrowheads="1"/>
            </p:cNvSpPr>
            <p:nvPr/>
          </p:nvSpPr>
          <p:spPr bwMode="auto">
            <a:xfrm>
              <a:off x="1399645" y="2422365"/>
              <a:ext cx="2974971" cy="3649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9068" tIns="39534" rIns="79068" bIns="39534">
              <a:spAutoFit/>
            </a:bodyPr>
            <a:lstStyle/>
            <a:p>
              <a:pPr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sz="1400" b="1" dirty="0">
                  <a:solidFill>
                    <a:schemeClr val="accent6"/>
                  </a:solidFill>
                  <a:latin typeface="CG Times" pitchFamily="18" charset="0"/>
                  <a:ea typeface="楷体_GB2312" pitchFamily="49" charset="-122"/>
                </a:rPr>
                <a:t> </a:t>
              </a:r>
              <a:r>
                <a:rPr lang="en-US" altLang="zh-CN" sz="1400" b="1" dirty="0">
                  <a:solidFill>
                    <a:schemeClr val="accent6"/>
                  </a:solidFill>
                  <a:ea typeface="楷体_GB2312" pitchFamily="49" charset="-122"/>
                </a:rPr>
                <a:t>0             1               3              2</a:t>
              </a:r>
            </a:p>
          </p:txBody>
        </p:sp>
        <p:sp>
          <p:nvSpPr>
            <p:cNvPr id="78" name="Text Box 33"/>
            <p:cNvSpPr txBox="1">
              <a:spLocks noChangeArrowheads="1"/>
            </p:cNvSpPr>
            <p:nvPr/>
          </p:nvSpPr>
          <p:spPr bwMode="auto">
            <a:xfrm>
              <a:off x="1389926" y="3014647"/>
              <a:ext cx="2974971" cy="3649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9068" tIns="39534" rIns="79068" bIns="39534">
              <a:spAutoFit/>
            </a:bodyPr>
            <a:lstStyle/>
            <a:p>
              <a:pPr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sz="1400" b="1" dirty="0">
                  <a:solidFill>
                    <a:schemeClr val="accent6"/>
                  </a:solidFill>
                  <a:latin typeface="CG Times" pitchFamily="18" charset="0"/>
                  <a:ea typeface="楷体_GB2312" pitchFamily="49" charset="-122"/>
                </a:rPr>
                <a:t> </a:t>
              </a:r>
              <a:r>
                <a:rPr lang="en-US" altLang="zh-CN" sz="1400" b="1" dirty="0">
                  <a:solidFill>
                    <a:schemeClr val="accent6"/>
                  </a:solidFill>
                  <a:ea typeface="楷体_GB2312" pitchFamily="49" charset="-122"/>
                </a:rPr>
                <a:t>4             5               7              6</a:t>
              </a:r>
            </a:p>
          </p:txBody>
        </p:sp>
        <p:sp>
          <p:nvSpPr>
            <p:cNvPr id="79" name="Text Box 34"/>
            <p:cNvSpPr txBox="1">
              <a:spLocks noChangeArrowheads="1"/>
            </p:cNvSpPr>
            <p:nvPr/>
          </p:nvSpPr>
          <p:spPr bwMode="auto">
            <a:xfrm>
              <a:off x="1317951" y="3559838"/>
              <a:ext cx="2974971" cy="3649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9068" tIns="39534" rIns="79068" bIns="39534">
              <a:spAutoFit/>
            </a:bodyPr>
            <a:lstStyle/>
            <a:p>
              <a:pPr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sz="1400" b="1" dirty="0">
                  <a:solidFill>
                    <a:schemeClr val="accent6"/>
                  </a:solidFill>
                  <a:ea typeface="楷体_GB2312" pitchFamily="49" charset="-122"/>
                </a:rPr>
                <a:t>12          </a:t>
              </a:r>
              <a:r>
                <a:rPr lang="en-US" altLang="zh-CN" sz="1400" b="1" dirty="0" smtClean="0">
                  <a:solidFill>
                    <a:schemeClr val="accent6"/>
                  </a:solidFill>
                  <a:ea typeface="楷体_GB2312" pitchFamily="49" charset="-122"/>
                </a:rPr>
                <a:t>   </a:t>
              </a:r>
              <a:r>
                <a:rPr lang="en-US" altLang="zh-CN" sz="1400" b="1" dirty="0">
                  <a:solidFill>
                    <a:schemeClr val="accent6"/>
                  </a:solidFill>
                  <a:ea typeface="楷体_GB2312" pitchFamily="49" charset="-122"/>
                </a:rPr>
                <a:t>13            15            14</a:t>
              </a:r>
            </a:p>
          </p:txBody>
        </p:sp>
        <p:sp>
          <p:nvSpPr>
            <p:cNvPr id="80" name="Text Box 35"/>
            <p:cNvSpPr txBox="1">
              <a:spLocks noChangeArrowheads="1"/>
            </p:cNvSpPr>
            <p:nvPr/>
          </p:nvSpPr>
          <p:spPr bwMode="auto">
            <a:xfrm>
              <a:off x="1389926" y="4079024"/>
              <a:ext cx="2974971" cy="3649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9068" tIns="39534" rIns="79068" bIns="39534">
              <a:spAutoFit/>
            </a:bodyPr>
            <a:lstStyle/>
            <a:p>
              <a:pPr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sz="1400" b="1" dirty="0">
                  <a:solidFill>
                    <a:schemeClr val="accent6"/>
                  </a:solidFill>
                  <a:latin typeface="CG Times" pitchFamily="18" charset="0"/>
                  <a:ea typeface="楷体_GB2312" pitchFamily="49" charset="-122"/>
                </a:rPr>
                <a:t> </a:t>
              </a:r>
              <a:r>
                <a:rPr lang="en-US" altLang="zh-CN" sz="1400" b="1" dirty="0">
                  <a:solidFill>
                    <a:schemeClr val="accent6"/>
                  </a:solidFill>
                  <a:ea typeface="楷体_GB2312" pitchFamily="49" charset="-122"/>
                </a:rPr>
                <a:t>8             </a:t>
              </a:r>
              <a:r>
                <a:rPr lang="en-US" altLang="zh-CN" sz="1400" b="1" dirty="0" smtClean="0">
                  <a:solidFill>
                    <a:schemeClr val="accent6"/>
                  </a:solidFill>
                  <a:ea typeface="楷体_GB2312" pitchFamily="49" charset="-122"/>
                </a:rPr>
                <a:t> 9             </a:t>
              </a:r>
              <a:r>
                <a:rPr lang="en-US" altLang="zh-CN" sz="1400" b="1" dirty="0">
                  <a:solidFill>
                    <a:schemeClr val="accent6"/>
                  </a:solidFill>
                  <a:ea typeface="楷体_GB2312" pitchFamily="49" charset="-122"/>
                </a:rPr>
                <a:t>11            </a:t>
              </a:r>
              <a:r>
                <a:rPr lang="en-US" altLang="zh-CN" sz="1400" b="1" dirty="0" smtClean="0">
                  <a:solidFill>
                    <a:schemeClr val="accent6"/>
                  </a:solidFill>
                  <a:ea typeface="楷体_GB2312" pitchFamily="49" charset="-122"/>
                </a:rPr>
                <a:t>10</a:t>
              </a:r>
              <a:endParaRPr lang="en-US" altLang="zh-CN" sz="1400" b="1" dirty="0">
                <a:solidFill>
                  <a:schemeClr val="accent6"/>
                </a:solidFill>
                <a:ea typeface="楷体_GB2312" pitchFamily="49" charset="-122"/>
              </a:endParaRPr>
            </a:p>
          </p:txBody>
        </p:sp>
      </p:grpSp>
      <p:sp>
        <p:nvSpPr>
          <p:cNvPr id="130" name="TextBox 31"/>
          <p:cNvSpPr txBox="1">
            <a:spLocks noChangeArrowheads="1"/>
          </p:cNvSpPr>
          <p:nvPr/>
        </p:nvSpPr>
        <p:spPr bwMode="auto">
          <a:xfrm>
            <a:off x="5791200" y="2877550"/>
            <a:ext cx="79236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31" name="TextBox 31"/>
          <p:cNvSpPr txBox="1">
            <a:spLocks noChangeArrowheads="1"/>
          </p:cNvSpPr>
          <p:nvPr/>
        </p:nvSpPr>
        <p:spPr bwMode="auto">
          <a:xfrm>
            <a:off x="7330313" y="2885623"/>
            <a:ext cx="79236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1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32" name="TextBox 31"/>
          <p:cNvSpPr txBox="1">
            <a:spLocks noChangeArrowheads="1"/>
          </p:cNvSpPr>
          <p:nvPr/>
        </p:nvSpPr>
        <p:spPr bwMode="auto">
          <a:xfrm>
            <a:off x="6629400" y="2876550"/>
            <a:ext cx="79236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33" name="TextBox 32"/>
          <p:cNvSpPr txBox="1">
            <a:spLocks noChangeArrowheads="1"/>
          </p:cNvSpPr>
          <p:nvPr/>
        </p:nvSpPr>
        <p:spPr bwMode="auto">
          <a:xfrm>
            <a:off x="4953000" y="2495550"/>
            <a:ext cx="792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34" name="TextBox 32"/>
          <p:cNvSpPr txBox="1">
            <a:spLocks noChangeArrowheads="1"/>
          </p:cNvSpPr>
          <p:nvPr/>
        </p:nvSpPr>
        <p:spPr bwMode="auto">
          <a:xfrm>
            <a:off x="5715000" y="2495550"/>
            <a:ext cx="792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  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35" name="TextBox 32"/>
          <p:cNvSpPr txBox="1">
            <a:spLocks noChangeArrowheads="1"/>
          </p:cNvSpPr>
          <p:nvPr/>
        </p:nvSpPr>
        <p:spPr bwMode="auto">
          <a:xfrm>
            <a:off x="6477000" y="2495550"/>
            <a:ext cx="792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  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36" name="TextBox 32"/>
          <p:cNvSpPr txBox="1">
            <a:spLocks noChangeArrowheads="1"/>
          </p:cNvSpPr>
          <p:nvPr/>
        </p:nvSpPr>
        <p:spPr bwMode="auto">
          <a:xfrm>
            <a:off x="7239000" y="2495550"/>
            <a:ext cx="792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 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37" name="AutoShape 3"/>
          <p:cNvSpPr>
            <a:spLocks noChangeArrowheads="1"/>
          </p:cNvSpPr>
          <p:nvPr/>
        </p:nvSpPr>
        <p:spPr bwMode="auto">
          <a:xfrm>
            <a:off x="5715000" y="2526408"/>
            <a:ext cx="1295400" cy="685800"/>
          </a:xfrm>
          <a:prstGeom prst="flowChartTerminator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" name="AutoShape 3"/>
          <p:cNvSpPr>
            <a:spLocks noChangeArrowheads="1"/>
          </p:cNvSpPr>
          <p:nvPr/>
        </p:nvSpPr>
        <p:spPr bwMode="auto">
          <a:xfrm>
            <a:off x="6629400" y="2495550"/>
            <a:ext cx="1295400" cy="685800"/>
          </a:xfrm>
          <a:prstGeom prst="flowChartTerminator">
            <a:avLst/>
          </a:prstGeom>
          <a:noFill/>
          <a:ln w="28575">
            <a:solidFill>
              <a:schemeClr val="accent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" grpId="0" animBg="1"/>
      <p:bldP spid="125" grpId="0" animBg="1"/>
      <p:bldP spid="130" grpId="0"/>
      <p:bldP spid="131" grpId="0"/>
      <p:bldP spid="132" grpId="0"/>
      <p:bldP spid="133" grpId="0"/>
      <p:bldP spid="134" grpId="0"/>
      <p:bldP spid="135" grpId="0"/>
      <p:bldP spid="136" grpId="0"/>
      <p:bldP spid="137" grpId="0" animBg="1"/>
      <p:bldP spid="138" grpId="0" animBg="1"/>
    </p:bldLst>
  </p:timing>
</p:sld>
</file>

<file path=ppt/theme/theme1.xml><?xml version="1.0" encoding="utf-8"?>
<a:theme xmlns:a="http://schemas.openxmlformats.org/drawingml/2006/main" name="默认设计模板">
  <a:themeElements>
    <a:clrScheme name="自定义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2D2D8A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4672</TotalTime>
  <Words>752</Words>
  <Application>Microsoft Office PowerPoint</Application>
  <PresentationFormat>全屏显示(16:9)</PresentationFormat>
  <Paragraphs>236</Paragraphs>
  <Slides>12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默认设计模板</vt:lpstr>
      <vt:lpstr>Equation</vt:lpstr>
      <vt:lpstr>MathType 6.0 Equation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zhaole</dc:creator>
  <cp:lastModifiedBy>NTKO</cp:lastModifiedBy>
  <cp:revision>531</cp:revision>
  <cp:lastPrinted>2113-01-01T00:00:00Z</cp:lastPrinted>
  <dcterms:created xsi:type="dcterms:W3CDTF">2113-01-01T00:00:00Z</dcterms:created>
  <dcterms:modified xsi:type="dcterms:W3CDTF">2020-12-28T07:41:04Z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2052-11.1.0.8696</vt:lpwstr>
  </property>
</Properties>
</file>