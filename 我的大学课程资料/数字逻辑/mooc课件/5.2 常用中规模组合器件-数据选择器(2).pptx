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Default Extension="bin" ContentType="application/vnd.openxmlformats-officedocument.oleObject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ustom.xml" ContentType="application/vnd.openxmlformats-officedocument.custom-properties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309" r:id="rId2"/>
    <p:sldId id="358" r:id="rId3"/>
    <p:sldId id="374" r:id="rId4"/>
    <p:sldId id="359" r:id="rId5"/>
    <p:sldId id="375" r:id="rId6"/>
    <p:sldId id="376" r:id="rId7"/>
    <p:sldId id="377" r:id="rId8"/>
    <p:sldId id="378" r:id="rId9"/>
    <p:sldId id="379" r:id="rId10"/>
    <p:sldId id="367" r:id="rId11"/>
    <p:sldId id="371" r:id="rId12"/>
    <p:sldId id="372" r:id="rId13"/>
    <p:sldId id="373" r:id="rId14"/>
  </p:sldIdLst>
  <p:sldSz cx="9144000" cy="5143500" type="screen16x9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00CC"/>
    <a:srgbClr val="00FFFF"/>
    <a:srgbClr val="2D1341"/>
    <a:srgbClr val="3333CC"/>
    <a:srgbClr val="2D2D8A"/>
    <a:srgbClr val="0000CC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20" autoAdjust="0"/>
    <p:restoredTop sz="98916" autoAdjust="0"/>
  </p:normalViewPr>
  <p:slideViewPr>
    <p:cSldViewPr>
      <p:cViewPr varScale="1">
        <p:scale>
          <a:sx n="126" d="100"/>
          <a:sy n="126" d="100"/>
        </p:scale>
        <p:origin x="-90" y="-348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image" Target="../media/image2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4.wmf"/><Relationship Id="rId1" Type="http://schemas.openxmlformats.org/officeDocument/2006/relationships/image" Target="../media/image2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image" Target="../media/image6.wmf"/><Relationship Id="rId1" Type="http://schemas.openxmlformats.org/officeDocument/2006/relationships/image" Target="../media/image2.wmf"/></Relationships>
</file>

<file path=ppt/drawings/_rels/vmlDrawing5.vml.rels><?xml version="1.0" encoding="UTF-8" standalone="yes"?>
<Relationships xmlns="http://schemas.openxmlformats.org/package/2006/relationships"><Relationship Id="rId8" Type="http://schemas.openxmlformats.org/officeDocument/2006/relationships/image" Target="../media/image15.wmf"/><Relationship Id="rId3" Type="http://schemas.openxmlformats.org/officeDocument/2006/relationships/image" Target="../media/image10.wmf"/><Relationship Id="rId7" Type="http://schemas.openxmlformats.org/officeDocument/2006/relationships/image" Target="../media/image14.wmf"/><Relationship Id="rId2" Type="http://schemas.openxmlformats.org/officeDocument/2006/relationships/image" Target="../media/image9.wmf"/><Relationship Id="rId1" Type="http://schemas.openxmlformats.org/officeDocument/2006/relationships/image" Target="../media/image8.wmf"/><Relationship Id="rId6" Type="http://schemas.openxmlformats.org/officeDocument/2006/relationships/image" Target="../media/image13.wmf"/><Relationship Id="rId11" Type="http://schemas.openxmlformats.org/officeDocument/2006/relationships/image" Target="../media/image18.wmf"/><Relationship Id="rId5" Type="http://schemas.openxmlformats.org/officeDocument/2006/relationships/image" Target="../media/image12.wmf"/><Relationship Id="rId10" Type="http://schemas.openxmlformats.org/officeDocument/2006/relationships/image" Target="../media/image17.wmf"/><Relationship Id="rId4" Type="http://schemas.openxmlformats.org/officeDocument/2006/relationships/image" Target="../media/image11.wmf"/><Relationship Id="rId9" Type="http://schemas.openxmlformats.org/officeDocument/2006/relationships/image" Target="../media/image16.wmf"/></Relationships>
</file>

<file path=ppt/drawings/_rels/vmlDrawing6.vml.rels><?xml version="1.0" encoding="UTF-8" standalone="yes"?>
<Relationships xmlns="http://schemas.openxmlformats.org/package/2006/relationships"><Relationship Id="rId8" Type="http://schemas.openxmlformats.org/officeDocument/2006/relationships/image" Target="../media/image25.wmf"/><Relationship Id="rId3" Type="http://schemas.openxmlformats.org/officeDocument/2006/relationships/image" Target="../media/image20.wmf"/><Relationship Id="rId7" Type="http://schemas.openxmlformats.org/officeDocument/2006/relationships/image" Target="../media/image24.wmf"/><Relationship Id="rId12" Type="http://schemas.openxmlformats.org/officeDocument/2006/relationships/image" Target="../media/image27.wmf"/><Relationship Id="rId2" Type="http://schemas.openxmlformats.org/officeDocument/2006/relationships/image" Target="../media/image9.wmf"/><Relationship Id="rId1" Type="http://schemas.openxmlformats.org/officeDocument/2006/relationships/image" Target="../media/image8.wmf"/><Relationship Id="rId6" Type="http://schemas.openxmlformats.org/officeDocument/2006/relationships/image" Target="../media/image23.wmf"/><Relationship Id="rId11" Type="http://schemas.openxmlformats.org/officeDocument/2006/relationships/image" Target="../media/image26.wmf"/><Relationship Id="rId5" Type="http://schemas.openxmlformats.org/officeDocument/2006/relationships/image" Target="../media/image22.wmf"/><Relationship Id="rId10" Type="http://schemas.openxmlformats.org/officeDocument/2006/relationships/image" Target="../media/image18.wmf"/><Relationship Id="rId4" Type="http://schemas.openxmlformats.org/officeDocument/2006/relationships/image" Target="../media/image21.wmf"/><Relationship Id="rId9" Type="http://schemas.openxmlformats.org/officeDocument/2006/relationships/image" Target="../media/image17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22.wmf"/><Relationship Id="rId7" Type="http://schemas.openxmlformats.org/officeDocument/2006/relationships/image" Target="../media/image18.wmf"/><Relationship Id="rId2" Type="http://schemas.openxmlformats.org/officeDocument/2006/relationships/image" Target="../media/image28.wmf"/><Relationship Id="rId1" Type="http://schemas.openxmlformats.org/officeDocument/2006/relationships/image" Target="../media/image9.wmf"/><Relationship Id="rId6" Type="http://schemas.openxmlformats.org/officeDocument/2006/relationships/image" Target="../media/image17.wmf"/><Relationship Id="rId5" Type="http://schemas.openxmlformats.org/officeDocument/2006/relationships/image" Target="../media/image24.wmf"/><Relationship Id="rId4" Type="http://schemas.openxmlformats.org/officeDocument/2006/relationships/image" Target="../media/image23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E68FF4-A610-4CCF-A92A-54B8EBE33021}" type="datetimeFigureOut">
              <a:rPr lang="zh-CN" altLang="en-US" smtClean="0"/>
              <a:pPr/>
              <a:t>2021/1/5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D48513-AA6D-4F8A-B41C-3BE1F5014A0C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13296165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ea typeface="微软雅黑" panose="020B0503020204020204" pitchFamily="34" charset="-122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dirty="0" smtClean="0"/>
              <a:t>单击此处编辑母版副标题样式</a:t>
            </a:r>
            <a:endParaRPr lang="zh-CN" altLang="en-US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9E5F32BA-079D-492C-A71C-25B1AC211EF7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  <a:lvl2pPr>
              <a:defRPr>
                <a:ea typeface="微软雅黑" panose="020B0503020204020204" pitchFamily="34" charset="-122"/>
              </a:defRPr>
            </a:lvl2pPr>
            <a:lvl3pPr>
              <a:defRPr>
                <a:ea typeface="微软雅黑" panose="020B0503020204020204" pitchFamily="34" charset="-122"/>
              </a:defRPr>
            </a:lvl3pPr>
            <a:lvl4pPr>
              <a:defRPr>
                <a:ea typeface="微软雅黑" panose="020B0503020204020204" pitchFamily="34" charset="-122"/>
              </a:defRPr>
            </a:lvl4pPr>
            <a:lvl5pPr>
              <a:defRPr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4101730A-013B-4CB4-BA74-6B5A2DA383AB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ea typeface="微软雅黑" panose="020B0503020204020204" pitchFamily="34" charset="-122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7D708CB0-180E-480A-B5E9-304EDB71A67E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>
                <a:ea typeface="微软雅黑" panose="020B0503020204020204" pitchFamily="34" charset="-122"/>
              </a:defRPr>
            </a:lvl1pPr>
            <a:lvl2pPr>
              <a:defRPr sz="2400">
                <a:ea typeface="微软雅黑" panose="020B0503020204020204" pitchFamily="34" charset="-122"/>
              </a:defRPr>
            </a:lvl2pPr>
            <a:lvl3pPr>
              <a:defRPr sz="2000">
                <a:ea typeface="微软雅黑" panose="020B0503020204020204" pitchFamily="34" charset="-122"/>
              </a:defRPr>
            </a:lvl3pPr>
            <a:lvl4pPr>
              <a:defRPr sz="1800">
                <a:ea typeface="微软雅黑" panose="020B0503020204020204" pitchFamily="34" charset="-122"/>
              </a:defRPr>
            </a:lvl4pPr>
            <a:lvl5pPr>
              <a:defRPr sz="1800">
                <a:ea typeface="微软雅黑" panose="020B0503020204020204" pitchFamily="34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>
                <a:ea typeface="微软雅黑" panose="020B0503020204020204" pitchFamily="34" charset="-122"/>
              </a:defRPr>
            </a:lvl1pPr>
            <a:lvl2pPr>
              <a:defRPr sz="2400">
                <a:ea typeface="微软雅黑" panose="020B0503020204020204" pitchFamily="34" charset="-122"/>
              </a:defRPr>
            </a:lvl2pPr>
            <a:lvl3pPr>
              <a:defRPr sz="2000">
                <a:ea typeface="微软雅黑" panose="020B0503020204020204" pitchFamily="34" charset="-122"/>
              </a:defRPr>
            </a:lvl3pPr>
            <a:lvl4pPr>
              <a:defRPr sz="1800">
                <a:ea typeface="微软雅黑" panose="020B0503020204020204" pitchFamily="34" charset="-122"/>
              </a:defRPr>
            </a:lvl4pPr>
            <a:lvl5pPr>
              <a:defRPr sz="1800">
                <a:ea typeface="微软雅黑" panose="020B0503020204020204" pitchFamily="34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BF519ABF-577E-4AA5-A198-446EB7789424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2400">
                <a:ea typeface="微软雅黑" panose="020B0503020204020204" pitchFamily="34" charset="-122"/>
              </a:defRPr>
            </a:lvl1pPr>
            <a:lvl2pPr>
              <a:defRPr sz="2000">
                <a:ea typeface="微软雅黑" panose="020B0503020204020204" pitchFamily="34" charset="-122"/>
              </a:defRPr>
            </a:lvl2pPr>
            <a:lvl3pPr>
              <a:defRPr sz="1800">
                <a:ea typeface="微软雅黑" panose="020B0503020204020204" pitchFamily="34" charset="-122"/>
              </a:defRPr>
            </a:lvl3pPr>
            <a:lvl4pPr>
              <a:defRPr sz="1600">
                <a:ea typeface="微软雅黑" panose="020B0503020204020204" pitchFamily="34" charset="-122"/>
              </a:defRPr>
            </a:lvl4pPr>
            <a:lvl5pPr>
              <a:defRPr sz="1600">
                <a:ea typeface="微软雅黑" panose="020B0503020204020204" pitchFamily="34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8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8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2400">
                <a:ea typeface="微软雅黑" panose="020B0503020204020204" pitchFamily="34" charset="-122"/>
              </a:defRPr>
            </a:lvl1pPr>
            <a:lvl2pPr>
              <a:defRPr sz="2000">
                <a:ea typeface="微软雅黑" panose="020B0503020204020204" pitchFamily="34" charset="-122"/>
              </a:defRPr>
            </a:lvl2pPr>
            <a:lvl3pPr>
              <a:defRPr sz="1800">
                <a:ea typeface="微软雅黑" panose="020B0503020204020204" pitchFamily="34" charset="-122"/>
              </a:defRPr>
            </a:lvl3pPr>
            <a:lvl4pPr>
              <a:defRPr sz="1600">
                <a:ea typeface="微软雅黑" panose="020B0503020204020204" pitchFamily="34" charset="-122"/>
              </a:defRPr>
            </a:lvl4pPr>
            <a:lvl5pPr>
              <a:defRPr sz="1600">
                <a:ea typeface="微软雅黑" panose="020B0503020204020204" pitchFamily="34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D35A92FF-C25D-44F5-BA10-134AA412F22C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CC5F3488-9DEE-45BA-87B6-C85FA6C76AB1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3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2000" b="1"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3200">
                <a:ea typeface="微软雅黑" panose="020B0503020204020204" pitchFamily="34" charset="-122"/>
              </a:defRPr>
            </a:lvl1pPr>
            <a:lvl2pPr>
              <a:defRPr sz="2800">
                <a:ea typeface="微软雅黑" panose="020B0503020204020204" pitchFamily="34" charset="-122"/>
              </a:defRPr>
            </a:lvl2pPr>
            <a:lvl3pPr>
              <a:defRPr sz="2400">
                <a:ea typeface="微软雅黑" panose="020B0503020204020204" pitchFamily="34" charset="-122"/>
              </a:defRPr>
            </a:lvl3pPr>
            <a:lvl4pPr>
              <a:defRPr sz="2000">
                <a:ea typeface="微软雅黑" panose="020B0503020204020204" pitchFamily="34" charset="-122"/>
              </a:defRPr>
            </a:lvl4pPr>
            <a:lvl5pPr>
              <a:defRPr sz="2000">
                <a:ea typeface="微软雅黑" panose="020B0503020204020204" pitchFamily="34" charset="-122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3" y="1076327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ea typeface="微软雅黑" panose="020B0503020204020204" pitchFamily="34" charset="-122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D75ABF99-AFDD-4392-BE13-BE42827BA07F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ea typeface="微软雅黑" panose="020B0503020204020204" pitchFamily="34" charset="-122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dirty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ea typeface="微软雅黑" panose="020B0503020204020204" pitchFamily="34" charset="-122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47E1D088-313E-48D8-BECE-41A274E0B5DB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>
            <a:lvl1pPr>
              <a:defRPr>
                <a:ea typeface="微软雅黑" panose="020B0503020204020204" pitchFamily="34" charset="-122"/>
              </a:defRPr>
            </a:lvl1pPr>
            <a:lvl2pPr>
              <a:defRPr>
                <a:ea typeface="微软雅黑" panose="020B0503020204020204" pitchFamily="34" charset="-122"/>
              </a:defRPr>
            </a:lvl2pPr>
            <a:lvl3pPr>
              <a:defRPr>
                <a:ea typeface="微软雅黑" panose="020B0503020204020204" pitchFamily="34" charset="-122"/>
              </a:defRPr>
            </a:lvl3pPr>
            <a:lvl4pPr>
              <a:defRPr>
                <a:ea typeface="微软雅黑" panose="020B0503020204020204" pitchFamily="34" charset="-122"/>
              </a:defRPr>
            </a:lvl4pPr>
            <a:lvl5pPr>
              <a:defRPr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F4B0AB86-F7AE-4867-ADFF-354DE647AB01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  <a:prstGeom prst="rect">
            <a:avLst/>
          </a:prstGeom>
        </p:spPr>
        <p:txBody>
          <a:bodyPr vert="eaVert"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  <a:prstGeom prst="rect">
            <a:avLst/>
          </a:prstGeom>
        </p:spPr>
        <p:txBody>
          <a:bodyPr vert="eaVert"/>
          <a:lstStyle>
            <a:lvl1pPr>
              <a:defRPr>
                <a:ea typeface="微软雅黑" panose="020B0503020204020204" pitchFamily="34" charset="-122"/>
              </a:defRPr>
            </a:lvl1pPr>
            <a:lvl2pPr>
              <a:defRPr>
                <a:ea typeface="微软雅黑" panose="020B0503020204020204" pitchFamily="34" charset="-122"/>
              </a:defRPr>
            </a:lvl2pPr>
            <a:lvl3pPr>
              <a:defRPr>
                <a:ea typeface="微软雅黑" panose="020B0503020204020204" pitchFamily="34" charset="-122"/>
              </a:defRPr>
            </a:lvl3pPr>
            <a:lvl4pPr>
              <a:defRPr>
                <a:ea typeface="微软雅黑" panose="020B0503020204020204" pitchFamily="34" charset="-122"/>
              </a:defRPr>
            </a:lvl4pPr>
            <a:lvl5pPr>
              <a:defRPr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43CEB1D2-F23D-4EFF-A6C7-152E930DD571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407513-19AE-47F0-ABD9-53914FA6981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4"/>
          <p:cNvSpPr>
            <a:spLocks noChangeArrowheads="1"/>
          </p:cNvSpPr>
          <p:nvPr userDrawn="1"/>
        </p:nvSpPr>
        <p:spPr bwMode="auto">
          <a:xfrm>
            <a:off x="76318" y="514404"/>
            <a:ext cx="8950418" cy="67865"/>
          </a:xfrm>
          <a:custGeom>
            <a:avLst/>
            <a:gdLst>
              <a:gd name="T0" fmla="*/ 0 w 1000"/>
              <a:gd name="T1" fmla="*/ 0 h 1000"/>
              <a:gd name="T2" fmla="*/ 585 w 1000"/>
              <a:gd name="T3" fmla="*/ 0 h 1000"/>
              <a:gd name="T4" fmla="*/ 585 w 1000"/>
              <a:gd name="T5" fmla="*/ 1000 h 1000"/>
              <a:gd name="T6" fmla="*/ 0 w 1000"/>
              <a:gd name="T7" fmla="*/ 1000 h 1000"/>
              <a:gd name="T8" fmla="*/ 0 w 1000"/>
              <a:gd name="T9" fmla="*/ 0 h 1000"/>
              <a:gd name="T10" fmla="*/ 0 w 1000"/>
              <a:gd name="T11" fmla="*/ 0 h 1000"/>
              <a:gd name="T12" fmla="*/ 1000 w 1000"/>
              <a:gd name="T13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6"/>
          </a:solidFill>
          <a:ln w="9525">
            <a:solidFill>
              <a:schemeClr val="accent2"/>
            </a:solidFill>
            <a:round/>
          </a:ln>
        </p:spPr>
        <p:txBody>
          <a:bodyPr/>
          <a:lstStyle/>
          <a:p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6" name="Line 5"/>
          <p:cNvSpPr>
            <a:spLocks noChangeShapeType="1"/>
          </p:cNvSpPr>
          <p:nvPr userDrawn="1"/>
        </p:nvSpPr>
        <p:spPr bwMode="auto">
          <a:xfrm>
            <a:off x="76318" y="4933888"/>
            <a:ext cx="8950418" cy="0"/>
          </a:xfrm>
          <a:prstGeom prst="line">
            <a:avLst/>
          </a:prstGeom>
          <a:noFill/>
          <a:ln w="15875">
            <a:solidFill>
              <a:schemeClr val="accent2"/>
            </a:solidFill>
            <a:rou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dirty="0">
              <a:ea typeface="微软雅黑" panose="020B0503020204020204" pitchFamily="34" charset="-122"/>
            </a:endParaRPr>
          </a:p>
        </p:txBody>
      </p:sp>
      <p:pic>
        <p:nvPicPr>
          <p:cNvPr id="8" name="图片 7" descr="校标.png"/>
          <p:cNvPicPr>
            <a:picLocks noChangeAspect="1"/>
          </p:cNvPicPr>
          <p:nvPr userDrawn="1"/>
        </p:nvPicPr>
        <p:blipFill>
          <a:blip r:embed="rId14" cstate="print"/>
          <a:stretch>
            <a:fillRect/>
          </a:stretch>
        </p:blipFill>
        <p:spPr>
          <a:xfrm>
            <a:off x="6215019" y="0"/>
            <a:ext cx="2545745" cy="47760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oleObject" Target="../embeddings/oleObject3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5" Type="http://schemas.openxmlformats.org/officeDocument/2006/relationships/oleObject" Target="../embeddings/oleObject6.bin"/><Relationship Id="rId4" Type="http://schemas.openxmlformats.org/officeDocument/2006/relationships/oleObject" Target="../embeddings/oleObject5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5" Type="http://schemas.openxmlformats.org/officeDocument/2006/relationships/oleObject" Target="../embeddings/oleObject9.bin"/><Relationship Id="rId4" Type="http://schemas.openxmlformats.org/officeDocument/2006/relationships/oleObject" Target="../embeddings/oleObject8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oleObject" Target="../embeddings/oleObject19.bin"/><Relationship Id="rId18" Type="http://schemas.openxmlformats.org/officeDocument/2006/relationships/oleObject" Target="../embeddings/oleObject24.bin"/><Relationship Id="rId3" Type="http://schemas.openxmlformats.org/officeDocument/2006/relationships/oleObject" Target="../embeddings/oleObject10.bin"/><Relationship Id="rId7" Type="http://schemas.openxmlformats.org/officeDocument/2006/relationships/oleObject" Target="../embeddings/oleObject14.bin"/><Relationship Id="rId12" Type="http://schemas.openxmlformats.org/officeDocument/2006/relationships/oleObject" Target="../embeddings/oleObject18.bin"/><Relationship Id="rId17" Type="http://schemas.openxmlformats.org/officeDocument/2006/relationships/oleObject" Target="../embeddings/oleObject23.bin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22.bin"/><Relationship Id="rId20" Type="http://schemas.openxmlformats.org/officeDocument/2006/relationships/oleObject" Target="../embeddings/oleObject26.bin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13.bin"/><Relationship Id="rId11" Type="http://schemas.openxmlformats.org/officeDocument/2006/relationships/oleObject" Target="../embeddings/oleObject17.bin"/><Relationship Id="rId5" Type="http://schemas.openxmlformats.org/officeDocument/2006/relationships/oleObject" Target="../embeddings/oleObject12.bin"/><Relationship Id="rId15" Type="http://schemas.openxmlformats.org/officeDocument/2006/relationships/oleObject" Target="../embeddings/oleObject21.bin"/><Relationship Id="rId10" Type="http://schemas.openxmlformats.org/officeDocument/2006/relationships/oleObject" Target="../embeddings/oleObject16.bin"/><Relationship Id="rId19" Type="http://schemas.openxmlformats.org/officeDocument/2006/relationships/oleObject" Target="../embeddings/oleObject25.bin"/><Relationship Id="rId4" Type="http://schemas.openxmlformats.org/officeDocument/2006/relationships/oleObject" Target="../embeddings/oleObject11.bin"/><Relationship Id="rId9" Type="http://schemas.openxmlformats.org/officeDocument/2006/relationships/oleObject" Target="../embeddings/oleObject15.bin"/><Relationship Id="rId14" Type="http://schemas.openxmlformats.org/officeDocument/2006/relationships/oleObject" Target="../embeddings/oleObject20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1.bin"/><Relationship Id="rId13" Type="http://schemas.openxmlformats.org/officeDocument/2006/relationships/oleObject" Target="../embeddings/oleObject36.bin"/><Relationship Id="rId18" Type="http://schemas.openxmlformats.org/officeDocument/2006/relationships/oleObject" Target="../embeddings/oleObject41.bin"/><Relationship Id="rId3" Type="http://schemas.openxmlformats.org/officeDocument/2006/relationships/oleObject" Target="../embeddings/oleObject27.bin"/><Relationship Id="rId21" Type="http://schemas.openxmlformats.org/officeDocument/2006/relationships/oleObject" Target="../embeddings/oleObject44.bin"/><Relationship Id="rId7" Type="http://schemas.openxmlformats.org/officeDocument/2006/relationships/image" Target="../media/image19.png"/><Relationship Id="rId12" Type="http://schemas.openxmlformats.org/officeDocument/2006/relationships/oleObject" Target="../embeddings/oleObject35.bin"/><Relationship Id="rId17" Type="http://schemas.openxmlformats.org/officeDocument/2006/relationships/oleObject" Target="../embeddings/oleObject40.bin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39.bin"/><Relationship Id="rId20" Type="http://schemas.openxmlformats.org/officeDocument/2006/relationships/oleObject" Target="../embeddings/oleObject43.bin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30.bin"/><Relationship Id="rId11" Type="http://schemas.openxmlformats.org/officeDocument/2006/relationships/oleObject" Target="../embeddings/oleObject34.bin"/><Relationship Id="rId5" Type="http://schemas.openxmlformats.org/officeDocument/2006/relationships/oleObject" Target="../embeddings/oleObject29.bin"/><Relationship Id="rId15" Type="http://schemas.openxmlformats.org/officeDocument/2006/relationships/oleObject" Target="../embeddings/oleObject38.bin"/><Relationship Id="rId10" Type="http://schemas.openxmlformats.org/officeDocument/2006/relationships/oleObject" Target="../embeddings/oleObject33.bin"/><Relationship Id="rId19" Type="http://schemas.openxmlformats.org/officeDocument/2006/relationships/oleObject" Target="../embeddings/oleObject42.bin"/><Relationship Id="rId4" Type="http://schemas.openxmlformats.org/officeDocument/2006/relationships/oleObject" Target="../embeddings/oleObject28.bin"/><Relationship Id="rId9" Type="http://schemas.openxmlformats.org/officeDocument/2006/relationships/oleObject" Target="../embeddings/oleObject32.bin"/><Relationship Id="rId14" Type="http://schemas.openxmlformats.org/officeDocument/2006/relationships/oleObject" Target="../embeddings/oleObject37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9.bin"/><Relationship Id="rId13" Type="http://schemas.openxmlformats.org/officeDocument/2006/relationships/oleObject" Target="../embeddings/oleObject54.bin"/><Relationship Id="rId18" Type="http://schemas.openxmlformats.org/officeDocument/2006/relationships/oleObject" Target="../embeddings/oleObject59.bin"/><Relationship Id="rId26" Type="http://schemas.openxmlformats.org/officeDocument/2006/relationships/oleObject" Target="../embeddings/oleObject67.bin"/><Relationship Id="rId3" Type="http://schemas.openxmlformats.org/officeDocument/2006/relationships/oleObject" Target="../embeddings/oleObject45.bin"/><Relationship Id="rId21" Type="http://schemas.openxmlformats.org/officeDocument/2006/relationships/oleObject" Target="../embeddings/oleObject62.bin"/><Relationship Id="rId7" Type="http://schemas.openxmlformats.org/officeDocument/2006/relationships/oleObject" Target="../embeddings/oleObject48.bin"/><Relationship Id="rId12" Type="http://schemas.openxmlformats.org/officeDocument/2006/relationships/oleObject" Target="../embeddings/oleObject53.bin"/><Relationship Id="rId17" Type="http://schemas.openxmlformats.org/officeDocument/2006/relationships/oleObject" Target="../embeddings/oleObject58.bin"/><Relationship Id="rId25" Type="http://schemas.openxmlformats.org/officeDocument/2006/relationships/oleObject" Target="../embeddings/oleObject66.bin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57.bin"/><Relationship Id="rId20" Type="http://schemas.openxmlformats.org/officeDocument/2006/relationships/oleObject" Target="../embeddings/oleObject61.bin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47.bin"/><Relationship Id="rId11" Type="http://schemas.openxmlformats.org/officeDocument/2006/relationships/oleObject" Target="../embeddings/oleObject52.bin"/><Relationship Id="rId24" Type="http://schemas.openxmlformats.org/officeDocument/2006/relationships/oleObject" Target="../embeddings/oleObject65.bin"/><Relationship Id="rId5" Type="http://schemas.openxmlformats.org/officeDocument/2006/relationships/image" Target="../media/image19.png"/><Relationship Id="rId15" Type="http://schemas.openxmlformats.org/officeDocument/2006/relationships/oleObject" Target="../embeddings/oleObject56.bin"/><Relationship Id="rId23" Type="http://schemas.openxmlformats.org/officeDocument/2006/relationships/oleObject" Target="../embeddings/oleObject64.bin"/><Relationship Id="rId10" Type="http://schemas.openxmlformats.org/officeDocument/2006/relationships/oleObject" Target="../embeddings/oleObject51.bin"/><Relationship Id="rId19" Type="http://schemas.openxmlformats.org/officeDocument/2006/relationships/oleObject" Target="../embeddings/oleObject60.bin"/><Relationship Id="rId4" Type="http://schemas.openxmlformats.org/officeDocument/2006/relationships/oleObject" Target="../embeddings/oleObject46.bin"/><Relationship Id="rId9" Type="http://schemas.openxmlformats.org/officeDocument/2006/relationships/oleObject" Target="../embeddings/oleObject50.bin"/><Relationship Id="rId14" Type="http://schemas.openxmlformats.org/officeDocument/2006/relationships/oleObject" Target="../embeddings/oleObject55.bin"/><Relationship Id="rId22" Type="http://schemas.openxmlformats.org/officeDocument/2006/relationships/oleObject" Target="../embeddings/oleObject63.bin"/><Relationship Id="rId27" Type="http://schemas.openxmlformats.org/officeDocument/2006/relationships/oleObject" Target="../embeddings/oleObject68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矩形 121"/>
          <p:cNvSpPr/>
          <p:nvPr/>
        </p:nvSpPr>
        <p:spPr>
          <a:xfrm>
            <a:off x="609704" y="1233568"/>
            <a:ext cx="822949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zh-CN" altLang="en-US" sz="54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中规模组合逻辑标准构件</a:t>
            </a:r>
            <a:endParaRPr lang="zh-CN" altLang="zh-CN" sz="54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650" name="Rectangle 59"/>
          <p:cNvSpPr>
            <a:spLocks noChangeArrowheads="1"/>
          </p:cNvSpPr>
          <p:nvPr/>
        </p:nvSpPr>
        <p:spPr bwMode="auto">
          <a:xfrm>
            <a:off x="1524000" y="2571750"/>
            <a:ext cx="6477692" cy="15239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567055" indent="-567055" algn="ctr" defTabSz="827405">
              <a:spcBef>
                <a:spcPct val="20000"/>
              </a:spcBef>
              <a:buClr>
                <a:srgbClr val="FFFF00"/>
              </a:buClr>
              <a:buSzPct val="85000"/>
              <a:buFont typeface="Wingdings" panose="05000000000000000000" pitchFamily="2" charset="2"/>
              <a:buNone/>
            </a:pPr>
            <a:r>
              <a:rPr lang="zh-CN" altLang="en-US" sz="2800" b="1" dirty="0" smtClean="0">
                <a:latin typeface="+mn-ea"/>
                <a:ea typeface="+mn-ea"/>
              </a:rPr>
              <a:t>刘 军</a:t>
            </a:r>
            <a:endParaRPr lang="en-US" altLang="zh-CN" sz="2800" b="1" dirty="0" smtClean="0">
              <a:latin typeface="+mn-ea"/>
              <a:ea typeface="+mn-ea"/>
            </a:endParaRPr>
          </a:p>
          <a:p>
            <a:pPr marL="567055" indent="-567055" algn="ctr" defTabSz="827405">
              <a:spcBef>
                <a:spcPct val="20000"/>
              </a:spcBef>
              <a:buClr>
                <a:srgbClr val="FFFF00"/>
              </a:buClr>
              <a:buSzPct val="85000"/>
              <a:buFont typeface="Wingdings" panose="05000000000000000000" pitchFamily="2" charset="2"/>
              <a:buNone/>
            </a:pPr>
            <a:r>
              <a:rPr lang="zh-CN" altLang="en-US" sz="2800" b="1" dirty="0" smtClean="0">
                <a:latin typeface="+mn-ea"/>
                <a:ea typeface="+mn-ea"/>
              </a:rPr>
              <a:t>合肥工业大学计算机与信息学院</a:t>
            </a:r>
            <a:endParaRPr lang="en-US" altLang="zh-CN" sz="2800" b="1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3447353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609600" y="1276350"/>
            <a:ext cx="7061200" cy="2650331"/>
            <a:chOff x="624" y="1048"/>
            <a:chExt cx="4448" cy="2226"/>
          </a:xfrm>
        </p:grpSpPr>
        <p:sp>
          <p:nvSpPr>
            <p:cNvPr id="60422" name="Rectangle 4"/>
            <p:cNvSpPr>
              <a:spLocks noChangeArrowheads="1"/>
            </p:cNvSpPr>
            <p:nvPr/>
          </p:nvSpPr>
          <p:spPr bwMode="auto">
            <a:xfrm>
              <a:off x="1064" y="1432"/>
              <a:ext cx="3896" cy="140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0423" name="Line 5"/>
            <p:cNvSpPr>
              <a:spLocks noChangeShapeType="1"/>
            </p:cNvSpPr>
            <p:nvPr/>
          </p:nvSpPr>
          <p:spPr bwMode="auto">
            <a:xfrm>
              <a:off x="3016" y="1432"/>
              <a:ext cx="0" cy="14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24" name="Text Box 6"/>
            <p:cNvSpPr txBox="1">
              <a:spLocks noChangeArrowheads="1"/>
            </p:cNvSpPr>
            <p:nvPr/>
          </p:nvSpPr>
          <p:spPr bwMode="auto">
            <a:xfrm>
              <a:off x="1872" y="1456"/>
              <a:ext cx="496" cy="3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000" b="1"/>
                <a:t>1Y</a:t>
              </a:r>
            </a:p>
          </p:txBody>
        </p:sp>
        <p:sp>
          <p:nvSpPr>
            <p:cNvPr id="60425" name="Text Box 7"/>
            <p:cNvSpPr txBox="1">
              <a:spLocks noChangeArrowheads="1"/>
            </p:cNvSpPr>
            <p:nvPr/>
          </p:nvSpPr>
          <p:spPr bwMode="auto">
            <a:xfrm>
              <a:off x="640" y="1653"/>
              <a:ext cx="496" cy="3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000" b="1"/>
                <a:t>A</a:t>
              </a:r>
              <a:r>
                <a:rPr lang="en-US" altLang="zh-CN" sz="2000" b="1" baseline="-2000"/>
                <a:t>1</a:t>
              </a:r>
            </a:p>
          </p:txBody>
        </p:sp>
        <p:sp>
          <p:nvSpPr>
            <p:cNvPr id="60426" name="Text Box 8"/>
            <p:cNvSpPr txBox="1">
              <a:spLocks noChangeArrowheads="1"/>
            </p:cNvSpPr>
            <p:nvPr/>
          </p:nvSpPr>
          <p:spPr bwMode="auto">
            <a:xfrm>
              <a:off x="624" y="2206"/>
              <a:ext cx="496" cy="3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000" b="1"/>
                <a:t>A</a:t>
              </a:r>
              <a:r>
                <a:rPr lang="en-US" altLang="zh-CN" sz="2000" b="1" baseline="-2000"/>
                <a:t>0</a:t>
              </a:r>
            </a:p>
          </p:txBody>
        </p:sp>
        <p:sp>
          <p:nvSpPr>
            <p:cNvPr id="60427" name="Text Box 9"/>
            <p:cNvSpPr txBox="1">
              <a:spLocks noChangeArrowheads="1"/>
            </p:cNvSpPr>
            <p:nvPr/>
          </p:nvSpPr>
          <p:spPr bwMode="auto">
            <a:xfrm>
              <a:off x="1176" y="2520"/>
              <a:ext cx="1912" cy="3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000" b="1" dirty="0" smtClean="0"/>
                <a:t>ST</a:t>
              </a:r>
              <a:r>
                <a:rPr lang="en-US" altLang="zh-CN" sz="2000" b="1" baseline="-25000" dirty="0" smtClean="0"/>
                <a:t>0</a:t>
              </a:r>
              <a:r>
                <a:rPr lang="en-US" altLang="zh-CN" sz="2000" b="1" dirty="0" smtClean="0"/>
                <a:t>  </a:t>
              </a:r>
              <a:r>
                <a:rPr lang="en-US" altLang="zh-CN" sz="2000" b="1" dirty="0"/>
                <a:t>1D</a:t>
              </a:r>
              <a:r>
                <a:rPr lang="en-US" altLang="zh-CN" sz="2000" b="1" baseline="-2000" dirty="0"/>
                <a:t>0</a:t>
              </a:r>
              <a:r>
                <a:rPr lang="en-US" altLang="zh-CN" sz="2000" b="1" dirty="0"/>
                <a:t>  1D</a:t>
              </a:r>
              <a:r>
                <a:rPr lang="en-US" altLang="zh-CN" sz="2000" b="1" baseline="-2000" dirty="0"/>
                <a:t>1</a:t>
              </a:r>
              <a:r>
                <a:rPr lang="en-US" altLang="zh-CN" sz="2000" b="1" dirty="0"/>
                <a:t>  1D</a:t>
              </a:r>
              <a:r>
                <a:rPr lang="en-US" altLang="zh-CN" sz="2000" b="1" baseline="-2000" dirty="0"/>
                <a:t>2</a:t>
              </a:r>
              <a:r>
                <a:rPr lang="en-US" altLang="zh-CN" sz="2000" b="1" dirty="0"/>
                <a:t>  1D</a:t>
              </a:r>
              <a:r>
                <a:rPr lang="en-US" altLang="zh-CN" sz="2000" b="1" baseline="-2000" dirty="0"/>
                <a:t>3</a:t>
              </a:r>
            </a:p>
          </p:txBody>
        </p:sp>
        <p:sp>
          <p:nvSpPr>
            <p:cNvPr id="60428" name="Line 10"/>
            <p:cNvSpPr>
              <a:spLocks noChangeShapeType="1"/>
            </p:cNvSpPr>
            <p:nvPr/>
          </p:nvSpPr>
          <p:spPr bwMode="auto">
            <a:xfrm>
              <a:off x="1216" y="2568"/>
              <a:ext cx="27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29" name="Text Box 11"/>
            <p:cNvSpPr txBox="1">
              <a:spLocks noChangeArrowheads="1"/>
            </p:cNvSpPr>
            <p:nvPr/>
          </p:nvSpPr>
          <p:spPr bwMode="auto">
            <a:xfrm>
              <a:off x="3856" y="1472"/>
              <a:ext cx="496" cy="3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000" b="1"/>
                <a:t>2Y</a:t>
              </a:r>
            </a:p>
          </p:txBody>
        </p:sp>
        <p:sp>
          <p:nvSpPr>
            <p:cNvPr id="60430" name="Text Box 12"/>
            <p:cNvSpPr txBox="1">
              <a:spLocks noChangeArrowheads="1"/>
            </p:cNvSpPr>
            <p:nvPr/>
          </p:nvSpPr>
          <p:spPr bwMode="auto">
            <a:xfrm>
              <a:off x="3160" y="2520"/>
              <a:ext cx="1912" cy="3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000" b="1" dirty="0" smtClean="0"/>
                <a:t>ST</a:t>
              </a:r>
              <a:r>
                <a:rPr lang="en-US" altLang="zh-CN" sz="2000" b="1" baseline="-25000" dirty="0" smtClean="0"/>
                <a:t>1</a:t>
              </a:r>
              <a:r>
                <a:rPr lang="en-US" altLang="zh-CN" sz="2000" b="1" dirty="0" smtClean="0"/>
                <a:t>  </a:t>
              </a:r>
              <a:r>
                <a:rPr lang="en-US" altLang="zh-CN" sz="2000" b="1" dirty="0"/>
                <a:t>2D</a:t>
              </a:r>
              <a:r>
                <a:rPr lang="en-US" altLang="zh-CN" sz="2000" b="1" baseline="-2000" dirty="0"/>
                <a:t>0</a:t>
              </a:r>
              <a:r>
                <a:rPr lang="en-US" altLang="zh-CN" sz="2000" b="1" dirty="0"/>
                <a:t>  2D</a:t>
              </a:r>
              <a:r>
                <a:rPr lang="en-US" altLang="zh-CN" sz="2000" b="1" baseline="-2000" dirty="0"/>
                <a:t>1</a:t>
              </a:r>
              <a:r>
                <a:rPr lang="en-US" altLang="zh-CN" sz="2000" b="1" dirty="0"/>
                <a:t>  2D</a:t>
              </a:r>
              <a:r>
                <a:rPr lang="en-US" altLang="zh-CN" sz="2000" b="1" baseline="-2000" dirty="0"/>
                <a:t>2</a:t>
              </a:r>
              <a:r>
                <a:rPr lang="en-US" altLang="zh-CN" sz="2000" b="1" dirty="0"/>
                <a:t>  2D</a:t>
              </a:r>
              <a:r>
                <a:rPr lang="en-US" altLang="zh-CN" sz="2000" b="1" baseline="-2000" dirty="0"/>
                <a:t>3</a:t>
              </a:r>
            </a:p>
          </p:txBody>
        </p:sp>
        <p:sp>
          <p:nvSpPr>
            <p:cNvPr id="60431" name="Line 13"/>
            <p:cNvSpPr>
              <a:spLocks noChangeShapeType="1"/>
            </p:cNvSpPr>
            <p:nvPr/>
          </p:nvSpPr>
          <p:spPr bwMode="auto">
            <a:xfrm>
              <a:off x="3208" y="2584"/>
              <a:ext cx="21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32" name="Line 14"/>
            <p:cNvSpPr>
              <a:spLocks noChangeShapeType="1"/>
            </p:cNvSpPr>
            <p:nvPr/>
          </p:nvSpPr>
          <p:spPr bwMode="auto">
            <a:xfrm flipH="1">
              <a:off x="888" y="1762"/>
              <a:ext cx="1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33" name="Line 15"/>
            <p:cNvSpPr>
              <a:spLocks noChangeShapeType="1"/>
            </p:cNvSpPr>
            <p:nvPr/>
          </p:nvSpPr>
          <p:spPr bwMode="auto">
            <a:xfrm flipH="1">
              <a:off x="882" y="2323"/>
              <a:ext cx="1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34" name="Line 16"/>
            <p:cNvSpPr>
              <a:spLocks noChangeShapeType="1"/>
            </p:cNvSpPr>
            <p:nvPr/>
          </p:nvSpPr>
          <p:spPr bwMode="auto">
            <a:xfrm>
              <a:off x="1664" y="2856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35" name="Line 17"/>
            <p:cNvSpPr>
              <a:spLocks noChangeShapeType="1"/>
            </p:cNvSpPr>
            <p:nvPr/>
          </p:nvSpPr>
          <p:spPr bwMode="auto">
            <a:xfrm>
              <a:off x="2011" y="2848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36" name="Line 18"/>
            <p:cNvSpPr>
              <a:spLocks noChangeShapeType="1"/>
            </p:cNvSpPr>
            <p:nvPr/>
          </p:nvSpPr>
          <p:spPr bwMode="auto">
            <a:xfrm>
              <a:off x="2368" y="2848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37" name="Line 19"/>
            <p:cNvSpPr>
              <a:spLocks noChangeShapeType="1"/>
            </p:cNvSpPr>
            <p:nvPr/>
          </p:nvSpPr>
          <p:spPr bwMode="auto">
            <a:xfrm>
              <a:off x="2723" y="2848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38" name="Line 20"/>
            <p:cNvSpPr>
              <a:spLocks noChangeShapeType="1"/>
            </p:cNvSpPr>
            <p:nvPr/>
          </p:nvSpPr>
          <p:spPr bwMode="auto">
            <a:xfrm>
              <a:off x="3641" y="2856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39" name="Line 21"/>
            <p:cNvSpPr>
              <a:spLocks noChangeShapeType="1"/>
            </p:cNvSpPr>
            <p:nvPr/>
          </p:nvSpPr>
          <p:spPr bwMode="auto">
            <a:xfrm>
              <a:off x="4010" y="2848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40" name="Line 22"/>
            <p:cNvSpPr>
              <a:spLocks noChangeShapeType="1"/>
            </p:cNvSpPr>
            <p:nvPr/>
          </p:nvSpPr>
          <p:spPr bwMode="auto">
            <a:xfrm>
              <a:off x="4352" y="2848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41" name="Line 23"/>
            <p:cNvSpPr>
              <a:spLocks noChangeShapeType="1"/>
            </p:cNvSpPr>
            <p:nvPr/>
          </p:nvSpPr>
          <p:spPr bwMode="auto">
            <a:xfrm>
              <a:off x="4708" y="2848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42" name="Line 24"/>
            <p:cNvSpPr>
              <a:spLocks noChangeShapeType="1"/>
            </p:cNvSpPr>
            <p:nvPr/>
          </p:nvSpPr>
          <p:spPr bwMode="auto">
            <a:xfrm>
              <a:off x="1321" y="2890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43" name="Line 25"/>
            <p:cNvSpPr>
              <a:spLocks noChangeShapeType="1"/>
            </p:cNvSpPr>
            <p:nvPr/>
          </p:nvSpPr>
          <p:spPr bwMode="auto">
            <a:xfrm>
              <a:off x="3314" y="2890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44" name="Oval 26"/>
            <p:cNvSpPr>
              <a:spLocks noChangeArrowheads="1"/>
            </p:cNvSpPr>
            <p:nvPr/>
          </p:nvSpPr>
          <p:spPr bwMode="auto">
            <a:xfrm>
              <a:off x="1289" y="2848"/>
              <a:ext cx="64" cy="5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0445" name="Oval 27"/>
            <p:cNvSpPr>
              <a:spLocks noChangeArrowheads="1"/>
            </p:cNvSpPr>
            <p:nvPr/>
          </p:nvSpPr>
          <p:spPr bwMode="auto">
            <a:xfrm>
              <a:off x="3282" y="2844"/>
              <a:ext cx="64" cy="5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0446" name="Line 28"/>
            <p:cNvSpPr>
              <a:spLocks noChangeShapeType="1"/>
            </p:cNvSpPr>
            <p:nvPr/>
          </p:nvSpPr>
          <p:spPr bwMode="auto">
            <a:xfrm>
              <a:off x="2012" y="1048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47" name="Line 29"/>
            <p:cNvSpPr>
              <a:spLocks noChangeShapeType="1"/>
            </p:cNvSpPr>
            <p:nvPr/>
          </p:nvSpPr>
          <p:spPr bwMode="auto">
            <a:xfrm>
              <a:off x="4010" y="1048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60419" name="Text Box 30"/>
          <p:cNvSpPr txBox="1">
            <a:spLocks noChangeArrowheads="1"/>
          </p:cNvSpPr>
          <p:nvPr/>
        </p:nvSpPr>
        <p:spPr bwMode="auto">
          <a:xfrm>
            <a:off x="3563938" y="2496740"/>
            <a:ext cx="74612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000" dirty="0">
                <a:solidFill>
                  <a:srgbClr val="FF0000"/>
                </a:solidFill>
              </a:rPr>
              <a:t>1#</a:t>
            </a:r>
          </a:p>
        </p:txBody>
      </p:sp>
      <p:sp>
        <p:nvSpPr>
          <p:cNvPr id="60420" name="Text Box 31"/>
          <p:cNvSpPr txBox="1">
            <a:spLocks noChangeArrowheads="1"/>
          </p:cNvSpPr>
          <p:nvPr/>
        </p:nvSpPr>
        <p:spPr bwMode="auto">
          <a:xfrm>
            <a:off x="6718301" y="2515790"/>
            <a:ext cx="74612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000" dirty="0">
                <a:solidFill>
                  <a:srgbClr val="FF0000"/>
                </a:solidFill>
              </a:rPr>
              <a:t>2#</a:t>
            </a:r>
          </a:p>
        </p:txBody>
      </p:sp>
      <p:sp>
        <p:nvSpPr>
          <p:cNvPr id="32" name="矩形 31"/>
          <p:cNvSpPr/>
          <p:nvPr/>
        </p:nvSpPr>
        <p:spPr>
          <a:xfrm>
            <a:off x="0" y="0"/>
            <a:ext cx="349967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：中规模标准构件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Rectangle 14"/>
          <p:cNvSpPr>
            <a:spLocks noChangeArrowheads="1"/>
          </p:cNvSpPr>
          <p:nvPr/>
        </p:nvSpPr>
        <p:spPr bwMode="auto">
          <a:xfrm>
            <a:off x="152400" y="590550"/>
            <a:ext cx="8610600" cy="22313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数据选择器</a:t>
            </a:r>
            <a:r>
              <a:rPr lang="en-US" altLang="zh-CN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74LS153</a:t>
            </a:r>
            <a:r>
              <a:rPr lang="zh-CN" altLang="en-US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1400" b="1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 smtClean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114800" y="4171950"/>
            <a:ext cx="609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图 </a:t>
            </a:r>
            <a:r>
              <a:rPr lang="en-US" altLang="zh-CN" sz="1600" dirty="0" smtClean="0">
                <a:latin typeface="微软雅黑" pitchFamily="34" charset="-122"/>
                <a:ea typeface="微软雅黑" pitchFamily="34" charset="-122"/>
              </a:rPr>
              <a:t>1</a:t>
            </a:r>
            <a:endParaRPr lang="zh-CN" altLang="en-US" sz="1600" dirty="0"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1371600" y="1345402"/>
            <a:ext cx="7061200" cy="2471737"/>
            <a:chOff x="624" y="1198"/>
            <a:chExt cx="4448" cy="2076"/>
          </a:xfrm>
        </p:grpSpPr>
        <p:sp>
          <p:nvSpPr>
            <p:cNvPr id="61473" name="Rectangle 3"/>
            <p:cNvSpPr>
              <a:spLocks noChangeArrowheads="1"/>
            </p:cNvSpPr>
            <p:nvPr/>
          </p:nvSpPr>
          <p:spPr bwMode="auto">
            <a:xfrm>
              <a:off x="1064" y="1432"/>
              <a:ext cx="3896" cy="140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 sz="1400"/>
            </a:p>
          </p:txBody>
        </p:sp>
        <p:sp>
          <p:nvSpPr>
            <p:cNvPr id="61474" name="Line 4"/>
            <p:cNvSpPr>
              <a:spLocks noChangeShapeType="1"/>
            </p:cNvSpPr>
            <p:nvPr/>
          </p:nvSpPr>
          <p:spPr bwMode="auto">
            <a:xfrm>
              <a:off x="3016" y="1432"/>
              <a:ext cx="0" cy="14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61475" name="Text Box 5"/>
            <p:cNvSpPr txBox="1">
              <a:spLocks noChangeArrowheads="1"/>
            </p:cNvSpPr>
            <p:nvPr/>
          </p:nvSpPr>
          <p:spPr bwMode="auto">
            <a:xfrm>
              <a:off x="1872" y="1456"/>
              <a:ext cx="496" cy="2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400" b="1"/>
                <a:t>1Y</a:t>
              </a:r>
            </a:p>
          </p:txBody>
        </p:sp>
        <p:sp>
          <p:nvSpPr>
            <p:cNvPr id="61476" name="Text Box 6"/>
            <p:cNvSpPr txBox="1">
              <a:spLocks noChangeArrowheads="1"/>
            </p:cNvSpPr>
            <p:nvPr/>
          </p:nvSpPr>
          <p:spPr bwMode="auto">
            <a:xfrm>
              <a:off x="640" y="1653"/>
              <a:ext cx="496" cy="2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400" b="1">
                  <a:solidFill>
                    <a:srgbClr val="0000FF"/>
                  </a:solidFill>
                </a:rPr>
                <a:t>A</a:t>
              </a:r>
              <a:r>
                <a:rPr lang="en-US" altLang="zh-CN" sz="1400" b="1" baseline="-2000">
                  <a:solidFill>
                    <a:srgbClr val="0000FF"/>
                  </a:solidFill>
                </a:rPr>
                <a:t>1</a:t>
              </a:r>
            </a:p>
          </p:txBody>
        </p:sp>
        <p:sp>
          <p:nvSpPr>
            <p:cNvPr id="61477" name="Text Box 7"/>
            <p:cNvSpPr txBox="1">
              <a:spLocks noChangeArrowheads="1"/>
            </p:cNvSpPr>
            <p:nvPr/>
          </p:nvSpPr>
          <p:spPr bwMode="auto">
            <a:xfrm>
              <a:off x="624" y="2206"/>
              <a:ext cx="496" cy="2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400" b="1">
                  <a:solidFill>
                    <a:srgbClr val="0000FF"/>
                  </a:solidFill>
                </a:rPr>
                <a:t>A</a:t>
              </a:r>
              <a:r>
                <a:rPr lang="en-US" altLang="zh-CN" sz="1400" b="1" baseline="-2000">
                  <a:solidFill>
                    <a:srgbClr val="0000FF"/>
                  </a:solidFill>
                </a:rPr>
                <a:t>0</a:t>
              </a:r>
            </a:p>
          </p:txBody>
        </p:sp>
        <p:sp>
          <p:nvSpPr>
            <p:cNvPr id="61478" name="Text Box 8"/>
            <p:cNvSpPr txBox="1">
              <a:spLocks noChangeArrowheads="1"/>
            </p:cNvSpPr>
            <p:nvPr/>
          </p:nvSpPr>
          <p:spPr bwMode="auto">
            <a:xfrm>
              <a:off x="1176" y="2552"/>
              <a:ext cx="1912" cy="2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400" b="1" dirty="0" smtClean="0"/>
                <a:t>ST</a:t>
              </a:r>
              <a:r>
                <a:rPr lang="en-US" altLang="zh-CN" sz="1400" b="1" baseline="-25000" dirty="0" smtClean="0"/>
                <a:t>0</a:t>
              </a:r>
              <a:r>
                <a:rPr lang="en-US" altLang="zh-CN" sz="1400" b="1" dirty="0" smtClean="0"/>
                <a:t>  </a:t>
              </a:r>
              <a:r>
                <a:rPr lang="en-US" altLang="zh-CN" sz="1400" b="1" dirty="0"/>
                <a:t>1D</a:t>
              </a:r>
              <a:r>
                <a:rPr lang="en-US" altLang="zh-CN" sz="1400" b="1" baseline="-2000" dirty="0"/>
                <a:t>0</a:t>
              </a:r>
              <a:r>
                <a:rPr lang="en-US" altLang="zh-CN" sz="1400" b="1" dirty="0"/>
                <a:t>  </a:t>
              </a:r>
              <a:r>
                <a:rPr lang="en-US" altLang="zh-CN" sz="1400" b="1" dirty="0" smtClean="0"/>
                <a:t>      1D</a:t>
              </a:r>
              <a:r>
                <a:rPr lang="en-US" altLang="zh-CN" sz="1400" b="1" baseline="-2000" dirty="0" smtClean="0"/>
                <a:t>1</a:t>
              </a:r>
              <a:r>
                <a:rPr lang="en-US" altLang="zh-CN" sz="1400" b="1" dirty="0" smtClean="0"/>
                <a:t>      1D</a:t>
              </a:r>
              <a:r>
                <a:rPr lang="en-US" altLang="zh-CN" sz="1400" b="1" baseline="-2000" dirty="0" smtClean="0"/>
                <a:t>2</a:t>
              </a:r>
              <a:r>
                <a:rPr lang="en-US" altLang="zh-CN" sz="1400" b="1" dirty="0" smtClean="0"/>
                <a:t>     1D</a:t>
              </a:r>
              <a:r>
                <a:rPr lang="en-US" altLang="zh-CN" sz="1400" b="1" baseline="-2000" dirty="0" smtClean="0"/>
                <a:t>3</a:t>
              </a:r>
              <a:endParaRPr lang="en-US" altLang="zh-CN" sz="1400" b="1" baseline="-2000" dirty="0"/>
            </a:p>
          </p:txBody>
        </p:sp>
        <p:sp>
          <p:nvSpPr>
            <p:cNvPr id="61479" name="Line 9"/>
            <p:cNvSpPr>
              <a:spLocks noChangeShapeType="1"/>
            </p:cNvSpPr>
            <p:nvPr/>
          </p:nvSpPr>
          <p:spPr bwMode="auto">
            <a:xfrm>
              <a:off x="1231" y="2568"/>
              <a:ext cx="16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61480" name="Text Box 10"/>
            <p:cNvSpPr txBox="1">
              <a:spLocks noChangeArrowheads="1"/>
            </p:cNvSpPr>
            <p:nvPr/>
          </p:nvSpPr>
          <p:spPr bwMode="auto">
            <a:xfrm>
              <a:off x="3856" y="1472"/>
              <a:ext cx="496" cy="2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400" b="1"/>
                <a:t>2Y</a:t>
              </a:r>
            </a:p>
          </p:txBody>
        </p:sp>
        <p:sp>
          <p:nvSpPr>
            <p:cNvPr id="61481" name="Text Box 11"/>
            <p:cNvSpPr txBox="1">
              <a:spLocks noChangeArrowheads="1"/>
            </p:cNvSpPr>
            <p:nvPr/>
          </p:nvSpPr>
          <p:spPr bwMode="auto">
            <a:xfrm>
              <a:off x="3160" y="2568"/>
              <a:ext cx="1912" cy="2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400" b="1" dirty="0" smtClean="0"/>
                <a:t>ST</a:t>
              </a:r>
              <a:r>
                <a:rPr lang="en-US" altLang="zh-CN" sz="1400" b="1" baseline="-25000" dirty="0" smtClean="0"/>
                <a:t>1</a:t>
              </a:r>
              <a:r>
                <a:rPr lang="en-US" altLang="zh-CN" sz="1400" b="1" dirty="0" smtClean="0"/>
                <a:t>    2D</a:t>
              </a:r>
              <a:r>
                <a:rPr lang="en-US" altLang="zh-CN" sz="1400" b="1" baseline="-2000" dirty="0" smtClean="0"/>
                <a:t>0</a:t>
              </a:r>
              <a:r>
                <a:rPr lang="en-US" altLang="zh-CN" sz="1400" b="1" dirty="0" smtClean="0"/>
                <a:t>      2D</a:t>
              </a:r>
              <a:r>
                <a:rPr lang="en-US" altLang="zh-CN" sz="1400" b="1" baseline="-2000" dirty="0" smtClean="0"/>
                <a:t>1</a:t>
              </a:r>
              <a:r>
                <a:rPr lang="en-US" altLang="zh-CN" sz="1400" b="1" dirty="0" smtClean="0"/>
                <a:t>      2D</a:t>
              </a:r>
              <a:r>
                <a:rPr lang="en-US" altLang="zh-CN" sz="1400" b="1" baseline="-2000" dirty="0" smtClean="0"/>
                <a:t>2</a:t>
              </a:r>
              <a:r>
                <a:rPr lang="en-US" altLang="zh-CN" sz="1400" b="1" dirty="0" smtClean="0"/>
                <a:t>      2D</a:t>
              </a:r>
              <a:r>
                <a:rPr lang="en-US" altLang="zh-CN" sz="1400" b="1" baseline="-2000" dirty="0" smtClean="0"/>
                <a:t>3</a:t>
              </a:r>
              <a:endParaRPr lang="en-US" altLang="zh-CN" sz="1400" b="1" baseline="-2000" dirty="0"/>
            </a:p>
          </p:txBody>
        </p:sp>
        <p:sp>
          <p:nvSpPr>
            <p:cNvPr id="61482" name="Line 12"/>
            <p:cNvSpPr>
              <a:spLocks noChangeShapeType="1"/>
            </p:cNvSpPr>
            <p:nvPr/>
          </p:nvSpPr>
          <p:spPr bwMode="auto">
            <a:xfrm>
              <a:off x="3218" y="2584"/>
              <a:ext cx="19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61483" name="Line 13"/>
            <p:cNvSpPr>
              <a:spLocks noChangeShapeType="1"/>
            </p:cNvSpPr>
            <p:nvPr/>
          </p:nvSpPr>
          <p:spPr bwMode="auto">
            <a:xfrm flipH="1">
              <a:off x="888" y="1762"/>
              <a:ext cx="176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61484" name="Line 14"/>
            <p:cNvSpPr>
              <a:spLocks noChangeShapeType="1"/>
            </p:cNvSpPr>
            <p:nvPr/>
          </p:nvSpPr>
          <p:spPr bwMode="auto">
            <a:xfrm flipH="1">
              <a:off x="882" y="2323"/>
              <a:ext cx="176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61485" name="Line 15"/>
            <p:cNvSpPr>
              <a:spLocks noChangeShapeType="1"/>
            </p:cNvSpPr>
            <p:nvPr/>
          </p:nvSpPr>
          <p:spPr bwMode="auto">
            <a:xfrm>
              <a:off x="1664" y="2856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61486" name="Line 16"/>
            <p:cNvSpPr>
              <a:spLocks noChangeShapeType="1"/>
            </p:cNvSpPr>
            <p:nvPr/>
          </p:nvSpPr>
          <p:spPr bwMode="auto">
            <a:xfrm>
              <a:off x="2011" y="2848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61487" name="Line 17"/>
            <p:cNvSpPr>
              <a:spLocks noChangeShapeType="1"/>
            </p:cNvSpPr>
            <p:nvPr/>
          </p:nvSpPr>
          <p:spPr bwMode="auto">
            <a:xfrm>
              <a:off x="2368" y="2848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61488" name="Line 18"/>
            <p:cNvSpPr>
              <a:spLocks noChangeShapeType="1"/>
            </p:cNvSpPr>
            <p:nvPr/>
          </p:nvSpPr>
          <p:spPr bwMode="auto">
            <a:xfrm>
              <a:off x="2723" y="2848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61489" name="Line 19"/>
            <p:cNvSpPr>
              <a:spLocks noChangeShapeType="1"/>
            </p:cNvSpPr>
            <p:nvPr/>
          </p:nvSpPr>
          <p:spPr bwMode="auto">
            <a:xfrm>
              <a:off x="3641" y="2856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61490" name="Line 20"/>
            <p:cNvSpPr>
              <a:spLocks noChangeShapeType="1"/>
            </p:cNvSpPr>
            <p:nvPr/>
          </p:nvSpPr>
          <p:spPr bwMode="auto">
            <a:xfrm>
              <a:off x="4010" y="2848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61491" name="Line 21"/>
            <p:cNvSpPr>
              <a:spLocks noChangeShapeType="1"/>
            </p:cNvSpPr>
            <p:nvPr/>
          </p:nvSpPr>
          <p:spPr bwMode="auto">
            <a:xfrm>
              <a:off x="4352" y="2848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61492" name="Line 22"/>
            <p:cNvSpPr>
              <a:spLocks noChangeShapeType="1"/>
            </p:cNvSpPr>
            <p:nvPr/>
          </p:nvSpPr>
          <p:spPr bwMode="auto">
            <a:xfrm>
              <a:off x="4708" y="2848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61493" name="Line 23"/>
            <p:cNvSpPr>
              <a:spLocks noChangeShapeType="1"/>
            </p:cNvSpPr>
            <p:nvPr/>
          </p:nvSpPr>
          <p:spPr bwMode="auto">
            <a:xfrm>
              <a:off x="1321" y="2890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61494" name="Line 24"/>
            <p:cNvSpPr>
              <a:spLocks noChangeShapeType="1"/>
            </p:cNvSpPr>
            <p:nvPr/>
          </p:nvSpPr>
          <p:spPr bwMode="auto">
            <a:xfrm>
              <a:off x="3314" y="2890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61495" name="Oval 25"/>
            <p:cNvSpPr>
              <a:spLocks noChangeArrowheads="1"/>
            </p:cNvSpPr>
            <p:nvPr/>
          </p:nvSpPr>
          <p:spPr bwMode="auto">
            <a:xfrm>
              <a:off x="1289" y="2848"/>
              <a:ext cx="64" cy="5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/>
            </a:p>
          </p:txBody>
        </p:sp>
        <p:sp>
          <p:nvSpPr>
            <p:cNvPr id="61496" name="Oval 26"/>
            <p:cNvSpPr>
              <a:spLocks noChangeArrowheads="1"/>
            </p:cNvSpPr>
            <p:nvPr/>
          </p:nvSpPr>
          <p:spPr bwMode="auto">
            <a:xfrm>
              <a:off x="3282" y="2844"/>
              <a:ext cx="64" cy="5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/>
            </a:p>
          </p:txBody>
        </p:sp>
        <p:sp>
          <p:nvSpPr>
            <p:cNvPr id="61497" name="Line 27"/>
            <p:cNvSpPr>
              <a:spLocks noChangeShapeType="1"/>
            </p:cNvSpPr>
            <p:nvPr/>
          </p:nvSpPr>
          <p:spPr bwMode="auto">
            <a:xfrm>
              <a:off x="2012" y="1198"/>
              <a:ext cx="0" cy="23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61498" name="Line 28"/>
            <p:cNvSpPr>
              <a:spLocks noChangeShapeType="1"/>
            </p:cNvSpPr>
            <p:nvPr/>
          </p:nvSpPr>
          <p:spPr bwMode="auto">
            <a:xfrm>
              <a:off x="4032" y="1198"/>
              <a:ext cx="0" cy="23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400"/>
            </a:p>
          </p:txBody>
        </p:sp>
      </p:grpSp>
      <p:sp>
        <p:nvSpPr>
          <p:cNvPr id="61446" name="Text Box 57"/>
          <p:cNvSpPr txBox="1">
            <a:spLocks noChangeArrowheads="1"/>
          </p:cNvSpPr>
          <p:nvPr/>
        </p:nvSpPr>
        <p:spPr bwMode="auto">
          <a:xfrm>
            <a:off x="4800600" y="2387199"/>
            <a:ext cx="74612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1400" dirty="0">
                <a:solidFill>
                  <a:srgbClr val="FF0000"/>
                </a:solidFill>
              </a:rPr>
              <a:t>1#</a:t>
            </a:r>
          </a:p>
        </p:txBody>
      </p:sp>
      <p:sp>
        <p:nvSpPr>
          <p:cNvPr id="61447" name="Text Box 58"/>
          <p:cNvSpPr txBox="1">
            <a:spLocks noChangeArrowheads="1"/>
          </p:cNvSpPr>
          <p:nvPr/>
        </p:nvSpPr>
        <p:spPr bwMode="auto">
          <a:xfrm>
            <a:off x="7788275" y="2406249"/>
            <a:ext cx="74612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1400" dirty="0">
                <a:solidFill>
                  <a:srgbClr val="FF0000"/>
                </a:solidFill>
              </a:rPr>
              <a:t>2#</a:t>
            </a:r>
          </a:p>
        </p:txBody>
      </p:sp>
      <p:sp>
        <p:nvSpPr>
          <p:cNvPr id="59" name="矩形 58"/>
          <p:cNvSpPr/>
          <p:nvPr/>
        </p:nvSpPr>
        <p:spPr>
          <a:xfrm>
            <a:off x="0" y="0"/>
            <a:ext cx="349967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：中规模标准构件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0" name="Rectangle 14"/>
          <p:cNvSpPr>
            <a:spLocks noChangeArrowheads="1"/>
          </p:cNvSpPr>
          <p:nvPr/>
        </p:nvSpPr>
        <p:spPr bwMode="auto">
          <a:xfrm>
            <a:off x="152400" y="590550"/>
            <a:ext cx="8610600" cy="29700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数据选择器</a:t>
            </a:r>
            <a:r>
              <a:rPr lang="en-US" altLang="zh-CN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74LS153:</a:t>
            </a:r>
          </a:p>
          <a:p>
            <a:pPr marL="0" lvl="1">
              <a:lnSpc>
                <a:spcPct val="150000"/>
              </a:lnSpc>
            </a:pPr>
            <a:r>
              <a:rPr lang="zh-CN" altLang="en-US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：将</a:t>
            </a:r>
            <a:r>
              <a:rPr lang="en-US" altLang="zh-CN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74LS153</a:t>
            </a:r>
          </a:p>
          <a:p>
            <a:pPr marL="0" lvl="1">
              <a:lnSpc>
                <a:spcPct val="150000"/>
              </a:lnSpc>
            </a:pPr>
            <a:r>
              <a:rPr lang="zh-CN" altLang="en-US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连接成八选一</a:t>
            </a:r>
            <a:endParaRPr lang="en-US" altLang="zh-CN" sz="1400" b="1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 smtClean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4953000" y="3943350"/>
            <a:ext cx="609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图 </a:t>
            </a:r>
            <a:r>
              <a:rPr lang="en-US" altLang="zh-CN" sz="1600" dirty="0" smtClean="0">
                <a:latin typeface="微软雅黑" pitchFamily="34" charset="-122"/>
                <a:ea typeface="微软雅黑" pitchFamily="34" charset="-122"/>
              </a:rPr>
              <a:t>1</a:t>
            </a:r>
            <a:endParaRPr lang="zh-CN" altLang="en-US" sz="1600" dirty="0"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1371600" y="1345402"/>
            <a:ext cx="7061200" cy="2471737"/>
            <a:chOff x="624" y="1198"/>
            <a:chExt cx="4448" cy="2076"/>
          </a:xfrm>
        </p:grpSpPr>
        <p:sp>
          <p:nvSpPr>
            <p:cNvPr id="61473" name="Rectangle 3"/>
            <p:cNvSpPr>
              <a:spLocks noChangeArrowheads="1"/>
            </p:cNvSpPr>
            <p:nvPr/>
          </p:nvSpPr>
          <p:spPr bwMode="auto">
            <a:xfrm>
              <a:off x="1064" y="1432"/>
              <a:ext cx="3896" cy="140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 sz="1400"/>
            </a:p>
          </p:txBody>
        </p:sp>
        <p:sp>
          <p:nvSpPr>
            <p:cNvPr id="61474" name="Line 4"/>
            <p:cNvSpPr>
              <a:spLocks noChangeShapeType="1"/>
            </p:cNvSpPr>
            <p:nvPr/>
          </p:nvSpPr>
          <p:spPr bwMode="auto">
            <a:xfrm>
              <a:off x="3016" y="1432"/>
              <a:ext cx="0" cy="14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61475" name="Text Box 5"/>
            <p:cNvSpPr txBox="1">
              <a:spLocks noChangeArrowheads="1"/>
            </p:cNvSpPr>
            <p:nvPr/>
          </p:nvSpPr>
          <p:spPr bwMode="auto">
            <a:xfrm>
              <a:off x="1872" y="1456"/>
              <a:ext cx="496" cy="2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400" b="1"/>
                <a:t>1Y</a:t>
              </a:r>
            </a:p>
          </p:txBody>
        </p:sp>
        <p:sp>
          <p:nvSpPr>
            <p:cNvPr id="61476" name="Text Box 6"/>
            <p:cNvSpPr txBox="1">
              <a:spLocks noChangeArrowheads="1"/>
            </p:cNvSpPr>
            <p:nvPr/>
          </p:nvSpPr>
          <p:spPr bwMode="auto">
            <a:xfrm>
              <a:off x="640" y="1653"/>
              <a:ext cx="496" cy="2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400" b="1">
                  <a:solidFill>
                    <a:srgbClr val="0000FF"/>
                  </a:solidFill>
                </a:rPr>
                <a:t>A</a:t>
              </a:r>
              <a:r>
                <a:rPr lang="en-US" altLang="zh-CN" sz="1400" b="1" baseline="-2000">
                  <a:solidFill>
                    <a:srgbClr val="0000FF"/>
                  </a:solidFill>
                </a:rPr>
                <a:t>1</a:t>
              </a:r>
            </a:p>
          </p:txBody>
        </p:sp>
        <p:sp>
          <p:nvSpPr>
            <p:cNvPr id="61477" name="Text Box 7"/>
            <p:cNvSpPr txBox="1">
              <a:spLocks noChangeArrowheads="1"/>
            </p:cNvSpPr>
            <p:nvPr/>
          </p:nvSpPr>
          <p:spPr bwMode="auto">
            <a:xfrm>
              <a:off x="624" y="2206"/>
              <a:ext cx="496" cy="2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400" b="1">
                  <a:solidFill>
                    <a:srgbClr val="0000FF"/>
                  </a:solidFill>
                </a:rPr>
                <a:t>A</a:t>
              </a:r>
              <a:r>
                <a:rPr lang="en-US" altLang="zh-CN" sz="1400" b="1" baseline="-2000">
                  <a:solidFill>
                    <a:srgbClr val="0000FF"/>
                  </a:solidFill>
                </a:rPr>
                <a:t>0</a:t>
              </a:r>
            </a:p>
          </p:txBody>
        </p:sp>
        <p:sp>
          <p:nvSpPr>
            <p:cNvPr id="61478" name="Text Box 8"/>
            <p:cNvSpPr txBox="1">
              <a:spLocks noChangeArrowheads="1"/>
            </p:cNvSpPr>
            <p:nvPr/>
          </p:nvSpPr>
          <p:spPr bwMode="auto">
            <a:xfrm>
              <a:off x="1176" y="2552"/>
              <a:ext cx="1912" cy="2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400" b="1" dirty="0" smtClean="0"/>
                <a:t>ST</a:t>
              </a:r>
              <a:r>
                <a:rPr lang="en-US" altLang="zh-CN" sz="1400" b="1" baseline="-25000" dirty="0" smtClean="0"/>
                <a:t>0</a:t>
              </a:r>
              <a:r>
                <a:rPr lang="en-US" altLang="zh-CN" sz="1400" b="1" dirty="0" smtClean="0"/>
                <a:t>  </a:t>
              </a:r>
              <a:r>
                <a:rPr lang="en-US" altLang="zh-CN" sz="1400" b="1" dirty="0"/>
                <a:t>1D</a:t>
              </a:r>
              <a:r>
                <a:rPr lang="en-US" altLang="zh-CN" sz="1400" b="1" baseline="-2000" dirty="0"/>
                <a:t>0</a:t>
              </a:r>
              <a:r>
                <a:rPr lang="en-US" altLang="zh-CN" sz="1400" b="1" dirty="0"/>
                <a:t>  </a:t>
              </a:r>
              <a:r>
                <a:rPr lang="en-US" altLang="zh-CN" sz="1400" b="1" dirty="0" smtClean="0"/>
                <a:t>      1D</a:t>
              </a:r>
              <a:r>
                <a:rPr lang="en-US" altLang="zh-CN" sz="1400" b="1" baseline="-2000" dirty="0" smtClean="0"/>
                <a:t>1</a:t>
              </a:r>
              <a:r>
                <a:rPr lang="en-US" altLang="zh-CN" sz="1400" b="1" dirty="0" smtClean="0"/>
                <a:t>      1D</a:t>
              </a:r>
              <a:r>
                <a:rPr lang="en-US" altLang="zh-CN" sz="1400" b="1" baseline="-2000" dirty="0" smtClean="0"/>
                <a:t>2</a:t>
              </a:r>
              <a:r>
                <a:rPr lang="en-US" altLang="zh-CN" sz="1400" b="1" dirty="0" smtClean="0"/>
                <a:t>     1D</a:t>
              </a:r>
              <a:r>
                <a:rPr lang="en-US" altLang="zh-CN" sz="1400" b="1" baseline="-2000" dirty="0" smtClean="0"/>
                <a:t>3</a:t>
              </a:r>
              <a:endParaRPr lang="en-US" altLang="zh-CN" sz="1400" b="1" baseline="-2000" dirty="0"/>
            </a:p>
          </p:txBody>
        </p:sp>
        <p:sp>
          <p:nvSpPr>
            <p:cNvPr id="61479" name="Line 9"/>
            <p:cNvSpPr>
              <a:spLocks noChangeShapeType="1"/>
            </p:cNvSpPr>
            <p:nvPr/>
          </p:nvSpPr>
          <p:spPr bwMode="auto">
            <a:xfrm>
              <a:off x="1231" y="2568"/>
              <a:ext cx="16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61480" name="Text Box 10"/>
            <p:cNvSpPr txBox="1">
              <a:spLocks noChangeArrowheads="1"/>
            </p:cNvSpPr>
            <p:nvPr/>
          </p:nvSpPr>
          <p:spPr bwMode="auto">
            <a:xfrm>
              <a:off x="3856" y="1472"/>
              <a:ext cx="496" cy="2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400" b="1"/>
                <a:t>2Y</a:t>
              </a:r>
            </a:p>
          </p:txBody>
        </p:sp>
        <p:sp>
          <p:nvSpPr>
            <p:cNvPr id="61481" name="Text Box 11"/>
            <p:cNvSpPr txBox="1">
              <a:spLocks noChangeArrowheads="1"/>
            </p:cNvSpPr>
            <p:nvPr/>
          </p:nvSpPr>
          <p:spPr bwMode="auto">
            <a:xfrm>
              <a:off x="3160" y="2568"/>
              <a:ext cx="1912" cy="2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400" b="1" dirty="0" smtClean="0"/>
                <a:t>ST</a:t>
              </a:r>
              <a:r>
                <a:rPr lang="en-US" altLang="zh-CN" sz="1400" b="1" baseline="-25000" dirty="0" smtClean="0"/>
                <a:t>1</a:t>
              </a:r>
              <a:r>
                <a:rPr lang="en-US" altLang="zh-CN" sz="1400" b="1" dirty="0" smtClean="0"/>
                <a:t>    2D</a:t>
              </a:r>
              <a:r>
                <a:rPr lang="en-US" altLang="zh-CN" sz="1400" b="1" baseline="-2000" dirty="0" smtClean="0"/>
                <a:t>0</a:t>
              </a:r>
              <a:r>
                <a:rPr lang="en-US" altLang="zh-CN" sz="1400" b="1" dirty="0" smtClean="0"/>
                <a:t>      2D</a:t>
              </a:r>
              <a:r>
                <a:rPr lang="en-US" altLang="zh-CN" sz="1400" b="1" baseline="-2000" dirty="0" smtClean="0"/>
                <a:t>1</a:t>
              </a:r>
              <a:r>
                <a:rPr lang="en-US" altLang="zh-CN" sz="1400" b="1" dirty="0" smtClean="0"/>
                <a:t>      2D</a:t>
              </a:r>
              <a:r>
                <a:rPr lang="en-US" altLang="zh-CN" sz="1400" b="1" baseline="-2000" dirty="0" smtClean="0"/>
                <a:t>2</a:t>
              </a:r>
              <a:r>
                <a:rPr lang="en-US" altLang="zh-CN" sz="1400" b="1" dirty="0" smtClean="0"/>
                <a:t>      2D</a:t>
              </a:r>
              <a:r>
                <a:rPr lang="en-US" altLang="zh-CN" sz="1400" b="1" baseline="-2000" dirty="0" smtClean="0"/>
                <a:t>3</a:t>
              </a:r>
              <a:endParaRPr lang="en-US" altLang="zh-CN" sz="1400" b="1" baseline="-2000" dirty="0"/>
            </a:p>
          </p:txBody>
        </p:sp>
        <p:sp>
          <p:nvSpPr>
            <p:cNvPr id="61482" name="Line 12"/>
            <p:cNvSpPr>
              <a:spLocks noChangeShapeType="1"/>
            </p:cNvSpPr>
            <p:nvPr/>
          </p:nvSpPr>
          <p:spPr bwMode="auto">
            <a:xfrm>
              <a:off x="3218" y="2584"/>
              <a:ext cx="19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61483" name="Line 13"/>
            <p:cNvSpPr>
              <a:spLocks noChangeShapeType="1"/>
            </p:cNvSpPr>
            <p:nvPr/>
          </p:nvSpPr>
          <p:spPr bwMode="auto">
            <a:xfrm flipH="1">
              <a:off x="888" y="1762"/>
              <a:ext cx="176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61484" name="Line 14"/>
            <p:cNvSpPr>
              <a:spLocks noChangeShapeType="1"/>
            </p:cNvSpPr>
            <p:nvPr/>
          </p:nvSpPr>
          <p:spPr bwMode="auto">
            <a:xfrm flipH="1">
              <a:off x="882" y="2323"/>
              <a:ext cx="176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61485" name="Line 15"/>
            <p:cNvSpPr>
              <a:spLocks noChangeShapeType="1"/>
            </p:cNvSpPr>
            <p:nvPr/>
          </p:nvSpPr>
          <p:spPr bwMode="auto">
            <a:xfrm>
              <a:off x="1664" y="2856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61486" name="Line 16"/>
            <p:cNvSpPr>
              <a:spLocks noChangeShapeType="1"/>
            </p:cNvSpPr>
            <p:nvPr/>
          </p:nvSpPr>
          <p:spPr bwMode="auto">
            <a:xfrm>
              <a:off x="2011" y="2848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61487" name="Line 17"/>
            <p:cNvSpPr>
              <a:spLocks noChangeShapeType="1"/>
            </p:cNvSpPr>
            <p:nvPr/>
          </p:nvSpPr>
          <p:spPr bwMode="auto">
            <a:xfrm>
              <a:off x="2368" y="2848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61488" name="Line 18"/>
            <p:cNvSpPr>
              <a:spLocks noChangeShapeType="1"/>
            </p:cNvSpPr>
            <p:nvPr/>
          </p:nvSpPr>
          <p:spPr bwMode="auto">
            <a:xfrm>
              <a:off x="2723" y="2848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61489" name="Line 19"/>
            <p:cNvSpPr>
              <a:spLocks noChangeShapeType="1"/>
            </p:cNvSpPr>
            <p:nvPr/>
          </p:nvSpPr>
          <p:spPr bwMode="auto">
            <a:xfrm>
              <a:off x="3641" y="2856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61490" name="Line 20"/>
            <p:cNvSpPr>
              <a:spLocks noChangeShapeType="1"/>
            </p:cNvSpPr>
            <p:nvPr/>
          </p:nvSpPr>
          <p:spPr bwMode="auto">
            <a:xfrm>
              <a:off x="4010" y="2848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61491" name="Line 21"/>
            <p:cNvSpPr>
              <a:spLocks noChangeShapeType="1"/>
            </p:cNvSpPr>
            <p:nvPr/>
          </p:nvSpPr>
          <p:spPr bwMode="auto">
            <a:xfrm>
              <a:off x="4352" y="2848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61492" name="Line 22"/>
            <p:cNvSpPr>
              <a:spLocks noChangeShapeType="1"/>
            </p:cNvSpPr>
            <p:nvPr/>
          </p:nvSpPr>
          <p:spPr bwMode="auto">
            <a:xfrm>
              <a:off x="4708" y="2848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61493" name="Line 23"/>
            <p:cNvSpPr>
              <a:spLocks noChangeShapeType="1"/>
            </p:cNvSpPr>
            <p:nvPr/>
          </p:nvSpPr>
          <p:spPr bwMode="auto">
            <a:xfrm>
              <a:off x="1321" y="2890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61494" name="Line 24"/>
            <p:cNvSpPr>
              <a:spLocks noChangeShapeType="1"/>
            </p:cNvSpPr>
            <p:nvPr/>
          </p:nvSpPr>
          <p:spPr bwMode="auto">
            <a:xfrm>
              <a:off x="3314" y="2890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61495" name="Oval 25"/>
            <p:cNvSpPr>
              <a:spLocks noChangeArrowheads="1"/>
            </p:cNvSpPr>
            <p:nvPr/>
          </p:nvSpPr>
          <p:spPr bwMode="auto">
            <a:xfrm>
              <a:off x="1289" y="2848"/>
              <a:ext cx="64" cy="5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/>
            </a:p>
          </p:txBody>
        </p:sp>
        <p:sp>
          <p:nvSpPr>
            <p:cNvPr id="61496" name="Oval 26"/>
            <p:cNvSpPr>
              <a:spLocks noChangeArrowheads="1"/>
            </p:cNvSpPr>
            <p:nvPr/>
          </p:nvSpPr>
          <p:spPr bwMode="auto">
            <a:xfrm>
              <a:off x="3282" y="2844"/>
              <a:ext cx="64" cy="5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/>
            </a:p>
          </p:txBody>
        </p:sp>
        <p:sp>
          <p:nvSpPr>
            <p:cNvPr id="61497" name="Line 27"/>
            <p:cNvSpPr>
              <a:spLocks noChangeShapeType="1"/>
            </p:cNvSpPr>
            <p:nvPr/>
          </p:nvSpPr>
          <p:spPr bwMode="auto">
            <a:xfrm>
              <a:off x="2012" y="1198"/>
              <a:ext cx="0" cy="23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61498" name="Line 28"/>
            <p:cNvSpPr>
              <a:spLocks noChangeShapeType="1"/>
            </p:cNvSpPr>
            <p:nvPr/>
          </p:nvSpPr>
          <p:spPr bwMode="auto">
            <a:xfrm>
              <a:off x="4032" y="1198"/>
              <a:ext cx="0" cy="23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400"/>
            </a:p>
          </p:txBody>
        </p:sp>
      </p:grpSp>
      <p:grpSp>
        <p:nvGrpSpPr>
          <p:cNvPr id="3" name="Group 29"/>
          <p:cNvGrpSpPr>
            <a:grpSpLocks/>
          </p:cNvGrpSpPr>
          <p:nvPr/>
        </p:nvGrpSpPr>
        <p:grpSpPr bwMode="auto">
          <a:xfrm>
            <a:off x="2171700" y="3731418"/>
            <a:ext cx="6831014" cy="973932"/>
            <a:chOff x="1003" y="3304"/>
            <a:chExt cx="4303" cy="818"/>
          </a:xfrm>
        </p:grpSpPr>
        <p:sp>
          <p:nvSpPr>
            <p:cNvPr id="61457" name="Text Box 30"/>
            <p:cNvSpPr txBox="1">
              <a:spLocks noChangeArrowheads="1"/>
            </p:cNvSpPr>
            <p:nvPr/>
          </p:nvSpPr>
          <p:spPr bwMode="auto">
            <a:xfrm>
              <a:off x="1085" y="3863"/>
              <a:ext cx="4221" cy="2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400" b="1" dirty="0">
                  <a:solidFill>
                    <a:srgbClr val="0000FF"/>
                  </a:solidFill>
                </a:rPr>
                <a:t>A</a:t>
              </a:r>
              <a:r>
                <a:rPr lang="en-US" altLang="zh-CN" sz="1400" b="1" baseline="-2000" dirty="0">
                  <a:solidFill>
                    <a:srgbClr val="0000FF"/>
                  </a:solidFill>
                </a:rPr>
                <a:t>2   </a:t>
              </a:r>
              <a:r>
                <a:rPr lang="en-US" altLang="zh-CN" sz="1400" b="1" baseline="-2000" dirty="0" smtClean="0">
                  <a:solidFill>
                    <a:srgbClr val="0000FF"/>
                  </a:solidFill>
                </a:rPr>
                <a:t>         </a:t>
              </a:r>
              <a:r>
                <a:rPr lang="en-US" altLang="zh-CN" sz="1400" b="1" dirty="0">
                  <a:solidFill>
                    <a:srgbClr val="0000FF"/>
                  </a:solidFill>
                </a:rPr>
                <a:t>D</a:t>
              </a:r>
              <a:r>
                <a:rPr lang="en-US" altLang="zh-CN" sz="1400" b="1" baseline="-2000" dirty="0">
                  <a:solidFill>
                    <a:srgbClr val="0000FF"/>
                  </a:solidFill>
                </a:rPr>
                <a:t>0</a:t>
              </a:r>
              <a:r>
                <a:rPr lang="en-US" altLang="zh-CN" sz="1400" b="1" dirty="0">
                  <a:solidFill>
                    <a:srgbClr val="0000FF"/>
                  </a:solidFill>
                </a:rPr>
                <a:t> </a:t>
              </a:r>
              <a:r>
                <a:rPr lang="en-US" altLang="zh-CN" sz="1400" b="1" dirty="0" smtClean="0">
                  <a:solidFill>
                    <a:srgbClr val="0000FF"/>
                  </a:solidFill>
                </a:rPr>
                <a:t>      </a:t>
              </a:r>
              <a:r>
                <a:rPr lang="en-US" altLang="zh-CN" sz="1400" b="1" dirty="0">
                  <a:solidFill>
                    <a:srgbClr val="0000FF"/>
                  </a:solidFill>
                </a:rPr>
                <a:t>D</a:t>
              </a:r>
              <a:r>
                <a:rPr lang="en-US" altLang="zh-CN" sz="1400" b="1" baseline="-2000" dirty="0">
                  <a:solidFill>
                    <a:srgbClr val="0000FF"/>
                  </a:solidFill>
                </a:rPr>
                <a:t>1</a:t>
              </a:r>
              <a:r>
                <a:rPr lang="en-US" altLang="zh-CN" sz="1400" b="1" dirty="0">
                  <a:solidFill>
                    <a:srgbClr val="0000FF"/>
                  </a:solidFill>
                </a:rPr>
                <a:t>   </a:t>
              </a:r>
              <a:r>
                <a:rPr lang="en-US" altLang="zh-CN" sz="1400" b="1" dirty="0" smtClean="0">
                  <a:solidFill>
                    <a:srgbClr val="0000FF"/>
                  </a:solidFill>
                </a:rPr>
                <a:t>     D</a:t>
              </a:r>
              <a:r>
                <a:rPr lang="en-US" altLang="zh-CN" sz="1400" b="1" baseline="-2000" dirty="0" smtClean="0">
                  <a:solidFill>
                    <a:srgbClr val="0000FF"/>
                  </a:solidFill>
                </a:rPr>
                <a:t>2</a:t>
              </a:r>
              <a:r>
                <a:rPr lang="en-US" altLang="zh-CN" sz="1400" b="1" dirty="0" smtClean="0">
                  <a:solidFill>
                    <a:srgbClr val="0000FF"/>
                  </a:solidFill>
                </a:rPr>
                <a:t>       D</a:t>
              </a:r>
              <a:r>
                <a:rPr lang="en-US" altLang="zh-CN" sz="1400" b="1" baseline="-2000" dirty="0" smtClean="0">
                  <a:solidFill>
                    <a:srgbClr val="0000FF"/>
                  </a:solidFill>
                </a:rPr>
                <a:t>3                                      </a:t>
              </a:r>
              <a:r>
                <a:rPr lang="en-US" altLang="zh-CN" sz="1400" b="1" dirty="0">
                  <a:solidFill>
                    <a:srgbClr val="0000FF"/>
                  </a:solidFill>
                </a:rPr>
                <a:t>D</a:t>
              </a:r>
              <a:r>
                <a:rPr lang="en-US" altLang="zh-CN" sz="1400" b="1" baseline="-2000" dirty="0">
                  <a:solidFill>
                    <a:srgbClr val="0000FF"/>
                  </a:solidFill>
                </a:rPr>
                <a:t>4</a:t>
              </a:r>
              <a:r>
                <a:rPr lang="en-US" altLang="zh-CN" sz="1400" b="1" dirty="0">
                  <a:solidFill>
                    <a:srgbClr val="0000FF"/>
                  </a:solidFill>
                </a:rPr>
                <a:t>   </a:t>
              </a:r>
              <a:r>
                <a:rPr lang="en-US" altLang="zh-CN" sz="1400" b="1" dirty="0" smtClean="0">
                  <a:solidFill>
                    <a:srgbClr val="0000FF"/>
                  </a:solidFill>
                </a:rPr>
                <a:t>     D</a:t>
              </a:r>
              <a:r>
                <a:rPr lang="en-US" altLang="zh-CN" sz="1400" b="1" baseline="-2000" dirty="0" smtClean="0">
                  <a:solidFill>
                    <a:srgbClr val="0000FF"/>
                  </a:solidFill>
                </a:rPr>
                <a:t>5           </a:t>
              </a:r>
              <a:r>
                <a:rPr lang="en-US" altLang="zh-CN" sz="1400" b="1" dirty="0">
                  <a:solidFill>
                    <a:srgbClr val="0000FF"/>
                  </a:solidFill>
                </a:rPr>
                <a:t>D</a:t>
              </a:r>
              <a:r>
                <a:rPr lang="en-US" altLang="zh-CN" sz="1400" b="1" baseline="-2000" dirty="0">
                  <a:solidFill>
                    <a:srgbClr val="0000FF"/>
                  </a:solidFill>
                </a:rPr>
                <a:t>6</a:t>
              </a:r>
              <a:r>
                <a:rPr lang="en-US" altLang="zh-CN" sz="1400" b="1" dirty="0">
                  <a:solidFill>
                    <a:srgbClr val="0000FF"/>
                  </a:solidFill>
                </a:rPr>
                <a:t>  </a:t>
              </a:r>
              <a:r>
                <a:rPr lang="en-US" altLang="zh-CN" sz="1400" b="1" dirty="0" smtClean="0">
                  <a:solidFill>
                    <a:srgbClr val="0000FF"/>
                  </a:solidFill>
                </a:rPr>
                <a:t>     </a:t>
              </a:r>
              <a:r>
                <a:rPr lang="en-US" altLang="zh-CN" sz="1400" b="1" dirty="0">
                  <a:solidFill>
                    <a:srgbClr val="0000FF"/>
                  </a:solidFill>
                </a:rPr>
                <a:t>D</a:t>
              </a:r>
              <a:r>
                <a:rPr lang="en-US" altLang="zh-CN" sz="1400" b="1" baseline="-2000" dirty="0">
                  <a:solidFill>
                    <a:srgbClr val="0000FF"/>
                  </a:solidFill>
                </a:rPr>
                <a:t>7</a:t>
              </a:r>
            </a:p>
          </p:txBody>
        </p:sp>
        <p:sp>
          <p:nvSpPr>
            <p:cNvPr id="61458" name="Line 31"/>
            <p:cNvSpPr>
              <a:spLocks noChangeShapeType="1"/>
            </p:cNvSpPr>
            <p:nvPr/>
          </p:nvSpPr>
          <p:spPr bwMode="auto">
            <a:xfrm>
              <a:off x="1196" y="3342"/>
              <a:ext cx="0" cy="546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59" name="Line 32"/>
            <p:cNvSpPr>
              <a:spLocks noChangeShapeType="1"/>
            </p:cNvSpPr>
            <p:nvPr/>
          </p:nvSpPr>
          <p:spPr bwMode="auto">
            <a:xfrm>
              <a:off x="1196" y="3680"/>
              <a:ext cx="1639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60" name="AutoShape 33"/>
            <p:cNvSpPr>
              <a:spLocks noChangeArrowheads="1"/>
            </p:cNvSpPr>
            <p:nvPr/>
          </p:nvSpPr>
          <p:spPr bwMode="auto">
            <a:xfrm rot="5400000">
              <a:off x="2812" y="3584"/>
              <a:ext cx="238" cy="192"/>
            </a:xfrm>
            <a:prstGeom prst="triangle">
              <a:avLst>
                <a:gd name="adj" fmla="val 50000"/>
              </a:avLst>
            </a:prstGeom>
            <a:noFill/>
            <a:ln w="28575">
              <a:solidFill>
                <a:srgbClr val="0000FF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461" name="Oval 34"/>
            <p:cNvSpPr>
              <a:spLocks noChangeArrowheads="1"/>
            </p:cNvSpPr>
            <p:nvPr/>
          </p:nvSpPr>
          <p:spPr bwMode="auto">
            <a:xfrm>
              <a:off x="3023" y="3648"/>
              <a:ext cx="56" cy="56"/>
            </a:xfrm>
            <a:prstGeom prst="ellips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462" name="Line 35"/>
            <p:cNvSpPr>
              <a:spLocks noChangeShapeType="1"/>
            </p:cNvSpPr>
            <p:nvPr/>
          </p:nvSpPr>
          <p:spPr bwMode="auto">
            <a:xfrm>
              <a:off x="3189" y="3376"/>
              <a:ext cx="0" cy="304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63" name="Line 36"/>
            <p:cNvSpPr>
              <a:spLocks noChangeShapeType="1"/>
            </p:cNvSpPr>
            <p:nvPr/>
          </p:nvSpPr>
          <p:spPr bwMode="auto">
            <a:xfrm flipH="1">
              <a:off x="3079" y="3680"/>
              <a:ext cx="110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64" name="Text Box 37"/>
            <p:cNvSpPr txBox="1">
              <a:spLocks noChangeArrowheads="1"/>
            </p:cNvSpPr>
            <p:nvPr/>
          </p:nvSpPr>
          <p:spPr bwMode="auto">
            <a:xfrm>
              <a:off x="1003" y="3425"/>
              <a:ext cx="357" cy="491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3200" dirty="0">
                  <a:solidFill>
                    <a:srgbClr val="0000FF"/>
                  </a:solidFill>
                  <a:latin typeface="宋体" pitchFamily="2" charset="-122"/>
                </a:rPr>
                <a:t>·</a:t>
              </a:r>
              <a:endParaRPr lang="en-US" altLang="zh-CN" sz="3200" dirty="0">
                <a:solidFill>
                  <a:srgbClr val="0000FF"/>
                </a:solidFill>
              </a:endParaRPr>
            </a:p>
          </p:txBody>
        </p:sp>
        <p:sp>
          <p:nvSpPr>
            <p:cNvPr id="61465" name="Line 38"/>
            <p:cNvSpPr>
              <a:spLocks noChangeShapeType="1"/>
            </p:cNvSpPr>
            <p:nvPr/>
          </p:nvSpPr>
          <p:spPr bwMode="auto">
            <a:xfrm>
              <a:off x="1539" y="3334"/>
              <a:ext cx="0" cy="554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66" name="Line 39"/>
            <p:cNvSpPr>
              <a:spLocks noChangeShapeType="1"/>
            </p:cNvSpPr>
            <p:nvPr/>
          </p:nvSpPr>
          <p:spPr bwMode="auto">
            <a:xfrm>
              <a:off x="1886" y="3343"/>
              <a:ext cx="0" cy="554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67" name="Line 40"/>
            <p:cNvSpPr>
              <a:spLocks noChangeShapeType="1"/>
            </p:cNvSpPr>
            <p:nvPr/>
          </p:nvSpPr>
          <p:spPr bwMode="auto">
            <a:xfrm>
              <a:off x="2243" y="3339"/>
              <a:ext cx="0" cy="554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68" name="Line 41"/>
            <p:cNvSpPr>
              <a:spLocks noChangeShapeType="1"/>
            </p:cNvSpPr>
            <p:nvPr/>
          </p:nvSpPr>
          <p:spPr bwMode="auto">
            <a:xfrm>
              <a:off x="2598" y="3342"/>
              <a:ext cx="0" cy="554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69" name="Line 42"/>
            <p:cNvSpPr>
              <a:spLocks noChangeShapeType="1"/>
            </p:cNvSpPr>
            <p:nvPr/>
          </p:nvSpPr>
          <p:spPr bwMode="auto">
            <a:xfrm>
              <a:off x="3516" y="3320"/>
              <a:ext cx="0" cy="554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70" name="Line 43"/>
            <p:cNvSpPr>
              <a:spLocks noChangeShapeType="1"/>
            </p:cNvSpPr>
            <p:nvPr/>
          </p:nvSpPr>
          <p:spPr bwMode="auto">
            <a:xfrm>
              <a:off x="3885" y="3304"/>
              <a:ext cx="0" cy="554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71" name="Line 44"/>
            <p:cNvSpPr>
              <a:spLocks noChangeShapeType="1"/>
            </p:cNvSpPr>
            <p:nvPr/>
          </p:nvSpPr>
          <p:spPr bwMode="auto">
            <a:xfrm>
              <a:off x="4224" y="3304"/>
              <a:ext cx="0" cy="554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72" name="Line 45"/>
            <p:cNvSpPr>
              <a:spLocks noChangeShapeType="1"/>
            </p:cNvSpPr>
            <p:nvPr/>
          </p:nvSpPr>
          <p:spPr bwMode="auto">
            <a:xfrm>
              <a:off x="4583" y="3310"/>
              <a:ext cx="0" cy="554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" name="Group 47"/>
          <p:cNvGrpSpPr>
            <a:grpSpLocks/>
          </p:cNvGrpSpPr>
          <p:nvPr/>
        </p:nvGrpSpPr>
        <p:grpSpPr bwMode="auto">
          <a:xfrm>
            <a:off x="3581400" y="514198"/>
            <a:ext cx="3200400" cy="975602"/>
            <a:chOff x="1886" y="345"/>
            <a:chExt cx="1999" cy="805"/>
          </a:xfrm>
        </p:grpSpPr>
        <p:sp>
          <p:nvSpPr>
            <p:cNvPr id="61448" name="Line 48"/>
            <p:cNvSpPr>
              <a:spLocks noChangeShapeType="1"/>
            </p:cNvSpPr>
            <p:nvPr/>
          </p:nvSpPr>
          <p:spPr bwMode="auto">
            <a:xfrm>
              <a:off x="1886" y="1030"/>
              <a:ext cx="949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49" name="Line 49"/>
            <p:cNvSpPr>
              <a:spLocks noChangeShapeType="1"/>
            </p:cNvSpPr>
            <p:nvPr/>
          </p:nvSpPr>
          <p:spPr bwMode="auto">
            <a:xfrm>
              <a:off x="2936" y="1030"/>
              <a:ext cx="949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50" name="Line 50"/>
            <p:cNvSpPr>
              <a:spLocks noChangeShapeType="1"/>
            </p:cNvSpPr>
            <p:nvPr/>
          </p:nvSpPr>
          <p:spPr bwMode="auto">
            <a:xfrm flipV="1">
              <a:off x="2835" y="880"/>
              <a:ext cx="0" cy="15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51" name="Line 51"/>
            <p:cNvSpPr>
              <a:spLocks noChangeShapeType="1"/>
            </p:cNvSpPr>
            <p:nvPr/>
          </p:nvSpPr>
          <p:spPr bwMode="auto">
            <a:xfrm flipV="1">
              <a:off x="2940" y="881"/>
              <a:ext cx="0" cy="15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52" name="AutoShape 52"/>
            <p:cNvSpPr>
              <a:spLocks noChangeArrowheads="1"/>
            </p:cNvSpPr>
            <p:nvPr/>
          </p:nvSpPr>
          <p:spPr bwMode="auto">
            <a:xfrm rot="5400000">
              <a:off x="2709" y="572"/>
              <a:ext cx="364" cy="424"/>
            </a:xfrm>
            <a:prstGeom prst="moon">
              <a:avLst>
                <a:gd name="adj" fmla="val 74176"/>
              </a:avLst>
            </a:prstGeom>
            <a:noFill/>
            <a:ln w="28575">
              <a:solidFill>
                <a:srgbClr val="0000FF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453" name="Line 53"/>
            <p:cNvSpPr>
              <a:spLocks noChangeShapeType="1"/>
            </p:cNvSpPr>
            <p:nvPr/>
          </p:nvSpPr>
          <p:spPr bwMode="auto">
            <a:xfrm flipV="1">
              <a:off x="2891" y="471"/>
              <a:ext cx="0" cy="131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54" name="Line 54"/>
            <p:cNvSpPr>
              <a:spLocks noChangeShapeType="1"/>
            </p:cNvSpPr>
            <p:nvPr/>
          </p:nvSpPr>
          <p:spPr bwMode="auto">
            <a:xfrm>
              <a:off x="1886" y="1031"/>
              <a:ext cx="0" cy="119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55" name="Line 55"/>
            <p:cNvSpPr>
              <a:spLocks noChangeShapeType="1"/>
            </p:cNvSpPr>
            <p:nvPr/>
          </p:nvSpPr>
          <p:spPr bwMode="auto">
            <a:xfrm>
              <a:off x="3885" y="1025"/>
              <a:ext cx="0" cy="119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56" name="Text Box 56"/>
            <p:cNvSpPr txBox="1">
              <a:spLocks noChangeArrowheads="1"/>
            </p:cNvSpPr>
            <p:nvPr/>
          </p:nvSpPr>
          <p:spPr bwMode="auto">
            <a:xfrm>
              <a:off x="2933" y="345"/>
              <a:ext cx="286" cy="3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solidFill>
                    <a:srgbClr val="0000FF"/>
                  </a:solidFill>
                </a:rPr>
                <a:t>Y</a:t>
              </a:r>
            </a:p>
          </p:txBody>
        </p:sp>
      </p:grpSp>
      <p:sp>
        <p:nvSpPr>
          <p:cNvPr id="61446" name="Text Box 57"/>
          <p:cNvSpPr txBox="1">
            <a:spLocks noChangeArrowheads="1"/>
          </p:cNvSpPr>
          <p:nvPr/>
        </p:nvSpPr>
        <p:spPr bwMode="auto">
          <a:xfrm>
            <a:off x="4800600" y="2387199"/>
            <a:ext cx="74612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1400" dirty="0">
                <a:solidFill>
                  <a:srgbClr val="FF0000"/>
                </a:solidFill>
              </a:rPr>
              <a:t>1#</a:t>
            </a:r>
          </a:p>
        </p:txBody>
      </p:sp>
      <p:sp>
        <p:nvSpPr>
          <p:cNvPr id="61447" name="Text Box 58"/>
          <p:cNvSpPr txBox="1">
            <a:spLocks noChangeArrowheads="1"/>
          </p:cNvSpPr>
          <p:nvPr/>
        </p:nvSpPr>
        <p:spPr bwMode="auto">
          <a:xfrm>
            <a:off x="7788275" y="2406249"/>
            <a:ext cx="74612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1400" dirty="0">
                <a:solidFill>
                  <a:srgbClr val="FF0000"/>
                </a:solidFill>
              </a:rPr>
              <a:t>2#</a:t>
            </a:r>
          </a:p>
        </p:txBody>
      </p:sp>
      <p:sp>
        <p:nvSpPr>
          <p:cNvPr id="59" name="矩形 58"/>
          <p:cNvSpPr/>
          <p:nvPr/>
        </p:nvSpPr>
        <p:spPr>
          <a:xfrm>
            <a:off x="0" y="0"/>
            <a:ext cx="349967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：中规模标准构件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0" name="Rectangle 14"/>
          <p:cNvSpPr>
            <a:spLocks noChangeArrowheads="1"/>
          </p:cNvSpPr>
          <p:nvPr/>
        </p:nvSpPr>
        <p:spPr bwMode="auto">
          <a:xfrm>
            <a:off x="152400" y="590550"/>
            <a:ext cx="8610600" cy="29700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数据选择器</a:t>
            </a:r>
            <a:r>
              <a:rPr lang="en-US" altLang="zh-CN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74LS153:</a:t>
            </a:r>
          </a:p>
          <a:p>
            <a:pPr marL="0" lvl="1">
              <a:lnSpc>
                <a:spcPct val="150000"/>
              </a:lnSpc>
            </a:pPr>
            <a:r>
              <a:rPr lang="zh-CN" altLang="en-US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：将</a:t>
            </a:r>
            <a:r>
              <a:rPr lang="en-US" altLang="zh-CN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74LS153</a:t>
            </a:r>
          </a:p>
          <a:p>
            <a:pPr marL="0" lvl="1">
              <a:lnSpc>
                <a:spcPct val="150000"/>
              </a:lnSpc>
            </a:pPr>
            <a:r>
              <a:rPr lang="zh-CN" altLang="en-US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连接成八选一</a:t>
            </a:r>
            <a:endParaRPr lang="en-US" altLang="zh-CN" sz="1400" b="1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 smtClean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5029200" y="4552950"/>
            <a:ext cx="609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图 </a:t>
            </a:r>
            <a:r>
              <a:rPr lang="en-US" altLang="zh-CN" sz="1600" dirty="0" smtClean="0">
                <a:latin typeface="微软雅黑" pitchFamily="34" charset="-122"/>
                <a:ea typeface="微软雅黑" pitchFamily="34" charset="-122"/>
              </a:rPr>
              <a:t>2</a:t>
            </a:r>
            <a:endParaRPr lang="zh-CN" altLang="en-US" sz="1600" dirty="0"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1371600" y="1345402"/>
            <a:ext cx="7061200" cy="2471737"/>
            <a:chOff x="624" y="1198"/>
            <a:chExt cx="4448" cy="2076"/>
          </a:xfrm>
        </p:grpSpPr>
        <p:sp>
          <p:nvSpPr>
            <p:cNvPr id="61473" name="Rectangle 3"/>
            <p:cNvSpPr>
              <a:spLocks noChangeArrowheads="1"/>
            </p:cNvSpPr>
            <p:nvPr/>
          </p:nvSpPr>
          <p:spPr bwMode="auto">
            <a:xfrm>
              <a:off x="1064" y="1432"/>
              <a:ext cx="3896" cy="140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 sz="1400"/>
            </a:p>
          </p:txBody>
        </p:sp>
        <p:sp>
          <p:nvSpPr>
            <p:cNvPr id="61474" name="Line 4"/>
            <p:cNvSpPr>
              <a:spLocks noChangeShapeType="1"/>
            </p:cNvSpPr>
            <p:nvPr/>
          </p:nvSpPr>
          <p:spPr bwMode="auto">
            <a:xfrm>
              <a:off x="3016" y="1432"/>
              <a:ext cx="0" cy="14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61475" name="Text Box 5"/>
            <p:cNvSpPr txBox="1">
              <a:spLocks noChangeArrowheads="1"/>
            </p:cNvSpPr>
            <p:nvPr/>
          </p:nvSpPr>
          <p:spPr bwMode="auto">
            <a:xfrm>
              <a:off x="1872" y="1456"/>
              <a:ext cx="496" cy="2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400" b="1"/>
                <a:t>1Y</a:t>
              </a:r>
            </a:p>
          </p:txBody>
        </p:sp>
        <p:sp>
          <p:nvSpPr>
            <p:cNvPr id="61476" name="Text Box 6"/>
            <p:cNvSpPr txBox="1">
              <a:spLocks noChangeArrowheads="1"/>
            </p:cNvSpPr>
            <p:nvPr/>
          </p:nvSpPr>
          <p:spPr bwMode="auto">
            <a:xfrm>
              <a:off x="640" y="1653"/>
              <a:ext cx="496" cy="2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400" b="1">
                  <a:solidFill>
                    <a:srgbClr val="0000FF"/>
                  </a:solidFill>
                </a:rPr>
                <a:t>A</a:t>
              </a:r>
              <a:r>
                <a:rPr lang="en-US" altLang="zh-CN" sz="1400" b="1" baseline="-2000">
                  <a:solidFill>
                    <a:srgbClr val="0000FF"/>
                  </a:solidFill>
                </a:rPr>
                <a:t>1</a:t>
              </a:r>
            </a:p>
          </p:txBody>
        </p:sp>
        <p:sp>
          <p:nvSpPr>
            <p:cNvPr id="61477" name="Text Box 7"/>
            <p:cNvSpPr txBox="1">
              <a:spLocks noChangeArrowheads="1"/>
            </p:cNvSpPr>
            <p:nvPr/>
          </p:nvSpPr>
          <p:spPr bwMode="auto">
            <a:xfrm>
              <a:off x="624" y="2206"/>
              <a:ext cx="496" cy="2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400" b="1">
                  <a:solidFill>
                    <a:srgbClr val="0000FF"/>
                  </a:solidFill>
                </a:rPr>
                <a:t>A</a:t>
              </a:r>
              <a:r>
                <a:rPr lang="en-US" altLang="zh-CN" sz="1400" b="1" baseline="-2000">
                  <a:solidFill>
                    <a:srgbClr val="0000FF"/>
                  </a:solidFill>
                </a:rPr>
                <a:t>0</a:t>
              </a:r>
            </a:p>
          </p:txBody>
        </p:sp>
        <p:sp>
          <p:nvSpPr>
            <p:cNvPr id="61478" name="Text Box 8"/>
            <p:cNvSpPr txBox="1">
              <a:spLocks noChangeArrowheads="1"/>
            </p:cNvSpPr>
            <p:nvPr/>
          </p:nvSpPr>
          <p:spPr bwMode="auto">
            <a:xfrm>
              <a:off x="1176" y="2552"/>
              <a:ext cx="1912" cy="2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400" b="1" dirty="0" smtClean="0"/>
                <a:t>ST</a:t>
              </a:r>
              <a:r>
                <a:rPr lang="en-US" altLang="zh-CN" sz="1400" b="1" baseline="-25000" dirty="0" smtClean="0"/>
                <a:t>0</a:t>
              </a:r>
              <a:r>
                <a:rPr lang="en-US" altLang="zh-CN" sz="1400" b="1" dirty="0" smtClean="0"/>
                <a:t>  </a:t>
              </a:r>
              <a:r>
                <a:rPr lang="en-US" altLang="zh-CN" sz="1400" b="1" dirty="0"/>
                <a:t>1D</a:t>
              </a:r>
              <a:r>
                <a:rPr lang="en-US" altLang="zh-CN" sz="1400" b="1" baseline="-2000" dirty="0"/>
                <a:t>0</a:t>
              </a:r>
              <a:r>
                <a:rPr lang="en-US" altLang="zh-CN" sz="1400" b="1" dirty="0"/>
                <a:t>  </a:t>
              </a:r>
              <a:r>
                <a:rPr lang="en-US" altLang="zh-CN" sz="1400" b="1" dirty="0" smtClean="0"/>
                <a:t>      1D</a:t>
              </a:r>
              <a:r>
                <a:rPr lang="en-US" altLang="zh-CN" sz="1400" b="1" baseline="-2000" dirty="0" smtClean="0"/>
                <a:t>1</a:t>
              </a:r>
              <a:r>
                <a:rPr lang="en-US" altLang="zh-CN" sz="1400" b="1" dirty="0" smtClean="0"/>
                <a:t>      1D</a:t>
              </a:r>
              <a:r>
                <a:rPr lang="en-US" altLang="zh-CN" sz="1400" b="1" baseline="-2000" dirty="0" smtClean="0"/>
                <a:t>2</a:t>
              </a:r>
              <a:r>
                <a:rPr lang="en-US" altLang="zh-CN" sz="1400" b="1" dirty="0" smtClean="0"/>
                <a:t>     1D</a:t>
              </a:r>
              <a:r>
                <a:rPr lang="en-US" altLang="zh-CN" sz="1400" b="1" baseline="-2000" dirty="0" smtClean="0"/>
                <a:t>3</a:t>
              </a:r>
              <a:endParaRPr lang="en-US" altLang="zh-CN" sz="1400" b="1" baseline="-2000" dirty="0"/>
            </a:p>
          </p:txBody>
        </p:sp>
        <p:sp>
          <p:nvSpPr>
            <p:cNvPr id="61479" name="Line 9"/>
            <p:cNvSpPr>
              <a:spLocks noChangeShapeType="1"/>
            </p:cNvSpPr>
            <p:nvPr/>
          </p:nvSpPr>
          <p:spPr bwMode="auto">
            <a:xfrm>
              <a:off x="1231" y="2568"/>
              <a:ext cx="16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61480" name="Text Box 10"/>
            <p:cNvSpPr txBox="1">
              <a:spLocks noChangeArrowheads="1"/>
            </p:cNvSpPr>
            <p:nvPr/>
          </p:nvSpPr>
          <p:spPr bwMode="auto">
            <a:xfrm>
              <a:off x="3856" y="1472"/>
              <a:ext cx="496" cy="2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400" b="1"/>
                <a:t>2Y</a:t>
              </a:r>
            </a:p>
          </p:txBody>
        </p:sp>
        <p:sp>
          <p:nvSpPr>
            <p:cNvPr id="61481" name="Text Box 11"/>
            <p:cNvSpPr txBox="1">
              <a:spLocks noChangeArrowheads="1"/>
            </p:cNvSpPr>
            <p:nvPr/>
          </p:nvSpPr>
          <p:spPr bwMode="auto">
            <a:xfrm>
              <a:off x="3160" y="2568"/>
              <a:ext cx="1912" cy="2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400" b="1" dirty="0" smtClean="0"/>
                <a:t>ST</a:t>
              </a:r>
              <a:r>
                <a:rPr lang="en-US" altLang="zh-CN" sz="1400" b="1" baseline="-25000" dirty="0" smtClean="0"/>
                <a:t>1</a:t>
              </a:r>
              <a:r>
                <a:rPr lang="en-US" altLang="zh-CN" sz="1400" b="1" dirty="0" smtClean="0"/>
                <a:t>    2D</a:t>
              </a:r>
              <a:r>
                <a:rPr lang="en-US" altLang="zh-CN" sz="1400" b="1" baseline="-2000" dirty="0" smtClean="0"/>
                <a:t>0</a:t>
              </a:r>
              <a:r>
                <a:rPr lang="en-US" altLang="zh-CN" sz="1400" b="1" dirty="0" smtClean="0"/>
                <a:t>      2D</a:t>
              </a:r>
              <a:r>
                <a:rPr lang="en-US" altLang="zh-CN" sz="1400" b="1" baseline="-2000" dirty="0" smtClean="0"/>
                <a:t>1</a:t>
              </a:r>
              <a:r>
                <a:rPr lang="en-US" altLang="zh-CN" sz="1400" b="1" dirty="0" smtClean="0"/>
                <a:t>      2D</a:t>
              </a:r>
              <a:r>
                <a:rPr lang="en-US" altLang="zh-CN" sz="1400" b="1" baseline="-2000" dirty="0" smtClean="0"/>
                <a:t>2</a:t>
              </a:r>
              <a:r>
                <a:rPr lang="en-US" altLang="zh-CN" sz="1400" b="1" dirty="0" smtClean="0"/>
                <a:t>      2D</a:t>
              </a:r>
              <a:r>
                <a:rPr lang="en-US" altLang="zh-CN" sz="1400" b="1" baseline="-2000" dirty="0" smtClean="0"/>
                <a:t>3</a:t>
              </a:r>
              <a:endParaRPr lang="en-US" altLang="zh-CN" sz="1400" b="1" baseline="-2000" dirty="0"/>
            </a:p>
          </p:txBody>
        </p:sp>
        <p:sp>
          <p:nvSpPr>
            <p:cNvPr id="61482" name="Line 12"/>
            <p:cNvSpPr>
              <a:spLocks noChangeShapeType="1"/>
            </p:cNvSpPr>
            <p:nvPr/>
          </p:nvSpPr>
          <p:spPr bwMode="auto">
            <a:xfrm>
              <a:off x="3218" y="2584"/>
              <a:ext cx="19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61483" name="Line 13"/>
            <p:cNvSpPr>
              <a:spLocks noChangeShapeType="1"/>
            </p:cNvSpPr>
            <p:nvPr/>
          </p:nvSpPr>
          <p:spPr bwMode="auto">
            <a:xfrm flipH="1">
              <a:off x="888" y="1762"/>
              <a:ext cx="176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61484" name="Line 14"/>
            <p:cNvSpPr>
              <a:spLocks noChangeShapeType="1"/>
            </p:cNvSpPr>
            <p:nvPr/>
          </p:nvSpPr>
          <p:spPr bwMode="auto">
            <a:xfrm flipH="1">
              <a:off x="882" y="2323"/>
              <a:ext cx="176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61485" name="Line 15"/>
            <p:cNvSpPr>
              <a:spLocks noChangeShapeType="1"/>
            </p:cNvSpPr>
            <p:nvPr/>
          </p:nvSpPr>
          <p:spPr bwMode="auto">
            <a:xfrm>
              <a:off x="1664" y="2856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61486" name="Line 16"/>
            <p:cNvSpPr>
              <a:spLocks noChangeShapeType="1"/>
            </p:cNvSpPr>
            <p:nvPr/>
          </p:nvSpPr>
          <p:spPr bwMode="auto">
            <a:xfrm>
              <a:off x="2011" y="2848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61487" name="Line 17"/>
            <p:cNvSpPr>
              <a:spLocks noChangeShapeType="1"/>
            </p:cNvSpPr>
            <p:nvPr/>
          </p:nvSpPr>
          <p:spPr bwMode="auto">
            <a:xfrm>
              <a:off x="2368" y="2848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61488" name="Line 18"/>
            <p:cNvSpPr>
              <a:spLocks noChangeShapeType="1"/>
            </p:cNvSpPr>
            <p:nvPr/>
          </p:nvSpPr>
          <p:spPr bwMode="auto">
            <a:xfrm>
              <a:off x="2723" y="2848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61489" name="Line 19"/>
            <p:cNvSpPr>
              <a:spLocks noChangeShapeType="1"/>
            </p:cNvSpPr>
            <p:nvPr/>
          </p:nvSpPr>
          <p:spPr bwMode="auto">
            <a:xfrm>
              <a:off x="3641" y="2856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61490" name="Line 20"/>
            <p:cNvSpPr>
              <a:spLocks noChangeShapeType="1"/>
            </p:cNvSpPr>
            <p:nvPr/>
          </p:nvSpPr>
          <p:spPr bwMode="auto">
            <a:xfrm>
              <a:off x="4010" y="2848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61491" name="Line 21"/>
            <p:cNvSpPr>
              <a:spLocks noChangeShapeType="1"/>
            </p:cNvSpPr>
            <p:nvPr/>
          </p:nvSpPr>
          <p:spPr bwMode="auto">
            <a:xfrm>
              <a:off x="4352" y="2848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61492" name="Line 22"/>
            <p:cNvSpPr>
              <a:spLocks noChangeShapeType="1"/>
            </p:cNvSpPr>
            <p:nvPr/>
          </p:nvSpPr>
          <p:spPr bwMode="auto">
            <a:xfrm>
              <a:off x="4708" y="2848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61493" name="Line 23"/>
            <p:cNvSpPr>
              <a:spLocks noChangeShapeType="1"/>
            </p:cNvSpPr>
            <p:nvPr/>
          </p:nvSpPr>
          <p:spPr bwMode="auto">
            <a:xfrm>
              <a:off x="1321" y="2890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61494" name="Line 24"/>
            <p:cNvSpPr>
              <a:spLocks noChangeShapeType="1"/>
            </p:cNvSpPr>
            <p:nvPr/>
          </p:nvSpPr>
          <p:spPr bwMode="auto">
            <a:xfrm>
              <a:off x="3314" y="2890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61495" name="Oval 25"/>
            <p:cNvSpPr>
              <a:spLocks noChangeArrowheads="1"/>
            </p:cNvSpPr>
            <p:nvPr/>
          </p:nvSpPr>
          <p:spPr bwMode="auto">
            <a:xfrm>
              <a:off x="1289" y="2848"/>
              <a:ext cx="64" cy="5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/>
            </a:p>
          </p:txBody>
        </p:sp>
        <p:sp>
          <p:nvSpPr>
            <p:cNvPr id="61496" name="Oval 26"/>
            <p:cNvSpPr>
              <a:spLocks noChangeArrowheads="1"/>
            </p:cNvSpPr>
            <p:nvPr/>
          </p:nvSpPr>
          <p:spPr bwMode="auto">
            <a:xfrm>
              <a:off x="3282" y="2844"/>
              <a:ext cx="64" cy="5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/>
            </a:p>
          </p:txBody>
        </p:sp>
        <p:sp>
          <p:nvSpPr>
            <p:cNvPr id="61497" name="Line 27"/>
            <p:cNvSpPr>
              <a:spLocks noChangeShapeType="1"/>
            </p:cNvSpPr>
            <p:nvPr/>
          </p:nvSpPr>
          <p:spPr bwMode="auto">
            <a:xfrm>
              <a:off x="2012" y="1198"/>
              <a:ext cx="0" cy="23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61498" name="Line 28"/>
            <p:cNvSpPr>
              <a:spLocks noChangeShapeType="1"/>
            </p:cNvSpPr>
            <p:nvPr/>
          </p:nvSpPr>
          <p:spPr bwMode="auto">
            <a:xfrm>
              <a:off x="4032" y="1198"/>
              <a:ext cx="0" cy="23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400"/>
            </a:p>
          </p:txBody>
        </p:sp>
      </p:grpSp>
      <p:grpSp>
        <p:nvGrpSpPr>
          <p:cNvPr id="3" name="Group 29"/>
          <p:cNvGrpSpPr>
            <a:grpSpLocks/>
          </p:cNvGrpSpPr>
          <p:nvPr/>
        </p:nvGrpSpPr>
        <p:grpSpPr bwMode="auto">
          <a:xfrm>
            <a:off x="2171700" y="3731418"/>
            <a:ext cx="6831014" cy="973932"/>
            <a:chOff x="1003" y="3304"/>
            <a:chExt cx="4303" cy="818"/>
          </a:xfrm>
        </p:grpSpPr>
        <p:sp>
          <p:nvSpPr>
            <p:cNvPr id="61457" name="Text Box 30"/>
            <p:cNvSpPr txBox="1">
              <a:spLocks noChangeArrowheads="1"/>
            </p:cNvSpPr>
            <p:nvPr/>
          </p:nvSpPr>
          <p:spPr bwMode="auto">
            <a:xfrm>
              <a:off x="1085" y="3863"/>
              <a:ext cx="4221" cy="2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400" b="1" dirty="0">
                  <a:solidFill>
                    <a:srgbClr val="0000FF"/>
                  </a:solidFill>
                </a:rPr>
                <a:t>A</a:t>
              </a:r>
              <a:r>
                <a:rPr lang="en-US" altLang="zh-CN" sz="1400" b="1" baseline="-2000" dirty="0">
                  <a:solidFill>
                    <a:srgbClr val="0000FF"/>
                  </a:solidFill>
                </a:rPr>
                <a:t>2   </a:t>
              </a:r>
              <a:r>
                <a:rPr lang="en-US" altLang="zh-CN" sz="1400" b="1" baseline="-2000" dirty="0" smtClean="0">
                  <a:solidFill>
                    <a:srgbClr val="0000FF"/>
                  </a:solidFill>
                </a:rPr>
                <a:t>         </a:t>
              </a:r>
              <a:r>
                <a:rPr lang="en-US" altLang="zh-CN" sz="1400" b="1" dirty="0">
                  <a:solidFill>
                    <a:srgbClr val="0000FF"/>
                  </a:solidFill>
                </a:rPr>
                <a:t>D</a:t>
              </a:r>
              <a:r>
                <a:rPr lang="en-US" altLang="zh-CN" sz="1400" b="1" baseline="-2000" dirty="0">
                  <a:solidFill>
                    <a:srgbClr val="0000FF"/>
                  </a:solidFill>
                </a:rPr>
                <a:t>0</a:t>
              </a:r>
              <a:r>
                <a:rPr lang="en-US" altLang="zh-CN" sz="1400" b="1" dirty="0">
                  <a:solidFill>
                    <a:srgbClr val="0000FF"/>
                  </a:solidFill>
                </a:rPr>
                <a:t> </a:t>
              </a:r>
              <a:r>
                <a:rPr lang="en-US" altLang="zh-CN" sz="1400" b="1" dirty="0" smtClean="0">
                  <a:solidFill>
                    <a:srgbClr val="0000FF"/>
                  </a:solidFill>
                </a:rPr>
                <a:t>      </a:t>
              </a:r>
              <a:r>
                <a:rPr lang="en-US" altLang="zh-CN" sz="1400" b="1" dirty="0">
                  <a:solidFill>
                    <a:srgbClr val="0000FF"/>
                  </a:solidFill>
                </a:rPr>
                <a:t>D</a:t>
              </a:r>
              <a:r>
                <a:rPr lang="en-US" altLang="zh-CN" sz="1400" b="1" baseline="-2000" dirty="0">
                  <a:solidFill>
                    <a:srgbClr val="0000FF"/>
                  </a:solidFill>
                </a:rPr>
                <a:t>1</a:t>
              </a:r>
              <a:r>
                <a:rPr lang="en-US" altLang="zh-CN" sz="1400" b="1" dirty="0">
                  <a:solidFill>
                    <a:srgbClr val="0000FF"/>
                  </a:solidFill>
                </a:rPr>
                <a:t>   </a:t>
              </a:r>
              <a:r>
                <a:rPr lang="en-US" altLang="zh-CN" sz="1400" b="1" dirty="0" smtClean="0">
                  <a:solidFill>
                    <a:srgbClr val="0000FF"/>
                  </a:solidFill>
                </a:rPr>
                <a:t>     D</a:t>
              </a:r>
              <a:r>
                <a:rPr lang="en-US" altLang="zh-CN" sz="1400" b="1" baseline="-2000" dirty="0" smtClean="0">
                  <a:solidFill>
                    <a:srgbClr val="0000FF"/>
                  </a:solidFill>
                </a:rPr>
                <a:t>2</a:t>
              </a:r>
              <a:r>
                <a:rPr lang="en-US" altLang="zh-CN" sz="1400" b="1" dirty="0" smtClean="0">
                  <a:solidFill>
                    <a:srgbClr val="0000FF"/>
                  </a:solidFill>
                </a:rPr>
                <a:t>       D</a:t>
              </a:r>
              <a:r>
                <a:rPr lang="en-US" altLang="zh-CN" sz="1400" b="1" baseline="-2000" dirty="0" smtClean="0">
                  <a:solidFill>
                    <a:srgbClr val="0000FF"/>
                  </a:solidFill>
                </a:rPr>
                <a:t>3                                      </a:t>
              </a:r>
              <a:r>
                <a:rPr lang="en-US" altLang="zh-CN" sz="1400" b="1" dirty="0">
                  <a:solidFill>
                    <a:srgbClr val="0000FF"/>
                  </a:solidFill>
                </a:rPr>
                <a:t>D</a:t>
              </a:r>
              <a:r>
                <a:rPr lang="en-US" altLang="zh-CN" sz="1400" b="1" baseline="-2000" dirty="0">
                  <a:solidFill>
                    <a:srgbClr val="0000FF"/>
                  </a:solidFill>
                </a:rPr>
                <a:t>4</a:t>
              </a:r>
              <a:r>
                <a:rPr lang="en-US" altLang="zh-CN" sz="1400" b="1" dirty="0">
                  <a:solidFill>
                    <a:srgbClr val="0000FF"/>
                  </a:solidFill>
                </a:rPr>
                <a:t>   </a:t>
              </a:r>
              <a:r>
                <a:rPr lang="en-US" altLang="zh-CN" sz="1400" b="1" dirty="0" smtClean="0">
                  <a:solidFill>
                    <a:srgbClr val="0000FF"/>
                  </a:solidFill>
                </a:rPr>
                <a:t>     D</a:t>
              </a:r>
              <a:r>
                <a:rPr lang="en-US" altLang="zh-CN" sz="1400" b="1" baseline="-2000" dirty="0" smtClean="0">
                  <a:solidFill>
                    <a:srgbClr val="0000FF"/>
                  </a:solidFill>
                </a:rPr>
                <a:t>5           </a:t>
              </a:r>
              <a:r>
                <a:rPr lang="en-US" altLang="zh-CN" sz="1400" b="1" dirty="0">
                  <a:solidFill>
                    <a:srgbClr val="0000FF"/>
                  </a:solidFill>
                </a:rPr>
                <a:t>D</a:t>
              </a:r>
              <a:r>
                <a:rPr lang="en-US" altLang="zh-CN" sz="1400" b="1" baseline="-2000" dirty="0">
                  <a:solidFill>
                    <a:srgbClr val="0000FF"/>
                  </a:solidFill>
                </a:rPr>
                <a:t>6</a:t>
              </a:r>
              <a:r>
                <a:rPr lang="en-US" altLang="zh-CN" sz="1400" b="1" dirty="0">
                  <a:solidFill>
                    <a:srgbClr val="0000FF"/>
                  </a:solidFill>
                </a:rPr>
                <a:t>  </a:t>
              </a:r>
              <a:r>
                <a:rPr lang="en-US" altLang="zh-CN" sz="1400" b="1" dirty="0" smtClean="0">
                  <a:solidFill>
                    <a:srgbClr val="0000FF"/>
                  </a:solidFill>
                </a:rPr>
                <a:t>     </a:t>
              </a:r>
              <a:r>
                <a:rPr lang="en-US" altLang="zh-CN" sz="1400" b="1" dirty="0">
                  <a:solidFill>
                    <a:srgbClr val="0000FF"/>
                  </a:solidFill>
                </a:rPr>
                <a:t>D</a:t>
              </a:r>
              <a:r>
                <a:rPr lang="en-US" altLang="zh-CN" sz="1400" b="1" baseline="-2000" dirty="0">
                  <a:solidFill>
                    <a:srgbClr val="0000FF"/>
                  </a:solidFill>
                </a:rPr>
                <a:t>7</a:t>
              </a:r>
            </a:p>
          </p:txBody>
        </p:sp>
        <p:sp>
          <p:nvSpPr>
            <p:cNvPr id="61458" name="Line 31"/>
            <p:cNvSpPr>
              <a:spLocks noChangeShapeType="1"/>
            </p:cNvSpPr>
            <p:nvPr/>
          </p:nvSpPr>
          <p:spPr bwMode="auto">
            <a:xfrm>
              <a:off x="1196" y="3342"/>
              <a:ext cx="0" cy="546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59" name="Line 32"/>
            <p:cNvSpPr>
              <a:spLocks noChangeShapeType="1"/>
            </p:cNvSpPr>
            <p:nvPr/>
          </p:nvSpPr>
          <p:spPr bwMode="auto">
            <a:xfrm>
              <a:off x="1196" y="3680"/>
              <a:ext cx="1639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60" name="AutoShape 33"/>
            <p:cNvSpPr>
              <a:spLocks noChangeArrowheads="1"/>
            </p:cNvSpPr>
            <p:nvPr/>
          </p:nvSpPr>
          <p:spPr bwMode="auto">
            <a:xfrm rot="5400000">
              <a:off x="2812" y="3584"/>
              <a:ext cx="238" cy="192"/>
            </a:xfrm>
            <a:prstGeom prst="triangle">
              <a:avLst>
                <a:gd name="adj" fmla="val 50000"/>
              </a:avLst>
            </a:prstGeom>
            <a:noFill/>
            <a:ln w="28575">
              <a:solidFill>
                <a:srgbClr val="0000FF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461" name="Oval 34"/>
            <p:cNvSpPr>
              <a:spLocks noChangeArrowheads="1"/>
            </p:cNvSpPr>
            <p:nvPr/>
          </p:nvSpPr>
          <p:spPr bwMode="auto">
            <a:xfrm>
              <a:off x="3023" y="3648"/>
              <a:ext cx="56" cy="56"/>
            </a:xfrm>
            <a:prstGeom prst="ellips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462" name="Line 35"/>
            <p:cNvSpPr>
              <a:spLocks noChangeShapeType="1"/>
            </p:cNvSpPr>
            <p:nvPr/>
          </p:nvSpPr>
          <p:spPr bwMode="auto">
            <a:xfrm>
              <a:off x="3189" y="3376"/>
              <a:ext cx="0" cy="304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63" name="Line 36"/>
            <p:cNvSpPr>
              <a:spLocks noChangeShapeType="1"/>
            </p:cNvSpPr>
            <p:nvPr/>
          </p:nvSpPr>
          <p:spPr bwMode="auto">
            <a:xfrm flipH="1">
              <a:off x="3079" y="3680"/>
              <a:ext cx="110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64" name="Text Box 37"/>
            <p:cNvSpPr txBox="1">
              <a:spLocks noChangeArrowheads="1"/>
            </p:cNvSpPr>
            <p:nvPr/>
          </p:nvSpPr>
          <p:spPr bwMode="auto">
            <a:xfrm>
              <a:off x="1003" y="3425"/>
              <a:ext cx="357" cy="491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3200" dirty="0">
                  <a:solidFill>
                    <a:srgbClr val="0000FF"/>
                  </a:solidFill>
                  <a:latin typeface="宋体" pitchFamily="2" charset="-122"/>
                </a:rPr>
                <a:t>·</a:t>
              </a:r>
              <a:endParaRPr lang="en-US" altLang="zh-CN" sz="3200" dirty="0">
                <a:solidFill>
                  <a:srgbClr val="0000FF"/>
                </a:solidFill>
              </a:endParaRPr>
            </a:p>
          </p:txBody>
        </p:sp>
        <p:sp>
          <p:nvSpPr>
            <p:cNvPr id="61465" name="Line 38"/>
            <p:cNvSpPr>
              <a:spLocks noChangeShapeType="1"/>
            </p:cNvSpPr>
            <p:nvPr/>
          </p:nvSpPr>
          <p:spPr bwMode="auto">
            <a:xfrm>
              <a:off x="1539" y="3334"/>
              <a:ext cx="0" cy="554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66" name="Line 39"/>
            <p:cNvSpPr>
              <a:spLocks noChangeShapeType="1"/>
            </p:cNvSpPr>
            <p:nvPr/>
          </p:nvSpPr>
          <p:spPr bwMode="auto">
            <a:xfrm>
              <a:off x="1886" y="3343"/>
              <a:ext cx="0" cy="554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67" name="Line 40"/>
            <p:cNvSpPr>
              <a:spLocks noChangeShapeType="1"/>
            </p:cNvSpPr>
            <p:nvPr/>
          </p:nvSpPr>
          <p:spPr bwMode="auto">
            <a:xfrm>
              <a:off x="2243" y="3339"/>
              <a:ext cx="0" cy="554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68" name="Line 41"/>
            <p:cNvSpPr>
              <a:spLocks noChangeShapeType="1"/>
            </p:cNvSpPr>
            <p:nvPr/>
          </p:nvSpPr>
          <p:spPr bwMode="auto">
            <a:xfrm>
              <a:off x="2598" y="3342"/>
              <a:ext cx="0" cy="554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69" name="Line 42"/>
            <p:cNvSpPr>
              <a:spLocks noChangeShapeType="1"/>
            </p:cNvSpPr>
            <p:nvPr/>
          </p:nvSpPr>
          <p:spPr bwMode="auto">
            <a:xfrm>
              <a:off x="3516" y="3320"/>
              <a:ext cx="0" cy="554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70" name="Line 43"/>
            <p:cNvSpPr>
              <a:spLocks noChangeShapeType="1"/>
            </p:cNvSpPr>
            <p:nvPr/>
          </p:nvSpPr>
          <p:spPr bwMode="auto">
            <a:xfrm>
              <a:off x="3885" y="3304"/>
              <a:ext cx="0" cy="554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71" name="Line 44"/>
            <p:cNvSpPr>
              <a:spLocks noChangeShapeType="1"/>
            </p:cNvSpPr>
            <p:nvPr/>
          </p:nvSpPr>
          <p:spPr bwMode="auto">
            <a:xfrm>
              <a:off x="4224" y="3304"/>
              <a:ext cx="0" cy="554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72" name="Line 45"/>
            <p:cNvSpPr>
              <a:spLocks noChangeShapeType="1"/>
            </p:cNvSpPr>
            <p:nvPr/>
          </p:nvSpPr>
          <p:spPr bwMode="auto">
            <a:xfrm>
              <a:off x="4583" y="3310"/>
              <a:ext cx="0" cy="554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" name="Group 47"/>
          <p:cNvGrpSpPr>
            <a:grpSpLocks/>
          </p:cNvGrpSpPr>
          <p:nvPr/>
        </p:nvGrpSpPr>
        <p:grpSpPr bwMode="auto">
          <a:xfrm>
            <a:off x="3581400" y="514198"/>
            <a:ext cx="3200400" cy="975602"/>
            <a:chOff x="1886" y="345"/>
            <a:chExt cx="1999" cy="805"/>
          </a:xfrm>
        </p:grpSpPr>
        <p:sp>
          <p:nvSpPr>
            <p:cNvPr id="61448" name="Line 48"/>
            <p:cNvSpPr>
              <a:spLocks noChangeShapeType="1"/>
            </p:cNvSpPr>
            <p:nvPr/>
          </p:nvSpPr>
          <p:spPr bwMode="auto">
            <a:xfrm>
              <a:off x="1886" y="1030"/>
              <a:ext cx="949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49" name="Line 49"/>
            <p:cNvSpPr>
              <a:spLocks noChangeShapeType="1"/>
            </p:cNvSpPr>
            <p:nvPr/>
          </p:nvSpPr>
          <p:spPr bwMode="auto">
            <a:xfrm>
              <a:off x="2936" y="1030"/>
              <a:ext cx="949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50" name="Line 50"/>
            <p:cNvSpPr>
              <a:spLocks noChangeShapeType="1"/>
            </p:cNvSpPr>
            <p:nvPr/>
          </p:nvSpPr>
          <p:spPr bwMode="auto">
            <a:xfrm flipV="1">
              <a:off x="2835" y="880"/>
              <a:ext cx="0" cy="15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51" name="Line 51"/>
            <p:cNvSpPr>
              <a:spLocks noChangeShapeType="1"/>
            </p:cNvSpPr>
            <p:nvPr/>
          </p:nvSpPr>
          <p:spPr bwMode="auto">
            <a:xfrm flipV="1">
              <a:off x="2940" y="881"/>
              <a:ext cx="0" cy="15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52" name="AutoShape 52"/>
            <p:cNvSpPr>
              <a:spLocks noChangeArrowheads="1"/>
            </p:cNvSpPr>
            <p:nvPr/>
          </p:nvSpPr>
          <p:spPr bwMode="auto">
            <a:xfrm rot="5400000">
              <a:off x="2709" y="572"/>
              <a:ext cx="364" cy="424"/>
            </a:xfrm>
            <a:prstGeom prst="moon">
              <a:avLst>
                <a:gd name="adj" fmla="val 74176"/>
              </a:avLst>
            </a:prstGeom>
            <a:noFill/>
            <a:ln w="28575">
              <a:solidFill>
                <a:srgbClr val="0000FF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453" name="Line 53"/>
            <p:cNvSpPr>
              <a:spLocks noChangeShapeType="1"/>
            </p:cNvSpPr>
            <p:nvPr/>
          </p:nvSpPr>
          <p:spPr bwMode="auto">
            <a:xfrm flipV="1">
              <a:off x="2891" y="471"/>
              <a:ext cx="0" cy="131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54" name="Line 54"/>
            <p:cNvSpPr>
              <a:spLocks noChangeShapeType="1"/>
            </p:cNvSpPr>
            <p:nvPr/>
          </p:nvSpPr>
          <p:spPr bwMode="auto">
            <a:xfrm>
              <a:off x="1886" y="1031"/>
              <a:ext cx="0" cy="119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55" name="Line 55"/>
            <p:cNvSpPr>
              <a:spLocks noChangeShapeType="1"/>
            </p:cNvSpPr>
            <p:nvPr/>
          </p:nvSpPr>
          <p:spPr bwMode="auto">
            <a:xfrm>
              <a:off x="3885" y="1025"/>
              <a:ext cx="0" cy="119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56" name="Text Box 56"/>
            <p:cNvSpPr txBox="1">
              <a:spLocks noChangeArrowheads="1"/>
            </p:cNvSpPr>
            <p:nvPr/>
          </p:nvSpPr>
          <p:spPr bwMode="auto">
            <a:xfrm>
              <a:off x="2933" y="345"/>
              <a:ext cx="286" cy="3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solidFill>
                    <a:srgbClr val="0000FF"/>
                  </a:solidFill>
                </a:rPr>
                <a:t>Y</a:t>
              </a:r>
            </a:p>
          </p:txBody>
        </p:sp>
      </p:grpSp>
      <p:sp>
        <p:nvSpPr>
          <p:cNvPr id="61446" name="Text Box 57"/>
          <p:cNvSpPr txBox="1">
            <a:spLocks noChangeArrowheads="1"/>
          </p:cNvSpPr>
          <p:nvPr/>
        </p:nvSpPr>
        <p:spPr bwMode="auto">
          <a:xfrm>
            <a:off x="4800600" y="2387199"/>
            <a:ext cx="74612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1400" dirty="0">
                <a:solidFill>
                  <a:srgbClr val="FF0000"/>
                </a:solidFill>
              </a:rPr>
              <a:t>1#</a:t>
            </a:r>
          </a:p>
        </p:txBody>
      </p:sp>
      <p:sp>
        <p:nvSpPr>
          <p:cNvPr id="61447" name="Text Box 58"/>
          <p:cNvSpPr txBox="1">
            <a:spLocks noChangeArrowheads="1"/>
          </p:cNvSpPr>
          <p:nvPr/>
        </p:nvSpPr>
        <p:spPr bwMode="auto">
          <a:xfrm>
            <a:off x="7788275" y="2406249"/>
            <a:ext cx="74612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1400" dirty="0">
                <a:solidFill>
                  <a:srgbClr val="FF0000"/>
                </a:solidFill>
              </a:rPr>
              <a:t>2#</a:t>
            </a:r>
          </a:p>
        </p:txBody>
      </p:sp>
      <p:sp>
        <p:nvSpPr>
          <p:cNvPr id="59" name="矩形 58"/>
          <p:cNvSpPr/>
          <p:nvPr/>
        </p:nvSpPr>
        <p:spPr>
          <a:xfrm>
            <a:off x="0" y="0"/>
            <a:ext cx="349967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：中规模标准构件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0" name="Rectangle 14"/>
          <p:cNvSpPr>
            <a:spLocks noChangeArrowheads="1"/>
          </p:cNvSpPr>
          <p:nvPr/>
        </p:nvSpPr>
        <p:spPr bwMode="auto">
          <a:xfrm>
            <a:off x="152400" y="590550"/>
            <a:ext cx="8610600" cy="29700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数据选择器</a:t>
            </a:r>
            <a:r>
              <a:rPr lang="en-US" altLang="zh-CN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74LS153:</a:t>
            </a:r>
          </a:p>
          <a:p>
            <a:pPr marL="0" lvl="1">
              <a:lnSpc>
                <a:spcPct val="150000"/>
              </a:lnSpc>
            </a:pPr>
            <a:r>
              <a:rPr lang="zh-CN" altLang="en-US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：将</a:t>
            </a:r>
            <a:r>
              <a:rPr lang="en-US" altLang="zh-CN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74LS153</a:t>
            </a:r>
          </a:p>
          <a:p>
            <a:pPr marL="0" lvl="1">
              <a:lnSpc>
                <a:spcPct val="150000"/>
              </a:lnSpc>
            </a:pPr>
            <a:r>
              <a:rPr lang="zh-CN" altLang="en-US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连接成八选一</a:t>
            </a:r>
            <a:endParaRPr lang="en-US" altLang="zh-CN" sz="1400" b="1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 smtClean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5029200" y="4552950"/>
            <a:ext cx="609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图 </a:t>
            </a:r>
            <a:r>
              <a:rPr lang="en-US" altLang="zh-CN" sz="1600" dirty="0" smtClean="0">
                <a:latin typeface="微软雅黑" pitchFamily="34" charset="-122"/>
                <a:ea typeface="微软雅黑" pitchFamily="34" charset="-122"/>
              </a:rPr>
              <a:t>2</a:t>
            </a:r>
            <a:endParaRPr lang="zh-CN" altLang="en-US" sz="16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2" name="Text Box 57"/>
          <p:cNvSpPr txBox="1">
            <a:spLocks noChangeArrowheads="1"/>
          </p:cNvSpPr>
          <p:nvPr/>
        </p:nvSpPr>
        <p:spPr bwMode="auto">
          <a:xfrm>
            <a:off x="2339529" y="4629150"/>
            <a:ext cx="3048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1600" b="1" dirty="0" smtClean="0">
                <a:solidFill>
                  <a:srgbClr val="FF0000"/>
                </a:solidFill>
              </a:rPr>
              <a:t>0</a:t>
            </a:r>
            <a:endParaRPr lang="en-US" altLang="zh-CN" sz="1600" b="1" dirty="0">
              <a:solidFill>
                <a:srgbClr val="FF0000"/>
              </a:solidFill>
            </a:endParaRPr>
          </a:p>
        </p:txBody>
      </p:sp>
      <p:sp>
        <p:nvSpPr>
          <p:cNvPr id="63" name="Text Box 57"/>
          <p:cNvSpPr txBox="1">
            <a:spLocks noChangeArrowheads="1"/>
          </p:cNvSpPr>
          <p:nvPr/>
        </p:nvSpPr>
        <p:spPr bwMode="auto">
          <a:xfrm>
            <a:off x="1066800" y="1885950"/>
            <a:ext cx="3048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1600" b="1" dirty="0" smtClean="0">
                <a:solidFill>
                  <a:srgbClr val="FF0000"/>
                </a:solidFill>
              </a:rPr>
              <a:t>0</a:t>
            </a:r>
            <a:endParaRPr lang="en-US" altLang="zh-CN" sz="1600" b="1" dirty="0">
              <a:solidFill>
                <a:srgbClr val="FF0000"/>
              </a:solidFill>
            </a:endParaRPr>
          </a:p>
        </p:txBody>
      </p:sp>
      <p:sp>
        <p:nvSpPr>
          <p:cNvPr id="64" name="Text Box 57"/>
          <p:cNvSpPr txBox="1">
            <a:spLocks noChangeArrowheads="1"/>
          </p:cNvSpPr>
          <p:nvPr/>
        </p:nvSpPr>
        <p:spPr bwMode="auto">
          <a:xfrm>
            <a:off x="1066800" y="2571750"/>
            <a:ext cx="3048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1600" b="1" dirty="0" smtClean="0">
                <a:solidFill>
                  <a:srgbClr val="FF0000"/>
                </a:solidFill>
              </a:rPr>
              <a:t>0</a:t>
            </a:r>
            <a:endParaRPr lang="en-US" altLang="zh-CN" sz="1600" b="1" dirty="0">
              <a:solidFill>
                <a:srgbClr val="FF0000"/>
              </a:solidFill>
            </a:endParaRPr>
          </a:p>
        </p:txBody>
      </p:sp>
      <p:sp>
        <p:nvSpPr>
          <p:cNvPr id="65" name="Text Box 57"/>
          <p:cNvSpPr txBox="1">
            <a:spLocks noChangeArrowheads="1"/>
          </p:cNvSpPr>
          <p:nvPr/>
        </p:nvSpPr>
        <p:spPr bwMode="auto">
          <a:xfrm>
            <a:off x="5638800" y="3943350"/>
            <a:ext cx="3048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1600" b="1" dirty="0" smtClean="0">
                <a:solidFill>
                  <a:srgbClr val="FF0000"/>
                </a:solidFill>
              </a:rPr>
              <a:t>1</a:t>
            </a:r>
            <a:endParaRPr lang="en-US" altLang="zh-CN" sz="1600" b="1" dirty="0">
              <a:solidFill>
                <a:srgbClr val="FF0000"/>
              </a:solidFill>
            </a:endParaRPr>
          </a:p>
        </p:txBody>
      </p:sp>
      <p:sp>
        <p:nvSpPr>
          <p:cNvPr id="66" name="Text Box 57"/>
          <p:cNvSpPr txBox="1">
            <a:spLocks noChangeArrowheads="1"/>
          </p:cNvSpPr>
          <p:nvPr/>
        </p:nvSpPr>
        <p:spPr bwMode="auto">
          <a:xfrm>
            <a:off x="6781800" y="1657350"/>
            <a:ext cx="457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1600" b="1" dirty="0" smtClean="0">
                <a:solidFill>
                  <a:srgbClr val="FF0000"/>
                </a:solidFill>
              </a:rPr>
              <a:t>=0</a:t>
            </a:r>
            <a:endParaRPr lang="en-US" altLang="zh-CN" sz="1600" b="1" dirty="0">
              <a:solidFill>
                <a:srgbClr val="FF0000"/>
              </a:solidFill>
            </a:endParaRPr>
          </a:p>
        </p:txBody>
      </p:sp>
      <p:sp>
        <p:nvSpPr>
          <p:cNvPr id="67" name="Text Box 57"/>
          <p:cNvSpPr txBox="1">
            <a:spLocks noChangeArrowheads="1"/>
          </p:cNvSpPr>
          <p:nvPr/>
        </p:nvSpPr>
        <p:spPr bwMode="auto">
          <a:xfrm>
            <a:off x="3657600" y="1657350"/>
            <a:ext cx="6858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1600" b="1" dirty="0" smtClean="0">
                <a:solidFill>
                  <a:srgbClr val="FF0000"/>
                </a:solidFill>
              </a:rPr>
              <a:t>=D</a:t>
            </a:r>
            <a:r>
              <a:rPr lang="en-US" altLang="zh-CN" sz="1600" b="1" baseline="-25000" dirty="0" smtClean="0">
                <a:solidFill>
                  <a:srgbClr val="FF0000"/>
                </a:solidFill>
              </a:rPr>
              <a:t>0</a:t>
            </a:r>
            <a:endParaRPr lang="en-US" altLang="zh-CN" sz="1600" b="1" baseline="-25000" dirty="0">
              <a:solidFill>
                <a:srgbClr val="FF0000"/>
              </a:solidFill>
            </a:endParaRPr>
          </a:p>
        </p:txBody>
      </p:sp>
      <p:sp>
        <p:nvSpPr>
          <p:cNvPr id="68" name="Text Box 57"/>
          <p:cNvSpPr txBox="1">
            <a:spLocks noChangeArrowheads="1"/>
          </p:cNvSpPr>
          <p:nvPr/>
        </p:nvSpPr>
        <p:spPr bwMode="auto">
          <a:xfrm>
            <a:off x="5486400" y="590550"/>
            <a:ext cx="6858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1600" b="1" dirty="0" smtClean="0">
                <a:solidFill>
                  <a:srgbClr val="FF0000"/>
                </a:solidFill>
              </a:rPr>
              <a:t>=D</a:t>
            </a:r>
            <a:r>
              <a:rPr lang="en-US" altLang="zh-CN" sz="1600" b="1" baseline="-25000" dirty="0" smtClean="0">
                <a:solidFill>
                  <a:srgbClr val="FF0000"/>
                </a:solidFill>
              </a:rPr>
              <a:t>0</a:t>
            </a:r>
            <a:endParaRPr lang="en-US" altLang="zh-CN" sz="1600" b="1" baseline="-250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/>
      <p:bldP spid="63" grpId="0"/>
      <p:bldP spid="64" grpId="0"/>
      <p:bldP spid="65" grpId="0"/>
      <p:bldP spid="66" grpId="0"/>
      <p:bldP spid="67" grpId="0"/>
      <p:bldP spid="6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1371600" y="1345402"/>
            <a:ext cx="7061200" cy="2471737"/>
            <a:chOff x="624" y="1198"/>
            <a:chExt cx="4448" cy="2076"/>
          </a:xfrm>
        </p:grpSpPr>
        <p:sp>
          <p:nvSpPr>
            <p:cNvPr id="61473" name="Rectangle 3"/>
            <p:cNvSpPr>
              <a:spLocks noChangeArrowheads="1"/>
            </p:cNvSpPr>
            <p:nvPr/>
          </p:nvSpPr>
          <p:spPr bwMode="auto">
            <a:xfrm>
              <a:off x="1064" y="1432"/>
              <a:ext cx="3896" cy="140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 sz="1400"/>
            </a:p>
          </p:txBody>
        </p:sp>
        <p:sp>
          <p:nvSpPr>
            <p:cNvPr id="61474" name="Line 4"/>
            <p:cNvSpPr>
              <a:spLocks noChangeShapeType="1"/>
            </p:cNvSpPr>
            <p:nvPr/>
          </p:nvSpPr>
          <p:spPr bwMode="auto">
            <a:xfrm>
              <a:off x="3016" y="1432"/>
              <a:ext cx="0" cy="14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61475" name="Text Box 5"/>
            <p:cNvSpPr txBox="1">
              <a:spLocks noChangeArrowheads="1"/>
            </p:cNvSpPr>
            <p:nvPr/>
          </p:nvSpPr>
          <p:spPr bwMode="auto">
            <a:xfrm>
              <a:off x="1872" y="1456"/>
              <a:ext cx="496" cy="2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400" b="1"/>
                <a:t>1Y</a:t>
              </a:r>
            </a:p>
          </p:txBody>
        </p:sp>
        <p:sp>
          <p:nvSpPr>
            <p:cNvPr id="61476" name="Text Box 6"/>
            <p:cNvSpPr txBox="1">
              <a:spLocks noChangeArrowheads="1"/>
            </p:cNvSpPr>
            <p:nvPr/>
          </p:nvSpPr>
          <p:spPr bwMode="auto">
            <a:xfrm>
              <a:off x="640" y="1653"/>
              <a:ext cx="496" cy="2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400" b="1">
                  <a:solidFill>
                    <a:srgbClr val="0000FF"/>
                  </a:solidFill>
                </a:rPr>
                <a:t>A</a:t>
              </a:r>
              <a:r>
                <a:rPr lang="en-US" altLang="zh-CN" sz="1400" b="1" baseline="-2000">
                  <a:solidFill>
                    <a:srgbClr val="0000FF"/>
                  </a:solidFill>
                </a:rPr>
                <a:t>1</a:t>
              </a:r>
            </a:p>
          </p:txBody>
        </p:sp>
        <p:sp>
          <p:nvSpPr>
            <p:cNvPr id="61477" name="Text Box 7"/>
            <p:cNvSpPr txBox="1">
              <a:spLocks noChangeArrowheads="1"/>
            </p:cNvSpPr>
            <p:nvPr/>
          </p:nvSpPr>
          <p:spPr bwMode="auto">
            <a:xfrm>
              <a:off x="624" y="2206"/>
              <a:ext cx="496" cy="2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400" b="1">
                  <a:solidFill>
                    <a:srgbClr val="0000FF"/>
                  </a:solidFill>
                </a:rPr>
                <a:t>A</a:t>
              </a:r>
              <a:r>
                <a:rPr lang="en-US" altLang="zh-CN" sz="1400" b="1" baseline="-2000">
                  <a:solidFill>
                    <a:srgbClr val="0000FF"/>
                  </a:solidFill>
                </a:rPr>
                <a:t>0</a:t>
              </a:r>
            </a:p>
          </p:txBody>
        </p:sp>
        <p:sp>
          <p:nvSpPr>
            <p:cNvPr id="61478" name="Text Box 8"/>
            <p:cNvSpPr txBox="1">
              <a:spLocks noChangeArrowheads="1"/>
            </p:cNvSpPr>
            <p:nvPr/>
          </p:nvSpPr>
          <p:spPr bwMode="auto">
            <a:xfrm>
              <a:off x="1176" y="2552"/>
              <a:ext cx="1912" cy="2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400" b="1" dirty="0" smtClean="0"/>
                <a:t>ST</a:t>
              </a:r>
              <a:r>
                <a:rPr lang="en-US" altLang="zh-CN" sz="1400" b="1" baseline="-25000" dirty="0" smtClean="0"/>
                <a:t>0</a:t>
              </a:r>
              <a:r>
                <a:rPr lang="en-US" altLang="zh-CN" sz="1400" b="1" dirty="0" smtClean="0"/>
                <a:t>  </a:t>
              </a:r>
              <a:r>
                <a:rPr lang="en-US" altLang="zh-CN" sz="1400" b="1" dirty="0"/>
                <a:t>1D</a:t>
              </a:r>
              <a:r>
                <a:rPr lang="en-US" altLang="zh-CN" sz="1400" b="1" baseline="-2000" dirty="0"/>
                <a:t>0</a:t>
              </a:r>
              <a:r>
                <a:rPr lang="en-US" altLang="zh-CN" sz="1400" b="1" dirty="0"/>
                <a:t>  </a:t>
              </a:r>
              <a:r>
                <a:rPr lang="en-US" altLang="zh-CN" sz="1400" b="1" dirty="0" smtClean="0"/>
                <a:t>      1D</a:t>
              </a:r>
              <a:r>
                <a:rPr lang="en-US" altLang="zh-CN" sz="1400" b="1" baseline="-2000" dirty="0" smtClean="0"/>
                <a:t>1</a:t>
              </a:r>
              <a:r>
                <a:rPr lang="en-US" altLang="zh-CN" sz="1400" b="1" dirty="0" smtClean="0"/>
                <a:t>      1D</a:t>
              </a:r>
              <a:r>
                <a:rPr lang="en-US" altLang="zh-CN" sz="1400" b="1" baseline="-2000" dirty="0" smtClean="0"/>
                <a:t>2</a:t>
              </a:r>
              <a:r>
                <a:rPr lang="en-US" altLang="zh-CN" sz="1400" b="1" dirty="0" smtClean="0"/>
                <a:t>     1D</a:t>
              </a:r>
              <a:r>
                <a:rPr lang="en-US" altLang="zh-CN" sz="1400" b="1" baseline="-2000" dirty="0" smtClean="0"/>
                <a:t>3</a:t>
              </a:r>
              <a:endParaRPr lang="en-US" altLang="zh-CN" sz="1400" b="1" baseline="-2000" dirty="0"/>
            </a:p>
          </p:txBody>
        </p:sp>
        <p:sp>
          <p:nvSpPr>
            <p:cNvPr id="61479" name="Line 9"/>
            <p:cNvSpPr>
              <a:spLocks noChangeShapeType="1"/>
            </p:cNvSpPr>
            <p:nvPr/>
          </p:nvSpPr>
          <p:spPr bwMode="auto">
            <a:xfrm>
              <a:off x="1231" y="2568"/>
              <a:ext cx="16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61480" name="Text Box 10"/>
            <p:cNvSpPr txBox="1">
              <a:spLocks noChangeArrowheads="1"/>
            </p:cNvSpPr>
            <p:nvPr/>
          </p:nvSpPr>
          <p:spPr bwMode="auto">
            <a:xfrm>
              <a:off x="3856" y="1472"/>
              <a:ext cx="496" cy="2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400" b="1"/>
                <a:t>2Y</a:t>
              </a:r>
            </a:p>
          </p:txBody>
        </p:sp>
        <p:sp>
          <p:nvSpPr>
            <p:cNvPr id="61481" name="Text Box 11"/>
            <p:cNvSpPr txBox="1">
              <a:spLocks noChangeArrowheads="1"/>
            </p:cNvSpPr>
            <p:nvPr/>
          </p:nvSpPr>
          <p:spPr bwMode="auto">
            <a:xfrm>
              <a:off x="3160" y="2568"/>
              <a:ext cx="1912" cy="2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400" b="1" dirty="0" smtClean="0"/>
                <a:t>ST</a:t>
              </a:r>
              <a:r>
                <a:rPr lang="en-US" altLang="zh-CN" sz="1400" b="1" baseline="-25000" dirty="0" smtClean="0"/>
                <a:t>1</a:t>
              </a:r>
              <a:r>
                <a:rPr lang="en-US" altLang="zh-CN" sz="1400" b="1" dirty="0" smtClean="0"/>
                <a:t>    2D</a:t>
              </a:r>
              <a:r>
                <a:rPr lang="en-US" altLang="zh-CN" sz="1400" b="1" baseline="-2000" dirty="0" smtClean="0"/>
                <a:t>0</a:t>
              </a:r>
              <a:r>
                <a:rPr lang="en-US" altLang="zh-CN" sz="1400" b="1" dirty="0" smtClean="0"/>
                <a:t>      2D</a:t>
              </a:r>
              <a:r>
                <a:rPr lang="en-US" altLang="zh-CN" sz="1400" b="1" baseline="-2000" dirty="0" smtClean="0"/>
                <a:t>1</a:t>
              </a:r>
              <a:r>
                <a:rPr lang="en-US" altLang="zh-CN" sz="1400" b="1" dirty="0" smtClean="0"/>
                <a:t>      2D</a:t>
              </a:r>
              <a:r>
                <a:rPr lang="en-US" altLang="zh-CN" sz="1400" b="1" baseline="-2000" dirty="0" smtClean="0"/>
                <a:t>2</a:t>
              </a:r>
              <a:r>
                <a:rPr lang="en-US" altLang="zh-CN" sz="1400" b="1" dirty="0" smtClean="0"/>
                <a:t>      2D</a:t>
              </a:r>
              <a:r>
                <a:rPr lang="en-US" altLang="zh-CN" sz="1400" b="1" baseline="-2000" dirty="0" smtClean="0"/>
                <a:t>3</a:t>
              </a:r>
              <a:endParaRPr lang="en-US" altLang="zh-CN" sz="1400" b="1" baseline="-2000" dirty="0"/>
            </a:p>
          </p:txBody>
        </p:sp>
        <p:sp>
          <p:nvSpPr>
            <p:cNvPr id="61482" name="Line 12"/>
            <p:cNvSpPr>
              <a:spLocks noChangeShapeType="1"/>
            </p:cNvSpPr>
            <p:nvPr/>
          </p:nvSpPr>
          <p:spPr bwMode="auto">
            <a:xfrm>
              <a:off x="3218" y="2584"/>
              <a:ext cx="19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61483" name="Line 13"/>
            <p:cNvSpPr>
              <a:spLocks noChangeShapeType="1"/>
            </p:cNvSpPr>
            <p:nvPr/>
          </p:nvSpPr>
          <p:spPr bwMode="auto">
            <a:xfrm flipH="1">
              <a:off x="888" y="1762"/>
              <a:ext cx="176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61484" name="Line 14"/>
            <p:cNvSpPr>
              <a:spLocks noChangeShapeType="1"/>
            </p:cNvSpPr>
            <p:nvPr/>
          </p:nvSpPr>
          <p:spPr bwMode="auto">
            <a:xfrm flipH="1">
              <a:off x="882" y="2323"/>
              <a:ext cx="176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61485" name="Line 15"/>
            <p:cNvSpPr>
              <a:spLocks noChangeShapeType="1"/>
            </p:cNvSpPr>
            <p:nvPr/>
          </p:nvSpPr>
          <p:spPr bwMode="auto">
            <a:xfrm>
              <a:off x="1664" y="2856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61486" name="Line 16"/>
            <p:cNvSpPr>
              <a:spLocks noChangeShapeType="1"/>
            </p:cNvSpPr>
            <p:nvPr/>
          </p:nvSpPr>
          <p:spPr bwMode="auto">
            <a:xfrm>
              <a:off x="2011" y="2848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61487" name="Line 17"/>
            <p:cNvSpPr>
              <a:spLocks noChangeShapeType="1"/>
            </p:cNvSpPr>
            <p:nvPr/>
          </p:nvSpPr>
          <p:spPr bwMode="auto">
            <a:xfrm>
              <a:off x="2368" y="2848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61488" name="Line 18"/>
            <p:cNvSpPr>
              <a:spLocks noChangeShapeType="1"/>
            </p:cNvSpPr>
            <p:nvPr/>
          </p:nvSpPr>
          <p:spPr bwMode="auto">
            <a:xfrm>
              <a:off x="2723" y="2848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61489" name="Line 19"/>
            <p:cNvSpPr>
              <a:spLocks noChangeShapeType="1"/>
            </p:cNvSpPr>
            <p:nvPr/>
          </p:nvSpPr>
          <p:spPr bwMode="auto">
            <a:xfrm>
              <a:off x="3641" y="2856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61490" name="Line 20"/>
            <p:cNvSpPr>
              <a:spLocks noChangeShapeType="1"/>
            </p:cNvSpPr>
            <p:nvPr/>
          </p:nvSpPr>
          <p:spPr bwMode="auto">
            <a:xfrm>
              <a:off x="4010" y="2848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61491" name="Line 21"/>
            <p:cNvSpPr>
              <a:spLocks noChangeShapeType="1"/>
            </p:cNvSpPr>
            <p:nvPr/>
          </p:nvSpPr>
          <p:spPr bwMode="auto">
            <a:xfrm>
              <a:off x="4352" y="2848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61492" name="Line 22"/>
            <p:cNvSpPr>
              <a:spLocks noChangeShapeType="1"/>
            </p:cNvSpPr>
            <p:nvPr/>
          </p:nvSpPr>
          <p:spPr bwMode="auto">
            <a:xfrm>
              <a:off x="4708" y="2848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61493" name="Line 23"/>
            <p:cNvSpPr>
              <a:spLocks noChangeShapeType="1"/>
            </p:cNvSpPr>
            <p:nvPr/>
          </p:nvSpPr>
          <p:spPr bwMode="auto">
            <a:xfrm>
              <a:off x="1321" y="2890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61494" name="Line 24"/>
            <p:cNvSpPr>
              <a:spLocks noChangeShapeType="1"/>
            </p:cNvSpPr>
            <p:nvPr/>
          </p:nvSpPr>
          <p:spPr bwMode="auto">
            <a:xfrm>
              <a:off x="3314" y="2890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61495" name="Oval 25"/>
            <p:cNvSpPr>
              <a:spLocks noChangeArrowheads="1"/>
            </p:cNvSpPr>
            <p:nvPr/>
          </p:nvSpPr>
          <p:spPr bwMode="auto">
            <a:xfrm>
              <a:off x="1289" y="2848"/>
              <a:ext cx="64" cy="5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/>
            </a:p>
          </p:txBody>
        </p:sp>
        <p:sp>
          <p:nvSpPr>
            <p:cNvPr id="61496" name="Oval 26"/>
            <p:cNvSpPr>
              <a:spLocks noChangeArrowheads="1"/>
            </p:cNvSpPr>
            <p:nvPr/>
          </p:nvSpPr>
          <p:spPr bwMode="auto">
            <a:xfrm>
              <a:off x="3282" y="2844"/>
              <a:ext cx="64" cy="5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/>
            </a:p>
          </p:txBody>
        </p:sp>
        <p:sp>
          <p:nvSpPr>
            <p:cNvPr id="61497" name="Line 27"/>
            <p:cNvSpPr>
              <a:spLocks noChangeShapeType="1"/>
            </p:cNvSpPr>
            <p:nvPr/>
          </p:nvSpPr>
          <p:spPr bwMode="auto">
            <a:xfrm>
              <a:off x="2012" y="1198"/>
              <a:ext cx="0" cy="23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61498" name="Line 28"/>
            <p:cNvSpPr>
              <a:spLocks noChangeShapeType="1"/>
            </p:cNvSpPr>
            <p:nvPr/>
          </p:nvSpPr>
          <p:spPr bwMode="auto">
            <a:xfrm>
              <a:off x="4032" y="1198"/>
              <a:ext cx="0" cy="23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400"/>
            </a:p>
          </p:txBody>
        </p:sp>
      </p:grpSp>
      <p:grpSp>
        <p:nvGrpSpPr>
          <p:cNvPr id="3" name="Group 29"/>
          <p:cNvGrpSpPr>
            <a:grpSpLocks/>
          </p:cNvGrpSpPr>
          <p:nvPr/>
        </p:nvGrpSpPr>
        <p:grpSpPr bwMode="auto">
          <a:xfrm>
            <a:off x="2171700" y="3731418"/>
            <a:ext cx="6831014" cy="973932"/>
            <a:chOff x="1003" y="3304"/>
            <a:chExt cx="4303" cy="818"/>
          </a:xfrm>
        </p:grpSpPr>
        <p:sp>
          <p:nvSpPr>
            <p:cNvPr id="61457" name="Text Box 30"/>
            <p:cNvSpPr txBox="1">
              <a:spLocks noChangeArrowheads="1"/>
            </p:cNvSpPr>
            <p:nvPr/>
          </p:nvSpPr>
          <p:spPr bwMode="auto">
            <a:xfrm>
              <a:off x="1085" y="3863"/>
              <a:ext cx="4221" cy="2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400" b="1" dirty="0">
                  <a:solidFill>
                    <a:srgbClr val="0000FF"/>
                  </a:solidFill>
                </a:rPr>
                <a:t>A</a:t>
              </a:r>
              <a:r>
                <a:rPr lang="en-US" altLang="zh-CN" sz="1400" b="1" baseline="-2000" dirty="0">
                  <a:solidFill>
                    <a:srgbClr val="0000FF"/>
                  </a:solidFill>
                </a:rPr>
                <a:t>2   </a:t>
              </a:r>
              <a:r>
                <a:rPr lang="en-US" altLang="zh-CN" sz="1400" b="1" baseline="-2000" dirty="0" smtClean="0">
                  <a:solidFill>
                    <a:srgbClr val="0000FF"/>
                  </a:solidFill>
                </a:rPr>
                <a:t>         </a:t>
              </a:r>
              <a:r>
                <a:rPr lang="en-US" altLang="zh-CN" sz="1400" b="1" dirty="0">
                  <a:solidFill>
                    <a:srgbClr val="0000FF"/>
                  </a:solidFill>
                </a:rPr>
                <a:t>D</a:t>
              </a:r>
              <a:r>
                <a:rPr lang="en-US" altLang="zh-CN" sz="1400" b="1" baseline="-2000" dirty="0">
                  <a:solidFill>
                    <a:srgbClr val="0000FF"/>
                  </a:solidFill>
                </a:rPr>
                <a:t>0</a:t>
              </a:r>
              <a:r>
                <a:rPr lang="en-US" altLang="zh-CN" sz="1400" b="1" dirty="0">
                  <a:solidFill>
                    <a:srgbClr val="0000FF"/>
                  </a:solidFill>
                </a:rPr>
                <a:t> </a:t>
              </a:r>
              <a:r>
                <a:rPr lang="en-US" altLang="zh-CN" sz="1400" b="1" dirty="0" smtClean="0">
                  <a:solidFill>
                    <a:srgbClr val="0000FF"/>
                  </a:solidFill>
                </a:rPr>
                <a:t>      </a:t>
              </a:r>
              <a:r>
                <a:rPr lang="en-US" altLang="zh-CN" sz="1400" b="1" dirty="0">
                  <a:solidFill>
                    <a:srgbClr val="0000FF"/>
                  </a:solidFill>
                </a:rPr>
                <a:t>D</a:t>
              </a:r>
              <a:r>
                <a:rPr lang="en-US" altLang="zh-CN" sz="1400" b="1" baseline="-2000" dirty="0">
                  <a:solidFill>
                    <a:srgbClr val="0000FF"/>
                  </a:solidFill>
                </a:rPr>
                <a:t>1</a:t>
              </a:r>
              <a:r>
                <a:rPr lang="en-US" altLang="zh-CN" sz="1400" b="1" dirty="0">
                  <a:solidFill>
                    <a:srgbClr val="0000FF"/>
                  </a:solidFill>
                </a:rPr>
                <a:t>   </a:t>
              </a:r>
              <a:r>
                <a:rPr lang="en-US" altLang="zh-CN" sz="1400" b="1" dirty="0" smtClean="0">
                  <a:solidFill>
                    <a:srgbClr val="0000FF"/>
                  </a:solidFill>
                </a:rPr>
                <a:t>     D</a:t>
              </a:r>
              <a:r>
                <a:rPr lang="en-US" altLang="zh-CN" sz="1400" b="1" baseline="-2000" dirty="0" smtClean="0">
                  <a:solidFill>
                    <a:srgbClr val="0000FF"/>
                  </a:solidFill>
                </a:rPr>
                <a:t>2</a:t>
              </a:r>
              <a:r>
                <a:rPr lang="en-US" altLang="zh-CN" sz="1400" b="1" dirty="0" smtClean="0">
                  <a:solidFill>
                    <a:srgbClr val="0000FF"/>
                  </a:solidFill>
                </a:rPr>
                <a:t>       D</a:t>
              </a:r>
              <a:r>
                <a:rPr lang="en-US" altLang="zh-CN" sz="1400" b="1" baseline="-2000" dirty="0" smtClean="0">
                  <a:solidFill>
                    <a:srgbClr val="0000FF"/>
                  </a:solidFill>
                </a:rPr>
                <a:t>3                                      </a:t>
              </a:r>
              <a:r>
                <a:rPr lang="en-US" altLang="zh-CN" sz="1400" b="1" dirty="0">
                  <a:solidFill>
                    <a:srgbClr val="0000FF"/>
                  </a:solidFill>
                </a:rPr>
                <a:t>D</a:t>
              </a:r>
              <a:r>
                <a:rPr lang="en-US" altLang="zh-CN" sz="1400" b="1" baseline="-2000" dirty="0">
                  <a:solidFill>
                    <a:srgbClr val="0000FF"/>
                  </a:solidFill>
                </a:rPr>
                <a:t>4</a:t>
              </a:r>
              <a:r>
                <a:rPr lang="en-US" altLang="zh-CN" sz="1400" b="1" dirty="0">
                  <a:solidFill>
                    <a:srgbClr val="0000FF"/>
                  </a:solidFill>
                </a:rPr>
                <a:t>   </a:t>
              </a:r>
              <a:r>
                <a:rPr lang="en-US" altLang="zh-CN" sz="1400" b="1" dirty="0" smtClean="0">
                  <a:solidFill>
                    <a:srgbClr val="0000FF"/>
                  </a:solidFill>
                </a:rPr>
                <a:t>     D</a:t>
              </a:r>
              <a:r>
                <a:rPr lang="en-US" altLang="zh-CN" sz="1400" b="1" baseline="-2000" dirty="0" smtClean="0">
                  <a:solidFill>
                    <a:srgbClr val="0000FF"/>
                  </a:solidFill>
                </a:rPr>
                <a:t>5           </a:t>
              </a:r>
              <a:r>
                <a:rPr lang="en-US" altLang="zh-CN" sz="1400" b="1" dirty="0">
                  <a:solidFill>
                    <a:srgbClr val="0000FF"/>
                  </a:solidFill>
                </a:rPr>
                <a:t>D</a:t>
              </a:r>
              <a:r>
                <a:rPr lang="en-US" altLang="zh-CN" sz="1400" b="1" baseline="-2000" dirty="0">
                  <a:solidFill>
                    <a:srgbClr val="0000FF"/>
                  </a:solidFill>
                </a:rPr>
                <a:t>6</a:t>
              </a:r>
              <a:r>
                <a:rPr lang="en-US" altLang="zh-CN" sz="1400" b="1" dirty="0">
                  <a:solidFill>
                    <a:srgbClr val="0000FF"/>
                  </a:solidFill>
                </a:rPr>
                <a:t>  </a:t>
              </a:r>
              <a:r>
                <a:rPr lang="en-US" altLang="zh-CN" sz="1400" b="1" dirty="0" smtClean="0">
                  <a:solidFill>
                    <a:srgbClr val="0000FF"/>
                  </a:solidFill>
                </a:rPr>
                <a:t>     </a:t>
              </a:r>
              <a:r>
                <a:rPr lang="en-US" altLang="zh-CN" sz="1400" b="1" dirty="0">
                  <a:solidFill>
                    <a:srgbClr val="0000FF"/>
                  </a:solidFill>
                </a:rPr>
                <a:t>D</a:t>
              </a:r>
              <a:r>
                <a:rPr lang="en-US" altLang="zh-CN" sz="1400" b="1" baseline="-2000" dirty="0">
                  <a:solidFill>
                    <a:srgbClr val="0000FF"/>
                  </a:solidFill>
                </a:rPr>
                <a:t>7</a:t>
              </a:r>
            </a:p>
          </p:txBody>
        </p:sp>
        <p:sp>
          <p:nvSpPr>
            <p:cNvPr id="61458" name="Line 31"/>
            <p:cNvSpPr>
              <a:spLocks noChangeShapeType="1"/>
            </p:cNvSpPr>
            <p:nvPr/>
          </p:nvSpPr>
          <p:spPr bwMode="auto">
            <a:xfrm>
              <a:off x="1196" y="3342"/>
              <a:ext cx="0" cy="546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59" name="Line 32"/>
            <p:cNvSpPr>
              <a:spLocks noChangeShapeType="1"/>
            </p:cNvSpPr>
            <p:nvPr/>
          </p:nvSpPr>
          <p:spPr bwMode="auto">
            <a:xfrm>
              <a:off x="1196" y="3680"/>
              <a:ext cx="1639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60" name="AutoShape 33"/>
            <p:cNvSpPr>
              <a:spLocks noChangeArrowheads="1"/>
            </p:cNvSpPr>
            <p:nvPr/>
          </p:nvSpPr>
          <p:spPr bwMode="auto">
            <a:xfrm rot="5400000">
              <a:off x="2812" y="3584"/>
              <a:ext cx="238" cy="192"/>
            </a:xfrm>
            <a:prstGeom prst="triangle">
              <a:avLst>
                <a:gd name="adj" fmla="val 50000"/>
              </a:avLst>
            </a:prstGeom>
            <a:noFill/>
            <a:ln w="28575">
              <a:solidFill>
                <a:srgbClr val="0000FF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461" name="Oval 34"/>
            <p:cNvSpPr>
              <a:spLocks noChangeArrowheads="1"/>
            </p:cNvSpPr>
            <p:nvPr/>
          </p:nvSpPr>
          <p:spPr bwMode="auto">
            <a:xfrm>
              <a:off x="3023" y="3648"/>
              <a:ext cx="56" cy="56"/>
            </a:xfrm>
            <a:prstGeom prst="ellips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462" name="Line 35"/>
            <p:cNvSpPr>
              <a:spLocks noChangeShapeType="1"/>
            </p:cNvSpPr>
            <p:nvPr/>
          </p:nvSpPr>
          <p:spPr bwMode="auto">
            <a:xfrm>
              <a:off x="3189" y="3376"/>
              <a:ext cx="0" cy="304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63" name="Line 36"/>
            <p:cNvSpPr>
              <a:spLocks noChangeShapeType="1"/>
            </p:cNvSpPr>
            <p:nvPr/>
          </p:nvSpPr>
          <p:spPr bwMode="auto">
            <a:xfrm flipH="1">
              <a:off x="3079" y="3680"/>
              <a:ext cx="110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64" name="Text Box 37"/>
            <p:cNvSpPr txBox="1">
              <a:spLocks noChangeArrowheads="1"/>
            </p:cNvSpPr>
            <p:nvPr/>
          </p:nvSpPr>
          <p:spPr bwMode="auto">
            <a:xfrm>
              <a:off x="1003" y="3425"/>
              <a:ext cx="357" cy="491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3200" dirty="0">
                  <a:solidFill>
                    <a:srgbClr val="0000FF"/>
                  </a:solidFill>
                  <a:latin typeface="宋体" pitchFamily="2" charset="-122"/>
                </a:rPr>
                <a:t>·</a:t>
              </a:r>
              <a:endParaRPr lang="en-US" altLang="zh-CN" sz="3200" dirty="0">
                <a:solidFill>
                  <a:srgbClr val="0000FF"/>
                </a:solidFill>
              </a:endParaRPr>
            </a:p>
          </p:txBody>
        </p:sp>
        <p:sp>
          <p:nvSpPr>
            <p:cNvPr id="61465" name="Line 38"/>
            <p:cNvSpPr>
              <a:spLocks noChangeShapeType="1"/>
            </p:cNvSpPr>
            <p:nvPr/>
          </p:nvSpPr>
          <p:spPr bwMode="auto">
            <a:xfrm>
              <a:off x="1539" y="3334"/>
              <a:ext cx="0" cy="554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66" name="Line 39"/>
            <p:cNvSpPr>
              <a:spLocks noChangeShapeType="1"/>
            </p:cNvSpPr>
            <p:nvPr/>
          </p:nvSpPr>
          <p:spPr bwMode="auto">
            <a:xfrm>
              <a:off x="1886" y="3343"/>
              <a:ext cx="0" cy="554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67" name="Line 40"/>
            <p:cNvSpPr>
              <a:spLocks noChangeShapeType="1"/>
            </p:cNvSpPr>
            <p:nvPr/>
          </p:nvSpPr>
          <p:spPr bwMode="auto">
            <a:xfrm>
              <a:off x="2243" y="3339"/>
              <a:ext cx="0" cy="554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68" name="Line 41"/>
            <p:cNvSpPr>
              <a:spLocks noChangeShapeType="1"/>
            </p:cNvSpPr>
            <p:nvPr/>
          </p:nvSpPr>
          <p:spPr bwMode="auto">
            <a:xfrm>
              <a:off x="2598" y="3342"/>
              <a:ext cx="0" cy="554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69" name="Line 42"/>
            <p:cNvSpPr>
              <a:spLocks noChangeShapeType="1"/>
            </p:cNvSpPr>
            <p:nvPr/>
          </p:nvSpPr>
          <p:spPr bwMode="auto">
            <a:xfrm>
              <a:off x="3516" y="3320"/>
              <a:ext cx="0" cy="554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70" name="Line 43"/>
            <p:cNvSpPr>
              <a:spLocks noChangeShapeType="1"/>
            </p:cNvSpPr>
            <p:nvPr/>
          </p:nvSpPr>
          <p:spPr bwMode="auto">
            <a:xfrm>
              <a:off x="3885" y="3304"/>
              <a:ext cx="0" cy="554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71" name="Line 44"/>
            <p:cNvSpPr>
              <a:spLocks noChangeShapeType="1"/>
            </p:cNvSpPr>
            <p:nvPr/>
          </p:nvSpPr>
          <p:spPr bwMode="auto">
            <a:xfrm>
              <a:off x="4224" y="3304"/>
              <a:ext cx="0" cy="554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72" name="Line 45"/>
            <p:cNvSpPr>
              <a:spLocks noChangeShapeType="1"/>
            </p:cNvSpPr>
            <p:nvPr/>
          </p:nvSpPr>
          <p:spPr bwMode="auto">
            <a:xfrm>
              <a:off x="4583" y="3310"/>
              <a:ext cx="0" cy="554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" name="Group 47"/>
          <p:cNvGrpSpPr>
            <a:grpSpLocks/>
          </p:cNvGrpSpPr>
          <p:nvPr/>
        </p:nvGrpSpPr>
        <p:grpSpPr bwMode="auto">
          <a:xfrm>
            <a:off x="3581400" y="514198"/>
            <a:ext cx="3200400" cy="975602"/>
            <a:chOff x="1886" y="345"/>
            <a:chExt cx="1999" cy="805"/>
          </a:xfrm>
        </p:grpSpPr>
        <p:sp>
          <p:nvSpPr>
            <p:cNvPr id="61448" name="Line 48"/>
            <p:cNvSpPr>
              <a:spLocks noChangeShapeType="1"/>
            </p:cNvSpPr>
            <p:nvPr/>
          </p:nvSpPr>
          <p:spPr bwMode="auto">
            <a:xfrm>
              <a:off x="1886" y="1030"/>
              <a:ext cx="949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49" name="Line 49"/>
            <p:cNvSpPr>
              <a:spLocks noChangeShapeType="1"/>
            </p:cNvSpPr>
            <p:nvPr/>
          </p:nvSpPr>
          <p:spPr bwMode="auto">
            <a:xfrm>
              <a:off x="2936" y="1030"/>
              <a:ext cx="949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50" name="Line 50"/>
            <p:cNvSpPr>
              <a:spLocks noChangeShapeType="1"/>
            </p:cNvSpPr>
            <p:nvPr/>
          </p:nvSpPr>
          <p:spPr bwMode="auto">
            <a:xfrm flipV="1">
              <a:off x="2835" y="880"/>
              <a:ext cx="0" cy="15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51" name="Line 51"/>
            <p:cNvSpPr>
              <a:spLocks noChangeShapeType="1"/>
            </p:cNvSpPr>
            <p:nvPr/>
          </p:nvSpPr>
          <p:spPr bwMode="auto">
            <a:xfrm flipV="1">
              <a:off x="2940" y="881"/>
              <a:ext cx="0" cy="15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52" name="AutoShape 52"/>
            <p:cNvSpPr>
              <a:spLocks noChangeArrowheads="1"/>
            </p:cNvSpPr>
            <p:nvPr/>
          </p:nvSpPr>
          <p:spPr bwMode="auto">
            <a:xfrm rot="5400000">
              <a:off x="2709" y="572"/>
              <a:ext cx="364" cy="424"/>
            </a:xfrm>
            <a:prstGeom prst="moon">
              <a:avLst>
                <a:gd name="adj" fmla="val 74176"/>
              </a:avLst>
            </a:prstGeom>
            <a:noFill/>
            <a:ln w="28575">
              <a:solidFill>
                <a:srgbClr val="0000FF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453" name="Line 53"/>
            <p:cNvSpPr>
              <a:spLocks noChangeShapeType="1"/>
            </p:cNvSpPr>
            <p:nvPr/>
          </p:nvSpPr>
          <p:spPr bwMode="auto">
            <a:xfrm flipV="1">
              <a:off x="2891" y="471"/>
              <a:ext cx="0" cy="131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54" name="Line 54"/>
            <p:cNvSpPr>
              <a:spLocks noChangeShapeType="1"/>
            </p:cNvSpPr>
            <p:nvPr/>
          </p:nvSpPr>
          <p:spPr bwMode="auto">
            <a:xfrm>
              <a:off x="1886" y="1031"/>
              <a:ext cx="0" cy="119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55" name="Line 55"/>
            <p:cNvSpPr>
              <a:spLocks noChangeShapeType="1"/>
            </p:cNvSpPr>
            <p:nvPr/>
          </p:nvSpPr>
          <p:spPr bwMode="auto">
            <a:xfrm>
              <a:off x="3885" y="1025"/>
              <a:ext cx="0" cy="119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56" name="Text Box 56"/>
            <p:cNvSpPr txBox="1">
              <a:spLocks noChangeArrowheads="1"/>
            </p:cNvSpPr>
            <p:nvPr/>
          </p:nvSpPr>
          <p:spPr bwMode="auto">
            <a:xfrm>
              <a:off x="2933" y="345"/>
              <a:ext cx="286" cy="3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solidFill>
                    <a:srgbClr val="0000FF"/>
                  </a:solidFill>
                </a:rPr>
                <a:t>Y</a:t>
              </a:r>
            </a:p>
          </p:txBody>
        </p:sp>
      </p:grpSp>
      <p:sp>
        <p:nvSpPr>
          <p:cNvPr id="61446" name="Text Box 57"/>
          <p:cNvSpPr txBox="1">
            <a:spLocks noChangeArrowheads="1"/>
          </p:cNvSpPr>
          <p:nvPr/>
        </p:nvSpPr>
        <p:spPr bwMode="auto">
          <a:xfrm>
            <a:off x="4800600" y="2387199"/>
            <a:ext cx="74612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1400" dirty="0">
                <a:solidFill>
                  <a:srgbClr val="FF0000"/>
                </a:solidFill>
              </a:rPr>
              <a:t>1#</a:t>
            </a:r>
          </a:p>
        </p:txBody>
      </p:sp>
      <p:sp>
        <p:nvSpPr>
          <p:cNvPr id="61447" name="Text Box 58"/>
          <p:cNvSpPr txBox="1">
            <a:spLocks noChangeArrowheads="1"/>
          </p:cNvSpPr>
          <p:nvPr/>
        </p:nvSpPr>
        <p:spPr bwMode="auto">
          <a:xfrm>
            <a:off x="7788275" y="2406249"/>
            <a:ext cx="74612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1400" dirty="0">
                <a:solidFill>
                  <a:srgbClr val="FF0000"/>
                </a:solidFill>
              </a:rPr>
              <a:t>2#</a:t>
            </a:r>
          </a:p>
        </p:txBody>
      </p:sp>
      <p:sp>
        <p:nvSpPr>
          <p:cNvPr id="59" name="矩形 58"/>
          <p:cNvSpPr/>
          <p:nvPr/>
        </p:nvSpPr>
        <p:spPr>
          <a:xfrm>
            <a:off x="0" y="0"/>
            <a:ext cx="349967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：中规模标准构件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0" name="Rectangle 14"/>
          <p:cNvSpPr>
            <a:spLocks noChangeArrowheads="1"/>
          </p:cNvSpPr>
          <p:nvPr/>
        </p:nvSpPr>
        <p:spPr bwMode="auto">
          <a:xfrm>
            <a:off x="152400" y="590550"/>
            <a:ext cx="8610600" cy="29700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数据选择器</a:t>
            </a:r>
            <a:r>
              <a:rPr lang="en-US" altLang="zh-CN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74LS153:</a:t>
            </a:r>
          </a:p>
          <a:p>
            <a:pPr marL="0" lvl="1">
              <a:lnSpc>
                <a:spcPct val="150000"/>
              </a:lnSpc>
            </a:pPr>
            <a:r>
              <a:rPr lang="zh-CN" altLang="en-US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：将</a:t>
            </a:r>
            <a:r>
              <a:rPr lang="en-US" altLang="zh-CN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74LS153</a:t>
            </a:r>
          </a:p>
          <a:p>
            <a:pPr marL="0" lvl="1">
              <a:lnSpc>
                <a:spcPct val="150000"/>
              </a:lnSpc>
            </a:pPr>
            <a:r>
              <a:rPr lang="zh-CN" altLang="en-US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连接成八选一</a:t>
            </a:r>
            <a:endParaRPr lang="en-US" altLang="zh-CN" sz="1400" b="1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 smtClean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5029200" y="4552950"/>
            <a:ext cx="609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图 </a:t>
            </a:r>
            <a:r>
              <a:rPr lang="en-US" altLang="zh-CN" sz="1600" dirty="0" smtClean="0">
                <a:latin typeface="微软雅黑" pitchFamily="34" charset="-122"/>
                <a:ea typeface="微软雅黑" pitchFamily="34" charset="-122"/>
              </a:rPr>
              <a:t>2</a:t>
            </a:r>
            <a:endParaRPr lang="zh-CN" altLang="en-US" sz="16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2" name="Text Box 57"/>
          <p:cNvSpPr txBox="1">
            <a:spLocks noChangeArrowheads="1"/>
          </p:cNvSpPr>
          <p:nvPr/>
        </p:nvSpPr>
        <p:spPr bwMode="auto">
          <a:xfrm>
            <a:off x="2339529" y="4629150"/>
            <a:ext cx="3048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1600" b="1" dirty="0" smtClean="0">
                <a:solidFill>
                  <a:srgbClr val="FF0000"/>
                </a:solidFill>
              </a:rPr>
              <a:t>1</a:t>
            </a:r>
            <a:endParaRPr lang="en-US" altLang="zh-CN" sz="1600" b="1" dirty="0">
              <a:solidFill>
                <a:srgbClr val="FF0000"/>
              </a:solidFill>
            </a:endParaRPr>
          </a:p>
        </p:txBody>
      </p:sp>
      <p:sp>
        <p:nvSpPr>
          <p:cNvPr id="63" name="Text Box 57"/>
          <p:cNvSpPr txBox="1">
            <a:spLocks noChangeArrowheads="1"/>
          </p:cNvSpPr>
          <p:nvPr/>
        </p:nvSpPr>
        <p:spPr bwMode="auto">
          <a:xfrm>
            <a:off x="1066800" y="1885950"/>
            <a:ext cx="3048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1600" b="1" dirty="0" smtClean="0">
                <a:solidFill>
                  <a:srgbClr val="FF0000"/>
                </a:solidFill>
              </a:rPr>
              <a:t>0</a:t>
            </a:r>
            <a:endParaRPr lang="en-US" altLang="zh-CN" sz="1600" b="1" dirty="0">
              <a:solidFill>
                <a:srgbClr val="FF0000"/>
              </a:solidFill>
            </a:endParaRPr>
          </a:p>
        </p:txBody>
      </p:sp>
      <p:sp>
        <p:nvSpPr>
          <p:cNvPr id="64" name="Text Box 57"/>
          <p:cNvSpPr txBox="1">
            <a:spLocks noChangeArrowheads="1"/>
          </p:cNvSpPr>
          <p:nvPr/>
        </p:nvSpPr>
        <p:spPr bwMode="auto">
          <a:xfrm>
            <a:off x="1066800" y="2571750"/>
            <a:ext cx="3048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1600" b="1" dirty="0" smtClean="0">
                <a:solidFill>
                  <a:srgbClr val="FF0000"/>
                </a:solidFill>
              </a:rPr>
              <a:t>0</a:t>
            </a:r>
            <a:endParaRPr lang="en-US" altLang="zh-CN" sz="1600" b="1" dirty="0">
              <a:solidFill>
                <a:srgbClr val="FF0000"/>
              </a:solidFill>
            </a:endParaRPr>
          </a:p>
        </p:txBody>
      </p:sp>
      <p:sp>
        <p:nvSpPr>
          <p:cNvPr id="65" name="Text Box 57"/>
          <p:cNvSpPr txBox="1">
            <a:spLocks noChangeArrowheads="1"/>
          </p:cNvSpPr>
          <p:nvPr/>
        </p:nvSpPr>
        <p:spPr bwMode="auto">
          <a:xfrm>
            <a:off x="5638800" y="3943350"/>
            <a:ext cx="3048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1600" b="1" dirty="0" smtClean="0">
                <a:solidFill>
                  <a:srgbClr val="FF0000"/>
                </a:solidFill>
              </a:rPr>
              <a:t>0</a:t>
            </a:r>
            <a:endParaRPr lang="en-US" altLang="zh-CN" sz="1600" b="1" dirty="0">
              <a:solidFill>
                <a:srgbClr val="FF0000"/>
              </a:solidFill>
            </a:endParaRPr>
          </a:p>
        </p:txBody>
      </p:sp>
      <p:sp>
        <p:nvSpPr>
          <p:cNvPr id="66" name="Text Box 57"/>
          <p:cNvSpPr txBox="1">
            <a:spLocks noChangeArrowheads="1"/>
          </p:cNvSpPr>
          <p:nvPr/>
        </p:nvSpPr>
        <p:spPr bwMode="auto">
          <a:xfrm>
            <a:off x="3657600" y="1657350"/>
            <a:ext cx="457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1600" b="1" dirty="0" smtClean="0">
                <a:solidFill>
                  <a:srgbClr val="FF0000"/>
                </a:solidFill>
              </a:rPr>
              <a:t>=0</a:t>
            </a:r>
            <a:endParaRPr lang="en-US" altLang="zh-CN" sz="1600" b="1" dirty="0">
              <a:solidFill>
                <a:srgbClr val="FF0000"/>
              </a:solidFill>
            </a:endParaRPr>
          </a:p>
        </p:txBody>
      </p:sp>
      <p:sp>
        <p:nvSpPr>
          <p:cNvPr id="67" name="Text Box 57"/>
          <p:cNvSpPr txBox="1">
            <a:spLocks noChangeArrowheads="1"/>
          </p:cNvSpPr>
          <p:nvPr/>
        </p:nvSpPr>
        <p:spPr bwMode="auto">
          <a:xfrm>
            <a:off x="6781800" y="1657350"/>
            <a:ext cx="6858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1600" b="1" dirty="0" smtClean="0">
                <a:solidFill>
                  <a:srgbClr val="FF0000"/>
                </a:solidFill>
              </a:rPr>
              <a:t>=D</a:t>
            </a:r>
            <a:r>
              <a:rPr lang="en-US" altLang="zh-CN" sz="1600" b="1" baseline="-25000" dirty="0" smtClean="0">
                <a:solidFill>
                  <a:srgbClr val="FF0000"/>
                </a:solidFill>
              </a:rPr>
              <a:t>4</a:t>
            </a:r>
            <a:endParaRPr lang="en-US" altLang="zh-CN" sz="1600" b="1" baseline="-25000" dirty="0">
              <a:solidFill>
                <a:srgbClr val="FF0000"/>
              </a:solidFill>
            </a:endParaRPr>
          </a:p>
        </p:txBody>
      </p:sp>
      <p:sp>
        <p:nvSpPr>
          <p:cNvPr id="68" name="Text Box 57"/>
          <p:cNvSpPr txBox="1">
            <a:spLocks noChangeArrowheads="1"/>
          </p:cNvSpPr>
          <p:nvPr/>
        </p:nvSpPr>
        <p:spPr bwMode="auto">
          <a:xfrm>
            <a:off x="5486400" y="590550"/>
            <a:ext cx="6858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1600" b="1" dirty="0" smtClean="0">
                <a:solidFill>
                  <a:srgbClr val="FF0000"/>
                </a:solidFill>
              </a:rPr>
              <a:t>=D</a:t>
            </a:r>
            <a:r>
              <a:rPr lang="en-US" altLang="zh-CN" sz="1600" b="1" baseline="-25000" dirty="0" smtClean="0">
                <a:solidFill>
                  <a:srgbClr val="FF0000"/>
                </a:solidFill>
              </a:rPr>
              <a:t>4</a:t>
            </a:r>
            <a:endParaRPr lang="en-US" altLang="zh-CN" sz="1600" b="1" baseline="-250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/>
      <p:bldP spid="63" grpId="0"/>
      <p:bldP spid="64" grpId="0"/>
      <p:bldP spid="65" grpId="0"/>
      <p:bldP spid="66" grpId="0"/>
      <p:bldP spid="67" grpId="0"/>
      <p:bldP spid="6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349967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：中规模标准构件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ectangle 14"/>
          <p:cNvSpPr>
            <a:spLocks noChangeArrowheads="1"/>
          </p:cNvSpPr>
          <p:nvPr/>
        </p:nvSpPr>
        <p:spPr bwMode="auto">
          <a:xfrm>
            <a:off x="152400" y="590550"/>
            <a:ext cx="8610600" cy="22313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1600" b="1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数据选择器构成组合逻辑电路：</a:t>
            </a:r>
            <a:endParaRPr lang="en-US" altLang="zh-CN" sz="1600" b="1" dirty="0" smtClean="0">
              <a:solidFill>
                <a:schemeClr val="accent6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 smtClean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Text Box 7"/>
          <p:cNvSpPr txBox="1">
            <a:spLocks noChangeArrowheads="1"/>
          </p:cNvSpPr>
          <p:nvPr/>
        </p:nvSpPr>
        <p:spPr bwMode="auto">
          <a:xfrm>
            <a:off x="228600" y="1123950"/>
            <a:ext cx="1685077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kumimoji="1" lang="zh-CN" altLang="en-US" sz="1400" dirty="0">
                <a:solidFill>
                  <a:schemeClr val="accent6"/>
                </a:solidFill>
                <a:latin typeface="Tahoma" pitchFamily="34" charset="0"/>
                <a:ea typeface="黑体" pitchFamily="49" charset="-122"/>
              </a:rPr>
              <a:t>四选一数据选择器</a:t>
            </a:r>
            <a:r>
              <a:rPr kumimoji="1" lang="en-US" altLang="zh-CN" sz="1400" dirty="0">
                <a:solidFill>
                  <a:schemeClr val="accent6"/>
                </a:solidFill>
                <a:latin typeface="Tahoma" pitchFamily="34" charset="0"/>
                <a:ea typeface="黑体" pitchFamily="49" charset="-122"/>
              </a:rPr>
              <a:t>:</a:t>
            </a:r>
          </a:p>
        </p:txBody>
      </p:sp>
      <p:graphicFrame>
        <p:nvGraphicFramePr>
          <p:cNvPr id="68612" name="Object 9"/>
          <p:cNvGraphicFramePr>
            <a:graphicFrameLocks noChangeAspect="1"/>
          </p:cNvGraphicFramePr>
          <p:nvPr/>
        </p:nvGraphicFramePr>
        <p:xfrm>
          <a:off x="1905000" y="1123950"/>
          <a:ext cx="4321840" cy="304800"/>
        </p:xfrm>
        <a:graphic>
          <a:graphicData uri="http://schemas.openxmlformats.org/presentationml/2006/ole">
            <p:oleObj spid="_x0000_s92162" name="Equation" r:id="rId3" imgW="2692080" imgH="253800" progId="Equation.DSMT4">
              <p:embed/>
            </p:oleObj>
          </a:graphicData>
        </a:graphic>
      </p:graphicFrame>
      <p:grpSp>
        <p:nvGrpSpPr>
          <p:cNvPr id="3" name="Group 16"/>
          <p:cNvGrpSpPr>
            <a:grpSpLocks/>
          </p:cNvGrpSpPr>
          <p:nvPr/>
        </p:nvGrpSpPr>
        <p:grpSpPr bwMode="auto">
          <a:xfrm>
            <a:off x="2922588" y="1581150"/>
            <a:ext cx="1893888" cy="1371600"/>
            <a:chOff x="1968" y="3264"/>
            <a:chExt cx="1193" cy="864"/>
          </a:xfrm>
        </p:grpSpPr>
        <p:sp>
          <p:nvSpPr>
            <p:cNvPr id="44" name="Text Box 17"/>
            <p:cNvSpPr txBox="1">
              <a:spLocks noChangeArrowheads="1"/>
            </p:cNvSpPr>
            <p:nvPr/>
          </p:nvSpPr>
          <p:spPr bwMode="auto">
            <a:xfrm>
              <a:off x="2348" y="3600"/>
              <a:ext cx="676" cy="192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kumimoji="1" lang="zh-CN" altLang="en-US" sz="1400" dirty="0">
                  <a:latin typeface="Tahoma" pitchFamily="34" charset="0"/>
                  <a:ea typeface="黑体" pitchFamily="49" charset="-122"/>
                </a:rPr>
                <a:t>多路选择器</a:t>
              </a:r>
            </a:p>
          </p:txBody>
        </p:sp>
        <p:sp>
          <p:nvSpPr>
            <p:cNvPr id="45" name="Text Box 18"/>
            <p:cNvSpPr txBox="1">
              <a:spLocks noChangeArrowheads="1"/>
            </p:cNvSpPr>
            <p:nvPr/>
          </p:nvSpPr>
          <p:spPr bwMode="auto">
            <a:xfrm>
              <a:off x="2239" y="3792"/>
              <a:ext cx="922" cy="194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/>
              <a:r>
                <a:rPr kumimoji="1" lang="en-US" altLang="zh-CN" sz="1400" i="1" dirty="0">
                  <a:latin typeface="Tahoma" pitchFamily="34" charset="0"/>
                </a:rPr>
                <a:t>D</a:t>
              </a:r>
              <a:r>
                <a:rPr kumimoji="1" lang="en-US" altLang="zh-CN" sz="1400" i="1" baseline="-25000" dirty="0">
                  <a:latin typeface="Tahoma" pitchFamily="34" charset="0"/>
                </a:rPr>
                <a:t>0  </a:t>
              </a:r>
              <a:r>
                <a:rPr kumimoji="1" lang="en-US" altLang="zh-CN" sz="1400" i="1" dirty="0">
                  <a:latin typeface="Tahoma" pitchFamily="34" charset="0"/>
                </a:rPr>
                <a:t>D</a:t>
              </a:r>
              <a:r>
                <a:rPr kumimoji="1" lang="en-US" altLang="zh-CN" sz="1400" i="1" baseline="-25000" dirty="0">
                  <a:latin typeface="Tahoma" pitchFamily="34" charset="0"/>
                </a:rPr>
                <a:t>1  </a:t>
              </a:r>
              <a:r>
                <a:rPr kumimoji="1" lang="en-US" altLang="zh-CN" sz="1400" i="1" baseline="-25000" dirty="0" smtClean="0">
                  <a:latin typeface="Tahoma" pitchFamily="34" charset="0"/>
                </a:rPr>
                <a:t>  </a:t>
              </a:r>
              <a:r>
                <a:rPr kumimoji="1" lang="en-US" altLang="zh-CN" sz="1400" i="1" dirty="0" smtClean="0">
                  <a:latin typeface="Tahoma" pitchFamily="34" charset="0"/>
                </a:rPr>
                <a:t>D</a:t>
              </a:r>
              <a:r>
                <a:rPr kumimoji="1" lang="en-US" altLang="zh-CN" sz="1400" i="1" baseline="-25000" dirty="0" smtClean="0">
                  <a:latin typeface="Tahoma" pitchFamily="34" charset="0"/>
                </a:rPr>
                <a:t>2   </a:t>
              </a:r>
              <a:r>
                <a:rPr kumimoji="1" lang="en-US" altLang="zh-CN" sz="1400" i="1" dirty="0" smtClean="0">
                  <a:latin typeface="Tahoma" pitchFamily="34" charset="0"/>
                </a:rPr>
                <a:t>D</a:t>
              </a:r>
              <a:r>
                <a:rPr kumimoji="1" lang="en-US" altLang="zh-CN" sz="1400" i="1" baseline="-25000" dirty="0" smtClean="0">
                  <a:latin typeface="Tahoma" pitchFamily="34" charset="0"/>
                </a:rPr>
                <a:t>3 </a:t>
              </a:r>
              <a:endParaRPr kumimoji="1" lang="en-US" altLang="zh-CN" sz="1400" i="1" baseline="-25000" dirty="0">
                <a:latin typeface="Tahoma" pitchFamily="34" charset="0"/>
              </a:endParaRPr>
            </a:p>
          </p:txBody>
        </p:sp>
        <p:sp>
          <p:nvSpPr>
            <p:cNvPr id="46" name="Rectangle 19"/>
            <p:cNvSpPr>
              <a:spLocks noChangeArrowheads="1"/>
            </p:cNvSpPr>
            <p:nvPr/>
          </p:nvSpPr>
          <p:spPr bwMode="auto">
            <a:xfrm>
              <a:off x="2160" y="3552"/>
              <a:ext cx="960" cy="432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" name="Line 20"/>
            <p:cNvSpPr>
              <a:spLocks noChangeShapeType="1"/>
            </p:cNvSpPr>
            <p:nvPr/>
          </p:nvSpPr>
          <p:spPr bwMode="auto">
            <a:xfrm>
              <a:off x="2352" y="3984"/>
              <a:ext cx="0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8" name="Line 21"/>
            <p:cNvSpPr>
              <a:spLocks noChangeShapeType="1"/>
            </p:cNvSpPr>
            <p:nvPr/>
          </p:nvSpPr>
          <p:spPr bwMode="auto">
            <a:xfrm>
              <a:off x="2544" y="3984"/>
              <a:ext cx="0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9" name="Line 22"/>
            <p:cNvSpPr>
              <a:spLocks noChangeShapeType="1"/>
            </p:cNvSpPr>
            <p:nvPr/>
          </p:nvSpPr>
          <p:spPr bwMode="auto">
            <a:xfrm>
              <a:off x="2736" y="3984"/>
              <a:ext cx="0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0" name="Line 23"/>
            <p:cNvSpPr>
              <a:spLocks noChangeShapeType="1"/>
            </p:cNvSpPr>
            <p:nvPr/>
          </p:nvSpPr>
          <p:spPr bwMode="auto">
            <a:xfrm>
              <a:off x="2928" y="3984"/>
              <a:ext cx="0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1" name="Line 24"/>
            <p:cNvSpPr>
              <a:spLocks noChangeShapeType="1"/>
            </p:cNvSpPr>
            <p:nvPr/>
          </p:nvSpPr>
          <p:spPr bwMode="auto">
            <a:xfrm>
              <a:off x="2640" y="3360"/>
              <a:ext cx="0" cy="19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2" name="Text Box 25"/>
            <p:cNvSpPr txBox="1">
              <a:spLocks noChangeArrowheads="1"/>
            </p:cNvSpPr>
            <p:nvPr/>
          </p:nvSpPr>
          <p:spPr bwMode="auto">
            <a:xfrm>
              <a:off x="2688" y="3264"/>
              <a:ext cx="175" cy="1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kumimoji="1" lang="en-US" altLang="zh-CN" sz="1400" i="1" dirty="0">
                  <a:latin typeface="Tahoma" pitchFamily="34" charset="0"/>
                  <a:ea typeface="黑体" pitchFamily="49" charset="-122"/>
                </a:rPr>
                <a:t>F</a:t>
              </a:r>
            </a:p>
          </p:txBody>
        </p:sp>
        <p:sp>
          <p:nvSpPr>
            <p:cNvPr id="53" name="Line 26"/>
            <p:cNvSpPr>
              <a:spLocks noChangeShapeType="1"/>
            </p:cNvSpPr>
            <p:nvPr/>
          </p:nvSpPr>
          <p:spPr bwMode="auto">
            <a:xfrm>
              <a:off x="1968" y="3648"/>
              <a:ext cx="19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4" name="Line 27"/>
            <p:cNvSpPr>
              <a:spLocks noChangeShapeType="1"/>
            </p:cNvSpPr>
            <p:nvPr/>
          </p:nvSpPr>
          <p:spPr bwMode="auto">
            <a:xfrm>
              <a:off x="1968" y="3888"/>
              <a:ext cx="19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5" name="Text Box 28"/>
            <p:cNvSpPr txBox="1">
              <a:spLocks noChangeArrowheads="1"/>
            </p:cNvSpPr>
            <p:nvPr/>
          </p:nvSpPr>
          <p:spPr bwMode="auto">
            <a:xfrm>
              <a:off x="2112" y="3792"/>
              <a:ext cx="222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kumimoji="1" lang="en-US" altLang="zh-CN" sz="1400" i="1" dirty="0">
                  <a:latin typeface="Tahoma" pitchFamily="34" charset="0"/>
                </a:rPr>
                <a:t>A</a:t>
              </a:r>
              <a:r>
                <a:rPr kumimoji="1" lang="en-US" altLang="zh-CN" sz="1400" i="1" baseline="-25000" dirty="0">
                  <a:latin typeface="Tahoma" pitchFamily="34" charset="0"/>
                </a:rPr>
                <a:t>1</a:t>
              </a:r>
            </a:p>
          </p:txBody>
        </p:sp>
        <p:sp>
          <p:nvSpPr>
            <p:cNvPr id="56" name="Text Box 29"/>
            <p:cNvSpPr txBox="1">
              <a:spLocks noChangeArrowheads="1"/>
            </p:cNvSpPr>
            <p:nvPr/>
          </p:nvSpPr>
          <p:spPr bwMode="auto">
            <a:xfrm>
              <a:off x="2112" y="3552"/>
              <a:ext cx="225" cy="1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kumimoji="1" lang="en-US" altLang="zh-CN" sz="1400" i="1" dirty="0">
                  <a:latin typeface="Tahoma" pitchFamily="34" charset="0"/>
                </a:rPr>
                <a:t>A</a:t>
              </a:r>
              <a:r>
                <a:rPr kumimoji="1" lang="en-US" altLang="zh-CN" sz="1400" i="1" baseline="-25000" dirty="0">
                  <a:latin typeface="Tahoma" pitchFamily="34" charset="0"/>
                </a:rPr>
                <a:t>0</a:t>
              </a:r>
            </a:p>
          </p:txBody>
        </p:sp>
      </p:grpSp>
      <p:sp>
        <p:nvSpPr>
          <p:cNvPr id="64" name="TextBox 63"/>
          <p:cNvSpPr txBox="1"/>
          <p:nvPr/>
        </p:nvSpPr>
        <p:spPr>
          <a:xfrm>
            <a:off x="3733800" y="3105150"/>
            <a:ext cx="609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图 </a:t>
            </a:r>
            <a:r>
              <a:rPr lang="en-US" altLang="zh-CN" sz="1600" dirty="0" smtClean="0">
                <a:latin typeface="微软雅黑" pitchFamily="34" charset="-122"/>
                <a:ea typeface="微软雅黑" pitchFamily="34" charset="-122"/>
              </a:rPr>
              <a:t>3</a:t>
            </a:r>
            <a:endParaRPr lang="zh-CN" altLang="en-US" sz="1600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5489638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349967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：中规模标准构件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ectangle 14"/>
          <p:cNvSpPr>
            <a:spLocks noChangeArrowheads="1"/>
          </p:cNvSpPr>
          <p:nvPr/>
        </p:nvSpPr>
        <p:spPr bwMode="auto">
          <a:xfrm>
            <a:off x="152400" y="590550"/>
            <a:ext cx="8610600" cy="22313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1600" b="1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数据选择器构成组合逻辑电路：</a:t>
            </a:r>
            <a:endParaRPr lang="en-US" altLang="zh-CN" sz="1600" b="1" dirty="0" smtClean="0">
              <a:solidFill>
                <a:schemeClr val="accent6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 smtClean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Text Box 7"/>
          <p:cNvSpPr txBox="1">
            <a:spLocks noChangeArrowheads="1"/>
          </p:cNvSpPr>
          <p:nvPr/>
        </p:nvSpPr>
        <p:spPr bwMode="auto">
          <a:xfrm>
            <a:off x="228600" y="1123950"/>
            <a:ext cx="1685077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kumimoji="1" lang="zh-CN" altLang="en-US" sz="1400" dirty="0">
                <a:solidFill>
                  <a:schemeClr val="accent6"/>
                </a:solidFill>
                <a:latin typeface="Tahoma" pitchFamily="34" charset="0"/>
                <a:ea typeface="黑体" pitchFamily="49" charset="-122"/>
              </a:rPr>
              <a:t>四选一数据选择器</a:t>
            </a:r>
            <a:r>
              <a:rPr kumimoji="1" lang="en-US" altLang="zh-CN" sz="1400" dirty="0">
                <a:solidFill>
                  <a:schemeClr val="accent6"/>
                </a:solidFill>
                <a:latin typeface="Tahoma" pitchFamily="34" charset="0"/>
                <a:ea typeface="黑体" pitchFamily="49" charset="-122"/>
              </a:rPr>
              <a:t>:</a:t>
            </a:r>
          </a:p>
        </p:txBody>
      </p:sp>
      <p:graphicFrame>
        <p:nvGraphicFramePr>
          <p:cNvPr id="68612" name="Object 9"/>
          <p:cNvGraphicFramePr>
            <a:graphicFrameLocks noChangeAspect="1"/>
          </p:cNvGraphicFramePr>
          <p:nvPr/>
        </p:nvGraphicFramePr>
        <p:xfrm>
          <a:off x="1905000" y="1123950"/>
          <a:ext cx="4321840" cy="304800"/>
        </p:xfrm>
        <a:graphic>
          <a:graphicData uri="http://schemas.openxmlformats.org/presentationml/2006/ole">
            <p:oleObj spid="_x0000_s93186" name="Equation" r:id="rId3" imgW="2692080" imgH="253800" progId="Equation.DSMT4">
              <p:embed/>
            </p:oleObj>
          </a:graphicData>
        </a:graphic>
      </p:graphicFrame>
      <p:sp>
        <p:nvSpPr>
          <p:cNvPr id="52" name="Text Box 25"/>
          <p:cNvSpPr txBox="1">
            <a:spLocks noChangeArrowheads="1"/>
          </p:cNvSpPr>
          <p:nvPr/>
        </p:nvSpPr>
        <p:spPr bwMode="auto">
          <a:xfrm>
            <a:off x="4065588" y="1581150"/>
            <a:ext cx="277813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kumimoji="1" lang="en-US" altLang="zh-CN" sz="1400" i="1" dirty="0">
                <a:latin typeface="Tahoma" pitchFamily="34" charset="0"/>
                <a:ea typeface="黑体" pitchFamily="49" charset="-122"/>
              </a:rPr>
              <a:t>F</a:t>
            </a:r>
          </a:p>
        </p:txBody>
      </p:sp>
      <p:grpSp>
        <p:nvGrpSpPr>
          <p:cNvPr id="28" name="组合 27"/>
          <p:cNvGrpSpPr/>
          <p:nvPr/>
        </p:nvGrpSpPr>
        <p:grpSpPr>
          <a:xfrm>
            <a:off x="2922588" y="1733550"/>
            <a:ext cx="1893887" cy="1219200"/>
            <a:chOff x="2922588" y="1733550"/>
            <a:chExt cx="1893887" cy="1219200"/>
          </a:xfrm>
        </p:grpSpPr>
        <p:sp>
          <p:nvSpPr>
            <p:cNvPr id="44" name="Text Box 17"/>
            <p:cNvSpPr txBox="1">
              <a:spLocks noChangeArrowheads="1"/>
            </p:cNvSpPr>
            <p:nvPr/>
          </p:nvSpPr>
          <p:spPr bwMode="auto">
            <a:xfrm>
              <a:off x="3525838" y="2114550"/>
              <a:ext cx="1073150" cy="304800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kumimoji="1" lang="zh-CN" altLang="en-US" sz="1400" dirty="0">
                  <a:latin typeface="Tahoma" pitchFamily="34" charset="0"/>
                  <a:ea typeface="黑体" pitchFamily="49" charset="-122"/>
                </a:rPr>
                <a:t>多路选择器</a:t>
              </a:r>
            </a:p>
          </p:txBody>
        </p:sp>
        <p:sp>
          <p:nvSpPr>
            <p:cNvPr id="45" name="Text Box 18"/>
            <p:cNvSpPr txBox="1">
              <a:spLocks noChangeArrowheads="1"/>
            </p:cNvSpPr>
            <p:nvPr/>
          </p:nvSpPr>
          <p:spPr bwMode="auto">
            <a:xfrm>
              <a:off x="3352800" y="2419350"/>
              <a:ext cx="1463675" cy="307975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/>
              <a:r>
                <a:rPr kumimoji="1" lang="en-US" altLang="zh-CN" sz="1400" i="1" dirty="0">
                  <a:latin typeface="Tahoma" pitchFamily="34" charset="0"/>
                </a:rPr>
                <a:t>D</a:t>
              </a:r>
              <a:r>
                <a:rPr kumimoji="1" lang="en-US" altLang="zh-CN" sz="1400" i="1" baseline="-25000" dirty="0">
                  <a:latin typeface="Tahoma" pitchFamily="34" charset="0"/>
                </a:rPr>
                <a:t>0  </a:t>
              </a:r>
              <a:r>
                <a:rPr kumimoji="1" lang="en-US" altLang="zh-CN" sz="1400" i="1" dirty="0">
                  <a:latin typeface="Tahoma" pitchFamily="34" charset="0"/>
                </a:rPr>
                <a:t>D</a:t>
              </a:r>
              <a:r>
                <a:rPr kumimoji="1" lang="en-US" altLang="zh-CN" sz="1400" i="1" baseline="-25000" dirty="0">
                  <a:latin typeface="Tahoma" pitchFamily="34" charset="0"/>
                </a:rPr>
                <a:t>1  </a:t>
              </a:r>
              <a:r>
                <a:rPr kumimoji="1" lang="en-US" altLang="zh-CN" sz="1400" i="1" baseline="-25000" dirty="0" smtClean="0">
                  <a:latin typeface="Tahoma" pitchFamily="34" charset="0"/>
                </a:rPr>
                <a:t>  </a:t>
              </a:r>
              <a:r>
                <a:rPr kumimoji="1" lang="en-US" altLang="zh-CN" sz="1400" i="1" dirty="0" smtClean="0">
                  <a:latin typeface="Tahoma" pitchFamily="34" charset="0"/>
                </a:rPr>
                <a:t>D</a:t>
              </a:r>
              <a:r>
                <a:rPr kumimoji="1" lang="en-US" altLang="zh-CN" sz="1400" i="1" baseline="-25000" dirty="0" smtClean="0">
                  <a:latin typeface="Tahoma" pitchFamily="34" charset="0"/>
                </a:rPr>
                <a:t>2   </a:t>
              </a:r>
              <a:r>
                <a:rPr kumimoji="1" lang="en-US" altLang="zh-CN" sz="1400" i="1" dirty="0" smtClean="0">
                  <a:latin typeface="Tahoma" pitchFamily="34" charset="0"/>
                </a:rPr>
                <a:t>D</a:t>
              </a:r>
              <a:r>
                <a:rPr kumimoji="1" lang="en-US" altLang="zh-CN" sz="1400" i="1" baseline="-25000" dirty="0" smtClean="0">
                  <a:latin typeface="Tahoma" pitchFamily="34" charset="0"/>
                </a:rPr>
                <a:t>3 </a:t>
              </a:r>
              <a:endParaRPr kumimoji="1" lang="en-US" altLang="zh-CN" sz="1400" i="1" baseline="-25000" dirty="0">
                <a:latin typeface="Tahoma" pitchFamily="34" charset="0"/>
              </a:endParaRPr>
            </a:p>
          </p:txBody>
        </p:sp>
        <p:sp>
          <p:nvSpPr>
            <p:cNvPr id="46" name="Rectangle 19"/>
            <p:cNvSpPr>
              <a:spLocks noChangeArrowheads="1"/>
            </p:cNvSpPr>
            <p:nvPr/>
          </p:nvSpPr>
          <p:spPr bwMode="auto">
            <a:xfrm>
              <a:off x="3227388" y="2038350"/>
              <a:ext cx="1524000" cy="68580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" name="Line 20"/>
            <p:cNvSpPr>
              <a:spLocks noChangeShapeType="1"/>
            </p:cNvSpPr>
            <p:nvPr/>
          </p:nvSpPr>
          <p:spPr bwMode="auto">
            <a:xfrm>
              <a:off x="3532188" y="2724150"/>
              <a:ext cx="0" cy="2286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8" name="Line 21"/>
            <p:cNvSpPr>
              <a:spLocks noChangeShapeType="1"/>
            </p:cNvSpPr>
            <p:nvPr/>
          </p:nvSpPr>
          <p:spPr bwMode="auto">
            <a:xfrm>
              <a:off x="3836988" y="2724150"/>
              <a:ext cx="0" cy="2286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9" name="Line 22"/>
            <p:cNvSpPr>
              <a:spLocks noChangeShapeType="1"/>
            </p:cNvSpPr>
            <p:nvPr/>
          </p:nvSpPr>
          <p:spPr bwMode="auto">
            <a:xfrm>
              <a:off x="4141788" y="2724150"/>
              <a:ext cx="0" cy="2286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0" name="Line 23"/>
            <p:cNvSpPr>
              <a:spLocks noChangeShapeType="1"/>
            </p:cNvSpPr>
            <p:nvPr/>
          </p:nvSpPr>
          <p:spPr bwMode="auto">
            <a:xfrm>
              <a:off x="4446588" y="2724150"/>
              <a:ext cx="0" cy="2286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1" name="Line 24"/>
            <p:cNvSpPr>
              <a:spLocks noChangeShapeType="1"/>
            </p:cNvSpPr>
            <p:nvPr/>
          </p:nvSpPr>
          <p:spPr bwMode="auto">
            <a:xfrm>
              <a:off x="3989388" y="1733550"/>
              <a:ext cx="0" cy="3048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3" name="Line 26"/>
            <p:cNvSpPr>
              <a:spLocks noChangeShapeType="1"/>
            </p:cNvSpPr>
            <p:nvPr/>
          </p:nvSpPr>
          <p:spPr bwMode="auto">
            <a:xfrm>
              <a:off x="2922588" y="2190750"/>
              <a:ext cx="3048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4" name="Line 27"/>
            <p:cNvSpPr>
              <a:spLocks noChangeShapeType="1"/>
            </p:cNvSpPr>
            <p:nvPr/>
          </p:nvSpPr>
          <p:spPr bwMode="auto">
            <a:xfrm>
              <a:off x="2922588" y="2571750"/>
              <a:ext cx="3048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5" name="Text Box 28"/>
            <p:cNvSpPr txBox="1">
              <a:spLocks noChangeArrowheads="1"/>
            </p:cNvSpPr>
            <p:nvPr/>
          </p:nvSpPr>
          <p:spPr bwMode="auto">
            <a:xfrm>
              <a:off x="3151188" y="2419350"/>
              <a:ext cx="352425" cy="304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kumimoji="1" lang="en-US" altLang="zh-CN" sz="1400" i="1" dirty="0">
                  <a:latin typeface="Tahoma" pitchFamily="34" charset="0"/>
                </a:rPr>
                <a:t>A</a:t>
              </a:r>
              <a:r>
                <a:rPr kumimoji="1" lang="en-US" altLang="zh-CN" sz="1400" i="1" baseline="-25000" dirty="0">
                  <a:latin typeface="Tahoma" pitchFamily="34" charset="0"/>
                </a:rPr>
                <a:t>1</a:t>
              </a:r>
            </a:p>
          </p:txBody>
        </p:sp>
        <p:sp>
          <p:nvSpPr>
            <p:cNvPr id="56" name="Text Box 29"/>
            <p:cNvSpPr txBox="1">
              <a:spLocks noChangeArrowheads="1"/>
            </p:cNvSpPr>
            <p:nvPr/>
          </p:nvSpPr>
          <p:spPr bwMode="auto">
            <a:xfrm>
              <a:off x="3151188" y="2038350"/>
              <a:ext cx="357188" cy="3079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kumimoji="1" lang="en-US" altLang="zh-CN" sz="1400" i="1" dirty="0">
                  <a:latin typeface="Tahoma" pitchFamily="34" charset="0"/>
                </a:rPr>
                <a:t>A</a:t>
              </a:r>
              <a:r>
                <a:rPr kumimoji="1" lang="en-US" altLang="zh-CN" sz="1400" i="1" baseline="-25000" dirty="0">
                  <a:latin typeface="Tahoma" pitchFamily="34" charset="0"/>
                </a:rPr>
                <a:t>0</a:t>
              </a:r>
            </a:p>
          </p:txBody>
        </p:sp>
      </p:grpSp>
      <p:sp>
        <p:nvSpPr>
          <p:cNvPr id="57" name="Text Box 30"/>
          <p:cNvSpPr txBox="1">
            <a:spLocks noChangeArrowheads="1"/>
          </p:cNvSpPr>
          <p:nvPr/>
        </p:nvSpPr>
        <p:spPr bwMode="auto">
          <a:xfrm>
            <a:off x="2590800" y="2022475"/>
            <a:ext cx="308098" cy="738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kumimoji="1" lang="en-US" altLang="zh-CN" sz="1400" b="1" dirty="0" smtClean="0">
                <a:solidFill>
                  <a:srgbClr val="FF0000"/>
                </a:solidFill>
                <a:latin typeface="Tahoma" pitchFamily="34" charset="0"/>
              </a:rPr>
              <a:t>B</a:t>
            </a:r>
          </a:p>
          <a:p>
            <a:pPr eaLnBrk="1" hangingPunct="1"/>
            <a:endParaRPr kumimoji="1" lang="en-US" altLang="zh-CN" sz="1400" b="1" dirty="0">
              <a:solidFill>
                <a:srgbClr val="FF0000"/>
              </a:solidFill>
              <a:latin typeface="Tahoma" pitchFamily="34" charset="0"/>
            </a:endParaRPr>
          </a:p>
          <a:p>
            <a:pPr eaLnBrk="1" hangingPunct="1"/>
            <a:r>
              <a:rPr kumimoji="1" lang="en-US" altLang="zh-CN" sz="1400" b="1" dirty="0" smtClean="0">
                <a:solidFill>
                  <a:srgbClr val="FF0000"/>
                </a:solidFill>
                <a:latin typeface="Tahoma" pitchFamily="34" charset="0"/>
              </a:rPr>
              <a:t>A</a:t>
            </a:r>
            <a:endParaRPr kumimoji="1" lang="en-US" altLang="zh-CN" sz="1400" b="1" dirty="0">
              <a:solidFill>
                <a:srgbClr val="FF0000"/>
              </a:solidFill>
              <a:latin typeface="Tahoma" pitchFamily="34" charset="0"/>
            </a:endParaRPr>
          </a:p>
        </p:txBody>
      </p:sp>
      <p:sp>
        <p:nvSpPr>
          <p:cNvPr id="58" name="Text Box 31"/>
          <p:cNvSpPr txBox="1">
            <a:spLocks noChangeArrowheads="1"/>
          </p:cNvSpPr>
          <p:nvPr/>
        </p:nvSpPr>
        <p:spPr bwMode="auto">
          <a:xfrm>
            <a:off x="3402013" y="2949575"/>
            <a:ext cx="298480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kumimoji="1" lang="en-US" altLang="zh-CN" sz="1400" b="1" dirty="0" smtClean="0">
                <a:solidFill>
                  <a:srgbClr val="FF0000"/>
                </a:solidFill>
                <a:latin typeface="Tahoma" pitchFamily="34" charset="0"/>
              </a:rPr>
              <a:t>0</a:t>
            </a:r>
            <a:endParaRPr kumimoji="1" lang="en-US" altLang="zh-CN" sz="1400" b="1" dirty="0">
              <a:solidFill>
                <a:srgbClr val="FF0000"/>
              </a:solidFill>
              <a:latin typeface="Tahoma" pitchFamily="34" charset="0"/>
            </a:endParaRPr>
          </a:p>
        </p:txBody>
      </p:sp>
      <p:sp>
        <p:nvSpPr>
          <p:cNvPr id="59" name="Text Box 32"/>
          <p:cNvSpPr txBox="1">
            <a:spLocks noChangeArrowheads="1"/>
          </p:cNvSpPr>
          <p:nvPr/>
        </p:nvSpPr>
        <p:spPr bwMode="auto">
          <a:xfrm>
            <a:off x="4273550" y="2988188"/>
            <a:ext cx="360996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kumimoji="1" lang="en-US" altLang="zh-CN" sz="1400" dirty="0" smtClean="0">
                <a:latin typeface="Tahoma" pitchFamily="34" charset="0"/>
              </a:rPr>
              <a:t> </a:t>
            </a:r>
            <a:r>
              <a:rPr kumimoji="1" lang="en-US" altLang="zh-CN" sz="1400" b="1" dirty="0" smtClean="0">
                <a:solidFill>
                  <a:srgbClr val="FF0000"/>
                </a:solidFill>
                <a:latin typeface="Tahoma" pitchFamily="34" charset="0"/>
              </a:rPr>
              <a:t>C</a:t>
            </a:r>
            <a:endParaRPr kumimoji="1" lang="en-US" altLang="zh-CN" sz="1400" b="1" dirty="0">
              <a:solidFill>
                <a:srgbClr val="FF0000"/>
              </a:solidFill>
              <a:latin typeface="Tahoma" pitchFamily="34" charset="0"/>
            </a:endParaRPr>
          </a:p>
        </p:txBody>
      </p:sp>
      <p:sp>
        <p:nvSpPr>
          <p:cNvPr id="60" name="Line 33"/>
          <p:cNvSpPr>
            <a:spLocks noChangeShapeType="1"/>
          </p:cNvSpPr>
          <p:nvPr/>
        </p:nvSpPr>
        <p:spPr bwMode="auto">
          <a:xfrm>
            <a:off x="4388677" y="3038988"/>
            <a:ext cx="152400" cy="0"/>
          </a:xfrm>
          <a:prstGeom prst="line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61" name="Text Box 34"/>
          <p:cNvSpPr txBox="1">
            <a:spLocks noChangeArrowheads="1"/>
          </p:cNvSpPr>
          <p:nvPr/>
        </p:nvSpPr>
        <p:spPr bwMode="auto">
          <a:xfrm>
            <a:off x="3684588" y="2936875"/>
            <a:ext cx="304892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kumimoji="1" lang="en-US" altLang="zh-CN" sz="1400" b="1" dirty="0" smtClean="0">
                <a:solidFill>
                  <a:srgbClr val="FF0000"/>
                </a:solidFill>
                <a:latin typeface="Tahoma" pitchFamily="34" charset="0"/>
              </a:rPr>
              <a:t>C</a:t>
            </a:r>
            <a:endParaRPr kumimoji="1" lang="en-US" altLang="zh-CN" sz="1400" b="1" dirty="0">
              <a:solidFill>
                <a:srgbClr val="FF0000"/>
              </a:solidFill>
              <a:latin typeface="Tahoma" pitchFamily="34" charset="0"/>
            </a:endParaRPr>
          </a:p>
        </p:txBody>
      </p:sp>
      <p:sp>
        <p:nvSpPr>
          <p:cNvPr id="62" name="Text Box 35"/>
          <p:cNvSpPr txBox="1">
            <a:spLocks noChangeArrowheads="1"/>
          </p:cNvSpPr>
          <p:nvPr/>
        </p:nvSpPr>
        <p:spPr bwMode="auto">
          <a:xfrm>
            <a:off x="3989388" y="2936875"/>
            <a:ext cx="298480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kumimoji="1" lang="en-US" altLang="zh-CN" sz="1400" b="1" dirty="0">
                <a:solidFill>
                  <a:srgbClr val="FF0000"/>
                </a:solidFill>
                <a:latin typeface="Tahoma" pitchFamily="34" charset="0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0" y="3333750"/>
            <a:ext cx="609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图 </a:t>
            </a:r>
            <a:r>
              <a:rPr lang="en-US" altLang="zh-CN" sz="1600" dirty="0" smtClean="0">
                <a:latin typeface="微软雅黑" pitchFamily="34" charset="-122"/>
                <a:ea typeface="微软雅黑" pitchFamily="34" charset="-122"/>
              </a:rPr>
              <a:t>3</a:t>
            </a:r>
            <a:endParaRPr lang="zh-CN" altLang="en-US" sz="1600" dirty="0"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93187" name="Object 9"/>
          <p:cNvGraphicFramePr>
            <a:graphicFrameLocks noChangeAspect="1"/>
          </p:cNvGraphicFramePr>
          <p:nvPr/>
        </p:nvGraphicFramePr>
        <p:xfrm>
          <a:off x="1295400" y="3867150"/>
          <a:ext cx="5280025" cy="260350"/>
        </p:xfrm>
        <a:graphic>
          <a:graphicData uri="http://schemas.openxmlformats.org/presentationml/2006/ole">
            <p:oleObj spid="_x0000_s93187" name="Equation" r:id="rId4" imgW="3288960" imgH="215640" progId="Equation.DSMT4">
              <p:embed/>
            </p:oleObj>
          </a:graphicData>
        </a:graphic>
      </p:graphicFrame>
    </p:spTree>
    <p:extLst>
      <p:ext uri="{BB962C8B-B14F-4D97-AF65-F5344CB8AC3E}">
        <p14:creationId xmlns="" xmlns:p14="http://schemas.microsoft.com/office/powerpoint/2010/main" val="548963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931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931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" grpId="0"/>
      <p:bldP spid="58" grpId="0"/>
      <p:bldP spid="59" grpId="0"/>
      <p:bldP spid="60" grpId="0" animBg="1"/>
      <p:bldP spid="61" grpId="0"/>
      <p:bldP spid="6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349967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：中规模标准构件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ectangle 14"/>
          <p:cNvSpPr>
            <a:spLocks noChangeArrowheads="1"/>
          </p:cNvSpPr>
          <p:nvPr/>
        </p:nvSpPr>
        <p:spPr bwMode="auto">
          <a:xfrm>
            <a:off x="152400" y="590550"/>
            <a:ext cx="8610600" cy="22313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1600" b="1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数据选择器构成组合逻辑电路：例</a:t>
            </a:r>
            <a:r>
              <a:rPr lang="en-US" altLang="zh-CN" sz="1600" b="1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2</a:t>
            </a:r>
          </a:p>
          <a:p>
            <a:pPr marL="0" lvl="1">
              <a:lnSpc>
                <a:spcPct val="150000"/>
              </a:lnSpc>
            </a:pPr>
            <a:endParaRPr lang="en-US" altLang="zh-CN" sz="1600" dirty="0" smtClean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ext Box 6"/>
          <p:cNvSpPr txBox="1">
            <a:spLocks noChangeArrowheads="1"/>
          </p:cNvSpPr>
          <p:nvPr/>
        </p:nvSpPr>
        <p:spPr bwMode="auto">
          <a:xfrm>
            <a:off x="304800" y="1047750"/>
            <a:ext cx="6324600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/>
            <a:r>
              <a:rPr kumimoji="1" lang="zh-CN" altLang="en-US" sz="1400" dirty="0" smtClean="0">
                <a:solidFill>
                  <a:schemeClr val="accent6"/>
                </a:solidFill>
                <a:latin typeface="Tahoma" pitchFamily="34" charset="0"/>
                <a:ea typeface="黑体" pitchFamily="49" charset="-122"/>
              </a:rPr>
              <a:t>用图</a:t>
            </a:r>
            <a:r>
              <a:rPr kumimoji="1" lang="en-US" altLang="zh-CN" sz="1400" dirty="0" smtClean="0">
                <a:solidFill>
                  <a:schemeClr val="accent6"/>
                </a:solidFill>
                <a:latin typeface="Tahoma" pitchFamily="34" charset="0"/>
                <a:ea typeface="黑体" pitchFamily="49" charset="-122"/>
              </a:rPr>
              <a:t>4</a:t>
            </a:r>
            <a:r>
              <a:rPr kumimoji="1" lang="zh-CN" altLang="en-US" sz="1400" dirty="0" smtClean="0">
                <a:solidFill>
                  <a:schemeClr val="accent6"/>
                </a:solidFill>
                <a:latin typeface="Tahoma" pitchFamily="34" charset="0"/>
                <a:ea typeface="黑体" pitchFamily="49" charset="-122"/>
              </a:rPr>
              <a:t>的四</a:t>
            </a:r>
            <a:r>
              <a:rPr kumimoji="1" lang="zh-CN" altLang="en-US" sz="1400" dirty="0">
                <a:solidFill>
                  <a:schemeClr val="accent6"/>
                </a:solidFill>
                <a:latin typeface="Tahoma" pitchFamily="34" charset="0"/>
                <a:ea typeface="黑体" pitchFamily="49" charset="-122"/>
              </a:rPr>
              <a:t>选一数据选择器实现以下逻辑函数</a:t>
            </a:r>
            <a:r>
              <a:rPr kumimoji="1" lang="zh-CN" altLang="en-US" sz="1400" dirty="0" smtClean="0">
                <a:solidFill>
                  <a:schemeClr val="accent6"/>
                </a:solidFill>
                <a:latin typeface="Tahoma" pitchFamily="34" charset="0"/>
                <a:ea typeface="黑体" pitchFamily="49" charset="-122"/>
              </a:rPr>
              <a:t>：</a:t>
            </a:r>
            <a:r>
              <a:rPr kumimoji="1" lang="en-US" altLang="zh-CN" sz="1400" i="1" dirty="0" smtClean="0">
                <a:solidFill>
                  <a:schemeClr val="accent6"/>
                </a:solidFill>
                <a:latin typeface="Tahoma" pitchFamily="34" charset="0"/>
                <a:ea typeface="黑体" pitchFamily="49" charset="-122"/>
              </a:rPr>
              <a:t>F(X,Y,Z</a:t>
            </a:r>
            <a:r>
              <a:rPr kumimoji="1" lang="en-US" altLang="zh-CN" sz="1400" i="1" dirty="0">
                <a:solidFill>
                  <a:schemeClr val="accent6"/>
                </a:solidFill>
                <a:latin typeface="Tahoma" pitchFamily="34" charset="0"/>
                <a:ea typeface="黑体" pitchFamily="49" charset="-122"/>
              </a:rPr>
              <a:t>) </a:t>
            </a:r>
            <a:r>
              <a:rPr kumimoji="1" lang="en-US" altLang="zh-CN" sz="1400" dirty="0">
                <a:solidFill>
                  <a:schemeClr val="accent6"/>
                </a:solidFill>
                <a:latin typeface="Tahoma" pitchFamily="34" charset="0"/>
                <a:ea typeface="黑体" pitchFamily="49" charset="-122"/>
              </a:rPr>
              <a:t>=</a:t>
            </a:r>
            <a:r>
              <a:rPr kumimoji="1" lang="en-US" altLang="zh-CN" sz="1400" dirty="0">
                <a:solidFill>
                  <a:schemeClr val="accent6"/>
                </a:solidFill>
                <a:latin typeface="Tahoma" pitchFamily="34" charset="0"/>
                <a:ea typeface="黑体" pitchFamily="49" charset="-122"/>
                <a:sym typeface="Symbol" pitchFamily="18" charset="2"/>
              </a:rPr>
              <a:t></a:t>
            </a:r>
            <a:r>
              <a:rPr kumimoji="1" lang="en-US" altLang="zh-CN" sz="1400" dirty="0">
                <a:solidFill>
                  <a:schemeClr val="accent6"/>
                </a:solidFill>
                <a:latin typeface="Tahoma" pitchFamily="34" charset="0"/>
                <a:ea typeface="黑体" pitchFamily="49" charset="-122"/>
              </a:rPr>
              <a:t> m(1,2,3,4,5,6)</a:t>
            </a:r>
          </a:p>
        </p:txBody>
      </p:sp>
      <p:sp>
        <p:nvSpPr>
          <p:cNvPr id="12" name="Text Box 7"/>
          <p:cNvSpPr txBox="1">
            <a:spLocks noChangeArrowheads="1"/>
          </p:cNvSpPr>
          <p:nvPr/>
        </p:nvSpPr>
        <p:spPr bwMode="auto">
          <a:xfrm>
            <a:off x="228600" y="1581150"/>
            <a:ext cx="1685077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kumimoji="1" lang="zh-CN" altLang="en-US" sz="1400" dirty="0">
                <a:solidFill>
                  <a:schemeClr val="accent6"/>
                </a:solidFill>
                <a:latin typeface="Tahoma" pitchFamily="34" charset="0"/>
                <a:ea typeface="黑体" pitchFamily="49" charset="-122"/>
              </a:rPr>
              <a:t>四选一数据选择器</a:t>
            </a:r>
            <a:r>
              <a:rPr kumimoji="1" lang="en-US" altLang="zh-CN" sz="1400" dirty="0">
                <a:solidFill>
                  <a:schemeClr val="accent6"/>
                </a:solidFill>
                <a:latin typeface="Tahoma" pitchFamily="34" charset="0"/>
                <a:ea typeface="黑体" pitchFamily="49" charset="-122"/>
              </a:rPr>
              <a:t>:</a:t>
            </a:r>
          </a:p>
        </p:txBody>
      </p:sp>
      <p:graphicFrame>
        <p:nvGraphicFramePr>
          <p:cNvPr id="68612" name="Object 9"/>
          <p:cNvGraphicFramePr>
            <a:graphicFrameLocks noChangeAspect="1"/>
          </p:cNvGraphicFramePr>
          <p:nvPr/>
        </p:nvGraphicFramePr>
        <p:xfrm>
          <a:off x="1905000" y="1581150"/>
          <a:ext cx="4321840" cy="304800"/>
        </p:xfrm>
        <a:graphic>
          <a:graphicData uri="http://schemas.openxmlformats.org/presentationml/2006/ole">
            <p:oleObj spid="_x0000_s94210" name="Equation" r:id="rId3" imgW="2692080" imgH="253800" progId="Equation.DSMT4">
              <p:embed/>
            </p:oleObj>
          </a:graphicData>
        </a:graphic>
      </p:graphicFrame>
      <p:graphicFrame>
        <p:nvGraphicFramePr>
          <p:cNvPr id="68613" name="Object 9"/>
          <p:cNvGraphicFramePr>
            <a:graphicFrameLocks noChangeAspect="1"/>
          </p:cNvGraphicFramePr>
          <p:nvPr/>
        </p:nvGraphicFramePr>
        <p:xfrm>
          <a:off x="990600" y="2273300"/>
          <a:ext cx="5767388" cy="611188"/>
        </p:xfrm>
        <a:graphic>
          <a:graphicData uri="http://schemas.openxmlformats.org/presentationml/2006/ole">
            <p:oleObj spid="_x0000_s94211" name="Equation" r:id="rId4" imgW="3593880" imgH="507960" progId="Equation.DSMT4">
              <p:embed/>
            </p:oleObj>
          </a:graphicData>
        </a:graphic>
      </p:graphicFrame>
      <p:grpSp>
        <p:nvGrpSpPr>
          <p:cNvPr id="2" name="Group 16"/>
          <p:cNvGrpSpPr>
            <a:grpSpLocks/>
          </p:cNvGrpSpPr>
          <p:nvPr/>
        </p:nvGrpSpPr>
        <p:grpSpPr bwMode="auto">
          <a:xfrm>
            <a:off x="6858000" y="895350"/>
            <a:ext cx="1893888" cy="1371600"/>
            <a:chOff x="1968" y="3264"/>
            <a:chExt cx="1193" cy="864"/>
          </a:xfrm>
        </p:grpSpPr>
        <p:sp>
          <p:nvSpPr>
            <p:cNvPr id="24" name="Text Box 17"/>
            <p:cNvSpPr txBox="1">
              <a:spLocks noChangeArrowheads="1"/>
            </p:cNvSpPr>
            <p:nvPr/>
          </p:nvSpPr>
          <p:spPr bwMode="auto">
            <a:xfrm>
              <a:off x="2348" y="3600"/>
              <a:ext cx="676" cy="192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kumimoji="1" lang="zh-CN" altLang="en-US" sz="1400">
                  <a:latin typeface="Tahoma" pitchFamily="34" charset="0"/>
                  <a:ea typeface="黑体" pitchFamily="49" charset="-122"/>
                </a:rPr>
                <a:t>多路选择器</a:t>
              </a:r>
            </a:p>
          </p:txBody>
        </p:sp>
        <p:sp>
          <p:nvSpPr>
            <p:cNvPr id="25" name="Text Box 18"/>
            <p:cNvSpPr txBox="1">
              <a:spLocks noChangeArrowheads="1"/>
            </p:cNvSpPr>
            <p:nvPr/>
          </p:nvSpPr>
          <p:spPr bwMode="auto">
            <a:xfrm>
              <a:off x="2239" y="3792"/>
              <a:ext cx="922" cy="194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/>
              <a:r>
                <a:rPr kumimoji="1" lang="en-US" altLang="zh-CN" sz="1400" i="1" dirty="0">
                  <a:latin typeface="Tahoma" pitchFamily="34" charset="0"/>
                </a:rPr>
                <a:t>D</a:t>
              </a:r>
              <a:r>
                <a:rPr kumimoji="1" lang="en-US" altLang="zh-CN" sz="1400" i="1" baseline="-25000" dirty="0">
                  <a:latin typeface="Tahoma" pitchFamily="34" charset="0"/>
                </a:rPr>
                <a:t>0  </a:t>
              </a:r>
              <a:r>
                <a:rPr kumimoji="1" lang="en-US" altLang="zh-CN" sz="1400" i="1" dirty="0">
                  <a:latin typeface="Tahoma" pitchFamily="34" charset="0"/>
                </a:rPr>
                <a:t>D</a:t>
              </a:r>
              <a:r>
                <a:rPr kumimoji="1" lang="en-US" altLang="zh-CN" sz="1400" i="1" baseline="-25000" dirty="0">
                  <a:latin typeface="Tahoma" pitchFamily="34" charset="0"/>
                </a:rPr>
                <a:t>1  </a:t>
              </a:r>
              <a:r>
                <a:rPr kumimoji="1" lang="en-US" altLang="zh-CN" sz="1400" i="1" baseline="-25000" dirty="0" smtClean="0">
                  <a:latin typeface="Tahoma" pitchFamily="34" charset="0"/>
                </a:rPr>
                <a:t>  </a:t>
              </a:r>
              <a:r>
                <a:rPr kumimoji="1" lang="en-US" altLang="zh-CN" sz="1400" i="1" dirty="0" smtClean="0">
                  <a:latin typeface="Tahoma" pitchFamily="34" charset="0"/>
                </a:rPr>
                <a:t>D</a:t>
              </a:r>
              <a:r>
                <a:rPr kumimoji="1" lang="en-US" altLang="zh-CN" sz="1400" i="1" baseline="-25000" dirty="0" smtClean="0">
                  <a:latin typeface="Tahoma" pitchFamily="34" charset="0"/>
                </a:rPr>
                <a:t>2   </a:t>
              </a:r>
              <a:r>
                <a:rPr kumimoji="1" lang="en-US" altLang="zh-CN" sz="1400" i="1" dirty="0" smtClean="0">
                  <a:latin typeface="Tahoma" pitchFamily="34" charset="0"/>
                </a:rPr>
                <a:t>D</a:t>
              </a:r>
              <a:r>
                <a:rPr kumimoji="1" lang="en-US" altLang="zh-CN" sz="1400" i="1" baseline="-25000" dirty="0" smtClean="0">
                  <a:latin typeface="Tahoma" pitchFamily="34" charset="0"/>
                </a:rPr>
                <a:t>3 </a:t>
              </a:r>
              <a:endParaRPr kumimoji="1" lang="en-US" altLang="zh-CN" sz="1400" i="1" baseline="-25000" dirty="0">
                <a:latin typeface="Tahoma" pitchFamily="34" charset="0"/>
              </a:endParaRPr>
            </a:p>
          </p:txBody>
        </p:sp>
        <p:sp>
          <p:nvSpPr>
            <p:cNvPr id="26" name="Rectangle 19"/>
            <p:cNvSpPr>
              <a:spLocks noChangeArrowheads="1"/>
            </p:cNvSpPr>
            <p:nvPr/>
          </p:nvSpPr>
          <p:spPr bwMode="auto">
            <a:xfrm>
              <a:off x="2160" y="3552"/>
              <a:ext cx="960" cy="432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" name="Line 20"/>
            <p:cNvSpPr>
              <a:spLocks noChangeShapeType="1"/>
            </p:cNvSpPr>
            <p:nvPr/>
          </p:nvSpPr>
          <p:spPr bwMode="auto">
            <a:xfrm>
              <a:off x="2352" y="3984"/>
              <a:ext cx="0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8" name="Line 21"/>
            <p:cNvSpPr>
              <a:spLocks noChangeShapeType="1"/>
            </p:cNvSpPr>
            <p:nvPr/>
          </p:nvSpPr>
          <p:spPr bwMode="auto">
            <a:xfrm>
              <a:off x="2544" y="3984"/>
              <a:ext cx="0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9" name="Line 22"/>
            <p:cNvSpPr>
              <a:spLocks noChangeShapeType="1"/>
            </p:cNvSpPr>
            <p:nvPr/>
          </p:nvSpPr>
          <p:spPr bwMode="auto">
            <a:xfrm>
              <a:off x="2736" y="3984"/>
              <a:ext cx="0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0" name="Line 23"/>
            <p:cNvSpPr>
              <a:spLocks noChangeShapeType="1"/>
            </p:cNvSpPr>
            <p:nvPr/>
          </p:nvSpPr>
          <p:spPr bwMode="auto">
            <a:xfrm>
              <a:off x="2928" y="3984"/>
              <a:ext cx="0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1" name="Line 24"/>
            <p:cNvSpPr>
              <a:spLocks noChangeShapeType="1"/>
            </p:cNvSpPr>
            <p:nvPr/>
          </p:nvSpPr>
          <p:spPr bwMode="auto">
            <a:xfrm>
              <a:off x="2640" y="3360"/>
              <a:ext cx="0" cy="19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2" name="Text Box 25"/>
            <p:cNvSpPr txBox="1">
              <a:spLocks noChangeArrowheads="1"/>
            </p:cNvSpPr>
            <p:nvPr/>
          </p:nvSpPr>
          <p:spPr bwMode="auto">
            <a:xfrm>
              <a:off x="2688" y="3264"/>
              <a:ext cx="175" cy="1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kumimoji="1" lang="en-US" altLang="zh-CN" sz="1400" i="1" dirty="0">
                  <a:latin typeface="Tahoma" pitchFamily="34" charset="0"/>
                  <a:ea typeface="黑体" pitchFamily="49" charset="-122"/>
                </a:rPr>
                <a:t>F</a:t>
              </a:r>
            </a:p>
          </p:txBody>
        </p:sp>
        <p:sp>
          <p:nvSpPr>
            <p:cNvPr id="33" name="Line 26"/>
            <p:cNvSpPr>
              <a:spLocks noChangeShapeType="1"/>
            </p:cNvSpPr>
            <p:nvPr/>
          </p:nvSpPr>
          <p:spPr bwMode="auto">
            <a:xfrm>
              <a:off x="1968" y="3648"/>
              <a:ext cx="19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4" name="Line 27"/>
            <p:cNvSpPr>
              <a:spLocks noChangeShapeType="1"/>
            </p:cNvSpPr>
            <p:nvPr/>
          </p:nvSpPr>
          <p:spPr bwMode="auto">
            <a:xfrm>
              <a:off x="1968" y="3888"/>
              <a:ext cx="19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5" name="Text Box 28"/>
            <p:cNvSpPr txBox="1">
              <a:spLocks noChangeArrowheads="1"/>
            </p:cNvSpPr>
            <p:nvPr/>
          </p:nvSpPr>
          <p:spPr bwMode="auto">
            <a:xfrm>
              <a:off x="2112" y="3792"/>
              <a:ext cx="222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kumimoji="1" lang="en-US" altLang="zh-CN" sz="1400" i="1" dirty="0">
                  <a:latin typeface="Tahoma" pitchFamily="34" charset="0"/>
                </a:rPr>
                <a:t>A</a:t>
              </a:r>
              <a:r>
                <a:rPr kumimoji="1" lang="en-US" altLang="zh-CN" sz="1400" i="1" baseline="-25000" dirty="0">
                  <a:latin typeface="Tahoma" pitchFamily="34" charset="0"/>
                </a:rPr>
                <a:t>1</a:t>
              </a:r>
            </a:p>
          </p:txBody>
        </p:sp>
        <p:sp>
          <p:nvSpPr>
            <p:cNvPr id="36" name="Text Box 29"/>
            <p:cNvSpPr txBox="1">
              <a:spLocks noChangeArrowheads="1"/>
            </p:cNvSpPr>
            <p:nvPr/>
          </p:nvSpPr>
          <p:spPr bwMode="auto">
            <a:xfrm>
              <a:off x="2112" y="3552"/>
              <a:ext cx="225" cy="1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kumimoji="1" lang="en-US" altLang="zh-CN" sz="1400" i="1" dirty="0">
                  <a:latin typeface="Tahoma" pitchFamily="34" charset="0"/>
                </a:rPr>
                <a:t>A</a:t>
              </a:r>
              <a:r>
                <a:rPr kumimoji="1" lang="en-US" altLang="zh-CN" sz="1400" i="1" baseline="-25000" dirty="0">
                  <a:latin typeface="Tahoma" pitchFamily="34" charset="0"/>
                </a:rPr>
                <a:t>0</a:t>
              </a:r>
            </a:p>
          </p:txBody>
        </p:sp>
      </p:grpSp>
      <p:sp>
        <p:nvSpPr>
          <p:cNvPr id="64" name="TextBox 63"/>
          <p:cNvSpPr txBox="1"/>
          <p:nvPr/>
        </p:nvSpPr>
        <p:spPr>
          <a:xfrm>
            <a:off x="7772400" y="2419350"/>
            <a:ext cx="609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图 </a:t>
            </a:r>
            <a:r>
              <a:rPr lang="en-US" altLang="zh-CN" sz="1600" dirty="0" smtClean="0">
                <a:latin typeface="微软雅黑" pitchFamily="34" charset="-122"/>
                <a:ea typeface="微软雅黑" pitchFamily="34" charset="-122"/>
              </a:rPr>
              <a:t>4</a:t>
            </a:r>
            <a:endParaRPr lang="zh-CN" altLang="en-US" sz="16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6" name="Text Box 30"/>
          <p:cNvSpPr txBox="1">
            <a:spLocks noChangeArrowheads="1"/>
          </p:cNvSpPr>
          <p:nvPr/>
        </p:nvSpPr>
        <p:spPr bwMode="auto">
          <a:xfrm>
            <a:off x="6553200" y="1352550"/>
            <a:ext cx="308098" cy="738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kumimoji="1" lang="en-US" altLang="zh-CN" sz="1400" b="1" dirty="0" smtClean="0">
                <a:solidFill>
                  <a:srgbClr val="FF0000"/>
                </a:solidFill>
                <a:latin typeface="Tahoma" pitchFamily="34" charset="0"/>
              </a:rPr>
              <a:t>Y</a:t>
            </a:r>
          </a:p>
          <a:p>
            <a:pPr eaLnBrk="1" hangingPunct="1"/>
            <a:endParaRPr kumimoji="1" lang="en-US" altLang="zh-CN" sz="1400" b="1" dirty="0">
              <a:solidFill>
                <a:srgbClr val="FF0000"/>
              </a:solidFill>
              <a:latin typeface="Tahoma" pitchFamily="34" charset="0"/>
            </a:endParaRPr>
          </a:p>
          <a:p>
            <a:pPr eaLnBrk="1" hangingPunct="1"/>
            <a:r>
              <a:rPr kumimoji="1" lang="en-US" altLang="zh-CN" sz="1400" b="1" dirty="0">
                <a:solidFill>
                  <a:srgbClr val="FF0000"/>
                </a:solidFill>
                <a:latin typeface="Tahoma" pitchFamily="34" charset="0"/>
              </a:rPr>
              <a:t>X</a:t>
            </a:r>
          </a:p>
        </p:txBody>
      </p:sp>
      <p:graphicFrame>
        <p:nvGraphicFramePr>
          <p:cNvPr id="94213" name="Object 5"/>
          <p:cNvGraphicFramePr>
            <a:graphicFrameLocks noChangeAspect="1"/>
          </p:cNvGraphicFramePr>
          <p:nvPr/>
        </p:nvGraphicFramePr>
        <p:xfrm>
          <a:off x="990600" y="2724150"/>
          <a:ext cx="5135562" cy="579438"/>
        </p:xfrm>
        <a:graphic>
          <a:graphicData uri="http://schemas.openxmlformats.org/presentationml/2006/ole">
            <p:oleObj spid="_x0000_s94213" name="Equation" r:id="rId5" imgW="3200400" imgH="482400" progId="Equation.DSMT4">
              <p:embed/>
            </p:oleObj>
          </a:graphicData>
        </a:graphic>
      </p:graphicFrame>
    </p:spTree>
    <p:extLst>
      <p:ext uri="{BB962C8B-B14F-4D97-AF65-F5344CB8AC3E}">
        <p14:creationId xmlns="" xmlns:p14="http://schemas.microsoft.com/office/powerpoint/2010/main" val="548963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86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86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86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86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42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42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utoUpdateAnimBg="0"/>
      <p:bldP spid="6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349967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：中规模标准构件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ectangle 14"/>
          <p:cNvSpPr>
            <a:spLocks noChangeArrowheads="1"/>
          </p:cNvSpPr>
          <p:nvPr/>
        </p:nvSpPr>
        <p:spPr bwMode="auto">
          <a:xfrm>
            <a:off x="152400" y="590550"/>
            <a:ext cx="8610600" cy="22313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1600" b="1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数据选择器构成组合逻辑电路：例</a:t>
            </a:r>
            <a:r>
              <a:rPr lang="en-US" altLang="zh-CN" sz="1600" b="1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2</a:t>
            </a:r>
          </a:p>
          <a:p>
            <a:pPr marL="0" lvl="1">
              <a:lnSpc>
                <a:spcPct val="150000"/>
              </a:lnSpc>
            </a:pPr>
            <a:endParaRPr lang="en-US" altLang="zh-CN" sz="1600" dirty="0" smtClean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ext Box 6"/>
          <p:cNvSpPr txBox="1">
            <a:spLocks noChangeArrowheads="1"/>
          </p:cNvSpPr>
          <p:nvPr/>
        </p:nvSpPr>
        <p:spPr bwMode="auto">
          <a:xfrm>
            <a:off x="304800" y="1047750"/>
            <a:ext cx="6324600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/>
            <a:r>
              <a:rPr kumimoji="1" lang="zh-CN" altLang="en-US" sz="1400" dirty="0" smtClean="0">
                <a:solidFill>
                  <a:schemeClr val="accent6"/>
                </a:solidFill>
                <a:latin typeface="Tahoma" pitchFamily="34" charset="0"/>
                <a:ea typeface="黑体" pitchFamily="49" charset="-122"/>
              </a:rPr>
              <a:t>用</a:t>
            </a:r>
            <a:r>
              <a:rPr kumimoji="1" lang="zh-CN" altLang="en-US" sz="1400" dirty="0">
                <a:solidFill>
                  <a:schemeClr val="accent6"/>
                </a:solidFill>
                <a:latin typeface="Tahoma" pitchFamily="34" charset="0"/>
                <a:ea typeface="黑体" pitchFamily="49" charset="-122"/>
              </a:rPr>
              <a:t>四选一数据选择器实现以下逻辑函数</a:t>
            </a:r>
            <a:r>
              <a:rPr kumimoji="1" lang="zh-CN" altLang="en-US" sz="1400" dirty="0" smtClean="0">
                <a:solidFill>
                  <a:schemeClr val="accent6"/>
                </a:solidFill>
                <a:latin typeface="Tahoma" pitchFamily="34" charset="0"/>
                <a:ea typeface="黑体" pitchFamily="49" charset="-122"/>
              </a:rPr>
              <a:t>：</a:t>
            </a:r>
            <a:r>
              <a:rPr kumimoji="1" lang="en-US" altLang="zh-CN" sz="1400" i="1" dirty="0" smtClean="0">
                <a:solidFill>
                  <a:schemeClr val="accent6"/>
                </a:solidFill>
                <a:latin typeface="Tahoma" pitchFamily="34" charset="0"/>
                <a:ea typeface="黑体" pitchFamily="49" charset="-122"/>
              </a:rPr>
              <a:t>F(X,Y,Z</a:t>
            </a:r>
            <a:r>
              <a:rPr kumimoji="1" lang="en-US" altLang="zh-CN" sz="1400" i="1" dirty="0">
                <a:solidFill>
                  <a:schemeClr val="accent6"/>
                </a:solidFill>
                <a:latin typeface="Tahoma" pitchFamily="34" charset="0"/>
                <a:ea typeface="黑体" pitchFamily="49" charset="-122"/>
              </a:rPr>
              <a:t>) </a:t>
            </a:r>
            <a:r>
              <a:rPr kumimoji="1" lang="en-US" altLang="zh-CN" sz="1400" dirty="0">
                <a:solidFill>
                  <a:schemeClr val="accent6"/>
                </a:solidFill>
                <a:latin typeface="Tahoma" pitchFamily="34" charset="0"/>
                <a:ea typeface="黑体" pitchFamily="49" charset="-122"/>
              </a:rPr>
              <a:t>=</a:t>
            </a:r>
            <a:r>
              <a:rPr kumimoji="1" lang="en-US" altLang="zh-CN" sz="1400" dirty="0">
                <a:solidFill>
                  <a:schemeClr val="accent6"/>
                </a:solidFill>
                <a:latin typeface="Tahoma" pitchFamily="34" charset="0"/>
                <a:ea typeface="黑体" pitchFamily="49" charset="-122"/>
                <a:sym typeface="Symbol" pitchFamily="18" charset="2"/>
              </a:rPr>
              <a:t></a:t>
            </a:r>
            <a:r>
              <a:rPr kumimoji="1" lang="en-US" altLang="zh-CN" sz="1400" dirty="0">
                <a:solidFill>
                  <a:schemeClr val="accent6"/>
                </a:solidFill>
                <a:latin typeface="Tahoma" pitchFamily="34" charset="0"/>
                <a:ea typeface="黑体" pitchFamily="49" charset="-122"/>
              </a:rPr>
              <a:t> m(1,2,3,4,5,6)</a:t>
            </a:r>
          </a:p>
        </p:txBody>
      </p:sp>
      <p:sp>
        <p:nvSpPr>
          <p:cNvPr id="12" name="Text Box 7"/>
          <p:cNvSpPr txBox="1">
            <a:spLocks noChangeArrowheads="1"/>
          </p:cNvSpPr>
          <p:nvPr/>
        </p:nvSpPr>
        <p:spPr bwMode="auto">
          <a:xfrm>
            <a:off x="228600" y="1581150"/>
            <a:ext cx="1685077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kumimoji="1" lang="zh-CN" altLang="en-US" sz="1400" dirty="0">
                <a:solidFill>
                  <a:schemeClr val="accent6"/>
                </a:solidFill>
                <a:latin typeface="Tahoma" pitchFamily="34" charset="0"/>
                <a:ea typeface="黑体" pitchFamily="49" charset="-122"/>
              </a:rPr>
              <a:t>四选一数据选择器</a:t>
            </a:r>
            <a:r>
              <a:rPr kumimoji="1" lang="en-US" altLang="zh-CN" sz="1400" dirty="0">
                <a:solidFill>
                  <a:schemeClr val="accent6"/>
                </a:solidFill>
                <a:latin typeface="Tahoma" pitchFamily="34" charset="0"/>
                <a:ea typeface="黑体" pitchFamily="49" charset="-122"/>
              </a:rPr>
              <a:t>:</a:t>
            </a:r>
          </a:p>
        </p:txBody>
      </p:sp>
      <p:graphicFrame>
        <p:nvGraphicFramePr>
          <p:cNvPr id="68612" name="Object 9"/>
          <p:cNvGraphicFramePr>
            <a:graphicFrameLocks noChangeAspect="1"/>
          </p:cNvGraphicFramePr>
          <p:nvPr/>
        </p:nvGraphicFramePr>
        <p:xfrm>
          <a:off x="1905000" y="1581150"/>
          <a:ext cx="4321840" cy="304800"/>
        </p:xfrm>
        <a:graphic>
          <a:graphicData uri="http://schemas.openxmlformats.org/presentationml/2006/ole">
            <p:oleObj spid="_x0000_s70658" name="Equation" r:id="rId3" imgW="2692080" imgH="253800" progId="Equation.DSMT4">
              <p:embed/>
            </p:oleObj>
          </a:graphicData>
        </a:graphic>
      </p:graphicFrame>
      <p:graphicFrame>
        <p:nvGraphicFramePr>
          <p:cNvPr id="68613" name="Object 9"/>
          <p:cNvGraphicFramePr>
            <a:graphicFrameLocks noChangeAspect="1"/>
          </p:cNvGraphicFramePr>
          <p:nvPr/>
        </p:nvGraphicFramePr>
        <p:xfrm>
          <a:off x="990600" y="2114550"/>
          <a:ext cx="5767388" cy="930275"/>
        </p:xfrm>
        <a:graphic>
          <a:graphicData uri="http://schemas.openxmlformats.org/presentationml/2006/ole">
            <p:oleObj spid="_x0000_s70659" name="Equation" r:id="rId4" imgW="3593880" imgH="774360" progId="Equation.DSMT4">
              <p:embed/>
            </p:oleObj>
          </a:graphicData>
        </a:graphic>
      </p:graphicFrame>
      <p:graphicFrame>
        <p:nvGraphicFramePr>
          <p:cNvPr id="68614" name="Object 9"/>
          <p:cNvGraphicFramePr>
            <a:graphicFrameLocks noChangeAspect="1"/>
          </p:cNvGraphicFramePr>
          <p:nvPr/>
        </p:nvGraphicFramePr>
        <p:xfrm>
          <a:off x="944563" y="3333750"/>
          <a:ext cx="4829175" cy="304800"/>
        </p:xfrm>
        <a:graphic>
          <a:graphicData uri="http://schemas.openxmlformats.org/presentationml/2006/ole">
            <p:oleObj spid="_x0000_s70660" name="Equation" r:id="rId5" imgW="3009600" imgH="253800" progId="Equation.DSMT4">
              <p:embed/>
            </p:oleObj>
          </a:graphicData>
        </a:graphic>
      </p:graphicFrame>
      <p:grpSp>
        <p:nvGrpSpPr>
          <p:cNvPr id="43" name="Group 16"/>
          <p:cNvGrpSpPr>
            <a:grpSpLocks/>
          </p:cNvGrpSpPr>
          <p:nvPr/>
        </p:nvGrpSpPr>
        <p:grpSpPr bwMode="auto">
          <a:xfrm>
            <a:off x="6629400" y="1200150"/>
            <a:ext cx="2225675" cy="1371600"/>
            <a:chOff x="1759" y="3264"/>
            <a:chExt cx="1402" cy="864"/>
          </a:xfrm>
        </p:grpSpPr>
        <p:sp>
          <p:nvSpPr>
            <p:cNvPr id="44" name="Text Box 17"/>
            <p:cNvSpPr txBox="1">
              <a:spLocks noChangeArrowheads="1"/>
            </p:cNvSpPr>
            <p:nvPr/>
          </p:nvSpPr>
          <p:spPr bwMode="auto">
            <a:xfrm>
              <a:off x="2348" y="3600"/>
              <a:ext cx="676" cy="192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kumimoji="1" lang="zh-CN" altLang="en-US" sz="1400" dirty="0">
                  <a:latin typeface="Tahoma" pitchFamily="34" charset="0"/>
                  <a:ea typeface="黑体" pitchFamily="49" charset="-122"/>
                </a:rPr>
                <a:t>多路选择器</a:t>
              </a:r>
            </a:p>
          </p:txBody>
        </p:sp>
        <p:sp>
          <p:nvSpPr>
            <p:cNvPr id="45" name="Text Box 18"/>
            <p:cNvSpPr txBox="1">
              <a:spLocks noChangeArrowheads="1"/>
            </p:cNvSpPr>
            <p:nvPr/>
          </p:nvSpPr>
          <p:spPr bwMode="auto">
            <a:xfrm>
              <a:off x="2239" y="3792"/>
              <a:ext cx="922" cy="194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/>
              <a:r>
                <a:rPr kumimoji="1" lang="en-US" altLang="zh-CN" sz="1400" i="1" dirty="0">
                  <a:latin typeface="Tahoma" pitchFamily="34" charset="0"/>
                </a:rPr>
                <a:t>D</a:t>
              </a:r>
              <a:r>
                <a:rPr kumimoji="1" lang="en-US" altLang="zh-CN" sz="1400" i="1" baseline="-25000" dirty="0">
                  <a:latin typeface="Tahoma" pitchFamily="34" charset="0"/>
                </a:rPr>
                <a:t>0  </a:t>
              </a:r>
              <a:r>
                <a:rPr kumimoji="1" lang="en-US" altLang="zh-CN" sz="1400" i="1" dirty="0">
                  <a:latin typeface="Tahoma" pitchFamily="34" charset="0"/>
                </a:rPr>
                <a:t>D</a:t>
              </a:r>
              <a:r>
                <a:rPr kumimoji="1" lang="en-US" altLang="zh-CN" sz="1400" i="1" baseline="-25000" dirty="0">
                  <a:latin typeface="Tahoma" pitchFamily="34" charset="0"/>
                </a:rPr>
                <a:t>1  </a:t>
              </a:r>
              <a:r>
                <a:rPr kumimoji="1" lang="en-US" altLang="zh-CN" sz="1400" i="1" baseline="-25000" dirty="0" smtClean="0">
                  <a:latin typeface="Tahoma" pitchFamily="34" charset="0"/>
                </a:rPr>
                <a:t>  </a:t>
              </a:r>
              <a:r>
                <a:rPr kumimoji="1" lang="en-US" altLang="zh-CN" sz="1400" i="1" dirty="0" smtClean="0">
                  <a:latin typeface="Tahoma" pitchFamily="34" charset="0"/>
                </a:rPr>
                <a:t>D</a:t>
              </a:r>
              <a:r>
                <a:rPr kumimoji="1" lang="en-US" altLang="zh-CN" sz="1400" i="1" baseline="-25000" dirty="0" smtClean="0">
                  <a:latin typeface="Tahoma" pitchFamily="34" charset="0"/>
                </a:rPr>
                <a:t>2   </a:t>
              </a:r>
              <a:r>
                <a:rPr kumimoji="1" lang="en-US" altLang="zh-CN" sz="1400" i="1" dirty="0" smtClean="0">
                  <a:latin typeface="Tahoma" pitchFamily="34" charset="0"/>
                </a:rPr>
                <a:t>D</a:t>
              </a:r>
              <a:r>
                <a:rPr kumimoji="1" lang="en-US" altLang="zh-CN" sz="1400" i="1" baseline="-25000" dirty="0" smtClean="0">
                  <a:latin typeface="Tahoma" pitchFamily="34" charset="0"/>
                </a:rPr>
                <a:t>3 </a:t>
              </a:r>
              <a:endParaRPr kumimoji="1" lang="en-US" altLang="zh-CN" sz="1400" i="1" baseline="-25000" dirty="0">
                <a:latin typeface="Tahoma" pitchFamily="34" charset="0"/>
              </a:endParaRPr>
            </a:p>
          </p:txBody>
        </p:sp>
        <p:sp>
          <p:nvSpPr>
            <p:cNvPr id="46" name="Rectangle 19"/>
            <p:cNvSpPr>
              <a:spLocks noChangeArrowheads="1"/>
            </p:cNvSpPr>
            <p:nvPr/>
          </p:nvSpPr>
          <p:spPr bwMode="auto">
            <a:xfrm>
              <a:off x="2160" y="3552"/>
              <a:ext cx="960" cy="432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" name="Line 20"/>
            <p:cNvSpPr>
              <a:spLocks noChangeShapeType="1"/>
            </p:cNvSpPr>
            <p:nvPr/>
          </p:nvSpPr>
          <p:spPr bwMode="auto">
            <a:xfrm>
              <a:off x="2352" y="3984"/>
              <a:ext cx="0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8" name="Line 21"/>
            <p:cNvSpPr>
              <a:spLocks noChangeShapeType="1"/>
            </p:cNvSpPr>
            <p:nvPr/>
          </p:nvSpPr>
          <p:spPr bwMode="auto">
            <a:xfrm>
              <a:off x="2544" y="3984"/>
              <a:ext cx="0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9" name="Line 22"/>
            <p:cNvSpPr>
              <a:spLocks noChangeShapeType="1"/>
            </p:cNvSpPr>
            <p:nvPr/>
          </p:nvSpPr>
          <p:spPr bwMode="auto">
            <a:xfrm>
              <a:off x="2736" y="3984"/>
              <a:ext cx="0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0" name="Line 23"/>
            <p:cNvSpPr>
              <a:spLocks noChangeShapeType="1"/>
            </p:cNvSpPr>
            <p:nvPr/>
          </p:nvSpPr>
          <p:spPr bwMode="auto">
            <a:xfrm>
              <a:off x="2928" y="3984"/>
              <a:ext cx="0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1" name="Line 24"/>
            <p:cNvSpPr>
              <a:spLocks noChangeShapeType="1"/>
            </p:cNvSpPr>
            <p:nvPr/>
          </p:nvSpPr>
          <p:spPr bwMode="auto">
            <a:xfrm>
              <a:off x="2640" y="3360"/>
              <a:ext cx="0" cy="19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2" name="Text Box 25"/>
            <p:cNvSpPr txBox="1">
              <a:spLocks noChangeArrowheads="1"/>
            </p:cNvSpPr>
            <p:nvPr/>
          </p:nvSpPr>
          <p:spPr bwMode="auto">
            <a:xfrm>
              <a:off x="2688" y="3264"/>
              <a:ext cx="175" cy="1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kumimoji="1" lang="en-US" altLang="zh-CN" sz="1400" i="1" dirty="0">
                  <a:latin typeface="Tahoma" pitchFamily="34" charset="0"/>
                  <a:ea typeface="黑体" pitchFamily="49" charset="-122"/>
                </a:rPr>
                <a:t>F</a:t>
              </a:r>
            </a:p>
          </p:txBody>
        </p:sp>
        <p:sp>
          <p:nvSpPr>
            <p:cNvPr id="53" name="Line 26"/>
            <p:cNvSpPr>
              <a:spLocks noChangeShapeType="1"/>
            </p:cNvSpPr>
            <p:nvPr/>
          </p:nvSpPr>
          <p:spPr bwMode="auto">
            <a:xfrm>
              <a:off x="1968" y="3648"/>
              <a:ext cx="19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4" name="Line 27"/>
            <p:cNvSpPr>
              <a:spLocks noChangeShapeType="1"/>
            </p:cNvSpPr>
            <p:nvPr/>
          </p:nvSpPr>
          <p:spPr bwMode="auto">
            <a:xfrm>
              <a:off x="1968" y="3888"/>
              <a:ext cx="19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5" name="Text Box 28"/>
            <p:cNvSpPr txBox="1">
              <a:spLocks noChangeArrowheads="1"/>
            </p:cNvSpPr>
            <p:nvPr/>
          </p:nvSpPr>
          <p:spPr bwMode="auto">
            <a:xfrm>
              <a:off x="2112" y="3792"/>
              <a:ext cx="222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kumimoji="1" lang="en-US" altLang="zh-CN" sz="1400" i="1" dirty="0">
                  <a:latin typeface="Tahoma" pitchFamily="34" charset="0"/>
                </a:rPr>
                <a:t>A</a:t>
              </a:r>
              <a:r>
                <a:rPr kumimoji="1" lang="en-US" altLang="zh-CN" sz="1400" i="1" baseline="-25000" dirty="0">
                  <a:latin typeface="Tahoma" pitchFamily="34" charset="0"/>
                </a:rPr>
                <a:t>1</a:t>
              </a:r>
            </a:p>
          </p:txBody>
        </p:sp>
        <p:sp>
          <p:nvSpPr>
            <p:cNvPr id="56" name="Text Box 29"/>
            <p:cNvSpPr txBox="1">
              <a:spLocks noChangeArrowheads="1"/>
            </p:cNvSpPr>
            <p:nvPr/>
          </p:nvSpPr>
          <p:spPr bwMode="auto">
            <a:xfrm>
              <a:off x="2112" y="3552"/>
              <a:ext cx="225" cy="1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kumimoji="1" lang="en-US" altLang="zh-CN" sz="1400" i="1" dirty="0">
                  <a:latin typeface="Tahoma" pitchFamily="34" charset="0"/>
                </a:rPr>
                <a:t>A</a:t>
              </a:r>
              <a:r>
                <a:rPr kumimoji="1" lang="en-US" altLang="zh-CN" sz="1400" i="1" baseline="-25000" dirty="0">
                  <a:latin typeface="Tahoma" pitchFamily="34" charset="0"/>
                </a:rPr>
                <a:t>0</a:t>
              </a:r>
            </a:p>
          </p:txBody>
        </p:sp>
        <p:sp>
          <p:nvSpPr>
            <p:cNvPr id="57" name="Text Box 30"/>
            <p:cNvSpPr txBox="1">
              <a:spLocks noChangeArrowheads="1"/>
            </p:cNvSpPr>
            <p:nvPr/>
          </p:nvSpPr>
          <p:spPr bwMode="auto">
            <a:xfrm>
              <a:off x="1759" y="3542"/>
              <a:ext cx="194" cy="4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kumimoji="1" lang="en-US" altLang="zh-CN" sz="1400" b="1" dirty="0" smtClean="0">
                  <a:solidFill>
                    <a:srgbClr val="FF0000"/>
                  </a:solidFill>
                  <a:latin typeface="Tahoma" pitchFamily="34" charset="0"/>
                </a:rPr>
                <a:t>Y</a:t>
              </a:r>
            </a:p>
            <a:p>
              <a:pPr eaLnBrk="1" hangingPunct="1"/>
              <a:endParaRPr kumimoji="1" lang="en-US" altLang="zh-CN" sz="1400" b="1" dirty="0">
                <a:solidFill>
                  <a:srgbClr val="FF0000"/>
                </a:solidFill>
                <a:latin typeface="Tahoma" pitchFamily="34" charset="0"/>
              </a:endParaRPr>
            </a:p>
            <a:p>
              <a:pPr eaLnBrk="1" hangingPunct="1"/>
              <a:r>
                <a:rPr kumimoji="1" lang="en-US" altLang="zh-CN" sz="1400" b="1" dirty="0">
                  <a:solidFill>
                    <a:srgbClr val="FF0000"/>
                  </a:solidFill>
                  <a:latin typeface="Tahoma" pitchFamily="34" charset="0"/>
                </a:rPr>
                <a:t>X</a:t>
              </a:r>
            </a:p>
          </p:txBody>
        </p:sp>
      </p:grpSp>
      <p:sp>
        <p:nvSpPr>
          <p:cNvPr id="63" name="Text Box 6"/>
          <p:cNvSpPr txBox="1">
            <a:spLocks noChangeArrowheads="1"/>
          </p:cNvSpPr>
          <p:nvPr/>
        </p:nvSpPr>
        <p:spPr bwMode="auto">
          <a:xfrm>
            <a:off x="1371600" y="4019550"/>
            <a:ext cx="4114800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/>
            <a:r>
              <a:rPr kumimoji="1" lang="zh-CN" altLang="en-US" sz="1400" b="1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数据选择器的控制端数量少于逻辑函数中的变量</a:t>
            </a:r>
            <a:endParaRPr kumimoji="1" lang="en-US" altLang="zh-CN" sz="1400" b="1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7848600" y="2876550"/>
            <a:ext cx="609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图 </a:t>
            </a:r>
            <a:r>
              <a:rPr lang="en-US" altLang="zh-CN" sz="1600" dirty="0" smtClean="0">
                <a:latin typeface="微软雅黑" pitchFamily="34" charset="-122"/>
                <a:ea typeface="微软雅黑" pitchFamily="34" charset="-122"/>
              </a:rPr>
              <a:t>4</a:t>
            </a:r>
            <a:endParaRPr lang="zh-CN" altLang="en-US" sz="16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5" name="Text Box 31"/>
          <p:cNvSpPr txBox="1">
            <a:spLocks noChangeArrowheads="1"/>
          </p:cNvSpPr>
          <p:nvPr/>
        </p:nvSpPr>
        <p:spPr bwMode="auto">
          <a:xfrm>
            <a:off x="7440613" y="2568575"/>
            <a:ext cx="296876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kumimoji="1" lang="en-US" altLang="zh-CN" sz="1400" b="1" dirty="0">
                <a:solidFill>
                  <a:srgbClr val="FF0000"/>
                </a:solidFill>
                <a:latin typeface="Tahoma" pitchFamily="34" charset="0"/>
              </a:rPr>
              <a:t>Z</a:t>
            </a:r>
          </a:p>
        </p:txBody>
      </p:sp>
      <p:sp>
        <p:nvSpPr>
          <p:cNvPr id="66" name="Text Box 32"/>
          <p:cNvSpPr txBox="1">
            <a:spLocks noChangeArrowheads="1"/>
          </p:cNvSpPr>
          <p:nvPr/>
        </p:nvSpPr>
        <p:spPr bwMode="auto">
          <a:xfrm>
            <a:off x="8312150" y="2555875"/>
            <a:ext cx="349776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kumimoji="1" lang="en-US" altLang="zh-CN" sz="1400" b="1" dirty="0" smtClean="0">
                <a:solidFill>
                  <a:srgbClr val="FF0000"/>
                </a:solidFill>
                <a:latin typeface="Tahoma" pitchFamily="34" charset="0"/>
              </a:rPr>
              <a:t> Z</a:t>
            </a:r>
            <a:endParaRPr kumimoji="1" lang="en-US" altLang="zh-CN" sz="1400" b="1" dirty="0">
              <a:solidFill>
                <a:srgbClr val="FF0000"/>
              </a:solidFill>
              <a:latin typeface="Tahoma" pitchFamily="34" charset="0"/>
            </a:endParaRPr>
          </a:p>
        </p:txBody>
      </p:sp>
      <p:sp>
        <p:nvSpPr>
          <p:cNvPr id="67" name="Line 33"/>
          <p:cNvSpPr>
            <a:spLocks noChangeShapeType="1"/>
          </p:cNvSpPr>
          <p:nvPr/>
        </p:nvSpPr>
        <p:spPr bwMode="auto">
          <a:xfrm>
            <a:off x="8412163" y="2606675"/>
            <a:ext cx="152400" cy="0"/>
          </a:xfrm>
          <a:prstGeom prst="line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68" name="Text Box 34"/>
          <p:cNvSpPr txBox="1">
            <a:spLocks noChangeArrowheads="1"/>
          </p:cNvSpPr>
          <p:nvPr/>
        </p:nvSpPr>
        <p:spPr bwMode="auto">
          <a:xfrm>
            <a:off x="7723188" y="2555875"/>
            <a:ext cx="298480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kumimoji="1" lang="en-US" altLang="zh-CN" sz="1400" b="1" dirty="0">
                <a:solidFill>
                  <a:srgbClr val="FF0000"/>
                </a:solidFill>
                <a:latin typeface="Tahoma" pitchFamily="34" charset="0"/>
              </a:rPr>
              <a:t>1</a:t>
            </a:r>
          </a:p>
        </p:txBody>
      </p:sp>
      <p:sp>
        <p:nvSpPr>
          <p:cNvPr id="69" name="Text Box 35"/>
          <p:cNvSpPr txBox="1">
            <a:spLocks noChangeArrowheads="1"/>
          </p:cNvSpPr>
          <p:nvPr/>
        </p:nvSpPr>
        <p:spPr bwMode="auto">
          <a:xfrm>
            <a:off x="8027988" y="2555875"/>
            <a:ext cx="298480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kumimoji="1" lang="en-US" altLang="zh-CN" sz="1400" b="1" dirty="0">
                <a:solidFill>
                  <a:srgbClr val="FF0000"/>
                </a:solidFill>
                <a:latin typeface="Tahoma" pitchFamily="34" charset="0"/>
              </a:rPr>
              <a:t>1</a:t>
            </a:r>
          </a:p>
        </p:txBody>
      </p:sp>
    </p:spTree>
    <p:extLst>
      <p:ext uri="{BB962C8B-B14F-4D97-AF65-F5344CB8AC3E}">
        <p14:creationId xmlns="" xmlns:p14="http://schemas.microsoft.com/office/powerpoint/2010/main" val="548963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 autoUpdateAnimBg="0"/>
      <p:bldP spid="65" grpId="0"/>
      <p:bldP spid="66" grpId="0"/>
      <p:bldP spid="67" grpId="0" animBg="1"/>
      <p:bldP spid="68" grpId="0"/>
      <p:bldP spid="6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349967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：中规模标准构件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ectangle 14"/>
          <p:cNvSpPr>
            <a:spLocks noChangeArrowheads="1"/>
          </p:cNvSpPr>
          <p:nvPr/>
        </p:nvSpPr>
        <p:spPr bwMode="auto">
          <a:xfrm>
            <a:off x="152400" y="590550"/>
            <a:ext cx="8610600" cy="22313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1600" b="1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数据选择器构成组合逻辑电路：例</a:t>
            </a:r>
            <a:r>
              <a:rPr lang="en-US" altLang="zh-CN" sz="1600" b="1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3</a:t>
            </a:r>
          </a:p>
          <a:p>
            <a:pPr marL="0" lvl="1">
              <a:lnSpc>
                <a:spcPct val="150000"/>
              </a:lnSpc>
            </a:pPr>
            <a:endParaRPr lang="en-US" altLang="zh-CN" sz="1600" dirty="0" smtClean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ext Box 6"/>
          <p:cNvSpPr txBox="1">
            <a:spLocks noChangeArrowheads="1"/>
          </p:cNvSpPr>
          <p:nvPr/>
        </p:nvSpPr>
        <p:spPr bwMode="auto">
          <a:xfrm>
            <a:off x="304800" y="1047750"/>
            <a:ext cx="6324600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/>
            <a:r>
              <a:rPr kumimoji="1" lang="zh-CN" altLang="en-US" sz="1400" dirty="0" smtClean="0">
                <a:solidFill>
                  <a:schemeClr val="accent6"/>
                </a:solidFill>
                <a:latin typeface="Tahoma" pitchFamily="34" charset="0"/>
                <a:ea typeface="黑体" pitchFamily="49" charset="-122"/>
              </a:rPr>
              <a:t>用八选</a:t>
            </a:r>
            <a:r>
              <a:rPr kumimoji="1" lang="zh-CN" altLang="en-US" sz="1400" dirty="0">
                <a:solidFill>
                  <a:schemeClr val="accent6"/>
                </a:solidFill>
                <a:latin typeface="Tahoma" pitchFamily="34" charset="0"/>
                <a:ea typeface="黑体" pitchFamily="49" charset="-122"/>
              </a:rPr>
              <a:t>一数据选择器实现以下逻辑函数</a:t>
            </a:r>
            <a:r>
              <a:rPr kumimoji="1" lang="zh-CN" altLang="en-US" sz="1400" dirty="0" smtClean="0">
                <a:solidFill>
                  <a:schemeClr val="accent6"/>
                </a:solidFill>
                <a:latin typeface="Tahoma" pitchFamily="34" charset="0"/>
                <a:ea typeface="黑体" pitchFamily="49" charset="-122"/>
              </a:rPr>
              <a:t>：</a:t>
            </a:r>
            <a:endParaRPr kumimoji="1" lang="en-US" altLang="zh-CN" sz="1400" dirty="0">
              <a:solidFill>
                <a:schemeClr val="accent6"/>
              </a:solidFill>
              <a:latin typeface="Tahoma" pitchFamily="34" charset="0"/>
              <a:ea typeface="黑体" pitchFamily="49" charset="-122"/>
            </a:endParaRPr>
          </a:p>
        </p:txBody>
      </p:sp>
      <p:sp>
        <p:nvSpPr>
          <p:cNvPr id="12" name="Text Box 7"/>
          <p:cNvSpPr txBox="1">
            <a:spLocks noChangeArrowheads="1"/>
          </p:cNvSpPr>
          <p:nvPr/>
        </p:nvSpPr>
        <p:spPr bwMode="auto">
          <a:xfrm>
            <a:off x="381000" y="1428750"/>
            <a:ext cx="1685077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kumimoji="1" lang="zh-CN" altLang="en-US" sz="1400" dirty="0" smtClean="0">
                <a:solidFill>
                  <a:schemeClr val="accent6"/>
                </a:solidFill>
                <a:latin typeface="Tahoma" pitchFamily="34" charset="0"/>
                <a:ea typeface="黑体" pitchFamily="49" charset="-122"/>
              </a:rPr>
              <a:t>八选</a:t>
            </a:r>
            <a:r>
              <a:rPr kumimoji="1" lang="zh-CN" altLang="en-US" sz="1400" dirty="0">
                <a:solidFill>
                  <a:schemeClr val="accent6"/>
                </a:solidFill>
                <a:latin typeface="Tahoma" pitchFamily="34" charset="0"/>
                <a:ea typeface="黑体" pitchFamily="49" charset="-122"/>
              </a:rPr>
              <a:t>一数据选择器</a:t>
            </a:r>
            <a:r>
              <a:rPr kumimoji="1" lang="en-US" altLang="zh-CN" sz="1400" dirty="0">
                <a:solidFill>
                  <a:schemeClr val="accent6"/>
                </a:solidFill>
                <a:latin typeface="Tahoma" pitchFamily="34" charset="0"/>
                <a:ea typeface="黑体" pitchFamily="49" charset="-122"/>
              </a:rPr>
              <a:t>:</a:t>
            </a:r>
          </a:p>
        </p:txBody>
      </p:sp>
      <p:graphicFrame>
        <p:nvGraphicFramePr>
          <p:cNvPr id="68612" name="Object 9"/>
          <p:cNvGraphicFramePr>
            <a:graphicFrameLocks noChangeAspect="1"/>
          </p:cNvGraphicFramePr>
          <p:nvPr/>
        </p:nvGraphicFramePr>
        <p:xfrm>
          <a:off x="457200" y="1809750"/>
          <a:ext cx="5462587" cy="609600"/>
        </p:xfrm>
        <a:graphic>
          <a:graphicData uri="http://schemas.openxmlformats.org/presentationml/2006/ole">
            <p:oleObj spid="_x0000_s72706" name="Equation" r:id="rId3" imgW="3403440" imgH="507960" progId="Equation.DSMT4">
              <p:embed/>
            </p:oleObj>
          </a:graphicData>
        </a:graphic>
      </p:graphicFrame>
      <p:graphicFrame>
        <p:nvGraphicFramePr>
          <p:cNvPr id="68613" name="Object 9"/>
          <p:cNvGraphicFramePr>
            <a:graphicFrameLocks noChangeAspect="1"/>
          </p:cNvGraphicFramePr>
          <p:nvPr/>
        </p:nvGraphicFramePr>
        <p:xfrm>
          <a:off x="3325813" y="4071938"/>
          <a:ext cx="182562" cy="214312"/>
        </p:xfrm>
        <a:graphic>
          <a:graphicData uri="http://schemas.openxmlformats.org/presentationml/2006/ole">
            <p:oleObj spid="_x0000_s72707" name="Equation" r:id="rId4" imgW="114120" imgH="177480" progId="Equation.DSMT4">
              <p:embed/>
            </p:oleObj>
          </a:graphicData>
        </a:graphic>
      </p:graphicFrame>
      <p:graphicFrame>
        <p:nvGraphicFramePr>
          <p:cNvPr id="68614" name="Object 9"/>
          <p:cNvGraphicFramePr>
            <a:graphicFrameLocks noChangeAspect="1"/>
          </p:cNvGraphicFramePr>
          <p:nvPr/>
        </p:nvGraphicFramePr>
        <p:xfrm>
          <a:off x="381000" y="3333750"/>
          <a:ext cx="2425700" cy="274637"/>
        </p:xfrm>
        <a:graphic>
          <a:graphicData uri="http://schemas.openxmlformats.org/presentationml/2006/ole">
            <p:oleObj spid="_x0000_s72708" name="Equation" r:id="rId5" imgW="1511280" imgH="228600" progId="Equation.DSMT4">
              <p:embed/>
            </p:oleObj>
          </a:graphicData>
        </a:graphic>
      </p:graphicFrame>
      <p:sp>
        <p:nvSpPr>
          <p:cNvPr id="63" name="Text Box 6"/>
          <p:cNvSpPr txBox="1">
            <a:spLocks noChangeArrowheads="1"/>
          </p:cNvSpPr>
          <p:nvPr/>
        </p:nvSpPr>
        <p:spPr bwMode="auto">
          <a:xfrm>
            <a:off x="5486400" y="971550"/>
            <a:ext cx="25908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/>
            <a:r>
              <a:rPr kumimoji="1" lang="zh-CN" altLang="en-US" sz="1400" b="1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数据选择器的控制端数量等于逻辑函数中的变量</a:t>
            </a:r>
            <a:endParaRPr kumimoji="1" lang="en-US" altLang="zh-CN" sz="1400" b="1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72711" name="Object 7"/>
          <p:cNvGraphicFramePr>
            <a:graphicFrameLocks noChangeAspect="1"/>
          </p:cNvGraphicFramePr>
          <p:nvPr/>
        </p:nvGraphicFramePr>
        <p:xfrm>
          <a:off x="3581400" y="1047750"/>
          <a:ext cx="1600200" cy="266700"/>
        </p:xfrm>
        <a:graphic>
          <a:graphicData uri="http://schemas.openxmlformats.org/presentationml/2006/ole">
            <p:oleObj spid="_x0000_s72711" name="Equation" r:id="rId6" imgW="1600200" imgH="266400" progId="Equation.DSMT4">
              <p:embed/>
            </p:oleObj>
          </a:graphicData>
        </a:graphic>
      </p:graphicFrame>
      <p:graphicFrame>
        <p:nvGraphicFramePr>
          <p:cNvPr id="72712" name="Object 8"/>
          <p:cNvGraphicFramePr>
            <a:graphicFrameLocks noChangeAspect="1"/>
          </p:cNvGraphicFramePr>
          <p:nvPr/>
        </p:nvGraphicFramePr>
        <p:xfrm>
          <a:off x="304800" y="2724150"/>
          <a:ext cx="5194300" cy="266700"/>
        </p:xfrm>
        <a:graphic>
          <a:graphicData uri="http://schemas.openxmlformats.org/presentationml/2006/ole">
            <p:oleObj spid="_x0000_s72712" name="Equation" r:id="rId7" imgW="5194080" imgH="266400" progId="Equation.DSMT4">
              <p:embed/>
            </p:oleObj>
          </a:graphicData>
        </a:graphic>
      </p:graphicFrame>
      <p:pic>
        <p:nvPicPr>
          <p:cNvPr id="72713" name="Picture 9" descr="C:\Users\hfutliujun\AppData\Roaming\Tencent\Users\350654676\QQ\WinTemp\RichOle\AI)_U3X_JE`%`UIZZ[NH[%E.png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6477000" y="1657350"/>
            <a:ext cx="2186340" cy="1276350"/>
          </a:xfrm>
          <a:prstGeom prst="rect">
            <a:avLst/>
          </a:prstGeom>
          <a:noFill/>
        </p:spPr>
      </p:pic>
      <p:graphicFrame>
        <p:nvGraphicFramePr>
          <p:cNvPr id="72714" name="Object 10"/>
          <p:cNvGraphicFramePr>
            <a:graphicFrameLocks noChangeAspect="1"/>
          </p:cNvGraphicFramePr>
          <p:nvPr/>
        </p:nvGraphicFramePr>
        <p:xfrm>
          <a:off x="6154737" y="2495550"/>
          <a:ext cx="246063" cy="198438"/>
        </p:xfrm>
        <a:graphic>
          <a:graphicData uri="http://schemas.openxmlformats.org/presentationml/2006/ole">
            <p:oleObj spid="_x0000_s72714" name="Equation" r:id="rId9" imgW="152280" imgH="164880" progId="Equation.DSMT4">
              <p:embed/>
            </p:oleObj>
          </a:graphicData>
        </a:graphic>
      </p:graphicFrame>
      <p:graphicFrame>
        <p:nvGraphicFramePr>
          <p:cNvPr id="72715" name="Object 11"/>
          <p:cNvGraphicFramePr>
            <a:graphicFrameLocks noChangeAspect="1"/>
          </p:cNvGraphicFramePr>
          <p:nvPr/>
        </p:nvGraphicFramePr>
        <p:xfrm>
          <a:off x="6172200" y="2297112"/>
          <a:ext cx="246063" cy="198438"/>
        </p:xfrm>
        <a:graphic>
          <a:graphicData uri="http://schemas.openxmlformats.org/presentationml/2006/ole">
            <p:oleObj spid="_x0000_s72715" name="Equation" r:id="rId10" imgW="152280" imgH="164880" progId="Equation.DSMT4">
              <p:embed/>
            </p:oleObj>
          </a:graphicData>
        </a:graphic>
      </p:graphicFrame>
      <p:graphicFrame>
        <p:nvGraphicFramePr>
          <p:cNvPr id="72716" name="Object 12"/>
          <p:cNvGraphicFramePr>
            <a:graphicFrameLocks noChangeAspect="1"/>
          </p:cNvGraphicFramePr>
          <p:nvPr/>
        </p:nvGraphicFramePr>
        <p:xfrm>
          <a:off x="6172200" y="2106167"/>
          <a:ext cx="246063" cy="214312"/>
        </p:xfrm>
        <a:graphic>
          <a:graphicData uri="http://schemas.openxmlformats.org/presentationml/2006/ole">
            <p:oleObj spid="_x0000_s72716" name="Equation" r:id="rId11" imgW="152280" imgH="177480" progId="Equation.DSMT4">
              <p:embed/>
            </p:oleObj>
          </a:graphicData>
        </a:graphic>
      </p:graphicFrame>
      <p:graphicFrame>
        <p:nvGraphicFramePr>
          <p:cNvPr id="72717" name="Object 13"/>
          <p:cNvGraphicFramePr>
            <a:graphicFrameLocks noChangeAspect="1"/>
          </p:cNvGraphicFramePr>
          <p:nvPr/>
        </p:nvGraphicFramePr>
        <p:xfrm>
          <a:off x="223838" y="3867150"/>
          <a:ext cx="5013325" cy="274638"/>
        </p:xfrm>
        <a:graphic>
          <a:graphicData uri="http://schemas.openxmlformats.org/presentationml/2006/ole">
            <p:oleObj spid="_x0000_s72717" name="Equation" r:id="rId12" imgW="3124080" imgH="228600" progId="Equation.DSMT4">
              <p:embed/>
            </p:oleObj>
          </a:graphicData>
        </a:graphic>
      </p:graphicFrame>
      <p:graphicFrame>
        <p:nvGraphicFramePr>
          <p:cNvPr id="72718" name="Object 14"/>
          <p:cNvGraphicFramePr>
            <a:graphicFrameLocks noChangeAspect="1"/>
          </p:cNvGraphicFramePr>
          <p:nvPr/>
        </p:nvGraphicFramePr>
        <p:xfrm>
          <a:off x="7221537" y="2952750"/>
          <a:ext cx="142875" cy="198438"/>
        </p:xfrm>
        <a:graphic>
          <a:graphicData uri="http://schemas.openxmlformats.org/presentationml/2006/ole">
            <p:oleObj spid="_x0000_s72718" name="Equation" r:id="rId13" imgW="88560" imgH="164880" progId="Equation.DSMT4">
              <p:embed/>
            </p:oleObj>
          </a:graphicData>
        </a:graphic>
      </p:graphicFrame>
      <p:graphicFrame>
        <p:nvGraphicFramePr>
          <p:cNvPr id="72719" name="Object 15"/>
          <p:cNvGraphicFramePr>
            <a:graphicFrameLocks noChangeAspect="1"/>
          </p:cNvGraphicFramePr>
          <p:nvPr/>
        </p:nvGraphicFramePr>
        <p:xfrm>
          <a:off x="7404165" y="2952750"/>
          <a:ext cx="142875" cy="198438"/>
        </p:xfrm>
        <a:graphic>
          <a:graphicData uri="http://schemas.openxmlformats.org/presentationml/2006/ole">
            <p:oleObj spid="_x0000_s72719" name="Equation" r:id="rId14" imgW="88560" imgH="164880" progId="Equation.DSMT4">
              <p:embed/>
            </p:oleObj>
          </a:graphicData>
        </a:graphic>
      </p:graphicFrame>
      <p:graphicFrame>
        <p:nvGraphicFramePr>
          <p:cNvPr id="72720" name="Object 16"/>
          <p:cNvGraphicFramePr>
            <a:graphicFrameLocks noChangeAspect="1"/>
          </p:cNvGraphicFramePr>
          <p:nvPr/>
        </p:nvGraphicFramePr>
        <p:xfrm>
          <a:off x="7602537" y="2952750"/>
          <a:ext cx="142875" cy="198438"/>
        </p:xfrm>
        <a:graphic>
          <a:graphicData uri="http://schemas.openxmlformats.org/presentationml/2006/ole">
            <p:oleObj spid="_x0000_s72720" name="Equation" r:id="rId15" imgW="88560" imgH="164880" progId="Equation.DSMT4">
              <p:embed/>
            </p:oleObj>
          </a:graphicData>
        </a:graphic>
      </p:graphicFrame>
      <p:graphicFrame>
        <p:nvGraphicFramePr>
          <p:cNvPr id="72721" name="Object 17"/>
          <p:cNvGraphicFramePr>
            <a:graphicFrameLocks noChangeAspect="1"/>
          </p:cNvGraphicFramePr>
          <p:nvPr/>
        </p:nvGraphicFramePr>
        <p:xfrm>
          <a:off x="7817991" y="2952750"/>
          <a:ext cx="142875" cy="198438"/>
        </p:xfrm>
        <a:graphic>
          <a:graphicData uri="http://schemas.openxmlformats.org/presentationml/2006/ole">
            <p:oleObj spid="_x0000_s72721" name="Equation" r:id="rId16" imgW="88560" imgH="164880" progId="Equation.DSMT4">
              <p:embed/>
            </p:oleObj>
          </a:graphicData>
        </a:graphic>
      </p:graphicFrame>
      <p:graphicFrame>
        <p:nvGraphicFramePr>
          <p:cNvPr id="72722" name="Object 18"/>
          <p:cNvGraphicFramePr>
            <a:graphicFrameLocks noChangeAspect="1"/>
          </p:cNvGraphicFramePr>
          <p:nvPr/>
        </p:nvGraphicFramePr>
        <p:xfrm>
          <a:off x="8000554" y="2952750"/>
          <a:ext cx="142875" cy="198438"/>
        </p:xfrm>
        <a:graphic>
          <a:graphicData uri="http://schemas.openxmlformats.org/presentationml/2006/ole">
            <p:oleObj spid="_x0000_s72722" name="Equation" r:id="rId17" imgW="88560" imgH="164880" progId="Equation.DSMT4">
              <p:embed/>
            </p:oleObj>
          </a:graphicData>
        </a:graphic>
      </p:graphicFrame>
      <p:graphicFrame>
        <p:nvGraphicFramePr>
          <p:cNvPr id="72723" name="Object 19"/>
          <p:cNvGraphicFramePr>
            <a:graphicFrameLocks noChangeAspect="1"/>
          </p:cNvGraphicFramePr>
          <p:nvPr/>
        </p:nvGraphicFramePr>
        <p:xfrm>
          <a:off x="8198991" y="2952750"/>
          <a:ext cx="142875" cy="198438"/>
        </p:xfrm>
        <a:graphic>
          <a:graphicData uri="http://schemas.openxmlformats.org/presentationml/2006/ole">
            <p:oleObj spid="_x0000_s72723" name="Equation" r:id="rId18" imgW="88560" imgH="164880" progId="Equation.DSMT4">
              <p:embed/>
            </p:oleObj>
          </a:graphicData>
        </a:graphic>
      </p:graphicFrame>
      <p:graphicFrame>
        <p:nvGraphicFramePr>
          <p:cNvPr id="72724" name="Object 20"/>
          <p:cNvGraphicFramePr>
            <a:graphicFrameLocks noChangeAspect="1"/>
          </p:cNvGraphicFramePr>
          <p:nvPr/>
        </p:nvGraphicFramePr>
        <p:xfrm>
          <a:off x="6992937" y="2952750"/>
          <a:ext cx="204787" cy="212725"/>
        </p:xfrm>
        <a:graphic>
          <a:graphicData uri="http://schemas.openxmlformats.org/presentationml/2006/ole">
            <p:oleObj spid="_x0000_s72724" name="Equation" r:id="rId19" imgW="126720" imgH="177480" progId="Equation.DSMT4">
              <p:embed/>
            </p:oleObj>
          </a:graphicData>
        </a:graphic>
      </p:graphicFrame>
      <p:graphicFrame>
        <p:nvGraphicFramePr>
          <p:cNvPr id="72726" name="Object 22"/>
          <p:cNvGraphicFramePr>
            <a:graphicFrameLocks noChangeAspect="1"/>
          </p:cNvGraphicFramePr>
          <p:nvPr/>
        </p:nvGraphicFramePr>
        <p:xfrm>
          <a:off x="8364537" y="2952750"/>
          <a:ext cx="204788" cy="212725"/>
        </p:xfrm>
        <a:graphic>
          <a:graphicData uri="http://schemas.openxmlformats.org/presentationml/2006/ole">
            <p:oleObj spid="_x0000_s72726" name="Equation" r:id="rId20" imgW="126720" imgH="177480" progId="Equation.DSMT4">
              <p:embed/>
            </p:oleObj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7543800" y="3257550"/>
            <a:ext cx="609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图 </a:t>
            </a:r>
            <a:r>
              <a:rPr lang="en-US" altLang="zh-CN" sz="1600" dirty="0" smtClean="0">
                <a:latin typeface="微软雅黑" pitchFamily="34" charset="-122"/>
                <a:ea typeface="微软雅黑" pitchFamily="34" charset="-122"/>
              </a:rPr>
              <a:t>5</a:t>
            </a:r>
            <a:endParaRPr lang="zh-CN" altLang="en-US" sz="1600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548963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27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27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27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27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27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27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686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686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727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727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686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686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727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727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727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727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727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727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727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727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727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727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727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727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727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727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727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727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727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727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utoUpdateAnimBg="0"/>
      <p:bldP spid="63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349967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：中规模标准构件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ectangle 14"/>
          <p:cNvSpPr>
            <a:spLocks noChangeArrowheads="1"/>
          </p:cNvSpPr>
          <p:nvPr/>
        </p:nvSpPr>
        <p:spPr bwMode="auto">
          <a:xfrm>
            <a:off x="152400" y="590550"/>
            <a:ext cx="8610600" cy="22313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1600" b="1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数据选择器构成组合逻辑电路：例</a:t>
            </a:r>
            <a:r>
              <a:rPr lang="en-US" altLang="zh-CN" sz="1600" b="1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4</a:t>
            </a:r>
          </a:p>
          <a:p>
            <a:pPr marL="0" lvl="1">
              <a:lnSpc>
                <a:spcPct val="150000"/>
              </a:lnSpc>
            </a:pPr>
            <a:endParaRPr lang="en-US" altLang="zh-CN" sz="1600" dirty="0" smtClean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ext Box 6"/>
          <p:cNvSpPr txBox="1">
            <a:spLocks noChangeArrowheads="1"/>
          </p:cNvSpPr>
          <p:nvPr/>
        </p:nvSpPr>
        <p:spPr bwMode="auto">
          <a:xfrm>
            <a:off x="304800" y="1047750"/>
            <a:ext cx="6324600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/>
            <a:r>
              <a:rPr kumimoji="1" lang="zh-CN" altLang="en-US" sz="1400" dirty="0" smtClean="0">
                <a:solidFill>
                  <a:schemeClr val="accent6"/>
                </a:solidFill>
                <a:latin typeface="Tahoma" pitchFamily="34" charset="0"/>
                <a:ea typeface="黑体" pitchFamily="49" charset="-122"/>
              </a:rPr>
              <a:t>用八选</a:t>
            </a:r>
            <a:r>
              <a:rPr kumimoji="1" lang="zh-CN" altLang="en-US" sz="1400" dirty="0">
                <a:solidFill>
                  <a:schemeClr val="accent6"/>
                </a:solidFill>
                <a:latin typeface="Tahoma" pitchFamily="34" charset="0"/>
                <a:ea typeface="黑体" pitchFamily="49" charset="-122"/>
              </a:rPr>
              <a:t>一数据选择器实现以下逻辑函数</a:t>
            </a:r>
            <a:r>
              <a:rPr kumimoji="1" lang="zh-CN" altLang="en-US" sz="1400" dirty="0" smtClean="0">
                <a:solidFill>
                  <a:schemeClr val="accent6"/>
                </a:solidFill>
                <a:latin typeface="Tahoma" pitchFamily="34" charset="0"/>
                <a:ea typeface="黑体" pitchFamily="49" charset="-122"/>
              </a:rPr>
              <a:t>：</a:t>
            </a:r>
            <a:endParaRPr kumimoji="1" lang="en-US" altLang="zh-CN" sz="1400" dirty="0">
              <a:solidFill>
                <a:schemeClr val="accent6"/>
              </a:solidFill>
              <a:latin typeface="Tahoma" pitchFamily="34" charset="0"/>
              <a:ea typeface="黑体" pitchFamily="49" charset="-122"/>
            </a:endParaRPr>
          </a:p>
        </p:txBody>
      </p:sp>
      <p:sp>
        <p:nvSpPr>
          <p:cNvPr id="12" name="Text Box 7"/>
          <p:cNvSpPr txBox="1">
            <a:spLocks noChangeArrowheads="1"/>
          </p:cNvSpPr>
          <p:nvPr/>
        </p:nvSpPr>
        <p:spPr bwMode="auto">
          <a:xfrm>
            <a:off x="152400" y="1657350"/>
            <a:ext cx="1685077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kumimoji="1" lang="zh-CN" altLang="en-US" sz="1400" dirty="0" smtClean="0">
                <a:solidFill>
                  <a:schemeClr val="accent6"/>
                </a:solidFill>
                <a:latin typeface="Tahoma" pitchFamily="34" charset="0"/>
                <a:ea typeface="黑体" pitchFamily="49" charset="-122"/>
              </a:rPr>
              <a:t>八选</a:t>
            </a:r>
            <a:r>
              <a:rPr kumimoji="1" lang="zh-CN" altLang="en-US" sz="1400" dirty="0">
                <a:solidFill>
                  <a:schemeClr val="accent6"/>
                </a:solidFill>
                <a:latin typeface="Tahoma" pitchFamily="34" charset="0"/>
                <a:ea typeface="黑体" pitchFamily="49" charset="-122"/>
              </a:rPr>
              <a:t>一数据选择器</a:t>
            </a:r>
            <a:r>
              <a:rPr kumimoji="1" lang="en-US" altLang="zh-CN" sz="1400" dirty="0">
                <a:solidFill>
                  <a:schemeClr val="accent6"/>
                </a:solidFill>
                <a:latin typeface="Tahoma" pitchFamily="34" charset="0"/>
                <a:ea typeface="黑体" pitchFamily="49" charset="-122"/>
              </a:rPr>
              <a:t>:</a:t>
            </a:r>
          </a:p>
        </p:txBody>
      </p:sp>
      <p:graphicFrame>
        <p:nvGraphicFramePr>
          <p:cNvPr id="68612" name="Object 9"/>
          <p:cNvGraphicFramePr>
            <a:graphicFrameLocks noChangeAspect="1"/>
          </p:cNvGraphicFramePr>
          <p:nvPr/>
        </p:nvGraphicFramePr>
        <p:xfrm>
          <a:off x="1828800" y="1657350"/>
          <a:ext cx="5462587" cy="609600"/>
        </p:xfrm>
        <a:graphic>
          <a:graphicData uri="http://schemas.openxmlformats.org/presentationml/2006/ole">
            <p:oleObj spid="_x0000_s82946" name="Equation" r:id="rId3" imgW="3403440" imgH="507960" progId="Equation.DSMT4">
              <p:embed/>
            </p:oleObj>
          </a:graphicData>
        </a:graphic>
      </p:graphicFrame>
      <p:graphicFrame>
        <p:nvGraphicFramePr>
          <p:cNvPr id="68613" name="Object 9"/>
          <p:cNvGraphicFramePr>
            <a:graphicFrameLocks noChangeAspect="1"/>
          </p:cNvGraphicFramePr>
          <p:nvPr/>
        </p:nvGraphicFramePr>
        <p:xfrm>
          <a:off x="3478213" y="3508442"/>
          <a:ext cx="182562" cy="214312"/>
        </p:xfrm>
        <a:graphic>
          <a:graphicData uri="http://schemas.openxmlformats.org/presentationml/2006/ole">
            <p:oleObj spid="_x0000_s82947" name="Equation" r:id="rId4" imgW="114120" imgH="177480" progId="Equation.DSMT4">
              <p:embed/>
            </p:oleObj>
          </a:graphicData>
        </a:graphic>
      </p:graphicFrame>
      <p:graphicFrame>
        <p:nvGraphicFramePr>
          <p:cNvPr id="68614" name="Object 9"/>
          <p:cNvGraphicFramePr>
            <a:graphicFrameLocks noChangeAspect="1"/>
          </p:cNvGraphicFramePr>
          <p:nvPr/>
        </p:nvGraphicFramePr>
        <p:xfrm>
          <a:off x="273942" y="2480436"/>
          <a:ext cx="957263" cy="274638"/>
        </p:xfrm>
        <a:graphic>
          <a:graphicData uri="http://schemas.openxmlformats.org/presentationml/2006/ole">
            <p:oleObj spid="_x0000_s82948" name="Equation" r:id="rId5" imgW="596880" imgH="228600" progId="Equation.DSMT4">
              <p:embed/>
            </p:oleObj>
          </a:graphicData>
        </a:graphic>
      </p:graphicFrame>
      <p:sp>
        <p:nvSpPr>
          <p:cNvPr id="63" name="Text Box 6"/>
          <p:cNvSpPr txBox="1">
            <a:spLocks noChangeArrowheads="1"/>
          </p:cNvSpPr>
          <p:nvPr/>
        </p:nvSpPr>
        <p:spPr bwMode="auto">
          <a:xfrm>
            <a:off x="5867400" y="971550"/>
            <a:ext cx="25146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/>
            <a:r>
              <a:rPr kumimoji="1" lang="zh-CN" altLang="en-US" sz="1400" b="1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数据选择器的控制端</a:t>
            </a:r>
            <a:r>
              <a:rPr kumimoji="1" lang="zh-CN" altLang="en-US" sz="1400" b="1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数量大于逻辑函数</a:t>
            </a:r>
            <a:r>
              <a:rPr kumimoji="1" lang="zh-CN" altLang="en-US" sz="1400" b="1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中的变量</a:t>
            </a:r>
            <a:endParaRPr kumimoji="1" lang="en-US" altLang="zh-CN" sz="1400" b="1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72711" name="Object 7"/>
          <p:cNvGraphicFramePr>
            <a:graphicFrameLocks noChangeAspect="1"/>
          </p:cNvGraphicFramePr>
          <p:nvPr/>
        </p:nvGraphicFramePr>
        <p:xfrm>
          <a:off x="3581400" y="1047750"/>
          <a:ext cx="2070100" cy="279400"/>
        </p:xfrm>
        <a:graphic>
          <a:graphicData uri="http://schemas.openxmlformats.org/presentationml/2006/ole">
            <p:oleObj spid="_x0000_s82949" name="Equation" r:id="rId6" imgW="2070000" imgH="279360" progId="Equation.DSMT4">
              <p:embed/>
            </p:oleObj>
          </a:graphicData>
        </a:graphic>
      </p:graphicFrame>
      <p:pic>
        <p:nvPicPr>
          <p:cNvPr id="72713" name="Picture 9" descr="C:\Users\hfutliujun\AppData\Roaming\Tencent\Users\350654676\QQ\WinTemp\RichOle\AI)_U3X_JE`%`UIZZ[NH[%E.png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5715000" y="2343150"/>
            <a:ext cx="2186340" cy="1276350"/>
          </a:xfrm>
          <a:prstGeom prst="rect">
            <a:avLst/>
          </a:prstGeom>
          <a:noFill/>
        </p:spPr>
      </p:pic>
      <p:graphicFrame>
        <p:nvGraphicFramePr>
          <p:cNvPr id="72714" name="Object 10"/>
          <p:cNvGraphicFramePr>
            <a:graphicFrameLocks noChangeAspect="1"/>
          </p:cNvGraphicFramePr>
          <p:nvPr/>
        </p:nvGraphicFramePr>
        <p:xfrm>
          <a:off x="5413375" y="3175000"/>
          <a:ext cx="204788" cy="212725"/>
        </p:xfrm>
        <a:graphic>
          <a:graphicData uri="http://schemas.openxmlformats.org/presentationml/2006/ole">
            <p:oleObj spid="_x0000_s82951" name="Equation" r:id="rId8" imgW="126720" imgH="177480" progId="Equation.DSMT4">
              <p:embed/>
            </p:oleObj>
          </a:graphicData>
        </a:graphic>
      </p:graphicFrame>
      <p:graphicFrame>
        <p:nvGraphicFramePr>
          <p:cNvPr id="72715" name="Object 11"/>
          <p:cNvGraphicFramePr>
            <a:graphicFrameLocks noChangeAspect="1"/>
          </p:cNvGraphicFramePr>
          <p:nvPr/>
        </p:nvGraphicFramePr>
        <p:xfrm>
          <a:off x="5410200" y="2982912"/>
          <a:ext cx="246063" cy="198438"/>
        </p:xfrm>
        <a:graphic>
          <a:graphicData uri="http://schemas.openxmlformats.org/presentationml/2006/ole">
            <p:oleObj spid="_x0000_s82952" name="Equation" r:id="rId9" imgW="152280" imgH="164880" progId="Equation.DSMT4">
              <p:embed/>
            </p:oleObj>
          </a:graphicData>
        </a:graphic>
      </p:graphicFrame>
      <p:graphicFrame>
        <p:nvGraphicFramePr>
          <p:cNvPr id="72716" name="Object 12"/>
          <p:cNvGraphicFramePr>
            <a:graphicFrameLocks noChangeAspect="1"/>
          </p:cNvGraphicFramePr>
          <p:nvPr/>
        </p:nvGraphicFramePr>
        <p:xfrm>
          <a:off x="5410200" y="2800350"/>
          <a:ext cx="246063" cy="198438"/>
        </p:xfrm>
        <a:graphic>
          <a:graphicData uri="http://schemas.openxmlformats.org/presentationml/2006/ole">
            <p:oleObj spid="_x0000_s82953" name="Equation" r:id="rId10" imgW="152280" imgH="164880" progId="Equation.DSMT4">
              <p:embed/>
            </p:oleObj>
          </a:graphicData>
        </a:graphic>
      </p:graphicFrame>
      <p:graphicFrame>
        <p:nvGraphicFramePr>
          <p:cNvPr id="72717" name="Object 13"/>
          <p:cNvGraphicFramePr>
            <a:graphicFrameLocks noChangeAspect="1"/>
          </p:cNvGraphicFramePr>
          <p:nvPr/>
        </p:nvGraphicFramePr>
        <p:xfrm>
          <a:off x="762000" y="3409950"/>
          <a:ext cx="2608263" cy="274638"/>
        </p:xfrm>
        <a:graphic>
          <a:graphicData uri="http://schemas.openxmlformats.org/presentationml/2006/ole">
            <p:oleObj spid="_x0000_s82954" name="Equation" r:id="rId11" imgW="1625400" imgH="228600" progId="Equation.DSMT4">
              <p:embed/>
            </p:oleObj>
          </a:graphicData>
        </a:graphic>
      </p:graphicFrame>
      <p:graphicFrame>
        <p:nvGraphicFramePr>
          <p:cNvPr id="72718" name="Object 14"/>
          <p:cNvGraphicFramePr>
            <a:graphicFrameLocks noChangeAspect="1"/>
          </p:cNvGraphicFramePr>
          <p:nvPr/>
        </p:nvGraphicFramePr>
        <p:xfrm>
          <a:off x="6459537" y="3638550"/>
          <a:ext cx="142875" cy="198438"/>
        </p:xfrm>
        <a:graphic>
          <a:graphicData uri="http://schemas.openxmlformats.org/presentationml/2006/ole">
            <p:oleObj spid="_x0000_s82955" name="Equation" r:id="rId12" imgW="88560" imgH="164880" progId="Equation.DSMT4">
              <p:embed/>
            </p:oleObj>
          </a:graphicData>
        </a:graphic>
      </p:graphicFrame>
      <p:graphicFrame>
        <p:nvGraphicFramePr>
          <p:cNvPr id="72719" name="Object 15"/>
          <p:cNvGraphicFramePr>
            <a:graphicFrameLocks noChangeAspect="1"/>
          </p:cNvGraphicFramePr>
          <p:nvPr/>
        </p:nvGraphicFramePr>
        <p:xfrm>
          <a:off x="6642165" y="3638550"/>
          <a:ext cx="142875" cy="198438"/>
        </p:xfrm>
        <a:graphic>
          <a:graphicData uri="http://schemas.openxmlformats.org/presentationml/2006/ole">
            <p:oleObj spid="_x0000_s82956" name="Equation" r:id="rId13" imgW="88560" imgH="164880" progId="Equation.DSMT4">
              <p:embed/>
            </p:oleObj>
          </a:graphicData>
        </a:graphic>
      </p:graphicFrame>
      <p:graphicFrame>
        <p:nvGraphicFramePr>
          <p:cNvPr id="72720" name="Object 16"/>
          <p:cNvGraphicFramePr>
            <a:graphicFrameLocks noChangeAspect="1"/>
          </p:cNvGraphicFramePr>
          <p:nvPr/>
        </p:nvGraphicFramePr>
        <p:xfrm>
          <a:off x="6840537" y="3638550"/>
          <a:ext cx="142875" cy="198438"/>
        </p:xfrm>
        <a:graphic>
          <a:graphicData uri="http://schemas.openxmlformats.org/presentationml/2006/ole">
            <p:oleObj spid="_x0000_s82957" name="Equation" r:id="rId14" imgW="88560" imgH="164880" progId="Equation.DSMT4">
              <p:embed/>
            </p:oleObj>
          </a:graphicData>
        </a:graphic>
      </p:graphicFrame>
      <p:graphicFrame>
        <p:nvGraphicFramePr>
          <p:cNvPr id="72726" name="Object 22"/>
          <p:cNvGraphicFramePr>
            <a:graphicFrameLocks noChangeAspect="1"/>
          </p:cNvGraphicFramePr>
          <p:nvPr/>
        </p:nvGraphicFramePr>
        <p:xfrm>
          <a:off x="7602537" y="3638550"/>
          <a:ext cx="204788" cy="212725"/>
        </p:xfrm>
        <a:graphic>
          <a:graphicData uri="http://schemas.openxmlformats.org/presentationml/2006/ole">
            <p:oleObj spid="_x0000_s82962" name="Equation" r:id="rId15" imgW="126720" imgH="177480" progId="Equation.DSMT4">
              <p:embed/>
            </p:oleObj>
          </a:graphicData>
        </a:graphic>
      </p:graphicFrame>
      <p:graphicFrame>
        <p:nvGraphicFramePr>
          <p:cNvPr id="82964" name="Object 9"/>
          <p:cNvGraphicFramePr>
            <a:graphicFrameLocks noChangeAspect="1"/>
          </p:cNvGraphicFramePr>
          <p:nvPr/>
        </p:nvGraphicFramePr>
        <p:xfrm>
          <a:off x="762000" y="2914335"/>
          <a:ext cx="3790950" cy="579438"/>
        </p:xfrm>
        <a:graphic>
          <a:graphicData uri="http://schemas.openxmlformats.org/presentationml/2006/ole">
            <p:oleObj spid="_x0000_s82964" name="Equation" r:id="rId16" imgW="2361960" imgH="482400" progId="Equation.DSMT4">
              <p:embed/>
            </p:oleObj>
          </a:graphicData>
        </a:graphic>
      </p:graphicFrame>
      <p:graphicFrame>
        <p:nvGraphicFramePr>
          <p:cNvPr id="82966" name="Object 22"/>
          <p:cNvGraphicFramePr>
            <a:graphicFrameLocks noChangeAspect="1"/>
          </p:cNvGraphicFramePr>
          <p:nvPr/>
        </p:nvGraphicFramePr>
        <p:xfrm>
          <a:off x="1295400" y="2480436"/>
          <a:ext cx="1447800" cy="274638"/>
        </p:xfrm>
        <a:graphic>
          <a:graphicData uri="http://schemas.openxmlformats.org/presentationml/2006/ole">
            <p:oleObj spid="_x0000_s82966" name="Equation" r:id="rId17" imgW="901440" imgH="228600" progId="Equation.DSMT4">
              <p:embed/>
            </p:oleObj>
          </a:graphicData>
        </a:graphic>
      </p:graphicFrame>
      <p:graphicFrame>
        <p:nvGraphicFramePr>
          <p:cNvPr id="82967" name="Object 23"/>
          <p:cNvGraphicFramePr>
            <a:graphicFrameLocks noChangeAspect="1"/>
          </p:cNvGraphicFramePr>
          <p:nvPr/>
        </p:nvGraphicFramePr>
        <p:xfrm>
          <a:off x="7438514" y="3638550"/>
          <a:ext cx="204787" cy="212725"/>
        </p:xfrm>
        <a:graphic>
          <a:graphicData uri="http://schemas.openxmlformats.org/presentationml/2006/ole">
            <p:oleObj spid="_x0000_s82967" name="Equation" r:id="rId18" imgW="126720" imgH="177480" progId="Equation.DSMT4">
              <p:embed/>
            </p:oleObj>
          </a:graphicData>
        </a:graphic>
      </p:graphicFrame>
      <p:graphicFrame>
        <p:nvGraphicFramePr>
          <p:cNvPr id="82968" name="Object 24"/>
          <p:cNvGraphicFramePr>
            <a:graphicFrameLocks noChangeAspect="1"/>
          </p:cNvGraphicFramePr>
          <p:nvPr/>
        </p:nvGraphicFramePr>
        <p:xfrm>
          <a:off x="7202987" y="3638550"/>
          <a:ext cx="204787" cy="212725"/>
        </p:xfrm>
        <a:graphic>
          <a:graphicData uri="http://schemas.openxmlformats.org/presentationml/2006/ole">
            <p:oleObj spid="_x0000_s82968" name="Equation" r:id="rId19" imgW="126720" imgH="177480" progId="Equation.DSMT4">
              <p:embed/>
            </p:oleObj>
          </a:graphicData>
        </a:graphic>
      </p:graphicFrame>
      <p:graphicFrame>
        <p:nvGraphicFramePr>
          <p:cNvPr id="82969" name="Object 25"/>
          <p:cNvGraphicFramePr>
            <a:graphicFrameLocks noChangeAspect="1"/>
          </p:cNvGraphicFramePr>
          <p:nvPr/>
        </p:nvGraphicFramePr>
        <p:xfrm>
          <a:off x="7039474" y="3638550"/>
          <a:ext cx="204788" cy="212725"/>
        </p:xfrm>
        <a:graphic>
          <a:graphicData uri="http://schemas.openxmlformats.org/presentationml/2006/ole">
            <p:oleObj spid="_x0000_s82969" name="Equation" r:id="rId20" imgW="126720" imgH="177480" progId="Equation.DSMT4">
              <p:embed/>
            </p:oleObj>
          </a:graphicData>
        </a:graphic>
      </p:graphicFrame>
      <p:graphicFrame>
        <p:nvGraphicFramePr>
          <p:cNvPr id="82971" name="Object 27"/>
          <p:cNvGraphicFramePr>
            <a:graphicFrameLocks noChangeAspect="1"/>
          </p:cNvGraphicFramePr>
          <p:nvPr/>
        </p:nvGraphicFramePr>
        <p:xfrm>
          <a:off x="6248400" y="3638550"/>
          <a:ext cx="204788" cy="212725"/>
        </p:xfrm>
        <a:graphic>
          <a:graphicData uri="http://schemas.openxmlformats.org/presentationml/2006/ole">
            <p:oleObj spid="_x0000_s82971" name="Equation" r:id="rId21" imgW="126720" imgH="177480" progId="Equation.DSMT4">
              <p:embed/>
            </p:oleObj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6705600" y="3943350"/>
            <a:ext cx="609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图 </a:t>
            </a:r>
            <a:r>
              <a:rPr lang="en-US" altLang="zh-CN" sz="1600" dirty="0" smtClean="0">
                <a:latin typeface="微软雅黑" pitchFamily="34" charset="-122"/>
                <a:ea typeface="微软雅黑" pitchFamily="34" charset="-122"/>
              </a:rPr>
              <a:t>5</a:t>
            </a:r>
            <a:endParaRPr lang="zh-CN" altLang="en-US" sz="1600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548963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27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27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86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86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727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727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727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727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27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727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686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686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829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829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829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829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727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727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727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727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727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727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727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727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829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829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727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727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829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829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829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829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829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829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utoUpdateAnimBg="0"/>
      <p:bldP spid="63" grpId="0" autoUpdateAnimBg="0"/>
      <p:bldP spid="2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349967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：中规模标准构件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ectangle 14"/>
          <p:cNvSpPr>
            <a:spLocks noChangeArrowheads="1"/>
          </p:cNvSpPr>
          <p:nvPr/>
        </p:nvSpPr>
        <p:spPr bwMode="auto">
          <a:xfrm>
            <a:off x="152400" y="590550"/>
            <a:ext cx="8610600" cy="22313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1600" b="1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数据选择器构成组合逻辑电路：练习题</a:t>
            </a:r>
            <a:endParaRPr lang="en-US" altLang="zh-CN" sz="1600" b="1" dirty="0" smtClean="0">
              <a:solidFill>
                <a:schemeClr val="accent6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 smtClean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ext Box 6"/>
          <p:cNvSpPr txBox="1">
            <a:spLocks noChangeArrowheads="1"/>
          </p:cNvSpPr>
          <p:nvPr/>
        </p:nvSpPr>
        <p:spPr bwMode="auto">
          <a:xfrm>
            <a:off x="304800" y="1047750"/>
            <a:ext cx="6324600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/>
            <a:r>
              <a:rPr kumimoji="1" lang="zh-CN" altLang="en-US" sz="1400" dirty="0" smtClean="0">
                <a:solidFill>
                  <a:schemeClr val="accent6"/>
                </a:solidFill>
                <a:latin typeface="Tahoma" pitchFamily="34" charset="0"/>
                <a:ea typeface="黑体" pitchFamily="49" charset="-122"/>
              </a:rPr>
              <a:t>用八选</a:t>
            </a:r>
            <a:r>
              <a:rPr kumimoji="1" lang="zh-CN" altLang="en-US" sz="1400" dirty="0">
                <a:solidFill>
                  <a:schemeClr val="accent6"/>
                </a:solidFill>
                <a:latin typeface="Tahoma" pitchFamily="34" charset="0"/>
                <a:ea typeface="黑体" pitchFamily="49" charset="-122"/>
              </a:rPr>
              <a:t>一数据选择器实现以下逻辑函数</a:t>
            </a:r>
            <a:r>
              <a:rPr kumimoji="1" lang="zh-CN" altLang="en-US" sz="1400" dirty="0" smtClean="0">
                <a:solidFill>
                  <a:schemeClr val="accent6"/>
                </a:solidFill>
                <a:latin typeface="Tahoma" pitchFamily="34" charset="0"/>
                <a:ea typeface="黑体" pitchFamily="49" charset="-122"/>
              </a:rPr>
              <a:t>：</a:t>
            </a:r>
            <a:endParaRPr kumimoji="1" lang="en-US" altLang="zh-CN" sz="1400" dirty="0">
              <a:solidFill>
                <a:schemeClr val="accent6"/>
              </a:solidFill>
              <a:latin typeface="Tahoma" pitchFamily="34" charset="0"/>
              <a:ea typeface="黑体" pitchFamily="49" charset="-122"/>
            </a:endParaRPr>
          </a:p>
        </p:txBody>
      </p:sp>
      <p:graphicFrame>
        <p:nvGraphicFramePr>
          <p:cNvPr id="68613" name="Object 9"/>
          <p:cNvGraphicFramePr>
            <a:graphicFrameLocks noChangeAspect="1"/>
          </p:cNvGraphicFramePr>
          <p:nvPr/>
        </p:nvGraphicFramePr>
        <p:xfrm>
          <a:off x="3325813" y="4071938"/>
          <a:ext cx="182562" cy="214312"/>
        </p:xfrm>
        <a:graphic>
          <a:graphicData uri="http://schemas.openxmlformats.org/presentationml/2006/ole">
            <p:oleObj spid="_x0000_s83971" name="Equation" r:id="rId3" imgW="114120" imgH="177480" progId="Equation.DSMT4">
              <p:embed/>
            </p:oleObj>
          </a:graphicData>
        </a:graphic>
      </p:graphicFrame>
      <p:graphicFrame>
        <p:nvGraphicFramePr>
          <p:cNvPr id="72711" name="Object 7"/>
          <p:cNvGraphicFramePr>
            <a:graphicFrameLocks noChangeAspect="1"/>
          </p:cNvGraphicFramePr>
          <p:nvPr/>
        </p:nvGraphicFramePr>
        <p:xfrm>
          <a:off x="3594100" y="1054100"/>
          <a:ext cx="1574800" cy="254000"/>
        </p:xfrm>
        <a:graphic>
          <a:graphicData uri="http://schemas.openxmlformats.org/presentationml/2006/ole">
            <p:oleObj spid="_x0000_s83973" name="Equation" r:id="rId4" imgW="1574640" imgH="253800" progId="Equation.DSMT4">
              <p:embed/>
            </p:oleObj>
          </a:graphicData>
        </a:graphic>
      </p:graphicFrame>
      <p:pic>
        <p:nvPicPr>
          <p:cNvPr id="72713" name="Picture 9" descr="C:\Users\hfutliujun\AppData\Roaming\Tencent\Users\350654676\QQ\WinTemp\RichOle\AI)_U3X_JE`%`UIZZ[NH[%E.pn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014060" y="1828800"/>
            <a:ext cx="2186340" cy="1276350"/>
          </a:xfrm>
          <a:prstGeom prst="rect">
            <a:avLst/>
          </a:prstGeom>
          <a:noFill/>
        </p:spPr>
      </p:pic>
      <p:graphicFrame>
        <p:nvGraphicFramePr>
          <p:cNvPr id="72714" name="Object 10"/>
          <p:cNvGraphicFramePr>
            <a:graphicFrameLocks noChangeAspect="1"/>
          </p:cNvGraphicFramePr>
          <p:nvPr/>
        </p:nvGraphicFramePr>
        <p:xfrm>
          <a:off x="851754" y="2446718"/>
          <a:ext cx="204788" cy="212725"/>
        </p:xfrm>
        <a:graphic>
          <a:graphicData uri="http://schemas.openxmlformats.org/presentationml/2006/ole">
            <p:oleObj spid="_x0000_s83974" name="Equation" r:id="rId6" imgW="126720" imgH="177480" progId="Equation.DSMT4">
              <p:embed/>
            </p:oleObj>
          </a:graphicData>
        </a:graphic>
      </p:graphicFrame>
      <p:graphicFrame>
        <p:nvGraphicFramePr>
          <p:cNvPr id="72715" name="Object 11"/>
          <p:cNvGraphicFramePr>
            <a:graphicFrameLocks noChangeAspect="1"/>
          </p:cNvGraphicFramePr>
          <p:nvPr/>
        </p:nvGraphicFramePr>
        <p:xfrm>
          <a:off x="791298" y="2636772"/>
          <a:ext cx="246063" cy="198438"/>
        </p:xfrm>
        <a:graphic>
          <a:graphicData uri="http://schemas.openxmlformats.org/presentationml/2006/ole">
            <p:oleObj spid="_x0000_s83975" name="Equation" r:id="rId7" imgW="152280" imgH="164880" progId="Equation.DSMT4">
              <p:embed/>
            </p:oleObj>
          </a:graphicData>
        </a:graphic>
      </p:graphicFrame>
      <p:graphicFrame>
        <p:nvGraphicFramePr>
          <p:cNvPr id="72716" name="Object 12"/>
          <p:cNvGraphicFramePr>
            <a:graphicFrameLocks noChangeAspect="1"/>
          </p:cNvGraphicFramePr>
          <p:nvPr/>
        </p:nvGraphicFramePr>
        <p:xfrm>
          <a:off x="844197" y="2255772"/>
          <a:ext cx="246063" cy="198438"/>
        </p:xfrm>
        <a:graphic>
          <a:graphicData uri="http://schemas.openxmlformats.org/presentationml/2006/ole">
            <p:oleObj spid="_x0000_s83976" name="Equation" r:id="rId8" imgW="152280" imgH="164880" progId="Equation.DSMT4">
              <p:embed/>
            </p:oleObj>
          </a:graphicData>
        </a:graphic>
      </p:graphicFrame>
      <p:pic>
        <p:nvPicPr>
          <p:cNvPr id="27" name="Picture 9" descr="C:\Users\hfutliujun\AppData\Roaming\Tencent\Users\350654676\QQ\WinTemp\RichOle\AI)_U3X_JE`%`UIZZ[NH[%E.pn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747860" y="1905000"/>
            <a:ext cx="2186340" cy="1276350"/>
          </a:xfrm>
          <a:prstGeom prst="rect">
            <a:avLst/>
          </a:prstGeom>
          <a:noFill/>
        </p:spPr>
      </p:pic>
      <p:graphicFrame>
        <p:nvGraphicFramePr>
          <p:cNvPr id="28" name="Object 10"/>
          <p:cNvGraphicFramePr>
            <a:graphicFrameLocks noChangeAspect="1"/>
          </p:cNvGraphicFramePr>
          <p:nvPr/>
        </p:nvGraphicFramePr>
        <p:xfrm>
          <a:off x="4549488" y="2331342"/>
          <a:ext cx="204788" cy="212725"/>
        </p:xfrm>
        <a:graphic>
          <a:graphicData uri="http://schemas.openxmlformats.org/presentationml/2006/ole">
            <p:oleObj spid="_x0000_s83988" name="Equation" r:id="rId9" imgW="126720" imgH="177480" progId="Equation.DSMT4">
              <p:embed/>
            </p:oleObj>
          </a:graphicData>
        </a:graphic>
      </p:graphicFrame>
      <p:graphicFrame>
        <p:nvGraphicFramePr>
          <p:cNvPr id="29" name="Object 11"/>
          <p:cNvGraphicFramePr>
            <a:graphicFrameLocks noChangeAspect="1"/>
          </p:cNvGraphicFramePr>
          <p:nvPr/>
        </p:nvGraphicFramePr>
        <p:xfrm>
          <a:off x="4525098" y="2728020"/>
          <a:ext cx="246063" cy="198438"/>
        </p:xfrm>
        <a:graphic>
          <a:graphicData uri="http://schemas.openxmlformats.org/presentationml/2006/ole">
            <p:oleObj spid="_x0000_s83989" name="Equation" r:id="rId10" imgW="152280" imgH="164880" progId="Equation.DSMT4">
              <p:embed/>
            </p:oleObj>
          </a:graphicData>
        </a:graphic>
      </p:graphicFrame>
      <p:graphicFrame>
        <p:nvGraphicFramePr>
          <p:cNvPr id="30" name="Object 12"/>
          <p:cNvGraphicFramePr>
            <a:graphicFrameLocks noChangeAspect="1"/>
          </p:cNvGraphicFramePr>
          <p:nvPr/>
        </p:nvGraphicFramePr>
        <p:xfrm>
          <a:off x="4519260" y="2529648"/>
          <a:ext cx="246063" cy="198438"/>
        </p:xfrm>
        <a:graphic>
          <a:graphicData uri="http://schemas.openxmlformats.org/presentationml/2006/ole">
            <p:oleObj spid="_x0000_s83990" name="Equation" r:id="rId11" imgW="152280" imgH="164880" progId="Equation.DSMT4">
              <p:embed/>
            </p:oleObj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1981200" y="3562350"/>
            <a:ext cx="609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图 </a:t>
            </a:r>
            <a:r>
              <a:rPr lang="en-US" altLang="zh-CN" sz="1600" dirty="0" smtClean="0">
                <a:latin typeface="微软雅黑" pitchFamily="34" charset="-122"/>
                <a:ea typeface="微软雅黑" pitchFamily="34" charset="-122"/>
              </a:rPr>
              <a:t>6</a:t>
            </a:r>
            <a:endParaRPr lang="zh-CN" altLang="en-US" sz="16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791200" y="3562350"/>
            <a:ext cx="609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图 </a:t>
            </a:r>
            <a:r>
              <a:rPr lang="en-US" altLang="zh-CN" sz="1600" dirty="0" smtClean="0">
                <a:latin typeface="微软雅黑" pitchFamily="34" charset="-122"/>
                <a:ea typeface="微软雅黑" pitchFamily="34" charset="-122"/>
              </a:rPr>
              <a:t>7</a:t>
            </a:r>
            <a:endParaRPr lang="zh-CN" altLang="en-US" sz="1600" dirty="0"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83991" name="Object 23"/>
          <p:cNvGraphicFramePr>
            <a:graphicFrameLocks noChangeAspect="1"/>
          </p:cNvGraphicFramePr>
          <p:nvPr/>
        </p:nvGraphicFramePr>
        <p:xfrm>
          <a:off x="1752600" y="3181350"/>
          <a:ext cx="142875" cy="198438"/>
        </p:xfrm>
        <a:graphic>
          <a:graphicData uri="http://schemas.openxmlformats.org/presentationml/2006/ole">
            <p:oleObj spid="_x0000_s83991" name="Equation" r:id="rId12" imgW="88560" imgH="164880" progId="Equation.DSMT4">
              <p:embed/>
            </p:oleObj>
          </a:graphicData>
        </a:graphic>
      </p:graphicFrame>
      <p:graphicFrame>
        <p:nvGraphicFramePr>
          <p:cNvPr id="83992" name="Object 24"/>
          <p:cNvGraphicFramePr>
            <a:graphicFrameLocks noChangeAspect="1"/>
          </p:cNvGraphicFramePr>
          <p:nvPr/>
        </p:nvGraphicFramePr>
        <p:xfrm>
          <a:off x="1524000" y="3181350"/>
          <a:ext cx="204787" cy="212725"/>
        </p:xfrm>
        <a:graphic>
          <a:graphicData uri="http://schemas.openxmlformats.org/presentationml/2006/ole">
            <p:oleObj spid="_x0000_s83992" name="Equation" r:id="rId13" imgW="126720" imgH="177480" progId="Equation.DSMT4">
              <p:embed/>
            </p:oleObj>
          </a:graphicData>
        </a:graphic>
      </p:graphicFrame>
      <p:graphicFrame>
        <p:nvGraphicFramePr>
          <p:cNvPr id="83993" name="Object 25"/>
          <p:cNvGraphicFramePr>
            <a:graphicFrameLocks noChangeAspect="1"/>
          </p:cNvGraphicFramePr>
          <p:nvPr/>
        </p:nvGraphicFramePr>
        <p:xfrm>
          <a:off x="2349054" y="3181350"/>
          <a:ext cx="142875" cy="198438"/>
        </p:xfrm>
        <a:graphic>
          <a:graphicData uri="http://schemas.openxmlformats.org/presentationml/2006/ole">
            <p:oleObj spid="_x0000_s83993" name="Equation" r:id="rId14" imgW="88560" imgH="164880" progId="Equation.DSMT4">
              <p:embed/>
            </p:oleObj>
          </a:graphicData>
        </a:graphic>
      </p:graphicFrame>
      <p:graphicFrame>
        <p:nvGraphicFramePr>
          <p:cNvPr id="83994" name="Object 26"/>
          <p:cNvGraphicFramePr>
            <a:graphicFrameLocks noChangeAspect="1"/>
          </p:cNvGraphicFramePr>
          <p:nvPr/>
        </p:nvGraphicFramePr>
        <p:xfrm>
          <a:off x="2514600" y="3181350"/>
          <a:ext cx="142875" cy="198438"/>
        </p:xfrm>
        <a:graphic>
          <a:graphicData uri="http://schemas.openxmlformats.org/presentationml/2006/ole">
            <p:oleObj spid="_x0000_s83994" name="Equation" r:id="rId15" imgW="88560" imgH="164880" progId="Equation.DSMT4">
              <p:embed/>
            </p:oleObj>
          </a:graphicData>
        </a:graphic>
      </p:graphicFrame>
      <p:graphicFrame>
        <p:nvGraphicFramePr>
          <p:cNvPr id="83995" name="Object 27"/>
          <p:cNvGraphicFramePr>
            <a:graphicFrameLocks noChangeAspect="1"/>
          </p:cNvGraphicFramePr>
          <p:nvPr/>
        </p:nvGraphicFramePr>
        <p:xfrm>
          <a:off x="1905000" y="3181350"/>
          <a:ext cx="204788" cy="212725"/>
        </p:xfrm>
        <a:graphic>
          <a:graphicData uri="http://schemas.openxmlformats.org/presentationml/2006/ole">
            <p:oleObj spid="_x0000_s83995" name="Equation" r:id="rId16" imgW="126720" imgH="177480" progId="Equation.DSMT4">
              <p:embed/>
            </p:oleObj>
          </a:graphicData>
        </a:graphic>
      </p:graphicFrame>
      <p:graphicFrame>
        <p:nvGraphicFramePr>
          <p:cNvPr id="83996" name="Object 28"/>
          <p:cNvGraphicFramePr>
            <a:graphicFrameLocks noChangeAspect="1"/>
          </p:cNvGraphicFramePr>
          <p:nvPr/>
        </p:nvGraphicFramePr>
        <p:xfrm>
          <a:off x="2057400" y="3181350"/>
          <a:ext cx="204788" cy="212725"/>
        </p:xfrm>
        <a:graphic>
          <a:graphicData uri="http://schemas.openxmlformats.org/presentationml/2006/ole">
            <p:oleObj spid="_x0000_s83996" name="Equation" r:id="rId17" imgW="126720" imgH="177480" progId="Equation.DSMT4">
              <p:embed/>
            </p:oleObj>
          </a:graphicData>
        </a:graphic>
      </p:graphicFrame>
      <p:graphicFrame>
        <p:nvGraphicFramePr>
          <p:cNvPr id="83997" name="Object 29"/>
          <p:cNvGraphicFramePr>
            <a:graphicFrameLocks noChangeAspect="1"/>
          </p:cNvGraphicFramePr>
          <p:nvPr/>
        </p:nvGraphicFramePr>
        <p:xfrm>
          <a:off x="2704785" y="3181350"/>
          <a:ext cx="204788" cy="212725"/>
        </p:xfrm>
        <a:graphic>
          <a:graphicData uri="http://schemas.openxmlformats.org/presentationml/2006/ole">
            <p:oleObj spid="_x0000_s83997" name="Equation" r:id="rId18" imgW="126720" imgH="177480" progId="Equation.DSMT4">
              <p:embed/>
            </p:oleObj>
          </a:graphicData>
        </a:graphic>
      </p:graphicFrame>
      <p:graphicFrame>
        <p:nvGraphicFramePr>
          <p:cNvPr id="83998" name="Object 30"/>
          <p:cNvGraphicFramePr>
            <a:graphicFrameLocks noChangeAspect="1"/>
          </p:cNvGraphicFramePr>
          <p:nvPr/>
        </p:nvGraphicFramePr>
        <p:xfrm>
          <a:off x="2857185" y="3181350"/>
          <a:ext cx="204788" cy="212725"/>
        </p:xfrm>
        <a:graphic>
          <a:graphicData uri="http://schemas.openxmlformats.org/presentationml/2006/ole">
            <p:oleObj spid="_x0000_s83998" name="Equation" r:id="rId19" imgW="126720" imgH="177480" progId="Equation.DSMT4">
              <p:embed/>
            </p:oleObj>
          </a:graphicData>
        </a:graphic>
      </p:graphicFrame>
      <p:graphicFrame>
        <p:nvGraphicFramePr>
          <p:cNvPr id="84000" name="Object 32"/>
          <p:cNvGraphicFramePr>
            <a:graphicFrameLocks noChangeAspect="1"/>
          </p:cNvGraphicFramePr>
          <p:nvPr/>
        </p:nvGraphicFramePr>
        <p:xfrm>
          <a:off x="5692329" y="3257550"/>
          <a:ext cx="142875" cy="198438"/>
        </p:xfrm>
        <a:graphic>
          <a:graphicData uri="http://schemas.openxmlformats.org/presentationml/2006/ole">
            <p:oleObj spid="_x0000_s84000" name="Equation" r:id="rId20" imgW="88560" imgH="164880" progId="Equation.DSMT4">
              <p:embed/>
            </p:oleObj>
          </a:graphicData>
        </a:graphic>
      </p:graphicFrame>
      <p:graphicFrame>
        <p:nvGraphicFramePr>
          <p:cNvPr id="84001" name="Object 33"/>
          <p:cNvGraphicFramePr>
            <a:graphicFrameLocks noChangeAspect="1"/>
          </p:cNvGraphicFramePr>
          <p:nvPr/>
        </p:nvGraphicFramePr>
        <p:xfrm>
          <a:off x="6096000" y="3257550"/>
          <a:ext cx="142875" cy="198438"/>
        </p:xfrm>
        <a:graphic>
          <a:graphicData uri="http://schemas.openxmlformats.org/presentationml/2006/ole">
            <p:oleObj spid="_x0000_s84001" name="Equation" r:id="rId21" imgW="88560" imgH="164880" progId="Equation.DSMT4">
              <p:embed/>
            </p:oleObj>
          </a:graphicData>
        </a:graphic>
      </p:graphicFrame>
      <p:graphicFrame>
        <p:nvGraphicFramePr>
          <p:cNvPr id="84002" name="Object 34"/>
          <p:cNvGraphicFramePr>
            <a:graphicFrameLocks noChangeAspect="1"/>
          </p:cNvGraphicFramePr>
          <p:nvPr/>
        </p:nvGraphicFramePr>
        <p:xfrm>
          <a:off x="6477000" y="3257550"/>
          <a:ext cx="142875" cy="198438"/>
        </p:xfrm>
        <a:graphic>
          <a:graphicData uri="http://schemas.openxmlformats.org/presentationml/2006/ole">
            <p:oleObj spid="_x0000_s84002" name="Equation" r:id="rId22" imgW="88560" imgH="164880" progId="Equation.DSMT4">
              <p:embed/>
            </p:oleObj>
          </a:graphicData>
        </a:graphic>
      </p:graphicFrame>
      <p:graphicFrame>
        <p:nvGraphicFramePr>
          <p:cNvPr id="84003" name="Object 35"/>
          <p:cNvGraphicFramePr>
            <a:graphicFrameLocks noChangeAspect="1"/>
          </p:cNvGraphicFramePr>
          <p:nvPr/>
        </p:nvGraphicFramePr>
        <p:xfrm>
          <a:off x="5257800" y="3257550"/>
          <a:ext cx="204788" cy="212725"/>
        </p:xfrm>
        <a:graphic>
          <a:graphicData uri="http://schemas.openxmlformats.org/presentationml/2006/ole">
            <p:oleObj spid="_x0000_s84003" name="Equation" r:id="rId23" imgW="126720" imgH="177480" progId="Equation.DSMT4">
              <p:embed/>
            </p:oleObj>
          </a:graphicData>
        </a:graphic>
      </p:graphicFrame>
      <p:graphicFrame>
        <p:nvGraphicFramePr>
          <p:cNvPr id="84004" name="Object 36"/>
          <p:cNvGraphicFramePr>
            <a:graphicFrameLocks noChangeAspect="1"/>
          </p:cNvGraphicFramePr>
          <p:nvPr/>
        </p:nvGraphicFramePr>
        <p:xfrm>
          <a:off x="5486400" y="3257550"/>
          <a:ext cx="204788" cy="212725"/>
        </p:xfrm>
        <a:graphic>
          <a:graphicData uri="http://schemas.openxmlformats.org/presentationml/2006/ole">
            <p:oleObj spid="_x0000_s84004" name="Equation" r:id="rId24" imgW="126720" imgH="177480" progId="Equation.DSMT4">
              <p:embed/>
            </p:oleObj>
          </a:graphicData>
        </a:graphic>
      </p:graphicFrame>
      <p:graphicFrame>
        <p:nvGraphicFramePr>
          <p:cNvPr id="84005" name="Object 37"/>
          <p:cNvGraphicFramePr>
            <a:graphicFrameLocks noChangeAspect="1"/>
          </p:cNvGraphicFramePr>
          <p:nvPr/>
        </p:nvGraphicFramePr>
        <p:xfrm>
          <a:off x="5836542" y="3257550"/>
          <a:ext cx="204788" cy="212725"/>
        </p:xfrm>
        <a:graphic>
          <a:graphicData uri="http://schemas.openxmlformats.org/presentationml/2006/ole">
            <p:oleObj spid="_x0000_s84005" name="Equation" r:id="rId25" imgW="126720" imgH="177480" progId="Equation.DSMT4">
              <p:embed/>
            </p:oleObj>
          </a:graphicData>
        </a:graphic>
      </p:graphicFrame>
      <p:graphicFrame>
        <p:nvGraphicFramePr>
          <p:cNvPr id="84006" name="Object 38"/>
          <p:cNvGraphicFramePr>
            <a:graphicFrameLocks noChangeAspect="1"/>
          </p:cNvGraphicFramePr>
          <p:nvPr/>
        </p:nvGraphicFramePr>
        <p:xfrm>
          <a:off x="6248400" y="3257550"/>
          <a:ext cx="204788" cy="212725"/>
        </p:xfrm>
        <a:graphic>
          <a:graphicData uri="http://schemas.openxmlformats.org/presentationml/2006/ole">
            <p:oleObj spid="_x0000_s84006" name="Equation" r:id="rId26" imgW="126720" imgH="177480" progId="Equation.DSMT4">
              <p:embed/>
            </p:oleObj>
          </a:graphicData>
        </a:graphic>
      </p:graphicFrame>
      <p:graphicFrame>
        <p:nvGraphicFramePr>
          <p:cNvPr id="84007" name="Object 39"/>
          <p:cNvGraphicFramePr>
            <a:graphicFrameLocks noChangeAspect="1"/>
          </p:cNvGraphicFramePr>
          <p:nvPr/>
        </p:nvGraphicFramePr>
        <p:xfrm>
          <a:off x="6629400" y="3257550"/>
          <a:ext cx="204788" cy="212725"/>
        </p:xfrm>
        <a:graphic>
          <a:graphicData uri="http://schemas.openxmlformats.org/presentationml/2006/ole">
            <p:oleObj spid="_x0000_s84007" name="Equation" r:id="rId27" imgW="126720" imgH="177480" progId="Equation.DSMT4">
              <p:embed/>
            </p:oleObj>
          </a:graphicData>
        </a:graphic>
      </p:graphicFrame>
    </p:spTree>
    <p:extLst>
      <p:ext uri="{BB962C8B-B14F-4D97-AF65-F5344CB8AC3E}">
        <p14:creationId xmlns="" xmlns:p14="http://schemas.microsoft.com/office/powerpoint/2010/main" val="548963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39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39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39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39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39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39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39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39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839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839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839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839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39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39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839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839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840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840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840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840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840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840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840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840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840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840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840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840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840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840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840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840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默认设计模板">
  <a:themeElements>
    <a:clrScheme name="自定义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2D2D8A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6944</TotalTime>
  <Words>589</Words>
  <Application>Microsoft Office PowerPoint</Application>
  <PresentationFormat>全屏显示(16:9)</PresentationFormat>
  <Paragraphs>210</Paragraphs>
  <Slides>13</Slides>
  <Notes>0</Notes>
  <HiddenSlides>0</HiddenSlides>
  <MMClips>0</MMClips>
  <ScaleCrop>false</ScaleCrop>
  <HeadingPairs>
    <vt:vector size="6" baseType="variant"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13</vt:i4>
      </vt:variant>
    </vt:vector>
  </HeadingPairs>
  <TitlesOfParts>
    <vt:vector size="16" baseType="lpstr">
      <vt:lpstr>默认设计模板</vt:lpstr>
      <vt:lpstr>Equation</vt:lpstr>
      <vt:lpstr>MathType 6.0 Equation</vt:lpstr>
      <vt:lpstr>幻灯片 1</vt:lpstr>
      <vt:lpstr>幻灯片 2</vt:lpstr>
      <vt:lpstr>幻灯片 3</vt:lpstr>
      <vt:lpstr>幻灯片 4</vt:lpstr>
      <vt:lpstr>幻灯片 5</vt:lpstr>
      <vt:lpstr>幻灯片 6</vt:lpstr>
      <vt:lpstr>幻灯片 7</vt:lpstr>
      <vt:lpstr>幻灯片 8</vt:lpstr>
      <vt:lpstr>幻灯片 9</vt:lpstr>
      <vt:lpstr>幻灯片 10</vt:lpstr>
      <vt:lpstr>幻灯片 11</vt:lpstr>
      <vt:lpstr>幻灯片 12</vt:lpstr>
      <vt:lpstr>幻灯片 13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zhaole</dc:creator>
  <cp:lastModifiedBy>NTKO</cp:lastModifiedBy>
  <cp:revision>661</cp:revision>
  <cp:lastPrinted>2113-01-01T00:00:00Z</cp:lastPrinted>
  <dcterms:created xsi:type="dcterms:W3CDTF">2113-01-01T00:00:00Z</dcterms:created>
  <dcterms:modified xsi:type="dcterms:W3CDTF">2021-01-05T03:20:31Z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  <property fmtid="{D5CDD505-2E9C-101B-9397-08002B2CF9AE}" pid="3" name="KSOProductBuildVer">
    <vt:lpwstr>2052-11.1.0.8696</vt:lpwstr>
  </property>
</Properties>
</file>