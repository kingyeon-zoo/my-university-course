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9" r:id="rId2"/>
    <p:sldId id="313" r:id="rId3"/>
    <p:sldId id="314" r:id="rId4"/>
    <p:sldId id="326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7" r:id="rId14"/>
    <p:sldId id="324" r:id="rId1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9" autoAdjust="0"/>
    <p:restoredTop sz="95250" autoAdjust="0"/>
  </p:normalViewPr>
  <p:slideViewPr>
    <p:cSldViewPr>
      <p:cViewPr varScale="1">
        <p:scale>
          <a:sx n="127" d="100"/>
          <a:sy n="127" d="100"/>
        </p:scale>
        <p:origin x="-84" y="-2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2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19.emf"/><Relationship Id="rId1" Type="http://schemas.openxmlformats.org/officeDocument/2006/relationships/image" Target="../media/image20.wmf"/><Relationship Id="rId4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2.png"/><Relationship Id="rId4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9.bin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8.bin"/><Relationship Id="rId11" Type="http://schemas.openxmlformats.org/officeDocument/2006/relationships/oleObject" Target="../embeddings/oleObject33.bin"/><Relationship Id="rId5" Type="http://schemas.openxmlformats.org/officeDocument/2006/relationships/image" Target="../media/image38.png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7.bin"/><Relationship Id="rId9" Type="http://schemas.openxmlformats.org/officeDocument/2006/relationships/oleObject" Target="../embeddings/oleObject31.bin"/><Relationship Id="rId14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0.bin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6.bin"/><Relationship Id="rId5" Type="http://schemas.openxmlformats.org/officeDocument/2006/relationships/oleObject" Target="../embeddings/oleObject45.bin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 本 逻 辑 运 算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8191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与运算： 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也叫逻辑乘或逻辑与。即当所有的条件都满足时，事件才会发生，即“缺一不可。</a:t>
            </a: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6172200" y="2190750"/>
          <a:ext cx="1420812" cy="255588"/>
        </p:xfrm>
        <a:graphic>
          <a:graphicData uri="http://schemas.openxmlformats.org/presentationml/2006/ole">
            <p:oleObj spid="_x0000_s24578" name="Equation" r:id="rId3" imgW="914400" imgH="164880" progId="Equation.DSMT4">
              <p:embed/>
            </p:oleObj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685800" y="1428750"/>
          <a:ext cx="1869441" cy="1143000"/>
        </p:xfrm>
        <a:graphic>
          <a:graphicData uri="http://schemas.openxmlformats.org/presentationml/2006/ole">
            <p:oleObj spid="_x0000_s24579" name="Visio" r:id="rId4" imgW="2460746" imgH="1368549" progId="Visio.Drawing.11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4800" y="264795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开关闭合记为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，断开记为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小灯亮记为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  小灯灭记为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 smtClean="0">
                <a:solidFill>
                  <a:schemeClr val="accent6"/>
                </a:solidFill>
              </a:rPr>
              <a:t>。 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grpSp>
        <p:nvGrpSpPr>
          <p:cNvPr id="11" name="组合 46"/>
          <p:cNvGrpSpPr/>
          <p:nvPr/>
        </p:nvGrpSpPr>
        <p:grpSpPr>
          <a:xfrm>
            <a:off x="3505200" y="1504950"/>
            <a:ext cx="2143537" cy="1981200"/>
            <a:chOff x="169532" y="1504950"/>
            <a:chExt cx="2357891" cy="2514600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6510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0922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5334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6510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10922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5334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16510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10922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5334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16510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10922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5334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16510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F</a:t>
              </a: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10922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B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5334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 dirty="0"/>
                <a:t>A</a:t>
              </a:r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533400" y="1962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533400" y="2814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533400" y="3209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533400" y="3605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533400" y="4000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5334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10922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16510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22098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1676400" y="1962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169532" y="1504950"/>
              <a:ext cx="2357891" cy="390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灯与开关之间的关系</a:t>
              </a:r>
              <a:endPara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228600" y="6667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与运算： 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也叫逻辑乘或逻辑与。即当所有的条件都满足时，事件才会发生，即“缺一不可。</a:t>
            </a: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46"/>
          <p:cNvGrpSpPr/>
          <p:nvPr/>
        </p:nvGrpSpPr>
        <p:grpSpPr>
          <a:xfrm>
            <a:off x="990600" y="1657350"/>
            <a:ext cx="1604927" cy="1981200"/>
            <a:chOff x="465765" y="1504950"/>
            <a:chExt cx="1765420" cy="251460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6510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10922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334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16510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0922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5334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6510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0922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5334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16510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10922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5334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16510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F</a:t>
              </a:r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10922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B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5334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 dirty="0"/>
                <a:t>A</a:t>
              </a: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533400" y="1962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533400" y="2814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533400" y="3209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533400" y="3605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533400" y="4000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5334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10922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16510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22098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Line 31"/>
            <p:cNvSpPr>
              <a:spLocks noChangeShapeType="1"/>
            </p:cNvSpPr>
            <p:nvPr/>
          </p:nvSpPr>
          <p:spPr bwMode="auto">
            <a:xfrm>
              <a:off x="1676400" y="1962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465765" y="1504950"/>
              <a:ext cx="1765420" cy="390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与运算真值表</a:t>
              </a:r>
              <a:endPara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3810000" y="1352550"/>
            <a:ext cx="685800" cy="1905000"/>
            <a:chOff x="4608" y="2064"/>
            <a:chExt cx="506" cy="1536"/>
          </a:xfrm>
        </p:grpSpPr>
        <p:sp>
          <p:nvSpPr>
            <p:cNvPr id="40" name="AutoShape 65"/>
            <p:cNvSpPr>
              <a:spLocks noChangeArrowheads="1"/>
            </p:cNvSpPr>
            <p:nvPr/>
          </p:nvSpPr>
          <p:spPr bwMode="auto">
            <a:xfrm rot="-5400000">
              <a:off x="4632" y="2616"/>
              <a:ext cx="432" cy="38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66"/>
            <p:cNvSpPr>
              <a:spLocks noChangeShapeType="1"/>
            </p:cNvSpPr>
            <p:nvPr/>
          </p:nvSpPr>
          <p:spPr bwMode="auto">
            <a:xfrm flipV="1">
              <a:off x="4848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67"/>
            <p:cNvSpPr>
              <a:spLocks noChangeShapeType="1"/>
            </p:cNvSpPr>
            <p:nvPr/>
          </p:nvSpPr>
          <p:spPr bwMode="auto">
            <a:xfrm flipH="1">
              <a:off x="4752" y="30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68"/>
            <p:cNvSpPr>
              <a:spLocks noChangeShapeType="1"/>
            </p:cNvSpPr>
            <p:nvPr/>
          </p:nvSpPr>
          <p:spPr bwMode="auto">
            <a:xfrm flipH="1">
              <a:off x="4944" y="30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Text Box 69"/>
            <p:cNvSpPr txBox="1">
              <a:spLocks noChangeArrowheads="1"/>
            </p:cNvSpPr>
            <p:nvPr/>
          </p:nvSpPr>
          <p:spPr bwMode="auto">
            <a:xfrm>
              <a:off x="4728" y="2064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/>
                <a:t>F</a:t>
              </a:r>
            </a:p>
          </p:txBody>
        </p:sp>
        <p:sp>
          <p:nvSpPr>
            <p:cNvPr id="45" name="Text Box 70"/>
            <p:cNvSpPr txBox="1">
              <a:spLocks noChangeArrowheads="1"/>
            </p:cNvSpPr>
            <p:nvPr/>
          </p:nvSpPr>
          <p:spPr bwMode="auto">
            <a:xfrm>
              <a:off x="4608" y="3312"/>
              <a:ext cx="2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/>
                <a:t>A</a:t>
              </a:r>
            </a:p>
          </p:txBody>
        </p:sp>
        <p:sp>
          <p:nvSpPr>
            <p:cNvPr id="46" name="Text Box 71"/>
            <p:cNvSpPr txBox="1">
              <a:spLocks noChangeArrowheads="1"/>
            </p:cNvSpPr>
            <p:nvPr/>
          </p:nvSpPr>
          <p:spPr bwMode="auto">
            <a:xfrm>
              <a:off x="4872" y="3312"/>
              <a:ext cx="2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/>
                <a:t>B</a:t>
              </a:r>
            </a:p>
          </p:txBody>
        </p:sp>
      </p:grp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1143000" y="1276350"/>
          <a:ext cx="1420813" cy="255588"/>
        </p:xfrm>
        <a:graphic>
          <a:graphicData uri="http://schemas.openxmlformats.org/presentationml/2006/ole">
            <p:oleObj spid="_x0000_s25602" name="Equation" r:id="rId3" imgW="914400" imgH="164880" progId="Equation.DSMT4">
              <p:embed/>
            </p:oleObj>
          </a:graphicData>
        </a:graphic>
      </p:graphicFrame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3388295" y="3333750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与门逻辑符号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>
            <a:off x="6324600" y="14287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与运算性质：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5970587" y="2046287"/>
          <a:ext cx="828675" cy="314325"/>
        </p:xfrm>
        <a:graphic>
          <a:graphicData uri="http://schemas.openxmlformats.org/presentationml/2006/ole">
            <p:oleObj spid="_x0000_s25603" name="Equation" r:id="rId4" imgW="533160" imgH="203040" progId="Equation.DSMT4">
              <p:embed/>
            </p:oleObj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7104062" y="2046287"/>
          <a:ext cx="847725" cy="314325"/>
        </p:xfrm>
        <a:graphic>
          <a:graphicData uri="http://schemas.openxmlformats.org/presentationml/2006/ole">
            <p:oleObj spid="_x0000_s25604" name="Equation" r:id="rId5" imgW="545760" imgH="203040" progId="Equation.DSMT4">
              <p:embed/>
            </p:oleObj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7113587" y="2732087"/>
          <a:ext cx="887413" cy="373063"/>
        </p:xfrm>
        <a:graphic>
          <a:graphicData uri="http://schemas.openxmlformats.org/presentationml/2006/ole">
            <p:oleObj spid="_x0000_s25605" name="Equation" r:id="rId6" imgW="571320" imgH="241200" progId="Equation.DSMT4">
              <p:embed/>
            </p:oleObj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5951537" y="2760662"/>
          <a:ext cx="927100" cy="314325"/>
        </p:xfrm>
        <a:graphic>
          <a:graphicData uri="http://schemas.openxmlformats.org/presentationml/2006/ole">
            <p:oleObj spid="_x0000_s25606" name="Equation" r:id="rId7" imgW="596880" imgH="203040" progId="Equation.DSMT4">
              <p:embed/>
            </p:oleObj>
          </a:graphicData>
        </a:graphic>
      </p:graphicFrame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1828800" y="3867150"/>
            <a:ext cx="7620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1600" i="1" dirty="0" smtClean="0">
                <a:solidFill>
                  <a:schemeClr val="accent6"/>
                </a:solidFill>
                <a:latin typeface="+mj-lt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逻辑变量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做与运算</a:t>
            </a:r>
            <a:r>
              <a: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，其逻辑式可表示为</a:t>
            </a:r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2895600" y="4400550"/>
          <a:ext cx="1481138" cy="381000"/>
        </p:xfrm>
        <a:graphic>
          <a:graphicData uri="http://schemas.openxmlformats.org/presentationml/2006/ole">
            <p:oleObj spid="_x0000_s25608" name="公式" r:id="rId8" imgW="888840" imgH="228600" progId="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76200" y="590550"/>
            <a:ext cx="90678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或运算：</a:t>
            </a:r>
            <a:r>
              <a:rPr lang="zh-CN" altLang="en-US" sz="14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也叫逻辑加或逻辑或，即当其中一个条件满足时，事件就会发生，即“有一即可</a:t>
            </a:r>
            <a:r>
              <a:rPr lang="en-US" altLang="zh-CN" sz="14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”</a:t>
            </a: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6369050" y="2190750"/>
          <a:ext cx="1025525" cy="255588"/>
        </p:xfrm>
        <a:graphic>
          <a:graphicData uri="http://schemas.openxmlformats.org/presentationml/2006/ole">
            <p:oleObj spid="_x0000_s54274" name="Equation" r:id="rId3" imgW="660240" imgH="164880" progId="Equation.DSMT4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4800" y="264795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开关闭合记为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，断开记为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小灯亮记为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  小灯灭记为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 smtClean="0">
                <a:solidFill>
                  <a:schemeClr val="accent6"/>
                </a:solidFill>
              </a:rPr>
              <a:t>。 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grpSp>
        <p:nvGrpSpPr>
          <p:cNvPr id="2" name="组合 46"/>
          <p:cNvGrpSpPr/>
          <p:nvPr/>
        </p:nvGrpSpPr>
        <p:grpSpPr>
          <a:xfrm>
            <a:off x="3505200" y="1504950"/>
            <a:ext cx="2143537" cy="1981200"/>
            <a:chOff x="169532" y="1504950"/>
            <a:chExt cx="2357891" cy="2514600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6510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/>
                <a:t>1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0922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5334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6510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10922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5334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16510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10922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5334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16510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/>
                <a:t>0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10922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5334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16510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F</a:t>
              </a: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10922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B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5334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 dirty="0"/>
                <a:t>A</a:t>
              </a:r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533400" y="1962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533400" y="2814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533400" y="3209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533400" y="3605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533400" y="4000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5334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10922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16510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22098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1676400" y="1962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169532" y="1504950"/>
              <a:ext cx="2357891" cy="390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2 </a:t>
              </a:r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灯与开关之间的关系</a:t>
              </a:r>
              <a:endPara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533400" y="1352550"/>
          <a:ext cx="1752600" cy="1239838"/>
        </p:xfrm>
        <a:graphic>
          <a:graphicData uri="http://schemas.openxmlformats.org/presentationml/2006/ole">
            <p:oleObj spid="_x0000_s54276" name="Visio" r:id="rId4" imgW="2460746" imgH="1602633" progId="Visio.Drawing.11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46"/>
          <p:cNvGrpSpPr/>
          <p:nvPr/>
        </p:nvGrpSpPr>
        <p:grpSpPr>
          <a:xfrm>
            <a:off x="457200" y="1581150"/>
            <a:ext cx="1604927" cy="1981200"/>
            <a:chOff x="465765" y="1504950"/>
            <a:chExt cx="1765420" cy="251460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6510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10922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334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16510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0922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5334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6510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0922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5334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16510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10922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5334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16510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F</a:t>
              </a:r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10922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 dirty="0"/>
                <a:t>B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5334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 dirty="0"/>
                <a:t>A</a:t>
              </a: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533400" y="1962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533400" y="2814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533400" y="3209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533400" y="3605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533400" y="4000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5334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10922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16510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22098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Line 31"/>
            <p:cNvSpPr>
              <a:spLocks noChangeShapeType="1"/>
            </p:cNvSpPr>
            <p:nvPr/>
          </p:nvSpPr>
          <p:spPr bwMode="auto">
            <a:xfrm>
              <a:off x="1676400" y="1962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465765" y="1504950"/>
              <a:ext cx="1765420" cy="390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2 </a:t>
              </a:r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或运算真值表</a:t>
              </a:r>
              <a:endPara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762000" y="1200150"/>
          <a:ext cx="928687" cy="255588"/>
        </p:xfrm>
        <a:graphic>
          <a:graphicData uri="http://schemas.openxmlformats.org/presentationml/2006/ole">
            <p:oleObj spid="_x0000_s27650" name="Equation" r:id="rId3" imgW="596880" imgH="164880" progId="Equation.DSMT4">
              <p:embed/>
            </p:oleObj>
          </a:graphicData>
        </a:graphic>
      </p:graphicFrame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2586073" y="3486150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或门逻辑符号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>
            <a:off x="5208587" y="16573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或运算性质：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4883150" y="2046288"/>
          <a:ext cx="869950" cy="314325"/>
        </p:xfrm>
        <a:graphic>
          <a:graphicData uri="http://schemas.openxmlformats.org/presentationml/2006/ole">
            <p:oleObj spid="_x0000_s27651" name="Equation" r:id="rId4" imgW="558720" imgH="203040" progId="Equation.DSMT4">
              <p:embed/>
            </p:oleObj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6096000" y="2046288"/>
          <a:ext cx="728663" cy="314325"/>
        </p:xfrm>
        <a:graphic>
          <a:graphicData uri="http://schemas.openxmlformats.org/presentationml/2006/ole">
            <p:oleObj spid="_x0000_s27652" name="Equation" r:id="rId5" imgW="469800" imgH="203040" progId="Equation.DSMT4">
              <p:embed/>
            </p:oleObj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6086475" y="2732088"/>
          <a:ext cx="808038" cy="373062"/>
        </p:xfrm>
        <a:graphic>
          <a:graphicData uri="http://schemas.openxmlformats.org/presentationml/2006/ole">
            <p:oleObj spid="_x0000_s27653" name="Equation" r:id="rId6" imgW="520560" imgH="241200" progId="Equation.DSMT4">
              <p:embed/>
            </p:oleObj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4913313" y="2760663"/>
          <a:ext cx="868362" cy="314325"/>
        </p:xfrm>
        <a:graphic>
          <a:graphicData uri="http://schemas.openxmlformats.org/presentationml/2006/ole">
            <p:oleObj spid="_x0000_s27654" name="Equation" r:id="rId7" imgW="558720" imgH="203040" progId="Equation.DSMT4">
              <p:embed/>
            </p:oleObj>
          </a:graphicData>
        </a:graphic>
      </p:graphicFrame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或运算：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也叫逻辑加或逻辑或，即当其中一个条件满足时，事件就会发生，即“有一即可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”</a:t>
            </a: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Group 114"/>
          <p:cNvGrpSpPr>
            <a:grpSpLocks/>
          </p:cNvGrpSpPr>
          <p:nvPr/>
        </p:nvGrpSpPr>
        <p:grpSpPr bwMode="auto">
          <a:xfrm>
            <a:off x="3048000" y="1504950"/>
            <a:ext cx="630238" cy="1905000"/>
            <a:chOff x="4608" y="2064"/>
            <a:chExt cx="493" cy="1536"/>
          </a:xfrm>
        </p:grpSpPr>
        <p:sp>
          <p:nvSpPr>
            <p:cNvPr id="52" name="Line 115"/>
            <p:cNvSpPr>
              <a:spLocks noChangeShapeType="1"/>
            </p:cNvSpPr>
            <p:nvPr/>
          </p:nvSpPr>
          <p:spPr bwMode="auto">
            <a:xfrm flipV="1">
              <a:off x="4871" y="232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Line 116"/>
            <p:cNvSpPr>
              <a:spLocks noChangeShapeType="1"/>
            </p:cNvSpPr>
            <p:nvPr/>
          </p:nvSpPr>
          <p:spPr bwMode="auto">
            <a:xfrm flipH="1">
              <a:off x="4752" y="30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117"/>
            <p:cNvSpPr>
              <a:spLocks noChangeShapeType="1"/>
            </p:cNvSpPr>
            <p:nvPr/>
          </p:nvSpPr>
          <p:spPr bwMode="auto">
            <a:xfrm flipH="1">
              <a:off x="4944" y="30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Text Box 118"/>
            <p:cNvSpPr txBox="1">
              <a:spLocks noChangeArrowheads="1"/>
            </p:cNvSpPr>
            <p:nvPr/>
          </p:nvSpPr>
          <p:spPr bwMode="auto">
            <a:xfrm>
              <a:off x="4728" y="2064"/>
              <a:ext cx="2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/>
                <a:t>F</a:t>
              </a:r>
            </a:p>
          </p:txBody>
        </p:sp>
        <p:sp>
          <p:nvSpPr>
            <p:cNvPr id="56" name="Text Box 119"/>
            <p:cNvSpPr txBox="1">
              <a:spLocks noChangeArrowheads="1"/>
            </p:cNvSpPr>
            <p:nvPr/>
          </p:nvSpPr>
          <p:spPr bwMode="auto">
            <a:xfrm>
              <a:off x="4608" y="3312"/>
              <a:ext cx="2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/>
                <a:t>A</a:t>
              </a:r>
            </a:p>
          </p:txBody>
        </p:sp>
        <p:sp>
          <p:nvSpPr>
            <p:cNvPr id="57" name="Text Box 120"/>
            <p:cNvSpPr txBox="1">
              <a:spLocks noChangeArrowheads="1"/>
            </p:cNvSpPr>
            <p:nvPr/>
          </p:nvSpPr>
          <p:spPr bwMode="auto">
            <a:xfrm>
              <a:off x="4872" y="3312"/>
              <a:ext cx="22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/>
                <a:t>B</a:t>
              </a:r>
            </a:p>
          </p:txBody>
        </p:sp>
        <p:sp>
          <p:nvSpPr>
            <p:cNvPr id="58" name="Arc 121"/>
            <p:cNvSpPr>
              <a:spLocks/>
            </p:cNvSpPr>
            <p:nvPr/>
          </p:nvSpPr>
          <p:spPr bwMode="auto">
            <a:xfrm rot="-342628">
              <a:off x="4890" y="2544"/>
              <a:ext cx="192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Arc 122"/>
            <p:cNvSpPr>
              <a:spLocks/>
            </p:cNvSpPr>
            <p:nvPr/>
          </p:nvSpPr>
          <p:spPr bwMode="auto">
            <a:xfrm rot="367134" flipH="1">
              <a:off x="4612" y="2544"/>
              <a:ext cx="2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Arc 123"/>
            <p:cNvSpPr>
              <a:spLocks/>
            </p:cNvSpPr>
            <p:nvPr/>
          </p:nvSpPr>
          <p:spPr bwMode="auto">
            <a:xfrm rot="-2430713">
              <a:off x="4656" y="2928"/>
              <a:ext cx="384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" name="Rectangle 13"/>
          <p:cNvSpPr>
            <a:spLocks noChangeArrowheads="1"/>
          </p:cNvSpPr>
          <p:nvPr/>
        </p:nvSpPr>
        <p:spPr bwMode="auto">
          <a:xfrm>
            <a:off x="1219200" y="3943350"/>
            <a:ext cx="7620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1600" i="1" dirty="0" smtClean="0">
                <a:solidFill>
                  <a:schemeClr val="accent6"/>
                </a:solidFill>
                <a:latin typeface="+mj-lt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逻辑变量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做或运算</a:t>
            </a:r>
            <a:r>
              <a: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，其逻辑式可表示为</a:t>
            </a:r>
          </a:p>
        </p:txBody>
      </p:sp>
      <p:graphicFrame>
        <p:nvGraphicFramePr>
          <p:cNvPr id="62" name="Object 6"/>
          <p:cNvGraphicFramePr>
            <a:graphicFrameLocks noChangeAspect="1"/>
          </p:cNvGraphicFramePr>
          <p:nvPr/>
        </p:nvGraphicFramePr>
        <p:xfrm>
          <a:off x="2743200" y="4476750"/>
          <a:ext cx="1905000" cy="343167"/>
        </p:xfrm>
        <a:graphic>
          <a:graphicData uri="http://schemas.openxmlformats.org/presentationml/2006/ole">
            <p:oleObj spid="_x0000_s27655" name="公式" r:id="rId8" imgW="1269720" imgH="228600" progId="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6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819150"/>
            <a:ext cx="8610600" cy="269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非运算：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条件具备时，事件不发生；条件不具备时，事件发生，这种因果关系叫做逻辑非，也称逻辑求反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6705600" y="2190750"/>
          <a:ext cx="650875" cy="314325"/>
        </p:xfrm>
        <a:graphic>
          <a:graphicData uri="http://schemas.openxmlformats.org/presentationml/2006/ole">
            <p:oleObj spid="_x0000_s28674" name="Equation" r:id="rId3" imgW="419040" imgH="203040" progId="Equation.DSMT4">
              <p:embed/>
            </p:oleObj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839789" y="1658938"/>
          <a:ext cx="2208211" cy="1212850"/>
        </p:xfrm>
        <a:graphic>
          <a:graphicData uri="http://schemas.openxmlformats.org/presentationml/2006/ole">
            <p:oleObj spid="_x0000_s28677" name="Visio" r:id="rId4" imgW="3051174" imgH="1602633" progId="Visio.Drawing.11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310515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开关闭合记为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，断开记为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小灯亮记为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  小灯灭记为</a:t>
            </a:r>
            <a:r>
              <a:rPr lang="en-US" altLang="zh-CN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 smtClean="0">
                <a:solidFill>
                  <a:schemeClr val="accent6"/>
                </a:solidFill>
              </a:rPr>
              <a:t>。 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3733800" y="1733550"/>
          <a:ext cx="2209800" cy="1857375"/>
        </p:xfrm>
        <a:graphic>
          <a:graphicData uri="http://schemas.openxmlformats.org/presentationml/2006/ole">
            <p:oleObj spid="_x0000_s28678" name="Visio" r:id="rId5" imgW="1209460" imgH="1004180" progId="Visio.Drawing.11">
              <p:embed/>
            </p:oleObj>
          </a:graphicData>
        </a:graphic>
      </p:graphicFrame>
      <p:sp>
        <p:nvSpPr>
          <p:cNvPr id="9" name="Text Box 32"/>
          <p:cNvSpPr txBox="1">
            <a:spLocks noChangeArrowheads="1"/>
          </p:cNvSpPr>
          <p:nvPr/>
        </p:nvSpPr>
        <p:spPr bwMode="auto">
          <a:xfrm>
            <a:off x="3962400" y="1809750"/>
            <a:ext cx="21435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灯与开关之间的关系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3048000" y="1428750"/>
          <a:ext cx="650875" cy="314325"/>
        </p:xfrm>
        <a:graphic>
          <a:graphicData uri="http://schemas.openxmlformats.org/presentationml/2006/ole">
            <p:oleObj spid="_x0000_s29698" name="Equation" r:id="rId3" imgW="419040" imgH="203040" progId="Equation.DSMT4">
              <p:embed/>
            </p:oleObj>
          </a:graphicData>
        </a:graphic>
      </p:graphicFrame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3348073" y="3867150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6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非门逻辑符号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228600" y="666750"/>
            <a:ext cx="8610600" cy="269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非运算：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条件具备时，事件不发生；条件不具备时，事件发生，这种因果关系叫做逻辑非，也称逻辑求反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533400" y="2266950"/>
          <a:ext cx="2209800" cy="1856846"/>
        </p:xfrm>
        <a:graphic>
          <a:graphicData uri="http://schemas.openxmlformats.org/presentationml/2006/ole">
            <p:oleObj spid="_x0000_s29703" name="Visio" r:id="rId4" imgW="1209460" imgH="1004180" progId="Visio.Drawing.11">
              <p:embed/>
            </p:oleObj>
          </a:graphicData>
        </a:graphic>
      </p:graphicFrame>
      <p:sp>
        <p:nvSpPr>
          <p:cNvPr id="61" name="Text Box 32"/>
          <p:cNvSpPr txBox="1">
            <a:spLocks noChangeArrowheads="1"/>
          </p:cNvSpPr>
          <p:nvPr/>
        </p:nvSpPr>
        <p:spPr bwMode="auto">
          <a:xfrm>
            <a:off x="914401" y="2343150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非运算真值表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9706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0" y="2114550"/>
            <a:ext cx="642938" cy="1721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" name="Text Box 32"/>
          <p:cNvSpPr txBox="1">
            <a:spLocks noChangeArrowheads="1"/>
          </p:cNvSpPr>
          <p:nvPr/>
        </p:nvSpPr>
        <p:spPr bwMode="auto">
          <a:xfrm>
            <a:off x="5970587" y="20383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非运算性质：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0" name="Object 5"/>
          <p:cNvGraphicFramePr>
            <a:graphicFrameLocks noChangeAspect="1"/>
          </p:cNvGraphicFramePr>
          <p:nvPr/>
        </p:nvGraphicFramePr>
        <p:xfrm>
          <a:off x="5638800" y="2495550"/>
          <a:ext cx="889000" cy="373062"/>
        </p:xfrm>
        <a:graphic>
          <a:graphicData uri="http://schemas.openxmlformats.org/presentationml/2006/ole">
            <p:oleObj spid="_x0000_s29707" name="Equation" r:id="rId6" imgW="571320" imgH="241200" progId="Equation.DSMT4">
              <p:embed/>
            </p:oleObj>
          </a:graphicData>
        </a:graphic>
      </p:graphicFrame>
      <p:graphicFrame>
        <p:nvGraphicFramePr>
          <p:cNvPr id="72" name="Object 7"/>
          <p:cNvGraphicFramePr>
            <a:graphicFrameLocks noChangeAspect="1"/>
          </p:cNvGraphicFramePr>
          <p:nvPr/>
        </p:nvGraphicFramePr>
        <p:xfrm>
          <a:off x="6858000" y="2495550"/>
          <a:ext cx="808038" cy="373062"/>
        </p:xfrm>
        <a:graphic>
          <a:graphicData uri="http://schemas.openxmlformats.org/presentationml/2006/ole">
            <p:oleObj spid="_x0000_s29709" name="Equation" r:id="rId7" imgW="520560" imgH="2412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685800" y="6667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与非运算：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先与运算后非运算的组合。</a:t>
            </a: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46"/>
          <p:cNvGrpSpPr/>
          <p:nvPr/>
        </p:nvGrpSpPr>
        <p:grpSpPr>
          <a:xfrm>
            <a:off x="915546" y="2038350"/>
            <a:ext cx="1784464" cy="1981200"/>
            <a:chOff x="367020" y="1504950"/>
            <a:chExt cx="1962911" cy="251460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6510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0</a:t>
              </a:r>
              <a:endParaRPr lang="en-US" altLang="zh-CN" sz="1600" dirty="0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10922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334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16510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0922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5334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651000" y="2814637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0922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5334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16510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10922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5334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16510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F</a:t>
              </a:r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10922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B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5334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 dirty="0"/>
                <a:t>A</a:t>
              </a: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533400" y="1962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533400" y="2814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533400" y="3209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533400" y="3605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533400" y="4000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5334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10922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16510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22098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Line 31"/>
            <p:cNvSpPr>
              <a:spLocks noChangeShapeType="1"/>
            </p:cNvSpPr>
            <p:nvPr/>
          </p:nvSpPr>
          <p:spPr bwMode="auto">
            <a:xfrm>
              <a:off x="1676400" y="1962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367020" y="1504950"/>
              <a:ext cx="1962911" cy="390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4 </a:t>
              </a:r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与非运算真值表</a:t>
              </a:r>
              <a:endPara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3200400" y="1276350"/>
          <a:ext cx="809625" cy="314325"/>
        </p:xfrm>
        <a:graphic>
          <a:graphicData uri="http://schemas.openxmlformats.org/presentationml/2006/ole">
            <p:oleObj spid="_x0000_s30722" name="Equation" r:id="rId3" imgW="520560" imgH="203040" progId="Equation.DSMT4">
              <p:embed/>
            </p:oleObj>
          </a:graphicData>
        </a:graphic>
      </p:graphicFrame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4419600" y="3790950"/>
            <a:ext cx="1784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7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与非门逻辑符号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30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962150"/>
            <a:ext cx="5334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矩形 51"/>
          <p:cNvSpPr/>
          <p:nvPr/>
        </p:nvSpPr>
        <p:spPr>
          <a:xfrm>
            <a:off x="838200" y="4171950"/>
            <a:ext cx="214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出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，全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才出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685800" y="6667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或非运算：</a:t>
            </a:r>
            <a:r>
              <a:rPr lang="zh-CN" altLang="en-US" sz="16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先或运算后非运算的组合。</a:t>
            </a:r>
            <a:endParaRPr lang="en-US" altLang="zh-CN" sz="1600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46"/>
          <p:cNvGrpSpPr/>
          <p:nvPr/>
        </p:nvGrpSpPr>
        <p:grpSpPr>
          <a:xfrm>
            <a:off x="915546" y="2038350"/>
            <a:ext cx="1784464" cy="1981200"/>
            <a:chOff x="367020" y="1504950"/>
            <a:chExt cx="1962911" cy="251460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6510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0</a:t>
              </a:r>
              <a:endParaRPr lang="en-US" altLang="zh-CN" sz="1600" dirty="0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10922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33400" y="3605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16510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0</a:t>
              </a:r>
              <a:endParaRPr lang="en-US" altLang="zh-CN" sz="1600" dirty="0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0922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533400" y="3209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651000" y="2814637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0</a:t>
              </a:r>
              <a:endParaRPr lang="en-US" altLang="zh-CN" sz="1600" dirty="0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0922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533400" y="2814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16510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10922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533400" y="2419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16510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F</a:t>
              </a:r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10922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/>
                <a:t>B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533400" y="1962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i="1" dirty="0"/>
                <a:t>A</a:t>
              </a: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533400" y="1962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533400" y="2814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533400" y="3209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533400" y="3605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533400" y="4000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5334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10922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1651000" y="1962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2209800" y="1962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>
              <a:off x="533400" y="2419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Line 31"/>
            <p:cNvSpPr>
              <a:spLocks noChangeShapeType="1"/>
            </p:cNvSpPr>
            <p:nvPr/>
          </p:nvSpPr>
          <p:spPr bwMode="auto">
            <a:xfrm>
              <a:off x="1676400" y="1962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367020" y="1504950"/>
              <a:ext cx="1962911" cy="390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5 </a:t>
              </a:r>
              <a:r>
                <a:rPr lang="zh-CN" altLang="en-US" sz="1400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与非运算真值表</a:t>
              </a:r>
              <a:endPara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3141663" y="1276350"/>
          <a:ext cx="928687" cy="314325"/>
        </p:xfrm>
        <a:graphic>
          <a:graphicData uri="http://schemas.openxmlformats.org/presentationml/2006/ole">
            <p:oleObj spid="_x0000_s32770" name="Equation" r:id="rId3" imgW="596880" imgH="203040" progId="Equation.DSMT4">
              <p:embed/>
            </p:oleObj>
          </a:graphicData>
        </a:graphic>
      </p:graphicFrame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4419600" y="3790950"/>
            <a:ext cx="1784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或非门逻辑符号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809750"/>
            <a:ext cx="685800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矩形 38"/>
          <p:cNvSpPr/>
          <p:nvPr/>
        </p:nvSpPr>
        <p:spPr>
          <a:xfrm>
            <a:off x="914400" y="4171950"/>
            <a:ext cx="214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出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，全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才出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228600" y="742950"/>
            <a:ext cx="8610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异或运算：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1608138" y="885825"/>
          <a:ext cx="1065212" cy="274638"/>
        </p:xfrm>
        <a:graphic>
          <a:graphicData uri="http://schemas.openxmlformats.org/presentationml/2006/ole">
            <p:oleObj spid="_x0000_s35842" name="Equation" r:id="rId3" imgW="685800" imgH="177480" progId="Equation.DSMT4">
              <p:embed/>
            </p:oleObj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2651125" y="834140"/>
          <a:ext cx="1006475" cy="312738"/>
        </p:xfrm>
        <a:graphic>
          <a:graphicData uri="http://schemas.openxmlformats.org/presentationml/2006/ole">
            <p:oleObj spid="_x0000_s35845" name="Equation" r:id="rId4" imgW="647640" imgH="203040" progId="Equation.DSMT4">
              <p:embed/>
            </p:oleObj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685800" y="1504950"/>
            <a:ext cx="1930400" cy="2438400"/>
            <a:chOff x="1041400" y="1962150"/>
            <a:chExt cx="1701800" cy="2438400"/>
          </a:xfrm>
        </p:grpSpPr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159000" y="3986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1600200" y="3986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041400" y="3986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159000" y="3590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600200" y="3590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041400" y="3590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2159000" y="3195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1600200" y="3195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1041400" y="3195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159000" y="2800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1600200" y="2800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041400" y="2800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2159000" y="2343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F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600200" y="2343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B</a:t>
              </a: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041400" y="2343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/>
                <a:t>A</a:t>
              </a: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1041400" y="2343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1041400" y="2800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1041400" y="3195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1041400" y="3590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1041400" y="3986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1041400" y="4381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1041400" y="2343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1600200" y="2343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2159000" y="2343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2717800" y="2343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1041400" y="2800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2184400" y="2343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1146288" y="1962150"/>
              <a:ext cx="159691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600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600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6 </a:t>
              </a:r>
              <a:r>
                <a:rPr lang="zh-CN" altLang="en-US" sz="1600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异或真值表</a:t>
              </a:r>
              <a:endPara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Text Box 35"/>
          <p:cNvSpPr txBox="1">
            <a:spLocks noChangeArrowheads="1"/>
          </p:cNvSpPr>
          <p:nvPr/>
        </p:nvSpPr>
        <p:spPr bwMode="auto">
          <a:xfrm>
            <a:off x="685800" y="4171950"/>
            <a:ext cx="186140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相异为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，相同为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8600" y="1657350"/>
            <a:ext cx="644292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3581400" y="3867150"/>
            <a:ext cx="1784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9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异或门逻辑符号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 Box 32"/>
          <p:cNvSpPr txBox="1">
            <a:spLocks noChangeArrowheads="1"/>
          </p:cNvSpPr>
          <p:nvPr/>
        </p:nvSpPr>
        <p:spPr bwMode="auto">
          <a:xfrm>
            <a:off x="6253953" y="14287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异或运算性质：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6019800" y="1885950"/>
          <a:ext cx="928687" cy="373063"/>
        </p:xfrm>
        <a:graphic>
          <a:graphicData uri="http://schemas.openxmlformats.org/presentationml/2006/ole">
            <p:oleObj spid="_x0000_s35847" name="Equation" r:id="rId6" imgW="596880" imgH="241200" progId="Equation.DSMT4">
              <p:embed/>
            </p:oleObj>
          </a:graphicData>
        </a:graphic>
      </p:graphicFrame>
      <p:graphicFrame>
        <p:nvGraphicFramePr>
          <p:cNvPr id="46" name="Object 7"/>
          <p:cNvGraphicFramePr>
            <a:graphicFrameLocks noChangeAspect="1"/>
          </p:cNvGraphicFramePr>
          <p:nvPr/>
        </p:nvGraphicFramePr>
        <p:xfrm>
          <a:off x="7181850" y="1914525"/>
          <a:ext cx="965200" cy="314325"/>
        </p:xfrm>
        <a:graphic>
          <a:graphicData uri="http://schemas.openxmlformats.org/presentationml/2006/ole">
            <p:oleObj spid="_x0000_s35848" name="Equation" r:id="rId7" imgW="622080" imgH="203040" progId="Equation.DSMT4">
              <p:embed/>
            </p:oleObj>
          </a:graphicData>
        </a:graphic>
      </p:graphicFrame>
      <p:graphicFrame>
        <p:nvGraphicFramePr>
          <p:cNvPr id="35849" name="Object 9"/>
          <p:cNvGraphicFramePr>
            <a:graphicFrameLocks noChangeAspect="1"/>
          </p:cNvGraphicFramePr>
          <p:nvPr/>
        </p:nvGraphicFramePr>
        <p:xfrm>
          <a:off x="6100763" y="2371725"/>
          <a:ext cx="809625" cy="314325"/>
        </p:xfrm>
        <a:graphic>
          <a:graphicData uri="http://schemas.openxmlformats.org/presentationml/2006/ole">
            <p:oleObj spid="_x0000_s35849" name="Equation" r:id="rId8" imgW="520560" imgH="203040" progId="Equation.DSMT4">
              <p:embed/>
            </p:oleObj>
          </a:graphicData>
        </a:graphic>
      </p:graphicFrame>
      <p:graphicFrame>
        <p:nvGraphicFramePr>
          <p:cNvPr id="35850" name="Object 10"/>
          <p:cNvGraphicFramePr>
            <a:graphicFrameLocks noChangeAspect="1"/>
          </p:cNvGraphicFramePr>
          <p:nvPr/>
        </p:nvGraphicFramePr>
        <p:xfrm>
          <a:off x="7305675" y="2371725"/>
          <a:ext cx="768350" cy="314325"/>
        </p:xfrm>
        <a:graphic>
          <a:graphicData uri="http://schemas.openxmlformats.org/presentationml/2006/ole">
            <p:oleObj spid="_x0000_s35850" name="Equation" r:id="rId9" imgW="495000" imgH="203040" progId="Equation.DSMT4">
              <p:embed/>
            </p:oleObj>
          </a:graphicData>
        </a:graphic>
      </p:graphicFrame>
      <p:graphicFrame>
        <p:nvGraphicFramePr>
          <p:cNvPr id="35851" name="Object 11"/>
          <p:cNvGraphicFramePr>
            <a:graphicFrameLocks noChangeAspect="1"/>
          </p:cNvGraphicFramePr>
          <p:nvPr/>
        </p:nvGraphicFramePr>
        <p:xfrm flipV="1">
          <a:off x="6934200" y="2800350"/>
          <a:ext cx="1449877" cy="266596"/>
        </p:xfrm>
        <a:graphic>
          <a:graphicData uri="http://schemas.openxmlformats.org/presentationml/2006/ole">
            <p:oleObj spid="_x0000_s35851" name="Equation" r:id="rId10" imgW="965160" imgH="177480" progId="">
              <p:embed/>
            </p:oleObj>
          </a:graphicData>
        </a:graphic>
      </p:graphicFrame>
      <p:graphicFrame>
        <p:nvGraphicFramePr>
          <p:cNvPr id="35852" name="Object 12"/>
          <p:cNvGraphicFramePr>
            <a:graphicFrameLocks noChangeAspect="1"/>
          </p:cNvGraphicFramePr>
          <p:nvPr/>
        </p:nvGraphicFramePr>
        <p:xfrm flipV="1">
          <a:off x="6629400" y="3181350"/>
          <a:ext cx="2288355" cy="275006"/>
        </p:xfrm>
        <a:graphic>
          <a:graphicData uri="http://schemas.openxmlformats.org/presentationml/2006/ole">
            <p:oleObj spid="_x0000_s35852" name="公式" r:id="rId11" imgW="1688760" imgH="203040" progId="">
              <p:embed/>
            </p:oleObj>
          </a:graphicData>
        </a:graphic>
      </p:graphicFrame>
      <p:graphicFrame>
        <p:nvGraphicFramePr>
          <p:cNvPr id="35853" name="Object 13"/>
          <p:cNvGraphicFramePr>
            <a:graphicFrameLocks noChangeAspect="1"/>
          </p:cNvGraphicFramePr>
          <p:nvPr/>
        </p:nvGraphicFramePr>
        <p:xfrm flipV="1">
          <a:off x="6781800" y="3562350"/>
          <a:ext cx="1945226" cy="282575"/>
        </p:xfrm>
        <a:graphic>
          <a:graphicData uri="http://schemas.openxmlformats.org/presentationml/2006/ole">
            <p:oleObj spid="_x0000_s35853" name="Equation" r:id="rId12" imgW="1396800" imgH="203040" progId="">
              <p:embed/>
            </p:oleObj>
          </a:graphicData>
        </a:graphic>
      </p:graphicFrame>
      <p:sp>
        <p:nvSpPr>
          <p:cNvPr id="47" name="Text Box 32"/>
          <p:cNvSpPr txBox="1">
            <a:spLocks noChangeArrowheads="1"/>
          </p:cNvSpPr>
          <p:nvPr/>
        </p:nvSpPr>
        <p:spPr bwMode="auto">
          <a:xfrm>
            <a:off x="5257800" y="28003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交换律：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5257800" y="31813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结合律：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>
            <a:off x="5257800" y="35411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分配律：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5854" name="Object 14"/>
          <p:cNvGraphicFramePr>
            <a:graphicFrameLocks noChangeAspect="1"/>
          </p:cNvGraphicFramePr>
          <p:nvPr/>
        </p:nvGraphicFramePr>
        <p:xfrm>
          <a:off x="6858000" y="2343150"/>
          <a:ext cx="238125" cy="255588"/>
        </p:xfrm>
        <a:graphic>
          <a:graphicData uri="http://schemas.openxmlformats.org/presentationml/2006/ole">
            <p:oleObj spid="_x0000_s35854" name="Equation" r:id="rId13" imgW="152280" imgH="164880" progId="Equation.DSMT4">
              <p:embed/>
            </p:oleObj>
          </a:graphicData>
        </a:graphic>
      </p:graphicFrame>
      <p:graphicFrame>
        <p:nvGraphicFramePr>
          <p:cNvPr id="35855" name="Object 15"/>
          <p:cNvGraphicFramePr>
            <a:graphicFrameLocks noChangeAspect="1"/>
          </p:cNvGraphicFramePr>
          <p:nvPr/>
        </p:nvGraphicFramePr>
        <p:xfrm>
          <a:off x="8001000" y="2343150"/>
          <a:ext cx="236537" cy="314325"/>
        </p:xfrm>
        <a:graphic>
          <a:graphicData uri="http://schemas.openxmlformats.org/presentationml/2006/ole">
            <p:oleObj spid="_x0000_s35855" name="Equation" r:id="rId14" imgW="152280" imgH="20304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7" grpId="0"/>
      <p:bldP spid="48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228600" y="742950"/>
            <a:ext cx="8610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同或运算：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1600200" y="819150"/>
          <a:ext cx="1776412" cy="354013"/>
        </p:xfrm>
        <a:graphic>
          <a:graphicData uri="http://schemas.openxmlformats.org/presentationml/2006/ole">
            <p:oleObj spid="_x0000_s37890" name="Equation" r:id="rId3" imgW="1143000" imgH="228600" progId="Equation.DSMT4">
              <p:embed/>
            </p:oleObj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3352800" y="820400"/>
          <a:ext cx="1046163" cy="312738"/>
        </p:xfrm>
        <a:graphic>
          <a:graphicData uri="http://schemas.openxmlformats.org/presentationml/2006/ole">
            <p:oleObj spid="_x0000_s37891" name="Equation" r:id="rId4" imgW="672840" imgH="203040" progId="Equation.DSMT4">
              <p:embed/>
            </p:oleObj>
          </a:graphicData>
        </a:graphic>
      </p:graphicFrame>
      <p:grpSp>
        <p:nvGrpSpPr>
          <p:cNvPr id="2" name="组合 39"/>
          <p:cNvGrpSpPr/>
          <p:nvPr/>
        </p:nvGrpSpPr>
        <p:grpSpPr>
          <a:xfrm>
            <a:off x="685800" y="1504950"/>
            <a:ext cx="1901588" cy="2438400"/>
            <a:chOff x="1041400" y="1962150"/>
            <a:chExt cx="1676400" cy="2438400"/>
          </a:xfrm>
        </p:grpSpPr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159000" y="3986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1600200" y="3986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041400" y="3986213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159000" y="3590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0</a:t>
              </a:r>
              <a:endParaRPr lang="en-US" altLang="zh-CN" sz="1600" dirty="0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600200" y="3590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041400" y="3590925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2159000" y="3195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0</a:t>
              </a:r>
              <a:endParaRPr lang="en-US" altLang="zh-CN" sz="1600" dirty="0"/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1600200" y="3195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1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1041400" y="3195638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159000" y="2800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 smtClean="0"/>
                <a:t>1</a:t>
              </a:r>
              <a:endParaRPr lang="en-US" altLang="zh-CN" sz="1600" dirty="0"/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1600200" y="2800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041400" y="2800350"/>
              <a:ext cx="5588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0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2159000" y="2343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F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600200" y="2343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/>
                <a:t>B</a:t>
              </a: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041400" y="2343150"/>
              <a:ext cx="558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/>
                <a:t>A</a:t>
              </a: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1041400" y="234315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1041400" y="2800350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1041400" y="3195638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1041400" y="359092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1041400" y="3986213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1041400" y="4381500"/>
              <a:ext cx="1676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1041400" y="2343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1600200" y="2343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2159000" y="2343150"/>
              <a:ext cx="0" cy="2038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2717800" y="2343150"/>
              <a:ext cx="0" cy="2038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1041400" y="280035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2184400" y="2343150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endParaRPr lang="zh-CN" altLang="en-US" sz="1600"/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1146288" y="1962150"/>
              <a:ext cx="140780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600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表</a:t>
              </a:r>
              <a:r>
                <a:rPr lang="en-US" altLang="zh-CN" sz="1600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7 </a:t>
              </a:r>
              <a:r>
                <a:rPr lang="zh-CN" altLang="en-US" sz="1600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同或</a:t>
              </a:r>
              <a:r>
                <a:rPr lang="zh-CN" altLang="en-US" sz="1600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真值表</a:t>
              </a:r>
              <a:endParaRPr lang="zh-CN" altLang="en-US" sz="16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Text Box 35"/>
          <p:cNvSpPr txBox="1">
            <a:spLocks noChangeArrowheads="1"/>
          </p:cNvSpPr>
          <p:nvPr/>
        </p:nvSpPr>
        <p:spPr bwMode="auto">
          <a:xfrm>
            <a:off x="685800" y="4171950"/>
            <a:ext cx="186140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相同为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，相异为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3526097" y="3867150"/>
            <a:ext cx="18950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同或门逻辑符号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 Box 32"/>
          <p:cNvSpPr txBox="1">
            <a:spLocks noChangeArrowheads="1"/>
          </p:cNvSpPr>
          <p:nvPr/>
        </p:nvSpPr>
        <p:spPr bwMode="auto">
          <a:xfrm>
            <a:off x="5943600" y="2038350"/>
            <a:ext cx="1518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同或运算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性质：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5618163" y="2524125"/>
          <a:ext cx="928687" cy="314325"/>
        </p:xfrm>
        <a:graphic>
          <a:graphicData uri="http://schemas.openxmlformats.org/presentationml/2006/ole">
            <p:oleObj spid="_x0000_s37892" name="Equation" r:id="rId5" imgW="596880" imgH="203040" progId="Equation.DSMT4">
              <p:embed/>
            </p:oleObj>
          </a:graphicData>
        </a:graphic>
      </p:graphicFrame>
      <p:graphicFrame>
        <p:nvGraphicFramePr>
          <p:cNvPr id="46" name="Object 7"/>
          <p:cNvGraphicFramePr>
            <a:graphicFrameLocks noChangeAspect="1"/>
          </p:cNvGraphicFramePr>
          <p:nvPr/>
        </p:nvGraphicFramePr>
        <p:xfrm>
          <a:off x="6770688" y="2495550"/>
          <a:ext cx="985837" cy="373063"/>
        </p:xfrm>
        <a:graphic>
          <a:graphicData uri="http://schemas.openxmlformats.org/presentationml/2006/ole">
            <p:oleObj spid="_x0000_s37893" name="Equation" r:id="rId6" imgW="634680" imgH="241200" progId="Equation.DSMT4">
              <p:embed/>
            </p:oleObj>
          </a:graphicData>
        </a:graphic>
      </p:graphicFrame>
      <p:graphicFrame>
        <p:nvGraphicFramePr>
          <p:cNvPr id="35849" name="Object 9"/>
          <p:cNvGraphicFramePr>
            <a:graphicFrameLocks noChangeAspect="1"/>
          </p:cNvGraphicFramePr>
          <p:nvPr/>
        </p:nvGraphicFramePr>
        <p:xfrm>
          <a:off x="6781800" y="2991475"/>
          <a:ext cx="968375" cy="373063"/>
        </p:xfrm>
        <a:graphic>
          <a:graphicData uri="http://schemas.openxmlformats.org/presentationml/2006/ole">
            <p:oleObj spid="_x0000_s37894" name="Equation" r:id="rId7" imgW="622080" imgH="241200" progId="Equation.DSMT4">
              <p:embed/>
            </p:oleObj>
          </a:graphicData>
        </a:graphic>
      </p:graphicFrame>
      <p:graphicFrame>
        <p:nvGraphicFramePr>
          <p:cNvPr id="35850" name="Object 10"/>
          <p:cNvGraphicFramePr>
            <a:graphicFrameLocks noChangeAspect="1"/>
          </p:cNvGraphicFramePr>
          <p:nvPr/>
        </p:nvGraphicFramePr>
        <p:xfrm>
          <a:off x="5562600" y="3028950"/>
          <a:ext cx="925513" cy="314325"/>
        </p:xfrm>
        <a:graphic>
          <a:graphicData uri="http://schemas.openxmlformats.org/presentationml/2006/ole">
            <p:oleObj spid="_x0000_s37895" name="Equation" r:id="rId8" imgW="596880" imgH="203040" progId="Equation.DSMT4">
              <p:embed/>
            </p:oleObj>
          </a:graphicData>
        </a:graphic>
      </p:graphicFrame>
      <p:pic>
        <p:nvPicPr>
          <p:cNvPr id="37897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114800" y="1733550"/>
            <a:ext cx="647700" cy="2202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228600" y="742950"/>
            <a:ext cx="8610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练习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10"/>
          <p:cNvGrpSpPr>
            <a:grpSpLocks/>
          </p:cNvGrpSpPr>
          <p:nvPr/>
        </p:nvGrpSpPr>
        <p:grpSpPr bwMode="auto">
          <a:xfrm>
            <a:off x="1286466" y="742950"/>
            <a:ext cx="3722684" cy="378287"/>
            <a:chOff x="395536" y="2483938"/>
            <a:chExt cx="3722338" cy="378415"/>
          </a:xfrm>
        </p:grpSpPr>
        <p:graphicFrame>
          <p:nvGraphicFramePr>
            <p:cNvPr id="48" name="Object 2"/>
            <p:cNvGraphicFramePr>
              <a:graphicFrameLocks noChangeAspect="1"/>
            </p:cNvGraphicFramePr>
            <p:nvPr/>
          </p:nvGraphicFramePr>
          <p:xfrm>
            <a:off x="1919393" y="2513531"/>
            <a:ext cx="719367" cy="304903"/>
          </p:xfrm>
          <a:graphic>
            <a:graphicData uri="http://schemas.openxmlformats.org/presentationml/2006/ole">
              <p:oleObj spid="_x0000_s38921" name="Equation" r:id="rId3" imgW="419040" imgH="177480" progId="Equation.DSMT4">
                <p:embed/>
              </p:oleObj>
            </a:graphicData>
          </a:graphic>
        </p:graphicFrame>
        <p:sp>
          <p:nvSpPr>
            <p:cNvPr id="49" name="Text Box 5"/>
            <p:cNvSpPr txBox="1">
              <a:spLocks noChangeArrowheads="1"/>
            </p:cNvSpPr>
            <p:nvPr/>
          </p:nvSpPr>
          <p:spPr bwMode="auto">
            <a:xfrm>
              <a:off x="395536" y="2492896"/>
              <a:ext cx="3096344" cy="36945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 smtClean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哪些表达式</a:t>
              </a:r>
              <a:r>
                <a:rPr lang="zh-CN" altLang="en-US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与</a:t>
              </a:r>
            </a:p>
          </p:txBody>
        </p:sp>
        <p:sp>
          <p:nvSpPr>
            <p:cNvPr id="50" name="Text Box 5"/>
            <p:cNvSpPr txBox="1">
              <a:spLocks noChangeArrowheads="1"/>
            </p:cNvSpPr>
            <p:nvPr/>
          </p:nvSpPr>
          <p:spPr bwMode="auto">
            <a:xfrm>
              <a:off x="2605705" y="2483938"/>
              <a:ext cx="1512169" cy="36945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相同？</a:t>
              </a:r>
            </a:p>
          </p:txBody>
        </p:sp>
      </p:grpSp>
      <p:graphicFrame>
        <p:nvGraphicFramePr>
          <p:cNvPr id="55" name="Object 4"/>
          <p:cNvGraphicFramePr>
            <a:graphicFrameLocks noChangeAspect="1"/>
          </p:cNvGraphicFramePr>
          <p:nvPr/>
        </p:nvGraphicFramePr>
        <p:xfrm>
          <a:off x="1401764" y="2198688"/>
          <a:ext cx="1048706" cy="348520"/>
        </p:xfrm>
        <a:graphic>
          <a:graphicData uri="http://schemas.openxmlformats.org/presentationml/2006/ole">
            <p:oleObj spid="_x0000_s38923" name="Equation" r:id="rId4" imgW="723600" imgH="241200" progId="Equation.DSMT4">
              <p:embed/>
            </p:oleObj>
          </a:graphicData>
        </a:graphic>
      </p:graphicFrame>
      <p:graphicFrame>
        <p:nvGraphicFramePr>
          <p:cNvPr id="56" name="Object 5"/>
          <p:cNvGraphicFramePr>
            <a:graphicFrameLocks noChangeAspect="1"/>
          </p:cNvGraphicFramePr>
          <p:nvPr/>
        </p:nvGraphicFramePr>
        <p:xfrm>
          <a:off x="2971800" y="2163763"/>
          <a:ext cx="1084895" cy="348520"/>
        </p:xfrm>
        <a:graphic>
          <a:graphicData uri="http://schemas.openxmlformats.org/presentationml/2006/ole">
            <p:oleObj spid="_x0000_s38924" name="Equation" r:id="rId5" imgW="749160" imgH="241200" progId="Equation.DSMT4">
              <p:embed/>
            </p:oleObj>
          </a:graphicData>
        </a:graphic>
      </p:graphicFrame>
      <p:graphicFrame>
        <p:nvGraphicFramePr>
          <p:cNvPr id="57" name="Object 6"/>
          <p:cNvGraphicFramePr>
            <a:graphicFrameLocks noChangeAspect="1"/>
          </p:cNvGraphicFramePr>
          <p:nvPr/>
        </p:nvGraphicFramePr>
        <p:xfrm>
          <a:off x="4724400" y="2146300"/>
          <a:ext cx="1066800" cy="349306"/>
        </p:xfrm>
        <a:graphic>
          <a:graphicData uri="http://schemas.openxmlformats.org/presentationml/2006/ole">
            <p:oleObj spid="_x0000_s38925" name="Equation" r:id="rId6" imgW="736560" imgH="241200" progId="Equation.DSMT4">
              <p:embed/>
            </p:oleObj>
          </a:graphicData>
        </a:graphic>
      </p:graphicFrame>
      <p:graphicFrame>
        <p:nvGraphicFramePr>
          <p:cNvPr id="58" name="Object 7"/>
          <p:cNvGraphicFramePr>
            <a:graphicFrameLocks noChangeAspect="1"/>
          </p:cNvGraphicFramePr>
          <p:nvPr/>
        </p:nvGraphicFramePr>
        <p:xfrm>
          <a:off x="1371600" y="2909030"/>
          <a:ext cx="1085682" cy="348520"/>
        </p:xfrm>
        <a:graphic>
          <a:graphicData uri="http://schemas.openxmlformats.org/presentationml/2006/ole">
            <p:oleObj spid="_x0000_s38926" name="Equation" r:id="rId7" imgW="749160" imgH="241200" progId="Equation.DSMT4">
              <p:embed/>
            </p:oleObj>
          </a:graphicData>
        </a:graphic>
      </p:graphicFrame>
      <p:graphicFrame>
        <p:nvGraphicFramePr>
          <p:cNvPr id="59" name="Object 8"/>
          <p:cNvGraphicFramePr>
            <a:graphicFrameLocks noChangeAspect="1"/>
          </p:cNvGraphicFramePr>
          <p:nvPr/>
        </p:nvGraphicFramePr>
        <p:xfrm>
          <a:off x="2995614" y="2874105"/>
          <a:ext cx="1066802" cy="348520"/>
        </p:xfrm>
        <a:graphic>
          <a:graphicData uri="http://schemas.openxmlformats.org/presentationml/2006/ole">
            <p:oleObj spid="_x0000_s38927" name="Equation" r:id="rId8" imgW="736560" imgH="241200" progId="Equation.DSMT4">
              <p:embed/>
            </p:oleObj>
          </a:graphicData>
        </a:graphic>
      </p:graphicFrame>
      <p:graphicFrame>
        <p:nvGraphicFramePr>
          <p:cNvPr id="60" name="Object 9"/>
          <p:cNvGraphicFramePr>
            <a:graphicFrameLocks noChangeAspect="1"/>
          </p:cNvGraphicFramePr>
          <p:nvPr/>
        </p:nvGraphicFramePr>
        <p:xfrm>
          <a:off x="4730750" y="2856642"/>
          <a:ext cx="1066800" cy="349306"/>
        </p:xfrm>
        <a:graphic>
          <a:graphicData uri="http://schemas.openxmlformats.org/presentationml/2006/ole">
            <p:oleObj spid="_x0000_s38928" name="Equation" r:id="rId9" imgW="736560" imgH="241200" progId="Equation.DSMT4">
              <p:embed/>
            </p:oleObj>
          </a:graphicData>
        </a:graphic>
      </p:graphicFrame>
      <p:grpSp>
        <p:nvGrpSpPr>
          <p:cNvPr id="61" name="组合 10"/>
          <p:cNvGrpSpPr>
            <a:grpSpLocks/>
          </p:cNvGrpSpPr>
          <p:nvPr/>
        </p:nvGrpSpPr>
        <p:grpSpPr bwMode="auto">
          <a:xfrm>
            <a:off x="1295400" y="1200150"/>
            <a:ext cx="3722684" cy="378287"/>
            <a:chOff x="395536" y="2483938"/>
            <a:chExt cx="3722338" cy="378415"/>
          </a:xfrm>
        </p:grpSpPr>
        <p:graphicFrame>
          <p:nvGraphicFramePr>
            <p:cNvPr id="62" name="Object 2"/>
            <p:cNvGraphicFramePr>
              <a:graphicFrameLocks noChangeAspect="1"/>
            </p:cNvGraphicFramePr>
            <p:nvPr/>
          </p:nvGraphicFramePr>
          <p:xfrm>
            <a:off x="1919394" y="2502994"/>
            <a:ext cx="719071" cy="327136"/>
          </p:xfrm>
          <a:graphic>
            <a:graphicData uri="http://schemas.openxmlformats.org/presentationml/2006/ole">
              <p:oleObj spid="_x0000_s38929" name="Equation" r:id="rId10" imgW="419040" imgH="190440" progId="Equation.DSMT4">
                <p:embed/>
              </p:oleObj>
            </a:graphicData>
          </a:graphic>
        </p:graphicFrame>
        <p:sp>
          <p:nvSpPr>
            <p:cNvPr id="63" name="Text Box 5"/>
            <p:cNvSpPr txBox="1">
              <a:spLocks noChangeArrowheads="1"/>
            </p:cNvSpPr>
            <p:nvPr/>
          </p:nvSpPr>
          <p:spPr bwMode="auto">
            <a:xfrm>
              <a:off x="395536" y="2492896"/>
              <a:ext cx="3096344" cy="36945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哪些表达式与</a:t>
              </a:r>
            </a:p>
          </p:txBody>
        </p:sp>
        <p:sp>
          <p:nvSpPr>
            <p:cNvPr id="64" name="Text Box 5"/>
            <p:cNvSpPr txBox="1">
              <a:spLocks noChangeArrowheads="1"/>
            </p:cNvSpPr>
            <p:nvPr/>
          </p:nvSpPr>
          <p:spPr bwMode="auto">
            <a:xfrm>
              <a:off x="2605705" y="2483938"/>
              <a:ext cx="1512169" cy="36945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相同？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228600" y="742950"/>
            <a:ext cx="8610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762000" y="1276350"/>
          <a:ext cx="2711450" cy="355600"/>
        </p:xfrm>
        <a:graphic>
          <a:graphicData uri="http://schemas.openxmlformats.org/presentationml/2006/ole">
            <p:oleObj spid="_x0000_s63491" name="Equation" r:id="rId3" imgW="2514600" imgH="330120" progId="Equation.DSMT4">
              <p:embed/>
            </p:oleObj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1143000" y="1733550"/>
          <a:ext cx="4038600" cy="368300"/>
        </p:xfrm>
        <a:graphic>
          <a:graphicData uri="http://schemas.openxmlformats.org/presentationml/2006/ole">
            <p:oleObj spid="_x0000_s63492" name="Equation" r:id="rId4" imgW="3746160" imgH="342720" progId="Equation.DSMT4">
              <p:embed/>
            </p:oleObj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1219200" y="2343150"/>
          <a:ext cx="4038600" cy="368300"/>
        </p:xfrm>
        <a:graphic>
          <a:graphicData uri="http://schemas.openxmlformats.org/presentationml/2006/ole">
            <p:oleObj spid="_x0000_s63493" name="Equation" r:id="rId5" imgW="3746160" imgH="34272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1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：逻 辑 运 算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228600" y="742950"/>
            <a:ext cx="8610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Object 1"/>
          <p:cNvGraphicFramePr>
            <a:graphicFrameLocks noChangeAspect="1"/>
          </p:cNvGraphicFramePr>
          <p:nvPr/>
        </p:nvGraphicFramePr>
        <p:xfrm>
          <a:off x="381000" y="1200150"/>
          <a:ext cx="6858000" cy="1957118"/>
        </p:xfrm>
        <a:graphic>
          <a:graphicData uri="http://schemas.openxmlformats.org/presentationml/2006/ole">
            <p:oleObj spid="_x0000_s51210" name="Visio" r:id="rId3" imgW="4285851" imgH="1215241" progId="Visio.Drawing.11">
              <p:embed/>
            </p:oleObj>
          </a:graphicData>
        </a:graphic>
      </p:graphicFrame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1219200" y="3333750"/>
            <a:ext cx="5616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/>
              <a:t>F=A</a:t>
            </a:r>
            <a:r>
              <a:rPr lang="zh-CN" altLang="en-US" sz="2800" b="1" dirty="0"/>
              <a:t>，问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的取值</a:t>
            </a:r>
            <a:r>
              <a:rPr lang="zh-CN" altLang="en-US" sz="2800" dirty="0"/>
              <a:t>？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711</Words>
  <Application>Microsoft Office PowerPoint</Application>
  <PresentationFormat>全屏显示(16:9)</PresentationFormat>
  <Paragraphs>231</Paragraphs>
  <Slides>14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默认设计模板</vt:lpstr>
      <vt:lpstr>Equation</vt:lpstr>
      <vt:lpstr>Visio</vt:lpstr>
      <vt:lpstr>公式</vt:lpstr>
      <vt:lpstr>Microsoft Visio 绘图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316</cp:revision>
  <cp:lastPrinted>2113-01-01T00:00:00Z</cp:lastPrinted>
  <dcterms:created xsi:type="dcterms:W3CDTF">2113-01-01T00:00:00Z</dcterms:created>
  <dcterms:modified xsi:type="dcterms:W3CDTF">2020-12-19T09:02:52Z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