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09" r:id="rId2"/>
    <p:sldId id="439" r:id="rId3"/>
    <p:sldId id="510" r:id="rId4"/>
    <p:sldId id="489" r:id="rId5"/>
    <p:sldId id="490" r:id="rId6"/>
    <p:sldId id="491" r:id="rId7"/>
    <p:sldId id="492" r:id="rId8"/>
    <p:sldId id="494" r:id="rId9"/>
    <p:sldId id="495" r:id="rId10"/>
    <p:sldId id="511" r:id="rId11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4BA"/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0" autoAdjust="0"/>
    <p:restoredTop sz="98916" autoAdjust="0"/>
  </p:normalViewPr>
  <p:slideViewPr>
    <p:cSldViewPr>
      <p:cViewPr varScale="1">
        <p:scale>
          <a:sx n="100" d="100"/>
          <a:sy n="100" d="100"/>
        </p:scale>
        <p:origin x="780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7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9.emf"/><Relationship Id="rId1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4.wmf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6.w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5" Type="http://schemas.openxmlformats.org/officeDocument/2006/relationships/image" Target="../media/image25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7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9.bin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24.wmf"/><Relationship Id="rId18" Type="http://schemas.openxmlformats.org/officeDocument/2006/relationships/oleObject" Target="../embeddings/oleObject38.bin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26.wmf"/><Relationship Id="rId2" Type="http://schemas.openxmlformats.org/officeDocument/2006/relationships/oleObject" Target="../embeddings/oleObject30.bin"/><Relationship Id="rId16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5" Type="http://schemas.openxmlformats.org/officeDocument/2006/relationships/image" Target="../media/image25.wmf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27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3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计 数 器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151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计数器功能：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记忆脉冲的个数。用于定时、分频、产生节拍脉冲及进行数字运算等等。其记忆脉冲的最大数   目称为计 数器的模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4" name="Rectangle 14">
            <a:extLst>
              <a:ext uri="{FF2B5EF4-FFF2-40B4-BE49-F238E27FC236}">
                <a16:creationId xmlns:a16="http://schemas.microsoft.com/office/drawing/2014/main" id="{CEA86415-C416-44BF-9CC6-E669711C7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809750"/>
            <a:ext cx="8001000" cy="2182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计数器分类：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2A893B-03F0-442E-B57A-CB8A80548232}"/>
              </a:ext>
            </a:extLst>
          </p:cNvPr>
          <p:cNvSpPr txBox="1"/>
          <p:nvPr/>
        </p:nvSpPr>
        <p:spPr>
          <a:xfrm>
            <a:off x="133350" y="2480073"/>
            <a:ext cx="5402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按计数器脉冲信号是否来自同一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同步计数器和异步计数器</a:t>
            </a:r>
          </a:p>
          <a:p>
            <a:pPr eaLnBrk="1" hangingPunct="1"/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</a:t>
            </a: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F42842-B8FD-4CA8-A72D-9A9C70BAE2E2}"/>
              </a:ext>
            </a:extLst>
          </p:cNvPr>
          <p:cNvSpPr txBox="1"/>
          <p:nvPr/>
        </p:nvSpPr>
        <p:spPr>
          <a:xfrm>
            <a:off x="27214" y="2974451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按计数的功能：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加法计数器、减法计数器和可逆计数器</a:t>
            </a:r>
          </a:p>
          <a:p>
            <a:pPr eaLnBrk="1" hangingPunct="1"/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44" grpId="0"/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143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可逆计数器的例子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3400" y="33337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状态图</a:t>
            </a:r>
          </a:p>
        </p:txBody>
      </p:sp>
      <p:pic>
        <p:nvPicPr>
          <p:cNvPr id="263169" name="Picture 1" descr="C:\Users\hfutliujun\AppData\Roaming\Tencent\Users\350654676\QQ\WinTemp\RichOle\@_)7N@PYO16SCFO5F$QV_(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971550"/>
            <a:ext cx="2100558" cy="2133600"/>
          </a:xfrm>
          <a:prstGeom prst="rect">
            <a:avLst/>
          </a:prstGeom>
          <a:noFill/>
        </p:spPr>
      </p:pic>
      <p:pic>
        <p:nvPicPr>
          <p:cNvPr id="263170" name="Picture 2" descr="C:\Users\hfutliujun\AppData\Roaming\Tencent\Users\350654676\QQ\WinTemp\RichOle\}RS{CLOV5_HK8@EG){5}E%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971550"/>
            <a:ext cx="2124000" cy="2124000"/>
          </a:xfrm>
          <a:prstGeom prst="rect">
            <a:avLst/>
          </a:prstGeom>
          <a:noFill/>
        </p:spPr>
      </p:pic>
      <p:pic>
        <p:nvPicPr>
          <p:cNvPr id="263171" name="Picture 3" descr="C:\Users\hfutliujun\AppData\Roaming\Tencent\Users\350654676\QQ\WinTemp\RichOle\X6`41(_`X8B[8XP307MHLI8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0" y="971550"/>
            <a:ext cx="1990110" cy="2124000"/>
          </a:xfrm>
          <a:prstGeom prst="rect">
            <a:avLst/>
          </a:prstGeom>
          <a:noFill/>
        </p:spPr>
      </p:pic>
      <p:sp>
        <p:nvSpPr>
          <p:cNvPr id="52" name="TextBox 51"/>
          <p:cNvSpPr txBox="1"/>
          <p:nvPr/>
        </p:nvSpPr>
        <p:spPr>
          <a:xfrm>
            <a:off x="2895600" y="33337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9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状态图（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A=0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0" y="33337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10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状态（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A=1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54" name="Text Box 5"/>
          <p:cNvSpPr txBox="1">
            <a:spLocks noChangeArrowheads="1"/>
          </p:cNvSpPr>
          <p:nvPr/>
        </p:nvSpPr>
        <p:spPr bwMode="auto">
          <a:xfrm>
            <a:off x="2362200" y="3790950"/>
            <a:ext cx="3358612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功能：</a:t>
            </a:r>
            <a:r>
              <a:rPr kumimoji="1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A=0</a:t>
            </a:r>
            <a:r>
              <a:rPr kumimoji="1"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时，模</a:t>
            </a:r>
            <a:r>
              <a:rPr kumimoji="1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kumimoji="1"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加法计数器</a:t>
            </a:r>
            <a:endParaRPr kumimoji="1" lang="en-US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endParaRPr kumimoji="1" lang="en-US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r>
              <a:rPr kumimoji="1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A=1</a:t>
            </a:r>
            <a:r>
              <a:rPr kumimoji="1"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时，模</a:t>
            </a:r>
            <a:r>
              <a:rPr kumimoji="1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kumimoji="1"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减法计数器</a:t>
            </a:r>
            <a:endParaRPr kumimoji="1" lang="en-US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endParaRPr kumimoji="1"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r>
              <a:rPr kumimoji="1" lang="en-US" altLang="zh-CN" b="1" dirty="0">
                <a:latin typeface="微软雅黑" pitchFamily="34" charset="-122"/>
                <a:ea typeface="微软雅黑" pitchFamily="34" charset="-122"/>
              </a:rPr>
              <a:t>          </a:t>
            </a:r>
            <a:endParaRPr kumimoji="1"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151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计数器功能：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记忆脉冲的个数。用于定时、分频、产生节拍脉冲及进行数字运算等等。其记忆脉冲的最大数   目称为计 数器的模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4" name="Rectangle 14">
            <a:extLst>
              <a:ext uri="{FF2B5EF4-FFF2-40B4-BE49-F238E27FC236}">
                <a16:creationId xmlns:a16="http://schemas.microsoft.com/office/drawing/2014/main" id="{CEA86415-C416-44BF-9CC6-E669711C7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809750"/>
            <a:ext cx="8001000" cy="2182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计数器分类：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2A893B-03F0-442E-B57A-CB8A80548232}"/>
              </a:ext>
            </a:extLst>
          </p:cNvPr>
          <p:cNvSpPr txBox="1"/>
          <p:nvPr/>
        </p:nvSpPr>
        <p:spPr>
          <a:xfrm>
            <a:off x="133350" y="2480073"/>
            <a:ext cx="5402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按计数器脉冲信号是否来自同一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同步计数器和异步计数器</a:t>
            </a:r>
          </a:p>
          <a:p>
            <a:pPr eaLnBrk="1" hangingPunct="1"/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</a:t>
            </a: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F42842-B8FD-4CA8-A72D-9A9C70BAE2E2}"/>
              </a:ext>
            </a:extLst>
          </p:cNvPr>
          <p:cNvSpPr txBox="1"/>
          <p:nvPr/>
        </p:nvSpPr>
        <p:spPr>
          <a:xfrm>
            <a:off x="27214" y="2974451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按计数的功能：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加法计数器、减法计数器和可逆计数器</a:t>
            </a:r>
          </a:p>
          <a:p>
            <a:pPr eaLnBrk="1" hangingPunct="1"/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004FB1-9085-4657-88B2-B42C6BDE67F6}"/>
              </a:ext>
            </a:extLst>
          </p:cNvPr>
          <p:cNvSpPr txBox="1"/>
          <p:nvPr/>
        </p:nvSpPr>
        <p:spPr>
          <a:xfrm>
            <a:off x="76200" y="3667502"/>
            <a:ext cx="632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按计数器的进位基数：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二进制计数器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(M=2</a:t>
            </a:r>
            <a:r>
              <a:rPr lang="en-US" altLang="zh-CN" sz="14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、十进制计数器和任意进制计数器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计数器：例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144" name="对象 143"/>
          <p:cNvGraphicFramePr>
            <a:graphicFrameLocks noChangeAspect="1"/>
          </p:cNvGraphicFramePr>
          <p:nvPr/>
        </p:nvGraphicFramePr>
        <p:xfrm>
          <a:off x="1371600" y="1047750"/>
          <a:ext cx="5840299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92" name="Visio" r:id="rId2" imgW="4924460" imgH="2147295" progId="Visio.Drawing.11">
                  <p:embed/>
                </p:oleObj>
              </mc:Choice>
              <mc:Fallback>
                <p:oleObj name="Visio" r:id="rId2" imgW="4924460" imgH="2147295" progId="Visio.Drawing.11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047750"/>
                        <a:ext cx="5840299" cy="2667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3352800" y="3714750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计数器例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9400" y="26479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计数器例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395492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第一步：写出输出方程、激励方程和状态方程：</a:t>
            </a:r>
          </a:p>
        </p:txBody>
      </p:sp>
      <p:sp>
        <p:nvSpPr>
          <p:cNvPr id="94" name="Text Box 5"/>
          <p:cNvSpPr txBox="1">
            <a:spLocks noChangeArrowheads="1"/>
          </p:cNvSpPr>
          <p:nvPr/>
        </p:nvSpPr>
        <p:spPr bwMode="auto">
          <a:xfrm>
            <a:off x="990600" y="2952750"/>
            <a:ext cx="10823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激励方程：</a:t>
            </a:r>
          </a:p>
        </p:txBody>
      </p:sp>
      <p:graphicFrame>
        <p:nvGraphicFramePr>
          <p:cNvPr id="239637" name="Object 21"/>
          <p:cNvGraphicFramePr>
            <a:graphicFrameLocks noChangeAspect="1"/>
          </p:cNvGraphicFramePr>
          <p:nvPr/>
        </p:nvGraphicFramePr>
        <p:xfrm>
          <a:off x="1447801" y="3333750"/>
          <a:ext cx="2438399" cy="266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87" name="Equation" r:id="rId2" imgW="1739880" imgH="330120" progId="Equation.DSMT4">
                  <p:embed/>
                </p:oleObj>
              </mc:Choice>
              <mc:Fallback>
                <p:oleObj name="Equation" r:id="rId2" imgW="1739880" imgH="3301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1" y="3333750"/>
                        <a:ext cx="2438399" cy="2660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8" name="Object 22"/>
          <p:cNvGraphicFramePr>
            <a:graphicFrameLocks noChangeAspect="1"/>
          </p:cNvGraphicFramePr>
          <p:nvPr/>
        </p:nvGraphicFramePr>
        <p:xfrm>
          <a:off x="1447801" y="3790950"/>
          <a:ext cx="1981200" cy="330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88" name="Equation" r:id="rId4" imgW="2082600" imgH="393480" progId="Equation.DSMT4">
                  <p:embed/>
                </p:oleObj>
              </mc:Choice>
              <mc:Fallback>
                <p:oleObj name="Equation" r:id="rId4" imgW="2082600" imgH="393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1" y="3790950"/>
                        <a:ext cx="1981200" cy="330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9" name="Object 23"/>
          <p:cNvGraphicFramePr>
            <a:graphicFrameLocks noChangeAspect="1"/>
          </p:cNvGraphicFramePr>
          <p:nvPr/>
        </p:nvGraphicFramePr>
        <p:xfrm>
          <a:off x="1371600" y="4324350"/>
          <a:ext cx="2209800" cy="31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89" name="Equation" r:id="rId6" imgW="2895480" imgH="393480" progId="Equation.DSMT4">
                  <p:embed/>
                </p:oleObj>
              </mc:Choice>
              <mc:Fallback>
                <p:oleObj name="Equation" r:id="rId6" imgW="289548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324350"/>
                        <a:ext cx="2209800" cy="31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Text Box 5"/>
          <p:cNvSpPr txBox="1">
            <a:spLocks noChangeArrowheads="1"/>
          </p:cNvSpPr>
          <p:nvPr/>
        </p:nvSpPr>
        <p:spPr bwMode="auto">
          <a:xfrm>
            <a:off x="4953000" y="3028950"/>
            <a:ext cx="10823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状态方程：</a:t>
            </a:r>
          </a:p>
        </p:txBody>
      </p:sp>
      <p:graphicFrame>
        <p:nvGraphicFramePr>
          <p:cNvPr id="272393" name="Object 9"/>
          <p:cNvGraphicFramePr>
            <a:graphicFrameLocks noChangeAspect="1"/>
          </p:cNvGraphicFramePr>
          <p:nvPr/>
        </p:nvGraphicFramePr>
        <p:xfrm>
          <a:off x="1752600" y="819150"/>
          <a:ext cx="4343400" cy="1983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93" name="Visio" r:id="rId8" imgW="4924460" imgH="2147295" progId="Visio.Drawing.11">
                  <p:embed/>
                </p:oleObj>
              </mc:Choice>
              <mc:Fallback>
                <p:oleObj name="Visio" r:id="rId8" imgW="4924460" imgH="2147295" progId="Visio.Drawing.11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819150"/>
                        <a:ext cx="4343400" cy="19833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4" name="Object 10"/>
          <p:cNvGraphicFramePr>
            <a:graphicFrameLocks noChangeAspect="1"/>
          </p:cNvGraphicFramePr>
          <p:nvPr/>
        </p:nvGraphicFramePr>
        <p:xfrm>
          <a:off x="5562600" y="3409950"/>
          <a:ext cx="838200" cy="36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94" name="Equation" r:id="rId10" imgW="1028520" imgH="444240" progId="Equation.DSMT4">
                  <p:embed/>
                </p:oleObj>
              </mc:Choice>
              <mc:Fallback>
                <p:oleObj name="Equation" r:id="rId10" imgW="1028520" imgH="44424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409950"/>
                        <a:ext cx="838200" cy="362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5" name="Object 11"/>
          <p:cNvGraphicFramePr>
            <a:graphicFrameLocks noChangeAspect="1"/>
          </p:cNvGraphicFramePr>
          <p:nvPr/>
        </p:nvGraphicFramePr>
        <p:xfrm>
          <a:off x="5562600" y="3816350"/>
          <a:ext cx="1676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95" name="Equation" r:id="rId12" imgW="2095200" imgH="444240" progId="Equation.DSMT4">
                  <p:embed/>
                </p:oleObj>
              </mc:Choice>
              <mc:Fallback>
                <p:oleObj name="Equation" r:id="rId12" imgW="2095200" imgH="44424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816350"/>
                        <a:ext cx="1676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6" name="Object 12"/>
          <p:cNvGraphicFramePr>
            <a:graphicFrameLocks noChangeAspect="1"/>
          </p:cNvGraphicFramePr>
          <p:nvPr/>
        </p:nvGraphicFramePr>
        <p:xfrm>
          <a:off x="5562600" y="4324350"/>
          <a:ext cx="2237196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96" name="Equation" r:id="rId14" imgW="2654280" imgH="444240" progId="Equation.DSMT4">
                  <p:embed/>
                </p:oleObj>
              </mc:Choice>
              <mc:Fallback>
                <p:oleObj name="Equation" r:id="rId14" imgW="2654280" imgH="44424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324350"/>
                        <a:ext cx="2237196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9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9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2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2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2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2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9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22537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652266"/>
            <a:ext cx="215956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第二步：列出状态转移表</a:t>
            </a:r>
          </a:p>
        </p:txBody>
      </p:sp>
      <p:sp>
        <p:nvSpPr>
          <p:cNvPr id="25" name="Line 293"/>
          <p:cNvSpPr>
            <a:spLocks noChangeShapeType="1"/>
          </p:cNvSpPr>
          <p:nvPr/>
        </p:nvSpPr>
        <p:spPr bwMode="auto">
          <a:xfrm>
            <a:off x="1219200" y="2141538"/>
            <a:ext cx="338302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94"/>
          <p:cNvSpPr>
            <a:spLocks noChangeShapeType="1"/>
          </p:cNvSpPr>
          <p:nvPr/>
        </p:nvSpPr>
        <p:spPr bwMode="auto">
          <a:xfrm>
            <a:off x="1285429" y="1708150"/>
            <a:ext cx="3340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96"/>
          <p:cNvSpPr>
            <a:spLocks noChangeShapeType="1"/>
          </p:cNvSpPr>
          <p:nvPr/>
        </p:nvSpPr>
        <p:spPr bwMode="auto">
          <a:xfrm>
            <a:off x="1308100" y="4591050"/>
            <a:ext cx="3340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97"/>
          <p:cNvSpPr>
            <a:spLocks noChangeShapeType="1"/>
          </p:cNvSpPr>
          <p:nvPr/>
        </p:nvSpPr>
        <p:spPr bwMode="auto">
          <a:xfrm>
            <a:off x="2941637" y="1352550"/>
            <a:ext cx="0" cy="322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" name="Object 299"/>
          <p:cNvGraphicFramePr>
            <a:graphicFrameLocks noChangeAspect="1"/>
          </p:cNvGraphicFramePr>
          <p:nvPr/>
        </p:nvGraphicFramePr>
        <p:xfrm>
          <a:off x="1289541" y="1733550"/>
          <a:ext cx="386860" cy="381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10" name="Equation" r:id="rId2" imgW="215640" imgH="241200" progId="Equation.DSMT4">
                  <p:embed/>
                </p:oleObj>
              </mc:Choice>
              <mc:Fallback>
                <p:oleObj name="Equation" r:id="rId2" imgW="215640" imgH="241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541" y="1733550"/>
                        <a:ext cx="386860" cy="381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Line 294"/>
          <p:cNvSpPr>
            <a:spLocks noChangeShapeType="1"/>
          </p:cNvSpPr>
          <p:nvPr/>
        </p:nvSpPr>
        <p:spPr bwMode="auto">
          <a:xfrm>
            <a:off x="1280287" y="1352550"/>
            <a:ext cx="335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1752600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现 态</a:t>
            </a: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3429000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 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971550"/>
            <a:ext cx="266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计数器例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的状态转移表</a:t>
            </a:r>
          </a:p>
        </p:txBody>
      </p:sp>
      <p:graphicFrame>
        <p:nvGraphicFramePr>
          <p:cNvPr id="273416" name="Object 8"/>
          <p:cNvGraphicFramePr>
            <a:graphicFrameLocks noChangeAspect="1"/>
          </p:cNvGraphicFramePr>
          <p:nvPr/>
        </p:nvGraphicFramePr>
        <p:xfrm>
          <a:off x="1891490" y="1733550"/>
          <a:ext cx="38695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16" name="Equation" r:id="rId4" imgW="215640" imgH="241200" progId="Equation.DSMT4">
                  <p:embed/>
                </p:oleObj>
              </mc:Choice>
              <mc:Fallback>
                <p:oleObj name="Equation" r:id="rId4" imgW="215640" imgH="2412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1490" y="1733550"/>
                        <a:ext cx="38695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7" name="Object 9"/>
          <p:cNvGraphicFramePr>
            <a:graphicFrameLocks noChangeAspect="1"/>
          </p:cNvGraphicFramePr>
          <p:nvPr/>
        </p:nvGraphicFramePr>
        <p:xfrm>
          <a:off x="2438400" y="1733550"/>
          <a:ext cx="381000" cy="375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17" name="Equation" r:id="rId6" imgW="215640" imgH="241200" progId="Equation.DSMT4">
                  <p:embed/>
                </p:oleObj>
              </mc:Choice>
              <mc:Fallback>
                <p:oleObj name="Equation" r:id="rId6" imgW="215640" imgH="2412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733550"/>
                        <a:ext cx="381000" cy="3751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8" name="Object 10"/>
          <p:cNvGraphicFramePr>
            <a:graphicFrameLocks noChangeAspect="1"/>
          </p:cNvGraphicFramePr>
          <p:nvPr/>
        </p:nvGraphicFramePr>
        <p:xfrm>
          <a:off x="3011487" y="1733550"/>
          <a:ext cx="5699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18" name="Equation" r:id="rId8" imgW="317160" imgH="241200" progId="Equation.DSMT4">
                  <p:embed/>
                </p:oleObj>
              </mc:Choice>
              <mc:Fallback>
                <p:oleObj name="Equation" r:id="rId8" imgW="317160" imgH="2412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7" y="1733550"/>
                        <a:ext cx="5699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9" name="Object 11"/>
          <p:cNvGraphicFramePr>
            <a:graphicFrameLocks noChangeAspect="1"/>
          </p:cNvGraphicFramePr>
          <p:nvPr/>
        </p:nvGraphicFramePr>
        <p:xfrm>
          <a:off x="3581400" y="1733550"/>
          <a:ext cx="5683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19" name="Equation" r:id="rId10" imgW="317160" imgH="241200" progId="Equation.DSMT4">
                  <p:embed/>
                </p:oleObj>
              </mc:Choice>
              <mc:Fallback>
                <p:oleObj name="Equation" r:id="rId10" imgW="317160" imgH="2412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733550"/>
                        <a:ext cx="5683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20" name="Object 12"/>
          <p:cNvGraphicFramePr>
            <a:graphicFrameLocks noChangeAspect="1"/>
          </p:cNvGraphicFramePr>
          <p:nvPr/>
        </p:nvGraphicFramePr>
        <p:xfrm>
          <a:off x="4040188" y="1733550"/>
          <a:ext cx="56038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20" name="Equation" r:id="rId12" imgW="317160" imgH="241200" progId="Equation.DSMT4">
                  <p:embed/>
                </p:oleObj>
              </mc:Choice>
              <mc:Fallback>
                <p:oleObj name="Equation" r:id="rId12" imgW="317160" imgH="2412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0188" y="1733550"/>
                        <a:ext cx="560387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3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3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3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3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3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3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3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3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3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3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29" grpId="0" animBg="1"/>
      <p:bldP spid="39" grpId="0" animBg="1"/>
      <p:bldP spid="40" grpId="0"/>
      <p:bldP spid="41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23391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第二步：列出状态转移表：</a:t>
            </a:r>
          </a:p>
        </p:txBody>
      </p:sp>
      <p:sp>
        <p:nvSpPr>
          <p:cNvPr id="18" name="Text Box 286"/>
          <p:cNvSpPr txBox="1">
            <a:spLocks noChangeArrowheads="1"/>
          </p:cNvSpPr>
          <p:nvPr/>
        </p:nvSpPr>
        <p:spPr bwMode="auto">
          <a:xfrm>
            <a:off x="1411287" y="2105025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00001111</a:t>
            </a:r>
          </a:p>
        </p:txBody>
      </p:sp>
      <p:sp>
        <p:nvSpPr>
          <p:cNvPr id="19" name="Text Box 287"/>
          <p:cNvSpPr txBox="1">
            <a:spLocks noChangeArrowheads="1"/>
          </p:cNvSpPr>
          <p:nvPr/>
        </p:nvSpPr>
        <p:spPr bwMode="auto">
          <a:xfrm>
            <a:off x="1955800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00110011</a:t>
            </a:r>
          </a:p>
        </p:txBody>
      </p:sp>
      <p:sp>
        <p:nvSpPr>
          <p:cNvPr id="20" name="Text Box 288"/>
          <p:cNvSpPr txBox="1">
            <a:spLocks noChangeArrowheads="1"/>
          </p:cNvSpPr>
          <p:nvPr/>
        </p:nvSpPr>
        <p:spPr bwMode="auto">
          <a:xfrm>
            <a:off x="2501900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01010101</a:t>
            </a:r>
          </a:p>
        </p:txBody>
      </p:sp>
      <p:sp>
        <p:nvSpPr>
          <p:cNvPr id="21" name="Text Box 289"/>
          <p:cNvSpPr txBox="1">
            <a:spLocks noChangeArrowheads="1"/>
          </p:cNvSpPr>
          <p:nvPr/>
        </p:nvSpPr>
        <p:spPr bwMode="auto">
          <a:xfrm>
            <a:off x="3046412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00011110</a:t>
            </a:r>
          </a:p>
        </p:txBody>
      </p:sp>
      <p:sp>
        <p:nvSpPr>
          <p:cNvPr id="22" name="Text Box 290"/>
          <p:cNvSpPr txBox="1">
            <a:spLocks noChangeArrowheads="1"/>
          </p:cNvSpPr>
          <p:nvPr/>
        </p:nvSpPr>
        <p:spPr bwMode="auto">
          <a:xfrm>
            <a:off x="3590925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01100110</a:t>
            </a:r>
          </a:p>
        </p:txBody>
      </p:sp>
      <p:sp>
        <p:nvSpPr>
          <p:cNvPr id="23" name="Text Box 291"/>
          <p:cNvSpPr txBox="1">
            <a:spLocks noChangeArrowheads="1"/>
          </p:cNvSpPr>
          <p:nvPr/>
        </p:nvSpPr>
        <p:spPr bwMode="auto">
          <a:xfrm>
            <a:off x="4133850" y="2105025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10101010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971550"/>
            <a:ext cx="266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计数器例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的状态转移表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1295400" y="1352550"/>
            <a:ext cx="3429000" cy="3238500"/>
            <a:chOff x="5044313" y="1428750"/>
            <a:chExt cx="3429000" cy="3238500"/>
          </a:xfrm>
        </p:grpSpPr>
        <p:sp>
          <p:nvSpPr>
            <p:cNvPr id="46" name="Line 293"/>
            <p:cNvSpPr>
              <a:spLocks noChangeShapeType="1"/>
            </p:cNvSpPr>
            <p:nvPr/>
          </p:nvSpPr>
          <p:spPr bwMode="auto">
            <a:xfrm>
              <a:off x="5044313" y="2217738"/>
              <a:ext cx="33830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294"/>
            <p:cNvSpPr>
              <a:spLocks noChangeShapeType="1"/>
            </p:cNvSpPr>
            <p:nvPr/>
          </p:nvSpPr>
          <p:spPr bwMode="auto">
            <a:xfrm>
              <a:off x="5110542" y="1784350"/>
              <a:ext cx="3340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296"/>
            <p:cNvSpPr>
              <a:spLocks noChangeShapeType="1"/>
            </p:cNvSpPr>
            <p:nvPr/>
          </p:nvSpPr>
          <p:spPr bwMode="auto">
            <a:xfrm>
              <a:off x="5133213" y="4667250"/>
              <a:ext cx="3340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297"/>
            <p:cNvSpPr>
              <a:spLocks noChangeShapeType="1"/>
            </p:cNvSpPr>
            <p:nvPr/>
          </p:nvSpPr>
          <p:spPr bwMode="auto">
            <a:xfrm>
              <a:off x="6766750" y="1428750"/>
              <a:ext cx="0" cy="322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294"/>
            <p:cNvSpPr>
              <a:spLocks noChangeShapeType="1"/>
            </p:cNvSpPr>
            <p:nvPr/>
          </p:nvSpPr>
          <p:spPr bwMode="auto">
            <a:xfrm>
              <a:off x="5105400" y="1428750"/>
              <a:ext cx="3352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 Box 5"/>
            <p:cNvSpPr txBox="1">
              <a:spLocks noChangeArrowheads="1"/>
            </p:cNvSpPr>
            <p:nvPr/>
          </p:nvSpPr>
          <p:spPr bwMode="auto">
            <a:xfrm>
              <a:off x="5577713" y="1428750"/>
              <a:ext cx="59663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Clr>
                  <a:schemeClr val="accent6"/>
                </a:buClr>
                <a:buSzPct val="80000"/>
              </a:pPr>
              <a:r>
                <a:rPr kumimoji="1" lang="zh-CN" altLang="en-US" sz="14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现 态</a:t>
              </a:r>
            </a:p>
          </p:txBody>
        </p:sp>
        <p:sp>
          <p:nvSpPr>
            <p:cNvPr id="59" name="Text Box 5"/>
            <p:cNvSpPr txBox="1">
              <a:spLocks noChangeArrowheads="1"/>
            </p:cNvSpPr>
            <p:nvPr/>
          </p:nvSpPr>
          <p:spPr bwMode="auto">
            <a:xfrm>
              <a:off x="7254113" y="1428750"/>
              <a:ext cx="59663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Clr>
                  <a:schemeClr val="accent6"/>
                </a:buClr>
                <a:buSzPct val="80000"/>
              </a:pPr>
              <a:r>
                <a:rPr kumimoji="1" lang="zh-CN" altLang="en-US" sz="14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次 态</a:t>
              </a:r>
            </a:p>
          </p:txBody>
        </p:sp>
      </p:grpSp>
      <p:graphicFrame>
        <p:nvGraphicFramePr>
          <p:cNvPr id="275471" name="Object 15"/>
          <p:cNvGraphicFramePr>
            <a:graphicFrameLocks noChangeAspect="1"/>
          </p:cNvGraphicFramePr>
          <p:nvPr/>
        </p:nvGraphicFramePr>
        <p:xfrm>
          <a:off x="1412875" y="1733550"/>
          <a:ext cx="3873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71" name="Equation" r:id="rId2" imgW="215640" imgH="241200" progId="Equation.DSMT4">
                  <p:embed/>
                </p:oleObj>
              </mc:Choice>
              <mc:Fallback>
                <p:oleObj name="Equation" r:id="rId2" imgW="215640" imgH="24120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1733550"/>
                        <a:ext cx="3873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2" name="Object 16"/>
          <p:cNvGraphicFramePr>
            <a:graphicFrameLocks noChangeAspect="1"/>
          </p:cNvGraphicFramePr>
          <p:nvPr/>
        </p:nvGraphicFramePr>
        <p:xfrm>
          <a:off x="2014538" y="1733550"/>
          <a:ext cx="3873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72" name="Equation" r:id="rId4" imgW="215640" imgH="241200" progId="Equation.DSMT4">
                  <p:embed/>
                </p:oleObj>
              </mc:Choice>
              <mc:Fallback>
                <p:oleObj name="Equation" r:id="rId4" imgW="215640" imgH="241200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38" y="1733550"/>
                        <a:ext cx="3873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3" name="Object 17"/>
          <p:cNvGraphicFramePr>
            <a:graphicFrameLocks noChangeAspect="1"/>
          </p:cNvGraphicFramePr>
          <p:nvPr/>
        </p:nvGraphicFramePr>
        <p:xfrm>
          <a:off x="2562225" y="1733550"/>
          <a:ext cx="3810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73" name="Equation" r:id="rId6" imgW="215640" imgH="241200" progId="Equation.DSMT4">
                  <p:embed/>
                </p:oleObj>
              </mc:Choice>
              <mc:Fallback>
                <p:oleObj name="Equation" r:id="rId6" imgW="215640" imgH="241200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1733550"/>
                        <a:ext cx="381000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4" name="Object 18"/>
          <p:cNvGraphicFramePr>
            <a:graphicFrameLocks noChangeAspect="1"/>
          </p:cNvGraphicFramePr>
          <p:nvPr/>
        </p:nvGraphicFramePr>
        <p:xfrm>
          <a:off x="3135313" y="1733550"/>
          <a:ext cx="5699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74" name="Equation" r:id="rId8" imgW="317160" imgH="241200" progId="Equation.DSMT4">
                  <p:embed/>
                </p:oleObj>
              </mc:Choice>
              <mc:Fallback>
                <p:oleObj name="Equation" r:id="rId8" imgW="317160" imgH="241200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313" y="1733550"/>
                        <a:ext cx="56991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5" name="Object 19"/>
          <p:cNvGraphicFramePr>
            <a:graphicFrameLocks noChangeAspect="1"/>
          </p:cNvGraphicFramePr>
          <p:nvPr/>
        </p:nvGraphicFramePr>
        <p:xfrm>
          <a:off x="3657600" y="1733550"/>
          <a:ext cx="5683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75" name="Equation" r:id="rId10" imgW="317160" imgH="241200" progId="Equation.DSMT4">
                  <p:embed/>
                </p:oleObj>
              </mc:Choice>
              <mc:Fallback>
                <p:oleObj name="Equation" r:id="rId10" imgW="317160" imgH="241200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733550"/>
                        <a:ext cx="5683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6" name="Object 20"/>
          <p:cNvGraphicFramePr>
            <a:graphicFrameLocks noChangeAspect="1"/>
          </p:cNvGraphicFramePr>
          <p:nvPr/>
        </p:nvGraphicFramePr>
        <p:xfrm>
          <a:off x="4164013" y="1733550"/>
          <a:ext cx="56038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76" name="Equation" r:id="rId12" imgW="317160" imgH="241200" progId="Equation.DSMT4">
                  <p:embed/>
                </p:oleObj>
              </mc:Choice>
              <mc:Fallback>
                <p:oleObj name="Equation" r:id="rId12" imgW="317160" imgH="24120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1733550"/>
                        <a:ext cx="560387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7" name="Object 21"/>
          <p:cNvGraphicFramePr>
            <a:graphicFrameLocks noChangeAspect="1"/>
          </p:cNvGraphicFramePr>
          <p:nvPr/>
        </p:nvGraphicFramePr>
        <p:xfrm>
          <a:off x="5562600" y="1657350"/>
          <a:ext cx="8382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77" name="Equation" r:id="rId14" imgW="1028520" imgH="444240" progId="Equation.DSMT4">
                  <p:embed/>
                </p:oleObj>
              </mc:Choice>
              <mc:Fallback>
                <p:oleObj name="Equation" r:id="rId14" imgW="1028520" imgH="44424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657350"/>
                        <a:ext cx="8382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8" name="Object 22"/>
          <p:cNvGraphicFramePr>
            <a:graphicFrameLocks noChangeAspect="1"/>
          </p:cNvGraphicFramePr>
          <p:nvPr/>
        </p:nvGraphicFramePr>
        <p:xfrm>
          <a:off x="5562600" y="2190750"/>
          <a:ext cx="1676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78" name="Equation" r:id="rId16" imgW="2095200" imgH="444240" progId="Equation.DSMT4">
                  <p:embed/>
                </p:oleObj>
              </mc:Choice>
              <mc:Fallback>
                <p:oleObj name="Equation" r:id="rId16" imgW="2095200" imgH="44424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190750"/>
                        <a:ext cx="1676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9" name="Object 23"/>
          <p:cNvGraphicFramePr>
            <a:graphicFrameLocks noChangeAspect="1"/>
          </p:cNvGraphicFramePr>
          <p:nvPr/>
        </p:nvGraphicFramePr>
        <p:xfrm>
          <a:off x="5562600" y="2876550"/>
          <a:ext cx="223678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79" name="Equation" r:id="rId18" imgW="2654280" imgH="444240" progId="Equation.DSMT4">
                  <p:embed/>
                </p:oleObj>
              </mc:Choice>
              <mc:Fallback>
                <p:oleObj name="Equation" r:id="rId18" imgW="2654280" imgH="44424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876550"/>
                        <a:ext cx="223678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180049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第三步：画出状态图</a:t>
            </a:r>
          </a:p>
        </p:txBody>
      </p:sp>
      <p:sp>
        <p:nvSpPr>
          <p:cNvPr id="18" name="Text Box 286"/>
          <p:cNvSpPr txBox="1">
            <a:spLocks noChangeArrowheads="1"/>
          </p:cNvSpPr>
          <p:nvPr/>
        </p:nvSpPr>
        <p:spPr bwMode="auto">
          <a:xfrm>
            <a:off x="268287" y="2257425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00001111</a:t>
            </a:r>
          </a:p>
        </p:txBody>
      </p:sp>
      <p:sp>
        <p:nvSpPr>
          <p:cNvPr id="19" name="Text Box 287"/>
          <p:cNvSpPr txBox="1">
            <a:spLocks noChangeArrowheads="1"/>
          </p:cNvSpPr>
          <p:nvPr/>
        </p:nvSpPr>
        <p:spPr bwMode="auto">
          <a:xfrm>
            <a:off x="812800" y="22574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00110011</a:t>
            </a:r>
          </a:p>
        </p:txBody>
      </p:sp>
      <p:sp>
        <p:nvSpPr>
          <p:cNvPr id="20" name="Text Box 288"/>
          <p:cNvSpPr txBox="1">
            <a:spLocks noChangeArrowheads="1"/>
          </p:cNvSpPr>
          <p:nvPr/>
        </p:nvSpPr>
        <p:spPr bwMode="auto">
          <a:xfrm>
            <a:off x="1358900" y="22574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01010101</a:t>
            </a:r>
          </a:p>
        </p:txBody>
      </p:sp>
      <p:sp>
        <p:nvSpPr>
          <p:cNvPr id="21" name="Text Box 289"/>
          <p:cNvSpPr txBox="1">
            <a:spLocks noChangeArrowheads="1"/>
          </p:cNvSpPr>
          <p:nvPr/>
        </p:nvSpPr>
        <p:spPr bwMode="auto">
          <a:xfrm>
            <a:off x="1903412" y="22574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00011110</a:t>
            </a:r>
          </a:p>
        </p:txBody>
      </p:sp>
      <p:sp>
        <p:nvSpPr>
          <p:cNvPr id="22" name="Text Box 290"/>
          <p:cNvSpPr txBox="1">
            <a:spLocks noChangeArrowheads="1"/>
          </p:cNvSpPr>
          <p:nvPr/>
        </p:nvSpPr>
        <p:spPr bwMode="auto">
          <a:xfrm>
            <a:off x="2447925" y="22574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01100110</a:t>
            </a:r>
          </a:p>
        </p:txBody>
      </p:sp>
      <p:sp>
        <p:nvSpPr>
          <p:cNvPr id="23" name="Text Box 291"/>
          <p:cNvSpPr txBox="1">
            <a:spLocks noChangeArrowheads="1"/>
          </p:cNvSpPr>
          <p:nvPr/>
        </p:nvSpPr>
        <p:spPr bwMode="auto">
          <a:xfrm>
            <a:off x="2990850" y="2257425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10101010</a:t>
            </a:r>
          </a:p>
        </p:txBody>
      </p:sp>
      <p:sp>
        <p:nvSpPr>
          <p:cNvPr id="117" name="Text Box 5"/>
          <p:cNvSpPr txBox="1">
            <a:spLocks noChangeArrowheads="1"/>
          </p:cNvSpPr>
          <p:nvPr/>
        </p:nvSpPr>
        <p:spPr bwMode="auto">
          <a:xfrm>
            <a:off x="5257800" y="3638550"/>
            <a:ext cx="24929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b="1" dirty="0">
                <a:latin typeface="微软雅黑" pitchFamily="34" charset="-122"/>
                <a:ea typeface="微软雅黑" pitchFamily="34" charset="-122"/>
              </a:rPr>
              <a:t>功能：模八加法计数器</a:t>
            </a:r>
          </a:p>
        </p:txBody>
      </p:sp>
      <p:grpSp>
        <p:nvGrpSpPr>
          <p:cNvPr id="79" name="组合 78"/>
          <p:cNvGrpSpPr/>
          <p:nvPr/>
        </p:nvGrpSpPr>
        <p:grpSpPr>
          <a:xfrm>
            <a:off x="4221630" y="1352550"/>
            <a:ext cx="4731555" cy="1831777"/>
            <a:chOff x="4221630" y="1352550"/>
            <a:chExt cx="4731555" cy="1831777"/>
          </a:xfrm>
        </p:grpSpPr>
        <p:grpSp>
          <p:nvGrpSpPr>
            <p:cNvPr id="2" name="Group 1074"/>
            <p:cNvGrpSpPr>
              <a:grpSpLocks/>
            </p:cNvGrpSpPr>
            <p:nvPr/>
          </p:nvGrpSpPr>
          <p:grpSpPr bwMode="auto">
            <a:xfrm>
              <a:off x="4953000" y="1352550"/>
              <a:ext cx="685800" cy="457200"/>
              <a:chOff x="884" y="3249"/>
              <a:chExt cx="362" cy="317"/>
            </a:xfrm>
          </p:grpSpPr>
          <p:sp>
            <p:nvSpPr>
              <p:cNvPr id="85" name="AutoShape 1075"/>
              <p:cNvSpPr>
                <a:spLocks noChangeArrowheads="1"/>
              </p:cNvSpPr>
              <p:nvPr/>
            </p:nvSpPr>
            <p:spPr bwMode="auto">
              <a:xfrm>
                <a:off x="884" y="3249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Text Box 1076"/>
              <p:cNvSpPr txBox="1">
                <a:spLocks noChangeArrowheads="1"/>
              </p:cNvSpPr>
              <p:nvPr/>
            </p:nvSpPr>
            <p:spPr bwMode="auto">
              <a:xfrm>
                <a:off x="884" y="3309"/>
                <a:ext cx="36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400" b="1" dirty="0">
                    <a:solidFill>
                      <a:srgbClr val="FF0000"/>
                    </a:solidFill>
                    <a:latin typeface="Arial" pitchFamily="34" charset="0"/>
                  </a:rPr>
                  <a:t> 000</a:t>
                </a:r>
              </a:p>
            </p:txBody>
          </p:sp>
        </p:grpSp>
        <p:sp>
          <p:nvSpPr>
            <p:cNvPr id="87" name="Line 1098"/>
            <p:cNvSpPr>
              <a:spLocks noChangeShapeType="1"/>
            </p:cNvSpPr>
            <p:nvPr/>
          </p:nvSpPr>
          <p:spPr bwMode="auto">
            <a:xfrm>
              <a:off x="5562600" y="1581150"/>
              <a:ext cx="50323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1074"/>
            <p:cNvGrpSpPr>
              <a:grpSpLocks/>
            </p:cNvGrpSpPr>
            <p:nvPr/>
          </p:nvGrpSpPr>
          <p:grpSpPr bwMode="auto">
            <a:xfrm>
              <a:off x="6057585" y="1352550"/>
              <a:ext cx="685800" cy="457200"/>
              <a:chOff x="884" y="3249"/>
              <a:chExt cx="362" cy="317"/>
            </a:xfrm>
          </p:grpSpPr>
          <p:sp>
            <p:nvSpPr>
              <p:cNvPr id="89" name="AutoShape 1075"/>
              <p:cNvSpPr>
                <a:spLocks noChangeArrowheads="1"/>
              </p:cNvSpPr>
              <p:nvPr/>
            </p:nvSpPr>
            <p:spPr bwMode="auto">
              <a:xfrm>
                <a:off x="884" y="3249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Text Box 1076"/>
              <p:cNvSpPr txBox="1">
                <a:spLocks noChangeArrowheads="1"/>
              </p:cNvSpPr>
              <p:nvPr/>
            </p:nvSpPr>
            <p:spPr bwMode="auto">
              <a:xfrm>
                <a:off x="884" y="3309"/>
                <a:ext cx="36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400" b="1" dirty="0">
                    <a:solidFill>
                      <a:srgbClr val="FF0000"/>
                    </a:solidFill>
                    <a:latin typeface="Arial" pitchFamily="34" charset="0"/>
                  </a:rPr>
                  <a:t> 001</a:t>
                </a:r>
              </a:p>
            </p:txBody>
          </p:sp>
        </p:grpSp>
        <p:sp>
          <p:nvSpPr>
            <p:cNvPr id="91" name="Line 1098"/>
            <p:cNvSpPr>
              <a:spLocks noChangeShapeType="1"/>
            </p:cNvSpPr>
            <p:nvPr/>
          </p:nvSpPr>
          <p:spPr bwMode="auto">
            <a:xfrm>
              <a:off x="6667815" y="1581150"/>
              <a:ext cx="50323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" name="Group 1074"/>
            <p:cNvGrpSpPr>
              <a:grpSpLocks/>
            </p:cNvGrpSpPr>
            <p:nvPr/>
          </p:nvGrpSpPr>
          <p:grpSpPr bwMode="auto">
            <a:xfrm>
              <a:off x="7162800" y="1352550"/>
              <a:ext cx="685800" cy="457200"/>
              <a:chOff x="884" y="3249"/>
              <a:chExt cx="362" cy="317"/>
            </a:xfrm>
          </p:grpSpPr>
          <p:sp>
            <p:nvSpPr>
              <p:cNvPr id="93" name="AutoShape 1075"/>
              <p:cNvSpPr>
                <a:spLocks noChangeArrowheads="1"/>
              </p:cNvSpPr>
              <p:nvPr/>
            </p:nvSpPr>
            <p:spPr bwMode="auto">
              <a:xfrm>
                <a:off x="884" y="3249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Text Box 1076"/>
              <p:cNvSpPr txBox="1">
                <a:spLocks noChangeArrowheads="1"/>
              </p:cNvSpPr>
              <p:nvPr/>
            </p:nvSpPr>
            <p:spPr bwMode="auto">
              <a:xfrm>
                <a:off x="884" y="3309"/>
                <a:ext cx="36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400" b="1" dirty="0">
                    <a:solidFill>
                      <a:srgbClr val="FF0000"/>
                    </a:solidFill>
                    <a:latin typeface="Arial" pitchFamily="34" charset="0"/>
                  </a:rPr>
                  <a:t> 010</a:t>
                </a:r>
              </a:p>
            </p:txBody>
          </p:sp>
        </p:grpSp>
        <p:sp>
          <p:nvSpPr>
            <p:cNvPr id="95" name="Line 1098"/>
            <p:cNvSpPr>
              <a:spLocks noChangeShapeType="1"/>
            </p:cNvSpPr>
            <p:nvPr/>
          </p:nvSpPr>
          <p:spPr bwMode="auto">
            <a:xfrm>
              <a:off x="7772400" y="1581150"/>
              <a:ext cx="50323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" name="Group 1074"/>
            <p:cNvGrpSpPr>
              <a:grpSpLocks/>
            </p:cNvGrpSpPr>
            <p:nvPr/>
          </p:nvGrpSpPr>
          <p:grpSpPr bwMode="auto">
            <a:xfrm>
              <a:off x="8267385" y="1352550"/>
              <a:ext cx="685800" cy="457200"/>
              <a:chOff x="884" y="3249"/>
              <a:chExt cx="362" cy="317"/>
            </a:xfrm>
          </p:grpSpPr>
          <p:sp>
            <p:nvSpPr>
              <p:cNvPr id="97" name="AutoShape 1075"/>
              <p:cNvSpPr>
                <a:spLocks noChangeArrowheads="1"/>
              </p:cNvSpPr>
              <p:nvPr/>
            </p:nvSpPr>
            <p:spPr bwMode="auto">
              <a:xfrm>
                <a:off x="884" y="3249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Text Box 1076"/>
              <p:cNvSpPr txBox="1">
                <a:spLocks noChangeArrowheads="1"/>
              </p:cNvSpPr>
              <p:nvPr/>
            </p:nvSpPr>
            <p:spPr bwMode="auto">
              <a:xfrm>
                <a:off x="884" y="3309"/>
                <a:ext cx="36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400" b="1" dirty="0">
                    <a:solidFill>
                      <a:srgbClr val="FF0000"/>
                    </a:solidFill>
                    <a:latin typeface="Arial" pitchFamily="34" charset="0"/>
                  </a:rPr>
                  <a:t> 011</a:t>
                </a:r>
              </a:p>
            </p:txBody>
          </p:sp>
        </p:grpSp>
        <p:sp>
          <p:nvSpPr>
            <p:cNvPr id="99" name="Line 1105"/>
            <p:cNvSpPr>
              <a:spLocks noChangeShapeType="1"/>
            </p:cNvSpPr>
            <p:nvPr/>
          </p:nvSpPr>
          <p:spPr bwMode="auto">
            <a:xfrm flipH="1">
              <a:off x="8153400" y="1809750"/>
              <a:ext cx="287338" cy="5048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" name="Group 1074"/>
            <p:cNvGrpSpPr>
              <a:grpSpLocks/>
            </p:cNvGrpSpPr>
            <p:nvPr/>
          </p:nvGrpSpPr>
          <p:grpSpPr bwMode="auto">
            <a:xfrm>
              <a:off x="7582215" y="2205864"/>
              <a:ext cx="685800" cy="457200"/>
              <a:chOff x="884" y="3249"/>
              <a:chExt cx="362" cy="317"/>
            </a:xfrm>
          </p:grpSpPr>
          <p:sp>
            <p:nvSpPr>
              <p:cNvPr id="101" name="AutoShape 1075"/>
              <p:cNvSpPr>
                <a:spLocks noChangeArrowheads="1"/>
              </p:cNvSpPr>
              <p:nvPr/>
            </p:nvSpPr>
            <p:spPr bwMode="auto">
              <a:xfrm>
                <a:off x="884" y="3249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Text Box 1076"/>
              <p:cNvSpPr txBox="1">
                <a:spLocks noChangeArrowheads="1"/>
              </p:cNvSpPr>
              <p:nvPr/>
            </p:nvSpPr>
            <p:spPr bwMode="auto">
              <a:xfrm>
                <a:off x="884" y="3309"/>
                <a:ext cx="36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400" b="1" dirty="0">
                    <a:solidFill>
                      <a:srgbClr val="FF0000"/>
                    </a:solidFill>
                    <a:latin typeface="Arial" pitchFamily="34" charset="0"/>
                  </a:rPr>
                  <a:t> 100</a:t>
                </a:r>
              </a:p>
            </p:txBody>
          </p:sp>
        </p:grpSp>
        <p:sp>
          <p:nvSpPr>
            <p:cNvPr id="103" name="Line 1101"/>
            <p:cNvSpPr>
              <a:spLocks noChangeShapeType="1"/>
            </p:cNvSpPr>
            <p:nvPr/>
          </p:nvSpPr>
          <p:spPr bwMode="auto">
            <a:xfrm flipH="1">
              <a:off x="7086600" y="2419350"/>
              <a:ext cx="50323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Group 1074"/>
            <p:cNvGrpSpPr>
              <a:grpSpLocks/>
            </p:cNvGrpSpPr>
            <p:nvPr/>
          </p:nvGrpSpPr>
          <p:grpSpPr bwMode="auto">
            <a:xfrm>
              <a:off x="6477000" y="2190750"/>
              <a:ext cx="685800" cy="457200"/>
              <a:chOff x="884" y="3249"/>
              <a:chExt cx="362" cy="317"/>
            </a:xfrm>
          </p:grpSpPr>
          <p:sp>
            <p:nvSpPr>
              <p:cNvPr id="105" name="AutoShape 1075"/>
              <p:cNvSpPr>
                <a:spLocks noChangeArrowheads="1"/>
              </p:cNvSpPr>
              <p:nvPr/>
            </p:nvSpPr>
            <p:spPr bwMode="auto">
              <a:xfrm>
                <a:off x="884" y="3249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" name="Text Box 1076"/>
              <p:cNvSpPr txBox="1">
                <a:spLocks noChangeArrowheads="1"/>
              </p:cNvSpPr>
              <p:nvPr/>
            </p:nvSpPr>
            <p:spPr bwMode="auto">
              <a:xfrm>
                <a:off x="884" y="3309"/>
                <a:ext cx="36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400" b="1" dirty="0">
                    <a:solidFill>
                      <a:srgbClr val="FF0000"/>
                    </a:solidFill>
                    <a:latin typeface="Arial" pitchFamily="34" charset="0"/>
                  </a:rPr>
                  <a:t> 101</a:t>
                </a:r>
              </a:p>
            </p:txBody>
          </p:sp>
        </p:grpSp>
        <p:sp>
          <p:nvSpPr>
            <p:cNvPr id="107" name="Line 1101"/>
            <p:cNvSpPr>
              <a:spLocks noChangeShapeType="1"/>
            </p:cNvSpPr>
            <p:nvPr/>
          </p:nvSpPr>
          <p:spPr bwMode="auto">
            <a:xfrm flipH="1">
              <a:off x="5943600" y="2419350"/>
              <a:ext cx="50323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Group 1074"/>
            <p:cNvGrpSpPr>
              <a:grpSpLocks/>
            </p:cNvGrpSpPr>
            <p:nvPr/>
          </p:nvGrpSpPr>
          <p:grpSpPr bwMode="auto">
            <a:xfrm>
              <a:off x="5334000" y="2190750"/>
              <a:ext cx="685800" cy="457200"/>
              <a:chOff x="884" y="3249"/>
              <a:chExt cx="362" cy="317"/>
            </a:xfrm>
          </p:grpSpPr>
          <p:sp>
            <p:nvSpPr>
              <p:cNvPr id="109" name="AutoShape 1075"/>
              <p:cNvSpPr>
                <a:spLocks noChangeArrowheads="1"/>
              </p:cNvSpPr>
              <p:nvPr/>
            </p:nvSpPr>
            <p:spPr bwMode="auto">
              <a:xfrm>
                <a:off x="884" y="3249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Text Box 1076"/>
              <p:cNvSpPr txBox="1">
                <a:spLocks noChangeArrowheads="1"/>
              </p:cNvSpPr>
              <p:nvPr/>
            </p:nvSpPr>
            <p:spPr bwMode="auto">
              <a:xfrm>
                <a:off x="884" y="3309"/>
                <a:ext cx="36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400" b="1" dirty="0">
                    <a:solidFill>
                      <a:srgbClr val="FF0000"/>
                    </a:solidFill>
                    <a:latin typeface="Arial" pitchFamily="34" charset="0"/>
                  </a:rPr>
                  <a:t> 110</a:t>
                </a:r>
              </a:p>
            </p:txBody>
          </p:sp>
        </p:grpSp>
        <p:grpSp>
          <p:nvGrpSpPr>
            <p:cNvPr id="11" name="Group 1074"/>
            <p:cNvGrpSpPr>
              <a:grpSpLocks/>
            </p:cNvGrpSpPr>
            <p:nvPr/>
          </p:nvGrpSpPr>
          <p:grpSpPr bwMode="auto">
            <a:xfrm>
              <a:off x="4221630" y="2191232"/>
              <a:ext cx="693378" cy="457200"/>
              <a:chOff x="840" y="3355"/>
              <a:chExt cx="366" cy="317"/>
            </a:xfrm>
          </p:grpSpPr>
          <p:sp>
            <p:nvSpPr>
              <p:cNvPr id="113" name="AutoShape 1075"/>
              <p:cNvSpPr>
                <a:spLocks noChangeArrowheads="1"/>
              </p:cNvSpPr>
              <p:nvPr/>
            </p:nvSpPr>
            <p:spPr bwMode="auto">
              <a:xfrm>
                <a:off x="840" y="335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Text Box 1076"/>
              <p:cNvSpPr txBox="1">
                <a:spLocks noChangeArrowheads="1"/>
              </p:cNvSpPr>
              <p:nvPr/>
            </p:nvSpPr>
            <p:spPr bwMode="auto">
              <a:xfrm>
                <a:off x="844" y="3415"/>
                <a:ext cx="36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400" b="1" dirty="0">
                    <a:solidFill>
                      <a:srgbClr val="FF0000"/>
                    </a:solidFill>
                    <a:latin typeface="Arial" pitchFamily="34" charset="0"/>
                  </a:rPr>
                  <a:t>111</a:t>
                </a:r>
              </a:p>
            </p:txBody>
          </p:sp>
        </p:grpSp>
        <p:sp>
          <p:nvSpPr>
            <p:cNvPr id="115" name="Line 1103"/>
            <p:cNvSpPr>
              <a:spLocks noChangeShapeType="1"/>
            </p:cNvSpPr>
            <p:nvPr/>
          </p:nvSpPr>
          <p:spPr bwMode="auto">
            <a:xfrm flipV="1">
              <a:off x="4648201" y="1733550"/>
              <a:ext cx="418784" cy="457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5486400" y="2876550"/>
              <a:ext cx="2286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  图</a:t>
              </a:r>
              <a:r>
                <a:rPr lang="en-US" altLang="zh-CN" sz="1400" dirty="0"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    例</a:t>
              </a:r>
              <a:r>
                <a:rPr lang="en-US" altLang="zh-CN" sz="1400" dirty="0"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的状态图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181368" y="1520694"/>
            <a:ext cx="3429000" cy="3251200"/>
            <a:chOff x="5044313" y="1428750"/>
            <a:chExt cx="3429000" cy="3251200"/>
          </a:xfrm>
        </p:grpSpPr>
        <p:sp>
          <p:nvSpPr>
            <p:cNvPr id="64" name="Line 293"/>
            <p:cNvSpPr>
              <a:spLocks noChangeShapeType="1"/>
            </p:cNvSpPr>
            <p:nvPr/>
          </p:nvSpPr>
          <p:spPr bwMode="auto">
            <a:xfrm>
              <a:off x="5044313" y="2217738"/>
              <a:ext cx="33830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294"/>
            <p:cNvSpPr>
              <a:spLocks noChangeShapeType="1"/>
            </p:cNvSpPr>
            <p:nvPr/>
          </p:nvSpPr>
          <p:spPr bwMode="auto">
            <a:xfrm>
              <a:off x="5110542" y="1784350"/>
              <a:ext cx="3340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296"/>
            <p:cNvSpPr>
              <a:spLocks noChangeShapeType="1"/>
            </p:cNvSpPr>
            <p:nvPr/>
          </p:nvSpPr>
          <p:spPr bwMode="auto">
            <a:xfrm>
              <a:off x="5133213" y="4667250"/>
              <a:ext cx="3340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297"/>
            <p:cNvSpPr>
              <a:spLocks noChangeShapeType="1"/>
            </p:cNvSpPr>
            <p:nvPr/>
          </p:nvSpPr>
          <p:spPr bwMode="auto">
            <a:xfrm>
              <a:off x="6766750" y="1428750"/>
              <a:ext cx="0" cy="322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298"/>
            <p:cNvSpPr>
              <a:spLocks noChangeShapeType="1"/>
            </p:cNvSpPr>
            <p:nvPr/>
          </p:nvSpPr>
          <p:spPr bwMode="auto">
            <a:xfrm>
              <a:off x="8443150" y="1428750"/>
              <a:ext cx="0" cy="325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294"/>
            <p:cNvSpPr>
              <a:spLocks noChangeShapeType="1"/>
            </p:cNvSpPr>
            <p:nvPr/>
          </p:nvSpPr>
          <p:spPr bwMode="auto">
            <a:xfrm>
              <a:off x="5105400" y="1428750"/>
              <a:ext cx="3352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 Box 5"/>
            <p:cNvSpPr txBox="1">
              <a:spLocks noChangeArrowheads="1"/>
            </p:cNvSpPr>
            <p:nvPr/>
          </p:nvSpPr>
          <p:spPr bwMode="auto">
            <a:xfrm>
              <a:off x="5577713" y="1428750"/>
              <a:ext cx="59663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Clr>
                  <a:schemeClr val="accent6"/>
                </a:buClr>
                <a:buSzPct val="80000"/>
              </a:pPr>
              <a:r>
                <a:rPr kumimoji="1" lang="zh-CN" altLang="en-US" sz="14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现 态</a:t>
              </a:r>
            </a:p>
          </p:txBody>
        </p:sp>
        <p:sp>
          <p:nvSpPr>
            <p:cNvPr id="77" name="Text Box 5"/>
            <p:cNvSpPr txBox="1">
              <a:spLocks noChangeArrowheads="1"/>
            </p:cNvSpPr>
            <p:nvPr/>
          </p:nvSpPr>
          <p:spPr bwMode="auto">
            <a:xfrm>
              <a:off x="7254113" y="1428750"/>
              <a:ext cx="59663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Clr>
                  <a:schemeClr val="accent6"/>
                </a:buClr>
                <a:buSzPct val="80000"/>
              </a:pPr>
              <a:r>
                <a:rPr kumimoji="1" lang="zh-CN" altLang="en-US" sz="14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次 态</a:t>
              </a: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609600" y="1123950"/>
            <a:ext cx="266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计数器例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的状态转移表</a:t>
            </a:r>
          </a:p>
        </p:txBody>
      </p:sp>
      <p:sp>
        <p:nvSpPr>
          <p:cNvPr id="80" name="Line 1101"/>
          <p:cNvSpPr>
            <a:spLocks noChangeShapeType="1"/>
          </p:cNvSpPr>
          <p:nvPr/>
        </p:nvSpPr>
        <p:spPr bwMode="auto">
          <a:xfrm flipH="1">
            <a:off x="4830828" y="2419350"/>
            <a:ext cx="50323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6495" name="Object 15"/>
          <p:cNvGraphicFramePr>
            <a:graphicFrameLocks noChangeAspect="1"/>
          </p:cNvGraphicFramePr>
          <p:nvPr/>
        </p:nvGraphicFramePr>
        <p:xfrm>
          <a:off x="228600" y="1885950"/>
          <a:ext cx="3873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5" name="Equation" r:id="rId2" imgW="215640" imgH="241200" progId="Equation.DSMT4">
                  <p:embed/>
                </p:oleObj>
              </mc:Choice>
              <mc:Fallback>
                <p:oleObj name="Equation" r:id="rId2" imgW="215640" imgH="24120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885950"/>
                        <a:ext cx="3873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6" name="Object 16"/>
          <p:cNvGraphicFramePr>
            <a:graphicFrameLocks noChangeAspect="1"/>
          </p:cNvGraphicFramePr>
          <p:nvPr/>
        </p:nvGraphicFramePr>
        <p:xfrm>
          <a:off x="830263" y="1885950"/>
          <a:ext cx="3873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6" name="Equation" r:id="rId4" imgW="215640" imgH="241200" progId="Equation.DSMT4">
                  <p:embed/>
                </p:oleObj>
              </mc:Choice>
              <mc:Fallback>
                <p:oleObj name="Equation" r:id="rId4" imgW="215640" imgH="241200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1885950"/>
                        <a:ext cx="3873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7" name="Object 17"/>
          <p:cNvGraphicFramePr>
            <a:graphicFrameLocks noChangeAspect="1"/>
          </p:cNvGraphicFramePr>
          <p:nvPr/>
        </p:nvGraphicFramePr>
        <p:xfrm>
          <a:off x="1377950" y="1885950"/>
          <a:ext cx="3810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7" name="Equation" r:id="rId6" imgW="215640" imgH="241200" progId="Equation.DSMT4">
                  <p:embed/>
                </p:oleObj>
              </mc:Choice>
              <mc:Fallback>
                <p:oleObj name="Equation" r:id="rId6" imgW="215640" imgH="241200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50" y="1885950"/>
                        <a:ext cx="381000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8" name="Object 18"/>
          <p:cNvGraphicFramePr>
            <a:graphicFrameLocks noChangeAspect="1"/>
          </p:cNvGraphicFramePr>
          <p:nvPr/>
        </p:nvGraphicFramePr>
        <p:xfrm>
          <a:off x="1951038" y="1885950"/>
          <a:ext cx="5699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8" name="Equation" r:id="rId8" imgW="317160" imgH="241200" progId="Equation.DSMT4">
                  <p:embed/>
                </p:oleObj>
              </mc:Choice>
              <mc:Fallback>
                <p:oleObj name="Equation" r:id="rId8" imgW="317160" imgH="241200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038" y="1885950"/>
                        <a:ext cx="56991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99" name="Object 19"/>
          <p:cNvGraphicFramePr>
            <a:graphicFrameLocks noChangeAspect="1"/>
          </p:cNvGraphicFramePr>
          <p:nvPr/>
        </p:nvGraphicFramePr>
        <p:xfrm>
          <a:off x="2520950" y="1885950"/>
          <a:ext cx="5683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9" name="Equation" r:id="rId10" imgW="317160" imgH="241200" progId="Equation.DSMT4">
                  <p:embed/>
                </p:oleObj>
              </mc:Choice>
              <mc:Fallback>
                <p:oleObj name="Equation" r:id="rId10" imgW="317160" imgH="241200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1885950"/>
                        <a:ext cx="5683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00" name="Object 20"/>
          <p:cNvGraphicFramePr>
            <a:graphicFrameLocks noChangeAspect="1"/>
          </p:cNvGraphicFramePr>
          <p:nvPr/>
        </p:nvGraphicFramePr>
        <p:xfrm>
          <a:off x="2979738" y="1885950"/>
          <a:ext cx="56038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0" name="Equation" r:id="rId12" imgW="317160" imgH="241200" progId="Equation.DSMT4">
                  <p:embed/>
                </p:oleObj>
              </mc:Choice>
              <mc:Fallback>
                <p:oleObj name="Equation" r:id="rId12" imgW="317160" imgH="24120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738" y="1885950"/>
                        <a:ext cx="560387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矩形 61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8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23391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第二步：列出状态转移表：</a:t>
            </a:r>
          </a:p>
        </p:txBody>
      </p:sp>
      <p:sp>
        <p:nvSpPr>
          <p:cNvPr id="18" name="Text Box 286"/>
          <p:cNvSpPr txBox="1">
            <a:spLocks noChangeArrowheads="1"/>
          </p:cNvSpPr>
          <p:nvPr/>
        </p:nvSpPr>
        <p:spPr bwMode="auto">
          <a:xfrm>
            <a:off x="1411287" y="2105025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00001111</a:t>
            </a:r>
          </a:p>
        </p:txBody>
      </p:sp>
      <p:sp>
        <p:nvSpPr>
          <p:cNvPr id="19" name="Text Box 287"/>
          <p:cNvSpPr txBox="1">
            <a:spLocks noChangeArrowheads="1"/>
          </p:cNvSpPr>
          <p:nvPr/>
        </p:nvSpPr>
        <p:spPr bwMode="auto">
          <a:xfrm>
            <a:off x="1955800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00110011</a:t>
            </a:r>
          </a:p>
        </p:txBody>
      </p:sp>
      <p:sp>
        <p:nvSpPr>
          <p:cNvPr id="20" name="Text Box 288"/>
          <p:cNvSpPr txBox="1">
            <a:spLocks noChangeArrowheads="1"/>
          </p:cNvSpPr>
          <p:nvPr/>
        </p:nvSpPr>
        <p:spPr bwMode="auto">
          <a:xfrm>
            <a:off x="2501900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01010101</a:t>
            </a:r>
          </a:p>
        </p:txBody>
      </p:sp>
      <p:sp>
        <p:nvSpPr>
          <p:cNvPr id="21" name="Text Box 289"/>
          <p:cNvSpPr txBox="1">
            <a:spLocks noChangeArrowheads="1"/>
          </p:cNvSpPr>
          <p:nvPr/>
        </p:nvSpPr>
        <p:spPr bwMode="auto">
          <a:xfrm>
            <a:off x="3046412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00011110</a:t>
            </a:r>
          </a:p>
        </p:txBody>
      </p:sp>
      <p:sp>
        <p:nvSpPr>
          <p:cNvPr id="22" name="Text Box 290"/>
          <p:cNvSpPr txBox="1">
            <a:spLocks noChangeArrowheads="1"/>
          </p:cNvSpPr>
          <p:nvPr/>
        </p:nvSpPr>
        <p:spPr bwMode="auto">
          <a:xfrm>
            <a:off x="3590925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01100110</a:t>
            </a:r>
          </a:p>
        </p:txBody>
      </p:sp>
      <p:sp>
        <p:nvSpPr>
          <p:cNvPr id="23" name="Text Box 291"/>
          <p:cNvSpPr txBox="1">
            <a:spLocks noChangeArrowheads="1"/>
          </p:cNvSpPr>
          <p:nvPr/>
        </p:nvSpPr>
        <p:spPr bwMode="auto">
          <a:xfrm>
            <a:off x="4133850" y="2105025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10101010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971550"/>
            <a:ext cx="266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计数器例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的状态转移表</a:t>
            </a:r>
          </a:p>
        </p:txBody>
      </p:sp>
      <p:grpSp>
        <p:nvGrpSpPr>
          <p:cNvPr id="2" name="组合 44"/>
          <p:cNvGrpSpPr/>
          <p:nvPr/>
        </p:nvGrpSpPr>
        <p:grpSpPr>
          <a:xfrm>
            <a:off x="1295400" y="1352550"/>
            <a:ext cx="3429000" cy="3238500"/>
            <a:chOff x="5044313" y="1428750"/>
            <a:chExt cx="3429000" cy="3238500"/>
          </a:xfrm>
        </p:grpSpPr>
        <p:sp>
          <p:nvSpPr>
            <p:cNvPr id="46" name="Line 293"/>
            <p:cNvSpPr>
              <a:spLocks noChangeShapeType="1"/>
            </p:cNvSpPr>
            <p:nvPr/>
          </p:nvSpPr>
          <p:spPr bwMode="auto">
            <a:xfrm>
              <a:off x="5044313" y="2217738"/>
              <a:ext cx="33830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294"/>
            <p:cNvSpPr>
              <a:spLocks noChangeShapeType="1"/>
            </p:cNvSpPr>
            <p:nvPr/>
          </p:nvSpPr>
          <p:spPr bwMode="auto">
            <a:xfrm>
              <a:off x="5110542" y="1784350"/>
              <a:ext cx="3340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296"/>
            <p:cNvSpPr>
              <a:spLocks noChangeShapeType="1"/>
            </p:cNvSpPr>
            <p:nvPr/>
          </p:nvSpPr>
          <p:spPr bwMode="auto">
            <a:xfrm>
              <a:off x="5133213" y="4667250"/>
              <a:ext cx="3340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297"/>
            <p:cNvSpPr>
              <a:spLocks noChangeShapeType="1"/>
            </p:cNvSpPr>
            <p:nvPr/>
          </p:nvSpPr>
          <p:spPr bwMode="auto">
            <a:xfrm>
              <a:off x="6766750" y="1428750"/>
              <a:ext cx="0" cy="322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294"/>
            <p:cNvSpPr>
              <a:spLocks noChangeShapeType="1"/>
            </p:cNvSpPr>
            <p:nvPr/>
          </p:nvSpPr>
          <p:spPr bwMode="auto">
            <a:xfrm>
              <a:off x="5105400" y="1428750"/>
              <a:ext cx="3352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 Box 5"/>
            <p:cNvSpPr txBox="1">
              <a:spLocks noChangeArrowheads="1"/>
            </p:cNvSpPr>
            <p:nvPr/>
          </p:nvSpPr>
          <p:spPr bwMode="auto">
            <a:xfrm>
              <a:off x="5577713" y="1428750"/>
              <a:ext cx="59663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Clr>
                  <a:schemeClr val="accent6"/>
                </a:buClr>
                <a:buSzPct val="80000"/>
              </a:pPr>
              <a:r>
                <a:rPr kumimoji="1" lang="zh-CN" altLang="en-US" sz="14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现 态</a:t>
              </a:r>
            </a:p>
          </p:txBody>
        </p:sp>
        <p:sp>
          <p:nvSpPr>
            <p:cNvPr id="59" name="Text Box 5"/>
            <p:cNvSpPr txBox="1">
              <a:spLocks noChangeArrowheads="1"/>
            </p:cNvSpPr>
            <p:nvPr/>
          </p:nvSpPr>
          <p:spPr bwMode="auto">
            <a:xfrm>
              <a:off x="7254113" y="1428750"/>
              <a:ext cx="59663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Clr>
                  <a:schemeClr val="accent6"/>
                </a:buClr>
                <a:buSzPct val="80000"/>
              </a:pPr>
              <a:r>
                <a:rPr kumimoji="1" lang="zh-CN" altLang="en-US" sz="14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次 态</a:t>
              </a:r>
            </a:p>
          </p:txBody>
        </p:sp>
      </p:grpSp>
      <p:graphicFrame>
        <p:nvGraphicFramePr>
          <p:cNvPr id="275471" name="Object 15"/>
          <p:cNvGraphicFramePr>
            <a:graphicFrameLocks noChangeAspect="1"/>
          </p:cNvGraphicFramePr>
          <p:nvPr/>
        </p:nvGraphicFramePr>
        <p:xfrm>
          <a:off x="1412875" y="1733550"/>
          <a:ext cx="3873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90" name="Equation" r:id="rId2" imgW="215640" imgH="241200" progId="Equation.DSMT4">
                  <p:embed/>
                </p:oleObj>
              </mc:Choice>
              <mc:Fallback>
                <p:oleObj name="Equation" r:id="rId2" imgW="215640" imgH="241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1733550"/>
                        <a:ext cx="3873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2" name="Object 16"/>
          <p:cNvGraphicFramePr>
            <a:graphicFrameLocks noChangeAspect="1"/>
          </p:cNvGraphicFramePr>
          <p:nvPr/>
        </p:nvGraphicFramePr>
        <p:xfrm>
          <a:off x="2014538" y="1733550"/>
          <a:ext cx="3873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91" name="Equation" r:id="rId4" imgW="215640" imgH="241200" progId="Equation.DSMT4">
                  <p:embed/>
                </p:oleObj>
              </mc:Choice>
              <mc:Fallback>
                <p:oleObj name="Equation" r:id="rId4" imgW="215640" imgH="241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38" y="1733550"/>
                        <a:ext cx="3873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3" name="Object 17"/>
          <p:cNvGraphicFramePr>
            <a:graphicFrameLocks noChangeAspect="1"/>
          </p:cNvGraphicFramePr>
          <p:nvPr/>
        </p:nvGraphicFramePr>
        <p:xfrm>
          <a:off x="2562225" y="1733550"/>
          <a:ext cx="3810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92" name="Equation" r:id="rId6" imgW="215640" imgH="241200" progId="Equation.DSMT4">
                  <p:embed/>
                </p:oleObj>
              </mc:Choice>
              <mc:Fallback>
                <p:oleObj name="Equation" r:id="rId6" imgW="21564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1733550"/>
                        <a:ext cx="381000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4" name="Object 18"/>
          <p:cNvGraphicFramePr>
            <a:graphicFrameLocks noChangeAspect="1"/>
          </p:cNvGraphicFramePr>
          <p:nvPr/>
        </p:nvGraphicFramePr>
        <p:xfrm>
          <a:off x="3135313" y="1733550"/>
          <a:ext cx="5699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93" name="Equation" r:id="rId8" imgW="317160" imgH="241200" progId="Equation.DSMT4">
                  <p:embed/>
                </p:oleObj>
              </mc:Choice>
              <mc:Fallback>
                <p:oleObj name="Equation" r:id="rId8" imgW="317160" imgH="241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313" y="1733550"/>
                        <a:ext cx="56991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5" name="Object 19"/>
          <p:cNvGraphicFramePr>
            <a:graphicFrameLocks noChangeAspect="1"/>
          </p:cNvGraphicFramePr>
          <p:nvPr/>
        </p:nvGraphicFramePr>
        <p:xfrm>
          <a:off x="3657600" y="1733550"/>
          <a:ext cx="5683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94" name="Equation" r:id="rId10" imgW="317160" imgH="241200" progId="Equation.DSMT4">
                  <p:embed/>
                </p:oleObj>
              </mc:Choice>
              <mc:Fallback>
                <p:oleObj name="Equation" r:id="rId10" imgW="31716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733550"/>
                        <a:ext cx="5683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6" name="Object 20"/>
          <p:cNvGraphicFramePr>
            <a:graphicFrameLocks noChangeAspect="1"/>
          </p:cNvGraphicFramePr>
          <p:nvPr/>
        </p:nvGraphicFramePr>
        <p:xfrm>
          <a:off x="4164013" y="1733550"/>
          <a:ext cx="56038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95" name="Equation" r:id="rId12" imgW="317160" imgH="241200" progId="Equation.DSMT4">
                  <p:embed/>
                </p:oleObj>
              </mc:Choice>
              <mc:Fallback>
                <p:oleObj name="Equation" r:id="rId12" imgW="31716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1733550"/>
                        <a:ext cx="560387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7" name="Object 21"/>
          <p:cNvGraphicFramePr>
            <a:graphicFrameLocks noChangeAspect="1"/>
          </p:cNvGraphicFramePr>
          <p:nvPr/>
        </p:nvGraphicFramePr>
        <p:xfrm>
          <a:off x="5562600" y="1657350"/>
          <a:ext cx="8382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96" name="Equation" r:id="rId14" imgW="1028520" imgH="444240" progId="Equation.DSMT4">
                  <p:embed/>
                </p:oleObj>
              </mc:Choice>
              <mc:Fallback>
                <p:oleObj name="Equation" r:id="rId14" imgW="1028520" imgH="4442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657350"/>
                        <a:ext cx="8382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8" name="Object 22"/>
          <p:cNvGraphicFramePr>
            <a:graphicFrameLocks noChangeAspect="1"/>
          </p:cNvGraphicFramePr>
          <p:nvPr/>
        </p:nvGraphicFramePr>
        <p:xfrm>
          <a:off x="5562600" y="2190750"/>
          <a:ext cx="1676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97" name="Equation" r:id="rId16" imgW="2095200" imgH="444240" progId="Equation.DSMT4">
                  <p:embed/>
                </p:oleObj>
              </mc:Choice>
              <mc:Fallback>
                <p:oleObj name="Equation" r:id="rId16" imgW="2095200" imgH="44424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190750"/>
                        <a:ext cx="1676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9" name="Object 23"/>
          <p:cNvGraphicFramePr>
            <a:graphicFrameLocks noChangeAspect="1"/>
          </p:cNvGraphicFramePr>
          <p:nvPr/>
        </p:nvGraphicFramePr>
        <p:xfrm>
          <a:off x="5562600" y="2876550"/>
          <a:ext cx="223678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98" name="Equation" r:id="rId18" imgW="2654280" imgH="444240" progId="Equation.DSMT4">
                  <p:embed/>
                </p:oleObj>
              </mc:Choice>
              <mc:Fallback>
                <p:oleObj name="Equation" r:id="rId18" imgW="2654280" imgH="44424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876550"/>
                        <a:ext cx="223678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1524" y="0"/>
            <a:ext cx="2278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：计 数 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7733</TotalTime>
  <Words>495</Words>
  <Application>Microsoft Office PowerPoint</Application>
  <PresentationFormat>全屏显示(16:9)</PresentationFormat>
  <Paragraphs>136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宋体</vt:lpstr>
      <vt:lpstr>微软雅黑</vt:lpstr>
      <vt:lpstr>Arial</vt:lpstr>
      <vt:lpstr>Calibri</vt:lpstr>
      <vt:lpstr>Wingdings</vt:lpstr>
      <vt:lpstr>默认设计模板</vt:lpstr>
      <vt:lpstr>Visio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847</cp:revision>
  <cp:lastPrinted>2113-01-01T00:00:00Z</cp:lastPrinted>
  <dcterms:created xsi:type="dcterms:W3CDTF">2113-01-01T00:00:00Z</dcterms:created>
  <dcterms:modified xsi:type="dcterms:W3CDTF">2021-07-20T01:33:01Z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