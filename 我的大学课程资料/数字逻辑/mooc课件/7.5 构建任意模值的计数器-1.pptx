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av" ContentType="audio/wav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sldIdLst>
    <p:sldId id="309" r:id="rId2"/>
    <p:sldId id="525" r:id="rId3"/>
    <p:sldId id="490" r:id="rId4"/>
    <p:sldId id="505" r:id="rId5"/>
    <p:sldId id="506" r:id="rId6"/>
    <p:sldId id="508" r:id="rId7"/>
    <p:sldId id="509" r:id="rId8"/>
    <p:sldId id="510" r:id="rId9"/>
    <p:sldId id="517" r:id="rId10"/>
    <p:sldId id="512" r:id="rId11"/>
    <p:sldId id="513" r:id="rId12"/>
    <p:sldId id="521" r:id="rId13"/>
    <p:sldId id="514" r:id="rId14"/>
    <p:sldId id="518" r:id="rId15"/>
    <p:sldId id="519" r:id="rId16"/>
    <p:sldId id="515" r:id="rId17"/>
    <p:sldId id="520" r:id="rId18"/>
    <p:sldId id="522" r:id="rId19"/>
  </p:sldIdLst>
  <p:sldSz cx="9144000" cy="5143500" type="screen16x9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00CC"/>
    <a:srgbClr val="DBE4BA"/>
    <a:srgbClr val="00FFFF"/>
    <a:srgbClr val="2D1341"/>
    <a:srgbClr val="3333CC"/>
    <a:srgbClr val="2D2D8A"/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16DA210-FB5B-4158-B5E0-FEB733F419BA}" styleName="浅色样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620" autoAdjust="0"/>
    <p:restoredTop sz="98916" autoAdjust="0"/>
  </p:normalViewPr>
  <p:slideViewPr>
    <p:cSldViewPr>
      <p:cViewPr varScale="1">
        <p:scale>
          <a:sx n="100" d="100"/>
          <a:sy n="100" d="100"/>
        </p:scale>
        <p:origin x="780" y="102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E68FF4-A610-4CCF-A92A-54B8EBE33021}" type="datetimeFigureOut">
              <a:rPr lang="zh-CN" altLang="en-US" smtClean="0"/>
              <a:pPr/>
              <a:t>2021/7/20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D48513-AA6D-4F8A-B41C-3BE1F5014A0C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96165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20"/>
            <a:ext cx="7772400" cy="1102519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ea typeface="微软雅黑" panose="020B0503020204020204" pitchFamily="34" charset="-122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9E5F32BA-079D-492C-A71C-25B1AC211EF7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  <a:lvl2pPr>
              <a:defRPr>
                <a:ea typeface="微软雅黑" panose="020B0503020204020204" pitchFamily="34" charset="-122"/>
              </a:defRPr>
            </a:lvl2pPr>
            <a:lvl3pPr>
              <a:defRPr>
                <a:ea typeface="微软雅黑" panose="020B0503020204020204" pitchFamily="34" charset="-122"/>
              </a:defRPr>
            </a:lvl3pPr>
            <a:lvl4pPr>
              <a:defRPr>
                <a:ea typeface="微软雅黑" panose="020B0503020204020204" pitchFamily="34" charset="-122"/>
              </a:defRPr>
            </a:lvl4pPr>
            <a:lvl5pPr>
              <a:defRPr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4101730A-013B-4CB4-BA74-6B5A2DA383AB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ea typeface="微软雅黑" panose="020B0503020204020204" pitchFamily="34" charset="-122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7D708CB0-180E-480A-B5E9-304EDB71A67E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800">
                <a:ea typeface="微软雅黑" panose="020B0503020204020204" pitchFamily="34" charset="-122"/>
              </a:defRPr>
            </a:lvl1pPr>
            <a:lvl2pPr>
              <a:defRPr sz="2400">
                <a:ea typeface="微软雅黑" panose="020B0503020204020204" pitchFamily="34" charset="-122"/>
              </a:defRPr>
            </a:lvl2pPr>
            <a:lvl3pPr>
              <a:defRPr sz="2000">
                <a:ea typeface="微软雅黑" panose="020B0503020204020204" pitchFamily="34" charset="-122"/>
              </a:defRPr>
            </a:lvl3pPr>
            <a:lvl4pPr>
              <a:defRPr sz="1800">
                <a:ea typeface="微软雅黑" panose="020B0503020204020204" pitchFamily="34" charset="-122"/>
              </a:defRPr>
            </a:lvl4pPr>
            <a:lvl5pPr>
              <a:defRPr sz="1800">
                <a:ea typeface="微软雅黑" panose="020B0503020204020204" pitchFamily="34" charset="-122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800">
                <a:ea typeface="微软雅黑" panose="020B0503020204020204" pitchFamily="34" charset="-122"/>
              </a:defRPr>
            </a:lvl1pPr>
            <a:lvl2pPr>
              <a:defRPr sz="2400">
                <a:ea typeface="微软雅黑" panose="020B0503020204020204" pitchFamily="34" charset="-122"/>
              </a:defRPr>
            </a:lvl2pPr>
            <a:lvl3pPr>
              <a:defRPr sz="2000">
                <a:ea typeface="微软雅黑" panose="020B0503020204020204" pitchFamily="34" charset="-122"/>
              </a:defRPr>
            </a:lvl3pPr>
            <a:lvl4pPr>
              <a:defRPr sz="1800">
                <a:ea typeface="微软雅黑" panose="020B0503020204020204" pitchFamily="34" charset="-122"/>
              </a:defRPr>
            </a:lvl4pPr>
            <a:lvl5pPr>
              <a:defRPr sz="1800">
                <a:ea typeface="微软雅黑" panose="020B0503020204020204" pitchFamily="34" charset="-122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BF519ABF-577E-4AA5-A198-446EB7789424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2400">
                <a:ea typeface="微软雅黑" panose="020B0503020204020204" pitchFamily="34" charset="-122"/>
              </a:defRPr>
            </a:lvl1pPr>
            <a:lvl2pPr>
              <a:defRPr sz="2000">
                <a:ea typeface="微软雅黑" panose="020B0503020204020204" pitchFamily="34" charset="-122"/>
              </a:defRPr>
            </a:lvl2pPr>
            <a:lvl3pPr>
              <a:defRPr sz="1800">
                <a:ea typeface="微软雅黑" panose="020B0503020204020204" pitchFamily="34" charset="-122"/>
              </a:defRPr>
            </a:lvl3pPr>
            <a:lvl4pPr>
              <a:defRPr sz="1600">
                <a:ea typeface="微软雅黑" panose="020B0503020204020204" pitchFamily="34" charset="-122"/>
              </a:defRPr>
            </a:lvl4pPr>
            <a:lvl5pPr>
              <a:defRPr sz="1600">
                <a:ea typeface="微软雅黑" panose="020B0503020204020204" pitchFamily="34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8" y="1151335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8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2400">
                <a:ea typeface="微软雅黑" panose="020B0503020204020204" pitchFamily="34" charset="-122"/>
              </a:defRPr>
            </a:lvl1pPr>
            <a:lvl2pPr>
              <a:defRPr sz="2000">
                <a:ea typeface="微软雅黑" panose="020B0503020204020204" pitchFamily="34" charset="-122"/>
              </a:defRPr>
            </a:lvl2pPr>
            <a:lvl3pPr>
              <a:defRPr sz="1800">
                <a:ea typeface="微软雅黑" panose="020B0503020204020204" pitchFamily="34" charset="-122"/>
              </a:defRPr>
            </a:lvl3pPr>
            <a:lvl4pPr>
              <a:defRPr sz="1600">
                <a:ea typeface="微软雅黑" panose="020B0503020204020204" pitchFamily="34" charset="-122"/>
              </a:defRPr>
            </a:lvl4pPr>
            <a:lvl5pPr>
              <a:defRPr sz="1600">
                <a:ea typeface="微软雅黑" panose="020B0503020204020204" pitchFamily="34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D35A92FF-C25D-44F5-BA10-134AA412F22C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CC5F3488-9DEE-45BA-87B6-C85FA6C76AB1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3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2000" b="1"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3200">
                <a:ea typeface="微软雅黑" panose="020B0503020204020204" pitchFamily="34" charset="-122"/>
              </a:defRPr>
            </a:lvl1pPr>
            <a:lvl2pPr>
              <a:defRPr sz="2800">
                <a:ea typeface="微软雅黑" panose="020B0503020204020204" pitchFamily="34" charset="-122"/>
              </a:defRPr>
            </a:lvl2pPr>
            <a:lvl3pPr>
              <a:defRPr sz="2400">
                <a:ea typeface="微软雅黑" panose="020B0503020204020204" pitchFamily="34" charset="-122"/>
              </a:defRPr>
            </a:lvl3pPr>
            <a:lvl4pPr>
              <a:defRPr sz="2000">
                <a:ea typeface="微软雅黑" panose="020B0503020204020204" pitchFamily="34" charset="-122"/>
              </a:defRPr>
            </a:lvl4pPr>
            <a:lvl5pPr>
              <a:defRPr sz="2000">
                <a:ea typeface="微软雅黑" panose="020B0503020204020204" pitchFamily="34" charset="-122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3" y="1076327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ea typeface="微软雅黑" panose="020B0503020204020204" pitchFamily="34" charset="-122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D75ABF99-AFDD-4392-BE13-BE42827BA07F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2000" b="1"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>
                <a:ea typeface="微软雅黑" panose="020B0503020204020204" pitchFamily="34" charset="-122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ea typeface="微软雅黑" panose="020B0503020204020204" pitchFamily="34" charset="-122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47E1D088-313E-48D8-BECE-41A274E0B5DB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eaVert"/>
          <a:lstStyle>
            <a:lvl1pPr>
              <a:defRPr>
                <a:ea typeface="微软雅黑" panose="020B0503020204020204" pitchFamily="34" charset="-122"/>
              </a:defRPr>
            </a:lvl1pPr>
            <a:lvl2pPr>
              <a:defRPr>
                <a:ea typeface="微软雅黑" panose="020B0503020204020204" pitchFamily="34" charset="-122"/>
              </a:defRPr>
            </a:lvl2pPr>
            <a:lvl3pPr>
              <a:defRPr>
                <a:ea typeface="微软雅黑" panose="020B0503020204020204" pitchFamily="34" charset="-122"/>
              </a:defRPr>
            </a:lvl3pPr>
            <a:lvl4pPr>
              <a:defRPr>
                <a:ea typeface="微软雅黑" panose="020B0503020204020204" pitchFamily="34" charset="-122"/>
              </a:defRPr>
            </a:lvl4pPr>
            <a:lvl5pPr>
              <a:defRPr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F4B0AB86-F7AE-4867-ADFF-354DE647AB01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  <a:prstGeom prst="rect">
            <a:avLst/>
          </a:prstGeom>
        </p:spPr>
        <p:txBody>
          <a:bodyPr vert="eaVert"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  <a:prstGeom prst="rect">
            <a:avLst/>
          </a:prstGeom>
        </p:spPr>
        <p:txBody>
          <a:bodyPr vert="eaVert"/>
          <a:lstStyle>
            <a:lvl1pPr>
              <a:defRPr>
                <a:ea typeface="微软雅黑" panose="020B0503020204020204" pitchFamily="34" charset="-122"/>
              </a:defRPr>
            </a:lvl1pPr>
            <a:lvl2pPr>
              <a:defRPr>
                <a:ea typeface="微软雅黑" panose="020B0503020204020204" pitchFamily="34" charset="-122"/>
              </a:defRPr>
            </a:lvl2pPr>
            <a:lvl3pPr>
              <a:defRPr>
                <a:ea typeface="微软雅黑" panose="020B0503020204020204" pitchFamily="34" charset="-122"/>
              </a:defRPr>
            </a:lvl3pPr>
            <a:lvl4pPr>
              <a:defRPr>
                <a:ea typeface="微软雅黑" panose="020B0503020204020204" pitchFamily="34" charset="-122"/>
              </a:defRPr>
            </a:lvl4pPr>
            <a:lvl5pPr>
              <a:defRPr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43CEB1D2-F23D-4EFF-A6C7-152E930DD571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407513-19AE-47F0-ABD9-53914FA6981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4"/>
          <p:cNvSpPr>
            <a:spLocks noChangeArrowheads="1"/>
          </p:cNvSpPr>
          <p:nvPr userDrawn="1"/>
        </p:nvSpPr>
        <p:spPr bwMode="auto">
          <a:xfrm>
            <a:off x="76318" y="514404"/>
            <a:ext cx="8950418" cy="67865"/>
          </a:xfrm>
          <a:custGeom>
            <a:avLst/>
            <a:gdLst>
              <a:gd name="T0" fmla="*/ 0 w 1000"/>
              <a:gd name="T1" fmla="*/ 0 h 1000"/>
              <a:gd name="T2" fmla="*/ 585 w 1000"/>
              <a:gd name="T3" fmla="*/ 0 h 1000"/>
              <a:gd name="T4" fmla="*/ 585 w 1000"/>
              <a:gd name="T5" fmla="*/ 1000 h 1000"/>
              <a:gd name="T6" fmla="*/ 0 w 1000"/>
              <a:gd name="T7" fmla="*/ 1000 h 1000"/>
              <a:gd name="T8" fmla="*/ 0 w 1000"/>
              <a:gd name="T9" fmla="*/ 0 h 1000"/>
              <a:gd name="T10" fmla="*/ 0 w 1000"/>
              <a:gd name="T11" fmla="*/ 0 h 1000"/>
              <a:gd name="T12" fmla="*/ 1000 w 1000"/>
              <a:gd name="T13" fmla="*/ 0 h 1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6"/>
          </a:solidFill>
          <a:ln w="9525">
            <a:solidFill>
              <a:schemeClr val="accent2"/>
            </a:solidFill>
            <a:round/>
          </a:ln>
        </p:spPr>
        <p:txBody>
          <a:bodyPr/>
          <a:lstStyle/>
          <a:p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6" name="Line 5"/>
          <p:cNvSpPr>
            <a:spLocks noChangeShapeType="1"/>
          </p:cNvSpPr>
          <p:nvPr userDrawn="1"/>
        </p:nvSpPr>
        <p:spPr bwMode="auto">
          <a:xfrm>
            <a:off x="76318" y="4933888"/>
            <a:ext cx="8950418" cy="0"/>
          </a:xfrm>
          <a:prstGeom prst="line">
            <a:avLst/>
          </a:prstGeom>
          <a:noFill/>
          <a:ln w="15875">
            <a:solidFill>
              <a:schemeClr val="accent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dirty="0">
              <a:ea typeface="微软雅黑" panose="020B0503020204020204" pitchFamily="34" charset="-122"/>
            </a:endParaRPr>
          </a:p>
        </p:txBody>
      </p:sp>
      <p:pic>
        <p:nvPicPr>
          <p:cNvPr id="8" name="图片 7" descr="校标.png"/>
          <p:cNvPicPr>
            <a:picLocks noChangeAspect="1"/>
          </p:cNvPicPr>
          <p:nvPr userDrawn="1"/>
        </p:nvPicPr>
        <p:blipFill>
          <a:blip r:embed="rId14" cstate="print"/>
          <a:stretch>
            <a:fillRect/>
          </a:stretch>
        </p:blipFill>
        <p:spPr>
          <a:xfrm>
            <a:off x="6215019" y="0"/>
            <a:ext cx="2545745" cy="477604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13" Type="http://schemas.openxmlformats.org/officeDocument/2006/relationships/image" Target="../media/image7.wmf"/><Relationship Id="rId18" Type="http://schemas.openxmlformats.org/officeDocument/2006/relationships/oleObject" Target="../embeddings/oleObject9.bin"/><Relationship Id="rId26" Type="http://schemas.openxmlformats.org/officeDocument/2006/relationships/oleObject" Target="../embeddings/oleObject13.bin"/><Relationship Id="rId3" Type="http://schemas.openxmlformats.org/officeDocument/2006/relationships/image" Target="../media/image2.wmf"/><Relationship Id="rId21" Type="http://schemas.openxmlformats.org/officeDocument/2006/relationships/image" Target="../media/image11.wmf"/><Relationship Id="rId7" Type="http://schemas.openxmlformats.org/officeDocument/2006/relationships/image" Target="../media/image4.wmf"/><Relationship Id="rId12" Type="http://schemas.openxmlformats.org/officeDocument/2006/relationships/oleObject" Target="../embeddings/oleObject6.bin"/><Relationship Id="rId17" Type="http://schemas.openxmlformats.org/officeDocument/2006/relationships/image" Target="../media/image9.wmf"/><Relationship Id="rId25" Type="http://schemas.openxmlformats.org/officeDocument/2006/relationships/image" Target="../media/image13.wmf"/><Relationship Id="rId2" Type="http://schemas.openxmlformats.org/officeDocument/2006/relationships/oleObject" Target="../embeddings/oleObject1.bin"/><Relationship Id="rId16" Type="http://schemas.openxmlformats.org/officeDocument/2006/relationships/oleObject" Target="../embeddings/oleObject8.bin"/><Relationship Id="rId20" Type="http://schemas.openxmlformats.org/officeDocument/2006/relationships/oleObject" Target="../embeddings/oleObject10.bin"/><Relationship Id="rId29" Type="http://schemas.openxmlformats.org/officeDocument/2006/relationships/image" Target="../media/image15.wmf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.bin"/><Relationship Id="rId11" Type="http://schemas.openxmlformats.org/officeDocument/2006/relationships/image" Target="../media/image6.wmf"/><Relationship Id="rId24" Type="http://schemas.openxmlformats.org/officeDocument/2006/relationships/oleObject" Target="../embeddings/oleObject12.bin"/><Relationship Id="rId5" Type="http://schemas.openxmlformats.org/officeDocument/2006/relationships/image" Target="../media/image3.wmf"/><Relationship Id="rId15" Type="http://schemas.openxmlformats.org/officeDocument/2006/relationships/image" Target="../media/image8.wmf"/><Relationship Id="rId23" Type="http://schemas.openxmlformats.org/officeDocument/2006/relationships/image" Target="../media/image12.wmf"/><Relationship Id="rId28" Type="http://schemas.openxmlformats.org/officeDocument/2006/relationships/oleObject" Target="../embeddings/oleObject14.bin"/><Relationship Id="rId10" Type="http://schemas.openxmlformats.org/officeDocument/2006/relationships/oleObject" Target="../embeddings/oleObject5.bin"/><Relationship Id="rId19" Type="http://schemas.openxmlformats.org/officeDocument/2006/relationships/image" Target="../media/image10.wmf"/><Relationship Id="rId4" Type="http://schemas.openxmlformats.org/officeDocument/2006/relationships/oleObject" Target="../embeddings/oleObject2.bin"/><Relationship Id="rId9" Type="http://schemas.openxmlformats.org/officeDocument/2006/relationships/image" Target="../media/image5.wmf"/><Relationship Id="rId14" Type="http://schemas.openxmlformats.org/officeDocument/2006/relationships/oleObject" Target="../embeddings/oleObject7.bin"/><Relationship Id="rId22" Type="http://schemas.openxmlformats.org/officeDocument/2006/relationships/oleObject" Target="../embeddings/oleObject11.bin"/><Relationship Id="rId27" Type="http://schemas.openxmlformats.org/officeDocument/2006/relationships/image" Target="../media/image14.w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w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9.bin"/><Relationship Id="rId13" Type="http://schemas.openxmlformats.org/officeDocument/2006/relationships/oleObject" Target="../embeddings/oleObject24.bin"/><Relationship Id="rId18" Type="http://schemas.openxmlformats.org/officeDocument/2006/relationships/image" Target="../media/image23.wmf"/><Relationship Id="rId3" Type="http://schemas.openxmlformats.org/officeDocument/2006/relationships/image" Target="../media/image18.wmf"/><Relationship Id="rId21" Type="http://schemas.openxmlformats.org/officeDocument/2006/relationships/oleObject" Target="../embeddings/oleObject28.bin"/><Relationship Id="rId7" Type="http://schemas.openxmlformats.org/officeDocument/2006/relationships/image" Target="../media/image20.wmf"/><Relationship Id="rId12" Type="http://schemas.openxmlformats.org/officeDocument/2006/relationships/oleObject" Target="../embeddings/oleObject23.bin"/><Relationship Id="rId17" Type="http://schemas.openxmlformats.org/officeDocument/2006/relationships/oleObject" Target="../embeddings/oleObject26.bin"/><Relationship Id="rId2" Type="http://schemas.openxmlformats.org/officeDocument/2006/relationships/oleObject" Target="../embeddings/oleObject16.bin"/><Relationship Id="rId16" Type="http://schemas.openxmlformats.org/officeDocument/2006/relationships/image" Target="../media/image22.wmf"/><Relationship Id="rId20" Type="http://schemas.openxmlformats.org/officeDocument/2006/relationships/image" Target="../media/image24.wmf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8.bin"/><Relationship Id="rId11" Type="http://schemas.openxmlformats.org/officeDocument/2006/relationships/oleObject" Target="../embeddings/oleObject22.bin"/><Relationship Id="rId5" Type="http://schemas.openxmlformats.org/officeDocument/2006/relationships/image" Target="../media/image19.wmf"/><Relationship Id="rId15" Type="http://schemas.openxmlformats.org/officeDocument/2006/relationships/oleObject" Target="../embeddings/oleObject25.bin"/><Relationship Id="rId23" Type="http://schemas.openxmlformats.org/officeDocument/2006/relationships/image" Target="../media/image26.png"/><Relationship Id="rId10" Type="http://schemas.openxmlformats.org/officeDocument/2006/relationships/oleObject" Target="../embeddings/oleObject21.bin"/><Relationship Id="rId19" Type="http://schemas.openxmlformats.org/officeDocument/2006/relationships/oleObject" Target="../embeddings/oleObject27.bin"/><Relationship Id="rId4" Type="http://schemas.openxmlformats.org/officeDocument/2006/relationships/oleObject" Target="../embeddings/oleObject17.bin"/><Relationship Id="rId9" Type="http://schemas.openxmlformats.org/officeDocument/2006/relationships/oleObject" Target="../embeddings/oleObject20.bin"/><Relationship Id="rId14" Type="http://schemas.openxmlformats.org/officeDocument/2006/relationships/image" Target="../media/image21.wmf"/><Relationship Id="rId22" Type="http://schemas.openxmlformats.org/officeDocument/2006/relationships/image" Target="../media/image25.w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9.bin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2.w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0.bin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2.w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1.bin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2.w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5.bin"/><Relationship Id="rId13" Type="http://schemas.openxmlformats.org/officeDocument/2006/relationships/image" Target="../media/image34.wmf"/><Relationship Id="rId18" Type="http://schemas.openxmlformats.org/officeDocument/2006/relationships/oleObject" Target="../embeddings/oleObject40.bin"/><Relationship Id="rId26" Type="http://schemas.openxmlformats.org/officeDocument/2006/relationships/oleObject" Target="../embeddings/oleObject44.bin"/><Relationship Id="rId3" Type="http://schemas.openxmlformats.org/officeDocument/2006/relationships/image" Target="../media/image29.emf"/><Relationship Id="rId21" Type="http://schemas.openxmlformats.org/officeDocument/2006/relationships/image" Target="../media/image38.wmf"/><Relationship Id="rId7" Type="http://schemas.openxmlformats.org/officeDocument/2006/relationships/image" Target="../media/image31.wmf"/><Relationship Id="rId12" Type="http://schemas.openxmlformats.org/officeDocument/2006/relationships/oleObject" Target="../embeddings/oleObject37.bin"/><Relationship Id="rId17" Type="http://schemas.openxmlformats.org/officeDocument/2006/relationships/image" Target="../media/image36.wmf"/><Relationship Id="rId25" Type="http://schemas.openxmlformats.org/officeDocument/2006/relationships/image" Target="../media/image40.wmf"/><Relationship Id="rId2" Type="http://schemas.openxmlformats.org/officeDocument/2006/relationships/oleObject" Target="../embeddings/oleObject32.bin"/><Relationship Id="rId16" Type="http://schemas.openxmlformats.org/officeDocument/2006/relationships/oleObject" Target="../embeddings/oleObject39.bin"/><Relationship Id="rId20" Type="http://schemas.openxmlformats.org/officeDocument/2006/relationships/oleObject" Target="../embeddings/oleObject41.bin"/><Relationship Id="rId29" Type="http://schemas.openxmlformats.org/officeDocument/2006/relationships/image" Target="../media/image42.wmf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4.bin"/><Relationship Id="rId11" Type="http://schemas.openxmlformats.org/officeDocument/2006/relationships/image" Target="../media/image33.wmf"/><Relationship Id="rId24" Type="http://schemas.openxmlformats.org/officeDocument/2006/relationships/oleObject" Target="../embeddings/oleObject43.bin"/><Relationship Id="rId5" Type="http://schemas.openxmlformats.org/officeDocument/2006/relationships/image" Target="../media/image30.wmf"/><Relationship Id="rId15" Type="http://schemas.openxmlformats.org/officeDocument/2006/relationships/image" Target="../media/image35.wmf"/><Relationship Id="rId23" Type="http://schemas.openxmlformats.org/officeDocument/2006/relationships/image" Target="../media/image39.wmf"/><Relationship Id="rId28" Type="http://schemas.openxmlformats.org/officeDocument/2006/relationships/oleObject" Target="../embeddings/oleObject45.bin"/><Relationship Id="rId10" Type="http://schemas.openxmlformats.org/officeDocument/2006/relationships/oleObject" Target="../embeddings/oleObject36.bin"/><Relationship Id="rId19" Type="http://schemas.openxmlformats.org/officeDocument/2006/relationships/image" Target="../media/image37.wmf"/><Relationship Id="rId31" Type="http://schemas.openxmlformats.org/officeDocument/2006/relationships/image" Target="../media/image43.wmf"/><Relationship Id="rId4" Type="http://schemas.openxmlformats.org/officeDocument/2006/relationships/oleObject" Target="../embeddings/oleObject33.bin"/><Relationship Id="rId9" Type="http://schemas.openxmlformats.org/officeDocument/2006/relationships/image" Target="../media/image32.wmf"/><Relationship Id="rId14" Type="http://schemas.openxmlformats.org/officeDocument/2006/relationships/oleObject" Target="../embeddings/oleObject38.bin"/><Relationship Id="rId22" Type="http://schemas.openxmlformats.org/officeDocument/2006/relationships/oleObject" Target="../embeddings/oleObject42.bin"/><Relationship Id="rId27" Type="http://schemas.openxmlformats.org/officeDocument/2006/relationships/image" Target="../media/image41.wmf"/><Relationship Id="rId30" Type="http://schemas.openxmlformats.org/officeDocument/2006/relationships/oleObject" Target="../embeddings/oleObject46.bin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emf"/><Relationship Id="rId2" Type="http://schemas.openxmlformats.org/officeDocument/2006/relationships/oleObject" Target="../embeddings/oleObject47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5.emf"/><Relationship Id="rId4" Type="http://schemas.openxmlformats.org/officeDocument/2006/relationships/oleObject" Target="../embeddings/oleObject48.bin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emf"/><Relationship Id="rId2" Type="http://schemas.openxmlformats.org/officeDocument/2006/relationships/oleObject" Target="../embeddings/oleObject49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6.emf"/><Relationship Id="rId4" Type="http://schemas.openxmlformats.org/officeDocument/2006/relationships/oleObject" Target="../embeddings/oleObject50.bin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emf"/><Relationship Id="rId2" Type="http://schemas.openxmlformats.org/officeDocument/2006/relationships/oleObject" Target="../embeddings/oleObject51.bin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2.bin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9.png"/><Relationship Id="rId4" Type="http://schemas.openxmlformats.org/officeDocument/2006/relationships/image" Target="../media/image22.w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6.bin"/><Relationship Id="rId13" Type="http://schemas.openxmlformats.org/officeDocument/2006/relationships/image" Target="../media/image34.wmf"/><Relationship Id="rId18" Type="http://schemas.openxmlformats.org/officeDocument/2006/relationships/oleObject" Target="../embeddings/oleObject61.bin"/><Relationship Id="rId26" Type="http://schemas.openxmlformats.org/officeDocument/2006/relationships/oleObject" Target="../embeddings/oleObject65.bin"/><Relationship Id="rId3" Type="http://schemas.openxmlformats.org/officeDocument/2006/relationships/image" Target="../media/image50.emf"/><Relationship Id="rId21" Type="http://schemas.openxmlformats.org/officeDocument/2006/relationships/image" Target="../media/image38.wmf"/><Relationship Id="rId7" Type="http://schemas.openxmlformats.org/officeDocument/2006/relationships/image" Target="../media/image31.wmf"/><Relationship Id="rId12" Type="http://schemas.openxmlformats.org/officeDocument/2006/relationships/oleObject" Target="../embeddings/oleObject58.bin"/><Relationship Id="rId17" Type="http://schemas.openxmlformats.org/officeDocument/2006/relationships/image" Target="../media/image36.wmf"/><Relationship Id="rId25" Type="http://schemas.openxmlformats.org/officeDocument/2006/relationships/image" Target="../media/image40.wmf"/><Relationship Id="rId2" Type="http://schemas.openxmlformats.org/officeDocument/2006/relationships/oleObject" Target="../embeddings/oleObject53.bin"/><Relationship Id="rId16" Type="http://schemas.openxmlformats.org/officeDocument/2006/relationships/oleObject" Target="../embeddings/oleObject60.bin"/><Relationship Id="rId20" Type="http://schemas.openxmlformats.org/officeDocument/2006/relationships/oleObject" Target="../embeddings/oleObject62.bin"/><Relationship Id="rId29" Type="http://schemas.openxmlformats.org/officeDocument/2006/relationships/image" Target="../media/image42.wmf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55.bin"/><Relationship Id="rId11" Type="http://schemas.openxmlformats.org/officeDocument/2006/relationships/image" Target="../media/image33.wmf"/><Relationship Id="rId24" Type="http://schemas.openxmlformats.org/officeDocument/2006/relationships/oleObject" Target="../embeddings/oleObject64.bin"/><Relationship Id="rId5" Type="http://schemas.openxmlformats.org/officeDocument/2006/relationships/image" Target="../media/image30.wmf"/><Relationship Id="rId15" Type="http://schemas.openxmlformats.org/officeDocument/2006/relationships/image" Target="../media/image35.wmf"/><Relationship Id="rId23" Type="http://schemas.openxmlformats.org/officeDocument/2006/relationships/image" Target="../media/image39.wmf"/><Relationship Id="rId28" Type="http://schemas.openxmlformats.org/officeDocument/2006/relationships/oleObject" Target="../embeddings/oleObject66.bin"/><Relationship Id="rId10" Type="http://schemas.openxmlformats.org/officeDocument/2006/relationships/oleObject" Target="../embeddings/oleObject57.bin"/><Relationship Id="rId19" Type="http://schemas.openxmlformats.org/officeDocument/2006/relationships/image" Target="../media/image37.wmf"/><Relationship Id="rId31" Type="http://schemas.openxmlformats.org/officeDocument/2006/relationships/image" Target="../media/image43.wmf"/><Relationship Id="rId4" Type="http://schemas.openxmlformats.org/officeDocument/2006/relationships/oleObject" Target="../embeddings/oleObject54.bin"/><Relationship Id="rId9" Type="http://schemas.openxmlformats.org/officeDocument/2006/relationships/image" Target="../media/image32.wmf"/><Relationship Id="rId14" Type="http://schemas.openxmlformats.org/officeDocument/2006/relationships/oleObject" Target="../embeddings/oleObject59.bin"/><Relationship Id="rId22" Type="http://schemas.openxmlformats.org/officeDocument/2006/relationships/oleObject" Target="../embeddings/oleObject63.bin"/><Relationship Id="rId27" Type="http://schemas.openxmlformats.org/officeDocument/2006/relationships/image" Target="../media/image41.wmf"/><Relationship Id="rId30" Type="http://schemas.openxmlformats.org/officeDocument/2006/relationships/oleObject" Target="../embeddings/oleObject67.bin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1.bin"/><Relationship Id="rId13" Type="http://schemas.openxmlformats.org/officeDocument/2006/relationships/image" Target="../media/image34.wmf"/><Relationship Id="rId18" Type="http://schemas.openxmlformats.org/officeDocument/2006/relationships/oleObject" Target="../embeddings/oleObject76.bin"/><Relationship Id="rId26" Type="http://schemas.openxmlformats.org/officeDocument/2006/relationships/oleObject" Target="../embeddings/oleObject80.bin"/><Relationship Id="rId3" Type="http://schemas.openxmlformats.org/officeDocument/2006/relationships/image" Target="../media/image50.emf"/><Relationship Id="rId21" Type="http://schemas.openxmlformats.org/officeDocument/2006/relationships/image" Target="../media/image38.wmf"/><Relationship Id="rId7" Type="http://schemas.openxmlformats.org/officeDocument/2006/relationships/image" Target="../media/image31.wmf"/><Relationship Id="rId12" Type="http://schemas.openxmlformats.org/officeDocument/2006/relationships/oleObject" Target="../embeddings/oleObject73.bin"/><Relationship Id="rId17" Type="http://schemas.openxmlformats.org/officeDocument/2006/relationships/image" Target="../media/image36.wmf"/><Relationship Id="rId25" Type="http://schemas.openxmlformats.org/officeDocument/2006/relationships/image" Target="../media/image40.wmf"/><Relationship Id="rId2" Type="http://schemas.openxmlformats.org/officeDocument/2006/relationships/oleObject" Target="../embeddings/oleObject68.bin"/><Relationship Id="rId16" Type="http://schemas.openxmlformats.org/officeDocument/2006/relationships/oleObject" Target="../embeddings/oleObject75.bin"/><Relationship Id="rId20" Type="http://schemas.openxmlformats.org/officeDocument/2006/relationships/oleObject" Target="../embeddings/oleObject77.bin"/><Relationship Id="rId29" Type="http://schemas.openxmlformats.org/officeDocument/2006/relationships/image" Target="../media/image42.wmf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70.bin"/><Relationship Id="rId11" Type="http://schemas.openxmlformats.org/officeDocument/2006/relationships/image" Target="../media/image33.wmf"/><Relationship Id="rId24" Type="http://schemas.openxmlformats.org/officeDocument/2006/relationships/oleObject" Target="../embeddings/oleObject79.bin"/><Relationship Id="rId5" Type="http://schemas.openxmlformats.org/officeDocument/2006/relationships/image" Target="../media/image30.wmf"/><Relationship Id="rId15" Type="http://schemas.openxmlformats.org/officeDocument/2006/relationships/image" Target="../media/image35.wmf"/><Relationship Id="rId23" Type="http://schemas.openxmlformats.org/officeDocument/2006/relationships/image" Target="../media/image39.wmf"/><Relationship Id="rId28" Type="http://schemas.openxmlformats.org/officeDocument/2006/relationships/oleObject" Target="../embeddings/oleObject81.bin"/><Relationship Id="rId10" Type="http://schemas.openxmlformats.org/officeDocument/2006/relationships/oleObject" Target="../embeddings/oleObject72.bin"/><Relationship Id="rId19" Type="http://schemas.openxmlformats.org/officeDocument/2006/relationships/image" Target="../media/image37.wmf"/><Relationship Id="rId31" Type="http://schemas.openxmlformats.org/officeDocument/2006/relationships/image" Target="../media/image43.wmf"/><Relationship Id="rId4" Type="http://schemas.openxmlformats.org/officeDocument/2006/relationships/oleObject" Target="../embeddings/oleObject69.bin"/><Relationship Id="rId9" Type="http://schemas.openxmlformats.org/officeDocument/2006/relationships/image" Target="../media/image32.wmf"/><Relationship Id="rId14" Type="http://schemas.openxmlformats.org/officeDocument/2006/relationships/oleObject" Target="../embeddings/oleObject74.bin"/><Relationship Id="rId22" Type="http://schemas.openxmlformats.org/officeDocument/2006/relationships/oleObject" Target="../embeddings/oleObject78.bin"/><Relationship Id="rId27" Type="http://schemas.openxmlformats.org/officeDocument/2006/relationships/image" Target="../media/image41.wmf"/><Relationship Id="rId30" Type="http://schemas.openxmlformats.org/officeDocument/2006/relationships/oleObject" Target="../embeddings/oleObject82.bin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emf"/><Relationship Id="rId2" Type="http://schemas.openxmlformats.org/officeDocument/2006/relationships/oleObject" Target="../embeddings/oleObject83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1.emf"/><Relationship Id="rId4" Type="http://schemas.openxmlformats.org/officeDocument/2006/relationships/oleObject" Target="../embeddings/oleObject84.bin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emf"/><Relationship Id="rId2" Type="http://schemas.openxmlformats.org/officeDocument/2006/relationships/oleObject" Target="../embeddings/oleObject85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3.emf"/><Relationship Id="rId4" Type="http://schemas.openxmlformats.org/officeDocument/2006/relationships/oleObject" Target="../embeddings/oleObject86.bin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emf"/><Relationship Id="rId2" Type="http://schemas.openxmlformats.org/officeDocument/2006/relationships/oleObject" Target="../embeddings/oleObject87.bin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矩形 121"/>
          <p:cNvSpPr/>
          <p:nvPr/>
        </p:nvSpPr>
        <p:spPr>
          <a:xfrm>
            <a:off x="609704" y="1233568"/>
            <a:ext cx="822949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zh-CN" altLang="en-US" sz="54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构建任意模值计数器</a:t>
            </a:r>
            <a:endParaRPr lang="zh-CN" altLang="zh-CN" sz="54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650" name="Rectangle 59"/>
          <p:cNvSpPr>
            <a:spLocks noChangeArrowheads="1"/>
          </p:cNvSpPr>
          <p:nvPr/>
        </p:nvSpPr>
        <p:spPr bwMode="auto">
          <a:xfrm>
            <a:off x="1524000" y="2571750"/>
            <a:ext cx="6477692" cy="15239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567055" indent="-567055" algn="ctr" defTabSz="827405">
              <a:spcBef>
                <a:spcPct val="20000"/>
              </a:spcBef>
              <a:buClr>
                <a:srgbClr val="FFFF00"/>
              </a:buClr>
              <a:buSzPct val="85000"/>
              <a:buFont typeface="Wingdings" panose="05000000000000000000" pitchFamily="2" charset="2"/>
              <a:buNone/>
            </a:pPr>
            <a:r>
              <a:rPr lang="zh-CN" altLang="en-US" sz="2800" b="1" dirty="0">
                <a:latin typeface="+mn-ea"/>
                <a:ea typeface="+mn-ea"/>
              </a:rPr>
              <a:t>刘 军</a:t>
            </a:r>
            <a:endParaRPr lang="en-US" altLang="zh-CN" sz="2800" b="1" dirty="0">
              <a:latin typeface="+mn-ea"/>
              <a:ea typeface="+mn-ea"/>
            </a:endParaRPr>
          </a:p>
          <a:p>
            <a:pPr marL="567055" indent="-567055" algn="ctr" defTabSz="827405">
              <a:spcBef>
                <a:spcPct val="20000"/>
              </a:spcBef>
              <a:buClr>
                <a:srgbClr val="FFFF00"/>
              </a:buClr>
              <a:buSzPct val="85000"/>
              <a:buFont typeface="Wingdings" panose="05000000000000000000" pitchFamily="2" charset="2"/>
              <a:buNone/>
            </a:pPr>
            <a:r>
              <a:rPr lang="zh-CN" altLang="en-US" sz="2800" b="1" dirty="0">
                <a:latin typeface="+mn-ea"/>
                <a:ea typeface="+mn-ea"/>
              </a:rPr>
              <a:t>合肥工业大学计算机与信息学院</a:t>
            </a:r>
            <a:endParaRPr lang="en-US" altLang="zh-CN" sz="2800" b="1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3447353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0"/>
            <a:ext cx="421782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27</a:t>
            </a:r>
            <a:r>
              <a:rPr lang="zh-CN" altLang="en-US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：构建任意模值计数器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4932" name="AutoShape 4" descr="C:\Users\hfutliujun\AppData\Roaming\Tencent\Users\350654676\QQ\WinTemp\RichOle\(1YHR_{OZC$S)HTNC8L4D.png"/>
          <p:cNvSpPr>
            <a:spLocks noChangeAspect="1" noChangeArrowheads="1"/>
          </p:cNvSpPr>
          <p:nvPr/>
        </p:nvSpPr>
        <p:spPr bwMode="auto">
          <a:xfrm>
            <a:off x="-1929375" y="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4933" name="AutoShape 5" descr="C:\Users\hfutliujun\AppData\Roaming\Tencent\Users\350654676\QQ\WinTemp\RichOle\(1YHR_{OZC$S)HTNC8L4D.png"/>
          <p:cNvSpPr>
            <a:spLocks noChangeAspect="1" noChangeArrowheads="1"/>
          </p:cNvSpPr>
          <p:nvPr/>
        </p:nvSpPr>
        <p:spPr bwMode="auto">
          <a:xfrm>
            <a:off x="-1929375" y="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-100575" y="165735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8" name="Line 3"/>
          <p:cNvSpPr>
            <a:spLocks noChangeShapeType="1"/>
          </p:cNvSpPr>
          <p:nvPr/>
        </p:nvSpPr>
        <p:spPr bwMode="auto">
          <a:xfrm>
            <a:off x="1588525" y="1920875"/>
            <a:ext cx="422275" cy="1588"/>
          </a:xfrm>
          <a:prstGeom prst="line">
            <a:avLst/>
          </a:prstGeom>
          <a:noFill/>
          <a:ln w="52388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Line 4"/>
          <p:cNvSpPr>
            <a:spLocks noChangeShapeType="1"/>
          </p:cNvSpPr>
          <p:nvPr/>
        </p:nvSpPr>
        <p:spPr bwMode="auto">
          <a:xfrm>
            <a:off x="1615513" y="2792413"/>
            <a:ext cx="422275" cy="1587"/>
          </a:xfrm>
          <a:prstGeom prst="line">
            <a:avLst/>
          </a:prstGeom>
          <a:noFill/>
          <a:ln w="52388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Line 5"/>
          <p:cNvSpPr>
            <a:spLocks noChangeShapeType="1"/>
          </p:cNvSpPr>
          <p:nvPr/>
        </p:nvSpPr>
        <p:spPr bwMode="auto">
          <a:xfrm>
            <a:off x="5546163" y="892175"/>
            <a:ext cx="1587" cy="422275"/>
          </a:xfrm>
          <a:prstGeom prst="line">
            <a:avLst/>
          </a:prstGeom>
          <a:noFill/>
          <a:ln w="52388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Line 6"/>
          <p:cNvSpPr>
            <a:spLocks noChangeShapeType="1"/>
          </p:cNvSpPr>
          <p:nvPr/>
        </p:nvSpPr>
        <p:spPr bwMode="auto">
          <a:xfrm>
            <a:off x="5968438" y="892175"/>
            <a:ext cx="1587" cy="422275"/>
          </a:xfrm>
          <a:prstGeom prst="line">
            <a:avLst/>
          </a:prstGeom>
          <a:noFill/>
          <a:ln w="52388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Line 7"/>
          <p:cNvSpPr>
            <a:spLocks noChangeShapeType="1"/>
          </p:cNvSpPr>
          <p:nvPr/>
        </p:nvSpPr>
        <p:spPr bwMode="auto">
          <a:xfrm>
            <a:off x="3699900" y="892175"/>
            <a:ext cx="1588" cy="422275"/>
          </a:xfrm>
          <a:prstGeom prst="line">
            <a:avLst/>
          </a:prstGeom>
          <a:noFill/>
          <a:ln w="52388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Oval 8"/>
          <p:cNvSpPr>
            <a:spLocks noChangeArrowheads="1"/>
          </p:cNvSpPr>
          <p:nvPr/>
        </p:nvSpPr>
        <p:spPr bwMode="auto">
          <a:xfrm>
            <a:off x="1877450" y="1841500"/>
            <a:ext cx="212725" cy="160338"/>
          </a:xfrm>
          <a:prstGeom prst="ellipse">
            <a:avLst/>
          </a:prstGeom>
          <a:solidFill>
            <a:srgbClr val="FFFFFF"/>
          </a:solidFill>
          <a:ln w="52388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Oval 9"/>
          <p:cNvSpPr>
            <a:spLocks noChangeArrowheads="1"/>
          </p:cNvSpPr>
          <p:nvPr/>
        </p:nvSpPr>
        <p:spPr bwMode="auto">
          <a:xfrm>
            <a:off x="1877450" y="2711450"/>
            <a:ext cx="212725" cy="160338"/>
          </a:xfrm>
          <a:prstGeom prst="ellipse">
            <a:avLst/>
          </a:prstGeom>
          <a:solidFill>
            <a:srgbClr val="FFFFFF"/>
          </a:solidFill>
          <a:ln w="52388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15" name="Group 10"/>
          <p:cNvGrpSpPr>
            <a:grpSpLocks/>
          </p:cNvGrpSpPr>
          <p:nvPr/>
        </p:nvGrpSpPr>
        <p:grpSpPr bwMode="auto">
          <a:xfrm>
            <a:off x="2063188" y="1103313"/>
            <a:ext cx="5540375" cy="2665412"/>
            <a:chOff x="1363" y="1469"/>
            <a:chExt cx="3490" cy="1679"/>
          </a:xfrm>
        </p:grpSpPr>
        <p:sp>
          <p:nvSpPr>
            <p:cNvPr id="16" name="Rectangle 11"/>
            <p:cNvSpPr>
              <a:spLocks noChangeArrowheads="1"/>
            </p:cNvSpPr>
            <p:nvPr/>
          </p:nvSpPr>
          <p:spPr bwMode="auto">
            <a:xfrm>
              <a:off x="1363" y="1618"/>
              <a:ext cx="3225" cy="1265"/>
            </a:xfrm>
            <a:prstGeom prst="rect">
              <a:avLst/>
            </a:prstGeom>
            <a:solidFill>
              <a:srgbClr val="FFFFFF"/>
            </a:solidFill>
            <a:ln w="5238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Line 12"/>
            <p:cNvSpPr>
              <a:spLocks noChangeShapeType="1"/>
            </p:cNvSpPr>
            <p:nvPr/>
          </p:nvSpPr>
          <p:spPr bwMode="auto">
            <a:xfrm>
              <a:off x="3573" y="2882"/>
              <a:ext cx="1" cy="266"/>
            </a:xfrm>
            <a:prstGeom prst="line">
              <a:avLst/>
            </a:prstGeom>
            <a:noFill/>
            <a:ln w="523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Line 13"/>
            <p:cNvSpPr>
              <a:spLocks noChangeShapeType="1"/>
            </p:cNvSpPr>
            <p:nvPr/>
          </p:nvSpPr>
          <p:spPr bwMode="auto">
            <a:xfrm>
              <a:off x="3839" y="2882"/>
              <a:ext cx="1" cy="266"/>
            </a:xfrm>
            <a:prstGeom prst="line">
              <a:avLst/>
            </a:prstGeom>
            <a:noFill/>
            <a:ln w="523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Line 14"/>
            <p:cNvSpPr>
              <a:spLocks noChangeShapeType="1"/>
            </p:cNvSpPr>
            <p:nvPr/>
          </p:nvSpPr>
          <p:spPr bwMode="auto">
            <a:xfrm>
              <a:off x="2011" y="2882"/>
              <a:ext cx="1" cy="266"/>
            </a:xfrm>
            <a:prstGeom prst="line">
              <a:avLst/>
            </a:prstGeom>
            <a:noFill/>
            <a:ln w="523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Line 15"/>
            <p:cNvSpPr>
              <a:spLocks noChangeShapeType="1"/>
            </p:cNvSpPr>
            <p:nvPr/>
          </p:nvSpPr>
          <p:spPr bwMode="auto">
            <a:xfrm>
              <a:off x="2277" y="2882"/>
              <a:ext cx="1" cy="266"/>
            </a:xfrm>
            <a:prstGeom prst="line">
              <a:avLst/>
            </a:prstGeom>
            <a:noFill/>
            <a:ln w="523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Line 16"/>
            <p:cNvSpPr>
              <a:spLocks noChangeShapeType="1"/>
            </p:cNvSpPr>
            <p:nvPr/>
          </p:nvSpPr>
          <p:spPr bwMode="auto">
            <a:xfrm>
              <a:off x="2510" y="2882"/>
              <a:ext cx="1" cy="266"/>
            </a:xfrm>
            <a:prstGeom prst="line">
              <a:avLst/>
            </a:prstGeom>
            <a:noFill/>
            <a:ln w="523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Line 17"/>
            <p:cNvSpPr>
              <a:spLocks noChangeShapeType="1"/>
            </p:cNvSpPr>
            <p:nvPr/>
          </p:nvSpPr>
          <p:spPr bwMode="auto">
            <a:xfrm>
              <a:off x="4587" y="1918"/>
              <a:ext cx="266" cy="1"/>
            </a:xfrm>
            <a:prstGeom prst="line">
              <a:avLst/>
            </a:prstGeom>
            <a:noFill/>
            <a:ln w="523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" name="Line 18"/>
            <p:cNvSpPr>
              <a:spLocks noChangeShapeType="1"/>
            </p:cNvSpPr>
            <p:nvPr/>
          </p:nvSpPr>
          <p:spPr bwMode="auto">
            <a:xfrm>
              <a:off x="4587" y="2466"/>
              <a:ext cx="266" cy="1"/>
            </a:xfrm>
            <a:prstGeom prst="line">
              <a:avLst/>
            </a:prstGeom>
            <a:noFill/>
            <a:ln w="523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" name="Freeform 19"/>
            <p:cNvSpPr>
              <a:spLocks/>
            </p:cNvSpPr>
            <p:nvPr/>
          </p:nvSpPr>
          <p:spPr bwMode="auto">
            <a:xfrm>
              <a:off x="4454" y="1843"/>
              <a:ext cx="133" cy="116"/>
            </a:xfrm>
            <a:custGeom>
              <a:avLst/>
              <a:gdLst>
                <a:gd name="T0" fmla="*/ 133 w 133"/>
                <a:gd name="T1" fmla="*/ 0 h 116"/>
                <a:gd name="T2" fmla="*/ 133 w 133"/>
                <a:gd name="T3" fmla="*/ 116 h 116"/>
                <a:gd name="T4" fmla="*/ 0 w 133"/>
                <a:gd name="T5" fmla="*/ 58 h 116"/>
                <a:gd name="T6" fmla="*/ 133 w 133"/>
                <a:gd name="T7" fmla="*/ 0 h 11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33"/>
                <a:gd name="T13" fmla="*/ 0 h 116"/>
                <a:gd name="T14" fmla="*/ 133 w 133"/>
                <a:gd name="T15" fmla="*/ 116 h 11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33" h="116">
                  <a:moveTo>
                    <a:pt x="133" y="0"/>
                  </a:moveTo>
                  <a:lnTo>
                    <a:pt x="133" y="116"/>
                  </a:lnTo>
                  <a:lnTo>
                    <a:pt x="0" y="58"/>
                  </a:lnTo>
                  <a:lnTo>
                    <a:pt x="133" y="0"/>
                  </a:lnTo>
                  <a:close/>
                </a:path>
              </a:pathLst>
            </a:custGeom>
            <a:solidFill>
              <a:srgbClr val="FFFFFF"/>
            </a:solidFill>
            <a:ln w="523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" name="Freeform 20"/>
            <p:cNvSpPr>
              <a:spLocks/>
            </p:cNvSpPr>
            <p:nvPr/>
          </p:nvSpPr>
          <p:spPr bwMode="auto">
            <a:xfrm>
              <a:off x="4454" y="2383"/>
              <a:ext cx="133" cy="117"/>
            </a:xfrm>
            <a:custGeom>
              <a:avLst/>
              <a:gdLst>
                <a:gd name="T0" fmla="*/ 133 w 133"/>
                <a:gd name="T1" fmla="*/ 0 h 117"/>
                <a:gd name="T2" fmla="*/ 133 w 133"/>
                <a:gd name="T3" fmla="*/ 117 h 117"/>
                <a:gd name="T4" fmla="*/ 0 w 133"/>
                <a:gd name="T5" fmla="*/ 58 h 117"/>
                <a:gd name="T6" fmla="*/ 133 w 133"/>
                <a:gd name="T7" fmla="*/ 0 h 11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33"/>
                <a:gd name="T13" fmla="*/ 0 h 117"/>
                <a:gd name="T14" fmla="*/ 133 w 133"/>
                <a:gd name="T15" fmla="*/ 117 h 11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33" h="117">
                  <a:moveTo>
                    <a:pt x="133" y="0"/>
                  </a:moveTo>
                  <a:lnTo>
                    <a:pt x="133" y="117"/>
                  </a:lnTo>
                  <a:lnTo>
                    <a:pt x="0" y="58"/>
                  </a:lnTo>
                  <a:lnTo>
                    <a:pt x="133" y="0"/>
                  </a:lnTo>
                  <a:close/>
                </a:path>
              </a:pathLst>
            </a:custGeom>
            <a:solidFill>
              <a:srgbClr val="FFFFFF"/>
            </a:solidFill>
            <a:ln w="523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" name="Line 21"/>
            <p:cNvSpPr>
              <a:spLocks noChangeShapeType="1"/>
            </p:cNvSpPr>
            <p:nvPr/>
          </p:nvSpPr>
          <p:spPr bwMode="auto">
            <a:xfrm>
              <a:off x="2776" y="1469"/>
              <a:ext cx="33" cy="1"/>
            </a:xfrm>
            <a:prstGeom prst="line">
              <a:avLst/>
            </a:prstGeom>
            <a:noFill/>
            <a:ln w="523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" name="Line 22"/>
            <p:cNvSpPr>
              <a:spLocks noChangeShapeType="1"/>
            </p:cNvSpPr>
            <p:nvPr/>
          </p:nvSpPr>
          <p:spPr bwMode="auto">
            <a:xfrm>
              <a:off x="2909" y="1469"/>
              <a:ext cx="33" cy="1"/>
            </a:xfrm>
            <a:prstGeom prst="line">
              <a:avLst/>
            </a:prstGeom>
            <a:noFill/>
            <a:ln w="523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" name="Line 23"/>
            <p:cNvSpPr>
              <a:spLocks noChangeShapeType="1"/>
            </p:cNvSpPr>
            <p:nvPr/>
          </p:nvSpPr>
          <p:spPr bwMode="auto">
            <a:xfrm>
              <a:off x="3042" y="1469"/>
              <a:ext cx="33" cy="1"/>
            </a:xfrm>
            <a:prstGeom prst="line">
              <a:avLst/>
            </a:prstGeom>
            <a:noFill/>
            <a:ln w="523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" name="Line 24"/>
            <p:cNvSpPr>
              <a:spLocks noChangeShapeType="1"/>
            </p:cNvSpPr>
            <p:nvPr/>
          </p:nvSpPr>
          <p:spPr bwMode="auto">
            <a:xfrm>
              <a:off x="2759" y="3048"/>
              <a:ext cx="33" cy="1"/>
            </a:xfrm>
            <a:prstGeom prst="line">
              <a:avLst/>
            </a:prstGeom>
            <a:noFill/>
            <a:ln w="523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" name="Line 25"/>
            <p:cNvSpPr>
              <a:spLocks noChangeShapeType="1"/>
            </p:cNvSpPr>
            <p:nvPr/>
          </p:nvSpPr>
          <p:spPr bwMode="auto">
            <a:xfrm>
              <a:off x="2892" y="3048"/>
              <a:ext cx="33" cy="1"/>
            </a:xfrm>
            <a:prstGeom prst="line">
              <a:avLst/>
            </a:prstGeom>
            <a:noFill/>
            <a:ln w="523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" name="Line 26"/>
            <p:cNvSpPr>
              <a:spLocks noChangeShapeType="1"/>
            </p:cNvSpPr>
            <p:nvPr/>
          </p:nvSpPr>
          <p:spPr bwMode="auto">
            <a:xfrm>
              <a:off x="3025" y="3048"/>
              <a:ext cx="33" cy="1"/>
            </a:xfrm>
            <a:prstGeom prst="line">
              <a:avLst/>
            </a:prstGeom>
            <a:noFill/>
            <a:ln w="523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" name="Oval 27"/>
            <p:cNvSpPr>
              <a:spLocks noChangeArrowheads="1"/>
            </p:cNvSpPr>
            <p:nvPr/>
          </p:nvSpPr>
          <p:spPr bwMode="auto">
            <a:xfrm>
              <a:off x="2210" y="2865"/>
              <a:ext cx="134" cy="101"/>
            </a:xfrm>
            <a:prstGeom prst="ellipse">
              <a:avLst/>
            </a:prstGeom>
            <a:solidFill>
              <a:srgbClr val="FFFFFF"/>
            </a:solidFill>
            <a:ln w="523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" name="Line 28"/>
            <p:cNvSpPr>
              <a:spLocks noChangeShapeType="1"/>
            </p:cNvSpPr>
            <p:nvPr/>
          </p:nvSpPr>
          <p:spPr bwMode="auto">
            <a:xfrm>
              <a:off x="2809" y="1851"/>
              <a:ext cx="33" cy="1"/>
            </a:xfrm>
            <a:prstGeom prst="line">
              <a:avLst/>
            </a:prstGeom>
            <a:noFill/>
            <a:ln w="523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" name="Line 29"/>
            <p:cNvSpPr>
              <a:spLocks noChangeShapeType="1"/>
            </p:cNvSpPr>
            <p:nvPr/>
          </p:nvSpPr>
          <p:spPr bwMode="auto">
            <a:xfrm>
              <a:off x="2942" y="1851"/>
              <a:ext cx="33" cy="1"/>
            </a:xfrm>
            <a:prstGeom prst="line">
              <a:avLst/>
            </a:prstGeom>
            <a:noFill/>
            <a:ln w="523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" name="Line 30"/>
            <p:cNvSpPr>
              <a:spLocks noChangeShapeType="1"/>
            </p:cNvSpPr>
            <p:nvPr/>
          </p:nvSpPr>
          <p:spPr bwMode="auto">
            <a:xfrm>
              <a:off x="3075" y="1851"/>
              <a:ext cx="33" cy="1"/>
            </a:xfrm>
            <a:prstGeom prst="line">
              <a:avLst/>
            </a:prstGeom>
            <a:noFill/>
            <a:ln w="523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" name="Line 31"/>
            <p:cNvSpPr>
              <a:spLocks noChangeShapeType="1"/>
            </p:cNvSpPr>
            <p:nvPr/>
          </p:nvSpPr>
          <p:spPr bwMode="auto">
            <a:xfrm>
              <a:off x="2776" y="2649"/>
              <a:ext cx="33" cy="1"/>
            </a:xfrm>
            <a:prstGeom prst="line">
              <a:avLst/>
            </a:prstGeom>
            <a:noFill/>
            <a:ln w="523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" name="Line 32"/>
            <p:cNvSpPr>
              <a:spLocks noChangeShapeType="1"/>
            </p:cNvSpPr>
            <p:nvPr/>
          </p:nvSpPr>
          <p:spPr bwMode="auto">
            <a:xfrm>
              <a:off x="2909" y="2649"/>
              <a:ext cx="33" cy="1"/>
            </a:xfrm>
            <a:prstGeom prst="line">
              <a:avLst/>
            </a:prstGeom>
            <a:noFill/>
            <a:ln w="523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" name="Line 33"/>
            <p:cNvSpPr>
              <a:spLocks noChangeShapeType="1"/>
            </p:cNvSpPr>
            <p:nvPr/>
          </p:nvSpPr>
          <p:spPr bwMode="auto">
            <a:xfrm>
              <a:off x="3042" y="2649"/>
              <a:ext cx="33" cy="1"/>
            </a:xfrm>
            <a:prstGeom prst="line">
              <a:avLst/>
            </a:prstGeom>
            <a:noFill/>
            <a:ln w="523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39" name="Group 34"/>
            <p:cNvGrpSpPr>
              <a:grpSpLocks/>
            </p:cNvGrpSpPr>
            <p:nvPr/>
          </p:nvGrpSpPr>
          <p:grpSpPr bwMode="auto">
            <a:xfrm>
              <a:off x="1402" y="1849"/>
              <a:ext cx="377" cy="282"/>
              <a:chOff x="1402" y="1849"/>
              <a:chExt cx="377" cy="282"/>
            </a:xfrm>
          </p:grpSpPr>
          <p:sp>
            <p:nvSpPr>
              <p:cNvPr id="83" name="Line 35"/>
              <p:cNvSpPr>
                <a:spLocks noChangeShapeType="1"/>
              </p:cNvSpPr>
              <p:nvPr/>
            </p:nvSpPr>
            <p:spPr bwMode="auto">
              <a:xfrm>
                <a:off x="1410" y="1849"/>
                <a:ext cx="369" cy="1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4" name="Rectangle 36"/>
              <p:cNvSpPr>
                <a:spLocks noChangeArrowheads="1"/>
              </p:cNvSpPr>
              <p:nvPr/>
            </p:nvSpPr>
            <p:spPr bwMode="auto">
              <a:xfrm>
                <a:off x="1402" y="1862"/>
                <a:ext cx="311" cy="26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kumimoji="0" lang="en-US" altLang="zh-CN" sz="2800" i="0">
                    <a:solidFill>
                      <a:srgbClr val="000000"/>
                    </a:solidFill>
                    <a:latin typeface="Times New Roman" pitchFamily="18" charset="0"/>
                  </a:rPr>
                  <a:t>CO</a:t>
                </a:r>
                <a:endParaRPr kumimoji="0" lang="en-US" altLang="zh-CN" sz="2800" i="0">
                  <a:latin typeface="Arial" pitchFamily="34" charset="0"/>
                </a:endParaRPr>
              </a:p>
            </p:txBody>
          </p:sp>
        </p:grpSp>
        <p:sp>
          <p:nvSpPr>
            <p:cNvPr id="40" name="Rectangle 37"/>
            <p:cNvSpPr>
              <a:spLocks noChangeArrowheads="1"/>
            </p:cNvSpPr>
            <p:nvPr/>
          </p:nvSpPr>
          <p:spPr bwMode="auto">
            <a:xfrm>
              <a:off x="1366" y="1782"/>
              <a:ext cx="465" cy="4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41" name="Group 38"/>
            <p:cNvGrpSpPr>
              <a:grpSpLocks/>
            </p:cNvGrpSpPr>
            <p:nvPr/>
          </p:nvGrpSpPr>
          <p:grpSpPr bwMode="auto">
            <a:xfrm>
              <a:off x="1427" y="2394"/>
              <a:ext cx="332" cy="284"/>
              <a:chOff x="1427" y="2394"/>
              <a:chExt cx="332" cy="284"/>
            </a:xfrm>
          </p:grpSpPr>
          <p:sp>
            <p:nvSpPr>
              <p:cNvPr id="81" name="Line 39"/>
              <p:cNvSpPr>
                <a:spLocks noChangeShapeType="1"/>
              </p:cNvSpPr>
              <p:nvPr/>
            </p:nvSpPr>
            <p:spPr bwMode="auto">
              <a:xfrm>
                <a:off x="1430" y="2394"/>
                <a:ext cx="329" cy="1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2" name="Rectangle 40"/>
              <p:cNvSpPr>
                <a:spLocks noChangeArrowheads="1"/>
              </p:cNvSpPr>
              <p:nvPr/>
            </p:nvSpPr>
            <p:spPr bwMode="auto">
              <a:xfrm>
                <a:off x="1427" y="2409"/>
                <a:ext cx="311" cy="26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kumimoji="0" lang="en-US" altLang="zh-CN" sz="2800" i="0">
                    <a:solidFill>
                      <a:srgbClr val="000000"/>
                    </a:solidFill>
                    <a:latin typeface="Times New Roman" pitchFamily="18" charset="0"/>
                  </a:rPr>
                  <a:t>BO</a:t>
                </a:r>
                <a:endParaRPr kumimoji="0" lang="en-US" altLang="zh-CN" sz="2800" i="0">
                  <a:latin typeface="Arial" pitchFamily="34" charset="0"/>
                </a:endParaRPr>
              </a:p>
            </p:txBody>
          </p:sp>
        </p:grpSp>
        <p:sp>
          <p:nvSpPr>
            <p:cNvPr id="42" name="Rectangle 41"/>
            <p:cNvSpPr>
              <a:spLocks noChangeArrowheads="1"/>
            </p:cNvSpPr>
            <p:nvPr/>
          </p:nvSpPr>
          <p:spPr bwMode="auto">
            <a:xfrm>
              <a:off x="1391" y="2336"/>
              <a:ext cx="415" cy="3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43" name="Group 42"/>
            <p:cNvGrpSpPr>
              <a:grpSpLocks/>
            </p:cNvGrpSpPr>
            <p:nvPr/>
          </p:nvGrpSpPr>
          <p:grpSpPr bwMode="auto">
            <a:xfrm>
              <a:off x="3756" y="1693"/>
              <a:ext cx="316" cy="360"/>
              <a:chOff x="3756" y="1693"/>
              <a:chExt cx="316" cy="360"/>
            </a:xfrm>
          </p:grpSpPr>
          <p:sp>
            <p:nvSpPr>
              <p:cNvPr id="79" name="Rectangle 43"/>
              <p:cNvSpPr>
                <a:spLocks noChangeArrowheads="1"/>
              </p:cNvSpPr>
              <p:nvPr/>
            </p:nvSpPr>
            <p:spPr bwMode="auto">
              <a:xfrm>
                <a:off x="3942" y="1851"/>
                <a:ext cx="130" cy="20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kumimoji="0" lang="en-US" altLang="zh-CN" sz="1800" i="0">
                    <a:solidFill>
                      <a:srgbClr val="000000"/>
                    </a:solidFill>
                    <a:latin typeface="Times New Roman" pitchFamily="18" charset="0"/>
                  </a:rPr>
                  <a:t>0</a:t>
                </a:r>
                <a:endParaRPr kumimoji="0" lang="en-US" altLang="zh-CN" sz="1800" i="0">
                  <a:latin typeface="Arial" pitchFamily="34" charset="0"/>
                </a:endParaRPr>
              </a:p>
            </p:txBody>
          </p:sp>
          <p:sp>
            <p:nvSpPr>
              <p:cNvPr id="80" name="Rectangle 44"/>
              <p:cNvSpPr>
                <a:spLocks noChangeArrowheads="1"/>
              </p:cNvSpPr>
              <p:nvPr/>
            </p:nvSpPr>
            <p:spPr bwMode="auto">
              <a:xfrm>
                <a:off x="3756" y="1693"/>
                <a:ext cx="162" cy="26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kumimoji="0" lang="en-US" altLang="zh-CN" sz="2800" i="0">
                    <a:solidFill>
                      <a:srgbClr val="000000"/>
                    </a:solidFill>
                    <a:latin typeface="Times New Roman" pitchFamily="18" charset="0"/>
                  </a:rPr>
                  <a:t>Q</a:t>
                </a:r>
                <a:endParaRPr kumimoji="0" lang="en-US" altLang="zh-CN" sz="2800" i="0">
                  <a:latin typeface="Arial" pitchFamily="34" charset="0"/>
                </a:endParaRPr>
              </a:p>
            </p:txBody>
          </p:sp>
        </p:grpSp>
        <p:sp>
          <p:nvSpPr>
            <p:cNvPr id="44" name="Rectangle 45"/>
            <p:cNvSpPr>
              <a:spLocks noChangeArrowheads="1"/>
            </p:cNvSpPr>
            <p:nvPr/>
          </p:nvSpPr>
          <p:spPr bwMode="auto">
            <a:xfrm>
              <a:off x="3726" y="1669"/>
              <a:ext cx="329" cy="3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" name="Rectangle 46"/>
            <p:cNvSpPr>
              <a:spLocks noChangeArrowheads="1"/>
            </p:cNvSpPr>
            <p:nvPr/>
          </p:nvSpPr>
          <p:spPr bwMode="auto">
            <a:xfrm>
              <a:off x="2263" y="1668"/>
              <a:ext cx="158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kumimoji="0" lang="en-US" altLang="zh-CN" sz="2900" i="0">
                  <a:solidFill>
                    <a:srgbClr val="000000"/>
                  </a:solidFill>
                  <a:latin typeface="Times New Roman" pitchFamily="18" charset="0"/>
                </a:rPr>
                <a:t> </a:t>
              </a:r>
              <a:endParaRPr kumimoji="0" lang="en-US" altLang="zh-CN" sz="1800" i="0">
                <a:latin typeface="Arial" pitchFamily="34" charset="0"/>
              </a:endParaRPr>
            </a:p>
          </p:txBody>
        </p:sp>
        <p:sp>
          <p:nvSpPr>
            <p:cNvPr id="46" name="Rectangle 47"/>
            <p:cNvSpPr>
              <a:spLocks noChangeArrowheads="1"/>
            </p:cNvSpPr>
            <p:nvPr/>
          </p:nvSpPr>
          <p:spPr bwMode="auto">
            <a:xfrm>
              <a:off x="2526" y="1826"/>
              <a:ext cx="76" cy="18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kumimoji="0" lang="en-US" altLang="zh-CN" sz="1900">
                  <a:solidFill>
                    <a:srgbClr val="000000"/>
                  </a:solidFill>
                  <a:latin typeface="Times New Roman" pitchFamily="18" charset="0"/>
                </a:rPr>
                <a:t>n</a:t>
              </a:r>
              <a:endParaRPr kumimoji="0" lang="en-US" altLang="zh-CN" sz="1800">
                <a:latin typeface="Arial" pitchFamily="34" charset="0"/>
              </a:endParaRPr>
            </a:p>
          </p:txBody>
        </p:sp>
        <p:sp>
          <p:nvSpPr>
            <p:cNvPr id="47" name="Rectangle 48"/>
            <p:cNvSpPr>
              <a:spLocks noChangeArrowheads="1"/>
            </p:cNvSpPr>
            <p:nvPr/>
          </p:nvSpPr>
          <p:spPr bwMode="auto">
            <a:xfrm>
              <a:off x="2310" y="1655"/>
              <a:ext cx="162" cy="26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kumimoji="0" lang="en-US" altLang="zh-CN" sz="2800" i="0">
                  <a:solidFill>
                    <a:srgbClr val="000000"/>
                  </a:solidFill>
                  <a:latin typeface="Times New Roman" pitchFamily="18" charset="0"/>
                </a:rPr>
                <a:t>Q</a:t>
              </a:r>
              <a:endParaRPr kumimoji="0" lang="en-US" altLang="zh-CN" sz="2800" i="0">
                <a:latin typeface="Arial" pitchFamily="34" charset="0"/>
              </a:endParaRPr>
            </a:p>
          </p:txBody>
        </p:sp>
        <p:sp>
          <p:nvSpPr>
            <p:cNvPr id="48" name="Rectangle 49"/>
            <p:cNvSpPr>
              <a:spLocks noChangeArrowheads="1"/>
            </p:cNvSpPr>
            <p:nvPr/>
          </p:nvSpPr>
          <p:spPr bwMode="auto">
            <a:xfrm>
              <a:off x="2263" y="1610"/>
              <a:ext cx="399" cy="41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" name="Rectangle 50"/>
            <p:cNvSpPr>
              <a:spLocks noChangeArrowheads="1"/>
            </p:cNvSpPr>
            <p:nvPr/>
          </p:nvSpPr>
          <p:spPr bwMode="auto">
            <a:xfrm>
              <a:off x="1748" y="2597"/>
              <a:ext cx="298" cy="26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kumimoji="0" lang="en-US" altLang="zh-CN" sz="2800" i="0">
                  <a:solidFill>
                    <a:srgbClr val="000000"/>
                  </a:solidFill>
                  <a:latin typeface="Times New Roman" pitchFamily="18" charset="0"/>
                </a:rPr>
                <a:t>CR</a:t>
              </a:r>
              <a:endParaRPr kumimoji="0" lang="en-US" altLang="zh-CN" sz="2800" i="0">
                <a:latin typeface="Arial" pitchFamily="34" charset="0"/>
              </a:endParaRPr>
            </a:p>
          </p:txBody>
        </p:sp>
        <p:sp>
          <p:nvSpPr>
            <p:cNvPr id="50" name="Rectangle 51"/>
            <p:cNvSpPr>
              <a:spLocks noChangeArrowheads="1"/>
            </p:cNvSpPr>
            <p:nvPr/>
          </p:nvSpPr>
          <p:spPr bwMode="auto">
            <a:xfrm>
              <a:off x="1715" y="2591"/>
              <a:ext cx="429" cy="31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51" name="Group 52"/>
            <p:cNvGrpSpPr>
              <a:grpSpLocks/>
            </p:cNvGrpSpPr>
            <p:nvPr/>
          </p:nvGrpSpPr>
          <p:grpSpPr bwMode="auto">
            <a:xfrm>
              <a:off x="2105" y="2613"/>
              <a:ext cx="299" cy="277"/>
              <a:chOff x="2105" y="2613"/>
              <a:chExt cx="299" cy="277"/>
            </a:xfrm>
          </p:grpSpPr>
          <p:sp>
            <p:nvSpPr>
              <p:cNvPr id="77" name="Line 53"/>
              <p:cNvSpPr>
                <a:spLocks noChangeShapeType="1"/>
              </p:cNvSpPr>
              <p:nvPr/>
            </p:nvSpPr>
            <p:spPr bwMode="auto">
              <a:xfrm>
                <a:off x="2108" y="2613"/>
                <a:ext cx="288" cy="1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8" name="Rectangle 54"/>
              <p:cNvSpPr>
                <a:spLocks noChangeArrowheads="1"/>
              </p:cNvSpPr>
              <p:nvPr/>
            </p:nvSpPr>
            <p:spPr bwMode="auto">
              <a:xfrm>
                <a:off x="2105" y="2621"/>
                <a:ext cx="299" cy="26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kumimoji="0" lang="en-US" altLang="zh-CN" sz="2800" i="0">
                    <a:solidFill>
                      <a:srgbClr val="000000"/>
                    </a:solidFill>
                    <a:latin typeface="Times New Roman" pitchFamily="18" charset="0"/>
                  </a:rPr>
                  <a:t>LD</a:t>
                </a:r>
                <a:endParaRPr kumimoji="0" lang="en-US" altLang="zh-CN" sz="2800" i="0">
                  <a:latin typeface="Arial" pitchFamily="34" charset="0"/>
                </a:endParaRPr>
              </a:p>
            </p:txBody>
          </p:sp>
        </p:grpSp>
        <p:sp>
          <p:nvSpPr>
            <p:cNvPr id="52" name="Rectangle 55"/>
            <p:cNvSpPr>
              <a:spLocks noChangeArrowheads="1"/>
            </p:cNvSpPr>
            <p:nvPr/>
          </p:nvSpPr>
          <p:spPr bwMode="auto">
            <a:xfrm>
              <a:off x="2072" y="2558"/>
              <a:ext cx="382" cy="31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53" name="Group 56"/>
            <p:cNvGrpSpPr>
              <a:grpSpLocks/>
            </p:cNvGrpSpPr>
            <p:nvPr/>
          </p:nvGrpSpPr>
          <p:grpSpPr bwMode="auto">
            <a:xfrm>
              <a:off x="2418" y="2605"/>
              <a:ext cx="256" cy="312"/>
              <a:chOff x="2418" y="2605"/>
              <a:chExt cx="256" cy="312"/>
            </a:xfrm>
          </p:grpSpPr>
          <p:sp>
            <p:nvSpPr>
              <p:cNvPr id="75" name="Rectangle 57"/>
              <p:cNvSpPr>
                <a:spLocks noChangeArrowheads="1"/>
              </p:cNvSpPr>
              <p:nvPr/>
            </p:nvSpPr>
            <p:spPr bwMode="auto">
              <a:xfrm>
                <a:off x="2610" y="2763"/>
                <a:ext cx="64" cy="15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kumimoji="0" lang="en-US" altLang="zh-CN" sz="1600" i="0">
                    <a:solidFill>
                      <a:srgbClr val="000000"/>
                    </a:solidFill>
                    <a:latin typeface="Times New Roman" pitchFamily="18" charset="0"/>
                  </a:rPr>
                  <a:t>n</a:t>
                </a:r>
                <a:endParaRPr kumimoji="0" lang="en-US" altLang="zh-CN" sz="1600" i="0">
                  <a:latin typeface="Arial" pitchFamily="34" charset="0"/>
                </a:endParaRPr>
              </a:p>
            </p:txBody>
          </p:sp>
          <p:sp>
            <p:nvSpPr>
              <p:cNvPr id="76" name="Rectangle 58"/>
              <p:cNvSpPr>
                <a:spLocks noChangeArrowheads="1"/>
              </p:cNvSpPr>
              <p:nvPr/>
            </p:nvSpPr>
            <p:spPr bwMode="auto">
              <a:xfrm>
                <a:off x="2418" y="2605"/>
                <a:ext cx="162" cy="26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kumimoji="0" lang="en-US" altLang="zh-CN" sz="2800" i="0">
                    <a:solidFill>
                      <a:srgbClr val="000000"/>
                    </a:solidFill>
                    <a:latin typeface="Times New Roman" pitchFamily="18" charset="0"/>
                  </a:rPr>
                  <a:t>D</a:t>
                </a:r>
                <a:endParaRPr kumimoji="0" lang="en-US" altLang="zh-CN" sz="2800" i="0">
                  <a:latin typeface="Arial" pitchFamily="34" charset="0"/>
                </a:endParaRPr>
              </a:p>
            </p:txBody>
          </p:sp>
        </p:grpSp>
        <p:sp>
          <p:nvSpPr>
            <p:cNvPr id="54" name="Rectangle 59"/>
            <p:cNvSpPr>
              <a:spLocks noChangeArrowheads="1"/>
            </p:cNvSpPr>
            <p:nvPr/>
          </p:nvSpPr>
          <p:spPr bwMode="auto">
            <a:xfrm>
              <a:off x="2382" y="2580"/>
              <a:ext cx="358" cy="3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55" name="Group 60"/>
            <p:cNvGrpSpPr>
              <a:grpSpLocks/>
            </p:cNvGrpSpPr>
            <p:nvPr/>
          </p:nvGrpSpPr>
          <p:grpSpPr bwMode="auto">
            <a:xfrm>
              <a:off x="3454" y="2597"/>
              <a:ext cx="258" cy="296"/>
              <a:chOff x="3454" y="2597"/>
              <a:chExt cx="258" cy="296"/>
            </a:xfrm>
          </p:grpSpPr>
          <p:sp>
            <p:nvSpPr>
              <p:cNvPr id="73" name="Rectangle 61"/>
              <p:cNvSpPr>
                <a:spLocks noChangeArrowheads="1"/>
              </p:cNvSpPr>
              <p:nvPr/>
            </p:nvSpPr>
            <p:spPr bwMode="auto">
              <a:xfrm>
                <a:off x="3604" y="2730"/>
                <a:ext cx="108" cy="16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kumimoji="0" lang="en-US" altLang="zh-CN" sz="1500" i="0">
                    <a:solidFill>
                      <a:srgbClr val="000000"/>
                    </a:solidFill>
                    <a:latin typeface="Times New Roman" pitchFamily="18" charset="0"/>
                  </a:rPr>
                  <a:t>1</a:t>
                </a:r>
                <a:endParaRPr kumimoji="0" lang="en-US" altLang="zh-CN" sz="1800" i="0">
                  <a:latin typeface="Arial" pitchFamily="34" charset="0"/>
                </a:endParaRPr>
              </a:p>
            </p:txBody>
          </p:sp>
          <p:sp>
            <p:nvSpPr>
              <p:cNvPr id="74" name="Rectangle 62"/>
              <p:cNvSpPr>
                <a:spLocks noChangeArrowheads="1"/>
              </p:cNvSpPr>
              <p:nvPr/>
            </p:nvSpPr>
            <p:spPr bwMode="auto">
              <a:xfrm>
                <a:off x="3454" y="2597"/>
                <a:ext cx="150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kumimoji="0" lang="en-US" altLang="zh-CN" sz="2600" i="0">
                    <a:solidFill>
                      <a:srgbClr val="000000"/>
                    </a:solidFill>
                    <a:latin typeface="Times New Roman" pitchFamily="18" charset="0"/>
                  </a:rPr>
                  <a:t>D</a:t>
                </a:r>
                <a:endParaRPr kumimoji="0" lang="en-US" altLang="zh-CN" sz="1800" i="0">
                  <a:latin typeface="Arial" pitchFamily="34" charset="0"/>
                </a:endParaRPr>
              </a:p>
            </p:txBody>
          </p:sp>
        </p:grpSp>
        <p:sp>
          <p:nvSpPr>
            <p:cNvPr id="56" name="Rectangle 63"/>
            <p:cNvSpPr>
              <a:spLocks noChangeArrowheads="1"/>
            </p:cNvSpPr>
            <p:nvPr/>
          </p:nvSpPr>
          <p:spPr bwMode="auto">
            <a:xfrm>
              <a:off x="3424" y="2574"/>
              <a:ext cx="268" cy="31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57" name="Group 64"/>
            <p:cNvGrpSpPr>
              <a:grpSpLocks/>
            </p:cNvGrpSpPr>
            <p:nvPr/>
          </p:nvGrpSpPr>
          <p:grpSpPr bwMode="auto">
            <a:xfrm>
              <a:off x="3748" y="2597"/>
              <a:ext cx="266" cy="296"/>
              <a:chOff x="3748" y="2597"/>
              <a:chExt cx="266" cy="296"/>
            </a:xfrm>
          </p:grpSpPr>
          <p:sp>
            <p:nvSpPr>
              <p:cNvPr id="71" name="Rectangle 65"/>
              <p:cNvSpPr>
                <a:spLocks noChangeArrowheads="1"/>
              </p:cNvSpPr>
              <p:nvPr/>
            </p:nvSpPr>
            <p:spPr bwMode="auto">
              <a:xfrm>
                <a:off x="3906" y="2730"/>
                <a:ext cx="108" cy="16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kumimoji="0" lang="en-US" altLang="zh-CN" sz="1500" i="0">
                    <a:solidFill>
                      <a:srgbClr val="000000"/>
                    </a:solidFill>
                    <a:latin typeface="Times New Roman" pitchFamily="18" charset="0"/>
                  </a:rPr>
                  <a:t>0</a:t>
                </a:r>
                <a:endParaRPr kumimoji="0" lang="en-US" altLang="zh-CN" sz="1800" i="0">
                  <a:latin typeface="Arial" pitchFamily="34" charset="0"/>
                </a:endParaRPr>
              </a:p>
            </p:txBody>
          </p:sp>
          <p:sp>
            <p:nvSpPr>
              <p:cNvPr id="72" name="Rectangle 66"/>
              <p:cNvSpPr>
                <a:spLocks noChangeArrowheads="1"/>
              </p:cNvSpPr>
              <p:nvPr/>
            </p:nvSpPr>
            <p:spPr bwMode="auto">
              <a:xfrm>
                <a:off x="3748" y="2597"/>
                <a:ext cx="150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kumimoji="0" lang="en-US" altLang="zh-CN" sz="2600" i="0">
                    <a:solidFill>
                      <a:srgbClr val="000000"/>
                    </a:solidFill>
                    <a:latin typeface="Times New Roman" pitchFamily="18" charset="0"/>
                  </a:rPr>
                  <a:t>D</a:t>
                </a:r>
                <a:endParaRPr kumimoji="0" lang="en-US" altLang="zh-CN" sz="1800" i="0">
                  <a:latin typeface="Arial" pitchFamily="34" charset="0"/>
                </a:endParaRPr>
              </a:p>
            </p:txBody>
          </p:sp>
        </p:grpSp>
        <p:sp>
          <p:nvSpPr>
            <p:cNvPr id="58" name="Rectangle 67"/>
            <p:cNvSpPr>
              <a:spLocks noChangeArrowheads="1"/>
            </p:cNvSpPr>
            <p:nvPr/>
          </p:nvSpPr>
          <p:spPr bwMode="auto">
            <a:xfrm>
              <a:off x="3717" y="2574"/>
              <a:ext cx="283" cy="31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59" name="Group 68"/>
            <p:cNvGrpSpPr>
              <a:grpSpLocks/>
            </p:cNvGrpSpPr>
            <p:nvPr/>
          </p:nvGrpSpPr>
          <p:grpSpPr bwMode="auto">
            <a:xfrm>
              <a:off x="4169" y="1783"/>
              <a:ext cx="365" cy="295"/>
              <a:chOff x="4169" y="1783"/>
              <a:chExt cx="365" cy="295"/>
            </a:xfrm>
          </p:grpSpPr>
          <p:sp>
            <p:nvSpPr>
              <p:cNvPr id="69" name="Rectangle 69"/>
              <p:cNvSpPr>
                <a:spLocks noChangeArrowheads="1"/>
              </p:cNvSpPr>
              <p:nvPr/>
            </p:nvSpPr>
            <p:spPr bwMode="auto">
              <a:xfrm>
                <a:off x="4404" y="1915"/>
                <a:ext cx="130" cy="16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kumimoji="0" lang="en-US" altLang="zh-CN" sz="1500" i="0">
                    <a:solidFill>
                      <a:srgbClr val="000000"/>
                    </a:solidFill>
                    <a:latin typeface="Times New Roman" pitchFamily="18" charset="0"/>
                  </a:rPr>
                  <a:t>U</a:t>
                </a:r>
                <a:endParaRPr kumimoji="0" lang="en-US" altLang="zh-CN" sz="1800" i="0">
                  <a:latin typeface="Arial" pitchFamily="34" charset="0"/>
                </a:endParaRPr>
              </a:p>
            </p:txBody>
          </p:sp>
          <p:sp>
            <p:nvSpPr>
              <p:cNvPr id="70" name="Rectangle 70"/>
              <p:cNvSpPr>
                <a:spLocks noChangeArrowheads="1"/>
              </p:cNvSpPr>
              <p:nvPr/>
            </p:nvSpPr>
            <p:spPr bwMode="auto">
              <a:xfrm>
                <a:off x="4169" y="1783"/>
                <a:ext cx="255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kumimoji="0" lang="en-US" altLang="zh-CN" sz="2600" i="0">
                    <a:solidFill>
                      <a:srgbClr val="000000"/>
                    </a:solidFill>
                    <a:latin typeface="Times New Roman" pitchFamily="18" charset="0"/>
                  </a:rPr>
                  <a:t>CP</a:t>
                </a:r>
                <a:endParaRPr kumimoji="0" lang="en-US" altLang="zh-CN" sz="1800" i="0">
                  <a:latin typeface="Arial" pitchFamily="34" charset="0"/>
                </a:endParaRPr>
              </a:p>
            </p:txBody>
          </p:sp>
        </p:grpSp>
        <p:sp>
          <p:nvSpPr>
            <p:cNvPr id="60" name="Rectangle 71"/>
            <p:cNvSpPr>
              <a:spLocks noChangeArrowheads="1"/>
            </p:cNvSpPr>
            <p:nvPr/>
          </p:nvSpPr>
          <p:spPr bwMode="auto">
            <a:xfrm>
              <a:off x="4144" y="1760"/>
              <a:ext cx="390" cy="31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61" name="Group 72"/>
            <p:cNvGrpSpPr>
              <a:grpSpLocks/>
            </p:cNvGrpSpPr>
            <p:nvPr/>
          </p:nvGrpSpPr>
          <p:grpSpPr bwMode="auto">
            <a:xfrm>
              <a:off x="4185" y="2381"/>
              <a:ext cx="366" cy="296"/>
              <a:chOff x="4185" y="2381"/>
              <a:chExt cx="366" cy="296"/>
            </a:xfrm>
          </p:grpSpPr>
          <p:sp>
            <p:nvSpPr>
              <p:cNvPr id="67" name="Rectangle 73"/>
              <p:cNvSpPr>
                <a:spLocks noChangeArrowheads="1"/>
              </p:cNvSpPr>
              <p:nvPr/>
            </p:nvSpPr>
            <p:spPr bwMode="auto">
              <a:xfrm>
                <a:off x="4418" y="2514"/>
                <a:ext cx="133" cy="16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kumimoji="0" lang="en-US" altLang="zh-CN" sz="1500" i="0">
                    <a:solidFill>
                      <a:srgbClr val="000000"/>
                    </a:solidFill>
                    <a:latin typeface="Times New Roman" pitchFamily="18" charset="0"/>
                  </a:rPr>
                  <a:t>D</a:t>
                </a:r>
                <a:endParaRPr kumimoji="0" lang="en-US" altLang="zh-CN" sz="1800" i="0">
                  <a:latin typeface="Arial" pitchFamily="34" charset="0"/>
                </a:endParaRPr>
              </a:p>
            </p:txBody>
          </p:sp>
          <p:sp>
            <p:nvSpPr>
              <p:cNvPr id="68" name="Rectangle 74"/>
              <p:cNvSpPr>
                <a:spLocks noChangeArrowheads="1"/>
              </p:cNvSpPr>
              <p:nvPr/>
            </p:nvSpPr>
            <p:spPr bwMode="auto">
              <a:xfrm>
                <a:off x="4185" y="2381"/>
                <a:ext cx="255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kumimoji="0" lang="en-US" altLang="zh-CN" sz="2600" i="0">
                    <a:solidFill>
                      <a:srgbClr val="000000"/>
                    </a:solidFill>
                    <a:latin typeface="Times New Roman" pitchFamily="18" charset="0"/>
                  </a:rPr>
                  <a:t>CP</a:t>
                </a:r>
                <a:endParaRPr kumimoji="0" lang="en-US" altLang="zh-CN" sz="1800" i="0">
                  <a:latin typeface="Arial" pitchFamily="34" charset="0"/>
                </a:endParaRPr>
              </a:p>
            </p:txBody>
          </p:sp>
        </p:grpSp>
        <p:sp>
          <p:nvSpPr>
            <p:cNvPr id="63" name="Rectangle 75"/>
            <p:cNvSpPr>
              <a:spLocks noChangeArrowheads="1"/>
            </p:cNvSpPr>
            <p:nvPr/>
          </p:nvSpPr>
          <p:spPr bwMode="auto">
            <a:xfrm>
              <a:off x="4161" y="2358"/>
              <a:ext cx="390" cy="31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" name="Rectangle 76"/>
            <p:cNvSpPr>
              <a:spLocks noChangeArrowheads="1"/>
            </p:cNvSpPr>
            <p:nvPr/>
          </p:nvSpPr>
          <p:spPr bwMode="auto">
            <a:xfrm>
              <a:off x="3432" y="1702"/>
              <a:ext cx="518" cy="3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" name="Rectangle 77"/>
            <p:cNvSpPr>
              <a:spLocks noChangeArrowheads="1"/>
            </p:cNvSpPr>
            <p:nvPr/>
          </p:nvSpPr>
          <p:spPr bwMode="auto">
            <a:xfrm>
              <a:off x="3432" y="1713"/>
              <a:ext cx="162" cy="26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kumimoji="0" lang="en-US" altLang="zh-CN" sz="2800" i="0">
                  <a:solidFill>
                    <a:srgbClr val="000000"/>
                  </a:solidFill>
                  <a:latin typeface="Times New Roman" pitchFamily="18" charset="0"/>
                </a:rPr>
                <a:t>Q</a:t>
              </a:r>
              <a:endParaRPr kumimoji="0" lang="en-US" altLang="zh-CN" sz="2800" i="0">
                <a:latin typeface="Arial" pitchFamily="34" charset="0"/>
              </a:endParaRPr>
            </a:p>
          </p:txBody>
        </p:sp>
        <p:sp>
          <p:nvSpPr>
            <p:cNvPr id="66" name="Rectangle 78"/>
            <p:cNvSpPr>
              <a:spLocks noChangeArrowheads="1"/>
            </p:cNvSpPr>
            <p:nvPr/>
          </p:nvSpPr>
          <p:spPr bwMode="auto">
            <a:xfrm>
              <a:off x="3598" y="1821"/>
              <a:ext cx="152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kumimoji="0" lang="en-US" altLang="zh-CN" sz="2000" i="0">
                  <a:solidFill>
                    <a:srgbClr val="000000"/>
                  </a:solidFill>
                  <a:latin typeface="Times New Roman" pitchFamily="18" charset="0"/>
                </a:rPr>
                <a:t>1</a:t>
              </a:r>
              <a:endParaRPr kumimoji="0" lang="en-US" altLang="zh-CN" sz="1800" i="0">
                <a:latin typeface="Arial" pitchFamily="34" charset="0"/>
              </a:endParaRPr>
            </a:p>
          </p:txBody>
        </p:sp>
      </p:grpSp>
      <p:sp>
        <p:nvSpPr>
          <p:cNvPr id="85" name="AutoShape 80"/>
          <p:cNvSpPr>
            <a:spLocks noChangeArrowheads="1"/>
          </p:cNvSpPr>
          <p:nvPr/>
        </p:nvSpPr>
        <p:spPr bwMode="auto">
          <a:xfrm>
            <a:off x="1524000" y="3943350"/>
            <a:ext cx="1259450" cy="525462"/>
          </a:xfrm>
          <a:prstGeom prst="wedgeRoundRectCallout">
            <a:avLst>
              <a:gd name="adj1" fmla="val 65569"/>
              <a:gd name="adj2" fmla="val -122134"/>
              <a:gd name="adj3" fmla="val 16667"/>
            </a:avLst>
          </a:prstGeom>
          <a:solidFill>
            <a:schemeClr val="accent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algn="ctr"/>
            <a:r>
              <a:rPr kumimoji="0" lang="zh-CN" altLang="en-US" sz="1400" b="1" i="0" dirty="0">
                <a:latin typeface="微软雅黑" pitchFamily="34" charset="-122"/>
                <a:ea typeface="微软雅黑" pitchFamily="34" charset="-122"/>
              </a:rPr>
              <a:t>清零端，高电平有效</a:t>
            </a:r>
          </a:p>
        </p:txBody>
      </p:sp>
      <p:sp>
        <p:nvSpPr>
          <p:cNvPr id="86" name="AutoShape 81"/>
          <p:cNvSpPr>
            <a:spLocks noChangeArrowheads="1"/>
          </p:cNvSpPr>
          <p:nvPr/>
        </p:nvSpPr>
        <p:spPr bwMode="auto">
          <a:xfrm>
            <a:off x="3352800" y="4019550"/>
            <a:ext cx="1295400" cy="533400"/>
          </a:xfrm>
          <a:prstGeom prst="wedgeRoundRectCallout">
            <a:avLst>
              <a:gd name="adj1" fmla="val -38429"/>
              <a:gd name="adj2" fmla="val -98005"/>
              <a:gd name="adj3" fmla="val 16667"/>
            </a:avLst>
          </a:prstGeom>
          <a:solidFill>
            <a:schemeClr val="accent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algn="ctr"/>
            <a:r>
              <a:rPr kumimoji="0" lang="zh-CN" altLang="en-US" sz="1400" b="1" i="0" dirty="0">
                <a:latin typeface="微软雅黑" pitchFamily="34" charset="-122"/>
                <a:ea typeface="微软雅黑" pitchFamily="34" charset="-122"/>
              </a:rPr>
              <a:t>置数端，低电平有效</a:t>
            </a:r>
          </a:p>
        </p:txBody>
      </p:sp>
      <p:sp>
        <p:nvSpPr>
          <p:cNvPr id="87" name="AutoShape 82"/>
          <p:cNvSpPr>
            <a:spLocks/>
          </p:cNvSpPr>
          <p:nvPr/>
        </p:nvSpPr>
        <p:spPr bwMode="auto">
          <a:xfrm rot="16172215" flipV="1">
            <a:off x="4739713" y="2973388"/>
            <a:ext cx="406400" cy="2057400"/>
          </a:xfrm>
          <a:prstGeom prst="leftBrace">
            <a:avLst>
              <a:gd name="adj1" fmla="val 42187"/>
              <a:gd name="adj2" fmla="val 50097"/>
            </a:avLst>
          </a:prstGeom>
          <a:noFill/>
          <a:ln w="2857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8" name="AutoShape 83"/>
          <p:cNvSpPr>
            <a:spLocks noChangeArrowheads="1"/>
          </p:cNvSpPr>
          <p:nvPr/>
        </p:nvSpPr>
        <p:spPr bwMode="auto">
          <a:xfrm>
            <a:off x="5943600" y="4248150"/>
            <a:ext cx="1143000" cy="533400"/>
          </a:xfrm>
          <a:prstGeom prst="wedgeRoundRectCallout">
            <a:avLst>
              <a:gd name="adj1" fmla="val -47877"/>
              <a:gd name="adj2" fmla="val -82516"/>
              <a:gd name="adj3" fmla="val 16667"/>
            </a:avLst>
          </a:prstGeom>
          <a:solidFill>
            <a:schemeClr val="accent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algn="ctr"/>
            <a:r>
              <a:rPr kumimoji="0" lang="zh-CN" altLang="en-US" sz="1400" b="1" i="0" dirty="0">
                <a:latin typeface="微软雅黑" pitchFamily="34" charset="-122"/>
                <a:ea typeface="微软雅黑" pitchFamily="34" charset="-122"/>
              </a:rPr>
              <a:t>并行数据输入端</a:t>
            </a:r>
          </a:p>
        </p:txBody>
      </p:sp>
      <p:sp>
        <p:nvSpPr>
          <p:cNvPr id="89" name="AutoShape 84"/>
          <p:cNvSpPr>
            <a:spLocks noChangeArrowheads="1"/>
          </p:cNvSpPr>
          <p:nvPr/>
        </p:nvSpPr>
        <p:spPr bwMode="auto">
          <a:xfrm>
            <a:off x="6096000" y="666750"/>
            <a:ext cx="838200" cy="361950"/>
          </a:xfrm>
          <a:prstGeom prst="wedgeRoundRectCallout">
            <a:avLst>
              <a:gd name="adj1" fmla="val -49000"/>
              <a:gd name="adj2" fmla="val 95603"/>
              <a:gd name="adj3" fmla="val 16667"/>
            </a:avLst>
          </a:prstGeom>
          <a:solidFill>
            <a:schemeClr val="accent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algn="ctr"/>
            <a:r>
              <a:rPr kumimoji="0" lang="zh-CN" altLang="en-US" sz="1400" b="1" i="0" dirty="0">
                <a:latin typeface="微软雅黑" pitchFamily="34" charset="-122"/>
                <a:ea typeface="微软雅黑" pitchFamily="34" charset="-122"/>
              </a:rPr>
              <a:t>输出端</a:t>
            </a:r>
          </a:p>
        </p:txBody>
      </p:sp>
      <p:sp>
        <p:nvSpPr>
          <p:cNvPr id="90" name="AutoShape 85"/>
          <p:cNvSpPr>
            <a:spLocks/>
          </p:cNvSpPr>
          <p:nvPr/>
        </p:nvSpPr>
        <p:spPr bwMode="auto">
          <a:xfrm rot="5344429" flipV="1">
            <a:off x="4696452" y="-352116"/>
            <a:ext cx="209227" cy="2283849"/>
          </a:xfrm>
          <a:prstGeom prst="leftBrace">
            <a:avLst>
              <a:gd name="adj1" fmla="val 47982"/>
              <a:gd name="adj2" fmla="val 50097"/>
            </a:avLst>
          </a:prstGeom>
          <a:noFill/>
          <a:ln w="2857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1" name="AutoShape 86"/>
          <p:cNvSpPr>
            <a:spLocks noChangeArrowheads="1"/>
          </p:cNvSpPr>
          <p:nvPr/>
        </p:nvSpPr>
        <p:spPr bwMode="auto">
          <a:xfrm>
            <a:off x="533400" y="971550"/>
            <a:ext cx="1385324" cy="533400"/>
          </a:xfrm>
          <a:prstGeom prst="wedgeRoundRectCallout">
            <a:avLst>
              <a:gd name="adj1" fmla="val 37439"/>
              <a:gd name="adj2" fmla="val 116508"/>
              <a:gd name="adj3" fmla="val 16667"/>
            </a:avLst>
          </a:prstGeom>
          <a:solidFill>
            <a:schemeClr val="accent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algn="ctr"/>
            <a:r>
              <a:rPr kumimoji="0" lang="zh-CN" altLang="en-US" sz="1400" b="1" i="0" dirty="0">
                <a:latin typeface="微软雅黑" pitchFamily="34" charset="-122"/>
                <a:ea typeface="微软雅黑" pitchFamily="34" charset="-122"/>
              </a:rPr>
              <a:t>进位端，低电平输出</a:t>
            </a:r>
          </a:p>
        </p:txBody>
      </p:sp>
      <p:sp>
        <p:nvSpPr>
          <p:cNvPr id="92" name="AutoShape 87"/>
          <p:cNvSpPr>
            <a:spLocks noChangeArrowheads="1"/>
          </p:cNvSpPr>
          <p:nvPr/>
        </p:nvSpPr>
        <p:spPr bwMode="auto">
          <a:xfrm>
            <a:off x="533400" y="3052763"/>
            <a:ext cx="1313888" cy="509587"/>
          </a:xfrm>
          <a:prstGeom prst="wedgeRoundRectCallout">
            <a:avLst>
              <a:gd name="adj1" fmla="val 46062"/>
              <a:gd name="adj2" fmla="val -83770"/>
              <a:gd name="adj3" fmla="val 16667"/>
            </a:avLst>
          </a:prstGeom>
          <a:solidFill>
            <a:schemeClr val="accent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algn="ctr"/>
            <a:r>
              <a:rPr kumimoji="0" lang="zh-CN" altLang="en-US" sz="1400" b="1" i="0">
                <a:latin typeface="微软雅黑" pitchFamily="34" charset="-122"/>
                <a:ea typeface="微软雅黑" pitchFamily="34" charset="-122"/>
              </a:rPr>
              <a:t>借位端，低电平输出</a:t>
            </a:r>
          </a:p>
        </p:txBody>
      </p:sp>
      <p:sp>
        <p:nvSpPr>
          <p:cNvPr id="93" name="AutoShape 88"/>
          <p:cNvSpPr>
            <a:spLocks noChangeArrowheads="1"/>
          </p:cNvSpPr>
          <p:nvPr/>
        </p:nvSpPr>
        <p:spPr bwMode="auto">
          <a:xfrm>
            <a:off x="7543800" y="1047750"/>
            <a:ext cx="1407087" cy="533400"/>
          </a:xfrm>
          <a:prstGeom prst="wedgeRoundRectCallout">
            <a:avLst>
              <a:gd name="adj1" fmla="val -50116"/>
              <a:gd name="adj2" fmla="val 92047"/>
              <a:gd name="adj3" fmla="val 16667"/>
            </a:avLst>
          </a:prstGeom>
          <a:solidFill>
            <a:schemeClr val="accent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algn="ctr"/>
            <a:r>
              <a:rPr kumimoji="0" lang="zh-CN" altLang="en-US" sz="1400" b="1" i="0" dirty="0">
                <a:latin typeface="微软雅黑" pitchFamily="34" charset="-122"/>
                <a:ea typeface="微软雅黑" pitchFamily="34" charset="-122"/>
              </a:rPr>
              <a:t>加法计数时钟输入端</a:t>
            </a:r>
          </a:p>
        </p:txBody>
      </p:sp>
      <p:sp>
        <p:nvSpPr>
          <p:cNvPr id="94" name="AutoShape 89"/>
          <p:cNvSpPr>
            <a:spLocks noChangeArrowheads="1"/>
          </p:cNvSpPr>
          <p:nvPr/>
        </p:nvSpPr>
        <p:spPr bwMode="auto">
          <a:xfrm>
            <a:off x="7239000" y="3028950"/>
            <a:ext cx="1407087" cy="511175"/>
          </a:xfrm>
          <a:prstGeom prst="wedgeRoundRectCallout">
            <a:avLst>
              <a:gd name="adj1" fmla="val -35667"/>
              <a:gd name="adj2" fmla="val -110667"/>
              <a:gd name="adj3" fmla="val 16667"/>
            </a:avLst>
          </a:prstGeom>
          <a:solidFill>
            <a:schemeClr val="accent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algn="ctr"/>
            <a:r>
              <a:rPr kumimoji="0" lang="zh-CN" altLang="en-US" sz="1400" b="1" i="0" dirty="0">
                <a:latin typeface="微软雅黑" pitchFamily="34" charset="-122"/>
                <a:ea typeface="微软雅黑" pitchFamily="34" charset="-122"/>
              </a:rPr>
              <a:t>减法计数时钟输入端</a:t>
            </a:r>
          </a:p>
        </p:txBody>
      </p:sp>
      <p:sp>
        <p:nvSpPr>
          <p:cNvPr id="95" name="Rectangle 14"/>
          <p:cNvSpPr>
            <a:spLocks noChangeArrowheads="1"/>
          </p:cNvSpPr>
          <p:nvPr/>
        </p:nvSpPr>
        <p:spPr bwMode="auto">
          <a:xfrm>
            <a:off x="152400" y="514350"/>
            <a:ext cx="8001000" cy="2554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sz="1600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计数器一般模型：</a:t>
            </a:r>
            <a:endParaRPr lang="en-US" altLang="zh-CN" sz="1600" b="1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400" b="1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dirty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3048000" y="4629150"/>
            <a:ext cx="28194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latin typeface="微软雅黑" pitchFamily="34" charset="-122"/>
                <a:ea typeface="微软雅黑" pitchFamily="34" charset="-122"/>
              </a:rPr>
              <a:t>  </a:t>
            </a: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图 </a:t>
            </a:r>
            <a:r>
              <a:rPr lang="en-US" altLang="zh-CN" sz="1600" b="1" dirty="0">
                <a:latin typeface="微软雅黑" pitchFamily="34" charset="-122"/>
                <a:ea typeface="微软雅黑" pitchFamily="34" charset="-122"/>
              </a:rPr>
              <a:t>1 </a:t>
            </a: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计数器一般模型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5" grpId="0" animBg="1" autoUpdateAnimBg="0"/>
      <p:bldP spid="86" grpId="0" animBg="1" autoUpdateAnimBg="0"/>
      <p:bldP spid="87" grpId="0" animBg="1"/>
      <p:bldP spid="88" grpId="0" animBg="1" autoUpdateAnimBg="0"/>
      <p:bldP spid="89" grpId="0" animBg="1" autoUpdateAnimBg="0"/>
      <p:bldP spid="90" grpId="0" animBg="1"/>
      <p:bldP spid="91" grpId="0" animBg="1" autoUpdateAnimBg="0"/>
      <p:bldP spid="92" grpId="0" animBg="1" autoUpdateAnimBg="0"/>
      <p:bldP spid="93" grpId="0" animBg="1" autoUpdateAnimBg="0"/>
      <p:bldP spid="94" grpId="0" animBg="1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2" name="AutoShape 4" descr="C:\Users\hfutliujun\AppData\Roaming\Tencent\Users\350654676\QQ\WinTemp\RichOle\(1YHR_{OZC$S)HTNC8L4D.png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4933" name="AutoShape 5" descr="C:\Users\hfutliujun\AppData\Roaming\Tencent\Users\350654676\QQ\WinTemp\RichOle\(1YHR_{OZC$S)HTNC8L4D.png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2" name="Rectangle 14"/>
          <p:cNvSpPr>
            <a:spLocks noChangeArrowheads="1"/>
          </p:cNvSpPr>
          <p:nvPr/>
        </p:nvSpPr>
        <p:spPr bwMode="auto">
          <a:xfrm>
            <a:off x="152400" y="590550"/>
            <a:ext cx="8001000" cy="2554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sz="1600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计数器：</a:t>
            </a:r>
            <a:r>
              <a:rPr lang="en-US" altLang="zh-CN" sz="1600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74LS163</a:t>
            </a:r>
          </a:p>
          <a:p>
            <a:pPr marL="0" lvl="1">
              <a:lnSpc>
                <a:spcPct val="150000"/>
              </a:lnSpc>
            </a:pPr>
            <a:endParaRPr lang="en-US" altLang="zh-CN" sz="1400" b="1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dirty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2590800" y="3409950"/>
            <a:ext cx="28194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latin typeface="微软雅黑" pitchFamily="34" charset="-122"/>
                <a:ea typeface="微软雅黑" pitchFamily="34" charset="-122"/>
              </a:rPr>
              <a:t>  </a:t>
            </a: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图 </a:t>
            </a:r>
            <a:r>
              <a:rPr lang="en-US" altLang="zh-CN" sz="1600" b="1" dirty="0">
                <a:latin typeface="微软雅黑" pitchFamily="34" charset="-122"/>
                <a:ea typeface="微软雅黑" pitchFamily="34" charset="-122"/>
              </a:rPr>
              <a:t>2 </a:t>
            </a: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计数器</a:t>
            </a:r>
            <a:r>
              <a:rPr lang="en-US" altLang="zh-CN" sz="1600" b="1" dirty="0">
                <a:latin typeface="微软雅黑" pitchFamily="34" charset="-122"/>
                <a:ea typeface="微软雅黑" pitchFamily="34" charset="-122"/>
              </a:rPr>
              <a:t>74LS163</a:t>
            </a: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框图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943600" y="1504950"/>
            <a:ext cx="2590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latin typeface="微软雅黑" pitchFamily="34" charset="-122"/>
                <a:ea typeface="微软雅黑" pitchFamily="34" charset="-122"/>
              </a:rPr>
              <a:t>  </a:t>
            </a: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同步模</a:t>
            </a:r>
            <a:r>
              <a:rPr lang="en-US" altLang="zh-CN" sz="1600" b="1" dirty="0">
                <a:latin typeface="微软雅黑" pitchFamily="34" charset="-122"/>
                <a:ea typeface="微软雅黑" pitchFamily="34" charset="-122"/>
              </a:rPr>
              <a:t>16</a:t>
            </a: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加法计数器</a:t>
            </a:r>
          </a:p>
        </p:txBody>
      </p:sp>
      <p:grpSp>
        <p:nvGrpSpPr>
          <p:cNvPr id="49" name="组合 48"/>
          <p:cNvGrpSpPr/>
          <p:nvPr/>
        </p:nvGrpSpPr>
        <p:grpSpPr>
          <a:xfrm>
            <a:off x="2438400" y="1428750"/>
            <a:ext cx="2971800" cy="1752600"/>
            <a:chOff x="609600" y="2114550"/>
            <a:chExt cx="2971800" cy="1752600"/>
          </a:xfrm>
        </p:grpSpPr>
        <p:grpSp>
          <p:nvGrpSpPr>
            <p:cNvPr id="50" name="组合 32"/>
            <p:cNvGrpSpPr/>
            <p:nvPr/>
          </p:nvGrpSpPr>
          <p:grpSpPr>
            <a:xfrm>
              <a:off x="609600" y="2114550"/>
              <a:ext cx="2971800" cy="1752600"/>
              <a:chOff x="1977326" y="926909"/>
              <a:chExt cx="3474212" cy="2155424"/>
            </a:xfrm>
          </p:grpSpPr>
          <p:grpSp>
            <p:nvGrpSpPr>
              <p:cNvPr id="52" name="Group 136"/>
              <p:cNvGrpSpPr>
                <a:grpSpLocks/>
              </p:cNvGrpSpPr>
              <p:nvPr/>
            </p:nvGrpSpPr>
            <p:grpSpPr bwMode="auto">
              <a:xfrm>
                <a:off x="1977326" y="926909"/>
                <a:ext cx="3474212" cy="2149328"/>
                <a:chOff x="2031" y="2338"/>
                <a:chExt cx="1587" cy="932"/>
              </a:xfrm>
            </p:grpSpPr>
            <p:sp>
              <p:nvSpPr>
                <p:cNvPr id="55" name="Rectangle 137"/>
                <p:cNvSpPr>
                  <a:spLocks noChangeArrowheads="1"/>
                </p:cNvSpPr>
                <p:nvPr/>
              </p:nvSpPr>
              <p:spPr bwMode="auto">
                <a:xfrm>
                  <a:off x="2303" y="2474"/>
                  <a:ext cx="1089" cy="590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6" name="Line 140"/>
                <p:cNvSpPr>
                  <a:spLocks noChangeShapeType="1"/>
                </p:cNvSpPr>
                <p:nvPr/>
              </p:nvSpPr>
              <p:spPr bwMode="auto">
                <a:xfrm>
                  <a:off x="2938" y="3064"/>
                  <a:ext cx="0" cy="198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7" name="Line 141"/>
                <p:cNvSpPr>
                  <a:spLocks noChangeShapeType="1"/>
                </p:cNvSpPr>
                <p:nvPr/>
              </p:nvSpPr>
              <p:spPr bwMode="auto">
                <a:xfrm>
                  <a:off x="3119" y="3064"/>
                  <a:ext cx="1" cy="20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8" name="Line 142"/>
                <p:cNvSpPr>
                  <a:spLocks noChangeShapeType="1"/>
                </p:cNvSpPr>
                <p:nvPr/>
              </p:nvSpPr>
              <p:spPr bwMode="auto">
                <a:xfrm>
                  <a:off x="2575" y="2338"/>
                  <a:ext cx="0" cy="137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9" name="Line 143"/>
                <p:cNvSpPr>
                  <a:spLocks noChangeShapeType="1"/>
                </p:cNvSpPr>
                <p:nvPr/>
              </p:nvSpPr>
              <p:spPr bwMode="auto">
                <a:xfrm>
                  <a:off x="2756" y="2338"/>
                  <a:ext cx="0" cy="137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0" name="Line 144"/>
                <p:cNvSpPr>
                  <a:spLocks noChangeShapeType="1"/>
                </p:cNvSpPr>
                <p:nvPr/>
              </p:nvSpPr>
              <p:spPr bwMode="auto">
                <a:xfrm>
                  <a:off x="2938" y="2338"/>
                  <a:ext cx="0" cy="13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1" name="Line 145"/>
                <p:cNvSpPr>
                  <a:spLocks noChangeShapeType="1"/>
                </p:cNvSpPr>
                <p:nvPr/>
              </p:nvSpPr>
              <p:spPr bwMode="auto">
                <a:xfrm>
                  <a:off x="3119" y="2338"/>
                  <a:ext cx="0" cy="137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aphicFrame>
              <p:nvGraphicFramePr>
                <p:cNvPr id="63" name="Object 146"/>
                <p:cNvGraphicFramePr>
                  <a:graphicFrameLocks noChangeAspect="1"/>
                </p:cNvGraphicFramePr>
                <p:nvPr/>
              </p:nvGraphicFramePr>
              <p:xfrm>
                <a:off x="2332" y="2554"/>
                <a:ext cx="143" cy="103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71407" name="Equation" r:id="rId2" imgW="228600" imgH="164880" progId="Equation.DSMT4">
                        <p:embed/>
                      </p:oleObj>
                    </mc:Choice>
                    <mc:Fallback>
                      <p:oleObj name="Equation" r:id="rId2" imgW="228600" imgH="164880" progId="Equation.DSMT4">
                        <p:embed/>
                        <p:pic>
                          <p:nvPicPr>
                            <p:cNvPr id="0" name="Picture 47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3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332" y="2554"/>
                              <a:ext cx="143" cy="103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64" name="Object 147"/>
                <p:cNvGraphicFramePr>
                  <a:graphicFrameLocks noChangeAspect="1"/>
                </p:cNvGraphicFramePr>
                <p:nvPr/>
              </p:nvGraphicFramePr>
              <p:xfrm>
                <a:off x="3223" y="2863"/>
                <a:ext cx="160" cy="168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71408" name="Equation" r:id="rId4" imgW="241200" imgH="253800" progId="Equation.DSMT4">
                        <p:embed/>
                      </p:oleObj>
                    </mc:Choice>
                    <mc:Fallback>
                      <p:oleObj name="Equation" r:id="rId4" imgW="241200" imgH="253800" progId="Equation.DSMT4">
                        <p:embed/>
                        <p:pic>
                          <p:nvPicPr>
                            <p:cNvPr id="0" name="Picture 48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5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3223" y="2863"/>
                              <a:ext cx="160" cy="168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65" name="Object 148"/>
                <p:cNvGraphicFramePr>
                  <a:graphicFrameLocks noChangeAspect="1"/>
                </p:cNvGraphicFramePr>
                <p:nvPr/>
              </p:nvGraphicFramePr>
              <p:xfrm>
                <a:off x="3234" y="2559"/>
                <a:ext cx="161" cy="112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71409" name="Equation" r:id="rId6" imgW="253800" imgH="177480" progId="Equation.DSMT4">
                        <p:embed/>
                      </p:oleObj>
                    </mc:Choice>
                    <mc:Fallback>
                      <p:oleObj name="Equation" r:id="rId6" imgW="253800" imgH="177480" progId="Equation.DSMT4">
                        <p:embed/>
                        <p:pic>
                          <p:nvPicPr>
                            <p:cNvPr id="0" name="Picture 49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7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3234" y="2559"/>
                              <a:ext cx="161" cy="112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66" name="Object 149"/>
                <p:cNvGraphicFramePr>
                  <a:graphicFrameLocks noChangeAspect="1"/>
                </p:cNvGraphicFramePr>
                <p:nvPr/>
              </p:nvGraphicFramePr>
              <p:xfrm>
                <a:off x="2506" y="2905"/>
                <a:ext cx="152" cy="151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71410" name="Equation" r:id="rId8" imgW="228600" imgH="228600" progId="Equation.DSMT4">
                        <p:embed/>
                      </p:oleObj>
                    </mc:Choice>
                    <mc:Fallback>
                      <p:oleObj name="Equation" r:id="rId8" imgW="228600" imgH="228600" progId="Equation.DSMT4">
                        <p:embed/>
                        <p:pic>
                          <p:nvPicPr>
                            <p:cNvPr id="0" name="Picture 50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9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506" y="2905"/>
                              <a:ext cx="152" cy="151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67" name="Object 150"/>
                <p:cNvGraphicFramePr>
                  <a:graphicFrameLocks noChangeAspect="1"/>
                </p:cNvGraphicFramePr>
                <p:nvPr/>
              </p:nvGraphicFramePr>
              <p:xfrm>
                <a:off x="2702" y="2918"/>
                <a:ext cx="134" cy="142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71411" name="Equation" r:id="rId10" imgW="215640" imgH="228600" progId="Equation.DSMT4">
                        <p:embed/>
                      </p:oleObj>
                    </mc:Choice>
                    <mc:Fallback>
                      <p:oleObj name="Equation" r:id="rId10" imgW="215640" imgH="228600" progId="Equation.DSMT4">
                        <p:embed/>
                        <p:pic>
                          <p:nvPicPr>
                            <p:cNvPr id="0" name="Picture 51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1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702" y="2918"/>
                              <a:ext cx="134" cy="142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68" name="Object 151"/>
                <p:cNvGraphicFramePr>
                  <a:graphicFrameLocks noChangeAspect="1"/>
                </p:cNvGraphicFramePr>
                <p:nvPr/>
              </p:nvGraphicFramePr>
              <p:xfrm>
                <a:off x="2891" y="2918"/>
                <a:ext cx="138" cy="145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71412" name="Equation" r:id="rId12" imgW="215640" imgH="228600" progId="Equation.DSMT4">
                        <p:embed/>
                      </p:oleObj>
                    </mc:Choice>
                    <mc:Fallback>
                      <p:oleObj name="Equation" r:id="rId12" imgW="215640" imgH="228600" progId="Equation.DSMT4">
                        <p:embed/>
                        <p:pic>
                          <p:nvPicPr>
                            <p:cNvPr id="0" name="Picture 52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3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891" y="2918"/>
                              <a:ext cx="138" cy="145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69" name="Object 152"/>
                <p:cNvGraphicFramePr>
                  <a:graphicFrameLocks noChangeAspect="1"/>
                </p:cNvGraphicFramePr>
                <p:nvPr/>
              </p:nvGraphicFramePr>
              <p:xfrm>
                <a:off x="3058" y="2914"/>
                <a:ext cx="144" cy="144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71413" name="Equation" r:id="rId14" imgW="228600" imgH="228600" progId="Equation.DSMT4">
                        <p:embed/>
                      </p:oleObj>
                    </mc:Choice>
                    <mc:Fallback>
                      <p:oleObj name="Equation" r:id="rId14" imgW="228600" imgH="228600" progId="Equation.DSMT4">
                        <p:embed/>
                        <p:pic>
                          <p:nvPicPr>
                            <p:cNvPr id="0" name="Picture 53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5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3058" y="2914"/>
                              <a:ext cx="144" cy="144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70" name="Object 153"/>
                <p:cNvGraphicFramePr>
                  <a:graphicFrameLocks noChangeAspect="1"/>
                </p:cNvGraphicFramePr>
                <p:nvPr/>
              </p:nvGraphicFramePr>
              <p:xfrm>
                <a:off x="3086" y="2475"/>
                <a:ext cx="102" cy="101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71414" name="Equation" r:id="rId16" imgW="164880" imgH="164880" progId="Equation.DSMT4">
                        <p:embed/>
                      </p:oleObj>
                    </mc:Choice>
                    <mc:Fallback>
                      <p:oleObj name="Equation" r:id="rId16" imgW="164880" imgH="164880" progId="Equation.DSMT4">
                        <p:embed/>
                        <p:pic>
                          <p:nvPicPr>
                            <p:cNvPr id="0" name="Picture 54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7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3086" y="2475"/>
                              <a:ext cx="102" cy="101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71" name="Object 154"/>
                <p:cNvGraphicFramePr>
                  <a:graphicFrameLocks noChangeAspect="1"/>
                </p:cNvGraphicFramePr>
                <p:nvPr/>
              </p:nvGraphicFramePr>
              <p:xfrm>
                <a:off x="2885" y="2470"/>
                <a:ext cx="93" cy="108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71415" name="Equation" r:id="rId18" imgW="152280" imgH="177480" progId="Equation.DSMT4">
                        <p:embed/>
                      </p:oleObj>
                    </mc:Choice>
                    <mc:Fallback>
                      <p:oleObj name="Equation" r:id="rId18" imgW="152280" imgH="177480" progId="Equation.DSMT4">
                        <p:embed/>
                        <p:pic>
                          <p:nvPicPr>
                            <p:cNvPr id="0" name="Picture 55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9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885" y="2470"/>
                              <a:ext cx="93" cy="108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72" name="Object 155"/>
                <p:cNvGraphicFramePr>
                  <a:graphicFrameLocks noChangeAspect="1"/>
                </p:cNvGraphicFramePr>
                <p:nvPr/>
              </p:nvGraphicFramePr>
              <p:xfrm>
                <a:off x="2708" y="2478"/>
                <a:ext cx="93" cy="101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71416" name="Equation" r:id="rId20" imgW="152280" imgH="164880" progId="Equation.DSMT4">
                        <p:embed/>
                      </p:oleObj>
                    </mc:Choice>
                    <mc:Fallback>
                      <p:oleObj name="Equation" r:id="rId20" imgW="152280" imgH="164880" progId="Equation.DSMT4">
                        <p:embed/>
                        <p:pic>
                          <p:nvPicPr>
                            <p:cNvPr id="0" name="Picture 56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21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708" y="2478"/>
                              <a:ext cx="93" cy="101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73" name="Object 156"/>
                <p:cNvGraphicFramePr>
                  <a:graphicFrameLocks noChangeAspect="1"/>
                </p:cNvGraphicFramePr>
                <p:nvPr/>
              </p:nvGraphicFramePr>
              <p:xfrm>
                <a:off x="2509" y="2476"/>
                <a:ext cx="96" cy="103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71417" name="Equation" r:id="rId22" imgW="152280" imgH="164880" progId="Equation.DSMT4">
                        <p:embed/>
                      </p:oleObj>
                    </mc:Choice>
                    <mc:Fallback>
                      <p:oleObj name="Equation" r:id="rId22" imgW="152280" imgH="164880" progId="Equation.DSMT4">
                        <p:embed/>
                        <p:pic>
                          <p:nvPicPr>
                            <p:cNvPr id="0" name="Picture 57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23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509" y="2476"/>
                              <a:ext cx="96" cy="103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74" name="Object 157"/>
                <p:cNvGraphicFramePr>
                  <a:graphicFrameLocks noChangeAspect="1"/>
                </p:cNvGraphicFramePr>
                <p:nvPr/>
              </p:nvGraphicFramePr>
              <p:xfrm>
                <a:off x="2302" y="2914"/>
                <a:ext cx="203" cy="102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71418" name="Equation" r:id="rId24" imgW="355320" imgH="177480" progId="Equation.DSMT4">
                        <p:embed/>
                      </p:oleObj>
                    </mc:Choice>
                    <mc:Fallback>
                      <p:oleObj name="Equation" r:id="rId24" imgW="355320" imgH="177480" progId="Equation.DSMT4">
                        <p:embed/>
                        <p:pic>
                          <p:nvPicPr>
                            <p:cNvPr id="0" name="Picture 58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25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302" y="2914"/>
                              <a:ext cx="203" cy="102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75" name="Line 158"/>
                <p:cNvSpPr>
                  <a:spLocks noChangeShapeType="1"/>
                </p:cNvSpPr>
                <p:nvPr/>
              </p:nvSpPr>
              <p:spPr bwMode="auto">
                <a:xfrm>
                  <a:off x="2031" y="2610"/>
                  <a:ext cx="272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6" name="Line 159"/>
                <p:cNvSpPr>
                  <a:spLocks noChangeShapeType="1"/>
                </p:cNvSpPr>
                <p:nvPr/>
              </p:nvSpPr>
              <p:spPr bwMode="auto">
                <a:xfrm>
                  <a:off x="2031" y="2973"/>
                  <a:ext cx="272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aphicFrame>
              <p:nvGraphicFramePr>
                <p:cNvPr id="77" name="Object 161"/>
                <p:cNvGraphicFramePr>
                  <a:graphicFrameLocks noChangeAspect="1"/>
                </p:cNvGraphicFramePr>
                <p:nvPr/>
              </p:nvGraphicFramePr>
              <p:xfrm>
                <a:off x="2333" y="2731"/>
                <a:ext cx="153" cy="105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71419" name="Equation" r:id="rId26" imgW="241200" imgH="164880" progId="Equation.DSMT4">
                        <p:embed/>
                      </p:oleObj>
                    </mc:Choice>
                    <mc:Fallback>
                      <p:oleObj name="Equation" r:id="rId26" imgW="241200" imgH="164880" progId="Equation.DSMT4">
                        <p:embed/>
                        <p:pic>
                          <p:nvPicPr>
                            <p:cNvPr id="0" name="Picture 59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27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333" y="2731"/>
                              <a:ext cx="153" cy="105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pSp>
              <p:nvGrpSpPr>
                <p:cNvPr id="78" name="Group 162"/>
                <p:cNvGrpSpPr>
                  <a:grpSpLocks/>
                </p:cNvGrpSpPr>
                <p:nvPr/>
              </p:nvGrpSpPr>
              <p:grpSpPr bwMode="auto">
                <a:xfrm>
                  <a:off x="3391" y="2745"/>
                  <a:ext cx="226" cy="46"/>
                  <a:chOff x="250" y="2568"/>
                  <a:chExt cx="680" cy="182"/>
                </a:xfrm>
              </p:grpSpPr>
              <p:sp>
                <p:nvSpPr>
                  <p:cNvPr id="85" name="Oval 163"/>
                  <p:cNvSpPr>
                    <a:spLocks noChangeArrowheads="1"/>
                  </p:cNvSpPr>
                  <p:nvPr/>
                </p:nvSpPr>
                <p:spPr bwMode="auto">
                  <a:xfrm>
                    <a:off x="250" y="2568"/>
                    <a:ext cx="135" cy="182"/>
                  </a:xfrm>
                  <a:prstGeom prst="ellips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86" name="Line 164"/>
                  <p:cNvSpPr>
                    <a:spLocks noChangeShapeType="1"/>
                  </p:cNvSpPr>
                  <p:nvPr/>
                </p:nvSpPr>
                <p:spPr bwMode="auto">
                  <a:xfrm>
                    <a:off x="385" y="2659"/>
                    <a:ext cx="545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79" name="Group 165"/>
                <p:cNvGrpSpPr>
                  <a:grpSpLocks/>
                </p:cNvGrpSpPr>
                <p:nvPr/>
              </p:nvGrpSpPr>
              <p:grpSpPr bwMode="auto">
                <a:xfrm>
                  <a:off x="3391" y="2927"/>
                  <a:ext cx="227" cy="46"/>
                  <a:chOff x="250" y="2568"/>
                  <a:chExt cx="680" cy="182"/>
                </a:xfrm>
              </p:grpSpPr>
              <p:sp>
                <p:nvSpPr>
                  <p:cNvPr id="83" name="Oval 166"/>
                  <p:cNvSpPr>
                    <a:spLocks noChangeArrowheads="1"/>
                  </p:cNvSpPr>
                  <p:nvPr/>
                </p:nvSpPr>
                <p:spPr bwMode="auto">
                  <a:xfrm>
                    <a:off x="250" y="2568"/>
                    <a:ext cx="135" cy="182"/>
                  </a:xfrm>
                  <a:prstGeom prst="ellips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84" name="Line 167"/>
                  <p:cNvSpPr>
                    <a:spLocks noChangeShapeType="1"/>
                  </p:cNvSpPr>
                  <p:nvPr/>
                </p:nvSpPr>
                <p:spPr bwMode="auto">
                  <a:xfrm>
                    <a:off x="385" y="2659"/>
                    <a:ext cx="545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80" name="Line 168"/>
                <p:cNvSpPr>
                  <a:spLocks noChangeShapeType="1"/>
                </p:cNvSpPr>
                <p:nvPr/>
              </p:nvSpPr>
              <p:spPr bwMode="auto">
                <a:xfrm>
                  <a:off x="3391" y="2609"/>
                  <a:ext cx="227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aphicFrame>
              <p:nvGraphicFramePr>
                <p:cNvPr id="81" name="Object 169"/>
                <p:cNvGraphicFramePr>
                  <a:graphicFrameLocks noChangeAspect="1"/>
                </p:cNvGraphicFramePr>
                <p:nvPr/>
              </p:nvGraphicFramePr>
              <p:xfrm>
                <a:off x="3235" y="2708"/>
                <a:ext cx="141" cy="114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71420" name="Equation" r:id="rId28" imgW="253800" imgH="203040" progId="Equation.DSMT4">
                        <p:embed/>
                      </p:oleObj>
                    </mc:Choice>
                    <mc:Fallback>
                      <p:oleObj name="Equation" r:id="rId28" imgW="253800" imgH="203040" progId="Equation.DSMT4">
                        <p:embed/>
                        <p:pic>
                          <p:nvPicPr>
                            <p:cNvPr id="0" name="Picture 60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29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3235" y="2708"/>
                              <a:ext cx="141" cy="114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82" name="Text Box 170"/>
                <p:cNvSpPr txBox="1">
                  <a:spLocks noChangeArrowheads="1"/>
                </p:cNvSpPr>
                <p:nvPr/>
              </p:nvSpPr>
              <p:spPr bwMode="auto">
                <a:xfrm>
                  <a:off x="2620" y="2655"/>
                  <a:ext cx="499" cy="17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kumimoji="0" lang="en-US" altLang="zh-CN" sz="1200" dirty="0">
                      <a:solidFill>
                        <a:srgbClr val="800000"/>
                      </a:solidFill>
                      <a:effectLst/>
                      <a:latin typeface="Arial" pitchFamily="34" charset="0"/>
                    </a:rPr>
                    <a:t>74LS163</a:t>
                  </a:r>
                </a:p>
              </p:txBody>
            </p:sp>
          </p:grpSp>
          <p:sp>
            <p:nvSpPr>
              <p:cNvPr id="53" name="Line 140"/>
              <p:cNvSpPr>
                <a:spLocks noChangeShapeType="1"/>
              </p:cNvSpPr>
              <p:nvPr/>
            </p:nvSpPr>
            <p:spPr bwMode="auto">
              <a:xfrm>
                <a:off x="3200903" y="2607267"/>
                <a:ext cx="0" cy="456617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4" name="Line 141"/>
              <p:cNvSpPr>
                <a:spLocks noChangeShapeType="1"/>
              </p:cNvSpPr>
              <p:nvPr/>
            </p:nvSpPr>
            <p:spPr bwMode="auto">
              <a:xfrm>
                <a:off x="3597142" y="2607267"/>
                <a:ext cx="2189" cy="47506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51" name="Line 158"/>
            <p:cNvSpPr>
              <a:spLocks noChangeShapeType="1"/>
            </p:cNvSpPr>
            <p:nvPr/>
          </p:nvSpPr>
          <p:spPr bwMode="auto">
            <a:xfrm>
              <a:off x="609600" y="2952750"/>
              <a:ext cx="50934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87" name="矩形 86"/>
          <p:cNvSpPr/>
          <p:nvPr/>
        </p:nvSpPr>
        <p:spPr>
          <a:xfrm>
            <a:off x="0" y="0"/>
            <a:ext cx="421782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27</a:t>
            </a:r>
            <a:r>
              <a:rPr lang="zh-CN" altLang="en-US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：构建任意模值计数器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927049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2" name="AutoShape 4" descr="C:\Users\hfutliujun\AppData\Roaming\Tencent\Users\350654676\QQ\WinTemp\RichOle\(1YHR_{OZC$S)HTNC8L4D.png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4933" name="AutoShape 5" descr="C:\Users\hfutliujun\AppData\Roaming\Tencent\Users\350654676\QQ\WinTemp\RichOle\(1YHR_{OZC$S)HTNC8L4D.png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2" name="Rectangle 14"/>
          <p:cNvSpPr>
            <a:spLocks noChangeArrowheads="1"/>
          </p:cNvSpPr>
          <p:nvPr/>
        </p:nvSpPr>
        <p:spPr bwMode="auto">
          <a:xfrm>
            <a:off x="152400" y="590550"/>
            <a:ext cx="8001000" cy="2554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sz="1600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计数器：</a:t>
            </a:r>
            <a:r>
              <a:rPr lang="en-US" altLang="zh-CN" sz="1600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74LS163</a:t>
            </a:r>
          </a:p>
          <a:p>
            <a:pPr marL="0" lvl="1">
              <a:lnSpc>
                <a:spcPct val="150000"/>
              </a:lnSpc>
            </a:pPr>
            <a:endParaRPr lang="en-US" altLang="zh-CN" sz="1400" b="1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dirty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2438400" y="4476750"/>
            <a:ext cx="3124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latin typeface="微软雅黑" pitchFamily="34" charset="-122"/>
                <a:ea typeface="微软雅黑" pitchFamily="34" charset="-122"/>
              </a:rPr>
              <a:t>  </a:t>
            </a: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图 </a:t>
            </a:r>
            <a:r>
              <a:rPr lang="en-US" altLang="zh-CN" sz="1600" b="1" dirty="0">
                <a:latin typeface="微软雅黑" pitchFamily="34" charset="-122"/>
                <a:ea typeface="微软雅黑" pitchFamily="34" charset="-122"/>
              </a:rPr>
              <a:t>3 </a:t>
            </a: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计数器</a:t>
            </a:r>
            <a:r>
              <a:rPr lang="en-US" altLang="zh-CN" sz="1600" b="1" dirty="0">
                <a:latin typeface="微软雅黑" pitchFamily="34" charset="-122"/>
                <a:ea typeface="微软雅黑" pitchFamily="34" charset="-122"/>
              </a:rPr>
              <a:t>74LS163</a:t>
            </a: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电路图</a:t>
            </a:r>
          </a:p>
        </p:txBody>
      </p:sp>
      <p:grpSp>
        <p:nvGrpSpPr>
          <p:cNvPr id="48" name="组合 47"/>
          <p:cNvGrpSpPr/>
          <p:nvPr/>
        </p:nvGrpSpPr>
        <p:grpSpPr>
          <a:xfrm>
            <a:off x="2057400" y="590550"/>
            <a:ext cx="3706823" cy="3873335"/>
            <a:chOff x="2057400" y="590550"/>
            <a:chExt cx="3706823" cy="3873335"/>
          </a:xfrm>
        </p:grpSpPr>
        <p:pic>
          <p:nvPicPr>
            <p:cNvPr id="46" name="Picture 4" descr="R9BBD]6VME[3AXJFM[57}3L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2057400" y="590550"/>
              <a:ext cx="3706823" cy="37417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graphicFrame>
          <p:nvGraphicFramePr>
            <p:cNvPr id="47" name="Object 210"/>
            <p:cNvGraphicFramePr>
              <a:graphicFrameLocks noChangeAspect="1"/>
            </p:cNvGraphicFramePr>
            <p:nvPr/>
          </p:nvGraphicFramePr>
          <p:xfrm>
            <a:off x="2667000" y="4171950"/>
            <a:ext cx="304800" cy="2919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6192" name="Equation" r:id="rId3" imgW="215640" imgH="215640" progId="Equation.DSMT4">
                    <p:embed/>
                  </p:oleObj>
                </mc:Choice>
                <mc:Fallback>
                  <p:oleObj name="Equation" r:id="rId3" imgW="215640" imgH="215640" progId="Equation.DSMT4">
                    <p:embed/>
                    <p:pic>
                      <p:nvPicPr>
                        <p:cNvPr id="0" name="Picture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67000" y="4171950"/>
                          <a:ext cx="304800" cy="29193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0" name="矩形 9"/>
          <p:cNvSpPr/>
          <p:nvPr/>
        </p:nvSpPr>
        <p:spPr>
          <a:xfrm>
            <a:off x="0" y="0"/>
            <a:ext cx="421782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27</a:t>
            </a:r>
            <a:r>
              <a:rPr lang="zh-CN" altLang="en-US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：构建任意模值计数器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927049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2" name="AutoShape 4" descr="C:\Users\hfutliujun\AppData\Roaming\Tencent\Users\350654676\QQ\WinTemp\RichOle\(1YHR_{OZC$S)HTNC8L4D.png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4933" name="AutoShape 5" descr="C:\Users\hfutliujun\AppData\Roaming\Tencent\Users\350654676\QQ\WinTemp\RichOle\(1YHR_{OZC$S)HTNC8L4D.png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2" name="Rectangle 14"/>
          <p:cNvSpPr>
            <a:spLocks noChangeArrowheads="1"/>
          </p:cNvSpPr>
          <p:nvPr/>
        </p:nvSpPr>
        <p:spPr bwMode="auto">
          <a:xfrm>
            <a:off x="152400" y="590550"/>
            <a:ext cx="8001000" cy="2554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sz="1600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计数器：</a:t>
            </a:r>
            <a:r>
              <a:rPr lang="en-US" altLang="zh-CN" sz="1600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74LS163</a:t>
            </a:r>
            <a:r>
              <a:rPr lang="zh-CN" altLang="en-US" sz="1600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功能表</a:t>
            </a:r>
            <a:endParaRPr lang="en-US" altLang="zh-CN" sz="1600" b="1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400" b="1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dirty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4572000" y="1123950"/>
            <a:ext cx="3124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  表</a:t>
            </a:r>
            <a:r>
              <a:rPr lang="en-US" altLang="zh-CN" sz="1600" b="1" dirty="0">
                <a:latin typeface="微软雅黑" pitchFamily="34" charset="-122"/>
                <a:ea typeface="微软雅黑" pitchFamily="34" charset="-122"/>
              </a:rPr>
              <a:t>1  </a:t>
            </a: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计数器</a:t>
            </a:r>
            <a:r>
              <a:rPr lang="en-US" altLang="zh-CN" sz="1600" b="1" dirty="0">
                <a:latin typeface="微软雅黑" pitchFamily="34" charset="-122"/>
                <a:ea typeface="微软雅黑" pitchFamily="34" charset="-122"/>
              </a:rPr>
              <a:t>74LS163</a:t>
            </a: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功能表</a:t>
            </a:r>
          </a:p>
        </p:txBody>
      </p:sp>
      <p:grpSp>
        <p:nvGrpSpPr>
          <p:cNvPr id="9" name="Group 223"/>
          <p:cNvGrpSpPr>
            <a:grpSpLocks/>
          </p:cNvGrpSpPr>
          <p:nvPr/>
        </p:nvGrpSpPr>
        <p:grpSpPr bwMode="auto">
          <a:xfrm>
            <a:off x="3894137" y="1525589"/>
            <a:ext cx="5022850" cy="2609851"/>
            <a:chOff x="1347" y="2119"/>
            <a:chExt cx="3164" cy="1644"/>
          </a:xfrm>
        </p:grpSpPr>
        <p:sp>
          <p:nvSpPr>
            <p:cNvPr id="10" name="Text Box 171"/>
            <p:cNvSpPr txBox="1">
              <a:spLocks noChangeArrowheads="1"/>
            </p:cNvSpPr>
            <p:nvPr/>
          </p:nvSpPr>
          <p:spPr bwMode="auto">
            <a:xfrm>
              <a:off x="3353" y="2372"/>
              <a:ext cx="567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zh-CN" altLang="en-US" sz="2000" b="1" dirty="0">
                  <a:solidFill>
                    <a:srgbClr val="FF0000"/>
                  </a:solidFill>
                  <a:effectLst/>
                  <a:latin typeface="Arial" pitchFamily="34" charset="0"/>
                </a:rPr>
                <a:t>置  零</a:t>
              </a:r>
            </a:p>
          </p:txBody>
        </p:sp>
        <p:sp>
          <p:nvSpPr>
            <p:cNvPr id="11" name="Text Box 172"/>
            <p:cNvSpPr txBox="1">
              <a:spLocks noChangeArrowheads="1"/>
            </p:cNvSpPr>
            <p:nvPr/>
          </p:nvSpPr>
          <p:spPr bwMode="auto">
            <a:xfrm>
              <a:off x="3313" y="2616"/>
              <a:ext cx="681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zh-CN" altLang="en-US" sz="2000" b="1" dirty="0">
                  <a:solidFill>
                    <a:srgbClr val="FF0000"/>
                  </a:solidFill>
                  <a:effectLst/>
                  <a:latin typeface="Arial" pitchFamily="34" charset="0"/>
                </a:rPr>
                <a:t>预置数</a:t>
              </a:r>
            </a:p>
          </p:txBody>
        </p:sp>
        <p:sp>
          <p:nvSpPr>
            <p:cNvPr id="12" name="Text Box 173"/>
            <p:cNvSpPr txBox="1">
              <a:spLocks noChangeArrowheads="1"/>
            </p:cNvSpPr>
            <p:nvPr/>
          </p:nvSpPr>
          <p:spPr bwMode="auto">
            <a:xfrm>
              <a:off x="3361" y="2914"/>
              <a:ext cx="580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zh-CN" altLang="en-US" sz="2000" b="1" dirty="0">
                  <a:solidFill>
                    <a:srgbClr val="FF0000"/>
                  </a:solidFill>
                  <a:effectLst/>
                  <a:latin typeface="Arial" pitchFamily="34" charset="0"/>
                </a:rPr>
                <a:t>保  持</a:t>
              </a:r>
            </a:p>
          </p:txBody>
        </p:sp>
        <p:sp>
          <p:nvSpPr>
            <p:cNvPr id="13" name="Text Box 174"/>
            <p:cNvSpPr txBox="1">
              <a:spLocks noChangeArrowheads="1"/>
            </p:cNvSpPr>
            <p:nvPr/>
          </p:nvSpPr>
          <p:spPr bwMode="auto">
            <a:xfrm>
              <a:off x="3261" y="3211"/>
              <a:ext cx="1250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zh-CN" altLang="en-US" sz="2000" b="1" dirty="0">
                  <a:solidFill>
                    <a:srgbClr val="FF0000"/>
                  </a:solidFill>
                  <a:effectLst/>
                  <a:latin typeface="Arial" pitchFamily="34" charset="0"/>
                </a:rPr>
                <a:t>保持（但</a:t>
              </a:r>
              <a:r>
                <a:rPr kumimoji="0" lang="en-US" altLang="zh-CN" sz="2000" b="1" i="1" dirty="0">
                  <a:solidFill>
                    <a:srgbClr val="FF0000"/>
                  </a:solidFill>
                  <a:effectLst/>
                  <a:latin typeface="Arial" pitchFamily="34" charset="0"/>
                </a:rPr>
                <a:t>C</a:t>
              </a:r>
              <a:r>
                <a:rPr kumimoji="0" lang="en-US" altLang="zh-CN" sz="2000" b="1" dirty="0">
                  <a:solidFill>
                    <a:srgbClr val="FF0000"/>
                  </a:solidFill>
                  <a:effectLst/>
                  <a:latin typeface="Arial" pitchFamily="34" charset="0"/>
                </a:rPr>
                <a:t>=0</a:t>
              </a:r>
              <a:r>
                <a:rPr kumimoji="0" lang="zh-CN" altLang="en-US" sz="2000" b="1" dirty="0">
                  <a:solidFill>
                    <a:srgbClr val="FF0000"/>
                  </a:solidFill>
                  <a:effectLst/>
                  <a:latin typeface="Arial" pitchFamily="34" charset="0"/>
                </a:rPr>
                <a:t>）</a:t>
              </a:r>
            </a:p>
          </p:txBody>
        </p:sp>
        <p:sp>
          <p:nvSpPr>
            <p:cNvPr id="14" name="Text Box 175"/>
            <p:cNvSpPr txBox="1">
              <a:spLocks noChangeArrowheads="1"/>
            </p:cNvSpPr>
            <p:nvPr/>
          </p:nvSpPr>
          <p:spPr bwMode="auto">
            <a:xfrm>
              <a:off x="3377" y="3473"/>
              <a:ext cx="573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zh-CN" altLang="en-US" sz="2000" b="1" dirty="0">
                  <a:solidFill>
                    <a:srgbClr val="FF0000"/>
                  </a:solidFill>
                  <a:effectLst/>
                  <a:latin typeface="Arial" pitchFamily="34" charset="0"/>
                </a:rPr>
                <a:t>计  数</a:t>
              </a:r>
            </a:p>
          </p:txBody>
        </p:sp>
        <p:sp>
          <p:nvSpPr>
            <p:cNvPr id="15" name="Text Box 177"/>
            <p:cNvSpPr txBox="1">
              <a:spLocks noChangeArrowheads="1"/>
            </p:cNvSpPr>
            <p:nvPr/>
          </p:nvSpPr>
          <p:spPr bwMode="auto">
            <a:xfrm>
              <a:off x="1839" y="2361"/>
              <a:ext cx="227" cy="140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2000" dirty="0">
                  <a:effectLst/>
                  <a:latin typeface="Arial" pitchFamily="34" charset="0"/>
                </a:rPr>
                <a:t>0</a:t>
              </a:r>
            </a:p>
            <a:p>
              <a:pPr>
                <a:spcBef>
                  <a:spcPct val="50000"/>
                </a:spcBef>
              </a:pPr>
              <a:r>
                <a:rPr kumimoji="0" lang="en-US" altLang="zh-CN" sz="2000" dirty="0">
                  <a:effectLst/>
                  <a:latin typeface="Arial" pitchFamily="34" charset="0"/>
                </a:rPr>
                <a:t>1</a:t>
              </a:r>
            </a:p>
            <a:p>
              <a:pPr>
                <a:spcBef>
                  <a:spcPct val="50000"/>
                </a:spcBef>
              </a:pPr>
              <a:r>
                <a:rPr kumimoji="0" lang="en-US" altLang="zh-CN" sz="2000" dirty="0">
                  <a:effectLst/>
                  <a:latin typeface="Arial" pitchFamily="34" charset="0"/>
                </a:rPr>
                <a:t>1</a:t>
              </a:r>
            </a:p>
            <a:p>
              <a:pPr>
                <a:spcBef>
                  <a:spcPct val="50000"/>
                </a:spcBef>
              </a:pPr>
              <a:r>
                <a:rPr kumimoji="0" lang="en-US" altLang="zh-CN" sz="2000" dirty="0">
                  <a:effectLst/>
                  <a:latin typeface="Arial" pitchFamily="34" charset="0"/>
                </a:rPr>
                <a:t>1</a:t>
              </a:r>
            </a:p>
            <a:p>
              <a:pPr>
                <a:spcBef>
                  <a:spcPct val="50000"/>
                </a:spcBef>
              </a:pPr>
              <a:r>
                <a:rPr kumimoji="0" lang="en-US" altLang="zh-CN" sz="2000" dirty="0">
                  <a:effectLst/>
                  <a:latin typeface="Arial" pitchFamily="34" charset="0"/>
                </a:rPr>
                <a:t>1</a:t>
              </a:r>
            </a:p>
          </p:txBody>
        </p:sp>
        <p:sp>
          <p:nvSpPr>
            <p:cNvPr id="16" name="Text Box 178"/>
            <p:cNvSpPr txBox="1">
              <a:spLocks noChangeArrowheads="1"/>
            </p:cNvSpPr>
            <p:nvPr/>
          </p:nvSpPr>
          <p:spPr bwMode="auto">
            <a:xfrm>
              <a:off x="2199" y="2337"/>
              <a:ext cx="227" cy="140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endParaRPr kumimoji="0" lang="en-US" altLang="zh-CN" sz="2000" dirty="0">
                <a:effectLst/>
                <a:latin typeface="Arial" pitchFamily="34" charset="0"/>
              </a:endParaRPr>
            </a:p>
            <a:p>
              <a:pPr>
                <a:spcBef>
                  <a:spcPct val="50000"/>
                </a:spcBef>
              </a:pPr>
              <a:r>
                <a:rPr kumimoji="0" lang="en-US" altLang="zh-CN" sz="2000" dirty="0">
                  <a:effectLst/>
                  <a:latin typeface="Arial" pitchFamily="34" charset="0"/>
                </a:rPr>
                <a:t>0</a:t>
              </a:r>
            </a:p>
            <a:p>
              <a:pPr>
                <a:spcBef>
                  <a:spcPct val="50000"/>
                </a:spcBef>
              </a:pPr>
              <a:r>
                <a:rPr kumimoji="0" lang="en-US" altLang="zh-CN" sz="2000" dirty="0">
                  <a:effectLst/>
                  <a:latin typeface="Arial" pitchFamily="34" charset="0"/>
                </a:rPr>
                <a:t>1</a:t>
              </a:r>
            </a:p>
            <a:p>
              <a:pPr>
                <a:spcBef>
                  <a:spcPct val="50000"/>
                </a:spcBef>
              </a:pPr>
              <a:r>
                <a:rPr kumimoji="0" lang="en-US" altLang="zh-CN" sz="2000" dirty="0">
                  <a:effectLst/>
                  <a:latin typeface="Arial" pitchFamily="34" charset="0"/>
                </a:rPr>
                <a:t>1</a:t>
              </a:r>
            </a:p>
            <a:p>
              <a:pPr>
                <a:spcBef>
                  <a:spcPct val="50000"/>
                </a:spcBef>
              </a:pPr>
              <a:r>
                <a:rPr kumimoji="0" lang="en-US" altLang="zh-CN" sz="2000" dirty="0">
                  <a:effectLst/>
                  <a:latin typeface="Arial" pitchFamily="34" charset="0"/>
                </a:rPr>
                <a:t>1</a:t>
              </a:r>
            </a:p>
          </p:txBody>
        </p:sp>
        <p:sp>
          <p:nvSpPr>
            <p:cNvPr id="17" name="Text Box 179"/>
            <p:cNvSpPr txBox="1">
              <a:spLocks noChangeArrowheads="1"/>
            </p:cNvSpPr>
            <p:nvPr/>
          </p:nvSpPr>
          <p:spPr bwMode="auto">
            <a:xfrm>
              <a:off x="2668" y="2337"/>
              <a:ext cx="227" cy="140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endParaRPr kumimoji="0" lang="en-US" altLang="zh-CN" sz="2000">
                <a:effectLst/>
                <a:latin typeface="Arial" pitchFamily="34" charset="0"/>
              </a:endParaRPr>
            </a:p>
            <a:p>
              <a:pPr>
                <a:spcBef>
                  <a:spcPct val="50000"/>
                </a:spcBef>
              </a:pPr>
              <a:endParaRPr kumimoji="0" lang="en-US" altLang="zh-CN" sz="2000">
                <a:effectLst/>
                <a:latin typeface="Arial" pitchFamily="34" charset="0"/>
              </a:endParaRPr>
            </a:p>
            <a:p>
              <a:pPr>
                <a:spcBef>
                  <a:spcPct val="50000"/>
                </a:spcBef>
              </a:pPr>
              <a:r>
                <a:rPr kumimoji="0" lang="en-US" altLang="zh-CN" sz="2000">
                  <a:effectLst/>
                  <a:latin typeface="Arial" pitchFamily="34" charset="0"/>
                </a:rPr>
                <a:t>0</a:t>
              </a:r>
            </a:p>
            <a:p>
              <a:pPr>
                <a:spcBef>
                  <a:spcPct val="50000"/>
                </a:spcBef>
              </a:pPr>
              <a:endParaRPr kumimoji="0" lang="en-US" altLang="zh-CN" sz="2000">
                <a:effectLst/>
                <a:latin typeface="Arial" pitchFamily="34" charset="0"/>
              </a:endParaRPr>
            </a:p>
            <a:p>
              <a:pPr>
                <a:spcBef>
                  <a:spcPct val="50000"/>
                </a:spcBef>
              </a:pPr>
              <a:r>
                <a:rPr kumimoji="0" lang="en-US" altLang="zh-CN" sz="2000">
                  <a:effectLst/>
                  <a:latin typeface="Arial" pitchFamily="34" charset="0"/>
                </a:rPr>
                <a:t>1</a:t>
              </a:r>
            </a:p>
          </p:txBody>
        </p:sp>
        <p:sp>
          <p:nvSpPr>
            <p:cNvPr id="18" name="Text Box 180"/>
            <p:cNvSpPr txBox="1">
              <a:spLocks noChangeArrowheads="1"/>
            </p:cNvSpPr>
            <p:nvPr/>
          </p:nvSpPr>
          <p:spPr bwMode="auto">
            <a:xfrm>
              <a:off x="2994" y="2337"/>
              <a:ext cx="227" cy="140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endParaRPr kumimoji="0" lang="en-US" altLang="zh-CN" sz="2000">
                <a:effectLst/>
                <a:latin typeface="Arial" pitchFamily="34" charset="0"/>
              </a:endParaRPr>
            </a:p>
            <a:p>
              <a:pPr>
                <a:spcBef>
                  <a:spcPct val="50000"/>
                </a:spcBef>
              </a:pPr>
              <a:endParaRPr kumimoji="0" lang="en-US" altLang="zh-CN" sz="2000">
                <a:effectLst/>
                <a:latin typeface="Arial" pitchFamily="34" charset="0"/>
              </a:endParaRPr>
            </a:p>
            <a:p>
              <a:pPr>
                <a:spcBef>
                  <a:spcPct val="50000"/>
                </a:spcBef>
              </a:pPr>
              <a:r>
                <a:rPr kumimoji="0" lang="en-US" altLang="zh-CN" sz="2000">
                  <a:effectLst/>
                  <a:latin typeface="Arial" pitchFamily="34" charset="0"/>
                </a:rPr>
                <a:t>1</a:t>
              </a:r>
            </a:p>
            <a:p>
              <a:pPr>
                <a:spcBef>
                  <a:spcPct val="50000"/>
                </a:spcBef>
              </a:pPr>
              <a:r>
                <a:rPr kumimoji="0" lang="en-US" altLang="zh-CN" sz="2000">
                  <a:effectLst/>
                  <a:latin typeface="Arial" pitchFamily="34" charset="0"/>
                </a:rPr>
                <a:t>0</a:t>
              </a:r>
            </a:p>
            <a:p>
              <a:pPr>
                <a:spcBef>
                  <a:spcPct val="50000"/>
                </a:spcBef>
              </a:pPr>
              <a:r>
                <a:rPr kumimoji="0" lang="en-US" altLang="zh-CN" sz="2000">
                  <a:effectLst/>
                  <a:latin typeface="Arial" pitchFamily="34" charset="0"/>
                </a:rPr>
                <a:t>1</a:t>
              </a:r>
            </a:p>
          </p:txBody>
        </p:sp>
        <p:sp>
          <p:nvSpPr>
            <p:cNvPr id="19" name="Line 181"/>
            <p:cNvSpPr>
              <a:spLocks noChangeShapeType="1"/>
            </p:cNvSpPr>
            <p:nvPr/>
          </p:nvSpPr>
          <p:spPr bwMode="auto">
            <a:xfrm>
              <a:off x="1347" y="2390"/>
              <a:ext cx="266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Line 182"/>
            <p:cNvSpPr>
              <a:spLocks noChangeShapeType="1"/>
            </p:cNvSpPr>
            <p:nvPr/>
          </p:nvSpPr>
          <p:spPr bwMode="auto">
            <a:xfrm>
              <a:off x="1347" y="2119"/>
              <a:ext cx="266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Line 183"/>
            <p:cNvSpPr>
              <a:spLocks noChangeShapeType="1"/>
            </p:cNvSpPr>
            <p:nvPr/>
          </p:nvSpPr>
          <p:spPr bwMode="auto">
            <a:xfrm>
              <a:off x="1347" y="3745"/>
              <a:ext cx="266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Line 184"/>
            <p:cNvSpPr>
              <a:spLocks noChangeShapeType="1"/>
            </p:cNvSpPr>
            <p:nvPr/>
          </p:nvSpPr>
          <p:spPr bwMode="auto">
            <a:xfrm>
              <a:off x="1801" y="2119"/>
              <a:ext cx="0" cy="162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" name="Line 185"/>
            <p:cNvSpPr>
              <a:spLocks noChangeShapeType="1"/>
            </p:cNvSpPr>
            <p:nvPr/>
          </p:nvSpPr>
          <p:spPr bwMode="auto">
            <a:xfrm>
              <a:off x="2142" y="2119"/>
              <a:ext cx="0" cy="162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" name="Line 186"/>
            <p:cNvSpPr>
              <a:spLocks noChangeShapeType="1"/>
            </p:cNvSpPr>
            <p:nvPr/>
          </p:nvSpPr>
          <p:spPr bwMode="auto">
            <a:xfrm>
              <a:off x="2612" y="2119"/>
              <a:ext cx="0" cy="162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" name="Line 187"/>
            <p:cNvSpPr>
              <a:spLocks noChangeShapeType="1"/>
            </p:cNvSpPr>
            <p:nvPr/>
          </p:nvSpPr>
          <p:spPr bwMode="auto">
            <a:xfrm>
              <a:off x="3277" y="2119"/>
              <a:ext cx="0" cy="162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26" name="Object 188"/>
            <p:cNvGraphicFramePr>
              <a:graphicFrameLocks noChangeAspect="1"/>
            </p:cNvGraphicFramePr>
            <p:nvPr/>
          </p:nvGraphicFramePr>
          <p:xfrm>
            <a:off x="2228" y="2390"/>
            <a:ext cx="198" cy="2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203" name="公式" r:id="rId2" imgW="114120" imgH="126720" progId="">
                    <p:embed/>
                  </p:oleObj>
                </mc:Choice>
                <mc:Fallback>
                  <p:oleObj name="公式" r:id="rId2" imgW="114120" imgH="126720" progId="">
                    <p:embed/>
                    <p:pic>
                      <p:nvPicPr>
                        <p:cNvPr id="0" name="Picture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28" y="2390"/>
                          <a:ext cx="198" cy="211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" name="Object 190"/>
            <p:cNvGraphicFramePr>
              <a:graphicFrameLocks noChangeAspect="1"/>
            </p:cNvGraphicFramePr>
            <p:nvPr/>
          </p:nvGraphicFramePr>
          <p:xfrm>
            <a:off x="2698" y="2662"/>
            <a:ext cx="198" cy="21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204" name="公式" r:id="rId4" imgW="114120" imgH="126720" progId="">
                    <p:embed/>
                  </p:oleObj>
                </mc:Choice>
                <mc:Fallback>
                  <p:oleObj name="公式" r:id="rId4" imgW="114120" imgH="126720" progId="">
                    <p:embed/>
                    <p:pic>
                      <p:nvPicPr>
                        <p:cNvPr id="0" name="Picture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98" y="2662"/>
                          <a:ext cx="198" cy="21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" name="Object 191"/>
            <p:cNvGraphicFramePr>
              <a:graphicFrameLocks noChangeAspect="1"/>
            </p:cNvGraphicFramePr>
            <p:nvPr/>
          </p:nvGraphicFramePr>
          <p:xfrm>
            <a:off x="2698" y="2390"/>
            <a:ext cx="198" cy="2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205" name="公式" r:id="rId6" imgW="114120" imgH="126720" progId="">
                    <p:embed/>
                  </p:oleObj>
                </mc:Choice>
                <mc:Fallback>
                  <p:oleObj name="公式" r:id="rId6" imgW="114120" imgH="126720" progId="">
                    <p:embed/>
                    <p:pic>
                      <p:nvPicPr>
                        <p:cNvPr id="0" name="Picture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98" y="2390"/>
                          <a:ext cx="198" cy="211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9" name="Object 192"/>
            <p:cNvGraphicFramePr>
              <a:graphicFrameLocks noChangeAspect="1"/>
            </p:cNvGraphicFramePr>
            <p:nvPr/>
          </p:nvGraphicFramePr>
          <p:xfrm>
            <a:off x="3023" y="2390"/>
            <a:ext cx="198" cy="2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206" name="公式" r:id="rId8" imgW="114120" imgH="126720" progId="">
                    <p:embed/>
                  </p:oleObj>
                </mc:Choice>
                <mc:Fallback>
                  <p:oleObj name="公式" r:id="rId8" imgW="114120" imgH="126720" progId="">
                    <p:embed/>
                    <p:pic>
                      <p:nvPicPr>
                        <p:cNvPr id="0" name="Picture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23" y="2390"/>
                          <a:ext cx="198" cy="211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" name="Object 193"/>
            <p:cNvGraphicFramePr>
              <a:graphicFrameLocks noChangeAspect="1"/>
            </p:cNvGraphicFramePr>
            <p:nvPr/>
          </p:nvGraphicFramePr>
          <p:xfrm>
            <a:off x="3023" y="2662"/>
            <a:ext cx="198" cy="21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207" name="公式" r:id="rId9" imgW="114120" imgH="126720" progId="">
                    <p:embed/>
                  </p:oleObj>
                </mc:Choice>
                <mc:Fallback>
                  <p:oleObj name="公式" r:id="rId9" imgW="114120" imgH="126720" progId="">
                    <p:embed/>
                    <p:pic>
                      <p:nvPicPr>
                        <p:cNvPr id="0" name="Picture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23" y="2662"/>
                          <a:ext cx="198" cy="21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1" name="Object 194"/>
            <p:cNvGraphicFramePr>
              <a:graphicFrameLocks noChangeAspect="1"/>
            </p:cNvGraphicFramePr>
            <p:nvPr/>
          </p:nvGraphicFramePr>
          <p:xfrm>
            <a:off x="1461" y="2933"/>
            <a:ext cx="197" cy="21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208" name="公式" r:id="rId10" imgW="114120" imgH="126720" progId="">
                    <p:embed/>
                  </p:oleObj>
                </mc:Choice>
                <mc:Fallback>
                  <p:oleObj name="公式" r:id="rId10" imgW="114120" imgH="126720" progId="">
                    <p:embed/>
                    <p:pic>
                      <p:nvPicPr>
                        <p:cNvPr id="0" name="Picture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61" y="2933"/>
                          <a:ext cx="197" cy="21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2" name="Object 195"/>
            <p:cNvGraphicFramePr>
              <a:graphicFrameLocks noChangeAspect="1"/>
            </p:cNvGraphicFramePr>
            <p:nvPr/>
          </p:nvGraphicFramePr>
          <p:xfrm>
            <a:off x="2698" y="3210"/>
            <a:ext cx="198" cy="21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209" name="公式" r:id="rId11" imgW="114120" imgH="126720" progId="">
                    <p:embed/>
                  </p:oleObj>
                </mc:Choice>
                <mc:Fallback>
                  <p:oleObj name="公式" r:id="rId11" imgW="114120" imgH="126720" progId="">
                    <p:embed/>
                    <p:pic>
                      <p:nvPicPr>
                        <p:cNvPr id="0" name="Picture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98" y="3210"/>
                          <a:ext cx="198" cy="21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3" name="Object 196"/>
            <p:cNvGraphicFramePr>
              <a:graphicFrameLocks noChangeAspect="1"/>
            </p:cNvGraphicFramePr>
            <p:nvPr/>
          </p:nvGraphicFramePr>
          <p:xfrm>
            <a:off x="1461" y="3203"/>
            <a:ext cx="197" cy="21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210" name="公式" r:id="rId12" imgW="114120" imgH="126720" progId="">
                    <p:embed/>
                  </p:oleObj>
                </mc:Choice>
                <mc:Fallback>
                  <p:oleObj name="公式" r:id="rId12" imgW="114120" imgH="126720" progId="">
                    <p:embed/>
                    <p:pic>
                      <p:nvPicPr>
                        <p:cNvPr id="0" name="Picture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61" y="3203"/>
                          <a:ext cx="197" cy="21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34" name="Group 197"/>
            <p:cNvGrpSpPr>
              <a:grpSpLocks/>
            </p:cNvGrpSpPr>
            <p:nvPr/>
          </p:nvGrpSpPr>
          <p:grpSpPr bwMode="auto">
            <a:xfrm>
              <a:off x="1404" y="2662"/>
              <a:ext cx="284" cy="162"/>
              <a:chOff x="476" y="3702"/>
              <a:chExt cx="363" cy="182"/>
            </a:xfrm>
          </p:grpSpPr>
          <p:sp>
            <p:nvSpPr>
              <p:cNvPr id="56" name="Line 198"/>
              <p:cNvSpPr>
                <a:spLocks noChangeShapeType="1"/>
              </p:cNvSpPr>
              <p:nvPr/>
            </p:nvSpPr>
            <p:spPr bwMode="auto">
              <a:xfrm>
                <a:off x="476" y="3884"/>
                <a:ext cx="91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7" name="Line 199"/>
              <p:cNvSpPr>
                <a:spLocks noChangeShapeType="1"/>
              </p:cNvSpPr>
              <p:nvPr/>
            </p:nvSpPr>
            <p:spPr bwMode="auto">
              <a:xfrm>
                <a:off x="748" y="3884"/>
                <a:ext cx="91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8" name="Line 200"/>
              <p:cNvSpPr>
                <a:spLocks noChangeShapeType="1"/>
              </p:cNvSpPr>
              <p:nvPr/>
            </p:nvSpPr>
            <p:spPr bwMode="auto">
              <a:xfrm flipV="1">
                <a:off x="567" y="3702"/>
                <a:ext cx="0" cy="18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9" name="Line 201"/>
              <p:cNvSpPr>
                <a:spLocks noChangeShapeType="1"/>
              </p:cNvSpPr>
              <p:nvPr/>
            </p:nvSpPr>
            <p:spPr bwMode="auto">
              <a:xfrm>
                <a:off x="748" y="3702"/>
                <a:ext cx="0" cy="18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0" name="Line 202"/>
              <p:cNvSpPr>
                <a:spLocks noChangeShapeType="1"/>
              </p:cNvSpPr>
              <p:nvPr/>
            </p:nvSpPr>
            <p:spPr bwMode="auto">
              <a:xfrm>
                <a:off x="567" y="3702"/>
                <a:ext cx="181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35" name="Group 203"/>
            <p:cNvGrpSpPr>
              <a:grpSpLocks/>
            </p:cNvGrpSpPr>
            <p:nvPr/>
          </p:nvGrpSpPr>
          <p:grpSpPr bwMode="auto">
            <a:xfrm>
              <a:off x="1404" y="3474"/>
              <a:ext cx="284" cy="162"/>
              <a:chOff x="476" y="3702"/>
              <a:chExt cx="363" cy="182"/>
            </a:xfrm>
          </p:grpSpPr>
          <p:sp>
            <p:nvSpPr>
              <p:cNvPr id="51" name="Line 204"/>
              <p:cNvSpPr>
                <a:spLocks noChangeShapeType="1"/>
              </p:cNvSpPr>
              <p:nvPr/>
            </p:nvSpPr>
            <p:spPr bwMode="auto">
              <a:xfrm>
                <a:off x="476" y="3884"/>
                <a:ext cx="91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2" name="Line 205"/>
              <p:cNvSpPr>
                <a:spLocks noChangeShapeType="1"/>
              </p:cNvSpPr>
              <p:nvPr/>
            </p:nvSpPr>
            <p:spPr bwMode="auto">
              <a:xfrm>
                <a:off x="748" y="3884"/>
                <a:ext cx="91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" name="Line 206"/>
              <p:cNvSpPr>
                <a:spLocks noChangeShapeType="1"/>
              </p:cNvSpPr>
              <p:nvPr/>
            </p:nvSpPr>
            <p:spPr bwMode="auto">
              <a:xfrm flipV="1">
                <a:off x="567" y="3702"/>
                <a:ext cx="0" cy="18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4" name="Line 207"/>
              <p:cNvSpPr>
                <a:spLocks noChangeShapeType="1"/>
              </p:cNvSpPr>
              <p:nvPr/>
            </p:nvSpPr>
            <p:spPr bwMode="auto">
              <a:xfrm>
                <a:off x="748" y="3702"/>
                <a:ext cx="0" cy="18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" name="Line 208"/>
              <p:cNvSpPr>
                <a:spLocks noChangeShapeType="1"/>
              </p:cNvSpPr>
              <p:nvPr/>
            </p:nvSpPr>
            <p:spPr bwMode="auto">
              <a:xfrm>
                <a:off x="567" y="3702"/>
                <a:ext cx="181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</p:grpSp>
        <p:graphicFrame>
          <p:nvGraphicFramePr>
            <p:cNvPr id="36" name="Object 209"/>
            <p:cNvGraphicFramePr>
              <a:graphicFrameLocks noChangeAspect="1"/>
            </p:cNvGraphicFramePr>
            <p:nvPr/>
          </p:nvGraphicFramePr>
          <p:xfrm>
            <a:off x="1365" y="2170"/>
            <a:ext cx="424" cy="20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211" name="Equation" r:id="rId13" imgW="304560" imgH="152280" progId="Equation.DSMT4">
                    <p:embed/>
                  </p:oleObj>
                </mc:Choice>
                <mc:Fallback>
                  <p:oleObj name="Equation" r:id="rId13" imgW="304560" imgH="152280" progId="Equation.DSMT4">
                    <p:embed/>
                    <p:pic>
                      <p:nvPicPr>
                        <p:cNvPr id="0" name="Picture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65" y="2170"/>
                          <a:ext cx="424" cy="20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7" name="Object 210"/>
            <p:cNvGraphicFramePr>
              <a:graphicFrameLocks noChangeAspect="1"/>
            </p:cNvGraphicFramePr>
            <p:nvPr/>
          </p:nvGraphicFramePr>
          <p:xfrm>
            <a:off x="1832" y="2120"/>
            <a:ext cx="308" cy="2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212" name="Equation" r:id="rId15" imgW="215640" imgH="215640" progId="Equation.DSMT4">
                    <p:embed/>
                  </p:oleObj>
                </mc:Choice>
                <mc:Fallback>
                  <p:oleObj name="Equation" r:id="rId15" imgW="215640" imgH="215640" progId="Equation.DSMT4">
                    <p:embed/>
                    <p:pic>
                      <p:nvPicPr>
                        <p:cNvPr id="0" name="Picture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32" y="2120"/>
                          <a:ext cx="308" cy="29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8" name="Object 211"/>
            <p:cNvGraphicFramePr>
              <a:graphicFrameLocks noChangeAspect="1"/>
            </p:cNvGraphicFramePr>
            <p:nvPr/>
          </p:nvGraphicFramePr>
          <p:xfrm>
            <a:off x="2210" y="2141"/>
            <a:ext cx="312" cy="2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213" name="Equation" r:id="rId17" imgW="228600" imgH="177480" progId="Equation.DSMT4">
                    <p:embed/>
                  </p:oleObj>
                </mc:Choice>
                <mc:Fallback>
                  <p:oleObj name="Equation" r:id="rId17" imgW="228600" imgH="177480" progId="Equation.DSMT4">
                    <p:embed/>
                    <p:pic>
                      <p:nvPicPr>
                        <p:cNvPr id="0" name="Picture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10" y="2141"/>
                          <a:ext cx="312" cy="23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9" name="Object 212"/>
            <p:cNvGraphicFramePr>
              <a:graphicFrameLocks noChangeAspect="1"/>
            </p:cNvGraphicFramePr>
            <p:nvPr/>
          </p:nvGraphicFramePr>
          <p:xfrm>
            <a:off x="2598" y="2169"/>
            <a:ext cx="372" cy="22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214" name="Equation" r:id="rId19" imgW="266400" imgH="164880" progId="Equation.DSMT4">
                    <p:embed/>
                  </p:oleObj>
                </mc:Choice>
                <mc:Fallback>
                  <p:oleObj name="Equation" r:id="rId19" imgW="266400" imgH="164880" progId="Equation.DSMT4">
                    <p:embed/>
                    <p:pic>
                      <p:nvPicPr>
                        <p:cNvPr id="0" name="Picture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98" y="2169"/>
                          <a:ext cx="372" cy="221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0" name="Object 213"/>
            <p:cNvGraphicFramePr>
              <a:graphicFrameLocks noChangeAspect="1"/>
            </p:cNvGraphicFramePr>
            <p:nvPr/>
          </p:nvGraphicFramePr>
          <p:xfrm>
            <a:off x="2931" y="2174"/>
            <a:ext cx="346" cy="2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215" name="Equation" r:id="rId21" imgW="253800" imgH="164880" progId="Equation.DSMT4">
                    <p:embed/>
                  </p:oleObj>
                </mc:Choice>
                <mc:Fallback>
                  <p:oleObj name="Equation" r:id="rId21" imgW="253800" imgH="164880" progId="Equation.DSMT4">
                    <p:embed/>
                    <p:pic>
                      <p:nvPicPr>
                        <p:cNvPr id="0" name="Picture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31" y="2174"/>
                          <a:ext cx="346" cy="21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1" name="Text Box 214"/>
            <p:cNvSpPr txBox="1">
              <a:spLocks noChangeArrowheads="1"/>
            </p:cNvSpPr>
            <p:nvPr/>
          </p:nvSpPr>
          <p:spPr bwMode="auto">
            <a:xfrm>
              <a:off x="3277" y="2137"/>
              <a:ext cx="795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zh-CN" altLang="en-US" sz="2000" b="1" dirty="0">
                  <a:effectLst/>
                  <a:latin typeface="Arial" pitchFamily="34" charset="0"/>
                </a:rPr>
                <a:t>工作状态</a:t>
              </a:r>
            </a:p>
          </p:txBody>
        </p:sp>
        <p:grpSp>
          <p:nvGrpSpPr>
            <p:cNvPr id="43" name="Group 217"/>
            <p:cNvGrpSpPr>
              <a:grpSpLocks/>
            </p:cNvGrpSpPr>
            <p:nvPr/>
          </p:nvGrpSpPr>
          <p:grpSpPr bwMode="auto">
            <a:xfrm>
              <a:off x="1405" y="2429"/>
              <a:ext cx="284" cy="162"/>
              <a:chOff x="476" y="3702"/>
              <a:chExt cx="363" cy="182"/>
            </a:xfrm>
          </p:grpSpPr>
          <p:sp>
            <p:nvSpPr>
              <p:cNvPr id="45" name="Line 218"/>
              <p:cNvSpPr>
                <a:spLocks noChangeShapeType="1"/>
              </p:cNvSpPr>
              <p:nvPr/>
            </p:nvSpPr>
            <p:spPr bwMode="auto">
              <a:xfrm>
                <a:off x="476" y="3884"/>
                <a:ext cx="91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" name="Line 219"/>
              <p:cNvSpPr>
                <a:spLocks noChangeShapeType="1"/>
              </p:cNvSpPr>
              <p:nvPr/>
            </p:nvSpPr>
            <p:spPr bwMode="auto">
              <a:xfrm>
                <a:off x="748" y="3884"/>
                <a:ext cx="91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8" name="Line 220"/>
              <p:cNvSpPr>
                <a:spLocks noChangeShapeType="1"/>
              </p:cNvSpPr>
              <p:nvPr/>
            </p:nvSpPr>
            <p:spPr bwMode="auto">
              <a:xfrm flipV="1">
                <a:off x="567" y="3702"/>
                <a:ext cx="0" cy="18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9" name="Line 221"/>
              <p:cNvSpPr>
                <a:spLocks noChangeShapeType="1"/>
              </p:cNvSpPr>
              <p:nvPr/>
            </p:nvSpPr>
            <p:spPr bwMode="auto">
              <a:xfrm>
                <a:off x="748" y="3702"/>
                <a:ext cx="0" cy="18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0" name="Line 222"/>
              <p:cNvSpPr>
                <a:spLocks noChangeShapeType="1"/>
              </p:cNvSpPr>
              <p:nvPr/>
            </p:nvSpPr>
            <p:spPr bwMode="auto">
              <a:xfrm>
                <a:off x="567" y="3702"/>
                <a:ext cx="181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pic>
        <p:nvPicPr>
          <p:cNvPr id="307216" name="Picture 16" descr="C:\Users\hfutliujun\AppData\Roaming\Tencent\Users\350654676\QQ\WinTemp\RichOle\2LCEAH2K]K4(G`9XZ[F]](4.png"/>
          <p:cNvPicPr>
            <a:picLocks noChangeAspect="1" noChangeArrowheads="1"/>
          </p:cNvPicPr>
          <p:nvPr/>
        </p:nvPicPr>
        <p:blipFill>
          <a:blip r:embed="rId23" cstate="print"/>
          <a:srcRect/>
          <a:stretch>
            <a:fillRect/>
          </a:stretch>
        </p:blipFill>
        <p:spPr bwMode="auto">
          <a:xfrm>
            <a:off x="381000" y="1428750"/>
            <a:ext cx="3007326" cy="1885950"/>
          </a:xfrm>
          <a:prstGeom prst="rect">
            <a:avLst/>
          </a:prstGeom>
          <a:noFill/>
        </p:spPr>
      </p:pic>
      <p:sp>
        <p:nvSpPr>
          <p:cNvPr id="61" name="TextBox 60"/>
          <p:cNvSpPr txBox="1"/>
          <p:nvPr/>
        </p:nvSpPr>
        <p:spPr>
          <a:xfrm>
            <a:off x="533400" y="3486150"/>
            <a:ext cx="28194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latin typeface="微软雅黑" pitchFamily="34" charset="-122"/>
                <a:ea typeface="微软雅黑" pitchFamily="34" charset="-122"/>
              </a:rPr>
              <a:t>  </a:t>
            </a: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图 </a:t>
            </a:r>
            <a:r>
              <a:rPr lang="en-US" altLang="zh-CN" sz="1600" b="1" dirty="0">
                <a:latin typeface="微软雅黑" pitchFamily="34" charset="-122"/>
                <a:ea typeface="微软雅黑" pitchFamily="34" charset="-122"/>
              </a:rPr>
              <a:t>1 </a:t>
            </a: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计数器</a:t>
            </a:r>
            <a:r>
              <a:rPr lang="en-US" altLang="zh-CN" sz="1600" b="1" dirty="0">
                <a:latin typeface="微软雅黑" pitchFamily="34" charset="-122"/>
                <a:ea typeface="微软雅黑" pitchFamily="34" charset="-122"/>
              </a:rPr>
              <a:t>74LS163</a:t>
            </a: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框图</a:t>
            </a:r>
          </a:p>
        </p:txBody>
      </p:sp>
      <p:sp>
        <p:nvSpPr>
          <p:cNvPr id="63" name="矩形 62"/>
          <p:cNvSpPr/>
          <p:nvPr/>
        </p:nvSpPr>
        <p:spPr>
          <a:xfrm>
            <a:off x="0" y="0"/>
            <a:ext cx="421782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27</a:t>
            </a:r>
            <a:r>
              <a:rPr lang="zh-CN" altLang="en-US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：构建任意模值计数器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927049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2" name="AutoShape 4" descr="C:\Users\hfutliujun\AppData\Roaming\Tencent\Users\350654676\QQ\WinTemp\RichOle\(1YHR_{OZC$S)HTNC8L4D.png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4933" name="AutoShape 5" descr="C:\Users\hfutliujun\AppData\Roaming\Tencent\Users\350654676\QQ\WinTemp\RichOle\(1YHR_{OZC$S)HTNC8L4D.png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2" name="Rectangle 14"/>
          <p:cNvSpPr>
            <a:spLocks noChangeArrowheads="1"/>
          </p:cNvSpPr>
          <p:nvPr/>
        </p:nvSpPr>
        <p:spPr bwMode="auto">
          <a:xfrm>
            <a:off x="152400" y="590550"/>
            <a:ext cx="8001000" cy="29238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sz="1600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计数器：</a:t>
            </a:r>
            <a:endParaRPr lang="en-US" altLang="zh-CN" sz="1600" b="1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r>
              <a:rPr lang="en-US" altLang="zh-CN" sz="1600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74LS163</a:t>
            </a:r>
          </a:p>
          <a:p>
            <a:pPr marL="0" lvl="1">
              <a:lnSpc>
                <a:spcPct val="150000"/>
              </a:lnSpc>
            </a:pPr>
            <a:endParaRPr lang="en-US" altLang="zh-CN" sz="1400" b="1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dirty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1828800" y="4476750"/>
            <a:ext cx="3124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latin typeface="微软雅黑" pitchFamily="34" charset="-122"/>
                <a:ea typeface="微软雅黑" pitchFamily="34" charset="-122"/>
              </a:rPr>
              <a:t>  </a:t>
            </a: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图 </a:t>
            </a:r>
            <a:r>
              <a:rPr lang="en-US" altLang="zh-CN" sz="1600" b="1" dirty="0">
                <a:latin typeface="微软雅黑" pitchFamily="34" charset="-122"/>
                <a:ea typeface="微软雅黑" pitchFamily="34" charset="-122"/>
              </a:rPr>
              <a:t>2 </a:t>
            </a: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计数器</a:t>
            </a:r>
            <a:r>
              <a:rPr lang="en-US" altLang="zh-CN" sz="1600" b="1" dirty="0">
                <a:latin typeface="微软雅黑" pitchFamily="34" charset="-122"/>
                <a:ea typeface="微软雅黑" pitchFamily="34" charset="-122"/>
              </a:rPr>
              <a:t>74LS163</a:t>
            </a: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电路图</a:t>
            </a:r>
          </a:p>
        </p:txBody>
      </p:sp>
      <p:grpSp>
        <p:nvGrpSpPr>
          <p:cNvPr id="2" name="组合 47"/>
          <p:cNvGrpSpPr/>
          <p:nvPr/>
        </p:nvGrpSpPr>
        <p:grpSpPr>
          <a:xfrm>
            <a:off x="1371600" y="590550"/>
            <a:ext cx="3706823" cy="3873335"/>
            <a:chOff x="2057400" y="590550"/>
            <a:chExt cx="3706823" cy="3873335"/>
          </a:xfrm>
        </p:grpSpPr>
        <p:pic>
          <p:nvPicPr>
            <p:cNvPr id="46" name="Picture 4" descr="R9BBD]6VME[3AXJFM[57}3L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2057400" y="590550"/>
              <a:ext cx="3706823" cy="37417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graphicFrame>
          <p:nvGraphicFramePr>
            <p:cNvPr id="47" name="Object 210"/>
            <p:cNvGraphicFramePr>
              <a:graphicFrameLocks noChangeAspect="1"/>
            </p:cNvGraphicFramePr>
            <p:nvPr/>
          </p:nvGraphicFramePr>
          <p:xfrm>
            <a:off x="2667000" y="4171950"/>
            <a:ext cx="304800" cy="2919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1298" name="Equation" r:id="rId3" imgW="215640" imgH="215640" progId="Equation.DSMT4">
                    <p:embed/>
                  </p:oleObj>
                </mc:Choice>
                <mc:Fallback>
                  <p:oleObj name="Equation" r:id="rId3" imgW="215640" imgH="215640" progId="Equation.DSMT4">
                    <p:embed/>
                    <p:pic>
                      <p:nvPicPr>
                        <p:cNvPr id="0" name="Picture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67000" y="4171950"/>
                          <a:ext cx="304800" cy="29193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组合 12"/>
          <p:cNvGrpSpPr/>
          <p:nvPr/>
        </p:nvGrpSpPr>
        <p:grpSpPr>
          <a:xfrm>
            <a:off x="5334000" y="1123950"/>
            <a:ext cx="3428999" cy="533400"/>
            <a:chOff x="1371600" y="742950"/>
            <a:chExt cx="5572125" cy="1072074"/>
          </a:xfrm>
        </p:grpSpPr>
        <p:pic>
          <p:nvPicPr>
            <p:cNvPr id="308228" name="Picture 4" descr="C:\Users\hfutliujun\AppData\Roaming\Tencent\Users\350654676\QQ\WinTemp\RichOle\@H(V(XF~GV__SN`FW~4)5H7.png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1371600" y="742950"/>
              <a:ext cx="5524500" cy="695325"/>
            </a:xfrm>
            <a:prstGeom prst="rect">
              <a:avLst/>
            </a:prstGeom>
            <a:noFill/>
          </p:spPr>
        </p:pic>
        <p:pic>
          <p:nvPicPr>
            <p:cNvPr id="308229" name="Picture 5" descr="C:\Users\hfutliujun\AppData\Roaming\Tencent\Users\350654676\QQ\WinTemp\RichOle\DZP_H62LX]T638`FA}G4[_U.png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1447800" y="1405449"/>
              <a:ext cx="5495925" cy="409575"/>
            </a:xfrm>
            <a:prstGeom prst="rect">
              <a:avLst/>
            </a:prstGeom>
            <a:noFill/>
          </p:spPr>
        </p:pic>
      </p:grpSp>
      <p:sp>
        <p:nvSpPr>
          <p:cNvPr id="13" name="Text Box 18"/>
          <p:cNvSpPr txBox="1">
            <a:spLocks noChangeArrowheads="1"/>
          </p:cNvSpPr>
          <p:nvPr/>
        </p:nvSpPr>
        <p:spPr bwMode="auto">
          <a:xfrm>
            <a:off x="2187129" y="4156836"/>
            <a:ext cx="6096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 i="0" dirty="0">
                <a:solidFill>
                  <a:schemeClr val="accent6"/>
                </a:solidFill>
              </a:rPr>
              <a:t>=0</a:t>
            </a:r>
          </a:p>
        </p:txBody>
      </p:sp>
      <p:sp>
        <p:nvSpPr>
          <p:cNvPr id="14" name="Text Box 18"/>
          <p:cNvSpPr txBox="1">
            <a:spLocks noChangeArrowheads="1"/>
          </p:cNvSpPr>
          <p:nvPr/>
        </p:nvSpPr>
        <p:spPr bwMode="auto">
          <a:xfrm>
            <a:off x="1828800" y="3028950"/>
            <a:ext cx="3048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 i="0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15" name="Text Box 18"/>
          <p:cNvSpPr txBox="1">
            <a:spLocks noChangeArrowheads="1"/>
          </p:cNvSpPr>
          <p:nvPr/>
        </p:nvSpPr>
        <p:spPr bwMode="auto">
          <a:xfrm>
            <a:off x="1981200" y="2419350"/>
            <a:ext cx="381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 i="0" dirty="0">
                <a:solidFill>
                  <a:schemeClr val="accent6"/>
                </a:solidFill>
              </a:rPr>
              <a:t>0</a:t>
            </a:r>
          </a:p>
        </p:txBody>
      </p:sp>
      <p:sp>
        <p:nvSpPr>
          <p:cNvPr id="16" name="Text Box 18"/>
          <p:cNvSpPr txBox="1">
            <a:spLocks noChangeArrowheads="1"/>
          </p:cNvSpPr>
          <p:nvPr/>
        </p:nvSpPr>
        <p:spPr bwMode="auto">
          <a:xfrm>
            <a:off x="1676400" y="2343150"/>
            <a:ext cx="381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 i="0" dirty="0">
                <a:solidFill>
                  <a:schemeClr val="accent6"/>
                </a:solidFill>
              </a:rPr>
              <a:t>0</a:t>
            </a:r>
          </a:p>
        </p:txBody>
      </p:sp>
      <p:sp>
        <p:nvSpPr>
          <p:cNvPr id="17" name="矩形 16"/>
          <p:cNvSpPr/>
          <p:nvPr/>
        </p:nvSpPr>
        <p:spPr>
          <a:xfrm>
            <a:off x="0" y="0"/>
            <a:ext cx="421782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27</a:t>
            </a:r>
            <a:r>
              <a:rPr lang="zh-CN" altLang="en-US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：构建任意模值计数器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927049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2" name="AutoShape 4" descr="C:\Users\hfutliujun\AppData\Roaming\Tencent\Users\350654676\QQ\WinTemp\RichOle\(1YHR_{OZC$S)HTNC8L4D.png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4933" name="AutoShape 5" descr="C:\Users\hfutliujun\AppData\Roaming\Tencent\Users\350654676\QQ\WinTemp\RichOle\(1YHR_{OZC$S)HTNC8L4D.png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2" name="Rectangle 14"/>
          <p:cNvSpPr>
            <a:spLocks noChangeArrowheads="1"/>
          </p:cNvSpPr>
          <p:nvPr/>
        </p:nvSpPr>
        <p:spPr bwMode="auto">
          <a:xfrm>
            <a:off x="152400" y="590550"/>
            <a:ext cx="8001000" cy="29238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sz="1600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计数器：</a:t>
            </a:r>
            <a:endParaRPr lang="en-US" altLang="zh-CN" sz="1600" b="1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r>
              <a:rPr lang="en-US" altLang="zh-CN" sz="1600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74LS163</a:t>
            </a:r>
          </a:p>
          <a:p>
            <a:pPr marL="0" lvl="1">
              <a:lnSpc>
                <a:spcPct val="150000"/>
              </a:lnSpc>
            </a:pPr>
            <a:endParaRPr lang="en-US" altLang="zh-CN" sz="1400" b="1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dirty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1828800" y="4476750"/>
            <a:ext cx="3124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latin typeface="微软雅黑" pitchFamily="34" charset="-122"/>
                <a:ea typeface="微软雅黑" pitchFamily="34" charset="-122"/>
              </a:rPr>
              <a:t>  </a:t>
            </a: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图 </a:t>
            </a:r>
            <a:r>
              <a:rPr lang="en-US" altLang="zh-CN" sz="1600" b="1" dirty="0">
                <a:latin typeface="微软雅黑" pitchFamily="34" charset="-122"/>
                <a:ea typeface="微软雅黑" pitchFamily="34" charset="-122"/>
              </a:rPr>
              <a:t>2 </a:t>
            </a: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计数器</a:t>
            </a:r>
            <a:r>
              <a:rPr lang="en-US" altLang="zh-CN" sz="1600" b="1" dirty="0">
                <a:latin typeface="微软雅黑" pitchFamily="34" charset="-122"/>
                <a:ea typeface="微软雅黑" pitchFamily="34" charset="-122"/>
              </a:rPr>
              <a:t>74LS163</a:t>
            </a: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电路图</a:t>
            </a:r>
          </a:p>
        </p:txBody>
      </p:sp>
      <p:grpSp>
        <p:nvGrpSpPr>
          <p:cNvPr id="2" name="组合 47"/>
          <p:cNvGrpSpPr/>
          <p:nvPr/>
        </p:nvGrpSpPr>
        <p:grpSpPr>
          <a:xfrm>
            <a:off x="1371600" y="590550"/>
            <a:ext cx="3706823" cy="3873335"/>
            <a:chOff x="2057400" y="590550"/>
            <a:chExt cx="3706823" cy="3873335"/>
          </a:xfrm>
        </p:grpSpPr>
        <p:pic>
          <p:nvPicPr>
            <p:cNvPr id="46" name="Picture 4" descr="R9BBD]6VME[3AXJFM[57}3L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2057400" y="590550"/>
              <a:ext cx="3706823" cy="37417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graphicFrame>
          <p:nvGraphicFramePr>
            <p:cNvPr id="47" name="Object 210"/>
            <p:cNvGraphicFramePr>
              <a:graphicFrameLocks noChangeAspect="1"/>
            </p:cNvGraphicFramePr>
            <p:nvPr/>
          </p:nvGraphicFramePr>
          <p:xfrm>
            <a:off x="2667000" y="4171950"/>
            <a:ext cx="304800" cy="2919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2322" name="Equation" r:id="rId3" imgW="215640" imgH="215640" progId="Equation.DSMT4">
                    <p:embed/>
                  </p:oleObj>
                </mc:Choice>
                <mc:Fallback>
                  <p:oleObj name="Equation" r:id="rId3" imgW="215640" imgH="215640" progId="Equation.DSMT4">
                    <p:embed/>
                    <p:pic>
                      <p:nvPicPr>
                        <p:cNvPr id="0" name="Picture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67000" y="4171950"/>
                          <a:ext cx="304800" cy="29193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组合 12"/>
          <p:cNvGrpSpPr/>
          <p:nvPr/>
        </p:nvGrpSpPr>
        <p:grpSpPr>
          <a:xfrm>
            <a:off x="5334000" y="1123950"/>
            <a:ext cx="3428999" cy="533400"/>
            <a:chOff x="1371600" y="742950"/>
            <a:chExt cx="5572125" cy="1072074"/>
          </a:xfrm>
        </p:grpSpPr>
        <p:pic>
          <p:nvPicPr>
            <p:cNvPr id="308228" name="Picture 4" descr="C:\Users\hfutliujun\AppData\Roaming\Tencent\Users\350654676\QQ\WinTemp\RichOle\@H(V(XF~GV__SN`FW~4)5H7.png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1371600" y="742950"/>
              <a:ext cx="5524500" cy="695325"/>
            </a:xfrm>
            <a:prstGeom prst="rect">
              <a:avLst/>
            </a:prstGeom>
            <a:noFill/>
          </p:spPr>
        </p:pic>
        <p:pic>
          <p:nvPicPr>
            <p:cNvPr id="308229" name="Picture 5" descr="C:\Users\hfutliujun\AppData\Roaming\Tencent\Users\350654676\QQ\WinTemp\RichOle\DZP_H62LX]T638`FA}G4[_U.png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1447800" y="1405449"/>
              <a:ext cx="5495925" cy="409575"/>
            </a:xfrm>
            <a:prstGeom prst="rect">
              <a:avLst/>
            </a:prstGeom>
            <a:noFill/>
          </p:spPr>
        </p:pic>
      </p:grpSp>
      <p:sp>
        <p:nvSpPr>
          <p:cNvPr id="13" name="Text Box 18"/>
          <p:cNvSpPr txBox="1">
            <a:spLocks noChangeArrowheads="1"/>
          </p:cNvSpPr>
          <p:nvPr/>
        </p:nvSpPr>
        <p:spPr bwMode="auto">
          <a:xfrm>
            <a:off x="2187129" y="4156836"/>
            <a:ext cx="6096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 i="0" dirty="0">
                <a:solidFill>
                  <a:schemeClr val="accent6"/>
                </a:solidFill>
              </a:rPr>
              <a:t>=0</a:t>
            </a:r>
          </a:p>
        </p:txBody>
      </p:sp>
      <p:sp>
        <p:nvSpPr>
          <p:cNvPr id="14" name="Text Box 18"/>
          <p:cNvSpPr txBox="1">
            <a:spLocks noChangeArrowheads="1"/>
          </p:cNvSpPr>
          <p:nvPr/>
        </p:nvSpPr>
        <p:spPr bwMode="auto">
          <a:xfrm>
            <a:off x="1828800" y="3028950"/>
            <a:ext cx="3048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 i="0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15" name="Text Box 18"/>
          <p:cNvSpPr txBox="1">
            <a:spLocks noChangeArrowheads="1"/>
          </p:cNvSpPr>
          <p:nvPr/>
        </p:nvSpPr>
        <p:spPr bwMode="auto">
          <a:xfrm>
            <a:off x="1981200" y="2419350"/>
            <a:ext cx="381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 i="0" dirty="0">
                <a:solidFill>
                  <a:schemeClr val="accent6"/>
                </a:solidFill>
              </a:rPr>
              <a:t>0</a:t>
            </a:r>
          </a:p>
        </p:txBody>
      </p:sp>
      <p:sp>
        <p:nvSpPr>
          <p:cNvPr id="16" name="Text Box 18"/>
          <p:cNvSpPr txBox="1">
            <a:spLocks noChangeArrowheads="1"/>
          </p:cNvSpPr>
          <p:nvPr/>
        </p:nvSpPr>
        <p:spPr bwMode="auto">
          <a:xfrm>
            <a:off x="1676400" y="2343150"/>
            <a:ext cx="381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 i="0" dirty="0">
                <a:solidFill>
                  <a:schemeClr val="accent6"/>
                </a:solidFill>
              </a:rPr>
              <a:t>0</a:t>
            </a:r>
          </a:p>
        </p:txBody>
      </p:sp>
      <p:cxnSp>
        <p:nvCxnSpPr>
          <p:cNvPr id="17" name="直接连接符 16"/>
          <p:cNvCxnSpPr/>
          <p:nvPr/>
        </p:nvCxnSpPr>
        <p:spPr>
          <a:xfrm>
            <a:off x="2057400" y="2396679"/>
            <a:ext cx="2209800" cy="0"/>
          </a:xfrm>
          <a:prstGeom prst="line">
            <a:avLst/>
          </a:prstGeom>
          <a:ln w="254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/>
        </p:nvCxnSpPr>
        <p:spPr>
          <a:xfrm flipV="1">
            <a:off x="1866900" y="2304735"/>
            <a:ext cx="2171700" cy="15114"/>
          </a:xfrm>
          <a:prstGeom prst="line">
            <a:avLst/>
          </a:prstGeom>
          <a:ln w="254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矩形 18"/>
          <p:cNvSpPr/>
          <p:nvPr/>
        </p:nvSpPr>
        <p:spPr>
          <a:xfrm>
            <a:off x="0" y="0"/>
            <a:ext cx="421782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27</a:t>
            </a:r>
            <a:r>
              <a:rPr lang="zh-CN" altLang="en-US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：构建任意模值计数器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927049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2" name="AutoShape 4" descr="C:\Users\hfutliujun\AppData\Roaming\Tencent\Users\350654676\QQ\WinTemp\RichOle\(1YHR_{OZC$S)HTNC8L4D.png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4933" name="AutoShape 5" descr="C:\Users\hfutliujun\AppData\Roaming\Tencent\Users\350654676\QQ\WinTemp\RichOle\(1YHR_{OZC$S)HTNC8L4D.png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2" name="Rectangle 14"/>
          <p:cNvSpPr>
            <a:spLocks noChangeArrowheads="1"/>
          </p:cNvSpPr>
          <p:nvPr/>
        </p:nvSpPr>
        <p:spPr bwMode="auto">
          <a:xfrm>
            <a:off x="152400" y="590550"/>
            <a:ext cx="8001000" cy="29238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sz="1600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计数器：</a:t>
            </a:r>
            <a:endParaRPr lang="en-US" altLang="zh-CN" sz="1600" b="1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r>
              <a:rPr lang="en-US" altLang="zh-CN" sz="1600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74LS163</a:t>
            </a:r>
          </a:p>
          <a:p>
            <a:pPr marL="0" lvl="1">
              <a:lnSpc>
                <a:spcPct val="150000"/>
              </a:lnSpc>
            </a:pPr>
            <a:endParaRPr lang="en-US" altLang="zh-CN" sz="1400" b="1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dirty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1828800" y="4476750"/>
            <a:ext cx="3124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latin typeface="微软雅黑" pitchFamily="34" charset="-122"/>
                <a:ea typeface="微软雅黑" pitchFamily="34" charset="-122"/>
              </a:rPr>
              <a:t>  </a:t>
            </a: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图 </a:t>
            </a:r>
            <a:r>
              <a:rPr lang="en-US" altLang="zh-CN" sz="1600" b="1" dirty="0">
                <a:latin typeface="微软雅黑" pitchFamily="34" charset="-122"/>
                <a:ea typeface="微软雅黑" pitchFamily="34" charset="-122"/>
              </a:rPr>
              <a:t>2 </a:t>
            </a: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计数器</a:t>
            </a:r>
            <a:r>
              <a:rPr lang="en-US" altLang="zh-CN" sz="1600" b="1" dirty="0">
                <a:latin typeface="微软雅黑" pitchFamily="34" charset="-122"/>
                <a:ea typeface="微软雅黑" pitchFamily="34" charset="-122"/>
              </a:rPr>
              <a:t>74LS163</a:t>
            </a: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电路图</a:t>
            </a:r>
          </a:p>
        </p:txBody>
      </p:sp>
      <p:grpSp>
        <p:nvGrpSpPr>
          <p:cNvPr id="2" name="组合 47"/>
          <p:cNvGrpSpPr/>
          <p:nvPr/>
        </p:nvGrpSpPr>
        <p:grpSpPr>
          <a:xfrm>
            <a:off x="1371600" y="590550"/>
            <a:ext cx="3706823" cy="3873335"/>
            <a:chOff x="2057400" y="590550"/>
            <a:chExt cx="3706823" cy="3873335"/>
          </a:xfrm>
        </p:grpSpPr>
        <p:pic>
          <p:nvPicPr>
            <p:cNvPr id="46" name="Picture 4" descr="R9BBD]6VME[3AXJFM[57}3L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2057400" y="590550"/>
              <a:ext cx="3706823" cy="37417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graphicFrame>
          <p:nvGraphicFramePr>
            <p:cNvPr id="47" name="Object 210"/>
            <p:cNvGraphicFramePr>
              <a:graphicFrameLocks noChangeAspect="1"/>
            </p:cNvGraphicFramePr>
            <p:nvPr/>
          </p:nvGraphicFramePr>
          <p:xfrm>
            <a:off x="2667000" y="4171950"/>
            <a:ext cx="304800" cy="2919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3346" name="Equation" r:id="rId3" imgW="215640" imgH="215640" progId="Equation.DSMT4">
                    <p:embed/>
                  </p:oleObj>
                </mc:Choice>
                <mc:Fallback>
                  <p:oleObj name="Equation" r:id="rId3" imgW="215640" imgH="215640" progId="Equation.DSMT4">
                    <p:embed/>
                    <p:pic>
                      <p:nvPicPr>
                        <p:cNvPr id="0" name="Picture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67000" y="4171950"/>
                          <a:ext cx="304800" cy="29193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组合 12"/>
          <p:cNvGrpSpPr/>
          <p:nvPr/>
        </p:nvGrpSpPr>
        <p:grpSpPr>
          <a:xfrm>
            <a:off x="5334000" y="1123950"/>
            <a:ext cx="3428999" cy="533400"/>
            <a:chOff x="1371600" y="742950"/>
            <a:chExt cx="5572125" cy="1072074"/>
          </a:xfrm>
        </p:grpSpPr>
        <p:pic>
          <p:nvPicPr>
            <p:cNvPr id="308228" name="Picture 4" descr="C:\Users\hfutliujun\AppData\Roaming\Tencent\Users\350654676\QQ\WinTemp\RichOle\@H(V(XF~GV__SN`FW~4)5H7.png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1371600" y="742950"/>
              <a:ext cx="5524500" cy="695325"/>
            </a:xfrm>
            <a:prstGeom prst="rect">
              <a:avLst/>
            </a:prstGeom>
            <a:noFill/>
          </p:spPr>
        </p:pic>
        <p:pic>
          <p:nvPicPr>
            <p:cNvPr id="308229" name="Picture 5" descr="C:\Users\hfutliujun\AppData\Roaming\Tencent\Users\350654676\QQ\WinTemp\RichOle\DZP_H62LX]T638`FA}G4[_U.png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1447800" y="1405449"/>
              <a:ext cx="5495925" cy="409575"/>
            </a:xfrm>
            <a:prstGeom prst="rect">
              <a:avLst/>
            </a:prstGeom>
            <a:noFill/>
          </p:spPr>
        </p:pic>
      </p:grpSp>
      <p:sp>
        <p:nvSpPr>
          <p:cNvPr id="13" name="Text Box 18"/>
          <p:cNvSpPr txBox="1">
            <a:spLocks noChangeArrowheads="1"/>
          </p:cNvSpPr>
          <p:nvPr/>
        </p:nvSpPr>
        <p:spPr bwMode="auto">
          <a:xfrm>
            <a:off x="2187129" y="4156836"/>
            <a:ext cx="6096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 i="0" dirty="0">
                <a:solidFill>
                  <a:schemeClr val="accent6"/>
                </a:solidFill>
              </a:rPr>
              <a:t>=0</a:t>
            </a:r>
          </a:p>
        </p:txBody>
      </p:sp>
      <p:sp>
        <p:nvSpPr>
          <p:cNvPr id="14" name="Text Box 18"/>
          <p:cNvSpPr txBox="1">
            <a:spLocks noChangeArrowheads="1"/>
          </p:cNvSpPr>
          <p:nvPr/>
        </p:nvSpPr>
        <p:spPr bwMode="auto">
          <a:xfrm>
            <a:off x="1828800" y="3028950"/>
            <a:ext cx="3048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 i="0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15" name="Text Box 18"/>
          <p:cNvSpPr txBox="1">
            <a:spLocks noChangeArrowheads="1"/>
          </p:cNvSpPr>
          <p:nvPr/>
        </p:nvSpPr>
        <p:spPr bwMode="auto">
          <a:xfrm>
            <a:off x="1981200" y="2419350"/>
            <a:ext cx="381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 i="0" dirty="0">
                <a:solidFill>
                  <a:schemeClr val="accent6"/>
                </a:solidFill>
              </a:rPr>
              <a:t>0</a:t>
            </a:r>
          </a:p>
        </p:txBody>
      </p:sp>
      <p:sp>
        <p:nvSpPr>
          <p:cNvPr id="16" name="Text Box 18"/>
          <p:cNvSpPr txBox="1">
            <a:spLocks noChangeArrowheads="1"/>
          </p:cNvSpPr>
          <p:nvPr/>
        </p:nvSpPr>
        <p:spPr bwMode="auto">
          <a:xfrm>
            <a:off x="1676400" y="2343150"/>
            <a:ext cx="381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 i="0" dirty="0">
                <a:solidFill>
                  <a:schemeClr val="accent6"/>
                </a:solidFill>
              </a:rPr>
              <a:t>0</a:t>
            </a:r>
          </a:p>
        </p:txBody>
      </p:sp>
      <p:cxnSp>
        <p:nvCxnSpPr>
          <p:cNvPr id="17" name="直接连接符 16"/>
          <p:cNvCxnSpPr/>
          <p:nvPr/>
        </p:nvCxnSpPr>
        <p:spPr>
          <a:xfrm>
            <a:off x="2057400" y="2396679"/>
            <a:ext cx="2209800" cy="0"/>
          </a:xfrm>
          <a:prstGeom prst="line">
            <a:avLst/>
          </a:prstGeom>
          <a:ln w="254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/>
        </p:nvCxnSpPr>
        <p:spPr>
          <a:xfrm flipV="1">
            <a:off x="1866900" y="2304735"/>
            <a:ext cx="2171700" cy="15114"/>
          </a:xfrm>
          <a:prstGeom prst="line">
            <a:avLst/>
          </a:prstGeom>
          <a:ln w="254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 Box 18"/>
          <p:cNvSpPr txBox="1">
            <a:spLocks noChangeArrowheads="1"/>
          </p:cNvSpPr>
          <p:nvPr/>
        </p:nvSpPr>
        <p:spPr bwMode="auto">
          <a:xfrm>
            <a:off x="2141157" y="2023236"/>
            <a:ext cx="304800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400" b="1" i="0" dirty="0">
                <a:solidFill>
                  <a:schemeClr val="accent6"/>
                </a:solidFill>
              </a:rPr>
              <a:t>0</a:t>
            </a:r>
          </a:p>
        </p:txBody>
      </p:sp>
      <p:sp>
        <p:nvSpPr>
          <p:cNvPr id="20" name="Text Box 18"/>
          <p:cNvSpPr txBox="1">
            <a:spLocks noChangeArrowheads="1"/>
          </p:cNvSpPr>
          <p:nvPr/>
        </p:nvSpPr>
        <p:spPr bwMode="auto">
          <a:xfrm>
            <a:off x="2347086" y="2030793"/>
            <a:ext cx="304800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400" b="1" i="0" dirty="0">
                <a:solidFill>
                  <a:schemeClr val="accent6"/>
                </a:solidFill>
              </a:rPr>
              <a:t>0</a:t>
            </a:r>
          </a:p>
        </p:txBody>
      </p:sp>
      <p:sp>
        <p:nvSpPr>
          <p:cNvPr id="22" name="Text Box 18"/>
          <p:cNvSpPr txBox="1">
            <a:spLocks noChangeArrowheads="1"/>
          </p:cNvSpPr>
          <p:nvPr/>
        </p:nvSpPr>
        <p:spPr bwMode="auto">
          <a:xfrm>
            <a:off x="2758314" y="2030793"/>
            <a:ext cx="304800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400" b="1" i="0" dirty="0">
                <a:solidFill>
                  <a:schemeClr val="accent6"/>
                </a:solidFill>
              </a:rPr>
              <a:t>0</a:t>
            </a:r>
          </a:p>
        </p:txBody>
      </p:sp>
      <p:sp>
        <p:nvSpPr>
          <p:cNvPr id="23" name="Text Box 18"/>
          <p:cNvSpPr txBox="1">
            <a:spLocks noChangeArrowheads="1"/>
          </p:cNvSpPr>
          <p:nvPr/>
        </p:nvSpPr>
        <p:spPr bwMode="auto">
          <a:xfrm>
            <a:off x="2964243" y="2038350"/>
            <a:ext cx="304800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400" b="1" i="0" dirty="0">
                <a:solidFill>
                  <a:schemeClr val="accent6"/>
                </a:solidFill>
              </a:rPr>
              <a:t>0</a:t>
            </a:r>
          </a:p>
        </p:txBody>
      </p:sp>
      <p:sp>
        <p:nvSpPr>
          <p:cNvPr id="24" name="Text Box 18"/>
          <p:cNvSpPr txBox="1">
            <a:spLocks noChangeArrowheads="1"/>
          </p:cNvSpPr>
          <p:nvPr/>
        </p:nvSpPr>
        <p:spPr bwMode="auto">
          <a:xfrm>
            <a:off x="3352800" y="2030793"/>
            <a:ext cx="304800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400" b="1" i="0" dirty="0">
                <a:solidFill>
                  <a:schemeClr val="accent6"/>
                </a:solidFill>
              </a:rPr>
              <a:t>0</a:t>
            </a:r>
          </a:p>
        </p:txBody>
      </p:sp>
      <p:sp>
        <p:nvSpPr>
          <p:cNvPr id="25" name="Text Box 18"/>
          <p:cNvSpPr txBox="1">
            <a:spLocks noChangeArrowheads="1"/>
          </p:cNvSpPr>
          <p:nvPr/>
        </p:nvSpPr>
        <p:spPr bwMode="auto">
          <a:xfrm>
            <a:off x="3558729" y="2038350"/>
            <a:ext cx="304800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400" b="1" i="0" dirty="0">
                <a:solidFill>
                  <a:schemeClr val="accent6"/>
                </a:solidFill>
              </a:rPr>
              <a:t>0</a:t>
            </a:r>
          </a:p>
        </p:txBody>
      </p:sp>
      <p:sp>
        <p:nvSpPr>
          <p:cNvPr id="27" name="Text Box 18"/>
          <p:cNvSpPr txBox="1">
            <a:spLocks noChangeArrowheads="1"/>
          </p:cNvSpPr>
          <p:nvPr/>
        </p:nvSpPr>
        <p:spPr bwMode="auto">
          <a:xfrm>
            <a:off x="3947286" y="2030793"/>
            <a:ext cx="304800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400" b="1" i="0" dirty="0">
                <a:solidFill>
                  <a:schemeClr val="accent6"/>
                </a:solidFill>
              </a:rPr>
              <a:t>0</a:t>
            </a:r>
          </a:p>
        </p:txBody>
      </p:sp>
      <p:sp>
        <p:nvSpPr>
          <p:cNvPr id="28" name="Text Box 18"/>
          <p:cNvSpPr txBox="1">
            <a:spLocks noChangeArrowheads="1"/>
          </p:cNvSpPr>
          <p:nvPr/>
        </p:nvSpPr>
        <p:spPr bwMode="auto">
          <a:xfrm>
            <a:off x="4153215" y="2038350"/>
            <a:ext cx="304800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400" b="1" i="0" dirty="0">
                <a:solidFill>
                  <a:schemeClr val="accent6"/>
                </a:solidFill>
              </a:rPr>
              <a:t>0</a:t>
            </a:r>
          </a:p>
        </p:txBody>
      </p:sp>
      <p:sp>
        <p:nvSpPr>
          <p:cNvPr id="29" name="Text Box 18"/>
          <p:cNvSpPr txBox="1">
            <a:spLocks noChangeArrowheads="1"/>
          </p:cNvSpPr>
          <p:nvPr/>
        </p:nvSpPr>
        <p:spPr bwMode="auto">
          <a:xfrm>
            <a:off x="2232471" y="1748664"/>
            <a:ext cx="304800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400" b="1" i="0" dirty="0">
                <a:solidFill>
                  <a:schemeClr val="accent6"/>
                </a:solidFill>
              </a:rPr>
              <a:t>0</a:t>
            </a:r>
          </a:p>
        </p:txBody>
      </p:sp>
      <p:sp>
        <p:nvSpPr>
          <p:cNvPr id="30" name="Text Box 18"/>
          <p:cNvSpPr txBox="1">
            <a:spLocks noChangeArrowheads="1"/>
          </p:cNvSpPr>
          <p:nvPr/>
        </p:nvSpPr>
        <p:spPr bwMode="auto">
          <a:xfrm>
            <a:off x="2842071" y="1756221"/>
            <a:ext cx="304800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400" b="1" i="0" dirty="0">
                <a:solidFill>
                  <a:schemeClr val="accent6"/>
                </a:solidFill>
              </a:rPr>
              <a:t>0</a:t>
            </a:r>
          </a:p>
        </p:txBody>
      </p:sp>
      <p:sp>
        <p:nvSpPr>
          <p:cNvPr id="31" name="Text Box 18"/>
          <p:cNvSpPr txBox="1">
            <a:spLocks noChangeArrowheads="1"/>
          </p:cNvSpPr>
          <p:nvPr/>
        </p:nvSpPr>
        <p:spPr bwMode="auto">
          <a:xfrm>
            <a:off x="3436557" y="1741107"/>
            <a:ext cx="304800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400" b="1" i="0" dirty="0">
                <a:solidFill>
                  <a:schemeClr val="accent6"/>
                </a:solidFill>
              </a:rPr>
              <a:t>0</a:t>
            </a:r>
          </a:p>
        </p:txBody>
      </p:sp>
      <p:sp>
        <p:nvSpPr>
          <p:cNvPr id="32" name="Text Box 18"/>
          <p:cNvSpPr txBox="1">
            <a:spLocks noChangeArrowheads="1"/>
          </p:cNvSpPr>
          <p:nvPr/>
        </p:nvSpPr>
        <p:spPr bwMode="auto">
          <a:xfrm>
            <a:off x="4046157" y="1748664"/>
            <a:ext cx="304800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400" b="1" i="0" dirty="0">
                <a:solidFill>
                  <a:schemeClr val="accent6"/>
                </a:solidFill>
              </a:rPr>
              <a:t>0</a:t>
            </a:r>
          </a:p>
        </p:txBody>
      </p:sp>
      <p:sp>
        <p:nvSpPr>
          <p:cNvPr id="33" name="矩形 32"/>
          <p:cNvSpPr/>
          <p:nvPr/>
        </p:nvSpPr>
        <p:spPr>
          <a:xfrm>
            <a:off x="0" y="0"/>
            <a:ext cx="421782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27</a:t>
            </a:r>
            <a:r>
              <a:rPr lang="zh-CN" altLang="en-US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：构建任意模值计数器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927049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31" grpId="0"/>
      <p:bldP spid="3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2" name="AutoShape 4" descr="C:\Users\hfutliujun\AppData\Roaming\Tencent\Users\350654676\QQ\WinTemp\RichOle\(1YHR_{OZC$S)HTNC8L4D.png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4933" name="AutoShape 5" descr="C:\Users\hfutliujun\AppData\Roaming\Tencent\Users\350654676\QQ\WinTemp\RichOle\(1YHR_{OZC$S)HTNC8L4D.png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2" name="Rectangle 14"/>
          <p:cNvSpPr>
            <a:spLocks noChangeArrowheads="1"/>
          </p:cNvSpPr>
          <p:nvPr/>
        </p:nvSpPr>
        <p:spPr bwMode="auto">
          <a:xfrm>
            <a:off x="152400" y="590550"/>
            <a:ext cx="8001000" cy="2554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sz="1600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计数器：</a:t>
            </a:r>
            <a:r>
              <a:rPr lang="en-US" altLang="zh-CN" sz="1600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74LS163 </a:t>
            </a:r>
            <a:r>
              <a:rPr lang="zh-CN" altLang="en-US" sz="1600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清零功能等效电路图</a:t>
            </a:r>
            <a:endParaRPr lang="en-US" altLang="zh-CN" sz="1600" b="1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400" b="1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dirty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533400" y="3409950"/>
            <a:ext cx="4191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latin typeface="微软雅黑" pitchFamily="34" charset="-122"/>
                <a:ea typeface="微软雅黑" pitchFamily="34" charset="-122"/>
              </a:rPr>
              <a:t>  </a:t>
            </a: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图 </a:t>
            </a:r>
            <a:r>
              <a:rPr lang="en-US" altLang="zh-CN" sz="1600" b="1" dirty="0">
                <a:latin typeface="微软雅黑" pitchFamily="34" charset="-122"/>
                <a:ea typeface="微软雅黑" pitchFamily="34" charset="-122"/>
              </a:rPr>
              <a:t>4 74LS163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清零功能等效电路图</a:t>
            </a:r>
          </a:p>
        </p:txBody>
      </p:sp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0" y="1276350"/>
          <a:ext cx="5300662" cy="1874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514" name="Visio" r:id="rId2" imgW="5302518" imgH="1750219" progId="Visio.Drawing.11">
                  <p:embed/>
                </p:oleObj>
              </mc:Choice>
              <mc:Fallback>
                <p:oleObj name="Visio" r:id="rId2" imgW="5302518" imgH="1750219" progId="Visio.Drawing.11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1276350"/>
                        <a:ext cx="5300662" cy="18748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" name="Text Box 18"/>
          <p:cNvSpPr txBox="1">
            <a:spLocks noChangeArrowheads="1"/>
          </p:cNvSpPr>
          <p:nvPr/>
        </p:nvSpPr>
        <p:spPr bwMode="auto">
          <a:xfrm>
            <a:off x="8382000" y="2038350"/>
            <a:ext cx="381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 i="0" dirty="0">
                <a:solidFill>
                  <a:schemeClr val="accent6"/>
                </a:solidFill>
              </a:rPr>
              <a:t>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638800" y="3333750"/>
            <a:ext cx="28194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latin typeface="微软雅黑" pitchFamily="34" charset="-122"/>
                <a:ea typeface="微软雅黑" pitchFamily="34" charset="-122"/>
              </a:rPr>
              <a:t>  </a:t>
            </a: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图</a:t>
            </a:r>
            <a:r>
              <a:rPr lang="en-US" altLang="zh-CN" sz="1600" b="1" dirty="0">
                <a:latin typeface="微软雅黑" pitchFamily="34" charset="-122"/>
                <a:ea typeface="微软雅黑" pitchFamily="34" charset="-122"/>
              </a:rPr>
              <a:t>5 </a:t>
            </a: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计数器</a:t>
            </a:r>
            <a:r>
              <a:rPr lang="en-US" altLang="zh-CN" sz="1600" b="1" dirty="0">
                <a:latin typeface="微软雅黑" pitchFamily="34" charset="-122"/>
                <a:ea typeface="微软雅黑" pitchFamily="34" charset="-122"/>
              </a:rPr>
              <a:t>74LS163</a:t>
            </a: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置零</a:t>
            </a:r>
          </a:p>
        </p:txBody>
      </p:sp>
      <p:grpSp>
        <p:nvGrpSpPr>
          <p:cNvPr id="57" name="组合 56"/>
          <p:cNvGrpSpPr/>
          <p:nvPr/>
        </p:nvGrpSpPr>
        <p:grpSpPr>
          <a:xfrm>
            <a:off x="5181600" y="2114550"/>
            <a:ext cx="450850" cy="257175"/>
            <a:chOff x="4154177" y="2876550"/>
            <a:chExt cx="450850" cy="257175"/>
          </a:xfrm>
        </p:grpSpPr>
        <p:sp>
          <p:nvSpPr>
            <p:cNvPr id="52" name="Line 218"/>
            <p:cNvSpPr>
              <a:spLocks noChangeShapeType="1"/>
            </p:cNvSpPr>
            <p:nvPr/>
          </p:nvSpPr>
          <p:spPr bwMode="auto">
            <a:xfrm>
              <a:off x="4154177" y="3133725"/>
              <a:ext cx="11302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" name="Line 219"/>
            <p:cNvSpPr>
              <a:spLocks noChangeShapeType="1"/>
            </p:cNvSpPr>
            <p:nvPr/>
          </p:nvSpPr>
          <p:spPr bwMode="auto">
            <a:xfrm>
              <a:off x="4492004" y="3133725"/>
              <a:ext cx="11302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" name="Line 220"/>
            <p:cNvSpPr>
              <a:spLocks noChangeShapeType="1"/>
            </p:cNvSpPr>
            <p:nvPr/>
          </p:nvSpPr>
          <p:spPr bwMode="auto">
            <a:xfrm flipV="1">
              <a:off x="4267200" y="2876550"/>
              <a:ext cx="0" cy="25717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" name="Line 221"/>
            <p:cNvSpPr>
              <a:spLocks noChangeShapeType="1"/>
            </p:cNvSpPr>
            <p:nvPr/>
          </p:nvSpPr>
          <p:spPr bwMode="auto">
            <a:xfrm>
              <a:off x="4492004" y="2876550"/>
              <a:ext cx="0" cy="25717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" name="Line 222"/>
            <p:cNvSpPr>
              <a:spLocks noChangeShapeType="1"/>
            </p:cNvSpPr>
            <p:nvPr/>
          </p:nvSpPr>
          <p:spPr bwMode="auto">
            <a:xfrm>
              <a:off x="4267200" y="2876550"/>
              <a:ext cx="22480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58" name="Text Box 18"/>
          <p:cNvSpPr txBox="1">
            <a:spLocks noChangeArrowheads="1"/>
          </p:cNvSpPr>
          <p:nvPr/>
        </p:nvSpPr>
        <p:spPr bwMode="auto">
          <a:xfrm>
            <a:off x="6468813" y="2800350"/>
            <a:ext cx="381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 i="0" dirty="0">
                <a:solidFill>
                  <a:schemeClr val="accent6"/>
                </a:solidFill>
              </a:rPr>
              <a:t>0</a:t>
            </a:r>
          </a:p>
        </p:txBody>
      </p:sp>
      <p:sp>
        <p:nvSpPr>
          <p:cNvPr id="59" name="Text Box 18"/>
          <p:cNvSpPr txBox="1">
            <a:spLocks noChangeArrowheads="1"/>
          </p:cNvSpPr>
          <p:nvPr/>
        </p:nvSpPr>
        <p:spPr bwMode="auto">
          <a:xfrm>
            <a:off x="6781800" y="2800350"/>
            <a:ext cx="381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 i="0" dirty="0">
                <a:solidFill>
                  <a:schemeClr val="accent6"/>
                </a:solidFill>
              </a:rPr>
              <a:t>0</a:t>
            </a:r>
          </a:p>
        </p:txBody>
      </p:sp>
      <p:sp>
        <p:nvSpPr>
          <p:cNvPr id="60" name="Text Box 18"/>
          <p:cNvSpPr txBox="1">
            <a:spLocks noChangeArrowheads="1"/>
          </p:cNvSpPr>
          <p:nvPr/>
        </p:nvSpPr>
        <p:spPr bwMode="auto">
          <a:xfrm>
            <a:off x="7086600" y="2800350"/>
            <a:ext cx="381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 i="0" dirty="0">
                <a:solidFill>
                  <a:schemeClr val="accent6"/>
                </a:solidFill>
              </a:rPr>
              <a:t>0</a:t>
            </a:r>
          </a:p>
        </p:txBody>
      </p:sp>
      <p:sp>
        <p:nvSpPr>
          <p:cNvPr id="61" name="Text Box 18"/>
          <p:cNvSpPr txBox="1">
            <a:spLocks noChangeArrowheads="1"/>
          </p:cNvSpPr>
          <p:nvPr/>
        </p:nvSpPr>
        <p:spPr bwMode="auto">
          <a:xfrm>
            <a:off x="7391400" y="2800350"/>
            <a:ext cx="381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 i="0" dirty="0">
                <a:solidFill>
                  <a:schemeClr val="accent6"/>
                </a:solidFill>
              </a:rPr>
              <a:t>0</a:t>
            </a:r>
          </a:p>
        </p:txBody>
      </p:sp>
      <p:grpSp>
        <p:nvGrpSpPr>
          <p:cNvPr id="63" name="组合 62"/>
          <p:cNvGrpSpPr/>
          <p:nvPr/>
        </p:nvGrpSpPr>
        <p:grpSpPr>
          <a:xfrm>
            <a:off x="5677215" y="1237935"/>
            <a:ext cx="2667000" cy="1524000"/>
            <a:chOff x="1977326" y="926909"/>
            <a:chExt cx="3474212" cy="2155424"/>
          </a:xfrm>
        </p:grpSpPr>
        <p:grpSp>
          <p:nvGrpSpPr>
            <p:cNvPr id="64" name="Group 136"/>
            <p:cNvGrpSpPr>
              <a:grpSpLocks/>
            </p:cNvGrpSpPr>
            <p:nvPr/>
          </p:nvGrpSpPr>
          <p:grpSpPr bwMode="auto">
            <a:xfrm>
              <a:off x="1977326" y="926909"/>
              <a:ext cx="3474212" cy="2149328"/>
              <a:chOff x="2031" y="2338"/>
              <a:chExt cx="1587" cy="932"/>
            </a:xfrm>
          </p:grpSpPr>
          <p:sp>
            <p:nvSpPr>
              <p:cNvPr id="67" name="Rectangle 137"/>
              <p:cNvSpPr>
                <a:spLocks noChangeArrowheads="1"/>
              </p:cNvSpPr>
              <p:nvPr/>
            </p:nvSpPr>
            <p:spPr bwMode="auto">
              <a:xfrm>
                <a:off x="2303" y="2474"/>
                <a:ext cx="1089" cy="590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8" name="Line 140"/>
              <p:cNvSpPr>
                <a:spLocks noChangeShapeType="1"/>
              </p:cNvSpPr>
              <p:nvPr/>
            </p:nvSpPr>
            <p:spPr bwMode="auto">
              <a:xfrm>
                <a:off x="2938" y="3064"/>
                <a:ext cx="0" cy="19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9" name="Line 141"/>
              <p:cNvSpPr>
                <a:spLocks noChangeShapeType="1"/>
              </p:cNvSpPr>
              <p:nvPr/>
            </p:nvSpPr>
            <p:spPr bwMode="auto">
              <a:xfrm>
                <a:off x="3119" y="3064"/>
                <a:ext cx="1" cy="20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0" name="Line 142"/>
              <p:cNvSpPr>
                <a:spLocks noChangeShapeType="1"/>
              </p:cNvSpPr>
              <p:nvPr/>
            </p:nvSpPr>
            <p:spPr bwMode="auto">
              <a:xfrm>
                <a:off x="2575" y="2338"/>
                <a:ext cx="0" cy="137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" name="Line 143"/>
              <p:cNvSpPr>
                <a:spLocks noChangeShapeType="1"/>
              </p:cNvSpPr>
              <p:nvPr/>
            </p:nvSpPr>
            <p:spPr bwMode="auto">
              <a:xfrm>
                <a:off x="2756" y="2338"/>
                <a:ext cx="0" cy="137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2" name="Line 144"/>
              <p:cNvSpPr>
                <a:spLocks noChangeShapeType="1"/>
              </p:cNvSpPr>
              <p:nvPr/>
            </p:nvSpPr>
            <p:spPr bwMode="auto">
              <a:xfrm>
                <a:off x="2938" y="2338"/>
                <a:ext cx="0" cy="13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3" name="Line 145"/>
              <p:cNvSpPr>
                <a:spLocks noChangeShapeType="1"/>
              </p:cNvSpPr>
              <p:nvPr/>
            </p:nvSpPr>
            <p:spPr bwMode="auto">
              <a:xfrm>
                <a:off x="3119" y="2338"/>
                <a:ext cx="0" cy="137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graphicFrame>
            <p:nvGraphicFramePr>
              <p:cNvPr id="74" name="Object 146"/>
              <p:cNvGraphicFramePr>
                <a:graphicFrameLocks noChangeAspect="1"/>
              </p:cNvGraphicFramePr>
              <p:nvPr/>
            </p:nvGraphicFramePr>
            <p:xfrm>
              <a:off x="2332" y="2554"/>
              <a:ext cx="143" cy="10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20530" name="Equation" r:id="rId4" imgW="228600" imgH="164880" progId="Equation.DSMT4">
                      <p:embed/>
                    </p:oleObj>
                  </mc:Choice>
                  <mc:Fallback>
                    <p:oleObj name="Equation" r:id="rId4" imgW="228600" imgH="164880" progId="Equation.DSMT4">
                      <p:embed/>
                      <p:pic>
                        <p:nvPicPr>
                          <p:cNvPr id="0" name="Picture 1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332" y="2554"/>
                            <a:ext cx="143" cy="103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75" name="Object 147"/>
              <p:cNvGraphicFramePr>
                <a:graphicFrameLocks noChangeAspect="1"/>
              </p:cNvGraphicFramePr>
              <p:nvPr/>
            </p:nvGraphicFramePr>
            <p:xfrm>
              <a:off x="3223" y="2863"/>
              <a:ext cx="160" cy="16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20531" name="Equation" r:id="rId6" imgW="241200" imgH="253800" progId="Equation.DSMT4">
                      <p:embed/>
                    </p:oleObj>
                  </mc:Choice>
                  <mc:Fallback>
                    <p:oleObj name="Equation" r:id="rId6" imgW="241200" imgH="253800" progId="Equation.DSMT4">
                      <p:embed/>
                      <p:pic>
                        <p:nvPicPr>
                          <p:cNvPr id="0" name="Picture 1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223" y="2863"/>
                            <a:ext cx="160" cy="168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76" name="Object 148"/>
              <p:cNvGraphicFramePr>
                <a:graphicFrameLocks noChangeAspect="1"/>
              </p:cNvGraphicFramePr>
              <p:nvPr/>
            </p:nvGraphicFramePr>
            <p:xfrm>
              <a:off x="3234" y="2559"/>
              <a:ext cx="161" cy="11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20532" name="Equation" r:id="rId8" imgW="253800" imgH="177480" progId="Equation.DSMT4">
                      <p:embed/>
                    </p:oleObj>
                  </mc:Choice>
                  <mc:Fallback>
                    <p:oleObj name="Equation" r:id="rId8" imgW="253800" imgH="177480" progId="Equation.DSMT4">
                      <p:embed/>
                      <p:pic>
                        <p:nvPicPr>
                          <p:cNvPr id="0" name="Picture 2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234" y="2559"/>
                            <a:ext cx="161" cy="112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77" name="Object 149"/>
              <p:cNvGraphicFramePr>
                <a:graphicFrameLocks noChangeAspect="1"/>
              </p:cNvGraphicFramePr>
              <p:nvPr/>
            </p:nvGraphicFramePr>
            <p:xfrm>
              <a:off x="2506" y="2905"/>
              <a:ext cx="152" cy="15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20533" name="Equation" r:id="rId10" imgW="228600" imgH="228600" progId="Equation.DSMT4">
                      <p:embed/>
                    </p:oleObj>
                  </mc:Choice>
                  <mc:Fallback>
                    <p:oleObj name="Equation" r:id="rId10" imgW="228600" imgH="228600" progId="Equation.DSMT4">
                      <p:embed/>
                      <p:pic>
                        <p:nvPicPr>
                          <p:cNvPr id="0" name="Picture 2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506" y="2905"/>
                            <a:ext cx="152" cy="151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78" name="Object 150"/>
              <p:cNvGraphicFramePr>
                <a:graphicFrameLocks noChangeAspect="1"/>
              </p:cNvGraphicFramePr>
              <p:nvPr/>
            </p:nvGraphicFramePr>
            <p:xfrm>
              <a:off x="2702" y="2918"/>
              <a:ext cx="134" cy="14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20534" name="Equation" r:id="rId12" imgW="215640" imgH="228600" progId="Equation.DSMT4">
                      <p:embed/>
                    </p:oleObj>
                  </mc:Choice>
                  <mc:Fallback>
                    <p:oleObj name="Equation" r:id="rId12" imgW="215640" imgH="228600" progId="Equation.DSMT4">
                      <p:embed/>
                      <p:pic>
                        <p:nvPicPr>
                          <p:cNvPr id="0" name="Picture 2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702" y="2918"/>
                            <a:ext cx="134" cy="142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79" name="Object 151"/>
              <p:cNvGraphicFramePr>
                <a:graphicFrameLocks noChangeAspect="1"/>
              </p:cNvGraphicFramePr>
              <p:nvPr/>
            </p:nvGraphicFramePr>
            <p:xfrm>
              <a:off x="2891" y="2918"/>
              <a:ext cx="138" cy="14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20535" name="Equation" r:id="rId14" imgW="215640" imgH="228600" progId="Equation.DSMT4">
                      <p:embed/>
                    </p:oleObj>
                  </mc:Choice>
                  <mc:Fallback>
                    <p:oleObj name="Equation" r:id="rId14" imgW="215640" imgH="228600" progId="Equation.DSMT4">
                      <p:embed/>
                      <p:pic>
                        <p:nvPicPr>
                          <p:cNvPr id="0" name="Picture 2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91" y="2918"/>
                            <a:ext cx="138" cy="145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80" name="Object 152"/>
              <p:cNvGraphicFramePr>
                <a:graphicFrameLocks noChangeAspect="1"/>
              </p:cNvGraphicFramePr>
              <p:nvPr/>
            </p:nvGraphicFramePr>
            <p:xfrm>
              <a:off x="3058" y="2914"/>
              <a:ext cx="144" cy="14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20536" name="Equation" r:id="rId16" imgW="228600" imgH="228600" progId="Equation.DSMT4">
                      <p:embed/>
                    </p:oleObj>
                  </mc:Choice>
                  <mc:Fallback>
                    <p:oleObj name="Equation" r:id="rId16" imgW="228600" imgH="228600" progId="Equation.DSMT4">
                      <p:embed/>
                      <p:pic>
                        <p:nvPicPr>
                          <p:cNvPr id="0" name="Picture 2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058" y="2914"/>
                            <a:ext cx="144" cy="144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81" name="Object 153"/>
              <p:cNvGraphicFramePr>
                <a:graphicFrameLocks noChangeAspect="1"/>
              </p:cNvGraphicFramePr>
              <p:nvPr/>
            </p:nvGraphicFramePr>
            <p:xfrm>
              <a:off x="3086" y="2475"/>
              <a:ext cx="102" cy="10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20537" name="Equation" r:id="rId18" imgW="164880" imgH="164880" progId="Equation.DSMT4">
                      <p:embed/>
                    </p:oleObj>
                  </mc:Choice>
                  <mc:Fallback>
                    <p:oleObj name="Equation" r:id="rId18" imgW="164880" imgH="164880" progId="Equation.DSMT4">
                      <p:embed/>
                      <p:pic>
                        <p:nvPicPr>
                          <p:cNvPr id="0" name="Picture 2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086" y="2475"/>
                            <a:ext cx="102" cy="101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82" name="Object 154"/>
              <p:cNvGraphicFramePr>
                <a:graphicFrameLocks noChangeAspect="1"/>
              </p:cNvGraphicFramePr>
              <p:nvPr/>
            </p:nvGraphicFramePr>
            <p:xfrm>
              <a:off x="2885" y="2470"/>
              <a:ext cx="93" cy="10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20538" name="Equation" r:id="rId20" imgW="152280" imgH="177480" progId="Equation.DSMT4">
                      <p:embed/>
                    </p:oleObj>
                  </mc:Choice>
                  <mc:Fallback>
                    <p:oleObj name="Equation" r:id="rId20" imgW="152280" imgH="177480" progId="Equation.DSMT4">
                      <p:embed/>
                      <p:pic>
                        <p:nvPicPr>
                          <p:cNvPr id="0" name="Picture 2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85" y="2470"/>
                            <a:ext cx="93" cy="108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83" name="Object 155"/>
              <p:cNvGraphicFramePr>
                <a:graphicFrameLocks noChangeAspect="1"/>
              </p:cNvGraphicFramePr>
              <p:nvPr/>
            </p:nvGraphicFramePr>
            <p:xfrm>
              <a:off x="2708" y="2478"/>
              <a:ext cx="93" cy="10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20539" name="Equation" r:id="rId22" imgW="152280" imgH="164880" progId="Equation.DSMT4">
                      <p:embed/>
                    </p:oleObj>
                  </mc:Choice>
                  <mc:Fallback>
                    <p:oleObj name="Equation" r:id="rId22" imgW="152280" imgH="164880" progId="Equation.DSMT4">
                      <p:embed/>
                      <p:pic>
                        <p:nvPicPr>
                          <p:cNvPr id="0" name="Picture 2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708" y="2478"/>
                            <a:ext cx="93" cy="101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84" name="Object 156"/>
              <p:cNvGraphicFramePr>
                <a:graphicFrameLocks noChangeAspect="1"/>
              </p:cNvGraphicFramePr>
              <p:nvPr/>
            </p:nvGraphicFramePr>
            <p:xfrm>
              <a:off x="2509" y="2476"/>
              <a:ext cx="96" cy="10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20540" name="Equation" r:id="rId24" imgW="152280" imgH="164880" progId="Equation.DSMT4">
                      <p:embed/>
                    </p:oleObj>
                  </mc:Choice>
                  <mc:Fallback>
                    <p:oleObj name="Equation" r:id="rId24" imgW="152280" imgH="164880" progId="Equation.DSMT4">
                      <p:embed/>
                      <p:pic>
                        <p:nvPicPr>
                          <p:cNvPr id="0" name="Picture 2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509" y="2476"/>
                            <a:ext cx="96" cy="103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85" name="Object 157"/>
              <p:cNvGraphicFramePr>
                <a:graphicFrameLocks noChangeAspect="1"/>
              </p:cNvGraphicFramePr>
              <p:nvPr/>
            </p:nvGraphicFramePr>
            <p:xfrm>
              <a:off x="2302" y="2914"/>
              <a:ext cx="203" cy="10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20541" name="Equation" r:id="rId26" imgW="355320" imgH="177480" progId="Equation.DSMT4">
                      <p:embed/>
                    </p:oleObj>
                  </mc:Choice>
                  <mc:Fallback>
                    <p:oleObj name="Equation" r:id="rId26" imgW="355320" imgH="177480" progId="Equation.DSMT4">
                      <p:embed/>
                      <p:pic>
                        <p:nvPicPr>
                          <p:cNvPr id="0" name="Picture 2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302" y="2914"/>
                            <a:ext cx="203" cy="102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86" name="Line 158"/>
              <p:cNvSpPr>
                <a:spLocks noChangeShapeType="1"/>
              </p:cNvSpPr>
              <p:nvPr/>
            </p:nvSpPr>
            <p:spPr bwMode="auto">
              <a:xfrm>
                <a:off x="2031" y="2610"/>
                <a:ext cx="27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7" name="Line 159"/>
              <p:cNvSpPr>
                <a:spLocks noChangeShapeType="1"/>
              </p:cNvSpPr>
              <p:nvPr/>
            </p:nvSpPr>
            <p:spPr bwMode="auto">
              <a:xfrm>
                <a:off x="2031" y="2973"/>
                <a:ext cx="27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8" name="Line 160"/>
              <p:cNvSpPr>
                <a:spLocks noChangeShapeType="1"/>
              </p:cNvSpPr>
              <p:nvPr/>
            </p:nvSpPr>
            <p:spPr bwMode="auto">
              <a:xfrm>
                <a:off x="2045" y="2782"/>
                <a:ext cx="258" cy="9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graphicFrame>
            <p:nvGraphicFramePr>
              <p:cNvPr id="89" name="Object 161"/>
              <p:cNvGraphicFramePr>
                <a:graphicFrameLocks noChangeAspect="1"/>
              </p:cNvGraphicFramePr>
              <p:nvPr/>
            </p:nvGraphicFramePr>
            <p:xfrm>
              <a:off x="2333" y="2731"/>
              <a:ext cx="153" cy="10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20542" name="Equation" r:id="rId28" imgW="241200" imgH="164880" progId="Equation.DSMT4">
                      <p:embed/>
                    </p:oleObj>
                  </mc:Choice>
                  <mc:Fallback>
                    <p:oleObj name="Equation" r:id="rId28" imgW="241200" imgH="164880" progId="Equation.DSMT4">
                      <p:embed/>
                      <p:pic>
                        <p:nvPicPr>
                          <p:cNvPr id="0" name="Picture 3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333" y="2731"/>
                            <a:ext cx="153" cy="105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pSp>
            <p:nvGrpSpPr>
              <p:cNvPr id="90" name="Group 162"/>
              <p:cNvGrpSpPr>
                <a:grpSpLocks/>
              </p:cNvGrpSpPr>
              <p:nvPr/>
            </p:nvGrpSpPr>
            <p:grpSpPr bwMode="auto">
              <a:xfrm>
                <a:off x="3391" y="2745"/>
                <a:ext cx="226" cy="46"/>
                <a:chOff x="250" y="2568"/>
                <a:chExt cx="680" cy="182"/>
              </a:xfrm>
            </p:grpSpPr>
            <p:sp>
              <p:nvSpPr>
                <p:cNvPr id="97" name="Oval 163"/>
                <p:cNvSpPr>
                  <a:spLocks noChangeArrowheads="1"/>
                </p:cNvSpPr>
                <p:nvPr/>
              </p:nvSpPr>
              <p:spPr bwMode="auto">
                <a:xfrm>
                  <a:off x="250" y="2568"/>
                  <a:ext cx="135" cy="182"/>
                </a:xfrm>
                <a:prstGeom prst="ellips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98" name="Line 164"/>
                <p:cNvSpPr>
                  <a:spLocks noChangeShapeType="1"/>
                </p:cNvSpPr>
                <p:nvPr/>
              </p:nvSpPr>
              <p:spPr bwMode="auto">
                <a:xfrm>
                  <a:off x="385" y="2659"/>
                  <a:ext cx="545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91" name="Group 165"/>
              <p:cNvGrpSpPr>
                <a:grpSpLocks/>
              </p:cNvGrpSpPr>
              <p:nvPr/>
            </p:nvGrpSpPr>
            <p:grpSpPr bwMode="auto">
              <a:xfrm>
                <a:off x="3391" y="2927"/>
                <a:ext cx="227" cy="46"/>
                <a:chOff x="250" y="2568"/>
                <a:chExt cx="680" cy="182"/>
              </a:xfrm>
            </p:grpSpPr>
            <p:sp>
              <p:nvSpPr>
                <p:cNvPr id="95" name="Oval 166"/>
                <p:cNvSpPr>
                  <a:spLocks noChangeArrowheads="1"/>
                </p:cNvSpPr>
                <p:nvPr/>
              </p:nvSpPr>
              <p:spPr bwMode="auto">
                <a:xfrm>
                  <a:off x="250" y="2568"/>
                  <a:ext cx="135" cy="182"/>
                </a:xfrm>
                <a:prstGeom prst="ellips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96" name="Line 167"/>
                <p:cNvSpPr>
                  <a:spLocks noChangeShapeType="1"/>
                </p:cNvSpPr>
                <p:nvPr/>
              </p:nvSpPr>
              <p:spPr bwMode="auto">
                <a:xfrm>
                  <a:off x="385" y="2659"/>
                  <a:ext cx="545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92" name="Line 168"/>
              <p:cNvSpPr>
                <a:spLocks noChangeShapeType="1"/>
              </p:cNvSpPr>
              <p:nvPr/>
            </p:nvSpPr>
            <p:spPr bwMode="auto">
              <a:xfrm>
                <a:off x="3391" y="2609"/>
                <a:ext cx="227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graphicFrame>
            <p:nvGraphicFramePr>
              <p:cNvPr id="93" name="Object 169"/>
              <p:cNvGraphicFramePr>
                <a:graphicFrameLocks noChangeAspect="1"/>
              </p:cNvGraphicFramePr>
              <p:nvPr/>
            </p:nvGraphicFramePr>
            <p:xfrm>
              <a:off x="3235" y="2708"/>
              <a:ext cx="141" cy="11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20543" name="Equation" r:id="rId30" imgW="253800" imgH="203040" progId="Equation.DSMT4">
                      <p:embed/>
                    </p:oleObj>
                  </mc:Choice>
                  <mc:Fallback>
                    <p:oleObj name="Equation" r:id="rId30" imgW="253800" imgH="203040" progId="Equation.DSMT4">
                      <p:embed/>
                      <p:pic>
                        <p:nvPicPr>
                          <p:cNvPr id="0" name="Picture 3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235" y="2708"/>
                            <a:ext cx="141" cy="114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94" name="Text Box 170"/>
              <p:cNvSpPr txBox="1">
                <a:spLocks noChangeArrowheads="1"/>
              </p:cNvSpPr>
              <p:nvPr/>
            </p:nvSpPr>
            <p:spPr bwMode="auto">
              <a:xfrm>
                <a:off x="2620" y="2655"/>
                <a:ext cx="499" cy="17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 sz="1200" dirty="0">
                    <a:solidFill>
                      <a:srgbClr val="800000"/>
                    </a:solidFill>
                    <a:effectLst/>
                    <a:latin typeface="Arial" pitchFamily="34" charset="0"/>
                  </a:rPr>
                  <a:t>74LS163</a:t>
                </a:r>
              </a:p>
            </p:txBody>
          </p:sp>
        </p:grpSp>
        <p:sp>
          <p:nvSpPr>
            <p:cNvPr id="65" name="Line 140"/>
            <p:cNvSpPr>
              <a:spLocks noChangeShapeType="1"/>
            </p:cNvSpPr>
            <p:nvPr/>
          </p:nvSpPr>
          <p:spPr bwMode="auto">
            <a:xfrm>
              <a:off x="3200903" y="2607267"/>
              <a:ext cx="0" cy="45661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" name="Line 141"/>
            <p:cNvSpPr>
              <a:spLocks noChangeShapeType="1"/>
            </p:cNvSpPr>
            <p:nvPr/>
          </p:nvSpPr>
          <p:spPr bwMode="auto">
            <a:xfrm>
              <a:off x="3597142" y="2607267"/>
              <a:ext cx="2189" cy="47506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99" name="矩形 98"/>
          <p:cNvSpPr/>
          <p:nvPr/>
        </p:nvSpPr>
        <p:spPr>
          <a:xfrm>
            <a:off x="0" y="0"/>
            <a:ext cx="421782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27</a:t>
            </a:r>
            <a:r>
              <a:rPr lang="zh-CN" altLang="en-US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：构建任意模值计数器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927049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/>
      <p:bldP spid="51" grpId="0"/>
      <p:bldP spid="58" grpId="0"/>
      <p:bldP spid="59" grpId="0"/>
      <p:bldP spid="60" grpId="0"/>
      <p:bldP spid="6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2" name="AutoShape 4" descr="C:\Users\hfutliujun\AppData\Roaming\Tencent\Users\350654676\QQ\WinTemp\RichOle\(1YHR_{OZC$S)HTNC8L4D.png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4933" name="AutoShape 5" descr="C:\Users\hfutliujun\AppData\Roaming\Tencent\Users\350654676\QQ\WinTemp\RichOle\(1YHR_{OZC$S)HTNC8L4D.png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2" name="Rectangle 14"/>
          <p:cNvSpPr>
            <a:spLocks noChangeArrowheads="1"/>
          </p:cNvSpPr>
          <p:nvPr/>
        </p:nvSpPr>
        <p:spPr bwMode="auto">
          <a:xfrm>
            <a:off x="152400" y="590550"/>
            <a:ext cx="8001000" cy="2554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sz="1600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计数器：</a:t>
            </a:r>
            <a:r>
              <a:rPr lang="en-US" altLang="zh-CN" sz="1600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74LS163 </a:t>
            </a:r>
            <a:r>
              <a:rPr lang="zh-CN" altLang="en-US" sz="1600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清零功能等效电路图</a:t>
            </a:r>
            <a:endParaRPr lang="en-US" altLang="zh-CN" sz="1600" b="1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400" b="1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dirty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685800" y="2876550"/>
            <a:ext cx="4191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latin typeface="微软雅黑" pitchFamily="34" charset="-122"/>
                <a:ea typeface="微软雅黑" pitchFamily="34" charset="-122"/>
              </a:rPr>
              <a:t>  </a:t>
            </a: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图 </a:t>
            </a:r>
            <a:r>
              <a:rPr lang="en-US" altLang="zh-CN" sz="1600" b="1" dirty="0">
                <a:latin typeface="微软雅黑" pitchFamily="34" charset="-122"/>
                <a:ea typeface="微软雅黑" pitchFamily="34" charset="-122"/>
              </a:rPr>
              <a:t>4 74LS163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清零功能等效电路图</a:t>
            </a:r>
          </a:p>
        </p:txBody>
      </p:sp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0" y="971550"/>
          <a:ext cx="5300662" cy="1874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396" name="Visio" r:id="rId2" imgW="5302518" imgH="1750219" progId="Visio.Drawing.11">
                  <p:embed/>
                </p:oleObj>
              </mc:Choice>
              <mc:Fallback>
                <p:oleObj name="Visio" r:id="rId2" imgW="5302518" imgH="1750219" progId="Visio.Drawing.11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971550"/>
                        <a:ext cx="5300662" cy="18748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5867400" y="895350"/>
            <a:ext cx="137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同步清零</a:t>
            </a:r>
          </a:p>
        </p:txBody>
      </p:sp>
      <p:graphicFrame>
        <p:nvGraphicFramePr>
          <p:cNvPr id="16" name="对象 15"/>
          <p:cNvGraphicFramePr>
            <a:graphicFrameLocks noChangeAspect="1"/>
          </p:cNvGraphicFramePr>
          <p:nvPr/>
        </p:nvGraphicFramePr>
        <p:xfrm>
          <a:off x="5486400" y="1201738"/>
          <a:ext cx="3578225" cy="2382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397" name="Visio" r:id="rId4" imgW="3374182" imgH="2242172" progId="Visio.Drawing.11">
                  <p:embed/>
                </p:oleObj>
              </mc:Choice>
              <mc:Fallback>
                <p:oleObj name="Visio" r:id="rId4" imgW="3374182" imgH="2242172" progId="Visio.Drawing.11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6400" y="1201738"/>
                        <a:ext cx="3578225" cy="23828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矩形 9"/>
          <p:cNvSpPr/>
          <p:nvPr/>
        </p:nvSpPr>
        <p:spPr>
          <a:xfrm>
            <a:off x="0" y="0"/>
            <a:ext cx="421782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27</a:t>
            </a:r>
            <a:r>
              <a:rPr lang="zh-CN" altLang="en-US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：构建任意模值计数器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943600" y="3486150"/>
            <a:ext cx="28194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latin typeface="微软雅黑" pitchFamily="34" charset="-122"/>
                <a:ea typeface="微软雅黑" pitchFamily="34" charset="-122"/>
              </a:rPr>
              <a:t>  </a:t>
            </a: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图 </a:t>
            </a:r>
            <a:r>
              <a:rPr lang="en-US" altLang="zh-CN" sz="1600" b="1" dirty="0">
                <a:latin typeface="微软雅黑" pitchFamily="34" charset="-122"/>
                <a:ea typeface="微软雅黑" pitchFamily="34" charset="-122"/>
              </a:rPr>
              <a:t>6 </a:t>
            </a: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同步清零波形图</a:t>
            </a:r>
          </a:p>
        </p:txBody>
      </p:sp>
    </p:spTree>
    <p:extLst>
      <p:ext uri="{BB962C8B-B14F-4D97-AF65-F5344CB8AC3E}">
        <p14:creationId xmlns:p14="http://schemas.microsoft.com/office/powerpoint/2010/main" val="4927049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2" name="AutoShape 4" descr="C:\Users\hfutliujun\AppData\Roaming\Tencent\Users\350654676\QQ\WinTemp\RichOle\(1YHR_{OZC$S)HTNC8L4D.png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4933" name="AutoShape 5" descr="C:\Users\hfutliujun\AppData\Roaming\Tencent\Users\350654676\QQ\WinTemp\RichOle\(1YHR_{OZC$S)HTNC8L4D.png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2" name="Rectangle 14"/>
          <p:cNvSpPr>
            <a:spLocks noChangeArrowheads="1"/>
          </p:cNvSpPr>
          <p:nvPr/>
        </p:nvSpPr>
        <p:spPr bwMode="auto">
          <a:xfrm>
            <a:off x="152400" y="590550"/>
            <a:ext cx="8001000" cy="2554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sz="1600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计数器：</a:t>
            </a:r>
            <a:r>
              <a:rPr lang="en-US" altLang="zh-CN" sz="1600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74LS163 </a:t>
            </a:r>
            <a:r>
              <a:rPr lang="zh-CN" altLang="en-US" sz="1600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清零功能等效电路图</a:t>
            </a:r>
            <a:endParaRPr lang="en-US" altLang="zh-CN" sz="1600" b="1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400" b="1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dirty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685800" y="2876550"/>
            <a:ext cx="4191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latin typeface="微软雅黑" pitchFamily="34" charset="-122"/>
                <a:ea typeface="微软雅黑" pitchFamily="34" charset="-122"/>
              </a:rPr>
              <a:t>  </a:t>
            </a: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图 </a:t>
            </a:r>
            <a:r>
              <a:rPr lang="en-US" altLang="zh-CN" sz="1600" b="1" dirty="0">
                <a:latin typeface="微软雅黑" pitchFamily="34" charset="-122"/>
                <a:ea typeface="微软雅黑" pitchFamily="34" charset="-122"/>
              </a:rPr>
              <a:t>4 74LS163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清零功能等效电路图</a:t>
            </a:r>
          </a:p>
        </p:txBody>
      </p:sp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0" y="1123950"/>
          <a:ext cx="5300662" cy="1874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418" name="Visio" r:id="rId2" imgW="5302518" imgH="1750219" progId="Visio.Drawing.11">
                  <p:embed/>
                </p:oleObj>
              </mc:Choice>
              <mc:Fallback>
                <p:oleObj name="Visio" r:id="rId2" imgW="5302518" imgH="1750219" progId="Visio.Drawing.11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1123950"/>
                        <a:ext cx="5300662" cy="18748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/>
        </p:nvGraphicFramePr>
        <p:xfrm>
          <a:off x="5180013" y="820738"/>
          <a:ext cx="3303587" cy="3203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419" name="Visio" r:id="rId4" imgW="3078968" imgH="3127688" progId="Visio.Drawing.11">
                  <p:embed/>
                </p:oleObj>
              </mc:Choice>
              <mc:Fallback>
                <p:oleObj name="Visio" r:id="rId4" imgW="3078968" imgH="3127688" progId="Visio.Drawing.11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0013" y="820738"/>
                        <a:ext cx="3303587" cy="32035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8001000" y="2495550"/>
            <a:ext cx="1143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同步清零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0" y="2876550"/>
            <a:ext cx="1143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异步清零</a:t>
            </a:r>
          </a:p>
        </p:txBody>
      </p:sp>
      <p:sp>
        <p:nvSpPr>
          <p:cNvPr id="13" name="矩形 12"/>
          <p:cNvSpPr/>
          <p:nvPr/>
        </p:nvSpPr>
        <p:spPr>
          <a:xfrm>
            <a:off x="0" y="0"/>
            <a:ext cx="421782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27</a:t>
            </a:r>
            <a:r>
              <a:rPr lang="zh-CN" altLang="en-US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：构建任意模值计数器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867400" y="3943350"/>
            <a:ext cx="28194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latin typeface="微软雅黑" pitchFamily="34" charset="-122"/>
                <a:ea typeface="微软雅黑" pitchFamily="34" charset="-122"/>
              </a:rPr>
              <a:t>  </a:t>
            </a: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图 </a:t>
            </a:r>
            <a:r>
              <a:rPr lang="en-US" altLang="zh-CN" sz="1600" b="1" dirty="0">
                <a:latin typeface="微软雅黑" pitchFamily="34" charset="-122"/>
                <a:ea typeface="微软雅黑" pitchFamily="34" charset="-122"/>
              </a:rPr>
              <a:t>7 </a:t>
            </a: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同步和异步清零波形图</a:t>
            </a:r>
          </a:p>
        </p:txBody>
      </p:sp>
    </p:spTree>
    <p:extLst>
      <p:ext uri="{BB962C8B-B14F-4D97-AF65-F5344CB8AC3E}">
        <p14:creationId xmlns:p14="http://schemas.microsoft.com/office/powerpoint/2010/main" val="4927049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2" name="AutoShape 4" descr="C:\Users\hfutliujun\AppData\Roaming\Tencent\Users\350654676\QQ\WinTemp\RichOle\(1YHR_{OZC$S)HTNC8L4D.png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4933" name="AutoShape 5" descr="C:\Users\hfutliujun\AppData\Roaming\Tencent\Users\350654676\QQ\WinTemp\RichOle\(1YHR_{OZC$S)HTNC8L4D.png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2" name="Rectangle 14"/>
          <p:cNvSpPr>
            <a:spLocks noChangeArrowheads="1"/>
          </p:cNvSpPr>
          <p:nvPr/>
        </p:nvSpPr>
        <p:spPr bwMode="auto">
          <a:xfrm>
            <a:off x="152400" y="590550"/>
            <a:ext cx="8001000" cy="2554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sz="1600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计数器：</a:t>
            </a:r>
            <a:r>
              <a:rPr lang="en-US" altLang="zh-CN" sz="1600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74LS163 </a:t>
            </a:r>
            <a:r>
              <a:rPr lang="zh-CN" altLang="en-US" sz="1600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清零功能等效电路图</a:t>
            </a:r>
            <a:endParaRPr lang="en-US" altLang="zh-CN" sz="1600" b="1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400" b="1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dirty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685800" y="2876550"/>
            <a:ext cx="4191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latin typeface="微软雅黑" pitchFamily="34" charset="-122"/>
                <a:ea typeface="微软雅黑" pitchFamily="34" charset="-122"/>
              </a:rPr>
              <a:t>  </a:t>
            </a: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图 </a:t>
            </a:r>
            <a:r>
              <a:rPr lang="en-US" altLang="zh-CN" sz="1600" b="1" dirty="0">
                <a:latin typeface="微软雅黑" pitchFamily="34" charset="-122"/>
                <a:ea typeface="微软雅黑" pitchFamily="34" charset="-122"/>
              </a:rPr>
              <a:t>4 74LS163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清零功能等效电路图</a:t>
            </a:r>
          </a:p>
        </p:txBody>
      </p:sp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457200" y="1352550"/>
          <a:ext cx="3886200" cy="13745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5634" name="Visio" r:id="rId2" imgW="5302518" imgH="1750219" progId="Visio.Drawing.11">
                  <p:embed/>
                </p:oleObj>
              </mc:Choice>
              <mc:Fallback>
                <p:oleObj name="Visio" r:id="rId2" imgW="5302518" imgH="1750219" progId="Visio.Drawing.11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1352550"/>
                        <a:ext cx="3886200" cy="137454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25636" name="Picture 4" descr="C:\Users\hfutliujun\AppData\Roaming\Tencent\Users\350654676\QQ\WinTemp\RichOle\KP`P3M_$03P5(J$~}0(~0SV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800600" y="590550"/>
            <a:ext cx="3048000" cy="3400425"/>
          </a:xfrm>
          <a:prstGeom prst="rect">
            <a:avLst/>
          </a:prstGeom>
          <a:noFill/>
        </p:spPr>
      </p:pic>
      <p:sp>
        <p:nvSpPr>
          <p:cNvPr id="86" name="TextBox 85"/>
          <p:cNvSpPr txBox="1"/>
          <p:nvPr/>
        </p:nvSpPr>
        <p:spPr>
          <a:xfrm>
            <a:off x="5257800" y="4171950"/>
            <a:ext cx="4191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latin typeface="微软雅黑" pitchFamily="34" charset="-122"/>
                <a:ea typeface="微软雅黑" pitchFamily="34" charset="-122"/>
              </a:rPr>
              <a:t>  </a:t>
            </a: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图 </a:t>
            </a:r>
            <a:r>
              <a:rPr lang="en-US" altLang="zh-CN" sz="1600" b="1" dirty="0">
                <a:latin typeface="微软雅黑" pitchFamily="34" charset="-122"/>
                <a:ea typeface="微软雅黑" pitchFamily="34" charset="-122"/>
              </a:rPr>
              <a:t>8 </a:t>
            </a: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异步清零功能</a:t>
            </a:r>
          </a:p>
        </p:txBody>
      </p:sp>
      <p:sp>
        <p:nvSpPr>
          <p:cNvPr id="87" name="Text Box 18"/>
          <p:cNvSpPr txBox="1">
            <a:spLocks noChangeArrowheads="1"/>
          </p:cNvSpPr>
          <p:nvPr/>
        </p:nvSpPr>
        <p:spPr bwMode="auto">
          <a:xfrm>
            <a:off x="4572000" y="1885950"/>
            <a:ext cx="381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 i="0" dirty="0">
                <a:solidFill>
                  <a:schemeClr val="accent6"/>
                </a:solidFill>
              </a:rPr>
              <a:t>0</a:t>
            </a:r>
          </a:p>
        </p:txBody>
      </p:sp>
      <p:sp>
        <p:nvSpPr>
          <p:cNvPr id="88" name="Text Box 18"/>
          <p:cNvSpPr txBox="1">
            <a:spLocks noChangeArrowheads="1"/>
          </p:cNvSpPr>
          <p:nvPr/>
        </p:nvSpPr>
        <p:spPr bwMode="auto">
          <a:xfrm>
            <a:off x="7772400" y="1809750"/>
            <a:ext cx="381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 i="0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89" name="Text Box 18"/>
          <p:cNvSpPr txBox="1">
            <a:spLocks noChangeArrowheads="1"/>
          </p:cNvSpPr>
          <p:nvPr/>
        </p:nvSpPr>
        <p:spPr bwMode="auto">
          <a:xfrm>
            <a:off x="5638800" y="590550"/>
            <a:ext cx="381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 i="0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90" name="Text Box 18"/>
          <p:cNvSpPr txBox="1">
            <a:spLocks noChangeArrowheads="1"/>
          </p:cNvSpPr>
          <p:nvPr/>
        </p:nvSpPr>
        <p:spPr bwMode="auto">
          <a:xfrm>
            <a:off x="6477000" y="2038350"/>
            <a:ext cx="381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 i="0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91" name="Text Box 18"/>
          <p:cNvSpPr txBox="1">
            <a:spLocks noChangeArrowheads="1"/>
          </p:cNvSpPr>
          <p:nvPr/>
        </p:nvSpPr>
        <p:spPr bwMode="auto">
          <a:xfrm>
            <a:off x="6781800" y="2038350"/>
            <a:ext cx="381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 i="0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92" name="Text Box 18"/>
          <p:cNvSpPr txBox="1">
            <a:spLocks noChangeArrowheads="1"/>
          </p:cNvSpPr>
          <p:nvPr/>
        </p:nvSpPr>
        <p:spPr bwMode="auto">
          <a:xfrm>
            <a:off x="7010400" y="590550"/>
            <a:ext cx="381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 i="0" dirty="0">
                <a:solidFill>
                  <a:schemeClr val="accent6"/>
                </a:solidFill>
              </a:rPr>
              <a:t>0</a:t>
            </a:r>
          </a:p>
        </p:txBody>
      </p:sp>
      <p:sp>
        <p:nvSpPr>
          <p:cNvPr id="16" name="矩形 15"/>
          <p:cNvSpPr/>
          <p:nvPr/>
        </p:nvSpPr>
        <p:spPr>
          <a:xfrm>
            <a:off x="0" y="0"/>
            <a:ext cx="421782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27</a:t>
            </a:r>
            <a:r>
              <a:rPr lang="zh-CN" altLang="en-US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：构建任意模值计数器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638800" y="1504950"/>
            <a:ext cx="609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6600CC"/>
                </a:solidFill>
              </a:rPr>
              <a:t>1</a:t>
            </a:r>
            <a:endParaRPr lang="zh-CN" altLang="en-US" sz="2000" b="1" dirty="0">
              <a:solidFill>
                <a:srgbClr val="6600CC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705600" y="1485840"/>
            <a:ext cx="609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6600CC"/>
                </a:solidFill>
              </a:rPr>
              <a:t>2</a:t>
            </a:r>
            <a:endParaRPr lang="zh-CN" altLang="en-US" sz="2000" b="1" dirty="0">
              <a:solidFill>
                <a:srgbClr val="6600CC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837220" y="2550970"/>
            <a:ext cx="609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6600CC"/>
                </a:solidFill>
              </a:rPr>
              <a:t>3</a:t>
            </a:r>
            <a:endParaRPr lang="zh-CN" altLang="en-US" sz="2000" b="1" dirty="0">
              <a:solidFill>
                <a:srgbClr val="6600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27049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" grpId="0"/>
      <p:bldP spid="88" grpId="0"/>
      <p:bldP spid="89" grpId="0"/>
      <p:bldP spid="90" grpId="0"/>
      <p:bldP spid="91" grpId="0"/>
      <p:bldP spid="9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2" name="AutoShape 4" descr="C:\Users\hfutliujun\AppData\Roaming\Tencent\Users\350654676\QQ\WinTemp\RichOle\(1YHR_{OZC$S)HTNC8L4D.png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4933" name="AutoShape 5" descr="C:\Users\hfutliujun\AppData\Roaming\Tencent\Users\350654676\QQ\WinTemp\RichOle\(1YHR_{OZC$S)HTNC8L4D.png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2" name="Rectangle 14"/>
          <p:cNvSpPr>
            <a:spLocks noChangeArrowheads="1"/>
          </p:cNvSpPr>
          <p:nvPr/>
        </p:nvSpPr>
        <p:spPr bwMode="auto">
          <a:xfrm>
            <a:off x="152400" y="590550"/>
            <a:ext cx="8001000" cy="29238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sz="1600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计数器：</a:t>
            </a:r>
            <a:endParaRPr lang="en-US" altLang="zh-CN" sz="1600" b="1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r>
              <a:rPr lang="en-US" altLang="zh-CN" sz="1600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74LS163</a:t>
            </a:r>
          </a:p>
          <a:p>
            <a:pPr marL="0" lvl="1">
              <a:lnSpc>
                <a:spcPct val="150000"/>
              </a:lnSpc>
            </a:pPr>
            <a:endParaRPr lang="en-US" altLang="zh-CN" sz="1400" b="1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dirty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1828800" y="4476750"/>
            <a:ext cx="3124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latin typeface="微软雅黑" pitchFamily="34" charset="-122"/>
                <a:ea typeface="微软雅黑" pitchFamily="34" charset="-122"/>
              </a:rPr>
              <a:t>  </a:t>
            </a: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图 </a:t>
            </a:r>
            <a:r>
              <a:rPr lang="en-US" altLang="zh-CN" sz="1600" b="1" dirty="0">
                <a:latin typeface="微软雅黑" pitchFamily="34" charset="-122"/>
                <a:ea typeface="微软雅黑" pitchFamily="34" charset="-122"/>
              </a:rPr>
              <a:t>2 </a:t>
            </a: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计数器</a:t>
            </a:r>
            <a:r>
              <a:rPr lang="en-US" altLang="zh-CN" sz="1600" b="1" dirty="0">
                <a:latin typeface="微软雅黑" pitchFamily="34" charset="-122"/>
                <a:ea typeface="微软雅黑" pitchFamily="34" charset="-122"/>
              </a:rPr>
              <a:t>74LS163</a:t>
            </a: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电路图</a:t>
            </a:r>
          </a:p>
        </p:txBody>
      </p:sp>
      <p:grpSp>
        <p:nvGrpSpPr>
          <p:cNvPr id="2" name="组合 47"/>
          <p:cNvGrpSpPr/>
          <p:nvPr/>
        </p:nvGrpSpPr>
        <p:grpSpPr>
          <a:xfrm>
            <a:off x="1371600" y="590550"/>
            <a:ext cx="3706823" cy="3873335"/>
            <a:chOff x="2057400" y="590550"/>
            <a:chExt cx="3706823" cy="3873335"/>
          </a:xfrm>
        </p:grpSpPr>
        <p:pic>
          <p:nvPicPr>
            <p:cNvPr id="46" name="Picture 4" descr="R9BBD]6VME[3AXJFM[57}3L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2057400" y="590550"/>
              <a:ext cx="3706823" cy="37417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graphicFrame>
          <p:nvGraphicFramePr>
            <p:cNvPr id="47" name="Object 210"/>
            <p:cNvGraphicFramePr>
              <a:graphicFrameLocks noChangeAspect="1"/>
            </p:cNvGraphicFramePr>
            <p:nvPr/>
          </p:nvGraphicFramePr>
          <p:xfrm>
            <a:off x="2667000" y="4171950"/>
            <a:ext cx="304800" cy="2919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7442" name="Equation" r:id="rId3" imgW="215640" imgH="215640" progId="Equation.DSMT4">
                    <p:embed/>
                  </p:oleObj>
                </mc:Choice>
                <mc:Fallback>
                  <p:oleObj name="Equation" r:id="rId3" imgW="215640" imgH="215640" progId="Equation.DSMT4">
                    <p:embed/>
                    <p:pic>
                      <p:nvPicPr>
                        <p:cNvPr id="0" name="Picture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67000" y="4171950"/>
                          <a:ext cx="304800" cy="29193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3" name="Text Box 18"/>
          <p:cNvSpPr txBox="1">
            <a:spLocks noChangeArrowheads="1"/>
          </p:cNvSpPr>
          <p:nvPr/>
        </p:nvSpPr>
        <p:spPr bwMode="auto">
          <a:xfrm>
            <a:off x="2187129" y="4156836"/>
            <a:ext cx="40367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 i="0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14" name="Text Box 18"/>
          <p:cNvSpPr txBox="1">
            <a:spLocks noChangeArrowheads="1"/>
          </p:cNvSpPr>
          <p:nvPr/>
        </p:nvSpPr>
        <p:spPr bwMode="auto">
          <a:xfrm>
            <a:off x="1676400" y="2343150"/>
            <a:ext cx="3048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 i="0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15" name="Text Box 18"/>
          <p:cNvSpPr txBox="1">
            <a:spLocks noChangeArrowheads="1"/>
          </p:cNvSpPr>
          <p:nvPr/>
        </p:nvSpPr>
        <p:spPr bwMode="auto">
          <a:xfrm>
            <a:off x="1981200" y="3028950"/>
            <a:ext cx="381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 i="0" dirty="0">
                <a:solidFill>
                  <a:schemeClr val="accent6"/>
                </a:solidFill>
              </a:rPr>
              <a:t>0</a:t>
            </a:r>
          </a:p>
        </p:txBody>
      </p:sp>
      <p:sp>
        <p:nvSpPr>
          <p:cNvPr id="16" name="Text Box 18"/>
          <p:cNvSpPr txBox="1">
            <a:spLocks noChangeArrowheads="1"/>
          </p:cNvSpPr>
          <p:nvPr/>
        </p:nvSpPr>
        <p:spPr bwMode="auto">
          <a:xfrm>
            <a:off x="1752600" y="3028950"/>
            <a:ext cx="381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 i="0" dirty="0">
                <a:solidFill>
                  <a:schemeClr val="accent6"/>
                </a:solidFill>
              </a:rPr>
              <a:t>0</a:t>
            </a:r>
          </a:p>
        </p:txBody>
      </p:sp>
      <p:cxnSp>
        <p:nvCxnSpPr>
          <p:cNvPr id="17" name="直接连接符 16"/>
          <p:cNvCxnSpPr/>
          <p:nvPr/>
        </p:nvCxnSpPr>
        <p:spPr>
          <a:xfrm>
            <a:off x="2057400" y="2396679"/>
            <a:ext cx="2209800" cy="0"/>
          </a:xfrm>
          <a:prstGeom prst="line">
            <a:avLst/>
          </a:prstGeom>
          <a:ln w="254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/>
        </p:nvCxnSpPr>
        <p:spPr>
          <a:xfrm flipV="1">
            <a:off x="1866900" y="2304735"/>
            <a:ext cx="2171700" cy="15114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8" name="组合 87"/>
          <p:cNvGrpSpPr/>
          <p:nvPr/>
        </p:nvGrpSpPr>
        <p:grpSpPr>
          <a:xfrm>
            <a:off x="2141157" y="2023236"/>
            <a:ext cx="2316858" cy="322891"/>
            <a:chOff x="2141157" y="2023236"/>
            <a:chExt cx="2316858" cy="322891"/>
          </a:xfrm>
        </p:grpSpPr>
        <p:sp>
          <p:nvSpPr>
            <p:cNvPr id="26" name="Text Box 18"/>
            <p:cNvSpPr txBox="1">
              <a:spLocks noChangeArrowheads="1"/>
            </p:cNvSpPr>
            <p:nvPr/>
          </p:nvSpPr>
          <p:spPr bwMode="auto">
            <a:xfrm>
              <a:off x="2141157" y="2023236"/>
              <a:ext cx="304800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400" b="1" i="0" dirty="0">
                  <a:solidFill>
                    <a:schemeClr val="accent6"/>
                  </a:solidFill>
                </a:rPr>
                <a:t>A</a:t>
              </a:r>
            </a:p>
          </p:txBody>
        </p:sp>
        <p:sp>
          <p:nvSpPr>
            <p:cNvPr id="20" name="Text Box 18"/>
            <p:cNvSpPr txBox="1">
              <a:spLocks noChangeArrowheads="1"/>
            </p:cNvSpPr>
            <p:nvPr/>
          </p:nvSpPr>
          <p:spPr bwMode="auto">
            <a:xfrm>
              <a:off x="2347086" y="2030793"/>
              <a:ext cx="304800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400" b="1" i="0" dirty="0">
                  <a:solidFill>
                    <a:schemeClr val="accent6"/>
                  </a:solidFill>
                </a:rPr>
                <a:t>0</a:t>
              </a:r>
            </a:p>
          </p:txBody>
        </p:sp>
        <p:sp>
          <p:nvSpPr>
            <p:cNvPr id="22" name="Text Box 18"/>
            <p:cNvSpPr txBox="1">
              <a:spLocks noChangeArrowheads="1"/>
            </p:cNvSpPr>
            <p:nvPr/>
          </p:nvSpPr>
          <p:spPr bwMode="auto">
            <a:xfrm>
              <a:off x="2758314" y="2030793"/>
              <a:ext cx="304800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400" b="1" i="0" dirty="0">
                  <a:solidFill>
                    <a:schemeClr val="accent6"/>
                  </a:solidFill>
                </a:rPr>
                <a:t>B</a:t>
              </a:r>
            </a:p>
          </p:txBody>
        </p:sp>
        <p:sp>
          <p:nvSpPr>
            <p:cNvPr id="23" name="Text Box 18"/>
            <p:cNvSpPr txBox="1">
              <a:spLocks noChangeArrowheads="1"/>
            </p:cNvSpPr>
            <p:nvPr/>
          </p:nvSpPr>
          <p:spPr bwMode="auto">
            <a:xfrm>
              <a:off x="2964243" y="2038350"/>
              <a:ext cx="304800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400" b="1" i="0" dirty="0">
                  <a:solidFill>
                    <a:schemeClr val="accent6"/>
                  </a:solidFill>
                </a:rPr>
                <a:t>0</a:t>
              </a:r>
            </a:p>
          </p:txBody>
        </p:sp>
        <p:sp>
          <p:nvSpPr>
            <p:cNvPr id="24" name="Text Box 18"/>
            <p:cNvSpPr txBox="1">
              <a:spLocks noChangeArrowheads="1"/>
            </p:cNvSpPr>
            <p:nvPr/>
          </p:nvSpPr>
          <p:spPr bwMode="auto">
            <a:xfrm>
              <a:off x="3352800" y="2030793"/>
              <a:ext cx="304800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400" b="1" i="0" dirty="0">
                  <a:solidFill>
                    <a:schemeClr val="accent6"/>
                  </a:solidFill>
                </a:rPr>
                <a:t>C</a:t>
              </a:r>
            </a:p>
          </p:txBody>
        </p:sp>
        <p:sp>
          <p:nvSpPr>
            <p:cNvPr id="25" name="Text Box 18"/>
            <p:cNvSpPr txBox="1">
              <a:spLocks noChangeArrowheads="1"/>
            </p:cNvSpPr>
            <p:nvPr/>
          </p:nvSpPr>
          <p:spPr bwMode="auto">
            <a:xfrm>
              <a:off x="3558729" y="2038350"/>
              <a:ext cx="304800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400" b="1" i="0" dirty="0">
                  <a:solidFill>
                    <a:schemeClr val="accent6"/>
                  </a:solidFill>
                </a:rPr>
                <a:t>0</a:t>
              </a:r>
            </a:p>
          </p:txBody>
        </p:sp>
        <p:sp>
          <p:nvSpPr>
            <p:cNvPr id="27" name="Text Box 18"/>
            <p:cNvSpPr txBox="1">
              <a:spLocks noChangeArrowheads="1"/>
            </p:cNvSpPr>
            <p:nvPr/>
          </p:nvSpPr>
          <p:spPr bwMode="auto">
            <a:xfrm>
              <a:off x="3947286" y="2030793"/>
              <a:ext cx="304800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400" b="1" i="0" dirty="0">
                  <a:solidFill>
                    <a:schemeClr val="accent6"/>
                  </a:solidFill>
                </a:rPr>
                <a:t>D</a:t>
              </a:r>
            </a:p>
          </p:txBody>
        </p:sp>
        <p:sp>
          <p:nvSpPr>
            <p:cNvPr id="28" name="Text Box 18"/>
            <p:cNvSpPr txBox="1">
              <a:spLocks noChangeArrowheads="1"/>
            </p:cNvSpPr>
            <p:nvPr/>
          </p:nvSpPr>
          <p:spPr bwMode="auto">
            <a:xfrm>
              <a:off x="4153215" y="2038350"/>
              <a:ext cx="304800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400" b="1" i="0" dirty="0">
                  <a:solidFill>
                    <a:schemeClr val="accent6"/>
                  </a:solidFill>
                </a:rPr>
                <a:t>0</a:t>
              </a:r>
            </a:p>
          </p:txBody>
        </p:sp>
      </p:grpSp>
      <p:sp>
        <p:nvSpPr>
          <p:cNvPr id="29" name="Text Box 18"/>
          <p:cNvSpPr txBox="1">
            <a:spLocks noChangeArrowheads="1"/>
          </p:cNvSpPr>
          <p:nvPr/>
        </p:nvSpPr>
        <p:spPr bwMode="auto">
          <a:xfrm>
            <a:off x="2232471" y="1748664"/>
            <a:ext cx="304800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400" b="1" i="0" dirty="0">
                <a:solidFill>
                  <a:schemeClr val="accent6"/>
                </a:solidFill>
              </a:rPr>
              <a:t>A</a:t>
            </a:r>
          </a:p>
        </p:txBody>
      </p:sp>
      <p:sp>
        <p:nvSpPr>
          <p:cNvPr id="30" name="Text Box 18"/>
          <p:cNvSpPr txBox="1">
            <a:spLocks noChangeArrowheads="1"/>
          </p:cNvSpPr>
          <p:nvPr/>
        </p:nvSpPr>
        <p:spPr bwMode="auto">
          <a:xfrm>
            <a:off x="2842071" y="1756221"/>
            <a:ext cx="304800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400" b="1" i="0" dirty="0">
                <a:solidFill>
                  <a:schemeClr val="accent6"/>
                </a:solidFill>
              </a:rPr>
              <a:t>B</a:t>
            </a:r>
          </a:p>
        </p:txBody>
      </p:sp>
      <p:sp>
        <p:nvSpPr>
          <p:cNvPr id="31" name="Text Box 18"/>
          <p:cNvSpPr txBox="1">
            <a:spLocks noChangeArrowheads="1"/>
          </p:cNvSpPr>
          <p:nvPr/>
        </p:nvSpPr>
        <p:spPr bwMode="auto">
          <a:xfrm>
            <a:off x="3436557" y="1741107"/>
            <a:ext cx="304800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400" b="1" i="0" dirty="0">
                <a:solidFill>
                  <a:schemeClr val="accent6"/>
                </a:solidFill>
              </a:rPr>
              <a:t>C</a:t>
            </a:r>
          </a:p>
        </p:txBody>
      </p:sp>
      <p:sp>
        <p:nvSpPr>
          <p:cNvPr id="32" name="Text Box 18"/>
          <p:cNvSpPr txBox="1">
            <a:spLocks noChangeArrowheads="1"/>
          </p:cNvSpPr>
          <p:nvPr/>
        </p:nvSpPr>
        <p:spPr bwMode="auto">
          <a:xfrm>
            <a:off x="4046157" y="1748664"/>
            <a:ext cx="304800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400" b="1" i="0" dirty="0">
                <a:solidFill>
                  <a:schemeClr val="accent6"/>
                </a:solidFill>
              </a:rPr>
              <a:t>D</a:t>
            </a:r>
          </a:p>
        </p:txBody>
      </p:sp>
      <p:pic>
        <p:nvPicPr>
          <p:cNvPr id="317457" name="Picture 17" descr="C:\Users\hfutliujun\AppData\Roaming\Tencent\Users\350654676\QQ\WinTemp\RichOle\NL$7X8Z16]T_HT2FO}(5][0.pn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334000" y="742950"/>
            <a:ext cx="3276600" cy="633628"/>
          </a:xfrm>
          <a:prstGeom prst="rect">
            <a:avLst/>
          </a:prstGeom>
          <a:noFill/>
        </p:spPr>
      </p:pic>
      <p:sp>
        <p:nvSpPr>
          <p:cNvPr id="86" name="Text Box 18"/>
          <p:cNvSpPr txBox="1">
            <a:spLocks noChangeArrowheads="1"/>
          </p:cNvSpPr>
          <p:nvPr/>
        </p:nvSpPr>
        <p:spPr bwMode="auto">
          <a:xfrm>
            <a:off x="1752600" y="3486150"/>
            <a:ext cx="381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 i="0" dirty="0">
                <a:solidFill>
                  <a:schemeClr val="accent6"/>
                </a:solidFill>
              </a:rPr>
              <a:t>0</a:t>
            </a:r>
          </a:p>
        </p:txBody>
      </p:sp>
      <p:sp>
        <p:nvSpPr>
          <p:cNvPr id="87" name="Text Box 18"/>
          <p:cNvSpPr txBox="1">
            <a:spLocks noChangeArrowheads="1"/>
          </p:cNvSpPr>
          <p:nvPr/>
        </p:nvSpPr>
        <p:spPr bwMode="auto">
          <a:xfrm>
            <a:off x="1905000" y="2419350"/>
            <a:ext cx="381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 i="0" dirty="0">
                <a:solidFill>
                  <a:schemeClr val="accent6"/>
                </a:solidFill>
              </a:rPr>
              <a:t>0</a:t>
            </a:r>
          </a:p>
        </p:txBody>
      </p:sp>
      <p:sp>
        <p:nvSpPr>
          <p:cNvPr id="33" name="矩形 32"/>
          <p:cNvSpPr/>
          <p:nvPr/>
        </p:nvSpPr>
        <p:spPr>
          <a:xfrm>
            <a:off x="0" y="0"/>
            <a:ext cx="421782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27</a:t>
            </a:r>
            <a:r>
              <a:rPr lang="zh-CN" altLang="en-US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：构建任意模值计数器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927049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5" grpId="0"/>
      <p:bldP spid="16" grpId="0"/>
      <p:bldP spid="29" grpId="0"/>
      <p:bldP spid="30" grpId="0"/>
      <p:bldP spid="31" grpId="0"/>
      <p:bldP spid="32" grpId="0"/>
      <p:bldP spid="86" grpId="0"/>
      <p:bldP spid="8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2" name="AutoShape 4" descr="C:\Users\hfutliujun\AppData\Roaming\Tencent\Users\350654676\QQ\WinTemp\RichOle\(1YHR_{OZC$S)HTNC8L4D.png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4933" name="AutoShape 5" descr="C:\Users\hfutliujun\AppData\Roaming\Tencent\Users\350654676\QQ\WinTemp\RichOle\(1YHR_{OZC$S)HTNC8L4D.png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2" name="Rectangle 14"/>
          <p:cNvSpPr>
            <a:spLocks noChangeArrowheads="1"/>
          </p:cNvSpPr>
          <p:nvPr/>
        </p:nvSpPr>
        <p:spPr bwMode="auto">
          <a:xfrm>
            <a:off x="152400" y="590550"/>
            <a:ext cx="8001000" cy="2554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sz="1600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计数器：</a:t>
            </a:r>
            <a:r>
              <a:rPr lang="en-US" altLang="zh-CN" sz="1600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74LS163 </a:t>
            </a:r>
            <a:r>
              <a:rPr lang="zh-CN" altLang="en-US" sz="1600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预置功能等效电路图</a:t>
            </a:r>
            <a:endParaRPr lang="en-US" altLang="zh-CN" sz="1600" b="1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400" b="1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dirty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685800" y="2800350"/>
            <a:ext cx="4191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latin typeface="微软雅黑" pitchFamily="34" charset="-122"/>
                <a:ea typeface="微软雅黑" pitchFamily="34" charset="-122"/>
              </a:rPr>
              <a:t>  </a:t>
            </a: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图 </a:t>
            </a:r>
            <a:r>
              <a:rPr lang="en-US" altLang="zh-CN" sz="1600" b="1" dirty="0">
                <a:latin typeface="微软雅黑" pitchFamily="34" charset="-122"/>
                <a:ea typeface="微软雅黑" pitchFamily="34" charset="-122"/>
              </a:rPr>
              <a:t>9 74LS163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清预置功能等效电路图</a:t>
            </a:r>
          </a:p>
        </p:txBody>
      </p:sp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0" y="1047750"/>
          <a:ext cx="5300662" cy="1874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562" name="Visio" r:id="rId2" imgW="5302518" imgH="1750219" progId="Visio.Drawing.11">
                  <p:embed/>
                </p:oleObj>
              </mc:Choice>
              <mc:Fallback>
                <p:oleObj name="Visio" r:id="rId2" imgW="5302518" imgH="1750219" progId="Visio.Drawing.11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1047750"/>
                        <a:ext cx="5300662" cy="18748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Box 18"/>
          <p:cNvSpPr txBox="1">
            <a:spLocks noChangeArrowheads="1"/>
          </p:cNvSpPr>
          <p:nvPr/>
        </p:nvSpPr>
        <p:spPr bwMode="auto">
          <a:xfrm>
            <a:off x="8305800" y="1733550"/>
            <a:ext cx="381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 i="0" dirty="0">
                <a:solidFill>
                  <a:schemeClr val="accent6"/>
                </a:solidFill>
              </a:rPr>
              <a:t>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38800" y="3562350"/>
            <a:ext cx="28194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latin typeface="微软雅黑" pitchFamily="34" charset="-122"/>
                <a:ea typeface="微软雅黑" pitchFamily="34" charset="-122"/>
              </a:rPr>
              <a:t>  </a:t>
            </a: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图 </a:t>
            </a:r>
            <a:r>
              <a:rPr lang="en-US" altLang="zh-CN" sz="1600" b="1" dirty="0">
                <a:latin typeface="微软雅黑" pitchFamily="34" charset="-122"/>
                <a:ea typeface="微软雅黑" pitchFamily="34" charset="-122"/>
              </a:rPr>
              <a:t>10 </a:t>
            </a: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计数器</a:t>
            </a:r>
            <a:r>
              <a:rPr lang="en-US" altLang="zh-CN" sz="1600" b="1" dirty="0">
                <a:latin typeface="微软雅黑" pitchFamily="34" charset="-122"/>
                <a:ea typeface="微软雅黑" pitchFamily="34" charset="-122"/>
              </a:rPr>
              <a:t>74LS163</a:t>
            </a: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预置</a:t>
            </a:r>
          </a:p>
        </p:txBody>
      </p:sp>
      <p:grpSp>
        <p:nvGrpSpPr>
          <p:cNvPr id="12" name="组合 11"/>
          <p:cNvGrpSpPr/>
          <p:nvPr/>
        </p:nvGrpSpPr>
        <p:grpSpPr>
          <a:xfrm>
            <a:off x="5181600" y="2114550"/>
            <a:ext cx="450850" cy="257175"/>
            <a:chOff x="4154177" y="2876550"/>
            <a:chExt cx="450850" cy="257175"/>
          </a:xfrm>
        </p:grpSpPr>
        <p:sp>
          <p:nvSpPr>
            <p:cNvPr id="13" name="Line 218"/>
            <p:cNvSpPr>
              <a:spLocks noChangeShapeType="1"/>
            </p:cNvSpPr>
            <p:nvPr/>
          </p:nvSpPr>
          <p:spPr bwMode="auto">
            <a:xfrm>
              <a:off x="4154177" y="3133725"/>
              <a:ext cx="11302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Line 219"/>
            <p:cNvSpPr>
              <a:spLocks noChangeShapeType="1"/>
            </p:cNvSpPr>
            <p:nvPr/>
          </p:nvSpPr>
          <p:spPr bwMode="auto">
            <a:xfrm>
              <a:off x="4492004" y="3133725"/>
              <a:ext cx="11302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Line 220"/>
            <p:cNvSpPr>
              <a:spLocks noChangeShapeType="1"/>
            </p:cNvSpPr>
            <p:nvPr/>
          </p:nvSpPr>
          <p:spPr bwMode="auto">
            <a:xfrm flipV="1">
              <a:off x="4267200" y="2876550"/>
              <a:ext cx="0" cy="25717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Line 221"/>
            <p:cNvSpPr>
              <a:spLocks noChangeShapeType="1"/>
            </p:cNvSpPr>
            <p:nvPr/>
          </p:nvSpPr>
          <p:spPr bwMode="auto">
            <a:xfrm>
              <a:off x="4492004" y="2876550"/>
              <a:ext cx="0" cy="25717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Line 222"/>
            <p:cNvSpPr>
              <a:spLocks noChangeShapeType="1"/>
            </p:cNvSpPr>
            <p:nvPr/>
          </p:nvSpPr>
          <p:spPr bwMode="auto">
            <a:xfrm>
              <a:off x="4267200" y="2876550"/>
              <a:ext cx="22480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1" name="Text Box 18"/>
          <p:cNvSpPr txBox="1">
            <a:spLocks noChangeArrowheads="1"/>
          </p:cNvSpPr>
          <p:nvPr/>
        </p:nvSpPr>
        <p:spPr bwMode="auto">
          <a:xfrm>
            <a:off x="6468813" y="2800350"/>
            <a:ext cx="381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 i="0" dirty="0">
                <a:solidFill>
                  <a:schemeClr val="accent6"/>
                </a:solidFill>
              </a:rPr>
              <a:t>0</a:t>
            </a:r>
          </a:p>
        </p:txBody>
      </p:sp>
      <p:sp>
        <p:nvSpPr>
          <p:cNvPr id="22" name="Text Box 18"/>
          <p:cNvSpPr txBox="1">
            <a:spLocks noChangeArrowheads="1"/>
          </p:cNvSpPr>
          <p:nvPr/>
        </p:nvSpPr>
        <p:spPr bwMode="auto">
          <a:xfrm>
            <a:off x="6781800" y="2800350"/>
            <a:ext cx="381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 i="0" dirty="0">
                <a:solidFill>
                  <a:schemeClr val="accent6"/>
                </a:solidFill>
              </a:rPr>
              <a:t>0</a:t>
            </a:r>
          </a:p>
        </p:txBody>
      </p:sp>
      <p:sp>
        <p:nvSpPr>
          <p:cNvPr id="23" name="Text Box 18"/>
          <p:cNvSpPr txBox="1">
            <a:spLocks noChangeArrowheads="1"/>
          </p:cNvSpPr>
          <p:nvPr/>
        </p:nvSpPr>
        <p:spPr bwMode="auto">
          <a:xfrm>
            <a:off x="7086600" y="2800350"/>
            <a:ext cx="381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 i="0" dirty="0">
                <a:solidFill>
                  <a:schemeClr val="accent6"/>
                </a:solidFill>
              </a:rPr>
              <a:t>0</a:t>
            </a:r>
          </a:p>
        </p:txBody>
      </p:sp>
      <p:sp>
        <p:nvSpPr>
          <p:cNvPr id="24" name="Text Box 18"/>
          <p:cNvSpPr txBox="1">
            <a:spLocks noChangeArrowheads="1"/>
          </p:cNvSpPr>
          <p:nvPr/>
        </p:nvSpPr>
        <p:spPr bwMode="auto">
          <a:xfrm>
            <a:off x="7391400" y="2800350"/>
            <a:ext cx="381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 i="0" dirty="0">
                <a:solidFill>
                  <a:schemeClr val="accent6"/>
                </a:solidFill>
              </a:rPr>
              <a:t>0</a:t>
            </a:r>
          </a:p>
        </p:txBody>
      </p:sp>
      <p:grpSp>
        <p:nvGrpSpPr>
          <p:cNvPr id="25" name="组合 24"/>
          <p:cNvGrpSpPr/>
          <p:nvPr/>
        </p:nvGrpSpPr>
        <p:grpSpPr>
          <a:xfrm>
            <a:off x="5677215" y="1237935"/>
            <a:ext cx="2667000" cy="1524000"/>
            <a:chOff x="1977326" y="926909"/>
            <a:chExt cx="3474212" cy="2155424"/>
          </a:xfrm>
        </p:grpSpPr>
        <p:grpSp>
          <p:nvGrpSpPr>
            <p:cNvPr id="26" name="Group 136"/>
            <p:cNvGrpSpPr>
              <a:grpSpLocks/>
            </p:cNvGrpSpPr>
            <p:nvPr/>
          </p:nvGrpSpPr>
          <p:grpSpPr bwMode="auto">
            <a:xfrm>
              <a:off x="1977326" y="926909"/>
              <a:ext cx="3474212" cy="2149328"/>
              <a:chOff x="2031" y="2338"/>
              <a:chExt cx="1587" cy="932"/>
            </a:xfrm>
          </p:grpSpPr>
          <p:sp>
            <p:nvSpPr>
              <p:cNvPr id="29" name="Rectangle 137"/>
              <p:cNvSpPr>
                <a:spLocks noChangeArrowheads="1"/>
              </p:cNvSpPr>
              <p:nvPr/>
            </p:nvSpPr>
            <p:spPr bwMode="auto">
              <a:xfrm>
                <a:off x="2303" y="2474"/>
                <a:ext cx="1089" cy="590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0" name="Line 140"/>
              <p:cNvSpPr>
                <a:spLocks noChangeShapeType="1"/>
              </p:cNvSpPr>
              <p:nvPr/>
            </p:nvSpPr>
            <p:spPr bwMode="auto">
              <a:xfrm>
                <a:off x="2938" y="3064"/>
                <a:ext cx="0" cy="19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" name="Line 141"/>
              <p:cNvSpPr>
                <a:spLocks noChangeShapeType="1"/>
              </p:cNvSpPr>
              <p:nvPr/>
            </p:nvSpPr>
            <p:spPr bwMode="auto">
              <a:xfrm>
                <a:off x="3119" y="3064"/>
                <a:ext cx="1" cy="20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" name="Line 142"/>
              <p:cNvSpPr>
                <a:spLocks noChangeShapeType="1"/>
              </p:cNvSpPr>
              <p:nvPr/>
            </p:nvSpPr>
            <p:spPr bwMode="auto">
              <a:xfrm>
                <a:off x="2575" y="2338"/>
                <a:ext cx="0" cy="137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" name="Line 143"/>
              <p:cNvSpPr>
                <a:spLocks noChangeShapeType="1"/>
              </p:cNvSpPr>
              <p:nvPr/>
            </p:nvSpPr>
            <p:spPr bwMode="auto">
              <a:xfrm>
                <a:off x="2756" y="2338"/>
                <a:ext cx="0" cy="137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4" name="Line 144"/>
              <p:cNvSpPr>
                <a:spLocks noChangeShapeType="1"/>
              </p:cNvSpPr>
              <p:nvPr/>
            </p:nvSpPr>
            <p:spPr bwMode="auto">
              <a:xfrm>
                <a:off x="2938" y="2338"/>
                <a:ext cx="0" cy="13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5" name="Line 145"/>
              <p:cNvSpPr>
                <a:spLocks noChangeShapeType="1"/>
              </p:cNvSpPr>
              <p:nvPr/>
            </p:nvSpPr>
            <p:spPr bwMode="auto">
              <a:xfrm>
                <a:off x="3119" y="2338"/>
                <a:ext cx="0" cy="137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graphicFrame>
            <p:nvGraphicFramePr>
              <p:cNvPr id="36" name="Object 146"/>
              <p:cNvGraphicFramePr>
                <a:graphicFrameLocks noChangeAspect="1"/>
              </p:cNvGraphicFramePr>
              <p:nvPr/>
            </p:nvGraphicFramePr>
            <p:xfrm>
              <a:off x="2332" y="2554"/>
              <a:ext cx="143" cy="10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22564" name="Equation" r:id="rId4" imgW="228600" imgH="164880" progId="Equation.DSMT4">
                      <p:embed/>
                    </p:oleObj>
                  </mc:Choice>
                  <mc:Fallback>
                    <p:oleObj name="Equation" r:id="rId4" imgW="228600" imgH="164880" progId="Equation.DSMT4">
                      <p:embed/>
                      <p:pic>
                        <p:nvPicPr>
                          <p:cNvPr id="0" name="Picture 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332" y="2554"/>
                            <a:ext cx="143" cy="103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7" name="Object 147"/>
              <p:cNvGraphicFramePr>
                <a:graphicFrameLocks noChangeAspect="1"/>
              </p:cNvGraphicFramePr>
              <p:nvPr/>
            </p:nvGraphicFramePr>
            <p:xfrm>
              <a:off x="3223" y="2863"/>
              <a:ext cx="160" cy="16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22565" name="Equation" r:id="rId6" imgW="241200" imgH="253800" progId="Equation.DSMT4">
                      <p:embed/>
                    </p:oleObj>
                  </mc:Choice>
                  <mc:Fallback>
                    <p:oleObj name="Equation" r:id="rId6" imgW="241200" imgH="253800" progId="Equation.DSMT4">
                      <p:embed/>
                      <p:pic>
                        <p:nvPicPr>
                          <p:cNvPr id="0" name="Picture 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223" y="2863"/>
                            <a:ext cx="160" cy="168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8" name="Object 148"/>
              <p:cNvGraphicFramePr>
                <a:graphicFrameLocks noChangeAspect="1"/>
              </p:cNvGraphicFramePr>
              <p:nvPr/>
            </p:nvGraphicFramePr>
            <p:xfrm>
              <a:off x="3234" y="2559"/>
              <a:ext cx="161" cy="11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22566" name="Equation" r:id="rId8" imgW="253800" imgH="177480" progId="Equation.DSMT4">
                      <p:embed/>
                    </p:oleObj>
                  </mc:Choice>
                  <mc:Fallback>
                    <p:oleObj name="Equation" r:id="rId8" imgW="253800" imgH="177480" progId="Equation.DSMT4">
                      <p:embed/>
                      <p:pic>
                        <p:nvPicPr>
                          <p:cNvPr id="0" name="Picture 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234" y="2559"/>
                            <a:ext cx="161" cy="112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9" name="Object 149"/>
              <p:cNvGraphicFramePr>
                <a:graphicFrameLocks noChangeAspect="1"/>
              </p:cNvGraphicFramePr>
              <p:nvPr/>
            </p:nvGraphicFramePr>
            <p:xfrm>
              <a:off x="2506" y="2905"/>
              <a:ext cx="152" cy="15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22567" name="Equation" r:id="rId10" imgW="228600" imgH="228600" progId="Equation.DSMT4">
                      <p:embed/>
                    </p:oleObj>
                  </mc:Choice>
                  <mc:Fallback>
                    <p:oleObj name="Equation" r:id="rId10" imgW="228600" imgH="228600" progId="Equation.DSMT4">
                      <p:embed/>
                      <p:pic>
                        <p:nvPicPr>
                          <p:cNvPr id="0" name="Picture 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506" y="2905"/>
                            <a:ext cx="152" cy="151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0" name="Object 150"/>
              <p:cNvGraphicFramePr>
                <a:graphicFrameLocks noChangeAspect="1"/>
              </p:cNvGraphicFramePr>
              <p:nvPr/>
            </p:nvGraphicFramePr>
            <p:xfrm>
              <a:off x="2702" y="2918"/>
              <a:ext cx="134" cy="14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22568" name="Equation" r:id="rId12" imgW="215640" imgH="228600" progId="Equation.DSMT4">
                      <p:embed/>
                    </p:oleObj>
                  </mc:Choice>
                  <mc:Fallback>
                    <p:oleObj name="Equation" r:id="rId12" imgW="215640" imgH="228600" progId="Equation.DSMT4">
                      <p:embed/>
                      <p:pic>
                        <p:nvPicPr>
                          <p:cNvPr id="0" name="Picture 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702" y="2918"/>
                            <a:ext cx="134" cy="142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1" name="Object 151"/>
              <p:cNvGraphicFramePr>
                <a:graphicFrameLocks noChangeAspect="1"/>
              </p:cNvGraphicFramePr>
              <p:nvPr/>
            </p:nvGraphicFramePr>
            <p:xfrm>
              <a:off x="2891" y="2918"/>
              <a:ext cx="138" cy="14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22569" name="Equation" r:id="rId14" imgW="215640" imgH="228600" progId="Equation.DSMT4">
                      <p:embed/>
                    </p:oleObj>
                  </mc:Choice>
                  <mc:Fallback>
                    <p:oleObj name="Equation" r:id="rId14" imgW="215640" imgH="228600" progId="Equation.DSMT4">
                      <p:embed/>
                      <p:pic>
                        <p:nvPicPr>
                          <p:cNvPr id="0" name="Picture 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91" y="2918"/>
                            <a:ext cx="138" cy="145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2" name="Object 152"/>
              <p:cNvGraphicFramePr>
                <a:graphicFrameLocks noChangeAspect="1"/>
              </p:cNvGraphicFramePr>
              <p:nvPr/>
            </p:nvGraphicFramePr>
            <p:xfrm>
              <a:off x="3058" y="2914"/>
              <a:ext cx="144" cy="14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22570" name="Equation" r:id="rId16" imgW="228600" imgH="228600" progId="Equation.DSMT4">
                      <p:embed/>
                    </p:oleObj>
                  </mc:Choice>
                  <mc:Fallback>
                    <p:oleObj name="Equation" r:id="rId16" imgW="228600" imgH="228600" progId="Equation.DSMT4">
                      <p:embed/>
                      <p:pic>
                        <p:nvPicPr>
                          <p:cNvPr id="0" name="Picture 1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058" y="2914"/>
                            <a:ext cx="144" cy="144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3" name="Object 153"/>
              <p:cNvGraphicFramePr>
                <a:graphicFrameLocks noChangeAspect="1"/>
              </p:cNvGraphicFramePr>
              <p:nvPr/>
            </p:nvGraphicFramePr>
            <p:xfrm>
              <a:off x="3086" y="2475"/>
              <a:ext cx="102" cy="10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22571" name="Equation" r:id="rId18" imgW="164880" imgH="164880" progId="Equation.DSMT4">
                      <p:embed/>
                    </p:oleObj>
                  </mc:Choice>
                  <mc:Fallback>
                    <p:oleObj name="Equation" r:id="rId18" imgW="164880" imgH="164880" progId="Equation.DSMT4">
                      <p:embed/>
                      <p:pic>
                        <p:nvPicPr>
                          <p:cNvPr id="0" name="Picture 1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086" y="2475"/>
                            <a:ext cx="102" cy="101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5" name="Object 154"/>
              <p:cNvGraphicFramePr>
                <a:graphicFrameLocks noChangeAspect="1"/>
              </p:cNvGraphicFramePr>
              <p:nvPr/>
            </p:nvGraphicFramePr>
            <p:xfrm>
              <a:off x="2885" y="2470"/>
              <a:ext cx="93" cy="10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22572" name="Equation" r:id="rId20" imgW="152280" imgH="177480" progId="Equation.DSMT4">
                      <p:embed/>
                    </p:oleObj>
                  </mc:Choice>
                  <mc:Fallback>
                    <p:oleObj name="Equation" r:id="rId20" imgW="152280" imgH="177480" progId="Equation.DSMT4">
                      <p:embed/>
                      <p:pic>
                        <p:nvPicPr>
                          <p:cNvPr id="0" name="Picture 1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85" y="2470"/>
                            <a:ext cx="93" cy="108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6" name="Object 155"/>
              <p:cNvGraphicFramePr>
                <a:graphicFrameLocks noChangeAspect="1"/>
              </p:cNvGraphicFramePr>
              <p:nvPr/>
            </p:nvGraphicFramePr>
            <p:xfrm>
              <a:off x="2708" y="2478"/>
              <a:ext cx="93" cy="10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22573" name="Equation" r:id="rId22" imgW="152280" imgH="164880" progId="Equation.DSMT4">
                      <p:embed/>
                    </p:oleObj>
                  </mc:Choice>
                  <mc:Fallback>
                    <p:oleObj name="Equation" r:id="rId22" imgW="152280" imgH="164880" progId="Equation.DSMT4">
                      <p:embed/>
                      <p:pic>
                        <p:nvPicPr>
                          <p:cNvPr id="0" name="Picture 1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708" y="2478"/>
                            <a:ext cx="93" cy="101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7" name="Object 156"/>
              <p:cNvGraphicFramePr>
                <a:graphicFrameLocks noChangeAspect="1"/>
              </p:cNvGraphicFramePr>
              <p:nvPr/>
            </p:nvGraphicFramePr>
            <p:xfrm>
              <a:off x="2509" y="2476"/>
              <a:ext cx="96" cy="10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22574" name="Equation" r:id="rId24" imgW="152280" imgH="164880" progId="Equation.DSMT4">
                      <p:embed/>
                    </p:oleObj>
                  </mc:Choice>
                  <mc:Fallback>
                    <p:oleObj name="Equation" r:id="rId24" imgW="152280" imgH="164880" progId="Equation.DSMT4">
                      <p:embed/>
                      <p:pic>
                        <p:nvPicPr>
                          <p:cNvPr id="0" name="Picture 1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509" y="2476"/>
                            <a:ext cx="96" cy="103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8" name="Object 157"/>
              <p:cNvGraphicFramePr>
                <a:graphicFrameLocks noChangeAspect="1"/>
              </p:cNvGraphicFramePr>
              <p:nvPr/>
            </p:nvGraphicFramePr>
            <p:xfrm>
              <a:off x="2302" y="2914"/>
              <a:ext cx="203" cy="10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22575" name="Equation" r:id="rId26" imgW="355320" imgH="177480" progId="Equation.DSMT4">
                      <p:embed/>
                    </p:oleObj>
                  </mc:Choice>
                  <mc:Fallback>
                    <p:oleObj name="Equation" r:id="rId26" imgW="355320" imgH="177480" progId="Equation.DSMT4">
                      <p:embed/>
                      <p:pic>
                        <p:nvPicPr>
                          <p:cNvPr id="0" name="Picture 1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302" y="2914"/>
                            <a:ext cx="203" cy="102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49" name="Line 158"/>
              <p:cNvSpPr>
                <a:spLocks noChangeShapeType="1"/>
              </p:cNvSpPr>
              <p:nvPr/>
            </p:nvSpPr>
            <p:spPr bwMode="auto">
              <a:xfrm>
                <a:off x="2031" y="2610"/>
                <a:ext cx="27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0" name="Line 159"/>
              <p:cNvSpPr>
                <a:spLocks noChangeShapeType="1"/>
              </p:cNvSpPr>
              <p:nvPr/>
            </p:nvSpPr>
            <p:spPr bwMode="auto">
              <a:xfrm>
                <a:off x="2031" y="2973"/>
                <a:ext cx="27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1" name="Line 160"/>
              <p:cNvSpPr>
                <a:spLocks noChangeShapeType="1"/>
              </p:cNvSpPr>
              <p:nvPr/>
            </p:nvSpPr>
            <p:spPr bwMode="auto">
              <a:xfrm>
                <a:off x="2045" y="2782"/>
                <a:ext cx="258" cy="9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graphicFrame>
            <p:nvGraphicFramePr>
              <p:cNvPr id="52" name="Object 161"/>
              <p:cNvGraphicFramePr>
                <a:graphicFrameLocks noChangeAspect="1"/>
              </p:cNvGraphicFramePr>
              <p:nvPr/>
            </p:nvGraphicFramePr>
            <p:xfrm>
              <a:off x="2333" y="2731"/>
              <a:ext cx="153" cy="10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22576" name="Equation" r:id="rId28" imgW="241200" imgH="164880" progId="Equation.DSMT4">
                      <p:embed/>
                    </p:oleObj>
                  </mc:Choice>
                  <mc:Fallback>
                    <p:oleObj name="Equation" r:id="rId28" imgW="241200" imgH="164880" progId="Equation.DSMT4">
                      <p:embed/>
                      <p:pic>
                        <p:nvPicPr>
                          <p:cNvPr id="0" name="Picture 1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333" y="2731"/>
                            <a:ext cx="153" cy="105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pSp>
            <p:nvGrpSpPr>
              <p:cNvPr id="53" name="Group 162"/>
              <p:cNvGrpSpPr>
                <a:grpSpLocks/>
              </p:cNvGrpSpPr>
              <p:nvPr/>
            </p:nvGrpSpPr>
            <p:grpSpPr bwMode="auto">
              <a:xfrm>
                <a:off x="3391" y="2745"/>
                <a:ext cx="226" cy="46"/>
                <a:chOff x="250" y="2568"/>
                <a:chExt cx="680" cy="182"/>
              </a:xfrm>
            </p:grpSpPr>
            <p:sp>
              <p:nvSpPr>
                <p:cNvPr id="60" name="Oval 163"/>
                <p:cNvSpPr>
                  <a:spLocks noChangeArrowheads="1"/>
                </p:cNvSpPr>
                <p:nvPr/>
              </p:nvSpPr>
              <p:spPr bwMode="auto">
                <a:xfrm>
                  <a:off x="250" y="2568"/>
                  <a:ext cx="135" cy="182"/>
                </a:xfrm>
                <a:prstGeom prst="ellips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61" name="Line 164"/>
                <p:cNvSpPr>
                  <a:spLocks noChangeShapeType="1"/>
                </p:cNvSpPr>
                <p:nvPr/>
              </p:nvSpPr>
              <p:spPr bwMode="auto">
                <a:xfrm>
                  <a:off x="385" y="2659"/>
                  <a:ext cx="545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4" name="Group 165"/>
              <p:cNvGrpSpPr>
                <a:grpSpLocks/>
              </p:cNvGrpSpPr>
              <p:nvPr/>
            </p:nvGrpSpPr>
            <p:grpSpPr bwMode="auto">
              <a:xfrm>
                <a:off x="3391" y="2927"/>
                <a:ext cx="227" cy="46"/>
                <a:chOff x="250" y="2568"/>
                <a:chExt cx="680" cy="182"/>
              </a:xfrm>
            </p:grpSpPr>
            <p:sp>
              <p:nvSpPr>
                <p:cNvPr id="58" name="Oval 166"/>
                <p:cNvSpPr>
                  <a:spLocks noChangeArrowheads="1"/>
                </p:cNvSpPr>
                <p:nvPr/>
              </p:nvSpPr>
              <p:spPr bwMode="auto">
                <a:xfrm>
                  <a:off x="250" y="2568"/>
                  <a:ext cx="135" cy="182"/>
                </a:xfrm>
                <a:prstGeom prst="ellips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9" name="Line 167"/>
                <p:cNvSpPr>
                  <a:spLocks noChangeShapeType="1"/>
                </p:cNvSpPr>
                <p:nvPr/>
              </p:nvSpPr>
              <p:spPr bwMode="auto">
                <a:xfrm>
                  <a:off x="385" y="2659"/>
                  <a:ext cx="545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55" name="Line 168"/>
              <p:cNvSpPr>
                <a:spLocks noChangeShapeType="1"/>
              </p:cNvSpPr>
              <p:nvPr/>
            </p:nvSpPr>
            <p:spPr bwMode="auto">
              <a:xfrm>
                <a:off x="3391" y="2609"/>
                <a:ext cx="227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graphicFrame>
            <p:nvGraphicFramePr>
              <p:cNvPr id="56" name="Object 169"/>
              <p:cNvGraphicFramePr>
                <a:graphicFrameLocks noChangeAspect="1"/>
              </p:cNvGraphicFramePr>
              <p:nvPr/>
            </p:nvGraphicFramePr>
            <p:xfrm>
              <a:off x="3235" y="2708"/>
              <a:ext cx="141" cy="11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22577" name="Equation" r:id="rId30" imgW="253800" imgH="203040" progId="Equation.DSMT4">
                      <p:embed/>
                    </p:oleObj>
                  </mc:Choice>
                  <mc:Fallback>
                    <p:oleObj name="Equation" r:id="rId30" imgW="253800" imgH="203040" progId="Equation.DSMT4">
                      <p:embed/>
                      <p:pic>
                        <p:nvPicPr>
                          <p:cNvPr id="0" name="Picture 1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235" y="2708"/>
                            <a:ext cx="141" cy="114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57" name="Text Box 170"/>
              <p:cNvSpPr txBox="1">
                <a:spLocks noChangeArrowheads="1"/>
              </p:cNvSpPr>
              <p:nvPr/>
            </p:nvSpPr>
            <p:spPr bwMode="auto">
              <a:xfrm>
                <a:off x="2620" y="2655"/>
                <a:ext cx="499" cy="17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 sz="1200" dirty="0">
                    <a:solidFill>
                      <a:srgbClr val="800000"/>
                    </a:solidFill>
                    <a:effectLst/>
                    <a:latin typeface="Arial" pitchFamily="34" charset="0"/>
                  </a:rPr>
                  <a:t>74LS163</a:t>
                </a:r>
              </a:p>
            </p:txBody>
          </p:sp>
        </p:grpSp>
        <p:sp>
          <p:nvSpPr>
            <p:cNvPr id="27" name="Line 140"/>
            <p:cNvSpPr>
              <a:spLocks noChangeShapeType="1"/>
            </p:cNvSpPr>
            <p:nvPr/>
          </p:nvSpPr>
          <p:spPr bwMode="auto">
            <a:xfrm>
              <a:off x="3200903" y="2607267"/>
              <a:ext cx="0" cy="45661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" name="Line 141"/>
            <p:cNvSpPr>
              <a:spLocks noChangeShapeType="1"/>
            </p:cNvSpPr>
            <p:nvPr/>
          </p:nvSpPr>
          <p:spPr bwMode="auto">
            <a:xfrm>
              <a:off x="3597142" y="2607267"/>
              <a:ext cx="2189" cy="47506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63" name="Text Box 18"/>
          <p:cNvSpPr txBox="1">
            <a:spLocks noChangeArrowheads="1"/>
          </p:cNvSpPr>
          <p:nvPr/>
        </p:nvSpPr>
        <p:spPr bwMode="auto">
          <a:xfrm>
            <a:off x="6392613" y="819150"/>
            <a:ext cx="381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 i="0" dirty="0">
                <a:solidFill>
                  <a:schemeClr val="accent6"/>
                </a:solidFill>
              </a:rPr>
              <a:t>1</a:t>
            </a:r>
          </a:p>
        </p:txBody>
      </p:sp>
      <p:sp>
        <p:nvSpPr>
          <p:cNvPr id="64" name="Text Box 18"/>
          <p:cNvSpPr txBox="1">
            <a:spLocks noChangeArrowheads="1"/>
          </p:cNvSpPr>
          <p:nvPr/>
        </p:nvSpPr>
        <p:spPr bwMode="auto">
          <a:xfrm>
            <a:off x="6705600" y="819150"/>
            <a:ext cx="381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 i="0" dirty="0">
                <a:solidFill>
                  <a:schemeClr val="accent6"/>
                </a:solidFill>
              </a:rPr>
              <a:t>0</a:t>
            </a:r>
          </a:p>
        </p:txBody>
      </p:sp>
      <p:sp>
        <p:nvSpPr>
          <p:cNvPr id="65" name="Text Box 18"/>
          <p:cNvSpPr txBox="1">
            <a:spLocks noChangeArrowheads="1"/>
          </p:cNvSpPr>
          <p:nvPr/>
        </p:nvSpPr>
        <p:spPr bwMode="auto">
          <a:xfrm>
            <a:off x="7010400" y="819150"/>
            <a:ext cx="381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 i="0" dirty="0">
                <a:solidFill>
                  <a:schemeClr val="accent6"/>
                </a:solidFill>
              </a:rPr>
              <a:t>1</a:t>
            </a:r>
          </a:p>
        </p:txBody>
      </p:sp>
      <p:sp>
        <p:nvSpPr>
          <p:cNvPr id="66" name="Text Box 18"/>
          <p:cNvSpPr txBox="1">
            <a:spLocks noChangeArrowheads="1"/>
          </p:cNvSpPr>
          <p:nvPr/>
        </p:nvSpPr>
        <p:spPr bwMode="auto">
          <a:xfrm>
            <a:off x="7315200" y="819150"/>
            <a:ext cx="381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 i="0" dirty="0">
                <a:solidFill>
                  <a:schemeClr val="accent6"/>
                </a:solidFill>
              </a:rPr>
              <a:t>0</a:t>
            </a:r>
          </a:p>
        </p:txBody>
      </p:sp>
      <p:sp>
        <p:nvSpPr>
          <p:cNvPr id="67" name="矩形 66"/>
          <p:cNvSpPr/>
          <p:nvPr/>
        </p:nvSpPr>
        <p:spPr>
          <a:xfrm>
            <a:off x="0" y="0"/>
            <a:ext cx="421782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27</a:t>
            </a:r>
            <a:r>
              <a:rPr lang="zh-CN" altLang="en-US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：构建任意模值计数器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927049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21" grpId="0"/>
      <p:bldP spid="22" grpId="0"/>
      <p:bldP spid="23" grpId="0"/>
      <p:bldP spid="24" grpId="0"/>
      <p:bldP spid="63" grpId="0"/>
      <p:bldP spid="64" grpId="0"/>
      <p:bldP spid="65" grpId="0"/>
      <p:bldP spid="6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2" name="AutoShape 4" descr="C:\Users\hfutliujun\AppData\Roaming\Tencent\Users\350654676\QQ\WinTemp\RichOle\(1YHR_{OZC$S)HTNC8L4D.png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4933" name="AutoShape 5" descr="C:\Users\hfutliujun\AppData\Roaming\Tencent\Users\350654676\QQ\WinTemp\RichOle\(1YHR_{OZC$S)HTNC8L4D.png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2" name="Rectangle 14"/>
          <p:cNvSpPr>
            <a:spLocks noChangeArrowheads="1"/>
          </p:cNvSpPr>
          <p:nvPr/>
        </p:nvSpPr>
        <p:spPr bwMode="auto">
          <a:xfrm>
            <a:off x="152400" y="590550"/>
            <a:ext cx="8001000" cy="2554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sz="1600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计数器：</a:t>
            </a:r>
            <a:r>
              <a:rPr lang="en-US" altLang="zh-CN" sz="1600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74LS163 </a:t>
            </a:r>
            <a:r>
              <a:rPr lang="zh-CN" altLang="en-US" sz="1600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预置功能等效电路图</a:t>
            </a:r>
            <a:endParaRPr lang="en-US" altLang="zh-CN" sz="1600" b="1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400" b="1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dirty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685800" y="3181350"/>
            <a:ext cx="4191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latin typeface="微软雅黑" pitchFamily="34" charset="-122"/>
                <a:ea typeface="微软雅黑" pitchFamily="34" charset="-122"/>
              </a:rPr>
              <a:t>  </a:t>
            </a: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图 </a:t>
            </a:r>
            <a:r>
              <a:rPr lang="en-US" altLang="zh-CN" sz="1600" b="1" dirty="0">
                <a:latin typeface="微软雅黑" pitchFamily="34" charset="-122"/>
                <a:ea typeface="微软雅黑" pitchFamily="34" charset="-122"/>
              </a:rPr>
              <a:t>9 74LS163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清预置功能等效电路图</a:t>
            </a:r>
          </a:p>
        </p:txBody>
      </p:sp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0" y="1123950"/>
          <a:ext cx="5300662" cy="1874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586" name="Visio" r:id="rId2" imgW="5302518" imgH="1750219" progId="Visio.Drawing.11">
                  <p:embed/>
                </p:oleObj>
              </mc:Choice>
              <mc:Fallback>
                <p:oleObj name="Visio" r:id="rId2" imgW="5302518" imgH="1750219" progId="Visio.Drawing.11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1123950"/>
                        <a:ext cx="5300662" cy="18748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Box 18"/>
          <p:cNvSpPr txBox="1">
            <a:spLocks noChangeArrowheads="1"/>
          </p:cNvSpPr>
          <p:nvPr/>
        </p:nvSpPr>
        <p:spPr bwMode="auto">
          <a:xfrm>
            <a:off x="8305800" y="1733550"/>
            <a:ext cx="381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 i="0" dirty="0">
                <a:solidFill>
                  <a:schemeClr val="accent6"/>
                </a:solidFill>
              </a:rPr>
              <a:t>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0" y="3181350"/>
            <a:ext cx="28194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latin typeface="微软雅黑" pitchFamily="34" charset="-122"/>
                <a:ea typeface="微软雅黑" pitchFamily="34" charset="-122"/>
              </a:rPr>
              <a:t>  </a:t>
            </a: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图 </a:t>
            </a:r>
            <a:r>
              <a:rPr lang="en-US" altLang="zh-CN" sz="1600" b="1" dirty="0">
                <a:latin typeface="微软雅黑" pitchFamily="34" charset="-122"/>
                <a:ea typeface="微软雅黑" pitchFamily="34" charset="-122"/>
              </a:rPr>
              <a:t>10 </a:t>
            </a: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计数器</a:t>
            </a:r>
            <a:r>
              <a:rPr lang="en-US" altLang="zh-CN" sz="1600" b="1" dirty="0">
                <a:latin typeface="微软雅黑" pitchFamily="34" charset="-122"/>
                <a:ea typeface="微软雅黑" pitchFamily="34" charset="-122"/>
              </a:rPr>
              <a:t>74LS163</a:t>
            </a: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预置</a:t>
            </a:r>
          </a:p>
        </p:txBody>
      </p:sp>
      <p:grpSp>
        <p:nvGrpSpPr>
          <p:cNvPr id="2" name="组合 11"/>
          <p:cNvGrpSpPr/>
          <p:nvPr/>
        </p:nvGrpSpPr>
        <p:grpSpPr>
          <a:xfrm>
            <a:off x="5181600" y="2114550"/>
            <a:ext cx="450850" cy="257175"/>
            <a:chOff x="4154177" y="2876550"/>
            <a:chExt cx="450850" cy="257175"/>
          </a:xfrm>
        </p:grpSpPr>
        <p:sp>
          <p:nvSpPr>
            <p:cNvPr id="13" name="Line 218"/>
            <p:cNvSpPr>
              <a:spLocks noChangeShapeType="1"/>
            </p:cNvSpPr>
            <p:nvPr/>
          </p:nvSpPr>
          <p:spPr bwMode="auto">
            <a:xfrm>
              <a:off x="4154177" y="3133725"/>
              <a:ext cx="11302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Line 219"/>
            <p:cNvSpPr>
              <a:spLocks noChangeShapeType="1"/>
            </p:cNvSpPr>
            <p:nvPr/>
          </p:nvSpPr>
          <p:spPr bwMode="auto">
            <a:xfrm>
              <a:off x="4492004" y="3133725"/>
              <a:ext cx="11302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Line 220"/>
            <p:cNvSpPr>
              <a:spLocks noChangeShapeType="1"/>
            </p:cNvSpPr>
            <p:nvPr/>
          </p:nvSpPr>
          <p:spPr bwMode="auto">
            <a:xfrm flipV="1">
              <a:off x="4267200" y="2876550"/>
              <a:ext cx="0" cy="25717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Line 221"/>
            <p:cNvSpPr>
              <a:spLocks noChangeShapeType="1"/>
            </p:cNvSpPr>
            <p:nvPr/>
          </p:nvSpPr>
          <p:spPr bwMode="auto">
            <a:xfrm>
              <a:off x="4492004" y="2876550"/>
              <a:ext cx="0" cy="25717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Line 222"/>
            <p:cNvSpPr>
              <a:spLocks noChangeShapeType="1"/>
            </p:cNvSpPr>
            <p:nvPr/>
          </p:nvSpPr>
          <p:spPr bwMode="auto">
            <a:xfrm>
              <a:off x="4267200" y="2876550"/>
              <a:ext cx="22480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1" name="Text Box 18"/>
          <p:cNvSpPr txBox="1">
            <a:spLocks noChangeArrowheads="1"/>
          </p:cNvSpPr>
          <p:nvPr/>
        </p:nvSpPr>
        <p:spPr bwMode="auto">
          <a:xfrm>
            <a:off x="6468813" y="2724150"/>
            <a:ext cx="381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 i="0" dirty="0">
                <a:solidFill>
                  <a:schemeClr val="accent6"/>
                </a:solidFill>
              </a:rPr>
              <a:t>1</a:t>
            </a:r>
          </a:p>
        </p:txBody>
      </p:sp>
      <p:sp>
        <p:nvSpPr>
          <p:cNvPr id="22" name="Text Box 18"/>
          <p:cNvSpPr txBox="1">
            <a:spLocks noChangeArrowheads="1"/>
          </p:cNvSpPr>
          <p:nvPr/>
        </p:nvSpPr>
        <p:spPr bwMode="auto">
          <a:xfrm>
            <a:off x="6781800" y="2724150"/>
            <a:ext cx="381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 i="0" dirty="0">
                <a:solidFill>
                  <a:schemeClr val="accent6"/>
                </a:solidFill>
              </a:rPr>
              <a:t>0</a:t>
            </a:r>
          </a:p>
        </p:txBody>
      </p:sp>
      <p:sp>
        <p:nvSpPr>
          <p:cNvPr id="23" name="Text Box 18"/>
          <p:cNvSpPr txBox="1">
            <a:spLocks noChangeArrowheads="1"/>
          </p:cNvSpPr>
          <p:nvPr/>
        </p:nvSpPr>
        <p:spPr bwMode="auto">
          <a:xfrm>
            <a:off x="7086600" y="2724150"/>
            <a:ext cx="381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 i="0" dirty="0">
                <a:solidFill>
                  <a:schemeClr val="accent6"/>
                </a:solidFill>
              </a:rPr>
              <a:t>1</a:t>
            </a:r>
          </a:p>
        </p:txBody>
      </p:sp>
      <p:sp>
        <p:nvSpPr>
          <p:cNvPr id="24" name="Text Box 18"/>
          <p:cNvSpPr txBox="1">
            <a:spLocks noChangeArrowheads="1"/>
          </p:cNvSpPr>
          <p:nvPr/>
        </p:nvSpPr>
        <p:spPr bwMode="auto">
          <a:xfrm>
            <a:off x="7391400" y="2724150"/>
            <a:ext cx="381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 i="0" dirty="0">
                <a:solidFill>
                  <a:schemeClr val="accent6"/>
                </a:solidFill>
              </a:rPr>
              <a:t>0</a:t>
            </a:r>
          </a:p>
        </p:txBody>
      </p:sp>
      <p:grpSp>
        <p:nvGrpSpPr>
          <p:cNvPr id="3" name="组合 24"/>
          <p:cNvGrpSpPr/>
          <p:nvPr/>
        </p:nvGrpSpPr>
        <p:grpSpPr>
          <a:xfrm>
            <a:off x="5677215" y="1237935"/>
            <a:ext cx="2667000" cy="1524000"/>
            <a:chOff x="1977326" y="926909"/>
            <a:chExt cx="3474212" cy="2155424"/>
          </a:xfrm>
        </p:grpSpPr>
        <p:grpSp>
          <p:nvGrpSpPr>
            <p:cNvPr id="4" name="Group 136"/>
            <p:cNvGrpSpPr>
              <a:grpSpLocks/>
            </p:cNvGrpSpPr>
            <p:nvPr/>
          </p:nvGrpSpPr>
          <p:grpSpPr bwMode="auto">
            <a:xfrm>
              <a:off x="1977326" y="926909"/>
              <a:ext cx="3474212" cy="2149328"/>
              <a:chOff x="2031" y="2338"/>
              <a:chExt cx="1587" cy="932"/>
            </a:xfrm>
          </p:grpSpPr>
          <p:sp>
            <p:nvSpPr>
              <p:cNvPr id="29" name="Rectangle 137"/>
              <p:cNvSpPr>
                <a:spLocks noChangeArrowheads="1"/>
              </p:cNvSpPr>
              <p:nvPr/>
            </p:nvSpPr>
            <p:spPr bwMode="auto">
              <a:xfrm>
                <a:off x="2303" y="2474"/>
                <a:ext cx="1089" cy="590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0" name="Line 140"/>
              <p:cNvSpPr>
                <a:spLocks noChangeShapeType="1"/>
              </p:cNvSpPr>
              <p:nvPr/>
            </p:nvSpPr>
            <p:spPr bwMode="auto">
              <a:xfrm>
                <a:off x="2938" y="3064"/>
                <a:ext cx="0" cy="19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" name="Line 141"/>
              <p:cNvSpPr>
                <a:spLocks noChangeShapeType="1"/>
              </p:cNvSpPr>
              <p:nvPr/>
            </p:nvSpPr>
            <p:spPr bwMode="auto">
              <a:xfrm>
                <a:off x="3119" y="3064"/>
                <a:ext cx="1" cy="20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" name="Line 142"/>
              <p:cNvSpPr>
                <a:spLocks noChangeShapeType="1"/>
              </p:cNvSpPr>
              <p:nvPr/>
            </p:nvSpPr>
            <p:spPr bwMode="auto">
              <a:xfrm>
                <a:off x="2575" y="2338"/>
                <a:ext cx="0" cy="137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" name="Line 143"/>
              <p:cNvSpPr>
                <a:spLocks noChangeShapeType="1"/>
              </p:cNvSpPr>
              <p:nvPr/>
            </p:nvSpPr>
            <p:spPr bwMode="auto">
              <a:xfrm>
                <a:off x="2756" y="2338"/>
                <a:ext cx="0" cy="137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4" name="Line 144"/>
              <p:cNvSpPr>
                <a:spLocks noChangeShapeType="1"/>
              </p:cNvSpPr>
              <p:nvPr/>
            </p:nvSpPr>
            <p:spPr bwMode="auto">
              <a:xfrm>
                <a:off x="2938" y="2338"/>
                <a:ext cx="0" cy="13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5" name="Line 145"/>
              <p:cNvSpPr>
                <a:spLocks noChangeShapeType="1"/>
              </p:cNvSpPr>
              <p:nvPr/>
            </p:nvSpPr>
            <p:spPr bwMode="auto">
              <a:xfrm>
                <a:off x="3119" y="2338"/>
                <a:ext cx="0" cy="137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graphicFrame>
            <p:nvGraphicFramePr>
              <p:cNvPr id="36" name="Object 146"/>
              <p:cNvGraphicFramePr>
                <a:graphicFrameLocks noChangeAspect="1"/>
              </p:cNvGraphicFramePr>
              <p:nvPr/>
            </p:nvGraphicFramePr>
            <p:xfrm>
              <a:off x="2332" y="2554"/>
              <a:ext cx="143" cy="10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23587" name="Equation" r:id="rId4" imgW="228600" imgH="164880" progId="Equation.DSMT4">
                      <p:embed/>
                    </p:oleObj>
                  </mc:Choice>
                  <mc:Fallback>
                    <p:oleObj name="Equation" r:id="rId4" imgW="228600" imgH="164880" progId="Equation.DSMT4">
                      <p:embed/>
                      <p:pic>
                        <p:nvPicPr>
                          <p:cNvPr id="0" name="Picture 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332" y="2554"/>
                            <a:ext cx="143" cy="103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7" name="Object 147"/>
              <p:cNvGraphicFramePr>
                <a:graphicFrameLocks noChangeAspect="1"/>
              </p:cNvGraphicFramePr>
              <p:nvPr/>
            </p:nvGraphicFramePr>
            <p:xfrm>
              <a:off x="3223" y="2863"/>
              <a:ext cx="160" cy="16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23588" name="Equation" r:id="rId6" imgW="241200" imgH="253800" progId="Equation.DSMT4">
                      <p:embed/>
                    </p:oleObj>
                  </mc:Choice>
                  <mc:Fallback>
                    <p:oleObj name="Equation" r:id="rId6" imgW="241200" imgH="253800" progId="Equation.DSMT4">
                      <p:embed/>
                      <p:pic>
                        <p:nvPicPr>
                          <p:cNvPr id="0" name="Picture 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223" y="2863"/>
                            <a:ext cx="160" cy="168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8" name="Object 148"/>
              <p:cNvGraphicFramePr>
                <a:graphicFrameLocks noChangeAspect="1"/>
              </p:cNvGraphicFramePr>
              <p:nvPr/>
            </p:nvGraphicFramePr>
            <p:xfrm>
              <a:off x="3234" y="2559"/>
              <a:ext cx="161" cy="11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23589" name="Equation" r:id="rId8" imgW="253800" imgH="177480" progId="Equation.DSMT4">
                      <p:embed/>
                    </p:oleObj>
                  </mc:Choice>
                  <mc:Fallback>
                    <p:oleObj name="Equation" r:id="rId8" imgW="253800" imgH="177480" progId="Equation.DSMT4">
                      <p:embed/>
                      <p:pic>
                        <p:nvPicPr>
                          <p:cNvPr id="0" name="Picture 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234" y="2559"/>
                            <a:ext cx="161" cy="112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9" name="Object 149"/>
              <p:cNvGraphicFramePr>
                <a:graphicFrameLocks noChangeAspect="1"/>
              </p:cNvGraphicFramePr>
              <p:nvPr/>
            </p:nvGraphicFramePr>
            <p:xfrm>
              <a:off x="2506" y="2905"/>
              <a:ext cx="152" cy="15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23590" name="Equation" r:id="rId10" imgW="228600" imgH="228600" progId="Equation.DSMT4">
                      <p:embed/>
                    </p:oleObj>
                  </mc:Choice>
                  <mc:Fallback>
                    <p:oleObj name="Equation" r:id="rId10" imgW="228600" imgH="228600" progId="Equation.DSMT4">
                      <p:embed/>
                      <p:pic>
                        <p:nvPicPr>
                          <p:cNvPr id="0" name="Picture 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506" y="2905"/>
                            <a:ext cx="152" cy="151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0" name="Object 150"/>
              <p:cNvGraphicFramePr>
                <a:graphicFrameLocks noChangeAspect="1"/>
              </p:cNvGraphicFramePr>
              <p:nvPr/>
            </p:nvGraphicFramePr>
            <p:xfrm>
              <a:off x="2702" y="2918"/>
              <a:ext cx="134" cy="14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23591" name="Equation" r:id="rId12" imgW="215640" imgH="228600" progId="Equation.DSMT4">
                      <p:embed/>
                    </p:oleObj>
                  </mc:Choice>
                  <mc:Fallback>
                    <p:oleObj name="Equation" r:id="rId12" imgW="215640" imgH="228600" progId="Equation.DSMT4">
                      <p:embed/>
                      <p:pic>
                        <p:nvPicPr>
                          <p:cNvPr id="0" name="Picture 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702" y="2918"/>
                            <a:ext cx="134" cy="142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1" name="Object 151"/>
              <p:cNvGraphicFramePr>
                <a:graphicFrameLocks noChangeAspect="1"/>
              </p:cNvGraphicFramePr>
              <p:nvPr/>
            </p:nvGraphicFramePr>
            <p:xfrm>
              <a:off x="2891" y="2918"/>
              <a:ext cx="138" cy="14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23592" name="Equation" r:id="rId14" imgW="215640" imgH="228600" progId="Equation.DSMT4">
                      <p:embed/>
                    </p:oleObj>
                  </mc:Choice>
                  <mc:Fallback>
                    <p:oleObj name="Equation" r:id="rId14" imgW="215640" imgH="228600" progId="Equation.DSMT4">
                      <p:embed/>
                      <p:pic>
                        <p:nvPicPr>
                          <p:cNvPr id="0" name="Picture 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91" y="2918"/>
                            <a:ext cx="138" cy="145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2" name="Object 152"/>
              <p:cNvGraphicFramePr>
                <a:graphicFrameLocks noChangeAspect="1"/>
              </p:cNvGraphicFramePr>
              <p:nvPr/>
            </p:nvGraphicFramePr>
            <p:xfrm>
              <a:off x="3058" y="2914"/>
              <a:ext cx="144" cy="14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23593" name="Equation" r:id="rId16" imgW="228600" imgH="228600" progId="Equation.DSMT4">
                      <p:embed/>
                    </p:oleObj>
                  </mc:Choice>
                  <mc:Fallback>
                    <p:oleObj name="Equation" r:id="rId16" imgW="228600" imgH="228600" progId="Equation.DSMT4">
                      <p:embed/>
                      <p:pic>
                        <p:nvPicPr>
                          <p:cNvPr id="0" name="Picture 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058" y="2914"/>
                            <a:ext cx="144" cy="144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3" name="Object 153"/>
              <p:cNvGraphicFramePr>
                <a:graphicFrameLocks noChangeAspect="1"/>
              </p:cNvGraphicFramePr>
              <p:nvPr/>
            </p:nvGraphicFramePr>
            <p:xfrm>
              <a:off x="3086" y="2475"/>
              <a:ext cx="102" cy="10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23594" name="Equation" r:id="rId18" imgW="164880" imgH="164880" progId="Equation.DSMT4">
                      <p:embed/>
                    </p:oleObj>
                  </mc:Choice>
                  <mc:Fallback>
                    <p:oleObj name="Equation" r:id="rId18" imgW="164880" imgH="164880" progId="Equation.DSMT4">
                      <p:embed/>
                      <p:pic>
                        <p:nvPicPr>
                          <p:cNvPr id="0" name="Picture 1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086" y="2475"/>
                            <a:ext cx="102" cy="101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5" name="Object 154"/>
              <p:cNvGraphicFramePr>
                <a:graphicFrameLocks noChangeAspect="1"/>
              </p:cNvGraphicFramePr>
              <p:nvPr/>
            </p:nvGraphicFramePr>
            <p:xfrm>
              <a:off x="2885" y="2470"/>
              <a:ext cx="93" cy="10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23595" name="Equation" r:id="rId20" imgW="152280" imgH="177480" progId="Equation.DSMT4">
                      <p:embed/>
                    </p:oleObj>
                  </mc:Choice>
                  <mc:Fallback>
                    <p:oleObj name="Equation" r:id="rId20" imgW="152280" imgH="177480" progId="Equation.DSMT4">
                      <p:embed/>
                      <p:pic>
                        <p:nvPicPr>
                          <p:cNvPr id="0" name="Picture 1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85" y="2470"/>
                            <a:ext cx="93" cy="108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6" name="Object 155"/>
              <p:cNvGraphicFramePr>
                <a:graphicFrameLocks noChangeAspect="1"/>
              </p:cNvGraphicFramePr>
              <p:nvPr/>
            </p:nvGraphicFramePr>
            <p:xfrm>
              <a:off x="2708" y="2478"/>
              <a:ext cx="93" cy="10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23596" name="Equation" r:id="rId22" imgW="152280" imgH="164880" progId="Equation.DSMT4">
                      <p:embed/>
                    </p:oleObj>
                  </mc:Choice>
                  <mc:Fallback>
                    <p:oleObj name="Equation" r:id="rId22" imgW="152280" imgH="164880" progId="Equation.DSMT4">
                      <p:embed/>
                      <p:pic>
                        <p:nvPicPr>
                          <p:cNvPr id="0" name="Picture 1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708" y="2478"/>
                            <a:ext cx="93" cy="101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7" name="Object 156"/>
              <p:cNvGraphicFramePr>
                <a:graphicFrameLocks noChangeAspect="1"/>
              </p:cNvGraphicFramePr>
              <p:nvPr/>
            </p:nvGraphicFramePr>
            <p:xfrm>
              <a:off x="2509" y="2476"/>
              <a:ext cx="96" cy="10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23597" name="Equation" r:id="rId24" imgW="152280" imgH="164880" progId="Equation.DSMT4">
                      <p:embed/>
                    </p:oleObj>
                  </mc:Choice>
                  <mc:Fallback>
                    <p:oleObj name="Equation" r:id="rId24" imgW="152280" imgH="164880" progId="Equation.DSMT4">
                      <p:embed/>
                      <p:pic>
                        <p:nvPicPr>
                          <p:cNvPr id="0" name="Picture 1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509" y="2476"/>
                            <a:ext cx="96" cy="103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8" name="Object 157"/>
              <p:cNvGraphicFramePr>
                <a:graphicFrameLocks noChangeAspect="1"/>
              </p:cNvGraphicFramePr>
              <p:nvPr/>
            </p:nvGraphicFramePr>
            <p:xfrm>
              <a:off x="2302" y="2914"/>
              <a:ext cx="203" cy="10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23598" name="Equation" r:id="rId26" imgW="355320" imgH="177480" progId="Equation.DSMT4">
                      <p:embed/>
                    </p:oleObj>
                  </mc:Choice>
                  <mc:Fallback>
                    <p:oleObj name="Equation" r:id="rId26" imgW="355320" imgH="177480" progId="Equation.DSMT4">
                      <p:embed/>
                      <p:pic>
                        <p:nvPicPr>
                          <p:cNvPr id="0" name="Picture 1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302" y="2914"/>
                            <a:ext cx="203" cy="102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49" name="Line 158"/>
              <p:cNvSpPr>
                <a:spLocks noChangeShapeType="1"/>
              </p:cNvSpPr>
              <p:nvPr/>
            </p:nvSpPr>
            <p:spPr bwMode="auto">
              <a:xfrm>
                <a:off x="2031" y="2610"/>
                <a:ext cx="27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0" name="Line 159"/>
              <p:cNvSpPr>
                <a:spLocks noChangeShapeType="1"/>
              </p:cNvSpPr>
              <p:nvPr/>
            </p:nvSpPr>
            <p:spPr bwMode="auto">
              <a:xfrm>
                <a:off x="2031" y="2973"/>
                <a:ext cx="27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1" name="Line 160"/>
              <p:cNvSpPr>
                <a:spLocks noChangeShapeType="1"/>
              </p:cNvSpPr>
              <p:nvPr/>
            </p:nvSpPr>
            <p:spPr bwMode="auto">
              <a:xfrm>
                <a:off x="2045" y="2782"/>
                <a:ext cx="258" cy="9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graphicFrame>
            <p:nvGraphicFramePr>
              <p:cNvPr id="52" name="Object 161"/>
              <p:cNvGraphicFramePr>
                <a:graphicFrameLocks noChangeAspect="1"/>
              </p:cNvGraphicFramePr>
              <p:nvPr/>
            </p:nvGraphicFramePr>
            <p:xfrm>
              <a:off x="2333" y="2731"/>
              <a:ext cx="153" cy="10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23599" name="Equation" r:id="rId28" imgW="241200" imgH="164880" progId="Equation.DSMT4">
                      <p:embed/>
                    </p:oleObj>
                  </mc:Choice>
                  <mc:Fallback>
                    <p:oleObj name="Equation" r:id="rId28" imgW="241200" imgH="164880" progId="Equation.DSMT4">
                      <p:embed/>
                      <p:pic>
                        <p:nvPicPr>
                          <p:cNvPr id="0" name="Picture 1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333" y="2731"/>
                            <a:ext cx="153" cy="105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pSp>
            <p:nvGrpSpPr>
              <p:cNvPr id="5" name="Group 162"/>
              <p:cNvGrpSpPr>
                <a:grpSpLocks/>
              </p:cNvGrpSpPr>
              <p:nvPr/>
            </p:nvGrpSpPr>
            <p:grpSpPr bwMode="auto">
              <a:xfrm>
                <a:off x="3391" y="2745"/>
                <a:ext cx="226" cy="46"/>
                <a:chOff x="250" y="2568"/>
                <a:chExt cx="680" cy="182"/>
              </a:xfrm>
            </p:grpSpPr>
            <p:sp>
              <p:nvSpPr>
                <p:cNvPr id="60" name="Oval 163"/>
                <p:cNvSpPr>
                  <a:spLocks noChangeArrowheads="1"/>
                </p:cNvSpPr>
                <p:nvPr/>
              </p:nvSpPr>
              <p:spPr bwMode="auto">
                <a:xfrm>
                  <a:off x="250" y="2568"/>
                  <a:ext cx="135" cy="182"/>
                </a:xfrm>
                <a:prstGeom prst="ellips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61" name="Line 164"/>
                <p:cNvSpPr>
                  <a:spLocks noChangeShapeType="1"/>
                </p:cNvSpPr>
                <p:nvPr/>
              </p:nvSpPr>
              <p:spPr bwMode="auto">
                <a:xfrm>
                  <a:off x="385" y="2659"/>
                  <a:ext cx="545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6" name="Group 165"/>
              <p:cNvGrpSpPr>
                <a:grpSpLocks/>
              </p:cNvGrpSpPr>
              <p:nvPr/>
            </p:nvGrpSpPr>
            <p:grpSpPr bwMode="auto">
              <a:xfrm>
                <a:off x="3391" y="2927"/>
                <a:ext cx="227" cy="46"/>
                <a:chOff x="250" y="2568"/>
                <a:chExt cx="680" cy="182"/>
              </a:xfrm>
            </p:grpSpPr>
            <p:sp>
              <p:nvSpPr>
                <p:cNvPr id="58" name="Oval 166"/>
                <p:cNvSpPr>
                  <a:spLocks noChangeArrowheads="1"/>
                </p:cNvSpPr>
                <p:nvPr/>
              </p:nvSpPr>
              <p:spPr bwMode="auto">
                <a:xfrm>
                  <a:off x="250" y="2568"/>
                  <a:ext cx="135" cy="182"/>
                </a:xfrm>
                <a:prstGeom prst="ellips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9" name="Line 167"/>
                <p:cNvSpPr>
                  <a:spLocks noChangeShapeType="1"/>
                </p:cNvSpPr>
                <p:nvPr/>
              </p:nvSpPr>
              <p:spPr bwMode="auto">
                <a:xfrm>
                  <a:off x="385" y="2659"/>
                  <a:ext cx="545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55" name="Line 168"/>
              <p:cNvSpPr>
                <a:spLocks noChangeShapeType="1"/>
              </p:cNvSpPr>
              <p:nvPr/>
            </p:nvSpPr>
            <p:spPr bwMode="auto">
              <a:xfrm>
                <a:off x="3391" y="2609"/>
                <a:ext cx="227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graphicFrame>
            <p:nvGraphicFramePr>
              <p:cNvPr id="56" name="Object 169"/>
              <p:cNvGraphicFramePr>
                <a:graphicFrameLocks noChangeAspect="1"/>
              </p:cNvGraphicFramePr>
              <p:nvPr/>
            </p:nvGraphicFramePr>
            <p:xfrm>
              <a:off x="3235" y="2708"/>
              <a:ext cx="141" cy="11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23600" name="Equation" r:id="rId30" imgW="253800" imgH="203040" progId="Equation.DSMT4">
                      <p:embed/>
                    </p:oleObj>
                  </mc:Choice>
                  <mc:Fallback>
                    <p:oleObj name="Equation" r:id="rId30" imgW="253800" imgH="203040" progId="Equation.DSMT4">
                      <p:embed/>
                      <p:pic>
                        <p:nvPicPr>
                          <p:cNvPr id="0" name="Picture 1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235" y="2708"/>
                            <a:ext cx="141" cy="114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57" name="Text Box 170"/>
              <p:cNvSpPr txBox="1">
                <a:spLocks noChangeArrowheads="1"/>
              </p:cNvSpPr>
              <p:nvPr/>
            </p:nvSpPr>
            <p:spPr bwMode="auto">
              <a:xfrm>
                <a:off x="2620" y="2655"/>
                <a:ext cx="499" cy="17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 sz="1200" dirty="0">
                    <a:solidFill>
                      <a:srgbClr val="800000"/>
                    </a:solidFill>
                    <a:effectLst/>
                    <a:latin typeface="Arial" pitchFamily="34" charset="0"/>
                  </a:rPr>
                  <a:t>74LS163</a:t>
                </a:r>
              </a:p>
            </p:txBody>
          </p:sp>
        </p:grpSp>
        <p:sp>
          <p:nvSpPr>
            <p:cNvPr id="27" name="Line 140"/>
            <p:cNvSpPr>
              <a:spLocks noChangeShapeType="1"/>
            </p:cNvSpPr>
            <p:nvPr/>
          </p:nvSpPr>
          <p:spPr bwMode="auto">
            <a:xfrm>
              <a:off x="3200903" y="2607267"/>
              <a:ext cx="0" cy="45661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" name="Line 141"/>
            <p:cNvSpPr>
              <a:spLocks noChangeShapeType="1"/>
            </p:cNvSpPr>
            <p:nvPr/>
          </p:nvSpPr>
          <p:spPr bwMode="auto">
            <a:xfrm>
              <a:off x="3597142" y="2607267"/>
              <a:ext cx="2189" cy="47506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63" name="Text Box 18"/>
          <p:cNvSpPr txBox="1">
            <a:spLocks noChangeArrowheads="1"/>
          </p:cNvSpPr>
          <p:nvPr/>
        </p:nvSpPr>
        <p:spPr bwMode="auto">
          <a:xfrm>
            <a:off x="6392613" y="819150"/>
            <a:ext cx="381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 i="0" dirty="0">
                <a:solidFill>
                  <a:schemeClr val="accent6"/>
                </a:solidFill>
              </a:rPr>
              <a:t>1</a:t>
            </a:r>
          </a:p>
        </p:txBody>
      </p:sp>
      <p:sp>
        <p:nvSpPr>
          <p:cNvPr id="64" name="Text Box 18"/>
          <p:cNvSpPr txBox="1">
            <a:spLocks noChangeArrowheads="1"/>
          </p:cNvSpPr>
          <p:nvPr/>
        </p:nvSpPr>
        <p:spPr bwMode="auto">
          <a:xfrm>
            <a:off x="6705600" y="819150"/>
            <a:ext cx="381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 i="0" dirty="0">
                <a:solidFill>
                  <a:schemeClr val="accent6"/>
                </a:solidFill>
              </a:rPr>
              <a:t>0</a:t>
            </a:r>
          </a:p>
        </p:txBody>
      </p:sp>
      <p:sp>
        <p:nvSpPr>
          <p:cNvPr id="65" name="Text Box 18"/>
          <p:cNvSpPr txBox="1">
            <a:spLocks noChangeArrowheads="1"/>
          </p:cNvSpPr>
          <p:nvPr/>
        </p:nvSpPr>
        <p:spPr bwMode="auto">
          <a:xfrm>
            <a:off x="7010400" y="819150"/>
            <a:ext cx="381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 i="0" dirty="0">
                <a:solidFill>
                  <a:schemeClr val="accent6"/>
                </a:solidFill>
              </a:rPr>
              <a:t>1</a:t>
            </a:r>
          </a:p>
        </p:txBody>
      </p:sp>
      <p:sp>
        <p:nvSpPr>
          <p:cNvPr id="66" name="Text Box 18"/>
          <p:cNvSpPr txBox="1">
            <a:spLocks noChangeArrowheads="1"/>
          </p:cNvSpPr>
          <p:nvPr/>
        </p:nvSpPr>
        <p:spPr bwMode="auto">
          <a:xfrm>
            <a:off x="7315200" y="819150"/>
            <a:ext cx="381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 i="0" dirty="0">
                <a:solidFill>
                  <a:schemeClr val="accent6"/>
                </a:solidFill>
              </a:rPr>
              <a:t>0</a:t>
            </a:r>
          </a:p>
        </p:txBody>
      </p:sp>
      <p:sp>
        <p:nvSpPr>
          <p:cNvPr id="67" name="矩形 66"/>
          <p:cNvSpPr/>
          <p:nvPr/>
        </p:nvSpPr>
        <p:spPr>
          <a:xfrm>
            <a:off x="0" y="0"/>
            <a:ext cx="421782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27</a:t>
            </a:r>
            <a:r>
              <a:rPr lang="zh-CN" altLang="en-US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：构建任意模值计数器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927049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2" name="AutoShape 4" descr="C:\Users\hfutliujun\AppData\Roaming\Tencent\Users\350654676\QQ\WinTemp\RichOle\(1YHR_{OZC$S)HTNC8L4D.png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4933" name="AutoShape 5" descr="C:\Users\hfutliujun\AppData\Roaming\Tencent\Users\350654676\QQ\WinTemp\RichOle\(1YHR_{OZC$S)HTNC8L4D.png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2" name="Rectangle 14"/>
          <p:cNvSpPr>
            <a:spLocks noChangeArrowheads="1"/>
          </p:cNvSpPr>
          <p:nvPr/>
        </p:nvSpPr>
        <p:spPr bwMode="auto">
          <a:xfrm>
            <a:off x="152400" y="590550"/>
            <a:ext cx="8001000" cy="2554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sz="1600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计数器：</a:t>
            </a:r>
            <a:r>
              <a:rPr lang="en-US" altLang="zh-CN" sz="1600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74LS163 </a:t>
            </a:r>
            <a:r>
              <a:rPr lang="zh-CN" altLang="en-US" sz="1600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预置功能等效电路图</a:t>
            </a:r>
            <a:endParaRPr lang="en-US" altLang="zh-CN" sz="1600" b="1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400" b="1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dirty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685800" y="2800350"/>
            <a:ext cx="4191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latin typeface="微软雅黑" pitchFamily="34" charset="-122"/>
                <a:ea typeface="微软雅黑" pitchFamily="34" charset="-122"/>
              </a:rPr>
              <a:t>  </a:t>
            </a: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图 </a:t>
            </a:r>
            <a:r>
              <a:rPr lang="en-US" altLang="zh-CN" sz="1600" b="1" dirty="0">
                <a:latin typeface="微软雅黑" pitchFamily="34" charset="-122"/>
                <a:ea typeface="微软雅黑" pitchFamily="34" charset="-122"/>
              </a:rPr>
              <a:t>9 74LS163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清预置功能等效电路图</a:t>
            </a:r>
          </a:p>
        </p:txBody>
      </p:sp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0" y="971550"/>
          <a:ext cx="5300662" cy="1874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466" name="Visio" r:id="rId2" imgW="5302518" imgH="1750219" progId="Visio.Drawing.11">
                  <p:embed/>
                </p:oleObj>
              </mc:Choice>
              <mc:Fallback>
                <p:oleObj name="Visio" r:id="rId2" imgW="5302518" imgH="1750219" progId="Visio.Drawing.11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971550"/>
                        <a:ext cx="5300662" cy="18748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5867400" y="895350"/>
            <a:ext cx="137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同步预置</a:t>
            </a:r>
          </a:p>
        </p:txBody>
      </p:sp>
      <p:graphicFrame>
        <p:nvGraphicFramePr>
          <p:cNvPr id="16" name="对象 15"/>
          <p:cNvGraphicFramePr>
            <a:graphicFrameLocks noChangeAspect="1"/>
          </p:cNvGraphicFramePr>
          <p:nvPr/>
        </p:nvGraphicFramePr>
        <p:xfrm>
          <a:off x="5486400" y="1201738"/>
          <a:ext cx="3578225" cy="300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467" name="Visio" r:id="rId4" imgW="3374182" imgH="2919013" progId="Visio.Drawing.11">
                  <p:embed/>
                </p:oleObj>
              </mc:Choice>
              <mc:Fallback>
                <p:oleObj name="Visio" r:id="rId4" imgW="3374182" imgH="2919013" progId="Visio.Drawing.11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6400" y="1201738"/>
                        <a:ext cx="3578225" cy="3009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矩形 9"/>
          <p:cNvSpPr/>
          <p:nvPr/>
        </p:nvSpPr>
        <p:spPr>
          <a:xfrm>
            <a:off x="0" y="0"/>
            <a:ext cx="421782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27</a:t>
            </a:r>
            <a:r>
              <a:rPr lang="zh-CN" altLang="en-US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：构建任意模值计数器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791200" y="4019550"/>
            <a:ext cx="28194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latin typeface="微软雅黑" pitchFamily="34" charset="-122"/>
                <a:ea typeface="微软雅黑" pitchFamily="34" charset="-122"/>
              </a:rPr>
              <a:t>  </a:t>
            </a: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图 </a:t>
            </a:r>
            <a:r>
              <a:rPr lang="en-US" altLang="zh-CN" sz="1600" b="1" dirty="0">
                <a:latin typeface="微软雅黑" pitchFamily="34" charset="-122"/>
                <a:ea typeface="微软雅黑" pitchFamily="34" charset="-122"/>
              </a:rPr>
              <a:t>11 </a:t>
            </a: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同步预置波形图</a:t>
            </a:r>
          </a:p>
        </p:txBody>
      </p:sp>
    </p:spTree>
    <p:extLst>
      <p:ext uri="{BB962C8B-B14F-4D97-AF65-F5344CB8AC3E}">
        <p14:creationId xmlns:p14="http://schemas.microsoft.com/office/powerpoint/2010/main" val="4927049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2" name="AutoShape 4" descr="C:\Users\hfutliujun\AppData\Roaming\Tencent\Users\350654676\QQ\WinTemp\RichOle\(1YHR_{OZC$S)HTNC8L4D.png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4933" name="AutoShape 5" descr="C:\Users\hfutliujun\AppData\Roaming\Tencent\Users\350654676\QQ\WinTemp\RichOle\(1YHR_{OZC$S)HTNC8L4D.png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2" name="Rectangle 14"/>
          <p:cNvSpPr>
            <a:spLocks noChangeArrowheads="1"/>
          </p:cNvSpPr>
          <p:nvPr/>
        </p:nvSpPr>
        <p:spPr bwMode="auto">
          <a:xfrm>
            <a:off x="152400" y="590550"/>
            <a:ext cx="8001000" cy="2554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sz="1600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计数器：</a:t>
            </a:r>
            <a:r>
              <a:rPr lang="en-US" altLang="zh-CN" sz="1600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74LS163 </a:t>
            </a:r>
            <a:r>
              <a:rPr lang="zh-CN" altLang="en-US" sz="1600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预置功能等效电路图</a:t>
            </a:r>
            <a:endParaRPr lang="en-US" altLang="zh-CN" sz="1600" b="1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400" b="1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dirty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685800" y="2800350"/>
            <a:ext cx="4191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latin typeface="微软雅黑" pitchFamily="34" charset="-122"/>
                <a:ea typeface="微软雅黑" pitchFamily="34" charset="-122"/>
              </a:rPr>
              <a:t>  </a:t>
            </a: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图 </a:t>
            </a:r>
            <a:r>
              <a:rPr lang="en-US" altLang="zh-CN" sz="1600" b="1" dirty="0">
                <a:latin typeface="微软雅黑" pitchFamily="34" charset="-122"/>
                <a:ea typeface="微软雅黑" pitchFamily="34" charset="-122"/>
              </a:rPr>
              <a:t>9 74LS163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预置功能等效电路图</a:t>
            </a:r>
          </a:p>
        </p:txBody>
      </p:sp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0" y="1077913"/>
          <a:ext cx="5300662" cy="1874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4610" name="Visio" r:id="rId2" imgW="5302518" imgH="1750219" progId="Visio.Drawing.11">
                  <p:embed/>
                </p:oleObj>
              </mc:Choice>
              <mc:Fallback>
                <p:oleObj name="Visio" r:id="rId2" imgW="5302518" imgH="1750219" progId="Visio.Drawing.11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1077913"/>
                        <a:ext cx="5300662" cy="18748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4612" name="Object 4"/>
          <p:cNvGraphicFramePr>
            <a:graphicFrameLocks noChangeAspect="1"/>
          </p:cNvGraphicFramePr>
          <p:nvPr/>
        </p:nvGraphicFramePr>
        <p:xfrm>
          <a:off x="5259388" y="974725"/>
          <a:ext cx="3578225" cy="3382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4612" name="Visio" r:id="rId4" imgW="3374182" imgH="3322307" progId="Visio.Drawing.11">
                  <p:embed/>
                </p:oleObj>
              </mc:Choice>
              <mc:Fallback>
                <p:oleObj name="Visio" r:id="rId4" imgW="3374182" imgH="3322307" progId="Visio.Drawing.11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59388" y="974725"/>
                        <a:ext cx="3578225" cy="33829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848600" y="3105150"/>
            <a:ext cx="1143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同步预置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48600" y="3638550"/>
            <a:ext cx="1143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异步预置</a:t>
            </a:r>
          </a:p>
        </p:txBody>
      </p:sp>
      <p:sp>
        <p:nvSpPr>
          <p:cNvPr id="13" name="矩形 12"/>
          <p:cNvSpPr/>
          <p:nvPr/>
        </p:nvSpPr>
        <p:spPr>
          <a:xfrm>
            <a:off x="0" y="0"/>
            <a:ext cx="421782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27</a:t>
            </a:r>
            <a:r>
              <a:rPr lang="zh-CN" altLang="en-US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：构建任意模值计数器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257800" y="4171950"/>
            <a:ext cx="3352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latin typeface="微软雅黑" pitchFamily="34" charset="-122"/>
                <a:ea typeface="微软雅黑" pitchFamily="34" charset="-122"/>
              </a:rPr>
              <a:t>  </a:t>
            </a: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图 </a:t>
            </a:r>
            <a:r>
              <a:rPr lang="en-US" altLang="zh-CN" sz="1600" b="1" dirty="0">
                <a:latin typeface="微软雅黑" pitchFamily="34" charset="-122"/>
                <a:ea typeface="微软雅黑" pitchFamily="34" charset="-122"/>
              </a:rPr>
              <a:t>12 </a:t>
            </a: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同步和异步预置波形图</a:t>
            </a:r>
          </a:p>
        </p:txBody>
      </p:sp>
    </p:spTree>
    <p:extLst>
      <p:ext uri="{BB962C8B-B14F-4D97-AF65-F5344CB8AC3E}">
        <p14:creationId xmlns:p14="http://schemas.microsoft.com/office/powerpoint/2010/main" val="4927049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2" name="AutoShape 4" descr="C:\Users\hfutliujun\AppData\Roaming\Tencent\Users\350654676\QQ\WinTemp\RichOle\(1YHR_{OZC$S)HTNC8L4D.png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4933" name="AutoShape 5" descr="C:\Users\hfutliujun\AppData\Roaming\Tencent\Users\350654676\QQ\WinTemp\RichOle\(1YHR_{OZC$S)HTNC8L4D.png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2" name="Rectangle 14"/>
          <p:cNvSpPr>
            <a:spLocks noChangeArrowheads="1"/>
          </p:cNvSpPr>
          <p:nvPr/>
        </p:nvSpPr>
        <p:spPr bwMode="auto">
          <a:xfrm>
            <a:off x="152400" y="590550"/>
            <a:ext cx="8001000" cy="2554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sz="1600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计数器：</a:t>
            </a:r>
            <a:r>
              <a:rPr lang="en-US" altLang="zh-CN" sz="1600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74LS163 </a:t>
            </a:r>
            <a:r>
              <a:rPr lang="zh-CN" altLang="en-US" sz="1600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预置功能等效电路图</a:t>
            </a:r>
            <a:endParaRPr lang="en-US" altLang="zh-CN" sz="1600" b="1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400" b="1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dirty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685800" y="2800350"/>
            <a:ext cx="4191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latin typeface="微软雅黑" pitchFamily="34" charset="-122"/>
                <a:ea typeface="微软雅黑" pitchFamily="34" charset="-122"/>
              </a:rPr>
              <a:t>  </a:t>
            </a: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图 </a:t>
            </a:r>
            <a:r>
              <a:rPr lang="en-US" altLang="zh-CN" sz="1600" b="1" dirty="0">
                <a:latin typeface="微软雅黑" pitchFamily="34" charset="-122"/>
                <a:ea typeface="微软雅黑" pitchFamily="34" charset="-122"/>
              </a:rPr>
              <a:t>9 74LS163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预置功能等效电路图</a:t>
            </a:r>
          </a:p>
        </p:txBody>
      </p:sp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0" y="1047750"/>
          <a:ext cx="5300662" cy="1874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682" name="Visio" r:id="rId2" imgW="5302518" imgH="1750219" progId="Visio.Drawing.11">
                  <p:embed/>
                </p:oleObj>
              </mc:Choice>
              <mc:Fallback>
                <p:oleObj name="Visio" r:id="rId2" imgW="5302518" imgH="1750219" progId="Visio.Drawing.11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1047750"/>
                        <a:ext cx="5300662" cy="18748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1" name="Picture 4" descr="C:\Users\hfutliujun\AppData\Roaming\Tencent\Users\350654676\QQ\WinTemp\RichOle\KP`P3M_$03P5(J$~}0(~0SV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334000" y="742950"/>
            <a:ext cx="3048000" cy="3400425"/>
          </a:xfrm>
          <a:prstGeom prst="rect">
            <a:avLst/>
          </a:prstGeom>
          <a:noFill/>
        </p:spPr>
      </p:pic>
      <p:sp>
        <p:nvSpPr>
          <p:cNvPr id="22" name="Text Box 18"/>
          <p:cNvSpPr txBox="1">
            <a:spLocks noChangeArrowheads="1"/>
          </p:cNvSpPr>
          <p:nvPr/>
        </p:nvSpPr>
        <p:spPr bwMode="auto">
          <a:xfrm>
            <a:off x="5105400" y="2038350"/>
            <a:ext cx="381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 i="0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23" name="Text Box 18"/>
          <p:cNvSpPr txBox="1">
            <a:spLocks noChangeArrowheads="1"/>
          </p:cNvSpPr>
          <p:nvPr/>
        </p:nvSpPr>
        <p:spPr bwMode="auto">
          <a:xfrm>
            <a:off x="8305800" y="1962150"/>
            <a:ext cx="381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 i="0" dirty="0">
                <a:solidFill>
                  <a:schemeClr val="accent6"/>
                </a:solidFill>
              </a:rPr>
              <a:t>0</a:t>
            </a:r>
          </a:p>
        </p:txBody>
      </p:sp>
      <p:sp>
        <p:nvSpPr>
          <p:cNvPr id="24" name="Text Box 18"/>
          <p:cNvSpPr txBox="1">
            <a:spLocks noChangeArrowheads="1"/>
          </p:cNvSpPr>
          <p:nvPr/>
        </p:nvSpPr>
        <p:spPr bwMode="auto">
          <a:xfrm>
            <a:off x="6172200" y="742950"/>
            <a:ext cx="381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 i="0" dirty="0">
                <a:solidFill>
                  <a:schemeClr val="accent6"/>
                </a:solidFill>
              </a:rPr>
              <a:t>0</a:t>
            </a:r>
          </a:p>
        </p:txBody>
      </p:sp>
      <p:sp>
        <p:nvSpPr>
          <p:cNvPr id="25" name="Text Box 18"/>
          <p:cNvSpPr txBox="1">
            <a:spLocks noChangeArrowheads="1"/>
          </p:cNvSpPr>
          <p:nvPr/>
        </p:nvSpPr>
        <p:spPr bwMode="auto">
          <a:xfrm>
            <a:off x="6431028" y="2114550"/>
            <a:ext cx="381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 i="0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26" name="Text Box 18"/>
          <p:cNvSpPr txBox="1">
            <a:spLocks noChangeArrowheads="1"/>
          </p:cNvSpPr>
          <p:nvPr/>
        </p:nvSpPr>
        <p:spPr bwMode="auto">
          <a:xfrm>
            <a:off x="6172200" y="2114550"/>
            <a:ext cx="381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 i="0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27" name="Text Box 18"/>
          <p:cNvSpPr txBox="1">
            <a:spLocks noChangeArrowheads="1"/>
          </p:cNvSpPr>
          <p:nvPr/>
        </p:nvSpPr>
        <p:spPr bwMode="auto">
          <a:xfrm>
            <a:off x="7543800" y="742950"/>
            <a:ext cx="381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 i="0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38800" y="4248150"/>
            <a:ext cx="4191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latin typeface="微软雅黑" pitchFamily="34" charset="-122"/>
                <a:ea typeface="微软雅黑" pitchFamily="34" charset="-122"/>
              </a:rPr>
              <a:t>  </a:t>
            </a: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图 </a:t>
            </a:r>
            <a:r>
              <a:rPr lang="en-US" altLang="zh-CN" sz="1600" b="1" dirty="0">
                <a:latin typeface="微软雅黑" pitchFamily="34" charset="-122"/>
                <a:ea typeface="微软雅黑" pitchFamily="34" charset="-122"/>
              </a:rPr>
              <a:t>13 </a:t>
            </a: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异步预置功能</a:t>
            </a:r>
          </a:p>
        </p:txBody>
      </p:sp>
      <p:sp>
        <p:nvSpPr>
          <p:cNvPr id="16" name="矩形 15"/>
          <p:cNvSpPr/>
          <p:nvPr/>
        </p:nvSpPr>
        <p:spPr>
          <a:xfrm>
            <a:off x="0" y="0"/>
            <a:ext cx="421782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27</a:t>
            </a:r>
            <a:r>
              <a:rPr lang="zh-CN" altLang="en-US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：构建任意模值计数器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165290" y="1629645"/>
            <a:ext cx="609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6600CC"/>
                </a:solidFill>
              </a:rPr>
              <a:t>1</a:t>
            </a:r>
            <a:endParaRPr lang="zh-CN" altLang="en-US" sz="2000" b="1" dirty="0">
              <a:solidFill>
                <a:srgbClr val="6600CC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232090" y="1610535"/>
            <a:ext cx="609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6600CC"/>
                </a:solidFill>
              </a:rPr>
              <a:t>2</a:t>
            </a:r>
            <a:endParaRPr lang="zh-CN" altLang="en-US" sz="2000" b="1" dirty="0">
              <a:solidFill>
                <a:srgbClr val="6600CC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019800" y="2705040"/>
            <a:ext cx="609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6600CC"/>
                </a:solidFill>
              </a:rPr>
              <a:t>3</a:t>
            </a:r>
            <a:endParaRPr lang="zh-CN" altLang="en-US" sz="2000" b="1" dirty="0">
              <a:solidFill>
                <a:srgbClr val="6600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27049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/>
      <p:bldP spid="25" grpId="0"/>
      <p:bldP spid="26" grpId="0"/>
    </p:bldLst>
  </p:timing>
</p:sld>
</file>

<file path=ppt/theme/theme1.xml><?xml version="1.0" encoding="utf-8"?>
<a:theme xmlns:a="http://schemas.openxmlformats.org/drawingml/2006/main" name="默认设计模板">
  <a:themeElements>
    <a:clrScheme name="自定义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2D2D8A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9225</TotalTime>
  <Words>627</Words>
  <Application>Microsoft Office PowerPoint</Application>
  <PresentationFormat>全屏显示(16:9)</PresentationFormat>
  <Paragraphs>302</Paragraphs>
  <Slides>18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18</vt:i4>
      </vt:variant>
    </vt:vector>
  </HeadingPairs>
  <TitlesOfParts>
    <vt:vector size="28" baseType="lpstr">
      <vt:lpstr>宋体</vt:lpstr>
      <vt:lpstr>微软雅黑</vt:lpstr>
      <vt:lpstr>Arial</vt:lpstr>
      <vt:lpstr>Calibri</vt:lpstr>
      <vt:lpstr>Times New Roman</vt:lpstr>
      <vt:lpstr>Wingdings</vt:lpstr>
      <vt:lpstr>默认设计模板</vt:lpstr>
      <vt:lpstr>Equation</vt:lpstr>
      <vt:lpstr>公式</vt:lpstr>
      <vt:lpstr>Visio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zhaole</dc:creator>
  <cp:lastModifiedBy>DELL</cp:lastModifiedBy>
  <cp:revision>982</cp:revision>
  <cp:lastPrinted>2113-01-01T00:00:00Z</cp:lastPrinted>
  <dcterms:created xsi:type="dcterms:W3CDTF">2113-01-01T00:00:00Z</dcterms:created>
  <dcterms:modified xsi:type="dcterms:W3CDTF">2021-07-20T01:52:02Z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  <property fmtid="{D5CDD505-2E9C-101B-9397-08002B2CF9AE}" pid="3" name="KSOProductBuildVer">
    <vt:lpwstr>2052-11.1.0.8696</vt:lpwstr>
  </property>
</Properties>
</file>